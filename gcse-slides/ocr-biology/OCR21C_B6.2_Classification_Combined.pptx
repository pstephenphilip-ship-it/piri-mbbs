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B6.2 How does our understanding of biology help us classify the diversity of organisms on Earth? is Part 2 of 3 in J260 Chapter B6 Life on Earth – past, present and future (B6.1 evolution, B6.2 classification, B6.3 biodiversity). In J257 Biology B the same sub-topic is numbered B6.3, because J257 has an extra B6.2 on sexual and asexual reproduction.
Statement (search extracts): describe the impact of developments in biology on classification systems, including the use of DNA analysis to classify organisms. See SPEC_B6_2.md for sources and confidence.
Natural selection and Darwin are B6.1 (recap only). Electron microscopy (B4.2) and prokaryotic / eukaryotic cells (B1.1) are recapped, not re-taught.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B6.2 has one assessable learning outcome in the extracts found: B6.2.1 describe the impact of developments in biology on classification systems, including the use of DNA analysis to classify organisms (J257 numbering B6.3.1). The J260 code B6.2.1 is inferred from the J260 sub-topic number (J260 Advance Information 2022 lists "Section B6.2 How does our understanding of biology help us classify the diversity of …").
HT: no Higher-only statement was found, and Oak National Academy runs its "Classification in modern biology" unit in BOTH its OCR combined Foundation and Higher programmes. Everything here is for both tiers; slide 12 (building a tree from a difference matrix) is marked GRADE 7–9 STRETCH.
The Linnaean hierarchy and binomial names are underlying knowledge (KS3 and the docbrown B6 summary). The Ideas about Science objective (how scientific explanations change) is BCP7; its exact IaS code was not confirmed.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B6 has three sub-topics: B6.1 evolution, B6.2 classification (this deck), B6.3 biodiversity. Evidence: J260 Advance Information (June 2022) lists Section B6.2 as the classification sub-topic and Section B6.3 "How is biodiversity threatened and how can we protect it?"; the docbrown combined B6 page links B6.2 to classification. J257 numbers classification B6.3 because it has an extra B6.2 (sexual and asexual reproduction), which is separate-science only.
Overlap control: Darwin, Wallace and natural selection are B6.1, so they are recalled only (starter Q5 and the "natural classification" idea of common ancestry). Electron microscopes (B4.2) and prokaryotic / eukaryotic cells (B1.1) are recapped as the developments that changed classification. DNA and the genome (B1) are recapped before sequence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All the genetic material (DNA) of an organism. A, T, C, G (adenine, thymine, cytosine, guanine).
2. Prokaryotic: no nucleus (DNA free in cytoplasm, a single loop), plasmids, smaller, no mitochondria / chloroplasts. Eukaryotic: DNA in a nucleus, membrane-bound organelles, larger.
3. It has a much higher resolution (uses electrons with a much shorter wavelength than light), so it can show much smaller structures such as ribosomes and the inside of mitochondria.
4. A group of organisms that can breed together to produce fertile offspring. E.g. human height, eye colour, blood group.
5. Individuals with variations that suit the environment are more likely to survive and reproduce, passing on their alleles. (If B6.1 has not yet been taught, treat this as a pre-teach.)
6. 18 ÷ 20 × 100 = 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 uses one observable feature only; bats (mammals), pigeons (birds) and butterflies (insects) are not closely related and do not share a recent common ancestor. 8.7 − 1.2 = 7.5 million.
Statement B6.2.1: "describe the impact of developments in biology on classification systems, including the use of DNA analysis" (search extract wording). Artificial vs natural systems: the docbrown / revision summaries describe early systems that used observable features and modern systems based on evolutionary relationships.
Species numbers: Mora et al. (2011) PLoS Biology, about 1.2 million eukaryote species catalogued and about 8.7 million estimated (±1.3 million). Node: 1.2/8.7 × 100 = 13.793%.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Kingdom, phylum, class, order, family, genus, species (mnemonic: "King Philip Came Over For Good Soup"). Homo sapiens (capital genus, lower-case species, italics).
Diagram: human classification. Chimpanzee (Pan troglodytes) shares down to family Hominidae (6 levels including domain); lion (Panthera leo) shares down to class Mammalia (4); common frog (Rana temporaria) shares down to phylum Chordata (3). Linnaeus published Systema Naturae in 1735 and used binomial names consistently from 1753 (plants) and 1758 (animals). Phylum and family were added later; domain was added above kingdom by Woese in 1990.
The hierarchy and binomial naming are KS3 / underlying knowledge in the extracts found; B6.2.1 is about how developments changed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Artificial: uses one / a few observable features (e.g. has wings) (1); natural: groups organisms by evolutionary relationships / common ancestors / many features including DNA (1).
Q2 [2]: Kingdom, phylum, class, order, family, genus, species: all correct (2); one pair swapped (1).
Q3 [2]: Genus needs a capital P (1); species needs a lower-case l (1). Accept: should be in italics / underlined.
Q4 [2]: Fairly closely related / share a recent common ancestor (1); but less closely related than organisms in the same genus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Wings evolved separately (convergent evolution) for flying. Bats have hair / fur, give birth to live young and feed them milk, have mammal skeletons and their DNA is much more similar to other mammals than to birds; so they share a more recent common ancestor with mammals.
This slide shows WHY developments in biology (microscopes, biochemistry, DNA) were needed: appearance alone can mislead. Convergent evolution is used as a context; it may also be mentioned in B6.1 (evolution). Shark reproduction varies by species (some lay eggs, many give birth to live young without milk).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No nucleus (DNA free in the cytoplasm; no membrane-bound organelles). Fungi have no chloroplasts and do not photosynthesise; they absorb food; their cell walls are made of chitin, not cellulose.
Developments in biology (B6.2.1): microscopes → cells → five kingdoms. Electron microscopy itself is B4.2 and prokaryotic / eukaryotic cells B1.1: recap only. QC magnification extra: 5 mm image of a 2.5 µm cell → 5000 ÷ 2.5 = ×2000 (node).
Dates: Systema Naturae 1735; Haeckel 1866; Ruska's first electron microscope 1931; Whittaker 1969. Protist cell walls vary; prokaryote walls are not cellulose.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Both adapted to the same environment / fast swimming in water (1); similar features evolved separately / convergent evolution (not a recent common ancestor) (1).
Q2 [2]: Prokaryotes / bacteria / Monera (1); prokaryotic (1).
Q3 [2]: Showed details of cell structure / organelles / that bacteria have no nucleus (1); so organisms could be grouped by cell structure / prokaryotes separated into their own kingdom (1).
Q4 [2]: 6 mm = 6000 µm; 6000 ÷ 3 (1); = ×2000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Chimpanzee (only 1 difference, 95% the same). Chimp–gorilla: (20 − 3) ÷ 20 × 100 = 85%.
The 20-base sequences are ILLUSTRATIVE (built in node from an ancestral sequence by placing mutations on the tree ((human, chimp), gorilla), orangutan), so the difference counts fit that tree. Differences (node): H–C 1, H–G 2, C–G 3, H–O 5, C–O 6, G–O 5.
Real whole-genome figures are much closer: humans and chimpanzees are about 98.8% the same in directly comparable DNA (commonly quoted value, approximate). Statement wording "including the use of DNA analysis to classify organisms" is from the search extracts (medium–high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Y, about 9 million years ago (accept 8–10).
GRADE 7–9 STRETCH: building a tree from a difference matrix is an extension of "use of DNA analysis to classify organisms"; reading the finished tree (slide 14) is for everyone.
Matrix values computed in node from the slide 11 sequences. Approximate split dates (widely quoted, vary between studies): human–chimp about 6–7 million years ago (6.5 used), gorilla about 8–10 (9), orangutan about 13–16 (15); UNVERIFIED to the year and illustrative. Node: 9 − 6.5 = 2.5 million years between the two splits; C–O 14/20 = 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(50 − 4) ÷ 50 × 100 / 46 ÷ 50 × 100 (1); = 92% (1).
Q2 [2]: They shared a common ancestor more recently (1); so there has been less time for mutations / differences to build up (1).
Q3 [2]: Any two (1 each): not affected by convergent evolution / similar environments; can compare organisms that look alike (e.g. bacteria) or look very different; gives numbers / objective, can be measured and repeated; compares many characters (bases).
Q4 [2]: P and Q (1); fewest differences / most similar DNA, so most recent common ancestor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 is more closely related to B (they share n2; C and D only share n1, further back). The most recent common ancestor of C and D is n1.
Common misconceptions: reading relatedness from tips that happen to sit next to each other (in tree 2, C sits next to E, but C and E only share n1); thinking the tip on the far side is "more evolved"; thinking a living species is an ancestor of another. Evolutionary trees are classification tools here (common ancestry); how evolution happens (natural selection) is B6.1.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Bacteria, Archaea, Eukarya (eukaryotes). Both are prokaryotes that look similar under the microscope (no nucleus, similar size and shape); the differences are in their molecules (rRNA / DNA base sequences, membrane lipids), so they need biochemical / DNA analysis.
Woese and Fox (1977) identified the archaea from 16S ribosomal RNA sequences; Woese, Kandler and Wheelis (1990) proposed the three domains. This is the clearest example of "the impact of developments in biology on classification systems, including DNA analysis" (B6.2.1). The three-domain system was named in the recalled brief; it fits the statement but is not quoted in the J260 extracts found (UNVERIFIED as an explicit spec item). Ideas about Science: slide 18.
Tree: archaea share a more recent common ancestor with eukaryotes than with bacteria; fungi are more closely related to animals than to plants (slide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A common ancestor (1); where one species split / evolved into two (speciation) (1).
Q2 [2]: Bacteria, Archaea, Eukarya / eukaryotes: all three (2); two (1).
Q3 [2]: Compared base sequences of (ribosomal) RNA / genes (1); archaea were very different from bacteria / as different as from eukaryotes (1).
Q4 [2]: Humans and chimpanzees share a common ancestor (1); both evolved from it / chimpanzees are a separate living branch, not our ancestor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whale. Hippos and whales share common ancestor W, which is more recent than the common ancestor hippos share with pigs (the root).
Whale–hippo: molecular studies (e.g. SINE insertions, Nikaido et al. 1999, and DNA sequence studies from the mid-1990s) placed whales as the sister group of hippos (Whippomorpha); fossil whales such as Pakicetus with a double-pulley astragalus (2001) supported cetaceans within the even-toed hoofed mammals. Trees simplified (camels and other groups omitted).
Fungi + animals: both are opisthokonts. African elephants: the IUCN Red List assessed the African forest elephant (Loxodonta cyclotis) and savanna elephant (L. africana) separately from 2021. Treat these as contexts; no named examples are required by B6.2.1.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1977 − 1931 = 46 years. Because they are the best explanation of the evidence so far; new evidence (new technology, more species, more DNA) may change them.
Ideas about Science (BCP7): scientific explanations change when new evidence is collected; the scientific community checks claims by peer review and repetition before accepting them. The exact IaS code for this link in J260 was not confirmed (UNVERIFIED).
Dates (node-asserted differences): 1735 Systema Naturae; 1859 Origin of Species (B6.1); 1866 Haeckel; 1931 Ruska and Knoll electron microscope; 1953 DNA structure (Watson, Crick, Franklin, Wilkins); 1969 Whittaker; 1977 Woese and Fox; 1990 three domains; 2003 Human Genome Project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Hippo DNA is more similar to whale DNA than to pig DNA (1); so hippos were reclassified as the closest relatives of whales / share a more recent common ancestor with whales (1).
Q2 [2]: New technology / techniques (microscopes, DNA sequencing) give new evidence (1); scientists change the explanation / grouping to fit the evidence (1).
Q3 [2]: Peer review / other scientists checked the work (1); others could repeat the sequencing / test it and got similar results (1).
Q4 [2]: (8.7 − 1.2) ÷ 8.7 × 100 (1); = 86.2%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Spelling: Archaea, Eukarya, binomial. Binomial names: capital genus, lower-case species, italics (underline when handwritten). "Common ancestor" and "evolutionary tree" link to B6.1.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Panthera (1); the genus is the first part of the binomial name / has a capital letter (1).
(b) [2]: (40 − 4) ÷ 40 × 100 / 36 ÷ 40 × 100 (1); = 90% (1).
(c) [2]: Leopard (1); fewest differences (2) / 95% similar, so the most recent common ancestor with the lion (1).
(d) [2]: Lion and leopard joined at a branch point labelled X, tiger joining their stem further back (1); domestic cat joining last / at the base (1).
(e) [3]: Similar appearance may be due to convergent evolution / similar environment, not relationship (1); DNA differences build up over time by mutation, so they measure time since a common ancestor (1); DNA can be measured / compared objectively / many bases, and repeated by other scientists (1).
(f) [2]: Compared ribosomal RNA / gene sequences and found two very different groups of prokaryotes (1); split them into two domains, Bacteria and Archaea (with Eukarya as the third domain)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Phylum (1).
2 [2]: Canis (1); genus capital / species lower case / italics or underlined (1).
3 [2]: (60 − 3) ÷ 60 × 100 (1); = 95% (1).
4 [2]: W and X (1); more recent common ancestor / less time for differences to build up (1).
5 [2]: Grouped by one observable feature (1); bats (mammals) and birds are not closely related / wings evolved separately / convergent evolution (1).
6 [2]: Any two (1 each): other scientists repeated / checked the work (peer review); more genes / whole genomes were sequenced and agreed; other evidence (membrane lipids / biochemistry) supported it.
7 [6]: OCR level-of-response mark scheme (6 marks). Read the whole answer, decide the level from the content descriptor, then the mark within the level from the quality of the line of reasoning. Use the indicative scientific points below.
Level 3 (5–6 marks): Describes at least TWO developments (e.g. microscopes AND DNA sequencing) AND explains how EACH changed classification, with a named example or system (e.g. five kingdoms, three domains). There is a well-developed line of reasoning which is clear and logically structured. The information presented is relevant and substantiated.
Level 2 (3–4 marks): Describes at least one development and how it changed classification, OR lists several developments with limited explanation. There is a line of reasoning presented with some structure. The information presented is relevant and supported by some evidence.
Level 1 (1–2 marks): Simple statements, e.g. "they use DNA now" or "there are more kingdoms now". There is an attempt at a logical structure with a line of reasoning. The information is in the most part relevant.
0 marks: no response or no response worthy of credit.
Indicative scientific points may include:
 • Linnaeus: artificial / observable features; two kingdoms (plants, animals); hierarchy kingdom → species; binomial names.
 • Light microscopes: single-celled organisms seen; protists added (three kingdoms).
 • Electron microscopes: internal cell structure; prokaryotes have no nucleus; five kingdoms (prokaryotes, protists, fungi, plants, animals).
 • Appearance can mislead: convergent evolution (shark / dolphin, bat / bird); a natural system groups by common ancestors.
 • DNA / RNA sequencing: compare base sequences; more similar = more closely related / more recent common ancestor; evolutionary trees built from the data.
 • Woese: rRNA sequences showed archaea differ from bacteria; three domains (Bacteria, Archaea, Eukarya) above kingdom.
 • Reclassification examples: whales and hippos; fungi closer to animals; new species found (e.g. African elephants).
 • Ideas about Science: new technology gives new evidence; peer review and repetition before acceptance; classification is tentative.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0E7C7B"/>
          </a:solidFill>
          <a:ln w="12700">
            <a:solidFill>
              <a:srgbClr val="0E7C7B"/>
            </a:solidFill>
            <a:prstDash val="solid"/>
          </a:ln>
        </p:spPr>
      </p:sp>
      <p:sp>
        <p:nvSpPr>
          <p:cNvPr id="3" name="Shape 1"/>
          <p:cNvSpPr/>
          <p:nvPr/>
        </p:nvSpPr>
        <p:spPr>
          <a:xfrm>
            <a:off x="9326880" y="2377440"/>
            <a:ext cx="4937760" cy="4937760"/>
          </a:xfrm>
          <a:prstGeom prst="ellipse">
            <a:avLst/>
          </a:prstGeom>
          <a:solidFill>
            <a:srgbClr val="14A3A1">
              <a:alpha val="85000"/>
            </a:srgbClr>
          </a:solidFill>
          <a:ln w="12700">
            <a:solidFill>
              <a:srgbClr val="14A3A1"/>
            </a:solidFill>
            <a:prstDash val="solid"/>
          </a:ln>
        </p:spPr>
      </p:sp>
      <p:sp>
        <p:nvSpPr>
          <p:cNvPr id="4" name="Shape 2"/>
          <p:cNvSpPr/>
          <p:nvPr/>
        </p:nvSpPr>
        <p:spPr>
          <a:xfrm>
            <a:off x="0" y="0"/>
            <a:ext cx="164592" cy="6858000"/>
          </a:xfrm>
          <a:prstGeom prst="rect">
            <a:avLst/>
          </a:prstGeom>
          <a:solidFill>
            <a:srgbClr val="14A3A1"/>
          </a:solidFill>
          <a:ln w="12700">
            <a:solidFill>
              <a:srgbClr val="14A3A1"/>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8FD3CF"/>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B6.2  Classification</a:t>
            </a:r>
            <a:endParaRPr lang="en-US" sz="4000" dirty="0"/>
          </a:p>
        </p:txBody>
      </p:sp>
      <p:sp>
        <p:nvSpPr>
          <p:cNvPr id="7" name="Text 5"/>
          <p:cNvSpPr/>
          <p:nvPr/>
        </p:nvSpPr>
        <p:spPr>
          <a:xfrm>
            <a:off x="731520" y="2331720"/>
            <a:ext cx="6675120" cy="603504"/>
          </a:xfrm>
          <a:prstGeom prst="rect">
            <a:avLst/>
          </a:prstGeom>
          <a:noFill/>
          <a:ln/>
        </p:spPr>
        <p:txBody>
          <a:bodyPr wrap="square" lIns="0" tIns="0" rIns="0" bIns="0" rtlCol="0" anchor="t"/>
          <a:lstStyle/>
          <a:p>
            <a:pPr indent="0" marL="0">
              <a:buNone/>
            </a:pPr>
            <a:r>
              <a:rPr lang="en-US" sz="1500" i="1" dirty="0">
                <a:solidFill>
                  <a:srgbClr val="C4E3E0"/>
                </a:solidFill>
                <a:latin typeface="Georgia" pitchFamily="34" charset="0"/>
                <a:ea typeface="Georgia" pitchFamily="34" charset="-122"/>
                <a:cs typeface="Georgia" pitchFamily="34" charset="-120"/>
              </a:rPr>
              <a:t>How does our understanding of biology help us classify the diversity of organisms on Earth?</a:t>
            </a:r>
            <a:endParaRPr lang="en-US" sz="15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D6ECEA"/>
                </a:solidFill>
                <a:latin typeface="Calibri" pitchFamily="34" charset="0"/>
                <a:ea typeface="Calibri" pitchFamily="34" charset="-122"/>
                <a:cs typeface="Calibri" pitchFamily="34" charset="-120"/>
              </a:rPr>
              <a:t>Classification  •  Species  •  Binomial name  •  Three domains  •  DNA sequences  •  Evolutionary trees</a:t>
            </a:r>
            <a:endParaRPr lang="en-US" sz="1300" dirty="0"/>
          </a:p>
        </p:txBody>
      </p:sp>
      <p:sp>
        <p:nvSpPr>
          <p:cNvPr id="10" name="Shape 8"/>
          <p:cNvSpPr/>
          <p:nvPr/>
        </p:nvSpPr>
        <p:spPr>
          <a:xfrm>
            <a:off x="731520" y="3886200"/>
            <a:ext cx="457200" cy="457200"/>
          </a:xfrm>
          <a:prstGeom prst="ellipse">
            <a:avLst/>
          </a:prstGeom>
          <a:solidFill>
            <a:srgbClr val="14A3A1"/>
          </a:solidFill>
          <a:ln w="12700">
            <a:solidFill>
              <a:srgbClr val="8FD3CF"/>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B6.2.1 • how developments in biology, especially DNA analysis, changed classification</a:t>
            </a:r>
            <a:endParaRPr lang="en-US" sz="1400" dirty="0"/>
          </a:p>
        </p:txBody>
      </p:sp>
      <p:sp>
        <p:nvSpPr>
          <p:cNvPr id="13" name="Shape 11"/>
          <p:cNvSpPr/>
          <p:nvPr/>
        </p:nvSpPr>
        <p:spPr>
          <a:xfrm>
            <a:off x="731520" y="4507992"/>
            <a:ext cx="457200" cy="457200"/>
          </a:xfrm>
          <a:prstGeom prst="ellipse">
            <a:avLst/>
          </a:prstGeom>
          <a:solidFill>
            <a:srgbClr val="14A3A1"/>
          </a:solidFill>
          <a:ln w="12700">
            <a:solidFill>
              <a:srgbClr val="8FD3CF"/>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 found • stretch marked</a:t>
            </a:r>
            <a:endParaRPr lang="en-US" sz="1400" dirty="0"/>
          </a:p>
        </p:txBody>
      </p:sp>
      <p:sp>
        <p:nvSpPr>
          <p:cNvPr id="16" name="Shape 14"/>
          <p:cNvSpPr/>
          <p:nvPr/>
        </p:nvSpPr>
        <p:spPr>
          <a:xfrm>
            <a:off x="731520" y="5129784"/>
            <a:ext cx="457200" cy="457200"/>
          </a:xfrm>
          <a:prstGeom prst="ellipse">
            <a:avLst/>
          </a:prstGeom>
          <a:solidFill>
            <a:srgbClr val="14A3A1"/>
          </a:solidFill>
          <a:ln w="12700">
            <a:solidFill>
              <a:srgbClr val="8FD3CF"/>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Linnaean hierarchy • binomial names • three domains • evolutionary trees • DNA data</a:t>
            </a:r>
            <a:endParaRPr lang="en-US" sz="1400" dirty="0"/>
          </a:p>
        </p:txBody>
      </p:sp>
      <p:sp>
        <p:nvSpPr>
          <p:cNvPr id="19" name="Shape 17"/>
          <p:cNvSpPr/>
          <p:nvPr/>
        </p:nvSpPr>
        <p:spPr>
          <a:xfrm>
            <a:off x="731520" y="5769864"/>
            <a:ext cx="6277356" cy="365760"/>
          </a:xfrm>
          <a:prstGeom prst="roundRect">
            <a:avLst>
              <a:gd name="adj" fmla="val 50000"/>
            </a:avLst>
          </a:prstGeom>
          <a:solidFill>
            <a:srgbClr val="0B2E2F"/>
          </a:solidFill>
          <a:ln w="15875">
            <a:solidFill>
              <a:srgbClr val="F5A742"/>
            </a:solidFill>
            <a:prstDash val="solid"/>
          </a:ln>
        </p:spPr>
      </p:sp>
      <p:sp>
        <p:nvSpPr>
          <p:cNvPr id="20" name="Text 18"/>
          <p:cNvSpPr/>
          <p:nvPr/>
        </p:nvSpPr>
        <p:spPr>
          <a:xfrm>
            <a:off x="731520" y="5769864"/>
            <a:ext cx="6277356"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3 in Chapter B6: Life on Earth – past, present and future</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CFE7E5"/>
                </a:solidFill>
                <a:latin typeface="Calibri" pitchFamily="34" charset="0"/>
                <a:ea typeface="Calibri" pitchFamily="34" charset="-122"/>
                <a:cs typeface="Calibri" pitchFamily="34" charset="-120"/>
              </a:rPr>
              <a:t>OCR J260 Combined Science B • B6.2 classifying the diversity of organisms on Earth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0D7877"/>
          </a:solidFill>
          <a:ln w="12700">
            <a:solidFill>
              <a:srgbClr val="0D7877"/>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200" dirty="0">
                <a:solidFill>
                  <a:srgbClr val="262B3A"/>
                </a:solidFill>
                <a:latin typeface="Calibri" pitchFamily="34" charset="0"/>
                <a:ea typeface="Calibri" pitchFamily="34" charset="-122"/>
                <a:cs typeface="Calibri" pitchFamily="34" charset="-120"/>
              </a:rPr>
              <a:t>Explain why we </a:t>
            </a:r>
            <a:r>
              <a:rPr lang="en-US" sz="1200" b="1" dirty="0">
                <a:solidFill>
                  <a:srgbClr val="262B3A"/>
                </a:solidFill>
                <a:latin typeface="Calibri" pitchFamily="34" charset="0"/>
                <a:ea typeface="Calibri" pitchFamily="34" charset="-122"/>
                <a:cs typeface="Calibri" pitchFamily="34" charset="-120"/>
              </a:rPr>
              <a:t>classify</a:t>
            </a:r>
            <a:r>
              <a:rPr lang="en-US" sz="1200" dirty="0">
                <a:solidFill>
                  <a:srgbClr val="262B3A"/>
                </a:solidFill>
                <a:latin typeface="Calibri" pitchFamily="34" charset="0"/>
                <a:ea typeface="Calibri" pitchFamily="34" charset="-122"/>
                <a:cs typeface="Calibri" pitchFamily="34" charset="-120"/>
              </a:rPr>
              <a:t> organisms, and the difference between </a:t>
            </a:r>
            <a:r>
              <a:rPr lang="en-US" sz="1200" b="1" dirty="0">
                <a:solidFill>
                  <a:srgbClr val="262B3A"/>
                </a:solidFill>
                <a:latin typeface="Calibri" pitchFamily="34" charset="0"/>
                <a:ea typeface="Calibri" pitchFamily="34" charset="-122"/>
                <a:cs typeface="Calibri" pitchFamily="34" charset="-120"/>
              </a:rPr>
              <a:t>artificial</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natural</a:t>
            </a:r>
            <a:r>
              <a:rPr lang="en-US" sz="1200" dirty="0">
                <a:solidFill>
                  <a:srgbClr val="262B3A"/>
                </a:solidFill>
                <a:latin typeface="Calibri" pitchFamily="34" charset="0"/>
                <a:ea typeface="Calibri" pitchFamily="34" charset="-122"/>
                <a:cs typeface="Calibri" pitchFamily="34" charset="-120"/>
              </a:rPr>
              <a:t> classification.</a:t>
            </a:r>
            <a:endParaRPr lang="en-US" sz="1100" dirty="0"/>
          </a:p>
        </p:txBody>
      </p:sp>
      <p:sp>
        <p:nvSpPr>
          <p:cNvPr id="11" name="Shape 9"/>
          <p:cNvSpPr/>
          <p:nvPr/>
        </p:nvSpPr>
        <p:spPr>
          <a:xfrm>
            <a:off x="502920" y="2194560"/>
            <a:ext cx="457200" cy="457200"/>
          </a:xfrm>
          <a:prstGeom prst="ellipse">
            <a:avLst/>
          </a:prstGeom>
          <a:solidFill>
            <a:srgbClr val="0D7877"/>
          </a:solidFill>
          <a:ln w="12700">
            <a:solidFill>
              <a:srgbClr val="0D7877"/>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200" dirty="0">
                <a:solidFill>
                  <a:srgbClr val="262B3A"/>
                </a:solidFill>
                <a:latin typeface="Calibri" pitchFamily="34" charset="0"/>
                <a:ea typeface="Calibri" pitchFamily="34" charset="-122"/>
                <a:cs typeface="Calibri" pitchFamily="34" charset="-120"/>
              </a:rPr>
              <a:t>Describe the </a:t>
            </a:r>
            <a:r>
              <a:rPr lang="en-US" sz="1200" b="1" dirty="0">
                <a:solidFill>
                  <a:srgbClr val="262B3A"/>
                </a:solidFill>
                <a:latin typeface="Calibri" pitchFamily="34" charset="0"/>
                <a:ea typeface="Calibri" pitchFamily="34" charset="-122"/>
                <a:cs typeface="Calibri" pitchFamily="34" charset="-120"/>
              </a:rPr>
              <a:t>Linnaean</a:t>
            </a:r>
            <a:r>
              <a:rPr lang="en-US" sz="1200" dirty="0">
                <a:solidFill>
                  <a:srgbClr val="262B3A"/>
                </a:solidFill>
                <a:latin typeface="Calibri" pitchFamily="34" charset="0"/>
                <a:ea typeface="Calibri" pitchFamily="34" charset="-122"/>
                <a:cs typeface="Calibri" pitchFamily="34" charset="-120"/>
              </a:rPr>
              <a:t> hierarchy (kingdom → species) and write </a:t>
            </a:r>
            <a:r>
              <a:rPr lang="en-US" sz="1200" b="1" dirty="0">
                <a:solidFill>
                  <a:srgbClr val="262B3A"/>
                </a:solidFill>
                <a:latin typeface="Calibri" pitchFamily="34" charset="0"/>
                <a:ea typeface="Calibri" pitchFamily="34" charset="-122"/>
                <a:cs typeface="Calibri" pitchFamily="34" charset="-120"/>
              </a:rPr>
              <a:t>binomial</a:t>
            </a:r>
            <a:r>
              <a:rPr lang="en-US" sz="1200" dirty="0">
                <a:solidFill>
                  <a:srgbClr val="262B3A"/>
                </a:solidFill>
                <a:latin typeface="Calibri" pitchFamily="34" charset="0"/>
                <a:ea typeface="Calibri" pitchFamily="34" charset="-122"/>
                <a:cs typeface="Calibri" pitchFamily="34" charset="-120"/>
              </a:rPr>
              <a:t> names correctly.</a:t>
            </a:r>
            <a:endParaRPr lang="en-US" sz="1100" dirty="0"/>
          </a:p>
        </p:txBody>
      </p:sp>
      <p:sp>
        <p:nvSpPr>
          <p:cNvPr id="14" name="Shape 12"/>
          <p:cNvSpPr/>
          <p:nvPr/>
        </p:nvSpPr>
        <p:spPr>
          <a:xfrm>
            <a:off x="502920" y="3063240"/>
            <a:ext cx="457200" cy="457200"/>
          </a:xfrm>
          <a:prstGeom prst="ellipse">
            <a:avLst/>
          </a:prstGeom>
          <a:solidFill>
            <a:srgbClr val="0D7877"/>
          </a:solidFill>
          <a:ln w="12700">
            <a:solidFill>
              <a:srgbClr val="0D7877"/>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200" dirty="0">
                <a:solidFill>
                  <a:srgbClr val="262B3A"/>
                </a:solidFill>
                <a:latin typeface="Calibri" pitchFamily="34" charset="0"/>
                <a:ea typeface="Calibri" pitchFamily="34" charset="-122"/>
                <a:cs typeface="Calibri" pitchFamily="34" charset="-120"/>
              </a:rPr>
              <a:t>Explain why grouping by </a:t>
            </a:r>
            <a:r>
              <a:rPr lang="en-US" sz="1200" b="1" dirty="0">
                <a:solidFill>
                  <a:srgbClr val="262B3A"/>
                </a:solidFill>
                <a:latin typeface="Calibri" pitchFamily="34" charset="0"/>
                <a:ea typeface="Calibri" pitchFamily="34" charset="-122"/>
                <a:cs typeface="Calibri" pitchFamily="34" charset="-120"/>
              </a:rPr>
              <a:t>appearance</a:t>
            </a:r>
            <a:r>
              <a:rPr lang="en-US" sz="1200" dirty="0">
                <a:solidFill>
                  <a:srgbClr val="262B3A"/>
                </a:solidFill>
                <a:latin typeface="Calibri" pitchFamily="34" charset="0"/>
                <a:ea typeface="Calibri" pitchFamily="34" charset="-122"/>
                <a:cs typeface="Calibri" pitchFamily="34" charset="-120"/>
              </a:rPr>
              <a:t> alone can mislead (</a:t>
            </a:r>
            <a:r>
              <a:rPr lang="en-US" sz="1200" b="1" dirty="0">
                <a:solidFill>
                  <a:srgbClr val="262B3A"/>
                </a:solidFill>
                <a:latin typeface="Calibri" pitchFamily="34" charset="0"/>
                <a:ea typeface="Calibri" pitchFamily="34" charset="-122"/>
                <a:cs typeface="Calibri" pitchFamily="34" charset="-120"/>
              </a:rPr>
              <a:t>convergent</a:t>
            </a:r>
            <a:r>
              <a:rPr lang="en-US" sz="1200" dirty="0">
                <a:solidFill>
                  <a:srgbClr val="262B3A"/>
                </a:solidFill>
                <a:latin typeface="Calibri" pitchFamily="34" charset="0"/>
                <a:ea typeface="Calibri" pitchFamily="34" charset="-122"/>
                <a:cs typeface="Calibri" pitchFamily="34" charset="-120"/>
              </a:rPr>
              <a:t> evolution).</a:t>
            </a:r>
            <a:endParaRPr lang="en-US" sz="1100" dirty="0"/>
          </a:p>
        </p:txBody>
      </p:sp>
      <p:sp>
        <p:nvSpPr>
          <p:cNvPr id="17" name="Shape 15"/>
          <p:cNvSpPr/>
          <p:nvPr/>
        </p:nvSpPr>
        <p:spPr>
          <a:xfrm>
            <a:off x="502920" y="3931920"/>
            <a:ext cx="457200" cy="457200"/>
          </a:xfrm>
          <a:prstGeom prst="ellipse">
            <a:avLst/>
          </a:prstGeom>
          <a:solidFill>
            <a:srgbClr val="0D7877"/>
          </a:solidFill>
          <a:ln w="12700">
            <a:solidFill>
              <a:srgbClr val="0D7877"/>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200" dirty="0">
                <a:solidFill>
                  <a:srgbClr val="262B3A"/>
                </a:solidFill>
                <a:latin typeface="Calibri" pitchFamily="34" charset="0"/>
                <a:ea typeface="Calibri" pitchFamily="34" charset="-122"/>
                <a:cs typeface="Calibri" pitchFamily="34" charset="-120"/>
              </a:rPr>
              <a:t>Describe how </a:t>
            </a:r>
            <a:r>
              <a:rPr lang="en-US" sz="1200" b="1" dirty="0">
                <a:solidFill>
                  <a:srgbClr val="262B3A"/>
                </a:solidFill>
                <a:latin typeface="Calibri" pitchFamily="34" charset="0"/>
                <a:ea typeface="Calibri" pitchFamily="34" charset="-122"/>
                <a:cs typeface="Calibri" pitchFamily="34" charset="-120"/>
              </a:rPr>
              <a:t>microscopes</a:t>
            </a:r>
            <a:r>
              <a:rPr lang="en-US" sz="1200" dirty="0">
                <a:solidFill>
                  <a:srgbClr val="262B3A"/>
                </a:solidFill>
                <a:latin typeface="Calibri" pitchFamily="34" charset="0"/>
                <a:ea typeface="Calibri" pitchFamily="34" charset="-122"/>
                <a:cs typeface="Calibri" pitchFamily="34" charset="-120"/>
              </a:rPr>
              <a:t> led to the </a:t>
            </a:r>
            <a:r>
              <a:rPr lang="en-US" sz="1200" b="1" dirty="0">
                <a:solidFill>
                  <a:srgbClr val="262B3A"/>
                </a:solidFill>
                <a:latin typeface="Calibri" pitchFamily="34" charset="0"/>
                <a:ea typeface="Calibri" pitchFamily="34" charset="-122"/>
                <a:cs typeface="Calibri" pitchFamily="34" charset="-120"/>
              </a:rPr>
              <a:t>five kingdoms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1325880"/>
            <a:ext cx="457200" cy="457200"/>
          </a:xfrm>
          <a:prstGeom prst="ellipse">
            <a:avLst/>
          </a:prstGeom>
          <a:solidFill>
            <a:srgbClr val="0D7877"/>
          </a:solidFill>
          <a:ln w="12700">
            <a:solidFill>
              <a:srgbClr val="0D7877"/>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200" dirty="0">
                <a:solidFill>
                  <a:srgbClr val="262B3A"/>
                </a:solidFill>
                <a:latin typeface="Calibri" pitchFamily="34" charset="0"/>
                <a:ea typeface="Calibri" pitchFamily="34" charset="-122"/>
                <a:cs typeface="Calibri" pitchFamily="34" charset="-120"/>
              </a:rPr>
              <a:t>Compare </a:t>
            </a:r>
            <a:r>
              <a:rPr lang="en-US" sz="1200" b="1" dirty="0">
                <a:solidFill>
                  <a:srgbClr val="262B3A"/>
                </a:solidFill>
                <a:latin typeface="Calibri" pitchFamily="34" charset="0"/>
                <a:ea typeface="Calibri" pitchFamily="34" charset="-122"/>
                <a:cs typeface="Calibri" pitchFamily="34" charset="-120"/>
              </a:rPr>
              <a:t>DNA base sequences</a:t>
            </a:r>
            <a:r>
              <a:rPr lang="en-US" sz="1200" dirty="0">
                <a:solidFill>
                  <a:srgbClr val="262B3A"/>
                </a:solidFill>
                <a:latin typeface="Calibri" pitchFamily="34" charset="0"/>
                <a:ea typeface="Calibri" pitchFamily="34" charset="-122"/>
                <a:cs typeface="Calibri" pitchFamily="34" charset="-120"/>
              </a:rPr>
              <a:t> and calculate </a:t>
            </a:r>
            <a:r>
              <a:rPr lang="en-US" sz="1200" b="1" dirty="0">
                <a:solidFill>
                  <a:srgbClr val="262B3A"/>
                </a:solidFill>
                <a:latin typeface="Calibri" pitchFamily="34" charset="0"/>
                <a:ea typeface="Calibri" pitchFamily="34" charset="-122"/>
                <a:cs typeface="Calibri" pitchFamily="34" charset="-120"/>
              </a:rPr>
              <a:t>percentage similarity</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6263640" y="2194560"/>
            <a:ext cx="457200" cy="457200"/>
          </a:xfrm>
          <a:prstGeom prst="ellipse">
            <a:avLst/>
          </a:prstGeom>
          <a:solidFill>
            <a:srgbClr val="0D7877"/>
          </a:solidFill>
          <a:ln w="12700">
            <a:solidFill>
              <a:srgbClr val="0D7877"/>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200" dirty="0">
                <a:solidFill>
                  <a:srgbClr val="262B3A"/>
                </a:solidFill>
                <a:latin typeface="Calibri" pitchFamily="34" charset="0"/>
                <a:ea typeface="Calibri" pitchFamily="34" charset="-122"/>
                <a:cs typeface="Calibri" pitchFamily="34" charset="-120"/>
              </a:rPr>
              <a:t>Draw and </a:t>
            </a:r>
            <a:r>
              <a:rPr lang="en-US" sz="1200" b="1" dirty="0">
                <a:solidFill>
                  <a:srgbClr val="262B3A"/>
                </a:solidFill>
                <a:latin typeface="Calibri" pitchFamily="34" charset="0"/>
                <a:ea typeface="Calibri" pitchFamily="34" charset="-122"/>
                <a:cs typeface="Calibri" pitchFamily="34" charset="-120"/>
              </a:rPr>
              <a:t>interpret evolutionary trees</a:t>
            </a:r>
            <a:r>
              <a:rPr lang="en-US" sz="1200" dirty="0">
                <a:solidFill>
                  <a:srgbClr val="262B3A"/>
                </a:solidFill>
                <a:latin typeface="Calibri" pitchFamily="34" charset="0"/>
                <a:ea typeface="Calibri" pitchFamily="34" charset="-122"/>
                <a:cs typeface="Calibri" pitchFamily="34" charset="-120"/>
              </a:rPr>
              <a:t> correctly.</a:t>
            </a:r>
            <a:endParaRPr lang="en-US" sz="1100" dirty="0"/>
          </a:p>
        </p:txBody>
      </p:sp>
      <p:sp>
        <p:nvSpPr>
          <p:cNvPr id="26" name="Shape 24"/>
          <p:cNvSpPr/>
          <p:nvPr/>
        </p:nvSpPr>
        <p:spPr>
          <a:xfrm>
            <a:off x="6263640" y="3063240"/>
            <a:ext cx="457200" cy="457200"/>
          </a:xfrm>
          <a:prstGeom prst="ellipse">
            <a:avLst/>
          </a:prstGeom>
          <a:solidFill>
            <a:srgbClr val="0D7877"/>
          </a:solidFill>
          <a:ln w="12700">
            <a:solidFill>
              <a:srgbClr val="0D7877"/>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200" dirty="0">
                <a:solidFill>
                  <a:srgbClr val="262B3A"/>
                </a:solidFill>
                <a:latin typeface="Calibri" pitchFamily="34" charset="0"/>
                <a:ea typeface="Calibri" pitchFamily="34" charset="-122"/>
                <a:cs typeface="Calibri" pitchFamily="34" charset="-120"/>
              </a:rPr>
              <a:t>Describe Woese's </a:t>
            </a:r>
            <a:r>
              <a:rPr lang="en-US" sz="1200" b="1" dirty="0">
                <a:solidFill>
                  <a:srgbClr val="262B3A"/>
                </a:solidFill>
                <a:latin typeface="Calibri" pitchFamily="34" charset="0"/>
                <a:ea typeface="Calibri" pitchFamily="34" charset="-122"/>
                <a:cs typeface="Calibri" pitchFamily="34" charset="-120"/>
              </a:rPr>
              <a:t>three-domain</a:t>
            </a:r>
            <a:r>
              <a:rPr lang="en-US" sz="1200" dirty="0">
                <a:solidFill>
                  <a:srgbClr val="262B3A"/>
                </a:solidFill>
                <a:latin typeface="Calibri" pitchFamily="34" charset="0"/>
                <a:ea typeface="Calibri" pitchFamily="34" charset="-122"/>
                <a:cs typeface="Calibri" pitchFamily="34" charset="-120"/>
              </a:rPr>
              <a:t> system and the evidence for it.</a:t>
            </a:r>
            <a:endParaRPr lang="en-US" sz="1100" dirty="0"/>
          </a:p>
        </p:txBody>
      </p:sp>
      <p:sp>
        <p:nvSpPr>
          <p:cNvPr id="29" name="Shape 27"/>
          <p:cNvSpPr/>
          <p:nvPr/>
        </p:nvSpPr>
        <p:spPr>
          <a:xfrm>
            <a:off x="6263640" y="3931920"/>
            <a:ext cx="457200" cy="457200"/>
          </a:xfrm>
          <a:prstGeom prst="ellipse">
            <a:avLst/>
          </a:prstGeom>
          <a:solidFill>
            <a:srgbClr val="0D7877"/>
          </a:solidFill>
          <a:ln w="12700">
            <a:solidFill>
              <a:srgbClr val="0D7877"/>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0D7877"/>
                </a:solidFill>
                <a:latin typeface="Calibri" pitchFamily="34" charset="0"/>
                <a:ea typeface="Calibri" pitchFamily="34" charset="-122"/>
                <a:cs typeface="Calibri" pitchFamily="34" charset="-120"/>
              </a:rPr>
              <a:t>IaS   </a:t>
            </a:r>
            <a:r>
              <a:rPr lang="en-US" sz="1200" dirty="0">
                <a:solidFill>
                  <a:srgbClr val="262B3A"/>
                </a:solidFill>
                <a:latin typeface="Calibri" pitchFamily="34" charset="0"/>
                <a:ea typeface="Calibri" pitchFamily="34" charset="-122"/>
                <a:cs typeface="Calibri" pitchFamily="34" charset="-120"/>
              </a:rPr>
              <a:t>Explain why classification </a:t>
            </a:r>
            <a:r>
              <a:rPr lang="en-US" sz="1200" b="1" dirty="0">
                <a:solidFill>
                  <a:srgbClr val="262B3A"/>
                </a:solidFill>
                <a:latin typeface="Calibri" pitchFamily="34" charset="0"/>
                <a:ea typeface="Calibri" pitchFamily="34" charset="-122"/>
                <a:cs typeface="Calibri" pitchFamily="34" charset="-120"/>
              </a:rPr>
              <a:t>changes</a:t>
            </a:r>
            <a:r>
              <a:rPr lang="en-US" sz="1200" dirty="0">
                <a:solidFill>
                  <a:srgbClr val="262B3A"/>
                </a:solidFill>
                <a:latin typeface="Calibri" pitchFamily="34" charset="0"/>
                <a:ea typeface="Calibri" pitchFamily="34" charset="-122"/>
                <a:cs typeface="Calibri" pitchFamily="34" charset="-120"/>
              </a:rPr>
              <a:t> as new evidence appears.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Chapter B6 Life on Earth – past, present and future • B6.2 is Part 2 of 3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133536"/>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B6.2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Classification</a:t>
            </a:r>
            <a:endParaRPr lang="en-US" sz="1100" dirty="0"/>
          </a:p>
        </p:txBody>
      </p:sp>
      <p:sp>
        <p:nvSpPr>
          <p:cNvPr id="10" name="Shape 8"/>
          <p:cNvSpPr/>
          <p:nvPr/>
        </p:nvSpPr>
        <p:spPr>
          <a:xfrm>
            <a:off x="914400" y="1920240"/>
            <a:ext cx="91" cy="3758184"/>
          </a:xfrm>
          <a:prstGeom prst="line">
            <a:avLst/>
          </a:prstGeom>
          <a:noFill/>
          <a:ln w="19050">
            <a:solidFill>
              <a:srgbClr val="0D7877"/>
            </a:solidFill>
            <a:prstDash val="solid"/>
          </a:ln>
        </p:spPr>
      </p:sp>
      <p:sp>
        <p:nvSpPr>
          <p:cNvPr id="11" name="Shape 9"/>
          <p:cNvSpPr/>
          <p:nvPr/>
        </p:nvSpPr>
        <p:spPr>
          <a:xfrm>
            <a:off x="914400" y="2386584"/>
            <a:ext cx="411480" cy="91"/>
          </a:xfrm>
          <a:prstGeom prst="line">
            <a:avLst/>
          </a:prstGeom>
          <a:noFill/>
          <a:ln w="19050">
            <a:solidFill>
              <a:srgbClr val="0D7877"/>
            </a:solidFill>
            <a:prstDash val="solid"/>
          </a:ln>
        </p:spPr>
      </p:sp>
      <p:sp>
        <p:nvSpPr>
          <p:cNvPr id="12" name="Shape 10"/>
          <p:cNvSpPr/>
          <p:nvPr/>
        </p:nvSpPr>
        <p:spPr>
          <a:xfrm>
            <a:off x="1325880" y="2103120"/>
            <a:ext cx="5120640" cy="566928"/>
          </a:xfrm>
          <a:prstGeom prst="roundRect">
            <a:avLst>
              <a:gd name="adj" fmla="val 8065"/>
            </a:avLst>
          </a:prstGeom>
          <a:solidFill>
            <a:srgbClr val="F4FAF9"/>
          </a:solidFill>
          <a:ln w="12700">
            <a:solidFill>
              <a:srgbClr val="CFE0DE"/>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100" dirty="0">
                <a:solidFill>
                  <a:srgbClr val="262B3A"/>
                </a:solidFill>
                <a:latin typeface="Calibri" pitchFamily="34" charset="0"/>
                <a:ea typeface="Calibri" pitchFamily="34" charset="-122"/>
                <a:cs typeface="Calibri" pitchFamily="34" charset="-120"/>
              </a:rPr>
              <a:t>Why classify? Artificial and natural systems</a:t>
            </a:r>
            <a:endParaRPr lang="en-US" sz="1100" dirty="0"/>
          </a:p>
        </p:txBody>
      </p:sp>
      <p:sp>
        <p:nvSpPr>
          <p:cNvPr id="14" name="Shape 12"/>
          <p:cNvSpPr/>
          <p:nvPr/>
        </p:nvSpPr>
        <p:spPr>
          <a:xfrm>
            <a:off x="5257800" y="2249424"/>
            <a:ext cx="1097280" cy="274320"/>
          </a:xfrm>
          <a:prstGeom prst="roundRect">
            <a:avLst>
              <a:gd name="adj" fmla="val 50000"/>
            </a:avLst>
          </a:prstGeom>
          <a:solidFill>
            <a:srgbClr val="0D7877"/>
          </a:solidFill>
          <a:ln w="12700">
            <a:solidFill>
              <a:srgbClr val="0D7877"/>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0D7877"/>
            </a:solidFill>
            <a:prstDash val="solid"/>
          </a:ln>
        </p:spPr>
      </p:sp>
      <p:sp>
        <p:nvSpPr>
          <p:cNvPr id="17" name="Shape 15"/>
          <p:cNvSpPr/>
          <p:nvPr/>
        </p:nvSpPr>
        <p:spPr>
          <a:xfrm>
            <a:off x="1325880" y="2761488"/>
            <a:ext cx="5120640" cy="566928"/>
          </a:xfrm>
          <a:prstGeom prst="roundRect">
            <a:avLst>
              <a:gd name="adj" fmla="val 8065"/>
            </a:avLst>
          </a:prstGeom>
          <a:solidFill>
            <a:srgbClr val="F4FAF9"/>
          </a:solidFill>
          <a:ln w="12700">
            <a:solidFill>
              <a:srgbClr val="CFE0DE"/>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100" dirty="0">
                <a:solidFill>
                  <a:srgbClr val="262B3A"/>
                </a:solidFill>
                <a:latin typeface="Calibri" pitchFamily="34" charset="0"/>
                <a:ea typeface="Calibri" pitchFamily="34" charset="-122"/>
                <a:cs typeface="Calibri" pitchFamily="34" charset="-120"/>
              </a:rPr>
              <a:t>Linnaean hierarchy and binomial names</a:t>
            </a:r>
            <a:endParaRPr lang="en-US" sz="1100" dirty="0"/>
          </a:p>
        </p:txBody>
      </p:sp>
      <p:sp>
        <p:nvSpPr>
          <p:cNvPr id="19" name="Shape 17"/>
          <p:cNvSpPr/>
          <p:nvPr/>
        </p:nvSpPr>
        <p:spPr>
          <a:xfrm>
            <a:off x="5257800" y="2907792"/>
            <a:ext cx="1097280" cy="274320"/>
          </a:xfrm>
          <a:prstGeom prst="roundRect">
            <a:avLst>
              <a:gd name="adj" fmla="val 50000"/>
            </a:avLst>
          </a:prstGeom>
          <a:solidFill>
            <a:srgbClr val="0D7877"/>
          </a:solidFill>
          <a:ln w="12700">
            <a:solidFill>
              <a:srgbClr val="0D7877"/>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0D7877"/>
            </a:solidFill>
            <a:prstDash val="solid"/>
          </a:ln>
        </p:spPr>
      </p:sp>
      <p:sp>
        <p:nvSpPr>
          <p:cNvPr id="22" name="Shape 20"/>
          <p:cNvSpPr/>
          <p:nvPr/>
        </p:nvSpPr>
        <p:spPr>
          <a:xfrm>
            <a:off x="1325880" y="3419856"/>
            <a:ext cx="5120640" cy="566928"/>
          </a:xfrm>
          <a:prstGeom prst="roundRect">
            <a:avLst>
              <a:gd name="adj" fmla="val 8065"/>
            </a:avLst>
          </a:prstGeom>
          <a:solidFill>
            <a:srgbClr val="F4FAF9"/>
          </a:solidFill>
          <a:ln w="12700">
            <a:solidFill>
              <a:srgbClr val="CFE0DE"/>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100" dirty="0">
                <a:solidFill>
                  <a:srgbClr val="262B3A"/>
                </a:solidFill>
                <a:latin typeface="Calibri" pitchFamily="34" charset="0"/>
                <a:ea typeface="Calibri" pitchFamily="34" charset="-122"/>
                <a:cs typeface="Calibri" pitchFamily="34" charset="-120"/>
              </a:rPr>
              <a:t>Looks can mislead; microscopes and 5 kingdoms</a:t>
            </a:r>
            <a:endParaRPr lang="en-US" sz="1100" dirty="0"/>
          </a:p>
        </p:txBody>
      </p:sp>
      <p:sp>
        <p:nvSpPr>
          <p:cNvPr id="24" name="Shape 22"/>
          <p:cNvSpPr/>
          <p:nvPr/>
        </p:nvSpPr>
        <p:spPr>
          <a:xfrm>
            <a:off x="5257800" y="3566160"/>
            <a:ext cx="1097280" cy="274320"/>
          </a:xfrm>
          <a:prstGeom prst="roundRect">
            <a:avLst>
              <a:gd name="adj" fmla="val 50000"/>
            </a:avLst>
          </a:prstGeom>
          <a:solidFill>
            <a:srgbClr val="0D7877"/>
          </a:solidFill>
          <a:ln w="12700">
            <a:solidFill>
              <a:srgbClr val="0D7877"/>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0D7877"/>
            </a:solidFill>
            <a:prstDash val="solid"/>
          </a:ln>
        </p:spPr>
      </p:sp>
      <p:sp>
        <p:nvSpPr>
          <p:cNvPr id="27" name="Shape 25"/>
          <p:cNvSpPr/>
          <p:nvPr/>
        </p:nvSpPr>
        <p:spPr>
          <a:xfrm>
            <a:off x="1325880" y="4078224"/>
            <a:ext cx="5120640" cy="566928"/>
          </a:xfrm>
          <a:prstGeom prst="roundRect">
            <a:avLst>
              <a:gd name="adj" fmla="val 8065"/>
            </a:avLst>
          </a:prstGeom>
          <a:solidFill>
            <a:srgbClr val="F4FAF9"/>
          </a:solidFill>
          <a:ln w="12700">
            <a:solidFill>
              <a:srgbClr val="CFE0DE"/>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100" dirty="0">
                <a:solidFill>
                  <a:srgbClr val="262B3A"/>
                </a:solidFill>
                <a:latin typeface="Calibri" pitchFamily="34" charset="0"/>
                <a:ea typeface="Calibri" pitchFamily="34" charset="-122"/>
                <a:cs typeface="Calibri" pitchFamily="34" charset="-120"/>
              </a:rPr>
              <a:t>DNA sequences and evolutionary trees</a:t>
            </a:r>
            <a:endParaRPr lang="en-US" sz="1100" dirty="0"/>
          </a:p>
        </p:txBody>
      </p:sp>
      <p:sp>
        <p:nvSpPr>
          <p:cNvPr id="29" name="Shape 27"/>
          <p:cNvSpPr/>
          <p:nvPr/>
        </p:nvSpPr>
        <p:spPr>
          <a:xfrm>
            <a:off x="5257800" y="4224528"/>
            <a:ext cx="1097280" cy="274320"/>
          </a:xfrm>
          <a:prstGeom prst="roundRect">
            <a:avLst>
              <a:gd name="adj" fmla="val 50000"/>
            </a:avLst>
          </a:prstGeom>
          <a:solidFill>
            <a:srgbClr val="0D7877"/>
          </a:solidFill>
          <a:ln w="12700">
            <a:solidFill>
              <a:srgbClr val="0D7877"/>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0D7877"/>
            </a:solidFill>
            <a:prstDash val="solid"/>
          </a:ln>
        </p:spPr>
      </p:sp>
      <p:sp>
        <p:nvSpPr>
          <p:cNvPr id="32" name="Shape 30"/>
          <p:cNvSpPr/>
          <p:nvPr/>
        </p:nvSpPr>
        <p:spPr>
          <a:xfrm>
            <a:off x="1325880" y="4736592"/>
            <a:ext cx="5120640" cy="566928"/>
          </a:xfrm>
          <a:prstGeom prst="roundRect">
            <a:avLst>
              <a:gd name="adj" fmla="val 8065"/>
            </a:avLst>
          </a:prstGeom>
          <a:solidFill>
            <a:srgbClr val="F4FAF9"/>
          </a:solidFill>
          <a:ln w="12700">
            <a:solidFill>
              <a:srgbClr val="CFE0DE"/>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B6.2.1   </a:t>
            </a:r>
            <a:r>
              <a:rPr lang="en-US" sz="1100" dirty="0">
                <a:solidFill>
                  <a:srgbClr val="262B3A"/>
                </a:solidFill>
                <a:latin typeface="Calibri" pitchFamily="34" charset="0"/>
                <a:ea typeface="Calibri" pitchFamily="34" charset="-122"/>
                <a:cs typeface="Calibri" pitchFamily="34" charset="-120"/>
              </a:rPr>
              <a:t>Woese and the three domains</a:t>
            </a:r>
            <a:endParaRPr lang="en-US" sz="1100" dirty="0"/>
          </a:p>
        </p:txBody>
      </p:sp>
      <p:sp>
        <p:nvSpPr>
          <p:cNvPr id="34" name="Shape 32"/>
          <p:cNvSpPr/>
          <p:nvPr/>
        </p:nvSpPr>
        <p:spPr>
          <a:xfrm>
            <a:off x="5257800" y="4882896"/>
            <a:ext cx="1097280" cy="274320"/>
          </a:xfrm>
          <a:prstGeom prst="roundRect">
            <a:avLst>
              <a:gd name="adj" fmla="val 50000"/>
            </a:avLst>
          </a:prstGeom>
          <a:solidFill>
            <a:srgbClr val="0D7877"/>
          </a:solidFill>
          <a:ln w="12700">
            <a:solidFill>
              <a:srgbClr val="0D7877"/>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0D7877"/>
            </a:solidFill>
            <a:prstDash val="solid"/>
          </a:ln>
        </p:spPr>
      </p:sp>
      <p:sp>
        <p:nvSpPr>
          <p:cNvPr id="37" name="Shape 35"/>
          <p:cNvSpPr/>
          <p:nvPr/>
        </p:nvSpPr>
        <p:spPr>
          <a:xfrm>
            <a:off x="1325880" y="5394960"/>
            <a:ext cx="5120640" cy="566928"/>
          </a:xfrm>
          <a:prstGeom prst="roundRect">
            <a:avLst>
              <a:gd name="adj" fmla="val 8065"/>
            </a:avLst>
          </a:prstGeom>
          <a:solidFill>
            <a:srgbClr val="F4FAF9"/>
          </a:solidFill>
          <a:ln w="12700">
            <a:solidFill>
              <a:srgbClr val="CFE0DE"/>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0D7877"/>
                </a:solidFill>
                <a:latin typeface="Calibri" pitchFamily="34" charset="0"/>
                <a:ea typeface="Calibri" pitchFamily="34" charset="-122"/>
                <a:cs typeface="Calibri" pitchFamily="34" charset="-120"/>
              </a:rPr>
              <a:t>IaS   </a:t>
            </a:r>
            <a:r>
              <a:rPr lang="en-US" sz="1100" dirty="0">
                <a:solidFill>
                  <a:srgbClr val="262B3A"/>
                </a:solidFill>
                <a:latin typeface="Calibri" pitchFamily="34" charset="0"/>
                <a:ea typeface="Calibri" pitchFamily="34" charset="-122"/>
                <a:cs typeface="Calibri" pitchFamily="34" charset="-120"/>
              </a:rPr>
              <a:t>Why classification keeps changing</a:t>
            </a:r>
            <a:endParaRPr lang="en-US" sz="1100" dirty="0"/>
          </a:p>
        </p:txBody>
      </p:sp>
      <p:sp>
        <p:nvSpPr>
          <p:cNvPr id="39" name="Shape 37"/>
          <p:cNvSpPr/>
          <p:nvPr/>
        </p:nvSpPr>
        <p:spPr>
          <a:xfrm>
            <a:off x="5257800" y="5541264"/>
            <a:ext cx="1097280" cy="274320"/>
          </a:xfrm>
          <a:prstGeom prst="roundRect">
            <a:avLst>
              <a:gd name="adj" fmla="val 50000"/>
            </a:avLst>
          </a:prstGeom>
          <a:solidFill>
            <a:srgbClr val="0D7877"/>
          </a:solidFill>
          <a:ln w="12700">
            <a:solidFill>
              <a:srgbClr val="0D7877"/>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B1 DNA • B1.1 prokaryotic and eukaryotic cells • B4.2 microscopes • B6.1 evolution</a:t>
            </a:r>
            <a:endParaRPr lang="en-US" sz="1050" dirty="0"/>
          </a:p>
        </p:txBody>
      </p:sp>
      <p:sp>
        <p:nvSpPr>
          <p:cNvPr id="42" name="Shape 40"/>
          <p:cNvSpPr/>
          <p:nvPr/>
        </p:nvSpPr>
        <p:spPr>
          <a:xfrm>
            <a:off x="6720840" y="1234440"/>
            <a:ext cx="5056632" cy="2743200"/>
          </a:xfrm>
          <a:prstGeom prst="roundRect">
            <a:avLst>
              <a:gd name="adj" fmla="val 2000"/>
            </a:avLst>
          </a:prstGeom>
          <a:solidFill>
            <a:srgbClr val="0F3D3E"/>
          </a:solidFill>
          <a:ln/>
        </p:spPr>
      </p:sp>
      <p:sp>
        <p:nvSpPr>
          <p:cNvPr id="43" name="Text 41"/>
          <p:cNvSpPr/>
          <p:nvPr/>
        </p:nvSpPr>
        <p:spPr>
          <a:xfrm>
            <a:off x="6903720" y="1325880"/>
            <a:ext cx="4709160" cy="25603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B6 in J260</a:t>
            </a:r>
            <a:endParaRPr lang="en-US" sz="1500" dirty="0"/>
          </a:p>
          <a:p>
            <a:pPr marL="152400" indent="-152400">
              <a:spcAft>
                <a:spcPts val="400"/>
              </a:spcAft>
              <a:buSzPct val="100000"/>
              <a:buChar char="▪"/>
            </a:pPr>
            <a:r>
              <a:rPr lang="en-US" sz="1100" dirty="0">
                <a:solidFill>
                  <a:srgbClr val="E3F2F0"/>
                </a:solidFill>
                <a:latin typeface="Calibri" pitchFamily="34" charset="0"/>
                <a:ea typeface="Calibri" pitchFamily="34" charset="-122"/>
                <a:cs typeface="Calibri" pitchFamily="34" charset="-120"/>
              </a:rPr>
              <a:t>B6.1 How was the theory of evolution developed?</a:t>
            </a:r>
            <a:endParaRPr lang="en-US" sz="1500" dirty="0"/>
          </a:p>
          <a:p>
            <a:pPr marL="152400" indent="-152400">
              <a:spcAft>
                <a:spcPts val="400"/>
              </a:spcAft>
              <a:buSzPct val="100000"/>
              <a:buChar char="▪"/>
            </a:pPr>
            <a:r>
              <a:rPr lang="en-US" sz="1100" b="1" dirty="0">
                <a:solidFill>
                  <a:srgbClr val="E3F2F0"/>
                </a:solidFill>
                <a:latin typeface="Calibri" pitchFamily="34" charset="0"/>
                <a:ea typeface="Calibri" pitchFamily="34" charset="-122"/>
                <a:cs typeface="Calibri" pitchFamily="34" charset="-120"/>
              </a:rPr>
              <a:t>B6.2 How does our understanding of biology help us classify the diversity of organisms on Earth?</a:t>
            </a:r>
            <a:r>
              <a:rPr lang="en-US" sz="1100" dirty="0">
                <a:solidFill>
                  <a:srgbClr val="E3F2F0"/>
                </a:solidFill>
                <a:latin typeface="Calibri" pitchFamily="34" charset="0"/>
                <a:ea typeface="Calibri" pitchFamily="34" charset="-122"/>
                <a:cs typeface="Calibri" pitchFamily="34" charset="-120"/>
              </a:rPr>
              <a:t> (this deck)</a:t>
            </a:r>
            <a:endParaRPr lang="en-US" sz="1500" dirty="0"/>
          </a:p>
          <a:p>
            <a:pPr marL="152400" indent="-152400">
              <a:spcAft>
                <a:spcPts val="400"/>
              </a:spcAft>
              <a:buSzPct val="100000"/>
              <a:buChar char="▪"/>
            </a:pPr>
            <a:r>
              <a:rPr lang="en-US" sz="1100" dirty="0">
                <a:solidFill>
                  <a:srgbClr val="E3F2F0"/>
                </a:solidFill>
                <a:latin typeface="Calibri" pitchFamily="34" charset="0"/>
                <a:ea typeface="Calibri" pitchFamily="34" charset="-122"/>
                <a:cs typeface="Calibri" pitchFamily="34" charset="-120"/>
              </a:rPr>
              <a:t>B6.3 How is biodiversity threatened and how can we protect it?</a:t>
            </a:r>
            <a:endParaRPr lang="en-US" sz="1500" dirty="0"/>
          </a:p>
          <a:p>
            <a:pPr marL="152400" indent="-152400">
              <a:spcAft>
                <a:spcPts val="400"/>
              </a:spcAft>
              <a:buSzPct val="100000"/>
              <a:buChar char="▪"/>
            </a:pPr>
            <a:r>
              <a:rPr lang="en-US" sz="1100" dirty="0">
                <a:solidFill>
                  <a:srgbClr val="E3F2F0"/>
                </a:solidFill>
                <a:latin typeface="Calibri" pitchFamily="34" charset="0"/>
                <a:ea typeface="Calibri" pitchFamily="34" charset="-122"/>
                <a:cs typeface="Calibri" pitchFamily="34" charset="-120"/>
              </a:rPr>
              <a:t>In J257 (Biology B) this deck is B6.3: J257 has an extra B6.2 on sexual and asexual reproduction.</a:t>
            </a:r>
            <a:endParaRPr lang="en-US" sz="1500" dirty="0"/>
          </a:p>
        </p:txBody>
      </p:sp>
      <p:sp>
        <p:nvSpPr>
          <p:cNvPr id="44" name="Shape 42"/>
          <p:cNvSpPr/>
          <p:nvPr/>
        </p:nvSpPr>
        <p:spPr>
          <a:xfrm>
            <a:off x="6720840" y="4114800"/>
            <a:ext cx="5056632" cy="2148840"/>
          </a:xfrm>
          <a:prstGeom prst="roundRect">
            <a:avLst>
              <a:gd name="adj" fmla="val 2553"/>
            </a:avLst>
          </a:prstGeom>
          <a:solidFill>
            <a:srgbClr val="FFF4E0"/>
          </a:solidFill>
          <a:ln w="12700">
            <a:solidFill>
              <a:srgbClr val="F1D9A8"/>
            </a:solidFill>
            <a:prstDash val="solid"/>
          </a:ln>
        </p:spPr>
      </p:sp>
      <p:sp>
        <p:nvSpPr>
          <p:cNvPr id="45" name="Text 43"/>
          <p:cNvSpPr/>
          <p:nvPr/>
        </p:nvSpPr>
        <p:spPr>
          <a:xfrm>
            <a:off x="6903720" y="4206240"/>
            <a:ext cx="4709160" cy="19659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No Higher-only statement was found for B6.2: everything is for </a:t>
            </a:r>
            <a:r>
              <a:rPr lang="en-US" sz="1100" b="1" dirty="0">
                <a:solidFill>
                  <a:srgbClr val="262B3A"/>
                </a:solidFill>
                <a:latin typeface="Calibri" pitchFamily="34" charset="0"/>
                <a:ea typeface="Calibri" pitchFamily="34" charset="-122"/>
                <a:cs typeface="Calibri" pitchFamily="34" charset="-120"/>
              </a:rPr>
              <a:t>both tiers</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red </a:t>
            </a:r>
            <a:r>
              <a:rPr lang="en-US" sz="1100" b="1" dirty="0">
                <a:solidFill>
                  <a:srgbClr val="262B3A"/>
                </a:solidFill>
                <a:latin typeface="Calibri" pitchFamily="34" charset="0"/>
                <a:ea typeface="Calibri" pitchFamily="34" charset="-122"/>
                <a:cs typeface="Calibri" pitchFamily="34" charset="-120"/>
              </a:rPr>
              <a:t>GRADE 7–9 STRETCH</a:t>
            </a:r>
            <a:r>
              <a:rPr lang="en-US" sz="1100" dirty="0">
                <a:solidFill>
                  <a:srgbClr val="262B3A"/>
                </a:solidFill>
                <a:latin typeface="Calibri" pitchFamily="34" charset="0"/>
                <a:ea typeface="Calibri" pitchFamily="34" charset="-122"/>
                <a:cs typeface="Calibri" pitchFamily="34" charset="-120"/>
              </a:rPr>
              <a:t> pill marks extension work.</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percentages</a:t>
            </a:r>
            <a:r>
              <a:rPr lang="en-US" sz="1100" dirty="0">
                <a:solidFill>
                  <a:srgbClr val="262B3A"/>
                </a:solidFill>
                <a:latin typeface="Calibri" pitchFamily="34" charset="0"/>
                <a:ea typeface="Calibri" pitchFamily="34" charset="-122"/>
                <a:cs typeface="Calibri" pitchFamily="34" charset="-120"/>
              </a:rPr>
              <a:t>, counting differences, reading </a:t>
            </a:r>
            <a:r>
              <a:rPr lang="en-US" sz="1100" b="1" dirty="0">
                <a:solidFill>
                  <a:srgbClr val="262B3A"/>
                </a:solidFill>
                <a:latin typeface="Calibri" pitchFamily="34" charset="0"/>
                <a:ea typeface="Calibri" pitchFamily="34" charset="-122"/>
                <a:cs typeface="Calibri" pitchFamily="34" charset="-120"/>
              </a:rPr>
              <a:t>timelines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trees</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Recall from B1, B1.1, B4.2, B6.1 and KS3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4FAF9"/>
          </a:solidFill>
          <a:ln w="9525">
            <a:solidFill>
              <a:srgbClr val="CFE0DE"/>
            </a:solidFill>
            <a:prstDash val="solid"/>
          </a:ln>
        </p:spPr>
      </p:sp>
      <p:sp>
        <p:nvSpPr>
          <p:cNvPr id="9" name="Shape 7"/>
          <p:cNvSpPr/>
          <p:nvPr/>
        </p:nvSpPr>
        <p:spPr>
          <a:xfrm>
            <a:off x="548640" y="1371600"/>
            <a:ext cx="438912" cy="438912"/>
          </a:xfrm>
          <a:prstGeom prst="ellipse">
            <a:avLst/>
          </a:prstGeom>
          <a:solidFill>
            <a:srgbClr val="0D7877"/>
          </a:solidFill>
          <a:ln w="12700">
            <a:solidFill>
              <a:srgbClr val="0D7877"/>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 • genes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genome</a:t>
            </a:r>
            <a:r>
              <a:rPr lang="en-US" sz="1250" dirty="0">
                <a:solidFill>
                  <a:srgbClr val="262B3A"/>
                </a:solidFill>
                <a:latin typeface="Calibri" pitchFamily="34" charset="0"/>
                <a:ea typeface="Calibri" pitchFamily="34" charset="-122"/>
                <a:cs typeface="Calibri" pitchFamily="34" charset="-120"/>
              </a:rPr>
              <a:t>? Name the four </a:t>
            </a:r>
            <a:r>
              <a:rPr lang="en-US" sz="1250" b="1" dirty="0">
                <a:solidFill>
                  <a:srgbClr val="262B3A"/>
                </a:solidFill>
                <a:latin typeface="Calibri" pitchFamily="34" charset="0"/>
                <a:ea typeface="Calibri" pitchFamily="34" charset="-122"/>
                <a:cs typeface="Calibri" pitchFamily="34" charset="-120"/>
              </a:rPr>
              <a:t>bases</a:t>
            </a:r>
            <a:r>
              <a:rPr lang="en-US" sz="1250" dirty="0">
                <a:solidFill>
                  <a:srgbClr val="262B3A"/>
                </a:solidFill>
                <a:latin typeface="Calibri" pitchFamily="34" charset="0"/>
                <a:ea typeface="Calibri" pitchFamily="34" charset="-122"/>
                <a:cs typeface="Calibri" pitchFamily="34" charset="-120"/>
              </a:rPr>
              <a:t> in DNA.</a:t>
            </a:r>
            <a:endParaRPr lang="en-US" sz="1250" dirty="0"/>
          </a:p>
        </p:txBody>
      </p:sp>
      <p:sp>
        <p:nvSpPr>
          <p:cNvPr id="13" name="Shape 11"/>
          <p:cNvSpPr/>
          <p:nvPr/>
        </p:nvSpPr>
        <p:spPr>
          <a:xfrm>
            <a:off x="4251960" y="1234440"/>
            <a:ext cx="3657600" cy="2011680"/>
          </a:xfrm>
          <a:prstGeom prst="roundRect">
            <a:avLst>
              <a:gd name="adj" fmla="val 2727"/>
            </a:avLst>
          </a:prstGeom>
          <a:solidFill>
            <a:srgbClr val="F4FAF9"/>
          </a:solidFill>
          <a:ln w="9525">
            <a:solidFill>
              <a:srgbClr val="CFE0DE"/>
            </a:solidFill>
            <a:prstDash val="solid"/>
          </a:ln>
        </p:spPr>
      </p:sp>
      <p:sp>
        <p:nvSpPr>
          <p:cNvPr id="14" name="Shape 12"/>
          <p:cNvSpPr/>
          <p:nvPr/>
        </p:nvSpPr>
        <p:spPr>
          <a:xfrm>
            <a:off x="4389120" y="1371600"/>
            <a:ext cx="438912" cy="438912"/>
          </a:xfrm>
          <a:prstGeom prst="ellipse">
            <a:avLst/>
          </a:prstGeom>
          <a:solidFill>
            <a:srgbClr val="0D7877"/>
          </a:solidFill>
          <a:ln w="12700">
            <a:solidFill>
              <a:srgbClr val="0D7877"/>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B1.1 • cells</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differences between a </a:t>
            </a:r>
            <a:r>
              <a:rPr lang="en-US" sz="1250" b="1" dirty="0">
                <a:solidFill>
                  <a:srgbClr val="262B3A"/>
                </a:solidFill>
                <a:latin typeface="Calibri" pitchFamily="34" charset="0"/>
                <a:ea typeface="Calibri" pitchFamily="34" charset="-122"/>
                <a:cs typeface="Calibri" pitchFamily="34" charset="-120"/>
              </a:rPr>
              <a:t>prokaryotic</a:t>
            </a:r>
            <a:r>
              <a:rPr lang="en-US" sz="1250" dirty="0">
                <a:solidFill>
                  <a:srgbClr val="262B3A"/>
                </a:solidFill>
                <a:latin typeface="Calibri" pitchFamily="34" charset="0"/>
                <a:ea typeface="Calibri" pitchFamily="34" charset="-122"/>
                <a:cs typeface="Calibri" pitchFamily="34" charset="-120"/>
              </a:rPr>
              <a:t> cell and a </a:t>
            </a:r>
            <a:r>
              <a:rPr lang="en-US" sz="1250" b="1" dirty="0">
                <a:solidFill>
                  <a:srgbClr val="262B3A"/>
                </a:solidFill>
                <a:latin typeface="Calibri" pitchFamily="34" charset="0"/>
                <a:ea typeface="Calibri" pitchFamily="34" charset="-122"/>
                <a:cs typeface="Calibri" pitchFamily="34" charset="-120"/>
              </a:rPr>
              <a:t>eukaryotic</a:t>
            </a:r>
            <a:r>
              <a:rPr lang="en-US" sz="1250" dirty="0">
                <a:solidFill>
                  <a:srgbClr val="262B3A"/>
                </a:solidFill>
                <a:latin typeface="Calibri" pitchFamily="34" charset="0"/>
                <a:ea typeface="Calibri" pitchFamily="34" charset="-122"/>
                <a:cs typeface="Calibri" pitchFamily="34" charset="-120"/>
              </a:rPr>
              <a:t> cell.</a:t>
            </a:r>
            <a:endParaRPr lang="en-US" sz="1250" dirty="0"/>
          </a:p>
        </p:txBody>
      </p:sp>
      <p:sp>
        <p:nvSpPr>
          <p:cNvPr id="18" name="Shape 16"/>
          <p:cNvSpPr/>
          <p:nvPr/>
        </p:nvSpPr>
        <p:spPr>
          <a:xfrm>
            <a:off x="8092440" y="1234440"/>
            <a:ext cx="3657600" cy="2011680"/>
          </a:xfrm>
          <a:prstGeom prst="roundRect">
            <a:avLst>
              <a:gd name="adj" fmla="val 2727"/>
            </a:avLst>
          </a:prstGeom>
          <a:solidFill>
            <a:srgbClr val="F4FAF9"/>
          </a:solidFill>
          <a:ln w="9525">
            <a:solidFill>
              <a:srgbClr val="CFE0DE"/>
            </a:solidFill>
            <a:prstDash val="solid"/>
          </a:ln>
        </p:spPr>
      </p:sp>
      <p:sp>
        <p:nvSpPr>
          <p:cNvPr id="19" name="Shape 17"/>
          <p:cNvSpPr/>
          <p:nvPr/>
        </p:nvSpPr>
        <p:spPr>
          <a:xfrm>
            <a:off x="8229600" y="1371600"/>
            <a:ext cx="438912" cy="438912"/>
          </a:xfrm>
          <a:prstGeom prst="ellipse">
            <a:avLst/>
          </a:prstGeom>
          <a:solidFill>
            <a:srgbClr val="0D7877"/>
          </a:solidFill>
          <a:ln w="12700">
            <a:solidFill>
              <a:srgbClr val="0D7877"/>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B4.2 • microscopes</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can an </a:t>
            </a:r>
            <a:r>
              <a:rPr lang="en-US" sz="1250" b="1" dirty="0">
                <a:solidFill>
                  <a:srgbClr val="262B3A"/>
                </a:solidFill>
                <a:latin typeface="Calibri" pitchFamily="34" charset="0"/>
                <a:ea typeface="Calibri" pitchFamily="34" charset="-122"/>
                <a:cs typeface="Calibri" pitchFamily="34" charset="-120"/>
              </a:rPr>
              <a:t>electron microscope</a:t>
            </a:r>
            <a:r>
              <a:rPr lang="en-US" sz="1250" dirty="0">
                <a:solidFill>
                  <a:srgbClr val="262B3A"/>
                </a:solidFill>
                <a:latin typeface="Calibri" pitchFamily="34" charset="0"/>
                <a:ea typeface="Calibri" pitchFamily="34" charset="-122"/>
                <a:cs typeface="Calibri" pitchFamily="34" charset="-120"/>
              </a:rPr>
              <a:t> show more detail than a light microscope?</a:t>
            </a:r>
            <a:endParaRPr lang="en-US" sz="1250" dirty="0"/>
          </a:p>
        </p:txBody>
      </p:sp>
      <p:sp>
        <p:nvSpPr>
          <p:cNvPr id="23" name="Shape 21"/>
          <p:cNvSpPr/>
          <p:nvPr/>
        </p:nvSpPr>
        <p:spPr>
          <a:xfrm>
            <a:off x="411480" y="3429000"/>
            <a:ext cx="3657600" cy="2011680"/>
          </a:xfrm>
          <a:prstGeom prst="roundRect">
            <a:avLst>
              <a:gd name="adj" fmla="val 2727"/>
            </a:avLst>
          </a:prstGeom>
          <a:solidFill>
            <a:srgbClr val="F4FAF9"/>
          </a:solidFill>
          <a:ln w="9525">
            <a:solidFill>
              <a:srgbClr val="CFE0DE"/>
            </a:solidFill>
            <a:prstDash val="solid"/>
          </a:ln>
        </p:spPr>
      </p:sp>
      <p:sp>
        <p:nvSpPr>
          <p:cNvPr id="24" name="Shape 22"/>
          <p:cNvSpPr/>
          <p:nvPr/>
        </p:nvSpPr>
        <p:spPr>
          <a:xfrm>
            <a:off x="548640" y="3566160"/>
            <a:ext cx="438912" cy="438912"/>
          </a:xfrm>
          <a:prstGeom prst="ellipse">
            <a:avLst/>
          </a:prstGeom>
          <a:solidFill>
            <a:srgbClr val="0D7877"/>
          </a:solidFill>
          <a:ln w="12700">
            <a:solidFill>
              <a:srgbClr val="0D7877"/>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KS3 • variation</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species</a:t>
            </a:r>
            <a:r>
              <a:rPr lang="en-US" sz="1250" dirty="0">
                <a:solidFill>
                  <a:srgbClr val="262B3A"/>
                </a:solidFill>
                <a:latin typeface="Calibri" pitchFamily="34" charset="0"/>
                <a:ea typeface="Calibri" pitchFamily="34" charset="-122"/>
                <a:cs typeface="Calibri" pitchFamily="34" charset="-120"/>
              </a:rPr>
              <a:t>? Give one example of variation </a:t>
            </a:r>
            <a:r>
              <a:rPr lang="en-US" sz="1250" b="1" dirty="0">
                <a:solidFill>
                  <a:srgbClr val="262B3A"/>
                </a:solidFill>
                <a:latin typeface="Calibri" pitchFamily="34" charset="0"/>
                <a:ea typeface="Calibri" pitchFamily="34" charset="-122"/>
                <a:cs typeface="Calibri" pitchFamily="34" charset="-120"/>
              </a:rPr>
              <a:t>within</a:t>
            </a:r>
            <a:r>
              <a:rPr lang="en-US" sz="1250" dirty="0">
                <a:solidFill>
                  <a:srgbClr val="262B3A"/>
                </a:solidFill>
                <a:latin typeface="Calibri" pitchFamily="34" charset="0"/>
                <a:ea typeface="Calibri" pitchFamily="34" charset="-122"/>
                <a:cs typeface="Calibri" pitchFamily="34" charset="-120"/>
              </a:rPr>
              <a:t> a species.</a:t>
            </a:r>
            <a:endParaRPr lang="en-US" sz="1250" dirty="0"/>
          </a:p>
        </p:txBody>
      </p:sp>
      <p:sp>
        <p:nvSpPr>
          <p:cNvPr id="28" name="Shape 26"/>
          <p:cNvSpPr/>
          <p:nvPr/>
        </p:nvSpPr>
        <p:spPr>
          <a:xfrm>
            <a:off x="4251960" y="3429000"/>
            <a:ext cx="3657600" cy="2011680"/>
          </a:xfrm>
          <a:prstGeom prst="roundRect">
            <a:avLst>
              <a:gd name="adj" fmla="val 2727"/>
            </a:avLst>
          </a:prstGeom>
          <a:solidFill>
            <a:srgbClr val="F4FAF9"/>
          </a:solidFill>
          <a:ln w="9525">
            <a:solidFill>
              <a:srgbClr val="CFE0DE"/>
            </a:solidFill>
            <a:prstDash val="solid"/>
          </a:ln>
        </p:spPr>
      </p:sp>
      <p:sp>
        <p:nvSpPr>
          <p:cNvPr id="29" name="Shape 27"/>
          <p:cNvSpPr/>
          <p:nvPr/>
        </p:nvSpPr>
        <p:spPr>
          <a:xfrm>
            <a:off x="4389120" y="3566160"/>
            <a:ext cx="438912" cy="438912"/>
          </a:xfrm>
          <a:prstGeom prst="ellipse">
            <a:avLst/>
          </a:prstGeom>
          <a:solidFill>
            <a:srgbClr val="0D7877"/>
          </a:solidFill>
          <a:ln w="12700">
            <a:solidFill>
              <a:srgbClr val="0D7877"/>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B6.1 • evolution</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one sentence, what is </a:t>
            </a:r>
            <a:r>
              <a:rPr lang="en-US" sz="1250" b="1" dirty="0">
                <a:solidFill>
                  <a:srgbClr val="262B3A"/>
                </a:solidFill>
                <a:latin typeface="Calibri" pitchFamily="34" charset="0"/>
                <a:ea typeface="Calibri" pitchFamily="34" charset="-122"/>
                <a:cs typeface="Calibri" pitchFamily="34" charset="-120"/>
              </a:rPr>
              <a:t>natural selection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3" name="Shape 31"/>
          <p:cNvSpPr/>
          <p:nvPr/>
        </p:nvSpPr>
        <p:spPr>
          <a:xfrm>
            <a:off x="8092440" y="3429000"/>
            <a:ext cx="3657600" cy="2011680"/>
          </a:xfrm>
          <a:prstGeom prst="roundRect">
            <a:avLst>
              <a:gd name="adj" fmla="val 2727"/>
            </a:avLst>
          </a:prstGeom>
          <a:solidFill>
            <a:srgbClr val="F4FAF9"/>
          </a:solidFill>
          <a:ln w="9525">
            <a:solidFill>
              <a:srgbClr val="CFE0DE"/>
            </a:solidFill>
            <a:prstDash val="solid"/>
          </a:ln>
        </p:spPr>
      </p:sp>
      <p:sp>
        <p:nvSpPr>
          <p:cNvPr id="34" name="Shape 32"/>
          <p:cNvSpPr/>
          <p:nvPr/>
        </p:nvSpPr>
        <p:spPr>
          <a:xfrm>
            <a:off x="8229600" y="3566160"/>
            <a:ext cx="438912" cy="438912"/>
          </a:xfrm>
          <a:prstGeom prst="ellipse">
            <a:avLst/>
          </a:prstGeom>
          <a:solidFill>
            <a:srgbClr val="0D7877"/>
          </a:solidFill>
          <a:ln w="12700">
            <a:solidFill>
              <a:srgbClr val="0D7877"/>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0D7877"/>
                </a:solidFill>
                <a:latin typeface="Calibri" pitchFamily="34" charset="0"/>
                <a:ea typeface="Calibri" pitchFamily="34" charset="-122"/>
                <a:cs typeface="Calibri" pitchFamily="34" charset="-120"/>
              </a:rPr>
              <a:t>Maths • percentages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Two DNA sections each 20 bases long are the same at </a:t>
            </a:r>
            <a:r>
              <a:rPr lang="en-US" sz="1250" b="1" dirty="0">
                <a:solidFill>
                  <a:srgbClr val="262B3A"/>
                </a:solidFill>
                <a:latin typeface="Calibri" pitchFamily="34" charset="0"/>
                <a:ea typeface="Calibri" pitchFamily="34" charset="-122"/>
                <a:cs typeface="Calibri" pitchFamily="34" charset="-120"/>
              </a:rPr>
              <a:t>18</a:t>
            </a:r>
            <a:r>
              <a:rPr lang="en-US" sz="1250" dirty="0">
                <a:solidFill>
                  <a:srgbClr val="262B3A"/>
                </a:solidFill>
                <a:latin typeface="Calibri" pitchFamily="34" charset="0"/>
                <a:ea typeface="Calibri" pitchFamily="34" charset="-122"/>
                <a:cs typeface="Calibri" pitchFamily="34" charset="-120"/>
              </a:rPr>
              <a:t> positions. What </a:t>
            </a:r>
            <a:r>
              <a:rPr lang="en-US" sz="1250" b="1" dirty="0">
                <a:solidFill>
                  <a:srgbClr val="262B3A"/>
                </a:solidFill>
                <a:latin typeface="Calibri" pitchFamily="34" charset="0"/>
                <a:ea typeface="Calibri" pitchFamily="34" charset="-122"/>
                <a:cs typeface="Calibri" pitchFamily="34" charset="-120"/>
              </a:rPr>
              <a:t>percentage</a:t>
            </a:r>
            <a:r>
              <a:rPr lang="en-US" sz="1250" dirty="0">
                <a:solidFill>
                  <a:srgbClr val="262B3A"/>
                </a:solidFill>
                <a:latin typeface="Calibri" pitchFamily="34" charset="0"/>
                <a:ea typeface="Calibri" pitchFamily="34" charset="-122"/>
                <a:cs typeface="Calibri" pitchFamily="34" charset="-120"/>
              </a:rPr>
              <a:t> is the same?</a:t>
            </a:r>
            <a:endParaRPr lang="en-US" sz="1250" dirty="0"/>
          </a:p>
        </p:txBody>
      </p:sp>
      <p:sp>
        <p:nvSpPr>
          <p:cNvPr id="38" name="Shape 36"/>
          <p:cNvSpPr/>
          <p:nvPr/>
        </p:nvSpPr>
        <p:spPr>
          <a:xfrm>
            <a:off x="411480" y="5715000"/>
            <a:ext cx="11368735" cy="548640"/>
          </a:xfrm>
          <a:prstGeom prst="rect">
            <a:avLst/>
          </a:prstGeom>
          <a:solidFill>
            <a:srgbClr val="E8F4F3"/>
          </a:solidFill>
          <a:ln w="12700">
            <a:solidFill>
              <a:srgbClr val="CFE0DE"/>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0D7877"/>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Why classify? Artificial and natural systems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sorting the diversity of life into groups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six animals sorted two ways; colours show the natural group</a:t>
            </a:r>
            <a:endParaRPr lang="en-US" sz="1000" dirty="0"/>
          </a:p>
        </p:txBody>
      </p:sp>
      <p:sp>
        <p:nvSpPr>
          <p:cNvPr id="10" name="Text 8"/>
          <p:cNvSpPr/>
          <p:nvPr/>
        </p:nvSpPr>
        <p:spPr>
          <a:xfrm>
            <a:off x="594360" y="1298448"/>
            <a:ext cx="5212080" cy="274320"/>
          </a:xfrm>
          <a:prstGeom prst="rect">
            <a:avLst/>
          </a:prstGeom>
          <a:noFill/>
          <a:ln/>
        </p:spPr>
        <p:txBody>
          <a:bodyPr wrap="square" lIns="0" tIns="0" rIns="0" bIns="0" rtlCol="0" anchor="ctr"/>
          <a:lstStyle/>
          <a:p>
            <a:pPr algn="l" indent="0" marL="0">
              <a:buNone/>
            </a:pPr>
            <a:r>
              <a:rPr lang="en-US" sz="1150" b="1" dirty="0">
                <a:solidFill>
                  <a:srgbClr val="133536"/>
                </a:solidFill>
                <a:latin typeface="Calibri" pitchFamily="34" charset="0"/>
                <a:ea typeface="Calibri" pitchFamily="34" charset="-122"/>
                <a:cs typeface="Calibri" pitchFamily="34" charset="-120"/>
              </a:rPr>
              <a:t>Artificial</a:t>
            </a:r>
            <a:r>
              <a:rPr lang="en-US" sz="1150" dirty="0">
                <a:solidFill>
                  <a:srgbClr val="133536"/>
                </a:solidFill>
                <a:latin typeface="Calibri" pitchFamily="34" charset="0"/>
                <a:ea typeface="Calibri" pitchFamily="34" charset="-122"/>
                <a:cs typeface="Calibri" pitchFamily="34" charset="-120"/>
              </a:rPr>
              <a:t>: sorted by </a:t>
            </a:r>
            <a:r>
              <a:rPr lang="en-US" sz="1150" b="1" dirty="0">
                <a:solidFill>
                  <a:srgbClr val="133536"/>
                </a:solidFill>
                <a:latin typeface="Calibri" pitchFamily="34" charset="0"/>
                <a:ea typeface="Calibri" pitchFamily="34" charset="-122"/>
                <a:cs typeface="Calibri" pitchFamily="34" charset="-120"/>
              </a:rPr>
              <a:t>one</a:t>
            </a:r>
            <a:r>
              <a:rPr lang="en-US" sz="1150" dirty="0">
                <a:solidFill>
                  <a:srgbClr val="133536"/>
                </a:solidFill>
                <a:latin typeface="Calibri" pitchFamily="34" charset="0"/>
                <a:ea typeface="Calibri" pitchFamily="34" charset="-122"/>
                <a:cs typeface="Calibri" pitchFamily="34" charset="-120"/>
              </a:rPr>
              <a:t> feature you can see</a:t>
            </a:r>
            <a:endParaRPr lang="en-US" sz="1150" dirty="0"/>
          </a:p>
        </p:txBody>
      </p:sp>
      <p:sp>
        <p:nvSpPr>
          <p:cNvPr id="11" name="Shape 9"/>
          <p:cNvSpPr/>
          <p:nvPr/>
        </p:nvSpPr>
        <p:spPr>
          <a:xfrm>
            <a:off x="640080" y="1645920"/>
            <a:ext cx="2468880" cy="1188720"/>
          </a:xfrm>
          <a:prstGeom prst="roundRect">
            <a:avLst>
              <a:gd name="adj" fmla="val 4615"/>
            </a:avLst>
          </a:prstGeom>
          <a:solidFill>
            <a:srgbClr val="FFFFFF"/>
          </a:solidFill>
          <a:ln w="15875">
            <a:solidFill>
              <a:srgbClr val="9AA3B0"/>
            </a:solidFill>
            <a:prstDash val="solid"/>
          </a:ln>
        </p:spPr>
      </p:sp>
      <p:sp>
        <p:nvSpPr>
          <p:cNvPr id="12" name="Shape 10"/>
          <p:cNvSpPr/>
          <p:nvPr/>
        </p:nvSpPr>
        <p:spPr>
          <a:xfrm>
            <a:off x="3291840" y="1645920"/>
            <a:ext cx="2468880" cy="1188720"/>
          </a:xfrm>
          <a:prstGeom prst="roundRect">
            <a:avLst>
              <a:gd name="adj" fmla="val 4615"/>
            </a:avLst>
          </a:prstGeom>
          <a:solidFill>
            <a:srgbClr val="FFFFFF"/>
          </a:solidFill>
          <a:ln w="15875">
            <a:solidFill>
              <a:srgbClr val="9AA3B0"/>
            </a:solidFill>
            <a:prstDash val="solid"/>
          </a:ln>
        </p:spPr>
      </p:sp>
      <p:sp>
        <p:nvSpPr>
          <p:cNvPr id="13" name="Text 11"/>
          <p:cNvSpPr/>
          <p:nvPr/>
        </p:nvSpPr>
        <p:spPr>
          <a:xfrm>
            <a:off x="640080" y="1664208"/>
            <a:ext cx="2468880" cy="237744"/>
          </a:xfrm>
          <a:prstGeom prst="rect">
            <a:avLst/>
          </a:prstGeom>
          <a:noFill/>
          <a:ln/>
        </p:spPr>
        <p:txBody>
          <a:bodyPr wrap="square" lIns="0" tIns="0" rIns="0" bIns="0" rtlCol="0" anchor="ctr"/>
          <a:lstStyle/>
          <a:p>
            <a:pPr algn="ctr" indent="0" marL="0">
              <a:buNone/>
            </a:pPr>
            <a:r>
              <a:rPr lang="en-US" sz="1100" b="1" dirty="0">
                <a:solidFill>
                  <a:srgbClr val="6B7385"/>
                </a:solidFill>
                <a:latin typeface="Calibri" pitchFamily="34" charset="0"/>
                <a:ea typeface="Calibri" pitchFamily="34" charset="-122"/>
                <a:cs typeface="Calibri" pitchFamily="34" charset="-120"/>
              </a:rPr>
              <a:t>Flies</a:t>
            </a:r>
            <a:endParaRPr lang="en-US" sz="1100" dirty="0"/>
          </a:p>
        </p:txBody>
      </p:sp>
      <p:sp>
        <p:nvSpPr>
          <p:cNvPr id="14" name="Text 12"/>
          <p:cNvSpPr/>
          <p:nvPr/>
        </p:nvSpPr>
        <p:spPr>
          <a:xfrm>
            <a:off x="3291840" y="1664208"/>
            <a:ext cx="2468880" cy="237744"/>
          </a:xfrm>
          <a:prstGeom prst="rect">
            <a:avLst/>
          </a:prstGeom>
          <a:noFill/>
          <a:ln/>
        </p:spPr>
        <p:txBody>
          <a:bodyPr wrap="square" lIns="0" tIns="0" rIns="0" bIns="0" rtlCol="0" anchor="ctr"/>
          <a:lstStyle/>
          <a:p>
            <a:pPr algn="ctr" indent="0" marL="0">
              <a:buNone/>
            </a:pPr>
            <a:r>
              <a:rPr lang="en-US" sz="1100" b="1" dirty="0">
                <a:solidFill>
                  <a:srgbClr val="6B7385"/>
                </a:solidFill>
                <a:latin typeface="Calibri" pitchFamily="34" charset="0"/>
                <a:ea typeface="Calibri" pitchFamily="34" charset="-122"/>
                <a:cs typeface="Calibri" pitchFamily="34" charset="-120"/>
              </a:rPr>
              <a:t>Swims</a:t>
            </a:r>
            <a:endParaRPr lang="en-US" sz="1100" dirty="0"/>
          </a:p>
        </p:txBody>
      </p:sp>
      <p:sp>
        <p:nvSpPr>
          <p:cNvPr id="15" name="Shape 13"/>
          <p:cNvSpPr/>
          <p:nvPr/>
        </p:nvSpPr>
        <p:spPr>
          <a:xfrm>
            <a:off x="731520" y="1965960"/>
            <a:ext cx="1051560" cy="384048"/>
          </a:xfrm>
          <a:prstGeom prst="roundRect">
            <a:avLst>
              <a:gd name="adj" fmla="val 14286"/>
            </a:avLst>
          </a:prstGeom>
          <a:solidFill>
            <a:srgbClr val="F3D9C4"/>
          </a:solidFill>
          <a:ln w="15875">
            <a:solidFill>
              <a:srgbClr val="A0603A"/>
            </a:solidFill>
            <a:prstDash val="solid"/>
          </a:ln>
        </p:spPr>
      </p:sp>
      <p:sp>
        <p:nvSpPr>
          <p:cNvPr id="16" name="Text 14"/>
          <p:cNvSpPr/>
          <p:nvPr/>
        </p:nvSpPr>
        <p:spPr>
          <a:xfrm>
            <a:off x="786384" y="1965960"/>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bat</a:t>
            </a:r>
            <a:endParaRPr lang="en-US" sz="1050" dirty="0"/>
          </a:p>
        </p:txBody>
      </p:sp>
      <p:sp>
        <p:nvSpPr>
          <p:cNvPr id="17" name="Shape 15"/>
          <p:cNvSpPr/>
          <p:nvPr/>
        </p:nvSpPr>
        <p:spPr>
          <a:xfrm>
            <a:off x="1920240" y="1965960"/>
            <a:ext cx="1051560" cy="384048"/>
          </a:xfrm>
          <a:prstGeom prst="roundRect">
            <a:avLst>
              <a:gd name="adj" fmla="val 14286"/>
            </a:avLst>
          </a:prstGeom>
          <a:solidFill>
            <a:srgbClr val="DCE8F8"/>
          </a:solidFill>
          <a:ln w="15875">
            <a:solidFill>
              <a:srgbClr val="3F6FB5"/>
            </a:solidFill>
            <a:prstDash val="solid"/>
          </a:ln>
        </p:spPr>
      </p:sp>
      <p:sp>
        <p:nvSpPr>
          <p:cNvPr id="18" name="Text 16"/>
          <p:cNvSpPr/>
          <p:nvPr/>
        </p:nvSpPr>
        <p:spPr>
          <a:xfrm>
            <a:off x="1975104" y="1965960"/>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pigeon</a:t>
            </a:r>
            <a:endParaRPr lang="en-US" sz="1050" dirty="0"/>
          </a:p>
        </p:txBody>
      </p:sp>
      <p:sp>
        <p:nvSpPr>
          <p:cNvPr id="19" name="Shape 17"/>
          <p:cNvSpPr/>
          <p:nvPr/>
        </p:nvSpPr>
        <p:spPr>
          <a:xfrm>
            <a:off x="1325880" y="2395728"/>
            <a:ext cx="1051560" cy="384048"/>
          </a:xfrm>
          <a:prstGeom prst="roundRect">
            <a:avLst>
              <a:gd name="adj" fmla="val 14286"/>
            </a:avLst>
          </a:prstGeom>
          <a:solidFill>
            <a:srgbClr val="F6EAB8"/>
          </a:solidFill>
          <a:ln w="15875">
            <a:solidFill>
              <a:srgbClr val="9A7C10"/>
            </a:solidFill>
            <a:prstDash val="solid"/>
          </a:ln>
        </p:spPr>
      </p:sp>
      <p:sp>
        <p:nvSpPr>
          <p:cNvPr id="20" name="Text 18"/>
          <p:cNvSpPr/>
          <p:nvPr/>
        </p:nvSpPr>
        <p:spPr>
          <a:xfrm>
            <a:off x="1380744" y="2395728"/>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butterfly</a:t>
            </a:r>
            <a:endParaRPr lang="en-US" sz="1050" dirty="0"/>
          </a:p>
        </p:txBody>
      </p:sp>
      <p:sp>
        <p:nvSpPr>
          <p:cNvPr id="21" name="Shape 19"/>
          <p:cNvSpPr/>
          <p:nvPr/>
        </p:nvSpPr>
        <p:spPr>
          <a:xfrm>
            <a:off x="3383280" y="1965960"/>
            <a:ext cx="1051560" cy="384048"/>
          </a:xfrm>
          <a:prstGeom prst="roundRect">
            <a:avLst>
              <a:gd name="adj" fmla="val 14286"/>
            </a:avLst>
          </a:prstGeom>
          <a:solidFill>
            <a:srgbClr val="F3D9C4"/>
          </a:solidFill>
          <a:ln w="15875">
            <a:solidFill>
              <a:srgbClr val="A0603A"/>
            </a:solidFill>
            <a:prstDash val="solid"/>
          </a:ln>
        </p:spPr>
      </p:sp>
      <p:sp>
        <p:nvSpPr>
          <p:cNvPr id="22" name="Text 20"/>
          <p:cNvSpPr/>
          <p:nvPr/>
        </p:nvSpPr>
        <p:spPr>
          <a:xfrm>
            <a:off x="3438144" y="1965960"/>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whale</a:t>
            </a:r>
            <a:endParaRPr lang="en-US" sz="1050" dirty="0"/>
          </a:p>
        </p:txBody>
      </p:sp>
      <p:sp>
        <p:nvSpPr>
          <p:cNvPr id="23" name="Shape 21"/>
          <p:cNvSpPr/>
          <p:nvPr/>
        </p:nvSpPr>
        <p:spPr>
          <a:xfrm>
            <a:off x="4572000" y="1965960"/>
            <a:ext cx="1051560" cy="384048"/>
          </a:xfrm>
          <a:prstGeom prst="roundRect">
            <a:avLst>
              <a:gd name="adj" fmla="val 14286"/>
            </a:avLst>
          </a:prstGeom>
          <a:solidFill>
            <a:srgbClr val="D6EFEA"/>
          </a:solidFill>
          <a:ln w="15875">
            <a:solidFill>
              <a:srgbClr val="2E7F74"/>
            </a:solidFill>
            <a:prstDash val="solid"/>
          </a:ln>
        </p:spPr>
      </p:sp>
      <p:sp>
        <p:nvSpPr>
          <p:cNvPr id="24" name="Text 22"/>
          <p:cNvSpPr/>
          <p:nvPr/>
        </p:nvSpPr>
        <p:spPr>
          <a:xfrm>
            <a:off x="4626864" y="1965960"/>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shark</a:t>
            </a:r>
            <a:endParaRPr lang="en-US" sz="1050" dirty="0"/>
          </a:p>
        </p:txBody>
      </p:sp>
      <p:sp>
        <p:nvSpPr>
          <p:cNvPr id="25" name="Shape 23"/>
          <p:cNvSpPr/>
          <p:nvPr/>
        </p:nvSpPr>
        <p:spPr>
          <a:xfrm>
            <a:off x="3977640" y="2395728"/>
            <a:ext cx="1051560" cy="384048"/>
          </a:xfrm>
          <a:prstGeom prst="roundRect">
            <a:avLst>
              <a:gd name="adj" fmla="val 14286"/>
            </a:avLst>
          </a:prstGeom>
          <a:solidFill>
            <a:srgbClr val="D6EFEA"/>
          </a:solidFill>
          <a:ln w="15875">
            <a:solidFill>
              <a:srgbClr val="2E7F74"/>
            </a:solidFill>
            <a:prstDash val="solid"/>
          </a:ln>
        </p:spPr>
      </p:sp>
      <p:sp>
        <p:nvSpPr>
          <p:cNvPr id="26" name="Text 24"/>
          <p:cNvSpPr/>
          <p:nvPr/>
        </p:nvSpPr>
        <p:spPr>
          <a:xfrm>
            <a:off x="4032504" y="2395728"/>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salmon</a:t>
            </a:r>
            <a:endParaRPr lang="en-US" sz="1050" dirty="0"/>
          </a:p>
        </p:txBody>
      </p:sp>
      <p:sp>
        <p:nvSpPr>
          <p:cNvPr id="27" name="Shape 25"/>
          <p:cNvSpPr/>
          <p:nvPr/>
        </p:nvSpPr>
        <p:spPr>
          <a:xfrm>
            <a:off x="3200400" y="2926080"/>
            <a:ext cx="91" cy="320040"/>
          </a:xfrm>
          <a:prstGeom prst="line">
            <a:avLst/>
          </a:prstGeom>
          <a:noFill/>
          <a:ln w="25400">
            <a:solidFill>
              <a:srgbClr val="133536"/>
            </a:solidFill>
            <a:prstDash val="solid"/>
            <a:tailEnd type="triangle"/>
          </a:ln>
        </p:spPr>
      </p:sp>
      <p:sp>
        <p:nvSpPr>
          <p:cNvPr id="28" name="Text 26"/>
          <p:cNvSpPr/>
          <p:nvPr/>
        </p:nvSpPr>
        <p:spPr>
          <a:xfrm>
            <a:off x="594360" y="3246120"/>
            <a:ext cx="5212080" cy="274320"/>
          </a:xfrm>
          <a:prstGeom prst="rect">
            <a:avLst/>
          </a:prstGeom>
          <a:noFill/>
          <a:ln/>
        </p:spPr>
        <p:txBody>
          <a:bodyPr wrap="square" lIns="0" tIns="0" rIns="0" bIns="0" rtlCol="0" anchor="ctr"/>
          <a:lstStyle/>
          <a:p>
            <a:pPr algn="l" indent="0" marL="0">
              <a:buNone/>
            </a:pPr>
            <a:r>
              <a:rPr lang="en-US" sz="1150" b="1" dirty="0">
                <a:solidFill>
                  <a:srgbClr val="133536"/>
                </a:solidFill>
                <a:latin typeface="Calibri" pitchFamily="34" charset="0"/>
                <a:ea typeface="Calibri" pitchFamily="34" charset="-122"/>
                <a:cs typeface="Calibri" pitchFamily="34" charset="-120"/>
              </a:rPr>
              <a:t>Natural</a:t>
            </a:r>
            <a:r>
              <a:rPr lang="en-US" sz="1150" dirty="0">
                <a:solidFill>
                  <a:srgbClr val="133536"/>
                </a:solidFill>
                <a:latin typeface="Calibri" pitchFamily="34" charset="0"/>
                <a:ea typeface="Calibri" pitchFamily="34" charset="-122"/>
                <a:cs typeface="Calibri" pitchFamily="34" charset="-120"/>
              </a:rPr>
              <a:t>: sorted by </a:t>
            </a:r>
            <a:r>
              <a:rPr lang="en-US" sz="1150" b="1" dirty="0">
                <a:solidFill>
                  <a:srgbClr val="133536"/>
                </a:solidFill>
                <a:latin typeface="Calibri" pitchFamily="34" charset="0"/>
                <a:ea typeface="Calibri" pitchFamily="34" charset="-122"/>
                <a:cs typeface="Calibri" pitchFamily="34" charset="-120"/>
              </a:rPr>
              <a:t>evolutionary relationships</a:t>
            </a:r>
            <a:r>
              <a:rPr lang="en-US" sz="1150" dirty="0">
                <a:solidFill>
                  <a:srgbClr val="133536"/>
                </a:solidFill>
                <a:latin typeface="Calibri" pitchFamily="34" charset="0"/>
                <a:ea typeface="Calibri" pitchFamily="34" charset="-122"/>
                <a:cs typeface="Calibri" pitchFamily="34" charset="-120"/>
              </a:rPr>
              <a:t> (many features, cells, DNA)</a:t>
            </a:r>
            <a:endParaRPr lang="en-US" sz="1150" dirty="0"/>
          </a:p>
        </p:txBody>
      </p:sp>
      <p:sp>
        <p:nvSpPr>
          <p:cNvPr id="29" name="Shape 27"/>
          <p:cNvSpPr/>
          <p:nvPr/>
        </p:nvSpPr>
        <p:spPr>
          <a:xfrm>
            <a:off x="640080" y="3611880"/>
            <a:ext cx="1207008" cy="1417320"/>
          </a:xfrm>
          <a:prstGeom prst="roundRect">
            <a:avLst>
              <a:gd name="adj" fmla="val 4545"/>
            </a:avLst>
          </a:prstGeom>
          <a:solidFill>
            <a:srgbClr val="F3D9C4">
              <a:alpha val="60000"/>
            </a:srgbClr>
          </a:solidFill>
          <a:ln w="19050">
            <a:solidFill>
              <a:srgbClr val="A0603A"/>
            </a:solidFill>
            <a:prstDash val="solid"/>
          </a:ln>
        </p:spPr>
      </p:sp>
      <p:sp>
        <p:nvSpPr>
          <p:cNvPr id="30" name="Text 28"/>
          <p:cNvSpPr/>
          <p:nvPr/>
        </p:nvSpPr>
        <p:spPr>
          <a:xfrm>
            <a:off x="640080" y="3639312"/>
            <a:ext cx="1207008" cy="237744"/>
          </a:xfrm>
          <a:prstGeom prst="rect">
            <a:avLst/>
          </a:prstGeom>
          <a:noFill/>
          <a:ln/>
        </p:spPr>
        <p:txBody>
          <a:bodyPr wrap="square" lIns="0" tIns="0" rIns="0" bIns="0" rtlCol="0" anchor="ctr"/>
          <a:lstStyle/>
          <a:p>
            <a:pPr algn="ctr" indent="0" marL="0">
              <a:buNone/>
            </a:pPr>
            <a:r>
              <a:rPr lang="en-US" sz="1100" b="1" dirty="0">
                <a:solidFill>
                  <a:srgbClr val="A0603A"/>
                </a:solidFill>
                <a:latin typeface="Calibri" pitchFamily="34" charset="0"/>
                <a:ea typeface="Calibri" pitchFamily="34" charset="-122"/>
                <a:cs typeface="Calibri" pitchFamily="34" charset="-120"/>
              </a:rPr>
              <a:t>Mammals</a:t>
            </a:r>
            <a:endParaRPr lang="en-US" sz="1100" dirty="0"/>
          </a:p>
        </p:txBody>
      </p:sp>
      <p:sp>
        <p:nvSpPr>
          <p:cNvPr id="31" name="Shape 29"/>
          <p:cNvSpPr/>
          <p:nvPr/>
        </p:nvSpPr>
        <p:spPr>
          <a:xfrm>
            <a:off x="717804" y="3950208"/>
            <a:ext cx="1051560" cy="384048"/>
          </a:xfrm>
          <a:prstGeom prst="roundRect">
            <a:avLst>
              <a:gd name="adj" fmla="val 14286"/>
            </a:avLst>
          </a:prstGeom>
          <a:solidFill>
            <a:srgbClr val="F3D9C4"/>
          </a:solidFill>
          <a:ln w="15875">
            <a:solidFill>
              <a:srgbClr val="A0603A"/>
            </a:solidFill>
            <a:prstDash val="solid"/>
          </a:ln>
        </p:spPr>
      </p:sp>
      <p:sp>
        <p:nvSpPr>
          <p:cNvPr id="32" name="Text 30"/>
          <p:cNvSpPr/>
          <p:nvPr/>
        </p:nvSpPr>
        <p:spPr>
          <a:xfrm>
            <a:off x="772668" y="3950208"/>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bat</a:t>
            </a:r>
            <a:endParaRPr lang="en-US" sz="1050" dirty="0"/>
          </a:p>
        </p:txBody>
      </p:sp>
      <p:sp>
        <p:nvSpPr>
          <p:cNvPr id="33" name="Shape 31"/>
          <p:cNvSpPr/>
          <p:nvPr/>
        </p:nvSpPr>
        <p:spPr>
          <a:xfrm>
            <a:off x="717804" y="4425696"/>
            <a:ext cx="1051560" cy="384048"/>
          </a:xfrm>
          <a:prstGeom prst="roundRect">
            <a:avLst>
              <a:gd name="adj" fmla="val 14286"/>
            </a:avLst>
          </a:prstGeom>
          <a:solidFill>
            <a:srgbClr val="F3D9C4"/>
          </a:solidFill>
          <a:ln w="15875">
            <a:solidFill>
              <a:srgbClr val="A0603A"/>
            </a:solidFill>
            <a:prstDash val="solid"/>
          </a:ln>
        </p:spPr>
      </p:sp>
      <p:sp>
        <p:nvSpPr>
          <p:cNvPr id="34" name="Text 32"/>
          <p:cNvSpPr/>
          <p:nvPr/>
        </p:nvSpPr>
        <p:spPr>
          <a:xfrm>
            <a:off x="772668" y="4425696"/>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whale</a:t>
            </a:r>
            <a:endParaRPr lang="en-US" sz="1050" dirty="0"/>
          </a:p>
        </p:txBody>
      </p:sp>
      <p:sp>
        <p:nvSpPr>
          <p:cNvPr id="35" name="Shape 33"/>
          <p:cNvSpPr/>
          <p:nvPr/>
        </p:nvSpPr>
        <p:spPr>
          <a:xfrm>
            <a:off x="1938528" y="3611880"/>
            <a:ext cx="1207008" cy="1417320"/>
          </a:xfrm>
          <a:prstGeom prst="roundRect">
            <a:avLst>
              <a:gd name="adj" fmla="val 4545"/>
            </a:avLst>
          </a:prstGeom>
          <a:solidFill>
            <a:srgbClr val="DCE8F8">
              <a:alpha val="60000"/>
            </a:srgbClr>
          </a:solidFill>
          <a:ln w="19050">
            <a:solidFill>
              <a:srgbClr val="3F6FB5"/>
            </a:solidFill>
            <a:prstDash val="solid"/>
          </a:ln>
        </p:spPr>
      </p:sp>
      <p:sp>
        <p:nvSpPr>
          <p:cNvPr id="36" name="Text 34"/>
          <p:cNvSpPr/>
          <p:nvPr/>
        </p:nvSpPr>
        <p:spPr>
          <a:xfrm>
            <a:off x="1938528" y="3639312"/>
            <a:ext cx="1207008" cy="237744"/>
          </a:xfrm>
          <a:prstGeom prst="rect">
            <a:avLst/>
          </a:prstGeom>
          <a:noFill/>
          <a:ln/>
        </p:spPr>
        <p:txBody>
          <a:bodyPr wrap="square" lIns="0" tIns="0" rIns="0" bIns="0" rtlCol="0" anchor="ctr"/>
          <a:lstStyle/>
          <a:p>
            <a:pPr algn="ctr" indent="0" marL="0">
              <a:buNone/>
            </a:pPr>
            <a:r>
              <a:rPr lang="en-US" sz="1100" b="1" dirty="0">
                <a:solidFill>
                  <a:srgbClr val="3F6FB5"/>
                </a:solidFill>
                <a:latin typeface="Calibri" pitchFamily="34" charset="0"/>
                <a:ea typeface="Calibri" pitchFamily="34" charset="-122"/>
                <a:cs typeface="Calibri" pitchFamily="34" charset="-120"/>
              </a:rPr>
              <a:t>Birds</a:t>
            </a:r>
            <a:endParaRPr lang="en-US" sz="1100" dirty="0"/>
          </a:p>
        </p:txBody>
      </p:sp>
      <p:sp>
        <p:nvSpPr>
          <p:cNvPr id="37" name="Shape 35"/>
          <p:cNvSpPr/>
          <p:nvPr/>
        </p:nvSpPr>
        <p:spPr>
          <a:xfrm>
            <a:off x="2016252" y="3950208"/>
            <a:ext cx="1051560" cy="384048"/>
          </a:xfrm>
          <a:prstGeom prst="roundRect">
            <a:avLst>
              <a:gd name="adj" fmla="val 14286"/>
            </a:avLst>
          </a:prstGeom>
          <a:solidFill>
            <a:srgbClr val="DCE8F8"/>
          </a:solidFill>
          <a:ln w="15875">
            <a:solidFill>
              <a:srgbClr val="3F6FB5"/>
            </a:solidFill>
            <a:prstDash val="solid"/>
          </a:ln>
        </p:spPr>
      </p:sp>
      <p:sp>
        <p:nvSpPr>
          <p:cNvPr id="38" name="Text 36"/>
          <p:cNvSpPr/>
          <p:nvPr/>
        </p:nvSpPr>
        <p:spPr>
          <a:xfrm>
            <a:off x="2071116" y="3950208"/>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pigeon</a:t>
            </a:r>
            <a:endParaRPr lang="en-US" sz="1050" dirty="0"/>
          </a:p>
        </p:txBody>
      </p:sp>
      <p:sp>
        <p:nvSpPr>
          <p:cNvPr id="39" name="Shape 37"/>
          <p:cNvSpPr/>
          <p:nvPr/>
        </p:nvSpPr>
        <p:spPr>
          <a:xfrm>
            <a:off x="3236976" y="3611880"/>
            <a:ext cx="1207008" cy="1417320"/>
          </a:xfrm>
          <a:prstGeom prst="roundRect">
            <a:avLst>
              <a:gd name="adj" fmla="val 4545"/>
            </a:avLst>
          </a:prstGeom>
          <a:solidFill>
            <a:srgbClr val="D6EFEA">
              <a:alpha val="60000"/>
            </a:srgbClr>
          </a:solidFill>
          <a:ln w="19050">
            <a:solidFill>
              <a:srgbClr val="2E7F74"/>
            </a:solidFill>
            <a:prstDash val="solid"/>
          </a:ln>
        </p:spPr>
      </p:sp>
      <p:sp>
        <p:nvSpPr>
          <p:cNvPr id="40" name="Text 38"/>
          <p:cNvSpPr/>
          <p:nvPr/>
        </p:nvSpPr>
        <p:spPr>
          <a:xfrm>
            <a:off x="3236976" y="3639312"/>
            <a:ext cx="1207008" cy="237744"/>
          </a:xfrm>
          <a:prstGeom prst="rect">
            <a:avLst/>
          </a:prstGeom>
          <a:noFill/>
          <a:ln/>
        </p:spPr>
        <p:txBody>
          <a:bodyPr wrap="square" lIns="0" tIns="0" rIns="0" bIns="0" rtlCol="0" anchor="ctr"/>
          <a:lstStyle/>
          <a:p>
            <a:pPr algn="ctr" indent="0" marL="0">
              <a:buNone/>
            </a:pPr>
            <a:r>
              <a:rPr lang="en-US" sz="1100" b="1" dirty="0">
                <a:solidFill>
                  <a:srgbClr val="2E7F74"/>
                </a:solidFill>
                <a:latin typeface="Calibri" pitchFamily="34" charset="0"/>
                <a:ea typeface="Calibri" pitchFamily="34" charset="-122"/>
                <a:cs typeface="Calibri" pitchFamily="34" charset="-120"/>
              </a:rPr>
              <a:t>Fish</a:t>
            </a:r>
            <a:endParaRPr lang="en-US" sz="1100" dirty="0"/>
          </a:p>
        </p:txBody>
      </p:sp>
      <p:sp>
        <p:nvSpPr>
          <p:cNvPr id="41" name="Shape 39"/>
          <p:cNvSpPr/>
          <p:nvPr/>
        </p:nvSpPr>
        <p:spPr>
          <a:xfrm>
            <a:off x="3314700" y="3950208"/>
            <a:ext cx="1051560" cy="384048"/>
          </a:xfrm>
          <a:prstGeom prst="roundRect">
            <a:avLst>
              <a:gd name="adj" fmla="val 14286"/>
            </a:avLst>
          </a:prstGeom>
          <a:solidFill>
            <a:srgbClr val="D6EFEA"/>
          </a:solidFill>
          <a:ln w="15875">
            <a:solidFill>
              <a:srgbClr val="2E7F74"/>
            </a:solidFill>
            <a:prstDash val="solid"/>
          </a:ln>
        </p:spPr>
      </p:sp>
      <p:sp>
        <p:nvSpPr>
          <p:cNvPr id="42" name="Text 40"/>
          <p:cNvSpPr/>
          <p:nvPr/>
        </p:nvSpPr>
        <p:spPr>
          <a:xfrm>
            <a:off x="3369564" y="3950208"/>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shark</a:t>
            </a:r>
            <a:endParaRPr lang="en-US" sz="1050" dirty="0"/>
          </a:p>
        </p:txBody>
      </p:sp>
      <p:sp>
        <p:nvSpPr>
          <p:cNvPr id="43" name="Shape 41"/>
          <p:cNvSpPr/>
          <p:nvPr/>
        </p:nvSpPr>
        <p:spPr>
          <a:xfrm>
            <a:off x="3314700" y="4425696"/>
            <a:ext cx="1051560" cy="384048"/>
          </a:xfrm>
          <a:prstGeom prst="roundRect">
            <a:avLst>
              <a:gd name="adj" fmla="val 14286"/>
            </a:avLst>
          </a:prstGeom>
          <a:solidFill>
            <a:srgbClr val="D6EFEA"/>
          </a:solidFill>
          <a:ln w="15875">
            <a:solidFill>
              <a:srgbClr val="2E7F74"/>
            </a:solidFill>
            <a:prstDash val="solid"/>
          </a:ln>
        </p:spPr>
      </p:sp>
      <p:sp>
        <p:nvSpPr>
          <p:cNvPr id="44" name="Text 42"/>
          <p:cNvSpPr/>
          <p:nvPr/>
        </p:nvSpPr>
        <p:spPr>
          <a:xfrm>
            <a:off x="3369564" y="4425696"/>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salmon</a:t>
            </a:r>
            <a:endParaRPr lang="en-US" sz="1050" dirty="0"/>
          </a:p>
        </p:txBody>
      </p:sp>
      <p:sp>
        <p:nvSpPr>
          <p:cNvPr id="45" name="Shape 43"/>
          <p:cNvSpPr/>
          <p:nvPr/>
        </p:nvSpPr>
        <p:spPr>
          <a:xfrm>
            <a:off x="4535424" y="3611880"/>
            <a:ext cx="1207008" cy="1417320"/>
          </a:xfrm>
          <a:prstGeom prst="roundRect">
            <a:avLst>
              <a:gd name="adj" fmla="val 4545"/>
            </a:avLst>
          </a:prstGeom>
          <a:solidFill>
            <a:srgbClr val="F6EAB8">
              <a:alpha val="60000"/>
            </a:srgbClr>
          </a:solidFill>
          <a:ln w="19050">
            <a:solidFill>
              <a:srgbClr val="9A7C10"/>
            </a:solidFill>
            <a:prstDash val="solid"/>
          </a:ln>
        </p:spPr>
      </p:sp>
      <p:sp>
        <p:nvSpPr>
          <p:cNvPr id="46" name="Text 44"/>
          <p:cNvSpPr/>
          <p:nvPr/>
        </p:nvSpPr>
        <p:spPr>
          <a:xfrm>
            <a:off x="4535424" y="3639312"/>
            <a:ext cx="1207008" cy="237744"/>
          </a:xfrm>
          <a:prstGeom prst="rect">
            <a:avLst/>
          </a:prstGeom>
          <a:noFill/>
          <a:ln/>
        </p:spPr>
        <p:txBody>
          <a:bodyPr wrap="square" lIns="0" tIns="0" rIns="0" bIns="0" rtlCol="0" anchor="ctr"/>
          <a:lstStyle/>
          <a:p>
            <a:pPr algn="ctr" indent="0" marL="0">
              <a:buNone/>
            </a:pPr>
            <a:r>
              <a:rPr lang="en-US" sz="1100" b="1" dirty="0">
                <a:solidFill>
                  <a:srgbClr val="9A7C10"/>
                </a:solidFill>
                <a:latin typeface="Calibri" pitchFamily="34" charset="0"/>
                <a:ea typeface="Calibri" pitchFamily="34" charset="-122"/>
                <a:cs typeface="Calibri" pitchFamily="34" charset="-120"/>
              </a:rPr>
              <a:t>Insects</a:t>
            </a:r>
            <a:endParaRPr lang="en-US" sz="1100" dirty="0"/>
          </a:p>
        </p:txBody>
      </p:sp>
      <p:sp>
        <p:nvSpPr>
          <p:cNvPr id="47" name="Shape 45"/>
          <p:cNvSpPr/>
          <p:nvPr/>
        </p:nvSpPr>
        <p:spPr>
          <a:xfrm>
            <a:off x="4613148" y="3950208"/>
            <a:ext cx="1051560" cy="384048"/>
          </a:xfrm>
          <a:prstGeom prst="roundRect">
            <a:avLst>
              <a:gd name="adj" fmla="val 14286"/>
            </a:avLst>
          </a:prstGeom>
          <a:solidFill>
            <a:srgbClr val="F6EAB8"/>
          </a:solidFill>
          <a:ln w="15875">
            <a:solidFill>
              <a:srgbClr val="9A7C10"/>
            </a:solidFill>
            <a:prstDash val="solid"/>
          </a:ln>
        </p:spPr>
      </p:sp>
      <p:sp>
        <p:nvSpPr>
          <p:cNvPr id="48" name="Text 46"/>
          <p:cNvSpPr/>
          <p:nvPr/>
        </p:nvSpPr>
        <p:spPr>
          <a:xfrm>
            <a:off x="4668012" y="3950208"/>
            <a:ext cx="941832" cy="38404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butterfly</a:t>
            </a:r>
            <a:endParaRPr lang="en-US" sz="1050" dirty="0"/>
          </a:p>
        </p:txBody>
      </p:sp>
      <p:sp>
        <p:nvSpPr>
          <p:cNvPr id="49" name="Shape 47"/>
          <p:cNvSpPr/>
          <p:nvPr/>
        </p:nvSpPr>
        <p:spPr>
          <a:xfrm>
            <a:off x="6217920" y="1188720"/>
            <a:ext cx="5562295" cy="3154680"/>
          </a:xfrm>
          <a:prstGeom prst="roundRect">
            <a:avLst>
              <a:gd name="adj" fmla="val 1739"/>
            </a:avLst>
          </a:prstGeom>
          <a:solidFill>
            <a:srgbClr val="F4FAF9"/>
          </a:solidFill>
          <a:ln w="9525">
            <a:solidFill>
              <a:srgbClr val="CFE0DE"/>
            </a:solidFill>
            <a:prstDash val="solid"/>
          </a:ln>
        </p:spPr>
      </p:sp>
      <p:sp>
        <p:nvSpPr>
          <p:cNvPr id="50" name="Text 4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Two ways to classify</a:t>
            </a:r>
            <a:endParaRPr lang="en-US" sz="1300" dirty="0"/>
          </a:p>
        </p:txBody>
      </p:sp>
      <p:sp>
        <p:nvSpPr>
          <p:cNvPr id="51" name="Text 49"/>
          <p:cNvSpPr/>
          <p:nvPr/>
        </p:nvSpPr>
        <p:spPr>
          <a:xfrm>
            <a:off x="6382512" y="1609344"/>
            <a:ext cx="5233111" cy="266090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Classification</a:t>
            </a:r>
            <a:r>
              <a:rPr lang="en-US" sz="1150" dirty="0">
                <a:solidFill>
                  <a:srgbClr val="262B3A"/>
                </a:solidFill>
                <a:latin typeface="Calibri" pitchFamily="34" charset="0"/>
                <a:ea typeface="Calibri" pitchFamily="34" charset="-122"/>
                <a:cs typeface="Calibri" pitchFamily="34" charset="-120"/>
              </a:rPr>
              <a:t> puts organisms into groups using their </a:t>
            </a:r>
            <a:r>
              <a:rPr lang="en-US" sz="1150" b="1" dirty="0">
                <a:solidFill>
                  <a:srgbClr val="262B3A"/>
                </a:solidFill>
                <a:latin typeface="Calibri" pitchFamily="34" charset="0"/>
                <a:ea typeface="Calibri" pitchFamily="34" charset="-122"/>
                <a:cs typeface="Calibri" pitchFamily="34" charset="-120"/>
              </a:rPr>
              <a:t>similarities and differences</a:t>
            </a:r>
            <a:r>
              <a:rPr lang="en-US" sz="1150" dirty="0">
                <a:solidFill>
                  <a:srgbClr val="262B3A"/>
                </a:solidFill>
                <a:latin typeface="Calibri" pitchFamily="34" charset="0"/>
                <a:ea typeface="Calibri" pitchFamily="34" charset="-122"/>
                <a:cs typeface="Calibri" pitchFamily="34" charset="-120"/>
              </a:rPr>
              <a:t>. It helps us name, identify and study millions of species.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Artificial</a:t>
            </a:r>
            <a:r>
              <a:rPr lang="en-US" sz="1150" dirty="0">
                <a:solidFill>
                  <a:srgbClr val="262B3A"/>
                </a:solidFill>
                <a:latin typeface="Calibri" pitchFamily="34" charset="0"/>
                <a:ea typeface="Calibri" pitchFamily="34" charset="-122"/>
                <a:cs typeface="Calibri" pitchFamily="34" charset="-120"/>
              </a:rPr>
              <a:t> classification uses one or two </a:t>
            </a:r>
            <a:r>
              <a:rPr lang="en-US" sz="1150" b="1" dirty="0">
                <a:solidFill>
                  <a:srgbClr val="262B3A"/>
                </a:solidFill>
                <a:latin typeface="Calibri" pitchFamily="34" charset="0"/>
                <a:ea typeface="Calibri" pitchFamily="34" charset="-122"/>
                <a:cs typeface="Calibri" pitchFamily="34" charset="-120"/>
              </a:rPr>
              <a:t>observable</a:t>
            </a:r>
            <a:r>
              <a:rPr lang="en-US" sz="1150" dirty="0">
                <a:solidFill>
                  <a:srgbClr val="262B3A"/>
                </a:solidFill>
                <a:latin typeface="Calibri" pitchFamily="34" charset="0"/>
                <a:ea typeface="Calibri" pitchFamily="34" charset="-122"/>
                <a:cs typeface="Calibri" pitchFamily="34" charset="-120"/>
              </a:rPr>
              <a:t> features (e.g. "can fly"). Easy, but groups mix unrelated organisms.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Natural</a:t>
            </a:r>
            <a:r>
              <a:rPr lang="en-US" sz="1150" dirty="0">
                <a:solidFill>
                  <a:srgbClr val="262B3A"/>
                </a:solidFill>
                <a:latin typeface="Calibri" pitchFamily="34" charset="0"/>
                <a:ea typeface="Calibri" pitchFamily="34" charset="-122"/>
                <a:cs typeface="Calibri" pitchFamily="34" charset="-120"/>
              </a:rPr>
              <a:t> classification groups organisms that share a </a:t>
            </a:r>
            <a:r>
              <a:rPr lang="en-US" sz="1150" b="1" dirty="0">
                <a:solidFill>
                  <a:srgbClr val="262B3A"/>
                </a:solidFill>
                <a:latin typeface="Calibri" pitchFamily="34" charset="0"/>
                <a:ea typeface="Calibri" pitchFamily="34" charset="-122"/>
                <a:cs typeface="Calibri" pitchFamily="34" charset="-120"/>
              </a:rPr>
              <a:t>common ancestor</a:t>
            </a:r>
            <a:r>
              <a:rPr lang="en-US" sz="1150" dirty="0">
                <a:solidFill>
                  <a:srgbClr val="262B3A"/>
                </a:solidFill>
                <a:latin typeface="Calibri" pitchFamily="34" charset="0"/>
                <a:ea typeface="Calibri" pitchFamily="34" charset="-122"/>
                <a:cs typeface="Calibri" pitchFamily="34" charset="-120"/>
              </a:rPr>
              <a:t>, using many features. Groups show </a:t>
            </a:r>
            <a:r>
              <a:rPr lang="en-US" sz="1150" b="1" dirty="0">
                <a:solidFill>
                  <a:srgbClr val="262B3A"/>
                </a:solidFill>
                <a:latin typeface="Calibri" pitchFamily="34" charset="0"/>
                <a:ea typeface="Calibri" pitchFamily="34" charset="-122"/>
                <a:cs typeface="Calibri" pitchFamily="34" charset="-120"/>
              </a:rPr>
              <a:t>evolutionary relationships</a:t>
            </a:r>
            <a:r>
              <a:rPr lang="en-US" sz="1150" dirty="0">
                <a:solidFill>
                  <a:srgbClr val="262B3A"/>
                </a:solidFill>
                <a:latin typeface="Calibri" pitchFamily="34" charset="0"/>
                <a:ea typeface="Calibri" pitchFamily="34" charset="-122"/>
                <a:cs typeface="Calibri" pitchFamily="34" charset="-120"/>
              </a:rPr>
              <a:t> (B6.1).</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Modern classification is natural, and now uses </a:t>
            </a:r>
            <a:r>
              <a:rPr lang="en-US" sz="1150" b="1" dirty="0">
                <a:solidFill>
                  <a:srgbClr val="262B3A"/>
                </a:solidFill>
                <a:latin typeface="Calibri" pitchFamily="34" charset="0"/>
                <a:ea typeface="Calibri" pitchFamily="34" charset="-122"/>
                <a:cs typeface="Calibri" pitchFamily="34" charset="-120"/>
              </a:rPr>
              <a:t>DNA</a:t>
            </a:r>
            <a:r>
              <a:rPr lang="en-US" sz="1150" dirty="0">
                <a:solidFill>
                  <a:srgbClr val="262B3A"/>
                </a:solidFill>
                <a:latin typeface="Calibri" pitchFamily="34" charset="0"/>
                <a:ea typeface="Calibri" pitchFamily="34" charset="-122"/>
                <a:cs typeface="Calibri" pitchFamily="34" charset="-120"/>
              </a:rPr>
              <a:t> as well as appearance.</a:t>
            </a:r>
            <a:endParaRPr lang="en-US" sz="1150" dirty="0"/>
          </a:p>
        </p:txBody>
      </p:sp>
      <p:sp>
        <p:nvSpPr>
          <p:cNvPr id="52" name="Shape 50"/>
          <p:cNvSpPr/>
          <p:nvPr/>
        </p:nvSpPr>
        <p:spPr>
          <a:xfrm>
            <a:off x="6217920" y="4480560"/>
            <a:ext cx="5562295" cy="1234440"/>
          </a:xfrm>
          <a:prstGeom prst="roundRect">
            <a:avLst>
              <a:gd name="adj" fmla="val 4444"/>
            </a:avLst>
          </a:prstGeom>
          <a:solidFill>
            <a:srgbClr val="FFF4E0"/>
          </a:solidFill>
          <a:ln w="9525">
            <a:solidFill>
              <a:srgbClr val="F1D9A8"/>
            </a:solidFill>
            <a:prstDash val="solid"/>
          </a:ln>
        </p:spPr>
      </p:sp>
      <p:sp>
        <p:nvSpPr>
          <p:cNvPr id="53" name="Text 51"/>
          <p:cNvSpPr/>
          <p:nvPr/>
        </p:nvSpPr>
        <p:spPr>
          <a:xfrm>
            <a:off x="6382512" y="455371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how many species are named?</a:t>
            </a:r>
            <a:endParaRPr lang="en-US" sz="1300" dirty="0"/>
          </a:p>
        </p:txBody>
      </p:sp>
      <p:sp>
        <p:nvSpPr>
          <p:cNvPr id="54" name="Text 52"/>
          <p:cNvSpPr/>
          <p:nvPr/>
        </p:nvSpPr>
        <p:spPr>
          <a:xfrm>
            <a:off x="6382512" y="4864608"/>
            <a:ext cx="5233111" cy="7772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About 1.2 million eukaryote species are named, out of an estimated 8.7 million.</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Divide   </a:t>
            </a:r>
            <a:r>
              <a:rPr lang="en-US" sz="1050" dirty="0">
                <a:solidFill>
                  <a:srgbClr val="262B3A"/>
                </a:solidFill>
                <a:latin typeface="Calibri" pitchFamily="34" charset="0"/>
                <a:ea typeface="Calibri" pitchFamily="34" charset="-122"/>
                <a:cs typeface="Calibri" pitchFamily="34" charset="-120"/>
              </a:rPr>
              <a:t>1.2 ÷ 8.7 × 100 = 13.79…</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only about </a:t>
            </a:r>
            <a:r>
              <a:rPr lang="en-US" sz="1050" b="1" dirty="0">
                <a:solidFill>
                  <a:srgbClr val="C8414C"/>
                </a:solidFill>
                <a:latin typeface="Calibri" pitchFamily="34" charset="0"/>
                <a:ea typeface="Calibri" pitchFamily="34" charset="-122"/>
                <a:cs typeface="Calibri" pitchFamily="34" charset="-120"/>
              </a:rPr>
              <a:t>14%</a:t>
            </a:r>
            <a:r>
              <a:rPr lang="en-US" sz="1050" b="1" dirty="0">
                <a:solidFill>
                  <a:srgbClr val="C8414C"/>
                </a:solidFill>
                <a:latin typeface="Calibri" pitchFamily="34" charset="0"/>
                <a:ea typeface="Calibri" pitchFamily="34" charset="-122"/>
                <a:cs typeface="Calibri" pitchFamily="34" charset="-120"/>
              </a:rPr>
              <a:t> have been named and classified</a:t>
            </a:r>
            <a:endParaRPr lang="en-US" sz="1050" dirty="0"/>
          </a:p>
        </p:txBody>
      </p:sp>
      <p:sp>
        <p:nvSpPr>
          <p:cNvPr id="55" name="Shape 53"/>
          <p:cNvSpPr/>
          <p:nvPr/>
        </p:nvSpPr>
        <p:spPr>
          <a:xfrm>
            <a:off x="411480" y="5833872"/>
            <a:ext cx="11368735" cy="530352"/>
          </a:xfrm>
          <a:prstGeom prst="rect">
            <a:avLst/>
          </a:prstGeom>
          <a:solidFill>
            <a:srgbClr val="FFF4E0"/>
          </a:solidFill>
          <a:ln w="6350">
            <a:solidFill>
              <a:srgbClr val="F1D9A8"/>
            </a:solidFill>
            <a:prstDash val="solid"/>
          </a:ln>
        </p:spPr>
      </p:sp>
      <p:sp>
        <p:nvSpPr>
          <p:cNvPr id="56" name="Shape 54"/>
          <p:cNvSpPr/>
          <p:nvPr/>
        </p:nvSpPr>
        <p:spPr>
          <a:xfrm>
            <a:off x="411480" y="5833872"/>
            <a:ext cx="82296" cy="530352"/>
          </a:xfrm>
          <a:prstGeom prst="rect">
            <a:avLst/>
          </a:prstGeom>
          <a:solidFill>
            <a:srgbClr val="E39A2F"/>
          </a:solidFill>
          <a:ln w="12700">
            <a:solidFill>
              <a:srgbClr val="E39A2F"/>
            </a:solidFill>
            <a:prstDash val="solid"/>
          </a:ln>
        </p:spPr>
      </p:sp>
      <p:sp>
        <p:nvSpPr>
          <p:cNvPr id="57" name="Text 5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is "animals that fly" an </a:t>
            </a:r>
            <a:r>
              <a:rPr lang="en-US" sz="1150" b="1" dirty="0">
                <a:solidFill>
                  <a:srgbClr val="262B3A"/>
                </a:solidFill>
                <a:latin typeface="Calibri" pitchFamily="34" charset="0"/>
                <a:ea typeface="Calibri" pitchFamily="34" charset="-122"/>
                <a:cs typeface="Calibri" pitchFamily="34" charset="-120"/>
              </a:rPr>
              <a:t>artificial</a:t>
            </a:r>
            <a:r>
              <a:rPr lang="en-US" sz="1150" dirty="0">
                <a:solidFill>
                  <a:srgbClr val="262B3A"/>
                </a:solidFill>
                <a:latin typeface="Calibri" pitchFamily="34" charset="0"/>
                <a:ea typeface="Calibri" pitchFamily="34" charset="-122"/>
                <a:cs typeface="Calibri" pitchFamily="34" charset="-120"/>
              </a:rPr>
              <a:t> group? How many million species are </a:t>
            </a:r>
            <a:r>
              <a:rPr lang="en-US" sz="1150" b="1" dirty="0">
                <a:solidFill>
                  <a:srgbClr val="262B3A"/>
                </a:solidFill>
                <a:latin typeface="Calibri" pitchFamily="34" charset="0"/>
                <a:ea typeface="Calibri" pitchFamily="34" charset="-122"/>
                <a:cs typeface="Calibri" pitchFamily="34" charset="-120"/>
              </a:rPr>
              <a:t>not yet named</a:t>
            </a:r>
            <a:r>
              <a:rPr lang="en-US" sz="1150" dirty="0">
                <a:solidFill>
                  <a:srgbClr val="262B3A"/>
                </a:solidFill>
                <a:latin typeface="Calibri" pitchFamily="34" charset="0"/>
                <a:ea typeface="Calibri" pitchFamily="34" charset="-122"/>
                <a:cs typeface="Calibri" pitchFamily="34" charset="-120"/>
              </a:rPr>
              <a:t> (from the worked example)?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The Linnaean hierarchy and binomial names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groups inside groups, from domain down to species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6</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groups inside groups; a filled dot = shares the human group</a:t>
            </a:r>
            <a:endParaRPr lang="en-US" sz="1000" dirty="0"/>
          </a:p>
        </p:txBody>
      </p:sp>
      <p:sp>
        <p:nvSpPr>
          <p:cNvPr id="10" name="Shape 8"/>
          <p:cNvSpPr/>
          <p:nvPr/>
        </p:nvSpPr>
        <p:spPr>
          <a:xfrm>
            <a:off x="502920" y="1600200"/>
            <a:ext cx="2743200" cy="365760"/>
          </a:xfrm>
          <a:prstGeom prst="roundRect">
            <a:avLst>
              <a:gd name="adj" fmla="val 12500"/>
            </a:avLst>
          </a:prstGeom>
          <a:solidFill>
            <a:srgbClr val="EDE5F7"/>
          </a:solidFill>
          <a:ln w="12700">
            <a:solidFill>
              <a:srgbClr val="6A4C93"/>
            </a:solidFill>
            <a:prstDash val="solid"/>
          </a:ln>
        </p:spPr>
      </p:sp>
      <p:sp>
        <p:nvSpPr>
          <p:cNvPr id="11" name="Text 9"/>
          <p:cNvSpPr/>
          <p:nvPr/>
        </p:nvSpPr>
        <p:spPr>
          <a:xfrm>
            <a:off x="548640" y="1600200"/>
            <a:ext cx="2651760"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Domain</a:t>
            </a:r>
            <a:r>
              <a:rPr lang="en-US" sz="1050" dirty="0">
                <a:solidFill>
                  <a:srgbClr val="262B3A"/>
                </a:solidFill>
                <a:latin typeface="Calibri" pitchFamily="34" charset="0"/>
                <a:ea typeface="Calibri" pitchFamily="34" charset="-122"/>
                <a:cs typeface="Calibri" pitchFamily="34" charset="-120"/>
              </a:rPr>
              <a:t>: Eukarya</a:t>
            </a:r>
            <a:endParaRPr lang="en-US" sz="1050" dirty="0"/>
          </a:p>
        </p:txBody>
      </p:sp>
      <p:sp>
        <p:nvSpPr>
          <p:cNvPr id="12" name="Shape 10"/>
          <p:cNvSpPr/>
          <p:nvPr/>
        </p:nvSpPr>
        <p:spPr>
          <a:xfrm>
            <a:off x="603504" y="2029968"/>
            <a:ext cx="2542032" cy="365760"/>
          </a:xfrm>
          <a:prstGeom prst="roundRect">
            <a:avLst>
              <a:gd name="adj" fmla="val 12500"/>
            </a:avLst>
          </a:prstGeom>
          <a:solidFill>
            <a:srgbClr val="F4FAF9"/>
          </a:solidFill>
          <a:ln w="12700">
            <a:solidFill>
              <a:srgbClr val="0D7877"/>
            </a:solidFill>
            <a:prstDash val="solid"/>
          </a:ln>
        </p:spPr>
      </p:sp>
      <p:sp>
        <p:nvSpPr>
          <p:cNvPr id="13" name="Text 11"/>
          <p:cNvSpPr/>
          <p:nvPr/>
        </p:nvSpPr>
        <p:spPr>
          <a:xfrm>
            <a:off x="649224" y="2029968"/>
            <a:ext cx="2450592"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Kingdom</a:t>
            </a:r>
            <a:r>
              <a:rPr lang="en-US" sz="1050" dirty="0">
                <a:solidFill>
                  <a:srgbClr val="262B3A"/>
                </a:solidFill>
                <a:latin typeface="Calibri" pitchFamily="34" charset="0"/>
                <a:ea typeface="Calibri" pitchFamily="34" charset="-122"/>
                <a:cs typeface="Calibri" pitchFamily="34" charset="-120"/>
              </a:rPr>
              <a:t>: Animalia</a:t>
            </a:r>
            <a:endParaRPr lang="en-US" sz="1050" dirty="0"/>
          </a:p>
        </p:txBody>
      </p:sp>
      <p:sp>
        <p:nvSpPr>
          <p:cNvPr id="14" name="Shape 12"/>
          <p:cNvSpPr/>
          <p:nvPr/>
        </p:nvSpPr>
        <p:spPr>
          <a:xfrm>
            <a:off x="704088" y="2459736"/>
            <a:ext cx="2340864" cy="365760"/>
          </a:xfrm>
          <a:prstGeom prst="roundRect">
            <a:avLst>
              <a:gd name="adj" fmla="val 12500"/>
            </a:avLst>
          </a:prstGeom>
          <a:solidFill>
            <a:srgbClr val="F4FAF9"/>
          </a:solidFill>
          <a:ln w="12700">
            <a:solidFill>
              <a:srgbClr val="0D7877"/>
            </a:solidFill>
            <a:prstDash val="solid"/>
          </a:ln>
        </p:spPr>
      </p:sp>
      <p:sp>
        <p:nvSpPr>
          <p:cNvPr id="15" name="Text 13"/>
          <p:cNvSpPr/>
          <p:nvPr/>
        </p:nvSpPr>
        <p:spPr>
          <a:xfrm>
            <a:off x="749808" y="2459736"/>
            <a:ext cx="2249424"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Phylum</a:t>
            </a:r>
            <a:r>
              <a:rPr lang="en-US" sz="1050" dirty="0">
                <a:solidFill>
                  <a:srgbClr val="262B3A"/>
                </a:solidFill>
                <a:latin typeface="Calibri" pitchFamily="34" charset="0"/>
                <a:ea typeface="Calibri" pitchFamily="34" charset="-122"/>
                <a:cs typeface="Calibri" pitchFamily="34" charset="-120"/>
              </a:rPr>
              <a:t>: Chordata</a:t>
            </a:r>
            <a:endParaRPr lang="en-US" sz="1050" dirty="0"/>
          </a:p>
        </p:txBody>
      </p:sp>
      <p:sp>
        <p:nvSpPr>
          <p:cNvPr id="16" name="Shape 14"/>
          <p:cNvSpPr/>
          <p:nvPr/>
        </p:nvSpPr>
        <p:spPr>
          <a:xfrm>
            <a:off x="804672" y="2889504"/>
            <a:ext cx="2139696" cy="365760"/>
          </a:xfrm>
          <a:prstGeom prst="roundRect">
            <a:avLst>
              <a:gd name="adj" fmla="val 12500"/>
            </a:avLst>
          </a:prstGeom>
          <a:solidFill>
            <a:srgbClr val="F4FAF9"/>
          </a:solidFill>
          <a:ln w="12700">
            <a:solidFill>
              <a:srgbClr val="0D7877"/>
            </a:solidFill>
            <a:prstDash val="solid"/>
          </a:ln>
        </p:spPr>
      </p:sp>
      <p:sp>
        <p:nvSpPr>
          <p:cNvPr id="17" name="Text 15"/>
          <p:cNvSpPr/>
          <p:nvPr/>
        </p:nvSpPr>
        <p:spPr>
          <a:xfrm>
            <a:off x="850392" y="2889504"/>
            <a:ext cx="2048256"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Class</a:t>
            </a:r>
            <a:r>
              <a:rPr lang="en-US" sz="1050" dirty="0">
                <a:solidFill>
                  <a:srgbClr val="262B3A"/>
                </a:solidFill>
                <a:latin typeface="Calibri" pitchFamily="34" charset="0"/>
                <a:ea typeface="Calibri" pitchFamily="34" charset="-122"/>
                <a:cs typeface="Calibri" pitchFamily="34" charset="-120"/>
              </a:rPr>
              <a:t>: Mammalia</a:t>
            </a:r>
            <a:endParaRPr lang="en-US" sz="1050" dirty="0"/>
          </a:p>
        </p:txBody>
      </p:sp>
      <p:sp>
        <p:nvSpPr>
          <p:cNvPr id="18" name="Shape 16"/>
          <p:cNvSpPr/>
          <p:nvPr/>
        </p:nvSpPr>
        <p:spPr>
          <a:xfrm>
            <a:off x="905256" y="3319272"/>
            <a:ext cx="1938528" cy="365760"/>
          </a:xfrm>
          <a:prstGeom prst="roundRect">
            <a:avLst>
              <a:gd name="adj" fmla="val 12500"/>
            </a:avLst>
          </a:prstGeom>
          <a:solidFill>
            <a:srgbClr val="F4FAF9"/>
          </a:solidFill>
          <a:ln w="12700">
            <a:solidFill>
              <a:srgbClr val="0D7877"/>
            </a:solidFill>
            <a:prstDash val="solid"/>
          </a:ln>
        </p:spPr>
      </p:sp>
      <p:sp>
        <p:nvSpPr>
          <p:cNvPr id="19" name="Text 17"/>
          <p:cNvSpPr/>
          <p:nvPr/>
        </p:nvSpPr>
        <p:spPr>
          <a:xfrm>
            <a:off x="950976" y="3319272"/>
            <a:ext cx="1847088"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Order</a:t>
            </a:r>
            <a:r>
              <a:rPr lang="en-US" sz="1050" dirty="0">
                <a:solidFill>
                  <a:srgbClr val="262B3A"/>
                </a:solidFill>
                <a:latin typeface="Calibri" pitchFamily="34" charset="0"/>
                <a:ea typeface="Calibri" pitchFamily="34" charset="-122"/>
                <a:cs typeface="Calibri" pitchFamily="34" charset="-120"/>
              </a:rPr>
              <a:t>: Primates</a:t>
            </a:r>
            <a:endParaRPr lang="en-US" sz="1050" dirty="0"/>
          </a:p>
        </p:txBody>
      </p:sp>
      <p:sp>
        <p:nvSpPr>
          <p:cNvPr id="20" name="Shape 18"/>
          <p:cNvSpPr/>
          <p:nvPr/>
        </p:nvSpPr>
        <p:spPr>
          <a:xfrm>
            <a:off x="1005840" y="3749040"/>
            <a:ext cx="1737360" cy="365760"/>
          </a:xfrm>
          <a:prstGeom prst="roundRect">
            <a:avLst>
              <a:gd name="adj" fmla="val 12500"/>
            </a:avLst>
          </a:prstGeom>
          <a:solidFill>
            <a:srgbClr val="F4FAF9"/>
          </a:solidFill>
          <a:ln w="12700">
            <a:solidFill>
              <a:srgbClr val="0D7877"/>
            </a:solidFill>
            <a:prstDash val="solid"/>
          </a:ln>
        </p:spPr>
      </p:sp>
      <p:sp>
        <p:nvSpPr>
          <p:cNvPr id="21" name="Text 19"/>
          <p:cNvSpPr/>
          <p:nvPr/>
        </p:nvSpPr>
        <p:spPr>
          <a:xfrm>
            <a:off x="1051560" y="3749040"/>
            <a:ext cx="1645920"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Family</a:t>
            </a:r>
            <a:r>
              <a:rPr lang="en-US" sz="1050" dirty="0">
                <a:solidFill>
                  <a:srgbClr val="262B3A"/>
                </a:solidFill>
                <a:latin typeface="Calibri" pitchFamily="34" charset="0"/>
                <a:ea typeface="Calibri" pitchFamily="34" charset="-122"/>
                <a:cs typeface="Calibri" pitchFamily="34" charset="-120"/>
              </a:rPr>
              <a:t>: Hominidae</a:t>
            </a:r>
            <a:endParaRPr lang="en-US" sz="1050" dirty="0"/>
          </a:p>
        </p:txBody>
      </p:sp>
      <p:sp>
        <p:nvSpPr>
          <p:cNvPr id="22" name="Shape 20"/>
          <p:cNvSpPr/>
          <p:nvPr/>
        </p:nvSpPr>
        <p:spPr>
          <a:xfrm>
            <a:off x="1106424" y="4178808"/>
            <a:ext cx="1536192" cy="365760"/>
          </a:xfrm>
          <a:prstGeom prst="roundRect">
            <a:avLst>
              <a:gd name="adj" fmla="val 12500"/>
            </a:avLst>
          </a:prstGeom>
          <a:solidFill>
            <a:srgbClr val="FFF4E0"/>
          </a:solidFill>
          <a:ln w="12700">
            <a:solidFill>
              <a:srgbClr val="0D7877"/>
            </a:solidFill>
            <a:prstDash val="solid"/>
          </a:ln>
        </p:spPr>
      </p:sp>
      <p:sp>
        <p:nvSpPr>
          <p:cNvPr id="23" name="Text 21"/>
          <p:cNvSpPr/>
          <p:nvPr/>
        </p:nvSpPr>
        <p:spPr>
          <a:xfrm>
            <a:off x="1152144" y="4178808"/>
            <a:ext cx="1444752"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Genus</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0D7877"/>
                </a:solidFill>
                <a:latin typeface="Calibri" pitchFamily="34" charset="0"/>
                <a:ea typeface="Calibri" pitchFamily="34" charset="-122"/>
                <a:cs typeface="Calibri" pitchFamily="34" charset="-120"/>
              </a:rPr>
              <a:t>Homo</a:t>
            </a:r>
            <a:endParaRPr lang="en-US" sz="1050" dirty="0"/>
          </a:p>
        </p:txBody>
      </p:sp>
      <p:sp>
        <p:nvSpPr>
          <p:cNvPr id="24" name="Shape 22"/>
          <p:cNvSpPr/>
          <p:nvPr/>
        </p:nvSpPr>
        <p:spPr>
          <a:xfrm>
            <a:off x="1207008" y="4608576"/>
            <a:ext cx="1335024" cy="365760"/>
          </a:xfrm>
          <a:prstGeom prst="roundRect">
            <a:avLst>
              <a:gd name="adj" fmla="val 12500"/>
            </a:avLst>
          </a:prstGeom>
          <a:solidFill>
            <a:srgbClr val="FFF4E0"/>
          </a:solidFill>
          <a:ln w="12700">
            <a:solidFill>
              <a:srgbClr val="0D7877"/>
            </a:solidFill>
            <a:prstDash val="solid"/>
          </a:ln>
        </p:spPr>
      </p:sp>
      <p:sp>
        <p:nvSpPr>
          <p:cNvPr id="25" name="Text 23"/>
          <p:cNvSpPr/>
          <p:nvPr/>
        </p:nvSpPr>
        <p:spPr>
          <a:xfrm>
            <a:off x="1252728" y="4608576"/>
            <a:ext cx="1243584" cy="36576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Species</a:t>
            </a:r>
            <a:r>
              <a:rPr lang="en-US" sz="1050" dirty="0">
                <a:solidFill>
                  <a:srgbClr val="262B3A"/>
                </a:solidFill>
                <a:latin typeface="Calibri" pitchFamily="34" charset="0"/>
                <a:ea typeface="Calibri" pitchFamily="34" charset="-122"/>
                <a:cs typeface="Calibri" pitchFamily="34" charset="-120"/>
              </a:rPr>
              <a:t>: </a:t>
            </a:r>
            <a:r>
              <a:rPr lang="en-US" sz="1050" b="1" dirty="0">
                <a:solidFill>
                  <a:srgbClr val="0D7877"/>
                </a:solidFill>
                <a:latin typeface="Calibri" pitchFamily="34" charset="0"/>
                <a:ea typeface="Calibri" pitchFamily="34" charset="-122"/>
                <a:cs typeface="Calibri" pitchFamily="34" charset="-120"/>
              </a:rPr>
              <a:t>sapiens</a:t>
            </a:r>
            <a:endParaRPr lang="en-US" sz="1050" dirty="0"/>
          </a:p>
        </p:txBody>
      </p:sp>
      <p:sp>
        <p:nvSpPr>
          <p:cNvPr id="26" name="Text 24"/>
          <p:cNvSpPr/>
          <p:nvPr/>
        </p:nvSpPr>
        <p:spPr>
          <a:xfrm>
            <a:off x="502920" y="1298448"/>
            <a:ext cx="2743200" cy="237744"/>
          </a:xfrm>
          <a:prstGeom prst="rect">
            <a:avLst/>
          </a:prstGeom>
          <a:noFill/>
          <a:ln/>
        </p:spPr>
        <p:txBody>
          <a:bodyPr wrap="square" lIns="0" tIns="0" rIns="0" bIns="0" rtlCol="0" anchor="ctr"/>
          <a:lstStyle/>
          <a:p>
            <a:pPr algn="ctr" indent="0" marL="0">
              <a:buNone/>
            </a:pPr>
            <a:r>
              <a:rPr lang="en-US" sz="1050" b="1" dirty="0">
                <a:solidFill>
                  <a:srgbClr val="6B7385"/>
                </a:solidFill>
                <a:latin typeface="Calibri" pitchFamily="34" charset="0"/>
                <a:ea typeface="Calibri" pitchFamily="34" charset="-122"/>
                <a:cs typeface="Calibri" pitchFamily="34" charset="-120"/>
              </a:rPr>
              <a:t>Level: the human group</a:t>
            </a:r>
            <a:endParaRPr lang="en-US" sz="1050" dirty="0"/>
          </a:p>
        </p:txBody>
      </p:sp>
      <p:sp>
        <p:nvSpPr>
          <p:cNvPr id="27" name="Text 25"/>
          <p:cNvSpPr/>
          <p:nvPr/>
        </p:nvSpPr>
        <p:spPr>
          <a:xfrm>
            <a:off x="3310128" y="1298448"/>
            <a:ext cx="60350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Human</a:t>
            </a:r>
            <a:endParaRPr lang="en-US" sz="1050" dirty="0"/>
          </a:p>
        </p:txBody>
      </p:sp>
      <p:sp>
        <p:nvSpPr>
          <p:cNvPr id="28" name="Shape 26"/>
          <p:cNvSpPr/>
          <p:nvPr/>
        </p:nvSpPr>
        <p:spPr>
          <a:xfrm>
            <a:off x="3511296" y="1682496"/>
            <a:ext cx="201168" cy="201168"/>
          </a:xfrm>
          <a:prstGeom prst="ellipse">
            <a:avLst/>
          </a:prstGeom>
          <a:solidFill>
            <a:srgbClr val="0D7877"/>
          </a:solidFill>
          <a:ln w="9525">
            <a:solidFill>
              <a:srgbClr val="0C6867"/>
            </a:solidFill>
            <a:prstDash val="solid"/>
          </a:ln>
        </p:spPr>
      </p:sp>
      <p:sp>
        <p:nvSpPr>
          <p:cNvPr id="29" name="Shape 27"/>
          <p:cNvSpPr/>
          <p:nvPr/>
        </p:nvSpPr>
        <p:spPr>
          <a:xfrm>
            <a:off x="3511296" y="2112264"/>
            <a:ext cx="201168" cy="201168"/>
          </a:xfrm>
          <a:prstGeom prst="ellipse">
            <a:avLst/>
          </a:prstGeom>
          <a:solidFill>
            <a:srgbClr val="0D7877"/>
          </a:solidFill>
          <a:ln w="9525">
            <a:solidFill>
              <a:srgbClr val="0C6867"/>
            </a:solidFill>
            <a:prstDash val="solid"/>
          </a:ln>
        </p:spPr>
      </p:sp>
      <p:sp>
        <p:nvSpPr>
          <p:cNvPr id="30" name="Shape 28"/>
          <p:cNvSpPr/>
          <p:nvPr/>
        </p:nvSpPr>
        <p:spPr>
          <a:xfrm>
            <a:off x="3511296" y="2542032"/>
            <a:ext cx="201168" cy="201168"/>
          </a:xfrm>
          <a:prstGeom prst="ellipse">
            <a:avLst/>
          </a:prstGeom>
          <a:solidFill>
            <a:srgbClr val="0D7877"/>
          </a:solidFill>
          <a:ln w="9525">
            <a:solidFill>
              <a:srgbClr val="0C6867"/>
            </a:solidFill>
            <a:prstDash val="solid"/>
          </a:ln>
        </p:spPr>
      </p:sp>
      <p:sp>
        <p:nvSpPr>
          <p:cNvPr id="31" name="Shape 29"/>
          <p:cNvSpPr/>
          <p:nvPr/>
        </p:nvSpPr>
        <p:spPr>
          <a:xfrm>
            <a:off x="3511296" y="2971800"/>
            <a:ext cx="201168" cy="201168"/>
          </a:xfrm>
          <a:prstGeom prst="ellipse">
            <a:avLst/>
          </a:prstGeom>
          <a:solidFill>
            <a:srgbClr val="0D7877"/>
          </a:solidFill>
          <a:ln w="9525">
            <a:solidFill>
              <a:srgbClr val="0C6867"/>
            </a:solidFill>
            <a:prstDash val="solid"/>
          </a:ln>
        </p:spPr>
      </p:sp>
      <p:sp>
        <p:nvSpPr>
          <p:cNvPr id="32" name="Shape 30"/>
          <p:cNvSpPr/>
          <p:nvPr/>
        </p:nvSpPr>
        <p:spPr>
          <a:xfrm>
            <a:off x="3511296" y="3401568"/>
            <a:ext cx="201168" cy="201168"/>
          </a:xfrm>
          <a:prstGeom prst="ellipse">
            <a:avLst/>
          </a:prstGeom>
          <a:solidFill>
            <a:srgbClr val="0D7877"/>
          </a:solidFill>
          <a:ln w="9525">
            <a:solidFill>
              <a:srgbClr val="0C6867"/>
            </a:solidFill>
            <a:prstDash val="solid"/>
          </a:ln>
        </p:spPr>
      </p:sp>
      <p:sp>
        <p:nvSpPr>
          <p:cNvPr id="33" name="Shape 31"/>
          <p:cNvSpPr/>
          <p:nvPr/>
        </p:nvSpPr>
        <p:spPr>
          <a:xfrm>
            <a:off x="3511296" y="3831336"/>
            <a:ext cx="201168" cy="201168"/>
          </a:xfrm>
          <a:prstGeom prst="ellipse">
            <a:avLst/>
          </a:prstGeom>
          <a:solidFill>
            <a:srgbClr val="0D7877"/>
          </a:solidFill>
          <a:ln w="9525">
            <a:solidFill>
              <a:srgbClr val="0C6867"/>
            </a:solidFill>
            <a:prstDash val="solid"/>
          </a:ln>
        </p:spPr>
      </p:sp>
      <p:sp>
        <p:nvSpPr>
          <p:cNvPr id="34" name="Shape 32"/>
          <p:cNvSpPr/>
          <p:nvPr/>
        </p:nvSpPr>
        <p:spPr>
          <a:xfrm>
            <a:off x="3511296" y="4261104"/>
            <a:ext cx="201168" cy="201168"/>
          </a:xfrm>
          <a:prstGeom prst="ellipse">
            <a:avLst/>
          </a:prstGeom>
          <a:solidFill>
            <a:srgbClr val="0D7877"/>
          </a:solidFill>
          <a:ln w="9525">
            <a:solidFill>
              <a:srgbClr val="0C6867"/>
            </a:solidFill>
            <a:prstDash val="solid"/>
          </a:ln>
        </p:spPr>
      </p:sp>
      <p:sp>
        <p:nvSpPr>
          <p:cNvPr id="35" name="Shape 33"/>
          <p:cNvSpPr/>
          <p:nvPr/>
        </p:nvSpPr>
        <p:spPr>
          <a:xfrm>
            <a:off x="3511296" y="4690872"/>
            <a:ext cx="201168" cy="201168"/>
          </a:xfrm>
          <a:prstGeom prst="ellipse">
            <a:avLst/>
          </a:prstGeom>
          <a:solidFill>
            <a:srgbClr val="0D7877"/>
          </a:solidFill>
          <a:ln w="9525">
            <a:solidFill>
              <a:srgbClr val="0C6867"/>
            </a:solidFill>
            <a:prstDash val="solid"/>
          </a:ln>
        </p:spPr>
      </p:sp>
      <p:sp>
        <p:nvSpPr>
          <p:cNvPr id="36" name="Text 34"/>
          <p:cNvSpPr/>
          <p:nvPr/>
        </p:nvSpPr>
        <p:spPr>
          <a:xfrm>
            <a:off x="3904488" y="1298448"/>
            <a:ext cx="60350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Chimp</a:t>
            </a:r>
            <a:endParaRPr lang="en-US" sz="1050" dirty="0"/>
          </a:p>
        </p:txBody>
      </p:sp>
      <p:sp>
        <p:nvSpPr>
          <p:cNvPr id="37" name="Shape 35"/>
          <p:cNvSpPr/>
          <p:nvPr/>
        </p:nvSpPr>
        <p:spPr>
          <a:xfrm>
            <a:off x="4105656" y="1682496"/>
            <a:ext cx="201168" cy="201168"/>
          </a:xfrm>
          <a:prstGeom prst="ellipse">
            <a:avLst/>
          </a:prstGeom>
          <a:solidFill>
            <a:srgbClr val="0D7877"/>
          </a:solidFill>
          <a:ln w="9525">
            <a:solidFill>
              <a:srgbClr val="0C6867"/>
            </a:solidFill>
            <a:prstDash val="solid"/>
          </a:ln>
        </p:spPr>
      </p:sp>
      <p:sp>
        <p:nvSpPr>
          <p:cNvPr id="38" name="Shape 36"/>
          <p:cNvSpPr/>
          <p:nvPr/>
        </p:nvSpPr>
        <p:spPr>
          <a:xfrm>
            <a:off x="4105656" y="2112264"/>
            <a:ext cx="201168" cy="201168"/>
          </a:xfrm>
          <a:prstGeom prst="ellipse">
            <a:avLst/>
          </a:prstGeom>
          <a:solidFill>
            <a:srgbClr val="0D7877"/>
          </a:solidFill>
          <a:ln w="9525">
            <a:solidFill>
              <a:srgbClr val="0C6867"/>
            </a:solidFill>
            <a:prstDash val="solid"/>
          </a:ln>
        </p:spPr>
      </p:sp>
      <p:sp>
        <p:nvSpPr>
          <p:cNvPr id="39" name="Shape 37"/>
          <p:cNvSpPr/>
          <p:nvPr/>
        </p:nvSpPr>
        <p:spPr>
          <a:xfrm>
            <a:off x="4105656" y="2542032"/>
            <a:ext cx="201168" cy="201168"/>
          </a:xfrm>
          <a:prstGeom prst="ellipse">
            <a:avLst/>
          </a:prstGeom>
          <a:solidFill>
            <a:srgbClr val="0D7877"/>
          </a:solidFill>
          <a:ln w="9525">
            <a:solidFill>
              <a:srgbClr val="0C6867"/>
            </a:solidFill>
            <a:prstDash val="solid"/>
          </a:ln>
        </p:spPr>
      </p:sp>
      <p:sp>
        <p:nvSpPr>
          <p:cNvPr id="40" name="Shape 38"/>
          <p:cNvSpPr/>
          <p:nvPr/>
        </p:nvSpPr>
        <p:spPr>
          <a:xfrm>
            <a:off x="4105656" y="2971800"/>
            <a:ext cx="201168" cy="201168"/>
          </a:xfrm>
          <a:prstGeom prst="ellipse">
            <a:avLst/>
          </a:prstGeom>
          <a:solidFill>
            <a:srgbClr val="0D7877"/>
          </a:solidFill>
          <a:ln w="9525">
            <a:solidFill>
              <a:srgbClr val="0C6867"/>
            </a:solidFill>
            <a:prstDash val="solid"/>
          </a:ln>
        </p:spPr>
      </p:sp>
      <p:sp>
        <p:nvSpPr>
          <p:cNvPr id="41" name="Shape 39"/>
          <p:cNvSpPr/>
          <p:nvPr/>
        </p:nvSpPr>
        <p:spPr>
          <a:xfrm>
            <a:off x="4105656" y="3401568"/>
            <a:ext cx="201168" cy="201168"/>
          </a:xfrm>
          <a:prstGeom prst="ellipse">
            <a:avLst/>
          </a:prstGeom>
          <a:solidFill>
            <a:srgbClr val="0D7877"/>
          </a:solidFill>
          <a:ln w="9525">
            <a:solidFill>
              <a:srgbClr val="0C6867"/>
            </a:solidFill>
            <a:prstDash val="solid"/>
          </a:ln>
        </p:spPr>
      </p:sp>
      <p:sp>
        <p:nvSpPr>
          <p:cNvPr id="42" name="Shape 40"/>
          <p:cNvSpPr/>
          <p:nvPr/>
        </p:nvSpPr>
        <p:spPr>
          <a:xfrm>
            <a:off x="4105656" y="3831336"/>
            <a:ext cx="201168" cy="201168"/>
          </a:xfrm>
          <a:prstGeom prst="ellipse">
            <a:avLst/>
          </a:prstGeom>
          <a:solidFill>
            <a:srgbClr val="0D7877"/>
          </a:solidFill>
          <a:ln w="9525">
            <a:solidFill>
              <a:srgbClr val="0C6867"/>
            </a:solidFill>
            <a:prstDash val="solid"/>
          </a:ln>
        </p:spPr>
      </p:sp>
      <p:sp>
        <p:nvSpPr>
          <p:cNvPr id="43" name="Shape 41"/>
          <p:cNvSpPr/>
          <p:nvPr/>
        </p:nvSpPr>
        <p:spPr>
          <a:xfrm>
            <a:off x="4105656" y="4261104"/>
            <a:ext cx="201168" cy="201168"/>
          </a:xfrm>
          <a:prstGeom prst="ellipse">
            <a:avLst/>
          </a:prstGeom>
          <a:solidFill>
            <a:srgbClr val="FFFFFF"/>
          </a:solidFill>
          <a:ln w="12700">
            <a:solidFill>
              <a:srgbClr val="B8C4C2"/>
            </a:solidFill>
            <a:prstDash val="solid"/>
          </a:ln>
        </p:spPr>
      </p:sp>
      <p:sp>
        <p:nvSpPr>
          <p:cNvPr id="44" name="Shape 42"/>
          <p:cNvSpPr/>
          <p:nvPr/>
        </p:nvSpPr>
        <p:spPr>
          <a:xfrm>
            <a:off x="4105656" y="4690872"/>
            <a:ext cx="201168" cy="201168"/>
          </a:xfrm>
          <a:prstGeom prst="ellipse">
            <a:avLst/>
          </a:prstGeom>
          <a:solidFill>
            <a:srgbClr val="FFFFFF"/>
          </a:solidFill>
          <a:ln w="12700">
            <a:solidFill>
              <a:srgbClr val="B8C4C2"/>
            </a:solidFill>
            <a:prstDash val="solid"/>
          </a:ln>
        </p:spPr>
      </p:sp>
      <p:sp>
        <p:nvSpPr>
          <p:cNvPr id="45" name="Text 43"/>
          <p:cNvSpPr/>
          <p:nvPr/>
        </p:nvSpPr>
        <p:spPr>
          <a:xfrm>
            <a:off x="4498848" y="1298448"/>
            <a:ext cx="60350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Lion</a:t>
            </a:r>
            <a:endParaRPr lang="en-US" sz="1050" dirty="0"/>
          </a:p>
        </p:txBody>
      </p:sp>
      <p:sp>
        <p:nvSpPr>
          <p:cNvPr id="46" name="Shape 44"/>
          <p:cNvSpPr/>
          <p:nvPr/>
        </p:nvSpPr>
        <p:spPr>
          <a:xfrm>
            <a:off x="4700016" y="1682496"/>
            <a:ext cx="201168" cy="201168"/>
          </a:xfrm>
          <a:prstGeom prst="ellipse">
            <a:avLst/>
          </a:prstGeom>
          <a:solidFill>
            <a:srgbClr val="0D7877"/>
          </a:solidFill>
          <a:ln w="9525">
            <a:solidFill>
              <a:srgbClr val="0C6867"/>
            </a:solidFill>
            <a:prstDash val="solid"/>
          </a:ln>
        </p:spPr>
      </p:sp>
      <p:sp>
        <p:nvSpPr>
          <p:cNvPr id="47" name="Shape 45"/>
          <p:cNvSpPr/>
          <p:nvPr/>
        </p:nvSpPr>
        <p:spPr>
          <a:xfrm>
            <a:off x="4700016" y="2112264"/>
            <a:ext cx="201168" cy="201168"/>
          </a:xfrm>
          <a:prstGeom prst="ellipse">
            <a:avLst/>
          </a:prstGeom>
          <a:solidFill>
            <a:srgbClr val="0D7877"/>
          </a:solidFill>
          <a:ln w="9525">
            <a:solidFill>
              <a:srgbClr val="0C6867"/>
            </a:solidFill>
            <a:prstDash val="solid"/>
          </a:ln>
        </p:spPr>
      </p:sp>
      <p:sp>
        <p:nvSpPr>
          <p:cNvPr id="48" name="Shape 46"/>
          <p:cNvSpPr/>
          <p:nvPr/>
        </p:nvSpPr>
        <p:spPr>
          <a:xfrm>
            <a:off x="4700016" y="2542032"/>
            <a:ext cx="201168" cy="201168"/>
          </a:xfrm>
          <a:prstGeom prst="ellipse">
            <a:avLst/>
          </a:prstGeom>
          <a:solidFill>
            <a:srgbClr val="0D7877"/>
          </a:solidFill>
          <a:ln w="9525">
            <a:solidFill>
              <a:srgbClr val="0C6867"/>
            </a:solidFill>
            <a:prstDash val="solid"/>
          </a:ln>
        </p:spPr>
      </p:sp>
      <p:sp>
        <p:nvSpPr>
          <p:cNvPr id="49" name="Shape 47"/>
          <p:cNvSpPr/>
          <p:nvPr/>
        </p:nvSpPr>
        <p:spPr>
          <a:xfrm>
            <a:off x="4700016" y="2971800"/>
            <a:ext cx="201168" cy="201168"/>
          </a:xfrm>
          <a:prstGeom prst="ellipse">
            <a:avLst/>
          </a:prstGeom>
          <a:solidFill>
            <a:srgbClr val="0D7877"/>
          </a:solidFill>
          <a:ln w="9525">
            <a:solidFill>
              <a:srgbClr val="0C6867"/>
            </a:solidFill>
            <a:prstDash val="solid"/>
          </a:ln>
        </p:spPr>
      </p:sp>
      <p:sp>
        <p:nvSpPr>
          <p:cNvPr id="50" name="Shape 48"/>
          <p:cNvSpPr/>
          <p:nvPr/>
        </p:nvSpPr>
        <p:spPr>
          <a:xfrm>
            <a:off x="4700016" y="3401568"/>
            <a:ext cx="201168" cy="201168"/>
          </a:xfrm>
          <a:prstGeom prst="ellipse">
            <a:avLst/>
          </a:prstGeom>
          <a:solidFill>
            <a:srgbClr val="FFFFFF"/>
          </a:solidFill>
          <a:ln w="12700">
            <a:solidFill>
              <a:srgbClr val="B8C4C2"/>
            </a:solidFill>
            <a:prstDash val="solid"/>
          </a:ln>
        </p:spPr>
      </p:sp>
      <p:sp>
        <p:nvSpPr>
          <p:cNvPr id="51" name="Shape 49"/>
          <p:cNvSpPr/>
          <p:nvPr/>
        </p:nvSpPr>
        <p:spPr>
          <a:xfrm>
            <a:off x="4700016" y="3831336"/>
            <a:ext cx="201168" cy="201168"/>
          </a:xfrm>
          <a:prstGeom prst="ellipse">
            <a:avLst/>
          </a:prstGeom>
          <a:solidFill>
            <a:srgbClr val="FFFFFF"/>
          </a:solidFill>
          <a:ln w="12700">
            <a:solidFill>
              <a:srgbClr val="B8C4C2"/>
            </a:solidFill>
            <a:prstDash val="solid"/>
          </a:ln>
        </p:spPr>
      </p:sp>
      <p:sp>
        <p:nvSpPr>
          <p:cNvPr id="52" name="Shape 50"/>
          <p:cNvSpPr/>
          <p:nvPr/>
        </p:nvSpPr>
        <p:spPr>
          <a:xfrm>
            <a:off x="4700016" y="4261104"/>
            <a:ext cx="201168" cy="201168"/>
          </a:xfrm>
          <a:prstGeom prst="ellipse">
            <a:avLst/>
          </a:prstGeom>
          <a:solidFill>
            <a:srgbClr val="FFFFFF"/>
          </a:solidFill>
          <a:ln w="12700">
            <a:solidFill>
              <a:srgbClr val="B8C4C2"/>
            </a:solidFill>
            <a:prstDash val="solid"/>
          </a:ln>
        </p:spPr>
      </p:sp>
      <p:sp>
        <p:nvSpPr>
          <p:cNvPr id="53" name="Shape 51"/>
          <p:cNvSpPr/>
          <p:nvPr/>
        </p:nvSpPr>
        <p:spPr>
          <a:xfrm>
            <a:off x="4700016" y="4690872"/>
            <a:ext cx="201168" cy="201168"/>
          </a:xfrm>
          <a:prstGeom prst="ellipse">
            <a:avLst/>
          </a:prstGeom>
          <a:solidFill>
            <a:srgbClr val="FFFFFF"/>
          </a:solidFill>
          <a:ln w="12700">
            <a:solidFill>
              <a:srgbClr val="B8C4C2"/>
            </a:solidFill>
            <a:prstDash val="solid"/>
          </a:ln>
        </p:spPr>
      </p:sp>
      <p:sp>
        <p:nvSpPr>
          <p:cNvPr id="54" name="Text 52"/>
          <p:cNvSpPr/>
          <p:nvPr/>
        </p:nvSpPr>
        <p:spPr>
          <a:xfrm>
            <a:off x="5093208" y="1298448"/>
            <a:ext cx="603504"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Frog</a:t>
            </a:r>
            <a:endParaRPr lang="en-US" sz="1050" dirty="0"/>
          </a:p>
        </p:txBody>
      </p:sp>
      <p:sp>
        <p:nvSpPr>
          <p:cNvPr id="55" name="Shape 53"/>
          <p:cNvSpPr/>
          <p:nvPr/>
        </p:nvSpPr>
        <p:spPr>
          <a:xfrm>
            <a:off x="5294376" y="1682496"/>
            <a:ext cx="201168" cy="201168"/>
          </a:xfrm>
          <a:prstGeom prst="ellipse">
            <a:avLst/>
          </a:prstGeom>
          <a:solidFill>
            <a:srgbClr val="0D7877"/>
          </a:solidFill>
          <a:ln w="9525">
            <a:solidFill>
              <a:srgbClr val="0C6867"/>
            </a:solidFill>
            <a:prstDash val="solid"/>
          </a:ln>
        </p:spPr>
      </p:sp>
      <p:sp>
        <p:nvSpPr>
          <p:cNvPr id="56" name="Shape 54"/>
          <p:cNvSpPr/>
          <p:nvPr/>
        </p:nvSpPr>
        <p:spPr>
          <a:xfrm>
            <a:off x="5294376" y="2112264"/>
            <a:ext cx="201168" cy="201168"/>
          </a:xfrm>
          <a:prstGeom prst="ellipse">
            <a:avLst/>
          </a:prstGeom>
          <a:solidFill>
            <a:srgbClr val="0D7877"/>
          </a:solidFill>
          <a:ln w="9525">
            <a:solidFill>
              <a:srgbClr val="0C6867"/>
            </a:solidFill>
            <a:prstDash val="solid"/>
          </a:ln>
        </p:spPr>
      </p:sp>
      <p:sp>
        <p:nvSpPr>
          <p:cNvPr id="57" name="Shape 55"/>
          <p:cNvSpPr/>
          <p:nvPr/>
        </p:nvSpPr>
        <p:spPr>
          <a:xfrm>
            <a:off x="5294376" y="2542032"/>
            <a:ext cx="201168" cy="201168"/>
          </a:xfrm>
          <a:prstGeom prst="ellipse">
            <a:avLst/>
          </a:prstGeom>
          <a:solidFill>
            <a:srgbClr val="0D7877"/>
          </a:solidFill>
          <a:ln w="9525">
            <a:solidFill>
              <a:srgbClr val="0C6867"/>
            </a:solidFill>
            <a:prstDash val="solid"/>
          </a:ln>
        </p:spPr>
      </p:sp>
      <p:sp>
        <p:nvSpPr>
          <p:cNvPr id="58" name="Shape 56"/>
          <p:cNvSpPr/>
          <p:nvPr/>
        </p:nvSpPr>
        <p:spPr>
          <a:xfrm>
            <a:off x="5294376" y="2971800"/>
            <a:ext cx="201168" cy="201168"/>
          </a:xfrm>
          <a:prstGeom prst="ellipse">
            <a:avLst/>
          </a:prstGeom>
          <a:solidFill>
            <a:srgbClr val="FFFFFF"/>
          </a:solidFill>
          <a:ln w="12700">
            <a:solidFill>
              <a:srgbClr val="B8C4C2"/>
            </a:solidFill>
            <a:prstDash val="solid"/>
          </a:ln>
        </p:spPr>
      </p:sp>
      <p:sp>
        <p:nvSpPr>
          <p:cNvPr id="59" name="Shape 57"/>
          <p:cNvSpPr/>
          <p:nvPr/>
        </p:nvSpPr>
        <p:spPr>
          <a:xfrm>
            <a:off x="5294376" y="3401568"/>
            <a:ext cx="201168" cy="201168"/>
          </a:xfrm>
          <a:prstGeom prst="ellipse">
            <a:avLst/>
          </a:prstGeom>
          <a:solidFill>
            <a:srgbClr val="FFFFFF"/>
          </a:solidFill>
          <a:ln w="12700">
            <a:solidFill>
              <a:srgbClr val="B8C4C2"/>
            </a:solidFill>
            <a:prstDash val="solid"/>
          </a:ln>
        </p:spPr>
      </p:sp>
      <p:sp>
        <p:nvSpPr>
          <p:cNvPr id="60" name="Shape 58"/>
          <p:cNvSpPr/>
          <p:nvPr/>
        </p:nvSpPr>
        <p:spPr>
          <a:xfrm>
            <a:off x="5294376" y="3831336"/>
            <a:ext cx="201168" cy="201168"/>
          </a:xfrm>
          <a:prstGeom prst="ellipse">
            <a:avLst/>
          </a:prstGeom>
          <a:solidFill>
            <a:srgbClr val="FFFFFF"/>
          </a:solidFill>
          <a:ln w="12700">
            <a:solidFill>
              <a:srgbClr val="B8C4C2"/>
            </a:solidFill>
            <a:prstDash val="solid"/>
          </a:ln>
        </p:spPr>
      </p:sp>
      <p:sp>
        <p:nvSpPr>
          <p:cNvPr id="61" name="Shape 59"/>
          <p:cNvSpPr/>
          <p:nvPr/>
        </p:nvSpPr>
        <p:spPr>
          <a:xfrm>
            <a:off x="5294376" y="4261104"/>
            <a:ext cx="201168" cy="201168"/>
          </a:xfrm>
          <a:prstGeom prst="ellipse">
            <a:avLst/>
          </a:prstGeom>
          <a:solidFill>
            <a:srgbClr val="FFFFFF"/>
          </a:solidFill>
          <a:ln w="12700">
            <a:solidFill>
              <a:srgbClr val="B8C4C2"/>
            </a:solidFill>
            <a:prstDash val="solid"/>
          </a:ln>
        </p:spPr>
      </p:sp>
      <p:sp>
        <p:nvSpPr>
          <p:cNvPr id="62" name="Shape 60"/>
          <p:cNvSpPr/>
          <p:nvPr/>
        </p:nvSpPr>
        <p:spPr>
          <a:xfrm>
            <a:off x="5294376" y="4690872"/>
            <a:ext cx="201168" cy="201168"/>
          </a:xfrm>
          <a:prstGeom prst="ellipse">
            <a:avLst/>
          </a:prstGeom>
          <a:solidFill>
            <a:srgbClr val="FFFFFF"/>
          </a:solidFill>
          <a:ln w="12700">
            <a:solidFill>
              <a:srgbClr val="B8C4C2"/>
            </a:solidFill>
            <a:prstDash val="solid"/>
          </a:ln>
        </p:spPr>
      </p:sp>
      <p:sp>
        <p:nvSpPr>
          <p:cNvPr id="63" name="Text 61"/>
          <p:cNvSpPr/>
          <p:nvPr/>
        </p:nvSpPr>
        <p:spPr>
          <a:xfrm>
            <a:off x="3246120" y="5020056"/>
            <a:ext cx="2514600" cy="237744"/>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fewer organisms, </a:t>
            </a:r>
            <a:r>
              <a:rPr lang="en-US" sz="1000" b="1" i="1" dirty="0">
                <a:solidFill>
                  <a:srgbClr val="6B7385"/>
                </a:solidFill>
                <a:latin typeface="Calibri" pitchFamily="34" charset="0"/>
                <a:ea typeface="Calibri" pitchFamily="34" charset="-122"/>
                <a:cs typeface="Calibri" pitchFamily="34" charset="-120"/>
              </a:rPr>
              <a:t>more</a:t>
            </a:r>
            <a:r>
              <a:rPr lang="en-US" sz="1000" i="1" dirty="0">
                <a:solidFill>
                  <a:srgbClr val="6B7385"/>
                </a:solidFill>
                <a:latin typeface="Calibri" pitchFamily="34" charset="0"/>
                <a:ea typeface="Calibri" pitchFamily="34" charset="-122"/>
                <a:cs typeface="Calibri" pitchFamily="34" charset="-120"/>
              </a:rPr>
              <a:t> in common ↓</a:t>
            </a:r>
            <a:endParaRPr lang="en-US" sz="1000" dirty="0"/>
          </a:p>
        </p:txBody>
      </p:sp>
      <p:sp>
        <p:nvSpPr>
          <p:cNvPr id="64" name="Text 62"/>
          <p:cNvSpPr/>
          <p:nvPr/>
        </p:nvSpPr>
        <p:spPr>
          <a:xfrm>
            <a:off x="502920" y="5020056"/>
            <a:ext cx="2743200" cy="237744"/>
          </a:xfrm>
          <a:prstGeom prst="rect">
            <a:avLst/>
          </a:prstGeom>
          <a:noFill/>
          <a:ln/>
        </p:spPr>
        <p:txBody>
          <a:bodyPr wrap="square" lIns="0" tIns="0" rIns="0" bIns="0" rtlCol="0" anchor="ctr"/>
          <a:lstStyle/>
          <a:p>
            <a:pPr algn="ctr" indent="0" marL="0">
              <a:buNone/>
            </a:pPr>
            <a:r>
              <a:rPr lang="en-US" sz="1000" i="1" dirty="0">
                <a:solidFill>
                  <a:srgbClr val="6A4C93"/>
                </a:solidFill>
                <a:latin typeface="Calibri" pitchFamily="34" charset="0"/>
                <a:ea typeface="Calibri" pitchFamily="34" charset="-122"/>
                <a:cs typeface="Calibri" pitchFamily="34" charset="-120"/>
              </a:rPr>
              <a:t>domain added by Woese (1990)</a:t>
            </a:r>
            <a:endParaRPr lang="en-US" sz="1000" dirty="0"/>
          </a:p>
        </p:txBody>
      </p:sp>
      <p:sp>
        <p:nvSpPr>
          <p:cNvPr id="65" name="Shape 63"/>
          <p:cNvSpPr/>
          <p:nvPr/>
        </p:nvSpPr>
        <p:spPr>
          <a:xfrm>
            <a:off x="6217920" y="1188720"/>
            <a:ext cx="5562295" cy="3017520"/>
          </a:xfrm>
          <a:prstGeom prst="roundRect">
            <a:avLst>
              <a:gd name="adj" fmla="val 1818"/>
            </a:avLst>
          </a:prstGeom>
          <a:solidFill>
            <a:srgbClr val="F4FAF9"/>
          </a:solidFill>
          <a:ln w="9525">
            <a:solidFill>
              <a:srgbClr val="CFE0DE"/>
            </a:solidFill>
            <a:prstDash val="solid"/>
          </a:ln>
        </p:spPr>
      </p:sp>
      <p:sp>
        <p:nvSpPr>
          <p:cNvPr id="66" name="Text 6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Linnaeus (1735 onwards)</a:t>
            </a:r>
            <a:endParaRPr lang="en-US" sz="1300" dirty="0"/>
          </a:p>
        </p:txBody>
      </p:sp>
      <p:sp>
        <p:nvSpPr>
          <p:cNvPr id="67" name="Text 65"/>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Kingdom, phylum, class, order, family, genus, species</a:t>
            </a:r>
            <a:r>
              <a:rPr lang="en-US" sz="1150" dirty="0">
                <a:solidFill>
                  <a:srgbClr val="262B3A"/>
                </a:solidFill>
                <a:latin typeface="Calibri" pitchFamily="34" charset="0"/>
                <a:ea typeface="Calibri" pitchFamily="34" charset="-122"/>
                <a:cs typeface="Calibri" pitchFamily="34" charset="-120"/>
              </a:rPr>
              <a:t>: each group sits </a:t>
            </a:r>
            <a:r>
              <a:rPr lang="en-US" sz="1150" b="1" dirty="0">
                <a:solidFill>
                  <a:srgbClr val="262B3A"/>
                </a:solidFill>
                <a:latin typeface="Calibri" pitchFamily="34" charset="0"/>
                <a:ea typeface="Calibri" pitchFamily="34" charset="-122"/>
                <a:cs typeface="Calibri" pitchFamily="34" charset="-120"/>
              </a:rPr>
              <a:t>inside</a:t>
            </a:r>
            <a:r>
              <a:rPr lang="en-US" sz="1150" dirty="0">
                <a:solidFill>
                  <a:srgbClr val="262B3A"/>
                </a:solidFill>
                <a:latin typeface="Calibri" pitchFamily="34" charset="0"/>
                <a:ea typeface="Calibri" pitchFamily="34" charset="-122"/>
                <a:cs typeface="Calibri" pitchFamily="34" charset="-120"/>
              </a:rPr>
              <a:t> the one above.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The lower the level two organisms share, the </a:t>
            </a:r>
            <a:r>
              <a:rPr lang="en-US" sz="1150" b="1" dirty="0">
                <a:solidFill>
                  <a:srgbClr val="262B3A"/>
                </a:solidFill>
                <a:latin typeface="Calibri" pitchFamily="34" charset="0"/>
                <a:ea typeface="Calibri" pitchFamily="34" charset="-122"/>
                <a:cs typeface="Calibri" pitchFamily="34" charset="-120"/>
              </a:rPr>
              <a:t>more closely related</a:t>
            </a:r>
            <a:r>
              <a:rPr lang="en-US" sz="1150" dirty="0">
                <a:solidFill>
                  <a:srgbClr val="262B3A"/>
                </a:solidFill>
                <a:latin typeface="Calibri" pitchFamily="34" charset="0"/>
                <a:ea typeface="Calibri" pitchFamily="34" charset="-122"/>
                <a:cs typeface="Calibri" pitchFamily="34" charset="-120"/>
              </a:rPr>
              <a:t> they are.</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Binomial name</a:t>
            </a:r>
            <a:r>
              <a:rPr lang="en-US" sz="1150" dirty="0">
                <a:solidFill>
                  <a:srgbClr val="262B3A"/>
                </a:solidFill>
                <a:latin typeface="Calibri" pitchFamily="34" charset="0"/>
                <a:ea typeface="Calibri" pitchFamily="34" charset="-122"/>
                <a:cs typeface="Calibri" pitchFamily="34" charset="-120"/>
              </a:rPr>
              <a:t> = </a:t>
            </a:r>
            <a:r>
              <a:rPr lang="en-US" sz="1150" b="1" dirty="0">
                <a:solidFill>
                  <a:srgbClr val="262B3A"/>
                </a:solidFill>
                <a:latin typeface="Calibri" pitchFamily="34" charset="0"/>
                <a:ea typeface="Calibri" pitchFamily="34" charset="-122"/>
                <a:cs typeface="Calibri" pitchFamily="34" charset="-120"/>
              </a:rPr>
              <a:t>Genus</a:t>
            </a:r>
            <a:r>
              <a:rPr lang="en-US" sz="1150" dirty="0">
                <a:solidFill>
                  <a:srgbClr val="262B3A"/>
                </a:solidFill>
                <a:latin typeface="Calibri" pitchFamily="34" charset="0"/>
                <a:ea typeface="Calibri" pitchFamily="34" charset="-122"/>
                <a:cs typeface="Calibri" pitchFamily="34" charset="-120"/>
              </a:rPr>
              <a:t> + </a:t>
            </a:r>
            <a:r>
              <a:rPr lang="en-US" sz="1150" b="1" dirty="0">
                <a:solidFill>
                  <a:srgbClr val="262B3A"/>
                </a:solidFill>
                <a:latin typeface="Calibri" pitchFamily="34" charset="0"/>
                <a:ea typeface="Calibri" pitchFamily="34" charset="-122"/>
                <a:cs typeface="Calibri" pitchFamily="34" charset="-120"/>
              </a:rPr>
              <a:t>species</a:t>
            </a:r>
            <a:r>
              <a:rPr lang="en-US" sz="1150" dirty="0">
                <a:solidFill>
                  <a:srgbClr val="262B3A"/>
                </a:solidFill>
                <a:latin typeface="Calibri" pitchFamily="34" charset="0"/>
                <a:ea typeface="Calibri" pitchFamily="34" charset="-122"/>
                <a:cs typeface="Calibri" pitchFamily="34" charset="-120"/>
              </a:rPr>
              <a:t>, e.g. </a:t>
            </a:r>
            <a:r>
              <a:rPr lang="en-US" sz="1150" b="1" dirty="0">
                <a:solidFill>
                  <a:srgbClr val="0D7877"/>
                </a:solidFill>
                <a:latin typeface="Calibri" pitchFamily="34" charset="0"/>
                <a:ea typeface="Calibri" pitchFamily="34" charset="-122"/>
                <a:cs typeface="Calibri" pitchFamily="34" charset="-120"/>
              </a:rPr>
              <a:t>Homo sapiens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0D7877"/>
                </a:solidFill>
                <a:latin typeface="Calibri" pitchFamily="34" charset="0"/>
                <a:ea typeface="Calibri" pitchFamily="34" charset="-122"/>
                <a:cs typeface="Calibri" pitchFamily="34" charset="-120"/>
              </a:rPr>
              <a:t>Panthera leo</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Rules: genus has a </a:t>
            </a:r>
            <a:r>
              <a:rPr lang="en-US" sz="1150" b="1" dirty="0">
                <a:solidFill>
                  <a:srgbClr val="262B3A"/>
                </a:solidFill>
                <a:latin typeface="Calibri" pitchFamily="34" charset="0"/>
                <a:ea typeface="Calibri" pitchFamily="34" charset="-122"/>
                <a:cs typeface="Calibri" pitchFamily="34" charset="-120"/>
              </a:rPr>
              <a:t>capital</a:t>
            </a:r>
            <a:r>
              <a:rPr lang="en-US" sz="1150" dirty="0">
                <a:solidFill>
                  <a:srgbClr val="262B3A"/>
                </a:solidFill>
                <a:latin typeface="Calibri" pitchFamily="34" charset="0"/>
                <a:ea typeface="Calibri" pitchFamily="34" charset="-122"/>
                <a:cs typeface="Calibri" pitchFamily="34" charset="-120"/>
              </a:rPr>
              <a:t> letter, species a </a:t>
            </a:r>
            <a:r>
              <a:rPr lang="en-US" sz="1150" b="1" dirty="0">
                <a:solidFill>
                  <a:srgbClr val="262B3A"/>
                </a:solidFill>
                <a:latin typeface="Calibri" pitchFamily="34" charset="0"/>
                <a:ea typeface="Calibri" pitchFamily="34" charset="-122"/>
                <a:cs typeface="Calibri" pitchFamily="34" charset="-120"/>
              </a:rPr>
              <a:t>small</a:t>
            </a:r>
            <a:r>
              <a:rPr lang="en-US" sz="1150" dirty="0">
                <a:solidFill>
                  <a:srgbClr val="262B3A"/>
                </a:solidFill>
                <a:latin typeface="Calibri" pitchFamily="34" charset="0"/>
                <a:ea typeface="Calibri" pitchFamily="34" charset="-122"/>
                <a:cs typeface="Calibri" pitchFamily="34" charset="-120"/>
              </a:rPr>
              <a:t> letter; printed in italics (underlined if handwritten).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One name used by scientists </a:t>
            </a:r>
            <a:r>
              <a:rPr lang="en-US" sz="1150" b="1" dirty="0">
                <a:solidFill>
                  <a:srgbClr val="262B3A"/>
                </a:solidFill>
                <a:latin typeface="Calibri" pitchFamily="34" charset="0"/>
                <a:ea typeface="Calibri" pitchFamily="34" charset="-122"/>
                <a:cs typeface="Calibri" pitchFamily="34" charset="-120"/>
              </a:rPr>
              <a:t>everywhere</a:t>
            </a:r>
            <a:r>
              <a:rPr lang="en-US" sz="1150" dirty="0">
                <a:solidFill>
                  <a:srgbClr val="262B3A"/>
                </a:solidFill>
                <a:latin typeface="Calibri" pitchFamily="34" charset="0"/>
                <a:ea typeface="Calibri" pitchFamily="34" charset="-122"/>
                <a:cs typeface="Calibri" pitchFamily="34" charset="-120"/>
              </a:rPr>
              <a:t>, whatever the local name.</a:t>
            </a:r>
            <a:endParaRPr lang="en-US" sz="1150" dirty="0"/>
          </a:p>
        </p:txBody>
      </p:sp>
      <p:sp>
        <p:nvSpPr>
          <p:cNvPr id="68" name="Shape 66"/>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69" name="Text 67"/>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a:t>
            </a:r>
            <a:endParaRPr lang="en-US" sz="1300" dirty="0"/>
          </a:p>
        </p:txBody>
      </p:sp>
      <p:sp>
        <p:nvSpPr>
          <p:cNvPr id="70" name="Text 68"/>
          <p:cNvSpPr/>
          <p:nvPr/>
        </p:nvSpPr>
        <p:spPr>
          <a:xfrm>
            <a:off x="6382512" y="4727448"/>
            <a:ext cx="5233111" cy="914400"/>
          </a:xfrm>
          <a:prstGeom prst="rect">
            <a:avLst/>
          </a:prstGeom>
          <a:noFill/>
          <a:ln/>
        </p:spPr>
        <p:txBody>
          <a:bodyPr wrap="square" lIns="0" tIns="0" rIns="0" bIns="0" rtlCol="0" anchor="t"/>
          <a:lstStyle/>
          <a:p>
            <a:pPr indent="0" marL="0">
              <a:buNone/>
            </a:pPr>
            <a:r>
              <a:rPr lang="en-US" sz="1050" b="1" i="1" dirty="0">
                <a:solidFill>
                  <a:srgbClr val="0D7877"/>
                </a:solidFill>
                <a:latin typeface="Calibri" pitchFamily="34" charset="0"/>
                <a:ea typeface="Calibri" pitchFamily="34" charset="-122"/>
                <a:cs typeface="Calibri" pitchFamily="34" charset="-120"/>
              </a:rPr>
              <a:t>Panthera leo</a:t>
            </a:r>
            <a:r>
              <a:rPr lang="en-US" sz="1050" i="1" dirty="0">
                <a:solidFill>
                  <a:srgbClr val="262B3A"/>
                </a:solidFill>
                <a:latin typeface="Calibri" pitchFamily="34" charset="0"/>
                <a:ea typeface="Calibri" pitchFamily="34" charset="-122"/>
                <a:cs typeface="Calibri" pitchFamily="34" charset="-120"/>
              </a:rPr>
              <a:t> (lion) and </a:t>
            </a:r>
            <a:r>
              <a:rPr lang="en-US" sz="1050" b="1" i="1" dirty="0">
                <a:solidFill>
                  <a:srgbClr val="0D7877"/>
                </a:solidFill>
                <a:latin typeface="Calibri" pitchFamily="34" charset="0"/>
                <a:ea typeface="Calibri" pitchFamily="34" charset="-122"/>
                <a:cs typeface="Calibri" pitchFamily="34" charset="-120"/>
              </a:rPr>
              <a:t>Panthera tigris</a:t>
            </a:r>
            <a:r>
              <a:rPr lang="en-US" sz="1050" i="1" dirty="0">
                <a:solidFill>
                  <a:srgbClr val="262B3A"/>
                </a:solidFill>
                <a:latin typeface="Calibri" pitchFamily="34" charset="0"/>
                <a:ea typeface="Calibri" pitchFamily="34" charset="-122"/>
                <a:cs typeface="Calibri" pitchFamily="34" charset="-120"/>
              </a:rPr>
              <a:t> (tiger): how many of the 8 levels do they share?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Same genus   </a:t>
            </a:r>
            <a:r>
              <a:rPr lang="en-US" sz="1050" dirty="0">
                <a:solidFill>
                  <a:srgbClr val="262B3A"/>
                </a:solidFill>
                <a:latin typeface="Calibri" pitchFamily="34" charset="0"/>
                <a:ea typeface="Calibri" pitchFamily="34" charset="-122"/>
                <a:cs typeface="Calibri" pitchFamily="34" charset="-120"/>
              </a:rPr>
              <a:t>genus is the 2nd-lowest level, so they share every level above it too</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domain → genus = </a:t>
            </a:r>
            <a:r>
              <a:rPr lang="en-US" sz="1050" b="1" dirty="0">
                <a:solidFill>
                  <a:srgbClr val="C8414C"/>
                </a:solidFill>
                <a:latin typeface="Calibri" pitchFamily="34" charset="0"/>
                <a:ea typeface="Calibri" pitchFamily="34" charset="-122"/>
                <a:cs typeface="Calibri" pitchFamily="34" charset="-120"/>
              </a:rPr>
              <a:t>7 of 8</a:t>
            </a:r>
            <a:r>
              <a:rPr lang="en-US" sz="1050" b="1" dirty="0">
                <a:solidFill>
                  <a:srgbClr val="C8414C"/>
                </a:solidFill>
                <a:latin typeface="Calibri" pitchFamily="34" charset="0"/>
                <a:ea typeface="Calibri" pitchFamily="34" charset="-122"/>
                <a:cs typeface="Calibri" pitchFamily="34" charset="-120"/>
              </a:rPr>
              <a:t> levels (not species)</a:t>
            </a:r>
            <a:endParaRPr lang="en-US" sz="1050" dirty="0"/>
          </a:p>
        </p:txBody>
      </p:sp>
      <p:sp>
        <p:nvSpPr>
          <p:cNvPr id="71" name="Shape 69"/>
          <p:cNvSpPr/>
          <p:nvPr/>
        </p:nvSpPr>
        <p:spPr>
          <a:xfrm>
            <a:off x="411480" y="5833872"/>
            <a:ext cx="11368735" cy="530352"/>
          </a:xfrm>
          <a:prstGeom prst="rect">
            <a:avLst/>
          </a:prstGeom>
          <a:solidFill>
            <a:srgbClr val="FFF4E0"/>
          </a:solidFill>
          <a:ln w="6350">
            <a:solidFill>
              <a:srgbClr val="F1D9A8"/>
            </a:solidFill>
            <a:prstDash val="solid"/>
          </a:ln>
        </p:spPr>
      </p:sp>
      <p:sp>
        <p:nvSpPr>
          <p:cNvPr id="72" name="Shape 70"/>
          <p:cNvSpPr/>
          <p:nvPr/>
        </p:nvSpPr>
        <p:spPr>
          <a:xfrm>
            <a:off x="411480" y="5833872"/>
            <a:ext cx="82296" cy="530352"/>
          </a:xfrm>
          <a:prstGeom prst="rect">
            <a:avLst/>
          </a:prstGeom>
          <a:solidFill>
            <a:srgbClr val="E39A2F"/>
          </a:solidFill>
          <a:ln w="12700">
            <a:solidFill>
              <a:srgbClr val="E39A2F"/>
            </a:solidFill>
            <a:prstDash val="solid"/>
          </a:ln>
        </p:spPr>
      </p:sp>
      <p:sp>
        <p:nvSpPr>
          <p:cNvPr id="73" name="Text 7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Put in order, </a:t>
            </a:r>
            <a:r>
              <a:rPr lang="en-US" sz="1150" b="1" dirty="0">
                <a:solidFill>
                  <a:srgbClr val="262B3A"/>
                </a:solidFill>
                <a:latin typeface="Calibri" pitchFamily="34" charset="0"/>
                <a:ea typeface="Calibri" pitchFamily="34" charset="-122"/>
                <a:cs typeface="Calibri" pitchFamily="34" charset="-120"/>
              </a:rPr>
              <a:t>largest</a:t>
            </a:r>
            <a:r>
              <a:rPr lang="en-US" sz="1150" dirty="0">
                <a:solidFill>
                  <a:srgbClr val="262B3A"/>
                </a:solidFill>
                <a:latin typeface="Calibri" pitchFamily="34" charset="0"/>
                <a:ea typeface="Calibri" pitchFamily="34" charset="-122"/>
                <a:cs typeface="Calibri" pitchFamily="34" charset="-120"/>
              </a:rPr>
              <a:t> group first: genus, kingdom, class, species, family, phylum, order. Which of these is written correctly: homo Sapiens, Homo sapiens, Homo Sapiens?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why classify; hierarchy and binomial names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an </a:t>
            </a:r>
            <a:r>
              <a:rPr lang="en-US" sz="1250" b="1" dirty="0">
                <a:solidFill>
                  <a:srgbClr val="262B3A"/>
                </a:solidFill>
                <a:latin typeface="Calibri" pitchFamily="34" charset="0"/>
                <a:ea typeface="Calibri" pitchFamily="34" charset="-122"/>
                <a:cs typeface="Calibri" pitchFamily="34" charset="-120"/>
              </a:rPr>
              <a:t>artificial</a:t>
            </a:r>
            <a:r>
              <a:rPr lang="en-US" sz="1250" dirty="0">
                <a:solidFill>
                  <a:srgbClr val="262B3A"/>
                </a:solidFill>
                <a:latin typeface="Calibri" pitchFamily="34" charset="0"/>
                <a:ea typeface="Calibri" pitchFamily="34" charset="-122"/>
                <a:cs typeface="Calibri" pitchFamily="34" charset="-120"/>
              </a:rPr>
              <a:t> and a </a:t>
            </a:r>
            <a:r>
              <a:rPr lang="en-US" sz="1250" b="1" dirty="0">
                <a:solidFill>
                  <a:srgbClr val="262B3A"/>
                </a:solidFill>
                <a:latin typeface="Calibri" pitchFamily="34" charset="0"/>
                <a:ea typeface="Calibri" pitchFamily="34" charset="-122"/>
                <a:cs typeface="Calibri" pitchFamily="34" charset="-120"/>
              </a:rPr>
              <a:t>natural</a:t>
            </a:r>
            <a:r>
              <a:rPr lang="en-US" sz="1250" dirty="0">
                <a:solidFill>
                  <a:srgbClr val="262B3A"/>
                </a:solidFill>
                <a:latin typeface="Calibri" pitchFamily="34" charset="0"/>
                <a:ea typeface="Calibri" pitchFamily="34" charset="-122"/>
                <a:cs typeface="Calibri" pitchFamily="34" charset="-120"/>
              </a:rPr>
              <a:t> classification system.</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these groups in order, </a:t>
            </a:r>
            <a:r>
              <a:rPr lang="en-US" sz="1250" b="1" dirty="0">
                <a:solidFill>
                  <a:srgbClr val="262B3A"/>
                </a:solidFill>
                <a:latin typeface="Calibri" pitchFamily="34" charset="0"/>
                <a:ea typeface="Calibri" pitchFamily="34" charset="-122"/>
                <a:cs typeface="Calibri" pitchFamily="34" charset="-120"/>
              </a:rPr>
              <a:t>largest first</a:t>
            </a:r>
            <a:r>
              <a:rPr lang="en-US" sz="1250" dirty="0">
                <a:solidFill>
                  <a:srgbClr val="262B3A"/>
                </a:solidFill>
                <a:latin typeface="Calibri" pitchFamily="34" charset="0"/>
                <a:ea typeface="Calibri" pitchFamily="34" charset="-122"/>
                <a:cs typeface="Calibri" pitchFamily="34" charset="-120"/>
              </a:rPr>
              <a:t>: species, class, kingdom, genus, order, phylum, family.</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writes the lion's name as "panthera Leo". 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corrections.</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Two organisms are in the </a:t>
            </a:r>
            <a:r>
              <a:rPr lang="en-US" sz="1250" b="1" dirty="0">
                <a:solidFill>
                  <a:srgbClr val="262B3A"/>
                </a:solidFill>
                <a:latin typeface="Calibri" pitchFamily="34" charset="0"/>
                <a:ea typeface="Calibri" pitchFamily="34" charset="-122"/>
                <a:cs typeface="Calibri" pitchFamily="34" charset="-120"/>
              </a:rPr>
              <a:t>same family</a:t>
            </a:r>
            <a:r>
              <a:rPr lang="en-US" sz="1250" dirty="0">
                <a:solidFill>
                  <a:srgbClr val="262B3A"/>
                </a:solidFill>
                <a:latin typeface="Calibri" pitchFamily="34" charset="0"/>
                <a:ea typeface="Calibri" pitchFamily="34" charset="-122"/>
                <a:cs typeface="Calibri" pitchFamily="34" charset="-120"/>
              </a:rPr>
              <a:t> but </a:t>
            </a:r>
            <a:r>
              <a:rPr lang="en-US" sz="1250" b="1" dirty="0">
                <a:solidFill>
                  <a:srgbClr val="262B3A"/>
                </a:solidFill>
                <a:latin typeface="Calibri" pitchFamily="34" charset="0"/>
                <a:ea typeface="Calibri" pitchFamily="34" charset="-122"/>
                <a:cs typeface="Calibri" pitchFamily="34" charset="-120"/>
              </a:rPr>
              <a:t>different genera</a:t>
            </a:r>
            <a:r>
              <a:rPr lang="en-US" sz="1250" dirty="0">
                <a:solidFill>
                  <a:srgbClr val="262B3A"/>
                </a:solidFill>
                <a:latin typeface="Calibri" pitchFamily="34" charset="0"/>
                <a:ea typeface="Calibri" pitchFamily="34" charset="-122"/>
                <a:cs typeface="Calibri" pitchFamily="34" charset="-120"/>
              </a:rPr>
              <a:t>. Explain what this tells you about how closely related they are.</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Looks can mislead: shark and dolphin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why classifying by appearance alone can go wrong</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8</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side views, not to scale; similar shape, very different internal features</a:t>
            </a:r>
            <a:endParaRPr lang="en-US" sz="1000" dirty="0"/>
          </a:p>
        </p:txBody>
      </p:sp>
      <p:sp>
        <p:nvSpPr>
          <p:cNvPr id="10" name="Shape 8"/>
          <p:cNvSpPr/>
          <p:nvPr/>
        </p:nvSpPr>
        <p:spPr>
          <a:xfrm rot="1500000">
            <a:off x="3430829" y="1217981"/>
            <a:ext cx="468173" cy="731520"/>
          </a:xfrm>
          <a:prstGeom prst="triangle">
            <a:avLst/>
          </a:prstGeom>
          <a:solidFill>
            <a:srgbClr val="8C9AAB"/>
          </a:solidFill>
          <a:ln w="12700">
            <a:solidFill>
              <a:srgbClr val="4F5D6E"/>
            </a:solidFill>
            <a:prstDash val="solid"/>
          </a:ln>
        </p:spPr>
      </p:sp>
      <p:sp>
        <p:nvSpPr>
          <p:cNvPr id="11" name="Shape 9"/>
          <p:cNvSpPr/>
          <p:nvPr/>
        </p:nvSpPr>
        <p:spPr>
          <a:xfrm rot="9300000">
            <a:off x="3430829" y="1911096"/>
            <a:ext cx="351130" cy="468173"/>
          </a:xfrm>
          <a:prstGeom prst="triangle">
            <a:avLst/>
          </a:prstGeom>
          <a:solidFill>
            <a:srgbClr val="8C9AAB"/>
          </a:solidFill>
          <a:ln w="12700">
            <a:solidFill>
              <a:srgbClr val="4F5D6E"/>
            </a:solidFill>
            <a:prstDash val="solid"/>
          </a:ln>
        </p:spPr>
      </p:sp>
      <p:sp>
        <p:nvSpPr>
          <p:cNvPr id="12" name="Shape 10"/>
          <p:cNvSpPr/>
          <p:nvPr/>
        </p:nvSpPr>
        <p:spPr>
          <a:xfrm>
            <a:off x="1119226" y="1627632"/>
            <a:ext cx="2516429" cy="585216"/>
          </a:xfrm>
          <a:prstGeom prst="ellipse">
            <a:avLst/>
          </a:prstGeom>
          <a:solidFill>
            <a:srgbClr val="8C9AAB"/>
          </a:solidFill>
          <a:ln w="15875">
            <a:solidFill>
              <a:srgbClr val="4F5D6E"/>
            </a:solidFill>
            <a:prstDash val="solid"/>
          </a:ln>
        </p:spPr>
      </p:sp>
      <p:sp>
        <p:nvSpPr>
          <p:cNvPr id="13" name="Shape 11"/>
          <p:cNvSpPr/>
          <p:nvPr/>
        </p:nvSpPr>
        <p:spPr>
          <a:xfrm rot="600000">
            <a:off x="2231136" y="1335024"/>
            <a:ext cx="409651" cy="380390"/>
          </a:xfrm>
          <a:prstGeom prst="triangle">
            <a:avLst/>
          </a:prstGeom>
          <a:solidFill>
            <a:srgbClr val="8C9AAB"/>
          </a:solidFill>
          <a:ln w="12700">
            <a:solidFill>
              <a:srgbClr val="4F5D6E"/>
            </a:solidFill>
            <a:prstDash val="solid"/>
          </a:ln>
        </p:spPr>
      </p:sp>
      <p:sp>
        <p:nvSpPr>
          <p:cNvPr id="14" name="Shape 12"/>
          <p:cNvSpPr/>
          <p:nvPr/>
        </p:nvSpPr>
        <p:spPr>
          <a:xfrm rot="12000000">
            <a:off x="2026310" y="2095805"/>
            <a:ext cx="409651" cy="292608"/>
          </a:xfrm>
          <a:prstGeom prst="triangle">
            <a:avLst/>
          </a:prstGeom>
          <a:solidFill>
            <a:srgbClr val="8C9AAB"/>
          </a:solidFill>
          <a:ln w="12700">
            <a:solidFill>
              <a:srgbClr val="4F5D6E"/>
            </a:solidFill>
            <a:prstDash val="solid"/>
          </a:ln>
        </p:spPr>
      </p:sp>
      <p:sp>
        <p:nvSpPr>
          <p:cNvPr id="15" name="Shape 13"/>
          <p:cNvSpPr/>
          <p:nvPr/>
        </p:nvSpPr>
        <p:spPr>
          <a:xfrm flipH="1">
            <a:off x="1645920" y="1773936"/>
            <a:ext cx="29261" cy="263347"/>
          </a:xfrm>
          <a:prstGeom prst="line">
            <a:avLst/>
          </a:prstGeom>
          <a:noFill/>
          <a:ln w="12700">
            <a:solidFill>
              <a:srgbClr val="4F5D6E"/>
            </a:solidFill>
            <a:prstDash val="solid"/>
          </a:ln>
        </p:spPr>
      </p:sp>
      <p:sp>
        <p:nvSpPr>
          <p:cNvPr id="16" name="Shape 14"/>
          <p:cNvSpPr/>
          <p:nvPr/>
        </p:nvSpPr>
        <p:spPr>
          <a:xfrm flipH="1">
            <a:off x="1691640" y="1773936"/>
            <a:ext cx="29261" cy="263347"/>
          </a:xfrm>
          <a:prstGeom prst="line">
            <a:avLst/>
          </a:prstGeom>
          <a:noFill/>
          <a:ln w="12700">
            <a:solidFill>
              <a:srgbClr val="4F5D6E"/>
            </a:solidFill>
            <a:prstDash val="solid"/>
          </a:ln>
        </p:spPr>
      </p:sp>
      <p:sp>
        <p:nvSpPr>
          <p:cNvPr id="17" name="Shape 15"/>
          <p:cNvSpPr/>
          <p:nvPr/>
        </p:nvSpPr>
        <p:spPr>
          <a:xfrm flipH="1">
            <a:off x="1737360" y="1773936"/>
            <a:ext cx="29261" cy="263347"/>
          </a:xfrm>
          <a:prstGeom prst="line">
            <a:avLst/>
          </a:prstGeom>
          <a:noFill/>
          <a:ln w="12700">
            <a:solidFill>
              <a:srgbClr val="4F5D6E"/>
            </a:solidFill>
            <a:prstDash val="solid"/>
          </a:ln>
        </p:spPr>
      </p:sp>
      <p:sp>
        <p:nvSpPr>
          <p:cNvPr id="18" name="Shape 16"/>
          <p:cNvSpPr/>
          <p:nvPr/>
        </p:nvSpPr>
        <p:spPr>
          <a:xfrm flipH="1">
            <a:off x="1783080" y="1773936"/>
            <a:ext cx="29261" cy="263347"/>
          </a:xfrm>
          <a:prstGeom prst="line">
            <a:avLst/>
          </a:prstGeom>
          <a:noFill/>
          <a:ln w="12700">
            <a:solidFill>
              <a:srgbClr val="4F5D6E"/>
            </a:solidFill>
            <a:prstDash val="solid"/>
          </a:ln>
        </p:spPr>
      </p:sp>
      <p:sp>
        <p:nvSpPr>
          <p:cNvPr id="19" name="Shape 17"/>
          <p:cNvSpPr/>
          <p:nvPr/>
        </p:nvSpPr>
        <p:spPr>
          <a:xfrm>
            <a:off x="1384402" y="1805026"/>
            <a:ext cx="54864" cy="54864"/>
          </a:xfrm>
          <a:prstGeom prst="ellipse">
            <a:avLst/>
          </a:prstGeom>
          <a:solidFill>
            <a:srgbClr val="263040"/>
          </a:solidFill>
          <a:ln w="9525">
            <a:solidFill>
              <a:srgbClr val="263040"/>
            </a:solidFill>
            <a:prstDash val="solid"/>
          </a:ln>
        </p:spPr>
      </p:sp>
      <p:sp>
        <p:nvSpPr>
          <p:cNvPr id="20" name="Text 18"/>
          <p:cNvSpPr/>
          <p:nvPr/>
        </p:nvSpPr>
        <p:spPr>
          <a:xfrm>
            <a:off x="4069080" y="1600200"/>
            <a:ext cx="1737360" cy="274320"/>
          </a:xfrm>
          <a:prstGeom prst="rect">
            <a:avLst/>
          </a:prstGeom>
          <a:noFill/>
          <a:ln/>
        </p:spPr>
        <p:txBody>
          <a:bodyPr wrap="square" lIns="0" tIns="0" rIns="0" bIns="0" rtlCol="0" anchor="ctr"/>
          <a:lstStyle/>
          <a:p>
            <a:pPr algn="l" indent="0" marL="0">
              <a:buNone/>
            </a:pPr>
            <a:r>
              <a:rPr lang="en-US" sz="1200" b="1" dirty="0">
                <a:solidFill>
                  <a:srgbClr val="4F5D6E"/>
                </a:solidFill>
                <a:latin typeface="Calibri" pitchFamily="34" charset="0"/>
                <a:ea typeface="Calibri" pitchFamily="34" charset="-122"/>
                <a:cs typeface="Calibri" pitchFamily="34" charset="-120"/>
              </a:rPr>
              <a:t>Shark</a:t>
            </a:r>
            <a:r>
              <a:rPr lang="en-US" sz="1200" dirty="0">
                <a:solidFill>
                  <a:srgbClr val="4F5D6E"/>
                </a:solidFill>
                <a:latin typeface="Calibri" pitchFamily="34" charset="0"/>
                <a:ea typeface="Calibri" pitchFamily="34" charset="-122"/>
                <a:cs typeface="Calibri" pitchFamily="34" charset="-120"/>
              </a:rPr>
              <a:t> (a fish)</a:t>
            </a:r>
            <a:endParaRPr lang="en-US" sz="1200" dirty="0"/>
          </a:p>
        </p:txBody>
      </p:sp>
      <p:sp>
        <p:nvSpPr>
          <p:cNvPr id="21" name="Shape 19"/>
          <p:cNvSpPr/>
          <p:nvPr/>
        </p:nvSpPr>
        <p:spPr>
          <a:xfrm>
            <a:off x="3460090" y="3218688"/>
            <a:ext cx="585216" cy="146304"/>
          </a:xfrm>
          <a:prstGeom prst="ellipse">
            <a:avLst/>
          </a:prstGeom>
          <a:solidFill>
            <a:srgbClr val="6F8FB0"/>
          </a:solidFill>
          <a:ln w="12700">
            <a:solidFill>
              <a:srgbClr val="3B5878"/>
            </a:solidFill>
            <a:prstDash val="solid"/>
          </a:ln>
        </p:spPr>
      </p:sp>
      <p:sp>
        <p:nvSpPr>
          <p:cNvPr id="22" name="Shape 20"/>
          <p:cNvSpPr/>
          <p:nvPr/>
        </p:nvSpPr>
        <p:spPr>
          <a:xfrm>
            <a:off x="1119226" y="2999232"/>
            <a:ext cx="2516429" cy="585216"/>
          </a:xfrm>
          <a:prstGeom prst="ellipse">
            <a:avLst/>
          </a:prstGeom>
          <a:solidFill>
            <a:srgbClr val="6F8FB0"/>
          </a:solidFill>
          <a:ln w="15875">
            <a:solidFill>
              <a:srgbClr val="3B5878"/>
            </a:solidFill>
            <a:prstDash val="solid"/>
          </a:ln>
        </p:spPr>
      </p:sp>
      <p:sp>
        <p:nvSpPr>
          <p:cNvPr id="23" name="Shape 21"/>
          <p:cNvSpPr/>
          <p:nvPr/>
        </p:nvSpPr>
        <p:spPr>
          <a:xfrm>
            <a:off x="885139" y="3277210"/>
            <a:ext cx="351130" cy="175565"/>
          </a:xfrm>
          <a:prstGeom prst="ellipse">
            <a:avLst/>
          </a:prstGeom>
          <a:solidFill>
            <a:srgbClr val="6F8FB0"/>
          </a:solidFill>
          <a:ln w="12700">
            <a:solidFill>
              <a:srgbClr val="3B5878"/>
            </a:solidFill>
            <a:prstDash val="solid"/>
          </a:ln>
        </p:spPr>
      </p:sp>
      <p:sp>
        <p:nvSpPr>
          <p:cNvPr id="24" name="Shape 22"/>
          <p:cNvSpPr/>
          <p:nvPr/>
        </p:nvSpPr>
        <p:spPr>
          <a:xfrm rot="720000">
            <a:off x="2318918" y="2706624"/>
            <a:ext cx="380390" cy="351130"/>
          </a:xfrm>
          <a:prstGeom prst="triangle">
            <a:avLst/>
          </a:prstGeom>
          <a:solidFill>
            <a:srgbClr val="6F8FB0"/>
          </a:solidFill>
          <a:ln w="12700">
            <a:solidFill>
              <a:srgbClr val="3B5878"/>
            </a:solidFill>
            <a:prstDash val="solid"/>
          </a:ln>
        </p:spPr>
      </p:sp>
      <p:sp>
        <p:nvSpPr>
          <p:cNvPr id="25" name="Shape 23"/>
          <p:cNvSpPr/>
          <p:nvPr/>
        </p:nvSpPr>
        <p:spPr>
          <a:xfrm rot="1800000">
            <a:off x="1762963" y="3511296"/>
            <a:ext cx="351130" cy="146304"/>
          </a:xfrm>
          <a:prstGeom prst="ellipse">
            <a:avLst/>
          </a:prstGeom>
          <a:solidFill>
            <a:srgbClr val="6F8FB0"/>
          </a:solidFill>
          <a:ln w="12700">
            <a:solidFill>
              <a:srgbClr val="3B5878"/>
            </a:solidFill>
            <a:prstDash val="solid"/>
          </a:ln>
        </p:spPr>
      </p:sp>
      <p:sp>
        <p:nvSpPr>
          <p:cNvPr id="26" name="Shape 24"/>
          <p:cNvSpPr/>
          <p:nvPr/>
        </p:nvSpPr>
        <p:spPr>
          <a:xfrm>
            <a:off x="1413662" y="3191256"/>
            <a:ext cx="54864" cy="54864"/>
          </a:xfrm>
          <a:prstGeom prst="ellipse">
            <a:avLst/>
          </a:prstGeom>
          <a:solidFill>
            <a:srgbClr val="263040"/>
          </a:solidFill>
          <a:ln w="9525">
            <a:solidFill>
              <a:srgbClr val="263040"/>
            </a:solidFill>
            <a:prstDash val="solid"/>
          </a:ln>
        </p:spPr>
      </p:sp>
      <p:sp>
        <p:nvSpPr>
          <p:cNvPr id="27" name="Shape 25"/>
          <p:cNvSpPr/>
          <p:nvPr/>
        </p:nvSpPr>
        <p:spPr>
          <a:xfrm>
            <a:off x="1769364" y="2991002"/>
            <a:ext cx="45720" cy="45720"/>
          </a:xfrm>
          <a:prstGeom prst="ellipse">
            <a:avLst/>
          </a:prstGeom>
          <a:solidFill>
            <a:srgbClr val="263040"/>
          </a:solidFill>
          <a:ln w="9525">
            <a:solidFill>
              <a:srgbClr val="263040"/>
            </a:solidFill>
            <a:prstDash val="solid"/>
          </a:ln>
        </p:spPr>
      </p:sp>
      <p:sp>
        <p:nvSpPr>
          <p:cNvPr id="28" name="Text 26"/>
          <p:cNvSpPr/>
          <p:nvPr/>
        </p:nvSpPr>
        <p:spPr>
          <a:xfrm>
            <a:off x="4069080" y="2971800"/>
            <a:ext cx="1737360" cy="274320"/>
          </a:xfrm>
          <a:prstGeom prst="rect">
            <a:avLst/>
          </a:prstGeom>
          <a:noFill/>
          <a:ln/>
        </p:spPr>
        <p:txBody>
          <a:bodyPr wrap="square" lIns="0" tIns="0" rIns="0" bIns="0" rtlCol="0" anchor="ctr"/>
          <a:lstStyle/>
          <a:p>
            <a:pPr algn="l" indent="0" marL="0">
              <a:buNone/>
            </a:pPr>
            <a:r>
              <a:rPr lang="en-US" sz="1200" b="1" dirty="0">
                <a:solidFill>
                  <a:srgbClr val="3B5878"/>
                </a:solidFill>
                <a:latin typeface="Calibri" pitchFamily="34" charset="0"/>
                <a:ea typeface="Calibri" pitchFamily="34" charset="-122"/>
                <a:cs typeface="Calibri" pitchFamily="34" charset="-120"/>
              </a:rPr>
              <a:t>Dolphin</a:t>
            </a:r>
            <a:r>
              <a:rPr lang="en-US" sz="1200" dirty="0">
                <a:solidFill>
                  <a:srgbClr val="3B5878"/>
                </a:solidFill>
                <a:latin typeface="Calibri" pitchFamily="34" charset="0"/>
                <a:ea typeface="Calibri" pitchFamily="34" charset="-122"/>
                <a:cs typeface="Calibri" pitchFamily="34" charset="-120"/>
              </a:rPr>
              <a:t> (a mammal)</a:t>
            </a:r>
            <a:endParaRPr lang="en-US" sz="1200" dirty="0"/>
          </a:p>
        </p:txBody>
      </p:sp>
      <p:sp>
        <p:nvSpPr>
          <p:cNvPr id="29" name="Text 27"/>
          <p:cNvSpPr/>
          <p:nvPr/>
        </p:nvSpPr>
        <p:spPr>
          <a:xfrm>
            <a:off x="640080" y="3977640"/>
            <a:ext cx="1417320" cy="256032"/>
          </a:xfrm>
          <a:prstGeom prst="rect">
            <a:avLst/>
          </a:prstGeom>
          <a:noFill/>
          <a:ln/>
        </p:spPr>
        <p:txBody>
          <a:bodyPr wrap="square" lIns="0" tIns="0" rIns="0" bIns="0" rtlCol="0" anchor="ctr"/>
          <a:lstStyle/>
          <a:p>
            <a:pPr algn="l" indent="0" marL="0">
              <a:buNone/>
            </a:pPr>
            <a:endParaRPr lang="en-US" sz="1050" dirty="0"/>
          </a:p>
        </p:txBody>
      </p:sp>
      <p:sp>
        <p:nvSpPr>
          <p:cNvPr id="30" name="Text 28"/>
          <p:cNvSpPr/>
          <p:nvPr/>
        </p:nvSpPr>
        <p:spPr>
          <a:xfrm>
            <a:off x="2103120" y="3977640"/>
            <a:ext cx="155448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Shark</a:t>
            </a:r>
            <a:endParaRPr lang="en-US" sz="1050" dirty="0"/>
          </a:p>
        </p:txBody>
      </p:sp>
      <p:sp>
        <p:nvSpPr>
          <p:cNvPr id="31" name="Text 29"/>
          <p:cNvSpPr/>
          <p:nvPr/>
        </p:nvSpPr>
        <p:spPr>
          <a:xfrm>
            <a:off x="3703320" y="3977640"/>
            <a:ext cx="2011680" cy="256032"/>
          </a:xfrm>
          <a:prstGeom prst="rect">
            <a:avLst/>
          </a:prstGeom>
          <a:noFill/>
          <a:ln/>
        </p:spPr>
        <p:txBody>
          <a:bodyPr wrap="square" lIns="0" tIns="0" rIns="0" bIns="0" rtlCol="0" anchor="ctr"/>
          <a:lstStyle/>
          <a:p>
            <a:pPr algn="l" indent="0" marL="0">
              <a:buNone/>
            </a:pPr>
            <a:r>
              <a:rPr lang="en-US" sz="1050" b="1" dirty="0">
                <a:solidFill>
                  <a:srgbClr val="0D7877"/>
                </a:solidFill>
                <a:latin typeface="Calibri" pitchFamily="34" charset="0"/>
                <a:ea typeface="Calibri" pitchFamily="34" charset="-122"/>
                <a:cs typeface="Calibri" pitchFamily="34" charset="-120"/>
              </a:rPr>
              <a:t>Dolphin</a:t>
            </a:r>
            <a:endParaRPr lang="en-US" sz="1050" dirty="0"/>
          </a:p>
        </p:txBody>
      </p:sp>
      <p:sp>
        <p:nvSpPr>
          <p:cNvPr id="32" name="Text 30"/>
          <p:cNvSpPr/>
          <p:nvPr/>
        </p:nvSpPr>
        <p:spPr>
          <a:xfrm>
            <a:off x="640080" y="4233672"/>
            <a:ext cx="141732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Breathes with</a:t>
            </a:r>
            <a:endParaRPr lang="en-US" sz="1050" dirty="0"/>
          </a:p>
        </p:txBody>
      </p:sp>
      <p:sp>
        <p:nvSpPr>
          <p:cNvPr id="33" name="Text 31"/>
          <p:cNvSpPr/>
          <p:nvPr/>
        </p:nvSpPr>
        <p:spPr>
          <a:xfrm>
            <a:off x="2103120" y="4233672"/>
            <a:ext cx="15544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gills</a:t>
            </a:r>
            <a:endParaRPr lang="en-US" sz="1050" dirty="0"/>
          </a:p>
        </p:txBody>
      </p:sp>
      <p:sp>
        <p:nvSpPr>
          <p:cNvPr id="34" name="Text 32"/>
          <p:cNvSpPr/>
          <p:nvPr/>
        </p:nvSpPr>
        <p:spPr>
          <a:xfrm>
            <a:off x="3703320" y="4233672"/>
            <a:ext cx="20116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lungs (blowhole)</a:t>
            </a:r>
            <a:endParaRPr lang="en-US" sz="1050" dirty="0"/>
          </a:p>
        </p:txBody>
      </p:sp>
      <p:sp>
        <p:nvSpPr>
          <p:cNvPr id="35" name="Text 33"/>
          <p:cNvSpPr/>
          <p:nvPr/>
        </p:nvSpPr>
        <p:spPr>
          <a:xfrm>
            <a:off x="640080" y="4489704"/>
            <a:ext cx="141732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Tail</a:t>
            </a:r>
            <a:endParaRPr lang="en-US" sz="1050" dirty="0"/>
          </a:p>
        </p:txBody>
      </p:sp>
      <p:sp>
        <p:nvSpPr>
          <p:cNvPr id="36" name="Text 34"/>
          <p:cNvSpPr/>
          <p:nvPr/>
        </p:nvSpPr>
        <p:spPr>
          <a:xfrm>
            <a:off x="2103120" y="4489704"/>
            <a:ext cx="15544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vertical</a:t>
            </a:r>
            <a:endParaRPr lang="en-US" sz="1050" dirty="0"/>
          </a:p>
        </p:txBody>
      </p:sp>
      <p:sp>
        <p:nvSpPr>
          <p:cNvPr id="37" name="Text 35"/>
          <p:cNvSpPr/>
          <p:nvPr/>
        </p:nvSpPr>
        <p:spPr>
          <a:xfrm>
            <a:off x="3703320" y="4489704"/>
            <a:ext cx="20116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horizontal flukes</a:t>
            </a:r>
            <a:endParaRPr lang="en-US" sz="1050" dirty="0"/>
          </a:p>
        </p:txBody>
      </p:sp>
      <p:sp>
        <p:nvSpPr>
          <p:cNvPr id="38" name="Text 36"/>
          <p:cNvSpPr/>
          <p:nvPr/>
        </p:nvSpPr>
        <p:spPr>
          <a:xfrm>
            <a:off x="640080" y="4745736"/>
            <a:ext cx="141732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Skeleton</a:t>
            </a:r>
            <a:endParaRPr lang="en-US" sz="1050" dirty="0"/>
          </a:p>
        </p:txBody>
      </p:sp>
      <p:sp>
        <p:nvSpPr>
          <p:cNvPr id="39" name="Text 37"/>
          <p:cNvSpPr/>
          <p:nvPr/>
        </p:nvSpPr>
        <p:spPr>
          <a:xfrm>
            <a:off x="2103120" y="4745736"/>
            <a:ext cx="15544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cartilage</a:t>
            </a:r>
            <a:endParaRPr lang="en-US" sz="1050" dirty="0"/>
          </a:p>
        </p:txBody>
      </p:sp>
      <p:sp>
        <p:nvSpPr>
          <p:cNvPr id="40" name="Text 38"/>
          <p:cNvSpPr/>
          <p:nvPr/>
        </p:nvSpPr>
        <p:spPr>
          <a:xfrm>
            <a:off x="3703320" y="4745736"/>
            <a:ext cx="20116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bone</a:t>
            </a:r>
            <a:endParaRPr lang="en-US" sz="1050" dirty="0"/>
          </a:p>
        </p:txBody>
      </p:sp>
      <p:sp>
        <p:nvSpPr>
          <p:cNvPr id="41" name="Text 39"/>
          <p:cNvSpPr/>
          <p:nvPr/>
        </p:nvSpPr>
        <p:spPr>
          <a:xfrm>
            <a:off x="640080" y="5001768"/>
            <a:ext cx="1417320" cy="256032"/>
          </a:xfrm>
          <a:prstGeom prst="rect">
            <a:avLst/>
          </a:prstGeom>
          <a:noFill/>
          <a:ln/>
        </p:spPr>
        <p:txBody>
          <a:bodyPr wrap="square" lIns="0" tIns="0" rIns="0" bIns="0" rtlCol="0" anchor="ctr"/>
          <a:lstStyle/>
          <a:p>
            <a:pPr algn="l" indent="0" marL="0">
              <a:buNone/>
            </a:pPr>
            <a:r>
              <a:rPr lang="en-US" sz="1050" b="1" dirty="0">
                <a:solidFill>
                  <a:srgbClr val="262B3A"/>
                </a:solidFill>
                <a:latin typeface="Calibri" pitchFamily="34" charset="0"/>
                <a:ea typeface="Calibri" pitchFamily="34" charset="-122"/>
                <a:cs typeface="Calibri" pitchFamily="34" charset="-120"/>
              </a:rPr>
              <a:t>Young</a:t>
            </a:r>
            <a:endParaRPr lang="en-US" sz="1050" dirty="0"/>
          </a:p>
        </p:txBody>
      </p:sp>
      <p:sp>
        <p:nvSpPr>
          <p:cNvPr id="42" name="Text 40"/>
          <p:cNvSpPr/>
          <p:nvPr/>
        </p:nvSpPr>
        <p:spPr>
          <a:xfrm>
            <a:off x="2103120" y="5001768"/>
            <a:ext cx="15544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eggs / live</a:t>
            </a:r>
            <a:endParaRPr lang="en-US" sz="1050" dirty="0"/>
          </a:p>
        </p:txBody>
      </p:sp>
      <p:sp>
        <p:nvSpPr>
          <p:cNvPr id="43" name="Text 41"/>
          <p:cNvSpPr/>
          <p:nvPr/>
        </p:nvSpPr>
        <p:spPr>
          <a:xfrm>
            <a:off x="3703320" y="5001768"/>
            <a:ext cx="2011680" cy="256032"/>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live, fed milk</a:t>
            </a:r>
            <a:endParaRPr lang="en-US" sz="1050" dirty="0"/>
          </a:p>
        </p:txBody>
      </p:sp>
      <p:sp>
        <p:nvSpPr>
          <p:cNvPr id="44" name="Shape 42"/>
          <p:cNvSpPr/>
          <p:nvPr/>
        </p:nvSpPr>
        <p:spPr>
          <a:xfrm>
            <a:off x="640080" y="4233672"/>
            <a:ext cx="5074920" cy="91"/>
          </a:xfrm>
          <a:prstGeom prst="line">
            <a:avLst/>
          </a:prstGeom>
          <a:noFill/>
          <a:ln w="12700">
            <a:solidFill>
              <a:srgbClr val="CFE0DE"/>
            </a:solidFill>
            <a:prstDash val="solid"/>
          </a:ln>
        </p:spPr>
      </p:sp>
      <p:sp>
        <p:nvSpPr>
          <p:cNvPr id="45" name="Shape 43"/>
          <p:cNvSpPr/>
          <p:nvPr/>
        </p:nvSpPr>
        <p:spPr>
          <a:xfrm>
            <a:off x="6217920" y="1188720"/>
            <a:ext cx="5562295" cy="4526280"/>
          </a:xfrm>
          <a:prstGeom prst="roundRect">
            <a:avLst>
              <a:gd name="adj" fmla="val 1212"/>
            </a:avLst>
          </a:prstGeom>
          <a:solidFill>
            <a:srgbClr val="F4FAF9"/>
          </a:solidFill>
          <a:ln w="9525">
            <a:solidFill>
              <a:srgbClr val="CFE0DE"/>
            </a:solidFill>
            <a:prstDash val="solid"/>
          </a:ln>
        </p:spPr>
      </p:sp>
      <p:sp>
        <p:nvSpPr>
          <p:cNvPr id="46" name="Text 4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Convergent evolution</a:t>
            </a:r>
            <a:endParaRPr lang="en-US" sz="1300" dirty="0"/>
          </a:p>
        </p:txBody>
      </p:sp>
      <p:sp>
        <p:nvSpPr>
          <p:cNvPr id="47" name="Text 45"/>
          <p:cNvSpPr/>
          <p:nvPr/>
        </p:nvSpPr>
        <p:spPr>
          <a:xfrm>
            <a:off x="6382512" y="1609344"/>
            <a:ext cx="5233111" cy="4032504"/>
          </a:xfrm>
          <a:prstGeom prst="rect">
            <a:avLst/>
          </a:prstGeom>
          <a:noFill/>
          <a:ln/>
        </p:spPr>
        <p:txBody>
          <a:bodyPr wrap="square" lIns="0" tIns="0" rIns="0" bIns="0" rtlCol="0" anchor="t"/>
          <a:lstStyle/>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Sharks and dolphins have the same </a:t>
            </a:r>
            <a:r>
              <a:rPr lang="en-US" sz="1200" b="1" dirty="0">
                <a:solidFill>
                  <a:srgbClr val="262B3A"/>
                </a:solidFill>
                <a:latin typeface="Calibri" pitchFamily="34" charset="0"/>
                <a:ea typeface="Calibri" pitchFamily="34" charset="-122"/>
                <a:cs typeface="Calibri" pitchFamily="34" charset="-120"/>
              </a:rPr>
              <a:t>streamlined</a:t>
            </a:r>
            <a:r>
              <a:rPr lang="en-US" sz="1200" dirty="0">
                <a:solidFill>
                  <a:srgbClr val="262B3A"/>
                </a:solidFill>
                <a:latin typeface="Calibri" pitchFamily="34" charset="0"/>
                <a:ea typeface="Calibri" pitchFamily="34" charset="-122"/>
                <a:cs typeface="Calibri" pitchFamily="34" charset="-120"/>
              </a:rPr>
              <a:t> shape and fins, because both are adapted to fast swimming.</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This is </a:t>
            </a:r>
            <a:r>
              <a:rPr lang="en-US" sz="1200" b="1" dirty="0">
                <a:solidFill>
                  <a:srgbClr val="262B3A"/>
                </a:solidFill>
                <a:latin typeface="Calibri" pitchFamily="34" charset="0"/>
                <a:ea typeface="Calibri" pitchFamily="34" charset="-122"/>
                <a:cs typeface="Calibri" pitchFamily="34" charset="-120"/>
              </a:rPr>
              <a:t>convergent evolution</a:t>
            </a:r>
            <a:r>
              <a:rPr lang="en-US" sz="1200" dirty="0">
                <a:solidFill>
                  <a:srgbClr val="262B3A"/>
                </a:solidFill>
                <a:latin typeface="Calibri" pitchFamily="34" charset="0"/>
                <a:ea typeface="Calibri" pitchFamily="34" charset="-122"/>
                <a:cs typeface="Calibri" pitchFamily="34" charset="-120"/>
              </a:rPr>
              <a:t>: unrelated organisms evolve </a:t>
            </a:r>
            <a:r>
              <a:rPr lang="en-US" sz="1200" b="1" dirty="0">
                <a:solidFill>
                  <a:srgbClr val="262B3A"/>
                </a:solidFill>
                <a:latin typeface="Calibri" pitchFamily="34" charset="0"/>
                <a:ea typeface="Calibri" pitchFamily="34" charset="-122"/>
                <a:cs typeface="Calibri" pitchFamily="34" charset="-120"/>
              </a:rPr>
              <a:t>similar features</a:t>
            </a:r>
            <a:r>
              <a:rPr lang="en-US" sz="1200" dirty="0">
                <a:solidFill>
                  <a:srgbClr val="262B3A"/>
                </a:solidFill>
                <a:latin typeface="Calibri" pitchFamily="34" charset="0"/>
                <a:ea typeface="Calibri" pitchFamily="34" charset="-122"/>
                <a:cs typeface="Calibri" pitchFamily="34" charset="-120"/>
              </a:rPr>
              <a:t> because they live in </a:t>
            </a:r>
            <a:r>
              <a:rPr lang="en-US" sz="1200" b="1" dirty="0">
                <a:solidFill>
                  <a:srgbClr val="262B3A"/>
                </a:solidFill>
                <a:latin typeface="Calibri" pitchFamily="34" charset="0"/>
                <a:ea typeface="Calibri" pitchFamily="34" charset="-122"/>
                <a:cs typeface="Calibri" pitchFamily="34" charset="-120"/>
              </a:rPr>
              <a:t>similar environments</a:t>
            </a:r>
            <a:r>
              <a:rPr lang="en-US" sz="1200" dirty="0">
                <a:solidFill>
                  <a:srgbClr val="262B3A"/>
                </a:solidFill>
                <a:latin typeface="Calibri" pitchFamily="34" charset="0"/>
                <a:ea typeface="Calibri" pitchFamily="34" charset="-122"/>
                <a:cs typeface="Calibri" pitchFamily="34" charset="-120"/>
              </a:rPr>
              <a:t>.</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An artificial system based on shape would put them together. But dolphins share far more with </a:t>
            </a:r>
            <a:r>
              <a:rPr lang="en-US" sz="1200" b="1" dirty="0">
                <a:solidFill>
                  <a:srgbClr val="262B3A"/>
                </a:solidFill>
                <a:latin typeface="Calibri" pitchFamily="34" charset="0"/>
                <a:ea typeface="Calibri" pitchFamily="34" charset="-122"/>
                <a:cs typeface="Calibri" pitchFamily="34" charset="-120"/>
              </a:rPr>
              <a:t>mammals</a:t>
            </a:r>
            <a:r>
              <a:rPr lang="en-US" sz="1200" dirty="0">
                <a:solidFill>
                  <a:srgbClr val="262B3A"/>
                </a:solidFill>
                <a:latin typeface="Calibri" pitchFamily="34" charset="0"/>
                <a:ea typeface="Calibri" pitchFamily="34" charset="-122"/>
                <a:cs typeface="Calibri" pitchFamily="34" charset="-120"/>
              </a:rPr>
              <a:t> (lungs, hair at birth, milk).</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So classifiers need </a:t>
            </a:r>
            <a:r>
              <a:rPr lang="en-US" sz="1200" b="1" dirty="0">
                <a:solidFill>
                  <a:srgbClr val="262B3A"/>
                </a:solidFill>
                <a:latin typeface="Calibri" pitchFamily="34" charset="0"/>
                <a:ea typeface="Calibri" pitchFamily="34" charset="-122"/>
                <a:cs typeface="Calibri" pitchFamily="34" charset="-120"/>
              </a:rPr>
              <a:t>many features</a:t>
            </a:r>
            <a:r>
              <a:rPr lang="en-US" sz="1200" dirty="0">
                <a:solidFill>
                  <a:srgbClr val="262B3A"/>
                </a:solidFill>
                <a:latin typeface="Calibri" pitchFamily="34" charset="0"/>
                <a:ea typeface="Calibri" pitchFamily="34" charset="-122"/>
                <a:cs typeface="Calibri" pitchFamily="34" charset="-120"/>
              </a:rPr>
              <a:t>, internal structure, cells and, best of all, </a:t>
            </a:r>
            <a:r>
              <a:rPr lang="en-US" sz="1200" b="1" dirty="0">
                <a:solidFill>
                  <a:srgbClr val="262B3A"/>
                </a:solidFill>
                <a:latin typeface="Calibri" pitchFamily="34" charset="0"/>
                <a:ea typeface="Calibri" pitchFamily="34" charset="-122"/>
                <a:cs typeface="Calibri" pitchFamily="34" charset="-120"/>
              </a:rPr>
              <a:t>DNA</a:t>
            </a:r>
            <a:r>
              <a:rPr lang="en-US" sz="1200" dirty="0">
                <a:solidFill>
                  <a:srgbClr val="262B3A"/>
                </a:solidFill>
                <a:latin typeface="Calibri" pitchFamily="34" charset="0"/>
                <a:ea typeface="Calibri" pitchFamily="34" charset="-122"/>
                <a:cs typeface="Calibri" pitchFamily="34" charset="-120"/>
              </a:rPr>
              <a:t>, not just appearance.</a:t>
            </a:r>
            <a:endParaRPr lang="en-US" sz="1200" dirty="0"/>
          </a:p>
          <a:p>
            <a:pPr marL="152400" indent="-152400">
              <a:spcAft>
                <a:spcPts val="300"/>
              </a:spcAft>
              <a:buSzPct val="100000"/>
              <a:buChar char="▪"/>
            </a:pPr>
            <a:r>
              <a:rPr lang="en-US" sz="1200" dirty="0">
                <a:solidFill>
                  <a:srgbClr val="262B3A"/>
                </a:solidFill>
                <a:latin typeface="Calibri" pitchFamily="34" charset="0"/>
                <a:ea typeface="Calibri" pitchFamily="34" charset="-122"/>
                <a:cs typeface="Calibri" pitchFamily="34" charset="-120"/>
              </a:rPr>
              <a:t>The opposite also happens: very different-looking organisms (e.g. dog breeds) can be the </a:t>
            </a:r>
            <a:r>
              <a:rPr lang="en-US" sz="1200" b="1" dirty="0">
                <a:solidFill>
                  <a:srgbClr val="262B3A"/>
                </a:solidFill>
                <a:latin typeface="Calibri" pitchFamily="34" charset="0"/>
                <a:ea typeface="Calibri" pitchFamily="34" charset="-122"/>
                <a:cs typeface="Calibri" pitchFamily="34" charset="-120"/>
              </a:rPr>
              <a:t>same species</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48" name="Shape 46"/>
          <p:cNvSpPr/>
          <p:nvPr/>
        </p:nvSpPr>
        <p:spPr>
          <a:xfrm>
            <a:off x="411480" y="5833872"/>
            <a:ext cx="11368735" cy="530352"/>
          </a:xfrm>
          <a:prstGeom prst="rect">
            <a:avLst/>
          </a:prstGeom>
          <a:solidFill>
            <a:srgbClr val="FFF4E0"/>
          </a:solidFill>
          <a:ln w="6350">
            <a:solidFill>
              <a:srgbClr val="F1D9A8"/>
            </a:solidFill>
            <a:prstDash val="solid"/>
          </a:ln>
        </p:spPr>
      </p:sp>
      <p:sp>
        <p:nvSpPr>
          <p:cNvPr id="49" name="Shape 47"/>
          <p:cNvSpPr/>
          <p:nvPr/>
        </p:nvSpPr>
        <p:spPr>
          <a:xfrm>
            <a:off x="411480" y="5833872"/>
            <a:ext cx="82296" cy="530352"/>
          </a:xfrm>
          <a:prstGeom prst="rect">
            <a:avLst/>
          </a:prstGeom>
          <a:solidFill>
            <a:srgbClr val="E39A2F"/>
          </a:solidFill>
          <a:ln w="12700">
            <a:solidFill>
              <a:srgbClr val="E39A2F"/>
            </a:solidFill>
            <a:prstDash val="solid"/>
          </a:ln>
        </p:spPr>
      </p:sp>
      <p:sp>
        <p:nvSpPr>
          <p:cNvPr id="50" name="Text 4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Bats and birds both have wings. Explain why bats are classified as </a:t>
            </a:r>
            <a:r>
              <a:rPr lang="en-US" sz="1150" b="1" dirty="0">
                <a:solidFill>
                  <a:srgbClr val="262B3A"/>
                </a:solidFill>
                <a:latin typeface="Calibri" pitchFamily="34" charset="0"/>
                <a:ea typeface="Calibri" pitchFamily="34" charset="-122"/>
                <a:cs typeface="Calibri" pitchFamily="34" charset="-120"/>
              </a:rPr>
              <a:t>mammals</a:t>
            </a:r>
            <a:r>
              <a:rPr lang="en-US" sz="1150" dirty="0">
                <a:solidFill>
                  <a:srgbClr val="262B3A"/>
                </a:solidFill>
                <a:latin typeface="Calibri" pitchFamily="34" charset="0"/>
                <a:ea typeface="Calibri" pitchFamily="34" charset="-122"/>
                <a:cs typeface="Calibri" pitchFamily="34" charset="-120"/>
              </a:rPr>
              <a:t> and not birds.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Microscopes and the five kingdoms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seeing inside cells changed how life was grouped</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9</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icons of the five kingdoms (Whittaker, 1969); cells not to scale</a:t>
            </a:r>
            <a:endParaRPr lang="en-US" sz="1000" dirty="0"/>
          </a:p>
        </p:txBody>
      </p:sp>
      <p:sp>
        <p:nvSpPr>
          <p:cNvPr id="10" name="Text 8"/>
          <p:cNvSpPr/>
          <p:nvPr/>
        </p:nvSpPr>
        <p:spPr>
          <a:xfrm>
            <a:off x="566928" y="1298448"/>
            <a:ext cx="5212080" cy="237744"/>
          </a:xfrm>
          <a:prstGeom prst="rect">
            <a:avLst/>
          </a:prstGeom>
          <a:noFill/>
          <a:ln/>
        </p:spPr>
        <p:txBody>
          <a:bodyPr wrap="square" lIns="0" tIns="0" rIns="0" bIns="0" rtlCol="0" anchor="ctr"/>
          <a:lstStyle/>
          <a:p>
            <a:pPr algn="ctr" indent="0" marL="0">
              <a:buNone/>
            </a:pPr>
            <a:r>
              <a:rPr lang="en-US" sz="1050" b="1" dirty="0">
                <a:solidFill>
                  <a:srgbClr val="133536"/>
                </a:solidFill>
                <a:latin typeface="Calibri" pitchFamily="34" charset="0"/>
                <a:ea typeface="Calibri" pitchFamily="34" charset="-122"/>
                <a:cs typeface="Calibri" pitchFamily="34" charset="-120"/>
              </a:rPr>
              <a:t>Prokaryotes</a:t>
            </a:r>
            <a:r>
              <a:rPr lang="en-US" sz="1050" dirty="0">
                <a:solidFill>
                  <a:srgbClr val="133536"/>
                </a:solidFill>
                <a:latin typeface="Calibri" pitchFamily="34" charset="0"/>
                <a:ea typeface="Calibri" pitchFamily="34" charset="-122"/>
                <a:cs typeface="Calibri" pitchFamily="34" charset="-120"/>
              </a:rPr>
              <a:t>: no nucleus  |  </a:t>
            </a:r>
            <a:r>
              <a:rPr lang="en-US" sz="1050" b="1" dirty="0">
                <a:solidFill>
                  <a:srgbClr val="133536"/>
                </a:solidFill>
                <a:latin typeface="Calibri" pitchFamily="34" charset="0"/>
                <a:ea typeface="Calibri" pitchFamily="34" charset="-122"/>
                <a:cs typeface="Calibri" pitchFamily="34" charset="-120"/>
              </a:rPr>
              <a:t>Eukaryotes</a:t>
            </a:r>
            <a:r>
              <a:rPr lang="en-US" sz="1050" dirty="0">
                <a:solidFill>
                  <a:srgbClr val="133536"/>
                </a:solidFill>
                <a:latin typeface="Calibri" pitchFamily="34" charset="0"/>
                <a:ea typeface="Calibri" pitchFamily="34" charset="-122"/>
                <a:cs typeface="Calibri" pitchFamily="34" charset="-120"/>
              </a:rPr>
              <a:t>: nucleus (the other four)</a:t>
            </a:r>
            <a:endParaRPr lang="en-US" sz="1050" dirty="0"/>
          </a:p>
        </p:txBody>
      </p:sp>
      <p:sp>
        <p:nvSpPr>
          <p:cNvPr id="11" name="Shape 9"/>
          <p:cNvSpPr/>
          <p:nvPr/>
        </p:nvSpPr>
        <p:spPr>
          <a:xfrm>
            <a:off x="566928" y="1600200"/>
            <a:ext cx="978408" cy="3520440"/>
          </a:xfrm>
          <a:prstGeom prst="roundRect">
            <a:avLst>
              <a:gd name="adj" fmla="val 4673"/>
            </a:avLst>
          </a:prstGeom>
          <a:solidFill>
            <a:srgbClr val="FBF3DF">
              <a:alpha val="70000"/>
            </a:srgbClr>
          </a:solidFill>
          <a:ln w="15875">
            <a:solidFill>
              <a:srgbClr val="8A6D3B"/>
            </a:solidFill>
            <a:prstDash val="solid"/>
          </a:ln>
        </p:spPr>
      </p:sp>
      <p:sp>
        <p:nvSpPr>
          <p:cNvPr id="12" name="Shape 10"/>
          <p:cNvSpPr/>
          <p:nvPr/>
        </p:nvSpPr>
        <p:spPr>
          <a:xfrm>
            <a:off x="1600200" y="1600200"/>
            <a:ext cx="4078224" cy="3520440"/>
          </a:xfrm>
          <a:prstGeom prst="roundRect">
            <a:avLst>
              <a:gd name="adj" fmla="val 1299"/>
            </a:avLst>
          </a:prstGeom>
          <a:solidFill>
            <a:srgbClr val="EDE5F7">
              <a:alpha val="70000"/>
            </a:srgbClr>
          </a:solidFill>
          <a:ln w="15875">
            <a:solidFill>
              <a:srgbClr val="6A4C93"/>
            </a:solidFill>
            <a:prstDash val="solid"/>
          </a:ln>
        </p:spPr>
      </p:sp>
      <p:sp>
        <p:nvSpPr>
          <p:cNvPr id="13" name="Shape 11"/>
          <p:cNvSpPr/>
          <p:nvPr/>
        </p:nvSpPr>
        <p:spPr>
          <a:xfrm>
            <a:off x="644652" y="1947672"/>
            <a:ext cx="822960" cy="402336"/>
          </a:xfrm>
          <a:prstGeom prst="roundRect">
            <a:avLst>
              <a:gd name="adj" fmla="val 45455"/>
            </a:avLst>
          </a:prstGeom>
          <a:solidFill>
            <a:srgbClr val="F4E9C9"/>
          </a:solidFill>
          <a:ln w="25400">
            <a:solidFill>
              <a:srgbClr val="8A6D3B"/>
            </a:solidFill>
            <a:prstDash val="solid"/>
          </a:ln>
        </p:spPr>
      </p:sp>
      <p:sp>
        <p:nvSpPr>
          <p:cNvPr id="14" name="Shape 12"/>
          <p:cNvSpPr/>
          <p:nvPr/>
        </p:nvSpPr>
        <p:spPr>
          <a:xfrm>
            <a:off x="818388" y="2048256"/>
            <a:ext cx="384048" cy="201168"/>
          </a:xfrm>
          <a:prstGeom prst="ellipse">
            <a:avLst/>
          </a:prstGeom>
          <a:ln w="19050">
            <a:solidFill>
              <a:srgbClr val="6A4C93"/>
            </a:solidFill>
            <a:prstDash val="solid"/>
          </a:ln>
        </p:spPr>
      </p:sp>
      <p:sp>
        <p:nvSpPr>
          <p:cNvPr id="15" name="Shape 13"/>
          <p:cNvSpPr/>
          <p:nvPr/>
        </p:nvSpPr>
        <p:spPr>
          <a:xfrm>
            <a:off x="1266444" y="2048256"/>
            <a:ext cx="91440" cy="73152"/>
          </a:xfrm>
          <a:prstGeom prst="ellipse">
            <a:avLst/>
          </a:prstGeom>
          <a:ln w="12700">
            <a:solidFill>
              <a:srgbClr val="6A4C93"/>
            </a:solidFill>
            <a:prstDash val="solid"/>
          </a:ln>
        </p:spPr>
      </p:sp>
      <p:sp>
        <p:nvSpPr>
          <p:cNvPr id="16" name="Shape 14"/>
          <p:cNvSpPr/>
          <p:nvPr/>
        </p:nvSpPr>
        <p:spPr>
          <a:xfrm>
            <a:off x="1467612" y="2148840"/>
            <a:ext cx="155448" cy="54864"/>
          </a:xfrm>
          <a:prstGeom prst="line">
            <a:avLst/>
          </a:prstGeom>
          <a:noFill/>
          <a:ln w="15875">
            <a:solidFill>
              <a:srgbClr val="8A6D3B"/>
            </a:solidFill>
            <a:prstDash val="solid"/>
          </a:ln>
        </p:spPr>
      </p:sp>
      <p:sp>
        <p:nvSpPr>
          <p:cNvPr id="17" name="Text 15"/>
          <p:cNvSpPr/>
          <p:nvPr/>
        </p:nvSpPr>
        <p:spPr>
          <a:xfrm>
            <a:off x="553212" y="2651760"/>
            <a:ext cx="10058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Prokaryotes</a:t>
            </a:r>
            <a:endParaRPr lang="en-US" sz="1100" dirty="0"/>
          </a:p>
        </p:txBody>
      </p:sp>
      <p:sp>
        <p:nvSpPr>
          <p:cNvPr id="18" name="Text 16"/>
          <p:cNvSpPr/>
          <p:nvPr/>
        </p:nvSpPr>
        <p:spPr>
          <a:xfrm>
            <a:off x="553212" y="29718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nucleus</a:t>
            </a:r>
            <a:endParaRPr lang="en-US" sz="1000" dirty="0"/>
          </a:p>
        </p:txBody>
      </p:sp>
      <p:sp>
        <p:nvSpPr>
          <p:cNvPr id="19" name="Text 17"/>
          <p:cNvSpPr/>
          <p:nvPr/>
        </p:nvSpPr>
        <p:spPr>
          <a:xfrm>
            <a:off x="553212" y="31729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no</a:t>
            </a:r>
            <a:endParaRPr lang="en-US" sz="1050" dirty="0"/>
          </a:p>
        </p:txBody>
      </p:sp>
      <p:sp>
        <p:nvSpPr>
          <p:cNvPr id="20" name="Text 18"/>
          <p:cNvSpPr/>
          <p:nvPr/>
        </p:nvSpPr>
        <p:spPr>
          <a:xfrm>
            <a:off x="553212" y="36576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cell wall</a:t>
            </a:r>
            <a:endParaRPr lang="en-US" sz="1000" dirty="0"/>
          </a:p>
        </p:txBody>
      </p:sp>
      <p:sp>
        <p:nvSpPr>
          <p:cNvPr id="21" name="Text 19"/>
          <p:cNvSpPr/>
          <p:nvPr/>
        </p:nvSpPr>
        <p:spPr>
          <a:xfrm>
            <a:off x="553212" y="38587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some</a:t>
            </a:r>
            <a:endParaRPr lang="en-US" sz="1050" dirty="0"/>
          </a:p>
        </p:txBody>
      </p:sp>
      <p:sp>
        <p:nvSpPr>
          <p:cNvPr id="22" name="Text 20"/>
          <p:cNvSpPr/>
          <p:nvPr/>
        </p:nvSpPr>
        <p:spPr>
          <a:xfrm>
            <a:off x="553212" y="43434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nutrition</a:t>
            </a:r>
            <a:endParaRPr lang="en-US" sz="1000" dirty="0"/>
          </a:p>
        </p:txBody>
      </p:sp>
      <p:sp>
        <p:nvSpPr>
          <p:cNvPr id="23" name="Text 21"/>
          <p:cNvSpPr/>
          <p:nvPr/>
        </p:nvSpPr>
        <p:spPr>
          <a:xfrm>
            <a:off x="553212" y="45445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many ways</a:t>
            </a:r>
            <a:endParaRPr lang="en-US" sz="1050" dirty="0"/>
          </a:p>
        </p:txBody>
      </p:sp>
      <p:sp>
        <p:nvSpPr>
          <p:cNvPr id="24" name="Shape 22"/>
          <p:cNvSpPr/>
          <p:nvPr/>
        </p:nvSpPr>
        <p:spPr>
          <a:xfrm>
            <a:off x="1705356" y="1874520"/>
            <a:ext cx="768096" cy="530352"/>
          </a:xfrm>
          <a:custGeom>
            <a:avLst/>
            <a:gdLst/>
            <a:ahLst/>
            <a:cxnLst/>
            <a:rect l="l" t="t" r="r" b="b"/>
            <a:pathLst>
              <a:path w="768096" h="530352">
                <a:moveTo>
                  <a:pt x="0" y="274320"/>
                </a:moveTo>
                <a:lnTo>
                  <a:pt x="201168" y="18288"/>
                </a:lnTo>
                <a:lnTo>
                  <a:pt x="475488" y="73152"/>
                </a:lnTo>
                <a:lnTo>
                  <a:pt x="768096" y="0"/>
                </a:lnTo>
                <a:lnTo>
                  <a:pt x="658368" y="320040"/>
                </a:lnTo>
                <a:lnTo>
                  <a:pt x="731520" y="521208"/>
                </a:lnTo>
                <a:lnTo>
                  <a:pt x="338328" y="475488"/>
                </a:lnTo>
                <a:lnTo>
                  <a:pt x="109728" y="530352"/>
                </a:lnTo>
                <a:close/>
              </a:path>
            </a:pathLst>
          </a:custGeom>
          <a:solidFill>
            <a:srgbClr val="E8F0D8"/>
          </a:solidFill>
          <a:ln w="19050">
            <a:solidFill>
              <a:srgbClr val="6E8B3D"/>
            </a:solidFill>
            <a:prstDash val="solid"/>
          </a:ln>
        </p:spPr>
      </p:sp>
      <p:sp>
        <p:nvSpPr>
          <p:cNvPr id="25" name="Shape 23"/>
          <p:cNvSpPr/>
          <p:nvPr/>
        </p:nvSpPr>
        <p:spPr>
          <a:xfrm>
            <a:off x="1979676" y="2057400"/>
            <a:ext cx="182880" cy="182880"/>
          </a:xfrm>
          <a:prstGeom prst="ellipse">
            <a:avLst/>
          </a:prstGeom>
          <a:solidFill>
            <a:srgbClr val="C9B6E4"/>
          </a:solidFill>
          <a:ln w="12700">
            <a:solidFill>
              <a:srgbClr val="6A4C93"/>
            </a:solidFill>
            <a:prstDash val="solid"/>
          </a:ln>
        </p:spPr>
      </p:sp>
      <p:sp>
        <p:nvSpPr>
          <p:cNvPr id="26" name="Shape 24"/>
          <p:cNvSpPr/>
          <p:nvPr/>
        </p:nvSpPr>
        <p:spPr>
          <a:xfrm>
            <a:off x="2244852" y="2011680"/>
            <a:ext cx="91440" cy="91440"/>
          </a:xfrm>
          <a:prstGeom prst="ellipse">
            <a:avLst/>
          </a:prstGeom>
          <a:solidFill>
            <a:srgbClr val="DDEFF7"/>
          </a:solidFill>
          <a:ln w="9525">
            <a:solidFill>
              <a:srgbClr val="7FA9C4"/>
            </a:solidFill>
            <a:prstDash val="solid"/>
          </a:ln>
        </p:spPr>
      </p:sp>
      <p:sp>
        <p:nvSpPr>
          <p:cNvPr id="27" name="Text 25"/>
          <p:cNvSpPr/>
          <p:nvPr/>
        </p:nvSpPr>
        <p:spPr>
          <a:xfrm>
            <a:off x="1586484" y="2651760"/>
            <a:ext cx="10058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Protists</a:t>
            </a:r>
            <a:endParaRPr lang="en-US" sz="1100" dirty="0"/>
          </a:p>
        </p:txBody>
      </p:sp>
      <p:sp>
        <p:nvSpPr>
          <p:cNvPr id="28" name="Text 26"/>
          <p:cNvSpPr/>
          <p:nvPr/>
        </p:nvSpPr>
        <p:spPr>
          <a:xfrm>
            <a:off x="1586484" y="29718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nucleus</a:t>
            </a:r>
            <a:endParaRPr lang="en-US" sz="1000" dirty="0"/>
          </a:p>
        </p:txBody>
      </p:sp>
      <p:sp>
        <p:nvSpPr>
          <p:cNvPr id="29" name="Text 27"/>
          <p:cNvSpPr/>
          <p:nvPr/>
        </p:nvSpPr>
        <p:spPr>
          <a:xfrm>
            <a:off x="1586484" y="31729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yes</a:t>
            </a:r>
            <a:endParaRPr lang="en-US" sz="1050" dirty="0"/>
          </a:p>
        </p:txBody>
      </p:sp>
      <p:sp>
        <p:nvSpPr>
          <p:cNvPr id="30" name="Text 28"/>
          <p:cNvSpPr/>
          <p:nvPr/>
        </p:nvSpPr>
        <p:spPr>
          <a:xfrm>
            <a:off x="1586484" y="36576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cell wall</a:t>
            </a:r>
            <a:endParaRPr lang="en-US" sz="1000" dirty="0"/>
          </a:p>
        </p:txBody>
      </p:sp>
      <p:sp>
        <p:nvSpPr>
          <p:cNvPr id="31" name="Text 29"/>
          <p:cNvSpPr/>
          <p:nvPr/>
        </p:nvSpPr>
        <p:spPr>
          <a:xfrm>
            <a:off x="1586484" y="38587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some</a:t>
            </a:r>
            <a:endParaRPr lang="en-US" sz="1050" dirty="0"/>
          </a:p>
        </p:txBody>
      </p:sp>
      <p:sp>
        <p:nvSpPr>
          <p:cNvPr id="32" name="Text 30"/>
          <p:cNvSpPr/>
          <p:nvPr/>
        </p:nvSpPr>
        <p:spPr>
          <a:xfrm>
            <a:off x="1586484" y="43434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nutrition</a:t>
            </a:r>
            <a:endParaRPr lang="en-US" sz="1000" dirty="0"/>
          </a:p>
        </p:txBody>
      </p:sp>
      <p:sp>
        <p:nvSpPr>
          <p:cNvPr id="33" name="Text 31"/>
          <p:cNvSpPr/>
          <p:nvPr/>
        </p:nvSpPr>
        <p:spPr>
          <a:xfrm>
            <a:off x="1586484" y="45445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many ways</a:t>
            </a:r>
            <a:endParaRPr lang="en-US" sz="1050" dirty="0"/>
          </a:p>
        </p:txBody>
      </p:sp>
      <p:sp>
        <p:nvSpPr>
          <p:cNvPr id="34" name="Shape 32"/>
          <p:cNvSpPr/>
          <p:nvPr/>
        </p:nvSpPr>
        <p:spPr>
          <a:xfrm>
            <a:off x="3049524" y="2103120"/>
            <a:ext cx="146304" cy="292608"/>
          </a:xfrm>
          <a:prstGeom prst="rect">
            <a:avLst/>
          </a:prstGeom>
          <a:solidFill>
            <a:srgbClr val="F2E6D0"/>
          </a:solidFill>
          <a:ln w="15875">
            <a:solidFill>
              <a:srgbClr val="9A7B55"/>
            </a:solidFill>
            <a:prstDash val="solid"/>
          </a:ln>
        </p:spPr>
      </p:sp>
      <p:sp>
        <p:nvSpPr>
          <p:cNvPr id="35" name="Shape 33"/>
          <p:cNvSpPr/>
          <p:nvPr/>
        </p:nvSpPr>
        <p:spPr>
          <a:xfrm>
            <a:off x="2775204" y="1856232"/>
            <a:ext cx="694944" cy="548640"/>
          </a:xfrm>
          <a:prstGeom prst="chord">
            <a:avLst>
              <a:gd name="adj1" fmla="val 10800000"/>
              <a:gd name="adj2" fmla="val 0"/>
            </a:avLst>
          </a:prstGeom>
          <a:solidFill>
            <a:srgbClr val="C98A54"/>
          </a:solidFill>
          <a:ln w="15875">
            <a:solidFill>
              <a:srgbClr val="8A5A30"/>
            </a:solidFill>
            <a:prstDash val="solid"/>
          </a:ln>
        </p:spPr>
      </p:sp>
      <p:sp>
        <p:nvSpPr>
          <p:cNvPr id="36" name="Shape 34"/>
          <p:cNvSpPr/>
          <p:nvPr/>
        </p:nvSpPr>
        <p:spPr>
          <a:xfrm>
            <a:off x="2711196" y="2404872"/>
            <a:ext cx="274320" cy="73152"/>
          </a:xfrm>
          <a:prstGeom prst="line">
            <a:avLst/>
          </a:prstGeom>
          <a:noFill/>
          <a:ln w="12700">
            <a:solidFill>
              <a:srgbClr val="9A7B55"/>
            </a:solidFill>
            <a:prstDash val="solid"/>
          </a:ln>
        </p:spPr>
      </p:sp>
      <p:sp>
        <p:nvSpPr>
          <p:cNvPr id="37" name="Shape 35"/>
          <p:cNvSpPr/>
          <p:nvPr/>
        </p:nvSpPr>
        <p:spPr>
          <a:xfrm flipH="1">
            <a:off x="3259836" y="2404872"/>
            <a:ext cx="274320" cy="73152"/>
          </a:xfrm>
          <a:prstGeom prst="line">
            <a:avLst/>
          </a:prstGeom>
          <a:noFill/>
          <a:ln w="12700">
            <a:solidFill>
              <a:srgbClr val="9A7B55"/>
            </a:solidFill>
            <a:prstDash val="solid"/>
          </a:ln>
        </p:spPr>
      </p:sp>
      <p:sp>
        <p:nvSpPr>
          <p:cNvPr id="38" name="Text 36"/>
          <p:cNvSpPr/>
          <p:nvPr/>
        </p:nvSpPr>
        <p:spPr>
          <a:xfrm>
            <a:off x="2619756" y="2651760"/>
            <a:ext cx="10058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Fungi</a:t>
            </a:r>
            <a:endParaRPr lang="en-US" sz="1100" dirty="0"/>
          </a:p>
        </p:txBody>
      </p:sp>
      <p:sp>
        <p:nvSpPr>
          <p:cNvPr id="39" name="Text 37"/>
          <p:cNvSpPr/>
          <p:nvPr/>
        </p:nvSpPr>
        <p:spPr>
          <a:xfrm>
            <a:off x="2619756" y="29718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nucleus</a:t>
            </a:r>
            <a:endParaRPr lang="en-US" sz="1000" dirty="0"/>
          </a:p>
        </p:txBody>
      </p:sp>
      <p:sp>
        <p:nvSpPr>
          <p:cNvPr id="40" name="Text 38"/>
          <p:cNvSpPr/>
          <p:nvPr/>
        </p:nvSpPr>
        <p:spPr>
          <a:xfrm>
            <a:off x="2619756" y="31729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yes</a:t>
            </a:r>
            <a:endParaRPr lang="en-US" sz="1050" dirty="0"/>
          </a:p>
        </p:txBody>
      </p:sp>
      <p:sp>
        <p:nvSpPr>
          <p:cNvPr id="41" name="Text 39"/>
          <p:cNvSpPr/>
          <p:nvPr/>
        </p:nvSpPr>
        <p:spPr>
          <a:xfrm>
            <a:off x="2619756" y="36576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cell wall</a:t>
            </a:r>
            <a:endParaRPr lang="en-US" sz="1000" dirty="0"/>
          </a:p>
        </p:txBody>
      </p:sp>
      <p:sp>
        <p:nvSpPr>
          <p:cNvPr id="42" name="Text 40"/>
          <p:cNvSpPr/>
          <p:nvPr/>
        </p:nvSpPr>
        <p:spPr>
          <a:xfrm>
            <a:off x="2619756" y="38587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yes (chitin)</a:t>
            </a:r>
            <a:endParaRPr lang="en-US" sz="1050" dirty="0"/>
          </a:p>
        </p:txBody>
      </p:sp>
      <p:sp>
        <p:nvSpPr>
          <p:cNvPr id="43" name="Text 41"/>
          <p:cNvSpPr/>
          <p:nvPr/>
        </p:nvSpPr>
        <p:spPr>
          <a:xfrm>
            <a:off x="2619756" y="43434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nutrition</a:t>
            </a:r>
            <a:endParaRPr lang="en-US" sz="1000" dirty="0"/>
          </a:p>
        </p:txBody>
      </p:sp>
      <p:sp>
        <p:nvSpPr>
          <p:cNvPr id="44" name="Text 42"/>
          <p:cNvSpPr/>
          <p:nvPr/>
        </p:nvSpPr>
        <p:spPr>
          <a:xfrm>
            <a:off x="2619756" y="45445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absorb food</a:t>
            </a:r>
            <a:endParaRPr lang="en-US" sz="1050" dirty="0"/>
          </a:p>
        </p:txBody>
      </p:sp>
      <p:sp>
        <p:nvSpPr>
          <p:cNvPr id="45" name="Shape 43"/>
          <p:cNvSpPr/>
          <p:nvPr/>
        </p:nvSpPr>
        <p:spPr>
          <a:xfrm flipV="1">
            <a:off x="4155948" y="1874520"/>
            <a:ext cx="91" cy="594360"/>
          </a:xfrm>
          <a:prstGeom prst="line">
            <a:avLst/>
          </a:prstGeom>
          <a:noFill/>
          <a:ln w="25400">
            <a:solidFill>
              <a:srgbClr val="3E7F2E"/>
            </a:solidFill>
            <a:prstDash val="solid"/>
          </a:ln>
        </p:spPr>
      </p:sp>
      <p:sp>
        <p:nvSpPr>
          <p:cNvPr id="46" name="Shape 44"/>
          <p:cNvSpPr/>
          <p:nvPr/>
        </p:nvSpPr>
        <p:spPr>
          <a:xfrm rot="-1500000">
            <a:off x="3790188" y="2020824"/>
            <a:ext cx="365760" cy="164592"/>
          </a:xfrm>
          <a:prstGeom prst="ellipse">
            <a:avLst/>
          </a:prstGeom>
          <a:solidFill>
            <a:srgbClr val="7DBE6A"/>
          </a:solidFill>
          <a:ln w="15875">
            <a:solidFill>
              <a:srgbClr val="3E7F2E"/>
            </a:solidFill>
            <a:prstDash val="solid"/>
          </a:ln>
        </p:spPr>
      </p:sp>
      <p:sp>
        <p:nvSpPr>
          <p:cNvPr id="47" name="Shape 45"/>
          <p:cNvSpPr/>
          <p:nvPr/>
        </p:nvSpPr>
        <p:spPr>
          <a:xfrm rot="1500000">
            <a:off x="4155948" y="1883664"/>
            <a:ext cx="365760" cy="164592"/>
          </a:xfrm>
          <a:prstGeom prst="ellipse">
            <a:avLst/>
          </a:prstGeom>
          <a:solidFill>
            <a:srgbClr val="7DBE6A"/>
          </a:solidFill>
          <a:ln w="15875">
            <a:solidFill>
              <a:srgbClr val="3E7F2E"/>
            </a:solidFill>
            <a:prstDash val="solid"/>
          </a:ln>
        </p:spPr>
      </p:sp>
      <p:sp>
        <p:nvSpPr>
          <p:cNvPr id="48" name="Shape 46"/>
          <p:cNvSpPr/>
          <p:nvPr/>
        </p:nvSpPr>
        <p:spPr>
          <a:xfrm>
            <a:off x="4082796" y="1700784"/>
            <a:ext cx="146304" cy="237744"/>
          </a:xfrm>
          <a:prstGeom prst="ellipse">
            <a:avLst/>
          </a:prstGeom>
          <a:solidFill>
            <a:srgbClr val="7DBE6A"/>
          </a:solidFill>
          <a:ln w="15875">
            <a:solidFill>
              <a:srgbClr val="3E7F2E"/>
            </a:solidFill>
            <a:prstDash val="solid"/>
          </a:ln>
        </p:spPr>
      </p:sp>
      <p:sp>
        <p:nvSpPr>
          <p:cNvPr id="49" name="Text 47"/>
          <p:cNvSpPr/>
          <p:nvPr/>
        </p:nvSpPr>
        <p:spPr>
          <a:xfrm>
            <a:off x="3653028" y="2651760"/>
            <a:ext cx="10058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Plants</a:t>
            </a:r>
            <a:endParaRPr lang="en-US" sz="1100" dirty="0"/>
          </a:p>
        </p:txBody>
      </p:sp>
      <p:sp>
        <p:nvSpPr>
          <p:cNvPr id="50" name="Text 48"/>
          <p:cNvSpPr/>
          <p:nvPr/>
        </p:nvSpPr>
        <p:spPr>
          <a:xfrm>
            <a:off x="3653028" y="29718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nucleus</a:t>
            </a:r>
            <a:endParaRPr lang="en-US" sz="1000" dirty="0"/>
          </a:p>
        </p:txBody>
      </p:sp>
      <p:sp>
        <p:nvSpPr>
          <p:cNvPr id="51" name="Text 49"/>
          <p:cNvSpPr/>
          <p:nvPr/>
        </p:nvSpPr>
        <p:spPr>
          <a:xfrm>
            <a:off x="3653028" y="31729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yes</a:t>
            </a:r>
            <a:endParaRPr lang="en-US" sz="1050" dirty="0"/>
          </a:p>
        </p:txBody>
      </p:sp>
      <p:sp>
        <p:nvSpPr>
          <p:cNvPr id="52" name="Text 50"/>
          <p:cNvSpPr/>
          <p:nvPr/>
        </p:nvSpPr>
        <p:spPr>
          <a:xfrm>
            <a:off x="3653028" y="36576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cell wall</a:t>
            </a:r>
            <a:endParaRPr lang="en-US" sz="1000" dirty="0"/>
          </a:p>
        </p:txBody>
      </p:sp>
      <p:sp>
        <p:nvSpPr>
          <p:cNvPr id="53" name="Text 51"/>
          <p:cNvSpPr/>
          <p:nvPr/>
        </p:nvSpPr>
        <p:spPr>
          <a:xfrm>
            <a:off x="3653028" y="38587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yes (cellulose)</a:t>
            </a:r>
            <a:endParaRPr lang="en-US" sz="1050" dirty="0"/>
          </a:p>
        </p:txBody>
      </p:sp>
      <p:sp>
        <p:nvSpPr>
          <p:cNvPr id="54" name="Text 52"/>
          <p:cNvSpPr/>
          <p:nvPr/>
        </p:nvSpPr>
        <p:spPr>
          <a:xfrm>
            <a:off x="3653028" y="43434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nutrition</a:t>
            </a:r>
            <a:endParaRPr lang="en-US" sz="1000" dirty="0"/>
          </a:p>
        </p:txBody>
      </p:sp>
      <p:sp>
        <p:nvSpPr>
          <p:cNvPr id="55" name="Text 53"/>
          <p:cNvSpPr/>
          <p:nvPr/>
        </p:nvSpPr>
        <p:spPr>
          <a:xfrm>
            <a:off x="3653028" y="45445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photosynthesis</a:t>
            </a:r>
            <a:endParaRPr lang="en-US" sz="1050" dirty="0"/>
          </a:p>
        </p:txBody>
      </p:sp>
      <p:sp>
        <p:nvSpPr>
          <p:cNvPr id="56" name="Shape 54"/>
          <p:cNvSpPr/>
          <p:nvPr/>
        </p:nvSpPr>
        <p:spPr>
          <a:xfrm>
            <a:off x="4823460" y="1892808"/>
            <a:ext cx="731520" cy="512064"/>
          </a:xfrm>
          <a:prstGeom prst="ellipse">
            <a:avLst/>
          </a:prstGeom>
          <a:solidFill>
            <a:srgbClr val="FBF3DF"/>
          </a:solidFill>
          <a:ln w="22225">
            <a:solidFill>
              <a:srgbClr val="8A6D3B"/>
            </a:solidFill>
            <a:prstDash val="solid"/>
          </a:ln>
        </p:spPr>
      </p:sp>
      <p:sp>
        <p:nvSpPr>
          <p:cNvPr id="57" name="Shape 55"/>
          <p:cNvSpPr/>
          <p:nvPr/>
        </p:nvSpPr>
        <p:spPr>
          <a:xfrm>
            <a:off x="5023165" y="2041307"/>
            <a:ext cx="215067" cy="215067"/>
          </a:xfrm>
          <a:prstGeom prst="ellipse">
            <a:avLst/>
          </a:prstGeom>
          <a:solidFill>
            <a:srgbClr val="C9B6E4"/>
          </a:solidFill>
          <a:ln w="15875">
            <a:solidFill>
              <a:srgbClr val="6A4C93"/>
            </a:solidFill>
            <a:prstDash val="solid"/>
          </a:ln>
        </p:spPr>
      </p:sp>
      <p:sp>
        <p:nvSpPr>
          <p:cNvPr id="58" name="Shape 56"/>
          <p:cNvSpPr/>
          <p:nvPr/>
        </p:nvSpPr>
        <p:spPr>
          <a:xfrm>
            <a:off x="5098438" y="2116580"/>
            <a:ext cx="64520" cy="64520"/>
          </a:xfrm>
          <a:prstGeom prst="ellipse">
            <a:avLst/>
          </a:prstGeom>
          <a:solidFill>
            <a:srgbClr val="6A4C93">
              <a:alpha val="60000"/>
            </a:srgbClr>
          </a:solidFill>
          <a:ln/>
        </p:spPr>
      </p:sp>
      <p:sp>
        <p:nvSpPr>
          <p:cNvPr id="59" name="Shape 57"/>
          <p:cNvSpPr/>
          <p:nvPr/>
        </p:nvSpPr>
        <p:spPr>
          <a:xfrm rot="1800000">
            <a:off x="5286146" y="2014423"/>
            <a:ext cx="128016" cy="64008"/>
          </a:xfrm>
          <a:prstGeom prst="ellipse">
            <a:avLst/>
          </a:prstGeom>
          <a:solidFill>
            <a:srgbClr val="F2B279"/>
          </a:solidFill>
          <a:ln w="15875">
            <a:solidFill>
              <a:srgbClr val="A4561C"/>
            </a:solidFill>
            <a:prstDash val="solid"/>
          </a:ln>
        </p:spPr>
      </p:sp>
      <p:sp>
        <p:nvSpPr>
          <p:cNvPr id="60" name="Shape 58"/>
          <p:cNvSpPr/>
          <p:nvPr/>
        </p:nvSpPr>
        <p:spPr>
          <a:xfrm flipH="1">
            <a:off x="5317984" y="2012469"/>
            <a:ext cx="1517" cy="31645"/>
          </a:xfrm>
          <a:prstGeom prst="line">
            <a:avLst/>
          </a:prstGeom>
          <a:noFill/>
          <a:ln w="9525">
            <a:solidFill>
              <a:srgbClr val="A4561C"/>
            </a:solidFill>
            <a:prstDash val="solid"/>
          </a:ln>
        </p:spPr>
      </p:sp>
      <p:sp>
        <p:nvSpPr>
          <p:cNvPr id="61" name="Shape 59"/>
          <p:cNvSpPr/>
          <p:nvPr/>
        </p:nvSpPr>
        <p:spPr>
          <a:xfrm flipV="1">
            <a:off x="5317984" y="2026978"/>
            <a:ext cx="26646" cy="17136"/>
          </a:xfrm>
          <a:prstGeom prst="line">
            <a:avLst/>
          </a:prstGeom>
          <a:noFill/>
          <a:ln w="9525">
            <a:solidFill>
              <a:srgbClr val="A4561C"/>
            </a:solidFill>
            <a:prstDash val="solid"/>
          </a:ln>
        </p:spPr>
      </p:sp>
      <p:sp>
        <p:nvSpPr>
          <p:cNvPr id="62" name="Shape 60"/>
          <p:cNvSpPr/>
          <p:nvPr/>
        </p:nvSpPr>
        <p:spPr>
          <a:xfrm flipH="1">
            <a:off x="5343114" y="2026978"/>
            <a:ext cx="1517" cy="31645"/>
          </a:xfrm>
          <a:prstGeom prst="line">
            <a:avLst/>
          </a:prstGeom>
          <a:noFill/>
          <a:ln w="9525">
            <a:solidFill>
              <a:srgbClr val="A4561C"/>
            </a:solidFill>
            <a:prstDash val="solid"/>
          </a:ln>
        </p:spPr>
      </p:sp>
      <p:sp>
        <p:nvSpPr>
          <p:cNvPr id="63" name="Shape 61"/>
          <p:cNvSpPr/>
          <p:nvPr/>
        </p:nvSpPr>
        <p:spPr>
          <a:xfrm flipV="1">
            <a:off x="5343114" y="2041486"/>
            <a:ext cx="26646" cy="17136"/>
          </a:xfrm>
          <a:prstGeom prst="line">
            <a:avLst/>
          </a:prstGeom>
          <a:noFill/>
          <a:ln w="9525">
            <a:solidFill>
              <a:srgbClr val="A4561C"/>
            </a:solidFill>
            <a:prstDash val="solid"/>
          </a:ln>
        </p:spPr>
      </p:sp>
      <p:sp>
        <p:nvSpPr>
          <p:cNvPr id="64" name="Shape 62"/>
          <p:cNvSpPr/>
          <p:nvPr/>
        </p:nvSpPr>
        <p:spPr>
          <a:xfrm flipH="1">
            <a:off x="5368243" y="2041486"/>
            <a:ext cx="1517" cy="31645"/>
          </a:xfrm>
          <a:prstGeom prst="line">
            <a:avLst/>
          </a:prstGeom>
          <a:noFill/>
          <a:ln w="9525">
            <a:solidFill>
              <a:srgbClr val="A4561C"/>
            </a:solidFill>
            <a:prstDash val="solid"/>
          </a:ln>
        </p:spPr>
      </p:sp>
      <p:sp>
        <p:nvSpPr>
          <p:cNvPr id="65" name="Shape 63"/>
          <p:cNvSpPr/>
          <p:nvPr/>
        </p:nvSpPr>
        <p:spPr>
          <a:xfrm flipV="1">
            <a:off x="5368243" y="2055995"/>
            <a:ext cx="26646" cy="17136"/>
          </a:xfrm>
          <a:prstGeom prst="line">
            <a:avLst/>
          </a:prstGeom>
          <a:noFill/>
          <a:ln w="9525">
            <a:solidFill>
              <a:srgbClr val="A4561C"/>
            </a:solidFill>
            <a:prstDash val="solid"/>
          </a:ln>
        </p:spPr>
      </p:sp>
      <p:sp>
        <p:nvSpPr>
          <p:cNvPr id="66" name="Shape 64"/>
          <p:cNvSpPr/>
          <p:nvPr/>
        </p:nvSpPr>
        <p:spPr>
          <a:xfrm rot="-1200000">
            <a:off x="5330038" y="2178284"/>
            <a:ext cx="128016" cy="64008"/>
          </a:xfrm>
          <a:prstGeom prst="ellipse">
            <a:avLst/>
          </a:prstGeom>
          <a:solidFill>
            <a:srgbClr val="F2B279"/>
          </a:solidFill>
          <a:ln w="15875">
            <a:solidFill>
              <a:srgbClr val="A4561C"/>
            </a:solidFill>
            <a:prstDash val="solid"/>
          </a:ln>
        </p:spPr>
      </p:sp>
      <p:sp>
        <p:nvSpPr>
          <p:cNvPr id="67" name="Shape 65"/>
          <p:cNvSpPr/>
          <p:nvPr/>
        </p:nvSpPr>
        <p:spPr>
          <a:xfrm>
            <a:off x="5348329" y="2211942"/>
            <a:ext cx="23266" cy="21503"/>
          </a:xfrm>
          <a:prstGeom prst="line">
            <a:avLst/>
          </a:prstGeom>
          <a:noFill/>
          <a:ln w="9525">
            <a:solidFill>
              <a:srgbClr val="A4561C"/>
            </a:solidFill>
            <a:prstDash val="solid"/>
          </a:ln>
        </p:spPr>
      </p:sp>
      <p:sp>
        <p:nvSpPr>
          <p:cNvPr id="68" name="Shape 66"/>
          <p:cNvSpPr/>
          <p:nvPr/>
        </p:nvSpPr>
        <p:spPr>
          <a:xfrm flipV="1">
            <a:off x="5371595" y="2202017"/>
            <a:ext cx="4001" cy="31427"/>
          </a:xfrm>
          <a:prstGeom prst="line">
            <a:avLst/>
          </a:prstGeom>
          <a:noFill/>
          <a:ln w="9525">
            <a:solidFill>
              <a:srgbClr val="A4561C"/>
            </a:solidFill>
            <a:prstDash val="solid"/>
          </a:ln>
        </p:spPr>
      </p:sp>
      <p:sp>
        <p:nvSpPr>
          <p:cNvPr id="69" name="Shape 67"/>
          <p:cNvSpPr/>
          <p:nvPr/>
        </p:nvSpPr>
        <p:spPr>
          <a:xfrm>
            <a:off x="5375596" y="2202017"/>
            <a:ext cx="23266" cy="21503"/>
          </a:xfrm>
          <a:prstGeom prst="line">
            <a:avLst/>
          </a:prstGeom>
          <a:noFill/>
          <a:ln w="9525">
            <a:solidFill>
              <a:srgbClr val="A4561C"/>
            </a:solidFill>
            <a:prstDash val="solid"/>
          </a:ln>
        </p:spPr>
      </p:sp>
      <p:sp>
        <p:nvSpPr>
          <p:cNvPr id="70" name="Shape 68"/>
          <p:cNvSpPr/>
          <p:nvPr/>
        </p:nvSpPr>
        <p:spPr>
          <a:xfrm flipV="1">
            <a:off x="5398862" y="2192093"/>
            <a:ext cx="4001" cy="31427"/>
          </a:xfrm>
          <a:prstGeom prst="line">
            <a:avLst/>
          </a:prstGeom>
          <a:noFill/>
          <a:ln w="9525">
            <a:solidFill>
              <a:srgbClr val="A4561C"/>
            </a:solidFill>
            <a:prstDash val="solid"/>
          </a:ln>
        </p:spPr>
      </p:sp>
      <p:sp>
        <p:nvSpPr>
          <p:cNvPr id="71" name="Shape 69"/>
          <p:cNvSpPr/>
          <p:nvPr/>
        </p:nvSpPr>
        <p:spPr>
          <a:xfrm>
            <a:off x="5402863" y="2192093"/>
            <a:ext cx="23266" cy="21503"/>
          </a:xfrm>
          <a:prstGeom prst="line">
            <a:avLst/>
          </a:prstGeom>
          <a:noFill/>
          <a:ln w="9525">
            <a:solidFill>
              <a:srgbClr val="A4561C"/>
            </a:solidFill>
            <a:prstDash val="solid"/>
          </a:ln>
        </p:spPr>
      </p:sp>
      <p:sp>
        <p:nvSpPr>
          <p:cNvPr id="72" name="Shape 70"/>
          <p:cNvSpPr/>
          <p:nvPr/>
        </p:nvSpPr>
        <p:spPr>
          <a:xfrm flipV="1">
            <a:off x="5426129" y="2182169"/>
            <a:ext cx="4001" cy="31427"/>
          </a:xfrm>
          <a:prstGeom prst="line">
            <a:avLst/>
          </a:prstGeom>
          <a:noFill/>
          <a:ln w="9525">
            <a:solidFill>
              <a:srgbClr val="A4561C"/>
            </a:solidFill>
            <a:prstDash val="solid"/>
          </a:ln>
        </p:spPr>
      </p:sp>
      <p:sp>
        <p:nvSpPr>
          <p:cNvPr id="73" name="Shape 71"/>
          <p:cNvSpPr/>
          <p:nvPr/>
        </p:nvSpPr>
        <p:spPr>
          <a:xfrm rot="600000">
            <a:off x="5125212" y="2280696"/>
            <a:ext cx="128016" cy="64008"/>
          </a:xfrm>
          <a:prstGeom prst="ellipse">
            <a:avLst/>
          </a:prstGeom>
          <a:solidFill>
            <a:srgbClr val="F2B279"/>
          </a:solidFill>
          <a:ln w="15875">
            <a:solidFill>
              <a:srgbClr val="A4561C"/>
            </a:solidFill>
            <a:prstDash val="solid"/>
          </a:ln>
        </p:spPr>
      </p:sp>
      <p:sp>
        <p:nvSpPr>
          <p:cNvPr id="74" name="Shape 72"/>
          <p:cNvSpPr/>
          <p:nvPr/>
        </p:nvSpPr>
        <p:spPr>
          <a:xfrm>
            <a:off x="5148801" y="2291275"/>
            <a:ext cx="9398" cy="30255"/>
          </a:xfrm>
          <a:prstGeom prst="line">
            <a:avLst/>
          </a:prstGeom>
          <a:noFill/>
          <a:ln w="9525">
            <a:solidFill>
              <a:srgbClr val="A4561C"/>
            </a:solidFill>
            <a:prstDash val="solid"/>
          </a:ln>
        </p:spPr>
      </p:sp>
      <p:sp>
        <p:nvSpPr>
          <p:cNvPr id="75" name="Shape 73"/>
          <p:cNvSpPr/>
          <p:nvPr/>
        </p:nvSpPr>
        <p:spPr>
          <a:xfrm flipV="1">
            <a:off x="5158199" y="2296313"/>
            <a:ext cx="19179" cy="25216"/>
          </a:xfrm>
          <a:prstGeom prst="line">
            <a:avLst/>
          </a:prstGeom>
          <a:noFill/>
          <a:ln w="9525">
            <a:solidFill>
              <a:srgbClr val="A4561C"/>
            </a:solidFill>
            <a:prstDash val="solid"/>
          </a:ln>
        </p:spPr>
      </p:sp>
      <p:sp>
        <p:nvSpPr>
          <p:cNvPr id="76" name="Shape 74"/>
          <p:cNvSpPr/>
          <p:nvPr/>
        </p:nvSpPr>
        <p:spPr>
          <a:xfrm>
            <a:off x="5177377" y="2296313"/>
            <a:ext cx="9398" cy="30255"/>
          </a:xfrm>
          <a:prstGeom prst="line">
            <a:avLst/>
          </a:prstGeom>
          <a:noFill/>
          <a:ln w="9525">
            <a:solidFill>
              <a:srgbClr val="A4561C"/>
            </a:solidFill>
            <a:prstDash val="solid"/>
          </a:ln>
        </p:spPr>
      </p:sp>
      <p:sp>
        <p:nvSpPr>
          <p:cNvPr id="77" name="Shape 75"/>
          <p:cNvSpPr/>
          <p:nvPr/>
        </p:nvSpPr>
        <p:spPr>
          <a:xfrm flipV="1">
            <a:off x="5186775" y="2301352"/>
            <a:ext cx="19179" cy="25216"/>
          </a:xfrm>
          <a:prstGeom prst="line">
            <a:avLst/>
          </a:prstGeom>
          <a:noFill/>
          <a:ln w="9525">
            <a:solidFill>
              <a:srgbClr val="A4561C"/>
            </a:solidFill>
            <a:prstDash val="solid"/>
          </a:ln>
        </p:spPr>
      </p:sp>
      <p:sp>
        <p:nvSpPr>
          <p:cNvPr id="78" name="Shape 76"/>
          <p:cNvSpPr/>
          <p:nvPr/>
        </p:nvSpPr>
        <p:spPr>
          <a:xfrm>
            <a:off x="5205953" y="2301352"/>
            <a:ext cx="9398" cy="30255"/>
          </a:xfrm>
          <a:prstGeom prst="line">
            <a:avLst/>
          </a:prstGeom>
          <a:noFill/>
          <a:ln w="9525">
            <a:solidFill>
              <a:srgbClr val="A4561C"/>
            </a:solidFill>
            <a:prstDash val="solid"/>
          </a:ln>
        </p:spPr>
      </p:sp>
      <p:sp>
        <p:nvSpPr>
          <p:cNvPr id="79" name="Shape 77"/>
          <p:cNvSpPr/>
          <p:nvPr/>
        </p:nvSpPr>
        <p:spPr>
          <a:xfrm flipV="1">
            <a:off x="5215351" y="2306391"/>
            <a:ext cx="19179" cy="25216"/>
          </a:xfrm>
          <a:prstGeom prst="line">
            <a:avLst/>
          </a:prstGeom>
          <a:noFill/>
          <a:ln w="9525">
            <a:solidFill>
              <a:srgbClr val="A4561C"/>
            </a:solidFill>
            <a:prstDash val="solid"/>
          </a:ln>
        </p:spPr>
      </p:sp>
      <p:sp>
        <p:nvSpPr>
          <p:cNvPr id="80" name="Shape 78"/>
          <p:cNvSpPr/>
          <p:nvPr/>
        </p:nvSpPr>
        <p:spPr>
          <a:xfrm rot="-2100000">
            <a:off x="4942332" y="1988820"/>
            <a:ext cx="128016" cy="64008"/>
          </a:xfrm>
          <a:prstGeom prst="ellipse">
            <a:avLst/>
          </a:prstGeom>
          <a:solidFill>
            <a:srgbClr val="F2B279"/>
          </a:solidFill>
          <a:ln w="15875">
            <a:solidFill>
              <a:srgbClr val="A4561C"/>
            </a:solidFill>
            <a:prstDash val="solid"/>
          </a:ln>
        </p:spPr>
      </p:sp>
      <p:sp>
        <p:nvSpPr>
          <p:cNvPr id="81" name="Shape 79"/>
          <p:cNvSpPr/>
          <p:nvPr/>
        </p:nvSpPr>
        <p:spPr>
          <a:xfrm>
            <a:off x="4962609" y="2034254"/>
            <a:ext cx="28039" cy="14748"/>
          </a:xfrm>
          <a:prstGeom prst="line">
            <a:avLst/>
          </a:prstGeom>
          <a:noFill/>
          <a:ln w="9525">
            <a:solidFill>
              <a:srgbClr val="A4561C"/>
            </a:solidFill>
            <a:prstDash val="solid"/>
          </a:ln>
        </p:spPr>
      </p:sp>
      <p:sp>
        <p:nvSpPr>
          <p:cNvPr id="82" name="Shape 80"/>
          <p:cNvSpPr/>
          <p:nvPr/>
        </p:nvSpPr>
        <p:spPr>
          <a:xfrm flipH="1" flipV="1">
            <a:off x="4986378" y="2017611"/>
            <a:ext cx="4269" cy="31392"/>
          </a:xfrm>
          <a:prstGeom prst="line">
            <a:avLst/>
          </a:prstGeom>
          <a:noFill/>
          <a:ln w="9525">
            <a:solidFill>
              <a:srgbClr val="A4561C"/>
            </a:solidFill>
            <a:prstDash val="solid"/>
          </a:ln>
        </p:spPr>
      </p:sp>
      <p:sp>
        <p:nvSpPr>
          <p:cNvPr id="83" name="Shape 81"/>
          <p:cNvSpPr/>
          <p:nvPr/>
        </p:nvSpPr>
        <p:spPr>
          <a:xfrm>
            <a:off x="4986378" y="2017611"/>
            <a:ext cx="28039" cy="14748"/>
          </a:xfrm>
          <a:prstGeom prst="line">
            <a:avLst/>
          </a:prstGeom>
          <a:noFill/>
          <a:ln w="9525">
            <a:solidFill>
              <a:srgbClr val="A4561C"/>
            </a:solidFill>
            <a:prstDash val="solid"/>
          </a:ln>
        </p:spPr>
      </p:sp>
      <p:sp>
        <p:nvSpPr>
          <p:cNvPr id="84" name="Shape 82"/>
          <p:cNvSpPr/>
          <p:nvPr/>
        </p:nvSpPr>
        <p:spPr>
          <a:xfrm flipH="1" flipV="1">
            <a:off x="5010148" y="2000967"/>
            <a:ext cx="4269" cy="31392"/>
          </a:xfrm>
          <a:prstGeom prst="line">
            <a:avLst/>
          </a:prstGeom>
          <a:noFill/>
          <a:ln w="9525">
            <a:solidFill>
              <a:srgbClr val="A4561C"/>
            </a:solidFill>
            <a:prstDash val="solid"/>
          </a:ln>
        </p:spPr>
      </p:sp>
      <p:sp>
        <p:nvSpPr>
          <p:cNvPr id="85" name="Shape 83"/>
          <p:cNvSpPr/>
          <p:nvPr/>
        </p:nvSpPr>
        <p:spPr>
          <a:xfrm>
            <a:off x="5010148" y="2000967"/>
            <a:ext cx="28039" cy="14748"/>
          </a:xfrm>
          <a:prstGeom prst="line">
            <a:avLst/>
          </a:prstGeom>
          <a:noFill/>
          <a:ln w="9525">
            <a:solidFill>
              <a:srgbClr val="A4561C"/>
            </a:solidFill>
            <a:prstDash val="solid"/>
          </a:ln>
        </p:spPr>
      </p:sp>
      <p:sp>
        <p:nvSpPr>
          <p:cNvPr id="86" name="Shape 84"/>
          <p:cNvSpPr/>
          <p:nvPr/>
        </p:nvSpPr>
        <p:spPr>
          <a:xfrm flipH="1" flipV="1">
            <a:off x="5033917" y="1984324"/>
            <a:ext cx="4269" cy="31392"/>
          </a:xfrm>
          <a:prstGeom prst="line">
            <a:avLst/>
          </a:prstGeom>
          <a:noFill/>
          <a:ln w="9525">
            <a:solidFill>
              <a:srgbClr val="A4561C"/>
            </a:solidFill>
            <a:prstDash val="solid"/>
          </a:ln>
        </p:spPr>
      </p:sp>
      <p:sp>
        <p:nvSpPr>
          <p:cNvPr id="87" name="Text 85"/>
          <p:cNvSpPr/>
          <p:nvPr/>
        </p:nvSpPr>
        <p:spPr>
          <a:xfrm>
            <a:off x="4686300" y="2651760"/>
            <a:ext cx="1005840" cy="256032"/>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Animals</a:t>
            </a:r>
            <a:endParaRPr lang="en-US" sz="1100" dirty="0"/>
          </a:p>
        </p:txBody>
      </p:sp>
      <p:sp>
        <p:nvSpPr>
          <p:cNvPr id="88" name="Text 86"/>
          <p:cNvSpPr/>
          <p:nvPr/>
        </p:nvSpPr>
        <p:spPr>
          <a:xfrm>
            <a:off x="4686300" y="29718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nucleus</a:t>
            </a:r>
            <a:endParaRPr lang="en-US" sz="1000" dirty="0"/>
          </a:p>
        </p:txBody>
      </p:sp>
      <p:sp>
        <p:nvSpPr>
          <p:cNvPr id="89" name="Text 87"/>
          <p:cNvSpPr/>
          <p:nvPr/>
        </p:nvSpPr>
        <p:spPr>
          <a:xfrm>
            <a:off x="4686300" y="31729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yes</a:t>
            </a:r>
            <a:endParaRPr lang="en-US" sz="1050" dirty="0"/>
          </a:p>
        </p:txBody>
      </p:sp>
      <p:sp>
        <p:nvSpPr>
          <p:cNvPr id="90" name="Text 88"/>
          <p:cNvSpPr/>
          <p:nvPr/>
        </p:nvSpPr>
        <p:spPr>
          <a:xfrm>
            <a:off x="4686300" y="36576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cell wall</a:t>
            </a:r>
            <a:endParaRPr lang="en-US" sz="1000" dirty="0"/>
          </a:p>
        </p:txBody>
      </p:sp>
      <p:sp>
        <p:nvSpPr>
          <p:cNvPr id="91" name="Text 89"/>
          <p:cNvSpPr/>
          <p:nvPr/>
        </p:nvSpPr>
        <p:spPr>
          <a:xfrm>
            <a:off x="4686300" y="38587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no</a:t>
            </a:r>
            <a:endParaRPr lang="en-US" sz="1050" dirty="0"/>
          </a:p>
        </p:txBody>
      </p:sp>
      <p:sp>
        <p:nvSpPr>
          <p:cNvPr id="92" name="Text 90"/>
          <p:cNvSpPr/>
          <p:nvPr/>
        </p:nvSpPr>
        <p:spPr>
          <a:xfrm>
            <a:off x="4686300" y="4343400"/>
            <a:ext cx="100584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nutrition</a:t>
            </a:r>
            <a:endParaRPr lang="en-US" sz="1000" dirty="0"/>
          </a:p>
        </p:txBody>
      </p:sp>
      <p:sp>
        <p:nvSpPr>
          <p:cNvPr id="93" name="Text 91"/>
          <p:cNvSpPr/>
          <p:nvPr/>
        </p:nvSpPr>
        <p:spPr>
          <a:xfrm>
            <a:off x="4686300" y="4544568"/>
            <a:ext cx="1005840" cy="384048"/>
          </a:xfrm>
          <a:prstGeom prst="rect">
            <a:avLst/>
          </a:prstGeom>
          <a:noFill/>
          <a:ln/>
        </p:spPr>
        <p:txBody>
          <a:bodyPr wrap="square" lIns="0" tIns="0" rIns="0" bIns="0" rtlCol="0" anchor="t"/>
          <a:lstStyle/>
          <a:p>
            <a:pPr algn="ctr" indent="0" marL="0">
              <a:buNone/>
            </a:pPr>
            <a:r>
              <a:rPr lang="en-US" sz="1050" b="1" dirty="0">
                <a:solidFill>
                  <a:srgbClr val="262B3A"/>
                </a:solidFill>
                <a:latin typeface="Calibri" pitchFamily="34" charset="0"/>
                <a:ea typeface="Calibri" pitchFamily="34" charset="-122"/>
                <a:cs typeface="Calibri" pitchFamily="34" charset="-120"/>
              </a:rPr>
              <a:t>eat food</a:t>
            </a:r>
            <a:endParaRPr lang="en-US" sz="1050" dirty="0"/>
          </a:p>
        </p:txBody>
      </p:sp>
      <p:sp>
        <p:nvSpPr>
          <p:cNvPr id="94" name="Shape 92"/>
          <p:cNvSpPr/>
          <p:nvPr/>
        </p:nvSpPr>
        <p:spPr>
          <a:xfrm>
            <a:off x="6217920" y="1188720"/>
            <a:ext cx="5562295" cy="3063240"/>
          </a:xfrm>
          <a:prstGeom prst="roundRect">
            <a:avLst>
              <a:gd name="adj" fmla="val 1791"/>
            </a:avLst>
          </a:prstGeom>
          <a:solidFill>
            <a:srgbClr val="F4FAF9"/>
          </a:solidFill>
          <a:ln w="9525">
            <a:solidFill>
              <a:srgbClr val="CFE0DE"/>
            </a:solidFill>
            <a:prstDash val="solid"/>
          </a:ln>
        </p:spPr>
      </p:sp>
      <p:sp>
        <p:nvSpPr>
          <p:cNvPr id="95" name="Text 9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From two kingdoms to five</a:t>
            </a:r>
            <a:endParaRPr lang="en-US" sz="1300" dirty="0"/>
          </a:p>
        </p:txBody>
      </p:sp>
      <p:sp>
        <p:nvSpPr>
          <p:cNvPr id="96" name="Text 94"/>
          <p:cNvSpPr/>
          <p:nvPr/>
        </p:nvSpPr>
        <p:spPr>
          <a:xfrm>
            <a:off x="6382512" y="1609344"/>
            <a:ext cx="5233111" cy="256946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Linnaeus</a:t>
            </a:r>
            <a:r>
              <a:rPr lang="en-US" sz="1150" dirty="0">
                <a:solidFill>
                  <a:srgbClr val="262B3A"/>
                </a:solidFill>
                <a:latin typeface="Calibri" pitchFamily="34" charset="0"/>
                <a:ea typeface="Calibri" pitchFamily="34" charset="-122"/>
                <a:cs typeface="Calibri" pitchFamily="34" charset="-120"/>
              </a:rPr>
              <a:t> (1735) had just two kingdoms: </a:t>
            </a:r>
            <a:r>
              <a:rPr lang="en-US" sz="1150" b="1" dirty="0">
                <a:solidFill>
                  <a:srgbClr val="262B3A"/>
                </a:solidFill>
                <a:latin typeface="Calibri" pitchFamily="34" charset="0"/>
                <a:ea typeface="Calibri" pitchFamily="34" charset="-122"/>
                <a:cs typeface="Calibri" pitchFamily="34" charset="-120"/>
              </a:rPr>
              <a:t>plants</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animals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Light microscopes</a:t>
            </a:r>
            <a:r>
              <a:rPr lang="en-US" sz="1150" dirty="0">
                <a:solidFill>
                  <a:srgbClr val="262B3A"/>
                </a:solidFill>
                <a:latin typeface="Calibri" pitchFamily="34" charset="0"/>
                <a:ea typeface="Calibri" pitchFamily="34" charset="-122"/>
                <a:cs typeface="Calibri" pitchFamily="34" charset="-120"/>
              </a:rPr>
              <a:t> revealed single-celled organisms, so Haeckel (1866) added </a:t>
            </a:r>
            <a:r>
              <a:rPr lang="en-US" sz="1150" b="1" dirty="0">
                <a:solidFill>
                  <a:srgbClr val="262B3A"/>
                </a:solidFill>
                <a:latin typeface="Calibri" pitchFamily="34" charset="0"/>
                <a:ea typeface="Calibri" pitchFamily="34" charset="-122"/>
                <a:cs typeface="Calibri" pitchFamily="34" charset="-120"/>
              </a:rPr>
              <a:t>Protista</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Electron microscopes</a:t>
            </a:r>
            <a:r>
              <a:rPr lang="en-US" sz="1150" dirty="0">
                <a:solidFill>
                  <a:srgbClr val="262B3A"/>
                </a:solidFill>
                <a:latin typeface="Calibri" pitchFamily="34" charset="0"/>
                <a:ea typeface="Calibri" pitchFamily="34" charset="-122"/>
                <a:cs typeface="Calibri" pitchFamily="34" charset="-120"/>
              </a:rPr>
              <a:t> (1930s on, B4.2) showed that bacteria have </a:t>
            </a:r>
            <a:r>
              <a:rPr lang="en-US" sz="1150" b="1" dirty="0">
                <a:solidFill>
                  <a:srgbClr val="262B3A"/>
                </a:solidFill>
                <a:latin typeface="Calibri" pitchFamily="34" charset="0"/>
                <a:ea typeface="Calibri" pitchFamily="34" charset="-122"/>
                <a:cs typeface="Calibri" pitchFamily="34" charset="-120"/>
              </a:rPr>
              <a:t>no nucleus</a:t>
            </a:r>
            <a:r>
              <a:rPr lang="en-US" sz="1150" dirty="0">
                <a:solidFill>
                  <a:srgbClr val="262B3A"/>
                </a:solidFill>
                <a:latin typeface="Calibri" pitchFamily="34" charset="0"/>
                <a:ea typeface="Calibri" pitchFamily="34" charset="-122"/>
                <a:cs typeface="Calibri" pitchFamily="34" charset="-120"/>
              </a:rPr>
              <a:t> and no membrane-bound organelles: </a:t>
            </a:r>
            <a:r>
              <a:rPr lang="en-US" sz="1150" b="1" dirty="0">
                <a:solidFill>
                  <a:srgbClr val="262B3A"/>
                </a:solidFill>
                <a:latin typeface="Calibri" pitchFamily="34" charset="0"/>
                <a:ea typeface="Calibri" pitchFamily="34" charset="-122"/>
                <a:cs typeface="Calibri" pitchFamily="34" charset="-120"/>
              </a:rPr>
              <a:t>prokaryotes</a:t>
            </a:r>
            <a:r>
              <a:rPr lang="en-US" sz="1150" dirty="0">
                <a:solidFill>
                  <a:srgbClr val="262B3A"/>
                </a:solidFill>
                <a:latin typeface="Calibri" pitchFamily="34" charset="0"/>
                <a:ea typeface="Calibri" pitchFamily="34" charset="-122"/>
                <a:cs typeface="Calibri" pitchFamily="34" charset="-120"/>
              </a:rPr>
              <a:t> (B1.1).</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Fungi were shown to be very different from plants (no chloroplasts, chitin walls).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Whittaker (</a:t>
            </a:r>
            <a:r>
              <a:rPr lang="en-US" sz="1150" b="1" dirty="0">
                <a:solidFill>
                  <a:srgbClr val="262B3A"/>
                </a:solidFill>
                <a:latin typeface="Calibri" pitchFamily="34" charset="0"/>
                <a:ea typeface="Calibri" pitchFamily="34" charset="-122"/>
                <a:cs typeface="Calibri" pitchFamily="34" charset="-120"/>
              </a:rPr>
              <a:t>1969</a:t>
            </a:r>
            <a:r>
              <a:rPr lang="en-US" sz="1150" dirty="0">
                <a:solidFill>
                  <a:srgbClr val="262B3A"/>
                </a:solidFill>
                <a:latin typeface="Calibri" pitchFamily="34" charset="0"/>
                <a:ea typeface="Calibri" pitchFamily="34" charset="-122"/>
                <a:cs typeface="Calibri" pitchFamily="34" charset="-120"/>
              </a:rPr>
              <a:t>) used </a:t>
            </a:r>
            <a:r>
              <a:rPr lang="en-US" sz="1150" b="1" dirty="0">
                <a:solidFill>
                  <a:srgbClr val="262B3A"/>
                </a:solidFill>
                <a:latin typeface="Calibri" pitchFamily="34" charset="0"/>
                <a:ea typeface="Calibri" pitchFamily="34" charset="-122"/>
                <a:cs typeface="Calibri" pitchFamily="34" charset="-120"/>
              </a:rPr>
              <a:t>five kingdoms</a:t>
            </a:r>
            <a:r>
              <a:rPr lang="en-US" sz="1150" dirty="0">
                <a:solidFill>
                  <a:srgbClr val="262B3A"/>
                </a:solidFill>
                <a:latin typeface="Calibri" pitchFamily="34" charset="0"/>
                <a:ea typeface="Calibri" pitchFamily="34" charset="-122"/>
                <a:cs typeface="Calibri" pitchFamily="34" charset="-120"/>
              </a:rPr>
              <a:t>: prokaryotes, protists, fungi, plants, animals.</a:t>
            </a:r>
            <a:endParaRPr lang="en-US" sz="1150" dirty="0"/>
          </a:p>
        </p:txBody>
      </p:sp>
      <p:sp>
        <p:nvSpPr>
          <p:cNvPr id="97" name="Shape 95"/>
          <p:cNvSpPr/>
          <p:nvPr/>
        </p:nvSpPr>
        <p:spPr>
          <a:xfrm>
            <a:off x="6217920" y="4389120"/>
            <a:ext cx="5562295" cy="1325880"/>
          </a:xfrm>
          <a:prstGeom prst="roundRect">
            <a:avLst>
              <a:gd name="adj" fmla="val 4138"/>
            </a:avLst>
          </a:prstGeom>
          <a:solidFill>
            <a:srgbClr val="FFF4E0"/>
          </a:solidFill>
          <a:ln w="9525">
            <a:solidFill>
              <a:srgbClr val="F1D9A8"/>
            </a:solidFill>
            <a:prstDash val="solid"/>
          </a:ln>
        </p:spPr>
      </p:sp>
      <p:sp>
        <p:nvSpPr>
          <p:cNvPr id="98" name="Text 96"/>
          <p:cNvSpPr/>
          <p:nvPr/>
        </p:nvSpPr>
        <p:spPr>
          <a:xfrm>
            <a:off x="6382512" y="446227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magnification (recap of B4.2)</a:t>
            </a:r>
            <a:endParaRPr lang="en-US" sz="1300" dirty="0"/>
          </a:p>
        </p:txBody>
      </p:sp>
      <p:sp>
        <p:nvSpPr>
          <p:cNvPr id="99" name="Text 97"/>
          <p:cNvSpPr/>
          <p:nvPr/>
        </p:nvSpPr>
        <p:spPr>
          <a:xfrm>
            <a:off x="6382512" y="4773168"/>
            <a:ext cx="5233111"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bacterium is 2 µm long. How long is its image at ×1000?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Multiply   </a:t>
            </a:r>
            <a:r>
              <a:rPr lang="en-US" sz="1050" dirty="0">
                <a:solidFill>
                  <a:srgbClr val="262B3A"/>
                </a:solidFill>
                <a:latin typeface="Calibri" pitchFamily="34" charset="0"/>
                <a:ea typeface="Calibri" pitchFamily="34" charset="-122"/>
                <a:cs typeface="Calibri" pitchFamily="34" charset="-120"/>
              </a:rPr>
              <a:t>image = real size × magnification = 2 µm × 1000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 2000 µm = </a:t>
            </a:r>
            <a:r>
              <a:rPr lang="en-US" sz="1050" b="1" dirty="0">
                <a:solidFill>
                  <a:srgbClr val="C8414C"/>
                </a:solidFill>
                <a:latin typeface="Calibri" pitchFamily="34" charset="0"/>
                <a:ea typeface="Calibri" pitchFamily="34" charset="-122"/>
                <a:cs typeface="Calibri" pitchFamily="34" charset="-120"/>
              </a:rPr>
              <a:t>2 mm</a:t>
            </a:r>
            <a:r>
              <a:rPr lang="en-US" sz="1050" b="1" dirty="0">
                <a:solidFill>
                  <a:srgbClr val="C8414C"/>
                </a:solidFill>
                <a:latin typeface="Calibri" pitchFamily="34" charset="0"/>
                <a:ea typeface="Calibri" pitchFamily="34" charset="-122"/>
                <a:cs typeface="Calibri" pitchFamily="34" charset="-120"/>
              </a:rPr>
              <a:t>: too small to see detail, so EM was needed</a:t>
            </a:r>
            <a:endParaRPr lang="en-US" sz="1050" dirty="0"/>
          </a:p>
        </p:txBody>
      </p:sp>
      <p:sp>
        <p:nvSpPr>
          <p:cNvPr id="100" name="Shape 98"/>
          <p:cNvSpPr/>
          <p:nvPr/>
        </p:nvSpPr>
        <p:spPr>
          <a:xfrm>
            <a:off x="411480" y="5833872"/>
            <a:ext cx="11368735" cy="530352"/>
          </a:xfrm>
          <a:prstGeom prst="rect">
            <a:avLst/>
          </a:prstGeom>
          <a:solidFill>
            <a:srgbClr val="FFF4E0"/>
          </a:solidFill>
          <a:ln w="6350">
            <a:solidFill>
              <a:srgbClr val="F1D9A8"/>
            </a:solidFill>
            <a:prstDash val="solid"/>
          </a:ln>
        </p:spPr>
      </p:sp>
      <p:sp>
        <p:nvSpPr>
          <p:cNvPr id="101" name="Shape 99"/>
          <p:cNvSpPr/>
          <p:nvPr/>
        </p:nvSpPr>
        <p:spPr>
          <a:xfrm>
            <a:off x="411480" y="5833872"/>
            <a:ext cx="82296" cy="530352"/>
          </a:xfrm>
          <a:prstGeom prst="rect">
            <a:avLst/>
          </a:prstGeom>
          <a:solidFill>
            <a:srgbClr val="E39A2F"/>
          </a:solidFill>
          <a:ln w="12700">
            <a:solidFill>
              <a:srgbClr val="E39A2F"/>
            </a:solidFill>
            <a:prstDash val="solid"/>
          </a:ln>
        </p:spPr>
      </p:sp>
      <p:sp>
        <p:nvSpPr>
          <p:cNvPr id="102" name="Text 10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feature, seen with microscopes, puts an organism in the </a:t>
            </a:r>
            <a:r>
              <a:rPr lang="en-US" sz="1150" b="1" dirty="0">
                <a:solidFill>
                  <a:srgbClr val="262B3A"/>
                </a:solidFill>
                <a:latin typeface="Calibri" pitchFamily="34" charset="0"/>
                <a:ea typeface="Calibri" pitchFamily="34" charset="-122"/>
                <a:cs typeface="Calibri" pitchFamily="34" charset="-120"/>
              </a:rPr>
              <a:t>prokaryote</a:t>
            </a:r>
            <a:r>
              <a:rPr lang="en-US" sz="1150" dirty="0">
                <a:solidFill>
                  <a:srgbClr val="262B3A"/>
                </a:solidFill>
                <a:latin typeface="Calibri" pitchFamily="34" charset="0"/>
                <a:ea typeface="Calibri" pitchFamily="34" charset="-122"/>
                <a:cs typeface="Calibri" pitchFamily="34" charset="-120"/>
              </a:rPr>
              <a:t> kingdom? Why were fungi moved out of the </a:t>
            </a:r>
            <a:r>
              <a:rPr lang="en-US" sz="1150" b="1" dirty="0">
                <a:solidFill>
                  <a:srgbClr val="262B3A"/>
                </a:solidFill>
                <a:latin typeface="Calibri" pitchFamily="34" charset="0"/>
                <a:ea typeface="Calibri" pitchFamily="34" charset="-122"/>
                <a:cs typeface="Calibri" pitchFamily="34" charset="-120"/>
              </a:rPr>
              <a:t>plant</a:t>
            </a:r>
            <a:r>
              <a:rPr lang="en-US" sz="1150" dirty="0">
                <a:solidFill>
                  <a:srgbClr val="262B3A"/>
                </a:solidFill>
                <a:latin typeface="Calibri" pitchFamily="34" charset="0"/>
                <a:ea typeface="Calibri" pitchFamily="34" charset="-122"/>
                <a:cs typeface="Calibri" pitchFamily="34" charset="-120"/>
              </a:rPr>
              <a:t> kingdom?</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appearance can mislead; microscopes and kingdoms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10</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Sharks and dolphins look similar but are in different classes. Explain why they look similar.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single-celled organism has </a:t>
            </a:r>
            <a:r>
              <a:rPr lang="en-US" sz="1250" b="1" dirty="0">
                <a:solidFill>
                  <a:srgbClr val="262B3A"/>
                </a:solidFill>
                <a:latin typeface="Calibri" pitchFamily="34" charset="0"/>
                <a:ea typeface="Calibri" pitchFamily="34" charset="-122"/>
                <a:cs typeface="Calibri" pitchFamily="34" charset="-120"/>
              </a:rPr>
              <a:t>no nucleus</a:t>
            </a:r>
            <a:r>
              <a:rPr lang="en-US" sz="1250" dirty="0">
                <a:solidFill>
                  <a:srgbClr val="262B3A"/>
                </a:solidFill>
                <a:latin typeface="Calibri" pitchFamily="34" charset="0"/>
                <a:ea typeface="Calibri" pitchFamily="34" charset="-122"/>
                <a:cs typeface="Calibri" pitchFamily="34" charset="-120"/>
              </a:rPr>
              <a:t>. Name its kingdom and the type of cell it has.</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how the </a:t>
            </a:r>
            <a:r>
              <a:rPr lang="en-US" sz="1250" b="1" dirty="0">
                <a:solidFill>
                  <a:srgbClr val="262B3A"/>
                </a:solidFill>
                <a:latin typeface="Calibri" pitchFamily="34" charset="0"/>
                <a:ea typeface="Calibri" pitchFamily="34" charset="-122"/>
                <a:cs typeface="Calibri" pitchFamily="34" charset="-120"/>
              </a:rPr>
              <a:t>electron microscope</a:t>
            </a:r>
            <a:r>
              <a:rPr lang="en-US" sz="1250" dirty="0">
                <a:solidFill>
                  <a:srgbClr val="262B3A"/>
                </a:solidFill>
                <a:latin typeface="Calibri" pitchFamily="34" charset="0"/>
                <a:ea typeface="Calibri" pitchFamily="34" charset="-122"/>
                <a:cs typeface="Calibri" pitchFamily="34" charset="-120"/>
              </a:rPr>
              <a:t> changed the way organisms were classified.</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image of a bacterium is </a:t>
            </a:r>
            <a:r>
              <a:rPr lang="en-US" sz="1250" b="1" dirty="0">
                <a:solidFill>
                  <a:srgbClr val="262B3A"/>
                </a:solidFill>
                <a:latin typeface="Calibri" pitchFamily="34" charset="0"/>
                <a:ea typeface="Calibri" pitchFamily="34" charset="-122"/>
                <a:cs typeface="Calibri" pitchFamily="34" charset="-120"/>
              </a:rPr>
              <a:t>6 mm</a:t>
            </a:r>
            <a:r>
              <a:rPr lang="en-US" sz="1250" dirty="0">
                <a:solidFill>
                  <a:srgbClr val="262B3A"/>
                </a:solidFill>
                <a:latin typeface="Calibri" pitchFamily="34" charset="0"/>
                <a:ea typeface="Calibri" pitchFamily="34" charset="-122"/>
                <a:cs typeface="Calibri" pitchFamily="34" charset="-120"/>
              </a:rPr>
              <a:t> long. The bacterium is </a:t>
            </a:r>
            <a:r>
              <a:rPr lang="en-US" sz="1250" b="1" dirty="0">
                <a:solidFill>
                  <a:srgbClr val="262B3A"/>
                </a:solidFill>
                <a:latin typeface="Calibri" pitchFamily="34" charset="0"/>
                <a:ea typeface="Calibri" pitchFamily="34" charset="-122"/>
                <a:cs typeface="Calibri" pitchFamily="34" charset="-120"/>
              </a:rPr>
              <a:t>3 µm</a:t>
            </a:r>
            <a:r>
              <a:rPr lang="en-US" sz="1250" dirty="0">
                <a:solidFill>
                  <a:srgbClr val="262B3A"/>
                </a:solidFill>
                <a:latin typeface="Calibri" pitchFamily="34" charset="0"/>
                <a:ea typeface="Calibri" pitchFamily="34" charset="-122"/>
                <a:cs typeface="Calibri" pitchFamily="34" charset="-120"/>
              </a:rPr>
              <a:t> long. Calculate the magnification.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DNA analysis: comparing base sequences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the use of DNA analysis to classify organisms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11</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an illustrative 20-base section of the same gene; red = different from the human base</a:t>
            </a:r>
            <a:endParaRPr lang="en-US" sz="1000" dirty="0"/>
          </a:p>
        </p:txBody>
      </p:sp>
      <p:sp>
        <p:nvSpPr>
          <p:cNvPr id="10" name="Text 8"/>
          <p:cNvSpPr/>
          <p:nvPr/>
        </p:nvSpPr>
        <p:spPr>
          <a:xfrm>
            <a:off x="1417320" y="1298448"/>
            <a:ext cx="224028"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1</a:t>
            </a:r>
            <a:endParaRPr lang="en-US" sz="1000" dirty="0"/>
          </a:p>
        </p:txBody>
      </p:sp>
      <p:sp>
        <p:nvSpPr>
          <p:cNvPr id="11" name="Text 9"/>
          <p:cNvSpPr/>
          <p:nvPr/>
        </p:nvSpPr>
        <p:spPr>
          <a:xfrm>
            <a:off x="2537460" y="1298448"/>
            <a:ext cx="224028"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6</a:t>
            </a:r>
            <a:endParaRPr lang="en-US" sz="1000" dirty="0"/>
          </a:p>
        </p:txBody>
      </p:sp>
      <p:sp>
        <p:nvSpPr>
          <p:cNvPr id="12" name="Text 10"/>
          <p:cNvSpPr/>
          <p:nvPr/>
        </p:nvSpPr>
        <p:spPr>
          <a:xfrm>
            <a:off x="3657600" y="1298448"/>
            <a:ext cx="224028"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11</a:t>
            </a:r>
            <a:endParaRPr lang="en-US" sz="1000" dirty="0"/>
          </a:p>
        </p:txBody>
      </p:sp>
      <p:sp>
        <p:nvSpPr>
          <p:cNvPr id="13" name="Text 11"/>
          <p:cNvSpPr/>
          <p:nvPr/>
        </p:nvSpPr>
        <p:spPr>
          <a:xfrm>
            <a:off x="4777740" y="1298448"/>
            <a:ext cx="224028"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16</a:t>
            </a:r>
            <a:endParaRPr lang="en-US" sz="1000" dirty="0"/>
          </a:p>
        </p:txBody>
      </p:sp>
      <p:sp>
        <p:nvSpPr>
          <p:cNvPr id="14" name="Text 12"/>
          <p:cNvSpPr/>
          <p:nvPr/>
        </p:nvSpPr>
        <p:spPr>
          <a:xfrm>
            <a:off x="5673852" y="1298448"/>
            <a:ext cx="224028" cy="219456"/>
          </a:xfrm>
          <a:prstGeom prst="rect">
            <a:avLst/>
          </a:prstGeom>
          <a:noFill/>
          <a:ln/>
        </p:spPr>
        <p:txBody>
          <a:bodyPr wrap="square" lIns="0" tIns="0" rIns="0" bIns="0" rtlCol="0" anchor="ctr"/>
          <a:lstStyle/>
          <a:p>
            <a:pPr algn="ctr" indent="0" marL="0">
              <a:buNone/>
            </a:pPr>
            <a:r>
              <a:rPr lang="en-US" sz="1000" dirty="0">
                <a:solidFill>
                  <a:srgbClr val="6B7385"/>
                </a:solidFill>
                <a:latin typeface="Calibri" pitchFamily="34" charset="0"/>
                <a:ea typeface="Calibri" pitchFamily="34" charset="-122"/>
                <a:cs typeface="Calibri" pitchFamily="34" charset="-120"/>
              </a:rPr>
              <a:t>20</a:t>
            </a:r>
            <a:endParaRPr lang="en-US" sz="1000" dirty="0"/>
          </a:p>
        </p:txBody>
      </p:sp>
      <p:sp>
        <p:nvSpPr>
          <p:cNvPr id="15" name="Text 13"/>
          <p:cNvSpPr/>
          <p:nvPr/>
        </p:nvSpPr>
        <p:spPr>
          <a:xfrm>
            <a:off x="502920" y="1600200"/>
            <a:ext cx="896112" cy="310896"/>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Human</a:t>
            </a:r>
            <a:endParaRPr lang="en-US" sz="1050" dirty="0"/>
          </a:p>
        </p:txBody>
      </p:sp>
      <p:sp>
        <p:nvSpPr>
          <p:cNvPr id="16" name="Shape 14"/>
          <p:cNvSpPr/>
          <p:nvPr/>
        </p:nvSpPr>
        <p:spPr>
          <a:xfrm>
            <a:off x="1417320" y="1600200"/>
            <a:ext cx="196596" cy="310896"/>
          </a:xfrm>
          <a:prstGeom prst="rect">
            <a:avLst/>
          </a:prstGeom>
          <a:solidFill>
            <a:srgbClr val="FFFFFF"/>
          </a:solidFill>
          <a:ln w="9525">
            <a:solidFill>
              <a:srgbClr val="A9C3C0"/>
            </a:solidFill>
            <a:prstDash val="solid"/>
          </a:ln>
        </p:spPr>
      </p:sp>
      <p:sp>
        <p:nvSpPr>
          <p:cNvPr id="17" name="Text 15"/>
          <p:cNvSpPr/>
          <p:nvPr/>
        </p:nvSpPr>
        <p:spPr>
          <a:xfrm>
            <a:off x="1417320"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8" name="Shape 16"/>
          <p:cNvSpPr/>
          <p:nvPr/>
        </p:nvSpPr>
        <p:spPr>
          <a:xfrm>
            <a:off x="1641348" y="1600200"/>
            <a:ext cx="196596" cy="310896"/>
          </a:xfrm>
          <a:prstGeom prst="rect">
            <a:avLst/>
          </a:prstGeom>
          <a:solidFill>
            <a:srgbClr val="FFFFFF"/>
          </a:solidFill>
          <a:ln w="9525">
            <a:solidFill>
              <a:srgbClr val="A9C3C0"/>
            </a:solidFill>
            <a:prstDash val="solid"/>
          </a:ln>
        </p:spPr>
      </p:sp>
      <p:sp>
        <p:nvSpPr>
          <p:cNvPr id="19" name="Text 17"/>
          <p:cNvSpPr/>
          <p:nvPr/>
        </p:nvSpPr>
        <p:spPr>
          <a:xfrm>
            <a:off x="1641348"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20" name="Shape 18"/>
          <p:cNvSpPr/>
          <p:nvPr/>
        </p:nvSpPr>
        <p:spPr>
          <a:xfrm>
            <a:off x="1865376" y="1600200"/>
            <a:ext cx="196596" cy="310896"/>
          </a:xfrm>
          <a:prstGeom prst="rect">
            <a:avLst/>
          </a:prstGeom>
          <a:solidFill>
            <a:srgbClr val="FFFFFF"/>
          </a:solidFill>
          <a:ln w="9525">
            <a:solidFill>
              <a:srgbClr val="A9C3C0"/>
            </a:solidFill>
            <a:prstDash val="solid"/>
          </a:ln>
        </p:spPr>
      </p:sp>
      <p:sp>
        <p:nvSpPr>
          <p:cNvPr id="21" name="Text 19"/>
          <p:cNvSpPr/>
          <p:nvPr/>
        </p:nvSpPr>
        <p:spPr>
          <a:xfrm>
            <a:off x="1865376"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22" name="Shape 20"/>
          <p:cNvSpPr/>
          <p:nvPr/>
        </p:nvSpPr>
        <p:spPr>
          <a:xfrm>
            <a:off x="2089404" y="1600200"/>
            <a:ext cx="196596" cy="310896"/>
          </a:xfrm>
          <a:prstGeom prst="rect">
            <a:avLst/>
          </a:prstGeom>
          <a:solidFill>
            <a:srgbClr val="FFFFFF"/>
          </a:solidFill>
          <a:ln w="9525">
            <a:solidFill>
              <a:srgbClr val="A9C3C0"/>
            </a:solidFill>
            <a:prstDash val="solid"/>
          </a:ln>
        </p:spPr>
      </p:sp>
      <p:sp>
        <p:nvSpPr>
          <p:cNvPr id="23" name="Text 21"/>
          <p:cNvSpPr/>
          <p:nvPr/>
        </p:nvSpPr>
        <p:spPr>
          <a:xfrm>
            <a:off x="2089404"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24" name="Shape 22"/>
          <p:cNvSpPr/>
          <p:nvPr/>
        </p:nvSpPr>
        <p:spPr>
          <a:xfrm>
            <a:off x="2313432" y="1600200"/>
            <a:ext cx="196596" cy="310896"/>
          </a:xfrm>
          <a:prstGeom prst="rect">
            <a:avLst/>
          </a:prstGeom>
          <a:solidFill>
            <a:srgbClr val="FFFFFF"/>
          </a:solidFill>
          <a:ln w="9525">
            <a:solidFill>
              <a:srgbClr val="A9C3C0"/>
            </a:solidFill>
            <a:prstDash val="solid"/>
          </a:ln>
        </p:spPr>
      </p:sp>
      <p:sp>
        <p:nvSpPr>
          <p:cNvPr id="25" name="Text 23"/>
          <p:cNvSpPr/>
          <p:nvPr/>
        </p:nvSpPr>
        <p:spPr>
          <a:xfrm>
            <a:off x="2313432"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26" name="Shape 24"/>
          <p:cNvSpPr/>
          <p:nvPr/>
        </p:nvSpPr>
        <p:spPr>
          <a:xfrm>
            <a:off x="2537460" y="1600200"/>
            <a:ext cx="196596" cy="310896"/>
          </a:xfrm>
          <a:prstGeom prst="rect">
            <a:avLst/>
          </a:prstGeom>
          <a:solidFill>
            <a:srgbClr val="FFFFFF"/>
          </a:solidFill>
          <a:ln w="9525">
            <a:solidFill>
              <a:srgbClr val="A9C3C0"/>
            </a:solidFill>
            <a:prstDash val="solid"/>
          </a:ln>
        </p:spPr>
      </p:sp>
      <p:sp>
        <p:nvSpPr>
          <p:cNvPr id="27" name="Text 25"/>
          <p:cNvSpPr/>
          <p:nvPr/>
        </p:nvSpPr>
        <p:spPr>
          <a:xfrm>
            <a:off x="2537460"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28" name="Shape 26"/>
          <p:cNvSpPr/>
          <p:nvPr/>
        </p:nvSpPr>
        <p:spPr>
          <a:xfrm>
            <a:off x="2761488" y="1600200"/>
            <a:ext cx="196596" cy="310896"/>
          </a:xfrm>
          <a:prstGeom prst="rect">
            <a:avLst/>
          </a:prstGeom>
          <a:solidFill>
            <a:srgbClr val="FFFFFF"/>
          </a:solidFill>
          <a:ln w="9525">
            <a:solidFill>
              <a:srgbClr val="A9C3C0"/>
            </a:solidFill>
            <a:prstDash val="solid"/>
          </a:ln>
        </p:spPr>
      </p:sp>
      <p:sp>
        <p:nvSpPr>
          <p:cNvPr id="29" name="Text 27"/>
          <p:cNvSpPr/>
          <p:nvPr/>
        </p:nvSpPr>
        <p:spPr>
          <a:xfrm>
            <a:off x="2761488"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30" name="Shape 28"/>
          <p:cNvSpPr/>
          <p:nvPr/>
        </p:nvSpPr>
        <p:spPr>
          <a:xfrm>
            <a:off x="2985516" y="1600200"/>
            <a:ext cx="196596" cy="310896"/>
          </a:xfrm>
          <a:prstGeom prst="rect">
            <a:avLst/>
          </a:prstGeom>
          <a:solidFill>
            <a:srgbClr val="FFFFFF"/>
          </a:solidFill>
          <a:ln w="9525">
            <a:solidFill>
              <a:srgbClr val="A9C3C0"/>
            </a:solidFill>
            <a:prstDash val="solid"/>
          </a:ln>
        </p:spPr>
      </p:sp>
      <p:sp>
        <p:nvSpPr>
          <p:cNvPr id="31" name="Text 29"/>
          <p:cNvSpPr/>
          <p:nvPr/>
        </p:nvSpPr>
        <p:spPr>
          <a:xfrm>
            <a:off x="2985516"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32" name="Shape 30"/>
          <p:cNvSpPr/>
          <p:nvPr/>
        </p:nvSpPr>
        <p:spPr>
          <a:xfrm>
            <a:off x="3209544" y="1600200"/>
            <a:ext cx="196596" cy="310896"/>
          </a:xfrm>
          <a:prstGeom prst="rect">
            <a:avLst/>
          </a:prstGeom>
          <a:solidFill>
            <a:srgbClr val="FFFFFF"/>
          </a:solidFill>
          <a:ln w="9525">
            <a:solidFill>
              <a:srgbClr val="A9C3C0"/>
            </a:solidFill>
            <a:prstDash val="solid"/>
          </a:ln>
        </p:spPr>
      </p:sp>
      <p:sp>
        <p:nvSpPr>
          <p:cNvPr id="33" name="Text 31"/>
          <p:cNvSpPr/>
          <p:nvPr/>
        </p:nvSpPr>
        <p:spPr>
          <a:xfrm>
            <a:off x="3209544"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34" name="Shape 32"/>
          <p:cNvSpPr/>
          <p:nvPr/>
        </p:nvSpPr>
        <p:spPr>
          <a:xfrm>
            <a:off x="3433572" y="1600200"/>
            <a:ext cx="196596" cy="310896"/>
          </a:xfrm>
          <a:prstGeom prst="rect">
            <a:avLst/>
          </a:prstGeom>
          <a:solidFill>
            <a:srgbClr val="FFFFFF"/>
          </a:solidFill>
          <a:ln w="9525">
            <a:solidFill>
              <a:srgbClr val="A9C3C0"/>
            </a:solidFill>
            <a:prstDash val="solid"/>
          </a:ln>
        </p:spPr>
      </p:sp>
      <p:sp>
        <p:nvSpPr>
          <p:cNvPr id="35" name="Text 33"/>
          <p:cNvSpPr/>
          <p:nvPr/>
        </p:nvSpPr>
        <p:spPr>
          <a:xfrm>
            <a:off x="3433572"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36" name="Shape 34"/>
          <p:cNvSpPr/>
          <p:nvPr/>
        </p:nvSpPr>
        <p:spPr>
          <a:xfrm>
            <a:off x="3657600" y="1600200"/>
            <a:ext cx="196596" cy="310896"/>
          </a:xfrm>
          <a:prstGeom prst="rect">
            <a:avLst/>
          </a:prstGeom>
          <a:solidFill>
            <a:srgbClr val="FFFFFF"/>
          </a:solidFill>
          <a:ln w="9525">
            <a:solidFill>
              <a:srgbClr val="A9C3C0"/>
            </a:solidFill>
            <a:prstDash val="solid"/>
          </a:ln>
        </p:spPr>
      </p:sp>
      <p:sp>
        <p:nvSpPr>
          <p:cNvPr id="37" name="Text 35"/>
          <p:cNvSpPr/>
          <p:nvPr/>
        </p:nvSpPr>
        <p:spPr>
          <a:xfrm>
            <a:off x="3657600"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38" name="Shape 36"/>
          <p:cNvSpPr/>
          <p:nvPr/>
        </p:nvSpPr>
        <p:spPr>
          <a:xfrm>
            <a:off x="3881628" y="1600200"/>
            <a:ext cx="196596" cy="310896"/>
          </a:xfrm>
          <a:prstGeom prst="rect">
            <a:avLst/>
          </a:prstGeom>
          <a:solidFill>
            <a:srgbClr val="FFFFFF"/>
          </a:solidFill>
          <a:ln w="9525">
            <a:solidFill>
              <a:srgbClr val="A9C3C0"/>
            </a:solidFill>
            <a:prstDash val="solid"/>
          </a:ln>
        </p:spPr>
      </p:sp>
      <p:sp>
        <p:nvSpPr>
          <p:cNvPr id="39" name="Text 37"/>
          <p:cNvSpPr/>
          <p:nvPr/>
        </p:nvSpPr>
        <p:spPr>
          <a:xfrm>
            <a:off x="3881628"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40" name="Shape 38"/>
          <p:cNvSpPr/>
          <p:nvPr/>
        </p:nvSpPr>
        <p:spPr>
          <a:xfrm>
            <a:off x="4105656" y="1600200"/>
            <a:ext cx="196596" cy="310896"/>
          </a:xfrm>
          <a:prstGeom prst="rect">
            <a:avLst/>
          </a:prstGeom>
          <a:solidFill>
            <a:srgbClr val="FFFFFF"/>
          </a:solidFill>
          <a:ln w="9525">
            <a:solidFill>
              <a:srgbClr val="A9C3C0"/>
            </a:solidFill>
            <a:prstDash val="solid"/>
          </a:ln>
        </p:spPr>
      </p:sp>
      <p:sp>
        <p:nvSpPr>
          <p:cNvPr id="41" name="Text 39"/>
          <p:cNvSpPr/>
          <p:nvPr/>
        </p:nvSpPr>
        <p:spPr>
          <a:xfrm>
            <a:off x="4105656"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42" name="Shape 40"/>
          <p:cNvSpPr/>
          <p:nvPr/>
        </p:nvSpPr>
        <p:spPr>
          <a:xfrm>
            <a:off x="4329684" y="1600200"/>
            <a:ext cx="196596" cy="310896"/>
          </a:xfrm>
          <a:prstGeom prst="rect">
            <a:avLst/>
          </a:prstGeom>
          <a:solidFill>
            <a:srgbClr val="FFFFFF"/>
          </a:solidFill>
          <a:ln w="9525">
            <a:solidFill>
              <a:srgbClr val="A9C3C0"/>
            </a:solidFill>
            <a:prstDash val="solid"/>
          </a:ln>
        </p:spPr>
      </p:sp>
      <p:sp>
        <p:nvSpPr>
          <p:cNvPr id="43" name="Text 41"/>
          <p:cNvSpPr/>
          <p:nvPr/>
        </p:nvSpPr>
        <p:spPr>
          <a:xfrm>
            <a:off x="4329684"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44" name="Shape 42"/>
          <p:cNvSpPr/>
          <p:nvPr/>
        </p:nvSpPr>
        <p:spPr>
          <a:xfrm>
            <a:off x="4553712" y="1600200"/>
            <a:ext cx="196596" cy="310896"/>
          </a:xfrm>
          <a:prstGeom prst="rect">
            <a:avLst/>
          </a:prstGeom>
          <a:solidFill>
            <a:srgbClr val="FFFFFF"/>
          </a:solidFill>
          <a:ln w="9525">
            <a:solidFill>
              <a:srgbClr val="A9C3C0"/>
            </a:solidFill>
            <a:prstDash val="solid"/>
          </a:ln>
        </p:spPr>
      </p:sp>
      <p:sp>
        <p:nvSpPr>
          <p:cNvPr id="45" name="Text 43"/>
          <p:cNvSpPr/>
          <p:nvPr/>
        </p:nvSpPr>
        <p:spPr>
          <a:xfrm>
            <a:off x="4553712"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46" name="Shape 44"/>
          <p:cNvSpPr/>
          <p:nvPr/>
        </p:nvSpPr>
        <p:spPr>
          <a:xfrm>
            <a:off x="4777740" y="1600200"/>
            <a:ext cx="196596" cy="310896"/>
          </a:xfrm>
          <a:prstGeom prst="rect">
            <a:avLst/>
          </a:prstGeom>
          <a:solidFill>
            <a:srgbClr val="FFFFFF"/>
          </a:solidFill>
          <a:ln w="9525">
            <a:solidFill>
              <a:srgbClr val="A9C3C0"/>
            </a:solidFill>
            <a:prstDash val="solid"/>
          </a:ln>
        </p:spPr>
      </p:sp>
      <p:sp>
        <p:nvSpPr>
          <p:cNvPr id="47" name="Text 45"/>
          <p:cNvSpPr/>
          <p:nvPr/>
        </p:nvSpPr>
        <p:spPr>
          <a:xfrm>
            <a:off x="4777740"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48" name="Shape 46"/>
          <p:cNvSpPr/>
          <p:nvPr/>
        </p:nvSpPr>
        <p:spPr>
          <a:xfrm>
            <a:off x="5001768" y="1600200"/>
            <a:ext cx="196596" cy="310896"/>
          </a:xfrm>
          <a:prstGeom prst="rect">
            <a:avLst/>
          </a:prstGeom>
          <a:solidFill>
            <a:srgbClr val="FFFFFF"/>
          </a:solidFill>
          <a:ln w="9525">
            <a:solidFill>
              <a:srgbClr val="A9C3C0"/>
            </a:solidFill>
            <a:prstDash val="solid"/>
          </a:ln>
        </p:spPr>
      </p:sp>
      <p:sp>
        <p:nvSpPr>
          <p:cNvPr id="49" name="Text 47"/>
          <p:cNvSpPr/>
          <p:nvPr/>
        </p:nvSpPr>
        <p:spPr>
          <a:xfrm>
            <a:off x="5001768"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50" name="Shape 48"/>
          <p:cNvSpPr/>
          <p:nvPr/>
        </p:nvSpPr>
        <p:spPr>
          <a:xfrm>
            <a:off x="5225796" y="1600200"/>
            <a:ext cx="196596" cy="310896"/>
          </a:xfrm>
          <a:prstGeom prst="rect">
            <a:avLst/>
          </a:prstGeom>
          <a:solidFill>
            <a:srgbClr val="FFFFFF"/>
          </a:solidFill>
          <a:ln w="9525">
            <a:solidFill>
              <a:srgbClr val="A9C3C0"/>
            </a:solidFill>
            <a:prstDash val="solid"/>
          </a:ln>
        </p:spPr>
      </p:sp>
      <p:sp>
        <p:nvSpPr>
          <p:cNvPr id="51" name="Text 49"/>
          <p:cNvSpPr/>
          <p:nvPr/>
        </p:nvSpPr>
        <p:spPr>
          <a:xfrm>
            <a:off x="5225796"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52" name="Shape 50"/>
          <p:cNvSpPr/>
          <p:nvPr/>
        </p:nvSpPr>
        <p:spPr>
          <a:xfrm>
            <a:off x="5449824" y="1600200"/>
            <a:ext cx="196596" cy="310896"/>
          </a:xfrm>
          <a:prstGeom prst="rect">
            <a:avLst/>
          </a:prstGeom>
          <a:solidFill>
            <a:srgbClr val="FFFFFF"/>
          </a:solidFill>
          <a:ln w="9525">
            <a:solidFill>
              <a:srgbClr val="A9C3C0"/>
            </a:solidFill>
            <a:prstDash val="solid"/>
          </a:ln>
        </p:spPr>
      </p:sp>
      <p:sp>
        <p:nvSpPr>
          <p:cNvPr id="53" name="Text 51"/>
          <p:cNvSpPr/>
          <p:nvPr/>
        </p:nvSpPr>
        <p:spPr>
          <a:xfrm>
            <a:off x="5449824"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54" name="Shape 52"/>
          <p:cNvSpPr/>
          <p:nvPr/>
        </p:nvSpPr>
        <p:spPr>
          <a:xfrm>
            <a:off x="5673852" y="1600200"/>
            <a:ext cx="196596" cy="310896"/>
          </a:xfrm>
          <a:prstGeom prst="rect">
            <a:avLst/>
          </a:prstGeom>
          <a:solidFill>
            <a:srgbClr val="FFFFFF"/>
          </a:solidFill>
          <a:ln w="9525">
            <a:solidFill>
              <a:srgbClr val="A9C3C0"/>
            </a:solidFill>
            <a:prstDash val="solid"/>
          </a:ln>
        </p:spPr>
      </p:sp>
      <p:sp>
        <p:nvSpPr>
          <p:cNvPr id="55" name="Text 53"/>
          <p:cNvSpPr/>
          <p:nvPr/>
        </p:nvSpPr>
        <p:spPr>
          <a:xfrm>
            <a:off x="5673852" y="1600200"/>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56" name="Text 54"/>
          <p:cNvSpPr/>
          <p:nvPr/>
        </p:nvSpPr>
        <p:spPr>
          <a:xfrm>
            <a:off x="502920" y="2167128"/>
            <a:ext cx="896112" cy="310896"/>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Chimpanzee</a:t>
            </a:r>
            <a:endParaRPr lang="en-US" sz="1050" dirty="0"/>
          </a:p>
        </p:txBody>
      </p:sp>
      <p:sp>
        <p:nvSpPr>
          <p:cNvPr id="57" name="Shape 55"/>
          <p:cNvSpPr/>
          <p:nvPr/>
        </p:nvSpPr>
        <p:spPr>
          <a:xfrm>
            <a:off x="1417320" y="2167128"/>
            <a:ext cx="196596" cy="310896"/>
          </a:xfrm>
          <a:prstGeom prst="rect">
            <a:avLst/>
          </a:prstGeom>
          <a:solidFill>
            <a:srgbClr val="FFFFFF"/>
          </a:solidFill>
          <a:ln w="9525">
            <a:solidFill>
              <a:srgbClr val="A9C3C0"/>
            </a:solidFill>
            <a:prstDash val="solid"/>
          </a:ln>
        </p:spPr>
      </p:sp>
      <p:sp>
        <p:nvSpPr>
          <p:cNvPr id="58" name="Text 56"/>
          <p:cNvSpPr/>
          <p:nvPr/>
        </p:nvSpPr>
        <p:spPr>
          <a:xfrm>
            <a:off x="1417320"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59" name="Shape 57"/>
          <p:cNvSpPr/>
          <p:nvPr/>
        </p:nvSpPr>
        <p:spPr>
          <a:xfrm>
            <a:off x="1641348" y="2167128"/>
            <a:ext cx="196596" cy="310896"/>
          </a:xfrm>
          <a:prstGeom prst="rect">
            <a:avLst/>
          </a:prstGeom>
          <a:solidFill>
            <a:srgbClr val="FFFFFF"/>
          </a:solidFill>
          <a:ln w="9525">
            <a:solidFill>
              <a:srgbClr val="A9C3C0"/>
            </a:solidFill>
            <a:prstDash val="solid"/>
          </a:ln>
        </p:spPr>
      </p:sp>
      <p:sp>
        <p:nvSpPr>
          <p:cNvPr id="60" name="Text 58"/>
          <p:cNvSpPr/>
          <p:nvPr/>
        </p:nvSpPr>
        <p:spPr>
          <a:xfrm>
            <a:off x="1641348"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61" name="Shape 59"/>
          <p:cNvSpPr/>
          <p:nvPr/>
        </p:nvSpPr>
        <p:spPr>
          <a:xfrm>
            <a:off x="1865376" y="2167128"/>
            <a:ext cx="196596" cy="310896"/>
          </a:xfrm>
          <a:prstGeom prst="rect">
            <a:avLst/>
          </a:prstGeom>
          <a:solidFill>
            <a:srgbClr val="FFFFFF"/>
          </a:solidFill>
          <a:ln w="9525">
            <a:solidFill>
              <a:srgbClr val="A9C3C0"/>
            </a:solidFill>
            <a:prstDash val="solid"/>
          </a:ln>
        </p:spPr>
      </p:sp>
      <p:sp>
        <p:nvSpPr>
          <p:cNvPr id="62" name="Text 60"/>
          <p:cNvSpPr/>
          <p:nvPr/>
        </p:nvSpPr>
        <p:spPr>
          <a:xfrm>
            <a:off x="1865376"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63" name="Shape 61"/>
          <p:cNvSpPr/>
          <p:nvPr/>
        </p:nvSpPr>
        <p:spPr>
          <a:xfrm>
            <a:off x="2089404" y="2167128"/>
            <a:ext cx="196596" cy="310896"/>
          </a:xfrm>
          <a:prstGeom prst="rect">
            <a:avLst/>
          </a:prstGeom>
          <a:solidFill>
            <a:srgbClr val="FFFFFF"/>
          </a:solidFill>
          <a:ln w="9525">
            <a:solidFill>
              <a:srgbClr val="A9C3C0"/>
            </a:solidFill>
            <a:prstDash val="solid"/>
          </a:ln>
        </p:spPr>
      </p:sp>
      <p:sp>
        <p:nvSpPr>
          <p:cNvPr id="64" name="Text 62"/>
          <p:cNvSpPr/>
          <p:nvPr/>
        </p:nvSpPr>
        <p:spPr>
          <a:xfrm>
            <a:off x="2089404"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65" name="Shape 63"/>
          <p:cNvSpPr/>
          <p:nvPr/>
        </p:nvSpPr>
        <p:spPr>
          <a:xfrm>
            <a:off x="2313432" y="2167128"/>
            <a:ext cx="196596" cy="310896"/>
          </a:xfrm>
          <a:prstGeom prst="rect">
            <a:avLst/>
          </a:prstGeom>
          <a:solidFill>
            <a:srgbClr val="FFFFFF"/>
          </a:solidFill>
          <a:ln w="9525">
            <a:solidFill>
              <a:srgbClr val="A9C3C0"/>
            </a:solidFill>
            <a:prstDash val="solid"/>
          </a:ln>
        </p:spPr>
      </p:sp>
      <p:sp>
        <p:nvSpPr>
          <p:cNvPr id="66" name="Text 64"/>
          <p:cNvSpPr/>
          <p:nvPr/>
        </p:nvSpPr>
        <p:spPr>
          <a:xfrm>
            <a:off x="2313432"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67" name="Shape 65"/>
          <p:cNvSpPr/>
          <p:nvPr/>
        </p:nvSpPr>
        <p:spPr>
          <a:xfrm>
            <a:off x="2537460" y="2167128"/>
            <a:ext cx="196596" cy="310896"/>
          </a:xfrm>
          <a:prstGeom prst="rect">
            <a:avLst/>
          </a:prstGeom>
          <a:solidFill>
            <a:srgbClr val="FFFFFF"/>
          </a:solidFill>
          <a:ln w="9525">
            <a:solidFill>
              <a:srgbClr val="A9C3C0"/>
            </a:solidFill>
            <a:prstDash val="solid"/>
          </a:ln>
        </p:spPr>
      </p:sp>
      <p:sp>
        <p:nvSpPr>
          <p:cNvPr id="68" name="Text 66"/>
          <p:cNvSpPr/>
          <p:nvPr/>
        </p:nvSpPr>
        <p:spPr>
          <a:xfrm>
            <a:off x="2537460"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69" name="Shape 67"/>
          <p:cNvSpPr/>
          <p:nvPr/>
        </p:nvSpPr>
        <p:spPr>
          <a:xfrm>
            <a:off x="2761488" y="2167128"/>
            <a:ext cx="196596" cy="310896"/>
          </a:xfrm>
          <a:prstGeom prst="rect">
            <a:avLst/>
          </a:prstGeom>
          <a:solidFill>
            <a:srgbClr val="FFFFFF"/>
          </a:solidFill>
          <a:ln w="9525">
            <a:solidFill>
              <a:srgbClr val="A9C3C0"/>
            </a:solidFill>
            <a:prstDash val="solid"/>
          </a:ln>
        </p:spPr>
      </p:sp>
      <p:sp>
        <p:nvSpPr>
          <p:cNvPr id="70" name="Text 68"/>
          <p:cNvSpPr/>
          <p:nvPr/>
        </p:nvSpPr>
        <p:spPr>
          <a:xfrm>
            <a:off x="2761488"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71" name="Shape 69"/>
          <p:cNvSpPr/>
          <p:nvPr/>
        </p:nvSpPr>
        <p:spPr>
          <a:xfrm>
            <a:off x="2985516" y="2167128"/>
            <a:ext cx="196596" cy="310896"/>
          </a:xfrm>
          <a:prstGeom prst="rect">
            <a:avLst/>
          </a:prstGeom>
          <a:solidFill>
            <a:srgbClr val="FFFFFF"/>
          </a:solidFill>
          <a:ln w="9525">
            <a:solidFill>
              <a:srgbClr val="A9C3C0"/>
            </a:solidFill>
            <a:prstDash val="solid"/>
          </a:ln>
        </p:spPr>
      </p:sp>
      <p:sp>
        <p:nvSpPr>
          <p:cNvPr id="72" name="Text 70"/>
          <p:cNvSpPr/>
          <p:nvPr/>
        </p:nvSpPr>
        <p:spPr>
          <a:xfrm>
            <a:off x="2985516"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73" name="Shape 71"/>
          <p:cNvSpPr/>
          <p:nvPr/>
        </p:nvSpPr>
        <p:spPr>
          <a:xfrm>
            <a:off x="3209544" y="2167128"/>
            <a:ext cx="196596" cy="310896"/>
          </a:xfrm>
          <a:prstGeom prst="rect">
            <a:avLst/>
          </a:prstGeom>
          <a:solidFill>
            <a:srgbClr val="FFFFFF"/>
          </a:solidFill>
          <a:ln w="9525">
            <a:solidFill>
              <a:srgbClr val="A9C3C0"/>
            </a:solidFill>
            <a:prstDash val="solid"/>
          </a:ln>
        </p:spPr>
      </p:sp>
      <p:sp>
        <p:nvSpPr>
          <p:cNvPr id="74" name="Text 72"/>
          <p:cNvSpPr/>
          <p:nvPr/>
        </p:nvSpPr>
        <p:spPr>
          <a:xfrm>
            <a:off x="3209544"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75" name="Shape 73"/>
          <p:cNvSpPr/>
          <p:nvPr/>
        </p:nvSpPr>
        <p:spPr>
          <a:xfrm>
            <a:off x="3433572" y="2167128"/>
            <a:ext cx="196596" cy="310896"/>
          </a:xfrm>
          <a:prstGeom prst="rect">
            <a:avLst/>
          </a:prstGeom>
          <a:solidFill>
            <a:srgbClr val="FFFFFF"/>
          </a:solidFill>
          <a:ln w="9525">
            <a:solidFill>
              <a:srgbClr val="A9C3C0"/>
            </a:solidFill>
            <a:prstDash val="solid"/>
          </a:ln>
        </p:spPr>
      </p:sp>
      <p:sp>
        <p:nvSpPr>
          <p:cNvPr id="76" name="Text 74"/>
          <p:cNvSpPr/>
          <p:nvPr/>
        </p:nvSpPr>
        <p:spPr>
          <a:xfrm>
            <a:off x="3433572"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77" name="Shape 75"/>
          <p:cNvSpPr/>
          <p:nvPr/>
        </p:nvSpPr>
        <p:spPr>
          <a:xfrm>
            <a:off x="3657600" y="2167128"/>
            <a:ext cx="196596" cy="310896"/>
          </a:xfrm>
          <a:prstGeom prst="rect">
            <a:avLst/>
          </a:prstGeom>
          <a:solidFill>
            <a:srgbClr val="FFFFFF"/>
          </a:solidFill>
          <a:ln w="9525">
            <a:solidFill>
              <a:srgbClr val="A9C3C0"/>
            </a:solidFill>
            <a:prstDash val="solid"/>
          </a:ln>
        </p:spPr>
      </p:sp>
      <p:sp>
        <p:nvSpPr>
          <p:cNvPr id="78" name="Text 76"/>
          <p:cNvSpPr/>
          <p:nvPr/>
        </p:nvSpPr>
        <p:spPr>
          <a:xfrm>
            <a:off x="3657600"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79" name="Shape 77"/>
          <p:cNvSpPr/>
          <p:nvPr/>
        </p:nvSpPr>
        <p:spPr>
          <a:xfrm>
            <a:off x="3881628" y="2167128"/>
            <a:ext cx="196596" cy="310896"/>
          </a:xfrm>
          <a:prstGeom prst="rect">
            <a:avLst/>
          </a:prstGeom>
          <a:solidFill>
            <a:srgbClr val="FFFFFF"/>
          </a:solidFill>
          <a:ln w="9525">
            <a:solidFill>
              <a:srgbClr val="A9C3C0"/>
            </a:solidFill>
            <a:prstDash val="solid"/>
          </a:ln>
        </p:spPr>
      </p:sp>
      <p:sp>
        <p:nvSpPr>
          <p:cNvPr id="80" name="Text 78"/>
          <p:cNvSpPr/>
          <p:nvPr/>
        </p:nvSpPr>
        <p:spPr>
          <a:xfrm>
            <a:off x="3881628"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81" name="Shape 79"/>
          <p:cNvSpPr/>
          <p:nvPr/>
        </p:nvSpPr>
        <p:spPr>
          <a:xfrm>
            <a:off x="4105656" y="2167128"/>
            <a:ext cx="196596" cy="310896"/>
          </a:xfrm>
          <a:prstGeom prst="rect">
            <a:avLst/>
          </a:prstGeom>
          <a:solidFill>
            <a:srgbClr val="FFFFFF"/>
          </a:solidFill>
          <a:ln w="9525">
            <a:solidFill>
              <a:srgbClr val="A9C3C0"/>
            </a:solidFill>
            <a:prstDash val="solid"/>
          </a:ln>
        </p:spPr>
      </p:sp>
      <p:sp>
        <p:nvSpPr>
          <p:cNvPr id="82" name="Text 80"/>
          <p:cNvSpPr/>
          <p:nvPr/>
        </p:nvSpPr>
        <p:spPr>
          <a:xfrm>
            <a:off x="4105656"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83" name="Shape 81"/>
          <p:cNvSpPr/>
          <p:nvPr/>
        </p:nvSpPr>
        <p:spPr>
          <a:xfrm>
            <a:off x="4329684" y="2167128"/>
            <a:ext cx="196596" cy="310896"/>
          </a:xfrm>
          <a:prstGeom prst="rect">
            <a:avLst/>
          </a:prstGeom>
          <a:solidFill>
            <a:srgbClr val="FFFFFF"/>
          </a:solidFill>
          <a:ln w="9525">
            <a:solidFill>
              <a:srgbClr val="A9C3C0"/>
            </a:solidFill>
            <a:prstDash val="solid"/>
          </a:ln>
        </p:spPr>
      </p:sp>
      <p:sp>
        <p:nvSpPr>
          <p:cNvPr id="84" name="Text 82"/>
          <p:cNvSpPr/>
          <p:nvPr/>
        </p:nvSpPr>
        <p:spPr>
          <a:xfrm>
            <a:off x="4329684"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85" name="Shape 83"/>
          <p:cNvSpPr/>
          <p:nvPr/>
        </p:nvSpPr>
        <p:spPr>
          <a:xfrm>
            <a:off x="4553712" y="2167128"/>
            <a:ext cx="196596" cy="310896"/>
          </a:xfrm>
          <a:prstGeom prst="rect">
            <a:avLst/>
          </a:prstGeom>
          <a:solidFill>
            <a:srgbClr val="FFFFFF"/>
          </a:solidFill>
          <a:ln w="9525">
            <a:solidFill>
              <a:srgbClr val="A9C3C0"/>
            </a:solidFill>
            <a:prstDash val="solid"/>
          </a:ln>
        </p:spPr>
      </p:sp>
      <p:sp>
        <p:nvSpPr>
          <p:cNvPr id="86" name="Text 84"/>
          <p:cNvSpPr/>
          <p:nvPr/>
        </p:nvSpPr>
        <p:spPr>
          <a:xfrm>
            <a:off x="4553712"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87" name="Shape 85"/>
          <p:cNvSpPr/>
          <p:nvPr/>
        </p:nvSpPr>
        <p:spPr>
          <a:xfrm>
            <a:off x="4777740" y="2167128"/>
            <a:ext cx="196596" cy="310896"/>
          </a:xfrm>
          <a:prstGeom prst="rect">
            <a:avLst/>
          </a:prstGeom>
          <a:solidFill>
            <a:srgbClr val="FFFFFF"/>
          </a:solidFill>
          <a:ln w="9525">
            <a:solidFill>
              <a:srgbClr val="A9C3C0"/>
            </a:solidFill>
            <a:prstDash val="solid"/>
          </a:ln>
        </p:spPr>
      </p:sp>
      <p:sp>
        <p:nvSpPr>
          <p:cNvPr id="88" name="Text 86"/>
          <p:cNvSpPr/>
          <p:nvPr/>
        </p:nvSpPr>
        <p:spPr>
          <a:xfrm>
            <a:off x="4777740"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89" name="Shape 87"/>
          <p:cNvSpPr/>
          <p:nvPr/>
        </p:nvSpPr>
        <p:spPr>
          <a:xfrm>
            <a:off x="5001768" y="2167128"/>
            <a:ext cx="196596" cy="310896"/>
          </a:xfrm>
          <a:prstGeom prst="rect">
            <a:avLst/>
          </a:prstGeom>
          <a:solidFill>
            <a:srgbClr val="FBD5D8"/>
          </a:solidFill>
          <a:ln w="15875">
            <a:solidFill>
              <a:srgbClr val="C8414C"/>
            </a:solidFill>
            <a:prstDash val="solid"/>
          </a:ln>
        </p:spPr>
      </p:sp>
      <p:sp>
        <p:nvSpPr>
          <p:cNvPr id="90" name="Text 88"/>
          <p:cNvSpPr/>
          <p:nvPr/>
        </p:nvSpPr>
        <p:spPr>
          <a:xfrm>
            <a:off x="5001768" y="2167128"/>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C</a:t>
            </a:r>
            <a:endParaRPr lang="en-US" sz="1100" dirty="0"/>
          </a:p>
        </p:txBody>
      </p:sp>
      <p:sp>
        <p:nvSpPr>
          <p:cNvPr id="91" name="Shape 89"/>
          <p:cNvSpPr/>
          <p:nvPr/>
        </p:nvSpPr>
        <p:spPr>
          <a:xfrm>
            <a:off x="5225796" y="2167128"/>
            <a:ext cx="196596" cy="310896"/>
          </a:xfrm>
          <a:prstGeom prst="rect">
            <a:avLst/>
          </a:prstGeom>
          <a:solidFill>
            <a:srgbClr val="FFFFFF"/>
          </a:solidFill>
          <a:ln w="9525">
            <a:solidFill>
              <a:srgbClr val="A9C3C0"/>
            </a:solidFill>
            <a:prstDash val="solid"/>
          </a:ln>
        </p:spPr>
      </p:sp>
      <p:sp>
        <p:nvSpPr>
          <p:cNvPr id="92" name="Text 90"/>
          <p:cNvSpPr/>
          <p:nvPr/>
        </p:nvSpPr>
        <p:spPr>
          <a:xfrm>
            <a:off x="5225796"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93" name="Shape 91"/>
          <p:cNvSpPr/>
          <p:nvPr/>
        </p:nvSpPr>
        <p:spPr>
          <a:xfrm>
            <a:off x="5449824" y="2167128"/>
            <a:ext cx="196596" cy="310896"/>
          </a:xfrm>
          <a:prstGeom prst="rect">
            <a:avLst/>
          </a:prstGeom>
          <a:solidFill>
            <a:srgbClr val="FFFFFF"/>
          </a:solidFill>
          <a:ln w="9525">
            <a:solidFill>
              <a:srgbClr val="A9C3C0"/>
            </a:solidFill>
            <a:prstDash val="solid"/>
          </a:ln>
        </p:spPr>
      </p:sp>
      <p:sp>
        <p:nvSpPr>
          <p:cNvPr id="94" name="Text 92"/>
          <p:cNvSpPr/>
          <p:nvPr/>
        </p:nvSpPr>
        <p:spPr>
          <a:xfrm>
            <a:off x="5449824"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95" name="Shape 93"/>
          <p:cNvSpPr/>
          <p:nvPr/>
        </p:nvSpPr>
        <p:spPr>
          <a:xfrm>
            <a:off x="5673852" y="2167128"/>
            <a:ext cx="196596" cy="310896"/>
          </a:xfrm>
          <a:prstGeom prst="rect">
            <a:avLst/>
          </a:prstGeom>
          <a:solidFill>
            <a:srgbClr val="FFFFFF"/>
          </a:solidFill>
          <a:ln w="9525">
            <a:solidFill>
              <a:srgbClr val="A9C3C0"/>
            </a:solidFill>
            <a:prstDash val="solid"/>
          </a:ln>
        </p:spPr>
      </p:sp>
      <p:sp>
        <p:nvSpPr>
          <p:cNvPr id="96" name="Text 94"/>
          <p:cNvSpPr/>
          <p:nvPr/>
        </p:nvSpPr>
        <p:spPr>
          <a:xfrm>
            <a:off x="5673852" y="2167128"/>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97" name="Text 95"/>
          <p:cNvSpPr/>
          <p:nvPr/>
        </p:nvSpPr>
        <p:spPr>
          <a:xfrm>
            <a:off x="502920" y="2734056"/>
            <a:ext cx="896112" cy="310896"/>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Gorilla</a:t>
            </a:r>
            <a:endParaRPr lang="en-US" sz="1050" dirty="0"/>
          </a:p>
        </p:txBody>
      </p:sp>
      <p:sp>
        <p:nvSpPr>
          <p:cNvPr id="98" name="Shape 96"/>
          <p:cNvSpPr/>
          <p:nvPr/>
        </p:nvSpPr>
        <p:spPr>
          <a:xfrm>
            <a:off x="1417320" y="2734056"/>
            <a:ext cx="196596" cy="310896"/>
          </a:xfrm>
          <a:prstGeom prst="rect">
            <a:avLst/>
          </a:prstGeom>
          <a:solidFill>
            <a:srgbClr val="FFFFFF"/>
          </a:solidFill>
          <a:ln w="9525">
            <a:solidFill>
              <a:srgbClr val="A9C3C0"/>
            </a:solidFill>
            <a:prstDash val="solid"/>
          </a:ln>
        </p:spPr>
      </p:sp>
      <p:sp>
        <p:nvSpPr>
          <p:cNvPr id="99" name="Text 97"/>
          <p:cNvSpPr/>
          <p:nvPr/>
        </p:nvSpPr>
        <p:spPr>
          <a:xfrm>
            <a:off x="1417320"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00" name="Shape 98"/>
          <p:cNvSpPr/>
          <p:nvPr/>
        </p:nvSpPr>
        <p:spPr>
          <a:xfrm>
            <a:off x="1641348" y="2734056"/>
            <a:ext cx="196596" cy="310896"/>
          </a:xfrm>
          <a:prstGeom prst="rect">
            <a:avLst/>
          </a:prstGeom>
          <a:solidFill>
            <a:srgbClr val="FFFFFF"/>
          </a:solidFill>
          <a:ln w="9525">
            <a:solidFill>
              <a:srgbClr val="A9C3C0"/>
            </a:solidFill>
            <a:prstDash val="solid"/>
          </a:ln>
        </p:spPr>
      </p:sp>
      <p:sp>
        <p:nvSpPr>
          <p:cNvPr id="101" name="Text 99"/>
          <p:cNvSpPr/>
          <p:nvPr/>
        </p:nvSpPr>
        <p:spPr>
          <a:xfrm>
            <a:off x="1641348"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02" name="Shape 100"/>
          <p:cNvSpPr/>
          <p:nvPr/>
        </p:nvSpPr>
        <p:spPr>
          <a:xfrm>
            <a:off x="1865376" y="2734056"/>
            <a:ext cx="196596" cy="310896"/>
          </a:xfrm>
          <a:prstGeom prst="rect">
            <a:avLst/>
          </a:prstGeom>
          <a:solidFill>
            <a:srgbClr val="FBD5D8"/>
          </a:solidFill>
          <a:ln w="15875">
            <a:solidFill>
              <a:srgbClr val="C8414C"/>
            </a:solidFill>
            <a:prstDash val="solid"/>
          </a:ln>
        </p:spPr>
      </p:sp>
      <p:sp>
        <p:nvSpPr>
          <p:cNvPr id="103" name="Text 101"/>
          <p:cNvSpPr/>
          <p:nvPr/>
        </p:nvSpPr>
        <p:spPr>
          <a:xfrm>
            <a:off x="1865376" y="2734056"/>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A</a:t>
            </a:r>
            <a:endParaRPr lang="en-US" sz="1100" dirty="0"/>
          </a:p>
        </p:txBody>
      </p:sp>
      <p:sp>
        <p:nvSpPr>
          <p:cNvPr id="104" name="Shape 102"/>
          <p:cNvSpPr/>
          <p:nvPr/>
        </p:nvSpPr>
        <p:spPr>
          <a:xfrm>
            <a:off x="2089404" y="2734056"/>
            <a:ext cx="196596" cy="310896"/>
          </a:xfrm>
          <a:prstGeom prst="rect">
            <a:avLst/>
          </a:prstGeom>
          <a:solidFill>
            <a:srgbClr val="FFFFFF"/>
          </a:solidFill>
          <a:ln w="9525">
            <a:solidFill>
              <a:srgbClr val="A9C3C0"/>
            </a:solidFill>
            <a:prstDash val="solid"/>
          </a:ln>
        </p:spPr>
      </p:sp>
      <p:sp>
        <p:nvSpPr>
          <p:cNvPr id="105" name="Text 103"/>
          <p:cNvSpPr/>
          <p:nvPr/>
        </p:nvSpPr>
        <p:spPr>
          <a:xfrm>
            <a:off x="2089404"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06" name="Shape 104"/>
          <p:cNvSpPr/>
          <p:nvPr/>
        </p:nvSpPr>
        <p:spPr>
          <a:xfrm>
            <a:off x="2313432" y="2734056"/>
            <a:ext cx="196596" cy="310896"/>
          </a:xfrm>
          <a:prstGeom prst="rect">
            <a:avLst/>
          </a:prstGeom>
          <a:solidFill>
            <a:srgbClr val="FFFFFF"/>
          </a:solidFill>
          <a:ln w="9525">
            <a:solidFill>
              <a:srgbClr val="A9C3C0"/>
            </a:solidFill>
            <a:prstDash val="solid"/>
          </a:ln>
        </p:spPr>
      </p:sp>
      <p:sp>
        <p:nvSpPr>
          <p:cNvPr id="107" name="Text 105"/>
          <p:cNvSpPr/>
          <p:nvPr/>
        </p:nvSpPr>
        <p:spPr>
          <a:xfrm>
            <a:off x="2313432"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08" name="Shape 106"/>
          <p:cNvSpPr/>
          <p:nvPr/>
        </p:nvSpPr>
        <p:spPr>
          <a:xfrm>
            <a:off x="2537460" y="2734056"/>
            <a:ext cx="196596" cy="310896"/>
          </a:xfrm>
          <a:prstGeom prst="rect">
            <a:avLst/>
          </a:prstGeom>
          <a:solidFill>
            <a:srgbClr val="FBD5D8"/>
          </a:solidFill>
          <a:ln w="15875">
            <a:solidFill>
              <a:srgbClr val="C8414C"/>
            </a:solidFill>
            <a:prstDash val="solid"/>
          </a:ln>
        </p:spPr>
      </p:sp>
      <p:sp>
        <p:nvSpPr>
          <p:cNvPr id="109" name="Text 107"/>
          <p:cNvSpPr/>
          <p:nvPr/>
        </p:nvSpPr>
        <p:spPr>
          <a:xfrm>
            <a:off x="2537460" y="2734056"/>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T</a:t>
            </a:r>
            <a:endParaRPr lang="en-US" sz="1100" dirty="0"/>
          </a:p>
        </p:txBody>
      </p:sp>
      <p:sp>
        <p:nvSpPr>
          <p:cNvPr id="110" name="Shape 108"/>
          <p:cNvSpPr/>
          <p:nvPr/>
        </p:nvSpPr>
        <p:spPr>
          <a:xfrm>
            <a:off x="2761488" y="2734056"/>
            <a:ext cx="196596" cy="310896"/>
          </a:xfrm>
          <a:prstGeom prst="rect">
            <a:avLst/>
          </a:prstGeom>
          <a:solidFill>
            <a:srgbClr val="FFFFFF"/>
          </a:solidFill>
          <a:ln w="9525">
            <a:solidFill>
              <a:srgbClr val="A9C3C0"/>
            </a:solidFill>
            <a:prstDash val="solid"/>
          </a:ln>
        </p:spPr>
      </p:sp>
      <p:sp>
        <p:nvSpPr>
          <p:cNvPr id="111" name="Text 109"/>
          <p:cNvSpPr/>
          <p:nvPr/>
        </p:nvSpPr>
        <p:spPr>
          <a:xfrm>
            <a:off x="2761488"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12" name="Shape 110"/>
          <p:cNvSpPr/>
          <p:nvPr/>
        </p:nvSpPr>
        <p:spPr>
          <a:xfrm>
            <a:off x="2985516" y="2734056"/>
            <a:ext cx="196596" cy="310896"/>
          </a:xfrm>
          <a:prstGeom prst="rect">
            <a:avLst/>
          </a:prstGeom>
          <a:solidFill>
            <a:srgbClr val="FFFFFF"/>
          </a:solidFill>
          <a:ln w="9525">
            <a:solidFill>
              <a:srgbClr val="A9C3C0"/>
            </a:solidFill>
            <a:prstDash val="solid"/>
          </a:ln>
        </p:spPr>
      </p:sp>
      <p:sp>
        <p:nvSpPr>
          <p:cNvPr id="113" name="Text 111"/>
          <p:cNvSpPr/>
          <p:nvPr/>
        </p:nvSpPr>
        <p:spPr>
          <a:xfrm>
            <a:off x="2985516"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14" name="Shape 112"/>
          <p:cNvSpPr/>
          <p:nvPr/>
        </p:nvSpPr>
        <p:spPr>
          <a:xfrm>
            <a:off x="3209544" y="2734056"/>
            <a:ext cx="196596" cy="310896"/>
          </a:xfrm>
          <a:prstGeom prst="rect">
            <a:avLst/>
          </a:prstGeom>
          <a:solidFill>
            <a:srgbClr val="FFFFFF"/>
          </a:solidFill>
          <a:ln w="9525">
            <a:solidFill>
              <a:srgbClr val="A9C3C0"/>
            </a:solidFill>
            <a:prstDash val="solid"/>
          </a:ln>
        </p:spPr>
      </p:sp>
      <p:sp>
        <p:nvSpPr>
          <p:cNvPr id="115" name="Text 113"/>
          <p:cNvSpPr/>
          <p:nvPr/>
        </p:nvSpPr>
        <p:spPr>
          <a:xfrm>
            <a:off x="3209544"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16" name="Shape 114"/>
          <p:cNvSpPr/>
          <p:nvPr/>
        </p:nvSpPr>
        <p:spPr>
          <a:xfrm>
            <a:off x="3433572" y="2734056"/>
            <a:ext cx="196596" cy="310896"/>
          </a:xfrm>
          <a:prstGeom prst="rect">
            <a:avLst/>
          </a:prstGeom>
          <a:solidFill>
            <a:srgbClr val="FFFFFF"/>
          </a:solidFill>
          <a:ln w="9525">
            <a:solidFill>
              <a:srgbClr val="A9C3C0"/>
            </a:solidFill>
            <a:prstDash val="solid"/>
          </a:ln>
        </p:spPr>
      </p:sp>
      <p:sp>
        <p:nvSpPr>
          <p:cNvPr id="117" name="Text 115"/>
          <p:cNvSpPr/>
          <p:nvPr/>
        </p:nvSpPr>
        <p:spPr>
          <a:xfrm>
            <a:off x="3433572"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18" name="Shape 116"/>
          <p:cNvSpPr/>
          <p:nvPr/>
        </p:nvSpPr>
        <p:spPr>
          <a:xfrm>
            <a:off x="3657600" y="2734056"/>
            <a:ext cx="196596" cy="310896"/>
          </a:xfrm>
          <a:prstGeom prst="rect">
            <a:avLst/>
          </a:prstGeom>
          <a:solidFill>
            <a:srgbClr val="FFFFFF"/>
          </a:solidFill>
          <a:ln w="9525">
            <a:solidFill>
              <a:srgbClr val="A9C3C0"/>
            </a:solidFill>
            <a:prstDash val="solid"/>
          </a:ln>
        </p:spPr>
      </p:sp>
      <p:sp>
        <p:nvSpPr>
          <p:cNvPr id="119" name="Text 117"/>
          <p:cNvSpPr/>
          <p:nvPr/>
        </p:nvSpPr>
        <p:spPr>
          <a:xfrm>
            <a:off x="3657600"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20" name="Shape 118"/>
          <p:cNvSpPr/>
          <p:nvPr/>
        </p:nvSpPr>
        <p:spPr>
          <a:xfrm>
            <a:off x="3881628" y="2734056"/>
            <a:ext cx="196596" cy="310896"/>
          </a:xfrm>
          <a:prstGeom prst="rect">
            <a:avLst/>
          </a:prstGeom>
          <a:solidFill>
            <a:srgbClr val="FFFFFF"/>
          </a:solidFill>
          <a:ln w="9525">
            <a:solidFill>
              <a:srgbClr val="A9C3C0"/>
            </a:solidFill>
            <a:prstDash val="solid"/>
          </a:ln>
        </p:spPr>
      </p:sp>
      <p:sp>
        <p:nvSpPr>
          <p:cNvPr id="121" name="Text 119"/>
          <p:cNvSpPr/>
          <p:nvPr/>
        </p:nvSpPr>
        <p:spPr>
          <a:xfrm>
            <a:off x="3881628"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22" name="Shape 120"/>
          <p:cNvSpPr/>
          <p:nvPr/>
        </p:nvSpPr>
        <p:spPr>
          <a:xfrm>
            <a:off x="4105656" y="2734056"/>
            <a:ext cx="196596" cy="310896"/>
          </a:xfrm>
          <a:prstGeom prst="rect">
            <a:avLst/>
          </a:prstGeom>
          <a:solidFill>
            <a:srgbClr val="FFFFFF"/>
          </a:solidFill>
          <a:ln w="9525">
            <a:solidFill>
              <a:srgbClr val="A9C3C0"/>
            </a:solidFill>
            <a:prstDash val="solid"/>
          </a:ln>
        </p:spPr>
      </p:sp>
      <p:sp>
        <p:nvSpPr>
          <p:cNvPr id="123" name="Text 121"/>
          <p:cNvSpPr/>
          <p:nvPr/>
        </p:nvSpPr>
        <p:spPr>
          <a:xfrm>
            <a:off x="4105656"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24" name="Shape 122"/>
          <p:cNvSpPr/>
          <p:nvPr/>
        </p:nvSpPr>
        <p:spPr>
          <a:xfrm>
            <a:off x="4329684" y="2734056"/>
            <a:ext cx="196596" cy="310896"/>
          </a:xfrm>
          <a:prstGeom prst="rect">
            <a:avLst/>
          </a:prstGeom>
          <a:solidFill>
            <a:srgbClr val="FFFFFF"/>
          </a:solidFill>
          <a:ln w="9525">
            <a:solidFill>
              <a:srgbClr val="A9C3C0"/>
            </a:solidFill>
            <a:prstDash val="solid"/>
          </a:ln>
        </p:spPr>
      </p:sp>
      <p:sp>
        <p:nvSpPr>
          <p:cNvPr id="125" name="Text 123"/>
          <p:cNvSpPr/>
          <p:nvPr/>
        </p:nvSpPr>
        <p:spPr>
          <a:xfrm>
            <a:off x="4329684"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26" name="Shape 124"/>
          <p:cNvSpPr/>
          <p:nvPr/>
        </p:nvSpPr>
        <p:spPr>
          <a:xfrm>
            <a:off x="4553712" y="2734056"/>
            <a:ext cx="196596" cy="310896"/>
          </a:xfrm>
          <a:prstGeom prst="rect">
            <a:avLst/>
          </a:prstGeom>
          <a:solidFill>
            <a:srgbClr val="FFFFFF"/>
          </a:solidFill>
          <a:ln w="9525">
            <a:solidFill>
              <a:srgbClr val="A9C3C0"/>
            </a:solidFill>
            <a:prstDash val="solid"/>
          </a:ln>
        </p:spPr>
      </p:sp>
      <p:sp>
        <p:nvSpPr>
          <p:cNvPr id="127" name="Text 125"/>
          <p:cNvSpPr/>
          <p:nvPr/>
        </p:nvSpPr>
        <p:spPr>
          <a:xfrm>
            <a:off x="4553712"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28" name="Shape 126"/>
          <p:cNvSpPr/>
          <p:nvPr/>
        </p:nvSpPr>
        <p:spPr>
          <a:xfrm>
            <a:off x="4777740" y="2734056"/>
            <a:ext cx="196596" cy="310896"/>
          </a:xfrm>
          <a:prstGeom prst="rect">
            <a:avLst/>
          </a:prstGeom>
          <a:solidFill>
            <a:srgbClr val="FFFFFF"/>
          </a:solidFill>
          <a:ln w="9525">
            <a:solidFill>
              <a:srgbClr val="A9C3C0"/>
            </a:solidFill>
            <a:prstDash val="solid"/>
          </a:ln>
        </p:spPr>
      </p:sp>
      <p:sp>
        <p:nvSpPr>
          <p:cNvPr id="129" name="Text 127"/>
          <p:cNvSpPr/>
          <p:nvPr/>
        </p:nvSpPr>
        <p:spPr>
          <a:xfrm>
            <a:off x="4777740"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30" name="Shape 128"/>
          <p:cNvSpPr/>
          <p:nvPr/>
        </p:nvSpPr>
        <p:spPr>
          <a:xfrm>
            <a:off x="5001768" y="2734056"/>
            <a:ext cx="196596" cy="310896"/>
          </a:xfrm>
          <a:prstGeom prst="rect">
            <a:avLst/>
          </a:prstGeom>
          <a:solidFill>
            <a:srgbClr val="FFFFFF"/>
          </a:solidFill>
          <a:ln w="9525">
            <a:solidFill>
              <a:srgbClr val="A9C3C0"/>
            </a:solidFill>
            <a:prstDash val="solid"/>
          </a:ln>
        </p:spPr>
      </p:sp>
      <p:sp>
        <p:nvSpPr>
          <p:cNvPr id="131" name="Text 129"/>
          <p:cNvSpPr/>
          <p:nvPr/>
        </p:nvSpPr>
        <p:spPr>
          <a:xfrm>
            <a:off x="5001768"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32" name="Shape 130"/>
          <p:cNvSpPr/>
          <p:nvPr/>
        </p:nvSpPr>
        <p:spPr>
          <a:xfrm>
            <a:off x="5225796" y="2734056"/>
            <a:ext cx="196596" cy="310896"/>
          </a:xfrm>
          <a:prstGeom prst="rect">
            <a:avLst/>
          </a:prstGeom>
          <a:solidFill>
            <a:srgbClr val="FFFFFF"/>
          </a:solidFill>
          <a:ln w="9525">
            <a:solidFill>
              <a:srgbClr val="A9C3C0"/>
            </a:solidFill>
            <a:prstDash val="solid"/>
          </a:ln>
        </p:spPr>
      </p:sp>
      <p:sp>
        <p:nvSpPr>
          <p:cNvPr id="133" name="Text 131"/>
          <p:cNvSpPr/>
          <p:nvPr/>
        </p:nvSpPr>
        <p:spPr>
          <a:xfrm>
            <a:off x="5225796"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34" name="Shape 132"/>
          <p:cNvSpPr/>
          <p:nvPr/>
        </p:nvSpPr>
        <p:spPr>
          <a:xfrm>
            <a:off x="5449824" y="2734056"/>
            <a:ext cx="196596" cy="310896"/>
          </a:xfrm>
          <a:prstGeom prst="rect">
            <a:avLst/>
          </a:prstGeom>
          <a:solidFill>
            <a:srgbClr val="FFFFFF"/>
          </a:solidFill>
          <a:ln w="9525">
            <a:solidFill>
              <a:srgbClr val="A9C3C0"/>
            </a:solidFill>
            <a:prstDash val="solid"/>
          </a:ln>
        </p:spPr>
      </p:sp>
      <p:sp>
        <p:nvSpPr>
          <p:cNvPr id="135" name="Text 133"/>
          <p:cNvSpPr/>
          <p:nvPr/>
        </p:nvSpPr>
        <p:spPr>
          <a:xfrm>
            <a:off x="5449824"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36" name="Shape 134"/>
          <p:cNvSpPr/>
          <p:nvPr/>
        </p:nvSpPr>
        <p:spPr>
          <a:xfrm>
            <a:off x="5673852" y="2734056"/>
            <a:ext cx="196596" cy="310896"/>
          </a:xfrm>
          <a:prstGeom prst="rect">
            <a:avLst/>
          </a:prstGeom>
          <a:solidFill>
            <a:srgbClr val="FFFFFF"/>
          </a:solidFill>
          <a:ln w="9525">
            <a:solidFill>
              <a:srgbClr val="A9C3C0"/>
            </a:solidFill>
            <a:prstDash val="solid"/>
          </a:ln>
        </p:spPr>
      </p:sp>
      <p:sp>
        <p:nvSpPr>
          <p:cNvPr id="137" name="Text 135"/>
          <p:cNvSpPr/>
          <p:nvPr/>
        </p:nvSpPr>
        <p:spPr>
          <a:xfrm>
            <a:off x="5673852" y="2734056"/>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38" name="Text 136"/>
          <p:cNvSpPr/>
          <p:nvPr/>
        </p:nvSpPr>
        <p:spPr>
          <a:xfrm>
            <a:off x="502920" y="3300984"/>
            <a:ext cx="896112" cy="310896"/>
          </a:xfrm>
          <a:prstGeom prst="rect">
            <a:avLst/>
          </a:prstGeom>
          <a:noFill/>
          <a:ln/>
        </p:spPr>
        <p:txBody>
          <a:bodyPr wrap="square" lIns="0" tIns="0" rIns="0" bIns="0" rtlCol="0" anchor="ctr"/>
          <a:lstStyle/>
          <a:p>
            <a:pPr algn="r" indent="0" marL="0">
              <a:buNone/>
            </a:pPr>
            <a:r>
              <a:rPr lang="en-US" sz="1050" b="1" dirty="0">
                <a:solidFill>
                  <a:srgbClr val="262B3A"/>
                </a:solidFill>
                <a:latin typeface="Calibri" pitchFamily="34" charset="0"/>
                <a:ea typeface="Calibri" pitchFamily="34" charset="-122"/>
                <a:cs typeface="Calibri" pitchFamily="34" charset="-120"/>
              </a:rPr>
              <a:t>Orangutan</a:t>
            </a:r>
            <a:endParaRPr lang="en-US" sz="1050" dirty="0"/>
          </a:p>
        </p:txBody>
      </p:sp>
      <p:sp>
        <p:nvSpPr>
          <p:cNvPr id="139" name="Shape 137"/>
          <p:cNvSpPr/>
          <p:nvPr/>
        </p:nvSpPr>
        <p:spPr>
          <a:xfrm>
            <a:off x="1417320" y="3300984"/>
            <a:ext cx="196596" cy="310896"/>
          </a:xfrm>
          <a:prstGeom prst="rect">
            <a:avLst/>
          </a:prstGeom>
          <a:solidFill>
            <a:srgbClr val="FFFFFF"/>
          </a:solidFill>
          <a:ln w="9525">
            <a:solidFill>
              <a:srgbClr val="A9C3C0"/>
            </a:solidFill>
            <a:prstDash val="solid"/>
          </a:ln>
        </p:spPr>
      </p:sp>
      <p:sp>
        <p:nvSpPr>
          <p:cNvPr id="140" name="Text 138"/>
          <p:cNvSpPr/>
          <p:nvPr/>
        </p:nvSpPr>
        <p:spPr>
          <a:xfrm>
            <a:off x="1417320"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41" name="Shape 139"/>
          <p:cNvSpPr/>
          <p:nvPr/>
        </p:nvSpPr>
        <p:spPr>
          <a:xfrm>
            <a:off x="1641348" y="3300984"/>
            <a:ext cx="196596" cy="310896"/>
          </a:xfrm>
          <a:prstGeom prst="rect">
            <a:avLst/>
          </a:prstGeom>
          <a:solidFill>
            <a:srgbClr val="FFFFFF"/>
          </a:solidFill>
          <a:ln w="9525">
            <a:solidFill>
              <a:srgbClr val="A9C3C0"/>
            </a:solidFill>
            <a:prstDash val="solid"/>
          </a:ln>
        </p:spPr>
      </p:sp>
      <p:sp>
        <p:nvSpPr>
          <p:cNvPr id="142" name="Text 140"/>
          <p:cNvSpPr/>
          <p:nvPr/>
        </p:nvSpPr>
        <p:spPr>
          <a:xfrm>
            <a:off x="1641348"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43" name="Shape 141"/>
          <p:cNvSpPr/>
          <p:nvPr/>
        </p:nvSpPr>
        <p:spPr>
          <a:xfrm>
            <a:off x="1865376" y="3300984"/>
            <a:ext cx="196596" cy="310896"/>
          </a:xfrm>
          <a:prstGeom prst="rect">
            <a:avLst/>
          </a:prstGeom>
          <a:solidFill>
            <a:srgbClr val="FFFFFF"/>
          </a:solidFill>
          <a:ln w="9525">
            <a:solidFill>
              <a:srgbClr val="A9C3C0"/>
            </a:solidFill>
            <a:prstDash val="solid"/>
          </a:ln>
        </p:spPr>
      </p:sp>
      <p:sp>
        <p:nvSpPr>
          <p:cNvPr id="144" name="Text 142"/>
          <p:cNvSpPr/>
          <p:nvPr/>
        </p:nvSpPr>
        <p:spPr>
          <a:xfrm>
            <a:off x="1865376"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45" name="Shape 143"/>
          <p:cNvSpPr/>
          <p:nvPr/>
        </p:nvSpPr>
        <p:spPr>
          <a:xfrm>
            <a:off x="2089404" y="3300984"/>
            <a:ext cx="196596" cy="310896"/>
          </a:xfrm>
          <a:prstGeom prst="rect">
            <a:avLst/>
          </a:prstGeom>
          <a:solidFill>
            <a:srgbClr val="FFFFFF"/>
          </a:solidFill>
          <a:ln w="9525">
            <a:solidFill>
              <a:srgbClr val="A9C3C0"/>
            </a:solidFill>
            <a:prstDash val="solid"/>
          </a:ln>
        </p:spPr>
      </p:sp>
      <p:sp>
        <p:nvSpPr>
          <p:cNvPr id="146" name="Text 144"/>
          <p:cNvSpPr/>
          <p:nvPr/>
        </p:nvSpPr>
        <p:spPr>
          <a:xfrm>
            <a:off x="2089404"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47" name="Shape 145"/>
          <p:cNvSpPr/>
          <p:nvPr/>
        </p:nvSpPr>
        <p:spPr>
          <a:xfrm>
            <a:off x="2313432" y="3300984"/>
            <a:ext cx="196596" cy="310896"/>
          </a:xfrm>
          <a:prstGeom prst="rect">
            <a:avLst/>
          </a:prstGeom>
          <a:solidFill>
            <a:srgbClr val="FFFFFF"/>
          </a:solidFill>
          <a:ln w="9525">
            <a:solidFill>
              <a:srgbClr val="A9C3C0"/>
            </a:solidFill>
            <a:prstDash val="solid"/>
          </a:ln>
        </p:spPr>
      </p:sp>
      <p:sp>
        <p:nvSpPr>
          <p:cNvPr id="148" name="Text 146"/>
          <p:cNvSpPr/>
          <p:nvPr/>
        </p:nvSpPr>
        <p:spPr>
          <a:xfrm>
            <a:off x="2313432"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49" name="Shape 147"/>
          <p:cNvSpPr/>
          <p:nvPr/>
        </p:nvSpPr>
        <p:spPr>
          <a:xfrm>
            <a:off x="2537460" y="3300984"/>
            <a:ext cx="196596" cy="310896"/>
          </a:xfrm>
          <a:prstGeom prst="rect">
            <a:avLst/>
          </a:prstGeom>
          <a:solidFill>
            <a:srgbClr val="FBD5D8"/>
          </a:solidFill>
          <a:ln w="15875">
            <a:solidFill>
              <a:srgbClr val="C8414C"/>
            </a:solidFill>
            <a:prstDash val="solid"/>
          </a:ln>
        </p:spPr>
      </p:sp>
      <p:sp>
        <p:nvSpPr>
          <p:cNvPr id="150" name="Text 148"/>
          <p:cNvSpPr/>
          <p:nvPr/>
        </p:nvSpPr>
        <p:spPr>
          <a:xfrm>
            <a:off x="2537460" y="3300984"/>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T</a:t>
            </a:r>
            <a:endParaRPr lang="en-US" sz="1100" dirty="0"/>
          </a:p>
        </p:txBody>
      </p:sp>
      <p:sp>
        <p:nvSpPr>
          <p:cNvPr id="151" name="Shape 149"/>
          <p:cNvSpPr/>
          <p:nvPr/>
        </p:nvSpPr>
        <p:spPr>
          <a:xfrm>
            <a:off x="2761488" y="3300984"/>
            <a:ext cx="196596" cy="310896"/>
          </a:xfrm>
          <a:prstGeom prst="rect">
            <a:avLst/>
          </a:prstGeom>
          <a:solidFill>
            <a:srgbClr val="FFFFFF"/>
          </a:solidFill>
          <a:ln w="9525">
            <a:solidFill>
              <a:srgbClr val="A9C3C0"/>
            </a:solidFill>
            <a:prstDash val="solid"/>
          </a:ln>
        </p:spPr>
      </p:sp>
      <p:sp>
        <p:nvSpPr>
          <p:cNvPr id="152" name="Text 150"/>
          <p:cNvSpPr/>
          <p:nvPr/>
        </p:nvSpPr>
        <p:spPr>
          <a:xfrm>
            <a:off x="2761488"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53" name="Shape 151"/>
          <p:cNvSpPr/>
          <p:nvPr/>
        </p:nvSpPr>
        <p:spPr>
          <a:xfrm>
            <a:off x="2985516" y="3300984"/>
            <a:ext cx="196596" cy="310896"/>
          </a:xfrm>
          <a:prstGeom prst="rect">
            <a:avLst/>
          </a:prstGeom>
          <a:solidFill>
            <a:srgbClr val="FFFFFF"/>
          </a:solidFill>
          <a:ln w="9525">
            <a:solidFill>
              <a:srgbClr val="A9C3C0"/>
            </a:solidFill>
            <a:prstDash val="solid"/>
          </a:ln>
        </p:spPr>
      </p:sp>
      <p:sp>
        <p:nvSpPr>
          <p:cNvPr id="154" name="Text 152"/>
          <p:cNvSpPr/>
          <p:nvPr/>
        </p:nvSpPr>
        <p:spPr>
          <a:xfrm>
            <a:off x="2985516"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55" name="Shape 153"/>
          <p:cNvSpPr/>
          <p:nvPr/>
        </p:nvSpPr>
        <p:spPr>
          <a:xfrm>
            <a:off x="3209544" y="3300984"/>
            <a:ext cx="196596" cy="310896"/>
          </a:xfrm>
          <a:prstGeom prst="rect">
            <a:avLst/>
          </a:prstGeom>
          <a:solidFill>
            <a:srgbClr val="FBD5D8"/>
          </a:solidFill>
          <a:ln w="15875">
            <a:solidFill>
              <a:srgbClr val="C8414C"/>
            </a:solidFill>
            <a:prstDash val="solid"/>
          </a:ln>
        </p:spPr>
      </p:sp>
      <p:sp>
        <p:nvSpPr>
          <p:cNvPr id="156" name="Text 154"/>
          <p:cNvSpPr/>
          <p:nvPr/>
        </p:nvSpPr>
        <p:spPr>
          <a:xfrm>
            <a:off x="3209544" y="3300984"/>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T</a:t>
            </a:r>
            <a:endParaRPr lang="en-US" sz="1100" dirty="0"/>
          </a:p>
        </p:txBody>
      </p:sp>
      <p:sp>
        <p:nvSpPr>
          <p:cNvPr id="157" name="Shape 155"/>
          <p:cNvSpPr/>
          <p:nvPr/>
        </p:nvSpPr>
        <p:spPr>
          <a:xfrm>
            <a:off x="3433572" y="3300984"/>
            <a:ext cx="196596" cy="310896"/>
          </a:xfrm>
          <a:prstGeom prst="rect">
            <a:avLst/>
          </a:prstGeom>
          <a:solidFill>
            <a:srgbClr val="FFFFFF"/>
          </a:solidFill>
          <a:ln w="9525">
            <a:solidFill>
              <a:srgbClr val="A9C3C0"/>
            </a:solidFill>
            <a:prstDash val="solid"/>
          </a:ln>
        </p:spPr>
      </p:sp>
      <p:sp>
        <p:nvSpPr>
          <p:cNvPr id="158" name="Text 156"/>
          <p:cNvSpPr/>
          <p:nvPr/>
        </p:nvSpPr>
        <p:spPr>
          <a:xfrm>
            <a:off x="3433572"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59" name="Shape 157"/>
          <p:cNvSpPr/>
          <p:nvPr/>
        </p:nvSpPr>
        <p:spPr>
          <a:xfrm>
            <a:off x="3657600" y="3300984"/>
            <a:ext cx="196596" cy="310896"/>
          </a:xfrm>
          <a:prstGeom prst="rect">
            <a:avLst/>
          </a:prstGeom>
          <a:solidFill>
            <a:srgbClr val="FFFFFF"/>
          </a:solidFill>
          <a:ln w="9525">
            <a:solidFill>
              <a:srgbClr val="A9C3C0"/>
            </a:solidFill>
            <a:prstDash val="solid"/>
          </a:ln>
        </p:spPr>
      </p:sp>
      <p:sp>
        <p:nvSpPr>
          <p:cNvPr id="160" name="Text 158"/>
          <p:cNvSpPr/>
          <p:nvPr/>
        </p:nvSpPr>
        <p:spPr>
          <a:xfrm>
            <a:off x="3657600"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61" name="Shape 159"/>
          <p:cNvSpPr/>
          <p:nvPr/>
        </p:nvSpPr>
        <p:spPr>
          <a:xfrm>
            <a:off x="3881628" y="3300984"/>
            <a:ext cx="196596" cy="310896"/>
          </a:xfrm>
          <a:prstGeom prst="rect">
            <a:avLst/>
          </a:prstGeom>
          <a:solidFill>
            <a:srgbClr val="FFFFFF"/>
          </a:solidFill>
          <a:ln w="9525">
            <a:solidFill>
              <a:srgbClr val="A9C3C0"/>
            </a:solidFill>
            <a:prstDash val="solid"/>
          </a:ln>
        </p:spPr>
      </p:sp>
      <p:sp>
        <p:nvSpPr>
          <p:cNvPr id="162" name="Text 160"/>
          <p:cNvSpPr/>
          <p:nvPr/>
        </p:nvSpPr>
        <p:spPr>
          <a:xfrm>
            <a:off x="3881628"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63" name="Shape 161"/>
          <p:cNvSpPr/>
          <p:nvPr/>
        </p:nvSpPr>
        <p:spPr>
          <a:xfrm>
            <a:off x="4105656" y="3300984"/>
            <a:ext cx="196596" cy="310896"/>
          </a:xfrm>
          <a:prstGeom prst="rect">
            <a:avLst/>
          </a:prstGeom>
          <a:solidFill>
            <a:srgbClr val="FBD5D8"/>
          </a:solidFill>
          <a:ln w="15875">
            <a:solidFill>
              <a:srgbClr val="C8414C"/>
            </a:solidFill>
            <a:prstDash val="solid"/>
          </a:ln>
        </p:spPr>
      </p:sp>
      <p:sp>
        <p:nvSpPr>
          <p:cNvPr id="164" name="Text 162"/>
          <p:cNvSpPr/>
          <p:nvPr/>
        </p:nvSpPr>
        <p:spPr>
          <a:xfrm>
            <a:off x="4105656" y="3300984"/>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A</a:t>
            </a:r>
            <a:endParaRPr lang="en-US" sz="1100" dirty="0"/>
          </a:p>
        </p:txBody>
      </p:sp>
      <p:sp>
        <p:nvSpPr>
          <p:cNvPr id="165" name="Shape 163"/>
          <p:cNvSpPr/>
          <p:nvPr/>
        </p:nvSpPr>
        <p:spPr>
          <a:xfrm>
            <a:off x="4329684" y="3300984"/>
            <a:ext cx="196596" cy="310896"/>
          </a:xfrm>
          <a:prstGeom prst="rect">
            <a:avLst/>
          </a:prstGeom>
          <a:solidFill>
            <a:srgbClr val="FFFFFF"/>
          </a:solidFill>
          <a:ln w="9525">
            <a:solidFill>
              <a:srgbClr val="A9C3C0"/>
            </a:solidFill>
            <a:prstDash val="solid"/>
          </a:ln>
        </p:spPr>
      </p:sp>
      <p:sp>
        <p:nvSpPr>
          <p:cNvPr id="166" name="Text 164"/>
          <p:cNvSpPr/>
          <p:nvPr/>
        </p:nvSpPr>
        <p:spPr>
          <a:xfrm>
            <a:off x="4329684"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G</a:t>
            </a:r>
            <a:endParaRPr lang="en-US" sz="1100" dirty="0"/>
          </a:p>
        </p:txBody>
      </p:sp>
      <p:sp>
        <p:nvSpPr>
          <p:cNvPr id="167" name="Shape 165"/>
          <p:cNvSpPr/>
          <p:nvPr/>
        </p:nvSpPr>
        <p:spPr>
          <a:xfrm>
            <a:off x="4553712" y="3300984"/>
            <a:ext cx="196596" cy="310896"/>
          </a:xfrm>
          <a:prstGeom prst="rect">
            <a:avLst/>
          </a:prstGeom>
          <a:solidFill>
            <a:srgbClr val="FBD5D8"/>
          </a:solidFill>
          <a:ln w="15875">
            <a:solidFill>
              <a:srgbClr val="C8414C"/>
            </a:solidFill>
            <a:prstDash val="solid"/>
          </a:ln>
        </p:spPr>
      </p:sp>
      <p:sp>
        <p:nvSpPr>
          <p:cNvPr id="168" name="Text 166"/>
          <p:cNvSpPr/>
          <p:nvPr/>
        </p:nvSpPr>
        <p:spPr>
          <a:xfrm>
            <a:off x="4553712" y="3300984"/>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A</a:t>
            </a:r>
            <a:endParaRPr lang="en-US" sz="1100" dirty="0"/>
          </a:p>
        </p:txBody>
      </p:sp>
      <p:sp>
        <p:nvSpPr>
          <p:cNvPr id="169" name="Shape 167"/>
          <p:cNvSpPr/>
          <p:nvPr/>
        </p:nvSpPr>
        <p:spPr>
          <a:xfrm>
            <a:off x="4777740" y="3300984"/>
            <a:ext cx="196596" cy="310896"/>
          </a:xfrm>
          <a:prstGeom prst="rect">
            <a:avLst/>
          </a:prstGeom>
          <a:solidFill>
            <a:srgbClr val="FFFFFF"/>
          </a:solidFill>
          <a:ln w="9525">
            <a:solidFill>
              <a:srgbClr val="A9C3C0"/>
            </a:solidFill>
            <a:prstDash val="solid"/>
          </a:ln>
        </p:spPr>
      </p:sp>
      <p:sp>
        <p:nvSpPr>
          <p:cNvPr id="170" name="Text 168"/>
          <p:cNvSpPr/>
          <p:nvPr/>
        </p:nvSpPr>
        <p:spPr>
          <a:xfrm>
            <a:off x="4777740"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71" name="Shape 169"/>
          <p:cNvSpPr/>
          <p:nvPr/>
        </p:nvSpPr>
        <p:spPr>
          <a:xfrm>
            <a:off x="5001768" y="3300984"/>
            <a:ext cx="196596" cy="310896"/>
          </a:xfrm>
          <a:prstGeom prst="rect">
            <a:avLst/>
          </a:prstGeom>
          <a:solidFill>
            <a:srgbClr val="FFFFFF"/>
          </a:solidFill>
          <a:ln w="9525">
            <a:solidFill>
              <a:srgbClr val="A9C3C0"/>
            </a:solidFill>
            <a:prstDash val="solid"/>
          </a:ln>
        </p:spPr>
      </p:sp>
      <p:sp>
        <p:nvSpPr>
          <p:cNvPr id="172" name="Text 170"/>
          <p:cNvSpPr/>
          <p:nvPr/>
        </p:nvSpPr>
        <p:spPr>
          <a:xfrm>
            <a:off x="5001768"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T</a:t>
            </a:r>
            <a:endParaRPr lang="en-US" sz="1100" dirty="0"/>
          </a:p>
        </p:txBody>
      </p:sp>
      <p:sp>
        <p:nvSpPr>
          <p:cNvPr id="173" name="Shape 171"/>
          <p:cNvSpPr/>
          <p:nvPr/>
        </p:nvSpPr>
        <p:spPr>
          <a:xfrm>
            <a:off x="5225796" y="3300984"/>
            <a:ext cx="196596" cy="310896"/>
          </a:xfrm>
          <a:prstGeom prst="rect">
            <a:avLst/>
          </a:prstGeom>
          <a:solidFill>
            <a:srgbClr val="FFFFFF"/>
          </a:solidFill>
          <a:ln w="9525">
            <a:solidFill>
              <a:srgbClr val="A9C3C0"/>
            </a:solidFill>
            <a:prstDash val="solid"/>
          </a:ln>
        </p:spPr>
      </p:sp>
      <p:sp>
        <p:nvSpPr>
          <p:cNvPr id="174" name="Text 172"/>
          <p:cNvSpPr/>
          <p:nvPr/>
        </p:nvSpPr>
        <p:spPr>
          <a:xfrm>
            <a:off x="5225796"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C</a:t>
            </a:r>
            <a:endParaRPr lang="en-US" sz="1100" dirty="0"/>
          </a:p>
        </p:txBody>
      </p:sp>
      <p:sp>
        <p:nvSpPr>
          <p:cNvPr id="175" name="Shape 173"/>
          <p:cNvSpPr/>
          <p:nvPr/>
        </p:nvSpPr>
        <p:spPr>
          <a:xfrm>
            <a:off x="5449824" y="3300984"/>
            <a:ext cx="196596" cy="310896"/>
          </a:xfrm>
          <a:prstGeom prst="rect">
            <a:avLst/>
          </a:prstGeom>
          <a:solidFill>
            <a:srgbClr val="FBD5D8"/>
          </a:solidFill>
          <a:ln w="15875">
            <a:solidFill>
              <a:srgbClr val="C8414C"/>
            </a:solidFill>
            <a:prstDash val="solid"/>
          </a:ln>
        </p:spPr>
      </p:sp>
      <p:sp>
        <p:nvSpPr>
          <p:cNvPr id="176" name="Text 174"/>
          <p:cNvSpPr/>
          <p:nvPr/>
        </p:nvSpPr>
        <p:spPr>
          <a:xfrm>
            <a:off x="5449824" y="3300984"/>
            <a:ext cx="196596" cy="310896"/>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A</a:t>
            </a:r>
            <a:endParaRPr lang="en-US" sz="1100" dirty="0"/>
          </a:p>
        </p:txBody>
      </p:sp>
      <p:sp>
        <p:nvSpPr>
          <p:cNvPr id="177" name="Shape 175"/>
          <p:cNvSpPr/>
          <p:nvPr/>
        </p:nvSpPr>
        <p:spPr>
          <a:xfrm>
            <a:off x="5673852" y="3300984"/>
            <a:ext cx="196596" cy="310896"/>
          </a:xfrm>
          <a:prstGeom prst="rect">
            <a:avLst/>
          </a:prstGeom>
          <a:solidFill>
            <a:srgbClr val="FFFFFF"/>
          </a:solidFill>
          <a:ln w="9525">
            <a:solidFill>
              <a:srgbClr val="A9C3C0"/>
            </a:solidFill>
            <a:prstDash val="solid"/>
          </a:ln>
        </p:spPr>
      </p:sp>
      <p:sp>
        <p:nvSpPr>
          <p:cNvPr id="178" name="Text 176"/>
          <p:cNvSpPr/>
          <p:nvPr/>
        </p:nvSpPr>
        <p:spPr>
          <a:xfrm>
            <a:off x="5673852" y="3300984"/>
            <a:ext cx="196596" cy="310896"/>
          </a:xfrm>
          <a:prstGeom prst="rect">
            <a:avLst/>
          </a:prstGeom>
          <a:noFill/>
          <a:ln/>
        </p:spPr>
        <p:txBody>
          <a:bodyPr wrap="square" lIns="0" tIns="0" rIns="0" bIns="0" rtlCol="0" anchor="ctr"/>
          <a:lstStyle/>
          <a:p>
            <a:pPr algn="ctr" indent="0" marL="0">
              <a:buNone/>
            </a:pPr>
            <a:r>
              <a:rPr lang="en-US" sz="1100" b="1" dirty="0">
                <a:solidFill>
                  <a:srgbClr val="133536"/>
                </a:solidFill>
                <a:latin typeface="Calibri" pitchFamily="34" charset="0"/>
                <a:ea typeface="Calibri" pitchFamily="34" charset="-122"/>
                <a:cs typeface="Calibri" pitchFamily="34" charset="-120"/>
              </a:rPr>
              <a:t>A</a:t>
            </a:r>
            <a:endParaRPr lang="en-US" sz="1100" dirty="0"/>
          </a:p>
        </p:txBody>
      </p:sp>
      <p:sp>
        <p:nvSpPr>
          <p:cNvPr id="179" name="Text 177"/>
          <p:cNvSpPr/>
          <p:nvPr/>
        </p:nvSpPr>
        <p:spPr>
          <a:xfrm>
            <a:off x="548640" y="3904488"/>
            <a:ext cx="5212080" cy="256032"/>
          </a:xfrm>
          <a:prstGeom prst="rect">
            <a:avLst/>
          </a:prstGeom>
          <a:noFill/>
          <a:ln/>
        </p:spPr>
        <p:txBody>
          <a:bodyPr wrap="square" lIns="0" tIns="0" rIns="0" bIns="0" rtlCol="0" anchor="ctr"/>
          <a:lstStyle/>
          <a:p>
            <a:pPr algn="l" indent="0" marL="0">
              <a:buNone/>
            </a:pPr>
            <a:r>
              <a:rPr lang="en-US" sz="1100" b="1" dirty="0">
                <a:solidFill>
                  <a:srgbClr val="262B3A"/>
                </a:solidFill>
                <a:latin typeface="Calibri" pitchFamily="34" charset="0"/>
                <a:ea typeface="Calibri" pitchFamily="34" charset="-122"/>
                <a:cs typeface="Calibri" pitchFamily="34" charset="-120"/>
              </a:rPr>
              <a:t>Differences from human, out of 20 bases:</a:t>
            </a:r>
            <a:endParaRPr lang="en-US" sz="1100" dirty="0"/>
          </a:p>
        </p:txBody>
      </p:sp>
      <p:sp>
        <p:nvSpPr>
          <p:cNvPr id="180" name="Shape 178"/>
          <p:cNvSpPr/>
          <p:nvPr/>
        </p:nvSpPr>
        <p:spPr>
          <a:xfrm>
            <a:off x="685800" y="4224528"/>
            <a:ext cx="1645920" cy="822960"/>
          </a:xfrm>
          <a:prstGeom prst="roundRect">
            <a:avLst>
              <a:gd name="adj" fmla="val 5556"/>
            </a:avLst>
          </a:prstGeom>
          <a:solidFill>
            <a:srgbClr val="FFFFFF"/>
          </a:solidFill>
          <a:ln w="12700">
            <a:solidFill>
              <a:srgbClr val="CFE0DE"/>
            </a:solidFill>
            <a:prstDash val="solid"/>
          </a:ln>
        </p:spPr>
      </p:sp>
      <p:sp>
        <p:nvSpPr>
          <p:cNvPr id="181" name="Text 179"/>
          <p:cNvSpPr/>
          <p:nvPr/>
        </p:nvSpPr>
        <p:spPr>
          <a:xfrm>
            <a:off x="685800" y="4242816"/>
            <a:ext cx="16459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Chimpanzee</a:t>
            </a:r>
            <a:endParaRPr lang="en-US" sz="1050" dirty="0"/>
          </a:p>
        </p:txBody>
      </p:sp>
      <p:sp>
        <p:nvSpPr>
          <p:cNvPr id="182" name="Text 180"/>
          <p:cNvSpPr/>
          <p:nvPr/>
        </p:nvSpPr>
        <p:spPr>
          <a:xfrm>
            <a:off x="685800" y="4480560"/>
            <a:ext cx="1645920" cy="237744"/>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1 different</a:t>
            </a:r>
            <a:endParaRPr lang="en-US" sz="1100" dirty="0"/>
          </a:p>
        </p:txBody>
      </p:sp>
      <p:sp>
        <p:nvSpPr>
          <p:cNvPr id="183" name="Text 181"/>
          <p:cNvSpPr/>
          <p:nvPr/>
        </p:nvSpPr>
        <p:spPr>
          <a:xfrm>
            <a:off x="685800" y="4718304"/>
            <a:ext cx="16459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95% the same</a:t>
            </a:r>
            <a:endParaRPr lang="en-US" sz="1050" dirty="0"/>
          </a:p>
        </p:txBody>
      </p:sp>
      <p:sp>
        <p:nvSpPr>
          <p:cNvPr id="184" name="Shape 182"/>
          <p:cNvSpPr/>
          <p:nvPr/>
        </p:nvSpPr>
        <p:spPr>
          <a:xfrm>
            <a:off x="2468880" y="4224528"/>
            <a:ext cx="1645920" cy="822960"/>
          </a:xfrm>
          <a:prstGeom prst="roundRect">
            <a:avLst>
              <a:gd name="adj" fmla="val 5556"/>
            </a:avLst>
          </a:prstGeom>
          <a:solidFill>
            <a:srgbClr val="FFFFFF"/>
          </a:solidFill>
          <a:ln w="12700">
            <a:solidFill>
              <a:srgbClr val="CFE0DE"/>
            </a:solidFill>
            <a:prstDash val="solid"/>
          </a:ln>
        </p:spPr>
      </p:sp>
      <p:sp>
        <p:nvSpPr>
          <p:cNvPr id="185" name="Text 183"/>
          <p:cNvSpPr/>
          <p:nvPr/>
        </p:nvSpPr>
        <p:spPr>
          <a:xfrm>
            <a:off x="2468880" y="4242816"/>
            <a:ext cx="16459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Gorilla</a:t>
            </a:r>
            <a:endParaRPr lang="en-US" sz="1050" dirty="0"/>
          </a:p>
        </p:txBody>
      </p:sp>
      <p:sp>
        <p:nvSpPr>
          <p:cNvPr id="186" name="Text 184"/>
          <p:cNvSpPr/>
          <p:nvPr/>
        </p:nvSpPr>
        <p:spPr>
          <a:xfrm>
            <a:off x="2468880" y="4480560"/>
            <a:ext cx="1645920" cy="237744"/>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2 different</a:t>
            </a:r>
            <a:endParaRPr lang="en-US" sz="1100" dirty="0"/>
          </a:p>
        </p:txBody>
      </p:sp>
      <p:sp>
        <p:nvSpPr>
          <p:cNvPr id="187" name="Text 185"/>
          <p:cNvSpPr/>
          <p:nvPr/>
        </p:nvSpPr>
        <p:spPr>
          <a:xfrm>
            <a:off x="2468880" y="4718304"/>
            <a:ext cx="16459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90% the same</a:t>
            </a:r>
            <a:endParaRPr lang="en-US" sz="1050" dirty="0"/>
          </a:p>
        </p:txBody>
      </p:sp>
      <p:sp>
        <p:nvSpPr>
          <p:cNvPr id="188" name="Shape 186"/>
          <p:cNvSpPr/>
          <p:nvPr/>
        </p:nvSpPr>
        <p:spPr>
          <a:xfrm>
            <a:off x="4251960" y="4224528"/>
            <a:ext cx="1645920" cy="822960"/>
          </a:xfrm>
          <a:prstGeom prst="roundRect">
            <a:avLst>
              <a:gd name="adj" fmla="val 5556"/>
            </a:avLst>
          </a:prstGeom>
          <a:solidFill>
            <a:srgbClr val="FFFFFF"/>
          </a:solidFill>
          <a:ln w="12700">
            <a:solidFill>
              <a:srgbClr val="CFE0DE"/>
            </a:solidFill>
            <a:prstDash val="solid"/>
          </a:ln>
        </p:spPr>
      </p:sp>
      <p:sp>
        <p:nvSpPr>
          <p:cNvPr id="189" name="Text 187"/>
          <p:cNvSpPr/>
          <p:nvPr/>
        </p:nvSpPr>
        <p:spPr>
          <a:xfrm>
            <a:off x="4251960" y="4242816"/>
            <a:ext cx="16459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Orangutan</a:t>
            </a:r>
            <a:endParaRPr lang="en-US" sz="1050" dirty="0"/>
          </a:p>
        </p:txBody>
      </p:sp>
      <p:sp>
        <p:nvSpPr>
          <p:cNvPr id="190" name="Text 188"/>
          <p:cNvSpPr/>
          <p:nvPr/>
        </p:nvSpPr>
        <p:spPr>
          <a:xfrm>
            <a:off x="4251960" y="4480560"/>
            <a:ext cx="1645920" cy="237744"/>
          </a:xfrm>
          <a:prstGeom prst="rect">
            <a:avLst/>
          </a:prstGeom>
          <a:noFill/>
          <a:ln/>
        </p:spPr>
        <p:txBody>
          <a:bodyPr wrap="square" lIns="0" tIns="0" rIns="0" bIns="0" rtlCol="0" anchor="ctr"/>
          <a:lstStyle/>
          <a:p>
            <a:pPr algn="ctr" indent="0" marL="0">
              <a:buNone/>
            </a:pPr>
            <a:r>
              <a:rPr lang="en-US" sz="1100" b="1" dirty="0">
                <a:solidFill>
                  <a:srgbClr val="C8414C"/>
                </a:solidFill>
                <a:latin typeface="Calibri" pitchFamily="34" charset="0"/>
                <a:ea typeface="Calibri" pitchFamily="34" charset="-122"/>
                <a:cs typeface="Calibri" pitchFamily="34" charset="-120"/>
              </a:rPr>
              <a:t>5 different</a:t>
            </a:r>
            <a:endParaRPr lang="en-US" sz="1100" dirty="0"/>
          </a:p>
        </p:txBody>
      </p:sp>
      <p:sp>
        <p:nvSpPr>
          <p:cNvPr id="191" name="Text 189"/>
          <p:cNvSpPr/>
          <p:nvPr/>
        </p:nvSpPr>
        <p:spPr>
          <a:xfrm>
            <a:off x="4251960" y="4718304"/>
            <a:ext cx="164592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75% the same</a:t>
            </a:r>
            <a:endParaRPr lang="en-US" sz="1050" dirty="0"/>
          </a:p>
        </p:txBody>
      </p:sp>
      <p:sp>
        <p:nvSpPr>
          <p:cNvPr id="192" name="Shape 190"/>
          <p:cNvSpPr/>
          <p:nvPr/>
        </p:nvSpPr>
        <p:spPr>
          <a:xfrm>
            <a:off x="6217920" y="1188720"/>
            <a:ext cx="5562295" cy="3017520"/>
          </a:xfrm>
          <a:prstGeom prst="roundRect">
            <a:avLst>
              <a:gd name="adj" fmla="val 1818"/>
            </a:avLst>
          </a:prstGeom>
          <a:solidFill>
            <a:srgbClr val="F4FAF9"/>
          </a:solidFill>
          <a:ln w="9525">
            <a:solidFill>
              <a:srgbClr val="CFE0DE"/>
            </a:solidFill>
            <a:prstDash val="solid"/>
          </a:ln>
        </p:spPr>
      </p:sp>
      <p:sp>
        <p:nvSpPr>
          <p:cNvPr id="193" name="Text 19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Why DNA works</a:t>
            </a:r>
            <a:endParaRPr lang="en-US" sz="1300" dirty="0"/>
          </a:p>
        </p:txBody>
      </p:sp>
      <p:sp>
        <p:nvSpPr>
          <p:cNvPr id="194" name="Text 192"/>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DNA is a sequence of </a:t>
            </a:r>
            <a:r>
              <a:rPr lang="en-US" sz="1150" b="1" dirty="0">
                <a:solidFill>
                  <a:srgbClr val="262B3A"/>
                </a:solidFill>
                <a:latin typeface="Calibri" pitchFamily="34" charset="0"/>
                <a:ea typeface="Calibri" pitchFamily="34" charset="-122"/>
                <a:cs typeface="Calibri" pitchFamily="34" charset="-120"/>
              </a:rPr>
              <a:t>bases</a:t>
            </a:r>
            <a:r>
              <a:rPr lang="en-US" sz="1150" dirty="0">
                <a:solidFill>
                  <a:srgbClr val="262B3A"/>
                </a:solidFill>
                <a:latin typeface="Calibri" pitchFamily="34" charset="0"/>
                <a:ea typeface="Calibri" pitchFamily="34" charset="-122"/>
                <a:cs typeface="Calibri" pitchFamily="34" charset="-120"/>
              </a:rPr>
              <a:t> (A, T, C, G). Over time, </a:t>
            </a:r>
            <a:r>
              <a:rPr lang="en-US" sz="1150" b="1" dirty="0">
                <a:solidFill>
                  <a:srgbClr val="262B3A"/>
                </a:solidFill>
                <a:latin typeface="Calibri" pitchFamily="34" charset="0"/>
                <a:ea typeface="Calibri" pitchFamily="34" charset="-122"/>
                <a:cs typeface="Calibri" pitchFamily="34" charset="-120"/>
              </a:rPr>
              <a:t>mutations</a:t>
            </a:r>
            <a:r>
              <a:rPr lang="en-US" sz="1150" dirty="0">
                <a:solidFill>
                  <a:srgbClr val="262B3A"/>
                </a:solidFill>
                <a:latin typeface="Calibri" pitchFamily="34" charset="0"/>
                <a:ea typeface="Calibri" pitchFamily="34" charset="-122"/>
                <a:cs typeface="Calibri" pitchFamily="34" charset="-120"/>
              </a:rPr>
              <a:t> change the sequence.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Two species that split from a </a:t>
            </a:r>
            <a:r>
              <a:rPr lang="en-US" sz="1150" b="1" dirty="0">
                <a:solidFill>
                  <a:srgbClr val="262B3A"/>
                </a:solidFill>
                <a:latin typeface="Calibri" pitchFamily="34" charset="0"/>
                <a:ea typeface="Calibri" pitchFamily="34" charset="-122"/>
                <a:cs typeface="Calibri" pitchFamily="34" charset="-120"/>
              </a:rPr>
              <a:t>common ancestor</a:t>
            </a:r>
            <a:r>
              <a:rPr lang="en-US" sz="1150" dirty="0">
                <a:solidFill>
                  <a:srgbClr val="262B3A"/>
                </a:solidFill>
                <a:latin typeface="Calibri" pitchFamily="34" charset="0"/>
                <a:ea typeface="Calibri" pitchFamily="34" charset="-122"/>
                <a:cs typeface="Calibri" pitchFamily="34" charset="-120"/>
              </a:rPr>
              <a:t> recently have had </a:t>
            </a:r>
            <a:r>
              <a:rPr lang="en-US" sz="1150" b="1" dirty="0">
                <a:solidFill>
                  <a:srgbClr val="262B3A"/>
                </a:solidFill>
                <a:latin typeface="Calibri" pitchFamily="34" charset="0"/>
                <a:ea typeface="Calibri" pitchFamily="34" charset="-122"/>
                <a:cs typeface="Calibri" pitchFamily="34" charset="-120"/>
              </a:rPr>
              <a:t>little time</a:t>
            </a:r>
            <a:r>
              <a:rPr lang="en-US" sz="1150" dirty="0">
                <a:solidFill>
                  <a:srgbClr val="262B3A"/>
                </a:solidFill>
                <a:latin typeface="Calibri" pitchFamily="34" charset="0"/>
                <a:ea typeface="Calibri" pitchFamily="34" charset="-122"/>
                <a:cs typeface="Calibri" pitchFamily="34" charset="-120"/>
              </a:rPr>
              <a:t> to build up differences.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 </a:t>
            </a:r>
            <a:r>
              <a:rPr lang="en-US" sz="1150" b="1" dirty="0">
                <a:solidFill>
                  <a:srgbClr val="262B3A"/>
                </a:solidFill>
                <a:latin typeface="Calibri" pitchFamily="34" charset="0"/>
                <a:ea typeface="Calibri" pitchFamily="34" charset="-122"/>
                <a:cs typeface="Calibri" pitchFamily="34" charset="-120"/>
              </a:rPr>
              <a:t>more similar</a:t>
            </a:r>
            <a:r>
              <a:rPr lang="en-US" sz="1150" dirty="0">
                <a:solidFill>
                  <a:srgbClr val="262B3A"/>
                </a:solidFill>
                <a:latin typeface="Calibri" pitchFamily="34" charset="0"/>
                <a:ea typeface="Calibri" pitchFamily="34" charset="-122"/>
                <a:cs typeface="Calibri" pitchFamily="34" charset="-120"/>
              </a:rPr>
              <a:t> DNA = </a:t>
            </a:r>
            <a:r>
              <a:rPr lang="en-US" sz="1150" b="1" dirty="0">
                <a:solidFill>
                  <a:srgbClr val="262B3A"/>
                </a:solidFill>
                <a:latin typeface="Calibri" pitchFamily="34" charset="0"/>
                <a:ea typeface="Calibri" pitchFamily="34" charset="-122"/>
                <a:cs typeface="Calibri" pitchFamily="34" charset="-120"/>
              </a:rPr>
              <a:t>more closely related</a:t>
            </a:r>
            <a:r>
              <a:rPr lang="en-US" sz="1150" dirty="0">
                <a:solidFill>
                  <a:srgbClr val="262B3A"/>
                </a:solidFill>
                <a:latin typeface="Calibri" pitchFamily="34" charset="0"/>
                <a:ea typeface="Calibri" pitchFamily="34" charset="-122"/>
                <a:cs typeface="Calibri" pitchFamily="34" charset="-120"/>
              </a:rPr>
              <a:t>; fewer differences = more recent common ancestor.</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Scientists </a:t>
            </a:r>
            <a:r>
              <a:rPr lang="en-US" sz="1150" b="1" dirty="0">
                <a:solidFill>
                  <a:srgbClr val="262B3A"/>
                </a:solidFill>
                <a:latin typeface="Calibri" pitchFamily="34" charset="0"/>
                <a:ea typeface="Calibri" pitchFamily="34" charset="-122"/>
                <a:cs typeface="Calibri" pitchFamily="34" charset="-120"/>
              </a:rPr>
              <a:t>sequence</a:t>
            </a:r>
            <a:r>
              <a:rPr lang="en-US" sz="1150" dirty="0">
                <a:solidFill>
                  <a:srgbClr val="262B3A"/>
                </a:solidFill>
                <a:latin typeface="Calibri" pitchFamily="34" charset="0"/>
                <a:ea typeface="Calibri" pitchFamily="34" charset="-122"/>
                <a:cs typeface="Calibri" pitchFamily="34" charset="-120"/>
              </a:rPr>
              <a:t> the same gene (or whole </a:t>
            </a:r>
            <a:r>
              <a:rPr lang="en-US" sz="1150" b="1" dirty="0">
                <a:solidFill>
                  <a:srgbClr val="262B3A"/>
                </a:solidFill>
                <a:latin typeface="Calibri" pitchFamily="34" charset="0"/>
                <a:ea typeface="Calibri" pitchFamily="34" charset="-122"/>
                <a:cs typeface="Calibri" pitchFamily="34" charset="-120"/>
              </a:rPr>
              <a:t>genomes</a:t>
            </a:r>
            <a:r>
              <a:rPr lang="en-US" sz="1150" dirty="0">
                <a:solidFill>
                  <a:srgbClr val="262B3A"/>
                </a:solidFill>
                <a:latin typeface="Calibri" pitchFamily="34" charset="0"/>
                <a:ea typeface="Calibri" pitchFamily="34" charset="-122"/>
                <a:cs typeface="Calibri" pitchFamily="34" charset="-120"/>
              </a:rPr>
              <a:t>) from many species and </a:t>
            </a:r>
            <a:r>
              <a:rPr lang="en-US" sz="1150" b="1" dirty="0">
                <a:solidFill>
                  <a:srgbClr val="262B3A"/>
                </a:solidFill>
                <a:latin typeface="Calibri" pitchFamily="34" charset="0"/>
                <a:ea typeface="Calibri" pitchFamily="34" charset="-122"/>
                <a:cs typeface="Calibri" pitchFamily="34" charset="-120"/>
              </a:rPr>
              <a:t>compare</a:t>
            </a:r>
            <a:r>
              <a:rPr lang="en-US" sz="1150" dirty="0">
                <a:solidFill>
                  <a:srgbClr val="262B3A"/>
                </a:solidFill>
                <a:latin typeface="Calibri" pitchFamily="34" charset="0"/>
                <a:ea typeface="Calibri" pitchFamily="34" charset="-122"/>
                <a:cs typeface="Calibri" pitchFamily="34" charset="-120"/>
              </a:rPr>
              <a:t> them.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DNA is not fooled by convergent evolution, and works for organisms that look alike, e.g. </a:t>
            </a:r>
            <a:r>
              <a:rPr lang="en-US" sz="1150" b="1" dirty="0">
                <a:solidFill>
                  <a:srgbClr val="262B3A"/>
                </a:solidFill>
                <a:latin typeface="Calibri" pitchFamily="34" charset="0"/>
                <a:ea typeface="Calibri" pitchFamily="34" charset="-122"/>
                <a:cs typeface="Calibri" pitchFamily="34" charset="-120"/>
              </a:rPr>
              <a:t>bacteria</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95" name="Shape 193"/>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196" name="Text 194"/>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 similarity</a:t>
            </a:r>
            <a:endParaRPr lang="en-US" sz="1300" dirty="0"/>
          </a:p>
        </p:txBody>
      </p:sp>
      <p:sp>
        <p:nvSpPr>
          <p:cNvPr id="197" name="Text 195"/>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Human and gorilla: 2 bases differ out of 20.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Same   </a:t>
            </a:r>
            <a:r>
              <a:rPr lang="en-US" sz="1050" dirty="0">
                <a:solidFill>
                  <a:srgbClr val="262B3A"/>
                </a:solidFill>
                <a:latin typeface="Calibri" pitchFamily="34" charset="0"/>
                <a:ea typeface="Calibri" pitchFamily="34" charset="-122"/>
                <a:cs typeface="Calibri" pitchFamily="34" charset="-120"/>
              </a:rPr>
              <a:t>20 − 2 = 18 bases the same</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Percent   </a:t>
            </a:r>
            <a:r>
              <a:rPr lang="en-US" sz="1050" dirty="0">
                <a:solidFill>
                  <a:srgbClr val="262B3A"/>
                </a:solidFill>
                <a:latin typeface="Calibri" pitchFamily="34" charset="0"/>
                <a:ea typeface="Calibri" pitchFamily="34" charset="-122"/>
                <a:cs typeface="Calibri" pitchFamily="34" charset="-120"/>
              </a:rPr>
              <a:t>18 ÷ 20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90%</a:t>
            </a:r>
            <a:r>
              <a:rPr lang="en-US" sz="1050" b="1" dirty="0">
                <a:solidFill>
                  <a:srgbClr val="C8414C"/>
                </a:solidFill>
                <a:latin typeface="Calibri" pitchFamily="34" charset="0"/>
                <a:ea typeface="Calibri" pitchFamily="34" charset="-122"/>
                <a:cs typeface="Calibri" pitchFamily="34" charset="-120"/>
              </a:rPr>
              <a:t> the same</a:t>
            </a:r>
            <a:endParaRPr lang="en-US" sz="1050" dirty="0"/>
          </a:p>
        </p:txBody>
      </p:sp>
      <p:sp>
        <p:nvSpPr>
          <p:cNvPr id="198" name="Shape 196"/>
          <p:cNvSpPr/>
          <p:nvPr/>
        </p:nvSpPr>
        <p:spPr>
          <a:xfrm>
            <a:off x="411480" y="5833872"/>
            <a:ext cx="11368735" cy="530352"/>
          </a:xfrm>
          <a:prstGeom prst="rect">
            <a:avLst/>
          </a:prstGeom>
          <a:solidFill>
            <a:srgbClr val="FFF4E0"/>
          </a:solidFill>
          <a:ln w="6350">
            <a:solidFill>
              <a:srgbClr val="F1D9A8"/>
            </a:solidFill>
            <a:prstDash val="solid"/>
          </a:ln>
        </p:spPr>
      </p:sp>
      <p:sp>
        <p:nvSpPr>
          <p:cNvPr id="199" name="Shape 197"/>
          <p:cNvSpPr/>
          <p:nvPr/>
        </p:nvSpPr>
        <p:spPr>
          <a:xfrm>
            <a:off x="411480" y="5833872"/>
            <a:ext cx="82296" cy="530352"/>
          </a:xfrm>
          <a:prstGeom prst="rect">
            <a:avLst/>
          </a:prstGeom>
          <a:solidFill>
            <a:srgbClr val="E39A2F"/>
          </a:solidFill>
          <a:ln w="12700">
            <a:solidFill>
              <a:srgbClr val="E39A2F"/>
            </a:solidFill>
            <a:prstDash val="solid"/>
          </a:ln>
        </p:spPr>
      </p:sp>
      <p:sp>
        <p:nvSpPr>
          <p:cNvPr id="200" name="Text 19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ape is </a:t>
            </a:r>
            <a:r>
              <a:rPr lang="en-US" sz="1150" b="1" dirty="0">
                <a:solidFill>
                  <a:srgbClr val="262B3A"/>
                </a:solidFill>
                <a:latin typeface="Calibri" pitchFamily="34" charset="0"/>
                <a:ea typeface="Calibri" pitchFamily="34" charset="-122"/>
                <a:cs typeface="Calibri" pitchFamily="34" charset="-120"/>
              </a:rPr>
              <a:t>most closely related</a:t>
            </a:r>
            <a:r>
              <a:rPr lang="en-US" sz="1150" dirty="0">
                <a:solidFill>
                  <a:srgbClr val="262B3A"/>
                </a:solidFill>
                <a:latin typeface="Calibri" pitchFamily="34" charset="0"/>
                <a:ea typeface="Calibri" pitchFamily="34" charset="-122"/>
                <a:cs typeface="Calibri" pitchFamily="34" charset="-120"/>
              </a:rPr>
              <a:t> to humans in this data? Calculate the % similarity of </a:t>
            </a:r>
            <a:r>
              <a:rPr lang="en-US" sz="1150" b="1" dirty="0">
                <a:solidFill>
                  <a:srgbClr val="262B3A"/>
                </a:solidFill>
                <a:latin typeface="Calibri" pitchFamily="34" charset="0"/>
                <a:ea typeface="Calibri" pitchFamily="34" charset="-122"/>
                <a:cs typeface="Calibri" pitchFamily="34" charset="-120"/>
              </a:rPr>
              <a:t>chimpanzee and gorilla</a:t>
            </a:r>
            <a:r>
              <a:rPr lang="en-US" sz="1150" dirty="0">
                <a:solidFill>
                  <a:srgbClr val="262B3A"/>
                </a:solidFill>
                <a:latin typeface="Calibri" pitchFamily="34" charset="0"/>
                <a:ea typeface="Calibri" pitchFamily="34" charset="-122"/>
                <a:cs typeface="Calibri" pitchFamily="34" charset="-120"/>
              </a:rPr>
              <a:t> (3 differences).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From DNA data to an evolutionary tree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use DNA differences to work out who is most closely related</a:t>
            </a:r>
            <a:endParaRPr lang="en-US" sz="1100" dirty="0"/>
          </a:p>
        </p:txBody>
      </p:sp>
      <p:sp>
        <p:nvSpPr>
          <p:cNvPr id="6" name="Shape 4"/>
          <p:cNvSpPr/>
          <p:nvPr/>
        </p:nvSpPr>
        <p:spPr>
          <a:xfrm>
            <a:off x="10180015" y="292608"/>
            <a:ext cx="1600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12</a:t>
            </a:r>
            <a:endParaRPr lang="en-US" sz="1000" dirty="0"/>
          </a:p>
        </p:txBody>
      </p:sp>
      <p:sp>
        <p:nvSpPr>
          <p:cNvPr id="10" name="Shape 8"/>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difference matrix from slide 11; tree branch points at approximate dates</a:t>
            </a:r>
            <a:endParaRPr lang="en-US" sz="1000" dirty="0"/>
          </a:p>
        </p:txBody>
      </p:sp>
      <p:sp>
        <p:nvSpPr>
          <p:cNvPr id="12" name="Shape 10"/>
          <p:cNvSpPr/>
          <p:nvPr/>
        </p:nvSpPr>
        <p:spPr>
          <a:xfrm>
            <a:off x="1709928" y="1325880"/>
            <a:ext cx="987552" cy="256032"/>
          </a:xfrm>
          <a:prstGeom prst="rect">
            <a:avLst/>
          </a:prstGeom>
          <a:solidFill>
            <a:srgbClr val="133536"/>
          </a:solidFill>
          <a:ln/>
        </p:spPr>
      </p:sp>
      <p:sp>
        <p:nvSpPr>
          <p:cNvPr id="13" name="Text 11"/>
          <p:cNvSpPr/>
          <p:nvPr/>
        </p:nvSpPr>
        <p:spPr>
          <a:xfrm>
            <a:off x="1709928" y="1325880"/>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Human</a:t>
            </a:r>
            <a:endParaRPr lang="en-US" sz="1050" dirty="0"/>
          </a:p>
        </p:txBody>
      </p:sp>
      <p:sp>
        <p:nvSpPr>
          <p:cNvPr id="14" name="Shape 12"/>
          <p:cNvSpPr/>
          <p:nvPr/>
        </p:nvSpPr>
        <p:spPr>
          <a:xfrm>
            <a:off x="685800" y="1618488"/>
            <a:ext cx="987552" cy="256032"/>
          </a:xfrm>
          <a:prstGeom prst="rect">
            <a:avLst/>
          </a:prstGeom>
          <a:solidFill>
            <a:srgbClr val="133536"/>
          </a:solidFill>
          <a:ln/>
        </p:spPr>
      </p:sp>
      <p:sp>
        <p:nvSpPr>
          <p:cNvPr id="15" name="Text 13"/>
          <p:cNvSpPr/>
          <p:nvPr/>
        </p:nvSpPr>
        <p:spPr>
          <a:xfrm>
            <a:off x="685800" y="1618488"/>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Human</a:t>
            </a:r>
            <a:endParaRPr lang="en-US" sz="1050" dirty="0"/>
          </a:p>
        </p:txBody>
      </p:sp>
      <p:sp>
        <p:nvSpPr>
          <p:cNvPr id="16" name="Shape 14"/>
          <p:cNvSpPr/>
          <p:nvPr/>
        </p:nvSpPr>
        <p:spPr>
          <a:xfrm>
            <a:off x="1709928" y="1618488"/>
            <a:ext cx="987552" cy="256032"/>
          </a:xfrm>
          <a:prstGeom prst="rect">
            <a:avLst/>
          </a:prstGeom>
          <a:solidFill>
            <a:srgbClr val="E6EBF2"/>
          </a:solidFill>
          <a:ln w="9525">
            <a:solidFill>
              <a:srgbClr val="CFE0DE"/>
            </a:solidFill>
            <a:prstDash val="solid"/>
          </a:ln>
        </p:spPr>
      </p:sp>
      <p:sp>
        <p:nvSpPr>
          <p:cNvPr id="17" name="Text 15"/>
          <p:cNvSpPr/>
          <p:nvPr/>
        </p:nvSpPr>
        <p:spPr>
          <a:xfrm>
            <a:off x="1709928" y="1618488"/>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18" name="Shape 16"/>
          <p:cNvSpPr/>
          <p:nvPr/>
        </p:nvSpPr>
        <p:spPr>
          <a:xfrm>
            <a:off x="2734056" y="1618488"/>
            <a:ext cx="987552" cy="256032"/>
          </a:xfrm>
          <a:prstGeom prst="rect">
            <a:avLst/>
          </a:prstGeom>
          <a:solidFill>
            <a:srgbClr val="FFE2B8"/>
          </a:solidFill>
          <a:ln w="9525">
            <a:solidFill>
              <a:srgbClr val="CFE0DE"/>
            </a:solidFill>
            <a:prstDash val="solid"/>
          </a:ln>
        </p:spPr>
      </p:sp>
      <p:sp>
        <p:nvSpPr>
          <p:cNvPr id="19" name="Text 17"/>
          <p:cNvSpPr/>
          <p:nvPr/>
        </p:nvSpPr>
        <p:spPr>
          <a:xfrm>
            <a:off x="2734056" y="1618488"/>
            <a:ext cx="987552" cy="256032"/>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1</a:t>
            </a:r>
            <a:endParaRPr lang="en-US" sz="1100" dirty="0"/>
          </a:p>
        </p:txBody>
      </p:sp>
      <p:sp>
        <p:nvSpPr>
          <p:cNvPr id="20" name="Shape 18"/>
          <p:cNvSpPr/>
          <p:nvPr/>
        </p:nvSpPr>
        <p:spPr>
          <a:xfrm>
            <a:off x="3758184" y="1618488"/>
            <a:ext cx="987552" cy="256032"/>
          </a:xfrm>
          <a:prstGeom prst="rect">
            <a:avLst/>
          </a:prstGeom>
          <a:solidFill>
            <a:srgbClr val="FFFFFF"/>
          </a:solidFill>
          <a:ln w="9525">
            <a:solidFill>
              <a:srgbClr val="CFE0DE"/>
            </a:solidFill>
            <a:prstDash val="solid"/>
          </a:ln>
        </p:spPr>
      </p:sp>
      <p:sp>
        <p:nvSpPr>
          <p:cNvPr id="21" name="Text 19"/>
          <p:cNvSpPr/>
          <p:nvPr/>
        </p:nvSpPr>
        <p:spPr>
          <a:xfrm>
            <a:off x="3758184" y="1618488"/>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2</a:t>
            </a:r>
            <a:endParaRPr lang="en-US" sz="1100" dirty="0"/>
          </a:p>
        </p:txBody>
      </p:sp>
      <p:sp>
        <p:nvSpPr>
          <p:cNvPr id="22" name="Shape 20"/>
          <p:cNvSpPr/>
          <p:nvPr/>
        </p:nvSpPr>
        <p:spPr>
          <a:xfrm>
            <a:off x="4782312" y="1618488"/>
            <a:ext cx="987552" cy="256032"/>
          </a:xfrm>
          <a:prstGeom prst="rect">
            <a:avLst/>
          </a:prstGeom>
          <a:solidFill>
            <a:srgbClr val="FFFFFF"/>
          </a:solidFill>
          <a:ln w="9525">
            <a:solidFill>
              <a:srgbClr val="CFE0DE"/>
            </a:solidFill>
            <a:prstDash val="solid"/>
          </a:ln>
        </p:spPr>
      </p:sp>
      <p:sp>
        <p:nvSpPr>
          <p:cNvPr id="23" name="Text 21"/>
          <p:cNvSpPr/>
          <p:nvPr/>
        </p:nvSpPr>
        <p:spPr>
          <a:xfrm>
            <a:off x="4782312" y="1618488"/>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5</a:t>
            </a:r>
            <a:endParaRPr lang="en-US" sz="1100" dirty="0"/>
          </a:p>
        </p:txBody>
      </p:sp>
      <p:sp>
        <p:nvSpPr>
          <p:cNvPr id="24" name="Shape 22"/>
          <p:cNvSpPr/>
          <p:nvPr/>
        </p:nvSpPr>
        <p:spPr>
          <a:xfrm>
            <a:off x="2734056" y="1325880"/>
            <a:ext cx="987552" cy="256032"/>
          </a:xfrm>
          <a:prstGeom prst="rect">
            <a:avLst/>
          </a:prstGeom>
          <a:solidFill>
            <a:srgbClr val="133536"/>
          </a:solidFill>
          <a:ln/>
        </p:spPr>
      </p:sp>
      <p:sp>
        <p:nvSpPr>
          <p:cNvPr id="25" name="Text 23"/>
          <p:cNvSpPr/>
          <p:nvPr/>
        </p:nvSpPr>
        <p:spPr>
          <a:xfrm>
            <a:off x="2734056" y="1325880"/>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Chimp</a:t>
            </a:r>
            <a:endParaRPr lang="en-US" sz="1050" dirty="0"/>
          </a:p>
        </p:txBody>
      </p:sp>
      <p:sp>
        <p:nvSpPr>
          <p:cNvPr id="26" name="Shape 24"/>
          <p:cNvSpPr/>
          <p:nvPr/>
        </p:nvSpPr>
        <p:spPr>
          <a:xfrm>
            <a:off x="685800" y="1911096"/>
            <a:ext cx="987552" cy="256032"/>
          </a:xfrm>
          <a:prstGeom prst="rect">
            <a:avLst/>
          </a:prstGeom>
          <a:solidFill>
            <a:srgbClr val="133536"/>
          </a:solidFill>
          <a:ln/>
        </p:spPr>
      </p:sp>
      <p:sp>
        <p:nvSpPr>
          <p:cNvPr id="27" name="Text 25"/>
          <p:cNvSpPr/>
          <p:nvPr/>
        </p:nvSpPr>
        <p:spPr>
          <a:xfrm>
            <a:off x="685800" y="1911096"/>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Chimp</a:t>
            </a:r>
            <a:endParaRPr lang="en-US" sz="1050" dirty="0"/>
          </a:p>
        </p:txBody>
      </p:sp>
      <p:sp>
        <p:nvSpPr>
          <p:cNvPr id="28" name="Shape 26"/>
          <p:cNvSpPr/>
          <p:nvPr/>
        </p:nvSpPr>
        <p:spPr>
          <a:xfrm>
            <a:off x="1709928" y="1911096"/>
            <a:ext cx="987552" cy="256032"/>
          </a:xfrm>
          <a:prstGeom prst="rect">
            <a:avLst/>
          </a:prstGeom>
          <a:solidFill>
            <a:srgbClr val="FFE2B8"/>
          </a:solidFill>
          <a:ln w="9525">
            <a:solidFill>
              <a:srgbClr val="CFE0DE"/>
            </a:solidFill>
            <a:prstDash val="solid"/>
          </a:ln>
        </p:spPr>
      </p:sp>
      <p:sp>
        <p:nvSpPr>
          <p:cNvPr id="29" name="Text 27"/>
          <p:cNvSpPr/>
          <p:nvPr/>
        </p:nvSpPr>
        <p:spPr>
          <a:xfrm>
            <a:off x="1709928" y="1911096"/>
            <a:ext cx="987552" cy="256032"/>
          </a:xfrm>
          <a:prstGeom prst="rect">
            <a:avLst/>
          </a:prstGeom>
          <a:noFill/>
          <a:ln/>
        </p:spPr>
        <p:txBody>
          <a:bodyPr wrap="square" lIns="0" tIns="0" rIns="0" bIns="0" rtlCol="0" anchor="ctr"/>
          <a:lstStyle/>
          <a:p>
            <a:pPr algn="ctr" indent="0" marL="0">
              <a:buNone/>
            </a:pPr>
            <a:r>
              <a:rPr lang="en-US" sz="1100" b="1" dirty="0">
                <a:solidFill>
                  <a:srgbClr val="B8730A"/>
                </a:solidFill>
                <a:latin typeface="Calibri" pitchFamily="34" charset="0"/>
                <a:ea typeface="Calibri" pitchFamily="34" charset="-122"/>
                <a:cs typeface="Calibri" pitchFamily="34" charset="-120"/>
              </a:rPr>
              <a:t>1</a:t>
            </a:r>
            <a:endParaRPr lang="en-US" sz="1100" dirty="0"/>
          </a:p>
        </p:txBody>
      </p:sp>
      <p:sp>
        <p:nvSpPr>
          <p:cNvPr id="30" name="Shape 28"/>
          <p:cNvSpPr/>
          <p:nvPr/>
        </p:nvSpPr>
        <p:spPr>
          <a:xfrm>
            <a:off x="2734056" y="1911096"/>
            <a:ext cx="987552" cy="256032"/>
          </a:xfrm>
          <a:prstGeom prst="rect">
            <a:avLst/>
          </a:prstGeom>
          <a:solidFill>
            <a:srgbClr val="E6EBF2"/>
          </a:solidFill>
          <a:ln w="9525">
            <a:solidFill>
              <a:srgbClr val="CFE0DE"/>
            </a:solidFill>
            <a:prstDash val="solid"/>
          </a:ln>
        </p:spPr>
      </p:sp>
      <p:sp>
        <p:nvSpPr>
          <p:cNvPr id="31" name="Text 29"/>
          <p:cNvSpPr/>
          <p:nvPr/>
        </p:nvSpPr>
        <p:spPr>
          <a:xfrm>
            <a:off x="2734056" y="1911096"/>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3758184" y="1911096"/>
            <a:ext cx="987552" cy="256032"/>
          </a:xfrm>
          <a:prstGeom prst="rect">
            <a:avLst/>
          </a:prstGeom>
          <a:solidFill>
            <a:srgbClr val="FFFFFF"/>
          </a:solidFill>
          <a:ln w="9525">
            <a:solidFill>
              <a:srgbClr val="CFE0DE"/>
            </a:solidFill>
            <a:prstDash val="solid"/>
          </a:ln>
        </p:spPr>
      </p:sp>
      <p:sp>
        <p:nvSpPr>
          <p:cNvPr id="33" name="Text 31"/>
          <p:cNvSpPr/>
          <p:nvPr/>
        </p:nvSpPr>
        <p:spPr>
          <a:xfrm>
            <a:off x="3758184" y="1911096"/>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3</a:t>
            </a:r>
            <a:endParaRPr lang="en-US" sz="1100" dirty="0"/>
          </a:p>
        </p:txBody>
      </p:sp>
      <p:sp>
        <p:nvSpPr>
          <p:cNvPr id="34" name="Shape 32"/>
          <p:cNvSpPr/>
          <p:nvPr/>
        </p:nvSpPr>
        <p:spPr>
          <a:xfrm>
            <a:off x="4782312" y="1911096"/>
            <a:ext cx="987552" cy="256032"/>
          </a:xfrm>
          <a:prstGeom prst="rect">
            <a:avLst/>
          </a:prstGeom>
          <a:solidFill>
            <a:srgbClr val="FFFFFF"/>
          </a:solidFill>
          <a:ln w="9525">
            <a:solidFill>
              <a:srgbClr val="CFE0DE"/>
            </a:solidFill>
            <a:prstDash val="solid"/>
          </a:ln>
        </p:spPr>
      </p:sp>
      <p:sp>
        <p:nvSpPr>
          <p:cNvPr id="35" name="Text 33"/>
          <p:cNvSpPr/>
          <p:nvPr/>
        </p:nvSpPr>
        <p:spPr>
          <a:xfrm>
            <a:off x="4782312" y="1911096"/>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6</a:t>
            </a:r>
            <a:endParaRPr lang="en-US" sz="1100" dirty="0"/>
          </a:p>
        </p:txBody>
      </p:sp>
      <p:sp>
        <p:nvSpPr>
          <p:cNvPr id="36" name="Shape 34"/>
          <p:cNvSpPr/>
          <p:nvPr/>
        </p:nvSpPr>
        <p:spPr>
          <a:xfrm>
            <a:off x="3758184" y="1325880"/>
            <a:ext cx="987552" cy="256032"/>
          </a:xfrm>
          <a:prstGeom prst="rect">
            <a:avLst/>
          </a:prstGeom>
          <a:solidFill>
            <a:srgbClr val="133536"/>
          </a:solidFill>
          <a:ln/>
        </p:spPr>
      </p:sp>
      <p:sp>
        <p:nvSpPr>
          <p:cNvPr id="37" name="Text 35"/>
          <p:cNvSpPr/>
          <p:nvPr/>
        </p:nvSpPr>
        <p:spPr>
          <a:xfrm>
            <a:off x="3758184" y="1325880"/>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Gorilla</a:t>
            </a:r>
            <a:endParaRPr lang="en-US" sz="1050" dirty="0"/>
          </a:p>
        </p:txBody>
      </p:sp>
      <p:sp>
        <p:nvSpPr>
          <p:cNvPr id="38" name="Shape 36"/>
          <p:cNvSpPr/>
          <p:nvPr/>
        </p:nvSpPr>
        <p:spPr>
          <a:xfrm>
            <a:off x="685800" y="2203704"/>
            <a:ext cx="987552" cy="256032"/>
          </a:xfrm>
          <a:prstGeom prst="rect">
            <a:avLst/>
          </a:prstGeom>
          <a:solidFill>
            <a:srgbClr val="133536"/>
          </a:solidFill>
          <a:ln/>
        </p:spPr>
      </p:sp>
      <p:sp>
        <p:nvSpPr>
          <p:cNvPr id="39" name="Text 37"/>
          <p:cNvSpPr/>
          <p:nvPr/>
        </p:nvSpPr>
        <p:spPr>
          <a:xfrm>
            <a:off x="685800" y="2203704"/>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Gorilla</a:t>
            </a:r>
            <a:endParaRPr lang="en-US" sz="1050" dirty="0"/>
          </a:p>
        </p:txBody>
      </p:sp>
      <p:sp>
        <p:nvSpPr>
          <p:cNvPr id="40" name="Shape 38"/>
          <p:cNvSpPr/>
          <p:nvPr/>
        </p:nvSpPr>
        <p:spPr>
          <a:xfrm>
            <a:off x="1709928" y="2203704"/>
            <a:ext cx="987552" cy="256032"/>
          </a:xfrm>
          <a:prstGeom prst="rect">
            <a:avLst/>
          </a:prstGeom>
          <a:solidFill>
            <a:srgbClr val="FFFFFF"/>
          </a:solidFill>
          <a:ln w="9525">
            <a:solidFill>
              <a:srgbClr val="CFE0DE"/>
            </a:solidFill>
            <a:prstDash val="solid"/>
          </a:ln>
        </p:spPr>
      </p:sp>
      <p:sp>
        <p:nvSpPr>
          <p:cNvPr id="41" name="Text 39"/>
          <p:cNvSpPr/>
          <p:nvPr/>
        </p:nvSpPr>
        <p:spPr>
          <a:xfrm>
            <a:off x="1709928" y="2203704"/>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2</a:t>
            </a:r>
            <a:endParaRPr lang="en-US" sz="1100" dirty="0"/>
          </a:p>
        </p:txBody>
      </p:sp>
      <p:sp>
        <p:nvSpPr>
          <p:cNvPr id="42" name="Shape 40"/>
          <p:cNvSpPr/>
          <p:nvPr/>
        </p:nvSpPr>
        <p:spPr>
          <a:xfrm>
            <a:off x="2734056" y="2203704"/>
            <a:ext cx="987552" cy="256032"/>
          </a:xfrm>
          <a:prstGeom prst="rect">
            <a:avLst/>
          </a:prstGeom>
          <a:solidFill>
            <a:srgbClr val="FFFFFF"/>
          </a:solidFill>
          <a:ln w="9525">
            <a:solidFill>
              <a:srgbClr val="CFE0DE"/>
            </a:solidFill>
            <a:prstDash val="solid"/>
          </a:ln>
        </p:spPr>
      </p:sp>
      <p:sp>
        <p:nvSpPr>
          <p:cNvPr id="43" name="Text 41"/>
          <p:cNvSpPr/>
          <p:nvPr/>
        </p:nvSpPr>
        <p:spPr>
          <a:xfrm>
            <a:off x="2734056" y="2203704"/>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3</a:t>
            </a:r>
            <a:endParaRPr lang="en-US" sz="1100" dirty="0"/>
          </a:p>
        </p:txBody>
      </p:sp>
      <p:sp>
        <p:nvSpPr>
          <p:cNvPr id="44" name="Shape 42"/>
          <p:cNvSpPr/>
          <p:nvPr/>
        </p:nvSpPr>
        <p:spPr>
          <a:xfrm>
            <a:off x="3758184" y="2203704"/>
            <a:ext cx="987552" cy="256032"/>
          </a:xfrm>
          <a:prstGeom prst="rect">
            <a:avLst/>
          </a:prstGeom>
          <a:solidFill>
            <a:srgbClr val="E6EBF2"/>
          </a:solidFill>
          <a:ln w="9525">
            <a:solidFill>
              <a:srgbClr val="CFE0DE"/>
            </a:solidFill>
            <a:prstDash val="solid"/>
          </a:ln>
        </p:spPr>
      </p:sp>
      <p:sp>
        <p:nvSpPr>
          <p:cNvPr id="45" name="Text 43"/>
          <p:cNvSpPr/>
          <p:nvPr/>
        </p:nvSpPr>
        <p:spPr>
          <a:xfrm>
            <a:off x="3758184" y="2203704"/>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4782312" y="2203704"/>
            <a:ext cx="987552" cy="256032"/>
          </a:xfrm>
          <a:prstGeom prst="rect">
            <a:avLst/>
          </a:prstGeom>
          <a:solidFill>
            <a:srgbClr val="FFFFFF"/>
          </a:solidFill>
          <a:ln w="9525">
            <a:solidFill>
              <a:srgbClr val="CFE0DE"/>
            </a:solidFill>
            <a:prstDash val="solid"/>
          </a:ln>
        </p:spPr>
      </p:sp>
      <p:sp>
        <p:nvSpPr>
          <p:cNvPr id="47" name="Text 45"/>
          <p:cNvSpPr/>
          <p:nvPr/>
        </p:nvSpPr>
        <p:spPr>
          <a:xfrm>
            <a:off x="4782312" y="2203704"/>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5</a:t>
            </a:r>
            <a:endParaRPr lang="en-US" sz="1100" dirty="0"/>
          </a:p>
        </p:txBody>
      </p:sp>
      <p:sp>
        <p:nvSpPr>
          <p:cNvPr id="48" name="Shape 46"/>
          <p:cNvSpPr/>
          <p:nvPr/>
        </p:nvSpPr>
        <p:spPr>
          <a:xfrm>
            <a:off x="4782312" y="1325880"/>
            <a:ext cx="987552" cy="256032"/>
          </a:xfrm>
          <a:prstGeom prst="rect">
            <a:avLst/>
          </a:prstGeom>
          <a:solidFill>
            <a:srgbClr val="133536"/>
          </a:solidFill>
          <a:ln/>
        </p:spPr>
      </p:sp>
      <p:sp>
        <p:nvSpPr>
          <p:cNvPr id="49" name="Text 47"/>
          <p:cNvSpPr/>
          <p:nvPr/>
        </p:nvSpPr>
        <p:spPr>
          <a:xfrm>
            <a:off x="4782312" y="1325880"/>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Orangutan</a:t>
            </a:r>
            <a:endParaRPr lang="en-US" sz="1050" dirty="0"/>
          </a:p>
        </p:txBody>
      </p:sp>
      <p:sp>
        <p:nvSpPr>
          <p:cNvPr id="50" name="Shape 48"/>
          <p:cNvSpPr/>
          <p:nvPr/>
        </p:nvSpPr>
        <p:spPr>
          <a:xfrm>
            <a:off x="685800" y="2496312"/>
            <a:ext cx="987552" cy="256032"/>
          </a:xfrm>
          <a:prstGeom prst="rect">
            <a:avLst/>
          </a:prstGeom>
          <a:solidFill>
            <a:srgbClr val="133536"/>
          </a:solidFill>
          <a:ln/>
        </p:spPr>
      </p:sp>
      <p:sp>
        <p:nvSpPr>
          <p:cNvPr id="51" name="Text 49"/>
          <p:cNvSpPr/>
          <p:nvPr/>
        </p:nvSpPr>
        <p:spPr>
          <a:xfrm>
            <a:off x="685800" y="2496312"/>
            <a:ext cx="987552"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Orangutan</a:t>
            </a:r>
            <a:endParaRPr lang="en-US" sz="1050" dirty="0"/>
          </a:p>
        </p:txBody>
      </p:sp>
      <p:sp>
        <p:nvSpPr>
          <p:cNvPr id="52" name="Shape 50"/>
          <p:cNvSpPr/>
          <p:nvPr/>
        </p:nvSpPr>
        <p:spPr>
          <a:xfrm>
            <a:off x="1709928" y="2496312"/>
            <a:ext cx="987552" cy="256032"/>
          </a:xfrm>
          <a:prstGeom prst="rect">
            <a:avLst/>
          </a:prstGeom>
          <a:solidFill>
            <a:srgbClr val="FFFFFF"/>
          </a:solidFill>
          <a:ln w="9525">
            <a:solidFill>
              <a:srgbClr val="CFE0DE"/>
            </a:solidFill>
            <a:prstDash val="solid"/>
          </a:ln>
        </p:spPr>
      </p:sp>
      <p:sp>
        <p:nvSpPr>
          <p:cNvPr id="53" name="Text 51"/>
          <p:cNvSpPr/>
          <p:nvPr/>
        </p:nvSpPr>
        <p:spPr>
          <a:xfrm>
            <a:off x="1709928" y="2496312"/>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5</a:t>
            </a:r>
            <a:endParaRPr lang="en-US" sz="1100" dirty="0"/>
          </a:p>
        </p:txBody>
      </p:sp>
      <p:sp>
        <p:nvSpPr>
          <p:cNvPr id="54" name="Shape 52"/>
          <p:cNvSpPr/>
          <p:nvPr/>
        </p:nvSpPr>
        <p:spPr>
          <a:xfrm>
            <a:off x="2734056" y="2496312"/>
            <a:ext cx="987552" cy="256032"/>
          </a:xfrm>
          <a:prstGeom prst="rect">
            <a:avLst/>
          </a:prstGeom>
          <a:solidFill>
            <a:srgbClr val="FFFFFF"/>
          </a:solidFill>
          <a:ln w="9525">
            <a:solidFill>
              <a:srgbClr val="CFE0DE"/>
            </a:solidFill>
            <a:prstDash val="solid"/>
          </a:ln>
        </p:spPr>
      </p:sp>
      <p:sp>
        <p:nvSpPr>
          <p:cNvPr id="55" name="Text 53"/>
          <p:cNvSpPr/>
          <p:nvPr/>
        </p:nvSpPr>
        <p:spPr>
          <a:xfrm>
            <a:off x="2734056" y="2496312"/>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6</a:t>
            </a:r>
            <a:endParaRPr lang="en-US" sz="1100" dirty="0"/>
          </a:p>
        </p:txBody>
      </p:sp>
      <p:sp>
        <p:nvSpPr>
          <p:cNvPr id="56" name="Shape 54"/>
          <p:cNvSpPr/>
          <p:nvPr/>
        </p:nvSpPr>
        <p:spPr>
          <a:xfrm>
            <a:off x="3758184" y="2496312"/>
            <a:ext cx="987552" cy="256032"/>
          </a:xfrm>
          <a:prstGeom prst="rect">
            <a:avLst/>
          </a:prstGeom>
          <a:solidFill>
            <a:srgbClr val="FFFFFF"/>
          </a:solidFill>
          <a:ln w="9525">
            <a:solidFill>
              <a:srgbClr val="CFE0DE"/>
            </a:solidFill>
            <a:prstDash val="solid"/>
          </a:ln>
        </p:spPr>
      </p:sp>
      <p:sp>
        <p:nvSpPr>
          <p:cNvPr id="57" name="Text 55"/>
          <p:cNvSpPr/>
          <p:nvPr/>
        </p:nvSpPr>
        <p:spPr>
          <a:xfrm>
            <a:off x="3758184" y="2496312"/>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5</a:t>
            </a:r>
            <a:endParaRPr lang="en-US" sz="1100" dirty="0"/>
          </a:p>
        </p:txBody>
      </p:sp>
      <p:sp>
        <p:nvSpPr>
          <p:cNvPr id="58" name="Shape 56"/>
          <p:cNvSpPr/>
          <p:nvPr/>
        </p:nvSpPr>
        <p:spPr>
          <a:xfrm>
            <a:off x="4782312" y="2496312"/>
            <a:ext cx="987552" cy="256032"/>
          </a:xfrm>
          <a:prstGeom prst="rect">
            <a:avLst/>
          </a:prstGeom>
          <a:solidFill>
            <a:srgbClr val="E6EBF2"/>
          </a:solidFill>
          <a:ln w="9525">
            <a:solidFill>
              <a:srgbClr val="CFE0DE"/>
            </a:solidFill>
            <a:prstDash val="solid"/>
          </a:ln>
        </p:spPr>
      </p:sp>
      <p:sp>
        <p:nvSpPr>
          <p:cNvPr id="59" name="Text 57"/>
          <p:cNvSpPr/>
          <p:nvPr/>
        </p:nvSpPr>
        <p:spPr>
          <a:xfrm>
            <a:off x="4782312" y="2496312"/>
            <a:ext cx="987552" cy="256032"/>
          </a:xfrm>
          <a:prstGeom prst="rect">
            <a:avLst/>
          </a:prstGeom>
          <a:noFill/>
          <a:ln/>
        </p:spPr>
        <p:txBody>
          <a:bodyPr wrap="square" lIns="0" tIns="0" rIns="0" bIns="0" rtlCol="0" anchor="ctr"/>
          <a:lstStyle/>
          <a:p>
            <a:pPr algn="ctr" indent="0" marL="0">
              <a:buNone/>
            </a:pP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60" name="Shape 58"/>
          <p:cNvSpPr/>
          <p:nvPr/>
        </p:nvSpPr>
        <p:spPr>
          <a:xfrm>
            <a:off x="3051810" y="3063240"/>
            <a:ext cx="91" cy="502920"/>
          </a:xfrm>
          <a:prstGeom prst="line">
            <a:avLst/>
          </a:prstGeom>
          <a:noFill/>
          <a:ln w="28575">
            <a:solidFill>
              <a:srgbClr val="133536"/>
            </a:solidFill>
            <a:prstDash val="solid"/>
          </a:ln>
        </p:spPr>
      </p:sp>
      <p:sp>
        <p:nvSpPr>
          <p:cNvPr id="61" name="Shape 59"/>
          <p:cNvSpPr/>
          <p:nvPr/>
        </p:nvSpPr>
        <p:spPr>
          <a:xfrm>
            <a:off x="3051810" y="3063240"/>
            <a:ext cx="1337310" cy="91"/>
          </a:xfrm>
          <a:prstGeom prst="line">
            <a:avLst/>
          </a:prstGeom>
          <a:noFill/>
          <a:ln w="28575">
            <a:solidFill>
              <a:srgbClr val="133536"/>
            </a:solidFill>
            <a:prstDash val="solid"/>
          </a:ln>
        </p:spPr>
      </p:sp>
      <p:sp>
        <p:nvSpPr>
          <p:cNvPr id="62" name="Shape 60"/>
          <p:cNvSpPr/>
          <p:nvPr/>
        </p:nvSpPr>
        <p:spPr>
          <a:xfrm>
            <a:off x="3051810" y="3566160"/>
            <a:ext cx="1337310" cy="91"/>
          </a:xfrm>
          <a:prstGeom prst="line">
            <a:avLst/>
          </a:prstGeom>
          <a:noFill/>
          <a:ln w="28575">
            <a:solidFill>
              <a:srgbClr val="133536"/>
            </a:solidFill>
            <a:prstDash val="solid"/>
          </a:ln>
        </p:spPr>
      </p:sp>
      <p:sp>
        <p:nvSpPr>
          <p:cNvPr id="63" name="Shape 61"/>
          <p:cNvSpPr/>
          <p:nvPr/>
        </p:nvSpPr>
        <p:spPr>
          <a:xfrm>
            <a:off x="2537460" y="3314700"/>
            <a:ext cx="91" cy="754380"/>
          </a:xfrm>
          <a:prstGeom prst="line">
            <a:avLst/>
          </a:prstGeom>
          <a:noFill/>
          <a:ln w="28575">
            <a:solidFill>
              <a:srgbClr val="133536"/>
            </a:solidFill>
            <a:prstDash val="solid"/>
          </a:ln>
        </p:spPr>
      </p:sp>
      <p:sp>
        <p:nvSpPr>
          <p:cNvPr id="64" name="Shape 62"/>
          <p:cNvSpPr/>
          <p:nvPr/>
        </p:nvSpPr>
        <p:spPr>
          <a:xfrm>
            <a:off x="2537460" y="3314700"/>
            <a:ext cx="514350" cy="91"/>
          </a:xfrm>
          <a:prstGeom prst="line">
            <a:avLst/>
          </a:prstGeom>
          <a:noFill/>
          <a:ln w="28575">
            <a:solidFill>
              <a:srgbClr val="133536"/>
            </a:solidFill>
            <a:prstDash val="solid"/>
          </a:ln>
        </p:spPr>
      </p:sp>
      <p:sp>
        <p:nvSpPr>
          <p:cNvPr id="65" name="Shape 63"/>
          <p:cNvSpPr/>
          <p:nvPr/>
        </p:nvSpPr>
        <p:spPr>
          <a:xfrm>
            <a:off x="2537460" y="4069080"/>
            <a:ext cx="1851660" cy="91"/>
          </a:xfrm>
          <a:prstGeom prst="line">
            <a:avLst/>
          </a:prstGeom>
          <a:noFill/>
          <a:ln w="28575">
            <a:solidFill>
              <a:srgbClr val="133536"/>
            </a:solidFill>
            <a:prstDash val="solid"/>
          </a:ln>
        </p:spPr>
      </p:sp>
      <p:sp>
        <p:nvSpPr>
          <p:cNvPr id="66" name="Shape 64"/>
          <p:cNvSpPr/>
          <p:nvPr/>
        </p:nvSpPr>
        <p:spPr>
          <a:xfrm>
            <a:off x="1303020" y="3691890"/>
            <a:ext cx="91" cy="880110"/>
          </a:xfrm>
          <a:prstGeom prst="line">
            <a:avLst/>
          </a:prstGeom>
          <a:noFill/>
          <a:ln w="28575">
            <a:solidFill>
              <a:srgbClr val="133536"/>
            </a:solidFill>
            <a:prstDash val="solid"/>
          </a:ln>
        </p:spPr>
      </p:sp>
      <p:sp>
        <p:nvSpPr>
          <p:cNvPr id="67" name="Shape 65"/>
          <p:cNvSpPr/>
          <p:nvPr/>
        </p:nvSpPr>
        <p:spPr>
          <a:xfrm>
            <a:off x="1303020" y="3691890"/>
            <a:ext cx="1234440" cy="91"/>
          </a:xfrm>
          <a:prstGeom prst="line">
            <a:avLst/>
          </a:prstGeom>
          <a:noFill/>
          <a:ln w="28575">
            <a:solidFill>
              <a:srgbClr val="133536"/>
            </a:solidFill>
            <a:prstDash val="solid"/>
          </a:ln>
        </p:spPr>
      </p:sp>
      <p:sp>
        <p:nvSpPr>
          <p:cNvPr id="68" name="Shape 66"/>
          <p:cNvSpPr/>
          <p:nvPr/>
        </p:nvSpPr>
        <p:spPr>
          <a:xfrm>
            <a:off x="1303020" y="4572000"/>
            <a:ext cx="3086100" cy="91"/>
          </a:xfrm>
          <a:prstGeom prst="line">
            <a:avLst/>
          </a:prstGeom>
          <a:noFill/>
          <a:ln w="28575">
            <a:solidFill>
              <a:srgbClr val="133536"/>
            </a:solidFill>
            <a:prstDash val="solid"/>
          </a:ln>
        </p:spPr>
      </p:sp>
      <p:sp>
        <p:nvSpPr>
          <p:cNvPr id="69" name="Shape 67"/>
          <p:cNvSpPr/>
          <p:nvPr/>
        </p:nvSpPr>
        <p:spPr>
          <a:xfrm>
            <a:off x="1074420" y="4131945"/>
            <a:ext cx="228600" cy="91"/>
          </a:xfrm>
          <a:prstGeom prst="line">
            <a:avLst/>
          </a:prstGeom>
          <a:noFill/>
          <a:ln w="28575">
            <a:solidFill>
              <a:srgbClr val="133536"/>
            </a:solidFill>
            <a:prstDash val="solid"/>
          </a:ln>
        </p:spPr>
      </p:sp>
      <p:sp>
        <p:nvSpPr>
          <p:cNvPr id="70" name="Text 68"/>
          <p:cNvSpPr/>
          <p:nvPr/>
        </p:nvSpPr>
        <p:spPr>
          <a:xfrm>
            <a:off x="4462272" y="2926080"/>
            <a:ext cx="1280160" cy="274320"/>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Human</a:t>
            </a:r>
            <a:endParaRPr lang="en-US" sz="1050" dirty="0"/>
          </a:p>
        </p:txBody>
      </p:sp>
      <p:sp>
        <p:nvSpPr>
          <p:cNvPr id="71" name="Text 69"/>
          <p:cNvSpPr/>
          <p:nvPr/>
        </p:nvSpPr>
        <p:spPr>
          <a:xfrm>
            <a:off x="4462272" y="3429000"/>
            <a:ext cx="1280160" cy="274320"/>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Chimpanzee</a:t>
            </a:r>
            <a:endParaRPr lang="en-US" sz="1050" dirty="0"/>
          </a:p>
        </p:txBody>
      </p:sp>
      <p:sp>
        <p:nvSpPr>
          <p:cNvPr id="72" name="Text 70"/>
          <p:cNvSpPr/>
          <p:nvPr/>
        </p:nvSpPr>
        <p:spPr>
          <a:xfrm>
            <a:off x="4462272" y="3931920"/>
            <a:ext cx="1280160" cy="274320"/>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Gorilla</a:t>
            </a:r>
            <a:endParaRPr lang="en-US" sz="1050" dirty="0"/>
          </a:p>
        </p:txBody>
      </p:sp>
      <p:sp>
        <p:nvSpPr>
          <p:cNvPr id="73" name="Text 71"/>
          <p:cNvSpPr/>
          <p:nvPr/>
        </p:nvSpPr>
        <p:spPr>
          <a:xfrm>
            <a:off x="4462272" y="4434840"/>
            <a:ext cx="1280160" cy="274320"/>
          </a:xfrm>
          <a:prstGeom prst="rect">
            <a:avLst/>
          </a:prstGeom>
          <a:noFill/>
          <a:ln/>
        </p:spPr>
        <p:txBody>
          <a:bodyPr wrap="square" lIns="0" tIns="0" rIns="0" bIns="0" rtlCol="0" anchor="ctr"/>
          <a:lstStyle/>
          <a:p>
            <a:pPr algn="l" indent="0" marL="0">
              <a:buNone/>
            </a:pPr>
            <a:r>
              <a:rPr lang="en-US" sz="1050" b="1" dirty="0">
                <a:solidFill>
                  <a:srgbClr val="133536"/>
                </a:solidFill>
                <a:latin typeface="Calibri" pitchFamily="34" charset="0"/>
                <a:ea typeface="Calibri" pitchFamily="34" charset="-122"/>
                <a:cs typeface="Calibri" pitchFamily="34" charset="-120"/>
              </a:rPr>
              <a:t>Orangutan</a:t>
            </a:r>
            <a:endParaRPr lang="en-US" sz="1050" dirty="0"/>
          </a:p>
        </p:txBody>
      </p:sp>
      <p:sp>
        <p:nvSpPr>
          <p:cNvPr id="74" name="Shape 72"/>
          <p:cNvSpPr/>
          <p:nvPr/>
        </p:nvSpPr>
        <p:spPr>
          <a:xfrm>
            <a:off x="1239012" y="4067937"/>
            <a:ext cx="128016" cy="128016"/>
          </a:xfrm>
          <a:prstGeom prst="ellipse">
            <a:avLst/>
          </a:prstGeom>
          <a:solidFill>
            <a:srgbClr val="F5A742"/>
          </a:solidFill>
          <a:ln w="9525">
            <a:solidFill>
              <a:srgbClr val="B8730A"/>
            </a:solidFill>
            <a:prstDash val="solid"/>
          </a:ln>
        </p:spPr>
      </p:sp>
      <p:sp>
        <p:nvSpPr>
          <p:cNvPr id="75" name="Text 73"/>
          <p:cNvSpPr/>
          <p:nvPr/>
        </p:nvSpPr>
        <p:spPr>
          <a:xfrm>
            <a:off x="845820" y="4177665"/>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Z</a:t>
            </a:r>
            <a:endParaRPr lang="en-US" sz="1050" dirty="0"/>
          </a:p>
        </p:txBody>
      </p:sp>
      <p:sp>
        <p:nvSpPr>
          <p:cNvPr id="76" name="Shape 74"/>
          <p:cNvSpPr/>
          <p:nvPr/>
        </p:nvSpPr>
        <p:spPr>
          <a:xfrm>
            <a:off x="2473452" y="3627882"/>
            <a:ext cx="128016" cy="128016"/>
          </a:xfrm>
          <a:prstGeom prst="ellipse">
            <a:avLst/>
          </a:prstGeom>
          <a:solidFill>
            <a:srgbClr val="F5A742"/>
          </a:solidFill>
          <a:ln w="9525">
            <a:solidFill>
              <a:srgbClr val="B8730A"/>
            </a:solidFill>
            <a:prstDash val="solid"/>
          </a:ln>
        </p:spPr>
      </p:sp>
      <p:sp>
        <p:nvSpPr>
          <p:cNvPr id="77" name="Text 75"/>
          <p:cNvSpPr/>
          <p:nvPr/>
        </p:nvSpPr>
        <p:spPr>
          <a:xfrm>
            <a:off x="2080260" y="373761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Y</a:t>
            </a:r>
            <a:endParaRPr lang="en-US" sz="1050" dirty="0"/>
          </a:p>
        </p:txBody>
      </p:sp>
      <p:sp>
        <p:nvSpPr>
          <p:cNvPr id="78" name="Shape 76"/>
          <p:cNvSpPr/>
          <p:nvPr/>
        </p:nvSpPr>
        <p:spPr>
          <a:xfrm>
            <a:off x="2987802" y="3250692"/>
            <a:ext cx="128016" cy="128016"/>
          </a:xfrm>
          <a:prstGeom prst="ellipse">
            <a:avLst/>
          </a:prstGeom>
          <a:solidFill>
            <a:srgbClr val="F5A742"/>
          </a:solidFill>
          <a:ln w="9525">
            <a:solidFill>
              <a:srgbClr val="B8730A"/>
            </a:solidFill>
            <a:prstDash val="solid"/>
          </a:ln>
        </p:spPr>
      </p:sp>
      <p:sp>
        <p:nvSpPr>
          <p:cNvPr id="79" name="Text 77"/>
          <p:cNvSpPr/>
          <p:nvPr/>
        </p:nvSpPr>
        <p:spPr>
          <a:xfrm>
            <a:off x="2594610" y="336042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X</a:t>
            </a:r>
            <a:endParaRPr lang="en-US" sz="1050" dirty="0"/>
          </a:p>
        </p:txBody>
      </p:sp>
      <p:sp>
        <p:nvSpPr>
          <p:cNvPr id="80" name="Shape 78"/>
          <p:cNvSpPr/>
          <p:nvPr/>
        </p:nvSpPr>
        <p:spPr>
          <a:xfrm>
            <a:off x="1097280" y="5074920"/>
            <a:ext cx="3291840" cy="91"/>
          </a:xfrm>
          <a:prstGeom prst="line">
            <a:avLst/>
          </a:prstGeom>
          <a:noFill/>
          <a:ln w="15875">
            <a:solidFill>
              <a:srgbClr val="133536"/>
            </a:solidFill>
            <a:prstDash val="solid"/>
          </a:ln>
        </p:spPr>
      </p:sp>
      <p:sp>
        <p:nvSpPr>
          <p:cNvPr id="81" name="Shape 79"/>
          <p:cNvSpPr/>
          <p:nvPr/>
        </p:nvSpPr>
        <p:spPr>
          <a:xfrm>
            <a:off x="1097280" y="5074920"/>
            <a:ext cx="91" cy="54864"/>
          </a:xfrm>
          <a:prstGeom prst="line">
            <a:avLst/>
          </a:prstGeom>
          <a:noFill/>
          <a:ln w="12700">
            <a:solidFill>
              <a:srgbClr val="133536"/>
            </a:solidFill>
            <a:prstDash val="solid"/>
          </a:ln>
        </p:spPr>
      </p:sp>
      <p:sp>
        <p:nvSpPr>
          <p:cNvPr id="82" name="Text 80"/>
          <p:cNvSpPr/>
          <p:nvPr/>
        </p:nvSpPr>
        <p:spPr>
          <a:xfrm>
            <a:off x="822960" y="5129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83" name="Shape 81"/>
          <p:cNvSpPr/>
          <p:nvPr/>
        </p:nvSpPr>
        <p:spPr>
          <a:xfrm>
            <a:off x="1920240" y="5074920"/>
            <a:ext cx="91" cy="54864"/>
          </a:xfrm>
          <a:prstGeom prst="line">
            <a:avLst/>
          </a:prstGeom>
          <a:noFill/>
          <a:ln w="12700">
            <a:solidFill>
              <a:srgbClr val="133536"/>
            </a:solidFill>
            <a:prstDash val="solid"/>
          </a:ln>
        </p:spPr>
      </p:sp>
      <p:sp>
        <p:nvSpPr>
          <p:cNvPr id="84" name="Text 82"/>
          <p:cNvSpPr/>
          <p:nvPr/>
        </p:nvSpPr>
        <p:spPr>
          <a:xfrm>
            <a:off x="1645920" y="5129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85" name="Shape 83"/>
          <p:cNvSpPr/>
          <p:nvPr/>
        </p:nvSpPr>
        <p:spPr>
          <a:xfrm>
            <a:off x="2743200" y="5074920"/>
            <a:ext cx="91" cy="54864"/>
          </a:xfrm>
          <a:prstGeom prst="line">
            <a:avLst/>
          </a:prstGeom>
          <a:noFill/>
          <a:ln w="12700">
            <a:solidFill>
              <a:srgbClr val="133536"/>
            </a:solidFill>
            <a:prstDash val="solid"/>
          </a:ln>
        </p:spPr>
      </p:sp>
      <p:sp>
        <p:nvSpPr>
          <p:cNvPr id="86" name="Text 84"/>
          <p:cNvSpPr/>
          <p:nvPr/>
        </p:nvSpPr>
        <p:spPr>
          <a:xfrm>
            <a:off x="2468880" y="5129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87" name="Shape 85"/>
          <p:cNvSpPr/>
          <p:nvPr/>
        </p:nvSpPr>
        <p:spPr>
          <a:xfrm>
            <a:off x="3566160" y="5074920"/>
            <a:ext cx="91" cy="54864"/>
          </a:xfrm>
          <a:prstGeom prst="line">
            <a:avLst/>
          </a:prstGeom>
          <a:noFill/>
          <a:ln w="12700">
            <a:solidFill>
              <a:srgbClr val="133536"/>
            </a:solidFill>
            <a:prstDash val="solid"/>
          </a:ln>
        </p:spPr>
      </p:sp>
      <p:sp>
        <p:nvSpPr>
          <p:cNvPr id="88" name="Text 86"/>
          <p:cNvSpPr/>
          <p:nvPr/>
        </p:nvSpPr>
        <p:spPr>
          <a:xfrm>
            <a:off x="3291840" y="5129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89" name="Shape 87"/>
          <p:cNvSpPr/>
          <p:nvPr/>
        </p:nvSpPr>
        <p:spPr>
          <a:xfrm>
            <a:off x="4389120" y="5074920"/>
            <a:ext cx="91" cy="54864"/>
          </a:xfrm>
          <a:prstGeom prst="line">
            <a:avLst/>
          </a:prstGeom>
          <a:noFill/>
          <a:ln w="12700">
            <a:solidFill>
              <a:srgbClr val="133536"/>
            </a:solidFill>
            <a:prstDash val="solid"/>
          </a:ln>
        </p:spPr>
      </p:sp>
      <p:sp>
        <p:nvSpPr>
          <p:cNvPr id="90" name="Text 88"/>
          <p:cNvSpPr/>
          <p:nvPr/>
        </p:nvSpPr>
        <p:spPr>
          <a:xfrm>
            <a:off x="4114800" y="512978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91" name="Text 89"/>
          <p:cNvSpPr/>
          <p:nvPr/>
        </p:nvSpPr>
        <p:spPr>
          <a:xfrm>
            <a:off x="1097280" y="5312664"/>
            <a:ext cx="3291840"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million years ago (approx.)</a:t>
            </a:r>
            <a:endParaRPr lang="en-US" sz="1000" dirty="0"/>
          </a:p>
        </p:txBody>
      </p:sp>
      <p:sp>
        <p:nvSpPr>
          <p:cNvPr id="92" name="Shape 90"/>
          <p:cNvSpPr/>
          <p:nvPr/>
        </p:nvSpPr>
        <p:spPr>
          <a:xfrm>
            <a:off x="6675120" y="1188720"/>
            <a:ext cx="5102352" cy="2514600"/>
          </a:xfrm>
          <a:prstGeom prst="roundRect">
            <a:avLst>
              <a:gd name="adj" fmla="val 2182"/>
            </a:avLst>
          </a:prstGeom>
          <a:solidFill>
            <a:srgbClr val="F4FAF9"/>
          </a:solidFill>
          <a:ln w="9525">
            <a:solidFill>
              <a:srgbClr val="CFE0DE"/>
            </a:solidFill>
            <a:prstDash val="solid"/>
          </a:ln>
        </p:spPr>
      </p:sp>
      <p:sp>
        <p:nvSpPr>
          <p:cNvPr id="93" name="Text 91"/>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to build the tree</a:t>
            </a:r>
            <a:endParaRPr lang="en-US" sz="1300" dirty="0"/>
          </a:p>
        </p:txBody>
      </p:sp>
      <p:sp>
        <p:nvSpPr>
          <p:cNvPr id="94" name="Text 92"/>
          <p:cNvSpPr/>
          <p:nvPr/>
        </p:nvSpPr>
        <p:spPr>
          <a:xfrm>
            <a:off x="6839712" y="1609344"/>
            <a:ext cx="4773168" cy="202082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Find the pair with the </a:t>
            </a:r>
            <a:r>
              <a:rPr lang="en-US" sz="1150" b="1" dirty="0">
                <a:solidFill>
                  <a:srgbClr val="262B3A"/>
                </a:solidFill>
                <a:latin typeface="Calibri" pitchFamily="34" charset="0"/>
                <a:ea typeface="Calibri" pitchFamily="34" charset="-122"/>
                <a:cs typeface="Calibri" pitchFamily="34" charset="-120"/>
              </a:rPr>
              <a:t>fewest</a:t>
            </a:r>
            <a:r>
              <a:rPr lang="en-US" sz="1150" dirty="0">
                <a:solidFill>
                  <a:srgbClr val="262B3A"/>
                </a:solidFill>
                <a:latin typeface="Calibri" pitchFamily="34" charset="0"/>
                <a:ea typeface="Calibri" pitchFamily="34" charset="-122"/>
                <a:cs typeface="Calibri" pitchFamily="34" charset="-120"/>
              </a:rPr>
              <a:t> differences: human and chimp (</a:t>
            </a:r>
            <a:r>
              <a:rPr lang="en-US" sz="1150" b="1" dirty="0">
                <a:solidFill>
                  <a:srgbClr val="262B3A"/>
                </a:solidFill>
                <a:latin typeface="Calibri" pitchFamily="34" charset="0"/>
                <a:ea typeface="Calibri" pitchFamily="34" charset="-122"/>
                <a:cs typeface="Calibri" pitchFamily="34" charset="-120"/>
              </a:rPr>
              <a:t>1</a:t>
            </a:r>
            <a:r>
              <a:rPr lang="en-US" sz="1150" dirty="0">
                <a:solidFill>
                  <a:srgbClr val="262B3A"/>
                </a:solidFill>
                <a:latin typeface="Calibri" pitchFamily="34" charset="0"/>
                <a:ea typeface="Calibri" pitchFamily="34" charset="-122"/>
                <a:cs typeface="Calibri" pitchFamily="34" charset="-120"/>
              </a:rPr>
              <a:t>). Join them first at branch point </a:t>
            </a:r>
            <a:r>
              <a:rPr lang="en-US" sz="1150" b="1" dirty="0">
                <a:solidFill>
                  <a:srgbClr val="262B3A"/>
                </a:solidFill>
                <a:latin typeface="Calibri" pitchFamily="34" charset="0"/>
                <a:ea typeface="Calibri" pitchFamily="34" charset="-122"/>
                <a:cs typeface="Calibri" pitchFamily="34" charset="-120"/>
              </a:rPr>
              <a:t>X</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Next closest to that pair: </a:t>
            </a:r>
            <a:r>
              <a:rPr lang="en-US" sz="1150" b="1" dirty="0">
                <a:solidFill>
                  <a:srgbClr val="262B3A"/>
                </a:solidFill>
                <a:latin typeface="Calibri" pitchFamily="34" charset="0"/>
                <a:ea typeface="Calibri" pitchFamily="34" charset="-122"/>
                <a:cs typeface="Calibri" pitchFamily="34" charset="-120"/>
              </a:rPr>
              <a:t>gorilla</a:t>
            </a:r>
            <a:r>
              <a:rPr lang="en-US" sz="1150" dirty="0">
                <a:solidFill>
                  <a:srgbClr val="262B3A"/>
                </a:solidFill>
                <a:latin typeface="Calibri" pitchFamily="34" charset="0"/>
                <a:ea typeface="Calibri" pitchFamily="34" charset="-122"/>
                <a:cs typeface="Calibri" pitchFamily="34" charset="-120"/>
              </a:rPr>
              <a:t> (2 and 3 differences). Join at </a:t>
            </a:r>
            <a:r>
              <a:rPr lang="en-US" sz="1150" b="1" dirty="0">
                <a:solidFill>
                  <a:srgbClr val="262B3A"/>
                </a:solidFill>
                <a:latin typeface="Calibri" pitchFamily="34" charset="0"/>
                <a:ea typeface="Calibri" pitchFamily="34" charset="-122"/>
                <a:cs typeface="Calibri" pitchFamily="34" charset="-120"/>
              </a:rPr>
              <a:t>Y</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Orangutan</a:t>
            </a:r>
            <a:r>
              <a:rPr lang="en-US" sz="1150" dirty="0">
                <a:solidFill>
                  <a:srgbClr val="262B3A"/>
                </a:solidFill>
                <a:latin typeface="Calibri" pitchFamily="34" charset="0"/>
                <a:ea typeface="Calibri" pitchFamily="34" charset="-122"/>
                <a:cs typeface="Calibri" pitchFamily="34" charset="-120"/>
              </a:rPr>
              <a:t> is most different (5–6): it joins last, at </a:t>
            </a:r>
            <a:r>
              <a:rPr lang="en-US" sz="1150" b="1" dirty="0">
                <a:solidFill>
                  <a:srgbClr val="262B3A"/>
                </a:solidFill>
                <a:latin typeface="Calibri" pitchFamily="34" charset="0"/>
                <a:ea typeface="Calibri" pitchFamily="34" charset="-122"/>
                <a:cs typeface="Calibri" pitchFamily="34" charset="-120"/>
              </a:rPr>
              <a:t>Z</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Each branch point is a </a:t>
            </a:r>
            <a:r>
              <a:rPr lang="en-US" sz="1150" b="1" dirty="0">
                <a:solidFill>
                  <a:srgbClr val="262B3A"/>
                </a:solidFill>
                <a:latin typeface="Calibri" pitchFamily="34" charset="0"/>
                <a:ea typeface="Calibri" pitchFamily="34" charset="-122"/>
                <a:cs typeface="Calibri" pitchFamily="34" charset="-120"/>
              </a:rPr>
              <a:t>common ancestor</a:t>
            </a:r>
            <a:r>
              <a:rPr lang="en-US" sz="1150" dirty="0">
                <a:solidFill>
                  <a:srgbClr val="262B3A"/>
                </a:solidFill>
                <a:latin typeface="Calibri" pitchFamily="34" charset="0"/>
                <a:ea typeface="Calibri" pitchFamily="34" charset="-122"/>
                <a:cs typeface="Calibri" pitchFamily="34" charset="-120"/>
              </a:rPr>
              <a:t>; dates come from fossils and mutation rates.</a:t>
            </a:r>
            <a:endParaRPr lang="en-US" sz="1150" dirty="0"/>
          </a:p>
        </p:txBody>
      </p:sp>
      <p:sp>
        <p:nvSpPr>
          <p:cNvPr id="95" name="Shape 93"/>
          <p:cNvSpPr/>
          <p:nvPr/>
        </p:nvSpPr>
        <p:spPr>
          <a:xfrm>
            <a:off x="6675120" y="3840480"/>
            <a:ext cx="5102352" cy="1874520"/>
          </a:xfrm>
          <a:prstGeom prst="roundRect">
            <a:avLst>
              <a:gd name="adj" fmla="val 2927"/>
            </a:avLst>
          </a:prstGeom>
          <a:solidFill>
            <a:srgbClr val="FFF4E0"/>
          </a:solidFill>
          <a:ln w="9525">
            <a:solidFill>
              <a:srgbClr val="F1D9A8"/>
            </a:solidFill>
            <a:prstDash val="solid"/>
          </a:ln>
        </p:spPr>
      </p:sp>
      <p:sp>
        <p:nvSpPr>
          <p:cNvPr id="96" name="Text 94"/>
          <p:cNvSpPr/>
          <p:nvPr/>
        </p:nvSpPr>
        <p:spPr>
          <a:xfrm>
            <a:off x="6839712" y="391363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 similarity</a:t>
            </a:r>
            <a:endParaRPr lang="en-US" sz="1300" dirty="0"/>
          </a:p>
        </p:txBody>
      </p:sp>
      <p:sp>
        <p:nvSpPr>
          <p:cNvPr id="97" name="Text 95"/>
          <p:cNvSpPr/>
          <p:nvPr/>
        </p:nvSpPr>
        <p:spPr>
          <a:xfrm>
            <a:off x="6839712" y="4224528"/>
            <a:ext cx="4773168" cy="14173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Chimpanzee and orangutan: 6 of the 20 bases differ.</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1 Same   </a:t>
            </a:r>
            <a:r>
              <a:rPr lang="en-US" sz="1050" dirty="0">
                <a:solidFill>
                  <a:srgbClr val="262B3A"/>
                </a:solidFill>
                <a:latin typeface="Calibri" pitchFamily="34" charset="0"/>
                <a:ea typeface="Calibri" pitchFamily="34" charset="-122"/>
                <a:cs typeface="Calibri" pitchFamily="34" charset="-120"/>
              </a:rPr>
              <a:t>20 − 6 = 14</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2 Percent   </a:t>
            </a:r>
            <a:r>
              <a:rPr lang="en-US" sz="1050" dirty="0">
                <a:solidFill>
                  <a:srgbClr val="262B3A"/>
                </a:solidFill>
                <a:latin typeface="Calibri" pitchFamily="34" charset="0"/>
                <a:ea typeface="Calibri" pitchFamily="34" charset="-122"/>
                <a:cs typeface="Calibri" pitchFamily="34" charset="-120"/>
              </a:rPr>
              <a:t>14 ÷ 20 × 100</a:t>
            </a:r>
            <a:endParaRPr lang="en-US" sz="1050" dirty="0"/>
          </a:p>
          <a:p>
            <a:pPr indent="0" marL="0">
              <a:spcBef>
                <a:spcPts val="200"/>
              </a:spcBef>
              <a:buNone/>
            </a:pPr>
            <a:r>
              <a:rPr lang="en-US" sz="1050" b="1" dirty="0">
                <a:solidFill>
                  <a:srgbClr val="0D7877"/>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70%</a:t>
            </a:r>
            <a:r>
              <a:rPr lang="en-US" sz="1050" b="1" dirty="0">
                <a:solidFill>
                  <a:srgbClr val="C8414C"/>
                </a:solidFill>
                <a:latin typeface="Calibri" pitchFamily="34" charset="0"/>
                <a:ea typeface="Calibri" pitchFamily="34" charset="-122"/>
                <a:cs typeface="Calibri" pitchFamily="34" charset="-120"/>
              </a:rPr>
              <a:t> the same: the least similar pair, so the most distant relatives</a:t>
            </a:r>
            <a:endParaRPr lang="en-US" sz="1050" dirty="0"/>
          </a:p>
        </p:txBody>
      </p:sp>
      <p:sp>
        <p:nvSpPr>
          <p:cNvPr id="98" name="Shape 96"/>
          <p:cNvSpPr/>
          <p:nvPr/>
        </p:nvSpPr>
        <p:spPr>
          <a:xfrm>
            <a:off x="411480" y="5833872"/>
            <a:ext cx="11368735" cy="530352"/>
          </a:xfrm>
          <a:prstGeom prst="rect">
            <a:avLst/>
          </a:prstGeom>
          <a:solidFill>
            <a:srgbClr val="FFF4E0"/>
          </a:solidFill>
          <a:ln w="6350">
            <a:solidFill>
              <a:srgbClr val="F1D9A8"/>
            </a:solidFill>
            <a:prstDash val="solid"/>
          </a:ln>
        </p:spPr>
      </p:sp>
      <p:sp>
        <p:nvSpPr>
          <p:cNvPr id="99" name="Shape 97"/>
          <p:cNvSpPr/>
          <p:nvPr/>
        </p:nvSpPr>
        <p:spPr>
          <a:xfrm>
            <a:off x="411480" y="5833872"/>
            <a:ext cx="82296" cy="530352"/>
          </a:xfrm>
          <a:prstGeom prst="rect">
            <a:avLst/>
          </a:prstGeom>
          <a:solidFill>
            <a:srgbClr val="E39A2F"/>
          </a:solidFill>
          <a:ln w="12700">
            <a:solidFill>
              <a:srgbClr val="E39A2F"/>
            </a:solidFill>
            <a:prstDash val="solid"/>
          </a:ln>
        </p:spPr>
      </p:sp>
      <p:sp>
        <p:nvSpPr>
          <p:cNvPr id="100" name="Text 9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Which branch point is the </a:t>
            </a:r>
            <a:r>
              <a:rPr lang="en-US" sz="1150" b="1" dirty="0">
                <a:solidFill>
                  <a:srgbClr val="262B3A"/>
                </a:solidFill>
                <a:latin typeface="Calibri" pitchFamily="34" charset="0"/>
                <a:ea typeface="Calibri" pitchFamily="34" charset="-122"/>
                <a:cs typeface="Calibri" pitchFamily="34" charset="-120"/>
              </a:rPr>
              <a:t>most recent common ancestor</a:t>
            </a:r>
            <a:r>
              <a:rPr lang="en-US" sz="1150" dirty="0">
                <a:solidFill>
                  <a:srgbClr val="262B3A"/>
                </a:solidFill>
                <a:latin typeface="Calibri" pitchFamily="34" charset="0"/>
                <a:ea typeface="Calibri" pitchFamily="34" charset="-122"/>
                <a:cs typeface="Calibri" pitchFamily="34" charset="-120"/>
              </a:rPr>
              <a:t> of gorilla and chimp? About how many million years ago did it live?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DNA analysis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13</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Two species are compared over </a:t>
            </a:r>
            <a:r>
              <a:rPr lang="en-US" sz="1250" b="1" dirty="0">
                <a:solidFill>
                  <a:srgbClr val="262B3A"/>
                </a:solidFill>
                <a:latin typeface="Calibri" pitchFamily="34" charset="0"/>
                <a:ea typeface="Calibri" pitchFamily="34" charset="-122"/>
                <a:cs typeface="Calibri" pitchFamily="34" charset="-120"/>
              </a:rPr>
              <a:t>50</a:t>
            </a:r>
            <a:r>
              <a:rPr lang="en-US" sz="1250" dirty="0">
                <a:solidFill>
                  <a:srgbClr val="262B3A"/>
                </a:solidFill>
                <a:latin typeface="Calibri" pitchFamily="34" charset="0"/>
                <a:ea typeface="Calibri" pitchFamily="34" charset="-122"/>
                <a:cs typeface="Calibri" pitchFamily="34" charset="-120"/>
              </a:rPr>
              <a:t> bases of the same gene. </a:t>
            </a:r>
            <a:r>
              <a:rPr lang="en-US" sz="1250" b="1" dirty="0">
                <a:solidFill>
                  <a:srgbClr val="262B3A"/>
                </a:solidFill>
                <a:latin typeface="Calibri" pitchFamily="34" charset="0"/>
                <a:ea typeface="Calibri" pitchFamily="34" charset="-122"/>
                <a:cs typeface="Calibri" pitchFamily="34" charset="-120"/>
              </a:rPr>
              <a:t>4</a:t>
            </a:r>
            <a:r>
              <a:rPr lang="en-US" sz="1250" dirty="0">
                <a:solidFill>
                  <a:srgbClr val="262B3A"/>
                </a:solidFill>
                <a:latin typeface="Calibri" pitchFamily="34" charset="0"/>
                <a:ea typeface="Calibri" pitchFamily="34" charset="-122"/>
                <a:cs typeface="Calibri" pitchFamily="34" charset="-120"/>
              </a:rPr>
              <a:t> bases are different. Calculate the percentage similarity.</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species with </a:t>
            </a:r>
            <a:r>
              <a:rPr lang="en-US" sz="1250" b="1" dirty="0">
                <a:solidFill>
                  <a:srgbClr val="262B3A"/>
                </a:solidFill>
                <a:latin typeface="Calibri" pitchFamily="34" charset="0"/>
                <a:ea typeface="Calibri" pitchFamily="34" charset="-122"/>
                <a:cs typeface="Calibri" pitchFamily="34" charset="-120"/>
              </a:rPr>
              <a:t>more similar</a:t>
            </a:r>
            <a:r>
              <a:rPr lang="en-US" sz="1250" dirty="0">
                <a:solidFill>
                  <a:srgbClr val="262B3A"/>
                </a:solidFill>
                <a:latin typeface="Calibri" pitchFamily="34" charset="0"/>
                <a:ea typeface="Calibri" pitchFamily="34" charset="-122"/>
                <a:cs typeface="Calibri" pitchFamily="34" charset="-120"/>
              </a:rPr>
              <a:t> DNA are thought to be </a:t>
            </a:r>
            <a:r>
              <a:rPr lang="en-US" sz="1250" b="1" dirty="0">
                <a:solidFill>
                  <a:srgbClr val="262B3A"/>
                </a:solidFill>
                <a:latin typeface="Calibri" pitchFamily="34" charset="0"/>
                <a:ea typeface="Calibri" pitchFamily="34" charset="-122"/>
                <a:cs typeface="Calibri" pitchFamily="34" charset="-120"/>
              </a:rPr>
              <a:t>more closely related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reasons why DNA evidence is more reliable than appearance for classification.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Species P and Q differ at </a:t>
            </a:r>
            <a:r>
              <a:rPr lang="en-US" sz="1250" b="1" dirty="0">
                <a:solidFill>
                  <a:srgbClr val="262B3A"/>
                </a:solidFill>
                <a:latin typeface="Calibri" pitchFamily="34" charset="0"/>
                <a:ea typeface="Calibri" pitchFamily="34" charset="-122"/>
                <a:cs typeface="Calibri" pitchFamily="34" charset="-120"/>
              </a:rPr>
              <a:t>3</a:t>
            </a:r>
            <a:r>
              <a:rPr lang="en-US" sz="1250" dirty="0">
                <a:solidFill>
                  <a:srgbClr val="262B3A"/>
                </a:solidFill>
                <a:latin typeface="Calibri" pitchFamily="34" charset="0"/>
                <a:ea typeface="Calibri" pitchFamily="34" charset="-122"/>
                <a:cs typeface="Calibri" pitchFamily="34" charset="-120"/>
              </a:rPr>
              <a:t> bases, P and R at </a:t>
            </a:r>
            <a:r>
              <a:rPr lang="en-US" sz="1250" b="1" dirty="0">
                <a:solidFill>
                  <a:srgbClr val="262B3A"/>
                </a:solidFill>
                <a:latin typeface="Calibri" pitchFamily="34" charset="0"/>
                <a:ea typeface="Calibri" pitchFamily="34" charset="-122"/>
                <a:cs typeface="Calibri" pitchFamily="34" charset="-120"/>
              </a:rPr>
              <a:t>9</a:t>
            </a:r>
            <a:r>
              <a:rPr lang="en-US" sz="1250" dirty="0">
                <a:solidFill>
                  <a:srgbClr val="262B3A"/>
                </a:solidFill>
                <a:latin typeface="Calibri" pitchFamily="34" charset="0"/>
                <a:ea typeface="Calibri" pitchFamily="34" charset="-122"/>
                <a:cs typeface="Calibri" pitchFamily="34" charset="-120"/>
              </a:rPr>
              <a:t>, Q and R at </a:t>
            </a:r>
            <a:r>
              <a:rPr lang="en-US" sz="1250" b="1" dirty="0">
                <a:solidFill>
                  <a:srgbClr val="262B3A"/>
                </a:solidFill>
                <a:latin typeface="Calibri" pitchFamily="34" charset="0"/>
                <a:ea typeface="Calibri" pitchFamily="34" charset="-122"/>
                <a:cs typeface="Calibri" pitchFamily="34" charset="-120"/>
              </a:rPr>
              <a:t>8</a:t>
            </a:r>
            <a:r>
              <a:rPr lang="en-US" sz="1250" dirty="0">
                <a:solidFill>
                  <a:srgbClr val="262B3A"/>
                </a:solidFill>
                <a:latin typeface="Calibri" pitchFamily="34" charset="0"/>
                <a:ea typeface="Calibri" pitchFamily="34" charset="-122"/>
                <a:cs typeface="Calibri" pitchFamily="34" charset="-120"/>
              </a:rPr>
              <a:t>. Which two are most closely related? Explain.</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Reading evolutionary trees correctly</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a tree shows common ancestors, not a ladder</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14</a:t>
            </a:r>
            <a:endParaRPr lang="en-US" sz="1000" dirty="0"/>
          </a:p>
        </p:txBody>
      </p:sp>
      <p:sp>
        <p:nvSpPr>
          <p:cNvPr id="8" name="Shape 6"/>
          <p:cNvSpPr/>
          <p:nvPr/>
        </p:nvSpPr>
        <p:spPr>
          <a:xfrm>
            <a:off x="411480" y="1188720"/>
            <a:ext cx="60350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same tree drawn two ways: branches rotated at the branch points</a:t>
            </a:r>
            <a:endParaRPr lang="en-US" sz="1000" dirty="0"/>
          </a:p>
        </p:txBody>
      </p:sp>
      <p:sp>
        <p:nvSpPr>
          <p:cNvPr id="10" name="Text 8"/>
          <p:cNvSpPr/>
          <p:nvPr/>
        </p:nvSpPr>
        <p:spPr>
          <a:xfrm>
            <a:off x="594360" y="1298448"/>
            <a:ext cx="2743200" cy="237744"/>
          </a:xfrm>
          <a:prstGeom prst="rect">
            <a:avLst/>
          </a:prstGeom>
          <a:noFill/>
          <a:ln/>
        </p:spPr>
        <p:txBody>
          <a:bodyPr wrap="square" lIns="0" tIns="0" rIns="0" bIns="0" rtlCol="0" anchor="ctr"/>
          <a:lstStyle/>
          <a:p>
            <a:pPr algn="l" indent="0" marL="0">
              <a:buNone/>
            </a:pPr>
            <a:r>
              <a:rPr lang="en-US" sz="1150" b="1" dirty="0">
                <a:solidFill>
                  <a:srgbClr val="0D7877"/>
                </a:solidFill>
                <a:latin typeface="Calibri" pitchFamily="34" charset="0"/>
                <a:ea typeface="Calibri" pitchFamily="34" charset="-122"/>
                <a:cs typeface="Calibri" pitchFamily="34" charset="-120"/>
              </a:rPr>
              <a:t>Tree 1</a:t>
            </a:r>
            <a:endParaRPr lang="en-US" sz="1150" dirty="0"/>
          </a:p>
        </p:txBody>
      </p:sp>
      <p:sp>
        <p:nvSpPr>
          <p:cNvPr id="11" name="Text 9"/>
          <p:cNvSpPr/>
          <p:nvPr/>
        </p:nvSpPr>
        <p:spPr>
          <a:xfrm>
            <a:off x="3520440" y="1298448"/>
            <a:ext cx="2743200" cy="237744"/>
          </a:xfrm>
          <a:prstGeom prst="rect">
            <a:avLst/>
          </a:prstGeom>
          <a:noFill/>
          <a:ln/>
        </p:spPr>
        <p:txBody>
          <a:bodyPr wrap="square" lIns="0" tIns="0" rIns="0" bIns="0" rtlCol="0" anchor="ctr"/>
          <a:lstStyle/>
          <a:p>
            <a:pPr algn="l" indent="0" marL="0">
              <a:buNone/>
            </a:pPr>
            <a:r>
              <a:rPr lang="en-US" sz="1150" b="1" dirty="0">
                <a:solidFill>
                  <a:srgbClr val="0D7877"/>
                </a:solidFill>
                <a:latin typeface="Calibri" pitchFamily="34" charset="0"/>
                <a:ea typeface="Calibri" pitchFamily="34" charset="-122"/>
                <a:cs typeface="Calibri" pitchFamily="34" charset="-120"/>
              </a:rPr>
              <a:t>Tree 2 (same relationships)</a:t>
            </a:r>
            <a:endParaRPr lang="en-US" sz="1150" dirty="0"/>
          </a:p>
        </p:txBody>
      </p:sp>
      <p:sp>
        <p:nvSpPr>
          <p:cNvPr id="12" name="Shape 10"/>
          <p:cNvSpPr/>
          <p:nvPr/>
        </p:nvSpPr>
        <p:spPr>
          <a:xfrm>
            <a:off x="2276856" y="1783080"/>
            <a:ext cx="91" cy="594360"/>
          </a:xfrm>
          <a:prstGeom prst="line">
            <a:avLst/>
          </a:prstGeom>
          <a:noFill/>
          <a:ln w="28575">
            <a:solidFill>
              <a:srgbClr val="133536"/>
            </a:solidFill>
            <a:prstDash val="solid"/>
          </a:ln>
        </p:spPr>
      </p:sp>
      <p:sp>
        <p:nvSpPr>
          <p:cNvPr id="13" name="Shape 11"/>
          <p:cNvSpPr/>
          <p:nvPr/>
        </p:nvSpPr>
        <p:spPr>
          <a:xfrm>
            <a:off x="2276856" y="1783080"/>
            <a:ext cx="603504" cy="91"/>
          </a:xfrm>
          <a:prstGeom prst="line">
            <a:avLst/>
          </a:prstGeom>
          <a:noFill/>
          <a:ln w="28575">
            <a:solidFill>
              <a:srgbClr val="133536"/>
            </a:solidFill>
            <a:prstDash val="solid"/>
          </a:ln>
        </p:spPr>
      </p:sp>
      <p:sp>
        <p:nvSpPr>
          <p:cNvPr id="14" name="Shape 12"/>
          <p:cNvSpPr/>
          <p:nvPr/>
        </p:nvSpPr>
        <p:spPr>
          <a:xfrm>
            <a:off x="2276856" y="2377440"/>
            <a:ext cx="603504" cy="91"/>
          </a:xfrm>
          <a:prstGeom prst="line">
            <a:avLst/>
          </a:prstGeom>
          <a:noFill/>
          <a:ln w="28575">
            <a:solidFill>
              <a:srgbClr val="133536"/>
            </a:solidFill>
            <a:prstDash val="solid"/>
          </a:ln>
        </p:spPr>
      </p:sp>
      <p:sp>
        <p:nvSpPr>
          <p:cNvPr id="15" name="Shape 13"/>
          <p:cNvSpPr/>
          <p:nvPr/>
        </p:nvSpPr>
        <p:spPr>
          <a:xfrm>
            <a:off x="1572768" y="2080260"/>
            <a:ext cx="91" cy="891540"/>
          </a:xfrm>
          <a:prstGeom prst="line">
            <a:avLst/>
          </a:prstGeom>
          <a:noFill/>
          <a:ln w="28575">
            <a:solidFill>
              <a:srgbClr val="133536"/>
            </a:solidFill>
            <a:prstDash val="solid"/>
          </a:ln>
        </p:spPr>
      </p:sp>
      <p:sp>
        <p:nvSpPr>
          <p:cNvPr id="16" name="Shape 14"/>
          <p:cNvSpPr/>
          <p:nvPr/>
        </p:nvSpPr>
        <p:spPr>
          <a:xfrm>
            <a:off x="1572768" y="2080260"/>
            <a:ext cx="704088" cy="91"/>
          </a:xfrm>
          <a:prstGeom prst="line">
            <a:avLst/>
          </a:prstGeom>
          <a:noFill/>
          <a:ln w="28575">
            <a:solidFill>
              <a:srgbClr val="133536"/>
            </a:solidFill>
            <a:prstDash val="solid"/>
          </a:ln>
        </p:spPr>
      </p:sp>
      <p:sp>
        <p:nvSpPr>
          <p:cNvPr id="17" name="Shape 15"/>
          <p:cNvSpPr/>
          <p:nvPr/>
        </p:nvSpPr>
        <p:spPr>
          <a:xfrm>
            <a:off x="1572768" y="2971800"/>
            <a:ext cx="1307592" cy="91"/>
          </a:xfrm>
          <a:prstGeom prst="line">
            <a:avLst/>
          </a:prstGeom>
          <a:noFill/>
          <a:ln w="28575">
            <a:solidFill>
              <a:srgbClr val="133536"/>
            </a:solidFill>
            <a:prstDash val="solid"/>
          </a:ln>
        </p:spPr>
      </p:sp>
      <p:sp>
        <p:nvSpPr>
          <p:cNvPr id="18" name="Shape 16"/>
          <p:cNvSpPr/>
          <p:nvPr/>
        </p:nvSpPr>
        <p:spPr>
          <a:xfrm>
            <a:off x="1975104" y="3566160"/>
            <a:ext cx="91" cy="594360"/>
          </a:xfrm>
          <a:prstGeom prst="line">
            <a:avLst/>
          </a:prstGeom>
          <a:noFill/>
          <a:ln w="28575">
            <a:solidFill>
              <a:srgbClr val="133536"/>
            </a:solidFill>
            <a:prstDash val="solid"/>
          </a:ln>
        </p:spPr>
      </p:sp>
      <p:sp>
        <p:nvSpPr>
          <p:cNvPr id="19" name="Shape 17"/>
          <p:cNvSpPr/>
          <p:nvPr/>
        </p:nvSpPr>
        <p:spPr>
          <a:xfrm>
            <a:off x="1975104" y="3566160"/>
            <a:ext cx="905256" cy="91"/>
          </a:xfrm>
          <a:prstGeom prst="line">
            <a:avLst/>
          </a:prstGeom>
          <a:noFill/>
          <a:ln w="28575">
            <a:solidFill>
              <a:srgbClr val="133536"/>
            </a:solidFill>
            <a:prstDash val="solid"/>
          </a:ln>
        </p:spPr>
      </p:sp>
      <p:sp>
        <p:nvSpPr>
          <p:cNvPr id="20" name="Shape 18"/>
          <p:cNvSpPr/>
          <p:nvPr/>
        </p:nvSpPr>
        <p:spPr>
          <a:xfrm>
            <a:off x="1975104" y="4160520"/>
            <a:ext cx="905256" cy="91"/>
          </a:xfrm>
          <a:prstGeom prst="line">
            <a:avLst/>
          </a:prstGeom>
          <a:noFill/>
          <a:ln w="28575">
            <a:solidFill>
              <a:srgbClr val="133536"/>
            </a:solidFill>
            <a:prstDash val="solid"/>
          </a:ln>
        </p:spPr>
      </p:sp>
      <p:sp>
        <p:nvSpPr>
          <p:cNvPr id="21" name="Shape 19"/>
          <p:cNvSpPr/>
          <p:nvPr/>
        </p:nvSpPr>
        <p:spPr>
          <a:xfrm>
            <a:off x="868680" y="2526030"/>
            <a:ext cx="91" cy="1337310"/>
          </a:xfrm>
          <a:prstGeom prst="line">
            <a:avLst/>
          </a:prstGeom>
          <a:noFill/>
          <a:ln w="28575">
            <a:solidFill>
              <a:srgbClr val="133536"/>
            </a:solidFill>
            <a:prstDash val="solid"/>
          </a:ln>
        </p:spPr>
      </p:sp>
      <p:sp>
        <p:nvSpPr>
          <p:cNvPr id="22" name="Shape 20"/>
          <p:cNvSpPr/>
          <p:nvPr/>
        </p:nvSpPr>
        <p:spPr>
          <a:xfrm>
            <a:off x="868680" y="2526030"/>
            <a:ext cx="704088" cy="91"/>
          </a:xfrm>
          <a:prstGeom prst="line">
            <a:avLst/>
          </a:prstGeom>
          <a:noFill/>
          <a:ln w="28575">
            <a:solidFill>
              <a:srgbClr val="133536"/>
            </a:solidFill>
            <a:prstDash val="solid"/>
          </a:ln>
        </p:spPr>
      </p:sp>
      <p:sp>
        <p:nvSpPr>
          <p:cNvPr id="23" name="Shape 21"/>
          <p:cNvSpPr/>
          <p:nvPr/>
        </p:nvSpPr>
        <p:spPr>
          <a:xfrm>
            <a:off x="868680" y="3863340"/>
            <a:ext cx="1106424" cy="91"/>
          </a:xfrm>
          <a:prstGeom prst="line">
            <a:avLst/>
          </a:prstGeom>
          <a:noFill/>
          <a:ln w="28575">
            <a:solidFill>
              <a:srgbClr val="133536"/>
            </a:solidFill>
            <a:prstDash val="solid"/>
          </a:ln>
        </p:spPr>
      </p:sp>
      <p:sp>
        <p:nvSpPr>
          <p:cNvPr id="24" name="Shape 22"/>
          <p:cNvSpPr/>
          <p:nvPr/>
        </p:nvSpPr>
        <p:spPr>
          <a:xfrm>
            <a:off x="640080" y="3194685"/>
            <a:ext cx="228600" cy="91"/>
          </a:xfrm>
          <a:prstGeom prst="line">
            <a:avLst/>
          </a:prstGeom>
          <a:noFill/>
          <a:ln w="28575">
            <a:solidFill>
              <a:srgbClr val="133536"/>
            </a:solidFill>
            <a:prstDash val="solid"/>
          </a:ln>
        </p:spPr>
      </p:sp>
      <p:sp>
        <p:nvSpPr>
          <p:cNvPr id="25" name="Text 23"/>
          <p:cNvSpPr/>
          <p:nvPr/>
        </p:nvSpPr>
        <p:spPr>
          <a:xfrm>
            <a:off x="2953512" y="164592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A</a:t>
            </a:r>
            <a:endParaRPr lang="en-US" sz="1200" dirty="0"/>
          </a:p>
        </p:txBody>
      </p:sp>
      <p:sp>
        <p:nvSpPr>
          <p:cNvPr id="26" name="Text 24"/>
          <p:cNvSpPr/>
          <p:nvPr/>
        </p:nvSpPr>
        <p:spPr>
          <a:xfrm>
            <a:off x="2953512" y="224028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B</a:t>
            </a:r>
            <a:endParaRPr lang="en-US" sz="1200" dirty="0"/>
          </a:p>
        </p:txBody>
      </p:sp>
      <p:sp>
        <p:nvSpPr>
          <p:cNvPr id="27" name="Text 25"/>
          <p:cNvSpPr/>
          <p:nvPr/>
        </p:nvSpPr>
        <p:spPr>
          <a:xfrm>
            <a:off x="2953512" y="283464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C</a:t>
            </a:r>
            <a:endParaRPr lang="en-US" sz="1200" dirty="0"/>
          </a:p>
        </p:txBody>
      </p:sp>
      <p:sp>
        <p:nvSpPr>
          <p:cNvPr id="28" name="Text 26"/>
          <p:cNvSpPr/>
          <p:nvPr/>
        </p:nvSpPr>
        <p:spPr>
          <a:xfrm>
            <a:off x="2953512" y="342900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D</a:t>
            </a:r>
            <a:endParaRPr lang="en-US" sz="1200" dirty="0"/>
          </a:p>
        </p:txBody>
      </p:sp>
      <p:sp>
        <p:nvSpPr>
          <p:cNvPr id="29" name="Text 27"/>
          <p:cNvSpPr/>
          <p:nvPr/>
        </p:nvSpPr>
        <p:spPr>
          <a:xfrm>
            <a:off x="2953512" y="402336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E</a:t>
            </a:r>
            <a:endParaRPr lang="en-US" sz="1200" dirty="0"/>
          </a:p>
        </p:txBody>
      </p:sp>
      <p:sp>
        <p:nvSpPr>
          <p:cNvPr id="30" name="Shape 28"/>
          <p:cNvSpPr/>
          <p:nvPr/>
        </p:nvSpPr>
        <p:spPr>
          <a:xfrm>
            <a:off x="804672" y="3130677"/>
            <a:ext cx="128016" cy="128016"/>
          </a:xfrm>
          <a:prstGeom prst="ellipse">
            <a:avLst/>
          </a:prstGeom>
          <a:solidFill>
            <a:srgbClr val="F5A742"/>
          </a:solidFill>
          <a:ln w="9525">
            <a:solidFill>
              <a:srgbClr val="B8730A"/>
            </a:solidFill>
            <a:prstDash val="solid"/>
          </a:ln>
        </p:spPr>
      </p:sp>
      <p:sp>
        <p:nvSpPr>
          <p:cNvPr id="31" name="Text 29"/>
          <p:cNvSpPr/>
          <p:nvPr/>
        </p:nvSpPr>
        <p:spPr>
          <a:xfrm>
            <a:off x="411480" y="3240405"/>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n1</a:t>
            </a:r>
            <a:endParaRPr lang="en-US" sz="1050" dirty="0"/>
          </a:p>
        </p:txBody>
      </p:sp>
      <p:sp>
        <p:nvSpPr>
          <p:cNvPr id="32" name="Shape 30"/>
          <p:cNvSpPr/>
          <p:nvPr/>
        </p:nvSpPr>
        <p:spPr>
          <a:xfrm>
            <a:off x="1508760" y="2462022"/>
            <a:ext cx="128016" cy="128016"/>
          </a:xfrm>
          <a:prstGeom prst="ellipse">
            <a:avLst/>
          </a:prstGeom>
          <a:solidFill>
            <a:srgbClr val="F5A742"/>
          </a:solidFill>
          <a:ln w="9525">
            <a:solidFill>
              <a:srgbClr val="B8730A"/>
            </a:solidFill>
            <a:prstDash val="solid"/>
          </a:ln>
        </p:spPr>
      </p:sp>
      <p:sp>
        <p:nvSpPr>
          <p:cNvPr id="33" name="Text 31"/>
          <p:cNvSpPr/>
          <p:nvPr/>
        </p:nvSpPr>
        <p:spPr>
          <a:xfrm>
            <a:off x="1115568" y="257175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n2</a:t>
            </a:r>
            <a:endParaRPr lang="en-US" sz="1050" dirty="0"/>
          </a:p>
        </p:txBody>
      </p:sp>
      <p:sp>
        <p:nvSpPr>
          <p:cNvPr id="34" name="Shape 32"/>
          <p:cNvSpPr/>
          <p:nvPr/>
        </p:nvSpPr>
        <p:spPr>
          <a:xfrm>
            <a:off x="2212848" y="2016252"/>
            <a:ext cx="128016" cy="128016"/>
          </a:xfrm>
          <a:prstGeom prst="ellipse">
            <a:avLst/>
          </a:prstGeom>
          <a:solidFill>
            <a:srgbClr val="F5A742"/>
          </a:solidFill>
          <a:ln w="9525">
            <a:solidFill>
              <a:srgbClr val="B8730A"/>
            </a:solidFill>
            <a:prstDash val="solid"/>
          </a:ln>
        </p:spPr>
      </p:sp>
      <p:sp>
        <p:nvSpPr>
          <p:cNvPr id="35" name="Text 33"/>
          <p:cNvSpPr/>
          <p:nvPr/>
        </p:nvSpPr>
        <p:spPr>
          <a:xfrm>
            <a:off x="1819656" y="212598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n3</a:t>
            </a:r>
            <a:endParaRPr lang="en-US" sz="1050" dirty="0"/>
          </a:p>
        </p:txBody>
      </p:sp>
      <p:sp>
        <p:nvSpPr>
          <p:cNvPr id="36" name="Shape 34"/>
          <p:cNvSpPr/>
          <p:nvPr/>
        </p:nvSpPr>
        <p:spPr>
          <a:xfrm>
            <a:off x="1911096" y="3799332"/>
            <a:ext cx="128016" cy="128016"/>
          </a:xfrm>
          <a:prstGeom prst="ellipse">
            <a:avLst/>
          </a:prstGeom>
          <a:solidFill>
            <a:srgbClr val="F5A742"/>
          </a:solidFill>
          <a:ln w="9525">
            <a:solidFill>
              <a:srgbClr val="B8730A"/>
            </a:solidFill>
            <a:prstDash val="solid"/>
          </a:ln>
        </p:spPr>
      </p:sp>
      <p:sp>
        <p:nvSpPr>
          <p:cNvPr id="37" name="Text 35"/>
          <p:cNvSpPr/>
          <p:nvPr/>
        </p:nvSpPr>
        <p:spPr>
          <a:xfrm>
            <a:off x="1517904" y="390906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n4</a:t>
            </a:r>
            <a:endParaRPr lang="en-US" sz="1050" dirty="0"/>
          </a:p>
        </p:txBody>
      </p:sp>
      <p:sp>
        <p:nvSpPr>
          <p:cNvPr id="38" name="Shape 36"/>
          <p:cNvSpPr/>
          <p:nvPr/>
        </p:nvSpPr>
        <p:spPr>
          <a:xfrm>
            <a:off x="4809744" y="1783080"/>
            <a:ext cx="91" cy="594360"/>
          </a:xfrm>
          <a:prstGeom prst="line">
            <a:avLst/>
          </a:prstGeom>
          <a:noFill/>
          <a:ln w="28575">
            <a:solidFill>
              <a:srgbClr val="133536"/>
            </a:solidFill>
            <a:prstDash val="solid"/>
          </a:ln>
        </p:spPr>
      </p:sp>
      <p:sp>
        <p:nvSpPr>
          <p:cNvPr id="39" name="Shape 37"/>
          <p:cNvSpPr/>
          <p:nvPr/>
        </p:nvSpPr>
        <p:spPr>
          <a:xfrm>
            <a:off x="4809744" y="1783080"/>
            <a:ext cx="905256" cy="91"/>
          </a:xfrm>
          <a:prstGeom prst="line">
            <a:avLst/>
          </a:prstGeom>
          <a:noFill/>
          <a:ln w="28575">
            <a:solidFill>
              <a:srgbClr val="133536"/>
            </a:solidFill>
            <a:prstDash val="solid"/>
          </a:ln>
        </p:spPr>
      </p:sp>
      <p:sp>
        <p:nvSpPr>
          <p:cNvPr id="40" name="Shape 38"/>
          <p:cNvSpPr/>
          <p:nvPr/>
        </p:nvSpPr>
        <p:spPr>
          <a:xfrm>
            <a:off x="4809744" y="2377440"/>
            <a:ext cx="905256" cy="91"/>
          </a:xfrm>
          <a:prstGeom prst="line">
            <a:avLst/>
          </a:prstGeom>
          <a:noFill/>
          <a:ln w="28575">
            <a:solidFill>
              <a:srgbClr val="133536"/>
            </a:solidFill>
            <a:prstDash val="solid"/>
          </a:ln>
        </p:spPr>
      </p:sp>
      <p:sp>
        <p:nvSpPr>
          <p:cNvPr id="41" name="Shape 39"/>
          <p:cNvSpPr/>
          <p:nvPr/>
        </p:nvSpPr>
        <p:spPr>
          <a:xfrm>
            <a:off x="5111496" y="3566160"/>
            <a:ext cx="91" cy="594360"/>
          </a:xfrm>
          <a:prstGeom prst="line">
            <a:avLst/>
          </a:prstGeom>
          <a:noFill/>
          <a:ln w="28575">
            <a:solidFill>
              <a:srgbClr val="133536"/>
            </a:solidFill>
            <a:prstDash val="solid"/>
          </a:ln>
        </p:spPr>
      </p:sp>
      <p:sp>
        <p:nvSpPr>
          <p:cNvPr id="42" name="Shape 40"/>
          <p:cNvSpPr/>
          <p:nvPr/>
        </p:nvSpPr>
        <p:spPr>
          <a:xfrm>
            <a:off x="5111496" y="3566160"/>
            <a:ext cx="603504" cy="91"/>
          </a:xfrm>
          <a:prstGeom prst="line">
            <a:avLst/>
          </a:prstGeom>
          <a:noFill/>
          <a:ln w="28575">
            <a:solidFill>
              <a:srgbClr val="133536"/>
            </a:solidFill>
            <a:prstDash val="solid"/>
          </a:ln>
        </p:spPr>
      </p:sp>
      <p:sp>
        <p:nvSpPr>
          <p:cNvPr id="43" name="Shape 41"/>
          <p:cNvSpPr/>
          <p:nvPr/>
        </p:nvSpPr>
        <p:spPr>
          <a:xfrm>
            <a:off x="5111496" y="4160520"/>
            <a:ext cx="603504" cy="91"/>
          </a:xfrm>
          <a:prstGeom prst="line">
            <a:avLst/>
          </a:prstGeom>
          <a:noFill/>
          <a:ln w="28575">
            <a:solidFill>
              <a:srgbClr val="133536"/>
            </a:solidFill>
            <a:prstDash val="solid"/>
          </a:ln>
        </p:spPr>
      </p:sp>
      <p:sp>
        <p:nvSpPr>
          <p:cNvPr id="44" name="Shape 42"/>
          <p:cNvSpPr/>
          <p:nvPr/>
        </p:nvSpPr>
        <p:spPr>
          <a:xfrm>
            <a:off x="4407408" y="2971800"/>
            <a:ext cx="91" cy="891540"/>
          </a:xfrm>
          <a:prstGeom prst="line">
            <a:avLst/>
          </a:prstGeom>
          <a:noFill/>
          <a:ln w="28575">
            <a:solidFill>
              <a:srgbClr val="133536"/>
            </a:solidFill>
            <a:prstDash val="solid"/>
          </a:ln>
        </p:spPr>
      </p:sp>
      <p:sp>
        <p:nvSpPr>
          <p:cNvPr id="45" name="Shape 43"/>
          <p:cNvSpPr/>
          <p:nvPr/>
        </p:nvSpPr>
        <p:spPr>
          <a:xfrm>
            <a:off x="4407408" y="2971800"/>
            <a:ext cx="1307592" cy="91"/>
          </a:xfrm>
          <a:prstGeom prst="line">
            <a:avLst/>
          </a:prstGeom>
          <a:noFill/>
          <a:ln w="28575">
            <a:solidFill>
              <a:srgbClr val="133536"/>
            </a:solidFill>
            <a:prstDash val="solid"/>
          </a:ln>
        </p:spPr>
      </p:sp>
      <p:sp>
        <p:nvSpPr>
          <p:cNvPr id="46" name="Shape 44"/>
          <p:cNvSpPr/>
          <p:nvPr/>
        </p:nvSpPr>
        <p:spPr>
          <a:xfrm>
            <a:off x="4407408" y="3863340"/>
            <a:ext cx="704088" cy="91"/>
          </a:xfrm>
          <a:prstGeom prst="line">
            <a:avLst/>
          </a:prstGeom>
          <a:noFill/>
          <a:ln w="28575">
            <a:solidFill>
              <a:srgbClr val="133536"/>
            </a:solidFill>
            <a:prstDash val="solid"/>
          </a:ln>
        </p:spPr>
      </p:sp>
      <p:sp>
        <p:nvSpPr>
          <p:cNvPr id="47" name="Shape 45"/>
          <p:cNvSpPr/>
          <p:nvPr/>
        </p:nvSpPr>
        <p:spPr>
          <a:xfrm>
            <a:off x="3703320" y="2080260"/>
            <a:ext cx="91" cy="1337310"/>
          </a:xfrm>
          <a:prstGeom prst="line">
            <a:avLst/>
          </a:prstGeom>
          <a:noFill/>
          <a:ln w="28575">
            <a:solidFill>
              <a:srgbClr val="133536"/>
            </a:solidFill>
            <a:prstDash val="solid"/>
          </a:ln>
        </p:spPr>
      </p:sp>
      <p:sp>
        <p:nvSpPr>
          <p:cNvPr id="48" name="Shape 46"/>
          <p:cNvSpPr/>
          <p:nvPr/>
        </p:nvSpPr>
        <p:spPr>
          <a:xfrm>
            <a:off x="3703320" y="2080260"/>
            <a:ext cx="1106424" cy="91"/>
          </a:xfrm>
          <a:prstGeom prst="line">
            <a:avLst/>
          </a:prstGeom>
          <a:noFill/>
          <a:ln w="28575">
            <a:solidFill>
              <a:srgbClr val="133536"/>
            </a:solidFill>
            <a:prstDash val="solid"/>
          </a:ln>
        </p:spPr>
      </p:sp>
      <p:sp>
        <p:nvSpPr>
          <p:cNvPr id="49" name="Shape 47"/>
          <p:cNvSpPr/>
          <p:nvPr/>
        </p:nvSpPr>
        <p:spPr>
          <a:xfrm>
            <a:off x="3703320" y="3417570"/>
            <a:ext cx="704088" cy="91"/>
          </a:xfrm>
          <a:prstGeom prst="line">
            <a:avLst/>
          </a:prstGeom>
          <a:noFill/>
          <a:ln w="28575">
            <a:solidFill>
              <a:srgbClr val="133536"/>
            </a:solidFill>
            <a:prstDash val="solid"/>
          </a:ln>
        </p:spPr>
      </p:sp>
      <p:sp>
        <p:nvSpPr>
          <p:cNvPr id="50" name="Shape 48"/>
          <p:cNvSpPr/>
          <p:nvPr/>
        </p:nvSpPr>
        <p:spPr>
          <a:xfrm>
            <a:off x="3474720" y="2748915"/>
            <a:ext cx="228600" cy="91"/>
          </a:xfrm>
          <a:prstGeom prst="line">
            <a:avLst/>
          </a:prstGeom>
          <a:noFill/>
          <a:ln w="28575">
            <a:solidFill>
              <a:srgbClr val="133536"/>
            </a:solidFill>
            <a:prstDash val="solid"/>
          </a:ln>
        </p:spPr>
      </p:sp>
      <p:sp>
        <p:nvSpPr>
          <p:cNvPr id="51" name="Text 49"/>
          <p:cNvSpPr/>
          <p:nvPr/>
        </p:nvSpPr>
        <p:spPr>
          <a:xfrm>
            <a:off x="5788152" y="164592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E</a:t>
            </a:r>
            <a:endParaRPr lang="en-US" sz="1200" dirty="0"/>
          </a:p>
        </p:txBody>
      </p:sp>
      <p:sp>
        <p:nvSpPr>
          <p:cNvPr id="52" name="Text 50"/>
          <p:cNvSpPr/>
          <p:nvPr/>
        </p:nvSpPr>
        <p:spPr>
          <a:xfrm>
            <a:off x="5788152" y="224028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D</a:t>
            </a:r>
            <a:endParaRPr lang="en-US" sz="1200" dirty="0"/>
          </a:p>
        </p:txBody>
      </p:sp>
      <p:sp>
        <p:nvSpPr>
          <p:cNvPr id="53" name="Text 51"/>
          <p:cNvSpPr/>
          <p:nvPr/>
        </p:nvSpPr>
        <p:spPr>
          <a:xfrm>
            <a:off x="5788152" y="283464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C</a:t>
            </a:r>
            <a:endParaRPr lang="en-US" sz="1200" dirty="0"/>
          </a:p>
        </p:txBody>
      </p:sp>
      <p:sp>
        <p:nvSpPr>
          <p:cNvPr id="54" name="Text 52"/>
          <p:cNvSpPr/>
          <p:nvPr/>
        </p:nvSpPr>
        <p:spPr>
          <a:xfrm>
            <a:off x="5788152" y="342900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B</a:t>
            </a:r>
            <a:endParaRPr lang="en-US" sz="1200" dirty="0"/>
          </a:p>
        </p:txBody>
      </p:sp>
      <p:sp>
        <p:nvSpPr>
          <p:cNvPr id="55" name="Text 53"/>
          <p:cNvSpPr/>
          <p:nvPr/>
        </p:nvSpPr>
        <p:spPr>
          <a:xfrm>
            <a:off x="5788152" y="4023360"/>
            <a:ext cx="36576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A</a:t>
            </a:r>
            <a:endParaRPr lang="en-US" sz="1200" dirty="0"/>
          </a:p>
        </p:txBody>
      </p:sp>
      <p:sp>
        <p:nvSpPr>
          <p:cNvPr id="56" name="Shape 54"/>
          <p:cNvSpPr/>
          <p:nvPr/>
        </p:nvSpPr>
        <p:spPr>
          <a:xfrm>
            <a:off x="3639312" y="2684907"/>
            <a:ext cx="128016" cy="128016"/>
          </a:xfrm>
          <a:prstGeom prst="ellipse">
            <a:avLst/>
          </a:prstGeom>
          <a:solidFill>
            <a:srgbClr val="F5A742"/>
          </a:solidFill>
          <a:ln w="9525">
            <a:solidFill>
              <a:srgbClr val="B8730A"/>
            </a:solidFill>
            <a:prstDash val="solid"/>
          </a:ln>
        </p:spPr>
      </p:sp>
      <p:sp>
        <p:nvSpPr>
          <p:cNvPr id="57" name="Text 55"/>
          <p:cNvSpPr/>
          <p:nvPr/>
        </p:nvSpPr>
        <p:spPr>
          <a:xfrm>
            <a:off x="3246120" y="2794635"/>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n1</a:t>
            </a:r>
            <a:endParaRPr lang="en-US" sz="1050" dirty="0"/>
          </a:p>
        </p:txBody>
      </p:sp>
      <p:sp>
        <p:nvSpPr>
          <p:cNvPr id="58" name="Shape 56"/>
          <p:cNvSpPr/>
          <p:nvPr/>
        </p:nvSpPr>
        <p:spPr>
          <a:xfrm>
            <a:off x="4745736" y="2016252"/>
            <a:ext cx="128016" cy="128016"/>
          </a:xfrm>
          <a:prstGeom prst="ellipse">
            <a:avLst/>
          </a:prstGeom>
          <a:solidFill>
            <a:srgbClr val="F5A742"/>
          </a:solidFill>
          <a:ln w="9525">
            <a:solidFill>
              <a:srgbClr val="B8730A"/>
            </a:solidFill>
            <a:prstDash val="solid"/>
          </a:ln>
        </p:spPr>
      </p:sp>
      <p:sp>
        <p:nvSpPr>
          <p:cNvPr id="59" name="Text 57"/>
          <p:cNvSpPr/>
          <p:nvPr/>
        </p:nvSpPr>
        <p:spPr>
          <a:xfrm>
            <a:off x="4352544" y="212598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n4</a:t>
            </a:r>
            <a:endParaRPr lang="en-US" sz="1050" dirty="0"/>
          </a:p>
        </p:txBody>
      </p:sp>
      <p:sp>
        <p:nvSpPr>
          <p:cNvPr id="60" name="Shape 58"/>
          <p:cNvSpPr/>
          <p:nvPr/>
        </p:nvSpPr>
        <p:spPr>
          <a:xfrm>
            <a:off x="4343400" y="3353562"/>
            <a:ext cx="128016" cy="128016"/>
          </a:xfrm>
          <a:prstGeom prst="ellipse">
            <a:avLst/>
          </a:prstGeom>
          <a:solidFill>
            <a:srgbClr val="F5A742"/>
          </a:solidFill>
          <a:ln w="9525">
            <a:solidFill>
              <a:srgbClr val="B8730A"/>
            </a:solidFill>
            <a:prstDash val="solid"/>
          </a:ln>
        </p:spPr>
      </p:sp>
      <p:sp>
        <p:nvSpPr>
          <p:cNvPr id="61" name="Text 59"/>
          <p:cNvSpPr/>
          <p:nvPr/>
        </p:nvSpPr>
        <p:spPr>
          <a:xfrm>
            <a:off x="3950208" y="346329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n2</a:t>
            </a:r>
            <a:endParaRPr lang="en-US" sz="1050" dirty="0"/>
          </a:p>
        </p:txBody>
      </p:sp>
      <p:sp>
        <p:nvSpPr>
          <p:cNvPr id="62" name="Shape 60"/>
          <p:cNvSpPr/>
          <p:nvPr/>
        </p:nvSpPr>
        <p:spPr>
          <a:xfrm>
            <a:off x="5047488" y="3799332"/>
            <a:ext cx="128016" cy="128016"/>
          </a:xfrm>
          <a:prstGeom prst="ellipse">
            <a:avLst/>
          </a:prstGeom>
          <a:solidFill>
            <a:srgbClr val="F5A742"/>
          </a:solidFill>
          <a:ln w="9525">
            <a:solidFill>
              <a:srgbClr val="B8730A"/>
            </a:solidFill>
            <a:prstDash val="solid"/>
          </a:ln>
        </p:spPr>
      </p:sp>
      <p:sp>
        <p:nvSpPr>
          <p:cNvPr id="63" name="Text 61"/>
          <p:cNvSpPr/>
          <p:nvPr/>
        </p:nvSpPr>
        <p:spPr>
          <a:xfrm>
            <a:off x="4654296" y="390906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n3</a:t>
            </a:r>
            <a:endParaRPr lang="en-US" sz="1050" dirty="0"/>
          </a:p>
        </p:txBody>
      </p:sp>
      <p:sp>
        <p:nvSpPr>
          <p:cNvPr id="64" name="Shape 62"/>
          <p:cNvSpPr/>
          <p:nvPr/>
        </p:nvSpPr>
        <p:spPr>
          <a:xfrm>
            <a:off x="731520" y="4526280"/>
            <a:ext cx="2286000" cy="91"/>
          </a:xfrm>
          <a:prstGeom prst="line">
            <a:avLst/>
          </a:prstGeom>
          <a:noFill/>
          <a:ln w="19050">
            <a:solidFill>
              <a:srgbClr val="6B7385"/>
            </a:solidFill>
            <a:prstDash val="solid"/>
            <a:tailEnd type="triangle"/>
          </a:ln>
        </p:spPr>
      </p:sp>
      <p:sp>
        <p:nvSpPr>
          <p:cNvPr id="65" name="Text 63"/>
          <p:cNvSpPr/>
          <p:nvPr/>
        </p:nvSpPr>
        <p:spPr>
          <a:xfrm>
            <a:off x="731520" y="4572000"/>
            <a:ext cx="228600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past → present (tips)</a:t>
            </a:r>
            <a:endParaRPr lang="en-US" sz="1000" dirty="0"/>
          </a:p>
        </p:txBody>
      </p:sp>
      <p:sp>
        <p:nvSpPr>
          <p:cNvPr id="66" name="Shape 64"/>
          <p:cNvSpPr/>
          <p:nvPr/>
        </p:nvSpPr>
        <p:spPr>
          <a:xfrm>
            <a:off x="3566160" y="4526280"/>
            <a:ext cx="2286000" cy="91"/>
          </a:xfrm>
          <a:prstGeom prst="line">
            <a:avLst/>
          </a:prstGeom>
          <a:noFill/>
          <a:ln w="19050">
            <a:solidFill>
              <a:srgbClr val="6B7385"/>
            </a:solidFill>
            <a:prstDash val="solid"/>
            <a:tailEnd type="triangle"/>
          </a:ln>
        </p:spPr>
      </p:sp>
      <p:sp>
        <p:nvSpPr>
          <p:cNvPr id="67" name="Text 65"/>
          <p:cNvSpPr/>
          <p:nvPr/>
        </p:nvSpPr>
        <p:spPr>
          <a:xfrm>
            <a:off x="3566160" y="4572000"/>
            <a:ext cx="228600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past → present (tips)</a:t>
            </a:r>
            <a:endParaRPr lang="en-US" sz="1000" dirty="0"/>
          </a:p>
        </p:txBody>
      </p:sp>
      <p:sp>
        <p:nvSpPr>
          <p:cNvPr id="68" name="Text 66"/>
          <p:cNvSpPr/>
          <p:nvPr/>
        </p:nvSpPr>
        <p:spPr>
          <a:xfrm>
            <a:off x="594360" y="4892040"/>
            <a:ext cx="5669280" cy="45720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In both: A and B share n3, the </a:t>
            </a:r>
            <a:r>
              <a:rPr lang="en-US" sz="1050" b="1" dirty="0">
                <a:solidFill>
                  <a:srgbClr val="262B3A"/>
                </a:solidFill>
                <a:latin typeface="Calibri" pitchFamily="34" charset="0"/>
                <a:ea typeface="Calibri" pitchFamily="34" charset="-122"/>
                <a:cs typeface="Calibri" pitchFamily="34" charset="-120"/>
              </a:rPr>
              <a:t>most recent</a:t>
            </a:r>
            <a:r>
              <a:rPr lang="en-US" sz="1050" dirty="0">
                <a:solidFill>
                  <a:srgbClr val="262B3A"/>
                </a:solidFill>
                <a:latin typeface="Calibri" pitchFamily="34" charset="0"/>
                <a:ea typeface="Calibri" pitchFamily="34" charset="-122"/>
                <a:cs typeface="Calibri" pitchFamily="34" charset="-120"/>
              </a:rPr>
              <a:t> common ancestor. C is equally related to A and B.</a:t>
            </a:r>
            <a:endParaRPr lang="en-US" sz="1050" dirty="0"/>
          </a:p>
        </p:txBody>
      </p:sp>
      <p:sp>
        <p:nvSpPr>
          <p:cNvPr id="69" name="Shape 67"/>
          <p:cNvSpPr/>
          <p:nvPr/>
        </p:nvSpPr>
        <p:spPr>
          <a:xfrm>
            <a:off x="6675120" y="1188720"/>
            <a:ext cx="5102352" cy="2743200"/>
          </a:xfrm>
          <a:prstGeom prst="roundRect">
            <a:avLst>
              <a:gd name="adj" fmla="val 2000"/>
            </a:avLst>
          </a:prstGeom>
          <a:solidFill>
            <a:srgbClr val="F4FAF9"/>
          </a:solidFill>
          <a:ln w="9525">
            <a:solidFill>
              <a:srgbClr val="CFE0DE"/>
            </a:solidFill>
            <a:prstDash val="solid"/>
          </a:ln>
        </p:spPr>
      </p:sp>
      <p:sp>
        <p:nvSpPr>
          <p:cNvPr id="70" name="Text 68"/>
          <p:cNvSpPr/>
          <p:nvPr/>
        </p:nvSpPr>
        <p:spPr>
          <a:xfrm>
            <a:off x="6839712" y="128016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Rules for reading a tree</a:t>
            </a:r>
            <a:endParaRPr lang="en-US" sz="1300" dirty="0"/>
          </a:p>
        </p:txBody>
      </p:sp>
      <p:sp>
        <p:nvSpPr>
          <p:cNvPr id="71" name="Text 69"/>
          <p:cNvSpPr/>
          <p:nvPr/>
        </p:nvSpPr>
        <p:spPr>
          <a:xfrm>
            <a:off x="6839712" y="1609344"/>
            <a:ext cx="4773168" cy="2249424"/>
          </a:xfrm>
          <a:prstGeom prst="rect">
            <a:avLst/>
          </a:prstGeom>
          <a:noFill/>
          <a:ln/>
        </p:spPr>
        <p:txBody>
          <a:bodyPr wrap="square" lIns="0" tIns="0" rIns="0" bIns="0" rtlCol="0" anchor="t"/>
          <a:lstStyle/>
          <a:p>
            <a:pPr marL="152400" indent="-152400">
              <a:spcAft>
                <a:spcPts val="300"/>
              </a:spcAft>
              <a:buSzPct val="100000"/>
              <a:buChar char="▪"/>
            </a:pPr>
            <a:r>
              <a:rPr lang="en-US" sz="1250" b="1" dirty="0">
                <a:solidFill>
                  <a:srgbClr val="262B3A"/>
                </a:solidFill>
                <a:latin typeface="Calibri" pitchFamily="34" charset="0"/>
                <a:ea typeface="Calibri" pitchFamily="34" charset="-122"/>
                <a:cs typeface="Calibri" pitchFamily="34" charset="-120"/>
              </a:rPr>
              <a:t>Tips</a:t>
            </a:r>
            <a:r>
              <a:rPr lang="en-US" sz="1250" dirty="0">
                <a:solidFill>
                  <a:srgbClr val="262B3A"/>
                </a:solidFill>
                <a:latin typeface="Calibri" pitchFamily="34" charset="0"/>
                <a:ea typeface="Calibri" pitchFamily="34" charset="-122"/>
                <a:cs typeface="Calibri" pitchFamily="34" charset="-120"/>
              </a:rPr>
              <a:t> are living (or extinct) species; </a:t>
            </a:r>
            <a:r>
              <a:rPr lang="en-US" sz="1250" b="1" dirty="0">
                <a:solidFill>
                  <a:srgbClr val="262B3A"/>
                </a:solidFill>
                <a:latin typeface="Calibri" pitchFamily="34" charset="0"/>
                <a:ea typeface="Calibri" pitchFamily="34" charset="-122"/>
                <a:cs typeface="Calibri" pitchFamily="34" charset="-120"/>
              </a:rPr>
              <a:t>branch points</a:t>
            </a:r>
            <a:r>
              <a:rPr lang="en-US" sz="1250" dirty="0">
                <a:solidFill>
                  <a:srgbClr val="262B3A"/>
                </a:solidFill>
                <a:latin typeface="Calibri" pitchFamily="34" charset="0"/>
                <a:ea typeface="Calibri" pitchFamily="34" charset="-122"/>
                <a:cs typeface="Calibri" pitchFamily="34" charset="-120"/>
              </a:rPr>
              <a:t> (nodes) are </a:t>
            </a:r>
            <a:r>
              <a:rPr lang="en-US" sz="1250" b="1" dirty="0">
                <a:solidFill>
                  <a:srgbClr val="262B3A"/>
                </a:solidFill>
                <a:latin typeface="Calibri" pitchFamily="34" charset="0"/>
                <a:ea typeface="Calibri" pitchFamily="34" charset="-122"/>
                <a:cs typeface="Calibri" pitchFamily="34" charset="-120"/>
              </a:rPr>
              <a:t>common ancestors</a:t>
            </a:r>
            <a:r>
              <a:rPr lang="en-US" sz="1250" dirty="0">
                <a:solidFill>
                  <a:srgbClr val="262B3A"/>
                </a:solidFill>
                <a:latin typeface="Calibri" pitchFamily="34" charset="0"/>
                <a:ea typeface="Calibri" pitchFamily="34" charset="-122"/>
                <a:cs typeface="Calibri" pitchFamily="34" charset="-120"/>
              </a:rPr>
              <a:t>, where one species split into two.</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Relatedness = how </a:t>
            </a:r>
            <a:r>
              <a:rPr lang="en-US" sz="1250" b="1" dirty="0">
                <a:solidFill>
                  <a:srgbClr val="262B3A"/>
                </a:solidFill>
                <a:latin typeface="Calibri" pitchFamily="34" charset="0"/>
                <a:ea typeface="Calibri" pitchFamily="34" charset="-122"/>
                <a:cs typeface="Calibri" pitchFamily="34" charset="-120"/>
              </a:rPr>
              <a:t>recent</a:t>
            </a:r>
            <a:r>
              <a:rPr lang="en-US" sz="1250" dirty="0">
                <a:solidFill>
                  <a:srgbClr val="262B3A"/>
                </a:solidFill>
                <a:latin typeface="Calibri" pitchFamily="34" charset="0"/>
                <a:ea typeface="Calibri" pitchFamily="34" charset="-122"/>
                <a:cs typeface="Calibri" pitchFamily="34" charset="-120"/>
              </a:rPr>
              <a:t> the shared branch point is. Trace back from the tips,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along the tips.</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Turning branches round a node changes </a:t>
            </a:r>
            <a:r>
              <a:rPr lang="en-US" sz="1250" b="1" dirty="0">
                <a:solidFill>
                  <a:srgbClr val="262B3A"/>
                </a:solidFill>
                <a:latin typeface="Calibri" pitchFamily="34" charset="0"/>
                <a:ea typeface="Calibri" pitchFamily="34" charset="-122"/>
                <a:cs typeface="Calibri" pitchFamily="34" charset="-120"/>
              </a:rPr>
              <a:t>nothing</a:t>
            </a:r>
            <a:r>
              <a:rPr lang="en-US" sz="1250" dirty="0">
                <a:solidFill>
                  <a:srgbClr val="262B3A"/>
                </a:solidFill>
                <a:latin typeface="Calibri" pitchFamily="34" charset="0"/>
                <a:ea typeface="Calibri" pitchFamily="34" charset="-122"/>
                <a:cs typeface="Calibri" pitchFamily="34" charset="-120"/>
              </a:rPr>
              <a:t>: tree 1 = tree 2.</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No living species is the ancestor of another: humans did </a:t>
            </a:r>
            <a:r>
              <a:rPr lang="en-US" sz="1250" b="1" dirty="0">
                <a:solidFill>
                  <a:srgbClr val="262B3A"/>
                </a:solidFill>
                <a:latin typeface="Calibri" pitchFamily="34" charset="0"/>
                <a:ea typeface="Calibri" pitchFamily="34" charset="-122"/>
                <a:cs typeface="Calibri" pitchFamily="34" charset="-120"/>
              </a:rPr>
              <a:t>not</a:t>
            </a:r>
            <a:r>
              <a:rPr lang="en-US" sz="1250" dirty="0">
                <a:solidFill>
                  <a:srgbClr val="262B3A"/>
                </a:solidFill>
                <a:latin typeface="Calibri" pitchFamily="34" charset="0"/>
                <a:ea typeface="Calibri" pitchFamily="34" charset="-122"/>
                <a:cs typeface="Calibri" pitchFamily="34" charset="-120"/>
              </a:rPr>
              <a:t> evolve </a:t>
            </a:r>
            <a:r>
              <a:rPr lang="en-US" sz="1250" b="1" dirty="0">
                <a:solidFill>
                  <a:srgbClr val="262B3A"/>
                </a:solidFill>
                <a:latin typeface="Calibri" pitchFamily="34" charset="0"/>
                <a:ea typeface="Calibri" pitchFamily="34" charset="-122"/>
                <a:cs typeface="Calibri" pitchFamily="34" charset="-120"/>
              </a:rPr>
              <a:t>from</a:t>
            </a:r>
            <a:r>
              <a:rPr lang="en-US" sz="1250" dirty="0">
                <a:solidFill>
                  <a:srgbClr val="262B3A"/>
                </a:solidFill>
                <a:latin typeface="Calibri" pitchFamily="34" charset="0"/>
                <a:ea typeface="Calibri" pitchFamily="34" charset="-122"/>
                <a:cs typeface="Calibri" pitchFamily="34" charset="-120"/>
              </a:rPr>
              <a:t> chimpanzees; we share an ancestor.</a:t>
            </a:r>
            <a:endParaRPr lang="en-US" sz="1250" dirty="0"/>
          </a:p>
        </p:txBody>
      </p:sp>
      <p:sp>
        <p:nvSpPr>
          <p:cNvPr id="72" name="Shape 70"/>
          <p:cNvSpPr/>
          <p:nvPr/>
        </p:nvSpPr>
        <p:spPr>
          <a:xfrm>
            <a:off x="6675120" y="4069080"/>
            <a:ext cx="5102352" cy="1645920"/>
          </a:xfrm>
          <a:prstGeom prst="roundRect">
            <a:avLst>
              <a:gd name="adj" fmla="val 3333"/>
            </a:avLst>
          </a:prstGeom>
          <a:solidFill>
            <a:srgbClr val="FFF4E0"/>
          </a:solidFill>
          <a:ln w="9525">
            <a:solidFill>
              <a:srgbClr val="CFE0DE"/>
            </a:solidFill>
            <a:prstDash val="solid"/>
          </a:ln>
        </p:spPr>
      </p:sp>
      <p:sp>
        <p:nvSpPr>
          <p:cNvPr id="73" name="Text 71"/>
          <p:cNvSpPr/>
          <p:nvPr/>
        </p:nvSpPr>
        <p:spPr>
          <a:xfrm>
            <a:off x="6839712" y="4160520"/>
            <a:ext cx="477316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Drawing a tree correctly</a:t>
            </a:r>
            <a:endParaRPr lang="en-US" sz="1300" dirty="0"/>
          </a:p>
        </p:txBody>
      </p:sp>
      <p:sp>
        <p:nvSpPr>
          <p:cNvPr id="74" name="Text 72"/>
          <p:cNvSpPr/>
          <p:nvPr/>
        </p:nvSpPr>
        <p:spPr>
          <a:xfrm>
            <a:off x="6839712" y="4489704"/>
            <a:ext cx="4773168" cy="1152144"/>
          </a:xfrm>
          <a:prstGeom prst="rect">
            <a:avLst/>
          </a:prstGeom>
          <a:noFill/>
          <a:ln/>
        </p:spPr>
        <p:txBody>
          <a:bodyPr wrap="square" lIns="0" tIns="0" rIns="0" bIns="0" rtlCol="0" anchor="t"/>
          <a:lstStyle/>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Join the </a:t>
            </a:r>
            <a:r>
              <a:rPr lang="en-US" sz="1250" b="1" dirty="0">
                <a:solidFill>
                  <a:srgbClr val="262B3A"/>
                </a:solidFill>
                <a:latin typeface="Calibri" pitchFamily="34" charset="0"/>
                <a:ea typeface="Calibri" pitchFamily="34" charset="-122"/>
                <a:cs typeface="Calibri" pitchFamily="34" charset="-120"/>
              </a:rPr>
              <a:t>most similar</a:t>
            </a:r>
            <a:r>
              <a:rPr lang="en-US" sz="1250" dirty="0">
                <a:solidFill>
                  <a:srgbClr val="262B3A"/>
                </a:solidFill>
                <a:latin typeface="Calibri" pitchFamily="34" charset="0"/>
                <a:ea typeface="Calibri" pitchFamily="34" charset="-122"/>
                <a:cs typeface="Calibri" pitchFamily="34" charset="-120"/>
              </a:rPr>
              <a:t> pair first; then add the next most similar to their stem.</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Put </a:t>
            </a:r>
            <a:r>
              <a:rPr lang="en-US" sz="1250" b="1" dirty="0">
                <a:solidFill>
                  <a:srgbClr val="262B3A"/>
                </a:solidFill>
                <a:latin typeface="Calibri" pitchFamily="34" charset="0"/>
                <a:ea typeface="Calibri" pitchFamily="34" charset="-122"/>
                <a:cs typeface="Calibri" pitchFamily="34" charset="-120"/>
              </a:rPr>
              <a:t>time</a:t>
            </a:r>
            <a:r>
              <a:rPr lang="en-US" sz="1250" dirty="0">
                <a:solidFill>
                  <a:srgbClr val="262B3A"/>
                </a:solidFill>
                <a:latin typeface="Calibri" pitchFamily="34" charset="0"/>
                <a:ea typeface="Calibri" pitchFamily="34" charset="-122"/>
                <a:cs typeface="Calibri" pitchFamily="34" charset="-120"/>
              </a:rPr>
              <a:t> on the axis, with the tips level at the present. Label branch points if asked.</a:t>
            </a:r>
            <a:endParaRPr lang="en-US" sz="1250" dirty="0"/>
          </a:p>
          <a:p>
            <a:pPr marL="152400" indent="-152400">
              <a:spcAft>
                <a:spcPts val="300"/>
              </a:spcAft>
              <a:buSzPct val="100000"/>
              <a:buChar char="▪"/>
            </a:pPr>
            <a:r>
              <a:rPr lang="en-US" sz="1250" dirty="0">
                <a:solidFill>
                  <a:srgbClr val="262B3A"/>
                </a:solidFill>
                <a:latin typeface="Calibri" pitchFamily="34" charset="0"/>
                <a:ea typeface="Calibri" pitchFamily="34" charset="-122"/>
                <a:cs typeface="Calibri" pitchFamily="34" charset="-120"/>
              </a:rPr>
              <a:t>Draw tips </a:t>
            </a:r>
            <a:r>
              <a:rPr lang="en-US" sz="1250" b="1" dirty="0">
                <a:solidFill>
                  <a:srgbClr val="262B3A"/>
                </a:solidFill>
                <a:latin typeface="Calibri" pitchFamily="34" charset="0"/>
                <a:ea typeface="Calibri" pitchFamily="34" charset="-122"/>
                <a:cs typeface="Calibri" pitchFamily="34" charset="-120"/>
              </a:rPr>
              <a:t>level</a:t>
            </a:r>
            <a:r>
              <a:rPr lang="en-US" sz="1250" dirty="0">
                <a:solidFill>
                  <a:srgbClr val="262B3A"/>
                </a:solidFill>
                <a:latin typeface="Calibri" pitchFamily="34" charset="0"/>
                <a:ea typeface="Calibri" pitchFamily="34" charset="-122"/>
                <a:cs typeface="Calibri" pitchFamily="34" charset="-120"/>
              </a:rPr>
              <a:t> (all living today) and use straight, square branches.</a:t>
            </a:r>
            <a:endParaRPr lang="en-US" sz="1250" dirty="0"/>
          </a:p>
        </p:txBody>
      </p:sp>
      <p:sp>
        <p:nvSpPr>
          <p:cNvPr id="75" name="Shape 73"/>
          <p:cNvSpPr/>
          <p:nvPr/>
        </p:nvSpPr>
        <p:spPr>
          <a:xfrm>
            <a:off x="411480" y="5833872"/>
            <a:ext cx="11368735" cy="530352"/>
          </a:xfrm>
          <a:prstGeom prst="rect">
            <a:avLst/>
          </a:prstGeom>
          <a:solidFill>
            <a:srgbClr val="FFF4E0"/>
          </a:solidFill>
          <a:ln w="6350">
            <a:solidFill>
              <a:srgbClr val="F1D9A8"/>
            </a:solidFill>
            <a:prstDash val="solid"/>
          </a:ln>
        </p:spPr>
      </p:sp>
      <p:sp>
        <p:nvSpPr>
          <p:cNvPr id="76" name="Shape 74"/>
          <p:cNvSpPr/>
          <p:nvPr/>
        </p:nvSpPr>
        <p:spPr>
          <a:xfrm>
            <a:off x="411480" y="5833872"/>
            <a:ext cx="82296" cy="530352"/>
          </a:xfrm>
          <a:prstGeom prst="rect">
            <a:avLst/>
          </a:prstGeom>
          <a:solidFill>
            <a:srgbClr val="E39A2F"/>
          </a:solidFill>
          <a:ln w="12700">
            <a:solidFill>
              <a:srgbClr val="E39A2F"/>
            </a:solidFill>
            <a:prstDash val="solid"/>
          </a:ln>
        </p:spPr>
      </p:sp>
      <p:sp>
        <p:nvSpPr>
          <p:cNvPr id="77" name="Text 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In tree 1, is </a:t>
            </a:r>
            <a:r>
              <a:rPr lang="en-US" sz="1150" b="1" dirty="0">
                <a:solidFill>
                  <a:srgbClr val="262B3A"/>
                </a:solidFill>
                <a:latin typeface="Calibri" pitchFamily="34" charset="0"/>
                <a:ea typeface="Calibri" pitchFamily="34" charset="-122"/>
                <a:cs typeface="Calibri" pitchFamily="34" charset="-120"/>
              </a:rPr>
              <a:t>C</a:t>
            </a:r>
            <a:r>
              <a:rPr lang="en-US" sz="1150" dirty="0">
                <a:solidFill>
                  <a:srgbClr val="262B3A"/>
                </a:solidFill>
                <a:latin typeface="Calibri" pitchFamily="34" charset="0"/>
                <a:ea typeface="Calibri" pitchFamily="34" charset="-122"/>
                <a:cs typeface="Calibri" pitchFamily="34" charset="-120"/>
              </a:rPr>
              <a:t> more closely related to </a:t>
            </a:r>
            <a:r>
              <a:rPr lang="en-US" sz="1150" b="1" dirty="0">
                <a:solidFill>
                  <a:srgbClr val="262B3A"/>
                </a:solidFill>
                <a:latin typeface="Calibri" pitchFamily="34" charset="0"/>
                <a:ea typeface="Calibri" pitchFamily="34" charset="-122"/>
                <a:cs typeface="Calibri" pitchFamily="34" charset="-120"/>
              </a:rPr>
              <a:t>B</a:t>
            </a:r>
            <a:r>
              <a:rPr lang="en-US" sz="1150" dirty="0">
                <a:solidFill>
                  <a:srgbClr val="262B3A"/>
                </a:solidFill>
                <a:latin typeface="Calibri" pitchFamily="34" charset="0"/>
                <a:ea typeface="Calibri" pitchFamily="34" charset="-122"/>
                <a:cs typeface="Calibri" pitchFamily="34" charset="-120"/>
              </a:rPr>
              <a:t> or to </a:t>
            </a:r>
            <a:r>
              <a:rPr lang="en-US" sz="1150" b="1" dirty="0">
                <a:solidFill>
                  <a:srgbClr val="262B3A"/>
                </a:solidFill>
                <a:latin typeface="Calibri" pitchFamily="34" charset="0"/>
                <a:ea typeface="Calibri" pitchFamily="34" charset="-122"/>
                <a:cs typeface="Calibri" pitchFamily="34" charset="-120"/>
              </a:rPr>
              <a:t>D</a:t>
            </a:r>
            <a:r>
              <a:rPr lang="en-US" sz="1150" dirty="0">
                <a:solidFill>
                  <a:srgbClr val="262B3A"/>
                </a:solidFill>
                <a:latin typeface="Calibri" pitchFamily="34" charset="0"/>
                <a:ea typeface="Calibri" pitchFamily="34" charset="-122"/>
                <a:cs typeface="Calibri" pitchFamily="34" charset="-120"/>
              </a:rPr>
              <a:t>? Name the most recent common ancestor of C and 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Woese and the three domains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DNA and biochemistry split the prokaryotes in two</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15</a:t>
            </a:r>
            <a:endParaRPr lang="en-US" sz="1000" dirty="0"/>
          </a:p>
        </p:txBody>
      </p:sp>
      <p:sp>
        <p:nvSpPr>
          <p:cNvPr id="8" name="Shape 6"/>
          <p:cNvSpPr/>
          <p:nvPr/>
        </p:nvSpPr>
        <p:spPr>
          <a:xfrm>
            <a:off x="411480" y="1188720"/>
            <a:ext cx="557784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three-domain tree of life; branch lengths not to scale</a:t>
            </a:r>
            <a:endParaRPr lang="en-US" sz="1000" dirty="0"/>
          </a:p>
        </p:txBody>
      </p:sp>
      <p:sp>
        <p:nvSpPr>
          <p:cNvPr id="10" name="Text 8"/>
          <p:cNvSpPr/>
          <p:nvPr/>
        </p:nvSpPr>
        <p:spPr>
          <a:xfrm>
            <a:off x="594360" y="1298448"/>
            <a:ext cx="3657600" cy="219456"/>
          </a:xfrm>
          <a:prstGeom prst="rect">
            <a:avLst/>
          </a:prstGeom>
          <a:noFill/>
          <a:ln/>
        </p:spPr>
        <p:txBody>
          <a:bodyPr wrap="square" lIns="0" tIns="0" rIns="0" bIns="0" rtlCol="0" anchor="ctr"/>
          <a:lstStyle/>
          <a:p>
            <a:pPr algn="l" indent="0" marL="0">
              <a:buNone/>
            </a:pPr>
            <a:r>
              <a:rPr lang="en-US" sz="1050" i="1" dirty="0">
                <a:solidFill>
                  <a:srgbClr val="6B7385"/>
                </a:solidFill>
                <a:latin typeface="Calibri" pitchFamily="34" charset="0"/>
                <a:ea typeface="Calibri" pitchFamily="34" charset="-122"/>
                <a:cs typeface="Calibri" pitchFamily="34" charset="-120"/>
              </a:rPr>
              <a:t>Common ancestor of all life</a:t>
            </a:r>
            <a:endParaRPr lang="en-US" sz="1050" dirty="0"/>
          </a:p>
        </p:txBody>
      </p:sp>
      <p:sp>
        <p:nvSpPr>
          <p:cNvPr id="11" name="Shape 9"/>
          <p:cNvSpPr/>
          <p:nvPr/>
        </p:nvSpPr>
        <p:spPr>
          <a:xfrm>
            <a:off x="2651760" y="4233672"/>
            <a:ext cx="91" cy="612648"/>
          </a:xfrm>
          <a:prstGeom prst="line">
            <a:avLst/>
          </a:prstGeom>
          <a:noFill/>
          <a:ln w="28575">
            <a:solidFill>
              <a:srgbClr val="133536"/>
            </a:solidFill>
            <a:prstDash val="solid"/>
          </a:ln>
        </p:spPr>
      </p:sp>
      <p:sp>
        <p:nvSpPr>
          <p:cNvPr id="12" name="Shape 10"/>
          <p:cNvSpPr/>
          <p:nvPr/>
        </p:nvSpPr>
        <p:spPr>
          <a:xfrm>
            <a:off x="2651760" y="4233672"/>
            <a:ext cx="594360" cy="91"/>
          </a:xfrm>
          <a:prstGeom prst="line">
            <a:avLst/>
          </a:prstGeom>
          <a:noFill/>
          <a:ln w="28575">
            <a:solidFill>
              <a:srgbClr val="6A4C93"/>
            </a:solidFill>
            <a:prstDash val="solid"/>
          </a:ln>
        </p:spPr>
      </p:sp>
      <p:sp>
        <p:nvSpPr>
          <p:cNvPr id="13" name="Shape 11"/>
          <p:cNvSpPr/>
          <p:nvPr/>
        </p:nvSpPr>
        <p:spPr>
          <a:xfrm>
            <a:off x="2651760" y="4846320"/>
            <a:ext cx="594360" cy="91"/>
          </a:xfrm>
          <a:prstGeom prst="line">
            <a:avLst/>
          </a:prstGeom>
          <a:noFill/>
          <a:ln w="28575">
            <a:solidFill>
              <a:srgbClr val="6A4C93"/>
            </a:solidFill>
            <a:prstDash val="solid"/>
          </a:ln>
        </p:spPr>
      </p:sp>
      <p:sp>
        <p:nvSpPr>
          <p:cNvPr id="14" name="Shape 12"/>
          <p:cNvSpPr/>
          <p:nvPr/>
        </p:nvSpPr>
        <p:spPr>
          <a:xfrm>
            <a:off x="2057400" y="3008376"/>
            <a:ext cx="91" cy="1531620"/>
          </a:xfrm>
          <a:prstGeom prst="line">
            <a:avLst/>
          </a:prstGeom>
          <a:noFill/>
          <a:ln w="28575">
            <a:solidFill>
              <a:srgbClr val="133536"/>
            </a:solidFill>
            <a:prstDash val="solid"/>
          </a:ln>
        </p:spPr>
      </p:sp>
      <p:sp>
        <p:nvSpPr>
          <p:cNvPr id="15" name="Shape 13"/>
          <p:cNvSpPr/>
          <p:nvPr/>
        </p:nvSpPr>
        <p:spPr>
          <a:xfrm>
            <a:off x="2057400" y="3008376"/>
            <a:ext cx="1188720" cy="91"/>
          </a:xfrm>
          <a:prstGeom prst="line">
            <a:avLst/>
          </a:prstGeom>
          <a:noFill/>
          <a:ln w="28575">
            <a:solidFill>
              <a:srgbClr val="6A4C93"/>
            </a:solidFill>
            <a:prstDash val="solid"/>
          </a:ln>
        </p:spPr>
      </p:sp>
      <p:sp>
        <p:nvSpPr>
          <p:cNvPr id="16" name="Shape 14"/>
          <p:cNvSpPr/>
          <p:nvPr/>
        </p:nvSpPr>
        <p:spPr>
          <a:xfrm>
            <a:off x="2057400" y="3621024"/>
            <a:ext cx="1188720" cy="91"/>
          </a:xfrm>
          <a:prstGeom prst="line">
            <a:avLst/>
          </a:prstGeom>
          <a:noFill/>
          <a:ln w="28575">
            <a:solidFill>
              <a:srgbClr val="6A4C93"/>
            </a:solidFill>
            <a:prstDash val="solid"/>
          </a:ln>
        </p:spPr>
      </p:sp>
      <p:sp>
        <p:nvSpPr>
          <p:cNvPr id="17" name="Shape 15"/>
          <p:cNvSpPr/>
          <p:nvPr/>
        </p:nvSpPr>
        <p:spPr>
          <a:xfrm>
            <a:off x="2057400" y="4539996"/>
            <a:ext cx="594360" cy="91"/>
          </a:xfrm>
          <a:prstGeom prst="line">
            <a:avLst/>
          </a:prstGeom>
          <a:noFill/>
          <a:ln w="28575">
            <a:solidFill>
              <a:srgbClr val="133536"/>
            </a:solidFill>
            <a:prstDash val="solid"/>
          </a:ln>
        </p:spPr>
      </p:sp>
      <p:sp>
        <p:nvSpPr>
          <p:cNvPr id="18" name="Shape 16"/>
          <p:cNvSpPr/>
          <p:nvPr/>
        </p:nvSpPr>
        <p:spPr>
          <a:xfrm>
            <a:off x="1463040" y="2395728"/>
            <a:ext cx="91" cy="1378458"/>
          </a:xfrm>
          <a:prstGeom prst="line">
            <a:avLst/>
          </a:prstGeom>
          <a:noFill/>
          <a:ln w="28575">
            <a:solidFill>
              <a:srgbClr val="133536"/>
            </a:solidFill>
            <a:prstDash val="solid"/>
          </a:ln>
        </p:spPr>
      </p:sp>
      <p:sp>
        <p:nvSpPr>
          <p:cNvPr id="19" name="Shape 17"/>
          <p:cNvSpPr/>
          <p:nvPr/>
        </p:nvSpPr>
        <p:spPr>
          <a:xfrm>
            <a:off x="1463040" y="2395728"/>
            <a:ext cx="1783080" cy="91"/>
          </a:xfrm>
          <a:prstGeom prst="line">
            <a:avLst/>
          </a:prstGeom>
          <a:noFill/>
          <a:ln w="28575">
            <a:solidFill>
              <a:srgbClr val="B8730A"/>
            </a:solidFill>
            <a:prstDash val="solid"/>
          </a:ln>
        </p:spPr>
      </p:sp>
      <p:sp>
        <p:nvSpPr>
          <p:cNvPr id="20" name="Shape 18"/>
          <p:cNvSpPr/>
          <p:nvPr/>
        </p:nvSpPr>
        <p:spPr>
          <a:xfrm>
            <a:off x="1463040" y="3774186"/>
            <a:ext cx="594360" cy="91"/>
          </a:xfrm>
          <a:prstGeom prst="line">
            <a:avLst/>
          </a:prstGeom>
          <a:noFill/>
          <a:ln w="28575">
            <a:solidFill>
              <a:srgbClr val="133536"/>
            </a:solidFill>
            <a:prstDash val="solid"/>
          </a:ln>
        </p:spPr>
      </p:sp>
      <p:sp>
        <p:nvSpPr>
          <p:cNvPr id="21" name="Shape 19"/>
          <p:cNvSpPr/>
          <p:nvPr/>
        </p:nvSpPr>
        <p:spPr>
          <a:xfrm>
            <a:off x="868680" y="1783080"/>
            <a:ext cx="91" cy="1301877"/>
          </a:xfrm>
          <a:prstGeom prst="line">
            <a:avLst/>
          </a:prstGeom>
          <a:noFill/>
          <a:ln w="28575">
            <a:solidFill>
              <a:srgbClr val="133536"/>
            </a:solidFill>
            <a:prstDash val="solid"/>
          </a:ln>
        </p:spPr>
      </p:sp>
      <p:sp>
        <p:nvSpPr>
          <p:cNvPr id="22" name="Shape 20"/>
          <p:cNvSpPr/>
          <p:nvPr/>
        </p:nvSpPr>
        <p:spPr>
          <a:xfrm>
            <a:off x="868680" y="1783080"/>
            <a:ext cx="2377440" cy="91"/>
          </a:xfrm>
          <a:prstGeom prst="line">
            <a:avLst/>
          </a:prstGeom>
          <a:noFill/>
          <a:ln w="28575">
            <a:solidFill>
              <a:srgbClr val="2E7F74"/>
            </a:solidFill>
            <a:prstDash val="solid"/>
          </a:ln>
        </p:spPr>
      </p:sp>
      <p:sp>
        <p:nvSpPr>
          <p:cNvPr id="23" name="Shape 21"/>
          <p:cNvSpPr/>
          <p:nvPr/>
        </p:nvSpPr>
        <p:spPr>
          <a:xfrm>
            <a:off x="868680" y="3084957"/>
            <a:ext cx="594360" cy="91"/>
          </a:xfrm>
          <a:prstGeom prst="line">
            <a:avLst/>
          </a:prstGeom>
          <a:noFill/>
          <a:ln w="28575">
            <a:solidFill>
              <a:srgbClr val="133536"/>
            </a:solidFill>
            <a:prstDash val="solid"/>
          </a:ln>
        </p:spPr>
      </p:sp>
      <p:sp>
        <p:nvSpPr>
          <p:cNvPr id="24" name="Shape 22"/>
          <p:cNvSpPr/>
          <p:nvPr/>
        </p:nvSpPr>
        <p:spPr>
          <a:xfrm>
            <a:off x="594360" y="2434019"/>
            <a:ext cx="274320" cy="91"/>
          </a:xfrm>
          <a:prstGeom prst="line">
            <a:avLst/>
          </a:prstGeom>
          <a:noFill/>
          <a:ln w="28575">
            <a:solidFill>
              <a:srgbClr val="133536"/>
            </a:solidFill>
            <a:prstDash val="solid"/>
          </a:ln>
        </p:spPr>
      </p:sp>
      <p:sp>
        <p:nvSpPr>
          <p:cNvPr id="25" name="Text 23"/>
          <p:cNvSpPr/>
          <p:nvPr/>
        </p:nvSpPr>
        <p:spPr>
          <a:xfrm>
            <a:off x="3319272" y="1645920"/>
            <a:ext cx="1005840" cy="274320"/>
          </a:xfrm>
          <a:prstGeom prst="rect">
            <a:avLst/>
          </a:prstGeom>
          <a:noFill/>
          <a:ln/>
        </p:spPr>
        <p:txBody>
          <a:bodyPr wrap="square" lIns="0" tIns="0" rIns="0" bIns="0" rtlCol="0" anchor="ctr"/>
          <a:lstStyle/>
          <a:p>
            <a:pPr algn="l" indent="0" marL="0">
              <a:buNone/>
            </a:pPr>
            <a:r>
              <a:rPr lang="en-US" sz="1150" b="1" dirty="0">
                <a:solidFill>
                  <a:srgbClr val="2E7F74"/>
                </a:solidFill>
                <a:latin typeface="Calibri" pitchFamily="34" charset="0"/>
                <a:ea typeface="Calibri" pitchFamily="34" charset="-122"/>
                <a:cs typeface="Calibri" pitchFamily="34" charset="-120"/>
              </a:rPr>
              <a:t>Bacteria</a:t>
            </a:r>
            <a:endParaRPr lang="en-US" sz="1150" dirty="0"/>
          </a:p>
        </p:txBody>
      </p:sp>
      <p:sp>
        <p:nvSpPr>
          <p:cNvPr id="26" name="Text 24"/>
          <p:cNvSpPr/>
          <p:nvPr/>
        </p:nvSpPr>
        <p:spPr>
          <a:xfrm>
            <a:off x="3319272" y="2258568"/>
            <a:ext cx="1005840" cy="274320"/>
          </a:xfrm>
          <a:prstGeom prst="rect">
            <a:avLst/>
          </a:prstGeom>
          <a:noFill/>
          <a:ln/>
        </p:spPr>
        <p:txBody>
          <a:bodyPr wrap="square" lIns="0" tIns="0" rIns="0" bIns="0" rtlCol="0" anchor="ctr"/>
          <a:lstStyle/>
          <a:p>
            <a:pPr algn="l" indent="0" marL="0">
              <a:buNone/>
            </a:pPr>
            <a:r>
              <a:rPr lang="en-US" sz="1150" b="1" dirty="0">
                <a:solidFill>
                  <a:srgbClr val="B8730A"/>
                </a:solidFill>
                <a:latin typeface="Calibri" pitchFamily="34" charset="0"/>
                <a:ea typeface="Calibri" pitchFamily="34" charset="-122"/>
                <a:cs typeface="Calibri" pitchFamily="34" charset="-120"/>
              </a:rPr>
              <a:t>Archaea</a:t>
            </a:r>
            <a:endParaRPr lang="en-US" sz="1150" dirty="0"/>
          </a:p>
        </p:txBody>
      </p:sp>
      <p:sp>
        <p:nvSpPr>
          <p:cNvPr id="27" name="Text 25"/>
          <p:cNvSpPr/>
          <p:nvPr/>
        </p:nvSpPr>
        <p:spPr>
          <a:xfrm>
            <a:off x="3319272" y="2871216"/>
            <a:ext cx="1005840" cy="274320"/>
          </a:xfrm>
          <a:prstGeom prst="rect">
            <a:avLst/>
          </a:prstGeom>
          <a:noFill/>
          <a:ln/>
        </p:spPr>
        <p:txBody>
          <a:bodyPr wrap="square" lIns="0" tIns="0" rIns="0" bIns="0" rtlCol="0" anchor="ctr"/>
          <a:lstStyle/>
          <a:p>
            <a:pPr algn="l" indent="0" marL="0">
              <a:buNone/>
            </a:pPr>
            <a:r>
              <a:rPr lang="en-US" sz="1150" b="1" dirty="0">
                <a:solidFill>
                  <a:srgbClr val="6A4C93"/>
                </a:solidFill>
                <a:latin typeface="Calibri" pitchFamily="34" charset="0"/>
                <a:ea typeface="Calibri" pitchFamily="34" charset="-122"/>
                <a:cs typeface="Calibri" pitchFamily="34" charset="-120"/>
              </a:rPr>
              <a:t>Protists</a:t>
            </a:r>
            <a:endParaRPr lang="en-US" sz="1150" dirty="0"/>
          </a:p>
        </p:txBody>
      </p:sp>
      <p:sp>
        <p:nvSpPr>
          <p:cNvPr id="28" name="Text 26"/>
          <p:cNvSpPr/>
          <p:nvPr/>
        </p:nvSpPr>
        <p:spPr>
          <a:xfrm>
            <a:off x="3319272" y="3483864"/>
            <a:ext cx="1005840" cy="274320"/>
          </a:xfrm>
          <a:prstGeom prst="rect">
            <a:avLst/>
          </a:prstGeom>
          <a:noFill/>
          <a:ln/>
        </p:spPr>
        <p:txBody>
          <a:bodyPr wrap="square" lIns="0" tIns="0" rIns="0" bIns="0" rtlCol="0" anchor="ctr"/>
          <a:lstStyle/>
          <a:p>
            <a:pPr algn="l" indent="0" marL="0">
              <a:buNone/>
            </a:pPr>
            <a:r>
              <a:rPr lang="en-US" sz="1150" b="1" dirty="0">
                <a:solidFill>
                  <a:srgbClr val="6A4C93"/>
                </a:solidFill>
                <a:latin typeface="Calibri" pitchFamily="34" charset="0"/>
                <a:ea typeface="Calibri" pitchFamily="34" charset="-122"/>
                <a:cs typeface="Calibri" pitchFamily="34" charset="-120"/>
              </a:rPr>
              <a:t>Plants</a:t>
            </a:r>
            <a:endParaRPr lang="en-US" sz="1150" dirty="0"/>
          </a:p>
        </p:txBody>
      </p:sp>
      <p:sp>
        <p:nvSpPr>
          <p:cNvPr id="29" name="Text 27"/>
          <p:cNvSpPr/>
          <p:nvPr/>
        </p:nvSpPr>
        <p:spPr>
          <a:xfrm>
            <a:off x="3319272" y="4096512"/>
            <a:ext cx="1005840" cy="274320"/>
          </a:xfrm>
          <a:prstGeom prst="rect">
            <a:avLst/>
          </a:prstGeom>
          <a:noFill/>
          <a:ln/>
        </p:spPr>
        <p:txBody>
          <a:bodyPr wrap="square" lIns="0" tIns="0" rIns="0" bIns="0" rtlCol="0" anchor="ctr"/>
          <a:lstStyle/>
          <a:p>
            <a:pPr algn="l" indent="0" marL="0">
              <a:buNone/>
            </a:pPr>
            <a:r>
              <a:rPr lang="en-US" sz="1150" b="1" dirty="0">
                <a:solidFill>
                  <a:srgbClr val="6A4C93"/>
                </a:solidFill>
                <a:latin typeface="Calibri" pitchFamily="34" charset="0"/>
                <a:ea typeface="Calibri" pitchFamily="34" charset="-122"/>
                <a:cs typeface="Calibri" pitchFamily="34" charset="-120"/>
              </a:rPr>
              <a:t>Fungi</a:t>
            </a:r>
            <a:endParaRPr lang="en-US" sz="1150" dirty="0"/>
          </a:p>
        </p:txBody>
      </p:sp>
      <p:sp>
        <p:nvSpPr>
          <p:cNvPr id="30" name="Text 28"/>
          <p:cNvSpPr/>
          <p:nvPr/>
        </p:nvSpPr>
        <p:spPr>
          <a:xfrm>
            <a:off x="3319272" y="4709160"/>
            <a:ext cx="1005840" cy="274320"/>
          </a:xfrm>
          <a:prstGeom prst="rect">
            <a:avLst/>
          </a:prstGeom>
          <a:noFill/>
          <a:ln/>
        </p:spPr>
        <p:txBody>
          <a:bodyPr wrap="square" lIns="0" tIns="0" rIns="0" bIns="0" rtlCol="0" anchor="ctr"/>
          <a:lstStyle/>
          <a:p>
            <a:pPr algn="l" indent="0" marL="0">
              <a:buNone/>
            </a:pPr>
            <a:r>
              <a:rPr lang="en-US" sz="1150" b="1" dirty="0">
                <a:solidFill>
                  <a:srgbClr val="6A4C93"/>
                </a:solidFill>
                <a:latin typeface="Calibri" pitchFamily="34" charset="0"/>
                <a:ea typeface="Calibri" pitchFamily="34" charset="-122"/>
                <a:cs typeface="Calibri" pitchFamily="34" charset="-120"/>
              </a:rPr>
              <a:t>Animals</a:t>
            </a:r>
            <a:endParaRPr lang="en-US" sz="1150" dirty="0"/>
          </a:p>
        </p:txBody>
      </p:sp>
      <p:sp>
        <p:nvSpPr>
          <p:cNvPr id="31" name="Shape 29"/>
          <p:cNvSpPr/>
          <p:nvPr/>
        </p:nvSpPr>
        <p:spPr>
          <a:xfrm>
            <a:off x="804672" y="2370011"/>
            <a:ext cx="128016" cy="128016"/>
          </a:xfrm>
          <a:prstGeom prst="ellipse">
            <a:avLst/>
          </a:prstGeom>
          <a:solidFill>
            <a:srgbClr val="F5A742"/>
          </a:solidFill>
          <a:ln w="9525">
            <a:solidFill>
              <a:srgbClr val="B8730A"/>
            </a:solidFill>
            <a:prstDash val="solid"/>
          </a:ln>
        </p:spPr>
      </p:sp>
      <p:sp>
        <p:nvSpPr>
          <p:cNvPr id="32" name="Shape 30"/>
          <p:cNvSpPr/>
          <p:nvPr/>
        </p:nvSpPr>
        <p:spPr>
          <a:xfrm>
            <a:off x="1399032" y="3020949"/>
            <a:ext cx="128016" cy="128016"/>
          </a:xfrm>
          <a:prstGeom prst="ellipse">
            <a:avLst/>
          </a:prstGeom>
          <a:solidFill>
            <a:srgbClr val="F5A742"/>
          </a:solidFill>
          <a:ln w="9525">
            <a:solidFill>
              <a:srgbClr val="B8730A"/>
            </a:solidFill>
            <a:prstDash val="solid"/>
          </a:ln>
        </p:spPr>
      </p:sp>
      <p:sp>
        <p:nvSpPr>
          <p:cNvPr id="33" name="Shape 31"/>
          <p:cNvSpPr/>
          <p:nvPr/>
        </p:nvSpPr>
        <p:spPr>
          <a:xfrm>
            <a:off x="1993392" y="3710178"/>
            <a:ext cx="128016" cy="128016"/>
          </a:xfrm>
          <a:prstGeom prst="ellipse">
            <a:avLst/>
          </a:prstGeom>
          <a:solidFill>
            <a:srgbClr val="F5A742"/>
          </a:solidFill>
          <a:ln w="9525">
            <a:solidFill>
              <a:srgbClr val="B8730A"/>
            </a:solidFill>
            <a:prstDash val="solid"/>
          </a:ln>
        </p:spPr>
      </p:sp>
      <p:sp>
        <p:nvSpPr>
          <p:cNvPr id="34" name="Shape 32"/>
          <p:cNvSpPr/>
          <p:nvPr/>
        </p:nvSpPr>
        <p:spPr>
          <a:xfrm>
            <a:off x="2587752" y="4475988"/>
            <a:ext cx="128016" cy="128016"/>
          </a:xfrm>
          <a:prstGeom prst="ellipse">
            <a:avLst/>
          </a:prstGeom>
          <a:solidFill>
            <a:srgbClr val="F5A742"/>
          </a:solidFill>
          <a:ln w="9525">
            <a:solidFill>
              <a:srgbClr val="B8730A"/>
            </a:solidFill>
            <a:prstDash val="solid"/>
          </a:ln>
        </p:spPr>
      </p:sp>
      <p:sp>
        <p:nvSpPr>
          <p:cNvPr id="35" name="Shape 33"/>
          <p:cNvSpPr/>
          <p:nvPr/>
        </p:nvSpPr>
        <p:spPr>
          <a:xfrm>
            <a:off x="4434840" y="1545336"/>
            <a:ext cx="1371600" cy="475488"/>
          </a:xfrm>
          <a:prstGeom prst="roundRect">
            <a:avLst>
              <a:gd name="adj" fmla="val 11538"/>
            </a:avLst>
          </a:prstGeom>
          <a:solidFill>
            <a:srgbClr val="D6EFEA"/>
          </a:solidFill>
          <a:ln w="19050">
            <a:solidFill>
              <a:srgbClr val="2E7F74"/>
            </a:solidFill>
            <a:prstDash val="solid"/>
          </a:ln>
        </p:spPr>
      </p:sp>
      <p:sp>
        <p:nvSpPr>
          <p:cNvPr id="36" name="Text 34"/>
          <p:cNvSpPr/>
          <p:nvPr/>
        </p:nvSpPr>
        <p:spPr>
          <a:xfrm>
            <a:off x="4462272" y="1545336"/>
            <a:ext cx="1316736" cy="475488"/>
          </a:xfrm>
          <a:prstGeom prst="rect">
            <a:avLst/>
          </a:prstGeom>
          <a:noFill/>
          <a:ln/>
        </p:spPr>
        <p:txBody>
          <a:bodyPr wrap="square" lIns="0" tIns="0" rIns="0" bIns="0" rtlCol="0" anchor="ctr"/>
          <a:lstStyle/>
          <a:p>
            <a:pPr algn="ctr" indent="0" marL="0">
              <a:buNone/>
            </a:pPr>
            <a:r>
              <a:rPr lang="en-US" sz="1050" b="1" dirty="0">
                <a:solidFill>
                  <a:srgbClr val="2E7F74"/>
                </a:solidFill>
                <a:latin typeface="Calibri" pitchFamily="34" charset="0"/>
                <a:ea typeface="Calibri" pitchFamily="34" charset="-122"/>
                <a:cs typeface="Calibri" pitchFamily="34" charset="-120"/>
              </a:rPr>
              <a:t>Bacteria</a:t>
            </a:r>
            <a:endParaRPr lang="en-US" sz="1050" dirty="0"/>
          </a:p>
          <a:p>
            <a:pPr algn="ctr" indent="0" marL="0">
              <a:buNone/>
            </a:pPr>
            <a:r>
              <a:rPr lang="en-US" sz="1050" dirty="0">
                <a:solidFill>
                  <a:srgbClr val="2E7F74"/>
                </a:solidFill>
                <a:latin typeface="Calibri" pitchFamily="34" charset="0"/>
                <a:ea typeface="Calibri" pitchFamily="34" charset="-122"/>
                <a:cs typeface="Calibri" pitchFamily="34" charset="-120"/>
              </a:rPr>
              <a:t>prokaryotes</a:t>
            </a:r>
            <a:endParaRPr lang="en-US" sz="1050" dirty="0"/>
          </a:p>
        </p:txBody>
      </p:sp>
      <p:sp>
        <p:nvSpPr>
          <p:cNvPr id="37" name="Shape 35"/>
          <p:cNvSpPr/>
          <p:nvPr/>
        </p:nvSpPr>
        <p:spPr>
          <a:xfrm>
            <a:off x="4434840" y="2157984"/>
            <a:ext cx="1371600" cy="475488"/>
          </a:xfrm>
          <a:prstGeom prst="roundRect">
            <a:avLst>
              <a:gd name="adj" fmla="val 11538"/>
            </a:avLst>
          </a:prstGeom>
          <a:solidFill>
            <a:srgbClr val="FBEBD0"/>
          </a:solidFill>
          <a:ln w="19050">
            <a:solidFill>
              <a:srgbClr val="B8730A"/>
            </a:solidFill>
            <a:prstDash val="solid"/>
          </a:ln>
        </p:spPr>
      </p:sp>
      <p:sp>
        <p:nvSpPr>
          <p:cNvPr id="38" name="Text 36"/>
          <p:cNvSpPr/>
          <p:nvPr/>
        </p:nvSpPr>
        <p:spPr>
          <a:xfrm>
            <a:off x="4462272" y="2157984"/>
            <a:ext cx="1316736" cy="475488"/>
          </a:xfrm>
          <a:prstGeom prst="rect">
            <a:avLst/>
          </a:prstGeom>
          <a:noFill/>
          <a:ln/>
        </p:spPr>
        <p:txBody>
          <a:bodyPr wrap="square" lIns="0" tIns="0" rIns="0" bIns="0" rtlCol="0" anchor="ctr"/>
          <a:lstStyle/>
          <a:p>
            <a:pPr algn="ctr" indent="0" marL="0">
              <a:buNone/>
            </a:pPr>
            <a:r>
              <a:rPr lang="en-US" sz="1050" b="1" dirty="0">
                <a:solidFill>
                  <a:srgbClr val="B8730A"/>
                </a:solidFill>
                <a:latin typeface="Calibri" pitchFamily="34" charset="0"/>
                <a:ea typeface="Calibri" pitchFamily="34" charset="-122"/>
                <a:cs typeface="Calibri" pitchFamily="34" charset="-120"/>
              </a:rPr>
              <a:t>Archaea</a:t>
            </a:r>
            <a:endParaRPr lang="en-US" sz="1050" dirty="0"/>
          </a:p>
          <a:p>
            <a:pPr algn="ctr" indent="0" marL="0">
              <a:buNone/>
            </a:pPr>
            <a:r>
              <a:rPr lang="en-US" sz="1050" dirty="0">
                <a:solidFill>
                  <a:srgbClr val="B8730A"/>
                </a:solidFill>
                <a:latin typeface="Calibri" pitchFamily="34" charset="0"/>
                <a:ea typeface="Calibri" pitchFamily="34" charset="-122"/>
                <a:cs typeface="Calibri" pitchFamily="34" charset="-120"/>
              </a:rPr>
              <a:t>prokaryotes</a:t>
            </a:r>
            <a:endParaRPr lang="en-US" sz="1050" dirty="0"/>
          </a:p>
        </p:txBody>
      </p:sp>
      <p:sp>
        <p:nvSpPr>
          <p:cNvPr id="39" name="Shape 37"/>
          <p:cNvSpPr/>
          <p:nvPr/>
        </p:nvSpPr>
        <p:spPr>
          <a:xfrm>
            <a:off x="4434840" y="2770632"/>
            <a:ext cx="1371600" cy="2313432"/>
          </a:xfrm>
          <a:prstGeom prst="roundRect">
            <a:avLst>
              <a:gd name="adj" fmla="val 4000"/>
            </a:avLst>
          </a:prstGeom>
          <a:solidFill>
            <a:srgbClr val="EDE5F7"/>
          </a:solidFill>
          <a:ln w="19050">
            <a:solidFill>
              <a:srgbClr val="6A4C93"/>
            </a:solidFill>
            <a:prstDash val="solid"/>
          </a:ln>
        </p:spPr>
      </p:sp>
      <p:sp>
        <p:nvSpPr>
          <p:cNvPr id="40" name="Text 38"/>
          <p:cNvSpPr/>
          <p:nvPr/>
        </p:nvSpPr>
        <p:spPr>
          <a:xfrm>
            <a:off x="4462272" y="2770632"/>
            <a:ext cx="1316736" cy="2313432"/>
          </a:xfrm>
          <a:prstGeom prst="rect">
            <a:avLst/>
          </a:prstGeom>
          <a:noFill/>
          <a:ln/>
        </p:spPr>
        <p:txBody>
          <a:bodyPr wrap="square" lIns="0" tIns="0" rIns="0" bIns="0" rtlCol="0" anchor="ctr"/>
          <a:lstStyle/>
          <a:p>
            <a:pPr algn="ctr" indent="0" marL="0">
              <a:buNone/>
            </a:pPr>
            <a:r>
              <a:rPr lang="en-US" sz="1050" b="1" dirty="0">
                <a:solidFill>
                  <a:srgbClr val="6A4C93"/>
                </a:solidFill>
                <a:latin typeface="Calibri" pitchFamily="34" charset="0"/>
                <a:ea typeface="Calibri" pitchFamily="34" charset="-122"/>
                <a:cs typeface="Calibri" pitchFamily="34" charset="-120"/>
              </a:rPr>
              <a:t>Eukarya</a:t>
            </a:r>
            <a:endParaRPr lang="en-US" sz="1050" dirty="0"/>
          </a:p>
          <a:p>
            <a:pPr algn="ctr" indent="0" marL="0">
              <a:buNone/>
            </a:pPr>
            <a:r>
              <a:rPr lang="en-US" sz="1050" dirty="0">
                <a:solidFill>
                  <a:srgbClr val="6A4C93"/>
                </a:solidFill>
                <a:latin typeface="Calibri" pitchFamily="34" charset="0"/>
                <a:ea typeface="Calibri" pitchFamily="34" charset="-122"/>
                <a:cs typeface="Calibri" pitchFamily="34" charset="-120"/>
              </a:rPr>
              <a:t>cells with a nucleus: 4 kingdoms</a:t>
            </a:r>
            <a:endParaRPr lang="en-US" sz="1050" dirty="0"/>
          </a:p>
        </p:txBody>
      </p:sp>
      <p:sp>
        <p:nvSpPr>
          <p:cNvPr id="41" name="Text 39"/>
          <p:cNvSpPr/>
          <p:nvPr/>
        </p:nvSpPr>
        <p:spPr>
          <a:xfrm>
            <a:off x="594360" y="5102352"/>
            <a:ext cx="5212080" cy="256032"/>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Archaea are prokaryotes, but their genes are </a:t>
            </a:r>
            <a:r>
              <a:rPr lang="en-US" sz="1050" b="1" dirty="0">
                <a:solidFill>
                  <a:srgbClr val="262B3A"/>
                </a:solidFill>
                <a:latin typeface="Calibri" pitchFamily="34" charset="0"/>
                <a:ea typeface="Calibri" pitchFamily="34" charset="-122"/>
                <a:cs typeface="Calibri" pitchFamily="34" charset="-120"/>
              </a:rPr>
              <a:t>closer to ours</a:t>
            </a:r>
            <a:r>
              <a:rPr lang="en-US" sz="1050" dirty="0">
                <a:solidFill>
                  <a:srgbClr val="262B3A"/>
                </a:solidFill>
                <a:latin typeface="Calibri" pitchFamily="34" charset="0"/>
                <a:ea typeface="Calibri" pitchFamily="34" charset="-122"/>
                <a:cs typeface="Calibri" pitchFamily="34" charset="-120"/>
              </a:rPr>
              <a:t> than to bacteria.</a:t>
            </a:r>
            <a:endParaRPr lang="en-US" sz="1050" dirty="0"/>
          </a:p>
        </p:txBody>
      </p:sp>
      <p:sp>
        <p:nvSpPr>
          <p:cNvPr id="42" name="Shape 40"/>
          <p:cNvSpPr/>
          <p:nvPr/>
        </p:nvSpPr>
        <p:spPr>
          <a:xfrm>
            <a:off x="6217920" y="1188720"/>
            <a:ext cx="5562295" cy="4526280"/>
          </a:xfrm>
          <a:prstGeom prst="roundRect">
            <a:avLst>
              <a:gd name="adj" fmla="val 1212"/>
            </a:avLst>
          </a:prstGeom>
          <a:solidFill>
            <a:srgbClr val="F4FAF9"/>
          </a:solidFill>
          <a:ln w="9525">
            <a:solidFill>
              <a:srgbClr val="CFE0DE"/>
            </a:solidFill>
            <a:prstDash val="solid"/>
          </a:ln>
        </p:spPr>
      </p:sp>
      <p:sp>
        <p:nvSpPr>
          <p:cNvPr id="43" name="Text 4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Carl Woese (1977 and 1990)</a:t>
            </a:r>
            <a:endParaRPr lang="en-US" sz="1300" dirty="0"/>
          </a:p>
        </p:txBody>
      </p:sp>
      <p:sp>
        <p:nvSpPr>
          <p:cNvPr id="44" name="Text 42"/>
          <p:cNvSpPr/>
          <p:nvPr/>
        </p:nvSpPr>
        <p:spPr>
          <a:xfrm>
            <a:off x="6382512" y="1609344"/>
            <a:ext cx="5233111" cy="403250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Woese compared the </a:t>
            </a:r>
            <a:r>
              <a:rPr lang="en-US" sz="1150" b="1" dirty="0">
                <a:solidFill>
                  <a:srgbClr val="262B3A"/>
                </a:solidFill>
                <a:latin typeface="Calibri" pitchFamily="34" charset="0"/>
                <a:ea typeface="Calibri" pitchFamily="34" charset="-122"/>
                <a:cs typeface="Calibri" pitchFamily="34" charset="-120"/>
              </a:rPr>
              <a:t>base sequence</a:t>
            </a:r>
            <a:r>
              <a:rPr lang="en-US" sz="1150" dirty="0">
                <a:solidFill>
                  <a:srgbClr val="262B3A"/>
                </a:solidFill>
                <a:latin typeface="Calibri" pitchFamily="34" charset="0"/>
                <a:ea typeface="Calibri" pitchFamily="34" charset="-122"/>
                <a:cs typeface="Calibri" pitchFamily="34" charset="-120"/>
              </a:rPr>
              <a:t> of the same molecule (ribosomal </a:t>
            </a:r>
            <a:r>
              <a:rPr lang="en-US" sz="1150" b="1" dirty="0">
                <a:solidFill>
                  <a:srgbClr val="262B3A"/>
                </a:solidFill>
                <a:latin typeface="Calibri" pitchFamily="34" charset="0"/>
                <a:ea typeface="Calibri" pitchFamily="34" charset="-122"/>
                <a:cs typeface="Calibri" pitchFamily="34" charset="-120"/>
              </a:rPr>
              <a:t>RNA</a:t>
            </a:r>
            <a:r>
              <a:rPr lang="en-US" sz="1150" dirty="0">
                <a:solidFill>
                  <a:srgbClr val="262B3A"/>
                </a:solidFill>
                <a:latin typeface="Calibri" pitchFamily="34" charset="0"/>
                <a:ea typeface="Calibri" pitchFamily="34" charset="-122"/>
                <a:cs typeface="Calibri" pitchFamily="34" charset="-120"/>
              </a:rPr>
              <a:t>) in many prokaryotes.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Some "bacteria" were so different that they formed a </a:t>
            </a:r>
            <a:r>
              <a:rPr lang="en-US" sz="1150" b="1" dirty="0">
                <a:solidFill>
                  <a:srgbClr val="262B3A"/>
                </a:solidFill>
                <a:latin typeface="Calibri" pitchFamily="34" charset="0"/>
                <a:ea typeface="Calibri" pitchFamily="34" charset="-122"/>
                <a:cs typeface="Calibri" pitchFamily="34" charset="-120"/>
              </a:rPr>
              <a:t>separate group</a:t>
            </a:r>
            <a:r>
              <a:rPr lang="en-US" sz="1150" dirty="0">
                <a:solidFill>
                  <a:srgbClr val="262B3A"/>
                </a:solidFill>
                <a:latin typeface="Calibri" pitchFamily="34" charset="0"/>
                <a:ea typeface="Calibri" pitchFamily="34" charset="-122"/>
                <a:cs typeface="Calibri" pitchFamily="34" charset="-120"/>
              </a:rPr>
              <a:t>: the </a:t>
            </a:r>
            <a:r>
              <a:rPr lang="en-US" sz="1150" b="1" dirty="0">
                <a:solidFill>
                  <a:srgbClr val="262B3A"/>
                </a:solidFill>
                <a:latin typeface="Calibri" pitchFamily="34" charset="0"/>
                <a:ea typeface="Calibri" pitchFamily="34" charset="-122"/>
                <a:cs typeface="Calibri" pitchFamily="34" charset="-120"/>
              </a:rPr>
              <a:t>Archaea</a:t>
            </a:r>
            <a:r>
              <a:rPr lang="en-US" sz="1150" dirty="0">
                <a:solidFill>
                  <a:srgbClr val="262B3A"/>
                </a:solidFill>
                <a:latin typeface="Calibri" pitchFamily="34" charset="0"/>
                <a:ea typeface="Calibri" pitchFamily="34" charset="-122"/>
                <a:cs typeface="Calibri" pitchFamily="34" charset="-120"/>
              </a:rPr>
              <a:t> (often in extreme places, e.g. hot springs).</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1990 he proposed a new level </a:t>
            </a:r>
            <a:r>
              <a:rPr lang="en-US" sz="1150" b="1" dirty="0">
                <a:solidFill>
                  <a:srgbClr val="262B3A"/>
                </a:solidFill>
                <a:latin typeface="Calibri" pitchFamily="34" charset="0"/>
                <a:ea typeface="Calibri" pitchFamily="34" charset="-122"/>
                <a:cs typeface="Calibri" pitchFamily="34" charset="-120"/>
              </a:rPr>
              <a:t>above kingdom</a:t>
            </a:r>
            <a:r>
              <a:rPr lang="en-US" sz="1150" dirty="0">
                <a:solidFill>
                  <a:srgbClr val="262B3A"/>
                </a:solidFill>
                <a:latin typeface="Calibri" pitchFamily="34" charset="0"/>
                <a:ea typeface="Calibri" pitchFamily="34" charset="-122"/>
                <a:cs typeface="Calibri" pitchFamily="34" charset="-120"/>
              </a:rPr>
              <a:t>: three </a:t>
            </a:r>
            <a:r>
              <a:rPr lang="en-US" sz="1150" b="1" dirty="0">
                <a:solidFill>
                  <a:srgbClr val="262B3A"/>
                </a:solidFill>
                <a:latin typeface="Calibri" pitchFamily="34" charset="0"/>
                <a:ea typeface="Calibri" pitchFamily="34" charset="-122"/>
                <a:cs typeface="Calibri" pitchFamily="34" charset="-120"/>
              </a:rPr>
              <a:t>domains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Bacteria</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Archaea</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Eukarya</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Microscopes could not show this: archaea and bacteria </a:t>
            </a:r>
            <a:r>
              <a:rPr lang="en-US" sz="1150" b="1" dirty="0">
                <a:solidFill>
                  <a:srgbClr val="262B3A"/>
                </a:solidFill>
                <a:latin typeface="Calibri" pitchFamily="34" charset="0"/>
                <a:ea typeface="Calibri" pitchFamily="34" charset="-122"/>
                <a:cs typeface="Calibri" pitchFamily="34" charset="-120"/>
              </a:rPr>
              <a:t>look alike</a:t>
            </a:r>
            <a:r>
              <a:rPr lang="en-US" sz="1150" dirty="0">
                <a:solidFill>
                  <a:srgbClr val="262B3A"/>
                </a:solidFill>
                <a:latin typeface="Calibri" pitchFamily="34" charset="0"/>
                <a:ea typeface="Calibri" pitchFamily="34" charset="-122"/>
                <a:cs typeface="Calibri" pitchFamily="34" charset="-120"/>
              </a:rPr>
              <a:t>. Only </a:t>
            </a:r>
            <a:r>
              <a:rPr lang="en-US" sz="1150" b="1" dirty="0">
                <a:solidFill>
                  <a:srgbClr val="262B3A"/>
                </a:solidFill>
                <a:latin typeface="Calibri" pitchFamily="34" charset="0"/>
                <a:ea typeface="Calibri" pitchFamily="34" charset="-122"/>
                <a:cs typeface="Calibri" pitchFamily="34" charset="-120"/>
              </a:rPr>
              <a:t>molecular</a:t>
            </a:r>
            <a:r>
              <a:rPr lang="en-US" sz="1150" dirty="0">
                <a:solidFill>
                  <a:srgbClr val="262B3A"/>
                </a:solidFill>
                <a:latin typeface="Calibri" pitchFamily="34" charset="0"/>
                <a:ea typeface="Calibri" pitchFamily="34" charset="-122"/>
                <a:cs typeface="Calibri" pitchFamily="34" charset="-120"/>
              </a:rPr>
              <a:t> evidence did.</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Biochemistry agreed: archaea have different </a:t>
            </a:r>
            <a:r>
              <a:rPr lang="en-US" sz="1150" b="1" dirty="0">
                <a:solidFill>
                  <a:srgbClr val="262B3A"/>
                </a:solidFill>
                <a:latin typeface="Calibri" pitchFamily="34" charset="0"/>
                <a:ea typeface="Calibri" pitchFamily="34" charset="-122"/>
                <a:cs typeface="Calibri" pitchFamily="34" charset="-120"/>
              </a:rPr>
              <a:t>membrane lipids</a:t>
            </a:r>
            <a:r>
              <a:rPr lang="en-US" sz="1150" dirty="0">
                <a:solidFill>
                  <a:srgbClr val="262B3A"/>
                </a:solidFill>
                <a:latin typeface="Calibri" pitchFamily="34" charset="0"/>
                <a:ea typeface="Calibri" pitchFamily="34" charset="-122"/>
                <a:cs typeface="Calibri" pitchFamily="34" charset="-120"/>
              </a:rPr>
              <a:t> and cell walls from bacteria.</a:t>
            </a:r>
            <a:endParaRPr lang="en-US" sz="1150" dirty="0"/>
          </a:p>
        </p:txBody>
      </p:sp>
      <p:sp>
        <p:nvSpPr>
          <p:cNvPr id="45" name="Shape 43"/>
          <p:cNvSpPr/>
          <p:nvPr/>
        </p:nvSpPr>
        <p:spPr>
          <a:xfrm>
            <a:off x="411480" y="5833872"/>
            <a:ext cx="11368735" cy="530352"/>
          </a:xfrm>
          <a:prstGeom prst="rect">
            <a:avLst/>
          </a:prstGeom>
          <a:solidFill>
            <a:srgbClr val="FFF4E0"/>
          </a:solidFill>
          <a:ln w="6350">
            <a:solidFill>
              <a:srgbClr val="F1D9A8"/>
            </a:solidFill>
            <a:prstDash val="solid"/>
          </a:ln>
        </p:spPr>
      </p:sp>
      <p:sp>
        <p:nvSpPr>
          <p:cNvPr id="46" name="Shape 44"/>
          <p:cNvSpPr/>
          <p:nvPr/>
        </p:nvSpPr>
        <p:spPr>
          <a:xfrm>
            <a:off x="411480" y="5833872"/>
            <a:ext cx="82296" cy="530352"/>
          </a:xfrm>
          <a:prstGeom prst="rect">
            <a:avLst/>
          </a:prstGeom>
          <a:solidFill>
            <a:srgbClr val="E39A2F"/>
          </a:solidFill>
          <a:ln w="12700">
            <a:solidFill>
              <a:srgbClr val="E39A2F"/>
            </a:solidFill>
            <a:prstDash val="solid"/>
          </a:ln>
        </p:spPr>
      </p:sp>
      <p:sp>
        <p:nvSpPr>
          <p:cNvPr id="47" name="Text 4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three domains</a:t>
            </a:r>
            <a:r>
              <a:rPr lang="en-US" sz="1150" dirty="0">
                <a:solidFill>
                  <a:srgbClr val="262B3A"/>
                </a:solidFill>
                <a:latin typeface="Calibri" pitchFamily="34" charset="0"/>
                <a:ea typeface="Calibri" pitchFamily="34" charset="-122"/>
                <a:cs typeface="Calibri" pitchFamily="34" charset="-120"/>
              </a:rPr>
              <a:t>. Why could the electron microscope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separate archaea from bacteria?</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reading trees; three domains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16</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On an evolutionary tree, what does a </a:t>
            </a:r>
            <a:r>
              <a:rPr lang="en-US" sz="1250" b="1" dirty="0">
                <a:solidFill>
                  <a:srgbClr val="262B3A"/>
                </a:solidFill>
                <a:latin typeface="Calibri" pitchFamily="34" charset="0"/>
                <a:ea typeface="Calibri" pitchFamily="34" charset="-122"/>
                <a:cs typeface="Calibri" pitchFamily="34" charset="-120"/>
              </a:rPr>
              <a:t>branch point</a:t>
            </a:r>
            <a:r>
              <a:rPr lang="en-US" sz="1250" dirty="0">
                <a:solidFill>
                  <a:srgbClr val="262B3A"/>
                </a:solidFill>
                <a:latin typeface="Calibri" pitchFamily="34" charset="0"/>
                <a:ea typeface="Calibri" pitchFamily="34" charset="-122"/>
                <a:cs typeface="Calibri" pitchFamily="34" charset="-120"/>
              </a:rPr>
              <a:t> (node) represent?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a:t>
            </a:r>
            <a:r>
              <a:rPr lang="en-US" sz="1250" b="1" dirty="0">
                <a:solidFill>
                  <a:srgbClr val="262B3A"/>
                </a:solidFill>
                <a:latin typeface="Calibri" pitchFamily="34" charset="0"/>
                <a:ea typeface="Calibri" pitchFamily="34" charset="-122"/>
                <a:cs typeface="Calibri" pitchFamily="34" charset="-120"/>
              </a:rPr>
              <a:t>three domains</a:t>
            </a:r>
            <a:r>
              <a:rPr lang="en-US" sz="1250" dirty="0">
                <a:solidFill>
                  <a:srgbClr val="262B3A"/>
                </a:solidFill>
                <a:latin typeface="Calibri" pitchFamily="34" charset="0"/>
                <a:ea typeface="Calibri" pitchFamily="34" charset="-122"/>
                <a:cs typeface="Calibri" pitchFamily="34" charset="-120"/>
              </a:rPr>
              <a:t> in Woese's system.</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evidence that Woese used to propose the domain </a:t>
            </a:r>
            <a:r>
              <a:rPr lang="en-US" sz="1250" b="1" dirty="0">
                <a:solidFill>
                  <a:srgbClr val="262B3A"/>
                </a:solidFill>
                <a:latin typeface="Calibri" pitchFamily="34" charset="0"/>
                <a:ea typeface="Calibri" pitchFamily="34" charset="-122"/>
                <a:cs typeface="Calibri" pitchFamily="34" charset="-120"/>
              </a:rPr>
              <a:t>Archaea</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student says "humans evolved from chimpanzees". Use the idea of an evolutionary tree to correct this.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DNA reclassifies organisms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when DNA disagrees with appearance, the classification changes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B6.2.1  |  17</a:t>
            </a:r>
            <a:endParaRPr lang="en-US" sz="1000" dirty="0"/>
          </a:p>
        </p:txBody>
      </p:sp>
      <p:sp>
        <p:nvSpPr>
          <p:cNvPr id="8" name="Shape 6"/>
          <p:cNvSpPr/>
          <p:nvPr/>
        </p:nvSpPr>
        <p:spPr>
          <a:xfrm>
            <a:off x="411480" y="1188720"/>
            <a:ext cx="6400800" cy="4526280"/>
          </a:xfrm>
          <a:prstGeom prst="roundRect">
            <a:avLst>
              <a:gd name="adj" fmla="val 1616"/>
            </a:avLst>
          </a:prstGeom>
          <a:solidFill>
            <a:srgbClr val="EEF5F4"/>
          </a:solidFill>
          <a:ln w="9525">
            <a:solidFill>
              <a:srgbClr val="D2E3E1"/>
            </a:solidFill>
            <a:prstDash val="solid"/>
          </a:ln>
        </p:spPr>
      </p:sp>
      <p:sp>
        <p:nvSpPr>
          <p:cNvPr id="9" name="Text 7"/>
          <p:cNvSpPr/>
          <p:nvPr/>
        </p:nvSpPr>
        <p:spPr>
          <a:xfrm>
            <a:off x="548640" y="5404104"/>
            <a:ext cx="61264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whales and hippos: an older tree from anatomy and the tree from DNA (simplified)</a:t>
            </a:r>
            <a:endParaRPr lang="en-US" sz="1000" dirty="0"/>
          </a:p>
        </p:txBody>
      </p:sp>
      <p:sp>
        <p:nvSpPr>
          <p:cNvPr id="10" name="Text 8"/>
          <p:cNvSpPr/>
          <p:nvPr/>
        </p:nvSpPr>
        <p:spPr>
          <a:xfrm>
            <a:off x="594360" y="1298448"/>
            <a:ext cx="2926080" cy="256032"/>
          </a:xfrm>
          <a:prstGeom prst="rect">
            <a:avLst/>
          </a:prstGeom>
          <a:noFill/>
          <a:ln/>
        </p:spPr>
        <p:txBody>
          <a:bodyPr wrap="square" lIns="0" tIns="0" rIns="0" bIns="0" rtlCol="0" anchor="ctr"/>
          <a:lstStyle/>
          <a:p>
            <a:pPr algn="l" indent="0" marL="0">
              <a:buNone/>
            </a:pPr>
            <a:r>
              <a:rPr lang="en-US" sz="1150" b="1" dirty="0">
                <a:solidFill>
                  <a:srgbClr val="6B7385"/>
                </a:solidFill>
                <a:latin typeface="Calibri" pitchFamily="34" charset="0"/>
                <a:ea typeface="Calibri" pitchFamily="34" charset="-122"/>
                <a:cs typeface="Calibri" pitchFamily="34" charset="-120"/>
              </a:rPr>
              <a:t>Before: grouped by anatomy</a:t>
            </a:r>
            <a:endParaRPr lang="en-US" sz="1150" dirty="0"/>
          </a:p>
        </p:txBody>
      </p:sp>
      <p:sp>
        <p:nvSpPr>
          <p:cNvPr id="11" name="Text 9"/>
          <p:cNvSpPr/>
          <p:nvPr/>
        </p:nvSpPr>
        <p:spPr>
          <a:xfrm>
            <a:off x="3703320" y="1298448"/>
            <a:ext cx="2926080" cy="256032"/>
          </a:xfrm>
          <a:prstGeom prst="rect">
            <a:avLst/>
          </a:prstGeom>
          <a:noFill/>
          <a:ln/>
        </p:spPr>
        <p:txBody>
          <a:bodyPr wrap="square" lIns="0" tIns="0" rIns="0" bIns="0" rtlCol="0" anchor="ctr"/>
          <a:lstStyle/>
          <a:p>
            <a:pPr algn="l" indent="0" marL="0">
              <a:buNone/>
            </a:pPr>
            <a:r>
              <a:rPr lang="en-US" sz="1150" b="1" dirty="0">
                <a:solidFill>
                  <a:srgbClr val="0D7877"/>
                </a:solidFill>
                <a:latin typeface="Calibri" pitchFamily="34" charset="0"/>
                <a:ea typeface="Calibri" pitchFamily="34" charset="-122"/>
                <a:cs typeface="Calibri" pitchFamily="34" charset="-120"/>
              </a:rPr>
              <a:t>After: grouped by DNA</a:t>
            </a:r>
            <a:endParaRPr lang="en-US" sz="1150" dirty="0"/>
          </a:p>
        </p:txBody>
      </p:sp>
      <p:sp>
        <p:nvSpPr>
          <p:cNvPr id="12" name="Shape 10"/>
          <p:cNvSpPr/>
          <p:nvPr/>
        </p:nvSpPr>
        <p:spPr>
          <a:xfrm>
            <a:off x="1874520" y="3291840"/>
            <a:ext cx="91" cy="731520"/>
          </a:xfrm>
          <a:prstGeom prst="line">
            <a:avLst/>
          </a:prstGeom>
          <a:noFill/>
          <a:ln w="28575">
            <a:solidFill>
              <a:srgbClr val="7A8494"/>
            </a:solidFill>
            <a:prstDash val="solid"/>
          </a:ln>
        </p:spPr>
      </p:sp>
      <p:sp>
        <p:nvSpPr>
          <p:cNvPr id="13" name="Shape 11"/>
          <p:cNvSpPr/>
          <p:nvPr/>
        </p:nvSpPr>
        <p:spPr>
          <a:xfrm>
            <a:off x="1874520" y="3291840"/>
            <a:ext cx="548640" cy="91"/>
          </a:xfrm>
          <a:prstGeom prst="line">
            <a:avLst/>
          </a:prstGeom>
          <a:noFill/>
          <a:ln w="28575">
            <a:solidFill>
              <a:srgbClr val="7A8494"/>
            </a:solidFill>
            <a:prstDash val="solid"/>
          </a:ln>
        </p:spPr>
      </p:sp>
      <p:sp>
        <p:nvSpPr>
          <p:cNvPr id="14" name="Shape 12"/>
          <p:cNvSpPr/>
          <p:nvPr/>
        </p:nvSpPr>
        <p:spPr>
          <a:xfrm>
            <a:off x="1874520" y="4023360"/>
            <a:ext cx="548640" cy="91"/>
          </a:xfrm>
          <a:prstGeom prst="line">
            <a:avLst/>
          </a:prstGeom>
          <a:noFill/>
          <a:ln w="28575">
            <a:solidFill>
              <a:srgbClr val="C8414C"/>
            </a:solidFill>
            <a:prstDash val="solid"/>
          </a:ln>
        </p:spPr>
      </p:sp>
      <p:sp>
        <p:nvSpPr>
          <p:cNvPr id="15" name="Shape 13"/>
          <p:cNvSpPr/>
          <p:nvPr/>
        </p:nvSpPr>
        <p:spPr>
          <a:xfrm>
            <a:off x="1325880" y="2560320"/>
            <a:ext cx="91" cy="1097280"/>
          </a:xfrm>
          <a:prstGeom prst="line">
            <a:avLst/>
          </a:prstGeom>
          <a:noFill/>
          <a:ln w="28575">
            <a:solidFill>
              <a:srgbClr val="7A8494"/>
            </a:solidFill>
            <a:prstDash val="solid"/>
          </a:ln>
        </p:spPr>
      </p:sp>
      <p:sp>
        <p:nvSpPr>
          <p:cNvPr id="16" name="Shape 14"/>
          <p:cNvSpPr/>
          <p:nvPr/>
        </p:nvSpPr>
        <p:spPr>
          <a:xfrm>
            <a:off x="1325880" y="2560320"/>
            <a:ext cx="1097280" cy="91"/>
          </a:xfrm>
          <a:prstGeom prst="line">
            <a:avLst/>
          </a:prstGeom>
          <a:noFill/>
          <a:ln w="28575">
            <a:solidFill>
              <a:srgbClr val="7A8494"/>
            </a:solidFill>
            <a:prstDash val="solid"/>
          </a:ln>
        </p:spPr>
      </p:sp>
      <p:sp>
        <p:nvSpPr>
          <p:cNvPr id="17" name="Shape 15"/>
          <p:cNvSpPr/>
          <p:nvPr/>
        </p:nvSpPr>
        <p:spPr>
          <a:xfrm>
            <a:off x="1325880" y="3657600"/>
            <a:ext cx="548640" cy="91"/>
          </a:xfrm>
          <a:prstGeom prst="line">
            <a:avLst/>
          </a:prstGeom>
          <a:noFill/>
          <a:ln w="28575">
            <a:solidFill>
              <a:srgbClr val="7A8494"/>
            </a:solidFill>
            <a:prstDash val="solid"/>
          </a:ln>
        </p:spPr>
      </p:sp>
      <p:sp>
        <p:nvSpPr>
          <p:cNvPr id="18" name="Shape 16"/>
          <p:cNvSpPr/>
          <p:nvPr/>
        </p:nvSpPr>
        <p:spPr>
          <a:xfrm>
            <a:off x="777240" y="1828800"/>
            <a:ext cx="91" cy="1280160"/>
          </a:xfrm>
          <a:prstGeom prst="line">
            <a:avLst/>
          </a:prstGeom>
          <a:noFill/>
          <a:ln w="28575">
            <a:solidFill>
              <a:srgbClr val="7A8494"/>
            </a:solidFill>
            <a:prstDash val="solid"/>
          </a:ln>
        </p:spPr>
      </p:sp>
      <p:sp>
        <p:nvSpPr>
          <p:cNvPr id="19" name="Shape 17"/>
          <p:cNvSpPr/>
          <p:nvPr/>
        </p:nvSpPr>
        <p:spPr>
          <a:xfrm>
            <a:off x="777240" y="1828800"/>
            <a:ext cx="1645920" cy="91"/>
          </a:xfrm>
          <a:prstGeom prst="line">
            <a:avLst/>
          </a:prstGeom>
          <a:noFill/>
          <a:ln w="28575">
            <a:solidFill>
              <a:srgbClr val="C8414C"/>
            </a:solidFill>
            <a:prstDash val="solid"/>
          </a:ln>
        </p:spPr>
      </p:sp>
      <p:sp>
        <p:nvSpPr>
          <p:cNvPr id="20" name="Shape 18"/>
          <p:cNvSpPr/>
          <p:nvPr/>
        </p:nvSpPr>
        <p:spPr>
          <a:xfrm>
            <a:off x="777240" y="3108960"/>
            <a:ext cx="548640" cy="91"/>
          </a:xfrm>
          <a:prstGeom prst="line">
            <a:avLst/>
          </a:prstGeom>
          <a:noFill/>
          <a:ln w="28575">
            <a:solidFill>
              <a:srgbClr val="7A8494"/>
            </a:solidFill>
            <a:prstDash val="solid"/>
          </a:ln>
        </p:spPr>
      </p:sp>
      <p:sp>
        <p:nvSpPr>
          <p:cNvPr id="21" name="Shape 19"/>
          <p:cNvSpPr/>
          <p:nvPr/>
        </p:nvSpPr>
        <p:spPr>
          <a:xfrm>
            <a:off x="548640" y="2468880"/>
            <a:ext cx="228600" cy="91"/>
          </a:xfrm>
          <a:prstGeom prst="line">
            <a:avLst/>
          </a:prstGeom>
          <a:noFill/>
          <a:ln w="28575">
            <a:solidFill>
              <a:srgbClr val="7A8494"/>
            </a:solidFill>
            <a:prstDash val="solid"/>
          </a:ln>
        </p:spPr>
      </p:sp>
      <p:sp>
        <p:nvSpPr>
          <p:cNvPr id="22" name="Text 20"/>
          <p:cNvSpPr/>
          <p:nvPr/>
        </p:nvSpPr>
        <p:spPr>
          <a:xfrm>
            <a:off x="2496312" y="1691640"/>
            <a:ext cx="914400" cy="274320"/>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Whales</a:t>
            </a:r>
            <a:endParaRPr lang="en-US" sz="1200" dirty="0"/>
          </a:p>
        </p:txBody>
      </p:sp>
      <p:sp>
        <p:nvSpPr>
          <p:cNvPr id="23" name="Text 21"/>
          <p:cNvSpPr/>
          <p:nvPr/>
        </p:nvSpPr>
        <p:spPr>
          <a:xfrm>
            <a:off x="2496312" y="2423160"/>
            <a:ext cx="91440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Cows</a:t>
            </a:r>
            <a:endParaRPr lang="en-US" sz="1200" dirty="0"/>
          </a:p>
        </p:txBody>
      </p:sp>
      <p:sp>
        <p:nvSpPr>
          <p:cNvPr id="24" name="Text 22"/>
          <p:cNvSpPr/>
          <p:nvPr/>
        </p:nvSpPr>
        <p:spPr>
          <a:xfrm>
            <a:off x="2496312" y="3154680"/>
            <a:ext cx="91440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Pigs</a:t>
            </a:r>
            <a:endParaRPr lang="en-US" sz="1200" dirty="0"/>
          </a:p>
        </p:txBody>
      </p:sp>
      <p:sp>
        <p:nvSpPr>
          <p:cNvPr id="25" name="Text 23"/>
          <p:cNvSpPr/>
          <p:nvPr/>
        </p:nvSpPr>
        <p:spPr>
          <a:xfrm>
            <a:off x="2496312" y="3886200"/>
            <a:ext cx="914400" cy="274320"/>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Hippos</a:t>
            </a:r>
            <a:endParaRPr lang="en-US" sz="1200" dirty="0"/>
          </a:p>
        </p:txBody>
      </p:sp>
      <p:sp>
        <p:nvSpPr>
          <p:cNvPr id="26" name="Shape 24"/>
          <p:cNvSpPr/>
          <p:nvPr/>
        </p:nvSpPr>
        <p:spPr>
          <a:xfrm>
            <a:off x="4983480" y="3291840"/>
            <a:ext cx="91" cy="731520"/>
          </a:xfrm>
          <a:prstGeom prst="line">
            <a:avLst/>
          </a:prstGeom>
          <a:noFill/>
          <a:ln w="28575">
            <a:solidFill>
              <a:srgbClr val="133536"/>
            </a:solidFill>
            <a:prstDash val="solid"/>
          </a:ln>
        </p:spPr>
      </p:sp>
      <p:sp>
        <p:nvSpPr>
          <p:cNvPr id="27" name="Shape 25"/>
          <p:cNvSpPr/>
          <p:nvPr/>
        </p:nvSpPr>
        <p:spPr>
          <a:xfrm>
            <a:off x="4983480" y="3291840"/>
            <a:ext cx="548640" cy="91"/>
          </a:xfrm>
          <a:prstGeom prst="line">
            <a:avLst/>
          </a:prstGeom>
          <a:noFill/>
          <a:ln w="28575">
            <a:solidFill>
              <a:srgbClr val="C8414C"/>
            </a:solidFill>
            <a:prstDash val="solid"/>
          </a:ln>
        </p:spPr>
      </p:sp>
      <p:sp>
        <p:nvSpPr>
          <p:cNvPr id="28" name="Shape 26"/>
          <p:cNvSpPr/>
          <p:nvPr/>
        </p:nvSpPr>
        <p:spPr>
          <a:xfrm>
            <a:off x="4983480" y="4023360"/>
            <a:ext cx="548640" cy="91"/>
          </a:xfrm>
          <a:prstGeom prst="line">
            <a:avLst/>
          </a:prstGeom>
          <a:noFill/>
          <a:ln w="28575">
            <a:solidFill>
              <a:srgbClr val="C8414C"/>
            </a:solidFill>
            <a:prstDash val="solid"/>
          </a:ln>
        </p:spPr>
      </p:sp>
      <p:sp>
        <p:nvSpPr>
          <p:cNvPr id="29" name="Shape 27"/>
          <p:cNvSpPr/>
          <p:nvPr/>
        </p:nvSpPr>
        <p:spPr>
          <a:xfrm>
            <a:off x="4434840" y="2560320"/>
            <a:ext cx="91" cy="1097280"/>
          </a:xfrm>
          <a:prstGeom prst="line">
            <a:avLst/>
          </a:prstGeom>
          <a:noFill/>
          <a:ln w="28575">
            <a:solidFill>
              <a:srgbClr val="133536"/>
            </a:solidFill>
            <a:prstDash val="solid"/>
          </a:ln>
        </p:spPr>
      </p:sp>
      <p:sp>
        <p:nvSpPr>
          <p:cNvPr id="30" name="Shape 28"/>
          <p:cNvSpPr/>
          <p:nvPr/>
        </p:nvSpPr>
        <p:spPr>
          <a:xfrm>
            <a:off x="4434840" y="2560320"/>
            <a:ext cx="1097280" cy="91"/>
          </a:xfrm>
          <a:prstGeom prst="line">
            <a:avLst/>
          </a:prstGeom>
          <a:noFill/>
          <a:ln w="28575">
            <a:solidFill>
              <a:srgbClr val="133536"/>
            </a:solidFill>
            <a:prstDash val="solid"/>
          </a:ln>
        </p:spPr>
      </p:sp>
      <p:sp>
        <p:nvSpPr>
          <p:cNvPr id="31" name="Shape 29"/>
          <p:cNvSpPr/>
          <p:nvPr/>
        </p:nvSpPr>
        <p:spPr>
          <a:xfrm>
            <a:off x="4434840" y="3657600"/>
            <a:ext cx="548640" cy="91"/>
          </a:xfrm>
          <a:prstGeom prst="line">
            <a:avLst/>
          </a:prstGeom>
          <a:noFill/>
          <a:ln w="28575">
            <a:solidFill>
              <a:srgbClr val="133536"/>
            </a:solidFill>
            <a:prstDash val="solid"/>
          </a:ln>
        </p:spPr>
      </p:sp>
      <p:sp>
        <p:nvSpPr>
          <p:cNvPr id="32" name="Shape 30"/>
          <p:cNvSpPr/>
          <p:nvPr/>
        </p:nvSpPr>
        <p:spPr>
          <a:xfrm>
            <a:off x="3886200" y="1828800"/>
            <a:ext cx="91" cy="1280160"/>
          </a:xfrm>
          <a:prstGeom prst="line">
            <a:avLst/>
          </a:prstGeom>
          <a:noFill/>
          <a:ln w="28575">
            <a:solidFill>
              <a:srgbClr val="133536"/>
            </a:solidFill>
            <a:prstDash val="solid"/>
          </a:ln>
        </p:spPr>
      </p:sp>
      <p:sp>
        <p:nvSpPr>
          <p:cNvPr id="33" name="Shape 31"/>
          <p:cNvSpPr/>
          <p:nvPr/>
        </p:nvSpPr>
        <p:spPr>
          <a:xfrm>
            <a:off x="3886200" y="1828800"/>
            <a:ext cx="1645920" cy="91"/>
          </a:xfrm>
          <a:prstGeom prst="line">
            <a:avLst/>
          </a:prstGeom>
          <a:noFill/>
          <a:ln w="28575">
            <a:solidFill>
              <a:srgbClr val="133536"/>
            </a:solidFill>
            <a:prstDash val="solid"/>
          </a:ln>
        </p:spPr>
      </p:sp>
      <p:sp>
        <p:nvSpPr>
          <p:cNvPr id="34" name="Shape 32"/>
          <p:cNvSpPr/>
          <p:nvPr/>
        </p:nvSpPr>
        <p:spPr>
          <a:xfrm>
            <a:off x="3886200" y="3108960"/>
            <a:ext cx="548640" cy="91"/>
          </a:xfrm>
          <a:prstGeom prst="line">
            <a:avLst/>
          </a:prstGeom>
          <a:noFill/>
          <a:ln w="28575">
            <a:solidFill>
              <a:srgbClr val="133536"/>
            </a:solidFill>
            <a:prstDash val="solid"/>
          </a:ln>
        </p:spPr>
      </p:sp>
      <p:sp>
        <p:nvSpPr>
          <p:cNvPr id="35" name="Shape 33"/>
          <p:cNvSpPr/>
          <p:nvPr/>
        </p:nvSpPr>
        <p:spPr>
          <a:xfrm>
            <a:off x="3657600" y="2468880"/>
            <a:ext cx="228600" cy="91"/>
          </a:xfrm>
          <a:prstGeom prst="line">
            <a:avLst/>
          </a:prstGeom>
          <a:noFill/>
          <a:ln w="28575">
            <a:solidFill>
              <a:srgbClr val="133536"/>
            </a:solidFill>
            <a:prstDash val="solid"/>
          </a:ln>
        </p:spPr>
      </p:sp>
      <p:sp>
        <p:nvSpPr>
          <p:cNvPr id="36" name="Text 34"/>
          <p:cNvSpPr/>
          <p:nvPr/>
        </p:nvSpPr>
        <p:spPr>
          <a:xfrm>
            <a:off x="5605272" y="1691640"/>
            <a:ext cx="91440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Pigs</a:t>
            </a:r>
            <a:endParaRPr lang="en-US" sz="1200" dirty="0"/>
          </a:p>
        </p:txBody>
      </p:sp>
      <p:sp>
        <p:nvSpPr>
          <p:cNvPr id="37" name="Text 35"/>
          <p:cNvSpPr/>
          <p:nvPr/>
        </p:nvSpPr>
        <p:spPr>
          <a:xfrm>
            <a:off x="5605272" y="2423160"/>
            <a:ext cx="914400" cy="274320"/>
          </a:xfrm>
          <a:prstGeom prst="rect">
            <a:avLst/>
          </a:prstGeom>
          <a:noFill/>
          <a:ln/>
        </p:spPr>
        <p:txBody>
          <a:bodyPr wrap="square" lIns="0" tIns="0" rIns="0" bIns="0" rtlCol="0" anchor="ctr"/>
          <a:lstStyle/>
          <a:p>
            <a:pPr algn="l" indent="0" marL="0">
              <a:buNone/>
            </a:pPr>
            <a:r>
              <a:rPr lang="en-US" sz="1200" b="1" dirty="0">
                <a:solidFill>
                  <a:srgbClr val="133536"/>
                </a:solidFill>
                <a:latin typeface="Calibri" pitchFamily="34" charset="0"/>
                <a:ea typeface="Calibri" pitchFamily="34" charset="-122"/>
                <a:cs typeface="Calibri" pitchFamily="34" charset="-120"/>
              </a:rPr>
              <a:t>Cows</a:t>
            </a:r>
            <a:endParaRPr lang="en-US" sz="1200" dirty="0"/>
          </a:p>
        </p:txBody>
      </p:sp>
      <p:sp>
        <p:nvSpPr>
          <p:cNvPr id="38" name="Text 36"/>
          <p:cNvSpPr/>
          <p:nvPr/>
        </p:nvSpPr>
        <p:spPr>
          <a:xfrm>
            <a:off x="5605272" y="3154680"/>
            <a:ext cx="914400" cy="274320"/>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Hippos</a:t>
            </a:r>
            <a:endParaRPr lang="en-US" sz="1200" dirty="0"/>
          </a:p>
        </p:txBody>
      </p:sp>
      <p:sp>
        <p:nvSpPr>
          <p:cNvPr id="39" name="Text 37"/>
          <p:cNvSpPr/>
          <p:nvPr/>
        </p:nvSpPr>
        <p:spPr>
          <a:xfrm>
            <a:off x="5605272" y="3886200"/>
            <a:ext cx="914400" cy="274320"/>
          </a:xfrm>
          <a:prstGeom prst="rect">
            <a:avLst/>
          </a:prstGeom>
          <a:noFill/>
          <a:ln/>
        </p:spPr>
        <p:txBody>
          <a:bodyPr wrap="square" lIns="0" tIns="0" rIns="0" bIns="0" rtlCol="0" anchor="ctr"/>
          <a:lstStyle/>
          <a:p>
            <a:pPr algn="l" indent="0" marL="0">
              <a:buNone/>
            </a:pPr>
            <a:r>
              <a:rPr lang="en-US" sz="1200" b="1" dirty="0">
                <a:solidFill>
                  <a:srgbClr val="C8414C"/>
                </a:solidFill>
                <a:latin typeface="Calibri" pitchFamily="34" charset="0"/>
                <a:ea typeface="Calibri" pitchFamily="34" charset="-122"/>
                <a:cs typeface="Calibri" pitchFamily="34" charset="-120"/>
              </a:rPr>
              <a:t>Whales</a:t>
            </a:r>
            <a:endParaRPr lang="en-US" sz="1200" dirty="0"/>
          </a:p>
        </p:txBody>
      </p:sp>
      <p:sp>
        <p:nvSpPr>
          <p:cNvPr id="40" name="Shape 38"/>
          <p:cNvSpPr/>
          <p:nvPr/>
        </p:nvSpPr>
        <p:spPr>
          <a:xfrm>
            <a:off x="3822192" y="2404872"/>
            <a:ext cx="128016" cy="128016"/>
          </a:xfrm>
          <a:prstGeom prst="ellipse">
            <a:avLst/>
          </a:prstGeom>
          <a:solidFill>
            <a:srgbClr val="F5A742"/>
          </a:solidFill>
          <a:ln w="9525">
            <a:solidFill>
              <a:srgbClr val="B8730A"/>
            </a:solidFill>
            <a:prstDash val="solid"/>
          </a:ln>
        </p:spPr>
      </p:sp>
      <p:sp>
        <p:nvSpPr>
          <p:cNvPr id="41" name="Shape 39"/>
          <p:cNvSpPr/>
          <p:nvPr/>
        </p:nvSpPr>
        <p:spPr>
          <a:xfrm>
            <a:off x="4370832" y="3044952"/>
            <a:ext cx="128016" cy="128016"/>
          </a:xfrm>
          <a:prstGeom prst="ellipse">
            <a:avLst/>
          </a:prstGeom>
          <a:solidFill>
            <a:srgbClr val="F5A742"/>
          </a:solidFill>
          <a:ln w="9525">
            <a:solidFill>
              <a:srgbClr val="B8730A"/>
            </a:solidFill>
            <a:prstDash val="solid"/>
          </a:ln>
        </p:spPr>
      </p:sp>
      <p:sp>
        <p:nvSpPr>
          <p:cNvPr id="42" name="Shape 40"/>
          <p:cNvSpPr/>
          <p:nvPr/>
        </p:nvSpPr>
        <p:spPr>
          <a:xfrm>
            <a:off x="4919472" y="3593592"/>
            <a:ext cx="128016" cy="128016"/>
          </a:xfrm>
          <a:prstGeom prst="ellipse">
            <a:avLst/>
          </a:prstGeom>
          <a:solidFill>
            <a:srgbClr val="F5A742"/>
          </a:solidFill>
          <a:ln w="9525">
            <a:solidFill>
              <a:srgbClr val="B8730A"/>
            </a:solidFill>
            <a:prstDash val="solid"/>
          </a:ln>
        </p:spPr>
      </p:sp>
      <p:sp>
        <p:nvSpPr>
          <p:cNvPr id="43" name="Text 41"/>
          <p:cNvSpPr/>
          <p:nvPr/>
        </p:nvSpPr>
        <p:spPr>
          <a:xfrm>
            <a:off x="4526280" y="3703320"/>
            <a:ext cx="384048" cy="219456"/>
          </a:xfrm>
          <a:prstGeom prst="rect">
            <a:avLst/>
          </a:prstGeom>
          <a:noFill/>
          <a:ln/>
        </p:spPr>
        <p:txBody>
          <a:bodyPr wrap="square" lIns="0" tIns="0" rIns="0" bIns="0" rtlCol="0" anchor="ctr"/>
          <a:lstStyle/>
          <a:p>
            <a:pPr algn="r" indent="0" marL="0">
              <a:buNone/>
            </a:pPr>
            <a:r>
              <a:rPr lang="en-US" sz="1050" b="1" dirty="0">
                <a:solidFill>
                  <a:srgbClr val="B8730A"/>
                </a:solidFill>
                <a:latin typeface="Calibri" pitchFamily="34" charset="0"/>
                <a:ea typeface="Calibri" pitchFamily="34" charset="-122"/>
                <a:cs typeface="Calibri" pitchFamily="34" charset="-120"/>
              </a:rPr>
              <a:t>W</a:t>
            </a:r>
            <a:endParaRPr lang="en-US" sz="1050" dirty="0"/>
          </a:p>
        </p:txBody>
      </p:sp>
      <p:sp>
        <p:nvSpPr>
          <p:cNvPr id="44" name="Shape 42"/>
          <p:cNvSpPr/>
          <p:nvPr/>
        </p:nvSpPr>
        <p:spPr>
          <a:xfrm>
            <a:off x="3246120" y="2926080"/>
            <a:ext cx="365760" cy="91"/>
          </a:xfrm>
          <a:prstGeom prst="line">
            <a:avLst/>
          </a:prstGeom>
          <a:noFill/>
          <a:ln w="31750">
            <a:solidFill>
              <a:srgbClr val="B8730A"/>
            </a:solidFill>
            <a:prstDash val="solid"/>
            <a:tailEnd type="triangle"/>
          </a:ln>
        </p:spPr>
      </p:sp>
      <p:sp>
        <p:nvSpPr>
          <p:cNvPr id="45" name="Shape 43"/>
          <p:cNvSpPr/>
          <p:nvPr/>
        </p:nvSpPr>
        <p:spPr>
          <a:xfrm>
            <a:off x="640080" y="4343400"/>
            <a:ext cx="5943600" cy="914400"/>
          </a:xfrm>
          <a:prstGeom prst="roundRect">
            <a:avLst>
              <a:gd name="adj" fmla="val 6000"/>
            </a:avLst>
          </a:prstGeom>
          <a:solidFill>
            <a:srgbClr val="FFFFFF"/>
          </a:solidFill>
          <a:ln w="12700">
            <a:solidFill>
              <a:srgbClr val="CFE0DE"/>
            </a:solidFill>
            <a:prstDash val="solid"/>
          </a:ln>
        </p:spPr>
      </p:sp>
      <p:sp>
        <p:nvSpPr>
          <p:cNvPr id="46" name="Text 44"/>
          <p:cNvSpPr/>
          <p:nvPr/>
        </p:nvSpPr>
        <p:spPr>
          <a:xfrm>
            <a:off x="731520" y="4361688"/>
            <a:ext cx="5760720" cy="877824"/>
          </a:xfrm>
          <a:prstGeom prst="rect">
            <a:avLst/>
          </a:prstGeom>
          <a:noFill/>
          <a:ln/>
        </p:spPr>
        <p:txBody>
          <a:bodyPr wrap="square" lIns="0" tIns="0" rIns="0" bIns="0" rtlCol="0" anchor="ctr"/>
          <a:lstStyle/>
          <a:p>
            <a:pPr algn="l" indent="0" marL="0">
              <a:buNone/>
            </a:pPr>
            <a:r>
              <a:rPr lang="en-US" sz="1050" dirty="0">
                <a:solidFill>
                  <a:srgbClr val="262B3A"/>
                </a:solidFill>
                <a:latin typeface="Calibri" pitchFamily="34" charset="0"/>
                <a:ea typeface="Calibri" pitchFamily="34" charset="-122"/>
                <a:cs typeface="Calibri" pitchFamily="34" charset="-120"/>
              </a:rPr>
              <a:t>Hippos were thought to be closest to </a:t>
            </a:r>
            <a:r>
              <a:rPr lang="en-US" sz="1050" b="1" dirty="0">
                <a:solidFill>
                  <a:srgbClr val="262B3A"/>
                </a:solidFill>
                <a:latin typeface="Calibri" pitchFamily="34" charset="0"/>
                <a:ea typeface="Calibri" pitchFamily="34" charset="-122"/>
                <a:cs typeface="Calibri" pitchFamily="34" charset="-120"/>
              </a:rPr>
              <a:t>pigs</a:t>
            </a:r>
            <a:r>
              <a:rPr lang="en-US" sz="1050" dirty="0">
                <a:solidFill>
                  <a:srgbClr val="262B3A"/>
                </a:solidFill>
                <a:latin typeface="Calibri" pitchFamily="34" charset="0"/>
                <a:ea typeface="Calibri" pitchFamily="34" charset="-122"/>
                <a:cs typeface="Calibri" pitchFamily="34" charset="-120"/>
              </a:rPr>
              <a:t>. DNA (from the 1990s) showed that </a:t>
            </a:r>
            <a:r>
              <a:rPr lang="en-US" sz="1050" b="1" dirty="0">
                <a:solidFill>
                  <a:srgbClr val="262B3A"/>
                </a:solidFill>
                <a:latin typeface="Calibri" pitchFamily="34" charset="0"/>
                <a:ea typeface="Calibri" pitchFamily="34" charset="-122"/>
                <a:cs typeface="Calibri" pitchFamily="34" charset="-120"/>
              </a:rPr>
              <a:t>whales</a:t>
            </a:r>
            <a:r>
              <a:rPr lang="en-US" sz="1050" dirty="0">
                <a:solidFill>
                  <a:srgbClr val="262B3A"/>
                </a:solidFill>
                <a:latin typeface="Calibri" pitchFamily="34" charset="0"/>
                <a:ea typeface="Calibri" pitchFamily="34" charset="-122"/>
                <a:cs typeface="Calibri" pitchFamily="34" charset="-120"/>
              </a:rPr>
              <a:t> are the closest living relatives of </a:t>
            </a:r>
            <a:r>
              <a:rPr lang="en-US" sz="1050" b="1" dirty="0">
                <a:solidFill>
                  <a:srgbClr val="262B3A"/>
                </a:solidFill>
                <a:latin typeface="Calibri" pitchFamily="34" charset="0"/>
                <a:ea typeface="Calibri" pitchFamily="34" charset="-122"/>
                <a:cs typeface="Calibri" pitchFamily="34" charset="-120"/>
              </a:rPr>
              <a:t>hippos</a:t>
            </a:r>
            <a:r>
              <a:rPr lang="en-US" sz="1050" dirty="0">
                <a:solidFill>
                  <a:srgbClr val="262B3A"/>
                </a:solidFill>
                <a:latin typeface="Calibri" pitchFamily="34" charset="0"/>
                <a:ea typeface="Calibri" pitchFamily="34" charset="-122"/>
                <a:cs typeface="Calibri" pitchFamily="34" charset="-120"/>
              </a:rPr>
              <a:t>: they share common ancestor </a:t>
            </a:r>
            <a:r>
              <a:rPr lang="en-US" sz="1050" b="1" dirty="0">
                <a:solidFill>
                  <a:srgbClr val="262B3A"/>
                </a:solidFill>
                <a:latin typeface="Calibri" pitchFamily="34" charset="0"/>
                <a:ea typeface="Calibri" pitchFamily="34" charset="-122"/>
                <a:cs typeface="Calibri" pitchFamily="34" charset="-120"/>
              </a:rPr>
              <a:t>W</a:t>
            </a:r>
            <a:r>
              <a:rPr lang="en-US" sz="1050" dirty="0">
                <a:solidFill>
                  <a:srgbClr val="262B3A"/>
                </a:solidFill>
                <a:latin typeface="Calibri" pitchFamily="34" charset="0"/>
                <a:ea typeface="Calibri" pitchFamily="34" charset="-122"/>
                <a:cs typeface="Calibri" pitchFamily="34" charset="-120"/>
              </a:rPr>
              <a:t>. Fossil whales with hoofed-mammal ankle bones later agreed.</a:t>
            </a:r>
            <a:endParaRPr lang="en-US" sz="1050" dirty="0"/>
          </a:p>
        </p:txBody>
      </p:sp>
      <p:sp>
        <p:nvSpPr>
          <p:cNvPr id="47" name="Shape 45"/>
          <p:cNvSpPr/>
          <p:nvPr/>
        </p:nvSpPr>
        <p:spPr>
          <a:xfrm>
            <a:off x="7040880" y="1188720"/>
            <a:ext cx="4736592" cy="4526280"/>
          </a:xfrm>
          <a:prstGeom prst="roundRect">
            <a:avLst>
              <a:gd name="adj" fmla="val 1212"/>
            </a:avLst>
          </a:prstGeom>
          <a:solidFill>
            <a:srgbClr val="F4FAF9"/>
          </a:solidFill>
          <a:ln w="9525">
            <a:solidFill>
              <a:srgbClr val="CFE0DE"/>
            </a:solidFill>
            <a:prstDash val="solid"/>
          </a:ln>
        </p:spPr>
      </p:sp>
      <p:sp>
        <p:nvSpPr>
          <p:cNvPr id="48" name="Text 46"/>
          <p:cNvSpPr/>
          <p:nvPr/>
        </p:nvSpPr>
        <p:spPr>
          <a:xfrm>
            <a:off x="7205472" y="1280160"/>
            <a:ext cx="4407408"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More DNA surprises</a:t>
            </a:r>
            <a:endParaRPr lang="en-US" sz="1300" dirty="0"/>
          </a:p>
        </p:txBody>
      </p:sp>
      <p:sp>
        <p:nvSpPr>
          <p:cNvPr id="49" name="Text 47"/>
          <p:cNvSpPr/>
          <p:nvPr/>
        </p:nvSpPr>
        <p:spPr>
          <a:xfrm>
            <a:off x="7205472" y="1609344"/>
            <a:ext cx="4407408" cy="4032504"/>
          </a:xfrm>
          <a:prstGeom prst="rect">
            <a:avLst/>
          </a:prstGeom>
          <a:noFill/>
          <a:ln/>
        </p:spPr>
        <p:txBody>
          <a:bodyPr wrap="square" lIns="0" tIns="0" rIns="0" bIns="0" rtlCol="0" anchor="t"/>
          <a:lstStyle/>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Fungi</a:t>
            </a:r>
            <a:r>
              <a:rPr lang="en-US" sz="1150" dirty="0">
                <a:solidFill>
                  <a:srgbClr val="262B3A"/>
                </a:solidFill>
                <a:latin typeface="Calibri" pitchFamily="34" charset="0"/>
                <a:ea typeface="Calibri" pitchFamily="34" charset="-122"/>
                <a:cs typeface="Calibri" pitchFamily="34" charset="-120"/>
              </a:rPr>
              <a:t> were once grouped with plants. DNA shows fungi are </a:t>
            </a:r>
            <a:r>
              <a:rPr lang="en-US" sz="1150" b="1" dirty="0">
                <a:solidFill>
                  <a:srgbClr val="262B3A"/>
                </a:solidFill>
                <a:latin typeface="Calibri" pitchFamily="34" charset="0"/>
                <a:ea typeface="Calibri" pitchFamily="34" charset="-122"/>
                <a:cs typeface="Calibri" pitchFamily="34" charset="-120"/>
              </a:rPr>
              <a:t>more closely related to animals</a:t>
            </a:r>
            <a:r>
              <a:rPr lang="en-US" sz="1150" dirty="0">
                <a:solidFill>
                  <a:srgbClr val="262B3A"/>
                </a:solidFill>
                <a:latin typeface="Calibri" pitchFamily="34" charset="0"/>
                <a:ea typeface="Calibri" pitchFamily="34" charset="-122"/>
                <a:cs typeface="Calibri" pitchFamily="34" charset="-120"/>
              </a:rPr>
              <a:t> than to plants.</a:t>
            </a:r>
            <a:endParaRPr lang="en-US" sz="1150" dirty="0"/>
          </a:p>
          <a:p>
            <a:pPr marL="152400" indent="-152400">
              <a:spcAft>
                <a:spcPts val="300"/>
              </a:spcAft>
              <a:buSzPct val="100000"/>
              <a:buChar char="▪"/>
            </a:pPr>
            <a:r>
              <a:rPr lang="en-US" sz="1150" b="1" dirty="0">
                <a:solidFill>
                  <a:srgbClr val="262B3A"/>
                </a:solidFill>
                <a:latin typeface="Calibri" pitchFamily="34" charset="0"/>
                <a:ea typeface="Calibri" pitchFamily="34" charset="-122"/>
                <a:cs typeface="Calibri" pitchFamily="34" charset="-120"/>
              </a:rPr>
              <a:t>African elephants</a:t>
            </a:r>
            <a:r>
              <a:rPr lang="en-US" sz="1150" dirty="0">
                <a:solidFill>
                  <a:srgbClr val="262B3A"/>
                </a:solidFill>
                <a:latin typeface="Calibri" pitchFamily="34" charset="0"/>
                <a:ea typeface="Calibri" pitchFamily="34" charset="-122"/>
                <a:cs typeface="Calibri" pitchFamily="34" charset="-120"/>
              </a:rPr>
              <a:t>: DNA showed forest and savanna elephants are </a:t>
            </a:r>
            <a:r>
              <a:rPr lang="en-US" sz="1150" b="1" dirty="0">
                <a:solidFill>
                  <a:srgbClr val="262B3A"/>
                </a:solidFill>
                <a:latin typeface="Calibri" pitchFamily="34" charset="0"/>
                <a:ea typeface="Calibri" pitchFamily="34" charset="-122"/>
                <a:cs typeface="Calibri" pitchFamily="34" charset="-120"/>
              </a:rPr>
              <a:t>two separate species</a:t>
            </a:r>
            <a:r>
              <a:rPr lang="en-US" sz="1150" dirty="0">
                <a:solidFill>
                  <a:srgbClr val="262B3A"/>
                </a:solidFill>
                <a:latin typeface="Calibri" pitchFamily="34" charset="0"/>
                <a:ea typeface="Calibri" pitchFamily="34" charset="-122"/>
                <a:cs typeface="Calibri" pitchFamily="34" charset="-120"/>
              </a:rPr>
              <a:t> (accepted by the IUCN in 2021).</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Many "species" of bacteria, and some look-alike frogs and birds, turned out to be </a:t>
            </a:r>
            <a:r>
              <a:rPr lang="en-US" sz="1150" b="1" dirty="0">
                <a:solidFill>
                  <a:srgbClr val="262B3A"/>
                </a:solidFill>
                <a:latin typeface="Calibri" pitchFamily="34" charset="0"/>
                <a:ea typeface="Calibri" pitchFamily="34" charset="-122"/>
                <a:cs typeface="Calibri" pitchFamily="34" charset="-120"/>
              </a:rPr>
              <a:t>several species</a:t>
            </a:r>
            <a:r>
              <a:rPr lang="en-US" sz="1150" dirty="0">
                <a:solidFill>
                  <a:srgbClr val="262B3A"/>
                </a:solidFill>
                <a:latin typeface="Calibri" pitchFamily="34" charset="0"/>
                <a:ea typeface="Calibri" pitchFamily="34" charset="-122"/>
                <a:cs typeface="Calibri" pitchFamily="34" charset="-120"/>
              </a:rPr>
              <a:t> that look the same.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Some groups that looked different, e.g. some dog-like and cat-like animals, were </a:t>
            </a:r>
            <a:r>
              <a:rPr lang="en-US" sz="1150" b="1" dirty="0">
                <a:solidFill>
                  <a:srgbClr val="262B3A"/>
                </a:solidFill>
                <a:latin typeface="Calibri" pitchFamily="34" charset="0"/>
                <a:ea typeface="Calibri" pitchFamily="34" charset="-122"/>
                <a:cs typeface="Calibri" pitchFamily="34" charset="-120"/>
              </a:rPr>
              <a:t>merged or moved</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Each change needs </a:t>
            </a:r>
            <a:r>
              <a:rPr lang="en-US" sz="1150" b="1" dirty="0">
                <a:solidFill>
                  <a:srgbClr val="262B3A"/>
                </a:solidFill>
                <a:latin typeface="Calibri" pitchFamily="34" charset="0"/>
                <a:ea typeface="Calibri" pitchFamily="34" charset="-122"/>
                <a:cs typeface="Calibri" pitchFamily="34" charset="-120"/>
              </a:rPr>
              <a:t>evidence</a:t>
            </a:r>
            <a:r>
              <a:rPr lang="en-US" sz="1150" dirty="0">
                <a:solidFill>
                  <a:srgbClr val="262B3A"/>
                </a:solidFill>
                <a:latin typeface="Calibri" pitchFamily="34" charset="0"/>
                <a:ea typeface="Calibri" pitchFamily="34" charset="-122"/>
                <a:cs typeface="Calibri" pitchFamily="34" charset="-120"/>
              </a:rPr>
              <a:t> that other scientists can check (slide 18).</a:t>
            </a:r>
            <a:endParaRPr lang="en-US" sz="1150" dirty="0"/>
          </a:p>
        </p:txBody>
      </p:sp>
      <p:sp>
        <p:nvSpPr>
          <p:cNvPr id="50" name="Shape 48"/>
          <p:cNvSpPr/>
          <p:nvPr/>
        </p:nvSpPr>
        <p:spPr>
          <a:xfrm>
            <a:off x="411480" y="5833872"/>
            <a:ext cx="11368735" cy="530352"/>
          </a:xfrm>
          <a:prstGeom prst="rect">
            <a:avLst/>
          </a:prstGeom>
          <a:solidFill>
            <a:srgbClr val="FFF4E0"/>
          </a:solidFill>
          <a:ln w="6350">
            <a:solidFill>
              <a:srgbClr val="F1D9A8"/>
            </a:solidFill>
            <a:prstDash val="solid"/>
          </a:ln>
        </p:spPr>
      </p:sp>
      <p:sp>
        <p:nvSpPr>
          <p:cNvPr id="51" name="Shape 49"/>
          <p:cNvSpPr/>
          <p:nvPr/>
        </p:nvSpPr>
        <p:spPr>
          <a:xfrm>
            <a:off x="411480" y="5833872"/>
            <a:ext cx="82296" cy="530352"/>
          </a:xfrm>
          <a:prstGeom prst="rect">
            <a:avLst/>
          </a:prstGeom>
          <a:solidFill>
            <a:srgbClr val="E39A2F"/>
          </a:solidFill>
          <a:ln w="12700">
            <a:solidFill>
              <a:srgbClr val="E39A2F"/>
            </a:solidFill>
            <a:prstDash val="solid"/>
          </a:ln>
        </p:spPr>
      </p:sp>
      <p:sp>
        <p:nvSpPr>
          <p:cNvPr id="52" name="Text 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From the "after" tree: is a hippo more closely related to a </a:t>
            </a:r>
            <a:r>
              <a:rPr lang="en-US" sz="1150" b="1" dirty="0">
                <a:solidFill>
                  <a:srgbClr val="262B3A"/>
                </a:solidFill>
                <a:latin typeface="Calibri" pitchFamily="34" charset="0"/>
                <a:ea typeface="Calibri" pitchFamily="34" charset="-122"/>
                <a:cs typeface="Calibri" pitchFamily="34" charset="-120"/>
              </a:rPr>
              <a:t>whale</a:t>
            </a:r>
            <a:r>
              <a:rPr lang="en-US" sz="1150" dirty="0">
                <a:solidFill>
                  <a:srgbClr val="262B3A"/>
                </a:solidFill>
                <a:latin typeface="Calibri" pitchFamily="34" charset="0"/>
                <a:ea typeface="Calibri" pitchFamily="34" charset="-122"/>
                <a:cs typeface="Calibri" pitchFamily="34" charset="-120"/>
              </a:rPr>
              <a:t> or to a </a:t>
            </a:r>
            <a:r>
              <a:rPr lang="en-US" sz="1150" b="1" dirty="0">
                <a:solidFill>
                  <a:srgbClr val="262B3A"/>
                </a:solidFill>
                <a:latin typeface="Calibri" pitchFamily="34" charset="0"/>
                <a:ea typeface="Calibri" pitchFamily="34" charset="-122"/>
                <a:cs typeface="Calibri" pitchFamily="34" charset="-120"/>
              </a:rPr>
              <a:t>pig</a:t>
            </a:r>
            <a:r>
              <a:rPr lang="en-US" sz="1150" dirty="0">
                <a:solidFill>
                  <a:srgbClr val="262B3A"/>
                </a:solidFill>
                <a:latin typeface="Calibri" pitchFamily="34" charset="0"/>
                <a:ea typeface="Calibri" pitchFamily="34" charset="-122"/>
                <a:cs typeface="Calibri" pitchFamily="34" charset="-120"/>
              </a:rPr>
              <a:t>? Explain using </a:t>
            </a:r>
            <a:r>
              <a:rPr lang="en-US" sz="1150" b="1" dirty="0">
                <a:solidFill>
                  <a:srgbClr val="262B3A"/>
                </a:solidFill>
                <a:latin typeface="Calibri" pitchFamily="34" charset="0"/>
                <a:ea typeface="Calibri" pitchFamily="34" charset="-122"/>
                <a:cs typeface="Calibri" pitchFamily="34" charset="-120"/>
              </a:rPr>
              <a:t>common ancestors</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Ideas about Science: why classification changes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with BCP7 Ideas about Science • new technology → new evidence → new explanations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IaS  |  18</a:t>
            </a:r>
            <a:endParaRPr lang="en-US" sz="1000" dirty="0"/>
          </a:p>
        </p:txBody>
      </p:sp>
      <p:sp>
        <p:nvSpPr>
          <p:cNvPr id="8" name="Shape 6"/>
          <p:cNvSpPr/>
          <p:nvPr/>
        </p:nvSpPr>
        <p:spPr>
          <a:xfrm>
            <a:off x="411480" y="1188720"/>
            <a:ext cx="11365992" cy="2148840"/>
          </a:xfrm>
          <a:prstGeom prst="roundRect">
            <a:avLst>
              <a:gd name="adj" fmla="val 3404"/>
            </a:avLst>
          </a:prstGeom>
          <a:solidFill>
            <a:srgbClr val="EEF5F4"/>
          </a:solidFill>
          <a:ln w="9525">
            <a:solidFill>
              <a:srgbClr val="D2E3E1"/>
            </a:solidFill>
            <a:prstDash val="solid"/>
          </a:ln>
        </p:spPr>
      </p:sp>
      <p:sp>
        <p:nvSpPr>
          <p:cNvPr id="9" name="Text 7"/>
          <p:cNvSpPr/>
          <p:nvPr/>
        </p:nvSpPr>
        <p:spPr>
          <a:xfrm>
            <a:off x="548640" y="3026664"/>
            <a:ext cx="11091672"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timeline drawn to scale, 1700–2020</a:t>
            </a:r>
            <a:endParaRPr lang="en-US" sz="1000" dirty="0"/>
          </a:p>
        </p:txBody>
      </p:sp>
      <p:sp>
        <p:nvSpPr>
          <p:cNvPr id="10" name="Shape 8"/>
          <p:cNvSpPr/>
          <p:nvPr/>
        </p:nvSpPr>
        <p:spPr>
          <a:xfrm>
            <a:off x="914400" y="2240280"/>
            <a:ext cx="10332720" cy="91"/>
          </a:xfrm>
          <a:prstGeom prst="line">
            <a:avLst/>
          </a:prstGeom>
          <a:noFill/>
          <a:ln w="25400">
            <a:solidFill>
              <a:srgbClr val="133536"/>
            </a:solidFill>
            <a:prstDash val="solid"/>
          </a:ln>
        </p:spPr>
      </p:sp>
      <p:sp>
        <p:nvSpPr>
          <p:cNvPr id="11" name="Shape 9"/>
          <p:cNvSpPr/>
          <p:nvPr/>
        </p:nvSpPr>
        <p:spPr>
          <a:xfrm>
            <a:off x="914400" y="2240280"/>
            <a:ext cx="91" cy="109728"/>
          </a:xfrm>
          <a:prstGeom prst="line">
            <a:avLst/>
          </a:prstGeom>
          <a:noFill/>
          <a:ln w="12700">
            <a:solidFill>
              <a:srgbClr val="133536"/>
            </a:solidFill>
            <a:prstDash val="solid"/>
          </a:ln>
        </p:spPr>
      </p:sp>
      <p:sp>
        <p:nvSpPr>
          <p:cNvPr id="12" name="Text 10"/>
          <p:cNvSpPr/>
          <p:nvPr/>
        </p:nvSpPr>
        <p:spPr>
          <a:xfrm>
            <a:off x="640080" y="23591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1700</a:t>
            </a:r>
            <a:endParaRPr lang="en-US" sz="1000" dirty="0"/>
          </a:p>
        </p:txBody>
      </p:sp>
      <p:sp>
        <p:nvSpPr>
          <p:cNvPr id="13" name="Shape 11"/>
          <p:cNvSpPr/>
          <p:nvPr/>
        </p:nvSpPr>
        <p:spPr>
          <a:xfrm>
            <a:off x="1560195" y="2240280"/>
            <a:ext cx="91" cy="54864"/>
          </a:xfrm>
          <a:prstGeom prst="line">
            <a:avLst/>
          </a:prstGeom>
          <a:noFill/>
          <a:ln w="12700">
            <a:solidFill>
              <a:srgbClr val="133536"/>
            </a:solidFill>
            <a:prstDash val="solid"/>
          </a:ln>
        </p:spPr>
      </p:sp>
      <p:sp>
        <p:nvSpPr>
          <p:cNvPr id="14" name="Shape 12"/>
          <p:cNvSpPr/>
          <p:nvPr/>
        </p:nvSpPr>
        <p:spPr>
          <a:xfrm>
            <a:off x="2205990" y="2240280"/>
            <a:ext cx="91" cy="54864"/>
          </a:xfrm>
          <a:prstGeom prst="line">
            <a:avLst/>
          </a:prstGeom>
          <a:noFill/>
          <a:ln w="12700">
            <a:solidFill>
              <a:srgbClr val="133536"/>
            </a:solidFill>
            <a:prstDash val="solid"/>
          </a:ln>
        </p:spPr>
      </p:sp>
      <p:sp>
        <p:nvSpPr>
          <p:cNvPr id="15" name="Shape 13"/>
          <p:cNvSpPr/>
          <p:nvPr/>
        </p:nvSpPr>
        <p:spPr>
          <a:xfrm>
            <a:off x="2851785" y="2240280"/>
            <a:ext cx="91" cy="54864"/>
          </a:xfrm>
          <a:prstGeom prst="line">
            <a:avLst/>
          </a:prstGeom>
          <a:noFill/>
          <a:ln w="12700">
            <a:solidFill>
              <a:srgbClr val="133536"/>
            </a:solidFill>
            <a:prstDash val="solid"/>
          </a:ln>
        </p:spPr>
      </p:sp>
      <p:sp>
        <p:nvSpPr>
          <p:cNvPr id="16" name="Shape 14"/>
          <p:cNvSpPr/>
          <p:nvPr/>
        </p:nvSpPr>
        <p:spPr>
          <a:xfrm>
            <a:off x="3497580" y="2240280"/>
            <a:ext cx="91" cy="54864"/>
          </a:xfrm>
          <a:prstGeom prst="line">
            <a:avLst/>
          </a:prstGeom>
          <a:noFill/>
          <a:ln w="12700">
            <a:solidFill>
              <a:srgbClr val="133536"/>
            </a:solidFill>
            <a:prstDash val="solid"/>
          </a:ln>
        </p:spPr>
      </p:sp>
      <p:sp>
        <p:nvSpPr>
          <p:cNvPr id="17" name="Shape 15"/>
          <p:cNvSpPr/>
          <p:nvPr/>
        </p:nvSpPr>
        <p:spPr>
          <a:xfrm>
            <a:off x="4143375" y="2240280"/>
            <a:ext cx="91" cy="109728"/>
          </a:xfrm>
          <a:prstGeom prst="line">
            <a:avLst/>
          </a:prstGeom>
          <a:noFill/>
          <a:ln w="12700">
            <a:solidFill>
              <a:srgbClr val="133536"/>
            </a:solidFill>
            <a:prstDash val="solid"/>
          </a:ln>
        </p:spPr>
      </p:sp>
      <p:sp>
        <p:nvSpPr>
          <p:cNvPr id="18" name="Text 16"/>
          <p:cNvSpPr/>
          <p:nvPr/>
        </p:nvSpPr>
        <p:spPr>
          <a:xfrm>
            <a:off x="3869055" y="23591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1800</a:t>
            </a:r>
            <a:endParaRPr lang="en-US" sz="1000" dirty="0"/>
          </a:p>
        </p:txBody>
      </p:sp>
      <p:sp>
        <p:nvSpPr>
          <p:cNvPr id="19" name="Shape 17"/>
          <p:cNvSpPr/>
          <p:nvPr/>
        </p:nvSpPr>
        <p:spPr>
          <a:xfrm>
            <a:off x="4789170" y="2240280"/>
            <a:ext cx="91" cy="54864"/>
          </a:xfrm>
          <a:prstGeom prst="line">
            <a:avLst/>
          </a:prstGeom>
          <a:noFill/>
          <a:ln w="12700">
            <a:solidFill>
              <a:srgbClr val="133536"/>
            </a:solidFill>
            <a:prstDash val="solid"/>
          </a:ln>
        </p:spPr>
      </p:sp>
      <p:sp>
        <p:nvSpPr>
          <p:cNvPr id="20" name="Shape 18"/>
          <p:cNvSpPr/>
          <p:nvPr/>
        </p:nvSpPr>
        <p:spPr>
          <a:xfrm>
            <a:off x="5434965" y="2240280"/>
            <a:ext cx="91" cy="54864"/>
          </a:xfrm>
          <a:prstGeom prst="line">
            <a:avLst/>
          </a:prstGeom>
          <a:noFill/>
          <a:ln w="12700">
            <a:solidFill>
              <a:srgbClr val="133536"/>
            </a:solidFill>
            <a:prstDash val="solid"/>
          </a:ln>
        </p:spPr>
      </p:sp>
      <p:sp>
        <p:nvSpPr>
          <p:cNvPr id="21" name="Shape 19"/>
          <p:cNvSpPr/>
          <p:nvPr/>
        </p:nvSpPr>
        <p:spPr>
          <a:xfrm>
            <a:off x="6080760" y="2240280"/>
            <a:ext cx="91" cy="54864"/>
          </a:xfrm>
          <a:prstGeom prst="line">
            <a:avLst/>
          </a:prstGeom>
          <a:noFill/>
          <a:ln w="12700">
            <a:solidFill>
              <a:srgbClr val="133536"/>
            </a:solidFill>
            <a:prstDash val="solid"/>
          </a:ln>
        </p:spPr>
      </p:sp>
      <p:sp>
        <p:nvSpPr>
          <p:cNvPr id="22" name="Shape 20"/>
          <p:cNvSpPr/>
          <p:nvPr/>
        </p:nvSpPr>
        <p:spPr>
          <a:xfrm>
            <a:off x="6726555" y="2240280"/>
            <a:ext cx="91" cy="54864"/>
          </a:xfrm>
          <a:prstGeom prst="line">
            <a:avLst/>
          </a:prstGeom>
          <a:noFill/>
          <a:ln w="12700">
            <a:solidFill>
              <a:srgbClr val="133536"/>
            </a:solidFill>
            <a:prstDash val="solid"/>
          </a:ln>
        </p:spPr>
      </p:sp>
      <p:sp>
        <p:nvSpPr>
          <p:cNvPr id="23" name="Shape 21"/>
          <p:cNvSpPr/>
          <p:nvPr/>
        </p:nvSpPr>
        <p:spPr>
          <a:xfrm>
            <a:off x="7372350" y="2240280"/>
            <a:ext cx="91" cy="109728"/>
          </a:xfrm>
          <a:prstGeom prst="line">
            <a:avLst/>
          </a:prstGeom>
          <a:noFill/>
          <a:ln w="12700">
            <a:solidFill>
              <a:srgbClr val="133536"/>
            </a:solidFill>
            <a:prstDash val="solid"/>
          </a:ln>
        </p:spPr>
      </p:sp>
      <p:sp>
        <p:nvSpPr>
          <p:cNvPr id="24" name="Text 22"/>
          <p:cNvSpPr/>
          <p:nvPr/>
        </p:nvSpPr>
        <p:spPr>
          <a:xfrm>
            <a:off x="7098030" y="23591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1900</a:t>
            </a:r>
            <a:endParaRPr lang="en-US" sz="1000" dirty="0"/>
          </a:p>
        </p:txBody>
      </p:sp>
      <p:sp>
        <p:nvSpPr>
          <p:cNvPr id="25" name="Shape 23"/>
          <p:cNvSpPr/>
          <p:nvPr/>
        </p:nvSpPr>
        <p:spPr>
          <a:xfrm>
            <a:off x="8018145" y="2240280"/>
            <a:ext cx="91" cy="54864"/>
          </a:xfrm>
          <a:prstGeom prst="line">
            <a:avLst/>
          </a:prstGeom>
          <a:noFill/>
          <a:ln w="12700">
            <a:solidFill>
              <a:srgbClr val="133536"/>
            </a:solidFill>
            <a:prstDash val="solid"/>
          </a:ln>
        </p:spPr>
      </p:sp>
      <p:sp>
        <p:nvSpPr>
          <p:cNvPr id="26" name="Shape 24"/>
          <p:cNvSpPr/>
          <p:nvPr/>
        </p:nvSpPr>
        <p:spPr>
          <a:xfrm>
            <a:off x="8663940" y="2240280"/>
            <a:ext cx="91" cy="54864"/>
          </a:xfrm>
          <a:prstGeom prst="line">
            <a:avLst/>
          </a:prstGeom>
          <a:noFill/>
          <a:ln w="12700">
            <a:solidFill>
              <a:srgbClr val="133536"/>
            </a:solidFill>
            <a:prstDash val="solid"/>
          </a:ln>
        </p:spPr>
      </p:sp>
      <p:sp>
        <p:nvSpPr>
          <p:cNvPr id="27" name="Shape 25"/>
          <p:cNvSpPr/>
          <p:nvPr/>
        </p:nvSpPr>
        <p:spPr>
          <a:xfrm>
            <a:off x="9309735" y="2240280"/>
            <a:ext cx="91" cy="54864"/>
          </a:xfrm>
          <a:prstGeom prst="line">
            <a:avLst/>
          </a:prstGeom>
          <a:noFill/>
          <a:ln w="12700">
            <a:solidFill>
              <a:srgbClr val="133536"/>
            </a:solidFill>
            <a:prstDash val="solid"/>
          </a:ln>
        </p:spPr>
      </p:sp>
      <p:sp>
        <p:nvSpPr>
          <p:cNvPr id="28" name="Shape 26"/>
          <p:cNvSpPr/>
          <p:nvPr/>
        </p:nvSpPr>
        <p:spPr>
          <a:xfrm>
            <a:off x="9955530" y="2240280"/>
            <a:ext cx="91" cy="54864"/>
          </a:xfrm>
          <a:prstGeom prst="line">
            <a:avLst/>
          </a:prstGeom>
          <a:noFill/>
          <a:ln w="12700">
            <a:solidFill>
              <a:srgbClr val="133536"/>
            </a:solidFill>
            <a:prstDash val="solid"/>
          </a:ln>
        </p:spPr>
      </p:sp>
      <p:sp>
        <p:nvSpPr>
          <p:cNvPr id="29" name="Shape 27"/>
          <p:cNvSpPr/>
          <p:nvPr/>
        </p:nvSpPr>
        <p:spPr>
          <a:xfrm>
            <a:off x="10601325" y="2240280"/>
            <a:ext cx="91" cy="109728"/>
          </a:xfrm>
          <a:prstGeom prst="line">
            <a:avLst/>
          </a:prstGeom>
          <a:noFill/>
          <a:ln w="12700">
            <a:solidFill>
              <a:srgbClr val="133536"/>
            </a:solidFill>
            <a:prstDash val="solid"/>
          </a:ln>
        </p:spPr>
      </p:sp>
      <p:sp>
        <p:nvSpPr>
          <p:cNvPr id="30" name="Text 28"/>
          <p:cNvSpPr/>
          <p:nvPr/>
        </p:nvSpPr>
        <p:spPr>
          <a:xfrm>
            <a:off x="10327005" y="23591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2000</a:t>
            </a:r>
            <a:endParaRPr lang="en-US" sz="1000" dirty="0"/>
          </a:p>
        </p:txBody>
      </p:sp>
      <p:sp>
        <p:nvSpPr>
          <p:cNvPr id="31" name="Shape 29"/>
          <p:cNvSpPr/>
          <p:nvPr/>
        </p:nvSpPr>
        <p:spPr>
          <a:xfrm>
            <a:off x="11247120" y="2240280"/>
            <a:ext cx="91" cy="54864"/>
          </a:xfrm>
          <a:prstGeom prst="line">
            <a:avLst/>
          </a:prstGeom>
          <a:noFill/>
          <a:ln w="12700">
            <a:solidFill>
              <a:srgbClr val="133536"/>
            </a:solidFill>
            <a:prstDash val="solid"/>
          </a:ln>
        </p:spPr>
      </p:sp>
      <p:sp>
        <p:nvSpPr>
          <p:cNvPr id="32" name="Text 30"/>
          <p:cNvSpPr/>
          <p:nvPr/>
        </p:nvSpPr>
        <p:spPr>
          <a:xfrm>
            <a:off x="10972800" y="2359152"/>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2020</a:t>
            </a:r>
            <a:endParaRPr lang="en-US" sz="1000" dirty="0"/>
          </a:p>
        </p:txBody>
      </p:sp>
      <p:sp>
        <p:nvSpPr>
          <p:cNvPr id="33" name="Shape 31"/>
          <p:cNvSpPr/>
          <p:nvPr/>
        </p:nvSpPr>
        <p:spPr>
          <a:xfrm flipV="1">
            <a:off x="2044541" y="1874520"/>
            <a:ext cx="91" cy="365760"/>
          </a:xfrm>
          <a:prstGeom prst="line">
            <a:avLst/>
          </a:prstGeom>
          <a:noFill/>
          <a:ln w="9525">
            <a:solidFill>
              <a:srgbClr val="9AA3B0"/>
            </a:solidFill>
            <a:prstDash val="solid"/>
          </a:ln>
        </p:spPr>
      </p:sp>
      <p:sp>
        <p:nvSpPr>
          <p:cNvPr id="34" name="Shape 32"/>
          <p:cNvSpPr/>
          <p:nvPr/>
        </p:nvSpPr>
        <p:spPr>
          <a:xfrm>
            <a:off x="1980533" y="2176272"/>
            <a:ext cx="128016" cy="128016"/>
          </a:xfrm>
          <a:prstGeom prst="ellipse">
            <a:avLst/>
          </a:prstGeom>
          <a:solidFill>
            <a:srgbClr val="F5A742"/>
          </a:solidFill>
          <a:ln w="9525">
            <a:solidFill>
              <a:srgbClr val="B8730A"/>
            </a:solidFill>
            <a:prstDash val="solid"/>
          </a:ln>
        </p:spPr>
      </p:sp>
      <p:sp>
        <p:nvSpPr>
          <p:cNvPr id="35" name="Text 33"/>
          <p:cNvSpPr/>
          <p:nvPr/>
        </p:nvSpPr>
        <p:spPr>
          <a:xfrm>
            <a:off x="1463040" y="1371600"/>
            <a:ext cx="1188720"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1735</a:t>
            </a:r>
            <a:r>
              <a:rPr lang="en-US" sz="1000" dirty="0">
                <a:solidFill>
                  <a:srgbClr val="262B3A"/>
                </a:solidFill>
                <a:latin typeface="Calibri" pitchFamily="34" charset="0"/>
                <a:ea typeface="Calibri" pitchFamily="34" charset="-122"/>
                <a:cs typeface="Calibri" pitchFamily="34" charset="-120"/>
              </a:rPr>
              <a:t> Linnaeus: Systema Naturae</a:t>
            </a:r>
            <a:endParaRPr lang="en-US" sz="1000" dirty="0"/>
          </a:p>
        </p:txBody>
      </p:sp>
      <p:sp>
        <p:nvSpPr>
          <p:cNvPr id="36" name="Shape 34"/>
          <p:cNvSpPr/>
          <p:nvPr/>
        </p:nvSpPr>
        <p:spPr>
          <a:xfrm>
            <a:off x="6048470" y="2240280"/>
            <a:ext cx="91" cy="274320"/>
          </a:xfrm>
          <a:prstGeom prst="line">
            <a:avLst/>
          </a:prstGeom>
          <a:noFill/>
          <a:ln w="9525">
            <a:solidFill>
              <a:srgbClr val="9AA3B0"/>
            </a:solidFill>
            <a:prstDash val="solid"/>
          </a:ln>
        </p:spPr>
      </p:sp>
      <p:sp>
        <p:nvSpPr>
          <p:cNvPr id="37" name="Shape 35"/>
          <p:cNvSpPr/>
          <p:nvPr/>
        </p:nvSpPr>
        <p:spPr>
          <a:xfrm>
            <a:off x="5984462" y="2176272"/>
            <a:ext cx="128016" cy="128016"/>
          </a:xfrm>
          <a:prstGeom prst="ellipse">
            <a:avLst/>
          </a:prstGeom>
          <a:solidFill>
            <a:srgbClr val="F5A742"/>
          </a:solidFill>
          <a:ln w="9525">
            <a:solidFill>
              <a:srgbClr val="B8730A"/>
            </a:solidFill>
            <a:prstDash val="solid"/>
          </a:ln>
        </p:spPr>
      </p:sp>
      <p:sp>
        <p:nvSpPr>
          <p:cNvPr id="38" name="Text 36"/>
          <p:cNvSpPr/>
          <p:nvPr/>
        </p:nvSpPr>
        <p:spPr>
          <a:xfrm>
            <a:off x="5257800" y="2514600"/>
            <a:ext cx="1325880" cy="50292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1859</a:t>
            </a:r>
            <a:r>
              <a:rPr lang="en-US" sz="1000" dirty="0">
                <a:solidFill>
                  <a:srgbClr val="262B3A"/>
                </a:solidFill>
                <a:latin typeface="Calibri" pitchFamily="34" charset="0"/>
                <a:ea typeface="Calibri" pitchFamily="34" charset="-122"/>
                <a:cs typeface="Calibri" pitchFamily="34" charset="-120"/>
              </a:rPr>
              <a:t> Darwin: On the Origin of Species</a:t>
            </a:r>
            <a:endParaRPr lang="en-US" sz="1000" dirty="0"/>
          </a:p>
        </p:txBody>
      </p:sp>
      <p:sp>
        <p:nvSpPr>
          <p:cNvPr id="39" name="Shape 37"/>
          <p:cNvSpPr/>
          <p:nvPr/>
        </p:nvSpPr>
        <p:spPr>
          <a:xfrm flipV="1">
            <a:off x="6274499" y="1874520"/>
            <a:ext cx="91" cy="365760"/>
          </a:xfrm>
          <a:prstGeom prst="line">
            <a:avLst/>
          </a:prstGeom>
          <a:noFill/>
          <a:ln w="9525">
            <a:solidFill>
              <a:srgbClr val="9AA3B0"/>
            </a:solidFill>
            <a:prstDash val="solid"/>
          </a:ln>
        </p:spPr>
      </p:sp>
      <p:sp>
        <p:nvSpPr>
          <p:cNvPr id="40" name="Shape 38"/>
          <p:cNvSpPr/>
          <p:nvPr/>
        </p:nvSpPr>
        <p:spPr>
          <a:xfrm>
            <a:off x="6210491" y="2176272"/>
            <a:ext cx="128016" cy="128016"/>
          </a:xfrm>
          <a:prstGeom prst="ellipse">
            <a:avLst/>
          </a:prstGeom>
          <a:solidFill>
            <a:srgbClr val="F5A742"/>
          </a:solidFill>
          <a:ln w="9525">
            <a:solidFill>
              <a:srgbClr val="B8730A"/>
            </a:solidFill>
            <a:prstDash val="solid"/>
          </a:ln>
        </p:spPr>
      </p:sp>
      <p:sp>
        <p:nvSpPr>
          <p:cNvPr id="41" name="Text 39"/>
          <p:cNvSpPr/>
          <p:nvPr/>
        </p:nvSpPr>
        <p:spPr>
          <a:xfrm>
            <a:off x="5760720" y="1371600"/>
            <a:ext cx="1325880"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1866</a:t>
            </a:r>
            <a:r>
              <a:rPr lang="en-US" sz="1000" dirty="0">
                <a:solidFill>
                  <a:srgbClr val="262B3A"/>
                </a:solidFill>
                <a:latin typeface="Calibri" pitchFamily="34" charset="0"/>
                <a:ea typeface="Calibri" pitchFamily="34" charset="-122"/>
                <a:cs typeface="Calibri" pitchFamily="34" charset="-120"/>
              </a:rPr>
              <a:t> Haeckel: 3 kingdoms (adds Protista)</a:t>
            </a:r>
            <a:endParaRPr lang="en-US" sz="1000" dirty="0"/>
          </a:p>
        </p:txBody>
      </p:sp>
      <p:sp>
        <p:nvSpPr>
          <p:cNvPr id="42" name="Shape 40"/>
          <p:cNvSpPr/>
          <p:nvPr/>
        </p:nvSpPr>
        <p:spPr>
          <a:xfrm flipH="1">
            <a:off x="8275320" y="2240280"/>
            <a:ext cx="98012" cy="274320"/>
          </a:xfrm>
          <a:prstGeom prst="line">
            <a:avLst/>
          </a:prstGeom>
          <a:noFill/>
          <a:ln w="9525">
            <a:solidFill>
              <a:srgbClr val="9AA3B0"/>
            </a:solidFill>
            <a:prstDash val="solid"/>
          </a:ln>
        </p:spPr>
      </p:sp>
      <p:sp>
        <p:nvSpPr>
          <p:cNvPr id="43" name="Shape 41"/>
          <p:cNvSpPr/>
          <p:nvPr/>
        </p:nvSpPr>
        <p:spPr>
          <a:xfrm>
            <a:off x="8309324" y="2176272"/>
            <a:ext cx="128016" cy="128016"/>
          </a:xfrm>
          <a:prstGeom prst="ellipse">
            <a:avLst/>
          </a:prstGeom>
          <a:solidFill>
            <a:srgbClr val="F5A742"/>
          </a:solidFill>
          <a:ln w="9525">
            <a:solidFill>
              <a:srgbClr val="B8730A"/>
            </a:solidFill>
            <a:prstDash val="solid"/>
          </a:ln>
        </p:spPr>
      </p:sp>
      <p:sp>
        <p:nvSpPr>
          <p:cNvPr id="44" name="Text 42"/>
          <p:cNvSpPr/>
          <p:nvPr/>
        </p:nvSpPr>
        <p:spPr>
          <a:xfrm>
            <a:off x="7178040" y="2514600"/>
            <a:ext cx="1188720" cy="50292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1931</a:t>
            </a:r>
            <a:r>
              <a:rPr lang="en-US" sz="1000" dirty="0">
                <a:solidFill>
                  <a:srgbClr val="262B3A"/>
                </a:solidFill>
                <a:latin typeface="Calibri" pitchFamily="34" charset="0"/>
                <a:ea typeface="Calibri" pitchFamily="34" charset="-122"/>
                <a:cs typeface="Calibri" pitchFamily="34" charset="-120"/>
              </a:rPr>
              <a:t> first electron microscope</a:t>
            </a:r>
            <a:endParaRPr lang="en-US" sz="1000" dirty="0"/>
          </a:p>
        </p:txBody>
      </p:sp>
      <p:sp>
        <p:nvSpPr>
          <p:cNvPr id="45" name="Shape 43"/>
          <p:cNvSpPr/>
          <p:nvPr/>
        </p:nvSpPr>
        <p:spPr>
          <a:xfrm flipH="1" flipV="1">
            <a:off x="8641080" y="1874520"/>
            <a:ext cx="442627" cy="365760"/>
          </a:xfrm>
          <a:prstGeom prst="line">
            <a:avLst/>
          </a:prstGeom>
          <a:noFill/>
          <a:ln w="9525">
            <a:solidFill>
              <a:srgbClr val="9AA3B0"/>
            </a:solidFill>
            <a:prstDash val="solid"/>
          </a:ln>
        </p:spPr>
      </p:sp>
      <p:sp>
        <p:nvSpPr>
          <p:cNvPr id="46" name="Shape 44"/>
          <p:cNvSpPr/>
          <p:nvPr/>
        </p:nvSpPr>
        <p:spPr>
          <a:xfrm>
            <a:off x="9019699" y="2176272"/>
            <a:ext cx="128016" cy="128016"/>
          </a:xfrm>
          <a:prstGeom prst="ellipse">
            <a:avLst/>
          </a:prstGeom>
          <a:solidFill>
            <a:srgbClr val="0D7877"/>
          </a:solidFill>
          <a:ln w="9525">
            <a:solidFill>
              <a:srgbClr val="0C6867"/>
            </a:solidFill>
            <a:prstDash val="solid"/>
          </a:ln>
        </p:spPr>
      </p:sp>
      <p:sp>
        <p:nvSpPr>
          <p:cNvPr id="47" name="Text 45"/>
          <p:cNvSpPr/>
          <p:nvPr/>
        </p:nvSpPr>
        <p:spPr>
          <a:xfrm>
            <a:off x="7635240" y="1371600"/>
            <a:ext cx="1097280"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1953</a:t>
            </a:r>
            <a:r>
              <a:rPr lang="en-US" sz="1000" dirty="0">
                <a:solidFill>
                  <a:srgbClr val="262B3A"/>
                </a:solidFill>
                <a:latin typeface="Calibri" pitchFamily="34" charset="0"/>
                <a:ea typeface="Calibri" pitchFamily="34" charset="-122"/>
                <a:cs typeface="Calibri" pitchFamily="34" charset="-120"/>
              </a:rPr>
              <a:t> DNA structure</a:t>
            </a:r>
            <a:endParaRPr lang="en-US" sz="1000" dirty="0"/>
          </a:p>
        </p:txBody>
      </p:sp>
      <p:sp>
        <p:nvSpPr>
          <p:cNvPr id="48" name="Shape 46"/>
          <p:cNvSpPr/>
          <p:nvPr/>
        </p:nvSpPr>
        <p:spPr>
          <a:xfrm flipH="1">
            <a:off x="9555480" y="2240280"/>
            <a:ext cx="44863" cy="274320"/>
          </a:xfrm>
          <a:prstGeom prst="line">
            <a:avLst/>
          </a:prstGeom>
          <a:noFill/>
          <a:ln w="9525">
            <a:solidFill>
              <a:srgbClr val="9AA3B0"/>
            </a:solidFill>
            <a:prstDash val="solid"/>
          </a:ln>
        </p:spPr>
      </p:sp>
      <p:sp>
        <p:nvSpPr>
          <p:cNvPr id="49" name="Shape 47"/>
          <p:cNvSpPr/>
          <p:nvPr/>
        </p:nvSpPr>
        <p:spPr>
          <a:xfrm>
            <a:off x="9536335" y="2176272"/>
            <a:ext cx="128016" cy="128016"/>
          </a:xfrm>
          <a:prstGeom prst="ellipse">
            <a:avLst/>
          </a:prstGeom>
          <a:solidFill>
            <a:srgbClr val="0D7877"/>
          </a:solidFill>
          <a:ln w="9525">
            <a:solidFill>
              <a:srgbClr val="0C6867"/>
            </a:solidFill>
            <a:prstDash val="solid"/>
          </a:ln>
        </p:spPr>
      </p:sp>
      <p:sp>
        <p:nvSpPr>
          <p:cNvPr id="50" name="Text 48"/>
          <p:cNvSpPr/>
          <p:nvPr/>
        </p:nvSpPr>
        <p:spPr>
          <a:xfrm>
            <a:off x="8503920" y="2514600"/>
            <a:ext cx="1143000" cy="50292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1969</a:t>
            </a:r>
            <a:r>
              <a:rPr lang="en-US" sz="1000" dirty="0">
                <a:solidFill>
                  <a:srgbClr val="262B3A"/>
                </a:solidFill>
                <a:latin typeface="Calibri" pitchFamily="34" charset="0"/>
                <a:ea typeface="Calibri" pitchFamily="34" charset="-122"/>
                <a:cs typeface="Calibri" pitchFamily="34" charset="-120"/>
              </a:rPr>
              <a:t> Whittaker: 5 kingdoms</a:t>
            </a:r>
            <a:endParaRPr lang="en-US" sz="1000" dirty="0"/>
          </a:p>
        </p:txBody>
      </p:sp>
      <p:sp>
        <p:nvSpPr>
          <p:cNvPr id="51" name="Shape 49"/>
          <p:cNvSpPr/>
          <p:nvPr/>
        </p:nvSpPr>
        <p:spPr>
          <a:xfrm flipV="1">
            <a:off x="9858661" y="1874520"/>
            <a:ext cx="91" cy="365760"/>
          </a:xfrm>
          <a:prstGeom prst="line">
            <a:avLst/>
          </a:prstGeom>
          <a:noFill/>
          <a:ln w="9525">
            <a:solidFill>
              <a:srgbClr val="9AA3B0"/>
            </a:solidFill>
            <a:prstDash val="solid"/>
          </a:ln>
        </p:spPr>
      </p:sp>
      <p:sp>
        <p:nvSpPr>
          <p:cNvPr id="52" name="Shape 50"/>
          <p:cNvSpPr/>
          <p:nvPr/>
        </p:nvSpPr>
        <p:spPr>
          <a:xfrm>
            <a:off x="9794653" y="2176272"/>
            <a:ext cx="128016" cy="128016"/>
          </a:xfrm>
          <a:prstGeom prst="ellipse">
            <a:avLst/>
          </a:prstGeom>
          <a:solidFill>
            <a:srgbClr val="0D7877"/>
          </a:solidFill>
          <a:ln w="9525">
            <a:solidFill>
              <a:srgbClr val="0C6867"/>
            </a:solidFill>
            <a:prstDash val="solid"/>
          </a:ln>
        </p:spPr>
      </p:sp>
      <p:sp>
        <p:nvSpPr>
          <p:cNvPr id="53" name="Text 51"/>
          <p:cNvSpPr/>
          <p:nvPr/>
        </p:nvSpPr>
        <p:spPr>
          <a:xfrm>
            <a:off x="8869680" y="1371600"/>
            <a:ext cx="1234440"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1977</a:t>
            </a:r>
            <a:r>
              <a:rPr lang="en-US" sz="1000" dirty="0">
                <a:solidFill>
                  <a:srgbClr val="262B3A"/>
                </a:solidFill>
                <a:latin typeface="Calibri" pitchFamily="34" charset="0"/>
                <a:ea typeface="Calibri" pitchFamily="34" charset="-122"/>
                <a:cs typeface="Calibri" pitchFamily="34" charset="-120"/>
              </a:rPr>
              <a:t> Woese: Archaea found</a:t>
            </a:r>
            <a:endParaRPr lang="en-US" sz="1000" dirty="0"/>
          </a:p>
        </p:txBody>
      </p:sp>
      <p:sp>
        <p:nvSpPr>
          <p:cNvPr id="54" name="Shape 52"/>
          <p:cNvSpPr/>
          <p:nvPr/>
        </p:nvSpPr>
        <p:spPr>
          <a:xfrm>
            <a:off x="10278428" y="2240280"/>
            <a:ext cx="91" cy="274320"/>
          </a:xfrm>
          <a:prstGeom prst="line">
            <a:avLst/>
          </a:prstGeom>
          <a:noFill/>
          <a:ln w="9525">
            <a:solidFill>
              <a:srgbClr val="9AA3B0"/>
            </a:solidFill>
            <a:prstDash val="solid"/>
          </a:ln>
        </p:spPr>
      </p:sp>
      <p:sp>
        <p:nvSpPr>
          <p:cNvPr id="55" name="Shape 53"/>
          <p:cNvSpPr/>
          <p:nvPr/>
        </p:nvSpPr>
        <p:spPr>
          <a:xfrm>
            <a:off x="10214420" y="2176272"/>
            <a:ext cx="128016" cy="128016"/>
          </a:xfrm>
          <a:prstGeom prst="ellipse">
            <a:avLst/>
          </a:prstGeom>
          <a:solidFill>
            <a:srgbClr val="0D7877"/>
          </a:solidFill>
          <a:ln w="9525">
            <a:solidFill>
              <a:srgbClr val="0C6867"/>
            </a:solidFill>
            <a:prstDash val="solid"/>
          </a:ln>
        </p:spPr>
      </p:sp>
      <p:sp>
        <p:nvSpPr>
          <p:cNvPr id="56" name="Text 54"/>
          <p:cNvSpPr/>
          <p:nvPr/>
        </p:nvSpPr>
        <p:spPr>
          <a:xfrm>
            <a:off x="9784080" y="2514600"/>
            <a:ext cx="1051560" cy="502920"/>
          </a:xfrm>
          <a:prstGeom prst="rect">
            <a:avLst/>
          </a:prstGeom>
          <a:noFill/>
          <a:ln/>
        </p:spPr>
        <p:txBody>
          <a:bodyPr wrap="square" lIns="0" tIns="0" rIns="0" bIns="0" rtlCol="0" anchor="t"/>
          <a:lstStyle/>
          <a:p>
            <a:pPr algn="ctr" indent="0" marL="0">
              <a:buNone/>
            </a:pPr>
            <a:r>
              <a:rPr lang="en-US" sz="1000" b="1" dirty="0">
                <a:solidFill>
                  <a:srgbClr val="262B3A"/>
                </a:solidFill>
                <a:latin typeface="Calibri" pitchFamily="34" charset="0"/>
                <a:ea typeface="Calibri" pitchFamily="34" charset="-122"/>
                <a:cs typeface="Calibri" pitchFamily="34" charset="-120"/>
              </a:rPr>
              <a:t>1990</a:t>
            </a:r>
            <a:r>
              <a:rPr lang="en-US" sz="1000" dirty="0">
                <a:solidFill>
                  <a:srgbClr val="262B3A"/>
                </a:solidFill>
                <a:latin typeface="Calibri" pitchFamily="34" charset="0"/>
                <a:ea typeface="Calibri" pitchFamily="34" charset="-122"/>
                <a:cs typeface="Calibri" pitchFamily="34" charset="-120"/>
              </a:rPr>
              <a:t> Woese: 3 domains</a:t>
            </a:r>
            <a:endParaRPr lang="en-US" sz="1000" dirty="0"/>
          </a:p>
        </p:txBody>
      </p:sp>
      <p:sp>
        <p:nvSpPr>
          <p:cNvPr id="57" name="Shape 55"/>
          <p:cNvSpPr/>
          <p:nvPr/>
        </p:nvSpPr>
        <p:spPr>
          <a:xfrm flipV="1">
            <a:off x="10698194" y="1874520"/>
            <a:ext cx="91" cy="365760"/>
          </a:xfrm>
          <a:prstGeom prst="line">
            <a:avLst/>
          </a:prstGeom>
          <a:noFill/>
          <a:ln w="9525">
            <a:solidFill>
              <a:srgbClr val="9AA3B0"/>
            </a:solidFill>
            <a:prstDash val="solid"/>
          </a:ln>
        </p:spPr>
      </p:sp>
      <p:sp>
        <p:nvSpPr>
          <p:cNvPr id="58" name="Shape 56"/>
          <p:cNvSpPr/>
          <p:nvPr/>
        </p:nvSpPr>
        <p:spPr>
          <a:xfrm>
            <a:off x="10634186" y="2176272"/>
            <a:ext cx="128016" cy="128016"/>
          </a:xfrm>
          <a:prstGeom prst="ellipse">
            <a:avLst/>
          </a:prstGeom>
          <a:solidFill>
            <a:srgbClr val="0D7877"/>
          </a:solidFill>
          <a:ln w="9525">
            <a:solidFill>
              <a:srgbClr val="0C6867"/>
            </a:solidFill>
            <a:prstDash val="solid"/>
          </a:ln>
        </p:spPr>
      </p:sp>
      <p:sp>
        <p:nvSpPr>
          <p:cNvPr id="59" name="Text 57"/>
          <p:cNvSpPr/>
          <p:nvPr/>
        </p:nvSpPr>
        <p:spPr>
          <a:xfrm>
            <a:off x="10241280" y="1371600"/>
            <a:ext cx="1417320" cy="502920"/>
          </a:xfrm>
          <a:prstGeom prst="rect">
            <a:avLst/>
          </a:prstGeom>
          <a:noFill/>
          <a:ln/>
        </p:spPr>
        <p:txBody>
          <a:bodyPr wrap="square" lIns="0" tIns="0" rIns="0" bIns="0" rtlCol="0" anchor="b"/>
          <a:lstStyle/>
          <a:p>
            <a:pPr algn="ctr" indent="0" marL="0">
              <a:buNone/>
            </a:pPr>
            <a:r>
              <a:rPr lang="en-US" sz="1000" b="1" dirty="0">
                <a:solidFill>
                  <a:srgbClr val="262B3A"/>
                </a:solidFill>
                <a:latin typeface="Calibri" pitchFamily="34" charset="0"/>
                <a:ea typeface="Calibri" pitchFamily="34" charset="-122"/>
                <a:cs typeface="Calibri" pitchFamily="34" charset="-120"/>
              </a:rPr>
              <a:t>2003</a:t>
            </a:r>
            <a:r>
              <a:rPr lang="en-US" sz="1000" dirty="0">
                <a:solidFill>
                  <a:srgbClr val="262B3A"/>
                </a:solidFill>
                <a:latin typeface="Calibri" pitchFamily="34" charset="0"/>
                <a:ea typeface="Calibri" pitchFamily="34" charset="-122"/>
                <a:cs typeface="Calibri" pitchFamily="34" charset="-120"/>
              </a:rPr>
              <a:t> human genome sequenced</a:t>
            </a:r>
            <a:endParaRPr lang="en-US" sz="1000" dirty="0"/>
          </a:p>
        </p:txBody>
      </p:sp>
      <p:sp>
        <p:nvSpPr>
          <p:cNvPr id="60" name="Shape 58"/>
          <p:cNvSpPr/>
          <p:nvPr/>
        </p:nvSpPr>
        <p:spPr>
          <a:xfrm>
            <a:off x="411480" y="3474720"/>
            <a:ext cx="3703320" cy="2240280"/>
          </a:xfrm>
          <a:prstGeom prst="roundRect">
            <a:avLst>
              <a:gd name="adj" fmla="val 2449"/>
            </a:avLst>
          </a:prstGeom>
          <a:solidFill>
            <a:srgbClr val="F4FAF9"/>
          </a:solidFill>
          <a:ln w="9525">
            <a:solidFill>
              <a:srgbClr val="CFE0DE"/>
            </a:solidFill>
            <a:prstDash val="solid"/>
          </a:ln>
        </p:spPr>
      </p:sp>
      <p:sp>
        <p:nvSpPr>
          <p:cNvPr id="61" name="Text 59"/>
          <p:cNvSpPr/>
          <p:nvPr/>
        </p:nvSpPr>
        <p:spPr>
          <a:xfrm>
            <a:off x="576072" y="3566160"/>
            <a:ext cx="337413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How explanations change</a:t>
            </a:r>
            <a:endParaRPr lang="en-US" sz="1300" dirty="0"/>
          </a:p>
        </p:txBody>
      </p:sp>
      <p:sp>
        <p:nvSpPr>
          <p:cNvPr id="62" name="Text 60"/>
          <p:cNvSpPr/>
          <p:nvPr/>
        </p:nvSpPr>
        <p:spPr>
          <a:xfrm>
            <a:off x="576072" y="3895344"/>
            <a:ext cx="3374136" cy="174650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new technology</a:t>
            </a:r>
            <a:r>
              <a:rPr lang="en-US" sz="1150" dirty="0">
                <a:solidFill>
                  <a:srgbClr val="262B3A"/>
                </a:solidFill>
                <a:latin typeface="Calibri" pitchFamily="34" charset="0"/>
                <a:ea typeface="Calibri" pitchFamily="34" charset="-122"/>
                <a:cs typeface="Calibri" pitchFamily="34" charset="-120"/>
              </a:rPr>
              <a:t> (microscope, DNA sequencing) gives </a:t>
            </a:r>
            <a:r>
              <a:rPr lang="en-US" sz="1150" b="1" dirty="0">
                <a:solidFill>
                  <a:srgbClr val="262B3A"/>
                </a:solidFill>
                <a:latin typeface="Calibri" pitchFamily="34" charset="0"/>
                <a:ea typeface="Calibri" pitchFamily="34" charset="-122"/>
                <a:cs typeface="Calibri" pitchFamily="34" charset="-120"/>
              </a:rPr>
              <a:t>new data</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Scientists suggest a </a:t>
            </a:r>
            <a:r>
              <a:rPr lang="en-US" sz="1150" b="1" dirty="0">
                <a:solidFill>
                  <a:srgbClr val="262B3A"/>
                </a:solidFill>
                <a:latin typeface="Calibri" pitchFamily="34" charset="0"/>
                <a:ea typeface="Calibri" pitchFamily="34" charset="-122"/>
                <a:cs typeface="Calibri" pitchFamily="34" charset="-120"/>
              </a:rPr>
              <a:t>new explanation</a:t>
            </a:r>
            <a:r>
              <a:rPr lang="en-US" sz="1150" dirty="0">
                <a:solidFill>
                  <a:srgbClr val="262B3A"/>
                </a:solidFill>
                <a:latin typeface="Calibri" pitchFamily="34" charset="0"/>
                <a:ea typeface="Calibri" pitchFamily="34" charset="-122"/>
                <a:cs typeface="Calibri" pitchFamily="34" charset="-120"/>
              </a:rPr>
              <a:t> (e.g. a new kingdom or domain).</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Others </a:t>
            </a:r>
            <a:r>
              <a:rPr lang="en-US" sz="1150" b="1" dirty="0">
                <a:solidFill>
                  <a:srgbClr val="262B3A"/>
                </a:solidFill>
                <a:latin typeface="Calibri" pitchFamily="34" charset="0"/>
                <a:ea typeface="Calibri" pitchFamily="34" charset="-122"/>
                <a:cs typeface="Calibri" pitchFamily="34" charset="-120"/>
              </a:rPr>
              <a:t>test</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repeat</a:t>
            </a:r>
            <a:r>
              <a:rPr lang="en-US" sz="1150" dirty="0">
                <a:solidFill>
                  <a:srgbClr val="262B3A"/>
                </a:solidFill>
                <a:latin typeface="Calibri" pitchFamily="34" charset="0"/>
                <a:ea typeface="Calibri" pitchFamily="34" charset="-122"/>
                <a:cs typeface="Calibri" pitchFamily="34" charset="-120"/>
              </a:rPr>
              <a:t> the work before it is accepted.</a:t>
            </a:r>
            <a:endParaRPr lang="en-US" sz="1150" dirty="0"/>
          </a:p>
        </p:txBody>
      </p:sp>
      <p:sp>
        <p:nvSpPr>
          <p:cNvPr id="63" name="Shape 61"/>
          <p:cNvSpPr/>
          <p:nvPr/>
        </p:nvSpPr>
        <p:spPr>
          <a:xfrm>
            <a:off x="4242816" y="3474720"/>
            <a:ext cx="3703320" cy="2240280"/>
          </a:xfrm>
          <a:prstGeom prst="roundRect">
            <a:avLst>
              <a:gd name="adj" fmla="val 2449"/>
            </a:avLst>
          </a:prstGeom>
          <a:solidFill>
            <a:srgbClr val="F4FAF9"/>
          </a:solidFill>
          <a:ln w="9525">
            <a:solidFill>
              <a:srgbClr val="CFE0DE"/>
            </a:solidFill>
            <a:prstDash val="solid"/>
          </a:ln>
        </p:spPr>
      </p:sp>
      <p:sp>
        <p:nvSpPr>
          <p:cNvPr id="64" name="Text 62"/>
          <p:cNvSpPr/>
          <p:nvPr/>
        </p:nvSpPr>
        <p:spPr>
          <a:xfrm>
            <a:off x="4407408" y="3566160"/>
            <a:ext cx="3374136" cy="292608"/>
          </a:xfrm>
          <a:prstGeom prst="rect">
            <a:avLst/>
          </a:prstGeom>
          <a:noFill/>
          <a:ln/>
        </p:spPr>
        <p:txBody>
          <a:bodyPr wrap="square" lIns="0" tIns="0" rIns="0" bIns="0" rtlCol="0" anchor="ctr"/>
          <a:lstStyle/>
          <a:p>
            <a:pPr indent="0" marL="0">
              <a:buNone/>
            </a:pPr>
            <a:r>
              <a:rPr lang="en-US" sz="1300" b="1" dirty="0">
                <a:solidFill>
                  <a:srgbClr val="133536"/>
                </a:solidFill>
                <a:latin typeface="Calibri" pitchFamily="34" charset="0"/>
                <a:ea typeface="Calibri" pitchFamily="34" charset="-122"/>
                <a:cs typeface="Calibri" pitchFamily="34" charset="-120"/>
              </a:rPr>
              <a:t>Woese: a slow start</a:t>
            </a:r>
            <a:endParaRPr lang="en-US" sz="1300" dirty="0"/>
          </a:p>
        </p:txBody>
      </p:sp>
      <p:sp>
        <p:nvSpPr>
          <p:cNvPr id="65" name="Text 63"/>
          <p:cNvSpPr/>
          <p:nvPr/>
        </p:nvSpPr>
        <p:spPr>
          <a:xfrm>
            <a:off x="4407408" y="3895344"/>
            <a:ext cx="3374136" cy="174650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In 1977 many scientists </a:t>
            </a:r>
            <a:r>
              <a:rPr lang="en-US" sz="1150" b="1" dirty="0">
                <a:solidFill>
                  <a:srgbClr val="262B3A"/>
                </a:solidFill>
                <a:latin typeface="Calibri" pitchFamily="34" charset="0"/>
                <a:ea typeface="Calibri" pitchFamily="34" charset="-122"/>
                <a:cs typeface="Calibri" pitchFamily="34" charset="-120"/>
              </a:rPr>
              <a:t>doubted</a:t>
            </a:r>
            <a:r>
              <a:rPr lang="en-US" sz="1150" dirty="0">
                <a:solidFill>
                  <a:srgbClr val="262B3A"/>
                </a:solidFill>
                <a:latin typeface="Calibri" pitchFamily="34" charset="0"/>
                <a:ea typeface="Calibri" pitchFamily="34" charset="-122"/>
                <a:cs typeface="Calibri" pitchFamily="34" charset="-120"/>
              </a:rPr>
              <a:t> the archaea: one molecule seemed too little evidence.</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His work was </a:t>
            </a:r>
            <a:r>
              <a:rPr lang="en-US" sz="1150" b="1" dirty="0">
                <a:solidFill>
                  <a:srgbClr val="262B3A"/>
                </a:solidFill>
                <a:latin typeface="Calibri" pitchFamily="34" charset="0"/>
                <a:ea typeface="Calibri" pitchFamily="34" charset="-122"/>
                <a:cs typeface="Calibri" pitchFamily="34" charset="-120"/>
              </a:rPr>
              <a:t>peer reviewed</a:t>
            </a:r>
            <a:r>
              <a:rPr lang="en-US" sz="1150" dirty="0">
                <a:solidFill>
                  <a:srgbClr val="262B3A"/>
                </a:solidFill>
                <a:latin typeface="Calibri" pitchFamily="34" charset="0"/>
                <a:ea typeface="Calibri" pitchFamily="34" charset="-122"/>
                <a:cs typeface="Calibri" pitchFamily="34" charset="-120"/>
              </a:rPr>
              <a:t> and published, so others could check it.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As </a:t>
            </a:r>
            <a:r>
              <a:rPr lang="en-US" sz="1150" b="1" dirty="0">
                <a:solidFill>
                  <a:srgbClr val="262B3A"/>
                </a:solidFill>
                <a:latin typeface="Calibri" pitchFamily="34" charset="0"/>
                <a:ea typeface="Calibri" pitchFamily="34" charset="-122"/>
                <a:cs typeface="Calibri" pitchFamily="34" charset="-120"/>
              </a:rPr>
              <a:t>more genes</a:t>
            </a:r>
            <a:r>
              <a:rPr lang="en-US" sz="1150" dirty="0">
                <a:solidFill>
                  <a:srgbClr val="262B3A"/>
                </a:solidFill>
                <a:latin typeface="Calibri" pitchFamily="34" charset="0"/>
                <a:ea typeface="Calibri" pitchFamily="34" charset="-122"/>
                <a:cs typeface="Calibri" pitchFamily="34" charset="-120"/>
              </a:rPr>
              <a:t> were sequenced and agreed, the idea was </a:t>
            </a:r>
            <a:r>
              <a:rPr lang="en-US" sz="1150" b="1" dirty="0">
                <a:solidFill>
                  <a:srgbClr val="262B3A"/>
                </a:solidFill>
                <a:latin typeface="Calibri" pitchFamily="34" charset="0"/>
                <a:ea typeface="Calibri" pitchFamily="34" charset="-122"/>
                <a:cs typeface="Calibri" pitchFamily="34" charset="-120"/>
              </a:rPr>
              <a:t>accepted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66" name="Shape 64"/>
          <p:cNvSpPr/>
          <p:nvPr/>
        </p:nvSpPr>
        <p:spPr>
          <a:xfrm>
            <a:off x="8074152" y="3474720"/>
            <a:ext cx="3703320" cy="2240280"/>
          </a:xfrm>
          <a:prstGeom prst="roundRect">
            <a:avLst>
              <a:gd name="adj" fmla="val 2449"/>
            </a:avLst>
          </a:prstGeom>
          <a:solidFill>
            <a:srgbClr val="FFF4E0"/>
          </a:solidFill>
          <a:ln w="9525">
            <a:solidFill>
              <a:srgbClr val="F1D9A8"/>
            </a:solidFill>
            <a:prstDash val="solid"/>
          </a:ln>
        </p:spPr>
      </p:sp>
      <p:sp>
        <p:nvSpPr>
          <p:cNvPr id="67" name="Text 65"/>
          <p:cNvSpPr/>
          <p:nvPr/>
        </p:nvSpPr>
        <p:spPr>
          <a:xfrm>
            <a:off x="8238744" y="3547872"/>
            <a:ext cx="3374136"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from the timeline</a:t>
            </a:r>
            <a:endParaRPr lang="en-US" sz="1300" dirty="0"/>
          </a:p>
        </p:txBody>
      </p:sp>
      <p:sp>
        <p:nvSpPr>
          <p:cNvPr id="68" name="Text 66"/>
          <p:cNvSpPr/>
          <p:nvPr/>
        </p:nvSpPr>
        <p:spPr>
          <a:xfrm>
            <a:off x="8238744" y="3858768"/>
            <a:ext cx="3374136" cy="1783080"/>
          </a:xfrm>
          <a:prstGeom prst="rect">
            <a:avLst/>
          </a:prstGeom>
          <a:noFill/>
          <a:ln/>
        </p:spPr>
        <p:txBody>
          <a:bodyPr wrap="square" lIns="0" tIns="0" rIns="0" bIns="0" rtlCol="0" anchor="t"/>
          <a:lstStyle/>
          <a:p>
            <a:pPr indent="0" marL="0">
              <a:buNone/>
            </a:pPr>
            <a:r>
              <a:rPr lang="en-US" sz="1100" i="1" dirty="0">
                <a:solidFill>
                  <a:srgbClr val="262B3A"/>
                </a:solidFill>
                <a:latin typeface="Calibri" pitchFamily="34" charset="0"/>
                <a:ea typeface="Calibri" pitchFamily="34" charset="-122"/>
                <a:cs typeface="Calibri" pitchFamily="34" charset="-120"/>
              </a:rPr>
              <a:t>How long from Systema Naturae to the three domains?</a:t>
            </a:r>
            <a:endParaRPr lang="en-US" sz="1100" dirty="0"/>
          </a:p>
          <a:p>
            <a:pPr indent="0" marL="0">
              <a:spcBef>
                <a:spcPts val="200"/>
              </a:spcBef>
              <a:buNone/>
            </a:pPr>
            <a:r>
              <a:rPr lang="en-US" sz="1100" b="1" dirty="0">
                <a:solidFill>
                  <a:srgbClr val="0D7877"/>
                </a:solidFill>
                <a:latin typeface="Calibri" pitchFamily="34" charset="0"/>
                <a:ea typeface="Calibri" pitchFamily="34" charset="-122"/>
                <a:cs typeface="Calibri" pitchFamily="34" charset="-120"/>
              </a:rPr>
              <a:t>1 Subtract   </a:t>
            </a:r>
            <a:r>
              <a:rPr lang="en-US" sz="1100" dirty="0">
                <a:solidFill>
                  <a:srgbClr val="262B3A"/>
                </a:solidFill>
                <a:latin typeface="Calibri" pitchFamily="34" charset="0"/>
                <a:ea typeface="Calibri" pitchFamily="34" charset="-122"/>
                <a:cs typeface="Calibri" pitchFamily="34" charset="-120"/>
              </a:rPr>
              <a:t>1990 − 1735</a:t>
            </a:r>
            <a:endParaRPr lang="en-US" sz="1100" dirty="0"/>
          </a:p>
          <a:p>
            <a:pPr indent="0" marL="0">
              <a:spcBef>
                <a:spcPts val="200"/>
              </a:spcBef>
              <a:buNone/>
            </a:pPr>
            <a:r>
              <a:rPr lang="en-US" sz="1100" b="1" dirty="0">
                <a:solidFill>
                  <a:srgbClr val="0D7877"/>
                </a:solidFill>
                <a:latin typeface="Calibri" pitchFamily="34" charset="0"/>
                <a:ea typeface="Calibri" pitchFamily="34" charset="-122"/>
                <a:cs typeface="Calibri" pitchFamily="34" charset="-120"/>
              </a:rPr>
              <a:t>2 Answer   </a:t>
            </a:r>
            <a:r>
              <a:rPr lang="en-US" sz="1100" b="1" dirty="0">
                <a:solidFill>
                  <a:srgbClr val="C8414C"/>
                </a:solidFill>
                <a:latin typeface="Calibri" pitchFamily="34" charset="0"/>
                <a:ea typeface="Calibri" pitchFamily="34" charset="-122"/>
                <a:cs typeface="Calibri" pitchFamily="34" charset="-120"/>
              </a:rPr>
              <a:t>255 years</a:t>
            </a:r>
            <a:r>
              <a:rPr lang="en-US" sz="1100" b="1" dirty="0">
                <a:solidFill>
                  <a:srgbClr val="C8414C"/>
                </a:solidFill>
                <a:latin typeface="Calibri" pitchFamily="34" charset="0"/>
                <a:ea typeface="Calibri" pitchFamily="34" charset="-122"/>
                <a:cs typeface="Calibri" pitchFamily="34" charset="-120"/>
              </a:rPr>
              <a:t>; and only </a:t>
            </a:r>
            <a:r>
              <a:rPr lang="en-US" sz="1100" b="1" dirty="0">
                <a:solidFill>
                  <a:srgbClr val="C8414C"/>
                </a:solidFill>
                <a:latin typeface="Calibri" pitchFamily="34" charset="0"/>
                <a:ea typeface="Calibri" pitchFamily="34" charset="-122"/>
                <a:cs typeface="Calibri" pitchFamily="34" charset="-120"/>
              </a:rPr>
              <a:t>21</a:t>
            </a:r>
            <a:r>
              <a:rPr lang="en-US" sz="1100" b="1" dirty="0">
                <a:solidFill>
                  <a:srgbClr val="C8414C"/>
                </a:solidFill>
                <a:latin typeface="Calibri" pitchFamily="34" charset="0"/>
                <a:ea typeface="Calibri" pitchFamily="34" charset="-122"/>
                <a:cs typeface="Calibri" pitchFamily="34" charset="-120"/>
              </a:rPr>
              <a:t> years from 5 kingdoms (1969) to 3 domains</a:t>
            </a:r>
            <a:endParaRPr lang="en-US" sz="1100" dirty="0"/>
          </a:p>
        </p:txBody>
      </p:sp>
      <p:sp>
        <p:nvSpPr>
          <p:cNvPr id="69" name="Shape 67"/>
          <p:cNvSpPr/>
          <p:nvPr/>
        </p:nvSpPr>
        <p:spPr>
          <a:xfrm>
            <a:off x="411480" y="5833872"/>
            <a:ext cx="11368735" cy="530352"/>
          </a:xfrm>
          <a:prstGeom prst="rect">
            <a:avLst/>
          </a:prstGeom>
          <a:solidFill>
            <a:srgbClr val="FFF4E0"/>
          </a:solidFill>
          <a:ln w="6350">
            <a:solidFill>
              <a:srgbClr val="F1D9A8"/>
            </a:solidFill>
            <a:prstDash val="solid"/>
          </a:ln>
        </p:spPr>
      </p:sp>
      <p:sp>
        <p:nvSpPr>
          <p:cNvPr id="70" name="Shape 68"/>
          <p:cNvSpPr/>
          <p:nvPr/>
        </p:nvSpPr>
        <p:spPr>
          <a:xfrm>
            <a:off x="411480" y="5833872"/>
            <a:ext cx="82296" cy="530352"/>
          </a:xfrm>
          <a:prstGeom prst="rect">
            <a:avLst/>
          </a:prstGeom>
          <a:solidFill>
            <a:srgbClr val="E39A2F"/>
          </a:solidFill>
          <a:ln w="12700">
            <a:solidFill>
              <a:srgbClr val="E39A2F"/>
            </a:solidFill>
            <a:prstDash val="solid"/>
          </a:ln>
        </p:spPr>
      </p:sp>
      <p:sp>
        <p:nvSpPr>
          <p:cNvPr id="71" name="Text 6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many years passed between the first electron microscope and Woese finding the archaea? Why should classifications be seen as </a:t>
            </a:r>
            <a:r>
              <a:rPr lang="en-US" sz="1150" b="1" dirty="0">
                <a:solidFill>
                  <a:srgbClr val="262B3A"/>
                </a:solidFill>
                <a:latin typeface="Calibri" pitchFamily="34" charset="0"/>
                <a:ea typeface="Calibri" pitchFamily="34" charset="-122"/>
                <a:cs typeface="Calibri" pitchFamily="34" charset="-120"/>
              </a:rPr>
              <a:t>tentative</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reclassification and Ideas about Science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19</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CFE0DE"/>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Hippos used to be grouped with pigs. Suggest what </a:t>
            </a:r>
            <a:r>
              <a:rPr lang="en-US" sz="1250" b="1" dirty="0">
                <a:solidFill>
                  <a:srgbClr val="262B3A"/>
                </a:solidFill>
                <a:latin typeface="Calibri" pitchFamily="34" charset="0"/>
                <a:ea typeface="Calibri" pitchFamily="34" charset="-122"/>
                <a:cs typeface="Calibri" pitchFamily="34" charset="-120"/>
              </a:rPr>
              <a:t>DNA evidence</a:t>
            </a:r>
            <a:r>
              <a:rPr lang="en-US" sz="1250" dirty="0">
                <a:solidFill>
                  <a:srgbClr val="262B3A"/>
                </a:solidFill>
                <a:latin typeface="Calibri" pitchFamily="34" charset="0"/>
                <a:ea typeface="Calibri" pitchFamily="34" charset="-122"/>
                <a:cs typeface="Calibri" pitchFamily="34" charset="-120"/>
              </a:rPr>
              <a:t> showed and how it changed their classification.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CFE0DE"/>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classification systems </a:t>
            </a:r>
            <a:r>
              <a:rPr lang="en-US" sz="1250" b="1" dirty="0">
                <a:solidFill>
                  <a:srgbClr val="262B3A"/>
                </a:solidFill>
                <a:latin typeface="Calibri" pitchFamily="34" charset="0"/>
                <a:ea typeface="Calibri" pitchFamily="34" charset="-122"/>
                <a:cs typeface="Calibri" pitchFamily="34" charset="-120"/>
              </a:rPr>
              <a:t>change</a:t>
            </a:r>
            <a:r>
              <a:rPr lang="en-US" sz="1250" dirty="0">
                <a:solidFill>
                  <a:srgbClr val="262B3A"/>
                </a:solidFill>
                <a:latin typeface="Calibri" pitchFamily="34" charset="0"/>
                <a:ea typeface="Calibri" pitchFamily="34" charset="-122"/>
                <a:cs typeface="Calibri" pitchFamily="34" charset="-120"/>
              </a:rPr>
              <a:t> over time.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CFE0DE"/>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Woese </a:t>
            </a:r>
            <a:r>
              <a:rPr lang="en-US" sz="1250" b="1" dirty="0">
                <a:solidFill>
                  <a:srgbClr val="262B3A"/>
                </a:solidFill>
                <a:latin typeface="Calibri" pitchFamily="34" charset="0"/>
                <a:ea typeface="Calibri" pitchFamily="34" charset="-122"/>
                <a:cs typeface="Calibri" pitchFamily="34" charset="-120"/>
              </a:rPr>
              <a:t>published</a:t>
            </a:r>
            <a:r>
              <a:rPr lang="en-US" sz="1250" dirty="0">
                <a:solidFill>
                  <a:srgbClr val="262B3A"/>
                </a:solidFill>
                <a:latin typeface="Calibri" pitchFamily="34" charset="0"/>
                <a:ea typeface="Calibri" pitchFamily="34" charset="-122"/>
                <a:cs typeface="Calibri" pitchFamily="34" charset="-120"/>
              </a:rPr>
              <a:t> his results in a scientific journal. Explain why this helped his idea to be accepted.</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CFE0DE"/>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About </a:t>
            </a:r>
            <a:r>
              <a:rPr lang="en-US" sz="1250" b="1" dirty="0">
                <a:solidFill>
                  <a:srgbClr val="262B3A"/>
                </a:solidFill>
                <a:latin typeface="Calibri" pitchFamily="34" charset="0"/>
                <a:ea typeface="Calibri" pitchFamily="34" charset="-122"/>
                <a:cs typeface="Calibri" pitchFamily="34" charset="-120"/>
              </a:rPr>
              <a:t>8.7 million</a:t>
            </a:r>
            <a:r>
              <a:rPr lang="en-US" sz="1250" dirty="0">
                <a:solidFill>
                  <a:srgbClr val="262B3A"/>
                </a:solidFill>
                <a:latin typeface="Calibri" pitchFamily="34" charset="0"/>
                <a:ea typeface="Calibri" pitchFamily="34" charset="-122"/>
                <a:cs typeface="Calibri" pitchFamily="34" charset="-120"/>
              </a:rPr>
              <a:t> eukaryote species exist; about </a:t>
            </a:r>
            <a:r>
              <a:rPr lang="en-US" sz="1250" b="1" dirty="0">
                <a:solidFill>
                  <a:srgbClr val="262B3A"/>
                </a:solidFill>
                <a:latin typeface="Calibri" pitchFamily="34" charset="0"/>
                <a:ea typeface="Calibri" pitchFamily="34" charset="-122"/>
                <a:cs typeface="Calibri" pitchFamily="34" charset="-120"/>
              </a:rPr>
              <a:t>1.2 million</a:t>
            </a:r>
            <a:r>
              <a:rPr lang="en-US" sz="1250" dirty="0">
                <a:solidFill>
                  <a:srgbClr val="262B3A"/>
                </a:solidFill>
                <a:latin typeface="Calibri" pitchFamily="34" charset="0"/>
                <a:ea typeface="Calibri" pitchFamily="34" charset="-122"/>
                <a:cs typeface="Calibri" pitchFamily="34" charset="-120"/>
              </a:rPr>
              <a:t> are named. Calculate the percentage </a:t>
            </a:r>
            <a:r>
              <a:rPr lang="en-US" sz="1250" b="1" dirty="0">
                <a:solidFill>
                  <a:srgbClr val="262B3A"/>
                </a:solidFill>
                <a:latin typeface="Calibri" pitchFamily="34" charset="0"/>
                <a:ea typeface="Calibri" pitchFamily="34" charset="-122"/>
                <a:cs typeface="Calibri" pitchFamily="34" charset="-120"/>
              </a:rPr>
              <a:t>not yet named</a:t>
            </a:r>
            <a:r>
              <a:rPr lang="en-US" sz="1250" dirty="0">
                <a:solidFill>
                  <a:srgbClr val="262B3A"/>
                </a:solidFill>
                <a:latin typeface="Calibri" pitchFamily="34" charset="0"/>
                <a:ea typeface="Calibri" pitchFamily="34" charset="-122"/>
                <a:cs typeface="Calibri" pitchFamily="34" charset="-120"/>
              </a:rPr>
              <a:t> (3 s.f.).</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B6.2 How does our understanding of biology help us classify the diversity of organisms on Earth?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20</a:t>
            </a:r>
            <a:endParaRPr lang="en-US" sz="1000" dirty="0"/>
          </a:p>
        </p:txBody>
      </p:sp>
      <p:sp>
        <p:nvSpPr>
          <p:cNvPr id="8" name="Shape 6"/>
          <p:cNvSpPr/>
          <p:nvPr/>
        </p:nvSpPr>
        <p:spPr>
          <a:xfrm>
            <a:off x="411480" y="1188720"/>
            <a:ext cx="2739314" cy="1143000"/>
          </a:xfrm>
          <a:prstGeom prst="rect">
            <a:avLst/>
          </a:prstGeom>
          <a:solidFill>
            <a:srgbClr val="F4FAF9"/>
          </a:solidFill>
          <a:ln w="9525">
            <a:solidFill>
              <a:srgbClr val="CFE0DE"/>
            </a:solidFill>
            <a:prstDash val="solid"/>
          </a:ln>
        </p:spPr>
      </p:sp>
      <p:sp>
        <p:nvSpPr>
          <p:cNvPr id="9" name="Shape 7"/>
          <p:cNvSpPr/>
          <p:nvPr/>
        </p:nvSpPr>
        <p:spPr>
          <a:xfrm>
            <a:off x="411480" y="1188720"/>
            <a:ext cx="73152" cy="1143000"/>
          </a:xfrm>
          <a:prstGeom prst="rect">
            <a:avLst/>
          </a:prstGeom>
          <a:solidFill>
            <a:srgbClr val="0D7877"/>
          </a:solidFill>
          <a:ln w="12700">
            <a:solidFill>
              <a:srgbClr val="0D7877"/>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Classification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Sorting organisms into groups by their similarities and differences.</a:t>
            </a:r>
            <a:endParaRPr lang="en-US" sz="1200" dirty="0"/>
          </a:p>
        </p:txBody>
      </p:sp>
      <p:sp>
        <p:nvSpPr>
          <p:cNvPr id="11" name="Shape 9"/>
          <p:cNvSpPr/>
          <p:nvPr/>
        </p:nvSpPr>
        <p:spPr>
          <a:xfrm>
            <a:off x="3287954" y="1188720"/>
            <a:ext cx="2739314" cy="1143000"/>
          </a:xfrm>
          <a:prstGeom prst="rect">
            <a:avLst/>
          </a:prstGeom>
          <a:solidFill>
            <a:srgbClr val="F4FAF9"/>
          </a:solidFill>
          <a:ln w="9525">
            <a:solidFill>
              <a:srgbClr val="CFE0DE"/>
            </a:solidFill>
            <a:prstDash val="solid"/>
          </a:ln>
        </p:spPr>
      </p:sp>
      <p:sp>
        <p:nvSpPr>
          <p:cNvPr id="12" name="Shape 10"/>
          <p:cNvSpPr/>
          <p:nvPr/>
        </p:nvSpPr>
        <p:spPr>
          <a:xfrm>
            <a:off x="3287954" y="1188720"/>
            <a:ext cx="73152" cy="1143000"/>
          </a:xfrm>
          <a:prstGeom prst="rect">
            <a:avLst/>
          </a:prstGeom>
          <a:solidFill>
            <a:srgbClr val="0D7877"/>
          </a:solidFill>
          <a:ln w="12700">
            <a:solidFill>
              <a:srgbClr val="0D7877"/>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Artificial classification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Grouping by one or a few observable features, e.g. can fly.</a:t>
            </a:r>
            <a:endParaRPr lang="en-US" sz="1200" dirty="0"/>
          </a:p>
        </p:txBody>
      </p:sp>
      <p:sp>
        <p:nvSpPr>
          <p:cNvPr id="14" name="Shape 12"/>
          <p:cNvSpPr/>
          <p:nvPr/>
        </p:nvSpPr>
        <p:spPr>
          <a:xfrm>
            <a:off x="6164428" y="1188720"/>
            <a:ext cx="2739314" cy="1143000"/>
          </a:xfrm>
          <a:prstGeom prst="rect">
            <a:avLst/>
          </a:prstGeom>
          <a:solidFill>
            <a:srgbClr val="F4FAF9"/>
          </a:solidFill>
          <a:ln w="9525">
            <a:solidFill>
              <a:srgbClr val="CFE0DE"/>
            </a:solidFill>
            <a:prstDash val="solid"/>
          </a:ln>
        </p:spPr>
      </p:sp>
      <p:sp>
        <p:nvSpPr>
          <p:cNvPr id="15" name="Shape 13"/>
          <p:cNvSpPr/>
          <p:nvPr/>
        </p:nvSpPr>
        <p:spPr>
          <a:xfrm>
            <a:off x="6164428" y="1188720"/>
            <a:ext cx="73152" cy="1143000"/>
          </a:xfrm>
          <a:prstGeom prst="rect">
            <a:avLst/>
          </a:prstGeom>
          <a:solidFill>
            <a:srgbClr val="0D7877"/>
          </a:solidFill>
          <a:ln w="12700">
            <a:solidFill>
              <a:srgbClr val="0D7877"/>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Natural classification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Grouping by evolutionary relationships (common ancestors).</a:t>
            </a:r>
            <a:endParaRPr lang="en-US" sz="1200" dirty="0"/>
          </a:p>
        </p:txBody>
      </p:sp>
      <p:sp>
        <p:nvSpPr>
          <p:cNvPr id="17" name="Shape 15"/>
          <p:cNvSpPr/>
          <p:nvPr/>
        </p:nvSpPr>
        <p:spPr>
          <a:xfrm>
            <a:off x="9040901" y="1188720"/>
            <a:ext cx="2739314" cy="1143000"/>
          </a:xfrm>
          <a:prstGeom prst="rect">
            <a:avLst/>
          </a:prstGeom>
          <a:solidFill>
            <a:srgbClr val="F4FAF9"/>
          </a:solidFill>
          <a:ln w="9525">
            <a:solidFill>
              <a:srgbClr val="CFE0DE"/>
            </a:solidFill>
            <a:prstDash val="solid"/>
          </a:ln>
        </p:spPr>
      </p:sp>
      <p:sp>
        <p:nvSpPr>
          <p:cNvPr id="18" name="Shape 16"/>
          <p:cNvSpPr/>
          <p:nvPr/>
        </p:nvSpPr>
        <p:spPr>
          <a:xfrm>
            <a:off x="9040901" y="1188720"/>
            <a:ext cx="73152" cy="1143000"/>
          </a:xfrm>
          <a:prstGeom prst="rect">
            <a:avLst/>
          </a:prstGeom>
          <a:solidFill>
            <a:srgbClr val="0D7877"/>
          </a:solidFill>
          <a:ln w="12700">
            <a:solidFill>
              <a:srgbClr val="0D7877"/>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Species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Organisms that can breed to produce fertile offspring.</a:t>
            </a:r>
            <a:endParaRPr lang="en-US" sz="1200" dirty="0"/>
          </a:p>
        </p:txBody>
      </p:sp>
      <p:sp>
        <p:nvSpPr>
          <p:cNvPr id="20" name="Shape 18"/>
          <p:cNvSpPr/>
          <p:nvPr/>
        </p:nvSpPr>
        <p:spPr>
          <a:xfrm>
            <a:off x="411480" y="2441448"/>
            <a:ext cx="2739314" cy="1143000"/>
          </a:xfrm>
          <a:prstGeom prst="rect">
            <a:avLst/>
          </a:prstGeom>
          <a:solidFill>
            <a:srgbClr val="F4FAF9"/>
          </a:solidFill>
          <a:ln w="9525">
            <a:solidFill>
              <a:srgbClr val="CFE0DE"/>
            </a:solidFill>
            <a:prstDash val="solid"/>
          </a:ln>
        </p:spPr>
      </p:sp>
      <p:sp>
        <p:nvSpPr>
          <p:cNvPr id="21" name="Shape 19"/>
          <p:cNvSpPr/>
          <p:nvPr/>
        </p:nvSpPr>
        <p:spPr>
          <a:xfrm>
            <a:off x="411480" y="2441448"/>
            <a:ext cx="73152" cy="1143000"/>
          </a:xfrm>
          <a:prstGeom prst="rect">
            <a:avLst/>
          </a:prstGeom>
          <a:solidFill>
            <a:srgbClr val="0D7877"/>
          </a:solidFill>
          <a:ln w="12700">
            <a:solidFill>
              <a:srgbClr val="0D7877"/>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Binomial name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Two-part Latin name: Genus species, e.g. Homo sapiens.</a:t>
            </a:r>
            <a:endParaRPr lang="en-US" sz="1200" dirty="0"/>
          </a:p>
        </p:txBody>
      </p:sp>
      <p:sp>
        <p:nvSpPr>
          <p:cNvPr id="23" name="Shape 21"/>
          <p:cNvSpPr/>
          <p:nvPr/>
        </p:nvSpPr>
        <p:spPr>
          <a:xfrm>
            <a:off x="3287954" y="2441448"/>
            <a:ext cx="2739314" cy="1143000"/>
          </a:xfrm>
          <a:prstGeom prst="rect">
            <a:avLst/>
          </a:prstGeom>
          <a:solidFill>
            <a:srgbClr val="F4FAF9"/>
          </a:solidFill>
          <a:ln w="9525">
            <a:solidFill>
              <a:srgbClr val="CFE0DE"/>
            </a:solidFill>
            <a:prstDash val="solid"/>
          </a:ln>
        </p:spPr>
      </p:sp>
      <p:sp>
        <p:nvSpPr>
          <p:cNvPr id="24" name="Shape 22"/>
          <p:cNvSpPr/>
          <p:nvPr/>
        </p:nvSpPr>
        <p:spPr>
          <a:xfrm>
            <a:off x="3287954" y="2441448"/>
            <a:ext cx="73152" cy="1143000"/>
          </a:xfrm>
          <a:prstGeom prst="rect">
            <a:avLst/>
          </a:prstGeom>
          <a:solidFill>
            <a:srgbClr val="0D7877"/>
          </a:solidFill>
          <a:ln w="12700">
            <a:solidFill>
              <a:srgbClr val="0D7877"/>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Genus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Group of closely related species; first part of the binomial name.</a:t>
            </a:r>
            <a:endParaRPr lang="en-US" sz="1200" dirty="0"/>
          </a:p>
        </p:txBody>
      </p:sp>
      <p:sp>
        <p:nvSpPr>
          <p:cNvPr id="26" name="Shape 24"/>
          <p:cNvSpPr/>
          <p:nvPr/>
        </p:nvSpPr>
        <p:spPr>
          <a:xfrm>
            <a:off x="6164428" y="2441448"/>
            <a:ext cx="2739314" cy="1143000"/>
          </a:xfrm>
          <a:prstGeom prst="rect">
            <a:avLst/>
          </a:prstGeom>
          <a:solidFill>
            <a:srgbClr val="F4FAF9"/>
          </a:solidFill>
          <a:ln w="9525">
            <a:solidFill>
              <a:srgbClr val="CFE0DE"/>
            </a:solidFill>
            <a:prstDash val="solid"/>
          </a:ln>
        </p:spPr>
      </p:sp>
      <p:sp>
        <p:nvSpPr>
          <p:cNvPr id="27" name="Shape 25"/>
          <p:cNvSpPr/>
          <p:nvPr/>
        </p:nvSpPr>
        <p:spPr>
          <a:xfrm>
            <a:off x="6164428" y="2441448"/>
            <a:ext cx="73152" cy="1143000"/>
          </a:xfrm>
          <a:prstGeom prst="rect">
            <a:avLst/>
          </a:prstGeom>
          <a:solidFill>
            <a:srgbClr val="0D7877"/>
          </a:solidFill>
          <a:ln w="12700">
            <a:solidFill>
              <a:srgbClr val="0D7877"/>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Linnaean hierarchy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Kingdom, phylum, class, order, family, genus, species.</a:t>
            </a:r>
            <a:endParaRPr lang="en-US" sz="1200" dirty="0"/>
          </a:p>
        </p:txBody>
      </p:sp>
      <p:sp>
        <p:nvSpPr>
          <p:cNvPr id="29" name="Shape 27"/>
          <p:cNvSpPr/>
          <p:nvPr/>
        </p:nvSpPr>
        <p:spPr>
          <a:xfrm>
            <a:off x="9040901" y="2441448"/>
            <a:ext cx="2739314" cy="1143000"/>
          </a:xfrm>
          <a:prstGeom prst="rect">
            <a:avLst/>
          </a:prstGeom>
          <a:solidFill>
            <a:srgbClr val="F4FAF9"/>
          </a:solidFill>
          <a:ln w="9525">
            <a:solidFill>
              <a:srgbClr val="CFE0DE"/>
            </a:solidFill>
            <a:prstDash val="solid"/>
          </a:ln>
        </p:spPr>
      </p:sp>
      <p:sp>
        <p:nvSpPr>
          <p:cNvPr id="30" name="Shape 28"/>
          <p:cNvSpPr/>
          <p:nvPr/>
        </p:nvSpPr>
        <p:spPr>
          <a:xfrm>
            <a:off x="9040901" y="2441448"/>
            <a:ext cx="73152" cy="1143000"/>
          </a:xfrm>
          <a:prstGeom prst="rect">
            <a:avLst/>
          </a:prstGeom>
          <a:solidFill>
            <a:srgbClr val="0D7877"/>
          </a:solidFill>
          <a:ln w="12700">
            <a:solidFill>
              <a:srgbClr val="0D7877"/>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Domain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Highest level: Bacteria, Archaea or Eukarya (Woese, 1990).</a:t>
            </a:r>
            <a:endParaRPr lang="en-US" sz="1200" dirty="0"/>
          </a:p>
        </p:txBody>
      </p:sp>
      <p:sp>
        <p:nvSpPr>
          <p:cNvPr id="32" name="Shape 30"/>
          <p:cNvSpPr/>
          <p:nvPr/>
        </p:nvSpPr>
        <p:spPr>
          <a:xfrm>
            <a:off x="411480" y="3694176"/>
            <a:ext cx="2739314" cy="1143000"/>
          </a:xfrm>
          <a:prstGeom prst="rect">
            <a:avLst/>
          </a:prstGeom>
          <a:solidFill>
            <a:srgbClr val="F4FAF9"/>
          </a:solidFill>
          <a:ln w="9525">
            <a:solidFill>
              <a:srgbClr val="CFE0DE"/>
            </a:solidFill>
            <a:prstDash val="solid"/>
          </a:ln>
        </p:spPr>
      </p:sp>
      <p:sp>
        <p:nvSpPr>
          <p:cNvPr id="33" name="Shape 31"/>
          <p:cNvSpPr/>
          <p:nvPr/>
        </p:nvSpPr>
        <p:spPr>
          <a:xfrm>
            <a:off x="411480" y="3694176"/>
            <a:ext cx="73152" cy="1143000"/>
          </a:xfrm>
          <a:prstGeom prst="rect">
            <a:avLst/>
          </a:prstGeom>
          <a:solidFill>
            <a:srgbClr val="0D7877"/>
          </a:solidFill>
          <a:ln w="12700">
            <a:solidFill>
              <a:srgbClr val="0D7877"/>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Kingdom</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Large group, e.g. plants, animals, fungi, protists, prokaryotes.</a:t>
            </a:r>
            <a:endParaRPr lang="en-US" sz="1200" dirty="0"/>
          </a:p>
        </p:txBody>
      </p:sp>
      <p:sp>
        <p:nvSpPr>
          <p:cNvPr id="35" name="Shape 33"/>
          <p:cNvSpPr/>
          <p:nvPr/>
        </p:nvSpPr>
        <p:spPr>
          <a:xfrm>
            <a:off x="3287954" y="3694176"/>
            <a:ext cx="2739314" cy="1143000"/>
          </a:xfrm>
          <a:prstGeom prst="rect">
            <a:avLst/>
          </a:prstGeom>
          <a:solidFill>
            <a:srgbClr val="F4FAF9"/>
          </a:solidFill>
          <a:ln w="9525">
            <a:solidFill>
              <a:srgbClr val="CFE0DE"/>
            </a:solidFill>
            <a:prstDash val="solid"/>
          </a:ln>
        </p:spPr>
      </p:sp>
      <p:sp>
        <p:nvSpPr>
          <p:cNvPr id="36" name="Shape 34"/>
          <p:cNvSpPr/>
          <p:nvPr/>
        </p:nvSpPr>
        <p:spPr>
          <a:xfrm>
            <a:off x="3287954" y="3694176"/>
            <a:ext cx="73152" cy="1143000"/>
          </a:xfrm>
          <a:prstGeom prst="rect">
            <a:avLst/>
          </a:prstGeom>
          <a:solidFill>
            <a:srgbClr val="0D7877"/>
          </a:solidFill>
          <a:ln w="12700">
            <a:solidFill>
              <a:srgbClr val="0D7877"/>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Prokaryote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Single-celled organism with no nucleus (bacteria, archaea).</a:t>
            </a:r>
            <a:endParaRPr lang="en-US" sz="1200" dirty="0"/>
          </a:p>
        </p:txBody>
      </p:sp>
      <p:sp>
        <p:nvSpPr>
          <p:cNvPr id="38" name="Shape 36"/>
          <p:cNvSpPr/>
          <p:nvPr/>
        </p:nvSpPr>
        <p:spPr>
          <a:xfrm>
            <a:off x="6164428" y="3694176"/>
            <a:ext cx="2739314" cy="1143000"/>
          </a:xfrm>
          <a:prstGeom prst="rect">
            <a:avLst/>
          </a:prstGeom>
          <a:solidFill>
            <a:srgbClr val="F4FAF9"/>
          </a:solidFill>
          <a:ln w="9525">
            <a:solidFill>
              <a:srgbClr val="CFE0DE"/>
            </a:solidFill>
            <a:prstDash val="solid"/>
          </a:ln>
        </p:spPr>
      </p:sp>
      <p:sp>
        <p:nvSpPr>
          <p:cNvPr id="39" name="Shape 37"/>
          <p:cNvSpPr/>
          <p:nvPr/>
        </p:nvSpPr>
        <p:spPr>
          <a:xfrm>
            <a:off x="6164428" y="3694176"/>
            <a:ext cx="73152" cy="1143000"/>
          </a:xfrm>
          <a:prstGeom prst="rect">
            <a:avLst/>
          </a:prstGeom>
          <a:solidFill>
            <a:srgbClr val="0D7877"/>
          </a:solidFill>
          <a:ln w="12700">
            <a:solidFill>
              <a:srgbClr val="0D7877"/>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Eukaryote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Organism whose cells have a nucleus.</a:t>
            </a:r>
            <a:endParaRPr lang="en-US" sz="1200" dirty="0"/>
          </a:p>
        </p:txBody>
      </p:sp>
      <p:sp>
        <p:nvSpPr>
          <p:cNvPr id="41" name="Shape 39"/>
          <p:cNvSpPr/>
          <p:nvPr/>
        </p:nvSpPr>
        <p:spPr>
          <a:xfrm>
            <a:off x="9040901" y="3694176"/>
            <a:ext cx="2739314" cy="1143000"/>
          </a:xfrm>
          <a:prstGeom prst="rect">
            <a:avLst/>
          </a:prstGeom>
          <a:solidFill>
            <a:srgbClr val="F4FAF9"/>
          </a:solidFill>
          <a:ln w="9525">
            <a:solidFill>
              <a:srgbClr val="CFE0DE"/>
            </a:solidFill>
            <a:prstDash val="solid"/>
          </a:ln>
        </p:spPr>
      </p:sp>
      <p:sp>
        <p:nvSpPr>
          <p:cNvPr id="42" name="Shape 40"/>
          <p:cNvSpPr/>
          <p:nvPr/>
        </p:nvSpPr>
        <p:spPr>
          <a:xfrm>
            <a:off x="9040901" y="3694176"/>
            <a:ext cx="73152" cy="1143000"/>
          </a:xfrm>
          <a:prstGeom prst="rect">
            <a:avLst/>
          </a:prstGeom>
          <a:solidFill>
            <a:srgbClr val="0D7877"/>
          </a:solidFill>
          <a:ln w="12700">
            <a:solidFill>
              <a:srgbClr val="0D7877"/>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Archaea</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Prokaryotes whose RNA and DNA differ greatly from bacteria.</a:t>
            </a:r>
            <a:endParaRPr lang="en-US" sz="1200" dirty="0"/>
          </a:p>
        </p:txBody>
      </p:sp>
      <p:sp>
        <p:nvSpPr>
          <p:cNvPr id="44" name="Shape 42"/>
          <p:cNvSpPr/>
          <p:nvPr/>
        </p:nvSpPr>
        <p:spPr>
          <a:xfrm>
            <a:off x="411480" y="4946904"/>
            <a:ext cx="2739314" cy="1143000"/>
          </a:xfrm>
          <a:prstGeom prst="rect">
            <a:avLst/>
          </a:prstGeom>
          <a:solidFill>
            <a:srgbClr val="F4FAF9"/>
          </a:solidFill>
          <a:ln w="9525">
            <a:solidFill>
              <a:srgbClr val="CFE0DE"/>
            </a:solidFill>
            <a:prstDash val="solid"/>
          </a:ln>
        </p:spPr>
      </p:sp>
      <p:sp>
        <p:nvSpPr>
          <p:cNvPr id="45" name="Shape 43"/>
          <p:cNvSpPr/>
          <p:nvPr/>
        </p:nvSpPr>
        <p:spPr>
          <a:xfrm>
            <a:off x="411480" y="4946904"/>
            <a:ext cx="73152" cy="1143000"/>
          </a:xfrm>
          <a:prstGeom prst="rect">
            <a:avLst/>
          </a:prstGeom>
          <a:solidFill>
            <a:srgbClr val="0D7877"/>
          </a:solidFill>
          <a:ln w="12700">
            <a:solidFill>
              <a:srgbClr val="0D7877"/>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DNA sequencing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Finding the order of bases (A, T, C, G) in DNA.</a:t>
            </a:r>
            <a:endParaRPr lang="en-US" sz="1200" dirty="0"/>
          </a:p>
        </p:txBody>
      </p:sp>
      <p:sp>
        <p:nvSpPr>
          <p:cNvPr id="47" name="Shape 45"/>
          <p:cNvSpPr/>
          <p:nvPr/>
        </p:nvSpPr>
        <p:spPr>
          <a:xfrm>
            <a:off x="3287954" y="4946904"/>
            <a:ext cx="2739314" cy="1143000"/>
          </a:xfrm>
          <a:prstGeom prst="rect">
            <a:avLst/>
          </a:prstGeom>
          <a:solidFill>
            <a:srgbClr val="F4FAF9"/>
          </a:solidFill>
          <a:ln w="9525">
            <a:solidFill>
              <a:srgbClr val="CFE0DE"/>
            </a:solidFill>
            <a:prstDash val="solid"/>
          </a:ln>
        </p:spPr>
      </p:sp>
      <p:sp>
        <p:nvSpPr>
          <p:cNvPr id="48" name="Shape 46"/>
          <p:cNvSpPr/>
          <p:nvPr/>
        </p:nvSpPr>
        <p:spPr>
          <a:xfrm>
            <a:off x="3287954" y="4946904"/>
            <a:ext cx="73152" cy="1143000"/>
          </a:xfrm>
          <a:prstGeom prst="rect">
            <a:avLst/>
          </a:prstGeom>
          <a:solidFill>
            <a:srgbClr val="0D7877"/>
          </a:solidFill>
          <a:ln w="12700">
            <a:solidFill>
              <a:srgbClr val="0D7877"/>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Evolutionary tree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Diagram of how species are related through common ancestors.</a:t>
            </a:r>
            <a:endParaRPr lang="en-US" sz="1200" dirty="0"/>
          </a:p>
        </p:txBody>
      </p:sp>
      <p:sp>
        <p:nvSpPr>
          <p:cNvPr id="50" name="Shape 48"/>
          <p:cNvSpPr/>
          <p:nvPr/>
        </p:nvSpPr>
        <p:spPr>
          <a:xfrm>
            <a:off x="6164428" y="4946904"/>
            <a:ext cx="2739314" cy="1143000"/>
          </a:xfrm>
          <a:prstGeom prst="rect">
            <a:avLst/>
          </a:prstGeom>
          <a:solidFill>
            <a:srgbClr val="F4FAF9"/>
          </a:solidFill>
          <a:ln w="9525">
            <a:solidFill>
              <a:srgbClr val="CFE0DE"/>
            </a:solidFill>
            <a:prstDash val="solid"/>
          </a:ln>
        </p:spPr>
      </p:sp>
      <p:sp>
        <p:nvSpPr>
          <p:cNvPr id="51" name="Shape 49"/>
          <p:cNvSpPr/>
          <p:nvPr/>
        </p:nvSpPr>
        <p:spPr>
          <a:xfrm>
            <a:off x="6164428" y="4946904"/>
            <a:ext cx="73152" cy="1143000"/>
          </a:xfrm>
          <a:prstGeom prst="rect">
            <a:avLst/>
          </a:prstGeom>
          <a:solidFill>
            <a:srgbClr val="0D7877"/>
          </a:solidFill>
          <a:ln w="12700">
            <a:solidFill>
              <a:srgbClr val="0D7877"/>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Common ancestor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 ancestral species from which two or more species evolved.</a:t>
            </a:r>
            <a:endParaRPr lang="en-US" sz="1200" dirty="0"/>
          </a:p>
        </p:txBody>
      </p:sp>
      <p:sp>
        <p:nvSpPr>
          <p:cNvPr id="53" name="Shape 51"/>
          <p:cNvSpPr/>
          <p:nvPr/>
        </p:nvSpPr>
        <p:spPr>
          <a:xfrm>
            <a:off x="9040901" y="4946904"/>
            <a:ext cx="2739314" cy="1143000"/>
          </a:xfrm>
          <a:prstGeom prst="rect">
            <a:avLst/>
          </a:prstGeom>
          <a:solidFill>
            <a:srgbClr val="F4FAF9"/>
          </a:solidFill>
          <a:ln w="9525">
            <a:solidFill>
              <a:srgbClr val="CFE0DE"/>
            </a:solidFill>
            <a:prstDash val="solid"/>
          </a:ln>
        </p:spPr>
      </p:sp>
      <p:sp>
        <p:nvSpPr>
          <p:cNvPr id="54" name="Shape 52"/>
          <p:cNvSpPr/>
          <p:nvPr/>
        </p:nvSpPr>
        <p:spPr>
          <a:xfrm>
            <a:off x="9040901" y="4946904"/>
            <a:ext cx="73152" cy="1143000"/>
          </a:xfrm>
          <a:prstGeom prst="rect">
            <a:avLst/>
          </a:prstGeom>
          <a:solidFill>
            <a:srgbClr val="0D7877"/>
          </a:solidFill>
          <a:ln w="12700">
            <a:solidFill>
              <a:srgbClr val="0D7877"/>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133536"/>
                </a:solidFill>
                <a:latin typeface="Calibri" pitchFamily="34" charset="0"/>
                <a:ea typeface="Calibri" pitchFamily="34" charset="-122"/>
                <a:cs typeface="Calibri" pitchFamily="34" charset="-120"/>
              </a:rPr>
              <a:t>Convergent evolution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Unrelated organisms evolve similar features in similar environments.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Specification B6.2.1 • answer every part • 13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21</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Scientists compared a </a:t>
            </a:r>
            <a:r>
              <a:rPr lang="en-US" sz="1200" b="1" i="1" dirty="0">
                <a:solidFill>
                  <a:srgbClr val="262B3A"/>
                </a:solidFill>
                <a:latin typeface="Calibri" pitchFamily="34" charset="0"/>
                <a:ea typeface="Calibri" pitchFamily="34" charset="-122"/>
                <a:cs typeface="Calibri" pitchFamily="34" charset="-120"/>
              </a:rPr>
              <a:t>40-base</a:t>
            </a:r>
            <a:r>
              <a:rPr lang="en-US" sz="1200" i="1" dirty="0">
                <a:solidFill>
                  <a:srgbClr val="262B3A"/>
                </a:solidFill>
                <a:latin typeface="Calibri" pitchFamily="34" charset="0"/>
                <a:ea typeface="Calibri" pitchFamily="34" charset="-122"/>
                <a:cs typeface="Calibri" pitchFamily="34" charset="-120"/>
              </a:rPr>
              <a:t> section of the same gene in four cats. Differences from the </a:t>
            </a:r>
            <a:r>
              <a:rPr lang="en-US" sz="1200" b="1" i="1" dirty="0">
                <a:solidFill>
                  <a:srgbClr val="262B3A"/>
                </a:solidFill>
                <a:latin typeface="Calibri" pitchFamily="34" charset="0"/>
                <a:ea typeface="Calibri" pitchFamily="34" charset="-122"/>
                <a:cs typeface="Calibri" pitchFamily="34" charset="-120"/>
              </a:rPr>
              <a:t>lion</a:t>
            </a:r>
            <a:r>
              <a:rPr lang="en-US" sz="1200" i="1" dirty="0">
                <a:solidFill>
                  <a:srgbClr val="262B3A"/>
                </a:solidFill>
                <a:latin typeface="Calibri" pitchFamily="34" charset="0"/>
                <a:ea typeface="Calibri" pitchFamily="34" charset="-122"/>
                <a:cs typeface="Calibri" pitchFamily="34" charset="-120"/>
              </a:rPr>
              <a:t> (</a:t>
            </a:r>
            <a:r>
              <a:rPr lang="en-US" sz="1200" b="1" i="1" dirty="0">
                <a:solidFill>
                  <a:srgbClr val="0D7877"/>
                </a:solidFill>
                <a:latin typeface="Calibri" pitchFamily="34" charset="0"/>
                <a:ea typeface="Calibri" pitchFamily="34" charset="-122"/>
                <a:cs typeface="Calibri" pitchFamily="34" charset="-120"/>
              </a:rPr>
              <a:t>Panthera leo</a:t>
            </a:r>
            <a:r>
              <a:rPr lang="en-US" sz="1200" i="1" dirty="0">
                <a:solidFill>
                  <a:srgbClr val="262B3A"/>
                </a:solidFill>
                <a:latin typeface="Calibri" pitchFamily="34" charset="0"/>
                <a:ea typeface="Calibri" pitchFamily="34" charset="-122"/>
                <a:cs typeface="Calibri" pitchFamily="34" charset="-120"/>
              </a:rPr>
              <a:t>): tiger </a:t>
            </a:r>
            <a:r>
              <a:rPr lang="en-US" sz="1200" b="1" i="1" dirty="0">
                <a:solidFill>
                  <a:srgbClr val="262B3A"/>
                </a:solidFill>
                <a:latin typeface="Calibri" pitchFamily="34" charset="0"/>
                <a:ea typeface="Calibri" pitchFamily="34" charset="-122"/>
                <a:cs typeface="Calibri" pitchFamily="34" charset="-120"/>
              </a:rPr>
              <a:t>4</a:t>
            </a:r>
            <a:r>
              <a:rPr lang="en-US" sz="1200" i="1" dirty="0">
                <a:solidFill>
                  <a:srgbClr val="262B3A"/>
                </a:solidFill>
                <a:latin typeface="Calibri" pitchFamily="34" charset="0"/>
                <a:ea typeface="Calibri" pitchFamily="34" charset="-122"/>
                <a:cs typeface="Calibri" pitchFamily="34" charset="-120"/>
              </a:rPr>
              <a:t>, leopard </a:t>
            </a:r>
            <a:r>
              <a:rPr lang="en-US" sz="1200" b="1" i="1" dirty="0">
                <a:solidFill>
                  <a:srgbClr val="262B3A"/>
                </a:solidFill>
                <a:latin typeface="Calibri" pitchFamily="34" charset="0"/>
                <a:ea typeface="Calibri" pitchFamily="34" charset="-122"/>
                <a:cs typeface="Calibri" pitchFamily="34" charset="-120"/>
              </a:rPr>
              <a:t>2</a:t>
            </a:r>
            <a:r>
              <a:rPr lang="en-US" sz="1200" i="1" dirty="0">
                <a:solidFill>
                  <a:srgbClr val="262B3A"/>
                </a:solidFill>
                <a:latin typeface="Calibri" pitchFamily="34" charset="0"/>
                <a:ea typeface="Calibri" pitchFamily="34" charset="-122"/>
                <a:cs typeface="Calibri" pitchFamily="34" charset="-120"/>
              </a:rPr>
              <a:t>, domestic cat </a:t>
            </a:r>
            <a:r>
              <a:rPr lang="en-US" sz="1200" b="1" i="1" dirty="0">
                <a:solidFill>
                  <a:srgbClr val="262B3A"/>
                </a:solidFill>
                <a:latin typeface="Calibri" pitchFamily="34" charset="0"/>
                <a:ea typeface="Calibri" pitchFamily="34" charset="-122"/>
                <a:cs typeface="Calibri" pitchFamily="34" charset="-120"/>
              </a:rPr>
              <a:t>10</a:t>
            </a:r>
            <a:r>
              <a:rPr lang="en-US" sz="1200" i="1" dirty="0">
                <a:solidFill>
                  <a:srgbClr val="262B3A"/>
                </a:solidFill>
                <a:latin typeface="Calibri" pitchFamily="34" charset="0"/>
                <a:ea typeface="Calibri" pitchFamily="34" charset="-122"/>
                <a:cs typeface="Calibri" pitchFamily="34" charset="-120"/>
              </a:rPr>
              <a:t>.</a:t>
            </a:r>
            <a:endParaRPr lang="en-US" sz="1200" dirty="0"/>
          </a:p>
        </p:txBody>
      </p:sp>
      <p:sp>
        <p:nvSpPr>
          <p:cNvPr id="9" name="Shape 7"/>
          <p:cNvSpPr/>
          <p:nvPr/>
        </p:nvSpPr>
        <p:spPr>
          <a:xfrm>
            <a:off x="411480" y="1719072"/>
            <a:ext cx="5570068" cy="1441704"/>
          </a:xfrm>
          <a:prstGeom prst="roundRect">
            <a:avLst>
              <a:gd name="adj" fmla="val 3171"/>
            </a:avLst>
          </a:prstGeom>
          <a:solidFill>
            <a:srgbClr val="F4FAF9"/>
          </a:solidFill>
          <a:ln w="9525">
            <a:solidFill>
              <a:srgbClr val="CFE0DE"/>
            </a:solidFill>
            <a:prstDash val="solid"/>
          </a:ln>
        </p:spPr>
      </p:sp>
      <p:sp>
        <p:nvSpPr>
          <p:cNvPr id="10" name="Text 8"/>
          <p:cNvSpPr/>
          <p:nvPr/>
        </p:nvSpPr>
        <p:spPr>
          <a:xfrm>
            <a:off x="548640" y="1792224"/>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What is the </a:t>
            </a:r>
            <a:r>
              <a:rPr lang="en-US" sz="1200" b="1" dirty="0">
                <a:solidFill>
                  <a:srgbClr val="262B3A"/>
                </a:solidFill>
                <a:latin typeface="Calibri" pitchFamily="34" charset="0"/>
                <a:ea typeface="Calibri" pitchFamily="34" charset="-122"/>
                <a:cs typeface="Calibri" pitchFamily="34" charset="-120"/>
              </a:rPr>
              <a:t>genus</a:t>
            </a:r>
            <a:r>
              <a:rPr lang="en-US" sz="1200" dirty="0">
                <a:solidFill>
                  <a:srgbClr val="262B3A"/>
                </a:solidFill>
                <a:latin typeface="Calibri" pitchFamily="34" charset="0"/>
                <a:ea typeface="Calibri" pitchFamily="34" charset="-122"/>
                <a:cs typeface="Calibri" pitchFamily="34" charset="-120"/>
              </a:rPr>
              <a:t> of the lion? How can you tell from its name?</a:t>
            </a:r>
            <a:endParaRPr lang="en-US" sz="1200" dirty="0"/>
          </a:p>
        </p:txBody>
      </p:sp>
      <p:sp>
        <p:nvSpPr>
          <p:cNvPr id="11" name="Text 9"/>
          <p:cNvSpPr/>
          <p:nvPr/>
        </p:nvSpPr>
        <p:spPr>
          <a:xfrm>
            <a:off x="4518508" y="284988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70504"/>
            <a:ext cx="5570068" cy="1441704"/>
          </a:xfrm>
          <a:prstGeom prst="roundRect">
            <a:avLst>
              <a:gd name="adj" fmla="val 3171"/>
            </a:avLst>
          </a:prstGeom>
          <a:solidFill>
            <a:srgbClr val="FFFFFF"/>
          </a:solidFill>
          <a:ln w="9525">
            <a:solidFill>
              <a:srgbClr val="CFE0DE"/>
            </a:solidFill>
            <a:prstDash val="solid"/>
          </a:ln>
        </p:spPr>
      </p:sp>
      <p:sp>
        <p:nvSpPr>
          <p:cNvPr id="13" name="Text 11"/>
          <p:cNvSpPr/>
          <p:nvPr/>
        </p:nvSpPr>
        <p:spPr>
          <a:xfrm>
            <a:off x="548640" y="3343656"/>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Calculate the percentage similarity between the lion and the </a:t>
            </a:r>
            <a:r>
              <a:rPr lang="en-US" sz="1200" b="1" dirty="0">
                <a:solidFill>
                  <a:srgbClr val="262B3A"/>
                </a:solidFill>
                <a:latin typeface="Calibri" pitchFamily="34" charset="0"/>
                <a:ea typeface="Calibri" pitchFamily="34" charset="-122"/>
                <a:cs typeface="Calibri" pitchFamily="34" charset="-120"/>
              </a:rPr>
              <a:t>tiger</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4" name="Text 12"/>
          <p:cNvSpPr/>
          <p:nvPr/>
        </p:nvSpPr>
        <p:spPr>
          <a:xfrm>
            <a:off x="4518508" y="440131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821936"/>
            <a:ext cx="5570068" cy="1441704"/>
          </a:xfrm>
          <a:prstGeom prst="roundRect">
            <a:avLst>
              <a:gd name="adj" fmla="val 3171"/>
            </a:avLst>
          </a:prstGeom>
          <a:solidFill>
            <a:srgbClr val="F4FAF9"/>
          </a:solidFill>
          <a:ln w="9525">
            <a:solidFill>
              <a:srgbClr val="CFE0DE"/>
            </a:solidFill>
            <a:prstDash val="solid"/>
          </a:ln>
        </p:spPr>
      </p:sp>
      <p:sp>
        <p:nvSpPr>
          <p:cNvPr id="16" name="Text 14"/>
          <p:cNvSpPr/>
          <p:nvPr/>
        </p:nvSpPr>
        <p:spPr>
          <a:xfrm>
            <a:off x="548640" y="4895088"/>
            <a:ext cx="5295748" cy="107594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Which cat is </a:t>
            </a:r>
            <a:r>
              <a:rPr lang="en-US" sz="1200" b="1" dirty="0">
                <a:solidFill>
                  <a:srgbClr val="262B3A"/>
                </a:solidFill>
                <a:latin typeface="Calibri" pitchFamily="34" charset="0"/>
                <a:ea typeface="Calibri" pitchFamily="34" charset="-122"/>
                <a:cs typeface="Calibri" pitchFamily="34" charset="-120"/>
              </a:rPr>
              <a:t>most closely related</a:t>
            </a:r>
            <a:r>
              <a:rPr lang="en-US" sz="1200" dirty="0">
                <a:solidFill>
                  <a:srgbClr val="262B3A"/>
                </a:solidFill>
                <a:latin typeface="Calibri" pitchFamily="34" charset="0"/>
                <a:ea typeface="Calibri" pitchFamily="34" charset="-122"/>
                <a:cs typeface="Calibri" pitchFamily="34" charset="-120"/>
              </a:rPr>
              <a:t> to the lion? Explain using the data.</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484740"/>
          </a:xfrm>
          <a:prstGeom prst="roundRect">
            <a:avLst>
              <a:gd name="adj" fmla="val 3079"/>
            </a:avLst>
          </a:prstGeom>
          <a:solidFill>
            <a:srgbClr val="F4FAF9"/>
          </a:solidFill>
          <a:ln w="9525">
            <a:solidFill>
              <a:srgbClr val="CFE0DE"/>
            </a:solidFill>
            <a:prstDash val="solid"/>
          </a:ln>
        </p:spPr>
      </p:sp>
      <p:sp>
        <p:nvSpPr>
          <p:cNvPr id="19" name="Text 17"/>
          <p:cNvSpPr/>
          <p:nvPr/>
        </p:nvSpPr>
        <p:spPr>
          <a:xfrm>
            <a:off x="6347308" y="1792224"/>
            <a:ext cx="5295748" cy="1118980"/>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Sketch an evolutionary tree for lion, leopard, tiger and domestic cat. Label the most recent common ancestor of lion and leopard with </a:t>
            </a:r>
            <a:r>
              <a:rPr lang="en-US" sz="1200" b="1" dirty="0">
                <a:solidFill>
                  <a:srgbClr val="262B3A"/>
                </a:solidFill>
                <a:latin typeface="Calibri" pitchFamily="34" charset="0"/>
                <a:ea typeface="Calibri" pitchFamily="34" charset="-122"/>
                <a:cs typeface="Calibri" pitchFamily="34" charset="-120"/>
              </a:rPr>
              <a:t>X</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0317175" y="289291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313540"/>
            <a:ext cx="5570068" cy="1549294"/>
          </a:xfrm>
          <a:prstGeom prst="roundRect">
            <a:avLst>
              <a:gd name="adj" fmla="val 2951"/>
            </a:avLst>
          </a:prstGeom>
          <a:solidFill>
            <a:srgbClr val="FFFFFF"/>
          </a:solidFill>
          <a:ln w="9525">
            <a:solidFill>
              <a:srgbClr val="CFE0DE"/>
            </a:solidFill>
            <a:prstDash val="solid"/>
          </a:ln>
        </p:spPr>
      </p:sp>
      <p:sp>
        <p:nvSpPr>
          <p:cNvPr id="22" name="Text 20"/>
          <p:cNvSpPr/>
          <p:nvPr/>
        </p:nvSpPr>
        <p:spPr>
          <a:xfrm>
            <a:off x="6347308" y="3386692"/>
            <a:ext cx="5295748" cy="1183534"/>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Explain why DNA evidence gives a more reliable classification than comparing </a:t>
            </a:r>
            <a:r>
              <a:rPr lang="en-US" sz="1200" b="1" dirty="0">
                <a:solidFill>
                  <a:srgbClr val="262B3A"/>
                </a:solidFill>
                <a:latin typeface="Calibri" pitchFamily="34" charset="0"/>
                <a:ea typeface="Calibri" pitchFamily="34" charset="-122"/>
                <a:cs typeface="Calibri" pitchFamily="34" charset="-120"/>
              </a:rPr>
              <a:t>appearance</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10317175" y="4551938"/>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4" name="Shape 22"/>
          <p:cNvSpPr/>
          <p:nvPr/>
        </p:nvSpPr>
        <p:spPr>
          <a:xfrm>
            <a:off x="6210148" y="4972562"/>
            <a:ext cx="5570068" cy="1291078"/>
          </a:xfrm>
          <a:prstGeom prst="roundRect">
            <a:avLst>
              <a:gd name="adj" fmla="val 3541"/>
            </a:avLst>
          </a:prstGeom>
          <a:solidFill>
            <a:srgbClr val="F4FAF9"/>
          </a:solidFill>
          <a:ln w="9525">
            <a:solidFill>
              <a:srgbClr val="CFE0DE"/>
            </a:solidFill>
            <a:prstDash val="solid"/>
          </a:ln>
        </p:spPr>
      </p:sp>
      <p:sp>
        <p:nvSpPr>
          <p:cNvPr id="25" name="Text 23"/>
          <p:cNvSpPr/>
          <p:nvPr/>
        </p:nvSpPr>
        <p:spPr>
          <a:xfrm>
            <a:off x="6347308" y="5045714"/>
            <a:ext cx="5295748" cy="925318"/>
          </a:xfrm>
          <a:prstGeom prst="rect">
            <a:avLst/>
          </a:prstGeom>
          <a:noFill/>
          <a:ln/>
        </p:spPr>
        <p:txBody>
          <a:bodyPr wrap="square" lIns="0" tIns="0" rIns="0" bIns="0" rtlCol="0" anchor="t"/>
          <a:lstStyle/>
          <a:p>
            <a:pPr indent="0" marL="0">
              <a:buNone/>
            </a:pPr>
            <a:r>
              <a:rPr lang="en-US" sz="1200" b="1" dirty="0">
                <a:solidFill>
                  <a:srgbClr val="0D7877"/>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Describe how Woese's work changed the classification of </a:t>
            </a:r>
            <a:r>
              <a:rPr lang="en-US" sz="1200" b="1" dirty="0">
                <a:solidFill>
                  <a:srgbClr val="262B3A"/>
                </a:solidFill>
                <a:latin typeface="Calibri" pitchFamily="34" charset="0"/>
                <a:ea typeface="Calibri" pitchFamily="34" charset="-122"/>
                <a:cs typeface="Calibri" pitchFamily="34" charset="-120"/>
              </a:rPr>
              <a:t>prokaryotes</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6867"/>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0E7C7B"/>
          </a:solidFill>
          <a:ln w="12700">
            <a:solidFill>
              <a:srgbClr val="0E7C7B"/>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0C6867"/>
          </a:solidFill>
          <a:ln w="12700">
            <a:solidFill>
              <a:srgbClr val="0C6867"/>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1F2F0"/>
                </a:solidFill>
                <a:latin typeface="Calibri" pitchFamily="34" charset="0"/>
                <a:ea typeface="Calibri" pitchFamily="34" charset="-122"/>
                <a:cs typeface="Calibri" pitchFamily="34" charset="-120"/>
              </a:rPr>
              <a:t>B6.2 Classification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CFE7E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CFE7E5"/>
                </a:solidFill>
                <a:latin typeface="Calibri" pitchFamily="34" charset="0"/>
                <a:ea typeface="Calibri" pitchFamily="34" charset="-122"/>
                <a:cs typeface="Calibri" pitchFamily="34" charset="-120"/>
              </a:rPr>
              <a:t>Homework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E8F4F3"/>
          </a:solidFill>
          <a:ln w="12700">
            <a:solidFill>
              <a:srgbClr val="E8F4F3"/>
            </a:solidFill>
            <a:prstDash val="solid"/>
          </a:ln>
        </p:spPr>
      </p:sp>
      <p:sp>
        <p:nvSpPr>
          <p:cNvPr id="3" name="Shape 1"/>
          <p:cNvSpPr/>
          <p:nvPr/>
        </p:nvSpPr>
        <p:spPr>
          <a:xfrm>
            <a:off x="0" y="987552"/>
            <a:ext cx="12191695" cy="27432"/>
          </a:xfrm>
          <a:prstGeom prst="rect">
            <a:avLst/>
          </a:prstGeom>
          <a:solidFill>
            <a:srgbClr val="C8E2DF"/>
          </a:solidFill>
          <a:ln w="12700">
            <a:solidFill>
              <a:srgbClr val="C8E2DF"/>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133536"/>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0D7877"/>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B6.2 How does our understanding of biology help us classify the diversity of organisms on Earth?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23</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All questions are for both tiers.</a:t>
            </a:r>
            <a:endParaRPr lang="en-US" sz="1150" dirty="0"/>
          </a:p>
        </p:txBody>
      </p:sp>
      <p:sp>
        <p:nvSpPr>
          <p:cNvPr id="9" name="Shape 7"/>
          <p:cNvSpPr/>
          <p:nvPr/>
        </p:nvSpPr>
        <p:spPr>
          <a:xfrm>
            <a:off x="411480" y="1517904"/>
            <a:ext cx="5570068" cy="1120140"/>
          </a:xfrm>
          <a:prstGeom prst="roundRect">
            <a:avLst>
              <a:gd name="adj" fmla="val 4082"/>
            </a:avLst>
          </a:prstGeom>
          <a:solidFill>
            <a:srgbClr val="F4FAF9"/>
          </a:solidFill>
          <a:ln w="9525">
            <a:solidFill>
              <a:srgbClr val="CFE0DE"/>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Which level of classification comes </a:t>
            </a:r>
            <a:r>
              <a:rPr lang="en-US" sz="1150" b="1" dirty="0">
                <a:solidFill>
                  <a:srgbClr val="262B3A"/>
                </a:solidFill>
                <a:latin typeface="Calibri" pitchFamily="34" charset="0"/>
                <a:ea typeface="Calibri" pitchFamily="34" charset="-122"/>
                <a:cs typeface="Calibri" pitchFamily="34" charset="-120"/>
              </a:rPr>
              <a:t>directly below</a:t>
            </a:r>
            <a:r>
              <a:rPr lang="en-US" sz="1150" dirty="0">
                <a:solidFill>
                  <a:srgbClr val="262B3A"/>
                </a:solidFill>
                <a:latin typeface="Calibri" pitchFamily="34" charset="0"/>
                <a:ea typeface="Calibri" pitchFamily="34" charset="-122"/>
                <a:cs typeface="Calibri" pitchFamily="34" charset="-120"/>
              </a:rPr>
              <a:t> kingdom?</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4FAF9"/>
          </a:solidFill>
          <a:ln w="9525">
            <a:solidFill>
              <a:srgbClr val="CFE0DE"/>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The scientific name of the grey wolf is </a:t>
            </a:r>
            <a:r>
              <a:rPr lang="en-US" sz="1150" b="1" dirty="0">
                <a:solidFill>
                  <a:srgbClr val="0D7877"/>
                </a:solidFill>
                <a:latin typeface="Calibri" pitchFamily="34" charset="0"/>
                <a:ea typeface="Calibri" pitchFamily="34" charset="-122"/>
                <a:cs typeface="Calibri" pitchFamily="34" charset="-120"/>
              </a:rPr>
              <a:t>Canis lupus</a:t>
            </a:r>
            <a:r>
              <a:rPr lang="en-US" sz="1150" dirty="0">
                <a:solidFill>
                  <a:srgbClr val="262B3A"/>
                </a:solidFill>
                <a:latin typeface="Calibri" pitchFamily="34" charset="0"/>
                <a:ea typeface="Calibri" pitchFamily="34" charset="-122"/>
                <a:cs typeface="Calibri" pitchFamily="34" charset="-120"/>
              </a:rPr>
              <a:t>. Name its </a:t>
            </a:r>
            <a:r>
              <a:rPr lang="en-US" sz="1150" b="1" dirty="0">
                <a:solidFill>
                  <a:srgbClr val="262B3A"/>
                </a:solidFill>
                <a:latin typeface="Calibri" pitchFamily="34" charset="0"/>
                <a:ea typeface="Calibri" pitchFamily="34" charset="-122"/>
                <a:cs typeface="Calibri" pitchFamily="34" charset="-120"/>
              </a:rPr>
              <a:t>genus</a:t>
            </a:r>
            <a:r>
              <a:rPr lang="en-US" sz="1150" dirty="0">
                <a:solidFill>
                  <a:srgbClr val="262B3A"/>
                </a:solidFill>
                <a:latin typeface="Calibri" pitchFamily="34" charset="0"/>
                <a:ea typeface="Calibri" pitchFamily="34" charset="-122"/>
                <a:cs typeface="Calibri" pitchFamily="34" charset="-120"/>
              </a:rPr>
              <a:t> and state </a:t>
            </a:r>
            <a:r>
              <a:rPr lang="en-US" sz="1150" b="1" dirty="0">
                <a:solidFill>
                  <a:srgbClr val="262B3A"/>
                </a:solidFill>
                <a:latin typeface="Calibri" pitchFamily="34" charset="0"/>
                <a:ea typeface="Calibri" pitchFamily="34" charset="-122"/>
                <a:cs typeface="Calibri" pitchFamily="34" charset="-120"/>
              </a:rPr>
              <a:t>one</a:t>
            </a:r>
            <a:r>
              <a:rPr lang="en-US" sz="1150" dirty="0">
                <a:solidFill>
                  <a:srgbClr val="262B3A"/>
                </a:solidFill>
                <a:latin typeface="Calibri" pitchFamily="34" charset="0"/>
                <a:ea typeface="Calibri" pitchFamily="34" charset="-122"/>
                <a:cs typeface="Calibri" pitchFamily="34" charset="-120"/>
              </a:rPr>
              <a:t> rule for writing binomial names.</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4FAF9"/>
          </a:solidFill>
          <a:ln w="9525">
            <a:solidFill>
              <a:srgbClr val="CFE0DE"/>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Two bird species differ at </a:t>
            </a:r>
            <a:r>
              <a:rPr lang="en-US" sz="1150" b="1" dirty="0">
                <a:solidFill>
                  <a:srgbClr val="262B3A"/>
                </a:solidFill>
                <a:latin typeface="Calibri" pitchFamily="34" charset="0"/>
                <a:ea typeface="Calibri" pitchFamily="34" charset="-122"/>
                <a:cs typeface="Calibri" pitchFamily="34" charset="-120"/>
              </a:rPr>
              <a:t>3</a:t>
            </a:r>
            <a:r>
              <a:rPr lang="en-US" sz="1150" dirty="0">
                <a:solidFill>
                  <a:srgbClr val="262B3A"/>
                </a:solidFill>
                <a:latin typeface="Calibri" pitchFamily="34" charset="0"/>
                <a:ea typeface="Calibri" pitchFamily="34" charset="-122"/>
                <a:cs typeface="Calibri" pitchFamily="34" charset="-120"/>
              </a:rPr>
              <a:t> bases in a </a:t>
            </a:r>
            <a:r>
              <a:rPr lang="en-US" sz="1150" b="1" dirty="0">
                <a:solidFill>
                  <a:srgbClr val="262B3A"/>
                </a:solidFill>
                <a:latin typeface="Calibri" pitchFamily="34" charset="0"/>
                <a:ea typeface="Calibri" pitchFamily="34" charset="-122"/>
                <a:cs typeface="Calibri" pitchFamily="34" charset="-120"/>
              </a:rPr>
              <a:t>60-base</a:t>
            </a:r>
            <a:r>
              <a:rPr lang="en-US" sz="1150" dirty="0">
                <a:solidFill>
                  <a:srgbClr val="262B3A"/>
                </a:solidFill>
                <a:latin typeface="Calibri" pitchFamily="34" charset="0"/>
                <a:ea typeface="Calibri" pitchFamily="34" charset="-122"/>
                <a:cs typeface="Calibri" pitchFamily="34" charset="-120"/>
              </a:rPr>
              <a:t> section of DNA. Calculate the percentage similarity.</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4FAF9"/>
          </a:solidFill>
          <a:ln w="9525">
            <a:solidFill>
              <a:srgbClr val="CFE0DE"/>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Species W and X share a common ancestor </a:t>
            </a:r>
            <a:r>
              <a:rPr lang="en-US" sz="1150" b="1" dirty="0">
                <a:solidFill>
                  <a:srgbClr val="262B3A"/>
                </a:solidFill>
                <a:latin typeface="Calibri" pitchFamily="34" charset="0"/>
                <a:ea typeface="Calibri" pitchFamily="34" charset="-122"/>
                <a:cs typeface="Calibri" pitchFamily="34" charset="-120"/>
              </a:rPr>
              <a:t>5 million</a:t>
            </a:r>
            <a:r>
              <a:rPr lang="en-US" sz="1150" dirty="0">
                <a:solidFill>
                  <a:srgbClr val="262B3A"/>
                </a:solidFill>
                <a:latin typeface="Calibri" pitchFamily="34" charset="0"/>
                <a:ea typeface="Calibri" pitchFamily="34" charset="-122"/>
                <a:cs typeface="Calibri" pitchFamily="34" charset="-120"/>
              </a:rPr>
              <a:t> years ago; X and Y share one </a:t>
            </a:r>
            <a:r>
              <a:rPr lang="en-US" sz="1150" b="1" dirty="0">
                <a:solidFill>
                  <a:srgbClr val="262B3A"/>
                </a:solidFill>
                <a:latin typeface="Calibri" pitchFamily="34" charset="0"/>
                <a:ea typeface="Calibri" pitchFamily="34" charset="-122"/>
                <a:cs typeface="Calibri" pitchFamily="34" charset="-120"/>
              </a:rPr>
              <a:t>12 million</a:t>
            </a:r>
            <a:r>
              <a:rPr lang="en-US" sz="1150" dirty="0">
                <a:solidFill>
                  <a:srgbClr val="262B3A"/>
                </a:solidFill>
                <a:latin typeface="Calibri" pitchFamily="34" charset="0"/>
                <a:ea typeface="Calibri" pitchFamily="34" charset="-122"/>
                <a:cs typeface="Calibri" pitchFamily="34" charset="-120"/>
              </a:rPr>
              <a:t> years ago. Which pair is more closely related? Explain.</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51941"/>
          </a:xfrm>
          <a:prstGeom prst="roundRect">
            <a:avLst>
              <a:gd name="adj" fmla="val 4346"/>
            </a:avLst>
          </a:prstGeom>
          <a:solidFill>
            <a:srgbClr val="F4FAF9"/>
          </a:solidFill>
          <a:ln w="9525">
            <a:solidFill>
              <a:srgbClr val="CFE0DE"/>
            </a:solidFill>
            <a:prstDash val="solid"/>
          </a:ln>
        </p:spPr>
      </p:sp>
      <p:sp>
        <p:nvSpPr>
          <p:cNvPr id="22" name="Text 20"/>
          <p:cNvSpPr/>
          <p:nvPr/>
        </p:nvSpPr>
        <p:spPr>
          <a:xfrm>
            <a:off x="6347308" y="1591056"/>
            <a:ext cx="5295748" cy="70446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Bats and birds both have wings. Explain why "animals with wings" is an </a:t>
            </a:r>
            <a:r>
              <a:rPr lang="en-US" sz="1150" b="1" dirty="0">
                <a:solidFill>
                  <a:srgbClr val="262B3A"/>
                </a:solidFill>
                <a:latin typeface="Calibri" pitchFamily="34" charset="0"/>
                <a:ea typeface="Calibri" pitchFamily="34" charset="-122"/>
                <a:cs typeface="Calibri" pitchFamily="34" charset="-120"/>
              </a:rPr>
              <a:t>artificial</a:t>
            </a:r>
            <a:r>
              <a:rPr lang="en-US" sz="1150" dirty="0">
                <a:solidFill>
                  <a:srgbClr val="262B3A"/>
                </a:solidFill>
                <a:latin typeface="Calibri" pitchFamily="34" charset="0"/>
                <a:ea typeface="Calibri" pitchFamily="34" charset="-122"/>
                <a:cs typeface="Calibri" pitchFamily="34" charset="-120"/>
              </a:rPr>
              <a:t> group.</a:t>
            </a:r>
            <a:endParaRPr lang="en-US" sz="1150" dirty="0"/>
          </a:p>
        </p:txBody>
      </p:sp>
      <p:sp>
        <p:nvSpPr>
          <p:cNvPr id="23" name="Text 21"/>
          <p:cNvSpPr/>
          <p:nvPr/>
        </p:nvSpPr>
        <p:spPr>
          <a:xfrm>
            <a:off x="10317175" y="2277237"/>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679573"/>
            <a:ext cx="5570068" cy="1051941"/>
          </a:xfrm>
          <a:prstGeom prst="roundRect">
            <a:avLst>
              <a:gd name="adj" fmla="val 4346"/>
            </a:avLst>
          </a:prstGeom>
          <a:solidFill>
            <a:srgbClr val="F4FAF9"/>
          </a:solidFill>
          <a:ln w="9525">
            <a:solidFill>
              <a:srgbClr val="CFE0DE"/>
            </a:solidFill>
            <a:prstDash val="solid"/>
          </a:ln>
        </p:spPr>
      </p:sp>
      <p:sp>
        <p:nvSpPr>
          <p:cNvPr id="25" name="Text 23"/>
          <p:cNvSpPr/>
          <p:nvPr/>
        </p:nvSpPr>
        <p:spPr>
          <a:xfrm>
            <a:off x="6347308" y="2752725"/>
            <a:ext cx="5295748" cy="704469"/>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At first, many scientists did not accept Woese's domain </a:t>
            </a:r>
            <a:r>
              <a:rPr lang="en-US" sz="1150" b="1" dirty="0">
                <a:solidFill>
                  <a:srgbClr val="262B3A"/>
                </a:solidFill>
                <a:latin typeface="Calibri" pitchFamily="34" charset="0"/>
                <a:ea typeface="Calibri" pitchFamily="34" charset="-122"/>
                <a:cs typeface="Calibri" pitchFamily="34" charset="-120"/>
              </a:rPr>
              <a:t>Archaea</a:t>
            </a:r>
            <a:r>
              <a:rPr lang="en-US" sz="1150" dirty="0">
                <a:solidFill>
                  <a:srgbClr val="262B3A"/>
                </a:solidFill>
                <a:latin typeface="Calibri" pitchFamily="34" charset="0"/>
                <a:ea typeface="Calibri" pitchFamily="34" charset="-122"/>
                <a:cs typeface="Calibri" pitchFamily="34" charset="-120"/>
              </a:rPr>
              <a:t>. Suggest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why it was later accepted.</a:t>
            </a:r>
            <a:endParaRPr lang="en-US" sz="1150" dirty="0"/>
          </a:p>
        </p:txBody>
      </p:sp>
      <p:sp>
        <p:nvSpPr>
          <p:cNvPr id="26" name="Text 24"/>
          <p:cNvSpPr/>
          <p:nvPr/>
        </p:nvSpPr>
        <p:spPr>
          <a:xfrm>
            <a:off x="10317175" y="343890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841242"/>
            <a:ext cx="5570068" cy="2486406"/>
          </a:xfrm>
          <a:prstGeom prst="roundRect">
            <a:avLst>
              <a:gd name="adj" fmla="val 1839"/>
            </a:avLst>
          </a:prstGeom>
          <a:solidFill>
            <a:srgbClr val="FFF4E0"/>
          </a:solidFill>
          <a:ln w="9525">
            <a:solidFill>
              <a:srgbClr val="F1D9A8"/>
            </a:solidFill>
            <a:prstDash val="solid"/>
          </a:ln>
        </p:spPr>
      </p:sp>
      <p:sp>
        <p:nvSpPr>
          <p:cNvPr id="28" name="Text 26"/>
          <p:cNvSpPr/>
          <p:nvPr/>
        </p:nvSpPr>
        <p:spPr>
          <a:xfrm>
            <a:off x="6347308" y="3914394"/>
            <a:ext cx="5295748" cy="2138934"/>
          </a:xfrm>
          <a:prstGeom prst="rect">
            <a:avLst/>
          </a:prstGeom>
          <a:noFill/>
          <a:ln/>
        </p:spPr>
        <p:txBody>
          <a:bodyPr wrap="square" lIns="0" tIns="0" rIns="0" bIns="0" rtlCol="0" anchor="t"/>
          <a:lstStyle/>
          <a:p>
            <a:pPr indent="0" marL="0">
              <a:buNone/>
            </a:pPr>
            <a:r>
              <a:rPr lang="en-US" sz="1150" b="1" dirty="0">
                <a:solidFill>
                  <a:srgbClr val="0D7877"/>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a:t>
            </a:r>
            <a:r>
              <a:rPr lang="en-US" sz="1150" b="1" dirty="0">
                <a:solidFill>
                  <a:srgbClr val="262B3A"/>
                </a:solidFill>
                <a:latin typeface="Calibri" pitchFamily="34" charset="0"/>
                <a:ea typeface="Calibri" pitchFamily="34" charset="-122"/>
                <a:cs typeface="Calibri" pitchFamily="34" charset="-120"/>
              </a:rPr>
              <a:t>developments in biology</a:t>
            </a:r>
            <a:r>
              <a:rPr lang="en-US" sz="1150" dirty="0">
                <a:solidFill>
                  <a:srgbClr val="262B3A"/>
                </a:solidFill>
                <a:latin typeface="Calibri" pitchFamily="34" charset="0"/>
                <a:ea typeface="Calibri" pitchFamily="34" charset="-122"/>
                <a:cs typeface="Calibri" pitchFamily="34" charset="-120"/>
              </a:rPr>
              <a:t> have changed the way organisms are classified, from Linnaeus to the present day.</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B6.2 How does our understanding of biology help us classify the diversity of organisms on Earth?</dc:title>
  <dc:subject>PptxGenJS Presentation</dc:subject>
  <dc:creator>GCSE Biology</dc:creator>
  <cp:lastModifiedBy>GCSE Biology</cp:lastModifiedBy>
  <cp:revision>1</cp:revision>
  <dcterms:created xsi:type="dcterms:W3CDTF">2026-10-30T18:54:19Z</dcterms:created>
  <dcterms:modified xsi:type="dcterms:W3CDTF">2026-10-30T18:54:19Z</dcterms:modified>
</cp:coreProperties>
</file>