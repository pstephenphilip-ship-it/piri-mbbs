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B6.3 How is biodiversity threatened and how can we protect it? is Part 3 of 3 in J260 Chapter B6 Life on Earth – past, present and future. It is the LAST B6 deck and the last J260 biology deck (chemistry C1 follows).
Numbering: in J257 (Biology B) this sub-topic is B6.4, because J257 has an extra sub-topic B6.2 on sexual and asexual reproduction. In J260 the sub-topics are B6.1 evolution, B6.2 classification, B6.3 biodiversity (OCR J260 Advance Information June 2022; docbrown combined page; Coral Oceans scheme of work "6.3.2"). See SPEC_B6_3.md.
The statement wording is taken from J257 B6.4 search extracts and renumbered; confidence medium. B6.3.4 (food security) and B6.3.5 (GM / agricultural solutions) are the least certain for J260; if your copy of the specification omits them, skip slides 19–21.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(J257 B6.4 wording from search extracts, renumbered for J260 B6.3):
B6.3.1 describe both positive and negative human interactions within ecosystems and explain their impact on biodiversity
B6.3.2 explain some of the benefits and challenges of maintaining local and global biodiversity (J260 code 6.3.2 confirmed by the Coral Oceans scheme of work)
B6.3.3 (HT) evaluate evidence for the impact of environmental changes on the distribution of organisms, with reference to water and atmospheric gases
B6.3.4 describe some of the biological factors affecting levels of food security, including increasing human population, changing diets in wealthier populations, new pests and pathogens, environmental change, sustainability and cost of agricultural inputs
B6.3.5 describe and explain some possible biotechnological and agricultural solutions, including genetic modification, to the demands of the growing human population
Data handling (charts, graphs, tables) runs through every slide. Ideas about Science: benefits, risks and decisions; correlation and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B6 has three sub-topics (OCR J260 Advance Information June 2022 lists B6.1, B6.2, B6.3; docbrown combined page lists B6.3 as the biodiversity sub-topic). J257 Biology B has four (B6.2 sexual and asexual reproduction is J257 only), which is why biodiversity is B6.4 in J257.
Overlap control: quadrats, transects and abiotic / biotic factors were taught in Chapter B3 (Living together) and are recapped only (slides 16–17). The GM technique is in B1 and is recapped only (slide 20). Natural selection belongs to B6.1 and species / classification to B6.2; both are only mentioned. Extinction is NOT taught in B6.1 (SPEC_B6_1.md) and is taught here (slides 8–9).
J260 biology ends with this deck: the specification has six biology chapters B1–B6, then C1–C6 and P1–P6, plus BCP7 Ideas about Science and BCP8 Practical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Species depend on each other for food, shelter, pollination etc. E.g. remove rabbits: foxes have less food (fall), grass increases.
2. Place quadrats at random (random coordinates), count daisies in each, find the mean per quadrat, scale up to the area of the field. A transect (line with quadrats at intervals) shows how distribution changes across a habitat, e.g. with light or distance from water.
3. Abiotic: light, temperature, water, pH, oxygen, carbon dioxide, soil nutrients. Biotic: food, predators, competitors, pathogens, pollinators.
4. A group of organisms that can breed together to produce fertile offspring. To identify organisms, to count and monitor biodiversity and to see relationships (B6.2; recap only).
5. When no individuals of a species are left. Causes: habitat loss, new predator or disease, new competitor, climate change, hunting (KS3; extinction is taught in this deck, not in B6.1).
6. Changing an organism's genome by adding a gene from another organism (B1). 12 × 4 = 48 daisies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Genetic, species, ecosystem (habitat) diversity. 12 ÷ 40 × 100 = 30%.
B6.3.1 context. "Species richness" (number of species) and "evenness" are useful words; GCSE questions usually count species. Monoculture example links to B6.3.4–5. Recap B6.2: a species is a group that can interbreed to produce fertile offspring.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three from food, medicines, pollination, pest control, nutrient recycling, clean water / air, flood control, carbon storage, timber, tourism. With many species, each predator has several food sources, so if one prey species declines the predator can eat others; the web is less likely to collapse.
B6.3.2 asks for benefits of maintaining biodiversity: this slide is the "benefits" half; slide 13 gives the challenges. Food web is simplified (illustrative). Orchard figures illustrative (asserted: 30 ÷ 3 = 10; 30 − 10 =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The variety of living organisms / species (1); in an area / ecosystem / including genetic and habitat variety (1).
Q2 [2]: Any two (1 each): food; medicines; pollination of crops; pest control; clean water / air; nutrient recycling; carbon storage / climate regulation; tourism / enjoyment.
Q3 [2]: 8 ÷ 32 × 100 (1); = 25% (1).
Q4 [2]: Only one species / one variety grown / other plants removed (1); a pest or disease can destroy the whole crop / few habitats or food for other species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two: land for farming / grazing / crops such as palm oil or soya; timber; building houses / roads / industry; mining. (60 − 45) ÷ 60 × 100 = 25%.
Grid counts asserted in node (80 → 44 squares). Fragmentation is a useful extra idea: small isolated populations have less genetic variation and are more likely to die out. Peat use is named in OCR / Oak teaching material; burning or digging peat also adds CO₂ to the air (link to global warming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Fertiliser / sewage enters water → algae grow rapidly → block light → plants die → bacteria decompose dead plants and algae, respiring and using up dissolved oxygen → fish suffocate / cannot respire aerobically.
Squirrel data illustrative (asserted: 75%). Grey squirrels were introduced to Britain from North America in the 1800s; squirrelpox virus. Other invasive examples: Japanese knotweed, signal crayfish, Himalayan balsam. Global warming is covered as an environmental change on slide 10 (HT evidence) and in food security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As distance from the city increases, SO₂ falls (60 → 8 µg/m³) and the number of lichen species rises (1 → 13): a negative correlation between SO₂ and lichen diversity. Not proof: other variables (e.g. temperature, humidity, soot, tree species) also change with distance; only one transect / no repeats; correlation does not show cause (IaS).
HT statement B6.3.3 "evaluate evidence for the impact of environmental changes on the distribution of organisms, with reference to water and atmospheric gases" (J257 wording; "(HT only)" in the revision map extract). If your J260 copy shows it in normal type, teach this slide to all.
Data illustrative; monotonic trends asserted in node. Lichens are plotted ×5 and oxygen ×2 so they share an axis: point this out (a common exam trap: read the key). Stonefly mean of first three sites = 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Any two (1 each): deforestation / clearing forest for farming; building houses / roads / industry; quarrying / mining; draining / digging peat bogs; removing hedgerows; landfill.
Q2 [2]: Algae grow / bloom and block light so plants die (1); bacteria decompose them and use up oxygen, so fish cannot respire (1).
Q3 [2]: Their presence / number of species shows the level of pollution / air quality (1); they are sensitive to / killed by SO₂, so few lichens = high SO₂ (1).
Q4 [2]: Correlation: more stoneflies where oxygen is higher / plausible mechanism (1); but other factors may vary / only one river / need repeats, so not proof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 keep genetic diversity: different varieties carry different alleles (e.g. for disease or drought resistance) that may be needed in future; one variety could be wiped out by a single disease. 50 × 1.2² = 72.
Node: 20 × 1.1³ = 26.62. Real example: Kew's Millennium Seed Bank (Wakehurst) stores seeds from tens of thousands of wild plant species (UNVERIFIED count, so no number on the slide). Captive breeding examples: Arabian oryx, Przewalski's horse, Scottish wildcat. Breeding programmes need many unrelated animals so that genetic variation is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Benefit: keeps species / medicines / stores carbon / tourism income. Challenge: local people need land / money from logging or farming; hard to police; costs money. Fish move across national borders and fishing fleets from many countries share the oceans, so countries must agree quotas together.
Ideas about Science (BCP7, "decisions about science and technology"): identify who benefits and who bears the costs and risks; weigh up; consider sustainability and ethics. Farm figures illustrative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(90 − 150) ÷ 150 × 100 = −40% (a 40% decrease). Other reasons: warming water (cod prefer cold water and move north), less food (plankton changes), disease, natural variation, or quotas raised / illegal fishing.
Values are illustrative but follow the real pattern of North Sea cod spawning stock biomass (collapse to about 2006, recovery plan, partial recovery, decline after about 2015; ICES advice). Not real ICES numbers: UNVERIFIED. IaS: a correlation between the plan and the rise; evaluate with other possible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Stores seeds of many species / varieties (1); keeps genetic diversity so plants can be regrown / reintroduced if lost in the wild (1).
Q2 [2]: Benefit: more habitats / species / pollinators / tourism (1). Challenge: less food produced / farmer loses income / cost (1).
Q3 [2]: (200 − 50) ÷ 200 × 100 (1); = 75% (1).
Q4 [2]: Whales move across the oceans / between countries' waters (1); one country alone cannot protect them / all countries must agree to stop hunting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Random placement avoids bias (choosing interesting patches) so the sample is representative. Same size so that the number of species is compared fairly: a bigger quadrat would find more species.
This is a suggested activity to apply B6.3.2 (judging biodiversity with data). Random quadrat sampling and transects were taught in Chapter B3 (J260 B3 practical work; PAG B2 in the OCR practical scheme covers sampling, UNVERIFIED code) and are recapped only. No PAG is linked to B6.3 in any source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Range A = 10 − 6 = 4 species. If the ranges do not overlap, even the lowest value at A is higher than the highest at B, so the difference is unlikely to be due to chance / variation between quadrats; the difference is real (more confidence).
All values illustrative, asserted in node: means 8 and 3, ranges 4 and 2; daisies 5 per 0.25 m² → 20 per m² → 1000 on 50 m². A total species list (all quadrats) could also be compared: species richness of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(4 + 6 + 5 + 9) ÷ 4 = 24 ÷ 4 (1); = 6 (1).
Q2 [2]: 6 ÷ 0.25 (1); = 24 per m² (1). Allow error carried forward.
Q3 [2]: To avoid bias / the person choosing sites (1); so the sample is representative of the whole area (1).
Q4 [2]: Any two (1 each): more quadrats; same quadrat size; same identification key / person; same day / season; repeat on different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Energy is lost at each trophic level (B3), so feeding crops to animals and eating the animals feeds fewer people than eating the crops directly; land used for animal feed could grow food for people. 8.2 ÷ 2.5 = 3.3 times.
Population values: UN World Population Prospects (approximate: 2.5, 4.1, 6.1, 8.2 billion; 2050 about 9.7 billion projected): UNVERIFIED to 2 s.f. B6.3.4 wording (J257 B6.4): "describe some of the biological factors affecting levels of food security including increasing human population, changing diets in wealthier populations, new pests and pathogens, environmental change, sustainability and cost of agricultural inputs". J260 inclusion: medium confidence (see SPEC_B6_3.md).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Benefit: higher yield / less pesticide / grows in drought / more nutritious. Risk: gene transfer to wild relatives (superweeds); pests become resistant; harm to non-target insects; reduced genetic diversity / monoculture; cost; unknown long-term effects. (5.0 − 4.0) ÷ 4.0 × 100 = 25%.
The GM technique itself is J260 B1 (recap only: three steps, no enzymes named here). B6.3.5 wording (J257 B6.4): "describe and explain some possible biotechnological and agricultural solutions, including genetic modification, to the demands of the growing human population". IaS: benefits, risks, and who makes decisions (regulation of GM crops differs between countries). Medium confidence that this statement is in J260.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Any two (1 each): growing population; more meat in diets; new pests / pathogens / diseases; climate / environmental change, drought; cost / sustainability of fertiliser, pesticides, water.
Q2 [2]: Less of the crop is eaten / damaged by pests (1); so the yield is higher / more food from the same land (1).
Q3 [2]: Named concern (1) with reason (1), e.g. genes spread to wild plants (1) creating herbicide-resistant weeds (1); or harm to insects (1) that eat or pollinate the crop (1).
Q4 [2]: Less need to clear forests / habitats for new farmland (1); so habitats and species are kept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"Indicator species" is linked to the HT statement B6.3.3, though the term itself may also appear in Foundation questions. Interdependence is a B3 recap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(800 − 440) ÷ 800 × 100 (1); = 45% (1).
(b) [1]: (12 + 15 + 9) ÷ 3 = 12 (1).
(c) [2]: Fewer habitats / nesting sites / food sources (1); so fewer species can live there / species cannot move between areas (1).
(d) [2]: Benefit: more pollinators / pest predators / payment / less soil erosion (1). Challenge: less land for crops / lower yield / cost of planting and care (1).
(e) [3]: Any three (1 each): protected areas / reserves / national parks; captive breeding programmes; seed banks; fishing quotas / hunting laws; replanting forests / restoring habitats; reducing pollution; controlling invasive species.
(f) [3]: Mayfly nymphs are indicator species needing high oxygen (1); fertiliser can cause eutrophication / low oxygen, so a plausible cause (1); but only a correlation / other factors (e.g. flow, temperature, shade) / need oxygen or nitrate measurements and repeats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Lichen (1).
2 [2]: (3900 − 3200) ÷ 3200 × 100 (1); = 22% (21.875) (1).
3 [2]: 7 ÷ 0.25 = 28 per m² (1); × 400 = 11 200 (1).
4 [2]: Keeps genetic diversity / different alleles (1); varieties may be needed in future, e.g. for disease or drought resistance (1).
5 [2]: Stoneflies are indicators of high oxygen / clean water so supports the claim (1); but correlation only / other factors / need measurements of oxygen or repeats, so not proof (1).
6 [2]: More food needed so more land farmed / more fishing (1); forests / habitats cleared or fish overexploited, so biodiversity falls (1).
7 [6]: OCR level-of-response mark scheme (6 marks). Read the whole answer, decide the level from the content descriptor, then the mark within the level from the quality of the line of reasoning. Use the indicative scientific points below.
Level 3 (5–6 marks): Describes at least TWO human threats AND explains how each reduces biodiversity, AND describes at least TWO ways biodiversity can be protected, explaining how they work or their challenges. There is a well-developed line of reasoning which is clear and logically structured. The information presented is relevant and substantiated.
Level 2 (3–4 marks): Describes some threats AND some methods of protection, with some explanation of how one works. There is a line of reasoning presented with some structure. The information presented is relevant and supported by some evidence.
Level 1 (1–2 marks): Simple statements, e.g. "cutting down trees" or "zoos protect animals". There is an attempt at a logical structure with a line of reasoning. The information is in the most part relevant.
0 marks: no response or no response worthy of credit.
Indicative scientific points may include:
 • Habitat loss: deforestation for farming / timber; building; draining peat bogs; hedgerow removal → fewer habitats and niches, species die out.
 • Pollution: fertiliser / sewage → eutrophication → oxygen falls → fish die; pesticides kill insects; acid gases kill lichens.
 • Global warming from burning fossil fuels: species must move or die; coral bleaching.
 • Overexploitation: overfishing, hunting, logging faster than populations recover.
 • Invasive species: compete with / prey on / spread disease to native species (e.g. grey squirrel).
 • Protection: protected areas, captive breeding, seed banks, quotas and laws, habitat restoration, sustainable farming, reducing pollution, controlling invasive species.
 • Evaluation: benefits (species saved, ecosystem services) vs challenges (cost, land for food, local jobs, need for international agreement and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B6.3  Biodiversity</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How is biodiversity threatened and how can we protect it?</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Biodiversity  •  Ecosystem services  •  Habitat loss  •  Conservation  •  Food security  •  GM crops</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B6.3.1–B6.3.5 • human impact, conservation, environmental change (HT), food security, GM</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B6.3.3 evidence for environmental change marked HT</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Data: forest loss, indicator species, cod stocks, quadrat survey, world population</a:t>
            </a:r>
            <a:endParaRPr lang="en-US" sz="1400" dirty="0"/>
          </a:p>
        </p:txBody>
      </p:sp>
      <p:sp>
        <p:nvSpPr>
          <p:cNvPr id="19" name="Shape 17"/>
          <p:cNvSpPr/>
          <p:nvPr/>
        </p:nvSpPr>
        <p:spPr>
          <a:xfrm>
            <a:off x="731520" y="5769864"/>
            <a:ext cx="627735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627735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3 of 3 in Chapter B6: Life on Earth – past, present and future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B6.3 How is biodiversity threatened and how can we protect it?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B6.3.1–B6.3.5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B6.3.1   </a:t>
            </a:r>
            <a:r>
              <a:rPr lang="en-US" sz="1200" dirty="0">
                <a:solidFill>
                  <a:srgbClr val="262B3A"/>
                </a:solidFill>
                <a:latin typeface="Calibri" pitchFamily="34" charset="0"/>
                <a:ea typeface="Calibri" pitchFamily="34" charset="-122"/>
                <a:cs typeface="Calibri" pitchFamily="34" charset="-120"/>
              </a:rPr>
              <a:t>Define </a:t>
            </a:r>
            <a:r>
              <a:rPr lang="en-US" sz="1200" b="1" dirty="0">
                <a:solidFill>
                  <a:srgbClr val="262B3A"/>
                </a:solidFill>
                <a:latin typeface="Calibri" pitchFamily="34" charset="0"/>
                <a:ea typeface="Calibri" pitchFamily="34" charset="-122"/>
                <a:cs typeface="Calibri" pitchFamily="34" charset="-120"/>
              </a:rPr>
              <a:t>biodiversity</a:t>
            </a:r>
            <a:r>
              <a:rPr lang="en-US" sz="1200" dirty="0">
                <a:solidFill>
                  <a:srgbClr val="262B3A"/>
                </a:solidFill>
                <a:latin typeface="Calibri" pitchFamily="34" charset="0"/>
                <a:ea typeface="Calibri" pitchFamily="34" charset="-122"/>
                <a:cs typeface="Calibri" pitchFamily="34" charset="-120"/>
              </a:rPr>
              <a:t> at three levels and explain why it matters (</a:t>
            </a:r>
            <a:r>
              <a:rPr lang="en-US" sz="1200" b="1" dirty="0">
                <a:solidFill>
                  <a:srgbClr val="262B3A"/>
                </a:solidFill>
                <a:latin typeface="Calibri" pitchFamily="34" charset="0"/>
                <a:ea typeface="Calibri" pitchFamily="34" charset="-122"/>
                <a:cs typeface="Calibri" pitchFamily="34" charset="-120"/>
              </a:rPr>
              <a:t>ecosystem services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B6.3.1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negative</a:t>
            </a:r>
            <a:r>
              <a:rPr lang="en-US" sz="1200" dirty="0">
                <a:solidFill>
                  <a:srgbClr val="262B3A"/>
                </a:solidFill>
                <a:latin typeface="Calibri" pitchFamily="34" charset="0"/>
                <a:ea typeface="Calibri" pitchFamily="34" charset="-122"/>
                <a:cs typeface="Calibri" pitchFamily="34" charset="-120"/>
              </a:rPr>
              <a:t> human interactions: </a:t>
            </a:r>
            <a:r>
              <a:rPr lang="en-US" sz="1200" b="1" dirty="0">
                <a:solidFill>
                  <a:srgbClr val="262B3A"/>
                </a:solidFill>
                <a:latin typeface="Calibri" pitchFamily="34" charset="0"/>
                <a:ea typeface="Calibri" pitchFamily="34" charset="-122"/>
                <a:cs typeface="Calibri" pitchFamily="34" charset="-120"/>
              </a:rPr>
              <a:t>habitat loss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pollution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overexploitation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invasive species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B6.3.3   </a:t>
            </a:r>
            <a:r>
              <a:rPr lang="en-US" sz="1200" b="1" dirty="0">
                <a:solidFill>
                  <a:srgbClr val="262B3A"/>
                </a:solidFill>
                <a:latin typeface="Calibri" pitchFamily="34" charset="0"/>
                <a:ea typeface="Calibri" pitchFamily="34" charset="-122"/>
                <a:cs typeface="Calibri" pitchFamily="34" charset="-120"/>
              </a:rPr>
              <a:t>Evaluate evidence</a:t>
            </a:r>
            <a:r>
              <a:rPr lang="en-US" sz="1200" dirty="0">
                <a:solidFill>
                  <a:srgbClr val="262B3A"/>
                </a:solidFill>
                <a:latin typeface="Calibri" pitchFamily="34" charset="0"/>
                <a:ea typeface="Calibri" pitchFamily="34" charset="-122"/>
                <a:cs typeface="Calibri" pitchFamily="34" charset="-120"/>
              </a:rPr>
              <a:t> that environmental change (water, atmospheric gases) affects </a:t>
            </a:r>
            <a:r>
              <a:rPr lang="en-US" sz="1200" b="1" dirty="0">
                <a:solidFill>
                  <a:srgbClr val="262B3A"/>
                </a:solidFill>
                <a:latin typeface="Calibri" pitchFamily="34" charset="0"/>
                <a:ea typeface="Calibri" pitchFamily="34" charset="-122"/>
                <a:cs typeface="Calibri" pitchFamily="34" charset="-120"/>
              </a:rPr>
              <a:t>distribution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257800" y="3502152"/>
            <a:ext cx="411480" cy="274320"/>
          </a:xfrm>
          <a:prstGeom prst="roundRect">
            <a:avLst>
              <a:gd name="adj" fmla="val 50000"/>
            </a:avLst>
          </a:prstGeom>
          <a:solidFill>
            <a:srgbClr val="C8414C"/>
          </a:solidFill>
          <a:ln w="12700">
            <a:solidFill>
              <a:srgbClr val="C8414C"/>
            </a:solidFill>
            <a:prstDash val="solid"/>
          </a:ln>
        </p:spPr>
      </p:sp>
      <p:sp>
        <p:nvSpPr>
          <p:cNvPr id="18" name="Text 16"/>
          <p:cNvSpPr/>
          <p:nvPr/>
        </p:nvSpPr>
        <p:spPr>
          <a:xfrm>
            <a:off x="525780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9" name="Shape 17"/>
          <p:cNvSpPr/>
          <p:nvPr/>
        </p:nvSpPr>
        <p:spPr>
          <a:xfrm>
            <a:off x="502920" y="3931920"/>
            <a:ext cx="457200" cy="457200"/>
          </a:xfrm>
          <a:prstGeom prst="ellipse">
            <a:avLst/>
          </a:prstGeom>
          <a:solidFill>
            <a:srgbClr val="0D7877"/>
          </a:solidFill>
          <a:ln w="12700">
            <a:solidFill>
              <a:srgbClr val="0D7877"/>
            </a:solidFill>
            <a:prstDash val="solid"/>
          </a:ln>
        </p:spPr>
      </p:sp>
      <p:sp>
        <p:nvSpPr>
          <p:cNvPr id="20" name="Text 18"/>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1" name="Text 19"/>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B6.3.1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positive</a:t>
            </a:r>
            <a:r>
              <a:rPr lang="en-US" sz="1200" dirty="0">
                <a:solidFill>
                  <a:srgbClr val="262B3A"/>
                </a:solidFill>
                <a:latin typeface="Calibri" pitchFamily="34" charset="0"/>
                <a:ea typeface="Calibri" pitchFamily="34" charset="-122"/>
                <a:cs typeface="Calibri" pitchFamily="34" charset="-120"/>
              </a:rPr>
              <a:t> interactions: protected areas, </a:t>
            </a:r>
            <a:r>
              <a:rPr lang="en-US" sz="1200" b="1" dirty="0">
                <a:solidFill>
                  <a:srgbClr val="262B3A"/>
                </a:solidFill>
                <a:latin typeface="Calibri" pitchFamily="34" charset="0"/>
                <a:ea typeface="Calibri" pitchFamily="34" charset="-122"/>
                <a:cs typeface="Calibri" pitchFamily="34" charset="-120"/>
              </a:rPr>
              <a:t>breeding programmes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seed banks</a:t>
            </a:r>
            <a:r>
              <a:rPr lang="en-US" sz="1200" dirty="0">
                <a:solidFill>
                  <a:srgbClr val="262B3A"/>
                </a:solidFill>
                <a:latin typeface="Calibri" pitchFamily="34" charset="0"/>
                <a:ea typeface="Calibri" pitchFamily="34" charset="-122"/>
                <a:cs typeface="Calibri" pitchFamily="34" charset="-120"/>
              </a:rPr>
              <a:t>, sustainable use.</a:t>
            </a:r>
            <a:endParaRPr lang="en-US" sz="1100" dirty="0"/>
          </a:p>
        </p:txBody>
      </p:sp>
      <p:sp>
        <p:nvSpPr>
          <p:cNvPr id="22" name="Shape 20"/>
          <p:cNvSpPr/>
          <p:nvPr/>
        </p:nvSpPr>
        <p:spPr>
          <a:xfrm>
            <a:off x="6263640" y="1325880"/>
            <a:ext cx="457200" cy="457200"/>
          </a:xfrm>
          <a:prstGeom prst="ellipse">
            <a:avLst/>
          </a:prstGeom>
          <a:solidFill>
            <a:srgbClr val="0D7877"/>
          </a:solidFill>
          <a:ln w="12700">
            <a:solidFill>
              <a:srgbClr val="0D7877"/>
            </a:solidFill>
            <a:prstDash val="solid"/>
          </a:ln>
        </p:spPr>
      </p:sp>
      <p:sp>
        <p:nvSpPr>
          <p:cNvPr id="23" name="Text 21"/>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4" name="Text 22"/>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B6.3.2   </a:t>
            </a:r>
            <a:r>
              <a:rPr lang="en-US" sz="1200" dirty="0">
                <a:solidFill>
                  <a:srgbClr val="262B3A"/>
                </a:solidFill>
                <a:latin typeface="Calibri" pitchFamily="34" charset="0"/>
                <a:ea typeface="Calibri" pitchFamily="34" charset="-122"/>
                <a:cs typeface="Calibri" pitchFamily="34" charset="-120"/>
              </a:rPr>
              <a:t>Explain the </a:t>
            </a:r>
            <a:r>
              <a:rPr lang="en-US" sz="1200" b="1" dirty="0">
                <a:solidFill>
                  <a:srgbClr val="262B3A"/>
                </a:solidFill>
                <a:latin typeface="Calibri" pitchFamily="34" charset="0"/>
                <a:ea typeface="Calibri" pitchFamily="34" charset="-122"/>
                <a:cs typeface="Calibri" pitchFamily="34" charset="-120"/>
              </a:rPr>
              <a:t>benefits and challenges</a:t>
            </a:r>
            <a:r>
              <a:rPr lang="en-US" sz="1200" dirty="0">
                <a:solidFill>
                  <a:srgbClr val="262B3A"/>
                </a:solidFill>
                <a:latin typeface="Calibri" pitchFamily="34" charset="0"/>
                <a:ea typeface="Calibri" pitchFamily="34" charset="-122"/>
                <a:cs typeface="Calibri" pitchFamily="34" charset="-120"/>
              </a:rPr>
              <a:t> of maintaining </a:t>
            </a:r>
            <a:r>
              <a:rPr lang="en-US" sz="1200" b="1" dirty="0">
                <a:solidFill>
                  <a:srgbClr val="262B3A"/>
                </a:solidFill>
                <a:latin typeface="Calibri" pitchFamily="34" charset="0"/>
                <a:ea typeface="Calibri" pitchFamily="34" charset="-122"/>
                <a:cs typeface="Calibri" pitchFamily="34" charset="-120"/>
              </a:rPr>
              <a:t>local</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global</a:t>
            </a:r>
            <a:r>
              <a:rPr lang="en-US" sz="1200" dirty="0">
                <a:solidFill>
                  <a:srgbClr val="262B3A"/>
                </a:solidFill>
                <a:latin typeface="Calibri" pitchFamily="34" charset="0"/>
                <a:ea typeface="Calibri" pitchFamily="34" charset="-122"/>
                <a:cs typeface="Calibri" pitchFamily="34" charset="-120"/>
              </a:rPr>
              <a:t> biodiversity.</a:t>
            </a:r>
            <a:endParaRPr lang="en-US" sz="1100" dirty="0"/>
          </a:p>
        </p:txBody>
      </p:sp>
      <p:sp>
        <p:nvSpPr>
          <p:cNvPr id="25" name="Shape 23"/>
          <p:cNvSpPr/>
          <p:nvPr/>
        </p:nvSpPr>
        <p:spPr>
          <a:xfrm>
            <a:off x="6263640" y="2194560"/>
            <a:ext cx="457200" cy="457200"/>
          </a:xfrm>
          <a:prstGeom prst="ellipse">
            <a:avLst/>
          </a:prstGeom>
          <a:solidFill>
            <a:srgbClr val="0D7877"/>
          </a:solidFill>
          <a:ln w="12700">
            <a:solidFill>
              <a:srgbClr val="0D7877"/>
            </a:solidFill>
            <a:prstDash val="solid"/>
          </a:ln>
        </p:spPr>
      </p:sp>
      <p:sp>
        <p:nvSpPr>
          <p:cNvPr id="26" name="Text 24"/>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B6.3.2   </a:t>
            </a:r>
            <a:r>
              <a:rPr lang="en-US" sz="1200" dirty="0">
                <a:solidFill>
                  <a:srgbClr val="262B3A"/>
                </a:solidFill>
                <a:latin typeface="Calibri" pitchFamily="34" charset="0"/>
                <a:ea typeface="Calibri" pitchFamily="34" charset="-122"/>
                <a:cs typeface="Calibri" pitchFamily="34" charset="-120"/>
              </a:rPr>
              <a:t>Use </a:t>
            </a:r>
            <a:r>
              <a:rPr lang="en-US" sz="1200" b="1" dirty="0">
                <a:solidFill>
                  <a:srgbClr val="262B3A"/>
                </a:solidFill>
                <a:latin typeface="Calibri" pitchFamily="34" charset="0"/>
                <a:ea typeface="Calibri" pitchFamily="34" charset="-122"/>
                <a:cs typeface="Calibri" pitchFamily="34" charset="-120"/>
              </a:rPr>
              <a:t>data</a:t>
            </a:r>
            <a:r>
              <a:rPr lang="en-US" sz="1200" dirty="0">
                <a:solidFill>
                  <a:srgbClr val="262B3A"/>
                </a:solidFill>
                <a:latin typeface="Calibri" pitchFamily="34" charset="0"/>
                <a:ea typeface="Calibri" pitchFamily="34" charset="-122"/>
                <a:cs typeface="Calibri" pitchFamily="34" charset="-120"/>
              </a:rPr>
              <a:t> to judge whether a conservation method works; compare two sites with </a:t>
            </a:r>
            <a:r>
              <a:rPr lang="en-US" sz="1200" b="1" dirty="0">
                <a:solidFill>
                  <a:srgbClr val="262B3A"/>
                </a:solidFill>
                <a:latin typeface="Calibri" pitchFamily="34" charset="0"/>
                <a:ea typeface="Calibri" pitchFamily="34" charset="-122"/>
                <a:cs typeface="Calibri" pitchFamily="34" charset="-120"/>
              </a:rPr>
              <a:t>quadrats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6263640" y="3063240"/>
            <a:ext cx="457200" cy="457200"/>
          </a:xfrm>
          <a:prstGeom prst="ellipse">
            <a:avLst/>
          </a:prstGeom>
          <a:solidFill>
            <a:srgbClr val="0D7877"/>
          </a:solidFill>
          <a:ln w="12700">
            <a:solidFill>
              <a:srgbClr val="0D7877"/>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B6.3.4   </a:t>
            </a:r>
            <a:r>
              <a:rPr lang="en-US" sz="1200" dirty="0">
                <a:solidFill>
                  <a:srgbClr val="262B3A"/>
                </a:solidFill>
                <a:latin typeface="Calibri" pitchFamily="34" charset="0"/>
                <a:ea typeface="Calibri" pitchFamily="34" charset="-122"/>
                <a:cs typeface="Calibri" pitchFamily="34" charset="-120"/>
              </a:rPr>
              <a:t>Describe biological factors that affect </a:t>
            </a:r>
            <a:r>
              <a:rPr lang="en-US" sz="1200" b="1" dirty="0">
                <a:solidFill>
                  <a:srgbClr val="262B3A"/>
                </a:solidFill>
                <a:latin typeface="Calibri" pitchFamily="34" charset="0"/>
                <a:ea typeface="Calibri" pitchFamily="34" charset="-122"/>
                <a:cs typeface="Calibri" pitchFamily="34" charset="-120"/>
              </a:rPr>
              <a:t>food security</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6263640" y="3931920"/>
            <a:ext cx="457200" cy="457200"/>
          </a:xfrm>
          <a:prstGeom prst="ellipse">
            <a:avLst/>
          </a:prstGeom>
          <a:solidFill>
            <a:srgbClr val="0D7877"/>
          </a:solidFill>
          <a:ln w="12700">
            <a:solidFill>
              <a:srgbClr val="0D7877"/>
            </a:solidFill>
            <a:prstDash val="solid"/>
          </a:ln>
        </p:spPr>
      </p:sp>
      <p:sp>
        <p:nvSpPr>
          <p:cNvPr id="32" name="Text 30"/>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3" name="Text 31"/>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B6.3.5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agricultural</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biotechnological</a:t>
            </a:r>
            <a:r>
              <a:rPr lang="en-US" sz="1200" dirty="0">
                <a:solidFill>
                  <a:srgbClr val="262B3A"/>
                </a:solidFill>
                <a:latin typeface="Calibri" pitchFamily="34" charset="0"/>
                <a:ea typeface="Calibri" pitchFamily="34" charset="-122"/>
                <a:cs typeface="Calibri" pitchFamily="34" charset="-120"/>
              </a:rPr>
              <a:t> solutions, including </a:t>
            </a:r>
            <a:r>
              <a:rPr lang="en-US" sz="1200" b="1" dirty="0">
                <a:solidFill>
                  <a:srgbClr val="262B3A"/>
                </a:solidFill>
                <a:latin typeface="Calibri" pitchFamily="34" charset="0"/>
                <a:ea typeface="Calibri" pitchFamily="34" charset="-122"/>
                <a:cs typeface="Calibri" pitchFamily="34" charset="-120"/>
              </a:rPr>
              <a:t>GM</a:t>
            </a:r>
            <a:r>
              <a:rPr lang="en-US" sz="1200" dirty="0">
                <a:solidFill>
                  <a:srgbClr val="262B3A"/>
                </a:solidFill>
                <a:latin typeface="Calibri" pitchFamily="34" charset="0"/>
                <a:ea typeface="Calibri" pitchFamily="34" charset="-122"/>
                <a:cs typeface="Calibri" pitchFamily="34" charset="-120"/>
              </a:rPr>
              <a:t> crops, with benefits and risks.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B6 Life on Earth – past, present and future • B6.3 is Part 3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B6.3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Biodiversity</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B6.3.1   </a:t>
            </a:r>
            <a:r>
              <a:rPr lang="en-US" sz="1100" dirty="0">
                <a:solidFill>
                  <a:srgbClr val="262B3A"/>
                </a:solidFill>
                <a:latin typeface="Calibri" pitchFamily="34" charset="0"/>
                <a:ea typeface="Calibri" pitchFamily="34" charset="-122"/>
                <a:cs typeface="Calibri" pitchFamily="34" charset="-120"/>
              </a:rPr>
              <a:t>What biodiversity is and why it matters</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B6.3.1   </a:t>
            </a:r>
            <a:r>
              <a:rPr lang="en-US" sz="1100" dirty="0">
                <a:solidFill>
                  <a:srgbClr val="262B3A"/>
                </a:solidFill>
                <a:latin typeface="Calibri" pitchFamily="34" charset="0"/>
                <a:ea typeface="Calibri" pitchFamily="34" charset="-122"/>
                <a:cs typeface="Calibri" pitchFamily="34" charset="-120"/>
              </a:rPr>
              <a:t>Threats: habitat loss, pollution, overfishing, invaders</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B6.3.3   </a:t>
            </a:r>
            <a:r>
              <a:rPr lang="en-US" sz="1100" dirty="0">
                <a:solidFill>
                  <a:srgbClr val="262B3A"/>
                </a:solidFill>
                <a:latin typeface="Calibri" pitchFamily="34" charset="0"/>
                <a:ea typeface="Calibri" pitchFamily="34" charset="-122"/>
                <a:cs typeface="Calibri" pitchFamily="34" charset="-120"/>
              </a:rPr>
              <a:t>Evidence: indicator species, water and air</a:t>
            </a:r>
            <a:endParaRPr lang="en-US" sz="1100" dirty="0"/>
          </a:p>
        </p:txBody>
      </p:sp>
      <p:sp>
        <p:nvSpPr>
          <p:cNvPr id="24" name="Shape 22"/>
          <p:cNvSpPr/>
          <p:nvPr/>
        </p:nvSpPr>
        <p:spPr>
          <a:xfrm>
            <a:off x="5257800" y="3566160"/>
            <a:ext cx="1097280" cy="274320"/>
          </a:xfrm>
          <a:prstGeom prst="roundRect">
            <a:avLst>
              <a:gd name="adj" fmla="val 50000"/>
            </a:avLst>
          </a:prstGeom>
          <a:solidFill>
            <a:srgbClr val="C8414C"/>
          </a:solidFill>
          <a:ln w="12700">
            <a:solidFill>
              <a:srgbClr val="C8414C"/>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B6.3.1–2   </a:t>
            </a:r>
            <a:r>
              <a:rPr lang="en-US" sz="1100" dirty="0">
                <a:solidFill>
                  <a:srgbClr val="262B3A"/>
                </a:solidFill>
                <a:latin typeface="Calibri" pitchFamily="34" charset="0"/>
                <a:ea typeface="Calibri" pitchFamily="34" charset="-122"/>
                <a:cs typeface="Calibri" pitchFamily="34" charset="-120"/>
              </a:rPr>
              <a:t>Protecting biodiversity; benefits and challenges</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Activity   </a:t>
            </a:r>
            <a:r>
              <a:rPr lang="en-US" sz="1100" dirty="0">
                <a:solidFill>
                  <a:srgbClr val="262B3A"/>
                </a:solidFill>
                <a:latin typeface="Calibri" pitchFamily="34" charset="0"/>
                <a:ea typeface="Calibri" pitchFamily="34" charset="-122"/>
                <a:cs typeface="Calibri" pitchFamily="34" charset="-120"/>
              </a:rPr>
              <a:t>Comparing two sites with quadrats</a:t>
            </a:r>
            <a:endParaRPr lang="en-US" sz="1100" dirty="0"/>
          </a:p>
        </p:txBody>
      </p:sp>
      <p:sp>
        <p:nvSpPr>
          <p:cNvPr id="34" name="Shape 32"/>
          <p:cNvSpPr/>
          <p:nvPr/>
        </p:nvSpPr>
        <p:spPr>
          <a:xfrm>
            <a:off x="5257800" y="4882896"/>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B6.3.4–5   </a:t>
            </a:r>
            <a:r>
              <a:rPr lang="en-US" sz="1100" dirty="0">
                <a:solidFill>
                  <a:srgbClr val="262B3A"/>
                </a:solidFill>
                <a:latin typeface="Calibri" pitchFamily="34" charset="0"/>
                <a:ea typeface="Calibri" pitchFamily="34" charset="-122"/>
                <a:cs typeface="Calibri" pitchFamily="34" charset="-120"/>
              </a:rPr>
              <a:t>Food security; agricultural and GM solutions</a:t>
            </a:r>
            <a:endParaRPr lang="en-US" sz="1100" dirty="0"/>
          </a:p>
        </p:txBody>
      </p:sp>
      <p:sp>
        <p:nvSpPr>
          <p:cNvPr id="39" name="Shape 37"/>
          <p:cNvSpPr/>
          <p:nvPr/>
        </p:nvSpPr>
        <p:spPr>
          <a:xfrm>
            <a:off x="5257800" y="5541264"/>
            <a:ext cx="1097280" cy="274320"/>
          </a:xfrm>
          <a:prstGeom prst="roundRect">
            <a:avLst>
              <a:gd name="adj" fmla="val 50000"/>
            </a:avLst>
          </a:prstGeom>
          <a:solidFill>
            <a:srgbClr val="0D7877"/>
          </a:solidFill>
          <a:ln w="12700">
            <a:solidFill>
              <a:srgbClr val="0D7877"/>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B3 food webs, quadrats, transects • B1 genes, GM • B6.1 natural selection • B6.2 species</a:t>
            </a:r>
            <a:endParaRPr lang="en-US" sz="1050" dirty="0"/>
          </a:p>
        </p:txBody>
      </p:sp>
      <p:sp>
        <p:nvSpPr>
          <p:cNvPr id="42" name="Shape 40"/>
          <p:cNvSpPr/>
          <p:nvPr/>
        </p:nvSpPr>
        <p:spPr>
          <a:xfrm>
            <a:off x="6720840" y="1234440"/>
            <a:ext cx="5056632" cy="2514600"/>
          </a:xfrm>
          <a:prstGeom prst="roundRect">
            <a:avLst>
              <a:gd name="adj" fmla="val 2182"/>
            </a:avLst>
          </a:prstGeom>
          <a:solidFill>
            <a:srgbClr val="0F3D3E"/>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B6 in J260</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B6.1 How was the theory of evolution developed?</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B6.2 How does our understanding of biology help us classify the diversity of organisms on Earth?</a:t>
            </a:r>
            <a:endParaRPr lang="en-US" sz="1500" dirty="0"/>
          </a:p>
          <a:p>
            <a:pPr marL="152400" indent="-152400">
              <a:spcAft>
                <a:spcPts val="200"/>
              </a:spcAft>
              <a:buSzPct val="100000"/>
              <a:buChar char="▪"/>
            </a:pPr>
            <a:r>
              <a:rPr lang="en-US" sz="1100" b="1" dirty="0">
                <a:solidFill>
                  <a:srgbClr val="E3F2F0"/>
                </a:solidFill>
                <a:latin typeface="Calibri" pitchFamily="34" charset="0"/>
                <a:ea typeface="Calibri" pitchFamily="34" charset="-122"/>
                <a:cs typeface="Calibri" pitchFamily="34" charset="-120"/>
              </a:rPr>
              <a:t>B6.3 How is biodiversity threatened and how can we protect it?</a:t>
            </a:r>
            <a:r>
              <a:rPr lang="en-US" sz="110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B6 is the </a:t>
            </a:r>
            <a:r>
              <a:rPr lang="en-US" sz="1100" b="1" dirty="0">
                <a:solidFill>
                  <a:srgbClr val="E3F2F0"/>
                </a:solidFill>
                <a:latin typeface="Calibri" pitchFamily="34" charset="0"/>
                <a:ea typeface="Calibri" pitchFamily="34" charset="-122"/>
                <a:cs typeface="Calibri" pitchFamily="34" charset="-120"/>
              </a:rPr>
              <a:t>last</a:t>
            </a:r>
            <a:r>
              <a:rPr lang="en-US" sz="1100" dirty="0">
                <a:solidFill>
                  <a:srgbClr val="E3F2F0"/>
                </a:solidFill>
                <a:latin typeface="Calibri" pitchFamily="34" charset="0"/>
                <a:ea typeface="Calibri" pitchFamily="34" charset="-122"/>
                <a:cs typeface="Calibri" pitchFamily="34" charset="-120"/>
              </a:rPr>
              <a:t> biology chapter in J260.</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(evaluating evidence about environmental change) are for Higher tier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Ideas about Science: </a:t>
            </a:r>
            <a:r>
              <a:rPr lang="en-US" sz="1100" b="1" dirty="0">
                <a:solidFill>
                  <a:srgbClr val="262B3A"/>
                </a:solidFill>
                <a:latin typeface="Calibri" pitchFamily="34" charset="0"/>
                <a:ea typeface="Calibri" pitchFamily="34" charset="-122"/>
                <a:cs typeface="Calibri" pitchFamily="34" charset="-120"/>
              </a:rPr>
              <a:t>benefits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risks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decisions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correlation</a:t>
            </a:r>
            <a:r>
              <a:rPr lang="en-US" sz="1100" dirty="0">
                <a:solidFill>
                  <a:srgbClr val="262B3A"/>
                </a:solidFill>
                <a:latin typeface="Calibri" pitchFamily="34" charset="0"/>
                <a:ea typeface="Calibri" pitchFamily="34" charset="-122"/>
                <a:cs typeface="Calibri" pitchFamily="34" charset="-120"/>
              </a:rPr>
              <a:t> is not always </a:t>
            </a:r>
            <a:r>
              <a:rPr lang="en-US" sz="1100" b="1" dirty="0">
                <a:solidFill>
                  <a:srgbClr val="262B3A"/>
                </a:solidFill>
                <a:latin typeface="Calibri" pitchFamily="34" charset="0"/>
                <a:ea typeface="Calibri" pitchFamily="34" charset="-122"/>
                <a:cs typeface="Calibri" pitchFamily="34" charset="-120"/>
              </a:rPr>
              <a:t>cause</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percentage change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means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ranges</a:t>
            </a:r>
            <a:r>
              <a:rPr lang="en-US" sz="1100" dirty="0">
                <a:solidFill>
                  <a:srgbClr val="262B3A"/>
                </a:solidFill>
                <a:latin typeface="Calibri" pitchFamily="34" charset="0"/>
                <a:ea typeface="Calibri" pitchFamily="34" charset="-122"/>
                <a:cs typeface="Calibri" pitchFamily="34" charset="-120"/>
              </a:rPr>
              <a:t>, reading and plotting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 scaling quadrat counts.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B1, B3, B6.1 and B6.2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food webs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t>
            </a:r>
            <a:r>
              <a:rPr lang="en-US" sz="1250" b="1" dirty="0">
                <a:solidFill>
                  <a:srgbClr val="262B3A"/>
                </a:solidFill>
                <a:latin typeface="Calibri" pitchFamily="34" charset="0"/>
                <a:ea typeface="Calibri" pitchFamily="34" charset="-122"/>
                <a:cs typeface="Calibri" pitchFamily="34" charset="-120"/>
              </a:rPr>
              <a:t>interdependence</a:t>
            </a:r>
            <a:r>
              <a:rPr lang="en-US" sz="1250" dirty="0">
                <a:solidFill>
                  <a:srgbClr val="262B3A"/>
                </a:solidFill>
                <a:latin typeface="Calibri" pitchFamily="34" charset="0"/>
                <a:ea typeface="Calibri" pitchFamily="34" charset="-122"/>
                <a:cs typeface="Calibri" pitchFamily="34" charset="-120"/>
              </a:rPr>
              <a:t>? Give an example from a food web of what happens if one species is removed.</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sampling</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to use a </a:t>
            </a:r>
            <a:r>
              <a:rPr lang="en-US" sz="1250" b="1" dirty="0">
                <a:solidFill>
                  <a:srgbClr val="262B3A"/>
                </a:solidFill>
                <a:latin typeface="Calibri" pitchFamily="34" charset="0"/>
                <a:ea typeface="Calibri" pitchFamily="34" charset="-122"/>
                <a:cs typeface="Calibri" pitchFamily="34" charset="-120"/>
              </a:rPr>
              <a:t>quadrat</a:t>
            </a:r>
            <a:r>
              <a:rPr lang="en-US" sz="1250" dirty="0">
                <a:solidFill>
                  <a:srgbClr val="262B3A"/>
                </a:solidFill>
                <a:latin typeface="Calibri" pitchFamily="34" charset="0"/>
                <a:ea typeface="Calibri" pitchFamily="34" charset="-122"/>
                <a:cs typeface="Calibri" pitchFamily="34" charset="-120"/>
              </a:rPr>
              <a:t> to estimate the number of daisies on a field. What is a </a:t>
            </a:r>
            <a:r>
              <a:rPr lang="en-US" sz="1250" b="1" dirty="0">
                <a:solidFill>
                  <a:srgbClr val="262B3A"/>
                </a:solidFill>
                <a:latin typeface="Calibri" pitchFamily="34" charset="0"/>
                <a:ea typeface="Calibri" pitchFamily="34" charset="-122"/>
                <a:cs typeface="Calibri" pitchFamily="34" charset="-120"/>
              </a:rPr>
              <a:t>transect</a:t>
            </a:r>
            <a:r>
              <a:rPr lang="en-US" sz="1250" dirty="0">
                <a:solidFill>
                  <a:srgbClr val="262B3A"/>
                </a:solidFill>
                <a:latin typeface="Calibri" pitchFamily="34" charset="0"/>
                <a:ea typeface="Calibri" pitchFamily="34" charset="-122"/>
                <a:cs typeface="Calibri" pitchFamily="34" charset="-120"/>
              </a:rPr>
              <a:t> for?</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ecosystems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 abiotic</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two biotic</a:t>
            </a:r>
            <a:r>
              <a:rPr lang="en-US" sz="1250" dirty="0">
                <a:solidFill>
                  <a:srgbClr val="262B3A"/>
                </a:solidFill>
                <a:latin typeface="Calibri" pitchFamily="34" charset="0"/>
                <a:ea typeface="Calibri" pitchFamily="34" charset="-122"/>
                <a:cs typeface="Calibri" pitchFamily="34" charset="-120"/>
              </a:rPr>
              <a:t> factors that affect where organisms live.</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B6.2 • classification</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species</a:t>
            </a:r>
            <a:r>
              <a:rPr lang="en-US" sz="1250" dirty="0">
                <a:solidFill>
                  <a:srgbClr val="262B3A"/>
                </a:solidFill>
                <a:latin typeface="Calibri" pitchFamily="34" charset="0"/>
                <a:ea typeface="Calibri" pitchFamily="34" charset="-122"/>
                <a:cs typeface="Calibri" pitchFamily="34" charset="-120"/>
              </a:rPr>
              <a:t>? Why do scientists need to name and classify species?</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extinction</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t>
            </a:r>
            <a:r>
              <a:rPr lang="en-US" sz="1250" b="1" dirty="0">
                <a:solidFill>
                  <a:srgbClr val="262B3A"/>
                </a:solidFill>
                <a:latin typeface="Calibri" pitchFamily="34" charset="0"/>
                <a:ea typeface="Calibri" pitchFamily="34" charset="-122"/>
                <a:cs typeface="Calibri" pitchFamily="34" charset="-120"/>
              </a:rPr>
              <a:t>extinction</a:t>
            </a:r>
            <a:r>
              <a:rPr lang="en-US" sz="1250" dirty="0">
                <a:solidFill>
                  <a:srgbClr val="262B3A"/>
                </a:solidFill>
                <a:latin typeface="Calibri" pitchFamily="34" charset="0"/>
                <a:ea typeface="Calibri" pitchFamily="34" charset="-122"/>
                <a:cs typeface="Calibri" pitchFamily="34" charset="-120"/>
              </a:rPr>
              <a:t>?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cause of a species becoming extinct.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 • genes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t>
            </a:r>
            <a:r>
              <a:rPr lang="en-US" sz="1250" b="1" dirty="0">
                <a:solidFill>
                  <a:srgbClr val="262B3A"/>
                </a:solidFill>
                <a:latin typeface="Calibri" pitchFamily="34" charset="0"/>
                <a:ea typeface="Calibri" pitchFamily="34" charset="-122"/>
                <a:cs typeface="Calibri" pitchFamily="34" charset="-120"/>
              </a:rPr>
              <a:t>genetic modification</a:t>
            </a:r>
            <a:r>
              <a:rPr lang="en-US" sz="1250" dirty="0">
                <a:solidFill>
                  <a:srgbClr val="262B3A"/>
                </a:solidFill>
                <a:latin typeface="Calibri" pitchFamily="34" charset="0"/>
                <a:ea typeface="Calibri" pitchFamily="34" charset="-122"/>
                <a:cs typeface="Calibri" pitchFamily="34" charset="-120"/>
              </a:rPr>
              <a:t>? (A field of </a:t>
            </a:r>
            <a:r>
              <a:rPr lang="en-US" sz="1250" b="1" dirty="0">
                <a:solidFill>
                  <a:srgbClr val="262B3A"/>
                </a:solidFill>
                <a:latin typeface="Calibri" pitchFamily="34" charset="0"/>
                <a:ea typeface="Calibri" pitchFamily="34" charset="-122"/>
                <a:cs typeface="Calibri" pitchFamily="34" charset="-120"/>
              </a:rPr>
              <a:t>12</a:t>
            </a:r>
            <a:r>
              <a:rPr lang="en-US" sz="1250" dirty="0">
                <a:solidFill>
                  <a:srgbClr val="262B3A"/>
                </a:solidFill>
                <a:latin typeface="Calibri" pitchFamily="34" charset="0"/>
                <a:ea typeface="Calibri" pitchFamily="34" charset="-122"/>
                <a:cs typeface="Calibri" pitchFamily="34" charset="-120"/>
              </a:rPr>
              <a:t> quadrats has a mean of </a:t>
            </a:r>
            <a:r>
              <a:rPr lang="en-US" sz="1250" b="1" dirty="0">
                <a:solidFill>
                  <a:srgbClr val="262B3A"/>
                </a:solidFill>
                <a:latin typeface="Calibri" pitchFamily="34" charset="0"/>
                <a:ea typeface="Calibri" pitchFamily="34" charset="-122"/>
                <a:cs typeface="Calibri" pitchFamily="34" charset="-120"/>
              </a:rPr>
              <a:t>4</a:t>
            </a:r>
            <a:r>
              <a:rPr lang="en-US" sz="1250" dirty="0">
                <a:solidFill>
                  <a:srgbClr val="262B3A"/>
                </a:solidFill>
                <a:latin typeface="Calibri" pitchFamily="34" charset="0"/>
                <a:ea typeface="Calibri" pitchFamily="34" charset="-122"/>
                <a:cs typeface="Calibri" pitchFamily="34" charset="-120"/>
              </a:rPr>
              <a:t> daisies: total counted?)</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What biodiversity 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 the variety of life in an area</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three levels of biodiversity; not to scale</a:t>
            </a:r>
            <a:endParaRPr lang="en-US" sz="1000" dirty="0"/>
          </a:p>
        </p:txBody>
      </p:sp>
      <p:sp>
        <p:nvSpPr>
          <p:cNvPr id="10" name="Shape 8"/>
          <p:cNvSpPr/>
          <p:nvPr/>
        </p:nvSpPr>
        <p:spPr>
          <a:xfrm>
            <a:off x="594360" y="1371600"/>
            <a:ext cx="1645920" cy="3337560"/>
          </a:xfrm>
          <a:prstGeom prst="roundRect">
            <a:avLst>
              <a:gd name="adj" fmla="val 2778"/>
            </a:avLst>
          </a:prstGeom>
          <a:solidFill>
            <a:srgbClr val="FFFFFF"/>
          </a:solidFill>
          <a:ln w="12700">
            <a:solidFill>
              <a:srgbClr val="CFE0DE"/>
            </a:solidFill>
            <a:prstDash val="solid"/>
          </a:ln>
        </p:spPr>
      </p:sp>
      <p:sp>
        <p:nvSpPr>
          <p:cNvPr id="11" name="Text 9"/>
          <p:cNvSpPr/>
          <p:nvPr/>
        </p:nvSpPr>
        <p:spPr>
          <a:xfrm>
            <a:off x="640080" y="1417320"/>
            <a:ext cx="1554480" cy="274320"/>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Genetic diversity</a:t>
            </a:r>
            <a:endParaRPr lang="en-US" sz="1100" dirty="0"/>
          </a:p>
        </p:txBody>
      </p:sp>
      <p:sp>
        <p:nvSpPr>
          <p:cNvPr id="12" name="Text 10"/>
          <p:cNvSpPr/>
          <p:nvPr/>
        </p:nvSpPr>
        <p:spPr>
          <a:xfrm>
            <a:off x="640080" y="1691640"/>
            <a:ext cx="155448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variation within one species</a:t>
            </a:r>
            <a:endParaRPr lang="en-US" sz="1000" dirty="0"/>
          </a:p>
        </p:txBody>
      </p:sp>
      <p:sp>
        <p:nvSpPr>
          <p:cNvPr id="13" name="Shape 11"/>
          <p:cNvSpPr/>
          <p:nvPr/>
        </p:nvSpPr>
        <p:spPr>
          <a:xfrm>
            <a:off x="2377440" y="1371600"/>
            <a:ext cx="1645920" cy="3337560"/>
          </a:xfrm>
          <a:prstGeom prst="roundRect">
            <a:avLst>
              <a:gd name="adj" fmla="val 2778"/>
            </a:avLst>
          </a:prstGeom>
          <a:solidFill>
            <a:srgbClr val="FFFFFF"/>
          </a:solidFill>
          <a:ln w="12700">
            <a:solidFill>
              <a:srgbClr val="CFE0DE"/>
            </a:solidFill>
            <a:prstDash val="solid"/>
          </a:ln>
        </p:spPr>
      </p:sp>
      <p:sp>
        <p:nvSpPr>
          <p:cNvPr id="14" name="Text 12"/>
          <p:cNvSpPr/>
          <p:nvPr/>
        </p:nvSpPr>
        <p:spPr>
          <a:xfrm>
            <a:off x="2423160" y="1417320"/>
            <a:ext cx="1554480" cy="274320"/>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Species diversity</a:t>
            </a:r>
            <a:endParaRPr lang="en-US" sz="1100" dirty="0"/>
          </a:p>
        </p:txBody>
      </p:sp>
      <p:sp>
        <p:nvSpPr>
          <p:cNvPr id="15" name="Text 13"/>
          <p:cNvSpPr/>
          <p:nvPr/>
        </p:nvSpPr>
        <p:spPr>
          <a:xfrm>
            <a:off x="2423160" y="1691640"/>
            <a:ext cx="155448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number of different species</a:t>
            </a:r>
            <a:endParaRPr lang="en-US" sz="1000" dirty="0"/>
          </a:p>
        </p:txBody>
      </p:sp>
      <p:sp>
        <p:nvSpPr>
          <p:cNvPr id="16" name="Shape 14"/>
          <p:cNvSpPr/>
          <p:nvPr/>
        </p:nvSpPr>
        <p:spPr>
          <a:xfrm>
            <a:off x="4160520" y="1371600"/>
            <a:ext cx="1645920" cy="3337560"/>
          </a:xfrm>
          <a:prstGeom prst="roundRect">
            <a:avLst>
              <a:gd name="adj" fmla="val 2778"/>
            </a:avLst>
          </a:prstGeom>
          <a:solidFill>
            <a:srgbClr val="FFFFFF"/>
          </a:solidFill>
          <a:ln w="12700">
            <a:solidFill>
              <a:srgbClr val="CFE0DE"/>
            </a:solidFill>
            <a:prstDash val="solid"/>
          </a:ln>
        </p:spPr>
      </p:sp>
      <p:sp>
        <p:nvSpPr>
          <p:cNvPr id="17" name="Text 15"/>
          <p:cNvSpPr/>
          <p:nvPr/>
        </p:nvSpPr>
        <p:spPr>
          <a:xfrm>
            <a:off x="4206240" y="1417320"/>
            <a:ext cx="1554480" cy="274320"/>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Ecosystem diversity</a:t>
            </a:r>
            <a:endParaRPr lang="en-US" sz="1100" dirty="0"/>
          </a:p>
        </p:txBody>
      </p:sp>
      <p:sp>
        <p:nvSpPr>
          <p:cNvPr id="18" name="Text 16"/>
          <p:cNvSpPr/>
          <p:nvPr/>
        </p:nvSpPr>
        <p:spPr>
          <a:xfrm>
            <a:off x="4206240" y="1691640"/>
            <a:ext cx="155448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number of different habitats</a:t>
            </a:r>
            <a:endParaRPr lang="en-US" sz="1000" dirty="0"/>
          </a:p>
        </p:txBody>
      </p:sp>
      <p:sp>
        <p:nvSpPr>
          <p:cNvPr id="19" name="Shape 17"/>
          <p:cNvSpPr/>
          <p:nvPr/>
        </p:nvSpPr>
        <p:spPr>
          <a:xfrm flipV="1">
            <a:off x="868680" y="2423160"/>
            <a:ext cx="91" cy="640080"/>
          </a:xfrm>
          <a:prstGeom prst="line">
            <a:avLst/>
          </a:prstGeom>
          <a:noFill/>
          <a:ln w="15875">
            <a:solidFill>
              <a:srgbClr val="3E7F2E"/>
            </a:solidFill>
            <a:prstDash val="solid"/>
          </a:ln>
        </p:spPr>
      </p:sp>
      <p:sp>
        <p:nvSpPr>
          <p:cNvPr id="20" name="Shape 18"/>
          <p:cNvSpPr/>
          <p:nvPr/>
        </p:nvSpPr>
        <p:spPr>
          <a:xfrm>
            <a:off x="832104" y="2345436"/>
            <a:ext cx="73152" cy="73152"/>
          </a:xfrm>
          <a:prstGeom prst="ellipse">
            <a:avLst/>
          </a:prstGeom>
          <a:solidFill>
            <a:srgbClr val="E8C43A"/>
          </a:solidFill>
          <a:ln w="9525">
            <a:solidFill>
              <a:srgbClr val="E8C43A"/>
            </a:solidFill>
            <a:prstDash val="solid"/>
          </a:ln>
        </p:spPr>
      </p:sp>
      <p:sp>
        <p:nvSpPr>
          <p:cNvPr id="21" name="Shape 19"/>
          <p:cNvSpPr/>
          <p:nvPr/>
        </p:nvSpPr>
        <p:spPr>
          <a:xfrm>
            <a:off x="873252" y="2386584"/>
            <a:ext cx="73152" cy="73152"/>
          </a:xfrm>
          <a:prstGeom prst="ellipse">
            <a:avLst/>
          </a:prstGeom>
          <a:solidFill>
            <a:srgbClr val="E8C43A"/>
          </a:solidFill>
          <a:ln w="9525">
            <a:solidFill>
              <a:srgbClr val="E8C43A"/>
            </a:solidFill>
            <a:prstDash val="solid"/>
          </a:ln>
        </p:spPr>
      </p:sp>
      <p:sp>
        <p:nvSpPr>
          <p:cNvPr id="22" name="Shape 20"/>
          <p:cNvSpPr/>
          <p:nvPr/>
        </p:nvSpPr>
        <p:spPr>
          <a:xfrm>
            <a:off x="832104" y="2427732"/>
            <a:ext cx="73152" cy="73152"/>
          </a:xfrm>
          <a:prstGeom prst="ellipse">
            <a:avLst/>
          </a:prstGeom>
          <a:solidFill>
            <a:srgbClr val="E8C43A"/>
          </a:solidFill>
          <a:ln w="9525">
            <a:solidFill>
              <a:srgbClr val="E8C43A"/>
            </a:solidFill>
            <a:prstDash val="solid"/>
          </a:ln>
        </p:spPr>
      </p:sp>
      <p:sp>
        <p:nvSpPr>
          <p:cNvPr id="23" name="Shape 21"/>
          <p:cNvSpPr/>
          <p:nvPr/>
        </p:nvSpPr>
        <p:spPr>
          <a:xfrm>
            <a:off x="790956" y="2386584"/>
            <a:ext cx="73152" cy="73152"/>
          </a:xfrm>
          <a:prstGeom prst="ellipse">
            <a:avLst/>
          </a:prstGeom>
          <a:solidFill>
            <a:srgbClr val="E8C43A"/>
          </a:solidFill>
          <a:ln w="9525">
            <a:solidFill>
              <a:srgbClr val="E8C43A"/>
            </a:solidFill>
            <a:prstDash val="solid"/>
          </a:ln>
        </p:spPr>
      </p:sp>
      <p:sp>
        <p:nvSpPr>
          <p:cNvPr id="24" name="Shape 22"/>
          <p:cNvSpPr/>
          <p:nvPr/>
        </p:nvSpPr>
        <p:spPr>
          <a:xfrm>
            <a:off x="841248" y="2395728"/>
            <a:ext cx="54864" cy="54864"/>
          </a:xfrm>
          <a:prstGeom prst="ellipse">
            <a:avLst/>
          </a:prstGeom>
          <a:solidFill>
            <a:srgbClr val="A0522D"/>
          </a:solidFill>
          <a:ln w="9525">
            <a:solidFill>
              <a:srgbClr val="A0522D"/>
            </a:solidFill>
            <a:prstDash val="solid"/>
          </a:ln>
        </p:spPr>
      </p:sp>
      <p:sp>
        <p:nvSpPr>
          <p:cNvPr id="25" name="Shape 23"/>
          <p:cNvSpPr/>
          <p:nvPr/>
        </p:nvSpPr>
        <p:spPr>
          <a:xfrm flipV="1">
            <a:off x="1417320" y="2423160"/>
            <a:ext cx="91" cy="640080"/>
          </a:xfrm>
          <a:prstGeom prst="line">
            <a:avLst/>
          </a:prstGeom>
          <a:noFill/>
          <a:ln w="15875">
            <a:solidFill>
              <a:srgbClr val="3E7F2E"/>
            </a:solidFill>
            <a:prstDash val="solid"/>
          </a:ln>
        </p:spPr>
      </p:sp>
      <p:sp>
        <p:nvSpPr>
          <p:cNvPr id="26" name="Shape 24"/>
          <p:cNvSpPr/>
          <p:nvPr/>
        </p:nvSpPr>
        <p:spPr>
          <a:xfrm>
            <a:off x="1380744" y="2345436"/>
            <a:ext cx="73152" cy="73152"/>
          </a:xfrm>
          <a:prstGeom prst="ellipse">
            <a:avLst/>
          </a:prstGeom>
          <a:solidFill>
            <a:srgbClr val="C8414C"/>
          </a:solidFill>
          <a:ln w="9525">
            <a:solidFill>
              <a:srgbClr val="C8414C"/>
            </a:solidFill>
            <a:prstDash val="solid"/>
          </a:ln>
        </p:spPr>
      </p:sp>
      <p:sp>
        <p:nvSpPr>
          <p:cNvPr id="27" name="Shape 25"/>
          <p:cNvSpPr/>
          <p:nvPr/>
        </p:nvSpPr>
        <p:spPr>
          <a:xfrm>
            <a:off x="1421892" y="2386584"/>
            <a:ext cx="73152" cy="73152"/>
          </a:xfrm>
          <a:prstGeom prst="ellipse">
            <a:avLst/>
          </a:prstGeom>
          <a:solidFill>
            <a:srgbClr val="C8414C"/>
          </a:solidFill>
          <a:ln w="9525">
            <a:solidFill>
              <a:srgbClr val="C8414C"/>
            </a:solidFill>
            <a:prstDash val="solid"/>
          </a:ln>
        </p:spPr>
      </p:sp>
      <p:sp>
        <p:nvSpPr>
          <p:cNvPr id="28" name="Shape 26"/>
          <p:cNvSpPr/>
          <p:nvPr/>
        </p:nvSpPr>
        <p:spPr>
          <a:xfrm>
            <a:off x="1380744" y="2427732"/>
            <a:ext cx="73152" cy="73152"/>
          </a:xfrm>
          <a:prstGeom prst="ellipse">
            <a:avLst/>
          </a:prstGeom>
          <a:solidFill>
            <a:srgbClr val="C8414C"/>
          </a:solidFill>
          <a:ln w="9525">
            <a:solidFill>
              <a:srgbClr val="C8414C"/>
            </a:solidFill>
            <a:prstDash val="solid"/>
          </a:ln>
        </p:spPr>
      </p:sp>
      <p:sp>
        <p:nvSpPr>
          <p:cNvPr id="29" name="Shape 27"/>
          <p:cNvSpPr/>
          <p:nvPr/>
        </p:nvSpPr>
        <p:spPr>
          <a:xfrm>
            <a:off x="1339596" y="2386584"/>
            <a:ext cx="73152" cy="73152"/>
          </a:xfrm>
          <a:prstGeom prst="ellipse">
            <a:avLst/>
          </a:prstGeom>
          <a:solidFill>
            <a:srgbClr val="C8414C"/>
          </a:solidFill>
          <a:ln w="9525">
            <a:solidFill>
              <a:srgbClr val="C8414C"/>
            </a:solidFill>
            <a:prstDash val="solid"/>
          </a:ln>
        </p:spPr>
      </p:sp>
      <p:sp>
        <p:nvSpPr>
          <p:cNvPr id="30" name="Shape 28"/>
          <p:cNvSpPr/>
          <p:nvPr/>
        </p:nvSpPr>
        <p:spPr>
          <a:xfrm>
            <a:off x="1389888" y="2395728"/>
            <a:ext cx="54864" cy="54864"/>
          </a:xfrm>
          <a:prstGeom prst="ellipse">
            <a:avLst/>
          </a:prstGeom>
          <a:solidFill>
            <a:srgbClr val="A0522D"/>
          </a:solidFill>
          <a:ln w="9525">
            <a:solidFill>
              <a:srgbClr val="A0522D"/>
            </a:solidFill>
            <a:prstDash val="solid"/>
          </a:ln>
        </p:spPr>
      </p:sp>
      <p:sp>
        <p:nvSpPr>
          <p:cNvPr id="31" name="Shape 29"/>
          <p:cNvSpPr/>
          <p:nvPr/>
        </p:nvSpPr>
        <p:spPr>
          <a:xfrm flipV="1">
            <a:off x="1965960" y="2423160"/>
            <a:ext cx="91" cy="640080"/>
          </a:xfrm>
          <a:prstGeom prst="line">
            <a:avLst/>
          </a:prstGeom>
          <a:noFill/>
          <a:ln w="15875">
            <a:solidFill>
              <a:srgbClr val="3E7F2E"/>
            </a:solidFill>
            <a:prstDash val="solid"/>
          </a:ln>
        </p:spPr>
      </p:sp>
      <p:sp>
        <p:nvSpPr>
          <p:cNvPr id="32" name="Shape 30"/>
          <p:cNvSpPr/>
          <p:nvPr/>
        </p:nvSpPr>
        <p:spPr>
          <a:xfrm>
            <a:off x="1929384" y="2345436"/>
            <a:ext cx="73152" cy="73152"/>
          </a:xfrm>
          <a:prstGeom prst="ellipse">
            <a:avLst/>
          </a:prstGeom>
          <a:solidFill>
            <a:srgbClr val="F2F2F2"/>
          </a:solidFill>
          <a:ln w="9525">
            <a:solidFill>
              <a:srgbClr val="F2F2F2"/>
            </a:solidFill>
            <a:prstDash val="solid"/>
          </a:ln>
        </p:spPr>
      </p:sp>
      <p:sp>
        <p:nvSpPr>
          <p:cNvPr id="33" name="Shape 31"/>
          <p:cNvSpPr/>
          <p:nvPr/>
        </p:nvSpPr>
        <p:spPr>
          <a:xfrm>
            <a:off x="1970532" y="2386584"/>
            <a:ext cx="73152" cy="73152"/>
          </a:xfrm>
          <a:prstGeom prst="ellipse">
            <a:avLst/>
          </a:prstGeom>
          <a:solidFill>
            <a:srgbClr val="F2F2F2"/>
          </a:solidFill>
          <a:ln w="9525">
            <a:solidFill>
              <a:srgbClr val="F2F2F2"/>
            </a:solidFill>
            <a:prstDash val="solid"/>
          </a:ln>
        </p:spPr>
      </p:sp>
      <p:sp>
        <p:nvSpPr>
          <p:cNvPr id="34" name="Shape 32"/>
          <p:cNvSpPr/>
          <p:nvPr/>
        </p:nvSpPr>
        <p:spPr>
          <a:xfrm>
            <a:off x="1929384" y="2427732"/>
            <a:ext cx="73152" cy="73152"/>
          </a:xfrm>
          <a:prstGeom prst="ellipse">
            <a:avLst/>
          </a:prstGeom>
          <a:solidFill>
            <a:srgbClr val="F2F2F2"/>
          </a:solidFill>
          <a:ln w="9525">
            <a:solidFill>
              <a:srgbClr val="F2F2F2"/>
            </a:solidFill>
            <a:prstDash val="solid"/>
          </a:ln>
        </p:spPr>
      </p:sp>
      <p:sp>
        <p:nvSpPr>
          <p:cNvPr id="35" name="Shape 33"/>
          <p:cNvSpPr/>
          <p:nvPr/>
        </p:nvSpPr>
        <p:spPr>
          <a:xfrm>
            <a:off x="1888236" y="2386584"/>
            <a:ext cx="73152" cy="73152"/>
          </a:xfrm>
          <a:prstGeom prst="ellipse">
            <a:avLst/>
          </a:prstGeom>
          <a:solidFill>
            <a:srgbClr val="F2F2F2"/>
          </a:solidFill>
          <a:ln w="9525">
            <a:solidFill>
              <a:srgbClr val="F2F2F2"/>
            </a:solidFill>
            <a:prstDash val="solid"/>
          </a:ln>
        </p:spPr>
      </p:sp>
      <p:sp>
        <p:nvSpPr>
          <p:cNvPr id="36" name="Shape 34"/>
          <p:cNvSpPr/>
          <p:nvPr/>
        </p:nvSpPr>
        <p:spPr>
          <a:xfrm>
            <a:off x="1938528" y="2395728"/>
            <a:ext cx="54864" cy="54864"/>
          </a:xfrm>
          <a:prstGeom prst="ellipse">
            <a:avLst/>
          </a:prstGeom>
          <a:solidFill>
            <a:srgbClr val="A0522D"/>
          </a:solidFill>
          <a:ln w="9525">
            <a:solidFill>
              <a:srgbClr val="A0522D"/>
            </a:solidFill>
            <a:prstDash val="solid"/>
          </a:ln>
        </p:spPr>
      </p:sp>
      <p:sp>
        <p:nvSpPr>
          <p:cNvPr id="37" name="Shape 35"/>
          <p:cNvSpPr/>
          <p:nvPr/>
        </p:nvSpPr>
        <p:spPr>
          <a:xfrm flipV="1">
            <a:off x="868680" y="3429000"/>
            <a:ext cx="91" cy="640080"/>
          </a:xfrm>
          <a:prstGeom prst="line">
            <a:avLst/>
          </a:prstGeom>
          <a:noFill/>
          <a:ln w="15875">
            <a:solidFill>
              <a:srgbClr val="3E7F2E"/>
            </a:solidFill>
            <a:prstDash val="solid"/>
          </a:ln>
        </p:spPr>
      </p:sp>
      <p:sp>
        <p:nvSpPr>
          <p:cNvPr id="38" name="Shape 36"/>
          <p:cNvSpPr/>
          <p:nvPr/>
        </p:nvSpPr>
        <p:spPr>
          <a:xfrm>
            <a:off x="832104" y="3351276"/>
            <a:ext cx="73152" cy="73152"/>
          </a:xfrm>
          <a:prstGeom prst="ellipse">
            <a:avLst/>
          </a:prstGeom>
          <a:solidFill>
            <a:srgbClr val="8E44AD"/>
          </a:solidFill>
          <a:ln w="9525">
            <a:solidFill>
              <a:srgbClr val="8E44AD"/>
            </a:solidFill>
            <a:prstDash val="solid"/>
          </a:ln>
        </p:spPr>
      </p:sp>
      <p:sp>
        <p:nvSpPr>
          <p:cNvPr id="39" name="Shape 37"/>
          <p:cNvSpPr/>
          <p:nvPr/>
        </p:nvSpPr>
        <p:spPr>
          <a:xfrm>
            <a:off x="873252" y="3392424"/>
            <a:ext cx="73152" cy="73152"/>
          </a:xfrm>
          <a:prstGeom prst="ellipse">
            <a:avLst/>
          </a:prstGeom>
          <a:solidFill>
            <a:srgbClr val="8E44AD"/>
          </a:solidFill>
          <a:ln w="9525">
            <a:solidFill>
              <a:srgbClr val="8E44AD"/>
            </a:solidFill>
            <a:prstDash val="solid"/>
          </a:ln>
        </p:spPr>
      </p:sp>
      <p:sp>
        <p:nvSpPr>
          <p:cNvPr id="40" name="Shape 38"/>
          <p:cNvSpPr/>
          <p:nvPr/>
        </p:nvSpPr>
        <p:spPr>
          <a:xfrm>
            <a:off x="832104" y="3433572"/>
            <a:ext cx="73152" cy="73152"/>
          </a:xfrm>
          <a:prstGeom prst="ellipse">
            <a:avLst/>
          </a:prstGeom>
          <a:solidFill>
            <a:srgbClr val="8E44AD"/>
          </a:solidFill>
          <a:ln w="9525">
            <a:solidFill>
              <a:srgbClr val="8E44AD"/>
            </a:solidFill>
            <a:prstDash val="solid"/>
          </a:ln>
        </p:spPr>
      </p:sp>
      <p:sp>
        <p:nvSpPr>
          <p:cNvPr id="41" name="Shape 39"/>
          <p:cNvSpPr/>
          <p:nvPr/>
        </p:nvSpPr>
        <p:spPr>
          <a:xfrm>
            <a:off x="790956" y="3392424"/>
            <a:ext cx="73152" cy="73152"/>
          </a:xfrm>
          <a:prstGeom prst="ellipse">
            <a:avLst/>
          </a:prstGeom>
          <a:solidFill>
            <a:srgbClr val="8E44AD"/>
          </a:solidFill>
          <a:ln w="9525">
            <a:solidFill>
              <a:srgbClr val="8E44AD"/>
            </a:solidFill>
            <a:prstDash val="solid"/>
          </a:ln>
        </p:spPr>
      </p:sp>
      <p:sp>
        <p:nvSpPr>
          <p:cNvPr id="42" name="Shape 40"/>
          <p:cNvSpPr/>
          <p:nvPr/>
        </p:nvSpPr>
        <p:spPr>
          <a:xfrm>
            <a:off x="841248" y="3401568"/>
            <a:ext cx="54864" cy="54864"/>
          </a:xfrm>
          <a:prstGeom prst="ellipse">
            <a:avLst/>
          </a:prstGeom>
          <a:solidFill>
            <a:srgbClr val="A0522D"/>
          </a:solidFill>
          <a:ln w="9525">
            <a:solidFill>
              <a:srgbClr val="A0522D"/>
            </a:solidFill>
            <a:prstDash val="solid"/>
          </a:ln>
        </p:spPr>
      </p:sp>
      <p:sp>
        <p:nvSpPr>
          <p:cNvPr id="43" name="Shape 41"/>
          <p:cNvSpPr/>
          <p:nvPr/>
        </p:nvSpPr>
        <p:spPr>
          <a:xfrm flipV="1">
            <a:off x="1417320" y="3429000"/>
            <a:ext cx="91" cy="640080"/>
          </a:xfrm>
          <a:prstGeom prst="line">
            <a:avLst/>
          </a:prstGeom>
          <a:noFill/>
          <a:ln w="15875">
            <a:solidFill>
              <a:srgbClr val="3E7F2E"/>
            </a:solidFill>
            <a:prstDash val="solid"/>
          </a:ln>
        </p:spPr>
      </p:sp>
      <p:sp>
        <p:nvSpPr>
          <p:cNvPr id="44" name="Shape 42"/>
          <p:cNvSpPr/>
          <p:nvPr/>
        </p:nvSpPr>
        <p:spPr>
          <a:xfrm>
            <a:off x="1380744" y="3351276"/>
            <a:ext cx="73152" cy="73152"/>
          </a:xfrm>
          <a:prstGeom prst="ellipse">
            <a:avLst/>
          </a:prstGeom>
          <a:solidFill>
            <a:srgbClr val="E07A1E"/>
          </a:solidFill>
          <a:ln w="9525">
            <a:solidFill>
              <a:srgbClr val="E07A1E"/>
            </a:solidFill>
            <a:prstDash val="solid"/>
          </a:ln>
        </p:spPr>
      </p:sp>
      <p:sp>
        <p:nvSpPr>
          <p:cNvPr id="45" name="Shape 43"/>
          <p:cNvSpPr/>
          <p:nvPr/>
        </p:nvSpPr>
        <p:spPr>
          <a:xfrm>
            <a:off x="1421892" y="3392424"/>
            <a:ext cx="73152" cy="73152"/>
          </a:xfrm>
          <a:prstGeom prst="ellipse">
            <a:avLst/>
          </a:prstGeom>
          <a:solidFill>
            <a:srgbClr val="E07A1E"/>
          </a:solidFill>
          <a:ln w="9525">
            <a:solidFill>
              <a:srgbClr val="E07A1E"/>
            </a:solidFill>
            <a:prstDash val="solid"/>
          </a:ln>
        </p:spPr>
      </p:sp>
      <p:sp>
        <p:nvSpPr>
          <p:cNvPr id="46" name="Shape 44"/>
          <p:cNvSpPr/>
          <p:nvPr/>
        </p:nvSpPr>
        <p:spPr>
          <a:xfrm>
            <a:off x="1380744" y="3433572"/>
            <a:ext cx="73152" cy="73152"/>
          </a:xfrm>
          <a:prstGeom prst="ellipse">
            <a:avLst/>
          </a:prstGeom>
          <a:solidFill>
            <a:srgbClr val="E07A1E"/>
          </a:solidFill>
          <a:ln w="9525">
            <a:solidFill>
              <a:srgbClr val="E07A1E"/>
            </a:solidFill>
            <a:prstDash val="solid"/>
          </a:ln>
        </p:spPr>
      </p:sp>
      <p:sp>
        <p:nvSpPr>
          <p:cNvPr id="47" name="Shape 45"/>
          <p:cNvSpPr/>
          <p:nvPr/>
        </p:nvSpPr>
        <p:spPr>
          <a:xfrm>
            <a:off x="1339596" y="3392424"/>
            <a:ext cx="73152" cy="73152"/>
          </a:xfrm>
          <a:prstGeom prst="ellipse">
            <a:avLst/>
          </a:prstGeom>
          <a:solidFill>
            <a:srgbClr val="E07A1E"/>
          </a:solidFill>
          <a:ln w="9525">
            <a:solidFill>
              <a:srgbClr val="E07A1E"/>
            </a:solidFill>
            <a:prstDash val="solid"/>
          </a:ln>
        </p:spPr>
      </p:sp>
      <p:sp>
        <p:nvSpPr>
          <p:cNvPr id="48" name="Shape 46"/>
          <p:cNvSpPr/>
          <p:nvPr/>
        </p:nvSpPr>
        <p:spPr>
          <a:xfrm>
            <a:off x="1389888" y="3401568"/>
            <a:ext cx="54864" cy="54864"/>
          </a:xfrm>
          <a:prstGeom prst="ellipse">
            <a:avLst/>
          </a:prstGeom>
          <a:solidFill>
            <a:srgbClr val="A0522D"/>
          </a:solidFill>
          <a:ln w="9525">
            <a:solidFill>
              <a:srgbClr val="A0522D"/>
            </a:solidFill>
            <a:prstDash val="solid"/>
          </a:ln>
        </p:spPr>
      </p:sp>
      <p:sp>
        <p:nvSpPr>
          <p:cNvPr id="49" name="Shape 47"/>
          <p:cNvSpPr/>
          <p:nvPr/>
        </p:nvSpPr>
        <p:spPr>
          <a:xfrm flipV="1">
            <a:off x="1965960" y="3429000"/>
            <a:ext cx="91" cy="640080"/>
          </a:xfrm>
          <a:prstGeom prst="line">
            <a:avLst/>
          </a:prstGeom>
          <a:noFill/>
          <a:ln w="15875">
            <a:solidFill>
              <a:srgbClr val="3E7F2E"/>
            </a:solidFill>
            <a:prstDash val="solid"/>
          </a:ln>
        </p:spPr>
      </p:sp>
      <p:sp>
        <p:nvSpPr>
          <p:cNvPr id="50" name="Shape 48"/>
          <p:cNvSpPr/>
          <p:nvPr/>
        </p:nvSpPr>
        <p:spPr>
          <a:xfrm>
            <a:off x="1929384" y="3351276"/>
            <a:ext cx="73152" cy="73152"/>
          </a:xfrm>
          <a:prstGeom prst="ellipse">
            <a:avLst/>
          </a:prstGeom>
          <a:solidFill>
            <a:srgbClr val="5B9BD5"/>
          </a:solidFill>
          <a:ln w="9525">
            <a:solidFill>
              <a:srgbClr val="5B9BD5"/>
            </a:solidFill>
            <a:prstDash val="solid"/>
          </a:ln>
        </p:spPr>
      </p:sp>
      <p:sp>
        <p:nvSpPr>
          <p:cNvPr id="51" name="Shape 49"/>
          <p:cNvSpPr/>
          <p:nvPr/>
        </p:nvSpPr>
        <p:spPr>
          <a:xfrm>
            <a:off x="1970532" y="3392424"/>
            <a:ext cx="73152" cy="73152"/>
          </a:xfrm>
          <a:prstGeom prst="ellipse">
            <a:avLst/>
          </a:prstGeom>
          <a:solidFill>
            <a:srgbClr val="5B9BD5"/>
          </a:solidFill>
          <a:ln w="9525">
            <a:solidFill>
              <a:srgbClr val="5B9BD5"/>
            </a:solidFill>
            <a:prstDash val="solid"/>
          </a:ln>
        </p:spPr>
      </p:sp>
      <p:sp>
        <p:nvSpPr>
          <p:cNvPr id="52" name="Shape 50"/>
          <p:cNvSpPr/>
          <p:nvPr/>
        </p:nvSpPr>
        <p:spPr>
          <a:xfrm>
            <a:off x="1929384" y="3433572"/>
            <a:ext cx="73152" cy="73152"/>
          </a:xfrm>
          <a:prstGeom prst="ellipse">
            <a:avLst/>
          </a:prstGeom>
          <a:solidFill>
            <a:srgbClr val="5B9BD5"/>
          </a:solidFill>
          <a:ln w="9525">
            <a:solidFill>
              <a:srgbClr val="5B9BD5"/>
            </a:solidFill>
            <a:prstDash val="solid"/>
          </a:ln>
        </p:spPr>
      </p:sp>
      <p:sp>
        <p:nvSpPr>
          <p:cNvPr id="53" name="Shape 51"/>
          <p:cNvSpPr/>
          <p:nvPr/>
        </p:nvSpPr>
        <p:spPr>
          <a:xfrm>
            <a:off x="1888236" y="3392424"/>
            <a:ext cx="73152" cy="73152"/>
          </a:xfrm>
          <a:prstGeom prst="ellipse">
            <a:avLst/>
          </a:prstGeom>
          <a:solidFill>
            <a:srgbClr val="5B9BD5"/>
          </a:solidFill>
          <a:ln w="9525">
            <a:solidFill>
              <a:srgbClr val="5B9BD5"/>
            </a:solidFill>
            <a:prstDash val="solid"/>
          </a:ln>
        </p:spPr>
      </p:sp>
      <p:sp>
        <p:nvSpPr>
          <p:cNvPr id="54" name="Shape 52"/>
          <p:cNvSpPr/>
          <p:nvPr/>
        </p:nvSpPr>
        <p:spPr>
          <a:xfrm>
            <a:off x="1938528" y="3401568"/>
            <a:ext cx="54864" cy="54864"/>
          </a:xfrm>
          <a:prstGeom prst="ellipse">
            <a:avLst/>
          </a:prstGeom>
          <a:solidFill>
            <a:srgbClr val="A0522D"/>
          </a:solidFill>
          <a:ln w="9525">
            <a:solidFill>
              <a:srgbClr val="A0522D"/>
            </a:solidFill>
            <a:prstDash val="solid"/>
          </a:ln>
        </p:spPr>
      </p:sp>
      <p:sp>
        <p:nvSpPr>
          <p:cNvPr id="55" name="Shape 53"/>
          <p:cNvSpPr/>
          <p:nvPr/>
        </p:nvSpPr>
        <p:spPr>
          <a:xfrm flipH="1" flipV="1">
            <a:off x="740664" y="3941064"/>
            <a:ext cx="36576" cy="128016"/>
          </a:xfrm>
          <a:prstGeom prst="line">
            <a:avLst/>
          </a:prstGeom>
          <a:noFill/>
          <a:ln w="12700">
            <a:solidFill>
              <a:srgbClr val="5E9E4A"/>
            </a:solidFill>
            <a:prstDash val="solid"/>
          </a:ln>
        </p:spPr>
      </p:sp>
      <p:sp>
        <p:nvSpPr>
          <p:cNvPr id="56" name="Shape 54"/>
          <p:cNvSpPr/>
          <p:nvPr/>
        </p:nvSpPr>
        <p:spPr>
          <a:xfrm flipV="1">
            <a:off x="960120" y="3941064"/>
            <a:ext cx="36576" cy="128016"/>
          </a:xfrm>
          <a:prstGeom prst="line">
            <a:avLst/>
          </a:prstGeom>
          <a:noFill/>
          <a:ln w="12700">
            <a:solidFill>
              <a:srgbClr val="5E9E4A"/>
            </a:solidFill>
            <a:prstDash val="solid"/>
          </a:ln>
        </p:spPr>
      </p:sp>
      <p:sp>
        <p:nvSpPr>
          <p:cNvPr id="57" name="Shape 55"/>
          <p:cNvSpPr/>
          <p:nvPr/>
        </p:nvSpPr>
        <p:spPr>
          <a:xfrm flipH="1" flipV="1">
            <a:off x="1106424" y="3941064"/>
            <a:ext cx="36576" cy="128016"/>
          </a:xfrm>
          <a:prstGeom prst="line">
            <a:avLst/>
          </a:prstGeom>
          <a:noFill/>
          <a:ln w="12700">
            <a:solidFill>
              <a:srgbClr val="5E9E4A"/>
            </a:solidFill>
            <a:prstDash val="solid"/>
          </a:ln>
        </p:spPr>
      </p:sp>
      <p:sp>
        <p:nvSpPr>
          <p:cNvPr id="58" name="Shape 56"/>
          <p:cNvSpPr/>
          <p:nvPr/>
        </p:nvSpPr>
        <p:spPr>
          <a:xfrm flipV="1">
            <a:off x="1325880" y="3941064"/>
            <a:ext cx="36576" cy="128016"/>
          </a:xfrm>
          <a:prstGeom prst="line">
            <a:avLst/>
          </a:prstGeom>
          <a:noFill/>
          <a:ln w="12700">
            <a:solidFill>
              <a:srgbClr val="5E9E4A"/>
            </a:solidFill>
            <a:prstDash val="solid"/>
          </a:ln>
        </p:spPr>
      </p:sp>
      <p:sp>
        <p:nvSpPr>
          <p:cNvPr id="59" name="Shape 57"/>
          <p:cNvSpPr/>
          <p:nvPr/>
        </p:nvSpPr>
        <p:spPr>
          <a:xfrm flipH="1" flipV="1">
            <a:off x="1472184" y="3941064"/>
            <a:ext cx="36576" cy="128016"/>
          </a:xfrm>
          <a:prstGeom prst="line">
            <a:avLst/>
          </a:prstGeom>
          <a:noFill/>
          <a:ln w="12700">
            <a:solidFill>
              <a:srgbClr val="5E9E4A"/>
            </a:solidFill>
            <a:prstDash val="solid"/>
          </a:ln>
        </p:spPr>
      </p:sp>
      <p:sp>
        <p:nvSpPr>
          <p:cNvPr id="60" name="Shape 58"/>
          <p:cNvSpPr/>
          <p:nvPr/>
        </p:nvSpPr>
        <p:spPr>
          <a:xfrm flipV="1">
            <a:off x="1691640" y="3941064"/>
            <a:ext cx="36576" cy="128016"/>
          </a:xfrm>
          <a:prstGeom prst="line">
            <a:avLst/>
          </a:prstGeom>
          <a:noFill/>
          <a:ln w="12700">
            <a:solidFill>
              <a:srgbClr val="5E9E4A"/>
            </a:solidFill>
            <a:prstDash val="solid"/>
          </a:ln>
        </p:spPr>
      </p:sp>
      <p:sp>
        <p:nvSpPr>
          <p:cNvPr id="61" name="Shape 59"/>
          <p:cNvSpPr/>
          <p:nvPr/>
        </p:nvSpPr>
        <p:spPr>
          <a:xfrm flipH="1" flipV="1">
            <a:off x="1837944" y="3941064"/>
            <a:ext cx="36576" cy="128016"/>
          </a:xfrm>
          <a:prstGeom prst="line">
            <a:avLst/>
          </a:prstGeom>
          <a:noFill/>
          <a:ln w="12700">
            <a:solidFill>
              <a:srgbClr val="5E9E4A"/>
            </a:solidFill>
            <a:prstDash val="solid"/>
          </a:ln>
        </p:spPr>
      </p:sp>
      <p:sp>
        <p:nvSpPr>
          <p:cNvPr id="62" name="Shape 60"/>
          <p:cNvSpPr/>
          <p:nvPr/>
        </p:nvSpPr>
        <p:spPr>
          <a:xfrm flipV="1">
            <a:off x="2057400" y="3941064"/>
            <a:ext cx="36576" cy="128016"/>
          </a:xfrm>
          <a:prstGeom prst="line">
            <a:avLst/>
          </a:prstGeom>
          <a:noFill/>
          <a:ln w="12700">
            <a:solidFill>
              <a:srgbClr val="5E9E4A"/>
            </a:solidFill>
            <a:prstDash val="solid"/>
          </a:ln>
        </p:spPr>
      </p:sp>
      <p:sp>
        <p:nvSpPr>
          <p:cNvPr id="63" name="Shape 61"/>
          <p:cNvSpPr/>
          <p:nvPr/>
        </p:nvSpPr>
        <p:spPr>
          <a:xfrm flipV="1">
            <a:off x="2651760" y="2468880"/>
            <a:ext cx="91" cy="548640"/>
          </a:xfrm>
          <a:prstGeom prst="line">
            <a:avLst/>
          </a:prstGeom>
          <a:noFill/>
          <a:ln w="15875">
            <a:solidFill>
              <a:srgbClr val="3E7F2E"/>
            </a:solidFill>
            <a:prstDash val="solid"/>
          </a:ln>
        </p:spPr>
      </p:sp>
      <p:sp>
        <p:nvSpPr>
          <p:cNvPr id="64" name="Shape 62"/>
          <p:cNvSpPr/>
          <p:nvPr/>
        </p:nvSpPr>
        <p:spPr>
          <a:xfrm>
            <a:off x="2615184" y="2391156"/>
            <a:ext cx="73152" cy="73152"/>
          </a:xfrm>
          <a:prstGeom prst="ellipse">
            <a:avLst/>
          </a:prstGeom>
          <a:solidFill>
            <a:srgbClr val="E8C43A"/>
          </a:solidFill>
          <a:ln w="9525">
            <a:solidFill>
              <a:srgbClr val="E8C43A"/>
            </a:solidFill>
            <a:prstDash val="solid"/>
          </a:ln>
        </p:spPr>
      </p:sp>
      <p:sp>
        <p:nvSpPr>
          <p:cNvPr id="65" name="Shape 63"/>
          <p:cNvSpPr/>
          <p:nvPr/>
        </p:nvSpPr>
        <p:spPr>
          <a:xfrm>
            <a:off x="2656332" y="2432304"/>
            <a:ext cx="73152" cy="73152"/>
          </a:xfrm>
          <a:prstGeom prst="ellipse">
            <a:avLst/>
          </a:prstGeom>
          <a:solidFill>
            <a:srgbClr val="E8C43A"/>
          </a:solidFill>
          <a:ln w="9525">
            <a:solidFill>
              <a:srgbClr val="E8C43A"/>
            </a:solidFill>
            <a:prstDash val="solid"/>
          </a:ln>
        </p:spPr>
      </p:sp>
      <p:sp>
        <p:nvSpPr>
          <p:cNvPr id="66" name="Shape 64"/>
          <p:cNvSpPr/>
          <p:nvPr/>
        </p:nvSpPr>
        <p:spPr>
          <a:xfrm>
            <a:off x="2615184" y="2473452"/>
            <a:ext cx="73152" cy="73152"/>
          </a:xfrm>
          <a:prstGeom prst="ellipse">
            <a:avLst/>
          </a:prstGeom>
          <a:solidFill>
            <a:srgbClr val="E8C43A"/>
          </a:solidFill>
          <a:ln w="9525">
            <a:solidFill>
              <a:srgbClr val="E8C43A"/>
            </a:solidFill>
            <a:prstDash val="solid"/>
          </a:ln>
        </p:spPr>
      </p:sp>
      <p:sp>
        <p:nvSpPr>
          <p:cNvPr id="67" name="Shape 65"/>
          <p:cNvSpPr/>
          <p:nvPr/>
        </p:nvSpPr>
        <p:spPr>
          <a:xfrm>
            <a:off x="2574036" y="2432304"/>
            <a:ext cx="73152" cy="73152"/>
          </a:xfrm>
          <a:prstGeom prst="ellipse">
            <a:avLst/>
          </a:prstGeom>
          <a:solidFill>
            <a:srgbClr val="E8C43A"/>
          </a:solidFill>
          <a:ln w="9525">
            <a:solidFill>
              <a:srgbClr val="E8C43A"/>
            </a:solidFill>
            <a:prstDash val="solid"/>
          </a:ln>
        </p:spPr>
      </p:sp>
      <p:sp>
        <p:nvSpPr>
          <p:cNvPr id="68" name="Shape 66"/>
          <p:cNvSpPr/>
          <p:nvPr/>
        </p:nvSpPr>
        <p:spPr>
          <a:xfrm>
            <a:off x="2624328" y="2441448"/>
            <a:ext cx="54864" cy="54864"/>
          </a:xfrm>
          <a:prstGeom prst="ellipse">
            <a:avLst/>
          </a:prstGeom>
          <a:solidFill>
            <a:srgbClr val="A0522D"/>
          </a:solidFill>
          <a:ln w="9525">
            <a:solidFill>
              <a:srgbClr val="A0522D"/>
            </a:solidFill>
            <a:prstDash val="solid"/>
          </a:ln>
        </p:spPr>
      </p:sp>
      <p:sp>
        <p:nvSpPr>
          <p:cNvPr id="69" name="Shape 67"/>
          <p:cNvSpPr/>
          <p:nvPr/>
        </p:nvSpPr>
        <p:spPr>
          <a:xfrm>
            <a:off x="3288182" y="2647188"/>
            <a:ext cx="98755" cy="370332"/>
          </a:xfrm>
          <a:prstGeom prst="rect">
            <a:avLst/>
          </a:prstGeom>
          <a:solidFill>
            <a:srgbClr val="8A5A2B"/>
          </a:solidFill>
          <a:ln w="9525">
            <a:solidFill>
              <a:srgbClr val="5E3B1A"/>
            </a:solidFill>
            <a:prstDash val="solid"/>
          </a:ln>
        </p:spPr>
      </p:sp>
      <p:sp>
        <p:nvSpPr>
          <p:cNvPr id="70" name="Shape 68"/>
          <p:cNvSpPr/>
          <p:nvPr/>
        </p:nvSpPr>
        <p:spPr>
          <a:xfrm>
            <a:off x="3090672" y="2211019"/>
            <a:ext cx="493776" cy="493776"/>
          </a:xfrm>
          <a:prstGeom prst="ellipse">
            <a:avLst/>
          </a:prstGeom>
          <a:solidFill>
            <a:srgbClr val="4E9A3E"/>
          </a:solidFill>
          <a:ln w="9525">
            <a:solidFill>
              <a:srgbClr val="2F6B24"/>
            </a:solidFill>
            <a:prstDash val="solid"/>
          </a:ln>
        </p:spPr>
      </p:sp>
      <p:sp>
        <p:nvSpPr>
          <p:cNvPr id="71" name="Shape 69"/>
          <p:cNvSpPr/>
          <p:nvPr/>
        </p:nvSpPr>
        <p:spPr>
          <a:xfrm rot="1200000">
            <a:off x="2852928" y="3451860"/>
            <a:ext cx="219456" cy="411480"/>
          </a:xfrm>
          <a:prstGeom prst="ellipse">
            <a:avLst/>
          </a:prstGeom>
          <a:solidFill>
            <a:srgbClr val="C0602A"/>
          </a:solidFill>
          <a:ln w="9525">
            <a:solidFill>
              <a:srgbClr val="7A3A16"/>
            </a:solidFill>
            <a:prstDash val="solid"/>
          </a:ln>
        </p:spPr>
      </p:sp>
      <p:sp>
        <p:nvSpPr>
          <p:cNvPr id="72" name="Shape 70"/>
          <p:cNvSpPr/>
          <p:nvPr/>
        </p:nvSpPr>
        <p:spPr>
          <a:xfrm>
            <a:off x="2599182" y="3691890"/>
            <a:ext cx="288036" cy="205740"/>
          </a:xfrm>
          <a:prstGeom prst="ellipse">
            <a:avLst/>
          </a:prstGeom>
          <a:solidFill>
            <a:srgbClr val="C0602A"/>
          </a:solidFill>
          <a:ln w="9525">
            <a:solidFill>
              <a:srgbClr val="7A3A16"/>
            </a:solidFill>
            <a:prstDash val="solid"/>
          </a:ln>
        </p:spPr>
      </p:sp>
      <p:sp>
        <p:nvSpPr>
          <p:cNvPr id="73" name="Shape 71"/>
          <p:cNvSpPr/>
          <p:nvPr/>
        </p:nvSpPr>
        <p:spPr>
          <a:xfrm>
            <a:off x="2516886" y="3616452"/>
            <a:ext cx="150876" cy="150876"/>
          </a:xfrm>
          <a:prstGeom prst="ellipse">
            <a:avLst/>
          </a:prstGeom>
          <a:solidFill>
            <a:srgbClr val="C0602A"/>
          </a:solidFill>
          <a:ln w="9525">
            <a:solidFill>
              <a:srgbClr val="7A3A16"/>
            </a:solidFill>
            <a:prstDash val="solid"/>
          </a:ln>
        </p:spPr>
      </p:sp>
      <p:sp>
        <p:nvSpPr>
          <p:cNvPr id="74" name="Shape 72"/>
          <p:cNvSpPr/>
          <p:nvPr/>
        </p:nvSpPr>
        <p:spPr>
          <a:xfrm>
            <a:off x="2578608" y="3568446"/>
            <a:ext cx="54864" cy="68580"/>
          </a:xfrm>
          <a:prstGeom prst="triangle">
            <a:avLst/>
          </a:prstGeom>
          <a:solidFill>
            <a:srgbClr val="C0602A"/>
          </a:solidFill>
          <a:ln w="6350">
            <a:solidFill>
              <a:srgbClr val="7A3A16"/>
            </a:solidFill>
            <a:prstDash val="solid"/>
          </a:ln>
        </p:spPr>
      </p:sp>
      <p:sp>
        <p:nvSpPr>
          <p:cNvPr id="75" name="Shape 73"/>
          <p:cNvSpPr/>
          <p:nvPr/>
        </p:nvSpPr>
        <p:spPr>
          <a:xfrm>
            <a:off x="2545232" y="3658514"/>
            <a:ext cx="39319" cy="39319"/>
          </a:xfrm>
          <a:prstGeom prst="ellipse">
            <a:avLst/>
          </a:prstGeom>
          <a:solidFill>
            <a:srgbClr val="133536"/>
          </a:solidFill>
          <a:ln w="9525">
            <a:solidFill>
              <a:srgbClr val="133536"/>
            </a:solidFill>
            <a:prstDash val="solid"/>
          </a:ln>
        </p:spPr>
      </p:sp>
      <p:sp>
        <p:nvSpPr>
          <p:cNvPr id="76" name="Shape 74"/>
          <p:cNvSpPr/>
          <p:nvPr/>
        </p:nvSpPr>
        <p:spPr>
          <a:xfrm rot="5400000">
            <a:off x="3208630" y="3709264"/>
            <a:ext cx="170993" cy="150876"/>
          </a:xfrm>
          <a:prstGeom prst="triangle">
            <a:avLst/>
          </a:prstGeom>
          <a:solidFill>
            <a:srgbClr val="6E8FB5"/>
          </a:solidFill>
          <a:ln w="9525">
            <a:solidFill>
              <a:srgbClr val="3E5C80"/>
            </a:solidFill>
            <a:prstDash val="solid"/>
          </a:ln>
        </p:spPr>
      </p:sp>
      <p:sp>
        <p:nvSpPr>
          <p:cNvPr id="77" name="Shape 75"/>
          <p:cNvSpPr/>
          <p:nvPr/>
        </p:nvSpPr>
        <p:spPr>
          <a:xfrm>
            <a:off x="3268980" y="3689147"/>
            <a:ext cx="502920" cy="211226"/>
          </a:xfrm>
          <a:prstGeom prst="ellipse">
            <a:avLst/>
          </a:prstGeom>
          <a:solidFill>
            <a:srgbClr val="6E8FB5"/>
          </a:solidFill>
          <a:ln w="9525">
            <a:solidFill>
              <a:srgbClr val="3E5C80"/>
            </a:solidFill>
            <a:prstDash val="solid"/>
          </a:ln>
        </p:spPr>
      </p:sp>
      <p:sp>
        <p:nvSpPr>
          <p:cNvPr id="78" name="Shape 76"/>
          <p:cNvSpPr/>
          <p:nvPr/>
        </p:nvSpPr>
        <p:spPr>
          <a:xfrm>
            <a:off x="3651199" y="3754526"/>
            <a:ext cx="40234" cy="40234"/>
          </a:xfrm>
          <a:prstGeom prst="ellipse">
            <a:avLst/>
          </a:prstGeom>
          <a:solidFill>
            <a:srgbClr val="133536"/>
          </a:solidFill>
          <a:ln w="9525">
            <a:solidFill>
              <a:srgbClr val="133536"/>
            </a:solidFill>
            <a:prstDash val="solid"/>
          </a:ln>
        </p:spPr>
      </p:sp>
      <p:sp>
        <p:nvSpPr>
          <p:cNvPr id="79" name="Shape 77"/>
          <p:cNvSpPr/>
          <p:nvPr/>
        </p:nvSpPr>
        <p:spPr>
          <a:xfrm>
            <a:off x="2723083" y="2236622"/>
            <a:ext cx="307238" cy="190195"/>
          </a:xfrm>
          <a:prstGeom prst="ellipse">
            <a:avLst/>
          </a:prstGeom>
          <a:solidFill>
            <a:srgbClr val="5B9BD5"/>
          </a:solidFill>
          <a:ln w="9525">
            <a:solidFill>
              <a:srgbClr val="2F5F8F"/>
            </a:solidFill>
            <a:prstDash val="solid"/>
          </a:ln>
        </p:spPr>
      </p:sp>
      <p:sp>
        <p:nvSpPr>
          <p:cNvPr id="80" name="Shape 78"/>
          <p:cNvSpPr/>
          <p:nvPr/>
        </p:nvSpPr>
        <p:spPr>
          <a:xfrm>
            <a:off x="2781605" y="2302459"/>
            <a:ext cx="190195" cy="102413"/>
          </a:xfrm>
          <a:prstGeom prst="ellipse">
            <a:avLst/>
          </a:prstGeom>
          <a:solidFill>
            <a:srgbClr val="F2D16B"/>
          </a:solidFill>
          <a:ln w="6350">
            <a:solidFill>
              <a:srgbClr val="C9A63A"/>
            </a:solidFill>
            <a:prstDash val="solid"/>
          </a:ln>
        </p:spPr>
      </p:sp>
      <p:sp>
        <p:nvSpPr>
          <p:cNvPr id="81" name="Shape 79"/>
          <p:cNvSpPr/>
          <p:nvPr/>
        </p:nvSpPr>
        <p:spPr>
          <a:xfrm>
            <a:off x="2627986" y="2200046"/>
            <a:ext cx="146304" cy="146304"/>
          </a:xfrm>
          <a:prstGeom prst="ellipse">
            <a:avLst/>
          </a:prstGeom>
          <a:solidFill>
            <a:srgbClr val="5B9BD5"/>
          </a:solidFill>
          <a:ln w="9525">
            <a:solidFill>
              <a:srgbClr val="2F5F8F"/>
            </a:solidFill>
            <a:prstDash val="solid"/>
          </a:ln>
        </p:spPr>
      </p:sp>
      <p:sp>
        <p:nvSpPr>
          <p:cNvPr id="82" name="Shape 80"/>
          <p:cNvSpPr/>
          <p:nvPr/>
        </p:nvSpPr>
        <p:spPr>
          <a:xfrm rot="16200000">
            <a:off x="2569464" y="2251253"/>
            <a:ext cx="58522" cy="51206"/>
          </a:xfrm>
          <a:prstGeom prst="triangle">
            <a:avLst/>
          </a:prstGeom>
          <a:solidFill>
            <a:srgbClr val="3A3A3A"/>
          </a:solidFill>
          <a:ln w="6350">
            <a:solidFill>
              <a:srgbClr val="3A3A3A"/>
            </a:solidFill>
            <a:prstDash val="solid"/>
          </a:ln>
        </p:spPr>
      </p:sp>
      <p:sp>
        <p:nvSpPr>
          <p:cNvPr id="83" name="Shape 81"/>
          <p:cNvSpPr/>
          <p:nvPr/>
        </p:nvSpPr>
        <p:spPr>
          <a:xfrm>
            <a:off x="2668219" y="2240280"/>
            <a:ext cx="36576" cy="36576"/>
          </a:xfrm>
          <a:prstGeom prst="ellipse">
            <a:avLst/>
          </a:prstGeom>
          <a:solidFill>
            <a:srgbClr val="133536"/>
          </a:solidFill>
          <a:ln w="9525">
            <a:solidFill>
              <a:srgbClr val="133536"/>
            </a:solidFill>
            <a:prstDash val="solid"/>
          </a:ln>
        </p:spPr>
      </p:sp>
      <p:sp>
        <p:nvSpPr>
          <p:cNvPr id="84" name="Shape 82"/>
          <p:cNvSpPr/>
          <p:nvPr/>
        </p:nvSpPr>
        <p:spPr>
          <a:xfrm rot="5400000">
            <a:off x="3008376" y="2273198"/>
            <a:ext cx="117043" cy="87782"/>
          </a:xfrm>
          <a:prstGeom prst="triangle">
            <a:avLst/>
          </a:prstGeom>
          <a:solidFill>
            <a:srgbClr val="2F5F8F"/>
          </a:solidFill>
          <a:ln w="6350">
            <a:solidFill>
              <a:srgbClr val="2F5F8F"/>
            </a:solidFill>
            <a:prstDash val="solid"/>
          </a:ln>
        </p:spPr>
      </p:sp>
      <p:sp>
        <p:nvSpPr>
          <p:cNvPr id="85" name="Shape 83"/>
          <p:cNvSpPr/>
          <p:nvPr/>
        </p:nvSpPr>
        <p:spPr>
          <a:xfrm>
            <a:off x="2825496" y="2419502"/>
            <a:ext cx="91" cy="73152"/>
          </a:xfrm>
          <a:prstGeom prst="line">
            <a:avLst/>
          </a:prstGeom>
          <a:noFill/>
          <a:ln w="12700">
            <a:solidFill>
              <a:srgbClr val="6B7385"/>
            </a:solidFill>
            <a:prstDash val="solid"/>
          </a:ln>
        </p:spPr>
      </p:sp>
      <p:sp>
        <p:nvSpPr>
          <p:cNvPr id="86" name="Text 84"/>
          <p:cNvSpPr/>
          <p:nvPr/>
        </p:nvSpPr>
        <p:spPr>
          <a:xfrm>
            <a:off x="2423160" y="4160520"/>
            <a:ext cx="1554480" cy="228600"/>
          </a:xfrm>
          <a:prstGeom prst="rect">
            <a:avLst/>
          </a:prstGeom>
          <a:noFill/>
          <a:ln/>
        </p:spPr>
        <p:txBody>
          <a:bodyPr wrap="square" lIns="0" tIns="0" rIns="0" bIns="0" rtlCol="0" anchor="ctr"/>
          <a:lstStyle/>
          <a:p>
            <a:pPr algn="ctr" indent="0" marL="0">
              <a:buNone/>
            </a:pPr>
            <a:r>
              <a:rPr lang="en-US" sz="1000" b="1" dirty="0">
                <a:solidFill>
                  <a:srgbClr val="0D7877"/>
                </a:solidFill>
                <a:latin typeface="Calibri" pitchFamily="34" charset="0"/>
                <a:ea typeface="Calibri" pitchFamily="34" charset="-122"/>
                <a:cs typeface="Calibri" pitchFamily="34" charset="-120"/>
              </a:rPr>
              <a:t>5 species</a:t>
            </a:r>
            <a:endParaRPr lang="en-US" sz="1000" dirty="0"/>
          </a:p>
        </p:txBody>
      </p:sp>
      <p:sp>
        <p:nvSpPr>
          <p:cNvPr id="87" name="Shape 85"/>
          <p:cNvSpPr/>
          <p:nvPr/>
        </p:nvSpPr>
        <p:spPr>
          <a:xfrm>
            <a:off x="4487875" y="2455164"/>
            <a:ext cx="76810" cy="288036"/>
          </a:xfrm>
          <a:prstGeom prst="rect">
            <a:avLst/>
          </a:prstGeom>
          <a:solidFill>
            <a:srgbClr val="8A5A2B"/>
          </a:solidFill>
          <a:ln w="9525">
            <a:solidFill>
              <a:srgbClr val="5E3B1A"/>
            </a:solidFill>
            <a:prstDash val="solid"/>
          </a:ln>
        </p:spPr>
      </p:sp>
      <p:sp>
        <p:nvSpPr>
          <p:cNvPr id="88" name="Shape 86"/>
          <p:cNvSpPr/>
          <p:nvPr/>
        </p:nvSpPr>
        <p:spPr>
          <a:xfrm>
            <a:off x="4334256" y="2115922"/>
            <a:ext cx="384048" cy="384048"/>
          </a:xfrm>
          <a:prstGeom prst="ellipse">
            <a:avLst/>
          </a:prstGeom>
          <a:solidFill>
            <a:srgbClr val="4E9A3E"/>
          </a:solidFill>
          <a:ln w="9525">
            <a:solidFill>
              <a:srgbClr val="2F6B24"/>
            </a:solidFill>
            <a:prstDash val="solid"/>
          </a:ln>
        </p:spPr>
      </p:sp>
      <p:sp>
        <p:nvSpPr>
          <p:cNvPr id="89" name="Shape 87"/>
          <p:cNvSpPr/>
          <p:nvPr/>
        </p:nvSpPr>
        <p:spPr>
          <a:xfrm>
            <a:off x="4893869" y="2414016"/>
            <a:ext cx="87782" cy="329184"/>
          </a:xfrm>
          <a:prstGeom prst="rect">
            <a:avLst/>
          </a:prstGeom>
          <a:solidFill>
            <a:srgbClr val="8A5A2B"/>
          </a:solidFill>
          <a:ln w="9525">
            <a:solidFill>
              <a:srgbClr val="5E3B1A"/>
            </a:solidFill>
            <a:prstDash val="solid"/>
          </a:ln>
        </p:spPr>
      </p:sp>
      <p:sp>
        <p:nvSpPr>
          <p:cNvPr id="90" name="Shape 88"/>
          <p:cNvSpPr/>
          <p:nvPr/>
        </p:nvSpPr>
        <p:spPr>
          <a:xfrm>
            <a:off x="4718304" y="2026310"/>
            <a:ext cx="438912" cy="438912"/>
          </a:xfrm>
          <a:prstGeom prst="ellipse">
            <a:avLst/>
          </a:prstGeom>
          <a:solidFill>
            <a:srgbClr val="4E9A3E"/>
          </a:solidFill>
          <a:ln w="9525">
            <a:solidFill>
              <a:srgbClr val="2F6B24"/>
            </a:solidFill>
            <a:prstDash val="solid"/>
          </a:ln>
        </p:spPr>
      </p:sp>
      <p:sp>
        <p:nvSpPr>
          <p:cNvPr id="91" name="Shape 89"/>
          <p:cNvSpPr/>
          <p:nvPr/>
        </p:nvSpPr>
        <p:spPr>
          <a:xfrm>
            <a:off x="5402275" y="2455164"/>
            <a:ext cx="76810" cy="288036"/>
          </a:xfrm>
          <a:prstGeom prst="rect">
            <a:avLst/>
          </a:prstGeom>
          <a:solidFill>
            <a:srgbClr val="8A5A2B"/>
          </a:solidFill>
          <a:ln w="9525">
            <a:solidFill>
              <a:srgbClr val="5E3B1A"/>
            </a:solidFill>
            <a:prstDash val="solid"/>
          </a:ln>
        </p:spPr>
      </p:sp>
      <p:sp>
        <p:nvSpPr>
          <p:cNvPr id="92" name="Shape 90"/>
          <p:cNvSpPr/>
          <p:nvPr/>
        </p:nvSpPr>
        <p:spPr>
          <a:xfrm>
            <a:off x="5248656" y="2115922"/>
            <a:ext cx="384048" cy="384048"/>
          </a:xfrm>
          <a:prstGeom prst="ellipse">
            <a:avLst/>
          </a:prstGeom>
          <a:solidFill>
            <a:srgbClr val="4E9A3E"/>
          </a:solidFill>
          <a:ln w="9525">
            <a:solidFill>
              <a:srgbClr val="2F6B24"/>
            </a:solidFill>
            <a:prstDash val="solid"/>
          </a:ln>
        </p:spPr>
      </p:sp>
      <p:sp>
        <p:nvSpPr>
          <p:cNvPr id="93" name="Text 91"/>
          <p:cNvSpPr/>
          <p:nvPr/>
        </p:nvSpPr>
        <p:spPr>
          <a:xfrm>
            <a:off x="4206240" y="2761488"/>
            <a:ext cx="1554480" cy="201168"/>
          </a:xfrm>
          <a:prstGeom prst="rect">
            <a:avLst/>
          </a:prstGeom>
          <a:noFill/>
          <a:ln/>
        </p:spPr>
        <p:txBody>
          <a:bodyPr wrap="square" lIns="0" tIns="0" rIns="0" bIns="0" rtlCol="0" anchor="ctr"/>
          <a:lstStyle/>
          <a:p>
            <a:pPr algn="ctr" indent="0" marL="0">
              <a:buNone/>
            </a:pPr>
            <a:r>
              <a:rPr lang="en-US" sz="1000" dirty="0">
                <a:solidFill>
                  <a:srgbClr val="2F6B24"/>
                </a:solidFill>
                <a:latin typeface="Calibri" pitchFamily="34" charset="0"/>
                <a:ea typeface="Calibri" pitchFamily="34" charset="-122"/>
                <a:cs typeface="Calibri" pitchFamily="34" charset="-120"/>
              </a:rPr>
              <a:t>woodland</a:t>
            </a:r>
            <a:endParaRPr lang="en-US" sz="1000" dirty="0"/>
          </a:p>
        </p:txBody>
      </p:sp>
      <p:sp>
        <p:nvSpPr>
          <p:cNvPr id="94" name="Shape 92"/>
          <p:cNvSpPr/>
          <p:nvPr/>
        </p:nvSpPr>
        <p:spPr>
          <a:xfrm>
            <a:off x="4343400" y="3209544"/>
            <a:ext cx="1280160" cy="347472"/>
          </a:xfrm>
          <a:prstGeom prst="ellipse">
            <a:avLst/>
          </a:prstGeom>
          <a:solidFill>
            <a:srgbClr val="BFD9F2"/>
          </a:solidFill>
          <a:ln w="12700">
            <a:solidFill>
              <a:srgbClr val="5B9BD5"/>
            </a:solidFill>
            <a:prstDash val="solid"/>
          </a:ln>
        </p:spPr>
      </p:sp>
      <p:sp>
        <p:nvSpPr>
          <p:cNvPr id="95" name="Text 93"/>
          <p:cNvSpPr/>
          <p:nvPr/>
        </p:nvSpPr>
        <p:spPr>
          <a:xfrm>
            <a:off x="4206240" y="3566160"/>
            <a:ext cx="1554480" cy="201168"/>
          </a:xfrm>
          <a:prstGeom prst="rect">
            <a:avLst/>
          </a:prstGeom>
          <a:noFill/>
          <a:ln/>
        </p:spPr>
        <p:txBody>
          <a:bodyPr wrap="square" lIns="0" tIns="0" rIns="0" bIns="0" rtlCol="0" anchor="ctr"/>
          <a:lstStyle/>
          <a:p>
            <a:pPr algn="ctr" indent="0" marL="0">
              <a:buNone/>
            </a:pPr>
            <a:r>
              <a:rPr lang="en-US" sz="1000" dirty="0">
                <a:solidFill>
                  <a:srgbClr val="5B9BD5"/>
                </a:solidFill>
                <a:latin typeface="Calibri" pitchFamily="34" charset="0"/>
                <a:ea typeface="Calibri" pitchFamily="34" charset="-122"/>
                <a:cs typeface="Calibri" pitchFamily="34" charset="-120"/>
              </a:rPr>
              <a:t>pond</a:t>
            </a:r>
            <a:endParaRPr lang="en-US" sz="1000" dirty="0"/>
          </a:p>
        </p:txBody>
      </p:sp>
      <p:sp>
        <p:nvSpPr>
          <p:cNvPr id="96" name="Shape 94"/>
          <p:cNvSpPr/>
          <p:nvPr/>
        </p:nvSpPr>
        <p:spPr>
          <a:xfrm flipH="1" flipV="1">
            <a:off x="4377944" y="4078224"/>
            <a:ext cx="36576" cy="128016"/>
          </a:xfrm>
          <a:prstGeom prst="line">
            <a:avLst/>
          </a:prstGeom>
          <a:noFill/>
          <a:ln w="12700">
            <a:solidFill>
              <a:srgbClr val="5E9E4A"/>
            </a:solidFill>
            <a:prstDash val="solid"/>
          </a:ln>
        </p:spPr>
      </p:sp>
      <p:sp>
        <p:nvSpPr>
          <p:cNvPr id="97" name="Shape 95"/>
          <p:cNvSpPr/>
          <p:nvPr/>
        </p:nvSpPr>
        <p:spPr>
          <a:xfrm flipV="1">
            <a:off x="4556760" y="4078224"/>
            <a:ext cx="36576" cy="128016"/>
          </a:xfrm>
          <a:prstGeom prst="line">
            <a:avLst/>
          </a:prstGeom>
          <a:noFill/>
          <a:ln w="12700">
            <a:solidFill>
              <a:srgbClr val="5E9E4A"/>
            </a:solidFill>
            <a:prstDash val="solid"/>
          </a:ln>
        </p:spPr>
      </p:sp>
      <p:sp>
        <p:nvSpPr>
          <p:cNvPr id="98" name="Shape 96"/>
          <p:cNvSpPr/>
          <p:nvPr/>
        </p:nvSpPr>
        <p:spPr>
          <a:xfrm flipH="1" flipV="1">
            <a:off x="4662424" y="4078224"/>
            <a:ext cx="36576" cy="128016"/>
          </a:xfrm>
          <a:prstGeom prst="line">
            <a:avLst/>
          </a:prstGeom>
          <a:noFill/>
          <a:ln w="12700">
            <a:solidFill>
              <a:srgbClr val="5E9E4A"/>
            </a:solidFill>
            <a:prstDash val="solid"/>
          </a:ln>
        </p:spPr>
      </p:sp>
      <p:sp>
        <p:nvSpPr>
          <p:cNvPr id="99" name="Shape 97"/>
          <p:cNvSpPr/>
          <p:nvPr/>
        </p:nvSpPr>
        <p:spPr>
          <a:xfrm flipV="1">
            <a:off x="4841240" y="4078224"/>
            <a:ext cx="36576" cy="128016"/>
          </a:xfrm>
          <a:prstGeom prst="line">
            <a:avLst/>
          </a:prstGeom>
          <a:noFill/>
          <a:ln w="12700">
            <a:solidFill>
              <a:srgbClr val="5E9E4A"/>
            </a:solidFill>
            <a:prstDash val="solid"/>
          </a:ln>
        </p:spPr>
      </p:sp>
      <p:sp>
        <p:nvSpPr>
          <p:cNvPr id="100" name="Shape 98"/>
          <p:cNvSpPr/>
          <p:nvPr/>
        </p:nvSpPr>
        <p:spPr>
          <a:xfrm flipH="1" flipV="1">
            <a:off x="4946904" y="4078224"/>
            <a:ext cx="36576" cy="128016"/>
          </a:xfrm>
          <a:prstGeom prst="line">
            <a:avLst/>
          </a:prstGeom>
          <a:noFill/>
          <a:ln w="12700">
            <a:solidFill>
              <a:srgbClr val="5E9E4A"/>
            </a:solidFill>
            <a:prstDash val="solid"/>
          </a:ln>
        </p:spPr>
      </p:sp>
      <p:sp>
        <p:nvSpPr>
          <p:cNvPr id="101" name="Shape 99"/>
          <p:cNvSpPr/>
          <p:nvPr/>
        </p:nvSpPr>
        <p:spPr>
          <a:xfrm flipV="1">
            <a:off x="5125720" y="4078224"/>
            <a:ext cx="36576" cy="128016"/>
          </a:xfrm>
          <a:prstGeom prst="line">
            <a:avLst/>
          </a:prstGeom>
          <a:noFill/>
          <a:ln w="12700">
            <a:solidFill>
              <a:srgbClr val="5E9E4A"/>
            </a:solidFill>
            <a:prstDash val="solid"/>
          </a:ln>
        </p:spPr>
      </p:sp>
      <p:sp>
        <p:nvSpPr>
          <p:cNvPr id="102" name="Shape 100"/>
          <p:cNvSpPr/>
          <p:nvPr/>
        </p:nvSpPr>
        <p:spPr>
          <a:xfrm flipH="1" flipV="1">
            <a:off x="5231384" y="4078224"/>
            <a:ext cx="36576" cy="128016"/>
          </a:xfrm>
          <a:prstGeom prst="line">
            <a:avLst/>
          </a:prstGeom>
          <a:noFill/>
          <a:ln w="12700">
            <a:solidFill>
              <a:srgbClr val="5E9E4A"/>
            </a:solidFill>
            <a:prstDash val="solid"/>
          </a:ln>
        </p:spPr>
      </p:sp>
      <p:sp>
        <p:nvSpPr>
          <p:cNvPr id="103" name="Shape 101"/>
          <p:cNvSpPr/>
          <p:nvPr/>
        </p:nvSpPr>
        <p:spPr>
          <a:xfrm flipV="1">
            <a:off x="5410200" y="4078224"/>
            <a:ext cx="36576" cy="128016"/>
          </a:xfrm>
          <a:prstGeom prst="line">
            <a:avLst/>
          </a:prstGeom>
          <a:noFill/>
          <a:ln w="12700">
            <a:solidFill>
              <a:srgbClr val="5E9E4A"/>
            </a:solidFill>
            <a:prstDash val="solid"/>
          </a:ln>
        </p:spPr>
      </p:sp>
      <p:sp>
        <p:nvSpPr>
          <p:cNvPr id="104" name="Shape 102"/>
          <p:cNvSpPr/>
          <p:nvPr/>
        </p:nvSpPr>
        <p:spPr>
          <a:xfrm flipH="1" flipV="1">
            <a:off x="5515864" y="4078224"/>
            <a:ext cx="36576" cy="128016"/>
          </a:xfrm>
          <a:prstGeom prst="line">
            <a:avLst/>
          </a:prstGeom>
          <a:noFill/>
          <a:ln w="12700">
            <a:solidFill>
              <a:srgbClr val="5E9E4A"/>
            </a:solidFill>
            <a:prstDash val="solid"/>
          </a:ln>
        </p:spPr>
      </p:sp>
      <p:sp>
        <p:nvSpPr>
          <p:cNvPr id="105" name="Shape 103"/>
          <p:cNvSpPr/>
          <p:nvPr/>
        </p:nvSpPr>
        <p:spPr>
          <a:xfrm flipV="1">
            <a:off x="4572000" y="3977640"/>
            <a:ext cx="91" cy="228600"/>
          </a:xfrm>
          <a:prstGeom prst="line">
            <a:avLst/>
          </a:prstGeom>
          <a:noFill/>
          <a:ln w="15875">
            <a:solidFill>
              <a:srgbClr val="3E7F2E"/>
            </a:solidFill>
            <a:prstDash val="solid"/>
          </a:ln>
        </p:spPr>
      </p:sp>
      <p:sp>
        <p:nvSpPr>
          <p:cNvPr id="106" name="Shape 104"/>
          <p:cNvSpPr/>
          <p:nvPr/>
        </p:nvSpPr>
        <p:spPr>
          <a:xfrm>
            <a:off x="4535424" y="3899916"/>
            <a:ext cx="73152" cy="73152"/>
          </a:xfrm>
          <a:prstGeom prst="ellipse">
            <a:avLst/>
          </a:prstGeom>
          <a:solidFill>
            <a:srgbClr val="E8C43A"/>
          </a:solidFill>
          <a:ln w="9525">
            <a:solidFill>
              <a:srgbClr val="E8C43A"/>
            </a:solidFill>
            <a:prstDash val="solid"/>
          </a:ln>
        </p:spPr>
      </p:sp>
      <p:sp>
        <p:nvSpPr>
          <p:cNvPr id="107" name="Shape 105"/>
          <p:cNvSpPr/>
          <p:nvPr/>
        </p:nvSpPr>
        <p:spPr>
          <a:xfrm>
            <a:off x="4576572" y="3941064"/>
            <a:ext cx="73152" cy="73152"/>
          </a:xfrm>
          <a:prstGeom prst="ellipse">
            <a:avLst/>
          </a:prstGeom>
          <a:solidFill>
            <a:srgbClr val="E8C43A"/>
          </a:solidFill>
          <a:ln w="9525">
            <a:solidFill>
              <a:srgbClr val="E8C43A"/>
            </a:solidFill>
            <a:prstDash val="solid"/>
          </a:ln>
        </p:spPr>
      </p:sp>
      <p:sp>
        <p:nvSpPr>
          <p:cNvPr id="108" name="Shape 106"/>
          <p:cNvSpPr/>
          <p:nvPr/>
        </p:nvSpPr>
        <p:spPr>
          <a:xfrm>
            <a:off x="4535424" y="3982212"/>
            <a:ext cx="73152" cy="73152"/>
          </a:xfrm>
          <a:prstGeom prst="ellipse">
            <a:avLst/>
          </a:prstGeom>
          <a:solidFill>
            <a:srgbClr val="E8C43A"/>
          </a:solidFill>
          <a:ln w="9525">
            <a:solidFill>
              <a:srgbClr val="E8C43A"/>
            </a:solidFill>
            <a:prstDash val="solid"/>
          </a:ln>
        </p:spPr>
      </p:sp>
      <p:sp>
        <p:nvSpPr>
          <p:cNvPr id="109" name="Shape 107"/>
          <p:cNvSpPr/>
          <p:nvPr/>
        </p:nvSpPr>
        <p:spPr>
          <a:xfrm>
            <a:off x="4494276" y="3941064"/>
            <a:ext cx="73152" cy="73152"/>
          </a:xfrm>
          <a:prstGeom prst="ellipse">
            <a:avLst/>
          </a:prstGeom>
          <a:solidFill>
            <a:srgbClr val="E8C43A"/>
          </a:solidFill>
          <a:ln w="9525">
            <a:solidFill>
              <a:srgbClr val="E8C43A"/>
            </a:solidFill>
            <a:prstDash val="solid"/>
          </a:ln>
        </p:spPr>
      </p:sp>
      <p:sp>
        <p:nvSpPr>
          <p:cNvPr id="110" name="Shape 108"/>
          <p:cNvSpPr/>
          <p:nvPr/>
        </p:nvSpPr>
        <p:spPr>
          <a:xfrm>
            <a:off x="4544568" y="3950208"/>
            <a:ext cx="54864" cy="54864"/>
          </a:xfrm>
          <a:prstGeom prst="ellipse">
            <a:avLst/>
          </a:prstGeom>
          <a:solidFill>
            <a:srgbClr val="A0522D"/>
          </a:solidFill>
          <a:ln w="9525">
            <a:solidFill>
              <a:srgbClr val="A0522D"/>
            </a:solidFill>
            <a:prstDash val="solid"/>
          </a:ln>
        </p:spPr>
      </p:sp>
      <p:sp>
        <p:nvSpPr>
          <p:cNvPr id="111" name="Shape 109"/>
          <p:cNvSpPr/>
          <p:nvPr/>
        </p:nvSpPr>
        <p:spPr>
          <a:xfrm flipV="1">
            <a:off x="5120640" y="3931920"/>
            <a:ext cx="91" cy="274320"/>
          </a:xfrm>
          <a:prstGeom prst="line">
            <a:avLst/>
          </a:prstGeom>
          <a:noFill/>
          <a:ln w="15875">
            <a:solidFill>
              <a:srgbClr val="3E7F2E"/>
            </a:solidFill>
            <a:prstDash val="solid"/>
          </a:ln>
        </p:spPr>
      </p:sp>
      <p:sp>
        <p:nvSpPr>
          <p:cNvPr id="112" name="Shape 110"/>
          <p:cNvSpPr/>
          <p:nvPr/>
        </p:nvSpPr>
        <p:spPr>
          <a:xfrm>
            <a:off x="5084064" y="3854196"/>
            <a:ext cx="73152" cy="73152"/>
          </a:xfrm>
          <a:prstGeom prst="ellipse">
            <a:avLst/>
          </a:prstGeom>
          <a:solidFill>
            <a:srgbClr val="C8414C"/>
          </a:solidFill>
          <a:ln w="9525">
            <a:solidFill>
              <a:srgbClr val="C8414C"/>
            </a:solidFill>
            <a:prstDash val="solid"/>
          </a:ln>
        </p:spPr>
      </p:sp>
      <p:sp>
        <p:nvSpPr>
          <p:cNvPr id="113" name="Shape 111"/>
          <p:cNvSpPr/>
          <p:nvPr/>
        </p:nvSpPr>
        <p:spPr>
          <a:xfrm>
            <a:off x="5125212" y="3895344"/>
            <a:ext cx="73152" cy="73152"/>
          </a:xfrm>
          <a:prstGeom prst="ellipse">
            <a:avLst/>
          </a:prstGeom>
          <a:solidFill>
            <a:srgbClr val="C8414C"/>
          </a:solidFill>
          <a:ln w="9525">
            <a:solidFill>
              <a:srgbClr val="C8414C"/>
            </a:solidFill>
            <a:prstDash val="solid"/>
          </a:ln>
        </p:spPr>
      </p:sp>
      <p:sp>
        <p:nvSpPr>
          <p:cNvPr id="114" name="Shape 112"/>
          <p:cNvSpPr/>
          <p:nvPr/>
        </p:nvSpPr>
        <p:spPr>
          <a:xfrm>
            <a:off x="5084064" y="3936492"/>
            <a:ext cx="73152" cy="73152"/>
          </a:xfrm>
          <a:prstGeom prst="ellipse">
            <a:avLst/>
          </a:prstGeom>
          <a:solidFill>
            <a:srgbClr val="C8414C"/>
          </a:solidFill>
          <a:ln w="9525">
            <a:solidFill>
              <a:srgbClr val="C8414C"/>
            </a:solidFill>
            <a:prstDash val="solid"/>
          </a:ln>
        </p:spPr>
      </p:sp>
      <p:sp>
        <p:nvSpPr>
          <p:cNvPr id="115" name="Shape 113"/>
          <p:cNvSpPr/>
          <p:nvPr/>
        </p:nvSpPr>
        <p:spPr>
          <a:xfrm>
            <a:off x="5042916" y="3895344"/>
            <a:ext cx="73152" cy="73152"/>
          </a:xfrm>
          <a:prstGeom prst="ellipse">
            <a:avLst/>
          </a:prstGeom>
          <a:solidFill>
            <a:srgbClr val="C8414C"/>
          </a:solidFill>
          <a:ln w="9525">
            <a:solidFill>
              <a:srgbClr val="C8414C"/>
            </a:solidFill>
            <a:prstDash val="solid"/>
          </a:ln>
        </p:spPr>
      </p:sp>
      <p:sp>
        <p:nvSpPr>
          <p:cNvPr id="116" name="Shape 114"/>
          <p:cNvSpPr/>
          <p:nvPr/>
        </p:nvSpPr>
        <p:spPr>
          <a:xfrm>
            <a:off x="5093208" y="3904488"/>
            <a:ext cx="54864" cy="54864"/>
          </a:xfrm>
          <a:prstGeom prst="ellipse">
            <a:avLst/>
          </a:prstGeom>
          <a:solidFill>
            <a:srgbClr val="A0522D"/>
          </a:solidFill>
          <a:ln w="9525">
            <a:solidFill>
              <a:srgbClr val="A0522D"/>
            </a:solidFill>
            <a:prstDash val="solid"/>
          </a:ln>
        </p:spPr>
      </p:sp>
      <p:sp>
        <p:nvSpPr>
          <p:cNvPr id="117" name="Text 115"/>
          <p:cNvSpPr/>
          <p:nvPr/>
        </p:nvSpPr>
        <p:spPr>
          <a:xfrm>
            <a:off x="4206240" y="4224528"/>
            <a:ext cx="1554480" cy="201168"/>
          </a:xfrm>
          <a:prstGeom prst="rect">
            <a:avLst/>
          </a:prstGeom>
          <a:noFill/>
          <a:ln/>
        </p:spPr>
        <p:txBody>
          <a:bodyPr wrap="square" lIns="0" tIns="0" rIns="0" bIns="0" rtlCol="0" anchor="ctr"/>
          <a:lstStyle/>
          <a:p>
            <a:pPr algn="ctr" indent="0" marL="0">
              <a:buNone/>
            </a:pPr>
            <a:r>
              <a:rPr lang="en-US" sz="1000" dirty="0">
                <a:solidFill>
                  <a:srgbClr val="3E7F2E"/>
                </a:solidFill>
                <a:latin typeface="Calibri" pitchFamily="34" charset="0"/>
                <a:ea typeface="Calibri" pitchFamily="34" charset="-122"/>
                <a:cs typeface="Calibri" pitchFamily="34" charset="-120"/>
              </a:rPr>
              <a:t>meadow</a:t>
            </a:r>
            <a:endParaRPr lang="en-US" sz="1000" dirty="0"/>
          </a:p>
        </p:txBody>
      </p:sp>
      <p:sp>
        <p:nvSpPr>
          <p:cNvPr id="118" name="Text 116"/>
          <p:cNvSpPr/>
          <p:nvPr/>
        </p:nvSpPr>
        <p:spPr>
          <a:xfrm>
            <a:off x="594360" y="4846320"/>
            <a:ext cx="5212080" cy="365760"/>
          </a:xfrm>
          <a:prstGeom prst="rect">
            <a:avLst/>
          </a:prstGeom>
          <a:noFill/>
          <a:ln/>
        </p:spPr>
        <p:txBody>
          <a:bodyPr wrap="square" lIns="0" tIns="0" rIns="0" bIns="0" rtlCol="0" anchor="ctr"/>
          <a:lstStyle/>
          <a:p>
            <a:pPr algn="ctr" indent="0" marL="0">
              <a:buNone/>
            </a:pPr>
            <a:r>
              <a:rPr lang="en-US" sz="1100" dirty="0">
                <a:solidFill>
                  <a:srgbClr val="133536"/>
                </a:solidFill>
                <a:latin typeface="Calibri" pitchFamily="34" charset="0"/>
                <a:ea typeface="Calibri" pitchFamily="34" charset="-122"/>
                <a:cs typeface="Calibri" pitchFamily="34" charset="-120"/>
              </a:rPr>
              <a:t>High biodiversity = </a:t>
            </a:r>
            <a:r>
              <a:rPr lang="en-US" sz="1100" b="1" dirty="0">
                <a:solidFill>
                  <a:srgbClr val="133536"/>
                </a:solidFill>
                <a:latin typeface="Calibri" pitchFamily="34" charset="0"/>
                <a:ea typeface="Calibri" pitchFamily="34" charset="-122"/>
                <a:cs typeface="Calibri" pitchFamily="34" charset="-120"/>
              </a:rPr>
              <a:t>many</a:t>
            </a:r>
            <a:r>
              <a:rPr lang="en-US" sz="1100" dirty="0">
                <a:solidFill>
                  <a:srgbClr val="133536"/>
                </a:solidFill>
                <a:latin typeface="Calibri" pitchFamily="34" charset="0"/>
                <a:ea typeface="Calibri" pitchFamily="34" charset="-122"/>
                <a:cs typeface="Calibri" pitchFamily="34" charset="-120"/>
              </a:rPr>
              <a:t> species, </a:t>
            </a:r>
            <a:r>
              <a:rPr lang="en-US" sz="1100" b="1" dirty="0">
                <a:solidFill>
                  <a:srgbClr val="133536"/>
                </a:solidFill>
                <a:latin typeface="Calibri" pitchFamily="34" charset="0"/>
                <a:ea typeface="Calibri" pitchFamily="34" charset="-122"/>
                <a:cs typeface="Calibri" pitchFamily="34" charset="-120"/>
              </a:rPr>
              <a:t>many</a:t>
            </a:r>
            <a:r>
              <a:rPr lang="en-US" sz="1100" dirty="0">
                <a:solidFill>
                  <a:srgbClr val="133536"/>
                </a:solidFill>
                <a:latin typeface="Calibri" pitchFamily="34" charset="0"/>
                <a:ea typeface="Calibri" pitchFamily="34" charset="-122"/>
                <a:cs typeface="Calibri" pitchFamily="34" charset="-120"/>
              </a:rPr>
              <a:t> varieties, </a:t>
            </a:r>
            <a:r>
              <a:rPr lang="en-US" sz="1100" b="1" dirty="0">
                <a:solidFill>
                  <a:srgbClr val="133536"/>
                </a:solidFill>
                <a:latin typeface="Calibri" pitchFamily="34" charset="0"/>
                <a:ea typeface="Calibri" pitchFamily="34" charset="-122"/>
                <a:cs typeface="Calibri" pitchFamily="34" charset="-120"/>
              </a:rPr>
              <a:t>many</a:t>
            </a:r>
            <a:r>
              <a:rPr lang="en-US" sz="1100" dirty="0">
                <a:solidFill>
                  <a:srgbClr val="133536"/>
                </a:solidFill>
                <a:latin typeface="Calibri" pitchFamily="34" charset="0"/>
                <a:ea typeface="Calibri" pitchFamily="34" charset="-122"/>
                <a:cs typeface="Calibri" pitchFamily="34" charset="-120"/>
              </a:rPr>
              <a:t> habitats</a:t>
            </a:r>
            <a:endParaRPr lang="en-US" sz="1100" dirty="0"/>
          </a:p>
        </p:txBody>
      </p:sp>
      <p:sp>
        <p:nvSpPr>
          <p:cNvPr id="119" name="Shape 117"/>
          <p:cNvSpPr/>
          <p:nvPr/>
        </p:nvSpPr>
        <p:spPr>
          <a:xfrm>
            <a:off x="6217920" y="1188720"/>
            <a:ext cx="5562295" cy="2971800"/>
          </a:xfrm>
          <a:prstGeom prst="roundRect">
            <a:avLst>
              <a:gd name="adj" fmla="val 1846"/>
            </a:avLst>
          </a:prstGeom>
          <a:solidFill>
            <a:srgbClr val="F4FAF9"/>
          </a:solidFill>
          <a:ln w="9525">
            <a:solidFill>
              <a:srgbClr val="CFE0DE"/>
            </a:solidFill>
            <a:prstDash val="solid"/>
          </a:ln>
        </p:spPr>
      </p:sp>
      <p:sp>
        <p:nvSpPr>
          <p:cNvPr id="120" name="Text 11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Biodiversity</a:t>
            </a:r>
            <a:endParaRPr lang="en-US" sz="1300" dirty="0"/>
          </a:p>
        </p:txBody>
      </p:sp>
      <p:sp>
        <p:nvSpPr>
          <p:cNvPr id="121" name="Text 119"/>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Biodiversity</a:t>
            </a:r>
            <a:r>
              <a:rPr lang="en-US" sz="1150" dirty="0">
                <a:solidFill>
                  <a:srgbClr val="262B3A"/>
                </a:solidFill>
                <a:latin typeface="Calibri" pitchFamily="34" charset="0"/>
                <a:ea typeface="Calibri" pitchFamily="34" charset="-122"/>
                <a:cs typeface="Calibri" pitchFamily="34" charset="-120"/>
              </a:rPr>
              <a:t> is the variety of living organisms in an area, from genes to whole ecosystems.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Genetic</a:t>
            </a:r>
            <a:r>
              <a:rPr lang="en-US" sz="1150" dirty="0">
                <a:solidFill>
                  <a:srgbClr val="262B3A"/>
                </a:solidFill>
                <a:latin typeface="Calibri" pitchFamily="34" charset="0"/>
                <a:ea typeface="Calibri" pitchFamily="34" charset="-122"/>
                <a:cs typeface="Calibri" pitchFamily="34" charset="-120"/>
              </a:rPr>
              <a:t>: variation within a species (e.g. flower colour). More variation helps a species survive change (B6.1).</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Species</a:t>
            </a:r>
            <a:r>
              <a:rPr lang="en-US" sz="1150" dirty="0">
                <a:solidFill>
                  <a:srgbClr val="262B3A"/>
                </a:solidFill>
                <a:latin typeface="Calibri" pitchFamily="34" charset="0"/>
                <a:ea typeface="Calibri" pitchFamily="34" charset="-122"/>
                <a:cs typeface="Calibri" pitchFamily="34" charset="-120"/>
              </a:rPr>
              <a:t>: the number of different species, and how evenly they are spread.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Ecosystem</a:t>
            </a:r>
            <a:r>
              <a:rPr lang="en-US" sz="1150" dirty="0">
                <a:solidFill>
                  <a:srgbClr val="262B3A"/>
                </a:solidFill>
                <a:latin typeface="Calibri" pitchFamily="34" charset="0"/>
                <a:ea typeface="Calibri" pitchFamily="34" charset="-122"/>
                <a:cs typeface="Calibri" pitchFamily="34" charset="-120"/>
              </a:rPr>
              <a:t>: the range of habitats in an area.</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Biodiversity is </a:t>
            </a:r>
            <a:r>
              <a:rPr lang="en-US" sz="1150" b="1" dirty="0">
                <a:solidFill>
                  <a:srgbClr val="262B3A"/>
                </a:solidFill>
                <a:latin typeface="Calibri" pitchFamily="34" charset="0"/>
                <a:ea typeface="Calibri" pitchFamily="34" charset="-122"/>
                <a:cs typeface="Calibri" pitchFamily="34" charset="-120"/>
              </a:rPr>
              <a:t>lower</a:t>
            </a:r>
            <a:r>
              <a:rPr lang="en-US" sz="1150" dirty="0">
                <a:solidFill>
                  <a:srgbClr val="262B3A"/>
                </a:solidFill>
                <a:latin typeface="Calibri" pitchFamily="34" charset="0"/>
                <a:ea typeface="Calibri" pitchFamily="34" charset="-122"/>
                <a:cs typeface="Calibri" pitchFamily="34" charset="-120"/>
              </a:rPr>
              <a:t> where one species dominates, e.g. a field of one crop (a </a:t>
            </a:r>
            <a:r>
              <a:rPr lang="en-US" sz="1150" b="1" dirty="0">
                <a:solidFill>
                  <a:srgbClr val="262B3A"/>
                </a:solidFill>
                <a:latin typeface="Calibri" pitchFamily="34" charset="0"/>
                <a:ea typeface="Calibri" pitchFamily="34" charset="-122"/>
                <a:cs typeface="Calibri" pitchFamily="34" charset="-120"/>
              </a:rPr>
              <a:t>monoculture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22" name="Shape 120"/>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123" name="Text 121"/>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species lost</a:t>
            </a:r>
            <a:endParaRPr lang="en-US" sz="1300" dirty="0"/>
          </a:p>
        </p:txBody>
      </p:sp>
      <p:sp>
        <p:nvSpPr>
          <p:cNvPr id="124" name="Text 122"/>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pond survey found 25 species. Five years later 5 had gone.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Remaining   </a:t>
            </a:r>
            <a:r>
              <a:rPr lang="en-US" sz="1050" dirty="0">
                <a:solidFill>
                  <a:srgbClr val="262B3A"/>
                </a:solidFill>
                <a:latin typeface="Calibri" pitchFamily="34" charset="0"/>
                <a:ea typeface="Calibri" pitchFamily="34" charset="-122"/>
                <a:cs typeface="Calibri" pitchFamily="34" charset="-120"/>
              </a:rPr>
              <a:t>25 − 5 = 20 species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Percentage   </a:t>
            </a:r>
            <a:r>
              <a:rPr lang="en-US" sz="1050" dirty="0">
                <a:solidFill>
                  <a:srgbClr val="262B3A"/>
                </a:solidFill>
                <a:latin typeface="Calibri" pitchFamily="34" charset="0"/>
                <a:ea typeface="Calibri" pitchFamily="34" charset="-122"/>
                <a:cs typeface="Calibri" pitchFamily="34" charset="-120"/>
              </a:rPr>
              <a:t>20 ÷ 25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80%</a:t>
            </a:r>
            <a:r>
              <a:rPr lang="en-US" sz="1050" b="1" dirty="0">
                <a:solidFill>
                  <a:srgbClr val="C8414C"/>
                </a:solidFill>
                <a:latin typeface="Calibri" pitchFamily="34" charset="0"/>
                <a:ea typeface="Calibri" pitchFamily="34" charset="-122"/>
                <a:cs typeface="Calibri" pitchFamily="34" charset="-120"/>
              </a:rPr>
              <a:t> of the species remain (20% lost)</a:t>
            </a:r>
            <a:endParaRPr lang="en-US" sz="1050" dirty="0"/>
          </a:p>
        </p:txBody>
      </p:sp>
      <p:sp>
        <p:nvSpPr>
          <p:cNvPr id="125" name="Shape 123"/>
          <p:cNvSpPr/>
          <p:nvPr/>
        </p:nvSpPr>
        <p:spPr>
          <a:xfrm>
            <a:off x="411480" y="5833872"/>
            <a:ext cx="11368735" cy="530352"/>
          </a:xfrm>
          <a:prstGeom prst="rect">
            <a:avLst/>
          </a:prstGeom>
          <a:solidFill>
            <a:srgbClr val="FFF4E0"/>
          </a:solidFill>
          <a:ln w="6350">
            <a:solidFill>
              <a:srgbClr val="F1D9A8"/>
            </a:solidFill>
            <a:prstDash val="solid"/>
          </a:ln>
        </p:spPr>
      </p:sp>
      <p:sp>
        <p:nvSpPr>
          <p:cNvPr id="126" name="Shape 124"/>
          <p:cNvSpPr/>
          <p:nvPr/>
        </p:nvSpPr>
        <p:spPr>
          <a:xfrm>
            <a:off x="411480" y="5833872"/>
            <a:ext cx="82296" cy="530352"/>
          </a:xfrm>
          <a:prstGeom prst="rect">
            <a:avLst/>
          </a:prstGeom>
          <a:solidFill>
            <a:srgbClr val="E39A2F"/>
          </a:solidFill>
          <a:ln w="12700">
            <a:solidFill>
              <a:srgbClr val="E39A2F"/>
            </a:solidFill>
            <a:prstDash val="solid"/>
          </a:ln>
        </p:spPr>
      </p:sp>
      <p:sp>
        <p:nvSpPr>
          <p:cNvPr id="127" name="Text 12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three</a:t>
            </a:r>
            <a:r>
              <a:rPr lang="en-US" sz="1150" dirty="0">
                <a:solidFill>
                  <a:srgbClr val="262B3A"/>
                </a:solidFill>
                <a:latin typeface="Calibri" pitchFamily="34" charset="0"/>
                <a:ea typeface="Calibri" pitchFamily="34" charset="-122"/>
                <a:cs typeface="Calibri" pitchFamily="34" charset="-120"/>
              </a:rPr>
              <a:t> levels of biodiversity. A wood had </a:t>
            </a:r>
            <a:r>
              <a:rPr lang="en-US" sz="1150" b="1" dirty="0">
                <a:solidFill>
                  <a:srgbClr val="262B3A"/>
                </a:solidFill>
                <a:latin typeface="Calibri" pitchFamily="34" charset="0"/>
                <a:ea typeface="Calibri" pitchFamily="34" charset="-122"/>
                <a:cs typeface="Calibri" pitchFamily="34" charset="-120"/>
              </a:rPr>
              <a:t>40</a:t>
            </a:r>
            <a:r>
              <a:rPr lang="en-US" sz="1150" dirty="0">
                <a:solidFill>
                  <a:srgbClr val="262B3A"/>
                </a:solidFill>
                <a:latin typeface="Calibri" pitchFamily="34" charset="0"/>
                <a:ea typeface="Calibri" pitchFamily="34" charset="-122"/>
                <a:cs typeface="Calibri" pitchFamily="34" charset="-120"/>
              </a:rPr>
              <a:t> species and lost </a:t>
            </a:r>
            <a:r>
              <a:rPr lang="en-US" sz="1150" b="1" dirty="0">
                <a:solidFill>
                  <a:srgbClr val="262B3A"/>
                </a:solidFill>
                <a:latin typeface="Calibri" pitchFamily="34" charset="0"/>
                <a:ea typeface="Calibri" pitchFamily="34" charset="-122"/>
                <a:cs typeface="Calibri" pitchFamily="34" charset="-120"/>
              </a:rPr>
              <a:t>12</a:t>
            </a:r>
            <a:r>
              <a:rPr lang="en-US" sz="1150" dirty="0">
                <a:solidFill>
                  <a:srgbClr val="262B3A"/>
                </a:solidFill>
                <a:latin typeface="Calibri" pitchFamily="34" charset="0"/>
                <a:ea typeface="Calibri" pitchFamily="34" charset="-122"/>
                <a:cs typeface="Calibri" pitchFamily="34" charset="-120"/>
              </a:rPr>
              <a:t>. What </a:t>
            </a:r>
            <a:r>
              <a:rPr lang="en-US" sz="1150" b="1" dirty="0">
                <a:solidFill>
                  <a:srgbClr val="262B3A"/>
                </a:solidFill>
                <a:latin typeface="Calibri" pitchFamily="34" charset="0"/>
                <a:ea typeface="Calibri" pitchFamily="34" charset="-122"/>
                <a:cs typeface="Calibri" pitchFamily="34" charset="-120"/>
              </a:rPr>
              <a:t>percentage</a:t>
            </a:r>
            <a:r>
              <a:rPr lang="en-US" sz="1150" dirty="0">
                <a:solidFill>
                  <a:srgbClr val="262B3A"/>
                </a:solidFill>
                <a:latin typeface="Calibri" pitchFamily="34" charset="0"/>
                <a:ea typeface="Calibri" pitchFamily="34" charset="-122"/>
                <a:cs typeface="Calibri" pitchFamily="34" charset="-120"/>
              </a:rPr>
              <a:t> was lost?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Why biodiversity matters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B6.3.2 • ecosystem services: what nature does for us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B6.3.2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woodland food web; arrows show the direction of energy flow</a:t>
            </a:r>
            <a:endParaRPr lang="en-US" sz="1000" dirty="0"/>
          </a:p>
        </p:txBody>
      </p:sp>
      <p:sp>
        <p:nvSpPr>
          <p:cNvPr id="10" name="Shape 8"/>
          <p:cNvSpPr/>
          <p:nvPr/>
        </p:nvSpPr>
        <p:spPr>
          <a:xfrm flipH="1" flipV="1">
            <a:off x="1005840" y="3337560"/>
            <a:ext cx="182880" cy="777240"/>
          </a:xfrm>
          <a:prstGeom prst="line">
            <a:avLst/>
          </a:prstGeom>
          <a:noFill/>
          <a:ln w="15875">
            <a:solidFill>
              <a:srgbClr val="133536"/>
            </a:solidFill>
            <a:prstDash val="solid"/>
            <a:tailEnd type="triangle"/>
          </a:ln>
        </p:spPr>
      </p:sp>
      <p:sp>
        <p:nvSpPr>
          <p:cNvPr id="11" name="Shape 9"/>
          <p:cNvSpPr/>
          <p:nvPr/>
        </p:nvSpPr>
        <p:spPr>
          <a:xfrm flipV="1">
            <a:off x="1005840" y="2286000"/>
            <a:ext cx="822960" cy="685800"/>
          </a:xfrm>
          <a:prstGeom prst="line">
            <a:avLst/>
          </a:prstGeom>
          <a:noFill/>
          <a:ln w="15875">
            <a:solidFill>
              <a:srgbClr val="133536"/>
            </a:solidFill>
            <a:prstDash val="solid"/>
            <a:tailEnd type="triangle"/>
          </a:ln>
        </p:spPr>
      </p:sp>
      <p:sp>
        <p:nvSpPr>
          <p:cNvPr id="12" name="Shape 10"/>
          <p:cNvSpPr/>
          <p:nvPr/>
        </p:nvSpPr>
        <p:spPr>
          <a:xfrm flipH="1" flipV="1">
            <a:off x="1828800" y="2286000"/>
            <a:ext cx="914400" cy="685800"/>
          </a:xfrm>
          <a:prstGeom prst="line">
            <a:avLst/>
          </a:prstGeom>
          <a:noFill/>
          <a:ln w="15875">
            <a:solidFill>
              <a:srgbClr val="133536"/>
            </a:solidFill>
            <a:prstDash val="solid"/>
            <a:tailEnd type="triangle"/>
          </a:ln>
        </p:spPr>
      </p:sp>
      <p:sp>
        <p:nvSpPr>
          <p:cNvPr id="13" name="Shape 11"/>
          <p:cNvSpPr/>
          <p:nvPr/>
        </p:nvSpPr>
        <p:spPr>
          <a:xfrm flipH="1" flipV="1">
            <a:off x="2743200" y="3337560"/>
            <a:ext cx="365760" cy="777240"/>
          </a:xfrm>
          <a:prstGeom prst="line">
            <a:avLst/>
          </a:prstGeom>
          <a:noFill/>
          <a:ln w="15875">
            <a:solidFill>
              <a:srgbClr val="133536"/>
            </a:solidFill>
            <a:prstDash val="solid"/>
            <a:tailEnd type="triangle"/>
          </a:ln>
        </p:spPr>
      </p:sp>
      <p:sp>
        <p:nvSpPr>
          <p:cNvPr id="14" name="Shape 12"/>
          <p:cNvSpPr/>
          <p:nvPr/>
        </p:nvSpPr>
        <p:spPr>
          <a:xfrm flipH="1" flipV="1">
            <a:off x="4754880" y="3337560"/>
            <a:ext cx="274320" cy="777240"/>
          </a:xfrm>
          <a:prstGeom prst="line">
            <a:avLst/>
          </a:prstGeom>
          <a:noFill/>
          <a:ln w="15875">
            <a:solidFill>
              <a:srgbClr val="133536"/>
            </a:solidFill>
            <a:prstDash val="solid"/>
            <a:tailEnd type="triangle"/>
          </a:ln>
        </p:spPr>
      </p:sp>
      <p:sp>
        <p:nvSpPr>
          <p:cNvPr id="15" name="Shape 13"/>
          <p:cNvSpPr/>
          <p:nvPr/>
        </p:nvSpPr>
        <p:spPr>
          <a:xfrm flipV="1">
            <a:off x="4754880" y="2286000"/>
            <a:ext cx="274320" cy="685800"/>
          </a:xfrm>
          <a:prstGeom prst="line">
            <a:avLst/>
          </a:prstGeom>
          <a:noFill/>
          <a:ln w="15875">
            <a:solidFill>
              <a:srgbClr val="133536"/>
            </a:solidFill>
            <a:prstDash val="solid"/>
            <a:tailEnd type="triangle"/>
          </a:ln>
        </p:spPr>
      </p:sp>
      <p:sp>
        <p:nvSpPr>
          <p:cNvPr id="16" name="Shape 14"/>
          <p:cNvSpPr/>
          <p:nvPr/>
        </p:nvSpPr>
        <p:spPr>
          <a:xfrm flipH="1" flipV="1">
            <a:off x="3383280" y="1691640"/>
            <a:ext cx="1371600" cy="1280160"/>
          </a:xfrm>
          <a:prstGeom prst="line">
            <a:avLst/>
          </a:prstGeom>
          <a:noFill/>
          <a:ln w="15875">
            <a:solidFill>
              <a:srgbClr val="133536"/>
            </a:solidFill>
            <a:prstDash val="solid"/>
            <a:tailEnd type="triangle"/>
          </a:ln>
        </p:spPr>
      </p:sp>
      <p:sp>
        <p:nvSpPr>
          <p:cNvPr id="17" name="Shape 15"/>
          <p:cNvSpPr/>
          <p:nvPr/>
        </p:nvSpPr>
        <p:spPr>
          <a:xfrm flipV="1">
            <a:off x="1828800" y="1691640"/>
            <a:ext cx="1554480" cy="228600"/>
          </a:xfrm>
          <a:prstGeom prst="line">
            <a:avLst/>
          </a:prstGeom>
          <a:noFill/>
          <a:ln w="15875">
            <a:solidFill>
              <a:srgbClr val="133536"/>
            </a:solidFill>
            <a:prstDash val="solid"/>
            <a:tailEnd type="triangle"/>
          </a:ln>
        </p:spPr>
      </p:sp>
      <p:sp>
        <p:nvSpPr>
          <p:cNvPr id="18" name="Shape 16"/>
          <p:cNvSpPr/>
          <p:nvPr/>
        </p:nvSpPr>
        <p:spPr>
          <a:xfrm>
            <a:off x="640080" y="4123944"/>
            <a:ext cx="1097280" cy="347472"/>
          </a:xfrm>
          <a:prstGeom prst="roundRect">
            <a:avLst>
              <a:gd name="adj" fmla="val 15789"/>
            </a:avLst>
          </a:prstGeom>
          <a:solidFill>
            <a:srgbClr val="4E9A3E"/>
          </a:solidFill>
          <a:ln w="9525">
            <a:solidFill>
              <a:srgbClr val="133536"/>
            </a:solidFill>
            <a:prstDash val="solid"/>
          </a:ln>
        </p:spPr>
      </p:sp>
      <p:sp>
        <p:nvSpPr>
          <p:cNvPr id="19" name="Text 17"/>
          <p:cNvSpPr/>
          <p:nvPr/>
        </p:nvSpPr>
        <p:spPr>
          <a:xfrm>
            <a:off x="640080" y="412394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Oak tree</a:t>
            </a:r>
            <a:endParaRPr lang="en-US" sz="1000" dirty="0"/>
          </a:p>
        </p:txBody>
      </p:sp>
      <p:sp>
        <p:nvSpPr>
          <p:cNvPr id="20" name="Shape 18"/>
          <p:cNvSpPr/>
          <p:nvPr/>
        </p:nvSpPr>
        <p:spPr>
          <a:xfrm>
            <a:off x="2560320" y="4123944"/>
            <a:ext cx="1097280" cy="347472"/>
          </a:xfrm>
          <a:prstGeom prst="roundRect">
            <a:avLst>
              <a:gd name="adj" fmla="val 15789"/>
            </a:avLst>
          </a:prstGeom>
          <a:solidFill>
            <a:srgbClr val="E8C43A"/>
          </a:solidFill>
          <a:ln w="9525">
            <a:solidFill>
              <a:srgbClr val="133536"/>
            </a:solidFill>
            <a:prstDash val="solid"/>
          </a:ln>
        </p:spPr>
      </p:sp>
      <p:sp>
        <p:nvSpPr>
          <p:cNvPr id="21" name="Text 19"/>
          <p:cNvSpPr/>
          <p:nvPr/>
        </p:nvSpPr>
        <p:spPr>
          <a:xfrm>
            <a:off x="2560320" y="412394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Wildflowers</a:t>
            </a:r>
            <a:endParaRPr lang="en-US" sz="1000" dirty="0"/>
          </a:p>
        </p:txBody>
      </p:sp>
      <p:sp>
        <p:nvSpPr>
          <p:cNvPr id="22" name="Shape 20"/>
          <p:cNvSpPr/>
          <p:nvPr/>
        </p:nvSpPr>
        <p:spPr>
          <a:xfrm>
            <a:off x="4480560" y="4123944"/>
            <a:ext cx="1097280" cy="347472"/>
          </a:xfrm>
          <a:prstGeom prst="roundRect">
            <a:avLst>
              <a:gd name="adj" fmla="val 15789"/>
            </a:avLst>
          </a:prstGeom>
          <a:solidFill>
            <a:srgbClr val="7DBE6A"/>
          </a:solidFill>
          <a:ln w="9525">
            <a:solidFill>
              <a:srgbClr val="133536"/>
            </a:solidFill>
            <a:prstDash val="solid"/>
          </a:ln>
        </p:spPr>
      </p:sp>
      <p:sp>
        <p:nvSpPr>
          <p:cNvPr id="23" name="Text 21"/>
          <p:cNvSpPr/>
          <p:nvPr/>
        </p:nvSpPr>
        <p:spPr>
          <a:xfrm>
            <a:off x="4480560" y="412394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Grass</a:t>
            </a:r>
            <a:endParaRPr lang="en-US" sz="1000" dirty="0"/>
          </a:p>
        </p:txBody>
      </p:sp>
      <p:sp>
        <p:nvSpPr>
          <p:cNvPr id="24" name="Shape 22"/>
          <p:cNvSpPr/>
          <p:nvPr/>
        </p:nvSpPr>
        <p:spPr>
          <a:xfrm>
            <a:off x="457200" y="2980944"/>
            <a:ext cx="1097280" cy="347472"/>
          </a:xfrm>
          <a:prstGeom prst="roundRect">
            <a:avLst>
              <a:gd name="adj" fmla="val 15789"/>
            </a:avLst>
          </a:prstGeom>
          <a:solidFill>
            <a:srgbClr val="9BC53D"/>
          </a:solidFill>
          <a:ln w="9525">
            <a:solidFill>
              <a:srgbClr val="133536"/>
            </a:solidFill>
            <a:prstDash val="solid"/>
          </a:ln>
        </p:spPr>
      </p:sp>
      <p:sp>
        <p:nvSpPr>
          <p:cNvPr id="25" name="Text 23"/>
          <p:cNvSpPr/>
          <p:nvPr/>
        </p:nvSpPr>
        <p:spPr>
          <a:xfrm>
            <a:off x="457200" y="298094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Caterpillar</a:t>
            </a:r>
            <a:endParaRPr lang="en-US" sz="1000" dirty="0"/>
          </a:p>
        </p:txBody>
      </p:sp>
      <p:sp>
        <p:nvSpPr>
          <p:cNvPr id="26" name="Shape 24"/>
          <p:cNvSpPr/>
          <p:nvPr/>
        </p:nvSpPr>
        <p:spPr>
          <a:xfrm>
            <a:off x="2194560" y="2980944"/>
            <a:ext cx="1097280" cy="347472"/>
          </a:xfrm>
          <a:prstGeom prst="roundRect">
            <a:avLst>
              <a:gd name="adj" fmla="val 15789"/>
            </a:avLst>
          </a:prstGeom>
          <a:solidFill>
            <a:srgbClr val="F2B705"/>
          </a:solidFill>
          <a:ln w="9525">
            <a:solidFill>
              <a:srgbClr val="133536"/>
            </a:solidFill>
            <a:prstDash val="solid"/>
          </a:ln>
        </p:spPr>
      </p:sp>
      <p:sp>
        <p:nvSpPr>
          <p:cNvPr id="27" name="Text 25"/>
          <p:cNvSpPr/>
          <p:nvPr/>
        </p:nvSpPr>
        <p:spPr>
          <a:xfrm>
            <a:off x="2194560" y="298094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Bee</a:t>
            </a:r>
            <a:endParaRPr lang="en-US" sz="1000" dirty="0"/>
          </a:p>
        </p:txBody>
      </p:sp>
      <p:sp>
        <p:nvSpPr>
          <p:cNvPr id="28" name="Shape 26"/>
          <p:cNvSpPr/>
          <p:nvPr/>
        </p:nvSpPr>
        <p:spPr>
          <a:xfrm>
            <a:off x="4206240" y="2980944"/>
            <a:ext cx="1097280" cy="347472"/>
          </a:xfrm>
          <a:prstGeom prst="roundRect">
            <a:avLst>
              <a:gd name="adj" fmla="val 15789"/>
            </a:avLst>
          </a:prstGeom>
          <a:solidFill>
            <a:srgbClr val="B9A68A"/>
          </a:solidFill>
          <a:ln w="9525">
            <a:solidFill>
              <a:srgbClr val="133536"/>
            </a:solidFill>
            <a:prstDash val="solid"/>
          </a:ln>
        </p:spPr>
      </p:sp>
      <p:sp>
        <p:nvSpPr>
          <p:cNvPr id="29" name="Text 27"/>
          <p:cNvSpPr/>
          <p:nvPr/>
        </p:nvSpPr>
        <p:spPr>
          <a:xfrm>
            <a:off x="4206240" y="298094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Rabbit</a:t>
            </a:r>
            <a:endParaRPr lang="en-US" sz="1000" dirty="0"/>
          </a:p>
        </p:txBody>
      </p:sp>
      <p:sp>
        <p:nvSpPr>
          <p:cNvPr id="30" name="Shape 28"/>
          <p:cNvSpPr/>
          <p:nvPr/>
        </p:nvSpPr>
        <p:spPr>
          <a:xfrm>
            <a:off x="1280160" y="1929384"/>
            <a:ext cx="1097280" cy="347472"/>
          </a:xfrm>
          <a:prstGeom prst="roundRect">
            <a:avLst>
              <a:gd name="adj" fmla="val 15789"/>
            </a:avLst>
          </a:prstGeom>
          <a:solidFill>
            <a:srgbClr val="5B9BD5"/>
          </a:solidFill>
          <a:ln w="9525">
            <a:solidFill>
              <a:srgbClr val="133536"/>
            </a:solidFill>
            <a:prstDash val="solid"/>
          </a:ln>
        </p:spPr>
      </p:sp>
      <p:sp>
        <p:nvSpPr>
          <p:cNvPr id="31" name="Text 29"/>
          <p:cNvSpPr/>
          <p:nvPr/>
        </p:nvSpPr>
        <p:spPr>
          <a:xfrm>
            <a:off x="1280160" y="192938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Blue tit</a:t>
            </a:r>
            <a:endParaRPr lang="en-US" sz="1000" dirty="0"/>
          </a:p>
        </p:txBody>
      </p:sp>
      <p:sp>
        <p:nvSpPr>
          <p:cNvPr id="32" name="Shape 30"/>
          <p:cNvSpPr/>
          <p:nvPr/>
        </p:nvSpPr>
        <p:spPr>
          <a:xfrm>
            <a:off x="4480560" y="1929384"/>
            <a:ext cx="1097280" cy="347472"/>
          </a:xfrm>
          <a:prstGeom prst="roundRect">
            <a:avLst>
              <a:gd name="adj" fmla="val 15789"/>
            </a:avLst>
          </a:prstGeom>
          <a:solidFill>
            <a:srgbClr val="D2691E"/>
          </a:solidFill>
          <a:ln w="9525">
            <a:solidFill>
              <a:srgbClr val="133536"/>
            </a:solidFill>
            <a:prstDash val="solid"/>
          </a:ln>
        </p:spPr>
      </p:sp>
      <p:sp>
        <p:nvSpPr>
          <p:cNvPr id="33" name="Text 31"/>
          <p:cNvSpPr/>
          <p:nvPr/>
        </p:nvSpPr>
        <p:spPr>
          <a:xfrm>
            <a:off x="4480560" y="192938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Fox</a:t>
            </a:r>
            <a:endParaRPr lang="en-US" sz="1000" dirty="0"/>
          </a:p>
        </p:txBody>
      </p:sp>
      <p:sp>
        <p:nvSpPr>
          <p:cNvPr id="34" name="Shape 32"/>
          <p:cNvSpPr/>
          <p:nvPr/>
        </p:nvSpPr>
        <p:spPr>
          <a:xfrm>
            <a:off x="2834640" y="1335024"/>
            <a:ext cx="1097280" cy="347472"/>
          </a:xfrm>
          <a:prstGeom prst="roundRect">
            <a:avLst>
              <a:gd name="adj" fmla="val 15789"/>
            </a:avLst>
          </a:prstGeom>
          <a:solidFill>
            <a:srgbClr val="7A5C3A"/>
          </a:solidFill>
          <a:ln w="9525">
            <a:solidFill>
              <a:srgbClr val="133536"/>
            </a:solidFill>
            <a:prstDash val="solid"/>
          </a:ln>
        </p:spPr>
      </p:sp>
      <p:sp>
        <p:nvSpPr>
          <p:cNvPr id="35" name="Text 33"/>
          <p:cNvSpPr/>
          <p:nvPr/>
        </p:nvSpPr>
        <p:spPr>
          <a:xfrm>
            <a:off x="2834640" y="1335024"/>
            <a:ext cx="1097280" cy="347472"/>
          </a:xfrm>
          <a:prstGeom prst="rect">
            <a:avLst/>
          </a:prstGeom>
          <a:noFill/>
          <a:ln/>
        </p:spPr>
        <p:txBody>
          <a:bodyPr wrap="square" lIns="0" tIns="0" rIns="0" bIns="0" rtlCol="0" anchor="ctr"/>
          <a:lstStyle/>
          <a:p>
            <a:pPr algn="ctr" indent="0" marL="0">
              <a:buNone/>
            </a:pPr>
            <a:r>
              <a:rPr lang="en-US" sz="1000" b="1" dirty="0">
                <a:solidFill>
                  <a:srgbClr val="133536"/>
                </a:solidFill>
                <a:latin typeface="Calibri" pitchFamily="34" charset="0"/>
                <a:ea typeface="Calibri" pitchFamily="34" charset="-122"/>
                <a:cs typeface="Calibri" pitchFamily="34" charset="-120"/>
              </a:rPr>
              <a:t>Hawk</a:t>
            </a:r>
            <a:endParaRPr lang="en-US" sz="1000" dirty="0"/>
          </a:p>
        </p:txBody>
      </p:sp>
      <p:sp>
        <p:nvSpPr>
          <p:cNvPr id="36" name="Shape 34"/>
          <p:cNvSpPr/>
          <p:nvPr/>
        </p:nvSpPr>
        <p:spPr>
          <a:xfrm>
            <a:off x="3063240" y="3337560"/>
            <a:ext cx="365760" cy="777240"/>
          </a:xfrm>
          <a:prstGeom prst="line">
            <a:avLst/>
          </a:prstGeom>
          <a:noFill/>
          <a:ln w="19050">
            <a:solidFill>
              <a:srgbClr val="C8414C"/>
            </a:solidFill>
            <a:prstDash val="dash"/>
            <a:tailEnd type="triangle"/>
          </a:ln>
        </p:spPr>
      </p:sp>
      <p:sp>
        <p:nvSpPr>
          <p:cNvPr id="37" name="Text 35"/>
          <p:cNvSpPr/>
          <p:nvPr/>
        </p:nvSpPr>
        <p:spPr>
          <a:xfrm>
            <a:off x="3429000" y="3520440"/>
            <a:ext cx="91440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pollinates</a:t>
            </a:r>
            <a:endParaRPr lang="en-US" sz="1000" dirty="0"/>
          </a:p>
        </p:txBody>
      </p:sp>
      <p:sp>
        <p:nvSpPr>
          <p:cNvPr id="38" name="Text 36"/>
          <p:cNvSpPr/>
          <p:nvPr/>
        </p:nvSpPr>
        <p:spPr>
          <a:xfrm>
            <a:off x="594360" y="4754880"/>
            <a:ext cx="5257800" cy="45720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Remove the bees: wildflowers are not pollinated, blue tits lose food → the whole web changes</a:t>
            </a:r>
            <a:endParaRPr lang="en-US" sz="1050" dirty="0"/>
          </a:p>
        </p:txBody>
      </p:sp>
      <p:sp>
        <p:nvSpPr>
          <p:cNvPr id="39" name="Shape 37"/>
          <p:cNvSpPr/>
          <p:nvPr/>
        </p:nvSpPr>
        <p:spPr>
          <a:xfrm>
            <a:off x="6217920" y="1188720"/>
            <a:ext cx="5562295" cy="2971800"/>
          </a:xfrm>
          <a:prstGeom prst="roundRect">
            <a:avLst>
              <a:gd name="adj" fmla="val 1846"/>
            </a:avLst>
          </a:prstGeom>
          <a:solidFill>
            <a:srgbClr val="F4FAF9"/>
          </a:solidFill>
          <a:ln w="9525">
            <a:solidFill>
              <a:srgbClr val="CFE0DE"/>
            </a:solidFill>
            <a:prstDash val="solid"/>
          </a:ln>
        </p:spPr>
      </p:sp>
      <p:sp>
        <p:nvSpPr>
          <p:cNvPr id="40" name="Text 3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Ecosystem services</a:t>
            </a:r>
            <a:endParaRPr lang="en-US" sz="1300" dirty="0"/>
          </a:p>
        </p:txBody>
      </p:sp>
      <p:sp>
        <p:nvSpPr>
          <p:cNvPr id="41" name="Text 39"/>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Food</a:t>
            </a:r>
            <a:r>
              <a:rPr lang="en-US" sz="1150" dirty="0">
                <a:solidFill>
                  <a:srgbClr val="262B3A"/>
                </a:solidFill>
                <a:latin typeface="Calibri" pitchFamily="34" charset="0"/>
                <a:ea typeface="Calibri" pitchFamily="34" charset="-122"/>
                <a:cs typeface="Calibri" pitchFamily="34" charset="-120"/>
              </a:rPr>
              <a:t>: crops, fish and meat come from biodiversity; wild relatives of crops carry useful genes.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Medicines</a:t>
            </a:r>
            <a:r>
              <a:rPr lang="en-US" sz="1150" dirty="0">
                <a:solidFill>
                  <a:srgbClr val="262B3A"/>
                </a:solidFill>
                <a:latin typeface="Calibri" pitchFamily="34" charset="0"/>
                <a:ea typeface="Calibri" pitchFamily="34" charset="-122"/>
                <a:cs typeface="Calibri" pitchFamily="34" charset="-120"/>
              </a:rPr>
              <a:t>: many drugs were first found in plants, fungi and microorganisms.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Pollination</a:t>
            </a:r>
            <a:r>
              <a:rPr lang="en-US" sz="1150" dirty="0">
                <a:solidFill>
                  <a:srgbClr val="262B3A"/>
                </a:solidFill>
                <a:latin typeface="Calibri" pitchFamily="34" charset="0"/>
                <a:ea typeface="Calibri" pitchFamily="34" charset="-122"/>
                <a:cs typeface="Calibri" pitchFamily="34" charset="-120"/>
              </a:rPr>
              <a:t> by insects; </a:t>
            </a:r>
            <a:r>
              <a:rPr lang="en-US" sz="1150" b="1" dirty="0">
                <a:solidFill>
                  <a:srgbClr val="262B3A"/>
                </a:solidFill>
                <a:latin typeface="Calibri" pitchFamily="34" charset="0"/>
                <a:ea typeface="Calibri" pitchFamily="34" charset="-122"/>
                <a:cs typeface="Calibri" pitchFamily="34" charset="-120"/>
              </a:rPr>
              <a:t>pest control</a:t>
            </a:r>
            <a:r>
              <a:rPr lang="en-US" sz="1150" dirty="0">
                <a:solidFill>
                  <a:srgbClr val="262B3A"/>
                </a:solidFill>
                <a:latin typeface="Calibri" pitchFamily="34" charset="0"/>
                <a:ea typeface="Calibri" pitchFamily="34" charset="-122"/>
                <a:cs typeface="Calibri" pitchFamily="34" charset="-120"/>
              </a:rPr>
              <a:t> by predators; </a:t>
            </a:r>
            <a:r>
              <a:rPr lang="en-US" sz="1150" b="1" dirty="0">
                <a:solidFill>
                  <a:srgbClr val="262B3A"/>
                </a:solidFill>
                <a:latin typeface="Calibri" pitchFamily="34" charset="0"/>
                <a:ea typeface="Calibri" pitchFamily="34" charset="-122"/>
                <a:cs typeface="Calibri" pitchFamily="34" charset="-120"/>
              </a:rPr>
              <a:t>decomposers</a:t>
            </a:r>
            <a:r>
              <a:rPr lang="en-US" sz="1150" dirty="0">
                <a:solidFill>
                  <a:srgbClr val="262B3A"/>
                </a:solidFill>
                <a:latin typeface="Calibri" pitchFamily="34" charset="0"/>
                <a:ea typeface="Calibri" pitchFamily="34" charset="-122"/>
                <a:cs typeface="Calibri" pitchFamily="34" charset="-120"/>
              </a:rPr>
              <a:t> recycle nutrients.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Clean water and air</a:t>
            </a:r>
            <a:r>
              <a:rPr lang="en-US" sz="1150" dirty="0">
                <a:solidFill>
                  <a:srgbClr val="262B3A"/>
                </a:solidFill>
                <a:latin typeface="Calibri" pitchFamily="34" charset="0"/>
                <a:ea typeface="Calibri" pitchFamily="34" charset="-122"/>
                <a:cs typeface="Calibri" pitchFamily="34" charset="-120"/>
              </a:rPr>
              <a:t>, flood control, soil formation and </a:t>
            </a:r>
            <a:r>
              <a:rPr lang="en-US" sz="1150" b="1" dirty="0">
                <a:solidFill>
                  <a:srgbClr val="262B3A"/>
                </a:solidFill>
                <a:latin typeface="Calibri" pitchFamily="34" charset="0"/>
                <a:ea typeface="Calibri" pitchFamily="34" charset="-122"/>
                <a:cs typeface="Calibri" pitchFamily="34" charset="-120"/>
              </a:rPr>
              <a:t>carbon storage</a:t>
            </a:r>
            <a:r>
              <a:rPr lang="en-US" sz="1150" dirty="0">
                <a:solidFill>
                  <a:srgbClr val="262B3A"/>
                </a:solidFill>
                <a:latin typeface="Calibri" pitchFamily="34" charset="0"/>
                <a:ea typeface="Calibri" pitchFamily="34" charset="-122"/>
                <a:cs typeface="Calibri" pitchFamily="34" charset="-120"/>
              </a:rPr>
              <a:t> (forests, peat bogs).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Stability</a:t>
            </a:r>
            <a:r>
              <a:rPr lang="en-US" sz="1150" dirty="0">
                <a:solidFill>
                  <a:srgbClr val="262B3A"/>
                </a:solidFill>
                <a:latin typeface="Calibri" pitchFamily="34" charset="0"/>
                <a:ea typeface="Calibri" pitchFamily="34" charset="-122"/>
                <a:cs typeface="Calibri" pitchFamily="34" charset="-120"/>
              </a:rPr>
              <a:t>: in a diverse food web, losing one species matters less because organisms are </a:t>
            </a:r>
            <a:r>
              <a:rPr lang="en-US" sz="1150" b="1" dirty="0">
                <a:solidFill>
                  <a:srgbClr val="262B3A"/>
                </a:solidFill>
                <a:latin typeface="Calibri" pitchFamily="34" charset="0"/>
                <a:ea typeface="Calibri" pitchFamily="34" charset="-122"/>
                <a:cs typeface="Calibri" pitchFamily="34" charset="-120"/>
              </a:rPr>
              <a:t>interdependent</a:t>
            </a:r>
            <a:r>
              <a:rPr lang="en-US" sz="1150" dirty="0">
                <a:solidFill>
                  <a:srgbClr val="262B3A"/>
                </a:solidFill>
                <a:latin typeface="Calibri" pitchFamily="34" charset="0"/>
                <a:ea typeface="Calibri" pitchFamily="34" charset="-122"/>
                <a:cs typeface="Calibri" pitchFamily="34" charset="-120"/>
              </a:rPr>
              <a:t> and have other food sources.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Also </a:t>
            </a:r>
            <a:r>
              <a:rPr lang="en-US" sz="1150" b="1" dirty="0">
                <a:solidFill>
                  <a:srgbClr val="262B3A"/>
                </a:solidFill>
                <a:latin typeface="Calibri" pitchFamily="34" charset="0"/>
                <a:ea typeface="Calibri" pitchFamily="34" charset="-122"/>
                <a:cs typeface="Calibri" pitchFamily="34" charset="-120"/>
              </a:rPr>
              <a:t>enjoyment</a:t>
            </a:r>
            <a:r>
              <a:rPr lang="en-US" sz="1150" dirty="0">
                <a:solidFill>
                  <a:srgbClr val="262B3A"/>
                </a:solidFill>
                <a:latin typeface="Calibri" pitchFamily="34" charset="0"/>
                <a:ea typeface="Calibri" pitchFamily="34" charset="-122"/>
                <a:cs typeface="Calibri" pitchFamily="34" charset="-120"/>
              </a:rPr>
              <a:t>, tourism and the moral idea that other species have a right to exist.</a:t>
            </a:r>
            <a:endParaRPr lang="en-US" sz="1150" dirty="0"/>
          </a:p>
        </p:txBody>
      </p:sp>
      <p:sp>
        <p:nvSpPr>
          <p:cNvPr id="42" name="Shape 40"/>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43" name="Text 41"/>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value of pollinators</a:t>
            </a:r>
            <a:endParaRPr lang="en-US" sz="1300" dirty="0"/>
          </a:p>
        </p:txBody>
      </p:sp>
      <p:sp>
        <p:nvSpPr>
          <p:cNvPr id="44" name="Text 42"/>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An apple orchard yields 30 tonnes. Without insect pollination the yield would be one third of this.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Without   </a:t>
            </a:r>
            <a:r>
              <a:rPr lang="en-US" sz="1050" dirty="0">
                <a:solidFill>
                  <a:srgbClr val="262B3A"/>
                </a:solidFill>
                <a:latin typeface="Calibri" pitchFamily="34" charset="0"/>
                <a:ea typeface="Calibri" pitchFamily="34" charset="-122"/>
                <a:cs typeface="Calibri" pitchFamily="34" charset="-120"/>
              </a:rPr>
              <a:t>30 ÷ 3 = 10 tonnes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Lost   </a:t>
            </a:r>
            <a:r>
              <a:rPr lang="en-US" sz="1050" dirty="0">
                <a:solidFill>
                  <a:srgbClr val="262B3A"/>
                </a:solidFill>
                <a:latin typeface="Calibri" pitchFamily="34" charset="0"/>
                <a:ea typeface="Calibri" pitchFamily="34" charset="-122"/>
                <a:cs typeface="Calibri" pitchFamily="34" charset="-120"/>
              </a:rPr>
              <a:t>30 − 10 = 20 tonnes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insects provide </a:t>
            </a:r>
            <a:r>
              <a:rPr lang="en-US" sz="1050" b="1" dirty="0">
                <a:solidFill>
                  <a:srgbClr val="C8414C"/>
                </a:solidFill>
                <a:latin typeface="Calibri" pitchFamily="34" charset="0"/>
                <a:ea typeface="Calibri" pitchFamily="34" charset="-122"/>
                <a:cs typeface="Calibri" pitchFamily="34" charset="-120"/>
              </a:rPr>
              <a:t>20 tonnes</a:t>
            </a:r>
            <a:r>
              <a:rPr lang="en-US" sz="1050" b="1" dirty="0">
                <a:solidFill>
                  <a:srgbClr val="C8414C"/>
                </a:solidFill>
                <a:latin typeface="Calibri" pitchFamily="34" charset="0"/>
                <a:ea typeface="Calibri" pitchFamily="34" charset="-122"/>
                <a:cs typeface="Calibri" pitchFamily="34" charset="-120"/>
              </a:rPr>
              <a:t> (two thirds) of the crop</a:t>
            </a:r>
            <a:endParaRPr lang="en-US" sz="1050" dirty="0"/>
          </a:p>
        </p:txBody>
      </p:sp>
      <p:sp>
        <p:nvSpPr>
          <p:cNvPr id="45" name="Shape 43"/>
          <p:cNvSpPr/>
          <p:nvPr/>
        </p:nvSpPr>
        <p:spPr>
          <a:xfrm>
            <a:off x="411480" y="5833872"/>
            <a:ext cx="11368735" cy="530352"/>
          </a:xfrm>
          <a:prstGeom prst="rect">
            <a:avLst/>
          </a:prstGeom>
          <a:solidFill>
            <a:srgbClr val="FFF4E0"/>
          </a:solidFill>
          <a:ln w="6350">
            <a:solidFill>
              <a:srgbClr val="F1D9A8"/>
            </a:solidFill>
            <a:prstDash val="solid"/>
          </a:ln>
        </p:spPr>
      </p:sp>
      <p:sp>
        <p:nvSpPr>
          <p:cNvPr id="46" name="Shape 44"/>
          <p:cNvSpPr/>
          <p:nvPr/>
        </p:nvSpPr>
        <p:spPr>
          <a:xfrm>
            <a:off x="411480" y="5833872"/>
            <a:ext cx="82296" cy="530352"/>
          </a:xfrm>
          <a:prstGeom prst="rect">
            <a:avLst/>
          </a:prstGeom>
          <a:solidFill>
            <a:srgbClr val="E39A2F"/>
          </a:solidFill>
          <a:ln w="12700">
            <a:solidFill>
              <a:srgbClr val="E39A2F"/>
            </a:solidFill>
            <a:prstDash val="solid"/>
          </a:ln>
        </p:spPr>
      </p:sp>
      <p:sp>
        <p:nvSpPr>
          <p:cNvPr id="47" name="Text 4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three</a:t>
            </a:r>
            <a:r>
              <a:rPr lang="en-US" sz="1150" dirty="0">
                <a:solidFill>
                  <a:srgbClr val="262B3A"/>
                </a:solidFill>
                <a:latin typeface="Calibri" pitchFamily="34" charset="0"/>
                <a:ea typeface="Calibri" pitchFamily="34" charset="-122"/>
                <a:cs typeface="Calibri" pitchFamily="34" charset="-120"/>
              </a:rPr>
              <a:t> ecosystem services. Explain why a food web with </a:t>
            </a:r>
            <a:r>
              <a:rPr lang="en-US" sz="1150" b="1" dirty="0">
                <a:solidFill>
                  <a:srgbClr val="262B3A"/>
                </a:solidFill>
                <a:latin typeface="Calibri" pitchFamily="34" charset="0"/>
                <a:ea typeface="Calibri" pitchFamily="34" charset="-122"/>
                <a:cs typeface="Calibri" pitchFamily="34" charset="-120"/>
              </a:rPr>
              <a:t>many</a:t>
            </a:r>
            <a:r>
              <a:rPr lang="en-US" sz="1150" dirty="0">
                <a:solidFill>
                  <a:srgbClr val="262B3A"/>
                </a:solidFill>
                <a:latin typeface="Calibri" pitchFamily="34" charset="0"/>
                <a:ea typeface="Calibri" pitchFamily="34" charset="-122"/>
                <a:cs typeface="Calibri" pitchFamily="34" charset="-120"/>
              </a:rPr>
              <a:t> species is more </a:t>
            </a:r>
            <a:r>
              <a:rPr lang="en-US" sz="1150" b="1" dirty="0">
                <a:solidFill>
                  <a:srgbClr val="262B3A"/>
                </a:solidFill>
                <a:latin typeface="Calibri" pitchFamily="34" charset="0"/>
                <a:ea typeface="Calibri" pitchFamily="34" charset="-122"/>
                <a:cs typeface="Calibri" pitchFamily="34" charset="-120"/>
              </a:rPr>
              <a:t>stable</a:t>
            </a:r>
            <a:r>
              <a:rPr lang="en-US" sz="1150" dirty="0">
                <a:solidFill>
                  <a:srgbClr val="262B3A"/>
                </a:solidFill>
                <a:latin typeface="Calibri" pitchFamily="34" charset="0"/>
                <a:ea typeface="Calibri" pitchFamily="34" charset="-122"/>
                <a:cs typeface="Calibri" pitchFamily="34" charset="-120"/>
              </a:rPr>
              <a:t> than one with few.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B6.3.2 • biodiversity and why it matters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biodiversity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 in which humans benefit from high biodiversity.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field survey found </a:t>
            </a:r>
            <a:r>
              <a:rPr lang="en-US" sz="1250" b="1" dirty="0">
                <a:solidFill>
                  <a:srgbClr val="262B3A"/>
                </a:solidFill>
                <a:latin typeface="Calibri" pitchFamily="34" charset="0"/>
                <a:ea typeface="Calibri" pitchFamily="34" charset="-122"/>
                <a:cs typeface="Calibri" pitchFamily="34" charset="-120"/>
              </a:rPr>
              <a:t>32</a:t>
            </a:r>
            <a:r>
              <a:rPr lang="en-US" sz="1250" dirty="0">
                <a:solidFill>
                  <a:srgbClr val="262B3A"/>
                </a:solidFill>
                <a:latin typeface="Calibri" pitchFamily="34" charset="0"/>
                <a:ea typeface="Calibri" pitchFamily="34" charset="-122"/>
                <a:cs typeface="Calibri" pitchFamily="34" charset="-120"/>
              </a:rPr>
              <a:t> species. Two years later </a:t>
            </a:r>
            <a:r>
              <a:rPr lang="en-US" sz="1250" b="1" dirty="0">
                <a:solidFill>
                  <a:srgbClr val="262B3A"/>
                </a:solidFill>
                <a:latin typeface="Calibri" pitchFamily="34" charset="0"/>
                <a:ea typeface="Calibri" pitchFamily="34" charset="-122"/>
                <a:cs typeface="Calibri" pitchFamily="34" charset="-120"/>
              </a:rPr>
              <a:t>8</a:t>
            </a:r>
            <a:r>
              <a:rPr lang="en-US" sz="1250" dirty="0">
                <a:solidFill>
                  <a:srgbClr val="262B3A"/>
                </a:solidFill>
                <a:latin typeface="Calibri" pitchFamily="34" charset="0"/>
                <a:ea typeface="Calibri" pitchFamily="34" charset="-122"/>
                <a:cs typeface="Calibri" pitchFamily="34" charset="-120"/>
              </a:rPr>
              <a:t> had disappeared. Calculate the percentage of species lost.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a:t>
            </a:r>
            <a:r>
              <a:rPr lang="en-US" sz="1250" b="1" dirty="0">
                <a:solidFill>
                  <a:srgbClr val="262B3A"/>
                </a:solidFill>
                <a:latin typeface="Calibri" pitchFamily="34" charset="0"/>
                <a:ea typeface="Calibri" pitchFamily="34" charset="-122"/>
                <a:cs typeface="Calibri" pitchFamily="34" charset="-120"/>
              </a:rPr>
              <a:t>monoculture</a:t>
            </a:r>
            <a:r>
              <a:rPr lang="en-US" sz="1250" dirty="0">
                <a:solidFill>
                  <a:srgbClr val="262B3A"/>
                </a:solidFill>
                <a:latin typeface="Calibri" pitchFamily="34" charset="0"/>
                <a:ea typeface="Calibri" pitchFamily="34" charset="-122"/>
                <a:cs typeface="Calibri" pitchFamily="34" charset="-120"/>
              </a:rPr>
              <a:t> of wheat has low biodiversity and why this can be a problem.</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Threats 1: habitat loss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 negative human interactions: land use and deforestation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map grids drawn to scale: each square = 1 km² (illustrative data)</a:t>
            </a:r>
            <a:endParaRPr lang="en-US" sz="1000" dirty="0"/>
          </a:p>
        </p:txBody>
      </p:sp>
      <p:sp>
        <p:nvSpPr>
          <p:cNvPr id="10" name="Text 8"/>
          <p:cNvSpPr/>
          <p:nvPr/>
        </p:nvSpPr>
        <p:spPr>
          <a:xfrm>
            <a:off x="685800" y="1399032"/>
            <a:ext cx="228600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Before: 80 km² forest</a:t>
            </a:r>
            <a:endParaRPr lang="en-US" sz="1100" dirty="0"/>
          </a:p>
        </p:txBody>
      </p:sp>
      <p:sp>
        <p:nvSpPr>
          <p:cNvPr id="11" name="Shape 9"/>
          <p:cNvSpPr/>
          <p:nvPr/>
        </p:nvSpPr>
        <p:spPr>
          <a:xfrm>
            <a:off x="685800" y="1691640"/>
            <a:ext cx="228600" cy="228600"/>
          </a:xfrm>
          <a:prstGeom prst="rect">
            <a:avLst/>
          </a:prstGeom>
          <a:solidFill>
            <a:srgbClr val="4E9A3E"/>
          </a:solidFill>
          <a:ln w="6350">
            <a:solidFill>
              <a:srgbClr val="FFFFFF"/>
            </a:solidFill>
            <a:prstDash val="solid"/>
          </a:ln>
        </p:spPr>
      </p:sp>
      <p:sp>
        <p:nvSpPr>
          <p:cNvPr id="12" name="Shape 10"/>
          <p:cNvSpPr/>
          <p:nvPr/>
        </p:nvSpPr>
        <p:spPr>
          <a:xfrm>
            <a:off x="914400" y="1691640"/>
            <a:ext cx="228600" cy="228600"/>
          </a:xfrm>
          <a:prstGeom prst="rect">
            <a:avLst/>
          </a:prstGeom>
          <a:solidFill>
            <a:srgbClr val="4E9A3E"/>
          </a:solidFill>
          <a:ln w="6350">
            <a:solidFill>
              <a:srgbClr val="FFFFFF"/>
            </a:solidFill>
            <a:prstDash val="solid"/>
          </a:ln>
        </p:spPr>
      </p:sp>
      <p:sp>
        <p:nvSpPr>
          <p:cNvPr id="13" name="Shape 11"/>
          <p:cNvSpPr/>
          <p:nvPr/>
        </p:nvSpPr>
        <p:spPr>
          <a:xfrm>
            <a:off x="1143000" y="1691640"/>
            <a:ext cx="228600" cy="228600"/>
          </a:xfrm>
          <a:prstGeom prst="rect">
            <a:avLst/>
          </a:prstGeom>
          <a:solidFill>
            <a:srgbClr val="4E9A3E"/>
          </a:solidFill>
          <a:ln w="6350">
            <a:solidFill>
              <a:srgbClr val="FFFFFF"/>
            </a:solidFill>
            <a:prstDash val="solid"/>
          </a:ln>
        </p:spPr>
      </p:sp>
      <p:sp>
        <p:nvSpPr>
          <p:cNvPr id="14" name="Shape 12"/>
          <p:cNvSpPr/>
          <p:nvPr/>
        </p:nvSpPr>
        <p:spPr>
          <a:xfrm>
            <a:off x="1371600" y="1691640"/>
            <a:ext cx="228600" cy="228600"/>
          </a:xfrm>
          <a:prstGeom prst="rect">
            <a:avLst/>
          </a:prstGeom>
          <a:solidFill>
            <a:srgbClr val="4E9A3E"/>
          </a:solidFill>
          <a:ln w="6350">
            <a:solidFill>
              <a:srgbClr val="FFFFFF"/>
            </a:solidFill>
            <a:prstDash val="solid"/>
          </a:ln>
        </p:spPr>
      </p:sp>
      <p:sp>
        <p:nvSpPr>
          <p:cNvPr id="15" name="Shape 13"/>
          <p:cNvSpPr/>
          <p:nvPr/>
        </p:nvSpPr>
        <p:spPr>
          <a:xfrm>
            <a:off x="1600200" y="1691640"/>
            <a:ext cx="228600" cy="228600"/>
          </a:xfrm>
          <a:prstGeom prst="rect">
            <a:avLst/>
          </a:prstGeom>
          <a:solidFill>
            <a:srgbClr val="4E9A3E"/>
          </a:solidFill>
          <a:ln w="6350">
            <a:solidFill>
              <a:srgbClr val="FFFFFF"/>
            </a:solidFill>
            <a:prstDash val="solid"/>
          </a:ln>
        </p:spPr>
      </p:sp>
      <p:sp>
        <p:nvSpPr>
          <p:cNvPr id="16" name="Shape 14"/>
          <p:cNvSpPr/>
          <p:nvPr/>
        </p:nvSpPr>
        <p:spPr>
          <a:xfrm>
            <a:off x="1828800" y="1691640"/>
            <a:ext cx="228600" cy="228600"/>
          </a:xfrm>
          <a:prstGeom prst="rect">
            <a:avLst/>
          </a:prstGeom>
          <a:solidFill>
            <a:srgbClr val="4E9A3E"/>
          </a:solidFill>
          <a:ln w="6350">
            <a:solidFill>
              <a:srgbClr val="FFFFFF"/>
            </a:solidFill>
            <a:prstDash val="solid"/>
          </a:ln>
        </p:spPr>
      </p:sp>
      <p:sp>
        <p:nvSpPr>
          <p:cNvPr id="17" name="Shape 15"/>
          <p:cNvSpPr/>
          <p:nvPr/>
        </p:nvSpPr>
        <p:spPr>
          <a:xfrm>
            <a:off x="2057400" y="1691640"/>
            <a:ext cx="228600" cy="228600"/>
          </a:xfrm>
          <a:prstGeom prst="rect">
            <a:avLst/>
          </a:prstGeom>
          <a:solidFill>
            <a:srgbClr val="4E9A3E"/>
          </a:solidFill>
          <a:ln w="6350">
            <a:solidFill>
              <a:srgbClr val="FFFFFF"/>
            </a:solidFill>
            <a:prstDash val="solid"/>
          </a:ln>
        </p:spPr>
      </p:sp>
      <p:sp>
        <p:nvSpPr>
          <p:cNvPr id="18" name="Shape 16"/>
          <p:cNvSpPr/>
          <p:nvPr/>
        </p:nvSpPr>
        <p:spPr>
          <a:xfrm>
            <a:off x="2286000" y="1691640"/>
            <a:ext cx="228600" cy="228600"/>
          </a:xfrm>
          <a:prstGeom prst="rect">
            <a:avLst/>
          </a:prstGeom>
          <a:solidFill>
            <a:srgbClr val="4E9A3E"/>
          </a:solidFill>
          <a:ln w="6350">
            <a:solidFill>
              <a:srgbClr val="FFFFFF"/>
            </a:solidFill>
            <a:prstDash val="solid"/>
          </a:ln>
        </p:spPr>
      </p:sp>
      <p:sp>
        <p:nvSpPr>
          <p:cNvPr id="19" name="Shape 17"/>
          <p:cNvSpPr/>
          <p:nvPr/>
        </p:nvSpPr>
        <p:spPr>
          <a:xfrm>
            <a:off x="2514600" y="1691640"/>
            <a:ext cx="228600" cy="228600"/>
          </a:xfrm>
          <a:prstGeom prst="rect">
            <a:avLst/>
          </a:prstGeom>
          <a:solidFill>
            <a:srgbClr val="4E9A3E"/>
          </a:solidFill>
          <a:ln w="6350">
            <a:solidFill>
              <a:srgbClr val="FFFFFF"/>
            </a:solidFill>
            <a:prstDash val="solid"/>
          </a:ln>
        </p:spPr>
      </p:sp>
      <p:sp>
        <p:nvSpPr>
          <p:cNvPr id="20" name="Shape 18"/>
          <p:cNvSpPr/>
          <p:nvPr/>
        </p:nvSpPr>
        <p:spPr>
          <a:xfrm>
            <a:off x="2743200" y="1691640"/>
            <a:ext cx="228600" cy="228600"/>
          </a:xfrm>
          <a:prstGeom prst="rect">
            <a:avLst/>
          </a:prstGeom>
          <a:solidFill>
            <a:srgbClr val="4E9A3E"/>
          </a:solidFill>
          <a:ln w="6350">
            <a:solidFill>
              <a:srgbClr val="FFFFFF"/>
            </a:solidFill>
            <a:prstDash val="solid"/>
          </a:ln>
        </p:spPr>
      </p:sp>
      <p:sp>
        <p:nvSpPr>
          <p:cNvPr id="21" name="Shape 19"/>
          <p:cNvSpPr/>
          <p:nvPr/>
        </p:nvSpPr>
        <p:spPr>
          <a:xfrm>
            <a:off x="685800" y="1920240"/>
            <a:ext cx="228600" cy="228600"/>
          </a:xfrm>
          <a:prstGeom prst="rect">
            <a:avLst/>
          </a:prstGeom>
          <a:solidFill>
            <a:srgbClr val="4E9A3E"/>
          </a:solidFill>
          <a:ln w="6350">
            <a:solidFill>
              <a:srgbClr val="FFFFFF"/>
            </a:solidFill>
            <a:prstDash val="solid"/>
          </a:ln>
        </p:spPr>
      </p:sp>
      <p:sp>
        <p:nvSpPr>
          <p:cNvPr id="22" name="Shape 20"/>
          <p:cNvSpPr/>
          <p:nvPr/>
        </p:nvSpPr>
        <p:spPr>
          <a:xfrm>
            <a:off x="914400" y="1920240"/>
            <a:ext cx="228600" cy="228600"/>
          </a:xfrm>
          <a:prstGeom prst="rect">
            <a:avLst/>
          </a:prstGeom>
          <a:solidFill>
            <a:srgbClr val="4E9A3E"/>
          </a:solidFill>
          <a:ln w="6350">
            <a:solidFill>
              <a:srgbClr val="FFFFFF"/>
            </a:solidFill>
            <a:prstDash val="solid"/>
          </a:ln>
        </p:spPr>
      </p:sp>
      <p:sp>
        <p:nvSpPr>
          <p:cNvPr id="23" name="Shape 21"/>
          <p:cNvSpPr/>
          <p:nvPr/>
        </p:nvSpPr>
        <p:spPr>
          <a:xfrm>
            <a:off x="1143000" y="1920240"/>
            <a:ext cx="228600" cy="228600"/>
          </a:xfrm>
          <a:prstGeom prst="rect">
            <a:avLst/>
          </a:prstGeom>
          <a:solidFill>
            <a:srgbClr val="4E9A3E"/>
          </a:solidFill>
          <a:ln w="6350">
            <a:solidFill>
              <a:srgbClr val="FFFFFF"/>
            </a:solidFill>
            <a:prstDash val="solid"/>
          </a:ln>
        </p:spPr>
      </p:sp>
      <p:sp>
        <p:nvSpPr>
          <p:cNvPr id="24" name="Shape 22"/>
          <p:cNvSpPr/>
          <p:nvPr/>
        </p:nvSpPr>
        <p:spPr>
          <a:xfrm>
            <a:off x="1371600" y="1920240"/>
            <a:ext cx="228600" cy="228600"/>
          </a:xfrm>
          <a:prstGeom prst="rect">
            <a:avLst/>
          </a:prstGeom>
          <a:solidFill>
            <a:srgbClr val="4E9A3E"/>
          </a:solidFill>
          <a:ln w="6350">
            <a:solidFill>
              <a:srgbClr val="FFFFFF"/>
            </a:solidFill>
            <a:prstDash val="solid"/>
          </a:ln>
        </p:spPr>
      </p:sp>
      <p:sp>
        <p:nvSpPr>
          <p:cNvPr id="25" name="Shape 23"/>
          <p:cNvSpPr/>
          <p:nvPr/>
        </p:nvSpPr>
        <p:spPr>
          <a:xfrm>
            <a:off x="1600200" y="1920240"/>
            <a:ext cx="228600" cy="228600"/>
          </a:xfrm>
          <a:prstGeom prst="rect">
            <a:avLst/>
          </a:prstGeom>
          <a:solidFill>
            <a:srgbClr val="4E9A3E"/>
          </a:solidFill>
          <a:ln w="6350">
            <a:solidFill>
              <a:srgbClr val="FFFFFF"/>
            </a:solidFill>
            <a:prstDash val="solid"/>
          </a:ln>
        </p:spPr>
      </p:sp>
      <p:sp>
        <p:nvSpPr>
          <p:cNvPr id="26" name="Shape 24"/>
          <p:cNvSpPr/>
          <p:nvPr/>
        </p:nvSpPr>
        <p:spPr>
          <a:xfrm>
            <a:off x="1828800" y="1920240"/>
            <a:ext cx="228600" cy="228600"/>
          </a:xfrm>
          <a:prstGeom prst="rect">
            <a:avLst/>
          </a:prstGeom>
          <a:solidFill>
            <a:srgbClr val="4E9A3E"/>
          </a:solidFill>
          <a:ln w="6350">
            <a:solidFill>
              <a:srgbClr val="FFFFFF"/>
            </a:solidFill>
            <a:prstDash val="solid"/>
          </a:ln>
        </p:spPr>
      </p:sp>
      <p:sp>
        <p:nvSpPr>
          <p:cNvPr id="27" name="Shape 25"/>
          <p:cNvSpPr/>
          <p:nvPr/>
        </p:nvSpPr>
        <p:spPr>
          <a:xfrm>
            <a:off x="2057400" y="1920240"/>
            <a:ext cx="228600" cy="228600"/>
          </a:xfrm>
          <a:prstGeom prst="rect">
            <a:avLst/>
          </a:prstGeom>
          <a:solidFill>
            <a:srgbClr val="4E9A3E"/>
          </a:solidFill>
          <a:ln w="6350">
            <a:solidFill>
              <a:srgbClr val="FFFFFF"/>
            </a:solidFill>
            <a:prstDash val="solid"/>
          </a:ln>
        </p:spPr>
      </p:sp>
      <p:sp>
        <p:nvSpPr>
          <p:cNvPr id="28" name="Shape 26"/>
          <p:cNvSpPr/>
          <p:nvPr/>
        </p:nvSpPr>
        <p:spPr>
          <a:xfrm>
            <a:off x="2286000" y="1920240"/>
            <a:ext cx="228600" cy="228600"/>
          </a:xfrm>
          <a:prstGeom prst="rect">
            <a:avLst/>
          </a:prstGeom>
          <a:solidFill>
            <a:srgbClr val="4E9A3E"/>
          </a:solidFill>
          <a:ln w="6350">
            <a:solidFill>
              <a:srgbClr val="FFFFFF"/>
            </a:solidFill>
            <a:prstDash val="solid"/>
          </a:ln>
        </p:spPr>
      </p:sp>
      <p:sp>
        <p:nvSpPr>
          <p:cNvPr id="29" name="Shape 27"/>
          <p:cNvSpPr/>
          <p:nvPr/>
        </p:nvSpPr>
        <p:spPr>
          <a:xfrm>
            <a:off x="2514600" y="1920240"/>
            <a:ext cx="228600" cy="228600"/>
          </a:xfrm>
          <a:prstGeom prst="rect">
            <a:avLst/>
          </a:prstGeom>
          <a:solidFill>
            <a:srgbClr val="4E9A3E"/>
          </a:solidFill>
          <a:ln w="6350">
            <a:solidFill>
              <a:srgbClr val="FFFFFF"/>
            </a:solidFill>
            <a:prstDash val="solid"/>
          </a:ln>
        </p:spPr>
      </p:sp>
      <p:sp>
        <p:nvSpPr>
          <p:cNvPr id="30" name="Shape 28"/>
          <p:cNvSpPr/>
          <p:nvPr/>
        </p:nvSpPr>
        <p:spPr>
          <a:xfrm>
            <a:off x="2743200" y="1920240"/>
            <a:ext cx="228600" cy="228600"/>
          </a:xfrm>
          <a:prstGeom prst="rect">
            <a:avLst/>
          </a:prstGeom>
          <a:solidFill>
            <a:srgbClr val="4E9A3E"/>
          </a:solidFill>
          <a:ln w="6350">
            <a:solidFill>
              <a:srgbClr val="FFFFFF"/>
            </a:solidFill>
            <a:prstDash val="solid"/>
          </a:ln>
        </p:spPr>
      </p:sp>
      <p:sp>
        <p:nvSpPr>
          <p:cNvPr id="31" name="Shape 29"/>
          <p:cNvSpPr/>
          <p:nvPr/>
        </p:nvSpPr>
        <p:spPr>
          <a:xfrm>
            <a:off x="685800" y="2148840"/>
            <a:ext cx="228600" cy="228600"/>
          </a:xfrm>
          <a:prstGeom prst="rect">
            <a:avLst/>
          </a:prstGeom>
          <a:solidFill>
            <a:srgbClr val="4E9A3E"/>
          </a:solidFill>
          <a:ln w="6350">
            <a:solidFill>
              <a:srgbClr val="FFFFFF"/>
            </a:solidFill>
            <a:prstDash val="solid"/>
          </a:ln>
        </p:spPr>
      </p:sp>
      <p:sp>
        <p:nvSpPr>
          <p:cNvPr id="32" name="Shape 30"/>
          <p:cNvSpPr/>
          <p:nvPr/>
        </p:nvSpPr>
        <p:spPr>
          <a:xfrm>
            <a:off x="914400" y="2148840"/>
            <a:ext cx="228600" cy="228600"/>
          </a:xfrm>
          <a:prstGeom prst="rect">
            <a:avLst/>
          </a:prstGeom>
          <a:solidFill>
            <a:srgbClr val="4E9A3E"/>
          </a:solidFill>
          <a:ln w="6350">
            <a:solidFill>
              <a:srgbClr val="FFFFFF"/>
            </a:solidFill>
            <a:prstDash val="solid"/>
          </a:ln>
        </p:spPr>
      </p:sp>
      <p:sp>
        <p:nvSpPr>
          <p:cNvPr id="33" name="Shape 31"/>
          <p:cNvSpPr/>
          <p:nvPr/>
        </p:nvSpPr>
        <p:spPr>
          <a:xfrm>
            <a:off x="1143000" y="2148840"/>
            <a:ext cx="228600" cy="228600"/>
          </a:xfrm>
          <a:prstGeom prst="rect">
            <a:avLst/>
          </a:prstGeom>
          <a:solidFill>
            <a:srgbClr val="4E9A3E"/>
          </a:solidFill>
          <a:ln w="6350">
            <a:solidFill>
              <a:srgbClr val="FFFFFF"/>
            </a:solidFill>
            <a:prstDash val="solid"/>
          </a:ln>
        </p:spPr>
      </p:sp>
      <p:sp>
        <p:nvSpPr>
          <p:cNvPr id="34" name="Shape 32"/>
          <p:cNvSpPr/>
          <p:nvPr/>
        </p:nvSpPr>
        <p:spPr>
          <a:xfrm>
            <a:off x="1371600" y="2148840"/>
            <a:ext cx="228600" cy="228600"/>
          </a:xfrm>
          <a:prstGeom prst="rect">
            <a:avLst/>
          </a:prstGeom>
          <a:solidFill>
            <a:srgbClr val="4E9A3E"/>
          </a:solidFill>
          <a:ln w="6350">
            <a:solidFill>
              <a:srgbClr val="FFFFFF"/>
            </a:solidFill>
            <a:prstDash val="solid"/>
          </a:ln>
        </p:spPr>
      </p:sp>
      <p:sp>
        <p:nvSpPr>
          <p:cNvPr id="35" name="Shape 33"/>
          <p:cNvSpPr/>
          <p:nvPr/>
        </p:nvSpPr>
        <p:spPr>
          <a:xfrm>
            <a:off x="1600200" y="2148840"/>
            <a:ext cx="228600" cy="228600"/>
          </a:xfrm>
          <a:prstGeom prst="rect">
            <a:avLst/>
          </a:prstGeom>
          <a:solidFill>
            <a:srgbClr val="4E9A3E"/>
          </a:solidFill>
          <a:ln w="6350">
            <a:solidFill>
              <a:srgbClr val="FFFFFF"/>
            </a:solidFill>
            <a:prstDash val="solid"/>
          </a:ln>
        </p:spPr>
      </p:sp>
      <p:sp>
        <p:nvSpPr>
          <p:cNvPr id="36" name="Shape 34"/>
          <p:cNvSpPr/>
          <p:nvPr/>
        </p:nvSpPr>
        <p:spPr>
          <a:xfrm>
            <a:off x="1828800" y="2148840"/>
            <a:ext cx="228600" cy="228600"/>
          </a:xfrm>
          <a:prstGeom prst="rect">
            <a:avLst/>
          </a:prstGeom>
          <a:solidFill>
            <a:srgbClr val="4E9A3E"/>
          </a:solidFill>
          <a:ln w="6350">
            <a:solidFill>
              <a:srgbClr val="FFFFFF"/>
            </a:solidFill>
            <a:prstDash val="solid"/>
          </a:ln>
        </p:spPr>
      </p:sp>
      <p:sp>
        <p:nvSpPr>
          <p:cNvPr id="37" name="Shape 35"/>
          <p:cNvSpPr/>
          <p:nvPr/>
        </p:nvSpPr>
        <p:spPr>
          <a:xfrm>
            <a:off x="2057400" y="2148840"/>
            <a:ext cx="228600" cy="228600"/>
          </a:xfrm>
          <a:prstGeom prst="rect">
            <a:avLst/>
          </a:prstGeom>
          <a:solidFill>
            <a:srgbClr val="4E9A3E"/>
          </a:solidFill>
          <a:ln w="6350">
            <a:solidFill>
              <a:srgbClr val="FFFFFF"/>
            </a:solidFill>
            <a:prstDash val="solid"/>
          </a:ln>
        </p:spPr>
      </p:sp>
      <p:sp>
        <p:nvSpPr>
          <p:cNvPr id="38" name="Shape 36"/>
          <p:cNvSpPr/>
          <p:nvPr/>
        </p:nvSpPr>
        <p:spPr>
          <a:xfrm>
            <a:off x="2286000" y="2148840"/>
            <a:ext cx="228600" cy="228600"/>
          </a:xfrm>
          <a:prstGeom prst="rect">
            <a:avLst/>
          </a:prstGeom>
          <a:solidFill>
            <a:srgbClr val="4E9A3E"/>
          </a:solidFill>
          <a:ln w="6350">
            <a:solidFill>
              <a:srgbClr val="FFFFFF"/>
            </a:solidFill>
            <a:prstDash val="solid"/>
          </a:ln>
        </p:spPr>
      </p:sp>
      <p:sp>
        <p:nvSpPr>
          <p:cNvPr id="39" name="Shape 37"/>
          <p:cNvSpPr/>
          <p:nvPr/>
        </p:nvSpPr>
        <p:spPr>
          <a:xfrm>
            <a:off x="2514600" y="2148840"/>
            <a:ext cx="228600" cy="228600"/>
          </a:xfrm>
          <a:prstGeom prst="rect">
            <a:avLst/>
          </a:prstGeom>
          <a:solidFill>
            <a:srgbClr val="4E9A3E"/>
          </a:solidFill>
          <a:ln w="6350">
            <a:solidFill>
              <a:srgbClr val="FFFFFF"/>
            </a:solidFill>
            <a:prstDash val="solid"/>
          </a:ln>
        </p:spPr>
      </p:sp>
      <p:sp>
        <p:nvSpPr>
          <p:cNvPr id="40" name="Shape 38"/>
          <p:cNvSpPr/>
          <p:nvPr/>
        </p:nvSpPr>
        <p:spPr>
          <a:xfrm>
            <a:off x="2743200" y="2148840"/>
            <a:ext cx="228600" cy="228600"/>
          </a:xfrm>
          <a:prstGeom prst="rect">
            <a:avLst/>
          </a:prstGeom>
          <a:solidFill>
            <a:srgbClr val="4E9A3E"/>
          </a:solidFill>
          <a:ln w="6350">
            <a:solidFill>
              <a:srgbClr val="FFFFFF"/>
            </a:solidFill>
            <a:prstDash val="solid"/>
          </a:ln>
        </p:spPr>
      </p:sp>
      <p:sp>
        <p:nvSpPr>
          <p:cNvPr id="41" name="Shape 39"/>
          <p:cNvSpPr/>
          <p:nvPr/>
        </p:nvSpPr>
        <p:spPr>
          <a:xfrm>
            <a:off x="685800" y="2377440"/>
            <a:ext cx="228600" cy="228600"/>
          </a:xfrm>
          <a:prstGeom prst="rect">
            <a:avLst/>
          </a:prstGeom>
          <a:solidFill>
            <a:srgbClr val="4E9A3E"/>
          </a:solidFill>
          <a:ln w="6350">
            <a:solidFill>
              <a:srgbClr val="FFFFFF"/>
            </a:solidFill>
            <a:prstDash val="solid"/>
          </a:ln>
        </p:spPr>
      </p:sp>
      <p:sp>
        <p:nvSpPr>
          <p:cNvPr id="42" name="Shape 40"/>
          <p:cNvSpPr/>
          <p:nvPr/>
        </p:nvSpPr>
        <p:spPr>
          <a:xfrm>
            <a:off x="914400" y="2377440"/>
            <a:ext cx="228600" cy="228600"/>
          </a:xfrm>
          <a:prstGeom prst="rect">
            <a:avLst/>
          </a:prstGeom>
          <a:solidFill>
            <a:srgbClr val="4E9A3E"/>
          </a:solidFill>
          <a:ln w="6350">
            <a:solidFill>
              <a:srgbClr val="FFFFFF"/>
            </a:solidFill>
            <a:prstDash val="solid"/>
          </a:ln>
        </p:spPr>
      </p:sp>
      <p:sp>
        <p:nvSpPr>
          <p:cNvPr id="43" name="Shape 41"/>
          <p:cNvSpPr/>
          <p:nvPr/>
        </p:nvSpPr>
        <p:spPr>
          <a:xfrm>
            <a:off x="1143000" y="2377440"/>
            <a:ext cx="228600" cy="228600"/>
          </a:xfrm>
          <a:prstGeom prst="rect">
            <a:avLst/>
          </a:prstGeom>
          <a:solidFill>
            <a:srgbClr val="4E9A3E"/>
          </a:solidFill>
          <a:ln w="6350">
            <a:solidFill>
              <a:srgbClr val="FFFFFF"/>
            </a:solidFill>
            <a:prstDash val="solid"/>
          </a:ln>
        </p:spPr>
      </p:sp>
      <p:sp>
        <p:nvSpPr>
          <p:cNvPr id="44" name="Shape 42"/>
          <p:cNvSpPr/>
          <p:nvPr/>
        </p:nvSpPr>
        <p:spPr>
          <a:xfrm>
            <a:off x="1371600" y="2377440"/>
            <a:ext cx="228600" cy="228600"/>
          </a:xfrm>
          <a:prstGeom prst="rect">
            <a:avLst/>
          </a:prstGeom>
          <a:solidFill>
            <a:srgbClr val="4E9A3E"/>
          </a:solidFill>
          <a:ln w="6350">
            <a:solidFill>
              <a:srgbClr val="FFFFFF"/>
            </a:solidFill>
            <a:prstDash val="solid"/>
          </a:ln>
        </p:spPr>
      </p:sp>
      <p:sp>
        <p:nvSpPr>
          <p:cNvPr id="45" name="Shape 43"/>
          <p:cNvSpPr/>
          <p:nvPr/>
        </p:nvSpPr>
        <p:spPr>
          <a:xfrm>
            <a:off x="1600200" y="2377440"/>
            <a:ext cx="228600" cy="228600"/>
          </a:xfrm>
          <a:prstGeom prst="rect">
            <a:avLst/>
          </a:prstGeom>
          <a:solidFill>
            <a:srgbClr val="4E9A3E"/>
          </a:solidFill>
          <a:ln w="6350">
            <a:solidFill>
              <a:srgbClr val="FFFFFF"/>
            </a:solidFill>
            <a:prstDash val="solid"/>
          </a:ln>
        </p:spPr>
      </p:sp>
      <p:sp>
        <p:nvSpPr>
          <p:cNvPr id="46" name="Shape 44"/>
          <p:cNvSpPr/>
          <p:nvPr/>
        </p:nvSpPr>
        <p:spPr>
          <a:xfrm>
            <a:off x="1828800" y="2377440"/>
            <a:ext cx="228600" cy="228600"/>
          </a:xfrm>
          <a:prstGeom prst="rect">
            <a:avLst/>
          </a:prstGeom>
          <a:solidFill>
            <a:srgbClr val="4E9A3E"/>
          </a:solidFill>
          <a:ln w="6350">
            <a:solidFill>
              <a:srgbClr val="FFFFFF"/>
            </a:solidFill>
            <a:prstDash val="solid"/>
          </a:ln>
        </p:spPr>
      </p:sp>
      <p:sp>
        <p:nvSpPr>
          <p:cNvPr id="47" name="Shape 45"/>
          <p:cNvSpPr/>
          <p:nvPr/>
        </p:nvSpPr>
        <p:spPr>
          <a:xfrm>
            <a:off x="2057400" y="2377440"/>
            <a:ext cx="228600" cy="228600"/>
          </a:xfrm>
          <a:prstGeom prst="rect">
            <a:avLst/>
          </a:prstGeom>
          <a:solidFill>
            <a:srgbClr val="4E9A3E"/>
          </a:solidFill>
          <a:ln w="6350">
            <a:solidFill>
              <a:srgbClr val="FFFFFF"/>
            </a:solidFill>
            <a:prstDash val="solid"/>
          </a:ln>
        </p:spPr>
      </p:sp>
      <p:sp>
        <p:nvSpPr>
          <p:cNvPr id="48" name="Shape 46"/>
          <p:cNvSpPr/>
          <p:nvPr/>
        </p:nvSpPr>
        <p:spPr>
          <a:xfrm>
            <a:off x="2286000" y="2377440"/>
            <a:ext cx="228600" cy="228600"/>
          </a:xfrm>
          <a:prstGeom prst="rect">
            <a:avLst/>
          </a:prstGeom>
          <a:solidFill>
            <a:srgbClr val="4E9A3E"/>
          </a:solidFill>
          <a:ln w="6350">
            <a:solidFill>
              <a:srgbClr val="FFFFFF"/>
            </a:solidFill>
            <a:prstDash val="solid"/>
          </a:ln>
        </p:spPr>
      </p:sp>
      <p:sp>
        <p:nvSpPr>
          <p:cNvPr id="49" name="Shape 47"/>
          <p:cNvSpPr/>
          <p:nvPr/>
        </p:nvSpPr>
        <p:spPr>
          <a:xfrm>
            <a:off x="2514600" y="2377440"/>
            <a:ext cx="228600" cy="228600"/>
          </a:xfrm>
          <a:prstGeom prst="rect">
            <a:avLst/>
          </a:prstGeom>
          <a:solidFill>
            <a:srgbClr val="4E9A3E"/>
          </a:solidFill>
          <a:ln w="6350">
            <a:solidFill>
              <a:srgbClr val="FFFFFF"/>
            </a:solidFill>
            <a:prstDash val="solid"/>
          </a:ln>
        </p:spPr>
      </p:sp>
      <p:sp>
        <p:nvSpPr>
          <p:cNvPr id="50" name="Shape 48"/>
          <p:cNvSpPr/>
          <p:nvPr/>
        </p:nvSpPr>
        <p:spPr>
          <a:xfrm>
            <a:off x="2743200" y="2377440"/>
            <a:ext cx="228600" cy="228600"/>
          </a:xfrm>
          <a:prstGeom prst="rect">
            <a:avLst/>
          </a:prstGeom>
          <a:solidFill>
            <a:srgbClr val="4E9A3E"/>
          </a:solidFill>
          <a:ln w="6350">
            <a:solidFill>
              <a:srgbClr val="FFFFFF"/>
            </a:solidFill>
            <a:prstDash val="solid"/>
          </a:ln>
        </p:spPr>
      </p:sp>
      <p:sp>
        <p:nvSpPr>
          <p:cNvPr id="51" name="Shape 49"/>
          <p:cNvSpPr/>
          <p:nvPr/>
        </p:nvSpPr>
        <p:spPr>
          <a:xfrm>
            <a:off x="685800" y="2606040"/>
            <a:ext cx="228600" cy="228600"/>
          </a:xfrm>
          <a:prstGeom prst="rect">
            <a:avLst/>
          </a:prstGeom>
          <a:solidFill>
            <a:srgbClr val="4E9A3E"/>
          </a:solidFill>
          <a:ln w="6350">
            <a:solidFill>
              <a:srgbClr val="FFFFFF"/>
            </a:solidFill>
            <a:prstDash val="solid"/>
          </a:ln>
        </p:spPr>
      </p:sp>
      <p:sp>
        <p:nvSpPr>
          <p:cNvPr id="52" name="Shape 50"/>
          <p:cNvSpPr/>
          <p:nvPr/>
        </p:nvSpPr>
        <p:spPr>
          <a:xfrm>
            <a:off x="914400" y="2606040"/>
            <a:ext cx="228600" cy="228600"/>
          </a:xfrm>
          <a:prstGeom prst="rect">
            <a:avLst/>
          </a:prstGeom>
          <a:solidFill>
            <a:srgbClr val="4E9A3E"/>
          </a:solidFill>
          <a:ln w="6350">
            <a:solidFill>
              <a:srgbClr val="FFFFFF"/>
            </a:solidFill>
            <a:prstDash val="solid"/>
          </a:ln>
        </p:spPr>
      </p:sp>
      <p:sp>
        <p:nvSpPr>
          <p:cNvPr id="53" name="Shape 51"/>
          <p:cNvSpPr/>
          <p:nvPr/>
        </p:nvSpPr>
        <p:spPr>
          <a:xfrm>
            <a:off x="1143000" y="2606040"/>
            <a:ext cx="228600" cy="228600"/>
          </a:xfrm>
          <a:prstGeom prst="rect">
            <a:avLst/>
          </a:prstGeom>
          <a:solidFill>
            <a:srgbClr val="4E9A3E"/>
          </a:solidFill>
          <a:ln w="6350">
            <a:solidFill>
              <a:srgbClr val="FFFFFF"/>
            </a:solidFill>
            <a:prstDash val="solid"/>
          </a:ln>
        </p:spPr>
      </p:sp>
      <p:sp>
        <p:nvSpPr>
          <p:cNvPr id="54" name="Shape 52"/>
          <p:cNvSpPr/>
          <p:nvPr/>
        </p:nvSpPr>
        <p:spPr>
          <a:xfrm>
            <a:off x="1371600" y="2606040"/>
            <a:ext cx="228600" cy="228600"/>
          </a:xfrm>
          <a:prstGeom prst="rect">
            <a:avLst/>
          </a:prstGeom>
          <a:solidFill>
            <a:srgbClr val="4E9A3E"/>
          </a:solidFill>
          <a:ln w="6350">
            <a:solidFill>
              <a:srgbClr val="FFFFFF"/>
            </a:solidFill>
            <a:prstDash val="solid"/>
          </a:ln>
        </p:spPr>
      </p:sp>
      <p:sp>
        <p:nvSpPr>
          <p:cNvPr id="55" name="Shape 53"/>
          <p:cNvSpPr/>
          <p:nvPr/>
        </p:nvSpPr>
        <p:spPr>
          <a:xfrm>
            <a:off x="1600200" y="2606040"/>
            <a:ext cx="228600" cy="228600"/>
          </a:xfrm>
          <a:prstGeom prst="rect">
            <a:avLst/>
          </a:prstGeom>
          <a:solidFill>
            <a:srgbClr val="4E9A3E"/>
          </a:solidFill>
          <a:ln w="6350">
            <a:solidFill>
              <a:srgbClr val="FFFFFF"/>
            </a:solidFill>
            <a:prstDash val="solid"/>
          </a:ln>
        </p:spPr>
      </p:sp>
      <p:sp>
        <p:nvSpPr>
          <p:cNvPr id="56" name="Shape 54"/>
          <p:cNvSpPr/>
          <p:nvPr/>
        </p:nvSpPr>
        <p:spPr>
          <a:xfrm>
            <a:off x="1828800" y="2606040"/>
            <a:ext cx="228600" cy="228600"/>
          </a:xfrm>
          <a:prstGeom prst="rect">
            <a:avLst/>
          </a:prstGeom>
          <a:solidFill>
            <a:srgbClr val="4E9A3E"/>
          </a:solidFill>
          <a:ln w="6350">
            <a:solidFill>
              <a:srgbClr val="FFFFFF"/>
            </a:solidFill>
            <a:prstDash val="solid"/>
          </a:ln>
        </p:spPr>
      </p:sp>
      <p:sp>
        <p:nvSpPr>
          <p:cNvPr id="57" name="Shape 55"/>
          <p:cNvSpPr/>
          <p:nvPr/>
        </p:nvSpPr>
        <p:spPr>
          <a:xfrm>
            <a:off x="2057400" y="2606040"/>
            <a:ext cx="228600" cy="228600"/>
          </a:xfrm>
          <a:prstGeom prst="rect">
            <a:avLst/>
          </a:prstGeom>
          <a:solidFill>
            <a:srgbClr val="4E9A3E"/>
          </a:solidFill>
          <a:ln w="6350">
            <a:solidFill>
              <a:srgbClr val="FFFFFF"/>
            </a:solidFill>
            <a:prstDash val="solid"/>
          </a:ln>
        </p:spPr>
      </p:sp>
      <p:sp>
        <p:nvSpPr>
          <p:cNvPr id="58" name="Shape 56"/>
          <p:cNvSpPr/>
          <p:nvPr/>
        </p:nvSpPr>
        <p:spPr>
          <a:xfrm>
            <a:off x="2286000" y="2606040"/>
            <a:ext cx="228600" cy="228600"/>
          </a:xfrm>
          <a:prstGeom prst="rect">
            <a:avLst/>
          </a:prstGeom>
          <a:solidFill>
            <a:srgbClr val="4E9A3E"/>
          </a:solidFill>
          <a:ln w="6350">
            <a:solidFill>
              <a:srgbClr val="FFFFFF"/>
            </a:solidFill>
            <a:prstDash val="solid"/>
          </a:ln>
        </p:spPr>
      </p:sp>
      <p:sp>
        <p:nvSpPr>
          <p:cNvPr id="59" name="Shape 57"/>
          <p:cNvSpPr/>
          <p:nvPr/>
        </p:nvSpPr>
        <p:spPr>
          <a:xfrm>
            <a:off x="2514600" y="2606040"/>
            <a:ext cx="228600" cy="228600"/>
          </a:xfrm>
          <a:prstGeom prst="rect">
            <a:avLst/>
          </a:prstGeom>
          <a:solidFill>
            <a:srgbClr val="4E9A3E"/>
          </a:solidFill>
          <a:ln w="6350">
            <a:solidFill>
              <a:srgbClr val="FFFFFF"/>
            </a:solidFill>
            <a:prstDash val="solid"/>
          </a:ln>
        </p:spPr>
      </p:sp>
      <p:sp>
        <p:nvSpPr>
          <p:cNvPr id="60" name="Shape 58"/>
          <p:cNvSpPr/>
          <p:nvPr/>
        </p:nvSpPr>
        <p:spPr>
          <a:xfrm>
            <a:off x="2743200" y="2606040"/>
            <a:ext cx="228600" cy="228600"/>
          </a:xfrm>
          <a:prstGeom prst="rect">
            <a:avLst/>
          </a:prstGeom>
          <a:solidFill>
            <a:srgbClr val="4E9A3E"/>
          </a:solidFill>
          <a:ln w="6350">
            <a:solidFill>
              <a:srgbClr val="FFFFFF"/>
            </a:solidFill>
            <a:prstDash val="solid"/>
          </a:ln>
        </p:spPr>
      </p:sp>
      <p:sp>
        <p:nvSpPr>
          <p:cNvPr id="61" name="Shape 59"/>
          <p:cNvSpPr/>
          <p:nvPr/>
        </p:nvSpPr>
        <p:spPr>
          <a:xfrm>
            <a:off x="685800" y="2834640"/>
            <a:ext cx="228600" cy="228600"/>
          </a:xfrm>
          <a:prstGeom prst="rect">
            <a:avLst/>
          </a:prstGeom>
          <a:solidFill>
            <a:srgbClr val="4E9A3E"/>
          </a:solidFill>
          <a:ln w="6350">
            <a:solidFill>
              <a:srgbClr val="FFFFFF"/>
            </a:solidFill>
            <a:prstDash val="solid"/>
          </a:ln>
        </p:spPr>
      </p:sp>
      <p:sp>
        <p:nvSpPr>
          <p:cNvPr id="62" name="Shape 60"/>
          <p:cNvSpPr/>
          <p:nvPr/>
        </p:nvSpPr>
        <p:spPr>
          <a:xfrm>
            <a:off x="914400" y="2834640"/>
            <a:ext cx="228600" cy="228600"/>
          </a:xfrm>
          <a:prstGeom prst="rect">
            <a:avLst/>
          </a:prstGeom>
          <a:solidFill>
            <a:srgbClr val="4E9A3E"/>
          </a:solidFill>
          <a:ln w="6350">
            <a:solidFill>
              <a:srgbClr val="FFFFFF"/>
            </a:solidFill>
            <a:prstDash val="solid"/>
          </a:ln>
        </p:spPr>
      </p:sp>
      <p:sp>
        <p:nvSpPr>
          <p:cNvPr id="63" name="Shape 61"/>
          <p:cNvSpPr/>
          <p:nvPr/>
        </p:nvSpPr>
        <p:spPr>
          <a:xfrm>
            <a:off x="1143000" y="2834640"/>
            <a:ext cx="228600" cy="228600"/>
          </a:xfrm>
          <a:prstGeom prst="rect">
            <a:avLst/>
          </a:prstGeom>
          <a:solidFill>
            <a:srgbClr val="4E9A3E"/>
          </a:solidFill>
          <a:ln w="6350">
            <a:solidFill>
              <a:srgbClr val="FFFFFF"/>
            </a:solidFill>
            <a:prstDash val="solid"/>
          </a:ln>
        </p:spPr>
      </p:sp>
      <p:sp>
        <p:nvSpPr>
          <p:cNvPr id="64" name="Shape 62"/>
          <p:cNvSpPr/>
          <p:nvPr/>
        </p:nvSpPr>
        <p:spPr>
          <a:xfrm>
            <a:off x="1371600" y="2834640"/>
            <a:ext cx="228600" cy="228600"/>
          </a:xfrm>
          <a:prstGeom prst="rect">
            <a:avLst/>
          </a:prstGeom>
          <a:solidFill>
            <a:srgbClr val="4E9A3E"/>
          </a:solidFill>
          <a:ln w="6350">
            <a:solidFill>
              <a:srgbClr val="FFFFFF"/>
            </a:solidFill>
            <a:prstDash val="solid"/>
          </a:ln>
        </p:spPr>
      </p:sp>
      <p:sp>
        <p:nvSpPr>
          <p:cNvPr id="65" name="Shape 63"/>
          <p:cNvSpPr/>
          <p:nvPr/>
        </p:nvSpPr>
        <p:spPr>
          <a:xfrm>
            <a:off x="1600200" y="2834640"/>
            <a:ext cx="228600" cy="228600"/>
          </a:xfrm>
          <a:prstGeom prst="rect">
            <a:avLst/>
          </a:prstGeom>
          <a:solidFill>
            <a:srgbClr val="4E9A3E"/>
          </a:solidFill>
          <a:ln w="6350">
            <a:solidFill>
              <a:srgbClr val="FFFFFF"/>
            </a:solidFill>
            <a:prstDash val="solid"/>
          </a:ln>
        </p:spPr>
      </p:sp>
      <p:sp>
        <p:nvSpPr>
          <p:cNvPr id="66" name="Shape 64"/>
          <p:cNvSpPr/>
          <p:nvPr/>
        </p:nvSpPr>
        <p:spPr>
          <a:xfrm>
            <a:off x="1828800" y="2834640"/>
            <a:ext cx="228600" cy="228600"/>
          </a:xfrm>
          <a:prstGeom prst="rect">
            <a:avLst/>
          </a:prstGeom>
          <a:solidFill>
            <a:srgbClr val="4E9A3E"/>
          </a:solidFill>
          <a:ln w="6350">
            <a:solidFill>
              <a:srgbClr val="FFFFFF"/>
            </a:solidFill>
            <a:prstDash val="solid"/>
          </a:ln>
        </p:spPr>
      </p:sp>
      <p:sp>
        <p:nvSpPr>
          <p:cNvPr id="67" name="Shape 65"/>
          <p:cNvSpPr/>
          <p:nvPr/>
        </p:nvSpPr>
        <p:spPr>
          <a:xfrm>
            <a:off x="2057400" y="2834640"/>
            <a:ext cx="228600" cy="228600"/>
          </a:xfrm>
          <a:prstGeom prst="rect">
            <a:avLst/>
          </a:prstGeom>
          <a:solidFill>
            <a:srgbClr val="4E9A3E"/>
          </a:solidFill>
          <a:ln w="6350">
            <a:solidFill>
              <a:srgbClr val="FFFFFF"/>
            </a:solidFill>
            <a:prstDash val="solid"/>
          </a:ln>
        </p:spPr>
      </p:sp>
      <p:sp>
        <p:nvSpPr>
          <p:cNvPr id="68" name="Shape 66"/>
          <p:cNvSpPr/>
          <p:nvPr/>
        </p:nvSpPr>
        <p:spPr>
          <a:xfrm>
            <a:off x="2286000" y="2834640"/>
            <a:ext cx="228600" cy="228600"/>
          </a:xfrm>
          <a:prstGeom prst="rect">
            <a:avLst/>
          </a:prstGeom>
          <a:solidFill>
            <a:srgbClr val="4E9A3E"/>
          </a:solidFill>
          <a:ln w="6350">
            <a:solidFill>
              <a:srgbClr val="FFFFFF"/>
            </a:solidFill>
            <a:prstDash val="solid"/>
          </a:ln>
        </p:spPr>
      </p:sp>
      <p:sp>
        <p:nvSpPr>
          <p:cNvPr id="69" name="Shape 67"/>
          <p:cNvSpPr/>
          <p:nvPr/>
        </p:nvSpPr>
        <p:spPr>
          <a:xfrm>
            <a:off x="2514600" y="2834640"/>
            <a:ext cx="228600" cy="228600"/>
          </a:xfrm>
          <a:prstGeom prst="rect">
            <a:avLst/>
          </a:prstGeom>
          <a:solidFill>
            <a:srgbClr val="4E9A3E"/>
          </a:solidFill>
          <a:ln w="6350">
            <a:solidFill>
              <a:srgbClr val="FFFFFF"/>
            </a:solidFill>
            <a:prstDash val="solid"/>
          </a:ln>
        </p:spPr>
      </p:sp>
      <p:sp>
        <p:nvSpPr>
          <p:cNvPr id="70" name="Shape 68"/>
          <p:cNvSpPr/>
          <p:nvPr/>
        </p:nvSpPr>
        <p:spPr>
          <a:xfrm>
            <a:off x="2743200" y="2834640"/>
            <a:ext cx="228600" cy="228600"/>
          </a:xfrm>
          <a:prstGeom prst="rect">
            <a:avLst/>
          </a:prstGeom>
          <a:solidFill>
            <a:srgbClr val="4E9A3E"/>
          </a:solidFill>
          <a:ln w="6350">
            <a:solidFill>
              <a:srgbClr val="FFFFFF"/>
            </a:solidFill>
            <a:prstDash val="solid"/>
          </a:ln>
        </p:spPr>
      </p:sp>
      <p:sp>
        <p:nvSpPr>
          <p:cNvPr id="71" name="Shape 69"/>
          <p:cNvSpPr/>
          <p:nvPr/>
        </p:nvSpPr>
        <p:spPr>
          <a:xfrm>
            <a:off x="685800" y="3063240"/>
            <a:ext cx="228600" cy="228600"/>
          </a:xfrm>
          <a:prstGeom prst="rect">
            <a:avLst/>
          </a:prstGeom>
          <a:solidFill>
            <a:srgbClr val="4E9A3E"/>
          </a:solidFill>
          <a:ln w="6350">
            <a:solidFill>
              <a:srgbClr val="FFFFFF"/>
            </a:solidFill>
            <a:prstDash val="solid"/>
          </a:ln>
        </p:spPr>
      </p:sp>
      <p:sp>
        <p:nvSpPr>
          <p:cNvPr id="72" name="Shape 70"/>
          <p:cNvSpPr/>
          <p:nvPr/>
        </p:nvSpPr>
        <p:spPr>
          <a:xfrm>
            <a:off x="914400" y="3063240"/>
            <a:ext cx="228600" cy="228600"/>
          </a:xfrm>
          <a:prstGeom prst="rect">
            <a:avLst/>
          </a:prstGeom>
          <a:solidFill>
            <a:srgbClr val="4E9A3E"/>
          </a:solidFill>
          <a:ln w="6350">
            <a:solidFill>
              <a:srgbClr val="FFFFFF"/>
            </a:solidFill>
            <a:prstDash val="solid"/>
          </a:ln>
        </p:spPr>
      </p:sp>
      <p:sp>
        <p:nvSpPr>
          <p:cNvPr id="73" name="Shape 71"/>
          <p:cNvSpPr/>
          <p:nvPr/>
        </p:nvSpPr>
        <p:spPr>
          <a:xfrm>
            <a:off x="1143000" y="3063240"/>
            <a:ext cx="228600" cy="228600"/>
          </a:xfrm>
          <a:prstGeom prst="rect">
            <a:avLst/>
          </a:prstGeom>
          <a:solidFill>
            <a:srgbClr val="4E9A3E"/>
          </a:solidFill>
          <a:ln w="6350">
            <a:solidFill>
              <a:srgbClr val="FFFFFF"/>
            </a:solidFill>
            <a:prstDash val="solid"/>
          </a:ln>
        </p:spPr>
      </p:sp>
      <p:sp>
        <p:nvSpPr>
          <p:cNvPr id="74" name="Shape 72"/>
          <p:cNvSpPr/>
          <p:nvPr/>
        </p:nvSpPr>
        <p:spPr>
          <a:xfrm>
            <a:off x="1371600" y="3063240"/>
            <a:ext cx="228600" cy="228600"/>
          </a:xfrm>
          <a:prstGeom prst="rect">
            <a:avLst/>
          </a:prstGeom>
          <a:solidFill>
            <a:srgbClr val="4E9A3E"/>
          </a:solidFill>
          <a:ln w="6350">
            <a:solidFill>
              <a:srgbClr val="FFFFFF"/>
            </a:solidFill>
            <a:prstDash val="solid"/>
          </a:ln>
        </p:spPr>
      </p:sp>
      <p:sp>
        <p:nvSpPr>
          <p:cNvPr id="75" name="Shape 73"/>
          <p:cNvSpPr/>
          <p:nvPr/>
        </p:nvSpPr>
        <p:spPr>
          <a:xfrm>
            <a:off x="1600200" y="3063240"/>
            <a:ext cx="228600" cy="228600"/>
          </a:xfrm>
          <a:prstGeom prst="rect">
            <a:avLst/>
          </a:prstGeom>
          <a:solidFill>
            <a:srgbClr val="4E9A3E"/>
          </a:solidFill>
          <a:ln w="6350">
            <a:solidFill>
              <a:srgbClr val="FFFFFF"/>
            </a:solidFill>
            <a:prstDash val="solid"/>
          </a:ln>
        </p:spPr>
      </p:sp>
      <p:sp>
        <p:nvSpPr>
          <p:cNvPr id="76" name="Shape 74"/>
          <p:cNvSpPr/>
          <p:nvPr/>
        </p:nvSpPr>
        <p:spPr>
          <a:xfrm>
            <a:off x="1828800" y="3063240"/>
            <a:ext cx="228600" cy="228600"/>
          </a:xfrm>
          <a:prstGeom prst="rect">
            <a:avLst/>
          </a:prstGeom>
          <a:solidFill>
            <a:srgbClr val="4E9A3E"/>
          </a:solidFill>
          <a:ln w="6350">
            <a:solidFill>
              <a:srgbClr val="FFFFFF"/>
            </a:solidFill>
            <a:prstDash val="solid"/>
          </a:ln>
        </p:spPr>
      </p:sp>
      <p:sp>
        <p:nvSpPr>
          <p:cNvPr id="77" name="Shape 75"/>
          <p:cNvSpPr/>
          <p:nvPr/>
        </p:nvSpPr>
        <p:spPr>
          <a:xfrm>
            <a:off x="2057400" y="3063240"/>
            <a:ext cx="228600" cy="228600"/>
          </a:xfrm>
          <a:prstGeom prst="rect">
            <a:avLst/>
          </a:prstGeom>
          <a:solidFill>
            <a:srgbClr val="4E9A3E"/>
          </a:solidFill>
          <a:ln w="6350">
            <a:solidFill>
              <a:srgbClr val="FFFFFF"/>
            </a:solidFill>
            <a:prstDash val="solid"/>
          </a:ln>
        </p:spPr>
      </p:sp>
      <p:sp>
        <p:nvSpPr>
          <p:cNvPr id="78" name="Shape 76"/>
          <p:cNvSpPr/>
          <p:nvPr/>
        </p:nvSpPr>
        <p:spPr>
          <a:xfrm>
            <a:off x="2286000" y="3063240"/>
            <a:ext cx="228600" cy="228600"/>
          </a:xfrm>
          <a:prstGeom prst="rect">
            <a:avLst/>
          </a:prstGeom>
          <a:solidFill>
            <a:srgbClr val="4E9A3E"/>
          </a:solidFill>
          <a:ln w="6350">
            <a:solidFill>
              <a:srgbClr val="FFFFFF"/>
            </a:solidFill>
            <a:prstDash val="solid"/>
          </a:ln>
        </p:spPr>
      </p:sp>
      <p:sp>
        <p:nvSpPr>
          <p:cNvPr id="79" name="Shape 77"/>
          <p:cNvSpPr/>
          <p:nvPr/>
        </p:nvSpPr>
        <p:spPr>
          <a:xfrm>
            <a:off x="2514600" y="3063240"/>
            <a:ext cx="228600" cy="228600"/>
          </a:xfrm>
          <a:prstGeom prst="rect">
            <a:avLst/>
          </a:prstGeom>
          <a:solidFill>
            <a:srgbClr val="4E9A3E"/>
          </a:solidFill>
          <a:ln w="6350">
            <a:solidFill>
              <a:srgbClr val="FFFFFF"/>
            </a:solidFill>
            <a:prstDash val="solid"/>
          </a:ln>
        </p:spPr>
      </p:sp>
      <p:sp>
        <p:nvSpPr>
          <p:cNvPr id="80" name="Shape 78"/>
          <p:cNvSpPr/>
          <p:nvPr/>
        </p:nvSpPr>
        <p:spPr>
          <a:xfrm>
            <a:off x="2743200" y="3063240"/>
            <a:ext cx="228600" cy="228600"/>
          </a:xfrm>
          <a:prstGeom prst="rect">
            <a:avLst/>
          </a:prstGeom>
          <a:solidFill>
            <a:srgbClr val="4E9A3E"/>
          </a:solidFill>
          <a:ln w="6350">
            <a:solidFill>
              <a:srgbClr val="FFFFFF"/>
            </a:solidFill>
            <a:prstDash val="solid"/>
          </a:ln>
        </p:spPr>
      </p:sp>
      <p:sp>
        <p:nvSpPr>
          <p:cNvPr id="81" name="Shape 79"/>
          <p:cNvSpPr/>
          <p:nvPr/>
        </p:nvSpPr>
        <p:spPr>
          <a:xfrm>
            <a:off x="685800" y="3291840"/>
            <a:ext cx="228600" cy="228600"/>
          </a:xfrm>
          <a:prstGeom prst="rect">
            <a:avLst/>
          </a:prstGeom>
          <a:solidFill>
            <a:srgbClr val="4E9A3E"/>
          </a:solidFill>
          <a:ln w="6350">
            <a:solidFill>
              <a:srgbClr val="FFFFFF"/>
            </a:solidFill>
            <a:prstDash val="solid"/>
          </a:ln>
        </p:spPr>
      </p:sp>
      <p:sp>
        <p:nvSpPr>
          <p:cNvPr id="82" name="Shape 80"/>
          <p:cNvSpPr/>
          <p:nvPr/>
        </p:nvSpPr>
        <p:spPr>
          <a:xfrm>
            <a:off x="914400" y="3291840"/>
            <a:ext cx="228600" cy="228600"/>
          </a:xfrm>
          <a:prstGeom prst="rect">
            <a:avLst/>
          </a:prstGeom>
          <a:solidFill>
            <a:srgbClr val="4E9A3E"/>
          </a:solidFill>
          <a:ln w="6350">
            <a:solidFill>
              <a:srgbClr val="FFFFFF"/>
            </a:solidFill>
            <a:prstDash val="solid"/>
          </a:ln>
        </p:spPr>
      </p:sp>
      <p:sp>
        <p:nvSpPr>
          <p:cNvPr id="83" name="Shape 81"/>
          <p:cNvSpPr/>
          <p:nvPr/>
        </p:nvSpPr>
        <p:spPr>
          <a:xfrm>
            <a:off x="1143000" y="3291840"/>
            <a:ext cx="228600" cy="228600"/>
          </a:xfrm>
          <a:prstGeom prst="rect">
            <a:avLst/>
          </a:prstGeom>
          <a:solidFill>
            <a:srgbClr val="4E9A3E"/>
          </a:solidFill>
          <a:ln w="6350">
            <a:solidFill>
              <a:srgbClr val="FFFFFF"/>
            </a:solidFill>
            <a:prstDash val="solid"/>
          </a:ln>
        </p:spPr>
      </p:sp>
      <p:sp>
        <p:nvSpPr>
          <p:cNvPr id="84" name="Shape 82"/>
          <p:cNvSpPr/>
          <p:nvPr/>
        </p:nvSpPr>
        <p:spPr>
          <a:xfrm>
            <a:off x="1371600" y="3291840"/>
            <a:ext cx="228600" cy="228600"/>
          </a:xfrm>
          <a:prstGeom prst="rect">
            <a:avLst/>
          </a:prstGeom>
          <a:solidFill>
            <a:srgbClr val="4E9A3E"/>
          </a:solidFill>
          <a:ln w="6350">
            <a:solidFill>
              <a:srgbClr val="FFFFFF"/>
            </a:solidFill>
            <a:prstDash val="solid"/>
          </a:ln>
        </p:spPr>
      </p:sp>
      <p:sp>
        <p:nvSpPr>
          <p:cNvPr id="85" name="Shape 83"/>
          <p:cNvSpPr/>
          <p:nvPr/>
        </p:nvSpPr>
        <p:spPr>
          <a:xfrm>
            <a:off x="1600200" y="3291840"/>
            <a:ext cx="228600" cy="228600"/>
          </a:xfrm>
          <a:prstGeom prst="rect">
            <a:avLst/>
          </a:prstGeom>
          <a:solidFill>
            <a:srgbClr val="4E9A3E"/>
          </a:solidFill>
          <a:ln w="6350">
            <a:solidFill>
              <a:srgbClr val="FFFFFF"/>
            </a:solidFill>
            <a:prstDash val="solid"/>
          </a:ln>
        </p:spPr>
      </p:sp>
      <p:sp>
        <p:nvSpPr>
          <p:cNvPr id="86" name="Shape 84"/>
          <p:cNvSpPr/>
          <p:nvPr/>
        </p:nvSpPr>
        <p:spPr>
          <a:xfrm>
            <a:off x="1828800" y="3291840"/>
            <a:ext cx="228600" cy="228600"/>
          </a:xfrm>
          <a:prstGeom prst="rect">
            <a:avLst/>
          </a:prstGeom>
          <a:solidFill>
            <a:srgbClr val="4E9A3E"/>
          </a:solidFill>
          <a:ln w="6350">
            <a:solidFill>
              <a:srgbClr val="FFFFFF"/>
            </a:solidFill>
            <a:prstDash val="solid"/>
          </a:ln>
        </p:spPr>
      </p:sp>
      <p:sp>
        <p:nvSpPr>
          <p:cNvPr id="87" name="Shape 85"/>
          <p:cNvSpPr/>
          <p:nvPr/>
        </p:nvSpPr>
        <p:spPr>
          <a:xfrm>
            <a:off x="2057400" y="3291840"/>
            <a:ext cx="228600" cy="228600"/>
          </a:xfrm>
          <a:prstGeom prst="rect">
            <a:avLst/>
          </a:prstGeom>
          <a:solidFill>
            <a:srgbClr val="4E9A3E"/>
          </a:solidFill>
          <a:ln w="6350">
            <a:solidFill>
              <a:srgbClr val="FFFFFF"/>
            </a:solidFill>
            <a:prstDash val="solid"/>
          </a:ln>
        </p:spPr>
      </p:sp>
      <p:sp>
        <p:nvSpPr>
          <p:cNvPr id="88" name="Shape 86"/>
          <p:cNvSpPr/>
          <p:nvPr/>
        </p:nvSpPr>
        <p:spPr>
          <a:xfrm>
            <a:off x="2286000" y="3291840"/>
            <a:ext cx="228600" cy="228600"/>
          </a:xfrm>
          <a:prstGeom prst="rect">
            <a:avLst/>
          </a:prstGeom>
          <a:solidFill>
            <a:srgbClr val="4E9A3E"/>
          </a:solidFill>
          <a:ln w="6350">
            <a:solidFill>
              <a:srgbClr val="FFFFFF"/>
            </a:solidFill>
            <a:prstDash val="solid"/>
          </a:ln>
        </p:spPr>
      </p:sp>
      <p:sp>
        <p:nvSpPr>
          <p:cNvPr id="89" name="Shape 87"/>
          <p:cNvSpPr/>
          <p:nvPr/>
        </p:nvSpPr>
        <p:spPr>
          <a:xfrm>
            <a:off x="2514600" y="3291840"/>
            <a:ext cx="228600" cy="228600"/>
          </a:xfrm>
          <a:prstGeom prst="rect">
            <a:avLst/>
          </a:prstGeom>
          <a:solidFill>
            <a:srgbClr val="4E9A3E"/>
          </a:solidFill>
          <a:ln w="6350">
            <a:solidFill>
              <a:srgbClr val="FFFFFF"/>
            </a:solidFill>
            <a:prstDash val="solid"/>
          </a:ln>
        </p:spPr>
      </p:sp>
      <p:sp>
        <p:nvSpPr>
          <p:cNvPr id="90" name="Shape 88"/>
          <p:cNvSpPr/>
          <p:nvPr/>
        </p:nvSpPr>
        <p:spPr>
          <a:xfrm>
            <a:off x="2743200" y="3291840"/>
            <a:ext cx="228600" cy="228600"/>
          </a:xfrm>
          <a:prstGeom prst="rect">
            <a:avLst/>
          </a:prstGeom>
          <a:solidFill>
            <a:srgbClr val="4E9A3E"/>
          </a:solidFill>
          <a:ln w="6350">
            <a:solidFill>
              <a:srgbClr val="FFFFFF"/>
            </a:solidFill>
            <a:prstDash val="solid"/>
          </a:ln>
        </p:spPr>
      </p:sp>
      <p:sp>
        <p:nvSpPr>
          <p:cNvPr id="91" name="Shape 89"/>
          <p:cNvSpPr/>
          <p:nvPr/>
        </p:nvSpPr>
        <p:spPr>
          <a:xfrm>
            <a:off x="685800" y="3520440"/>
            <a:ext cx="228600" cy="228600"/>
          </a:xfrm>
          <a:prstGeom prst="rect">
            <a:avLst/>
          </a:prstGeom>
          <a:solidFill>
            <a:srgbClr val="E8D9B5"/>
          </a:solidFill>
          <a:ln w="6350">
            <a:solidFill>
              <a:srgbClr val="FFFFFF"/>
            </a:solidFill>
            <a:prstDash val="solid"/>
          </a:ln>
        </p:spPr>
      </p:sp>
      <p:sp>
        <p:nvSpPr>
          <p:cNvPr id="92" name="Shape 90"/>
          <p:cNvSpPr/>
          <p:nvPr/>
        </p:nvSpPr>
        <p:spPr>
          <a:xfrm>
            <a:off x="914400" y="3520440"/>
            <a:ext cx="228600" cy="228600"/>
          </a:xfrm>
          <a:prstGeom prst="rect">
            <a:avLst/>
          </a:prstGeom>
          <a:solidFill>
            <a:srgbClr val="E8D9B5"/>
          </a:solidFill>
          <a:ln w="6350">
            <a:solidFill>
              <a:srgbClr val="FFFFFF"/>
            </a:solidFill>
            <a:prstDash val="solid"/>
          </a:ln>
        </p:spPr>
      </p:sp>
      <p:sp>
        <p:nvSpPr>
          <p:cNvPr id="93" name="Shape 91"/>
          <p:cNvSpPr/>
          <p:nvPr/>
        </p:nvSpPr>
        <p:spPr>
          <a:xfrm>
            <a:off x="1143000" y="3520440"/>
            <a:ext cx="228600" cy="228600"/>
          </a:xfrm>
          <a:prstGeom prst="rect">
            <a:avLst/>
          </a:prstGeom>
          <a:solidFill>
            <a:srgbClr val="E8D9B5"/>
          </a:solidFill>
          <a:ln w="6350">
            <a:solidFill>
              <a:srgbClr val="FFFFFF"/>
            </a:solidFill>
            <a:prstDash val="solid"/>
          </a:ln>
        </p:spPr>
      </p:sp>
      <p:sp>
        <p:nvSpPr>
          <p:cNvPr id="94" name="Shape 92"/>
          <p:cNvSpPr/>
          <p:nvPr/>
        </p:nvSpPr>
        <p:spPr>
          <a:xfrm>
            <a:off x="1371600" y="3520440"/>
            <a:ext cx="228600" cy="228600"/>
          </a:xfrm>
          <a:prstGeom prst="rect">
            <a:avLst/>
          </a:prstGeom>
          <a:solidFill>
            <a:srgbClr val="E8D9B5"/>
          </a:solidFill>
          <a:ln w="6350">
            <a:solidFill>
              <a:srgbClr val="FFFFFF"/>
            </a:solidFill>
            <a:prstDash val="solid"/>
          </a:ln>
        </p:spPr>
      </p:sp>
      <p:sp>
        <p:nvSpPr>
          <p:cNvPr id="95" name="Shape 93"/>
          <p:cNvSpPr/>
          <p:nvPr/>
        </p:nvSpPr>
        <p:spPr>
          <a:xfrm>
            <a:off x="1600200" y="3520440"/>
            <a:ext cx="228600" cy="228600"/>
          </a:xfrm>
          <a:prstGeom prst="rect">
            <a:avLst/>
          </a:prstGeom>
          <a:solidFill>
            <a:srgbClr val="E8D9B5"/>
          </a:solidFill>
          <a:ln w="6350">
            <a:solidFill>
              <a:srgbClr val="FFFFFF"/>
            </a:solidFill>
            <a:prstDash val="solid"/>
          </a:ln>
        </p:spPr>
      </p:sp>
      <p:sp>
        <p:nvSpPr>
          <p:cNvPr id="96" name="Shape 94"/>
          <p:cNvSpPr/>
          <p:nvPr/>
        </p:nvSpPr>
        <p:spPr>
          <a:xfrm>
            <a:off x="1828800" y="3520440"/>
            <a:ext cx="228600" cy="228600"/>
          </a:xfrm>
          <a:prstGeom prst="rect">
            <a:avLst/>
          </a:prstGeom>
          <a:solidFill>
            <a:srgbClr val="E8D9B5"/>
          </a:solidFill>
          <a:ln w="6350">
            <a:solidFill>
              <a:srgbClr val="FFFFFF"/>
            </a:solidFill>
            <a:prstDash val="solid"/>
          </a:ln>
        </p:spPr>
      </p:sp>
      <p:sp>
        <p:nvSpPr>
          <p:cNvPr id="97" name="Shape 95"/>
          <p:cNvSpPr/>
          <p:nvPr/>
        </p:nvSpPr>
        <p:spPr>
          <a:xfrm>
            <a:off x="2057400" y="3520440"/>
            <a:ext cx="228600" cy="228600"/>
          </a:xfrm>
          <a:prstGeom prst="rect">
            <a:avLst/>
          </a:prstGeom>
          <a:solidFill>
            <a:srgbClr val="E8D9B5"/>
          </a:solidFill>
          <a:ln w="6350">
            <a:solidFill>
              <a:srgbClr val="FFFFFF"/>
            </a:solidFill>
            <a:prstDash val="solid"/>
          </a:ln>
        </p:spPr>
      </p:sp>
      <p:sp>
        <p:nvSpPr>
          <p:cNvPr id="98" name="Shape 96"/>
          <p:cNvSpPr/>
          <p:nvPr/>
        </p:nvSpPr>
        <p:spPr>
          <a:xfrm>
            <a:off x="2286000" y="3520440"/>
            <a:ext cx="228600" cy="228600"/>
          </a:xfrm>
          <a:prstGeom prst="rect">
            <a:avLst/>
          </a:prstGeom>
          <a:solidFill>
            <a:srgbClr val="E8D9B5"/>
          </a:solidFill>
          <a:ln w="6350">
            <a:solidFill>
              <a:srgbClr val="FFFFFF"/>
            </a:solidFill>
            <a:prstDash val="solid"/>
          </a:ln>
        </p:spPr>
      </p:sp>
      <p:sp>
        <p:nvSpPr>
          <p:cNvPr id="99" name="Shape 97"/>
          <p:cNvSpPr/>
          <p:nvPr/>
        </p:nvSpPr>
        <p:spPr>
          <a:xfrm>
            <a:off x="2514600" y="3520440"/>
            <a:ext cx="228600" cy="228600"/>
          </a:xfrm>
          <a:prstGeom prst="rect">
            <a:avLst/>
          </a:prstGeom>
          <a:solidFill>
            <a:srgbClr val="E8D9B5"/>
          </a:solidFill>
          <a:ln w="6350">
            <a:solidFill>
              <a:srgbClr val="FFFFFF"/>
            </a:solidFill>
            <a:prstDash val="solid"/>
          </a:ln>
        </p:spPr>
      </p:sp>
      <p:sp>
        <p:nvSpPr>
          <p:cNvPr id="100" name="Shape 98"/>
          <p:cNvSpPr/>
          <p:nvPr/>
        </p:nvSpPr>
        <p:spPr>
          <a:xfrm>
            <a:off x="2743200" y="3520440"/>
            <a:ext cx="228600" cy="228600"/>
          </a:xfrm>
          <a:prstGeom prst="rect">
            <a:avLst/>
          </a:prstGeom>
          <a:solidFill>
            <a:srgbClr val="E8D9B5"/>
          </a:solidFill>
          <a:ln w="6350">
            <a:solidFill>
              <a:srgbClr val="FFFFFF"/>
            </a:solidFill>
            <a:prstDash val="solid"/>
          </a:ln>
        </p:spPr>
      </p:sp>
      <p:sp>
        <p:nvSpPr>
          <p:cNvPr id="101" name="Shape 99"/>
          <p:cNvSpPr/>
          <p:nvPr/>
        </p:nvSpPr>
        <p:spPr>
          <a:xfrm>
            <a:off x="685800" y="3749040"/>
            <a:ext cx="228600" cy="228600"/>
          </a:xfrm>
          <a:prstGeom prst="rect">
            <a:avLst/>
          </a:prstGeom>
          <a:solidFill>
            <a:srgbClr val="E8D9B5"/>
          </a:solidFill>
          <a:ln w="6350">
            <a:solidFill>
              <a:srgbClr val="FFFFFF"/>
            </a:solidFill>
            <a:prstDash val="solid"/>
          </a:ln>
        </p:spPr>
      </p:sp>
      <p:sp>
        <p:nvSpPr>
          <p:cNvPr id="102" name="Shape 100"/>
          <p:cNvSpPr/>
          <p:nvPr/>
        </p:nvSpPr>
        <p:spPr>
          <a:xfrm>
            <a:off x="914400" y="3749040"/>
            <a:ext cx="228600" cy="228600"/>
          </a:xfrm>
          <a:prstGeom prst="rect">
            <a:avLst/>
          </a:prstGeom>
          <a:solidFill>
            <a:srgbClr val="E8D9B5"/>
          </a:solidFill>
          <a:ln w="6350">
            <a:solidFill>
              <a:srgbClr val="FFFFFF"/>
            </a:solidFill>
            <a:prstDash val="solid"/>
          </a:ln>
        </p:spPr>
      </p:sp>
      <p:sp>
        <p:nvSpPr>
          <p:cNvPr id="103" name="Shape 101"/>
          <p:cNvSpPr/>
          <p:nvPr/>
        </p:nvSpPr>
        <p:spPr>
          <a:xfrm>
            <a:off x="1143000" y="3749040"/>
            <a:ext cx="228600" cy="228600"/>
          </a:xfrm>
          <a:prstGeom prst="rect">
            <a:avLst/>
          </a:prstGeom>
          <a:solidFill>
            <a:srgbClr val="E8D9B5"/>
          </a:solidFill>
          <a:ln w="6350">
            <a:solidFill>
              <a:srgbClr val="FFFFFF"/>
            </a:solidFill>
            <a:prstDash val="solid"/>
          </a:ln>
        </p:spPr>
      </p:sp>
      <p:sp>
        <p:nvSpPr>
          <p:cNvPr id="104" name="Shape 102"/>
          <p:cNvSpPr/>
          <p:nvPr/>
        </p:nvSpPr>
        <p:spPr>
          <a:xfrm>
            <a:off x="1371600" y="3749040"/>
            <a:ext cx="228600" cy="228600"/>
          </a:xfrm>
          <a:prstGeom prst="rect">
            <a:avLst/>
          </a:prstGeom>
          <a:solidFill>
            <a:srgbClr val="E8D9B5"/>
          </a:solidFill>
          <a:ln w="6350">
            <a:solidFill>
              <a:srgbClr val="FFFFFF"/>
            </a:solidFill>
            <a:prstDash val="solid"/>
          </a:ln>
        </p:spPr>
      </p:sp>
      <p:sp>
        <p:nvSpPr>
          <p:cNvPr id="105" name="Shape 103"/>
          <p:cNvSpPr/>
          <p:nvPr/>
        </p:nvSpPr>
        <p:spPr>
          <a:xfrm>
            <a:off x="1600200" y="3749040"/>
            <a:ext cx="228600" cy="228600"/>
          </a:xfrm>
          <a:prstGeom prst="rect">
            <a:avLst/>
          </a:prstGeom>
          <a:solidFill>
            <a:srgbClr val="E8D9B5"/>
          </a:solidFill>
          <a:ln w="6350">
            <a:solidFill>
              <a:srgbClr val="FFFFFF"/>
            </a:solidFill>
            <a:prstDash val="solid"/>
          </a:ln>
        </p:spPr>
      </p:sp>
      <p:sp>
        <p:nvSpPr>
          <p:cNvPr id="106" name="Shape 104"/>
          <p:cNvSpPr/>
          <p:nvPr/>
        </p:nvSpPr>
        <p:spPr>
          <a:xfrm>
            <a:off x="1828800" y="3749040"/>
            <a:ext cx="228600" cy="228600"/>
          </a:xfrm>
          <a:prstGeom prst="rect">
            <a:avLst/>
          </a:prstGeom>
          <a:solidFill>
            <a:srgbClr val="E8D9B5"/>
          </a:solidFill>
          <a:ln w="6350">
            <a:solidFill>
              <a:srgbClr val="FFFFFF"/>
            </a:solidFill>
            <a:prstDash val="solid"/>
          </a:ln>
        </p:spPr>
      </p:sp>
      <p:sp>
        <p:nvSpPr>
          <p:cNvPr id="107" name="Shape 105"/>
          <p:cNvSpPr/>
          <p:nvPr/>
        </p:nvSpPr>
        <p:spPr>
          <a:xfrm>
            <a:off x="2057400" y="3749040"/>
            <a:ext cx="228600" cy="228600"/>
          </a:xfrm>
          <a:prstGeom prst="rect">
            <a:avLst/>
          </a:prstGeom>
          <a:solidFill>
            <a:srgbClr val="E8D9B5"/>
          </a:solidFill>
          <a:ln w="6350">
            <a:solidFill>
              <a:srgbClr val="FFFFFF"/>
            </a:solidFill>
            <a:prstDash val="solid"/>
          </a:ln>
        </p:spPr>
      </p:sp>
      <p:sp>
        <p:nvSpPr>
          <p:cNvPr id="108" name="Shape 106"/>
          <p:cNvSpPr/>
          <p:nvPr/>
        </p:nvSpPr>
        <p:spPr>
          <a:xfrm>
            <a:off x="2286000" y="3749040"/>
            <a:ext cx="228600" cy="228600"/>
          </a:xfrm>
          <a:prstGeom prst="rect">
            <a:avLst/>
          </a:prstGeom>
          <a:solidFill>
            <a:srgbClr val="E8D9B5"/>
          </a:solidFill>
          <a:ln w="6350">
            <a:solidFill>
              <a:srgbClr val="FFFFFF"/>
            </a:solidFill>
            <a:prstDash val="solid"/>
          </a:ln>
        </p:spPr>
      </p:sp>
      <p:sp>
        <p:nvSpPr>
          <p:cNvPr id="109" name="Shape 107"/>
          <p:cNvSpPr/>
          <p:nvPr/>
        </p:nvSpPr>
        <p:spPr>
          <a:xfrm>
            <a:off x="2514600" y="3749040"/>
            <a:ext cx="228600" cy="228600"/>
          </a:xfrm>
          <a:prstGeom prst="rect">
            <a:avLst/>
          </a:prstGeom>
          <a:solidFill>
            <a:srgbClr val="E8D9B5"/>
          </a:solidFill>
          <a:ln w="6350">
            <a:solidFill>
              <a:srgbClr val="FFFFFF"/>
            </a:solidFill>
            <a:prstDash val="solid"/>
          </a:ln>
        </p:spPr>
      </p:sp>
      <p:sp>
        <p:nvSpPr>
          <p:cNvPr id="110" name="Shape 108"/>
          <p:cNvSpPr/>
          <p:nvPr/>
        </p:nvSpPr>
        <p:spPr>
          <a:xfrm>
            <a:off x="2743200" y="3749040"/>
            <a:ext cx="228600" cy="228600"/>
          </a:xfrm>
          <a:prstGeom prst="rect">
            <a:avLst/>
          </a:prstGeom>
          <a:solidFill>
            <a:srgbClr val="E8D9B5"/>
          </a:solidFill>
          <a:ln w="6350">
            <a:solidFill>
              <a:srgbClr val="FFFFFF"/>
            </a:solidFill>
            <a:prstDash val="solid"/>
          </a:ln>
        </p:spPr>
      </p:sp>
      <p:sp>
        <p:nvSpPr>
          <p:cNvPr id="111" name="Text 109"/>
          <p:cNvSpPr/>
          <p:nvPr/>
        </p:nvSpPr>
        <p:spPr>
          <a:xfrm>
            <a:off x="3520440" y="1399032"/>
            <a:ext cx="228600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After: 44 km² forest</a:t>
            </a:r>
            <a:endParaRPr lang="en-US" sz="1100" dirty="0"/>
          </a:p>
        </p:txBody>
      </p:sp>
      <p:sp>
        <p:nvSpPr>
          <p:cNvPr id="112" name="Shape 110"/>
          <p:cNvSpPr/>
          <p:nvPr/>
        </p:nvSpPr>
        <p:spPr>
          <a:xfrm>
            <a:off x="3520440" y="1691640"/>
            <a:ext cx="228600" cy="228600"/>
          </a:xfrm>
          <a:prstGeom prst="rect">
            <a:avLst/>
          </a:prstGeom>
          <a:solidFill>
            <a:srgbClr val="4E9A3E"/>
          </a:solidFill>
          <a:ln w="6350">
            <a:solidFill>
              <a:srgbClr val="FFFFFF"/>
            </a:solidFill>
            <a:prstDash val="solid"/>
          </a:ln>
        </p:spPr>
      </p:sp>
      <p:sp>
        <p:nvSpPr>
          <p:cNvPr id="113" name="Shape 111"/>
          <p:cNvSpPr/>
          <p:nvPr/>
        </p:nvSpPr>
        <p:spPr>
          <a:xfrm>
            <a:off x="3749040" y="1691640"/>
            <a:ext cx="228600" cy="228600"/>
          </a:xfrm>
          <a:prstGeom prst="rect">
            <a:avLst/>
          </a:prstGeom>
          <a:solidFill>
            <a:srgbClr val="4E9A3E"/>
          </a:solidFill>
          <a:ln w="6350">
            <a:solidFill>
              <a:srgbClr val="FFFFFF"/>
            </a:solidFill>
            <a:prstDash val="solid"/>
          </a:ln>
        </p:spPr>
      </p:sp>
      <p:sp>
        <p:nvSpPr>
          <p:cNvPr id="114" name="Shape 112"/>
          <p:cNvSpPr/>
          <p:nvPr/>
        </p:nvSpPr>
        <p:spPr>
          <a:xfrm>
            <a:off x="3977640" y="1691640"/>
            <a:ext cx="228600" cy="228600"/>
          </a:xfrm>
          <a:prstGeom prst="rect">
            <a:avLst/>
          </a:prstGeom>
          <a:solidFill>
            <a:srgbClr val="4E9A3E"/>
          </a:solidFill>
          <a:ln w="6350">
            <a:solidFill>
              <a:srgbClr val="FFFFFF"/>
            </a:solidFill>
            <a:prstDash val="solid"/>
          </a:ln>
        </p:spPr>
      </p:sp>
      <p:sp>
        <p:nvSpPr>
          <p:cNvPr id="115" name="Shape 113"/>
          <p:cNvSpPr/>
          <p:nvPr/>
        </p:nvSpPr>
        <p:spPr>
          <a:xfrm>
            <a:off x="4206240" y="1691640"/>
            <a:ext cx="228600" cy="228600"/>
          </a:xfrm>
          <a:prstGeom prst="rect">
            <a:avLst/>
          </a:prstGeom>
          <a:solidFill>
            <a:srgbClr val="4E9A3E"/>
          </a:solidFill>
          <a:ln w="6350">
            <a:solidFill>
              <a:srgbClr val="FFFFFF"/>
            </a:solidFill>
            <a:prstDash val="solid"/>
          </a:ln>
        </p:spPr>
      </p:sp>
      <p:sp>
        <p:nvSpPr>
          <p:cNvPr id="116" name="Shape 114"/>
          <p:cNvSpPr/>
          <p:nvPr/>
        </p:nvSpPr>
        <p:spPr>
          <a:xfrm>
            <a:off x="4434840" y="1691640"/>
            <a:ext cx="228600" cy="228600"/>
          </a:xfrm>
          <a:prstGeom prst="rect">
            <a:avLst/>
          </a:prstGeom>
          <a:solidFill>
            <a:srgbClr val="E8D9B5"/>
          </a:solidFill>
          <a:ln w="6350">
            <a:solidFill>
              <a:srgbClr val="FFFFFF"/>
            </a:solidFill>
            <a:prstDash val="solid"/>
          </a:ln>
        </p:spPr>
      </p:sp>
      <p:sp>
        <p:nvSpPr>
          <p:cNvPr id="117" name="Shape 115"/>
          <p:cNvSpPr/>
          <p:nvPr/>
        </p:nvSpPr>
        <p:spPr>
          <a:xfrm>
            <a:off x="4663440" y="1691640"/>
            <a:ext cx="228600" cy="228600"/>
          </a:xfrm>
          <a:prstGeom prst="rect">
            <a:avLst/>
          </a:prstGeom>
          <a:solidFill>
            <a:srgbClr val="E8D9B5"/>
          </a:solidFill>
          <a:ln w="6350">
            <a:solidFill>
              <a:srgbClr val="FFFFFF"/>
            </a:solidFill>
            <a:prstDash val="solid"/>
          </a:ln>
        </p:spPr>
      </p:sp>
      <p:sp>
        <p:nvSpPr>
          <p:cNvPr id="118" name="Shape 116"/>
          <p:cNvSpPr/>
          <p:nvPr/>
        </p:nvSpPr>
        <p:spPr>
          <a:xfrm>
            <a:off x="4892040" y="1691640"/>
            <a:ext cx="228600" cy="228600"/>
          </a:xfrm>
          <a:prstGeom prst="rect">
            <a:avLst/>
          </a:prstGeom>
          <a:solidFill>
            <a:srgbClr val="E8D9B5"/>
          </a:solidFill>
          <a:ln w="6350">
            <a:solidFill>
              <a:srgbClr val="FFFFFF"/>
            </a:solidFill>
            <a:prstDash val="solid"/>
          </a:ln>
        </p:spPr>
      </p:sp>
      <p:sp>
        <p:nvSpPr>
          <p:cNvPr id="119" name="Shape 117"/>
          <p:cNvSpPr/>
          <p:nvPr/>
        </p:nvSpPr>
        <p:spPr>
          <a:xfrm>
            <a:off x="5120640" y="1691640"/>
            <a:ext cx="228600" cy="228600"/>
          </a:xfrm>
          <a:prstGeom prst="rect">
            <a:avLst/>
          </a:prstGeom>
          <a:solidFill>
            <a:srgbClr val="4E9A3E"/>
          </a:solidFill>
          <a:ln w="6350">
            <a:solidFill>
              <a:srgbClr val="FFFFFF"/>
            </a:solidFill>
            <a:prstDash val="solid"/>
          </a:ln>
        </p:spPr>
      </p:sp>
      <p:sp>
        <p:nvSpPr>
          <p:cNvPr id="120" name="Shape 118"/>
          <p:cNvSpPr/>
          <p:nvPr/>
        </p:nvSpPr>
        <p:spPr>
          <a:xfrm>
            <a:off x="5349240" y="1691640"/>
            <a:ext cx="228600" cy="228600"/>
          </a:xfrm>
          <a:prstGeom prst="rect">
            <a:avLst/>
          </a:prstGeom>
          <a:solidFill>
            <a:srgbClr val="4E9A3E"/>
          </a:solidFill>
          <a:ln w="6350">
            <a:solidFill>
              <a:srgbClr val="FFFFFF"/>
            </a:solidFill>
            <a:prstDash val="solid"/>
          </a:ln>
        </p:spPr>
      </p:sp>
      <p:sp>
        <p:nvSpPr>
          <p:cNvPr id="121" name="Shape 119"/>
          <p:cNvSpPr/>
          <p:nvPr/>
        </p:nvSpPr>
        <p:spPr>
          <a:xfrm>
            <a:off x="5577840" y="1691640"/>
            <a:ext cx="228600" cy="228600"/>
          </a:xfrm>
          <a:prstGeom prst="rect">
            <a:avLst/>
          </a:prstGeom>
          <a:solidFill>
            <a:srgbClr val="4E9A3E"/>
          </a:solidFill>
          <a:ln w="6350">
            <a:solidFill>
              <a:srgbClr val="FFFFFF"/>
            </a:solidFill>
            <a:prstDash val="solid"/>
          </a:ln>
        </p:spPr>
      </p:sp>
      <p:sp>
        <p:nvSpPr>
          <p:cNvPr id="122" name="Shape 120"/>
          <p:cNvSpPr/>
          <p:nvPr/>
        </p:nvSpPr>
        <p:spPr>
          <a:xfrm>
            <a:off x="3520440" y="1920240"/>
            <a:ext cx="228600" cy="228600"/>
          </a:xfrm>
          <a:prstGeom prst="rect">
            <a:avLst/>
          </a:prstGeom>
          <a:solidFill>
            <a:srgbClr val="4E9A3E"/>
          </a:solidFill>
          <a:ln w="6350">
            <a:solidFill>
              <a:srgbClr val="FFFFFF"/>
            </a:solidFill>
            <a:prstDash val="solid"/>
          </a:ln>
        </p:spPr>
      </p:sp>
      <p:sp>
        <p:nvSpPr>
          <p:cNvPr id="123" name="Shape 121"/>
          <p:cNvSpPr/>
          <p:nvPr/>
        </p:nvSpPr>
        <p:spPr>
          <a:xfrm>
            <a:off x="3749040" y="1920240"/>
            <a:ext cx="228600" cy="228600"/>
          </a:xfrm>
          <a:prstGeom prst="rect">
            <a:avLst/>
          </a:prstGeom>
          <a:solidFill>
            <a:srgbClr val="4E9A3E"/>
          </a:solidFill>
          <a:ln w="6350">
            <a:solidFill>
              <a:srgbClr val="FFFFFF"/>
            </a:solidFill>
            <a:prstDash val="solid"/>
          </a:ln>
        </p:spPr>
      </p:sp>
      <p:sp>
        <p:nvSpPr>
          <p:cNvPr id="124" name="Shape 122"/>
          <p:cNvSpPr/>
          <p:nvPr/>
        </p:nvSpPr>
        <p:spPr>
          <a:xfrm>
            <a:off x="3977640" y="1920240"/>
            <a:ext cx="228600" cy="228600"/>
          </a:xfrm>
          <a:prstGeom prst="rect">
            <a:avLst/>
          </a:prstGeom>
          <a:solidFill>
            <a:srgbClr val="4E9A3E"/>
          </a:solidFill>
          <a:ln w="6350">
            <a:solidFill>
              <a:srgbClr val="FFFFFF"/>
            </a:solidFill>
            <a:prstDash val="solid"/>
          </a:ln>
        </p:spPr>
      </p:sp>
      <p:sp>
        <p:nvSpPr>
          <p:cNvPr id="125" name="Shape 123"/>
          <p:cNvSpPr/>
          <p:nvPr/>
        </p:nvSpPr>
        <p:spPr>
          <a:xfrm>
            <a:off x="4206240" y="1920240"/>
            <a:ext cx="228600" cy="228600"/>
          </a:xfrm>
          <a:prstGeom prst="rect">
            <a:avLst/>
          </a:prstGeom>
          <a:solidFill>
            <a:srgbClr val="4E9A3E"/>
          </a:solidFill>
          <a:ln w="6350">
            <a:solidFill>
              <a:srgbClr val="FFFFFF"/>
            </a:solidFill>
            <a:prstDash val="solid"/>
          </a:ln>
        </p:spPr>
      </p:sp>
      <p:sp>
        <p:nvSpPr>
          <p:cNvPr id="126" name="Shape 124"/>
          <p:cNvSpPr/>
          <p:nvPr/>
        </p:nvSpPr>
        <p:spPr>
          <a:xfrm>
            <a:off x="4434840" y="1920240"/>
            <a:ext cx="228600" cy="228600"/>
          </a:xfrm>
          <a:prstGeom prst="rect">
            <a:avLst/>
          </a:prstGeom>
          <a:solidFill>
            <a:srgbClr val="E8D9B5"/>
          </a:solidFill>
          <a:ln w="6350">
            <a:solidFill>
              <a:srgbClr val="FFFFFF"/>
            </a:solidFill>
            <a:prstDash val="solid"/>
          </a:ln>
        </p:spPr>
      </p:sp>
      <p:sp>
        <p:nvSpPr>
          <p:cNvPr id="127" name="Shape 125"/>
          <p:cNvSpPr/>
          <p:nvPr/>
        </p:nvSpPr>
        <p:spPr>
          <a:xfrm>
            <a:off x="4663440" y="1920240"/>
            <a:ext cx="228600" cy="228600"/>
          </a:xfrm>
          <a:prstGeom prst="rect">
            <a:avLst/>
          </a:prstGeom>
          <a:solidFill>
            <a:srgbClr val="E8D9B5"/>
          </a:solidFill>
          <a:ln w="6350">
            <a:solidFill>
              <a:srgbClr val="FFFFFF"/>
            </a:solidFill>
            <a:prstDash val="solid"/>
          </a:ln>
        </p:spPr>
      </p:sp>
      <p:sp>
        <p:nvSpPr>
          <p:cNvPr id="128" name="Shape 126"/>
          <p:cNvSpPr/>
          <p:nvPr/>
        </p:nvSpPr>
        <p:spPr>
          <a:xfrm>
            <a:off x="4892040" y="1920240"/>
            <a:ext cx="228600" cy="228600"/>
          </a:xfrm>
          <a:prstGeom prst="rect">
            <a:avLst/>
          </a:prstGeom>
          <a:solidFill>
            <a:srgbClr val="E8D9B5"/>
          </a:solidFill>
          <a:ln w="6350">
            <a:solidFill>
              <a:srgbClr val="FFFFFF"/>
            </a:solidFill>
            <a:prstDash val="solid"/>
          </a:ln>
        </p:spPr>
      </p:sp>
      <p:sp>
        <p:nvSpPr>
          <p:cNvPr id="129" name="Shape 127"/>
          <p:cNvSpPr/>
          <p:nvPr/>
        </p:nvSpPr>
        <p:spPr>
          <a:xfrm>
            <a:off x="5120640" y="1920240"/>
            <a:ext cx="228600" cy="228600"/>
          </a:xfrm>
          <a:prstGeom prst="rect">
            <a:avLst/>
          </a:prstGeom>
          <a:solidFill>
            <a:srgbClr val="4E9A3E"/>
          </a:solidFill>
          <a:ln w="6350">
            <a:solidFill>
              <a:srgbClr val="FFFFFF"/>
            </a:solidFill>
            <a:prstDash val="solid"/>
          </a:ln>
        </p:spPr>
      </p:sp>
      <p:sp>
        <p:nvSpPr>
          <p:cNvPr id="130" name="Shape 128"/>
          <p:cNvSpPr/>
          <p:nvPr/>
        </p:nvSpPr>
        <p:spPr>
          <a:xfrm>
            <a:off x="5349240" y="1920240"/>
            <a:ext cx="228600" cy="228600"/>
          </a:xfrm>
          <a:prstGeom prst="rect">
            <a:avLst/>
          </a:prstGeom>
          <a:solidFill>
            <a:srgbClr val="4E9A3E"/>
          </a:solidFill>
          <a:ln w="6350">
            <a:solidFill>
              <a:srgbClr val="FFFFFF"/>
            </a:solidFill>
            <a:prstDash val="solid"/>
          </a:ln>
        </p:spPr>
      </p:sp>
      <p:sp>
        <p:nvSpPr>
          <p:cNvPr id="131" name="Shape 129"/>
          <p:cNvSpPr/>
          <p:nvPr/>
        </p:nvSpPr>
        <p:spPr>
          <a:xfrm>
            <a:off x="5577840" y="1920240"/>
            <a:ext cx="228600" cy="228600"/>
          </a:xfrm>
          <a:prstGeom prst="rect">
            <a:avLst/>
          </a:prstGeom>
          <a:solidFill>
            <a:srgbClr val="4E9A3E"/>
          </a:solidFill>
          <a:ln w="6350">
            <a:solidFill>
              <a:srgbClr val="FFFFFF"/>
            </a:solidFill>
            <a:prstDash val="solid"/>
          </a:ln>
        </p:spPr>
      </p:sp>
      <p:sp>
        <p:nvSpPr>
          <p:cNvPr id="132" name="Shape 130"/>
          <p:cNvSpPr/>
          <p:nvPr/>
        </p:nvSpPr>
        <p:spPr>
          <a:xfrm>
            <a:off x="3520440" y="2148840"/>
            <a:ext cx="228600" cy="228600"/>
          </a:xfrm>
          <a:prstGeom prst="rect">
            <a:avLst/>
          </a:prstGeom>
          <a:solidFill>
            <a:srgbClr val="4E9A3E"/>
          </a:solidFill>
          <a:ln w="6350">
            <a:solidFill>
              <a:srgbClr val="FFFFFF"/>
            </a:solidFill>
            <a:prstDash val="solid"/>
          </a:ln>
        </p:spPr>
      </p:sp>
      <p:sp>
        <p:nvSpPr>
          <p:cNvPr id="133" name="Shape 131"/>
          <p:cNvSpPr/>
          <p:nvPr/>
        </p:nvSpPr>
        <p:spPr>
          <a:xfrm>
            <a:off x="3749040" y="2148840"/>
            <a:ext cx="228600" cy="228600"/>
          </a:xfrm>
          <a:prstGeom prst="rect">
            <a:avLst/>
          </a:prstGeom>
          <a:solidFill>
            <a:srgbClr val="4E9A3E"/>
          </a:solidFill>
          <a:ln w="6350">
            <a:solidFill>
              <a:srgbClr val="FFFFFF"/>
            </a:solidFill>
            <a:prstDash val="solid"/>
          </a:ln>
        </p:spPr>
      </p:sp>
      <p:sp>
        <p:nvSpPr>
          <p:cNvPr id="134" name="Shape 132"/>
          <p:cNvSpPr/>
          <p:nvPr/>
        </p:nvSpPr>
        <p:spPr>
          <a:xfrm>
            <a:off x="3977640" y="2148840"/>
            <a:ext cx="228600" cy="228600"/>
          </a:xfrm>
          <a:prstGeom prst="rect">
            <a:avLst/>
          </a:prstGeom>
          <a:solidFill>
            <a:srgbClr val="E8D9B5"/>
          </a:solidFill>
          <a:ln w="6350">
            <a:solidFill>
              <a:srgbClr val="FFFFFF"/>
            </a:solidFill>
            <a:prstDash val="solid"/>
          </a:ln>
        </p:spPr>
      </p:sp>
      <p:sp>
        <p:nvSpPr>
          <p:cNvPr id="135" name="Shape 133"/>
          <p:cNvSpPr/>
          <p:nvPr/>
        </p:nvSpPr>
        <p:spPr>
          <a:xfrm>
            <a:off x="4206240" y="2148840"/>
            <a:ext cx="228600" cy="228600"/>
          </a:xfrm>
          <a:prstGeom prst="rect">
            <a:avLst/>
          </a:prstGeom>
          <a:solidFill>
            <a:srgbClr val="E8D9B5"/>
          </a:solidFill>
          <a:ln w="6350">
            <a:solidFill>
              <a:srgbClr val="FFFFFF"/>
            </a:solidFill>
            <a:prstDash val="solid"/>
          </a:ln>
        </p:spPr>
      </p:sp>
      <p:sp>
        <p:nvSpPr>
          <p:cNvPr id="136" name="Shape 134"/>
          <p:cNvSpPr/>
          <p:nvPr/>
        </p:nvSpPr>
        <p:spPr>
          <a:xfrm>
            <a:off x="4434840" y="2148840"/>
            <a:ext cx="228600" cy="228600"/>
          </a:xfrm>
          <a:prstGeom prst="rect">
            <a:avLst/>
          </a:prstGeom>
          <a:solidFill>
            <a:srgbClr val="E8D9B5"/>
          </a:solidFill>
          <a:ln w="6350">
            <a:solidFill>
              <a:srgbClr val="FFFFFF"/>
            </a:solidFill>
            <a:prstDash val="solid"/>
          </a:ln>
        </p:spPr>
      </p:sp>
      <p:sp>
        <p:nvSpPr>
          <p:cNvPr id="137" name="Shape 135"/>
          <p:cNvSpPr/>
          <p:nvPr/>
        </p:nvSpPr>
        <p:spPr>
          <a:xfrm>
            <a:off x="4663440" y="2148840"/>
            <a:ext cx="228600" cy="228600"/>
          </a:xfrm>
          <a:prstGeom prst="rect">
            <a:avLst/>
          </a:prstGeom>
          <a:solidFill>
            <a:srgbClr val="E8D9B5"/>
          </a:solidFill>
          <a:ln w="6350">
            <a:solidFill>
              <a:srgbClr val="FFFFFF"/>
            </a:solidFill>
            <a:prstDash val="solid"/>
          </a:ln>
        </p:spPr>
      </p:sp>
      <p:sp>
        <p:nvSpPr>
          <p:cNvPr id="138" name="Shape 136"/>
          <p:cNvSpPr/>
          <p:nvPr/>
        </p:nvSpPr>
        <p:spPr>
          <a:xfrm>
            <a:off x="4892040" y="2148840"/>
            <a:ext cx="228600" cy="228600"/>
          </a:xfrm>
          <a:prstGeom prst="rect">
            <a:avLst/>
          </a:prstGeom>
          <a:solidFill>
            <a:srgbClr val="E8D9B5"/>
          </a:solidFill>
          <a:ln w="6350">
            <a:solidFill>
              <a:srgbClr val="FFFFFF"/>
            </a:solidFill>
            <a:prstDash val="solid"/>
          </a:ln>
        </p:spPr>
      </p:sp>
      <p:sp>
        <p:nvSpPr>
          <p:cNvPr id="139" name="Shape 137"/>
          <p:cNvSpPr/>
          <p:nvPr/>
        </p:nvSpPr>
        <p:spPr>
          <a:xfrm>
            <a:off x="5120640" y="2148840"/>
            <a:ext cx="228600" cy="228600"/>
          </a:xfrm>
          <a:prstGeom prst="rect">
            <a:avLst/>
          </a:prstGeom>
          <a:solidFill>
            <a:srgbClr val="E8D9B5"/>
          </a:solidFill>
          <a:ln w="6350">
            <a:solidFill>
              <a:srgbClr val="FFFFFF"/>
            </a:solidFill>
            <a:prstDash val="solid"/>
          </a:ln>
        </p:spPr>
      </p:sp>
      <p:sp>
        <p:nvSpPr>
          <p:cNvPr id="140" name="Shape 138"/>
          <p:cNvSpPr/>
          <p:nvPr/>
        </p:nvSpPr>
        <p:spPr>
          <a:xfrm>
            <a:off x="5349240" y="2148840"/>
            <a:ext cx="228600" cy="228600"/>
          </a:xfrm>
          <a:prstGeom prst="rect">
            <a:avLst/>
          </a:prstGeom>
          <a:solidFill>
            <a:srgbClr val="4E9A3E"/>
          </a:solidFill>
          <a:ln w="6350">
            <a:solidFill>
              <a:srgbClr val="FFFFFF"/>
            </a:solidFill>
            <a:prstDash val="solid"/>
          </a:ln>
        </p:spPr>
      </p:sp>
      <p:sp>
        <p:nvSpPr>
          <p:cNvPr id="141" name="Shape 139"/>
          <p:cNvSpPr/>
          <p:nvPr/>
        </p:nvSpPr>
        <p:spPr>
          <a:xfrm>
            <a:off x="5577840" y="2148840"/>
            <a:ext cx="228600" cy="228600"/>
          </a:xfrm>
          <a:prstGeom prst="rect">
            <a:avLst/>
          </a:prstGeom>
          <a:solidFill>
            <a:srgbClr val="4E9A3E"/>
          </a:solidFill>
          <a:ln w="6350">
            <a:solidFill>
              <a:srgbClr val="FFFFFF"/>
            </a:solidFill>
            <a:prstDash val="solid"/>
          </a:ln>
        </p:spPr>
      </p:sp>
      <p:sp>
        <p:nvSpPr>
          <p:cNvPr id="142" name="Shape 140"/>
          <p:cNvSpPr/>
          <p:nvPr/>
        </p:nvSpPr>
        <p:spPr>
          <a:xfrm>
            <a:off x="3520440" y="2377440"/>
            <a:ext cx="228600" cy="228600"/>
          </a:xfrm>
          <a:prstGeom prst="rect">
            <a:avLst/>
          </a:prstGeom>
          <a:solidFill>
            <a:srgbClr val="4E9A3E"/>
          </a:solidFill>
          <a:ln w="6350">
            <a:solidFill>
              <a:srgbClr val="FFFFFF"/>
            </a:solidFill>
            <a:prstDash val="solid"/>
          </a:ln>
        </p:spPr>
      </p:sp>
      <p:sp>
        <p:nvSpPr>
          <p:cNvPr id="143" name="Shape 141"/>
          <p:cNvSpPr/>
          <p:nvPr/>
        </p:nvSpPr>
        <p:spPr>
          <a:xfrm>
            <a:off x="3749040" y="2377440"/>
            <a:ext cx="228600" cy="228600"/>
          </a:xfrm>
          <a:prstGeom prst="rect">
            <a:avLst/>
          </a:prstGeom>
          <a:solidFill>
            <a:srgbClr val="4E9A3E"/>
          </a:solidFill>
          <a:ln w="6350">
            <a:solidFill>
              <a:srgbClr val="FFFFFF"/>
            </a:solidFill>
            <a:prstDash val="solid"/>
          </a:ln>
        </p:spPr>
      </p:sp>
      <p:sp>
        <p:nvSpPr>
          <p:cNvPr id="144" name="Shape 142"/>
          <p:cNvSpPr/>
          <p:nvPr/>
        </p:nvSpPr>
        <p:spPr>
          <a:xfrm>
            <a:off x="3977640" y="2377440"/>
            <a:ext cx="228600" cy="228600"/>
          </a:xfrm>
          <a:prstGeom prst="rect">
            <a:avLst/>
          </a:prstGeom>
          <a:solidFill>
            <a:srgbClr val="4E9A3E"/>
          </a:solidFill>
          <a:ln w="6350">
            <a:solidFill>
              <a:srgbClr val="FFFFFF"/>
            </a:solidFill>
            <a:prstDash val="solid"/>
          </a:ln>
        </p:spPr>
      </p:sp>
      <p:sp>
        <p:nvSpPr>
          <p:cNvPr id="145" name="Shape 143"/>
          <p:cNvSpPr/>
          <p:nvPr/>
        </p:nvSpPr>
        <p:spPr>
          <a:xfrm>
            <a:off x="4206240" y="2377440"/>
            <a:ext cx="228600" cy="228600"/>
          </a:xfrm>
          <a:prstGeom prst="rect">
            <a:avLst/>
          </a:prstGeom>
          <a:solidFill>
            <a:srgbClr val="4E9A3E"/>
          </a:solidFill>
          <a:ln w="6350">
            <a:solidFill>
              <a:srgbClr val="FFFFFF"/>
            </a:solidFill>
            <a:prstDash val="solid"/>
          </a:ln>
        </p:spPr>
      </p:sp>
      <p:sp>
        <p:nvSpPr>
          <p:cNvPr id="146" name="Shape 144"/>
          <p:cNvSpPr/>
          <p:nvPr/>
        </p:nvSpPr>
        <p:spPr>
          <a:xfrm>
            <a:off x="4434840" y="2377440"/>
            <a:ext cx="228600" cy="228600"/>
          </a:xfrm>
          <a:prstGeom prst="rect">
            <a:avLst/>
          </a:prstGeom>
          <a:solidFill>
            <a:srgbClr val="E8D9B5"/>
          </a:solidFill>
          <a:ln w="6350">
            <a:solidFill>
              <a:srgbClr val="FFFFFF"/>
            </a:solidFill>
            <a:prstDash val="solid"/>
          </a:ln>
        </p:spPr>
      </p:sp>
      <p:sp>
        <p:nvSpPr>
          <p:cNvPr id="147" name="Shape 145"/>
          <p:cNvSpPr/>
          <p:nvPr/>
        </p:nvSpPr>
        <p:spPr>
          <a:xfrm>
            <a:off x="4663440" y="2377440"/>
            <a:ext cx="228600" cy="228600"/>
          </a:xfrm>
          <a:prstGeom prst="rect">
            <a:avLst/>
          </a:prstGeom>
          <a:solidFill>
            <a:srgbClr val="E8D9B5"/>
          </a:solidFill>
          <a:ln w="6350">
            <a:solidFill>
              <a:srgbClr val="FFFFFF"/>
            </a:solidFill>
            <a:prstDash val="solid"/>
          </a:ln>
        </p:spPr>
      </p:sp>
      <p:sp>
        <p:nvSpPr>
          <p:cNvPr id="148" name="Shape 146"/>
          <p:cNvSpPr/>
          <p:nvPr/>
        </p:nvSpPr>
        <p:spPr>
          <a:xfrm>
            <a:off x="4892040" y="2377440"/>
            <a:ext cx="228600" cy="228600"/>
          </a:xfrm>
          <a:prstGeom prst="rect">
            <a:avLst/>
          </a:prstGeom>
          <a:solidFill>
            <a:srgbClr val="4E9A3E"/>
          </a:solidFill>
          <a:ln w="6350">
            <a:solidFill>
              <a:srgbClr val="FFFFFF"/>
            </a:solidFill>
            <a:prstDash val="solid"/>
          </a:ln>
        </p:spPr>
      </p:sp>
      <p:sp>
        <p:nvSpPr>
          <p:cNvPr id="149" name="Shape 147"/>
          <p:cNvSpPr/>
          <p:nvPr/>
        </p:nvSpPr>
        <p:spPr>
          <a:xfrm>
            <a:off x="5120640" y="2377440"/>
            <a:ext cx="228600" cy="228600"/>
          </a:xfrm>
          <a:prstGeom prst="rect">
            <a:avLst/>
          </a:prstGeom>
          <a:solidFill>
            <a:srgbClr val="4E9A3E"/>
          </a:solidFill>
          <a:ln w="6350">
            <a:solidFill>
              <a:srgbClr val="FFFFFF"/>
            </a:solidFill>
            <a:prstDash val="solid"/>
          </a:ln>
        </p:spPr>
      </p:sp>
      <p:sp>
        <p:nvSpPr>
          <p:cNvPr id="150" name="Shape 148"/>
          <p:cNvSpPr/>
          <p:nvPr/>
        </p:nvSpPr>
        <p:spPr>
          <a:xfrm>
            <a:off x="5349240" y="2377440"/>
            <a:ext cx="228600" cy="228600"/>
          </a:xfrm>
          <a:prstGeom prst="rect">
            <a:avLst/>
          </a:prstGeom>
          <a:solidFill>
            <a:srgbClr val="4E9A3E"/>
          </a:solidFill>
          <a:ln w="6350">
            <a:solidFill>
              <a:srgbClr val="FFFFFF"/>
            </a:solidFill>
            <a:prstDash val="solid"/>
          </a:ln>
        </p:spPr>
      </p:sp>
      <p:sp>
        <p:nvSpPr>
          <p:cNvPr id="151" name="Shape 149"/>
          <p:cNvSpPr/>
          <p:nvPr/>
        </p:nvSpPr>
        <p:spPr>
          <a:xfrm>
            <a:off x="5577840" y="2377440"/>
            <a:ext cx="228600" cy="228600"/>
          </a:xfrm>
          <a:prstGeom prst="rect">
            <a:avLst/>
          </a:prstGeom>
          <a:solidFill>
            <a:srgbClr val="4E9A3E"/>
          </a:solidFill>
          <a:ln w="6350">
            <a:solidFill>
              <a:srgbClr val="FFFFFF"/>
            </a:solidFill>
            <a:prstDash val="solid"/>
          </a:ln>
        </p:spPr>
      </p:sp>
      <p:sp>
        <p:nvSpPr>
          <p:cNvPr id="152" name="Shape 150"/>
          <p:cNvSpPr/>
          <p:nvPr/>
        </p:nvSpPr>
        <p:spPr>
          <a:xfrm>
            <a:off x="3520440" y="2606040"/>
            <a:ext cx="228600" cy="228600"/>
          </a:xfrm>
          <a:prstGeom prst="rect">
            <a:avLst/>
          </a:prstGeom>
          <a:solidFill>
            <a:srgbClr val="4E9A3E"/>
          </a:solidFill>
          <a:ln w="6350">
            <a:solidFill>
              <a:srgbClr val="FFFFFF"/>
            </a:solidFill>
            <a:prstDash val="solid"/>
          </a:ln>
        </p:spPr>
      </p:sp>
      <p:sp>
        <p:nvSpPr>
          <p:cNvPr id="153" name="Shape 151"/>
          <p:cNvSpPr/>
          <p:nvPr/>
        </p:nvSpPr>
        <p:spPr>
          <a:xfrm>
            <a:off x="3749040" y="2606040"/>
            <a:ext cx="228600" cy="228600"/>
          </a:xfrm>
          <a:prstGeom prst="rect">
            <a:avLst/>
          </a:prstGeom>
          <a:solidFill>
            <a:srgbClr val="4E9A3E"/>
          </a:solidFill>
          <a:ln w="6350">
            <a:solidFill>
              <a:srgbClr val="FFFFFF"/>
            </a:solidFill>
            <a:prstDash val="solid"/>
          </a:ln>
        </p:spPr>
      </p:sp>
      <p:sp>
        <p:nvSpPr>
          <p:cNvPr id="154" name="Shape 152"/>
          <p:cNvSpPr/>
          <p:nvPr/>
        </p:nvSpPr>
        <p:spPr>
          <a:xfrm>
            <a:off x="3977640" y="2606040"/>
            <a:ext cx="228600" cy="228600"/>
          </a:xfrm>
          <a:prstGeom prst="rect">
            <a:avLst/>
          </a:prstGeom>
          <a:solidFill>
            <a:srgbClr val="4E9A3E"/>
          </a:solidFill>
          <a:ln w="6350">
            <a:solidFill>
              <a:srgbClr val="FFFFFF"/>
            </a:solidFill>
            <a:prstDash val="solid"/>
          </a:ln>
        </p:spPr>
      </p:sp>
      <p:sp>
        <p:nvSpPr>
          <p:cNvPr id="155" name="Shape 153"/>
          <p:cNvSpPr/>
          <p:nvPr/>
        </p:nvSpPr>
        <p:spPr>
          <a:xfrm>
            <a:off x="4206240" y="2606040"/>
            <a:ext cx="228600" cy="228600"/>
          </a:xfrm>
          <a:prstGeom prst="rect">
            <a:avLst/>
          </a:prstGeom>
          <a:solidFill>
            <a:srgbClr val="E8D9B5"/>
          </a:solidFill>
          <a:ln w="6350">
            <a:solidFill>
              <a:srgbClr val="FFFFFF"/>
            </a:solidFill>
            <a:prstDash val="solid"/>
          </a:ln>
        </p:spPr>
      </p:sp>
      <p:sp>
        <p:nvSpPr>
          <p:cNvPr id="156" name="Shape 154"/>
          <p:cNvSpPr/>
          <p:nvPr/>
        </p:nvSpPr>
        <p:spPr>
          <a:xfrm>
            <a:off x="4434840" y="2606040"/>
            <a:ext cx="228600" cy="228600"/>
          </a:xfrm>
          <a:prstGeom prst="rect">
            <a:avLst/>
          </a:prstGeom>
          <a:solidFill>
            <a:srgbClr val="E8D9B5"/>
          </a:solidFill>
          <a:ln w="6350">
            <a:solidFill>
              <a:srgbClr val="FFFFFF"/>
            </a:solidFill>
            <a:prstDash val="solid"/>
          </a:ln>
        </p:spPr>
      </p:sp>
      <p:sp>
        <p:nvSpPr>
          <p:cNvPr id="157" name="Shape 155"/>
          <p:cNvSpPr/>
          <p:nvPr/>
        </p:nvSpPr>
        <p:spPr>
          <a:xfrm>
            <a:off x="4663440" y="2606040"/>
            <a:ext cx="228600" cy="228600"/>
          </a:xfrm>
          <a:prstGeom prst="rect">
            <a:avLst/>
          </a:prstGeom>
          <a:solidFill>
            <a:srgbClr val="E8D9B5"/>
          </a:solidFill>
          <a:ln w="6350">
            <a:solidFill>
              <a:srgbClr val="FFFFFF"/>
            </a:solidFill>
            <a:prstDash val="solid"/>
          </a:ln>
        </p:spPr>
      </p:sp>
      <p:sp>
        <p:nvSpPr>
          <p:cNvPr id="158" name="Shape 156"/>
          <p:cNvSpPr/>
          <p:nvPr/>
        </p:nvSpPr>
        <p:spPr>
          <a:xfrm>
            <a:off x="4892040" y="2606040"/>
            <a:ext cx="228600" cy="228600"/>
          </a:xfrm>
          <a:prstGeom prst="rect">
            <a:avLst/>
          </a:prstGeom>
          <a:solidFill>
            <a:srgbClr val="4E9A3E"/>
          </a:solidFill>
          <a:ln w="6350">
            <a:solidFill>
              <a:srgbClr val="FFFFFF"/>
            </a:solidFill>
            <a:prstDash val="solid"/>
          </a:ln>
        </p:spPr>
      </p:sp>
      <p:sp>
        <p:nvSpPr>
          <p:cNvPr id="159" name="Shape 157"/>
          <p:cNvSpPr/>
          <p:nvPr/>
        </p:nvSpPr>
        <p:spPr>
          <a:xfrm>
            <a:off x="5120640" y="2606040"/>
            <a:ext cx="228600" cy="228600"/>
          </a:xfrm>
          <a:prstGeom prst="rect">
            <a:avLst/>
          </a:prstGeom>
          <a:solidFill>
            <a:srgbClr val="4E9A3E"/>
          </a:solidFill>
          <a:ln w="6350">
            <a:solidFill>
              <a:srgbClr val="FFFFFF"/>
            </a:solidFill>
            <a:prstDash val="solid"/>
          </a:ln>
        </p:spPr>
      </p:sp>
      <p:sp>
        <p:nvSpPr>
          <p:cNvPr id="160" name="Shape 158"/>
          <p:cNvSpPr/>
          <p:nvPr/>
        </p:nvSpPr>
        <p:spPr>
          <a:xfrm>
            <a:off x="5349240" y="2606040"/>
            <a:ext cx="228600" cy="228600"/>
          </a:xfrm>
          <a:prstGeom prst="rect">
            <a:avLst/>
          </a:prstGeom>
          <a:solidFill>
            <a:srgbClr val="4E9A3E"/>
          </a:solidFill>
          <a:ln w="6350">
            <a:solidFill>
              <a:srgbClr val="FFFFFF"/>
            </a:solidFill>
            <a:prstDash val="solid"/>
          </a:ln>
        </p:spPr>
      </p:sp>
      <p:sp>
        <p:nvSpPr>
          <p:cNvPr id="161" name="Shape 159"/>
          <p:cNvSpPr/>
          <p:nvPr/>
        </p:nvSpPr>
        <p:spPr>
          <a:xfrm>
            <a:off x="5577840" y="2606040"/>
            <a:ext cx="228600" cy="228600"/>
          </a:xfrm>
          <a:prstGeom prst="rect">
            <a:avLst/>
          </a:prstGeom>
          <a:solidFill>
            <a:srgbClr val="E8D9B5"/>
          </a:solidFill>
          <a:ln w="6350">
            <a:solidFill>
              <a:srgbClr val="FFFFFF"/>
            </a:solidFill>
            <a:prstDash val="solid"/>
          </a:ln>
        </p:spPr>
      </p:sp>
      <p:sp>
        <p:nvSpPr>
          <p:cNvPr id="162" name="Shape 160"/>
          <p:cNvSpPr/>
          <p:nvPr/>
        </p:nvSpPr>
        <p:spPr>
          <a:xfrm>
            <a:off x="3520440" y="2834640"/>
            <a:ext cx="228600" cy="228600"/>
          </a:xfrm>
          <a:prstGeom prst="rect">
            <a:avLst/>
          </a:prstGeom>
          <a:solidFill>
            <a:srgbClr val="4E9A3E"/>
          </a:solidFill>
          <a:ln w="6350">
            <a:solidFill>
              <a:srgbClr val="FFFFFF"/>
            </a:solidFill>
            <a:prstDash val="solid"/>
          </a:ln>
        </p:spPr>
      </p:sp>
      <p:sp>
        <p:nvSpPr>
          <p:cNvPr id="163" name="Shape 161"/>
          <p:cNvSpPr/>
          <p:nvPr/>
        </p:nvSpPr>
        <p:spPr>
          <a:xfrm>
            <a:off x="3749040" y="2834640"/>
            <a:ext cx="228600" cy="228600"/>
          </a:xfrm>
          <a:prstGeom prst="rect">
            <a:avLst/>
          </a:prstGeom>
          <a:solidFill>
            <a:srgbClr val="4E9A3E"/>
          </a:solidFill>
          <a:ln w="6350">
            <a:solidFill>
              <a:srgbClr val="FFFFFF"/>
            </a:solidFill>
            <a:prstDash val="solid"/>
          </a:ln>
        </p:spPr>
      </p:sp>
      <p:sp>
        <p:nvSpPr>
          <p:cNvPr id="164" name="Shape 162"/>
          <p:cNvSpPr/>
          <p:nvPr/>
        </p:nvSpPr>
        <p:spPr>
          <a:xfrm>
            <a:off x="3977640" y="2834640"/>
            <a:ext cx="228600" cy="228600"/>
          </a:xfrm>
          <a:prstGeom prst="rect">
            <a:avLst/>
          </a:prstGeom>
          <a:solidFill>
            <a:srgbClr val="4E9A3E"/>
          </a:solidFill>
          <a:ln w="6350">
            <a:solidFill>
              <a:srgbClr val="FFFFFF"/>
            </a:solidFill>
            <a:prstDash val="solid"/>
          </a:ln>
        </p:spPr>
      </p:sp>
      <p:sp>
        <p:nvSpPr>
          <p:cNvPr id="165" name="Shape 163"/>
          <p:cNvSpPr/>
          <p:nvPr/>
        </p:nvSpPr>
        <p:spPr>
          <a:xfrm>
            <a:off x="4206240" y="2834640"/>
            <a:ext cx="228600" cy="228600"/>
          </a:xfrm>
          <a:prstGeom prst="rect">
            <a:avLst/>
          </a:prstGeom>
          <a:solidFill>
            <a:srgbClr val="E8D9B5"/>
          </a:solidFill>
          <a:ln w="6350">
            <a:solidFill>
              <a:srgbClr val="FFFFFF"/>
            </a:solidFill>
            <a:prstDash val="solid"/>
          </a:ln>
        </p:spPr>
      </p:sp>
      <p:sp>
        <p:nvSpPr>
          <p:cNvPr id="166" name="Shape 164"/>
          <p:cNvSpPr/>
          <p:nvPr/>
        </p:nvSpPr>
        <p:spPr>
          <a:xfrm>
            <a:off x="4434840" y="2834640"/>
            <a:ext cx="228600" cy="228600"/>
          </a:xfrm>
          <a:prstGeom prst="rect">
            <a:avLst/>
          </a:prstGeom>
          <a:solidFill>
            <a:srgbClr val="E8D9B5"/>
          </a:solidFill>
          <a:ln w="6350">
            <a:solidFill>
              <a:srgbClr val="FFFFFF"/>
            </a:solidFill>
            <a:prstDash val="solid"/>
          </a:ln>
        </p:spPr>
      </p:sp>
      <p:sp>
        <p:nvSpPr>
          <p:cNvPr id="167" name="Shape 165"/>
          <p:cNvSpPr/>
          <p:nvPr/>
        </p:nvSpPr>
        <p:spPr>
          <a:xfrm>
            <a:off x="4663440" y="2834640"/>
            <a:ext cx="228600" cy="228600"/>
          </a:xfrm>
          <a:prstGeom prst="rect">
            <a:avLst/>
          </a:prstGeom>
          <a:solidFill>
            <a:srgbClr val="E8D9B5"/>
          </a:solidFill>
          <a:ln w="6350">
            <a:solidFill>
              <a:srgbClr val="FFFFFF"/>
            </a:solidFill>
            <a:prstDash val="solid"/>
          </a:ln>
        </p:spPr>
      </p:sp>
      <p:sp>
        <p:nvSpPr>
          <p:cNvPr id="168" name="Shape 166"/>
          <p:cNvSpPr/>
          <p:nvPr/>
        </p:nvSpPr>
        <p:spPr>
          <a:xfrm>
            <a:off x="4892040" y="2834640"/>
            <a:ext cx="228600" cy="228600"/>
          </a:xfrm>
          <a:prstGeom prst="rect">
            <a:avLst/>
          </a:prstGeom>
          <a:solidFill>
            <a:srgbClr val="4E9A3E"/>
          </a:solidFill>
          <a:ln w="6350">
            <a:solidFill>
              <a:srgbClr val="FFFFFF"/>
            </a:solidFill>
            <a:prstDash val="solid"/>
          </a:ln>
        </p:spPr>
      </p:sp>
      <p:sp>
        <p:nvSpPr>
          <p:cNvPr id="169" name="Shape 167"/>
          <p:cNvSpPr/>
          <p:nvPr/>
        </p:nvSpPr>
        <p:spPr>
          <a:xfrm>
            <a:off x="5120640" y="2834640"/>
            <a:ext cx="228600" cy="228600"/>
          </a:xfrm>
          <a:prstGeom prst="rect">
            <a:avLst/>
          </a:prstGeom>
          <a:solidFill>
            <a:srgbClr val="4E9A3E"/>
          </a:solidFill>
          <a:ln w="6350">
            <a:solidFill>
              <a:srgbClr val="FFFFFF"/>
            </a:solidFill>
            <a:prstDash val="solid"/>
          </a:ln>
        </p:spPr>
      </p:sp>
      <p:sp>
        <p:nvSpPr>
          <p:cNvPr id="170" name="Shape 168"/>
          <p:cNvSpPr/>
          <p:nvPr/>
        </p:nvSpPr>
        <p:spPr>
          <a:xfrm>
            <a:off x="5349240" y="2834640"/>
            <a:ext cx="228600" cy="228600"/>
          </a:xfrm>
          <a:prstGeom prst="rect">
            <a:avLst/>
          </a:prstGeom>
          <a:solidFill>
            <a:srgbClr val="4E9A3E"/>
          </a:solidFill>
          <a:ln w="6350">
            <a:solidFill>
              <a:srgbClr val="FFFFFF"/>
            </a:solidFill>
            <a:prstDash val="solid"/>
          </a:ln>
        </p:spPr>
      </p:sp>
      <p:sp>
        <p:nvSpPr>
          <p:cNvPr id="171" name="Shape 169"/>
          <p:cNvSpPr/>
          <p:nvPr/>
        </p:nvSpPr>
        <p:spPr>
          <a:xfrm>
            <a:off x="5577840" y="2834640"/>
            <a:ext cx="228600" cy="228600"/>
          </a:xfrm>
          <a:prstGeom prst="rect">
            <a:avLst/>
          </a:prstGeom>
          <a:solidFill>
            <a:srgbClr val="E8D9B5"/>
          </a:solidFill>
          <a:ln w="6350">
            <a:solidFill>
              <a:srgbClr val="FFFFFF"/>
            </a:solidFill>
            <a:prstDash val="solid"/>
          </a:ln>
        </p:spPr>
      </p:sp>
      <p:sp>
        <p:nvSpPr>
          <p:cNvPr id="172" name="Shape 170"/>
          <p:cNvSpPr/>
          <p:nvPr/>
        </p:nvSpPr>
        <p:spPr>
          <a:xfrm>
            <a:off x="3520440" y="3063240"/>
            <a:ext cx="228600" cy="228600"/>
          </a:xfrm>
          <a:prstGeom prst="rect">
            <a:avLst/>
          </a:prstGeom>
          <a:solidFill>
            <a:srgbClr val="E8D9B5"/>
          </a:solidFill>
          <a:ln w="6350">
            <a:solidFill>
              <a:srgbClr val="FFFFFF"/>
            </a:solidFill>
            <a:prstDash val="solid"/>
          </a:ln>
        </p:spPr>
      </p:sp>
      <p:sp>
        <p:nvSpPr>
          <p:cNvPr id="173" name="Shape 171"/>
          <p:cNvSpPr/>
          <p:nvPr/>
        </p:nvSpPr>
        <p:spPr>
          <a:xfrm>
            <a:off x="3749040" y="3063240"/>
            <a:ext cx="228600" cy="228600"/>
          </a:xfrm>
          <a:prstGeom prst="rect">
            <a:avLst/>
          </a:prstGeom>
          <a:solidFill>
            <a:srgbClr val="E8D9B5"/>
          </a:solidFill>
          <a:ln w="6350">
            <a:solidFill>
              <a:srgbClr val="FFFFFF"/>
            </a:solidFill>
            <a:prstDash val="solid"/>
          </a:ln>
        </p:spPr>
      </p:sp>
      <p:sp>
        <p:nvSpPr>
          <p:cNvPr id="174" name="Shape 172"/>
          <p:cNvSpPr/>
          <p:nvPr/>
        </p:nvSpPr>
        <p:spPr>
          <a:xfrm>
            <a:off x="3977640" y="3063240"/>
            <a:ext cx="228600" cy="228600"/>
          </a:xfrm>
          <a:prstGeom prst="rect">
            <a:avLst/>
          </a:prstGeom>
          <a:solidFill>
            <a:srgbClr val="E8D9B5"/>
          </a:solidFill>
          <a:ln w="6350">
            <a:solidFill>
              <a:srgbClr val="FFFFFF"/>
            </a:solidFill>
            <a:prstDash val="solid"/>
          </a:ln>
        </p:spPr>
      </p:sp>
      <p:sp>
        <p:nvSpPr>
          <p:cNvPr id="175" name="Shape 173"/>
          <p:cNvSpPr/>
          <p:nvPr/>
        </p:nvSpPr>
        <p:spPr>
          <a:xfrm>
            <a:off x="4206240" y="3063240"/>
            <a:ext cx="228600" cy="228600"/>
          </a:xfrm>
          <a:prstGeom prst="rect">
            <a:avLst/>
          </a:prstGeom>
          <a:solidFill>
            <a:srgbClr val="E8D9B5"/>
          </a:solidFill>
          <a:ln w="6350">
            <a:solidFill>
              <a:srgbClr val="FFFFFF"/>
            </a:solidFill>
            <a:prstDash val="solid"/>
          </a:ln>
        </p:spPr>
      </p:sp>
      <p:sp>
        <p:nvSpPr>
          <p:cNvPr id="176" name="Shape 174"/>
          <p:cNvSpPr/>
          <p:nvPr/>
        </p:nvSpPr>
        <p:spPr>
          <a:xfrm>
            <a:off x="4434840" y="3063240"/>
            <a:ext cx="228600" cy="228600"/>
          </a:xfrm>
          <a:prstGeom prst="rect">
            <a:avLst/>
          </a:prstGeom>
          <a:solidFill>
            <a:srgbClr val="E8D9B5"/>
          </a:solidFill>
          <a:ln w="6350">
            <a:solidFill>
              <a:srgbClr val="FFFFFF"/>
            </a:solidFill>
            <a:prstDash val="solid"/>
          </a:ln>
        </p:spPr>
      </p:sp>
      <p:sp>
        <p:nvSpPr>
          <p:cNvPr id="177" name="Shape 175"/>
          <p:cNvSpPr/>
          <p:nvPr/>
        </p:nvSpPr>
        <p:spPr>
          <a:xfrm>
            <a:off x="4663440" y="3063240"/>
            <a:ext cx="228600" cy="228600"/>
          </a:xfrm>
          <a:prstGeom prst="rect">
            <a:avLst/>
          </a:prstGeom>
          <a:solidFill>
            <a:srgbClr val="E8D9B5"/>
          </a:solidFill>
          <a:ln w="6350">
            <a:solidFill>
              <a:srgbClr val="FFFFFF"/>
            </a:solidFill>
            <a:prstDash val="solid"/>
          </a:ln>
        </p:spPr>
      </p:sp>
      <p:sp>
        <p:nvSpPr>
          <p:cNvPr id="178" name="Shape 176"/>
          <p:cNvSpPr/>
          <p:nvPr/>
        </p:nvSpPr>
        <p:spPr>
          <a:xfrm>
            <a:off x="4892040" y="3063240"/>
            <a:ext cx="228600" cy="228600"/>
          </a:xfrm>
          <a:prstGeom prst="rect">
            <a:avLst/>
          </a:prstGeom>
          <a:solidFill>
            <a:srgbClr val="E8D9B5"/>
          </a:solidFill>
          <a:ln w="6350">
            <a:solidFill>
              <a:srgbClr val="FFFFFF"/>
            </a:solidFill>
            <a:prstDash val="solid"/>
          </a:ln>
        </p:spPr>
      </p:sp>
      <p:sp>
        <p:nvSpPr>
          <p:cNvPr id="179" name="Shape 177"/>
          <p:cNvSpPr/>
          <p:nvPr/>
        </p:nvSpPr>
        <p:spPr>
          <a:xfrm>
            <a:off x="5120640" y="3063240"/>
            <a:ext cx="228600" cy="228600"/>
          </a:xfrm>
          <a:prstGeom prst="rect">
            <a:avLst/>
          </a:prstGeom>
          <a:solidFill>
            <a:srgbClr val="E8D9B5"/>
          </a:solidFill>
          <a:ln w="6350">
            <a:solidFill>
              <a:srgbClr val="FFFFFF"/>
            </a:solidFill>
            <a:prstDash val="solid"/>
          </a:ln>
        </p:spPr>
      </p:sp>
      <p:sp>
        <p:nvSpPr>
          <p:cNvPr id="180" name="Shape 178"/>
          <p:cNvSpPr/>
          <p:nvPr/>
        </p:nvSpPr>
        <p:spPr>
          <a:xfrm>
            <a:off x="5349240" y="3063240"/>
            <a:ext cx="228600" cy="228600"/>
          </a:xfrm>
          <a:prstGeom prst="rect">
            <a:avLst/>
          </a:prstGeom>
          <a:solidFill>
            <a:srgbClr val="E8D9B5"/>
          </a:solidFill>
          <a:ln w="6350">
            <a:solidFill>
              <a:srgbClr val="FFFFFF"/>
            </a:solidFill>
            <a:prstDash val="solid"/>
          </a:ln>
        </p:spPr>
      </p:sp>
      <p:sp>
        <p:nvSpPr>
          <p:cNvPr id="181" name="Shape 179"/>
          <p:cNvSpPr/>
          <p:nvPr/>
        </p:nvSpPr>
        <p:spPr>
          <a:xfrm>
            <a:off x="5577840" y="3063240"/>
            <a:ext cx="228600" cy="228600"/>
          </a:xfrm>
          <a:prstGeom prst="rect">
            <a:avLst/>
          </a:prstGeom>
          <a:solidFill>
            <a:srgbClr val="E8D9B5"/>
          </a:solidFill>
          <a:ln w="6350">
            <a:solidFill>
              <a:srgbClr val="FFFFFF"/>
            </a:solidFill>
            <a:prstDash val="solid"/>
          </a:ln>
        </p:spPr>
      </p:sp>
      <p:sp>
        <p:nvSpPr>
          <p:cNvPr id="182" name="Shape 180"/>
          <p:cNvSpPr/>
          <p:nvPr/>
        </p:nvSpPr>
        <p:spPr>
          <a:xfrm>
            <a:off x="3520440" y="3291840"/>
            <a:ext cx="228600" cy="228600"/>
          </a:xfrm>
          <a:prstGeom prst="rect">
            <a:avLst/>
          </a:prstGeom>
          <a:solidFill>
            <a:srgbClr val="4E9A3E"/>
          </a:solidFill>
          <a:ln w="6350">
            <a:solidFill>
              <a:srgbClr val="FFFFFF"/>
            </a:solidFill>
            <a:prstDash val="solid"/>
          </a:ln>
        </p:spPr>
      </p:sp>
      <p:sp>
        <p:nvSpPr>
          <p:cNvPr id="183" name="Shape 181"/>
          <p:cNvSpPr/>
          <p:nvPr/>
        </p:nvSpPr>
        <p:spPr>
          <a:xfrm>
            <a:off x="3749040" y="3291840"/>
            <a:ext cx="228600" cy="228600"/>
          </a:xfrm>
          <a:prstGeom prst="rect">
            <a:avLst/>
          </a:prstGeom>
          <a:solidFill>
            <a:srgbClr val="4E9A3E"/>
          </a:solidFill>
          <a:ln w="6350">
            <a:solidFill>
              <a:srgbClr val="FFFFFF"/>
            </a:solidFill>
            <a:prstDash val="solid"/>
          </a:ln>
        </p:spPr>
      </p:sp>
      <p:sp>
        <p:nvSpPr>
          <p:cNvPr id="184" name="Shape 182"/>
          <p:cNvSpPr/>
          <p:nvPr/>
        </p:nvSpPr>
        <p:spPr>
          <a:xfrm>
            <a:off x="3977640" y="3291840"/>
            <a:ext cx="228600" cy="228600"/>
          </a:xfrm>
          <a:prstGeom prst="rect">
            <a:avLst/>
          </a:prstGeom>
          <a:solidFill>
            <a:srgbClr val="E8D9B5"/>
          </a:solidFill>
          <a:ln w="6350">
            <a:solidFill>
              <a:srgbClr val="FFFFFF"/>
            </a:solidFill>
            <a:prstDash val="solid"/>
          </a:ln>
        </p:spPr>
      </p:sp>
      <p:sp>
        <p:nvSpPr>
          <p:cNvPr id="185" name="Shape 183"/>
          <p:cNvSpPr/>
          <p:nvPr/>
        </p:nvSpPr>
        <p:spPr>
          <a:xfrm>
            <a:off x="4206240" y="3291840"/>
            <a:ext cx="228600" cy="228600"/>
          </a:xfrm>
          <a:prstGeom prst="rect">
            <a:avLst/>
          </a:prstGeom>
          <a:solidFill>
            <a:srgbClr val="E8D9B5"/>
          </a:solidFill>
          <a:ln w="6350">
            <a:solidFill>
              <a:srgbClr val="FFFFFF"/>
            </a:solidFill>
            <a:prstDash val="solid"/>
          </a:ln>
        </p:spPr>
      </p:sp>
      <p:sp>
        <p:nvSpPr>
          <p:cNvPr id="186" name="Shape 184"/>
          <p:cNvSpPr/>
          <p:nvPr/>
        </p:nvSpPr>
        <p:spPr>
          <a:xfrm>
            <a:off x="4434840" y="3291840"/>
            <a:ext cx="228600" cy="228600"/>
          </a:xfrm>
          <a:prstGeom prst="rect">
            <a:avLst/>
          </a:prstGeom>
          <a:solidFill>
            <a:srgbClr val="4E9A3E"/>
          </a:solidFill>
          <a:ln w="6350">
            <a:solidFill>
              <a:srgbClr val="FFFFFF"/>
            </a:solidFill>
            <a:prstDash val="solid"/>
          </a:ln>
        </p:spPr>
      </p:sp>
      <p:sp>
        <p:nvSpPr>
          <p:cNvPr id="187" name="Shape 185"/>
          <p:cNvSpPr/>
          <p:nvPr/>
        </p:nvSpPr>
        <p:spPr>
          <a:xfrm>
            <a:off x="4663440" y="3291840"/>
            <a:ext cx="228600" cy="228600"/>
          </a:xfrm>
          <a:prstGeom prst="rect">
            <a:avLst/>
          </a:prstGeom>
          <a:solidFill>
            <a:srgbClr val="4E9A3E"/>
          </a:solidFill>
          <a:ln w="6350">
            <a:solidFill>
              <a:srgbClr val="FFFFFF"/>
            </a:solidFill>
            <a:prstDash val="solid"/>
          </a:ln>
        </p:spPr>
      </p:sp>
      <p:sp>
        <p:nvSpPr>
          <p:cNvPr id="188" name="Shape 186"/>
          <p:cNvSpPr/>
          <p:nvPr/>
        </p:nvSpPr>
        <p:spPr>
          <a:xfrm>
            <a:off x="4892040" y="3291840"/>
            <a:ext cx="228600" cy="228600"/>
          </a:xfrm>
          <a:prstGeom prst="rect">
            <a:avLst/>
          </a:prstGeom>
          <a:solidFill>
            <a:srgbClr val="E8D9B5"/>
          </a:solidFill>
          <a:ln w="6350">
            <a:solidFill>
              <a:srgbClr val="FFFFFF"/>
            </a:solidFill>
            <a:prstDash val="solid"/>
          </a:ln>
        </p:spPr>
      </p:sp>
      <p:sp>
        <p:nvSpPr>
          <p:cNvPr id="189" name="Shape 187"/>
          <p:cNvSpPr/>
          <p:nvPr/>
        </p:nvSpPr>
        <p:spPr>
          <a:xfrm>
            <a:off x="5120640" y="3291840"/>
            <a:ext cx="228600" cy="228600"/>
          </a:xfrm>
          <a:prstGeom prst="rect">
            <a:avLst/>
          </a:prstGeom>
          <a:solidFill>
            <a:srgbClr val="E8D9B5"/>
          </a:solidFill>
          <a:ln w="6350">
            <a:solidFill>
              <a:srgbClr val="FFFFFF"/>
            </a:solidFill>
            <a:prstDash val="solid"/>
          </a:ln>
        </p:spPr>
      </p:sp>
      <p:sp>
        <p:nvSpPr>
          <p:cNvPr id="190" name="Shape 188"/>
          <p:cNvSpPr/>
          <p:nvPr/>
        </p:nvSpPr>
        <p:spPr>
          <a:xfrm>
            <a:off x="5349240" y="3291840"/>
            <a:ext cx="228600" cy="228600"/>
          </a:xfrm>
          <a:prstGeom prst="rect">
            <a:avLst/>
          </a:prstGeom>
          <a:solidFill>
            <a:srgbClr val="4E9A3E"/>
          </a:solidFill>
          <a:ln w="6350">
            <a:solidFill>
              <a:srgbClr val="FFFFFF"/>
            </a:solidFill>
            <a:prstDash val="solid"/>
          </a:ln>
        </p:spPr>
      </p:sp>
      <p:sp>
        <p:nvSpPr>
          <p:cNvPr id="191" name="Shape 189"/>
          <p:cNvSpPr/>
          <p:nvPr/>
        </p:nvSpPr>
        <p:spPr>
          <a:xfrm>
            <a:off x="5577840" y="3291840"/>
            <a:ext cx="228600" cy="228600"/>
          </a:xfrm>
          <a:prstGeom prst="rect">
            <a:avLst/>
          </a:prstGeom>
          <a:solidFill>
            <a:srgbClr val="4E9A3E"/>
          </a:solidFill>
          <a:ln w="6350">
            <a:solidFill>
              <a:srgbClr val="FFFFFF"/>
            </a:solidFill>
            <a:prstDash val="solid"/>
          </a:ln>
        </p:spPr>
      </p:sp>
      <p:sp>
        <p:nvSpPr>
          <p:cNvPr id="192" name="Shape 190"/>
          <p:cNvSpPr/>
          <p:nvPr/>
        </p:nvSpPr>
        <p:spPr>
          <a:xfrm>
            <a:off x="3520440" y="3520440"/>
            <a:ext cx="228600" cy="228600"/>
          </a:xfrm>
          <a:prstGeom prst="rect">
            <a:avLst/>
          </a:prstGeom>
          <a:solidFill>
            <a:srgbClr val="E8D9B5"/>
          </a:solidFill>
          <a:ln w="6350">
            <a:solidFill>
              <a:srgbClr val="FFFFFF"/>
            </a:solidFill>
            <a:prstDash val="solid"/>
          </a:ln>
        </p:spPr>
      </p:sp>
      <p:sp>
        <p:nvSpPr>
          <p:cNvPr id="193" name="Shape 191"/>
          <p:cNvSpPr/>
          <p:nvPr/>
        </p:nvSpPr>
        <p:spPr>
          <a:xfrm>
            <a:off x="3749040" y="3520440"/>
            <a:ext cx="228600" cy="228600"/>
          </a:xfrm>
          <a:prstGeom prst="rect">
            <a:avLst/>
          </a:prstGeom>
          <a:solidFill>
            <a:srgbClr val="E8D9B5"/>
          </a:solidFill>
          <a:ln w="6350">
            <a:solidFill>
              <a:srgbClr val="FFFFFF"/>
            </a:solidFill>
            <a:prstDash val="solid"/>
          </a:ln>
        </p:spPr>
      </p:sp>
      <p:sp>
        <p:nvSpPr>
          <p:cNvPr id="194" name="Shape 192"/>
          <p:cNvSpPr/>
          <p:nvPr/>
        </p:nvSpPr>
        <p:spPr>
          <a:xfrm>
            <a:off x="3977640" y="3520440"/>
            <a:ext cx="228600" cy="228600"/>
          </a:xfrm>
          <a:prstGeom prst="rect">
            <a:avLst/>
          </a:prstGeom>
          <a:solidFill>
            <a:srgbClr val="E8D9B5"/>
          </a:solidFill>
          <a:ln w="6350">
            <a:solidFill>
              <a:srgbClr val="FFFFFF"/>
            </a:solidFill>
            <a:prstDash val="solid"/>
          </a:ln>
        </p:spPr>
      </p:sp>
      <p:sp>
        <p:nvSpPr>
          <p:cNvPr id="195" name="Shape 193"/>
          <p:cNvSpPr/>
          <p:nvPr/>
        </p:nvSpPr>
        <p:spPr>
          <a:xfrm>
            <a:off x="4206240" y="3520440"/>
            <a:ext cx="228600" cy="228600"/>
          </a:xfrm>
          <a:prstGeom prst="rect">
            <a:avLst/>
          </a:prstGeom>
          <a:solidFill>
            <a:srgbClr val="E8D9B5"/>
          </a:solidFill>
          <a:ln w="6350">
            <a:solidFill>
              <a:srgbClr val="FFFFFF"/>
            </a:solidFill>
            <a:prstDash val="solid"/>
          </a:ln>
        </p:spPr>
      </p:sp>
      <p:sp>
        <p:nvSpPr>
          <p:cNvPr id="196" name="Shape 194"/>
          <p:cNvSpPr/>
          <p:nvPr/>
        </p:nvSpPr>
        <p:spPr>
          <a:xfrm>
            <a:off x="4434840" y="3520440"/>
            <a:ext cx="228600" cy="228600"/>
          </a:xfrm>
          <a:prstGeom prst="rect">
            <a:avLst/>
          </a:prstGeom>
          <a:solidFill>
            <a:srgbClr val="E8D9B5"/>
          </a:solidFill>
          <a:ln w="6350">
            <a:solidFill>
              <a:srgbClr val="FFFFFF"/>
            </a:solidFill>
            <a:prstDash val="solid"/>
          </a:ln>
        </p:spPr>
      </p:sp>
      <p:sp>
        <p:nvSpPr>
          <p:cNvPr id="197" name="Shape 195"/>
          <p:cNvSpPr/>
          <p:nvPr/>
        </p:nvSpPr>
        <p:spPr>
          <a:xfrm>
            <a:off x="4663440" y="3520440"/>
            <a:ext cx="228600" cy="228600"/>
          </a:xfrm>
          <a:prstGeom prst="rect">
            <a:avLst/>
          </a:prstGeom>
          <a:solidFill>
            <a:srgbClr val="E8D9B5"/>
          </a:solidFill>
          <a:ln w="6350">
            <a:solidFill>
              <a:srgbClr val="FFFFFF"/>
            </a:solidFill>
            <a:prstDash val="solid"/>
          </a:ln>
        </p:spPr>
      </p:sp>
      <p:sp>
        <p:nvSpPr>
          <p:cNvPr id="198" name="Shape 196"/>
          <p:cNvSpPr/>
          <p:nvPr/>
        </p:nvSpPr>
        <p:spPr>
          <a:xfrm>
            <a:off x="4892040" y="3520440"/>
            <a:ext cx="228600" cy="228600"/>
          </a:xfrm>
          <a:prstGeom prst="rect">
            <a:avLst/>
          </a:prstGeom>
          <a:solidFill>
            <a:srgbClr val="E8D9B5"/>
          </a:solidFill>
          <a:ln w="6350">
            <a:solidFill>
              <a:srgbClr val="FFFFFF"/>
            </a:solidFill>
            <a:prstDash val="solid"/>
          </a:ln>
        </p:spPr>
      </p:sp>
      <p:sp>
        <p:nvSpPr>
          <p:cNvPr id="199" name="Shape 197"/>
          <p:cNvSpPr/>
          <p:nvPr/>
        </p:nvSpPr>
        <p:spPr>
          <a:xfrm>
            <a:off x="5120640" y="3520440"/>
            <a:ext cx="228600" cy="228600"/>
          </a:xfrm>
          <a:prstGeom prst="rect">
            <a:avLst/>
          </a:prstGeom>
          <a:solidFill>
            <a:srgbClr val="E8D9B5"/>
          </a:solidFill>
          <a:ln w="6350">
            <a:solidFill>
              <a:srgbClr val="FFFFFF"/>
            </a:solidFill>
            <a:prstDash val="solid"/>
          </a:ln>
        </p:spPr>
      </p:sp>
      <p:sp>
        <p:nvSpPr>
          <p:cNvPr id="200" name="Shape 198"/>
          <p:cNvSpPr/>
          <p:nvPr/>
        </p:nvSpPr>
        <p:spPr>
          <a:xfrm>
            <a:off x="5349240" y="3520440"/>
            <a:ext cx="228600" cy="228600"/>
          </a:xfrm>
          <a:prstGeom prst="rect">
            <a:avLst/>
          </a:prstGeom>
          <a:solidFill>
            <a:srgbClr val="E8D9B5"/>
          </a:solidFill>
          <a:ln w="6350">
            <a:solidFill>
              <a:srgbClr val="FFFFFF"/>
            </a:solidFill>
            <a:prstDash val="solid"/>
          </a:ln>
        </p:spPr>
      </p:sp>
      <p:sp>
        <p:nvSpPr>
          <p:cNvPr id="201" name="Shape 199"/>
          <p:cNvSpPr/>
          <p:nvPr/>
        </p:nvSpPr>
        <p:spPr>
          <a:xfrm>
            <a:off x="5577840" y="3520440"/>
            <a:ext cx="228600" cy="228600"/>
          </a:xfrm>
          <a:prstGeom prst="rect">
            <a:avLst/>
          </a:prstGeom>
          <a:solidFill>
            <a:srgbClr val="E8D9B5"/>
          </a:solidFill>
          <a:ln w="6350">
            <a:solidFill>
              <a:srgbClr val="FFFFFF"/>
            </a:solidFill>
            <a:prstDash val="solid"/>
          </a:ln>
        </p:spPr>
      </p:sp>
      <p:sp>
        <p:nvSpPr>
          <p:cNvPr id="202" name="Shape 200"/>
          <p:cNvSpPr/>
          <p:nvPr/>
        </p:nvSpPr>
        <p:spPr>
          <a:xfrm>
            <a:off x="3520440" y="3749040"/>
            <a:ext cx="228600" cy="228600"/>
          </a:xfrm>
          <a:prstGeom prst="rect">
            <a:avLst/>
          </a:prstGeom>
          <a:solidFill>
            <a:srgbClr val="E8D9B5"/>
          </a:solidFill>
          <a:ln w="6350">
            <a:solidFill>
              <a:srgbClr val="FFFFFF"/>
            </a:solidFill>
            <a:prstDash val="solid"/>
          </a:ln>
        </p:spPr>
      </p:sp>
      <p:sp>
        <p:nvSpPr>
          <p:cNvPr id="203" name="Shape 201"/>
          <p:cNvSpPr/>
          <p:nvPr/>
        </p:nvSpPr>
        <p:spPr>
          <a:xfrm>
            <a:off x="3749040" y="3749040"/>
            <a:ext cx="228600" cy="228600"/>
          </a:xfrm>
          <a:prstGeom prst="rect">
            <a:avLst/>
          </a:prstGeom>
          <a:solidFill>
            <a:srgbClr val="E8D9B5"/>
          </a:solidFill>
          <a:ln w="6350">
            <a:solidFill>
              <a:srgbClr val="FFFFFF"/>
            </a:solidFill>
            <a:prstDash val="solid"/>
          </a:ln>
        </p:spPr>
      </p:sp>
      <p:sp>
        <p:nvSpPr>
          <p:cNvPr id="204" name="Shape 202"/>
          <p:cNvSpPr/>
          <p:nvPr/>
        </p:nvSpPr>
        <p:spPr>
          <a:xfrm>
            <a:off x="3977640" y="3749040"/>
            <a:ext cx="228600" cy="228600"/>
          </a:xfrm>
          <a:prstGeom prst="rect">
            <a:avLst/>
          </a:prstGeom>
          <a:solidFill>
            <a:srgbClr val="E8D9B5"/>
          </a:solidFill>
          <a:ln w="6350">
            <a:solidFill>
              <a:srgbClr val="FFFFFF"/>
            </a:solidFill>
            <a:prstDash val="solid"/>
          </a:ln>
        </p:spPr>
      </p:sp>
      <p:sp>
        <p:nvSpPr>
          <p:cNvPr id="205" name="Shape 203"/>
          <p:cNvSpPr/>
          <p:nvPr/>
        </p:nvSpPr>
        <p:spPr>
          <a:xfrm>
            <a:off x="4206240" y="3749040"/>
            <a:ext cx="228600" cy="228600"/>
          </a:xfrm>
          <a:prstGeom prst="rect">
            <a:avLst/>
          </a:prstGeom>
          <a:solidFill>
            <a:srgbClr val="E8D9B5"/>
          </a:solidFill>
          <a:ln w="6350">
            <a:solidFill>
              <a:srgbClr val="FFFFFF"/>
            </a:solidFill>
            <a:prstDash val="solid"/>
          </a:ln>
        </p:spPr>
      </p:sp>
      <p:sp>
        <p:nvSpPr>
          <p:cNvPr id="206" name="Shape 204"/>
          <p:cNvSpPr/>
          <p:nvPr/>
        </p:nvSpPr>
        <p:spPr>
          <a:xfrm>
            <a:off x="4434840" y="3749040"/>
            <a:ext cx="228600" cy="228600"/>
          </a:xfrm>
          <a:prstGeom prst="rect">
            <a:avLst/>
          </a:prstGeom>
          <a:solidFill>
            <a:srgbClr val="E8D9B5"/>
          </a:solidFill>
          <a:ln w="6350">
            <a:solidFill>
              <a:srgbClr val="FFFFFF"/>
            </a:solidFill>
            <a:prstDash val="solid"/>
          </a:ln>
        </p:spPr>
      </p:sp>
      <p:sp>
        <p:nvSpPr>
          <p:cNvPr id="207" name="Shape 205"/>
          <p:cNvSpPr/>
          <p:nvPr/>
        </p:nvSpPr>
        <p:spPr>
          <a:xfrm>
            <a:off x="4663440" y="3749040"/>
            <a:ext cx="228600" cy="228600"/>
          </a:xfrm>
          <a:prstGeom prst="rect">
            <a:avLst/>
          </a:prstGeom>
          <a:solidFill>
            <a:srgbClr val="E8D9B5"/>
          </a:solidFill>
          <a:ln w="6350">
            <a:solidFill>
              <a:srgbClr val="FFFFFF"/>
            </a:solidFill>
            <a:prstDash val="solid"/>
          </a:ln>
        </p:spPr>
      </p:sp>
      <p:sp>
        <p:nvSpPr>
          <p:cNvPr id="208" name="Shape 206"/>
          <p:cNvSpPr/>
          <p:nvPr/>
        </p:nvSpPr>
        <p:spPr>
          <a:xfrm>
            <a:off x="4892040" y="3749040"/>
            <a:ext cx="228600" cy="228600"/>
          </a:xfrm>
          <a:prstGeom prst="rect">
            <a:avLst/>
          </a:prstGeom>
          <a:solidFill>
            <a:srgbClr val="E8D9B5"/>
          </a:solidFill>
          <a:ln w="6350">
            <a:solidFill>
              <a:srgbClr val="FFFFFF"/>
            </a:solidFill>
            <a:prstDash val="solid"/>
          </a:ln>
        </p:spPr>
      </p:sp>
      <p:sp>
        <p:nvSpPr>
          <p:cNvPr id="209" name="Shape 207"/>
          <p:cNvSpPr/>
          <p:nvPr/>
        </p:nvSpPr>
        <p:spPr>
          <a:xfrm>
            <a:off x="5120640" y="3749040"/>
            <a:ext cx="228600" cy="228600"/>
          </a:xfrm>
          <a:prstGeom prst="rect">
            <a:avLst/>
          </a:prstGeom>
          <a:solidFill>
            <a:srgbClr val="E8D9B5"/>
          </a:solidFill>
          <a:ln w="6350">
            <a:solidFill>
              <a:srgbClr val="FFFFFF"/>
            </a:solidFill>
            <a:prstDash val="solid"/>
          </a:ln>
        </p:spPr>
      </p:sp>
      <p:sp>
        <p:nvSpPr>
          <p:cNvPr id="210" name="Shape 208"/>
          <p:cNvSpPr/>
          <p:nvPr/>
        </p:nvSpPr>
        <p:spPr>
          <a:xfrm>
            <a:off x="5349240" y="3749040"/>
            <a:ext cx="228600" cy="228600"/>
          </a:xfrm>
          <a:prstGeom prst="rect">
            <a:avLst/>
          </a:prstGeom>
          <a:solidFill>
            <a:srgbClr val="E8D9B5"/>
          </a:solidFill>
          <a:ln w="6350">
            <a:solidFill>
              <a:srgbClr val="FFFFFF"/>
            </a:solidFill>
            <a:prstDash val="solid"/>
          </a:ln>
        </p:spPr>
      </p:sp>
      <p:sp>
        <p:nvSpPr>
          <p:cNvPr id="211" name="Shape 209"/>
          <p:cNvSpPr/>
          <p:nvPr/>
        </p:nvSpPr>
        <p:spPr>
          <a:xfrm>
            <a:off x="5577840" y="3749040"/>
            <a:ext cx="228600" cy="228600"/>
          </a:xfrm>
          <a:prstGeom prst="rect">
            <a:avLst/>
          </a:prstGeom>
          <a:solidFill>
            <a:srgbClr val="E8D9B5"/>
          </a:solidFill>
          <a:ln w="6350">
            <a:solidFill>
              <a:srgbClr val="FFFFFF"/>
            </a:solidFill>
            <a:prstDash val="solid"/>
          </a:ln>
        </p:spPr>
      </p:sp>
      <p:sp>
        <p:nvSpPr>
          <p:cNvPr id="212" name="Shape 210"/>
          <p:cNvSpPr/>
          <p:nvPr/>
        </p:nvSpPr>
        <p:spPr>
          <a:xfrm>
            <a:off x="3063240" y="2834640"/>
            <a:ext cx="365760" cy="91"/>
          </a:xfrm>
          <a:prstGeom prst="line">
            <a:avLst/>
          </a:prstGeom>
          <a:noFill/>
          <a:ln w="25400">
            <a:solidFill>
              <a:srgbClr val="133536"/>
            </a:solidFill>
            <a:prstDash val="solid"/>
            <a:tailEnd type="triangle"/>
          </a:ln>
        </p:spPr>
      </p:sp>
      <p:sp>
        <p:nvSpPr>
          <p:cNvPr id="213" name="Shape 211"/>
          <p:cNvSpPr/>
          <p:nvPr/>
        </p:nvSpPr>
        <p:spPr>
          <a:xfrm>
            <a:off x="731520" y="4251960"/>
            <a:ext cx="228600" cy="228600"/>
          </a:xfrm>
          <a:prstGeom prst="rect">
            <a:avLst/>
          </a:prstGeom>
          <a:solidFill>
            <a:srgbClr val="4E9A3E"/>
          </a:solidFill>
          <a:ln/>
        </p:spPr>
      </p:sp>
      <p:sp>
        <p:nvSpPr>
          <p:cNvPr id="214" name="Text 212"/>
          <p:cNvSpPr/>
          <p:nvPr/>
        </p:nvSpPr>
        <p:spPr>
          <a:xfrm>
            <a:off x="1005840" y="4233672"/>
            <a:ext cx="91440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forest</a:t>
            </a:r>
            <a:endParaRPr lang="en-US" sz="1000" dirty="0"/>
          </a:p>
        </p:txBody>
      </p:sp>
      <p:sp>
        <p:nvSpPr>
          <p:cNvPr id="215" name="Shape 213"/>
          <p:cNvSpPr/>
          <p:nvPr/>
        </p:nvSpPr>
        <p:spPr>
          <a:xfrm>
            <a:off x="1828800" y="4251960"/>
            <a:ext cx="228600" cy="228600"/>
          </a:xfrm>
          <a:prstGeom prst="rect">
            <a:avLst/>
          </a:prstGeom>
          <a:solidFill>
            <a:srgbClr val="E8D9B5"/>
          </a:solidFill>
          <a:ln/>
        </p:spPr>
      </p:sp>
      <p:sp>
        <p:nvSpPr>
          <p:cNvPr id="216" name="Text 214"/>
          <p:cNvSpPr/>
          <p:nvPr/>
        </p:nvSpPr>
        <p:spPr>
          <a:xfrm>
            <a:off x="2103120" y="4233672"/>
            <a:ext cx="201168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farmland, roads, housing</a:t>
            </a:r>
            <a:endParaRPr lang="en-US" sz="1000" dirty="0"/>
          </a:p>
        </p:txBody>
      </p:sp>
      <p:sp>
        <p:nvSpPr>
          <p:cNvPr id="217" name="Text 215"/>
          <p:cNvSpPr/>
          <p:nvPr/>
        </p:nvSpPr>
        <p:spPr>
          <a:xfrm>
            <a:off x="685800" y="4572000"/>
            <a:ext cx="5120640" cy="50292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The forest left is in </a:t>
            </a:r>
            <a:r>
              <a:rPr lang="en-US" sz="1050" b="1" dirty="0">
                <a:solidFill>
                  <a:srgbClr val="262B3A"/>
                </a:solidFill>
                <a:latin typeface="Calibri" pitchFamily="34" charset="0"/>
                <a:ea typeface="Calibri" pitchFamily="34" charset="-122"/>
                <a:cs typeface="Calibri" pitchFamily="34" charset="-120"/>
              </a:rPr>
              <a:t>small, separate fragments</a:t>
            </a:r>
            <a:r>
              <a:rPr lang="en-US" sz="1050" dirty="0">
                <a:solidFill>
                  <a:srgbClr val="262B3A"/>
                </a:solidFill>
                <a:latin typeface="Calibri" pitchFamily="34" charset="0"/>
                <a:ea typeface="Calibri" pitchFamily="34" charset="-122"/>
                <a:cs typeface="Calibri" pitchFamily="34" charset="-120"/>
              </a:rPr>
              <a:t>: animals cannot move between them, and populations are small.</a:t>
            </a:r>
            <a:endParaRPr lang="en-US" sz="1050" dirty="0"/>
          </a:p>
        </p:txBody>
      </p:sp>
      <p:sp>
        <p:nvSpPr>
          <p:cNvPr id="218" name="Shape 216"/>
          <p:cNvSpPr/>
          <p:nvPr/>
        </p:nvSpPr>
        <p:spPr>
          <a:xfrm>
            <a:off x="6217920" y="1188720"/>
            <a:ext cx="5559552" cy="2697480"/>
          </a:xfrm>
          <a:prstGeom prst="roundRect">
            <a:avLst>
              <a:gd name="adj" fmla="val 2034"/>
            </a:avLst>
          </a:prstGeom>
          <a:solidFill>
            <a:srgbClr val="F4FAF9"/>
          </a:solidFill>
          <a:ln w="9525">
            <a:solidFill>
              <a:srgbClr val="CFE0DE"/>
            </a:solidFill>
            <a:prstDash val="solid"/>
          </a:ln>
        </p:spPr>
      </p:sp>
      <p:sp>
        <p:nvSpPr>
          <p:cNvPr id="219" name="Text 21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we destroy habitats</a:t>
            </a:r>
            <a:endParaRPr lang="en-US" sz="1300" dirty="0"/>
          </a:p>
        </p:txBody>
      </p:sp>
      <p:sp>
        <p:nvSpPr>
          <p:cNvPr id="220" name="Text 218"/>
          <p:cNvSpPr/>
          <p:nvPr/>
        </p:nvSpPr>
        <p:spPr>
          <a:xfrm>
            <a:off x="6382512" y="1609344"/>
            <a:ext cx="5230368" cy="22037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Deforestation</a:t>
            </a:r>
            <a:r>
              <a:rPr lang="en-US" sz="1100" dirty="0">
                <a:solidFill>
                  <a:srgbClr val="262B3A"/>
                </a:solidFill>
                <a:latin typeface="Calibri" pitchFamily="34" charset="0"/>
                <a:ea typeface="Calibri" pitchFamily="34" charset="-122"/>
                <a:cs typeface="Calibri" pitchFamily="34" charset="-120"/>
              </a:rPr>
              <a:t>: forests cleared for farming (cattle, soya, palm oil), timber and roads.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Building</a:t>
            </a:r>
            <a:r>
              <a:rPr lang="en-US" sz="1100" dirty="0">
                <a:solidFill>
                  <a:srgbClr val="262B3A"/>
                </a:solidFill>
                <a:latin typeface="Calibri" pitchFamily="34" charset="0"/>
                <a:ea typeface="Calibri" pitchFamily="34" charset="-122"/>
                <a:cs typeface="Calibri" pitchFamily="34" charset="-120"/>
              </a:rPr>
              <a:t>: housing, industry, quarries and landfill take land.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Peat bogs</a:t>
            </a:r>
            <a:r>
              <a:rPr lang="en-US" sz="1100" dirty="0">
                <a:solidFill>
                  <a:srgbClr val="262B3A"/>
                </a:solidFill>
                <a:latin typeface="Calibri" pitchFamily="34" charset="0"/>
                <a:ea typeface="Calibri" pitchFamily="34" charset="-122"/>
                <a:cs typeface="Calibri" pitchFamily="34" charset="-120"/>
              </a:rPr>
              <a:t> drained and dug for compost: habitats lost and stored </a:t>
            </a:r>
            <a:r>
              <a:rPr lang="en-US" sz="1100" b="1" dirty="0">
                <a:solidFill>
                  <a:srgbClr val="262B3A"/>
                </a:solidFill>
                <a:latin typeface="Calibri" pitchFamily="34" charset="0"/>
                <a:ea typeface="Calibri" pitchFamily="34" charset="-122"/>
                <a:cs typeface="Calibri" pitchFamily="34" charset="-120"/>
              </a:rPr>
              <a:t>carbon</a:t>
            </a:r>
            <a:r>
              <a:rPr lang="en-US" sz="1100" dirty="0">
                <a:solidFill>
                  <a:srgbClr val="262B3A"/>
                </a:solidFill>
                <a:latin typeface="Calibri" pitchFamily="34" charset="0"/>
                <a:ea typeface="Calibri" pitchFamily="34" charset="-122"/>
                <a:cs typeface="Calibri" pitchFamily="34" charset="-120"/>
              </a:rPr>
              <a:t> released as CO₂.</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Hedgerows</a:t>
            </a:r>
            <a:r>
              <a:rPr lang="en-US" sz="1100" dirty="0">
                <a:solidFill>
                  <a:srgbClr val="262B3A"/>
                </a:solidFill>
                <a:latin typeface="Calibri" pitchFamily="34" charset="0"/>
                <a:ea typeface="Calibri" pitchFamily="34" charset="-122"/>
                <a:cs typeface="Calibri" pitchFamily="34" charset="-120"/>
              </a:rPr>
              <a:t> removed to make bigger fields: fewer nesting sites and wildlife corridors.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Fewer habitats → fewer species. A species that loses all its habitat dies out: </a:t>
            </a:r>
            <a:r>
              <a:rPr lang="en-US" sz="1100" b="1" dirty="0">
                <a:solidFill>
                  <a:srgbClr val="262B3A"/>
                </a:solidFill>
                <a:latin typeface="Calibri" pitchFamily="34" charset="0"/>
                <a:ea typeface="Calibri" pitchFamily="34" charset="-122"/>
                <a:cs typeface="Calibri" pitchFamily="34" charset="-120"/>
              </a:rPr>
              <a:t>extinction</a:t>
            </a:r>
            <a:r>
              <a:rPr lang="en-US" sz="1100" dirty="0">
                <a:solidFill>
                  <a:srgbClr val="262B3A"/>
                </a:solidFill>
                <a:latin typeface="Calibri" pitchFamily="34" charset="0"/>
                <a:ea typeface="Calibri" pitchFamily="34" charset="-122"/>
                <a:cs typeface="Calibri" pitchFamily="34" charset="-120"/>
              </a:rPr>
              <a:t> (none left anywhere).</a:t>
            </a:r>
            <a:endParaRPr lang="en-US" sz="1100" dirty="0"/>
          </a:p>
        </p:txBody>
      </p:sp>
      <p:sp>
        <p:nvSpPr>
          <p:cNvPr id="221" name="Shape 219"/>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222" name="Text 220"/>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of forest lost</a:t>
            </a:r>
            <a:endParaRPr lang="en-US" sz="1300" dirty="0"/>
          </a:p>
        </p:txBody>
      </p:sp>
      <p:sp>
        <p:nvSpPr>
          <p:cNvPr id="223" name="Text 221"/>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two grids.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Lost   </a:t>
            </a:r>
            <a:r>
              <a:rPr lang="en-US" sz="1050" dirty="0">
                <a:solidFill>
                  <a:srgbClr val="262B3A"/>
                </a:solidFill>
                <a:latin typeface="Calibri" pitchFamily="34" charset="0"/>
                <a:ea typeface="Calibri" pitchFamily="34" charset="-122"/>
                <a:cs typeface="Calibri" pitchFamily="34" charset="-120"/>
              </a:rPr>
              <a:t>80 − 44 = 36 km²</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36 ÷ 80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45%</a:t>
            </a:r>
            <a:r>
              <a:rPr lang="en-US" sz="1050" b="1" dirty="0">
                <a:solidFill>
                  <a:srgbClr val="C8414C"/>
                </a:solidFill>
                <a:latin typeface="Calibri" pitchFamily="34" charset="0"/>
                <a:ea typeface="Calibri" pitchFamily="34" charset="-122"/>
                <a:cs typeface="Calibri" pitchFamily="34" charset="-120"/>
              </a:rPr>
              <a:t> of the forest was lost</a:t>
            </a:r>
            <a:endParaRPr lang="en-US" sz="1050" dirty="0"/>
          </a:p>
        </p:txBody>
      </p:sp>
      <p:sp>
        <p:nvSpPr>
          <p:cNvPr id="224" name="Shape 222"/>
          <p:cNvSpPr/>
          <p:nvPr/>
        </p:nvSpPr>
        <p:spPr>
          <a:xfrm>
            <a:off x="411480" y="5833872"/>
            <a:ext cx="11368735" cy="530352"/>
          </a:xfrm>
          <a:prstGeom prst="rect">
            <a:avLst/>
          </a:prstGeom>
          <a:solidFill>
            <a:srgbClr val="FFF4E0"/>
          </a:solidFill>
          <a:ln w="6350">
            <a:solidFill>
              <a:srgbClr val="F1D9A8"/>
            </a:solidFill>
            <a:prstDash val="solid"/>
          </a:ln>
        </p:spPr>
      </p:sp>
      <p:sp>
        <p:nvSpPr>
          <p:cNvPr id="225" name="Shape 223"/>
          <p:cNvSpPr/>
          <p:nvPr/>
        </p:nvSpPr>
        <p:spPr>
          <a:xfrm>
            <a:off x="411480" y="5833872"/>
            <a:ext cx="82296" cy="530352"/>
          </a:xfrm>
          <a:prstGeom prst="rect">
            <a:avLst/>
          </a:prstGeom>
          <a:solidFill>
            <a:srgbClr val="E39A2F"/>
          </a:solidFill>
          <a:ln w="12700">
            <a:solidFill>
              <a:srgbClr val="E39A2F"/>
            </a:solidFill>
            <a:prstDash val="solid"/>
          </a:ln>
        </p:spPr>
      </p:sp>
      <p:sp>
        <p:nvSpPr>
          <p:cNvPr id="226" name="Text 22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why forests are cleared. A forest shrinks from </a:t>
            </a:r>
            <a:r>
              <a:rPr lang="en-US" sz="1150" b="1" dirty="0">
                <a:solidFill>
                  <a:srgbClr val="262B3A"/>
                </a:solidFill>
                <a:latin typeface="Calibri" pitchFamily="34" charset="0"/>
                <a:ea typeface="Calibri" pitchFamily="34" charset="-122"/>
                <a:cs typeface="Calibri" pitchFamily="34" charset="-120"/>
              </a:rPr>
              <a:t>60</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45 km²</a:t>
            </a:r>
            <a:r>
              <a:rPr lang="en-US" sz="1150" dirty="0">
                <a:solidFill>
                  <a:srgbClr val="262B3A"/>
                </a:solidFill>
                <a:latin typeface="Calibri" pitchFamily="34" charset="0"/>
                <a:ea typeface="Calibri" pitchFamily="34" charset="-122"/>
                <a:cs typeface="Calibri" pitchFamily="34" charset="-120"/>
              </a:rPr>
              <a:t>. What percentage is lost?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Threats 2: pollution, overuse, invaders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 more negative human interactions and their impact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B6.3.1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eutrophication of a lake (top); red and grey squirrels (bottom); not to scale</a:t>
            </a:r>
            <a:endParaRPr lang="en-US" sz="1000" dirty="0"/>
          </a:p>
        </p:txBody>
      </p:sp>
      <p:sp>
        <p:nvSpPr>
          <p:cNvPr id="10" name="Shape 8"/>
          <p:cNvSpPr/>
          <p:nvPr/>
        </p:nvSpPr>
        <p:spPr>
          <a:xfrm>
            <a:off x="822960" y="1417320"/>
            <a:ext cx="2286000" cy="1737360"/>
          </a:xfrm>
          <a:prstGeom prst="roundRect">
            <a:avLst>
              <a:gd name="adj" fmla="val 4211"/>
            </a:avLst>
          </a:prstGeom>
          <a:solidFill>
            <a:srgbClr val="BFD9F2"/>
          </a:solidFill>
          <a:ln w="15875">
            <a:solidFill>
              <a:srgbClr val="5B9BD5"/>
            </a:solidFill>
            <a:prstDash val="solid"/>
          </a:ln>
        </p:spPr>
      </p:sp>
      <p:sp>
        <p:nvSpPr>
          <p:cNvPr id="11" name="Shape 9"/>
          <p:cNvSpPr/>
          <p:nvPr/>
        </p:nvSpPr>
        <p:spPr>
          <a:xfrm>
            <a:off x="822960" y="1417320"/>
            <a:ext cx="2286000" cy="201168"/>
          </a:xfrm>
          <a:prstGeom prst="rect">
            <a:avLst/>
          </a:prstGeom>
          <a:solidFill>
            <a:srgbClr val="7DBE6A"/>
          </a:solidFill>
          <a:ln w="9525">
            <a:solidFill>
              <a:srgbClr val="3E7F2E"/>
            </a:solidFill>
            <a:prstDash val="solid"/>
          </a:ln>
        </p:spPr>
      </p:sp>
      <p:sp>
        <p:nvSpPr>
          <p:cNvPr id="12" name="Text 10"/>
          <p:cNvSpPr/>
          <p:nvPr/>
        </p:nvSpPr>
        <p:spPr>
          <a:xfrm>
            <a:off x="822960" y="1417320"/>
            <a:ext cx="2286000" cy="201168"/>
          </a:xfrm>
          <a:prstGeom prst="rect">
            <a:avLst/>
          </a:prstGeom>
          <a:noFill/>
          <a:ln/>
        </p:spPr>
        <p:txBody>
          <a:bodyPr wrap="square" lIns="0" tIns="0" rIns="0" bIns="0" rtlCol="0" anchor="ctr"/>
          <a:lstStyle/>
          <a:p>
            <a:pPr algn="ctr" indent="0" marL="0">
              <a:buNone/>
            </a:pPr>
            <a:r>
              <a:rPr lang="en-US" sz="1000" b="1" dirty="0">
                <a:solidFill>
                  <a:srgbClr val="1E4D14"/>
                </a:solidFill>
                <a:latin typeface="Calibri" pitchFamily="34" charset="0"/>
                <a:ea typeface="Calibri" pitchFamily="34" charset="-122"/>
                <a:cs typeface="Calibri" pitchFamily="34" charset="-120"/>
              </a:rPr>
              <a:t>algal bloom</a:t>
            </a:r>
            <a:endParaRPr lang="en-US" sz="1000" dirty="0"/>
          </a:p>
        </p:txBody>
      </p:sp>
      <p:sp>
        <p:nvSpPr>
          <p:cNvPr id="13" name="Shape 11"/>
          <p:cNvSpPr/>
          <p:nvPr/>
        </p:nvSpPr>
        <p:spPr>
          <a:xfrm>
            <a:off x="502920" y="1828800"/>
            <a:ext cx="457200" cy="91"/>
          </a:xfrm>
          <a:prstGeom prst="line">
            <a:avLst/>
          </a:prstGeom>
          <a:noFill/>
          <a:ln w="19050">
            <a:solidFill>
              <a:srgbClr val="7A5520"/>
            </a:solidFill>
            <a:prstDash val="solid"/>
            <a:tailEnd type="triangle"/>
          </a:ln>
        </p:spPr>
      </p:sp>
      <p:sp>
        <p:nvSpPr>
          <p:cNvPr id="14" name="Text 12"/>
          <p:cNvSpPr/>
          <p:nvPr/>
        </p:nvSpPr>
        <p:spPr>
          <a:xfrm>
            <a:off x="1005840" y="1664208"/>
            <a:ext cx="1554480" cy="219456"/>
          </a:xfrm>
          <a:prstGeom prst="rect">
            <a:avLst/>
          </a:prstGeom>
          <a:noFill/>
          <a:ln/>
        </p:spPr>
        <p:txBody>
          <a:bodyPr wrap="square" lIns="0" tIns="0" rIns="0" bIns="0" rtlCol="0" anchor="ctr"/>
          <a:lstStyle/>
          <a:p>
            <a:pPr algn="l" indent="0" marL="0">
              <a:buNone/>
            </a:pPr>
            <a:r>
              <a:rPr lang="en-US" sz="1000" b="1" dirty="0">
                <a:solidFill>
                  <a:srgbClr val="7A5520"/>
                </a:solidFill>
                <a:latin typeface="Calibri" pitchFamily="34" charset="0"/>
                <a:ea typeface="Calibri" pitchFamily="34" charset="-122"/>
                <a:cs typeface="Calibri" pitchFamily="34" charset="-120"/>
              </a:rPr>
              <a:t>run-off from fields</a:t>
            </a:r>
            <a:endParaRPr lang="en-US" sz="1000" dirty="0"/>
          </a:p>
        </p:txBody>
      </p:sp>
      <p:sp>
        <p:nvSpPr>
          <p:cNvPr id="15" name="Shape 13"/>
          <p:cNvSpPr/>
          <p:nvPr/>
        </p:nvSpPr>
        <p:spPr>
          <a:xfrm rot="5400000">
            <a:off x="996696" y="2208276"/>
            <a:ext cx="155448" cy="137160"/>
          </a:xfrm>
          <a:prstGeom prst="triangle">
            <a:avLst/>
          </a:prstGeom>
          <a:solidFill>
            <a:srgbClr val="9AA3B0"/>
          </a:solidFill>
          <a:ln w="9525">
            <a:solidFill>
              <a:srgbClr val="5A6275"/>
            </a:solidFill>
            <a:prstDash val="solid"/>
          </a:ln>
        </p:spPr>
      </p:sp>
      <p:sp>
        <p:nvSpPr>
          <p:cNvPr id="16" name="Shape 14"/>
          <p:cNvSpPr/>
          <p:nvPr/>
        </p:nvSpPr>
        <p:spPr>
          <a:xfrm>
            <a:off x="1051560" y="2189988"/>
            <a:ext cx="457200" cy="192024"/>
          </a:xfrm>
          <a:prstGeom prst="ellipse">
            <a:avLst/>
          </a:prstGeom>
          <a:solidFill>
            <a:srgbClr val="9AA3B0"/>
          </a:solidFill>
          <a:ln w="9525">
            <a:solidFill>
              <a:srgbClr val="5A6275"/>
            </a:solidFill>
            <a:prstDash val="solid"/>
          </a:ln>
        </p:spPr>
      </p:sp>
      <p:sp>
        <p:nvSpPr>
          <p:cNvPr id="17" name="Shape 15"/>
          <p:cNvSpPr/>
          <p:nvPr/>
        </p:nvSpPr>
        <p:spPr>
          <a:xfrm>
            <a:off x="1399032" y="2249424"/>
            <a:ext cx="36576" cy="36576"/>
          </a:xfrm>
          <a:prstGeom prst="ellipse">
            <a:avLst/>
          </a:prstGeom>
          <a:solidFill>
            <a:srgbClr val="133536"/>
          </a:solidFill>
          <a:ln w="9525">
            <a:solidFill>
              <a:srgbClr val="133536"/>
            </a:solidFill>
            <a:prstDash val="solid"/>
          </a:ln>
        </p:spPr>
      </p:sp>
      <p:sp>
        <p:nvSpPr>
          <p:cNvPr id="18" name="Shape 16"/>
          <p:cNvSpPr/>
          <p:nvPr/>
        </p:nvSpPr>
        <p:spPr>
          <a:xfrm rot="5400000">
            <a:off x="1939442" y="2581808"/>
            <a:ext cx="139903" cy="123444"/>
          </a:xfrm>
          <a:prstGeom prst="triangle">
            <a:avLst/>
          </a:prstGeom>
          <a:solidFill>
            <a:srgbClr val="9AA3B0"/>
          </a:solidFill>
          <a:ln w="9525">
            <a:solidFill>
              <a:srgbClr val="5A6275"/>
            </a:solidFill>
            <a:prstDash val="solid"/>
          </a:ln>
        </p:spPr>
      </p:sp>
      <p:sp>
        <p:nvSpPr>
          <p:cNvPr id="19" name="Shape 17"/>
          <p:cNvSpPr/>
          <p:nvPr/>
        </p:nvSpPr>
        <p:spPr>
          <a:xfrm>
            <a:off x="1988820" y="2565349"/>
            <a:ext cx="411480" cy="172822"/>
          </a:xfrm>
          <a:prstGeom prst="ellipse">
            <a:avLst/>
          </a:prstGeom>
          <a:solidFill>
            <a:srgbClr val="9AA3B0"/>
          </a:solidFill>
          <a:ln w="9525">
            <a:solidFill>
              <a:srgbClr val="5A6275"/>
            </a:solidFill>
            <a:prstDash val="solid"/>
          </a:ln>
        </p:spPr>
      </p:sp>
      <p:sp>
        <p:nvSpPr>
          <p:cNvPr id="20" name="Shape 18"/>
          <p:cNvSpPr/>
          <p:nvPr/>
        </p:nvSpPr>
        <p:spPr>
          <a:xfrm>
            <a:off x="2301545" y="2618842"/>
            <a:ext cx="32918" cy="32918"/>
          </a:xfrm>
          <a:prstGeom prst="ellipse">
            <a:avLst/>
          </a:prstGeom>
          <a:solidFill>
            <a:srgbClr val="133536"/>
          </a:solidFill>
          <a:ln w="9525">
            <a:solidFill>
              <a:srgbClr val="133536"/>
            </a:solidFill>
            <a:prstDash val="solid"/>
          </a:ln>
        </p:spPr>
      </p:sp>
      <p:sp>
        <p:nvSpPr>
          <p:cNvPr id="21" name="Text 19"/>
          <p:cNvSpPr/>
          <p:nvPr/>
        </p:nvSpPr>
        <p:spPr>
          <a:xfrm>
            <a:off x="685800" y="2788920"/>
            <a:ext cx="2377440" cy="274320"/>
          </a:xfrm>
          <a:prstGeom prst="rect">
            <a:avLst/>
          </a:prstGeom>
          <a:noFill/>
          <a:ln/>
        </p:spPr>
        <p:txBody>
          <a:bodyPr wrap="square" lIns="0" tIns="0" rIns="0" bIns="0" rtlCol="0" anchor="ctr"/>
          <a:lstStyle/>
          <a:p>
            <a:pPr algn="ctr" indent="0" marL="0">
              <a:buNone/>
            </a:pPr>
            <a:r>
              <a:rPr lang="en-US" sz="1000" dirty="0">
                <a:solidFill>
                  <a:srgbClr val="133536"/>
                </a:solidFill>
                <a:latin typeface="Calibri" pitchFamily="34" charset="0"/>
                <a:ea typeface="Calibri" pitchFamily="34" charset="-122"/>
                <a:cs typeface="Calibri" pitchFamily="34" charset="-120"/>
              </a:rPr>
              <a:t>dead fish: little </a:t>
            </a:r>
            <a:r>
              <a:rPr lang="en-US" sz="1000" b="1" dirty="0">
                <a:solidFill>
                  <a:srgbClr val="133536"/>
                </a:solidFill>
                <a:latin typeface="Calibri" pitchFamily="34" charset="0"/>
                <a:ea typeface="Calibri" pitchFamily="34" charset="-122"/>
                <a:cs typeface="Calibri" pitchFamily="34" charset="-120"/>
              </a:rPr>
              <a:t>oxygen</a:t>
            </a:r>
            <a:endParaRPr lang="en-US" sz="1000" dirty="0"/>
          </a:p>
        </p:txBody>
      </p:sp>
      <p:sp>
        <p:nvSpPr>
          <p:cNvPr id="22" name="Shape 20"/>
          <p:cNvSpPr/>
          <p:nvPr/>
        </p:nvSpPr>
        <p:spPr>
          <a:xfrm>
            <a:off x="3291840" y="1353312"/>
            <a:ext cx="2560320" cy="310896"/>
          </a:xfrm>
          <a:prstGeom prst="roundRect">
            <a:avLst>
              <a:gd name="adj" fmla="val 17647"/>
            </a:avLst>
          </a:prstGeom>
          <a:solidFill>
            <a:srgbClr val="EAF5E4"/>
          </a:solidFill>
          <a:ln w="9525">
            <a:solidFill>
              <a:srgbClr val="7DBE6A"/>
            </a:solidFill>
            <a:prstDash val="solid"/>
          </a:ln>
        </p:spPr>
      </p:sp>
      <p:sp>
        <p:nvSpPr>
          <p:cNvPr id="23" name="Text 21"/>
          <p:cNvSpPr/>
          <p:nvPr/>
        </p:nvSpPr>
        <p:spPr>
          <a:xfrm>
            <a:off x="3346704" y="1353312"/>
            <a:ext cx="2450592" cy="31089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 Fertiliser or sewage washes into the lake</a:t>
            </a:r>
            <a:endParaRPr lang="en-US" sz="1000" dirty="0"/>
          </a:p>
        </p:txBody>
      </p:sp>
      <p:sp>
        <p:nvSpPr>
          <p:cNvPr id="24" name="Shape 22"/>
          <p:cNvSpPr/>
          <p:nvPr/>
        </p:nvSpPr>
        <p:spPr>
          <a:xfrm>
            <a:off x="3291840" y="1719072"/>
            <a:ext cx="2560320" cy="310896"/>
          </a:xfrm>
          <a:prstGeom prst="roundRect">
            <a:avLst>
              <a:gd name="adj" fmla="val 17647"/>
            </a:avLst>
          </a:prstGeom>
          <a:solidFill>
            <a:srgbClr val="FFFFFF"/>
          </a:solidFill>
          <a:ln w="9525">
            <a:solidFill>
              <a:srgbClr val="7DBE6A"/>
            </a:solidFill>
            <a:prstDash val="solid"/>
          </a:ln>
        </p:spPr>
      </p:sp>
      <p:sp>
        <p:nvSpPr>
          <p:cNvPr id="25" name="Text 23"/>
          <p:cNvSpPr/>
          <p:nvPr/>
        </p:nvSpPr>
        <p:spPr>
          <a:xfrm>
            <a:off x="3346704" y="1719072"/>
            <a:ext cx="2450592" cy="31089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 Algae grow fast and cover the surface</a:t>
            </a:r>
            <a:endParaRPr lang="en-US" sz="1000" dirty="0"/>
          </a:p>
        </p:txBody>
      </p:sp>
      <p:sp>
        <p:nvSpPr>
          <p:cNvPr id="26" name="Shape 24"/>
          <p:cNvSpPr/>
          <p:nvPr/>
        </p:nvSpPr>
        <p:spPr>
          <a:xfrm>
            <a:off x="3291840" y="2084832"/>
            <a:ext cx="2560320" cy="310896"/>
          </a:xfrm>
          <a:prstGeom prst="roundRect">
            <a:avLst>
              <a:gd name="adj" fmla="val 17647"/>
            </a:avLst>
          </a:prstGeom>
          <a:solidFill>
            <a:srgbClr val="EAF5E4"/>
          </a:solidFill>
          <a:ln w="9525">
            <a:solidFill>
              <a:srgbClr val="7DBE6A"/>
            </a:solidFill>
            <a:prstDash val="solid"/>
          </a:ln>
        </p:spPr>
      </p:sp>
      <p:sp>
        <p:nvSpPr>
          <p:cNvPr id="27" name="Text 25"/>
          <p:cNvSpPr/>
          <p:nvPr/>
        </p:nvSpPr>
        <p:spPr>
          <a:xfrm>
            <a:off x="3346704" y="2084832"/>
            <a:ext cx="2450592" cy="31089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 Plants below get no light and die</a:t>
            </a:r>
            <a:endParaRPr lang="en-US" sz="1000" dirty="0"/>
          </a:p>
        </p:txBody>
      </p:sp>
      <p:sp>
        <p:nvSpPr>
          <p:cNvPr id="28" name="Shape 26"/>
          <p:cNvSpPr/>
          <p:nvPr/>
        </p:nvSpPr>
        <p:spPr>
          <a:xfrm>
            <a:off x="3291840" y="2450592"/>
            <a:ext cx="2560320" cy="310896"/>
          </a:xfrm>
          <a:prstGeom prst="roundRect">
            <a:avLst>
              <a:gd name="adj" fmla="val 17647"/>
            </a:avLst>
          </a:prstGeom>
          <a:solidFill>
            <a:srgbClr val="FFFFFF"/>
          </a:solidFill>
          <a:ln w="9525">
            <a:solidFill>
              <a:srgbClr val="7DBE6A"/>
            </a:solidFill>
            <a:prstDash val="solid"/>
          </a:ln>
        </p:spPr>
      </p:sp>
      <p:sp>
        <p:nvSpPr>
          <p:cNvPr id="29" name="Text 27"/>
          <p:cNvSpPr/>
          <p:nvPr/>
        </p:nvSpPr>
        <p:spPr>
          <a:xfrm>
            <a:off x="3346704" y="2450592"/>
            <a:ext cx="2450592" cy="31089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 Bacteria decompose them and use up oxygen</a:t>
            </a:r>
            <a:endParaRPr lang="en-US" sz="1000" dirty="0"/>
          </a:p>
        </p:txBody>
      </p:sp>
      <p:sp>
        <p:nvSpPr>
          <p:cNvPr id="30" name="Shape 28"/>
          <p:cNvSpPr/>
          <p:nvPr/>
        </p:nvSpPr>
        <p:spPr>
          <a:xfrm>
            <a:off x="3291840" y="2816352"/>
            <a:ext cx="2560320" cy="310896"/>
          </a:xfrm>
          <a:prstGeom prst="roundRect">
            <a:avLst>
              <a:gd name="adj" fmla="val 17647"/>
            </a:avLst>
          </a:prstGeom>
          <a:solidFill>
            <a:srgbClr val="EAF5E4"/>
          </a:solidFill>
          <a:ln w="9525">
            <a:solidFill>
              <a:srgbClr val="7DBE6A"/>
            </a:solidFill>
            <a:prstDash val="solid"/>
          </a:ln>
        </p:spPr>
      </p:sp>
      <p:sp>
        <p:nvSpPr>
          <p:cNvPr id="31" name="Text 29"/>
          <p:cNvSpPr/>
          <p:nvPr/>
        </p:nvSpPr>
        <p:spPr>
          <a:xfrm>
            <a:off x="3346704" y="2816352"/>
            <a:ext cx="2450592" cy="31089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 Fish and other animals die</a:t>
            </a:r>
            <a:endParaRPr lang="en-US" sz="1000" dirty="0"/>
          </a:p>
        </p:txBody>
      </p:sp>
      <p:sp>
        <p:nvSpPr>
          <p:cNvPr id="32" name="Shape 30"/>
          <p:cNvSpPr/>
          <p:nvPr/>
        </p:nvSpPr>
        <p:spPr>
          <a:xfrm>
            <a:off x="548640" y="3291840"/>
            <a:ext cx="5303520" cy="91"/>
          </a:xfrm>
          <a:prstGeom prst="line">
            <a:avLst/>
          </a:prstGeom>
          <a:noFill/>
          <a:ln w="12700">
            <a:solidFill>
              <a:srgbClr val="CFE0DE"/>
            </a:solidFill>
            <a:prstDash val="dash"/>
          </a:ln>
        </p:spPr>
      </p:sp>
      <p:sp>
        <p:nvSpPr>
          <p:cNvPr id="33" name="Shape 31"/>
          <p:cNvSpPr/>
          <p:nvPr/>
        </p:nvSpPr>
        <p:spPr>
          <a:xfrm rot="1200000">
            <a:off x="1380744" y="3657600"/>
            <a:ext cx="292608" cy="548640"/>
          </a:xfrm>
          <a:prstGeom prst="ellipse">
            <a:avLst/>
          </a:prstGeom>
          <a:solidFill>
            <a:srgbClr val="C0602A"/>
          </a:solidFill>
          <a:ln w="9525">
            <a:solidFill>
              <a:srgbClr val="7A3A16"/>
            </a:solidFill>
            <a:prstDash val="solid"/>
          </a:ln>
        </p:spPr>
      </p:sp>
      <p:sp>
        <p:nvSpPr>
          <p:cNvPr id="34" name="Shape 32"/>
          <p:cNvSpPr/>
          <p:nvPr/>
        </p:nvSpPr>
        <p:spPr>
          <a:xfrm>
            <a:off x="1042416" y="3977640"/>
            <a:ext cx="384048" cy="274320"/>
          </a:xfrm>
          <a:prstGeom prst="ellipse">
            <a:avLst/>
          </a:prstGeom>
          <a:solidFill>
            <a:srgbClr val="C0602A"/>
          </a:solidFill>
          <a:ln w="9525">
            <a:solidFill>
              <a:srgbClr val="7A3A16"/>
            </a:solidFill>
            <a:prstDash val="solid"/>
          </a:ln>
        </p:spPr>
      </p:sp>
      <p:sp>
        <p:nvSpPr>
          <p:cNvPr id="35" name="Shape 33"/>
          <p:cNvSpPr/>
          <p:nvPr/>
        </p:nvSpPr>
        <p:spPr>
          <a:xfrm>
            <a:off x="932688" y="3877056"/>
            <a:ext cx="201168" cy="201168"/>
          </a:xfrm>
          <a:prstGeom prst="ellipse">
            <a:avLst/>
          </a:prstGeom>
          <a:solidFill>
            <a:srgbClr val="C0602A"/>
          </a:solidFill>
          <a:ln w="9525">
            <a:solidFill>
              <a:srgbClr val="7A3A16"/>
            </a:solidFill>
            <a:prstDash val="solid"/>
          </a:ln>
        </p:spPr>
      </p:sp>
      <p:sp>
        <p:nvSpPr>
          <p:cNvPr id="36" name="Shape 34"/>
          <p:cNvSpPr/>
          <p:nvPr/>
        </p:nvSpPr>
        <p:spPr>
          <a:xfrm>
            <a:off x="1014984" y="3813048"/>
            <a:ext cx="73152" cy="91440"/>
          </a:xfrm>
          <a:prstGeom prst="triangle">
            <a:avLst/>
          </a:prstGeom>
          <a:solidFill>
            <a:srgbClr val="C0602A"/>
          </a:solidFill>
          <a:ln w="6350">
            <a:solidFill>
              <a:srgbClr val="7A3A16"/>
            </a:solidFill>
            <a:prstDash val="solid"/>
          </a:ln>
        </p:spPr>
      </p:sp>
      <p:sp>
        <p:nvSpPr>
          <p:cNvPr id="37" name="Shape 35"/>
          <p:cNvSpPr/>
          <p:nvPr/>
        </p:nvSpPr>
        <p:spPr>
          <a:xfrm>
            <a:off x="972922" y="3935578"/>
            <a:ext cx="47549" cy="47549"/>
          </a:xfrm>
          <a:prstGeom prst="ellipse">
            <a:avLst/>
          </a:prstGeom>
          <a:solidFill>
            <a:srgbClr val="133536"/>
          </a:solidFill>
          <a:ln w="9525">
            <a:solidFill>
              <a:srgbClr val="133536"/>
            </a:solidFill>
            <a:prstDash val="solid"/>
          </a:ln>
        </p:spPr>
      </p:sp>
      <p:sp>
        <p:nvSpPr>
          <p:cNvPr id="38" name="Shape 36"/>
          <p:cNvSpPr/>
          <p:nvPr/>
        </p:nvSpPr>
        <p:spPr>
          <a:xfrm rot="1200000">
            <a:off x="2926080" y="3543300"/>
            <a:ext cx="365760" cy="685800"/>
          </a:xfrm>
          <a:prstGeom prst="ellipse">
            <a:avLst/>
          </a:prstGeom>
          <a:solidFill>
            <a:srgbClr val="8C8C8C"/>
          </a:solidFill>
          <a:ln w="9525">
            <a:solidFill>
              <a:srgbClr val="4A4A4A"/>
            </a:solidFill>
            <a:prstDash val="solid"/>
          </a:ln>
        </p:spPr>
      </p:sp>
      <p:sp>
        <p:nvSpPr>
          <p:cNvPr id="39" name="Shape 37"/>
          <p:cNvSpPr/>
          <p:nvPr/>
        </p:nvSpPr>
        <p:spPr>
          <a:xfrm>
            <a:off x="2503170" y="3943350"/>
            <a:ext cx="480060" cy="342900"/>
          </a:xfrm>
          <a:prstGeom prst="ellipse">
            <a:avLst/>
          </a:prstGeom>
          <a:solidFill>
            <a:srgbClr val="8C8C8C"/>
          </a:solidFill>
          <a:ln w="9525">
            <a:solidFill>
              <a:srgbClr val="4A4A4A"/>
            </a:solidFill>
            <a:prstDash val="solid"/>
          </a:ln>
        </p:spPr>
      </p:sp>
      <p:sp>
        <p:nvSpPr>
          <p:cNvPr id="40" name="Shape 38"/>
          <p:cNvSpPr/>
          <p:nvPr/>
        </p:nvSpPr>
        <p:spPr>
          <a:xfrm>
            <a:off x="2366010" y="3817620"/>
            <a:ext cx="251460" cy="251460"/>
          </a:xfrm>
          <a:prstGeom prst="ellipse">
            <a:avLst/>
          </a:prstGeom>
          <a:solidFill>
            <a:srgbClr val="8C8C8C"/>
          </a:solidFill>
          <a:ln w="9525">
            <a:solidFill>
              <a:srgbClr val="4A4A4A"/>
            </a:solidFill>
            <a:prstDash val="solid"/>
          </a:ln>
        </p:spPr>
      </p:sp>
      <p:sp>
        <p:nvSpPr>
          <p:cNvPr id="41" name="Shape 39"/>
          <p:cNvSpPr/>
          <p:nvPr/>
        </p:nvSpPr>
        <p:spPr>
          <a:xfrm>
            <a:off x="2468880" y="3737610"/>
            <a:ext cx="91440" cy="114300"/>
          </a:xfrm>
          <a:prstGeom prst="triangle">
            <a:avLst/>
          </a:prstGeom>
          <a:solidFill>
            <a:srgbClr val="8C8C8C"/>
          </a:solidFill>
          <a:ln w="6350">
            <a:solidFill>
              <a:srgbClr val="4A4A4A"/>
            </a:solidFill>
            <a:prstDash val="solid"/>
          </a:ln>
        </p:spPr>
      </p:sp>
      <p:sp>
        <p:nvSpPr>
          <p:cNvPr id="42" name="Shape 40"/>
          <p:cNvSpPr/>
          <p:nvPr/>
        </p:nvSpPr>
        <p:spPr>
          <a:xfrm>
            <a:off x="2418131" y="3892601"/>
            <a:ext cx="55778" cy="55778"/>
          </a:xfrm>
          <a:prstGeom prst="ellipse">
            <a:avLst/>
          </a:prstGeom>
          <a:solidFill>
            <a:srgbClr val="133536"/>
          </a:solidFill>
          <a:ln w="9525">
            <a:solidFill>
              <a:srgbClr val="133536"/>
            </a:solidFill>
            <a:prstDash val="solid"/>
          </a:ln>
        </p:spPr>
      </p:sp>
      <p:sp>
        <p:nvSpPr>
          <p:cNvPr id="43" name="Text 41"/>
          <p:cNvSpPr/>
          <p:nvPr/>
        </p:nvSpPr>
        <p:spPr>
          <a:xfrm>
            <a:off x="685800" y="4526280"/>
            <a:ext cx="1280160" cy="228600"/>
          </a:xfrm>
          <a:prstGeom prst="rect">
            <a:avLst/>
          </a:prstGeom>
          <a:noFill/>
          <a:ln/>
        </p:spPr>
        <p:txBody>
          <a:bodyPr wrap="square" lIns="0" tIns="0" rIns="0" bIns="0" rtlCol="0" anchor="ctr"/>
          <a:lstStyle/>
          <a:p>
            <a:pPr algn="ctr" indent="0" marL="0">
              <a:buNone/>
            </a:pPr>
            <a:r>
              <a:rPr lang="en-US" sz="1000" b="1" dirty="0">
                <a:solidFill>
                  <a:srgbClr val="7A3A16"/>
                </a:solidFill>
                <a:latin typeface="Calibri" pitchFamily="34" charset="0"/>
                <a:ea typeface="Calibri" pitchFamily="34" charset="-122"/>
                <a:cs typeface="Calibri" pitchFamily="34" charset="-120"/>
              </a:rPr>
              <a:t>red (native)</a:t>
            </a:r>
            <a:endParaRPr lang="en-US" sz="1000" dirty="0"/>
          </a:p>
        </p:txBody>
      </p:sp>
      <p:sp>
        <p:nvSpPr>
          <p:cNvPr id="44" name="Text 42"/>
          <p:cNvSpPr/>
          <p:nvPr/>
        </p:nvSpPr>
        <p:spPr>
          <a:xfrm>
            <a:off x="2148840" y="4526280"/>
            <a:ext cx="1463040" cy="228600"/>
          </a:xfrm>
          <a:prstGeom prst="rect">
            <a:avLst/>
          </a:prstGeom>
          <a:noFill/>
          <a:ln/>
        </p:spPr>
        <p:txBody>
          <a:bodyPr wrap="square" lIns="0" tIns="0" rIns="0" bIns="0" rtlCol="0" anchor="ctr"/>
          <a:lstStyle/>
          <a:p>
            <a:pPr algn="ctr" indent="0" marL="0">
              <a:buNone/>
            </a:pPr>
            <a:r>
              <a:rPr lang="en-US" sz="1000" b="1" dirty="0">
                <a:solidFill>
                  <a:srgbClr val="4A4A4A"/>
                </a:solidFill>
                <a:latin typeface="Calibri" pitchFamily="34" charset="0"/>
                <a:ea typeface="Calibri" pitchFamily="34" charset="-122"/>
                <a:cs typeface="Calibri" pitchFamily="34" charset="-120"/>
              </a:rPr>
              <a:t>grey (from N America)</a:t>
            </a:r>
            <a:endParaRPr lang="en-US" sz="1000" dirty="0"/>
          </a:p>
        </p:txBody>
      </p:sp>
      <p:sp>
        <p:nvSpPr>
          <p:cNvPr id="45" name="Text 43"/>
          <p:cNvSpPr/>
          <p:nvPr/>
        </p:nvSpPr>
        <p:spPr>
          <a:xfrm>
            <a:off x="3657600" y="3429000"/>
            <a:ext cx="2240280" cy="114300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Greys </a:t>
            </a:r>
            <a:r>
              <a:rPr lang="en-US" sz="1000" b="1" dirty="0">
                <a:solidFill>
                  <a:srgbClr val="262B3A"/>
                </a:solidFill>
                <a:latin typeface="Calibri" pitchFamily="34" charset="0"/>
                <a:ea typeface="Calibri" pitchFamily="34" charset="-122"/>
                <a:cs typeface="Calibri" pitchFamily="34" charset="-120"/>
              </a:rPr>
              <a:t>outcompete</a:t>
            </a:r>
            <a:r>
              <a:rPr lang="en-US" sz="1000" dirty="0">
                <a:solidFill>
                  <a:srgbClr val="262B3A"/>
                </a:solidFill>
                <a:latin typeface="Calibri" pitchFamily="34" charset="0"/>
                <a:ea typeface="Calibri" pitchFamily="34" charset="-122"/>
                <a:cs typeface="Calibri" pitchFamily="34" charset="-120"/>
              </a:rPr>
              <a:t> reds for food and carry a </a:t>
            </a:r>
            <a:r>
              <a:rPr lang="en-US" sz="1000" b="1" dirty="0">
                <a:solidFill>
                  <a:srgbClr val="262B3A"/>
                </a:solidFill>
                <a:latin typeface="Calibri" pitchFamily="34" charset="0"/>
                <a:ea typeface="Calibri" pitchFamily="34" charset="-122"/>
                <a:cs typeface="Calibri" pitchFamily="34" charset="-120"/>
              </a:rPr>
              <a:t>virus</a:t>
            </a:r>
            <a:r>
              <a:rPr lang="en-US" sz="1000" dirty="0">
                <a:solidFill>
                  <a:srgbClr val="262B3A"/>
                </a:solidFill>
                <a:latin typeface="Calibri" pitchFamily="34" charset="0"/>
                <a:ea typeface="Calibri" pitchFamily="34" charset="-122"/>
                <a:cs typeface="Calibri" pitchFamily="34" charset="-120"/>
              </a:rPr>
              <a:t> that kills reds. Reds now mostly survive where greys are absent.</a:t>
            </a:r>
            <a:endParaRPr lang="en-US" sz="1000" dirty="0"/>
          </a:p>
        </p:txBody>
      </p:sp>
      <p:sp>
        <p:nvSpPr>
          <p:cNvPr id="46" name="Shape 44"/>
          <p:cNvSpPr/>
          <p:nvPr/>
        </p:nvSpPr>
        <p:spPr>
          <a:xfrm rot="5400000">
            <a:off x="3951122" y="4776368"/>
            <a:ext cx="139903" cy="123444"/>
          </a:xfrm>
          <a:prstGeom prst="triangle">
            <a:avLst/>
          </a:prstGeom>
          <a:solidFill>
            <a:srgbClr val="6E8FB5"/>
          </a:solidFill>
          <a:ln w="9525">
            <a:solidFill>
              <a:srgbClr val="3E5C80"/>
            </a:solidFill>
            <a:prstDash val="solid"/>
          </a:ln>
        </p:spPr>
      </p:sp>
      <p:sp>
        <p:nvSpPr>
          <p:cNvPr id="47" name="Shape 45"/>
          <p:cNvSpPr/>
          <p:nvPr/>
        </p:nvSpPr>
        <p:spPr>
          <a:xfrm>
            <a:off x="4000500" y="4759909"/>
            <a:ext cx="411480" cy="172822"/>
          </a:xfrm>
          <a:prstGeom prst="ellipse">
            <a:avLst/>
          </a:prstGeom>
          <a:solidFill>
            <a:srgbClr val="6E8FB5"/>
          </a:solidFill>
          <a:ln w="9525">
            <a:solidFill>
              <a:srgbClr val="3E5C80"/>
            </a:solidFill>
            <a:prstDash val="solid"/>
          </a:ln>
        </p:spPr>
      </p:sp>
      <p:sp>
        <p:nvSpPr>
          <p:cNvPr id="48" name="Shape 46"/>
          <p:cNvSpPr/>
          <p:nvPr/>
        </p:nvSpPr>
        <p:spPr>
          <a:xfrm>
            <a:off x="4313225" y="4813402"/>
            <a:ext cx="32918" cy="32918"/>
          </a:xfrm>
          <a:prstGeom prst="ellipse">
            <a:avLst/>
          </a:prstGeom>
          <a:solidFill>
            <a:srgbClr val="133536"/>
          </a:solidFill>
          <a:ln w="9525">
            <a:solidFill>
              <a:srgbClr val="133536"/>
            </a:solidFill>
            <a:prstDash val="solid"/>
          </a:ln>
        </p:spPr>
      </p:sp>
      <p:sp>
        <p:nvSpPr>
          <p:cNvPr id="49" name="Shape 47"/>
          <p:cNvSpPr/>
          <p:nvPr/>
        </p:nvSpPr>
        <p:spPr>
          <a:xfrm rot="5400000">
            <a:off x="4556455" y="4929073"/>
            <a:ext cx="108814" cy="96012"/>
          </a:xfrm>
          <a:prstGeom prst="triangle">
            <a:avLst/>
          </a:prstGeom>
          <a:solidFill>
            <a:srgbClr val="6E8FB5"/>
          </a:solidFill>
          <a:ln w="9525">
            <a:solidFill>
              <a:srgbClr val="3E5C80"/>
            </a:solidFill>
            <a:prstDash val="solid"/>
          </a:ln>
        </p:spPr>
      </p:sp>
      <p:sp>
        <p:nvSpPr>
          <p:cNvPr id="50" name="Shape 48"/>
          <p:cNvSpPr/>
          <p:nvPr/>
        </p:nvSpPr>
        <p:spPr>
          <a:xfrm>
            <a:off x="4594860" y="4916272"/>
            <a:ext cx="320040" cy="134417"/>
          </a:xfrm>
          <a:prstGeom prst="ellipse">
            <a:avLst/>
          </a:prstGeom>
          <a:solidFill>
            <a:srgbClr val="6E8FB5"/>
          </a:solidFill>
          <a:ln w="9525">
            <a:solidFill>
              <a:srgbClr val="3E5C80"/>
            </a:solidFill>
            <a:prstDash val="solid"/>
          </a:ln>
        </p:spPr>
      </p:sp>
      <p:sp>
        <p:nvSpPr>
          <p:cNvPr id="51" name="Shape 49"/>
          <p:cNvSpPr/>
          <p:nvPr/>
        </p:nvSpPr>
        <p:spPr>
          <a:xfrm>
            <a:off x="4838090" y="4957877"/>
            <a:ext cx="25603" cy="25603"/>
          </a:xfrm>
          <a:prstGeom prst="ellipse">
            <a:avLst/>
          </a:prstGeom>
          <a:solidFill>
            <a:srgbClr val="133536"/>
          </a:solidFill>
          <a:ln w="9525">
            <a:solidFill>
              <a:srgbClr val="133536"/>
            </a:solidFill>
            <a:prstDash val="solid"/>
          </a:ln>
        </p:spPr>
      </p:sp>
      <p:sp>
        <p:nvSpPr>
          <p:cNvPr id="52" name="Shape 50"/>
          <p:cNvSpPr/>
          <p:nvPr/>
        </p:nvSpPr>
        <p:spPr>
          <a:xfrm rot="5400000">
            <a:off x="5087722" y="4799686"/>
            <a:ext cx="93269" cy="82296"/>
          </a:xfrm>
          <a:prstGeom prst="triangle">
            <a:avLst/>
          </a:prstGeom>
          <a:solidFill>
            <a:srgbClr val="6E8FB5"/>
          </a:solidFill>
          <a:ln w="9525">
            <a:solidFill>
              <a:srgbClr val="3E5C80"/>
            </a:solidFill>
            <a:prstDash val="solid"/>
          </a:ln>
        </p:spPr>
      </p:sp>
      <p:sp>
        <p:nvSpPr>
          <p:cNvPr id="53" name="Shape 51"/>
          <p:cNvSpPr/>
          <p:nvPr/>
        </p:nvSpPr>
        <p:spPr>
          <a:xfrm>
            <a:off x="5120640" y="4788713"/>
            <a:ext cx="274320" cy="115214"/>
          </a:xfrm>
          <a:prstGeom prst="ellipse">
            <a:avLst/>
          </a:prstGeom>
          <a:solidFill>
            <a:srgbClr val="6E8FB5"/>
          </a:solidFill>
          <a:ln w="9525">
            <a:solidFill>
              <a:srgbClr val="3E5C80"/>
            </a:solidFill>
            <a:prstDash val="solid"/>
          </a:ln>
        </p:spPr>
      </p:sp>
      <p:sp>
        <p:nvSpPr>
          <p:cNvPr id="54" name="Shape 52"/>
          <p:cNvSpPr/>
          <p:nvPr/>
        </p:nvSpPr>
        <p:spPr>
          <a:xfrm>
            <a:off x="5329123" y="4824374"/>
            <a:ext cx="21946" cy="21946"/>
          </a:xfrm>
          <a:prstGeom prst="ellipse">
            <a:avLst/>
          </a:prstGeom>
          <a:solidFill>
            <a:srgbClr val="133536"/>
          </a:solidFill>
          <a:ln w="9525">
            <a:solidFill>
              <a:srgbClr val="133536"/>
            </a:solidFill>
            <a:prstDash val="solid"/>
          </a:ln>
        </p:spPr>
      </p:sp>
      <p:sp>
        <p:nvSpPr>
          <p:cNvPr id="55" name="Text 53"/>
          <p:cNvSpPr/>
          <p:nvPr/>
        </p:nvSpPr>
        <p:spPr>
          <a:xfrm>
            <a:off x="3657600" y="5074920"/>
            <a:ext cx="2240280" cy="22860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overfishing: few large fish left</a:t>
            </a:r>
            <a:endParaRPr lang="en-US" sz="1000" dirty="0"/>
          </a:p>
        </p:txBody>
      </p:sp>
      <p:sp>
        <p:nvSpPr>
          <p:cNvPr id="56" name="Shape 54"/>
          <p:cNvSpPr/>
          <p:nvPr/>
        </p:nvSpPr>
        <p:spPr>
          <a:xfrm>
            <a:off x="6217920" y="1188720"/>
            <a:ext cx="5562295" cy="3017520"/>
          </a:xfrm>
          <a:prstGeom prst="roundRect">
            <a:avLst>
              <a:gd name="adj" fmla="val 1818"/>
            </a:avLst>
          </a:prstGeom>
          <a:solidFill>
            <a:srgbClr val="F4FAF9"/>
          </a:solidFill>
          <a:ln w="9525">
            <a:solidFill>
              <a:srgbClr val="CFE0DE"/>
            </a:solidFill>
            <a:prstDash val="solid"/>
          </a:ln>
        </p:spPr>
      </p:sp>
      <p:sp>
        <p:nvSpPr>
          <p:cNvPr id="57" name="Text 5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More threats</a:t>
            </a:r>
            <a:endParaRPr lang="en-US" sz="1300" dirty="0"/>
          </a:p>
        </p:txBody>
      </p:sp>
      <p:sp>
        <p:nvSpPr>
          <p:cNvPr id="58" name="Text 56"/>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Pollution</a:t>
            </a:r>
            <a:r>
              <a:rPr lang="en-US" sz="1150" dirty="0">
                <a:solidFill>
                  <a:srgbClr val="262B3A"/>
                </a:solidFill>
                <a:latin typeface="Calibri" pitchFamily="34" charset="0"/>
                <a:ea typeface="Calibri" pitchFamily="34" charset="-122"/>
                <a:cs typeface="Calibri" pitchFamily="34" charset="-120"/>
              </a:rPr>
              <a:t>: fertiliser and sewage in water cause </a:t>
            </a:r>
            <a:r>
              <a:rPr lang="en-US" sz="1150" b="1" dirty="0">
                <a:solidFill>
                  <a:srgbClr val="262B3A"/>
                </a:solidFill>
                <a:latin typeface="Calibri" pitchFamily="34" charset="0"/>
                <a:ea typeface="Calibri" pitchFamily="34" charset="-122"/>
                <a:cs typeface="Calibri" pitchFamily="34" charset="-120"/>
              </a:rPr>
              <a:t>eutrophication</a:t>
            </a:r>
            <a:r>
              <a:rPr lang="en-US" sz="1150" dirty="0">
                <a:solidFill>
                  <a:srgbClr val="262B3A"/>
                </a:solidFill>
                <a:latin typeface="Calibri" pitchFamily="34" charset="0"/>
                <a:ea typeface="Calibri" pitchFamily="34" charset="-122"/>
                <a:cs typeface="Calibri" pitchFamily="34" charset="-120"/>
              </a:rPr>
              <a:t>; pesticides kill non-target insects; toxic chemicals build up in food chains; acid gases harm lichens and trees.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Global warming</a:t>
            </a:r>
            <a:r>
              <a:rPr lang="en-US" sz="1150" dirty="0">
                <a:solidFill>
                  <a:srgbClr val="262B3A"/>
                </a:solidFill>
                <a:latin typeface="Calibri" pitchFamily="34" charset="0"/>
                <a:ea typeface="Calibri" pitchFamily="34" charset="-122"/>
                <a:cs typeface="Calibri" pitchFamily="34" charset="-120"/>
              </a:rPr>
              <a:t>: burning fossil fuels and deforestation add CO₂; species must move or die.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Overexploitation</a:t>
            </a:r>
            <a:r>
              <a:rPr lang="en-US" sz="1150" dirty="0">
                <a:solidFill>
                  <a:srgbClr val="262B3A"/>
                </a:solidFill>
                <a:latin typeface="Calibri" pitchFamily="34" charset="0"/>
                <a:ea typeface="Calibri" pitchFamily="34" charset="-122"/>
                <a:cs typeface="Calibri" pitchFamily="34" charset="-120"/>
              </a:rPr>
              <a:t>: overfishing, hunting and logging faster than populations can recover.</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Invasive (non-native) species</a:t>
            </a:r>
            <a:r>
              <a:rPr lang="en-US" sz="1150" dirty="0">
                <a:solidFill>
                  <a:srgbClr val="262B3A"/>
                </a:solidFill>
                <a:latin typeface="Calibri" pitchFamily="34" charset="0"/>
                <a:ea typeface="Calibri" pitchFamily="34" charset="-122"/>
                <a:cs typeface="Calibri" pitchFamily="34" charset="-120"/>
              </a:rPr>
              <a:t>: compete with, eat, or spread disease to native species.</a:t>
            </a:r>
            <a:endParaRPr lang="en-US" sz="1150" dirty="0"/>
          </a:p>
        </p:txBody>
      </p:sp>
      <p:sp>
        <p:nvSpPr>
          <p:cNvPr id="59" name="Shape 57"/>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60" name="Text 58"/>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decrease</a:t>
            </a:r>
            <a:endParaRPr lang="en-US" sz="1300" dirty="0"/>
          </a:p>
        </p:txBody>
      </p:sp>
      <p:sp>
        <p:nvSpPr>
          <p:cNvPr id="61" name="Text 59"/>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wood had 120 red squirrels. After greys arrived, 30 were left.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Decrease   </a:t>
            </a:r>
            <a:r>
              <a:rPr lang="en-US" sz="1050" dirty="0">
                <a:solidFill>
                  <a:srgbClr val="262B3A"/>
                </a:solidFill>
                <a:latin typeface="Calibri" pitchFamily="34" charset="0"/>
                <a:ea typeface="Calibri" pitchFamily="34" charset="-122"/>
                <a:cs typeface="Calibri" pitchFamily="34" charset="-120"/>
              </a:rPr>
              <a:t>120 − 30 = 90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90 ÷ 120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75%</a:t>
            </a:r>
            <a:r>
              <a:rPr lang="en-US" sz="1050" b="1" dirty="0">
                <a:solidFill>
                  <a:srgbClr val="C8414C"/>
                </a:solidFill>
                <a:latin typeface="Calibri" pitchFamily="34" charset="0"/>
                <a:ea typeface="Calibri" pitchFamily="34" charset="-122"/>
                <a:cs typeface="Calibri" pitchFamily="34" charset="-120"/>
              </a:rPr>
              <a:t> decrease</a:t>
            </a:r>
            <a:endParaRPr lang="en-US" sz="1050" dirty="0"/>
          </a:p>
        </p:txBody>
      </p:sp>
      <p:sp>
        <p:nvSpPr>
          <p:cNvPr id="62" name="Shape 60"/>
          <p:cNvSpPr/>
          <p:nvPr/>
        </p:nvSpPr>
        <p:spPr>
          <a:xfrm>
            <a:off x="411480" y="5833872"/>
            <a:ext cx="11368735" cy="530352"/>
          </a:xfrm>
          <a:prstGeom prst="rect">
            <a:avLst/>
          </a:prstGeom>
          <a:solidFill>
            <a:srgbClr val="FFF4E0"/>
          </a:solidFill>
          <a:ln w="6350">
            <a:solidFill>
              <a:srgbClr val="F1D9A8"/>
            </a:solidFill>
            <a:prstDash val="solid"/>
          </a:ln>
        </p:spPr>
      </p:sp>
      <p:sp>
        <p:nvSpPr>
          <p:cNvPr id="63" name="Shape 61"/>
          <p:cNvSpPr/>
          <p:nvPr/>
        </p:nvSpPr>
        <p:spPr>
          <a:xfrm>
            <a:off x="411480" y="5833872"/>
            <a:ext cx="82296" cy="530352"/>
          </a:xfrm>
          <a:prstGeom prst="rect">
            <a:avLst/>
          </a:prstGeom>
          <a:solidFill>
            <a:srgbClr val="E39A2F"/>
          </a:solidFill>
          <a:ln w="12700">
            <a:solidFill>
              <a:srgbClr val="E39A2F"/>
            </a:solidFill>
            <a:prstDash val="solid"/>
          </a:ln>
        </p:spPr>
      </p:sp>
      <p:sp>
        <p:nvSpPr>
          <p:cNvPr id="64" name="Text 6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Put the eutrophication steps in order from memory. Explain why the </a:t>
            </a:r>
            <a:r>
              <a:rPr lang="en-US" sz="1150" b="1" dirty="0">
                <a:solidFill>
                  <a:srgbClr val="262B3A"/>
                </a:solidFill>
                <a:latin typeface="Calibri" pitchFamily="34" charset="0"/>
                <a:ea typeface="Calibri" pitchFamily="34" charset="-122"/>
                <a:cs typeface="Calibri" pitchFamily="34" charset="-120"/>
              </a:rPr>
              <a:t>fish</a:t>
            </a:r>
            <a:r>
              <a:rPr lang="en-US" sz="1150" dirty="0">
                <a:solidFill>
                  <a:srgbClr val="262B3A"/>
                </a:solidFill>
                <a:latin typeface="Calibri" pitchFamily="34" charset="0"/>
                <a:ea typeface="Calibri" pitchFamily="34" charset="-122"/>
                <a:cs typeface="Calibri" pitchFamily="34" charset="-120"/>
              </a:rPr>
              <a:t> die even though fertiliser is not poisonous to them.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Evidence: indicator species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B6.3.3 • evaluate evidence for the effect of environmental change on distribution</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B6.3.3  |  10</a:t>
            </a:r>
            <a:endParaRPr lang="en-US" sz="1000" dirty="0"/>
          </a:p>
        </p:txBody>
      </p:sp>
      <p:sp>
        <p:nvSpPr>
          <p:cNvPr id="10" name="Shape 8"/>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plotted to scale from the survey tables (illustrative data)</a:t>
            </a:r>
            <a:endParaRPr lang="en-US" sz="1000" dirty="0"/>
          </a:p>
        </p:txBody>
      </p:sp>
      <p:sp>
        <p:nvSpPr>
          <p:cNvPr id="12" name="Shape 10"/>
          <p:cNvSpPr/>
          <p:nvPr/>
        </p:nvSpPr>
        <p:spPr>
          <a:xfrm>
            <a:off x="1188720" y="1417320"/>
            <a:ext cx="2103120" cy="2331720"/>
          </a:xfrm>
          <a:prstGeom prst="rect">
            <a:avLst/>
          </a:prstGeom>
          <a:solidFill>
            <a:srgbClr val="FFFFFF"/>
          </a:solidFill>
          <a:ln/>
        </p:spPr>
      </p:sp>
      <p:sp>
        <p:nvSpPr>
          <p:cNvPr id="13" name="Shape 11"/>
          <p:cNvSpPr/>
          <p:nvPr/>
        </p:nvSpPr>
        <p:spPr>
          <a:xfrm>
            <a:off x="1188720" y="1417320"/>
            <a:ext cx="91" cy="2331720"/>
          </a:xfrm>
          <a:prstGeom prst="line">
            <a:avLst/>
          </a:prstGeom>
          <a:noFill/>
          <a:ln w="6350">
            <a:solidFill>
              <a:srgbClr val="C5DCD9"/>
            </a:solidFill>
            <a:prstDash val="solid"/>
          </a:ln>
        </p:spPr>
      </p:sp>
      <p:sp>
        <p:nvSpPr>
          <p:cNvPr id="14" name="Shape 12"/>
          <p:cNvSpPr/>
          <p:nvPr/>
        </p:nvSpPr>
        <p:spPr>
          <a:xfrm>
            <a:off x="1609344" y="1417320"/>
            <a:ext cx="91" cy="2331720"/>
          </a:xfrm>
          <a:prstGeom prst="line">
            <a:avLst/>
          </a:prstGeom>
          <a:noFill/>
          <a:ln w="6350">
            <a:solidFill>
              <a:srgbClr val="C5DCD9"/>
            </a:solidFill>
            <a:prstDash val="solid"/>
          </a:ln>
        </p:spPr>
      </p:sp>
      <p:sp>
        <p:nvSpPr>
          <p:cNvPr id="15" name="Shape 13"/>
          <p:cNvSpPr/>
          <p:nvPr/>
        </p:nvSpPr>
        <p:spPr>
          <a:xfrm>
            <a:off x="2029968" y="1417320"/>
            <a:ext cx="91" cy="2331720"/>
          </a:xfrm>
          <a:prstGeom prst="line">
            <a:avLst/>
          </a:prstGeom>
          <a:noFill/>
          <a:ln w="6350">
            <a:solidFill>
              <a:srgbClr val="C5DCD9"/>
            </a:solidFill>
            <a:prstDash val="solid"/>
          </a:ln>
        </p:spPr>
      </p:sp>
      <p:sp>
        <p:nvSpPr>
          <p:cNvPr id="16" name="Shape 14"/>
          <p:cNvSpPr/>
          <p:nvPr/>
        </p:nvSpPr>
        <p:spPr>
          <a:xfrm>
            <a:off x="2450592" y="1417320"/>
            <a:ext cx="91" cy="2331720"/>
          </a:xfrm>
          <a:prstGeom prst="line">
            <a:avLst/>
          </a:prstGeom>
          <a:noFill/>
          <a:ln w="6350">
            <a:solidFill>
              <a:srgbClr val="C5DCD9"/>
            </a:solidFill>
            <a:prstDash val="solid"/>
          </a:ln>
        </p:spPr>
      </p:sp>
      <p:sp>
        <p:nvSpPr>
          <p:cNvPr id="17" name="Shape 15"/>
          <p:cNvSpPr/>
          <p:nvPr/>
        </p:nvSpPr>
        <p:spPr>
          <a:xfrm>
            <a:off x="2871216" y="1417320"/>
            <a:ext cx="91" cy="2331720"/>
          </a:xfrm>
          <a:prstGeom prst="line">
            <a:avLst/>
          </a:prstGeom>
          <a:noFill/>
          <a:ln w="6350">
            <a:solidFill>
              <a:srgbClr val="C5DCD9"/>
            </a:solidFill>
            <a:prstDash val="solid"/>
          </a:ln>
        </p:spPr>
      </p:sp>
      <p:sp>
        <p:nvSpPr>
          <p:cNvPr id="18" name="Shape 16"/>
          <p:cNvSpPr/>
          <p:nvPr/>
        </p:nvSpPr>
        <p:spPr>
          <a:xfrm>
            <a:off x="3291840" y="1417320"/>
            <a:ext cx="91" cy="2331720"/>
          </a:xfrm>
          <a:prstGeom prst="line">
            <a:avLst/>
          </a:prstGeom>
          <a:noFill/>
          <a:ln w="6350">
            <a:solidFill>
              <a:srgbClr val="C5DCD9"/>
            </a:solidFill>
            <a:prstDash val="solid"/>
          </a:ln>
        </p:spPr>
      </p:sp>
      <p:sp>
        <p:nvSpPr>
          <p:cNvPr id="19" name="Shape 17"/>
          <p:cNvSpPr/>
          <p:nvPr/>
        </p:nvSpPr>
        <p:spPr>
          <a:xfrm>
            <a:off x="1188720" y="3749040"/>
            <a:ext cx="2103120" cy="91"/>
          </a:xfrm>
          <a:prstGeom prst="line">
            <a:avLst/>
          </a:prstGeom>
          <a:noFill/>
          <a:ln w="6350">
            <a:solidFill>
              <a:srgbClr val="C5DCD9"/>
            </a:solidFill>
            <a:prstDash val="solid"/>
          </a:ln>
        </p:spPr>
      </p:sp>
      <p:sp>
        <p:nvSpPr>
          <p:cNvPr id="20" name="Shape 18"/>
          <p:cNvSpPr/>
          <p:nvPr/>
        </p:nvSpPr>
        <p:spPr>
          <a:xfrm>
            <a:off x="1188720" y="3415937"/>
            <a:ext cx="2103120" cy="91"/>
          </a:xfrm>
          <a:prstGeom prst="line">
            <a:avLst/>
          </a:prstGeom>
          <a:noFill/>
          <a:ln w="6350">
            <a:solidFill>
              <a:srgbClr val="C5DCD9"/>
            </a:solidFill>
            <a:prstDash val="solid"/>
          </a:ln>
        </p:spPr>
      </p:sp>
      <p:sp>
        <p:nvSpPr>
          <p:cNvPr id="21" name="Shape 19"/>
          <p:cNvSpPr/>
          <p:nvPr/>
        </p:nvSpPr>
        <p:spPr>
          <a:xfrm>
            <a:off x="1188720" y="3082834"/>
            <a:ext cx="2103120" cy="91"/>
          </a:xfrm>
          <a:prstGeom prst="line">
            <a:avLst/>
          </a:prstGeom>
          <a:noFill/>
          <a:ln w="6350">
            <a:solidFill>
              <a:srgbClr val="C5DCD9"/>
            </a:solidFill>
            <a:prstDash val="solid"/>
          </a:ln>
        </p:spPr>
      </p:sp>
      <p:sp>
        <p:nvSpPr>
          <p:cNvPr id="22" name="Shape 20"/>
          <p:cNvSpPr/>
          <p:nvPr/>
        </p:nvSpPr>
        <p:spPr>
          <a:xfrm>
            <a:off x="1188720" y="2749731"/>
            <a:ext cx="2103120" cy="91"/>
          </a:xfrm>
          <a:prstGeom prst="line">
            <a:avLst/>
          </a:prstGeom>
          <a:noFill/>
          <a:ln w="6350">
            <a:solidFill>
              <a:srgbClr val="C5DCD9"/>
            </a:solidFill>
            <a:prstDash val="solid"/>
          </a:ln>
        </p:spPr>
      </p:sp>
      <p:sp>
        <p:nvSpPr>
          <p:cNvPr id="23" name="Shape 21"/>
          <p:cNvSpPr/>
          <p:nvPr/>
        </p:nvSpPr>
        <p:spPr>
          <a:xfrm>
            <a:off x="1188720" y="2416629"/>
            <a:ext cx="2103120" cy="91"/>
          </a:xfrm>
          <a:prstGeom prst="line">
            <a:avLst/>
          </a:prstGeom>
          <a:noFill/>
          <a:ln w="6350">
            <a:solidFill>
              <a:srgbClr val="C5DCD9"/>
            </a:solidFill>
            <a:prstDash val="solid"/>
          </a:ln>
        </p:spPr>
      </p:sp>
      <p:sp>
        <p:nvSpPr>
          <p:cNvPr id="24" name="Shape 22"/>
          <p:cNvSpPr/>
          <p:nvPr/>
        </p:nvSpPr>
        <p:spPr>
          <a:xfrm>
            <a:off x="1188720" y="2083526"/>
            <a:ext cx="2103120" cy="91"/>
          </a:xfrm>
          <a:prstGeom prst="line">
            <a:avLst/>
          </a:prstGeom>
          <a:noFill/>
          <a:ln w="6350">
            <a:solidFill>
              <a:srgbClr val="C5DCD9"/>
            </a:solidFill>
            <a:prstDash val="solid"/>
          </a:ln>
        </p:spPr>
      </p:sp>
      <p:sp>
        <p:nvSpPr>
          <p:cNvPr id="25" name="Shape 23"/>
          <p:cNvSpPr/>
          <p:nvPr/>
        </p:nvSpPr>
        <p:spPr>
          <a:xfrm>
            <a:off x="1188720" y="1750423"/>
            <a:ext cx="2103120" cy="91"/>
          </a:xfrm>
          <a:prstGeom prst="line">
            <a:avLst/>
          </a:prstGeom>
          <a:noFill/>
          <a:ln w="6350">
            <a:solidFill>
              <a:srgbClr val="C5DCD9"/>
            </a:solidFill>
            <a:prstDash val="solid"/>
          </a:ln>
        </p:spPr>
      </p:sp>
      <p:sp>
        <p:nvSpPr>
          <p:cNvPr id="26" name="Shape 24"/>
          <p:cNvSpPr/>
          <p:nvPr/>
        </p:nvSpPr>
        <p:spPr>
          <a:xfrm>
            <a:off x="1188720" y="1417320"/>
            <a:ext cx="2103120" cy="91"/>
          </a:xfrm>
          <a:prstGeom prst="line">
            <a:avLst/>
          </a:prstGeom>
          <a:noFill/>
          <a:ln w="6350">
            <a:solidFill>
              <a:srgbClr val="C5DCD9"/>
            </a:solidFill>
            <a:prstDash val="solid"/>
          </a:ln>
        </p:spPr>
      </p:sp>
      <p:sp>
        <p:nvSpPr>
          <p:cNvPr id="27" name="Shape 25"/>
          <p:cNvSpPr/>
          <p:nvPr/>
        </p:nvSpPr>
        <p:spPr>
          <a:xfrm>
            <a:off x="1188720" y="3749040"/>
            <a:ext cx="2103120" cy="91"/>
          </a:xfrm>
          <a:prstGeom prst="line">
            <a:avLst/>
          </a:prstGeom>
          <a:noFill/>
          <a:ln w="19050">
            <a:solidFill>
              <a:srgbClr val="133536"/>
            </a:solidFill>
            <a:prstDash val="solid"/>
          </a:ln>
        </p:spPr>
      </p:sp>
      <p:sp>
        <p:nvSpPr>
          <p:cNvPr id="28" name="Shape 26"/>
          <p:cNvSpPr/>
          <p:nvPr/>
        </p:nvSpPr>
        <p:spPr>
          <a:xfrm flipV="1">
            <a:off x="1188720" y="1417320"/>
            <a:ext cx="91" cy="2331720"/>
          </a:xfrm>
          <a:prstGeom prst="line">
            <a:avLst/>
          </a:prstGeom>
          <a:noFill/>
          <a:ln w="19050">
            <a:solidFill>
              <a:srgbClr val="133536"/>
            </a:solidFill>
            <a:prstDash val="solid"/>
          </a:ln>
        </p:spPr>
      </p:sp>
      <p:sp>
        <p:nvSpPr>
          <p:cNvPr id="29" name="Shape 27"/>
          <p:cNvSpPr/>
          <p:nvPr/>
        </p:nvSpPr>
        <p:spPr>
          <a:xfrm>
            <a:off x="1188720" y="3749040"/>
            <a:ext cx="91" cy="54864"/>
          </a:xfrm>
          <a:prstGeom prst="line">
            <a:avLst/>
          </a:prstGeom>
          <a:noFill/>
          <a:ln w="12700">
            <a:solidFill>
              <a:srgbClr val="133536"/>
            </a:solidFill>
            <a:prstDash val="solid"/>
          </a:ln>
        </p:spPr>
      </p:sp>
      <p:sp>
        <p:nvSpPr>
          <p:cNvPr id="30" name="Text 28"/>
          <p:cNvSpPr/>
          <p:nvPr/>
        </p:nvSpPr>
        <p:spPr>
          <a:xfrm>
            <a:off x="914400"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1" name="Shape 29"/>
          <p:cNvSpPr/>
          <p:nvPr/>
        </p:nvSpPr>
        <p:spPr>
          <a:xfrm>
            <a:off x="1609344" y="3749040"/>
            <a:ext cx="91" cy="54864"/>
          </a:xfrm>
          <a:prstGeom prst="line">
            <a:avLst/>
          </a:prstGeom>
          <a:noFill/>
          <a:ln w="12700">
            <a:solidFill>
              <a:srgbClr val="133536"/>
            </a:solidFill>
            <a:prstDash val="solid"/>
          </a:ln>
        </p:spPr>
      </p:sp>
      <p:sp>
        <p:nvSpPr>
          <p:cNvPr id="32" name="Text 30"/>
          <p:cNvSpPr/>
          <p:nvPr/>
        </p:nvSpPr>
        <p:spPr>
          <a:xfrm>
            <a:off x="1335024"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33" name="Shape 31"/>
          <p:cNvSpPr/>
          <p:nvPr/>
        </p:nvSpPr>
        <p:spPr>
          <a:xfrm>
            <a:off x="2029968" y="3749040"/>
            <a:ext cx="91" cy="54864"/>
          </a:xfrm>
          <a:prstGeom prst="line">
            <a:avLst/>
          </a:prstGeom>
          <a:noFill/>
          <a:ln w="12700">
            <a:solidFill>
              <a:srgbClr val="133536"/>
            </a:solidFill>
            <a:prstDash val="solid"/>
          </a:ln>
        </p:spPr>
      </p:sp>
      <p:sp>
        <p:nvSpPr>
          <p:cNvPr id="34" name="Text 32"/>
          <p:cNvSpPr/>
          <p:nvPr/>
        </p:nvSpPr>
        <p:spPr>
          <a:xfrm>
            <a:off x="1755648"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35" name="Shape 33"/>
          <p:cNvSpPr/>
          <p:nvPr/>
        </p:nvSpPr>
        <p:spPr>
          <a:xfrm>
            <a:off x="2450592" y="3749040"/>
            <a:ext cx="91" cy="54864"/>
          </a:xfrm>
          <a:prstGeom prst="line">
            <a:avLst/>
          </a:prstGeom>
          <a:noFill/>
          <a:ln w="12700">
            <a:solidFill>
              <a:srgbClr val="133536"/>
            </a:solidFill>
            <a:prstDash val="solid"/>
          </a:ln>
        </p:spPr>
      </p:sp>
      <p:sp>
        <p:nvSpPr>
          <p:cNvPr id="36" name="Text 34"/>
          <p:cNvSpPr/>
          <p:nvPr/>
        </p:nvSpPr>
        <p:spPr>
          <a:xfrm>
            <a:off x="2176272"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37" name="Shape 35"/>
          <p:cNvSpPr/>
          <p:nvPr/>
        </p:nvSpPr>
        <p:spPr>
          <a:xfrm>
            <a:off x="2871216" y="3749040"/>
            <a:ext cx="91" cy="54864"/>
          </a:xfrm>
          <a:prstGeom prst="line">
            <a:avLst/>
          </a:prstGeom>
          <a:noFill/>
          <a:ln w="12700">
            <a:solidFill>
              <a:srgbClr val="133536"/>
            </a:solidFill>
            <a:prstDash val="solid"/>
          </a:ln>
        </p:spPr>
      </p:sp>
      <p:sp>
        <p:nvSpPr>
          <p:cNvPr id="38" name="Text 36"/>
          <p:cNvSpPr/>
          <p:nvPr/>
        </p:nvSpPr>
        <p:spPr>
          <a:xfrm>
            <a:off x="2596896"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39" name="Shape 37"/>
          <p:cNvSpPr/>
          <p:nvPr/>
        </p:nvSpPr>
        <p:spPr>
          <a:xfrm>
            <a:off x="3291840" y="3749040"/>
            <a:ext cx="91" cy="54864"/>
          </a:xfrm>
          <a:prstGeom prst="line">
            <a:avLst/>
          </a:prstGeom>
          <a:noFill/>
          <a:ln w="12700">
            <a:solidFill>
              <a:srgbClr val="133536"/>
            </a:solidFill>
            <a:prstDash val="solid"/>
          </a:ln>
        </p:spPr>
      </p:sp>
      <p:sp>
        <p:nvSpPr>
          <p:cNvPr id="40" name="Text 38"/>
          <p:cNvSpPr/>
          <p:nvPr/>
        </p:nvSpPr>
        <p:spPr>
          <a:xfrm>
            <a:off x="3017520"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1" name="Shape 39"/>
          <p:cNvSpPr/>
          <p:nvPr/>
        </p:nvSpPr>
        <p:spPr>
          <a:xfrm>
            <a:off x="1133856" y="3749040"/>
            <a:ext cx="54864" cy="91"/>
          </a:xfrm>
          <a:prstGeom prst="line">
            <a:avLst/>
          </a:prstGeom>
          <a:noFill/>
          <a:ln w="12700">
            <a:solidFill>
              <a:srgbClr val="133536"/>
            </a:solidFill>
            <a:prstDash val="solid"/>
          </a:ln>
        </p:spPr>
      </p:sp>
      <p:sp>
        <p:nvSpPr>
          <p:cNvPr id="42" name="Text 40"/>
          <p:cNvSpPr/>
          <p:nvPr/>
        </p:nvSpPr>
        <p:spPr>
          <a:xfrm>
            <a:off x="749808" y="3657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1133856" y="3415937"/>
            <a:ext cx="54864" cy="91"/>
          </a:xfrm>
          <a:prstGeom prst="line">
            <a:avLst/>
          </a:prstGeom>
          <a:noFill/>
          <a:ln w="12700">
            <a:solidFill>
              <a:srgbClr val="133536"/>
            </a:solidFill>
            <a:prstDash val="solid"/>
          </a:ln>
        </p:spPr>
      </p:sp>
      <p:sp>
        <p:nvSpPr>
          <p:cNvPr id="44" name="Text 42"/>
          <p:cNvSpPr/>
          <p:nvPr/>
        </p:nvSpPr>
        <p:spPr>
          <a:xfrm>
            <a:off x="749808" y="332449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5" name="Shape 43"/>
          <p:cNvSpPr/>
          <p:nvPr/>
        </p:nvSpPr>
        <p:spPr>
          <a:xfrm>
            <a:off x="1133856" y="3082834"/>
            <a:ext cx="54864" cy="91"/>
          </a:xfrm>
          <a:prstGeom prst="line">
            <a:avLst/>
          </a:prstGeom>
          <a:noFill/>
          <a:ln w="12700">
            <a:solidFill>
              <a:srgbClr val="133536"/>
            </a:solidFill>
            <a:prstDash val="solid"/>
          </a:ln>
        </p:spPr>
      </p:sp>
      <p:sp>
        <p:nvSpPr>
          <p:cNvPr id="46" name="Text 44"/>
          <p:cNvSpPr/>
          <p:nvPr/>
        </p:nvSpPr>
        <p:spPr>
          <a:xfrm>
            <a:off x="749808" y="299139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7" name="Shape 45"/>
          <p:cNvSpPr/>
          <p:nvPr/>
        </p:nvSpPr>
        <p:spPr>
          <a:xfrm>
            <a:off x="1133856" y="2749731"/>
            <a:ext cx="54864" cy="91"/>
          </a:xfrm>
          <a:prstGeom prst="line">
            <a:avLst/>
          </a:prstGeom>
          <a:noFill/>
          <a:ln w="12700">
            <a:solidFill>
              <a:srgbClr val="133536"/>
            </a:solidFill>
            <a:prstDash val="solid"/>
          </a:ln>
        </p:spPr>
      </p:sp>
      <p:sp>
        <p:nvSpPr>
          <p:cNvPr id="48" name="Text 46"/>
          <p:cNvSpPr/>
          <p:nvPr/>
        </p:nvSpPr>
        <p:spPr>
          <a:xfrm>
            <a:off x="749808" y="265829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9" name="Shape 47"/>
          <p:cNvSpPr/>
          <p:nvPr/>
        </p:nvSpPr>
        <p:spPr>
          <a:xfrm>
            <a:off x="1133856" y="2416629"/>
            <a:ext cx="54864" cy="91"/>
          </a:xfrm>
          <a:prstGeom prst="line">
            <a:avLst/>
          </a:prstGeom>
          <a:noFill/>
          <a:ln w="12700">
            <a:solidFill>
              <a:srgbClr val="133536"/>
            </a:solidFill>
            <a:prstDash val="solid"/>
          </a:ln>
        </p:spPr>
      </p:sp>
      <p:sp>
        <p:nvSpPr>
          <p:cNvPr id="50" name="Text 48"/>
          <p:cNvSpPr/>
          <p:nvPr/>
        </p:nvSpPr>
        <p:spPr>
          <a:xfrm>
            <a:off x="749808" y="232518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1" name="Shape 49"/>
          <p:cNvSpPr/>
          <p:nvPr/>
        </p:nvSpPr>
        <p:spPr>
          <a:xfrm>
            <a:off x="1133856" y="2083526"/>
            <a:ext cx="54864" cy="91"/>
          </a:xfrm>
          <a:prstGeom prst="line">
            <a:avLst/>
          </a:prstGeom>
          <a:noFill/>
          <a:ln w="12700">
            <a:solidFill>
              <a:srgbClr val="133536"/>
            </a:solidFill>
            <a:prstDash val="solid"/>
          </a:ln>
        </p:spPr>
      </p:sp>
      <p:sp>
        <p:nvSpPr>
          <p:cNvPr id="52" name="Text 50"/>
          <p:cNvSpPr/>
          <p:nvPr/>
        </p:nvSpPr>
        <p:spPr>
          <a:xfrm>
            <a:off x="749808" y="199208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3" name="Shape 51"/>
          <p:cNvSpPr/>
          <p:nvPr/>
        </p:nvSpPr>
        <p:spPr>
          <a:xfrm>
            <a:off x="1133856" y="1750423"/>
            <a:ext cx="54864" cy="91"/>
          </a:xfrm>
          <a:prstGeom prst="line">
            <a:avLst/>
          </a:prstGeom>
          <a:noFill/>
          <a:ln w="12700">
            <a:solidFill>
              <a:srgbClr val="133536"/>
            </a:solidFill>
            <a:prstDash val="solid"/>
          </a:ln>
        </p:spPr>
      </p:sp>
      <p:sp>
        <p:nvSpPr>
          <p:cNvPr id="54" name="Text 52"/>
          <p:cNvSpPr/>
          <p:nvPr/>
        </p:nvSpPr>
        <p:spPr>
          <a:xfrm>
            <a:off x="749808" y="165898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5" name="Shape 53"/>
          <p:cNvSpPr/>
          <p:nvPr/>
        </p:nvSpPr>
        <p:spPr>
          <a:xfrm>
            <a:off x="1133856" y="1417320"/>
            <a:ext cx="54864" cy="91"/>
          </a:xfrm>
          <a:prstGeom prst="line">
            <a:avLst/>
          </a:prstGeom>
          <a:noFill/>
          <a:ln w="12700">
            <a:solidFill>
              <a:srgbClr val="133536"/>
            </a:solidFill>
            <a:prstDash val="solid"/>
          </a:ln>
        </p:spPr>
      </p:sp>
      <p:sp>
        <p:nvSpPr>
          <p:cNvPr id="56" name="Text 54"/>
          <p:cNvSpPr/>
          <p:nvPr/>
        </p:nvSpPr>
        <p:spPr>
          <a:xfrm>
            <a:off x="74980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57" name="Text 55"/>
          <p:cNvSpPr/>
          <p:nvPr/>
        </p:nvSpPr>
        <p:spPr>
          <a:xfrm>
            <a:off x="1188720" y="3995928"/>
            <a:ext cx="2103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Distance from city / km</a:t>
            </a:r>
            <a:endParaRPr lang="en-US" sz="1050" dirty="0"/>
          </a:p>
        </p:txBody>
      </p:sp>
      <p:sp>
        <p:nvSpPr>
          <p:cNvPr id="58" name="Shape 56"/>
          <p:cNvSpPr/>
          <p:nvPr/>
        </p:nvSpPr>
        <p:spPr>
          <a:xfrm>
            <a:off x="4069080" y="1417320"/>
            <a:ext cx="2103120" cy="2331720"/>
          </a:xfrm>
          <a:prstGeom prst="rect">
            <a:avLst/>
          </a:prstGeom>
          <a:solidFill>
            <a:srgbClr val="FFFFFF"/>
          </a:solidFill>
          <a:ln/>
        </p:spPr>
      </p:sp>
      <p:sp>
        <p:nvSpPr>
          <p:cNvPr id="59" name="Shape 57"/>
          <p:cNvSpPr/>
          <p:nvPr/>
        </p:nvSpPr>
        <p:spPr>
          <a:xfrm>
            <a:off x="4069080" y="1417320"/>
            <a:ext cx="91" cy="2331720"/>
          </a:xfrm>
          <a:prstGeom prst="line">
            <a:avLst/>
          </a:prstGeom>
          <a:noFill/>
          <a:ln w="6350">
            <a:solidFill>
              <a:srgbClr val="C5DCD9"/>
            </a:solidFill>
            <a:prstDash val="solid"/>
          </a:ln>
        </p:spPr>
      </p:sp>
      <p:sp>
        <p:nvSpPr>
          <p:cNvPr id="60" name="Shape 58"/>
          <p:cNvSpPr/>
          <p:nvPr/>
        </p:nvSpPr>
        <p:spPr>
          <a:xfrm>
            <a:off x="4489704" y="1417320"/>
            <a:ext cx="91" cy="2331720"/>
          </a:xfrm>
          <a:prstGeom prst="line">
            <a:avLst/>
          </a:prstGeom>
          <a:noFill/>
          <a:ln w="6350">
            <a:solidFill>
              <a:srgbClr val="C5DCD9"/>
            </a:solidFill>
            <a:prstDash val="solid"/>
          </a:ln>
        </p:spPr>
      </p:sp>
      <p:sp>
        <p:nvSpPr>
          <p:cNvPr id="61" name="Shape 59"/>
          <p:cNvSpPr/>
          <p:nvPr/>
        </p:nvSpPr>
        <p:spPr>
          <a:xfrm>
            <a:off x="4910328" y="1417320"/>
            <a:ext cx="91" cy="2331720"/>
          </a:xfrm>
          <a:prstGeom prst="line">
            <a:avLst/>
          </a:prstGeom>
          <a:noFill/>
          <a:ln w="6350">
            <a:solidFill>
              <a:srgbClr val="C5DCD9"/>
            </a:solidFill>
            <a:prstDash val="solid"/>
          </a:ln>
        </p:spPr>
      </p:sp>
      <p:sp>
        <p:nvSpPr>
          <p:cNvPr id="62" name="Shape 60"/>
          <p:cNvSpPr/>
          <p:nvPr/>
        </p:nvSpPr>
        <p:spPr>
          <a:xfrm>
            <a:off x="5330952" y="1417320"/>
            <a:ext cx="91" cy="2331720"/>
          </a:xfrm>
          <a:prstGeom prst="line">
            <a:avLst/>
          </a:prstGeom>
          <a:noFill/>
          <a:ln w="6350">
            <a:solidFill>
              <a:srgbClr val="C5DCD9"/>
            </a:solidFill>
            <a:prstDash val="solid"/>
          </a:ln>
        </p:spPr>
      </p:sp>
      <p:sp>
        <p:nvSpPr>
          <p:cNvPr id="63" name="Shape 61"/>
          <p:cNvSpPr/>
          <p:nvPr/>
        </p:nvSpPr>
        <p:spPr>
          <a:xfrm>
            <a:off x="5751576" y="1417320"/>
            <a:ext cx="91" cy="2331720"/>
          </a:xfrm>
          <a:prstGeom prst="line">
            <a:avLst/>
          </a:prstGeom>
          <a:noFill/>
          <a:ln w="6350">
            <a:solidFill>
              <a:srgbClr val="C5DCD9"/>
            </a:solidFill>
            <a:prstDash val="solid"/>
          </a:ln>
        </p:spPr>
      </p:sp>
      <p:sp>
        <p:nvSpPr>
          <p:cNvPr id="64" name="Shape 62"/>
          <p:cNvSpPr/>
          <p:nvPr/>
        </p:nvSpPr>
        <p:spPr>
          <a:xfrm>
            <a:off x="6172200" y="1417320"/>
            <a:ext cx="91" cy="2331720"/>
          </a:xfrm>
          <a:prstGeom prst="line">
            <a:avLst/>
          </a:prstGeom>
          <a:noFill/>
          <a:ln w="6350">
            <a:solidFill>
              <a:srgbClr val="C5DCD9"/>
            </a:solidFill>
            <a:prstDash val="solid"/>
          </a:ln>
        </p:spPr>
      </p:sp>
      <p:sp>
        <p:nvSpPr>
          <p:cNvPr id="65" name="Shape 63"/>
          <p:cNvSpPr/>
          <p:nvPr/>
        </p:nvSpPr>
        <p:spPr>
          <a:xfrm>
            <a:off x="4069080" y="3749040"/>
            <a:ext cx="2103120" cy="91"/>
          </a:xfrm>
          <a:prstGeom prst="line">
            <a:avLst/>
          </a:prstGeom>
          <a:noFill/>
          <a:ln w="6350">
            <a:solidFill>
              <a:srgbClr val="C5DCD9"/>
            </a:solidFill>
            <a:prstDash val="solid"/>
          </a:ln>
        </p:spPr>
      </p:sp>
      <p:sp>
        <p:nvSpPr>
          <p:cNvPr id="66" name="Shape 64"/>
          <p:cNvSpPr/>
          <p:nvPr/>
        </p:nvSpPr>
        <p:spPr>
          <a:xfrm>
            <a:off x="4069080" y="3282696"/>
            <a:ext cx="2103120" cy="91"/>
          </a:xfrm>
          <a:prstGeom prst="line">
            <a:avLst/>
          </a:prstGeom>
          <a:noFill/>
          <a:ln w="6350">
            <a:solidFill>
              <a:srgbClr val="C5DCD9"/>
            </a:solidFill>
            <a:prstDash val="solid"/>
          </a:ln>
        </p:spPr>
      </p:sp>
      <p:sp>
        <p:nvSpPr>
          <p:cNvPr id="67" name="Shape 65"/>
          <p:cNvSpPr/>
          <p:nvPr/>
        </p:nvSpPr>
        <p:spPr>
          <a:xfrm>
            <a:off x="4069080" y="2816352"/>
            <a:ext cx="2103120" cy="91"/>
          </a:xfrm>
          <a:prstGeom prst="line">
            <a:avLst/>
          </a:prstGeom>
          <a:noFill/>
          <a:ln w="6350">
            <a:solidFill>
              <a:srgbClr val="C5DCD9"/>
            </a:solidFill>
            <a:prstDash val="solid"/>
          </a:ln>
        </p:spPr>
      </p:sp>
      <p:sp>
        <p:nvSpPr>
          <p:cNvPr id="68" name="Shape 66"/>
          <p:cNvSpPr/>
          <p:nvPr/>
        </p:nvSpPr>
        <p:spPr>
          <a:xfrm>
            <a:off x="4069080" y="2350008"/>
            <a:ext cx="2103120" cy="91"/>
          </a:xfrm>
          <a:prstGeom prst="line">
            <a:avLst/>
          </a:prstGeom>
          <a:noFill/>
          <a:ln w="6350">
            <a:solidFill>
              <a:srgbClr val="C5DCD9"/>
            </a:solidFill>
            <a:prstDash val="solid"/>
          </a:ln>
        </p:spPr>
      </p:sp>
      <p:sp>
        <p:nvSpPr>
          <p:cNvPr id="69" name="Shape 67"/>
          <p:cNvSpPr/>
          <p:nvPr/>
        </p:nvSpPr>
        <p:spPr>
          <a:xfrm>
            <a:off x="4069080" y="1883664"/>
            <a:ext cx="2103120" cy="91"/>
          </a:xfrm>
          <a:prstGeom prst="line">
            <a:avLst/>
          </a:prstGeom>
          <a:noFill/>
          <a:ln w="6350">
            <a:solidFill>
              <a:srgbClr val="C5DCD9"/>
            </a:solidFill>
            <a:prstDash val="solid"/>
          </a:ln>
        </p:spPr>
      </p:sp>
      <p:sp>
        <p:nvSpPr>
          <p:cNvPr id="70" name="Shape 68"/>
          <p:cNvSpPr/>
          <p:nvPr/>
        </p:nvSpPr>
        <p:spPr>
          <a:xfrm>
            <a:off x="4069080" y="1417320"/>
            <a:ext cx="2103120" cy="91"/>
          </a:xfrm>
          <a:prstGeom prst="line">
            <a:avLst/>
          </a:prstGeom>
          <a:noFill/>
          <a:ln w="6350">
            <a:solidFill>
              <a:srgbClr val="C5DCD9"/>
            </a:solidFill>
            <a:prstDash val="solid"/>
          </a:ln>
        </p:spPr>
      </p:sp>
      <p:sp>
        <p:nvSpPr>
          <p:cNvPr id="71" name="Shape 69"/>
          <p:cNvSpPr/>
          <p:nvPr/>
        </p:nvSpPr>
        <p:spPr>
          <a:xfrm>
            <a:off x="4069080" y="3749040"/>
            <a:ext cx="2103120" cy="91"/>
          </a:xfrm>
          <a:prstGeom prst="line">
            <a:avLst/>
          </a:prstGeom>
          <a:noFill/>
          <a:ln w="19050">
            <a:solidFill>
              <a:srgbClr val="133536"/>
            </a:solidFill>
            <a:prstDash val="solid"/>
          </a:ln>
        </p:spPr>
      </p:sp>
      <p:sp>
        <p:nvSpPr>
          <p:cNvPr id="72" name="Shape 70"/>
          <p:cNvSpPr/>
          <p:nvPr/>
        </p:nvSpPr>
        <p:spPr>
          <a:xfrm flipV="1">
            <a:off x="4069080" y="1417320"/>
            <a:ext cx="91" cy="2331720"/>
          </a:xfrm>
          <a:prstGeom prst="line">
            <a:avLst/>
          </a:prstGeom>
          <a:noFill/>
          <a:ln w="19050">
            <a:solidFill>
              <a:srgbClr val="133536"/>
            </a:solidFill>
            <a:prstDash val="solid"/>
          </a:ln>
        </p:spPr>
      </p:sp>
      <p:sp>
        <p:nvSpPr>
          <p:cNvPr id="73" name="Shape 71"/>
          <p:cNvSpPr/>
          <p:nvPr/>
        </p:nvSpPr>
        <p:spPr>
          <a:xfrm>
            <a:off x="4069080" y="3749040"/>
            <a:ext cx="91" cy="54864"/>
          </a:xfrm>
          <a:prstGeom prst="line">
            <a:avLst/>
          </a:prstGeom>
          <a:noFill/>
          <a:ln w="12700">
            <a:solidFill>
              <a:srgbClr val="133536"/>
            </a:solidFill>
            <a:prstDash val="solid"/>
          </a:ln>
        </p:spPr>
      </p:sp>
      <p:sp>
        <p:nvSpPr>
          <p:cNvPr id="74" name="Text 72"/>
          <p:cNvSpPr/>
          <p:nvPr/>
        </p:nvSpPr>
        <p:spPr>
          <a:xfrm>
            <a:off x="3794760"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5" name="Shape 73"/>
          <p:cNvSpPr/>
          <p:nvPr/>
        </p:nvSpPr>
        <p:spPr>
          <a:xfrm>
            <a:off x="4489704" y="3749040"/>
            <a:ext cx="91" cy="54864"/>
          </a:xfrm>
          <a:prstGeom prst="line">
            <a:avLst/>
          </a:prstGeom>
          <a:noFill/>
          <a:ln w="12700">
            <a:solidFill>
              <a:srgbClr val="133536"/>
            </a:solidFill>
            <a:prstDash val="solid"/>
          </a:ln>
        </p:spPr>
      </p:sp>
      <p:sp>
        <p:nvSpPr>
          <p:cNvPr id="76" name="Text 74"/>
          <p:cNvSpPr/>
          <p:nvPr/>
        </p:nvSpPr>
        <p:spPr>
          <a:xfrm>
            <a:off x="4215384"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77" name="Shape 75"/>
          <p:cNvSpPr/>
          <p:nvPr/>
        </p:nvSpPr>
        <p:spPr>
          <a:xfrm>
            <a:off x="4910328" y="3749040"/>
            <a:ext cx="91" cy="54864"/>
          </a:xfrm>
          <a:prstGeom prst="line">
            <a:avLst/>
          </a:prstGeom>
          <a:noFill/>
          <a:ln w="12700">
            <a:solidFill>
              <a:srgbClr val="133536"/>
            </a:solidFill>
            <a:prstDash val="solid"/>
          </a:ln>
        </p:spPr>
      </p:sp>
      <p:sp>
        <p:nvSpPr>
          <p:cNvPr id="78" name="Text 76"/>
          <p:cNvSpPr/>
          <p:nvPr/>
        </p:nvSpPr>
        <p:spPr>
          <a:xfrm>
            <a:off x="4636008"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79" name="Shape 77"/>
          <p:cNvSpPr/>
          <p:nvPr/>
        </p:nvSpPr>
        <p:spPr>
          <a:xfrm>
            <a:off x="5330952" y="3749040"/>
            <a:ext cx="91" cy="54864"/>
          </a:xfrm>
          <a:prstGeom prst="line">
            <a:avLst/>
          </a:prstGeom>
          <a:noFill/>
          <a:ln w="12700">
            <a:solidFill>
              <a:srgbClr val="133536"/>
            </a:solidFill>
            <a:prstDash val="solid"/>
          </a:ln>
        </p:spPr>
      </p:sp>
      <p:sp>
        <p:nvSpPr>
          <p:cNvPr id="80" name="Text 78"/>
          <p:cNvSpPr/>
          <p:nvPr/>
        </p:nvSpPr>
        <p:spPr>
          <a:xfrm>
            <a:off x="5056632"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81" name="Shape 79"/>
          <p:cNvSpPr/>
          <p:nvPr/>
        </p:nvSpPr>
        <p:spPr>
          <a:xfrm>
            <a:off x="5751576" y="3749040"/>
            <a:ext cx="91" cy="54864"/>
          </a:xfrm>
          <a:prstGeom prst="line">
            <a:avLst/>
          </a:prstGeom>
          <a:noFill/>
          <a:ln w="12700">
            <a:solidFill>
              <a:srgbClr val="133536"/>
            </a:solidFill>
            <a:prstDash val="solid"/>
          </a:ln>
        </p:spPr>
      </p:sp>
      <p:sp>
        <p:nvSpPr>
          <p:cNvPr id="82" name="Text 80"/>
          <p:cNvSpPr/>
          <p:nvPr/>
        </p:nvSpPr>
        <p:spPr>
          <a:xfrm>
            <a:off x="5477256"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83" name="Shape 81"/>
          <p:cNvSpPr/>
          <p:nvPr/>
        </p:nvSpPr>
        <p:spPr>
          <a:xfrm>
            <a:off x="6172200" y="3749040"/>
            <a:ext cx="91" cy="54864"/>
          </a:xfrm>
          <a:prstGeom prst="line">
            <a:avLst/>
          </a:prstGeom>
          <a:noFill/>
          <a:ln w="12700">
            <a:solidFill>
              <a:srgbClr val="133536"/>
            </a:solidFill>
            <a:prstDash val="solid"/>
          </a:ln>
        </p:spPr>
      </p:sp>
      <p:sp>
        <p:nvSpPr>
          <p:cNvPr id="84" name="Text 82"/>
          <p:cNvSpPr/>
          <p:nvPr/>
        </p:nvSpPr>
        <p:spPr>
          <a:xfrm>
            <a:off x="5897880" y="38039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85" name="Shape 83"/>
          <p:cNvSpPr/>
          <p:nvPr/>
        </p:nvSpPr>
        <p:spPr>
          <a:xfrm>
            <a:off x="4014216" y="3749040"/>
            <a:ext cx="54864" cy="91"/>
          </a:xfrm>
          <a:prstGeom prst="line">
            <a:avLst/>
          </a:prstGeom>
          <a:noFill/>
          <a:ln w="12700">
            <a:solidFill>
              <a:srgbClr val="133536"/>
            </a:solidFill>
            <a:prstDash val="solid"/>
          </a:ln>
        </p:spPr>
      </p:sp>
      <p:sp>
        <p:nvSpPr>
          <p:cNvPr id="86" name="Text 84"/>
          <p:cNvSpPr/>
          <p:nvPr/>
        </p:nvSpPr>
        <p:spPr>
          <a:xfrm>
            <a:off x="3630168" y="3657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87" name="Shape 85"/>
          <p:cNvSpPr/>
          <p:nvPr/>
        </p:nvSpPr>
        <p:spPr>
          <a:xfrm>
            <a:off x="4014216" y="3282696"/>
            <a:ext cx="54864" cy="91"/>
          </a:xfrm>
          <a:prstGeom prst="line">
            <a:avLst/>
          </a:prstGeom>
          <a:noFill/>
          <a:ln w="12700">
            <a:solidFill>
              <a:srgbClr val="133536"/>
            </a:solidFill>
            <a:prstDash val="solid"/>
          </a:ln>
        </p:spPr>
      </p:sp>
      <p:sp>
        <p:nvSpPr>
          <p:cNvPr id="88" name="Text 86"/>
          <p:cNvSpPr/>
          <p:nvPr/>
        </p:nvSpPr>
        <p:spPr>
          <a:xfrm>
            <a:off x="3630168" y="319125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89" name="Shape 87"/>
          <p:cNvSpPr/>
          <p:nvPr/>
        </p:nvSpPr>
        <p:spPr>
          <a:xfrm>
            <a:off x="4014216" y="2816352"/>
            <a:ext cx="54864" cy="91"/>
          </a:xfrm>
          <a:prstGeom prst="line">
            <a:avLst/>
          </a:prstGeom>
          <a:noFill/>
          <a:ln w="12700">
            <a:solidFill>
              <a:srgbClr val="133536"/>
            </a:solidFill>
            <a:prstDash val="solid"/>
          </a:ln>
        </p:spPr>
      </p:sp>
      <p:sp>
        <p:nvSpPr>
          <p:cNvPr id="90" name="Text 88"/>
          <p:cNvSpPr/>
          <p:nvPr/>
        </p:nvSpPr>
        <p:spPr>
          <a:xfrm>
            <a:off x="3630168" y="272491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91" name="Shape 89"/>
          <p:cNvSpPr/>
          <p:nvPr/>
        </p:nvSpPr>
        <p:spPr>
          <a:xfrm>
            <a:off x="4014216" y="2350008"/>
            <a:ext cx="54864" cy="91"/>
          </a:xfrm>
          <a:prstGeom prst="line">
            <a:avLst/>
          </a:prstGeom>
          <a:noFill/>
          <a:ln w="12700">
            <a:solidFill>
              <a:srgbClr val="133536"/>
            </a:solidFill>
            <a:prstDash val="solid"/>
          </a:ln>
        </p:spPr>
      </p:sp>
      <p:sp>
        <p:nvSpPr>
          <p:cNvPr id="92" name="Text 90"/>
          <p:cNvSpPr/>
          <p:nvPr/>
        </p:nvSpPr>
        <p:spPr>
          <a:xfrm>
            <a:off x="3630168" y="225856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93" name="Shape 91"/>
          <p:cNvSpPr/>
          <p:nvPr/>
        </p:nvSpPr>
        <p:spPr>
          <a:xfrm>
            <a:off x="4014216" y="1883664"/>
            <a:ext cx="54864" cy="91"/>
          </a:xfrm>
          <a:prstGeom prst="line">
            <a:avLst/>
          </a:prstGeom>
          <a:noFill/>
          <a:ln w="12700">
            <a:solidFill>
              <a:srgbClr val="133536"/>
            </a:solidFill>
            <a:prstDash val="solid"/>
          </a:ln>
        </p:spPr>
      </p:sp>
      <p:sp>
        <p:nvSpPr>
          <p:cNvPr id="94" name="Text 92"/>
          <p:cNvSpPr/>
          <p:nvPr/>
        </p:nvSpPr>
        <p:spPr>
          <a:xfrm>
            <a:off x="3630168" y="179222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95" name="Shape 93"/>
          <p:cNvSpPr/>
          <p:nvPr/>
        </p:nvSpPr>
        <p:spPr>
          <a:xfrm>
            <a:off x="4014216" y="1417320"/>
            <a:ext cx="54864" cy="91"/>
          </a:xfrm>
          <a:prstGeom prst="line">
            <a:avLst/>
          </a:prstGeom>
          <a:noFill/>
          <a:ln w="12700">
            <a:solidFill>
              <a:srgbClr val="133536"/>
            </a:solidFill>
            <a:prstDash val="solid"/>
          </a:ln>
        </p:spPr>
      </p:sp>
      <p:sp>
        <p:nvSpPr>
          <p:cNvPr id="96" name="Text 94"/>
          <p:cNvSpPr/>
          <p:nvPr/>
        </p:nvSpPr>
        <p:spPr>
          <a:xfrm>
            <a:off x="36301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97" name="Text 95"/>
          <p:cNvSpPr/>
          <p:nvPr/>
        </p:nvSpPr>
        <p:spPr>
          <a:xfrm>
            <a:off x="4069080" y="3995928"/>
            <a:ext cx="2103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Distance downstream / km</a:t>
            </a:r>
            <a:endParaRPr lang="en-US" sz="1050" dirty="0"/>
          </a:p>
        </p:txBody>
      </p:sp>
      <p:sp>
        <p:nvSpPr>
          <p:cNvPr id="98" name="Shape 96"/>
          <p:cNvSpPr/>
          <p:nvPr/>
        </p:nvSpPr>
        <p:spPr>
          <a:xfrm>
            <a:off x="1188720" y="1750423"/>
            <a:ext cx="420624" cy="499654"/>
          </a:xfrm>
          <a:prstGeom prst="line">
            <a:avLst/>
          </a:prstGeom>
          <a:noFill/>
          <a:ln w="25400">
            <a:solidFill>
              <a:srgbClr val="7A7A7A"/>
            </a:solidFill>
            <a:prstDash val="solid"/>
          </a:ln>
        </p:spPr>
      </p:sp>
      <p:sp>
        <p:nvSpPr>
          <p:cNvPr id="99" name="Shape 97"/>
          <p:cNvSpPr/>
          <p:nvPr/>
        </p:nvSpPr>
        <p:spPr>
          <a:xfrm>
            <a:off x="1609344" y="2250077"/>
            <a:ext cx="420624" cy="499654"/>
          </a:xfrm>
          <a:prstGeom prst="line">
            <a:avLst/>
          </a:prstGeom>
          <a:noFill/>
          <a:ln w="25400">
            <a:solidFill>
              <a:srgbClr val="7A7A7A"/>
            </a:solidFill>
            <a:prstDash val="solid"/>
          </a:ln>
        </p:spPr>
      </p:sp>
      <p:sp>
        <p:nvSpPr>
          <p:cNvPr id="100" name="Shape 98"/>
          <p:cNvSpPr/>
          <p:nvPr/>
        </p:nvSpPr>
        <p:spPr>
          <a:xfrm>
            <a:off x="2029968" y="2749731"/>
            <a:ext cx="420624" cy="333103"/>
          </a:xfrm>
          <a:prstGeom prst="line">
            <a:avLst/>
          </a:prstGeom>
          <a:noFill/>
          <a:ln w="25400">
            <a:solidFill>
              <a:srgbClr val="7A7A7A"/>
            </a:solidFill>
            <a:prstDash val="solid"/>
          </a:ln>
        </p:spPr>
      </p:sp>
      <p:sp>
        <p:nvSpPr>
          <p:cNvPr id="101" name="Shape 99"/>
          <p:cNvSpPr/>
          <p:nvPr/>
        </p:nvSpPr>
        <p:spPr>
          <a:xfrm>
            <a:off x="2450592" y="3082834"/>
            <a:ext cx="420624" cy="266482"/>
          </a:xfrm>
          <a:prstGeom prst="line">
            <a:avLst/>
          </a:prstGeom>
          <a:noFill/>
          <a:ln w="25400">
            <a:solidFill>
              <a:srgbClr val="7A7A7A"/>
            </a:solidFill>
            <a:prstDash val="solid"/>
          </a:ln>
        </p:spPr>
      </p:sp>
      <p:sp>
        <p:nvSpPr>
          <p:cNvPr id="102" name="Shape 100"/>
          <p:cNvSpPr/>
          <p:nvPr/>
        </p:nvSpPr>
        <p:spPr>
          <a:xfrm>
            <a:off x="2871216" y="3349317"/>
            <a:ext cx="420624" cy="133241"/>
          </a:xfrm>
          <a:prstGeom prst="line">
            <a:avLst/>
          </a:prstGeom>
          <a:noFill/>
          <a:ln w="25400">
            <a:solidFill>
              <a:srgbClr val="7A7A7A"/>
            </a:solidFill>
            <a:prstDash val="solid"/>
          </a:ln>
        </p:spPr>
      </p:sp>
      <p:sp>
        <p:nvSpPr>
          <p:cNvPr id="103" name="Shape 101"/>
          <p:cNvSpPr/>
          <p:nvPr/>
        </p:nvSpPr>
        <p:spPr>
          <a:xfrm>
            <a:off x="1143000" y="1704703"/>
            <a:ext cx="91440" cy="91440"/>
          </a:xfrm>
          <a:prstGeom prst="line">
            <a:avLst/>
          </a:prstGeom>
          <a:noFill/>
          <a:ln w="15875">
            <a:solidFill>
              <a:srgbClr val="133536"/>
            </a:solidFill>
            <a:prstDash val="solid"/>
          </a:ln>
        </p:spPr>
      </p:sp>
      <p:sp>
        <p:nvSpPr>
          <p:cNvPr id="104" name="Shape 102"/>
          <p:cNvSpPr/>
          <p:nvPr/>
        </p:nvSpPr>
        <p:spPr>
          <a:xfrm flipV="1">
            <a:off x="1143000" y="1704703"/>
            <a:ext cx="91440" cy="91440"/>
          </a:xfrm>
          <a:prstGeom prst="line">
            <a:avLst/>
          </a:prstGeom>
          <a:noFill/>
          <a:ln w="15875">
            <a:solidFill>
              <a:srgbClr val="133536"/>
            </a:solidFill>
            <a:prstDash val="solid"/>
          </a:ln>
        </p:spPr>
      </p:sp>
      <p:sp>
        <p:nvSpPr>
          <p:cNvPr id="105" name="Shape 103"/>
          <p:cNvSpPr/>
          <p:nvPr/>
        </p:nvSpPr>
        <p:spPr>
          <a:xfrm>
            <a:off x="1563624" y="2204357"/>
            <a:ext cx="91440" cy="91440"/>
          </a:xfrm>
          <a:prstGeom prst="line">
            <a:avLst/>
          </a:prstGeom>
          <a:noFill/>
          <a:ln w="15875">
            <a:solidFill>
              <a:srgbClr val="133536"/>
            </a:solidFill>
            <a:prstDash val="solid"/>
          </a:ln>
        </p:spPr>
      </p:sp>
      <p:sp>
        <p:nvSpPr>
          <p:cNvPr id="106" name="Shape 104"/>
          <p:cNvSpPr/>
          <p:nvPr/>
        </p:nvSpPr>
        <p:spPr>
          <a:xfrm flipV="1">
            <a:off x="1563624" y="2204357"/>
            <a:ext cx="91440" cy="91440"/>
          </a:xfrm>
          <a:prstGeom prst="line">
            <a:avLst/>
          </a:prstGeom>
          <a:noFill/>
          <a:ln w="15875">
            <a:solidFill>
              <a:srgbClr val="133536"/>
            </a:solidFill>
            <a:prstDash val="solid"/>
          </a:ln>
        </p:spPr>
      </p:sp>
      <p:sp>
        <p:nvSpPr>
          <p:cNvPr id="107" name="Shape 105"/>
          <p:cNvSpPr/>
          <p:nvPr/>
        </p:nvSpPr>
        <p:spPr>
          <a:xfrm>
            <a:off x="1984248" y="2704011"/>
            <a:ext cx="91440" cy="91440"/>
          </a:xfrm>
          <a:prstGeom prst="line">
            <a:avLst/>
          </a:prstGeom>
          <a:noFill/>
          <a:ln w="15875">
            <a:solidFill>
              <a:srgbClr val="133536"/>
            </a:solidFill>
            <a:prstDash val="solid"/>
          </a:ln>
        </p:spPr>
      </p:sp>
      <p:sp>
        <p:nvSpPr>
          <p:cNvPr id="108" name="Shape 106"/>
          <p:cNvSpPr/>
          <p:nvPr/>
        </p:nvSpPr>
        <p:spPr>
          <a:xfrm flipV="1">
            <a:off x="1984248" y="2704011"/>
            <a:ext cx="91440" cy="91440"/>
          </a:xfrm>
          <a:prstGeom prst="line">
            <a:avLst/>
          </a:prstGeom>
          <a:noFill/>
          <a:ln w="15875">
            <a:solidFill>
              <a:srgbClr val="133536"/>
            </a:solidFill>
            <a:prstDash val="solid"/>
          </a:ln>
        </p:spPr>
      </p:sp>
      <p:sp>
        <p:nvSpPr>
          <p:cNvPr id="109" name="Shape 107"/>
          <p:cNvSpPr/>
          <p:nvPr/>
        </p:nvSpPr>
        <p:spPr>
          <a:xfrm>
            <a:off x="2404872" y="3037114"/>
            <a:ext cx="91440" cy="91440"/>
          </a:xfrm>
          <a:prstGeom prst="line">
            <a:avLst/>
          </a:prstGeom>
          <a:noFill/>
          <a:ln w="15875">
            <a:solidFill>
              <a:srgbClr val="133536"/>
            </a:solidFill>
            <a:prstDash val="solid"/>
          </a:ln>
        </p:spPr>
      </p:sp>
      <p:sp>
        <p:nvSpPr>
          <p:cNvPr id="110" name="Shape 108"/>
          <p:cNvSpPr/>
          <p:nvPr/>
        </p:nvSpPr>
        <p:spPr>
          <a:xfrm flipV="1">
            <a:off x="2404872" y="3037114"/>
            <a:ext cx="91440" cy="91440"/>
          </a:xfrm>
          <a:prstGeom prst="line">
            <a:avLst/>
          </a:prstGeom>
          <a:noFill/>
          <a:ln w="15875">
            <a:solidFill>
              <a:srgbClr val="133536"/>
            </a:solidFill>
            <a:prstDash val="solid"/>
          </a:ln>
        </p:spPr>
      </p:sp>
      <p:sp>
        <p:nvSpPr>
          <p:cNvPr id="111" name="Shape 109"/>
          <p:cNvSpPr/>
          <p:nvPr/>
        </p:nvSpPr>
        <p:spPr>
          <a:xfrm>
            <a:off x="2825496" y="3303597"/>
            <a:ext cx="91440" cy="91440"/>
          </a:xfrm>
          <a:prstGeom prst="line">
            <a:avLst/>
          </a:prstGeom>
          <a:noFill/>
          <a:ln w="15875">
            <a:solidFill>
              <a:srgbClr val="133536"/>
            </a:solidFill>
            <a:prstDash val="solid"/>
          </a:ln>
        </p:spPr>
      </p:sp>
      <p:sp>
        <p:nvSpPr>
          <p:cNvPr id="112" name="Shape 110"/>
          <p:cNvSpPr/>
          <p:nvPr/>
        </p:nvSpPr>
        <p:spPr>
          <a:xfrm flipV="1">
            <a:off x="2825496" y="3303597"/>
            <a:ext cx="91440" cy="91440"/>
          </a:xfrm>
          <a:prstGeom prst="line">
            <a:avLst/>
          </a:prstGeom>
          <a:noFill/>
          <a:ln w="15875">
            <a:solidFill>
              <a:srgbClr val="133536"/>
            </a:solidFill>
            <a:prstDash val="solid"/>
          </a:ln>
        </p:spPr>
      </p:sp>
      <p:sp>
        <p:nvSpPr>
          <p:cNvPr id="113" name="Shape 111"/>
          <p:cNvSpPr/>
          <p:nvPr/>
        </p:nvSpPr>
        <p:spPr>
          <a:xfrm>
            <a:off x="3246120" y="3436838"/>
            <a:ext cx="91440" cy="91440"/>
          </a:xfrm>
          <a:prstGeom prst="line">
            <a:avLst/>
          </a:prstGeom>
          <a:noFill/>
          <a:ln w="15875">
            <a:solidFill>
              <a:srgbClr val="133536"/>
            </a:solidFill>
            <a:prstDash val="solid"/>
          </a:ln>
        </p:spPr>
      </p:sp>
      <p:sp>
        <p:nvSpPr>
          <p:cNvPr id="114" name="Shape 112"/>
          <p:cNvSpPr/>
          <p:nvPr/>
        </p:nvSpPr>
        <p:spPr>
          <a:xfrm flipV="1">
            <a:off x="3246120" y="3436838"/>
            <a:ext cx="91440" cy="91440"/>
          </a:xfrm>
          <a:prstGeom prst="line">
            <a:avLst/>
          </a:prstGeom>
          <a:noFill/>
          <a:ln w="15875">
            <a:solidFill>
              <a:srgbClr val="133536"/>
            </a:solidFill>
            <a:prstDash val="solid"/>
          </a:ln>
        </p:spPr>
      </p:sp>
      <p:sp>
        <p:nvSpPr>
          <p:cNvPr id="115" name="Shape 113"/>
          <p:cNvSpPr/>
          <p:nvPr/>
        </p:nvSpPr>
        <p:spPr>
          <a:xfrm flipV="1">
            <a:off x="1188720" y="3249386"/>
            <a:ext cx="420624" cy="333103"/>
          </a:xfrm>
          <a:prstGeom prst="line">
            <a:avLst/>
          </a:prstGeom>
          <a:noFill/>
          <a:ln w="25400">
            <a:solidFill>
              <a:srgbClr val="7D8A3A"/>
            </a:solidFill>
            <a:prstDash val="solid"/>
          </a:ln>
        </p:spPr>
      </p:sp>
      <p:sp>
        <p:nvSpPr>
          <p:cNvPr id="116" name="Shape 114"/>
          <p:cNvSpPr/>
          <p:nvPr/>
        </p:nvSpPr>
        <p:spPr>
          <a:xfrm flipV="1">
            <a:off x="1609344" y="2749731"/>
            <a:ext cx="420624" cy="499654"/>
          </a:xfrm>
          <a:prstGeom prst="line">
            <a:avLst/>
          </a:prstGeom>
          <a:noFill/>
          <a:ln w="25400">
            <a:solidFill>
              <a:srgbClr val="7D8A3A"/>
            </a:solidFill>
            <a:prstDash val="solid"/>
          </a:ln>
        </p:spPr>
      </p:sp>
      <p:sp>
        <p:nvSpPr>
          <p:cNvPr id="117" name="Shape 115"/>
          <p:cNvSpPr/>
          <p:nvPr/>
        </p:nvSpPr>
        <p:spPr>
          <a:xfrm flipV="1">
            <a:off x="2029968" y="2250077"/>
            <a:ext cx="420624" cy="499654"/>
          </a:xfrm>
          <a:prstGeom prst="line">
            <a:avLst/>
          </a:prstGeom>
          <a:noFill/>
          <a:ln w="25400">
            <a:solidFill>
              <a:srgbClr val="7D8A3A"/>
            </a:solidFill>
            <a:prstDash val="solid"/>
          </a:ln>
        </p:spPr>
      </p:sp>
      <p:sp>
        <p:nvSpPr>
          <p:cNvPr id="118" name="Shape 116"/>
          <p:cNvSpPr/>
          <p:nvPr/>
        </p:nvSpPr>
        <p:spPr>
          <a:xfrm flipV="1">
            <a:off x="2450592" y="1750423"/>
            <a:ext cx="420624" cy="499654"/>
          </a:xfrm>
          <a:prstGeom prst="line">
            <a:avLst/>
          </a:prstGeom>
          <a:noFill/>
          <a:ln w="25400">
            <a:solidFill>
              <a:srgbClr val="7D8A3A"/>
            </a:solidFill>
            <a:prstDash val="solid"/>
          </a:ln>
        </p:spPr>
      </p:sp>
      <p:sp>
        <p:nvSpPr>
          <p:cNvPr id="119" name="Shape 117"/>
          <p:cNvSpPr/>
          <p:nvPr/>
        </p:nvSpPr>
        <p:spPr>
          <a:xfrm flipV="1">
            <a:off x="2871216" y="1583871"/>
            <a:ext cx="420624" cy="166551"/>
          </a:xfrm>
          <a:prstGeom prst="line">
            <a:avLst/>
          </a:prstGeom>
          <a:noFill/>
          <a:ln w="25400">
            <a:solidFill>
              <a:srgbClr val="7D8A3A"/>
            </a:solidFill>
            <a:prstDash val="solid"/>
          </a:ln>
        </p:spPr>
      </p:sp>
      <p:sp>
        <p:nvSpPr>
          <p:cNvPr id="120" name="Shape 118"/>
          <p:cNvSpPr/>
          <p:nvPr/>
        </p:nvSpPr>
        <p:spPr>
          <a:xfrm>
            <a:off x="1143000" y="3536769"/>
            <a:ext cx="91440" cy="91440"/>
          </a:xfrm>
          <a:prstGeom prst="line">
            <a:avLst/>
          </a:prstGeom>
          <a:noFill/>
          <a:ln w="15875">
            <a:solidFill>
              <a:srgbClr val="133536"/>
            </a:solidFill>
            <a:prstDash val="solid"/>
          </a:ln>
        </p:spPr>
      </p:sp>
      <p:sp>
        <p:nvSpPr>
          <p:cNvPr id="121" name="Shape 119"/>
          <p:cNvSpPr/>
          <p:nvPr/>
        </p:nvSpPr>
        <p:spPr>
          <a:xfrm flipV="1">
            <a:off x="1143000" y="3536769"/>
            <a:ext cx="91440" cy="91440"/>
          </a:xfrm>
          <a:prstGeom prst="line">
            <a:avLst/>
          </a:prstGeom>
          <a:noFill/>
          <a:ln w="15875">
            <a:solidFill>
              <a:srgbClr val="133536"/>
            </a:solidFill>
            <a:prstDash val="solid"/>
          </a:ln>
        </p:spPr>
      </p:sp>
      <p:sp>
        <p:nvSpPr>
          <p:cNvPr id="122" name="Shape 120"/>
          <p:cNvSpPr/>
          <p:nvPr/>
        </p:nvSpPr>
        <p:spPr>
          <a:xfrm>
            <a:off x="1563624" y="3203666"/>
            <a:ext cx="91440" cy="91440"/>
          </a:xfrm>
          <a:prstGeom prst="line">
            <a:avLst/>
          </a:prstGeom>
          <a:noFill/>
          <a:ln w="15875">
            <a:solidFill>
              <a:srgbClr val="133536"/>
            </a:solidFill>
            <a:prstDash val="solid"/>
          </a:ln>
        </p:spPr>
      </p:sp>
      <p:sp>
        <p:nvSpPr>
          <p:cNvPr id="123" name="Shape 121"/>
          <p:cNvSpPr/>
          <p:nvPr/>
        </p:nvSpPr>
        <p:spPr>
          <a:xfrm flipV="1">
            <a:off x="1563624" y="3203666"/>
            <a:ext cx="91440" cy="91440"/>
          </a:xfrm>
          <a:prstGeom prst="line">
            <a:avLst/>
          </a:prstGeom>
          <a:noFill/>
          <a:ln w="15875">
            <a:solidFill>
              <a:srgbClr val="133536"/>
            </a:solidFill>
            <a:prstDash val="solid"/>
          </a:ln>
        </p:spPr>
      </p:sp>
      <p:sp>
        <p:nvSpPr>
          <p:cNvPr id="124" name="Shape 122"/>
          <p:cNvSpPr/>
          <p:nvPr/>
        </p:nvSpPr>
        <p:spPr>
          <a:xfrm>
            <a:off x="1984248" y="2704011"/>
            <a:ext cx="91440" cy="91440"/>
          </a:xfrm>
          <a:prstGeom prst="line">
            <a:avLst/>
          </a:prstGeom>
          <a:noFill/>
          <a:ln w="15875">
            <a:solidFill>
              <a:srgbClr val="133536"/>
            </a:solidFill>
            <a:prstDash val="solid"/>
          </a:ln>
        </p:spPr>
      </p:sp>
      <p:sp>
        <p:nvSpPr>
          <p:cNvPr id="125" name="Shape 123"/>
          <p:cNvSpPr/>
          <p:nvPr/>
        </p:nvSpPr>
        <p:spPr>
          <a:xfrm flipV="1">
            <a:off x="1984248" y="2704011"/>
            <a:ext cx="91440" cy="91440"/>
          </a:xfrm>
          <a:prstGeom prst="line">
            <a:avLst/>
          </a:prstGeom>
          <a:noFill/>
          <a:ln w="15875">
            <a:solidFill>
              <a:srgbClr val="133536"/>
            </a:solidFill>
            <a:prstDash val="solid"/>
          </a:ln>
        </p:spPr>
      </p:sp>
      <p:sp>
        <p:nvSpPr>
          <p:cNvPr id="126" name="Shape 124"/>
          <p:cNvSpPr/>
          <p:nvPr/>
        </p:nvSpPr>
        <p:spPr>
          <a:xfrm>
            <a:off x="2404872" y="2204357"/>
            <a:ext cx="91440" cy="91440"/>
          </a:xfrm>
          <a:prstGeom prst="line">
            <a:avLst/>
          </a:prstGeom>
          <a:noFill/>
          <a:ln w="15875">
            <a:solidFill>
              <a:srgbClr val="133536"/>
            </a:solidFill>
            <a:prstDash val="solid"/>
          </a:ln>
        </p:spPr>
      </p:sp>
      <p:sp>
        <p:nvSpPr>
          <p:cNvPr id="127" name="Shape 125"/>
          <p:cNvSpPr/>
          <p:nvPr/>
        </p:nvSpPr>
        <p:spPr>
          <a:xfrm flipV="1">
            <a:off x="2404872" y="2204357"/>
            <a:ext cx="91440" cy="91440"/>
          </a:xfrm>
          <a:prstGeom prst="line">
            <a:avLst/>
          </a:prstGeom>
          <a:noFill/>
          <a:ln w="15875">
            <a:solidFill>
              <a:srgbClr val="133536"/>
            </a:solidFill>
            <a:prstDash val="solid"/>
          </a:ln>
        </p:spPr>
      </p:sp>
      <p:sp>
        <p:nvSpPr>
          <p:cNvPr id="128" name="Shape 126"/>
          <p:cNvSpPr/>
          <p:nvPr/>
        </p:nvSpPr>
        <p:spPr>
          <a:xfrm>
            <a:off x="2825496" y="1704703"/>
            <a:ext cx="91440" cy="91440"/>
          </a:xfrm>
          <a:prstGeom prst="line">
            <a:avLst/>
          </a:prstGeom>
          <a:noFill/>
          <a:ln w="15875">
            <a:solidFill>
              <a:srgbClr val="133536"/>
            </a:solidFill>
            <a:prstDash val="solid"/>
          </a:ln>
        </p:spPr>
      </p:sp>
      <p:sp>
        <p:nvSpPr>
          <p:cNvPr id="129" name="Shape 127"/>
          <p:cNvSpPr/>
          <p:nvPr/>
        </p:nvSpPr>
        <p:spPr>
          <a:xfrm flipV="1">
            <a:off x="2825496" y="1704703"/>
            <a:ext cx="91440" cy="91440"/>
          </a:xfrm>
          <a:prstGeom prst="line">
            <a:avLst/>
          </a:prstGeom>
          <a:noFill/>
          <a:ln w="15875">
            <a:solidFill>
              <a:srgbClr val="133536"/>
            </a:solidFill>
            <a:prstDash val="solid"/>
          </a:ln>
        </p:spPr>
      </p:sp>
      <p:sp>
        <p:nvSpPr>
          <p:cNvPr id="130" name="Shape 128"/>
          <p:cNvSpPr/>
          <p:nvPr/>
        </p:nvSpPr>
        <p:spPr>
          <a:xfrm>
            <a:off x="3246120" y="1538151"/>
            <a:ext cx="91440" cy="91440"/>
          </a:xfrm>
          <a:prstGeom prst="line">
            <a:avLst/>
          </a:prstGeom>
          <a:noFill/>
          <a:ln w="15875">
            <a:solidFill>
              <a:srgbClr val="133536"/>
            </a:solidFill>
            <a:prstDash val="solid"/>
          </a:ln>
        </p:spPr>
      </p:sp>
      <p:sp>
        <p:nvSpPr>
          <p:cNvPr id="131" name="Shape 129"/>
          <p:cNvSpPr/>
          <p:nvPr/>
        </p:nvSpPr>
        <p:spPr>
          <a:xfrm flipV="1">
            <a:off x="3246120" y="1538151"/>
            <a:ext cx="91440" cy="91440"/>
          </a:xfrm>
          <a:prstGeom prst="line">
            <a:avLst/>
          </a:prstGeom>
          <a:noFill/>
          <a:ln w="15875">
            <a:solidFill>
              <a:srgbClr val="133536"/>
            </a:solidFill>
            <a:prstDash val="solid"/>
          </a:ln>
        </p:spPr>
      </p:sp>
      <p:sp>
        <p:nvSpPr>
          <p:cNvPr id="132" name="Text 130"/>
          <p:cNvSpPr/>
          <p:nvPr/>
        </p:nvSpPr>
        <p:spPr>
          <a:xfrm>
            <a:off x="1188720" y="1188720"/>
            <a:ext cx="210312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Air</a:t>
            </a:r>
            <a:r>
              <a:rPr lang="en-US" sz="1050" dirty="0">
                <a:solidFill>
                  <a:srgbClr val="262B3A"/>
                </a:solidFill>
                <a:latin typeface="Calibri" pitchFamily="34" charset="0"/>
                <a:ea typeface="Calibri" pitchFamily="34" charset="-122"/>
                <a:cs typeface="Calibri" pitchFamily="34" charset="-120"/>
              </a:rPr>
              <a:t>: SO₂ and lichens</a:t>
            </a:r>
            <a:endParaRPr lang="en-US" sz="1050" dirty="0"/>
          </a:p>
        </p:txBody>
      </p:sp>
      <p:sp>
        <p:nvSpPr>
          <p:cNvPr id="133" name="Text 131"/>
          <p:cNvSpPr/>
          <p:nvPr/>
        </p:nvSpPr>
        <p:spPr>
          <a:xfrm>
            <a:off x="1251814" y="1550561"/>
            <a:ext cx="1097280" cy="182880"/>
          </a:xfrm>
          <a:prstGeom prst="rect">
            <a:avLst/>
          </a:prstGeom>
          <a:noFill/>
          <a:ln/>
        </p:spPr>
        <p:txBody>
          <a:bodyPr wrap="square" lIns="0" tIns="0" rIns="0" bIns="0" rtlCol="0" anchor="ctr"/>
          <a:lstStyle/>
          <a:p>
            <a:pPr algn="l" indent="0" marL="0">
              <a:buNone/>
            </a:pPr>
            <a:r>
              <a:rPr lang="en-US" sz="1000" b="1" dirty="0">
                <a:solidFill>
                  <a:srgbClr val="5A5A5A"/>
                </a:solidFill>
                <a:latin typeface="Calibri" pitchFamily="34" charset="0"/>
                <a:ea typeface="Calibri" pitchFamily="34" charset="-122"/>
                <a:cs typeface="Calibri" pitchFamily="34" charset="-120"/>
              </a:rPr>
              <a:t>SO₂ / µg/m³</a:t>
            </a:r>
            <a:endParaRPr lang="en-US" sz="1000" dirty="0"/>
          </a:p>
        </p:txBody>
      </p:sp>
      <p:sp>
        <p:nvSpPr>
          <p:cNvPr id="134" name="Text 132"/>
          <p:cNvSpPr/>
          <p:nvPr/>
        </p:nvSpPr>
        <p:spPr>
          <a:xfrm>
            <a:off x="2156155" y="3549178"/>
            <a:ext cx="1188720" cy="182880"/>
          </a:xfrm>
          <a:prstGeom prst="rect">
            <a:avLst/>
          </a:prstGeom>
          <a:noFill/>
          <a:ln/>
        </p:spPr>
        <p:txBody>
          <a:bodyPr wrap="square" lIns="0" tIns="0" rIns="0" bIns="0" rtlCol="0" anchor="ctr"/>
          <a:lstStyle/>
          <a:p>
            <a:pPr algn="l" indent="0" marL="0">
              <a:buNone/>
            </a:pPr>
            <a:r>
              <a:rPr lang="en-US" sz="1000" b="1" dirty="0">
                <a:solidFill>
                  <a:srgbClr val="5E6A1E"/>
                </a:solidFill>
                <a:latin typeface="Calibri" pitchFamily="34" charset="0"/>
                <a:ea typeface="Calibri" pitchFamily="34" charset="-122"/>
                <a:cs typeface="Calibri" pitchFamily="34" charset="-120"/>
              </a:rPr>
              <a:t>lichen species ×5</a:t>
            </a:r>
            <a:endParaRPr lang="en-US" sz="1000" dirty="0"/>
          </a:p>
        </p:txBody>
      </p:sp>
      <p:sp>
        <p:nvSpPr>
          <p:cNvPr id="135" name="Shape 133"/>
          <p:cNvSpPr/>
          <p:nvPr/>
        </p:nvSpPr>
        <p:spPr>
          <a:xfrm flipV="1">
            <a:off x="4069080" y="2816352"/>
            <a:ext cx="420624" cy="373075"/>
          </a:xfrm>
          <a:prstGeom prst="line">
            <a:avLst/>
          </a:prstGeom>
          <a:noFill/>
          <a:ln w="25400">
            <a:solidFill>
              <a:srgbClr val="5B9BD5"/>
            </a:solidFill>
            <a:prstDash val="solid"/>
          </a:ln>
        </p:spPr>
      </p:sp>
      <p:sp>
        <p:nvSpPr>
          <p:cNvPr id="136" name="Shape 134"/>
          <p:cNvSpPr/>
          <p:nvPr/>
        </p:nvSpPr>
        <p:spPr>
          <a:xfrm flipV="1">
            <a:off x="4489704" y="2443277"/>
            <a:ext cx="420624" cy="373075"/>
          </a:xfrm>
          <a:prstGeom prst="line">
            <a:avLst/>
          </a:prstGeom>
          <a:noFill/>
          <a:ln w="25400">
            <a:solidFill>
              <a:srgbClr val="5B9BD5"/>
            </a:solidFill>
            <a:prstDash val="solid"/>
          </a:ln>
        </p:spPr>
      </p:sp>
      <p:sp>
        <p:nvSpPr>
          <p:cNvPr id="137" name="Shape 135"/>
          <p:cNvSpPr/>
          <p:nvPr/>
        </p:nvSpPr>
        <p:spPr>
          <a:xfrm flipV="1">
            <a:off x="4910328" y="2070202"/>
            <a:ext cx="420624" cy="373075"/>
          </a:xfrm>
          <a:prstGeom prst="line">
            <a:avLst/>
          </a:prstGeom>
          <a:noFill/>
          <a:ln w="25400">
            <a:solidFill>
              <a:srgbClr val="5B9BD5"/>
            </a:solidFill>
            <a:prstDash val="solid"/>
          </a:ln>
        </p:spPr>
      </p:sp>
      <p:sp>
        <p:nvSpPr>
          <p:cNvPr id="138" name="Shape 136"/>
          <p:cNvSpPr/>
          <p:nvPr/>
        </p:nvSpPr>
        <p:spPr>
          <a:xfrm flipV="1">
            <a:off x="5330952" y="1883664"/>
            <a:ext cx="420624" cy="186538"/>
          </a:xfrm>
          <a:prstGeom prst="line">
            <a:avLst/>
          </a:prstGeom>
          <a:noFill/>
          <a:ln w="25400">
            <a:solidFill>
              <a:srgbClr val="5B9BD5"/>
            </a:solidFill>
            <a:prstDash val="solid"/>
          </a:ln>
        </p:spPr>
      </p:sp>
      <p:sp>
        <p:nvSpPr>
          <p:cNvPr id="139" name="Shape 137"/>
          <p:cNvSpPr/>
          <p:nvPr/>
        </p:nvSpPr>
        <p:spPr>
          <a:xfrm>
            <a:off x="5751576" y="1883664"/>
            <a:ext cx="420624" cy="91"/>
          </a:xfrm>
          <a:prstGeom prst="line">
            <a:avLst/>
          </a:prstGeom>
          <a:noFill/>
          <a:ln w="25400">
            <a:solidFill>
              <a:srgbClr val="5B9BD5"/>
            </a:solidFill>
            <a:prstDash val="solid"/>
          </a:ln>
        </p:spPr>
      </p:sp>
      <p:sp>
        <p:nvSpPr>
          <p:cNvPr id="140" name="Shape 138"/>
          <p:cNvSpPr/>
          <p:nvPr/>
        </p:nvSpPr>
        <p:spPr>
          <a:xfrm>
            <a:off x="4023360" y="3143707"/>
            <a:ext cx="91440" cy="91440"/>
          </a:xfrm>
          <a:prstGeom prst="line">
            <a:avLst/>
          </a:prstGeom>
          <a:noFill/>
          <a:ln w="15875">
            <a:solidFill>
              <a:srgbClr val="133536"/>
            </a:solidFill>
            <a:prstDash val="solid"/>
          </a:ln>
        </p:spPr>
      </p:sp>
      <p:sp>
        <p:nvSpPr>
          <p:cNvPr id="141" name="Shape 139"/>
          <p:cNvSpPr/>
          <p:nvPr/>
        </p:nvSpPr>
        <p:spPr>
          <a:xfrm flipV="1">
            <a:off x="4023360" y="3143707"/>
            <a:ext cx="91440" cy="91440"/>
          </a:xfrm>
          <a:prstGeom prst="line">
            <a:avLst/>
          </a:prstGeom>
          <a:noFill/>
          <a:ln w="15875">
            <a:solidFill>
              <a:srgbClr val="133536"/>
            </a:solidFill>
            <a:prstDash val="solid"/>
          </a:ln>
        </p:spPr>
      </p:sp>
      <p:sp>
        <p:nvSpPr>
          <p:cNvPr id="142" name="Shape 140"/>
          <p:cNvSpPr/>
          <p:nvPr/>
        </p:nvSpPr>
        <p:spPr>
          <a:xfrm>
            <a:off x="4443984" y="2770632"/>
            <a:ext cx="91440" cy="91440"/>
          </a:xfrm>
          <a:prstGeom prst="line">
            <a:avLst/>
          </a:prstGeom>
          <a:noFill/>
          <a:ln w="15875">
            <a:solidFill>
              <a:srgbClr val="133536"/>
            </a:solidFill>
            <a:prstDash val="solid"/>
          </a:ln>
        </p:spPr>
      </p:sp>
      <p:sp>
        <p:nvSpPr>
          <p:cNvPr id="143" name="Shape 141"/>
          <p:cNvSpPr/>
          <p:nvPr/>
        </p:nvSpPr>
        <p:spPr>
          <a:xfrm flipV="1">
            <a:off x="4443984" y="2770632"/>
            <a:ext cx="91440" cy="91440"/>
          </a:xfrm>
          <a:prstGeom prst="line">
            <a:avLst/>
          </a:prstGeom>
          <a:noFill/>
          <a:ln w="15875">
            <a:solidFill>
              <a:srgbClr val="133536"/>
            </a:solidFill>
            <a:prstDash val="solid"/>
          </a:ln>
        </p:spPr>
      </p:sp>
      <p:sp>
        <p:nvSpPr>
          <p:cNvPr id="144" name="Shape 142"/>
          <p:cNvSpPr/>
          <p:nvPr/>
        </p:nvSpPr>
        <p:spPr>
          <a:xfrm>
            <a:off x="4864608" y="2397557"/>
            <a:ext cx="91440" cy="91440"/>
          </a:xfrm>
          <a:prstGeom prst="line">
            <a:avLst/>
          </a:prstGeom>
          <a:noFill/>
          <a:ln w="15875">
            <a:solidFill>
              <a:srgbClr val="133536"/>
            </a:solidFill>
            <a:prstDash val="solid"/>
          </a:ln>
        </p:spPr>
      </p:sp>
      <p:sp>
        <p:nvSpPr>
          <p:cNvPr id="145" name="Shape 143"/>
          <p:cNvSpPr/>
          <p:nvPr/>
        </p:nvSpPr>
        <p:spPr>
          <a:xfrm flipV="1">
            <a:off x="4864608" y="2397557"/>
            <a:ext cx="91440" cy="91440"/>
          </a:xfrm>
          <a:prstGeom prst="line">
            <a:avLst/>
          </a:prstGeom>
          <a:noFill/>
          <a:ln w="15875">
            <a:solidFill>
              <a:srgbClr val="133536"/>
            </a:solidFill>
            <a:prstDash val="solid"/>
          </a:ln>
        </p:spPr>
      </p:sp>
      <p:sp>
        <p:nvSpPr>
          <p:cNvPr id="146" name="Shape 144"/>
          <p:cNvSpPr/>
          <p:nvPr/>
        </p:nvSpPr>
        <p:spPr>
          <a:xfrm>
            <a:off x="5285232" y="2024482"/>
            <a:ext cx="91440" cy="91440"/>
          </a:xfrm>
          <a:prstGeom prst="line">
            <a:avLst/>
          </a:prstGeom>
          <a:noFill/>
          <a:ln w="15875">
            <a:solidFill>
              <a:srgbClr val="133536"/>
            </a:solidFill>
            <a:prstDash val="solid"/>
          </a:ln>
        </p:spPr>
      </p:sp>
      <p:sp>
        <p:nvSpPr>
          <p:cNvPr id="147" name="Shape 145"/>
          <p:cNvSpPr/>
          <p:nvPr/>
        </p:nvSpPr>
        <p:spPr>
          <a:xfrm flipV="1">
            <a:off x="5285232" y="2024482"/>
            <a:ext cx="91440" cy="91440"/>
          </a:xfrm>
          <a:prstGeom prst="line">
            <a:avLst/>
          </a:prstGeom>
          <a:noFill/>
          <a:ln w="15875">
            <a:solidFill>
              <a:srgbClr val="133536"/>
            </a:solidFill>
            <a:prstDash val="solid"/>
          </a:ln>
        </p:spPr>
      </p:sp>
      <p:sp>
        <p:nvSpPr>
          <p:cNvPr id="148" name="Shape 146"/>
          <p:cNvSpPr/>
          <p:nvPr/>
        </p:nvSpPr>
        <p:spPr>
          <a:xfrm>
            <a:off x="5705856" y="1837944"/>
            <a:ext cx="91440" cy="91440"/>
          </a:xfrm>
          <a:prstGeom prst="line">
            <a:avLst/>
          </a:prstGeom>
          <a:noFill/>
          <a:ln w="15875">
            <a:solidFill>
              <a:srgbClr val="133536"/>
            </a:solidFill>
            <a:prstDash val="solid"/>
          </a:ln>
        </p:spPr>
      </p:sp>
      <p:sp>
        <p:nvSpPr>
          <p:cNvPr id="149" name="Shape 147"/>
          <p:cNvSpPr/>
          <p:nvPr/>
        </p:nvSpPr>
        <p:spPr>
          <a:xfrm flipV="1">
            <a:off x="5705856" y="1837944"/>
            <a:ext cx="91440" cy="91440"/>
          </a:xfrm>
          <a:prstGeom prst="line">
            <a:avLst/>
          </a:prstGeom>
          <a:noFill/>
          <a:ln w="15875">
            <a:solidFill>
              <a:srgbClr val="133536"/>
            </a:solidFill>
            <a:prstDash val="solid"/>
          </a:ln>
        </p:spPr>
      </p:sp>
      <p:sp>
        <p:nvSpPr>
          <p:cNvPr id="150" name="Shape 148"/>
          <p:cNvSpPr/>
          <p:nvPr/>
        </p:nvSpPr>
        <p:spPr>
          <a:xfrm>
            <a:off x="6126480" y="1837944"/>
            <a:ext cx="91440" cy="91440"/>
          </a:xfrm>
          <a:prstGeom prst="line">
            <a:avLst/>
          </a:prstGeom>
          <a:noFill/>
          <a:ln w="15875">
            <a:solidFill>
              <a:srgbClr val="133536"/>
            </a:solidFill>
            <a:prstDash val="solid"/>
          </a:ln>
        </p:spPr>
      </p:sp>
      <p:sp>
        <p:nvSpPr>
          <p:cNvPr id="151" name="Shape 149"/>
          <p:cNvSpPr/>
          <p:nvPr/>
        </p:nvSpPr>
        <p:spPr>
          <a:xfrm flipV="1">
            <a:off x="6126480" y="1837944"/>
            <a:ext cx="91440" cy="91440"/>
          </a:xfrm>
          <a:prstGeom prst="line">
            <a:avLst/>
          </a:prstGeom>
          <a:noFill/>
          <a:ln w="15875">
            <a:solidFill>
              <a:srgbClr val="133536"/>
            </a:solidFill>
            <a:prstDash val="solid"/>
          </a:ln>
        </p:spPr>
      </p:sp>
      <p:sp>
        <p:nvSpPr>
          <p:cNvPr id="152" name="Shape 150"/>
          <p:cNvSpPr/>
          <p:nvPr/>
        </p:nvSpPr>
        <p:spPr>
          <a:xfrm flipV="1">
            <a:off x="4069080" y="3562502"/>
            <a:ext cx="420624" cy="186538"/>
          </a:xfrm>
          <a:prstGeom prst="line">
            <a:avLst/>
          </a:prstGeom>
          <a:noFill/>
          <a:ln w="25400">
            <a:solidFill>
              <a:srgbClr val="8A5A2B"/>
            </a:solidFill>
            <a:prstDash val="solid"/>
          </a:ln>
        </p:spPr>
      </p:sp>
      <p:sp>
        <p:nvSpPr>
          <p:cNvPr id="153" name="Shape 151"/>
          <p:cNvSpPr/>
          <p:nvPr/>
        </p:nvSpPr>
        <p:spPr>
          <a:xfrm flipV="1">
            <a:off x="4489704" y="3002890"/>
            <a:ext cx="420624" cy="559613"/>
          </a:xfrm>
          <a:prstGeom prst="line">
            <a:avLst/>
          </a:prstGeom>
          <a:noFill/>
          <a:ln w="25400">
            <a:solidFill>
              <a:srgbClr val="8A5A2B"/>
            </a:solidFill>
            <a:prstDash val="solid"/>
          </a:ln>
        </p:spPr>
      </p:sp>
      <p:sp>
        <p:nvSpPr>
          <p:cNvPr id="154" name="Shape 152"/>
          <p:cNvSpPr/>
          <p:nvPr/>
        </p:nvSpPr>
        <p:spPr>
          <a:xfrm flipV="1">
            <a:off x="4910328" y="2350008"/>
            <a:ext cx="420624" cy="652882"/>
          </a:xfrm>
          <a:prstGeom prst="line">
            <a:avLst/>
          </a:prstGeom>
          <a:noFill/>
          <a:ln w="25400">
            <a:solidFill>
              <a:srgbClr val="8A5A2B"/>
            </a:solidFill>
            <a:prstDash val="solid"/>
          </a:ln>
        </p:spPr>
      </p:sp>
      <p:sp>
        <p:nvSpPr>
          <p:cNvPr id="155" name="Shape 153"/>
          <p:cNvSpPr/>
          <p:nvPr/>
        </p:nvSpPr>
        <p:spPr>
          <a:xfrm flipV="1">
            <a:off x="5330952" y="1697126"/>
            <a:ext cx="420624" cy="652882"/>
          </a:xfrm>
          <a:prstGeom prst="line">
            <a:avLst/>
          </a:prstGeom>
          <a:noFill/>
          <a:ln w="25400">
            <a:solidFill>
              <a:srgbClr val="8A5A2B"/>
            </a:solidFill>
            <a:prstDash val="solid"/>
          </a:ln>
        </p:spPr>
      </p:sp>
      <p:sp>
        <p:nvSpPr>
          <p:cNvPr id="156" name="Shape 154"/>
          <p:cNvSpPr/>
          <p:nvPr/>
        </p:nvSpPr>
        <p:spPr>
          <a:xfrm flipV="1">
            <a:off x="5751576" y="1510589"/>
            <a:ext cx="420624" cy="186538"/>
          </a:xfrm>
          <a:prstGeom prst="line">
            <a:avLst/>
          </a:prstGeom>
          <a:noFill/>
          <a:ln w="25400">
            <a:solidFill>
              <a:srgbClr val="8A5A2B"/>
            </a:solidFill>
            <a:prstDash val="solid"/>
          </a:ln>
        </p:spPr>
      </p:sp>
      <p:sp>
        <p:nvSpPr>
          <p:cNvPr id="157" name="Shape 155"/>
          <p:cNvSpPr/>
          <p:nvPr/>
        </p:nvSpPr>
        <p:spPr>
          <a:xfrm>
            <a:off x="4023360" y="3703320"/>
            <a:ext cx="91440" cy="91440"/>
          </a:xfrm>
          <a:prstGeom prst="line">
            <a:avLst/>
          </a:prstGeom>
          <a:noFill/>
          <a:ln w="15875">
            <a:solidFill>
              <a:srgbClr val="133536"/>
            </a:solidFill>
            <a:prstDash val="solid"/>
          </a:ln>
        </p:spPr>
      </p:sp>
      <p:sp>
        <p:nvSpPr>
          <p:cNvPr id="158" name="Shape 156"/>
          <p:cNvSpPr/>
          <p:nvPr/>
        </p:nvSpPr>
        <p:spPr>
          <a:xfrm flipV="1">
            <a:off x="4023360" y="3703320"/>
            <a:ext cx="91440" cy="91440"/>
          </a:xfrm>
          <a:prstGeom prst="line">
            <a:avLst/>
          </a:prstGeom>
          <a:noFill/>
          <a:ln w="15875">
            <a:solidFill>
              <a:srgbClr val="133536"/>
            </a:solidFill>
            <a:prstDash val="solid"/>
          </a:ln>
        </p:spPr>
      </p:sp>
      <p:sp>
        <p:nvSpPr>
          <p:cNvPr id="159" name="Shape 157"/>
          <p:cNvSpPr/>
          <p:nvPr/>
        </p:nvSpPr>
        <p:spPr>
          <a:xfrm>
            <a:off x="4443984" y="3516782"/>
            <a:ext cx="91440" cy="91440"/>
          </a:xfrm>
          <a:prstGeom prst="line">
            <a:avLst/>
          </a:prstGeom>
          <a:noFill/>
          <a:ln w="15875">
            <a:solidFill>
              <a:srgbClr val="133536"/>
            </a:solidFill>
            <a:prstDash val="solid"/>
          </a:ln>
        </p:spPr>
      </p:sp>
      <p:sp>
        <p:nvSpPr>
          <p:cNvPr id="160" name="Shape 158"/>
          <p:cNvSpPr/>
          <p:nvPr/>
        </p:nvSpPr>
        <p:spPr>
          <a:xfrm flipV="1">
            <a:off x="4443984" y="3516782"/>
            <a:ext cx="91440" cy="91440"/>
          </a:xfrm>
          <a:prstGeom prst="line">
            <a:avLst/>
          </a:prstGeom>
          <a:noFill/>
          <a:ln w="15875">
            <a:solidFill>
              <a:srgbClr val="133536"/>
            </a:solidFill>
            <a:prstDash val="solid"/>
          </a:ln>
        </p:spPr>
      </p:sp>
      <p:sp>
        <p:nvSpPr>
          <p:cNvPr id="161" name="Shape 159"/>
          <p:cNvSpPr/>
          <p:nvPr/>
        </p:nvSpPr>
        <p:spPr>
          <a:xfrm>
            <a:off x="4864608" y="2957170"/>
            <a:ext cx="91440" cy="91440"/>
          </a:xfrm>
          <a:prstGeom prst="line">
            <a:avLst/>
          </a:prstGeom>
          <a:noFill/>
          <a:ln w="15875">
            <a:solidFill>
              <a:srgbClr val="133536"/>
            </a:solidFill>
            <a:prstDash val="solid"/>
          </a:ln>
        </p:spPr>
      </p:sp>
      <p:sp>
        <p:nvSpPr>
          <p:cNvPr id="162" name="Shape 160"/>
          <p:cNvSpPr/>
          <p:nvPr/>
        </p:nvSpPr>
        <p:spPr>
          <a:xfrm flipV="1">
            <a:off x="4864608" y="2957170"/>
            <a:ext cx="91440" cy="91440"/>
          </a:xfrm>
          <a:prstGeom prst="line">
            <a:avLst/>
          </a:prstGeom>
          <a:noFill/>
          <a:ln w="15875">
            <a:solidFill>
              <a:srgbClr val="133536"/>
            </a:solidFill>
            <a:prstDash val="solid"/>
          </a:ln>
        </p:spPr>
      </p:sp>
      <p:sp>
        <p:nvSpPr>
          <p:cNvPr id="163" name="Shape 161"/>
          <p:cNvSpPr/>
          <p:nvPr/>
        </p:nvSpPr>
        <p:spPr>
          <a:xfrm>
            <a:off x="5285232" y="2304288"/>
            <a:ext cx="91440" cy="91440"/>
          </a:xfrm>
          <a:prstGeom prst="line">
            <a:avLst/>
          </a:prstGeom>
          <a:noFill/>
          <a:ln w="15875">
            <a:solidFill>
              <a:srgbClr val="133536"/>
            </a:solidFill>
            <a:prstDash val="solid"/>
          </a:ln>
        </p:spPr>
      </p:sp>
      <p:sp>
        <p:nvSpPr>
          <p:cNvPr id="164" name="Shape 162"/>
          <p:cNvSpPr/>
          <p:nvPr/>
        </p:nvSpPr>
        <p:spPr>
          <a:xfrm flipV="1">
            <a:off x="5285232" y="2304288"/>
            <a:ext cx="91440" cy="91440"/>
          </a:xfrm>
          <a:prstGeom prst="line">
            <a:avLst/>
          </a:prstGeom>
          <a:noFill/>
          <a:ln w="15875">
            <a:solidFill>
              <a:srgbClr val="133536"/>
            </a:solidFill>
            <a:prstDash val="solid"/>
          </a:ln>
        </p:spPr>
      </p:sp>
      <p:sp>
        <p:nvSpPr>
          <p:cNvPr id="165" name="Shape 163"/>
          <p:cNvSpPr/>
          <p:nvPr/>
        </p:nvSpPr>
        <p:spPr>
          <a:xfrm>
            <a:off x="5705856" y="1651406"/>
            <a:ext cx="91440" cy="91440"/>
          </a:xfrm>
          <a:prstGeom prst="line">
            <a:avLst/>
          </a:prstGeom>
          <a:noFill/>
          <a:ln w="15875">
            <a:solidFill>
              <a:srgbClr val="133536"/>
            </a:solidFill>
            <a:prstDash val="solid"/>
          </a:ln>
        </p:spPr>
      </p:sp>
      <p:sp>
        <p:nvSpPr>
          <p:cNvPr id="166" name="Shape 164"/>
          <p:cNvSpPr/>
          <p:nvPr/>
        </p:nvSpPr>
        <p:spPr>
          <a:xfrm flipV="1">
            <a:off x="5705856" y="1651406"/>
            <a:ext cx="91440" cy="91440"/>
          </a:xfrm>
          <a:prstGeom prst="line">
            <a:avLst/>
          </a:prstGeom>
          <a:noFill/>
          <a:ln w="15875">
            <a:solidFill>
              <a:srgbClr val="133536"/>
            </a:solidFill>
            <a:prstDash val="solid"/>
          </a:ln>
        </p:spPr>
      </p:sp>
      <p:sp>
        <p:nvSpPr>
          <p:cNvPr id="167" name="Shape 165"/>
          <p:cNvSpPr/>
          <p:nvPr/>
        </p:nvSpPr>
        <p:spPr>
          <a:xfrm>
            <a:off x="6126480" y="1464869"/>
            <a:ext cx="91440" cy="91440"/>
          </a:xfrm>
          <a:prstGeom prst="line">
            <a:avLst/>
          </a:prstGeom>
          <a:noFill/>
          <a:ln w="15875">
            <a:solidFill>
              <a:srgbClr val="133536"/>
            </a:solidFill>
            <a:prstDash val="solid"/>
          </a:ln>
        </p:spPr>
      </p:sp>
      <p:sp>
        <p:nvSpPr>
          <p:cNvPr id="168" name="Shape 166"/>
          <p:cNvSpPr/>
          <p:nvPr/>
        </p:nvSpPr>
        <p:spPr>
          <a:xfrm flipV="1">
            <a:off x="6126480" y="1464869"/>
            <a:ext cx="91440" cy="91440"/>
          </a:xfrm>
          <a:prstGeom prst="line">
            <a:avLst/>
          </a:prstGeom>
          <a:noFill/>
          <a:ln w="15875">
            <a:solidFill>
              <a:srgbClr val="133536"/>
            </a:solidFill>
            <a:prstDash val="solid"/>
          </a:ln>
        </p:spPr>
      </p:sp>
      <p:sp>
        <p:nvSpPr>
          <p:cNvPr id="169" name="Text 167"/>
          <p:cNvSpPr/>
          <p:nvPr/>
        </p:nvSpPr>
        <p:spPr>
          <a:xfrm>
            <a:off x="4069080" y="1188720"/>
            <a:ext cx="210312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Water</a:t>
            </a:r>
            <a:r>
              <a:rPr lang="en-US" sz="1050" dirty="0">
                <a:solidFill>
                  <a:srgbClr val="262B3A"/>
                </a:solidFill>
                <a:latin typeface="Calibri" pitchFamily="34" charset="0"/>
                <a:ea typeface="Calibri" pitchFamily="34" charset="-122"/>
                <a:cs typeface="Calibri" pitchFamily="34" charset="-120"/>
              </a:rPr>
              <a:t>: oxygen and stoneflies</a:t>
            </a:r>
            <a:endParaRPr lang="en-US" sz="1050" dirty="0"/>
          </a:p>
        </p:txBody>
      </p:sp>
      <p:sp>
        <p:nvSpPr>
          <p:cNvPr id="170" name="Text 168"/>
          <p:cNvSpPr/>
          <p:nvPr/>
        </p:nvSpPr>
        <p:spPr>
          <a:xfrm>
            <a:off x="4132174" y="1510589"/>
            <a:ext cx="1280160" cy="182880"/>
          </a:xfrm>
          <a:prstGeom prst="rect">
            <a:avLst/>
          </a:prstGeom>
          <a:noFill/>
          <a:ln/>
        </p:spPr>
        <p:txBody>
          <a:bodyPr wrap="square" lIns="0" tIns="0" rIns="0" bIns="0" rtlCol="0" anchor="ctr"/>
          <a:lstStyle/>
          <a:p>
            <a:pPr algn="l" indent="0" marL="0">
              <a:buNone/>
            </a:pPr>
            <a:r>
              <a:rPr lang="en-US" sz="1000" b="1" dirty="0">
                <a:solidFill>
                  <a:srgbClr val="5B9BD5"/>
                </a:solidFill>
                <a:latin typeface="Calibri" pitchFamily="34" charset="0"/>
                <a:ea typeface="Calibri" pitchFamily="34" charset="-122"/>
                <a:cs typeface="Calibri" pitchFamily="34" charset="-120"/>
              </a:rPr>
              <a:t>oxygen mg/L ×2</a:t>
            </a:r>
            <a:endParaRPr lang="en-US" sz="1000" dirty="0"/>
          </a:p>
        </p:txBody>
      </p:sp>
      <p:sp>
        <p:nvSpPr>
          <p:cNvPr id="171" name="Text 169"/>
          <p:cNvSpPr/>
          <p:nvPr/>
        </p:nvSpPr>
        <p:spPr>
          <a:xfrm>
            <a:off x="5499202" y="2909621"/>
            <a:ext cx="914400" cy="182880"/>
          </a:xfrm>
          <a:prstGeom prst="rect">
            <a:avLst/>
          </a:prstGeom>
          <a:noFill/>
          <a:ln/>
        </p:spPr>
        <p:txBody>
          <a:bodyPr wrap="square" lIns="0" tIns="0" rIns="0" bIns="0" rtlCol="0" anchor="ctr"/>
          <a:lstStyle/>
          <a:p>
            <a:pPr algn="l" indent="0" marL="0">
              <a:buNone/>
            </a:pPr>
            <a:r>
              <a:rPr lang="en-US" sz="1000" b="1" dirty="0">
                <a:solidFill>
                  <a:srgbClr val="8A5A2B"/>
                </a:solidFill>
                <a:latin typeface="Calibri" pitchFamily="34" charset="0"/>
                <a:ea typeface="Calibri" pitchFamily="34" charset="-122"/>
                <a:cs typeface="Calibri" pitchFamily="34" charset="-120"/>
              </a:rPr>
              <a:t>stonefly nymphs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4434840"/>
          <a:ext cx="5577840" cy="914400"/>
        </p:xfrm>
        <a:graphic>
          <a:graphicData uri="http://schemas.openxmlformats.org/drawingml/2006/table">
            <a:tbl>
              <a:tblPr/>
              <a:tblGrid>
                <a:gridCol w="1078992"/>
                <a:gridCol w="749808"/>
                <a:gridCol w="749808"/>
                <a:gridCol w="749808"/>
                <a:gridCol w="749808"/>
                <a:gridCol w="749808"/>
                <a:gridCol w="749808"/>
              </a:tblGrid>
              <a:tr h="18288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km</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r>
              <a:tr h="18288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SO₂</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r>
              <a:tr h="18288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Lichens</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r>
              <a:tr h="18288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O₂ mg/L</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r>
              <a:tr h="182880">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Stoneflies</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FFFFF"/>
                    </a:solidFill>
                  </a:tcPr>
                </a:tc>
              </a:tr>
            </a:tbl>
          </a:graphicData>
        </a:graphic>
      </p:graphicFrame>
      <p:sp>
        <p:nvSpPr>
          <p:cNvPr id="173" name="Shape 170"/>
          <p:cNvSpPr/>
          <p:nvPr/>
        </p:nvSpPr>
        <p:spPr>
          <a:xfrm>
            <a:off x="6675120" y="1188720"/>
            <a:ext cx="5102352" cy="2423160"/>
          </a:xfrm>
          <a:prstGeom prst="roundRect">
            <a:avLst>
              <a:gd name="adj" fmla="val 2264"/>
            </a:avLst>
          </a:prstGeom>
          <a:solidFill>
            <a:srgbClr val="F4FAF9"/>
          </a:solidFill>
          <a:ln w="9525">
            <a:solidFill>
              <a:srgbClr val="CFE0DE"/>
            </a:solidFill>
            <a:prstDash val="solid"/>
          </a:ln>
        </p:spPr>
      </p:sp>
      <p:sp>
        <p:nvSpPr>
          <p:cNvPr id="174" name="Text 171"/>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Indicator species</a:t>
            </a:r>
            <a:endParaRPr lang="en-US" sz="1300" dirty="0"/>
          </a:p>
        </p:txBody>
      </p:sp>
      <p:sp>
        <p:nvSpPr>
          <p:cNvPr id="175" name="Text 172"/>
          <p:cNvSpPr/>
          <p:nvPr/>
        </p:nvSpPr>
        <p:spPr>
          <a:xfrm>
            <a:off x="6839712" y="1609344"/>
            <a:ext cx="4773168" cy="1929384"/>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Lichens</a:t>
            </a:r>
            <a:r>
              <a:rPr lang="en-US" sz="1200" dirty="0">
                <a:solidFill>
                  <a:srgbClr val="262B3A"/>
                </a:solidFill>
                <a:latin typeface="Calibri" pitchFamily="34" charset="0"/>
                <a:ea typeface="Calibri" pitchFamily="34" charset="-122"/>
                <a:cs typeface="Calibri" pitchFamily="34" charset="-120"/>
              </a:rPr>
              <a:t> are killed by </a:t>
            </a:r>
            <a:r>
              <a:rPr lang="en-US" sz="1200" b="1" dirty="0">
                <a:solidFill>
                  <a:srgbClr val="262B3A"/>
                </a:solidFill>
                <a:latin typeface="Calibri" pitchFamily="34" charset="0"/>
                <a:ea typeface="Calibri" pitchFamily="34" charset="-122"/>
                <a:cs typeface="Calibri" pitchFamily="34" charset="-120"/>
              </a:rPr>
              <a:t>sulfur dioxide</a:t>
            </a:r>
            <a:r>
              <a:rPr lang="en-US" sz="1200" dirty="0">
                <a:solidFill>
                  <a:srgbClr val="262B3A"/>
                </a:solidFill>
                <a:latin typeface="Calibri" pitchFamily="34" charset="0"/>
                <a:ea typeface="Calibri" pitchFamily="34" charset="-122"/>
                <a:cs typeface="Calibri" pitchFamily="34" charset="-120"/>
              </a:rPr>
              <a:t> (an atmospheric gas from burning fuels): more lichen species = cleaner air.</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Stonefly</a:t>
            </a:r>
            <a:r>
              <a:rPr lang="en-US" sz="1200" dirty="0">
                <a:solidFill>
                  <a:srgbClr val="262B3A"/>
                </a:solidFill>
                <a:latin typeface="Calibri" pitchFamily="34" charset="0"/>
                <a:ea typeface="Calibri" pitchFamily="34" charset="-122"/>
                <a:cs typeface="Calibri" pitchFamily="34" charset="-120"/>
              </a:rPr>
              <a:t> and mayfly nymphs need a lot of </a:t>
            </a:r>
            <a:r>
              <a:rPr lang="en-US" sz="1200" b="1" dirty="0">
                <a:solidFill>
                  <a:srgbClr val="262B3A"/>
                </a:solidFill>
                <a:latin typeface="Calibri" pitchFamily="34" charset="0"/>
                <a:ea typeface="Calibri" pitchFamily="34" charset="-122"/>
                <a:cs typeface="Calibri" pitchFamily="34" charset="-120"/>
              </a:rPr>
              <a:t>dissolved oxygen</a:t>
            </a:r>
            <a:r>
              <a:rPr lang="en-US" sz="1200" dirty="0">
                <a:solidFill>
                  <a:srgbClr val="262B3A"/>
                </a:solidFill>
                <a:latin typeface="Calibri" pitchFamily="34" charset="0"/>
                <a:ea typeface="Calibri" pitchFamily="34" charset="-122"/>
                <a:cs typeface="Calibri" pitchFamily="34" charset="-120"/>
              </a:rPr>
              <a:t>; sludgeworms and rat-tailed maggots survive in polluted, low-oxygen water.</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Rising </a:t>
            </a:r>
            <a:r>
              <a:rPr lang="en-US" sz="1200" b="1" dirty="0">
                <a:solidFill>
                  <a:srgbClr val="262B3A"/>
                </a:solidFill>
                <a:latin typeface="Calibri" pitchFamily="34" charset="0"/>
                <a:ea typeface="Calibri" pitchFamily="34" charset="-122"/>
                <a:cs typeface="Calibri" pitchFamily="34" charset="-120"/>
              </a:rPr>
              <a:t>temperature</a:t>
            </a:r>
            <a:r>
              <a:rPr lang="en-US" sz="1200" dirty="0">
                <a:solidFill>
                  <a:srgbClr val="262B3A"/>
                </a:solidFill>
                <a:latin typeface="Calibri" pitchFamily="34" charset="0"/>
                <a:ea typeface="Calibri" pitchFamily="34" charset="-122"/>
                <a:cs typeface="Calibri" pitchFamily="34" charset="-120"/>
              </a:rPr>
              <a:t> and CO₂: species shift their range towards the poles or uphill.</a:t>
            </a:r>
            <a:endParaRPr lang="en-US" sz="1200" dirty="0"/>
          </a:p>
        </p:txBody>
      </p:sp>
      <p:sp>
        <p:nvSpPr>
          <p:cNvPr id="176" name="Shape 173"/>
          <p:cNvSpPr/>
          <p:nvPr/>
        </p:nvSpPr>
        <p:spPr>
          <a:xfrm>
            <a:off x="6675120" y="3749040"/>
            <a:ext cx="5102352" cy="1965960"/>
          </a:xfrm>
          <a:prstGeom prst="roundRect">
            <a:avLst>
              <a:gd name="adj" fmla="val 2791"/>
            </a:avLst>
          </a:prstGeom>
          <a:solidFill>
            <a:srgbClr val="F4FAF9"/>
          </a:solidFill>
          <a:ln w="9525">
            <a:solidFill>
              <a:srgbClr val="CFE0DE"/>
            </a:solidFill>
            <a:prstDash val="solid"/>
          </a:ln>
        </p:spPr>
      </p:sp>
      <p:sp>
        <p:nvSpPr>
          <p:cNvPr id="177" name="Text 174"/>
          <p:cNvSpPr/>
          <p:nvPr/>
        </p:nvSpPr>
        <p:spPr>
          <a:xfrm>
            <a:off x="6839712" y="384048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Evaluating the evidence</a:t>
            </a:r>
            <a:endParaRPr lang="en-US" sz="1300" dirty="0"/>
          </a:p>
        </p:txBody>
      </p:sp>
      <p:sp>
        <p:nvSpPr>
          <p:cNvPr id="178" name="Text 175"/>
          <p:cNvSpPr/>
          <p:nvPr/>
        </p:nvSpPr>
        <p:spPr>
          <a:xfrm>
            <a:off x="6839712" y="4169664"/>
            <a:ext cx="4773168" cy="14721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Both data sets show a </a:t>
            </a:r>
            <a:r>
              <a:rPr lang="en-US" sz="1150" b="1" dirty="0">
                <a:solidFill>
                  <a:srgbClr val="262B3A"/>
                </a:solidFill>
                <a:latin typeface="Calibri" pitchFamily="34" charset="0"/>
                <a:ea typeface="Calibri" pitchFamily="34" charset="-122"/>
                <a:cs typeface="Calibri" pitchFamily="34" charset="-120"/>
              </a:rPr>
              <a:t>correlation</a:t>
            </a:r>
            <a:r>
              <a:rPr lang="en-US" sz="1150" dirty="0">
                <a:solidFill>
                  <a:srgbClr val="262B3A"/>
                </a:solidFill>
                <a:latin typeface="Calibri" pitchFamily="34" charset="0"/>
                <a:ea typeface="Calibri" pitchFamily="34" charset="-122"/>
                <a:cs typeface="Calibri" pitchFamily="34" charset="-120"/>
              </a:rPr>
              <a:t>. A </a:t>
            </a:r>
            <a:r>
              <a:rPr lang="en-US" sz="1150" b="1" dirty="0">
                <a:solidFill>
                  <a:srgbClr val="262B3A"/>
                </a:solidFill>
                <a:latin typeface="Calibri" pitchFamily="34" charset="0"/>
                <a:ea typeface="Calibri" pitchFamily="34" charset="-122"/>
                <a:cs typeface="Calibri" pitchFamily="34" charset="-120"/>
              </a:rPr>
              <a:t>mechanism</a:t>
            </a:r>
            <a:r>
              <a:rPr lang="en-US" sz="1150" dirty="0">
                <a:solidFill>
                  <a:srgbClr val="262B3A"/>
                </a:solidFill>
                <a:latin typeface="Calibri" pitchFamily="34" charset="0"/>
                <a:ea typeface="Calibri" pitchFamily="34" charset="-122"/>
                <a:cs typeface="Calibri" pitchFamily="34" charset="-120"/>
              </a:rPr>
              <a:t> (SO₂ damages lichens; nymphs need O₂) makes </a:t>
            </a:r>
            <a:r>
              <a:rPr lang="en-US" sz="1150" b="1" dirty="0">
                <a:solidFill>
                  <a:srgbClr val="262B3A"/>
                </a:solidFill>
                <a:latin typeface="Calibri" pitchFamily="34" charset="0"/>
                <a:ea typeface="Calibri" pitchFamily="34" charset="-122"/>
                <a:cs typeface="Calibri" pitchFamily="34" charset="-120"/>
              </a:rPr>
              <a:t>cause</a:t>
            </a:r>
            <a:r>
              <a:rPr lang="en-US" sz="1150" dirty="0">
                <a:solidFill>
                  <a:srgbClr val="262B3A"/>
                </a:solidFill>
                <a:latin typeface="Calibri" pitchFamily="34" charset="0"/>
                <a:ea typeface="Calibri" pitchFamily="34" charset="-122"/>
                <a:cs typeface="Calibri" pitchFamily="34" charset="-120"/>
              </a:rPr>
              <a:t> more likely.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But other factors change with distance too (light, temperature, trees). Only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transect: </a:t>
            </a:r>
            <a:r>
              <a:rPr lang="en-US" sz="1150" b="1" dirty="0">
                <a:solidFill>
                  <a:srgbClr val="262B3A"/>
                </a:solidFill>
                <a:latin typeface="Calibri" pitchFamily="34" charset="0"/>
                <a:ea typeface="Calibri" pitchFamily="34" charset="-122"/>
                <a:cs typeface="Calibri" pitchFamily="34" charset="-120"/>
              </a:rPr>
              <a:t>repeat</a:t>
            </a:r>
            <a:r>
              <a:rPr lang="en-US" sz="1150" dirty="0">
                <a:solidFill>
                  <a:srgbClr val="262B3A"/>
                </a:solidFill>
                <a:latin typeface="Calibri" pitchFamily="34" charset="0"/>
                <a:ea typeface="Calibri" pitchFamily="34" charset="-122"/>
                <a:cs typeface="Calibri" pitchFamily="34" charset="-120"/>
              </a:rPr>
              <a:t> it at other cities and rivers.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Is the sample big enough? Were species identified correctly?</a:t>
            </a:r>
            <a:endParaRPr lang="en-US" sz="1150" dirty="0"/>
          </a:p>
        </p:txBody>
      </p:sp>
      <p:sp>
        <p:nvSpPr>
          <p:cNvPr id="179" name="Shape 176"/>
          <p:cNvSpPr/>
          <p:nvPr/>
        </p:nvSpPr>
        <p:spPr>
          <a:xfrm>
            <a:off x="411480" y="5833872"/>
            <a:ext cx="11368735" cy="530352"/>
          </a:xfrm>
          <a:prstGeom prst="rect">
            <a:avLst/>
          </a:prstGeom>
          <a:solidFill>
            <a:srgbClr val="FFF4E0"/>
          </a:solidFill>
          <a:ln w="6350">
            <a:solidFill>
              <a:srgbClr val="F1D9A8"/>
            </a:solidFill>
            <a:prstDash val="solid"/>
          </a:ln>
        </p:spPr>
      </p:sp>
      <p:sp>
        <p:nvSpPr>
          <p:cNvPr id="180" name="Shape 177"/>
          <p:cNvSpPr/>
          <p:nvPr/>
        </p:nvSpPr>
        <p:spPr>
          <a:xfrm>
            <a:off x="411480" y="5833872"/>
            <a:ext cx="82296" cy="530352"/>
          </a:xfrm>
          <a:prstGeom prst="rect">
            <a:avLst/>
          </a:prstGeom>
          <a:solidFill>
            <a:srgbClr val="E39A2F"/>
          </a:solidFill>
          <a:ln w="12700">
            <a:solidFill>
              <a:srgbClr val="E39A2F"/>
            </a:solidFill>
            <a:prstDash val="solid"/>
          </a:ln>
        </p:spPr>
      </p:sp>
      <p:sp>
        <p:nvSpPr>
          <p:cNvPr id="181" name="Text 17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Describe the pattern in the lichen data. 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why the data do not </a:t>
            </a:r>
            <a:r>
              <a:rPr lang="en-US" sz="1150" b="1" dirty="0">
                <a:solidFill>
                  <a:srgbClr val="262B3A"/>
                </a:solidFill>
                <a:latin typeface="Calibri" pitchFamily="34" charset="0"/>
                <a:ea typeface="Calibri" pitchFamily="34" charset="-122"/>
                <a:cs typeface="Calibri" pitchFamily="34" charset="-120"/>
              </a:rPr>
              <a:t>prove</a:t>
            </a:r>
            <a:r>
              <a:rPr lang="en-US" sz="1150" dirty="0">
                <a:solidFill>
                  <a:srgbClr val="262B3A"/>
                </a:solidFill>
                <a:latin typeface="Calibri" pitchFamily="34" charset="0"/>
                <a:ea typeface="Calibri" pitchFamily="34" charset="-122"/>
                <a:cs typeface="Calibri" pitchFamily="34" charset="-120"/>
              </a:rPr>
              <a:t> that SO₂ limits lichens.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B6.3.3 • threats and evidence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 in which human activity destroys habitats.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fertiliser running into a lake can cause fish to die.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Lichen species increase from </a:t>
            </a:r>
            <a:r>
              <a:rPr lang="en-US" sz="1250" b="1" dirty="0">
                <a:solidFill>
                  <a:srgbClr val="262B3A"/>
                </a:solidFill>
                <a:latin typeface="Calibri" pitchFamily="34" charset="0"/>
                <a:ea typeface="Calibri" pitchFamily="34" charset="-122"/>
                <a:cs typeface="Calibri" pitchFamily="34" charset="-120"/>
              </a:rPr>
              <a:t>1</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13</a:t>
            </a:r>
            <a:r>
              <a:rPr lang="en-US" sz="1250" dirty="0">
                <a:solidFill>
                  <a:srgbClr val="262B3A"/>
                </a:solidFill>
                <a:latin typeface="Calibri" pitchFamily="34" charset="0"/>
                <a:ea typeface="Calibri" pitchFamily="34" charset="-122"/>
                <a:cs typeface="Calibri" pitchFamily="34" charset="-120"/>
              </a:rPr>
              <a:t> as SO₂ falls. Explain why lichens are called </a:t>
            </a:r>
            <a:r>
              <a:rPr lang="en-US" sz="1250" b="1" dirty="0">
                <a:solidFill>
                  <a:srgbClr val="262B3A"/>
                </a:solidFill>
                <a:latin typeface="Calibri" pitchFamily="34" charset="0"/>
                <a:ea typeface="Calibri" pitchFamily="34" charset="-122"/>
                <a:cs typeface="Calibri" pitchFamily="34" charset="-120"/>
              </a:rPr>
              <a:t>indicator species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Shape 26"/>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Evaluate whether the river data </a:t>
            </a:r>
            <a:r>
              <a:rPr lang="en-US" sz="1250" b="1" dirty="0">
                <a:solidFill>
                  <a:srgbClr val="262B3A"/>
                </a:solidFill>
                <a:latin typeface="Calibri" pitchFamily="34" charset="0"/>
                <a:ea typeface="Calibri" pitchFamily="34" charset="-122"/>
                <a:cs typeface="Calibri" pitchFamily="34" charset="-120"/>
              </a:rPr>
              <a:t>prove</a:t>
            </a:r>
            <a:r>
              <a:rPr lang="en-US" sz="1250" dirty="0">
                <a:solidFill>
                  <a:srgbClr val="262B3A"/>
                </a:solidFill>
                <a:latin typeface="Calibri" pitchFamily="34" charset="0"/>
                <a:ea typeface="Calibri" pitchFamily="34" charset="-122"/>
                <a:cs typeface="Calibri" pitchFamily="34" charset="-120"/>
              </a:rPr>
              <a:t> that low oxygen limits stoneflies.</a:t>
            </a:r>
            <a:endParaRPr lang="en-US" sz="1250" dirty="0"/>
          </a:p>
        </p:txBody>
      </p:sp>
      <p:sp>
        <p:nvSpPr>
          <p:cNvPr id="31" name="Text 29"/>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Protecting biodiversity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 positive human interactions within ecosystems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B6.3.1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four conservation methods; not to scale</a:t>
            </a:r>
            <a:endParaRPr lang="en-US" sz="1000" dirty="0"/>
          </a:p>
        </p:txBody>
      </p:sp>
      <p:sp>
        <p:nvSpPr>
          <p:cNvPr id="10" name="Shape 8"/>
          <p:cNvSpPr/>
          <p:nvPr/>
        </p:nvSpPr>
        <p:spPr>
          <a:xfrm>
            <a:off x="594360" y="1371600"/>
            <a:ext cx="2514600" cy="1691640"/>
          </a:xfrm>
          <a:prstGeom prst="roundRect">
            <a:avLst>
              <a:gd name="adj" fmla="val 2703"/>
            </a:avLst>
          </a:prstGeom>
          <a:solidFill>
            <a:srgbClr val="FFFFFF"/>
          </a:solidFill>
          <a:ln w="12700">
            <a:solidFill>
              <a:srgbClr val="CFE0DE"/>
            </a:solidFill>
            <a:prstDash val="solid"/>
          </a:ln>
        </p:spPr>
      </p:sp>
      <p:sp>
        <p:nvSpPr>
          <p:cNvPr id="11" name="Text 9"/>
          <p:cNvSpPr/>
          <p:nvPr/>
        </p:nvSpPr>
        <p:spPr>
          <a:xfrm>
            <a:off x="640080" y="1408176"/>
            <a:ext cx="2423160" cy="256032"/>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Protected areas</a:t>
            </a:r>
            <a:endParaRPr lang="en-US" sz="1100" dirty="0"/>
          </a:p>
        </p:txBody>
      </p:sp>
      <p:sp>
        <p:nvSpPr>
          <p:cNvPr id="12" name="Shape 10"/>
          <p:cNvSpPr/>
          <p:nvPr/>
        </p:nvSpPr>
        <p:spPr>
          <a:xfrm>
            <a:off x="3246120" y="1371600"/>
            <a:ext cx="2514600" cy="1691640"/>
          </a:xfrm>
          <a:prstGeom prst="roundRect">
            <a:avLst>
              <a:gd name="adj" fmla="val 2703"/>
            </a:avLst>
          </a:prstGeom>
          <a:solidFill>
            <a:srgbClr val="FFFFFF"/>
          </a:solidFill>
          <a:ln w="12700">
            <a:solidFill>
              <a:srgbClr val="CFE0DE"/>
            </a:solidFill>
            <a:prstDash val="solid"/>
          </a:ln>
        </p:spPr>
      </p:sp>
      <p:sp>
        <p:nvSpPr>
          <p:cNvPr id="13" name="Text 11"/>
          <p:cNvSpPr/>
          <p:nvPr/>
        </p:nvSpPr>
        <p:spPr>
          <a:xfrm>
            <a:off x="3291840" y="1408176"/>
            <a:ext cx="2423160" cy="256032"/>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Breeding programmes</a:t>
            </a:r>
            <a:endParaRPr lang="en-US" sz="1100" dirty="0"/>
          </a:p>
        </p:txBody>
      </p:sp>
      <p:sp>
        <p:nvSpPr>
          <p:cNvPr id="14" name="Shape 12"/>
          <p:cNvSpPr/>
          <p:nvPr/>
        </p:nvSpPr>
        <p:spPr>
          <a:xfrm>
            <a:off x="594360" y="3200400"/>
            <a:ext cx="2514600" cy="1691640"/>
          </a:xfrm>
          <a:prstGeom prst="roundRect">
            <a:avLst>
              <a:gd name="adj" fmla="val 2703"/>
            </a:avLst>
          </a:prstGeom>
          <a:solidFill>
            <a:srgbClr val="FFFFFF"/>
          </a:solidFill>
          <a:ln w="12700">
            <a:solidFill>
              <a:srgbClr val="CFE0DE"/>
            </a:solidFill>
            <a:prstDash val="solid"/>
          </a:ln>
        </p:spPr>
      </p:sp>
      <p:sp>
        <p:nvSpPr>
          <p:cNvPr id="15" name="Text 13"/>
          <p:cNvSpPr/>
          <p:nvPr/>
        </p:nvSpPr>
        <p:spPr>
          <a:xfrm>
            <a:off x="640080" y="3236976"/>
            <a:ext cx="2423160" cy="256032"/>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Seed banks</a:t>
            </a:r>
            <a:endParaRPr lang="en-US" sz="1100" dirty="0"/>
          </a:p>
        </p:txBody>
      </p:sp>
      <p:sp>
        <p:nvSpPr>
          <p:cNvPr id="16" name="Shape 14"/>
          <p:cNvSpPr/>
          <p:nvPr/>
        </p:nvSpPr>
        <p:spPr>
          <a:xfrm>
            <a:off x="3246120" y="3200400"/>
            <a:ext cx="2514600" cy="1691640"/>
          </a:xfrm>
          <a:prstGeom prst="roundRect">
            <a:avLst>
              <a:gd name="adj" fmla="val 2703"/>
            </a:avLst>
          </a:prstGeom>
          <a:solidFill>
            <a:srgbClr val="FFFFFF"/>
          </a:solidFill>
          <a:ln w="12700">
            <a:solidFill>
              <a:srgbClr val="CFE0DE"/>
            </a:solidFill>
            <a:prstDash val="solid"/>
          </a:ln>
        </p:spPr>
      </p:sp>
      <p:sp>
        <p:nvSpPr>
          <p:cNvPr id="17" name="Text 15"/>
          <p:cNvSpPr/>
          <p:nvPr/>
        </p:nvSpPr>
        <p:spPr>
          <a:xfrm>
            <a:off x="3291840" y="3236976"/>
            <a:ext cx="2423160" cy="256032"/>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Restore habitats</a:t>
            </a:r>
            <a:endParaRPr lang="en-US" sz="1100" dirty="0"/>
          </a:p>
        </p:txBody>
      </p:sp>
      <p:sp>
        <p:nvSpPr>
          <p:cNvPr id="18" name="Shape 16"/>
          <p:cNvSpPr/>
          <p:nvPr/>
        </p:nvSpPr>
        <p:spPr>
          <a:xfrm>
            <a:off x="868680" y="1783080"/>
            <a:ext cx="1965960" cy="1097280"/>
          </a:xfrm>
          <a:prstGeom prst="rect">
            <a:avLst/>
          </a:prstGeom>
          <a:solidFill>
            <a:srgbClr val="EAF5E4"/>
          </a:solidFill>
          <a:ln w="25400">
            <a:solidFill>
              <a:srgbClr val="8A5A2B"/>
            </a:solidFill>
            <a:prstDash val="solid"/>
          </a:ln>
        </p:spPr>
      </p:sp>
      <p:sp>
        <p:nvSpPr>
          <p:cNvPr id="19" name="Shape 17"/>
          <p:cNvSpPr/>
          <p:nvPr/>
        </p:nvSpPr>
        <p:spPr>
          <a:xfrm>
            <a:off x="1110082" y="2450592"/>
            <a:ext cx="65837" cy="246888"/>
          </a:xfrm>
          <a:prstGeom prst="rect">
            <a:avLst/>
          </a:prstGeom>
          <a:solidFill>
            <a:srgbClr val="8A5A2B"/>
          </a:solidFill>
          <a:ln w="9525">
            <a:solidFill>
              <a:srgbClr val="5E3B1A"/>
            </a:solidFill>
            <a:prstDash val="solid"/>
          </a:ln>
        </p:spPr>
      </p:sp>
      <p:sp>
        <p:nvSpPr>
          <p:cNvPr id="20" name="Shape 18"/>
          <p:cNvSpPr/>
          <p:nvPr/>
        </p:nvSpPr>
        <p:spPr>
          <a:xfrm>
            <a:off x="978408" y="2159813"/>
            <a:ext cx="329184" cy="329184"/>
          </a:xfrm>
          <a:prstGeom prst="ellipse">
            <a:avLst/>
          </a:prstGeom>
          <a:solidFill>
            <a:srgbClr val="4E9A3E"/>
          </a:solidFill>
          <a:ln w="9525">
            <a:solidFill>
              <a:srgbClr val="2F6B24"/>
            </a:solidFill>
            <a:prstDash val="solid"/>
          </a:ln>
        </p:spPr>
      </p:sp>
      <p:sp>
        <p:nvSpPr>
          <p:cNvPr id="21" name="Shape 19"/>
          <p:cNvSpPr/>
          <p:nvPr/>
        </p:nvSpPr>
        <p:spPr>
          <a:xfrm>
            <a:off x="1559052" y="2388870"/>
            <a:ext cx="82296" cy="308610"/>
          </a:xfrm>
          <a:prstGeom prst="rect">
            <a:avLst/>
          </a:prstGeom>
          <a:solidFill>
            <a:srgbClr val="8A5A2B"/>
          </a:solidFill>
          <a:ln w="9525">
            <a:solidFill>
              <a:srgbClr val="5E3B1A"/>
            </a:solidFill>
            <a:prstDash val="solid"/>
          </a:ln>
        </p:spPr>
      </p:sp>
      <p:sp>
        <p:nvSpPr>
          <p:cNvPr id="22" name="Shape 20"/>
          <p:cNvSpPr/>
          <p:nvPr/>
        </p:nvSpPr>
        <p:spPr>
          <a:xfrm>
            <a:off x="1394460" y="2025396"/>
            <a:ext cx="411480" cy="411480"/>
          </a:xfrm>
          <a:prstGeom prst="ellipse">
            <a:avLst/>
          </a:prstGeom>
          <a:solidFill>
            <a:srgbClr val="4E9A3E"/>
          </a:solidFill>
          <a:ln w="9525">
            <a:solidFill>
              <a:srgbClr val="2F6B24"/>
            </a:solidFill>
            <a:prstDash val="solid"/>
          </a:ln>
        </p:spPr>
      </p:sp>
      <p:sp>
        <p:nvSpPr>
          <p:cNvPr id="23" name="Shape 21"/>
          <p:cNvSpPr/>
          <p:nvPr/>
        </p:nvSpPr>
        <p:spPr>
          <a:xfrm>
            <a:off x="2024482" y="2450592"/>
            <a:ext cx="65837" cy="246888"/>
          </a:xfrm>
          <a:prstGeom prst="rect">
            <a:avLst/>
          </a:prstGeom>
          <a:solidFill>
            <a:srgbClr val="8A5A2B"/>
          </a:solidFill>
          <a:ln w="9525">
            <a:solidFill>
              <a:srgbClr val="5E3B1A"/>
            </a:solidFill>
            <a:prstDash val="solid"/>
          </a:ln>
        </p:spPr>
      </p:sp>
      <p:sp>
        <p:nvSpPr>
          <p:cNvPr id="24" name="Shape 22"/>
          <p:cNvSpPr/>
          <p:nvPr/>
        </p:nvSpPr>
        <p:spPr>
          <a:xfrm>
            <a:off x="1892808" y="2159813"/>
            <a:ext cx="329184" cy="329184"/>
          </a:xfrm>
          <a:prstGeom prst="ellipse">
            <a:avLst/>
          </a:prstGeom>
          <a:solidFill>
            <a:srgbClr val="4E9A3E"/>
          </a:solidFill>
          <a:ln w="9525">
            <a:solidFill>
              <a:srgbClr val="2F6B24"/>
            </a:solidFill>
            <a:prstDash val="solid"/>
          </a:ln>
        </p:spPr>
      </p:sp>
      <p:sp>
        <p:nvSpPr>
          <p:cNvPr id="25" name="Shape 23"/>
          <p:cNvSpPr/>
          <p:nvPr/>
        </p:nvSpPr>
        <p:spPr>
          <a:xfrm>
            <a:off x="2473452" y="2388870"/>
            <a:ext cx="82296" cy="308610"/>
          </a:xfrm>
          <a:prstGeom prst="rect">
            <a:avLst/>
          </a:prstGeom>
          <a:solidFill>
            <a:srgbClr val="8A5A2B"/>
          </a:solidFill>
          <a:ln w="9525">
            <a:solidFill>
              <a:srgbClr val="5E3B1A"/>
            </a:solidFill>
            <a:prstDash val="solid"/>
          </a:ln>
        </p:spPr>
      </p:sp>
      <p:sp>
        <p:nvSpPr>
          <p:cNvPr id="26" name="Shape 24"/>
          <p:cNvSpPr/>
          <p:nvPr/>
        </p:nvSpPr>
        <p:spPr>
          <a:xfrm>
            <a:off x="2308860" y="2025396"/>
            <a:ext cx="411480" cy="411480"/>
          </a:xfrm>
          <a:prstGeom prst="ellipse">
            <a:avLst/>
          </a:prstGeom>
          <a:solidFill>
            <a:srgbClr val="4E9A3E"/>
          </a:solidFill>
          <a:ln w="9525">
            <a:solidFill>
              <a:srgbClr val="2F6B24"/>
            </a:solidFill>
            <a:prstDash val="solid"/>
          </a:ln>
        </p:spPr>
      </p:sp>
      <p:sp>
        <p:nvSpPr>
          <p:cNvPr id="27" name="Text 25"/>
          <p:cNvSpPr/>
          <p:nvPr/>
        </p:nvSpPr>
        <p:spPr>
          <a:xfrm>
            <a:off x="868680" y="2834640"/>
            <a:ext cx="19659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national park, reserve</a:t>
            </a:r>
            <a:endParaRPr lang="en-US" sz="1000" dirty="0"/>
          </a:p>
        </p:txBody>
      </p:sp>
      <p:sp>
        <p:nvSpPr>
          <p:cNvPr id="28" name="Shape 26"/>
          <p:cNvSpPr/>
          <p:nvPr/>
        </p:nvSpPr>
        <p:spPr>
          <a:xfrm>
            <a:off x="3520440" y="1783080"/>
            <a:ext cx="1965960" cy="1097280"/>
          </a:xfrm>
          <a:prstGeom prst="rect">
            <a:avLst/>
          </a:prstGeom>
          <a:solidFill>
            <a:srgbClr val="FBF3DF"/>
          </a:solidFill>
          <a:ln w="19050">
            <a:solidFill>
              <a:srgbClr val="8A6D3B"/>
            </a:solidFill>
            <a:prstDash val="solid"/>
          </a:ln>
        </p:spPr>
      </p:sp>
      <p:sp>
        <p:nvSpPr>
          <p:cNvPr id="29" name="Shape 27"/>
          <p:cNvSpPr/>
          <p:nvPr/>
        </p:nvSpPr>
        <p:spPr>
          <a:xfrm rot="1200000">
            <a:off x="4109314" y="1965960"/>
            <a:ext cx="263347" cy="493776"/>
          </a:xfrm>
          <a:prstGeom prst="ellipse">
            <a:avLst/>
          </a:prstGeom>
          <a:solidFill>
            <a:srgbClr val="C0602A"/>
          </a:solidFill>
          <a:ln w="9525">
            <a:solidFill>
              <a:srgbClr val="7A3A16"/>
            </a:solidFill>
            <a:prstDash val="solid"/>
          </a:ln>
        </p:spPr>
      </p:sp>
      <p:sp>
        <p:nvSpPr>
          <p:cNvPr id="30" name="Shape 28"/>
          <p:cNvSpPr/>
          <p:nvPr/>
        </p:nvSpPr>
        <p:spPr>
          <a:xfrm>
            <a:off x="3804818" y="2253996"/>
            <a:ext cx="345643" cy="246888"/>
          </a:xfrm>
          <a:prstGeom prst="ellipse">
            <a:avLst/>
          </a:prstGeom>
          <a:solidFill>
            <a:srgbClr val="C0602A"/>
          </a:solidFill>
          <a:ln w="9525">
            <a:solidFill>
              <a:srgbClr val="7A3A16"/>
            </a:solidFill>
            <a:prstDash val="solid"/>
          </a:ln>
        </p:spPr>
      </p:sp>
      <p:sp>
        <p:nvSpPr>
          <p:cNvPr id="31" name="Shape 29"/>
          <p:cNvSpPr/>
          <p:nvPr/>
        </p:nvSpPr>
        <p:spPr>
          <a:xfrm>
            <a:off x="3706063" y="2163470"/>
            <a:ext cx="181051" cy="181051"/>
          </a:xfrm>
          <a:prstGeom prst="ellipse">
            <a:avLst/>
          </a:prstGeom>
          <a:solidFill>
            <a:srgbClr val="C0602A"/>
          </a:solidFill>
          <a:ln w="9525">
            <a:solidFill>
              <a:srgbClr val="7A3A16"/>
            </a:solidFill>
            <a:prstDash val="solid"/>
          </a:ln>
        </p:spPr>
      </p:sp>
      <p:sp>
        <p:nvSpPr>
          <p:cNvPr id="32" name="Shape 30"/>
          <p:cNvSpPr/>
          <p:nvPr/>
        </p:nvSpPr>
        <p:spPr>
          <a:xfrm>
            <a:off x="3780130" y="2105863"/>
            <a:ext cx="65837" cy="82296"/>
          </a:xfrm>
          <a:prstGeom prst="triangle">
            <a:avLst/>
          </a:prstGeom>
          <a:solidFill>
            <a:srgbClr val="C0602A"/>
          </a:solidFill>
          <a:ln w="6350">
            <a:solidFill>
              <a:srgbClr val="7A3A16"/>
            </a:solidFill>
            <a:prstDash val="solid"/>
          </a:ln>
        </p:spPr>
      </p:sp>
      <p:sp>
        <p:nvSpPr>
          <p:cNvPr id="33" name="Shape 31"/>
          <p:cNvSpPr/>
          <p:nvPr/>
        </p:nvSpPr>
        <p:spPr>
          <a:xfrm>
            <a:off x="3741542" y="2215408"/>
            <a:ext cx="44257" cy="44257"/>
          </a:xfrm>
          <a:prstGeom prst="ellipse">
            <a:avLst/>
          </a:prstGeom>
          <a:solidFill>
            <a:srgbClr val="133536"/>
          </a:solidFill>
          <a:ln w="9525">
            <a:solidFill>
              <a:srgbClr val="133536"/>
            </a:solidFill>
            <a:prstDash val="solid"/>
          </a:ln>
        </p:spPr>
      </p:sp>
      <p:sp>
        <p:nvSpPr>
          <p:cNvPr id="34" name="Shape 32"/>
          <p:cNvSpPr/>
          <p:nvPr/>
        </p:nvSpPr>
        <p:spPr>
          <a:xfrm rot="1200000">
            <a:off x="4795114" y="1965960"/>
            <a:ext cx="263347" cy="493776"/>
          </a:xfrm>
          <a:prstGeom prst="ellipse">
            <a:avLst/>
          </a:prstGeom>
          <a:solidFill>
            <a:srgbClr val="C0602A"/>
          </a:solidFill>
          <a:ln w="9525">
            <a:solidFill>
              <a:srgbClr val="7A3A16"/>
            </a:solidFill>
            <a:prstDash val="solid"/>
          </a:ln>
        </p:spPr>
      </p:sp>
      <p:sp>
        <p:nvSpPr>
          <p:cNvPr id="35" name="Shape 33"/>
          <p:cNvSpPr/>
          <p:nvPr/>
        </p:nvSpPr>
        <p:spPr>
          <a:xfrm>
            <a:off x="4490618" y="2253996"/>
            <a:ext cx="345643" cy="246888"/>
          </a:xfrm>
          <a:prstGeom prst="ellipse">
            <a:avLst/>
          </a:prstGeom>
          <a:solidFill>
            <a:srgbClr val="C0602A"/>
          </a:solidFill>
          <a:ln w="9525">
            <a:solidFill>
              <a:srgbClr val="7A3A16"/>
            </a:solidFill>
            <a:prstDash val="solid"/>
          </a:ln>
        </p:spPr>
      </p:sp>
      <p:sp>
        <p:nvSpPr>
          <p:cNvPr id="36" name="Shape 34"/>
          <p:cNvSpPr/>
          <p:nvPr/>
        </p:nvSpPr>
        <p:spPr>
          <a:xfrm>
            <a:off x="4391863" y="2163470"/>
            <a:ext cx="181051" cy="181051"/>
          </a:xfrm>
          <a:prstGeom prst="ellipse">
            <a:avLst/>
          </a:prstGeom>
          <a:solidFill>
            <a:srgbClr val="C0602A"/>
          </a:solidFill>
          <a:ln w="9525">
            <a:solidFill>
              <a:srgbClr val="7A3A16"/>
            </a:solidFill>
            <a:prstDash val="solid"/>
          </a:ln>
        </p:spPr>
      </p:sp>
      <p:sp>
        <p:nvSpPr>
          <p:cNvPr id="37" name="Shape 35"/>
          <p:cNvSpPr/>
          <p:nvPr/>
        </p:nvSpPr>
        <p:spPr>
          <a:xfrm>
            <a:off x="4465930" y="2105863"/>
            <a:ext cx="65837" cy="82296"/>
          </a:xfrm>
          <a:prstGeom prst="triangle">
            <a:avLst/>
          </a:prstGeom>
          <a:solidFill>
            <a:srgbClr val="C0602A"/>
          </a:solidFill>
          <a:ln w="6350">
            <a:solidFill>
              <a:srgbClr val="7A3A16"/>
            </a:solidFill>
            <a:prstDash val="solid"/>
          </a:ln>
        </p:spPr>
      </p:sp>
      <p:sp>
        <p:nvSpPr>
          <p:cNvPr id="38" name="Shape 36"/>
          <p:cNvSpPr/>
          <p:nvPr/>
        </p:nvSpPr>
        <p:spPr>
          <a:xfrm>
            <a:off x="4427342" y="2215408"/>
            <a:ext cx="44257" cy="44257"/>
          </a:xfrm>
          <a:prstGeom prst="ellipse">
            <a:avLst/>
          </a:prstGeom>
          <a:solidFill>
            <a:srgbClr val="133536"/>
          </a:solidFill>
          <a:ln w="9525">
            <a:solidFill>
              <a:srgbClr val="133536"/>
            </a:solidFill>
            <a:prstDash val="solid"/>
          </a:ln>
        </p:spPr>
      </p:sp>
      <p:sp>
        <p:nvSpPr>
          <p:cNvPr id="39" name="Shape 37"/>
          <p:cNvSpPr/>
          <p:nvPr/>
        </p:nvSpPr>
        <p:spPr>
          <a:xfrm rot="1200000">
            <a:off x="5239512" y="2377440"/>
            <a:ext cx="146304" cy="274320"/>
          </a:xfrm>
          <a:prstGeom prst="ellipse">
            <a:avLst/>
          </a:prstGeom>
          <a:solidFill>
            <a:srgbClr val="C0602A"/>
          </a:solidFill>
          <a:ln w="9525">
            <a:solidFill>
              <a:srgbClr val="7A3A16"/>
            </a:solidFill>
            <a:prstDash val="solid"/>
          </a:ln>
        </p:spPr>
      </p:sp>
      <p:sp>
        <p:nvSpPr>
          <p:cNvPr id="40" name="Shape 38"/>
          <p:cNvSpPr/>
          <p:nvPr/>
        </p:nvSpPr>
        <p:spPr>
          <a:xfrm>
            <a:off x="5070348" y="2537460"/>
            <a:ext cx="192024" cy="137160"/>
          </a:xfrm>
          <a:prstGeom prst="ellipse">
            <a:avLst/>
          </a:prstGeom>
          <a:solidFill>
            <a:srgbClr val="C0602A"/>
          </a:solidFill>
          <a:ln w="9525">
            <a:solidFill>
              <a:srgbClr val="7A3A16"/>
            </a:solidFill>
            <a:prstDash val="solid"/>
          </a:ln>
        </p:spPr>
      </p:sp>
      <p:sp>
        <p:nvSpPr>
          <p:cNvPr id="41" name="Shape 39"/>
          <p:cNvSpPr/>
          <p:nvPr/>
        </p:nvSpPr>
        <p:spPr>
          <a:xfrm>
            <a:off x="5015484" y="2487168"/>
            <a:ext cx="100584" cy="100584"/>
          </a:xfrm>
          <a:prstGeom prst="ellipse">
            <a:avLst/>
          </a:prstGeom>
          <a:solidFill>
            <a:srgbClr val="C0602A"/>
          </a:solidFill>
          <a:ln w="9525">
            <a:solidFill>
              <a:srgbClr val="7A3A16"/>
            </a:solidFill>
            <a:prstDash val="solid"/>
          </a:ln>
        </p:spPr>
      </p:sp>
      <p:sp>
        <p:nvSpPr>
          <p:cNvPr id="42" name="Shape 40"/>
          <p:cNvSpPr/>
          <p:nvPr/>
        </p:nvSpPr>
        <p:spPr>
          <a:xfrm>
            <a:off x="5056632" y="2455164"/>
            <a:ext cx="36576" cy="45720"/>
          </a:xfrm>
          <a:prstGeom prst="triangle">
            <a:avLst/>
          </a:prstGeom>
          <a:solidFill>
            <a:srgbClr val="C0602A"/>
          </a:solidFill>
          <a:ln w="6350">
            <a:solidFill>
              <a:srgbClr val="7A3A16"/>
            </a:solidFill>
            <a:prstDash val="solid"/>
          </a:ln>
        </p:spPr>
      </p:sp>
      <p:sp>
        <p:nvSpPr>
          <p:cNvPr id="43" name="Shape 41"/>
          <p:cNvSpPr/>
          <p:nvPr/>
        </p:nvSpPr>
        <p:spPr>
          <a:xfrm>
            <a:off x="5031943" y="2512771"/>
            <a:ext cx="31090" cy="31090"/>
          </a:xfrm>
          <a:prstGeom prst="ellipse">
            <a:avLst/>
          </a:prstGeom>
          <a:solidFill>
            <a:srgbClr val="133536"/>
          </a:solidFill>
          <a:ln w="9525">
            <a:solidFill>
              <a:srgbClr val="133536"/>
            </a:solidFill>
            <a:prstDash val="solid"/>
          </a:ln>
        </p:spPr>
      </p:sp>
      <p:sp>
        <p:nvSpPr>
          <p:cNvPr id="44" name="Text 42"/>
          <p:cNvSpPr/>
          <p:nvPr/>
        </p:nvSpPr>
        <p:spPr>
          <a:xfrm>
            <a:off x="3520440" y="2834640"/>
            <a:ext cx="19659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zoo → release to the wild</a:t>
            </a:r>
            <a:endParaRPr lang="en-US" sz="1000" dirty="0"/>
          </a:p>
        </p:txBody>
      </p:sp>
      <p:sp>
        <p:nvSpPr>
          <p:cNvPr id="45" name="Shape 43"/>
          <p:cNvSpPr/>
          <p:nvPr/>
        </p:nvSpPr>
        <p:spPr>
          <a:xfrm>
            <a:off x="868680" y="3566160"/>
            <a:ext cx="1965960" cy="1188720"/>
          </a:xfrm>
          <a:prstGeom prst="roundRect">
            <a:avLst>
              <a:gd name="adj" fmla="val 3846"/>
            </a:avLst>
          </a:prstGeom>
          <a:solidFill>
            <a:srgbClr val="DDEFF7"/>
          </a:solidFill>
          <a:ln w="19050">
            <a:solidFill>
              <a:srgbClr val="5B9BD5"/>
            </a:solidFill>
            <a:prstDash val="solid"/>
          </a:ln>
        </p:spPr>
      </p:sp>
      <p:sp>
        <p:nvSpPr>
          <p:cNvPr id="46" name="Shape 44"/>
          <p:cNvSpPr/>
          <p:nvPr/>
        </p:nvSpPr>
        <p:spPr>
          <a:xfrm>
            <a:off x="1005840" y="3858768"/>
            <a:ext cx="411480" cy="484632"/>
          </a:xfrm>
          <a:prstGeom prst="roundRect">
            <a:avLst>
              <a:gd name="adj" fmla="val 11111"/>
            </a:avLst>
          </a:prstGeom>
          <a:solidFill>
            <a:srgbClr val="EAF2F8"/>
          </a:solidFill>
          <a:ln w="15875">
            <a:solidFill>
              <a:srgbClr val="6B7385"/>
            </a:solidFill>
            <a:prstDash val="solid"/>
          </a:ln>
        </p:spPr>
      </p:sp>
      <p:sp>
        <p:nvSpPr>
          <p:cNvPr id="47" name="Shape 45"/>
          <p:cNvSpPr/>
          <p:nvPr/>
        </p:nvSpPr>
        <p:spPr>
          <a:xfrm>
            <a:off x="1051560" y="3749040"/>
            <a:ext cx="320040" cy="128016"/>
          </a:xfrm>
          <a:prstGeom prst="rect">
            <a:avLst/>
          </a:prstGeom>
          <a:solidFill>
            <a:srgbClr val="6B7385"/>
          </a:solidFill>
          <a:ln w="12700">
            <a:solidFill>
              <a:srgbClr val="4A5568"/>
            </a:solidFill>
            <a:prstDash val="solid"/>
          </a:ln>
        </p:spPr>
      </p:sp>
      <p:sp>
        <p:nvSpPr>
          <p:cNvPr id="48" name="Shape 46"/>
          <p:cNvSpPr/>
          <p:nvPr/>
        </p:nvSpPr>
        <p:spPr>
          <a:xfrm>
            <a:off x="1078992" y="4169664"/>
            <a:ext cx="73152" cy="73152"/>
          </a:xfrm>
          <a:prstGeom prst="ellipse">
            <a:avLst/>
          </a:prstGeom>
          <a:solidFill>
            <a:srgbClr val="B5833A"/>
          </a:solidFill>
          <a:ln w="9525">
            <a:solidFill>
              <a:srgbClr val="7A5520"/>
            </a:solidFill>
            <a:prstDash val="solid"/>
          </a:ln>
        </p:spPr>
      </p:sp>
      <p:sp>
        <p:nvSpPr>
          <p:cNvPr id="49" name="Shape 47"/>
          <p:cNvSpPr/>
          <p:nvPr/>
        </p:nvSpPr>
        <p:spPr>
          <a:xfrm>
            <a:off x="1175004" y="4169664"/>
            <a:ext cx="73152" cy="73152"/>
          </a:xfrm>
          <a:prstGeom prst="ellipse">
            <a:avLst/>
          </a:prstGeom>
          <a:solidFill>
            <a:srgbClr val="B5833A"/>
          </a:solidFill>
          <a:ln w="9525">
            <a:solidFill>
              <a:srgbClr val="7A5520"/>
            </a:solidFill>
            <a:prstDash val="solid"/>
          </a:ln>
        </p:spPr>
      </p:sp>
      <p:sp>
        <p:nvSpPr>
          <p:cNvPr id="50" name="Shape 48"/>
          <p:cNvSpPr/>
          <p:nvPr/>
        </p:nvSpPr>
        <p:spPr>
          <a:xfrm>
            <a:off x="1271016" y="4169664"/>
            <a:ext cx="73152" cy="73152"/>
          </a:xfrm>
          <a:prstGeom prst="ellipse">
            <a:avLst/>
          </a:prstGeom>
          <a:solidFill>
            <a:srgbClr val="B5833A"/>
          </a:solidFill>
          <a:ln w="9525">
            <a:solidFill>
              <a:srgbClr val="7A5520"/>
            </a:solidFill>
            <a:prstDash val="solid"/>
          </a:ln>
        </p:spPr>
      </p:sp>
      <p:sp>
        <p:nvSpPr>
          <p:cNvPr id="51" name="Shape 49"/>
          <p:cNvSpPr/>
          <p:nvPr/>
        </p:nvSpPr>
        <p:spPr>
          <a:xfrm>
            <a:off x="1078992" y="4059936"/>
            <a:ext cx="73152" cy="73152"/>
          </a:xfrm>
          <a:prstGeom prst="ellipse">
            <a:avLst/>
          </a:prstGeom>
          <a:solidFill>
            <a:srgbClr val="B5833A"/>
          </a:solidFill>
          <a:ln w="9525">
            <a:solidFill>
              <a:srgbClr val="7A5520"/>
            </a:solidFill>
            <a:prstDash val="solid"/>
          </a:ln>
        </p:spPr>
      </p:sp>
      <p:sp>
        <p:nvSpPr>
          <p:cNvPr id="52" name="Shape 50"/>
          <p:cNvSpPr/>
          <p:nvPr/>
        </p:nvSpPr>
        <p:spPr>
          <a:xfrm>
            <a:off x="1175004" y="4059936"/>
            <a:ext cx="73152" cy="73152"/>
          </a:xfrm>
          <a:prstGeom prst="ellipse">
            <a:avLst/>
          </a:prstGeom>
          <a:solidFill>
            <a:srgbClr val="B5833A"/>
          </a:solidFill>
          <a:ln w="9525">
            <a:solidFill>
              <a:srgbClr val="7A5520"/>
            </a:solidFill>
            <a:prstDash val="solid"/>
          </a:ln>
        </p:spPr>
      </p:sp>
      <p:sp>
        <p:nvSpPr>
          <p:cNvPr id="53" name="Shape 51"/>
          <p:cNvSpPr/>
          <p:nvPr/>
        </p:nvSpPr>
        <p:spPr>
          <a:xfrm>
            <a:off x="1271016" y="4059936"/>
            <a:ext cx="73152" cy="73152"/>
          </a:xfrm>
          <a:prstGeom prst="ellipse">
            <a:avLst/>
          </a:prstGeom>
          <a:solidFill>
            <a:srgbClr val="B5833A"/>
          </a:solidFill>
          <a:ln w="9525">
            <a:solidFill>
              <a:srgbClr val="7A5520"/>
            </a:solidFill>
            <a:prstDash val="solid"/>
          </a:ln>
        </p:spPr>
      </p:sp>
      <p:sp>
        <p:nvSpPr>
          <p:cNvPr id="54" name="Shape 52"/>
          <p:cNvSpPr/>
          <p:nvPr/>
        </p:nvSpPr>
        <p:spPr>
          <a:xfrm>
            <a:off x="1078992" y="3950208"/>
            <a:ext cx="73152" cy="73152"/>
          </a:xfrm>
          <a:prstGeom prst="ellipse">
            <a:avLst/>
          </a:prstGeom>
          <a:solidFill>
            <a:srgbClr val="B5833A"/>
          </a:solidFill>
          <a:ln w="9525">
            <a:solidFill>
              <a:srgbClr val="7A5520"/>
            </a:solidFill>
            <a:prstDash val="solid"/>
          </a:ln>
        </p:spPr>
      </p:sp>
      <p:sp>
        <p:nvSpPr>
          <p:cNvPr id="55" name="Shape 53"/>
          <p:cNvSpPr/>
          <p:nvPr/>
        </p:nvSpPr>
        <p:spPr>
          <a:xfrm>
            <a:off x="1175004" y="3950208"/>
            <a:ext cx="73152" cy="73152"/>
          </a:xfrm>
          <a:prstGeom prst="ellipse">
            <a:avLst/>
          </a:prstGeom>
          <a:solidFill>
            <a:srgbClr val="B5833A"/>
          </a:solidFill>
          <a:ln w="9525">
            <a:solidFill>
              <a:srgbClr val="7A5520"/>
            </a:solidFill>
            <a:prstDash val="solid"/>
          </a:ln>
        </p:spPr>
      </p:sp>
      <p:sp>
        <p:nvSpPr>
          <p:cNvPr id="56" name="Shape 54"/>
          <p:cNvSpPr/>
          <p:nvPr/>
        </p:nvSpPr>
        <p:spPr>
          <a:xfrm>
            <a:off x="1271016" y="3950208"/>
            <a:ext cx="73152" cy="73152"/>
          </a:xfrm>
          <a:prstGeom prst="ellipse">
            <a:avLst/>
          </a:prstGeom>
          <a:solidFill>
            <a:srgbClr val="B5833A"/>
          </a:solidFill>
          <a:ln w="9525">
            <a:solidFill>
              <a:srgbClr val="7A5520"/>
            </a:solidFill>
            <a:prstDash val="solid"/>
          </a:ln>
        </p:spPr>
      </p:sp>
      <p:sp>
        <p:nvSpPr>
          <p:cNvPr id="57" name="Shape 55"/>
          <p:cNvSpPr/>
          <p:nvPr/>
        </p:nvSpPr>
        <p:spPr>
          <a:xfrm>
            <a:off x="1508760" y="3858768"/>
            <a:ext cx="411480" cy="484632"/>
          </a:xfrm>
          <a:prstGeom prst="roundRect">
            <a:avLst>
              <a:gd name="adj" fmla="val 11111"/>
            </a:avLst>
          </a:prstGeom>
          <a:solidFill>
            <a:srgbClr val="EAF2F8"/>
          </a:solidFill>
          <a:ln w="15875">
            <a:solidFill>
              <a:srgbClr val="6B7385"/>
            </a:solidFill>
            <a:prstDash val="solid"/>
          </a:ln>
        </p:spPr>
      </p:sp>
      <p:sp>
        <p:nvSpPr>
          <p:cNvPr id="58" name="Shape 56"/>
          <p:cNvSpPr/>
          <p:nvPr/>
        </p:nvSpPr>
        <p:spPr>
          <a:xfrm>
            <a:off x="1554480" y="3749040"/>
            <a:ext cx="320040" cy="128016"/>
          </a:xfrm>
          <a:prstGeom prst="rect">
            <a:avLst/>
          </a:prstGeom>
          <a:solidFill>
            <a:srgbClr val="6B7385"/>
          </a:solidFill>
          <a:ln w="12700">
            <a:solidFill>
              <a:srgbClr val="4A5568"/>
            </a:solidFill>
            <a:prstDash val="solid"/>
          </a:ln>
        </p:spPr>
      </p:sp>
      <p:sp>
        <p:nvSpPr>
          <p:cNvPr id="59" name="Shape 57"/>
          <p:cNvSpPr/>
          <p:nvPr/>
        </p:nvSpPr>
        <p:spPr>
          <a:xfrm>
            <a:off x="1581912" y="4169664"/>
            <a:ext cx="73152" cy="73152"/>
          </a:xfrm>
          <a:prstGeom prst="ellipse">
            <a:avLst/>
          </a:prstGeom>
          <a:solidFill>
            <a:srgbClr val="6B4F2A"/>
          </a:solidFill>
          <a:ln w="9525">
            <a:solidFill>
              <a:srgbClr val="7A5520"/>
            </a:solidFill>
            <a:prstDash val="solid"/>
          </a:ln>
        </p:spPr>
      </p:sp>
      <p:sp>
        <p:nvSpPr>
          <p:cNvPr id="60" name="Shape 58"/>
          <p:cNvSpPr/>
          <p:nvPr/>
        </p:nvSpPr>
        <p:spPr>
          <a:xfrm>
            <a:off x="1677924" y="4169664"/>
            <a:ext cx="73152" cy="73152"/>
          </a:xfrm>
          <a:prstGeom prst="ellipse">
            <a:avLst/>
          </a:prstGeom>
          <a:solidFill>
            <a:srgbClr val="6B4F2A"/>
          </a:solidFill>
          <a:ln w="9525">
            <a:solidFill>
              <a:srgbClr val="7A5520"/>
            </a:solidFill>
            <a:prstDash val="solid"/>
          </a:ln>
        </p:spPr>
      </p:sp>
      <p:sp>
        <p:nvSpPr>
          <p:cNvPr id="61" name="Shape 59"/>
          <p:cNvSpPr/>
          <p:nvPr/>
        </p:nvSpPr>
        <p:spPr>
          <a:xfrm>
            <a:off x="1773936" y="4169664"/>
            <a:ext cx="73152" cy="73152"/>
          </a:xfrm>
          <a:prstGeom prst="ellipse">
            <a:avLst/>
          </a:prstGeom>
          <a:solidFill>
            <a:srgbClr val="6B4F2A"/>
          </a:solidFill>
          <a:ln w="9525">
            <a:solidFill>
              <a:srgbClr val="7A5520"/>
            </a:solidFill>
            <a:prstDash val="solid"/>
          </a:ln>
        </p:spPr>
      </p:sp>
      <p:sp>
        <p:nvSpPr>
          <p:cNvPr id="62" name="Shape 60"/>
          <p:cNvSpPr/>
          <p:nvPr/>
        </p:nvSpPr>
        <p:spPr>
          <a:xfrm>
            <a:off x="1581912" y="4059936"/>
            <a:ext cx="73152" cy="73152"/>
          </a:xfrm>
          <a:prstGeom prst="ellipse">
            <a:avLst/>
          </a:prstGeom>
          <a:solidFill>
            <a:srgbClr val="6B4F2A"/>
          </a:solidFill>
          <a:ln w="9525">
            <a:solidFill>
              <a:srgbClr val="7A5520"/>
            </a:solidFill>
            <a:prstDash val="solid"/>
          </a:ln>
        </p:spPr>
      </p:sp>
      <p:sp>
        <p:nvSpPr>
          <p:cNvPr id="63" name="Shape 61"/>
          <p:cNvSpPr/>
          <p:nvPr/>
        </p:nvSpPr>
        <p:spPr>
          <a:xfrm>
            <a:off x="1677924" y="4059936"/>
            <a:ext cx="73152" cy="73152"/>
          </a:xfrm>
          <a:prstGeom prst="ellipse">
            <a:avLst/>
          </a:prstGeom>
          <a:solidFill>
            <a:srgbClr val="6B4F2A"/>
          </a:solidFill>
          <a:ln w="9525">
            <a:solidFill>
              <a:srgbClr val="7A5520"/>
            </a:solidFill>
            <a:prstDash val="solid"/>
          </a:ln>
        </p:spPr>
      </p:sp>
      <p:sp>
        <p:nvSpPr>
          <p:cNvPr id="64" name="Shape 62"/>
          <p:cNvSpPr/>
          <p:nvPr/>
        </p:nvSpPr>
        <p:spPr>
          <a:xfrm>
            <a:off x="1773936" y="4059936"/>
            <a:ext cx="73152" cy="73152"/>
          </a:xfrm>
          <a:prstGeom prst="ellipse">
            <a:avLst/>
          </a:prstGeom>
          <a:solidFill>
            <a:srgbClr val="6B4F2A"/>
          </a:solidFill>
          <a:ln w="9525">
            <a:solidFill>
              <a:srgbClr val="7A5520"/>
            </a:solidFill>
            <a:prstDash val="solid"/>
          </a:ln>
        </p:spPr>
      </p:sp>
      <p:sp>
        <p:nvSpPr>
          <p:cNvPr id="65" name="Shape 63"/>
          <p:cNvSpPr/>
          <p:nvPr/>
        </p:nvSpPr>
        <p:spPr>
          <a:xfrm>
            <a:off x="1581912" y="3950208"/>
            <a:ext cx="73152" cy="73152"/>
          </a:xfrm>
          <a:prstGeom prst="ellipse">
            <a:avLst/>
          </a:prstGeom>
          <a:solidFill>
            <a:srgbClr val="6B4F2A"/>
          </a:solidFill>
          <a:ln w="9525">
            <a:solidFill>
              <a:srgbClr val="7A5520"/>
            </a:solidFill>
            <a:prstDash val="solid"/>
          </a:ln>
        </p:spPr>
      </p:sp>
      <p:sp>
        <p:nvSpPr>
          <p:cNvPr id="66" name="Shape 64"/>
          <p:cNvSpPr/>
          <p:nvPr/>
        </p:nvSpPr>
        <p:spPr>
          <a:xfrm>
            <a:off x="1677924" y="3950208"/>
            <a:ext cx="73152" cy="73152"/>
          </a:xfrm>
          <a:prstGeom prst="ellipse">
            <a:avLst/>
          </a:prstGeom>
          <a:solidFill>
            <a:srgbClr val="6B4F2A"/>
          </a:solidFill>
          <a:ln w="9525">
            <a:solidFill>
              <a:srgbClr val="7A5520"/>
            </a:solidFill>
            <a:prstDash val="solid"/>
          </a:ln>
        </p:spPr>
      </p:sp>
      <p:sp>
        <p:nvSpPr>
          <p:cNvPr id="67" name="Shape 65"/>
          <p:cNvSpPr/>
          <p:nvPr/>
        </p:nvSpPr>
        <p:spPr>
          <a:xfrm>
            <a:off x="1773936" y="3950208"/>
            <a:ext cx="73152" cy="73152"/>
          </a:xfrm>
          <a:prstGeom prst="ellipse">
            <a:avLst/>
          </a:prstGeom>
          <a:solidFill>
            <a:srgbClr val="6B4F2A"/>
          </a:solidFill>
          <a:ln w="9525">
            <a:solidFill>
              <a:srgbClr val="7A5520"/>
            </a:solidFill>
            <a:prstDash val="solid"/>
          </a:ln>
        </p:spPr>
      </p:sp>
      <p:sp>
        <p:nvSpPr>
          <p:cNvPr id="68" name="Shape 66"/>
          <p:cNvSpPr/>
          <p:nvPr/>
        </p:nvSpPr>
        <p:spPr>
          <a:xfrm>
            <a:off x="2011680" y="3858768"/>
            <a:ext cx="411480" cy="484632"/>
          </a:xfrm>
          <a:prstGeom prst="roundRect">
            <a:avLst>
              <a:gd name="adj" fmla="val 11111"/>
            </a:avLst>
          </a:prstGeom>
          <a:solidFill>
            <a:srgbClr val="EAF2F8"/>
          </a:solidFill>
          <a:ln w="15875">
            <a:solidFill>
              <a:srgbClr val="6B7385"/>
            </a:solidFill>
            <a:prstDash val="solid"/>
          </a:ln>
        </p:spPr>
      </p:sp>
      <p:sp>
        <p:nvSpPr>
          <p:cNvPr id="69" name="Shape 67"/>
          <p:cNvSpPr/>
          <p:nvPr/>
        </p:nvSpPr>
        <p:spPr>
          <a:xfrm>
            <a:off x="2057400" y="3749040"/>
            <a:ext cx="320040" cy="128016"/>
          </a:xfrm>
          <a:prstGeom prst="rect">
            <a:avLst/>
          </a:prstGeom>
          <a:solidFill>
            <a:srgbClr val="6B7385"/>
          </a:solidFill>
          <a:ln w="12700">
            <a:solidFill>
              <a:srgbClr val="4A5568"/>
            </a:solidFill>
            <a:prstDash val="solid"/>
          </a:ln>
        </p:spPr>
      </p:sp>
      <p:sp>
        <p:nvSpPr>
          <p:cNvPr id="70" name="Shape 68"/>
          <p:cNvSpPr/>
          <p:nvPr/>
        </p:nvSpPr>
        <p:spPr>
          <a:xfrm>
            <a:off x="2084832" y="4169664"/>
            <a:ext cx="73152" cy="73152"/>
          </a:xfrm>
          <a:prstGeom prst="ellipse">
            <a:avLst/>
          </a:prstGeom>
          <a:solidFill>
            <a:srgbClr val="D9B26A"/>
          </a:solidFill>
          <a:ln w="9525">
            <a:solidFill>
              <a:srgbClr val="7A5520"/>
            </a:solidFill>
            <a:prstDash val="solid"/>
          </a:ln>
        </p:spPr>
      </p:sp>
      <p:sp>
        <p:nvSpPr>
          <p:cNvPr id="71" name="Shape 69"/>
          <p:cNvSpPr/>
          <p:nvPr/>
        </p:nvSpPr>
        <p:spPr>
          <a:xfrm>
            <a:off x="2180844" y="4169664"/>
            <a:ext cx="73152" cy="73152"/>
          </a:xfrm>
          <a:prstGeom prst="ellipse">
            <a:avLst/>
          </a:prstGeom>
          <a:solidFill>
            <a:srgbClr val="D9B26A"/>
          </a:solidFill>
          <a:ln w="9525">
            <a:solidFill>
              <a:srgbClr val="7A5520"/>
            </a:solidFill>
            <a:prstDash val="solid"/>
          </a:ln>
        </p:spPr>
      </p:sp>
      <p:sp>
        <p:nvSpPr>
          <p:cNvPr id="72" name="Shape 70"/>
          <p:cNvSpPr/>
          <p:nvPr/>
        </p:nvSpPr>
        <p:spPr>
          <a:xfrm>
            <a:off x="2276856" y="4169664"/>
            <a:ext cx="73152" cy="73152"/>
          </a:xfrm>
          <a:prstGeom prst="ellipse">
            <a:avLst/>
          </a:prstGeom>
          <a:solidFill>
            <a:srgbClr val="D9B26A"/>
          </a:solidFill>
          <a:ln w="9525">
            <a:solidFill>
              <a:srgbClr val="7A5520"/>
            </a:solidFill>
            <a:prstDash val="solid"/>
          </a:ln>
        </p:spPr>
      </p:sp>
      <p:sp>
        <p:nvSpPr>
          <p:cNvPr id="73" name="Shape 71"/>
          <p:cNvSpPr/>
          <p:nvPr/>
        </p:nvSpPr>
        <p:spPr>
          <a:xfrm>
            <a:off x="2084832" y="4059936"/>
            <a:ext cx="73152" cy="73152"/>
          </a:xfrm>
          <a:prstGeom prst="ellipse">
            <a:avLst/>
          </a:prstGeom>
          <a:solidFill>
            <a:srgbClr val="D9B26A"/>
          </a:solidFill>
          <a:ln w="9525">
            <a:solidFill>
              <a:srgbClr val="7A5520"/>
            </a:solidFill>
            <a:prstDash val="solid"/>
          </a:ln>
        </p:spPr>
      </p:sp>
      <p:sp>
        <p:nvSpPr>
          <p:cNvPr id="74" name="Shape 72"/>
          <p:cNvSpPr/>
          <p:nvPr/>
        </p:nvSpPr>
        <p:spPr>
          <a:xfrm>
            <a:off x="2180844" y="4059936"/>
            <a:ext cx="73152" cy="73152"/>
          </a:xfrm>
          <a:prstGeom prst="ellipse">
            <a:avLst/>
          </a:prstGeom>
          <a:solidFill>
            <a:srgbClr val="D9B26A"/>
          </a:solidFill>
          <a:ln w="9525">
            <a:solidFill>
              <a:srgbClr val="7A5520"/>
            </a:solidFill>
            <a:prstDash val="solid"/>
          </a:ln>
        </p:spPr>
      </p:sp>
      <p:sp>
        <p:nvSpPr>
          <p:cNvPr id="75" name="Shape 73"/>
          <p:cNvSpPr/>
          <p:nvPr/>
        </p:nvSpPr>
        <p:spPr>
          <a:xfrm>
            <a:off x="2276856" y="4059936"/>
            <a:ext cx="73152" cy="73152"/>
          </a:xfrm>
          <a:prstGeom prst="ellipse">
            <a:avLst/>
          </a:prstGeom>
          <a:solidFill>
            <a:srgbClr val="D9B26A"/>
          </a:solidFill>
          <a:ln w="9525">
            <a:solidFill>
              <a:srgbClr val="7A5520"/>
            </a:solidFill>
            <a:prstDash val="solid"/>
          </a:ln>
        </p:spPr>
      </p:sp>
      <p:sp>
        <p:nvSpPr>
          <p:cNvPr id="76" name="Shape 74"/>
          <p:cNvSpPr/>
          <p:nvPr/>
        </p:nvSpPr>
        <p:spPr>
          <a:xfrm>
            <a:off x="2084832" y="3950208"/>
            <a:ext cx="73152" cy="73152"/>
          </a:xfrm>
          <a:prstGeom prst="ellipse">
            <a:avLst/>
          </a:prstGeom>
          <a:solidFill>
            <a:srgbClr val="D9B26A"/>
          </a:solidFill>
          <a:ln w="9525">
            <a:solidFill>
              <a:srgbClr val="7A5520"/>
            </a:solidFill>
            <a:prstDash val="solid"/>
          </a:ln>
        </p:spPr>
      </p:sp>
      <p:sp>
        <p:nvSpPr>
          <p:cNvPr id="77" name="Shape 75"/>
          <p:cNvSpPr/>
          <p:nvPr/>
        </p:nvSpPr>
        <p:spPr>
          <a:xfrm>
            <a:off x="2180844" y="3950208"/>
            <a:ext cx="73152" cy="73152"/>
          </a:xfrm>
          <a:prstGeom prst="ellipse">
            <a:avLst/>
          </a:prstGeom>
          <a:solidFill>
            <a:srgbClr val="D9B26A"/>
          </a:solidFill>
          <a:ln w="9525">
            <a:solidFill>
              <a:srgbClr val="7A5520"/>
            </a:solidFill>
            <a:prstDash val="solid"/>
          </a:ln>
        </p:spPr>
      </p:sp>
      <p:sp>
        <p:nvSpPr>
          <p:cNvPr id="78" name="Shape 76"/>
          <p:cNvSpPr/>
          <p:nvPr/>
        </p:nvSpPr>
        <p:spPr>
          <a:xfrm>
            <a:off x="2276856" y="3950208"/>
            <a:ext cx="73152" cy="73152"/>
          </a:xfrm>
          <a:prstGeom prst="ellipse">
            <a:avLst/>
          </a:prstGeom>
          <a:solidFill>
            <a:srgbClr val="D9B26A"/>
          </a:solidFill>
          <a:ln w="9525">
            <a:solidFill>
              <a:srgbClr val="7A5520"/>
            </a:solidFill>
            <a:prstDash val="solid"/>
          </a:ln>
        </p:spPr>
      </p:sp>
      <p:sp>
        <p:nvSpPr>
          <p:cNvPr id="79" name="Text 77"/>
          <p:cNvSpPr/>
          <p:nvPr/>
        </p:nvSpPr>
        <p:spPr>
          <a:xfrm>
            <a:off x="2423160" y="3931920"/>
            <a:ext cx="411480" cy="274320"/>
          </a:xfrm>
          <a:prstGeom prst="rect">
            <a:avLst/>
          </a:prstGeom>
          <a:noFill/>
          <a:ln/>
        </p:spPr>
        <p:txBody>
          <a:bodyPr wrap="square" lIns="0" tIns="0" rIns="0" bIns="0" rtlCol="0" anchor="ctr"/>
          <a:lstStyle/>
          <a:p>
            <a:pPr algn="ctr" indent="0" marL="0">
              <a:buNone/>
            </a:pPr>
            <a:r>
              <a:rPr lang="en-US" sz="1000" b="1" dirty="0">
                <a:solidFill>
                  <a:srgbClr val="5B9BD5"/>
                </a:solidFill>
                <a:latin typeface="Calibri" pitchFamily="34" charset="0"/>
                <a:ea typeface="Calibri" pitchFamily="34" charset="-122"/>
                <a:cs typeface="Calibri" pitchFamily="34" charset="-120"/>
              </a:rPr>
              <a:t>−20 °C</a:t>
            </a:r>
            <a:endParaRPr lang="en-US" sz="1000" dirty="0"/>
          </a:p>
        </p:txBody>
      </p:sp>
      <p:sp>
        <p:nvSpPr>
          <p:cNvPr id="80" name="Text 78"/>
          <p:cNvSpPr/>
          <p:nvPr/>
        </p:nvSpPr>
        <p:spPr>
          <a:xfrm>
            <a:off x="868680" y="4434840"/>
            <a:ext cx="19659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dry, cold seed store</a:t>
            </a:r>
            <a:endParaRPr lang="en-US" sz="1000" dirty="0"/>
          </a:p>
        </p:txBody>
      </p:sp>
      <p:sp>
        <p:nvSpPr>
          <p:cNvPr id="81" name="Shape 79"/>
          <p:cNvSpPr/>
          <p:nvPr/>
        </p:nvSpPr>
        <p:spPr>
          <a:xfrm>
            <a:off x="3520440" y="3566160"/>
            <a:ext cx="1965960" cy="1188720"/>
          </a:xfrm>
          <a:prstGeom prst="rect">
            <a:avLst/>
          </a:prstGeom>
          <a:solidFill>
            <a:srgbClr val="F2E6C8"/>
          </a:solidFill>
          <a:ln/>
        </p:spPr>
      </p:sp>
      <p:sp>
        <p:nvSpPr>
          <p:cNvPr id="82" name="Shape 80"/>
          <p:cNvSpPr/>
          <p:nvPr/>
        </p:nvSpPr>
        <p:spPr>
          <a:xfrm>
            <a:off x="3520440" y="4041648"/>
            <a:ext cx="1965960" cy="237744"/>
          </a:xfrm>
          <a:prstGeom prst="roundRect">
            <a:avLst>
              <a:gd name="adj" fmla="val 38462"/>
            </a:avLst>
          </a:prstGeom>
          <a:solidFill>
            <a:srgbClr val="4E9A3E"/>
          </a:solidFill>
          <a:ln w="12700">
            <a:solidFill>
              <a:srgbClr val="2F6B24"/>
            </a:solidFill>
            <a:prstDash val="solid"/>
          </a:ln>
        </p:spPr>
      </p:sp>
      <p:sp>
        <p:nvSpPr>
          <p:cNvPr id="83" name="Shape 81"/>
          <p:cNvSpPr/>
          <p:nvPr/>
        </p:nvSpPr>
        <p:spPr>
          <a:xfrm flipV="1">
            <a:off x="3840480" y="3867912"/>
            <a:ext cx="91" cy="137160"/>
          </a:xfrm>
          <a:prstGeom prst="line">
            <a:avLst/>
          </a:prstGeom>
          <a:noFill/>
          <a:ln w="15875">
            <a:solidFill>
              <a:srgbClr val="3E7F2E"/>
            </a:solidFill>
            <a:prstDash val="solid"/>
          </a:ln>
        </p:spPr>
      </p:sp>
      <p:sp>
        <p:nvSpPr>
          <p:cNvPr id="84" name="Shape 82"/>
          <p:cNvSpPr/>
          <p:nvPr/>
        </p:nvSpPr>
        <p:spPr>
          <a:xfrm>
            <a:off x="3803904" y="3790188"/>
            <a:ext cx="73152" cy="73152"/>
          </a:xfrm>
          <a:prstGeom prst="ellipse">
            <a:avLst/>
          </a:prstGeom>
          <a:solidFill>
            <a:srgbClr val="E8C43A"/>
          </a:solidFill>
          <a:ln w="9525">
            <a:solidFill>
              <a:srgbClr val="E8C43A"/>
            </a:solidFill>
            <a:prstDash val="solid"/>
          </a:ln>
        </p:spPr>
      </p:sp>
      <p:sp>
        <p:nvSpPr>
          <p:cNvPr id="85" name="Shape 83"/>
          <p:cNvSpPr/>
          <p:nvPr/>
        </p:nvSpPr>
        <p:spPr>
          <a:xfrm>
            <a:off x="3845052" y="3831336"/>
            <a:ext cx="73152" cy="73152"/>
          </a:xfrm>
          <a:prstGeom prst="ellipse">
            <a:avLst/>
          </a:prstGeom>
          <a:solidFill>
            <a:srgbClr val="E8C43A"/>
          </a:solidFill>
          <a:ln w="9525">
            <a:solidFill>
              <a:srgbClr val="E8C43A"/>
            </a:solidFill>
            <a:prstDash val="solid"/>
          </a:ln>
        </p:spPr>
      </p:sp>
      <p:sp>
        <p:nvSpPr>
          <p:cNvPr id="86" name="Shape 84"/>
          <p:cNvSpPr/>
          <p:nvPr/>
        </p:nvSpPr>
        <p:spPr>
          <a:xfrm>
            <a:off x="3803904" y="3872484"/>
            <a:ext cx="73152" cy="73152"/>
          </a:xfrm>
          <a:prstGeom prst="ellipse">
            <a:avLst/>
          </a:prstGeom>
          <a:solidFill>
            <a:srgbClr val="E8C43A"/>
          </a:solidFill>
          <a:ln w="9525">
            <a:solidFill>
              <a:srgbClr val="E8C43A"/>
            </a:solidFill>
            <a:prstDash val="solid"/>
          </a:ln>
        </p:spPr>
      </p:sp>
      <p:sp>
        <p:nvSpPr>
          <p:cNvPr id="87" name="Shape 85"/>
          <p:cNvSpPr/>
          <p:nvPr/>
        </p:nvSpPr>
        <p:spPr>
          <a:xfrm>
            <a:off x="3762756" y="3831336"/>
            <a:ext cx="73152" cy="73152"/>
          </a:xfrm>
          <a:prstGeom prst="ellipse">
            <a:avLst/>
          </a:prstGeom>
          <a:solidFill>
            <a:srgbClr val="E8C43A"/>
          </a:solidFill>
          <a:ln w="9525">
            <a:solidFill>
              <a:srgbClr val="E8C43A"/>
            </a:solidFill>
            <a:prstDash val="solid"/>
          </a:ln>
        </p:spPr>
      </p:sp>
      <p:sp>
        <p:nvSpPr>
          <p:cNvPr id="88" name="Shape 86"/>
          <p:cNvSpPr/>
          <p:nvPr/>
        </p:nvSpPr>
        <p:spPr>
          <a:xfrm>
            <a:off x="3813048" y="3840480"/>
            <a:ext cx="54864" cy="54864"/>
          </a:xfrm>
          <a:prstGeom prst="ellipse">
            <a:avLst/>
          </a:prstGeom>
          <a:solidFill>
            <a:srgbClr val="A0522D"/>
          </a:solidFill>
          <a:ln w="9525">
            <a:solidFill>
              <a:srgbClr val="A0522D"/>
            </a:solidFill>
            <a:prstDash val="solid"/>
          </a:ln>
        </p:spPr>
      </p:sp>
      <p:sp>
        <p:nvSpPr>
          <p:cNvPr id="89" name="Shape 87"/>
          <p:cNvSpPr/>
          <p:nvPr/>
        </p:nvSpPr>
        <p:spPr>
          <a:xfrm flipV="1">
            <a:off x="4480560" y="3840480"/>
            <a:ext cx="91" cy="164592"/>
          </a:xfrm>
          <a:prstGeom prst="line">
            <a:avLst/>
          </a:prstGeom>
          <a:noFill/>
          <a:ln w="15875">
            <a:solidFill>
              <a:srgbClr val="3E7F2E"/>
            </a:solidFill>
            <a:prstDash val="solid"/>
          </a:ln>
        </p:spPr>
      </p:sp>
      <p:sp>
        <p:nvSpPr>
          <p:cNvPr id="90" name="Shape 88"/>
          <p:cNvSpPr/>
          <p:nvPr/>
        </p:nvSpPr>
        <p:spPr>
          <a:xfrm>
            <a:off x="4443984" y="3762756"/>
            <a:ext cx="73152" cy="73152"/>
          </a:xfrm>
          <a:prstGeom prst="ellipse">
            <a:avLst/>
          </a:prstGeom>
          <a:solidFill>
            <a:srgbClr val="C8414C"/>
          </a:solidFill>
          <a:ln w="9525">
            <a:solidFill>
              <a:srgbClr val="C8414C"/>
            </a:solidFill>
            <a:prstDash val="solid"/>
          </a:ln>
        </p:spPr>
      </p:sp>
      <p:sp>
        <p:nvSpPr>
          <p:cNvPr id="91" name="Shape 89"/>
          <p:cNvSpPr/>
          <p:nvPr/>
        </p:nvSpPr>
        <p:spPr>
          <a:xfrm>
            <a:off x="4485132" y="3803904"/>
            <a:ext cx="73152" cy="73152"/>
          </a:xfrm>
          <a:prstGeom prst="ellipse">
            <a:avLst/>
          </a:prstGeom>
          <a:solidFill>
            <a:srgbClr val="C8414C"/>
          </a:solidFill>
          <a:ln w="9525">
            <a:solidFill>
              <a:srgbClr val="C8414C"/>
            </a:solidFill>
            <a:prstDash val="solid"/>
          </a:ln>
        </p:spPr>
      </p:sp>
      <p:sp>
        <p:nvSpPr>
          <p:cNvPr id="92" name="Shape 90"/>
          <p:cNvSpPr/>
          <p:nvPr/>
        </p:nvSpPr>
        <p:spPr>
          <a:xfrm>
            <a:off x="4443984" y="3845052"/>
            <a:ext cx="73152" cy="73152"/>
          </a:xfrm>
          <a:prstGeom prst="ellipse">
            <a:avLst/>
          </a:prstGeom>
          <a:solidFill>
            <a:srgbClr val="C8414C"/>
          </a:solidFill>
          <a:ln w="9525">
            <a:solidFill>
              <a:srgbClr val="C8414C"/>
            </a:solidFill>
            <a:prstDash val="solid"/>
          </a:ln>
        </p:spPr>
      </p:sp>
      <p:sp>
        <p:nvSpPr>
          <p:cNvPr id="93" name="Shape 91"/>
          <p:cNvSpPr/>
          <p:nvPr/>
        </p:nvSpPr>
        <p:spPr>
          <a:xfrm>
            <a:off x="4402836" y="3803904"/>
            <a:ext cx="73152" cy="73152"/>
          </a:xfrm>
          <a:prstGeom prst="ellipse">
            <a:avLst/>
          </a:prstGeom>
          <a:solidFill>
            <a:srgbClr val="C8414C"/>
          </a:solidFill>
          <a:ln w="9525">
            <a:solidFill>
              <a:srgbClr val="C8414C"/>
            </a:solidFill>
            <a:prstDash val="solid"/>
          </a:ln>
        </p:spPr>
      </p:sp>
      <p:sp>
        <p:nvSpPr>
          <p:cNvPr id="94" name="Shape 92"/>
          <p:cNvSpPr/>
          <p:nvPr/>
        </p:nvSpPr>
        <p:spPr>
          <a:xfrm>
            <a:off x="4453128" y="3813048"/>
            <a:ext cx="54864" cy="54864"/>
          </a:xfrm>
          <a:prstGeom prst="ellipse">
            <a:avLst/>
          </a:prstGeom>
          <a:solidFill>
            <a:srgbClr val="A0522D"/>
          </a:solidFill>
          <a:ln w="9525">
            <a:solidFill>
              <a:srgbClr val="A0522D"/>
            </a:solidFill>
            <a:prstDash val="solid"/>
          </a:ln>
        </p:spPr>
      </p:sp>
      <p:sp>
        <p:nvSpPr>
          <p:cNvPr id="95" name="Shape 93"/>
          <p:cNvSpPr/>
          <p:nvPr/>
        </p:nvSpPr>
        <p:spPr>
          <a:xfrm flipV="1">
            <a:off x="5120640" y="3867912"/>
            <a:ext cx="91" cy="137160"/>
          </a:xfrm>
          <a:prstGeom prst="line">
            <a:avLst/>
          </a:prstGeom>
          <a:noFill/>
          <a:ln w="15875">
            <a:solidFill>
              <a:srgbClr val="3E7F2E"/>
            </a:solidFill>
            <a:prstDash val="solid"/>
          </a:ln>
        </p:spPr>
      </p:sp>
      <p:sp>
        <p:nvSpPr>
          <p:cNvPr id="96" name="Shape 94"/>
          <p:cNvSpPr/>
          <p:nvPr/>
        </p:nvSpPr>
        <p:spPr>
          <a:xfrm>
            <a:off x="5084064" y="3790188"/>
            <a:ext cx="73152" cy="73152"/>
          </a:xfrm>
          <a:prstGeom prst="ellipse">
            <a:avLst/>
          </a:prstGeom>
          <a:solidFill>
            <a:srgbClr val="8E44AD"/>
          </a:solidFill>
          <a:ln w="9525">
            <a:solidFill>
              <a:srgbClr val="8E44AD"/>
            </a:solidFill>
            <a:prstDash val="solid"/>
          </a:ln>
        </p:spPr>
      </p:sp>
      <p:sp>
        <p:nvSpPr>
          <p:cNvPr id="97" name="Shape 95"/>
          <p:cNvSpPr/>
          <p:nvPr/>
        </p:nvSpPr>
        <p:spPr>
          <a:xfrm>
            <a:off x="5125212" y="3831336"/>
            <a:ext cx="73152" cy="73152"/>
          </a:xfrm>
          <a:prstGeom prst="ellipse">
            <a:avLst/>
          </a:prstGeom>
          <a:solidFill>
            <a:srgbClr val="8E44AD"/>
          </a:solidFill>
          <a:ln w="9525">
            <a:solidFill>
              <a:srgbClr val="8E44AD"/>
            </a:solidFill>
            <a:prstDash val="solid"/>
          </a:ln>
        </p:spPr>
      </p:sp>
      <p:sp>
        <p:nvSpPr>
          <p:cNvPr id="98" name="Shape 96"/>
          <p:cNvSpPr/>
          <p:nvPr/>
        </p:nvSpPr>
        <p:spPr>
          <a:xfrm>
            <a:off x="5084064" y="3872484"/>
            <a:ext cx="73152" cy="73152"/>
          </a:xfrm>
          <a:prstGeom prst="ellipse">
            <a:avLst/>
          </a:prstGeom>
          <a:solidFill>
            <a:srgbClr val="8E44AD"/>
          </a:solidFill>
          <a:ln w="9525">
            <a:solidFill>
              <a:srgbClr val="8E44AD"/>
            </a:solidFill>
            <a:prstDash val="solid"/>
          </a:ln>
        </p:spPr>
      </p:sp>
      <p:sp>
        <p:nvSpPr>
          <p:cNvPr id="99" name="Shape 97"/>
          <p:cNvSpPr/>
          <p:nvPr/>
        </p:nvSpPr>
        <p:spPr>
          <a:xfrm>
            <a:off x="5042916" y="3831336"/>
            <a:ext cx="73152" cy="73152"/>
          </a:xfrm>
          <a:prstGeom prst="ellipse">
            <a:avLst/>
          </a:prstGeom>
          <a:solidFill>
            <a:srgbClr val="8E44AD"/>
          </a:solidFill>
          <a:ln w="9525">
            <a:solidFill>
              <a:srgbClr val="8E44AD"/>
            </a:solidFill>
            <a:prstDash val="solid"/>
          </a:ln>
        </p:spPr>
      </p:sp>
      <p:sp>
        <p:nvSpPr>
          <p:cNvPr id="100" name="Shape 98"/>
          <p:cNvSpPr/>
          <p:nvPr/>
        </p:nvSpPr>
        <p:spPr>
          <a:xfrm>
            <a:off x="5093208" y="3840480"/>
            <a:ext cx="54864" cy="54864"/>
          </a:xfrm>
          <a:prstGeom prst="ellipse">
            <a:avLst/>
          </a:prstGeom>
          <a:solidFill>
            <a:srgbClr val="A0522D"/>
          </a:solidFill>
          <a:ln w="9525">
            <a:solidFill>
              <a:srgbClr val="A0522D"/>
            </a:solidFill>
            <a:prstDash val="solid"/>
          </a:ln>
        </p:spPr>
      </p:sp>
      <p:sp>
        <p:nvSpPr>
          <p:cNvPr id="101" name="Text 99"/>
          <p:cNvSpPr/>
          <p:nvPr/>
        </p:nvSpPr>
        <p:spPr>
          <a:xfrm>
            <a:off x="3520440" y="4434840"/>
            <a:ext cx="19659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hedgerows, field margins, ponds</a:t>
            </a:r>
            <a:endParaRPr lang="en-US" sz="1000" dirty="0"/>
          </a:p>
        </p:txBody>
      </p:sp>
      <p:sp>
        <p:nvSpPr>
          <p:cNvPr id="102" name="Text 100"/>
          <p:cNvSpPr/>
          <p:nvPr/>
        </p:nvSpPr>
        <p:spPr>
          <a:xfrm>
            <a:off x="594360" y="4937760"/>
            <a:ext cx="5166360" cy="36576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Also: laws and </a:t>
            </a:r>
            <a:r>
              <a:rPr lang="en-US" sz="1050" b="1" dirty="0">
                <a:solidFill>
                  <a:srgbClr val="262B3A"/>
                </a:solidFill>
                <a:latin typeface="Calibri" pitchFamily="34" charset="0"/>
                <a:ea typeface="Calibri" pitchFamily="34" charset="-122"/>
                <a:cs typeface="Calibri" pitchFamily="34" charset="-120"/>
              </a:rPr>
              <a:t>quotas</a:t>
            </a:r>
            <a:r>
              <a:rPr lang="en-US" sz="1050" dirty="0">
                <a:solidFill>
                  <a:srgbClr val="262B3A"/>
                </a:solidFill>
                <a:latin typeface="Calibri" pitchFamily="34" charset="0"/>
                <a:ea typeface="Calibri" pitchFamily="34" charset="-122"/>
                <a:cs typeface="Calibri" pitchFamily="34" charset="-120"/>
              </a:rPr>
              <a:t>, recycling, less pollution, controlling invasive species, education</a:t>
            </a:r>
            <a:endParaRPr lang="en-US" sz="1050" dirty="0"/>
          </a:p>
        </p:txBody>
      </p:sp>
      <p:sp>
        <p:nvSpPr>
          <p:cNvPr id="103" name="Shape 101"/>
          <p:cNvSpPr/>
          <p:nvPr/>
        </p:nvSpPr>
        <p:spPr>
          <a:xfrm>
            <a:off x="6217920" y="1188720"/>
            <a:ext cx="5562295" cy="3017520"/>
          </a:xfrm>
          <a:prstGeom prst="roundRect">
            <a:avLst>
              <a:gd name="adj" fmla="val 1818"/>
            </a:avLst>
          </a:prstGeom>
          <a:solidFill>
            <a:srgbClr val="F4FAF9"/>
          </a:solidFill>
          <a:ln w="9525">
            <a:solidFill>
              <a:srgbClr val="CFE0DE"/>
            </a:solidFill>
            <a:prstDash val="solid"/>
          </a:ln>
        </p:spPr>
      </p:sp>
      <p:sp>
        <p:nvSpPr>
          <p:cNvPr id="104" name="Text 10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Conservation methods</a:t>
            </a:r>
            <a:endParaRPr lang="en-US" sz="1300" dirty="0"/>
          </a:p>
        </p:txBody>
      </p:sp>
      <p:sp>
        <p:nvSpPr>
          <p:cNvPr id="105" name="Text 103"/>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Protected areas</a:t>
            </a:r>
            <a:r>
              <a:rPr lang="en-US" sz="1100" dirty="0">
                <a:solidFill>
                  <a:srgbClr val="262B3A"/>
                </a:solidFill>
                <a:latin typeface="Calibri" pitchFamily="34" charset="0"/>
                <a:ea typeface="Calibri" pitchFamily="34" charset="-122"/>
                <a:cs typeface="Calibri" pitchFamily="34" charset="-120"/>
              </a:rPr>
              <a:t>: national parks, nature reserves and marine reserves limit building, hunting and fishing.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Captive breeding</a:t>
            </a:r>
            <a:r>
              <a:rPr lang="en-US" sz="1100" dirty="0">
                <a:solidFill>
                  <a:srgbClr val="262B3A"/>
                </a:solidFill>
                <a:latin typeface="Calibri" pitchFamily="34" charset="0"/>
                <a:ea typeface="Calibri" pitchFamily="34" charset="-122"/>
                <a:cs typeface="Calibri" pitchFamily="34" charset="-120"/>
              </a:rPr>
              <a:t>: endangered animals are bred in zoos, then released to increase wild numbers.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Seed banks</a:t>
            </a:r>
            <a:r>
              <a:rPr lang="en-US" sz="1100" dirty="0">
                <a:solidFill>
                  <a:srgbClr val="262B3A"/>
                </a:solidFill>
                <a:latin typeface="Calibri" pitchFamily="34" charset="0"/>
                <a:ea typeface="Calibri" pitchFamily="34" charset="-122"/>
                <a:cs typeface="Calibri" pitchFamily="34" charset="-120"/>
              </a:rPr>
              <a:t>: seeds are dried and frozen to keep the </a:t>
            </a:r>
            <a:r>
              <a:rPr lang="en-US" sz="1100" b="1" dirty="0">
                <a:solidFill>
                  <a:srgbClr val="262B3A"/>
                </a:solidFill>
                <a:latin typeface="Calibri" pitchFamily="34" charset="0"/>
                <a:ea typeface="Calibri" pitchFamily="34" charset="-122"/>
                <a:cs typeface="Calibri" pitchFamily="34" charset="-120"/>
              </a:rPr>
              <a:t>genetic diversity</a:t>
            </a:r>
            <a:r>
              <a:rPr lang="en-US" sz="1100" dirty="0">
                <a:solidFill>
                  <a:srgbClr val="262B3A"/>
                </a:solidFill>
                <a:latin typeface="Calibri" pitchFamily="34" charset="0"/>
                <a:ea typeface="Calibri" pitchFamily="34" charset="-122"/>
                <a:cs typeface="Calibri" pitchFamily="34" charset="-120"/>
              </a:rPr>
              <a:t> of plants; they can be grown later.</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Habitat restoration</a:t>
            </a:r>
            <a:r>
              <a:rPr lang="en-US" sz="1100" dirty="0">
                <a:solidFill>
                  <a:srgbClr val="262B3A"/>
                </a:solidFill>
                <a:latin typeface="Calibri" pitchFamily="34" charset="0"/>
                <a:ea typeface="Calibri" pitchFamily="34" charset="-122"/>
                <a:cs typeface="Calibri" pitchFamily="34" charset="-120"/>
              </a:rPr>
              <a:t>: replant hedgerows and forests, restore peat bogs, leave wildflower margins.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Sustainable use</a:t>
            </a:r>
            <a:r>
              <a:rPr lang="en-US" sz="1100" dirty="0">
                <a:solidFill>
                  <a:srgbClr val="262B3A"/>
                </a:solidFill>
                <a:latin typeface="Calibri" pitchFamily="34" charset="0"/>
                <a:ea typeface="Calibri" pitchFamily="34" charset="-122"/>
                <a:cs typeface="Calibri" pitchFamily="34" charset="-120"/>
              </a:rPr>
              <a:t>: fishing </a:t>
            </a:r>
            <a:r>
              <a:rPr lang="en-US" sz="1100" b="1" dirty="0">
                <a:solidFill>
                  <a:srgbClr val="262B3A"/>
                </a:solidFill>
                <a:latin typeface="Calibri" pitchFamily="34" charset="0"/>
                <a:ea typeface="Calibri" pitchFamily="34" charset="-122"/>
                <a:cs typeface="Calibri" pitchFamily="34" charset="-120"/>
              </a:rPr>
              <a:t>quotas</a:t>
            </a:r>
            <a:r>
              <a:rPr lang="en-US" sz="1100" dirty="0">
                <a:solidFill>
                  <a:srgbClr val="262B3A"/>
                </a:solidFill>
                <a:latin typeface="Calibri" pitchFamily="34" charset="0"/>
                <a:ea typeface="Calibri" pitchFamily="34" charset="-122"/>
                <a:cs typeface="Calibri" pitchFamily="34" charset="-120"/>
              </a:rPr>
              <a:t>, larger mesh nets, replanting trees after logging.</a:t>
            </a:r>
            <a:endParaRPr lang="en-US" sz="1100" dirty="0"/>
          </a:p>
        </p:txBody>
      </p:sp>
      <p:sp>
        <p:nvSpPr>
          <p:cNvPr id="106" name="Shape 104"/>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107" name="Text 105"/>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breeding programme</a:t>
            </a:r>
            <a:endParaRPr lang="en-US" sz="1300" dirty="0"/>
          </a:p>
        </p:txBody>
      </p:sp>
      <p:sp>
        <p:nvSpPr>
          <p:cNvPr id="108" name="Text 106"/>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20 animals are released; numbers rise by 10% each year.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Year 1   </a:t>
            </a:r>
            <a:r>
              <a:rPr lang="en-US" sz="1050" dirty="0">
                <a:solidFill>
                  <a:srgbClr val="262B3A"/>
                </a:solidFill>
                <a:latin typeface="Calibri" pitchFamily="34" charset="0"/>
                <a:ea typeface="Calibri" pitchFamily="34" charset="-122"/>
                <a:cs typeface="Calibri" pitchFamily="34" charset="-120"/>
              </a:rPr>
              <a:t>20 × 1.1 = 22</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Year 3   </a:t>
            </a:r>
            <a:r>
              <a:rPr lang="en-US" sz="1050" dirty="0">
                <a:solidFill>
                  <a:srgbClr val="262B3A"/>
                </a:solidFill>
                <a:latin typeface="Calibri" pitchFamily="34" charset="0"/>
                <a:ea typeface="Calibri" pitchFamily="34" charset="-122"/>
                <a:cs typeface="Calibri" pitchFamily="34" charset="-120"/>
              </a:rPr>
              <a:t>20 × 1.1³ = 26.62</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about </a:t>
            </a:r>
            <a:r>
              <a:rPr lang="en-US" sz="1050" b="1" dirty="0">
                <a:solidFill>
                  <a:srgbClr val="C8414C"/>
                </a:solidFill>
                <a:latin typeface="Calibri" pitchFamily="34" charset="0"/>
                <a:ea typeface="Calibri" pitchFamily="34" charset="-122"/>
                <a:cs typeface="Calibri" pitchFamily="34" charset="-120"/>
              </a:rPr>
              <a:t>27</a:t>
            </a:r>
            <a:r>
              <a:rPr lang="en-US" sz="1050" b="1" dirty="0">
                <a:solidFill>
                  <a:srgbClr val="C8414C"/>
                </a:solidFill>
                <a:latin typeface="Calibri" pitchFamily="34" charset="0"/>
                <a:ea typeface="Calibri" pitchFamily="34" charset="-122"/>
                <a:cs typeface="Calibri" pitchFamily="34" charset="-120"/>
              </a:rPr>
              <a:t> animals after 3 years</a:t>
            </a:r>
            <a:endParaRPr lang="en-US" sz="1050" dirty="0"/>
          </a:p>
        </p:txBody>
      </p:sp>
      <p:sp>
        <p:nvSpPr>
          <p:cNvPr id="109" name="Shape 107"/>
          <p:cNvSpPr/>
          <p:nvPr/>
        </p:nvSpPr>
        <p:spPr>
          <a:xfrm>
            <a:off x="411480" y="5833872"/>
            <a:ext cx="11368735" cy="530352"/>
          </a:xfrm>
          <a:prstGeom prst="rect">
            <a:avLst/>
          </a:prstGeom>
          <a:solidFill>
            <a:srgbClr val="FFF4E0"/>
          </a:solidFill>
          <a:ln w="6350">
            <a:solidFill>
              <a:srgbClr val="F1D9A8"/>
            </a:solidFill>
            <a:prstDash val="solid"/>
          </a:ln>
        </p:spPr>
      </p:sp>
      <p:sp>
        <p:nvSpPr>
          <p:cNvPr id="110" name="Shape 108"/>
          <p:cNvSpPr/>
          <p:nvPr/>
        </p:nvSpPr>
        <p:spPr>
          <a:xfrm>
            <a:off x="411480" y="5833872"/>
            <a:ext cx="82296" cy="530352"/>
          </a:xfrm>
          <a:prstGeom prst="rect">
            <a:avLst/>
          </a:prstGeom>
          <a:solidFill>
            <a:srgbClr val="E39A2F"/>
          </a:solidFill>
          <a:ln w="12700">
            <a:solidFill>
              <a:srgbClr val="E39A2F"/>
            </a:solidFill>
            <a:prstDash val="solid"/>
          </a:ln>
        </p:spPr>
      </p:sp>
      <p:sp>
        <p:nvSpPr>
          <p:cNvPr id="111" name="Text 10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 seed banks store seeds from </a:t>
            </a:r>
            <a:r>
              <a:rPr lang="en-US" sz="1150" b="1" dirty="0">
                <a:solidFill>
                  <a:srgbClr val="262B3A"/>
                </a:solidFill>
                <a:latin typeface="Calibri" pitchFamily="34" charset="0"/>
                <a:ea typeface="Calibri" pitchFamily="34" charset="-122"/>
                <a:cs typeface="Calibri" pitchFamily="34" charset="-120"/>
              </a:rPr>
              <a:t>many</a:t>
            </a:r>
            <a:r>
              <a:rPr lang="en-US" sz="1150" dirty="0">
                <a:solidFill>
                  <a:srgbClr val="262B3A"/>
                </a:solidFill>
                <a:latin typeface="Calibri" pitchFamily="34" charset="0"/>
                <a:ea typeface="Calibri" pitchFamily="34" charset="-122"/>
                <a:cs typeface="Calibri" pitchFamily="34" charset="-120"/>
              </a:rPr>
              <a:t> varieties, not just one? A population of </a:t>
            </a:r>
            <a:r>
              <a:rPr lang="en-US" sz="1150" b="1" dirty="0">
                <a:solidFill>
                  <a:srgbClr val="262B3A"/>
                </a:solidFill>
                <a:latin typeface="Calibri" pitchFamily="34" charset="0"/>
                <a:ea typeface="Calibri" pitchFamily="34" charset="-122"/>
                <a:cs typeface="Calibri" pitchFamily="34" charset="-120"/>
              </a:rPr>
              <a:t>50</a:t>
            </a:r>
            <a:r>
              <a:rPr lang="en-US" sz="1150" dirty="0">
                <a:solidFill>
                  <a:srgbClr val="262B3A"/>
                </a:solidFill>
                <a:latin typeface="Calibri" pitchFamily="34" charset="0"/>
                <a:ea typeface="Calibri" pitchFamily="34" charset="-122"/>
                <a:cs typeface="Calibri" pitchFamily="34" charset="-120"/>
              </a:rPr>
              <a:t> grows by </a:t>
            </a:r>
            <a:r>
              <a:rPr lang="en-US" sz="1150" b="1" dirty="0">
                <a:solidFill>
                  <a:srgbClr val="262B3A"/>
                </a:solidFill>
                <a:latin typeface="Calibri" pitchFamily="34" charset="0"/>
                <a:ea typeface="Calibri" pitchFamily="34" charset="-122"/>
                <a:cs typeface="Calibri" pitchFamily="34" charset="-120"/>
              </a:rPr>
              <a:t>20%</a:t>
            </a:r>
            <a:r>
              <a:rPr lang="en-US" sz="1150" dirty="0">
                <a:solidFill>
                  <a:srgbClr val="262B3A"/>
                </a:solidFill>
                <a:latin typeface="Calibri" pitchFamily="34" charset="0"/>
                <a:ea typeface="Calibri" pitchFamily="34" charset="-122"/>
                <a:cs typeface="Calibri" pitchFamily="34" charset="-120"/>
              </a:rPr>
              <a:t> a year for 2 years: how many?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Benefits and challenges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B6.3.2 • maintaining local and global biodiversity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B6.3.2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weighing a conservation decision</a:t>
            </a:r>
            <a:endParaRPr lang="en-US" sz="1000" dirty="0"/>
          </a:p>
        </p:txBody>
      </p:sp>
      <p:sp>
        <p:nvSpPr>
          <p:cNvPr id="10" name="Shape 8"/>
          <p:cNvSpPr/>
          <p:nvPr/>
        </p:nvSpPr>
        <p:spPr>
          <a:xfrm>
            <a:off x="2926080" y="2743200"/>
            <a:ext cx="548640" cy="1737360"/>
          </a:xfrm>
          <a:custGeom>
            <a:avLst/>
            <a:gdLst/>
            <a:ahLst/>
            <a:cxnLst/>
            <a:rect l="l" t="t" r="r" b="b"/>
            <a:pathLst>
              <a:path w="548640" h="1737360">
                <a:moveTo>
                  <a:pt x="274320" y="0"/>
                </a:moveTo>
                <a:lnTo>
                  <a:pt x="0" y="1737360"/>
                </a:lnTo>
                <a:lnTo>
                  <a:pt x="548640" y="1737360"/>
                </a:lnTo>
                <a:close/>
              </a:path>
            </a:pathLst>
          </a:custGeom>
          <a:solidFill>
            <a:srgbClr val="8C96A8"/>
          </a:solidFill>
          <a:ln w="15875">
            <a:solidFill>
              <a:srgbClr val="4A5568"/>
            </a:solidFill>
            <a:prstDash val="solid"/>
          </a:ln>
        </p:spPr>
      </p:sp>
      <p:sp>
        <p:nvSpPr>
          <p:cNvPr id="11" name="Shape 9"/>
          <p:cNvSpPr/>
          <p:nvPr/>
        </p:nvSpPr>
        <p:spPr>
          <a:xfrm>
            <a:off x="2377440" y="4480560"/>
            <a:ext cx="1645920" cy="137160"/>
          </a:xfrm>
          <a:prstGeom prst="rect">
            <a:avLst/>
          </a:prstGeom>
          <a:solidFill>
            <a:srgbClr val="4A5568"/>
          </a:solidFill>
          <a:ln/>
        </p:spPr>
      </p:sp>
      <p:sp>
        <p:nvSpPr>
          <p:cNvPr id="12" name="Shape 10"/>
          <p:cNvSpPr/>
          <p:nvPr/>
        </p:nvSpPr>
        <p:spPr>
          <a:xfrm>
            <a:off x="914400" y="2514600"/>
            <a:ext cx="4572000" cy="365760"/>
          </a:xfrm>
          <a:prstGeom prst="line">
            <a:avLst/>
          </a:prstGeom>
          <a:noFill/>
          <a:ln w="38100">
            <a:solidFill>
              <a:srgbClr val="4A5568"/>
            </a:solidFill>
            <a:prstDash val="solid"/>
          </a:ln>
        </p:spPr>
      </p:sp>
      <p:sp>
        <p:nvSpPr>
          <p:cNvPr id="13" name="Shape 11"/>
          <p:cNvSpPr/>
          <p:nvPr/>
        </p:nvSpPr>
        <p:spPr>
          <a:xfrm flipH="1">
            <a:off x="1143000" y="2560320"/>
            <a:ext cx="320040" cy="594360"/>
          </a:xfrm>
          <a:prstGeom prst="line">
            <a:avLst/>
          </a:prstGeom>
          <a:noFill/>
          <a:ln w="12700">
            <a:solidFill>
              <a:srgbClr val="4A5568"/>
            </a:solidFill>
            <a:prstDash val="solid"/>
          </a:ln>
        </p:spPr>
      </p:sp>
      <p:sp>
        <p:nvSpPr>
          <p:cNvPr id="14" name="Shape 12"/>
          <p:cNvSpPr/>
          <p:nvPr/>
        </p:nvSpPr>
        <p:spPr>
          <a:xfrm>
            <a:off x="1463040" y="2560320"/>
            <a:ext cx="914400" cy="594360"/>
          </a:xfrm>
          <a:prstGeom prst="line">
            <a:avLst/>
          </a:prstGeom>
          <a:noFill/>
          <a:ln w="12700">
            <a:solidFill>
              <a:srgbClr val="4A5568"/>
            </a:solidFill>
            <a:prstDash val="solid"/>
          </a:ln>
        </p:spPr>
      </p:sp>
      <p:sp>
        <p:nvSpPr>
          <p:cNvPr id="15" name="Shape 13"/>
          <p:cNvSpPr/>
          <p:nvPr/>
        </p:nvSpPr>
        <p:spPr>
          <a:xfrm flipH="1">
            <a:off x="4023360" y="2834640"/>
            <a:ext cx="914400" cy="594360"/>
          </a:xfrm>
          <a:prstGeom prst="line">
            <a:avLst/>
          </a:prstGeom>
          <a:noFill/>
          <a:ln w="12700">
            <a:solidFill>
              <a:srgbClr val="4A5568"/>
            </a:solidFill>
            <a:prstDash val="solid"/>
          </a:ln>
        </p:spPr>
      </p:sp>
      <p:sp>
        <p:nvSpPr>
          <p:cNvPr id="16" name="Shape 14"/>
          <p:cNvSpPr/>
          <p:nvPr/>
        </p:nvSpPr>
        <p:spPr>
          <a:xfrm>
            <a:off x="4937760" y="2834640"/>
            <a:ext cx="320040" cy="594360"/>
          </a:xfrm>
          <a:prstGeom prst="line">
            <a:avLst/>
          </a:prstGeom>
          <a:noFill/>
          <a:ln w="12700">
            <a:solidFill>
              <a:srgbClr val="4A5568"/>
            </a:solidFill>
            <a:prstDash val="solid"/>
          </a:ln>
        </p:spPr>
      </p:sp>
      <p:sp>
        <p:nvSpPr>
          <p:cNvPr id="17" name="Shape 15"/>
          <p:cNvSpPr/>
          <p:nvPr/>
        </p:nvSpPr>
        <p:spPr>
          <a:xfrm>
            <a:off x="685800" y="3154680"/>
            <a:ext cx="2103120" cy="960120"/>
          </a:xfrm>
          <a:prstGeom prst="roundRect">
            <a:avLst>
              <a:gd name="adj" fmla="val 5714"/>
            </a:avLst>
          </a:prstGeom>
          <a:solidFill>
            <a:srgbClr val="D8F0E2"/>
          </a:solidFill>
          <a:ln w="15875">
            <a:solidFill>
              <a:srgbClr val="2E8B57"/>
            </a:solidFill>
            <a:prstDash val="solid"/>
          </a:ln>
        </p:spPr>
      </p:sp>
      <p:sp>
        <p:nvSpPr>
          <p:cNvPr id="18" name="Text 16"/>
          <p:cNvSpPr/>
          <p:nvPr/>
        </p:nvSpPr>
        <p:spPr>
          <a:xfrm>
            <a:off x="740664" y="3154680"/>
            <a:ext cx="1993392" cy="96012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Benefits</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species saved, services, tourism, medicines</a:t>
            </a:r>
            <a:endParaRPr lang="en-US" sz="1000" dirty="0"/>
          </a:p>
        </p:txBody>
      </p:sp>
      <p:sp>
        <p:nvSpPr>
          <p:cNvPr id="19" name="Shape 17"/>
          <p:cNvSpPr/>
          <p:nvPr/>
        </p:nvSpPr>
        <p:spPr>
          <a:xfrm>
            <a:off x="3611880" y="3429000"/>
            <a:ext cx="2103120" cy="960120"/>
          </a:xfrm>
          <a:prstGeom prst="roundRect">
            <a:avLst>
              <a:gd name="adj" fmla="val 5714"/>
            </a:avLst>
          </a:prstGeom>
          <a:solidFill>
            <a:srgbClr val="FBE3E4"/>
          </a:solidFill>
          <a:ln w="15875">
            <a:solidFill>
              <a:srgbClr val="C8414C"/>
            </a:solidFill>
            <a:prstDash val="solid"/>
          </a:ln>
        </p:spPr>
      </p:sp>
      <p:sp>
        <p:nvSpPr>
          <p:cNvPr id="20" name="Text 18"/>
          <p:cNvSpPr/>
          <p:nvPr/>
        </p:nvSpPr>
        <p:spPr>
          <a:xfrm>
            <a:off x="3666744" y="3429000"/>
            <a:ext cx="1993392" cy="96012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Challenges</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cost, jobs, land for food and homes</a:t>
            </a:r>
            <a:endParaRPr lang="en-US" sz="1000" dirty="0"/>
          </a:p>
        </p:txBody>
      </p:sp>
      <p:sp>
        <p:nvSpPr>
          <p:cNvPr id="21" name="Text 19"/>
          <p:cNvSpPr/>
          <p:nvPr/>
        </p:nvSpPr>
        <p:spPr>
          <a:xfrm>
            <a:off x="685800" y="1325880"/>
            <a:ext cx="5120640"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Local</a:t>
            </a:r>
            <a:r>
              <a:rPr lang="en-US" sz="1050" dirty="0">
                <a:solidFill>
                  <a:srgbClr val="262B3A"/>
                </a:solidFill>
                <a:latin typeface="Calibri" pitchFamily="34" charset="0"/>
                <a:ea typeface="Calibri" pitchFamily="34" charset="-122"/>
                <a:cs typeface="Calibri" pitchFamily="34" charset="-120"/>
              </a:rPr>
              <a:t>: a farm, a town, a wood  •  </a:t>
            </a:r>
            <a:r>
              <a:rPr lang="en-US" sz="1050" b="1" dirty="0">
                <a:solidFill>
                  <a:srgbClr val="262B3A"/>
                </a:solidFill>
                <a:latin typeface="Calibri" pitchFamily="34" charset="0"/>
                <a:ea typeface="Calibri" pitchFamily="34" charset="-122"/>
                <a:cs typeface="Calibri" pitchFamily="34" charset="-120"/>
              </a:rPr>
              <a:t>Global</a:t>
            </a:r>
            <a:r>
              <a:rPr lang="en-US" sz="1050" dirty="0">
                <a:solidFill>
                  <a:srgbClr val="262B3A"/>
                </a:solidFill>
                <a:latin typeface="Calibri" pitchFamily="34" charset="0"/>
                <a:ea typeface="Calibri" pitchFamily="34" charset="-122"/>
                <a:cs typeface="Calibri" pitchFamily="34" charset="-120"/>
              </a:rPr>
              <a:t>: rainforests, oceans, climate</a:t>
            </a:r>
            <a:endParaRPr lang="en-US" sz="1050" dirty="0"/>
          </a:p>
        </p:txBody>
      </p:sp>
      <p:sp>
        <p:nvSpPr>
          <p:cNvPr id="22" name="Text 20"/>
          <p:cNvSpPr/>
          <p:nvPr/>
        </p:nvSpPr>
        <p:spPr>
          <a:xfrm>
            <a:off x="685800" y="1645920"/>
            <a:ext cx="5120640" cy="45720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Who decides? Farmers, local people, governments, companies, conservation charities</a:t>
            </a:r>
            <a:endParaRPr lang="en-US" sz="1050" dirty="0"/>
          </a:p>
        </p:txBody>
      </p:sp>
      <p:sp>
        <p:nvSpPr>
          <p:cNvPr id="23" name="Text 21"/>
          <p:cNvSpPr/>
          <p:nvPr/>
        </p:nvSpPr>
        <p:spPr>
          <a:xfrm>
            <a:off x="685800" y="4709160"/>
            <a:ext cx="5120640" cy="365760"/>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A good decision weighs </a:t>
            </a:r>
            <a:r>
              <a:rPr lang="en-US" sz="1050" b="1" dirty="0">
                <a:solidFill>
                  <a:srgbClr val="133536"/>
                </a:solidFill>
                <a:latin typeface="Calibri" pitchFamily="34" charset="0"/>
                <a:ea typeface="Calibri" pitchFamily="34" charset="-122"/>
                <a:cs typeface="Calibri" pitchFamily="34" charset="-120"/>
              </a:rPr>
              <a:t>benefits</a:t>
            </a:r>
            <a:r>
              <a:rPr lang="en-US" sz="1050" b="1" dirty="0">
                <a:solidFill>
                  <a:srgbClr val="133536"/>
                </a:solidFill>
                <a:latin typeface="Calibri" pitchFamily="34" charset="0"/>
                <a:ea typeface="Calibri" pitchFamily="34" charset="-122"/>
                <a:cs typeface="Calibri" pitchFamily="34" charset="-120"/>
              </a:rPr>
              <a:t> against </a:t>
            </a:r>
            <a:r>
              <a:rPr lang="en-US" sz="1050" b="1" dirty="0">
                <a:solidFill>
                  <a:srgbClr val="133536"/>
                </a:solidFill>
                <a:latin typeface="Calibri" pitchFamily="34" charset="0"/>
                <a:ea typeface="Calibri" pitchFamily="34" charset="-122"/>
                <a:cs typeface="Calibri" pitchFamily="34" charset="-120"/>
              </a:rPr>
              <a:t>costs and risks</a:t>
            </a:r>
            <a:r>
              <a:rPr lang="en-US" sz="1050" b="1" dirty="0">
                <a:solidFill>
                  <a:srgbClr val="133536"/>
                </a:solidFill>
                <a:latin typeface="Calibri" pitchFamily="34" charset="0"/>
                <a:ea typeface="Calibri" pitchFamily="34" charset="-122"/>
                <a:cs typeface="Calibri" pitchFamily="34" charset="-120"/>
              </a:rPr>
              <a:t> for everyone affected</a:t>
            </a:r>
            <a:endParaRPr lang="en-US" sz="1050" dirty="0"/>
          </a:p>
        </p:txBody>
      </p:sp>
      <p:sp>
        <p:nvSpPr>
          <p:cNvPr id="24" name="Shape 22"/>
          <p:cNvSpPr/>
          <p:nvPr/>
        </p:nvSpPr>
        <p:spPr>
          <a:xfrm>
            <a:off x="6217920" y="1188720"/>
            <a:ext cx="2715768" cy="2926080"/>
          </a:xfrm>
          <a:prstGeom prst="roundRect">
            <a:avLst>
              <a:gd name="adj" fmla="val 2020"/>
            </a:avLst>
          </a:prstGeom>
          <a:solidFill>
            <a:srgbClr val="F4FAF9"/>
          </a:solidFill>
          <a:ln w="9525">
            <a:solidFill>
              <a:srgbClr val="CFE0DE"/>
            </a:solidFill>
            <a:prstDash val="solid"/>
          </a:ln>
        </p:spPr>
      </p:sp>
      <p:sp>
        <p:nvSpPr>
          <p:cNvPr id="25" name="Text 23"/>
          <p:cNvSpPr/>
          <p:nvPr/>
        </p:nvSpPr>
        <p:spPr>
          <a:xfrm>
            <a:off x="6382512" y="1280160"/>
            <a:ext cx="2386584"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Local</a:t>
            </a:r>
            <a:endParaRPr lang="en-US" sz="1300" dirty="0"/>
          </a:p>
        </p:txBody>
      </p:sp>
      <p:sp>
        <p:nvSpPr>
          <p:cNvPr id="26" name="Text 24"/>
          <p:cNvSpPr/>
          <p:nvPr/>
        </p:nvSpPr>
        <p:spPr>
          <a:xfrm>
            <a:off x="6382512" y="1609344"/>
            <a:ext cx="2386584" cy="243230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Benefits</a:t>
            </a:r>
            <a:r>
              <a:rPr lang="en-US" sz="1050" dirty="0">
                <a:solidFill>
                  <a:srgbClr val="262B3A"/>
                </a:solidFill>
                <a:latin typeface="Calibri" pitchFamily="34" charset="0"/>
                <a:ea typeface="Calibri" pitchFamily="34" charset="-122"/>
                <a:cs typeface="Calibri" pitchFamily="34" charset="-120"/>
              </a:rPr>
              <a:t>: wildlife on farms (pollinators, pest predators), cleaner rivers, healthier, nicer places to live.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Challenges</a:t>
            </a:r>
            <a:r>
              <a:rPr lang="en-US" sz="1050" dirty="0">
                <a:solidFill>
                  <a:srgbClr val="262B3A"/>
                </a:solidFill>
                <a:latin typeface="Calibri" pitchFamily="34" charset="0"/>
                <a:ea typeface="Calibri" pitchFamily="34" charset="-122"/>
                <a:cs typeface="Calibri" pitchFamily="34" charset="-120"/>
              </a:rPr>
              <a:t>: land for reserves cannot be farmed or built on; farmers may lose income; needs money and volunteers.</a:t>
            </a:r>
            <a:endParaRPr lang="en-US" sz="1050" dirty="0"/>
          </a:p>
        </p:txBody>
      </p:sp>
      <p:sp>
        <p:nvSpPr>
          <p:cNvPr id="27" name="Shape 25"/>
          <p:cNvSpPr/>
          <p:nvPr/>
        </p:nvSpPr>
        <p:spPr>
          <a:xfrm>
            <a:off x="9061704" y="1188720"/>
            <a:ext cx="2715768" cy="2926080"/>
          </a:xfrm>
          <a:prstGeom prst="roundRect">
            <a:avLst>
              <a:gd name="adj" fmla="val 2020"/>
            </a:avLst>
          </a:prstGeom>
          <a:solidFill>
            <a:srgbClr val="F4FAF9"/>
          </a:solidFill>
          <a:ln w="9525">
            <a:solidFill>
              <a:srgbClr val="CFE0DE"/>
            </a:solidFill>
            <a:prstDash val="solid"/>
          </a:ln>
        </p:spPr>
      </p:sp>
      <p:sp>
        <p:nvSpPr>
          <p:cNvPr id="28" name="Text 26"/>
          <p:cNvSpPr/>
          <p:nvPr/>
        </p:nvSpPr>
        <p:spPr>
          <a:xfrm>
            <a:off x="9226296" y="1280160"/>
            <a:ext cx="2386584"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Global</a:t>
            </a:r>
            <a:endParaRPr lang="en-US" sz="1300" dirty="0"/>
          </a:p>
        </p:txBody>
      </p:sp>
      <p:sp>
        <p:nvSpPr>
          <p:cNvPr id="29" name="Text 27"/>
          <p:cNvSpPr/>
          <p:nvPr/>
        </p:nvSpPr>
        <p:spPr>
          <a:xfrm>
            <a:off x="9226296" y="1609344"/>
            <a:ext cx="2386584" cy="243230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Benefits</a:t>
            </a:r>
            <a:r>
              <a:rPr lang="en-US" sz="1050" dirty="0">
                <a:solidFill>
                  <a:srgbClr val="262B3A"/>
                </a:solidFill>
                <a:latin typeface="Calibri" pitchFamily="34" charset="0"/>
                <a:ea typeface="Calibri" pitchFamily="34" charset="-122"/>
                <a:cs typeface="Calibri" pitchFamily="34" charset="-120"/>
              </a:rPr>
              <a:t>: protects climate (forests store carbon), fish stocks, crop genes for everyone.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Challenges</a:t>
            </a:r>
            <a:r>
              <a:rPr lang="en-US" sz="1050" dirty="0">
                <a:solidFill>
                  <a:srgbClr val="262B3A"/>
                </a:solidFill>
                <a:latin typeface="Calibri" pitchFamily="34" charset="0"/>
                <a:ea typeface="Calibri" pitchFamily="34" charset="-122"/>
                <a:cs typeface="Calibri" pitchFamily="34" charset="-120"/>
              </a:rPr>
              <a:t>: countries must </a:t>
            </a:r>
            <a:r>
              <a:rPr lang="en-US" sz="1050" b="1" dirty="0">
                <a:solidFill>
                  <a:srgbClr val="262B3A"/>
                </a:solidFill>
                <a:latin typeface="Calibri" pitchFamily="34" charset="0"/>
                <a:ea typeface="Calibri" pitchFamily="34" charset="-122"/>
                <a:cs typeface="Calibri" pitchFamily="34" charset="-120"/>
              </a:rPr>
              <a:t>agree</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enforce</a:t>
            </a:r>
            <a:r>
              <a:rPr lang="en-US" sz="1050" dirty="0">
                <a:solidFill>
                  <a:srgbClr val="262B3A"/>
                </a:solidFill>
                <a:latin typeface="Calibri" pitchFamily="34" charset="0"/>
                <a:ea typeface="Calibri" pitchFamily="34" charset="-122"/>
                <a:cs typeface="Calibri" pitchFamily="34" charset="-120"/>
              </a:rPr>
              <a:t> laws; poorer countries may need forests for income; illegal hunting and logging.</a:t>
            </a:r>
            <a:endParaRPr lang="en-US" sz="1050" dirty="0"/>
          </a:p>
        </p:txBody>
      </p:sp>
      <p:sp>
        <p:nvSpPr>
          <p:cNvPr id="30" name="Shape 28"/>
          <p:cNvSpPr/>
          <p:nvPr/>
        </p:nvSpPr>
        <p:spPr>
          <a:xfrm>
            <a:off x="6217920" y="4251960"/>
            <a:ext cx="5559552" cy="1463040"/>
          </a:xfrm>
          <a:prstGeom prst="roundRect">
            <a:avLst>
              <a:gd name="adj" fmla="val 3750"/>
            </a:avLst>
          </a:prstGeom>
          <a:solidFill>
            <a:srgbClr val="FFF4E0"/>
          </a:solidFill>
          <a:ln w="9525">
            <a:solidFill>
              <a:srgbClr val="F1D9A8"/>
            </a:solidFill>
            <a:prstDash val="solid"/>
          </a:ln>
        </p:spPr>
      </p:sp>
      <p:sp>
        <p:nvSpPr>
          <p:cNvPr id="31" name="Text 29"/>
          <p:cNvSpPr/>
          <p:nvPr/>
        </p:nvSpPr>
        <p:spPr>
          <a:xfrm>
            <a:off x="6382512" y="43251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the cost of a field margin</a:t>
            </a:r>
            <a:endParaRPr lang="en-US" sz="1300" dirty="0"/>
          </a:p>
        </p:txBody>
      </p:sp>
      <p:sp>
        <p:nvSpPr>
          <p:cNvPr id="32" name="Text 30"/>
          <p:cNvSpPr/>
          <p:nvPr/>
        </p:nvSpPr>
        <p:spPr>
          <a:xfrm>
            <a:off x="6382512" y="4636008"/>
            <a:ext cx="5230368"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200 ha farm leaves 15% as wildflower margins. Wheat yields 8 tonnes per ha.</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Area   </a:t>
            </a:r>
            <a:r>
              <a:rPr lang="en-US" sz="1050" dirty="0">
                <a:solidFill>
                  <a:srgbClr val="262B3A"/>
                </a:solidFill>
                <a:latin typeface="Calibri" pitchFamily="34" charset="0"/>
                <a:ea typeface="Calibri" pitchFamily="34" charset="-122"/>
                <a:cs typeface="Calibri" pitchFamily="34" charset="-120"/>
              </a:rPr>
              <a:t>200 × 0.15 = 30 ha</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30 × 8 = </a:t>
            </a:r>
            <a:r>
              <a:rPr lang="en-US" sz="1050" b="1" dirty="0">
                <a:solidFill>
                  <a:srgbClr val="C8414C"/>
                </a:solidFill>
                <a:latin typeface="Calibri" pitchFamily="34" charset="0"/>
                <a:ea typeface="Calibri" pitchFamily="34" charset="-122"/>
                <a:cs typeface="Calibri" pitchFamily="34" charset="-120"/>
              </a:rPr>
              <a:t>240 tonnes</a:t>
            </a:r>
            <a:r>
              <a:rPr lang="en-US" sz="1050" b="1" dirty="0">
                <a:solidFill>
                  <a:srgbClr val="C8414C"/>
                </a:solidFill>
                <a:latin typeface="Calibri" pitchFamily="34" charset="0"/>
                <a:ea typeface="Calibri" pitchFamily="34" charset="-122"/>
                <a:cs typeface="Calibri" pitchFamily="34" charset="-120"/>
              </a:rPr>
              <a:t> of wheat not grown</a:t>
            </a:r>
            <a:endParaRPr lang="en-US" sz="1050" dirty="0"/>
          </a:p>
        </p:txBody>
      </p:sp>
      <p:sp>
        <p:nvSpPr>
          <p:cNvPr id="33" name="Shape 31"/>
          <p:cNvSpPr/>
          <p:nvPr/>
        </p:nvSpPr>
        <p:spPr>
          <a:xfrm>
            <a:off x="411480" y="5833872"/>
            <a:ext cx="11368735" cy="530352"/>
          </a:xfrm>
          <a:prstGeom prst="rect">
            <a:avLst/>
          </a:prstGeom>
          <a:solidFill>
            <a:srgbClr val="FFF4E0"/>
          </a:solidFill>
          <a:ln w="6350">
            <a:solidFill>
              <a:srgbClr val="F1D9A8"/>
            </a:solidFill>
            <a:prstDash val="solid"/>
          </a:ln>
        </p:spPr>
      </p:sp>
      <p:sp>
        <p:nvSpPr>
          <p:cNvPr id="34" name="Shape 32"/>
          <p:cNvSpPr/>
          <p:nvPr/>
        </p:nvSpPr>
        <p:spPr>
          <a:xfrm>
            <a:off x="411480" y="5833872"/>
            <a:ext cx="82296" cy="530352"/>
          </a:xfrm>
          <a:prstGeom prst="rect">
            <a:avLst/>
          </a:prstGeom>
          <a:solidFill>
            <a:srgbClr val="E39A2F"/>
          </a:solidFill>
          <a:ln w="12700">
            <a:solidFill>
              <a:srgbClr val="E39A2F"/>
            </a:solidFill>
            <a:prstDash val="solid"/>
          </a:ln>
        </p:spPr>
      </p:sp>
      <p:sp>
        <p:nvSpPr>
          <p:cNvPr id="35" name="Text 3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benefit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challenge of protecting a rainforest. Why is protecting ocean fish a </a:t>
            </a:r>
            <a:r>
              <a:rPr lang="en-US" sz="1150" b="1" dirty="0">
                <a:solidFill>
                  <a:srgbClr val="262B3A"/>
                </a:solidFill>
                <a:latin typeface="Calibri" pitchFamily="34" charset="0"/>
                <a:ea typeface="Calibri" pitchFamily="34" charset="-122"/>
                <a:cs typeface="Calibri" pitchFamily="34" charset="-120"/>
              </a:rPr>
              <a:t>global</a:t>
            </a:r>
            <a:r>
              <a:rPr lang="en-US" sz="1150" dirty="0">
                <a:solidFill>
                  <a:srgbClr val="262B3A"/>
                </a:solidFill>
                <a:latin typeface="Calibri" pitchFamily="34" charset="0"/>
                <a:ea typeface="Calibri" pitchFamily="34" charset="-122"/>
                <a:cs typeface="Calibri" pitchFamily="34" charset="-120"/>
              </a:rPr>
              <a:t> problem?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Data: does conservation 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B6.3.2 • using data to evaluate fishing quotas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B6.3.2  |  14</a:t>
            </a:r>
            <a:endParaRPr lang="en-US" sz="1000" dirty="0"/>
          </a:p>
        </p:txBody>
      </p:sp>
      <p:sp>
        <p:nvSpPr>
          <p:cNvPr id="8" name="Shape 6"/>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plotted to scale from the table (illustrative values based on the North Sea cod pattern)</a:t>
            </a:r>
            <a:endParaRPr lang="en-US" sz="1000" dirty="0"/>
          </a:p>
        </p:txBody>
      </p:sp>
      <p:sp>
        <p:nvSpPr>
          <p:cNvPr id="10" name="Shape 8"/>
          <p:cNvSpPr/>
          <p:nvPr/>
        </p:nvSpPr>
        <p:spPr>
          <a:xfrm>
            <a:off x="1325880" y="1417320"/>
            <a:ext cx="4846320" cy="3108960"/>
          </a:xfrm>
          <a:prstGeom prst="rect">
            <a:avLst/>
          </a:prstGeom>
          <a:solidFill>
            <a:srgbClr val="FFFFFF"/>
          </a:solidFill>
          <a:ln/>
        </p:spPr>
      </p:sp>
      <p:sp>
        <p:nvSpPr>
          <p:cNvPr id="11" name="Shape 9"/>
          <p:cNvSpPr/>
          <p:nvPr/>
        </p:nvSpPr>
        <p:spPr>
          <a:xfrm>
            <a:off x="1325880" y="1417320"/>
            <a:ext cx="91" cy="3108960"/>
          </a:xfrm>
          <a:prstGeom prst="line">
            <a:avLst/>
          </a:prstGeom>
          <a:noFill/>
          <a:ln w="6350">
            <a:solidFill>
              <a:srgbClr val="C5DCD9"/>
            </a:solidFill>
            <a:prstDash val="solid"/>
          </a:ln>
        </p:spPr>
      </p:sp>
      <p:sp>
        <p:nvSpPr>
          <p:cNvPr id="12" name="Shape 10"/>
          <p:cNvSpPr/>
          <p:nvPr/>
        </p:nvSpPr>
        <p:spPr>
          <a:xfrm>
            <a:off x="1810512" y="1417320"/>
            <a:ext cx="91" cy="3108960"/>
          </a:xfrm>
          <a:prstGeom prst="line">
            <a:avLst/>
          </a:prstGeom>
          <a:noFill/>
          <a:ln w="6350">
            <a:solidFill>
              <a:srgbClr val="E3EFED"/>
            </a:solidFill>
            <a:prstDash val="solid"/>
          </a:ln>
        </p:spPr>
      </p:sp>
      <p:sp>
        <p:nvSpPr>
          <p:cNvPr id="13" name="Shape 11"/>
          <p:cNvSpPr/>
          <p:nvPr/>
        </p:nvSpPr>
        <p:spPr>
          <a:xfrm>
            <a:off x="2295144" y="1417320"/>
            <a:ext cx="91" cy="3108960"/>
          </a:xfrm>
          <a:prstGeom prst="line">
            <a:avLst/>
          </a:prstGeom>
          <a:noFill/>
          <a:ln w="6350">
            <a:solidFill>
              <a:srgbClr val="C5DCD9"/>
            </a:solidFill>
            <a:prstDash val="solid"/>
          </a:ln>
        </p:spPr>
      </p:sp>
      <p:sp>
        <p:nvSpPr>
          <p:cNvPr id="14" name="Shape 12"/>
          <p:cNvSpPr/>
          <p:nvPr/>
        </p:nvSpPr>
        <p:spPr>
          <a:xfrm>
            <a:off x="2779776" y="1417320"/>
            <a:ext cx="91" cy="3108960"/>
          </a:xfrm>
          <a:prstGeom prst="line">
            <a:avLst/>
          </a:prstGeom>
          <a:noFill/>
          <a:ln w="6350">
            <a:solidFill>
              <a:srgbClr val="E3EFED"/>
            </a:solidFill>
            <a:prstDash val="solid"/>
          </a:ln>
        </p:spPr>
      </p:sp>
      <p:sp>
        <p:nvSpPr>
          <p:cNvPr id="15" name="Shape 13"/>
          <p:cNvSpPr/>
          <p:nvPr/>
        </p:nvSpPr>
        <p:spPr>
          <a:xfrm>
            <a:off x="3264408" y="1417320"/>
            <a:ext cx="91" cy="3108960"/>
          </a:xfrm>
          <a:prstGeom prst="line">
            <a:avLst/>
          </a:prstGeom>
          <a:noFill/>
          <a:ln w="6350">
            <a:solidFill>
              <a:srgbClr val="C5DCD9"/>
            </a:solidFill>
            <a:prstDash val="solid"/>
          </a:ln>
        </p:spPr>
      </p:sp>
      <p:sp>
        <p:nvSpPr>
          <p:cNvPr id="16" name="Shape 14"/>
          <p:cNvSpPr/>
          <p:nvPr/>
        </p:nvSpPr>
        <p:spPr>
          <a:xfrm>
            <a:off x="3749040" y="1417320"/>
            <a:ext cx="91" cy="3108960"/>
          </a:xfrm>
          <a:prstGeom prst="line">
            <a:avLst/>
          </a:prstGeom>
          <a:noFill/>
          <a:ln w="6350">
            <a:solidFill>
              <a:srgbClr val="E3EFED"/>
            </a:solidFill>
            <a:prstDash val="solid"/>
          </a:ln>
        </p:spPr>
      </p:sp>
      <p:sp>
        <p:nvSpPr>
          <p:cNvPr id="17" name="Shape 15"/>
          <p:cNvSpPr/>
          <p:nvPr/>
        </p:nvSpPr>
        <p:spPr>
          <a:xfrm>
            <a:off x="4233672" y="1417320"/>
            <a:ext cx="91" cy="3108960"/>
          </a:xfrm>
          <a:prstGeom prst="line">
            <a:avLst/>
          </a:prstGeom>
          <a:noFill/>
          <a:ln w="6350">
            <a:solidFill>
              <a:srgbClr val="C5DCD9"/>
            </a:solidFill>
            <a:prstDash val="solid"/>
          </a:ln>
        </p:spPr>
      </p:sp>
      <p:sp>
        <p:nvSpPr>
          <p:cNvPr id="18" name="Shape 16"/>
          <p:cNvSpPr/>
          <p:nvPr/>
        </p:nvSpPr>
        <p:spPr>
          <a:xfrm>
            <a:off x="4718304" y="1417320"/>
            <a:ext cx="91" cy="3108960"/>
          </a:xfrm>
          <a:prstGeom prst="line">
            <a:avLst/>
          </a:prstGeom>
          <a:noFill/>
          <a:ln w="6350">
            <a:solidFill>
              <a:srgbClr val="E3EFED"/>
            </a:solidFill>
            <a:prstDash val="solid"/>
          </a:ln>
        </p:spPr>
      </p:sp>
      <p:sp>
        <p:nvSpPr>
          <p:cNvPr id="19" name="Shape 17"/>
          <p:cNvSpPr/>
          <p:nvPr/>
        </p:nvSpPr>
        <p:spPr>
          <a:xfrm>
            <a:off x="5202936" y="1417320"/>
            <a:ext cx="91" cy="3108960"/>
          </a:xfrm>
          <a:prstGeom prst="line">
            <a:avLst/>
          </a:prstGeom>
          <a:noFill/>
          <a:ln w="6350">
            <a:solidFill>
              <a:srgbClr val="C5DCD9"/>
            </a:solidFill>
            <a:prstDash val="solid"/>
          </a:ln>
        </p:spPr>
      </p:sp>
      <p:sp>
        <p:nvSpPr>
          <p:cNvPr id="20" name="Shape 18"/>
          <p:cNvSpPr/>
          <p:nvPr/>
        </p:nvSpPr>
        <p:spPr>
          <a:xfrm>
            <a:off x="5687568" y="1417320"/>
            <a:ext cx="91" cy="3108960"/>
          </a:xfrm>
          <a:prstGeom prst="line">
            <a:avLst/>
          </a:prstGeom>
          <a:noFill/>
          <a:ln w="6350">
            <a:solidFill>
              <a:srgbClr val="E3EFED"/>
            </a:solidFill>
            <a:prstDash val="solid"/>
          </a:ln>
        </p:spPr>
      </p:sp>
      <p:sp>
        <p:nvSpPr>
          <p:cNvPr id="21" name="Shape 19"/>
          <p:cNvSpPr/>
          <p:nvPr/>
        </p:nvSpPr>
        <p:spPr>
          <a:xfrm>
            <a:off x="6172200" y="1417320"/>
            <a:ext cx="91" cy="3108960"/>
          </a:xfrm>
          <a:prstGeom prst="line">
            <a:avLst/>
          </a:prstGeom>
          <a:noFill/>
          <a:ln w="6350">
            <a:solidFill>
              <a:srgbClr val="C5DCD9"/>
            </a:solidFill>
            <a:prstDash val="solid"/>
          </a:ln>
        </p:spPr>
      </p:sp>
      <p:sp>
        <p:nvSpPr>
          <p:cNvPr id="22" name="Shape 20"/>
          <p:cNvSpPr/>
          <p:nvPr/>
        </p:nvSpPr>
        <p:spPr>
          <a:xfrm>
            <a:off x="1325880" y="4526280"/>
            <a:ext cx="4846320" cy="91"/>
          </a:xfrm>
          <a:prstGeom prst="line">
            <a:avLst/>
          </a:prstGeom>
          <a:noFill/>
          <a:ln w="6350">
            <a:solidFill>
              <a:srgbClr val="C5DCD9"/>
            </a:solidFill>
            <a:prstDash val="solid"/>
          </a:ln>
        </p:spPr>
      </p:sp>
      <p:sp>
        <p:nvSpPr>
          <p:cNvPr id="23" name="Shape 21"/>
          <p:cNvSpPr/>
          <p:nvPr/>
        </p:nvSpPr>
        <p:spPr>
          <a:xfrm>
            <a:off x="1325880" y="4267200"/>
            <a:ext cx="4846320" cy="91"/>
          </a:xfrm>
          <a:prstGeom prst="line">
            <a:avLst/>
          </a:prstGeom>
          <a:noFill/>
          <a:ln w="6350">
            <a:solidFill>
              <a:srgbClr val="E3EFED"/>
            </a:solidFill>
            <a:prstDash val="solid"/>
          </a:ln>
        </p:spPr>
      </p:sp>
      <p:sp>
        <p:nvSpPr>
          <p:cNvPr id="24" name="Shape 22"/>
          <p:cNvSpPr/>
          <p:nvPr/>
        </p:nvSpPr>
        <p:spPr>
          <a:xfrm>
            <a:off x="1325880" y="4008120"/>
            <a:ext cx="4846320" cy="91"/>
          </a:xfrm>
          <a:prstGeom prst="line">
            <a:avLst/>
          </a:prstGeom>
          <a:noFill/>
          <a:ln w="6350">
            <a:solidFill>
              <a:srgbClr val="C5DCD9"/>
            </a:solidFill>
            <a:prstDash val="solid"/>
          </a:ln>
        </p:spPr>
      </p:sp>
      <p:sp>
        <p:nvSpPr>
          <p:cNvPr id="25" name="Shape 23"/>
          <p:cNvSpPr/>
          <p:nvPr/>
        </p:nvSpPr>
        <p:spPr>
          <a:xfrm>
            <a:off x="1325880" y="3749040"/>
            <a:ext cx="4846320" cy="91"/>
          </a:xfrm>
          <a:prstGeom prst="line">
            <a:avLst/>
          </a:prstGeom>
          <a:noFill/>
          <a:ln w="6350">
            <a:solidFill>
              <a:srgbClr val="E3EFED"/>
            </a:solidFill>
            <a:prstDash val="solid"/>
          </a:ln>
        </p:spPr>
      </p:sp>
      <p:sp>
        <p:nvSpPr>
          <p:cNvPr id="26" name="Shape 24"/>
          <p:cNvSpPr/>
          <p:nvPr/>
        </p:nvSpPr>
        <p:spPr>
          <a:xfrm>
            <a:off x="1325880" y="3489960"/>
            <a:ext cx="4846320" cy="91"/>
          </a:xfrm>
          <a:prstGeom prst="line">
            <a:avLst/>
          </a:prstGeom>
          <a:noFill/>
          <a:ln w="6350">
            <a:solidFill>
              <a:srgbClr val="C5DCD9"/>
            </a:solidFill>
            <a:prstDash val="solid"/>
          </a:ln>
        </p:spPr>
      </p:sp>
      <p:sp>
        <p:nvSpPr>
          <p:cNvPr id="27" name="Shape 25"/>
          <p:cNvSpPr/>
          <p:nvPr/>
        </p:nvSpPr>
        <p:spPr>
          <a:xfrm>
            <a:off x="1325880" y="3230880"/>
            <a:ext cx="4846320" cy="91"/>
          </a:xfrm>
          <a:prstGeom prst="line">
            <a:avLst/>
          </a:prstGeom>
          <a:noFill/>
          <a:ln w="6350">
            <a:solidFill>
              <a:srgbClr val="E3EFED"/>
            </a:solidFill>
            <a:prstDash val="solid"/>
          </a:ln>
        </p:spPr>
      </p:sp>
      <p:sp>
        <p:nvSpPr>
          <p:cNvPr id="28" name="Shape 26"/>
          <p:cNvSpPr/>
          <p:nvPr/>
        </p:nvSpPr>
        <p:spPr>
          <a:xfrm>
            <a:off x="1325880" y="2971800"/>
            <a:ext cx="4846320" cy="91"/>
          </a:xfrm>
          <a:prstGeom prst="line">
            <a:avLst/>
          </a:prstGeom>
          <a:noFill/>
          <a:ln w="6350">
            <a:solidFill>
              <a:srgbClr val="C5DCD9"/>
            </a:solidFill>
            <a:prstDash val="solid"/>
          </a:ln>
        </p:spPr>
      </p:sp>
      <p:sp>
        <p:nvSpPr>
          <p:cNvPr id="29" name="Shape 27"/>
          <p:cNvSpPr/>
          <p:nvPr/>
        </p:nvSpPr>
        <p:spPr>
          <a:xfrm>
            <a:off x="1325880" y="2712720"/>
            <a:ext cx="4846320" cy="91"/>
          </a:xfrm>
          <a:prstGeom prst="line">
            <a:avLst/>
          </a:prstGeom>
          <a:noFill/>
          <a:ln w="6350">
            <a:solidFill>
              <a:srgbClr val="E3EFED"/>
            </a:solidFill>
            <a:prstDash val="solid"/>
          </a:ln>
        </p:spPr>
      </p:sp>
      <p:sp>
        <p:nvSpPr>
          <p:cNvPr id="30" name="Shape 28"/>
          <p:cNvSpPr/>
          <p:nvPr/>
        </p:nvSpPr>
        <p:spPr>
          <a:xfrm>
            <a:off x="1325880" y="2453640"/>
            <a:ext cx="4846320" cy="91"/>
          </a:xfrm>
          <a:prstGeom prst="line">
            <a:avLst/>
          </a:prstGeom>
          <a:noFill/>
          <a:ln w="6350">
            <a:solidFill>
              <a:srgbClr val="C5DCD9"/>
            </a:solidFill>
            <a:prstDash val="solid"/>
          </a:ln>
        </p:spPr>
      </p:sp>
      <p:sp>
        <p:nvSpPr>
          <p:cNvPr id="31" name="Shape 29"/>
          <p:cNvSpPr/>
          <p:nvPr/>
        </p:nvSpPr>
        <p:spPr>
          <a:xfrm>
            <a:off x="1325880" y="2194560"/>
            <a:ext cx="4846320" cy="91"/>
          </a:xfrm>
          <a:prstGeom prst="line">
            <a:avLst/>
          </a:prstGeom>
          <a:noFill/>
          <a:ln w="6350">
            <a:solidFill>
              <a:srgbClr val="E3EFED"/>
            </a:solidFill>
            <a:prstDash val="solid"/>
          </a:ln>
        </p:spPr>
      </p:sp>
      <p:sp>
        <p:nvSpPr>
          <p:cNvPr id="32" name="Shape 30"/>
          <p:cNvSpPr/>
          <p:nvPr/>
        </p:nvSpPr>
        <p:spPr>
          <a:xfrm>
            <a:off x="1325880" y="1935480"/>
            <a:ext cx="4846320" cy="91"/>
          </a:xfrm>
          <a:prstGeom prst="line">
            <a:avLst/>
          </a:prstGeom>
          <a:noFill/>
          <a:ln w="6350">
            <a:solidFill>
              <a:srgbClr val="C5DCD9"/>
            </a:solidFill>
            <a:prstDash val="solid"/>
          </a:ln>
        </p:spPr>
      </p:sp>
      <p:sp>
        <p:nvSpPr>
          <p:cNvPr id="33" name="Shape 31"/>
          <p:cNvSpPr/>
          <p:nvPr/>
        </p:nvSpPr>
        <p:spPr>
          <a:xfrm>
            <a:off x="1325880" y="1676400"/>
            <a:ext cx="4846320" cy="91"/>
          </a:xfrm>
          <a:prstGeom prst="line">
            <a:avLst/>
          </a:prstGeom>
          <a:noFill/>
          <a:ln w="6350">
            <a:solidFill>
              <a:srgbClr val="E3EFED"/>
            </a:solidFill>
            <a:prstDash val="solid"/>
          </a:ln>
        </p:spPr>
      </p:sp>
      <p:sp>
        <p:nvSpPr>
          <p:cNvPr id="34" name="Shape 32"/>
          <p:cNvSpPr/>
          <p:nvPr/>
        </p:nvSpPr>
        <p:spPr>
          <a:xfrm>
            <a:off x="1325880" y="1417320"/>
            <a:ext cx="4846320" cy="91"/>
          </a:xfrm>
          <a:prstGeom prst="line">
            <a:avLst/>
          </a:prstGeom>
          <a:noFill/>
          <a:ln w="6350">
            <a:solidFill>
              <a:srgbClr val="C5DCD9"/>
            </a:solidFill>
            <a:prstDash val="solid"/>
          </a:ln>
        </p:spPr>
      </p:sp>
      <p:sp>
        <p:nvSpPr>
          <p:cNvPr id="35" name="Shape 33"/>
          <p:cNvSpPr/>
          <p:nvPr/>
        </p:nvSpPr>
        <p:spPr>
          <a:xfrm>
            <a:off x="1325880" y="4526280"/>
            <a:ext cx="4846320" cy="91"/>
          </a:xfrm>
          <a:prstGeom prst="line">
            <a:avLst/>
          </a:prstGeom>
          <a:noFill/>
          <a:ln w="19050">
            <a:solidFill>
              <a:srgbClr val="133536"/>
            </a:solidFill>
            <a:prstDash val="solid"/>
          </a:ln>
        </p:spPr>
      </p:sp>
      <p:sp>
        <p:nvSpPr>
          <p:cNvPr id="36" name="Shape 34"/>
          <p:cNvSpPr/>
          <p:nvPr/>
        </p:nvSpPr>
        <p:spPr>
          <a:xfrm flipV="1">
            <a:off x="1325880" y="1417320"/>
            <a:ext cx="91" cy="3108960"/>
          </a:xfrm>
          <a:prstGeom prst="line">
            <a:avLst/>
          </a:prstGeom>
          <a:noFill/>
          <a:ln w="19050">
            <a:solidFill>
              <a:srgbClr val="133536"/>
            </a:solidFill>
            <a:prstDash val="solid"/>
          </a:ln>
        </p:spPr>
      </p:sp>
      <p:sp>
        <p:nvSpPr>
          <p:cNvPr id="37" name="Shape 35"/>
          <p:cNvSpPr/>
          <p:nvPr/>
        </p:nvSpPr>
        <p:spPr>
          <a:xfrm>
            <a:off x="1325880" y="4526280"/>
            <a:ext cx="91" cy="54864"/>
          </a:xfrm>
          <a:prstGeom prst="line">
            <a:avLst/>
          </a:prstGeom>
          <a:noFill/>
          <a:ln w="12700">
            <a:solidFill>
              <a:srgbClr val="133536"/>
            </a:solidFill>
            <a:prstDash val="solid"/>
          </a:ln>
        </p:spPr>
      </p:sp>
      <p:sp>
        <p:nvSpPr>
          <p:cNvPr id="38" name="Text 36"/>
          <p:cNvSpPr/>
          <p:nvPr/>
        </p:nvSpPr>
        <p:spPr>
          <a:xfrm>
            <a:off x="105156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1970</a:t>
            </a:r>
            <a:endParaRPr lang="en-US" sz="1000" dirty="0"/>
          </a:p>
        </p:txBody>
      </p:sp>
      <p:sp>
        <p:nvSpPr>
          <p:cNvPr id="39" name="Shape 37"/>
          <p:cNvSpPr/>
          <p:nvPr/>
        </p:nvSpPr>
        <p:spPr>
          <a:xfrm>
            <a:off x="2295144" y="4526280"/>
            <a:ext cx="91" cy="54864"/>
          </a:xfrm>
          <a:prstGeom prst="line">
            <a:avLst/>
          </a:prstGeom>
          <a:noFill/>
          <a:ln w="12700">
            <a:solidFill>
              <a:srgbClr val="133536"/>
            </a:solidFill>
            <a:prstDash val="solid"/>
          </a:ln>
        </p:spPr>
      </p:sp>
      <p:sp>
        <p:nvSpPr>
          <p:cNvPr id="40" name="Text 38"/>
          <p:cNvSpPr/>
          <p:nvPr/>
        </p:nvSpPr>
        <p:spPr>
          <a:xfrm>
            <a:off x="2020824"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1980</a:t>
            </a:r>
            <a:endParaRPr lang="en-US" sz="1000" dirty="0"/>
          </a:p>
        </p:txBody>
      </p:sp>
      <p:sp>
        <p:nvSpPr>
          <p:cNvPr id="41" name="Shape 39"/>
          <p:cNvSpPr/>
          <p:nvPr/>
        </p:nvSpPr>
        <p:spPr>
          <a:xfrm>
            <a:off x="3264408" y="4526280"/>
            <a:ext cx="91" cy="54864"/>
          </a:xfrm>
          <a:prstGeom prst="line">
            <a:avLst/>
          </a:prstGeom>
          <a:noFill/>
          <a:ln w="12700">
            <a:solidFill>
              <a:srgbClr val="133536"/>
            </a:solidFill>
            <a:prstDash val="solid"/>
          </a:ln>
        </p:spPr>
      </p:sp>
      <p:sp>
        <p:nvSpPr>
          <p:cNvPr id="42" name="Text 40"/>
          <p:cNvSpPr/>
          <p:nvPr/>
        </p:nvSpPr>
        <p:spPr>
          <a:xfrm>
            <a:off x="2990088"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1990</a:t>
            </a:r>
            <a:endParaRPr lang="en-US" sz="1000" dirty="0"/>
          </a:p>
        </p:txBody>
      </p:sp>
      <p:sp>
        <p:nvSpPr>
          <p:cNvPr id="43" name="Shape 41"/>
          <p:cNvSpPr/>
          <p:nvPr/>
        </p:nvSpPr>
        <p:spPr>
          <a:xfrm>
            <a:off x="4233672" y="4526280"/>
            <a:ext cx="91" cy="54864"/>
          </a:xfrm>
          <a:prstGeom prst="line">
            <a:avLst/>
          </a:prstGeom>
          <a:noFill/>
          <a:ln w="12700">
            <a:solidFill>
              <a:srgbClr val="133536"/>
            </a:solidFill>
            <a:prstDash val="solid"/>
          </a:ln>
        </p:spPr>
      </p:sp>
      <p:sp>
        <p:nvSpPr>
          <p:cNvPr id="44" name="Text 42"/>
          <p:cNvSpPr/>
          <p:nvPr/>
        </p:nvSpPr>
        <p:spPr>
          <a:xfrm>
            <a:off x="3959352"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2000</a:t>
            </a:r>
            <a:endParaRPr lang="en-US" sz="1000" dirty="0"/>
          </a:p>
        </p:txBody>
      </p:sp>
      <p:sp>
        <p:nvSpPr>
          <p:cNvPr id="45" name="Shape 43"/>
          <p:cNvSpPr/>
          <p:nvPr/>
        </p:nvSpPr>
        <p:spPr>
          <a:xfrm>
            <a:off x="5202936" y="4526280"/>
            <a:ext cx="91" cy="54864"/>
          </a:xfrm>
          <a:prstGeom prst="line">
            <a:avLst/>
          </a:prstGeom>
          <a:noFill/>
          <a:ln w="12700">
            <a:solidFill>
              <a:srgbClr val="133536"/>
            </a:solidFill>
            <a:prstDash val="solid"/>
          </a:ln>
        </p:spPr>
      </p:sp>
      <p:sp>
        <p:nvSpPr>
          <p:cNvPr id="46" name="Text 44"/>
          <p:cNvSpPr/>
          <p:nvPr/>
        </p:nvSpPr>
        <p:spPr>
          <a:xfrm>
            <a:off x="4928616"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2010</a:t>
            </a:r>
            <a:endParaRPr lang="en-US" sz="1000" dirty="0"/>
          </a:p>
        </p:txBody>
      </p:sp>
      <p:sp>
        <p:nvSpPr>
          <p:cNvPr id="47" name="Shape 45"/>
          <p:cNvSpPr/>
          <p:nvPr/>
        </p:nvSpPr>
        <p:spPr>
          <a:xfrm>
            <a:off x="6172200" y="4526280"/>
            <a:ext cx="91" cy="54864"/>
          </a:xfrm>
          <a:prstGeom prst="line">
            <a:avLst/>
          </a:prstGeom>
          <a:noFill/>
          <a:ln w="12700">
            <a:solidFill>
              <a:srgbClr val="133536"/>
            </a:solidFill>
            <a:prstDash val="solid"/>
          </a:ln>
        </p:spPr>
      </p:sp>
      <p:sp>
        <p:nvSpPr>
          <p:cNvPr id="48" name="Text 46"/>
          <p:cNvSpPr/>
          <p:nvPr/>
        </p:nvSpPr>
        <p:spPr>
          <a:xfrm>
            <a:off x="5897880" y="45811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2020</a:t>
            </a:r>
            <a:endParaRPr lang="en-US" sz="1000" dirty="0"/>
          </a:p>
        </p:txBody>
      </p:sp>
      <p:sp>
        <p:nvSpPr>
          <p:cNvPr id="49" name="Shape 47"/>
          <p:cNvSpPr/>
          <p:nvPr/>
        </p:nvSpPr>
        <p:spPr>
          <a:xfrm>
            <a:off x="1271016" y="4526280"/>
            <a:ext cx="54864" cy="91"/>
          </a:xfrm>
          <a:prstGeom prst="line">
            <a:avLst/>
          </a:prstGeom>
          <a:noFill/>
          <a:ln w="12700">
            <a:solidFill>
              <a:srgbClr val="133536"/>
            </a:solidFill>
            <a:prstDash val="solid"/>
          </a:ln>
        </p:spPr>
      </p:sp>
      <p:sp>
        <p:nvSpPr>
          <p:cNvPr id="50" name="Text 48"/>
          <p:cNvSpPr/>
          <p:nvPr/>
        </p:nvSpPr>
        <p:spPr>
          <a:xfrm>
            <a:off x="886968" y="4434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271016" y="4008120"/>
            <a:ext cx="54864" cy="91"/>
          </a:xfrm>
          <a:prstGeom prst="line">
            <a:avLst/>
          </a:prstGeom>
          <a:noFill/>
          <a:ln w="12700">
            <a:solidFill>
              <a:srgbClr val="133536"/>
            </a:solidFill>
            <a:prstDash val="solid"/>
          </a:ln>
        </p:spPr>
      </p:sp>
      <p:sp>
        <p:nvSpPr>
          <p:cNvPr id="52" name="Text 50"/>
          <p:cNvSpPr/>
          <p:nvPr/>
        </p:nvSpPr>
        <p:spPr>
          <a:xfrm>
            <a:off x="886968" y="3916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3" name="Shape 51"/>
          <p:cNvSpPr/>
          <p:nvPr/>
        </p:nvSpPr>
        <p:spPr>
          <a:xfrm>
            <a:off x="1271016" y="3489960"/>
            <a:ext cx="54864" cy="91"/>
          </a:xfrm>
          <a:prstGeom prst="line">
            <a:avLst/>
          </a:prstGeom>
          <a:noFill/>
          <a:ln w="12700">
            <a:solidFill>
              <a:srgbClr val="133536"/>
            </a:solidFill>
            <a:prstDash val="solid"/>
          </a:ln>
        </p:spPr>
      </p:sp>
      <p:sp>
        <p:nvSpPr>
          <p:cNvPr id="54" name="Text 52"/>
          <p:cNvSpPr/>
          <p:nvPr/>
        </p:nvSpPr>
        <p:spPr>
          <a:xfrm>
            <a:off x="886968" y="33985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5" name="Shape 53"/>
          <p:cNvSpPr/>
          <p:nvPr/>
        </p:nvSpPr>
        <p:spPr>
          <a:xfrm>
            <a:off x="1271016" y="2971800"/>
            <a:ext cx="54864" cy="91"/>
          </a:xfrm>
          <a:prstGeom prst="line">
            <a:avLst/>
          </a:prstGeom>
          <a:noFill/>
          <a:ln w="12700">
            <a:solidFill>
              <a:srgbClr val="133536"/>
            </a:solidFill>
            <a:prstDash val="solid"/>
          </a:ln>
        </p:spPr>
      </p:sp>
      <p:sp>
        <p:nvSpPr>
          <p:cNvPr id="56" name="Text 54"/>
          <p:cNvSpPr/>
          <p:nvPr/>
        </p:nvSpPr>
        <p:spPr>
          <a:xfrm>
            <a:off x="886968" y="2880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57" name="Shape 55"/>
          <p:cNvSpPr/>
          <p:nvPr/>
        </p:nvSpPr>
        <p:spPr>
          <a:xfrm>
            <a:off x="1271016" y="2453640"/>
            <a:ext cx="54864" cy="91"/>
          </a:xfrm>
          <a:prstGeom prst="line">
            <a:avLst/>
          </a:prstGeom>
          <a:noFill/>
          <a:ln w="12700">
            <a:solidFill>
              <a:srgbClr val="133536"/>
            </a:solidFill>
            <a:prstDash val="solid"/>
          </a:ln>
        </p:spPr>
      </p:sp>
      <p:sp>
        <p:nvSpPr>
          <p:cNvPr id="58" name="Text 56"/>
          <p:cNvSpPr/>
          <p:nvPr/>
        </p:nvSpPr>
        <p:spPr>
          <a:xfrm>
            <a:off x="886968" y="2362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9" name="Shape 57"/>
          <p:cNvSpPr/>
          <p:nvPr/>
        </p:nvSpPr>
        <p:spPr>
          <a:xfrm>
            <a:off x="1271016" y="1935480"/>
            <a:ext cx="54864" cy="91"/>
          </a:xfrm>
          <a:prstGeom prst="line">
            <a:avLst/>
          </a:prstGeom>
          <a:noFill/>
          <a:ln w="12700">
            <a:solidFill>
              <a:srgbClr val="133536"/>
            </a:solidFill>
            <a:prstDash val="solid"/>
          </a:ln>
        </p:spPr>
      </p:sp>
      <p:sp>
        <p:nvSpPr>
          <p:cNvPr id="60" name="Text 58"/>
          <p:cNvSpPr/>
          <p:nvPr/>
        </p:nvSpPr>
        <p:spPr>
          <a:xfrm>
            <a:off x="886968" y="18440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61" name="Shape 59"/>
          <p:cNvSpPr/>
          <p:nvPr/>
        </p:nvSpPr>
        <p:spPr>
          <a:xfrm>
            <a:off x="1271016" y="1417320"/>
            <a:ext cx="54864" cy="91"/>
          </a:xfrm>
          <a:prstGeom prst="line">
            <a:avLst/>
          </a:prstGeom>
          <a:noFill/>
          <a:ln w="12700">
            <a:solidFill>
              <a:srgbClr val="133536"/>
            </a:solidFill>
            <a:prstDash val="solid"/>
          </a:ln>
        </p:spPr>
      </p:sp>
      <p:sp>
        <p:nvSpPr>
          <p:cNvPr id="62" name="Text 6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63" name="Text 61"/>
          <p:cNvSpPr/>
          <p:nvPr/>
        </p:nvSpPr>
        <p:spPr>
          <a:xfrm>
            <a:off x="1325880" y="477316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Year</a:t>
            </a:r>
            <a:endParaRPr lang="en-US" sz="1050" dirty="0"/>
          </a:p>
        </p:txBody>
      </p:sp>
      <p:sp>
        <p:nvSpPr>
          <p:cNvPr id="64" name="Text 62"/>
          <p:cNvSpPr/>
          <p:nvPr/>
        </p:nvSpPr>
        <p:spPr>
          <a:xfrm rot="16200000">
            <a:off x="-795528" y="284378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Breeding cod / thousand tonnes</a:t>
            </a:r>
            <a:endParaRPr lang="en-US" sz="1050" dirty="0"/>
          </a:p>
        </p:txBody>
      </p:sp>
      <p:sp>
        <p:nvSpPr>
          <p:cNvPr id="65" name="Shape 63"/>
          <p:cNvSpPr/>
          <p:nvPr/>
        </p:nvSpPr>
        <p:spPr>
          <a:xfrm>
            <a:off x="4815230" y="1417320"/>
            <a:ext cx="1356970" cy="3108960"/>
          </a:xfrm>
          <a:prstGeom prst="rect">
            <a:avLst/>
          </a:prstGeom>
          <a:solidFill>
            <a:srgbClr val="D8F0E2">
              <a:alpha val="55000"/>
            </a:srgbClr>
          </a:solidFill>
          <a:ln/>
        </p:spPr>
      </p:sp>
      <p:sp>
        <p:nvSpPr>
          <p:cNvPr id="66" name="Text 64"/>
          <p:cNvSpPr/>
          <p:nvPr/>
        </p:nvSpPr>
        <p:spPr>
          <a:xfrm>
            <a:off x="4860950" y="1463040"/>
            <a:ext cx="1371600" cy="365760"/>
          </a:xfrm>
          <a:prstGeom prst="rect">
            <a:avLst/>
          </a:prstGeom>
          <a:noFill/>
          <a:ln/>
        </p:spPr>
        <p:txBody>
          <a:bodyPr wrap="square" lIns="0" tIns="0" rIns="0" bIns="0" rtlCol="0" anchor="t"/>
          <a:lstStyle/>
          <a:p>
            <a:pPr algn="l" indent="0" marL="0">
              <a:buNone/>
            </a:pPr>
            <a:r>
              <a:rPr lang="en-US" sz="1000" b="1" dirty="0">
                <a:solidFill>
                  <a:srgbClr val="2E8B57"/>
                </a:solidFill>
                <a:latin typeface="Calibri" pitchFamily="34" charset="0"/>
                <a:ea typeface="Calibri" pitchFamily="34" charset="-122"/>
                <a:cs typeface="Calibri" pitchFamily="34" charset="-120"/>
              </a:rPr>
              <a:t>recovery plan and quotas</a:t>
            </a:r>
            <a:endParaRPr lang="en-US" sz="1000" dirty="0"/>
          </a:p>
        </p:txBody>
      </p:sp>
      <p:sp>
        <p:nvSpPr>
          <p:cNvPr id="67" name="Shape 65"/>
          <p:cNvSpPr/>
          <p:nvPr/>
        </p:nvSpPr>
        <p:spPr>
          <a:xfrm>
            <a:off x="1325880" y="1935480"/>
            <a:ext cx="969264" cy="1036320"/>
          </a:xfrm>
          <a:prstGeom prst="line">
            <a:avLst/>
          </a:prstGeom>
          <a:noFill/>
          <a:ln w="28575">
            <a:solidFill>
              <a:srgbClr val="0D7877"/>
            </a:solidFill>
            <a:prstDash val="solid"/>
          </a:ln>
        </p:spPr>
      </p:sp>
      <p:sp>
        <p:nvSpPr>
          <p:cNvPr id="68" name="Shape 66"/>
          <p:cNvSpPr/>
          <p:nvPr/>
        </p:nvSpPr>
        <p:spPr>
          <a:xfrm>
            <a:off x="2295144" y="2971800"/>
            <a:ext cx="969264" cy="725424"/>
          </a:xfrm>
          <a:prstGeom prst="line">
            <a:avLst/>
          </a:prstGeom>
          <a:noFill/>
          <a:ln w="28575">
            <a:solidFill>
              <a:srgbClr val="0D7877"/>
            </a:solidFill>
            <a:prstDash val="solid"/>
          </a:ln>
        </p:spPr>
      </p:sp>
      <p:sp>
        <p:nvSpPr>
          <p:cNvPr id="69" name="Shape 67"/>
          <p:cNvSpPr/>
          <p:nvPr/>
        </p:nvSpPr>
        <p:spPr>
          <a:xfrm>
            <a:off x="3264408" y="3697224"/>
            <a:ext cx="969264" cy="362712"/>
          </a:xfrm>
          <a:prstGeom prst="line">
            <a:avLst/>
          </a:prstGeom>
          <a:noFill/>
          <a:ln w="28575">
            <a:solidFill>
              <a:srgbClr val="0D7877"/>
            </a:solidFill>
            <a:prstDash val="solid"/>
          </a:ln>
        </p:spPr>
      </p:sp>
      <p:sp>
        <p:nvSpPr>
          <p:cNvPr id="70" name="Shape 68"/>
          <p:cNvSpPr/>
          <p:nvPr/>
        </p:nvSpPr>
        <p:spPr>
          <a:xfrm>
            <a:off x="4233672" y="4059936"/>
            <a:ext cx="581558" cy="51816"/>
          </a:xfrm>
          <a:prstGeom prst="line">
            <a:avLst/>
          </a:prstGeom>
          <a:noFill/>
          <a:ln w="28575">
            <a:solidFill>
              <a:srgbClr val="0D7877"/>
            </a:solidFill>
            <a:prstDash val="solid"/>
          </a:ln>
        </p:spPr>
      </p:sp>
      <p:sp>
        <p:nvSpPr>
          <p:cNvPr id="71" name="Shape 69"/>
          <p:cNvSpPr/>
          <p:nvPr/>
        </p:nvSpPr>
        <p:spPr>
          <a:xfrm flipV="1">
            <a:off x="4815230" y="3800856"/>
            <a:ext cx="387706" cy="310896"/>
          </a:xfrm>
          <a:prstGeom prst="line">
            <a:avLst/>
          </a:prstGeom>
          <a:noFill/>
          <a:ln w="28575">
            <a:solidFill>
              <a:srgbClr val="0D7877"/>
            </a:solidFill>
            <a:prstDash val="solid"/>
          </a:ln>
        </p:spPr>
      </p:sp>
      <p:sp>
        <p:nvSpPr>
          <p:cNvPr id="72" name="Shape 70"/>
          <p:cNvSpPr/>
          <p:nvPr/>
        </p:nvSpPr>
        <p:spPr>
          <a:xfrm flipV="1">
            <a:off x="5202936" y="2971800"/>
            <a:ext cx="484632" cy="829056"/>
          </a:xfrm>
          <a:prstGeom prst="line">
            <a:avLst/>
          </a:prstGeom>
          <a:noFill/>
          <a:ln w="28575">
            <a:solidFill>
              <a:srgbClr val="0D7877"/>
            </a:solidFill>
            <a:prstDash val="solid"/>
          </a:ln>
        </p:spPr>
      </p:sp>
      <p:sp>
        <p:nvSpPr>
          <p:cNvPr id="73" name="Shape 71"/>
          <p:cNvSpPr/>
          <p:nvPr/>
        </p:nvSpPr>
        <p:spPr>
          <a:xfrm>
            <a:off x="5687568" y="2971800"/>
            <a:ext cx="484632" cy="621792"/>
          </a:xfrm>
          <a:prstGeom prst="line">
            <a:avLst/>
          </a:prstGeom>
          <a:noFill/>
          <a:ln w="28575">
            <a:solidFill>
              <a:srgbClr val="0D7877"/>
            </a:solidFill>
            <a:prstDash val="solid"/>
          </a:ln>
        </p:spPr>
      </p:sp>
      <p:sp>
        <p:nvSpPr>
          <p:cNvPr id="74" name="Shape 72"/>
          <p:cNvSpPr/>
          <p:nvPr/>
        </p:nvSpPr>
        <p:spPr>
          <a:xfrm>
            <a:off x="1280160" y="1889760"/>
            <a:ext cx="91440" cy="91440"/>
          </a:xfrm>
          <a:prstGeom prst="line">
            <a:avLst/>
          </a:prstGeom>
          <a:noFill/>
          <a:ln w="15875">
            <a:solidFill>
              <a:srgbClr val="133536"/>
            </a:solidFill>
            <a:prstDash val="solid"/>
          </a:ln>
        </p:spPr>
      </p:sp>
      <p:sp>
        <p:nvSpPr>
          <p:cNvPr id="75" name="Shape 73"/>
          <p:cNvSpPr/>
          <p:nvPr/>
        </p:nvSpPr>
        <p:spPr>
          <a:xfrm flipV="1">
            <a:off x="1280160" y="1889760"/>
            <a:ext cx="91440" cy="91440"/>
          </a:xfrm>
          <a:prstGeom prst="line">
            <a:avLst/>
          </a:prstGeom>
          <a:noFill/>
          <a:ln w="15875">
            <a:solidFill>
              <a:srgbClr val="133536"/>
            </a:solidFill>
            <a:prstDash val="solid"/>
          </a:ln>
        </p:spPr>
      </p:sp>
      <p:sp>
        <p:nvSpPr>
          <p:cNvPr id="76" name="Shape 74"/>
          <p:cNvSpPr/>
          <p:nvPr/>
        </p:nvSpPr>
        <p:spPr>
          <a:xfrm>
            <a:off x="2249424" y="2926080"/>
            <a:ext cx="91440" cy="91440"/>
          </a:xfrm>
          <a:prstGeom prst="line">
            <a:avLst/>
          </a:prstGeom>
          <a:noFill/>
          <a:ln w="15875">
            <a:solidFill>
              <a:srgbClr val="133536"/>
            </a:solidFill>
            <a:prstDash val="solid"/>
          </a:ln>
        </p:spPr>
      </p:sp>
      <p:sp>
        <p:nvSpPr>
          <p:cNvPr id="77" name="Shape 75"/>
          <p:cNvSpPr/>
          <p:nvPr/>
        </p:nvSpPr>
        <p:spPr>
          <a:xfrm flipV="1">
            <a:off x="2249424" y="2926080"/>
            <a:ext cx="91440" cy="91440"/>
          </a:xfrm>
          <a:prstGeom prst="line">
            <a:avLst/>
          </a:prstGeom>
          <a:noFill/>
          <a:ln w="15875">
            <a:solidFill>
              <a:srgbClr val="133536"/>
            </a:solidFill>
            <a:prstDash val="solid"/>
          </a:ln>
        </p:spPr>
      </p:sp>
      <p:sp>
        <p:nvSpPr>
          <p:cNvPr id="78" name="Shape 76"/>
          <p:cNvSpPr/>
          <p:nvPr/>
        </p:nvSpPr>
        <p:spPr>
          <a:xfrm>
            <a:off x="3218688" y="3651504"/>
            <a:ext cx="91440" cy="91440"/>
          </a:xfrm>
          <a:prstGeom prst="line">
            <a:avLst/>
          </a:prstGeom>
          <a:noFill/>
          <a:ln w="15875">
            <a:solidFill>
              <a:srgbClr val="133536"/>
            </a:solidFill>
            <a:prstDash val="solid"/>
          </a:ln>
        </p:spPr>
      </p:sp>
      <p:sp>
        <p:nvSpPr>
          <p:cNvPr id="79" name="Shape 77"/>
          <p:cNvSpPr/>
          <p:nvPr/>
        </p:nvSpPr>
        <p:spPr>
          <a:xfrm flipV="1">
            <a:off x="3218688" y="3651504"/>
            <a:ext cx="91440" cy="91440"/>
          </a:xfrm>
          <a:prstGeom prst="line">
            <a:avLst/>
          </a:prstGeom>
          <a:noFill/>
          <a:ln w="15875">
            <a:solidFill>
              <a:srgbClr val="133536"/>
            </a:solidFill>
            <a:prstDash val="solid"/>
          </a:ln>
        </p:spPr>
      </p:sp>
      <p:sp>
        <p:nvSpPr>
          <p:cNvPr id="80" name="Shape 78"/>
          <p:cNvSpPr/>
          <p:nvPr/>
        </p:nvSpPr>
        <p:spPr>
          <a:xfrm>
            <a:off x="4187952" y="4014216"/>
            <a:ext cx="91440" cy="91440"/>
          </a:xfrm>
          <a:prstGeom prst="line">
            <a:avLst/>
          </a:prstGeom>
          <a:noFill/>
          <a:ln w="15875">
            <a:solidFill>
              <a:srgbClr val="133536"/>
            </a:solidFill>
            <a:prstDash val="solid"/>
          </a:ln>
        </p:spPr>
      </p:sp>
      <p:sp>
        <p:nvSpPr>
          <p:cNvPr id="81" name="Shape 79"/>
          <p:cNvSpPr/>
          <p:nvPr/>
        </p:nvSpPr>
        <p:spPr>
          <a:xfrm flipV="1">
            <a:off x="4187952" y="4014216"/>
            <a:ext cx="91440" cy="91440"/>
          </a:xfrm>
          <a:prstGeom prst="line">
            <a:avLst/>
          </a:prstGeom>
          <a:noFill/>
          <a:ln w="15875">
            <a:solidFill>
              <a:srgbClr val="133536"/>
            </a:solidFill>
            <a:prstDash val="solid"/>
          </a:ln>
        </p:spPr>
      </p:sp>
      <p:sp>
        <p:nvSpPr>
          <p:cNvPr id="82" name="Shape 80"/>
          <p:cNvSpPr/>
          <p:nvPr/>
        </p:nvSpPr>
        <p:spPr>
          <a:xfrm>
            <a:off x="4769510" y="4066032"/>
            <a:ext cx="91440" cy="91440"/>
          </a:xfrm>
          <a:prstGeom prst="line">
            <a:avLst/>
          </a:prstGeom>
          <a:noFill/>
          <a:ln w="15875">
            <a:solidFill>
              <a:srgbClr val="133536"/>
            </a:solidFill>
            <a:prstDash val="solid"/>
          </a:ln>
        </p:spPr>
      </p:sp>
      <p:sp>
        <p:nvSpPr>
          <p:cNvPr id="83" name="Shape 81"/>
          <p:cNvSpPr/>
          <p:nvPr/>
        </p:nvSpPr>
        <p:spPr>
          <a:xfrm flipV="1">
            <a:off x="4769510" y="4066032"/>
            <a:ext cx="91440" cy="91440"/>
          </a:xfrm>
          <a:prstGeom prst="line">
            <a:avLst/>
          </a:prstGeom>
          <a:noFill/>
          <a:ln w="15875">
            <a:solidFill>
              <a:srgbClr val="133536"/>
            </a:solidFill>
            <a:prstDash val="solid"/>
          </a:ln>
        </p:spPr>
      </p:sp>
      <p:sp>
        <p:nvSpPr>
          <p:cNvPr id="84" name="Shape 82"/>
          <p:cNvSpPr/>
          <p:nvPr/>
        </p:nvSpPr>
        <p:spPr>
          <a:xfrm>
            <a:off x="5157216" y="3755136"/>
            <a:ext cx="91440" cy="91440"/>
          </a:xfrm>
          <a:prstGeom prst="line">
            <a:avLst/>
          </a:prstGeom>
          <a:noFill/>
          <a:ln w="15875">
            <a:solidFill>
              <a:srgbClr val="133536"/>
            </a:solidFill>
            <a:prstDash val="solid"/>
          </a:ln>
        </p:spPr>
      </p:sp>
      <p:sp>
        <p:nvSpPr>
          <p:cNvPr id="85" name="Shape 83"/>
          <p:cNvSpPr/>
          <p:nvPr/>
        </p:nvSpPr>
        <p:spPr>
          <a:xfrm flipV="1">
            <a:off x="5157216" y="3755136"/>
            <a:ext cx="91440" cy="91440"/>
          </a:xfrm>
          <a:prstGeom prst="line">
            <a:avLst/>
          </a:prstGeom>
          <a:noFill/>
          <a:ln w="15875">
            <a:solidFill>
              <a:srgbClr val="133536"/>
            </a:solidFill>
            <a:prstDash val="solid"/>
          </a:ln>
        </p:spPr>
      </p:sp>
      <p:sp>
        <p:nvSpPr>
          <p:cNvPr id="86" name="Shape 84"/>
          <p:cNvSpPr/>
          <p:nvPr/>
        </p:nvSpPr>
        <p:spPr>
          <a:xfrm>
            <a:off x="5641848" y="2926080"/>
            <a:ext cx="91440" cy="91440"/>
          </a:xfrm>
          <a:prstGeom prst="line">
            <a:avLst/>
          </a:prstGeom>
          <a:noFill/>
          <a:ln w="15875">
            <a:solidFill>
              <a:srgbClr val="133536"/>
            </a:solidFill>
            <a:prstDash val="solid"/>
          </a:ln>
        </p:spPr>
      </p:sp>
      <p:sp>
        <p:nvSpPr>
          <p:cNvPr id="87" name="Shape 85"/>
          <p:cNvSpPr/>
          <p:nvPr/>
        </p:nvSpPr>
        <p:spPr>
          <a:xfrm flipV="1">
            <a:off x="5641848" y="2926080"/>
            <a:ext cx="91440" cy="91440"/>
          </a:xfrm>
          <a:prstGeom prst="line">
            <a:avLst/>
          </a:prstGeom>
          <a:noFill/>
          <a:ln w="15875">
            <a:solidFill>
              <a:srgbClr val="133536"/>
            </a:solidFill>
            <a:prstDash val="solid"/>
          </a:ln>
        </p:spPr>
      </p:sp>
      <p:sp>
        <p:nvSpPr>
          <p:cNvPr id="88" name="Shape 86"/>
          <p:cNvSpPr/>
          <p:nvPr/>
        </p:nvSpPr>
        <p:spPr>
          <a:xfrm>
            <a:off x="6126480" y="3547872"/>
            <a:ext cx="91440" cy="91440"/>
          </a:xfrm>
          <a:prstGeom prst="line">
            <a:avLst/>
          </a:prstGeom>
          <a:noFill/>
          <a:ln w="15875">
            <a:solidFill>
              <a:srgbClr val="133536"/>
            </a:solidFill>
            <a:prstDash val="solid"/>
          </a:ln>
        </p:spPr>
      </p:sp>
      <p:sp>
        <p:nvSpPr>
          <p:cNvPr id="89" name="Shape 87"/>
          <p:cNvSpPr/>
          <p:nvPr/>
        </p:nvSpPr>
        <p:spPr>
          <a:xfrm flipV="1">
            <a:off x="6126480" y="3547872"/>
            <a:ext cx="91440" cy="91440"/>
          </a:xfrm>
          <a:prstGeom prst="line">
            <a:avLst/>
          </a:prstGeom>
          <a:noFill/>
          <a:ln w="15875">
            <a:solidFill>
              <a:srgbClr val="133536"/>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4983480"/>
          <a:ext cx="5577840" cy="914400"/>
        </p:xfrm>
        <a:graphic>
          <a:graphicData uri="http://schemas.openxmlformats.org/drawingml/2006/table">
            <a:tbl>
              <a:tblPr/>
              <a:tblGrid>
                <a:gridCol w="566928"/>
                <a:gridCol w="626364"/>
                <a:gridCol w="626364"/>
                <a:gridCol w="626364"/>
                <a:gridCol w="626364"/>
                <a:gridCol w="626364"/>
                <a:gridCol w="626364"/>
                <a:gridCol w="626364"/>
                <a:gridCol w="626364"/>
              </a:tblGrid>
              <a:tr h="19202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1970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1980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1990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2006</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2010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2015</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2020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133536"/>
                    </a:solidFill>
                  </a:tcPr>
                </a:tc>
              </a:tr>
              <a:tr h="192024">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kt</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nchor="ctr">
                    <a:lnL w="6350" cap="flat" cmpd="sng" algn="ctr">
                      <a:solidFill>
                        <a:srgbClr val="CFE0DE"/>
                      </a:solidFill>
                      <a:prstDash val="solid"/>
                      <a:round/>
                      <a:headEnd type="none" w="med" len="med"/>
                      <a:tailEnd type="none" w="med" len="med"/>
                    </a:lnL>
                    <a:lnR w="6350" cap="flat" cmpd="sng" algn="ctr">
                      <a:solidFill>
                        <a:srgbClr val="CFE0DE"/>
                      </a:solidFill>
                      <a:prstDash val="solid"/>
                      <a:round/>
                      <a:headEnd type="none" w="med" len="med"/>
                      <a:tailEnd type="none" w="med" len="med"/>
                    </a:lnR>
                    <a:lnT w="6350" cap="flat" cmpd="sng" algn="ctr">
                      <a:solidFill>
                        <a:srgbClr val="CFE0DE"/>
                      </a:solidFill>
                      <a:prstDash val="solid"/>
                      <a:round/>
                      <a:headEnd type="none" w="med" len="med"/>
                      <a:tailEnd type="none" w="med" len="med"/>
                    </a:lnT>
                    <a:lnB w="6350" cap="flat" cmpd="sng" algn="ctr">
                      <a:solidFill>
                        <a:srgbClr val="CFE0DE"/>
                      </a:solidFill>
                      <a:prstDash val="solid"/>
                      <a:round/>
                      <a:headEnd type="none" w="med" len="med"/>
                      <a:tailEnd type="none" w="med" len="med"/>
                    </a:lnB>
                    <a:solidFill>
                      <a:srgbClr val="F4FAF9"/>
                    </a:solidFill>
                  </a:tcPr>
                </a:tc>
              </a:tr>
            </a:tbl>
          </a:graphicData>
        </a:graphic>
      </p:graphicFrame>
      <p:sp>
        <p:nvSpPr>
          <p:cNvPr id="91" name="Shape 88"/>
          <p:cNvSpPr/>
          <p:nvPr/>
        </p:nvSpPr>
        <p:spPr>
          <a:xfrm>
            <a:off x="6675120" y="1188720"/>
            <a:ext cx="5102352" cy="2331720"/>
          </a:xfrm>
          <a:prstGeom prst="roundRect">
            <a:avLst>
              <a:gd name="adj" fmla="val 2353"/>
            </a:avLst>
          </a:prstGeom>
          <a:solidFill>
            <a:srgbClr val="F4FAF9"/>
          </a:solidFill>
          <a:ln w="9525">
            <a:solidFill>
              <a:srgbClr val="CFE0DE"/>
            </a:solidFill>
            <a:prstDash val="solid"/>
          </a:ln>
        </p:spPr>
      </p:sp>
      <p:sp>
        <p:nvSpPr>
          <p:cNvPr id="92" name="Text 89"/>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Reading the evidence</a:t>
            </a:r>
            <a:endParaRPr lang="en-US" sz="1300" dirty="0"/>
          </a:p>
        </p:txBody>
      </p:sp>
      <p:sp>
        <p:nvSpPr>
          <p:cNvPr id="93" name="Text 90"/>
          <p:cNvSpPr/>
          <p:nvPr/>
        </p:nvSpPr>
        <p:spPr>
          <a:xfrm>
            <a:off x="6839712" y="1609344"/>
            <a:ext cx="4773168" cy="18379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1970–2000: stock fell steeply as fishing removed fish faster than they could breed.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After quotas, closed areas and bigger net mesh (2006), the stock </a:t>
            </a:r>
            <a:r>
              <a:rPr lang="en-US" sz="1100" b="1" dirty="0">
                <a:solidFill>
                  <a:srgbClr val="262B3A"/>
                </a:solidFill>
                <a:latin typeface="Calibri" pitchFamily="34" charset="0"/>
                <a:ea typeface="Calibri" pitchFamily="34" charset="-122"/>
                <a:cs typeface="Calibri" pitchFamily="34" charset="-120"/>
              </a:rPr>
              <a:t>rose</a:t>
            </a:r>
            <a:r>
              <a:rPr lang="en-US" sz="1100" dirty="0">
                <a:solidFill>
                  <a:srgbClr val="262B3A"/>
                </a:solidFill>
                <a:latin typeface="Calibri" pitchFamily="34" charset="0"/>
                <a:ea typeface="Calibri" pitchFamily="34" charset="-122"/>
                <a:cs typeface="Calibri" pitchFamily="34" charset="-120"/>
              </a:rPr>
              <a:t>: evidence the plan helped.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But it </a:t>
            </a:r>
            <a:r>
              <a:rPr lang="en-US" sz="1100" b="1" dirty="0">
                <a:solidFill>
                  <a:srgbClr val="262B3A"/>
                </a:solidFill>
                <a:latin typeface="Calibri" pitchFamily="34" charset="0"/>
                <a:ea typeface="Calibri" pitchFamily="34" charset="-122"/>
                <a:cs typeface="Calibri" pitchFamily="34" charset="-120"/>
              </a:rPr>
              <a:t>fell again</a:t>
            </a:r>
            <a:r>
              <a:rPr lang="en-US" sz="1100" dirty="0">
                <a:solidFill>
                  <a:srgbClr val="262B3A"/>
                </a:solidFill>
                <a:latin typeface="Calibri" pitchFamily="34" charset="0"/>
                <a:ea typeface="Calibri" pitchFamily="34" charset="-122"/>
                <a:cs typeface="Calibri" pitchFamily="34" charset="-120"/>
              </a:rPr>
              <a:t> after 2015: other factors (warming seas, more fishing) also matter. Correlation is not proof.</a:t>
            </a:r>
            <a:endParaRPr lang="en-US" sz="1100" dirty="0"/>
          </a:p>
        </p:txBody>
      </p:sp>
      <p:sp>
        <p:nvSpPr>
          <p:cNvPr id="94" name="Shape 91"/>
          <p:cNvSpPr/>
          <p:nvPr/>
        </p:nvSpPr>
        <p:spPr>
          <a:xfrm>
            <a:off x="6675120" y="3657600"/>
            <a:ext cx="5102352" cy="2057400"/>
          </a:xfrm>
          <a:prstGeom prst="roundRect">
            <a:avLst>
              <a:gd name="adj" fmla="val 2667"/>
            </a:avLst>
          </a:prstGeom>
          <a:solidFill>
            <a:srgbClr val="FFF4E0"/>
          </a:solidFill>
          <a:ln w="9525">
            <a:solidFill>
              <a:srgbClr val="F1D9A8"/>
            </a:solidFill>
            <a:prstDash val="solid"/>
          </a:ln>
        </p:spPr>
      </p:sp>
      <p:sp>
        <p:nvSpPr>
          <p:cNvPr id="95" name="Text 92"/>
          <p:cNvSpPr/>
          <p:nvPr/>
        </p:nvSpPr>
        <p:spPr>
          <a:xfrm>
            <a:off x="6839712" y="373075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change</a:t>
            </a:r>
            <a:endParaRPr lang="en-US" sz="1300" dirty="0"/>
          </a:p>
        </p:txBody>
      </p:sp>
      <p:sp>
        <p:nvSpPr>
          <p:cNvPr id="96" name="Text 93"/>
          <p:cNvSpPr/>
          <p:nvPr/>
        </p:nvSpPr>
        <p:spPr>
          <a:xfrm>
            <a:off x="6839712" y="4041648"/>
            <a:ext cx="4773168" cy="160020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Fall   </a:t>
            </a:r>
            <a:r>
              <a:rPr lang="en-US" sz="1050" dirty="0">
                <a:solidFill>
                  <a:srgbClr val="262B3A"/>
                </a:solidFill>
                <a:latin typeface="Calibri" pitchFamily="34" charset="0"/>
                <a:ea typeface="Calibri" pitchFamily="34" charset="-122"/>
                <a:cs typeface="Calibri" pitchFamily="34" charset="-120"/>
              </a:rPr>
              <a:t>1970 → 2000: (250 − 45) ÷ 250 × 100 = </a:t>
            </a:r>
            <a:r>
              <a:rPr lang="en-US" sz="1050" b="1" dirty="0">
                <a:solidFill>
                  <a:srgbClr val="262B3A"/>
                </a:solidFill>
                <a:latin typeface="Calibri" pitchFamily="34" charset="0"/>
                <a:ea typeface="Calibri" pitchFamily="34" charset="-122"/>
                <a:cs typeface="Calibri" pitchFamily="34" charset="-120"/>
              </a:rPr>
              <a:t>82%</a:t>
            </a:r>
            <a:r>
              <a:rPr lang="en-US" sz="1050" dirty="0">
                <a:solidFill>
                  <a:srgbClr val="262B3A"/>
                </a:solidFill>
                <a:latin typeface="Calibri" pitchFamily="34" charset="0"/>
                <a:ea typeface="Calibri" pitchFamily="34" charset="-122"/>
                <a:cs typeface="Calibri" pitchFamily="34" charset="-120"/>
              </a:rPr>
              <a:t> fall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Rise   </a:t>
            </a:r>
            <a:r>
              <a:rPr lang="en-US" sz="1050" dirty="0">
                <a:solidFill>
                  <a:srgbClr val="262B3A"/>
                </a:solidFill>
                <a:latin typeface="Calibri" pitchFamily="34" charset="0"/>
                <a:ea typeface="Calibri" pitchFamily="34" charset="-122"/>
                <a:cs typeface="Calibri" pitchFamily="34" charset="-120"/>
              </a:rPr>
              <a:t>2006 → 2015: (150 − 40) ÷ 40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 </a:t>
            </a:r>
            <a:r>
              <a:rPr lang="en-US" sz="1050" b="1" dirty="0">
                <a:solidFill>
                  <a:srgbClr val="C8414C"/>
                </a:solidFill>
                <a:latin typeface="Calibri" pitchFamily="34" charset="0"/>
                <a:ea typeface="Calibri" pitchFamily="34" charset="-122"/>
                <a:cs typeface="Calibri" pitchFamily="34" charset="-120"/>
              </a:rPr>
              <a:t>275%</a:t>
            </a:r>
            <a:r>
              <a:rPr lang="en-US" sz="1050" b="1" dirty="0">
                <a:solidFill>
                  <a:srgbClr val="C8414C"/>
                </a:solidFill>
                <a:latin typeface="Calibri" pitchFamily="34" charset="0"/>
                <a:ea typeface="Calibri" pitchFamily="34" charset="-122"/>
                <a:cs typeface="Calibri" pitchFamily="34" charset="-120"/>
              </a:rPr>
              <a:t> increase during the recovery plan</a:t>
            </a:r>
            <a:endParaRPr lang="en-US" sz="1050" dirty="0"/>
          </a:p>
        </p:txBody>
      </p:sp>
      <p:sp>
        <p:nvSpPr>
          <p:cNvPr id="97" name="Shape 94"/>
          <p:cNvSpPr/>
          <p:nvPr/>
        </p:nvSpPr>
        <p:spPr>
          <a:xfrm>
            <a:off x="411480" y="5833872"/>
            <a:ext cx="11368735" cy="530352"/>
          </a:xfrm>
          <a:prstGeom prst="rect">
            <a:avLst/>
          </a:prstGeom>
          <a:solidFill>
            <a:srgbClr val="FFF4E0"/>
          </a:solidFill>
          <a:ln w="6350">
            <a:solidFill>
              <a:srgbClr val="F1D9A8"/>
            </a:solidFill>
            <a:prstDash val="solid"/>
          </a:ln>
        </p:spPr>
      </p:sp>
      <p:sp>
        <p:nvSpPr>
          <p:cNvPr id="98" name="Shape 95"/>
          <p:cNvSpPr/>
          <p:nvPr/>
        </p:nvSpPr>
        <p:spPr>
          <a:xfrm>
            <a:off x="411480" y="5833872"/>
            <a:ext cx="82296" cy="530352"/>
          </a:xfrm>
          <a:prstGeom prst="rect">
            <a:avLst/>
          </a:prstGeom>
          <a:solidFill>
            <a:srgbClr val="E39A2F"/>
          </a:solidFill>
          <a:ln w="12700">
            <a:solidFill>
              <a:srgbClr val="E39A2F"/>
            </a:solidFill>
            <a:prstDash val="solid"/>
          </a:ln>
        </p:spPr>
      </p:sp>
      <p:sp>
        <p:nvSpPr>
          <p:cNvPr id="99" name="Text 9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percentage change from 2015 to 2020. Suggest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other than fishing, why the stock might fall.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 B6.3.2 • protecting biodiversity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 </a:t>
            </a:r>
            <a:r>
              <a:rPr lang="en-US" sz="1250" b="1" dirty="0">
                <a:solidFill>
                  <a:srgbClr val="262B3A"/>
                </a:solidFill>
                <a:latin typeface="Calibri" pitchFamily="34" charset="0"/>
                <a:ea typeface="Calibri" pitchFamily="34" charset="-122"/>
                <a:cs typeface="Calibri" pitchFamily="34" charset="-120"/>
              </a:rPr>
              <a:t>seed bank</a:t>
            </a:r>
            <a:r>
              <a:rPr lang="en-US" sz="1250" dirty="0">
                <a:solidFill>
                  <a:srgbClr val="262B3A"/>
                </a:solidFill>
                <a:latin typeface="Calibri" pitchFamily="34" charset="0"/>
                <a:ea typeface="Calibri" pitchFamily="34" charset="-122"/>
                <a:cs typeface="Calibri" pitchFamily="34" charset="-120"/>
              </a:rPr>
              <a:t> helps to protect biodiversity.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benefit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challenge of turning farmland into a nature reserve.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fish stock fell from </a:t>
            </a:r>
            <a:r>
              <a:rPr lang="en-US" sz="1250" b="1" dirty="0">
                <a:solidFill>
                  <a:srgbClr val="262B3A"/>
                </a:solidFill>
                <a:latin typeface="Calibri" pitchFamily="34" charset="0"/>
                <a:ea typeface="Calibri" pitchFamily="34" charset="-122"/>
                <a:cs typeface="Calibri" pitchFamily="34" charset="-120"/>
              </a:rPr>
              <a:t>200</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50</a:t>
            </a:r>
            <a:r>
              <a:rPr lang="en-US" sz="1250" dirty="0">
                <a:solidFill>
                  <a:srgbClr val="262B3A"/>
                </a:solidFill>
                <a:latin typeface="Calibri" pitchFamily="34" charset="0"/>
                <a:ea typeface="Calibri" pitchFamily="34" charset="-122"/>
                <a:cs typeface="Calibri" pitchFamily="34" charset="-120"/>
              </a:rPr>
              <a:t> thousand tonnes. Calculate the percentage decrease.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why international agreements are needed to protect whales.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Comparing two sites: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B6.3.2 • recap of B3 sampling: is a wildflower meadow more diverse than a mown lawn?</a:t>
            </a:r>
            <a:endParaRPr lang="en-US" sz="1100" dirty="0"/>
          </a:p>
        </p:txBody>
      </p:sp>
      <p:sp>
        <p:nvSpPr>
          <p:cNvPr id="6" name="Shape 4"/>
          <p:cNvSpPr/>
          <p:nvPr/>
        </p:nvSpPr>
        <p:spPr>
          <a:xfrm>
            <a:off x="10024567" y="292608"/>
            <a:ext cx="1755648"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024567" y="292608"/>
            <a:ext cx="17556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ACTIVITY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Activity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0.5 m quadrat, two tape measures, random number table, identification key</a:t>
            </a:r>
            <a:endParaRPr lang="en-US" sz="1000" dirty="0"/>
          </a:p>
        </p:txBody>
      </p:sp>
      <p:sp>
        <p:nvSpPr>
          <p:cNvPr id="12" name="Shape 10"/>
          <p:cNvSpPr/>
          <p:nvPr/>
        </p:nvSpPr>
        <p:spPr>
          <a:xfrm>
            <a:off x="685800" y="1417320"/>
            <a:ext cx="2834640" cy="2651760"/>
          </a:xfrm>
          <a:prstGeom prst="rect">
            <a:avLst/>
          </a:prstGeom>
          <a:solidFill>
            <a:srgbClr val="DDEFD2"/>
          </a:solidFill>
          <a:ln w="15875">
            <a:solidFill>
              <a:srgbClr val="5E9E4A"/>
            </a:solidFill>
            <a:prstDash val="solid"/>
          </a:ln>
        </p:spPr>
      </p:sp>
      <p:sp>
        <p:nvSpPr>
          <p:cNvPr id="13" name="Shape 11"/>
          <p:cNvSpPr/>
          <p:nvPr/>
        </p:nvSpPr>
        <p:spPr>
          <a:xfrm>
            <a:off x="685800" y="4069080"/>
            <a:ext cx="2834640" cy="91"/>
          </a:xfrm>
          <a:prstGeom prst="line">
            <a:avLst/>
          </a:prstGeom>
          <a:noFill/>
          <a:ln w="50800">
            <a:solidFill>
              <a:srgbClr val="E0B030"/>
            </a:solidFill>
            <a:prstDash val="solid"/>
          </a:ln>
        </p:spPr>
      </p:sp>
      <p:sp>
        <p:nvSpPr>
          <p:cNvPr id="14" name="Shape 12"/>
          <p:cNvSpPr/>
          <p:nvPr/>
        </p:nvSpPr>
        <p:spPr>
          <a:xfrm flipV="1">
            <a:off x="685800" y="1417320"/>
            <a:ext cx="91" cy="2651760"/>
          </a:xfrm>
          <a:prstGeom prst="line">
            <a:avLst/>
          </a:prstGeom>
          <a:noFill/>
          <a:ln w="50800">
            <a:solidFill>
              <a:srgbClr val="E0B030"/>
            </a:solidFill>
            <a:prstDash val="solid"/>
          </a:ln>
        </p:spPr>
      </p:sp>
      <p:sp>
        <p:nvSpPr>
          <p:cNvPr id="15" name="Text 13"/>
          <p:cNvSpPr/>
          <p:nvPr/>
        </p:nvSpPr>
        <p:spPr>
          <a:xfrm>
            <a:off x="685800" y="4160520"/>
            <a:ext cx="283464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tape measures along two edges</a:t>
            </a:r>
            <a:endParaRPr lang="en-US" sz="1000" dirty="0"/>
          </a:p>
        </p:txBody>
      </p:sp>
      <p:sp>
        <p:nvSpPr>
          <p:cNvPr id="16" name="Shape 14"/>
          <p:cNvSpPr/>
          <p:nvPr/>
        </p:nvSpPr>
        <p:spPr>
          <a:xfrm>
            <a:off x="1188720" y="1828800"/>
            <a:ext cx="320040" cy="320040"/>
          </a:xfrm>
          <a:prstGeom prst="rect">
            <a:avLst/>
          </a:prstGeom>
          <a:ln w="19050">
            <a:solidFill>
              <a:srgbClr val="7A6A4A"/>
            </a:solidFill>
            <a:prstDash val="solid"/>
          </a:ln>
        </p:spPr>
      </p:sp>
      <p:sp>
        <p:nvSpPr>
          <p:cNvPr id="17" name="Text 15"/>
          <p:cNvSpPr/>
          <p:nvPr/>
        </p:nvSpPr>
        <p:spPr>
          <a:xfrm>
            <a:off x="1188720" y="1828800"/>
            <a:ext cx="320040" cy="32004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a:t>
            </a:r>
            <a:endParaRPr lang="en-US" sz="1000" dirty="0"/>
          </a:p>
        </p:txBody>
      </p:sp>
      <p:sp>
        <p:nvSpPr>
          <p:cNvPr id="18" name="Shape 16"/>
          <p:cNvSpPr/>
          <p:nvPr/>
        </p:nvSpPr>
        <p:spPr>
          <a:xfrm>
            <a:off x="2377440" y="1645920"/>
            <a:ext cx="320040" cy="320040"/>
          </a:xfrm>
          <a:prstGeom prst="rect">
            <a:avLst/>
          </a:prstGeom>
          <a:ln w="19050">
            <a:solidFill>
              <a:srgbClr val="7A6A4A"/>
            </a:solidFill>
            <a:prstDash val="solid"/>
          </a:ln>
        </p:spPr>
      </p:sp>
      <p:sp>
        <p:nvSpPr>
          <p:cNvPr id="19" name="Text 17"/>
          <p:cNvSpPr/>
          <p:nvPr/>
        </p:nvSpPr>
        <p:spPr>
          <a:xfrm>
            <a:off x="2377440" y="1645920"/>
            <a:ext cx="320040" cy="32004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a:t>
            </a:r>
            <a:endParaRPr lang="en-US" sz="1000" dirty="0"/>
          </a:p>
        </p:txBody>
      </p:sp>
      <p:sp>
        <p:nvSpPr>
          <p:cNvPr id="20" name="Shape 18"/>
          <p:cNvSpPr/>
          <p:nvPr/>
        </p:nvSpPr>
        <p:spPr>
          <a:xfrm>
            <a:off x="1737360" y="2743200"/>
            <a:ext cx="320040" cy="320040"/>
          </a:xfrm>
          <a:prstGeom prst="rect">
            <a:avLst/>
          </a:prstGeom>
          <a:ln w="19050">
            <a:solidFill>
              <a:srgbClr val="7A6A4A"/>
            </a:solidFill>
            <a:prstDash val="solid"/>
          </a:ln>
        </p:spPr>
      </p:sp>
      <p:sp>
        <p:nvSpPr>
          <p:cNvPr id="21" name="Text 19"/>
          <p:cNvSpPr/>
          <p:nvPr/>
        </p:nvSpPr>
        <p:spPr>
          <a:xfrm>
            <a:off x="1737360" y="2743200"/>
            <a:ext cx="320040" cy="32004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3</a:t>
            </a:r>
            <a:endParaRPr lang="en-US" sz="1000" dirty="0"/>
          </a:p>
        </p:txBody>
      </p:sp>
      <p:sp>
        <p:nvSpPr>
          <p:cNvPr id="22" name="Shape 20"/>
          <p:cNvSpPr/>
          <p:nvPr/>
        </p:nvSpPr>
        <p:spPr>
          <a:xfrm>
            <a:off x="2834640" y="3108960"/>
            <a:ext cx="320040" cy="320040"/>
          </a:xfrm>
          <a:prstGeom prst="rect">
            <a:avLst/>
          </a:prstGeom>
          <a:ln w="19050">
            <a:solidFill>
              <a:srgbClr val="7A6A4A"/>
            </a:solidFill>
            <a:prstDash val="solid"/>
          </a:ln>
        </p:spPr>
      </p:sp>
      <p:sp>
        <p:nvSpPr>
          <p:cNvPr id="23" name="Text 21"/>
          <p:cNvSpPr/>
          <p:nvPr/>
        </p:nvSpPr>
        <p:spPr>
          <a:xfrm>
            <a:off x="2834640" y="3108960"/>
            <a:ext cx="320040" cy="32004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4</a:t>
            </a:r>
            <a:endParaRPr lang="en-US" sz="1000" dirty="0"/>
          </a:p>
        </p:txBody>
      </p:sp>
      <p:sp>
        <p:nvSpPr>
          <p:cNvPr id="24" name="Shape 22"/>
          <p:cNvSpPr/>
          <p:nvPr/>
        </p:nvSpPr>
        <p:spPr>
          <a:xfrm>
            <a:off x="1005840" y="3429000"/>
            <a:ext cx="320040" cy="320040"/>
          </a:xfrm>
          <a:prstGeom prst="rect">
            <a:avLst/>
          </a:prstGeom>
          <a:ln w="19050">
            <a:solidFill>
              <a:srgbClr val="7A6A4A"/>
            </a:solidFill>
            <a:prstDash val="solid"/>
          </a:ln>
        </p:spPr>
      </p:sp>
      <p:sp>
        <p:nvSpPr>
          <p:cNvPr id="25" name="Text 23"/>
          <p:cNvSpPr/>
          <p:nvPr/>
        </p:nvSpPr>
        <p:spPr>
          <a:xfrm>
            <a:off x="1005840" y="3429000"/>
            <a:ext cx="320040" cy="32004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685800" y="1143000"/>
            <a:ext cx="2834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Site A</a:t>
            </a:r>
            <a:r>
              <a:rPr lang="en-US" sz="1050" dirty="0">
                <a:solidFill>
                  <a:srgbClr val="262B3A"/>
                </a:solidFill>
                <a:latin typeface="Calibri" pitchFamily="34" charset="0"/>
                <a:ea typeface="Calibri" pitchFamily="34" charset="-122"/>
                <a:cs typeface="Calibri" pitchFamily="34" charset="-120"/>
              </a:rPr>
              <a:t>: unmown meadow</a:t>
            </a:r>
            <a:endParaRPr lang="en-US" sz="1050" dirty="0"/>
          </a:p>
        </p:txBody>
      </p:sp>
      <p:sp>
        <p:nvSpPr>
          <p:cNvPr id="27" name="Shape 25"/>
          <p:cNvSpPr/>
          <p:nvPr/>
        </p:nvSpPr>
        <p:spPr>
          <a:xfrm>
            <a:off x="3840480" y="1463040"/>
            <a:ext cx="1828800" cy="1828800"/>
          </a:xfrm>
          <a:prstGeom prst="rect">
            <a:avLst/>
          </a:prstGeom>
          <a:solidFill>
            <a:srgbClr val="DDEFD2"/>
          </a:solidFill>
          <a:ln w="31750">
            <a:solidFill>
              <a:srgbClr val="7A6A4A"/>
            </a:solidFill>
            <a:prstDash val="solid"/>
          </a:ln>
        </p:spPr>
      </p:sp>
      <p:sp>
        <p:nvSpPr>
          <p:cNvPr id="28" name="Shape 26"/>
          <p:cNvSpPr/>
          <p:nvPr/>
        </p:nvSpPr>
        <p:spPr>
          <a:xfrm>
            <a:off x="4206240" y="1463040"/>
            <a:ext cx="91" cy="1828800"/>
          </a:xfrm>
          <a:prstGeom prst="line">
            <a:avLst/>
          </a:prstGeom>
          <a:noFill/>
          <a:ln w="9525">
            <a:solidFill>
              <a:srgbClr val="A08F6A"/>
            </a:solidFill>
            <a:prstDash val="solid"/>
          </a:ln>
        </p:spPr>
      </p:sp>
      <p:sp>
        <p:nvSpPr>
          <p:cNvPr id="29" name="Shape 27"/>
          <p:cNvSpPr/>
          <p:nvPr/>
        </p:nvSpPr>
        <p:spPr>
          <a:xfrm>
            <a:off x="3840480" y="1828800"/>
            <a:ext cx="1828800" cy="91"/>
          </a:xfrm>
          <a:prstGeom prst="line">
            <a:avLst/>
          </a:prstGeom>
          <a:noFill/>
          <a:ln w="9525">
            <a:solidFill>
              <a:srgbClr val="A08F6A"/>
            </a:solidFill>
            <a:prstDash val="solid"/>
          </a:ln>
        </p:spPr>
      </p:sp>
      <p:sp>
        <p:nvSpPr>
          <p:cNvPr id="30" name="Shape 28"/>
          <p:cNvSpPr/>
          <p:nvPr/>
        </p:nvSpPr>
        <p:spPr>
          <a:xfrm>
            <a:off x="4572000" y="1463040"/>
            <a:ext cx="91" cy="1828800"/>
          </a:xfrm>
          <a:prstGeom prst="line">
            <a:avLst/>
          </a:prstGeom>
          <a:noFill/>
          <a:ln w="9525">
            <a:solidFill>
              <a:srgbClr val="A08F6A"/>
            </a:solidFill>
            <a:prstDash val="solid"/>
          </a:ln>
        </p:spPr>
      </p:sp>
      <p:sp>
        <p:nvSpPr>
          <p:cNvPr id="31" name="Shape 29"/>
          <p:cNvSpPr/>
          <p:nvPr/>
        </p:nvSpPr>
        <p:spPr>
          <a:xfrm>
            <a:off x="3840480" y="2194560"/>
            <a:ext cx="1828800" cy="91"/>
          </a:xfrm>
          <a:prstGeom prst="line">
            <a:avLst/>
          </a:prstGeom>
          <a:noFill/>
          <a:ln w="9525">
            <a:solidFill>
              <a:srgbClr val="A08F6A"/>
            </a:solidFill>
            <a:prstDash val="solid"/>
          </a:ln>
        </p:spPr>
      </p:sp>
      <p:sp>
        <p:nvSpPr>
          <p:cNvPr id="32" name="Shape 30"/>
          <p:cNvSpPr/>
          <p:nvPr/>
        </p:nvSpPr>
        <p:spPr>
          <a:xfrm>
            <a:off x="4937760" y="1463040"/>
            <a:ext cx="91" cy="1828800"/>
          </a:xfrm>
          <a:prstGeom prst="line">
            <a:avLst/>
          </a:prstGeom>
          <a:noFill/>
          <a:ln w="9525">
            <a:solidFill>
              <a:srgbClr val="A08F6A"/>
            </a:solidFill>
            <a:prstDash val="solid"/>
          </a:ln>
        </p:spPr>
      </p:sp>
      <p:sp>
        <p:nvSpPr>
          <p:cNvPr id="33" name="Shape 31"/>
          <p:cNvSpPr/>
          <p:nvPr/>
        </p:nvSpPr>
        <p:spPr>
          <a:xfrm>
            <a:off x="3840480" y="2560320"/>
            <a:ext cx="1828800" cy="91"/>
          </a:xfrm>
          <a:prstGeom prst="line">
            <a:avLst/>
          </a:prstGeom>
          <a:noFill/>
          <a:ln w="9525">
            <a:solidFill>
              <a:srgbClr val="A08F6A"/>
            </a:solidFill>
            <a:prstDash val="solid"/>
          </a:ln>
        </p:spPr>
      </p:sp>
      <p:sp>
        <p:nvSpPr>
          <p:cNvPr id="34" name="Shape 32"/>
          <p:cNvSpPr/>
          <p:nvPr/>
        </p:nvSpPr>
        <p:spPr>
          <a:xfrm>
            <a:off x="5303520" y="1463040"/>
            <a:ext cx="91" cy="1828800"/>
          </a:xfrm>
          <a:prstGeom prst="line">
            <a:avLst/>
          </a:prstGeom>
          <a:noFill/>
          <a:ln w="9525">
            <a:solidFill>
              <a:srgbClr val="A08F6A"/>
            </a:solidFill>
            <a:prstDash val="solid"/>
          </a:ln>
        </p:spPr>
      </p:sp>
      <p:sp>
        <p:nvSpPr>
          <p:cNvPr id="35" name="Shape 33"/>
          <p:cNvSpPr/>
          <p:nvPr/>
        </p:nvSpPr>
        <p:spPr>
          <a:xfrm>
            <a:off x="3840480" y="2926080"/>
            <a:ext cx="1828800" cy="91"/>
          </a:xfrm>
          <a:prstGeom prst="line">
            <a:avLst/>
          </a:prstGeom>
          <a:noFill/>
          <a:ln w="9525">
            <a:solidFill>
              <a:srgbClr val="A08F6A"/>
            </a:solidFill>
            <a:prstDash val="solid"/>
          </a:ln>
        </p:spPr>
      </p:sp>
      <p:sp>
        <p:nvSpPr>
          <p:cNvPr id="36" name="Shape 34"/>
          <p:cNvSpPr/>
          <p:nvPr/>
        </p:nvSpPr>
        <p:spPr>
          <a:xfrm flipV="1">
            <a:off x="4160520" y="1810512"/>
            <a:ext cx="91" cy="201168"/>
          </a:xfrm>
          <a:prstGeom prst="line">
            <a:avLst/>
          </a:prstGeom>
          <a:noFill/>
          <a:ln w="15875">
            <a:solidFill>
              <a:srgbClr val="3E7F2E"/>
            </a:solidFill>
            <a:prstDash val="solid"/>
          </a:ln>
        </p:spPr>
      </p:sp>
      <p:sp>
        <p:nvSpPr>
          <p:cNvPr id="37" name="Shape 35"/>
          <p:cNvSpPr/>
          <p:nvPr/>
        </p:nvSpPr>
        <p:spPr>
          <a:xfrm>
            <a:off x="4123944" y="1732788"/>
            <a:ext cx="73152" cy="73152"/>
          </a:xfrm>
          <a:prstGeom prst="ellipse">
            <a:avLst/>
          </a:prstGeom>
          <a:solidFill>
            <a:srgbClr val="E8C43A"/>
          </a:solidFill>
          <a:ln w="9525">
            <a:solidFill>
              <a:srgbClr val="E8C43A"/>
            </a:solidFill>
            <a:prstDash val="solid"/>
          </a:ln>
        </p:spPr>
      </p:sp>
      <p:sp>
        <p:nvSpPr>
          <p:cNvPr id="38" name="Shape 36"/>
          <p:cNvSpPr/>
          <p:nvPr/>
        </p:nvSpPr>
        <p:spPr>
          <a:xfrm>
            <a:off x="4165092" y="1773936"/>
            <a:ext cx="73152" cy="73152"/>
          </a:xfrm>
          <a:prstGeom prst="ellipse">
            <a:avLst/>
          </a:prstGeom>
          <a:solidFill>
            <a:srgbClr val="E8C43A"/>
          </a:solidFill>
          <a:ln w="9525">
            <a:solidFill>
              <a:srgbClr val="E8C43A"/>
            </a:solidFill>
            <a:prstDash val="solid"/>
          </a:ln>
        </p:spPr>
      </p:sp>
      <p:sp>
        <p:nvSpPr>
          <p:cNvPr id="39" name="Shape 37"/>
          <p:cNvSpPr/>
          <p:nvPr/>
        </p:nvSpPr>
        <p:spPr>
          <a:xfrm>
            <a:off x="4123944" y="1815084"/>
            <a:ext cx="73152" cy="73152"/>
          </a:xfrm>
          <a:prstGeom prst="ellipse">
            <a:avLst/>
          </a:prstGeom>
          <a:solidFill>
            <a:srgbClr val="E8C43A"/>
          </a:solidFill>
          <a:ln w="9525">
            <a:solidFill>
              <a:srgbClr val="E8C43A"/>
            </a:solidFill>
            <a:prstDash val="solid"/>
          </a:ln>
        </p:spPr>
      </p:sp>
      <p:sp>
        <p:nvSpPr>
          <p:cNvPr id="40" name="Shape 38"/>
          <p:cNvSpPr/>
          <p:nvPr/>
        </p:nvSpPr>
        <p:spPr>
          <a:xfrm>
            <a:off x="4082796" y="1773936"/>
            <a:ext cx="73152" cy="73152"/>
          </a:xfrm>
          <a:prstGeom prst="ellipse">
            <a:avLst/>
          </a:prstGeom>
          <a:solidFill>
            <a:srgbClr val="E8C43A"/>
          </a:solidFill>
          <a:ln w="9525">
            <a:solidFill>
              <a:srgbClr val="E8C43A"/>
            </a:solidFill>
            <a:prstDash val="solid"/>
          </a:ln>
        </p:spPr>
      </p:sp>
      <p:sp>
        <p:nvSpPr>
          <p:cNvPr id="41" name="Shape 39"/>
          <p:cNvSpPr/>
          <p:nvPr/>
        </p:nvSpPr>
        <p:spPr>
          <a:xfrm>
            <a:off x="4133088" y="1783080"/>
            <a:ext cx="54864" cy="54864"/>
          </a:xfrm>
          <a:prstGeom prst="ellipse">
            <a:avLst/>
          </a:prstGeom>
          <a:solidFill>
            <a:srgbClr val="A0522D"/>
          </a:solidFill>
          <a:ln w="9525">
            <a:solidFill>
              <a:srgbClr val="A0522D"/>
            </a:solidFill>
            <a:prstDash val="solid"/>
          </a:ln>
        </p:spPr>
      </p:sp>
      <p:sp>
        <p:nvSpPr>
          <p:cNvPr id="42" name="Shape 40"/>
          <p:cNvSpPr/>
          <p:nvPr/>
        </p:nvSpPr>
        <p:spPr>
          <a:xfrm flipV="1">
            <a:off x="4846320" y="2176272"/>
            <a:ext cx="91" cy="201168"/>
          </a:xfrm>
          <a:prstGeom prst="line">
            <a:avLst/>
          </a:prstGeom>
          <a:noFill/>
          <a:ln w="15875">
            <a:solidFill>
              <a:srgbClr val="3E7F2E"/>
            </a:solidFill>
            <a:prstDash val="solid"/>
          </a:ln>
        </p:spPr>
      </p:sp>
      <p:sp>
        <p:nvSpPr>
          <p:cNvPr id="43" name="Shape 41"/>
          <p:cNvSpPr/>
          <p:nvPr/>
        </p:nvSpPr>
        <p:spPr>
          <a:xfrm>
            <a:off x="4809744" y="2098548"/>
            <a:ext cx="73152" cy="73152"/>
          </a:xfrm>
          <a:prstGeom prst="ellipse">
            <a:avLst/>
          </a:prstGeom>
          <a:solidFill>
            <a:srgbClr val="C8414C"/>
          </a:solidFill>
          <a:ln w="9525">
            <a:solidFill>
              <a:srgbClr val="C8414C"/>
            </a:solidFill>
            <a:prstDash val="solid"/>
          </a:ln>
        </p:spPr>
      </p:sp>
      <p:sp>
        <p:nvSpPr>
          <p:cNvPr id="44" name="Shape 42"/>
          <p:cNvSpPr/>
          <p:nvPr/>
        </p:nvSpPr>
        <p:spPr>
          <a:xfrm>
            <a:off x="4850892" y="2139696"/>
            <a:ext cx="73152" cy="73152"/>
          </a:xfrm>
          <a:prstGeom prst="ellipse">
            <a:avLst/>
          </a:prstGeom>
          <a:solidFill>
            <a:srgbClr val="C8414C"/>
          </a:solidFill>
          <a:ln w="9525">
            <a:solidFill>
              <a:srgbClr val="C8414C"/>
            </a:solidFill>
            <a:prstDash val="solid"/>
          </a:ln>
        </p:spPr>
      </p:sp>
      <p:sp>
        <p:nvSpPr>
          <p:cNvPr id="45" name="Shape 43"/>
          <p:cNvSpPr/>
          <p:nvPr/>
        </p:nvSpPr>
        <p:spPr>
          <a:xfrm>
            <a:off x="4809744" y="2180844"/>
            <a:ext cx="73152" cy="73152"/>
          </a:xfrm>
          <a:prstGeom prst="ellipse">
            <a:avLst/>
          </a:prstGeom>
          <a:solidFill>
            <a:srgbClr val="C8414C"/>
          </a:solidFill>
          <a:ln w="9525">
            <a:solidFill>
              <a:srgbClr val="C8414C"/>
            </a:solidFill>
            <a:prstDash val="solid"/>
          </a:ln>
        </p:spPr>
      </p:sp>
      <p:sp>
        <p:nvSpPr>
          <p:cNvPr id="46" name="Shape 44"/>
          <p:cNvSpPr/>
          <p:nvPr/>
        </p:nvSpPr>
        <p:spPr>
          <a:xfrm>
            <a:off x="4768596" y="2139696"/>
            <a:ext cx="73152" cy="73152"/>
          </a:xfrm>
          <a:prstGeom prst="ellipse">
            <a:avLst/>
          </a:prstGeom>
          <a:solidFill>
            <a:srgbClr val="C8414C"/>
          </a:solidFill>
          <a:ln w="9525">
            <a:solidFill>
              <a:srgbClr val="C8414C"/>
            </a:solidFill>
            <a:prstDash val="solid"/>
          </a:ln>
        </p:spPr>
      </p:sp>
      <p:sp>
        <p:nvSpPr>
          <p:cNvPr id="47" name="Shape 45"/>
          <p:cNvSpPr/>
          <p:nvPr/>
        </p:nvSpPr>
        <p:spPr>
          <a:xfrm>
            <a:off x="4818888" y="2148840"/>
            <a:ext cx="54864" cy="54864"/>
          </a:xfrm>
          <a:prstGeom prst="ellipse">
            <a:avLst/>
          </a:prstGeom>
          <a:solidFill>
            <a:srgbClr val="A0522D"/>
          </a:solidFill>
          <a:ln w="9525">
            <a:solidFill>
              <a:srgbClr val="A0522D"/>
            </a:solidFill>
            <a:prstDash val="solid"/>
          </a:ln>
        </p:spPr>
      </p:sp>
      <p:sp>
        <p:nvSpPr>
          <p:cNvPr id="48" name="Shape 46"/>
          <p:cNvSpPr/>
          <p:nvPr/>
        </p:nvSpPr>
        <p:spPr>
          <a:xfrm flipV="1">
            <a:off x="5349240" y="2633472"/>
            <a:ext cx="91" cy="201168"/>
          </a:xfrm>
          <a:prstGeom prst="line">
            <a:avLst/>
          </a:prstGeom>
          <a:noFill/>
          <a:ln w="15875">
            <a:solidFill>
              <a:srgbClr val="3E7F2E"/>
            </a:solidFill>
            <a:prstDash val="solid"/>
          </a:ln>
        </p:spPr>
      </p:sp>
      <p:sp>
        <p:nvSpPr>
          <p:cNvPr id="49" name="Shape 47"/>
          <p:cNvSpPr/>
          <p:nvPr/>
        </p:nvSpPr>
        <p:spPr>
          <a:xfrm>
            <a:off x="5312664" y="2555748"/>
            <a:ext cx="73152" cy="73152"/>
          </a:xfrm>
          <a:prstGeom prst="ellipse">
            <a:avLst/>
          </a:prstGeom>
          <a:solidFill>
            <a:srgbClr val="F2F2F2"/>
          </a:solidFill>
          <a:ln w="9525">
            <a:solidFill>
              <a:srgbClr val="F2F2F2"/>
            </a:solidFill>
            <a:prstDash val="solid"/>
          </a:ln>
        </p:spPr>
      </p:sp>
      <p:sp>
        <p:nvSpPr>
          <p:cNvPr id="50" name="Shape 48"/>
          <p:cNvSpPr/>
          <p:nvPr/>
        </p:nvSpPr>
        <p:spPr>
          <a:xfrm>
            <a:off x="5353812" y="2596896"/>
            <a:ext cx="73152" cy="73152"/>
          </a:xfrm>
          <a:prstGeom prst="ellipse">
            <a:avLst/>
          </a:prstGeom>
          <a:solidFill>
            <a:srgbClr val="F2F2F2"/>
          </a:solidFill>
          <a:ln w="9525">
            <a:solidFill>
              <a:srgbClr val="F2F2F2"/>
            </a:solidFill>
            <a:prstDash val="solid"/>
          </a:ln>
        </p:spPr>
      </p:sp>
      <p:sp>
        <p:nvSpPr>
          <p:cNvPr id="51" name="Shape 49"/>
          <p:cNvSpPr/>
          <p:nvPr/>
        </p:nvSpPr>
        <p:spPr>
          <a:xfrm>
            <a:off x="5312664" y="2638044"/>
            <a:ext cx="73152" cy="73152"/>
          </a:xfrm>
          <a:prstGeom prst="ellipse">
            <a:avLst/>
          </a:prstGeom>
          <a:solidFill>
            <a:srgbClr val="F2F2F2"/>
          </a:solidFill>
          <a:ln w="9525">
            <a:solidFill>
              <a:srgbClr val="F2F2F2"/>
            </a:solidFill>
            <a:prstDash val="solid"/>
          </a:ln>
        </p:spPr>
      </p:sp>
      <p:sp>
        <p:nvSpPr>
          <p:cNvPr id="52" name="Shape 50"/>
          <p:cNvSpPr/>
          <p:nvPr/>
        </p:nvSpPr>
        <p:spPr>
          <a:xfrm>
            <a:off x="5271516" y="2596896"/>
            <a:ext cx="73152" cy="73152"/>
          </a:xfrm>
          <a:prstGeom prst="ellipse">
            <a:avLst/>
          </a:prstGeom>
          <a:solidFill>
            <a:srgbClr val="F2F2F2"/>
          </a:solidFill>
          <a:ln w="9525">
            <a:solidFill>
              <a:srgbClr val="F2F2F2"/>
            </a:solidFill>
            <a:prstDash val="solid"/>
          </a:ln>
        </p:spPr>
      </p:sp>
      <p:sp>
        <p:nvSpPr>
          <p:cNvPr id="53" name="Shape 51"/>
          <p:cNvSpPr/>
          <p:nvPr/>
        </p:nvSpPr>
        <p:spPr>
          <a:xfrm>
            <a:off x="5321808" y="2606040"/>
            <a:ext cx="54864" cy="54864"/>
          </a:xfrm>
          <a:prstGeom prst="ellipse">
            <a:avLst/>
          </a:prstGeom>
          <a:solidFill>
            <a:srgbClr val="A0522D"/>
          </a:solidFill>
          <a:ln w="9525">
            <a:solidFill>
              <a:srgbClr val="A0522D"/>
            </a:solidFill>
            <a:prstDash val="solid"/>
          </a:ln>
        </p:spPr>
      </p:sp>
      <p:sp>
        <p:nvSpPr>
          <p:cNvPr id="54" name="Shape 52"/>
          <p:cNvSpPr/>
          <p:nvPr/>
        </p:nvSpPr>
        <p:spPr>
          <a:xfrm flipV="1">
            <a:off x="4389120" y="2816352"/>
            <a:ext cx="91" cy="201168"/>
          </a:xfrm>
          <a:prstGeom prst="line">
            <a:avLst/>
          </a:prstGeom>
          <a:noFill/>
          <a:ln w="15875">
            <a:solidFill>
              <a:srgbClr val="3E7F2E"/>
            </a:solidFill>
            <a:prstDash val="solid"/>
          </a:ln>
        </p:spPr>
      </p:sp>
      <p:sp>
        <p:nvSpPr>
          <p:cNvPr id="55" name="Shape 53"/>
          <p:cNvSpPr/>
          <p:nvPr/>
        </p:nvSpPr>
        <p:spPr>
          <a:xfrm>
            <a:off x="4352544" y="2738628"/>
            <a:ext cx="73152" cy="73152"/>
          </a:xfrm>
          <a:prstGeom prst="ellipse">
            <a:avLst/>
          </a:prstGeom>
          <a:solidFill>
            <a:srgbClr val="8E44AD"/>
          </a:solidFill>
          <a:ln w="9525">
            <a:solidFill>
              <a:srgbClr val="8E44AD"/>
            </a:solidFill>
            <a:prstDash val="solid"/>
          </a:ln>
        </p:spPr>
      </p:sp>
      <p:sp>
        <p:nvSpPr>
          <p:cNvPr id="56" name="Shape 54"/>
          <p:cNvSpPr/>
          <p:nvPr/>
        </p:nvSpPr>
        <p:spPr>
          <a:xfrm>
            <a:off x="4393692" y="2779776"/>
            <a:ext cx="73152" cy="73152"/>
          </a:xfrm>
          <a:prstGeom prst="ellipse">
            <a:avLst/>
          </a:prstGeom>
          <a:solidFill>
            <a:srgbClr val="8E44AD"/>
          </a:solidFill>
          <a:ln w="9525">
            <a:solidFill>
              <a:srgbClr val="8E44AD"/>
            </a:solidFill>
            <a:prstDash val="solid"/>
          </a:ln>
        </p:spPr>
      </p:sp>
      <p:sp>
        <p:nvSpPr>
          <p:cNvPr id="57" name="Shape 55"/>
          <p:cNvSpPr/>
          <p:nvPr/>
        </p:nvSpPr>
        <p:spPr>
          <a:xfrm>
            <a:off x="4352544" y="2820924"/>
            <a:ext cx="73152" cy="73152"/>
          </a:xfrm>
          <a:prstGeom prst="ellipse">
            <a:avLst/>
          </a:prstGeom>
          <a:solidFill>
            <a:srgbClr val="8E44AD"/>
          </a:solidFill>
          <a:ln w="9525">
            <a:solidFill>
              <a:srgbClr val="8E44AD"/>
            </a:solidFill>
            <a:prstDash val="solid"/>
          </a:ln>
        </p:spPr>
      </p:sp>
      <p:sp>
        <p:nvSpPr>
          <p:cNvPr id="58" name="Shape 56"/>
          <p:cNvSpPr/>
          <p:nvPr/>
        </p:nvSpPr>
        <p:spPr>
          <a:xfrm>
            <a:off x="4311396" y="2779776"/>
            <a:ext cx="73152" cy="73152"/>
          </a:xfrm>
          <a:prstGeom prst="ellipse">
            <a:avLst/>
          </a:prstGeom>
          <a:solidFill>
            <a:srgbClr val="8E44AD"/>
          </a:solidFill>
          <a:ln w="9525">
            <a:solidFill>
              <a:srgbClr val="8E44AD"/>
            </a:solidFill>
            <a:prstDash val="solid"/>
          </a:ln>
        </p:spPr>
      </p:sp>
      <p:sp>
        <p:nvSpPr>
          <p:cNvPr id="59" name="Shape 57"/>
          <p:cNvSpPr/>
          <p:nvPr/>
        </p:nvSpPr>
        <p:spPr>
          <a:xfrm>
            <a:off x="4361688" y="2788920"/>
            <a:ext cx="54864" cy="54864"/>
          </a:xfrm>
          <a:prstGeom prst="ellipse">
            <a:avLst/>
          </a:prstGeom>
          <a:solidFill>
            <a:srgbClr val="A0522D"/>
          </a:solidFill>
          <a:ln w="9525">
            <a:solidFill>
              <a:srgbClr val="A0522D"/>
            </a:solidFill>
            <a:prstDash val="solid"/>
          </a:ln>
        </p:spPr>
      </p:sp>
      <p:sp>
        <p:nvSpPr>
          <p:cNvPr id="60" name="Shape 58"/>
          <p:cNvSpPr/>
          <p:nvPr/>
        </p:nvSpPr>
        <p:spPr>
          <a:xfrm flipH="1" flipV="1">
            <a:off x="3977640" y="3072384"/>
            <a:ext cx="36576" cy="128016"/>
          </a:xfrm>
          <a:prstGeom prst="line">
            <a:avLst/>
          </a:prstGeom>
          <a:noFill/>
          <a:ln w="12700">
            <a:solidFill>
              <a:srgbClr val="5E9E4A"/>
            </a:solidFill>
            <a:prstDash val="solid"/>
          </a:ln>
        </p:spPr>
      </p:sp>
      <p:sp>
        <p:nvSpPr>
          <p:cNvPr id="61" name="Shape 59"/>
          <p:cNvSpPr/>
          <p:nvPr/>
        </p:nvSpPr>
        <p:spPr>
          <a:xfrm flipV="1">
            <a:off x="4178808" y="3072384"/>
            <a:ext cx="36576" cy="128016"/>
          </a:xfrm>
          <a:prstGeom prst="line">
            <a:avLst/>
          </a:prstGeom>
          <a:noFill/>
          <a:ln w="12700">
            <a:solidFill>
              <a:srgbClr val="5E9E4A"/>
            </a:solidFill>
            <a:prstDash val="solid"/>
          </a:ln>
        </p:spPr>
      </p:sp>
      <p:sp>
        <p:nvSpPr>
          <p:cNvPr id="62" name="Shape 60"/>
          <p:cNvSpPr/>
          <p:nvPr/>
        </p:nvSpPr>
        <p:spPr>
          <a:xfrm flipH="1" flipV="1">
            <a:off x="4306824" y="3072384"/>
            <a:ext cx="36576" cy="128016"/>
          </a:xfrm>
          <a:prstGeom prst="line">
            <a:avLst/>
          </a:prstGeom>
          <a:noFill/>
          <a:ln w="12700">
            <a:solidFill>
              <a:srgbClr val="5E9E4A"/>
            </a:solidFill>
            <a:prstDash val="solid"/>
          </a:ln>
        </p:spPr>
      </p:sp>
      <p:sp>
        <p:nvSpPr>
          <p:cNvPr id="63" name="Shape 61"/>
          <p:cNvSpPr/>
          <p:nvPr/>
        </p:nvSpPr>
        <p:spPr>
          <a:xfrm flipV="1">
            <a:off x="4507992" y="3072384"/>
            <a:ext cx="36576" cy="128016"/>
          </a:xfrm>
          <a:prstGeom prst="line">
            <a:avLst/>
          </a:prstGeom>
          <a:noFill/>
          <a:ln w="12700">
            <a:solidFill>
              <a:srgbClr val="5E9E4A"/>
            </a:solidFill>
            <a:prstDash val="solid"/>
          </a:ln>
        </p:spPr>
      </p:sp>
      <p:sp>
        <p:nvSpPr>
          <p:cNvPr id="64" name="Shape 62"/>
          <p:cNvSpPr/>
          <p:nvPr/>
        </p:nvSpPr>
        <p:spPr>
          <a:xfrm flipH="1" flipV="1">
            <a:off x="4636008" y="3072384"/>
            <a:ext cx="36576" cy="128016"/>
          </a:xfrm>
          <a:prstGeom prst="line">
            <a:avLst/>
          </a:prstGeom>
          <a:noFill/>
          <a:ln w="12700">
            <a:solidFill>
              <a:srgbClr val="5E9E4A"/>
            </a:solidFill>
            <a:prstDash val="solid"/>
          </a:ln>
        </p:spPr>
      </p:sp>
      <p:sp>
        <p:nvSpPr>
          <p:cNvPr id="65" name="Shape 63"/>
          <p:cNvSpPr/>
          <p:nvPr/>
        </p:nvSpPr>
        <p:spPr>
          <a:xfrm flipV="1">
            <a:off x="4837176" y="3072384"/>
            <a:ext cx="36576" cy="128016"/>
          </a:xfrm>
          <a:prstGeom prst="line">
            <a:avLst/>
          </a:prstGeom>
          <a:noFill/>
          <a:ln w="12700">
            <a:solidFill>
              <a:srgbClr val="5E9E4A"/>
            </a:solidFill>
            <a:prstDash val="solid"/>
          </a:ln>
        </p:spPr>
      </p:sp>
      <p:sp>
        <p:nvSpPr>
          <p:cNvPr id="66" name="Shape 64"/>
          <p:cNvSpPr/>
          <p:nvPr/>
        </p:nvSpPr>
        <p:spPr>
          <a:xfrm flipH="1" flipV="1">
            <a:off x="4965192" y="3072384"/>
            <a:ext cx="36576" cy="128016"/>
          </a:xfrm>
          <a:prstGeom prst="line">
            <a:avLst/>
          </a:prstGeom>
          <a:noFill/>
          <a:ln w="12700">
            <a:solidFill>
              <a:srgbClr val="5E9E4A"/>
            </a:solidFill>
            <a:prstDash val="solid"/>
          </a:ln>
        </p:spPr>
      </p:sp>
      <p:sp>
        <p:nvSpPr>
          <p:cNvPr id="67" name="Shape 65"/>
          <p:cNvSpPr/>
          <p:nvPr/>
        </p:nvSpPr>
        <p:spPr>
          <a:xfrm flipV="1">
            <a:off x="5166360" y="3072384"/>
            <a:ext cx="36576" cy="128016"/>
          </a:xfrm>
          <a:prstGeom prst="line">
            <a:avLst/>
          </a:prstGeom>
          <a:noFill/>
          <a:ln w="12700">
            <a:solidFill>
              <a:srgbClr val="5E9E4A"/>
            </a:solidFill>
            <a:prstDash val="solid"/>
          </a:ln>
        </p:spPr>
      </p:sp>
      <p:sp>
        <p:nvSpPr>
          <p:cNvPr id="68" name="Shape 66"/>
          <p:cNvSpPr/>
          <p:nvPr/>
        </p:nvSpPr>
        <p:spPr>
          <a:xfrm flipH="1" flipV="1">
            <a:off x="5294376" y="3072384"/>
            <a:ext cx="36576" cy="128016"/>
          </a:xfrm>
          <a:prstGeom prst="line">
            <a:avLst/>
          </a:prstGeom>
          <a:noFill/>
          <a:ln w="12700">
            <a:solidFill>
              <a:srgbClr val="5E9E4A"/>
            </a:solidFill>
            <a:prstDash val="solid"/>
          </a:ln>
        </p:spPr>
      </p:sp>
      <p:sp>
        <p:nvSpPr>
          <p:cNvPr id="69" name="Shape 67"/>
          <p:cNvSpPr/>
          <p:nvPr/>
        </p:nvSpPr>
        <p:spPr>
          <a:xfrm flipV="1">
            <a:off x="5495544" y="3072384"/>
            <a:ext cx="36576" cy="128016"/>
          </a:xfrm>
          <a:prstGeom prst="line">
            <a:avLst/>
          </a:prstGeom>
          <a:noFill/>
          <a:ln w="12700">
            <a:solidFill>
              <a:srgbClr val="5E9E4A"/>
            </a:solidFill>
            <a:prstDash val="solid"/>
          </a:ln>
        </p:spPr>
      </p:sp>
      <p:sp>
        <p:nvSpPr>
          <p:cNvPr id="70" name="Shape 68"/>
          <p:cNvSpPr/>
          <p:nvPr/>
        </p:nvSpPr>
        <p:spPr>
          <a:xfrm>
            <a:off x="5047488" y="1709928"/>
            <a:ext cx="146304" cy="146304"/>
          </a:xfrm>
          <a:prstGeom prst="ellipse">
            <a:avLst/>
          </a:prstGeom>
          <a:solidFill>
            <a:srgbClr val="7DBE6A"/>
          </a:solidFill>
          <a:ln w="9525">
            <a:solidFill>
              <a:srgbClr val="3E7F2E"/>
            </a:solidFill>
            <a:prstDash val="solid"/>
          </a:ln>
        </p:spPr>
      </p:sp>
      <p:sp>
        <p:nvSpPr>
          <p:cNvPr id="71" name="Shape 69"/>
          <p:cNvSpPr/>
          <p:nvPr/>
        </p:nvSpPr>
        <p:spPr>
          <a:xfrm>
            <a:off x="3931920" y="2468880"/>
            <a:ext cx="182880" cy="182880"/>
          </a:xfrm>
          <a:prstGeom prst="ellipse">
            <a:avLst/>
          </a:prstGeom>
          <a:solidFill>
            <a:srgbClr val="9BC53D"/>
          </a:solidFill>
          <a:ln w="9525">
            <a:solidFill>
              <a:srgbClr val="3E7F2E"/>
            </a:solidFill>
            <a:prstDash val="solid"/>
          </a:ln>
        </p:spPr>
      </p:sp>
      <p:sp>
        <p:nvSpPr>
          <p:cNvPr id="72" name="Text 70"/>
          <p:cNvSpPr/>
          <p:nvPr/>
        </p:nvSpPr>
        <p:spPr>
          <a:xfrm>
            <a:off x="3840480" y="3337560"/>
            <a:ext cx="1828800" cy="36576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quadrat 0.5 m × 0.5 m = </a:t>
            </a:r>
            <a:r>
              <a:rPr lang="en-US" sz="1000" b="1" dirty="0">
                <a:solidFill>
                  <a:srgbClr val="262B3A"/>
                </a:solidFill>
                <a:latin typeface="Calibri" pitchFamily="34" charset="0"/>
                <a:ea typeface="Calibri" pitchFamily="34" charset="-122"/>
                <a:cs typeface="Calibri" pitchFamily="34" charset="-120"/>
              </a:rPr>
              <a:t>0.25 m²</a:t>
            </a:r>
            <a:endParaRPr lang="en-US" sz="1000" dirty="0"/>
          </a:p>
        </p:txBody>
      </p:sp>
      <p:sp>
        <p:nvSpPr>
          <p:cNvPr id="73" name="Shape 71"/>
          <p:cNvSpPr/>
          <p:nvPr/>
        </p:nvSpPr>
        <p:spPr>
          <a:xfrm>
            <a:off x="3840480" y="3794760"/>
            <a:ext cx="1828800" cy="960120"/>
          </a:xfrm>
          <a:prstGeom prst="roundRect">
            <a:avLst>
              <a:gd name="adj" fmla="val 4762"/>
            </a:avLst>
          </a:prstGeom>
          <a:solidFill>
            <a:srgbClr val="FFFFFF"/>
          </a:solidFill>
          <a:ln w="12700">
            <a:solidFill>
              <a:srgbClr val="CFE0DE"/>
            </a:solidFill>
            <a:prstDash val="solid"/>
          </a:ln>
        </p:spPr>
      </p:sp>
      <p:sp>
        <p:nvSpPr>
          <p:cNvPr id="74" name="Text 72"/>
          <p:cNvSpPr/>
          <p:nvPr/>
        </p:nvSpPr>
        <p:spPr>
          <a:xfrm>
            <a:off x="3886200" y="3822192"/>
            <a:ext cx="1737360" cy="896112"/>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Key</a:t>
            </a:r>
            <a:endParaRPr lang="en-US" sz="1000" dirty="0"/>
          </a:p>
          <a:p>
            <a:pPr algn="l" indent="0" marL="0">
              <a:buNone/>
            </a:pPr>
            <a:r>
              <a:rPr lang="en-US" sz="1000" dirty="0">
                <a:solidFill>
                  <a:srgbClr val="262B3A"/>
                </a:solidFill>
                <a:latin typeface="Calibri" pitchFamily="34" charset="0"/>
                <a:ea typeface="Calibri" pitchFamily="34" charset="-122"/>
                <a:cs typeface="Calibri" pitchFamily="34" charset="-120"/>
              </a:rPr>
              <a:t>1 Petals? yes → 2; no → grass</a:t>
            </a:r>
            <a:endParaRPr lang="en-US" sz="1000" dirty="0"/>
          </a:p>
          <a:p>
            <a:pPr algn="l" indent="0" marL="0">
              <a:buNone/>
            </a:pPr>
            <a:r>
              <a:rPr lang="en-US" sz="1000" dirty="0">
                <a:solidFill>
                  <a:srgbClr val="262B3A"/>
                </a:solidFill>
                <a:latin typeface="Calibri" pitchFamily="34" charset="0"/>
                <a:ea typeface="Calibri" pitchFamily="34" charset="-122"/>
                <a:cs typeface="Calibri" pitchFamily="34" charset="-120"/>
              </a:rPr>
              <a:t>2 Yellow? yes → buttercup; no → daisy</a:t>
            </a:r>
            <a:endParaRPr lang="en-US" sz="1000" dirty="0"/>
          </a:p>
        </p:txBody>
      </p:sp>
      <p:sp>
        <p:nvSpPr>
          <p:cNvPr id="75" name="Text 73"/>
          <p:cNvSpPr/>
          <p:nvPr/>
        </p:nvSpPr>
        <p:spPr>
          <a:xfrm>
            <a:off x="685800" y="4480560"/>
            <a:ext cx="292608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random coordinates from a random number generator</a:t>
            </a:r>
            <a:endParaRPr lang="en-US" sz="1000" dirty="0"/>
          </a:p>
        </p:txBody>
      </p:sp>
      <p:sp>
        <p:nvSpPr>
          <p:cNvPr id="76" name="Shape 74"/>
          <p:cNvSpPr/>
          <p:nvPr/>
        </p:nvSpPr>
        <p:spPr>
          <a:xfrm>
            <a:off x="6217920" y="1188720"/>
            <a:ext cx="5562295" cy="2971800"/>
          </a:xfrm>
          <a:prstGeom prst="roundRect">
            <a:avLst>
              <a:gd name="adj" fmla="val 1846"/>
            </a:avLst>
          </a:prstGeom>
          <a:solidFill>
            <a:srgbClr val="F4FAF9"/>
          </a:solidFill>
          <a:ln w="9525">
            <a:solidFill>
              <a:srgbClr val="CFE0DE"/>
            </a:solidFill>
            <a:prstDash val="solid"/>
          </a:ln>
        </p:spPr>
      </p:sp>
      <p:sp>
        <p:nvSpPr>
          <p:cNvPr id="77" name="Text 7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78" name="Text 76"/>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Lay two tapes at right angles along the edges of site A. Use </a:t>
            </a:r>
            <a:r>
              <a:rPr lang="en-US" sz="1100" b="1" dirty="0">
                <a:solidFill>
                  <a:srgbClr val="262B3A"/>
                </a:solidFill>
                <a:latin typeface="Calibri" pitchFamily="34" charset="0"/>
                <a:ea typeface="Calibri" pitchFamily="34" charset="-122"/>
                <a:cs typeface="Calibri" pitchFamily="34" charset="-120"/>
              </a:rPr>
              <a:t>random numbers</a:t>
            </a:r>
            <a:r>
              <a:rPr lang="en-US" sz="1100" dirty="0">
                <a:solidFill>
                  <a:srgbClr val="262B3A"/>
                </a:solidFill>
                <a:latin typeface="Calibri" pitchFamily="34" charset="0"/>
                <a:ea typeface="Calibri" pitchFamily="34" charset="-122"/>
                <a:cs typeface="Calibri" pitchFamily="34" charset="-120"/>
              </a:rPr>
              <a:t> as coordinates.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Place the quadrat at each coordinate. </a:t>
            </a:r>
            <a:r>
              <a:rPr lang="en-US" sz="1100" b="1" dirty="0">
                <a:solidFill>
                  <a:srgbClr val="262B3A"/>
                </a:solidFill>
                <a:latin typeface="Calibri" pitchFamily="34" charset="0"/>
                <a:ea typeface="Calibri" pitchFamily="34" charset="-122"/>
                <a:cs typeface="Calibri" pitchFamily="34" charset="-120"/>
              </a:rPr>
              <a:t>Identify</a:t>
            </a:r>
            <a:r>
              <a:rPr lang="en-US" sz="1100" dirty="0">
                <a:solidFill>
                  <a:srgbClr val="262B3A"/>
                </a:solidFill>
                <a:latin typeface="Calibri" pitchFamily="34" charset="0"/>
                <a:ea typeface="Calibri" pitchFamily="34" charset="-122"/>
                <a:cs typeface="Calibri" pitchFamily="34" charset="-120"/>
              </a:rPr>
              <a:t> and count the </a:t>
            </a:r>
            <a:r>
              <a:rPr lang="en-US" sz="1100" b="1" dirty="0">
                <a:solidFill>
                  <a:srgbClr val="262B3A"/>
                </a:solidFill>
                <a:latin typeface="Calibri" pitchFamily="34" charset="0"/>
                <a:ea typeface="Calibri" pitchFamily="34" charset="-122"/>
                <a:cs typeface="Calibri" pitchFamily="34" charset="-120"/>
              </a:rPr>
              <a:t>number of different species</a:t>
            </a:r>
            <a:r>
              <a:rPr lang="en-US" sz="1100" dirty="0">
                <a:solidFill>
                  <a:srgbClr val="262B3A"/>
                </a:solidFill>
                <a:latin typeface="Calibri" pitchFamily="34" charset="0"/>
                <a:ea typeface="Calibri" pitchFamily="34" charset="-122"/>
                <a:cs typeface="Calibri" pitchFamily="34" charset="-120"/>
              </a:rPr>
              <a:t> inside it (use a key).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Repeat for </a:t>
            </a:r>
            <a:r>
              <a:rPr lang="en-US" sz="1100" b="1" dirty="0">
                <a:solidFill>
                  <a:srgbClr val="262B3A"/>
                </a:solidFill>
                <a:latin typeface="Calibri" pitchFamily="34" charset="0"/>
                <a:ea typeface="Calibri" pitchFamily="34" charset="-122"/>
                <a:cs typeface="Calibri" pitchFamily="34" charset="-120"/>
              </a:rPr>
              <a:t>5</a:t>
            </a:r>
            <a:r>
              <a:rPr lang="en-US" sz="1100" dirty="0">
                <a:solidFill>
                  <a:srgbClr val="262B3A"/>
                </a:solidFill>
                <a:latin typeface="Calibri" pitchFamily="34" charset="0"/>
                <a:ea typeface="Calibri" pitchFamily="34" charset="-122"/>
                <a:cs typeface="Calibri" pitchFamily="34" charset="-120"/>
              </a:rPr>
              <a:t> quadrats (more is better), then do the same on site B (mown lawn).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IV</a:t>
            </a:r>
            <a:r>
              <a:rPr lang="en-US" sz="1100" dirty="0">
                <a:solidFill>
                  <a:srgbClr val="262B3A"/>
                </a:solidFill>
                <a:latin typeface="Calibri" pitchFamily="34" charset="0"/>
                <a:ea typeface="Calibri" pitchFamily="34" charset="-122"/>
                <a:cs typeface="Calibri" pitchFamily="34" charset="-120"/>
              </a:rPr>
              <a:t>: site (mown or unmown). </a:t>
            </a:r>
            <a:r>
              <a:rPr lang="en-US" sz="1100" b="1" dirty="0">
                <a:solidFill>
                  <a:srgbClr val="262B3A"/>
                </a:solidFill>
                <a:latin typeface="Calibri" pitchFamily="34" charset="0"/>
                <a:ea typeface="Calibri" pitchFamily="34" charset="-122"/>
                <a:cs typeface="Calibri" pitchFamily="34" charset="-120"/>
              </a:rPr>
              <a:t>DV</a:t>
            </a:r>
            <a:r>
              <a:rPr lang="en-US" sz="1100" dirty="0">
                <a:solidFill>
                  <a:srgbClr val="262B3A"/>
                </a:solidFill>
                <a:latin typeface="Calibri" pitchFamily="34" charset="0"/>
                <a:ea typeface="Calibri" pitchFamily="34" charset="-122"/>
                <a:cs typeface="Calibri" pitchFamily="34" charset="-120"/>
              </a:rPr>
              <a:t>: number of species per quadrat. </a:t>
            </a:r>
            <a:r>
              <a:rPr lang="en-US" sz="1100" b="1" dirty="0">
                <a:solidFill>
                  <a:srgbClr val="262B3A"/>
                </a:solidFill>
                <a:latin typeface="Calibri" pitchFamily="34" charset="0"/>
                <a:ea typeface="Calibri" pitchFamily="34" charset="-122"/>
                <a:cs typeface="Calibri" pitchFamily="34" charset="-120"/>
              </a:rPr>
              <a:t>Control</a:t>
            </a:r>
            <a:r>
              <a:rPr lang="en-US" sz="1100" dirty="0">
                <a:solidFill>
                  <a:srgbClr val="262B3A"/>
                </a:solidFill>
                <a:latin typeface="Calibri" pitchFamily="34" charset="0"/>
                <a:ea typeface="Calibri" pitchFamily="34" charset="-122"/>
                <a:cs typeface="Calibri" pitchFamily="34" charset="-120"/>
              </a:rPr>
              <a:t>: quadrat size, same day, same key and same person identifying.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Safety</a:t>
            </a:r>
            <a:r>
              <a:rPr lang="en-US" sz="1100" dirty="0">
                <a:solidFill>
                  <a:srgbClr val="262B3A"/>
                </a:solidFill>
                <a:latin typeface="Calibri" pitchFamily="34" charset="0"/>
                <a:ea typeface="Calibri" pitchFamily="34" charset="-122"/>
                <a:cs typeface="Calibri" pitchFamily="34" charset="-120"/>
              </a:rPr>
              <a:t>: wash hands; watch for stinging plants, dog mess and allergies.</a:t>
            </a:r>
            <a:endParaRPr lang="en-US" sz="1100" dirty="0"/>
          </a:p>
        </p:txBody>
      </p:sp>
      <p:sp>
        <p:nvSpPr>
          <p:cNvPr id="79" name="Shape 77"/>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80" name="Text 78"/>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much was sampled?</a:t>
            </a:r>
            <a:endParaRPr lang="en-US" sz="1300" dirty="0"/>
          </a:p>
        </p:txBody>
      </p:sp>
      <p:sp>
        <p:nvSpPr>
          <p:cNvPr id="81" name="Text 79"/>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Site A is 10 m × 10 m. Five 0.25 m² quadrats were used.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Site area   </a:t>
            </a:r>
            <a:r>
              <a:rPr lang="en-US" sz="1050" dirty="0">
                <a:solidFill>
                  <a:srgbClr val="262B3A"/>
                </a:solidFill>
                <a:latin typeface="Calibri" pitchFamily="34" charset="0"/>
                <a:ea typeface="Calibri" pitchFamily="34" charset="-122"/>
                <a:cs typeface="Calibri" pitchFamily="34" charset="-120"/>
              </a:rPr>
              <a:t>10 × 10 = 100 m²</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Sampled   </a:t>
            </a:r>
            <a:r>
              <a:rPr lang="en-US" sz="1050" dirty="0">
                <a:solidFill>
                  <a:srgbClr val="262B3A"/>
                </a:solidFill>
                <a:latin typeface="Calibri" pitchFamily="34" charset="0"/>
                <a:ea typeface="Calibri" pitchFamily="34" charset="-122"/>
                <a:cs typeface="Calibri" pitchFamily="34" charset="-120"/>
              </a:rPr>
              <a:t>5 × 0.25 = 1.25 m²</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1.25 ÷ 100 × 100 = </a:t>
            </a:r>
            <a:r>
              <a:rPr lang="en-US" sz="1050" b="1" dirty="0">
                <a:solidFill>
                  <a:srgbClr val="C8414C"/>
                </a:solidFill>
                <a:latin typeface="Calibri" pitchFamily="34" charset="0"/>
                <a:ea typeface="Calibri" pitchFamily="34" charset="-122"/>
                <a:cs typeface="Calibri" pitchFamily="34" charset="-120"/>
              </a:rPr>
              <a:t>1.25%</a:t>
            </a:r>
            <a:r>
              <a:rPr lang="en-US" sz="1050" b="1" dirty="0">
                <a:solidFill>
                  <a:srgbClr val="C8414C"/>
                </a:solidFill>
                <a:latin typeface="Calibri" pitchFamily="34" charset="0"/>
                <a:ea typeface="Calibri" pitchFamily="34" charset="-122"/>
                <a:cs typeface="Calibri" pitchFamily="34" charset="-120"/>
              </a:rPr>
              <a:t> of the site sampled</a:t>
            </a:r>
            <a:endParaRPr lang="en-US" sz="1050" dirty="0"/>
          </a:p>
        </p:txBody>
      </p:sp>
      <p:sp>
        <p:nvSpPr>
          <p:cNvPr id="82" name="Shape 80"/>
          <p:cNvSpPr/>
          <p:nvPr/>
        </p:nvSpPr>
        <p:spPr>
          <a:xfrm>
            <a:off x="411480" y="5833872"/>
            <a:ext cx="11368735" cy="530352"/>
          </a:xfrm>
          <a:prstGeom prst="rect">
            <a:avLst/>
          </a:prstGeom>
          <a:solidFill>
            <a:srgbClr val="FFF4E0"/>
          </a:solidFill>
          <a:ln w="6350">
            <a:solidFill>
              <a:srgbClr val="F1D9A8"/>
            </a:solidFill>
            <a:prstDash val="solid"/>
          </a:ln>
        </p:spPr>
      </p:sp>
      <p:sp>
        <p:nvSpPr>
          <p:cNvPr id="83" name="Shape 81"/>
          <p:cNvSpPr/>
          <p:nvPr/>
        </p:nvSpPr>
        <p:spPr>
          <a:xfrm>
            <a:off x="411480" y="5833872"/>
            <a:ext cx="82296" cy="530352"/>
          </a:xfrm>
          <a:prstGeom prst="rect">
            <a:avLst/>
          </a:prstGeom>
          <a:solidFill>
            <a:srgbClr val="E39A2F"/>
          </a:solidFill>
          <a:ln w="12700">
            <a:solidFill>
              <a:srgbClr val="E39A2F"/>
            </a:solidFill>
            <a:prstDash val="solid"/>
          </a:ln>
        </p:spPr>
      </p:sp>
      <p:sp>
        <p:nvSpPr>
          <p:cNvPr id="84" name="Text 8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are quadrats placed </a:t>
            </a:r>
            <a:r>
              <a:rPr lang="en-US" sz="1150" b="1" dirty="0">
                <a:solidFill>
                  <a:srgbClr val="262B3A"/>
                </a:solidFill>
                <a:latin typeface="Calibri" pitchFamily="34" charset="0"/>
                <a:ea typeface="Calibri" pitchFamily="34" charset="-122"/>
                <a:cs typeface="Calibri" pitchFamily="34" charset="-120"/>
              </a:rPr>
              <a:t>randomly</a:t>
            </a:r>
            <a:r>
              <a:rPr lang="en-US" sz="1150" dirty="0">
                <a:solidFill>
                  <a:srgbClr val="262B3A"/>
                </a:solidFill>
                <a:latin typeface="Calibri" pitchFamily="34" charset="0"/>
                <a:ea typeface="Calibri" pitchFamily="34" charset="-122"/>
                <a:cs typeface="Calibri" pitchFamily="34" charset="-120"/>
              </a:rPr>
              <a:t>? Why should 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quadrat size be used at both sites?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Comparing two sites: results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B6.3.2 • means, ranges and scaling up from quadrats</a:t>
            </a:r>
            <a:endParaRPr lang="en-US" sz="1100" dirty="0"/>
          </a:p>
        </p:txBody>
      </p:sp>
      <p:sp>
        <p:nvSpPr>
          <p:cNvPr id="6" name="Shape 4"/>
          <p:cNvSpPr/>
          <p:nvPr/>
        </p:nvSpPr>
        <p:spPr>
          <a:xfrm>
            <a:off x="10024567" y="292608"/>
            <a:ext cx="1755648"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024567" y="292608"/>
            <a:ext cx="17556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ACTIVITY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Activity  |  17</a:t>
            </a:r>
            <a:endParaRPr lang="en-US" sz="1000" dirty="0"/>
          </a:p>
        </p:txBody>
      </p:sp>
      <p:sp>
        <p:nvSpPr>
          <p:cNvPr id="10" name="Shape 8"/>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bar chart of mean species per quadrat, to scale; bars show the range</a:t>
            </a:r>
            <a:endParaRPr lang="en-US" sz="1000" dirty="0"/>
          </a:p>
        </p:txBody>
      </p:sp>
      <p:sp>
        <p:nvSpPr>
          <p:cNvPr id="12" name="Shape 10"/>
          <p:cNvSpPr/>
          <p:nvPr/>
        </p:nvSpPr>
        <p:spPr>
          <a:xfrm>
            <a:off x="1371600" y="1417320"/>
            <a:ext cx="4754880" cy="3291840"/>
          </a:xfrm>
          <a:prstGeom prst="rect">
            <a:avLst/>
          </a:prstGeom>
          <a:solidFill>
            <a:srgbClr val="FFFFFF"/>
          </a:solidFill>
          <a:ln/>
        </p:spPr>
      </p:sp>
      <p:sp>
        <p:nvSpPr>
          <p:cNvPr id="13" name="Shape 11"/>
          <p:cNvSpPr/>
          <p:nvPr/>
        </p:nvSpPr>
        <p:spPr>
          <a:xfrm>
            <a:off x="1371600" y="1417320"/>
            <a:ext cx="91" cy="3291840"/>
          </a:xfrm>
          <a:prstGeom prst="line">
            <a:avLst/>
          </a:prstGeom>
          <a:noFill/>
          <a:ln w="6350">
            <a:solidFill>
              <a:srgbClr val="C5DCD9"/>
            </a:solidFill>
            <a:prstDash val="solid"/>
          </a:ln>
        </p:spPr>
      </p:sp>
      <p:sp>
        <p:nvSpPr>
          <p:cNvPr id="14" name="Shape 12"/>
          <p:cNvSpPr/>
          <p:nvPr/>
        </p:nvSpPr>
        <p:spPr>
          <a:xfrm>
            <a:off x="2164080" y="1417320"/>
            <a:ext cx="91" cy="3291840"/>
          </a:xfrm>
          <a:prstGeom prst="line">
            <a:avLst/>
          </a:prstGeom>
          <a:noFill/>
          <a:ln w="6350">
            <a:solidFill>
              <a:srgbClr val="E3EFED"/>
            </a:solidFill>
            <a:prstDash val="solid"/>
          </a:ln>
        </p:spPr>
      </p:sp>
      <p:sp>
        <p:nvSpPr>
          <p:cNvPr id="15" name="Shape 13"/>
          <p:cNvSpPr/>
          <p:nvPr/>
        </p:nvSpPr>
        <p:spPr>
          <a:xfrm>
            <a:off x="2956560" y="1417320"/>
            <a:ext cx="91" cy="3291840"/>
          </a:xfrm>
          <a:prstGeom prst="line">
            <a:avLst/>
          </a:prstGeom>
          <a:noFill/>
          <a:ln w="6350">
            <a:solidFill>
              <a:srgbClr val="C5DCD9"/>
            </a:solidFill>
            <a:prstDash val="solid"/>
          </a:ln>
        </p:spPr>
      </p:sp>
      <p:sp>
        <p:nvSpPr>
          <p:cNvPr id="16" name="Shape 14"/>
          <p:cNvSpPr/>
          <p:nvPr/>
        </p:nvSpPr>
        <p:spPr>
          <a:xfrm>
            <a:off x="3749040" y="1417320"/>
            <a:ext cx="91" cy="3291840"/>
          </a:xfrm>
          <a:prstGeom prst="line">
            <a:avLst/>
          </a:prstGeom>
          <a:noFill/>
          <a:ln w="6350">
            <a:solidFill>
              <a:srgbClr val="E3EFED"/>
            </a:solidFill>
            <a:prstDash val="solid"/>
          </a:ln>
        </p:spPr>
      </p:sp>
      <p:sp>
        <p:nvSpPr>
          <p:cNvPr id="17" name="Shape 15"/>
          <p:cNvSpPr/>
          <p:nvPr/>
        </p:nvSpPr>
        <p:spPr>
          <a:xfrm>
            <a:off x="4541520" y="1417320"/>
            <a:ext cx="91" cy="3291840"/>
          </a:xfrm>
          <a:prstGeom prst="line">
            <a:avLst/>
          </a:prstGeom>
          <a:noFill/>
          <a:ln w="6350">
            <a:solidFill>
              <a:srgbClr val="C5DCD9"/>
            </a:solidFill>
            <a:prstDash val="solid"/>
          </a:ln>
        </p:spPr>
      </p:sp>
      <p:sp>
        <p:nvSpPr>
          <p:cNvPr id="18" name="Shape 16"/>
          <p:cNvSpPr/>
          <p:nvPr/>
        </p:nvSpPr>
        <p:spPr>
          <a:xfrm>
            <a:off x="5334000" y="1417320"/>
            <a:ext cx="91" cy="3291840"/>
          </a:xfrm>
          <a:prstGeom prst="line">
            <a:avLst/>
          </a:prstGeom>
          <a:noFill/>
          <a:ln w="6350">
            <a:solidFill>
              <a:srgbClr val="E3EFED"/>
            </a:solidFill>
            <a:prstDash val="solid"/>
          </a:ln>
        </p:spPr>
      </p:sp>
      <p:sp>
        <p:nvSpPr>
          <p:cNvPr id="19" name="Shape 17"/>
          <p:cNvSpPr/>
          <p:nvPr/>
        </p:nvSpPr>
        <p:spPr>
          <a:xfrm>
            <a:off x="6126480" y="1417320"/>
            <a:ext cx="91" cy="3291840"/>
          </a:xfrm>
          <a:prstGeom prst="line">
            <a:avLst/>
          </a:prstGeom>
          <a:noFill/>
          <a:ln w="6350">
            <a:solidFill>
              <a:srgbClr val="C5DCD9"/>
            </a:solidFill>
            <a:prstDash val="solid"/>
          </a:ln>
        </p:spPr>
      </p:sp>
      <p:sp>
        <p:nvSpPr>
          <p:cNvPr id="20" name="Shape 18"/>
          <p:cNvSpPr/>
          <p:nvPr/>
        </p:nvSpPr>
        <p:spPr>
          <a:xfrm>
            <a:off x="1371600" y="4709160"/>
            <a:ext cx="4754880" cy="91"/>
          </a:xfrm>
          <a:prstGeom prst="line">
            <a:avLst/>
          </a:prstGeom>
          <a:noFill/>
          <a:ln w="6350">
            <a:solidFill>
              <a:srgbClr val="C5DCD9"/>
            </a:solidFill>
            <a:prstDash val="solid"/>
          </a:ln>
        </p:spPr>
      </p:sp>
      <p:sp>
        <p:nvSpPr>
          <p:cNvPr id="21" name="Shape 19"/>
          <p:cNvSpPr/>
          <p:nvPr/>
        </p:nvSpPr>
        <p:spPr>
          <a:xfrm>
            <a:off x="1371600" y="4434840"/>
            <a:ext cx="4754880" cy="91"/>
          </a:xfrm>
          <a:prstGeom prst="line">
            <a:avLst/>
          </a:prstGeom>
          <a:noFill/>
          <a:ln w="6350">
            <a:solidFill>
              <a:srgbClr val="E3EFED"/>
            </a:solidFill>
            <a:prstDash val="solid"/>
          </a:ln>
        </p:spPr>
      </p:sp>
      <p:sp>
        <p:nvSpPr>
          <p:cNvPr id="22" name="Shape 20"/>
          <p:cNvSpPr/>
          <p:nvPr/>
        </p:nvSpPr>
        <p:spPr>
          <a:xfrm>
            <a:off x="1371600" y="4160520"/>
            <a:ext cx="4754880" cy="91"/>
          </a:xfrm>
          <a:prstGeom prst="line">
            <a:avLst/>
          </a:prstGeom>
          <a:noFill/>
          <a:ln w="6350">
            <a:solidFill>
              <a:srgbClr val="C5DCD9"/>
            </a:solidFill>
            <a:prstDash val="solid"/>
          </a:ln>
        </p:spPr>
      </p:sp>
      <p:sp>
        <p:nvSpPr>
          <p:cNvPr id="23" name="Shape 21"/>
          <p:cNvSpPr/>
          <p:nvPr/>
        </p:nvSpPr>
        <p:spPr>
          <a:xfrm>
            <a:off x="1371600" y="3886200"/>
            <a:ext cx="4754880" cy="91"/>
          </a:xfrm>
          <a:prstGeom prst="line">
            <a:avLst/>
          </a:prstGeom>
          <a:noFill/>
          <a:ln w="6350">
            <a:solidFill>
              <a:srgbClr val="E3EFED"/>
            </a:solidFill>
            <a:prstDash val="solid"/>
          </a:ln>
        </p:spPr>
      </p:sp>
      <p:sp>
        <p:nvSpPr>
          <p:cNvPr id="24" name="Shape 22"/>
          <p:cNvSpPr/>
          <p:nvPr/>
        </p:nvSpPr>
        <p:spPr>
          <a:xfrm>
            <a:off x="1371600" y="3611880"/>
            <a:ext cx="4754880" cy="91"/>
          </a:xfrm>
          <a:prstGeom prst="line">
            <a:avLst/>
          </a:prstGeom>
          <a:noFill/>
          <a:ln w="6350">
            <a:solidFill>
              <a:srgbClr val="C5DCD9"/>
            </a:solidFill>
            <a:prstDash val="solid"/>
          </a:ln>
        </p:spPr>
      </p:sp>
      <p:sp>
        <p:nvSpPr>
          <p:cNvPr id="25" name="Shape 23"/>
          <p:cNvSpPr/>
          <p:nvPr/>
        </p:nvSpPr>
        <p:spPr>
          <a:xfrm>
            <a:off x="1371600" y="3337560"/>
            <a:ext cx="4754880" cy="91"/>
          </a:xfrm>
          <a:prstGeom prst="line">
            <a:avLst/>
          </a:prstGeom>
          <a:noFill/>
          <a:ln w="6350">
            <a:solidFill>
              <a:srgbClr val="E3EFED"/>
            </a:solidFill>
            <a:prstDash val="solid"/>
          </a:ln>
        </p:spPr>
      </p:sp>
      <p:sp>
        <p:nvSpPr>
          <p:cNvPr id="26" name="Shape 24"/>
          <p:cNvSpPr/>
          <p:nvPr/>
        </p:nvSpPr>
        <p:spPr>
          <a:xfrm>
            <a:off x="1371600" y="3063240"/>
            <a:ext cx="4754880" cy="91"/>
          </a:xfrm>
          <a:prstGeom prst="line">
            <a:avLst/>
          </a:prstGeom>
          <a:noFill/>
          <a:ln w="6350">
            <a:solidFill>
              <a:srgbClr val="C5DCD9"/>
            </a:solidFill>
            <a:prstDash val="solid"/>
          </a:ln>
        </p:spPr>
      </p:sp>
      <p:sp>
        <p:nvSpPr>
          <p:cNvPr id="27" name="Shape 25"/>
          <p:cNvSpPr/>
          <p:nvPr/>
        </p:nvSpPr>
        <p:spPr>
          <a:xfrm>
            <a:off x="1371600" y="2788920"/>
            <a:ext cx="4754880" cy="91"/>
          </a:xfrm>
          <a:prstGeom prst="line">
            <a:avLst/>
          </a:prstGeom>
          <a:noFill/>
          <a:ln w="6350">
            <a:solidFill>
              <a:srgbClr val="E3EFED"/>
            </a:solidFill>
            <a:prstDash val="solid"/>
          </a:ln>
        </p:spPr>
      </p:sp>
      <p:sp>
        <p:nvSpPr>
          <p:cNvPr id="28" name="Shape 26"/>
          <p:cNvSpPr/>
          <p:nvPr/>
        </p:nvSpPr>
        <p:spPr>
          <a:xfrm>
            <a:off x="1371600" y="2514600"/>
            <a:ext cx="4754880" cy="91"/>
          </a:xfrm>
          <a:prstGeom prst="line">
            <a:avLst/>
          </a:prstGeom>
          <a:noFill/>
          <a:ln w="6350">
            <a:solidFill>
              <a:srgbClr val="C5DCD9"/>
            </a:solidFill>
            <a:prstDash val="solid"/>
          </a:ln>
        </p:spPr>
      </p:sp>
      <p:sp>
        <p:nvSpPr>
          <p:cNvPr id="29" name="Shape 27"/>
          <p:cNvSpPr/>
          <p:nvPr/>
        </p:nvSpPr>
        <p:spPr>
          <a:xfrm>
            <a:off x="1371600" y="2240280"/>
            <a:ext cx="4754880" cy="91"/>
          </a:xfrm>
          <a:prstGeom prst="line">
            <a:avLst/>
          </a:prstGeom>
          <a:noFill/>
          <a:ln w="6350">
            <a:solidFill>
              <a:srgbClr val="E3EFED"/>
            </a:solidFill>
            <a:prstDash val="solid"/>
          </a:ln>
        </p:spPr>
      </p:sp>
      <p:sp>
        <p:nvSpPr>
          <p:cNvPr id="30" name="Shape 28"/>
          <p:cNvSpPr/>
          <p:nvPr/>
        </p:nvSpPr>
        <p:spPr>
          <a:xfrm>
            <a:off x="1371600" y="1965960"/>
            <a:ext cx="4754880" cy="91"/>
          </a:xfrm>
          <a:prstGeom prst="line">
            <a:avLst/>
          </a:prstGeom>
          <a:noFill/>
          <a:ln w="6350">
            <a:solidFill>
              <a:srgbClr val="C5DCD9"/>
            </a:solidFill>
            <a:prstDash val="solid"/>
          </a:ln>
        </p:spPr>
      </p:sp>
      <p:sp>
        <p:nvSpPr>
          <p:cNvPr id="31" name="Shape 29"/>
          <p:cNvSpPr/>
          <p:nvPr/>
        </p:nvSpPr>
        <p:spPr>
          <a:xfrm>
            <a:off x="1371600" y="1691640"/>
            <a:ext cx="4754880" cy="91"/>
          </a:xfrm>
          <a:prstGeom prst="line">
            <a:avLst/>
          </a:prstGeom>
          <a:noFill/>
          <a:ln w="6350">
            <a:solidFill>
              <a:srgbClr val="E3EFED"/>
            </a:solidFill>
            <a:prstDash val="solid"/>
          </a:ln>
        </p:spPr>
      </p:sp>
      <p:sp>
        <p:nvSpPr>
          <p:cNvPr id="32" name="Shape 30"/>
          <p:cNvSpPr/>
          <p:nvPr/>
        </p:nvSpPr>
        <p:spPr>
          <a:xfrm>
            <a:off x="1371600" y="1417320"/>
            <a:ext cx="4754880" cy="91"/>
          </a:xfrm>
          <a:prstGeom prst="line">
            <a:avLst/>
          </a:prstGeom>
          <a:noFill/>
          <a:ln w="6350">
            <a:solidFill>
              <a:srgbClr val="C5DCD9"/>
            </a:solidFill>
            <a:prstDash val="solid"/>
          </a:ln>
        </p:spPr>
      </p:sp>
      <p:sp>
        <p:nvSpPr>
          <p:cNvPr id="33" name="Shape 31"/>
          <p:cNvSpPr/>
          <p:nvPr/>
        </p:nvSpPr>
        <p:spPr>
          <a:xfrm>
            <a:off x="1371600" y="4709160"/>
            <a:ext cx="4754880" cy="91"/>
          </a:xfrm>
          <a:prstGeom prst="line">
            <a:avLst/>
          </a:prstGeom>
          <a:noFill/>
          <a:ln w="19050">
            <a:solidFill>
              <a:srgbClr val="133536"/>
            </a:solidFill>
            <a:prstDash val="solid"/>
          </a:ln>
        </p:spPr>
      </p:sp>
      <p:sp>
        <p:nvSpPr>
          <p:cNvPr id="34" name="Shape 32"/>
          <p:cNvSpPr/>
          <p:nvPr/>
        </p:nvSpPr>
        <p:spPr>
          <a:xfrm flipV="1">
            <a:off x="1371600" y="1417320"/>
            <a:ext cx="91" cy="3291840"/>
          </a:xfrm>
          <a:prstGeom prst="line">
            <a:avLst/>
          </a:prstGeom>
          <a:noFill/>
          <a:ln w="19050">
            <a:solidFill>
              <a:srgbClr val="133536"/>
            </a:solidFill>
            <a:prstDash val="solid"/>
          </a:ln>
        </p:spPr>
      </p:sp>
      <p:sp>
        <p:nvSpPr>
          <p:cNvPr id="35" name="Shape 33"/>
          <p:cNvSpPr/>
          <p:nvPr/>
        </p:nvSpPr>
        <p:spPr>
          <a:xfrm>
            <a:off x="1371600" y="4709160"/>
            <a:ext cx="91" cy="54864"/>
          </a:xfrm>
          <a:prstGeom prst="line">
            <a:avLst/>
          </a:prstGeom>
          <a:noFill/>
          <a:ln w="12700">
            <a:solidFill>
              <a:srgbClr val="133536"/>
            </a:solidFill>
            <a:prstDash val="solid"/>
          </a:ln>
        </p:spPr>
      </p:sp>
      <p:sp>
        <p:nvSpPr>
          <p:cNvPr id="36" name="Text 34"/>
          <p:cNvSpPr/>
          <p:nvPr/>
        </p:nvSpPr>
        <p:spPr>
          <a:xfrm>
            <a:off x="109728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5"/>
          <p:cNvSpPr/>
          <p:nvPr/>
        </p:nvSpPr>
        <p:spPr>
          <a:xfrm>
            <a:off x="2956560" y="4709160"/>
            <a:ext cx="91" cy="54864"/>
          </a:xfrm>
          <a:prstGeom prst="line">
            <a:avLst/>
          </a:prstGeom>
          <a:noFill/>
          <a:ln w="12700">
            <a:solidFill>
              <a:srgbClr val="133536"/>
            </a:solidFill>
            <a:prstDash val="solid"/>
          </a:ln>
        </p:spPr>
      </p:sp>
      <p:sp>
        <p:nvSpPr>
          <p:cNvPr id="38" name="Text 36"/>
          <p:cNvSpPr/>
          <p:nvPr/>
        </p:nvSpPr>
        <p:spPr>
          <a:xfrm>
            <a:off x="268224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39" name="Shape 37"/>
          <p:cNvSpPr/>
          <p:nvPr/>
        </p:nvSpPr>
        <p:spPr>
          <a:xfrm>
            <a:off x="4541520" y="4709160"/>
            <a:ext cx="91" cy="54864"/>
          </a:xfrm>
          <a:prstGeom prst="line">
            <a:avLst/>
          </a:prstGeom>
          <a:noFill/>
          <a:ln w="12700">
            <a:solidFill>
              <a:srgbClr val="133536"/>
            </a:solidFill>
            <a:prstDash val="solid"/>
          </a:ln>
        </p:spPr>
      </p:sp>
      <p:sp>
        <p:nvSpPr>
          <p:cNvPr id="40" name="Text 38"/>
          <p:cNvSpPr/>
          <p:nvPr/>
        </p:nvSpPr>
        <p:spPr>
          <a:xfrm>
            <a:off x="426720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41" name="Shape 39"/>
          <p:cNvSpPr/>
          <p:nvPr/>
        </p:nvSpPr>
        <p:spPr>
          <a:xfrm>
            <a:off x="6126480" y="4709160"/>
            <a:ext cx="91" cy="54864"/>
          </a:xfrm>
          <a:prstGeom prst="line">
            <a:avLst/>
          </a:prstGeom>
          <a:noFill/>
          <a:ln w="12700">
            <a:solidFill>
              <a:srgbClr val="133536"/>
            </a:solidFill>
            <a:prstDash val="solid"/>
          </a:ln>
        </p:spPr>
      </p:sp>
      <p:sp>
        <p:nvSpPr>
          <p:cNvPr id="42" name="Text 40"/>
          <p:cNvSpPr/>
          <p:nvPr/>
        </p:nvSpPr>
        <p:spPr>
          <a:xfrm>
            <a:off x="585216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43" name="Shape 41"/>
          <p:cNvSpPr/>
          <p:nvPr/>
        </p:nvSpPr>
        <p:spPr>
          <a:xfrm>
            <a:off x="1316736" y="4709160"/>
            <a:ext cx="54864" cy="91"/>
          </a:xfrm>
          <a:prstGeom prst="line">
            <a:avLst/>
          </a:prstGeom>
          <a:noFill/>
          <a:ln w="12700">
            <a:solidFill>
              <a:srgbClr val="133536"/>
            </a:solidFill>
            <a:prstDash val="solid"/>
          </a:ln>
        </p:spPr>
      </p:sp>
      <p:sp>
        <p:nvSpPr>
          <p:cNvPr id="44" name="Text 42"/>
          <p:cNvSpPr/>
          <p:nvPr/>
        </p:nvSpPr>
        <p:spPr>
          <a:xfrm>
            <a:off x="93268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1316736" y="4160520"/>
            <a:ext cx="54864" cy="91"/>
          </a:xfrm>
          <a:prstGeom prst="line">
            <a:avLst/>
          </a:prstGeom>
          <a:noFill/>
          <a:ln w="12700">
            <a:solidFill>
              <a:srgbClr val="133536"/>
            </a:solidFill>
            <a:prstDash val="solid"/>
          </a:ln>
        </p:spPr>
      </p:sp>
      <p:sp>
        <p:nvSpPr>
          <p:cNvPr id="46" name="Text 44"/>
          <p:cNvSpPr/>
          <p:nvPr/>
        </p:nvSpPr>
        <p:spPr>
          <a:xfrm>
            <a:off x="932688" y="4069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1316736" y="3611880"/>
            <a:ext cx="54864" cy="91"/>
          </a:xfrm>
          <a:prstGeom prst="line">
            <a:avLst/>
          </a:prstGeom>
          <a:noFill/>
          <a:ln w="12700">
            <a:solidFill>
              <a:srgbClr val="133536"/>
            </a:solidFill>
            <a:prstDash val="solid"/>
          </a:ln>
        </p:spPr>
      </p:sp>
      <p:sp>
        <p:nvSpPr>
          <p:cNvPr id="48" name="Text 46"/>
          <p:cNvSpPr/>
          <p:nvPr/>
        </p:nvSpPr>
        <p:spPr>
          <a:xfrm>
            <a:off x="932688" y="35204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9" name="Shape 47"/>
          <p:cNvSpPr/>
          <p:nvPr/>
        </p:nvSpPr>
        <p:spPr>
          <a:xfrm>
            <a:off x="1316736" y="3063240"/>
            <a:ext cx="54864" cy="91"/>
          </a:xfrm>
          <a:prstGeom prst="line">
            <a:avLst/>
          </a:prstGeom>
          <a:noFill/>
          <a:ln w="12700">
            <a:solidFill>
              <a:srgbClr val="133536"/>
            </a:solidFill>
            <a:prstDash val="solid"/>
          </a:ln>
        </p:spPr>
      </p:sp>
      <p:sp>
        <p:nvSpPr>
          <p:cNvPr id="50" name="Text 48"/>
          <p:cNvSpPr/>
          <p:nvPr/>
        </p:nvSpPr>
        <p:spPr>
          <a:xfrm>
            <a:off x="93268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1" name="Shape 49"/>
          <p:cNvSpPr/>
          <p:nvPr/>
        </p:nvSpPr>
        <p:spPr>
          <a:xfrm>
            <a:off x="1316736" y="2514600"/>
            <a:ext cx="54864" cy="91"/>
          </a:xfrm>
          <a:prstGeom prst="line">
            <a:avLst/>
          </a:prstGeom>
          <a:noFill/>
          <a:ln w="12700">
            <a:solidFill>
              <a:srgbClr val="133536"/>
            </a:solidFill>
            <a:prstDash val="solid"/>
          </a:ln>
        </p:spPr>
      </p:sp>
      <p:sp>
        <p:nvSpPr>
          <p:cNvPr id="52" name="Text 50"/>
          <p:cNvSpPr/>
          <p:nvPr/>
        </p:nvSpPr>
        <p:spPr>
          <a:xfrm>
            <a:off x="93268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3" name="Shape 51"/>
          <p:cNvSpPr/>
          <p:nvPr/>
        </p:nvSpPr>
        <p:spPr>
          <a:xfrm>
            <a:off x="1316736" y="1965960"/>
            <a:ext cx="54864" cy="91"/>
          </a:xfrm>
          <a:prstGeom prst="line">
            <a:avLst/>
          </a:prstGeom>
          <a:noFill/>
          <a:ln w="12700">
            <a:solidFill>
              <a:srgbClr val="133536"/>
            </a:solidFill>
            <a:prstDash val="solid"/>
          </a:ln>
        </p:spPr>
      </p:sp>
      <p:sp>
        <p:nvSpPr>
          <p:cNvPr id="54" name="Text 52"/>
          <p:cNvSpPr/>
          <p:nvPr/>
        </p:nvSpPr>
        <p:spPr>
          <a:xfrm>
            <a:off x="932688" y="18745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5" name="Shape 53"/>
          <p:cNvSpPr/>
          <p:nvPr/>
        </p:nvSpPr>
        <p:spPr>
          <a:xfrm>
            <a:off x="1316736" y="1417320"/>
            <a:ext cx="54864" cy="91"/>
          </a:xfrm>
          <a:prstGeom prst="line">
            <a:avLst/>
          </a:prstGeom>
          <a:noFill/>
          <a:ln w="12700">
            <a:solidFill>
              <a:srgbClr val="133536"/>
            </a:solidFill>
            <a:prstDash val="solid"/>
          </a:ln>
        </p:spPr>
      </p:sp>
      <p:sp>
        <p:nvSpPr>
          <p:cNvPr id="56" name="Text 54"/>
          <p:cNvSpPr/>
          <p:nvPr/>
        </p:nvSpPr>
        <p:spPr>
          <a:xfrm>
            <a:off x="9326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57" name="Text 55"/>
          <p:cNvSpPr/>
          <p:nvPr/>
        </p:nvSpPr>
        <p:spPr>
          <a:xfrm rot="16200000">
            <a:off x="-84124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Species per quadrat</a:t>
            </a:r>
            <a:endParaRPr lang="en-US" sz="1050" dirty="0"/>
          </a:p>
        </p:txBody>
      </p:sp>
      <p:sp>
        <p:nvSpPr>
          <p:cNvPr id="58" name="Shape 56"/>
          <p:cNvSpPr/>
          <p:nvPr/>
        </p:nvSpPr>
        <p:spPr>
          <a:xfrm>
            <a:off x="2623718" y="2514600"/>
            <a:ext cx="665683" cy="2194560"/>
          </a:xfrm>
          <a:prstGeom prst="rect">
            <a:avLst/>
          </a:prstGeom>
          <a:solidFill>
            <a:srgbClr val="7DBE6A"/>
          </a:solidFill>
          <a:ln w="9525">
            <a:solidFill>
              <a:srgbClr val="133536"/>
            </a:solidFill>
            <a:prstDash val="solid"/>
          </a:ln>
        </p:spPr>
      </p:sp>
      <p:sp>
        <p:nvSpPr>
          <p:cNvPr id="59" name="Shape 57"/>
          <p:cNvSpPr/>
          <p:nvPr/>
        </p:nvSpPr>
        <p:spPr>
          <a:xfrm>
            <a:off x="4208678" y="3886200"/>
            <a:ext cx="665683" cy="822960"/>
          </a:xfrm>
          <a:prstGeom prst="rect">
            <a:avLst/>
          </a:prstGeom>
          <a:solidFill>
            <a:srgbClr val="C9B21E"/>
          </a:solidFill>
          <a:ln w="9525">
            <a:solidFill>
              <a:srgbClr val="133536"/>
            </a:solidFill>
            <a:prstDash val="solid"/>
          </a:ln>
        </p:spPr>
      </p:sp>
      <p:sp>
        <p:nvSpPr>
          <p:cNvPr id="60" name="Shape 58"/>
          <p:cNvSpPr/>
          <p:nvPr/>
        </p:nvSpPr>
        <p:spPr>
          <a:xfrm>
            <a:off x="2956560" y="1965960"/>
            <a:ext cx="91" cy="1097280"/>
          </a:xfrm>
          <a:prstGeom prst="line">
            <a:avLst/>
          </a:prstGeom>
          <a:noFill/>
          <a:ln w="19050">
            <a:solidFill>
              <a:srgbClr val="133536"/>
            </a:solidFill>
            <a:prstDash val="solid"/>
          </a:ln>
        </p:spPr>
      </p:sp>
      <p:sp>
        <p:nvSpPr>
          <p:cNvPr id="61" name="Shape 59"/>
          <p:cNvSpPr/>
          <p:nvPr/>
        </p:nvSpPr>
        <p:spPr>
          <a:xfrm>
            <a:off x="2846832" y="1965960"/>
            <a:ext cx="219456" cy="91"/>
          </a:xfrm>
          <a:prstGeom prst="line">
            <a:avLst/>
          </a:prstGeom>
          <a:noFill/>
          <a:ln w="19050">
            <a:solidFill>
              <a:srgbClr val="133536"/>
            </a:solidFill>
            <a:prstDash val="solid"/>
          </a:ln>
        </p:spPr>
      </p:sp>
      <p:sp>
        <p:nvSpPr>
          <p:cNvPr id="62" name="Shape 60"/>
          <p:cNvSpPr/>
          <p:nvPr/>
        </p:nvSpPr>
        <p:spPr>
          <a:xfrm>
            <a:off x="2846832" y="3063240"/>
            <a:ext cx="219456" cy="91"/>
          </a:xfrm>
          <a:prstGeom prst="line">
            <a:avLst/>
          </a:prstGeom>
          <a:noFill/>
          <a:ln w="19050">
            <a:solidFill>
              <a:srgbClr val="133536"/>
            </a:solidFill>
            <a:prstDash val="solid"/>
          </a:ln>
        </p:spPr>
      </p:sp>
      <p:sp>
        <p:nvSpPr>
          <p:cNvPr id="63" name="Shape 61"/>
          <p:cNvSpPr/>
          <p:nvPr/>
        </p:nvSpPr>
        <p:spPr>
          <a:xfrm>
            <a:off x="4541520" y="3611880"/>
            <a:ext cx="91" cy="548640"/>
          </a:xfrm>
          <a:prstGeom prst="line">
            <a:avLst/>
          </a:prstGeom>
          <a:noFill/>
          <a:ln w="19050">
            <a:solidFill>
              <a:srgbClr val="133536"/>
            </a:solidFill>
            <a:prstDash val="solid"/>
          </a:ln>
        </p:spPr>
      </p:sp>
      <p:sp>
        <p:nvSpPr>
          <p:cNvPr id="64" name="Shape 62"/>
          <p:cNvSpPr/>
          <p:nvPr/>
        </p:nvSpPr>
        <p:spPr>
          <a:xfrm>
            <a:off x="4431792" y="3611880"/>
            <a:ext cx="219456" cy="91"/>
          </a:xfrm>
          <a:prstGeom prst="line">
            <a:avLst/>
          </a:prstGeom>
          <a:noFill/>
          <a:ln w="19050">
            <a:solidFill>
              <a:srgbClr val="133536"/>
            </a:solidFill>
            <a:prstDash val="solid"/>
          </a:ln>
        </p:spPr>
      </p:sp>
      <p:sp>
        <p:nvSpPr>
          <p:cNvPr id="65" name="Shape 63"/>
          <p:cNvSpPr/>
          <p:nvPr/>
        </p:nvSpPr>
        <p:spPr>
          <a:xfrm>
            <a:off x="4431792" y="4160520"/>
            <a:ext cx="219456" cy="91"/>
          </a:xfrm>
          <a:prstGeom prst="line">
            <a:avLst/>
          </a:prstGeom>
          <a:noFill/>
          <a:ln w="19050">
            <a:solidFill>
              <a:srgbClr val="133536"/>
            </a:solidFill>
            <a:prstDash val="solid"/>
          </a:ln>
        </p:spPr>
      </p:sp>
      <p:sp>
        <p:nvSpPr>
          <p:cNvPr id="66" name="Text 64"/>
          <p:cNvSpPr/>
          <p:nvPr/>
        </p:nvSpPr>
        <p:spPr>
          <a:xfrm>
            <a:off x="2225040" y="4782312"/>
            <a:ext cx="14630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a:t>
            </a:r>
            <a:r>
              <a:rPr lang="en-US" sz="1050" dirty="0">
                <a:solidFill>
                  <a:srgbClr val="262B3A"/>
                </a:solidFill>
                <a:latin typeface="Calibri" pitchFamily="34" charset="0"/>
                <a:ea typeface="Calibri" pitchFamily="34" charset="-122"/>
                <a:cs typeface="Calibri" pitchFamily="34" charset="-120"/>
              </a:rPr>
              <a:t> meadow</a:t>
            </a:r>
            <a:endParaRPr lang="en-US" sz="1050" dirty="0"/>
          </a:p>
        </p:txBody>
      </p:sp>
      <p:sp>
        <p:nvSpPr>
          <p:cNvPr id="67" name="Text 65"/>
          <p:cNvSpPr/>
          <p:nvPr/>
        </p:nvSpPr>
        <p:spPr>
          <a:xfrm>
            <a:off x="3810000" y="4782312"/>
            <a:ext cx="146304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a:t>
            </a:r>
            <a:r>
              <a:rPr lang="en-US" sz="1050" dirty="0">
                <a:solidFill>
                  <a:srgbClr val="262B3A"/>
                </a:solidFill>
                <a:latin typeface="Calibri" pitchFamily="34" charset="0"/>
                <a:ea typeface="Calibri" pitchFamily="34" charset="-122"/>
                <a:cs typeface="Calibri" pitchFamily="34" charset="-120"/>
              </a:rPr>
              <a:t> lawn</a:t>
            </a:r>
            <a:endParaRPr lang="en-US" sz="1050" dirty="0"/>
          </a:p>
        </p:txBody>
      </p:sp>
      <p:sp>
        <p:nvSpPr>
          <p:cNvPr id="68" name="Text 66"/>
          <p:cNvSpPr/>
          <p:nvPr/>
        </p:nvSpPr>
        <p:spPr>
          <a:xfrm>
            <a:off x="1371600" y="5029200"/>
            <a:ext cx="475488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Site</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75120" y="1188720"/>
          <a:ext cx="5102352" cy="914400"/>
        </p:xfrm>
        <a:graphic>
          <a:graphicData uri="http://schemas.openxmlformats.org/drawingml/2006/table">
            <a:tbl>
              <a:tblPr/>
              <a:tblGrid>
                <a:gridCol w="1170432"/>
                <a:gridCol w="640080"/>
                <a:gridCol w="640080"/>
                <a:gridCol w="640080"/>
                <a:gridCol w="640080"/>
                <a:gridCol w="640080"/>
                <a:gridCol w="731520"/>
              </a:tblGrid>
              <a:tr h="26517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Quadrat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6517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 species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6517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B species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6517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B daisies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70" name="Shape 67"/>
          <p:cNvSpPr/>
          <p:nvPr/>
        </p:nvSpPr>
        <p:spPr>
          <a:xfrm>
            <a:off x="6675120" y="2377440"/>
            <a:ext cx="5102352" cy="1874520"/>
          </a:xfrm>
          <a:prstGeom prst="roundRect">
            <a:avLst>
              <a:gd name="adj" fmla="val 2927"/>
            </a:avLst>
          </a:prstGeom>
          <a:solidFill>
            <a:srgbClr val="FFF4E0"/>
          </a:solidFill>
          <a:ln w="9525">
            <a:solidFill>
              <a:srgbClr val="F1D9A8"/>
            </a:solidFill>
            <a:prstDash val="solid"/>
          </a:ln>
        </p:spPr>
      </p:sp>
      <p:sp>
        <p:nvSpPr>
          <p:cNvPr id="71" name="Text 68"/>
          <p:cNvSpPr/>
          <p:nvPr/>
        </p:nvSpPr>
        <p:spPr>
          <a:xfrm>
            <a:off x="6839712" y="245059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daisies on the lawn (50 m²)</a:t>
            </a:r>
            <a:endParaRPr lang="en-US" sz="1300" dirty="0"/>
          </a:p>
        </p:txBody>
      </p:sp>
      <p:sp>
        <p:nvSpPr>
          <p:cNvPr id="72" name="Text 69"/>
          <p:cNvSpPr/>
          <p:nvPr/>
        </p:nvSpPr>
        <p:spPr>
          <a:xfrm>
            <a:off x="6839712" y="2761488"/>
            <a:ext cx="4773168" cy="141732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Mean   </a:t>
            </a:r>
            <a:r>
              <a:rPr lang="en-US" sz="1050" dirty="0">
                <a:solidFill>
                  <a:srgbClr val="262B3A"/>
                </a:solidFill>
                <a:latin typeface="Calibri" pitchFamily="34" charset="0"/>
                <a:ea typeface="Calibri" pitchFamily="34" charset="-122"/>
                <a:cs typeface="Calibri" pitchFamily="34" charset="-120"/>
              </a:rPr>
              <a:t>(4 + 6 + 5 + 3 + 7) ÷ 5 = 5 per quadrat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 m²   </a:t>
            </a:r>
            <a:r>
              <a:rPr lang="en-US" sz="1050" dirty="0">
                <a:solidFill>
                  <a:srgbClr val="262B3A"/>
                </a:solidFill>
                <a:latin typeface="Calibri" pitchFamily="34" charset="0"/>
                <a:ea typeface="Calibri" pitchFamily="34" charset="-122"/>
                <a:cs typeface="Calibri" pitchFamily="34" charset="-120"/>
              </a:rPr>
              <a:t>5 ÷ 0.25 = 20 per m²</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20 × 50 = </a:t>
            </a:r>
            <a:r>
              <a:rPr lang="en-US" sz="1050" b="1" dirty="0">
                <a:solidFill>
                  <a:srgbClr val="C8414C"/>
                </a:solidFill>
                <a:latin typeface="Calibri" pitchFamily="34" charset="0"/>
                <a:ea typeface="Calibri" pitchFamily="34" charset="-122"/>
                <a:cs typeface="Calibri" pitchFamily="34" charset="-120"/>
              </a:rPr>
              <a:t>1000 daisies</a:t>
            </a:r>
            <a:endParaRPr lang="en-US" sz="1050" dirty="0"/>
          </a:p>
        </p:txBody>
      </p:sp>
      <p:sp>
        <p:nvSpPr>
          <p:cNvPr id="73" name="Shape 70"/>
          <p:cNvSpPr/>
          <p:nvPr/>
        </p:nvSpPr>
        <p:spPr>
          <a:xfrm>
            <a:off x="6675120" y="4389120"/>
            <a:ext cx="5102352" cy="1325880"/>
          </a:xfrm>
          <a:prstGeom prst="roundRect">
            <a:avLst>
              <a:gd name="adj" fmla="val 4138"/>
            </a:avLst>
          </a:prstGeom>
          <a:solidFill>
            <a:srgbClr val="F4FAF9"/>
          </a:solidFill>
          <a:ln w="9525">
            <a:solidFill>
              <a:srgbClr val="CFE0DE"/>
            </a:solidFill>
            <a:prstDash val="solid"/>
          </a:ln>
        </p:spPr>
      </p:sp>
      <p:sp>
        <p:nvSpPr>
          <p:cNvPr id="74" name="Text 71"/>
          <p:cNvSpPr/>
          <p:nvPr/>
        </p:nvSpPr>
        <p:spPr>
          <a:xfrm>
            <a:off x="6839712" y="448056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Conclusion and errors</a:t>
            </a:r>
            <a:endParaRPr lang="en-US" sz="1300" dirty="0"/>
          </a:p>
        </p:txBody>
      </p:sp>
      <p:sp>
        <p:nvSpPr>
          <p:cNvPr id="75" name="Text 72"/>
          <p:cNvSpPr/>
          <p:nvPr/>
        </p:nvSpPr>
        <p:spPr>
          <a:xfrm>
            <a:off x="6839712" y="4809744"/>
            <a:ext cx="4773168" cy="8321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has a higher mean (8 vs 3) and the ranges </a:t>
            </a:r>
            <a:r>
              <a:rPr lang="en-US" sz="1050" b="1" dirty="0">
                <a:solidFill>
                  <a:srgbClr val="262B3A"/>
                </a:solidFill>
                <a:latin typeface="Calibri" pitchFamily="34" charset="0"/>
                <a:ea typeface="Calibri" pitchFamily="34" charset="-122"/>
                <a:cs typeface="Calibri" pitchFamily="34" charset="-120"/>
              </a:rPr>
              <a:t>do not overlap</a:t>
            </a:r>
            <a:r>
              <a:rPr lang="en-US" sz="1050" dirty="0">
                <a:solidFill>
                  <a:srgbClr val="262B3A"/>
                </a:solidFill>
                <a:latin typeface="Calibri" pitchFamily="34" charset="0"/>
                <a:ea typeface="Calibri" pitchFamily="34" charset="-122"/>
                <a:cs typeface="Calibri" pitchFamily="34" charset="-120"/>
              </a:rPr>
              <a:t>: mowing lowers diversity.</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Errors: species missed or misidentified; only 5 quadrats → use more; tiny seedlings hard to count.</a:t>
            </a:r>
            <a:endParaRPr lang="en-US" sz="1050" dirty="0"/>
          </a:p>
        </p:txBody>
      </p:sp>
      <p:sp>
        <p:nvSpPr>
          <p:cNvPr id="76" name="Shape 73"/>
          <p:cNvSpPr/>
          <p:nvPr/>
        </p:nvSpPr>
        <p:spPr>
          <a:xfrm>
            <a:off x="411480" y="5833872"/>
            <a:ext cx="11368735" cy="530352"/>
          </a:xfrm>
          <a:prstGeom prst="rect">
            <a:avLst/>
          </a:prstGeom>
          <a:solidFill>
            <a:srgbClr val="FFF4E0"/>
          </a:solidFill>
          <a:ln w="6350">
            <a:solidFill>
              <a:srgbClr val="F1D9A8"/>
            </a:solidFill>
            <a:prstDash val="solid"/>
          </a:ln>
        </p:spPr>
      </p:sp>
      <p:sp>
        <p:nvSpPr>
          <p:cNvPr id="77" name="Shape 74"/>
          <p:cNvSpPr/>
          <p:nvPr/>
        </p:nvSpPr>
        <p:spPr>
          <a:xfrm>
            <a:off x="411480" y="5833872"/>
            <a:ext cx="82296" cy="530352"/>
          </a:xfrm>
          <a:prstGeom prst="rect">
            <a:avLst/>
          </a:prstGeom>
          <a:solidFill>
            <a:srgbClr val="E39A2F"/>
          </a:solidFill>
          <a:ln w="12700">
            <a:solidFill>
              <a:srgbClr val="E39A2F"/>
            </a:solidFill>
            <a:prstDash val="solid"/>
          </a:ln>
        </p:spPr>
      </p:sp>
      <p:sp>
        <p:nvSpPr>
          <p:cNvPr id="78" name="Text 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a:t>
            </a:r>
            <a:r>
              <a:rPr lang="en-US" sz="1150" b="1" dirty="0">
                <a:solidFill>
                  <a:srgbClr val="262B3A"/>
                </a:solidFill>
                <a:latin typeface="Calibri" pitchFamily="34" charset="0"/>
                <a:ea typeface="Calibri" pitchFamily="34" charset="-122"/>
                <a:cs typeface="Calibri" pitchFamily="34" charset="-120"/>
              </a:rPr>
              <a:t>range</a:t>
            </a:r>
            <a:r>
              <a:rPr lang="en-US" sz="1150" dirty="0">
                <a:solidFill>
                  <a:srgbClr val="262B3A"/>
                </a:solidFill>
                <a:latin typeface="Calibri" pitchFamily="34" charset="0"/>
                <a:ea typeface="Calibri" pitchFamily="34" charset="-122"/>
                <a:cs typeface="Calibri" pitchFamily="34" charset="-120"/>
              </a:rPr>
              <a:t> for site A. Why does a range that does </a:t>
            </a:r>
            <a:r>
              <a:rPr lang="en-US" sz="1150" b="1" dirty="0">
                <a:solidFill>
                  <a:srgbClr val="262B3A"/>
                </a:solidFill>
                <a:latin typeface="Calibri" pitchFamily="34" charset="0"/>
                <a:ea typeface="Calibri" pitchFamily="34" charset="-122"/>
                <a:cs typeface="Calibri" pitchFamily="34" charset="-120"/>
              </a:rPr>
              <a:t>not overlap</a:t>
            </a:r>
            <a:r>
              <a:rPr lang="en-US" sz="1150" dirty="0">
                <a:solidFill>
                  <a:srgbClr val="262B3A"/>
                </a:solidFill>
                <a:latin typeface="Calibri" pitchFamily="34" charset="0"/>
                <a:ea typeface="Calibri" pitchFamily="34" charset="-122"/>
                <a:cs typeface="Calibri" pitchFamily="34" charset="-120"/>
              </a:rPr>
              <a:t> make the conclusion more convincing?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B6.3.2 • sampling data</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Four quadrats contained </a:t>
            </a:r>
            <a:r>
              <a:rPr lang="en-US" sz="1250" b="1" dirty="0">
                <a:solidFill>
                  <a:srgbClr val="262B3A"/>
                </a:solidFill>
                <a:latin typeface="Calibri" pitchFamily="34" charset="0"/>
                <a:ea typeface="Calibri" pitchFamily="34" charset="-122"/>
                <a:cs typeface="Calibri" pitchFamily="34" charset="-120"/>
              </a:rPr>
              <a:t>4, 6, 5</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9</a:t>
            </a:r>
            <a:r>
              <a:rPr lang="en-US" sz="1250" dirty="0">
                <a:solidFill>
                  <a:srgbClr val="262B3A"/>
                </a:solidFill>
                <a:latin typeface="Calibri" pitchFamily="34" charset="0"/>
                <a:ea typeface="Calibri" pitchFamily="34" charset="-122"/>
                <a:cs typeface="Calibri" pitchFamily="34" charset="-120"/>
              </a:rPr>
              <a:t> buttercups. Calculate the mean number per quadrat.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Each quadrat is </a:t>
            </a:r>
            <a:r>
              <a:rPr lang="en-US" sz="1250" b="1" dirty="0">
                <a:solidFill>
                  <a:srgbClr val="262B3A"/>
                </a:solidFill>
                <a:latin typeface="Calibri" pitchFamily="34" charset="0"/>
                <a:ea typeface="Calibri" pitchFamily="34" charset="-122"/>
                <a:cs typeface="Calibri" pitchFamily="34" charset="-120"/>
              </a:rPr>
              <a:t>0.25 m²</a:t>
            </a:r>
            <a:r>
              <a:rPr lang="en-US" sz="1250" dirty="0">
                <a:solidFill>
                  <a:srgbClr val="262B3A"/>
                </a:solidFill>
                <a:latin typeface="Calibri" pitchFamily="34" charset="0"/>
                <a:ea typeface="Calibri" pitchFamily="34" charset="-122"/>
                <a:cs typeface="Calibri" pitchFamily="34" charset="-120"/>
              </a:rPr>
              <a:t>. Use your answer to estimate the number of buttercups per m².</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quadrats should be placed at </a:t>
            </a:r>
            <a:r>
              <a:rPr lang="en-US" sz="1250" b="1" dirty="0">
                <a:solidFill>
                  <a:srgbClr val="262B3A"/>
                </a:solidFill>
                <a:latin typeface="Calibri" pitchFamily="34" charset="0"/>
                <a:ea typeface="Calibri" pitchFamily="34" charset="-122"/>
                <a:cs typeface="Calibri" pitchFamily="34" charset="-120"/>
              </a:rPr>
              <a:t>random</a:t>
            </a:r>
            <a:r>
              <a:rPr lang="en-US" sz="1250" dirty="0">
                <a:solidFill>
                  <a:srgbClr val="262B3A"/>
                </a:solidFill>
                <a:latin typeface="Calibri" pitchFamily="34" charset="0"/>
                <a:ea typeface="Calibri" pitchFamily="34" charset="-122"/>
                <a:cs typeface="Calibri" pitchFamily="34" charset="-120"/>
              </a:rPr>
              <a:t> coordinates.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 to make the comparison of two sites more </a:t>
            </a:r>
            <a:r>
              <a:rPr lang="en-US" sz="1250" b="1" dirty="0">
                <a:solidFill>
                  <a:srgbClr val="262B3A"/>
                </a:solidFill>
                <a:latin typeface="Calibri" pitchFamily="34" charset="0"/>
                <a:ea typeface="Calibri" pitchFamily="34" charset="-122"/>
                <a:cs typeface="Calibri" pitchFamily="34" charset="-120"/>
              </a:rPr>
              <a:t>repeatable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Food security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B6.3.4 • biological factors that affect whether everyone has enough safe, nutritious food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B6.3.4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world population, plotted to scale (UN estimates; 2050 is a projection)</a:t>
            </a:r>
            <a:endParaRPr lang="en-US" sz="1000" dirty="0"/>
          </a:p>
        </p:txBody>
      </p:sp>
      <p:sp>
        <p:nvSpPr>
          <p:cNvPr id="10" name="Shape 8"/>
          <p:cNvSpPr/>
          <p:nvPr/>
        </p:nvSpPr>
        <p:spPr>
          <a:xfrm>
            <a:off x="1325880" y="1463040"/>
            <a:ext cx="4434840" cy="2926080"/>
          </a:xfrm>
          <a:prstGeom prst="rect">
            <a:avLst/>
          </a:prstGeom>
          <a:solidFill>
            <a:srgbClr val="FFFFFF"/>
          </a:solidFill>
          <a:ln/>
        </p:spPr>
      </p:sp>
      <p:sp>
        <p:nvSpPr>
          <p:cNvPr id="11" name="Shape 9"/>
          <p:cNvSpPr/>
          <p:nvPr/>
        </p:nvSpPr>
        <p:spPr>
          <a:xfrm>
            <a:off x="1325880" y="1463040"/>
            <a:ext cx="91" cy="2926080"/>
          </a:xfrm>
          <a:prstGeom prst="line">
            <a:avLst/>
          </a:prstGeom>
          <a:noFill/>
          <a:ln w="6350">
            <a:solidFill>
              <a:srgbClr val="C5DCD9"/>
            </a:solidFill>
            <a:prstDash val="solid"/>
          </a:ln>
        </p:spPr>
      </p:sp>
      <p:sp>
        <p:nvSpPr>
          <p:cNvPr id="12" name="Shape 10"/>
          <p:cNvSpPr/>
          <p:nvPr/>
        </p:nvSpPr>
        <p:spPr>
          <a:xfrm>
            <a:off x="1880235" y="1463040"/>
            <a:ext cx="91" cy="2926080"/>
          </a:xfrm>
          <a:prstGeom prst="line">
            <a:avLst/>
          </a:prstGeom>
          <a:noFill/>
          <a:ln w="6350">
            <a:solidFill>
              <a:srgbClr val="E3EFED"/>
            </a:solidFill>
            <a:prstDash val="solid"/>
          </a:ln>
        </p:spPr>
      </p:sp>
      <p:sp>
        <p:nvSpPr>
          <p:cNvPr id="13" name="Shape 11"/>
          <p:cNvSpPr/>
          <p:nvPr/>
        </p:nvSpPr>
        <p:spPr>
          <a:xfrm>
            <a:off x="2434590" y="1463040"/>
            <a:ext cx="91" cy="2926080"/>
          </a:xfrm>
          <a:prstGeom prst="line">
            <a:avLst/>
          </a:prstGeom>
          <a:noFill/>
          <a:ln w="6350">
            <a:solidFill>
              <a:srgbClr val="C5DCD9"/>
            </a:solidFill>
            <a:prstDash val="solid"/>
          </a:ln>
        </p:spPr>
      </p:sp>
      <p:sp>
        <p:nvSpPr>
          <p:cNvPr id="14" name="Shape 12"/>
          <p:cNvSpPr/>
          <p:nvPr/>
        </p:nvSpPr>
        <p:spPr>
          <a:xfrm>
            <a:off x="2988945" y="1463040"/>
            <a:ext cx="91" cy="2926080"/>
          </a:xfrm>
          <a:prstGeom prst="line">
            <a:avLst/>
          </a:prstGeom>
          <a:noFill/>
          <a:ln w="6350">
            <a:solidFill>
              <a:srgbClr val="E3EFED"/>
            </a:solidFill>
            <a:prstDash val="solid"/>
          </a:ln>
        </p:spPr>
      </p:sp>
      <p:sp>
        <p:nvSpPr>
          <p:cNvPr id="15" name="Shape 13"/>
          <p:cNvSpPr/>
          <p:nvPr/>
        </p:nvSpPr>
        <p:spPr>
          <a:xfrm>
            <a:off x="3543300" y="1463040"/>
            <a:ext cx="91" cy="2926080"/>
          </a:xfrm>
          <a:prstGeom prst="line">
            <a:avLst/>
          </a:prstGeom>
          <a:noFill/>
          <a:ln w="6350">
            <a:solidFill>
              <a:srgbClr val="C5DCD9"/>
            </a:solidFill>
            <a:prstDash val="solid"/>
          </a:ln>
        </p:spPr>
      </p:sp>
      <p:sp>
        <p:nvSpPr>
          <p:cNvPr id="16" name="Shape 14"/>
          <p:cNvSpPr/>
          <p:nvPr/>
        </p:nvSpPr>
        <p:spPr>
          <a:xfrm>
            <a:off x="4097655" y="1463040"/>
            <a:ext cx="91" cy="2926080"/>
          </a:xfrm>
          <a:prstGeom prst="line">
            <a:avLst/>
          </a:prstGeom>
          <a:noFill/>
          <a:ln w="6350">
            <a:solidFill>
              <a:srgbClr val="E3EFED"/>
            </a:solidFill>
            <a:prstDash val="solid"/>
          </a:ln>
        </p:spPr>
      </p:sp>
      <p:sp>
        <p:nvSpPr>
          <p:cNvPr id="17" name="Shape 15"/>
          <p:cNvSpPr/>
          <p:nvPr/>
        </p:nvSpPr>
        <p:spPr>
          <a:xfrm>
            <a:off x="4652010" y="1463040"/>
            <a:ext cx="91" cy="2926080"/>
          </a:xfrm>
          <a:prstGeom prst="line">
            <a:avLst/>
          </a:prstGeom>
          <a:noFill/>
          <a:ln w="6350">
            <a:solidFill>
              <a:srgbClr val="C5DCD9"/>
            </a:solidFill>
            <a:prstDash val="solid"/>
          </a:ln>
        </p:spPr>
      </p:sp>
      <p:sp>
        <p:nvSpPr>
          <p:cNvPr id="18" name="Shape 16"/>
          <p:cNvSpPr/>
          <p:nvPr/>
        </p:nvSpPr>
        <p:spPr>
          <a:xfrm>
            <a:off x="5206365" y="1463040"/>
            <a:ext cx="91" cy="2926080"/>
          </a:xfrm>
          <a:prstGeom prst="line">
            <a:avLst/>
          </a:prstGeom>
          <a:noFill/>
          <a:ln w="6350">
            <a:solidFill>
              <a:srgbClr val="E3EFED"/>
            </a:solidFill>
            <a:prstDash val="solid"/>
          </a:ln>
        </p:spPr>
      </p:sp>
      <p:sp>
        <p:nvSpPr>
          <p:cNvPr id="19" name="Shape 17"/>
          <p:cNvSpPr/>
          <p:nvPr/>
        </p:nvSpPr>
        <p:spPr>
          <a:xfrm>
            <a:off x="5760720" y="1463040"/>
            <a:ext cx="91" cy="2926080"/>
          </a:xfrm>
          <a:prstGeom prst="line">
            <a:avLst/>
          </a:prstGeom>
          <a:noFill/>
          <a:ln w="6350">
            <a:solidFill>
              <a:srgbClr val="C5DCD9"/>
            </a:solidFill>
            <a:prstDash val="solid"/>
          </a:ln>
        </p:spPr>
      </p:sp>
      <p:sp>
        <p:nvSpPr>
          <p:cNvPr id="20" name="Shape 18"/>
          <p:cNvSpPr/>
          <p:nvPr/>
        </p:nvSpPr>
        <p:spPr>
          <a:xfrm>
            <a:off x="1325880" y="4389120"/>
            <a:ext cx="4434840" cy="91"/>
          </a:xfrm>
          <a:prstGeom prst="line">
            <a:avLst/>
          </a:prstGeom>
          <a:noFill/>
          <a:ln w="6350">
            <a:solidFill>
              <a:srgbClr val="C5DCD9"/>
            </a:solidFill>
            <a:prstDash val="solid"/>
          </a:ln>
        </p:spPr>
      </p:sp>
      <p:sp>
        <p:nvSpPr>
          <p:cNvPr id="21" name="Shape 19"/>
          <p:cNvSpPr/>
          <p:nvPr/>
        </p:nvSpPr>
        <p:spPr>
          <a:xfrm>
            <a:off x="1325880" y="4096512"/>
            <a:ext cx="4434840" cy="91"/>
          </a:xfrm>
          <a:prstGeom prst="line">
            <a:avLst/>
          </a:prstGeom>
          <a:noFill/>
          <a:ln w="6350">
            <a:solidFill>
              <a:srgbClr val="E3EFED"/>
            </a:solidFill>
            <a:prstDash val="solid"/>
          </a:ln>
        </p:spPr>
      </p:sp>
      <p:sp>
        <p:nvSpPr>
          <p:cNvPr id="22" name="Shape 20"/>
          <p:cNvSpPr/>
          <p:nvPr/>
        </p:nvSpPr>
        <p:spPr>
          <a:xfrm>
            <a:off x="1325880" y="3803904"/>
            <a:ext cx="4434840" cy="91"/>
          </a:xfrm>
          <a:prstGeom prst="line">
            <a:avLst/>
          </a:prstGeom>
          <a:noFill/>
          <a:ln w="6350">
            <a:solidFill>
              <a:srgbClr val="C5DCD9"/>
            </a:solidFill>
            <a:prstDash val="solid"/>
          </a:ln>
        </p:spPr>
      </p:sp>
      <p:sp>
        <p:nvSpPr>
          <p:cNvPr id="23" name="Shape 21"/>
          <p:cNvSpPr/>
          <p:nvPr/>
        </p:nvSpPr>
        <p:spPr>
          <a:xfrm>
            <a:off x="1325880" y="3511296"/>
            <a:ext cx="4434840" cy="91"/>
          </a:xfrm>
          <a:prstGeom prst="line">
            <a:avLst/>
          </a:prstGeom>
          <a:noFill/>
          <a:ln w="6350">
            <a:solidFill>
              <a:srgbClr val="E3EFED"/>
            </a:solidFill>
            <a:prstDash val="solid"/>
          </a:ln>
        </p:spPr>
      </p:sp>
      <p:sp>
        <p:nvSpPr>
          <p:cNvPr id="24" name="Shape 22"/>
          <p:cNvSpPr/>
          <p:nvPr/>
        </p:nvSpPr>
        <p:spPr>
          <a:xfrm>
            <a:off x="1325880" y="3218688"/>
            <a:ext cx="4434840" cy="91"/>
          </a:xfrm>
          <a:prstGeom prst="line">
            <a:avLst/>
          </a:prstGeom>
          <a:noFill/>
          <a:ln w="6350">
            <a:solidFill>
              <a:srgbClr val="C5DCD9"/>
            </a:solidFill>
            <a:prstDash val="solid"/>
          </a:ln>
        </p:spPr>
      </p:sp>
      <p:sp>
        <p:nvSpPr>
          <p:cNvPr id="25" name="Shape 23"/>
          <p:cNvSpPr/>
          <p:nvPr/>
        </p:nvSpPr>
        <p:spPr>
          <a:xfrm>
            <a:off x="1325880" y="2926080"/>
            <a:ext cx="4434840" cy="91"/>
          </a:xfrm>
          <a:prstGeom prst="line">
            <a:avLst/>
          </a:prstGeom>
          <a:noFill/>
          <a:ln w="6350">
            <a:solidFill>
              <a:srgbClr val="E3EFED"/>
            </a:solidFill>
            <a:prstDash val="solid"/>
          </a:ln>
        </p:spPr>
      </p:sp>
      <p:sp>
        <p:nvSpPr>
          <p:cNvPr id="26" name="Shape 24"/>
          <p:cNvSpPr/>
          <p:nvPr/>
        </p:nvSpPr>
        <p:spPr>
          <a:xfrm>
            <a:off x="1325880" y="2633472"/>
            <a:ext cx="4434840" cy="91"/>
          </a:xfrm>
          <a:prstGeom prst="line">
            <a:avLst/>
          </a:prstGeom>
          <a:noFill/>
          <a:ln w="6350">
            <a:solidFill>
              <a:srgbClr val="C5DCD9"/>
            </a:solidFill>
            <a:prstDash val="solid"/>
          </a:ln>
        </p:spPr>
      </p:sp>
      <p:sp>
        <p:nvSpPr>
          <p:cNvPr id="27" name="Shape 25"/>
          <p:cNvSpPr/>
          <p:nvPr/>
        </p:nvSpPr>
        <p:spPr>
          <a:xfrm>
            <a:off x="1325880" y="2340864"/>
            <a:ext cx="4434840" cy="91"/>
          </a:xfrm>
          <a:prstGeom prst="line">
            <a:avLst/>
          </a:prstGeom>
          <a:noFill/>
          <a:ln w="6350">
            <a:solidFill>
              <a:srgbClr val="E3EFED"/>
            </a:solidFill>
            <a:prstDash val="solid"/>
          </a:ln>
        </p:spPr>
      </p:sp>
      <p:sp>
        <p:nvSpPr>
          <p:cNvPr id="28" name="Shape 26"/>
          <p:cNvSpPr/>
          <p:nvPr/>
        </p:nvSpPr>
        <p:spPr>
          <a:xfrm>
            <a:off x="1325880" y="2048256"/>
            <a:ext cx="4434840" cy="91"/>
          </a:xfrm>
          <a:prstGeom prst="line">
            <a:avLst/>
          </a:prstGeom>
          <a:noFill/>
          <a:ln w="6350">
            <a:solidFill>
              <a:srgbClr val="C5DCD9"/>
            </a:solidFill>
            <a:prstDash val="solid"/>
          </a:ln>
        </p:spPr>
      </p:sp>
      <p:sp>
        <p:nvSpPr>
          <p:cNvPr id="29" name="Shape 27"/>
          <p:cNvSpPr/>
          <p:nvPr/>
        </p:nvSpPr>
        <p:spPr>
          <a:xfrm>
            <a:off x="1325880" y="1755648"/>
            <a:ext cx="4434840" cy="91"/>
          </a:xfrm>
          <a:prstGeom prst="line">
            <a:avLst/>
          </a:prstGeom>
          <a:noFill/>
          <a:ln w="6350">
            <a:solidFill>
              <a:srgbClr val="E3EFED"/>
            </a:solidFill>
            <a:prstDash val="solid"/>
          </a:ln>
        </p:spPr>
      </p:sp>
      <p:sp>
        <p:nvSpPr>
          <p:cNvPr id="30" name="Shape 28"/>
          <p:cNvSpPr/>
          <p:nvPr/>
        </p:nvSpPr>
        <p:spPr>
          <a:xfrm>
            <a:off x="1325880" y="1463040"/>
            <a:ext cx="4434840" cy="91"/>
          </a:xfrm>
          <a:prstGeom prst="line">
            <a:avLst/>
          </a:prstGeom>
          <a:noFill/>
          <a:ln w="6350">
            <a:solidFill>
              <a:srgbClr val="C5DCD9"/>
            </a:solidFill>
            <a:prstDash val="solid"/>
          </a:ln>
        </p:spPr>
      </p:sp>
      <p:sp>
        <p:nvSpPr>
          <p:cNvPr id="31" name="Shape 29"/>
          <p:cNvSpPr/>
          <p:nvPr/>
        </p:nvSpPr>
        <p:spPr>
          <a:xfrm>
            <a:off x="1325880" y="4389120"/>
            <a:ext cx="4434840" cy="91"/>
          </a:xfrm>
          <a:prstGeom prst="line">
            <a:avLst/>
          </a:prstGeom>
          <a:noFill/>
          <a:ln w="19050">
            <a:solidFill>
              <a:srgbClr val="133536"/>
            </a:solidFill>
            <a:prstDash val="solid"/>
          </a:ln>
        </p:spPr>
      </p:sp>
      <p:sp>
        <p:nvSpPr>
          <p:cNvPr id="32" name="Shape 30"/>
          <p:cNvSpPr/>
          <p:nvPr/>
        </p:nvSpPr>
        <p:spPr>
          <a:xfrm flipV="1">
            <a:off x="1325880" y="1463040"/>
            <a:ext cx="91" cy="2926080"/>
          </a:xfrm>
          <a:prstGeom prst="line">
            <a:avLst/>
          </a:prstGeom>
          <a:noFill/>
          <a:ln w="19050">
            <a:solidFill>
              <a:srgbClr val="133536"/>
            </a:solidFill>
            <a:prstDash val="solid"/>
          </a:ln>
        </p:spPr>
      </p:sp>
      <p:sp>
        <p:nvSpPr>
          <p:cNvPr id="33" name="Shape 31"/>
          <p:cNvSpPr/>
          <p:nvPr/>
        </p:nvSpPr>
        <p:spPr>
          <a:xfrm>
            <a:off x="1325880" y="4389120"/>
            <a:ext cx="91" cy="54864"/>
          </a:xfrm>
          <a:prstGeom prst="line">
            <a:avLst/>
          </a:prstGeom>
          <a:noFill/>
          <a:ln w="12700">
            <a:solidFill>
              <a:srgbClr val="133536"/>
            </a:solidFill>
            <a:prstDash val="solid"/>
          </a:ln>
        </p:spPr>
      </p:sp>
      <p:sp>
        <p:nvSpPr>
          <p:cNvPr id="34" name="Text 32"/>
          <p:cNvSpPr/>
          <p:nvPr/>
        </p:nvSpPr>
        <p:spPr>
          <a:xfrm>
            <a:off x="105156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1950</a:t>
            </a:r>
            <a:endParaRPr lang="en-US" sz="1000" dirty="0"/>
          </a:p>
        </p:txBody>
      </p:sp>
      <p:sp>
        <p:nvSpPr>
          <p:cNvPr id="35" name="Shape 33"/>
          <p:cNvSpPr/>
          <p:nvPr/>
        </p:nvSpPr>
        <p:spPr>
          <a:xfrm>
            <a:off x="2434590" y="4389120"/>
            <a:ext cx="91" cy="54864"/>
          </a:xfrm>
          <a:prstGeom prst="line">
            <a:avLst/>
          </a:prstGeom>
          <a:noFill/>
          <a:ln w="12700">
            <a:solidFill>
              <a:srgbClr val="133536"/>
            </a:solidFill>
            <a:prstDash val="solid"/>
          </a:ln>
        </p:spPr>
      </p:sp>
      <p:sp>
        <p:nvSpPr>
          <p:cNvPr id="36" name="Text 34"/>
          <p:cNvSpPr/>
          <p:nvPr/>
        </p:nvSpPr>
        <p:spPr>
          <a:xfrm>
            <a:off x="216027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1975</a:t>
            </a:r>
            <a:endParaRPr lang="en-US" sz="1000" dirty="0"/>
          </a:p>
        </p:txBody>
      </p:sp>
      <p:sp>
        <p:nvSpPr>
          <p:cNvPr id="37" name="Shape 35"/>
          <p:cNvSpPr/>
          <p:nvPr/>
        </p:nvSpPr>
        <p:spPr>
          <a:xfrm>
            <a:off x="3543300" y="4389120"/>
            <a:ext cx="91" cy="54864"/>
          </a:xfrm>
          <a:prstGeom prst="line">
            <a:avLst/>
          </a:prstGeom>
          <a:noFill/>
          <a:ln w="12700">
            <a:solidFill>
              <a:srgbClr val="133536"/>
            </a:solidFill>
            <a:prstDash val="solid"/>
          </a:ln>
        </p:spPr>
      </p:sp>
      <p:sp>
        <p:nvSpPr>
          <p:cNvPr id="38" name="Text 36"/>
          <p:cNvSpPr/>
          <p:nvPr/>
        </p:nvSpPr>
        <p:spPr>
          <a:xfrm>
            <a:off x="326898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2000</a:t>
            </a:r>
            <a:endParaRPr lang="en-US" sz="1000" dirty="0"/>
          </a:p>
        </p:txBody>
      </p:sp>
      <p:sp>
        <p:nvSpPr>
          <p:cNvPr id="39" name="Shape 37"/>
          <p:cNvSpPr/>
          <p:nvPr/>
        </p:nvSpPr>
        <p:spPr>
          <a:xfrm>
            <a:off x="4652010" y="4389120"/>
            <a:ext cx="91" cy="54864"/>
          </a:xfrm>
          <a:prstGeom prst="line">
            <a:avLst/>
          </a:prstGeom>
          <a:noFill/>
          <a:ln w="12700">
            <a:solidFill>
              <a:srgbClr val="133536"/>
            </a:solidFill>
            <a:prstDash val="solid"/>
          </a:ln>
        </p:spPr>
      </p:sp>
      <p:sp>
        <p:nvSpPr>
          <p:cNvPr id="40" name="Text 38"/>
          <p:cNvSpPr/>
          <p:nvPr/>
        </p:nvSpPr>
        <p:spPr>
          <a:xfrm>
            <a:off x="437769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2025</a:t>
            </a:r>
            <a:endParaRPr lang="en-US" sz="1000" dirty="0"/>
          </a:p>
        </p:txBody>
      </p:sp>
      <p:sp>
        <p:nvSpPr>
          <p:cNvPr id="41" name="Shape 39"/>
          <p:cNvSpPr/>
          <p:nvPr/>
        </p:nvSpPr>
        <p:spPr>
          <a:xfrm>
            <a:off x="5760720" y="4389120"/>
            <a:ext cx="91" cy="54864"/>
          </a:xfrm>
          <a:prstGeom prst="line">
            <a:avLst/>
          </a:prstGeom>
          <a:noFill/>
          <a:ln w="12700">
            <a:solidFill>
              <a:srgbClr val="133536"/>
            </a:solidFill>
            <a:prstDash val="solid"/>
          </a:ln>
        </p:spPr>
      </p:sp>
      <p:sp>
        <p:nvSpPr>
          <p:cNvPr id="42" name="Text 40"/>
          <p:cNvSpPr/>
          <p:nvPr/>
        </p:nvSpPr>
        <p:spPr>
          <a:xfrm>
            <a:off x="5486400" y="44439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2050</a:t>
            </a:r>
            <a:endParaRPr lang="en-US" sz="1000" dirty="0"/>
          </a:p>
        </p:txBody>
      </p:sp>
      <p:sp>
        <p:nvSpPr>
          <p:cNvPr id="43" name="Shape 41"/>
          <p:cNvSpPr/>
          <p:nvPr/>
        </p:nvSpPr>
        <p:spPr>
          <a:xfrm>
            <a:off x="1271016" y="4389120"/>
            <a:ext cx="54864" cy="91"/>
          </a:xfrm>
          <a:prstGeom prst="line">
            <a:avLst/>
          </a:prstGeom>
          <a:noFill/>
          <a:ln w="12700">
            <a:solidFill>
              <a:srgbClr val="133536"/>
            </a:solidFill>
            <a:prstDash val="solid"/>
          </a:ln>
        </p:spPr>
      </p:sp>
      <p:sp>
        <p:nvSpPr>
          <p:cNvPr id="44" name="Text 42"/>
          <p:cNvSpPr/>
          <p:nvPr/>
        </p:nvSpPr>
        <p:spPr>
          <a:xfrm>
            <a:off x="886968" y="4297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1271016" y="3803904"/>
            <a:ext cx="54864" cy="91"/>
          </a:xfrm>
          <a:prstGeom prst="line">
            <a:avLst/>
          </a:prstGeom>
          <a:noFill/>
          <a:ln w="12700">
            <a:solidFill>
              <a:srgbClr val="133536"/>
            </a:solidFill>
            <a:prstDash val="solid"/>
          </a:ln>
        </p:spPr>
      </p:sp>
      <p:sp>
        <p:nvSpPr>
          <p:cNvPr id="46" name="Text 44"/>
          <p:cNvSpPr/>
          <p:nvPr/>
        </p:nvSpPr>
        <p:spPr>
          <a:xfrm>
            <a:off x="886968" y="371246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1271016" y="3218688"/>
            <a:ext cx="54864" cy="91"/>
          </a:xfrm>
          <a:prstGeom prst="line">
            <a:avLst/>
          </a:prstGeom>
          <a:noFill/>
          <a:ln w="12700">
            <a:solidFill>
              <a:srgbClr val="133536"/>
            </a:solidFill>
            <a:prstDash val="solid"/>
          </a:ln>
        </p:spPr>
      </p:sp>
      <p:sp>
        <p:nvSpPr>
          <p:cNvPr id="48" name="Text 46"/>
          <p:cNvSpPr/>
          <p:nvPr/>
        </p:nvSpPr>
        <p:spPr>
          <a:xfrm>
            <a:off x="886968" y="31272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9" name="Shape 47"/>
          <p:cNvSpPr/>
          <p:nvPr/>
        </p:nvSpPr>
        <p:spPr>
          <a:xfrm>
            <a:off x="1271016" y="2633472"/>
            <a:ext cx="54864" cy="91"/>
          </a:xfrm>
          <a:prstGeom prst="line">
            <a:avLst/>
          </a:prstGeom>
          <a:noFill/>
          <a:ln w="12700">
            <a:solidFill>
              <a:srgbClr val="133536"/>
            </a:solidFill>
            <a:prstDash val="solid"/>
          </a:ln>
        </p:spPr>
      </p:sp>
      <p:sp>
        <p:nvSpPr>
          <p:cNvPr id="50" name="Text 48"/>
          <p:cNvSpPr/>
          <p:nvPr/>
        </p:nvSpPr>
        <p:spPr>
          <a:xfrm>
            <a:off x="886968" y="254203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1" name="Shape 49"/>
          <p:cNvSpPr/>
          <p:nvPr/>
        </p:nvSpPr>
        <p:spPr>
          <a:xfrm>
            <a:off x="1271016" y="2048256"/>
            <a:ext cx="54864" cy="91"/>
          </a:xfrm>
          <a:prstGeom prst="line">
            <a:avLst/>
          </a:prstGeom>
          <a:noFill/>
          <a:ln w="12700">
            <a:solidFill>
              <a:srgbClr val="133536"/>
            </a:solidFill>
            <a:prstDash val="solid"/>
          </a:ln>
        </p:spPr>
      </p:sp>
      <p:sp>
        <p:nvSpPr>
          <p:cNvPr id="52" name="Text 50"/>
          <p:cNvSpPr/>
          <p:nvPr/>
        </p:nvSpPr>
        <p:spPr>
          <a:xfrm>
            <a:off x="886968" y="195681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3" name="Shape 51"/>
          <p:cNvSpPr/>
          <p:nvPr/>
        </p:nvSpPr>
        <p:spPr>
          <a:xfrm>
            <a:off x="1271016" y="1463040"/>
            <a:ext cx="54864" cy="91"/>
          </a:xfrm>
          <a:prstGeom prst="line">
            <a:avLst/>
          </a:prstGeom>
          <a:noFill/>
          <a:ln w="12700">
            <a:solidFill>
              <a:srgbClr val="133536"/>
            </a:solidFill>
            <a:prstDash val="solid"/>
          </a:ln>
        </p:spPr>
      </p:sp>
      <p:sp>
        <p:nvSpPr>
          <p:cNvPr id="54" name="Text 52"/>
          <p:cNvSpPr/>
          <p:nvPr/>
        </p:nvSpPr>
        <p:spPr>
          <a:xfrm>
            <a:off x="88696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5" name="Text 53"/>
          <p:cNvSpPr/>
          <p:nvPr/>
        </p:nvSpPr>
        <p:spPr>
          <a:xfrm>
            <a:off x="1325880" y="463600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Year</a:t>
            </a:r>
            <a:endParaRPr lang="en-US" sz="1050" dirty="0"/>
          </a:p>
        </p:txBody>
      </p:sp>
      <p:sp>
        <p:nvSpPr>
          <p:cNvPr id="56" name="Text 54"/>
          <p:cNvSpPr/>
          <p:nvPr/>
        </p:nvSpPr>
        <p:spPr>
          <a:xfrm rot="16200000">
            <a:off x="-704088" y="2798064"/>
            <a:ext cx="2926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World population / billions</a:t>
            </a:r>
            <a:endParaRPr lang="en-US" sz="1050" dirty="0"/>
          </a:p>
        </p:txBody>
      </p:sp>
      <p:sp>
        <p:nvSpPr>
          <p:cNvPr id="57" name="Shape 55"/>
          <p:cNvSpPr/>
          <p:nvPr/>
        </p:nvSpPr>
        <p:spPr>
          <a:xfrm>
            <a:off x="4652010" y="1463040"/>
            <a:ext cx="1108710" cy="2926080"/>
          </a:xfrm>
          <a:prstGeom prst="rect">
            <a:avLst/>
          </a:prstGeom>
          <a:solidFill>
            <a:srgbClr val="FFF4E0">
              <a:alpha val="70000"/>
            </a:srgbClr>
          </a:solidFill>
          <a:ln/>
        </p:spPr>
      </p:sp>
      <p:sp>
        <p:nvSpPr>
          <p:cNvPr id="58" name="Text 56"/>
          <p:cNvSpPr/>
          <p:nvPr/>
        </p:nvSpPr>
        <p:spPr>
          <a:xfrm>
            <a:off x="4697730" y="3803904"/>
            <a:ext cx="1005840" cy="201168"/>
          </a:xfrm>
          <a:prstGeom prst="rect">
            <a:avLst/>
          </a:prstGeom>
          <a:noFill/>
          <a:ln/>
        </p:spPr>
        <p:txBody>
          <a:bodyPr wrap="square" lIns="0" tIns="0" rIns="0" bIns="0" rtlCol="0" anchor="ctr"/>
          <a:lstStyle/>
          <a:p>
            <a:pPr algn="l" indent="0" marL="0">
              <a:buNone/>
            </a:pPr>
            <a:r>
              <a:rPr lang="en-US" sz="1000" i="1" dirty="0">
                <a:solidFill>
                  <a:srgbClr val="B8730A"/>
                </a:solidFill>
                <a:latin typeface="Calibri" pitchFamily="34" charset="0"/>
                <a:ea typeface="Calibri" pitchFamily="34" charset="-122"/>
                <a:cs typeface="Calibri" pitchFamily="34" charset="-120"/>
              </a:rPr>
              <a:t>projected</a:t>
            </a:r>
            <a:endParaRPr lang="en-US" sz="1000" dirty="0"/>
          </a:p>
        </p:txBody>
      </p:sp>
      <p:sp>
        <p:nvSpPr>
          <p:cNvPr id="59" name="Shape 57"/>
          <p:cNvSpPr/>
          <p:nvPr/>
        </p:nvSpPr>
        <p:spPr>
          <a:xfrm flipV="1">
            <a:off x="1325880" y="3189427"/>
            <a:ext cx="1108710" cy="468173"/>
          </a:xfrm>
          <a:prstGeom prst="line">
            <a:avLst/>
          </a:prstGeom>
          <a:noFill/>
          <a:ln w="28575">
            <a:solidFill>
              <a:srgbClr val="0D7877"/>
            </a:solidFill>
            <a:prstDash val="solid"/>
          </a:ln>
        </p:spPr>
      </p:sp>
      <p:sp>
        <p:nvSpPr>
          <p:cNvPr id="60" name="Shape 58"/>
          <p:cNvSpPr/>
          <p:nvPr/>
        </p:nvSpPr>
        <p:spPr>
          <a:xfrm flipV="1">
            <a:off x="2434590" y="2604211"/>
            <a:ext cx="1108710" cy="585216"/>
          </a:xfrm>
          <a:prstGeom prst="line">
            <a:avLst/>
          </a:prstGeom>
          <a:noFill/>
          <a:ln w="28575">
            <a:solidFill>
              <a:srgbClr val="0D7877"/>
            </a:solidFill>
            <a:prstDash val="solid"/>
          </a:ln>
        </p:spPr>
      </p:sp>
      <p:sp>
        <p:nvSpPr>
          <p:cNvPr id="61" name="Shape 59"/>
          <p:cNvSpPr/>
          <p:nvPr/>
        </p:nvSpPr>
        <p:spPr>
          <a:xfrm flipV="1">
            <a:off x="3543300" y="1989734"/>
            <a:ext cx="1108710" cy="614477"/>
          </a:xfrm>
          <a:prstGeom prst="line">
            <a:avLst/>
          </a:prstGeom>
          <a:noFill/>
          <a:ln w="28575">
            <a:solidFill>
              <a:srgbClr val="0D7877"/>
            </a:solidFill>
            <a:prstDash val="solid"/>
          </a:ln>
        </p:spPr>
      </p:sp>
      <p:sp>
        <p:nvSpPr>
          <p:cNvPr id="62" name="Shape 60"/>
          <p:cNvSpPr/>
          <p:nvPr/>
        </p:nvSpPr>
        <p:spPr>
          <a:xfrm flipV="1">
            <a:off x="4652010" y="1550822"/>
            <a:ext cx="1108710" cy="438912"/>
          </a:xfrm>
          <a:prstGeom prst="line">
            <a:avLst/>
          </a:prstGeom>
          <a:noFill/>
          <a:ln w="28575">
            <a:solidFill>
              <a:srgbClr val="0D7877"/>
            </a:solidFill>
            <a:prstDash val="dash"/>
          </a:ln>
        </p:spPr>
      </p:sp>
      <p:sp>
        <p:nvSpPr>
          <p:cNvPr id="63" name="Shape 61"/>
          <p:cNvSpPr/>
          <p:nvPr/>
        </p:nvSpPr>
        <p:spPr>
          <a:xfrm>
            <a:off x="1280160" y="3611880"/>
            <a:ext cx="91440" cy="91440"/>
          </a:xfrm>
          <a:prstGeom prst="line">
            <a:avLst/>
          </a:prstGeom>
          <a:noFill/>
          <a:ln w="15875">
            <a:solidFill>
              <a:srgbClr val="133536"/>
            </a:solidFill>
            <a:prstDash val="solid"/>
          </a:ln>
        </p:spPr>
      </p:sp>
      <p:sp>
        <p:nvSpPr>
          <p:cNvPr id="64" name="Shape 62"/>
          <p:cNvSpPr/>
          <p:nvPr/>
        </p:nvSpPr>
        <p:spPr>
          <a:xfrm flipV="1">
            <a:off x="1280160" y="3611880"/>
            <a:ext cx="91440" cy="91440"/>
          </a:xfrm>
          <a:prstGeom prst="line">
            <a:avLst/>
          </a:prstGeom>
          <a:noFill/>
          <a:ln w="15875">
            <a:solidFill>
              <a:srgbClr val="133536"/>
            </a:solidFill>
            <a:prstDash val="solid"/>
          </a:ln>
        </p:spPr>
      </p:sp>
      <p:sp>
        <p:nvSpPr>
          <p:cNvPr id="65" name="Shape 63"/>
          <p:cNvSpPr/>
          <p:nvPr/>
        </p:nvSpPr>
        <p:spPr>
          <a:xfrm>
            <a:off x="2388870" y="3143707"/>
            <a:ext cx="91440" cy="91440"/>
          </a:xfrm>
          <a:prstGeom prst="line">
            <a:avLst/>
          </a:prstGeom>
          <a:noFill/>
          <a:ln w="15875">
            <a:solidFill>
              <a:srgbClr val="133536"/>
            </a:solidFill>
            <a:prstDash val="solid"/>
          </a:ln>
        </p:spPr>
      </p:sp>
      <p:sp>
        <p:nvSpPr>
          <p:cNvPr id="66" name="Shape 64"/>
          <p:cNvSpPr/>
          <p:nvPr/>
        </p:nvSpPr>
        <p:spPr>
          <a:xfrm flipV="1">
            <a:off x="2388870" y="3143707"/>
            <a:ext cx="91440" cy="91440"/>
          </a:xfrm>
          <a:prstGeom prst="line">
            <a:avLst/>
          </a:prstGeom>
          <a:noFill/>
          <a:ln w="15875">
            <a:solidFill>
              <a:srgbClr val="133536"/>
            </a:solidFill>
            <a:prstDash val="solid"/>
          </a:ln>
        </p:spPr>
      </p:sp>
      <p:sp>
        <p:nvSpPr>
          <p:cNvPr id="67" name="Shape 65"/>
          <p:cNvSpPr/>
          <p:nvPr/>
        </p:nvSpPr>
        <p:spPr>
          <a:xfrm>
            <a:off x="3497580" y="2558491"/>
            <a:ext cx="91440" cy="91440"/>
          </a:xfrm>
          <a:prstGeom prst="line">
            <a:avLst/>
          </a:prstGeom>
          <a:noFill/>
          <a:ln w="15875">
            <a:solidFill>
              <a:srgbClr val="133536"/>
            </a:solidFill>
            <a:prstDash val="solid"/>
          </a:ln>
        </p:spPr>
      </p:sp>
      <p:sp>
        <p:nvSpPr>
          <p:cNvPr id="68" name="Shape 66"/>
          <p:cNvSpPr/>
          <p:nvPr/>
        </p:nvSpPr>
        <p:spPr>
          <a:xfrm flipV="1">
            <a:off x="3497580" y="2558491"/>
            <a:ext cx="91440" cy="91440"/>
          </a:xfrm>
          <a:prstGeom prst="line">
            <a:avLst/>
          </a:prstGeom>
          <a:noFill/>
          <a:ln w="15875">
            <a:solidFill>
              <a:srgbClr val="133536"/>
            </a:solidFill>
            <a:prstDash val="solid"/>
          </a:ln>
        </p:spPr>
      </p:sp>
      <p:sp>
        <p:nvSpPr>
          <p:cNvPr id="69" name="Shape 67"/>
          <p:cNvSpPr/>
          <p:nvPr/>
        </p:nvSpPr>
        <p:spPr>
          <a:xfrm>
            <a:off x="4606290" y="1944014"/>
            <a:ext cx="91440" cy="91440"/>
          </a:xfrm>
          <a:prstGeom prst="line">
            <a:avLst/>
          </a:prstGeom>
          <a:noFill/>
          <a:ln w="15875">
            <a:solidFill>
              <a:srgbClr val="133536"/>
            </a:solidFill>
            <a:prstDash val="solid"/>
          </a:ln>
        </p:spPr>
      </p:sp>
      <p:sp>
        <p:nvSpPr>
          <p:cNvPr id="70" name="Shape 68"/>
          <p:cNvSpPr/>
          <p:nvPr/>
        </p:nvSpPr>
        <p:spPr>
          <a:xfrm flipV="1">
            <a:off x="4606290" y="1944014"/>
            <a:ext cx="91440" cy="91440"/>
          </a:xfrm>
          <a:prstGeom prst="line">
            <a:avLst/>
          </a:prstGeom>
          <a:noFill/>
          <a:ln w="15875">
            <a:solidFill>
              <a:srgbClr val="133536"/>
            </a:solidFill>
            <a:prstDash val="solid"/>
          </a:ln>
        </p:spPr>
      </p:sp>
      <p:sp>
        <p:nvSpPr>
          <p:cNvPr id="71" name="Shape 69"/>
          <p:cNvSpPr/>
          <p:nvPr/>
        </p:nvSpPr>
        <p:spPr>
          <a:xfrm>
            <a:off x="5715000" y="1505102"/>
            <a:ext cx="91440" cy="91440"/>
          </a:xfrm>
          <a:prstGeom prst="line">
            <a:avLst/>
          </a:prstGeom>
          <a:noFill/>
          <a:ln w="15875">
            <a:solidFill>
              <a:srgbClr val="133536"/>
            </a:solidFill>
            <a:prstDash val="solid"/>
          </a:ln>
        </p:spPr>
      </p:sp>
      <p:sp>
        <p:nvSpPr>
          <p:cNvPr id="72" name="Shape 70"/>
          <p:cNvSpPr/>
          <p:nvPr/>
        </p:nvSpPr>
        <p:spPr>
          <a:xfrm flipV="1">
            <a:off x="5715000" y="1505102"/>
            <a:ext cx="91440" cy="91440"/>
          </a:xfrm>
          <a:prstGeom prst="line">
            <a:avLst/>
          </a:prstGeom>
          <a:noFill/>
          <a:ln w="15875">
            <a:solidFill>
              <a:srgbClr val="133536"/>
            </a:solidFill>
            <a:prstDash val="solid"/>
          </a:ln>
        </p:spPr>
      </p:sp>
      <p:sp>
        <p:nvSpPr>
          <p:cNvPr id="73" name="Text 71"/>
          <p:cNvSpPr/>
          <p:nvPr/>
        </p:nvSpPr>
        <p:spPr>
          <a:xfrm>
            <a:off x="822960" y="3383280"/>
            <a:ext cx="457200" cy="201168"/>
          </a:xfrm>
          <a:prstGeom prst="rect">
            <a:avLst/>
          </a:prstGeom>
          <a:noFill/>
          <a:ln/>
        </p:spPr>
        <p:txBody>
          <a:bodyPr wrap="square" lIns="0" tIns="0" rIns="0" bIns="0" rtlCol="0" anchor="ctr"/>
          <a:lstStyle/>
          <a:p>
            <a:pPr algn="ctr" indent="0" marL="0">
              <a:buNone/>
            </a:pPr>
            <a:r>
              <a:rPr lang="en-US" sz="1000" b="1" dirty="0">
                <a:solidFill>
                  <a:srgbClr val="0D7877"/>
                </a:solidFill>
                <a:latin typeface="Calibri" pitchFamily="34" charset="0"/>
                <a:ea typeface="Calibri" pitchFamily="34" charset="-122"/>
                <a:cs typeface="Calibri" pitchFamily="34" charset="-120"/>
              </a:rPr>
              <a:t>2.5</a:t>
            </a:r>
            <a:endParaRPr lang="en-US" sz="1000" dirty="0"/>
          </a:p>
        </p:txBody>
      </p:sp>
      <p:sp>
        <p:nvSpPr>
          <p:cNvPr id="74" name="Text 72"/>
          <p:cNvSpPr/>
          <p:nvPr/>
        </p:nvSpPr>
        <p:spPr>
          <a:xfrm>
            <a:off x="1931670" y="2915107"/>
            <a:ext cx="457200" cy="201168"/>
          </a:xfrm>
          <a:prstGeom prst="rect">
            <a:avLst/>
          </a:prstGeom>
          <a:noFill/>
          <a:ln/>
        </p:spPr>
        <p:txBody>
          <a:bodyPr wrap="square" lIns="0" tIns="0" rIns="0" bIns="0" rtlCol="0" anchor="ctr"/>
          <a:lstStyle/>
          <a:p>
            <a:pPr algn="ctr" indent="0" marL="0">
              <a:buNone/>
            </a:pPr>
            <a:r>
              <a:rPr lang="en-US" sz="1000" b="1" dirty="0">
                <a:solidFill>
                  <a:srgbClr val="0D7877"/>
                </a:solidFill>
                <a:latin typeface="Calibri" pitchFamily="34" charset="0"/>
                <a:ea typeface="Calibri" pitchFamily="34" charset="-122"/>
                <a:cs typeface="Calibri" pitchFamily="34" charset="-120"/>
              </a:rPr>
              <a:t>4.1</a:t>
            </a:r>
            <a:endParaRPr lang="en-US" sz="1000" dirty="0"/>
          </a:p>
        </p:txBody>
      </p:sp>
      <p:sp>
        <p:nvSpPr>
          <p:cNvPr id="75" name="Text 73"/>
          <p:cNvSpPr/>
          <p:nvPr/>
        </p:nvSpPr>
        <p:spPr>
          <a:xfrm>
            <a:off x="3040380" y="2329891"/>
            <a:ext cx="457200" cy="201168"/>
          </a:xfrm>
          <a:prstGeom prst="rect">
            <a:avLst/>
          </a:prstGeom>
          <a:noFill/>
          <a:ln/>
        </p:spPr>
        <p:txBody>
          <a:bodyPr wrap="square" lIns="0" tIns="0" rIns="0" bIns="0" rtlCol="0" anchor="ctr"/>
          <a:lstStyle/>
          <a:p>
            <a:pPr algn="ctr" indent="0" marL="0">
              <a:buNone/>
            </a:pPr>
            <a:r>
              <a:rPr lang="en-US" sz="1000" b="1" dirty="0">
                <a:solidFill>
                  <a:srgbClr val="0D7877"/>
                </a:solidFill>
                <a:latin typeface="Calibri" pitchFamily="34" charset="0"/>
                <a:ea typeface="Calibri" pitchFamily="34" charset="-122"/>
                <a:cs typeface="Calibri" pitchFamily="34" charset="-120"/>
              </a:rPr>
              <a:t>6.1</a:t>
            </a:r>
            <a:endParaRPr lang="en-US" sz="1000" dirty="0"/>
          </a:p>
        </p:txBody>
      </p:sp>
      <p:sp>
        <p:nvSpPr>
          <p:cNvPr id="76" name="Text 74"/>
          <p:cNvSpPr/>
          <p:nvPr/>
        </p:nvSpPr>
        <p:spPr>
          <a:xfrm>
            <a:off x="4149090" y="1715414"/>
            <a:ext cx="457200" cy="201168"/>
          </a:xfrm>
          <a:prstGeom prst="rect">
            <a:avLst/>
          </a:prstGeom>
          <a:noFill/>
          <a:ln/>
        </p:spPr>
        <p:txBody>
          <a:bodyPr wrap="square" lIns="0" tIns="0" rIns="0" bIns="0" rtlCol="0" anchor="ctr"/>
          <a:lstStyle/>
          <a:p>
            <a:pPr algn="ctr" indent="0" marL="0">
              <a:buNone/>
            </a:pPr>
            <a:r>
              <a:rPr lang="en-US" sz="1000" b="1" dirty="0">
                <a:solidFill>
                  <a:srgbClr val="0D7877"/>
                </a:solidFill>
                <a:latin typeface="Calibri" pitchFamily="34" charset="0"/>
                <a:ea typeface="Calibri" pitchFamily="34" charset="-122"/>
                <a:cs typeface="Calibri" pitchFamily="34" charset="-120"/>
              </a:rPr>
              <a:t>8.2</a:t>
            </a:r>
            <a:endParaRPr lang="en-US" sz="1000" dirty="0"/>
          </a:p>
        </p:txBody>
      </p:sp>
      <p:sp>
        <p:nvSpPr>
          <p:cNvPr id="77" name="Text 75"/>
          <p:cNvSpPr/>
          <p:nvPr/>
        </p:nvSpPr>
        <p:spPr>
          <a:xfrm>
            <a:off x="5257800" y="1276502"/>
            <a:ext cx="457200" cy="201168"/>
          </a:xfrm>
          <a:prstGeom prst="rect">
            <a:avLst/>
          </a:prstGeom>
          <a:noFill/>
          <a:ln/>
        </p:spPr>
        <p:txBody>
          <a:bodyPr wrap="square" lIns="0" tIns="0" rIns="0" bIns="0" rtlCol="0" anchor="ctr"/>
          <a:lstStyle/>
          <a:p>
            <a:pPr algn="ctr" indent="0" marL="0">
              <a:buNone/>
            </a:pPr>
            <a:r>
              <a:rPr lang="en-US" sz="1000" b="1" dirty="0">
                <a:solidFill>
                  <a:srgbClr val="0D7877"/>
                </a:solidFill>
                <a:latin typeface="Calibri" pitchFamily="34" charset="0"/>
                <a:ea typeface="Calibri" pitchFamily="34" charset="-122"/>
                <a:cs typeface="Calibri" pitchFamily="34" charset="-120"/>
              </a:rPr>
              <a:t>9.7</a:t>
            </a:r>
            <a:endParaRPr lang="en-US" sz="1000" dirty="0"/>
          </a:p>
        </p:txBody>
      </p:sp>
      <p:sp>
        <p:nvSpPr>
          <p:cNvPr id="78" name="Shape 76"/>
          <p:cNvSpPr/>
          <p:nvPr/>
        </p:nvSpPr>
        <p:spPr>
          <a:xfrm>
            <a:off x="6217920" y="1188720"/>
            <a:ext cx="5562295" cy="2971800"/>
          </a:xfrm>
          <a:prstGeom prst="roundRect">
            <a:avLst>
              <a:gd name="adj" fmla="val 1846"/>
            </a:avLst>
          </a:prstGeom>
          <a:solidFill>
            <a:srgbClr val="F4FAF9"/>
          </a:solidFill>
          <a:ln w="9525">
            <a:solidFill>
              <a:srgbClr val="CFE0DE"/>
            </a:solidFill>
            <a:prstDash val="solid"/>
          </a:ln>
        </p:spPr>
      </p:sp>
      <p:sp>
        <p:nvSpPr>
          <p:cNvPr id="79" name="Text 7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Threats to food security</a:t>
            </a:r>
            <a:endParaRPr lang="en-US" sz="1300" dirty="0"/>
          </a:p>
        </p:txBody>
      </p:sp>
      <p:sp>
        <p:nvSpPr>
          <p:cNvPr id="80" name="Text 78"/>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Growing population</a:t>
            </a:r>
            <a:r>
              <a:rPr lang="en-US" sz="1100" dirty="0">
                <a:solidFill>
                  <a:srgbClr val="262B3A"/>
                </a:solidFill>
                <a:latin typeface="Calibri" pitchFamily="34" charset="0"/>
                <a:ea typeface="Calibri" pitchFamily="34" charset="-122"/>
                <a:cs typeface="Calibri" pitchFamily="34" charset="-120"/>
              </a:rPr>
              <a:t>: more people need more food.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Changing diets</a:t>
            </a:r>
            <a:r>
              <a:rPr lang="en-US" sz="1100" dirty="0">
                <a:solidFill>
                  <a:srgbClr val="262B3A"/>
                </a:solidFill>
                <a:latin typeface="Calibri" pitchFamily="34" charset="0"/>
                <a:ea typeface="Calibri" pitchFamily="34" charset="-122"/>
                <a:cs typeface="Calibri" pitchFamily="34" charset="-120"/>
              </a:rPr>
              <a:t>: richer people eat more </a:t>
            </a:r>
            <a:r>
              <a:rPr lang="en-US" sz="1100" b="1" dirty="0">
                <a:solidFill>
                  <a:srgbClr val="262B3A"/>
                </a:solidFill>
                <a:latin typeface="Calibri" pitchFamily="34" charset="0"/>
                <a:ea typeface="Calibri" pitchFamily="34" charset="-122"/>
                <a:cs typeface="Calibri" pitchFamily="34" charset="-120"/>
              </a:rPr>
              <a:t>meat</a:t>
            </a:r>
            <a:r>
              <a:rPr lang="en-US" sz="1100" dirty="0">
                <a:solidFill>
                  <a:srgbClr val="262B3A"/>
                </a:solidFill>
                <a:latin typeface="Calibri" pitchFamily="34" charset="0"/>
                <a:ea typeface="Calibri" pitchFamily="34" charset="-122"/>
                <a:cs typeface="Calibri" pitchFamily="34" charset="-120"/>
              </a:rPr>
              <a:t>; feeding animals uses far more crops and land.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New pests and pathogens</a:t>
            </a:r>
            <a:r>
              <a:rPr lang="en-US" sz="1100" dirty="0">
                <a:solidFill>
                  <a:srgbClr val="262B3A"/>
                </a:solidFill>
                <a:latin typeface="Calibri" pitchFamily="34" charset="0"/>
                <a:ea typeface="Calibri" pitchFamily="34" charset="-122"/>
                <a:cs typeface="Calibri" pitchFamily="34" charset="-120"/>
              </a:rPr>
              <a:t>: e.g. fungal diseases of wheat and bananas; pests evolve resistance to pesticides.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Environmental change</a:t>
            </a:r>
            <a:r>
              <a:rPr lang="en-US" sz="1100" dirty="0">
                <a:solidFill>
                  <a:srgbClr val="262B3A"/>
                </a:solidFill>
                <a:latin typeface="Calibri" pitchFamily="34" charset="0"/>
                <a:ea typeface="Calibri" pitchFamily="34" charset="-122"/>
                <a:cs typeface="Calibri" pitchFamily="34" charset="-120"/>
              </a:rPr>
              <a:t>: drought, floods and higher temperatures lower yields; soil is eroded.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Agricultural inputs</a:t>
            </a:r>
            <a:r>
              <a:rPr lang="en-US" sz="1100" dirty="0">
                <a:solidFill>
                  <a:srgbClr val="262B3A"/>
                </a:solidFill>
                <a:latin typeface="Calibri" pitchFamily="34" charset="0"/>
                <a:ea typeface="Calibri" pitchFamily="34" charset="-122"/>
                <a:cs typeface="Calibri" pitchFamily="34" charset="-120"/>
              </a:rPr>
              <a:t>: fertiliser, pesticides, water and fuel cost money and may not be </a:t>
            </a:r>
            <a:r>
              <a:rPr lang="en-US" sz="1100" b="1" dirty="0">
                <a:solidFill>
                  <a:srgbClr val="262B3A"/>
                </a:solidFill>
                <a:latin typeface="Calibri" pitchFamily="34" charset="0"/>
                <a:ea typeface="Calibri" pitchFamily="34" charset="-122"/>
                <a:cs typeface="Calibri" pitchFamily="34" charset="-120"/>
              </a:rPr>
              <a:t>sustainable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Conflict and poverty also stop people getting food.</a:t>
            </a:r>
            <a:endParaRPr lang="en-US" sz="1100" dirty="0"/>
          </a:p>
        </p:txBody>
      </p:sp>
      <p:sp>
        <p:nvSpPr>
          <p:cNvPr id="81" name="Shape 79"/>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82" name="Text 80"/>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population growth</a:t>
            </a:r>
            <a:endParaRPr lang="en-US" sz="1300" dirty="0"/>
          </a:p>
        </p:txBody>
      </p:sp>
      <p:sp>
        <p:nvSpPr>
          <p:cNvPr id="83" name="Text 81"/>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Population 2000: 6.1 billion; 2050 (projected): 9.7 billion.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Increase   </a:t>
            </a:r>
            <a:r>
              <a:rPr lang="en-US" sz="1050" dirty="0">
                <a:solidFill>
                  <a:srgbClr val="262B3A"/>
                </a:solidFill>
                <a:latin typeface="Calibri" pitchFamily="34" charset="0"/>
                <a:ea typeface="Calibri" pitchFamily="34" charset="-122"/>
                <a:cs typeface="Calibri" pitchFamily="34" charset="-120"/>
              </a:rPr>
              <a:t>9.7 − 6.1 = 3.6 billion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Percentage   </a:t>
            </a:r>
            <a:r>
              <a:rPr lang="en-US" sz="1050" dirty="0">
                <a:solidFill>
                  <a:srgbClr val="262B3A"/>
                </a:solidFill>
                <a:latin typeface="Calibri" pitchFamily="34" charset="0"/>
                <a:ea typeface="Calibri" pitchFamily="34" charset="-122"/>
                <a:cs typeface="Calibri" pitchFamily="34" charset="-120"/>
              </a:rPr>
              <a:t>3.6 ÷ 6.1 × 100 = 59%</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about </a:t>
            </a:r>
            <a:r>
              <a:rPr lang="en-US" sz="1050" b="1" dirty="0">
                <a:solidFill>
                  <a:srgbClr val="C8414C"/>
                </a:solidFill>
                <a:latin typeface="Calibri" pitchFamily="34" charset="0"/>
                <a:ea typeface="Calibri" pitchFamily="34" charset="-122"/>
                <a:cs typeface="Calibri" pitchFamily="34" charset="-120"/>
              </a:rPr>
              <a:t>59%</a:t>
            </a:r>
            <a:r>
              <a:rPr lang="en-US" sz="1050" b="1" dirty="0">
                <a:solidFill>
                  <a:srgbClr val="C8414C"/>
                </a:solidFill>
                <a:latin typeface="Calibri" pitchFamily="34" charset="0"/>
                <a:ea typeface="Calibri" pitchFamily="34" charset="-122"/>
                <a:cs typeface="Calibri" pitchFamily="34" charset="-120"/>
              </a:rPr>
              <a:t> more people to feed</a:t>
            </a:r>
            <a:endParaRPr lang="en-US" sz="1050" dirty="0"/>
          </a:p>
        </p:txBody>
      </p:sp>
      <p:sp>
        <p:nvSpPr>
          <p:cNvPr id="84" name="Shape 82"/>
          <p:cNvSpPr/>
          <p:nvPr/>
        </p:nvSpPr>
        <p:spPr>
          <a:xfrm>
            <a:off x="411480" y="5833872"/>
            <a:ext cx="11368735" cy="530352"/>
          </a:xfrm>
          <a:prstGeom prst="rect">
            <a:avLst/>
          </a:prstGeom>
          <a:solidFill>
            <a:srgbClr val="FFF4E0"/>
          </a:solidFill>
          <a:ln w="6350">
            <a:solidFill>
              <a:srgbClr val="F1D9A8"/>
            </a:solidFill>
            <a:prstDash val="solid"/>
          </a:ln>
        </p:spPr>
      </p:sp>
      <p:sp>
        <p:nvSpPr>
          <p:cNvPr id="85" name="Shape 83"/>
          <p:cNvSpPr/>
          <p:nvPr/>
        </p:nvSpPr>
        <p:spPr>
          <a:xfrm>
            <a:off x="411480" y="5833872"/>
            <a:ext cx="82296" cy="530352"/>
          </a:xfrm>
          <a:prstGeom prst="rect">
            <a:avLst/>
          </a:prstGeom>
          <a:solidFill>
            <a:srgbClr val="E39A2F"/>
          </a:solidFill>
          <a:ln w="12700">
            <a:solidFill>
              <a:srgbClr val="E39A2F"/>
            </a:solidFill>
            <a:prstDash val="solid"/>
          </a:ln>
        </p:spPr>
      </p:sp>
      <p:sp>
        <p:nvSpPr>
          <p:cNvPr id="86" name="Text 8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eating </a:t>
            </a:r>
            <a:r>
              <a:rPr lang="en-US" sz="1150" b="1" dirty="0">
                <a:solidFill>
                  <a:srgbClr val="262B3A"/>
                </a:solidFill>
                <a:latin typeface="Calibri" pitchFamily="34" charset="0"/>
                <a:ea typeface="Calibri" pitchFamily="34" charset="-122"/>
                <a:cs typeface="Calibri" pitchFamily="34" charset="-120"/>
              </a:rPr>
              <a:t>less meat</a:t>
            </a:r>
            <a:r>
              <a:rPr lang="en-US" sz="1150" dirty="0">
                <a:solidFill>
                  <a:srgbClr val="262B3A"/>
                </a:solidFill>
                <a:latin typeface="Calibri" pitchFamily="34" charset="0"/>
                <a:ea typeface="Calibri" pitchFamily="34" charset="-122"/>
                <a:cs typeface="Calibri" pitchFamily="34" charset="-120"/>
              </a:rPr>
              <a:t> could improve food security. How many times larger was the population in 2025 than in 1950?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Solutions: farming and biotechnology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B6.3.5 • agricultural and biotechnological solutions, including genetic modification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B6.3.5  |  20</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making a GM crop (recap of B1); not to scale</a:t>
            </a:r>
            <a:endParaRPr lang="en-US" sz="1000" dirty="0"/>
          </a:p>
        </p:txBody>
      </p:sp>
      <p:sp>
        <p:nvSpPr>
          <p:cNvPr id="10" name="Text 8"/>
          <p:cNvSpPr/>
          <p:nvPr/>
        </p:nvSpPr>
        <p:spPr>
          <a:xfrm>
            <a:off x="594360" y="1325880"/>
            <a:ext cx="5212080" cy="27432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1</a:t>
            </a:r>
            <a:r>
              <a:rPr lang="en-US" sz="1050" dirty="0">
                <a:solidFill>
                  <a:srgbClr val="262B3A"/>
                </a:solidFill>
                <a:latin typeface="Calibri" pitchFamily="34" charset="0"/>
                <a:ea typeface="Calibri" pitchFamily="34" charset="-122"/>
                <a:cs typeface="Calibri" pitchFamily="34" charset="-120"/>
              </a:rPr>
              <a:t> Cut out a useful gene (e.g. pest resistance) from another organism</a:t>
            </a:r>
            <a:endParaRPr lang="en-US" sz="1050" dirty="0"/>
          </a:p>
        </p:txBody>
      </p:sp>
      <p:sp>
        <p:nvSpPr>
          <p:cNvPr id="11" name="Shape 9"/>
          <p:cNvSpPr/>
          <p:nvPr/>
        </p:nvSpPr>
        <p:spPr>
          <a:xfrm>
            <a:off x="777240" y="1691640"/>
            <a:ext cx="4754880" cy="91"/>
          </a:xfrm>
          <a:prstGeom prst="line">
            <a:avLst/>
          </a:prstGeom>
          <a:noFill/>
          <a:ln w="19050">
            <a:solidFill>
              <a:srgbClr val="133536"/>
            </a:solidFill>
            <a:prstDash val="solid"/>
          </a:ln>
        </p:spPr>
      </p:sp>
      <p:sp>
        <p:nvSpPr>
          <p:cNvPr id="12" name="Shape 10"/>
          <p:cNvSpPr/>
          <p:nvPr/>
        </p:nvSpPr>
        <p:spPr>
          <a:xfrm>
            <a:off x="777240" y="1965960"/>
            <a:ext cx="4754880" cy="91"/>
          </a:xfrm>
          <a:prstGeom prst="line">
            <a:avLst/>
          </a:prstGeom>
          <a:noFill/>
          <a:ln w="19050">
            <a:solidFill>
              <a:srgbClr val="133536"/>
            </a:solidFill>
            <a:prstDash val="solid"/>
          </a:ln>
        </p:spPr>
      </p:sp>
      <p:sp>
        <p:nvSpPr>
          <p:cNvPr id="13" name="Shape 11"/>
          <p:cNvSpPr/>
          <p:nvPr/>
        </p:nvSpPr>
        <p:spPr>
          <a:xfrm>
            <a:off x="777240" y="1691640"/>
            <a:ext cx="91" cy="274320"/>
          </a:xfrm>
          <a:prstGeom prst="line">
            <a:avLst/>
          </a:prstGeom>
          <a:noFill/>
          <a:ln w="12700">
            <a:solidFill>
              <a:srgbClr val="9AA3B0"/>
            </a:solidFill>
            <a:prstDash val="solid"/>
          </a:ln>
        </p:spPr>
      </p:sp>
      <p:sp>
        <p:nvSpPr>
          <p:cNvPr id="14" name="Shape 12"/>
          <p:cNvSpPr/>
          <p:nvPr/>
        </p:nvSpPr>
        <p:spPr>
          <a:xfrm>
            <a:off x="887819" y="1691640"/>
            <a:ext cx="91" cy="274320"/>
          </a:xfrm>
          <a:prstGeom prst="line">
            <a:avLst/>
          </a:prstGeom>
          <a:noFill/>
          <a:ln w="12700">
            <a:solidFill>
              <a:srgbClr val="9AA3B0"/>
            </a:solidFill>
            <a:prstDash val="solid"/>
          </a:ln>
        </p:spPr>
      </p:sp>
      <p:sp>
        <p:nvSpPr>
          <p:cNvPr id="15" name="Shape 13"/>
          <p:cNvSpPr/>
          <p:nvPr/>
        </p:nvSpPr>
        <p:spPr>
          <a:xfrm>
            <a:off x="998397" y="1691640"/>
            <a:ext cx="91" cy="274320"/>
          </a:xfrm>
          <a:prstGeom prst="line">
            <a:avLst/>
          </a:prstGeom>
          <a:noFill/>
          <a:ln w="12700">
            <a:solidFill>
              <a:srgbClr val="9AA3B0"/>
            </a:solidFill>
            <a:prstDash val="solid"/>
          </a:ln>
        </p:spPr>
      </p:sp>
      <p:sp>
        <p:nvSpPr>
          <p:cNvPr id="16" name="Shape 14"/>
          <p:cNvSpPr/>
          <p:nvPr/>
        </p:nvSpPr>
        <p:spPr>
          <a:xfrm>
            <a:off x="1108976" y="1691640"/>
            <a:ext cx="91" cy="274320"/>
          </a:xfrm>
          <a:prstGeom prst="line">
            <a:avLst/>
          </a:prstGeom>
          <a:noFill/>
          <a:ln w="12700">
            <a:solidFill>
              <a:srgbClr val="9AA3B0"/>
            </a:solidFill>
            <a:prstDash val="solid"/>
          </a:ln>
        </p:spPr>
      </p:sp>
      <p:sp>
        <p:nvSpPr>
          <p:cNvPr id="17" name="Shape 15"/>
          <p:cNvSpPr/>
          <p:nvPr/>
        </p:nvSpPr>
        <p:spPr>
          <a:xfrm>
            <a:off x="1219554" y="1691640"/>
            <a:ext cx="91" cy="274320"/>
          </a:xfrm>
          <a:prstGeom prst="line">
            <a:avLst/>
          </a:prstGeom>
          <a:noFill/>
          <a:ln w="12700">
            <a:solidFill>
              <a:srgbClr val="9AA3B0"/>
            </a:solidFill>
            <a:prstDash val="solid"/>
          </a:ln>
        </p:spPr>
      </p:sp>
      <p:sp>
        <p:nvSpPr>
          <p:cNvPr id="18" name="Shape 16"/>
          <p:cNvSpPr/>
          <p:nvPr/>
        </p:nvSpPr>
        <p:spPr>
          <a:xfrm>
            <a:off x="1330133" y="1691640"/>
            <a:ext cx="91" cy="274320"/>
          </a:xfrm>
          <a:prstGeom prst="line">
            <a:avLst/>
          </a:prstGeom>
          <a:noFill/>
          <a:ln w="12700">
            <a:solidFill>
              <a:srgbClr val="9AA3B0"/>
            </a:solidFill>
            <a:prstDash val="solid"/>
          </a:ln>
        </p:spPr>
      </p:sp>
      <p:sp>
        <p:nvSpPr>
          <p:cNvPr id="19" name="Shape 17"/>
          <p:cNvSpPr/>
          <p:nvPr/>
        </p:nvSpPr>
        <p:spPr>
          <a:xfrm>
            <a:off x="1440712" y="1691640"/>
            <a:ext cx="91" cy="274320"/>
          </a:xfrm>
          <a:prstGeom prst="line">
            <a:avLst/>
          </a:prstGeom>
          <a:noFill/>
          <a:ln w="12700">
            <a:solidFill>
              <a:srgbClr val="9AA3B0"/>
            </a:solidFill>
            <a:prstDash val="solid"/>
          </a:ln>
        </p:spPr>
      </p:sp>
      <p:sp>
        <p:nvSpPr>
          <p:cNvPr id="20" name="Shape 18"/>
          <p:cNvSpPr/>
          <p:nvPr/>
        </p:nvSpPr>
        <p:spPr>
          <a:xfrm>
            <a:off x="1551290" y="1691640"/>
            <a:ext cx="91" cy="274320"/>
          </a:xfrm>
          <a:prstGeom prst="line">
            <a:avLst/>
          </a:prstGeom>
          <a:noFill/>
          <a:ln w="12700">
            <a:solidFill>
              <a:srgbClr val="9AA3B0"/>
            </a:solidFill>
            <a:prstDash val="solid"/>
          </a:ln>
        </p:spPr>
      </p:sp>
      <p:sp>
        <p:nvSpPr>
          <p:cNvPr id="21" name="Shape 19"/>
          <p:cNvSpPr/>
          <p:nvPr/>
        </p:nvSpPr>
        <p:spPr>
          <a:xfrm>
            <a:off x="1661869" y="1691640"/>
            <a:ext cx="91" cy="274320"/>
          </a:xfrm>
          <a:prstGeom prst="line">
            <a:avLst/>
          </a:prstGeom>
          <a:noFill/>
          <a:ln w="12700">
            <a:solidFill>
              <a:srgbClr val="9AA3B0"/>
            </a:solidFill>
            <a:prstDash val="solid"/>
          </a:ln>
        </p:spPr>
      </p:sp>
      <p:sp>
        <p:nvSpPr>
          <p:cNvPr id="22" name="Shape 20"/>
          <p:cNvSpPr/>
          <p:nvPr/>
        </p:nvSpPr>
        <p:spPr>
          <a:xfrm>
            <a:off x="1772447" y="1691640"/>
            <a:ext cx="91" cy="274320"/>
          </a:xfrm>
          <a:prstGeom prst="line">
            <a:avLst/>
          </a:prstGeom>
          <a:noFill/>
          <a:ln w="12700">
            <a:solidFill>
              <a:srgbClr val="9AA3B0"/>
            </a:solidFill>
            <a:prstDash val="solid"/>
          </a:ln>
        </p:spPr>
      </p:sp>
      <p:sp>
        <p:nvSpPr>
          <p:cNvPr id="23" name="Shape 21"/>
          <p:cNvSpPr/>
          <p:nvPr/>
        </p:nvSpPr>
        <p:spPr>
          <a:xfrm>
            <a:off x="1883026" y="1691640"/>
            <a:ext cx="91" cy="274320"/>
          </a:xfrm>
          <a:prstGeom prst="line">
            <a:avLst/>
          </a:prstGeom>
          <a:noFill/>
          <a:ln w="12700">
            <a:solidFill>
              <a:srgbClr val="9AA3B0"/>
            </a:solidFill>
            <a:prstDash val="solid"/>
          </a:ln>
        </p:spPr>
      </p:sp>
      <p:sp>
        <p:nvSpPr>
          <p:cNvPr id="24" name="Shape 22"/>
          <p:cNvSpPr/>
          <p:nvPr/>
        </p:nvSpPr>
        <p:spPr>
          <a:xfrm>
            <a:off x="1993605" y="1691640"/>
            <a:ext cx="91" cy="274320"/>
          </a:xfrm>
          <a:prstGeom prst="line">
            <a:avLst/>
          </a:prstGeom>
          <a:noFill/>
          <a:ln w="12700">
            <a:solidFill>
              <a:srgbClr val="9AA3B0"/>
            </a:solidFill>
            <a:prstDash val="solid"/>
          </a:ln>
        </p:spPr>
      </p:sp>
      <p:sp>
        <p:nvSpPr>
          <p:cNvPr id="25" name="Shape 23"/>
          <p:cNvSpPr/>
          <p:nvPr/>
        </p:nvSpPr>
        <p:spPr>
          <a:xfrm>
            <a:off x="2104183" y="1691640"/>
            <a:ext cx="91" cy="274320"/>
          </a:xfrm>
          <a:prstGeom prst="line">
            <a:avLst/>
          </a:prstGeom>
          <a:noFill/>
          <a:ln w="12700">
            <a:solidFill>
              <a:srgbClr val="9AA3B0"/>
            </a:solidFill>
            <a:prstDash val="solid"/>
          </a:ln>
        </p:spPr>
      </p:sp>
      <p:sp>
        <p:nvSpPr>
          <p:cNvPr id="26" name="Shape 24"/>
          <p:cNvSpPr/>
          <p:nvPr/>
        </p:nvSpPr>
        <p:spPr>
          <a:xfrm>
            <a:off x="2214762" y="1691640"/>
            <a:ext cx="91" cy="274320"/>
          </a:xfrm>
          <a:prstGeom prst="line">
            <a:avLst/>
          </a:prstGeom>
          <a:noFill/>
          <a:ln w="12700">
            <a:solidFill>
              <a:srgbClr val="9AA3B0"/>
            </a:solidFill>
            <a:prstDash val="solid"/>
          </a:ln>
        </p:spPr>
      </p:sp>
      <p:sp>
        <p:nvSpPr>
          <p:cNvPr id="27" name="Shape 25"/>
          <p:cNvSpPr/>
          <p:nvPr/>
        </p:nvSpPr>
        <p:spPr>
          <a:xfrm>
            <a:off x="2325340" y="1691640"/>
            <a:ext cx="91" cy="274320"/>
          </a:xfrm>
          <a:prstGeom prst="line">
            <a:avLst/>
          </a:prstGeom>
          <a:noFill/>
          <a:ln w="12700">
            <a:solidFill>
              <a:srgbClr val="9AA3B0"/>
            </a:solidFill>
            <a:prstDash val="solid"/>
          </a:ln>
        </p:spPr>
      </p:sp>
      <p:sp>
        <p:nvSpPr>
          <p:cNvPr id="28" name="Shape 26"/>
          <p:cNvSpPr/>
          <p:nvPr/>
        </p:nvSpPr>
        <p:spPr>
          <a:xfrm>
            <a:off x="2435919" y="1691640"/>
            <a:ext cx="91" cy="274320"/>
          </a:xfrm>
          <a:prstGeom prst="line">
            <a:avLst/>
          </a:prstGeom>
          <a:noFill/>
          <a:ln w="25400">
            <a:solidFill>
              <a:srgbClr val="C8414C"/>
            </a:solidFill>
            <a:prstDash val="solid"/>
          </a:ln>
        </p:spPr>
      </p:sp>
      <p:sp>
        <p:nvSpPr>
          <p:cNvPr id="29" name="Shape 27"/>
          <p:cNvSpPr/>
          <p:nvPr/>
        </p:nvSpPr>
        <p:spPr>
          <a:xfrm>
            <a:off x="2546498" y="1691640"/>
            <a:ext cx="91" cy="274320"/>
          </a:xfrm>
          <a:prstGeom prst="line">
            <a:avLst/>
          </a:prstGeom>
          <a:noFill/>
          <a:ln w="25400">
            <a:solidFill>
              <a:srgbClr val="C8414C"/>
            </a:solidFill>
            <a:prstDash val="solid"/>
          </a:ln>
        </p:spPr>
      </p:sp>
      <p:sp>
        <p:nvSpPr>
          <p:cNvPr id="30" name="Shape 28"/>
          <p:cNvSpPr/>
          <p:nvPr/>
        </p:nvSpPr>
        <p:spPr>
          <a:xfrm>
            <a:off x="2657076" y="1691640"/>
            <a:ext cx="91" cy="274320"/>
          </a:xfrm>
          <a:prstGeom prst="line">
            <a:avLst/>
          </a:prstGeom>
          <a:noFill/>
          <a:ln w="25400">
            <a:solidFill>
              <a:srgbClr val="C8414C"/>
            </a:solidFill>
            <a:prstDash val="solid"/>
          </a:ln>
        </p:spPr>
      </p:sp>
      <p:sp>
        <p:nvSpPr>
          <p:cNvPr id="31" name="Shape 29"/>
          <p:cNvSpPr/>
          <p:nvPr/>
        </p:nvSpPr>
        <p:spPr>
          <a:xfrm>
            <a:off x="2767655" y="1691640"/>
            <a:ext cx="91" cy="274320"/>
          </a:xfrm>
          <a:prstGeom prst="line">
            <a:avLst/>
          </a:prstGeom>
          <a:noFill/>
          <a:ln w="25400">
            <a:solidFill>
              <a:srgbClr val="C8414C"/>
            </a:solidFill>
            <a:prstDash val="solid"/>
          </a:ln>
        </p:spPr>
      </p:sp>
      <p:sp>
        <p:nvSpPr>
          <p:cNvPr id="32" name="Shape 30"/>
          <p:cNvSpPr/>
          <p:nvPr/>
        </p:nvSpPr>
        <p:spPr>
          <a:xfrm>
            <a:off x="2878233" y="1691640"/>
            <a:ext cx="91" cy="274320"/>
          </a:xfrm>
          <a:prstGeom prst="line">
            <a:avLst/>
          </a:prstGeom>
          <a:noFill/>
          <a:ln w="25400">
            <a:solidFill>
              <a:srgbClr val="C8414C"/>
            </a:solidFill>
            <a:prstDash val="solid"/>
          </a:ln>
        </p:spPr>
      </p:sp>
      <p:sp>
        <p:nvSpPr>
          <p:cNvPr id="33" name="Shape 31"/>
          <p:cNvSpPr/>
          <p:nvPr/>
        </p:nvSpPr>
        <p:spPr>
          <a:xfrm>
            <a:off x="2988812" y="1691640"/>
            <a:ext cx="91" cy="274320"/>
          </a:xfrm>
          <a:prstGeom prst="line">
            <a:avLst/>
          </a:prstGeom>
          <a:noFill/>
          <a:ln w="25400">
            <a:solidFill>
              <a:srgbClr val="C8414C"/>
            </a:solidFill>
            <a:prstDash val="solid"/>
          </a:ln>
        </p:spPr>
      </p:sp>
      <p:sp>
        <p:nvSpPr>
          <p:cNvPr id="34" name="Shape 32"/>
          <p:cNvSpPr/>
          <p:nvPr/>
        </p:nvSpPr>
        <p:spPr>
          <a:xfrm>
            <a:off x="3099391" y="1691640"/>
            <a:ext cx="91" cy="274320"/>
          </a:xfrm>
          <a:prstGeom prst="line">
            <a:avLst/>
          </a:prstGeom>
          <a:noFill/>
          <a:ln w="25400">
            <a:solidFill>
              <a:srgbClr val="C8414C"/>
            </a:solidFill>
            <a:prstDash val="solid"/>
          </a:ln>
        </p:spPr>
      </p:sp>
      <p:sp>
        <p:nvSpPr>
          <p:cNvPr id="35" name="Shape 33"/>
          <p:cNvSpPr/>
          <p:nvPr/>
        </p:nvSpPr>
        <p:spPr>
          <a:xfrm>
            <a:off x="3209969" y="1691640"/>
            <a:ext cx="91" cy="274320"/>
          </a:xfrm>
          <a:prstGeom prst="line">
            <a:avLst/>
          </a:prstGeom>
          <a:noFill/>
          <a:ln w="25400">
            <a:solidFill>
              <a:srgbClr val="C8414C"/>
            </a:solidFill>
            <a:prstDash val="solid"/>
          </a:ln>
        </p:spPr>
      </p:sp>
      <p:sp>
        <p:nvSpPr>
          <p:cNvPr id="36" name="Shape 34"/>
          <p:cNvSpPr/>
          <p:nvPr/>
        </p:nvSpPr>
        <p:spPr>
          <a:xfrm>
            <a:off x="3320548" y="1691640"/>
            <a:ext cx="91" cy="274320"/>
          </a:xfrm>
          <a:prstGeom prst="line">
            <a:avLst/>
          </a:prstGeom>
          <a:noFill/>
          <a:ln w="12700">
            <a:solidFill>
              <a:srgbClr val="9AA3B0"/>
            </a:solidFill>
            <a:prstDash val="solid"/>
          </a:ln>
        </p:spPr>
      </p:sp>
      <p:sp>
        <p:nvSpPr>
          <p:cNvPr id="37" name="Shape 35"/>
          <p:cNvSpPr/>
          <p:nvPr/>
        </p:nvSpPr>
        <p:spPr>
          <a:xfrm>
            <a:off x="3431127" y="1691640"/>
            <a:ext cx="91" cy="274320"/>
          </a:xfrm>
          <a:prstGeom prst="line">
            <a:avLst/>
          </a:prstGeom>
          <a:noFill/>
          <a:ln w="12700">
            <a:solidFill>
              <a:srgbClr val="9AA3B0"/>
            </a:solidFill>
            <a:prstDash val="solid"/>
          </a:ln>
        </p:spPr>
      </p:sp>
      <p:sp>
        <p:nvSpPr>
          <p:cNvPr id="38" name="Shape 36"/>
          <p:cNvSpPr/>
          <p:nvPr/>
        </p:nvSpPr>
        <p:spPr>
          <a:xfrm>
            <a:off x="3541705" y="1691640"/>
            <a:ext cx="91" cy="274320"/>
          </a:xfrm>
          <a:prstGeom prst="line">
            <a:avLst/>
          </a:prstGeom>
          <a:noFill/>
          <a:ln w="12700">
            <a:solidFill>
              <a:srgbClr val="9AA3B0"/>
            </a:solidFill>
            <a:prstDash val="solid"/>
          </a:ln>
        </p:spPr>
      </p:sp>
      <p:sp>
        <p:nvSpPr>
          <p:cNvPr id="39" name="Shape 37"/>
          <p:cNvSpPr/>
          <p:nvPr/>
        </p:nvSpPr>
        <p:spPr>
          <a:xfrm>
            <a:off x="3652284" y="1691640"/>
            <a:ext cx="91" cy="274320"/>
          </a:xfrm>
          <a:prstGeom prst="line">
            <a:avLst/>
          </a:prstGeom>
          <a:noFill/>
          <a:ln w="12700">
            <a:solidFill>
              <a:srgbClr val="9AA3B0"/>
            </a:solidFill>
            <a:prstDash val="solid"/>
          </a:ln>
        </p:spPr>
      </p:sp>
      <p:sp>
        <p:nvSpPr>
          <p:cNvPr id="40" name="Shape 38"/>
          <p:cNvSpPr/>
          <p:nvPr/>
        </p:nvSpPr>
        <p:spPr>
          <a:xfrm>
            <a:off x="3762862" y="1691640"/>
            <a:ext cx="91" cy="274320"/>
          </a:xfrm>
          <a:prstGeom prst="line">
            <a:avLst/>
          </a:prstGeom>
          <a:noFill/>
          <a:ln w="12700">
            <a:solidFill>
              <a:srgbClr val="9AA3B0"/>
            </a:solidFill>
            <a:prstDash val="solid"/>
          </a:ln>
        </p:spPr>
      </p:sp>
      <p:sp>
        <p:nvSpPr>
          <p:cNvPr id="41" name="Shape 39"/>
          <p:cNvSpPr/>
          <p:nvPr/>
        </p:nvSpPr>
        <p:spPr>
          <a:xfrm>
            <a:off x="3873441" y="1691640"/>
            <a:ext cx="91" cy="274320"/>
          </a:xfrm>
          <a:prstGeom prst="line">
            <a:avLst/>
          </a:prstGeom>
          <a:noFill/>
          <a:ln w="12700">
            <a:solidFill>
              <a:srgbClr val="9AA3B0"/>
            </a:solidFill>
            <a:prstDash val="solid"/>
          </a:ln>
        </p:spPr>
      </p:sp>
      <p:sp>
        <p:nvSpPr>
          <p:cNvPr id="42" name="Shape 40"/>
          <p:cNvSpPr/>
          <p:nvPr/>
        </p:nvSpPr>
        <p:spPr>
          <a:xfrm>
            <a:off x="3984020" y="1691640"/>
            <a:ext cx="91" cy="274320"/>
          </a:xfrm>
          <a:prstGeom prst="line">
            <a:avLst/>
          </a:prstGeom>
          <a:noFill/>
          <a:ln w="12700">
            <a:solidFill>
              <a:srgbClr val="9AA3B0"/>
            </a:solidFill>
            <a:prstDash val="solid"/>
          </a:ln>
        </p:spPr>
      </p:sp>
      <p:sp>
        <p:nvSpPr>
          <p:cNvPr id="43" name="Shape 41"/>
          <p:cNvSpPr/>
          <p:nvPr/>
        </p:nvSpPr>
        <p:spPr>
          <a:xfrm>
            <a:off x="4094598" y="1691640"/>
            <a:ext cx="91" cy="274320"/>
          </a:xfrm>
          <a:prstGeom prst="line">
            <a:avLst/>
          </a:prstGeom>
          <a:noFill/>
          <a:ln w="12700">
            <a:solidFill>
              <a:srgbClr val="9AA3B0"/>
            </a:solidFill>
            <a:prstDash val="solid"/>
          </a:ln>
        </p:spPr>
      </p:sp>
      <p:sp>
        <p:nvSpPr>
          <p:cNvPr id="44" name="Shape 42"/>
          <p:cNvSpPr/>
          <p:nvPr/>
        </p:nvSpPr>
        <p:spPr>
          <a:xfrm>
            <a:off x="4205177" y="1691640"/>
            <a:ext cx="91" cy="274320"/>
          </a:xfrm>
          <a:prstGeom prst="line">
            <a:avLst/>
          </a:prstGeom>
          <a:noFill/>
          <a:ln w="12700">
            <a:solidFill>
              <a:srgbClr val="9AA3B0"/>
            </a:solidFill>
            <a:prstDash val="solid"/>
          </a:ln>
        </p:spPr>
      </p:sp>
      <p:sp>
        <p:nvSpPr>
          <p:cNvPr id="45" name="Shape 43"/>
          <p:cNvSpPr/>
          <p:nvPr/>
        </p:nvSpPr>
        <p:spPr>
          <a:xfrm>
            <a:off x="4315755" y="1691640"/>
            <a:ext cx="91" cy="274320"/>
          </a:xfrm>
          <a:prstGeom prst="line">
            <a:avLst/>
          </a:prstGeom>
          <a:noFill/>
          <a:ln w="12700">
            <a:solidFill>
              <a:srgbClr val="9AA3B0"/>
            </a:solidFill>
            <a:prstDash val="solid"/>
          </a:ln>
        </p:spPr>
      </p:sp>
      <p:sp>
        <p:nvSpPr>
          <p:cNvPr id="46" name="Shape 44"/>
          <p:cNvSpPr/>
          <p:nvPr/>
        </p:nvSpPr>
        <p:spPr>
          <a:xfrm>
            <a:off x="4426334" y="1691640"/>
            <a:ext cx="91" cy="274320"/>
          </a:xfrm>
          <a:prstGeom prst="line">
            <a:avLst/>
          </a:prstGeom>
          <a:noFill/>
          <a:ln w="12700">
            <a:solidFill>
              <a:srgbClr val="9AA3B0"/>
            </a:solidFill>
            <a:prstDash val="solid"/>
          </a:ln>
        </p:spPr>
      </p:sp>
      <p:sp>
        <p:nvSpPr>
          <p:cNvPr id="47" name="Shape 45"/>
          <p:cNvSpPr/>
          <p:nvPr/>
        </p:nvSpPr>
        <p:spPr>
          <a:xfrm>
            <a:off x="4536913" y="1691640"/>
            <a:ext cx="91" cy="274320"/>
          </a:xfrm>
          <a:prstGeom prst="line">
            <a:avLst/>
          </a:prstGeom>
          <a:noFill/>
          <a:ln w="12700">
            <a:solidFill>
              <a:srgbClr val="9AA3B0"/>
            </a:solidFill>
            <a:prstDash val="solid"/>
          </a:ln>
        </p:spPr>
      </p:sp>
      <p:sp>
        <p:nvSpPr>
          <p:cNvPr id="48" name="Shape 46"/>
          <p:cNvSpPr/>
          <p:nvPr/>
        </p:nvSpPr>
        <p:spPr>
          <a:xfrm>
            <a:off x="4647491" y="1691640"/>
            <a:ext cx="91" cy="274320"/>
          </a:xfrm>
          <a:prstGeom prst="line">
            <a:avLst/>
          </a:prstGeom>
          <a:noFill/>
          <a:ln w="12700">
            <a:solidFill>
              <a:srgbClr val="9AA3B0"/>
            </a:solidFill>
            <a:prstDash val="solid"/>
          </a:ln>
        </p:spPr>
      </p:sp>
      <p:sp>
        <p:nvSpPr>
          <p:cNvPr id="49" name="Shape 47"/>
          <p:cNvSpPr/>
          <p:nvPr/>
        </p:nvSpPr>
        <p:spPr>
          <a:xfrm>
            <a:off x="4758070" y="1691640"/>
            <a:ext cx="91" cy="274320"/>
          </a:xfrm>
          <a:prstGeom prst="line">
            <a:avLst/>
          </a:prstGeom>
          <a:noFill/>
          <a:ln w="12700">
            <a:solidFill>
              <a:srgbClr val="9AA3B0"/>
            </a:solidFill>
            <a:prstDash val="solid"/>
          </a:ln>
        </p:spPr>
      </p:sp>
      <p:sp>
        <p:nvSpPr>
          <p:cNvPr id="50" name="Shape 48"/>
          <p:cNvSpPr/>
          <p:nvPr/>
        </p:nvSpPr>
        <p:spPr>
          <a:xfrm>
            <a:off x="4868648" y="1691640"/>
            <a:ext cx="91" cy="274320"/>
          </a:xfrm>
          <a:prstGeom prst="line">
            <a:avLst/>
          </a:prstGeom>
          <a:noFill/>
          <a:ln w="12700">
            <a:solidFill>
              <a:srgbClr val="9AA3B0"/>
            </a:solidFill>
            <a:prstDash val="solid"/>
          </a:ln>
        </p:spPr>
      </p:sp>
      <p:sp>
        <p:nvSpPr>
          <p:cNvPr id="51" name="Shape 49"/>
          <p:cNvSpPr/>
          <p:nvPr/>
        </p:nvSpPr>
        <p:spPr>
          <a:xfrm>
            <a:off x="4979227" y="1691640"/>
            <a:ext cx="91" cy="274320"/>
          </a:xfrm>
          <a:prstGeom prst="line">
            <a:avLst/>
          </a:prstGeom>
          <a:noFill/>
          <a:ln w="12700">
            <a:solidFill>
              <a:srgbClr val="9AA3B0"/>
            </a:solidFill>
            <a:prstDash val="solid"/>
          </a:ln>
        </p:spPr>
      </p:sp>
      <p:sp>
        <p:nvSpPr>
          <p:cNvPr id="52" name="Shape 50"/>
          <p:cNvSpPr/>
          <p:nvPr/>
        </p:nvSpPr>
        <p:spPr>
          <a:xfrm>
            <a:off x="5089806" y="1691640"/>
            <a:ext cx="91" cy="274320"/>
          </a:xfrm>
          <a:prstGeom prst="line">
            <a:avLst/>
          </a:prstGeom>
          <a:noFill/>
          <a:ln w="12700">
            <a:solidFill>
              <a:srgbClr val="9AA3B0"/>
            </a:solidFill>
            <a:prstDash val="solid"/>
          </a:ln>
        </p:spPr>
      </p:sp>
      <p:sp>
        <p:nvSpPr>
          <p:cNvPr id="53" name="Shape 51"/>
          <p:cNvSpPr/>
          <p:nvPr/>
        </p:nvSpPr>
        <p:spPr>
          <a:xfrm>
            <a:off x="5200384" y="1691640"/>
            <a:ext cx="91" cy="274320"/>
          </a:xfrm>
          <a:prstGeom prst="line">
            <a:avLst/>
          </a:prstGeom>
          <a:noFill/>
          <a:ln w="12700">
            <a:solidFill>
              <a:srgbClr val="9AA3B0"/>
            </a:solidFill>
            <a:prstDash val="solid"/>
          </a:ln>
        </p:spPr>
      </p:sp>
      <p:sp>
        <p:nvSpPr>
          <p:cNvPr id="54" name="Shape 52"/>
          <p:cNvSpPr/>
          <p:nvPr/>
        </p:nvSpPr>
        <p:spPr>
          <a:xfrm>
            <a:off x="5310963" y="1691640"/>
            <a:ext cx="91" cy="274320"/>
          </a:xfrm>
          <a:prstGeom prst="line">
            <a:avLst/>
          </a:prstGeom>
          <a:noFill/>
          <a:ln w="12700">
            <a:solidFill>
              <a:srgbClr val="9AA3B0"/>
            </a:solidFill>
            <a:prstDash val="solid"/>
          </a:ln>
        </p:spPr>
      </p:sp>
      <p:sp>
        <p:nvSpPr>
          <p:cNvPr id="55" name="Shape 53"/>
          <p:cNvSpPr/>
          <p:nvPr/>
        </p:nvSpPr>
        <p:spPr>
          <a:xfrm>
            <a:off x="5421541" y="1691640"/>
            <a:ext cx="91" cy="274320"/>
          </a:xfrm>
          <a:prstGeom prst="line">
            <a:avLst/>
          </a:prstGeom>
          <a:noFill/>
          <a:ln w="12700">
            <a:solidFill>
              <a:srgbClr val="9AA3B0"/>
            </a:solidFill>
            <a:prstDash val="solid"/>
          </a:ln>
        </p:spPr>
      </p:sp>
      <p:sp>
        <p:nvSpPr>
          <p:cNvPr id="56" name="Shape 54"/>
          <p:cNvSpPr/>
          <p:nvPr/>
        </p:nvSpPr>
        <p:spPr>
          <a:xfrm>
            <a:off x="5532120" y="1691640"/>
            <a:ext cx="91" cy="274320"/>
          </a:xfrm>
          <a:prstGeom prst="line">
            <a:avLst/>
          </a:prstGeom>
          <a:noFill/>
          <a:ln w="12700">
            <a:solidFill>
              <a:srgbClr val="9AA3B0"/>
            </a:solidFill>
            <a:prstDash val="solid"/>
          </a:ln>
        </p:spPr>
      </p:sp>
      <p:sp>
        <p:nvSpPr>
          <p:cNvPr id="57" name="Text 55"/>
          <p:cNvSpPr/>
          <p:nvPr/>
        </p:nvSpPr>
        <p:spPr>
          <a:xfrm>
            <a:off x="2194560" y="1993392"/>
            <a:ext cx="128016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useful gene</a:t>
            </a:r>
            <a:endParaRPr lang="en-US" sz="1000" dirty="0"/>
          </a:p>
        </p:txBody>
      </p:sp>
      <p:sp>
        <p:nvSpPr>
          <p:cNvPr id="58" name="Text 56"/>
          <p:cNvSpPr/>
          <p:nvPr/>
        </p:nvSpPr>
        <p:spPr>
          <a:xfrm>
            <a:off x="594360" y="2286000"/>
            <a:ext cx="5212080" cy="27432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2</a:t>
            </a:r>
            <a:r>
              <a:rPr lang="en-US" sz="1050" dirty="0">
                <a:solidFill>
                  <a:srgbClr val="262B3A"/>
                </a:solidFill>
                <a:latin typeface="Calibri" pitchFamily="34" charset="0"/>
                <a:ea typeface="Calibri" pitchFamily="34" charset="-122"/>
                <a:cs typeface="Calibri" pitchFamily="34" charset="-120"/>
              </a:rPr>
              <a:t> Insert it into the plant cell's DNA (using a bacterium or virus as a </a:t>
            </a:r>
            <a:r>
              <a:rPr lang="en-US" sz="1050" b="1" dirty="0">
                <a:solidFill>
                  <a:srgbClr val="262B3A"/>
                </a:solidFill>
                <a:latin typeface="Calibri" pitchFamily="34" charset="0"/>
                <a:ea typeface="Calibri" pitchFamily="34" charset="-122"/>
                <a:cs typeface="Calibri" pitchFamily="34" charset="-120"/>
              </a:rPr>
              <a:t>vector</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59" name="Shape 57"/>
          <p:cNvSpPr/>
          <p:nvPr/>
        </p:nvSpPr>
        <p:spPr>
          <a:xfrm>
            <a:off x="1005840" y="2651760"/>
            <a:ext cx="1737360" cy="1188720"/>
          </a:xfrm>
          <a:prstGeom prst="roundRect">
            <a:avLst>
              <a:gd name="adj" fmla="val 6154"/>
            </a:avLst>
          </a:prstGeom>
          <a:solidFill>
            <a:srgbClr val="E4F1D8"/>
          </a:solidFill>
          <a:ln w="38100">
            <a:solidFill>
              <a:srgbClr val="5E9E4A"/>
            </a:solidFill>
            <a:prstDash val="solid"/>
          </a:ln>
        </p:spPr>
      </p:sp>
      <p:sp>
        <p:nvSpPr>
          <p:cNvPr id="60" name="Shape 58"/>
          <p:cNvSpPr/>
          <p:nvPr/>
        </p:nvSpPr>
        <p:spPr>
          <a:xfrm>
            <a:off x="1069848" y="2715768"/>
            <a:ext cx="1609344" cy="1060704"/>
          </a:xfrm>
          <a:prstGeom prst="roundRect">
            <a:avLst>
              <a:gd name="adj" fmla="val 5172"/>
            </a:avLst>
          </a:prstGeom>
          <a:solidFill>
            <a:srgbClr val="FBF3DF"/>
          </a:solidFill>
          <a:ln w="12700">
            <a:solidFill>
              <a:srgbClr val="8A6D3B"/>
            </a:solidFill>
            <a:prstDash val="solid"/>
          </a:ln>
        </p:spPr>
      </p:sp>
      <p:sp>
        <p:nvSpPr>
          <p:cNvPr id="61" name="Shape 59"/>
          <p:cNvSpPr/>
          <p:nvPr/>
        </p:nvSpPr>
        <p:spPr>
          <a:xfrm>
            <a:off x="1353312" y="2913278"/>
            <a:ext cx="1042416" cy="665683"/>
          </a:xfrm>
          <a:prstGeom prst="roundRect">
            <a:avLst>
              <a:gd name="adj" fmla="val 16484"/>
            </a:avLst>
          </a:prstGeom>
          <a:solidFill>
            <a:srgbClr val="DDEFF7"/>
          </a:solidFill>
          <a:ln w="12700">
            <a:solidFill>
              <a:srgbClr val="7FA9C4"/>
            </a:solidFill>
            <a:prstDash val="solid"/>
          </a:ln>
        </p:spPr>
      </p:sp>
      <p:sp>
        <p:nvSpPr>
          <p:cNvPr id="62" name="Shape 60"/>
          <p:cNvSpPr/>
          <p:nvPr/>
        </p:nvSpPr>
        <p:spPr>
          <a:xfrm>
            <a:off x="2264969" y="3495751"/>
            <a:ext cx="261518" cy="261518"/>
          </a:xfrm>
          <a:prstGeom prst="ellipse">
            <a:avLst/>
          </a:prstGeom>
          <a:solidFill>
            <a:srgbClr val="C9B6E4"/>
          </a:solidFill>
          <a:ln w="15875">
            <a:solidFill>
              <a:srgbClr val="6A4C93"/>
            </a:solidFill>
            <a:prstDash val="solid"/>
          </a:ln>
        </p:spPr>
      </p:sp>
      <p:sp>
        <p:nvSpPr>
          <p:cNvPr id="63" name="Shape 61"/>
          <p:cNvSpPr/>
          <p:nvPr/>
        </p:nvSpPr>
        <p:spPr>
          <a:xfrm>
            <a:off x="1130656" y="2774495"/>
            <a:ext cx="202082" cy="111145"/>
          </a:xfrm>
          <a:prstGeom prst="ellipse">
            <a:avLst/>
          </a:prstGeom>
          <a:solidFill>
            <a:srgbClr val="7DBE6A"/>
          </a:solidFill>
          <a:ln w="12700">
            <a:solidFill>
              <a:srgbClr val="3E7F2E"/>
            </a:solidFill>
            <a:prstDash val="solid"/>
          </a:ln>
        </p:spPr>
      </p:sp>
      <p:sp>
        <p:nvSpPr>
          <p:cNvPr id="64" name="Shape 62"/>
          <p:cNvSpPr/>
          <p:nvPr/>
        </p:nvSpPr>
        <p:spPr>
          <a:xfrm>
            <a:off x="1179155" y="2810062"/>
            <a:ext cx="91" cy="40012"/>
          </a:xfrm>
          <a:prstGeom prst="line">
            <a:avLst/>
          </a:prstGeom>
          <a:noFill/>
          <a:ln w="19050">
            <a:solidFill>
              <a:srgbClr val="3E7F2E"/>
            </a:solidFill>
            <a:prstDash val="solid"/>
          </a:ln>
        </p:spPr>
      </p:sp>
      <p:sp>
        <p:nvSpPr>
          <p:cNvPr id="65" name="Shape 63"/>
          <p:cNvSpPr/>
          <p:nvPr/>
        </p:nvSpPr>
        <p:spPr>
          <a:xfrm>
            <a:off x="1219572" y="2810062"/>
            <a:ext cx="91" cy="40012"/>
          </a:xfrm>
          <a:prstGeom prst="line">
            <a:avLst/>
          </a:prstGeom>
          <a:noFill/>
          <a:ln w="19050">
            <a:solidFill>
              <a:srgbClr val="3E7F2E"/>
            </a:solidFill>
            <a:prstDash val="solid"/>
          </a:ln>
        </p:spPr>
      </p:sp>
      <p:sp>
        <p:nvSpPr>
          <p:cNvPr id="66" name="Shape 64"/>
          <p:cNvSpPr/>
          <p:nvPr/>
        </p:nvSpPr>
        <p:spPr>
          <a:xfrm>
            <a:off x="1259988" y="2810062"/>
            <a:ext cx="91" cy="40012"/>
          </a:xfrm>
          <a:prstGeom prst="line">
            <a:avLst/>
          </a:prstGeom>
          <a:noFill/>
          <a:ln w="19050">
            <a:solidFill>
              <a:srgbClr val="3E7F2E"/>
            </a:solidFill>
            <a:prstDash val="solid"/>
          </a:ln>
        </p:spPr>
      </p:sp>
      <p:sp>
        <p:nvSpPr>
          <p:cNvPr id="67" name="Shape 65"/>
          <p:cNvSpPr/>
          <p:nvPr/>
        </p:nvSpPr>
        <p:spPr>
          <a:xfrm>
            <a:off x="1773479" y="2715059"/>
            <a:ext cx="202082" cy="111145"/>
          </a:xfrm>
          <a:prstGeom prst="ellipse">
            <a:avLst/>
          </a:prstGeom>
          <a:solidFill>
            <a:srgbClr val="7DBE6A"/>
          </a:solidFill>
          <a:ln w="12700">
            <a:solidFill>
              <a:srgbClr val="3E7F2E"/>
            </a:solidFill>
            <a:prstDash val="solid"/>
          </a:ln>
        </p:spPr>
      </p:sp>
      <p:sp>
        <p:nvSpPr>
          <p:cNvPr id="68" name="Shape 66"/>
          <p:cNvSpPr/>
          <p:nvPr/>
        </p:nvSpPr>
        <p:spPr>
          <a:xfrm>
            <a:off x="1821979" y="2750626"/>
            <a:ext cx="91" cy="40012"/>
          </a:xfrm>
          <a:prstGeom prst="line">
            <a:avLst/>
          </a:prstGeom>
          <a:noFill/>
          <a:ln w="19050">
            <a:solidFill>
              <a:srgbClr val="3E7F2E"/>
            </a:solidFill>
            <a:prstDash val="solid"/>
          </a:ln>
        </p:spPr>
      </p:sp>
      <p:sp>
        <p:nvSpPr>
          <p:cNvPr id="69" name="Shape 67"/>
          <p:cNvSpPr/>
          <p:nvPr/>
        </p:nvSpPr>
        <p:spPr>
          <a:xfrm>
            <a:off x="1862395" y="2750626"/>
            <a:ext cx="91" cy="40012"/>
          </a:xfrm>
          <a:prstGeom prst="line">
            <a:avLst/>
          </a:prstGeom>
          <a:noFill/>
          <a:ln w="19050">
            <a:solidFill>
              <a:srgbClr val="3E7F2E"/>
            </a:solidFill>
            <a:prstDash val="solid"/>
          </a:ln>
        </p:spPr>
      </p:sp>
      <p:sp>
        <p:nvSpPr>
          <p:cNvPr id="70" name="Shape 68"/>
          <p:cNvSpPr/>
          <p:nvPr/>
        </p:nvSpPr>
        <p:spPr>
          <a:xfrm>
            <a:off x="1902812" y="2750626"/>
            <a:ext cx="91" cy="40012"/>
          </a:xfrm>
          <a:prstGeom prst="line">
            <a:avLst/>
          </a:prstGeom>
          <a:noFill/>
          <a:ln w="19050">
            <a:solidFill>
              <a:srgbClr val="3E7F2E"/>
            </a:solidFill>
            <a:prstDash val="solid"/>
          </a:ln>
        </p:spPr>
      </p:sp>
      <p:sp>
        <p:nvSpPr>
          <p:cNvPr id="71" name="Shape 69"/>
          <p:cNvSpPr/>
          <p:nvPr/>
        </p:nvSpPr>
        <p:spPr>
          <a:xfrm>
            <a:off x="2416302" y="2833931"/>
            <a:ext cx="202082" cy="111145"/>
          </a:xfrm>
          <a:prstGeom prst="ellipse">
            <a:avLst/>
          </a:prstGeom>
          <a:solidFill>
            <a:srgbClr val="7DBE6A"/>
          </a:solidFill>
          <a:ln w="12700">
            <a:solidFill>
              <a:srgbClr val="3E7F2E"/>
            </a:solidFill>
            <a:prstDash val="solid"/>
          </a:ln>
        </p:spPr>
      </p:sp>
      <p:sp>
        <p:nvSpPr>
          <p:cNvPr id="72" name="Shape 70"/>
          <p:cNvSpPr/>
          <p:nvPr/>
        </p:nvSpPr>
        <p:spPr>
          <a:xfrm>
            <a:off x="2464802" y="2869498"/>
            <a:ext cx="91" cy="40012"/>
          </a:xfrm>
          <a:prstGeom prst="line">
            <a:avLst/>
          </a:prstGeom>
          <a:noFill/>
          <a:ln w="19050">
            <a:solidFill>
              <a:srgbClr val="3E7F2E"/>
            </a:solidFill>
            <a:prstDash val="solid"/>
          </a:ln>
        </p:spPr>
      </p:sp>
      <p:sp>
        <p:nvSpPr>
          <p:cNvPr id="73" name="Shape 71"/>
          <p:cNvSpPr/>
          <p:nvPr/>
        </p:nvSpPr>
        <p:spPr>
          <a:xfrm>
            <a:off x="2505218" y="2869498"/>
            <a:ext cx="91" cy="40012"/>
          </a:xfrm>
          <a:prstGeom prst="line">
            <a:avLst/>
          </a:prstGeom>
          <a:noFill/>
          <a:ln w="19050">
            <a:solidFill>
              <a:srgbClr val="3E7F2E"/>
            </a:solidFill>
            <a:prstDash val="solid"/>
          </a:ln>
        </p:spPr>
      </p:sp>
      <p:sp>
        <p:nvSpPr>
          <p:cNvPr id="74" name="Shape 72"/>
          <p:cNvSpPr/>
          <p:nvPr/>
        </p:nvSpPr>
        <p:spPr>
          <a:xfrm>
            <a:off x="2545635" y="2869498"/>
            <a:ext cx="91" cy="40012"/>
          </a:xfrm>
          <a:prstGeom prst="line">
            <a:avLst/>
          </a:prstGeom>
          <a:noFill/>
          <a:ln w="19050">
            <a:solidFill>
              <a:srgbClr val="3E7F2E"/>
            </a:solidFill>
            <a:prstDash val="solid"/>
          </a:ln>
        </p:spPr>
      </p:sp>
      <p:sp>
        <p:nvSpPr>
          <p:cNvPr id="75" name="Shape 73"/>
          <p:cNvSpPr/>
          <p:nvPr/>
        </p:nvSpPr>
        <p:spPr>
          <a:xfrm>
            <a:off x="1078535" y="3249983"/>
            <a:ext cx="202082" cy="111145"/>
          </a:xfrm>
          <a:prstGeom prst="ellipse">
            <a:avLst/>
          </a:prstGeom>
          <a:solidFill>
            <a:srgbClr val="7DBE6A"/>
          </a:solidFill>
          <a:ln w="12700">
            <a:solidFill>
              <a:srgbClr val="3E7F2E"/>
            </a:solidFill>
            <a:prstDash val="solid"/>
          </a:ln>
        </p:spPr>
      </p:sp>
      <p:sp>
        <p:nvSpPr>
          <p:cNvPr id="76" name="Shape 74"/>
          <p:cNvSpPr/>
          <p:nvPr/>
        </p:nvSpPr>
        <p:spPr>
          <a:xfrm>
            <a:off x="1127035" y="3285550"/>
            <a:ext cx="91" cy="40012"/>
          </a:xfrm>
          <a:prstGeom prst="line">
            <a:avLst/>
          </a:prstGeom>
          <a:noFill/>
          <a:ln w="19050">
            <a:solidFill>
              <a:srgbClr val="3E7F2E"/>
            </a:solidFill>
            <a:prstDash val="solid"/>
          </a:ln>
        </p:spPr>
      </p:sp>
      <p:sp>
        <p:nvSpPr>
          <p:cNvPr id="77" name="Shape 75"/>
          <p:cNvSpPr/>
          <p:nvPr/>
        </p:nvSpPr>
        <p:spPr>
          <a:xfrm>
            <a:off x="1167451" y="3285550"/>
            <a:ext cx="91" cy="40012"/>
          </a:xfrm>
          <a:prstGeom prst="line">
            <a:avLst/>
          </a:prstGeom>
          <a:noFill/>
          <a:ln w="19050">
            <a:solidFill>
              <a:srgbClr val="3E7F2E"/>
            </a:solidFill>
            <a:prstDash val="solid"/>
          </a:ln>
        </p:spPr>
      </p:sp>
      <p:sp>
        <p:nvSpPr>
          <p:cNvPr id="78" name="Shape 76"/>
          <p:cNvSpPr/>
          <p:nvPr/>
        </p:nvSpPr>
        <p:spPr>
          <a:xfrm>
            <a:off x="1207868" y="3285550"/>
            <a:ext cx="91" cy="40012"/>
          </a:xfrm>
          <a:prstGeom prst="line">
            <a:avLst/>
          </a:prstGeom>
          <a:noFill/>
          <a:ln w="19050">
            <a:solidFill>
              <a:srgbClr val="3E7F2E"/>
            </a:solidFill>
            <a:prstDash val="solid"/>
          </a:ln>
        </p:spPr>
      </p:sp>
      <p:sp>
        <p:nvSpPr>
          <p:cNvPr id="79" name="Shape 77"/>
          <p:cNvSpPr/>
          <p:nvPr/>
        </p:nvSpPr>
        <p:spPr>
          <a:xfrm>
            <a:off x="2468423" y="3249983"/>
            <a:ext cx="202082" cy="111145"/>
          </a:xfrm>
          <a:prstGeom prst="ellipse">
            <a:avLst/>
          </a:prstGeom>
          <a:solidFill>
            <a:srgbClr val="7DBE6A"/>
          </a:solidFill>
          <a:ln w="12700">
            <a:solidFill>
              <a:srgbClr val="3E7F2E"/>
            </a:solidFill>
            <a:prstDash val="solid"/>
          </a:ln>
        </p:spPr>
      </p:sp>
      <p:sp>
        <p:nvSpPr>
          <p:cNvPr id="80" name="Shape 78"/>
          <p:cNvSpPr/>
          <p:nvPr/>
        </p:nvSpPr>
        <p:spPr>
          <a:xfrm>
            <a:off x="2516923" y="3285550"/>
            <a:ext cx="91" cy="40012"/>
          </a:xfrm>
          <a:prstGeom prst="line">
            <a:avLst/>
          </a:prstGeom>
          <a:noFill/>
          <a:ln w="19050">
            <a:solidFill>
              <a:srgbClr val="3E7F2E"/>
            </a:solidFill>
            <a:prstDash val="solid"/>
          </a:ln>
        </p:spPr>
      </p:sp>
      <p:sp>
        <p:nvSpPr>
          <p:cNvPr id="81" name="Shape 79"/>
          <p:cNvSpPr/>
          <p:nvPr/>
        </p:nvSpPr>
        <p:spPr>
          <a:xfrm>
            <a:off x="2557339" y="3285550"/>
            <a:ext cx="91" cy="40012"/>
          </a:xfrm>
          <a:prstGeom prst="line">
            <a:avLst/>
          </a:prstGeom>
          <a:noFill/>
          <a:ln w="19050">
            <a:solidFill>
              <a:srgbClr val="3E7F2E"/>
            </a:solidFill>
            <a:prstDash val="solid"/>
          </a:ln>
        </p:spPr>
      </p:sp>
      <p:sp>
        <p:nvSpPr>
          <p:cNvPr id="82" name="Shape 80"/>
          <p:cNvSpPr/>
          <p:nvPr/>
        </p:nvSpPr>
        <p:spPr>
          <a:xfrm>
            <a:off x="2597756" y="3285550"/>
            <a:ext cx="91" cy="40012"/>
          </a:xfrm>
          <a:prstGeom prst="line">
            <a:avLst/>
          </a:prstGeom>
          <a:noFill/>
          <a:ln w="19050">
            <a:solidFill>
              <a:srgbClr val="3E7F2E"/>
            </a:solidFill>
            <a:prstDash val="solid"/>
          </a:ln>
        </p:spPr>
      </p:sp>
      <p:sp>
        <p:nvSpPr>
          <p:cNvPr id="83" name="Shape 81"/>
          <p:cNvSpPr/>
          <p:nvPr/>
        </p:nvSpPr>
        <p:spPr>
          <a:xfrm>
            <a:off x="1599743" y="3666035"/>
            <a:ext cx="202082" cy="111145"/>
          </a:xfrm>
          <a:prstGeom prst="ellipse">
            <a:avLst/>
          </a:prstGeom>
          <a:solidFill>
            <a:srgbClr val="7DBE6A"/>
          </a:solidFill>
          <a:ln w="12700">
            <a:solidFill>
              <a:srgbClr val="3E7F2E"/>
            </a:solidFill>
            <a:prstDash val="solid"/>
          </a:ln>
        </p:spPr>
      </p:sp>
      <p:sp>
        <p:nvSpPr>
          <p:cNvPr id="84" name="Shape 82"/>
          <p:cNvSpPr/>
          <p:nvPr/>
        </p:nvSpPr>
        <p:spPr>
          <a:xfrm>
            <a:off x="1648243" y="3701602"/>
            <a:ext cx="91" cy="40012"/>
          </a:xfrm>
          <a:prstGeom prst="line">
            <a:avLst/>
          </a:prstGeom>
          <a:noFill/>
          <a:ln w="19050">
            <a:solidFill>
              <a:srgbClr val="3E7F2E"/>
            </a:solidFill>
            <a:prstDash val="solid"/>
          </a:ln>
        </p:spPr>
      </p:sp>
      <p:sp>
        <p:nvSpPr>
          <p:cNvPr id="85" name="Shape 83"/>
          <p:cNvSpPr/>
          <p:nvPr/>
        </p:nvSpPr>
        <p:spPr>
          <a:xfrm>
            <a:off x="1688659" y="3701602"/>
            <a:ext cx="91" cy="40012"/>
          </a:xfrm>
          <a:prstGeom prst="line">
            <a:avLst/>
          </a:prstGeom>
          <a:noFill/>
          <a:ln w="19050">
            <a:solidFill>
              <a:srgbClr val="3E7F2E"/>
            </a:solidFill>
            <a:prstDash val="solid"/>
          </a:ln>
        </p:spPr>
      </p:sp>
      <p:sp>
        <p:nvSpPr>
          <p:cNvPr id="86" name="Shape 84"/>
          <p:cNvSpPr/>
          <p:nvPr/>
        </p:nvSpPr>
        <p:spPr>
          <a:xfrm>
            <a:off x="1729076" y="3701602"/>
            <a:ext cx="91" cy="40012"/>
          </a:xfrm>
          <a:prstGeom prst="line">
            <a:avLst/>
          </a:prstGeom>
          <a:noFill/>
          <a:ln w="19050">
            <a:solidFill>
              <a:srgbClr val="3E7F2E"/>
            </a:solidFill>
            <a:prstDash val="solid"/>
          </a:ln>
        </p:spPr>
      </p:sp>
      <p:sp>
        <p:nvSpPr>
          <p:cNvPr id="87" name="Shape 85"/>
          <p:cNvSpPr/>
          <p:nvPr/>
        </p:nvSpPr>
        <p:spPr>
          <a:xfrm rot="1200000">
            <a:off x="1177290" y="3581933"/>
            <a:ext cx="178308" cy="89154"/>
          </a:xfrm>
          <a:prstGeom prst="ellipse">
            <a:avLst/>
          </a:prstGeom>
          <a:solidFill>
            <a:srgbClr val="F2B279"/>
          </a:solidFill>
          <a:ln w="15875">
            <a:solidFill>
              <a:srgbClr val="A4561C"/>
            </a:solidFill>
            <a:prstDash val="solid"/>
          </a:ln>
        </p:spPr>
      </p:sp>
      <p:sp>
        <p:nvSpPr>
          <p:cNvPr id="88" name="Shape 86"/>
          <p:cNvSpPr/>
          <p:nvPr/>
        </p:nvSpPr>
        <p:spPr>
          <a:xfrm>
            <a:off x="1216184" y="3587345"/>
            <a:ext cx="5573" cy="43774"/>
          </a:xfrm>
          <a:prstGeom prst="line">
            <a:avLst/>
          </a:prstGeom>
          <a:noFill/>
          <a:ln w="9525">
            <a:solidFill>
              <a:srgbClr val="A4561C"/>
            </a:solidFill>
            <a:prstDash val="solid"/>
          </a:ln>
        </p:spPr>
      </p:sp>
      <p:sp>
        <p:nvSpPr>
          <p:cNvPr id="89" name="Shape 87"/>
          <p:cNvSpPr/>
          <p:nvPr/>
        </p:nvSpPr>
        <p:spPr>
          <a:xfrm flipV="1">
            <a:off x="1221757" y="3601168"/>
            <a:ext cx="32406" cy="29950"/>
          </a:xfrm>
          <a:prstGeom prst="line">
            <a:avLst/>
          </a:prstGeom>
          <a:noFill/>
          <a:ln w="9525">
            <a:solidFill>
              <a:srgbClr val="A4561C"/>
            </a:solidFill>
            <a:prstDash val="solid"/>
          </a:ln>
        </p:spPr>
      </p:sp>
      <p:sp>
        <p:nvSpPr>
          <p:cNvPr id="90" name="Shape 88"/>
          <p:cNvSpPr/>
          <p:nvPr/>
        </p:nvSpPr>
        <p:spPr>
          <a:xfrm>
            <a:off x="1254163" y="3601168"/>
            <a:ext cx="5573" cy="43774"/>
          </a:xfrm>
          <a:prstGeom prst="line">
            <a:avLst/>
          </a:prstGeom>
          <a:noFill/>
          <a:ln w="9525">
            <a:solidFill>
              <a:srgbClr val="A4561C"/>
            </a:solidFill>
            <a:prstDash val="solid"/>
          </a:ln>
        </p:spPr>
      </p:sp>
      <p:sp>
        <p:nvSpPr>
          <p:cNvPr id="91" name="Shape 89"/>
          <p:cNvSpPr/>
          <p:nvPr/>
        </p:nvSpPr>
        <p:spPr>
          <a:xfrm flipV="1">
            <a:off x="1259736" y="3614991"/>
            <a:ext cx="32406" cy="29950"/>
          </a:xfrm>
          <a:prstGeom prst="line">
            <a:avLst/>
          </a:prstGeom>
          <a:noFill/>
          <a:ln w="9525">
            <a:solidFill>
              <a:srgbClr val="A4561C"/>
            </a:solidFill>
            <a:prstDash val="solid"/>
          </a:ln>
        </p:spPr>
      </p:sp>
      <p:sp>
        <p:nvSpPr>
          <p:cNvPr id="92" name="Shape 90"/>
          <p:cNvSpPr/>
          <p:nvPr/>
        </p:nvSpPr>
        <p:spPr>
          <a:xfrm>
            <a:off x="1292142" y="3614991"/>
            <a:ext cx="5573" cy="43774"/>
          </a:xfrm>
          <a:prstGeom prst="line">
            <a:avLst/>
          </a:prstGeom>
          <a:noFill/>
          <a:ln w="9525">
            <a:solidFill>
              <a:srgbClr val="A4561C"/>
            </a:solidFill>
            <a:prstDash val="solid"/>
          </a:ln>
        </p:spPr>
      </p:sp>
      <p:sp>
        <p:nvSpPr>
          <p:cNvPr id="93" name="Shape 91"/>
          <p:cNvSpPr/>
          <p:nvPr/>
        </p:nvSpPr>
        <p:spPr>
          <a:xfrm flipV="1">
            <a:off x="1297715" y="3628814"/>
            <a:ext cx="32406" cy="29950"/>
          </a:xfrm>
          <a:prstGeom prst="line">
            <a:avLst/>
          </a:prstGeom>
          <a:noFill/>
          <a:ln w="9525">
            <a:solidFill>
              <a:srgbClr val="A4561C"/>
            </a:solidFill>
            <a:prstDash val="solid"/>
          </a:ln>
        </p:spPr>
      </p:sp>
      <p:sp>
        <p:nvSpPr>
          <p:cNvPr id="94" name="Shape 92"/>
          <p:cNvSpPr/>
          <p:nvPr/>
        </p:nvSpPr>
        <p:spPr>
          <a:xfrm rot="4800000">
            <a:off x="2454250" y="3058897"/>
            <a:ext cx="178308" cy="89154"/>
          </a:xfrm>
          <a:prstGeom prst="ellipse">
            <a:avLst/>
          </a:prstGeom>
          <a:solidFill>
            <a:srgbClr val="F2B279"/>
          </a:solidFill>
          <a:ln w="15875">
            <a:solidFill>
              <a:srgbClr val="A4561C"/>
            </a:solidFill>
            <a:prstDash val="solid"/>
          </a:ln>
        </p:spPr>
      </p:sp>
      <p:sp>
        <p:nvSpPr>
          <p:cNvPr id="95" name="Shape 93"/>
          <p:cNvSpPr/>
          <p:nvPr/>
        </p:nvSpPr>
        <p:spPr>
          <a:xfrm flipH="1">
            <a:off x="2517069" y="3040364"/>
            <a:ext cx="35123" cy="26713"/>
          </a:xfrm>
          <a:prstGeom prst="line">
            <a:avLst/>
          </a:prstGeom>
          <a:noFill/>
          <a:ln w="9525">
            <a:solidFill>
              <a:srgbClr val="A4561C"/>
            </a:solidFill>
            <a:prstDash val="solid"/>
          </a:ln>
        </p:spPr>
      </p:sp>
      <p:sp>
        <p:nvSpPr>
          <p:cNvPr id="96" name="Shape 94"/>
          <p:cNvSpPr/>
          <p:nvPr/>
        </p:nvSpPr>
        <p:spPr>
          <a:xfrm>
            <a:off x="2517069" y="3067077"/>
            <a:ext cx="42141" cy="13089"/>
          </a:xfrm>
          <a:prstGeom prst="line">
            <a:avLst/>
          </a:prstGeom>
          <a:noFill/>
          <a:ln w="9525">
            <a:solidFill>
              <a:srgbClr val="A4561C"/>
            </a:solidFill>
            <a:prstDash val="solid"/>
          </a:ln>
        </p:spPr>
      </p:sp>
      <p:sp>
        <p:nvSpPr>
          <p:cNvPr id="97" name="Shape 95"/>
          <p:cNvSpPr/>
          <p:nvPr/>
        </p:nvSpPr>
        <p:spPr>
          <a:xfrm flipH="1">
            <a:off x="2524088" y="3080166"/>
            <a:ext cx="35123" cy="26713"/>
          </a:xfrm>
          <a:prstGeom prst="line">
            <a:avLst/>
          </a:prstGeom>
          <a:noFill/>
          <a:ln w="9525">
            <a:solidFill>
              <a:srgbClr val="A4561C"/>
            </a:solidFill>
            <a:prstDash val="solid"/>
          </a:ln>
        </p:spPr>
      </p:sp>
      <p:sp>
        <p:nvSpPr>
          <p:cNvPr id="98" name="Shape 96"/>
          <p:cNvSpPr/>
          <p:nvPr/>
        </p:nvSpPr>
        <p:spPr>
          <a:xfrm>
            <a:off x="2524088" y="3106880"/>
            <a:ext cx="42141" cy="13089"/>
          </a:xfrm>
          <a:prstGeom prst="line">
            <a:avLst/>
          </a:prstGeom>
          <a:noFill/>
          <a:ln w="9525">
            <a:solidFill>
              <a:srgbClr val="A4561C"/>
            </a:solidFill>
            <a:prstDash val="solid"/>
          </a:ln>
        </p:spPr>
      </p:sp>
      <p:sp>
        <p:nvSpPr>
          <p:cNvPr id="99" name="Shape 97"/>
          <p:cNvSpPr/>
          <p:nvPr/>
        </p:nvSpPr>
        <p:spPr>
          <a:xfrm flipH="1">
            <a:off x="2531106" y="3119969"/>
            <a:ext cx="35123" cy="26713"/>
          </a:xfrm>
          <a:prstGeom prst="line">
            <a:avLst/>
          </a:prstGeom>
          <a:noFill/>
          <a:ln w="9525">
            <a:solidFill>
              <a:srgbClr val="A4561C"/>
            </a:solidFill>
            <a:prstDash val="solid"/>
          </a:ln>
        </p:spPr>
      </p:sp>
      <p:sp>
        <p:nvSpPr>
          <p:cNvPr id="100" name="Shape 98"/>
          <p:cNvSpPr/>
          <p:nvPr/>
        </p:nvSpPr>
        <p:spPr>
          <a:xfrm>
            <a:off x="2531106" y="3146682"/>
            <a:ext cx="42141" cy="13089"/>
          </a:xfrm>
          <a:prstGeom prst="line">
            <a:avLst/>
          </a:prstGeom>
          <a:noFill/>
          <a:ln w="9525">
            <a:solidFill>
              <a:srgbClr val="A4561C"/>
            </a:solidFill>
            <a:prstDash val="solid"/>
          </a:ln>
        </p:spPr>
      </p:sp>
      <p:sp>
        <p:nvSpPr>
          <p:cNvPr id="101" name="Shape 99"/>
          <p:cNvSpPr/>
          <p:nvPr/>
        </p:nvSpPr>
        <p:spPr>
          <a:xfrm>
            <a:off x="2926080" y="3246120"/>
            <a:ext cx="640080" cy="91"/>
          </a:xfrm>
          <a:prstGeom prst="line">
            <a:avLst/>
          </a:prstGeom>
          <a:noFill/>
          <a:ln w="25400">
            <a:solidFill>
              <a:srgbClr val="133536"/>
            </a:solidFill>
            <a:prstDash val="solid"/>
            <a:tailEnd type="triangle"/>
          </a:ln>
        </p:spPr>
      </p:sp>
      <p:sp>
        <p:nvSpPr>
          <p:cNvPr id="102" name="Text 100"/>
          <p:cNvSpPr/>
          <p:nvPr/>
        </p:nvSpPr>
        <p:spPr>
          <a:xfrm>
            <a:off x="2880360" y="2971800"/>
            <a:ext cx="731520" cy="2286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3</a:t>
            </a:r>
            <a:r>
              <a:rPr lang="en-US" sz="1000" dirty="0">
                <a:solidFill>
                  <a:srgbClr val="262B3A"/>
                </a:solidFill>
                <a:latin typeface="Calibri" pitchFamily="34" charset="0"/>
                <a:ea typeface="Calibri" pitchFamily="34" charset="-122"/>
                <a:cs typeface="Calibri" pitchFamily="34" charset="-120"/>
              </a:rPr>
              <a:t> grow</a:t>
            </a:r>
            <a:endParaRPr lang="en-US" sz="1000" dirty="0"/>
          </a:p>
        </p:txBody>
      </p:sp>
      <p:sp>
        <p:nvSpPr>
          <p:cNvPr id="103" name="Text 101"/>
          <p:cNvSpPr/>
          <p:nvPr/>
        </p:nvSpPr>
        <p:spPr>
          <a:xfrm>
            <a:off x="594360" y="4251960"/>
            <a:ext cx="5212080" cy="27432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3</a:t>
            </a:r>
            <a:r>
              <a:rPr lang="en-US" sz="1050" dirty="0">
                <a:solidFill>
                  <a:srgbClr val="262B3A"/>
                </a:solidFill>
                <a:latin typeface="Calibri" pitchFamily="34" charset="0"/>
                <a:ea typeface="Calibri" pitchFamily="34" charset="-122"/>
                <a:cs typeface="Calibri" pitchFamily="34" charset="-120"/>
              </a:rPr>
              <a:t> Grow the cell into a whole plant: every cell has the new gene</a:t>
            </a:r>
            <a:endParaRPr lang="en-US" sz="1050" dirty="0"/>
          </a:p>
        </p:txBody>
      </p:sp>
      <p:sp>
        <p:nvSpPr>
          <p:cNvPr id="104" name="Shape 102"/>
          <p:cNvSpPr/>
          <p:nvPr/>
        </p:nvSpPr>
        <p:spPr>
          <a:xfrm flipV="1">
            <a:off x="4023360" y="2651760"/>
            <a:ext cx="91" cy="1188720"/>
          </a:xfrm>
          <a:prstGeom prst="line">
            <a:avLst/>
          </a:prstGeom>
          <a:noFill/>
          <a:ln w="31750">
            <a:solidFill>
              <a:srgbClr val="3E7F2E"/>
            </a:solidFill>
            <a:prstDash val="solid"/>
          </a:ln>
        </p:spPr>
      </p:sp>
      <p:sp>
        <p:nvSpPr>
          <p:cNvPr id="105" name="Shape 103"/>
          <p:cNvSpPr/>
          <p:nvPr/>
        </p:nvSpPr>
        <p:spPr>
          <a:xfrm rot="1200000">
            <a:off x="3589020" y="3429000"/>
            <a:ext cx="411480" cy="182880"/>
          </a:xfrm>
          <a:prstGeom prst="ellipse">
            <a:avLst/>
          </a:prstGeom>
          <a:solidFill>
            <a:srgbClr val="9BC53D"/>
          </a:solidFill>
          <a:ln w="9525">
            <a:solidFill>
              <a:srgbClr val="2F6B24"/>
            </a:solidFill>
            <a:prstDash val="solid"/>
          </a:ln>
        </p:spPr>
      </p:sp>
      <p:sp>
        <p:nvSpPr>
          <p:cNvPr id="106" name="Shape 104"/>
          <p:cNvSpPr/>
          <p:nvPr/>
        </p:nvSpPr>
        <p:spPr>
          <a:xfrm>
            <a:off x="3712464" y="3483864"/>
            <a:ext cx="73152" cy="73152"/>
          </a:xfrm>
          <a:prstGeom prst="ellipse">
            <a:avLst/>
          </a:prstGeom>
          <a:solidFill>
            <a:srgbClr val="FFFFFF"/>
          </a:solidFill>
          <a:ln w="9525">
            <a:solidFill>
              <a:srgbClr val="9BC53D"/>
            </a:solidFill>
            <a:prstDash val="solid"/>
          </a:ln>
        </p:spPr>
      </p:sp>
      <p:sp>
        <p:nvSpPr>
          <p:cNvPr id="107" name="Shape 105"/>
          <p:cNvSpPr/>
          <p:nvPr/>
        </p:nvSpPr>
        <p:spPr>
          <a:xfrm rot="-1200000">
            <a:off x="4046220" y="3200400"/>
            <a:ext cx="411480" cy="182880"/>
          </a:xfrm>
          <a:prstGeom prst="ellipse">
            <a:avLst/>
          </a:prstGeom>
          <a:solidFill>
            <a:srgbClr val="9BC53D"/>
          </a:solidFill>
          <a:ln w="9525">
            <a:solidFill>
              <a:srgbClr val="2F6B24"/>
            </a:solidFill>
            <a:prstDash val="solid"/>
          </a:ln>
        </p:spPr>
      </p:sp>
      <p:sp>
        <p:nvSpPr>
          <p:cNvPr id="108" name="Shape 106"/>
          <p:cNvSpPr/>
          <p:nvPr/>
        </p:nvSpPr>
        <p:spPr>
          <a:xfrm>
            <a:off x="4261104" y="3255264"/>
            <a:ext cx="73152" cy="73152"/>
          </a:xfrm>
          <a:prstGeom prst="ellipse">
            <a:avLst/>
          </a:prstGeom>
          <a:solidFill>
            <a:srgbClr val="FFFFFF"/>
          </a:solidFill>
          <a:ln w="9525">
            <a:solidFill>
              <a:srgbClr val="9BC53D"/>
            </a:solidFill>
            <a:prstDash val="solid"/>
          </a:ln>
        </p:spPr>
      </p:sp>
      <p:sp>
        <p:nvSpPr>
          <p:cNvPr id="109" name="Shape 107"/>
          <p:cNvSpPr/>
          <p:nvPr/>
        </p:nvSpPr>
        <p:spPr>
          <a:xfrm rot="1200000">
            <a:off x="3589020" y="2971800"/>
            <a:ext cx="411480" cy="182880"/>
          </a:xfrm>
          <a:prstGeom prst="ellipse">
            <a:avLst/>
          </a:prstGeom>
          <a:solidFill>
            <a:srgbClr val="9BC53D"/>
          </a:solidFill>
          <a:ln w="9525">
            <a:solidFill>
              <a:srgbClr val="2F6B24"/>
            </a:solidFill>
            <a:prstDash val="solid"/>
          </a:ln>
        </p:spPr>
      </p:sp>
      <p:sp>
        <p:nvSpPr>
          <p:cNvPr id="110" name="Shape 108"/>
          <p:cNvSpPr/>
          <p:nvPr/>
        </p:nvSpPr>
        <p:spPr>
          <a:xfrm>
            <a:off x="3712464" y="3026664"/>
            <a:ext cx="73152" cy="73152"/>
          </a:xfrm>
          <a:prstGeom prst="ellipse">
            <a:avLst/>
          </a:prstGeom>
          <a:solidFill>
            <a:srgbClr val="FFFFFF"/>
          </a:solidFill>
          <a:ln w="9525">
            <a:solidFill>
              <a:srgbClr val="9BC53D"/>
            </a:solidFill>
            <a:prstDash val="solid"/>
          </a:ln>
        </p:spPr>
      </p:sp>
      <p:sp>
        <p:nvSpPr>
          <p:cNvPr id="111" name="Shape 109"/>
          <p:cNvSpPr/>
          <p:nvPr/>
        </p:nvSpPr>
        <p:spPr>
          <a:xfrm rot="-1200000">
            <a:off x="4046220" y="2743200"/>
            <a:ext cx="411480" cy="182880"/>
          </a:xfrm>
          <a:prstGeom prst="ellipse">
            <a:avLst/>
          </a:prstGeom>
          <a:solidFill>
            <a:srgbClr val="9BC53D"/>
          </a:solidFill>
          <a:ln w="9525">
            <a:solidFill>
              <a:srgbClr val="2F6B24"/>
            </a:solidFill>
            <a:prstDash val="solid"/>
          </a:ln>
        </p:spPr>
      </p:sp>
      <p:sp>
        <p:nvSpPr>
          <p:cNvPr id="112" name="Shape 110"/>
          <p:cNvSpPr/>
          <p:nvPr/>
        </p:nvSpPr>
        <p:spPr>
          <a:xfrm>
            <a:off x="4261104" y="2798064"/>
            <a:ext cx="73152" cy="73152"/>
          </a:xfrm>
          <a:prstGeom prst="ellipse">
            <a:avLst/>
          </a:prstGeom>
          <a:solidFill>
            <a:srgbClr val="FFFFFF"/>
          </a:solidFill>
          <a:ln w="9525">
            <a:solidFill>
              <a:srgbClr val="9BC53D"/>
            </a:solidFill>
            <a:prstDash val="solid"/>
          </a:ln>
        </p:spPr>
      </p:sp>
      <p:sp>
        <p:nvSpPr>
          <p:cNvPr id="113" name="Shape 111"/>
          <p:cNvSpPr/>
          <p:nvPr/>
        </p:nvSpPr>
        <p:spPr>
          <a:xfrm flipV="1">
            <a:off x="5120640" y="2651760"/>
            <a:ext cx="91" cy="1188720"/>
          </a:xfrm>
          <a:prstGeom prst="line">
            <a:avLst/>
          </a:prstGeom>
          <a:noFill/>
          <a:ln w="31750">
            <a:solidFill>
              <a:srgbClr val="3E7F2E"/>
            </a:solidFill>
            <a:prstDash val="solid"/>
          </a:ln>
        </p:spPr>
      </p:sp>
      <p:sp>
        <p:nvSpPr>
          <p:cNvPr id="114" name="Shape 112"/>
          <p:cNvSpPr/>
          <p:nvPr/>
        </p:nvSpPr>
        <p:spPr>
          <a:xfrm rot="1200000">
            <a:off x="4686300" y="3429000"/>
            <a:ext cx="411480" cy="182880"/>
          </a:xfrm>
          <a:prstGeom prst="ellipse">
            <a:avLst/>
          </a:prstGeom>
          <a:solidFill>
            <a:srgbClr val="4E9A3E"/>
          </a:solidFill>
          <a:ln w="9525">
            <a:solidFill>
              <a:srgbClr val="2F6B24"/>
            </a:solidFill>
            <a:prstDash val="solid"/>
          </a:ln>
        </p:spPr>
      </p:sp>
      <p:sp>
        <p:nvSpPr>
          <p:cNvPr id="115" name="Shape 113"/>
          <p:cNvSpPr/>
          <p:nvPr/>
        </p:nvSpPr>
        <p:spPr>
          <a:xfrm rot="-1200000">
            <a:off x="5143500" y="3200400"/>
            <a:ext cx="411480" cy="182880"/>
          </a:xfrm>
          <a:prstGeom prst="ellipse">
            <a:avLst/>
          </a:prstGeom>
          <a:solidFill>
            <a:srgbClr val="4E9A3E"/>
          </a:solidFill>
          <a:ln w="9525">
            <a:solidFill>
              <a:srgbClr val="2F6B24"/>
            </a:solidFill>
            <a:prstDash val="solid"/>
          </a:ln>
        </p:spPr>
      </p:sp>
      <p:sp>
        <p:nvSpPr>
          <p:cNvPr id="116" name="Shape 114"/>
          <p:cNvSpPr/>
          <p:nvPr/>
        </p:nvSpPr>
        <p:spPr>
          <a:xfrm rot="1200000">
            <a:off x="4686300" y="2971800"/>
            <a:ext cx="411480" cy="182880"/>
          </a:xfrm>
          <a:prstGeom prst="ellipse">
            <a:avLst/>
          </a:prstGeom>
          <a:solidFill>
            <a:srgbClr val="4E9A3E"/>
          </a:solidFill>
          <a:ln w="9525">
            <a:solidFill>
              <a:srgbClr val="2F6B24"/>
            </a:solidFill>
            <a:prstDash val="solid"/>
          </a:ln>
        </p:spPr>
      </p:sp>
      <p:sp>
        <p:nvSpPr>
          <p:cNvPr id="117" name="Shape 115"/>
          <p:cNvSpPr/>
          <p:nvPr/>
        </p:nvSpPr>
        <p:spPr>
          <a:xfrm rot="-1200000">
            <a:off x="5143500" y="2743200"/>
            <a:ext cx="411480" cy="182880"/>
          </a:xfrm>
          <a:prstGeom prst="ellipse">
            <a:avLst/>
          </a:prstGeom>
          <a:solidFill>
            <a:srgbClr val="4E9A3E"/>
          </a:solidFill>
          <a:ln w="9525">
            <a:solidFill>
              <a:srgbClr val="2F6B24"/>
            </a:solidFill>
            <a:prstDash val="solid"/>
          </a:ln>
        </p:spPr>
      </p:sp>
      <p:sp>
        <p:nvSpPr>
          <p:cNvPr id="118" name="Text 116"/>
          <p:cNvSpPr/>
          <p:nvPr/>
        </p:nvSpPr>
        <p:spPr>
          <a:xfrm>
            <a:off x="3520440" y="3886200"/>
            <a:ext cx="100584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pest damage</a:t>
            </a:r>
            <a:endParaRPr lang="en-US" sz="1000" dirty="0"/>
          </a:p>
        </p:txBody>
      </p:sp>
      <p:sp>
        <p:nvSpPr>
          <p:cNvPr id="119" name="Text 117"/>
          <p:cNvSpPr/>
          <p:nvPr/>
        </p:nvSpPr>
        <p:spPr>
          <a:xfrm>
            <a:off x="4572000" y="3886200"/>
            <a:ext cx="1188720" cy="201168"/>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GM: resists pest</a:t>
            </a:r>
            <a:endParaRPr lang="en-US" sz="1000" dirty="0"/>
          </a:p>
        </p:txBody>
      </p:sp>
      <p:sp>
        <p:nvSpPr>
          <p:cNvPr id="120" name="Text 118"/>
          <p:cNvSpPr/>
          <p:nvPr/>
        </p:nvSpPr>
        <p:spPr>
          <a:xfrm>
            <a:off x="594360" y="4617720"/>
            <a:ext cx="5212080" cy="41148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Other GM examples: drought-tolerant maize, Golden Rice (vitamin A), herbicide-tolerant soya</a:t>
            </a:r>
            <a:endParaRPr lang="en-US" sz="1000" dirty="0"/>
          </a:p>
        </p:txBody>
      </p:sp>
      <p:sp>
        <p:nvSpPr>
          <p:cNvPr id="121" name="Shape 119"/>
          <p:cNvSpPr/>
          <p:nvPr/>
        </p:nvSpPr>
        <p:spPr>
          <a:xfrm>
            <a:off x="6217920" y="1188720"/>
            <a:ext cx="5562295" cy="3200400"/>
          </a:xfrm>
          <a:prstGeom prst="roundRect">
            <a:avLst>
              <a:gd name="adj" fmla="val 1714"/>
            </a:avLst>
          </a:prstGeom>
          <a:solidFill>
            <a:srgbClr val="F4FAF9"/>
          </a:solidFill>
          <a:ln w="9525">
            <a:solidFill>
              <a:srgbClr val="CFE0DE"/>
            </a:solidFill>
            <a:prstDash val="solid"/>
          </a:ln>
        </p:spPr>
      </p:sp>
      <p:sp>
        <p:nvSpPr>
          <p:cNvPr id="122" name="Text 12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Ways to produce more food</a:t>
            </a:r>
            <a:endParaRPr lang="en-US" sz="1300" dirty="0"/>
          </a:p>
        </p:txBody>
      </p:sp>
      <p:sp>
        <p:nvSpPr>
          <p:cNvPr id="123" name="Text 121"/>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GM crops</a:t>
            </a:r>
            <a:r>
              <a:rPr lang="en-US" sz="1050" dirty="0">
                <a:solidFill>
                  <a:srgbClr val="262B3A"/>
                </a:solidFill>
                <a:latin typeface="Calibri" pitchFamily="34" charset="0"/>
                <a:ea typeface="Calibri" pitchFamily="34" charset="-122"/>
                <a:cs typeface="Calibri" pitchFamily="34" charset="-120"/>
              </a:rPr>
              <a:t>: pest or disease resistance, drought tolerance, extra nutrients → higher, more reliable </a:t>
            </a:r>
            <a:r>
              <a:rPr lang="en-US" sz="1050" b="1" dirty="0">
                <a:solidFill>
                  <a:srgbClr val="262B3A"/>
                </a:solidFill>
                <a:latin typeface="Calibri" pitchFamily="34" charset="0"/>
                <a:ea typeface="Calibri" pitchFamily="34" charset="-122"/>
                <a:cs typeface="Calibri" pitchFamily="34" charset="-120"/>
              </a:rPr>
              <a:t>yields</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Selective breeding</a:t>
            </a:r>
            <a:r>
              <a:rPr lang="en-US" sz="1050" dirty="0">
                <a:solidFill>
                  <a:srgbClr val="262B3A"/>
                </a:solidFill>
                <a:latin typeface="Calibri" pitchFamily="34" charset="0"/>
                <a:ea typeface="Calibri" pitchFamily="34" charset="-122"/>
                <a:cs typeface="Calibri" pitchFamily="34" charset="-120"/>
              </a:rPr>
              <a:t> of high-yield, disease-resistant varieties.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Biological pest control</a:t>
            </a:r>
            <a:r>
              <a:rPr lang="en-US" sz="1050" dirty="0">
                <a:solidFill>
                  <a:srgbClr val="262B3A"/>
                </a:solidFill>
                <a:latin typeface="Calibri" pitchFamily="34" charset="0"/>
                <a:ea typeface="Calibri" pitchFamily="34" charset="-122"/>
                <a:cs typeface="Calibri" pitchFamily="34" charset="-120"/>
              </a:rPr>
              <a:t>, integrated pest management, crop rotation, hydroponics, fish farming.</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Benefits</a:t>
            </a:r>
            <a:r>
              <a:rPr lang="en-US" sz="1050" dirty="0">
                <a:solidFill>
                  <a:srgbClr val="262B3A"/>
                </a:solidFill>
                <a:latin typeface="Calibri" pitchFamily="34" charset="0"/>
                <a:ea typeface="Calibri" pitchFamily="34" charset="-122"/>
                <a:cs typeface="Calibri" pitchFamily="34" charset="-120"/>
              </a:rPr>
              <a:t>: more food from the same land, less pesticide spraying, so less pressure to clear forests.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Risks and concerns</a:t>
            </a:r>
            <a:r>
              <a:rPr lang="en-US" sz="1050" dirty="0">
                <a:solidFill>
                  <a:srgbClr val="262B3A"/>
                </a:solidFill>
                <a:latin typeface="Calibri" pitchFamily="34" charset="0"/>
                <a:ea typeface="Calibri" pitchFamily="34" charset="-122"/>
                <a:cs typeface="Calibri" pitchFamily="34" charset="-120"/>
              </a:rPr>
              <a:t>: genes may spread to wild plants; pests may evolve resistance; effects on insects and food webs; cost of seed to poor farmers; some people object on ethical grounds.</a:t>
            </a:r>
            <a:endParaRPr lang="en-US" sz="1050" dirty="0"/>
          </a:p>
        </p:txBody>
      </p:sp>
      <p:sp>
        <p:nvSpPr>
          <p:cNvPr id="124" name="Shape 122"/>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125" name="Text 123"/>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yield increase</a:t>
            </a:r>
            <a:endParaRPr lang="en-US" sz="1300" dirty="0"/>
          </a:p>
        </p:txBody>
      </p:sp>
      <p:sp>
        <p:nvSpPr>
          <p:cNvPr id="126" name="Text 124"/>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normal variety yields 6.0 t/ha; a GM pest-resistant variety yields 7.2 t/ha.</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Increase   </a:t>
            </a:r>
            <a:r>
              <a:rPr lang="en-US" sz="1050" dirty="0">
                <a:solidFill>
                  <a:srgbClr val="262B3A"/>
                </a:solidFill>
                <a:latin typeface="Calibri" pitchFamily="34" charset="0"/>
                <a:ea typeface="Calibri" pitchFamily="34" charset="-122"/>
                <a:cs typeface="Calibri" pitchFamily="34" charset="-120"/>
              </a:rPr>
              <a:t>7.2 − 6.0 = 1.2 t/ha</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1.2 ÷ 6.0 × 100 = </a:t>
            </a:r>
            <a:r>
              <a:rPr lang="en-US" sz="1050" b="1" dirty="0">
                <a:solidFill>
                  <a:srgbClr val="C8414C"/>
                </a:solidFill>
                <a:latin typeface="Calibri" pitchFamily="34" charset="0"/>
                <a:ea typeface="Calibri" pitchFamily="34" charset="-122"/>
                <a:cs typeface="Calibri" pitchFamily="34" charset="-120"/>
              </a:rPr>
              <a:t>20%</a:t>
            </a:r>
            <a:r>
              <a:rPr lang="en-US" sz="1050" b="1" dirty="0">
                <a:solidFill>
                  <a:srgbClr val="C8414C"/>
                </a:solidFill>
                <a:latin typeface="Calibri" pitchFamily="34" charset="0"/>
                <a:ea typeface="Calibri" pitchFamily="34" charset="-122"/>
                <a:cs typeface="Calibri" pitchFamily="34" charset="-120"/>
              </a:rPr>
              <a:t> higher yield</a:t>
            </a:r>
            <a:endParaRPr lang="en-US" sz="1050" dirty="0"/>
          </a:p>
        </p:txBody>
      </p:sp>
      <p:sp>
        <p:nvSpPr>
          <p:cNvPr id="127" name="Shape 125"/>
          <p:cNvSpPr/>
          <p:nvPr/>
        </p:nvSpPr>
        <p:spPr>
          <a:xfrm>
            <a:off x="411480" y="5833872"/>
            <a:ext cx="11368735" cy="530352"/>
          </a:xfrm>
          <a:prstGeom prst="rect">
            <a:avLst/>
          </a:prstGeom>
          <a:solidFill>
            <a:srgbClr val="FFF4E0"/>
          </a:solidFill>
          <a:ln w="6350">
            <a:solidFill>
              <a:srgbClr val="F1D9A8"/>
            </a:solidFill>
            <a:prstDash val="solid"/>
          </a:ln>
        </p:spPr>
      </p:sp>
      <p:sp>
        <p:nvSpPr>
          <p:cNvPr id="128" name="Shape 126"/>
          <p:cNvSpPr/>
          <p:nvPr/>
        </p:nvSpPr>
        <p:spPr>
          <a:xfrm>
            <a:off x="411480" y="5833872"/>
            <a:ext cx="82296" cy="530352"/>
          </a:xfrm>
          <a:prstGeom prst="rect">
            <a:avLst/>
          </a:prstGeom>
          <a:solidFill>
            <a:srgbClr val="E39A2F"/>
          </a:solidFill>
          <a:ln w="12700">
            <a:solidFill>
              <a:srgbClr val="E39A2F"/>
            </a:solidFill>
            <a:prstDash val="solid"/>
          </a:ln>
        </p:spPr>
      </p:sp>
      <p:sp>
        <p:nvSpPr>
          <p:cNvPr id="129" name="Text 12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benefit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risk of growing GM crops. A yield rises from </a:t>
            </a:r>
            <a:r>
              <a:rPr lang="en-US" sz="1150" b="1" dirty="0">
                <a:solidFill>
                  <a:srgbClr val="262B3A"/>
                </a:solidFill>
                <a:latin typeface="Calibri" pitchFamily="34" charset="0"/>
                <a:ea typeface="Calibri" pitchFamily="34" charset="-122"/>
                <a:cs typeface="Calibri" pitchFamily="34" charset="-120"/>
              </a:rPr>
              <a:t>4.0</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5.0 t/ha</a:t>
            </a:r>
            <a:r>
              <a:rPr lang="en-US" sz="1150" dirty="0">
                <a:solidFill>
                  <a:srgbClr val="262B3A"/>
                </a:solidFill>
                <a:latin typeface="Calibri" pitchFamily="34" charset="0"/>
                <a:ea typeface="Calibri" pitchFamily="34" charset="-122"/>
                <a:cs typeface="Calibri" pitchFamily="34" charset="-120"/>
              </a:rPr>
              <a:t>: what is the % increase?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B6.3.4, B6.3.5 • food security and solutions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biological factors that threaten food security.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 pest-resistant GM crop could </a:t>
            </a:r>
            <a:r>
              <a:rPr lang="en-US" sz="1250" b="1" dirty="0">
                <a:solidFill>
                  <a:srgbClr val="262B3A"/>
                </a:solidFill>
                <a:latin typeface="Calibri" pitchFamily="34" charset="0"/>
                <a:ea typeface="Calibri" pitchFamily="34" charset="-122"/>
                <a:cs typeface="Calibri" pitchFamily="34" charset="-120"/>
              </a:rPr>
              <a:t>increase</a:t>
            </a:r>
            <a:r>
              <a:rPr lang="en-US" sz="1250" dirty="0">
                <a:solidFill>
                  <a:srgbClr val="262B3A"/>
                </a:solidFill>
                <a:latin typeface="Calibri" pitchFamily="34" charset="0"/>
                <a:ea typeface="Calibri" pitchFamily="34" charset="-122"/>
                <a:cs typeface="Calibri" pitchFamily="34" charset="-120"/>
              </a:rPr>
              <a:t> food security.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concern people have about growing GM crops.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how producing more food on existing farmland could help protect </a:t>
            </a:r>
            <a:r>
              <a:rPr lang="en-US" sz="1250" b="1" dirty="0">
                <a:solidFill>
                  <a:srgbClr val="262B3A"/>
                </a:solidFill>
                <a:latin typeface="Calibri" pitchFamily="34" charset="0"/>
                <a:ea typeface="Calibri" pitchFamily="34" charset="-122"/>
                <a:cs typeface="Calibri" pitchFamily="34" charset="-120"/>
              </a:rPr>
              <a:t>biodiversity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B6.3 How is biodiversity threatened and how can we protect it?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22</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Biodiversity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variety of living organisms in an area: genes, species and ecosystems.</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Ecosystem services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Benefits from nature: food, medicines, pollination, clean water, carbon storage.</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Extinction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When no individuals of a species are left anywhere; biodiversity is lost for ever.</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Monoculture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large area growing one crop variety: low biodiversity.</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Deforestation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Cutting down forests for farmland, timber or building.</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Eutrophication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Nutrient pollution → algal bloom → plants die → oxygen used up → animals die.</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Overexploitation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Taking fish, animals or trees faster than populations can recover.</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Invasive species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non-native species that harms native species, e.g. grey squirrel.</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Indicator species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Organism whose presence shows the level of pollution, e.g. lichens, stoneflies.</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Conservation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Protecting species and habitats, e.g. reserves, breeding programmes.</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Seed bank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store of dried, frozen seeds that keeps plant genetic diversity.</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Captive breeding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Breeding endangered animals in zoos and releasing them into the wild.</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Quota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legal limit on how much fish may be caught.</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Food security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Everyone has reliable access to enough safe, nutritious food.</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GM crop</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crop with a gene from another organism, e.g. for pest resistance.</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Sustainable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Meeting needs today without harming the ability to meet future needs.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B6.3.1–B6.3.5 • answer every part • 13 marks • (f) is HT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farmer removes hedgerows to make bigger fields. The length of hedgerow on the farm fell from </a:t>
            </a:r>
            <a:r>
              <a:rPr lang="en-US" sz="1200" b="1" i="1" dirty="0">
                <a:solidFill>
                  <a:srgbClr val="262B3A"/>
                </a:solidFill>
                <a:latin typeface="Calibri" pitchFamily="34" charset="0"/>
                <a:ea typeface="Calibri" pitchFamily="34" charset="-122"/>
                <a:cs typeface="Calibri" pitchFamily="34" charset="-120"/>
              </a:rPr>
              <a:t>800 m</a:t>
            </a:r>
            <a:r>
              <a:rPr lang="en-US" sz="1200" i="1" dirty="0">
                <a:solidFill>
                  <a:srgbClr val="262B3A"/>
                </a:solidFill>
                <a:latin typeface="Calibri" pitchFamily="34" charset="0"/>
                <a:ea typeface="Calibri" pitchFamily="34" charset="-122"/>
                <a:cs typeface="Calibri" pitchFamily="34" charset="-120"/>
              </a:rPr>
              <a:t> in 1950 to </a:t>
            </a:r>
            <a:r>
              <a:rPr lang="en-US" sz="1200" b="1" i="1" dirty="0">
                <a:solidFill>
                  <a:srgbClr val="262B3A"/>
                </a:solidFill>
                <a:latin typeface="Calibri" pitchFamily="34" charset="0"/>
                <a:ea typeface="Calibri" pitchFamily="34" charset="-122"/>
                <a:cs typeface="Calibri" pitchFamily="34" charset="-120"/>
              </a:rPr>
              <a:t>440 m</a:t>
            </a:r>
            <a:r>
              <a:rPr lang="en-US" sz="1200" i="1" dirty="0">
                <a:solidFill>
                  <a:srgbClr val="262B3A"/>
                </a:solidFill>
                <a:latin typeface="Calibri" pitchFamily="34" charset="0"/>
                <a:ea typeface="Calibri" pitchFamily="34" charset="-122"/>
                <a:cs typeface="Calibri" pitchFamily="34" charset="-120"/>
              </a:rPr>
              <a:t> in 2000. A conservation group counted nesting birds along the hedges in three years: </a:t>
            </a:r>
            <a:r>
              <a:rPr lang="en-US" sz="1200" b="1" i="1" dirty="0">
                <a:solidFill>
                  <a:srgbClr val="262B3A"/>
                </a:solidFill>
                <a:latin typeface="Calibri" pitchFamily="34" charset="0"/>
                <a:ea typeface="Calibri" pitchFamily="34" charset="-122"/>
                <a:cs typeface="Calibri" pitchFamily="34" charset="-120"/>
              </a:rPr>
              <a:t>12</a:t>
            </a:r>
            <a:r>
              <a:rPr lang="en-US" sz="1200" i="1" dirty="0">
                <a:solidFill>
                  <a:srgbClr val="262B3A"/>
                </a:solidFill>
                <a:latin typeface="Calibri" pitchFamily="34" charset="0"/>
                <a:ea typeface="Calibri" pitchFamily="34" charset="-122"/>
                <a:cs typeface="Calibri" pitchFamily="34" charset="-120"/>
              </a:rPr>
              <a:t>, </a:t>
            </a:r>
            <a:r>
              <a:rPr lang="en-US" sz="1200" b="1" i="1" dirty="0">
                <a:solidFill>
                  <a:srgbClr val="262B3A"/>
                </a:solidFill>
                <a:latin typeface="Calibri" pitchFamily="34" charset="0"/>
                <a:ea typeface="Calibri" pitchFamily="34" charset="-122"/>
                <a:cs typeface="Calibri" pitchFamily="34" charset="-120"/>
              </a:rPr>
              <a:t>15</a:t>
            </a:r>
            <a:r>
              <a:rPr lang="en-US" sz="1200" i="1" dirty="0">
                <a:solidFill>
                  <a:srgbClr val="262B3A"/>
                </a:solidFill>
                <a:latin typeface="Calibri" pitchFamily="34" charset="0"/>
                <a:ea typeface="Calibri" pitchFamily="34" charset="-122"/>
                <a:cs typeface="Calibri" pitchFamily="34" charset="-120"/>
              </a:rPr>
              <a:t> and </a:t>
            </a:r>
            <a:r>
              <a:rPr lang="en-US" sz="1200" b="1" i="1" dirty="0">
                <a:solidFill>
                  <a:srgbClr val="262B3A"/>
                </a:solidFill>
                <a:latin typeface="Calibri" pitchFamily="34" charset="0"/>
                <a:ea typeface="Calibri" pitchFamily="34" charset="-122"/>
                <a:cs typeface="Calibri" pitchFamily="34" charset="-120"/>
              </a:rPr>
              <a:t>9</a:t>
            </a:r>
            <a:r>
              <a:rPr lang="en-US" sz="1200" i="1" dirty="0">
                <a:solidFill>
                  <a:srgbClr val="262B3A"/>
                </a:solidFill>
                <a:latin typeface="Calibri" pitchFamily="34" charset="0"/>
                <a:ea typeface="Calibri" pitchFamily="34" charset="-122"/>
                <a:cs typeface="Calibri" pitchFamily="34" charset="-120"/>
              </a:rPr>
              <a:t> nests.</a:t>
            </a:r>
            <a:endParaRPr lang="en-US" sz="1200" dirty="0"/>
          </a:p>
        </p:txBody>
      </p:sp>
      <p:sp>
        <p:nvSpPr>
          <p:cNvPr id="9" name="Shape 7"/>
          <p:cNvSpPr/>
          <p:nvPr/>
        </p:nvSpPr>
        <p:spPr>
          <a:xfrm>
            <a:off x="411480" y="1719072"/>
            <a:ext cx="5570068" cy="1395197"/>
          </a:xfrm>
          <a:prstGeom prst="roundRect">
            <a:avLst>
              <a:gd name="adj" fmla="val 3277"/>
            </a:avLst>
          </a:prstGeom>
          <a:solidFill>
            <a:srgbClr val="F4FAF9"/>
          </a:solidFill>
          <a:ln w="9525">
            <a:solidFill>
              <a:srgbClr val="CFE0DE"/>
            </a:solidFill>
            <a:prstDash val="solid"/>
          </a:ln>
        </p:spPr>
      </p:sp>
      <p:sp>
        <p:nvSpPr>
          <p:cNvPr id="10" name="Text 8"/>
          <p:cNvSpPr/>
          <p:nvPr/>
        </p:nvSpPr>
        <p:spPr>
          <a:xfrm>
            <a:off x="548640" y="1792224"/>
            <a:ext cx="5295748" cy="10294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Calculate the percentage of hedgerow lost from 1950 to 2000.</a:t>
            </a:r>
            <a:endParaRPr lang="en-US" sz="1200" dirty="0"/>
          </a:p>
        </p:txBody>
      </p:sp>
      <p:sp>
        <p:nvSpPr>
          <p:cNvPr id="11" name="Text 9"/>
          <p:cNvSpPr/>
          <p:nvPr/>
        </p:nvSpPr>
        <p:spPr>
          <a:xfrm>
            <a:off x="4518508" y="28033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23997"/>
            <a:ext cx="5570068" cy="1395197"/>
          </a:xfrm>
          <a:prstGeom prst="roundRect">
            <a:avLst>
              <a:gd name="adj" fmla="val 3277"/>
            </a:avLst>
          </a:prstGeom>
          <a:solidFill>
            <a:srgbClr val="FFFFFF"/>
          </a:solidFill>
          <a:ln w="9525">
            <a:solidFill>
              <a:srgbClr val="CFE0DE"/>
            </a:solidFill>
            <a:prstDash val="solid"/>
          </a:ln>
        </p:spPr>
      </p:sp>
      <p:sp>
        <p:nvSpPr>
          <p:cNvPr id="13" name="Text 11"/>
          <p:cNvSpPr/>
          <p:nvPr/>
        </p:nvSpPr>
        <p:spPr>
          <a:xfrm>
            <a:off x="548640" y="3297149"/>
            <a:ext cx="5295748" cy="10294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mean number of nests.</a:t>
            </a:r>
            <a:endParaRPr lang="en-US" sz="1200" dirty="0"/>
          </a:p>
        </p:txBody>
      </p:sp>
      <p:sp>
        <p:nvSpPr>
          <p:cNvPr id="14" name="Text 12"/>
          <p:cNvSpPr/>
          <p:nvPr/>
        </p:nvSpPr>
        <p:spPr>
          <a:xfrm>
            <a:off x="4518508" y="43082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4728923"/>
            <a:ext cx="5570068" cy="1534717"/>
          </a:xfrm>
          <a:prstGeom prst="roundRect">
            <a:avLst>
              <a:gd name="adj" fmla="val 2979"/>
            </a:avLst>
          </a:prstGeom>
          <a:solidFill>
            <a:srgbClr val="F4FAF9"/>
          </a:solidFill>
          <a:ln w="9525">
            <a:solidFill>
              <a:srgbClr val="CFE0DE"/>
            </a:solidFill>
            <a:prstDash val="solid"/>
          </a:ln>
        </p:spPr>
      </p:sp>
      <p:sp>
        <p:nvSpPr>
          <p:cNvPr id="16" name="Text 14"/>
          <p:cNvSpPr/>
          <p:nvPr/>
        </p:nvSpPr>
        <p:spPr>
          <a:xfrm>
            <a:off x="548640" y="4802075"/>
            <a:ext cx="5295748" cy="116895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Explain why removing hedgerows </a:t>
            </a:r>
            <a:r>
              <a:rPr lang="en-US" sz="1200" b="1" dirty="0">
                <a:solidFill>
                  <a:srgbClr val="262B3A"/>
                </a:solidFill>
                <a:latin typeface="Calibri" pitchFamily="34" charset="0"/>
                <a:ea typeface="Calibri" pitchFamily="34" charset="-122"/>
                <a:cs typeface="Calibri" pitchFamily="34" charset="-120"/>
              </a:rPr>
              <a:t>reduces biodiversity</a:t>
            </a:r>
            <a:r>
              <a:rPr lang="en-US" sz="1200" dirty="0">
                <a:solidFill>
                  <a:srgbClr val="262B3A"/>
                </a:solidFill>
                <a:latin typeface="Calibri" pitchFamily="34" charset="0"/>
                <a:ea typeface="Calibri" pitchFamily="34" charset="-122"/>
                <a:cs typeface="Calibri" pitchFamily="34" charset="-120"/>
              </a:rPr>
              <a:t> on the farm.</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321562"/>
          </a:xfrm>
          <a:prstGeom prst="roundRect">
            <a:avLst>
              <a:gd name="adj" fmla="val 3460"/>
            </a:avLst>
          </a:prstGeom>
          <a:solidFill>
            <a:srgbClr val="F4FAF9"/>
          </a:solidFill>
          <a:ln w="9525">
            <a:solidFill>
              <a:srgbClr val="CFE0DE"/>
            </a:solidFill>
            <a:prstDash val="solid"/>
          </a:ln>
        </p:spPr>
      </p:sp>
      <p:sp>
        <p:nvSpPr>
          <p:cNvPr id="19" name="Text 17"/>
          <p:cNvSpPr/>
          <p:nvPr/>
        </p:nvSpPr>
        <p:spPr>
          <a:xfrm>
            <a:off x="6347308" y="1792224"/>
            <a:ext cx="5295748" cy="955802"/>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The farmer is offered money to replant hedges. Give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benefit and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challenge for the farmer.</a:t>
            </a:r>
            <a:endParaRPr lang="en-US" sz="1200" dirty="0"/>
          </a:p>
        </p:txBody>
      </p:sp>
      <p:sp>
        <p:nvSpPr>
          <p:cNvPr id="20" name="Text 18"/>
          <p:cNvSpPr/>
          <p:nvPr/>
        </p:nvSpPr>
        <p:spPr>
          <a:xfrm>
            <a:off x="10317175" y="272973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50362"/>
            <a:ext cx="5570068" cy="1441704"/>
          </a:xfrm>
          <a:prstGeom prst="roundRect">
            <a:avLst>
              <a:gd name="adj" fmla="val 3171"/>
            </a:avLst>
          </a:prstGeom>
          <a:solidFill>
            <a:srgbClr val="FFFFFF"/>
          </a:solidFill>
          <a:ln w="9525">
            <a:solidFill>
              <a:srgbClr val="CFE0DE"/>
            </a:solidFill>
            <a:prstDash val="solid"/>
          </a:ln>
        </p:spPr>
      </p:sp>
      <p:sp>
        <p:nvSpPr>
          <p:cNvPr id="22" name="Text 20"/>
          <p:cNvSpPr/>
          <p:nvPr/>
        </p:nvSpPr>
        <p:spPr>
          <a:xfrm>
            <a:off x="6347308" y="3223514"/>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three</a:t>
            </a:r>
            <a:r>
              <a:rPr lang="en-US" sz="1200" dirty="0">
                <a:solidFill>
                  <a:srgbClr val="262B3A"/>
                </a:solidFill>
                <a:latin typeface="Calibri" pitchFamily="34" charset="0"/>
                <a:ea typeface="Calibri" pitchFamily="34" charset="-122"/>
                <a:cs typeface="Calibri" pitchFamily="34" charset="-120"/>
              </a:rPr>
              <a:t> other ways in which humans can protect biodiversity.</a:t>
            </a:r>
            <a:endParaRPr lang="en-US" sz="1200" dirty="0"/>
          </a:p>
        </p:txBody>
      </p:sp>
      <p:sp>
        <p:nvSpPr>
          <p:cNvPr id="23" name="Text 21"/>
          <p:cNvSpPr/>
          <p:nvPr/>
        </p:nvSpPr>
        <p:spPr>
          <a:xfrm>
            <a:off x="10317175" y="428117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4701794"/>
            <a:ext cx="5570068" cy="1561846"/>
          </a:xfrm>
          <a:prstGeom prst="roundRect">
            <a:avLst>
              <a:gd name="adj" fmla="val 2927"/>
            </a:avLst>
          </a:prstGeom>
          <a:solidFill>
            <a:srgbClr val="F4FAF9"/>
          </a:solidFill>
          <a:ln w="9525">
            <a:solidFill>
              <a:srgbClr val="CFE0DE"/>
            </a:solidFill>
            <a:prstDash val="solid"/>
          </a:ln>
        </p:spPr>
      </p:sp>
      <p:sp>
        <p:nvSpPr>
          <p:cNvPr id="25" name="Text 23"/>
          <p:cNvSpPr/>
          <p:nvPr/>
        </p:nvSpPr>
        <p:spPr>
          <a:xfrm>
            <a:off x="6347308" y="4774946"/>
            <a:ext cx="4792828" cy="119608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Fewer mayfly nymphs are found in a stream next to the farm than upstream. </a:t>
            </a:r>
            <a:r>
              <a:rPr lang="en-US" sz="1200" b="1" dirty="0">
                <a:solidFill>
                  <a:srgbClr val="262B3A"/>
                </a:solidFill>
                <a:latin typeface="Calibri" pitchFamily="34" charset="0"/>
                <a:ea typeface="Calibri" pitchFamily="34" charset="-122"/>
                <a:cs typeface="Calibri" pitchFamily="34" charset="-120"/>
              </a:rPr>
              <a:t>Evaluate</a:t>
            </a:r>
            <a:r>
              <a:rPr lang="en-US" sz="1200" dirty="0">
                <a:solidFill>
                  <a:srgbClr val="262B3A"/>
                </a:solidFill>
                <a:latin typeface="Calibri" pitchFamily="34" charset="0"/>
                <a:ea typeface="Calibri" pitchFamily="34" charset="-122"/>
                <a:cs typeface="Calibri" pitchFamily="34" charset="-120"/>
              </a:rPr>
              <a:t> whether this shows that fertiliser run-off is polluting the stream.</a:t>
            </a:r>
            <a:endParaRPr lang="en-US" sz="1200" dirty="0"/>
          </a:p>
        </p:txBody>
      </p:sp>
      <p:sp>
        <p:nvSpPr>
          <p:cNvPr id="26" name="Shape 24"/>
          <p:cNvSpPr/>
          <p:nvPr/>
        </p:nvSpPr>
        <p:spPr>
          <a:xfrm>
            <a:off x="11231575" y="4774946"/>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11231575" y="477494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B6.3 Biodiversity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B6.3 How is biodiversity threatened and how can we protect it?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Q5 is Higher tier.</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type of organism that is </a:t>
            </a:r>
            <a:r>
              <a:rPr lang="en-US" sz="1150" b="1" dirty="0">
                <a:solidFill>
                  <a:srgbClr val="262B3A"/>
                </a:solidFill>
                <a:latin typeface="Calibri" pitchFamily="34" charset="0"/>
                <a:ea typeface="Calibri" pitchFamily="34" charset="-122"/>
                <a:cs typeface="Calibri" pitchFamily="34" charset="-120"/>
              </a:rPr>
              <a:t>sensitive to sulfur dioxide</a:t>
            </a:r>
            <a:r>
              <a:rPr lang="en-US" sz="1150" dirty="0">
                <a:solidFill>
                  <a:srgbClr val="262B3A"/>
                </a:solidFill>
                <a:latin typeface="Calibri" pitchFamily="34" charset="0"/>
                <a:ea typeface="Calibri" pitchFamily="34" charset="-122"/>
                <a:cs typeface="Calibri" pitchFamily="34" charset="-120"/>
              </a:rPr>
              <a:t> and is used to monitor air pollution.</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tiger population rose from </a:t>
            </a:r>
            <a:r>
              <a:rPr lang="en-US" sz="1150" b="1" dirty="0">
                <a:solidFill>
                  <a:srgbClr val="262B3A"/>
                </a:solidFill>
                <a:latin typeface="Calibri" pitchFamily="34" charset="0"/>
                <a:ea typeface="Calibri" pitchFamily="34" charset="-122"/>
                <a:cs typeface="Calibri" pitchFamily="34" charset="-120"/>
              </a:rPr>
              <a:t>3200</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3900</a:t>
            </a:r>
            <a:r>
              <a:rPr lang="en-US" sz="1150" dirty="0">
                <a:solidFill>
                  <a:srgbClr val="262B3A"/>
                </a:solidFill>
                <a:latin typeface="Calibri" pitchFamily="34" charset="0"/>
                <a:ea typeface="Calibri" pitchFamily="34" charset="-122"/>
                <a:cs typeface="Calibri" pitchFamily="34" charset="-120"/>
              </a:rPr>
              <a:t>. Calculate the percentage increase (2 s.f.).</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quadrat of </a:t>
            </a:r>
            <a:r>
              <a:rPr lang="en-US" sz="1150" b="1" dirty="0">
                <a:solidFill>
                  <a:srgbClr val="262B3A"/>
                </a:solidFill>
                <a:latin typeface="Calibri" pitchFamily="34" charset="0"/>
                <a:ea typeface="Calibri" pitchFamily="34" charset="-122"/>
                <a:cs typeface="Calibri" pitchFamily="34" charset="-120"/>
              </a:rPr>
              <a:t>0.25 m²</a:t>
            </a:r>
            <a:r>
              <a:rPr lang="en-US" sz="1150" dirty="0">
                <a:solidFill>
                  <a:srgbClr val="262B3A"/>
                </a:solidFill>
                <a:latin typeface="Calibri" pitchFamily="34" charset="0"/>
                <a:ea typeface="Calibri" pitchFamily="34" charset="-122"/>
                <a:cs typeface="Calibri" pitchFamily="34" charset="-120"/>
              </a:rPr>
              <a:t> contained a mean of </a:t>
            </a:r>
            <a:r>
              <a:rPr lang="en-US" sz="1150" b="1" dirty="0">
                <a:solidFill>
                  <a:srgbClr val="262B3A"/>
                </a:solidFill>
                <a:latin typeface="Calibri" pitchFamily="34" charset="0"/>
                <a:ea typeface="Calibri" pitchFamily="34" charset="-122"/>
                <a:cs typeface="Calibri" pitchFamily="34" charset="-120"/>
              </a:rPr>
              <a:t>7</a:t>
            </a:r>
            <a:r>
              <a:rPr lang="en-US" sz="1150" dirty="0">
                <a:solidFill>
                  <a:srgbClr val="262B3A"/>
                </a:solidFill>
                <a:latin typeface="Calibri" pitchFamily="34" charset="0"/>
                <a:ea typeface="Calibri" pitchFamily="34" charset="-122"/>
                <a:cs typeface="Calibri" pitchFamily="34" charset="-120"/>
              </a:rPr>
              <a:t> plantains. Estimate the number on a </a:t>
            </a:r>
            <a:r>
              <a:rPr lang="en-US" sz="1150" b="1" dirty="0">
                <a:solidFill>
                  <a:srgbClr val="262B3A"/>
                </a:solidFill>
                <a:latin typeface="Calibri" pitchFamily="34" charset="0"/>
                <a:ea typeface="Calibri" pitchFamily="34" charset="-122"/>
                <a:cs typeface="Calibri" pitchFamily="34" charset="-120"/>
              </a:rPr>
              <a:t>400 m²</a:t>
            </a:r>
            <a:r>
              <a:rPr lang="en-US" sz="1150" dirty="0">
                <a:solidFill>
                  <a:srgbClr val="262B3A"/>
                </a:solidFill>
                <a:latin typeface="Calibri" pitchFamily="34" charset="0"/>
                <a:ea typeface="Calibri" pitchFamily="34" charset="-122"/>
                <a:cs typeface="Calibri" pitchFamily="34" charset="-120"/>
              </a:rPr>
              <a:t> field.</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Explain why a </a:t>
            </a:r>
            <a:r>
              <a:rPr lang="en-US" sz="1150" b="1" dirty="0">
                <a:solidFill>
                  <a:srgbClr val="262B3A"/>
                </a:solidFill>
                <a:latin typeface="Calibri" pitchFamily="34" charset="0"/>
                <a:ea typeface="Calibri" pitchFamily="34" charset="-122"/>
                <a:cs typeface="Calibri" pitchFamily="34" charset="-120"/>
              </a:rPr>
              <a:t>seed bank</a:t>
            </a:r>
            <a:r>
              <a:rPr lang="en-US" sz="1150" dirty="0">
                <a:solidFill>
                  <a:srgbClr val="262B3A"/>
                </a:solidFill>
                <a:latin typeface="Calibri" pitchFamily="34" charset="0"/>
                <a:ea typeface="Calibri" pitchFamily="34" charset="-122"/>
                <a:cs typeface="Calibri" pitchFamily="34" charset="-120"/>
              </a:rPr>
              <a:t> stores seeds from many varieties of the same crop.</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77312"/>
          </a:xfrm>
          <a:prstGeom prst="roundRect">
            <a:avLst>
              <a:gd name="adj" fmla="val 4244"/>
            </a:avLst>
          </a:prstGeom>
          <a:solidFill>
            <a:srgbClr val="F4FAF9"/>
          </a:solidFill>
          <a:ln w="9525">
            <a:solidFill>
              <a:srgbClr val="CFE0DE"/>
            </a:solidFill>
            <a:prstDash val="solid"/>
          </a:ln>
        </p:spPr>
      </p:sp>
      <p:sp>
        <p:nvSpPr>
          <p:cNvPr id="22" name="Text 20"/>
          <p:cNvSpPr/>
          <p:nvPr/>
        </p:nvSpPr>
        <p:spPr>
          <a:xfrm>
            <a:off x="6347308" y="1591056"/>
            <a:ext cx="4792828" cy="729840"/>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Evaluate the claim: "More stoneflies downstream proves the water there is cleaner."</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302608"/>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704944"/>
            <a:ext cx="5570068" cy="1077312"/>
          </a:xfrm>
          <a:prstGeom prst="roundRect">
            <a:avLst>
              <a:gd name="adj" fmla="val 4244"/>
            </a:avLst>
          </a:prstGeom>
          <a:solidFill>
            <a:srgbClr val="F4FAF9"/>
          </a:solidFill>
          <a:ln w="9525">
            <a:solidFill>
              <a:srgbClr val="CFE0DE"/>
            </a:solidFill>
            <a:prstDash val="solid"/>
          </a:ln>
        </p:spPr>
      </p:sp>
      <p:sp>
        <p:nvSpPr>
          <p:cNvPr id="27" name="Text 25"/>
          <p:cNvSpPr/>
          <p:nvPr/>
        </p:nvSpPr>
        <p:spPr>
          <a:xfrm>
            <a:off x="6347308" y="2778096"/>
            <a:ext cx="5295748" cy="729840"/>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Explain how a </a:t>
            </a:r>
            <a:r>
              <a:rPr lang="en-US" sz="1150" b="1" dirty="0">
                <a:solidFill>
                  <a:srgbClr val="262B3A"/>
                </a:solidFill>
                <a:latin typeface="Calibri" pitchFamily="34" charset="0"/>
                <a:ea typeface="Calibri" pitchFamily="34" charset="-122"/>
                <a:cs typeface="Calibri" pitchFamily="34" charset="-120"/>
              </a:rPr>
              <a:t>growing</a:t>
            </a:r>
            <a:r>
              <a:rPr lang="en-US" sz="1150" dirty="0">
                <a:solidFill>
                  <a:srgbClr val="262B3A"/>
                </a:solidFill>
                <a:latin typeface="Calibri" pitchFamily="34" charset="0"/>
                <a:ea typeface="Calibri" pitchFamily="34" charset="-122"/>
                <a:cs typeface="Calibri" pitchFamily="34" charset="-120"/>
              </a:rPr>
              <a:t> world population can threaten </a:t>
            </a:r>
            <a:r>
              <a:rPr lang="en-US" sz="1150" b="1" dirty="0">
                <a:solidFill>
                  <a:srgbClr val="262B3A"/>
                </a:solidFill>
                <a:latin typeface="Calibri" pitchFamily="34" charset="0"/>
                <a:ea typeface="Calibri" pitchFamily="34" charset="-122"/>
                <a:cs typeface="Calibri" pitchFamily="34" charset="-120"/>
              </a:rPr>
              <a:t>both</a:t>
            </a:r>
            <a:r>
              <a:rPr lang="en-US" sz="1150" dirty="0">
                <a:solidFill>
                  <a:srgbClr val="262B3A"/>
                </a:solidFill>
                <a:latin typeface="Calibri" pitchFamily="34" charset="0"/>
                <a:ea typeface="Calibri" pitchFamily="34" charset="-122"/>
                <a:cs typeface="Calibri" pitchFamily="34" charset="-120"/>
              </a:rPr>
              <a:t> food security and biodiversity.</a:t>
            </a:r>
            <a:endParaRPr lang="en-US" sz="1150" dirty="0"/>
          </a:p>
        </p:txBody>
      </p:sp>
      <p:sp>
        <p:nvSpPr>
          <p:cNvPr id="28" name="Text 26"/>
          <p:cNvSpPr/>
          <p:nvPr/>
        </p:nvSpPr>
        <p:spPr>
          <a:xfrm>
            <a:off x="10317175" y="348964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9" name="Shape 27"/>
          <p:cNvSpPr/>
          <p:nvPr/>
        </p:nvSpPr>
        <p:spPr>
          <a:xfrm>
            <a:off x="6210148" y="3891985"/>
            <a:ext cx="5570068" cy="2435663"/>
          </a:xfrm>
          <a:prstGeom prst="roundRect">
            <a:avLst>
              <a:gd name="adj" fmla="val 1877"/>
            </a:avLst>
          </a:prstGeom>
          <a:solidFill>
            <a:srgbClr val="FFF4E0"/>
          </a:solidFill>
          <a:ln w="9525">
            <a:solidFill>
              <a:srgbClr val="F1D9A8"/>
            </a:solidFill>
            <a:prstDash val="solid"/>
          </a:ln>
        </p:spPr>
      </p:sp>
      <p:sp>
        <p:nvSpPr>
          <p:cNvPr id="30" name="Text 28"/>
          <p:cNvSpPr/>
          <p:nvPr/>
        </p:nvSpPr>
        <p:spPr>
          <a:xfrm>
            <a:off x="6347308" y="3965137"/>
            <a:ext cx="5295748" cy="208819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human activities </a:t>
            </a:r>
            <a:r>
              <a:rPr lang="en-US" sz="1150" b="1" dirty="0">
                <a:solidFill>
                  <a:srgbClr val="262B3A"/>
                </a:solidFill>
                <a:latin typeface="Calibri" pitchFamily="34" charset="0"/>
                <a:ea typeface="Calibri" pitchFamily="34" charset="-122"/>
                <a:cs typeface="Calibri" pitchFamily="34" charset="-120"/>
              </a:rPr>
              <a:t>reduce biodiversity</a:t>
            </a:r>
            <a:r>
              <a:rPr lang="en-US" sz="1150" dirty="0">
                <a:solidFill>
                  <a:srgbClr val="262B3A"/>
                </a:solidFill>
                <a:latin typeface="Calibri" pitchFamily="34" charset="0"/>
                <a:ea typeface="Calibri" pitchFamily="34" charset="-122"/>
                <a:cs typeface="Calibri" pitchFamily="34" charset="-120"/>
              </a:rPr>
              <a:t>, and explain how biodiversity can be </a:t>
            </a:r>
            <a:r>
              <a:rPr lang="en-US" sz="1150" b="1" dirty="0">
                <a:solidFill>
                  <a:srgbClr val="262B3A"/>
                </a:solidFill>
                <a:latin typeface="Calibri" pitchFamily="34" charset="0"/>
                <a:ea typeface="Calibri" pitchFamily="34" charset="-122"/>
                <a:cs typeface="Calibri" pitchFamily="34" charset="-120"/>
              </a:rPr>
              <a:t>protected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1" name="Text 29"/>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B6.3 How is biodiversity threatened and how can we protect it?</dc:title>
  <dc:subject>PptxGenJS Presentation</dc:subject>
  <dc:creator>GCSE Biology</dc:creator>
  <cp:lastModifiedBy>GCSE Biology</cp:lastModifiedBy>
  <cp:revision>1</cp:revision>
  <dcterms:created xsi:type="dcterms:W3CDTF">2026-10-30T18:57:37Z</dcterms:created>
  <dcterms:modified xsi:type="dcterms:W3CDTF">2026-10-30T18:57:37Z</dcterms:modified>
</cp:coreProperties>
</file>