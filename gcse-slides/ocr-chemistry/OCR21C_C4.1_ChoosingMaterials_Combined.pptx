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C4.1 How is data used to choose a material for a particular use? is Part 1 of 4 in J260 Chapter C4 Material choices.
J260 C4 sub-topics (see SPEC_C4_1.md): C4.1 choosing materials with data; C4.2 How do bonding and structure affect properties of materials?; C4.3 Why are nanoparticles so useful?; C4.4 What happens to products at the end of their useful life? (life-cycle assessment). J258 (Chemistry B) has an extra C4.2 "What are the different types of polymers?" which is separate science only, so J258 C4.3–C4.5 become J260 C4.2–C4.4.
Statements C4.1.1–C4.1.3 are from search extracts of the J258 wording (C4.1 is common to both specifications). C4.1.3 (alloys) has medium confidence for J260. No HT marker was found for C4.1.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(J258 C4.1 wording from search extracts; C4.1 is in both J258 and J260):
C4.1.1 compare quantitatively the physical properties of glass and clay ceramics, polymers, composites and metals (to include melting point, softening temperature for polymers, electrical conductivity, strength in tension or compression, stiffness, flexibility, brittleness, hardness, density, ease of reshaping)
C4.1.2 explain how the properties of materials are related to their uses and select appropriate materials given details of the usage required
C4.1.3 describe the composition of some important alloys in relation to their properties and uses (including steel)
No Higher-only (bold) statement was found for C4.1. Strength per unit density is marked GRADE 7–9 STRETCH. Maths: density, ratios, percentages, means, reading and plotting graphs, gradient. The density practical is a suggested practical (no PAG link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C4 Material choices has four sub-topics (SPEC_C4_1.md): C4.1 data and choosing materials; C4.2 bonding and structure (J258 C4.3); C4.3 nanoparticles (J258 C4.4); C4.4 life cycle of materials / LCA (J258 C4.5). J258 C4.2 on polymer types (addition, condensation, natural polymers) is separate science only.
Overlap control: this deck describes properties and uses with data. WHY metals conduct, why polymers soften and why alloys are harder are explained with bonding and structure in C4.2; here they are previewed with simple particle pictures only. Nanoparticles are C4.3. Recycling, landfill and life-cycle assessment are C4.4 and are mentioned only (slide 18).
Recall links (UNVERIFIED sub-codes): C1 particle model and states; C2 periodic table, metals vs non-metals, ionic compounds; C3 metallic bonding and extraction of metals.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giant regular lattice of positive metal ions in a "sea" of delocalised electrons. The delocalised electrons are free to move through the structure, carrying charge.
2. Fe₂O₃(s) + 3CO(g) → 2Fe(l) + 3CO₂(g). Iron(III) oxide is reduced (loses oxygen); carbon monoxide is oxidised.
3. Any three: shiny; conduct electricity; conduct heat; malleable / ductile; high density; high melting point (most); sonorous.
4. Particles gain energy, vibrate more, overcome some of the forces of attraction and can move past each other. Different substances have different strengths of forces / bonds between particles.
5. Giant ionic lattice with strong electrostatic attraction between oppositely charged ions in all directions: lots of energy is needed to overcome them. In the solid the ions are fixed in place and cannot move.
6. 54 ÷ 20 = 2.7 g/cm³ (aluminium).
Chapter codes for recall are UNVERIFIED (J260 C1 Air and water, C2 Chemical patterns, C3 Chemicals of the natural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brick = ceramic (clay); carbon-fibre bike = composite; PVC pipe = polymer; copper wire = metal. 13.5 ÷ 5.0 = 2.7 g/cm³ (aluminium).
C4.1.1 names glass and clay ceramics, polymers, composites and metals. The particle pictures are a preview only: C4.2 explains properties with bonding and structure (metallic lattice, giant covalent networks, polymer chains). Density alone does not prove identity: other materials can share a density (IaS: use more than one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Hard = resists scratching / denting; tough = absorbs energy and does not break easily (bends before breaking; opposite of brittle). A material can be hard but brittle (glass). 1000 ÷ 50 = 20 times.
1 MPa = 1 N/mm² (megapascal). Values for glass and concrete are typical, rounded (illustrative). These are the C4.1.1 property words: melting point, softening temperature for polymers, electrical conductivity, strength in tension or compression, stiffness, flexibility, brittleness, hardness, density, ease of reshaping.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All four families named (1): metals, ceramics, polymers, composites; one correct example for each (1), e.g. steel, glass / brick, poly(ethene), carbon fibre / concrete.
Q2 [2]: Breaks / shatters suddenly without bending / changing shape first (1); glass / pottery / brick / ceramic (1).
Q3 [2]: 31.2 ÷ 4.0 (1); = 7.8 g/cm³ (1). Unit needed for the second mark.
Q4 [2]: Concrete is weak in tension / strong only in compression (1); steel is strong in tension, so the bars stop the beam cracking where it is pulled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HDPE poly(ethene), about 130 °C. 8.9 ÷ 0.95 = 9.4 times (2 s.f.).
All values are typical, rounded textbook values (UNVERIFIED to the exact figure; real values depend on grade). Glass softens over a range (soda-lime about 700–730 °C) rather than melting sharply; polymers soften. Clay brick: fired clay does not melt below about 1500 °C. CFRP conducts slightly because carbon fibres conduct.
Node: 2.0 × 2.7 ÷ 7.8 = 0.6923 kg; bracket volume 2000 g ÷ 7.8 = 256 cm³.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Transparent; hard (scratch-resistant); does not corrode / is waterproof; electrical insulator not relevant. 20 ÷ 8.0 = 2.5 g/cm³.
Glass equation (atom balance asserted in node): Na₂CO₃(s) + SiO₂(s) → Na₂SiO₃(l) + CO₂(g). Limestone first decomposes: CaCO₃(s) → CaO(s) + CO₂(g); CaO makes the glass insoluble. These equations are context, not a recall requirement (UNVERIFIED that J260 requires them). Glass is amorphous (no regular lattice): C4.2 deals with structure. Node: brick volume 1432.4375 cm³, density 1.885 g/cm³.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Polymers are electrical insulators (and flexible, waterproof), so the cable is safe to touch and can bend. 250 ÷ 1.9 = 132 (3 s.f.).
GRADE 7–9 STRETCH: "strength per unit density" (specific strength) is not a named J260 term; it is a useful way to compare data for lightweight uses. Node: steel 51.3, aluminium 111, CFRP 625, ratio CFRP/steel 12.2.
Polymer types (addition / condensation, natural polymers) are J258 C4.2, separate science only: not taught here. Why polymers soften (weak forces between chains) is C4.2.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Any two (1 each): lower density / lighter; not brittle / does not shatter / tough / flexible; easy to mould.
Q2 [2]: 8.9 ÷ 2.7 (1); = 3.3 (1).
Q3 [2]: Glass is transparent / hard / does not corrode, so suits windows (1); glass is brittle / shatters on impact, so unsuitable for bumpers (1).
Q4 [2]: Made of two or more materials combined / fibres in a matrix (1); GRP = glass fibres in a polymer resin, giving strong light material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Polymer is a poor conductor of heat (insulator) so the handle stays cool; also light and mouldable (a thermosetting polymer does not soften when hot). (3120 − 1080) ÷ 3120 × 100 = 65% (2 s.f.).
C4.1.2: explain how the properties of materials are related to their uses and select appropriate materials given details of the usage required. Using the same volume for each frame is a simplification (illustrative): real frames use different tube thicknesses because the materials have different strengths and stiffness. Costs are qualitative.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Stainless steel does not rust / corrode (chromium forms a protective oxide layer); mild steel rusts: 4Fe(s) + 3O₂(g) + 6H₂O(l) → 4Fe(OH)₃(s). 9 ÷ 24 × 100 = 37.5%.
C4.1.3 (J258 wording, search extract): describe the composition of some important alloys in relation to their properties and uses, including steel. Confidence that it is in J260: medium. Compositions are typical (UNVERIFIED exact percentages; stainless 18/8 is the common grade 304). Why alloys are harder (distorted layers) is previewed here and explained with metallic bonding in C4.2. Node: 18/24 = 75%; 0.25% of 500 kg = 1.25 kg carbon; 70% of 200 g brass = 140 g copper.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Copper is a very good electrical conductor / ductile (1); PVC is an electrical insulator / flexible, so the cable is safe to touch (1).
Q2 [2]: A mixture of a metal with other elements / metals (1); harder / stronger / resists corrosion / properties can be designed (1).
Q3 [2]: 250 × 0.18 (1); = 45 g (1).
Q4 [2]: High-carbon steel is very hard (keeps a cutting edge) (1); mild steel is easier to shape / less brittle / can be pressed into panels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Otherwise only part of its volume displaces water, so V₂ − V₁ is too small and the density is too high. For a floating sample: attach a sinker (e.g. a steel bolt); measure the volume of the sinker alone, then sinker + sample, and subtract; or push it under with a thin wire.
Suggested practical: no OCR PAG code is linked to C4.1 in any source found (PAG numbering for J260 chemistry is UNVERIFIED). Regular solids can also be measured with a ruler (V = l × w × h, as for the brick on slide 9). A displacement (eureka) can is an alternative for larger samples. CLEAPSS-style risk: no hazardous chemicals; main risks are broken glass and slips.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47.0 ÷ 6.0 = 7.83 → 7.8 g/cm³ (2 s.f.). A best-fit line uses all the results, so random errors in single readings average out; it also shows any anomalous result.
Illustrative results. Node: least-squares gradients through the origin: steel 7.812, aluminium 2.697, nylon 1.152 g/cm³. Gradient triangle on the best-fit steel line from 2.0 to 8.0 cm³: Δy = 46.9 g, /6.0 = 7.8. Uncertainty: ±0.5 cm³ ÷ 4.0 cm³ = 12.5%; ÷ 8.0 cm³ = 6.25%. Mass and volume have proportional relationship (line through origin) because density is constant for one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Volume = 58.5 − 50.0 = 8.5 cm³ (1); 23.0 ÷ 8.5 = 2.7 g/cm³ (1).
Q2 [2]: Eye level with the surface (1); read the bottom of the meniscus (1).
Q3 [2]: The reading error / uncertainty of the cylinder (±0.5 cm³) stays the same (1); so it is a smaller percentage of a larger volume (1).
Q4 [2]: A straight line through the origin (mass proportional to volume) (1); gradient = density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Extra cost £18 − £12 = £6 for 12.0 − 6.0 = 6.0 kg saved → £1 per kg saved (CFRP: £84 ÷ 7.2 kg = £11.67 per kg). Taxi: steel or aluminium: cheap to buy and repair, still reasonably light; aluminium does not rust and saves fuel over many miles. Accept a justified answer.
All masses and prices are illustrative (asserted in node). C4.1.2 select appropriate materials given details of the usage required. Life-cycle assessment belongs to C4.4 and is mentioned only. IaS: decisions weigh benefits, costs and risks for different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(20 − 14) ÷ 20 × 100 (1); = 30% (1).
Q2 [2]: Advantage: lower density / lighter / does not rust / strong for its mass (1). Disadvantage: expensive / hard to repair / slow to make / hard to recycle (1).
Q3 [2]: Pure aluminium is soft / weak (1); the alloy is stronger / harder while still low density (1).
Q4 [2]: Each material has advantages and disadvantages / no material has every property needed (1); so designers choose the best compromise, e.g. trade mass against cost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"Softening temperature" and the property words come from C4.1.1. Bonding words (delocalised electrons, intermolecular forces, giant covalent) belong to C4.2.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250 × 2.7 (1); = 675 g (1).
(b) [2]: (1950 − 675) ÷ 1950 × 100 (1); = 65% (1). Allow ecf from (a).
(c) [3]: Measure mass on a balance (1); find volume by displacement: lower into a measuring cylinder of water and find the rise in level (1); density = mass ÷ volume (1).
(d) [2]: Carbon (small amount) (1); makes it harder / stronger than pure iron (1).
(e) [2]: GRP is an electrical insulator (1); aluminium conducts, so there is a risk of electric shock near live wires (1).
(f) [2]: Glass is brittle / weak in tension / shatters (1); a ladder bends and is knocked, so it would break suddenly / dangerous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Ceramics (1).
2 [2]: 88.0 ÷ 11.0 (1); = 8.0 g/cm³ (1).
3 [2]: 22 ÷ 24 × 100 (1); = 91.7% (1).
4 [2]: 5.0 × 0.12 (1); = 0.6 kg / 0.60 kg / 600 g (1).
5 [2]: Polymers are light / tough / easy to mould / waterproof, good for bottles (1); low softening temperature / poor heat conductor, so would melt on a hob (1).
6 [2]: Steel bars combined with concrete: two materials combined (1); steel is strong in tension, concrete only in compression, so the beam does not crack when it bends (1).
7 [6]: OCR level-of-response mark scheme (6 marks). Read the whole answer, decide the level from the content descriptor, then the mark within the level from the quality of the line of reasoning. Use the indicative scientific points below.
Level 3 (5–6 marks): Compares at least TWO materials using properties AND data from the table, AND makes a justified choice for a stated use, considering at least one drawback. There is a well-developed line of reasoning which is clear and logically structured. The information presented is relevant and substantiated.
Level 2 (3–4 marks): Compares properties of two materials with some use of data OR makes a choice with a simple reason. There is a line of reasoning presented with some structure. The information presented is relevant and supported by some evidence.
Level 1 (1–2 marks): Simple statements, e.g. "carbon fibre is light" or "steel is strong". There is an attempt at a logical structure with a line of reasoning. The information is in the most part relevant.
0 marks: no response or no response worthy of credit.
Indicative scientific points may include:
 • Steel: strong, stiff, cheap, easy to shape and weld; high density (7.8 g/cm³) so heavy; rusts unless painted or stainless.
 • Aluminium alloy: low density (2.7 g/cm³), does not rust, reasonably strong; more expensive than steel.
 • CFRP: lowest density (1.6 g/cm³) and highest strength for its mass; very expensive, hard to repair or recycle.
 • Use data: e.g. same volume (400 cm³) gives 3.12 kg, 1.08 kg and 0.64 kg frames; strength ÷ density 51, 111, 625.
 • Link properties to the use: a racing bike needs low mass; a commuter bike needs low cost, toughness, easy repair.
 • Judgement: e.g. CFRP for racing, steel or aluminium for everyday use; justified with data and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C4.1  Choosing materials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DCCDF3"/>
                </a:solidFill>
                <a:latin typeface="Georgia" pitchFamily="34" charset="0"/>
                <a:ea typeface="Georgia" pitchFamily="34" charset="-122"/>
                <a:cs typeface="Georgia" pitchFamily="34" charset="-120"/>
              </a:rPr>
              <a:t>How is data used to choose a material for a particular use?</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Metals  •  Ceramics  •  Polymers  •  Composites  •  Alloys  •  Density</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C4.1.1–C4.1.3 • metals, ceramics, polymers, composites, alloys</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 found • stretch marked</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Data: density, strength, melting point • density practical • alloy composition</a:t>
            </a:r>
            <a:endParaRPr lang="en-US" sz="1400" dirty="0"/>
          </a:p>
        </p:txBody>
      </p:sp>
      <p:sp>
        <p:nvSpPr>
          <p:cNvPr id="19" name="Shape 17"/>
          <p:cNvSpPr/>
          <p:nvPr/>
        </p:nvSpPr>
        <p:spPr>
          <a:xfrm>
            <a:off x="731520" y="5769864"/>
            <a:ext cx="4192524"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192524"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4 in Chapter C4: Material choices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C4.1 How is data used to choose a material for a particular use?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C4.1.1–C4.1.3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C4.1.1   </a:t>
            </a:r>
            <a:r>
              <a:rPr lang="en-US" sz="1200" dirty="0">
                <a:solidFill>
                  <a:srgbClr val="262B3A"/>
                </a:solidFill>
                <a:latin typeface="Calibri" pitchFamily="34" charset="0"/>
                <a:ea typeface="Calibri" pitchFamily="34" charset="-122"/>
                <a:cs typeface="Calibri" pitchFamily="34" charset="-120"/>
              </a:rPr>
              <a:t>Name the four families: </a:t>
            </a:r>
            <a:r>
              <a:rPr lang="en-US" sz="1200" b="1" dirty="0">
                <a:solidFill>
                  <a:srgbClr val="262B3A"/>
                </a:solidFill>
                <a:latin typeface="Calibri" pitchFamily="34" charset="0"/>
                <a:ea typeface="Calibri" pitchFamily="34" charset="-122"/>
                <a:cs typeface="Calibri" pitchFamily="34" charset="-120"/>
              </a:rPr>
              <a:t>metals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ceramics</a:t>
            </a:r>
            <a:r>
              <a:rPr lang="en-US" sz="1200" dirty="0">
                <a:solidFill>
                  <a:srgbClr val="262B3A"/>
                </a:solidFill>
                <a:latin typeface="Calibri" pitchFamily="34" charset="0"/>
                <a:ea typeface="Calibri" pitchFamily="34" charset="-122"/>
                <a:cs typeface="Calibri" pitchFamily="34" charset="-120"/>
              </a:rPr>
              <a:t> (glass and clay), </a:t>
            </a:r>
            <a:r>
              <a:rPr lang="en-US" sz="1200" b="1" dirty="0">
                <a:solidFill>
                  <a:srgbClr val="262B3A"/>
                </a:solidFill>
                <a:latin typeface="Calibri" pitchFamily="34" charset="0"/>
                <a:ea typeface="Calibri" pitchFamily="34" charset="-122"/>
                <a:cs typeface="Calibri" pitchFamily="34" charset="-120"/>
              </a:rPr>
              <a:t>polymers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composites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C4.1.1   </a:t>
            </a:r>
            <a:r>
              <a:rPr lang="en-US" sz="1200" dirty="0">
                <a:solidFill>
                  <a:srgbClr val="262B3A"/>
                </a:solidFill>
                <a:latin typeface="Calibri" pitchFamily="34" charset="0"/>
                <a:ea typeface="Calibri" pitchFamily="34" charset="-122"/>
                <a:cs typeface="Calibri" pitchFamily="34" charset="-120"/>
              </a:rPr>
              <a:t>Describe properties: </a:t>
            </a:r>
            <a:r>
              <a:rPr lang="en-US" sz="1200" b="1" dirty="0">
                <a:solidFill>
                  <a:srgbClr val="262B3A"/>
                </a:solidFill>
                <a:latin typeface="Calibri" pitchFamily="34" charset="0"/>
                <a:ea typeface="Calibri" pitchFamily="34" charset="-122"/>
                <a:cs typeface="Calibri" pitchFamily="34" charset="-120"/>
              </a:rPr>
              <a:t>strength</a:t>
            </a:r>
            <a:r>
              <a:rPr lang="en-US" sz="1200" dirty="0">
                <a:solidFill>
                  <a:srgbClr val="262B3A"/>
                </a:solidFill>
                <a:latin typeface="Calibri" pitchFamily="34" charset="0"/>
                <a:ea typeface="Calibri" pitchFamily="34" charset="-122"/>
                <a:cs typeface="Calibri" pitchFamily="34" charset="-120"/>
              </a:rPr>
              <a:t> (tension, compression), </a:t>
            </a:r>
            <a:r>
              <a:rPr lang="en-US" sz="1200" b="1" dirty="0">
                <a:solidFill>
                  <a:srgbClr val="262B3A"/>
                </a:solidFill>
                <a:latin typeface="Calibri" pitchFamily="34" charset="0"/>
                <a:ea typeface="Calibri" pitchFamily="34" charset="-122"/>
                <a:cs typeface="Calibri" pitchFamily="34" charset="-120"/>
              </a:rPr>
              <a:t>stiffness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flexibility</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brittleness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hardness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C4.1.1   </a:t>
            </a:r>
            <a:r>
              <a:rPr lang="en-US" sz="1200" dirty="0">
                <a:solidFill>
                  <a:srgbClr val="262B3A"/>
                </a:solidFill>
                <a:latin typeface="Calibri" pitchFamily="34" charset="0"/>
                <a:ea typeface="Calibri" pitchFamily="34" charset="-122"/>
                <a:cs typeface="Calibri" pitchFamily="34" charset="-120"/>
              </a:rPr>
              <a:t>Compare materials </a:t>
            </a:r>
            <a:r>
              <a:rPr lang="en-US" sz="1200" b="1" dirty="0">
                <a:solidFill>
                  <a:srgbClr val="262B3A"/>
                </a:solidFill>
                <a:latin typeface="Calibri" pitchFamily="34" charset="0"/>
                <a:ea typeface="Calibri" pitchFamily="34" charset="-122"/>
                <a:cs typeface="Calibri" pitchFamily="34" charset="-120"/>
              </a:rPr>
              <a:t>quantitatively</a:t>
            </a:r>
            <a:r>
              <a:rPr lang="en-US" sz="1200" dirty="0">
                <a:solidFill>
                  <a:srgbClr val="262B3A"/>
                </a:solidFill>
                <a:latin typeface="Calibri" pitchFamily="34" charset="0"/>
                <a:ea typeface="Calibri" pitchFamily="34" charset="-122"/>
                <a:cs typeface="Calibri" pitchFamily="34" charset="-120"/>
              </a:rPr>
              <a:t> using data: </a:t>
            </a:r>
            <a:r>
              <a:rPr lang="en-US" sz="1200" b="1" dirty="0">
                <a:solidFill>
                  <a:srgbClr val="262B3A"/>
                </a:solidFill>
                <a:latin typeface="Calibri" pitchFamily="34" charset="0"/>
                <a:ea typeface="Calibri" pitchFamily="34" charset="-122"/>
                <a:cs typeface="Calibri" pitchFamily="34" charset="-120"/>
              </a:rPr>
              <a:t>density</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melting / softening point</a:t>
            </a:r>
            <a:r>
              <a:rPr lang="en-US" sz="1200" dirty="0">
                <a:solidFill>
                  <a:srgbClr val="262B3A"/>
                </a:solidFill>
                <a:latin typeface="Calibri" pitchFamily="34" charset="0"/>
                <a:ea typeface="Calibri" pitchFamily="34" charset="-122"/>
                <a:cs typeface="Calibri" pitchFamily="34" charset="-120"/>
              </a:rPr>
              <a:t>, strength, conductivity.</a:t>
            </a:r>
            <a:endParaRPr lang="en-US" sz="1100" dirty="0"/>
          </a:p>
        </p:txBody>
      </p:sp>
      <p:sp>
        <p:nvSpPr>
          <p:cNvPr id="17" name="Shape 15"/>
          <p:cNvSpPr/>
          <p:nvPr/>
        </p:nvSpPr>
        <p:spPr>
          <a:xfrm>
            <a:off x="502920" y="3931920"/>
            <a:ext cx="457200" cy="457200"/>
          </a:xfrm>
          <a:prstGeom prst="ellipse">
            <a:avLst/>
          </a:prstGeom>
          <a:solidFill>
            <a:srgbClr val="6A3FA0"/>
          </a:solidFill>
          <a:ln w="12700">
            <a:solidFill>
              <a:srgbClr val="6A3FA0"/>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C4.1.1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glass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clay</a:t>
            </a:r>
            <a:r>
              <a:rPr lang="en-US" sz="1200" dirty="0">
                <a:solidFill>
                  <a:srgbClr val="262B3A"/>
                </a:solidFill>
                <a:latin typeface="Calibri" pitchFamily="34" charset="0"/>
                <a:ea typeface="Calibri" pitchFamily="34" charset="-122"/>
                <a:cs typeface="Calibri" pitchFamily="34" charset="-120"/>
              </a:rPr>
              <a:t> ceramics, </a:t>
            </a:r>
            <a:r>
              <a:rPr lang="en-US" sz="1200" b="1" dirty="0">
                <a:solidFill>
                  <a:srgbClr val="262B3A"/>
                </a:solidFill>
                <a:latin typeface="Calibri" pitchFamily="34" charset="0"/>
                <a:ea typeface="Calibri" pitchFamily="34" charset="-122"/>
                <a:cs typeface="Calibri" pitchFamily="34" charset="-120"/>
              </a:rPr>
              <a:t>polymers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composites</a:t>
            </a:r>
            <a:r>
              <a:rPr lang="en-US" sz="1200" dirty="0">
                <a:solidFill>
                  <a:srgbClr val="262B3A"/>
                </a:solidFill>
                <a:latin typeface="Calibri" pitchFamily="34" charset="0"/>
                <a:ea typeface="Calibri" pitchFamily="34" charset="-122"/>
                <a:cs typeface="Calibri" pitchFamily="34" charset="-120"/>
              </a:rPr>
              <a:t> and their typical properties.</a:t>
            </a:r>
            <a:endParaRPr lang="en-US" sz="1100" dirty="0"/>
          </a:p>
        </p:txBody>
      </p:sp>
      <p:sp>
        <p:nvSpPr>
          <p:cNvPr id="20" name="Shape 18"/>
          <p:cNvSpPr/>
          <p:nvPr/>
        </p:nvSpPr>
        <p:spPr>
          <a:xfrm>
            <a:off x="6263640" y="1325880"/>
            <a:ext cx="457200" cy="457200"/>
          </a:xfrm>
          <a:prstGeom prst="ellipse">
            <a:avLst/>
          </a:prstGeom>
          <a:solidFill>
            <a:srgbClr val="6A3FA0"/>
          </a:solidFill>
          <a:ln w="12700">
            <a:solidFill>
              <a:srgbClr val="6A3FA0"/>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C4.1.2   </a:t>
            </a:r>
            <a:r>
              <a:rPr lang="en-US" sz="1200" dirty="0">
                <a:solidFill>
                  <a:srgbClr val="262B3A"/>
                </a:solidFill>
                <a:latin typeface="Calibri" pitchFamily="34" charset="0"/>
                <a:ea typeface="Calibri" pitchFamily="34" charset="-122"/>
                <a:cs typeface="Calibri" pitchFamily="34" charset="-120"/>
              </a:rPr>
              <a:t>Explain how properties relate to </a:t>
            </a:r>
            <a:r>
              <a:rPr lang="en-US" sz="1200" b="1" dirty="0">
                <a:solidFill>
                  <a:srgbClr val="262B3A"/>
                </a:solidFill>
                <a:latin typeface="Calibri" pitchFamily="34" charset="0"/>
                <a:ea typeface="Calibri" pitchFamily="34" charset="-122"/>
                <a:cs typeface="Calibri" pitchFamily="34" charset="-120"/>
              </a:rPr>
              <a:t>uses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select</a:t>
            </a:r>
            <a:r>
              <a:rPr lang="en-US" sz="1200" dirty="0">
                <a:solidFill>
                  <a:srgbClr val="262B3A"/>
                </a:solidFill>
                <a:latin typeface="Calibri" pitchFamily="34" charset="0"/>
                <a:ea typeface="Calibri" pitchFamily="34" charset="-122"/>
                <a:cs typeface="Calibri" pitchFamily="34" charset="-120"/>
              </a:rPr>
              <a:t> a material from a </a:t>
            </a:r>
            <a:r>
              <a:rPr lang="en-US" sz="1200" b="1" dirty="0">
                <a:solidFill>
                  <a:srgbClr val="262B3A"/>
                </a:solidFill>
                <a:latin typeface="Calibri" pitchFamily="34" charset="0"/>
                <a:ea typeface="Calibri" pitchFamily="34" charset="-122"/>
                <a:cs typeface="Calibri" pitchFamily="34" charset="-120"/>
              </a:rPr>
              <a:t>specification</a:t>
            </a:r>
            <a:r>
              <a:rPr lang="en-US" sz="1200" dirty="0">
                <a:solidFill>
                  <a:srgbClr val="262B3A"/>
                </a:solidFill>
                <a:latin typeface="Calibri" pitchFamily="34" charset="0"/>
                <a:ea typeface="Calibri" pitchFamily="34" charset="-122"/>
                <a:cs typeface="Calibri" pitchFamily="34" charset="-120"/>
              </a:rPr>
              <a:t> and data.</a:t>
            </a:r>
            <a:endParaRPr lang="en-US" sz="1100" dirty="0"/>
          </a:p>
        </p:txBody>
      </p:sp>
      <p:sp>
        <p:nvSpPr>
          <p:cNvPr id="23" name="Shape 21"/>
          <p:cNvSpPr/>
          <p:nvPr/>
        </p:nvSpPr>
        <p:spPr>
          <a:xfrm>
            <a:off x="6263640" y="2194560"/>
            <a:ext cx="457200" cy="457200"/>
          </a:xfrm>
          <a:prstGeom prst="ellipse">
            <a:avLst/>
          </a:prstGeom>
          <a:solidFill>
            <a:srgbClr val="6A3FA0"/>
          </a:solidFill>
          <a:ln w="12700">
            <a:solidFill>
              <a:srgbClr val="6A3FA0"/>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C4.1.3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composition</a:t>
            </a:r>
            <a:r>
              <a:rPr lang="en-US" sz="1200" dirty="0">
                <a:solidFill>
                  <a:srgbClr val="262B3A"/>
                </a:solidFill>
                <a:latin typeface="Calibri" pitchFamily="34" charset="0"/>
                <a:ea typeface="Calibri" pitchFamily="34" charset="-122"/>
                <a:cs typeface="Calibri" pitchFamily="34" charset="-120"/>
              </a:rPr>
              <a:t> of important </a:t>
            </a:r>
            <a:r>
              <a:rPr lang="en-US" sz="1200" b="1" dirty="0">
                <a:solidFill>
                  <a:srgbClr val="262B3A"/>
                </a:solidFill>
                <a:latin typeface="Calibri" pitchFamily="34" charset="0"/>
                <a:ea typeface="Calibri" pitchFamily="34" charset="-122"/>
                <a:cs typeface="Calibri" pitchFamily="34" charset="-120"/>
              </a:rPr>
              <a:t>alloys</a:t>
            </a:r>
            <a:r>
              <a:rPr lang="en-US" sz="1200" dirty="0">
                <a:solidFill>
                  <a:srgbClr val="262B3A"/>
                </a:solidFill>
                <a:latin typeface="Calibri" pitchFamily="34" charset="0"/>
                <a:ea typeface="Calibri" pitchFamily="34" charset="-122"/>
                <a:cs typeface="Calibri" pitchFamily="34" charset="-120"/>
              </a:rPr>
              <a:t>, including </a:t>
            </a:r>
            <a:r>
              <a:rPr lang="en-US" sz="1200" b="1" dirty="0">
                <a:solidFill>
                  <a:srgbClr val="262B3A"/>
                </a:solidFill>
                <a:latin typeface="Calibri" pitchFamily="34" charset="0"/>
                <a:ea typeface="Calibri" pitchFamily="34" charset="-122"/>
                <a:cs typeface="Calibri" pitchFamily="34" charset="-120"/>
              </a:rPr>
              <a:t>steel</a:t>
            </a:r>
            <a:r>
              <a:rPr lang="en-US" sz="1200" dirty="0">
                <a:solidFill>
                  <a:srgbClr val="262B3A"/>
                </a:solidFill>
                <a:latin typeface="Calibri" pitchFamily="34" charset="0"/>
                <a:ea typeface="Calibri" pitchFamily="34" charset="-122"/>
                <a:cs typeface="Calibri" pitchFamily="34" charset="-120"/>
              </a:rPr>
              <a:t>, linked to properties and uses.</a:t>
            </a:r>
            <a:endParaRPr lang="en-US" sz="1100" dirty="0"/>
          </a:p>
        </p:txBody>
      </p:sp>
      <p:sp>
        <p:nvSpPr>
          <p:cNvPr id="26" name="Shape 24"/>
          <p:cNvSpPr/>
          <p:nvPr/>
        </p:nvSpPr>
        <p:spPr>
          <a:xfrm>
            <a:off x="6263640" y="3063240"/>
            <a:ext cx="457200" cy="457200"/>
          </a:xfrm>
          <a:prstGeom prst="ellipse">
            <a:avLst/>
          </a:prstGeom>
          <a:solidFill>
            <a:srgbClr val="6A3FA0"/>
          </a:solidFill>
          <a:ln w="12700">
            <a:solidFill>
              <a:srgbClr val="6A3FA0"/>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C4.1.1   </a:t>
            </a:r>
            <a:r>
              <a:rPr lang="en-US" sz="1200" dirty="0">
                <a:solidFill>
                  <a:srgbClr val="262B3A"/>
                </a:solidFill>
                <a:latin typeface="Calibri" pitchFamily="34" charset="0"/>
                <a:ea typeface="Calibri" pitchFamily="34" charset="-122"/>
                <a:cs typeface="Calibri" pitchFamily="34" charset="-120"/>
              </a:rPr>
              <a:t>Measure </a:t>
            </a:r>
            <a:r>
              <a:rPr lang="en-US" sz="1200" b="1" dirty="0">
                <a:solidFill>
                  <a:srgbClr val="262B3A"/>
                </a:solidFill>
                <a:latin typeface="Calibri" pitchFamily="34" charset="0"/>
                <a:ea typeface="Calibri" pitchFamily="34" charset="-122"/>
                <a:cs typeface="Calibri" pitchFamily="34" charset="-120"/>
              </a:rPr>
              <a:t>density</a:t>
            </a:r>
            <a:r>
              <a:rPr lang="en-US" sz="1200" dirty="0">
                <a:solidFill>
                  <a:srgbClr val="262B3A"/>
                </a:solidFill>
                <a:latin typeface="Calibri" pitchFamily="34" charset="0"/>
                <a:ea typeface="Calibri" pitchFamily="34" charset="-122"/>
                <a:cs typeface="Calibri" pitchFamily="34" charset="-120"/>
              </a:rPr>
              <a:t> by </a:t>
            </a:r>
            <a:r>
              <a:rPr lang="en-US" sz="1200" b="1" dirty="0">
                <a:solidFill>
                  <a:srgbClr val="262B3A"/>
                </a:solidFill>
                <a:latin typeface="Calibri" pitchFamily="34" charset="0"/>
                <a:ea typeface="Calibri" pitchFamily="34" charset="-122"/>
                <a:cs typeface="Calibri" pitchFamily="34" charset="-120"/>
              </a:rPr>
              <a:t>displacement</a:t>
            </a:r>
            <a:r>
              <a:rPr lang="en-US" sz="1200" dirty="0">
                <a:solidFill>
                  <a:srgbClr val="262B3A"/>
                </a:solidFill>
                <a:latin typeface="Calibri" pitchFamily="34" charset="0"/>
                <a:ea typeface="Calibri" pitchFamily="34" charset="-122"/>
                <a:cs typeface="Calibri" pitchFamily="34" charset="-120"/>
              </a:rPr>
              <a:t>; plot mass against volume and use the </a:t>
            </a:r>
            <a:r>
              <a:rPr lang="en-US" sz="1200" b="1" dirty="0">
                <a:solidFill>
                  <a:srgbClr val="262B3A"/>
                </a:solidFill>
                <a:latin typeface="Calibri" pitchFamily="34" charset="0"/>
                <a:ea typeface="Calibri" pitchFamily="34" charset="-122"/>
                <a:cs typeface="Calibri" pitchFamily="34" charset="-120"/>
              </a:rPr>
              <a:t>gradient</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263640" y="3931920"/>
            <a:ext cx="457200" cy="457200"/>
          </a:xfrm>
          <a:prstGeom prst="ellipse">
            <a:avLst/>
          </a:prstGeom>
          <a:solidFill>
            <a:srgbClr val="6A3FA0"/>
          </a:solidFill>
          <a:ln w="12700">
            <a:solidFill>
              <a:srgbClr val="6A3FA0"/>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C4.1.2   </a:t>
            </a:r>
            <a:r>
              <a:rPr lang="en-US" sz="1200" b="1" dirty="0">
                <a:solidFill>
                  <a:srgbClr val="262B3A"/>
                </a:solidFill>
                <a:latin typeface="Calibri" pitchFamily="34" charset="0"/>
                <a:ea typeface="Calibri" pitchFamily="34" charset="-122"/>
                <a:cs typeface="Calibri" pitchFamily="34" charset="-120"/>
              </a:rPr>
              <a:t>Evaluate</a:t>
            </a:r>
            <a:r>
              <a:rPr lang="en-US" sz="1200" dirty="0">
                <a:solidFill>
                  <a:srgbClr val="262B3A"/>
                </a:solidFill>
                <a:latin typeface="Calibri" pitchFamily="34" charset="0"/>
                <a:ea typeface="Calibri" pitchFamily="34" charset="-122"/>
                <a:cs typeface="Calibri" pitchFamily="34" charset="-120"/>
              </a:rPr>
              <a:t> a material choice by weighing </a:t>
            </a:r>
            <a:r>
              <a:rPr lang="en-US" sz="1200" b="1" dirty="0">
                <a:solidFill>
                  <a:srgbClr val="262B3A"/>
                </a:solidFill>
                <a:latin typeface="Calibri" pitchFamily="34" charset="0"/>
                <a:ea typeface="Calibri" pitchFamily="34" charset="-122"/>
                <a:cs typeface="Calibri" pitchFamily="34" charset="-120"/>
              </a:rPr>
              <a:t>benefits</a:t>
            </a:r>
            <a:r>
              <a:rPr lang="en-US" sz="1200" dirty="0">
                <a:solidFill>
                  <a:srgbClr val="262B3A"/>
                </a:solidFill>
                <a:latin typeface="Calibri" pitchFamily="34" charset="0"/>
                <a:ea typeface="Calibri" pitchFamily="34" charset="-122"/>
                <a:cs typeface="Calibri" pitchFamily="34" charset="-120"/>
              </a:rPr>
              <a:t> against </a:t>
            </a:r>
            <a:r>
              <a:rPr lang="en-US" sz="1200" b="1" dirty="0">
                <a:solidFill>
                  <a:srgbClr val="262B3A"/>
                </a:solidFill>
                <a:latin typeface="Calibri" pitchFamily="34" charset="0"/>
                <a:ea typeface="Calibri" pitchFamily="34" charset="-122"/>
                <a:cs typeface="Calibri" pitchFamily="34" charset="-120"/>
              </a:rPr>
              <a:t>cost</a:t>
            </a:r>
            <a:r>
              <a:rPr lang="en-US" sz="1200" dirty="0">
                <a:solidFill>
                  <a:srgbClr val="262B3A"/>
                </a:solidFill>
                <a:latin typeface="Calibri" pitchFamily="34" charset="0"/>
                <a:ea typeface="Calibri" pitchFamily="34" charset="-122"/>
                <a:cs typeface="Calibri" pitchFamily="34" charset="-120"/>
              </a:rPr>
              <a:t> and other drawbacks.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C4 Material choices • C4.1 is Part 1 of 4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C4.1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Choosing materials</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C4.1.1   </a:t>
            </a:r>
            <a:r>
              <a:rPr lang="en-US" sz="1100" dirty="0">
                <a:solidFill>
                  <a:srgbClr val="262B3A"/>
                </a:solidFill>
                <a:latin typeface="Calibri" pitchFamily="34" charset="0"/>
                <a:ea typeface="Calibri" pitchFamily="34" charset="-122"/>
                <a:cs typeface="Calibri" pitchFamily="34" charset="-120"/>
              </a:rPr>
              <a:t>Four families of materials; describing properties</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C4.1.1   </a:t>
            </a:r>
            <a:r>
              <a:rPr lang="en-US" sz="1100" dirty="0">
                <a:solidFill>
                  <a:srgbClr val="262B3A"/>
                </a:solidFill>
                <a:latin typeface="Calibri" pitchFamily="34" charset="0"/>
                <a:ea typeface="Calibri" pitchFamily="34" charset="-122"/>
                <a:cs typeface="Calibri" pitchFamily="34" charset="-120"/>
              </a:rPr>
              <a:t>Comparing materials with data: ceramics, polymers, composites</a:t>
            </a:r>
            <a:endParaRPr lang="en-US" sz="1100" dirty="0"/>
          </a:p>
        </p:txBody>
      </p:sp>
      <p:sp>
        <p:nvSpPr>
          <p:cNvPr id="19" name="Shape 17"/>
          <p:cNvSpPr/>
          <p:nvPr/>
        </p:nvSpPr>
        <p:spPr>
          <a:xfrm>
            <a:off x="5257800" y="2907792"/>
            <a:ext cx="1097280" cy="274320"/>
          </a:xfrm>
          <a:prstGeom prst="roundRect">
            <a:avLst>
              <a:gd name="adj" fmla="val 50000"/>
            </a:avLst>
          </a:prstGeom>
          <a:solidFill>
            <a:srgbClr val="6A3FA0"/>
          </a:solidFill>
          <a:ln w="12700">
            <a:solidFill>
              <a:srgbClr val="6A3FA0"/>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C4.1.2   </a:t>
            </a:r>
            <a:r>
              <a:rPr lang="en-US" sz="1100" dirty="0">
                <a:solidFill>
                  <a:srgbClr val="262B3A"/>
                </a:solidFill>
                <a:latin typeface="Calibri" pitchFamily="34" charset="0"/>
                <a:ea typeface="Calibri" pitchFamily="34" charset="-122"/>
                <a:cs typeface="Calibri" pitchFamily="34" charset="-120"/>
              </a:rPr>
              <a:t>Choosing a material from a specification</a:t>
            </a:r>
            <a:endParaRPr lang="en-US" sz="1100" dirty="0"/>
          </a:p>
        </p:txBody>
      </p:sp>
      <p:sp>
        <p:nvSpPr>
          <p:cNvPr id="24" name="Shape 22"/>
          <p:cNvSpPr/>
          <p:nvPr/>
        </p:nvSpPr>
        <p:spPr>
          <a:xfrm>
            <a:off x="5257800" y="3566160"/>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C4.1.3   </a:t>
            </a:r>
            <a:r>
              <a:rPr lang="en-US" sz="1100" dirty="0">
                <a:solidFill>
                  <a:srgbClr val="262B3A"/>
                </a:solidFill>
                <a:latin typeface="Calibri" pitchFamily="34" charset="0"/>
                <a:ea typeface="Calibri" pitchFamily="34" charset="-122"/>
                <a:cs typeface="Calibri" pitchFamily="34" charset="-120"/>
              </a:rPr>
              <a:t>Alloys: steel, stainless steel, brass, gold</a:t>
            </a:r>
            <a:endParaRPr lang="en-US" sz="1100" dirty="0"/>
          </a:p>
        </p:txBody>
      </p:sp>
      <p:sp>
        <p:nvSpPr>
          <p:cNvPr id="29" name="Shape 27"/>
          <p:cNvSpPr/>
          <p:nvPr/>
        </p:nvSpPr>
        <p:spPr>
          <a:xfrm>
            <a:off x="5257800" y="4224528"/>
            <a:ext cx="1097280" cy="274320"/>
          </a:xfrm>
          <a:prstGeom prst="roundRect">
            <a:avLst>
              <a:gd name="adj" fmla="val 50000"/>
            </a:avLst>
          </a:prstGeom>
          <a:solidFill>
            <a:srgbClr val="6A3FA0"/>
          </a:solidFill>
          <a:ln w="12700">
            <a:solidFill>
              <a:srgbClr val="6A3FA0"/>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Measuring density by displacement</a:t>
            </a:r>
            <a:endParaRPr lang="en-US" sz="1100" dirty="0"/>
          </a:p>
        </p:txBody>
      </p:sp>
      <p:sp>
        <p:nvSpPr>
          <p:cNvPr id="34" name="Shape 32"/>
          <p:cNvSpPr/>
          <p:nvPr/>
        </p:nvSpPr>
        <p:spPr>
          <a:xfrm>
            <a:off x="5257800" y="4882896"/>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C4.1.2   </a:t>
            </a:r>
            <a:r>
              <a:rPr lang="en-US" sz="1100" dirty="0">
                <a:solidFill>
                  <a:srgbClr val="262B3A"/>
                </a:solidFill>
                <a:latin typeface="Calibri" pitchFamily="34" charset="0"/>
                <a:ea typeface="Calibri" pitchFamily="34" charset="-122"/>
                <a:cs typeface="Calibri" pitchFamily="34" charset="-120"/>
              </a:rPr>
              <a:t>Evaluating a choice: car body panels</a:t>
            </a:r>
            <a:endParaRPr lang="en-US" sz="1100" dirty="0"/>
          </a:p>
        </p:txBody>
      </p:sp>
      <p:sp>
        <p:nvSpPr>
          <p:cNvPr id="39" name="Shape 37"/>
          <p:cNvSpPr/>
          <p:nvPr/>
        </p:nvSpPr>
        <p:spPr>
          <a:xfrm>
            <a:off x="5257800" y="5541264"/>
            <a:ext cx="1097280" cy="274320"/>
          </a:xfrm>
          <a:prstGeom prst="roundRect">
            <a:avLst>
              <a:gd name="adj" fmla="val 50000"/>
            </a:avLst>
          </a:prstGeom>
          <a:solidFill>
            <a:srgbClr val="6A3FA0"/>
          </a:solidFill>
          <a:ln w="12700">
            <a:solidFill>
              <a:srgbClr val="6A3FA0"/>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C1 particle model • C2 metals and non-metals, ionic compounds • C3 metals and extraction</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C4 in J260</a:t>
            </a:r>
            <a:endParaRPr lang="en-US" sz="1500" dirty="0"/>
          </a:p>
          <a:p>
            <a:pPr marL="152400" indent="-152400">
              <a:spcAft>
                <a:spcPts val="200"/>
              </a:spcAft>
              <a:buSzPct val="100000"/>
              <a:buChar char="▪"/>
            </a:pPr>
            <a:r>
              <a:rPr lang="en-US" sz="1100" b="1" dirty="0">
                <a:solidFill>
                  <a:srgbClr val="EDE6F8"/>
                </a:solidFill>
                <a:latin typeface="Calibri" pitchFamily="34" charset="0"/>
                <a:ea typeface="Calibri" pitchFamily="34" charset="-122"/>
                <a:cs typeface="Calibri" pitchFamily="34" charset="-120"/>
              </a:rPr>
              <a:t>C4.1 How is data used to choose a material for a particular use?</a:t>
            </a:r>
            <a:r>
              <a:rPr lang="en-US" sz="1100" dirty="0">
                <a:solidFill>
                  <a:srgbClr val="EDE6F8"/>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DE6F8"/>
                </a:solidFill>
                <a:latin typeface="Calibri" pitchFamily="34" charset="0"/>
                <a:ea typeface="Calibri" pitchFamily="34" charset="-122"/>
                <a:cs typeface="Calibri" pitchFamily="34" charset="-120"/>
              </a:rPr>
              <a:t>C4.2 How do bonding and structure affect properties of materials?</a:t>
            </a:r>
            <a:endParaRPr lang="en-US" sz="1500" dirty="0"/>
          </a:p>
          <a:p>
            <a:pPr marL="152400" indent="-152400">
              <a:spcAft>
                <a:spcPts val="200"/>
              </a:spcAft>
              <a:buSzPct val="100000"/>
              <a:buChar char="▪"/>
            </a:pPr>
            <a:r>
              <a:rPr lang="en-US" sz="1100" dirty="0">
                <a:solidFill>
                  <a:srgbClr val="EDE6F8"/>
                </a:solidFill>
                <a:latin typeface="Calibri" pitchFamily="34" charset="0"/>
                <a:ea typeface="Calibri" pitchFamily="34" charset="-122"/>
                <a:cs typeface="Calibri" pitchFamily="34" charset="-120"/>
              </a:rPr>
              <a:t>C4.3 Why are nanoparticles so useful?</a:t>
            </a:r>
            <a:endParaRPr lang="en-US" sz="1500" dirty="0"/>
          </a:p>
          <a:p>
            <a:pPr marL="152400" indent="-152400">
              <a:spcAft>
                <a:spcPts val="200"/>
              </a:spcAft>
              <a:buSzPct val="100000"/>
              <a:buChar char="▪"/>
            </a:pPr>
            <a:r>
              <a:rPr lang="en-US" sz="1100" dirty="0">
                <a:solidFill>
                  <a:srgbClr val="EDE6F8"/>
                </a:solidFill>
                <a:latin typeface="Calibri" pitchFamily="34" charset="0"/>
                <a:ea typeface="Calibri" pitchFamily="34" charset="-122"/>
                <a:cs typeface="Calibri" pitchFamily="34" charset="-120"/>
              </a:rPr>
              <a:t>C4.4 What happens to products at the end of their useful life?</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No Higher-only statement was found for C4.1. Strength per unit density is marked </a:t>
            </a:r>
            <a:r>
              <a:rPr lang="en-US" sz="1100" b="1" dirty="0">
                <a:solidFill>
                  <a:srgbClr val="262B3A"/>
                </a:solidFill>
                <a:latin typeface="Calibri" pitchFamily="34" charset="0"/>
                <a:ea typeface="Calibri" pitchFamily="34" charset="-122"/>
                <a:cs typeface="Calibri" pitchFamily="34" charset="-120"/>
              </a:rPr>
              <a:t>GRADE 7–9 STRETCH</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This deck asks </a:t>
            </a:r>
            <a:r>
              <a:rPr lang="en-US" sz="1100" b="1" dirty="0">
                <a:solidFill>
                  <a:srgbClr val="262B3A"/>
                </a:solidFill>
                <a:latin typeface="Calibri" pitchFamily="34" charset="0"/>
                <a:ea typeface="Calibri" pitchFamily="34" charset="-122"/>
                <a:cs typeface="Calibri" pitchFamily="34" charset="-120"/>
              </a:rPr>
              <a:t>what</a:t>
            </a:r>
            <a:r>
              <a:rPr lang="en-US" sz="1100" dirty="0">
                <a:solidFill>
                  <a:srgbClr val="262B3A"/>
                </a:solidFill>
                <a:latin typeface="Calibri" pitchFamily="34" charset="0"/>
                <a:ea typeface="Calibri" pitchFamily="34" charset="-122"/>
                <a:cs typeface="Calibri" pitchFamily="34" charset="-120"/>
              </a:rPr>
              <a:t> the properties are; </a:t>
            </a:r>
            <a:r>
              <a:rPr lang="en-US" sz="1100" b="1" dirty="0">
                <a:solidFill>
                  <a:srgbClr val="262B3A"/>
                </a:solidFill>
                <a:latin typeface="Calibri" pitchFamily="34" charset="0"/>
                <a:ea typeface="Calibri" pitchFamily="34" charset="-122"/>
                <a:cs typeface="Calibri" pitchFamily="34" charset="-120"/>
              </a:rPr>
              <a:t>C4.2</a:t>
            </a:r>
            <a:r>
              <a:rPr lang="en-US" sz="1100" dirty="0">
                <a:solidFill>
                  <a:srgbClr val="262B3A"/>
                </a:solidFill>
                <a:latin typeface="Calibri" pitchFamily="34" charset="0"/>
                <a:ea typeface="Calibri" pitchFamily="34" charset="-122"/>
                <a:cs typeface="Calibri" pitchFamily="34" charset="-120"/>
              </a:rPr>
              <a:t> explains </a:t>
            </a:r>
            <a:r>
              <a:rPr lang="en-US" sz="1100" b="1" dirty="0">
                <a:solidFill>
                  <a:srgbClr val="262B3A"/>
                </a:solidFill>
                <a:latin typeface="Calibri" pitchFamily="34" charset="0"/>
                <a:ea typeface="Calibri" pitchFamily="34" charset="-122"/>
                <a:cs typeface="Calibri" pitchFamily="34" charset="-120"/>
              </a:rPr>
              <a:t>why</a:t>
            </a:r>
            <a:r>
              <a:rPr lang="en-US" sz="1100" dirty="0">
                <a:solidFill>
                  <a:srgbClr val="262B3A"/>
                </a:solidFill>
                <a:latin typeface="Calibri" pitchFamily="34" charset="0"/>
                <a:ea typeface="Calibri" pitchFamily="34" charset="-122"/>
                <a:cs typeface="Calibri" pitchFamily="34" charset="-120"/>
              </a:rPr>
              <a:t>, using bonding and structure.</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density = mass ÷ volume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ratios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percentages</a:t>
            </a:r>
            <a:r>
              <a:rPr lang="en-US" sz="1100" dirty="0">
                <a:solidFill>
                  <a:srgbClr val="262B3A"/>
                </a:solidFill>
                <a:latin typeface="Calibri" pitchFamily="34" charset="0"/>
                <a:ea typeface="Calibri" pitchFamily="34" charset="-122"/>
                <a:cs typeface="Calibri" pitchFamily="34" charset="-120"/>
              </a:rPr>
              <a:t>, plotting a graph and finding a </a:t>
            </a:r>
            <a:r>
              <a:rPr lang="en-US" sz="1100" b="1" dirty="0">
                <a:solidFill>
                  <a:srgbClr val="262B3A"/>
                </a:solidFill>
                <a:latin typeface="Calibri" pitchFamily="34" charset="0"/>
                <a:ea typeface="Calibri" pitchFamily="34" charset="-122"/>
                <a:cs typeface="Calibri" pitchFamily="34" charset="-120"/>
              </a:rPr>
              <a:t>gradient</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 C2, C3 and KS3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metals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structure of a </a:t>
            </a:r>
            <a:r>
              <a:rPr lang="en-US" sz="1250" b="1" dirty="0">
                <a:solidFill>
                  <a:srgbClr val="262B3A"/>
                </a:solidFill>
                <a:latin typeface="Calibri" pitchFamily="34" charset="0"/>
                <a:ea typeface="Calibri" pitchFamily="34" charset="-122"/>
                <a:cs typeface="Calibri" pitchFamily="34" charset="-120"/>
              </a:rPr>
              <a:t>metal</a:t>
            </a:r>
            <a:r>
              <a:rPr lang="en-US" sz="1250" dirty="0">
                <a:solidFill>
                  <a:srgbClr val="262B3A"/>
                </a:solidFill>
                <a:latin typeface="Calibri" pitchFamily="34" charset="0"/>
                <a:ea typeface="Calibri" pitchFamily="34" charset="-122"/>
                <a:cs typeface="Calibri" pitchFamily="34" charset="-120"/>
              </a:rPr>
              <a:t>. Why can metals conduct </a:t>
            </a:r>
            <a:r>
              <a:rPr lang="en-US" sz="1250" b="1" dirty="0">
                <a:solidFill>
                  <a:srgbClr val="262B3A"/>
                </a:solidFill>
                <a:latin typeface="Calibri" pitchFamily="34" charset="0"/>
                <a:ea typeface="Calibri" pitchFamily="34" charset="-122"/>
                <a:cs typeface="Calibri" pitchFamily="34" charset="-120"/>
              </a:rPr>
              <a:t>electricity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extraction</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a:t>
            </a:r>
            <a:r>
              <a:rPr lang="en-US" sz="1250" b="1" dirty="0">
                <a:solidFill>
                  <a:srgbClr val="262B3A"/>
                </a:solidFill>
                <a:latin typeface="Calibri" pitchFamily="34" charset="0"/>
                <a:ea typeface="Calibri" pitchFamily="34" charset="-122"/>
                <a:cs typeface="Calibri" pitchFamily="34" charset="-120"/>
              </a:rPr>
              <a:t>Fe₂O₃(s) + __CO(g) → __Fe(l) + __CO₂(g)</a:t>
            </a:r>
            <a:r>
              <a:rPr lang="en-US" sz="1250" dirty="0">
                <a:solidFill>
                  <a:srgbClr val="262B3A"/>
                </a:solidFill>
                <a:latin typeface="Calibri" pitchFamily="34" charset="0"/>
                <a:ea typeface="Calibri" pitchFamily="34" charset="-122"/>
                <a:cs typeface="Calibri" pitchFamily="34" charset="-120"/>
              </a:rPr>
              <a:t>. What is </a:t>
            </a:r>
            <a:r>
              <a:rPr lang="en-US" sz="1250" b="1" dirty="0">
                <a:solidFill>
                  <a:srgbClr val="262B3A"/>
                </a:solidFill>
                <a:latin typeface="Calibri" pitchFamily="34" charset="0"/>
                <a:ea typeface="Calibri" pitchFamily="34" charset="-122"/>
                <a:cs typeface="Calibri" pitchFamily="34" charset="-120"/>
              </a:rPr>
              <a:t>reduced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periodic table</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physical properties of metals that most </a:t>
            </a:r>
            <a:r>
              <a:rPr lang="en-US" sz="1250" b="1" dirty="0">
                <a:solidFill>
                  <a:srgbClr val="262B3A"/>
                </a:solidFill>
                <a:latin typeface="Calibri" pitchFamily="34" charset="0"/>
                <a:ea typeface="Calibri" pitchFamily="34" charset="-122"/>
                <a:cs typeface="Calibri" pitchFamily="34" charset="-120"/>
              </a:rPr>
              <a:t>non-metals</a:t>
            </a:r>
            <a:r>
              <a:rPr lang="en-US" sz="1250" dirty="0">
                <a:solidFill>
                  <a:srgbClr val="262B3A"/>
                </a:solidFill>
                <a:latin typeface="Calibri" pitchFamily="34" charset="0"/>
                <a:ea typeface="Calibri" pitchFamily="34" charset="-122"/>
                <a:cs typeface="Calibri" pitchFamily="34" charset="-120"/>
              </a:rPr>
              <a:t> do not have.</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particle model</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happens to the </a:t>
            </a:r>
            <a:r>
              <a:rPr lang="en-US" sz="1250" b="1" dirty="0">
                <a:solidFill>
                  <a:srgbClr val="262B3A"/>
                </a:solidFill>
                <a:latin typeface="Calibri" pitchFamily="34" charset="0"/>
                <a:ea typeface="Calibri" pitchFamily="34" charset="-122"/>
                <a:cs typeface="Calibri" pitchFamily="34" charset="-120"/>
              </a:rPr>
              <a:t>particles</a:t>
            </a:r>
            <a:r>
              <a:rPr lang="en-US" sz="1250" dirty="0">
                <a:solidFill>
                  <a:srgbClr val="262B3A"/>
                </a:solidFill>
                <a:latin typeface="Calibri" pitchFamily="34" charset="0"/>
                <a:ea typeface="Calibri" pitchFamily="34" charset="-122"/>
                <a:cs typeface="Calibri" pitchFamily="34" charset="-120"/>
              </a:rPr>
              <a:t> when a solid </a:t>
            </a:r>
            <a:r>
              <a:rPr lang="en-US" sz="1250" b="1" dirty="0">
                <a:solidFill>
                  <a:srgbClr val="262B3A"/>
                </a:solidFill>
                <a:latin typeface="Calibri" pitchFamily="34" charset="0"/>
                <a:ea typeface="Calibri" pitchFamily="34" charset="-122"/>
                <a:cs typeface="Calibri" pitchFamily="34" charset="-120"/>
              </a:rPr>
              <a:t>melts</a:t>
            </a:r>
            <a:r>
              <a:rPr lang="en-US" sz="1250" dirty="0">
                <a:solidFill>
                  <a:srgbClr val="262B3A"/>
                </a:solidFill>
                <a:latin typeface="Calibri" pitchFamily="34" charset="0"/>
                <a:ea typeface="Calibri" pitchFamily="34" charset="-122"/>
                <a:cs typeface="Calibri" pitchFamily="34" charset="-120"/>
              </a:rPr>
              <a:t>? Why do substances melt at different temperatures?</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ionic compounds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does </a:t>
            </a:r>
            <a:r>
              <a:rPr lang="en-US" sz="1250" b="1" dirty="0">
                <a:solidFill>
                  <a:srgbClr val="262B3A"/>
                </a:solidFill>
                <a:latin typeface="Calibri" pitchFamily="34" charset="0"/>
                <a:ea typeface="Calibri" pitchFamily="34" charset="-122"/>
                <a:cs typeface="Calibri" pitchFamily="34" charset="-120"/>
              </a:rPr>
              <a:t>sodium chloride</a:t>
            </a:r>
            <a:r>
              <a:rPr lang="en-US" sz="1250" dirty="0">
                <a:solidFill>
                  <a:srgbClr val="262B3A"/>
                </a:solidFill>
                <a:latin typeface="Calibri" pitchFamily="34" charset="0"/>
                <a:ea typeface="Calibri" pitchFamily="34" charset="-122"/>
                <a:cs typeface="Calibri" pitchFamily="34" charset="-120"/>
              </a:rPr>
              <a:t> have a high melting point? Why does the solid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conduct?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KS3 • maths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block has mass </a:t>
            </a:r>
            <a:r>
              <a:rPr lang="en-US" sz="1250" b="1" dirty="0">
                <a:solidFill>
                  <a:srgbClr val="262B3A"/>
                </a:solidFill>
                <a:latin typeface="Calibri" pitchFamily="34" charset="0"/>
                <a:ea typeface="Calibri" pitchFamily="34" charset="-122"/>
                <a:cs typeface="Calibri" pitchFamily="34" charset="-120"/>
              </a:rPr>
              <a:t>54 g</a:t>
            </a:r>
            <a:r>
              <a:rPr lang="en-US" sz="1250" dirty="0">
                <a:solidFill>
                  <a:srgbClr val="262B3A"/>
                </a:solidFill>
                <a:latin typeface="Calibri" pitchFamily="34" charset="0"/>
                <a:ea typeface="Calibri" pitchFamily="34" charset="-122"/>
                <a:cs typeface="Calibri" pitchFamily="34" charset="-120"/>
              </a:rPr>
              <a:t> and volume </a:t>
            </a:r>
            <a:r>
              <a:rPr lang="en-US" sz="1250" b="1" dirty="0">
                <a:solidFill>
                  <a:srgbClr val="262B3A"/>
                </a:solidFill>
                <a:latin typeface="Calibri" pitchFamily="34" charset="0"/>
                <a:ea typeface="Calibri" pitchFamily="34" charset="-122"/>
                <a:cs typeface="Calibri" pitchFamily="34" charset="-120"/>
              </a:rPr>
              <a:t>20 cm³</a:t>
            </a:r>
            <a:r>
              <a:rPr lang="en-US" sz="1250" dirty="0">
                <a:solidFill>
                  <a:srgbClr val="262B3A"/>
                </a:solidFill>
                <a:latin typeface="Calibri" pitchFamily="34" charset="0"/>
                <a:ea typeface="Calibri" pitchFamily="34" charset="-122"/>
                <a:cs typeface="Calibri" pitchFamily="34" charset="-120"/>
              </a:rPr>
              <a:t>. Calculate its </a:t>
            </a:r>
            <a:r>
              <a:rPr lang="en-US" sz="1250" b="1" dirty="0">
                <a:solidFill>
                  <a:srgbClr val="262B3A"/>
                </a:solidFill>
                <a:latin typeface="Calibri" pitchFamily="34" charset="0"/>
                <a:ea typeface="Calibri" pitchFamily="34" charset="-122"/>
                <a:cs typeface="Calibri" pitchFamily="34" charset="-120"/>
              </a:rPr>
              <a:t>density</a:t>
            </a:r>
            <a:r>
              <a:rPr lang="en-US" sz="1250" dirty="0">
                <a:solidFill>
                  <a:srgbClr val="262B3A"/>
                </a:solidFill>
                <a:latin typeface="Calibri" pitchFamily="34" charset="0"/>
                <a:ea typeface="Calibri" pitchFamily="34" charset="-122"/>
                <a:cs typeface="Calibri" pitchFamily="34" charset="-120"/>
              </a:rPr>
              <a:t> and give the unit.</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Four families of materials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metals, ceramics, polymers and composites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 and structure pictures, simplified; not to scale</a:t>
            </a:r>
            <a:endParaRPr lang="en-US" sz="1000" dirty="0"/>
          </a:p>
        </p:txBody>
      </p:sp>
      <p:sp>
        <p:nvSpPr>
          <p:cNvPr id="10" name="Shape 8"/>
          <p:cNvSpPr/>
          <p:nvPr/>
        </p:nvSpPr>
        <p:spPr>
          <a:xfrm>
            <a:off x="594360" y="1325880"/>
            <a:ext cx="2514600" cy="1783080"/>
          </a:xfrm>
          <a:prstGeom prst="roundRect">
            <a:avLst>
              <a:gd name="adj" fmla="val 2564"/>
            </a:avLst>
          </a:prstGeom>
          <a:solidFill>
            <a:srgbClr val="FFFFFF"/>
          </a:solidFill>
          <a:ln w="19050">
            <a:solidFill>
              <a:srgbClr val="7A8BA6"/>
            </a:solidFill>
            <a:prstDash val="solid"/>
          </a:ln>
        </p:spPr>
      </p:sp>
      <p:sp>
        <p:nvSpPr>
          <p:cNvPr id="11" name="Text 9"/>
          <p:cNvSpPr/>
          <p:nvPr/>
        </p:nvSpPr>
        <p:spPr>
          <a:xfrm>
            <a:off x="640080" y="1362456"/>
            <a:ext cx="2423160" cy="256032"/>
          </a:xfrm>
          <a:prstGeom prst="rect">
            <a:avLst/>
          </a:prstGeom>
          <a:noFill/>
          <a:ln/>
        </p:spPr>
        <p:txBody>
          <a:bodyPr wrap="square" lIns="0" tIns="0" rIns="0" bIns="0" rtlCol="0" anchor="ctr"/>
          <a:lstStyle/>
          <a:p>
            <a:pPr algn="ctr" indent="0" marL="0">
              <a:buNone/>
            </a:pPr>
            <a:r>
              <a:rPr lang="en-US" sz="1150" b="1" dirty="0">
                <a:solidFill>
                  <a:srgbClr val="7A8BA6"/>
                </a:solidFill>
                <a:latin typeface="Calibri" pitchFamily="34" charset="0"/>
                <a:ea typeface="Calibri" pitchFamily="34" charset="-122"/>
                <a:cs typeface="Calibri" pitchFamily="34" charset="-120"/>
              </a:rPr>
              <a:t>Metals</a:t>
            </a:r>
            <a:endParaRPr lang="en-US" sz="1150" dirty="0"/>
          </a:p>
        </p:txBody>
      </p:sp>
      <p:sp>
        <p:nvSpPr>
          <p:cNvPr id="12" name="Shape 10"/>
          <p:cNvSpPr/>
          <p:nvPr/>
        </p:nvSpPr>
        <p:spPr>
          <a:xfrm>
            <a:off x="3246120" y="1325880"/>
            <a:ext cx="2514600" cy="1783080"/>
          </a:xfrm>
          <a:prstGeom prst="roundRect">
            <a:avLst>
              <a:gd name="adj" fmla="val 2564"/>
            </a:avLst>
          </a:prstGeom>
          <a:solidFill>
            <a:srgbClr val="FFFFFF"/>
          </a:solidFill>
          <a:ln w="19050">
            <a:solidFill>
              <a:srgbClr val="C98B5A"/>
            </a:solidFill>
            <a:prstDash val="solid"/>
          </a:ln>
        </p:spPr>
      </p:sp>
      <p:sp>
        <p:nvSpPr>
          <p:cNvPr id="13" name="Text 11"/>
          <p:cNvSpPr/>
          <p:nvPr/>
        </p:nvSpPr>
        <p:spPr>
          <a:xfrm>
            <a:off x="3291840" y="1362456"/>
            <a:ext cx="2423160" cy="256032"/>
          </a:xfrm>
          <a:prstGeom prst="rect">
            <a:avLst/>
          </a:prstGeom>
          <a:noFill/>
          <a:ln/>
        </p:spPr>
        <p:txBody>
          <a:bodyPr wrap="square" lIns="0" tIns="0" rIns="0" bIns="0" rtlCol="0" anchor="ctr"/>
          <a:lstStyle/>
          <a:p>
            <a:pPr algn="ctr" indent="0" marL="0">
              <a:buNone/>
            </a:pPr>
            <a:r>
              <a:rPr lang="en-US" sz="1150" b="1" dirty="0">
                <a:solidFill>
                  <a:srgbClr val="C98B5A"/>
                </a:solidFill>
                <a:latin typeface="Calibri" pitchFamily="34" charset="0"/>
                <a:ea typeface="Calibri" pitchFamily="34" charset="-122"/>
                <a:cs typeface="Calibri" pitchFamily="34" charset="-120"/>
              </a:rPr>
              <a:t>Ceramics</a:t>
            </a:r>
            <a:endParaRPr lang="en-US" sz="1150" dirty="0"/>
          </a:p>
        </p:txBody>
      </p:sp>
      <p:sp>
        <p:nvSpPr>
          <p:cNvPr id="14" name="Shape 12"/>
          <p:cNvSpPr/>
          <p:nvPr/>
        </p:nvSpPr>
        <p:spPr>
          <a:xfrm>
            <a:off x="594360" y="3246120"/>
            <a:ext cx="2514600" cy="1783080"/>
          </a:xfrm>
          <a:prstGeom prst="roundRect">
            <a:avLst>
              <a:gd name="adj" fmla="val 2564"/>
            </a:avLst>
          </a:prstGeom>
          <a:solidFill>
            <a:srgbClr val="FFFFFF"/>
          </a:solidFill>
          <a:ln w="19050">
            <a:solidFill>
              <a:srgbClr val="5FA463"/>
            </a:solidFill>
            <a:prstDash val="solid"/>
          </a:ln>
        </p:spPr>
      </p:sp>
      <p:sp>
        <p:nvSpPr>
          <p:cNvPr id="15" name="Text 13"/>
          <p:cNvSpPr/>
          <p:nvPr/>
        </p:nvSpPr>
        <p:spPr>
          <a:xfrm>
            <a:off x="640080" y="3282696"/>
            <a:ext cx="2423160" cy="256032"/>
          </a:xfrm>
          <a:prstGeom prst="rect">
            <a:avLst/>
          </a:prstGeom>
          <a:noFill/>
          <a:ln/>
        </p:spPr>
        <p:txBody>
          <a:bodyPr wrap="square" lIns="0" tIns="0" rIns="0" bIns="0" rtlCol="0" anchor="ctr"/>
          <a:lstStyle/>
          <a:p>
            <a:pPr algn="ctr" indent="0" marL="0">
              <a:buNone/>
            </a:pPr>
            <a:r>
              <a:rPr lang="en-US" sz="1150" b="1" dirty="0">
                <a:solidFill>
                  <a:srgbClr val="5FA463"/>
                </a:solidFill>
                <a:latin typeface="Calibri" pitchFamily="34" charset="0"/>
                <a:ea typeface="Calibri" pitchFamily="34" charset="-122"/>
                <a:cs typeface="Calibri" pitchFamily="34" charset="-120"/>
              </a:rPr>
              <a:t>Polymers</a:t>
            </a:r>
            <a:endParaRPr lang="en-US" sz="1150" dirty="0"/>
          </a:p>
        </p:txBody>
      </p:sp>
      <p:sp>
        <p:nvSpPr>
          <p:cNvPr id="16" name="Shape 14"/>
          <p:cNvSpPr/>
          <p:nvPr/>
        </p:nvSpPr>
        <p:spPr>
          <a:xfrm>
            <a:off x="3246120" y="3246120"/>
            <a:ext cx="2514600" cy="1783080"/>
          </a:xfrm>
          <a:prstGeom prst="roundRect">
            <a:avLst>
              <a:gd name="adj" fmla="val 2564"/>
            </a:avLst>
          </a:prstGeom>
          <a:solidFill>
            <a:srgbClr val="FFFFFF"/>
          </a:solidFill>
          <a:ln w="19050">
            <a:solidFill>
              <a:srgbClr val="6A3FA0"/>
            </a:solidFill>
            <a:prstDash val="solid"/>
          </a:ln>
        </p:spPr>
      </p:sp>
      <p:sp>
        <p:nvSpPr>
          <p:cNvPr id="17" name="Text 15"/>
          <p:cNvSpPr/>
          <p:nvPr/>
        </p:nvSpPr>
        <p:spPr>
          <a:xfrm>
            <a:off x="3291840" y="3282696"/>
            <a:ext cx="2423160" cy="256032"/>
          </a:xfrm>
          <a:prstGeom prst="rect">
            <a:avLst/>
          </a:prstGeom>
          <a:noFill/>
          <a:ln/>
        </p:spPr>
        <p:txBody>
          <a:bodyPr wrap="square" lIns="0" tIns="0" rIns="0" bIns="0" rtlCol="0" anchor="ctr"/>
          <a:lstStyle/>
          <a:p>
            <a:pPr algn="ctr" indent="0" marL="0">
              <a:buNone/>
            </a:pPr>
            <a:r>
              <a:rPr lang="en-US" sz="1150" b="1" dirty="0">
                <a:solidFill>
                  <a:srgbClr val="6A3FA0"/>
                </a:solidFill>
                <a:latin typeface="Calibri" pitchFamily="34" charset="0"/>
                <a:ea typeface="Calibri" pitchFamily="34" charset="-122"/>
                <a:cs typeface="Calibri" pitchFamily="34" charset="-120"/>
              </a:rPr>
              <a:t>Composites</a:t>
            </a:r>
            <a:endParaRPr lang="en-US" sz="1150" dirty="0"/>
          </a:p>
        </p:txBody>
      </p:sp>
      <p:sp>
        <p:nvSpPr>
          <p:cNvPr id="18" name="Shape 16"/>
          <p:cNvSpPr/>
          <p:nvPr/>
        </p:nvSpPr>
        <p:spPr>
          <a:xfrm>
            <a:off x="868680" y="1645920"/>
            <a:ext cx="237744" cy="237744"/>
          </a:xfrm>
          <a:prstGeom prst="ellipse">
            <a:avLst/>
          </a:prstGeom>
          <a:solidFill>
            <a:srgbClr val="B8C2D0"/>
          </a:solidFill>
          <a:ln w="9525">
            <a:solidFill>
              <a:srgbClr val="5A6478"/>
            </a:solidFill>
            <a:prstDash val="solid"/>
          </a:ln>
        </p:spPr>
      </p:sp>
      <p:sp>
        <p:nvSpPr>
          <p:cNvPr id="19" name="Text 17"/>
          <p:cNvSpPr/>
          <p:nvPr/>
        </p:nvSpPr>
        <p:spPr>
          <a:xfrm>
            <a:off x="868680" y="1645920"/>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1106424" y="1645920"/>
            <a:ext cx="237744" cy="237744"/>
          </a:xfrm>
          <a:prstGeom prst="ellipse">
            <a:avLst/>
          </a:prstGeom>
          <a:solidFill>
            <a:srgbClr val="B8C2D0"/>
          </a:solidFill>
          <a:ln w="9525">
            <a:solidFill>
              <a:srgbClr val="5A6478"/>
            </a:solidFill>
            <a:prstDash val="solid"/>
          </a:ln>
        </p:spPr>
      </p:sp>
      <p:sp>
        <p:nvSpPr>
          <p:cNvPr id="21" name="Text 19"/>
          <p:cNvSpPr/>
          <p:nvPr/>
        </p:nvSpPr>
        <p:spPr>
          <a:xfrm>
            <a:off x="1106424" y="1645920"/>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22" name="Shape 20"/>
          <p:cNvSpPr/>
          <p:nvPr/>
        </p:nvSpPr>
        <p:spPr>
          <a:xfrm>
            <a:off x="1344168" y="1645920"/>
            <a:ext cx="237744" cy="237744"/>
          </a:xfrm>
          <a:prstGeom prst="ellipse">
            <a:avLst/>
          </a:prstGeom>
          <a:solidFill>
            <a:srgbClr val="B8C2D0"/>
          </a:solidFill>
          <a:ln w="9525">
            <a:solidFill>
              <a:srgbClr val="5A6478"/>
            </a:solidFill>
            <a:prstDash val="solid"/>
          </a:ln>
        </p:spPr>
      </p:sp>
      <p:sp>
        <p:nvSpPr>
          <p:cNvPr id="23" name="Text 21"/>
          <p:cNvSpPr/>
          <p:nvPr/>
        </p:nvSpPr>
        <p:spPr>
          <a:xfrm>
            <a:off x="1344168" y="1645920"/>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24" name="Shape 22"/>
          <p:cNvSpPr/>
          <p:nvPr/>
        </p:nvSpPr>
        <p:spPr>
          <a:xfrm>
            <a:off x="1581912" y="1645920"/>
            <a:ext cx="237744" cy="237744"/>
          </a:xfrm>
          <a:prstGeom prst="ellipse">
            <a:avLst/>
          </a:prstGeom>
          <a:solidFill>
            <a:srgbClr val="B8C2D0"/>
          </a:solidFill>
          <a:ln w="9525">
            <a:solidFill>
              <a:srgbClr val="5A6478"/>
            </a:solidFill>
            <a:prstDash val="solid"/>
          </a:ln>
        </p:spPr>
      </p:sp>
      <p:sp>
        <p:nvSpPr>
          <p:cNvPr id="25" name="Text 23"/>
          <p:cNvSpPr/>
          <p:nvPr/>
        </p:nvSpPr>
        <p:spPr>
          <a:xfrm>
            <a:off x="1581912" y="1645920"/>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1819656" y="1645920"/>
            <a:ext cx="237744" cy="237744"/>
          </a:xfrm>
          <a:prstGeom prst="ellipse">
            <a:avLst/>
          </a:prstGeom>
          <a:solidFill>
            <a:srgbClr val="B8C2D0"/>
          </a:solidFill>
          <a:ln w="9525">
            <a:solidFill>
              <a:srgbClr val="5A6478"/>
            </a:solidFill>
            <a:prstDash val="solid"/>
          </a:ln>
        </p:spPr>
      </p:sp>
      <p:sp>
        <p:nvSpPr>
          <p:cNvPr id="27" name="Text 25"/>
          <p:cNvSpPr/>
          <p:nvPr/>
        </p:nvSpPr>
        <p:spPr>
          <a:xfrm>
            <a:off x="1819656" y="1645920"/>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28" name="Shape 26"/>
          <p:cNvSpPr/>
          <p:nvPr/>
        </p:nvSpPr>
        <p:spPr>
          <a:xfrm>
            <a:off x="2057400" y="1645920"/>
            <a:ext cx="237744" cy="237744"/>
          </a:xfrm>
          <a:prstGeom prst="ellipse">
            <a:avLst/>
          </a:prstGeom>
          <a:solidFill>
            <a:srgbClr val="B8C2D0"/>
          </a:solidFill>
          <a:ln w="9525">
            <a:solidFill>
              <a:srgbClr val="5A6478"/>
            </a:solidFill>
            <a:prstDash val="solid"/>
          </a:ln>
        </p:spPr>
      </p:sp>
      <p:sp>
        <p:nvSpPr>
          <p:cNvPr id="29" name="Text 27"/>
          <p:cNvSpPr/>
          <p:nvPr/>
        </p:nvSpPr>
        <p:spPr>
          <a:xfrm>
            <a:off x="2057400" y="1645920"/>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2295144" y="1645920"/>
            <a:ext cx="237744" cy="237744"/>
          </a:xfrm>
          <a:prstGeom prst="ellipse">
            <a:avLst/>
          </a:prstGeom>
          <a:solidFill>
            <a:srgbClr val="B8C2D0"/>
          </a:solidFill>
          <a:ln w="9525">
            <a:solidFill>
              <a:srgbClr val="5A6478"/>
            </a:solidFill>
            <a:prstDash val="solid"/>
          </a:ln>
        </p:spPr>
      </p:sp>
      <p:sp>
        <p:nvSpPr>
          <p:cNvPr id="31" name="Text 29"/>
          <p:cNvSpPr/>
          <p:nvPr/>
        </p:nvSpPr>
        <p:spPr>
          <a:xfrm>
            <a:off x="2295144" y="1645920"/>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32" name="Shape 30"/>
          <p:cNvSpPr/>
          <p:nvPr/>
        </p:nvSpPr>
        <p:spPr>
          <a:xfrm>
            <a:off x="868680" y="1883664"/>
            <a:ext cx="237744" cy="237744"/>
          </a:xfrm>
          <a:prstGeom prst="ellipse">
            <a:avLst/>
          </a:prstGeom>
          <a:solidFill>
            <a:srgbClr val="B8C2D0"/>
          </a:solidFill>
          <a:ln w="9525">
            <a:solidFill>
              <a:srgbClr val="5A6478"/>
            </a:solidFill>
            <a:prstDash val="solid"/>
          </a:ln>
        </p:spPr>
      </p:sp>
      <p:sp>
        <p:nvSpPr>
          <p:cNvPr id="33" name="Text 31"/>
          <p:cNvSpPr/>
          <p:nvPr/>
        </p:nvSpPr>
        <p:spPr>
          <a:xfrm>
            <a:off x="868680" y="1883664"/>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34" name="Shape 32"/>
          <p:cNvSpPr/>
          <p:nvPr/>
        </p:nvSpPr>
        <p:spPr>
          <a:xfrm>
            <a:off x="1106424" y="1883664"/>
            <a:ext cx="237744" cy="237744"/>
          </a:xfrm>
          <a:prstGeom prst="ellipse">
            <a:avLst/>
          </a:prstGeom>
          <a:solidFill>
            <a:srgbClr val="B8C2D0"/>
          </a:solidFill>
          <a:ln w="9525">
            <a:solidFill>
              <a:srgbClr val="5A6478"/>
            </a:solidFill>
            <a:prstDash val="solid"/>
          </a:ln>
        </p:spPr>
      </p:sp>
      <p:sp>
        <p:nvSpPr>
          <p:cNvPr id="35" name="Text 33"/>
          <p:cNvSpPr/>
          <p:nvPr/>
        </p:nvSpPr>
        <p:spPr>
          <a:xfrm>
            <a:off x="1106424" y="1883664"/>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36" name="Shape 34"/>
          <p:cNvSpPr/>
          <p:nvPr/>
        </p:nvSpPr>
        <p:spPr>
          <a:xfrm>
            <a:off x="1344168" y="1883664"/>
            <a:ext cx="237744" cy="237744"/>
          </a:xfrm>
          <a:prstGeom prst="ellipse">
            <a:avLst/>
          </a:prstGeom>
          <a:solidFill>
            <a:srgbClr val="B8C2D0"/>
          </a:solidFill>
          <a:ln w="9525">
            <a:solidFill>
              <a:srgbClr val="5A6478"/>
            </a:solidFill>
            <a:prstDash val="solid"/>
          </a:ln>
        </p:spPr>
      </p:sp>
      <p:sp>
        <p:nvSpPr>
          <p:cNvPr id="37" name="Text 35"/>
          <p:cNvSpPr/>
          <p:nvPr/>
        </p:nvSpPr>
        <p:spPr>
          <a:xfrm>
            <a:off x="1344168" y="1883664"/>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38" name="Shape 36"/>
          <p:cNvSpPr/>
          <p:nvPr/>
        </p:nvSpPr>
        <p:spPr>
          <a:xfrm>
            <a:off x="1581912" y="1883664"/>
            <a:ext cx="237744" cy="237744"/>
          </a:xfrm>
          <a:prstGeom prst="ellipse">
            <a:avLst/>
          </a:prstGeom>
          <a:solidFill>
            <a:srgbClr val="B8C2D0"/>
          </a:solidFill>
          <a:ln w="9525">
            <a:solidFill>
              <a:srgbClr val="5A6478"/>
            </a:solidFill>
            <a:prstDash val="solid"/>
          </a:ln>
        </p:spPr>
      </p:sp>
      <p:sp>
        <p:nvSpPr>
          <p:cNvPr id="39" name="Text 37"/>
          <p:cNvSpPr/>
          <p:nvPr/>
        </p:nvSpPr>
        <p:spPr>
          <a:xfrm>
            <a:off x="1581912" y="1883664"/>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1819656" y="1883664"/>
            <a:ext cx="237744" cy="237744"/>
          </a:xfrm>
          <a:prstGeom prst="ellipse">
            <a:avLst/>
          </a:prstGeom>
          <a:solidFill>
            <a:srgbClr val="B8C2D0"/>
          </a:solidFill>
          <a:ln w="9525">
            <a:solidFill>
              <a:srgbClr val="5A6478"/>
            </a:solidFill>
            <a:prstDash val="solid"/>
          </a:ln>
        </p:spPr>
      </p:sp>
      <p:sp>
        <p:nvSpPr>
          <p:cNvPr id="41" name="Text 39"/>
          <p:cNvSpPr/>
          <p:nvPr/>
        </p:nvSpPr>
        <p:spPr>
          <a:xfrm>
            <a:off x="1819656" y="1883664"/>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42" name="Shape 40"/>
          <p:cNvSpPr/>
          <p:nvPr/>
        </p:nvSpPr>
        <p:spPr>
          <a:xfrm>
            <a:off x="2057400" y="1883664"/>
            <a:ext cx="237744" cy="237744"/>
          </a:xfrm>
          <a:prstGeom prst="ellipse">
            <a:avLst/>
          </a:prstGeom>
          <a:solidFill>
            <a:srgbClr val="B8C2D0"/>
          </a:solidFill>
          <a:ln w="9525">
            <a:solidFill>
              <a:srgbClr val="5A6478"/>
            </a:solidFill>
            <a:prstDash val="solid"/>
          </a:ln>
        </p:spPr>
      </p:sp>
      <p:sp>
        <p:nvSpPr>
          <p:cNvPr id="43" name="Text 41"/>
          <p:cNvSpPr/>
          <p:nvPr/>
        </p:nvSpPr>
        <p:spPr>
          <a:xfrm>
            <a:off x="2057400" y="1883664"/>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44" name="Shape 42"/>
          <p:cNvSpPr/>
          <p:nvPr/>
        </p:nvSpPr>
        <p:spPr>
          <a:xfrm>
            <a:off x="2295144" y="1883664"/>
            <a:ext cx="237744" cy="237744"/>
          </a:xfrm>
          <a:prstGeom prst="ellipse">
            <a:avLst/>
          </a:prstGeom>
          <a:solidFill>
            <a:srgbClr val="B8C2D0"/>
          </a:solidFill>
          <a:ln w="9525">
            <a:solidFill>
              <a:srgbClr val="5A6478"/>
            </a:solidFill>
            <a:prstDash val="solid"/>
          </a:ln>
        </p:spPr>
      </p:sp>
      <p:sp>
        <p:nvSpPr>
          <p:cNvPr id="45" name="Text 43"/>
          <p:cNvSpPr/>
          <p:nvPr/>
        </p:nvSpPr>
        <p:spPr>
          <a:xfrm>
            <a:off x="2295144" y="1883664"/>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46" name="Shape 44"/>
          <p:cNvSpPr/>
          <p:nvPr/>
        </p:nvSpPr>
        <p:spPr>
          <a:xfrm>
            <a:off x="868680" y="2121408"/>
            <a:ext cx="237744" cy="237744"/>
          </a:xfrm>
          <a:prstGeom prst="ellipse">
            <a:avLst/>
          </a:prstGeom>
          <a:solidFill>
            <a:srgbClr val="B8C2D0"/>
          </a:solidFill>
          <a:ln w="9525">
            <a:solidFill>
              <a:srgbClr val="5A6478"/>
            </a:solidFill>
            <a:prstDash val="solid"/>
          </a:ln>
        </p:spPr>
      </p:sp>
      <p:sp>
        <p:nvSpPr>
          <p:cNvPr id="47" name="Text 45"/>
          <p:cNvSpPr/>
          <p:nvPr/>
        </p:nvSpPr>
        <p:spPr>
          <a:xfrm>
            <a:off x="868680" y="2121408"/>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48" name="Shape 46"/>
          <p:cNvSpPr/>
          <p:nvPr/>
        </p:nvSpPr>
        <p:spPr>
          <a:xfrm>
            <a:off x="1106424" y="2121408"/>
            <a:ext cx="237744" cy="237744"/>
          </a:xfrm>
          <a:prstGeom prst="ellipse">
            <a:avLst/>
          </a:prstGeom>
          <a:solidFill>
            <a:srgbClr val="B8C2D0"/>
          </a:solidFill>
          <a:ln w="9525">
            <a:solidFill>
              <a:srgbClr val="5A6478"/>
            </a:solidFill>
            <a:prstDash val="solid"/>
          </a:ln>
        </p:spPr>
      </p:sp>
      <p:sp>
        <p:nvSpPr>
          <p:cNvPr id="49" name="Text 47"/>
          <p:cNvSpPr/>
          <p:nvPr/>
        </p:nvSpPr>
        <p:spPr>
          <a:xfrm>
            <a:off x="1106424" y="2121408"/>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50" name="Shape 48"/>
          <p:cNvSpPr/>
          <p:nvPr/>
        </p:nvSpPr>
        <p:spPr>
          <a:xfrm>
            <a:off x="1344168" y="2121408"/>
            <a:ext cx="237744" cy="237744"/>
          </a:xfrm>
          <a:prstGeom prst="ellipse">
            <a:avLst/>
          </a:prstGeom>
          <a:solidFill>
            <a:srgbClr val="B8C2D0"/>
          </a:solidFill>
          <a:ln w="9525">
            <a:solidFill>
              <a:srgbClr val="5A6478"/>
            </a:solidFill>
            <a:prstDash val="solid"/>
          </a:ln>
        </p:spPr>
      </p:sp>
      <p:sp>
        <p:nvSpPr>
          <p:cNvPr id="51" name="Text 49"/>
          <p:cNvSpPr/>
          <p:nvPr/>
        </p:nvSpPr>
        <p:spPr>
          <a:xfrm>
            <a:off x="1344168" y="2121408"/>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52" name="Shape 50"/>
          <p:cNvSpPr/>
          <p:nvPr/>
        </p:nvSpPr>
        <p:spPr>
          <a:xfrm>
            <a:off x="1581912" y="2121408"/>
            <a:ext cx="237744" cy="237744"/>
          </a:xfrm>
          <a:prstGeom prst="ellipse">
            <a:avLst/>
          </a:prstGeom>
          <a:solidFill>
            <a:srgbClr val="B8C2D0"/>
          </a:solidFill>
          <a:ln w="9525">
            <a:solidFill>
              <a:srgbClr val="5A6478"/>
            </a:solidFill>
            <a:prstDash val="solid"/>
          </a:ln>
        </p:spPr>
      </p:sp>
      <p:sp>
        <p:nvSpPr>
          <p:cNvPr id="53" name="Text 51"/>
          <p:cNvSpPr/>
          <p:nvPr/>
        </p:nvSpPr>
        <p:spPr>
          <a:xfrm>
            <a:off x="1581912" y="2121408"/>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1819656" y="2121408"/>
            <a:ext cx="237744" cy="237744"/>
          </a:xfrm>
          <a:prstGeom prst="ellipse">
            <a:avLst/>
          </a:prstGeom>
          <a:solidFill>
            <a:srgbClr val="B8C2D0"/>
          </a:solidFill>
          <a:ln w="9525">
            <a:solidFill>
              <a:srgbClr val="5A6478"/>
            </a:solidFill>
            <a:prstDash val="solid"/>
          </a:ln>
        </p:spPr>
      </p:sp>
      <p:sp>
        <p:nvSpPr>
          <p:cNvPr id="55" name="Text 53"/>
          <p:cNvSpPr/>
          <p:nvPr/>
        </p:nvSpPr>
        <p:spPr>
          <a:xfrm>
            <a:off x="1819656" y="2121408"/>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56" name="Shape 54"/>
          <p:cNvSpPr/>
          <p:nvPr/>
        </p:nvSpPr>
        <p:spPr>
          <a:xfrm>
            <a:off x="2057400" y="2121408"/>
            <a:ext cx="237744" cy="237744"/>
          </a:xfrm>
          <a:prstGeom prst="ellipse">
            <a:avLst/>
          </a:prstGeom>
          <a:solidFill>
            <a:srgbClr val="B8C2D0"/>
          </a:solidFill>
          <a:ln w="9525">
            <a:solidFill>
              <a:srgbClr val="5A6478"/>
            </a:solidFill>
            <a:prstDash val="solid"/>
          </a:ln>
        </p:spPr>
      </p:sp>
      <p:sp>
        <p:nvSpPr>
          <p:cNvPr id="57" name="Text 55"/>
          <p:cNvSpPr/>
          <p:nvPr/>
        </p:nvSpPr>
        <p:spPr>
          <a:xfrm>
            <a:off x="2057400" y="2121408"/>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58" name="Shape 56"/>
          <p:cNvSpPr/>
          <p:nvPr/>
        </p:nvSpPr>
        <p:spPr>
          <a:xfrm>
            <a:off x="2295144" y="2121408"/>
            <a:ext cx="237744" cy="237744"/>
          </a:xfrm>
          <a:prstGeom prst="ellipse">
            <a:avLst/>
          </a:prstGeom>
          <a:solidFill>
            <a:srgbClr val="B8C2D0"/>
          </a:solidFill>
          <a:ln w="9525">
            <a:solidFill>
              <a:srgbClr val="5A6478"/>
            </a:solidFill>
            <a:prstDash val="solid"/>
          </a:ln>
        </p:spPr>
      </p:sp>
      <p:sp>
        <p:nvSpPr>
          <p:cNvPr id="59" name="Text 57"/>
          <p:cNvSpPr/>
          <p:nvPr/>
        </p:nvSpPr>
        <p:spPr>
          <a:xfrm>
            <a:off x="2295144" y="2121408"/>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60" name="Shape 58"/>
          <p:cNvSpPr/>
          <p:nvPr/>
        </p:nvSpPr>
        <p:spPr>
          <a:xfrm>
            <a:off x="868680" y="2359152"/>
            <a:ext cx="237744" cy="237744"/>
          </a:xfrm>
          <a:prstGeom prst="ellipse">
            <a:avLst/>
          </a:prstGeom>
          <a:solidFill>
            <a:srgbClr val="B8C2D0"/>
          </a:solidFill>
          <a:ln w="9525">
            <a:solidFill>
              <a:srgbClr val="5A6478"/>
            </a:solidFill>
            <a:prstDash val="solid"/>
          </a:ln>
        </p:spPr>
      </p:sp>
      <p:sp>
        <p:nvSpPr>
          <p:cNvPr id="61" name="Text 59"/>
          <p:cNvSpPr/>
          <p:nvPr/>
        </p:nvSpPr>
        <p:spPr>
          <a:xfrm>
            <a:off x="868680" y="2359152"/>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62" name="Shape 60"/>
          <p:cNvSpPr/>
          <p:nvPr/>
        </p:nvSpPr>
        <p:spPr>
          <a:xfrm>
            <a:off x="1106424" y="2359152"/>
            <a:ext cx="237744" cy="237744"/>
          </a:xfrm>
          <a:prstGeom prst="ellipse">
            <a:avLst/>
          </a:prstGeom>
          <a:solidFill>
            <a:srgbClr val="B8C2D0"/>
          </a:solidFill>
          <a:ln w="9525">
            <a:solidFill>
              <a:srgbClr val="5A6478"/>
            </a:solidFill>
            <a:prstDash val="solid"/>
          </a:ln>
        </p:spPr>
      </p:sp>
      <p:sp>
        <p:nvSpPr>
          <p:cNvPr id="63" name="Text 61"/>
          <p:cNvSpPr/>
          <p:nvPr/>
        </p:nvSpPr>
        <p:spPr>
          <a:xfrm>
            <a:off x="1106424" y="2359152"/>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64" name="Shape 62"/>
          <p:cNvSpPr/>
          <p:nvPr/>
        </p:nvSpPr>
        <p:spPr>
          <a:xfrm>
            <a:off x="1344168" y="2359152"/>
            <a:ext cx="237744" cy="237744"/>
          </a:xfrm>
          <a:prstGeom prst="ellipse">
            <a:avLst/>
          </a:prstGeom>
          <a:solidFill>
            <a:srgbClr val="B8C2D0"/>
          </a:solidFill>
          <a:ln w="9525">
            <a:solidFill>
              <a:srgbClr val="5A6478"/>
            </a:solidFill>
            <a:prstDash val="solid"/>
          </a:ln>
        </p:spPr>
      </p:sp>
      <p:sp>
        <p:nvSpPr>
          <p:cNvPr id="65" name="Text 63"/>
          <p:cNvSpPr/>
          <p:nvPr/>
        </p:nvSpPr>
        <p:spPr>
          <a:xfrm>
            <a:off x="1344168" y="2359152"/>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66" name="Shape 64"/>
          <p:cNvSpPr/>
          <p:nvPr/>
        </p:nvSpPr>
        <p:spPr>
          <a:xfrm>
            <a:off x="1581912" y="2359152"/>
            <a:ext cx="237744" cy="237744"/>
          </a:xfrm>
          <a:prstGeom prst="ellipse">
            <a:avLst/>
          </a:prstGeom>
          <a:solidFill>
            <a:srgbClr val="B8C2D0"/>
          </a:solidFill>
          <a:ln w="9525">
            <a:solidFill>
              <a:srgbClr val="5A6478"/>
            </a:solidFill>
            <a:prstDash val="solid"/>
          </a:ln>
        </p:spPr>
      </p:sp>
      <p:sp>
        <p:nvSpPr>
          <p:cNvPr id="67" name="Text 65"/>
          <p:cNvSpPr/>
          <p:nvPr/>
        </p:nvSpPr>
        <p:spPr>
          <a:xfrm>
            <a:off x="1581912" y="2359152"/>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68" name="Shape 66"/>
          <p:cNvSpPr/>
          <p:nvPr/>
        </p:nvSpPr>
        <p:spPr>
          <a:xfrm>
            <a:off x="1819656" y="2359152"/>
            <a:ext cx="237744" cy="237744"/>
          </a:xfrm>
          <a:prstGeom prst="ellipse">
            <a:avLst/>
          </a:prstGeom>
          <a:solidFill>
            <a:srgbClr val="B8C2D0"/>
          </a:solidFill>
          <a:ln w="9525">
            <a:solidFill>
              <a:srgbClr val="5A6478"/>
            </a:solidFill>
            <a:prstDash val="solid"/>
          </a:ln>
        </p:spPr>
      </p:sp>
      <p:sp>
        <p:nvSpPr>
          <p:cNvPr id="69" name="Text 67"/>
          <p:cNvSpPr/>
          <p:nvPr/>
        </p:nvSpPr>
        <p:spPr>
          <a:xfrm>
            <a:off x="1819656" y="2359152"/>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70" name="Shape 68"/>
          <p:cNvSpPr/>
          <p:nvPr/>
        </p:nvSpPr>
        <p:spPr>
          <a:xfrm>
            <a:off x="2057400" y="2359152"/>
            <a:ext cx="237744" cy="237744"/>
          </a:xfrm>
          <a:prstGeom prst="ellipse">
            <a:avLst/>
          </a:prstGeom>
          <a:solidFill>
            <a:srgbClr val="B8C2D0"/>
          </a:solidFill>
          <a:ln w="9525">
            <a:solidFill>
              <a:srgbClr val="5A6478"/>
            </a:solidFill>
            <a:prstDash val="solid"/>
          </a:ln>
        </p:spPr>
      </p:sp>
      <p:sp>
        <p:nvSpPr>
          <p:cNvPr id="71" name="Text 69"/>
          <p:cNvSpPr/>
          <p:nvPr/>
        </p:nvSpPr>
        <p:spPr>
          <a:xfrm>
            <a:off x="2057400" y="2359152"/>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72" name="Shape 70"/>
          <p:cNvSpPr/>
          <p:nvPr/>
        </p:nvSpPr>
        <p:spPr>
          <a:xfrm>
            <a:off x="2295144" y="2359152"/>
            <a:ext cx="237744" cy="237744"/>
          </a:xfrm>
          <a:prstGeom prst="ellipse">
            <a:avLst/>
          </a:prstGeom>
          <a:solidFill>
            <a:srgbClr val="B8C2D0"/>
          </a:solidFill>
          <a:ln w="9525">
            <a:solidFill>
              <a:srgbClr val="5A6478"/>
            </a:solidFill>
            <a:prstDash val="solid"/>
          </a:ln>
        </p:spPr>
      </p:sp>
      <p:sp>
        <p:nvSpPr>
          <p:cNvPr id="73" name="Text 71"/>
          <p:cNvSpPr/>
          <p:nvPr/>
        </p:nvSpPr>
        <p:spPr>
          <a:xfrm>
            <a:off x="2295144" y="2359152"/>
            <a:ext cx="237744" cy="237744"/>
          </a:xfrm>
          <a:prstGeom prst="rect">
            <a:avLst/>
          </a:prstGeom>
          <a:noFill/>
          <a:ln/>
        </p:spPr>
        <p:txBody>
          <a:bodyPr wrap="square" lIns="0" tIns="0" rIns="0" bIns="0" rtlCol="0" anchor="ctr"/>
          <a:lstStyle/>
          <a:p>
            <a:pPr algn="ctr" indent="0" marL="0">
              <a:buNone/>
            </a:pPr>
            <a:r>
              <a:rPr lang="en-US" sz="1000" b="1" dirty="0">
                <a:solidFill>
                  <a:srgbClr val="5A6478"/>
                </a:solidFill>
                <a:latin typeface="Calibri" pitchFamily="34" charset="0"/>
                <a:ea typeface="Calibri" pitchFamily="34" charset="-122"/>
                <a:cs typeface="Calibri" pitchFamily="34" charset="-120"/>
              </a:rPr>
              <a:t>+</a:t>
            </a:r>
            <a:endParaRPr lang="en-US" sz="1000" dirty="0"/>
          </a:p>
        </p:txBody>
      </p:sp>
      <p:sp>
        <p:nvSpPr>
          <p:cNvPr id="74" name="Shape 72"/>
          <p:cNvSpPr/>
          <p:nvPr/>
        </p:nvSpPr>
        <p:spPr>
          <a:xfrm>
            <a:off x="1074420" y="1851660"/>
            <a:ext cx="64008" cy="64008"/>
          </a:xfrm>
          <a:prstGeom prst="ellipse">
            <a:avLst/>
          </a:prstGeom>
          <a:solidFill>
            <a:srgbClr val="1E5AA8"/>
          </a:solidFill>
          <a:ln w="9525">
            <a:solidFill>
              <a:srgbClr val="1E5AA8"/>
            </a:solidFill>
            <a:prstDash val="solid"/>
          </a:ln>
        </p:spPr>
      </p:sp>
      <p:sp>
        <p:nvSpPr>
          <p:cNvPr id="75" name="Shape 73"/>
          <p:cNvSpPr/>
          <p:nvPr/>
        </p:nvSpPr>
        <p:spPr>
          <a:xfrm>
            <a:off x="1549908" y="1851660"/>
            <a:ext cx="64008" cy="64008"/>
          </a:xfrm>
          <a:prstGeom prst="ellipse">
            <a:avLst/>
          </a:prstGeom>
          <a:solidFill>
            <a:srgbClr val="1E5AA8"/>
          </a:solidFill>
          <a:ln w="9525">
            <a:solidFill>
              <a:srgbClr val="1E5AA8"/>
            </a:solidFill>
            <a:prstDash val="solid"/>
          </a:ln>
        </p:spPr>
      </p:sp>
      <p:sp>
        <p:nvSpPr>
          <p:cNvPr id="76" name="Shape 74"/>
          <p:cNvSpPr/>
          <p:nvPr/>
        </p:nvSpPr>
        <p:spPr>
          <a:xfrm>
            <a:off x="2025396" y="1851660"/>
            <a:ext cx="64008" cy="64008"/>
          </a:xfrm>
          <a:prstGeom prst="ellipse">
            <a:avLst/>
          </a:prstGeom>
          <a:solidFill>
            <a:srgbClr val="1E5AA8"/>
          </a:solidFill>
          <a:ln w="9525">
            <a:solidFill>
              <a:srgbClr val="1E5AA8"/>
            </a:solidFill>
            <a:prstDash val="solid"/>
          </a:ln>
        </p:spPr>
      </p:sp>
      <p:sp>
        <p:nvSpPr>
          <p:cNvPr id="77" name="Shape 75"/>
          <p:cNvSpPr/>
          <p:nvPr/>
        </p:nvSpPr>
        <p:spPr>
          <a:xfrm>
            <a:off x="1312164" y="2089404"/>
            <a:ext cx="64008" cy="64008"/>
          </a:xfrm>
          <a:prstGeom prst="ellipse">
            <a:avLst/>
          </a:prstGeom>
          <a:solidFill>
            <a:srgbClr val="1E5AA8"/>
          </a:solidFill>
          <a:ln w="9525">
            <a:solidFill>
              <a:srgbClr val="1E5AA8"/>
            </a:solidFill>
            <a:prstDash val="solid"/>
          </a:ln>
        </p:spPr>
      </p:sp>
      <p:sp>
        <p:nvSpPr>
          <p:cNvPr id="78" name="Shape 76"/>
          <p:cNvSpPr/>
          <p:nvPr/>
        </p:nvSpPr>
        <p:spPr>
          <a:xfrm>
            <a:off x="1787652" y="2089404"/>
            <a:ext cx="64008" cy="64008"/>
          </a:xfrm>
          <a:prstGeom prst="ellipse">
            <a:avLst/>
          </a:prstGeom>
          <a:solidFill>
            <a:srgbClr val="1E5AA8"/>
          </a:solidFill>
          <a:ln w="9525">
            <a:solidFill>
              <a:srgbClr val="1E5AA8"/>
            </a:solidFill>
            <a:prstDash val="solid"/>
          </a:ln>
        </p:spPr>
      </p:sp>
      <p:sp>
        <p:nvSpPr>
          <p:cNvPr id="79" name="Shape 77"/>
          <p:cNvSpPr/>
          <p:nvPr/>
        </p:nvSpPr>
        <p:spPr>
          <a:xfrm>
            <a:off x="2263140" y="2089404"/>
            <a:ext cx="64008" cy="64008"/>
          </a:xfrm>
          <a:prstGeom prst="ellipse">
            <a:avLst/>
          </a:prstGeom>
          <a:solidFill>
            <a:srgbClr val="1E5AA8"/>
          </a:solidFill>
          <a:ln w="9525">
            <a:solidFill>
              <a:srgbClr val="1E5AA8"/>
            </a:solidFill>
            <a:prstDash val="solid"/>
          </a:ln>
        </p:spPr>
      </p:sp>
      <p:sp>
        <p:nvSpPr>
          <p:cNvPr id="80" name="Shape 78"/>
          <p:cNvSpPr/>
          <p:nvPr/>
        </p:nvSpPr>
        <p:spPr>
          <a:xfrm>
            <a:off x="1074420" y="2327148"/>
            <a:ext cx="64008" cy="64008"/>
          </a:xfrm>
          <a:prstGeom prst="ellipse">
            <a:avLst/>
          </a:prstGeom>
          <a:solidFill>
            <a:srgbClr val="1E5AA8"/>
          </a:solidFill>
          <a:ln w="9525">
            <a:solidFill>
              <a:srgbClr val="1E5AA8"/>
            </a:solidFill>
            <a:prstDash val="solid"/>
          </a:ln>
        </p:spPr>
      </p:sp>
      <p:sp>
        <p:nvSpPr>
          <p:cNvPr id="81" name="Shape 79"/>
          <p:cNvSpPr/>
          <p:nvPr/>
        </p:nvSpPr>
        <p:spPr>
          <a:xfrm>
            <a:off x="1549908" y="2327148"/>
            <a:ext cx="64008" cy="64008"/>
          </a:xfrm>
          <a:prstGeom prst="ellipse">
            <a:avLst/>
          </a:prstGeom>
          <a:solidFill>
            <a:srgbClr val="1E5AA8"/>
          </a:solidFill>
          <a:ln w="9525">
            <a:solidFill>
              <a:srgbClr val="1E5AA8"/>
            </a:solidFill>
            <a:prstDash val="solid"/>
          </a:ln>
        </p:spPr>
      </p:sp>
      <p:sp>
        <p:nvSpPr>
          <p:cNvPr id="82" name="Shape 80"/>
          <p:cNvSpPr/>
          <p:nvPr/>
        </p:nvSpPr>
        <p:spPr>
          <a:xfrm>
            <a:off x="2025396" y="2327148"/>
            <a:ext cx="64008" cy="64008"/>
          </a:xfrm>
          <a:prstGeom prst="ellipse">
            <a:avLst/>
          </a:prstGeom>
          <a:solidFill>
            <a:srgbClr val="1E5AA8"/>
          </a:solidFill>
          <a:ln w="9525">
            <a:solidFill>
              <a:srgbClr val="1E5AA8"/>
            </a:solidFill>
            <a:prstDash val="solid"/>
          </a:ln>
        </p:spPr>
      </p:sp>
      <p:sp>
        <p:nvSpPr>
          <p:cNvPr id="83" name="Text 81"/>
          <p:cNvSpPr/>
          <p:nvPr/>
        </p:nvSpPr>
        <p:spPr>
          <a:xfrm>
            <a:off x="640080" y="2651760"/>
            <a:ext cx="24231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ions in layers + free electrons</a:t>
            </a:r>
            <a:endParaRPr lang="en-US" sz="1000" dirty="0"/>
          </a:p>
        </p:txBody>
      </p:sp>
      <p:sp>
        <p:nvSpPr>
          <p:cNvPr id="84" name="Shape 82"/>
          <p:cNvSpPr/>
          <p:nvPr/>
        </p:nvSpPr>
        <p:spPr>
          <a:xfrm flipV="1">
            <a:off x="3519305" y="1758250"/>
            <a:ext cx="153013" cy="30725"/>
          </a:xfrm>
          <a:prstGeom prst="line">
            <a:avLst/>
          </a:prstGeom>
          <a:noFill/>
          <a:ln w="12700">
            <a:solidFill>
              <a:srgbClr val="9C8AB8"/>
            </a:solidFill>
            <a:prstDash val="solid"/>
          </a:ln>
        </p:spPr>
      </p:sp>
      <p:sp>
        <p:nvSpPr>
          <p:cNvPr id="85" name="Shape 83"/>
          <p:cNvSpPr/>
          <p:nvPr/>
        </p:nvSpPr>
        <p:spPr>
          <a:xfrm>
            <a:off x="3554663" y="1732465"/>
            <a:ext cx="82296" cy="82296"/>
          </a:xfrm>
          <a:prstGeom prst="ellipse">
            <a:avLst/>
          </a:prstGeom>
          <a:solidFill>
            <a:srgbClr val="E57373"/>
          </a:solidFill>
          <a:ln w="6350">
            <a:solidFill>
              <a:srgbClr val="A23B3B"/>
            </a:solidFill>
            <a:prstDash val="solid"/>
          </a:ln>
        </p:spPr>
      </p:sp>
      <p:sp>
        <p:nvSpPr>
          <p:cNvPr id="86" name="Shape 84"/>
          <p:cNvSpPr/>
          <p:nvPr/>
        </p:nvSpPr>
        <p:spPr>
          <a:xfrm flipH="1">
            <a:off x="3494905" y="1788975"/>
            <a:ext cx="24399" cy="215345"/>
          </a:xfrm>
          <a:prstGeom prst="line">
            <a:avLst/>
          </a:prstGeom>
          <a:noFill/>
          <a:ln w="12700">
            <a:solidFill>
              <a:srgbClr val="9C8AB8"/>
            </a:solidFill>
            <a:prstDash val="solid"/>
          </a:ln>
        </p:spPr>
      </p:sp>
      <p:sp>
        <p:nvSpPr>
          <p:cNvPr id="87" name="Shape 85"/>
          <p:cNvSpPr/>
          <p:nvPr/>
        </p:nvSpPr>
        <p:spPr>
          <a:xfrm>
            <a:off x="3465957" y="1855500"/>
            <a:ext cx="82296" cy="82296"/>
          </a:xfrm>
          <a:prstGeom prst="ellipse">
            <a:avLst/>
          </a:prstGeom>
          <a:solidFill>
            <a:srgbClr val="E57373"/>
          </a:solidFill>
          <a:ln w="6350">
            <a:solidFill>
              <a:srgbClr val="A23B3B"/>
            </a:solidFill>
            <a:prstDash val="solid"/>
          </a:ln>
        </p:spPr>
      </p:sp>
      <p:sp>
        <p:nvSpPr>
          <p:cNvPr id="88" name="Shape 86"/>
          <p:cNvSpPr/>
          <p:nvPr/>
        </p:nvSpPr>
        <p:spPr>
          <a:xfrm>
            <a:off x="3672318" y="1758250"/>
            <a:ext cx="64199" cy="177729"/>
          </a:xfrm>
          <a:prstGeom prst="line">
            <a:avLst/>
          </a:prstGeom>
          <a:noFill/>
          <a:ln w="12700">
            <a:solidFill>
              <a:srgbClr val="9C8AB8"/>
            </a:solidFill>
            <a:prstDash val="solid"/>
          </a:ln>
        </p:spPr>
      </p:sp>
      <p:sp>
        <p:nvSpPr>
          <p:cNvPr id="89" name="Shape 87"/>
          <p:cNvSpPr/>
          <p:nvPr/>
        </p:nvSpPr>
        <p:spPr>
          <a:xfrm>
            <a:off x="3663270" y="1805967"/>
            <a:ext cx="82296" cy="82296"/>
          </a:xfrm>
          <a:prstGeom prst="ellipse">
            <a:avLst/>
          </a:prstGeom>
          <a:solidFill>
            <a:srgbClr val="E57373"/>
          </a:solidFill>
          <a:ln w="6350">
            <a:solidFill>
              <a:srgbClr val="A23B3B"/>
            </a:solidFill>
            <a:prstDash val="solid"/>
          </a:ln>
        </p:spPr>
      </p:sp>
      <p:sp>
        <p:nvSpPr>
          <p:cNvPr id="90" name="Shape 88"/>
          <p:cNvSpPr/>
          <p:nvPr/>
        </p:nvSpPr>
        <p:spPr>
          <a:xfrm>
            <a:off x="3672318" y="1758250"/>
            <a:ext cx="236250" cy="25449"/>
          </a:xfrm>
          <a:prstGeom prst="line">
            <a:avLst/>
          </a:prstGeom>
          <a:noFill/>
          <a:ln w="12700">
            <a:solidFill>
              <a:srgbClr val="9C8AB8"/>
            </a:solidFill>
            <a:prstDash val="solid"/>
          </a:ln>
        </p:spPr>
      </p:sp>
      <p:sp>
        <p:nvSpPr>
          <p:cNvPr id="91" name="Shape 89"/>
          <p:cNvSpPr/>
          <p:nvPr/>
        </p:nvSpPr>
        <p:spPr>
          <a:xfrm>
            <a:off x="3749295" y="1729827"/>
            <a:ext cx="82296" cy="82296"/>
          </a:xfrm>
          <a:prstGeom prst="ellipse">
            <a:avLst/>
          </a:prstGeom>
          <a:solidFill>
            <a:srgbClr val="E57373"/>
          </a:solidFill>
          <a:ln w="6350">
            <a:solidFill>
              <a:srgbClr val="A23B3B"/>
            </a:solidFill>
            <a:prstDash val="solid"/>
          </a:ln>
        </p:spPr>
      </p:sp>
      <p:sp>
        <p:nvSpPr>
          <p:cNvPr id="92" name="Shape 90"/>
          <p:cNvSpPr/>
          <p:nvPr/>
        </p:nvSpPr>
        <p:spPr>
          <a:xfrm>
            <a:off x="3908567" y="1783699"/>
            <a:ext cx="154232" cy="36125"/>
          </a:xfrm>
          <a:prstGeom prst="line">
            <a:avLst/>
          </a:prstGeom>
          <a:noFill/>
          <a:ln w="12700">
            <a:solidFill>
              <a:srgbClr val="9C8AB8"/>
            </a:solidFill>
            <a:prstDash val="solid"/>
          </a:ln>
        </p:spPr>
      </p:sp>
      <p:sp>
        <p:nvSpPr>
          <p:cNvPr id="93" name="Shape 91"/>
          <p:cNvSpPr/>
          <p:nvPr/>
        </p:nvSpPr>
        <p:spPr>
          <a:xfrm>
            <a:off x="3944535" y="1760613"/>
            <a:ext cx="82296" cy="82296"/>
          </a:xfrm>
          <a:prstGeom prst="ellipse">
            <a:avLst/>
          </a:prstGeom>
          <a:solidFill>
            <a:srgbClr val="E57373"/>
          </a:solidFill>
          <a:ln w="6350">
            <a:solidFill>
              <a:srgbClr val="A23B3B"/>
            </a:solidFill>
            <a:prstDash val="solid"/>
          </a:ln>
        </p:spPr>
      </p:sp>
      <p:sp>
        <p:nvSpPr>
          <p:cNvPr id="94" name="Shape 92"/>
          <p:cNvSpPr/>
          <p:nvPr/>
        </p:nvSpPr>
        <p:spPr>
          <a:xfrm>
            <a:off x="3908567" y="1783699"/>
            <a:ext cx="6556" cy="167652"/>
          </a:xfrm>
          <a:prstGeom prst="line">
            <a:avLst/>
          </a:prstGeom>
          <a:noFill/>
          <a:ln w="12700">
            <a:solidFill>
              <a:srgbClr val="9C8AB8"/>
            </a:solidFill>
            <a:prstDash val="solid"/>
          </a:ln>
        </p:spPr>
      </p:sp>
      <p:sp>
        <p:nvSpPr>
          <p:cNvPr id="95" name="Shape 93"/>
          <p:cNvSpPr/>
          <p:nvPr/>
        </p:nvSpPr>
        <p:spPr>
          <a:xfrm>
            <a:off x="3870697" y="1826377"/>
            <a:ext cx="82296" cy="82296"/>
          </a:xfrm>
          <a:prstGeom prst="ellipse">
            <a:avLst/>
          </a:prstGeom>
          <a:solidFill>
            <a:srgbClr val="E57373"/>
          </a:solidFill>
          <a:ln w="6350">
            <a:solidFill>
              <a:srgbClr val="A23B3B"/>
            </a:solidFill>
            <a:prstDash val="solid"/>
          </a:ln>
        </p:spPr>
      </p:sp>
      <p:sp>
        <p:nvSpPr>
          <p:cNvPr id="96" name="Shape 94"/>
          <p:cNvSpPr/>
          <p:nvPr/>
        </p:nvSpPr>
        <p:spPr>
          <a:xfrm>
            <a:off x="4062799" y="1819824"/>
            <a:ext cx="70293" cy="124050"/>
          </a:xfrm>
          <a:prstGeom prst="line">
            <a:avLst/>
          </a:prstGeom>
          <a:noFill/>
          <a:ln w="12700">
            <a:solidFill>
              <a:srgbClr val="9C8AB8"/>
            </a:solidFill>
            <a:prstDash val="solid"/>
          </a:ln>
        </p:spPr>
      </p:sp>
      <p:sp>
        <p:nvSpPr>
          <p:cNvPr id="97" name="Shape 95"/>
          <p:cNvSpPr/>
          <p:nvPr/>
        </p:nvSpPr>
        <p:spPr>
          <a:xfrm>
            <a:off x="4056798" y="1840701"/>
            <a:ext cx="82296" cy="82296"/>
          </a:xfrm>
          <a:prstGeom prst="ellipse">
            <a:avLst/>
          </a:prstGeom>
          <a:solidFill>
            <a:srgbClr val="E57373"/>
          </a:solidFill>
          <a:ln w="6350">
            <a:solidFill>
              <a:srgbClr val="A23B3B"/>
            </a:solidFill>
            <a:prstDash val="solid"/>
          </a:ln>
        </p:spPr>
      </p:sp>
      <p:sp>
        <p:nvSpPr>
          <p:cNvPr id="98" name="Shape 96"/>
          <p:cNvSpPr/>
          <p:nvPr/>
        </p:nvSpPr>
        <p:spPr>
          <a:xfrm flipH="1">
            <a:off x="3915123" y="1819824"/>
            <a:ext cx="147676" cy="131527"/>
          </a:xfrm>
          <a:prstGeom prst="line">
            <a:avLst/>
          </a:prstGeom>
          <a:noFill/>
          <a:ln w="12700">
            <a:solidFill>
              <a:srgbClr val="9C8AB8"/>
            </a:solidFill>
            <a:prstDash val="solid"/>
          </a:ln>
        </p:spPr>
      </p:sp>
      <p:sp>
        <p:nvSpPr>
          <p:cNvPr id="99" name="Shape 97"/>
          <p:cNvSpPr/>
          <p:nvPr/>
        </p:nvSpPr>
        <p:spPr>
          <a:xfrm>
            <a:off x="3947813" y="1844439"/>
            <a:ext cx="82296" cy="82296"/>
          </a:xfrm>
          <a:prstGeom prst="ellipse">
            <a:avLst/>
          </a:prstGeom>
          <a:solidFill>
            <a:srgbClr val="E57373"/>
          </a:solidFill>
          <a:ln w="6350">
            <a:solidFill>
              <a:srgbClr val="A23B3B"/>
            </a:solidFill>
            <a:prstDash val="solid"/>
          </a:ln>
        </p:spPr>
      </p:sp>
      <p:sp>
        <p:nvSpPr>
          <p:cNvPr id="100" name="Shape 98"/>
          <p:cNvSpPr/>
          <p:nvPr/>
        </p:nvSpPr>
        <p:spPr>
          <a:xfrm flipH="1">
            <a:off x="4317304" y="1774432"/>
            <a:ext cx="3438" cy="201376"/>
          </a:xfrm>
          <a:prstGeom prst="line">
            <a:avLst/>
          </a:prstGeom>
          <a:noFill/>
          <a:ln w="12700">
            <a:solidFill>
              <a:srgbClr val="9C8AB8"/>
            </a:solidFill>
            <a:prstDash val="solid"/>
          </a:ln>
        </p:spPr>
      </p:sp>
      <p:sp>
        <p:nvSpPr>
          <p:cNvPr id="101" name="Shape 99"/>
          <p:cNvSpPr/>
          <p:nvPr/>
        </p:nvSpPr>
        <p:spPr>
          <a:xfrm>
            <a:off x="4277875" y="1833972"/>
            <a:ext cx="82296" cy="82296"/>
          </a:xfrm>
          <a:prstGeom prst="ellipse">
            <a:avLst/>
          </a:prstGeom>
          <a:solidFill>
            <a:srgbClr val="E57373"/>
          </a:solidFill>
          <a:ln w="6350">
            <a:solidFill>
              <a:srgbClr val="A23B3B"/>
            </a:solidFill>
            <a:prstDash val="solid"/>
          </a:ln>
        </p:spPr>
      </p:sp>
      <p:sp>
        <p:nvSpPr>
          <p:cNvPr id="102" name="Shape 100"/>
          <p:cNvSpPr/>
          <p:nvPr/>
        </p:nvSpPr>
        <p:spPr>
          <a:xfrm flipH="1">
            <a:off x="4133092" y="1774432"/>
            <a:ext cx="187649" cy="169442"/>
          </a:xfrm>
          <a:prstGeom prst="line">
            <a:avLst/>
          </a:prstGeom>
          <a:noFill/>
          <a:ln w="12700">
            <a:solidFill>
              <a:srgbClr val="9C8AB8"/>
            </a:solidFill>
            <a:prstDash val="solid"/>
          </a:ln>
        </p:spPr>
      </p:sp>
      <p:sp>
        <p:nvSpPr>
          <p:cNvPr id="103" name="Shape 101"/>
          <p:cNvSpPr/>
          <p:nvPr/>
        </p:nvSpPr>
        <p:spPr>
          <a:xfrm>
            <a:off x="4185769" y="1818005"/>
            <a:ext cx="82296" cy="82296"/>
          </a:xfrm>
          <a:prstGeom prst="ellipse">
            <a:avLst/>
          </a:prstGeom>
          <a:solidFill>
            <a:srgbClr val="E57373"/>
          </a:solidFill>
          <a:ln w="6350">
            <a:solidFill>
              <a:srgbClr val="A23B3B"/>
            </a:solidFill>
            <a:prstDash val="solid"/>
          </a:ln>
        </p:spPr>
      </p:sp>
      <p:sp>
        <p:nvSpPr>
          <p:cNvPr id="104" name="Shape 102"/>
          <p:cNvSpPr/>
          <p:nvPr/>
        </p:nvSpPr>
        <p:spPr>
          <a:xfrm flipH="1">
            <a:off x="3482084" y="2004320"/>
            <a:ext cx="12822" cy="123052"/>
          </a:xfrm>
          <a:prstGeom prst="line">
            <a:avLst/>
          </a:prstGeom>
          <a:noFill/>
          <a:ln w="12700">
            <a:solidFill>
              <a:srgbClr val="9C8AB8"/>
            </a:solidFill>
            <a:prstDash val="solid"/>
          </a:ln>
        </p:spPr>
      </p:sp>
      <p:sp>
        <p:nvSpPr>
          <p:cNvPr id="105" name="Shape 103"/>
          <p:cNvSpPr/>
          <p:nvPr/>
        </p:nvSpPr>
        <p:spPr>
          <a:xfrm>
            <a:off x="3447347" y="2024698"/>
            <a:ext cx="82296" cy="82296"/>
          </a:xfrm>
          <a:prstGeom prst="ellipse">
            <a:avLst/>
          </a:prstGeom>
          <a:solidFill>
            <a:srgbClr val="E57373"/>
          </a:solidFill>
          <a:ln w="6350">
            <a:solidFill>
              <a:srgbClr val="A23B3B"/>
            </a:solidFill>
            <a:prstDash val="solid"/>
          </a:ln>
        </p:spPr>
      </p:sp>
      <p:sp>
        <p:nvSpPr>
          <p:cNvPr id="106" name="Shape 104"/>
          <p:cNvSpPr/>
          <p:nvPr/>
        </p:nvSpPr>
        <p:spPr>
          <a:xfrm flipV="1">
            <a:off x="3494905" y="1935980"/>
            <a:ext cx="241612" cy="68340"/>
          </a:xfrm>
          <a:prstGeom prst="line">
            <a:avLst/>
          </a:prstGeom>
          <a:noFill/>
          <a:ln w="12700">
            <a:solidFill>
              <a:srgbClr val="9C8AB8"/>
            </a:solidFill>
            <a:prstDash val="solid"/>
          </a:ln>
        </p:spPr>
      </p:sp>
      <p:sp>
        <p:nvSpPr>
          <p:cNvPr id="107" name="Shape 105"/>
          <p:cNvSpPr/>
          <p:nvPr/>
        </p:nvSpPr>
        <p:spPr>
          <a:xfrm>
            <a:off x="3574563" y="1929002"/>
            <a:ext cx="82296" cy="82296"/>
          </a:xfrm>
          <a:prstGeom prst="ellipse">
            <a:avLst/>
          </a:prstGeom>
          <a:solidFill>
            <a:srgbClr val="E57373"/>
          </a:solidFill>
          <a:ln w="6350">
            <a:solidFill>
              <a:srgbClr val="A23B3B"/>
            </a:solidFill>
            <a:prstDash val="solid"/>
          </a:ln>
        </p:spPr>
      </p:sp>
      <p:sp>
        <p:nvSpPr>
          <p:cNvPr id="108" name="Shape 106"/>
          <p:cNvSpPr/>
          <p:nvPr/>
        </p:nvSpPr>
        <p:spPr>
          <a:xfrm>
            <a:off x="3736517" y="1935980"/>
            <a:ext cx="178606" cy="15371"/>
          </a:xfrm>
          <a:prstGeom prst="line">
            <a:avLst/>
          </a:prstGeom>
          <a:noFill/>
          <a:ln w="12700">
            <a:solidFill>
              <a:srgbClr val="9C8AB8"/>
            </a:solidFill>
            <a:prstDash val="solid"/>
          </a:ln>
        </p:spPr>
      </p:sp>
      <p:sp>
        <p:nvSpPr>
          <p:cNvPr id="109" name="Shape 107"/>
          <p:cNvSpPr/>
          <p:nvPr/>
        </p:nvSpPr>
        <p:spPr>
          <a:xfrm>
            <a:off x="3784672" y="1902517"/>
            <a:ext cx="82296" cy="82296"/>
          </a:xfrm>
          <a:prstGeom prst="ellipse">
            <a:avLst/>
          </a:prstGeom>
          <a:solidFill>
            <a:srgbClr val="E57373"/>
          </a:solidFill>
          <a:ln w="6350">
            <a:solidFill>
              <a:srgbClr val="A23B3B"/>
            </a:solidFill>
            <a:prstDash val="solid"/>
          </a:ln>
        </p:spPr>
      </p:sp>
      <p:sp>
        <p:nvSpPr>
          <p:cNvPr id="110" name="Shape 108"/>
          <p:cNvSpPr/>
          <p:nvPr/>
        </p:nvSpPr>
        <p:spPr>
          <a:xfrm>
            <a:off x="3736517" y="1935980"/>
            <a:ext cx="133854" cy="229618"/>
          </a:xfrm>
          <a:prstGeom prst="line">
            <a:avLst/>
          </a:prstGeom>
          <a:noFill/>
          <a:ln w="12700">
            <a:solidFill>
              <a:srgbClr val="9C8AB8"/>
            </a:solidFill>
            <a:prstDash val="solid"/>
          </a:ln>
        </p:spPr>
      </p:sp>
      <p:sp>
        <p:nvSpPr>
          <p:cNvPr id="111" name="Shape 109"/>
          <p:cNvSpPr/>
          <p:nvPr/>
        </p:nvSpPr>
        <p:spPr>
          <a:xfrm>
            <a:off x="3762296" y="2009641"/>
            <a:ext cx="82296" cy="82296"/>
          </a:xfrm>
          <a:prstGeom prst="ellipse">
            <a:avLst/>
          </a:prstGeom>
          <a:solidFill>
            <a:srgbClr val="E57373"/>
          </a:solidFill>
          <a:ln w="6350">
            <a:solidFill>
              <a:srgbClr val="A23B3B"/>
            </a:solidFill>
            <a:prstDash val="solid"/>
          </a:ln>
        </p:spPr>
      </p:sp>
      <p:sp>
        <p:nvSpPr>
          <p:cNvPr id="112" name="Shape 110"/>
          <p:cNvSpPr/>
          <p:nvPr/>
        </p:nvSpPr>
        <p:spPr>
          <a:xfrm flipV="1">
            <a:off x="3915123" y="1943874"/>
            <a:ext cx="217969" cy="7477"/>
          </a:xfrm>
          <a:prstGeom prst="line">
            <a:avLst/>
          </a:prstGeom>
          <a:noFill/>
          <a:ln w="12700">
            <a:solidFill>
              <a:srgbClr val="9C8AB8"/>
            </a:solidFill>
            <a:prstDash val="solid"/>
          </a:ln>
        </p:spPr>
      </p:sp>
      <p:sp>
        <p:nvSpPr>
          <p:cNvPr id="113" name="Shape 111"/>
          <p:cNvSpPr/>
          <p:nvPr/>
        </p:nvSpPr>
        <p:spPr>
          <a:xfrm>
            <a:off x="3982960" y="1906464"/>
            <a:ext cx="82296" cy="82296"/>
          </a:xfrm>
          <a:prstGeom prst="ellipse">
            <a:avLst/>
          </a:prstGeom>
          <a:solidFill>
            <a:srgbClr val="E57373"/>
          </a:solidFill>
          <a:ln w="6350">
            <a:solidFill>
              <a:srgbClr val="A23B3B"/>
            </a:solidFill>
            <a:prstDash val="solid"/>
          </a:ln>
        </p:spPr>
      </p:sp>
      <p:sp>
        <p:nvSpPr>
          <p:cNvPr id="114" name="Shape 112"/>
          <p:cNvSpPr/>
          <p:nvPr/>
        </p:nvSpPr>
        <p:spPr>
          <a:xfrm flipH="1">
            <a:off x="3870372" y="1951351"/>
            <a:ext cx="44751" cy="214247"/>
          </a:xfrm>
          <a:prstGeom prst="line">
            <a:avLst/>
          </a:prstGeom>
          <a:noFill/>
          <a:ln w="12700">
            <a:solidFill>
              <a:srgbClr val="9C8AB8"/>
            </a:solidFill>
            <a:prstDash val="solid"/>
          </a:ln>
        </p:spPr>
      </p:sp>
      <p:sp>
        <p:nvSpPr>
          <p:cNvPr id="115" name="Shape 113"/>
          <p:cNvSpPr/>
          <p:nvPr/>
        </p:nvSpPr>
        <p:spPr>
          <a:xfrm>
            <a:off x="3851599" y="2017327"/>
            <a:ext cx="82296" cy="82296"/>
          </a:xfrm>
          <a:prstGeom prst="ellipse">
            <a:avLst/>
          </a:prstGeom>
          <a:solidFill>
            <a:srgbClr val="E57373"/>
          </a:solidFill>
          <a:ln w="6350">
            <a:solidFill>
              <a:srgbClr val="A23B3B"/>
            </a:solidFill>
            <a:prstDash val="solid"/>
          </a:ln>
        </p:spPr>
      </p:sp>
      <p:sp>
        <p:nvSpPr>
          <p:cNvPr id="116" name="Shape 114"/>
          <p:cNvSpPr/>
          <p:nvPr/>
        </p:nvSpPr>
        <p:spPr>
          <a:xfrm>
            <a:off x="4133092" y="1943874"/>
            <a:ext cx="184212" cy="31934"/>
          </a:xfrm>
          <a:prstGeom prst="line">
            <a:avLst/>
          </a:prstGeom>
          <a:noFill/>
          <a:ln w="12700">
            <a:solidFill>
              <a:srgbClr val="9C8AB8"/>
            </a:solidFill>
            <a:prstDash val="solid"/>
          </a:ln>
        </p:spPr>
      </p:sp>
      <p:sp>
        <p:nvSpPr>
          <p:cNvPr id="117" name="Shape 115"/>
          <p:cNvSpPr/>
          <p:nvPr/>
        </p:nvSpPr>
        <p:spPr>
          <a:xfrm>
            <a:off x="4184050" y="1918693"/>
            <a:ext cx="82296" cy="82296"/>
          </a:xfrm>
          <a:prstGeom prst="ellipse">
            <a:avLst/>
          </a:prstGeom>
          <a:solidFill>
            <a:srgbClr val="E57373"/>
          </a:solidFill>
          <a:ln w="6350">
            <a:solidFill>
              <a:srgbClr val="A23B3B"/>
            </a:solidFill>
            <a:prstDash val="solid"/>
          </a:ln>
        </p:spPr>
      </p:sp>
      <p:sp>
        <p:nvSpPr>
          <p:cNvPr id="118" name="Shape 116"/>
          <p:cNvSpPr/>
          <p:nvPr/>
        </p:nvSpPr>
        <p:spPr>
          <a:xfrm>
            <a:off x="4133092" y="1943874"/>
            <a:ext cx="33610" cy="196986"/>
          </a:xfrm>
          <a:prstGeom prst="line">
            <a:avLst/>
          </a:prstGeom>
          <a:noFill/>
          <a:ln w="12700">
            <a:solidFill>
              <a:srgbClr val="9C8AB8"/>
            </a:solidFill>
            <a:prstDash val="solid"/>
          </a:ln>
        </p:spPr>
      </p:sp>
      <p:sp>
        <p:nvSpPr>
          <p:cNvPr id="119" name="Shape 117"/>
          <p:cNvSpPr/>
          <p:nvPr/>
        </p:nvSpPr>
        <p:spPr>
          <a:xfrm>
            <a:off x="4108749" y="2001219"/>
            <a:ext cx="82296" cy="82296"/>
          </a:xfrm>
          <a:prstGeom prst="ellipse">
            <a:avLst/>
          </a:prstGeom>
          <a:solidFill>
            <a:srgbClr val="E57373"/>
          </a:solidFill>
          <a:ln w="6350">
            <a:solidFill>
              <a:srgbClr val="A23B3B"/>
            </a:solidFill>
            <a:prstDash val="solid"/>
          </a:ln>
        </p:spPr>
      </p:sp>
      <p:sp>
        <p:nvSpPr>
          <p:cNvPr id="120" name="Shape 118"/>
          <p:cNvSpPr/>
          <p:nvPr/>
        </p:nvSpPr>
        <p:spPr>
          <a:xfrm flipH="1">
            <a:off x="4300582" y="1975808"/>
            <a:ext cx="16721" cy="200079"/>
          </a:xfrm>
          <a:prstGeom prst="line">
            <a:avLst/>
          </a:prstGeom>
          <a:noFill/>
          <a:ln w="12700">
            <a:solidFill>
              <a:srgbClr val="9C8AB8"/>
            </a:solidFill>
            <a:prstDash val="solid"/>
          </a:ln>
        </p:spPr>
      </p:sp>
      <p:sp>
        <p:nvSpPr>
          <p:cNvPr id="121" name="Shape 119"/>
          <p:cNvSpPr/>
          <p:nvPr/>
        </p:nvSpPr>
        <p:spPr>
          <a:xfrm>
            <a:off x="4267795" y="2034699"/>
            <a:ext cx="82296" cy="82296"/>
          </a:xfrm>
          <a:prstGeom prst="ellipse">
            <a:avLst/>
          </a:prstGeom>
          <a:solidFill>
            <a:srgbClr val="E57373"/>
          </a:solidFill>
          <a:ln w="6350">
            <a:solidFill>
              <a:srgbClr val="A23B3B"/>
            </a:solidFill>
            <a:prstDash val="solid"/>
          </a:ln>
        </p:spPr>
      </p:sp>
      <p:sp>
        <p:nvSpPr>
          <p:cNvPr id="122" name="Shape 120"/>
          <p:cNvSpPr/>
          <p:nvPr/>
        </p:nvSpPr>
        <p:spPr>
          <a:xfrm flipH="1">
            <a:off x="4166703" y="1975808"/>
            <a:ext cx="150601" cy="165052"/>
          </a:xfrm>
          <a:prstGeom prst="line">
            <a:avLst/>
          </a:prstGeom>
          <a:noFill/>
          <a:ln w="12700">
            <a:solidFill>
              <a:srgbClr val="9C8AB8"/>
            </a:solidFill>
            <a:prstDash val="solid"/>
          </a:ln>
        </p:spPr>
      </p:sp>
      <p:sp>
        <p:nvSpPr>
          <p:cNvPr id="123" name="Shape 121"/>
          <p:cNvSpPr/>
          <p:nvPr/>
        </p:nvSpPr>
        <p:spPr>
          <a:xfrm>
            <a:off x="4200855" y="2017186"/>
            <a:ext cx="82296" cy="82296"/>
          </a:xfrm>
          <a:prstGeom prst="ellipse">
            <a:avLst/>
          </a:prstGeom>
          <a:solidFill>
            <a:srgbClr val="E57373"/>
          </a:solidFill>
          <a:ln w="6350">
            <a:solidFill>
              <a:srgbClr val="A23B3B"/>
            </a:solidFill>
            <a:prstDash val="solid"/>
          </a:ln>
        </p:spPr>
      </p:sp>
      <p:sp>
        <p:nvSpPr>
          <p:cNvPr id="124" name="Shape 122"/>
          <p:cNvSpPr/>
          <p:nvPr/>
        </p:nvSpPr>
        <p:spPr>
          <a:xfrm>
            <a:off x="3482084" y="2127373"/>
            <a:ext cx="58715" cy="216342"/>
          </a:xfrm>
          <a:prstGeom prst="line">
            <a:avLst/>
          </a:prstGeom>
          <a:noFill/>
          <a:ln w="12700">
            <a:solidFill>
              <a:srgbClr val="9C8AB8"/>
            </a:solidFill>
            <a:prstDash val="solid"/>
          </a:ln>
        </p:spPr>
      </p:sp>
      <p:sp>
        <p:nvSpPr>
          <p:cNvPr id="125" name="Shape 123"/>
          <p:cNvSpPr/>
          <p:nvPr/>
        </p:nvSpPr>
        <p:spPr>
          <a:xfrm>
            <a:off x="3470294" y="2194396"/>
            <a:ext cx="82296" cy="82296"/>
          </a:xfrm>
          <a:prstGeom prst="ellipse">
            <a:avLst/>
          </a:prstGeom>
          <a:solidFill>
            <a:srgbClr val="E57373"/>
          </a:solidFill>
          <a:ln w="6350">
            <a:solidFill>
              <a:srgbClr val="A23B3B"/>
            </a:solidFill>
            <a:prstDash val="solid"/>
          </a:ln>
        </p:spPr>
      </p:sp>
      <p:sp>
        <p:nvSpPr>
          <p:cNvPr id="126" name="Shape 124"/>
          <p:cNvSpPr/>
          <p:nvPr/>
        </p:nvSpPr>
        <p:spPr>
          <a:xfrm>
            <a:off x="3482084" y="2127373"/>
            <a:ext cx="287800" cy="89205"/>
          </a:xfrm>
          <a:prstGeom prst="line">
            <a:avLst/>
          </a:prstGeom>
          <a:noFill/>
          <a:ln w="12700">
            <a:solidFill>
              <a:srgbClr val="9C8AB8"/>
            </a:solidFill>
            <a:prstDash val="solid"/>
          </a:ln>
        </p:spPr>
      </p:sp>
      <p:sp>
        <p:nvSpPr>
          <p:cNvPr id="127" name="Shape 125"/>
          <p:cNvSpPr/>
          <p:nvPr/>
        </p:nvSpPr>
        <p:spPr>
          <a:xfrm>
            <a:off x="3584836" y="2130827"/>
            <a:ext cx="82296" cy="82296"/>
          </a:xfrm>
          <a:prstGeom prst="ellipse">
            <a:avLst/>
          </a:prstGeom>
          <a:solidFill>
            <a:srgbClr val="E57373"/>
          </a:solidFill>
          <a:ln w="6350">
            <a:solidFill>
              <a:srgbClr val="A23B3B"/>
            </a:solidFill>
            <a:prstDash val="solid"/>
          </a:ln>
        </p:spPr>
      </p:sp>
      <p:sp>
        <p:nvSpPr>
          <p:cNvPr id="128" name="Shape 126"/>
          <p:cNvSpPr/>
          <p:nvPr/>
        </p:nvSpPr>
        <p:spPr>
          <a:xfrm flipV="1">
            <a:off x="3769884" y="2165598"/>
            <a:ext cx="100488" cy="50979"/>
          </a:xfrm>
          <a:prstGeom prst="line">
            <a:avLst/>
          </a:prstGeom>
          <a:noFill/>
          <a:ln w="12700">
            <a:solidFill>
              <a:srgbClr val="9C8AB8"/>
            </a:solidFill>
            <a:prstDash val="solid"/>
          </a:ln>
        </p:spPr>
      </p:sp>
      <p:sp>
        <p:nvSpPr>
          <p:cNvPr id="129" name="Shape 127"/>
          <p:cNvSpPr/>
          <p:nvPr/>
        </p:nvSpPr>
        <p:spPr>
          <a:xfrm>
            <a:off x="3778980" y="2149940"/>
            <a:ext cx="82296" cy="82296"/>
          </a:xfrm>
          <a:prstGeom prst="ellipse">
            <a:avLst/>
          </a:prstGeom>
          <a:solidFill>
            <a:srgbClr val="E57373"/>
          </a:solidFill>
          <a:ln w="6350">
            <a:solidFill>
              <a:srgbClr val="A23B3B"/>
            </a:solidFill>
            <a:prstDash val="solid"/>
          </a:ln>
        </p:spPr>
      </p:sp>
      <p:sp>
        <p:nvSpPr>
          <p:cNvPr id="130" name="Shape 128"/>
          <p:cNvSpPr/>
          <p:nvPr/>
        </p:nvSpPr>
        <p:spPr>
          <a:xfrm>
            <a:off x="3769884" y="2216578"/>
            <a:ext cx="138973" cy="122460"/>
          </a:xfrm>
          <a:prstGeom prst="line">
            <a:avLst/>
          </a:prstGeom>
          <a:noFill/>
          <a:ln w="12700">
            <a:solidFill>
              <a:srgbClr val="9C8AB8"/>
            </a:solidFill>
            <a:prstDash val="solid"/>
          </a:ln>
        </p:spPr>
      </p:sp>
      <p:sp>
        <p:nvSpPr>
          <p:cNvPr id="131" name="Shape 129"/>
          <p:cNvSpPr/>
          <p:nvPr/>
        </p:nvSpPr>
        <p:spPr>
          <a:xfrm>
            <a:off x="3798222" y="2236659"/>
            <a:ext cx="82296" cy="82296"/>
          </a:xfrm>
          <a:prstGeom prst="ellipse">
            <a:avLst/>
          </a:prstGeom>
          <a:solidFill>
            <a:srgbClr val="E57373"/>
          </a:solidFill>
          <a:ln w="6350">
            <a:solidFill>
              <a:srgbClr val="A23B3B"/>
            </a:solidFill>
            <a:prstDash val="solid"/>
          </a:ln>
        </p:spPr>
      </p:sp>
      <p:sp>
        <p:nvSpPr>
          <p:cNvPr id="132" name="Shape 130"/>
          <p:cNvSpPr/>
          <p:nvPr/>
        </p:nvSpPr>
        <p:spPr>
          <a:xfrm>
            <a:off x="3870372" y="2165598"/>
            <a:ext cx="38485" cy="173439"/>
          </a:xfrm>
          <a:prstGeom prst="line">
            <a:avLst/>
          </a:prstGeom>
          <a:noFill/>
          <a:ln w="12700">
            <a:solidFill>
              <a:srgbClr val="9C8AB8"/>
            </a:solidFill>
            <a:prstDash val="solid"/>
          </a:ln>
        </p:spPr>
      </p:sp>
      <p:sp>
        <p:nvSpPr>
          <p:cNvPr id="133" name="Shape 131"/>
          <p:cNvSpPr/>
          <p:nvPr/>
        </p:nvSpPr>
        <p:spPr>
          <a:xfrm>
            <a:off x="3848466" y="2211170"/>
            <a:ext cx="82296" cy="82296"/>
          </a:xfrm>
          <a:prstGeom prst="ellipse">
            <a:avLst/>
          </a:prstGeom>
          <a:solidFill>
            <a:srgbClr val="E57373"/>
          </a:solidFill>
          <a:ln w="6350">
            <a:solidFill>
              <a:srgbClr val="A23B3B"/>
            </a:solidFill>
            <a:prstDash val="solid"/>
          </a:ln>
        </p:spPr>
      </p:sp>
      <p:sp>
        <p:nvSpPr>
          <p:cNvPr id="134" name="Shape 132"/>
          <p:cNvSpPr/>
          <p:nvPr/>
        </p:nvSpPr>
        <p:spPr>
          <a:xfrm flipV="1">
            <a:off x="3870372" y="2140860"/>
            <a:ext cx="296331" cy="24739"/>
          </a:xfrm>
          <a:prstGeom prst="line">
            <a:avLst/>
          </a:prstGeom>
          <a:noFill/>
          <a:ln w="12700">
            <a:solidFill>
              <a:srgbClr val="9C8AB8"/>
            </a:solidFill>
            <a:prstDash val="solid"/>
          </a:ln>
        </p:spPr>
      </p:sp>
      <p:sp>
        <p:nvSpPr>
          <p:cNvPr id="135" name="Shape 133"/>
          <p:cNvSpPr/>
          <p:nvPr/>
        </p:nvSpPr>
        <p:spPr>
          <a:xfrm>
            <a:off x="3977389" y="2112081"/>
            <a:ext cx="82296" cy="82296"/>
          </a:xfrm>
          <a:prstGeom prst="ellipse">
            <a:avLst/>
          </a:prstGeom>
          <a:solidFill>
            <a:srgbClr val="E57373"/>
          </a:solidFill>
          <a:ln w="6350">
            <a:solidFill>
              <a:srgbClr val="A23B3B"/>
            </a:solidFill>
            <a:prstDash val="solid"/>
          </a:ln>
        </p:spPr>
      </p:sp>
      <p:sp>
        <p:nvSpPr>
          <p:cNvPr id="136" name="Shape 134"/>
          <p:cNvSpPr/>
          <p:nvPr/>
        </p:nvSpPr>
        <p:spPr>
          <a:xfrm>
            <a:off x="4166703" y="2140860"/>
            <a:ext cx="133880" cy="35027"/>
          </a:xfrm>
          <a:prstGeom prst="line">
            <a:avLst/>
          </a:prstGeom>
          <a:noFill/>
          <a:ln w="12700">
            <a:solidFill>
              <a:srgbClr val="9C8AB8"/>
            </a:solidFill>
            <a:prstDash val="solid"/>
          </a:ln>
        </p:spPr>
      </p:sp>
      <p:sp>
        <p:nvSpPr>
          <p:cNvPr id="137" name="Shape 135"/>
          <p:cNvSpPr/>
          <p:nvPr/>
        </p:nvSpPr>
        <p:spPr>
          <a:xfrm>
            <a:off x="4192494" y="2117225"/>
            <a:ext cx="82296" cy="82296"/>
          </a:xfrm>
          <a:prstGeom prst="ellipse">
            <a:avLst/>
          </a:prstGeom>
          <a:solidFill>
            <a:srgbClr val="E57373"/>
          </a:solidFill>
          <a:ln w="6350">
            <a:solidFill>
              <a:srgbClr val="A23B3B"/>
            </a:solidFill>
            <a:prstDash val="solid"/>
          </a:ln>
        </p:spPr>
      </p:sp>
      <p:sp>
        <p:nvSpPr>
          <p:cNvPr id="138" name="Shape 136"/>
          <p:cNvSpPr/>
          <p:nvPr/>
        </p:nvSpPr>
        <p:spPr>
          <a:xfrm flipH="1">
            <a:off x="4118295" y="2140860"/>
            <a:ext cx="48407" cy="207662"/>
          </a:xfrm>
          <a:prstGeom prst="line">
            <a:avLst/>
          </a:prstGeom>
          <a:noFill/>
          <a:ln w="12700">
            <a:solidFill>
              <a:srgbClr val="9C8AB8"/>
            </a:solidFill>
            <a:prstDash val="solid"/>
          </a:ln>
        </p:spPr>
      </p:sp>
      <p:sp>
        <p:nvSpPr>
          <p:cNvPr id="139" name="Shape 137"/>
          <p:cNvSpPr/>
          <p:nvPr/>
        </p:nvSpPr>
        <p:spPr>
          <a:xfrm>
            <a:off x="4101351" y="2203543"/>
            <a:ext cx="82296" cy="82296"/>
          </a:xfrm>
          <a:prstGeom prst="ellipse">
            <a:avLst/>
          </a:prstGeom>
          <a:solidFill>
            <a:srgbClr val="E57373"/>
          </a:solidFill>
          <a:ln w="6350">
            <a:solidFill>
              <a:srgbClr val="A23B3B"/>
            </a:solidFill>
            <a:prstDash val="solid"/>
          </a:ln>
        </p:spPr>
      </p:sp>
      <p:sp>
        <p:nvSpPr>
          <p:cNvPr id="140" name="Shape 138"/>
          <p:cNvSpPr/>
          <p:nvPr/>
        </p:nvSpPr>
        <p:spPr>
          <a:xfrm flipH="1">
            <a:off x="4269115" y="2175887"/>
            <a:ext cx="31468" cy="215544"/>
          </a:xfrm>
          <a:prstGeom prst="line">
            <a:avLst/>
          </a:prstGeom>
          <a:noFill/>
          <a:ln w="12700">
            <a:solidFill>
              <a:srgbClr val="9C8AB8"/>
            </a:solidFill>
            <a:prstDash val="solid"/>
          </a:ln>
        </p:spPr>
      </p:sp>
      <p:sp>
        <p:nvSpPr>
          <p:cNvPr id="141" name="Shape 139"/>
          <p:cNvSpPr/>
          <p:nvPr/>
        </p:nvSpPr>
        <p:spPr>
          <a:xfrm>
            <a:off x="4243701" y="2242511"/>
            <a:ext cx="82296" cy="82296"/>
          </a:xfrm>
          <a:prstGeom prst="ellipse">
            <a:avLst/>
          </a:prstGeom>
          <a:solidFill>
            <a:srgbClr val="E57373"/>
          </a:solidFill>
          <a:ln w="6350">
            <a:solidFill>
              <a:srgbClr val="A23B3B"/>
            </a:solidFill>
            <a:prstDash val="solid"/>
          </a:ln>
        </p:spPr>
      </p:sp>
      <p:sp>
        <p:nvSpPr>
          <p:cNvPr id="142" name="Shape 140"/>
          <p:cNvSpPr/>
          <p:nvPr/>
        </p:nvSpPr>
        <p:spPr>
          <a:xfrm flipH="1">
            <a:off x="4118295" y="2175887"/>
            <a:ext cx="182287" cy="172635"/>
          </a:xfrm>
          <a:prstGeom prst="line">
            <a:avLst/>
          </a:prstGeom>
          <a:noFill/>
          <a:ln w="12700">
            <a:solidFill>
              <a:srgbClr val="9C8AB8"/>
            </a:solidFill>
            <a:prstDash val="solid"/>
          </a:ln>
        </p:spPr>
      </p:sp>
      <p:sp>
        <p:nvSpPr>
          <p:cNvPr id="143" name="Shape 141"/>
          <p:cNvSpPr/>
          <p:nvPr/>
        </p:nvSpPr>
        <p:spPr>
          <a:xfrm>
            <a:off x="4168291" y="2221056"/>
            <a:ext cx="82296" cy="82296"/>
          </a:xfrm>
          <a:prstGeom prst="ellipse">
            <a:avLst/>
          </a:prstGeom>
          <a:solidFill>
            <a:srgbClr val="E57373"/>
          </a:solidFill>
          <a:ln w="6350">
            <a:solidFill>
              <a:srgbClr val="A23B3B"/>
            </a:solidFill>
            <a:prstDash val="solid"/>
          </a:ln>
        </p:spPr>
      </p:sp>
      <p:sp>
        <p:nvSpPr>
          <p:cNvPr id="144" name="Shape 142"/>
          <p:cNvSpPr/>
          <p:nvPr/>
        </p:nvSpPr>
        <p:spPr>
          <a:xfrm>
            <a:off x="3540799" y="2343715"/>
            <a:ext cx="138023" cy="68352"/>
          </a:xfrm>
          <a:prstGeom prst="line">
            <a:avLst/>
          </a:prstGeom>
          <a:noFill/>
          <a:ln w="12700">
            <a:solidFill>
              <a:srgbClr val="9C8AB8"/>
            </a:solidFill>
            <a:prstDash val="solid"/>
          </a:ln>
        </p:spPr>
      </p:sp>
      <p:sp>
        <p:nvSpPr>
          <p:cNvPr id="145" name="Shape 143"/>
          <p:cNvSpPr/>
          <p:nvPr/>
        </p:nvSpPr>
        <p:spPr>
          <a:xfrm>
            <a:off x="3568663" y="2336743"/>
            <a:ext cx="82296" cy="82296"/>
          </a:xfrm>
          <a:prstGeom prst="ellipse">
            <a:avLst/>
          </a:prstGeom>
          <a:solidFill>
            <a:srgbClr val="E57373"/>
          </a:solidFill>
          <a:ln w="6350">
            <a:solidFill>
              <a:srgbClr val="A23B3B"/>
            </a:solidFill>
            <a:prstDash val="solid"/>
          </a:ln>
        </p:spPr>
      </p:sp>
      <p:sp>
        <p:nvSpPr>
          <p:cNvPr id="146" name="Shape 144"/>
          <p:cNvSpPr/>
          <p:nvPr/>
        </p:nvSpPr>
        <p:spPr>
          <a:xfrm flipV="1">
            <a:off x="3540799" y="2339037"/>
            <a:ext cx="368058" cy="4678"/>
          </a:xfrm>
          <a:prstGeom prst="line">
            <a:avLst/>
          </a:prstGeom>
          <a:noFill/>
          <a:ln w="12700">
            <a:solidFill>
              <a:srgbClr val="9C8AB8"/>
            </a:solidFill>
            <a:prstDash val="solid"/>
          </a:ln>
        </p:spPr>
      </p:sp>
      <p:sp>
        <p:nvSpPr>
          <p:cNvPr id="147" name="Shape 145"/>
          <p:cNvSpPr/>
          <p:nvPr/>
        </p:nvSpPr>
        <p:spPr>
          <a:xfrm>
            <a:off x="3683680" y="2300228"/>
            <a:ext cx="82296" cy="82296"/>
          </a:xfrm>
          <a:prstGeom prst="ellipse">
            <a:avLst/>
          </a:prstGeom>
          <a:solidFill>
            <a:srgbClr val="E57373"/>
          </a:solidFill>
          <a:ln w="6350">
            <a:solidFill>
              <a:srgbClr val="A23B3B"/>
            </a:solidFill>
            <a:prstDash val="solid"/>
          </a:ln>
        </p:spPr>
      </p:sp>
      <p:sp>
        <p:nvSpPr>
          <p:cNvPr id="148" name="Shape 146"/>
          <p:cNvSpPr/>
          <p:nvPr/>
        </p:nvSpPr>
        <p:spPr>
          <a:xfrm flipV="1">
            <a:off x="3678823" y="2339037"/>
            <a:ext cx="230034" cy="73030"/>
          </a:xfrm>
          <a:prstGeom prst="line">
            <a:avLst/>
          </a:prstGeom>
          <a:noFill/>
          <a:ln w="12700">
            <a:solidFill>
              <a:srgbClr val="9C8AB8"/>
            </a:solidFill>
            <a:prstDash val="solid"/>
          </a:ln>
        </p:spPr>
      </p:sp>
      <p:sp>
        <p:nvSpPr>
          <p:cNvPr id="149" name="Shape 147"/>
          <p:cNvSpPr/>
          <p:nvPr/>
        </p:nvSpPr>
        <p:spPr>
          <a:xfrm>
            <a:off x="3752692" y="2334404"/>
            <a:ext cx="82296" cy="82296"/>
          </a:xfrm>
          <a:prstGeom prst="ellipse">
            <a:avLst/>
          </a:prstGeom>
          <a:solidFill>
            <a:srgbClr val="E57373"/>
          </a:solidFill>
          <a:ln w="6350">
            <a:solidFill>
              <a:srgbClr val="A23B3B"/>
            </a:solidFill>
            <a:prstDash val="solid"/>
          </a:ln>
        </p:spPr>
      </p:sp>
      <p:sp>
        <p:nvSpPr>
          <p:cNvPr id="150" name="Shape 148"/>
          <p:cNvSpPr/>
          <p:nvPr/>
        </p:nvSpPr>
        <p:spPr>
          <a:xfrm flipV="1">
            <a:off x="3678823" y="2348522"/>
            <a:ext cx="439473" cy="63545"/>
          </a:xfrm>
          <a:prstGeom prst="line">
            <a:avLst/>
          </a:prstGeom>
          <a:noFill/>
          <a:ln w="12700">
            <a:solidFill>
              <a:srgbClr val="9C8AB8"/>
            </a:solidFill>
            <a:prstDash val="solid"/>
          </a:ln>
        </p:spPr>
      </p:sp>
      <p:sp>
        <p:nvSpPr>
          <p:cNvPr id="151" name="Shape 149"/>
          <p:cNvSpPr/>
          <p:nvPr/>
        </p:nvSpPr>
        <p:spPr>
          <a:xfrm>
            <a:off x="3857411" y="2339146"/>
            <a:ext cx="82296" cy="82296"/>
          </a:xfrm>
          <a:prstGeom prst="ellipse">
            <a:avLst/>
          </a:prstGeom>
          <a:solidFill>
            <a:srgbClr val="E57373"/>
          </a:solidFill>
          <a:ln w="6350">
            <a:solidFill>
              <a:srgbClr val="A23B3B"/>
            </a:solidFill>
            <a:prstDash val="solid"/>
          </a:ln>
        </p:spPr>
      </p:sp>
      <p:sp>
        <p:nvSpPr>
          <p:cNvPr id="152" name="Shape 150"/>
          <p:cNvSpPr/>
          <p:nvPr/>
        </p:nvSpPr>
        <p:spPr>
          <a:xfrm>
            <a:off x="3908857" y="2339037"/>
            <a:ext cx="209438" cy="9484"/>
          </a:xfrm>
          <a:prstGeom prst="line">
            <a:avLst/>
          </a:prstGeom>
          <a:noFill/>
          <a:ln w="12700">
            <a:solidFill>
              <a:srgbClr val="9C8AB8"/>
            </a:solidFill>
            <a:prstDash val="solid"/>
          </a:ln>
        </p:spPr>
      </p:sp>
      <p:sp>
        <p:nvSpPr>
          <p:cNvPr id="153" name="Shape 151"/>
          <p:cNvSpPr/>
          <p:nvPr/>
        </p:nvSpPr>
        <p:spPr>
          <a:xfrm>
            <a:off x="3972428" y="2302631"/>
            <a:ext cx="82296" cy="82296"/>
          </a:xfrm>
          <a:prstGeom prst="ellipse">
            <a:avLst/>
          </a:prstGeom>
          <a:solidFill>
            <a:srgbClr val="E57373"/>
          </a:solidFill>
          <a:ln w="6350">
            <a:solidFill>
              <a:srgbClr val="A23B3B"/>
            </a:solidFill>
            <a:prstDash val="solid"/>
          </a:ln>
        </p:spPr>
      </p:sp>
      <p:sp>
        <p:nvSpPr>
          <p:cNvPr id="154" name="Shape 152"/>
          <p:cNvSpPr/>
          <p:nvPr/>
        </p:nvSpPr>
        <p:spPr>
          <a:xfrm>
            <a:off x="3908857" y="2339037"/>
            <a:ext cx="360258" cy="52394"/>
          </a:xfrm>
          <a:prstGeom prst="line">
            <a:avLst/>
          </a:prstGeom>
          <a:noFill/>
          <a:ln w="12700">
            <a:solidFill>
              <a:srgbClr val="9C8AB8"/>
            </a:solidFill>
            <a:prstDash val="solid"/>
          </a:ln>
        </p:spPr>
      </p:sp>
      <p:sp>
        <p:nvSpPr>
          <p:cNvPr id="155" name="Shape 153"/>
          <p:cNvSpPr/>
          <p:nvPr/>
        </p:nvSpPr>
        <p:spPr>
          <a:xfrm>
            <a:off x="4047838" y="2324086"/>
            <a:ext cx="82296" cy="82296"/>
          </a:xfrm>
          <a:prstGeom prst="ellipse">
            <a:avLst/>
          </a:prstGeom>
          <a:solidFill>
            <a:srgbClr val="E57373"/>
          </a:solidFill>
          <a:ln w="6350">
            <a:solidFill>
              <a:srgbClr val="A23B3B"/>
            </a:solidFill>
            <a:prstDash val="solid"/>
          </a:ln>
        </p:spPr>
      </p:sp>
      <p:sp>
        <p:nvSpPr>
          <p:cNvPr id="156" name="Shape 154"/>
          <p:cNvSpPr/>
          <p:nvPr/>
        </p:nvSpPr>
        <p:spPr>
          <a:xfrm>
            <a:off x="4118295" y="2348522"/>
            <a:ext cx="150820" cy="42909"/>
          </a:xfrm>
          <a:prstGeom prst="line">
            <a:avLst/>
          </a:prstGeom>
          <a:noFill/>
          <a:ln w="12700">
            <a:solidFill>
              <a:srgbClr val="9C8AB8"/>
            </a:solidFill>
            <a:prstDash val="solid"/>
          </a:ln>
        </p:spPr>
      </p:sp>
      <p:sp>
        <p:nvSpPr>
          <p:cNvPr id="157" name="Shape 155"/>
          <p:cNvSpPr/>
          <p:nvPr/>
        </p:nvSpPr>
        <p:spPr>
          <a:xfrm>
            <a:off x="4152557" y="2328828"/>
            <a:ext cx="82296" cy="82296"/>
          </a:xfrm>
          <a:prstGeom prst="ellipse">
            <a:avLst/>
          </a:prstGeom>
          <a:solidFill>
            <a:srgbClr val="E57373"/>
          </a:solidFill>
          <a:ln w="6350">
            <a:solidFill>
              <a:srgbClr val="A23B3B"/>
            </a:solidFill>
            <a:prstDash val="solid"/>
          </a:ln>
        </p:spPr>
      </p:sp>
      <p:sp>
        <p:nvSpPr>
          <p:cNvPr id="158" name="Shape 156"/>
          <p:cNvSpPr/>
          <p:nvPr/>
        </p:nvSpPr>
        <p:spPr>
          <a:xfrm>
            <a:off x="3455297" y="1724967"/>
            <a:ext cx="128016" cy="128016"/>
          </a:xfrm>
          <a:prstGeom prst="ellipse">
            <a:avLst/>
          </a:prstGeom>
          <a:solidFill>
            <a:srgbClr val="8C6BB8"/>
          </a:solidFill>
          <a:ln w="9525">
            <a:solidFill>
              <a:srgbClr val="4E3577"/>
            </a:solidFill>
            <a:prstDash val="solid"/>
          </a:ln>
        </p:spPr>
      </p:sp>
      <p:sp>
        <p:nvSpPr>
          <p:cNvPr id="159" name="Shape 157"/>
          <p:cNvSpPr/>
          <p:nvPr/>
        </p:nvSpPr>
        <p:spPr>
          <a:xfrm>
            <a:off x="3608310" y="1694242"/>
            <a:ext cx="128016" cy="128016"/>
          </a:xfrm>
          <a:prstGeom prst="ellipse">
            <a:avLst/>
          </a:prstGeom>
          <a:solidFill>
            <a:srgbClr val="8C6BB8"/>
          </a:solidFill>
          <a:ln w="9525">
            <a:solidFill>
              <a:srgbClr val="4E3577"/>
            </a:solidFill>
            <a:prstDash val="solid"/>
          </a:ln>
        </p:spPr>
      </p:sp>
      <p:sp>
        <p:nvSpPr>
          <p:cNvPr id="160" name="Shape 158"/>
          <p:cNvSpPr/>
          <p:nvPr/>
        </p:nvSpPr>
        <p:spPr>
          <a:xfrm>
            <a:off x="3844559" y="1719691"/>
            <a:ext cx="128016" cy="128016"/>
          </a:xfrm>
          <a:prstGeom prst="ellipse">
            <a:avLst/>
          </a:prstGeom>
          <a:solidFill>
            <a:srgbClr val="8C6BB8"/>
          </a:solidFill>
          <a:ln w="9525">
            <a:solidFill>
              <a:srgbClr val="4E3577"/>
            </a:solidFill>
            <a:prstDash val="solid"/>
          </a:ln>
        </p:spPr>
      </p:sp>
      <p:sp>
        <p:nvSpPr>
          <p:cNvPr id="161" name="Shape 159"/>
          <p:cNvSpPr/>
          <p:nvPr/>
        </p:nvSpPr>
        <p:spPr>
          <a:xfrm>
            <a:off x="3998791" y="1755816"/>
            <a:ext cx="128016" cy="128016"/>
          </a:xfrm>
          <a:prstGeom prst="ellipse">
            <a:avLst/>
          </a:prstGeom>
          <a:solidFill>
            <a:srgbClr val="8C6BB8"/>
          </a:solidFill>
          <a:ln w="9525">
            <a:solidFill>
              <a:srgbClr val="4E3577"/>
            </a:solidFill>
            <a:prstDash val="solid"/>
          </a:ln>
        </p:spPr>
      </p:sp>
      <p:sp>
        <p:nvSpPr>
          <p:cNvPr id="162" name="Shape 160"/>
          <p:cNvSpPr/>
          <p:nvPr/>
        </p:nvSpPr>
        <p:spPr>
          <a:xfrm>
            <a:off x="4256734" y="1710424"/>
            <a:ext cx="128016" cy="128016"/>
          </a:xfrm>
          <a:prstGeom prst="ellipse">
            <a:avLst/>
          </a:prstGeom>
          <a:solidFill>
            <a:srgbClr val="8C6BB8"/>
          </a:solidFill>
          <a:ln w="9525">
            <a:solidFill>
              <a:srgbClr val="4E3577"/>
            </a:solidFill>
            <a:prstDash val="solid"/>
          </a:ln>
        </p:spPr>
      </p:sp>
      <p:sp>
        <p:nvSpPr>
          <p:cNvPr id="163" name="Shape 161"/>
          <p:cNvSpPr/>
          <p:nvPr/>
        </p:nvSpPr>
        <p:spPr>
          <a:xfrm>
            <a:off x="3430897" y="1940312"/>
            <a:ext cx="128016" cy="128016"/>
          </a:xfrm>
          <a:prstGeom prst="ellipse">
            <a:avLst/>
          </a:prstGeom>
          <a:solidFill>
            <a:srgbClr val="8C6BB8"/>
          </a:solidFill>
          <a:ln w="9525">
            <a:solidFill>
              <a:srgbClr val="4E3577"/>
            </a:solidFill>
            <a:prstDash val="solid"/>
          </a:ln>
        </p:spPr>
      </p:sp>
      <p:sp>
        <p:nvSpPr>
          <p:cNvPr id="164" name="Shape 162"/>
          <p:cNvSpPr/>
          <p:nvPr/>
        </p:nvSpPr>
        <p:spPr>
          <a:xfrm>
            <a:off x="3672509" y="1871972"/>
            <a:ext cx="128016" cy="128016"/>
          </a:xfrm>
          <a:prstGeom prst="ellipse">
            <a:avLst/>
          </a:prstGeom>
          <a:solidFill>
            <a:srgbClr val="8C6BB8"/>
          </a:solidFill>
          <a:ln w="9525">
            <a:solidFill>
              <a:srgbClr val="4E3577"/>
            </a:solidFill>
            <a:prstDash val="solid"/>
          </a:ln>
        </p:spPr>
      </p:sp>
      <p:sp>
        <p:nvSpPr>
          <p:cNvPr id="165" name="Shape 163"/>
          <p:cNvSpPr/>
          <p:nvPr/>
        </p:nvSpPr>
        <p:spPr>
          <a:xfrm>
            <a:off x="3851115" y="1887343"/>
            <a:ext cx="128016" cy="128016"/>
          </a:xfrm>
          <a:prstGeom prst="ellipse">
            <a:avLst/>
          </a:prstGeom>
          <a:solidFill>
            <a:srgbClr val="8C6BB8"/>
          </a:solidFill>
          <a:ln w="9525">
            <a:solidFill>
              <a:srgbClr val="4E3577"/>
            </a:solidFill>
            <a:prstDash val="solid"/>
          </a:ln>
        </p:spPr>
      </p:sp>
      <p:sp>
        <p:nvSpPr>
          <p:cNvPr id="166" name="Shape 164"/>
          <p:cNvSpPr/>
          <p:nvPr/>
        </p:nvSpPr>
        <p:spPr>
          <a:xfrm>
            <a:off x="4069084" y="1879866"/>
            <a:ext cx="128016" cy="128016"/>
          </a:xfrm>
          <a:prstGeom prst="ellipse">
            <a:avLst/>
          </a:prstGeom>
          <a:solidFill>
            <a:srgbClr val="8C6BB8"/>
          </a:solidFill>
          <a:ln w="9525">
            <a:solidFill>
              <a:srgbClr val="4E3577"/>
            </a:solidFill>
            <a:prstDash val="solid"/>
          </a:ln>
        </p:spPr>
      </p:sp>
      <p:sp>
        <p:nvSpPr>
          <p:cNvPr id="167" name="Shape 165"/>
          <p:cNvSpPr/>
          <p:nvPr/>
        </p:nvSpPr>
        <p:spPr>
          <a:xfrm>
            <a:off x="4253296" y="1911800"/>
            <a:ext cx="128016" cy="128016"/>
          </a:xfrm>
          <a:prstGeom prst="ellipse">
            <a:avLst/>
          </a:prstGeom>
          <a:solidFill>
            <a:srgbClr val="8C6BB8"/>
          </a:solidFill>
          <a:ln w="9525">
            <a:solidFill>
              <a:srgbClr val="4E3577"/>
            </a:solidFill>
            <a:prstDash val="solid"/>
          </a:ln>
        </p:spPr>
      </p:sp>
      <p:sp>
        <p:nvSpPr>
          <p:cNvPr id="168" name="Shape 166"/>
          <p:cNvSpPr/>
          <p:nvPr/>
        </p:nvSpPr>
        <p:spPr>
          <a:xfrm>
            <a:off x="3418076" y="2063365"/>
            <a:ext cx="128016" cy="128016"/>
          </a:xfrm>
          <a:prstGeom prst="ellipse">
            <a:avLst/>
          </a:prstGeom>
          <a:solidFill>
            <a:srgbClr val="8C6BB8"/>
          </a:solidFill>
          <a:ln w="9525">
            <a:solidFill>
              <a:srgbClr val="4E3577"/>
            </a:solidFill>
            <a:prstDash val="solid"/>
          </a:ln>
        </p:spPr>
      </p:sp>
      <p:sp>
        <p:nvSpPr>
          <p:cNvPr id="169" name="Shape 167"/>
          <p:cNvSpPr/>
          <p:nvPr/>
        </p:nvSpPr>
        <p:spPr>
          <a:xfrm>
            <a:off x="3705876" y="2152570"/>
            <a:ext cx="128016" cy="128016"/>
          </a:xfrm>
          <a:prstGeom prst="ellipse">
            <a:avLst/>
          </a:prstGeom>
          <a:solidFill>
            <a:srgbClr val="8C6BB8"/>
          </a:solidFill>
          <a:ln w="9525">
            <a:solidFill>
              <a:srgbClr val="4E3577"/>
            </a:solidFill>
            <a:prstDash val="solid"/>
          </a:ln>
        </p:spPr>
      </p:sp>
      <p:sp>
        <p:nvSpPr>
          <p:cNvPr id="170" name="Shape 168"/>
          <p:cNvSpPr/>
          <p:nvPr/>
        </p:nvSpPr>
        <p:spPr>
          <a:xfrm>
            <a:off x="3806364" y="2101590"/>
            <a:ext cx="128016" cy="128016"/>
          </a:xfrm>
          <a:prstGeom prst="ellipse">
            <a:avLst/>
          </a:prstGeom>
          <a:solidFill>
            <a:srgbClr val="8C6BB8"/>
          </a:solidFill>
          <a:ln w="9525">
            <a:solidFill>
              <a:srgbClr val="4E3577"/>
            </a:solidFill>
            <a:prstDash val="solid"/>
          </a:ln>
        </p:spPr>
      </p:sp>
      <p:sp>
        <p:nvSpPr>
          <p:cNvPr id="171" name="Shape 169"/>
          <p:cNvSpPr/>
          <p:nvPr/>
        </p:nvSpPr>
        <p:spPr>
          <a:xfrm>
            <a:off x="4102695" y="2076852"/>
            <a:ext cx="128016" cy="128016"/>
          </a:xfrm>
          <a:prstGeom prst="ellipse">
            <a:avLst/>
          </a:prstGeom>
          <a:solidFill>
            <a:srgbClr val="8C6BB8"/>
          </a:solidFill>
          <a:ln w="9525">
            <a:solidFill>
              <a:srgbClr val="4E3577"/>
            </a:solidFill>
            <a:prstDash val="solid"/>
          </a:ln>
        </p:spPr>
      </p:sp>
      <p:sp>
        <p:nvSpPr>
          <p:cNvPr id="172" name="Shape 170"/>
          <p:cNvSpPr/>
          <p:nvPr/>
        </p:nvSpPr>
        <p:spPr>
          <a:xfrm>
            <a:off x="4236574" y="2111879"/>
            <a:ext cx="128016" cy="128016"/>
          </a:xfrm>
          <a:prstGeom prst="ellipse">
            <a:avLst/>
          </a:prstGeom>
          <a:solidFill>
            <a:srgbClr val="8C6BB8"/>
          </a:solidFill>
          <a:ln w="9525">
            <a:solidFill>
              <a:srgbClr val="4E3577"/>
            </a:solidFill>
            <a:prstDash val="solid"/>
          </a:ln>
        </p:spPr>
      </p:sp>
      <p:sp>
        <p:nvSpPr>
          <p:cNvPr id="173" name="Shape 171"/>
          <p:cNvSpPr/>
          <p:nvPr/>
        </p:nvSpPr>
        <p:spPr>
          <a:xfrm>
            <a:off x="3476791" y="2279707"/>
            <a:ext cx="128016" cy="128016"/>
          </a:xfrm>
          <a:prstGeom prst="ellipse">
            <a:avLst/>
          </a:prstGeom>
          <a:solidFill>
            <a:srgbClr val="8C6BB8"/>
          </a:solidFill>
          <a:ln w="9525">
            <a:solidFill>
              <a:srgbClr val="4E3577"/>
            </a:solidFill>
            <a:prstDash val="solid"/>
          </a:ln>
        </p:spPr>
      </p:sp>
      <p:sp>
        <p:nvSpPr>
          <p:cNvPr id="174" name="Shape 172"/>
          <p:cNvSpPr/>
          <p:nvPr/>
        </p:nvSpPr>
        <p:spPr>
          <a:xfrm>
            <a:off x="3614815" y="2348059"/>
            <a:ext cx="128016" cy="128016"/>
          </a:xfrm>
          <a:prstGeom prst="ellipse">
            <a:avLst/>
          </a:prstGeom>
          <a:solidFill>
            <a:srgbClr val="8C6BB8"/>
          </a:solidFill>
          <a:ln w="9525">
            <a:solidFill>
              <a:srgbClr val="4E3577"/>
            </a:solidFill>
            <a:prstDash val="solid"/>
          </a:ln>
        </p:spPr>
      </p:sp>
      <p:sp>
        <p:nvSpPr>
          <p:cNvPr id="175" name="Shape 173"/>
          <p:cNvSpPr/>
          <p:nvPr/>
        </p:nvSpPr>
        <p:spPr>
          <a:xfrm>
            <a:off x="3844849" y="2275029"/>
            <a:ext cx="128016" cy="128016"/>
          </a:xfrm>
          <a:prstGeom prst="ellipse">
            <a:avLst/>
          </a:prstGeom>
          <a:solidFill>
            <a:srgbClr val="8C6BB8"/>
          </a:solidFill>
          <a:ln w="9525">
            <a:solidFill>
              <a:srgbClr val="4E3577"/>
            </a:solidFill>
            <a:prstDash val="solid"/>
          </a:ln>
        </p:spPr>
      </p:sp>
      <p:sp>
        <p:nvSpPr>
          <p:cNvPr id="176" name="Shape 174"/>
          <p:cNvSpPr/>
          <p:nvPr/>
        </p:nvSpPr>
        <p:spPr>
          <a:xfrm>
            <a:off x="4054287" y="2284514"/>
            <a:ext cx="128016" cy="128016"/>
          </a:xfrm>
          <a:prstGeom prst="ellipse">
            <a:avLst/>
          </a:prstGeom>
          <a:solidFill>
            <a:srgbClr val="8C6BB8"/>
          </a:solidFill>
          <a:ln w="9525">
            <a:solidFill>
              <a:srgbClr val="4E3577"/>
            </a:solidFill>
            <a:prstDash val="solid"/>
          </a:ln>
        </p:spPr>
      </p:sp>
      <p:sp>
        <p:nvSpPr>
          <p:cNvPr id="177" name="Shape 175"/>
          <p:cNvSpPr/>
          <p:nvPr/>
        </p:nvSpPr>
        <p:spPr>
          <a:xfrm>
            <a:off x="4205107" y="2327423"/>
            <a:ext cx="128016" cy="128016"/>
          </a:xfrm>
          <a:prstGeom prst="ellipse">
            <a:avLst/>
          </a:prstGeom>
          <a:solidFill>
            <a:srgbClr val="8C6BB8"/>
          </a:solidFill>
          <a:ln w="9525">
            <a:solidFill>
              <a:srgbClr val="4E3577"/>
            </a:solidFill>
            <a:prstDash val="solid"/>
          </a:ln>
        </p:spPr>
      </p:sp>
      <p:sp>
        <p:nvSpPr>
          <p:cNvPr id="178" name="Shape 176"/>
          <p:cNvSpPr/>
          <p:nvPr/>
        </p:nvSpPr>
        <p:spPr>
          <a:xfrm>
            <a:off x="4663440" y="1645920"/>
            <a:ext cx="960120" cy="914400"/>
          </a:xfrm>
          <a:prstGeom prst="rect">
            <a:avLst/>
          </a:prstGeom>
          <a:solidFill>
            <a:srgbClr val="F3D9C4"/>
          </a:solidFill>
          <a:ln/>
        </p:spPr>
      </p:sp>
      <p:sp>
        <p:nvSpPr>
          <p:cNvPr id="179" name="Shape 177"/>
          <p:cNvSpPr/>
          <p:nvPr/>
        </p:nvSpPr>
        <p:spPr>
          <a:xfrm>
            <a:off x="4718304" y="1700784"/>
            <a:ext cx="116586" cy="82296"/>
          </a:xfrm>
          <a:prstGeom prst="rect">
            <a:avLst/>
          </a:prstGeom>
          <a:solidFill>
            <a:srgbClr val="C98B5A"/>
          </a:solidFill>
          <a:ln w="6350">
            <a:solidFill>
              <a:srgbClr val="8A5530"/>
            </a:solidFill>
            <a:prstDash val="solid"/>
          </a:ln>
        </p:spPr>
      </p:sp>
      <p:sp>
        <p:nvSpPr>
          <p:cNvPr id="180" name="Shape 178"/>
          <p:cNvSpPr/>
          <p:nvPr/>
        </p:nvSpPr>
        <p:spPr>
          <a:xfrm>
            <a:off x="4889754" y="1700784"/>
            <a:ext cx="116586" cy="82296"/>
          </a:xfrm>
          <a:prstGeom prst="rect">
            <a:avLst/>
          </a:prstGeom>
          <a:solidFill>
            <a:srgbClr val="C98B5A"/>
          </a:solidFill>
          <a:ln w="6350">
            <a:solidFill>
              <a:srgbClr val="8A5530"/>
            </a:solidFill>
            <a:prstDash val="solid"/>
          </a:ln>
        </p:spPr>
      </p:sp>
      <p:sp>
        <p:nvSpPr>
          <p:cNvPr id="181" name="Shape 179"/>
          <p:cNvSpPr/>
          <p:nvPr/>
        </p:nvSpPr>
        <p:spPr>
          <a:xfrm>
            <a:off x="5061204" y="1700784"/>
            <a:ext cx="116586" cy="82296"/>
          </a:xfrm>
          <a:prstGeom prst="rect">
            <a:avLst/>
          </a:prstGeom>
          <a:solidFill>
            <a:srgbClr val="C98B5A"/>
          </a:solidFill>
          <a:ln w="6350">
            <a:solidFill>
              <a:srgbClr val="8A5530"/>
            </a:solidFill>
            <a:prstDash val="solid"/>
          </a:ln>
        </p:spPr>
      </p:sp>
      <p:sp>
        <p:nvSpPr>
          <p:cNvPr id="182" name="Shape 180"/>
          <p:cNvSpPr/>
          <p:nvPr/>
        </p:nvSpPr>
        <p:spPr>
          <a:xfrm>
            <a:off x="5232654" y="1700784"/>
            <a:ext cx="116586" cy="82296"/>
          </a:xfrm>
          <a:prstGeom prst="rect">
            <a:avLst/>
          </a:prstGeom>
          <a:solidFill>
            <a:srgbClr val="C98B5A"/>
          </a:solidFill>
          <a:ln w="6350">
            <a:solidFill>
              <a:srgbClr val="8A5530"/>
            </a:solidFill>
            <a:prstDash val="solid"/>
          </a:ln>
        </p:spPr>
      </p:sp>
      <p:sp>
        <p:nvSpPr>
          <p:cNvPr id="183" name="Shape 181"/>
          <p:cNvSpPr/>
          <p:nvPr/>
        </p:nvSpPr>
        <p:spPr>
          <a:xfrm>
            <a:off x="4919472" y="1837944"/>
            <a:ext cx="116586" cy="82296"/>
          </a:xfrm>
          <a:prstGeom prst="rect">
            <a:avLst/>
          </a:prstGeom>
          <a:solidFill>
            <a:srgbClr val="C98B5A"/>
          </a:solidFill>
          <a:ln w="6350">
            <a:solidFill>
              <a:srgbClr val="8A5530"/>
            </a:solidFill>
            <a:prstDash val="solid"/>
          </a:ln>
        </p:spPr>
      </p:sp>
      <p:sp>
        <p:nvSpPr>
          <p:cNvPr id="184" name="Shape 182"/>
          <p:cNvSpPr/>
          <p:nvPr/>
        </p:nvSpPr>
        <p:spPr>
          <a:xfrm>
            <a:off x="5090922" y="1837944"/>
            <a:ext cx="116586" cy="82296"/>
          </a:xfrm>
          <a:prstGeom prst="rect">
            <a:avLst/>
          </a:prstGeom>
          <a:solidFill>
            <a:srgbClr val="C98B5A"/>
          </a:solidFill>
          <a:ln w="6350">
            <a:solidFill>
              <a:srgbClr val="8A5530"/>
            </a:solidFill>
            <a:prstDash val="solid"/>
          </a:ln>
        </p:spPr>
      </p:sp>
      <p:sp>
        <p:nvSpPr>
          <p:cNvPr id="185" name="Shape 183"/>
          <p:cNvSpPr/>
          <p:nvPr/>
        </p:nvSpPr>
        <p:spPr>
          <a:xfrm>
            <a:off x="5262372" y="1837944"/>
            <a:ext cx="116586" cy="82296"/>
          </a:xfrm>
          <a:prstGeom prst="rect">
            <a:avLst/>
          </a:prstGeom>
          <a:solidFill>
            <a:srgbClr val="C98B5A"/>
          </a:solidFill>
          <a:ln w="6350">
            <a:solidFill>
              <a:srgbClr val="8A5530"/>
            </a:solidFill>
            <a:prstDash val="solid"/>
          </a:ln>
        </p:spPr>
      </p:sp>
      <p:sp>
        <p:nvSpPr>
          <p:cNvPr id="186" name="Shape 184"/>
          <p:cNvSpPr/>
          <p:nvPr/>
        </p:nvSpPr>
        <p:spPr>
          <a:xfrm>
            <a:off x="5433822" y="1837944"/>
            <a:ext cx="116586" cy="82296"/>
          </a:xfrm>
          <a:prstGeom prst="rect">
            <a:avLst/>
          </a:prstGeom>
          <a:solidFill>
            <a:srgbClr val="C98B5A"/>
          </a:solidFill>
          <a:ln w="6350">
            <a:solidFill>
              <a:srgbClr val="8A5530"/>
            </a:solidFill>
            <a:prstDash val="solid"/>
          </a:ln>
        </p:spPr>
      </p:sp>
      <p:sp>
        <p:nvSpPr>
          <p:cNvPr id="187" name="Shape 185"/>
          <p:cNvSpPr/>
          <p:nvPr/>
        </p:nvSpPr>
        <p:spPr>
          <a:xfrm>
            <a:off x="4718304" y="1975104"/>
            <a:ext cx="116586" cy="82296"/>
          </a:xfrm>
          <a:prstGeom prst="rect">
            <a:avLst/>
          </a:prstGeom>
          <a:solidFill>
            <a:srgbClr val="C98B5A"/>
          </a:solidFill>
          <a:ln w="6350">
            <a:solidFill>
              <a:srgbClr val="8A5530"/>
            </a:solidFill>
            <a:prstDash val="solid"/>
          </a:ln>
        </p:spPr>
      </p:sp>
      <p:sp>
        <p:nvSpPr>
          <p:cNvPr id="188" name="Shape 186"/>
          <p:cNvSpPr/>
          <p:nvPr/>
        </p:nvSpPr>
        <p:spPr>
          <a:xfrm>
            <a:off x="4889754" y="1975104"/>
            <a:ext cx="116586" cy="82296"/>
          </a:xfrm>
          <a:prstGeom prst="rect">
            <a:avLst/>
          </a:prstGeom>
          <a:solidFill>
            <a:srgbClr val="C98B5A"/>
          </a:solidFill>
          <a:ln w="6350">
            <a:solidFill>
              <a:srgbClr val="8A5530"/>
            </a:solidFill>
            <a:prstDash val="solid"/>
          </a:ln>
        </p:spPr>
      </p:sp>
      <p:sp>
        <p:nvSpPr>
          <p:cNvPr id="189" name="Shape 187"/>
          <p:cNvSpPr/>
          <p:nvPr/>
        </p:nvSpPr>
        <p:spPr>
          <a:xfrm>
            <a:off x="5061204" y="1975104"/>
            <a:ext cx="116586" cy="82296"/>
          </a:xfrm>
          <a:prstGeom prst="rect">
            <a:avLst/>
          </a:prstGeom>
          <a:solidFill>
            <a:srgbClr val="C98B5A"/>
          </a:solidFill>
          <a:ln w="6350">
            <a:solidFill>
              <a:srgbClr val="8A5530"/>
            </a:solidFill>
            <a:prstDash val="solid"/>
          </a:ln>
        </p:spPr>
      </p:sp>
      <p:sp>
        <p:nvSpPr>
          <p:cNvPr id="190" name="Shape 188"/>
          <p:cNvSpPr/>
          <p:nvPr/>
        </p:nvSpPr>
        <p:spPr>
          <a:xfrm>
            <a:off x="5232654" y="1975104"/>
            <a:ext cx="116586" cy="82296"/>
          </a:xfrm>
          <a:prstGeom prst="rect">
            <a:avLst/>
          </a:prstGeom>
          <a:solidFill>
            <a:srgbClr val="C98B5A"/>
          </a:solidFill>
          <a:ln w="6350">
            <a:solidFill>
              <a:srgbClr val="8A5530"/>
            </a:solidFill>
            <a:prstDash val="solid"/>
          </a:ln>
        </p:spPr>
      </p:sp>
      <p:sp>
        <p:nvSpPr>
          <p:cNvPr id="191" name="Shape 189"/>
          <p:cNvSpPr/>
          <p:nvPr/>
        </p:nvSpPr>
        <p:spPr>
          <a:xfrm>
            <a:off x="4919472" y="2112264"/>
            <a:ext cx="116586" cy="82296"/>
          </a:xfrm>
          <a:prstGeom prst="rect">
            <a:avLst/>
          </a:prstGeom>
          <a:solidFill>
            <a:srgbClr val="C98B5A"/>
          </a:solidFill>
          <a:ln w="6350">
            <a:solidFill>
              <a:srgbClr val="8A5530"/>
            </a:solidFill>
            <a:prstDash val="solid"/>
          </a:ln>
        </p:spPr>
      </p:sp>
      <p:sp>
        <p:nvSpPr>
          <p:cNvPr id="192" name="Shape 190"/>
          <p:cNvSpPr/>
          <p:nvPr/>
        </p:nvSpPr>
        <p:spPr>
          <a:xfrm>
            <a:off x="5090922" y="2112264"/>
            <a:ext cx="116586" cy="82296"/>
          </a:xfrm>
          <a:prstGeom prst="rect">
            <a:avLst/>
          </a:prstGeom>
          <a:solidFill>
            <a:srgbClr val="C98B5A"/>
          </a:solidFill>
          <a:ln w="6350">
            <a:solidFill>
              <a:srgbClr val="8A5530"/>
            </a:solidFill>
            <a:prstDash val="solid"/>
          </a:ln>
        </p:spPr>
      </p:sp>
      <p:sp>
        <p:nvSpPr>
          <p:cNvPr id="193" name="Shape 191"/>
          <p:cNvSpPr/>
          <p:nvPr/>
        </p:nvSpPr>
        <p:spPr>
          <a:xfrm>
            <a:off x="5262372" y="2112264"/>
            <a:ext cx="116586" cy="82296"/>
          </a:xfrm>
          <a:prstGeom prst="rect">
            <a:avLst/>
          </a:prstGeom>
          <a:solidFill>
            <a:srgbClr val="C98B5A"/>
          </a:solidFill>
          <a:ln w="6350">
            <a:solidFill>
              <a:srgbClr val="8A5530"/>
            </a:solidFill>
            <a:prstDash val="solid"/>
          </a:ln>
        </p:spPr>
      </p:sp>
      <p:sp>
        <p:nvSpPr>
          <p:cNvPr id="194" name="Shape 192"/>
          <p:cNvSpPr/>
          <p:nvPr/>
        </p:nvSpPr>
        <p:spPr>
          <a:xfrm>
            <a:off x="5433822" y="2112264"/>
            <a:ext cx="116586" cy="82296"/>
          </a:xfrm>
          <a:prstGeom prst="rect">
            <a:avLst/>
          </a:prstGeom>
          <a:solidFill>
            <a:srgbClr val="C98B5A"/>
          </a:solidFill>
          <a:ln w="6350">
            <a:solidFill>
              <a:srgbClr val="8A5530"/>
            </a:solidFill>
            <a:prstDash val="solid"/>
          </a:ln>
        </p:spPr>
      </p:sp>
      <p:sp>
        <p:nvSpPr>
          <p:cNvPr id="195" name="Shape 193"/>
          <p:cNvSpPr/>
          <p:nvPr/>
        </p:nvSpPr>
        <p:spPr>
          <a:xfrm>
            <a:off x="4718304" y="2249424"/>
            <a:ext cx="116586" cy="82296"/>
          </a:xfrm>
          <a:prstGeom prst="rect">
            <a:avLst/>
          </a:prstGeom>
          <a:solidFill>
            <a:srgbClr val="C98B5A"/>
          </a:solidFill>
          <a:ln w="6350">
            <a:solidFill>
              <a:srgbClr val="8A5530"/>
            </a:solidFill>
            <a:prstDash val="solid"/>
          </a:ln>
        </p:spPr>
      </p:sp>
      <p:sp>
        <p:nvSpPr>
          <p:cNvPr id="196" name="Shape 194"/>
          <p:cNvSpPr/>
          <p:nvPr/>
        </p:nvSpPr>
        <p:spPr>
          <a:xfrm>
            <a:off x="4889754" y="2249424"/>
            <a:ext cx="116586" cy="82296"/>
          </a:xfrm>
          <a:prstGeom prst="rect">
            <a:avLst/>
          </a:prstGeom>
          <a:solidFill>
            <a:srgbClr val="C98B5A"/>
          </a:solidFill>
          <a:ln w="6350">
            <a:solidFill>
              <a:srgbClr val="8A5530"/>
            </a:solidFill>
            <a:prstDash val="solid"/>
          </a:ln>
        </p:spPr>
      </p:sp>
      <p:sp>
        <p:nvSpPr>
          <p:cNvPr id="197" name="Shape 195"/>
          <p:cNvSpPr/>
          <p:nvPr/>
        </p:nvSpPr>
        <p:spPr>
          <a:xfrm>
            <a:off x="5061204" y="2249424"/>
            <a:ext cx="116586" cy="82296"/>
          </a:xfrm>
          <a:prstGeom prst="rect">
            <a:avLst/>
          </a:prstGeom>
          <a:solidFill>
            <a:srgbClr val="C98B5A"/>
          </a:solidFill>
          <a:ln w="6350">
            <a:solidFill>
              <a:srgbClr val="8A5530"/>
            </a:solidFill>
            <a:prstDash val="solid"/>
          </a:ln>
        </p:spPr>
      </p:sp>
      <p:sp>
        <p:nvSpPr>
          <p:cNvPr id="198" name="Shape 196"/>
          <p:cNvSpPr/>
          <p:nvPr/>
        </p:nvSpPr>
        <p:spPr>
          <a:xfrm>
            <a:off x="5232654" y="2249424"/>
            <a:ext cx="116586" cy="82296"/>
          </a:xfrm>
          <a:prstGeom prst="rect">
            <a:avLst/>
          </a:prstGeom>
          <a:solidFill>
            <a:srgbClr val="C98B5A"/>
          </a:solidFill>
          <a:ln w="6350">
            <a:solidFill>
              <a:srgbClr val="8A5530"/>
            </a:solidFill>
            <a:prstDash val="solid"/>
          </a:ln>
        </p:spPr>
      </p:sp>
      <p:sp>
        <p:nvSpPr>
          <p:cNvPr id="199" name="Shape 197"/>
          <p:cNvSpPr/>
          <p:nvPr/>
        </p:nvSpPr>
        <p:spPr>
          <a:xfrm>
            <a:off x="4919472" y="2386584"/>
            <a:ext cx="116586" cy="82296"/>
          </a:xfrm>
          <a:prstGeom prst="rect">
            <a:avLst/>
          </a:prstGeom>
          <a:solidFill>
            <a:srgbClr val="C98B5A"/>
          </a:solidFill>
          <a:ln w="6350">
            <a:solidFill>
              <a:srgbClr val="8A5530"/>
            </a:solidFill>
            <a:prstDash val="solid"/>
          </a:ln>
        </p:spPr>
      </p:sp>
      <p:sp>
        <p:nvSpPr>
          <p:cNvPr id="200" name="Shape 198"/>
          <p:cNvSpPr/>
          <p:nvPr/>
        </p:nvSpPr>
        <p:spPr>
          <a:xfrm>
            <a:off x="5090922" y="2386584"/>
            <a:ext cx="116586" cy="82296"/>
          </a:xfrm>
          <a:prstGeom prst="rect">
            <a:avLst/>
          </a:prstGeom>
          <a:solidFill>
            <a:srgbClr val="C98B5A"/>
          </a:solidFill>
          <a:ln w="6350">
            <a:solidFill>
              <a:srgbClr val="8A5530"/>
            </a:solidFill>
            <a:prstDash val="solid"/>
          </a:ln>
        </p:spPr>
      </p:sp>
      <p:sp>
        <p:nvSpPr>
          <p:cNvPr id="201" name="Shape 199"/>
          <p:cNvSpPr/>
          <p:nvPr/>
        </p:nvSpPr>
        <p:spPr>
          <a:xfrm>
            <a:off x="5262372" y="2386584"/>
            <a:ext cx="116586" cy="82296"/>
          </a:xfrm>
          <a:prstGeom prst="rect">
            <a:avLst/>
          </a:prstGeom>
          <a:solidFill>
            <a:srgbClr val="C98B5A"/>
          </a:solidFill>
          <a:ln w="6350">
            <a:solidFill>
              <a:srgbClr val="8A5530"/>
            </a:solidFill>
            <a:prstDash val="solid"/>
          </a:ln>
        </p:spPr>
      </p:sp>
      <p:sp>
        <p:nvSpPr>
          <p:cNvPr id="202" name="Shape 200"/>
          <p:cNvSpPr/>
          <p:nvPr/>
        </p:nvSpPr>
        <p:spPr>
          <a:xfrm>
            <a:off x="5433822" y="2386584"/>
            <a:ext cx="116586" cy="82296"/>
          </a:xfrm>
          <a:prstGeom prst="rect">
            <a:avLst/>
          </a:prstGeom>
          <a:solidFill>
            <a:srgbClr val="C98B5A"/>
          </a:solidFill>
          <a:ln w="6350">
            <a:solidFill>
              <a:srgbClr val="8A5530"/>
            </a:solidFill>
            <a:prstDash val="solid"/>
          </a:ln>
        </p:spPr>
      </p:sp>
      <p:sp>
        <p:nvSpPr>
          <p:cNvPr id="203" name="Text 201"/>
          <p:cNvSpPr/>
          <p:nvPr/>
        </p:nvSpPr>
        <p:spPr>
          <a:xfrm>
            <a:off x="3291840" y="2651760"/>
            <a:ext cx="12801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glass</a:t>
            </a:r>
            <a:endParaRPr lang="en-US" sz="1000" dirty="0"/>
          </a:p>
        </p:txBody>
      </p:sp>
      <p:sp>
        <p:nvSpPr>
          <p:cNvPr id="204" name="Text 202"/>
          <p:cNvSpPr/>
          <p:nvPr/>
        </p:nvSpPr>
        <p:spPr>
          <a:xfrm>
            <a:off x="4572000" y="2651760"/>
            <a:ext cx="114300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fired clay</a:t>
            </a:r>
            <a:endParaRPr lang="en-US" sz="1000" dirty="0"/>
          </a:p>
        </p:txBody>
      </p:sp>
      <p:sp>
        <p:nvSpPr>
          <p:cNvPr id="205" name="Shape 203"/>
          <p:cNvSpPr/>
          <p:nvPr/>
        </p:nvSpPr>
        <p:spPr>
          <a:xfrm flipV="1">
            <a:off x="868680" y="3696004"/>
            <a:ext cx="196596" cy="21032"/>
          </a:xfrm>
          <a:prstGeom prst="line">
            <a:avLst/>
          </a:prstGeom>
          <a:noFill/>
          <a:ln w="22225">
            <a:solidFill>
              <a:srgbClr val="2F7A3A"/>
            </a:solidFill>
            <a:prstDash val="solid"/>
          </a:ln>
        </p:spPr>
      </p:sp>
      <p:sp>
        <p:nvSpPr>
          <p:cNvPr id="206" name="Shape 204"/>
          <p:cNvSpPr/>
          <p:nvPr/>
        </p:nvSpPr>
        <p:spPr>
          <a:xfrm>
            <a:off x="1065276" y="3696004"/>
            <a:ext cx="196596" cy="138469"/>
          </a:xfrm>
          <a:prstGeom prst="line">
            <a:avLst/>
          </a:prstGeom>
          <a:noFill/>
          <a:ln w="22225">
            <a:solidFill>
              <a:srgbClr val="2F7A3A"/>
            </a:solidFill>
            <a:prstDash val="solid"/>
          </a:ln>
        </p:spPr>
      </p:sp>
      <p:sp>
        <p:nvSpPr>
          <p:cNvPr id="207" name="Shape 205"/>
          <p:cNvSpPr/>
          <p:nvPr/>
        </p:nvSpPr>
        <p:spPr>
          <a:xfrm flipV="1">
            <a:off x="1261872" y="3676476"/>
            <a:ext cx="196596" cy="157997"/>
          </a:xfrm>
          <a:prstGeom prst="line">
            <a:avLst/>
          </a:prstGeom>
          <a:noFill/>
          <a:ln w="22225">
            <a:solidFill>
              <a:srgbClr val="2F7A3A"/>
            </a:solidFill>
            <a:prstDash val="solid"/>
          </a:ln>
        </p:spPr>
      </p:sp>
      <p:sp>
        <p:nvSpPr>
          <p:cNvPr id="208" name="Shape 206"/>
          <p:cNvSpPr/>
          <p:nvPr/>
        </p:nvSpPr>
        <p:spPr>
          <a:xfrm>
            <a:off x="1458468" y="3676476"/>
            <a:ext cx="196596" cy="80290"/>
          </a:xfrm>
          <a:prstGeom prst="line">
            <a:avLst/>
          </a:prstGeom>
          <a:noFill/>
          <a:ln w="22225">
            <a:solidFill>
              <a:srgbClr val="2F7A3A"/>
            </a:solidFill>
            <a:prstDash val="solid"/>
          </a:ln>
        </p:spPr>
      </p:sp>
      <p:sp>
        <p:nvSpPr>
          <p:cNvPr id="209" name="Shape 207"/>
          <p:cNvSpPr/>
          <p:nvPr/>
        </p:nvSpPr>
        <p:spPr>
          <a:xfrm flipV="1">
            <a:off x="1655064" y="3599397"/>
            <a:ext cx="196596" cy="157369"/>
          </a:xfrm>
          <a:prstGeom prst="line">
            <a:avLst/>
          </a:prstGeom>
          <a:noFill/>
          <a:ln w="22225">
            <a:solidFill>
              <a:srgbClr val="2F7A3A"/>
            </a:solidFill>
            <a:prstDash val="solid"/>
          </a:ln>
        </p:spPr>
      </p:sp>
      <p:sp>
        <p:nvSpPr>
          <p:cNvPr id="210" name="Shape 208"/>
          <p:cNvSpPr/>
          <p:nvPr/>
        </p:nvSpPr>
        <p:spPr>
          <a:xfrm>
            <a:off x="1851660" y="3599397"/>
            <a:ext cx="196596" cy="139250"/>
          </a:xfrm>
          <a:prstGeom prst="line">
            <a:avLst/>
          </a:prstGeom>
          <a:noFill/>
          <a:ln w="22225">
            <a:solidFill>
              <a:srgbClr val="2F7A3A"/>
            </a:solidFill>
            <a:prstDash val="solid"/>
          </a:ln>
        </p:spPr>
      </p:sp>
      <p:sp>
        <p:nvSpPr>
          <p:cNvPr id="211" name="Shape 209"/>
          <p:cNvSpPr/>
          <p:nvPr/>
        </p:nvSpPr>
        <p:spPr>
          <a:xfrm flipV="1">
            <a:off x="2048256" y="3653950"/>
            <a:ext cx="196596" cy="84697"/>
          </a:xfrm>
          <a:prstGeom prst="line">
            <a:avLst/>
          </a:prstGeom>
          <a:noFill/>
          <a:ln w="22225">
            <a:solidFill>
              <a:srgbClr val="2F7A3A"/>
            </a:solidFill>
            <a:prstDash val="solid"/>
          </a:ln>
        </p:spPr>
      </p:sp>
      <p:sp>
        <p:nvSpPr>
          <p:cNvPr id="212" name="Shape 210"/>
          <p:cNvSpPr/>
          <p:nvPr/>
        </p:nvSpPr>
        <p:spPr>
          <a:xfrm>
            <a:off x="2244852" y="3653950"/>
            <a:ext cx="196596" cy="170637"/>
          </a:xfrm>
          <a:prstGeom prst="line">
            <a:avLst/>
          </a:prstGeom>
          <a:noFill/>
          <a:ln w="22225">
            <a:solidFill>
              <a:srgbClr val="2F7A3A"/>
            </a:solidFill>
            <a:prstDash val="solid"/>
          </a:ln>
        </p:spPr>
      </p:sp>
      <p:sp>
        <p:nvSpPr>
          <p:cNvPr id="213" name="Shape 211"/>
          <p:cNvSpPr/>
          <p:nvPr/>
        </p:nvSpPr>
        <p:spPr>
          <a:xfrm flipV="1">
            <a:off x="2441448" y="3706240"/>
            <a:ext cx="196596" cy="118348"/>
          </a:xfrm>
          <a:prstGeom prst="line">
            <a:avLst/>
          </a:prstGeom>
          <a:noFill/>
          <a:ln w="22225">
            <a:solidFill>
              <a:srgbClr val="2F7A3A"/>
            </a:solidFill>
            <a:prstDash val="solid"/>
          </a:ln>
        </p:spPr>
      </p:sp>
      <p:sp>
        <p:nvSpPr>
          <p:cNvPr id="214" name="Shape 212"/>
          <p:cNvSpPr/>
          <p:nvPr/>
        </p:nvSpPr>
        <p:spPr>
          <a:xfrm>
            <a:off x="2638044" y="3706240"/>
            <a:ext cx="196596" cy="97414"/>
          </a:xfrm>
          <a:prstGeom prst="line">
            <a:avLst/>
          </a:prstGeom>
          <a:noFill/>
          <a:ln w="22225">
            <a:solidFill>
              <a:srgbClr val="2F7A3A"/>
            </a:solidFill>
            <a:prstDash val="solid"/>
          </a:ln>
        </p:spPr>
      </p:sp>
      <p:sp>
        <p:nvSpPr>
          <p:cNvPr id="215" name="Shape 213"/>
          <p:cNvSpPr/>
          <p:nvPr/>
        </p:nvSpPr>
        <p:spPr>
          <a:xfrm>
            <a:off x="868680" y="3888029"/>
            <a:ext cx="196596" cy="115926"/>
          </a:xfrm>
          <a:prstGeom prst="line">
            <a:avLst/>
          </a:prstGeom>
          <a:noFill/>
          <a:ln w="22225">
            <a:solidFill>
              <a:srgbClr val="2F7A3A"/>
            </a:solidFill>
            <a:prstDash val="solid"/>
          </a:ln>
        </p:spPr>
      </p:sp>
      <p:sp>
        <p:nvSpPr>
          <p:cNvPr id="216" name="Shape 214"/>
          <p:cNvSpPr/>
          <p:nvPr/>
        </p:nvSpPr>
        <p:spPr>
          <a:xfrm flipV="1">
            <a:off x="1065276" y="3842400"/>
            <a:ext cx="196596" cy="161555"/>
          </a:xfrm>
          <a:prstGeom prst="line">
            <a:avLst/>
          </a:prstGeom>
          <a:noFill/>
          <a:ln w="22225">
            <a:solidFill>
              <a:srgbClr val="2F7A3A"/>
            </a:solidFill>
            <a:prstDash val="solid"/>
          </a:ln>
        </p:spPr>
      </p:sp>
      <p:sp>
        <p:nvSpPr>
          <p:cNvPr id="217" name="Shape 215"/>
          <p:cNvSpPr/>
          <p:nvPr/>
        </p:nvSpPr>
        <p:spPr>
          <a:xfrm>
            <a:off x="1261872" y="3842400"/>
            <a:ext cx="196596" cy="80568"/>
          </a:xfrm>
          <a:prstGeom prst="line">
            <a:avLst/>
          </a:prstGeom>
          <a:noFill/>
          <a:ln w="22225">
            <a:solidFill>
              <a:srgbClr val="2F7A3A"/>
            </a:solidFill>
            <a:prstDash val="solid"/>
          </a:ln>
        </p:spPr>
      </p:sp>
      <p:sp>
        <p:nvSpPr>
          <p:cNvPr id="218" name="Shape 216"/>
          <p:cNvSpPr/>
          <p:nvPr/>
        </p:nvSpPr>
        <p:spPr>
          <a:xfrm flipV="1">
            <a:off x="1458468" y="3769503"/>
            <a:ext cx="196596" cy="153465"/>
          </a:xfrm>
          <a:prstGeom prst="line">
            <a:avLst/>
          </a:prstGeom>
          <a:noFill/>
          <a:ln w="22225">
            <a:solidFill>
              <a:srgbClr val="2F7A3A"/>
            </a:solidFill>
            <a:prstDash val="solid"/>
          </a:ln>
        </p:spPr>
      </p:sp>
      <p:sp>
        <p:nvSpPr>
          <p:cNvPr id="219" name="Shape 217"/>
          <p:cNvSpPr/>
          <p:nvPr/>
        </p:nvSpPr>
        <p:spPr>
          <a:xfrm>
            <a:off x="1655064" y="3769503"/>
            <a:ext cx="196596" cy="143825"/>
          </a:xfrm>
          <a:prstGeom prst="line">
            <a:avLst/>
          </a:prstGeom>
          <a:noFill/>
          <a:ln w="22225">
            <a:solidFill>
              <a:srgbClr val="2F7A3A"/>
            </a:solidFill>
            <a:prstDash val="solid"/>
          </a:ln>
        </p:spPr>
      </p:sp>
      <p:sp>
        <p:nvSpPr>
          <p:cNvPr id="220" name="Shape 218"/>
          <p:cNvSpPr/>
          <p:nvPr/>
        </p:nvSpPr>
        <p:spPr>
          <a:xfrm flipV="1">
            <a:off x="1851660" y="3830415"/>
            <a:ext cx="196596" cy="82913"/>
          </a:xfrm>
          <a:prstGeom prst="line">
            <a:avLst/>
          </a:prstGeom>
          <a:noFill/>
          <a:ln w="22225">
            <a:solidFill>
              <a:srgbClr val="2F7A3A"/>
            </a:solidFill>
            <a:prstDash val="solid"/>
          </a:ln>
        </p:spPr>
      </p:sp>
      <p:sp>
        <p:nvSpPr>
          <p:cNvPr id="221" name="Shape 219"/>
          <p:cNvSpPr/>
          <p:nvPr/>
        </p:nvSpPr>
        <p:spPr>
          <a:xfrm>
            <a:off x="2048256" y="3830415"/>
            <a:ext cx="196596" cy="168280"/>
          </a:xfrm>
          <a:prstGeom prst="line">
            <a:avLst/>
          </a:prstGeom>
          <a:noFill/>
          <a:ln w="22225">
            <a:solidFill>
              <a:srgbClr val="2F7A3A"/>
            </a:solidFill>
            <a:prstDash val="solid"/>
          </a:ln>
        </p:spPr>
      </p:sp>
      <p:sp>
        <p:nvSpPr>
          <p:cNvPr id="222" name="Shape 220"/>
          <p:cNvSpPr/>
          <p:nvPr/>
        </p:nvSpPr>
        <p:spPr>
          <a:xfrm flipV="1">
            <a:off x="2244852" y="3875633"/>
            <a:ext cx="196596" cy="123062"/>
          </a:xfrm>
          <a:prstGeom prst="line">
            <a:avLst/>
          </a:prstGeom>
          <a:noFill/>
          <a:ln w="22225">
            <a:solidFill>
              <a:srgbClr val="2F7A3A"/>
            </a:solidFill>
            <a:prstDash val="solid"/>
          </a:ln>
        </p:spPr>
      </p:sp>
      <p:sp>
        <p:nvSpPr>
          <p:cNvPr id="223" name="Shape 221"/>
          <p:cNvSpPr/>
          <p:nvPr/>
        </p:nvSpPr>
        <p:spPr>
          <a:xfrm>
            <a:off x="2441448" y="3875633"/>
            <a:ext cx="196596" cy="93911"/>
          </a:xfrm>
          <a:prstGeom prst="line">
            <a:avLst/>
          </a:prstGeom>
          <a:noFill/>
          <a:ln w="22225">
            <a:solidFill>
              <a:srgbClr val="2F7A3A"/>
            </a:solidFill>
            <a:prstDash val="solid"/>
          </a:ln>
        </p:spPr>
      </p:sp>
      <p:sp>
        <p:nvSpPr>
          <p:cNvPr id="224" name="Shape 222"/>
          <p:cNvSpPr/>
          <p:nvPr/>
        </p:nvSpPr>
        <p:spPr>
          <a:xfrm flipV="1">
            <a:off x="2638044" y="3794174"/>
            <a:ext cx="196596" cy="175370"/>
          </a:xfrm>
          <a:prstGeom prst="line">
            <a:avLst/>
          </a:prstGeom>
          <a:noFill/>
          <a:ln w="22225">
            <a:solidFill>
              <a:srgbClr val="2F7A3A"/>
            </a:solidFill>
            <a:prstDash val="solid"/>
          </a:ln>
        </p:spPr>
      </p:sp>
      <p:sp>
        <p:nvSpPr>
          <p:cNvPr id="225" name="Shape 223"/>
          <p:cNvSpPr/>
          <p:nvPr/>
        </p:nvSpPr>
        <p:spPr>
          <a:xfrm flipV="1">
            <a:off x="868680" y="4018198"/>
            <a:ext cx="196596" cy="50882"/>
          </a:xfrm>
          <a:prstGeom prst="line">
            <a:avLst/>
          </a:prstGeom>
          <a:noFill/>
          <a:ln w="22225">
            <a:solidFill>
              <a:srgbClr val="2F7A3A"/>
            </a:solidFill>
            <a:prstDash val="solid"/>
          </a:ln>
        </p:spPr>
      </p:sp>
      <p:sp>
        <p:nvSpPr>
          <p:cNvPr id="226" name="Shape 224"/>
          <p:cNvSpPr/>
          <p:nvPr/>
        </p:nvSpPr>
        <p:spPr>
          <a:xfrm>
            <a:off x="1065276" y="4018198"/>
            <a:ext cx="196596" cy="81321"/>
          </a:xfrm>
          <a:prstGeom prst="line">
            <a:avLst/>
          </a:prstGeom>
          <a:noFill/>
          <a:ln w="22225">
            <a:solidFill>
              <a:srgbClr val="2F7A3A"/>
            </a:solidFill>
            <a:prstDash val="solid"/>
          </a:ln>
        </p:spPr>
      </p:sp>
      <p:sp>
        <p:nvSpPr>
          <p:cNvPr id="227" name="Shape 225"/>
          <p:cNvSpPr/>
          <p:nvPr/>
        </p:nvSpPr>
        <p:spPr>
          <a:xfrm flipV="1">
            <a:off x="1261872" y="3950212"/>
            <a:ext cx="196596" cy="149307"/>
          </a:xfrm>
          <a:prstGeom prst="line">
            <a:avLst/>
          </a:prstGeom>
          <a:noFill/>
          <a:ln w="22225">
            <a:solidFill>
              <a:srgbClr val="2F7A3A"/>
            </a:solidFill>
            <a:prstDash val="solid"/>
          </a:ln>
        </p:spPr>
      </p:sp>
      <p:sp>
        <p:nvSpPr>
          <p:cNvPr id="228" name="Shape 226"/>
          <p:cNvSpPr/>
          <p:nvPr/>
        </p:nvSpPr>
        <p:spPr>
          <a:xfrm>
            <a:off x="1458468" y="3950212"/>
            <a:ext cx="196596" cy="148242"/>
          </a:xfrm>
          <a:prstGeom prst="line">
            <a:avLst/>
          </a:prstGeom>
          <a:noFill/>
          <a:ln w="22225">
            <a:solidFill>
              <a:srgbClr val="2F7A3A"/>
            </a:solidFill>
            <a:prstDash val="solid"/>
          </a:ln>
        </p:spPr>
      </p:sp>
      <p:sp>
        <p:nvSpPr>
          <p:cNvPr id="229" name="Shape 227"/>
          <p:cNvSpPr/>
          <p:nvPr/>
        </p:nvSpPr>
        <p:spPr>
          <a:xfrm flipV="1">
            <a:off x="1655064" y="4016874"/>
            <a:ext cx="196596" cy="81580"/>
          </a:xfrm>
          <a:prstGeom prst="line">
            <a:avLst/>
          </a:prstGeom>
          <a:noFill/>
          <a:ln w="22225">
            <a:solidFill>
              <a:srgbClr val="2F7A3A"/>
            </a:solidFill>
            <a:prstDash val="solid"/>
          </a:ln>
        </p:spPr>
      </p:sp>
      <p:sp>
        <p:nvSpPr>
          <p:cNvPr id="230" name="Shape 228"/>
          <p:cNvSpPr/>
          <p:nvPr/>
        </p:nvSpPr>
        <p:spPr>
          <a:xfrm>
            <a:off x="1851660" y="4016874"/>
            <a:ext cx="196596" cy="165520"/>
          </a:xfrm>
          <a:prstGeom prst="line">
            <a:avLst/>
          </a:prstGeom>
          <a:noFill/>
          <a:ln w="22225">
            <a:solidFill>
              <a:srgbClr val="2F7A3A"/>
            </a:solidFill>
            <a:prstDash val="solid"/>
          </a:ln>
        </p:spPr>
      </p:sp>
      <p:sp>
        <p:nvSpPr>
          <p:cNvPr id="231" name="Shape 229"/>
          <p:cNvSpPr/>
          <p:nvPr/>
        </p:nvSpPr>
        <p:spPr>
          <a:xfrm flipV="1">
            <a:off x="2048256" y="4054569"/>
            <a:ext cx="196596" cy="127826"/>
          </a:xfrm>
          <a:prstGeom prst="line">
            <a:avLst/>
          </a:prstGeom>
          <a:noFill/>
          <a:ln w="22225">
            <a:solidFill>
              <a:srgbClr val="2F7A3A"/>
            </a:solidFill>
            <a:prstDash val="solid"/>
          </a:ln>
        </p:spPr>
      </p:sp>
      <p:sp>
        <p:nvSpPr>
          <p:cNvPr id="232" name="Shape 230"/>
          <p:cNvSpPr/>
          <p:nvPr/>
        </p:nvSpPr>
        <p:spPr>
          <a:xfrm>
            <a:off x="2244852" y="4054569"/>
            <a:ext cx="196596" cy="90748"/>
          </a:xfrm>
          <a:prstGeom prst="line">
            <a:avLst/>
          </a:prstGeom>
          <a:noFill/>
          <a:ln w="22225">
            <a:solidFill>
              <a:srgbClr val="2F7A3A"/>
            </a:solidFill>
            <a:prstDash val="solid"/>
          </a:ln>
        </p:spPr>
      </p:sp>
      <p:sp>
        <p:nvSpPr>
          <p:cNvPr id="233" name="Shape 231"/>
          <p:cNvSpPr/>
          <p:nvPr/>
        </p:nvSpPr>
        <p:spPr>
          <a:xfrm flipV="1">
            <a:off x="2441448" y="3970778"/>
            <a:ext cx="196596" cy="174539"/>
          </a:xfrm>
          <a:prstGeom prst="line">
            <a:avLst/>
          </a:prstGeom>
          <a:noFill/>
          <a:ln w="22225">
            <a:solidFill>
              <a:srgbClr val="2F7A3A"/>
            </a:solidFill>
            <a:prstDash val="solid"/>
          </a:ln>
        </p:spPr>
      </p:sp>
      <p:sp>
        <p:nvSpPr>
          <p:cNvPr id="234" name="Shape 232"/>
          <p:cNvSpPr/>
          <p:nvPr/>
        </p:nvSpPr>
        <p:spPr>
          <a:xfrm>
            <a:off x="2638044" y="3970778"/>
            <a:ext cx="196596" cy="107446"/>
          </a:xfrm>
          <a:prstGeom prst="line">
            <a:avLst/>
          </a:prstGeom>
          <a:noFill/>
          <a:ln w="22225">
            <a:solidFill>
              <a:srgbClr val="2F7A3A"/>
            </a:solidFill>
            <a:prstDash val="solid"/>
          </a:ln>
        </p:spPr>
      </p:sp>
      <p:sp>
        <p:nvSpPr>
          <p:cNvPr id="235" name="Shape 233"/>
          <p:cNvSpPr/>
          <p:nvPr/>
        </p:nvSpPr>
        <p:spPr>
          <a:xfrm>
            <a:off x="868680" y="4250131"/>
            <a:ext cx="196596" cy="26274"/>
          </a:xfrm>
          <a:prstGeom prst="line">
            <a:avLst/>
          </a:prstGeom>
          <a:noFill/>
          <a:ln w="22225">
            <a:solidFill>
              <a:srgbClr val="2F7A3A"/>
            </a:solidFill>
            <a:prstDash val="solid"/>
          </a:ln>
        </p:spPr>
      </p:sp>
      <p:sp>
        <p:nvSpPr>
          <p:cNvPr id="236" name="Shape 234"/>
          <p:cNvSpPr/>
          <p:nvPr/>
        </p:nvSpPr>
        <p:spPr>
          <a:xfrm flipV="1">
            <a:off x="1065276" y="4131470"/>
            <a:ext cx="196596" cy="144936"/>
          </a:xfrm>
          <a:prstGeom prst="line">
            <a:avLst/>
          </a:prstGeom>
          <a:noFill/>
          <a:ln w="22225">
            <a:solidFill>
              <a:srgbClr val="2F7A3A"/>
            </a:solidFill>
            <a:prstDash val="solid"/>
          </a:ln>
        </p:spPr>
      </p:sp>
      <p:sp>
        <p:nvSpPr>
          <p:cNvPr id="237" name="Shape 235"/>
          <p:cNvSpPr/>
          <p:nvPr/>
        </p:nvSpPr>
        <p:spPr>
          <a:xfrm>
            <a:off x="1261872" y="4131470"/>
            <a:ext cx="196596" cy="152457"/>
          </a:xfrm>
          <a:prstGeom prst="line">
            <a:avLst/>
          </a:prstGeom>
          <a:noFill/>
          <a:ln w="22225">
            <a:solidFill>
              <a:srgbClr val="2F7A3A"/>
            </a:solidFill>
            <a:prstDash val="solid"/>
          </a:ln>
        </p:spPr>
      </p:sp>
      <p:sp>
        <p:nvSpPr>
          <p:cNvPr id="238" name="Shape 236"/>
          <p:cNvSpPr/>
          <p:nvPr/>
        </p:nvSpPr>
        <p:spPr>
          <a:xfrm flipV="1">
            <a:off x="1458468" y="4203216"/>
            <a:ext cx="196596" cy="80711"/>
          </a:xfrm>
          <a:prstGeom prst="line">
            <a:avLst/>
          </a:prstGeom>
          <a:noFill/>
          <a:ln w="22225">
            <a:solidFill>
              <a:srgbClr val="2F7A3A"/>
            </a:solidFill>
            <a:prstDash val="solid"/>
          </a:ln>
        </p:spPr>
      </p:sp>
      <p:sp>
        <p:nvSpPr>
          <p:cNvPr id="239" name="Shape 237"/>
          <p:cNvSpPr/>
          <p:nvPr/>
        </p:nvSpPr>
        <p:spPr>
          <a:xfrm>
            <a:off x="1655064" y="4203216"/>
            <a:ext cx="196596" cy="162386"/>
          </a:xfrm>
          <a:prstGeom prst="line">
            <a:avLst/>
          </a:prstGeom>
          <a:noFill/>
          <a:ln w="22225">
            <a:solidFill>
              <a:srgbClr val="2F7A3A"/>
            </a:solidFill>
            <a:prstDash val="solid"/>
          </a:ln>
        </p:spPr>
      </p:sp>
      <p:sp>
        <p:nvSpPr>
          <p:cNvPr id="240" name="Shape 238"/>
          <p:cNvSpPr/>
          <p:nvPr/>
        </p:nvSpPr>
        <p:spPr>
          <a:xfrm flipV="1">
            <a:off x="1851660" y="4233010"/>
            <a:ext cx="196596" cy="132592"/>
          </a:xfrm>
          <a:prstGeom prst="line">
            <a:avLst/>
          </a:prstGeom>
          <a:noFill/>
          <a:ln w="22225">
            <a:solidFill>
              <a:srgbClr val="2F7A3A"/>
            </a:solidFill>
            <a:prstDash val="solid"/>
          </a:ln>
        </p:spPr>
      </p:sp>
      <p:sp>
        <p:nvSpPr>
          <p:cNvPr id="241" name="Shape 239"/>
          <p:cNvSpPr/>
          <p:nvPr/>
        </p:nvSpPr>
        <p:spPr>
          <a:xfrm>
            <a:off x="2048256" y="4233010"/>
            <a:ext cx="196596" cy="87957"/>
          </a:xfrm>
          <a:prstGeom prst="line">
            <a:avLst/>
          </a:prstGeom>
          <a:noFill/>
          <a:ln w="22225">
            <a:solidFill>
              <a:srgbClr val="2F7A3A"/>
            </a:solidFill>
            <a:prstDash val="solid"/>
          </a:ln>
        </p:spPr>
      </p:sp>
      <p:sp>
        <p:nvSpPr>
          <p:cNvPr id="242" name="Shape 240"/>
          <p:cNvSpPr/>
          <p:nvPr/>
        </p:nvSpPr>
        <p:spPr>
          <a:xfrm flipV="1">
            <a:off x="2244852" y="4147725"/>
            <a:ext cx="196596" cy="173242"/>
          </a:xfrm>
          <a:prstGeom prst="line">
            <a:avLst/>
          </a:prstGeom>
          <a:noFill/>
          <a:ln w="22225">
            <a:solidFill>
              <a:srgbClr val="2F7A3A"/>
            </a:solidFill>
            <a:prstDash val="solid"/>
          </a:ln>
        </p:spPr>
      </p:sp>
      <p:sp>
        <p:nvSpPr>
          <p:cNvPr id="243" name="Shape 241"/>
          <p:cNvSpPr/>
          <p:nvPr/>
        </p:nvSpPr>
        <p:spPr>
          <a:xfrm>
            <a:off x="2441448" y="4147725"/>
            <a:ext cx="196596" cy="111849"/>
          </a:xfrm>
          <a:prstGeom prst="line">
            <a:avLst/>
          </a:prstGeom>
          <a:noFill/>
          <a:ln w="22225">
            <a:solidFill>
              <a:srgbClr val="2F7A3A"/>
            </a:solidFill>
            <a:prstDash val="solid"/>
          </a:ln>
        </p:spPr>
      </p:sp>
      <p:sp>
        <p:nvSpPr>
          <p:cNvPr id="244" name="Shape 242"/>
          <p:cNvSpPr/>
          <p:nvPr/>
        </p:nvSpPr>
        <p:spPr>
          <a:xfrm flipV="1">
            <a:off x="2638044" y="4156685"/>
            <a:ext cx="196596" cy="102889"/>
          </a:xfrm>
          <a:prstGeom prst="line">
            <a:avLst/>
          </a:prstGeom>
          <a:noFill/>
          <a:ln w="22225">
            <a:solidFill>
              <a:srgbClr val="2F7A3A"/>
            </a:solidFill>
            <a:prstDash val="solid"/>
          </a:ln>
        </p:spPr>
      </p:sp>
      <p:sp>
        <p:nvSpPr>
          <p:cNvPr id="245" name="Shape 243"/>
          <p:cNvSpPr/>
          <p:nvPr/>
        </p:nvSpPr>
        <p:spPr>
          <a:xfrm flipV="1">
            <a:off x="868680" y="4303215"/>
            <a:ext cx="196596" cy="117909"/>
          </a:xfrm>
          <a:prstGeom prst="line">
            <a:avLst/>
          </a:prstGeom>
          <a:noFill/>
          <a:ln w="22225">
            <a:solidFill>
              <a:srgbClr val="2F7A3A"/>
            </a:solidFill>
            <a:prstDash val="solid"/>
          </a:ln>
        </p:spPr>
      </p:sp>
      <p:sp>
        <p:nvSpPr>
          <p:cNvPr id="246" name="Shape 244"/>
          <p:cNvSpPr/>
          <p:nvPr/>
        </p:nvSpPr>
        <p:spPr>
          <a:xfrm>
            <a:off x="1065276" y="4303215"/>
            <a:ext cx="196596" cy="156427"/>
          </a:xfrm>
          <a:prstGeom prst="line">
            <a:avLst/>
          </a:prstGeom>
          <a:noFill/>
          <a:ln w="22225">
            <a:solidFill>
              <a:srgbClr val="2F7A3A"/>
            </a:solidFill>
            <a:prstDash val="solid"/>
          </a:ln>
        </p:spPr>
      </p:sp>
      <p:sp>
        <p:nvSpPr>
          <p:cNvPr id="247" name="Shape 245"/>
          <p:cNvSpPr/>
          <p:nvPr/>
        </p:nvSpPr>
        <p:spPr>
          <a:xfrm flipV="1">
            <a:off x="1261872" y="4379328"/>
            <a:ext cx="196596" cy="80314"/>
          </a:xfrm>
          <a:prstGeom prst="line">
            <a:avLst/>
          </a:prstGeom>
          <a:noFill/>
          <a:ln w="22225">
            <a:solidFill>
              <a:srgbClr val="2F7A3A"/>
            </a:solidFill>
            <a:prstDash val="solid"/>
          </a:ln>
        </p:spPr>
      </p:sp>
      <p:sp>
        <p:nvSpPr>
          <p:cNvPr id="248" name="Shape 246"/>
          <p:cNvSpPr/>
          <p:nvPr/>
        </p:nvSpPr>
        <p:spPr>
          <a:xfrm>
            <a:off x="1458468" y="4379328"/>
            <a:ext cx="196596" cy="158908"/>
          </a:xfrm>
          <a:prstGeom prst="line">
            <a:avLst/>
          </a:prstGeom>
          <a:noFill/>
          <a:ln w="22225">
            <a:solidFill>
              <a:srgbClr val="2F7A3A"/>
            </a:solidFill>
            <a:prstDash val="solid"/>
          </a:ln>
        </p:spPr>
      </p:sp>
      <p:sp>
        <p:nvSpPr>
          <p:cNvPr id="249" name="Shape 247"/>
          <p:cNvSpPr/>
          <p:nvPr/>
        </p:nvSpPr>
        <p:spPr>
          <a:xfrm flipV="1">
            <a:off x="1655064" y="4400924"/>
            <a:ext cx="196596" cy="137312"/>
          </a:xfrm>
          <a:prstGeom prst="line">
            <a:avLst/>
          </a:prstGeom>
          <a:noFill/>
          <a:ln w="22225">
            <a:solidFill>
              <a:srgbClr val="2F7A3A"/>
            </a:solidFill>
            <a:prstDash val="solid"/>
          </a:ln>
        </p:spPr>
      </p:sp>
      <p:sp>
        <p:nvSpPr>
          <p:cNvPr id="250" name="Shape 248"/>
          <p:cNvSpPr/>
          <p:nvPr/>
        </p:nvSpPr>
        <p:spPr>
          <a:xfrm>
            <a:off x="1851660" y="4400924"/>
            <a:ext cx="196596" cy="85567"/>
          </a:xfrm>
          <a:prstGeom prst="line">
            <a:avLst/>
          </a:prstGeom>
          <a:noFill/>
          <a:ln w="22225">
            <a:solidFill>
              <a:srgbClr val="2F7A3A"/>
            </a:solidFill>
            <a:prstDash val="solid"/>
          </a:ln>
        </p:spPr>
      </p:sp>
      <p:sp>
        <p:nvSpPr>
          <p:cNvPr id="251" name="Shape 249"/>
          <p:cNvSpPr/>
          <p:nvPr/>
        </p:nvSpPr>
        <p:spPr>
          <a:xfrm flipV="1">
            <a:off x="2048256" y="4314998"/>
            <a:ext cx="196596" cy="171494"/>
          </a:xfrm>
          <a:prstGeom prst="line">
            <a:avLst/>
          </a:prstGeom>
          <a:noFill/>
          <a:ln w="22225">
            <a:solidFill>
              <a:srgbClr val="2F7A3A"/>
            </a:solidFill>
            <a:prstDash val="solid"/>
          </a:ln>
        </p:spPr>
      </p:sp>
      <p:sp>
        <p:nvSpPr>
          <p:cNvPr id="252" name="Shape 250"/>
          <p:cNvSpPr/>
          <p:nvPr/>
        </p:nvSpPr>
        <p:spPr>
          <a:xfrm>
            <a:off x="2244852" y="4314998"/>
            <a:ext cx="196596" cy="116413"/>
          </a:xfrm>
          <a:prstGeom prst="line">
            <a:avLst/>
          </a:prstGeom>
          <a:noFill/>
          <a:ln w="22225">
            <a:solidFill>
              <a:srgbClr val="2F7A3A"/>
            </a:solidFill>
            <a:prstDash val="solid"/>
          </a:ln>
        </p:spPr>
      </p:sp>
      <p:sp>
        <p:nvSpPr>
          <p:cNvPr id="253" name="Shape 251"/>
          <p:cNvSpPr/>
          <p:nvPr/>
        </p:nvSpPr>
        <p:spPr>
          <a:xfrm flipV="1">
            <a:off x="2441448" y="4332447"/>
            <a:ext cx="196596" cy="98964"/>
          </a:xfrm>
          <a:prstGeom prst="line">
            <a:avLst/>
          </a:prstGeom>
          <a:noFill/>
          <a:ln w="22225">
            <a:solidFill>
              <a:srgbClr val="2F7A3A"/>
            </a:solidFill>
            <a:prstDash val="solid"/>
          </a:ln>
        </p:spPr>
      </p:sp>
      <p:sp>
        <p:nvSpPr>
          <p:cNvPr id="254" name="Shape 252"/>
          <p:cNvSpPr/>
          <p:nvPr/>
        </p:nvSpPr>
        <p:spPr>
          <a:xfrm>
            <a:off x="2638044" y="4332447"/>
            <a:ext cx="196596" cy="175738"/>
          </a:xfrm>
          <a:prstGeom prst="line">
            <a:avLst/>
          </a:prstGeom>
          <a:noFill/>
          <a:ln w="22225">
            <a:solidFill>
              <a:srgbClr val="2F7A3A"/>
            </a:solidFill>
            <a:prstDash val="solid"/>
          </a:ln>
        </p:spPr>
      </p:sp>
      <p:sp>
        <p:nvSpPr>
          <p:cNvPr id="255" name="Text 253"/>
          <p:cNvSpPr/>
          <p:nvPr/>
        </p:nvSpPr>
        <p:spPr>
          <a:xfrm>
            <a:off x="640080" y="4572000"/>
            <a:ext cx="24231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long chain molecules</a:t>
            </a:r>
            <a:endParaRPr lang="en-US" sz="1000" dirty="0"/>
          </a:p>
        </p:txBody>
      </p:sp>
      <p:sp>
        <p:nvSpPr>
          <p:cNvPr id="256" name="Shape 254"/>
          <p:cNvSpPr/>
          <p:nvPr/>
        </p:nvSpPr>
        <p:spPr>
          <a:xfrm>
            <a:off x="3520440" y="3611880"/>
            <a:ext cx="1965960" cy="868680"/>
          </a:xfrm>
          <a:prstGeom prst="rect">
            <a:avLst/>
          </a:prstGeom>
          <a:solidFill>
            <a:srgbClr val="EADFF5"/>
          </a:solidFill>
          <a:ln w="12700">
            <a:solidFill>
              <a:srgbClr val="6A3FA0"/>
            </a:solidFill>
            <a:prstDash val="solid"/>
          </a:ln>
        </p:spPr>
      </p:sp>
      <p:sp>
        <p:nvSpPr>
          <p:cNvPr id="257" name="Shape 255"/>
          <p:cNvSpPr/>
          <p:nvPr/>
        </p:nvSpPr>
        <p:spPr>
          <a:xfrm>
            <a:off x="3593592" y="3666744"/>
            <a:ext cx="1819656" cy="64008"/>
          </a:xfrm>
          <a:prstGeom prst="rect">
            <a:avLst/>
          </a:prstGeom>
          <a:solidFill>
            <a:srgbClr val="2A2A2A"/>
          </a:solidFill>
          <a:ln/>
        </p:spPr>
      </p:sp>
      <p:sp>
        <p:nvSpPr>
          <p:cNvPr id="258" name="Shape 256"/>
          <p:cNvSpPr/>
          <p:nvPr/>
        </p:nvSpPr>
        <p:spPr>
          <a:xfrm>
            <a:off x="3593592" y="3840480"/>
            <a:ext cx="1819656" cy="64008"/>
          </a:xfrm>
          <a:prstGeom prst="rect">
            <a:avLst/>
          </a:prstGeom>
          <a:solidFill>
            <a:srgbClr val="2A2A2A"/>
          </a:solidFill>
          <a:ln/>
        </p:spPr>
      </p:sp>
      <p:sp>
        <p:nvSpPr>
          <p:cNvPr id="259" name="Shape 257"/>
          <p:cNvSpPr/>
          <p:nvPr/>
        </p:nvSpPr>
        <p:spPr>
          <a:xfrm>
            <a:off x="3593592" y="4014216"/>
            <a:ext cx="1819656" cy="64008"/>
          </a:xfrm>
          <a:prstGeom prst="rect">
            <a:avLst/>
          </a:prstGeom>
          <a:solidFill>
            <a:srgbClr val="2A2A2A"/>
          </a:solidFill>
          <a:ln/>
        </p:spPr>
      </p:sp>
      <p:sp>
        <p:nvSpPr>
          <p:cNvPr id="260" name="Shape 258"/>
          <p:cNvSpPr/>
          <p:nvPr/>
        </p:nvSpPr>
        <p:spPr>
          <a:xfrm>
            <a:off x="3593592" y="4187952"/>
            <a:ext cx="1819656" cy="64008"/>
          </a:xfrm>
          <a:prstGeom prst="rect">
            <a:avLst/>
          </a:prstGeom>
          <a:solidFill>
            <a:srgbClr val="2A2A2A"/>
          </a:solidFill>
          <a:ln/>
        </p:spPr>
      </p:sp>
      <p:sp>
        <p:nvSpPr>
          <p:cNvPr id="261" name="Shape 259"/>
          <p:cNvSpPr/>
          <p:nvPr/>
        </p:nvSpPr>
        <p:spPr>
          <a:xfrm>
            <a:off x="3593592" y="4361688"/>
            <a:ext cx="1819656" cy="64008"/>
          </a:xfrm>
          <a:prstGeom prst="rect">
            <a:avLst/>
          </a:prstGeom>
          <a:solidFill>
            <a:srgbClr val="2A2A2A"/>
          </a:solidFill>
          <a:ln/>
        </p:spPr>
      </p:sp>
      <p:sp>
        <p:nvSpPr>
          <p:cNvPr id="262" name="Text 260"/>
          <p:cNvSpPr/>
          <p:nvPr/>
        </p:nvSpPr>
        <p:spPr>
          <a:xfrm>
            <a:off x="3291840" y="4572000"/>
            <a:ext cx="24231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fibres set in a matrix</a:t>
            </a:r>
            <a:endParaRPr lang="en-US" sz="1000" dirty="0"/>
          </a:p>
        </p:txBody>
      </p:sp>
      <p:sp>
        <p:nvSpPr>
          <p:cNvPr id="263" name="Text 261"/>
          <p:cNvSpPr/>
          <p:nvPr/>
        </p:nvSpPr>
        <p:spPr>
          <a:xfrm>
            <a:off x="594360" y="5074920"/>
            <a:ext cx="5166360" cy="36576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Examples: </a:t>
            </a:r>
            <a:r>
              <a:rPr lang="en-US" sz="1050" b="1" dirty="0">
                <a:solidFill>
                  <a:srgbClr val="262B3A"/>
                </a:solidFill>
                <a:latin typeface="Calibri" pitchFamily="34" charset="0"/>
                <a:ea typeface="Calibri" pitchFamily="34" charset="-122"/>
                <a:cs typeface="Calibri" pitchFamily="34" charset="-120"/>
              </a:rPr>
              <a:t>steel</a:t>
            </a:r>
            <a:r>
              <a:rPr lang="en-US" sz="1050" dirty="0">
                <a:solidFill>
                  <a:srgbClr val="262B3A"/>
                </a:solidFill>
                <a:latin typeface="Calibri" pitchFamily="34" charset="0"/>
                <a:ea typeface="Calibri" pitchFamily="34" charset="-122"/>
                <a:cs typeface="Calibri" pitchFamily="34" charset="-120"/>
              </a:rPr>
              <a:t>, copper • </a:t>
            </a:r>
            <a:r>
              <a:rPr lang="en-US" sz="1050" b="1" dirty="0">
                <a:solidFill>
                  <a:srgbClr val="262B3A"/>
                </a:solidFill>
                <a:latin typeface="Calibri" pitchFamily="34" charset="0"/>
                <a:ea typeface="Calibri" pitchFamily="34" charset="-122"/>
                <a:cs typeface="Calibri" pitchFamily="34" charset="-120"/>
              </a:rPr>
              <a:t>glass</a:t>
            </a:r>
            <a:r>
              <a:rPr lang="en-US" sz="1050" dirty="0">
                <a:solidFill>
                  <a:srgbClr val="262B3A"/>
                </a:solidFill>
                <a:latin typeface="Calibri" pitchFamily="34" charset="0"/>
                <a:ea typeface="Calibri" pitchFamily="34" charset="-122"/>
                <a:cs typeface="Calibri" pitchFamily="34" charset="-120"/>
              </a:rPr>
              <a:t>, brick, pottery • </a:t>
            </a:r>
            <a:r>
              <a:rPr lang="en-US" sz="1050" b="1" dirty="0">
                <a:solidFill>
                  <a:srgbClr val="262B3A"/>
                </a:solidFill>
                <a:latin typeface="Calibri" pitchFamily="34" charset="0"/>
                <a:ea typeface="Calibri" pitchFamily="34" charset="-122"/>
                <a:cs typeface="Calibri" pitchFamily="34" charset="-120"/>
              </a:rPr>
              <a:t>poly(ethene)</a:t>
            </a:r>
            <a:r>
              <a:rPr lang="en-US" sz="1050" dirty="0">
                <a:solidFill>
                  <a:srgbClr val="262B3A"/>
                </a:solidFill>
                <a:latin typeface="Calibri" pitchFamily="34" charset="0"/>
                <a:ea typeface="Calibri" pitchFamily="34" charset="-122"/>
                <a:cs typeface="Calibri" pitchFamily="34" charset="-120"/>
              </a:rPr>
              <a:t>, PVC • </a:t>
            </a:r>
            <a:r>
              <a:rPr lang="en-US" sz="1050" b="1" dirty="0">
                <a:solidFill>
                  <a:srgbClr val="262B3A"/>
                </a:solidFill>
                <a:latin typeface="Calibri" pitchFamily="34" charset="0"/>
                <a:ea typeface="Calibri" pitchFamily="34" charset="-122"/>
                <a:cs typeface="Calibri" pitchFamily="34" charset="-120"/>
              </a:rPr>
              <a:t>carbon fibre</a:t>
            </a:r>
            <a:r>
              <a:rPr lang="en-US" sz="1050" dirty="0">
                <a:solidFill>
                  <a:srgbClr val="262B3A"/>
                </a:solidFill>
                <a:latin typeface="Calibri" pitchFamily="34" charset="0"/>
                <a:ea typeface="Calibri" pitchFamily="34" charset="-122"/>
                <a:cs typeface="Calibri" pitchFamily="34" charset="-120"/>
              </a:rPr>
              <a:t>, concrete</a:t>
            </a:r>
            <a:endParaRPr lang="en-US" sz="1050" dirty="0"/>
          </a:p>
        </p:txBody>
      </p:sp>
      <p:sp>
        <p:nvSpPr>
          <p:cNvPr id="264" name="Shape 262"/>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265" name="Text 26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The four families</a:t>
            </a:r>
            <a:endParaRPr lang="en-US" sz="1300" dirty="0"/>
          </a:p>
        </p:txBody>
      </p:sp>
      <p:sp>
        <p:nvSpPr>
          <p:cNvPr id="266" name="Text 264"/>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Metals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alloys</a:t>
            </a:r>
            <a:r>
              <a:rPr lang="en-US" sz="1150" dirty="0">
                <a:solidFill>
                  <a:srgbClr val="262B3A"/>
                </a:solidFill>
                <a:latin typeface="Calibri" pitchFamily="34" charset="0"/>
                <a:ea typeface="Calibri" pitchFamily="34" charset="-122"/>
                <a:cs typeface="Calibri" pitchFamily="34" charset="-120"/>
              </a:rPr>
              <a:t>): strong, tough, shiny, good conductors of heat and electricity, can be bent or hammered into shape.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Ceramics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glass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clay</a:t>
            </a:r>
            <a:r>
              <a:rPr lang="en-US" sz="1150" dirty="0">
                <a:solidFill>
                  <a:srgbClr val="262B3A"/>
                </a:solidFill>
                <a:latin typeface="Calibri" pitchFamily="34" charset="0"/>
                <a:ea typeface="Calibri" pitchFamily="34" charset="-122"/>
                <a:cs typeface="Calibri" pitchFamily="34" charset="-120"/>
              </a:rPr>
              <a:t> ceramics (brick, pottery). Hard, stiff, high melting point, but </a:t>
            </a:r>
            <a:r>
              <a:rPr lang="en-US" sz="1150" b="1" dirty="0">
                <a:solidFill>
                  <a:srgbClr val="262B3A"/>
                </a:solidFill>
                <a:latin typeface="Calibri" pitchFamily="34" charset="0"/>
                <a:ea typeface="Calibri" pitchFamily="34" charset="-122"/>
                <a:cs typeface="Calibri" pitchFamily="34" charset="-120"/>
              </a:rPr>
              <a:t>brittle</a:t>
            </a:r>
            <a:r>
              <a:rPr lang="en-US" sz="1150" dirty="0">
                <a:solidFill>
                  <a:srgbClr val="262B3A"/>
                </a:solidFill>
                <a:latin typeface="Calibri" pitchFamily="34" charset="0"/>
                <a:ea typeface="Calibri" pitchFamily="34" charset="-122"/>
                <a:cs typeface="Calibri" pitchFamily="34" charset="-120"/>
              </a:rPr>
              <a:t>; electrical insulators.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Polymers</a:t>
            </a:r>
            <a:r>
              <a:rPr lang="en-US" sz="1150" dirty="0">
                <a:solidFill>
                  <a:srgbClr val="262B3A"/>
                </a:solidFill>
                <a:latin typeface="Calibri" pitchFamily="34" charset="0"/>
                <a:ea typeface="Calibri" pitchFamily="34" charset="-122"/>
                <a:cs typeface="Calibri" pitchFamily="34" charset="-120"/>
              </a:rPr>
              <a:t> (plastics, rubber): low density, flexible, insulators, </a:t>
            </a:r>
            <a:r>
              <a:rPr lang="en-US" sz="1150" b="1" dirty="0">
                <a:solidFill>
                  <a:srgbClr val="262B3A"/>
                </a:solidFill>
                <a:latin typeface="Calibri" pitchFamily="34" charset="0"/>
                <a:ea typeface="Calibri" pitchFamily="34" charset="-122"/>
                <a:cs typeface="Calibri" pitchFamily="34" charset="-120"/>
              </a:rPr>
              <a:t>soften</a:t>
            </a:r>
            <a:r>
              <a:rPr lang="en-US" sz="1150" dirty="0">
                <a:solidFill>
                  <a:srgbClr val="262B3A"/>
                </a:solidFill>
                <a:latin typeface="Calibri" pitchFamily="34" charset="0"/>
                <a:ea typeface="Calibri" pitchFamily="34" charset="-122"/>
                <a:cs typeface="Calibri" pitchFamily="34" charset="-120"/>
              </a:rPr>
              <a:t> at low temperatures, easy to mould.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Composites</a:t>
            </a:r>
            <a:r>
              <a:rPr lang="en-US" sz="1150" dirty="0">
                <a:solidFill>
                  <a:srgbClr val="262B3A"/>
                </a:solidFill>
                <a:latin typeface="Calibri" pitchFamily="34" charset="0"/>
                <a:ea typeface="Calibri" pitchFamily="34" charset="-122"/>
                <a:cs typeface="Calibri" pitchFamily="34" charset="-120"/>
              </a:rPr>
              <a:t>: two or more materials combined, e.g. fibres in a resin, to get properties neither has alone.</a:t>
            </a:r>
            <a:endParaRPr lang="en-US" sz="1150" dirty="0"/>
          </a:p>
        </p:txBody>
      </p:sp>
      <p:sp>
        <p:nvSpPr>
          <p:cNvPr id="267" name="Shape 265"/>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268" name="Text 266"/>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identify a metal</a:t>
            </a:r>
            <a:endParaRPr lang="en-US" sz="1300" dirty="0"/>
          </a:p>
        </p:txBody>
      </p:sp>
      <p:sp>
        <p:nvSpPr>
          <p:cNvPr id="269" name="Text 267"/>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sample has mass 39 g and volume 5.0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density = mass ÷ volume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39 ÷ 5.0 = 7.8 g/cm³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matches </a:t>
            </a:r>
            <a:r>
              <a:rPr lang="en-US" sz="1050" b="1" dirty="0">
                <a:solidFill>
                  <a:srgbClr val="C8414C"/>
                </a:solidFill>
                <a:latin typeface="Calibri" pitchFamily="34" charset="0"/>
                <a:ea typeface="Calibri" pitchFamily="34" charset="-122"/>
                <a:cs typeface="Calibri" pitchFamily="34" charset="-120"/>
              </a:rPr>
              <a:t>steel</a:t>
            </a:r>
            <a:r>
              <a:rPr lang="en-US" sz="1050" b="1" dirty="0">
                <a:solidFill>
                  <a:srgbClr val="C8414C"/>
                </a:solidFill>
                <a:latin typeface="Calibri" pitchFamily="34" charset="0"/>
                <a:ea typeface="Calibri" pitchFamily="34" charset="-122"/>
                <a:cs typeface="Calibri" pitchFamily="34" charset="-120"/>
              </a:rPr>
              <a:t> (7.8 g/cm³) in the data table</a:t>
            </a:r>
            <a:endParaRPr lang="en-US" sz="1050" dirty="0"/>
          </a:p>
        </p:txBody>
      </p:sp>
      <p:sp>
        <p:nvSpPr>
          <p:cNvPr id="270" name="Shape 268"/>
          <p:cNvSpPr/>
          <p:nvPr/>
        </p:nvSpPr>
        <p:spPr>
          <a:xfrm>
            <a:off x="411480" y="5833872"/>
            <a:ext cx="11368735" cy="530352"/>
          </a:xfrm>
          <a:prstGeom prst="rect">
            <a:avLst/>
          </a:prstGeom>
          <a:solidFill>
            <a:srgbClr val="FFF4E0"/>
          </a:solidFill>
          <a:ln w="6350">
            <a:solidFill>
              <a:srgbClr val="F1D9A8"/>
            </a:solidFill>
            <a:prstDash val="solid"/>
          </a:ln>
        </p:spPr>
      </p:sp>
      <p:sp>
        <p:nvSpPr>
          <p:cNvPr id="271" name="Shape 269"/>
          <p:cNvSpPr/>
          <p:nvPr/>
        </p:nvSpPr>
        <p:spPr>
          <a:xfrm>
            <a:off x="411480" y="5833872"/>
            <a:ext cx="82296" cy="530352"/>
          </a:xfrm>
          <a:prstGeom prst="rect">
            <a:avLst/>
          </a:prstGeom>
          <a:solidFill>
            <a:srgbClr val="E39A2F"/>
          </a:solidFill>
          <a:ln w="12700">
            <a:solidFill>
              <a:srgbClr val="E39A2F"/>
            </a:solidFill>
            <a:prstDash val="solid"/>
          </a:ln>
        </p:spPr>
      </p:sp>
      <p:sp>
        <p:nvSpPr>
          <p:cNvPr id="272" name="Text 27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family for: </a:t>
            </a:r>
            <a:r>
              <a:rPr lang="en-US" sz="1150" b="1" dirty="0">
                <a:solidFill>
                  <a:srgbClr val="262B3A"/>
                </a:solidFill>
                <a:latin typeface="Calibri" pitchFamily="34" charset="0"/>
                <a:ea typeface="Calibri" pitchFamily="34" charset="-122"/>
                <a:cs typeface="Calibri" pitchFamily="34" charset="-120"/>
              </a:rPr>
              <a:t>brick</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carbon-fibre bike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PVC pipe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copper wire</a:t>
            </a:r>
            <a:r>
              <a:rPr lang="en-US" sz="1150" dirty="0">
                <a:solidFill>
                  <a:srgbClr val="262B3A"/>
                </a:solidFill>
                <a:latin typeface="Calibri" pitchFamily="34" charset="0"/>
                <a:ea typeface="Calibri" pitchFamily="34" charset="-122"/>
                <a:cs typeface="Calibri" pitchFamily="34" charset="-120"/>
              </a:rPr>
              <a:t>. A 13.5 g sample has a volume of 5.0 cm³: density?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Describing properties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the words scientists and engineers use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C4.1.1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how each property is tested; forces shown as arrows; not to scale</a:t>
            </a:r>
            <a:endParaRPr lang="en-US" sz="1000" dirty="0"/>
          </a:p>
        </p:txBody>
      </p:sp>
      <p:sp>
        <p:nvSpPr>
          <p:cNvPr id="10" name="Shape 8"/>
          <p:cNvSpPr/>
          <p:nvPr/>
        </p:nvSpPr>
        <p:spPr>
          <a:xfrm>
            <a:off x="594360" y="1325880"/>
            <a:ext cx="2514600" cy="1691640"/>
          </a:xfrm>
          <a:prstGeom prst="roundRect">
            <a:avLst>
              <a:gd name="adj" fmla="val 2703"/>
            </a:avLst>
          </a:prstGeom>
          <a:solidFill>
            <a:srgbClr val="FFFFFF"/>
          </a:solidFill>
          <a:ln w="12700">
            <a:solidFill>
              <a:srgbClr val="DDD3EC"/>
            </a:solidFill>
            <a:prstDash val="solid"/>
          </a:ln>
        </p:spPr>
      </p:sp>
      <p:sp>
        <p:nvSpPr>
          <p:cNvPr id="11" name="Text 9"/>
          <p:cNvSpPr/>
          <p:nvPr/>
        </p:nvSpPr>
        <p:spPr>
          <a:xfrm>
            <a:off x="640080" y="1362456"/>
            <a:ext cx="2423160" cy="25603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Strength in tension</a:t>
            </a:r>
            <a:endParaRPr lang="en-US" sz="1100" dirty="0"/>
          </a:p>
        </p:txBody>
      </p:sp>
      <p:sp>
        <p:nvSpPr>
          <p:cNvPr id="12" name="Shape 10"/>
          <p:cNvSpPr/>
          <p:nvPr/>
        </p:nvSpPr>
        <p:spPr>
          <a:xfrm>
            <a:off x="3246120" y="1325880"/>
            <a:ext cx="2514600" cy="1691640"/>
          </a:xfrm>
          <a:prstGeom prst="roundRect">
            <a:avLst>
              <a:gd name="adj" fmla="val 2703"/>
            </a:avLst>
          </a:prstGeom>
          <a:solidFill>
            <a:srgbClr val="FFFFFF"/>
          </a:solidFill>
          <a:ln w="12700">
            <a:solidFill>
              <a:srgbClr val="DDD3EC"/>
            </a:solidFill>
            <a:prstDash val="solid"/>
          </a:ln>
        </p:spPr>
      </p:sp>
      <p:sp>
        <p:nvSpPr>
          <p:cNvPr id="13" name="Text 11"/>
          <p:cNvSpPr/>
          <p:nvPr/>
        </p:nvSpPr>
        <p:spPr>
          <a:xfrm>
            <a:off x="3291840" y="1362456"/>
            <a:ext cx="2423160" cy="25603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Strength in compression</a:t>
            </a:r>
            <a:endParaRPr lang="en-US" sz="1100" dirty="0"/>
          </a:p>
        </p:txBody>
      </p:sp>
      <p:sp>
        <p:nvSpPr>
          <p:cNvPr id="14" name="Shape 12"/>
          <p:cNvSpPr/>
          <p:nvPr/>
        </p:nvSpPr>
        <p:spPr>
          <a:xfrm>
            <a:off x="594360" y="3154680"/>
            <a:ext cx="2514600" cy="1691640"/>
          </a:xfrm>
          <a:prstGeom prst="roundRect">
            <a:avLst>
              <a:gd name="adj" fmla="val 2703"/>
            </a:avLst>
          </a:prstGeom>
          <a:solidFill>
            <a:srgbClr val="FFFFFF"/>
          </a:solidFill>
          <a:ln w="12700">
            <a:solidFill>
              <a:srgbClr val="DDD3EC"/>
            </a:solidFill>
            <a:prstDash val="solid"/>
          </a:ln>
        </p:spPr>
      </p:sp>
      <p:sp>
        <p:nvSpPr>
          <p:cNvPr id="15" name="Text 13"/>
          <p:cNvSpPr/>
          <p:nvPr/>
        </p:nvSpPr>
        <p:spPr>
          <a:xfrm>
            <a:off x="640080" y="3191256"/>
            <a:ext cx="2423160" cy="25603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Stiff or flexible?</a:t>
            </a:r>
            <a:endParaRPr lang="en-US" sz="1100" dirty="0"/>
          </a:p>
        </p:txBody>
      </p:sp>
      <p:sp>
        <p:nvSpPr>
          <p:cNvPr id="16" name="Shape 14"/>
          <p:cNvSpPr/>
          <p:nvPr/>
        </p:nvSpPr>
        <p:spPr>
          <a:xfrm>
            <a:off x="3246120" y="3154680"/>
            <a:ext cx="2514600" cy="1691640"/>
          </a:xfrm>
          <a:prstGeom prst="roundRect">
            <a:avLst>
              <a:gd name="adj" fmla="val 2703"/>
            </a:avLst>
          </a:prstGeom>
          <a:solidFill>
            <a:srgbClr val="FFFFFF"/>
          </a:solidFill>
          <a:ln w="12700">
            <a:solidFill>
              <a:srgbClr val="DDD3EC"/>
            </a:solidFill>
            <a:prstDash val="solid"/>
          </a:ln>
        </p:spPr>
      </p:sp>
      <p:sp>
        <p:nvSpPr>
          <p:cNvPr id="17" name="Text 15"/>
          <p:cNvSpPr/>
          <p:nvPr/>
        </p:nvSpPr>
        <p:spPr>
          <a:xfrm>
            <a:off x="3291840" y="3191256"/>
            <a:ext cx="2423160" cy="25603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Hard or brittle?</a:t>
            </a:r>
            <a:endParaRPr lang="en-US" sz="1100" dirty="0"/>
          </a:p>
        </p:txBody>
      </p:sp>
      <p:sp>
        <p:nvSpPr>
          <p:cNvPr id="18" name="Shape 16"/>
          <p:cNvSpPr/>
          <p:nvPr/>
        </p:nvSpPr>
        <p:spPr>
          <a:xfrm>
            <a:off x="1234440" y="1965960"/>
            <a:ext cx="1234440" cy="292608"/>
          </a:xfrm>
          <a:prstGeom prst="rect">
            <a:avLst/>
          </a:prstGeom>
          <a:solidFill>
            <a:srgbClr val="B8C2D0"/>
          </a:solidFill>
          <a:ln w="12700">
            <a:solidFill>
              <a:srgbClr val="5A6478"/>
            </a:solidFill>
            <a:prstDash val="solid"/>
          </a:ln>
        </p:spPr>
      </p:sp>
      <p:sp>
        <p:nvSpPr>
          <p:cNvPr id="19" name="Shape 17"/>
          <p:cNvSpPr/>
          <p:nvPr/>
        </p:nvSpPr>
        <p:spPr>
          <a:xfrm flipH="1">
            <a:off x="731520" y="2112264"/>
            <a:ext cx="502920" cy="91"/>
          </a:xfrm>
          <a:prstGeom prst="line">
            <a:avLst/>
          </a:prstGeom>
          <a:noFill/>
          <a:ln w="31750">
            <a:solidFill>
              <a:srgbClr val="C8414C"/>
            </a:solidFill>
            <a:prstDash val="solid"/>
            <a:tailEnd type="triangle"/>
          </a:ln>
        </p:spPr>
      </p:sp>
      <p:sp>
        <p:nvSpPr>
          <p:cNvPr id="20" name="Shape 18"/>
          <p:cNvSpPr/>
          <p:nvPr/>
        </p:nvSpPr>
        <p:spPr>
          <a:xfrm>
            <a:off x="2468880" y="2112264"/>
            <a:ext cx="502920" cy="91"/>
          </a:xfrm>
          <a:prstGeom prst="line">
            <a:avLst/>
          </a:prstGeom>
          <a:noFill/>
          <a:ln w="31750">
            <a:solidFill>
              <a:srgbClr val="C8414C"/>
            </a:solidFill>
            <a:prstDash val="solid"/>
            <a:tailEnd type="triangle"/>
          </a:ln>
        </p:spPr>
      </p:sp>
      <p:sp>
        <p:nvSpPr>
          <p:cNvPr id="21" name="Text 19"/>
          <p:cNvSpPr/>
          <p:nvPr/>
        </p:nvSpPr>
        <p:spPr>
          <a:xfrm>
            <a:off x="640080" y="2377440"/>
            <a:ext cx="242316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pulled: does it </a:t>
            </a:r>
            <a:r>
              <a:rPr lang="en-US" sz="1000" b="1" dirty="0">
                <a:solidFill>
                  <a:srgbClr val="262B3A"/>
                </a:solidFill>
                <a:latin typeface="Calibri" pitchFamily="34" charset="0"/>
                <a:ea typeface="Calibri" pitchFamily="34" charset="-122"/>
                <a:cs typeface="Calibri" pitchFamily="34" charset="-120"/>
              </a:rPr>
              <a:t>snap</a:t>
            </a:r>
            <a:r>
              <a:rPr lang="en-US" sz="1000" dirty="0">
                <a:solidFill>
                  <a:srgbClr val="262B3A"/>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640080" y="2606040"/>
            <a:ext cx="24231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e.g. rope, cable, bridge wire</a:t>
            </a:r>
            <a:endParaRPr lang="en-US" sz="1000" dirty="0"/>
          </a:p>
        </p:txBody>
      </p:sp>
      <p:sp>
        <p:nvSpPr>
          <p:cNvPr id="23" name="Shape 21"/>
          <p:cNvSpPr/>
          <p:nvPr/>
        </p:nvSpPr>
        <p:spPr>
          <a:xfrm>
            <a:off x="4160520" y="1783080"/>
            <a:ext cx="685800" cy="566928"/>
          </a:xfrm>
          <a:prstGeom prst="rect">
            <a:avLst/>
          </a:prstGeom>
          <a:solidFill>
            <a:srgbClr val="D9B48A"/>
          </a:solidFill>
          <a:ln w="12700">
            <a:solidFill>
              <a:srgbClr val="8A5530"/>
            </a:solidFill>
            <a:prstDash val="solid"/>
          </a:ln>
        </p:spPr>
      </p:sp>
      <p:sp>
        <p:nvSpPr>
          <p:cNvPr id="24" name="Shape 22"/>
          <p:cNvSpPr/>
          <p:nvPr/>
        </p:nvSpPr>
        <p:spPr>
          <a:xfrm>
            <a:off x="4498848" y="1600200"/>
            <a:ext cx="91" cy="164592"/>
          </a:xfrm>
          <a:prstGeom prst="line">
            <a:avLst/>
          </a:prstGeom>
          <a:noFill/>
          <a:ln w="31750">
            <a:solidFill>
              <a:srgbClr val="C8414C"/>
            </a:solidFill>
            <a:prstDash val="solid"/>
            <a:tailEnd type="triangle"/>
          </a:ln>
        </p:spPr>
      </p:sp>
      <p:sp>
        <p:nvSpPr>
          <p:cNvPr id="25" name="Shape 23"/>
          <p:cNvSpPr/>
          <p:nvPr/>
        </p:nvSpPr>
        <p:spPr>
          <a:xfrm flipV="1">
            <a:off x="4498848" y="2368296"/>
            <a:ext cx="91" cy="182880"/>
          </a:xfrm>
          <a:prstGeom prst="line">
            <a:avLst/>
          </a:prstGeom>
          <a:noFill/>
          <a:ln w="31750">
            <a:solidFill>
              <a:srgbClr val="C8414C"/>
            </a:solidFill>
            <a:prstDash val="solid"/>
            <a:tailEnd type="triangle"/>
          </a:ln>
        </p:spPr>
      </p:sp>
      <p:sp>
        <p:nvSpPr>
          <p:cNvPr id="26" name="Text 24"/>
          <p:cNvSpPr/>
          <p:nvPr/>
        </p:nvSpPr>
        <p:spPr>
          <a:xfrm>
            <a:off x="3291840" y="2578608"/>
            <a:ext cx="2423160" cy="36576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squashed: does it </a:t>
            </a:r>
            <a:r>
              <a:rPr lang="en-US" sz="1000" b="1" dirty="0">
                <a:solidFill>
                  <a:srgbClr val="262B3A"/>
                </a:solidFill>
                <a:latin typeface="Calibri" pitchFamily="34" charset="0"/>
                <a:ea typeface="Calibri" pitchFamily="34" charset="-122"/>
                <a:cs typeface="Calibri" pitchFamily="34" charset="-120"/>
              </a:rPr>
              <a:t>crush</a:t>
            </a:r>
            <a:r>
              <a:rPr lang="en-US" sz="1000" dirty="0">
                <a:solidFill>
                  <a:srgbClr val="262B3A"/>
                </a:solidFill>
                <a:latin typeface="Calibri" pitchFamily="34" charset="0"/>
                <a:ea typeface="Calibri" pitchFamily="34" charset="-122"/>
                <a:cs typeface="Calibri" pitchFamily="34" charset="-120"/>
              </a:rPr>
              <a:t>? e.g. pillar, brick</a:t>
            </a:r>
            <a:endParaRPr lang="en-US" sz="1000" dirty="0"/>
          </a:p>
        </p:txBody>
      </p:sp>
      <p:sp>
        <p:nvSpPr>
          <p:cNvPr id="27" name="Shape 25"/>
          <p:cNvSpPr/>
          <p:nvPr/>
        </p:nvSpPr>
        <p:spPr>
          <a:xfrm>
            <a:off x="777240" y="3520440"/>
            <a:ext cx="164592" cy="685800"/>
          </a:xfrm>
          <a:prstGeom prst="rect">
            <a:avLst/>
          </a:prstGeom>
          <a:solidFill>
            <a:srgbClr val="9AA3B0"/>
          </a:solidFill>
          <a:ln w="12700">
            <a:solidFill>
              <a:srgbClr val="5A6478"/>
            </a:solidFill>
            <a:prstDash val="solid"/>
          </a:ln>
        </p:spPr>
      </p:sp>
      <p:sp>
        <p:nvSpPr>
          <p:cNvPr id="28" name="Shape 26"/>
          <p:cNvSpPr/>
          <p:nvPr/>
        </p:nvSpPr>
        <p:spPr>
          <a:xfrm>
            <a:off x="941832" y="3547872"/>
            <a:ext cx="1920240" cy="91440"/>
          </a:xfrm>
          <a:prstGeom prst="rect">
            <a:avLst/>
          </a:prstGeom>
          <a:solidFill>
            <a:srgbClr val="7A8BA6"/>
          </a:solidFill>
          <a:ln w="12700">
            <a:solidFill>
              <a:srgbClr val="3E4A5E"/>
            </a:solidFill>
            <a:prstDash val="solid"/>
          </a:ln>
        </p:spPr>
      </p:sp>
      <p:sp>
        <p:nvSpPr>
          <p:cNvPr id="29" name="Shape 27"/>
          <p:cNvSpPr/>
          <p:nvPr/>
        </p:nvSpPr>
        <p:spPr>
          <a:xfrm>
            <a:off x="941832" y="3886200"/>
            <a:ext cx="704088" cy="64008"/>
          </a:xfrm>
          <a:prstGeom prst="line">
            <a:avLst/>
          </a:prstGeom>
          <a:noFill/>
          <a:ln w="38100">
            <a:solidFill>
              <a:srgbClr val="5FA463"/>
            </a:solidFill>
            <a:prstDash val="solid"/>
          </a:ln>
        </p:spPr>
      </p:sp>
      <p:sp>
        <p:nvSpPr>
          <p:cNvPr id="30" name="Shape 28"/>
          <p:cNvSpPr/>
          <p:nvPr/>
        </p:nvSpPr>
        <p:spPr>
          <a:xfrm>
            <a:off x="1645920" y="3950208"/>
            <a:ext cx="640080" cy="146304"/>
          </a:xfrm>
          <a:prstGeom prst="line">
            <a:avLst/>
          </a:prstGeom>
          <a:noFill/>
          <a:ln w="38100">
            <a:solidFill>
              <a:srgbClr val="5FA463"/>
            </a:solidFill>
            <a:prstDash val="solid"/>
          </a:ln>
        </p:spPr>
      </p:sp>
      <p:sp>
        <p:nvSpPr>
          <p:cNvPr id="31" name="Shape 29"/>
          <p:cNvSpPr/>
          <p:nvPr/>
        </p:nvSpPr>
        <p:spPr>
          <a:xfrm>
            <a:off x="2286000" y="4096512"/>
            <a:ext cx="502920" cy="201168"/>
          </a:xfrm>
          <a:prstGeom prst="line">
            <a:avLst/>
          </a:prstGeom>
          <a:noFill/>
          <a:ln w="38100">
            <a:solidFill>
              <a:srgbClr val="5FA463"/>
            </a:solidFill>
            <a:prstDash val="solid"/>
          </a:ln>
        </p:spPr>
      </p:sp>
      <p:sp>
        <p:nvSpPr>
          <p:cNvPr id="32" name="Text 30"/>
          <p:cNvSpPr/>
          <p:nvPr/>
        </p:nvSpPr>
        <p:spPr>
          <a:xfrm>
            <a:off x="1965960" y="3346704"/>
            <a:ext cx="914400" cy="182880"/>
          </a:xfrm>
          <a:prstGeom prst="rect">
            <a:avLst/>
          </a:prstGeom>
          <a:noFill/>
          <a:ln/>
        </p:spPr>
        <p:txBody>
          <a:bodyPr wrap="square" lIns="0" tIns="0" rIns="0" bIns="0" rtlCol="0" anchor="ctr"/>
          <a:lstStyle/>
          <a:p>
            <a:pPr algn="ctr" indent="0" marL="0">
              <a:buNone/>
            </a:pPr>
            <a:r>
              <a:rPr lang="en-US" sz="1000" b="1" dirty="0">
                <a:solidFill>
                  <a:srgbClr val="3E4A5E"/>
                </a:solidFill>
                <a:latin typeface="Calibri" pitchFamily="34" charset="0"/>
                <a:ea typeface="Calibri" pitchFamily="34" charset="-122"/>
                <a:cs typeface="Calibri" pitchFamily="34" charset="-120"/>
              </a:rPr>
              <a:t>stiff</a:t>
            </a:r>
            <a:endParaRPr lang="en-US" sz="1000" dirty="0"/>
          </a:p>
        </p:txBody>
      </p:sp>
      <p:sp>
        <p:nvSpPr>
          <p:cNvPr id="33" name="Text 31"/>
          <p:cNvSpPr/>
          <p:nvPr/>
        </p:nvSpPr>
        <p:spPr>
          <a:xfrm>
            <a:off x="1097280" y="4041648"/>
            <a:ext cx="914400" cy="182880"/>
          </a:xfrm>
          <a:prstGeom prst="rect">
            <a:avLst/>
          </a:prstGeom>
          <a:noFill/>
          <a:ln/>
        </p:spPr>
        <p:txBody>
          <a:bodyPr wrap="square" lIns="0" tIns="0" rIns="0" bIns="0" rtlCol="0" anchor="ctr"/>
          <a:lstStyle/>
          <a:p>
            <a:pPr algn="ctr" indent="0" marL="0">
              <a:buNone/>
            </a:pPr>
            <a:r>
              <a:rPr lang="en-US" sz="1000" b="1" dirty="0">
                <a:solidFill>
                  <a:srgbClr val="2F7A3A"/>
                </a:solidFill>
                <a:latin typeface="Calibri" pitchFamily="34" charset="0"/>
                <a:ea typeface="Calibri" pitchFamily="34" charset="-122"/>
                <a:cs typeface="Calibri" pitchFamily="34" charset="-120"/>
              </a:rPr>
              <a:t>flexible</a:t>
            </a:r>
            <a:endParaRPr lang="en-US" sz="1000" dirty="0"/>
          </a:p>
        </p:txBody>
      </p:sp>
      <p:sp>
        <p:nvSpPr>
          <p:cNvPr id="34" name="Text 32"/>
          <p:cNvSpPr/>
          <p:nvPr/>
        </p:nvSpPr>
        <p:spPr>
          <a:xfrm>
            <a:off x="640080" y="4434840"/>
            <a:ext cx="2423160" cy="27432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same load: how far does it </a:t>
            </a:r>
            <a:r>
              <a:rPr lang="en-US" sz="1000" b="1" dirty="0">
                <a:solidFill>
                  <a:srgbClr val="262B3A"/>
                </a:solidFill>
                <a:latin typeface="Calibri" pitchFamily="34" charset="0"/>
                <a:ea typeface="Calibri" pitchFamily="34" charset="-122"/>
                <a:cs typeface="Calibri" pitchFamily="34" charset="-120"/>
              </a:rPr>
              <a:t>bend</a:t>
            </a:r>
            <a:r>
              <a:rPr lang="en-US" sz="1000" dirty="0">
                <a:solidFill>
                  <a:srgbClr val="262B3A"/>
                </a:solidFill>
                <a:latin typeface="Calibri" pitchFamily="34" charset="0"/>
                <a:ea typeface="Calibri" pitchFamily="34" charset="-122"/>
                <a:cs typeface="Calibri" pitchFamily="34" charset="-120"/>
              </a:rPr>
              <a:t>?</a:t>
            </a:r>
            <a:endParaRPr lang="en-US" sz="1000" dirty="0"/>
          </a:p>
        </p:txBody>
      </p:sp>
      <p:sp>
        <p:nvSpPr>
          <p:cNvPr id="35" name="Shape 33"/>
          <p:cNvSpPr/>
          <p:nvPr/>
        </p:nvSpPr>
        <p:spPr>
          <a:xfrm>
            <a:off x="3520440" y="3749040"/>
            <a:ext cx="731520" cy="91"/>
          </a:xfrm>
          <a:prstGeom prst="line">
            <a:avLst/>
          </a:prstGeom>
          <a:noFill/>
          <a:ln w="50800">
            <a:solidFill>
              <a:srgbClr val="6B7385"/>
            </a:solidFill>
            <a:prstDash val="solid"/>
          </a:ln>
        </p:spPr>
      </p:sp>
      <p:sp>
        <p:nvSpPr>
          <p:cNvPr id="36" name="Shape 34"/>
          <p:cNvSpPr/>
          <p:nvPr/>
        </p:nvSpPr>
        <p:spPr>
          <a:xfrm flipH="1">
            <a:off x="3886200" y="3566160"/>
            <a:ext cx="320040" cy="182880"/>
          </a:xfrm>
          <a:prstGeom prst="line">
            <a:avLst/>
          </a:prstGeom>
          <a:noFill/>
          <a:ln w="25400">
            <a:solidFill>
              <a:srgbClr val="2A1F3D"/>
            </a:solidFill>
            <a:prstDash val="solid"/>
          </a:ln>
        </p:spPr>
      </p:sp>
      <p:sp>
        <p:nvSpPr>
          <p:cNvPr id="37" name="Text 35"/>
          <p:cNvSpPr/>
          <p:nvPr/>
        </p:nvSpPr>
        <p:spPr>
          <a:xfrm>
            <a:off x="3337560" y="3840480"/>
            <a:ext cx="109728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scratch test</a:t>
            </a:r>
            <a:endParaRPr lang="en-US" sz="1000" dirty="0"/>
          </a:p>
        </p:txBody>
      </p:sp>
      <p:sp>
        <p:nvSpPr>
          <p:cNvPr id="38" name="Shape 36"/>
          <p:cNvSpPr/>
          <p:nvPr/>
        </p:nvSpPr>
        <p:spPr>
          <a:xfrm>
            <a:off x="4572000" y="3611880"/>
            <a:ext cx="502920" cy="228600"/>
          </a:xfrm>
          <a:prstGeom prst="rect">
            <a:avLst/>
          </a:prstGeom>
          <a:solidFill>
            <a:srgbClr val="CFE7F5"/>
          </a:solidFill>
          <a:ln w="12700">
            <a:solidFill>
              <a:srgbClr val="5B9BD5"/>
            </a:solidFill>
            <a:prstDash val="solid"/>
          </a:ln>
        </p:spPr>
      </p:sp>
      <p:sp>
        <p:nvSpPr>
          <p:cNvPr id="39" name="Shape 37"/>
          <p:cNvSpPr/>
          <p:nvPr/>
        </p:nvSpPr>
        <p:spPr>
          <a:xfrm rot="1080000">
            <a:off x="5138928" y="3675888"/>
            <a:ext cx="457200" cy="228600"/>
          </a:xfrm>
          <a:prstGeom prst="rect">
            <a:avLst/>
          </a:prstGeom>
          <a:solidFill>
            <a:srgbClr val="CFE7F5"/>
          </a:solidFill>
          <a:ln w="12700">
            <a:solidFill>
              <a:srgbClr val="5B9BD5"/>
            </a:solidFill>
            <a:prstDash val="solid"/>
          </a:ln>
        </p:spPr>
      </p:sp>
      <p:sp>
        <p:nvSpPr>
          <p:cNvPr id="40" name="Text 38"/>
          <p:cNvSpPr/>
          <p:nvPr/>
        </p:nvSpPr>
        <p:spPr>
          <a:xfrm>
            <a:off x="4526280" y="3931920"/>
            <a:ext cx="1188720" cy="36576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snaps with no bending: </a:t>
            </a:r>
            <a:r>
              <a:rPr lang="en-US" sz="1000" b="1" dirty="0">
                <a:solidFill>
                  <a:srgbClr val="262B3A"/>
                </a:solidFill>
                <a:latin typeface="Calibri" pitchFamily="34" charset="0"/>
                <a:ea typeface="Calibri" pitchFamily="34" charset="-122"/>
                <a:cs typeface="Calibri" pitchFamily="34" charset="-120"/>
              </a:rPr>
              <a:t>brittle</a:t>
            </a:r>
            <a:endParaRPr lang="en-US" sz="1000" dirty="0"/>
          </a:p>
        </p:txBody>
      </p:sp>
      <p:sp>
        <p:nvSpPr>
          <p:cNvPr id="41" name="Text 39"/>
          <p:cNvSpPr/>
          <p:nvPr/>
        </p:nvSpPr>
        <p:spPr>
          <a:xfrm>
            <a:off x="3291840" y="4434840"/>
            <a:ext cx="2423160" cy="27432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opposite of brittle: </a:t>
            </a:r>
            <a:r>
              <a:rPr lang="en-US" sz="1000" b="1" dirty="0">
                <a:solidFill>
                  <a:srgbClr val="262B3A"/>
                </a:solidFill>
                <a:latin typeface="Calibri" pitchFamily="34" charset="0"/>
                <a:ea typeface="Calibri" pitchFamily="34" charset="-122"/>
                <a:cs typeface="Calibri" pitchFamily="34" charset="-120"/>
              </a:rPr>
              <a:t>tough</a:t>
            </a:r>
            <a:endParaRPr lang="en-US" sz="1000" dirty="0"/>
          </a:p>
        </p:txBody>
      </p:sp>
      <p:sp>
        <p:nvSpPr>
          <p:cNvPr id="42" name="Shape 40"/>
          <p:cNvSpPr/>
          <p:nvPr/>
        </p:nvSpPr>
        <p:spPr>
          <a:xfrm>
            <a:off x="6217920" y="1188720"/>
            <a:ext cx="5559552" cy="2971800"/>
          </a:xfrm>
          <a:prstGeom prst="roundRect">
            <a:avLst>
              <a:gd name="adj" fmla="val 1846"/>
            </a:avLst>
          </a:prstGeom>
          <a:solidFill>
            <a:srgbClr val="F8F5FC"/>
          </a:solidFill>
          <a:ln w="9525">
            <a:solidFill>
              <a:srgbClr val="DDD3EC"/>
            </a:solidFill>
            <a:prstDash val="solid"/>
          </a:ln>
        </p:spPr>
      </p:sp>
      <p:sp>
        <p:nvSpPr>
          <p:cNvPr id="43" name="Text 41"/>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Property words</a:t>
            </a:r>
            <a:endParaRPr lang="en-US" sz="1300" dirty="0"/>
          </a:p>
        </p:txBody>
      </p:sp>
      <p:sp>
        <p:nvSpPr>
          <p:cNvPr id="44" name="Text 42"/>
          <p:cNvSpPr/>
          <p:nvPr/>
        </p:nvSpPr>
        <p:spPr>
          <a:xfrm>
            <a:off x="6382512" y="1609344"/>
            <a:ext cx="5230368" cy="24780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Strength</a:t>
            </a:r>
            <a:r>
              <a:rPr lang="en-US" sz="1100" dirty="0">
                <a:solidFill>
                  <a:srgbClr val="262B3A"/>
                </a:solidFill>
                <a:latin typeface="Calibri" pitchFamily="34" charset="0"/>
                <a:ea typeface="Calibri" pitchFamily="34" charset="-122"/>
                <a:cs typeface="Calibri" pitchFamily="34" charset="-120"/>
              </a:rPr>
              <a:t>: the force needed to break it. </a:t>
            </a:r>
            <a:r>
              <a:rPr lang="en-US" sz="1100" b="1" dirty="0">
                <a:solidFill>
                  <a:srgbClr val="262B3A"/>
                </a:solidFill>
                <a:latin typeface="Calibri" pitchFamily="34" charset="0"/>
                <a:ea typeface="Calibri" pitchFamily="34" charset="-122"/>
                <a:cs typeface="Calibri" pitchFamily="34" charset="-120"/>
              </a:rPr>
              <a:t>Tension</a:t>
            </a:r>
            <a:r>
              <a:rPr lang="en-US" sz="1100" dirty="0">
                <a:solidFill>
                  <a:srgbClr val="262B3A"/>
                </a:solidFill>
                <a:latin typeface="Calibri" pitchFamily="34" charset="0"/>
                <a:ea typeface="Calibri" pitchFamily="34" charset="-122"/>
                <a:cs typeface="Calibri" pitchFamily="34" charset="-120"/>
              </a:rPr>
              <a:t> = pulling; </a:t>
            </a:r>
            <a:r>
              <a:rPr lang="en-US" sz="1100" b="1" dirty="0">
                <a:solidFill>
                  <a:srgbClr val="262B3A"/>
                </a:solidFill>
                <a:latin typeface="Calibri" pitchFamily="34" charset="0"/>
                <a:ea typeface="Calibri" pitchFamily="34" charset="-122"/>
                <a:cs typeface="Calibri" pitchFamily="34" charset="-120"/>
              </a:rPr>
              <a:t>compression</a:t>
            </a:r>
            <a:r>
              <a:rPr lang="en-US" sz="1100" dirty="0">
                <a:solidFill>
                  <a:srgbClr val="262B3A"/>
                </a:solidFill>
                <a:latin typeface="Calibri" pitchFamily="34" charset="0"/>
                <a:ea typeface="Calibri" pitchFamily="34" charset="-122"/>
                <a:cs typeface="Calibri" pitchFamily="34" charset="-120"/>
              </a:rPr>
              <a:t> = squashing.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Stiffness</a:t>
            </a:r>
            <a:r>
              <a:rPr lang="en-US" sz="1100" dirty="0">
                <a:solidFill>
                  <a:srgbClr val="262B3A"/>
                </a:solidFill>
                <a:latin typeface="Calibri" pitchFamily="34" charset="0"/>
                <a:ea typeface="Calibri" pitchFamily="34" charset="-122"/>
                <a:cs typeface="Calibri" pitchFamily="34" charset="-120"/>
              </a:rPr>
              <a:t>: how hard it is to bend or stretch. Opposite: </a:t>
            </a:r>
            <a:r>
              <a:rPr lang="en-US" sz="1100" b="1" dirty="0">
                <a:solidFill>
                  <a:srgbClr val="262B3A"/>
                </a:solidFill>
                <a:latin typeface="Calibri" pitchFamily="34" charset="0"/>
                <a:ea typeface="Calibri" pitchFamily="34" charset="-122"/>
                <a:cs typeface="Calibri" pitchFamily="34" charset="-120"/>
              </a:rPr>
              <a:t>flexible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Hardness</a:t>
            </a:r>
            <a:r>
              <a:rPr lang="en-US" sz="1100" dirty="0">
                <a:solidFill>
                  <a:srgbClr val="262B3A"/>
                </a:solidFill>
                <a:latin typeface="Calibri" pitchFamily="34" charset="0"/>
                <a:ea typeface="Calibri" pitchFamily="34" charset="-122"/>
                <a:cs typeface="Calibri" pitchFamily="34" charset="-120"/>
              </a:rPr>
              <a:t>: how hard it is to scratch or dent. </a:t>
            </a:r>
            <a:r>
              <a:rPr lang="en-US" sz="1100" b="1" dirty="0">
                <a:solidFill>
                  <a:srgbClr val="262B3A"/>
                </a:solidFill>
                <a:latin typeface="Calibri" pitchFamily="34" charset="0"/>
                <a:ea typeface="Calibri" pitchFamily="34" charset="-122"/>
                <a:cs typeface="Calibri" pitchFamily="34" charset="-120"/>
              </a:rPr>
              <a:t>Brittle</a:t>
            </a:r>
            <a:r>
              <a:rPr lang="en-US" sz="1100" dirty="0">
                <a:solidFill>
                  <a:srgbClr val="262B3A"/>
                </a:solidFill>
                <a:latin typeface="Calibri" pitchFamily="34" charset="0"/>
                <a:ea typeface="Calibri" pitchFamily="34" charset="-122"/>
                <a:cs typeface="Calibri" pitchFamily="34" charset="-120"/>
              </a:rPr>
              <a:t>: breaks suddenly without bending.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Density</a:t>
            </a:r>
            <a:r>
              <a:rPr lang="en-US" sz="1100" dirty="0">
                <a:solidFill>
                  <a:srgbClr val="262B3A"/>
                </a:solidFill>
                <a:latin typeface="Calibri" pitchFamily="34" charset="0"/>
                <a:ea typeface="Calibri" pitchFamily="34" charset="-122"/>
                <a:cs typeface="Calibri" pitchFamily="34" charset="-120"/>
              </a:rPr>
              <a:t>: mass per unit volume (g/cm³). </a:t>
            </a:r>
            <a:r>
              <a:rPr lang="en-US" sz="1100" b="1" dirty="0">
                <a:solidFill>
                  <a:srgbClr val="262B3A"/>
                </a:solidFill>
                <a:latin typeface="Calibri" pitchFamily="34" charset="0"/>
                <a:ea typeface="Calibri" pitchFamily="34" charset="-122"/>
                <a:cs typeface="Calibri" pitchFamily="34" charset="-120"/>
              </a:rPr>
              <a:t>Melting point</a:t>
            </a:r>
            <a:r>
              <a:rPr lang="en-US" sz="1100" dirty="0">
                <a:solidFill>
                  <a:srgbClr val="262B3A"/>
                </a:solidFill>
                <a:latin typeface="Calibri" pitchFamily="34" charset="0"/>
                <a:ea typeface="Calibri" pitchFamily="34" charset="-122"/>
                <a:cs typeface="Calibri" pitchFamily="34" charset="-120"/>
              </a:rPr>
              <a:t>; polymers have a </a:t>
            </a:r>
            <a:r>
              <a:rPr lang="en-US" sz="1100" b="1" dirty="0">
                <a:solidFill>
                  <a:srgbClr val="262B3A"/>
                </a:solidFill>
                <a:latin typeface="Calibri" pitchFamily="34" charset="0"/>
                <a:ea typeface="Calibri" pitchFamily="34" charset="-122"/>
                <a:cs typeface="Calibri" pitchFamily="34" charset="-120"/>
              </a:rPr>
              <a:t>softening temperature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Electrical conductivity</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ease of reshaping</a:t>
            </a:r>
            <a:r>
              <a:rPr lang="en-US" sz="1100" dirty="0">
                <a:solidFill>
                  <a:srgbClr val="262B3A"/>
                </a:solidFill>
                <a:latin typeface="Calibri" pitchFamily="34" charset="0"/>
                <a:ea typeface="Calibri" pitchFamily="34" charset="-122"/>
                <a:cs typeface="Calibri" pitchFamily="34" charset="-120"/>
              </a:rPr>
              <a:t> (can it be bent, rolled or moulded?).</a:t>
            </a:r>
            <a:endParaRPr lang="en-US" sz="1100" dirty="0"/>
          </a:p>
        </p:txBody>
      </p:sp>
      <p:sp>
        <p:nvSpPr>
          <p:cNvPr id="45" name="Shape 43"/>
          <p:cNvSpPr/>
          <p:nvPr/>
        </p:nvSpPr>
        <p:spPr>
          <a:xfrm>
            <a:off x="6217920" y="4297680"/>
            <a:ext cx="5559552" cy="1417320"/>
          </a:xfrm>
          <a:prstGeom prst="roundRect">
            <a:avLst>
              <a:gd name="adj" fmla="val 3871"/>
            </a:avLst>
          </a:prstGeom>
          <a:solidFill>
            <a:srgbClr val="FFF4E0"/>
          </a:solidFill>
          <a:ln w="9525">
            <a:solidFill>
              <a:srgbClr val="F1D9A8"/>
            </a:solidFill>
            <a:prstDash val="solid"/>
          </a:ln>
        </p:spPr>
      </p:sp>
      <p:sp>
        <p:nvSpPr>
          <p:cNvPr id="46" name="Text 44"/>
          <p:cNvSpPr/>
          <p:nvPr/>
        </p:nvSpPr>
        <p:spPr>
          <a:xfrm>
            <a:off x="6382512" y="43708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tension or compression?</a:t>
            </a:r>
            <a:endParaRPr lang="en-US" sz="1300" dirty="0"/>
          </a:p>
        </p:txBody>
      </p:sp>
      <p:sp>
        <p:nvSpPr>
          <p:cNvPr id="47" name="Text 45"/>
          <p:cNvSpPr/>
          <p:nvPr/>
        </p:nvSpPr>
        <p:spPr>
          <a:xfrm>
            <a:off x="6382512" y="4681728"/>
            <a:ext cx="5230368"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Concrete: strength in compression 30 MPa; in tension 3 MPa.</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Ratio   </a:t>
            </a:r>
            <a:r>
              <a:rPr lang="en-US" sz="1050" dirty="0">
                <a:solidFill>
                  <a:srgbClr val="262B3A"/>
                </a:solidFill>
                <a:latin typeface="Calibri" pitchFamily="34" charset="0"/>
                <a:ea typeface="Calibri" pitchFamily="34" charset="-122"/>
                <a:cs typeface="Calibri" pitchFamily="34" charset="-120"/>
              </a:rPr>
              <a:t>30 ÷ 3 = 10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10 times</a:t>
            </a:r>
            <a:r>
              <a:rPr lang="en-US" sz="1050" b="1" dirty="0">
                <a:solidFill>
                  <a:srgbClr val="C8414C"/>
                </a:solidFill>
                <a:latin typeface="Calibri" pitchFamily="34" charset="0"/>
                <a:ea typeface="Calibri" pitchFamily="34" charset="-122"/>
                <a:cs typeface="Calibri" pitchFamily="34" charset="-120"/>
              </a:rPr>
              <a:t> stronger when squashed than when pulled</a:t>
            </a:r>
            <a:endParaRPr lang="en-US" sz="105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What is the difference between </a:t>
            </a:r>
            <a:r>
              <a:rPr lang="en-US" sz="1150" b="1" dirty="0">
                <a:solidFill>
                  <a:srgbClr val="262B3A"/>
                </a:solidFill>
                <a:latin typeface="Calibri" pitchFamily="34" charset="0"/>
                <a:ea typeface="Calibri" pitchFamily="34" charset="-122"/>
                <a:cs typeface="Calibri" pitchFamily="34" charset="-120"/>
              </a:rPr>
              <a:t>hard</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tough</a:t>
            </a:r>
            <a:r>
              <a:rPr lang="en-US" sz="1150" dirty="0">
                <a:solidFill>
                  <a:srgbClr val="262B3A"/>
                </a:solidFill>
                <a:latin typeface="Calibri" pitchFamily="34" charset="0"/>
                <a:ea typeface="Calibri" pitchFamily="34" charset="-122"/>
                <a:cs typeface="Calibri" pitchFamily="34" charset="-120"/>
              </a:rPr>
              <a:t>? Glass: compression 1000 MPa, tension 50 MPa. How many times stronger in compression?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families and properties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four</a:t>
            </a:r>
            <a:r>
              <a:rPr lang="en-US" sz="1250" dirty="0">
                <a:solidFill>
                  <a:srgbClr val="262B3A"/>
                </a:solidFill>
                <a:latin typeface="Calibri" pitchFamily="34" charset="0"/>
                <a:ea typeface="Calibri" pitchFamily="34" charset="-122"/>
                <a:cs typeface="Calibri" pitchFamily="34" charset="-120"/>
              </a:rPr>
              <a:t> families of materials and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 of each.</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is meant by a </a:t>
            </a:r>
            <a:r>
              <a:rPr lang="en-US" sz="1250" b="1" dirty="0">
                <a:solidFill>
                  <a:srgbClr val="262B3A"/>
                </a:solidFill>
                <a:latin typeface="Calibri" pitchFamily="34" charset="0"/>
                <a:ea typeface="Calibri" pitchFamily="34" charset="-122"/>
                <a:cs typeface="Calibri" pitchFamily="34" charset="-120"/>
              </a:rPr>
              <a:t>brittle</a:t>
            </a:r>
            <a:r>
              <a:rPr lang="en-US" sz="1250" dirty="0">
                <a:solidFill>
                  <a:srgbClr val="262B3A"/>
                </a:solidFill>
                <a:latin typeface="Calibri" pitchFamily="34" charset="0"/>
                <a:ea typeface="Calibri" pitchFamily="34" charset="-122"/>
                <a:cs typeface="Calibri" pitchFamily="34" charset="-120"/>
              </a:rPr>
              <a:t> material.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sample has mass </a:t>
            </a:r>
            <a:r>
              <a:rPr lang="en-US" sz="1250" b="1" dirty="0">
                <a:solidFill>
                  <a:srgbClr val="262B3A"/>
                </a:solidFill>
                <a:latin typeface="Calibri" pitchFamily="34" charset="0"/>
                <a:ea typeface="Calibri" pitchFamily="34" charset="-122"/>
                <a:cs typeface="Calibri" pitchFamily="34" charset="-120"/>
              </a:rPr>
              <a:t>31.2 g</a:t>
            </a:r>
            <a:r>
              <a:rPr lang="en-US" sz="1250" dirty="0">
                <a:solidFill>
                  <a:srgbClr val="262B3A"/>
                </a:solidFill>
                <a:latin typeface="Calibri" pitchFamily="34" charset="0"/>
                <a:ea typeface="Calibri" pitchFamily="34" charset="-122"/>
                <a:cs typeface="Calibri" pitchFamily="34" charset="-120"/>
              </a:rPr>
              <a:t> and volume </a:t>
            </a:r>
            <a:r>
              <a:rPr lang="en-US" sz="1250" b="1" dirty="0">
                <a:solidFill>
                  <a:srgbClr val="262B3A"/>
                </a:solidFill>
                <a:latin typeface="Calibri" pitchFamily="34" charset="0"/>
                <a:ea typeface="Calibri" pitchFamily="34" charset="-122"/>
                <a:cs typeface="Calibri" pitchFamily="34" charset="-120"/>
              </a:rPr>
              <a:t>4.0 cm³</a:t>
            </a:r>
            <a:r>
              <a:rPr lang="en-US" sz="1250" dirty="0">
                <a:solidFill>
                  <a:srgbClr val="262B3A"/>
                </a:solidFill>
                <a:latin typeface="Calibri" pitchFamily="34" charset="0"/>
                <a:ea typeface="Calibri" pitchFamily="34" charset="-122"/>
                <a:cs typeface="Calibri" pitchFamily="34" charset="-120"/>
              </a:rPr>
              <a:t>. Calculate its density.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concrete beams are </a:t>
            </a:r>
            <a:r>
              <a:rPr lang="en-US" sz="1250" b="1" dirty="0">
                <a:solidFill>
                  <a:srgbClr val="262B3A"/>
                </a:solidFill>
                <a:latin typeface="Calibri" pitchFamily="34" charset="0"/>
                <a:ea typeface="Calibri" pitchFamily="34" charset="-122"/>
                <a:cs typeface="Calibri" pitchFamily="34" charset="-120"/>
              </a:rPr>
              <a:t>reinforced</a:t>
            </a:r>
            <a:r>
              <a:rPr lang="en-US" sz="1250" dirty="0">
                <a:solidFill>
                  <a:srgbClr val="262B3A"/>
                </a:solidFill>
                <a:latin typeface="Calibri" pitchFamily="34" charset="0"/>
                <a:ea typeface="Calibri" pitchFamily="34" charset="-122"/>
                <a:cs typeface="Calibri" pitchFamily="34" charset="-120"/>
              </a:rPr>
              <a:t> with steel bars along the bottom, where they are stretched.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Comparing materials with data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quantitative comparison of the four families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C4.1.1  |  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bar chart drawn to scale from the table (typical values, rounded)</a:t>
            </a:r>
            <a:endParaRPr lang="en-US" sz="1000" dirty="0"/>
          </a:p>
        </p:txBody>
      </p:sp>
      <p:sp>
        <p:nvSpPr>
          <p:cNvPr id="10" name="Shape 8"/>
          <p:cNvSpPr/>
          <p:nvPr/>
        </p:nvSpPr>
        <p:spPr>
          <a:xfrm>
            <a:off x="1234440" y="1417320"/>
            <a:ext cx="4572000" cy="2606040"/>
          </a:xfrm>
          <a:prstGeom prst="rect">
            <a:avLst/>
          </a:prstGeom>
          <a:solidFill>
            <a:srgbClr val="FFFFFF"/>
          </a:solidFill>
          <a:ln/>
        </p:spPr>
      </p:sp>
      <p:sp>
        <p:nvSpPr>
          <p:cNvPr id="11" name="Shape 9"/>
          <p:cNvSpPr/>
          <p:nvPr/>
        </p:nvSpPr>
        <p:spPr>
          <a:xfrm>
            <a:off x="1234440" y="1417320"/>
            <a:ext cx="91" cy="2606040"/>
          </a:xfrm>
          <a:prstGeom prst="line">
            <a:avLst/>
          </a:prstGeom>
          <a:noFill/>
          <a:ln w="6350">
            <a:solidFill>
              <a:srgbClr val="D6CBE8"/>
            </a:solidFill>
            <a:prstDash val="solid"/>
          </a:ln>
        </p:spPr>
      </p:sp>
      <p:sp>
        <p:nvSpPr>
          <p:cNvPr id="12" name="Shape 10"/>
          <p:cNvSpPr/>
          <p:nvPr/>
        </p:nvSpPr>
        <p:spPr>
          <a:xfrm>
            <a:off x="1520190" y="1417320"/>
            <a:ext cx="91" cy="2606040"/>
          </a:xfrm>
          <a:prstGeom prst="line">
            <a:avLst/>
          </a:prstGeom>
          <a:noFill/>
          <a:ln w="6350">
            <a:solidFill>
              <a:srgbClr val="EEE9F6"/>
            </a:solidFill>
            <a:prstDash val="solid"/>
          </a:ln>
        </p:spPr>
      </p:sp>
      <p:sp>
        <p:nvSpPr>
          <p:cNvPr id="13" name="Shape 11"/>
          <p:cNvSpPr/>
          <p:nvPr/>
        </p:nvSpPr>
        <p:spPr>
          <a:xfrm>
            <a:off x="1805940" y="1417320"/>
            <a:ext cx="91" cy="2606040"/>
          </a:xfrm>
          <a:prstGeom prst="line">
            <a:avLst/>
          </a:prstGeom>
          <a:noFill/>
          <a:ln w="6350">
            <a:solidFill>
              <a:srgbClr val="D6CBE8"/>
            </a:solidFill>
            <a:prstDash val="solid"/>
          </a:ln>
        </p:spPr>
      </p:sp>
      <p:sp>
        <p:nvSpPr>
          <p:cNvPr id="14" name="Shape 12"/>
          <p:cNvSpPr/>
          <p:nvPr/>
        </p:nvSpPr>
        <p:spPr>
          <a:xfrm>
            <a:off x="2091690" y="1417320"/>
            <a:ext cx="91" cy="2606040"/>
          </a:xfrm>
          <a:prstGeom prst="line">
            <a:avLst/>
          </a:prstGeom>
          <a:noFill/>
          <a:ln w="6350">
            <a:solidFill>
              <a:srgbClr val="EEE9F6"/>
            </a:solidFill>
            <a:prstDash val="solid"/>
          </a:ln>
        </p:spPr>
      </p:sp>
      <p:sp>
        <p:nvSpPr>
          <p:cNvPr id="15" name="Shape 13"/>
          <p:cNvSpPr/>
          <p:nvPr/>
        </p:nvSpPr>
        <p:spPr>
          <a:xfrm>
            <a:off x="2377440" y="1417320"/>
            <a:ext cx="91" cy="2606040"/>
          </a:xfrm>
          <a:prstGeom prst="line">
            <a:avLst/>
          </a:prstGeom>
          <a:noFill/>
          <a:ln w="6350">
            <a:solidFill>
              <a:srgbClr val="D6CBE8"/>
            </a:solidFill>
            <a:prstDash val="solid"/>
          </a:ln>
        </p:spPr>
      </p:sp>
      <p:sp>
        <p:nvSpPr>
          <p:cNvPr id="16" name="Shape 14"/>
          <p:cNvSpPr/>
          <p:nvPr/>
        </p:nvSpPr>
        <p:spPr>
          <a:xfrm>
            <a:off x="2663190" y="1417320"/>
            <a:ext cx="91" cy="2606040"/>
          </a:xfrm>
          <a:prstGeom prst="line">
            <a:avLst/>
          </a:prstGeom>
          <a:noFill/>
          <a:ln w="6350">
            <a:solidFill>
              <a:srgbClr val="EEE9F6"/>
            </a:solidFill>
            <a:prstDash val="solid"/>
          </a:ln>
        </p:spPr>
      </p:sp>
      <p:sp>
        <p:nvSpPr>
          <p:cNvPr id="17" name="Shape 15"/>
          <p:cNvSpPr/>
          <p:nvPr/>
        </p:nvSpPr>
        <p:spPr>
          <a:xfrm>
            <a:off x="2948940" y="1417320"/>
            <a:ext cx="91" cy="2606040"/>
          </a:xfrm>
          <a:prstGeom prst="line">
            <a:avLst/>
          </a:prstGeom>
          <a:noFill/>
          <a:ln w="6350">
            <a:solidFill>
              <a:srgbClr val="D6CBE8"/>
            </a:solidFill>
            <a:prstDash val="solid"/>
          </a:ln>
        </p:spPr>
      </p:sp>
      <p:sp>
        <p:nvSpPr>
          <p:cNvPr id="18" name="Shape 16"/>
          <p:cNvSpPr/>
          <p:nvPr/>
        </p:nvSpPr>
        <p:spPr>
          <a:xfrm>
            <a:off x="3234690" y="1417320"/>
            <a:ext cx="91" cy="2606040"/>
          </a:xfrm>
          <a:prstGeom prst="line">
            <a:avLst/>
          </a:prstGeom>
          <a:noFill/>
          <a:ln w="6350">
            <a:solidFill>
              <a:srgbClr val="EEE9F6"/>
            </a:solidFill>
            <a:prstDash val="solid"/>
          </a:ln>
        </p:spPr>
      </p:sp>
      <p:sp>
        <p:nvSpPr>
          <p:cNvPr id="19" name="Shape 17"/>
          <p:cNvSpPr/>
          <p:nvPr/>
        </p:nvSpPr>
        <p:spPr>
          <a:xfrm>
            <a:off x="3520440" y="1417320"/>
            <a:ext cx="91" cy="2606040"/>
          </a:xfrm>
          <a:prstGeom prst="line">
            <a:avLst/>
          </a:prstGeom>
          <a:noFill/>
          <a:ln w="6350">
            <a:solidFill>
              <a:srgbClr val="D6CBE8"/>
            </a:solidFill>
            <a:prstDash val="solid"/>
          </a:ln>
        </p:spPr>
      </p:sp>
      <p:sp>
        <p:nvSpPr>
          <p:cNvPr id="20" name="Shape 18"/>
          <p:cNvSpPr/>
          <p:nvPr/>
        </p:nvSpPr>
        <p:spPr>
          <a:xfrm>
            <a:off x="3806190" y="1417320"/>
            <a:ext cx="91" cy="2606040"/>
          </a:xfrm>
          <a:prstGeom prst="line">
            <a:avLst/>
          </a:prstGeom>
          <a:noFill/>
          <a:ln w="6350">
            <a:solidFill>
              <a:srgbClr val="EEE9F6"/>
            </a:solidFill>
            <a:prstDash val="solid"/>
          </a:ln>
        </p:spPr>
      </p:sp>
      <p:sp>
        <p:nvSpPr>
          <p:cNvPr id="21" name="Shape 19"/>
          <p:cNvSpPr/>
          <p:nvPr/>
        </p:nvSpPr>
        <p:spPr>
          <a:xfrm>
            <a:off x="4091940" y="1417320"/>
            <a:ext cx="91" cy="2606040"/>
          </a:xfrm>
          <a:prstGeom prst="line">
            <a:avLst/>
          </a:prstGeom>
          <a:noFill/>
          <a:ln w="6350">
            <a:solidFill>
              <a:srgbClr val="D6CBE8"/>
            </a:solidFill>
            <a:prstDash val="solid"/>
          </a:ln>
        </p:spPr>
      </p:sp>
      <p:sp>
        <p:nvSpPr>
          <p:cNvPr id="22" name="Shape 20"/>
          <p:cNvSpPr/>
          <p:nvPr/>
        </p:nvSpPr>
        <p:spPr>
          <a:xfrm>
            <a:off x="4377690" y="1417320"/>
            <a:ext cx="91" cy="2606040"/>
          </a:xfrm>
          <a:prstGeom prst="line">
            <a:avLst/>
          </a:prstGeom>
          <a:noFill/>
          <a:ln w="6350">
            <a:solidFill>
              <a:srgbClr val="EEE9F6"/>
            </a:solidFill>
            <a:prstDash val="solid"/>
          </a:ln>
        </p:spPr>
      </p:sp>
      <p:sp>
        <p:nvSpPr>
          <p:cNvPr id="23" name="Shape 21"/>
          <p:cNvSpPr/>
          <p:nvPr/>
        </p:nvSpPr>
        <p:spPr>
          <a:xfrm>
            <a:off x="4663440" y="1417320"/>
            <a:ext cx="91" cy="2606040"/>
          </a:xfrm>
          <a:prstGeom prst="line">
            <a:avLst/>
          </a:prstGeom>
          <a:noFill/>
          <a:ln w="6350">
            <a:solidFill>
              <a:srgbClr val="D6CBE8"/>
            </a:solidFill>
            <a:prstDash val="solid"/>
          </a:ln>
        </p:spPr>
      </p:sp>
      <p:sp>
        <p:nvSpPr>
          <p:cNvPr id="24" name="Shape 22"/>
          <p:cNvSpPr/>
          <p:nvPr/>
        </p:nvSpPr>
        <p:spPr>
          <a:xfrm>
            <a:off x="4949190" y="1417320"/>
            <a:ext cx="91" cy="2606040"/>
          </a:xfrm>
          <a:prstGeom prst="line">
            <a:avLst/>
          </a:prstGeom>
          <a:noFill/>
          <a:ln w="6350">
            <a:solidFill>
              <a:srgbClr val="EEE9F6"/>
            </a:solidFill>
            <a:prstDash val="solid"/>
          </a:ln>
        </p:spPr>
      </p:sp>
      <p:sp>
        <p:nvSpPr>
          <p:cNvPr id="25" name="Shape 23"/>
          <p:cNvSpPr/>
          <p:nvPr/>
        </p:nvSpPr>
        <p:spPr>
          <a:xfrm>
            <a:off x="5234940" y="1417320"/>
            <a:ext cx="91" cy="2606040"/>
          </a:xfrm>
          <a:prstGeom prst="line">
            <a:avLst/>
          </a:prstGeom>
          <a:noFill/>
          <a:ln w="6350">
            <a:solidFill>
              <a:srgbClr val="D6CBE8"/>
            </a:solidFill>
            <a:prstDash val="solid"/>
          </a:ln>
        </p:spPr>
      </p:sp>
      <p:sp>
        <p:nvSpPr>
          <p:cNvPr id="26" name="Shape 24"/>
          <p:cNvSpPr/>
          <p:nvPr/>
        </p:nvSpPr>
        <p:spPr>
          <a:xfrm>
            <a:off x="5520690" y="1417320"/>
            <a:ext cx="91" cy="2606040"/>
          </a:xfrm>
          <a:prstGeom prst="line">
            <a:avLst/>
          </a:prstGeom>
          <a:noFill/>
          <a:ln w="6350">
            <a:solidFill>
              <a:srgbClr val="EEE9F6"/>
            </a:solidFill>
            <a:prstDash val="solid"/>
          </a:ln>
        </p:spPr>
      </p:sp>
      <p:sp>
        <p:nvSpPr>
          <p:cNvPr id="27" name="Shape 25"/>
          <p:cNvSpPr/>
          <p:nvPr/>
        </p:nvSpPr>
        <p:spPr>
          <a:xfrm>
            <a:off x="5806440" y="1417320"/>
            <a:ext cx="91" cy="2606040"/>
          </a:xfrm>
          <a:prstGeom prst="line">
            <a:avLst/>
          </a:prstGeom>
          <a:noFill/>
          <a:ln w="6350">
            <a:solidFill>
              <a:srgbClr val="D6CBE8"/>
            </a:solidFill>
            <a:prstDash val="solid"/>
          </a:ln>
        </p:spPr>
      </p:sp>
      <p:sp>
        <p:nvSpPr>
          <p:cNvPr id="28" name="Shape 26"/>
          <p:cNvSpPr/>
          <p:nvPr/>
        </p:nvSpPr>
        <p:spPr>
          <a:xfrm>
            <a:off x="1234440" y="4023360"/>
            <a:ext cx="4572000" cy="91"/>
          </a:xfrm>
          <a:prstGeom prst="line">
            <a:avLst/>
          </a:prstGeom>
          <a:noFill/>
          <a:ln w="6350">
            <a:solidFill>
              <a:srgbClr val="D6CBE8"/>
            </a:solidFill>
            <a:prstDash val="solid"/>
          </a:ln>
        </p:spPr>
      </p:sp>
      <p:sp>
        <p:nvSpPr>
          <p:cNvPr id="29" name="Shape 27"/>
          <p:cNvSpPr/>
          <p:nvPr/>
        </p:nvSpPr>
        <p:spPr>
          <a:xfrm>
            <a:off x="1234440" y="3762756"/>
            <a:ext cx="4572000" cy="91"/>
          </a:xfrm>
          <a:prstGeom prst="line">
            <a:avLst/>
          </a:prstGeom>
          <a:noFill/>
          <a:ln w="6350">
            <a:solidFill>
              <a:srgbClr val="EEE9F6"/>
            </a:solidFill>
            <a:prstDash val="solid"/>
          </a:ln>
        </p:spPr>
      </p:sp>
      <p:sp>
        <p:nvSpPr>
          <p:cNvPr id="30" name="Shape 28"/>
          <p:cNvSpPr/>
          <p:nvPr/>
        </p:nvSpPr>
        <p:spPr>
          <a:xfrm>
            <a:off x="1234440" y="3502152"/>
            <a:ext cx="4572000" cy="91"/>
          </a:xfrm>
          <a:prstGeom prst="line">
            <a:avLst/>
          </a:prstGeom>
          <a:noFill/>
          <a:ln w="6350">
            <a:solidFill>
              <a:srgbClr val="D6CBE8"/>
            </a:solidFill>
            <a:prstDash val="solid"/>
          </a:ln>
        </p:spPr>
      </p:sp>
      <p:sp>
        <p:nvSpPr>
          <p:cNvPr id="31" name="Shape 29"/>
          <p:cNvSpPr/>
          <p:nvPr/>
        </p:nvSpPr>
        <p:spPr>
          <a:xfrm>
            <a:off x="1234440" y="3241548"/>
            <a:ext cx="4572000" cy="91"/>
          </a:xfrm>
          <a:prstGeom prst="line">
            <a:avLst/>
          </a:prstGeom>
          <a:noFill/>
          <a:ln w="6350">
            <a:solidFill>
              <a:srgbClr val="EEE9F6"/>
            </a:solidFill>
            <a:prstDash val="solid"/>
          </a:ln>
        </p:spPr>
      </p:sp>
      <p:sp>
        <p:nvSpPr>
          <p:cNvPr id="32" name="Shape 30"/>
          <p:cNvSpPr/>
          <p:nvPr/>
        </p:nvSpPr>
        <p:spPr>
          <a:xfrm>
            <a:off x="1234440" y="2980944"/>
            <a:ext cx="4572000" cy="91"/>
          </a:xfrm>
          <a:prstGeom prst="line">
            <a:avLst/>
          </a:prstGeom>
          <a:noFill/>
          <a:ln w="6350">
            <a:solidFill>
              <a:srgbClr val="D6CBE8"/>
            </a:solidFill>
            <a:prstDash val="solid"/>
          </a:ln>
        </p:spPr>
      </p:sp>
      <p:sp>
        <p:nvSpPr>
          <p:cNvPr id="33" name="Shape 31"/>
          <p:cNvSpPr/>
          <p:nvPr/>
        </p:nvSpPr>
        <p:spPr>
          <a:xfrm>
            <a:off x="1234440" y="2720340"/>
            <a:ext cx="4572000" cy="91"/>
          </a:xfrm>
          <a:prstGeom prst="line">
            <a:avLst/>
          </a:prstGeom>
          <a:noFill/>
          <a:ln w="6350">
            <a:solidFill>
              <a:srgbClr val="EEE9F6"/>
            </a:solidFill>
            <a:prstDash val="solid"/>
          </a:ln>
        </p:spPr>
      </p:sp>
      <p:sp>
        <p:nvSpPr>
          <p:cNvPr id="34" name="Shape 32"/>
          <p:cNvSpPr/>
          <p:nvPr/>
        </p:nvSpPr>
        <p:spPr>
          <a:xfrm>
            <a:off x="1234440" y="2459736"/>
            <a:ext cx="4572000" cy="91"/>
          </a:xfrm>
          <a:prstGeom prst="line">
            <a:avLst/>
          </a:prstGeom>
          <a:noFill/>
          <a:ln w="6350">
            <a:solidFill>
              <a:srgbClr val="D6CBE8"/>
            </a:solidFill>
            <a:prstDash val="solid"/>
          </a:ln>
        </p:spPr>
      </p:sp>
      <p:sp>
        <p:nvSpPr>
          <p:cNvPr id="35" name="Shape 33"/>
          <p:cNvSpPr/>
          <p:nvPr/>
        </p:nvSpPr>
        <p:spPr>
          <a:xfrm>
            <a:off x="1234440" y="2199132"/>
            <a:ext cx="4572000" cy="91"/>
          </a:xfrm>
          <a:prstGeom prst="line">
            <a:avLst/>
          </a:prstGeom>
          <a:noFill/>
          <a:ln w="6350">
            <a:solidFill>
              <a:srgbClr val="EEE9F6"/>
            </a:solidFill>
            <a:prstDash val="solid"/>
          </a:ln>
        </p:spPr>
      </p:sp>
      <p:sp>
        <p:nvSpPr>
          <p:cNvPr id="36" name="Shape 34"/>
          <p:cNvSpPr/>
          <p:nvPr/>
        </p:nvSpPr>
        <p:spPr>
          <a:xfrm>
            <a:off x="1234440" y="1938528"/>
            <a:ext cx="4572000" cy="91"/>
          </a:xfrm>
          <a:prstGeom prst="line">
            <a:avLst/>
          </a:prstGeom>
          <a:noFill/>
          <a:ln w="6350">
            <a:solidFill>
              <a:srgbClr val="D6CBE8"/>
            </a:solidFill>
            <a:prstDash val="solid"/>
          </a:ln>
        </p:spPr>
      </p:sp>
      <p:sp>
        <p:nvSpPr>
          <p:cNvPr id="37" name="Shape 35"/>
          <p:cNvSpPr/>
          <p:nvPr/>
        </p:nvSpPr>
        <p:spPr>
          <a:xfrm>
            <a:off x="1234440" y="1677924"/>
            <a:ext cx="4572000" cy="91"/>
          </a:xfrm>
          <a:prstGeom prst="line">
            <a:avLst/>
          </a:prstGeom>
          <a:noFill/>
          <a:ln w="6350">
            <a:solidFill>
              <a:srgbClr val="EEE9F6"/>
            </a:solidFill>
            <a:prstDash val="solid"/>
          </a:ln>
        </p:spPr>
      </p:sp>
      <p:sp>
        <p:nvSpPr>
          <p:cNvPr id="38" name="Shape 36"/>
          <p:cNvSpPr/>
          <p:nvPr/>
        </p:nvSpPr>
        <p:spPr>
          <a:xfrm>
            <a:off x="1234440" y="1417320"/>
            <a:ext cx="4572000" cy="91"/>
          </a:xfrm>
          <a:prstGeom prst="line">
            <a:avLst/>
          </a:prstGeom>
          <a:noFill/>
          <a:ln w="6350">
            <a:solidFill>
              <a:srgbClr val="D6CBE8"/>
            </a:solidFill>
            <a:prstDash val="solid"/>
          </a:ln>
        </p:spPr>
      </p:sp>
      <p:sp>
        <p:nvSpPr>
          <p:cNvPr id="39" name="Shape 37"/>
          <p:cNvSpPr/>
          <p:nvPr/>
        </p:nvSpPr>
        <p:spPr>
          <a:xfrm>
            <a:off x="1234440" y="4023360"/>
            <a:ext cx="4572000" cy="91"/>
          </a:xfrm>
          <a:prstGeom prst="line">
            <a:avLst/>
          </a:prstGeom>
          <a:noFill/>
          <a:ln w="19050">
            <a:solidFill>
              <a:srgbClr val="2A1F3D"/>
            </a:solidFill>
            <a:prstDash val="solid"/>
          </a:ln>
        </p:spPr>
      </p:sp>
      <p:sp>
        <p:nvSpPr>
          <p:cNvPr id="40" name="Shape 38"/>
          <p:cNvSpPr/>
          <p:nvPr/>
        </p:nvSpPr>
        <p:spPr>
          <a:xfrm flipV="1">
            <a:off x="1234440" y="1417320"/>
            <a:ext cx="91" cy="2606040"/>
          </a:xfrm>
          <a:prstGeom prst="line">
            <a:avLst/>
          </a:prstGeom>
          <a:noFill/>
          <a:ln w="19050">
            <a:solidFill>
              <a:srgbClr val="2A1F3D"/>
            </a:solidFill>
            <a:prstDash val="solid"/>
          </a:ln>
        </p:spPr>
      </p:sp>
      <p:sp>
        <p:nvSpPr>
          <p:cNvPr id="41" name="Shape 39"/>
          <p:cNvSpPr/>
          <p:nvPr/>
        </p:nvSpPr>
        <p:spPr>
          <a:xfrm>
            <a:off x="1234440" y="4023360"/>
            <a:ext cx="91" cy="54864"/>
          </a:xfrm>
          <a:prstGeom prst="line">
            <a:avLst/>
          </a:prstGeom>
          <a:noFill/>
          <a:ln w="12700">
            <a:solidFill>
              <a:srgbClr val="2A1F3D"/>
            </a:solidFill>
            <a:prstDash val="solid"/>
          </a:ln>
        </p:spPr>
      </p:sp>
      <p:sp>
        <p:nvSpPr>
          <p:cNvPr id="42" name="Text 40"/>
          <p:cNvSpPr/>
          <p:nvPr/>
        </p:nvSpPr>
        <p:spPr>
          <a:xfrm>
            <a:off x="9601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43" name="Shape 41"/>
          <p:cNvSpPr/>
          <p:nvPr/>
        </p:nvSpPr>
        <p:spPr>
          <a:xfrm>
            <a:off x="1805940" y="4023360"/>
            <a:ext cx="91" cy="54864"/>
          </a:xfrm>
          <a:prstGeom prst="line">
            <a:avLst/>
          </a:prstGeom>
          <a:noFill/>
          <a:ln w="12700">
            <a:solidFill>
              <a:srgbClr val="2A1F3D"/>
            </a:solidFill>
            <a:prstDash val="solid"/>
          </a:ln>
        </p:spPr>
      </p:sp>
      <p:sp>
        <p:nvSpPr>
          <p:cNvPr id="44" name="Text 42"/>
          <p:cNvSpPr/>
          <p:nvPr/>
        </p:nvSpPr>
        <p:spPr>
          <a:xfrm>
            <a:off x="15316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45" name="Shape 43"/>
          <p:cNvSpPr/>
          <p:nvPr/>
        </p:nvSpPr>
        <p:spPr>
          <a:xfrm>
            <a:off x="2377440" y="4023360"/>
            <a:ext cx="91" cy="54864"/>
          </a:xfrm>
          <a:prstGeom prst="line">
            <a:avLst/>
          </a:prstGeom>
          <a:noFill/>
          <a:ln w="12700">
            <a:solidFill>
              <a:srgbClr val="2A1F3D"/>
            </a:solidFill>
            <a:prstDash val="solid"/>
          </a:ln>
        </p:spPr>
      </p:sp>
      <p:sp>
        <p:nvSpPr>
          <p:cNvPr id="46" name="Text 44"/>
          <p:cNvSpPr/>
          <p:nvPr/>
        </p:nvSpPr>
        <p:spPr>
          <a:xfrm>
            <a:off x="21031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47" name="Shape 45"/>
          <p:cNvSpPr/>
          <p:nvPr/>
        </p:nvSpPr>
        <p:spPr>
          <a:xfrm>
            <a:off x="2948940" y="4023360"/>
            <a:ext cx="91" cy="54864"/>
          </a:xfrm>
          <a:prstGeom prst="line">
            <a:avLst/>
          </a:prstGeom>
          <a:noFill/>
          <a:ln w="12700">
            <a:solidFill>
              <a:srgbClr val="2A1F3D"/>
            </a:solidFill>
            <a:prstDash val="solid"/>
          </a:ln>
        </p:spPr>
      </p:sp>
      <p:sp>
        <p:nvSpPr>
          <p:cNvPr id="48" name="Text 46"/>
          <p:cNvSpPr/>
          <p:nvPr/>
        </p:nvSpPr>
        <p:spPr>
          <a:xfrm>
            <a:off x="26746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49" name="Shape 47"/>
          <p:cNvSpPr/>
          <p:nvPr/>
        </p:nvSpPr>
        <p:spPr>
          <a:xfrm>
            <a:off x="3520440" y="4023360"/>
            <a:ext cx="91" cy="54864"/>
          </a:xfrm>
          <a:prstGeom prst="line">
            <a:avLst/>
          </a:prstGeom>
          <a:noFill/>
          <a:ln w="12700">
            <a:solidFill>
              <a:srgbClr val="2A1F3D"/>
            </a:solidFill>
            <a:prstDash val="solid"/>
          </a:ln>
        </p:spPr>
      </p:sp>
      <p:sp>
        <p:nvSpPr>
          <p:cNvPr id="50" name="Text 48"/>
          <p:cNvSpPr/>
          <p:nvPr/>
        </p:nvSpPr>
        <p:spPr>
          <a:xfrm>
            <a:off x="32461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51" name="Shape 49"/>
          <p:cNvSpPr/>
          <p:nvPr/>
        </p:nvSpPr>
        <p:spPr>
          <a:xfrm>
            <a:off x="4091940" y="4023360"/>
            <a:ext cx="91" cy="54864"/>
          </a:xfrm>
          <a:prstGeom prst="line">
            <a:avLst/>
          </a:prstGeom>
          <a:noFill/>
          <a:ln w="12700">
            <a:solidFill>
              <a:srgbClr val="2A1F3D"/>
            </a:solidFill>
            <a:prstDash val="solid"/>
          </a:ln>
        </p:spPr>
      </p:sp>
      <p:sp>
        <p:nvSpPr>
          <p:cNvPr id="52" name="Text 50"/>
          <p:cNvSpPr/>
          <p:nvPr/>
        </p:nvSpPr>
        <p:spPr>
          <a:xfrm>
            <a:off x="38176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53" name="Shape 51"/>
          <p:cNvSpPr/>
          <p:nvPr/>
        </p:nvSpPr>
        <p:spPr>
          <a:xfrm>
            <a:off x="4663440" y="4023360"/>
            <a:ext cx="91" cy="54864"/>
          </a:xfrm>
          <a:prstGeom prst="line">
            <a:avLst/>
          </a:prstGeom>
          <a:noFill/>
          <a:ln w="12700">
            <a:solidFill>
              <a:srgbClr val="2A1F3D"/>
            </a:solidFill>
            <a:prstDash val="solid"/>
          </a:ln>
        </p:spPr>
      </p:sp>
      <p:sp>
        <p:nvSpPr>
          <p:cNvPr id="54" name="Text 52"/>
          <p:cNvSpPr/>
          <p:nvPr/>
        </p:nvSpPr>
        <p:spPr>
          <a:xfrm>
            <a:off x="43891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55" name="Shape 53"/>
          <p:cNvSpPr/>
          <p:nvPr/>
        </p:nvSpPr>
        <p:spPr>
          <a:xfrm>
            <a:off x="5234940" y="4023360"/>
            <a:ext cx="91" cy="54864"/>
          </a:xfrm>
          <a:prstGeom prst="line">
            <a:avLst/>
          </a:prstGeom>
          <a:noFill/>
          <a:ln w="12700">
            <a:solidFill>
              <a:srgbClr val="2A1F3D"/>
            </a:solidFill>
            <a:prstDash val="solid"/>
          </a:ln>
        </p:spPr>
      </p:sp>
      <p:sp>
        <p:nvSpPr>
          <p:cNvPr id="56" name="Text 54"/>
          <p:cNvSpPr/>
          <p:nvPr/>
        </p:nvSpPr>
        <p:spPr>
          <a:xfrm>
            <a:off x="49606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57" name="Shape 55"/>
          <p:cNvSpPr/>
          <p:nvPr/>
        </p:nvSpPr>
        <p:spPr>
          <a:xfrm>
            <a:off x="5806440" y="4023360"/>
            <a:ext cx="91" cy="54864"/>
          </a:xfrm>
          <a:prstGeom prst="line">
            <a:avLst/>
          </a:prstGeom>
          <a:noFill/>
          <a:ln w="12700">
            <a:solidFill>
              <a:srgbClr val="2A1F3D"/>
            </a:solidFill>
            <a:prstDash val="solid"/>
          </a:ln>
        </p:spPr>
      </p:sp>
      <p:sp>
        <p:nvSpPr>
          <p:cNvPr id="58" name="Text 56"/>
          <p:cNvSpPr/>
          <p:nvPr/>
        </p:nvSpPr>
        <p:spPr>
          <a:xfrm>
            <a:off x="5532120" y="4078224"/>
            <a:ext cx="548640" cy="182880"/>
          </a:xfrm>
          <a:prstGeom prst="rect">
            <a:avLst/>
          </a:prstGeom>
          <a:noFill/>
          <a:ln/>
        </p:spPr>
        <p:txBody>
          <a:bodyPr wrap="square" lIns="0" tIns="0" rIns="0" bIns="0" rtlCol="0" anchor="ctr"/>
          <a:lstStyle/>
          <a:p>
            <a:pPr algn="ctr" indent="0" marL="0">
              <a:buNone/>
            </a:pPr>
            <a:endParaRPr lang="en-US" sz="1000" dirty="0"/>
          </a:p>
        </p:txBody>
      </p:sp>
      <p:sp>
        <p:nvSpPr>
          <p:cNvPr id="59" name="Shape 57"/>
          <p:cNvSpPr/>
          <p:nvPr/>
        </p:nvSpPr>
        <p:spPr>
          <a:xfrm>
            <a:off x="1179576" y="4023360"/>
            <a:ext cx="54864" cy="91"/>
          </a:xfrm>
          <a:prstGeom prst="line">
            <a:avLst/>
          </a:prstGeom>
          <a:noFill/>
          <a:ln w="12700">
            <a:solidFill>
              <a:srgbClr val="2A1F3D"/>
            </a:solidFill>
            <a:prstDash val="solid"/>
          </a:ln>
        </p:spPr>
      </p:sp>
      <p:sp>
        <p:nvSpPr>
          <p:cNvPr id="60" name="Text 58"/>
          <p:cNvSpPr/>
          <p:nvPr/>
        </p:nvSpPr>
        <p:spPr>
          <a:xfrm>
            <a:off x="795528" y="3931920"/>
            <a:ext cx="365760" cy="182880"/>
          </a:xfrm>
          <a:prstGeom prst="rect">
            <a:avLst/>
          </a:prstGeom>
          <a:noFill/>
          <a:ln/>
        </p:spPr>
        <p:txBody>
          <a:bodyPr wrap="square" lIns="0" tIns="0" rIns="0" bIns="0" rtlCol="0" anchor="ctr"/>
          <a:lstStyle/>
          <a:p>
            <a:pPr algn="r" indent="0" marL="0">
              <a:buNone/>
            </a:pPr>
            <a:endParaRPr lang="en-US" sz="1000" dirty="0"/>
          </a:p>
        </p:txBody>
      </p:sp>
      <p:sp>
        <p:nvSpPr>
          <p:cNvPr id="61" name="Shape 59"/>
          <p:cNvSpPr/>
          <p:nvPr/>
        </p:nvSpPr>
        <p:spPr>
          <a:xfrm>
            <a:off x="1179576" y="3502152"/>
            <a:ext cx="54864" cy="91"/>
          </a:xfrm>
          <a:prstGeom prst="line">
            <a:avLst/>
          </a:prstGeom>
          <a:noFill/>
          <a:ln w="12700">
            <a:solidFill>
              <a:srgbClr val="2A1F3D"/>
            </a:solidFill>
            <a:prstDash val="solid"/>
          </a:ln>
        </p:spPr>
      </p:sp>
      <p:sp>
        <p:nvSpPr>
          <p:cNvPr id="62" name="Text 60"/>
          <p:cNvSpPr/>
          <p:nvPr/>
        </p:nvSpPr>
        <p:spPr>
          <a:xfrm>
            <a:off x="795528" y="3410712"/>
            <a:ext cx="365760" cy="182880"/>
          </a:xfrm>
          <a:prstGeom prst="rect">
            <a:avLst/>
          </a:prstGeom>
          <a:noFill/>
          <a:ln/>
        </p:spPr>
        <p:txBody>
          <a:bodyPr wrap="square" lIns="0" tIns="0" rIns="0" bIns="0" rtlCol="0" anchor="ctr"/>
          <a:lstStyle/>
          <a:p>
            <a:pPr algn="r" indent="0" marL="0">
              <a:buNone/>
            </a:pPr>
            <a:endParaRPr lang="en-US" sz="1000" dirty="0"/>
          </a:p>
        </p:txBody>
      </p:sp>
      <p:sp>
        <p:nvSpPr>
          <p:cNvPr id="63" name="Shape 61"/>
          <p:cNvSpPr/>
          <p:nvPr/>
        </p:nvSpPr>
        <p:spPr>
          <a:xfrm>
            <a:off x="1179576" y="2980944"/>
            <a:ext cx="54864" cy="91"/>
          </a:xfrm>
          <a:prstGeom prst="line">
            <a:avLst/>
          </a:prstGeom>
          <a:noFill/>
          <a:ln w="12700">
            <a:solidFill>
              <a:srgbClr val="2A1F3D"/>
            </a:solidFill>
            <a:prstDash val="solid"/>
          </a:ln>
        </p:spPr>
      </p:sp>
      <p:sp>
        <p:nvSpPr>
          <p:cNvPr id="64" name="Text 62"/>
          <p:cNvSpPr/>
          <p:nvPr/>
        </p:nvSpPr>
        <p:spPr>
          <a:xfrm>
            <a:off x="795528" y="2889504"/>
            <a:ext cx="365760" cy="182880"/>
          </a:xfrm>
          <a:prstGeom prst="rect">
            <a:avLst/>
          </a:prstGeom>
          <a:noFill/>
          <a:ln/>
        </p:spPr>
        <p:txBody>
          <a:bodyPr wrap="square" lIns="0" tIns="0" rIns="0" bIns="0" rtlCol="0" anchor="ctr"/>
          <a:lstStyle/>
          <a:p>
            <a:pPr algn="r" indent="0" marL="0">
              <a:buNone/>
            </a:pPr>
            <a:endParaRPr lang="en-US" sz="1000" dirty="0"/>
          </a:p>
        </p:txBody>
      </p:sp>
      <p:sp>
        <p:nvSpPr>
          <p:cNvPr id="65" name="Shape 63"/>
          <p:cNvSpPr/>
          <p:nvPr/>
        </p:nvSpPr>
        <p:spPr>
          <a:xfrm>
            <a:off x="1179576" y="2459736"/>
            <a:ext cx="54864" cy="91"/>
          </a:xfrm>
          <a:prstGeom prst="line">
            <a:avLst/>
          </a:prstGeom>
          <a:noFill/>
          <a:ln w="12700">
            <a:solidFill>
              <a:srgbClr val="2A1F3D"/>
            </a:solidFill>
            <a:prstDash val="solid"/>
          </a:ln>
        </p:spPr>
      </p:sp>
      <p:sp>
        <p:nvSpPr>
          <p:cNvPr id="66" name="Text 64"/>
          <p:cNvSpPr/>
          <p:nvPr/>
        </p:nvSpPr>
        <p:spPr>
          <a:xfrm>
            <a:off x="795528" y="2368296"/>
            <a:ext cx="365760" cy="182880"/>
          </a:xfrm>
          <a:prstGeom prst="rect">
            <a:avLst/>
          </a:prstGeom>
          <a:noFill/>
          <a:ln/>
        </p:spPr>
        <p:txBody>
          <a:bodyPr wrap="square" lIns="0" tIns="0" rIns="0" bIns="0" rtlCol="0" anchor="ctr"/>
          <a:lstStyle/>
          <a:p>
            <a:pPr algn="r" indent="0" marL="0">
              <a:buNone/>
            </a:pPr>
            <a:endParaRPr lang="en-US" sz="1000" dirty="0"/>
          </a:p>
        </p:txBody>
      </p:sp>
      <p:sp>
        <p:nvSpPr>
          <p:cNvPr id="67" name="Shape 65"/>
          <p:cNvSpPr/>
          <p:nvPr/>
        </p:nvSpPr>
        <p:spPr>
          <a:xfrm>
            <a:off x="1179576" y="1938528"/>
            <a:ext cx="54864" cy="91"/>
          </a:xfrm>
          <a:prstGeom prst="line">
            <a:avLst/>
          </a:prstGeom>
          <a:noFill/>
          <a:ln w="12700">
            <a:solidFill>
              <a:srgbClr val="2A1F3D"/>
            </a:solidFill>
            <a:prstDash val="solid"/>
          </a:ln>
        </p:spPr>
      </p:sp>
      <p:sp>
        <p:nvSpPr>
          <p:cNvPr id="68" name="Text 66"/>
          <p:cNvSpPr/>
          <p:nvPr/>
        </p:nvSpPr>
        <p:spPr>
          <a:xfrm>
            <a:off x="795528" y="1847088"/>
            <a:ext cx="365760" cy="182880"/>
          </a:xfrm>
          <a:prstGeom prst="rect">
            <a:avLst/>
          </a:prstGeom>
          <a:noFill/>
          <a:ln/>
        </p:spPr>
        <p:txBody>
          <a:bodyPr wrap="square" lIns="0" tIns="0" rIns="0" bIns="0" rtlCol="0" anchor="ctr"/>
          <a:lstStyle/>
          <a:p>
            <a:pPr algn="r" indent="0" marL="0">
              <a:buNone/>
            </a:pPr>
            <a:endParaRPr lang="en-US" sz="1000" dirty="0"/>
          </a:p>
        </p:txBody>
      </p:sp>
      <p:sp>
        <p:nvSpPr>
          <p:cNvPr id="69" name="Shape 67"/>
          <p:cNvSpPr/>
          <p:nvPr/>
        </p:nvSpPr>
        <p:spPr>
          <a:xfrm>
            <a:off x="1179576" y="1417320"/>
            <a:ext cx="54864" cy="91"/>
          </a:xfrm>
          <a:prstGeom prst="line">
            <a:avLst/>
          </a:prstGeom>
          <a:noFill/>
          <a:ln w="12700">
            <a:solidFill>
              <a:srgbClr val="2A1F3D"/>
            </a:solidFill>
            <a:prstDash val="solid"/>
          </a:ln>
        </p:spPr>
      </p:sp>
      <p:sp>
        <p:nvSpPr>
          <p:cNvPr id="70" name="Text 68"/>
          <p:cNvSpPr/>
          <p:nvPr/>
        </p:nvSpPr>
        <p:spPr>
          <a:xfrm>
            <a:off x="795528" y="1325880"/>
            <a:ext cx="365760" cy="182880"/>
          </a:xfrm>
          <a:prstGeom prst="rect">
            <a:avLst/>
          </a:prstGeom>
          <a:noFill/>
          <a:ln/>
        </p:spPr>
        <p:txBody>
          <a:bodyPr wrap="square" lIns="0" tIns="0" rIns="0" bIns="0" rtlCol="0" anchor="ctr"/>
          <a:lstStyle/>
          <a:p>
            <a:pPr algn="r" indent="0" marL="0">
              <a:buNone/>
            </a:pPr>
            <a:endParaRPr lang="en-US" sz="1000" dirty="0"/>
          </a:p>
        </p:txBody>
      </p:sp>
      <p:sp>
        <p:nvSpPr>
          <p:cNvPr id="71" name="Text 69"/>
          <p:cNvSpPr/>
          <p:nvPr/>
        </p:nvSpPr>
        <p:spPr>
          <a:xfrm rot="16200000">
            <a:off x="-635508" y="2592324"/>
            <a:ext cx="2606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Density / g/cm³</a:t>
            </a:r>
            <a:endParaRPr lang="en-US" sz="1050" dirty="0"/>
          </a:p>
        </p:txBody>
      </p:sp>
      <p:sp>
        <p:nvSpPr>
          <p:cNvPr id="72" name="Shape 70"/>
          <p:cNvSpPr/>
          <p:nvPr/>
        </p:nvSpPr>
        <p:spPr>
          <a:xfrm>
            <a:off x="1328166" y="1990649"/>
            <a:ext cx="384048" cy="2032711"/>
          </a:xfrm>
          <a:prstGeom prst="rect">
            <a:avLst/>
          </a:prstGeom>
          <a:solidFill>
            <a:srgbClr val="7A8BA6"/>
          </a:solidFill>
          <a:ln w="9525">
            <a:solidFill>
              <a:srgbClr val="2A1F3D"/>
            </a:solidFill>
            <a:prstDash val="solid"/>
          </a:ln>
        </p:spPr>
      </p:sp>
      <p:sp>
        <p:nvSpPr>
          <p:cNvPr id="73" name="Shape 71"/>
          <p:cNvSpPr/>
          <p:nvPr/>
        </p:nvSpPr>
        <p:spPr>
          <a:xfrm>
            <a:off x="1899666" y="3319729"/>
            <a:ext cx="384048" cy="703631"/>
          </a:xfrm>
          <a:prstGeom prst="rect">
            <a:avLst/>
          </a:prstGeom>
          <a:solidFill>
            <a:srgbClr val="7A8BA6"/>
          </a:solidFill>
          <a:ln w="9525">
            <a:solidFill>
              <a:srgbClr val="2A1F3D"/>
            </a:solidFill>
            <a:prstDash val="solid"/>
          </a:ln>
        </p:spPr>
      </p:sp>
      <p:sp>
        <p:nvSpPr>
          <p:cNvPr id="74" name="Shape 72"/>
          <p:cNvSpPr/>
          <p:nvPr/>
        </p:nvSpPr>
        <p:spPr>
          <a:xfrm>
            <a:off x="2471166" y="1703984"/>
            <a:ext cx="384048" cy="2319376"/>
          </a:xfrm>
          <a:prstGeom prst="rect">
            <a:avLst/>
          </a:prstGeom>
          <a:solidFill>
            <a:srgbClr val="7A8BA6"/>
          </a:solidFill>
          <a:ln w="9525">
            <a:solidFill>
              <a:srgbClr val="2A1F3D"/>
            </a:solidFill>
            <a:prstDash val="solid"/>
          </a:ln>
        </p:spPr>
      </p:sp>
      <p:sp>
        <p:nvSpPr>
          <p:cNvPr id="75" name="Shape 73"/>
          <p:cNvSpPr/>
          <p:nvPr/>
        </p:nvSpPr>
        <p:spPr>
          <a:xfrm>
            <a:off x="3042666" y="3371850"/>
            <a:ext cx="384048" cy="651510"/>
          </a:xfrm>
          <a:prstGeom prst="rect">
            <a:avLst/>
          </a:prstGeom>
          <a:solidFill>
            <a:srgbClr val="C98B5A"/>
          </a:solidFill>
          <a:ln w="9525">
            <a:solidFill>
              <a:srgbClr val="2A1F3D"/>
            </a:solidFill>
            <a:prstDash val="solid"/>
          </a:ln>
        </p:spPr>
      </p:sp>
      <p:sp>
        <p:nvSpPr>
          <p:cNvPr id="76" name="Shape 74"/>
          <p:cNvSpPr/>
          <p:nvPr/>
        </p:nvSpPr>
        <p:spPr>
          <a:xfrm>
            <a:off x="3614166" y="3528212"/>
            <a:ext cx="384048" cy="495148"/>
          </a:xfrm>
          <a:prstGeom prst="rect">
            <a:avLst/>
          </a:prstGeom>
          <a:solidFill>
            <a:srgbClr val="C98B5A"/>
          </a:solidFill>
          <a:ln w="9525">
            <a:solidFill>
              <a:srgbClr val="2A1F3D"/>
            </a:solidFill>
            <a:prstDash val="solid"/>
          </a:ln>
        </p:spPr>
      </p:sp>
      <p:sp>
        <p:nvSpPr>
          <p:cNvPr id="77" name="Shape 75"/>
          <p:cNvSpPr/>
          <p:nvPr/>
        </p:nvSpPr>
        <p:spPr>
          <a:xfrm>
            <a:off x="4185666" y="3775786"/>
            <a:ext cx="384048" cy="247574"/>
          </a:xfrm>
          <a:prstGeom prst="rect">
            <a:avLst/>
          </a:prstGeom>
          <a:solidFill>
            <a:srgbClr val="5FA463"/>
          </a:solidFill>
          <a:ln w="9525">
            <a:solidFill>
              <a:srgbClr val="2A1F3D"/>
            </a:solidFill>
            <a:prstDash val="solid"/>
          </a:ln>
        </p:spPr>
      </p:sp>
      <p:sp>
        <p:nvSpPr>
          <p:cNvPr id="78" name="Shape 76"/>
          <p:cNvSpPr/>
          <p:nvPr/>
        </p:nvSpPr>
        <p:spPr>
          <a:xfrm>
            <a:off x="4757166" y="3528212"/>
            <a:ext cx="384048" cy="495148"/>
          </a:xfrm>
          <a:prstGeom prst="rect">
            <a:avLst/>
          </a:prstGeom>
          <a:solidFill>
            <a:srgbClr val="6A3FA0"/>
          </a:solidFill>
          <a:ln w="9525">
            <a:solidFill>
              <a:srgbClr val="2A1F3D"/>
            </a:solidFill>
            <a:prstDash val="solid"/>
          </a:ln>
        </p:spPr>
      </p:sp>
      <p:sp>
        <p:nvSpPr>
          <p:cNvPr id="79" name="Shape 77"/>
          <p:cNvSpPr/>
          <p:nvPr/>
        </p:nvSpPr>
        <p:spPr>
          <a:xfrm>
            <a:off x="5328666" y="3606394"/>
            <a:ext cx="384048" cy="416966"/>
          </a:xfrm>
          <a:prstGeom prst="rect">
            <a:avLst/>
          </a:prstGeom>
          <a:solidFill>
            <a:srgbClr val="6A3FA0"/>
          </a:solidFill>
          <a:ln w="9525">
            <a:solidFill>
              <a:srgbClr val="2A1F3D"/>
            </a:solidFill>
            <a:prstDash val="solid"/>
          </a:ln>
        </p:spPr>
      </p:sp>
      <p:sp>
        <p:nvSpPr>
          <p:cNvPr id="80" name="Text 78"/>
          <p:cNvSpPr/>
          <p:nvPr/>
        </p:nvSpPr>
        <p:spPr>
          <a:xfrm>
            <a:off x="12275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Steel</a:t>
            </a:r>
            <a:endParaRPr lang="en-US" sz="1000" dirty="0"/>
          </a:p>
        </p:txBody>
      </p:sp>
      <p:sp>
        <p:nvSpPr>
          <p:cNvPr id="81" name="Text 79"/>
          <p:cNvSpPr/>
          <p:nvPr/>
        </p:nvSpPr>
        <p:spPr>
          <a:xfrm>
            <a:off x="17990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Al alloy</a:t>
            </a:r>
            <a:endParaRPr lang="en-US" sz="1000" dirty="0"/>
          </a:p>
        </p:txBody>
      </p:sp>
      <p:sp>
        <p:nvSpPr>
          <p:cNvPr id="82" name="Text 80"/>
          <p:cNvSpPr/>
          <p:nvPr/>
        </p:nvSpPr>
        <p:spPr>
          <a:xfrm>
            <a:off x="23705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Copper</a:t>
            </a:r>
            <a:endParaRPr lang="en-US" sz="1000" dirty="0"/>
          </a:p>
        </p:txBody>
      </p:sp>
      <p:sp>
        <p:nvSpPr>
          <p:cNvPr id="83" name="Text 81"/>
          <p:cNvSpPr/>
          <p:nvPr/>
        </p:nvSpPr>
        <p:spPr>
          <a:xfrm>
            <a:off x="29420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Glass</a:t>
            </a:r>
            <a:endParaRPr lang="en-US" sz="1000" dirty="0"/>
          </a:p>
        </p:txBody>
      </p:sp>
      <p:sp>
        <p:nvSpPr>
          <p:cNvPr id="84" name="Text 82"/>
          <p:cNvSpPr/>
          <p:nvPr/>
        </p:nvSpPr>
        <p:spPr>
          <a:xfrm>
            <a:off x="35135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Brick</a:t>
            </a:r>
            <a:endParaRPr lang="en-US" sz="1000" dirty="0"/>
          </a:p>
        </p:txBody>
      </p:sp>
      <p:sp>
        <p:nvSpPr>
          <p:cNvPr id="85" name="Text 83"/>
          <p:cNvSpPr/>
          <p:nvPr/>
        </p:nvSpPr>
        <p:spPr>
          <a:xfrm>
            <a:off x="40850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HDPE</a:t>
            </a:r>
            <a:endParaRPr lang="en-US" sz="1000" dirty="0"/>
          </a:p>
        </p:txBody>
      </p:sp>
      <p:sp>
        <p:nvSpPr>
          <p:cNvPr id="86" name="Text 84"/>
          <p:cNvSpPr/>
          <p:nvPr/>
        </p:nvSpPr>
        <p:spPr>
          <a:xfrm>
            <a:off x="46565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GRP</a:t>
            </a:r>
            <a:endParaRPr lang="en-US" sz="1000" dirty="0"/>
          </a:p>
        </p:txBody>
      </p:sp>
      <p:sp>
        <p:nvSpPr>
          <p:cNvPr id="87" name="Text 85"/>
          <p:cNvSpPr/>
          <p:nvPr/>
        </p:nvSpPr>
        <p:spPr>
          <a:xfrm>
            <a:off x="5228082" y="407822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CFRP</a:t>
            </a:r>
            <a:endParaRPr lang="en-US" sz="1000" dirty="0"/>
          </a:p>
        </p:txBody>
      </p:sp>
      <p:sp>
        <p:nvSpPr>
          <p:cNvPr id="88" name="Text 86"/>
          <p:cNvSpPr/>
          <p:nvPr/>
        </p:nvSpPr>
        <p:spPr>
          <a:xfrm>
            <a:off x="1245870" y="1789481"/>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7.8</a:t>
            </a:r>
            <a:endParaRPr lang="en-US" sz="1000" dirty="0"/>
          </a:p>
        </p:txBody>
      </p:sp>
      <p:sp>
        <p:nvSpPr>
          <p:cNvPr id="89" name="Text 87"/>
          <p:cNvSpPr/>
          <p:nvPr/>
        </p:nvSpPr>
        <p:spPr>
          <a:xfrm>
            <a:off x="1817370" y="3118561"/>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2.7</a:t>
            </a:r>
            <a:endParaRPr lang="en-US" sz="1000" dirty="0"/>
          </a:p>
        </p:txBody>
      </p:sp>
      <p:sp>
        <p:nvSpPr>
          <p:cNvPr id="90" name="Text 88"/>
          <p:cNvSpPr/>
          <p:nvPr/>
        </p:nvSpPr>
        <p:spPr>
          <a:xfrm>
            <a:off x="2388870" y="1502816"/>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8.9</a:t>
            </a:r>
            <a:endParaRPr lang="en-US" sz="1000" dirty="0"/>
          </a:p>
        </p:txBody>
      </p:sp>
      <p:sp>
        <p:nvSpPr>
          <p:cNvPr id="91" name="Text 89"/>
          <p:cNvSpPr/>
          <p:nvPr/>
        </p:nvSpPr>
        <p:spPr>
          <a:xfrm>
            <a:off x="2960370" y="3170682"/>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2.5</a:t>
            </a:r>
            <a:endParaRPr lang="en-US" sz="1000" dirty="0"/>
          </a:p>
        </p:txBody>
      </p:sp>
      <p:sp>
        <p:nvSpPr>
          <p:cNvPr id="92" name="Text 90"/>
          <p:cNvSpPr/>
          <p:nvPr/>
        </p:nvSpPr>
        <p:spPr>
          <a:xfrm>
            <a:off x="3531870" y="3327044"/>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1.9</a:t>
            </a:r>
            <a:endParaRPr lang="en-US" sz="1000" dirty="0"/>
          </a:p>
        </p:txBody>
      </p:sp>
      <p:sp>
        <p:nvSpPr>
          <p:cNvPr id="93" name="Text 91"/>
          <p:cNvSpPr/>
          <p:nvPr/>
        </p:nvSpPr>
        <p:spPr>
          <a:xfrm>
            <a:off x="4103370" y="3574618"/>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0.95</a:t>
            </a:r>
            <a:endParaRPr lang="en-US" sz="1000" dirty="0"/>
          </a:p>
        </p:txBody>
      </p:sp>
      <p:sp>
        <p:nvSpPr>
          <p:cNvPr id="94" name="Text 92"/>
          <p:cNvSpPr/>
          <p:nvPr/>
        </p:nvSpPr>
        <p:spPr>
          <a:xfrm>
            <a:off x="4674870" y="3327044"/>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1.9</a:t>
            </a:r>
            <a:endParaRPr lang="en-US" sz="1000" dirty="0"/>
          </a:p>
        </p:txBody>
      </p:sp>
      <p:sp>
        <p:nvSpPr>
          <p:cNvPr id="95" name="Text 93"/>
          <p:cNvSpPr/>
          <p:nvPr/>
        </p:nvSpPr>
        <p:spPr>
          <a:xfrm>
            <a:off x="5246370" y="3405226"/>
            <a:ext cx="548640" cy="18288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1.6</a:t>
            </a:r>
            <a:endParaRPr lang="en-US" sz="1000" dirty="0"/>
          </a:p>
        </p:txBody>
      </p:sp>
      <p:sp>
        <p:nvSpPr>
          <p:cNvPr id="96" name="Shape 94"/>
          <p:cNvSpPr/>
          <p:nvPr/>
        </p:nvSpPr>
        <p:spPr>
          <a:xfrm>
            <a:off x="731520" y="4434840"/>
            <a:ext cx="201168" cy="201168"/>
          </a:xfrm>
          <a:prstGeom prst="rect">
            <a:avLst/>
          </a:prstGeom>
          <a:solidFill>
            <a:srgbClr val="7A8BA6"/>
          </a:solidFill>
          <a:ln w="6350">
            <a:solidFill>
              <a:srgbClr val="2A1F3D"/>
            </a:solidFill>
            <a:prstDash val="solid"/>
          </a:ln>
        </p:spPr>
      </p:sp>
      <p:sp>
        <p:nvSpPr>
          <p:cNvPr id="97" name="Text 95"/>
          <p:cNvSpPr/>
          <p:nvPr/>
        </p:nvSpPr>
        <p:spPr>
          <a:xfrm>
            <a:off x="978408" y="4416552"/>
            <a:ext cx="1005840" cy="237744"/>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metal</a:t>
            </a:r>
            <a:endParaRPr lang="en-US" sz="1000" dirty="0"/>
          </a:p>
        </p:txBody>
      </p:sp>
      <p:sp>
        <p:nvSpPr>
          <p:cNvPr id="98" name="Shape 96"/>
          <p:cNvSpPr/>
          <p:nvPr/>
        </p:nvSpPr>
        <p:spPr>
          <a:xfrm>
            <a:off x="2057400" y="4434840"/>
            <a:ext cx="201168" cy="201168"/>
          </a:xfrm>
          <a:prstGeom prst="rect">
            <a:avLst/>
          </a:prstGeom>
          <a:solidFill>
            <a:srgbClr val="C98B5A"/>
          </a:solidFill>
          <a:ln w="6350">
            <a:solidFill>
              <a:srgbClr val="2A1F3D"/>
            </a:solidFill>
            <a:prstDash val="solid"/>
          </a:ln>
        </p:spPr>
      </p:sp>
      <p:sp>
        <p:nvSpPr>
          <p:cNvPr id="99" name="Text 97"/>
          <p:cNvSpPr/>
          <p:nvPr/>
        </p:nvSpPr>
        <p:spPr>
          <a:xfrm>
            <a:off x="2304288" y="4416552"/>
            <a:ext cx="1005840" cy="237744"/>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ceramic</a:t>
            </a:r>
            <a:endParaRPr lang="en-US" sz="1000" dirty="0"/>
          </a:p>
        </p:txBody>
      </p:sp>
      <p:sp>
        <p:nvSpPr>
          <p:cNvPr id="100" name="Shape 98"/>
          <p:cNvSpPr/>
          <p:nvPr/>
        </p:nvSpPr>
        <p:spPr>
          <a:xfrm>
            <a:off x="3383280" y="4434840"/>
            <a:ext cx="201168" cy="201168"/>
          </a:xfrm>
          <a:prstGeom prst="rect">
            <a:avLst/>
          </a:prstGeom>
          <a:solidFill>
            <a:srgbClr val="5FA463"/>
          </a:solidFill>
          <a:ln w="6350">
            <a:solidFill>
              <a:srgbClr val="2A1F3D"/>
            </a:solidFill>
            <a:prstDash val="solid"/>
          </a:ln>
        </p:spPr>
      </p:sp>
      <p:sp>
        <p:nvSpPr>
          <p:cNvPr id="101" name="Text 99"/>
          <p:cNvSpPr/>
          <p:nvPr/>
        </p:nvSpPr>
        <p:spPr>
          <a:xfrm>
            <a:off x="3630168" y="4416552"/>
            <a:ext cx="1005840" cy="237744"/>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polymer</a:t>
            </a:r>
            <a:endParaRPr lang="en-US" sz="1000" dirty="0"/>
          </a:p>
        </p:txBody>
      </p:sp>
      <p:sp>
        <p:nvSpPr>
          <p:cNvPr id="102" name="Shape 100"/>
          <p:cNvSpPr/>
          <p:nvPr/>
        </p:nvSpPr>
        <p:spPr>
          <a:xfrm>
            <a:off x="4709160" y="4434840"/>
            <a:ext cx="201168" cy="201168"/>
          </a:xfrm>
          <a:prstGeom prst="rect">
            <a:avLst/>
          </a:prstGeom>
          <a:solidFill>
            <a:srgbClr val="6A3FA0"/>
          </a:solidFill>
          <a:ln w="6350">
            <a:solidFill>
              <a:srgbClr val="2A1F3D"/>
            </a:solidFill>
            <a:prstDash val="solid"/>
          </a:ln>
        </p:spPr>
      </p:sp>
      <p:sp>
        <p:nvSpPr>
          <p:cNvPr id="103" name="Text 101"/>
          <p:cNvSpPr/>
          <p:nvPr/>
        </p:nvSpPr>
        <p:spPr>
          <a:xfrm>
            <a:off x="4956048" y="4416552"/>
            <a:ext cx="1005840" cy="237744"/>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composite</a:t>
            </a:r>
            <a:endParaRPr lang="en-US" sz="1000" dirty="0"/>
          </a:p>
        </p:txBody>
      </p:sp>
      <p:sp>
        <p:nvSpPr>
          <p:cNvPr id="104" name="Text 102"/>
          <p:cNvSpPr/>
          <p:nvPr/>
        </p:nvSpPr>
        <p:spPr>
          <a:xfrm>
            <a:off x="640080" y="4800600"/>
            <a:ext cx="512064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Metals are the </a:t>
            </a:r>
            <a:r>
              <a:rPr lang="en-US" sz="1050" b="1" dirty="0">
                <a:solidFill>
                  <a:srgbClr val="262B3A"/>
                </a:solidFill>
                <a:latin typeface="Calibri" pitchFamily="34" charset="0"/>
                <a:ea typeface="Calibri" pitchFamily="34" charset="-122"/>
                <a:cs typeface="Calibri" pitchFamily="34" charset="-120"/>
              </a:rPr>
              <a:t>densest</a:t>
            </a:r>
            <a:r>
              <a:rPr lang="en-US" sz="1050" dirty="0">
                <a:solidFill>
                  <a:srgbClr val="262B3A"/>
                </a:solidFill>
                <a:latin typeface="Calibri" pitchFamily="34" charset="0"/>
                <a:ea typeface="Calibri" pitchFamily="34" charset="-122"/>
                <a:cs typeface="Calibri" pitchFamily="34" charset="-120"/>
              </a:rPr>
              <a:t>; polymers and composites are </a:t>
            </a:r>
            <a:r>
              <a:rPr lang="en-US" sz="1050" b="1" dirty="0">
                <a:solidFill>
                  <a:srgbClr val="262B3A"/>
                </a:solidFill>
                <a:latin typeface="Calibri" pitchFamily="34" charset="0"/>
                <a:ea typeface="Calibri" pitchFamily="34" charset="-122"/>
                <a:cs typeface="Calibri" pitchFamily="34" charset="-120"/>
              </a:rPr>
              <a:t>light</a:t>
            </a:r>
            <a:r>
              <a:rPr lang="en-US" sz="1050" dirty="0">
                <a:solidFill>
                  <a:srgbClr val="262B3A"/>
                </a:solidFill>
                <a:latin typeface="Calibri" pitchFamily="34" charset="0"/>
                <a:ea typeface="Calibri" pitchFamily="34" charset="-122"/>
                <a:cs typeface="Calibri" pitchFamily="34" charset="-120"/>
              </a:rPr>
              <a:t>. Ceramics are in between.</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627632"/>
                <a:gridCol w="914400"/>
                <a:gridCol w="1005840"/>
                <a:gridCol w="1097280"/>
                <a:gridCol w="914400"/>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Material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Density g/cm³</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Melts / softens °C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Tensile strength MPa</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Conducts?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Steel (mild)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1450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good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Aluminium alloy</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640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good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Copper</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1085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very good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Soda-lime glass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Clay brick</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Poly(ethene) HDPE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0.95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130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Glass-fibre (GRP)</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46888">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Carbon-fibre (CFRP)</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slight</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106" name="Shape 103"/>
          <p:cNvSpPr/>
          <p:nvPr/>
        </p:nvSpPr>
        <p:spPr>
          <a:xfrm>
            <a:off x="6217920" y="3886200"/>
            <a:ext cx="5559552" cy="1828800"/>
          </a:xfrm>
          <a:prstGeom prst="roundRect">
            <a:avLst>
              <a:gd name="adj" fmla="val 3000"/>
            </a:avLst>
          </a:prstGeom>
          <a:solidFill>
            <a:srgbClr val="FFF4E0"/>
          </a:solidFill>
          <a:ln w="9525">
            <a:solidFill>
              <a:srgbClr val="F1D9A8"/>
            </a:solidFill>
            <a:prstDash val="solid"/>
          </a:ln>
        </p:spPr>
      </p:sp>
      <p:sp>
        <p:nvSpPr>
          <p:cNvPr id="107" name="Text 104"/>
          <p:cNvSpPr/>
          <p:nvPr/>
        </p:nvSpPr>
        <p:spPr>
          <a:xfrm>
            <a:off x="6382512" y="395935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replacing steel with aluminium</a:t>
            </a:r>
            <a:endParaRPr lang="en-US" sz="1300" dirty="0"/>
          </a:p>
        </p:txBody>
      </p:sp>
      <p:sp>
        <p:nvSpPr>
          <p:cNvPr id="108" name="Text 105"/>
          <p:cNvSpPr/>
          <p:nvPr/>
        </p:nvSpPr>
        <p:spPr>
          <a:xfrm>
            <a:off x="6382512" y="4270248"/>
            <a:ext cx="5230368" cy="13716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steel bracket has mass 2.0 kg. A bracket of the same size is made from aluminium alloy.</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Ratio   </a:t>
            </a:r>
            <a:r>
              <a:rPr lang="en-US" sz="1050" dirty="0">
                <a:solidFill>
                  <a:srgbClr val="262B3A"/>
                </a:solidFill>
                <a:latin typeface="Calibri" pitchFamily="34" charset="0"/>
                <a:ea typeface="Calibri" pitchFamily="34" charset="-122"/>
                <a:cs typeface="Calibri" pitchFamily="34" charset="-120"/>
              </a:rPr>
              <a:t>7.8 ÷ 2.7 = 2.9 (steel is 2.9 × denser)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Mass   </a:t>
            </a:r>
            <a:r>
              <a:rPr lang="en-US" sz="1050" dirty="0">
                <a:solidFill>
                  <a:srgbClr val="262B3A"/>
                </a:solidFill>
                <a:latin typeface="Calibri" pitchFamily="34" charset="0"/>
                <a:ea typeface="Calibri" pitchFamily="34" charset="-122"/>
                <a:cs typeface="Calibri" pitchFamily="34" charset="-120"/>
              </a:rPr>
              <a:t>2.0 × 2.7 ÷ 7.8 = 0.692 kg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about </a:t>
            </a:r>
            <a:r>
              <a:rPr lang="en-US" sz="1050" b="1" dirty="0">
                <a:solidFill>
                  <a:srgbClr val="C8414C"/>
                </a:solidFill>
                <a:latin typeface="Calibri" pitchFamily="34" charset="0"/>
                <a:ea typeface="Calibri" pitchFamily="34" charset="-122"/>
                <a:cs typeface="Calibri" pitchFamily="34" charset="-120"/>
              </a:rPr>
              <a:t>0.69 kg</a:t>
            </a:r>
            <a:r>
              <a:rPr lang="en-US" sz="1050" b="1" dirty="0">
                <a:solidFill>
                  <a:srgbClr val="C8414C"/>
                </a:solidFill>
                <a:latin typeface="Calibri" pitchFamily="34" charset="0"/>
                <a:ea typeface="Calibri" pitchFamily="34" charset="-122"/>
                <a:cs typeface="Calibri" pitchFamily="34" charset="-120"/>
              </a:rPr>
              <a:t>, but alloy is weaker, so it may need to be thicker</a:t>
            </a:r>
            <a:endParaRPr lang="en-US" sz="1050" dirty="0"/>
          </a:p>
        </p:txBody>
      </p:sp>
      <p:sp>
        <p:nvSpPr>
          <p:cNvPr id="109" name="Shape 106"/>
          <p:cNvSpPr/>
          <p:nvPr/>
        </p:nvSpPr>
        <p:spPr>
          <a:xfrm>
            <a:off x="411480" y="5833872"/>
            <a:ext cx="11368735" cy="530352"/>
          </a:xfrm>
          <a:prstGeom prst="rect">
            <a:avLst/>
          </a:prstGeom>
          <a:solidFill>
            <a:srgbClr val="FFF4E0"/>
          </a:solidFill>
          <a:ln w="6350">
            <a:solidFill>
              <a:srgbClr val="F1D9A8"/>
            </a:solidFill>
            <a:prstDash val="solid"/>
          </a:ln>
        </p:spPr>
      </p:sp>
      <p:sp>
        <p:nvSpPr>
          <p:cNvPr id="110" name="Shape 107"/>
          <p:cNvSpPr/>
          <p:nvPr/>
        </p:nvSpPr>
        <p:spPr>
          <a:xfrm>
            <a:off x="411480" y="5833872"/>
            <a:ext cx="82296" cy="530352"/>
          </a:xfrm>
          <a:prstGeom prst="rect">
            <a:avLst/>
          </a:prstGeom>
          <a:solidFill>
            <a:srgbClr val="E39A2F"/>
          </a:solidFill>
          <a:ln w="12700">
            <a:solidFill>
              <a:srgbClr val="E39A2F"/>
            </a:solidFill>
            <a:prstDash val="solid"/>
          </a:ln>
        </p:spPr>
      </p:sp>
      <p:sp>
        <p:nvSpPr>
          <p:cNvPr id="111" name="Text 10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material in the table has the </a:t>
            </a:r>
            <a:r>
              <a:rPr lang="en-US" sz="1150" b="1" dirty="0">
                <a:solidFill>
                  <a:srgbClr val="262B3A"/>
                </a:solidFill>
                <a:latin typeface="Calibri" pitchFamily="34" charset="0"/>
                <a:ea typeface="Calibri" pitchFamily="34" charset="-122"/>
                <a:cs typeface="Calibri" pitchFamily="34" charset="-120"/>
              </a:rPr>
              <a:t>lowest</a:t>
            </a:r>
            <a:r>
              <a:rPr lang="en-US" sz="1150" dirty="0">
                <a:solidFill>
                  <a:srgbClr val="262B3A"/>
                </a:solidFill>
                <a:latin typeface="Calibri" pitchFamily="34" charset="0"/>
                <a:ea typeface="Calibri" pitchFamily="34" charset="-122"/>
                <a:cs typeface="Calibri" pitchFamily="34" charset="-120"/>
              </a:rPr>
              <a:t> softening temperature? How many times denser is </a:t>
            </a:r>
            <a:r>
              <a:rPr lang="en-US" sz="1150" b="1" dirty="0">
                <a:solidFill>
                  <a:srgbClr val="262B3A"/>
                </a:solidFill>
                <a:latin typeface="Calibri" pitchFamily="34" charset="0"/>
                <a:ea typeface="Calibri" pitchFamily="34" charset="-122"/>
                <a:cs typeface="Calibri" pitchFamily="34" charset="-120"/>
              </a:rPr>
              <a:t>copper</a:t>
            </a:r>
            <a:r>
              <a:rPr lang="en-US" sz="1150" dirty="0">
                <a:solidFill>
                  <a:srgbClr val="262B3A"/>
                </a:solidFill>
                <a:latin typeface="Calibri" pitchFamily="34" charset="0"/>
                <a:ea typeface="Calibri" pitchFamily="34" charset="-122"/>
                <a:cs typeface="Calibri" pitchFamily="34" charset="-120"/>
              </a:rPr>
              <a:t> than </a:t>
            </a:r>
            <a:r>
              <a:rPr lang="en-US" sz="1150" b="1" dirty="0">
                <a:solidFill>
                  <a:srgbClr val="262B3A"/>
                </a:solidFill>
                <a:latin typeface="Calibri" pitchFamily="34" charset="0"/>
                <a:ea typeface="Calibri" pitchFamily="34" charset="-122"/>
                <a:cs typeface="Calibri" pitchFamily="34" charset="-120"/>
              </a:rPr>
              <a:t>HDPE</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Ceramics: glass and clay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properties and uses of glass and clay ceramics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C4.1.1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glass: disordered network; fired clay: crystals bonded together</a:t>
            </a:r>
            <a:endParaRPr lang="en-US" sz="1000" dirty="0"/>
          </a:p>
        </p:txBody>
      </p:sp>
      <p:sp>
        <p:nvSpPr>
          <p:cNvPr id="10" name="Text 8"/>
          <p:cNvSpPr/>
          <p:nvPr/>
        </p:nvSpPr>
        <p:spPr>
          <a:xfrm>
            <a:off x="594360" y="1325880"/>
            <a:ext cx="2560320" cy="256032"/>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Glass</a:t>
            </a:r>
            <a:endParaRPr lang="en-US" sz="1150" dirty="0"/>
          </a:p>
        </p:txBody>
      </p:sp>
      <p:sp>
        <p:nvSpPr>
          <p:cNvPr id="11" name="Shape 9"/>
          <p:cNvSpPr/>
          <p:nvPr/>
        </p:nvSpPr>
        <p:spPr>
          <a:xfrm>
            <a:off x="685800" y="1645920"/>
            <a:ext cx="2377440" cy="1737360"/>
          </a:xfrm>
          <a:prstGeom prst="rect">
            <a:avLst/>
          </a:prstGeom>
          <a:solidFill>
            <a:srgbClr val="F2EEF9"/>
          </a:solidFill>
          <a:ln w="12700">
            <a:solidFill>
              <a:srgbClr val="8C6BB8"/>
            </a:solidFill>
            <a:prstDash val="solid"/>
          </a:ln>
        </p:spPr>
      </p:sp>
      <p:sp>
        <p:nvSpPr>
          <p:cNvPr id="12" name="Shape 10"/>
          <p:cNvSpPr/>
          <p:nvPr/>
        </p:nvSpPr>
        <p:spPr>
          <a:xfrm flipV="1">
            <a:off x="911890" y="1824861"/>
            <a:ext cx="338240" cy="61450"/>
          </a:xfrm>
          <a:prstGeom prst="line">
            <a:avLst/>
          </a:prstGeom>
          <a:noFill/>
          <a:ln w="12700">
            <a:solidFill>
              <a:srgbClr val="9C8AB8"/>
            </a:solidFill>
            <a:prstDash val="solid"/>
          </a:ln>
        </p:spPr>
      </p:sp>
      <p:sp>
        <p:nvSpPr>
          <p:cNvPr id="13" name="Shape 11"/>
          <p:cNvSpPr/>
          <p:nvPr/>
        </p:nvSpPr>
        <p:spPr>
          <a:xfrm>
            <a:off x="1039862" y="1814438"/>
            <a:ext cx="82296" cy="82296"/>
          </a:xfrm>
          <a:prstGeom prst="ellipse">
            <a:avLst/>
          </a:prstGeom>
          <a:solidFill>
            <a:srgbClr val="E57373"/>
          </a:solidFill>
          <a:ln w="6350">
            <a:solidFill>
              <a:srgbClr val="A23B3B"/>
            </a:solidFill>
            <a:prstDash val="solid"/>
          </a:ln>
        </p:spPr>
      </p:sp>
      <p:sp>
        <p:nvSpPr>
          <p:cNvPr id="14" name="Shape 12"/>
          <p:cNvSpPr/>
          <p:nvPr/>
        </p:nvSpPr>
        <p:spPr>
          <a:xfrm flipH="1">
            <a:off x="857955" y="1886311"/>
            <a:ext cx="53935" cy="430689"/>
          </a:xfrm>
          <a:prstGeom prst="line">
            <a:avLst/>
          </a:prstGeom>
          <a:noFill/>
          <a:ln w="12700">
            <a:solidFill>
              <a:srgbClr val="9C8AB8"/>
            </a:solidFill>
            <a:prstDash val="solid"/>
          </a:ln>
        </p:spPr>
      </p:sp>
      <p:sp>
        <p:nvSpPr>
          <p:cNvPr id="15" name="Shape 13"/>
          <p:cNvSpPr/>
          <p:nvPr/>
        </p:nvSpPr>
        <p:spPr>
          <a:xfrm>
            <a:off x="843775" y="2060508"/>
            <a:ext cx="82296" cy="82296"/>
          </a:xfrm>
          <a:prstGeom prst="ellipse">
            <a:avLst/>
          </a:prstGeom>
          <a:solidFill>
            <a:srgbClr val="E57373"/>
          </a:solidFill>
          <a:ln w="6350">
            <a:solidFill>
              <a:srgbClr val="A23B3B"/>
            </a:solidFill>
            <a:prstDash val="solid"/>
          </a:ln>
        </p:spPr>
      </p:sp>
      <p:sp>
        <p:nvSpPr>
          <p:cNvPr id="16" name="Shape 14"/>
          <p:cNvSpPr/>
          <p:nvPr/>
        </p:nvSpPr>
        <p:spPr>
          <a:xfrm>
            <a:off x="1250130" y="1824861"/>
            <a:ext cx="141914" cy="355459"/>
          </a:xfrm>
          <a:prstGeom prst="line">
            <a:avLst/>
          </a:prstGeom>
          <a:noFill/>
          <a:ln w="12700">
            <a:solidFill>
              <a:srgbClr val="9C8AB8"/>
            </a:solidFill>
            <a:prstDash val="solid"/>
          </a:ln>
        </p:spPr>
      </p:sp>
      <p:sp>
        <p:nvSpPr>
          <p:cNvPr id="17" name="Shape 15"/>
          <p:cNvSpPr/>
          <p:nvPr/>
        </p:nvSpPr>
        <p:spPr>
          <a:xfrm>
            <a:off x="1279939" y="1961442"/>
            <a:ext cx="82296" cy="82296"/>
          </a:xfrm>
          <a:prstGeom prst="ellipse">
            <a:avLst/>
          </a:prstGeom>
          <a:solidFill>
            <a:srgbClr val="E57373"/>
          </a:solidFill>
          <a:ln w="6350">
            <a:solidFill>
              <a:srgbClr val="A23B3B"/>
            </a:solidFill>
            <a:prstDash val="solid"/>
          </a:ln>
        </p:spPr>
      </p:sp>
      <p:sp>
        <p:nvSpPr>
          <p:cNvPr id="18" name="Shape 16"/>
          <p:cNvSpPr/>
          <p:nvPr/>
        </p:nvSpPr>
        <p:spPr>
          <a:xfrm>
            <a:off x="1250130" y="1824861"/>
            <a:ext cx="522236" cy="50897"/>
          </a:xfrm>
          <a:prstGeom prst="line">
            <a:avLst/>
          </a:prstGeom>
          <a:noFill/>
          <a:ln w="12700">
            <a:solidFill>
              <a:srgbClr val="9C8AB8"/>
            </a:solidFill>
            <a:prstDash val="solid"/>
          </a:ln>
        </p:spPr>
      </p:sp>
      <p:sp>
        <p:nvSpPr>
          <p:cNvPr id="19" name="Shape 17"/>
          <p:cNvSpPr/>
          <p:nvPr/>
        </p:nvSpPr>
        <p:spPr>
          <a:xfrm>
            <a:off x="1470100" y="1809161"/>
            <a:ext cx="82296" cy="82296"/>
          </a:xfrm>
          <a:prstGeom prst="ellipse">
            <a:avLst/>
          </a:prstGeom>
          <a:solidFill>
            <a:srgbClr val="E57373"/>
          </a:solidFill>
          <a:ln w="6350">
            <a:solidFill>
              <a:srgbClr val="A23B3B"/>
            </a:solidFill>
            <a:prstDash val="solid"/>
          </a:ln>
        </p:spPr>
      </p:sp>
      <p:sp>
        <p:nvSpPr>
          <p:cNvPr id="20" name="Shape 18"/>
          <p:cNvSpPr/>
          <p:nvPr/>
        </p:nvSpPr>
        <p:spPr>
          <a:xfrm>
            <a:off x="1772366" y="1875758"/>
            <a:ext cx="14491" cy="335304"/>
          </a:xfrm>
          <a:prstGeom prst="line">
            <a:avLst/>
          </a:prstGeom>
          <a:noFill/>
          <a:ln w="12700">
            <a:solidFill>
              <a:srgbClr val="9C8AB8"/>
            </a:solidFill>
            <a:prstDash val="solid"/>
          </a:ln>
        </p:spPr>
      </p:sp>
      <p:sp>
        <p:nvSpPr>
          <p:cNvPr id="21" name="Shape 19"/>
          <p:cNvSpPr/>
          <p:nvPr/>
        </p:nvSpPr>
        <p:spPr>
          <a:xfrm>
            <a:off x="1738463" y="2002262"/>
            <a:ext cx="82296" cy="82296"/>
          </a:xfrm>
          <a:prstGeom prst="ellipse">
            <a:avLst/>
          </a:prstGeom>
          <a:solidFill>
            <a:srgbClr val="E57373"/>
          </a:solidFill>
          <a:ln w="6350">
            <a:solidFill>
              <a:srgbClr val="A23B3B"/>
            </a:solidFill>
            <a:prstDash val="solid"/>
          </a:ln>
        </p:spPr>
      </p:sp>
      <p:sp>
        <p:nvSpPr>
          <p:cNvPr id="22" name="Shape 20"/>
          <p:cNvSpPr/>
          <p:nvPr/>
        </p:nvSpPr>
        <p:spPr>
          <a:xfrm>
            <a:off x="1772366" y="1875758"/>
            <a:ext cx="340934" cy="72249"/>
          </a:xfrm>
          <a:prstGeom prst="line">
            <a:avLst/>
          </a:prstGeom>
          <a:noFill/>
          <a:ln w="12700">
            <a:solidFill>
              <a:srgbClr val="9C8AB8"/>
            </a:solidFill>
            <a:prstDash val="solid"/>
          </a:ln>
        </p:spPr>
      </p:sp>
      <p:sp>
        <p:nvSpPr>
          <p:cNvPr id="23" name="Shape 21"/>
          <p:cNvSpPr/>
          <p:nvPr/>
        </p:nvSpPr>
        <p:spPr>
          <a:xfrm>
            <a:off x="1901685" y="1870735"/>
            <a:ext cx="82296" cy="82296"/>
          </a:xfrm>
          <a:prstGeom prst="ellipse">
            <a:avLst/>
          </a:prstGeom>
          <a:solidFill>
            <a:srgbClr val="E57373"/>
          </a:solidFill>
          <a:ln w="6350">
            <a:solidFill>
              <a:srgbClr val="A23B3B"/>
            </a:solidFill>
            <a:prstDash val="solid"/>
          </a:ln>
        </p:spPr>
      </p:sp>
      <p:sp>
        <p:nvSpPr>
          <p:cNvPr id="24" name="Shape 22"/>
          <p:cNvSpPr/>
          <p:nvPr/>
        </p:nvSpPr>
        <p:spPr>
          <a:xfrm>
            <a:off x="2113300" y="1948007"/>
            <a:ext cx="155384" cy="248100"/>
          </a:xfrm>
          <a:prstGeom prst="line">
            <a:avLst/>
          </a:prstGeom>
          <a:noFill/>
          <a:ln w="12700">
            <a:solidFill>
              <a:srgbClr val="9C8AB8"/>
            </a:solidFill>
            <a:prstDash val="solid"/>
          </a:ln>
        </p:spPr>
      </p:sp>
      <p:sp>
        <p:nvSpPr>
          <p:cNvPr id="25" name="Shape 23"/>
          <p:cNvSpPr/>
          <p:nvPr/>
        </p:nvSpPr>
        <p:spPr>
          <a:xfrm>
            <a:off x="2149844" y="2030909"/>
            <a:ext cx="82296" cy="82296"/>
          </a:xfrm>
          <a:prstGeom prst="ellipse">
            <a:avLst/>
          </a:prstGeom>
          <a:solidFill>
            <a:srgbClr val="E57373"/>
          </a:solidFill>
          <a:ln w="6350">
            <a:solidFill>
              <a:srgbClr val="A23B3B"/>
            </a:solidFill>
            <a:prstDash val="solid"/>
          </a:ln>
        </p:spPr>
      </p:sp>
      <p:sp>
        <p:nvSpPr>
          <p:cNvPr id="26" name="Shape 24"/>
          <p:cNvSpPr/>
          <p:nvPr/>
        </p:nvSpPr>
        <p:spPr>
          <a:xfrm flipH="1">
            <a:off x="1786857" y="1948007"/>
            <a:ext cx="326443" cy="263055"/>
          </a:xfrm>
          <a:prstGeom prst="line">
            <a:avLst/>
          </a:prstGeom>
          <a:noFill/>
          <a:ln w="12700">
            <a:solidFill>
              <a:srgbClr val="9C8AB8"/>
            </a:solidFill>
            <a:prstDash val="solid"/>
          </a:ln>
        </p:spPr>
      </p:sp>
      <p:sp>
        <p:nvSpPr>
          <p:cNvPr id="27" name="Shape 25"/>
          <p:cNvSpPr/>
          <p:nvPr/>
        </p:nvSpPr>
        <p:spPr>
          <a:xfrm>
            <a:off x="1908930" y="2038387"/>
            <a:ext cx="82296" cy="82296"/>
          </a:xfrm>
          <a:prstGeom prst="ellipse">
            <a:avLst/>
          </a:prstGeom>
          <a:solidFill>
            <a:srgbClr val="E57373"/>
          </a:solidFill>
          <a:ln w="6350">
            <a:solidFill>
              <a:srgbClr val="A23B3B"/>
            </a:solidFill>
            <a:prstDash val="solid"/>
          </a:ln>
        </p:spPr>
      </p:sp>
      <p:sp>
        <p:nvSpPr>
          <p:cNvPr id="28" name="Shape 26"/>
          <p:cNvSpPr/>
          <p:nvPr/>
        </p:nvSpPr>
        <p:spPr>
          <a:xfrm flipH="1">
            <a:off x="2675888" y="1857223"/>
            <a:ext cx="7599" cy="402752"/>
          </a:xfrm>
          <a:prstGeom prst="line">
            <a:avLst/>
          </a:prstGeom>
          <a:noFill/>
          <a:ln w="12700">
            <a:solidFill>
              <a:srgbClr val="9C8AB8"/>
            </a:solidFill>
            <a:prstDash val="solid"/>
          </a:ln>
        </p:spPr>
      </p:sp>
      <p:sp>
        <p:nvSpPr>
          <p:cNvPr id="29" name="Shape 27"/>
          <p:cNvSpPr/>
          <p:nvPr/>
        </p:nvSpPr>
        <p:spPr>
          <a:xfrm>
            <a:off x="2638540" y="2017451"/>
            <a:ext cx="82296" cy="82296"/>
          </a:xfrm>
          <a:prstGeom prst="ellipse">
            <a:avLst/>
          </a:prstGeom>
          <a:solidFill>
            <a:srgbClr val="E57373"/>
          </a:solidFill>
          <a:ln w="6350">
            <a:solidFill>
              <a:srgbClr val="A23B3B"/>
            </a:solidFill>
            <a:prstDash val="solid"/>
          </a:ln>
        </p:spPr>
      </p:sp>
      <p:sp>
        <p:nvSpPr>
          <p:cNvPr id="30" name="Shape 28"/>
          <p:cNvSpPr/>
          <p:nvPr/>
        </p:nvSpPr>
        <p:spPr>
          <a:xfrm flipH="1">
            <a:off x="2268684" y="1857223"/>
            <a:ext cx="414804" cy="338884"/>
          </a:xfrm>
          <a:prstGeom prst="line">
            <a:avLst/>
          </a:prstGeom>
          <a:noFill/>
          <a:ln w="12700">
            <a:solidFill>
              <a:srgbClr val="9C8AB8"/>
            </a:solidFill>
            <a:prstDash val="solid"/>
          </a:ln>
        </p:spPr>
      </p:sp>
      <p:sp>
        <p:nvSpPr>
          <p:cNvPr id="31" name="Shape 29"/>
          <p:cNvSpPr/>
          <p:nvPr/>
        </p:nvSpPr>
        <p:spPr>
          <a:xfrm>
            <a:off x="2434938" y="1985517"/>
            <a:ext cx="82296" cy="82296"/>
          </a:xfrm>
          <a:prstGeom prst="ellipse">
            <a:avLst/>
          </a:prstGeom>
          <a:solidFill>
            <a:srgbClr val="E57373"/>
          </a:solidFill>
          <a:ln w="6350">
            <a:solidFill>
              <a:srgbClr val="A23B3B"/>
            </a:solidFill>
            <a:prstDash val="solid"/>
          </a:ln>
        </p:spPr>
      </p:sp>
      <p:sp>
        <p:nvSpPr>
          <p:cNvPr id="32" name="Shape 30"/>
          <p:cNvSpPr/>
          <p:nvPr/>
        </p:nvSpPr>
        <p:spPr>
          <a:xfrm flipH="1">
            <a:off x="829613" y="2317000"/>
            <a:ext cx="28342" cy="246105"/>
          </a:xfrm>
          <a:prstGeom prst="line">
            <a:avLst/>
          </a:prstGeom>
          <a:noFill/>
          <a:ln w="12700">
            <a:solidFill>
              <a:srgbClr val="9C8AB8"/>
            </a:solidFill>
            <a:prstDash val="solid"/>
          </a:ln>
        </p:spPr>
      </p:sp>
      <p:sp>
        <p:nvSpPr>
          <p:cNvPr id="33" name="Shape 31"/>
          <p:cNvSpPr/>
          <p:nvPr/>
        </p:nvSpPr>
        <p:spPr>
          <a:xfrm>
            <a:off x="802636" y="2398905"/>
            <a:ext cx="82296" cy="82296"/>
          </a:xfrm>
          <a:prstGeom prst="ellipse">
            <a:avLst/>
          </a:prstGeom>
          <a:solidFill>
            <a:srgbClr val="E57373"/>
          </a:solidFill>
          <a:ln w="6350">
            <a:solidFill>
              <a:srgbClr val="A23B3B"/>
            </a:solidFill>
            <a:prstDash val="solid"/>
          </a:ln>
        </p:spPr>
      </p:sp>
      <p:sp>
        <p:nvSpPr>
          <p:cNvPr id="34" name="Shape 32"/>
          <p:cNvSpPr/>
          <p:nvPr/>
        </p:nvSpPr>
        <p:spPr>
          <a:xfrm flipV="1">
            <a:off x="857955" y="2180320"/>
            <a:ext cx="534089" cy="136681"/>
          </a:xfrm>
          <a:prstGeom prst="line">
            <a:avLst/>
          </a:prstGeom>
          <a:noFill/>
          <a:ln w="12700">
            <a:solidFill>
              <a:srgbClr val="9C8AB8"/>
            </a:solidFill>
            <a:prstDash val="solid"/>
          </a:ln>
        </p:spPr>
      </p:sp>
      <p:sp>
        <p:nvSpPr>
          <p:cNvPr id="35" name="Shape 33"/>
          <p:cNvSpPr/>
          <p:nvPr/>
        </p:nvSpPr>
        <p:spPr>
          <a:xfrm>
            <a:off x="1083852" y="2207512"/>
            <a:ext cx="82296" cy="82296"/>
          </a:xfrm>
          <a:prstGeom prst="ellipse">
            <a:avLst/>
          </a:prstGeom>
          <a:solidFill>
            <a:srgbClr val="E57373"/>
          </a:solidFill>
          <a:ln w="6350">
            <a:solidFill>
              <a:srgbClr val="A23B3B"/>
            </a:solidFill>
            <a:prstDash val="solid"/>
          </a:ln>
        </p:spPr>
      </p:sp>
      <p:sp>
        <p:nvSpPr>
          <p:cNvPr id="36" name="Shape 34"/>
          <p:cNvSpPr/>
          <p:nvPr/>
        </p:nvSpPr>
        <p:spPr>
          <a:xfrm>
            <a:off x="1392044" y="2180320"/>
            <a:ext cx="394813" cy="30743"/>
          </a:xfrm>
          <a:prstGeom prst="line">
            <a:avLst/>
          </a:prstGeom>
          <a:noFill/>
          <a:ln w="12700">
            <a:solidFill>
              <a:srgbClr val="9C8AB8"/>
            </a:solidFill>
            <a:prstDash val="solid"/>
          </a:ln>
        </p:spPr>
      </p:sp>
      <p:sp>
        <p:nvSpPr>
          <p:cNvPr id="37" name="Shape 35"/>
          <p:cNvSpPr/>
          <p:nvPr/>
        </p:nvSpPr>
        <p:spPr>
          <a:xfrm>
            <a:off x="1548303" y="2154543"/>
            <a:ext cx="82296" cy="82296"/>
          </a:xfrm>
          <a:prstGeom prst="ellipse">
            <a:avLst/>
          </a:prstGeom>
          <a:solidFill>
            <a:srgbClr val="E57373"/>
          </a:solidFill>
          <a:ln w="6350">
            <a:solidFill>
              <a:srgbClr val="A23B3B"/>
            </a:solidFill>
            <a:prstDash val="solid"/>
          </a:ln>
        </p:spPr>
      </p:sp>
      <p:sp>
        <p:nvSpPr>
          <p:cNvPr id="38" name="Shape 36"/>
          <p:cNvSpPr/>
          <p:nvPr/>
        </p:nvSpPr>
        <p:spPr>
          <a:xfrm>
            <a:off x="1392044" y="2180320"/>
            <a:ext cx="295889" cy="459237"/>
          </a:xfrm>
          <a:prstGeom prst="line">
            <a:avLst/>
          </a:prstGeom>
          <a:noFill/>
          <a:ln w="12700">
            <a:solidFill>
              <a:srgbClr val="9C8AB8"/>
            </a:solidFill>
            <a:prstDash val="solid"/>
          </a:ln>
        </p:spPr>
      </p:sp>
      <p:sp>
        <p:nvSpPr>
          <p:cNvPr id="39" name="Shape 37"/>
          <p:cNvSpPr/>
          <p:nvPr/>
        </p:nvSpPr>
        <p:spPr>
          <a:xfrm>
            <a:off x="1498841" y="2368790"/>
            <a:ext cx="82296" cy="82296"/>
          </a:xfrm>
          <a:prstGeom prst="ellipse">
            <a:avLst/>
          </a:prstGeom>
          <a:solidFill>
            <a:srgbClr val="E57373"/>
          </a:solidFill>
          <a:ln w="6350">
            <a:solidFill>
              <a:srgbClr val="A23B3B"/>
            </a:solidFill>
            <a:prstDash val="solid"/>
          </a:ln>
        </p:spPr>
      </p:sp>
      <p:sp>
        <p:nvSpPr>
          <p:cNvPr id="40" name="Shape 38"/>
          <p:cNvSpPr/>
          <p:nvPr/>
        </p:nvSpPr>
        <p:spPr>
          <a:xfrm flipH="1">
            <a:off x="1687933" y="2211062"/>
            <a:ext cx="98924" cy="428494"/>
          </a:xfrm>
          <a:prstGeom prst="line">
            <a:avLst/>
          </a:prstGeom>
          <a:noFill/>
          <a:ln w="12700">
            <a:solidFill>
              <a:srgbClr val="9C8AB8"/>
            </a:solidFill>
            <a:prstDash val="solid"/>
          </a:ln>
        </p:spPr>
      </p:sp>
      <p:sp>
        <p:nvSpPr>
          <p:cNvPr id="41" name="Shape 39"/>
          <p:cNvSpPr/>
          <p:nvPr/>
        </p:nvSpPr>
        <p:spPr>
          <a:xfrm>
            <a:off x="1696247" y="2384161"/>
            <a:ext cx="82296" cy="82296"/>
          </a:xfrm>
          <a:prstGeom prst="ellipse">
            <a:avLst/>
          </a:prstGeom>
          <a:solidFill>
            <a:srgbClr val="E57373"/>
          </a:solidFill>
          <a:ln w="6350">
            <a:solidFill>
              <a:srgbClr val="A23B3B"/>
            </a:solidFill>
            <a:prstDash val="solid"/>
          </a:ln>
        </p:spPr>
      </p:sp>
      <p:sp>
        <p:nvSpPr>
          <p:cNvPr id="42" name="Shape 40"/>
          <p:cNvSpPr/>
          <p:nvPr/>
        </p:nvSpPr>
        <p:spPr>
          <a:xfrm flipV="1">
            <a:off x="1786857" y="2196107"/>
            <a:ext cx="481827" cy="14955"/>
          </a:xfrm>
          <a:prstGeom prst="line">
            <a:avLst/>
          </a:prstGeom>
          <a:noFill/>
          <a:ln w="12700">
            <a:solidFill>
              <a:srgbClr val="9C8AB8"/>
            </a:solidFill>
            <a:prstDash val="solid"/>
          </a:ln>
        </p:spPr>
      </p:sp>
      <p:sp>
        <p:nvSpPr>
          <p:cNvPr id="43" name="Shape 41"/>
          <p:cNvSpPr/>
          <p:nvPr/>
        </p:nvSpPr>
        <p:spPr>
          <a:xfrm>
            <a:off x="1986622" y="2162437"/>
            <a:ext cx="82296" cy="82296"/>
          </a:xfrm>
          <a:prstGeom prst="ellipse">
            <a:avLst/>
          </a:prstGeom>
          <a:solidFill>
            <a:srgbClr val="E57373"/>
          </a:solidFill>
          <a:ln w="6350">
            <a:solidFill>
              <a:srgbClr val="A23B3B"/>
            </a:solidFill>
            <a:prstDash val="solid"/>
          </a:ln>
        </p:spPr>
      </p:sp>
      <p:sp>
        <p:nvSpPr>
          <p:cNvPr id="44" name="Shape 42"/>
          <p:cNvSpPr/>
          <p:nvPr/>
        </p:nvSpPr>
        <p:spPr>
          <a:xfrm>
            <a:off x="2268684" y="2196107"/>
            <a:ext cx="74297" cy="393972"/>
          </a:xfrm>
          <a:prstGeom prst="line">
            <a:avLst/>
          </a:prstGeom>
          <a:noFill/>
          <a:ln w="12700">
            <a:solidFill>
              <a:srgbClr val="9C8AB8"/>
            </a:solidFill>
            <a:prstDash val="solid"/>
          </a:ln>
        </p:spPr>
      </p:sp>
      <p:sp>
        <p:nvSpPr>
          <p:cNvPr id="45" name="Shape 43"/>
          <p:cNvSpPr/>
          <p:nvPr/>
        </p:nvSpPr>
        <p:spPr>
          <a:xfrm>
            <a:off x="2264684" y="2351945"/>
            <a:ext cx="82296" cy="82296"/>
          </a:xfrm>
          <a:prstGeom prst="ellipse">
            <a:avLst/>
          </a:prstGeom>
          <a:solidFill>
            <a:srgbClr val="E57373"/>
          </a:solidFill>
          <a:ln w="6350">
            <a:solidFill>
              <a:srgbClr val="A23B3B"/>
            </a:solidFill>
            <a:prstDash val="solid"/>
          </a:ln>
        </p:spPr>
      </p:sp>
      <p:sp>
        <p:nvSpPr>
          <p:cNvPr id="46" name="Shape 44"/>
          <p:cNvSpPr/>
          <p:nvPr/>
        </p:nvSpPr>
        <p:spPr>
          <a:xfrm>
            <a:off x="2268684" y="2196107"/>
            <a:ext cx="407205" cy="63868"/>
          </a:xfrm>
          <a:prstGeom prst="line">
            <a:avLst/>
          </a:prstGeom>
          <a:noFill/>
          <a:ln w="12700">
            <a:solidFill>
              <a:srgbClr val="9C8AB8"/>
            </a:solidFill>
            <a:prstDash val="solid"/>
          </a:ln>
        </p:spPr>
      </p:sp>
      <p:sp>
        <p:nvSpPr>
          <p:cNvPr id="47" name="Shape 45"/>
          <p:cNvSpPr/>
          <p:nvPr/>
        </p:nvSpPr>
        <p:spPr>
          <a:xfrm>
            <a:off x="2431138" y="2186893"/>
            <a:ext cx="82296" cy="82296"/>
          </a:xfrm>
          <a:prstGeom prst="ellipse">
            <a:avLst/>
          </a:prstGeom>
          <a:solidFill>
            <a:srgbClr val="E57373"/>
          </a:solidFill>
          <a:ln w="6350">
            <a:solidFill>
              <a:srgbClr val="A23B3B"/>
            </a:solidFill>
            <a:prstDash val="solid"/>
          </a:ln>
        </p:spPr>
      </p:sp>
      <p:sp>
        <p:nvSpPr>
          <p:cNvPr id="48" name="Shape 46"/>
          <p:cNvSpPr/>
          <p:nvPr/>
        </p:nvSpPr>
        <p:spPr>
          <a:xfrm flipH="1">
            <a:off x="2638925" y="2259975"/>
            <a:ext cx="36963" cy="400158"/>
          </a:xfrm>
          <a:prstGeom prst="line">
            <a:avLst/>
          </a:prstGeom>
          <a:noFill/>
          <a:ln w="12700">
            <a:solidFill>
              <a:srgbClr val="9C8AB8"/>
            </a:solidFill>
            <a:prstDash val="solid"/>
          </a:ln>
        </p:spPr>
      </p:sp>
      <p:sp>
        <p:nvSpPr>
          <p:cNvPr id="49" name="Shape 47"/>
          <p:cNvSpPr/>
          <p:nvPr/>
        </p:nvSpPr>
        <p:spPr>
          <a:xfrm>
            <a:off x="2616259" y="2418906"/>
            <a:ext cx="82296" cy="82296"/>
          </a:xfrm>
          <a:prstGeom prst="ellipse">
            <a:avLst/>
          </a:prstGeom>
          <a:solidFill>
            <a:srgbClr val="E57373"/>
          </a:solidFill>
          <a:ln w="6350">
            <a:solidFill>
              <a:srgbClr val="A23B3B"/>
            </a:solidFill>
            <a:prstDash val="solid"/>
          </a:ln>
        </p:spPr>
      </p:sp>
      <p:sp>
        <p:nvSpPr>
          <p:cNvPr id="50" name="Shape 48"/>
          <p:cNvSpPr/>
          <p:nvPr/>
        </p:nvSpPr>
        <p:spPr>
          <a:xfrm flipH="1">
            <a:off x="2342980" y="2259975"/>
            <a:ext cx="332908" cy="330104"/>
          </a:xfrm>
          <a:prstGeom prst="line">
            <a:avLst/>
          </a:prstGeom>
          <a:noFill/>
          <a:ln w="12700">
            <a:solidFill>
              <a:srgbClr val="9C8AB8"/>
            </a:solidFill>
            <a:prstDash val="solid"/>
          </a:ln>
        </p:spPr>
      </p:sp>
      <p:sp>
        <p:nvSpPr>
          <p:cNvPr id="51" name="Shape 49"/>
          <p:cNvSpPr/>
          <p:nvPr/>
        </p:nvSpPr>
        <p:spPr>
          <a:xfrm>
            <a:off x="2468286" y="2383879"/>
            <a:ext cx="82296" cy="82296"/>
          </a:xfrm>
          <a:prstGeom prst="ellipse">
            <a:avLst/>
          </a:prstGeom>
          <a:solidFill>
            <a:srgbClr val="E57373"/>
          </a:solidFill>
          <a:ln w="6350">
            <a:solidFill>
              <a:srgbClr val="A23B3B"/>
            </a:solidFill>
            <a:prstDash val="solid"/>
          </a:ln>
        </p:spPr>
      </p:sp>
      <p:sp>
        <p:nvSpPr>
          <p:cNvPr id="52" name="Shape 50"/>
          <p:cNvSpPr/>
          <p:nvPr/>
        </p:nvSpPr>
        <p:spPr>
          <a:xfrm>
            <a:off x="829613" y="2563105"/>
            <a:ext cx="129792" cy="432685"/>
          </a:xfrm>
          <a:prstGeom prst="line">
            <a:avLst/>
          </a:prstGeom>
          <a:noFill/>
          <a:ln w="12700">
            <a:solidFill>
              <a:srgbClr val="9C8AB8"/>
            </a:solidFill>
            <a:prstDash val="solid"/>
          </a:ln>
        </p:spPr>
      </p:sp>
      <p:sp>
        <p:nvSpPr>
          <p:cNvPr id="53" name="Shape 51"/>
          <p:cNvSpPr/>
          <p:nvPr/>
        </p:nvSpPr>
        <p:spPr>
          <a:xfrm>
            <a:off x="853361" y="2738300"/>
            <a:ext cx="82296" cy="82296"/>
          </a:xfrm>
          <a:prstGeom prst="ellipse">
            <a:avLst/>
          </a:prstGeom>
          <a:solidFill>
            <a:srgbClr val="E57373"/>
          </a:solidFill>
          <a:ln w="6350">
            <a:solidFill>
              <a:srgbClr val="A23B3B"/>
            </a:solidFill>
            <a:prstDash val="solid"/>
          </a:ln>
        </p:spPr>
      </p:sp>
      <p:sp>
        <p:nvSpPr>
          <p:cNvPr id="54" name="Shape 52"/>
          <p:cNvSpPr/>
          <p:nvPr/>
        </p:nvSpPr>
        <p:spPr>
          <a:xfrm>
            <a:off x="829613" y="2563105"/>
            <a:ext cx="636190" cy="178410"/>
          </a:xfrm>
          <a:prstGeom prst="line">
            <a:avLst/>
          </a:prstGeom>
          <a:noFill/>
          <a:ln w="12700">
            <a:solidFill>
              <a:srgbClr val="9C8AB8"/>
            </a:solidFill>
            <a:prstDash val="solid"/>
          </a:ln>
        </p:spPr>
      </p:sp>
      <p:sp>
        <p:nvSpPr>
          <p:cNvPr id="55" name="Shape 53"/>
          <p:cNvSpPr/>
          <p:nvPr/>
        </p:nvSpPr>
        <p:spPr>
          <a:xfrm>
            <a:off x="1106559" y="2611162"/>
            <a:ext cx="82296" cy="82296"/>
          </a:xfrm>
          <a:prstGeom prst="ellipse">
            <a:avLst/>
          </a:prstGeom>
          <a:solidFill>
            <a:srgbClr val="E57373"/>
          </a:solidFill>
          <a:ln w="6350">
            <a:solidFill>
              <a:srgbClr val="A23B3B"/>
            </a:solidFill>
            <a:prstDash val="solid"/>
          </a:ln>
        </p:spPr>
      </p:sp>
      <p:sp>
        <p:nvSpPr>
          <p:cNvPr id="56" name="Shape 54"/>
          <p:cNvSpPr/>
          <p:nvPr/>
        </p:nvSpPr>
        <p:spPr>
          <a:xfrm flipV="1">
            <a:off x="1465802" y="2639556"/>
            <a:ext cx="222131" cy="101959"/>
          </a:xfrm>
          <a:prstGeom prst="line">
            <a:avLst/>
          </a:prstGeom>
          <a:noFill/>
          <a:ln w="12700">
            <a:solidFill>
              <a:srgbClr val="9C8AB8"/>
            </a:solidFill>
            <a:prstDash val="solid"/>
          </a:ln>
        </p:spPr>
      </p:sp>
      <p:sp>
        <p:nvSpPr>
          <p:cNvPr id="57" name="Shape 55"/>
          <p:cNvSpPr/>
          <p:nvPr/>
        </p:nvSpPr>
        <p:spPr>
          <a:xfrm>
            <a:off x="1535720" y="2649388"/>
            <a:ext cx="82296" cy="82296"/>
          </a:xfrm>
          <a:prstGeom prst="ellipse">
            <a:avLst/>
          </a:prstGeom>
          <a:solidFill>
            <a:srgbClr val="E57373"/>
          </a:solidFill>
          <a:ln w="6350">
            <a:solidFill>
              <a:srgbClr val="A23B3B"/>
            </a:solidFill>
            <a:prstDash val="solid"/>
          </a:ln>
        </p:spPr>
      </p:sp>
      <p:sp>
        <p:nvSpPr>
          <p:cNvPr id="58" name="Shape 56"/>
          <p:cNvSpPr/>
          <p:nvPr/>
        </p:nvSpPr>
        <p:spPr>
          <a:xfrm>
            <a:off x="1465802" y="2741515"/>
            <a:ext cx="307203" cy="244919"/>
          </a:xfrm>
          <a:prstGeom prst="line">
            <a:avLst/>
          </a:prstGeom>
          <a:noFill/>
          <a:ln w="12700">
            <a:solidFill>
              <a:srgbClr val="9C8AB8"/>
            </a:solidFill>
            <a:prstDash val="solid"/>
          </a:ln>
        </p:spPr>
      </p:sp>
      <p:sp>
        <p:nvSpPr>
          <p:cNvPr id="59" name="Shape 57"/>
          <p:cNvSpPr/>
          <p:nvPr/>
        </p:nvSpPr>
        <p:spPr>
          <a:xfrm>
            <a:off x="1578256" y="2822827"/>
            <a:ext cx="82296" cy="82296"/>
          </a:xfrm>
          <a:prstGeom prst="ellipse">
            <a:avLst/>
          </a:prstGeom>
          <a:solidFill>
            <a:srgbClr val="E57373"/>
          </a:solidFill>
          <a:ln w="6350">
            <a:solidFill>
              <a:srgbClr val="A23B3B"/>
            </a:solidFill>
            <a:prstDash val="solid"/>
          </a:ln>
        </p:spPr>
      </p:sp>
      <p:sp>
        <p:nvSpPr>
          <p:cNvPr id="60" name="Shape 58"/>
          <p:cNvSpPr/>
          <p:nvPr/>
        </p:nvSpPr>
        <p:spPr>
          <a:xfrm>
            <a:off x="1687933" y="2639556"/>
            <a:ext cx="85072" cy="346878"/>
          </a:xfrm>
          <a:prstGeom prst="line">
            <a:avLst/>
          </a:prstGeom>
          <a:noFill/>
          <a:ln w="12700">
            <a:solidFill>
              <a:srgbClr val="9C8AB8"/>
            </a:solidFill>
            <a:prstDash val="solid"/>
          </a:ln>
        </p:spPr>
      </p:sp>
      <p:sp>
        <p:nvSpPr>
          <p:cNvPr id="61" name="Shape 59"/>
          <p:cNvSpPr/>
          <p:nvPr/>
        </p:nvSpPr>
        <p:spPr>
          <a:xfrm>
            <a:off x="1689321" y="2771847"/>
            <a:ext cx="82296" cy="82296"/>
          </a:xfrm>
          <a:prstGeom prst="ellipse">
            <a:avLst/>
          </a:prstGeom>
          <a:solidFill>
            <a:srgbClr val="E57373"/>
          </a:solidFill>
          <a:ln w="6350">
            <a:solidFill>
              <a:srgbClr val="A23B3B"/>
            </a:solidFill>
            <a:prstDash val="solid"/>
          </a:ln>
        </p:spPr>
      </p:sp>
      <p:sp>
        <p:nvSpPr>
          <p:cNvPr id="62" name="Shape 60"/>
          <p:cNvSpPr/>
          <p:nvPr/>
        </p:nvSpPr>
        <p:spPr>
          <a:xfrm flipH="1">
            <a:off x="1264509" y="2639556"/>
            <a:ext cx="423424" cy="492938"/>
          </a:xfrm>
          <a:prstGeom prst="line">
            <a:avLst/>
          </a:prstGeom>
          <a:noFill/>
          <a:ln w="12700">
            <a:solidFill>
              <a:srgbClr val="9C8AB8"/>
            </a:solidFill>
            <a:prstDash val="solid"/>
          </a:ln>
        </p:spPr>
      </p:sp>
      <p:sp>
        <p:nvSpPr>
          <p:cNvPr id="63" name="Shape 61"/>
          <p:cNvSpPr/>
          <p:nvPr/>
        </p:nvSpPr>
        <p:spPr>
          <a:xfrm>
            <a:off x="1435073" y="2844877"/>
            <a:ext cx="82296" cy="82296"/>
          </a:xfrm>
          <a:prstGeom prst="ellipse">
            <a:avLst/>
          </a:prstGeom>
          <a:solidFill>
            <a:srgbClr val="E57373"/>
          </a:solidFill>
          <a:ln w="6350">
            <a:solidFill>
              <a:srgbClr val="A23B3B"/>
            </a:solidFill>
            <a:prstDash val="solid"/>
          </a:ln>
        </p:spPr>
      </p:sp>
      <p:sp>
        <p:nvSpPr>
          <p:cNvPr id="64" name="Shape 62"/>
          <p:cNvSpPr/>
          <p:nvPr/>
        </p:nvSpPr>
        <p:spPr>
          <a:xfrm>
            <a:off x="2342980" y="2590079"/>
            <a:ext cx="295945" cy="70054"/>
          </a:xfrm>
          <a:prstGeom prst="line">
            <a:avLst/>
          </a:prstGeom>
          <a:noFill/>
          <a:ln w="12700">
            <a:solidFill>
              <a:srgbClr val="9C8AB8"/>
            </a:solidFill>
            <a:prstDash val="solid"/>
          </a:ln>
        </p:spPr>
      </p:sp>
      <p:sp>
        <p:nvSpPr>
          <p:cNvPr id="65" name="Shape 63"/>
          <p:cNvSpPr/>
          <p:nvPr/>
        </p:nvSpPr>
        <p:spPr>
          <a:xfrm>
            <a:off x="2449805" y="2583958"/>
            <a:ext cx="82296" cy="82296"/>
          </a:xfrm>
          <a:prstGeom prst="ellipse">
            <a:avLst/>
          </a:prstGeom>
          <a:solidFill>
            <a:srgbClr val="E57373"/>
          </a:solidFill>
          <a:ln w="6350">
            <a:solidFill>
              <a:srgbClr val="A23B3B"/>
            </a:solidFill>
            <a:prstDash val="solid"/>
          </a:ln>
        </p:spPr>
      </p:sp>
      <p:sp>
        <p:nvSpPr>
          <p:cNvPr id="66" name="Shape 64"/>
          <p:cNvSpPr/>
          <p:nvPr/>
        </p:nvSpPr>
        <p:spPr>
          <a:xfrm flipH="1">
            <a:off x="2235975" y="2590079"/>
            <a:ext cx="107006" cy="415324"/>
          </a:xfrm>
          <a:prstGeom prst="line">
            <a:avLst/>
          </a:prstGeom>
          <a:noFill/>
          <a:ln w="12700">
            <a:solidFill>
              <a:srgbClr val="9C8AB8"/>
            </a:solidFill>
            <a:prstDash val="solid"/>
          </a:ln>
        </p:spPr>
      </p:sp>
      <p:sp>
        <p:nvSpPr>
          <p:cNvPr id="67" name="Shape 65"/>
          <p:cNvSpPr/>
          <p:nvPr/>
        </p:nvSpPr>
        <p:spPr>
          <a:xfrm>
            <a:off x="2248330" y="2756593"/>
            <a:ext cx="82296" cy="82296"/>
          </a:xfrm>
          <a:prstGeom prst="ellipse">
            <a:avLst/>
          </a:prstGeom>
          <a:solidFill>
            <a:srgbClr val="E57373"/>
          </a:solidFill>
          <a:ln w="6350">
            <a:solidFill>
              <a:srgbClr val="A23B3B"/>
            </a:solidFill>
            <a:prstDash val="solid"/>
          </a:ln>
        </p:spPr>
      </p:sp>
      <p:sp>
        <p:nvSpPr>
          <p:cNvPr id="68" name="Shape 66"/>
          <p:cNvSpPr/>
          <p:nvPr/>
        </p:nvSpPr>
        <p:spPr>
          <a:xfrm flipH="1">
            <a:off x="2569366" y="2660133"/>
            <a:ext cx="69560" cy="431089"/>
          </a:xfrm>
          <a:prstGeom prst="line">
            <a:avLst/>
          </a:prstGeom>
          <a:noFill/>
          <a:ln w="12700">
            <a:solidFill>
              <a:srgbClr val="9C8AB8"/>
            </a:solidFill>
            <a:prstDash val="solid"/>
          </a:ln>
        </p:spPr>
      </p:sp>
      <p:sp>
        <p:nvSpPr>
          <p:cNvPr id="69" name="Shape 67"/>
          <p:cNvSpPr/>
          <p:nvPr/>
        </p:nvSpPr>
        <p:spPr>
          <a:xfrm>
            <a:off x="2562997" y="2834530"/>
            <a:ext cx="82296" cy="82296"/>
          </a:xfrm>
          <a:prstGeom prst="ellipse">
            <a:avLst/>
          </a:prstGeom>
          <a:solidFill>
            <a:srgbClr val="E57373"/>
          </a:solidFill>
          <a:ln w="6350">
            <a:solidFill>
              <a:srgbClr val="A23B3B"/>
            </a:solidFill>
            <a:prstDash val="solid"/>
          </a:ln>
        </p:spPr>
      </p:sp>
      <p:sp>
        <p:nvSpPr>
          <p:cNvPr id="70" name="Shape 68"/>
          <p:cNvSpPr/>
          <p:nvPr/>
        </p:nvSpPr>
        <p:spPr>
          <a:xfrm flipH="1">
            <a:off x="2235975" y="2660133"/>
            <a:ext cx="402950" cy="345270"/>
          </a:xfrm>
          <a:prstGeom prst="line">
            <a:avLst/>
          </a:prstGeom>
          <a:noFill/>
          <a:ln w="12700">
            <a:solidFill>
              <a:srgbClr val="9C8AB8"/>
            </a:solidFill>
            <a:prstDash val="solid"/>
          </a:ln>
        </p:spPr>
      </p:sp>
      <p:sp>
        <p:nvSpPr>
          <p:cNvPr id="71" name="Shape 69"/>
          <p:cNvSpPr/>
          <p:nvPr/>
        </p:nvSpPr>
        <p:spPr>
          <a:xfrm>
            <a:off x="2396302" y="2791620"/>
            <a:ext cx="82296" cy="82296"/>
          </a:xfrm>
          <a:prstGeom prst="ellipse">
            <a:avLst/>
          </a:prstGeom>
          <a:solidFill>
            <a:srgbClr val="E57373"/>
          </a:solidFill>
          <a:ln w="6350">
            <a:solidFill>
              <a:srgbClr val="A23B3B"/>
            </a:solidFill>
            <a:prstDash val="solid"/>
          </a:ln>
        </p:spPr>
      </p:sp>
      <p:sp>
        <p:nvSpPr>
          <p:cNvPr id="72" name="Shape 70"/>
          <p:cNvSpPr/>
          <p:nvPr/>
        </p:nvSpPr>
        <p:spPr>
          <a:xfrm>
            <a:off x="959405" y="2995790"/>
            <a:ext cx="305104" cy="136704"/>
          </a:xfrm>
          <a:prstGeom prst="line">
            <a:avLst/>
          </a:prstGeom>
          <a:noFill/>
          <a:ln w="12700">
            <a:solidFill>
              <a:srgbClr val="9C8AB8"/>
            </a:solidFill>
            <a:prstDash val="solid"/>
          </a:ln>
        </p:spPr>
      </p:sp>
      <p:sp>
        <p:nvSpPr>
          <p:cNvPr id="73" name="Shape 71"/>
          <p:cNvSpPr/>
          <p:nvPr/>
        </p:nvSpPr>
        <p:spPr>
          <a:xfrm>
            <a:off x="1070809" y="3022994"/>
            <a:ext cx="82296" cy="82296"/>
          </a:xfrm>
          <a:prstGeom prst="ellipse">
            <a:avLst/>
          </a:prstGeom>
          <a:solidFill>
            <a:srgbClr val="E57373"/>
          </a:solidFill>
          <a:ln w="6350">
            <a:solidFill>
              <a:srgbClr val="A23B3B"/>
            </a:solidFill>
            <a:prstDash val="solid"/>
          </a:ln>
        </p:spPr>
      </p:sp>
      <p:sp>
        <p:nvSpPr>
          <p:cNvPr id="74" name="Shape 72"/>
          <p:cNvSpPr/>
          <p:nvPr/>
        </p:nvSpPr>
        <p:spPr>
          <a:xfrm flipV="1">
            <a:off x="959405" y="2986434"/>
            <a:ext cx="813601" cy="9356"/>
          </a:xfrm>
          <a:prstGeom prst="line">
            <a:avLst/>
          </a:prstGeom>
          <a:noFill/>
          <a:ln w="12700">
            <a:solidFill>
              <a:srgbClr val="9C8AB8"/>
            </a:solidFill>
            <a:prstDash val="solid"/>
          </a:ln>
        </p:spPr>
      </p:sp>
      <p:sp>
        <p:nvSpPr>
          <p:cNvPr id="75" name="Shape 73"/>
          <p:cNvSpPr/>
          <p:nvPr/>
        </p:nvSpPr>
        <p:spPr>
          <a:xfrm>
            <a:off x="1325057" y="2949964"/>
            <a:ext cx="82296" cy="82296"/>
          </a:xfrm>
          <a:prstGeom prst="ellipse">
            <a:avLst/>
          </a:prstGeom>
          <a:solidFill>
            <a:srgbClr val="E57373"/>
          </a:solidFill>
          <a:ln w="6350">
            <a:solidFill>
              <a:srgbClr val="A23B3B"/>
            </a:solidFill>
            <a:prstDash val="solid"/>
          </a:ln>
        </p:spPr>
      </p:sp>
      <p:sp>
        <p:nvSpPr>
          <p:cNvPr id="76" name="Shape 74"/>
          <p:cNvSpPr/>
          <p:nvPr/>
        </p:nvSpPr>
        <p:spPr>
          <a:xfrm flipV="1">
            <a:off x="1264509" y="2986434"/>
            <a:ext cx="508497" cy="146060"/>
          </a:xfrm>
          <a:prstGeom prst="line">
            <a:avLst/>
          </a:prstGeom>
          <a:noFill/>
          <a:ln w="12700">
            <a:solidFill>
              <a:srgbClr val="9C8AB8"/>
            </a:solidFill>
            <a:prstDash val="solid"/>
          </a:ln>
        </p:spPr>
      </p:sp>
      <p:sp>
        <p:nvSpPr>
          <p:cNvPr id="77" name="Shape 75"/>
          <p:cNvSpPr/>
          <p:nvPr/>
        </p:nvSpPr>
        <p:spPr>
          <a:xfrm>
            <a:off x="1477609" y="3018316"/>
            <a:ext cx="82296" cy="82296"/>
          </a:xfrm>
          <a:prstGeom prst="ellipse">
            <a:avLst/>
          </a:prstGeom>
          <a:solidFill>
            <a:srgbClr val="E57373"/>
          </a:solidFill>
          <a:ln w="6350">
            <a:solidFill>
              <a:srgbClr val="A23B3B"/>
            </a:solidFill>
            <a:prstDash val="solid"/>
          </a:ln>
        </p:spPr>
      </p:sp>
      <p:sp>
        <p:nvSpPr>
          <p:cNvPr id="78" name="Shape 76"/>
          <p:cNvSpPr/>
          <p:nvPr/>
        </p:nvSpPr>
        <p:spPr>
          <a:xfrm flipV="1">
            <a:off x="1264509" y="3005403"/>
            <a:ext cx="971466" cy="127091"/>
          </a:xfrm>
          <a:prstGeom prst="line">
            <a:avLst/>
          </a:prstGeom>
          <a:noFill/>
          <a:ln w="12700">
            <a:solidFill>
              <a:srgbClr val="9C8AB8"/>
            </a:solidFill>
            <a:prstDash val="solid"/>
          </a:ln>
        </p:spPr>
      </p:sp>
      <p:sp>
        <p:nvSpPr>
          <p:cNvPr id="79" name="Shape 77"/>
          <p:cNvSpPr/>
          <p:nvPr/>
        </p:nvSpPr>
        <p:spPr>
          <a:xfrm>
            <a:off x="1709094" y="3027801"/>
            <a:ext cx="82296" cy="82296"/>
          </a:xfrm>
          <a:prstGeom prst="ellipse">
            <a:avLst/>
          </a:prstGeom>
          <a:solidFill>
            <a:srgbClr val="E57373"/>
          </a:solidFill>
          <a:ln w="6350">
            <a:solidFill>
              <a:srgbClr val="A23B3B"/>
            </a:solidFill>
            <a:prstDash val="solid"/>
          </a:ln>
        </p:spPr>
      </p:sp>
      <p:sp>
        <p:nvSpPr>
          <p:cNvPr id="80" name="Shape 78"/>
          <p:cNvSpPr/>
          <p:nvPr/>
        </p:nvSpPr>
        <p:spPr>
          <a:xfrm>
            <a:off x="1773006" y="2986434"/>
            <a:ext cx="462969" cy="18969"/>
          </a:xfrm>
          <a:prstGeom prst="line">
            <a:avLst/>
          </a:prstGeom>
          <a:noFill/>
          <a:ln w="12700">
            <a:solidFill>
              <a:srgbClr val="9C8AB8"/>
            </a:solidFill>
            <a:prstDash val="solid"/>
          </a:ln>
        </p:spPr>
      </p:sp>
      <p:sp>
        <p:nvSpPr>
          <p:cNvPr id="81" name="Shape 79"/>
          <p:cNvSpPr/>
          <p:nvPr/>
        </p:nvSpPr>
        <p:spPr>
          <a:xfrm>
            <a:off x="1963342" y="2954771"/>
            <a:ext cx="82296" cy="82296"/>
          </a:xfrm>
          <a:prstGeom prst="ellipse">
            <a:avLst/>
          </a:prstGeom>
          <a:solidFill>
            <a:srgbClr val="E57373"/>
          </a:solidFill>
          <a:ln w="6350">
            <a:solidFill>
              <a:srgbClr val="A23B3B"/>
            </a:solidFill>
            <a:prstDash val="solid"/>
          </a:ln>
        </p:spPr>
      </p:sp>
      <p:sp>
        <p:nvSpPr>
          <p:cNvPr id="82" name="Shape 80"/>
          <p:cNvSpPr/>
          <p:nvPr/>
        </p:nvSpPr>
        <p:spPr>
          <a:xfrm>
            <a:off x="1773006" y="2986434"/>
            <a:ext cx="796360" cy="104788"/>
          </a:xfrm>
          <a:prstGeom prst="line">
            <a:avLst/>
          </a:prstGeom>
          <a:noFill/>
          <a:ln w="12700">
            <a:solidFill>
              <a:srgbClr val="9C8AB8"/>
            </a:solidFill>
            <a:prstDash val="solid"/>
          </a:ln>
        </p:spPr>
      </p:sp>
      <p:sp>
        <p:nvSpPr>
          <p:cNvPr id="83" name="Shape 81"/>
          <p:cNvSpPr/>
          <p:nvPr/>
        </p:nvSpPr>
        <p:spPr>
          <a:xfrm>
            <a:off x="2130038" y="2997680"/>
            <a:ext cx="82296" cy="82296"/>
          </a:xfrm>
          <a:prstGeom prst="ellipse">
            <a:avLst/>
          </a:prstGeom>
          <a:solidFill>
            <a:srgbClr val="E57373"/>
          </a:solidFill>
          <a:ln w="6350">
            <a:solidFill>
              <a:srgbClr val="A23B3B"/>
            </a:solidFill>
            <a:prstDash val="solid"/>
          </a:ln>
        </p:spPr>
      </p:sp>
      <p:sp>
        <p:nvSpPr>
          <p:cNvPr id="84" name="Shape 82"/>
          <p:cNvSpPr/>
          <p:nvPr/>
        </p:nvSpPr>
        <p:spPr>
          <a:xfrm>
            <a:off x="2235975" y="3005403"/>
            <a:ext cx="333391" cy="85819"/>
          </a:xfrm>
          <a:prstGeom prst="line">
            <a:avLst/>
          </a:prstGeom>
          <a:noFill/>
          <a:ln w="12700">
            <a:solidFill>
              <a:srgbClr val="9C8AB8"/>
            </a:solidFill>
            <a:prstDash val="solid"/>
          </a:ln>
        </p:spPr>
      </p:sp>
      <p:sp>
        <p:nvSpPr>
          <p:cNvPr id="85" name="Shape 83"/>
          <p:cNvSpPr/>
          <p:nvPr/>
        </p:nvSpPr>
        <p:spPr>
          <a:xfrm>
            <a:off x="2361522" y="3007165"/>
            <a:ext cx="82296" cy="82296"/>
          </a:xfrm>
          <a:prstGeom prst="ellipse">
            <a:avLst/>
          </a:prstGeom>
          <a:solidFill>
            <a:srgbClr val="E57373"/>
          </a:solidFill>
          <a:ln w="6350">
            <a:solidFill>
              <a:srgbClr val="A23B3B"/>
            </a:solidFill>
            <a:prstDash val="solid"/>
          </a:ln>
        </p:spPr>
      </p:sp>
      <p:sp>
        <p:nvSpPr>
          <p:cNvPr id="86" name="Shape 84"/>
          <p:cNvSpPr/>
          <p:nvPr/>
        </p:nvSpPr>
        <p:spPr>
          <a:xfrm>
            <a:off x="847882" y="1822303"/>
            <a:ext cx="128016" cy="128016"/>
          </a:xfrm>
          <a:prstGeom prst="ellipse">
            <a:avLst/>
          </a:prstGeom>
          <a:solidFill>
            <a:srgbClr val="8C6BB8"/>
          </a:solidFill>
          <a:ln w="9525">
            <a:solidFill>
              <a:srgbClr val="4E3577"/>
            </a:solidFill>
            <a:prstDash val="solid"/>
          </a:ln>
        </p:spPr>
      </p:sp>
      <p:sp>
        <p:nvSpPr>
          <p:cNvPr id="87" name="Shape 85"/>
          <p:cNvSpPr/>
          <p:nvPr/>
        </p:nvSpPr>
        <p:spPr>
          <a:xfrm>
            <a:off x="1186122" y="1760853"/>
            <a:ext cx="128016" cy="128016"/>
          </a:xfrm>
          <a:prstGeom prst="ellipse">
            <a:avLst/>
          </a:prstGeom>
          <a:solidFill>
            <a:srgbClr val="8C6BB8"/>
          </a:solidFill>
          <a:ln w="9525">
            <a:solidFill>
              <a:srgbClr val="4E3577"/>
            </a:solidFill>
            <a:prstDash val="solid"/>
          </a:ln>
        </p:spPr>
      </p:sp>
      <p:sp>
        <p:nvSpPr>
          <p:cNvPr id="88" name="Shape 86"/>
          <p:cNvSpPr/>
          <p:nvPr/>
        </p:nvSpPr>
        <p:spPr>
          <a:xfrm>
            <a:off x="1708358" y="1811750"/>
            <a:ext cx="128016" cy="128016"/>
          </a:xfrm>
          <a:prstGeom prst="ellipse">
            <a:avLst/>
          </a:prstGeom>
          <a:solidFill>
            <a:srgbClr val="8C6BB8"/>
          </a:solidFill>
          <a:ln w="9525">
            <a:solidFill>
              <a:srgbClr val="4E3577"/>
            </a:solidFill>
            <a:prstDash val="solid"/>
          </a:ln>
        </p:spPr>
      </p:sp>
      <p:sp>
        <p:nvSpPr>
          <p:cNvPr id="89" name="Shape 87"/>
          <p:cNvSpPr/>
          <p:nvPr/>
        </p:nvSpPr>
        <p:spPr>
          <a:xfrm>
            <a:off x="2049292" y="1883999"/>
            <a:ext cx="128016" cy="128016"/>
          </a:xfrm>
          <a:prstGeom prst="ellipse">
            <a:avLst/>
          </a:prstGeom>
          <a:solidFill>
            <a:srgbClr val="8C6BB8"/>
          </a:solidFill>
          <a:ln w="9525">
            <a:solidFill>
              <a:srgbClr val="4E3577"/>
            </a:solidFill>
            <a:prstDash val="solid"/>
          </a:ln>
        </p:spPr>
      </p:sp>
      <p:sp>
        <p:nvSpPr>
          <p:cNvPr id="90" name="Shape 88"/>
          <p:cNvSpPr/>
          <p:nvPr/>
        </p:nvSpPr>
        <p:spPr>
          <a:xfrm>
            <a:off x="2619480" y="1793215"/>
            <a:ext cx="128016" cy="128016"/>
          </a:xfrm>
          <a:prstGeom prst="ellipse">
            <a:avLst/>
          </a:prstGeom>
          <a:solidFill>
            <a:srgbClr val="8C6BB8"/>
          </a:solidFill>
          <a:ln w="9525">
            <a:solidFill>
              <a:srgbClr val="4E3577"/>
            </a:solidFill>
            <a:prstDash val="solid"/>
          </a:ln>
        </p:spPr>
      </p:sp>
      <p:sp>
        <p:nvSpPr>
          <p:cNvPr id="91" name="Shape 89"/>
          <p:cNvSpPr/>
          <p:nvPr/>
        </p:nvSpPr>
        <p:spPr>
          <a:xfrm>
            <a:off x="793947" y="2252992"/>
            <a:ext cx="128016" cy="128016"/>
          </a:xfrm>
          <a:prstGeom prst="ellipse">
            <a:avLst/>
          </a:prstGeom>
          <a:solidFill>
            <a:srgbClr val="8C6BB8"/>
          </a:solidFill>
          <a:ln w="9525">
            <a:solidFill>
              <a:srgbClr val="4E3577"/>
            </a:solidFill>
            <a:prstDash val="solid"/>
          </a:ln>
        </p:spPr>
      </p:sp>
      <p:sp>
        <p:nvSpPr>
          <p:cNvPr id="92" name="Shape 90"/>
          <p:cNvSpPr/>
          <p:nvPr/>
        </p:nvSpPr>
        <p:spPr>
          <a:xfrm>
            <a:off x="1328036" y="2116312"/>
            <a:ext cx="128016" cy="128016"/>
          </a:xfrm>
          <a:prstGeom prst="ellipse">
            <a:avLst/>
          </a:prstGeom>
          <a:solidFill>
            <a:srgbClr val="8C6BB8"/>
          </a:solidFill>
          <a:ln w="9525">
            <a:solidFill>
              <a:srgbClr val="4E3577"/>
            </a:solidFill>
            <a:prstDash val="solid"/>
          </a:ln>
        </p:spPr>
      </p:sp>
      <p:sp>
        <p:nvSpPr>
          <p:cNvPr id="93" name="Shape 91"/>
          <p:cNvSpPr/>
          <p:nvPr/>
        </p:nvSpPr>
        <p:spPr>
          <a:xfrm>
            <a:off x="1722849" y="2147054"/>
            <a:ext cx="128016" cy="128016"/>
          </a:xfrm>
          <a:prstGeom prst="ellipse">
            <a:avLst/>
          </a:prstGeom>
          <a:solidFill>
            <a:srgbClr val="8C6BB8"/>
          </a:solidFill>
          <a:ln w="9525">
            <a:solidFill>
              <a:srgbClr val="4E3577"/>
            </a:solidFill>
            <a:prstDash val="solid"/>
          </a:ln>
        </p:spPr>
      </p:sp>
      <p:sp>
        <p:nvSpPr>
          <p:cNvPr id="94" name="Shape 92"/>
          <p:cNvSpPr/>
          <p:nvPr/>
        </p:nvSpPr>
        <p:spPr>
          <a:xfrm>
            <a:off x="2204676" y="2132099"/>
            <a:ext cx="128016" cy="128016"/>
          </a:xfrm>
          <a:prstGeom prst="ellipse">
            <a:avLst/>
          </a:prstGeom>
          <a:solidFill>
            <a:srgbClr val="8C6BB8"/>
          </a:solidFill>
          <a:ln w="9525">
            <a:solidFill>
              <a:srgbClr val="4E3577"/>
            </a:solidFill>
            <a:prstDash val="solid"/>
          </a:ln>
        </p:spPr>
      </p:sp>
      <p:sp>
        <p:nvSpPr>
          <p:cNvPr id="95" name="Shape 93"/>
          <p:cNvSpPr/>
          <p:nvPr/>
        </p:nvSpPr>
        <p:spPr>
          <a:xfrm>
            <a:off x="2611880" y="2195967"/>
            <a:ext cx="128016" cy="128016"/>
          </a:xfrm>
          <a:prstGeom prst="ellipse">
            <a:avLst/>
          </a:prstGeom>
          <a:solidFill>
            <a:srgbClr val="8C6BB8"/>
          </a:solidFill>
          <a:ln w="9525">
            <a:solidFill>
              <a:srgbClr val="4E3577"/>
            </a:solidFill>
            <a:prstDash val="solid"/>
          </a:ln>
        </p:spPr>
      </p:sp>
      <p:sp>
        <p:nvSpPr>
          <p:cNvPr id="96" name="Shape 94"/>
          <p:cNvSpPr/>
          <p:nvPr/>
        </p:nvSpPr>
        <p:spPr>
          <a:xfrm>
            <a:off x="765605" y="2499097"/>
            <a:ext cx="128016" cy="128016"/>
          </a:xfrm>
          <a:prstGeom prst="ellipse">
            <a:avLst/>
          </a:prstGeom>
          <a:solidFill>
            <a:srgbClr val="8C6BB8"/>
          </a:solidFill>
          <a:ln w="9525">
            <a:solidFill>
              <a:srgbClr val="4E3577"/>
            </a:solidFill>
            <a:prstDash val="solid"/>
          </a:ln>
        </p:spPr>
      </p:sp>
      <p:sp>
        <p:nvSpPr>
          <p:cNvPr id="97" name="Shape 95"/>
          <p:cNvSpPr/>
          <p:nvPr/>
        </p:nvSpPr>
        <p:spPr>
          <a:xfrm>
            <a:off x="1401794" y="2677507"/>
            <a:ext cx="128016" cy="128016"/>
          </a:xfrm>
          <a:prstGeom prst="ellipse">
            <a:avLst/>
          </a:prstGeom>
          <a:solidFill>
            <a:srgbClr val="8C6BB8"/>
          </a:solidFill>
          <a:ln w="9525">
            <a:solidFill>
              <a:srgbClr val="4E3577"/>
            </a:solidFill>
            <a:prstDash val="solid"/>
          </a:ln>
        </p:spPr>
      </p:sp>
      <p:sp>
        <p:nvSpPr>
          <p:cNvPr id="98" name="Shape 96"/>
          <p:cNvSpPr/>
          <p:nvPr/>
        </p:nvSpPr>
        <p:spPr>
          <a:xfrm>
            <a:off x="1623925" y="2575548"/>
            <a:ext cx="128016" cy="128016"/>
          </a:xfrm>
          <a:prstGeom prst="ellipse">
            <a:avLst/>
          </a:prstGeom>
          <a:solidFill>
            <a:srgbClr val="8C6BB8"/>
          </a:solidFill>
          <a:ln w="9525">
            <a:solidFill>
              <a:srgbClr val="4E3577"/>
            </a:solidFill>
            <a:prstDash val="solid"/>
          </a:ln>
        </p:spPr>
      </p:sp>
      <p:sp>
        <p:nvSpPr>
          <p:cNvPr id="99" name="Shape 97"/>
          <p:cNvSpPr/>
          <p:nvPr/>
        </p:nvSpPr>
        <p:spPr>
          <a:xfrm>
            <a:off x="2278972" y="2526071"/>
            <a:ext cx="128016" cy="128016"/>
          </a:xfrm>
          <a:prstGeom prst="ellipse">
            <a:avLst/>
          </a:prstGeom>
          <a:solidFill>
            <a:srgbClr val="8C6BB8"/>
          </a:solidFill>
          <a:ln w="9525">
            <a:solidFill>
              <a:srgbClr val="4E3577"/>
            </a:solidFill>
            <a:prstDash val="solid"/>
          </a:ln>
        </p:spPr>
      </p:sp>
      <p:sp>
        <p:nvSpPr>
          <p:cNvPr id="100" name="Shape 98"/>
          <p:cNvSpPr/>
          <p:nvPr/>
        </p:nvSpPr>
        <p:spPr>
          <a:xfrm>
            <a:off x="2574917" y="2596125"/>
            <a:ext cx="128016" cy="128016"/>
          </a:xfrm>
          <a:prstGeom prst="ellipse">
            <a:avLst/>
          </a:prstGeom>
          <a:solidFill>
            <a:srgbClr val="8C6BB8"/>
          </a:solidFill>
          <a:ln w="9525">
            <a:solidFill>
              <a:srgbClr val="4E3577"/>
            </a:solidFill>
            <a:prstDash val="solid"/>
          </a:ln>
        </p:spPr>
      </p:sp>
      <p:sp>
        <p:nvSpPr>
          <p:cNvPr id="101" name="Shape 99"/>
          <p:cNvSpPr/>
          <p:nvPr/>
        </p:nvSpPr>
        <p:spPr>
          <a:xfrm>
            <a:off x="895397" y="2931782"/>
            <a:ext cx="128016" cy="128016"/>
          </a:xfrm>
          <a:prstGeom prst="ellipse">
            <a:avLst/>
          </a:prstGeom>
          <a:solidFill>
            <a:srgbClr val="8C6BB8"/>
          </a:solidFill>
          <a:ln w="9525">
            <a:solidFill>
              <a:srgbClr val="4E3577"/>
            </a:solidFill>
            <a:prstDash val="solid"/>
          </a:ln>
        </p:spPr>
      </p:sp>
      <p:sp>
        <p:nvSpPr>
          <p:cNvPr id="102" name="Shape 100"/>
          <p:cNvSpPr/>
          <p:nvPr/>
        </p:nvSpPr>
        <p:spPr>
          <a:xfrm>
            <a:off x="1200501" y="3068486"/>
            <a:ext cx="128016" cy="128016"/>
          </a:xfrm>
          <a:prstGeom prst="ellipse">
            <a:avLst/>
          </a:prstGeom>
          <a:solidFill>
            <a:srgbClr val="8C6BB8"/>
          </a:solidFill>
          <a:ln w="9525">
            <a:solidFill>
              <a:srgbClr val="4E3577"/>
            </a:solidFill>
            <a:prstDash val="solid"/>
          </a:ln>
        </p:spPr>
      </p:sp>
      <p:sp>
        <p:nvSpPr>
          <p:cNvPr id="103" name="Shape 101"/>
          <p:cNvSpPr/>
          <p:nvPr/>
        </p:nvSpPr>
        <p:spPr>
          <a:xfrm>
            <a:off x="1708998" y="2922426"/>
            <a:ext cx="128016" cy="128016"/>
          </a:xfrm>
          <a:prstGeom prst="ellipse">
            <a:avLst/>
          </a:prstGeom>
          <a:solidFill>
            <a:srgbClr val="8C6BB8"/>
          </a:solidFill>
          <a:ln w="9525">
            <a:solidFill>
              <a:srgbClr val="4E3577"/>
            </a:solidFill>
            <a:prstDash val="solid"/>
          </a:ln>
        </p:spPr>
      </p:sp>
      <p:sp>
        <p:nvSpPr>
          <p:cNvPr id="104" name="Shape 102"/>
          <p:cNvSpPr/>
          <p:nvPr/>
        </p:nvSpPr>
        <p:spPr>
          <a:xfrm>
            <a:off x="2171967" y="2941395"/>
            <a:ext cx="128016" cy="128016"/>
          </a:xfrm>
          <a:prstGeom prst="ellipse">
            <a:avLst/>
          </a:prstGeom>
          <a:solidFill>
            <a:srgbClr val="8C6BB8"/>
          </a:solidFill>
          <a:ln w="9525">
            <a:solidFill>
              <a:srgbClr val="4E3577"/>
            </a:solidFill>
            <a:prstDash val="solid"/>
          </a:ln>
        </p:spPr>
      </p:sp>
      <p:sp>
        <p:nvSpPr>
          <p:cNvPr id="105" name="Shape 103"/>
          <p:cNvSpPr/>
          <p:nvPr/>
        </p:nvSpPr>
        <p:spPr>
          <a:xfrm>
            <a:off x="2505358" y="3027214"/>
            <a:ext cx="128016" cy="128016"/>
          </a:xfrm>
          <a:prstGeom prst="ellipse">
            <a:avLst/>
          </a:prstGeom>
          <a:solidFill>
            <a:srgbClr val="8C6BB8"/>
          </a:solidFill>
          <a:ln w="9525">
            <a:solidFill>
              <a:srgbClr val="4E3577"/>
            </a:solidFill>
            <a:prstDash val="solid"/>
          </a:ln>
        </p:spPr>
      </p:sp>
      <p:sp>
        <p:nvSpPr>
          <p:cNvPr id="106" name="Shape 104"/>
          <p:cNvSpPr/>
          <p:nvPr/>
        </p:nvSpPr>
        <p:spPr>
          <a:xfrm>
            <a:off x="804672" y="3483864"/>
            <a:ext cx="128016" cy="128016"/>
          </a:xfrm>
          <a:prstGeom prst="ellipse">
            <a:avLst/>
          </a:prstGeom>
          <a:solidFill>
            <a:srgbClr val="8C6BB8"/>
          </a:solidFill>
          <a:ln w="9525">
            <a:solidFill>
              <a:srgbClr val="4E3577"/>
            </a:solidFill>
            <a:prstDash val="solid"/>
          </a:ln>
        </p:spPr>
      </p:sp>
      <p:sp>
        <p:nvSpPr>
          <p:cNvPr id="107" name="Text 105"/>
          <p:cNvSpPr/>
          <p:nvPr/>
        </p:nvSpPr>
        <p:spPr>
          <a:xfrm>
            <a:off x="987552" y="3447288"/>
            <a:ext cx="731520" cy="20116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silicon</a:t>
            </a:r>
            <a:endParaRPr lang="en-US" sz="1000" dirty="0"/>
          </a:p>
        </p:txBody>
      </p:sp>
      <p:sp>
        <p:nvSpPr>
          <p:cNvPr id="108" name="Shape 106"/>
          <p:cNvSpPr/>
          <p:nvPr/>
        </p:nvSpPr>
        <p:spPr>
          <a:xfrm>
            <a:off x="1879092" y="3506724"/>
            <a:ext cx="82296" cy="82296"/>
          </a:xfrm>
          <a:prstGeom prst="ellipse">
            <a:avLst/>
          </a:prstGeom>
          <a:solidFill>
            <a:srgbClr val="E57373"/>
          </a:solidFill>
          <a:ln w="9525">
            <a:solidFill>
              <a:srgbClr val="A23B3B"/>
            </a:solidFill>
            <a:prstDash val="solid"/>
          </a:ln>
        </p:spPr>
      </p:sp>
      <p:sp>
        <p:nvSpPr>
          <p:cNvPr id="109" name="Text 107"/>
          <p:cNvSpPr/>
          <p:nvPr/>
        </p:nvSpPr>
        <p:spPr>
          <a:xfrm>
            <a:off x="2011680" y="3447288"/>
            <a:ext cx="731520" cy="20116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oxygen</a:t>
            </a:r>
            <a:endParaRPr lang="en-US" sz="1000" dirty="0"/>
          </a:p>
        </p:txBody>
      </p:sp>
      <p:sp>
        <p:nvSpPr>
          <p:cNvPr id="110" name="Text 108"/>
          <p:cNvSpPr/>
          <p:nvPr/>
        </p:nvSpPr>
        <p:spPr>
          <a:xfrm>
            <a:off x="3246120" y="1325880"/>
            <a:ext cx="2560320" cy="256032"/>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Fired clay</a:t>
            </a:r>
            <a:r>
              <a:rPr lang="en-US" sz="1150" dirty="0">
                <a:solidFill>
                  <a:srgbClr val="2A1F3D"/>
                </a:solidFill>
                <a:latin typeface="Calibri" pitchFamily="34" charset="0"/>
                <a:ea typeface="Calibri" pitchFamily="34" charset="-122"/>
                <a:cs typeface="Calibri" pitchFamily="34" charset="-120"/>
              </a:rPr>
              <a:t> (brick, pottery)</a:t>
            </a:r>
            <a:endParaRPr lang="en-US" sz="1150" dirty="0"/>
          </a:p>
        </p:txBody>
      </p:sp>
      <p:sp>
        <p:nvSpPr>
          <p:cNvPr id="111" name="Shape 109"/>
          <p:cNvSpPr/>
          <p:nvPr/>
        </p:nvSpPr>
        <p:spPr>
          <a:xfrm>
            <a:off x="3337560" y="1645920"/>
            <a:ext cx="2377440" cy="1737360"/>
          </a:xfrm>
          <a:prstGeom prst="rect">
            <a:avLst/>
          </a:prstGeom>
          <a:solidFill>
            <a:srgbClr val="F3D9C4"/>
          </a:solidFill>
          <a:ln/>
        </p:spPr>
      </p:sp>
      <p:sp>
        <p:nvSpPr>
          <p:cNvPr id="112" name="Shape 110"/>
          <p:cNvSpPr/>
          <p:nvPr/>
        </p:nvSpPr>
        <p:spPr>
          <a:xfrm>
            <a:off x="3392424" y="1700784"/>
            <a:ext cx="470916" cy="219456"/>
          </a:xfrm>
          <a:prstGeom prst="rect">
            <a:avLst/>
          </a:prstGeom>
          <a:solidFill>
            <a:srgbClr val="C98B5A"/>
          </a:solidFill>
          <a:ln w="6350">
            <a:solidFill>
              <a:srgbClr val="8A5530"/>
            </a:solidFill>
            <a:prstDash val="solid"/>
          </a:ln>
        </p:spPr>
      </p:sp>
      <p:sp>
        <p:nvSpPr>
          <p:cNvPr id="113" name="Shape 111"/>
          <p:cNvSpPr/>
          <p:nvPr/>
        </p:nvSpPr>
        <p:spPr>
          <a:xfrm>
            <a:off x="3918204" y="1700784"/>
            <a:ext cx="470916" cy="219456"/>
          </a:xfrm>
          <a:prstGeom prst="rect">
            <a:avLst/>
          </a:prstGeom>
          <a:solidFill>
            <a:srgbClr val="C98B5A"/>
          </a:solidFill>
          <a:ln w="6350">
            <a:solidFill>
              <a:srgbClr val="8A5530"/>
            </a:solidFill>
            <a:prstDash val="solid"/>
          </a:ln>
        </p:spPr>
      </p:sp>
      <p:sp>
        <p:nvSpPr>
          <p:cNvPr id="114" name="Shape 112"/>
          <p:cNvSpPr/>
          <p:nvPr/>
        </p:nvSpPr>
        <p:spPr>
          <a:xfrm>
            <a:off x="4443984" y="1700784"/>
            <a:ext cx="470916" cy="219456"/>
          </a:xfrm>
          <a:prstGeom prst="rect">
            <a:avLst/>
          </a:prstGeom>
          <a:solidFill>
            <a:srgbClr val="C98B5A"/>
          </a:solidFill>
          <a:ln w="6350">
            <a:solidFill>
              <a:srgbClr val="8A5530"/>
            </a:solidFill>
            <a:prstDash val="solid"/>
          </a:ln>
        </p:spPr>
      </p:sp>
      <p:sp>
        <p:nvSpPr>
          <p:cNvPr id="115" name="Shape 113"/>
          <p:cNvSpPr/>
          <p:nvPr/>
        </p:nvSpPr>
        <p:spPr>
          <a:xfrm>
            <a:off x="4969764" y="1700784"/>
            <a:ext cx="470916" cy="219456"/>
          </a:xfrm>
          <a:prstGeom prst="rect">
            <a:avLst/>
          </a:prstGeom>
          <a:solidFill>
            <a:srgbClr val="C98B5A"/>
          </a:solidFill>
          <a:ln w="6350">
            <a:solidFill>
              <a:srgbClr val="8A5530"/>
            </a:solidFill>
            <a:prstDash val="solid"/>
          </a:ln>
        </p:spPr>
      </p:sp>
      <p:sp>
        <p:nvSpPr>
          <p:cNvPr id="116" name="Shape 114"/>
          <p:cNvSpPr/>
          <p:nvPr/>
        </p:nvSpPr>
        <p:spPr>
          <a:xfrm>
            <a:off x="3593592" y="1975104"/>
            <a:ext cx="470916" cy="219456"/>
          </a:xfrm>
          <a:prstGeom prst="rect">
            <a:avLst/>
          </a:prstGeom>
          <a:solidFill>
            <a:srgbClr val="C98B5A"/>
          </a:solidFill>
          <a:ln w="6350">
            <a:solidFill>
              <a:srgbClr val="8A5530"/>
            </a:solidFill>
            <a:prstDash val="solid"/>
          </a:ln>
        </p:spPr>
      </p:sp>
      <p:sp>
        <p:nvSpPr>
          <p:cNvPr id="117" name="Shape 115"/>
          <p:cNvSpPr/>
          <p:nvPr/>
        </p:nvSpPr>
        <p:spPr>
          <a:xfrm>
            <a:off x="4119372" y="1975104"/>
            <a:ext cx="470916" cy="219456"/>
          </a:xfrm>
          <a:prstGeom prst="rect">
            <a:avLst/>
          </a:prstGeom>
          <a:solidFill>
            <a:srgbClr val="C98B5A"/>
          </a:solidFill>
          <a:ln w="6350">
            <a:solidFill>
              <a:srgbClr val="8A5530"/>
            </a:solidFill>
            <a:prstDash val="solid"/>
          </a:ln>
        </p:spPr>
      </p:sp>
      <p:sp>
        <p:nvSpPr>
          <p:cNvPr id="118" name="Shape 116"/>
          <p:cNvSpPr/>
          <p:nvPr/>
        </p:nvSpPr>
        <p:spPr>
          <a:xfrm>
            <a:off x="4645152" y="1975104"/>
            <a:ext cx="470916" cy="219456"/>
          </a:xfrm>
          <a:prstGeom prst="rect">
            <a:avLst/>
          </a:prstGeom>
          <a:solidFill>
            <a:srgbClr val="C98B5A"/>
          </a:solidFill>
          <a:ln w="6350">
            <a:solidFill>
              <a:srgbClr val="8A5530"/>
            </a:solidFill>
            <a:prstDash val="solid"/>
          </a:ln>
        </p:spPr>
      </p:sp>
      <p:sp>
        <p:nvSpPr>
          <p:cNvPr id="119" name="Shape 117"/>
          <p:cNvSpPr/>
          <p:nvPr/>
        </p:nvSpPr>
        <p:spPr>
          <a:xfrm>
            <a:off x="5170932" y="1975104"/>
            <a:ext cx="470916" cy="219456"/>
          </a:xfrm>
          <a:prstGeom prst="rect">
            <a:avLst/>
          </a:prstGeom>
          <a:solidFill>
            <a:srgbClr val="C98B5A"/>
          </a:solidFill>
          <a:ln w="6350">
            <a:solidFill>
              <a:srgbClr val="8A5530"/>
            </a:solidFill>
            <a:prstDash val="solid"/>
          </a:ln>
        </p:spPr>
      </p:sp>
      <p:sp>
        <p:nvSpPr>
          <p:cNvPr id="120" name="Shape 118"/>
          <p:cNvSpPr/>
          <p:nvPr/>
        </p:nvSpPr>
        <p:spPr>
          <a:xfrm>
            <a:off x="3392424" y="2249424"/>
            <a:ext cx="470916" cy="219456"/>
          </a:xfrm>
          <a:prstGeom prst="rect">
            <a:avLst/>
          </a:prstGeom>
          <a:solidFill>
            <a:srgbClr val="C98B5A"/>
          </a:solidFill>
          <a:ln w="6350">
            <a:solidFill>
              <a:srgbClr val="8A5530"/>
            </a:solidFill>
            <a:prstDash val="solid"/>
          </a:ln>
        </p:spPr>
      </p:sp>
      <p:sp>
        <p:nvSpPr>
          <p:cNvPr id="121" name="Shape 119"/>
          <p:cNvSpPr/>
          <p:nvPr/>
        </p:nvSpPr>
        <p:spPr>
          <a:xfrm>
            <a:off x="3918204" y="2249424"/>
            <a:ext cx="470916" cy="219456"/>
          </a:xfrm>
          <a:prstGeom prst="rect">
            <a:avLst/>
          </a:prstGeom>
          <a:solidFill>
            <a:srgbClr val="C98B5A"/>
          </a:solidFill>
          <a:ln w="6350">
            <a:solidFill>
              <a:srgbClr val="8A5530"/>
            </a:solidFill>
            <a:prstDash val="solid"/>
          </a:ln>
        </p:spPr>
      </p:sp>
      <p:sp>
        <p:nvSpPr>
          <p:cNvPr id="122" name="Shape 120"/>
          <p:cNvSpPr/>
          <p:nvPr/>
        </p:nvSpPr>
        <p:spPr>
          <a:xfrm>
            <a:off x="4443984" y="2249424"/>
            <a:ext cx="470916" cy="219456"/>
          </a:xfrm>
          <a:prstGeom prst="rect">
            <a:avLst/>
          </a:prstGeom>
          <a:solidFill>
            <a:srgbClr val="C98B5A"/>
          </a:solidFill>
          <a:ln w="6350">
            <a:solidFill>
              <a:srgbClr val="8A5530"/>
            </a:solidFill>
            <a:prstDash val="solid"/>
          </a:ln>
        </p:spPr>
      </p:sp>
      <p:sp>
        <p:nvSpPr>
          <p:cNvPr id="123" name="Shape 121"/>
          <p:cNvSpPr/>
          <p:nvPr/>
        </p:nvSpPr>
        <p:spPr>
          <a:xfrm>
            <a:off x="4969764" y="2249424"/>
            <a:ext cx="470916" cy="219456"/>
          </a:xfrm>
          <a:prstGeom prst="rect">
            <a:avLst/>
          </a:prstGeom>
          <a:solidFill>
            <a:srgbClr val="C98B5A"/>
          </a:solidFill>
          <a:ln w="6350">
            <a:solidFill>
              <a:srgbClr val="8A5530"/>
            </a:solidFill>
            <a:prstDash val="solid"/>
          </a:ln>
        </p:spPr>
      </p:sp>
      <p:sp>
        <p:nvSpPr>
          <p:cNvPr id="124" name="Shape 122"/>
          <p:cNvSpPr/>
          <p:nvPr/>
        </p:nvSpPr>
        <p:spPr>
          <a:xfrm>
            <a:off x="3593592" y="2523744"/>
            <a:ext cx="470916" cy="219456"/>
          </a:xfrm>
          <a:prstGeom prst="rect">
            <a:avLst/>
          </a:prstGeom>
          <a:solidFill>
            <a:srgbClr val="C98B5A"/>
          </a:solidFill>
          <a:ln w="6350">
            <a:solidFill>
              <a:srgbClr val="8A5530"/>
            </a:solidFill>
            <a:prstDash val="solid"/>
          </a:ln>
        </p:spPr>
      </p:sp>
      <p:sp>
        <p:nvSpPr>
          <p:cNvPr id="125" name="Shape 123"/>
          <p:cNvSpPr/>
          <p:nvPr/>
        </p:nvSpPr>
        <p:spPr>
          <a:xfrm>
            <a:off x="4119372" y="2523744"/>
            <a:ext cx="470916" cy="219456"/>
          </a:xfrm>
          <a:prstGeom prst="rect">
            <a:avLst/>
          </a:prstGeom>
          <a:solidFill>
            <a:srgbClr val="C98B5A"/>
          </a:solidFill>
          <a:ln w="6350">
            <a:solidFill>
              <a:srgbClr val="8A5530"/>
            </a:solidFill>
            <a:prstDash val="solid"/>
          </a:ln>
        </p:spPr>
      </p:sp>
      <p:sp>
        <p:nvSpPr>
          <p:cNvPr id="126" name="Shape 124"/>
          <p:cNvSpPr/>
          <p:nvPr/>
        </p:nvSpPr>
        <p:spPr>
          <a:xfrm>
            <a:off x="4645152" y="2523744"/>
            <a:ext cx="470916" cy="219456"/>
          </a:xfrm>
          <a:prstGeom prst="rect">
            <a:avLst/>
          </a:prstGeom>
          <a:solidFill>
            <a:srgbClr val="C98B5A"/>
          </a:solidFill>
          <a:ln w="6350">
            <a:solidFill>
              <a:srgbClr val="8A5530"/>
            </a:solidFill>
            <a:prstDash val="solid"/>
          </a:ln>
        </p:spPr>
      </p:sp>
      <p:sp>
        <p:nvSpPr>
          <p:cNvPr id="127" name="Shape 125"/>
          <p:cNvSpPr/>
          <p:nvPr/>
        </p:nvSpPr>
        <p:spPr>
          <a:xfrm>
            <a:off x="5170932" y="2523744"/>
            <a:ext cx="470916" cy="219456"/>
          </a:xfrm>
          <a:prstGeom prst="rect">
            <a:avLst/>
          </a:prstGeom>
          <a:solidFill>
            <a:srgbClr val="C98B5A"/>
          </a:solidFill>
          <a:ln w="6350">
            <a:solidFill>
              <a:srgbClr val="8A5530"/>
            </a:solidFill>
            <a:prstDash val="solid"/>
          </a:ln>
        </p:spPr>
      </p:sp>
      <p:sp>
        <p:nvSpPr>
          <p:cNvPr id="128" name="Shape 126"/>
          <p:cNvSpPr/>
          <p:nvPr/>
        </p:nvSpPr>
        <p:spPr>
          <a:xfrm>
            <a:off x="3392424" y="2798064"/>
            <a:ext cx="470916" cy="219456"/>
          </a:xfrm>
          <a:prstGeom prst="rect">
            <a:avLst/>
          </a:prstGeom>
          <a:solidFill>
            <a:srgbClr val="C98B5A"/>
          </a:solidFill>
          <a:ln w="6350">
            <a:solidFill>
              <a:srgbClr val="8A5530"/>
            </a:solidFill>
            <a:prstDash val="solid"/>
          </a:ln>
        </p:spPr>
      </p:sp>
      <p:sp>
        <p:nvSpPr>
          <p:cNvPr id="129" name="Shape 127"/>
          <p:cNvSpPr/>
          <p:nvPr/>
        </p:nvSpPr>
        <p:spPr>
          <a:xfrm>
            <a:off x="3918204" y="2798064"/>
            <a:ext cx="470916" cy="219456"/>
          </a:xfrm>
          <a:prstGeom prst="rect">
            <a:avLst/>
          </a:prstGeom>
          <a:solidFill>
            <a:srgbClr val="C98B5A"/>
          </a:solidFill>
          <a:ln w="6350">
            <a:solidFill>
              <a:srgbClr val="8A5530"/>
            </a:solidFill>
            <a:prstDash val="solid"/>
          </a:ln>
        </p:spPr>
      </p:sp>
      <p:sp>
        <p:nvSpPr>
          <p:cNvPr id="130" name="Shape 128"/>
          <p:cNvSpPr/>
          <p:nvPr/>
        </p:nvSpPr>
        <p:spPr>
          <a:xfrm>
            <a:off x="4443984" y="2798064"/>
            <a:ext cx="470916" cy="219456"/>
          </a:xfrm>
          <a:prstGeom prst="rect">
            <a:avLst/>
          </a:prstGeom>
          <a:solidFill>
            <a:srgbClr val="C98B5A"/>
          </a:solidFill>
          <a:ln w="6350">
            <a:solidFill>
              <a:srgbClr val="8A5530"/>
            </a:solidFill>
            <a:prstDash val="solid"/>
          </a:ln>
        </p:spPr>
      </p:sp>
      <p:sp>
        <p:nvSpPr>
          <p:cNvPr id="131" name="Shape 129"/>
          <p:cNvSpPr/>
          <p:nvPr/>
        </p:nvSpPr>
        <p:spPr>
          <a:xfrm>
            <a:off x="4969764" y="2798064"/>
            <a:ext cx="470916" cy="219456"/>
          </a:xfrm>
          <a:prstGeom prst="rect">
            <a:avLst/>
          </a:prstGeom>
          <a:solidFill>
            <a:srgbClr val="C98B5A"/>
          </a:solidFill>
          <a:ln w="6350">
            <a:solidFill>
              <a:srgbClr val="8A5530"/>
            </a:solidFill>
            <a:prstDash val="solid"/>
          </a:ln>
        </p:spPr>
      </p:sp>
      <p:sp>
        <p:nvSpPr>
          <p:cNvPr id="132" name="Shape 130"/>
          <p:cNvSpPr/>
          <p:nvPr/>
        </p:nvSpPr>
        <p:spPr>
          <a:xfrm>
            <a:off x="3593592" y="3072384"/>
            <a:ext cx="470916" cy="219456"/>
          </a:xfrm>
          <a:prstGeom prst="rect">
            <a:avLst/>
          </a:prstGeom>
          <a:solidFill>
            <a:srgbClr val="C98B5A"/>
          </a:solidFill>
          <a:ln w="6350">
            <a:solidFill>
              <a:srgbClr val="8A5530"/>
            </a:solidFill>
            <a:prstDash val="solid"/>
          </a:ln>
        </p:spPr>
      </p:sp>
      <p:sp>
        <p:nvSpPr>
          <p:cNvPr id="133" name="Shape 131"/>
          <p:cNvSpPr/>
          <p:nvPr/>
        </p:nvSpPr>
        <p:spPr>
          <a:xfrm>
            <a:off x="4119372" y="3072384"/>
            <a:ext cx="470916" cy="219456"/>
          </a:xfrm>
          <a:prstGeom prst="rect">
            <a:avLst/>
          </a:prstGeom>
          <a:solidFill>
            <a:srgbClr val="C98B5A"/>
          </a:solidFill>
          <a:ln w="6350">
            <a:solidFill>
              <a:srgbClr val="8A5530"/>
            </a:solidFill>
            <a:prstDash val="solid"/>
          </a:ln>
        </p:spPr>
      </p:sp>
      <p:sp>
        <p:nvSpPr>
          <p:cNvPr id="134" name="Shape 132"/>
          <p:cNvSpPr/>
          <p:nvPr/>
        </p:nvSpPr>
        <p:spPr>
          <a:xfrm>
            <a:off x="4645152" y="3072384"/>
            <a:ext cx="470916" cy="219456"/>
          </a:xfrm>
          <a:prstGeom prst="rect">
            <a:avLst/>
          </a:prstGeom>
          <a:solidFill>
            <a:srgbClr val="C98B5A"/>
          </a:solidFill>
          <a:ln w="6350">
            <a:solidFill>
              <a:srgbClr val="8A5530"/>
            </a:solidFill>
            <a:prstDash val="solid"/>
          </a:ln>
        </p:spPr>
      </p:sp>
      <p:sp>
        <p:nvSpPr>
          <p:cNvPr id="135" name="Shape 133"/>
          <p:cNvSpPr/>
          <p:nvPr/>
        </p:nvSpPr>
        <p:spPr>
          <a:xfrm>
            <a:off x="5170932" y="3072384"/>
            <a:ext cx="470916" cy="219456"/>
          </a:xfrm>
          <a:prstGeom prst="rect">
            <a:avLst/>
          </a:prstGeom>
          <a:solidFill>
            <a:srgbClr val="C98B5A"/>
          </a:solidFill>
          <a:ln w="6350">
            <a:solidFill>
              <a:srgbClr val="8A5530"/>
            </a:solidFill>
            <a:prstDash val="solid"/>
          </a:ln>
        </p:spPr>
      </p:sp>
      <p:sp>
        <p:nvSpPr>
          <p:cNvPr id="136" name="Text 134"/>
          <p:cNvSpPr/>
          <p:nvPr/>
        </p:nvSpPr>
        <p:spPr>
          <a:xfrm>
            <a:off x="3246120" y="3447288"/>
            <a:ext cx="256032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heated in a </a:t>
            </a:r>
            <a:r>
              <a:rPr lang="en-US" sz="1000" b="1" dirty="0">
                <a:solidFill>
                  <a:srgbClr val="262B3A"/>
                </a:solidFill>
                <a:latin typeface="Calibri" pitchFamily="34" charset="0"/>
                <a:ea typeface="Calibri" pitchFamily="34" charset="-122"/>
                <a:cs typeface="Calibri" pitchFamily="34" charset="-120"/>
              </a:rPr>
              <a:t>kiln</a:t>
            </a:r>
            <a:r>
              <a:rPr lang="en-US" sz="1000" dirty="0">
                <a:solidFill>
                  <a:srgbClr val="262B3A"/>
                </a:solidFill>
                <a:latin typeface="Calibri" pitchFamily="34" charset="0"/>
                <a:ea typeface="Calibri" pitchFamily="34" charset="-122"/>
                <a:cs typeface="Calibri" pitchFamily="34" charset="-120"/>
              </a:rPr>
              <a:t> to about 1000 °C</a:t>
            </a:r>
            <a:endParaRPr lang="en-US" sz="1000" dirty="0"/>
          </a:p>
        </p:txBody>
      </p:sp>
      <p:sp>
        <p:nvSpPr>
          <p:cNvPr id="137" name="Shape 135"/>
          <p:cNvSpPr/>
          <p:nvPr/>
        </p:nvSpPr>
        <p:spPr>
          <a:xfrm>
            <a:off x="594360" y="3840480"/>
            <a:ext cx="5212080" cy="1005840"/>
          </a:xfrm>
          <a:prstGeom prst="roundRect">
            <a:avLst>
              <a:gd name="adj" fmla="val 4545"/>
            </a:avLst>
          </a:prstGeom>
          <a:solidFill>
            <a:srgbClr val="FFFFFF"/>
          </a:solidFill>
          <a:ln w="12700">
            <a:solidFill>
              <a:srgbClr val="DDD3EC"/>
            </a:solidFill>
            <a:prstDash val="solid"/>
          </a:ln>
        </p:spPr>
      </p:sp>
      <p:sp>
        <p:nvSpPr>
          <p:cNvPr id="138" name="Text 136"/>
          <p:cNvSpPr/>
          <p:nvPr/>
        </p:nvSpPr>
        <p:spPr>
          <a:xfrm>
            <a:off x="685800" y="3886200"/>
            <a:ext cx="5029200" cy="27432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Making glass</a:t>
            </a:r>
            <a:r>
              <a:rPr lang="en-US" sz="1050" dirty="0">
                <a:solidFill>
                  <a:srgbClr val="262B3A"/>
                </a:solidFill>
                <a:latin typeface="Calibri" pitchFamily="34" charset="0"/>
                <a:ea typeface="Calibri" pitchFamily="34" charset="-122"/>
                <a:cs typeface="Calibri" pitchFamily="34" charset="-120"/>
              </a:rPr>
              <a:t>: heat sand (SiO₂) with sodium carbonate and limestone to about 1500 °C</a:t>
            </a:r>
            <a:endParaRPr lang="en-US" sz="1050" dirty="0"/>
          </a:p>
        </p:txBody>
      </p:sp>
      <p:sp>
        <p:nvSpPr>
          <p:cNvPr id="139" name="Text 137"/>
          <p:cNvSpPr/>
          <p:nvPr/>
        </p:nvSpPr>
        <p:spPr>
          <a:xfrm>
            <a:off x="685800" y="4206240"/>
            <a:ext cx="5029200" cy="274320"/>
          </a:xfrm>
          <a:prstGeom prst="rect">
            <a:avLst/>
          </a:prstGeom>
          <a:noFill/>
          <a:ln/>
        </p:spPr>
        <p:txBody>
          <a:bodyPr wrap="square" lIns="0" tIns="0" rIns="0" bIns="0" rtlCol="0" anchor="ctr"/>
          <a:lstStyle/>
          <a:p>
            <a:pPr algn="ctr" indent="0" marL="0">
              <a:buNone/>
            </a:pPr>
            <a:r>
              <a:rPr lang="en-US" sz="1150" b="1" dirty="0">
                <a:solidFill>
                  <a:srgbClr val="6A3FA0"/>
                </a:solidFill>
                <a:latin typeface="Calibri" pitchFamily="34" charset="0"/>
                <a:ea typeface="Calibri" pitchFamily="34" charset="-122"/>
                <a:cs typeface="Calibri" pitchFamily="34" charset="-120"/>
              </a:rPr>
              <a:t>Na₂CO₃(s) + SiO₂(s) → Na₂SiO₃(l) + CO₂(g)</a:t>
            </a:r>
            <a:endParaRPr lang="en-US" sz="1150" dirty="0"/>
          </a:p>
        </p:txBody>
      </p:sp>
      <p:sp>
        <p:nvSpPr>
          <p:cNvPr id="140" name="Text 138"/>
          <p:cNvSpPr/>
          <p:nvPr/>
        </p:nvSpPr>
        <p:spPr>
          <a:xfrm>
            <a:off x="685800" y="4498848"/>
            <a:ext cx="502920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Clay is soft and easy to shape when wet; firing makes it hard and rigid</a:t>
            </a:r>
            <a:endParaRPr lang="en-US" sz="1050" dirty="0"/>
          </a:p>
        </p:txBody>
      </p:sp>
      <p:sp>
        <p:nvSpPr>
          <p:cNvPr id="141" name="Text 139"/>
          <p:cNvSpPr/>
          <p:nvPr/>
        </p:nvSpPr>
        <p:spPr>
          <a:xfrm>
            <a:off x="594360" y="4983480"/>
            <a:ext cx="5212080" cy="36576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Borosilicate glass (oven dishes, test tubes) softens at a higher temperature than soda-lime glass</a:t>
            </a:r>
            <a:endParaRPr lang="en-US" sz="1000" dirty="0"/>
          </a:p>
        </p:txBody>
      </p:sp>
      <p:sp>
        <p:nvSpPr>
          <p:cNvPr id="142" name="Shape 140"/>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143" name="Text 1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Properties → uses</a:t>
            </a:r>
            <a:endParaRPr lang="en-US" sz="1300" dirty="0"/>
          </a:p>
        </p:txBody>
      </p:sp>
      <p:sp>
        <p:nvSpPr>
          <p:cNvPr id="144" name="Text 142"/>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Both</a:t>
            </a:r>
            <a:r>
              <a:rPr lang="en-US" sz="1150" dirty="0">
                <a:solidFill>
                  <a:srgbClr val="262B3A"/>
                </a:solidFill>
                <a:latin typeface="Calibri" pitchFamily="34" charset="0"/>
                <a:ea typeface="Calibri" pitchFamily="34" charset="-122"/>
                <a:cs typeface="Calibri" pitchFamily="34" charset="-120"/>
              </a:rPr>
              <a:t>: hard, stiff, </a:t>
            </a:r>
            <a:r>
              <a:rPr lang="en-US" sz="1150" b="1" dirty="0">
                <a:solidFill>
                  <a:srgbClr val="262B3A"/>
                </a:solidFill>
                <a:latin typeface="Calibri" pitchFamily="34" charset="0"/>
                <a:ea typeface="Calibri" pitchFamily="34" charset="-122"/>
                <a:cs typeface="Calibri" pitchFamily="34" charset="-120"/>
              </a:rPr>
              <a:t>brittle</a:t>
            </a:r>
            <a:r>
              <a:rPr lang="en-US" sz="1150" dirty="0">
                <a:solidFill>
                  <a:srgbClr val="262B3A"/>
                </a:solidFill>
                <a:latin typeface="Calibri" pitchFamily="34" charset="0"/>
                <a:ea typeface="Calibri" pitchFamily="34" charset="-122"/>
                <a:cs typeface="Calibri" pitchFamily="34" charset="-120"/>
              </a:rPr>
              <a:t>, high melting point, strong in </a:t>
            </a:r>
            <a:r>
              <a:rPr lang="en-US" sz="1150" b="1" dirty="0">
                <a:solidFill>
                  <a:srgbClr val="262B3A"/>
                </a:solidFill>
                <a:latin typeface="Calibri" pitchFamily="34" charset="0"/>
                <a:ea typeface="Calibri" pitchFamily="34" charset="-122"/>
                <a:cs typeface="Calibri" pitchFamily="34" charset="-120"/>
              </a:rPr>
              <a:t>compression</a:t>
            </a:r>
            <a:r>
              <a:rPr lang="en-US" sz="1150" dirty="0">
                <a:solidFill>
                  <a:srgbClr val="262B3A"/>
                </a:solidFill>
                <a:latin typeface="Calibri" pitchFamily="34" charset="0"/>
                <a:ea typeface="Calibri" pitchFamily="34" charset="-122"/>
                <a:cs typeface="Calibri" pitchFamily="34" charset="-120"/>
              </a:rPr>
              <a:t> but weak in </a:t>
            </a:r>
            <a:r>
              <a:rPr lang="en-US" sz="1150" b="1" dirty="0">
                <a:solidFill>
                  <a:srgbClr val="262B3A"/>
                </a:solidFill>
                <a:latin typeface="Calibri" pitchFamily="34" charset="0"/>
                <a:ea typeface="Calibri" pitchFamily="34" charset="-122"/>
                <a:cs typeface="Calibri" pitchFamily="34" charset="-120"/>
              </a:rPr>
              <a:t>tension</a:t>
            </a:r>
            <a:r>
              <a:rPr lang="en-US" sz="1150" dirty="0">
                <a:solidFill>
                  <a:srgbClr val="262B3A"/>
                </a:solidFill>
                <a:latin typeface="Calibri" pitchFamily="34" charset="0"/>
                <a:ea typeface="Calibri" pitchFamily="34" charset="-122"/>
                <a:cs typeface="Calibri" pitchFamily="34" charset="-120"/>
              </a:rPr>
              <a:t>, electrical and heat </a:t>
            </a:r>
            <a:r>
              <a:rPr lang="en-US" sz="1150" b="1" dirty="0">
                <a:solidFill>
                  <a:srgbClr val="262B3A"/>
                </a:solidFill>
                <a:latin typeface="Calibri" pitchFamily="34" charset="0"/>
                <a:ea typeface="Calibri" pitchFamily="34" charset="-122"/>
                <a:cs typeface="Calibri" pitchFamily="34" charset="-120"/>
              </a:rPr>
              <a:t>insulators</a:t>
            </a:r>
            <a:r>
              <a:rPr lang="en-US" sz="1150" dirty="0">
                <a:solidFill>
                  <a:srgbClr val="262B3A"/>
                </a:solidFill>
                <a:latin typeface="Calibri" pitchFamily="34" charset="0"/>
                <a:ea typeface="Calibri" pitchFamily="34" charset="-122"/>
                <a:cs typeface="Calibri" pitchFamily="34" charset="-120"/>
              </a:rPr>
              <a:t>, do not corrode.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Glass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transparent</a:t>
            </a:r>
            <a:r>
              <a:rPr lang="en-US" sz="1150" dirty="0">
                <a:solidFill>
                  <a:srgbClr val="262B3A"/>
                </a:solidFill>
                <a:latin typeface="Calibri" pitchFamily="34" charset="0"/>
                <a:ea typeface="Calibri" pitchFamily="34" charset="-122"/>
                <a:cs typeface="Calibri" pitchFamily="34" charset="-120"/>
              </a:rPr>
              <a:t> → windows, bottles, lenses, optical fibres; can be melted and reshaped when hot.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Clay ceramics</a:t>
            </a:r>
            <a:r>
              <a:rPr lang="en-US" sz="1150" dirty="0">
                <a:solidFill>
                  <a:srgbClr val="262B3A"/>
                </a:solidFill>
                <a:latin typeface="Calibri" pitchFamily="34" charset="0"/>
                <a:ea typeface="Calibri" pitchFamily="34" charset="-122"/>
                <a:cs typeface="Calibri" pitchFamily="34" charset="-120"/>
              </a:rPr>
              <a:t>: cheap, hard, resist heat and water → bricks, tiles, plates, sinks, toilets, insulators on pylons.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Their main weakness: they </a:t>
            </a:r>
            <a:r>
              <a:rPr lang="en-US" sz="1150" b="1" dirty="0">
                <a:solidFill>
                  <a:srgbClr val="262B3A"/>
                </a:solidFill>
                <a:latin typeface="Calibri" pitchFamily="34" charset="0"/>
                <a:ea typeface="Calibri" pitchFamily="34" charset="-122"/>
                <a:cs typeface="Calibri" pitchFamily="34" charset="-120"/>
              </a:rPr>
              <a:t>shatter</a:t>
            </a:r>
            <a:r>
              <a:rPr lang="en-US" sz="1150" dirty="0">
                <a:solidFill>
                  <a:srgbClr val="262B3A"/>
                </a:solidFill>
                <a:latin typeface="Calibri" pitchFamily="34" charset="0"/>
                <a:ea typeface="Calibri" pitchFamily="34" charset="-122"/>
                <a:cs typeface="Calibri" pitchFamily="34" charset="-120"/>
              </a:rPr>
              <a:t> when hit or bent.</a:t>
            </a:r>
            <a:endParaRPr lang="en-US" sz="1150" dirty="0"/>
          </a:p>
        </p:txBody>
      </p:sp>
      <p:sp>
        <p:nvSpPr>
          <p:cNvPr id="145" name="Shape 143"/>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146" name="Text 144"/>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density of a brick</a:t>
            </a:r>
            <a:endParaRPr lang="en-US" sz="1300" dirty="0"/>
          </a:p>
        </p:txBody>
      </p:sp>
      <p:sp>
        <p:nvSpPr>
          <p:cNvPr id="147" name="Text 145"/>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brick is 21.5 cm × 10.25 cm × 6.5 cm and has a mass of 2.7 kg.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Volume   </a:t>
            </a:r>
            <a:r>
              <a:rPr lang="en-US" sz="1050" dirty="0">
                <a:solidFill>
                  <a:srgbClr val="262B3A"/>
                </a:solidFill>
                <a:latin typeface="Calibri" pitchFamily="34" charset="0"/>
                <a:ea typeface="Calibri" pitchFamily="34" charset="-122"/>
                <a:cs typeface="Calibri" pitchFamily="34" charset="-120"/>
              </a:rPr>
              <a:t>21.5 × 10.25 × 6.5 = 1432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Density   </a:t>
            </a:r>
            <a:r>
              <a:rPr lang="en-US" sz="1050" dirty="0">
                <a:solidFill>
                  <a:srgbClr val="262B3A"/>
                </a:solidFill>
                <a:latin typeface="Calibri" pitchFamily="34" charset="0"/>
                <a:ea typeface="Calibri" pitchFamily="34" charset="-122"/>
                <a:cs typeface="Calibri" pitchFamily="34" charset="-120"/>
              </a:rPr>
              <a:t>2700 g ÷ 1432 cm³ = 1.885</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1.9 g/cm³</a:t>
            </a:r>
            <a:r>
              <a:rPr lang="en-US" sz="1050" b="1" dirty="0">
                <a:solidFill>
                  <a:srgbClr val="C8414C"/>
                </a:solidFill>
                <a:latin typeface="Calibri" pitchFamily="34" charset="0"/>
                <a:ea typeface="Calibri" pitchFamily="34" charset="-122"/>
                <a:cs typeface="Calibri" pitchFamily="34" charset="-120"/>
              </a:rPr>
              <a:t> (2 s.f.)</a:t>
            </a:r>
            <a:endParaRPr lang="en-US" sz="1050" dirty="0"/>
          </a:p>
        </p:txBody>
      </p:sp>
      <p:sp>
        <p:nvSpPr>
          <p:cNvPr id="148" name="Shape 146"/>
          <p:cNvSpPr/>
          <p:nvPr/>
        </p:nvSpPr>
        <p:spPr>
          <a:xfrm>
            <a:off x="411480" y="5833872"/>
            <a:ext cx="11368735" cy="530352"/>
          </a:xfrm>
          <a:prstGeom prst="rect">
            <a:avLst/>
          </a:prstGeom>
          <a:solidFill>
            <a:srgbClr val="FFF4E0"/>
          </a:solidFill>
          <a:ln w="6350">
            <a:solidFill>
              <a:srgbClr val="F1D9A8"/>
            </a:solidFill>
            <a:prstDash val="solid"/>
          </a:ln>
        </p:spPr>
      </p:sp>
      <p:sp>
        <p:nvSpPr>
          <p:cNvPr id="149" name="Shape 147"/>
          <p:cNvSpPr/>
          <p:nvPr/>
        </p:nvSpPr>
        <p:spPr>
          <a:xfrm>
            <a:off x="411480" y="5833872"/>
            <a:ext cx="82296" cy="530352"/>
          </a:xfrm>
          <a:prstGeom prst="rect">
            <a:avLst/>
          </a:prstGeom>
          <a:solidFill>
            <a:srgbClr val="E39A2F"/>
          </a:solidFill>
          <a:ln w="12700">
            <a:solidFill>
              <a:srgbClr val="E39A2F"/>
            </a:solidFill>
            <a:prstDash val="solid"/>
          </a:ln>
        </p:spPr>
      </p:sp>
      <p:sp>
        <p:nvSpPr>
          <p:cNvPr id="150" name="Text 1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properties of glass that make it suitable for </a:t>
            </a:r>
            <a:r>
              <a:rPr lang="en-US" sz="1150" b="1" dirty="0">
                <a:solidFill>
                  <a:srgbClr val="262B3A"/>
                </a:solidFill>
                <a:latin typeface="Calibri" pitchFamily="34" charset="0"/>
                <a:ea typeface="Calibri" pitchFamily="34" charset="-122"/>
                <a:cs typeface="Calibri" pitchFamily="34" charset="-120"/>
              </a:rPr>
              <a:t>windows</a:t>
            </a:r>
            <a:r>
              <a:rPr lang="en-US" sz="1150" dirty="0">
                <a:solidFill>
                  <a:srgbClr val="262B3A"/>
                </a:solidFill>
                <a:latin typeface="Calibri" pitchFamily="34" charset="0"/>
                <a:ea typeface="Calibri" pitchFamily="34" charset="-122"/>
                <a:cs typeface="Calibri" pitchFamily="34" charset="-120"/>
              </a:rPr>
              <a:t>. A tile has mass </a:t>
            </a:r>
            <a:r>
              <a:rPr lang="en-US" sz="1150" b="1" dirty="0">
                <a:solidFill>
                  <a:srgbClr val="262B3A"/>
                </a:solidFill>
                <a:latin typeface="Calibri" pitchFamily="34" charset="0"/>
                <a:ea typeface="Calibri" pitchFamily="34" charset="-122"/>
                <a:cs typeface="Calibri" pitchFamily="34" charset="-120"/>
              </a:rPr>
              <a:t>20 g</a:t>
            </a:r>
            <a:r>
              <a:rPr lang="en-US" sz="1150" dirty="0">
                <a:solidFill>
                  <a:srgbClr val="262B3A"/>
                </a:solidFill>
                <a:latin typeface="Calibri" pitchFamily="34" charset="0"/>
                <a:ea typeface="Calibri" pitchFamily="34" charset="-122"/>
                <a:cs typeface="Calibri" pitchFamily="34" charset="-120"/>
              </a:rPr>
              <a:t> and volume </a:t>
            </a:r>
            <a:r>
              <a:rPr lang="en-US" sz="1150" b="1" dirty="0">
                <a:solidFill>
                  <a:srgbClr val="262B3A"/>
                </a:solidFill>
                <a:latin typeface="Calibri" pitchFamily="34" charset="0"/>
                <a:ea typeface="Calibri" pitchFamily="34" charset="-122"/>
                <a:cs typeface="Calibri" pitchFamily="34" charset="-120"/>
              </a:rPr>
              <a:t>8.0 cm³</a:t>
            </a:r>
            <a:r>
              <a:rPr lang="en-US" sz="1150" dirty="0">
                <a:solidFill>
                  <a:srgbClr val="262B3A"/>
                </a:solidFill>
                <a:latin typeface="Calibri" pitchFamily="34" charset="0"/>
                <a:ea typeface="Calibri" pitchFamily="34" charset="-122"/>
                <a:cs typeface="Calibri" pitchFamily="34" charset="-120"/>
              </a:rPr>
              <a:t>: density?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Polymers and composites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light, mouldable polymers and materials combined for strength</a:t>
            </a:r>
            <a:endParaRPr lang="en-US" sz="1100" dirty="0"/>
          </a:p>
        </p:txBody>
      </p:sp>
      <p:sp>
        <p:nvSpPr>
          <p:cNvPr id="6" name="Shape 4"/>
          <p:cNvSpPr/>
          <p:nvPr/>
        </p:nvSpPr>
        <p:spPr>
          <a:xfrm>
            <a:off x="10180015" y="292608"/>
            <a:ext cx="1600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C4.1.1  |  10</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polymer chains; fibres in a resin matrix; reinforced concrete</a:t>
            </a:r>
            <a:endParaRPr lang="en-US" sz="1000" dirty="0"/>
          </a:p>
        </p:txBody>
      </p:sp>
      <p:sp>
        <p:nvSpPr>
          <p:cNvPr id="12" name="Text 10"/>
          <p:cNvSpPr/>
          <p:nvPr/>
        </p:nvSpPr>
        <p:spPr>
          <a:xfrm>
            <a:off x="594360" y="1325880"/>
            <a:ext cx="2560320" cy="25603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Polymer</a:t>
            </a:r>
            <a:r>
              <a:rPr lang="en-US" sz="1100" dirty="0">
                <a:solidFill>
                  <a:srgbClr val="2A1F3D"/>
                </a:solidFill>
                <a:latin typeface="Calibri" pitchFamily="34" charset="0"/>
                <a:ea typeface="Calibri" pitchFamily="34" charset="-122"/>
                <a:cs typeface="Calibri" pitchFamily="34" charset="-120"/>
              </a:rPr>
              <a:t>: long chains</a:t>
            </a:r>
            <a:endParaRPr lang="en-US" sz="1100" dirty="0"/>
          </a:p>
        </p:txBody>
      </p:sp>
      <p:sp>
        <p:nvSpPr>
          <p:cNvPr id="13" name="Shape 11"/>
          <p:cNvSpPr/>
          <p:nvPr/>
        </p:nvSpPr>
        <p:spPr>
          <a:xfrm>
            <a:off x="685800" y="1645920"/>
            <a:ext cx="2377440" cy="1417320"/>
          </a:xfrm>
          <a:prstGeom prst="rect">
            <a:avLst/>
          </a:prstGeom>
          <a:solidFill>
            <a:srgbClr val="EAF5E4"/>
          </a:solidFill>
          <a:ln w="12700">
            <a:solidFill>
              <a:srgbClr val="5FA463"/>
            </a:solidFill>
            <a:prstDash val="solid"/>
          </a:ln>
        </p:spPr>
      </p:sp>
      <p:sp>
        <p:nvSpPr>
          <p:cNvPr id="14" name="Shape 12"/>
          <p:cNvSpPr/>
          <p:nvPr/>
        </p:nvSpPr>
        <p:spPr>
          <a:xfrm flipV="1">
            <a:off x="822960" y="1869490"/>
            <a:ext cx="210312" cy="21032"/>
          </a:xfrm>
          <a:prstGeom prst="line">
            <a:avLst/>
          </a:prstGeom>
          <a:noFill/>
          <a:ln w="22225">
            <a:solidFill>
              <a:srgbClr val="2F7A3A"/>
            </a:solidFill>
            <a:prstDash val="solid"/>
          </a:ln>
        </p:spPr>
      </p:sp>
      <p:sp>
        <p:nvSpPr>
          <p:cNvPr id="15" name="Shape 13"/>
          <p:cNvSpPr/>
          <p:nvPr/>
        </p:nvSpPr>
        <p:spPr>
          <a:xfrm>
            <a:off x="1033272" y="1869490"/>
            <a:ext cx="210312" cy="138469"/>
          </a:xfrm>
          <a:prstGeom prst="line">
            <a:avLst/>
          </a:prstGeom>
          <a:noFill/>
          <a:ln w="22225">
            <a:solidFill>
              <a:srgbClr val="2F7A3A"/>
            </a:solidFill>
            <a:prstDash val="solid"/>
          </a:ln>
        </p:spPr>
      </p:sp>
      <p:sp>
        <p:nvSpPr>
          <p:cNvPr id="16" name="Shape 14"/>
          <p:cNvSpPr/>
          <p:nvPr/>
        </p:nvSpPr>
        <p:spPr>
          <a:xfrm flipV="1">
            <a:off x="1243584" y="1849962"/>
            <a:ext cx="210312" cy="157997"/>
          </a:xfrm>
          <a:prstGeom prst="line">
            <a:avLst/>
          </a:prstGeom>
          <a:noFill/>
          <a:ln w="22225">
            <a:solidFill>
              <a:srgbClr val="2F7A3A"/>
            </a:solidFill>
            <a:prstDash val="solid"/>
          </a:ln>
        </p:spPr>
      </p:sp>
      <p:sp>
        <p:nvSpPr>
          <p:cNvPr id="17" name="Shape 15"/>
          <p:cNvSpPr/>
          <p:nvPr/>
        </p:nvSpPr>
        <p:spPr>
          <a:xfrm>
            <a:off x="1453896" y="1849962"/>
            <a:ext cx="210312" cy="80290"/>
          </a:xfrm>
          <a:prstGeom prst="line">
            <a:avLst/>
          </a:prstGeom>
          <a:noFill/>
          <a:ln w="22225">
            <a:solidFill>
              <a:srgbClr val="2F7A3A"/>
            </a:solidFill>
            <a:prstDash val="solid"/>
          </a:ln>
        </p:spPr>
      </p:sp>
      <p:sp>
        <p:nvSpPr>
          <p:cNvPr id="18" name="Shape 16"/>
          <p:cNvSpPr/>
          <p:nvPr/>
        </p:nvSpPr>
        <p:spPr>
          <a:xfrm flipV="1">
            <a:off x="1664208" y="1772883"/>
            <a:ext cx="210312" cy="157369"/>
          </a:xfrm>
          <a:prstGeom prst="line">
            <a:avLst/>
          </a:prstGeom>
          <a:noFill/>
          <a:ln w="22225">
            <a:solidFill>
              <a:srgbClr val="2F7A3A"/>
            </a:solidFill>
            <a:prstDash val="solid"/>
          </a:ln>
        </p:spPr>
      </p:sp>
      <p:sp>
        <p:nvSpPr>
          <p:cNvPr id="19" name="Shape 17"/>
          <p:cNvSpPr/>
          <p:nvPr/>
        </p:nvSpPr>
        <p:spPr>
          <a:xfrm>
            <a:off x="1874520" y="1772883"/>
            <a:ext cx="210312" cy="139250"/>
          </a:xfrm>
          <a:prstGeom prst="line">
            <a:avLst/>
          </a:prstGeom>
          <a:noFill/>
          <a:ln w="22225">
            <a:solidFill>
              <a:srgbClr val="2F7A3A"/>
            </a:solidFill>
            <a:prstDash val="solid"/>
          </a:ln>
        </p:spPr>
      </p:sp>
      <p:sp>
        <p:nvSpPr>
          <p:cNvPr id="20" name="Shape 18"/>
          <p:cNvSpPr/>
          <p:nvPr/>
        </p:nvSpPr>
        <p:spPr>
          <a:xfrm flipV="1">
            <a:off x="2084832" y="1827436"/>
            <a:ext cx="210312" cy="84697"/>
          </a:xfrm>
          <a:prstGeom prst="line">
            <a:avLst/>
          </a:prstGeom>
          <a:noFill/>
          <a:ln w="22225">
            <a:solidFill>
              <a:srgbClr val="2F7A3A"/>
            </a:solidFill>
            <a:prstDash val="solid"/>
          </a:ln>
        </p:spPr>
      </p:sp>
      <p:sp>
        <p:nvSpPr>
          <p:cNvPr id="21" name="Shape 19"/>
          <p:cNvSpPr/>
          <p:nvPr/>
        </p:nvSpPr>
        <p:spPr>
          <a:xfrm>
            <a:off x="2295144" y="1827436"/>
            <a:ext cx="210312" cy="170637"/>
          </a:xfrm>
          <a:prstGeom prst="line">
            <a:avLst/>
          </a:prstGeom>
          <a:noFill/>
          <a:ln w="22225">
            <a:solidFill>
              <a:srgbClr val="2F7A3A"/>
            </a:solidFill>
            <a:prstDash val="solid"/>
          </a:ln>
        </p:spPr>
      </p:sp>
      <p:sp>
        <p:nvSpPr>
          <p:cNvPr id="22" name="Shape 20"/>
          <p:cNvSpPr/>
          <p:nvPr/>
        </p:nvSpPr>
        <p:spPr>
          <a:xfrm flipV="1">
            <a:off x="2505456" y="1879726"/>
            <a:ext cx="210312" cy="118348"/>
          </a:xfrm>
          <a:prstGeom prst="line">
            <a:avLst/>
          </a:prstGeom>
          <a:noFill/>
          <a:ln w="22225">
            <a:solidFill>
              <a:srgbClr val="2F7A3A"/>
            </a:solidFill>
            <a:prstDash val="solid"/>
          </a:ln>
        </p:spPr>
      </p:sp>
      <p:sp>
        <p:nvSpPr>
          <p:cNvPr id="23" name="Shape 21"/>
          <p:cNvSpPr/>
          <p:nvPr/>
        </p:nvSpPr>
        <p:spPr>
          <a:xfrm>
            <a:off x="2715768" y="1879726"/>
            <a:ext cx="210312" cy="97414"/>
          </a:xfrm>
          <a:prstGeom prst="line">
            <a:avLst/>
          </a:prstGeom>
          <a:noFill/>
          <a:ln w="22225">
            <a:solidFill>
              <a:srgbClr val="2F7A3A"/>
            </a:solidFill>
            <a:prstDash val="solid"/>
          </a:ln>
        </p:spPr>
      </p:sp>
      <p:sp>
        <p:nvSpPr>
          <p:cNvPr id="24" name="Shape 22"/>
          <p:cNvSpPr/>
          <p:nvPr/>
        </p:nvSpPr>
        <p:spPr>
          <a:xfrm>
            <a:off x="822960" y="2115922"/>
            <a:ext cx="210312" cy="115926"/>
          </a:xfrm>
          <a:prstGeom prst="line">
            <a:avLst/>
          </a:prstGeom>
          <a:noFill/>
          <a:ln w="22225">
            <a:solidFill>
              <a:srgbClr val="2F7A3A"/>
            </a:solidFill>
            <a:prstDash val="solid"/>
          </a:ln>
        </p:spPr>
      </p:sp>
      <p:sp>
        <p:nvSpPr>
          <p:cNvPr id="25" name="Shape 23"/>
          <p:cNvSpPr/>
          <p:nvPr/>
        </p:nvSpPr>
        <p:spPr>
          <a:xfrm flipV="1">
            <a:off x="1033272" y="2070292"/>
            <a:ext cx="210312" cy="161555"/>
          </a:xfrm>
          <a:prstGeom prst="line">
            <a:avLst/>
          </a:prstGeom>
          <a:noFill/>
          <a:ln w="22225">
            <a:solidFill>
              <a:srgbClr val="2F7A3A"/>
            </a:solidFill>
            <a:prstDash val="solid"/>
          </a:ln>
        </p:spPr>
      </p:sp>
      <p:sp>
        <p:nvSpPr>
          <p:cNvPr id="26" name="Shape 24"/>
          <p:cNvSpPr/>
          <p:nvPr/>
        </p:nvSpPr>
        <p:spPr>
          <a:xfrm>
            <a:off x="1243584" y="2070292"/>
            <a:ext cx="210312" cy="80568"/>
          </a:xfrm>
          <a:prstGeom prst="line">
            <a:avLst/>
          </a:prstGeom>
          <a:noFill/>
          <a:ln w="22225">
            <a:solidFill>
              <a:srgbClr val="2F7A3A"/>
            </a:solidFill>
            <a:prstDash val="solid"/>
          </a:ln>
        </p:spPr>
      </p:sp>
      <p:sp>
        <p:nvSpPr>
          <p:cNvPr id="27" name="Shape 25"/>
          <p:cNvSpPr/>
          <p:nvPr/>
        </p:nvSpPr>
        <p:spPr>
          <a:xfrm flipV="1">
            <a:off x="1453896" y="1997396"/>
            <a:ext cx="210312" cy="153465"/>
          </a:xfrm>
          <a:prstGeom prst="line">
            <a:avLst/>
          </a:prstGeom>
          <a:noFill/>
          <a:ln w="22225">
            <a:solidFill>
              <a:srgbClr val="2F7A3A"/>
            </a:solidFill>
            <a:prstDash val="solid"/>
          </a:ln>
        </p:spPr>
      </p:sp>
      <p:sp>
        <p:nvSpPr>
          <p:cNvPr id="28" name="Shape 26"/>
          <p:cNvSpPr/>
          <p:nvPr/>
        </p:nvSpPr>
        <p:spPr>
          <a:xfrm>
            <a:off x="1664208" y="1997396"/>
            <a:ext cx="210312" cy="143825"/>
          </a:xfrm>
          <a:prstGeom prst="line">
            <a:avLst/>
          </a:prstGeom>
          <a:noFill/>
          <a:ln w="22225">
            <a:solidFill>
              <a:srgbClr val="2F7A3A"/>
            </a:solidFill>
            <a:prstDash val="solid"/>
          </a:ln>
        </p:spPr>
      </p:sp>
      <p:sp>
        <p:nvSpPr>
          <p:cNvPr id="29" name="Shape 27"/>
          <p:cNvSpPr/>
          <p:nvPr/>
        </p:nvSpPr>
        <p:spPr>
          <a:xfrm flipV="1">
            <a:off x="1874520" y="2058308"/>
            <a:ext cx="210312" cy="82913"/>
          </a:xfrm>
          <a:prstGeom prst="line">
            <a:avLst/>
          </a:prstGeom>
          <a:noFill/>
          <a:ln w="22225">
            <a:solidFill>
              <a:srgbClr val="2F7A3A"/>
            </a:solidFill>
            <a:prstDash val="solid"/>
          </a:ln>
        </p:spPr>
      </p:sp>
      <p:sp>
        <p:nvSpPr>
          <p:cNvPr id="30" name="Shape 28"/>
          <p:cNvSpPr/>
          <p:nvPr/>
        </p:nvSpPr>
        <p:spPr>
          <a:xfrm>
            <a:off x="2084832" y="2058308"/>
            <a:ext cx="210312" cy="168280"/>
          </a:xfrm>
          <a:prstGeom prst="line">
            <a:avLst/>
          </a:prstGeom>
          <a:noFill/>
          <a:ln w="22225">
            <a:solidFill>
              <a:srgbClr val="2F7A3A"/>
            </a:solidFill>
            <a:prstDash val="solid"/>
          </a:ln>
        </p:spPr>
      </p:sp>
      <p:sp>
        <p:nvSpPr>
          <p:cNvPr id="31" name="Shape 29"/>
          <p:cNvSpPr/>
          <p:nvPr/>
        </p:nvSpPr>
        <p:spPr>
          <a:xfrm flipV="1">
            <a:off x="2295144" y="2103526"/>
            <a:ext cx="210312" cy="123062"/>
          </a:xfrm>
          <a:prstGeom prst="line">
            <a:avLst/>
          </a:prstGeom>
          <a:noFill/>
          <a:ln w="22225">
            <a:solidFill>
              <a:srgbClr val="2F7A3A"/>
            </a:solidFill>
            <a:prstDash val="solid"/>
          </a:ln>
        </p:spPr>
      </p:sp>
      <p:sp>
        <p:nvSpPr>
          <p:cNvPr id="32" name="Shape 30"/>
          <p:cNvSpPr/>
          <p:nvPr/>
        </p:nvSpPr>
        <p:spPr>
          <a:xfrm>
            <a:off x="2505456" y="2103526"/>
            <a:ext cx="210312" cy="93911"/>
          </a:xfrm>
          <a:prstGeom prst="line">
            <a:avLst/>
          </a:prstGeom>
          <a:noFill/>
          <a:ln w="22225">
            <a:solidFill>
              <a:srgbClr val="2F7A3A"/>
            </a:solidFill>
            <a:prstDash val="solid"/>
          </a:ln>
        </p:spPr>
      </p:sp>
      <p:sp>
        <p:nvSpPr>
          <p:cNvPr id="33" name="Shape 31"/>
          <p:cNvSpPr/>
          <p:nvPr/>
        </p:nvSpPr>
        <p:spPr>
          <a:xfrm flipV="1">
            <a:off x="2715768" y="2022066"/>
            <a:ext cx="210312" cy="175370"/>
          </a:xfrm>
          <a:prstGeom prst="line">
            <a:avLst/>
          </a:prstGeom>
          <a:noFill/>
          <a:ln w="22225">
            <a:solidFill>
              <a:srgbClr val="2F7A3A"/>
            </a:solidFill>
            <a:prstDash val="solid"/>
          </a:ln>
        </p:spPr>
      </p:sp>
      <p:sp>
        <p:nvSpPr>
          <p:cNvPr id="34" name="Shape 32"/>
          <p:cNvSpPr/>
          <p:nvPr/>
        </p:nvSpPr>
        <p:spPr>
          <a:xfrm flipV="1">
            <a:off x="822960" y="2303698"/>
            <a:ext cx="210312" cy="50882"/>
          </a:xfrm>
          <a:prstGeom prst="line">
            <a:avLst/>
          </a:prstGeom>
          <a:noFill/>
          <a:ln w="22225">
            <a:solidFill>
              <a:srgbClr val="2F7A3A"/>
            </a:solidFill>
            <a:prstDash val="solid"/>
          </a:ln>
        </p:spPr>
      </p:sp>
      <p:sp>
        <p:nvSpPr>
          <p:cNvPr id="35" name="Shape 33"/>
          <p:cNvSpPr/>
          <p:nvPr/>
        </p:nvSpPr>
        <p:spPr>
          <a:xfrm>
            <a:off x="1033272" y="2303698"/>
            <a:ext cx="210312" cy="81321"/>
          </a:xfrm>
          <a:prstGeom prst="line">
            <a:avLst/>
          </a:prstGeom>
          <a:noFill/>
          <a:ln w="22225">
            <a:solidFill>
              <a:srgbClr val="2F7A3A"/>
            </a:solidFill>
            <a:prstDash val="solid"/>
          </a:ln>
        </p:spPr>
      </p:sp>
      <p:sp>
        <p:nvSpPr>
          <p:cNvPr id="36" name="Shape 34"/>
          <p:cNvSpPr/>
          <p:nvPr/>
        </p:nvSpPr>
        <p:spPr>
          <a:xfrm flipV="1">
            <a:off x="1243584" y="2235712"/>
            <a:ext cx="210312" cy="149307"/>
          </a:xfrm>
          <a:prstGeom prst="line">
            <a:avLst/>
          </a:prstGeom>
          <a:noFill/>
          <a:ln w="22225">
            <a:solidFill>
              <a:srgbClr val="2F7A3A"/>
            </a:solidFill>
            <a:prstDash val="solid"/>
          </a:ln>
        </p:spPr>
      </p:sp>
      <p:sp>
        <p:nvSpPr>
          <p:cNvPr id="37" name="Shape 35"/>
          <p:cNvSpPr/>
          <p:nvPr/>
        </p:nvSpPr>
        <p:spPr>
          <a:xfrm>
            <a:off x="1453896" y="2235712"/>
            <a:ext cx="210312" cy="148242"/>
          </a:xfrm>
          <a:prstGeom prst="line">
            <a:avLst/>
          </a:prstGeom>
          <a:noFill/>
          <a:ln w="22225">
            <a:solidFill>
              <a:srgbClr val="2F7A3A"/>
            </a:solidFill>
            <a:prstDash val="solid"/>
          </a:ln>
        </p:spPr>
      </p:sp>
      <p:sp>
        <p:nvSpPr>
          <p:cNvPr id="38" name="Shape 36"/>
          <p:cNvSpPr/>
          <p:nvPr/>
        </p:nvSpPr>
        <p:spPr>
          <a:xfrm flipV="1">
            <a:off x="1664208" y="2302374"/>
            <a:ext cx="210312" cy="81580"/>
          </a:xfrm>
          <a:prstGeom prst="line">
            <a:avLst/>
          </a:prstGeom>
          <a:noFill/>
          <a:ln w="22225">
            <a:solidFill>
              <a:srgbClr val="2F7A3A"/>
            </a:solidFill>
            <a:prstDash val="solid"/>
          </a:ln>
        </p:spPr>
      </p:sp>
      <p:sp>
        <p:nvSpPr>
          <p:cNvPr id="39" name="Shape 37"/>
          <p:cNvSpPr/>
          <p:nvPr/>
        </p:nvSpPr>
        <p:spPr>
          <a:xfrm>
            <a:off x="1874520" y="2302374"/>
            <a:ext cx="210312" cy="165520"/>
          </a:xfrm>
          <a:prstGeom prst="line">
            <a:avLst/>
          </a:prstGeom>
          <a:noFill/>
          <a:ln w="22225">
            <a:solidFill>
              <a:srgbClr val="2F7A3A"/>
            </a:solidFill>
            <a:prstDash val="solid"/>
          </a:ln>
        </p:spPr>
      </p:sp>
      <p:sp>
        <p:nvSpPr>
          <p:cNvPr id="40" name="Shape 38"/>
          <p:cNvSpPr/>
          <p:nvPr/>
        </p:nvSpPr>
        <p:spPr>
          <a:xfrm flipV="1">
            <a:off x="2084832" y="2340069"/>
            <a:ext cx="210312" cy="127826"/>
          </a:xfrm>
          <a:prstGeom prst="line">
            <a:avLst/>
          </a:prstGeom>
          <a:noFill/>
          <a:ln w="22225">
            <a:solidFill>
              <a:srgbClr val="2F7A3A"/>
            </a:solidFill>
            <a:prstDash val="solid"/>
          </a:ln>
        </p:spPr>
      </p:sp>
      <p:sp>
        <p:nvSpPr>
          <p:cNvPr id="41" name="Shape 39"/>
          <p:cNvSpPr/>
          <p:nvPr/>
        </p:nvSpPr>
        <p:spPr>
          <a:xfrm>
            <a:off x="2295144" y="2340069"/>
            <a:ext cx="210312" cy="90748"/>
          </a:xfrm>
          <a:prstGeom prst="line">
            <a:avLst/>
          </a:prstGeom>
          <a:noFill/>
          <a:ln w="22225">
            <a:solidFill>
              <a:srgbClr val="2F7A3A"/>
            </a:solidFill>
            <a:prstDash val="solid"/>
          </a:ln>
        </p:spPr>
      </p:sp>
      <p:sp>
        <p:nvSpPr>
          <p:cNvPr id="42" name="Shape 40"/>
          <p:cNvSpPr/>
          <p:nvPr/>
        </p:nvSpPr>
        <p:spPr>
          <a:xfrm flipV="1">
            <a:off x="2505456" y="2256278"/>
            <a:ext cx="210312" cy="174539"/>
          </a:xfrm>
          <a:prstGeom prst="line">
            <a:avLst/>
          </a:prstGeom>
          <a:noFill/>
          <a:ln w="22225">
            <a:solidFill>
              <a:srgbClr val="2F7A3A"/>
            </a:solidFill>
            <a:prstDash val="solid"/>
          </a:ln>
        </p:spPr>
      </p:sp>
      <p:sp>
        <p:nvSpPr>
          <p:cNvPr id="43" name="Shape 41"/>
          <p:cNvSpPr/>
          <p:nvPr/>
        </p:nvSpPr>
        <p:spPr>
          <a:xfrm>
            <a:off x="2715768" y="2256278"/>
            <a:ext cx="210312" cy="107446"/>
          </a:xfrm>
          <a:prstGeom prst="line">
            <a:avLst/>
          </a:prstGeom>
          <a:noFill/>
          <a:ln w="22225">
            <a:solidFill>
              <a:srgbClr val="2F7A3A"/>
            </a:solidFill>
            <a:prstDash val="solid"/>
          </a:ln>
        </p:spPr>
      </p:sp>
      <p:sp>
        <p:nvSpPr>
          <p:cNvPr id="44" name="Shape 42"/>
          <p:cNvSpPr/>
          <p:nvPr/>
        </p:nvSpPr>
        <p:spPr>
          <a:xfrm>
            <a:off x="822960" y="2593238"/>
            <a:ext cx="210312" cy="26274"/>
          </a:xfrm>
          <a:prstGeom prst="line">
            <a:avLst/>
          </a:prstGeom>
          <a:noFill/>
          <a:ln w="22225">
            <a:solidFill>
              <a:srgbClr val="2F7A3A"/>
            </a:solidFill>
            <a:prstDash val="solid"/>
          </a:ln>
        </p:spPr>
      </p:sp>
      <p:sp>
        <p:nvSpPr>
          <p:cNvPr id="45" name="Shape 43"/>
          <p:cNvSpPr/>
          <p:nvPr/>
        </p:nvSpPr>
        <p:spPr>
          <a:xfrm flipV="1">
            <a:off x="1033272" y="2474577"/>
            <a:ext cx="210312" cy="144936"/>
          </a:xfrm>
          <a:prstGeom prst="line">
            <a:avLst/>
          </a:prstGeom>
          <a:noFill/>
          <a:ln w="22225">
            <a:solidFill>
              <a:srgbClr val="2F7A3A"/>
            </a:solidFill>
            <a:prstDash val="solid"/>
          </a:ln>
        </p:spPr>
      </p:sp>
      <p:sp>
        <p:nvSpPr>
          <p:cNvPr id="46" name="Shape 44"/>
          <p:cNvSpPr/>
          <p:nvPr/>
        </p:nvSpPr>
        <p:spPr>
          <a:xfrm>
            <a:off x="1243584" y="2474577"/>
            <a:ext cx="210312" cy="152457"/>
          </a:xfrm>
          <a:prstGeom prst="line">
            <a:avLst/>
          </a:prstGeom>
          <a:noFill/>
          <a:ln w="22225">
            <a:solidFill>
              <a:srgbClr val="2F7A3A"/>
            </a:solidFill>
            <a:prstDash val="solid"/>
          </a:ln>
        </p:spPr>
      </p:sp>
      <p:sp>
        <p:nvSpPr>
          <p:cNvPr id="47" name="Shape 45"/>
          <p:cNvSpPr/>
          <p:nvPr/>
        </p:nvSpPr>
        <p:spPr>
          <a:xfrm flipV="1">
            <a:off x="1453896" y="2546323"/>
            <a:ext cx="210312" cy="80711"/>
          </a:xfrm>
          <a:prstGeom prst="line">
            <a:avLst/>
          </a:prstGeom>
          <a:noFill/>
          <a:ln w="22225">
            <a:solidFill>
              <a:srgbClr val="2F7A3A"/>
            </a:solidFill>
            <a:prstDash val="solid"/>
          </a:ln>
        </p:spPr>
      </p:sp>
      <p:sp>
        <p:nvSpPr>
          <p:cNvPr id="48" name="Shape 46"/>
          <p:cNvSpPr/>
          <p:nvPr/>
        </p:nvSpPr>
        <p:spPr>
          <a:xfrm>
            <a:off x="1664208" y="2546323"/>
            <a:ext cx="210312" cy="162386"/>
          </a:xfrm>
          <a:prstGeom prst="line">
            <a:avLst/>
          </a:prstGeom>
          <a:noFill/>
          <a:ln w="22225">
            <a:solidFill>
              <a:srgbClr val="2F7A3A"/>
            </a:solidFill>
            <a:prstDash val="solid"/>
          </a:ln>
        </p:spPr>
      </p:sp>
      <p:sp>
        <p:nvSpPr>
          <p:cNvPr id="49" name="Shape 47"/>
          <p:cNvSpPr/>
          <p:nvPr/>
        </p:nvSpPr>
        <p:spPr>
          <a:xfrm flipV="1">
            <a:off x="1874520" y="2576117"/>
            <a:ext cx="210312" cy="132592"/>
          </a:xfrm>
          <a:prstGeom prst="line">
            <a:avLst/>
          </a:prstGeom>
          <a:noFill/>
          <a:ln w="22225">
            <a:solidFill>
              <a:srgbClr val="2F7A3A"/>
            </a:solidFill>
            <a:prstDash val="solid"/>
          </a:ln>
        </p:spPr>
      </p:sp>
      <p:sp>
        <p:nvSpPr>
          <p:cNvPr id="50" name="Shape 48"/>
          <p:cNvSpPr/>
          <p:nvPr/>
        </p:nvSpPr>
        <p:spPr>
          <a:xfrm>
            <a:off x="2084832" y="2576117"/>
            <a:ext cx="210312" cy="87957"/>
          </a:xfrm>
          <a:prstGeom prst="line">
            <a:avLst/>
          </a:prstGeom>
          <a:noFill/>
          <a:ln w="22225">
            <a:solidFill>
              <a:srgbClr val="2F7A3A"/>
            </a:solidFill>
            <a:prstDash val="solid"/>
          </a:ln>
        </p:spPr>
      </p:sp>
      <p:sp>
        <p:nvSpPr>
          <p:cNvPr id="51" name="Shape 49"/>
          <p:cNvSpPr/>
          <p:nvPr/>
        </p:nvSpPr>
        <p:spPr>
          <a:xfrm flipV="1">
            <a:off x="2295144" y="2490832"/>
            <a:ext cx="210312" cy="173242"/>
          </a:xfrm>
          <a:prstGeom prst="line">
            <a:avLst/>
          </a:prstGeom>
          <a:noFill/>
          <a:ln w="22225">
            <a:solidFill>
              <a:srgbClr val="2F7A3A"/>
            </a:solidFill>
            <a:prstDash val="solid"/>
          </a:ln>
        </p:spPr>
      </p:sp>
      <p:sp>
        <p:nvSpPr>
          <p:cNvPr id="52" name="Shape 50"/>
          <p:cNvSpPr/>
          <p:nvPr/>
        </p:nvSpPr>
        <p:spPr>
          <a:xfrm>
            <a:off x="2505456" y="2490832"/>
            <a:ext cx="210312" cy="111849"/>
          </a:xfrm>
          <a:prstGeom prst="line">
            <a:avLst/>
          </a:prstGeom>
          <a:noFill/>
          <a:ln w="22225">
            <a:solidFill>
              <a:srgbClr val="2F7A3A"/>
            </a:solidFill>
            <a:prstDash val="solid"/>
          </a:ln>
        </p:spPr>
      </p:sp>
      <p:sp>
        <p:nvSpPr>
          <p:cNvPr id="53" name="Shape 51"/>
          <p:cNvSpPr/>
          <p:nvPr/>
        </p:nvSpPr>
        <p:spPr>
          <a:xfrm flipV="1">
            <a:off x="2715768" y="2499792"/>
            <a:ext cx="210312" cy="102889"/>
          </a:xfrm>
          <a:prstGeom prst="line">
            <a:avLst/>
          </a:prstGeom>
          <a:noFill/>
          <a:ln w="22225">
            <a:solidFill>
              <a:srgbClr val="2F7A3A"/>
            </a:solidFill>
            <a:prstDash val="solid"/>
          </a:ln>
        </p:spPr>
      </p:sp>
      <p:sp>
        <p:nvSpPr>
          <p:cNvPr id="54" name="Shape 52"/>
          <p:cNvSpPr/>
          <p:nvPr/>
        </p:nvSpPr>
        <p:spPr>
          <a:xfrm flipV="1">
            <a:off x="822960" y="2700729"/>
            <a:ext cx="210312" cy="117909"/>
          </a:xfrm>
          <a:prstGeom prst="line">
            <a:avLst/>
          </a:prstGeom>
          <a:noFill/>
          <a:ln w="22225">
            <a:solidFill>
              <a:srgbClr val="2F7A3A"/>
            </a:solidFill>
            <a:prstDash val="solid"/>
          </a:ln>
        </p:spPr>
      </p:sp>
      <p:sp>
        <p:nvSpPr>
          <p:cNvPr id="55" name="Shape 53"/>
          <p:cNvSpPr/>
          <p:nvPr/>
        </p:nvSpPr>
        <p:spPr>
          <a:xfrm>
            <a:off x="1033272" y="2700729"/>
            <a:ext cx="210312" cy="156427"/>
          </a:xfrm>
          <a:prstGeom prst="line">
            <a:avLst/>
          </a:prstGeom>
          <a:noFill/>
          <a:ln w="22225">
            <a:solidFill>
              <a:srgbClr val="2F7A3A"/>
            </a:solidFill>
            <a:prstDash val="solid"/>
          </a:ln>
        </p:spPr>
      </p:sp>
      <p:sp>
        <p:nvSpPr>
          <p:cNvPr id="56" name="Shape 54"/>
          <p:cNvSpPr/>
          <p:nvPr/>
        </p:nvSpPr>
        <p:spPr>
          <a:xfrm flipV="1">
            <a:off x="1243584" y="2776842"/>
            <a:ext cx="210312" cy="80314"/>
          </a:xfrm>
          <a:prstGeom prst="line">
            <a:avLst/>
          </a:prstGeom>
          <a:noFill/>
          <a:ln w="22225">
            <a:solidFill>
              <a:srgbClr val="2F7A3A"/>
            </a:solidFill>
            <a:prstDash val="solid"/>
          </a:ln>
        </p:spPr>
      </p:sp>
      <p:sp>
        <p:nvSpPr>
          <p:cNvPr id="57" name="Shape 55"/>
          <p:cNvSpPr/>
          <p:nvPr/>
        </p:nvSpPr>
        <p:spPr>
          <a:xfrm>
            <a:off x="1453896" y="2776842"/>
            <a:ext cx="210312" cy="158908"/>
          </a:xfrm>
          <a:prstGeom prst="line">
            <a:avLst/>
          </a:prstGeom>
          <a:noFill/>
          <a:ln w="22225">
            <a:solidFill>
              <a:srgbClr val="2F7A3A"/>
            </a:solidFill>
            <a:prstDash val="solid"/>
          </a:ln>
        </p:spPr>
      </p:sp>
      <p:sp>
        <p:nvSpPr>
          <p:cNvPr id="58" name="Shape 56"/>
          <p:cNvSpPr/>
          <p:nvPr/>
        </p:nvSpPr>
        <p:spPr>
          <a:xfrm flipV="1">
            <a:off x="1664208" y="2798438"/>
            <a:ext cx="210312" cy="137312"/>
          </a:xfrm>
          <a:prstGeom prst="line">
            <a:avLst/>
          </a:prstGeom>
          <a:noFill/>
          <a:ln w="22225">
            <a:solidFill>
              <a:srgbClr val="2F7A3A"/>
            </a:solidFill>
            <a:prstDash val="solid"/>
          </a:ln>
        </p:spPr>
      </p:sp>
      <p:sp>
        <p:nvSpPr>
          <p:cNvPr id="59" name="Shape 57"/>
          <p:cNvSpPr/>
          <p:nvPr/>
        </p:nvSpPr>
        <p:spPr>
          <a:xfrm>
            <a:off x="1874520" y="2798438"/>
            <a:ext cx="210312" cy="85567"/>
          </a:xfrm>
          <a:prstGeom prst="line">
            <a:avLst/>
          </a:prstGeom>
          <a:noFill/>
          <a:ln w="22225">
            <a:solidFill>
              <a:srgbClr val="2F7A3A"/>
            </a:solidFill>
            <a:prstDash val="solid"/>
          </a:ln>
        </p:spPr>
      </p:sp>
      <p:sp>
        <p:nvSpPr>
          <p:cNvPr id="60" name="Shape 58"/>
          <p:cNvSpPr/>
          <p:nvPr/>
        </p:nvSpPr>
        <p:spPr>
          <a:xfrm flipV="1">
            <a:off x="2084832" y="2712512"/>
            <a:ext cx="210312" cy="171494"/>
          </a:xfrm>
          <a:prstGeom prst="line">
            <a:avLst/>
          </a:prstGeom>
          <a:noFill/>
          <a:ln w="22225">
            <a:solidFill>
              <a:srgbClr val="2F7A3A"/>
            </a:solidFill>
            <a:prstDash val="solid"/>
          </a:ln>
        </p:spPr>
      </p:sp>
      <p:sp>
        <p:nvSpPr>
          <p:cNvPr id="61" name="Shape 59"/>
          <p:cNvSpPr/>
          <p:nvPr/>
        </p:nvSpPr>
        <p:spPr>
          <a:xfrm>
            <a:off x="2295144" y="2712512"/>
            <a:ext cx="210312" cy="116413"/>
          </a:xfrm>
          <a:prstGeom prst="line">
            <a:avLst/>
          </a:prstGeom>
          <a:noFill/>
          <a:ln w="22225">
            <a:solidFill>
              <a:srgbClr val="2F7A3A"/>
            </a:solidFill>
            <a:prstDash val="solid"/>
          </a:ln>
        </p:spPr>
      </p:sp>
      <p:sp>
        <p:nvSpPr>
          <p:cNvPr id="62" name="Shape 60"/>
          <p:cNvSpPr/>
          <p:nvPr/>
        </p:nvSpPr>
        <p:spPr>
          <a:xfrm flipV="1">
            <a:off x="2505456" y="2729961"/>
            <a:ext cx="210312" cy="98964"/>
          </a:xfrm>
          <a:prstGeom prst="line">
            <a:avLst/>
          </a:prstGeom>
          <a:noFill/>
          <a:ln w="22225">
            <a:solidFill>
              <a:srgbClr val="2F7A3A"/>
            </a:solidFill>
            <a:prstDash val="solid"/>
          </a:ln>
        </p:spPr>
      </p:sp>
      <p:sp>
        <p:nvSpPr>
          <p:cNvPr id="63" name="Shape 61"/>
          <p:cNvSpPr/>
          <p:nvPr/>
        </p:nvSpPr>
        <p:spPr>
          <a:xfrm>
            <a:off x="2715768" y="2729961"/>
            <a:ext cx="210312" cy="175738"/>
          </a:xfrm>
          <a:prstGeom prst="line">
            <a:avLst/>
          </a:prstGeom>
          <a:noFill/>
          <a:ln w="22225">
            <a:solidFill>
              <a:srgbClr val="2F7A3A"/>
            </a:solidFill>
            <a:prstDash val="solid"/>
          </a:ln>
        </p:spPr>
      </p:sp>
      <p:sp>
        <p:nvSpPr>
          <p:cNvPr id="64" name="Text 62"/>
          <p:cNvSpPr/>
          <p:nvPr/>
        </p:nvSpPr>
        <p:spPr>
          <a:xfrm>
            <a:off x="594360" y="3108960"/>
            <a:ext cx="25603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heat → chains slide → </a:t>
            </a:r>
            <a:r>
              <a:rPr lang="en-US" sz="1000" b="1" dirty="0">
                <a:solidFill>
                  <a:srgbClr val="262B3A"/>
                </a:solidFill>
                <a:latin typeface="Calibri" pitchFamily="34" charset="0"/>
                <a:ea typeface="Calibri" pitchFamily="34" charset="-122"/>
                <a:cs typeface="Calibri" pitchFamily="34" charset="-120"/>
              </a:rPr>
              <a:t>softens</a:t>
            </a:r>
            <a:endParaRPr lang="en-US" sz="1000" dirty="0"/>
          </a:p>
        </p:txBody>
      </p:sp>
      <p:sp>
        <p:nvSpPr>
          <p:cNvPr id="65" name="Text 63"/>
          <p:cNvSpPr/>
          <p:nvPr/>
        </p:nvSpPr>
        <p:spPr>
          <a:xfrm>
            <a:off x="3246120" y="1325880"/>
            <a:ext cx="2560320" cy="25603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Composite</a:t>
            </a:r>
            <a:r>
              <a:rPr lang="en-US" sz="1100" dirty="0">
                <a:solidFill>
                  <a:srgbClr val="2A1F3D"/>
                </a:solidFill>
                <a:latin typeface="Calibri" pitchFamily="34" charset="0"/>
                <a:ea typeface="Calibri" pitchFamily="34" charset="-122"/>
                <a:cs typeface="Calibri" pitchFamily="34" charset="-120"/>
              </a:rPr>
              <a:t>: fibres + matrix</a:t>
            </a:r>
            <a:endParaRPr lang="en-US" sz="1100" dirty="0"/>
          </a:p>
        </p:txBody>
      </p:sp>
      <p:sp>
        <p:nvSpPr>
          <p:cNvPr id="66" name="Shape 64"/>
          <p:cNvSpPr/>
          <p:nvPr/>
        </p:nvSpPr>
        <p:spPr>
          <a:xfrm>
            <a:off x="3429000" y="1691640"/>
            <a:ext cx="2194560" cy="1280160"/>
          </a:xfrm>
          <a:prstGeom prst="rect">
            <a:avLst/>
          </a:prstGeom>
          <a:solidFill>
            <a:srgbClr val="EADFF5"/>
          </a:solidFill>
          <a:ln w="12700">
            <a:solidFill>
              <a:srgbClr val="6A3FA0"/>
            </a:solidFill>
            <a:prstDash val="solid"/>
          </a:ln>
        </p:spPr>
      </p:sp>
      <p:sp>
        <p:nvSpPr>
          <p:cNvPr id="67" name="Shape 65"/>
          <p:cNvSpPr/>
          <p:nvPr/>
        </p:nvSpPr>
        <p:spPr>
          <a:xfrm>
            <a:off x="3502152" y="1766316"/>
            <a:ext cx="2048256" cy="64008"/>
          </a:xfrm>
          <a:prstGeom prst="rect">
            <a:avLst/>
          </a:prstGeom>
          <a:solidFill>
            <a:srgbClr val="2A2A2A"/>
          </a:solidFill>
          <a:ln/>
        </p:spPr>
      </p:sp>
      <p:sp>
        <p:nvSpPr>
          <p:cNvPr id="68" name="Shape 66"/>
          <p:cNvSpPr/>
          <p:nvPr/>
        </p:nvSpPr>
        <p:spPr>
          <a:xfrm>
            <a:off x="3502152" y="1979676"/>
            <a:ext cx="2048256" cy="64008"/>
          </a:xfrm>
          <a:prstGeom prst="rect">
            <a:avLst/>
          </a:prstGeom>
          <a:solidFill>
            <a:srgbClr val="2A2A2A"/>
          </a:solidFill>
          <a:ln/>
        </p:spPr>
      </p:sp>
      <p:sp>
        <p:nvSpPr>
          <p:cNvPr id="69" name="Shape 67"/>
          <p:cNvSpPr/>
          <p:nvPr/>
        </p:nvSpPr>
        <p:spPr>
          <a:xfrm>
            <a:off x="3502152" y="2193036"/>
            <a:ext cx="2048256" cy="64008"/>
          </a:xfrm>
          <a:prstGeom prst="rect">
            <a:avLst/>
          </a:prstGeom>
          <a:solidFill>
            <a:srgbClr val="2A2A2A"/>
          </a:solidFill>
          <a:ln/>
        </p:spPr>
      </p:sp>
      <p:sp>
        <p:nvSpPr>
          <p:cNvPr id="70" name="Shape 68"/>
          <p:cNvSpPr/>
          <p:nvPr/>
        </p:nvSpPr>
        <p:spPr>
          <a:xfrm>
            <a:off x="3502152" y="2406396"/>
            <a:ext cx="2048256" cy="64008"/>
          </a:xfrm>
          <a:prstGeom prst="rect">
            <a:avLst/>
          </a:prstGeom>
          <a:solidFill>
            <a:srgbClr val="2A2A2A"/>
          </a:solidFill>
          <a:ln/>
        </p:spPr>
      </p:sp>
      <p:sp>
        <p:nvSpPr>
          <p:cNvPr id="71" name="Shape 69"/>
          <p:cNvSpPr/>
          <p:nvPr/>
        </p:nvSpPr>
        <p:spPr>
          <a:xfrm>
            <a:off x="3502152" y="2619756"/>
            <a:ext cx="2048256" cy="64008"/>
          </a:xfrm>
          <a:prstGeom prst="rect">
            <a:avLst/>
          </a:prstGeom>
          <a:solidFill>
            <a:srgbClr val="2A2A2A"/>
          </a:solidFill>
          <a:ln/>
        </p:spPr>
      </p:sp>
      <p:sp>
        <p:nvSpPr>
          <p:cNvPr id="72" name="Shape 70"/>
          <p:cNvSpPr/>
          <p:nvPr/>
        </p:nvSpPr>
        <p:spPr>
          <a:xfrm>
            <a:off x="3502152" y="2833116"/>
            <a:ext cx="2048256" cy="64008"/>
          </a:xfrm>
          <a:prstGeom prst="rect">
            <a:avLst/>
          </a:prstGeom>
          <a:solidFill>
            <a:srgbClr val="2A2A2A"/>
          </a:solidFill>
          <a:ln/>
        </p:spPr>
      </p:sp>
      <p:sp>
        <p:nvSpPr>
          <p:cNvPr id="73" name="Text 71"/>
          <p:cNvSpPr/>
          <p:nvPr/>
        </p:nvSpPr>
        <p:spPr>
          <a:xfrm>
            <a:off x="3246120" y="3108960"/>
            <a:ext cx="25603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fibres: strong in tension • resin: binds</a:t>
            </a:r>
            <a:endParaRPr lang="en-US" sz="1000" dirty="0"/>
          </a:p>
        </p:txBody>
      </p:sp>
      <p:sp>
        <p:nvSpPr>
          <p:cNvPr id="74" name="Text 72"/>
          <p:cNvSpPr/>
          <p:nvPr/>
        </p:nvSpPr>
        <p:spPr>
          <a:xfrm>
            <a:off x="594360" y="3520440"/>
            <a:ext cx="5212080" cy="256032"/>
          </a:xfrm>
          <a:prstGeom prst="rect">
            <a:avLst/>
          </a:prstGeom>
          <a:noFill/>
          <a:ln/>
        </p:spPr>
        <p:txBody>
          <a:bodyPr wrap="square" lIns="0" tIns="0" rIns="0" bIns="0" rtlCol="0" anchor="ctr"/>
          <a:lstStyle/>
          <a:p>
            <a:pPr algn="l" indent="0" marL="0">
              <a:buNone/>
            </a:pPr>
            <a:r>
              <a:rPr lang="en-US" sz="1100" b="1" dirty="0">
                <a:solidFill>
                  <a:srgbClr val="2A1F3D"/>
                </a:solidFill>
                <a:latin typeface="Calibri" pitchFamily="34" charset="0"/>
                <a:ea typeface="Calibri" pitchFamily="34" charset="-122"/>
                <a:cs typeface="Calibri" pitchFamily="34" charset="-120"/>
              </a:rPr>
              <a:t>Reinforced concrete</a:t>
            </a:r>
            <a:r>
              <a:rPr lang="en-US" sz="1100" dirty="0">
                <a:solidFill>
                  <a:srgbClr val="2A1F3D"/>
                </a:solidFill>
                <a:latin typeface="Calibri" pitchFamily="34" charset="0"/>
                <a:ea typeface="Calibri" pitchFamily="34" charset="-122"/>
                <a:cs typeface="Calibri" pitchFamily="34" charset="-120"/>
              </a:rPr>
              <a:t>: steel bars set in concrete (a composite)</a:t>
            </a:r>
            <a:endParaRPr lang="en-US" sz="1100" dirty="0"/>
          </a:p>
        </p:txBody>
      </p:sp>
      <p:sp>
        <p:nvSpPr>
          <p:cNvPr id="75" name="Shape 73"/>
          <p:cNvSpPr/>
          <p:nvPr/>
        </p:nvSpPr>
        <p:spPr>
          <a:xfrm>
            <a:off x="777240" y="3886200"/>
            <a:ext cx="4846320" cy="777240"/>
          </a:xfrm>
          <a:prstGeom prst="rect">
            <a:avLst/>
          </a:prstGeom>
          <a:solidFill>
            <a:srgbClr val="C9C3B8"/>
          </a:solidFill>
          <a:ln w="12700">
            <a:solidFill>
              <a:srgbClr val="7A7266"/>
            </a:solidFill>
            <a:prstDash val="solid"/>
          </a:ln>
        </p:spPr>
      </p:sp>
      <p:sp>
        <p:nvSpPr>
          <p:cNvPr id="76" name="Shape 74"/>
          <p:cNvSpPr/>
          <p:nvPr/>
        </p:nvSpPr>
        <p:spPr>
          <a:xfrm>
            <a:off x="836676" y="3973068"/>
            <a:ext cx="64008" cy="64008"/>
          </a:xfrm>
          <a:prstGeom prst="ellipse">
            <a:avLst/>
          </a:prstGeom>
          <a:solidFill>
            <a:srgbClr val="8F877A"/>
          </a:solidFill>
          <a:ln w="3175">
            <a:solidFill>
              <a:srgbClr val="6B6458"/>
            </a:solidFill>
            <a:prstDash val="solid"/>
          </a:ln>
        </p:spPr>
      </p:sp>
      <p:sp>
        <p:nvSpPr>
          <p:cNvPr id="77" name="Shape 75"/>
          <p:cNvSpPr/>
          <p:nvPr/>
        </p:nvSpPr>
        <p:spPr>
          <a:xfrm>
            <a:off x="1024128" y="4174236"/>
            <a:ext cx="64008" cy="64008"/>
          </a:xfrm>
          <a:prstGeom prst="ellipse">
            <a:avLst/>
          </a:prstGeom>
          <a:solidFill>
            <a:srgbClr val="8F877A"/>
          </a:solidFill>
          <a:ln w="3175">
            <a:solidFill>
              <a:srgbClr val="6B6458"/>
            </a:solidFill>
            <a:prstDash val="solid"/>
          </a:ln>
        </p:spPr>
      </p:sp>
      <p:sp>
        <p:nvSpPr>
          <p:cNvPr id="78" name="Shape 76"/>
          <p:cNvSpPr/>
          <p:nvPr/>
        </p:nvSpPr>
        <p:spPr>
          <a:xfrm>
            <a:off x="1211580" y="4375404"/>
            <a:ext cx="64008" cy="64008"/>
          </a:xfrm>
          <a:prstGeom prst="ellipse">
            <a:avLst/>
          </a:prstGeom>
          <a:solidFill>
            <a:srgbClr val="8F877A"/>
          </a:solidFill>
          <a:ln w="3175">
            <a:solidFill>
              <a:srgbClr val="6B6458"/>
            </a:solidFill>
            <a:prstDash val="solid"/>
          </a:ln>
        </p:spPr>
      </p:sp>
      <p:sp>
        <p:nvSpPr>
          <p:cNvPr id="79" name="Shape 77"/>
          <p:cNvSpPr/>
          <p:nvPr/>
        </p:nvSpPr>
        <p:spPr>
          <a:xfrm>
            <a:off x="1399032" y="4073652"/>
            <a:ext cx="64008" cy="64008"/>
          </a:xfrm>
          <a:prstGeom prst="ellipse">
            <a:avLst/>
          </a:prstGeom>
          <a:solidFill>
            <a:srgbClr val="8F877A"/>
          </a:solidFill>
          <a:ln w="3175">
            <a:solidFill>
              <a:srgbClr val="6B6458"/>
            </a:solidFill>
            <a:prstDash val="solid"/>
          </a:ln>
        </p:spPr>
      </p:sp>
      <p:sp>
        <p:nvSpPr>
          <p:cNvPr id="80" name="Shape 78"/>
          <p:cNvSpPr/>
          <p:nvPr/>
        </p:nvSpPr>
        <p:spPr>
          <a:xfrm>
            <a:off x="1586484" y="4274820"/>
            <a:ext cx="64008" cy="64008"/>
          </a:xfrm>
          <a:prstGeom prst="ellipse">
            <a:avLst/>
          </a:prstGeom>
          <a:solidFill>
            <a:srgbClr val="8F877A"/>
          </a:solidFill>
          <a:ln w="3175">
            <a:solidFill>
              <a:srgbClr val="6B6458"/>
            </a:solidFill>
            <a:prstDash val="solid"/>
          </a:ln>
        </p:spPr>
      </p:sp>
      <p:sp>
        <p:nvSpPr>
          <p:cNvPr id="81" name="Shape 79"/>
          <p:cNvSpPr/>
          <p:nvPr/>
        </p:nvSpPr>
        <p:spPr>
          <a:xfrm>
            <a:off x="1773936" y="3973068"/>
            <a:ext cx="64008" cy="64008"/>
          </a:xfrm>
          <a:prstGeom prst="ellipse">
            <a:avLst/>
          </a:prstGeom>
          <a:solidFill>
            <a:srgbClr val="8F877A"/>
          </a:solidFill>
          <a:ln w="3175">
            <a:solidFill>
              <a:srgbClr val="6B6458"/>
            </a:solidFill>
            <a:prstDash val="solid"/>
          </a:ln>
        </p:spPr>
      </p:sp>
      <p:sp>
        <p:nvSpPr>
          <p:cNvPr id="82" name="Shape 80"/>
          <p:cNvSpPr/>
          <p:nvPr/>
        </p:nvSpPr>
        <p:spPr>
          <a:xfrm>
            <a:off x="1961388" y="4174236"/>
            <a:ext cx="64008" cy="64008"/>
          </a:xfrm>
          <a:prstGeom prst="ellipse">
            <a:avLst/>
          </a:prstGeom>
          <a:solidFill>
            <a:srgbClr val="8F877A"/>
          </a:solidFill>
          <a:ln w="3175">
            <a:solidFill>
              <a:srgbClr val="6B6458"/>
            </a:solidFill>
            <a:prstDash val="solid"/>
          </a:ln>
        </p:spPr>
      </p:sp>
      <p:sp>
        <p:nvSpPr>
          <p:cNvPr id="83" name="Shape 81"/>
          <p:cNvSpPr/>
          <p:nvPr/>
        </p:nvSpPr>
        <p:spPr>
          <a:xfrm>
            <a:off x="2148840" y="4375404"/>
            <a:ext cx="64008" cy="64008"/>
          </a:xfrm>
          <a:prstGeom prst="ellipse">
            <a:avLst/>
          </a:prstGeom>
          <a:solidFill>
            <a:srgbClr val="8F877A"/>
          </a:solidFill>
          <a:ln w="3175">
            <a:solidFill>
              <a:srgbClr val="6B6458"/>
            </a:solidFill>
            <a:prstDash val="solid"/>
          </a:ln>
        </p:spPr>
      </p:sp>
      <p:sp>
        <p:nvSpPr>
          <p:cNvPr id="84" name="Shape 82"/>
          <p:cNvSpPr/>
          <p:nvPr/>
        </p:nvSpPr>
        <p:spPr>
          <a:xfrm>
            <a:off x="2336292" y="4073652"/>
            <a:ext cx="64008" cy="64008"/>
          </a:xfrm>
          <a:prstGeom prst="ellipse">
            <a:avLst/>
          </a:prstGeom>
          <a:solidFill>
            <a:srgbClr val="8F877A"/>
          </a:solidFill>
          <a:ln w="3175">
            <a:solidFill>
              <a:srgbClr val="6B6458"/>
            </a:solidFill>
            <a:prstDash val="solid"/>
          </a:ln>
        </p:spPr>
      </p:sp>
      <p:sp>
        <p:nvSpPr>
          <p:cNvPr id="85" name="Shape 83"/>
          <p:cNvSpPr/>
          <p:nvPr/>
        </p:nvSpPr>
        <p:spPr>
          <a:xfrm>
            <a:off x="2523744" y="4274820"/>
            <a:ext cx="64008" cy="64008"/>
          </a:xfrm>
          <a:prstGeom prst="ellipse">
            <a:avLst/>
          </a:prstGeom>
          <a:solidFill>
            <a:srgbClr val="8F877A"/>
          </a:solidFill>
          <a:ln w="3175">
            <a:solidFill>
              <a:srgbClr val="6B6458"/>
            </a:solidFill>
            <a:prstDash val="solid"/>
          </a:ln>
        </p:spPr>
      </p:sp>
      <p:sp>
        <p:nvSpPr>
          <p:cNvPr id="86" name="Shape 84"/>
          <p:cNvSpPr/>
          <p:nvPr/>
        </p:nvSpPr>
        <p:spPr>
          <a:xfrm>
            <a:off x="2711196" y="3973068"/>
            <a:ext cx="64008" cy="64008"/>
          </a:xfrm>
          <a:prstGeom prst="ellipse">
            <a:avLst/>
          </a:prstGeom>
          <a:solidFill>
            <a:srgbClr val="8F877A"/>
          </a:solidFill>
          <a:ln w="3175">
            <a:solidFill>
              <a:srgbClr val="6B6458"/>
            </a:solidFill>
            <a:prstDash val="solid"/>
          </a:ln>
        </p:spPr>
      </p:sp>
      <p:sp>
        <p:nvSpPr>
          <p:cNvPr id="87" name="Shape 85"/>
          <p:cNvSpPr/>
          <p:nvPr/>
        </p:nvSpPr>
        <p:spPr>
          <a:xfrm>
            <a:off x="2898648" y="4174236"/>
            <a:ext cx="64008" cy="64008"/>
          </a:xfrm>
          <a:prstGeom prst="ellipse">
            <a:avLst/>
          </a:prstGeom>
          <a:solidFill>
            <a:srgbClr val="8F877A"/>
          </a:solidFill>
          <a:ln w="3175">
            <a:solidFill>
              <a:srgbClr val="6B6458"/>
            </a:solidFill>
            <a:prstDash val="solid"/>
          </a:ln>
        </p:spPr>
      </p:sp>
      <p:sp>
        <p:nvSpPr>
          <p:cNvPr id="88" name="Shape 86"/>
          <p:cNvSpPr/>
          <p:nvPr/>
        </p:nvSpPr>
        <p:spPr>
          <a:xfrm>
            <a:off x="3086100" y="4375404"/>
            <a:ext cx="64008" cy="64008"/>
          </a:xfrm>
          <a:prstGeom prst="ellipse">
            <a:avLst/>
          </a:prstGeom>
          <a:solidFill>
            <a:srgbClr val="8F877A"/>
          </a:solidFill>
          <a:ln w="3175">
            <a:solidFill>
              <a:srgbClr val="6B6458"/>
            </a:solidFill>
            <a:prstDash val="solid"/>
          </a:ln>
        </p:spPr>
      </p:sp>
      <p:sp>
        <p:nvSpPr>
          <p:cNvPr id="89" name="Shape 87"/>
          <p:cNvSpPr/>
          <p:nvPr/>
        </p:nvSpPr>
        <p:spPr>
          <a:xfrm>
            <a:off x="3273552" y="4073652"/>
            <a:ext cx="64008" cy="64008"/>
          </a:xfrm>
          <a:prstGeom prst="ellipse">
            <a:avLst/>
          </a:prstGeom>
          <a:solidFill>
            <a:srgbClr val="8F877A"/>
          </a:solidFill>
          <a:ln w="3175">
            <a:solidFill>
              <a:srgbClr val="6B6458"/>
            </a:solidFill>
            <a:prstDash val="solid"/>
          </a:ln>
        </p:spPr>
      </p:sp>
      <p:sp>
        <p:nvSpPr>
          <p:cNvPr id="90" name="Shape 88"/>
          <p:cNvSpPr/>
          <p:nvPr/>
        </p:nvSpPr>
        <p:spPr>
          <a:xfrm>
            <a:off x="3461004" y="4274820"/>
            <a:ext cx="64008" cy="64008"/>
          </a:xfrm>
          <a:prstGeom prst="ellipse">
            <a:avLst/>
          </a:prstGeom>
          <a:solidFill>
            <a:srgbClr val="8F877A"/>
          </a:solidFill>
          <a:ln w="3175">
            <a:solidFill>
              <a:srgbClr val="6B6458"/>
            </a:solidFill>
            <a:prstDash val="solid"/>
          </a:ln>
        </p:spPr>
      </p:sp>
      <p:sp>
        <p:nvSpPr>
          <p:cNvPr id="91" name="Shape 89"/>
          <p:cNvSpPr/>
          <p:nvPr/>
        </p:nvSpPr>
        <p:spPr>
          <a:xfrm>
            <a:off x="3648456" y="3973068"/>
            <a:ext cx="64008" cy="64008"/>
          </a:xfrm>
          <a:prstGeom prst="ellipse">
            <a:avLst/>
          </a:prstGeom>
          <a:solidFill>
            <a:srgbClr val="8F877A"/>
          </a:solidFill>
          <a:ln w="3175">
            <a:solidFill>
              <a:srgbClr val="6B6458"/>
            </a:solidFill>
            <a:prstDash val="solid"/>
          </a:ln>
        </p:spPr>
      </p:sp>
      <p:sp>
        <p:nvSpPr>
          <p:cNvPr id="92" name="Shape 90"/>
          <p:cNvSpPr/>
          <p:nvPr/>
        </p:nvSpPr>
        <p:spPr>
          <a:xfrm>
            <a:off x="3835908" y="4174236"/>
            <a:ext cx="64008" cy="64008"/>
          </a:xfrm>
          <a:prstGeom prst="ellipse">
            <a:avLst/>
          </a:prstGeom>
          <a:solidFill>
            <a:srgbClr val="8F877A"/>
          </a:solidFill>
          <a:ln w="3175">
            <a:solidFill>
              <a:srgbClr val="6B6458"/>
            </a:solidFill>
            <a:prstDash val="solid"/>
          </a:ln>
        </p:spPr>
      </p:sp>
      <p:sp>
        <p:nvSpPr>
          <p:cNvPr id="93" name="Shape 91"/>
          <p:cNvSpPr/>
          <p:nvPr/>
        </p:nvSpPr>
        <p:spPr>
          <a:xfrm>
            <a:off x="4023360" y="4375404"/>
            <a:ext cx="64008" cy="64008"/>
          </a:xfrm>
          <a:prstGeom prst="ellipse">
            <a:avLst/>
          </a:prstGeom>
          <a:solidFill>
            <a:srgbClr val="8F877A"/>
          </a:solidFill>
          <a:ln w="3175">
            <a:solidFill>
              <a:srgbClr val="6B6458"/>
            </a:solidFill>
            <a:prstDash val="solid"/>
          </a:ln>
        </p:spPr>
      </p:sp>
      <p:sp>
        <p:nvSpPr>
          <p:cNvPr id="94" name="Shape 92"/>
          <p:cNvSpPr/>
          <p:nvPr/>
        </p:nvSpPr>
        <p:spPr>
          <a:xfrm>
            <a:off x="4210812" y="4073652"/>
            <a:ext cx="64008" cy="64008"/>
          </a:xfrm>
          <a:prstGeom prst="ellipse">
            <a:avLst/>
          </a:prstGeom>
          <a:solidFill>
            <a:srgbClr val="8F877A"/>
          </a:solidFill>
          <a:ln w="3175">
            <a:solidFill>
              <a:srgbClr val="6B6458"/>
            </a:solidFill>
            <a:prstDash val="solid"/>
          </a:ln>
        </p:spPr>
      </p:sp>
      <p:sp>
        <p:nvSpPr>
          <p:cNvPr id="95" name="Shape 93"/>
          <p:cNvSpPr/>
          <p:nvPr/>
        </p:nvSpPr>
        <p:spPr>
          <a:xfrm>
            <a:off x="4398264" y="4274820"/>
            <a:ext cx="64008" cy="64008"/>
          </a:xfrm>
          <a:prstGeom prst="ellipse">
            <a:avLst/>
          </a:prstGeom>
          <a:solidFill>
            <a:srgbClr val="8F877A"/>
          </a:solidFill>
          <a:ln w="3175">
            <a:solidFill>
              <a:srgbClr val="6B6458"/>
            </a:solidFill>
            <a:prstDash val="solid"/>
          </a:ln>
        </p:spPr>
      </p:sp>
      <p:sp>
        <p:nvSpPr>
          <p:cNvPr id="96" name="Shape 94"/>
          <p:cNvSpPr/>
          <p:nvPr/>
        </p:nvSpPr>
        <p:spPr>
          <a:xfrm>
            <a:off x="4585716" y="3973068"/>
            <a:ext cx="64008" cy="64008"/>
          </a:xfrm>
          <a:prstGeom prst="ellipse">
            <a:avLst/>
          </a:prstGeom>
          <a:solidFill>
            <a:srgbClr val="8F877A"/>
          </a:solidFill>
          <a:ln w="3175">
            <a:solidFill>
              <a:srgbClr val="6B6458"/>
            </a:solidFill>
            <a:prstDash val="solid"/>
          </a:ln>
        </p:spPr>
      </p:sp>
      <p:sp>
        <p:nvSpPr>
          <p:cNvPr id="97" name="Shape 95"/>
          <p:cNvSpPr/>
          <p:nvPr/>
        </p:nvSpPr>
        <p:spPr>
          <a:xfrm>
            <a:off x="4773168" y="4174236"/>
            <a:ext cx="64008" cy="64008"/>
          </a:xfrm>
          <a:prstGeom prst="ellipse">
            <a:avLst/>
          </a:prstGeom>
          <a:solidFill>
            <a:srgbClr val="8F877A"/>
          </a:solidFill>
          <a:ln w="3175">
            <a:solidFill>
              <a:srgbClr val="6B6458"/>
            </a:solidFill>
            <a:prstDash val="solid"/>
          </a:ln>
        </p:spPr>
      </p:sp>
      <p:sp>
        <p:nvSpPr>
          <p:cNvPr id="98" name="Shape 96"/>
          <p:cNvSpPr/>
          <p:nvPr/>
        </p:nvSpPr>
        <p:spPr>
          <a:xfrm>
            <a:off x="4960620" y="4375404"/>
            <a:ext cx="64008" cy="64008"/>
          </a:xfrm>
          <a:prstGeom prst="ellipse">
            <a:avLst/>
          </a:prstGeom>
          <a:solidFill>
            <a:srgbClr val="8F877A"/>
          </a:solidFill>
          <a:ln w="3175">
            <a:solidFill>
              <a:srgbClr val="6B6458"/>
            </a:solidFill>
            <a:prstDash val="solid"/>
          </a:ln>
        </p:spPr>
      </p:sp>
      <p:sp>
        <p:nvSpPr>
          <p:cNvPr id="99" name="Shape 97"/>
          <p:cNvSpPr/>
          <p:nvPr/>
        </p:nvSpPr>
        <p:spPr>
          <a:xfrm>
            <a:off x="5148072" y="4073652"/>
            <a:ext cx="64008" cy="64008"/>
          </a:xfrm>
          <a:prstGeom prst="ellipse">
            <a:avLst/>
          </a:prstGeom>
          <a:solidFill>
            <a:srgbClr val="8F877A"/>
          </a:solidFill>
          <a:ln w="3175">
            <a:solidFill>
              <a:srgbClr val="6B6458"/>
            </a:solidFill>
            <a:prstDash val="solid"/>
          </a:ln>
        </p:spPr>
      </p:sp>
      <p:sp>
        <p:nvSpPr>
          <p:cNvPr id="100" name="Shape 98"/>
          <p:cNvSpPr/>
          <p:nvPr/>
        </p:nvSpPr>
        <p:spPr>
          <a:xfrm>
            <a:off x="5335524" y="4274820"/>
            <a:ext cx="64008" cy="64008"/>
          </a:xfrm>
          <a:prstGeom prst="ellipse">
            <a:avLst/>
          </a:prstGeom>
          <a:solidFill>
            <a:srgbClr val="8F877A"/>
          </a:solidFill>
          <a:ln w="3175">
            <a:solidFill>
              <a:srgbClr val="6B6458"/>
            </a:solidFill>
            <a:prstDash val="solid"/>
          </a:ln>
        </p:spPr>
      </p:sp>
      <p:sp>
        <p:nvSpPr>
          <p:cNvPr id="101" name="Shape 99"/>
          <p:cNvSpPr/>
          <p:nvPr/>
        </p:nvSpPr>
        <p:spPr>
          <a:xfrm>
            <a:off x="859536" y="3973068"/>
            <a:ext cx="64008" cy="64008"/>
          </a:xfrm>
          <a:prstGeom prst="ellipse">
            <a:avLst/>
          </a:prstGeom>
          <a:solidFill>
            <a:srgbClr val="8F877A"/>
          </a:solidFill>
          <a:ln w="3175">
            <a:solidFill>
              <a:srgbClr val="6B6458"/>
            </a:solidFill>
            <a:prstDash val="solid"/>
          </a:ln>
        </p:spPr>
      </p:sp>
      <p:sp>
        <p:nvSpPr>
          <p:cNvPr id="102" name="Shape 100"/>
          <p:cNvSpPr/>
          <p:nvPr/>
        </p:nvSpPr>
        <p:spPr>
          <a:xfrm>
            <a:off x="868680" y="4434840"/>
            <a:ext cx="4663440" cy="54864"/>
          </a:xfrm>
          <a:prstGeom prst="rect">
            <a:avLst/>
          </a:prstGeom>
          <a:solidFill>
            <a:srgbClr val="6B4F2A"/>
          </a:solidFill>
          <a:ln/>
        </p:spPr>
      </p:sp>
      <p:sp>
        <p:nvSpPr>
          <p:cNvPr id="103" name="Shape 101"/>
          <p:cNvSpPr/>
          <p:nvPr/>
        </p:nvSpPr>
        <p:spPr>
          <a:xfrm>
            <a:off x="868680" y="4553712"/>
            <a:ext cx="4663440" cy="54864"/>
          </a:xfrm>
          <a:prstGeom prst="rect">
            <a:avLst/>
          </a:prstGeom>
          <a:solidFill>
            <a:srgbClr val="6B4F2A"/>
          </a:solidFill>
          <a:ln/>
        </p:spPr>
      </p:sp>
      <p:sp>
        <p:nvSpPr>
          <p:cNvPr id="104" name="Shape 102"/>
          <p:cNvSpPr/>
          <p:nvPr/>
        </p:nvSpPr>
        <p:spPr>
          <a:xfrm>
            <a:off x="5120640" y="3611880"/>
            <a:ext cx="91" cy="246888"/>
          </a:xfrm>
          <a:prstGeom prst="line">
            <a:avLst/>
          </a:prstGeom>
          <a:noFill/>
          <a:ln w="31750">
            <a:solidFill>
              <a:srgbClr val="C8414C"/>
            </a:solidFill>
            <a:prstDash val="solid"/>
            <a:tailEnd type="triangle"/>
          </a:ln>
        </p:spPr>
      </p:sp>
      <p:sp>
        <p:nvSpPr>
          <p:cNvPr id="105" name="Text 103"/>
          <p:cNvSpPr/>
          <p:nvPr/>
        </p:nvSpPr>
        <p:spPr>
          <a:xfrm>
            <a:off x="5212080" y="3584448"/>
            <a:ext cx="54864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load</a:t>
            </a:r>
            <a:endParaRPr lang="en-US" sz="1000" dirty="0"/>
          </a:p>
        </p:txBody>
      </p:sp>
      <p:sp>
        <p:nvSpPr>
          <p:cNvPr id="106" name="Text 104"/>
          <p:cNvSpPr/>
          <p:nvPr/>
        </p:nvSpPr>
        <p:spPr>
          <a:xfrm>
            <a:off x="777240" y="4709160"/>
            <a:ext cx="48463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concrete takes the </a:t>
            </a:r>
            <a:r>
              <a:rPr lang="en-US" sz="1000" b="1" dirty="0">
                <a:solidFill>
                  <a:srgbClr val="262B3A"/>
                </a:solidFill>
                <a:latin typeface="Calibri" pitchFamily="34" charset="0"/>
                <a:ea typeface="Calibri" pitchFamily="34" charset="-122"/>
                <a:cs typeface="Calibri" pitchFamily="34" charset="-120"/>
              </a:rPr>
              <a:t>compression</a:t>
            </a:r>
            <a:r>
              <a:rPr lang="en-US" sz="1000" dirty="0">
                <a:solidFill>
                  <a:srgbClr val="262B3A"/>
                </a:solidFill>
                <a:latin typeface="Calibri" pitchFamily="34" charset="0"/>
                <a:ea typeface="Calibri" pitchFamily="34" charset="-122"/>
                <a:cs typeface="Calibri" pitchFamily="34" charset="-120"/>
              </a:rPr>
              <a:t> (top) • steel takes the </a:t>
            </a:r>
            <a:r>
              <a:rPr lang="en-US" sz="1000" b="1" dirty="0">
                <a:solidFill>
                  <a:srgbClr val="262B3A"/>
                </a:solidFill>
                <a:latin typeface="Calibri" pitchFamily="34" charset="0"/>
                <a:ea typeface="Calibri" pitchFamily="34" charset="-122"/>
                <a:cs typeface="Calibri" pitchFamily="34" charset="-120"/>
              </a:rPr>
              <a:t>tension</a:t>
            </a:r>
            <a:r>
              <a:rPr lang="en-US" sz="1000" dirty="0">
                <a:solidFill>
                  <a:srgbClr val="262B3A"/>
                </a:solidFill>
                <a:latin typeface="Calibri" pitchFamily="34" charset="0"/>
                <a:ea typeface="Calibri" pitchFamily="34" charset="-122"/>
                <a:cs typeface="Calibri" pitchFamily="34" charset="-120"/>
              </a:rPr>
              <a:t> (bottom)</a:t>
            </a:r>
            <a:endParaRPr lang="en-US" sz="1000" dirty="0"/>
          </a:p>
        </p:txBody>
      </p:sp>
      <p:sp>
        <p:nvSpPr>
          <p:cNvPr id="107" name="Text 105"/>
          <p:cNvSpPr/>
          <p:nvPr/>
        </p:nvSpPr>
        <p:spPr>
          <a:xfrm>
            <a:off x="594360" y="5029200"/>
            <a:ext cx="521208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Other composites: GRP (boats), CFRP (bikes, racing cars), plywood, MDF</a:t>
            </a:r>
            <a:endParaRPr lang="en-US" sz="1000" dirty="0"/>
          </a:p>
        </p:txBody>
      </p:sp>
      <p:sp>
        <p:nvSpPr>
          <p:cNvPr id="108" name="Shape 106"/>
          <p:cNvSpPr/>
          <p:nvPr/>
        </p:nvSpPr>
        <p:spPr>
          <a:xfrm>
            <a:off x="6217920" y="1188720"/>
            <a:ext cx="5562295" cy="2926080"/>
          </a:xfrm>
          <a:prstGeom prst="roundRect">
            <a:avLst>
              <a:gd name="adj" fmla="val 1875"/>
            </a:avLst>
          </a:prstGeom>
          <a:solidFill>
            <a:srgbClr val="F8F5FC"/>
          </a:solidFill>
          <a:ln w="9525">
            <a:solidFill>
              <a:srgbClr val="DDD3EC"/>
            </a:solidFill>
            <a:prstDash val="solid"/>
          </a:ln>
        </p:spPr>
      </p:sp>
      <p:sp>
        <p:nvSpPr>
          <p:cNvPr id="109" name="Text 10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Properties → uses</a:t>
            </a:r>
            <a:endParaRPr lang="en-US" sz="1300" dirty="0"/>
          </a:p>
        </p:txBody>
      </p:sp>
      <p:sp>
        <p:nvSpPr>
          <p:cNvPr id="110" name="Text 108"/>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Polymers</a:t>
            </a:r>
            <a:r>
              <a:rPr lang="en-US" sz="1100" dirty="0">
                <a:solidFill>
                  <a:srgbClr val="262B3A"/>
                </a:solidFill>
                <a:latin typeface="Calibri" pitchFamily="34" charset="0"/>
                <a:ea typeface="Calibri" pitchFamily="34" charset="-122"/>
                <a:cs typeface="Calibri" pitchFamily="34" charset="-120"/>
              </a:rPr>
              <a:t>: low density, flexible or tough, insulators, waterproof, </a:t>
            </a:r>
            <a:r>
              <a:rPr lang="en-US" sz="1100" b="1" dirty="0">
                <a:solidFill>
                  <a:srgbClr val="262B3A"/>
                </a:solidFill>
                <a:latin typeface="Calibri" pitchFamily="34" charset="0"/>
                <a:ea typeface="Calibri" pitchFamily="34" charset="-122"/>
                <a:cs typeface="Calibri" pitchFamily="34" charset="-120"/>
              </a:rPr>
              <a:t>low softening temperature</a:t>
            </a:r>
            <a:r>
              <a:rPr lang="en-US" sz="1100" dirty="0">
                <a:solidFill>
                  <a:srgbClr val="262B3A"/>
                </a:solidFill>
                <a:latin typeface="Calibri" pitchFamily="34" charset="0"/>
                <a:ea typeface="Calibri" pitchFamily="34" charset="-122"/>
                <a:cs typeface="Calibri" pitchFamily="34" charset="-120"/>
              </a:rPr>
              <a:t>, easy to mould → bags, bottles, pipes, cable insulation.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Composites</a:t>
            </a:r>
            <a:r>
              <a:rPr lang="en-US" sz="1100" dirty="0">
                <a:solidFill>
                  <a:srgbClr val="262B3A"/>
                </a:solidFill>
                <a:latin typeface="Calibri" pitchFamily="34" charset="0"/>
                <a:ea typeface="Calibri" pitchFamily="34" charset="-122"/>
                <a:cs typeface="Calibri" pitchFamily="34" charset="-120"/>
              </a:rPr>
              <a:t> combine materials: </a:t>
            </a:r>
            <a:r>
              <a:rPr lang="en-US" sz="1100" b="1" dirty="0">
                <a:solidFill>
                  <a:srgbClr val="262B3A"/>
                </a:solidFill>
                <a:latin typeface="Calibri" pitchFamily="34" charset="0"/>
                <a:ea typeface="Calibri" pitchFamily="34" charset="-122"/>
                <a:cs typeface="Calibri" pitchFamily="34" charset="-120"/>
              </a:rPr>
              <a:t>CFRP</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GRP</a:t>
            </a:r>
            <a:r>
              <a:rPr lang="en-US" sz="1100" dirty="0">
                <a:solidFill>
                  <a:srgbClr val="262B3A"/>
                </a:solidFill>
                <a:latin typeface="Calibri" pitchFamily="34" charset="0"/>
                <a:ea typeface="Calibri" pitchFamily="34" charset="-122"/>
                <a:cs typeface="Calibri" pitchFamily="34" charset="-120"/>
              </a:rPr>
              <a:t> are strong, stiff and very </a:t>
            </a:r>
            <a:r>
              <a:rPr lang="en-US" sz="1100" b="1" dirty="0">
                <a:solidFill>
                  <a:srgbClr val="262B3A"/>
                </a:solidFill>
                <a:latin typeface="Calibri" pitchFamily="34" charset="0"/>
                <a:ea typeface="Calibri" pitchFamily="34" charset="-122"/>
                <a:cs typeface="Calibri" pitchFamily="34" charset="-120"/>
              </a:rPr>
              <a:t>light</a:t>
            </a:r>
            <a:r>
              <a:rPr lang="en-US" sz="1100" dirty="0">
                <a:solidFill>
                  <a:srgbClr val="262B3A"/>
                </a:solidFill>
                <a:latin typeface="Calibri" pitchFamily="34" charset="0"/>
                <a:ea typeface="Calibri" pitchFamily="34" charset="-122"/>
                <a:cs typeface="Calibri" pitchFamily="34" charset="-120"/>
              </a:rPr>
              <a:t> → bike frames, boats, aircraft parts; but </a:t>
            </a:r>
            <a:r>
              <a:rPr lang="en-US" sz="1100" b="1" dirty="0">
                <a:solidFill>
                  <a:srgbClr val="262B3A"/>
                </a:solidFill>
                <a:latin typeface="Calibri" pitchFamily="34" charset="0"/>
                <a:ea typeface="Calibri" pitchFamily="34" charset="-122"/>
                <a:cs typeface="Calibri" pitchFamily="34" charset="-120"/>
              </a:rPr>
              <a:t>expensive</a:t>
            </a:r>
            <a:r>
              <a:rPr lang="en-US" sz="1100" dirty="0">
                <a:solidFill>
                  <a:srgbClr val="262B3A"/>
                </a:solidFill>
                <a:latin typeface="Calibri" pitchFamily="34" charset="0"/>
                <a:ea typeface="Calibri" pitchFamily="34" charset="-122"/>
                <a:cs typeface="Calibri" pitchFamily="34" charset="-120"/>
              </a:rPr>
              <a:t> and hard to recycle.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Reinforced concrete</a:t>
            </a:r>
            <a:r>
              <a:rPr lang="en-US" sz="1100" dirty="0">
                <a:solidFill>
                  <a:srgbClr val="262B3A"/>
                </a:solidFill>
                <a:latin typeface="Calibri" pitchFamily="34" charset="0"/>
                <a:ea typeface="Calibri" pitchFamily="34" charset="-122"/>
                <a:cs typeface="Calibri" pitchFamily="34" charset="-120"/>
              </a:rPr>
              <a:t>: strong in compression </a:t>
            </a:r>
            <a:r>
              <a:rPr lang="en-US" sz="1100" b="1" dirty="0">
                <a:solidFill>
                  <a:srgbClr val="262B3A"/>
                </a:solidFill>
                <a:latin typeface="Calibri" pitchFamily="34" charset="0"/>
                <a:ea typeface="Calibri" pitchFamily="34" charset="-122"/>
                <a:cs typeface="Calibri" pitchFamily="34" charset="-120"/>
              </a:rPr>
              <a:t>and</a:t>
            </a:r>
            <a:r>
              <a:rPr lang="en-US" sz="1100" dirty="0">
                <a:solidFill>
                  <a:srgbClr val="262B3A"/>
                </a:solidFill>
                <a:latin typeface="Calibri" pitchFamily="34" charset="0"/>
                <a:ea typeface="Calibri" pitchFamily="34" charset="-122"/>
                <a:cs typeface="Calibri" pitchFamily="34" charset="-120"/>
              </a:rPr>
              <a:t> tension → beams, bridges.</a:t>
            </a:r>
            <a:endParaRPr lang="en-US" sz="1100" dirty="0"/>
          </a:p>
        </p:txBody>
      </p:sp>
      <p:sp>
        <p:nvSpPr>
          <p:cNvPr id="111" name="Shape 109"/>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112" name="Text 110"/>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Stretch: strength per unit density</a:t>
            </a:r>
            <a:endParaRPr lang="en-US" sz="1300" dirty="0"/>
          </a:p>
        </p:txBody>
      </p:sp>
      <p:sp>
        <p:nvSpPr>
          <p:cNvPr id="113" name="Text 111"/>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Tensile strength ÷ density (MPa per g/cm³), from the data table.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Steel   </a:t>
            </a:r>
            <a:r>
              <a:rPr lang="en-US" sz="1050" dirty="0">
                <a:solidFill>
                  <a:srgbClr val="262B3A"/>
                </a:solidFill>
                <a:latin typeface="Calibri" pitchFamily="34" charset="0"/>
                <a:ea typeface="Calibri" pitchFamily="34" charset="-122"/>
                <a:cs typeface="Calibri" pitchFamily="34" charset="-120"/>
              </a:rPr>
              <a:t>400 ÷ 7.8 = 51</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CFRP   </a:t>
            </a:r>
            <a:r>
              <a:rPr lang="en-US" sz="1050" dirty="0">
                <a:solidFill>
                  <a:srgbClr val="262B3A"/>
                </a:solidFill>
                <a:latin typeface="Calibri" pitchFamily="34" charset="0"/>
                <a:ea typeface="Calibri" pitchFamily="34" charset="-122"/>
                <a:cs typeface="Calibri" pitchFamily="34" charset="-120"/>
              </a:rPr>
              <a:t>1000 ÷ 1.6 = 625</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CFRP is about </a:t>
            </a:r>
            <a:r>
              <a:rPr lang="en-US" sz="1050" b="1" dirty="0">
                <a:solidFill>
                  <a:srgbClr val="C8414C"/>
                </a:solidFill>
                <a:latin typeface="Calibri" pitchFamily="34" charset="0"/>
                <a:ea typeface="Calibri" pitchFamily="34" charset="-122"/>
                <a:cs typeface="Calibri" pitchFamily="34" charset="-120"/>
              </a:rPr>
              <a:t>12 times</a:t>
            </a:r>
            <a:r>
              <a:rPr lang="en-US" sz="1050" b="1" dirty="0">
                <a:solidFill>
                  <a:srgbClr val="C8414C"/>
                </a:solidFill>
                <a:latin typeface="Calibri" pitchFamily="34" charset="0"/>
                <a:ea typeface="Calibri" pitchFamily="34" charset="-122"/>
                <a:cs typeface="Calibri" pitchFamily="34" charset="-120"/>
              </a:rPr>
              <a:t> stronger for its mass</a:t>
            </a:r>
            <a:endParaRPr lang="en-US" sz="1050" dirty="0"/>
          </a:p>
        </p:txBody>
      </p:sp>
      <p:sp>
        <p:nvSpPr>
          <p:cNvPr id="114" name="Shape 112"/>
          <p:cNvSpPr/>
          <p:nvPr/>
        </p:nvSpPr>
        <p:spPr>
          <a:xfrm>
            <a:off x="411480" y="5833872"/>
            <a:ext cx="11368735" cy="530352"/>
          </a:xfrm>
          <a:prstGeom prst="rect">
            <a:avLst/>
          </a:prstGeom>
          <a:solidFill>
            <a:srgbClr val="FFF4E0"/>
          </a:solidFill>
          <a:ln w="6350">
            <a:solidFill>
              <a:srgbClr val="F1D9A8"/>
            </a:solidFill>
            <a:prstDash val="solid"/>
          </a:ln>
        </p:spPr>
      </p:sp>
      <p:sp>
        <p:nvSpPr>
          <p:cNvPr id="115" name="Shape 113"/>
          <p:cNvSpPr/>
          <p:nvPr/>
        </p:nvSpPr>
        <p:spPr>
          <a:xfrm>
            <a:off x="411480" y="5833872"/>
            <a:ext cx="82296" cy="530352"/>
          </a:xfrm>
          <a:prstGeom prst="rect">
            <a:avLst/>
          </a:prstGeom>
          <a:solidFill>
            <a:srgbClr val="E39A2F"/>
          </a:solidFill>
          <a:ln w="12700">
            <a:solidFill>
              <a:srgbClr val="E39A2F"/>
            </a:solidFill>
            <a:prstDash val="solid"/>
          </a:ln>
        </p:spPr>
      </p:sp>
      <p:sp>
        <p:nvSpPr>
          <p:cNvPr id="116" name="Text 11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are electrical cables coated in a </a:t>
            </a:r>
            <a:r>
              <a:rPr lang="en-US" sz="1150" b="1" dirty="0">
                <a:solidFill>
                  <a:srgbClr val="262B3A"/>
                </a:solidFill>
                <a:latin typeface="Calibri" pitchFamily="34" charset="0"/>
                <a:ea typeface="Calibri" pitchFamily="34" charset="-122"/>
                <a:cs typeface="Calibri" pitchFamily="34" charset="-120"/>
              </a:rPr>
              <a:t>polymer</a:t>
            </a:r>
            <a:r>
              <a:rPr lang="en-US" sz="1150" dirty="0">
                <a:solidFill>
                  <a:srgbClr val="262B3A"/>
                </a:solidFill>
                <a:latin typeface="Calibri" pitchFamily="34" charset="0"/>
                <a:ea typeface="Calibri" pitchFamily="34" charset="-122"/>
                <a:cs typeface="Calibri" pitchFamily="34" charset="-120"/>
              </a:rPr>
              <a:t>? Calculate strength ÷ density for </a:t>
            </a:r>
            <a:r>
              <a:rPr lang="en-US" sz="1150" b="1" dirty="0">
                <a:solidFill>
                  <a:srgbClr val="262B3A"/>
                </a:solidFill>
                <a:latin typeface="Calibri" pitchFamily="34" charset="0"/>
                <a:ea typeface="Calibri" pitchFamily="34" charset="-122"/>
                <a:cs typeface="Calibri" pitchFamily="34" charset="-120"/>
              </a:rPr>
              <a:t>GRP</a:t>
            </a:r>
            <a:r>
              <a:rPr lang="en-US" sz="1150" dirty="0">
                <a:solidFill>
                  <a:srgbClr val="262B3A"/>
                </a:solidFill>
                <a:latin typeface="Calibri" pitchFamily="34" charset="0"/>
                <a:ea typeface="Calibri" pitchFamily="34" charset="-122"/>
                <a:cs typeface="Calibri" pitchFamily="34" charset="-120"/>
              </a:rPr>
              <a:t> (250 MPa, 1.9 g/cm³).</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using data on materials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data table: 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properties of poly(ethene) that make it better than glass for a </a:t>
            </a:r>
            <a:r>
              <a:rPr lang="en-US" sz="1250" b="1" dirty="0">
                <a:solidFill>
                  <a:srgbClr val="262B3A"/>
                </a:solidFill>
                <a:latin typeface="Calibri" pitchFamily="34" charset="0"/>
                <a:ea typeface="Calibri" pitchFamily="34" charset="-122"/>
                <a:cs typeface="Calibri" pitchFamily="34" charset="-120"/>
              </a:rPr>
              <a:t>drinks bottle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Copper has density </a:t>
            </a:r>
            <a:r>
              <a:rPr lang="en-US" sz="1250" b="1" dirty="0">
                <a:solidFill>
                  <a:srgbClr val="262B3A"/>
                </a:solidFill>
                <a:latin typeface="Calibri" pitchFamily="34" charset="0"/>
                <a:ea typeface="Calibri" pitchFamily="34" charset="-122"/>
                <a:cs typeface="Calibri" pitchFamily="34" charset="-120"/>
              </a:rPr>
              <a:t>8.9 g/cm³</a:t>
            </a:r>
            <a:r>
              <a:rPr lang="en-US" sz="1250" dirty="0">
                <a:solidFill>
                  <a:srgbClr val="262B3A"/>
                </a:solidFill>
                <a:latin typeface="Calibri" pitchFamily="34" charset="0"/>
                <a:ea typeface="Calibri" pitchFamily="34" charset="-122"/>
                <a:cs typeface="Calibri" pitchFamily="34" charset="-120"/>
              </a:rPr>
              <a:t> and aluminium </a:t>
            </a:r>
            <a:r>
              <a:rPr lang="en-US" sz="1250" b="1" dirty="0">
                <a:solidFill>
                  <a:srgbClr val="262B3A"/>
                </a:solidFill>
                <a:latin typeface="Calibri" pitchFamily="34" charset="0"/>
                <a:ea typeface="Calibri" pitchFamily="34" charset="-122"/>
                <a:cs typeface="Calibri" pitchFamily="34" charset="-120"/>
              </a:rPr>
              <a:t>2.7 g/cm³</a:t>
            </a:r>
            <a:r>
              <a:rPr lang="en-US" sz="1250" dirty="0">
                <a:solidFill>
                  <a:srgbClr val="262B3A"/>
                </a:solidFill>
                <a:latin typeface="Calibri" pitchFamily="34" charset="0"/>
                <a:ea typeface="Calibri" pitchFamily="34" charset="-122"/>
                <a:cs typeface="Calibri" pitchFamily="34" charset="-120"/>
              </a:rPr>
              <a:t>. How many times denser is copper? (2 s.f.)</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glass is used for windows but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for car bumpers.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a </a:t>
            </a:r>
            <a:r>
              <a:rPr lang="en-US" sz="1250" b="1" dirty="0">
                <a:solidFill>
                  <a:srgbClr val="262B3A"/>
                </a:solidFill>
                <a:latin typeface="Calibri" pitchFamily="34" charset="0"/>
                <a:ea typeface="Calibri" pitchFamily="34" charset="-122"/>
                <a:cs typeface="Calibri" pitchFamily="34" charset="-120"/>
              </a:rPr>
              <a:t>composite</a:t>
            </a:r>
            <a:r>
              <a:rPr lang="en-US" sz="1250" dirty="0">
                <a:solidFill>
                  <a:srgbClr val="262B3A"/>
                </a:solidFill>
                <a:latin typeface="Calibri" pitchFamily="34" charset="0"/>
                <a:ea typeface="Calibri" pitchFamily="34" charset="-122"/>
                <a:cs typeface="Calibri" pitchFamily="34" charset="-120"/>
              </a:rPr>
              <a:t> material is, using </a:t>
            </a:r>
            <a:r>
              <a:rPr lang="en-US" sz="1250" b="1" dirty="0">
                <a:solidFill>
                  <a:srgbClr val="262B3A"/>
                </a:solidFill>
                <a:latin typeface="Calibri" pitchFamily="34" charset="0"/>
                <a:ea typeface="Calibri" pitchFamily="34" charset="-122"/>
                <a:cs typeface="Calibri" pitchFamily="34" charset="-120"/>
              </a:rPr>
              <a:t>GRP</a:t>
            </a:r>
            <a:r>
              <a:rPr lang="en-US" sz="1250" dirty="0">
                <a:solidFill>
                  <a:srgbClr val="262B3A"/>
                </a:solidFill>
                <a:latin typeface="Calibri" pitchFamily="34" charset="0"/>
                <a:ea typeface="Calibri" pitchFamily="34" charset="-122"/>
                <a:cs typeface="Calibri" pitchFamily="34" charset="-120"/>
              </a:rPr>
              <a:t> as an example.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Choosing a material for a use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C4.1.2 • from a specification to a decision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C4.1.2  |  12</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design steps and a bike frame; frame masses calculated for 400 cm³ of material</a:t>
            </a:r>
            <a:endParaRPr lang="en-US" sz="1000" dirty="0"/>
          </a:p>
        </p:txBody>
      </p:sp>
      <p:sp>
        <p:nvSpPr>
          <p:cNvPr id="10" name="Shape 8"/>
          <p:cNvSpPr/>
          <p:nvPr/>
        </p:nvSpPr>
        <p:spPr>
          <a:xfrm>
            <a:off x="640080" y="1371600"/>
            <a:ext cx="2514600" cy="365760"/>
          </a:xfrm>
          <a:prstGeom prst="roundRect">
            <a:avLst>
              <a:gd name="adj" fmla="val 15000"/>
            </a:avLst>
          </a:prstGeom>
          <a:solidFill>
            <a:srgbClr val="F8F5FC"/>
          </a:solidFill>
          <a:ln w="9525">
            <a:solidFill>
              <a:srgbClr val="6A3FA0"/>
            </a:solidFill>
            <a:prstDash val="solid"/>
          </a:ln>
        </p:spPr>
      </p:sp>
      <p:sp>
        <p:nvSpPr>
          <p:cNvPr id="11" name="Text 9"/>
          <p:cNvSpPr/>
          <p:nvPr/>
        </p:nvSpPr>
        <p:spPr>
          <a:xfrm>
            <a:off x="694944" y="1371600"/>
            <a:ext cx="2404872"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1 Write the </a:t>
            </a:r>
            <a:r>
              <a:rPr lang="en-US" sz="1000" b="1" dirty="0">
                <a:solidFill>
                  <a:srgbClr val="262B3A"/>
                </a:solidFill>
                <a:latin typeface="Calibri" pitchFamily="34" charset="0"/>
                <a:ea typeface="Calibri" pitchFamily="34" charset="-122"/>
                <a:cs typeface="Calibri" pitchFamily="34" charset="-120"/>
              </a:rPr>
              <a:t>specification</a:t>
            </a:r>
            <a:r>
              <a:rPr lang="en-US" sz="1000" dirty="0">
                <a:solidFill>
                  <a:srgbClr val="262B3A"/>
                </a:solidFill>
                <a:latin typeface="Calibri" pitchFamily="34" charset="0"/>
                <a:ea typeface="Calibri" pitchFamily="34" charset="-122"/>
                <a:cs typeface="Calibri" pitchFamily="34" charset="-120"/>
              </a:rPr>
              <a:t>: what must it do?</a:t>
            </a:r>
            <a:endParaRPr lang="en-US" sz="1000" dirty="0"/>
          </a:p>
        </p:txBody>
      </p:sp>
      <p:sp>
        <p:nvSpPr>
          <p:cNvPr id="12" name="Shape 10"/>
          <p:cNvSpPr/>
          <p:nvPr/>
        </p:nvSpPr>
        <p:spPr>
          <a:xfrm>
            <a:off x="1874520" y="1737360"/>
            <a:ext cx="91" cy="91440"/>
          </a:xfrm>
          <a:prstGeom prst="line">
            <a:avLst/>
          </a:prstGeom>
          <a:noFill/>
          <a:ln w="19050">
            <a:solidFill>
              <a:srgbClr val="6A3FA0"/>
            </a:solidFill>
            <a:prstDash val="solid"/>
            <a:tailEnd type="triangle"/>
          </a:ln>
        </p:spPr>
      </p:sp>
      <p:sp>
        <p:nvSpPr>
          <p:cNvPr id="13" name="Shape 11"/>
          <p:cNvSpPr/>
          <p:nvPr/>
        </p:nvSpPr>
        <p:spPr>
          <a:xfrm>
            <a:off x="640080" y="1828800"/>
            <a:ext cx="2514600" cy="365760"/>
          </a:xfrm>
          <a:prstGeom prst="roundRect">
            <a:avLst>
              <a:gd name="adj" fmla="val 15000"/>
            </a:avLst>
          </a:prstGeom>
          <a:solidFill>
            <a:srgbClr val="FFFFFF"/>
          </a:solidFill>
          <a:ln w="9525">
            <a:solidFill>
              <a:srgbClr val="6A3FA0"/>
            </a:solidFill>
            <a:prstDash val="solid"/>
          </a:ln>
        </p:spPr>
      </p:sp>
      <p:sp>
        <p:nvSpPr>
          <p:cNvPr id="14" name="Text 12"/>
          <p:cNvSpPr/>
          <p:nvPr/>
        </p:nvSpPr>
        <p:spPr>
          <a:xfrm>
            <a:off x="694944" y="1828800"/>
            <a:ext cx="2404872"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2 List the </a:t>
            </a:r>
            <a:r>
              <a:rPr lang="en-US" sz="1000" b="1" dirty="0">
                <a:solidFill>
                  <a:srgbClr val="262B3A"/>
                </a:solidFill>
                <a:latin typeface="Calibri" pitchFamily="34" charset="0"/>
                <a:ea typeface="Calibri" pitchFamily="34" charset="-122"/>
                <a:cs typeface="Calibri" pitchFamily="34" charset="-120"/>
              </a:rPr>
              <a:t>properties</a:t>
            </a:r>
            <a:r>
              <a:rPr lang="en-US" sz="1000" dirty="0">
                <a:solidFill>
                  <a:srgbClr val="262B3A"/>
                </a:solidFill>
                <a:latin typeface="Calibri" pitchFamily="34" charset="0"/>
                <a:ea typeface="Calibri" pitchFamily="34" charset="-122"/>
                <a:cs typeface="Calibri" pitchFamily="34" charset="-120"/>
              </a:rPr>
              <a:t> needed</a:t>
            </a:r>
            <a:endParaRPr lang="en-US" sz="1000" dirty="0"/>
          </a:p>
        </p:txBody>
      </p:sp>
      <p:sp>
        <p:nvSpPr>
          <p:cNvPr id="15" name="Shape 13"/>
          <p:cNvSpPr/>
          <p:nvPr/>
        </p:nvSpPr>
        <p:spPr>
          <a:xfrm>
            <a:off x="1874520" y="2194560"/>
            <a:ext cx="91" cy="91440"/>
          </a:xfrm>
          <a:prstGeom prst="line">
            <a:avLst/>
          </a:prstGeom>
          <a:noFill/>
          <a:ln w="19050">
            <a:solidFill>
              <a:srgbClr val="6A3FA0"/>
            </a:solidFill>
            <a:prstDash val="solid"/>
            <a:tailEnd type="triangle"/>
          </a:ln>
        </p:spPr>
      </p:sp>
      <p:sp>
        <p:nvSpPr>
          <p:cNvPr id="16" name="Shape 14"/>
          <p:cNvSpPr/>
          <p:nvPr/>
        </p:nvSpPr>
        <p:spPr>
          <a:xfrm>
            <a:off x="640080" y="2286000"/>
            <a:ext cx="2514600" cy="365760"/>
          </a:xfrm>
          <a:prstGeom prst="roundRect">
            <a:avLst>
              <a:gd name="adj" fmla="val 15000"/>
            </a:avLst>
          </a:prstGeom>
          <a:solidFill>
            <a:srgbClr val="F8F5FC"/>
          </a:solidFill>
          <a:ln w="9525">
            <a:solidFill>
              <a:srgbClr val="6A3FA0"/>
            </a:solidFill>
            <a:prstDash val="solid"/>
          </a:ln>
        </p:spPr>
      </p:sp>
      <p:sp>
        <p:nvSpPr>
          <p:cNvPr id="17" name="Text 15"/>
          <p:cNvSpPr/>
          <p:nvPr/>
        </p:nvSpPr>
        <p:spPr>
          <a:xfrm>
            <a:off x="694944" y="2286000"/>
            <a:ext cx="2404872"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3 </a:t>
            </a:r>
            <a:r>
              <a:rPr lang="en-US" sz="1000" b="1" dirty="0">
                <a:solidFill>
                  <a:srgbClr val="262B3A"/>
                </a:solidFill>
                <a:latin typeface="Calibri" pitchFamily="34" charset="0"/>
                <a:ea typeface="Calibri" pitchFamily="34" charset="-122"/>
                <a:cs typeface="Calibri" pitchFamily="34" charset="-120"/>
              </a:rPr>
              <a:t>Shortlist</a:t>
            </a:r>
            <a:r>
              <a:rPr lang="en-US" sz="1000" dirty="0">
                <a:solidFill>
                  <a:srgbClr val="262B3A"/>
                </a:solidFill>
                <a:latin typeface="Calibri" pitchFamily="34" charset="0"/>
                <a:ea typeface="Calibri" pitchFamily="34" charset="-122"/>
                <a:cs typeface="Calibri" pitchFamily="34" charset="-120"/>
              </a:rPr>
              <a:t> materials using data</a:t>
            </a:r>
            <a:endParaRPr lang="en-US" sz="1000" dirty="0"/>
          </a:p>
        </p:txBody>
      </p:sp>
      <p:sp>
        <p:nvSpPr>
          <p:cNvPr id="18" name="Shape 16"/>
          <p:cNvSpPr/>
          <p:nvPr/>
        </p:nvSpPr>
        <p:spPr>
          <a:xfrm>
            <a:off x="1874520" y="2651760"/>
            <a:ext cx="91" cy="91440"/>
          </a:xfrm>
          <a:prstGeom prst="line">
            <a:avLst/>
          </a:prstGeom>
          <a:noFill/>
          <a:ln w="19050">
            <a:solidFill>
              <a:srgbClr val="6A3FA0"/>
            </a:solidFill>
            <a:prstDash val="solid"/>
            <a:tailEnd type="triangle"/>
          </a:ln>
        </p:spPr>
      </p:sp>
      <p:sp>
        <p:nvSpPr>
          <p:cNvPr id="19" name="Shape 17"/>
          <p:cNvSpPr/>
          <p:nvPr/>
        </p:nvSpPr>
        <p:spPr>
          <a:xfrm>
            <a:off x="640080" y="2743200"/>
            <a:ext cx="2514600" cy="365760"/>
          </a:xfrm>
          <a:prstGeom prst="roundRect">
            <a:avLst>
              <a:gd name="adj" fmla="val 15000"/>
            </a:avLst>
          </a:prstGeom>
          <a:solidFill>
            <a:srgbClr val="FFFFFF"/>
          </a:solidFill>
          <a:ln w="9525">
            <a:solidFill>
              <a:srgbClr val="6A3FA0"/>
            </a:solidFill>
            <a:prstDash val="solid"/>
          </a:ln>
        </p:spPr>
      </p:sp>
      <p:sp>
        <p:nvSpPr>
          <p:cNvPr id="20" name="Text 18"/>
          <p:cNvSpPr/>
          <p:nvPr/>
        </p:nvSpPr>
        <p:spPr>
          <a:xfrm>
            <a:off x="694944" y="2743200"/>
            <a:ext cx="2404872"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4 Weigh up </a:t>
            </a:r>
            <a:r>
              <a:rPr lang="en-US" sz="1000" b="1" dirty="0">
                <a:solidFill>
                  <a:srgbClr val="262B3A"/>
                </a:solidFill>
                <a:latin typeface="Calibri" pitchFamily="34" charset="0"/>
                <a:ea typeface="Calibri" pitchFamily="34" charset="-122"/>
                <a:cs typeface="Calibri" pitchFamily="34" charset="-120"/>
              </a:rPr>
              <a:t>cost</a:t>
            </a:r>
            <a:r>
              <a:rPr lang="en-US" sz="1000" dirty="0">
                <a:solidFill>
                  <a:srgbClr val="262B3A"/>
                </a:solidFill>
                <a:latin typeface="Calibri" pitchFamily="34" charset="0"/>
                <a:ea typeface="Calibri" pitchFamily="34" charset="-122"/>
                <a:cs typeface="Calibri" pitchFamily="34" charset="-120"/>
              </a:rPr>
              <a:t>, safety, appearance</a:t>
            </a:r>
            <a:endParaRPr lang="en-US" sz="1000" dirty="0"/>
          </a:p>
        </p:txBody>
      </p:sp>
      <p:sp>
        <p:nvSpPr>
          <p:cNvPr id="21" name="Shape 19"/>
          <p:cNvSpPr/>
          <p:nvPr/>
        </p:nvSpPr>
        <p:spPr>
          <a:xfrm>
            <a:off x="1874520" y="3108960"/>
            <a:ext cx="91" cy="91440"/>
          </a:xfrm>
          <a:prstGeom prst="line">
            <a:avLst/>
          </a:prstGeom>
          <a:noFill/>
          <a:ln w="19050">
            <a:solidFill>
              <a:srgbClr val="6A3FA0"/>
            </a:solidFill>
            <a:prstDash val="solid"/>
            <a:tailEnd type="triangle"/>
          </a:ln>
        </p:spPr>
      </p:sp>
      <p:sp>
        <p:nvSpPr>
          <p:cNvPr id="22" name="Shape 20"/>
          <p:cNvSpPr/>
          <p:nvPr/>
        </p:nvSpPr>
        <p:spPr>
          <a:xfrm>
            <a:off x="640080" y="3200400"/>
            <a:ext cx="2514600" cy="365760"/>
          </a:xfrm>
          <a:prstGeom prst="roundRect">
            <a:avLst>
              <a:gd name="adj" fmla="val 15000"/>
            </a:avLst>
          </a:prstGeom>
          <a:solidFill>
            <a:srgbClr val="F8F5FC"/>
          </a:solidFill>
          <a:ln w="9525">
            <a:solidFill>
              <a:srgbClr val="6A3FA0"/>
            </a:solidFill>
            <a:prstDash val="solid"/>
          </a:ln>
        </p:spPr>
      </p:sp>
      <p:sp>
        <p:nvSpPr>
          <p:cNvPr id="23" name="Text 21"/>
          <p:cNvSpPr/>
          <p:nvPr/>
        </p:nvSpPr>
        <p:spPr>
          <a:xfrm>
            <a:off x="694944" y="3200400"/>
            <a:ext cx="2404872"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5 </a:t>
            </a:r>
            <a:r>
              <a:rPr lang="en-US" sz="1000" b="1" dirty="0">
                <a:solidFill>
                  <a:srgbClr val="262B3A"/>
                </a:solidFill>
                <a:latin typeface="Calibri" pitchFamily="34" charset="0"/>
                <a:ea typeface="Calibri" pitchFamily="34" charset="-122"/>
                <a:cs typeface="Calibri" pitchFamily="34" charset="-120"/>
              </a:rPr>
              <a:t>Decide</a:t>
            </a:r>
            <a:r>
              <a:rPr lang="en-US" sz="1000" dirty="0">
                <a:solidFill>
                  <a:srgbClr val="262B3A"/>
                </a:solidFill>
                <a:latin typeface="Calibri" pitchFamily="34" charset="0"/>
                <a:ea typeface="Calibri" pitchFamily="34" charset="-122"/>
                <a:cs typeface="Calibri" pitchFamily="34" charset="-120"/>
              </a:rPr>
              <a:t> and justify</a:t>
            </a:r>
            <a:endParaRPr lang="en-US" sz="1000" dirty="0"/>
          </a:p>
        </p:txBody>
      </p:sp>
      <p:sp>
        <p:nvSpPr>
          <p:cNvPr id="24" name="Shape 22"/>
          <p:cNvSpPr/>
          <p:nvPr/>
        </p:nvSpPr>
        <p:spPr>
          <a:xfrm>
            <a:off x="3337560" y="2275027"/>
            <a:ext cx="844906" cy="844906"/>
          </a:xfrm>
          <a:prstGeom prst="ellipse">
            <a:avLst/>
          </a:prstGeom>
          <a:ln w="25400">
            <a:solidFill>
              <a:srgbClr val="2A1F3D"/>
            </a:solidFill>
            <a:prstDash val="solid"/>
          </a:ln>
        </p:spPr>
      </p:sp>
      <p:sp>
        <p:nvSpPr>
          <p:cNvPr id="25" name="Shape 23"/>
          <p:cNvSpPr/>
          <p:nvPr/>
        </p:nvSpPr>
        <p:spPr>
          <a:xfrm>
            <a:off x="3723437" y="2660904"/>
            <a:ext cx="73152" cy="73152"/>
          </a:xfrm>
          <a:prstGeom prst="ellipse">
            <a:avLst/>
          </a:prstGeom>
          <a:solidFill>
            <a:srgbClr val="2A1F3D"/>
          </a:solidFill>
          <a:ln w="9525">
            <a:solidFill>
              <a:srgbClr val="2A1F3D"/>
            </a:solidFill>
            <a:prstDash val="solid"/>
          </a:ln>
        </p:spPr>
      </p:sp>
      <p:sp>
        <p:nvSpPr>
          <p:cNvPr id="26" name="Shape 24"/>
          <p:cNvSpPr/>
          <p:nvPr/>
        </p:nvSpPr>
        <p:spPr>
          <a:xfrm>
            <a:off x="4926787" y="2275027"/>
            <a:ext cx="844906" cy="844906"/>
          </a:xfrm>
          <a:prstGeom prst="ellipse">
            <a:avLst/>
          </a:prstGeom>
          <a:ln w="25400">
            <a:solidFill>
              <a:srgbClr val="2A1F3D"/>
            </a:solidFill>
            <a:prstDash val="solid"/>
          </a:ln>
        </p:spPr>
      </p:sp>
      <p:sp>
        <p:nvSpPr>
          <p:cNvPr id="27" name="Shape 25"/>
          <p:cNvSpPr/>
          <p:nvPr/>
        </p:nvSpPr>
        <p:spPr>
          <a:xfrm>
            <a:off x="5312664" y="2660904"/>
            <a:ext cx="73152" cy="73152"/>
          </a:xfrm>
          <a:prstGeom prst="ellipse">
            <a:avLst/>
          </a:prstGeom>
          <a:solidFill>
            <a:srgbClr val="2A1F3D"/>
          </a:solidFill>
          <a:ln w="9525">
            <a:solidFill>
              <a:srgbClr val="2A1F3D"/>
            </a:solidFill>
            <a:prstDash val="solid"/>
          </a:ln>
        </p:spPr>
      </p:sp>
      <p:sp>
        <p:nvSpPr>
          <p:cNvPr id="28" name="Shape 26"/>
          <p:cNvSpPr/>
          <p:nvPr/>
        </p:nvSpPr>
        <p:spPr>
          <a:xfrm>
            <a:off x="3760013" y="2697480"/>
            <a:ext cx="633679" cy="91"/>
          </a:xfrm>
          <a:prstGeom prst="line">
            <a:avLst/>
          </a:prstGeom>
          <a:noFill/>
          <a:ln w="44450">
            <a:solidFill>
              <a:srgbClr val="6A3FA0"/>
            </a:solidFill>
            <a:prstDash val="solid"/>
          </a:ln>
        </p:spPr>
      </p:sp>
      <p:sp>
        <p:nvSpPr>
          <p:cNvPr id="29" name="Shape 27"/>
          <p:cNvSpPr/>
          <p:nvPr/>
        </p:nvSpPr>
        <p:spPr>
          <a:xfrm flipH="1" flipV="1">
            <a:off x="4192524" y="2073859"/>
            <a:ext cx="201168" cy="623621"/>
          </a:xfrm>
          <a:prstGeom prst="line">
            <a:avLst/>
          </a:prstGeom>
          <a:noFill/>
          <a:ln w="44450">
            <a:solidFill>
              <a:srgbClr val="6A3FA0"/>
            </a:solidFill>
            <a:prstDash val="solid"/>
          </a:ln>
        </p:spPr>
      </p:sp>
      <p:sp>
        <p:nvSpPr>
          <p:cNvPr id="30" name="Shape 28"/>
          <p:cNvSpPr/>
          <p:nvPr/>
        </p:nvSpPr>
        <p:spPr>
          <a:xfrm flipH="1">
            <a:off x="3760013" y="2073859"/>
            <a:ext cx="432511" cy="623621"/>
          </a:xfrm>
          <a:prstGeom prst="line">
            <a:avLst/>
          </a:prstGeom>
          <a:noFill/>
          <a:ln w="44450">
            <a:solidFill>
              <a:srgbClr val="6A3FA0"/>
            </a:solidFill>
            <a:prstDash val="solid"/>
          </a:ln>
        </p:spPr>
      </p:sp>
      <p:sp>
        <p:nvSpPr>
          <p:cNvPr id="31" name="Shape 29"/>
          <p:cNvSpPr/>
          <p:nvPr/>
        </p:nvSpPr>
        <p:spPr>
          <a:xfrm>
            <a:off x="4192524" y="2073859"/>
            <a:ext cx="905256" cy="20117"/>
          </a:xfrm>
          <a:prstGeom prst="line">
            <a:avLst/>
          </a:prstGeom>
          <a:noFill/>
          <a:ln w="44450">
            <a:solidFill>
              <a:srgbClr val="6A3FA0"/>
            </a:solidFill>
            <a:prstDash val="solid"/>
          </a:ln>
        </p:spPr>
      </p:sp>
      <p:sp>
        <p:nvSpPr>
          <p:cNvPr id="32" name="Shape 30"/>
          <p:cNvSpPr/>
          <p:nvPr/>
        </p:nvSpPr>
        <p:spPr>
          <a:xfrm flipV="1">
            <a:off x="4393692" y="2093976"/>
            <a:ext cx="704088" cy="603504"/>
          </a:xfrm>
          <a:prstGeom prst="line">
            <a:avLst/>
          </a:prstGeom>
          <a:noFill/>
          <a:ln w="44450">
            <a:solidFill>
              <a:srgbClr val="6A3FA0"/>
            </a:solidFill>
            <a:prstDash val="solid"/>
          </a:ln>
        </p:spPr>
      </p:sp>
      <p:sp>
        <p:nvSpPr>
          <p:cNvPr id="33" name="Shape 31"/>
          <p:cNvSpPr/>
          <p:nvPr/>
        </p:nvSpPr>
        <p:spPr>
          <a:xfrm>
            <a:off x="5097780" y="2093976"/>
            <a:ext cx="251460" cy="603504"/>
          </a:xfrm>
          <a:prstGeom prst="line">
            <a:avLst/>
          </a:prstGeom>
          <a:noFill/>
          <a:ln w="44450">
            <a:solidFill>
              <a:srgbClr val="6A3FA0"/>
            </a:solidFill>
            <a:prstDash val="solid"/>
          </a:ln>
        </p:spPr>
      </p:sp>
      <p:sp>
        <p:nvSpPr>
          <p:cNvPr id="34" name="Shape 32"/>
          <p:cNvSpPr/>
          <p:nvPr/>
        </p:nvSpPr>
        <p:spPr>
          <a:xfrm>
            <a:off x="4082796" y="1964131"/>
            <a:ext cx="219456" cy="91"/>
          </a:xfrm>
          <a:prstGeom prst="line">
            <a:avLst/>
          </a:prstGeom>
          <a:noFill/>
          <a:ln w="38100">
            <a:solidFill>
              <a:srgbClr val="2A1F3D"/>
            </a:solidFill>
            <a:prstDash val="solid"/>
          </a:ln>
        </p:spPr>
      </p:sp>
      <p:sp>
        <p:nvSpPr>
          <p:cNvPr id="35" name="Shape 33"/>
          <p:cNvSpPr/>
          <p:nvPr/>
        </p:nvSpPr>
        <p:spPr>
          <a:xfrm flipV="1">
            <a:off x="5097780" y="1956816"/>
            <a:ext cx="91440" cy="137160"/>
          </a:xfrm>
          <a:prstGeom prst="line">
            <a:avLst/>
          </a:prstGeom>
          <a:noFill/>
          <a:ln w="31750">
            <a:solidFill>
              <a:srgbClr val="2A1F3D"/>
            </a:solidFill>
            <a:prstDash val="solid"/>
          </a:ln>
        </p:spPr>
      </p:sp>
      <p:sp>
        <p:nvSpPr>
          <p:cNvPr id="36" name="Text 34"/>
          <p:cNvSpPr/>
          <p:nvPr/>
        </p:nvSpPr>
        <p:spPr>
          <a:xfrm>
            <a:off x="3246120" y="3246120"/>
            <a:ext cx="2651760" cy="38404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Bike frame: </a:t>
            </a:r>
            <a:r>
              <a:rPr lang="en-US" sz="1000" b="1" dirty="0">
                <a:solidFill>
                  <a:srgbClr val="262B3A"/>
                </a:solidFill>
                <a:latin typeface="Calibri" pitchFamily="34" charset="0"/>
                <a:ea typeface="Calibri" pitchFamily="34" charset="-122"/>
                <a:cs typeface="Calibri" pitchFamily="34" charset="-120"/>
              </a:rPr>
              <a:t>strong</a:t>
            </a:r>
            <a:r>
              <a:rPr lang="en-US" sz="1000" dirty="0">
                <a:solidFill>
                  <a:srgbClr val="262B3A"/>
                </a:solidFill>
                <a:latin typeface="Calibri" pitchFamily="34" charset="0"/>
                <a:ea typeface="Calibri" pitchFamily="34" charset="-122"/>
                <a:cs typeface="Calibri" pitchFamily="34" charset="-120"/>
              </a:rPr>
              <a:t>, </a:t>
            </a:r>
            <a:r>
              <a:rPr lang="en-US" sz="1000" b="1" dirty="0">
                <a:solidFill>
                  <a:srgbClr val="262B3A"/>
                </a:solidFill>
                <a:latin typeface="Calibri" pitchFamily="34" charset="0"/>
                <a:ea typeface="Calibri" pitchFamily="34" charset="-122"/>
                <a:cs typeface="Calibri" pitchFamily="34" charset="-120"/>
              </a:rPr>
              <a:t>stiff</a:t>
            </a:r>
            <a:r>
              <a:rPr lang="en-US" sz="1000" dirty="0">
                <a:solidFill>
                  <a:srgbClr val="262B3A"/>
                </a:solidFill>
                <a:latin typeface="Calibri" pitchFamily="34" charset="0"/>
                <a:ea typeface="Calibri" pitchFamily="34" charset="-122"/>
                <a:cs typeface="Calibri" pitchFamily="34" charset="-120"/>
              </a:rPr>
              <a:t>, </a:t>
            </a:r>
            <a:r>
              <a:rPr lang="en-US" sz="1000" b="1" dirty="0">
                <a:solidFill>
                  <a:srgbClr val="262B3A"/>
                </a:solidFill>
                <a:latin typeface="Calibri" pitchFamily="34" charset="0"/>
                <a:ea typeface="Calibri" pitchFamily="34" charset="-122"/>
                <a:cs typeface="Calibri" pitchFamily="34" charset="-120"/>
              </a:rPr>
              <a:t>light</a:t>
            </a:r>
            <a:r>
              <a:rPr lang="en-US" sz="1000" dirty="0">
                <a:solidFill>
                  <a:srgbClr val="262B3A"/>
                </a:solidFill>
                <a:latin typeface="Calibri" pitchFamily="34" charset="0"/>
                <a:ea typeface="Calibri" pitchFamily="34" charset="-122"/>
                <a:cs typeface="Calibri" pitchFamily="34" charset="-120"/>
              </a:rPr>
              <a:t>, does not rust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3794760"/>
          <a:ext cx="5120640" cy="914400"/>
        </p:xfrm>
        <a:graphic>
          <a:graphicData uri="http://schemas.openxmlformats.org/drawingml/2006/table">
            <a:tbl>
              <a:tblPr/>
              <a:tblGrid>
                <a:gridCol w="1554480"/>
                <a:gridCol w="1005840"/>
                <a:gridCol w="1280160"/>
                <a:gridCol w="1280160"/>
              </a:tblGrid>
              <a:tr h="256032">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Frame</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Density</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Mass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Cost</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56032">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Steel</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7.8</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3.12 kg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56032">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Aluminium alloy</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1.08 kg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56032">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CFRP</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0.64 kg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38" name="Text 35"/>
          <p:cNvSpPr/>
          <p:nvPr/>
        </p:nvSpPr>
        <p:spPr>
          <a:xfrm>
            <a:off x="640080" y="4892040"/>
            <a:ext cx="5120640" cy="411480"/>
          </a:xfrm>
          <a:prstGeom prst="rect">
            <a:avLst/>
          </a:prstGeom>
          <a:noFill/>
          <a:ln/>
        </p:spPr>
        <p:txBody>
          <a:bodyPr wrap="square" lIns="0" tIns="0" rIns="0" bIns="0" rtlCol="0" anchor="ctr"/>
          <a:lstStyle/>
          <a:p>
            <a:pPr algn="ctr" indent="0" marL="0">
              <a:buNone/>
            </a:pPr>
            <a:r>
              <a:rPr lang="en-US" sz="1050" b="1" dirty="0">
                <a:solidFill>
                  <a:srgbClr val="2A1F3D"/>
                </a:solidFill>
                <a:latin typeface="Calibri" pitchFamily="34" charset="0"/>
                <a:ea typeface="Calibri" pitchFamily="34" charset="-122"/>
                <a:cs typeface="Calibri" pitchFamily="34" charset="-120"/>
              </a:rPr>
              <a:t>Racing bike → CFRP (light). Cheap, tough commuter bike → steel.</a:t>
            </a:r>
            <a:endParaRPr lang="en-US" sz="1050" dirty="0"/>
          </a:p>
        </p:txBody>
      </p:sp>
      <p:sp>
        <p:nvSpPr>
          <p:cNvPr id="39" name="Shape 36"/>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40" name="Text 3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Properties decide the use</a:t>
            </a:r>
            <a:endParaRPr lang="en-US" sz="1300" dirty="0"/>
          </a:p>
        </p:txBody>
      </p:sp>
      <p:sp>
        <p:nvSpPr>
          <p:cNvPr id="41" name="Text 38"/>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Saucepan</a:t>
            </a:r>
            <a:r>
              <a:rPr lang="en-US" sz="1100" dirty="0">
                <a:solidFill>
                  <a:srgbClr val="262B3A"/>
                </a:solidFill>
                <a:latin typeface="Calibri" pitchFamily="34" charset="0"/>
                <a:ea typeface="Calibri" pitchFamily="34" charset="-122"/>
                <a:cs typeface="Calibri" pitchFamily="34" charset="-120"/>
              </a:rPr>
              <a:t>: metal body (conducts heat, high melting point); polymer handle (heat </a:t>
            </a:r>
            <a:r>
              <a:rPr lang="en-US" sz="1100" b="1" dirty="0">
                <a:solidFill>
                  <a:srgbClr val="262B3A"/>
                </a:solidFill>
                <a:latin typeface="Calibri" pitchFamily="34" charset="0"/>
                <a:ea typeface="Calibri" pitchFamily="34" charset="-122"/>
                <a:cs typeface="Calibri" pitchFamily="34" charset="-120"/>
              </a:rPr>
              <a:t>insulator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Electric cable</a:t>
            </a:r>
            <a:r>
              <a:rPr lang="en-US" sz="1100" dirty="0">
                <a:solidFill>
                  <a:srgbClr val="262B3A"/>
                </a:solidFill>
                <a:latin typeface="Calibri" pitchFamily="34" charset="0"/>
                <a:ea typeface="Calibri" pitchFamily="34" charset="-122"/>
                <a:cs typeface="Calibri" pitchFamily="34" charset="-120"/>
              </a:rPr>
              <a:t>: copper core (best conductor, ductile); PVC coat (insulator, flexible).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Aircraft</a:t>
            </a:r>
            <a:r>
              <a:rPr lang="en-US" sz="1100" dirty="0">
                <a:solidFill>
                  <a:srgbClr val="262B3A"/>
                </a:solidFill>
                <a:latin typeface="Calibri" pitchFamily="34" charset="0"/>
                <a:ea typeface="Calibri" pitchFamily="34" charset="-122"/>
                <a:cs typeface="Calibri" pitchFamily="34" charset="-120"/>
              </a:rPr>
              <a:t>: aluminium alloys and CFRP (strong but </a:t>
            </a:r>
            <a:r>
              <a:rPr lang="en-US" sz="1100" b="1" dirty="0">
                <a:solidFill>
                  <a:srgbClr val="262B3A"/>
                </a:solidFill>
                <a:latin typeface="Calibri" pitchFamily="34" charset="0"/>
                <a:ea typeface="Calibri" pitchFamily="34" charset="-122"/>
                <a:cs typeface="Calibri" pitchFamily="34" charset="-120"/>
              </a:rPr>
              <a:t>low density</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Bridge</a:t>
            </a:r>
            <a:r>
              <a:rPr lang="en-US" sz="1100" dirty="0">
                <a:solidFill>
                  <a:srgbClr val="262B3A"/>
                </a:solidFill>
                <a:latin typeface="Calibri" pitchFamily="34" charset="0"/>
                <a:ea typeface="Calibri" pitchFamily="34" charset="-122"/>
                <a:cs typeface="Calibri" pitchFamily="34" charset="-120"/>
              </a:rPr>
              <a:t>: steel and reinforced concrete (strong in tension and compression, cheap in bulk).</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There is rarely a perfect material: choose the </a:t>
            </a:r>
            <a:r>
              <a:rPr lang="en-US" sz="1100" b="1" dirty="0">
                <a:solidFill>
                  <a:srgbClr val="262B3A"/>
                </a:solidFill>
                <a:latin typeface="Calibri" pitchFamily="34" charset="0"/>
                <a:ea typeface="Calibri" pitchFamily="34" charset="-122"/>
                <a:cs typeface="Calibri" pitchFamily="34" charset="-120"/>
              </a:rPr>
              <a:t>best compromise</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2" name="Shape 39"/>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43" name="Text 40"/>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frame mass from density</a:t>
            </a:r>
            <a:endParaRPr lang="en-US" sz="1300" dirty="0"/>
          </a:p>
        </p:txBody>
      </p:sp>
      <p:sp>
        <p:nvSpPr>
          <p:cNvPr id="44" name="Text 41"/>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400 cm³ of material is used to make the frame.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mass = density × volume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Steel   </a:t>
            </a:r>
            <a:r>
              <a:rPr lang="en-US" sz="1050" dirty="0">
                <a:solidFill>
                  <a:srgbClr val="262B3A"/>
                </a:solidFill>
                <a:latin typeface="Calibri" pitchFamily="34" charset="0"/>
                <a:ea typeface="Calibri" pitchFamily="34" charset="-122"/>
                <a:cs typeface="Calibri" pitchFamily="34" charset="-120"/>
              </a:rPr>
              <a:t>7.8 × 400 = 3120 g; CFRP: 1.6 × 400 = 640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CFRP saves 3120 − 640 = 2480 g = </a:t>
            </a:r>
            <a:r>
              <a:rPr lang="en-US" sz="1050" b="1" dirty="0">
                <a:solidFill>
                  <a:srgbClr val="C8414C"/>
                </a:solidFill>
                <a:latin typeface="Calibri" pitchFamily="34" charset="0"/>
                <a:ea typeface="Calibri" pitchFamily="34" charset="-122"/>
                <a:cs typeface="Calibri" pitchFamily="34" charset="-120"/>
              </a:rPr>
              <a:t>2.48 kg</a:t>
            </a:r>
            <a:endParaRPr lang="en-US" sz="1050" dirty="0"/>
          </a:p>
        </p:txBody>
      </p:sp>
      <p:sp>
        <p:nvSpPr>
          <p:cNvPr id="45" name="Shape 42"/>
          <p:cNvSpPr/>
          <p:nvPr/>
        </p:nvSpPr>
        <p:spPr>
          <a:xfrm>
            <a:off x="411480" y="5833872"/>
            <a:ext cx="11368735" cy="530352"/>
          </a:xfrm>
          <a:prstGeom prst="rect">
            <a:avLst/>
          </a:prstGeom>
          <a:solidFill>
            <a:srgbClr val="FFF4E0"/>
          </a:solidFill>
          <a:ln w="6350">
            <a:solidFill>
              <a:srgbClr val="F1D9A8"/>
            </a:solidFill>
            <a:prstDash val="solid"/>
          </a:ln>
        </p:spPr>
      </p:sp>
      <p:sp>
        <p:nvSpPr>
          <p:cNvPr id="46" name="Shape 43"/>
          <p:cNvSpPr/>
          <p:nvPr/>
        </p:nvSpPr>
        <p:spPr>
          <a:xfrm>
            <a:off x="411480" y="5833872"/>
            <a:ext cx="82296" cy="530352"/>
          </a:xfrm>
          <a:prstGeom prst="rect">
            <a:avLst/>
          </a:prstGeom>
          <a:solidFill>
            <a:srgbClr val="E39A2F"/>
          </a:solidFill>
          <a:ln w="12700">
            <a:solidFill>
              <a:srgbClr val="E39A2F"/>
            </a:solidFill>
            <a:prstDash val="solid"/>
          </a:ln>
        </p:spPr>
      </p:sp>
      <p:sp>
        <p:nvSpPr>
          <p:cNvPr id="47" name="Text 4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saucepan </a:t>
            </a:r>
            <a:r>
              <a:rPr lang="en-US" sz="1150" b="1" dirty="0">
                <a:solidFill>
                  <a:srgbClr val="262B3A"/>
                </a:solidFill>
                <a:latin typeface="Calibri" pitchFamily="34" charset="0"/>
                <a:ea typeface="Calibri" pitchFamily="34" charset="-122"/>
                <a:cs typeface="Calibri" pitchFamily="34" charset="-120"/>
              </a:rPr>
              <a:t>handle</a:t>
            </a:r>
            <a:r>
              <a:rPr lang="en-US" sz="1150" dirty="0">
                <a:solidFill>
                  <a:srgbClr val="262B3A"/>
                </a:solidFill>
                <a:latin typeface="Calibri" pitchFamily="34" charset="0"/>
                <a:ea typeface="Calibri" pitchFamily="34" charset="-122"/>
                <a:cs typeface="Calibri" pitchFamily="34" charset="-120"/>
              </a:rPr>
              <a:t> is made of a polymer. Calculate the % mass saved by using aluminium instead of steel (2 s.f.).</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Alloys: steel and others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C4.1.3 • composition linked to properties and uses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C4.1.3  |  13</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atoms as circles in layers; bar drawn to scale (by mass)</a:t>
            </a:r>
            <a:endParaRPr lang="en-US" sz="1000" dirty="0"/>
          </a:p>
        </p:txBody>
      </p:sp>
      <p:sp>
        <p:nvSpPr>
          <p:cNvPr id="10" name="Text 8"/>
          <p:cNvSpPr/>
          <p:nvPr/>
        </p:nvSpPr>
        <p:spPr>
          <a:xfrm>
            <a:off x="594360" y="1298448"/>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Pure iron</a:t>
            </a:r>
            <a:r>
              <a:rPr lang="en-US" sz="1050" dirty="0">
                <a:solidFill>
                  <a:srgbClr val="262B3A"/>
                </a:solidFill>
                <a:latin typeface="Calibri" pitchFamily="34" charset="0"/>
                <a:ea typeface="Calibri" pitchFamily="34" charset="-122"/>
                <a:cs typeface="Calibri" pitchFamily="34" charset="-120"/>
              </a:rPr>
              <a:t>: regular layers</a:t>
            </a:r>
            <a:endParaRPr lang="en-US" sz="1050" dirty="0"/>
          </a:p>
        </p:txBody>
      </p:sp>
      <p:sp>
        <p:nvSpPr>
          <p:cNvPr id="11" name="Shape 9"/>
          <p:cNvSpPr/>
          <p:nvPr/>
        </p:nvSpPr>
        <p:spPr>
          <a:xfrm>
            <a:off x="777240" y="1600200"/>
            <a:ext cx="274320" cy="274320"/>
          </a:xfrm>
          <a:prstGeom prst="ellipse">
            <a:avLst/>
          </a:prstGeom>
          <a:solidFill>
            <a:srgbClr val="B8C2D0"/>
          </a:solidFill>
          <a:ln w="9525">
            <a:solidFill>
              <a:srgbClr val="5A6478"/>
            </a:solidFill>
            <a:prstDash val="solid"/>
          </a:ln>
        </p:spPr>
      </p:sp>
      <p:sp>
        <p:nvSpPr>
          <p:cNvPr id="12" name="Shape 10"/>
          <p:cNvSpPr/>
          <p:nvPr/>
        </p:nvSpPr>
        <p:spPr>
          <a:xfrm>
            <a:off x="1051560" y="1600200"/>
            <a:ext cx="274320" cy="274320"/>
          </a:xfrm>
          <a:prstGeom prst="ellipse">
            <a:avLst/>
          </a:prstGeom>
          <a:solidFill>
            <a:srgbClr val="B8C2D0"/>
          </a:solidFill>
          <a:ln w="9525">
            <a:solidFill>
              <a:srgbClr val="5A6478"/>
            </a:solidFill>
            <a:prstDash val="solid"/>
          </a:ln>
        </p:spPr>
      </p:sp>
      <p:sp>
        <p:nvSpPr>
          <p:cNvPr id="13" name="Shape 11"/>
          <p:cNvSpPr/>
          <p:nvPr/>
        </p:nvSpPr>
        <p:spPr>
          <a:xfrm>
            <a:off x="1325880" y="1600200"/>
            <a:ext cx="274320" cy="274320"/>
          </a:xfrm>
          <a:prstGeom prst="ellipse">
            <a:avLst/>
          </a:prstGeom>
          <a:solidFill>
            <a:srgbClr val="B8C2D0"/>
          </a:solidFill>
          <a:ln w="9525">
            <a:solidFill>
              <a:srgbClr val="5A6478"/>
            </a:solidFill>
            <a:prstDash val="solid"/>
          </a:ln>
        </p:spPr>
      </p:sp>
      <p:sp>
        <p:nvSpPr>
          <p:cNvPr id="14" name="Shape 12"/>
          <p:cNvSpPr/>
          <p:nvPr/>
        </p:nvSpPr>
        <p:spPr>
          <a:xfrm>
            <a:off x="1600200" y="1600200"/>
            <a:ext cx="274320" cy="274320"/>
          </a:xfrm>
          <a:prstGeom prst="ellipse">
            <a:avLst/>
          </a:prstGeom>
          <a:solidFill>
            <a:srgbClr val="B8C2D0"/>
          </a:solidFill>
          <a:ln w="9525">
            <a:solidFill>
              <a:srgbClr val="5A6478"/>
            </a:solidFill>
            <a:prstDash val="solid"/>
          </a:ln>
        </p:spPr>
      </p:sp>
      <p:sp>
        <p:nvSpPr>
          <p:cNvPr id="15" name="Shape 13"/>
          <p:cNvSpPr/>
          <p:nvPr/>
        </p:nvSpPr>
        <p:spPr>
          <a:xfrm>
            <a:off x="1874520" y="1600200"/>
            <a:ext cx="274320" cy="274320"/>
          </a:xfrm>
          <a:prstGeom prst="ellipse">
            <a:avLst/>
          </a:prstGeom>
          <a:solidFill>
            <a:srgbClr val="B8C2D0"/>
          </a:solidFill>
          <a:ln w="9525">
            <a:solidFill>
              <a:srgbClr val="5A6478"/>
            </a:solidFill>
            <a:prstDash val="solid"/>
          </a:ln>
        </p:spPr>
      </p:sp>
      <p:sp>
        <p:nvSpPr>
          <p:cNvPr id="16" name="Shape 14"/>
          <p:cNvSpPr/>
          <p:nvPr/>
        </p:nvSpPr>
        <p:spPr>
          <a:xfrm>
            <a:off x="2148840" y="1600200"/>
            <a:ext cx="274320" cy="274320"/>
          </a:xfrm>
          <a:prstGeom prst="ellipse">
            <a:avLst/>
          </a:prstGeom>
          <a:solidFill>
            <a:srgbClr val="B8C2D0"/>
          </a:solidFill>
          <a:ln w="9525">
            <a:solidFill>
              <a:srgbClr val="5A6478"/>
            </a:solidFill>
            <a:prstDash val="solid"/>
          </a:ln>
        </p:spPr>
      </p:sp>
      <p:sp>
        <p:nvSpPr>
          <p:cNvPr id="17" name="Shape 15"/>
          <p:cNvSpPr/>
          <p:nvPr/>
        </p:nvSpPr>
        <p:spPr>
          <a:xfrm>
            <a:off x="2423160" y="1600200"/>
            <a:ext cx="274320" cy="274320"/>
          </a:xfrm>
          <a:prstGeom prst="ellipse">
            <a:avLst/>
          </a:prstGeom>
          <a:solidFill>
            <a:srgbClr val="B8C2D0"/>
          </a:solidFill>
          <a:ln w="9525">
            <a:solidFill>
              <a:srgbClr val="5A6478"/>
            </a:solidFill>
            <a:prstDash val="solid"/>
          </a:ln>
        </p:spPr>
      </p:sp>
      <p:sp>
        <p:nvSpPr>
          <p:cNvPr id="18" name="Shape 16"/>
          <p:cNvSpPr/>
          <p:nvPr/>
        </p:nvSpPr>
        <p:spPr>
          <a:xfrm>
            <a:off x="2697480" y="1600200"/>
            <a:ext cx="274320" cy="274320"/>
          </a:xfrm>
          <a:prstGeom prst="ellipse">
            <a:avLst/>
          </a:prstGeom>
          <a:solidFill>
            <a:srgbClr val="B8C2D0"/>
          </a:solidFill>
          <a:ln w="9525">
            <a:solidFill>
              <a:srgbClr val="5A6478"/>
            </a:solidFill>
            <a:prstDash val="solid"/>
          </a:ln>
        </p:spPr>
      </p:sp>
      <p:sp>
        <p:nvSpPr>
          <p:cNvPr id="19" name="Shape 17"/>
          <p:cNvSpPr/>
          <p:nvPr/>
        </p:nvSpPr>
        <p:spPr>
          <a:xfrm>
            <a:off x="777240" y="1874520"/>
            <a:ext cx="274320" cy="274320"/>
          </a:xfrm>
          <a:prstGeom prst="ellipse">
            <a:avLst/>
          </a:prstGeom>
          <a:solidFill>
            <a:srgbClr val="B8C2D0"/>
          </a:solidFill>
          <a:ln w="9525">
            <a:solidFill>
              <a:srgbClr val="5A6478"/>
            </a:solidFill>
            <a:prstDash val="solid"/>
          </a:ln>
        </p:spPr>
      </p:sp>
      <p:sp>
        <p:nvSpPr>
          <p:cNvPr id="20" name="Shape 18"/>
          <p:cNvSpPr/>
          <p:nvPr/>
        </p:nvSpPr>
        <p:spPr>
          <a:xfrm>
            <a:off x="1051560" y="1874520"/>
            <a:ext cx="274320" cy="274320"/>
          </a:xfrm>
          <a:prstGeom prst="ellipse">
            <a:avLst/>
          </a:prstGeom>
          <a:solidFill>
            <a:srgbClr val="B8C2D0"/>
          </a:solidFill>
          <a:ln w="9525">
            <a:solidFill>
              <a:srgbClr val="5A6478"/>
            </a:solidFill>
            <a:prstDash val="solid"/>
          </a:ln>
        </p:spPr>
      </p:sp>
      <p:sp>
        <p:nvSpPr>
          <p:cNvPr id="21" name="Shape 19"/>
          <p:cNvSpPr/>
          <p:nvPr/>
        </p:nvSpPr>
        <p:spPr>
          <a:xfrm>
            <a:off x="1325880" y="1874520"/>
            <a:ext cx="274320" cy="274320"/>
          </a:xfrm>
          <a:prstGeom prst="ellipse">
            <a:avLst/>
          </a:prstGeom>
          <a:solidFill>
            <a:srgbClr val="B8C2D0"/>
          </a:solidFill>
          <a:ln w="9525">
            <a:solidFill>
              <a:srgbClr val="5A6478"/>
            </a:solidFill>
            <a:prstDash val="solid"/>
          </a:ln>
        </p:spPr>
      </p:sp>
      <p:sp>
        <p:nvSpPr>
          <p:cNvPr id="22" name="Shape 20"/>
          <p:cNvSpPr/>
          <p:nvPr/>
        </p:nvSpPr>
        <p:spPr>
          <a:xfrm>
            <a:off x="1600200" y="1874520"/>
            <a:ext cx="274320" cy="274320"/>
          </a:xfrm>
          <a:prstGeom prst="ellipse">
            <a:avLst/>
          </a:prstGeom>
          <a:solidFill>
            <a:srgbClr val="B8C2D0"/>
          </a:solidFill>
          <a:ln w="9525">
            <a:solidFill>
              <a:srgbClr val="5A6478"/>
            </a:solidFill>
            <a:prstDash val="solid"/>
          </a:ln>
        </p:spPr>
      </p:sp>
      <p:sp>
        <p:nvSpPr>
          <p:cNvPr id="23" name="Shape 21"/>
          <p:cNvSpPr/>
          <p:nvPr/>
        </p:nvSpPr>
        <p:spPr>
          <a:xfrm>
            <a:off x="1874520" y="1874520"/>
            <a:ext cx="274320" cy="274320"/>
          </a:xfrm>
          <a:prstGeom prst="ellipse">
            <a:avLst/>
          </a:prstGeom>
          <a:solidFill>
            <a:srgbClr val="B8C2D0"/>
          </a:solidFill>
          <a:ln w="9525">
            <a:solidFill>
              <a:srgbClr val="5A6478"/>
            </a:solidFill>
            <a:prstDash val="solid"/>
          </a:ln>
        </p:spPr>
      </p:sp>
      <p:sp>
        <p:nvSpPr>
          <p:cNvPr id="24" name="Shape 22"/>
          <p:cNvSpPr/>
          <p:nvPr/>
        </p:nvSpPr>
        <p:spPr>
          <a:xfrm>
            <a:off x="2148840" y="1874520"/>
            <a:ext cx="274320" cy="274320"/>
          </a:xfrm>
          <a:prstGeom prst="ellipse">
            <a:avLst/>
          </a:prstGeom>
          <a:solidFill>
            <a:srgbClr val="B8C2D0"/>
          </a:solidFill>
          <a:ln w="9525">
            <a:solidFill>
              <a:srgbClr val="5A6478"/>
            </a:solidFill>
            <a:prstDash val="solid"/>
          </a:ln>
        </p:spPr>
      </p:sp>
      <p:sp>
        <p:nvSpPr>
          <p:cNvPr id="25" name="Shape 23"/>
          <p:cNvSpPr/>
          <p:nvPr/>
        </p:nvSpPr>
        <p:spPr>
          <a:xfrm>
            <a:off x="2423160" y="1874520"/>
            <a:ext cx="274320" cy="274320"/>
          </a:xfrm>
          <a:prstGeom prst="ellipse">
            <a:avLst/>
          </a:prstGeom>
          <a:solidFill>
            <a:srgbClr val="B8C2D0"/>
          </a:solidFill>
          <a:ln w="9525">
            <a:solidFill>
              <a:srgbClr val="5A6478"/>
            </a:solidFill>
            <a:prstDash val="solid"/>
          </a:ln>
        </p:spPr>
      </p:sp>
      <p:sp>
        <p:nvSpPr>
          <p:cNvPr id="26" name="Shape 24"/>
          <p:cNvSpPr/>
          <p:nvPr/>
        </p:nvSpPr>
        <p:spPr>
          <a:xfrm>
            <a:off x="2697480" y="1874520"/>
            <a:ext cx="274320" cy="274320"/>
          </a:xfrm>
          <a:prstGeom prst="ellipse">
            <a:avLst/>
          </a:prstGeom>
          <a:solidFill>
            <a:srgbClr val="B8C2D0"/>
          </a:solidFill>
          <a:ln w="9525">
            <a:solidFill>
              <a:srgbClr val="5A6478"/>
            </a:solidFill>
            <a:prstDash val="solid"/>
          </a:ln>
        </p:spPr>
      </p:sp>
      <p:sp>
        <p:nvSpPr>
          <p:cNvPr id="27" name="Shape 25"/>
          <p:cNvSpPr/>
          <p:nvPr/>
        </p:nvSpPr>
        <p:spPr>
          <a:xfrm>
            <a:off x="777240" y="2148840"/>
            <a:ext cx="274320" cy="274320"/>
          </a:xfrm>
          <a:prstGeom prst="ellipse">
            <a:avLst/>
          </a:prstGeom>
          <a:solidFill>
            <a:srgbClr val="B8C2D0"/>
          </a:solidFill>
          <a:ln w="9525">
            <a:solidFill>
              <a:srgbClr val="5A6478"/>
            </a:solidFill>
            <a:prstDash val="solid"/>
          </a:ln>
        </p:spPr>
      </p:sp>
      <p:sp>
        <p:nvSpPr>
          <p:cNvPr id="28" name="Shape 26"/>
          <p:cNvSpPr/>
          <p:nvPr/>
        </p:nvSpPr>
        <p:spPr>
          <a:xfrm>
            <a:off x="1051560" y="2148840"/>
            <a:ext cx="274320" cy="274320"/>
          </a:xfrm>
          <a:prstGeom prst="ellipse">
            <a:avLst/>
          </a:prstGeom>
          <a:solidFill>
            <a:srgbClr val="B8C2D0"/>
          </a:solidFill>
          <a:ln w="9525">
            <a:solidFill>
              <a:srgbClr val="5A6478"/>
            </a:solidFill>
            <a:prstDash val="solid"/>
          </a:ln>
        </p:spPr>
      </p:sp>
      <p:sp>
        <p:nvSpPr>
          <p:cNvPr id="29" name="Shape 27"/>
          <p:cNvSpPr/>
          <p:nvPr/>
        </p:nvSpPr>
        <p:spPr>
          <a:xfrm>
            <a:off x="1325880" y="2148840"/>
            <a:ext cx="274320" cy="274320"/>
          </a:xfrm>
          <a:prstGeom prst="ellipse">
            <a:avLst/>
          </a:prstGeom>
          <a:solidFill>
            <a:srgbClr val="B8C2D0"/>
          </a:solidFill>
          <a:ln w="9525">
            <a:solidFill>
              <a:srgbClr val="5A6478"/>
            </a:solidFill>
            <a:prstDash val="solid"/>
          </a:ln>
        </p:spPr>
      </p:sp>
      <p:sp>
        <p:nvSpPr>
          <p:cNvPr id="30" name="Shape 28"/>
          <p:cNvSpPr/>
          <p:nvPr/>
        </p:nvSpPr>
        <p:spPr>
          <a:xfrm>
            <a:off x="1600200" y="2148840"/>
            <a:ext cx="274320" cy="274320"/>
          </a:xfrm>
          <a:prstGeom prst="ellipse">
            <a:avLst/>
          </a:prstGeom>
          <a:solidFill>
            <a:srgbClr val="B8C2D0"/>
          </a:solidFill>
          <a:ln w="9525">
            <a:solidFill>
              <a:srgbClr val="5A6478"/>
            </a:solidFill>
            <a:prstDash val="solid"/>
          </a:ln>
        </p:spPr>
      </p:sp>
      <p:sp>
        <p:nvSpPr>
          <p:cNvPr id="31" name="Shape 29"/>
          <p:cNvSpPr/>
          <p:nvPr/>
        </p:nvSpPr>
        <p:spPr>
          <a:xfrm>
            <a:off x="1874520" y="2148840"/>
            <a:ext cx="274320" cy="274320"/>
          </a:xfrm>
          <a:prstGeom prst="ellipse">
            <a:avLst/>
          </a:prstGeom>
          <a:solidFill>
            <a:srgbClr val="B8C2D0"/>
          </a:solidFill>
          <a:ln w="9525">
            <a:solidFill>
              <a:srgbClr val="5A6478"/>
            </a:solidFill>
            <a:prstDash val="solid"/>
          </a:ln>
        </p:spPr>
      </p:sp>
      <p:sp>
        <p:nvSpPr>
          <p:cNvPr id="32" name="Shape 30"/>
          <p:cNvSpPr/>
          <p:nvPr/>
        </p:nvSpPr>
        <p:spPr>
          <a:xfrm>
            <a:off x="2148840" y="2148840"/>
            <a:ext cx="274320" cy="274320"/>
          </a:xfrm>
          <a:prstGeom prst="ellipse">
            <a:avLst/>
          </a:prstGeom>
          <a:solidFill>
            <a:srgbClr val="B8C2D0"/>
          </a:solidFill>
          <a:ln w="9525">
            <a:solidFill>
              <a:srgbClr val="5A6478"/>
            </a:solidFill>
            <a:prstDash val="solid"/>
          </a:ln>
        </p:spPr>
      </p:sp>
      <p:sp>
        <p:nvSpPr>
          <p:cNvPr id="33" name="Shape 31"/>
          <p:cNvSpPr/>
          <p:nvPr/>
        </p:nvSpPr>
        <p:spPr>
          <a:xfrm>
            <a:off x="2423160" y="2148840"/>
            <a:ext cx="274320" cy="274320"/>
          </a:xfrm>
          <a:prstGeom prst="ellipse">
            <a:avLst/>
          </a:prstGeom>
          <a:solidFill>
            <a:srgbClr val="B8C2D0"/>
          </a:solidFill>
          <a:ln w="9525">
            <a:solidFill>
              <a:srgbClr val="5A6478"/>
            </a:solidFill>
            <a:prstDash val="solid"/>
          </a:ln>
        </p:spPr>
      </p:sp>
      <p:sp>
        <p:nvSpPr>
          <p:cNvPr id="34" name="Shape 32"/>
          <p:cNvSpPr/>
          <p:nvPr/>
        </p:nvSpPr>
        <p:spPr>
          <a:xfrm>
            <a:off x="2697480" y="2148840"/>
            <a:ext cx="274320" cy="274320"/>
          </a:xfrm>
          <a:prstGeom prst="ellipse">
            <a:avLst/>
          </a:prstGeom>
          <a:solidFill>
            <a:srgbClr val="B8C2D0"/>
          </a:solidFill>
          <a:ln w="9525">
            <a:solidFill>
              <a:srgbClr val="5A6478"/>
            </a:solidFill>
            <a:prstDash val="solid"/>
          </a:ln>
        </p:spPr>
      </p:sp>
      <p:sp>
        <p:nvSpPr>
          <p:cNvPr id="35" name="Shape 33"/>
          <p:cNvSpPr/>
          <p:nvPr/>
        </p:nvSpPr>
        <p:spPr>
          <a:xfrm>
            <a:off x="777240" y="2423160"/>
            <a:ext cx="274320" cy="274320"/>
          </a:xfrm>
          <a:prstGeom prst="ellipse">
            <a:avLst/>
          </a:prstGeom>
          <a:solidFill>
            <a:srgbClr val="B8C2D0"/>
          </a:solidFill>
          <a:ln w="9525">
            <a:solidFill>
              <a:srgbClr val="5A6478"/>
            </a:solidFill>
            <a:prstDash val="solid"/>
          </a:ln>
        </p:spPr>
      </p:sp>
      <p:sp>
        <p:nvSpPr>
          <p:cNvPr id="36" name="Shape 34"/>
          <p:cNvSpPr/>
          <p:nvPr/>
        </p:nvSpPr>
        <p:spPr>
          <a:xfrm>
            <a:off x="1051560" y="2423160"/>
            <a:ext cx="274320" cy="274320"/>
          </a:xfrm>
          <a:prstGeom prst="ellipse">
            <a:avLst/>
          </a:prstGeom>
          <a:solidFill>
            <a:srgbClr val="B8C2D0"/>
          </a:solidFill>
          <a:ln w="9525">
            <a:solidFill>
              <a:srgbClr val="5A6478"/>
            </a:solidFill>
            <a:prstDash val="solid"/>
          </a:ln>
        </p:spPr>
      </p:sp>
      <p:sp>
        <p:nvSpPr>
          <p:cNvPr id="37" name="Shape 35"/>
          <p:cNvSpPr/>
          <p:nvPr/>
        </p:nvSpPr>
        <p:spPr>
          <a:xfrm>
            <a:off x="1325880" y="2423160"/>
            <a:ext cx="274320" cy="274320"/>
          </a:xfrm>
          <a:prstGeom prst="ellipse">
            <a:avLst/>
          </a:prstGeom>
          <a:solidFill>
            <a:srgbClr val="B8C2D0"/>
          </a:solidFill>
          <a:ln w="9525">
            <a:solidFill>
              <a:srgbClr val="5A6478"/>
            </a:solidFill>
            <a:prstDash val="solid"/>
          </a:ln>
        </p:spPr>
      </p:sp>
      <p:sp>
        <p:nvSpPr>
          <p:cNvPr id="38" name="Shape 36"/>
          <p:cNvSpPr/>
          <p:nvPr/>
        </p:nvSpPr>
        <p:spPr>
          <a:xfrm>
            <a:off x="1600200" y="2423160"/>
            <a:ext cx="274320" cy="274320"/>
          </a:xfrm>
          <a:prstGeom prst="ellipse">
            <a:avLst/>
          </a:prstGeom>
          <a:solidFill>
            <a:srgbClr val="B8C2D0"/>
          </a:solidFill>
          <a:ln w="9525">
            <a:solidFill>
              <a:srgbClr val="5A6478"/>
            </a:solidFill>
            <a:prstDash val="solid"/>
          </a:ln>
        </p:spPr>
      </p:sp>
      <p:sp>
        <p:nvSpPr>
          <p:cNvPr id="39" name="Shape 37"/>
          <p:cNvSpPr/>
          <p:nvPr/>
        </p:nvSpPr>
        <p:spPr>
          <a:xfrm>
            <a:off x="1874520" y="2423160"/>
            <a:ext cx="274320" cy="274320"/>
          </a:xfrm>
          <a:prstGeom prst="ellipse">
            <a:avLst/>
          </a:prstGeom>
          <a:solidFill>
            <a:srgbClr val="B8C2D0"/>
          </a:solidFill>
          <a:ln w="9525">
            <a:solidFill>
              <a:srgbClr val="5A6478"/>
            </a:solidFill>
            <a:prstDash val="solid"/>
          </a:ln>
        </p:spPr>
      </p:sp>
      <p:sp>
        <p:nvSpPr>
          <p:cNvPr id="40" name="Shape 38"/>
          <p:cNvSpPr/>
          <p:nvPr/>
        </p:nvSpPr>
        <p:spPr>
          <a:xfrm>
            <a:off x="2148840" y="2423160"/>
            <a:ext cx="274320" cy="274320"/>
          </a:xfrm>
          <a:prstGeom prst="ellipse">
            <a:avLst/>
          </a:prstGeom>
          <a:solidFill>
            <a:srgbClr val="B8C2D0"/>
          </a:solidFill>
          <a:ln w="9525">
            <a:solidFill>
              <a:srgbClr val="5A6478"/>
            </a:solidFill>
            <a:prstDash val="solid"/>
          </a:ln>
        </p:spPr>
      </p:sp>
      <p:sp>
        <p:nvSpPr>
          <p:cNvPr id="41" name="Shape 39"/>
          <p:cNvSpPr/>
          <p:nvPr/>
        </p:nvSpPr>
        <p:spPr>
          <a:xfrm>
            <a:off x="2423160" y="2423160"/>
            <a:ext cx="274320" cy="274320"/>
          </a:xfrm>
          <a:prstGeom prst="ellipse">
            <a:avLst/>
          </a:prstGeom>
          <a:solidFill>
            <a:srgbClr val="B8C2D0"/>
          </a:solidFill>
          <a:ln w="9525">
            <a:solidFill>
              <a:srgbClr val="5A6478"/>
            </a:solidFill>
            <a:prstDash val="solid"/>
          </a:ln>
        </p:spPr>
      </p:sp>
      <p:sp>
        <p:nvSpPr>
          <p:cNvPr id="42" name="Shape 40"/>
          <p:cNvSpPr/>
          <p:nvPr/>
        </p:nvSpPr>
        <p:spPr>
          <a:xfrm>
            <a:off x="2697480" y="2423160"/>
            <a:ext cx="274320" cy="274320"/>
          </a:xfrm>
          <a:prstGeom prst="ellipse">
            <a:avLst/>
          </a:prstGeom>
          <a:solidFill>
            <a:srgbClr val="B8C2D0"/>
          </a:solidFill>
          <a:ln w="9525">
            <a:solidFill>
              <a:srgbClr val="5A6478"/>
            </a:solidFill>
            <a:prstDash val="solid"/>
          </a:ln>
        </p:spPr>
      </p:sp>
      <p:sp>
        <p:nvSpPr>
          <p:cNvPr id="43" name="Shape 41"/>
          <p:cNvSpPr/>
          <p:nvPr/>
        </p:nvSpPr>
        <p:spPr>
          <a:xfrm>
            <a:off x="914400" y="2788920"/>
            <a:ext cx="1645920" cy="91"/>
          </a:xfrm>
          <a:prstGeom prst="line">
            <a:avLst/>
          </a:prstGeom>
          <a:noFill/>
          <a:ln w="25400">
            <a:solidFill>
              <a:srgbClr val="C8414C"/>
            </a:solidFill>
            <a:prstDash val="solid"/>
            <a:tailEnd type="triangle"/>
          </a:ln>
        </p:spPr>
      </p:sp>
      <p:sp>
        <p:nvSpPr>
          <p:cNvPr id="44" name="Text 42"/>
          <p:cNvSpPr/>
          <p:nvPr/>
        </p:nvSpPr>
        <p:spPr>
          <a:xfrm>
            <a:off x="594360" y="2834640"/>
            <a:ext cx="25603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layers </a:t>
            </a:r>
            <a:r>
              <a:rPr lang="en-US" sz="1000" b="1" dirty="0">
                <a:solidFill>
                  <a:srgbClr val="262B3A"/>
                </a:solidFill>
                <a:latin typeface="Calibri" pitchFamily="34" charset="0"/>
                <a:ea typeface="Calibri" pitchFamily="34" charset="-122"/>
                <a:cs typeface="Calibri" pitchFamily="34" charset="-120"/>
              </a:rPr>
              <a:t>slide</a:t>
            </a:r>
            <a:r>
              <a:rPr lang="en-US" sz="1000" dirty="0">
                <a:solidFill>
                  <a:srgbClr val="262B3A"/>
                </a:solidFill>
                <a:latin typeface="Calibri" pitchFamily="34" charset="0"/>
                <a:ea typeface="Calibri" pitchFamily="34" charset="-122"/>
                <a:cs typeface="Calibri" pitchFamily="34" charset="-120"/>
              </a:rPr>
              <a:t> easily: soft</a:t>
            </a:r>
            <a:endParaRPr lang="en-US" sz="1000" dirty="0"/>
          </a:p>
        </p:txBody>
      </p:sp>
      <p:sp>
        <p:nvSpPr>
          <p:cNvPr id="45" name="Text 43"/>
          <p:cNvSpPr/>
          <p:nvPr/>
        </p:nvSpPr>
        <p:spPr>
          <a:xfrm>
            <a:off x="3246120" y="1298448"/>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Alloy</a:t>
            </a:r>
            <a:r>
              <a:rPr lang="en-US" sz="1050" dirty="0">
                <a:solidFill>
                  <a:srgbClr val="262B3A"/>
                </a:solidFill>
                <a:latin typeface="Calibri" pitchFamily="34" charset="0"/>
                <a:ea typeface="Calibri" pitchFamily="34" charset="-122"/>
                <a:cs typeface="Calibri" pitchFamily="34" charset="-120"/>
              </a:rPr>
              <a:t>: other atoms added</a:t>
            </a:r>
            <a:endParaRPr lang="en-US" sz="1050" dirty="0"/>
          </a:p>
        </p:txBody>
      </p:sp>
      <p:sp>
        <p:nvSpPr>
          <p:cNvPr id="46" name="Shape 44"/>
          <p:cNvSpPr/>
          <p:nvPr/>
        </p:nvSpPr>
        <p:spPr>
          <a:xfrm>
            <a:off x="3429000" y="1600200"/>
            <a:ext cx="274320" cy="274320"/>
          </a:xfrm>
          <a:prstGeom prst="ellipse">
            <a:avLst/>
          </a:prstGeom>
          <a:solidFill>
            <a:srgbClr val="B8C2D0"/>
          </a:solidFill>
          <a:ln w="9525">
            <a:solidFill>
              <a:srgbClr val="5A6478"/>
            </a:solidFill>
            <a:prstDash val="solid"/>
          </a:ln>
        </p:spPr>
      </p:sp>
      <p:sp>
        <p:nvSpPr>
          <p:cNvPr id="47" name="Shape 45"/>
          <p:cNvSpPr/>
          <p:nvPr/>
        </p:nvSpPr>
        <p:spPr>
          <a:xfrm>
            <a:off x="3703320" y="1600200"/>
            <a:ext cx="274320" cy="274320"/>
          </a:xfrm>
          <a:prstGeom prst="ellipse">
            <a:avLst/>
          </a:prstGeom>
          <a:solidFill>
            <a:srgbClr val="B8C2D0"/>
          </a:solidFill>
          <a:ln w="9525">
            <a:solidFill>
              <a:srgbClr val="5A6478"/>
            </a:solidFill>
            <a:prstDash val="solid"/>
          </a:ln>
        </p:spPr>
      </p:sp>
      <p:sp>
        <p:nvSpPr>
          <p:cNvPr id="48" name="Shape 46"/>
          <p:cNvSpPr/>
          <p:nvPr/>
        </p:nvSpPr>
        <p:spPr>
          <a:xfrm>
            <a:off x="3977640" y="1600200"/>
            <a:ext cx="274320" cy="274320"/>
          </a:xfrm>
          <a:prstGeom prst="ellipse">
            <a:avLst/>
          </a:prstGeom>
          <a:solidFill>
            <a:srgbClr val="B8C2D0"/>
          </a:solidFill>
          <a:ln w="9525">
            <a:solidFill>
              <a:srgbClr val="5A6478"/>
            </a:solidFill>
            <a:prstDash val="solid"/>
          </a:ln>
        </p:spPr>
      </p:sp>
      <p:sp>
        <p:nvSpPr>
          <p:cNvPr id="49" name="Shape 47"/>
          <p:cNvSpPr/>
          <p:nvPr/>
        </p:nvSpPr>
        <p:spPr>
          <a:xfrm>
            <a:off x="4251960" y="1600200"/>
            <a:ext cx="274320" cy="274320"/>
          </a:xfrm>
          <a:prstGeom prst="ellipse">
            <a:avLst/>
          </a:prstGeom>
          <a:solidFill>
            <a:srgbClr val="B8C2D0"/>
          </a:solidFill>
          <a:ln w="9525">
            <a:solidFill>
              <a:srgbClr val="5A6478"/>
            </a:solidFill>
            <a:prstDash val="solid"/>
          </a:ln>
        </p:spPr>
      </p:sp>
      <p:sp>
        <p:nvSpPr>
          <p:cNvPr id="50" name="Shape 48"/>
          <p:cNvSpPr/>
          <p:nvPr/>
        </p:nvSpPr>
        <p:spPr>
          <a:xfrm>
            <a:off x="4526280" y="1600200"/>
            <a:ext cx="274320" cy="274320"/>
          </a:xfrm>
          <a:prstGeom prst="ellipse">
            <a:avLst/>
          </a:prstGeom>
          <a:solidFill>
            <a:srgbClr val="B8C2D0"/>
          </a:solidFill>
          <a:ln w="9525">
            <a:solidFill>
              <a:srgbClr val="5A6478"/>
            </a:solidFill>
            <a:prstDash val="solid"/>
          </a:ln>
        </p:spPr>
      </p:sp>
      <p:sp>
        <p:nvSpPr>
          <p:cNvPr id="51" name="Shape 49"/>
          <p:cNvSpPr/>
          <p:nvPr/>
        </p:nvSpPr>
        <p:spPr>
          <a:xfrm>
            <a:off x="4800600" y="1600200"/>
            <a:ext cx="274320" cy="274320"/>
          </a:xfrm>
          <a:prstGeom prst="ellipse">
            <a:avLst/>
          </a:prstGeom>
          <a:solidFill>
            <a:srgbClr val="B8C2D0"/>
          </a:solidFill>
          <a:ln w="9525">
            <a:solidFill>
              <a:srgbClr val="5A6478"/>
            </a:solidFill>
            <a:prstDash val="solid"/>
          </a:ln>
        </p:spPr>
      </p:sp>
      <p:sp>
        <p:nvSpPr>
          <p:cNvPr id="52" name="Shape 50"/>
          <p:cNvSpPr/>
          <p:nvPr/>
        </p:nvSpPr>
        <p:spPr>
          <a:xfrm>
            <a:off x="5074920" y="1600200"/>
            <a:ext cx="274320" cy="274320"/>
          </a:xfrm>
          <a:prstGeom prst="ellipse">
            <a:avLst/>
          </a:prstGeom>
          <a:solidFill>
            <a:srgbClr val="B8C2D0"/>
          </a:solidFill>
          <a:ln w="9525">
            <a:solidFill>
              <a:srgbClr val="5A6478"/>
            </a:solidFill>
            <a:prstDash val="solid"/>
          </a:ln>
        </p:spPr>
      </p:sp>
      <p:sp>
        <p:nvSpPr>
          <p:cNvPr id="53" name="Shape 51"/>
          <p:cNvSpPr/>
          <p:nvPr/>
        </p:nvSpPr>
        <p:spPr>
          <a:xfrm>
            <a:off x="5349240" y="1600200"/>
            <a:ext cx="274320" cy="274320"/>
          </a:xfrm>
          <a:prstGeom prst="ellipse">
            <a:avLst/>
          </a:prstGeom>
          <a:solidFill>
            <a:srgbClr val="B8C2D0"/>
          </a:solidFill>
          <a:ln w="9525">
            <a:solidFill>
              <a:srgbClr val="5A6478"/>
            </a:solidFill>
            <a:prstDash val="solid"/>
          </a:ln>
        </p:spPr>
      </p:sp>
      <p:sp>
        <p:nvSpPr>
          <p:cNvPr id="54" name="Shape 52"/>
          <p:cNvSpPr/>
          <p:nvPr/>
        </p:nvSpPr>
        <p:spPr>
          <a:xfrm>
            <a:off x="3429000" y="1874520"/>
            <a:ext cx="274320" cy="274320"/>
          </a:xfrm>
          <a:prstGeom prst="ellipse">
            <a:avLst/>
          </a:prstGeom>
          <a:solidFill>
            <a:srgbClr val="B8C2D0"/>
          </a:solidFill>
          <a:ln w="9525">
            <a:solidFill>
              <a:srgbClr val="5A6478"/>
            </a:solidFill>
            <a:prstDash val="solid"/>
          </a:ln>
        </p:spPr>
      </p:sp>
      <p:sp>
        <p:nvSpPr>
          <p:cNvPr id="55" name="Shape 53"/>
          <p:cNvSpPr/>
          <p:nvPr/>
        </p:nvSpPr>
        <p:spPr>
          <a:xfrm>
            <a:off x="3703320" y="1874520"/>
            <a:ext cx="274320" cy="274320"/>
          </a:xfrm>
          <a:prstGeom prst="ellipse">
            <a:avLst/>
          </a:prstGeom>
          <a:solidFill>
            <a:srgbClr val="B8C2D0"/>
          </a:solidFill>
          <a:ln w="9525">
            <a:solidFill>
              <a:srgbClr val="5A6478"/>
            </a:solidFill>
            <a:prstDash val="solid"/>
          </a:ln>
        </p:spPr>
      </p:sp>
      <p:sp>
        <p:nvSpPr>
          <p:cNvPr id="56" name="Shape 54"/>
          <p:cNvSpPr/>
          <p:nvPr/>
        </p:nvSpPr>
        <p:spPr>
          <a:xfrm>
            <a:off x="3936492" y="1833372"/>
            <a:ext cx="356616" cy="356616"/>
          </a:xfrm>
          <a:prstGeom prst="ellipse">
            <a:avLst/>
          </a:prstGeom>
          <a:solidFill>
            <a:srgbClr val="E0B040"/>
          </a:solidFill>
          <a:ln w="9525">
            <a:solidFill>
              <a:srgbClr val="8A6A14"/>
            </a:solidFill>
            <a:prstDash val="solid"/>
          </a:ln>
        </p:spPr>
      </p:sp>
      <p:sp>
        <p:nvSpPr>
          <p:cNvPr id="57" name="Shape 55"/>
          <p:cNvSpPr/>
          <p:nvPr/>
        </p:nvSpPr>
        <p:spPr>
          <a:xfrm>
            <a:off x="4251960" y="1874520"/>
            <a:ext cx="274320" cy="274320"/>
          </a:xfrm>
          <a:prstGeom prst="ellipse">
            <a:avLst/>
          </a:prstGeom>
          <a:solidFill>
            <a:srgbClr val="B8C2D0"/>
          </a:solidFill>
          <a:ln w="9525">
            <a:solidFill>
              <a:srgbClr val="5A6478"/>
            </a:solidFill>
            <a:prstDash val="solid"/>
          </a:ln>
        </p:spPr>
      </p:sp>
      <p:sp>
        <p:nvSpPr>
          <p:cNvPr id="58" name="Shape 56"/>
          <p:cNvSpPr/>
          <p:nvPr/>
        </p:nvSpPr>
        <p:spPr>
          <a:xfrm>
            <a:off x="4526280" y="1874520"/>
            <a:ext cx="274320" cy="274320"/>
          </a:xfrm>
          <a:prstGeom prst="ellipse">
            <a:avLst/>
          </a:prstGeom>
          <a:solidFill>
            <a:srgbClr val="B8C2D0"/>
          </a:solidFill>
          <a:ln w="9525">
            <a:solidFill>
              <a:srgbClr val="5A6478"/>
            </a:solidFill>
            <a:prstDash val="solid"/>
          </a:ln>
        </p:spPr>
      </p:sp>
      <p:sp>
        <p:nvSpPr>
          <p:cNvPr id="59" name="Shape 57"/>
          <p:cNvSpPr/>
          <p:nvPr/>
        </p:nvSpPr>
        <p:spPr>
          <a:xfrm>
            <a:off x="4800600" y="1874520"/>
            <a:ext cx="274320" cy="274320"/>
          </a:xfrm>
          <a:prstGeom prst="ellipse">
            <a:avLst/>
          </a:prstGeom>
          <a:solidFill>
            <a:srgbClr val="B8C2D0"/>
          </a:solidFill>
          <a:ln w="9525">
            <a:solidFill>
              <a:srgbClr val="5A6478"/>
            </a:solidFill>
            <a:prstDash val="solid"/>
          </a:ln>
        </p:spPr>
      </p:sp>
      <p:sp>
        <p:nvSpPr>
          <p:cNvPr id="60" name="Shape 58"/>
          <p:cNvSpPr/>
          <p:nvPr/>
        </p:nvSpPr>
        <p:spPr>
          <a:xfrm>
            <a:off x="5074920" y="1874520"/>
            <a:ext cx="274320" cy="274320"/>
          </a:xfrm>
          <a:prstGeom prst="ellipse">
            <a:avLst/>
          </a:prstGeom>
          <a:solidFill>
            <a:srgbClr val="B8C2D0"/>
          </a:solidFill>
          <a:ln w="9525">
            <a:solidFill>
              <a:srgbClr val="5A6478"/>
            </a:solidFill>
            <a:prstDash val="solid"/>
          </a:ln>
        </p:spPr>
      </p:sp>
      <p:sp>
        <p:nvSpPr>
          <p:cNvPr id="61" name="Shape 59"/>
          <p:cNvSpPr/>
          <p:nvPr/>
        </p:nvSpPr>
        <p:spPr>
          <a:xfrm>
            <a:off x="5349240" y="1874520"/>
            <a:ext cx="274320" cy="274320"/>
          </a:xfrm>
          <a:prstGeom prst="ellipse">
            <a:avLst/>
          </a:prstGeom>
          <a:solidFill>
            <a:srgbClr val="B8C2D0"/>
          </a:solidFill>
          <a:ln w="9525">
            <a:solidFill>
              <a:srgbClr val="5A6478"/>
            </a:solidFill>
            <a:prstDash val="solid"/>
          </a:ln>
        </p:spPr>
      </p:sp>
      <p:sp>
        <p:nvSpPr>
          <p:cNvPr id="62" name="Shape 60"/>
          <p:cNvSpPr/>
          <p:nvPr/>
        </p:nvSpPr>
        <p:spPr>
          <a:xfrm>
            <a:off x="3429000" y="2148840"/>
            <a:ext cx="274320" cy="274320"/>
          </a:xfrm>
          <a:prstGeom prst="ellipse">
            <a:avLst/>
          </a:prstGeom>
          <a:solidFill>
            <a:srgbClr val="B8C2D0"/>
          </a:solidFill>
          <a:ln w="9525">
            <a:solidFill>
              <a:srgbClr val="5A6478"/>
            </a:solidFill>
            <a:prstDash val="solid"/>
          </a:ln>
        </p:spPr>
      </p:sp>
      <p:sp>
        <p:nvSpPr>
          <p:cNvPr id="63" name="Shape 61"/>
          <p:cNvSpPr/>
          <p:nvPr/>
        </p:nvSpPr>
        <p:spPr>
          <a:xfrm>
            <a:off x="3703320" y="2148840"/>
            <a:ext cx="274320" cy="274320"/>
          </a:xfrm>
          <a:prstGeom prst="ellipse">
            <a:avLst/>
          </a:prstGeom>
          <a:solidFill>
            <a:srgbClr val="B8C2D0"/>
          </a:solidFill>
          <a:ln w="9525">
            <a:solidFill>
              <a:srgbClr val="5A6478"/>
            </a:solidFill>
            <a:prstDash val="solid"/>
          </a:ln>
        </p:spPr>
      </p:sp>
      <p:sp>
        <p:nvSpPr>
          <p:cNvPr id="64" name="Shape 62"/>
          <p:cNvSpPr/>
          <p:nvPr/>
        </p:nvSpPr>
        <p:spPr>
          <a:xfrm>
            <a:off x="3977640" y="2148840"/>
            <a:ext cx="274320" cy="274320"/>
          </a:xfrm>
          <a:prstGeom prst="ellipse">
            <a:avLst/>
          </a:prstGeom>
          <a:solidFill>
            <a:srgbClr val="B8C2D0"/>
          </a:solidFill>
          <a:ln w="9525">
            <a:solidFill>
              <a:srgbClr val="5A6478"/>
            </a:solidFill>
            <a:prstDash val="solid"/>
          </a:ln>
        </p:spPr>
      </p:sp>
      <p:sp>
        <p:nvSpPr>
          <p:cNvPr id="65" name="Shape 63"/>
          <p:cNvSpPr/>
          <p:nvPr/>
        </p:nvSpPr>
        <p:spPr>
          <a:xfrm>
            <a:off x="4251960" y="2148840"/>
            <a:ext cx="274320" cy="274320"/>
          </a:xfrm>
          <a:prstGeom prst="ellipse">
            <a:avLst/>
          </a:prstGeom>
          <a:solidFill>
            <a:srgbClr val="B8C2D0"/>
          </a:solidFill>
          <a:ln w="9525">
            <a:solidFill>
              <a:srgbClr val="5A6478"/>
            </a:solidFill>
            <a:prstDash val="solid"/>
          </a:ln>
        </p:spPr>
      </p:sp>
      <p:sp>
        <p:nvSpPr>
          <p:cNvPr id="66" name="Shape 64"/>
          <p:cNvSpPr/>
          <p:nvPr/>
        </p:nvSpPr>
        <p:spPr>
          <a:xfrm>
            <a:off x="4526280" y="2148840"/>
            <a:ext cx="274320" cy="274320"/>
          </a:xfrm>
          <a:prstGeom prst="ellipse">
            <a:avLst/>
          </a:prstGeom>
          <a:solidFill>
            <a:srgbClr val="B8C2D0"/>
          </a:solidFill>
          <a:ln w="9525">
            <a:solidFill>
              <a:srgbClr val="5A6478"/>
            </a:solidFill>
            <a:prstDash val="solid"/>
          </a:ln>
        </p:spPr>
      </p:sp>
      <p:sp>
        <p:nvSpPr>
          <p:cNvPr id="67" name="Shape 65"/>
          <p:cNvSpPr/>
          <p:nvPr/>
        </p:nvSpPr>
        <p:spPr>
          <a:xfrm>
            <a:off x="4759452" y="2107692"/>
            <a:ext cx="356616" cy="356616"/>
          </a:xfrm>
          <a:prstGeom prst="ellipse">
            <a:avLst/>
          </a:prstGeom>
          <a:solidFill>
            <a:srgbClr val="E0B040"/>
          </a:solidFill>
          <a:ln w="9525">
            <a:solidFill>
              <a:srgbClr val="8A6A14"/>
            </a:solidFill>
            <a:prstDash val="solid"/>
          </a:ln>
        </p:spPr>
      </p:sp>
      <p:sp>
        <p:nvSpPr>
          <p:cNvPr id="68" name="Shape 66"/>
          <p:cNvSpPr/>
          <p:nvPr/>
        </p:nvSpPr>
        <p:spPr>
          <a:xfrm>
            <a:off x="5074920" y="2148840"/>
            <a:ext cx="274320" cy="274320"/>
          </a:xfrm>
          <a:prstGeom prst="ellipse">
            <a:avLst/>
          </a:prstGeom>
          <a:solidFill>
            <a:srgbClr val="B8C2D0"/>
          </a:solidFill>
          <a:ln w="9525">
            <a:solidFill>
              <a:srgbClr val="5A6478"/>
            </a:solidFill>
            <a:prstDash val="solid"/>
          </a:ln>
        </p:spPr>
      </p:sp>
      <p:sp>
        <p:nvSpPr>
          <p:cNvPr id="69" name="Shape 67"/>
          <p:cNvSpPr/>
          <p:nvPr/>
        </p:nvSpPr>
        <p:spPr>
          <a:xfrm>
            <a:off x="5349240" y="2148840"/>
            <a:ext cx="274320" cy="274320"/>
          </a:xfrm>
          <a:prstGeom prst="ellipse">
            <a:avLst/>
          </a:prstGeom>
          <a:solidFill>
            <a:srgbClr val="B8C2D0"/>
          </a:solidFill>
          <a:ln w="9525">
            <a:solidFill>
              <a:srgbClr val="5A6478"/>
            </a:solidFill>
            <a:prstDash val="solid"/>
          </a:ln>
        </p:spPr>
      </p:sp>
      <p:sp>
        <p:nvSpPr>
          <p:cNvPr id="70" name="Shape 68"/>
          <p:cNvSpPr/>
          <p:nvPr/>
        </p:nvSpPr>
        <p:spPr>
          <a:xfrm>
            <a:off x="3429000" y="2423160"/>
            <a:ext cx="274320" cy="274320"/>
          </a:xfrm>
          <a:prstGeom prst="ellipse">
            <a:avLst/>
          </a:prstGeom>
          <a:solidFill>
            <a:srgbClr val="B8C2D0"/>
          </a:solidFill>
          <a:ln w="9525">
            <a:solidFill>
              <a:srgbClr val="5A6478"/>
            </a:solidFill>
            <a:prstDash val="solid"/>
          </a:ln>
        </p:spPr>
      </p:sp>
      <p:sp>
        <p:nvSpPr>
          <p:cNvPr id="71" name="Shape 69"/>
          <p:cNvSpPr/>
          <p:nvPr/>
        </p:nvSpPr>
        <p:spPr>
          <a:xfrm>
            <a:off x="3662172" y="2382012"/>
            <a:ext cx="356616" cy="356616"/>
          </a:xfrm>
          <a:prstGeom prst="ellipse">
            <a:avLst/>
          </a:prstGeom>
          <a:solidFill>
            <a:srgbClr val="E0B040"/>
          </a:solidFill>
          <a:ln w="9525">
            <a:solidFill>
              <a:srgbClr val="8A6A14"/>
            </a:solidFill>
            <a:prstDash val="solid"/>
          </a:ln>
        </p:spPr>
      </p:sp>
      <p:sp>
        <p:nvSpPr>
          <p:cNvPr id="72" name="Shape 70"/>
          <p:cNvSpPr/>
          <p:nvPr/>
        </p:nvSpPr>
        <p:spPr>
          <a:xfrm>
            <a:off x="3977640" y="2423160"/>
            <a:ext cx="274320" cy="274320"/>
          </a:xfrm>
          <a:prstGeom prst="ellipse">
            <a:avLst/>
          </a:prstGeom>
          <a:solidFill>
            <a:srgbClr val="B8C2D0"/>
          </a:solidFill>
          <a:ln w="9525">
            <a:solidFill>
              <a:srgbClr val="5A6478"/>
            </a:solidFill>
            <a:prstDash val="solid"/>
          </a:ln>
        </p:spPr>
      </p:sp>
      <p:sp>
        <p:nvSpPr>
          <p:cNvPr id="73" name="Shape 71"/>
          <p:cNvSpPr/>
          <p:nvPr/>
        </p:nvSpPr>
        <p:spPr>
          <a:xfrm>
            <a:off x="4251960" y="2423160"/>
            <a:ext cx="274320" cy="274320"/>
          </a:xfrm>
          <a:prstGeom prst="ellipse">
            <a:avLst/>
          </a:prstGeom>
          <a:solidFill>
            <a:srgbClr val="B8C2D0"/>
          </a:solidFill>
          <a:ln w="9525">
            <a:solidFill>
              <a:srgbClr val="5A6478"/>
            </a:solidFill>
            <a:prstDash val="solid"/>
          </a:ln>
        </p:spPr>
      </p:sp>
      <p:sp>
        <p:nvSpPr>
          <p:cNvPr id="74" name="Shape 72"/>
          <p:cNvSpPr/>
          <p:nvPr/>
        </p:nvSpPr>
        <p:spPr>
          <a:xfrm>
            <a:off x="4526280" y="2423160"/>
            <a:ext cx="274320" cy="274320"/>
          </a:xfrm>
          <a:prstGeom prst="ellipse">
            <a:avLst/>
          </a:prstGeom>
          <a:solidFill>
            <a:srgbClr val="B8C2D0"/>
          </a:solidFill>
          <a:ln w="9525">
            <a:solidFill>
              <a:srgbClr val="5A6478"/>
            </a:solidFill>
            <a:prstDash val="solid"/>
          </a:ln>
        </p:spPr>
      </p:sp>
      <p:sp>
        <p:nvSpPr>
          <p:cNvPr id="75" name="Shape 73"/>
          <p:cNvSpPr/>
          <p:nvPr/>
        </p:nvSpPr>
        <p:spPr>
          <a:xfrm>
            <a:off x="4800600" y="2423160"/>
            <a:ext cx="274320" cy="274320"/>
          </a:xfrm>
          <a:prstGeom prst="ellipse">
            <a:avLst/>
          </a:prstGeom>
          <a:solidFill>
            <a:srgbClr val="B8C2D0"/>
          </a:solidFill>
          <a:ln w="9525">
            <a:solidFill>
              <a:srgbClr val="5A6478"/>
            </a:solidFill>
            <a:prstDash val="solid"/>
          </a:ln>
        </p:spPr>
      </p:sp>
      <p:sp>
        <p:nvSpPr>
          <p:cNvPr id="76" name="Shape 74"/>
          <p:cNvSpPr/>
          <p:nvPr/>
        </p:nvSpPr>
        <p:spPr>
          <a:xfrm>
            <a:off x="5074920" y="2423160"/>
            <a:ext cx="274320" cy="274320"/>
          </a:xfrm>
          <a:prstGeom prst="ellipse">
            <a:avLst/>
          </a:prstGeom>
          <a:solidFill>
            <a:srgbClr val="B8C2D0"/>
          </a:solidFill>
          <a:ln w="9525">
            <a:solidFill>
              <a:srgbClr val="5A6478"/>
            </a:solidFill>
            <a:prstDash val="solid"/>
          </a:ln>
        </p:spPr>
      </p:sp>
      <p:sp>
        <p:nvSpPr>
          <p:cNvPr id="77" name="Shape 75"/>
          <p:cNvSpPr/>
          <p:nvPr/>
        </p:nvSpPr>
        <p:spPr>
          <a:xfrm>
            <a:off x="5349240" y="2423160"/>
            <a:ext cx="274320" cy="274320"/>
          </a:xfrm>
          <a:prstGeom prst="ellipse">
            <a:avLst/>
          </a:prstGeom>
          <a:solidFill>
            <a:srgbClr val="B8C2D0"/>
          </a:solidFill>
          <a:ln w="9525">
            <a:solidFill>
              <a:srgbClr val="5A6478"/>
            </a:solidFill>
            <a:prstDash val="solid"/>
          </a:ln>
        </p:spPr>
      </p:sp>
      <p:sp>
        <p:nvSpPr>
          <p:cNvPr id="78" name="Shape 76"/>
          <p:cNvSpPr/>
          <p:nvPr/>
        </p:nvSpPr>
        <p:spPr>
          <a:xfrm>
            <a:off x="4468673" y="1816913"/>
            <a:ext cx="115214" cy="115214"/>
          </a:xfrm>
          <a:prstGeom prst="ellipse">
            <a:avLst/>
          </a:prstGeom>
          <a:solidFill>
            <a:srgbClr val="3A3A3A"/>
          </a:solidFill>
          <a:ln w="9525">
            <a:solidFill>
              <a:srgbClr val="111111"/>
            </a:solidFill>
            <a:prstDash val="solid"/>
          </a:ln>
        </p:spPr>
      </p:sp>
      <p:sp>
        <p:nvSpPr>
          <p:cNvPr id="79" name="Shape 77"/>
          <p:cNvSpPr/>
          <p:nvPr/>
        </p:nvSpPr>
        <p:spPr>
          <a:xfrm>
            <a:off x="5291633" y="2091233"/>
            <a:ext cx="115214" cy="115214"/>
          </a:xfrm>
          <a:prstGeom prst="ellipse">
            <a:avLst/>
          </a:prstGeom>
          <a:solidFill>
            <a:srgbClr val="3A3A3A"/>
          </a:solidFill>
          <a:ln w="9525">
            <a:solidFill>
              <a:srgbClr val="111111"/>
            </a:solidFill>
            <a:prstDash val="solid"/>
          </a:ln>
        </p:spPr>
      </p:sp>
      <p:sp>
        <p:nvSpPr>
          <p:cNvPr id="80" name="Shape 78"/>
          <p:cNvSpPr/>
          <p:nvPr/>
        </p:nvSpPr>
        <p:spPr>
          <a:xfrm>
            <a:off x="3920033" y="2091233"/>
            <a:ext cx="115214" cy="115214"/>
          </a:xfrm>
          <a:prstGeom prst="ellipse">
            <a:avLst/>
          </a:prstGeom>
          <a:solidFill>
            <a:srgbClr val="3A3A3A"/>
          </a:solidFill>
          <a:ln w="9525">
            <a:solidFill>
              <a:srgbClr val="111111"/>
            </a:solidFill>
            <a:prstDash val="solid"/>
          </a:ln>
        </p:spPr>
      </p:sp>
      <p:sp>
        <p:nvSpPr>
          <p:cNvPr id="81" name="Shape 79"/>
          <p:cNvSpPr/>
          <p:nvPr/>
        </p:nvSpPr>
        <p:spPr>
          <a:xfrm>
            <a:off x="4742993" y="2365553"/>
            <a:ext cx="115214" cy="115214"/>
          </a:xfrm>
          <a:prstGeom prst="ellipse">
            <a:avLst/>
          </a:prstGeom>
          <a:solidFill>
            <a:srgbClr val="3A3A3A"/>
          </a:solidFill>
          <a:ln w="9525">
            <a:solidFill>
              <a:srgbClr val="111111"/>
            </a:solidFill>
            <a:prstDash val="solid"/>
          </a:ln>
        </p:spPr>
      </p:sp>
      <p:sp>
        <p:nvSpPr>
          <p:cNvPr id="82" name="Text 80"/>
          <p:cNvSpPr/>
          <p:nvPr/>
        </p:nvSpPr>
        <p:spPr>
          <a:xfrm>
            <a:off x="3246120" y="2834640"/>
            <a:ext cx="25603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layers </a:t>
            </a:r>
            <a:r>
              <a:rPr lang="en-US" sz="1000" b="1" dirty="0">
                <a:solidFill>
                  <a:srgbClr val="262B3A"/>
                </a:solidFill>
                <a:latin typeface="Calibri" pitchFamily="34" charset="0"/>
                <a:ea typeface="Calibri" pitchFamily="34" charset="-122"/>
                <a:cs typeface="Calibri" pitchFamily="34" charset="-120"/>
              </a:rPr>
              <a:t>distorted</a:t>
            </a:r>
            <a:r>
              <a:rPr lang="en-US" sz="1000" dirty="0">
                <a:solidFill>
                  <a:srgbClr val="262B3A"/>
                </a:solidFill>
                <a:latin typeface="Calibri" pitchFamily="34" charset="0"/>
                <a:ea typeface="Calibri" pitchFamily="34" charset="-122"/>
                <a:cs typeface="Calibri" pitchFamily="34" charset="-120"/>
              </a:rPr>
              <a:t>: harder, stronger</a:t>
            </a:r>
            <a:endParaRPr lang="en-US" sz="1000" dirty="0"/>
          </a:p>
        </p:txBody>
      </p:sp>
      <p:sp>
        <p:nvSpPr>
          <p:cNvPr id="83" name="Shape 81"/>
          <p:cNvSpPr/>
          <p:nvPr/>
        </p:nvSpPr>
        <p:spPr>
          <a:xfrm>
            <a:off x="3438144" y="3163824"/>
            <a:ext cx="73152" cy="73152"/>
          </a:xfrm>
          <a:prstGeom prst="ellipse">
            <a:avLst/>
          </a:prstGeom>
          <a:solidFill>
            <a:srgbClr val="3A3A3A"/>
          </a:solidFill>
          <a:ln w="9525">
            <a:solidFill>
              <a:srgbClr val="111111"/>
            </a:solidFill>
            <a:prstDash val="solid"/>
          </a:ln>
        </p:spPr>
      </p:sp>
      <p:sp>
        <p:nvSpPr>
          <p:cNvPr id="84" name="Text 82"/>
          <p:cNvSpPr/>
          <p:nvPr/>
        </p:nvSpPr>
        <p:spPr>
          <a:xfrm>
            <a:off x="3566160" y="3090672"/>
            <a:ext cx="118872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carbon atom</a:t>
            </a:r>
            <a:endParaRPr lang="en-US" sz="1000" dirty="0"/>
          </a:p>
        </p:txBody>
      </p:sp>
      <p:sp>
        <p:nvSpPr>
          <p:cNvPr id="85" name="Shape 83"/>
          <p:cNvSpPr/>
          <p:nvPr/>
        </p:nvSpPr>
        <p:spPr>
          <a:xfrm>
            <a:off x="4590288" y="3127248"/>
            <a:ext cx="146304" cy="146304"/>
          </a:xfrm>
          <a:prstGeom prst="ellipse">
            <a:avLst/>
          </a:prstGeom>
          <a:solidFill>
            <a:srgbClr val="E0B040"/>
          </a:solidFill>
          <a:ln w="9525">
            <a:solidFill>
              <a:srgbClr val="8A6A14"/>
            </a:solidFill>
            <a:prstDash val="solid"/>
          </a:ln>
        </p:spPr>
      </p:sp>
      <p:sp>
        <p:nvSpPr>
          <p:cNvPr id="86" name="Text 84"/>
          <p:cNvSpPr/>
          <p:nvPr/>
        </p:nvSpPr>
        <p:spPr>
          <a:xfrm>
            <a:off x="4773168" y="3090672"/>
            <a:ext cx="100584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larger atom</a:t>
            </a:r>
            <a:endParaRPr lang="en-US" sz="1000" dirty="0"/>
          </a:p>
        </p:txBody>
      </p:sp>
      <p:sp>
        <p:nvSpPr>
          <p:cNvPr id="87" name="Text 85"/>
          <p:cNvSpPr/>
          <p:nvPr/>
        </p:nvSpPr>
        <p:spPr>
          <a:xfrm>
            <a:off x="594360" y="3429000"/>
            <a:ext cx="521208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Stainless steel</a:t>
            </a:r>
            <a:r>
              <a:rPr lang="en-US" sz="1050" dirty="0">
                <a:solidFill>
                  <a:srgbClr val="262B3A"/>
                </a:solidFill>
                <a:latin typeface="Calibri" pitchFamily="34" charset="0"/>
                <a:ea typeface="Calibri" pitchFamily="34" charset="-122"/>
                <a:cs typeface="Calibri" pitchFamily="34" charset="-120"/>
              </a:rPr>
              <a:t> composition by mass</a:t>
            </a:r>
            <a:endParaRPr lang="en-US" sz="1050" dirty="0"/>
          </a:p>
        </p:txBody>
      </p:sp>
      <p:sp>
        <p:nvSpPr>
          <p:cNvPr id="88" name="Shape 86"/>
          <p:cNvSpPr/>
          <p:nvPr/>
        </p:nvSpPr>
        <p:spPr>
          <a:xfrm>
            <a:off x="777240" y="3749040"/>
            <a:ext cx="3586277" cy="384048"/>
          </a:xfrm>
          <a:prstGeom prst="rect">
            <a:avLst/>
          </a:prstGeom>
          <a:solidFill>
            <a:srgbClr val="B8C2D0"/>
          </a:solidFill>
          <a:ln w="9525">
            <a:solidFill>
              <a:srgbClr val="2A1F3D"/>
            </a:solidFill>
            <a:prstDash val="solid"/>
          </a:ln>
        </p:spPr>
      </p:sp>
      <p:sp>
        <p:nvSpPr>
          <p:cNvPr id="89" name="Text 87"/>
          <p:cNvSpPr/>
          <p:nvPr/>
        </p:nvSpPr>
        <p:spPr>
          <a:xfrm>
            <a:off x="777240" y="3749040"/>
            <a:ext cx="3586277" cy="38404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Iron 74%</a:t>
            </a:r>
            <a:endParaRPr lang="en-US" sz="1000" dirty="0"/>
          </a:p>
        </p:txBody>
      </p:sp>
      <p:sp>
        <p:nvSpPr>
          <p:cNvPr id="90" name="Shape 88"/>
          <p:cNvSpPr/>
          <p:nvPr/>
        </p:nvSpPr>
        <p:spPr>
          <a:xfrm>
            <a:off x="4363517" y="3749040"/>
            <a:ext cx="872338" cy="384048"/>
          </a:xfrm>
          <a:prstGeom prst="rect">
            <a:avLst/>
          </a:prstGeom>
          <a:solidFill>
            <a:srgbClr val="8FB3D9"/>
          </a:solidFill>
          <a:ln w="9525">
            <a:solidFill>
              <a:srgbClr val="2A1F3D"/>
            </a:solidFill>
            <a:prstDash val="solid"/>
          </a:ln>
        </p:spPr>
      </p:sp>
      <p:sp>
        <p:nvSpPr>
          <p:cNvPr id="91" name="Text 89"/>
          <p:cNvSpPr/>
          <p:nvPr/>
        </p:nvSpPr>
        <p:spPr>
          <a:xfrm>
            <a:off x="4363517" y="3749040"/>
            <a:ext cx="872338" cy="38404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Chromium 18%</a:t>
            </a:r>
            <a:endParaRPr lang="en-US" sz="1000" dirty="0"/>
          </a:p>
        </p:txBody>
      </p:sp>
      <p:sp>
        <p:nvSpPr>
          <p:cNvPr id="92" name="Shape 90"/>
          <p:cNvSpPr/>
          <p:nvPr/>
        </p:nvSpPr>
        <p:spPr>
          <a:xfrm>
            <a:off x="5235854" y="3749040"/>
            <a:ext cx="387706" cy="384048"/>
          </a:xfrm>
          <a:prstGeom prst="rect">
            <a:avLst/>
          </a:prstGeom>
          <a:solidFill>
            <a:srgbClr val="D9C08F"/>
          </a:solidFill>
          <a:ln w="9525">
            <a:solidFill>
              <a:srgbClr val="2A1F3D"/>
            </a:solidFill>
            <a:prstDash val="solid"/>
          </a:ln>
        </p:spPr>
      </p:sp>
      <p:sp>
        <p:nvSpPr>
          <p:cNvPr id="93" name="Text 91"/>
          <p:cNvSpPr/>
          <p:nvPr/>
        </p:nvSpPr>
        <p:spPr>
          <a:xfrm>
            <a:off x="5235854" y="3749040"/>
            <a:ext cx="387706" cy="38404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Nickel 8%</a:t>
            </a:r>
            <a:endParaRPr lang="en-US" sz="1000" dirty="0"/>
          </a:p>
        </p:txBody>
      </p:sp>
      <p:sp>
        <p:nvSpPr>
          <p:cNvPr id="94" name="Text 92"/>
          <p:cNvSpPr/>
          <p:nvPr/>
        </p:nvSpPr>
        <p:spPr>
          <a:xfrm>
            <a:off x="594360" y="4224528"/>
            <a:ext cx="5212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Making steel</a:t>
            </a:r>
            <a:r>
              <a:rPr lang="en-US" sz="1050" dirty="0">
                <a:solidFill>
                  <a:srgbClr val="262B3A"/>
                </a:solidFill>
                <a:latin typeface="Calibri" pitchFamily="34" charset="0"/>
                <a:ea typeface="Calibri" pitchFamily="34" charset="-122"/>
                <a:cs typeface="Calibri" pitchFamily="34" charset="-120"/>
              </a:rPr>
              <a:t>: blow oxygen through molten iron to burn off extra carbon</a:t>
            </a:r>
            <a:endParaRPr lang="en-US" sz="1050" dirty="0"/>
          </a:p>
        </p:txBody>
      </p:sp>
      <p:sp>
        <p:nvSpPr>
          <p:cNvPr id="95" name="Text 93"/>
          <p:cNvSpPr/>
          <p:nvPr/>
        </p:nvSpPr>
        <p:spPr>
          <a:xfrm>
            <a:off x="594360" y="4498848"/>
            <a:ext cx="5212080" cy="274320"/>
          </a:xfrm>
          <a:prstGeom prst="rect">
            <a:avLst/>
          </a:prstGeom>
          <a:noFill/>
          <a:ln/>
        </p:spPr>
        <p:txBody>
          <a:bodyPr wrap="square" lIns="0" tIns="0" rIns="0" bIns="0" rtlCol="0" anchor="ctr"/>
          <a:lstStyle/>
          <a:p>
            <a:pPr algn="ctr" indent="0" marL="0">
              <a:buNone/>
            </a:pPr>
            <a:r>
              <a:rPr lang="en-US" sz="1150" b="1" dirty="0">
                <a:solidFill>
                  <a:srgbClr val="6A3FA0"/>
                </a:solidFill>
                <a:latin typeface="Calibri" pitchFamily="34" charset="0"/>
                <a:ea typeface="Calibri" pitchFamily="34" charset="-122"/>
                <a:cs typeface="Calibri" pitchFamily="34" charset="-120"/>
              </a:rPr>
              <a:t>C(s) + O₂(g) → CO₂(g)</a:t>
            </a:r>
            <a:endParaRPr lang="en-US" sz="1150" dirty="0"/>
          </a:p>
        </p:txBody>
      </p:sp>
      <p:sp>
        <p:nvSpPr>
          <p:cNvPr id="96" name="Text 94"/>
          <p:cNvSpPr/>
          <p:nvPr/>
        </p:nvSpPr>
        <p:spPr>
          <a:xfrm>
            <a:off x="594360" y="4846320"/>
            <a:ext cx="52120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then add exact amounts of carbon and other metals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261872"/>
                <a:gridCol w="1828800"/>
                <a:gridCol w="2468880"/>
              </a:tblGrid>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Alloy</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Composition (typical)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Property → use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329184">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Mild steel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iron + about 0.25% carbon</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strong, easily shaped → car bodies, girders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329184">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High-carbon steel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iron + about 1% carbon</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very hard, more brittle → tools, blades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Stainless steel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iron + 18% chromium + 8% nickel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does not rust → cutlery, sinks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329184">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Brass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70% copper + 30% zinc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harder than copper, gold colour → taps, plug pins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Bronze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about 88% copper + 12% tin</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hard, resists corrosion → statues, bells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329184">
                <a:tc>
                  <a:txBody>
                    <a:bodyPr/>
                    <a:lstStyle/>
                    <a:p>
                      <a:pPr algn="l" indent="0" marL="0">
                        <a:buNone/>
                      </a:pPr>
                      <a:r>
                        <a:rPr lang="en-US" sz="1000" b="1" dirty="0">
                          <a:solidFill>
                            <a:srgbClr val="262B3A"/>
                          </a:solidFill>
                          <a:latin typeface="Calibri" pitchFamily="34" charset="0"/>
                          <a:ea typeface="Calibri" pitchFamily="34" charset="-122"/>
                          <a:cs typeface="Calibri" pitchFamily="34" charset="-120"/>
                        </a:rPr>
                        <a:t>18-carat gold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75% gold + silver / copper</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62B3A"/>
                          </a:solidFill>
                          <a:latin typeface="Calibri" pitchFamily="34" charset="0"/>
                          <a:ea typeface="Calibri" pitchFamily="34" charset="-122"/>
                          <a:cs typeface="Calibri" pitchFamily="34" charset="-120"/>
                        </a:rPr>
                        <a:t>harder than pure gold → jewellery</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98" name="Shape 95"/>
          <p:cNvSpPr/>
          <p:nvPr/>
        </p:nvSpPr>
        <p:spPr>
          <a:xfrm>
            <a:off x="6217920" y="4160520"/>
            <a:ext cx="5559552" cy="1554480"/>
          </a:xfrm>
          <a:prstGeom prst="roundRect">
            <a:avLst>
              <a:gd name="adj" fmla="val 3529"/>
            </a:avLst>
          </a:prstGeom>
          <a:solidFill>
            <a:srgbClr val="FFF4E0"/>
          </a:solidFill>
          <a:ln w="9525">
            <a:solidFill>
              <a:srgbClr val="F1D9A8"/>
            </a:solidFill>
            <a:prstDash val="solid"/>
          </a:ln>
        </p:spPr>
      </p:sp>
      <p:sp>
        <p:nvSpPr>
          <p:cNvPr id="99" name="Text 96"/>
          <p:cNvSpPr/>
          <p:nvPr/>
        </p:nvSpPr>
        <p:spPr>
          <a:xfrm>
            <a:off x="6382512" y="42336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of a metal in an alloy</a:t>
            </a:r>
            <a:endParaRPr lang="en-US" sz="1300" dirty="0"/>
          </a:p>
        </p:txBody>
      </p:sp>
      <p:sp>
        <p:nvSpPr>
          <p:cNvPr id="100" name="Text 97"/>
          <p:cNvSpPr/>
          <p:nvPr/>
        </p:nvSpPr>
        <p:spPr>
          <a:xfrm>
            <a:off x="6382512" y="4544568"/>
            <a:ext cx="5230368" cy="10972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stainless steel sink has a mass of 2.0 kg. It is 18% chromium.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Fraction   </a:t>
            </a:r>
            <a:r>
              <a:rPr lang="en-US" sz="1050" dirty="0">
                <a:solidFill>
                  <a:srgbClr val="262B3A"/>
                </a:solidFill>
                <a:latin typeface="Calibri" pitchFamily="34" charset="0"/>
                <a:ea typeface="Calibri" pitchFamily="34" charset="-122"/>
                <a:cs typeface="Calibri" pitchFamily="34" charset="-120"/>
              </a:rPr>
              <a:t>18% = 0.18</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2.0 × 0.18 = </a:t>
            </a:r>
            <a:r>
              <a:rPr lang="en-US" sz="1050" b="1" dirty="0">
                <a:solidFill>
                  <a:srgbClr val="C8414C"/>
                </a:solidFill>
                <a:latin typeface="Calibri" pitchFamily="34" charset="0"/>
                <a:ea typeface="Calibri" pitchFamily="34" charset="-122"/>
                <a:cs typeface="Calibri" pitchFamily="34" charset="-120"/>
              </a:rPr>
              <a:t>0.36 kg</a:t>
            </a:r>
            <a:r>
              <a:rPr lang="en-US" sz="1050" b="1" dirty="0">
                <a:solidFill>
                  <a:srgbClr val="C8414C"/>
                </a:solidFill>
                <a:latin typeface="Calibri" pitchFamily="34" charset="0"/>
                <a:ea typeface="Calibri" pitchFamily="34" charset="-122"/>
                <a:cs typeface="Calibri" pitchFamily="34" charset="-120"/>
              </a:rPr>
              <a:t> of chromium</a:t>
            </a:r>
            <a:endParaRPr lang="en-US" sz="1050" dirty="0"/>
          </a:p>
        </p:txBody>
      </p:sp>
      <p:sp>
        <p:nvSpPr>
          <p:cNvPr id="101" name="Shape 98"/>
          <p:cNvSpPr/>
          <p:nvPr/>
        </p:nvSpPr>
        <p:spPr>
          <a:xfrm>
            <a:off x="411480" y="5833872"/>
            <a:ext cx="11368735" cy="530352"/>
          </a:xfrm>
          <a:prstGeom prst="rect">
            <a:avLst/>
          </a:prstGeom>
          <a:solidFill>
            <a:srgbClr val="FFF4E0"/>
          </a:solidFill>
          <a:ln w="6350">
            <a:solidFill>
              <a:srgbClr val="F1D9A8"/>
            </a:solidFill>
            <a:prstDash val="solid"/>
          </a:ln>
        </p:spPr>
      </p:sp>
      <p:sp>
        <p:nvSpPr>
          <p:cNvPr id="102" name="Shape 99"/>
          <p:cNvSpPr/>
          <p:nvPr/>
        </p:nvSpPr>
        <p:spPr>
          <a:xfrm>
            <a:off x="411480" y="5833872"/>
            <a:ext cx="82296" cy="530352"/>
          </a:xfrm>
          <a:prstGeom prst="rect">
            <a:avLst/>
          </a:prstGeom>
          <a:solidFill>
            <a:srgbClr val="E39A2F"/>
          </a:solidFill>
          <a:ln w="12700">
            <a:solidFill>
              <a:srgbClr val="E39A2F"/>
            </a:solidFill>
            <a:prstDash val="solid"/>
          </a:ln>
        </p:spPr>
      </p:sp>
      <p:sp>
        <p:nvSpPr>
          <p:cNvPr id="103" name="Text 10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t>
            </a:r>
            <a:r>
              <a:rPr lang="en-US" sz="1150" b="1" dirty="0">
                <a:solidFill>
                  <a:srgbClr val="262B3A"/>
                </a:solidFill>
                <a:latin typeface="Calibri" pitchFamily="34" charset="0"/>
                <a:ea typeface="Calibri" pitchFamily="34" charset="-122"/>
                <a:cs typeface="Calibri" pitchFamily="34" charset="-120"/>
              </a:rPr>
              <a:t>stainless</a:t>
            </a:r>
            <a:r>
              <a:rPr lang="en-US" sz="1150" dirty="0">
                <a:solidFill>
                  <a:srgbClr val="262B3A"/>
                </a:solidFill>
                <a:latin typeface="Calibri" pitchFamily="34" charset="0"/>
                <a:ea typeface="Calibri" pitchFamily="34" charset="-122"/>
                <a:cs typeface="Calibri" pitchFamily="34" charset="-120"/>
              </a:rPr>
              <a:t> steel used for cutlery rather than mild steel? What percentage of </a:t>
            </a:r>
            <a:r>
              <a:rPr lang="en-US" sz="1150" b="1" dirty="0">
                <a:solidFill>
                  <a:srgbClr val="262B3A"/>
                </a:solidFill>
                <a:latin typeface="Calibri" pitchFamily="34" charset="0"/>
                <a:ea typeface="Calibri" pitchFamily="34" charset="-122"/>
                <a:cs typeface="Calibri" pitchFamily="34" charset="-120"/>
              </a:rPr>
              <a:t>9-carat</a:t>
            </a:r>
            <a:r>
              <a:rPr lang="en-US" sz="1150" dirty="0">
                <a:solidFill>
                  <a:srgbClr val="262B3A"/>
                </a:solidFill>
                <a:latin typeface="Calibri" pitchFamily="34" charset="0"/>
                <a:ea typeface="Calibri" pitchFamily="34" charset="-122"/>
                <a:cs typeface="Calibri" pitchFamily="34" charset="-120"/>
              </a:rPr>
              <a:t> gold is gold? (carat = parts in 24)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C4.1.2, C4.1.3 • choosing materials and alloys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copper is used for the </a:t>
            </a:r>
            <a:r>
              <a:rPr lang="en-US" sz="1250" b="1" dirty="0">
                <a:solidFill>
                  <a:srgbClr val="262B3A"/>
                </a:solidFill>
                <a:latin typeface="Calibri" pitchFamily="34" charset="0"/>
                <a:ea typeface="Calibri" pitchFamily="34" charset="-122"/>
                <a:cs typeface="Calibri" pitchFamily="34" charset="-120"/>
              </a:rPr>
              <a:t>core</a:t>
            </a:r>
            <a:r>
              <a:rPr lang="en-US" sz="1250" dirty="0">
                <a:solidFill>
                  <a:srgbClr val="262B3A"/>
                </a:solidFill>
                <a:latin typeface="Calibri" pitchFamily="34" charset="0"/>
                <a:ea typeface="Calibri" pitchFamily="34" charset="-122"/>
                <a:cs typeface="Calibri" pitchFamily="34" charset="-120"/>
              </a:rPr>
              <a:t> of an electrical cable and PVC for the </a:t>
            </a:r>
            <a:r>
              <a:rPr lang="en-US" sz="1250" b="1" dirty="0">
                <a:solidFill>
                  <a:srgbClr val="262B3A"/>
                </a:solidFill>
                <a:latin typeface="Calibri" pitchFamily="34" charset="0"/>
                <a:ea typeface="Calibri" pitchFamily="34" charset="-122"/>
                <a:cs typeface="Calibri" pitchFamily="34" charset="-120"/>
              </a:rPr>
              <a:t>outside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an </a:t>
            </a:r>
            <a:r>
              <a:rPr lang="en-US" sz="1250" b="1" dirty="0">
                <a:solidFill>
                  <a:srgbClr val="262B3A"/>
                </a:solidFill>
                <a:latin typeface="Calibri" pitchFamily="34" charset="0"/>
                <a:ea typeface="Calibri" pitchFamily="34" charset="-122"/>
                <a:cs typeface="Calibri" pitchFamily="34" charset="-120"/>
              </a:rPr>
              <a:t>alloy</a:t>
            </a:r>
            <a:r>
              <a:rPr lang="en-US" sz="1250" dirty="0">
                <a:solidFill>
                  <a:srgbClr val="262B3A"/>
                </a:solidFill>
                <a:latin typeface="Calibri" pitchFamily="34" charset="0"/>
                <a:ea typeface="Calibri" pitchFamily="34" charset="-122"/>
                <a:cs typeface="Calibri" pitchFamily="34" charset="-120"/>
              </a:rPr>
              <a:t>?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reason why alloys are often more useful than pure metals.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stainless steel spoon of mass </a:t>
            </a:r>
            <a:r>
              <a:rPr lang="en-US" sz="1250" b="1" dirty="0">
                <a:solidFill>
                  <a:srgbClr val="262B3A"/>
                </a:solidFill>
                <a:latin typeface="Calibri" pitchFamily="34" charset="0"/>
                <a:ea typeface="Calibri" pitchFamily="34" charset="-122"/>
                <a:cs typeface="Calibri" pitchFamily="34" charset="-120"/>
              </a:rPr>
              <a:t>250 g</a:t>
            </a:r>
            <a:r>
              <a:rPr lang="en-US" sz="1250" dirty="0">
                <a:solidFill>
                  <a:srgbClr val="262B3A"/>
                </a:solidFill>
                <a:latin typeface="Calibri" pitchFamily="34" charset="0"/>
                <a:ea typeface="Calibri" pitchFamily="34" charset="-122"/>
                <a:cs typeface="Calibri" pitchFamily="34" charset="-120"/>
              </a:rPr>
              <a:t> contains </a:t>
            </a:r>
            <a:r>
              <a:rPr lang="en-US" sz="1250" b="1" dirty="0">
                <a:solidFill>
                  <a:srgbClr val="262B3A"/>
                </a:solidFill>
                <a:latin typeface="Calibri" pitchFamily="34" charset="0"/>
                <a:ea typeface="Calibri" pitchFamily="34" charset="-122"/>
                <a:cs typeface="Calibri" pitchFamily="34" charset="-120"/>
              </a:rPr>
              <a:t>18%</a:t>
            </a:r>
            <a:r>
              <a:rPr lang="en-US" sz="1250" dirty="0">
                <a:solidFill>
                  <a:srgbClr val="262B3A"/>
                </a:solidFill>
                <a:latin typeface="Calibri" pitchFamily="34" charset="0"/>
                <a:ea typeface="Calibri" pitchFamily="34" charset="-122"/>
                <a:cs typeface="Calibri" pitchFamily="34" charset="-120"/>
              </a:rPr>
              <a:t> chromium. Calculate the mass of chromium.</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high-carbon</a:t>
            </a:r>
            <a:r>
              <a:rPr lang="en-US" sz="1250" dirty="0">
                <a:solidFill>
                  <a:srgbClr val="262B3A"/>
                </a:solidFill>
                <a:latin typeface="Calibri" pitchFamily="34" charset="0"/>
                <a:ea typeface="Calibri" pitchFamily="34" charset="-122"/>
                <a:cs typeface="Calibri" pitchFamily="34" charset="-120"/>
              </a:rPr>
              <a:t> steel is used for drill bits but </a:t>
            </a:r>
            <a:r>
              <a:rPr lang="en-US" sz="1250" b="1" dirty="0">
                <a:solidFill>
                  <a:srgbClr val="262B3A"/>
                </a:solidFill>
                <a:latin typeface="Calibri" pitchFamily="34" charset="0"/>
                <a:ea typeface="Calibri" pitchFamily="34" charset="-122"/>
                <a:cs typeface="Calibri" pitchFamily="34" charset="-120"/>
              </a:rPr>
              <a:t>mild</a:t>
            </a:r>
            <a:r>
              <a:rPr lang="en-US" sz="1250" dirty="0">
                <a:solidFill>
                  <a:srgbClr val="262B3A"/>
                </a:solidFill>
                <a:latin typeface="Calibri" pitchFamily="34" charset="0"/>
                <a:ea typeface="Calibri" pitchFamily="34" charset="-122"/>
                <a:cs typeface="Calibri" pitchFamily="34" charset="-120"/>
              </a:rPr>
              <a:t> steel for car bodies.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density by displacement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measuring density to compare materials quantitatively</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balance, 100 cm³ measuring cylinder, thread, samples</a:t>
            </a:r>
            <a:endParaRPr lang="en-US" sz="1000" dirty="0"/>
          </a:p>
        </p:txBody>
      </p:sp>
      <p:sp>
        <p:nvSpPr>
          <p:cNvPr id="12" name="Shape 10"/>
          <p:cNvSpPr/>
          <p:nvPr/>
        </p:nvSpPr>
        <p:spPr>
          <a:xfrm>
            <a:off x="685800" y="4206240"/>
            <a:ext cx="2011680" cy="457200"/>
          </a:xfrm>
          <a:prstGeom prst="roundRect">
            <a:avLst>
              <a:gd name="adj" fmla="val 10000"/>
            </a:avLst>
          </a:prstGeom>
          <a:solidFill>
            <a:srgbClr val="D9DEE6"/>
          </a:solidFill>
          <a:ln w="12700">
            <a:solidFill>
              <a:srgbClr val="5A6478"/>
            </a:solidFill>
            <a:prstDash val="solid"/>
          </a:ln>
        </p:spPr>
      </p:sp>
      <p:sp>
        <p:nvSpPr>
          <p:cNvPr id="13" name="Shape 11"/>
          <p:cNvSpPr/>
          <p:nvPr/>
        </p:nvSpPr>
        <p:spPr>
          <a:xfrm>
            <a:off x="822960" y="4133088"/>
            <a:ext cx="1737360" cy="73152"/>
          </a:xfrm>
          <a:prstGeom prst="rect">
            <a:avLst/>
          </a:prstGeom>
          <a:solidFill>
            <a:srgbClr val="9AA3B0"/>
          </a:solidFill>
          <a:ln w="9525">
            <a:solidFill>
              <a:srgbClr val="5A6478"/>
            </a:solidFill>
            <a:prstDash val="solid"/>
          </a:ln>
        </p:spPr>
      </p:sp>
      <p:sp>
        <p:nvSpPr>
          <p:cNvPr id="14" name="Shape 12"/>
          <p:cNvSpPr/>
          <p:nvPr/>
        </p:nvSpPr>
        <p:spPr>
          <a:xfrm>
            <a:off x="1234440" y="4315968"/>
            <a:ext cx="914400" cy="256032"/>
          </a:xfrm>
          <a:prstGeom prst="rect">
            <a:avLst/>
          </a:prstGeom>
          <a:solidFill>
            <a:srgbClr val="1E2A1E"/>
          </a:solidFill>
          <a:ln/>
        </p:spPr>
      </p:sp>
      <p:sp>
        <p:nvSpPr>
          <p:cNvPr id="15" name="Text 13"/>
          <p:cNvSpPr/>
          <p:nvPr/>
        </p:nvSpPr>
        <p:spPr>
          <a:xfrm>
            <a:off x="1234440" y="4315968"/>
            <a:ext cx="914400" cy="256032"/>
          </a:xfrm>
          <a:prstGeom prst="rect">
            <a:avLst/>
          </a:prstGeom>
          <a:noFill/>
          <a:ln/>
        </p:spPr>
        <p:txBody>
          <a:bodyPr wrap="square" lIns="0" tIns="0" rIns="0" bIns="0" rtlCol="0" anchor="ctr"/>
          <a:lstStyle/>
          <a:p>
            <a:pPr algn="ctr" indent="0" marL="0">
              <a:buNone/>
            </a:pPr>
            <a:r>
              <a:rPr lang="en-US" sz="1100" b="1" dirty="0">
                <a:solidFill>
                  <a:srgbClr val="7CFC7C"/>
                </a:solidFill>
                <a:latin typeface="Calibri" pitchFamily="34" charset="0"/>
                <a:ea typeface="Calibri" pitchFamily="34" charset="-122"/>
                <a:cs typeface="Calibri" pitchFamily="34" charset="-120"/>
              </a:rPr>
              <a:t>10.7 g</a:t>
            </a:r>
            <a:endParaRPr lang="en-US" sz="1100" dirty="0"/>
          </a:p>
        </p:txBody>
      </p:sp>
      <p:sp>
        <p:nvSpPr>
          <p:cNvPr id="16" name="Shape 14"/>
          <p:cNvSpPr/>
          <p:nvPr/>
        </p:nvSpPr>
        <p:spPr>
          <a:xfrm>
            <a:off x="1463040" y="3950208"/>
            <a:ext cx="457200" cy="182880"/>
          </a:xfrm>
          <a:prstGeom prst="rect">
            <a:avLst/>
          </a:prstGeom>
          <a:solidFill>
            <a:srgbClr val="B8C2D0"/>
          </a:solidFill>
          <a:ln w="9525">
            <a:solidFill>
              <a:srgbClr val="5A6478"/>
            </a:solidFill>
            <a:prstDash val="solid"/>
          </a:ln>
        </p:spPr>
      </p:sp>
      <p:sp>
        <p:nvSpPr>
          <p:cNvPr id="17" name="Text 15"/>
          <p:cNvSpPr/>
          <p:nvPr/>
        </p:nvSpPr>
        <p:spPr>
          <a:xfrm>
            <a:off x="640080" y="4709160"/>
            <a:ext cx="2103120" cy="2286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a:t>
            </a:r>
            <a:r>
              <a:rPr lang="en-US" sz="1000" dirty="0">
                <a:solidFill>
                  <a:srgbClr val="262B3A"/>
                </a:solidFill>
                <a:latin typeface="Calibri" pitchFamily="34" charset="0"/>
                <a:ea typeface="Calibri" pitchFamily="34" charset="-122"/>
                <a:cs typeface="Calibri" pitchFamily="34" charset="-120"/>
              </a:rPr>
              <a:t> find the mass on a balance</a:t>
            </a:r>
            <a:endParaRPr lang="en-US" sz="1000" dirty="0"/>
          </a:p>
        </p:txBody>
      </p:sp>
      <p:sp>
        <p:nvSpPr>
          <p:cNvPr id="18" name="Shape 16"/>
          <p:cNvSpPr/>
          <p:nvPr/>
        </p:nvSpPr>
        <p:spPr>
          <a:xfrm>
            <a:off x="3063240" y="4562856"/>
            <a:ext cx="822960" cy="73152"/>
          </a:xfrm>
          <a:prstGeom prst="rect">
            <a:avLst/>
          </a:prstGeom>
          <a:solidFill>
            <a:srgbClr val="9AA3B0"/>
          </a:solidFill>
          <a:ln w="9525">
            <a:solidFill>
              <a:srgbClr val="5A6478"/>
            </a:solidFill>
            <a:prstDash val="solid"/>
          </a:ln>
        </p:spPr>
      </p:sp>
      <p:sp>
        <p:nvSpPr>
          <p:cNvPr id="19" name="Shape 17"/>
          <p:cNvSpPr/>
          <p:nvPr/>
        </p:nvSpPr>
        <p:spPr>
          <a:xfrm>
            <a:off x="3154680" y="1636776"/>
            <a:ext cx="640080" cy="2926080"/>
          </a:xfrm>
          <a:prstGeom prst="rect">
            <a:avLst/>
          </a:prstGeom>
          <a:solidFill>
            <a:srgbClr val="F4F8FC"/>
          </a:solidFill>
          <a:ln w="15875">
            <a:solidFill>
              <a:srgbClr val="6B7385"/>
            </a:solidFill>
            <a:prstDash val="solid"/>
          </a:ln>
        </p:spPr>
      </p:sp>
      <p:sp>
        <p:nvSpPr>
          <p:cNvPr id="20" name="Shape 18"/>
          <p:cNvSpPr/>
          <p:nvPr/>
        </p:nvSpPr>
        <p:spPr>
          <a:xfrm>
            <a:off x="3172968" y="3099816"/>
            <a:ext cx="603504" cy="1463040"/>
          </a:xfrm>
          <a:prstGeom prst="rect">
            <a:avLst/>
          </a:prstGeom>
          <a:solidFill>
            <a:srgbClr val="BFD9F2">
              <a:alpha val="80000"/>
            </a:srgbClr>
          </a:solidFill>
          <a:ln/>
        </p:spPr>
      </p:sp>
      <p:sp>
        <p:nvSpPr>
          <p:cNvPr id="21" name="Shape 19"/>
          <p:cNvSpPr/>
          <p:nvPr/>
        </p:nvSpPr>
        <p:spPr>
          <a:xfrm>
            <a:off x="3172968" y="3099816"/>
            <a:ext cx="603504" cy="91"/>
          </a:xfrm>
          <a:prstGeom prst="line">
            <a:avLst/>
          </a:prstGeom>
          <a:noFill/>
          <a:ln w="19050">
            <a:solidFill>
              <a:srgbClr val="5B9BD5"/>
            </a:solidFill>
            <a:prstDash val="solid"/>
          </a:ln>
        </p:spPr>
      </p:sp>
      <p:sp>
        <p:nvSpPr>
          <p:cNvPr id="22" name="Shape 20"/>
          <p:cNvSpPr/>
          <p:nvPr/>
        </p:nvSpPr>
        <p:spPr>
          <a:xfrm>
            <a:off x="3154680" y="4270248"/>
            <a:ext cx="91440" cy="91"/>
          </a:xfrm>
          <a:prstGeom prst="line">
            <a:avLst/>
          </a:prstGeom>
          <a:noFill/>
          <a:ln w="9525">
            <a:solidFill>
              <a:srgbClr val="6B7385"/>
            </a:solidFill>
            <a:prstDash val="solid"/>
          </a:ln>
        </p:spPr>
      </p:sp>
      <p:sp>
        <p:nvSpPr>
          <p:cNvPr id="23" name="Shape 21"/>
          <p:cNvSpPr/>
          <p:nvPr/>
        </p:nvSpPr>
        <p:spPr>
          <a:xfrm>
            <a:off x="3154680" y="3977640"/>
            <a:ext cx="91440" cy="91"/>
          </a:xfrm>
          <a:prstGeom prst="line">
            <a:avLst/>
          </a:prstGeom>
          <a:noFill/>
          <a:ln w="9525">
            <a:solidFill>
              <a:srgbClr val="6B7385"/>
            </a:solidFill>
            <a:prstDash val="solid"/>
          </a:ln>
        </p:spPr>
      </p:sp>
      <p:sp>
        <p:nvSpPr>
          <p:cNvPr id="24" name="Shape 22"/>
          <p:cNvSpPr/>
          <p:nvPr/>
        </p:nvSpPr>
        <p:spPr>
          <a:xfrm>
            <a:off x="3154680" y="3685032"/>
            <a:ext cx="91440" cy="91"/>
          </a:xfrm>
          <a:prstGeom prst="line">
            <a:avLst/>
          </a:prstGeom>
          <a:noFill/>
          <a:ln w="9525">
            <a:solidFill>
              <a:srgbClr val="6B7385"/>
            </a:solidFill>
            <a:prstDash val="solid"/>
          </a:ln>
        </p:spPr>
      </p:sp>
      <p:sp>
        <p:nvSpPr>
          <p:cNvPr id="25" name="Shape 23"/>
          <p:cNvSpPr/>
          <p:nvPr/>
        </p:nvSpPr>
        <p:spPr>
          <a:xfrm>
            <a:off x="3154680" y="3392424"/>
            <a:ext cx="91440" cy="91"/>
          </a:xfrm>
          <a:prstGeom prst="line">
            <a:avLst/>
          </a:prstGeom>
          <a:noFill/>
          <a:ln w="9525">
            <a:solidFill>
              <a:srgbClr val="6B7385"/>
            </a:solidFill>
            <a:prstDash val="solid"/>
          </a:ln>
        </p:spPr>
      </p:sp>
      <p:sp>
        <p:nvSpPr>
          <p:cNvPr id="26" name="Shape 24"/>
          <p:cNvSpPr/>
          <p:nvPr/>
        </p:nvSpPr>
        <p:spPr>
          <a:xfrm>
            <a:off x="3154680" y="3099816"/>
            <a:ext cx="164592" cy="91"/>
          </a:xfrm>
          <a:prstGeom prst="line">
            <a:avLst/>
          </a:prstGeom>
          <a:noFill/>
          <a:ln w="9525">
            <a:solidFill>
              <a:srgbClr val="6B7385"/>
            </a:solidFill>
            <a:prstDash val="solid"/>
          </a:ln>
        </p:spPr>
      </p:sp>
      <p:sp>
        <p:nvSpPr>
          <p:cNvPr id="27" name="Shape 25"/>
          <p:cNvSpPr/>
          <p:nvPr/>
        </p:nvSpPr>
        <p:spPr>
          <a:xfrm>
            <a:off x="3154680" y="2807208"/>
            <a:ext cx="91440" cy="91"/>
          </a:xfrm>
          <a:prstGeom prst="line">
            <a:avLst/>
          </a:prstGeom>
          <a:noFill/>
          <a:ln w="9525">
            <a:solidFill>
              <a:srgbClr val="6B7385"/>
            </a:solidFill>
            <a:prstDash val="solid"/>
          </a:ln>
        </p:spPr>
      </p:sp>
      <p:sp>
        <p:nvSpPr>
          <p:cNvPr id="28" name="Shape 26"/>
          <p:cNvSpPr/>
          <p:nvPr/>
        </p:nvSpPr>
        <p:spPr>
          <a:xfrm>
            <a:off x="3154680" y="2514600"/>
            <a:ext cx="91440" cy="91"/>
          </a:xfrm>
          <a:prstGeom prst="line">
            <a:avLst/>
          </a:prstGeom>
          <a:noFill/>
          <a:ln w="9525">
            <a:solidFill>
              <a:srgbClr val="6B7385"/>
            </a:solidFill>
            <a:prstDash val="solid"/>
          </a:ln>
        </p:spPr>
      </p:sp>
      <p:sp>
        <p:nvSpPr>
          <p:cNvPr id="29" name="Shape 27"/>
          <p:cNvSpPr/>
          <p:nvPr/>
        </p:nvSpPr>
        <p:spPr>
          <a:xfrm>
            <a:off x="3154680" y="2221992"/>
            <a:ext cx="91440" cy="91"/>
          </a:xfrm>
          <a:prstGeom prst="line">
            <a:avLst/>
          </a:prstGeom>
          <a:noFill/>
          <a:ln w="9525">
            <a:solidFill>
              <a:srgbClr val="6B7385"/>
            </a:solidFill>
            <a:prstDash val="solid"/>
          </a:ln>
        </p:spPr>
      </p:sp>
      <p:sp>
        <p:nvSpPr>
          <p:cNvPr id="30" name="Shape 28"/>
          <p:cNvSpPr/>
          <p:nvPr/>
        </p:nvSpPr>
        <p:spPr>
          <a:xfrm>
            <a:off x="3154680" y="1929384"/>
            <a:ext cx="91440" cy="91"/>
          </a:xfrm>
          <a:prstGeom prst="line">
            <a:avLst/>
          </a:prstGeom>
          <a:noFill/>
          <a:ln w="9525">
            <a:solidFill>
              <a:srgbClr val="6B7385"/>
            </a:solidFill>
            <a:prstDash val="solid"/>
          </a:ln>
        </p:spPr>
      </p:sp>
      <p:sp>
        <p:nvSpPr>
          <p:cNvPr id="31" name="Text 29"/>
          <p:cNvSpPr/>
          <p:nvPr/>
        </p:nvSpPr>
        <p:spPr>
          <a:xfrm>
            <a:off x="2880360" y="4709160"/>
            <a:ext cx="1188720" cy="2286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a:t>
            </a:r>
            <a:r>
              <a:rPr lang="en-US" sz="1000" dirty="0">
                <a:solidFill>
                  <a:srgbClr val="262B3A"/>
                </a:solidFill>
                <a:latin typeface="Calibri" pitchFamily="34" charset="0"/>
                <a:ea typeface="Calibri" pitchFamily="34" charset="-122"/>
                <a:cs typeface="Calibri" pitchFamily="34" charset="-120"/>
              </a:rPr>
              <a:t> read V₁ = 50.0 cm³</a:t>
            </a:r>
            <a:endParaRPr lang="en-US" sz="1000" dirty="0"/>
          </a:p>
        </p:txBody>
      </p:sp>
      <p:sp>
        <p:nvSpPr>
          <p:cNvPr id="32" name="Shape 30"/>
          <p:cNvSpPr/>
          <p:nvPr/>
        </p:nvSpPr>
        <p:spPr>
          <a:xfrm>
            <a:off x="4663440" y="4562856"/>
            <a:ext cx="822960" cy="73152"/>
          </a:xfrm>
          <a:prstGeom prst="rect">
            <a:avLst/>
          </a:prstGeom>
          <a:solidFill>
            <a:srgbClr val="9AA3B0"/>
          </a:solidFill>
          <a:ln w="9525">
            <a:solidFill>
              <a:srgbClr val="5A6478"/>
            </a:solidFill>
            <a:prstDash val="solid"/>
          </a:ln>
        </p:spPr>
      </p:sp>
      <p:sp>
        <p:nvSpPr>
          <p:cNvPr id="33" name="Shape 31"/>
          <p:cNvSpPr/>
          <p:nvPr/>
        </p:nvSpPr>
        <p:spPr>
          <a:xfrm>
            <a:off x="4754880" y="1636776"/>
            <a:ext cx="640080" cy="2926080"/>
          </a:xfrm>
          <a:prstGeom prst="rect">
            <a:avLst/>
          </a:prstGeom>
          <a:solidFill>
            <a:srgbClr val="F4F8FC"/>
          </a:solidFill>
          <a:ln w="15875">
            <a:solidFill>
              <a:srgbClr val="6B7385"/>
            </a:solidFill>
            <a:prstDash val="solid"/>
          </a:ln>
        </p:spPr>
      </p:sp>
      <p:sp>
        <p:nvSpPr>
          <p:cNvPr id="34" name="Shape 32"/>
          <p:cNvSpPr/>
          <p:nvPr/>
        </p:nvSpPr>
        <p:spPr>
          <a:xfrm>
            <a:off x="4773168" y="2982773"/>
            <a:ext cx="603504" cy="1580083"/>
          </a:xfrm>
          <a:prstGeom prst="rect">
            <a:avLst/>
          </a:prstGeom>
          <a:solidFill>
            <a:srgbClr val="BFD9F2">
              <a:alpha val="80000"/>
            </a:srgbClr>
          </a:solidFill>
          <a:ln/>
        </p:spPr>
      </p:sp>
      <p:sp>
        <p:nvSpPr>
          <p:cNvPr id="35" name="Shape 33"/>
          <p:cNvSpPr/>
          <p:nvPr/>
        </p:nvSpPr>
        <p:spPr>
          <a:xfrm>
            <a:off x="4773168" y="2982773"/>
            <a:ext cx="603504" cy="91"/>
          </a:xfrm>
          <a:prstGeom prst="line">
            <a:avLst/>
          </a:prstGeom>
          <a:noFill/>
          <a:ln w="19050">
            <a:solidFill>
              <a:srgbClr val="5B9BD5"/>
            </a:solidFill>
            <a:prstDash val="solid"/>
          </a:ln>
        </p:spPr>
      </p:sp>
      <p:sp>
        <p:nvSpPr>
          <p:cNvPr id="36" name="Shape 34"/>
          <p:cNvSpPr/>
          <p:nvPr/>
        </p:nvSpPr>
        <p:spPr>
          <a:xfrm>
            <a:off x="4754880" y="4270248"/>
            <a:ext cx="91440" cy="91"/>
          </a:xfrm>
          <a:prstGeom prst="line">
            <a:avLst/>
          </a:prstGeom>
          <a:noFill/>
          <a:ln w="9525">
            <a:solidFill>
              <a:srgbClr val="6B7385"/>
            </a:solidFill>
            <a:prstDash val="solid"/>
          </a:ln>
        </p:spPr>
      </p:sp>
      <p:sp>
        <p:nvSpPr>
          <p:cNvPr id="37" name="Shape 35"/>
          <p:cNvSpPr/>
          <p:nvPr/>
        </p:nvSpPr>
        <p:spPr>
          <a:xfrm>
            <a:off x="4754880" y="3977640"/>
            <a:ext cx="91440" cy="91"/>
          </a:xfrm>
          <a:prstGeom prst="line">
            <a:avLst/>
          </a:prstGeom>
          <a:noFill/>
          <a:ln w="9525">
            <a:solidFill>
              <a:srgbClr val="6B7385"/>
            </a:solidFill>
            <a:prstDash val="solid"/>
          </a:ln>
        </p:spPr>
      </p:sp>
      <p:sp>
        <p:nvSpPr>
          <p:cNvPr id="38" name="Shape 36"/>
          <p:cNvSpPr/>
          <p:nvPr/>
        </p:nvSpPr>
        <p:spPr>
          <a:xfrm>
            <a:off x="4754880" y="3685032"/>
            <a:ext cx="91440" cy="91"/>
          </a:xfrm>
          <a:prstGeom prst="line">
            <a:avLst/>
          </a:prstGeom>
          <a:noFill/>
          <a:ln w="9525">
            <a:solidFill>
              <a:srgbClr val="6B7385"/>
            </a:solidFill>
            <a:prstDash val="solid"/>
          </a:ln>
        </p:spPr>
      </p:sp>
      <p:sp>
        <p:nvSpPr>
          <p:cNvPr id="39" name="Shape 37"/>
          <p:cNvSpPr/>
          <p:nvPr/>
        </p:nvSpPr>
        <p:spPr>
          <a:xfrm>
            <a:off x="4754880" y="3392424"/>
            <a:ext cx="91440" cy="91"/>
          </a:xfrm>
          <a:prstGeom prst="line">
            <a:avLst/>
          </a:prstGeom>
          <a:noFill/>
          <a:ln w="9525">
            <a:solidFill>
              <a:srgbClr val="6B7385"/>
            </a:solidFill>
            <a:prstDash val="solid"/>
          </a:ln>
        </p:spPr>
      </p:sp>
      <p:sp>
        <p:nvSpPr>
          <p:cNvPr id="40" name="Shape 38"/>
          <p:cNvSpPr/>
          <p:nvPr/>
        </p:nvSpPr>
        <p:spPr>
          <a:xfrm>
            <a:off x="4754880" y="3099816"/>
            <a:ext cx="164592" cy="91"/>
          </a:xfrm>
          <a:prstGeom prst="line">
            <a:avLst/>
          </a:prstGeom>
          <a:noFill/>
          <a:ln w="9525">
            <a:solidFill>
              <a:srgbClr val="6B7385"/>
            </a:solidFill>
            <a:prstDash val="solid"/>
          </a:ln>
        </p:spPr>
      </p:sp>
      <p:sp>
        <p:nvSpPr>
          <p:cNvPr id="41" name="Shape 39"/>
          <p:cNvSpPr/>
          <p:nvPr/>
        </p:nvSpPr>
        <p:spPr>
          <a:xfrm>
            <a:off x="4754880" y="2807208"/>
            <a:ext cx="91440" cy="91"/>
          </a:xfrm>
          <a:prstGeom prst="line">
            <a:avLst/>
          </a:prstGeom>
          <a:noFill/>
          <a:ln w="9525">
            <a:solidFill>
              <a:srgbClr val="6B7385"/>
            </a:solidFill>
            <a:prstDash val="solid"/>
          </a:ln>
        </p:spPr>
      </p:sp>
      <p:sp>
        <p:nvSpPr>
          <p:cNvPr id="42" name="Shape 40"/>
          <p:cNvSpPr/>
          <p:nvPr/>
        </p:nvSpPr>
        <p:spPr>
          <a:xfrm>
            <a:off x="4754880" y="2514600"/>
            <a:ext cx="91440" cy="91"/>
          </a:xfrm>
          <a:prstGeom prst="line">
            <a:avLst/>
          </a:prstGeom>
          <a:noFill/>
          <a:ln w="9525">
            <a:solidFill>
              <a:srgbClr val="6B7385"/>
            </a:solidFill>
            <a:prstDash val="solid"/>
          </a:ln>
        </p:spPr>
      </p:sp>
      <p:sp>
        <p:nvSpPr>
          <p:cNvPr id="43" name="Shape 41"/>
          <p:cNvSpPr/>
          <p:nvPr/>
        </p:nvSpPr>
        <p:spPr>
          <a:xfrm>
            <a:off x="4754880" y="2221992"/>
            <a:ext cx="91440" cy="91"/>
          </a:xfrm>
          <a:prstGeom prst="line">
            <a:avLst/>
          </a:prstGeom>
          <a:noFill/>
          <a:ln w="9525">
            <a:solidFill>
              <a:srgbClr val="6B7385"/>
            </a:solidFill>
            <a:prstDash val="solid"/>
          </a:ln>
        </p:spPr>
      </p:sp>
      <p:sp>
        <p:nvSpPr>
          <p:cNvPr id="44" name="Shape 42"/>
          <p:cNvSpPr/>
          <p:nvPr/>
        </p:nvSpPr>
        <p:spPr>
          <a:xfrm>
            <a:off x="4754880" y="1929384"/>
            <a:ext cx="91440" cy="91"/>
          </a:xfrm>
          <a:prstGeom prst="line">
            <a:avLst/>
          </a:prstGeom>
          <a:noFill/>
          <a:ln w="9525">
            <a:solidFill>
              <a:srgbClr val="6B7385"/>
            </a:solidFill>
            <a:prstDash val="solid"/>
          </a:ln>
        </p:spPr>
      </p:sp>
      <p:sp>
        <p:nvSpPr>
          <p:cNvPr id="45" name="Shape 43"/>
          <p:cNvSpPr/>
          <p:nvPr/>
        </p:nvSpPr>
        <p:spPr>
          <a:xfrm>
            <a:off x="5074920" y="1554480"/>
            <a:ext cx="91" cy="2651760"/>
          </a:xfrm>
          <a:prstGeom prst="line">
            <a:avLst/>
          </a:prstGeom>
          <a:noFill/>
          <a:ln w="9525">
            <a:solidFill>
              <a:srgbClr val="6B7385"/>
            </a:solidFill>
            <a:prstDash val="solid"/>
          </a:ln>
        </p:spPr>
      </p:sp>
      <p:sp>
        <p:nvSpPr>
          <p:cNvPr id="46" name="Shape 44"/>
          <p:cNvSpPr/>
          <p:nvPr/>
        </p:nvSpPr>
        <p:spPr>
          <a:xfrm>
            <a:off x="4956048" y="4206240"/>
            <a:ext cx="237744" cy="182880"/>
          </a:xfrm>
          <a:prstGeom prst="rect">
            <a:avLst/>
          </a:prstGeom>
          <a:solidFill>
            <a:srgbClr val="B8C2D0"/>
          </a:solidFill>
          <a:ln w="9525">
            <a:solidFill>
              <a:srgbClr val="5A6478"/>
            </a:solidFill>
            <a:prstDash val="solid"/>
          </a:ln>
        </p:spPr>
      </p:sp>
      <p:sp>
        <p:nvSpPr>
          <p:cNvPr id="47" name="Text 45"/>
          <p:cNvSpPr/>
          <p:nvPr/>
        </p:nvSpPr>
        <p:spPr>
          <a:xfrm>
            <a:off x="4343400" y="4709160"/>
            <a:ext cx="1463040" cy="384048"/>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3</a:t>
            </a:r>
            <a:r>
              <a:rPr lang="en-US" sz="1000" dirty="0">
                <a:solidFill>
                  <a:srgbClr val="262B3A"/>
                </a:solidFill>
                <a:latin typeface="Calibri" pitchFamily="34" charset="0"/>
                <a:ea typeface="Calibri" pitchFamily="34" charset="-122"/>
                <a:cs typeface="Calibri" pitchFamily="34" charset="-120"/>
              </a:rPr>
              <a:t> lower sample; read V₂ = 54.0 cm³</a:t>
            </a:r>
            <a:endParaRPr lang="en-US" sz="1000" dirty="0"/>
          </a:p>
        </p:txBody>
      </p:sp>
      <p:sp>
        <p:nvSpPr>
          <p:cNvPr id="48" name="Text 46"/>
          <p:cNvSpPr/>
          <p:nvPr/>
        </p:nvSpPr>
        <p:spPr>
          <a:xfrm>
            <a:off x="3749040" y="1325880"/>
            <a:ext cx="105156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thread</a:t>
            </a:r>
            <a:endParaRPr lang="en-US" sz="1000" dirty="0"/>
          </a:p>
        </p:txBody>
      </p:sp>
      <p:sp>
        <p:nvSpPr>
          <p:cNvPr id="49" name="Shape 47"/>
          <p:cNvSpPr/>
          <p:nvPr/>
        </p:nvSpPr>
        <p:spPr>
          <a:xfrm>
            <a:off x="4389120" y="1463040"/>
            <a:ext cx="640080" cy="228600"/>
          </a:xfrm>
          <a:prstGeom prst="line">
            <a:avLst/>
          </a:prstGeom>
          <a:noFill/>
          <a:ln w="12700">
            <a:solidFill>
              <a:srgbClr val="6B7385"/>
            </a:solidFill>
            <a:prstDash val="solid"/>
            <a:tailEnd type="triangle"/>
          </a:ln>
        </p:spPr>
      </p:sp>
      <p:sp>
        <p:nvSpPr>
          <p:cNvPr id="50" name="Shape 48"/>
          <p:cNvSpPr/>
          <p:nvPr/>
        </p:nvSpPr>
        <p:spPr>
          <a:xfrm>
            <a:off x="685800" y="1371600"/>
            <a:ext cx="2011680" cy="1828800"/>
          </a:xfrm>
          <a:prstGeom prst="roundRect">
            <a:avLst>
              <a:gd name="adj" fmla="val 2500"/>
            </a:avLst>
          </a:prstGeom>
          <a:solidFill>
            <a:srgbClr val="FFFFFF"/>
          </a:solidFill>
          <a:ln w="12700">
            <a:solidFill>
              <a:srgbClr val="DDD3EC"/>
            </a:solidFill>
            <a:prstDash val="solid"/>
          </a:ln>
        </p:spPr>
      </p:sp>
      <p:sp>
        <p:nvSpPr>
          <p:cNvPr id="51" name="Text 49"/>
          <p:cNvSpPr/>
          <p:nvPr/>
        </p:nvSpPr>
        <p:spPr>
          <a:xfrm>
            <a:off x="731520" y="1389888"/>
            <a:ext cx="1920240" cy="4114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Read the bottom of the meniscus at eye level</a:t>
            </a:r>
            <a:endParaRPr lang="en-US" sz="1000" dirty="0"/>
          </a:p>
        </p:txBody>
      </p:sp>
      <p:sp>
        <p:nvSpPr>
          <p:cNvPr id="52" name="Shape 50"/>
          <p:cNvSpPr/>
          <p:nvPr/>
        </p:nvSpPr>
        <p:spPr>
          <a:xfrm>
            <a:off x="1188720" y="1874520"/>
            <a:ext cx="1005840" cy="1188720"/>
          </a:xfrm>
          <a:prstGeom prst="rect">
            <a:avLst/>
          </a:prstGeom>
          <a:solidFill>
            <a:srgbClr val="F4F8FC"/>
          </a:solidFill>
          <a:ln w="12700">
            <a:solidFill>
              <a:srgbClr val="6B7385"/>
            </a:solidFill>
            <a:prstDash val="solid"/>
          </a:ln>
        </p:spPr>
      </p:sp>
      <p:sp>
        <p:nvSpPr>
          <p:cNvPr id="53" name="Shape 51"/>
          <p:cNvSpPr/>
          <p:nvPr/>
        </p:nvSpPr>
        <p:spPr>
          <a:xfrm>
            <a:off x="1207008" y="2514600"/>
            <a:ext cx="969264" cy="530352"/>
          </a:xfrm>
          <a:prstGeom prst="rect">
            <a:avLst/>
          </a:prstGeom>
          <a:solidFill>
            <a:srgbClr val="BFD9F2"/>
          </a:solidFill>
          <a:ln/>
        </p:spPr>
      </p:sp>
      <p:sp>
        <p:nvSpPr>
          <p:cNvPr id="54" name="Shape 52"/>
          <p:cNvSpPr/>
          <p:nvPr/>
        </p:nvSpPr>
        <p:spPr>
          <a:xfrm>
            <a:off x="1207008" y="2377440"/>
            <a:ext cx="969264" cy="274320"/>
          </a:xfrm>
          <a:prstGeom prst="arc">
            <a:avLst>
              <a:gd name="adj1" fmla="val 0"/>
              <a:gd name="adj2" fmla="val 10800000"/>
            </a:avLst>
          </a:prstGeom>
          <a:ln w="19050">
            <a:solidFill>
              <a:srgbClr val="5B9BD5"/>
            </a:solidFill>
            <a:prstDash val="solid"/>
          </a:ln>
        </p:spPr>
      </p:sp>
      <p:sp>
        <p:nvSpPr>
          <p:cNvPr id="55" name="Shape 53"/>
          <p:cNvSpPr/>
          <p:nvPr/>
        </p:nvSpPr>
        <p:spPr>
          <a:xfrm>
            <a:off x="914400" y="2651760"/>
            <a:ext cx="1508760" cy="91"/>
          </a:xfrm>
          <a:prstGeom prst="line">
            <a:avLst/>
          </a:prstGeom>
          <a:noFill/>
          <a:ln w="12700">
            <a:solidFill>
              <a:srgbClr val="C8414C"/>
            </a:solidFill>
            <a:prstDash val="dash"/>
          </a:ln>
        </p:spPr>
      </p:sp>
      <p:sp>
        <p:nvSpPr>
          <p:cNvPr id="56" name="Shape 54"/>
          <p:cNvSpPr/>
          <p:nvPr/>
        </p:nvSpPr>
        <p:spPr>
          <a:xfrm>
            <a:off x="804672" y="2587752"/>
            <a:ext cx="128016" cy="128016"/>
          </a:xfrm>
          <a:prstGeom prst="ellipse">
            <a:avLst/>
          </a:prstGeom>
          <a:solidFill>
            <a:srgbClr val="FFFFFF"/>
          </a:solidFill>
          <a:ln w="9525">
            <a:solidFill>
              <a:srgbClr val="2A1F3D"/>
            </a:solidFill>
            <a:prstDash val="solid"/>
          </a:ln>
        </p:spPr>
      </p:sp>
      <p:sp>
        <p:nvSpPr>
          <p:cNvPr id="57" name="Shape 55"/>
          <p:cNvSpPr/>
          <p:nvPr/>
        </p:nvSpPr>
        <p:spPr>
          <a:xfrm>
            <a:off x="6217920" y="1188720"/>
            <a:ext cx="5562295" cy="3017520"/>
          </a:xfrm>
          <a:prstGeom prst="roundRect">
            <a:avLst>
              <a:gd name="adj" fmla="val 1818"/>
            </a:avLst>
          </a:prstGeom>
          <a:solidFill>
            <a:srgbClr val="F8F5FC"/>
          </a:solidFill>
          <a:ln w="9525">
            <a:solidFill>
              <a:srgbClr val="DDD3EC"/>
            </a:solidFill>
            <a:prstDash val="solid"/>
          </a:ln>
        </p:spPr>
      </p:sp>
      <p:sp>
        <p:nvSpPr>
          <p:cNvPr id="58" name="Text 5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59" name="Text 57"/>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Measure the </a:t>
            </a:r>
            <a:r>
              <a:rPr lang="en-US" sz="1050" b="1" dirty="0">
                <a:solidFill>
                  <a:srgbClr val="262B3A"/>
                </a:solidFill>
                <a:latin typeface="Calibri" pitchFamily="34" charset="0"/>
                <a:ea typeface="Calibri" pitchFamily="34" charset="-122"/>
                <a:cs typeface="Calibri" pitchFamily="34" charset="-120"/>
              </a:rPr>
              <a:t>mass</a:t>
            </a:r>
            <a:r>
              <a:rPr lang="en-US" sz="1050" dirty="0">
                <a:solidFill>
                  <a:srgbClr val="262B3A"/>
                </a:solidFill>
                <a:latin typeface="Calibri" pitchFamily="34" charset="0"/>
                <a:ea typeface="Calibri" pitchFamily="34" charset="-122"/>
                <a:cs typeface="Calibri" pitchFamily="34" charset="-120"/>
              </a:rPr>
              <a:t> of the dry sample on a balance (g).</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Half-fill a measuring cylinder with water; read the volume </a:t>
            </a:r>
            <a:r>
              <a:rPr lang="en-US" sz="1050" b="1" dirty="0">
                <a:solidFill>
                  <a:srgbClr val="262B3A"/>
                </a:solidFill>
                <a:latin typeface="Calibri" pitchFamily="34" charset="0"/>
                <a:ea typeface="Calibri" pitchFamily="34" charset="-122"/>
                <a:cs typeface="Calibri" pitchFamily="34" charset="-120"/>
              </a:rPr>
              <a:t>V₁</a:t>
            </a:r>
            <a:r>
              <a:rPr lang="en-US" sz="1050" dirty="0">
                <a:solidFill>
                  <a:srgbClr val="262B3A"/>
                </a:solidFill>
                <a:latin typeface="Calibri" pitchFamily="34" charset="0"/>
                <a:ea typeface="Calibri" pitchFamily="34" charset="-122"/>
                <a:cs typeface="Calibri" pitchFamily="34" charset="-120"/>
              </a:rPr>
              <a:t> at eye level.</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Tie thread to the sample and </a:t>
            </a:r>
            <a:r>
              <a:rPr lang="en-US" sz="1050" b="1" dirty="0">
                <a:solidFill>
                  <a:srgbClr val="262B3A"/>
                </a:solidFill>
                <a:latin typeface="Calibri" pitchFamily="34" charset="0"/>
                <a:ea typeface="Calibri" pitchFamily="34" charset="-122"/>
                <a:cs typeface="Calibri" pitchFamily="34" charset="-120"/>
              </a:rPr>
              <a:t>lower it gently</a:t>
            </a:r>
            <a:r>
              <a:rPr lang="en-US" sz="1050" dirty="0">
                <a:solidFill>
                  <a:srgbClr val="262B3A"/>
                </a:solidFill>
                <a:latin typeface="Calibri" pitchFamily="34" charset="0"/>
                <a:ea typeface="Calibri" pitchFamily="34" charset="-122"/>
                <a:cs typeface="Calibri" pitchFamily="34" charset="-120"/>
              </a:rPr>
              <a:t> until fully under water; read </a:t>
            </a:r>
            <a:r>
              <a:rPr lang="en-US" sz="1050" b="1" dirty="0">
                <a:solidFill>
                  <a:srgbClr val="262B3A"/>
                </a:solidFill>
                <a:latin typeface="Calibri" pitchFamily="34" charset="0"/>
                <a:ea typeface="Calibri" pitchFamily="34" charset="-122"/>
                <a:cs typeface="Calibri" pitchFamily="34" charset="-120"/>
              </a:rPr>
              <a:t>V₂</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Volume of sample = </a:t>
            </a:r>
            <a:r>
              <a:rPr lang="en-US" sz="1050" b="1" dirty="0">
                <a:solidFill>
                  <a:srgbClr val="262B3A"/>
                </a:solidFill>
                <a:latin typeface="Calibri" pitchFamily="34" charset="0"/>
                <a:ea typeface="Calibri" pitchFamily="34" charset="-122"/>
                <a:cs typeface="Calibri" pitchFamily="34" charset="-120"/>
              </a:rPr>
              <a:t>V₂ − V₁</a:t>
            </a:r>
            <a:r>
              <a:rPr lang="en-US" sz="1050" dirty="0">
                <a:solidFill>
                  <a:srgbClr val="262B3A"/>
                </a:solidFill>
                <a:latin typeface="Calibri" pitchFamily="34" charset="0"/>
                <a:ea typeface="Calibri" pitchFamily="34" charset="-122"/>
                <a:cs typeface="Calibri" pitchFamily="34" charset="-120"/>
              </a:rPr>
              <a:t> (cm³). Density = mass ÷ volume. Repeat with </a:t>
            </a:r>
            <a:r>
              <a:rPr lang="en-US" sz="1050" b="1" dirty="0">
                <a:solidFill>
                  <a:srgbClr val="262B3A"/>
                </a:solidFill>
                <a:latin typeface="Calibri" pitchFamily="34" charset="0"/>
                <a:ea typeface="Calibri" pitchFamily="34" charset="-122"/>
                <a:cs typeface="Calibri" pitchFamily="34" charset="-120"/>
              </a:rPr>
              <a:t>different sized</a:t>
            </a:r>
            <a:r>
              <a:rPr lang="en-US" sz="1050" dirty="0">
                <a:solidFill>
                  <a:srgbClr val="262B3A"/>
                </a:solidFill>
                <a:latin typeface="Calibri" pitchFamily="34" charset="0"/>
                <a:ea typeface="Calibri" pitchFamily="34" charset="-122"/>
                <a:cs typeface="Calibri" pitchFamily="34" charset="-120"/>
              </a:rPr>
              <a:t> pieces of each material.</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a:t>
            </a:r>
            <a:r>
              <a:rPr lang="en-US" sz="1050" dirty="0">
                <a:solidFill>
                  <a:srgbClr val="262B3A"/>
                </a:solidFill>
                <a:latin typeface="Calibri" pitchFamily="34" charset="0"/>
                <a:ea typeface="Calibri" pitchFamily="34" charset="-122"/>
                <a:cs typeface="Calibri" pitchFamily="34" charset="-120"/>
              </a:rPr>
              <a:t>: material. </a:t>
            </a:r>
            <a:r>
              <a:rPr lang="en-US" sz="1050" b="1" dirty="0">
                <a:solidFill>
                  <a:srgbClr val="262B3A"/>
                </a:solidFill>
                <a:latin typeface="Calibri" pitchFamily="34" charset="0"/>
                <a:ea typeface="Calibri" pitchFamily="34" charset="-122"/>
                <a:cs typeface="Calibri" pitchFamily="34" charset="-120"/>
              </a:rPr>
              <a:t>DV</a:t>
            </a:r>
            <a:r>
              <a:rPr lang="en-US" sz="1050" dirty="0">
                <a:solidFill>
                  <a:srgbClr val="262B3A"/>
                </a:solidFill>
                <a:latin typeface="Calibri" pitchFamily="34" charset="0"/>
                <a:ea typeface="Calibri" pitchFamily="34" charset="-122"/>
                <a:cs typeface="Calibri" pitchFamily="34" charset="-120"/>
              </a:rPr>
              <a:t>: density. </a:t>
            </a:r>
            <a:r>
              <a:rPr lang="en-US" sz="1050" b="1" dirty="0">
                <a:solidFill>
                  <a:srgbClr val="262B3A"/>
                </a:solidFill>
                <a:latin typeface="Calibri" pitchFamily="34" charset="0"/>
                <a:ea typeface="Calibri" pitchFamily="34" charset="-122"/>
                <a:cs typeface="Calibri" pitchFamily="34" charset="-120"/>
              </a:rPr>
              <a:t>Control</a:t>
            </a:r>
            <a:r>
              <a:rPr lang="en-US" sz="1050" dirty="0">
                <a:solidFill>
                  <a:srgbClr val="262B3A"/>
                </a:solidFill>
                <a:latin typeface="Calibri" pitchFamily="34" charset="0"/>
                <a:ea typeface="Calibri" pitchFamily="34" charset="-122"/>
                <a:cs typeface="Calibri" pitchFamily="34" charset="-120"/>
              </a:rPr>
              <a:t>: same cylinder, water at room temperature, no air bubbles.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low hazard. Glass cylinders can break: keep away from the bench edge; lower samples gently. Wipe up spills (slip risk). Cut metal samples may have sharp edges.</a:t>
            </a:r>
            <a:endParaRPr lang="en-US" sz="1050" dirty="0"/>
          </a:p>
        </p:txBody>
      </p:sp>
      <p:sp>
        <p:nvSpPr>
          <p:cNvPr id="60" name="Shape 58"/>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61" name="Text 59"/>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one aluminium piece</a:t>
            </a:r>
            <a:endParaRPr lang="en-US" sz="1300" dirty="0"/>
          </a:p>
        </p:txBody>
      </p:sp>
      <p:sp>
        <p:nvSpPr>
          <p:cNvPr id="62" name="Text 60"/>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Mass 10.7 g; V₁ = 50.0 cm³; V₂ = 54.0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Volume   </a:t>
            </a:r>
            <a:r>
              <a:rPr lang="en-US" sz="1050" dirty="0">
                <a:solidFill>
                  <a:srgbClr val="262B3A"/>
                </a:solidFill>
                <a:latin typeface="Calibri" pitchFamily="34" charset="0"/>
                <a:ea typeface="Calibri" pitchFamily="34" charset="-122"/>
                <a:cs typeface="Calibri" pitchFamily="34" charset="-120"/>
              </a:rPr>
              <a:t>54.0 − 50.0 = 4.0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Density   </a:t>
            </a:r>
            <a:r>
              <a:rPr lang="en-US" sz="1050" dirty="0">
                <a:solidFill>
                  <a:srgbClr val="262B3A"/>
                </a:solidFill>
                <a:latin typeface="Calibri" pitchFamily="34" charset="0"/>
                <a:ea typeface="Calibri" pitchFamily="34" charset="-122"/>
                <a:cs typeface="Calibri" pitchFamily="34" charset="-120"/>
              </a:rPr>
              <a:t>10.7 ÷ 4.0 = 2.675 g/cm³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2.7 g/cm³</a:t>
            </a:r>
            <a:r>
              <a:rPr lang="en-US" sz="1050" b="1" dirty="0">
                <a:solidFill>
                  <a:srgbClr val="C8414C"/>
                </a:solidFill>
                <a:latin typeface="Calibri" pitchFamily="34" charset="0"/>
                <a:ea typeface="Calibri" pitchFamily="34" charset="-122"/>
                <a:cs typeface="Calibri" pitchFamily="34" charset="-120"/>
              </a:rPr>
              <a:t> (2 s.f.)</a:t>
            </a:r>
            <a:endParaRPr lang="en-US" sz="1050" dirty="0"/>
          </a:p>
        </p:txBody>
      </p:sp>
      <p:sp>
        <p:nvSpPr>
          <p:cNvPr id="63" name="Shape 61"/>
          <p:cNvSpPr/>
          <p:nvPr/>
        </p:nvSpPr>
        <p:spPr>
          <a:xfrm>
            <a:off x="411480" y="5833872"/>
            <a:ext cx="11368735" cy="530352"/>
          </a:xfrm>
          <a:prstGeom prst="rect">
            <a:avLst/>
          </a:prstGeom>
          <a:solidFill>
            <a:srgbClr val="FFF4E0"/>
          </a:solidFill>
          <a:ln w="6350">
            <a:solidFill>
              <a:srgbClr val="F1D9A8"/>
            </a:solidFill>
            <a:prstDash val="solid"/>
          </a:ln>
        </p:spPr>
      </p:sp>
      <p:sp>
        <p:nvSpPr>
          <p:cNvPr id="64" name="Shape 62"/>
          <p:cNvSpPr/>
          <p:nvPr/>
        </p:nvSpPr>
        <p:spPr>
          <a:xfrm>
            <a:off x="411480" y="5833872"/>
            <a:ext cx="82296" cy="530352"/>
          </a:xfrm>
          <a:prstGeom prst="rect">
            <a:avLst/>
          </a:prstGeom>
          <a:solidFill>
            <a:srgbClr val="E39A2F"/>
          </a:solidFill>
          <a:ln w="12700">
            <a:solidFill>
              <a:srgbClr val="E39A2F"/>
            </a:solidFill>
            <a:prstDash val="solid"/>
          </a:ln>
        </p:spPr>
      </p:sp>
      <p:sp>
        <p:nvSpPr>
          <p:cNvPr id="65" name="Text 6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the sample be </a:t>
            </a:r>
            <a:r>
              <a:rPr lang="en-US" sz="1150" b="1" dirty="0">
                <a:solidFill>
                  <a:srgbClr val="262B3A"/>
                </a:solidFill>
                <a:latin typeface="Calibri" pitchFamily="34" charset="0"/>
                <a:ea typeface="Calibri" pitchFamily="34" charset="-122"/>
                <a:cs typeface="Calibri" pitchFamily="34" charset="-120"/>
              </a:rPr>
              <a:t>fully</a:t>
            </a:r>
            <a:r>
              <a:rPr lang="en-US" sz="1150" dirty="0">
                <a:solidFill>
                  <a:srgbClr val="262B3A"/>
                </a:solidFill>
                <a:latin typeface="Calibri" pitchFamily="34" charset="0"/>
                <a:ea typeface="Calibri" pitchFamily="34" charset="-122"/>
                <a:cs typeface="Calibri" pitchFamily="34" charset="-120"/>
              </a:rPr>
              <a:t> under water? How would you measure the density of a poly(ethene) sample, which </a:t>
            </a:r>
            <a:r>
              <a:rPr lang="en-US" sz="1150" b="1" dirty="0">
                <a:solidFill>
                  <a:srgbClr val="262B3A"/>
                </a:solidFill>
                <a:latin typeface="Calibri" pitchFamily="34" charset="0"/>
                <a:ea typeface="Calibri" pitchFamily="34" charset="-122"/>
                <a:cs typeface="Calibri" pitchFamily="34" charset="-120"/>
              </a:rPr>
              <a:t>floats</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mass against volume; density from the gradient</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16</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plotted to scale from the table; best-fit lines through the origin (illustrative data)</a:t>
            </a:r>
            <a:endParaRPr lang="en-US" sz="1000" dirty="0"/>
          </a:p>
        </p:txBody>
      </p:sp>
      <p:sp>
        <p:nvSpPr>
          <p:cNvPr id="12" name="Shape 10"/>
          <p:cNvSpPr/>
          <p:nvPr/>
        </p:nvSpPr>
        <p:spPr>
          <a:xfrm>
            <a:off x="1280160" y="1417320"/>
            <a:ext cx="4846320" cy="3291840"/>
          </a:xfrm>
          <a:prstGeom prst="rect">
            <a:avLst/>
          </a:prstGeom>
          <a:solidFill>
            <a:srgbClr val="FFFFFF"/>
          </a:solidFill>
          <a:ln/>
        </p:spPr>
      </p:sp>
      <p:sp>
        <p:nvSpPr>
          <p:cNvPr id="13" name="Shape 11"/>
          <p:cNvSpPr/>
          <p:nvPr/>
        </p:nvSpPr>
        <p:spPr>
          <a:xfrm>
            <a:off x="1280160" y="1417320"/>
            <a:ext cx="91" cy="3291840"/>
          </a:xfrm>
          <a:prstGeom prst="line">
            <a:avLst/>
          </a:prstGeom>
          <a:noFill/>
          <a:ln w="6350">
            <a:solidFill>
              <a:srgbClr val="D6CBE8"/>
            </a:solidFill>
            <a:prstDash val="solid"/>
          </a:ln>
        </p:spPr>
      </p:sp>
      <p:sp>
        <p:nvSpPr>
          <p:cNvPr id="14" name="Shape 12"/>
          <p:cNvSpPr/>
          <p:nvPr/>
        </p:nvSpPr>
        <p:spPr>
          <a:xfrm>
            <a:off x="1764792" y="1417320"/>
            <a:ext cx="91" cy="3291840"/>
          </a:xfrm>
          <a:prstGeom prst="line">
            <a:avLst/>
          </a:prstGeom>
          <a:noFill/>
          <a:ln w="6350">
            <a:solidFill>
              <a:srgbClr val="EEE9F6"/>
            </a:solidFill>
            <a:prstDash val="solid"/>
          </a:ln>
        </p:spPr>
      </p:sp>
      <p:sp>
        <p:nvSpPr>
          <p:cNvPr id="15" name="Shape 13"/>
          <p:cNvSpPr/>
          <p:nvPr/>
        </p:nvSpPr>
        <p:spPr>
          <a:xfrm>
            <a:off x="2249424" y="1417320"/>
            <a:ext cx="91" cy="3291840"/>
          </a:xfrm>
          <a:prstGeom prst="line">
            <a:avLst/>
          </a:prstGeom>
          <a:noFill/>
          <a:ln w="6350">
            <a:solidFill>
              <a:srgbClr val="D6CBE8"/>
            </a:solidFill>
            <a:prstDash val="solid"/>
          </a:ln>
        </p:spPr>
      </p:sp>
      <p:sp>
        <p:nvSpPr>
          <p:cNvPr id="16" name="Shape 14"/>
          <p:cNvSpPr/>
          <p:nvPr/>
        </p:nvSpPr>
        <p:spPr>
          <a:xfrm>
            <a:off x="2734056" y="1417320"/>
            <a:ext cx="91" cy="3291840"/>
          </a:xfrm>
          <a:prstGeom prst="line">
            <a:avLst/>
          </a:prstGeom>
          <a:noFill/>
          <a:ln w="6350">
            <a:solidFill>
              <a:srgbClr val="EEE9F6"/>
            </a:solidFill>
            <a:prstDash val="solid"/>
          </a:ln>
        </p:spPr>
      </p:sp>
      <p:sp>
        <p:nvSpPr>
          <p:cNvPr id="17" name="Shape 15"/>
          <p:cNvSpPr/>
          <p:nvPr/>
        </p:nvSpPr>
        <p:spPr>
          <a:xfrm>
            <a:off x="3218688" y="1417320"/>
            <a:ext cx="91" cy="3291840"/>
          </a:xfrm>
          <a:prstGeom prst="line">
            <a:avLst/>
          </a:prstGeom>
          <a:noFill/>
          <a:ln w="6350">
            <a:solidFill>
              <a:srgbClr val="D6CBE8"/>
            </a:solidFill>
            <a:prstDash val="solid"/>
          </a:ln>
        </p:spPr>
      </p:sp>
      <p:sp>
        <p:nvSpPr>
          <p:cNvPr id="18" name="Shape 16"/>
          <p:cNvSpPr/>
          <p:nvPr/>
        </p:nvSpPr>
        <p:spPr>
          <a:xfrm>
            <a:off x="3703320" y="1417320"/>
            <a:ext cx="91" cy="3291840"/>
          </a:xfrm>
          <a:prstGeom prst="line">
            <a:avLst/>
          </a:prstGeom>
          <a:noFill/>
          <a:ln w="6350">
            <a:solidFill>
              <a:srgbClr val="EEE9F6"/>
            </a:solidFill>
            <a:prstDash val="solid"/>
          </a:ln>
        </p:spPr>
      </p:sp>
      <p:sp>
        <p:nvSpPr>
          <p:cNvPr id="19" name="Shape 17"/>
          <p:cNvSpPr/>
          <p:nvPr/>
        </p:nvSpPr>
        <p:spPr>
          <a:xfrm>
            <a:off x="4187952" y="1417320"/>
            <a:ext cx="91" cy="3291840"/>
          </a:xfrm>
          <a:prstGeom prst="line">
            <a:avLst/>
          </a:prstGeom>
          <a:noFill/>
          <a:ln w="6350">
            <a:solidFill>
              <a:srgbClr val="D6CBE8"/>
            </a:solidFill>
            <a:prstDash val="solid"/>
          </a:ln>
        </p:spPr>
      </p:sp>
      <p:sp>
        <p:nvSpPr>
          <p:cNvPr id="20" name="Shape 18"/>
          <p:cNvSpPr/>
          <p:nvPr/>
        </p:nvSpPr>
        <p:spPr>
          <a:xfrm>
            <a:off x="4672584" y="1417320"/>
            <a:ext cx="91" cy="3291840"/>
          </a:xfrm>
          <a:prstGeom prst="line">
            <a:avLst/>
          </a:prstGeom>
          <a:noFill/>
          <a:ln w="6350">
            <a:solidFill>
              <a:srgbClr val="EEE9F6"/>
            </a:solidFill>
            <a:prstDash val="solid"/>
          </a:ln>
        </p:spPr>
      </p:sp>
      <p:sp>
        <p:nvSpPr>
          <p:cNvPr id="21" name="Shape 19"/>
          <p:cNvSpPr/>
          <p:nvPr/>
        </p:nvSpPr>
        <p:spPr>
          <a:xfrm>
            <a:off x="5157216" y="1417320"/>
            <a:ext cx="91" cy="3291840"/>
          </a:xfrm>
          <a:prstGeom prst="line">
            <a:avLst/>
          </a:prstGeom>
          <a:noFill/>
          <a:ln w="6350">
            <a:solidFill>
              <a:srgbClr val="D6CBE8"/>
            </a:solidFill>
            <a:prstDash val="solid"/>
          </a:ln>
        </p:spPr>
      </p:sp>
      <p:sp>
        <p:nvSpPr>
          <p:cNvPr id="22" name="Shape 20"/>
          <p:cNvSpPr/>
          <p:nvPr/>
        </p:nvSpPr>
        <p:spPr>
          <a:xfrm>
            <a:off x="5641848" y="1417320"/>
            <a:ext cx="91" cy="3291840"/>
          </a:xfrm>
          <a:prstGeom prst="line">
            <a:avLst/>
          </a:prstGeom>
          <a:noFill/>
          <a:ln w="6350">
            <a:solidFill>
              <a:srgbClr val="EEE9F6"/>
            </a:solidFill>
            <a:prstDash val="solid"/>
          </a:ln>
        </p:spPr>
      </p:sp>
      <p:sp>
        <p:nvSpPr>
          <p:cNvPr id="23" name="Shape 21"/>
          <p:cNvSpPr/>
          <p:nvPr/>
        </p:nvSpPr>
        <p:spPr>
          <a:xfrm>
            <a:off x="6126480" y="1417320"/>
            <a:ext cx="91" cy="3291840"/>
          </a:xfrm>
          <a:prstGeom prst="line">
            <a:avLst/>
          </a:prstGeom>
          <a:noFill/>
          <a:ln w="6350">
            <a:solidFill>
              <a:srgbClr val="D6CBE8"/>
            </a:solidFill>
            <a:prstDash val="solid"/>
          </a:ln>
        </p:spPr>
      </p:sp>
      <p:sp>
        <p:nvSpPr>
          <p:cNvPr id="24" name="Shape 22"/>
          <p:cNvSpPr/>
          <p:nvPr/>
        </p:nvSpPr>
        <p:spPr>
          <a:xfrm>
            <a:off x="1280160" y="4709160"/>
            <a:ext cx="4846320" cy="91"/>
          </a:xfrm>
          <a:prstGeom prst="line">
            <a:avLst/>
          </a:prstGeom>
          <a:noFill/>
          <a:ln w="6350">
            <a:solidFill>
              <a:srgbClr val="D6CBE8"/>
            </a:solidFill>
            <a:prstDash val="solid"/>
          </a:ln>
        </p:spPr>
      </p:sp>
      <p:sp>
        <p:nvSpPr>
          <p:cNvPr id="25" name="Shape 23"/>
          <p:cNvSpPr/>
          <p:nvPr/>
        </p:nvSpPr>
        <p:spPr>
          <a:xfrm>
            <a:off x="1280160" y="4503420"/>
            <a:ext cx="4846320" cy="91"/>
          </a:xfrm>
          <a:prstGeom prst="line">
            <a:avLst/>
          </a:prstGeom>
          <a:noFill/>
          <a:ln w="6350">
            <a:solidFill>
              <a:srgbClr val="EEE9F6"/>
            </a:solidFill>
            <a:prstDash val="solid"/>
          </a:ln>
        </p:spPr>
      </p:sp>
      <p:sp>
        <p:nvSpPr>
          <p:cNvPr id="26" name="Shape 24"/>
          <p:cNvSpPr/>
          <p:nvPr/>
        </p:nvSpPr>
        <p:spPr>
          <a:xfrm>
            <a:off x="1280160" y="4297680"/>
            <a:ext cx="4846320" cy="91"/>
          </a:xfrm>
          <a:prstGeom prst="line">
            <a:avLst/>
          </a:prstGeom>
          <a:noFill/>
          <a:ln w="6350">
            <a:solidFill>
              <a:srgbClr val="D6CBE8"/>
            </a:solidFill>
            <a:prstDash val="solid"/>
          </a:ln>
        </p:spPr>
      </p:sp>
      <p:sp>
        <p:nvSpPr>
          <p:cNvPr id="27" name="Shape 25"/>
          <p:cNvSpPr/>
          <p:nvPr/>
        </p:nvSpPr>
        <p:spPr>
          <a:xfrm>
            <a:off x="1280160" y="4091940"/>
            <a:ext cx="4846320" cy="91"/>
          </a:xfrm>
          <a:prstGeom prst="line">
            <a:avLst/>
          </a:prstGeom>
          <a:noFill/>
          <a:ln w="6350">
            <a:solidFill>
              <a:srgbClr val="EEE9F6"/>
            </a:solidFill>
            <a:prstDash val="solid"/>
          </a:ln>
        </p:spPr>
      </p:sp>
      <p:sp>
        <p:nvSpPr>
          <p:cNvPr id="28" name="Shape 26"/>
          <p:cNvSpPr/>
          <p:nvPr/>
        </p:nvSpPr>
        <p:spPr>
          <a:xfrm>
            <a:off x="1280160" y="3886200"/>
            <a:ext cx="4846320" cy="91"/>
          </a:xfrm>
          <a:prstGeom prst="line">
            <a:avLst/>
          </a:prstGeom>
          <a:noFill/>
          <a:ln w="6350">
            <a:solidFill>
              <a:srgbClr val="D6CBE8"/>
            </a:solidFill>
            <a:prstDash val="solid"/>
          </a:ln>
        </p:spPr>
      </p:sp>
      <p:sp>
        <p:nvSpPr>
          <p:cNvPr id="29" name="Shape 27"/>
          <p:cNvSpPr/>
          <p:nvPr/>
        </p:nvSpPr>
        <p:spPr>
          <a:xfrm>
            <a:off x="1280160" y="3680460"/>
            <a:ext cx="4846320" cy="91"/>
          </a:xfrm>
          <a:prstGeom prst="line">
            <a:avLst/>
          </a:prstGeom>
          <a:noFill/>
          <a:ln w="6350">
            <a:solidFill>
              <a:srgbClr val="EEE9F6"/>
            </a:solidFill>
            <a:prstDash val="solid"/>
          </a:ln>
        </p:spPr>
      </p:sp>
      <p:sp>
        <p:nvSpPr>
          <p:cNvPr id="30" name="Shape 28"/>
          <p:cNvSpPr/>
          <p:nvPr/>
        </p:nvSpPr>
        <p:spPr>
          <a:xfrm>
            <a:off x="1280160" y="3474720"/>
            <a:ext cx="4846320" cy="91"/>
          </a:xfrm>
          <a:prstGeom prst="line">
            <a:avLst/>
          </a:prstGeom>
          <a:noFill/>
          <a:ln w="6350">
            <a:solidFill>
              <a:srgbClr val="D6CBE8"/>
            </a:solidFill>
            <a:prstDash val="solid"/>
          </a:ln>
        </p:spPr>
      </p:sp>
      <p:sp>
        <p:nvSpPr>
          <p:cNvPr id="31" name="Shape 29"/>
          <p:cNvSpPr/>
          <p:nvPr/>
        </p:nvSpPr>
        <p:spPr>
          <a:xfrm>
            <a:off x="1280160" y="3268980"/>
            <a:ext cx="4846320" cy="91"/>
          </a:xfrm>
          <a:prstGeom prst="line">
            <a:avLst/>
          </a:prstGeom>
          <a:noFill/>
          <a:ln w="6350">
            <a:solidFill>
              <a:srgbClr val="EEE9F6"/>
            </a:solidFill>
            <a:prstDash val="solid"/>
          </a:ln>
        </p:spPr>
      </p:sp>
      <p:sp>
        <p:nvSpPr>
          <p:cNvPr id="32" name="Shape 30"/>
          <p:cNvSpPr/>
          <p:nvPr/>
        </p:nvSpPr>
        <p:spPr>
          <a:xfrm>
            <a:off x="1280160" y="3063240"/>
            <a:ext cx="4846320" cy="91"/>
          </a:xfrm>
          <a:prstGeom prst="line">
            <a:avLst/>
          </a:prstGeom>
          <a:noFill/>
          <a:ln w="6350">
            <a:solidFill>
              <a:srgbClr val="D6CBE8"/>
            </a:solidFill>
            <a:prstDash val="solid"/>
          </a:ln>
        </p:spPr>
      </p:sp>
      <p:sp>
        <p:nvSpPr>
          <p:cNvPr id="33" name="Shape 31"/>
          <p:cNvSpPr/>
          <p:nvPr/>
        </p:nvSpPr>
        <p:spPr>
          <a:xfrm>
            <a:off x="1280160" y="2857500"/>
            <a:ext cx="4846320" cy="91"/>
          </a:xfrm>
          <a:prstGeom prst="line">
            <a:avLst/>
          </a:prstGeom>
          <a:noFill/>
          <a:ln w="6350">
            <a:solidFill>
              <a:srgbClr val="EEE9F6"/>
            </a:solidFill>
            <a:prstDash val="solid"/>
          </a:ln>
        </p:spPr>
      </p:sp>
      <p:sp>
        <p:nvSpPr>
          <p:cNvPr id="34" name="Shape 32"/>
          <p:cNvSpPr/>
          <p:nvPr/>
        </p:nvSpPr>
        <p:spPr>
          <a:xfrm>
            <a:off x="1280160" y="2651760"/>
            <a:ext cx="4846320" cy="91"/>
          </a:xfrm>
          <a:prstGeom prst="line">
            <a:avLst/>
          </a:prstGeom>
          <a:noFill/>
          <a:ln w="6350">
            <a:solidFill>
              <a:srgbClr val="D6CBE8"/>
            </a:solidFill>
            <a:prstDash val="solid"/>
          </a:ln>
        </p:spPr>
      </p:sp>
      <p:sp>
        <p:nvSpPr>
          <p:cNvPr id="35" name="Shape 33"/>
          <p:cNvSpPr/>
          <p:nvPr/>
        </p:nvSpPr>
        <p:spPr>
          <a:xfrm>
            <a:off x="1280160" y="2446020"/>
            <a:ext cx="4846320" cy="91"/>
          </a:xfrm>
          <a:prstGeom prst="line">
            <a:avLst/>
          </a:prstGeom>
          <a:noFill/>
          <a:ln w="6350">
            <a:solidFill>
              <a:srgbClr val="EEE9F6"/>
            </a:solidFill>
            <a:prstDash val="solid"/>
          </a:ln>
        </p:spPr>
      </p:sp>
      <p:sp>
        <p:nvSpPr>
          <p:cNvPr id="36" name="Shape 34"/>
          <p:cNvSpPr/>
          <p:nvPr/>
        </p:nvSpPr>
        <p:spPr>
          <a:xfrm>
            <a:off x="1280160" y="2240280"/>
            <a:ext cx="4846320" cy="91"/>
          </a:xfrm>
          <a:prstGeom prst="line">
            <a:avLst/>
          </a:prstGeom>
          <a:noFill/>
          <a:ln w="6350">
            <a:solidFill>
              <a:srgbClr val="D6CBE8"/>
            </a:solidFill>
            <a:prstDash val="solid"/>
          </a:ln>
        </p:spPr>
      </p:sp>
      <p:sp>
        <p:nvSpPr>
          <p:cNvPr id="37" name="Shape 35"/>
          <p:cNvSpPr/>
          <p:nvPr/>
        </p:nvSpPr>
        <p:spPr>
          <a:xfrm>
            <a:off x="1280160" y="2034540"/>
            <a:ext cx="4846320" cy="91"/>
          </a:xfrm>
          <a:prstGeom prst="line">
            <a:avLst/>
          </a:prstGeom>
          <a:noFill/>
          <a:ln w="6350">
            <a:solidFill>
              <a:srgbClr val="EEE9F6"/>
            </a:solidFill>
            <a:prstDash val="solid"/>
          </a:ln>
        </p:spPr>
      </p:sp>
      <p:sp>
        <p:nvSpPr>
          <p:cNvPr id="38" name="Shape 36"/>
          <p:cNvSpPr/>
          <p:nvPr/>
        </p:nvSpPr>
        <p:spPr>
          <a:xfrm>
            <a:off x="1280160" y="1828800"/>
            <a:ext cx="4846320" cy="91"/>
          </a:xfrm>
          <a:prstGeom prst="line">
            <a:avLst/>
          </a:prstGeom>
          <a:noFill/>
          <a:ln w="6350">
            <a:solidFill>
              <a:srgbClr val="D6CBE8"/>
            </a:solidFill>
            <a:prstDash val="solid"/>
          </a:ln>
        </p:spPr>
      </p:sp>
      <p:sp>
        <p:nvSpPr>
          <p:cNvPr id="39" name="Shape 37"/>
          <p:cNvSpPr/>
          <p:nvPr/>
        </p:nvSpPr>
        <p:spPr>
          <a:xfrm>
            <a:off x="1280160" y="1623060"/>
            <a:ext cx="4846320" cy="91"/>
          </a:xfrm>
          <a:prstGeom prst="line">
            <a:avLst/>
          </a:prstGeom>
          <a:noFill/>
          <a:ln w="6350">
            <a:solidFill>
              <a:srgbClr val="EEE9F6"/>
            </a:solidFill>
            <a:prstDash val="solid"/>
          </a:ln>
        </p:spPr>
      </p:sp>
      <p:sp>
        <p:nvSpPr>
          <p:cNvPr id="40" name="Shape 38"/>
          <p:cNvSpPr/>
          <p:nvPr/>
        </p:nvSpPr>
        <p:spPr>
          <a:xfrm>
            <a:off x="1280160" y="1417320"/>
            <a:ext cx="4846320" cy="91"/>
          </a:xfrm>
          <a:prstGeom prst="line">
            <a:avLst/>
          </a:prstGeom>
          <a:noFill/>
          <a:ln w="6350">
            <a:solidFill>
              <a:srgbClr val="D6CBE8"/>
            </a:solidFill>
            <a:prstDash val="solid"/>
          </a:ln>
        </p:spPr>
      </p:sp>
      <p:sp>
        <p:nvSpPr>
          <p:cNvPr id="41" name="Shape 39"/>
          <p:cNvSpPr/>
          <p:nvPr/>
        </p:nvSpPr>
        <p:spPr>
          <a:xfrm>
            <a:off x="1280160" y="4709160"/>
            <a:ext cx="4846320" cy="91"/>
          </a:xfrm>
          <a:prstGeom prst="line">
            <a:avLst/>
          </a:prstGeom>
          <a:noFill/>
          <a:ln w="19050">
            <a:solidFill>
              <a:srgbClr val="2A1F3D"/>
            </a:solidFill>
            <a:prstDash val="solid"/>
          </a:ln>
        </p:spPr>
      </p:sp>
      <p:sp>
        <p:nvSpPr>
          <p:cNvPr id="42" name="Shape 40"/>
          <p:cNvSpPr/>
          <p:nvPr/>
        </p:nvSpPr>
        <p:spPr>
          <a:xfrm flipV="1">
            <a:off x="1280160" y="1417320"/>
            <a:ext cx="91" cy="3291840"/>
          </a:xfrm>
          <a:prstGeom prst="line">
            <a:avLst/>
          </a:prstGeom>
          <a:noFill/>
          <a:ln w="19050">
            <a:solidFill>
              <a:srgbClr val="2A1F3D"/>
            </a:solidFill>
            <a:prstDash val="solid"/>
          </a:ln>
        </p:spPr>
      </p:sp>
      <p:sp>
        <p:nvSpPr>
          <p:cNvPr id="43" name="Shape 41"/>
          <p:cNvSpPr/>
          <p:nvPr/>
        </p:nvSpPr>
        <p:spPr>
          <a:xfrm>
            <a:off x="1280160" y="4709160"/>
            <a:ext cx="91" cy="54864"/>
          </a:xfrm>
          <a:prstGeom prst="line">
            <a:avLst/>
          </a:prstGeom>
          <a:noFill/>
          <a:ln w="12700">
            <a:solidFill>
              <a:srgbClr val="2A1F3D"/>
            </a:solidFill>
            <a:prstDash val="solid"/>
          </a:ln>
        </p:spPr>
      </p:sp>
      <p:sp>
        <p:nvSpPr>
          <p:cNvPr id="44" name="Text 42"/>
          <p:cNvSpPr/>
          <p:nvPr/>
        </p:nvSpPr>
        <p:spPr>
          <a:xfrm>
            <a:off x="1005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2249424" y="4709160"/>
            <a:ext cx="91" cy="54864"/>
          </a:xfrm>
          <a:prstGeom prst="line">
            <a:avLst/>
          </a:prstGeom>
          <a:noFill/>
          <a:ln w="12700">
            <a:solidFill>
              <a:srgbClr val="2A1F3D"/>
            </a:solidFill>
            <a:prstDash val="solid"/>
          </a:ln>
        </p:spPr>
      </p:sp>
      <p:sp>
        <p:nvSpPr>
          <p:cNvPr id="46" name="Text 44"/>
          <p:cNvSpPr/>
          <p:nvPr/>
        </p:nvSpPr>
        <p:spPr>
          <a:xfrm>
            <a:off x="1975104"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3218688" y="4709160"/>
            <a:ext cx="91" cy="54864"/>
          </a:xfrm>
          <a:prstGeom prst="line">
            <a:avLst/>
          </a:prstGeom>
          <a:noFill/>
          <a:ln w="12700">
            <a:solidFill>
              <a:srgbClr val="2A1F3D"/>
            </a:solidFill>
            <a:prstDash val="solid"/>
          </a:ln>
        </p:spPr>
      </p:sp>
      <p:sp>
        <p:nvSpPr>
          <p:cNvPr id="48" name="Text 46"/>
          <p:cNvSpPr/>
          <p:nvPr/>
        </p:nvSpPr>
        <p:spPr>
          <a:xfrm>
            <a:off x="2944368"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9" name="Shape 47"/>
          <p:cNvSpPr/>
          <p:nvPr/>
        </p:nvSpPr>
        <p:spPr>
          <a:xfrm>
            <a:off x="4187952" y="4709160"/>
            <a:ext cx="91" cy="54864"/>
          </a:xfrm>
          <a:prstGeom prst="line">
            <a:avLst/>
          </a:prstGeom>
          <a:noFill/>
          <a:ln w="12700">
            <a:solidFill>
              <a:srgbClr val="2A1F3D"/>
            </a:solidFill>
            <a:prstDash val="solid"/>
          </a:ln>
        </p:spPr>
      </p:sp>
      <p:sp>
        <p:nvSpPr>
          <p:cNvPr id="50" name="Text 48"/>
          <p:cNvSpPr/>
          <p:nvPr/>
        </p:nvSpPr>
        <p:spPr>
          <a:xfrm>
            <a:off x="3913632"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1" name="Shape 49"/>
          <p:cNvSpPr/>
          <p:nvPr/>
        </p:nvSpPr>
        <p:spPr>
          <a:xfrm>
            <a:off x="5157216" y="4709160"/>
            <a:ext cx="91" cy="54864"/>
          </a:xfrm>
          <a:prstGeom prst="line">
            <a:avLst/>
          </a:prstGeom>
          <a:noFill/>
          <a:ln w="12700">
            <a:solidFill>
              <a:srgbClr val="2A1F3D"/>
            </a:solidFill>
            <a:prstDash val="solid"/>
          </a:ln>
        </p:spPr>
      </p:sp>
      <p:sp>
        <p:nvSpPr>
          <p:cNvPr id="52" name="Text 50"/>
          <p:cNvSpPr/>
          <p:nvPr/>
        </p:nvSpPr>
        <p:spPr>
          <a:xfrm>
            <a:off x="4882896"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3" name="Shape 51"/>
          <p:cNvSpPr/>
          <p:nvPr/>
        </p:nvSpPr>
        <p:spPr>
          <a:xfrm>
            <a:off x="6126480" y="4709160"/>
            <a:ext cx="91" cy="54864"/>
          </a:xfrm>
          <a:prstGeom prst="line">
            <a:avLst/>
          </a:prstGeom>
          <a:noFill/>
          <a:ln w="12700">
            <a:solidFill>
              <a:srgbClr val="2A1F3D"/>
            </a:solidFill>
            <a:prstDash val="solid"/>
          </a:ln>
        </p:spPr>
      </p:sp>
      <p:sp>
        <p:nvSpPr>
          <p:cNvPr id="54" name="Text 52"/>
          <p:cNvSpPr/>
          <p:nvPr/>
        </p:nvSpPr>
        <p:spPr>
          <a:xfrm>
            <a:off x="58521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5" name="Shape 53"/>
          <p:cNvSpPr/>
          <p:nvPr/>
        </p:nvSpPr>
        <p:spPr>
          <a:xfrm>
            <a:off x="1225296" y="4709160"/>
            <a:ext cx="54864" cy="91"/>
          </a:xfrm>
          <a:prstGeom prst="line">
            <a:avLst/>
          </a:prstGeom>
          <a:noFill/>
          <a:ln w="12700">
            <a:solidFill>
              <a:srgbClr val="2A1F3D"/>
            </a:solidFill>
            <a:prstDash val="solid"/>
          </a:ln>
        </p:spPr>
      </p:sp>
      <p:sp>
        <p:nvSpPr>
          <p:cNvPr id="56" name="Text 54"/>
          <p:cNvSpPr/>
          <p:nvPr/>
        </p:nvSpPr>
        <p:spPr>
          <a:xfrm>
            <a:off x="84124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7" name="Shape 55"/>
          <p:cNvSpPr/>
          <p:nvPr/>
        </p:nvSpPr>
        <p:spPr>
          <a:xfrm>
            <a:off x="1225296" y="4297680"/>
            <a:ext cx="54864" cy="91"/>
          </a:xfrm>
          <a:prstGeom prst="line">
            <a:avLst/>
          </a:prstGeom>
          <a:noFill/>
          <a:ln w="12700">
            <a:solidFill>
              <a:srgbClr val="2A1F3D"/>
            </a:solidFill>
            <a:prstDash val="solid"/>
          </a:ln>
        </p:spPr>
      </p:sp>
      <p:sp>
        <p:nvSpPr>
          <p:cNvPr id="58" name="Text 56"/>
          <p:cNvSpPr/>
          <p:nvPr/>
        </p:nvSpPr>
        <p:spPr>
          <a:xfrm>
            <a:off x="84124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9" name="Shape 57"/>
          <p:cNvSpPr/>
          <p:nvPr/>
        </p:nvSpPr>
        <p:spPr>
          <a:xfrm>
            <a:off x="1225296" y="3886200"/>
            <a:ext cx="54864" cy="91"/>
          </a:xfrm>
          <a:prstGeom prst="line">
            <a:avLst/>
          </a:prstGeom>
          <a:noFill/>
          <a:ln w="12700">
            <a:solidFill>
              <a:srgbClr val="2A1F3D"/>
            </a:solidFill>
            <a:prstDash val="solid"/>
          </a:ln>
        </p:spPr>
      </p:sp>
      <p:sp>
        <p:nvSpPr>
          <p:cNvPr id="60" name="Text 58"/>
          <p:cNvSpPr/>
          <p:nvPr/>
        </p:nvSpPr>
        <p:spPr>
          <a:xfrm>
            <a:off x="84124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1" name="Shape 59"/>
          <p:cNvSpPr/>
          <p:nvPr/>
        </p:nvSpPr>
        <p:spPr>
          <a:xfrm>
            <a:off x="1225296" y="3474720"/>
            <a:ext cx="54864" cy="91"/>
          </a:xfrm>
          <a:prstGeom prst="line">
            <a:avLst/>
          </a:prstGeom>
          <a:noFill/>
          <a:ln w="12700">
            <a:solidFill>
              <a:srgbClr val="2A1F3D"/>
            </a:solidFill>
            <a:prstDash val="solid"/>
          </a:ln>
        </p:spPr>
      </p:sp>
      <p:sp>
        <p:nvSpPr>
          <p:cNvPr id="62" name="Text 60"/>
          <p:cNvSpPr/>
          <p:nvPr/>
        </p:nvSpPr>
        <p:spPr>
          <a:xfrm>
            <a:off x="84124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3" name="Shape 61"/>
          <p:cNvSpPr/>
          <p:nvPr/>
        </p:nvSpPr>
        <p:spPr>
          <a:xfrm>
            <a:off x="1225296" y="3063240"/>
            <a:ext cx="54864" cy="91"/>
          </a:xfrm>
          <a:prstGeom prst="line">
            <a:avLst/>
          </a:prstGeom>
          <a:noFill/>
          <a:ln w="12700">
            <a:solidFill>
              <a:srgbClr val="2A1F3D"/>
            </a:solidFill>
            <a:prstDash val="solid"/>
          </a:ln>
        </p:spPr>
      </p:sp>
      <p:sp>
        <p:nvSpPr>
          <p:cNvPr id="64" name="Text 62"/>
          <p:cNvSpPr/>
          <p:nvPr/>
        </p:nvSpPr>
        <p:spPr>
          <a:xfrm>
            <a:off x="84124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5" name="Shape 63"/>
          <p:cNvSpPr/>
          <p:nvPr/>
        </p:nvSpPr>
        <p:spPr>
          <a:xfrm>
            <a:off x="1225296" y="2651760"/>
            <a:ext cx="54864" cy="91"/>
          </a:xfrm>
          <a:prstGeom prst="line">
            <a:avLst/>
          </a:prstGeom>
          <a:noFill/>
          <a:ln w="12700">
            <a:solidFill>
              <a:srgbClr val="2A1F3D"/>
            </a:solidFill>
            <a:prstDash val="solid"/>
          </a:ln>
        </p:spPr>
      </p:sp>
      <p:sp>
        <p:nvSpPr>
          <p:cNvPr id="66" name="Text 64"/>
          <p:cNvSpPr/>
          <p:nvPr/>
        </p:nvSpPr>
        <p:spPr>
          <a:xfrm>
            <a:off x="84124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7" name="Shape 65"/>
          <p:cNvSpPr/>
          <p:nvPr/>
        </p:nvSpPr>
        <p:spPr>
          <a:xfrm>
            <a:off x="1225296" y="2240280"/>
            <a:ext cx="54864" cy="91"/>
          </a:xfrm>
          <a:prstGeom prst="line">
            <a:avLst/>
          </a:prstGeom>
          <a:noFill/>
          <a:ln w="12700">
            <a:solidFill>
              <a:srgbClr val="2A1F3D"/>
            </a:solidFill>
            <a:prstDash val="solid"/>
          </a:ln>
        </p:spPr>
      </p:sp>
      <p:sp>
        <p:nvSpPr>
          <p:cNvPr id="68" name="Text 66"/>
          <p:cNvSpPr/>
          <p:nvPr/>
        </p:nvSpPr>
        <p:spPr>
          <a:xfrm>
            <a:off x="84124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9" name="Shape 67"/>
          <p:cNvSpPr/>
          <p:nvPr/>
        </p:nvSpPr>
        <p:spPr>
          <a:xfrm>
            <a:off x="1225296" y="1828800"/>
            <a:ext cx="54864" cy="91"/>
          </a:xfrm>
          <a:prstGeom prst="line">
            <a:avLst/>
          </a:prstGeom>
          <a:noFill/>
          <a:ln w="12700">
            <a:solidFill>
              <a:srgbClr val="2A1F3D"/>
            </a:solidFill>
            <a:prstDash val="solid"/>
          </a:ln>
        </p:spPr>
      </p:sp>
      <p:sp>
        <p:nvSpPr>
          <p:cNvPr id="70" name="Text 68"/>
          <p:cNvSpPr/>
          <p:nvPr/>
        </p:nvSpPr>
        <p:spPr>
          <a:xfrm>
            <a:off x="84124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71" name="Shape 69"/>
          <p:cNvSpPr/>
          <p:nvPr/>
        </p:nvSpPr>
        <p:spPr>
          <a:xfrm>
            <a:off x="1225296" y="1417320"/>
            <a:ext cx="54864" cy="91"/>
          </a:xfrm>
          <a:prstGeom prst="line">
            <a:avLst/>
          </a:prstGeom>
          <a:noFill/>
          <a:ln w="12700">
            <a:solidFill>
              <a:srgbClr val="2A1F3D"/>
            </a:solidFill>
            <a:prstDash val="solid"/>
          </a:ln>
        </p:spPr>
      </p:sp>
      <p:sp>
        <p:nvSpPr>
          <p:cNvPr id="72" name="Text 70"/>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3" name="Text 71"/>
          <p:cNvSpPr/>
          <p:nvPr/>
        </p:nvSpPr>
        <p:spPr>
          <a:xfrm>
            <a:off x="1280160" y="495604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 cm³</a:t>
            </a:r>
            <a:endParaRPr lang="en-US" sz="1050" dirty="0"/>
          </a:p>
        </p:txBody>
      </p:sp>
      <p:sp>
        <p:nvSpPr>
          <p:cNvPr id="74" name="Text 72"/>
          <p:cNvSpPr/>
          <p:nvPr/>
        </p:nvSpPr>
        <p:spPr>
          <a:xfrm rot="16200000">
            <a:off x="-93268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 g</a:t>
            </a:r>
            <a:endParaRPr lang="en-US" sz="1050" dirty="0"/>
          </a:p>
        </p:txBody>
      </p:sp>
      <p:sp>
        <p:nvSpPr>
          <p:cNvPr id="75" name="Shape 73"/>
          <p:cNvSpPr/>
          <p:nvPr/>
        </p:nvSpPr>
        <p:spPr>
          <a:xfrm flipV="1">
            <a:off x="1280160" y="1499616"/>
            <a:ext cx="4839082" cy="3209544"/>
          </a:xfrm>
          <a:prstGeom prst="line">
            <a:avLst/>
          </a:prstGeom>
          <a:noFill/>
          <a:ln w="25400">
            <a:solidFill>
              <a:srgbClr val="5A6478"/>
            </a:solidFill>
            <a:prstDash val="solid"/>
          </a:ln>
        </p:spPr>
      </p:sp>
      <p:sp>
        <p:nvSpPr>
          <p:cNvPr id="76" name="Shape 74"/>
          <p:cNvSpPr/>
          <p:nvPr/>
        </p:nvSpPr>
        <p:spPr>
          <a:xfrm>
            <a:off x="2203704" y="4017416"/>
            <a:ext cx="91440" cy="91440"/>
          </a:xfrm>
          <a:prstGeom prst="line">
            <a:avLst/>
          </a:prstGeom>
          <a:noFill/>
          <a:ln w="15875">
            <a:solidFill>
              <a:srgbClr val="2A1F3D"/>
            </a:solidFill>
            <a:prstDash val="solid"/>
          </a:ln>
        </p:spPr>
      </p:sp>
      <p:sp>
        <p:nvSpPr>
          <p:cNvPr id="77" name="Shape 75"/>
          <p:cNvSpPr/>
          <p:nvPr/>
        </p:nvSpPr>
        <p:spPr>
          <a:xfrm flipV="1">
            <a:off x="2203704" y="4017416"/>
            <a:ext cx="91440" cy="91440"/>
          </a:xfrm>
          <a:prstGeom prst="line">
            <a:avLst/>
          </a:prstGeom>
          <a:noFill/>
          <a:ln w="15875">
            <a:solidFill>
              <a:srgbClr val="2A1F3D"/>
            </a:solidFill>
            <a:prstDash val="solid"/>
          </a:ln>
        </p:spPr>
      </p:sp>
      <p:sp>
        <p:nvSpPr>
          <p:cNvPr id="78" name="Shape 76"/>
          <p:cNvSpPr/>
          <p:nvPr/>
        </p:nvSpPr>
        <p:spPr>
          <a:xfrm>
            <a:off x="3172968" y="3387852"/>
            <a:ext cx="91440" cy="91440"/>
          </a:xfrm>
          <a:prstGeom prst="line">
            <a:avLst/>
          </a:prstGeom>
          <a:noFill/>
          <a:ln w="15875">
            <a:solidFill>
              <a:srgbClr val="2A1F3D"/>
            </a:solidFill>
            <a:prstDash val="solid"/>
          </a:ln>
        </p:spPr>
      </p:sp>
      <p:sp>
        <p:nvSpPr>
          <p:cNvPr id="79" name="Shape 77"/>
          <p:cNvSpPr/>
          <p:nvPr/>
        </p:nvSpPr>
        <p:spPr>
          <a:xfrm flipV="1">
            <a:off x="3172968" y="3387852"/>
            <a:ext cx="91440" cy="91440"/>
          </a:xfrm>
          <a:prstGeom prst="line">
            <a:avLst/>
          </a:prstGeom>
          <a:noFill/>
          <a:ln w="15875">
            <a:solidFill>
              <a:srgbClr val="2A1F3D"/>
            </a:solidFill>
            <a:prstDash val="solid"/>
          </a:ln>
        </p:spPr>
      </p:sp>
      <p:sp>
        <p:nvSpPr>
          <p:cNvPr id="80" name="Shape 78"/>
          <p:cNvSpPr/>
          <p:nvPr/>
        </p:nvSpPr>
        <p:spPr>
          <a:xfrm>
            <a:off x="4142232" y="2729484"/>
            <a:ext cx="91440" cy="91440"/>
          </a:xfrm>
          <a:prstGeom prst="line">
            <a:avLst/>
          </a:prstGeom>
          <a:noFill/>
          <a:ln w="15875">
            <a:solidFill>
              <a:srgbClr val="2A1F3D"/>
            </a:solidFill>
            <a:prstDash val="solid"/>
          </a:ln>
        </p:spPr>
      </p:sp>
      <p:sp>
        <p:nvSpPr>
          <p:cNvPr id="81" name="Shape 79"/>
          <p:cNvSpPr/>
          <p:nvPr/>
        </p:nvSpPr>
        <p:spPr>
          <a:xfrm flipV="1">
            <a:off x="4142232" y="2729484"/>
            <a:ext cx="91440" cy="91440"/>
          </a:xfrm>
          <a:prstGeom prst="line">
            <a:avLst/>
          </a:prstGeom>
          <a:noFill/>
          <a:ln w="15875">
            <a:solidFill>
              <a:srgbClr val="2A1F3D"/>
            </a:solidFill>
            <a:prstDash val="solid"/>
          </a:ln>
        </p:spPr>
      </p:sp>
      <p:sp>
        <p:nvSpPr>
          <p:cNvPr id="82" name="Shape 80"/>
          <p:cNvSpPr/>
          <p:nvPr/>
        </p:nvSpPr>
        <p:spPr>
          <a:xfrm>
            <a:off x="5111496" y="2091690"/>
            <a:ext cx="91440" cy="91440"/>
          </a:xfrm>
          <a:prstGeom prst="line">
            <a:avLst/>
          </a:prstGeom>
          <a:noFill/>
          <a:ln w="15875">
            <a:solidFill>
              <a:srgbClr val="2A1F3D"/>
            </a:solidFill>
            <a:prstDash val="solid"/>
          </a:ln>
        </p:spPr>
      </p:sp>
      <p:sp>
        <p:nvSpPr>
          <p:cNvPr id="83" name="Shape 81"/>
          <p:cNvSpPr/>
          <p:nvPr/>
        </p:nvSpPr>
        <p:spPr>
          <a:xfrm flipV="1">
            <a:off x="5111496" y="2091690"/>
            <a:ext cx="91440" cy="91440"/>
          </a:xfrm>
          <a:prstGeom prst="line">
            <a:avLst/>
          </a:prstGeom>
          <a:noFill/>
          <a:ln w="15875">
            <a:solidFill>
              <a:srgbClr val="2A1F3D"/>
            </a:solidFill>
            <a:prstDash val="solid"/>
          </a:ln>
        </p:spPr>
      </p:sp>
      <p:sp>
        <p:nvSpPr>
          <p:cNvPr id="84" name="Shape 82"/>
          <p:cNvSpPr/>
          <p:nvPr/>
        </p:nvSpPr>
        <p:spPr>
          <a:xfrm flipV="1">
            <a:off x="1280160" y="3599536"/>
            <a:ext cx="4846320" cy="1109624"/>
          </a:xfrm>
          <a:prstGeom prst="line">
            <a:avLst/>
          </a:prstGeom>
          <a:noFill/>
          <a:ln w="25400">
            <a:solidFill>
              <a:srgbClr val="8FB3D9"/>
            </a:solidFill>
            <a:prstDash val="solid"/>
          </a:ln>
        </p:spPr>
      </p:sp>
      <p:sp>
        <p:nvSpPr>
          <p:cNvPr id="85" name="Shape 83"/>
          <p:cNvSpPr/>
          <p:nvPr/>
        </p:nvSpPr>
        <p:spPr>
          <a:xfrm>
            <a:off x="2203704" y="4437126"/>
            <a:ext cx="91440" cy="91440"/>
          </a:xfrm>
          <a:prstGeom prst="line">
            <a:avLst/>
          </a:prstGeom>
          <a:noFill/>
          <a:ln w="15875">
            <a:solidFill>
              <a:srgbClr val="2A1F3D"/>
            </a:solidFill>
            <a:prstDash val="solid"/>
          </a:ln>
        </p:spPr>
      </p:sp>
      <p:sp>
        <p:nvSpPr>
          <p:cNvPr id="86" name="Shape 84"/>
          <p:cNvSpPr/>
          <p:nvPr/>
        </p:nvSpPr>
        <p:spPr>
          <a:xfrm flipV="1">
            <a:off x="2203704" y="4437126"/>
            <a:ext cx="91440" cy="91440"/>
          </a:xfrm>
          <a:prstGeom prst="line">
            <a:avLst/>
          </a:prstGeom>
          <a:noFill/>
          <a:ln w="15875">
            <a:solidFill>
              <a:srgbClr val="2A1F3D"/>
            </a:solidFill>
            <a:prstDash val="solid"/>
          </a:ln>
        </p:spPr>
      </p:sp>
      <p:sp>
        <p:nvSpPr>
          <p:cNvPr id="87" name="Shape 85"/>
          <p:cNvSpPr/>
          <p:nvPr/>
        </p:nvSpPr>
        <p:spPr>
          <a:xfrm>
            <a:off x="3172968" y="4223156"/>
            <a:ext cx="91440" cy="91440"/>
          </a:xfrm>
          <a:prstGeom prst="line">
            <a:avLst/>
          </a:prstGeom>
          <a:noFill/>
          <a:ln w="15875">
            <a:solidFill>
              <a:srgbClr val="2A1F3D"/>
            </a:solidFill>
            <a:prstDash val="solid"/>
          </a:ln>
        </p:spPr>
      </p:sp>
      <p:sp>
        <p:nvSpPr>
          <p:cNvPr id="88" name="Shape 86"/>
          <p:cNvSpPr/>
          <p:nvPr/>
        </p:nvSpPr>
        <p:spPr>
          <a:xfrm flipV="1">
            <a:off x="3172968" y="4223156"/>
            <a:ext cx="91440" cy="91440"/>
          </a:xfrm>
          <a:prstGeom prst="line">
            <a:avLst/>
          </a:prstGeom>
          <a:noFill/>
          <a:ln w="15875">
            <a:solidFill>
              <a:srgbClr val="2A1F3D"/>
            </a:solidFill>
            <a:prstDash val="solid"/>
          </a:ln>
        </p:spPr>
      </p:sp>
      <p:sp>
        <p:nvSpPr>
          <p:cNvPr id="89" name="Shape 87"/>
          <p:cNvSpPr/>
          <p:nvPr/>
        </p:nvSpPr>
        <p:spPr>
          <a:xfrm>
            <a:off x="4142232" y="3992728"/>
            <a:ext cx="91440" cy="91440"/>
          </a:xfrm>
          <a:prstGeom prst="line">
            <a:avLst/>
          </a:prstGeom>
          <a:noFill/>
          <a:ln w="15875">
            <a:solidFill>
              <a:srgbClr val="2A1F3D"/>
            </a:solidFill>
            <a:prstDash val="solid"/>
          </a:ln>
        </p:spPr>
      </p:sp>
      <p:sp>
        <p:nvSpPr>
          <p:cNvPr id="90" name="Shape 88"/>
          <p:cNvSpPr/>
          <p:nvPr/>
        </p:nvSpPr>
        <p:spPr>
          <a:xfrm flipV="1">
            <a:off x="4142232" y="3992728"/>
            <a:ext cx="91440" cy="91440"/>
          </a:xfrm>
          <a:prstGeom prst="line">
            <a:avLst/>
          </a:prstGeom>
          <a:noFill/>
          <a:ln w="15875">
            <a:solidFill>
              <a:srgbClr val="2A1F3D"/>
            </a:solidFill>
            <a:prstDash val="solid"/>
          </a:ln>
        </p:spPr>
      </p:sp>
      <p:sp>
        <p:nvSpPr>
          <p:cNvPr id="91" name="Shape 89"/>
          <p:cNvSpPr/>
          <p:nvPr/>
        </p:nvSpPr>
        <p:spPr>
          <a:xfrm>
            <a:off x="5111496" y="3778758"/>
            <a:ext cx="91440" cy="91440"/>
          </a:xfrm>
          <a:prstGeom prst="line">
            <a:avLst/>
          </a:prstGeom>
          <a:noFill/>
          <a:ln w="15875">
            <a:solidFill>
              <a:srgbClr val="2A1F3D"/>
            </a:solidFill>
            <a:prstDash val="solid"/>
          </a:ln>
        </p:spPr>
      </p:sp>
      <p:sp>
        <p:nvSpPr>
          <p:cNvPr id="92" name="Shape 90"/>
          <p:cNvSpPr/>
          <p:nvPr/>
        </p:nvSpPr>
        <p:spPr>
          <a:xfrm flipV="1">
            <a:off x="5111496" y="3778758"/>
            <a:ext cx="91440" cy="91440"/>
          </a:xfrm>
          <a:prstGeom prst="line">
            <a:avLst/>
          </a:prstGeom>
          <a:noFill/>
          <a:ln w="15875">
            <a:solidFill>
              <a:srgbClr val="2A1F3D"/>
            </a:solidFill>
            <a:prstDash val="solid"/>
          </a:ln>
        </p:spPr>
      </p:sp>
      <p:sp>
        <p:nvSpPr>
          <p:cNvPr id="93" name="Shape 91"/>
          <p:cNvSpPr/>
          <p:nvPr/>
        </p:nvSpPr>
        <p:spPr>
          <a:xfrm flipV="1">
            <a:off x="1280160" y="4235272"/>
            <a:ext cx="4846320" cy="473888"/>
          </a:xfrm>
          <a:prstGeom prst="line">
            <a:avLst/>
          </a:prstGeom>
          <a:noFill/>
          <a:ln w="25400">
            <a:solidFill>
              <a:srgbClr val="5FA463"/>
            </a:solidFill>
            <a:prstDash val="solid"/>
          </a:ln>
        </p:spPr>
      </p:sp>
      <p:sp>
        <p:nvSpPr>
          <p:cNvPr id="94" name="Shape 92"/>
          <p:cNvSpPr/>
          <p:nvPr/>
        </p:nvSpPr>
        <p:spPr>
          <a:xfrm>
            <a:off x="2203704" y="4568800"/>
            <a:ext cx="91440" cy="91440"/>
          </a:xfrm>
          <a:prstGeom prst="line">
            <a:avLst/>
          </a:prstGeom>
          <a:noFill/>
          <a:ln w="15875">
            <a:solidFill>
              <a:srgbClr val="2A1F3D"/>
            </a:solidFill>
            <a:prstDash val="solid"/>
          </a:ln>
        </p:spPr>
      </p:sp>
      <p:sp>
        <p:nvSpPr>
          <p:cNvPr id="95" name="Shape 93"/>
          <p:cNvSpPr/>
          <p:nvPr/>
        </p:nvSpPr>
        <p:spPr>
          <a:xfrm flipV="1">
            <a:off x="2203704" y="4568800"/>
            <a:ext cx="91440" cy="91440"/>
          </a:xfrm>
          <a:prstGeom prst="line">
            <a:avLst/>
          </a:prstGeom>
          <a:noFill/>
          <a:ln w="15875">
            <a:solidFill>
              <a:srgbClr val="2A1F3D"/>
            </a:solidFill>
            <a:prstDash val="solid"/>
          </a:ln>
        </p:spPr>
      </p:sp>
      <p:sp>
        <p:nvSpPr>
          <p:cNvPr id="96" name="Shape 94"/>
          <p:cNvSpPr/>
          <p:nvPr/>
        </p:nvSpPr>
        <p:spPr>
          <a:xfrm>
            <a:off x="3172968" y="4474159"/>
            <a:ext cx="91440" cy="91440"/>
          </a:xfrm>
          <a:prstGeom prst="line">
            <a:avLst/>
          </a:prstGeom>
          <a:noFill/>
          <a:ln w="15875">
            <a:solidFill>
              <a:srgbClr val="2A1F3D"/>
            </a:solidFill>
            <a:prstDash val="solid"/>
          </a:ln>
        </p:spPr>
      </p:sp>
      <p:sp>
        <p:nvSpPr>
          <p:cNvPr id="97" name="Shape 95"/>
          <p:cNvSpPr/>
          <p:nvPr/>
        </p:nvSpPr>
        <p:spPr>
          <a:xfrm flipV="1">
            <a:off x="3172968" y="4474159"/>
            <a:ext cx="91440" cy="91440"/>
          </a:xfrm>
          <a:prstGeom prst="line">
            <a:avLst/>
          </a:prstGeom>
          <a:noFill/>
          <a:ln w="15875">
            <a:solidFill>
              <a:srgbClr val="2A1F3D"/>
            </a:solidFill>
            <a:prstDash val="solid"/>
          </a:ln>
        </p:spPr>
      </p:sp>
      <p:sp>
        <p:nvSpPr>
          <p:cNvPr id="98" name="Shape 96"/>
          <p:cNvSpPr/>
          <p:nvPr/>
        </p:nvSpPr>
        <p:spPr>
          <a:xfrm>
            <a:off x="4142232" y="4383634"/>
            <a:ext cx="91440" cy="91440"/>
          </a:xfrm>
          <a:prstGeom prst="line">
            <a:avLst/>
          </a:prstGeom>
          <a:noFill/>
          <a:ln w="15875">
            <a:solidFill>
              <a:srgbClr val="2A1F3D"/>
            </a:solidFill>
            <a:prstDash val="solid"/>
          </a:ln>
        </p:spPr>
      </p:sp>
      <p:sp>
        <p:nvSpPr>
          <p:cNvPr id="99" name="Shape 97"/>
          <p:cNvSpPr/>
          <p:nvPr/>
        </p:nvSpPr>
        <p:spPr>
          <a:xfrm flipV="1">
            <a:off x="4142232" y="4383634"/>
            <a:ext cx="91440" cy="91440"/>
          </a:xfrm>
          <a:prstGeom prst="line">
            <a:avLst/>
          </a:prstGeom>
          <a:noFill/>
          <a:ln w="15875">
            <a:solidFill>
              <a:srgbClr val="2A1F3D"/>
            </a:solidFill>
            <a:prstDash val="solid"/>
          </a:ln>
        </p:spPr>
      </p:sp>
      <p:sp>
        <p:nvSpPr>
          <p:cNvPr id="100" name="Shape 98"/>
          <p:cNvSpPr/>
          <p:nvPr/>
        </p:nvSpPr>
        <p:spPr>
          <a:xfrm>
            <a:off x="5111496" y="4280764"/>
            <a:ext cx="91440" cy="91440"/>
          </a:xfrm>
          <a:prstGeom prst="line">
            <a:avLst/>
          </a:prstGeom>
          <a:noFill/>
          <a:ln w="15875">
            <a:solidFill>
              <a:srgbClr val="2A1F3D"/>
            </a:solidFill>
            <a:prstDash val="solid"/>
          </a:ln>
        </p:spPr>
      </p:sp>
      <p:sp>
        <p:nvSpPr>
          <p:cNvPr id="101" name="Shape 99"/>
          <p:cNvSpPr/>
          <p:nvPr/>
        </p:nvSpPr>
        <p:spPr>
          <a:xfrm flipV="1">
            <a:off x="5111496" y="4280764"/>
            <a:ext cx="91440" cy="91440"/>
          </a:xfrm>
          <a:prstGeom prst="line">
            <a:avLst/>
          </a:prstGeom>
          <a:noFill/>
          <a:ln w="15875">
            <a:solidFill>
              <a:srgbClr val="2A1F3D"/>
            </a:solidFill>
            <a:prstDash val="solid"/>
          </a:ln>
        </p:spPr>
      </p:sp>
      <p:sp>
        <p:nvSpPr>
          <p:cNvPr id="102" name="Text 100"/>
          <p:cNvSpPr/>
          <p:nvPr/>
        </p:nvSpPr>
        <p:spPr>
          <a:xfrm>
            <a:off x="4866437" y="1664208"/>
            <a:ext cx="914400" cy="201168"/>
          </a:xfrm>
          <a:prstGeom prst="rect">
            <a:avLst/>
          </a:prstGeom>
          <a:noFill/>
          <a:ln/>
        </p:spPr>
        <p:txBody>
          <a:bodyPr wrap="square" lIns="0" tIns="0" rIns="0" bIns="0" rtlCol="0" anchor="ctr"/>
          <a:lstStyle/>
          <a:p>
            <a:pPr algn="l" indent="0" marL="0">
              <a:buNone/>
            </a:pPr>
            <a:r>
              <a:rPr lang="en-US" sz="1000" b="1" dirty="0">
                <a:solidFill>
                  <a:srgbClr val="3E4A5E"/>
                </a:solidFill>
                <a:latin typeface="Calibri" pitchFamily="34" charset="0"/>
                <a:ea typeface="Calibri" pitchFamily="34" charset="-122"/>
                <a:cs typeface="Calibri" pitchFamily="34" charset="-120"/>
              </a:rPr>
              <a:t>steel</a:t>
            </a:r>
            <a:endParaRPr lang="en-US" sz="1000" dirty="0"/>
          </a:p>
        </p:txBody>
      </p:sp>
      <p:sp>
        <p:nvSpPr>
          <p:cNvPr id="103" name="Text 101"/>
          <p:cNvSpPr/>
          <p:nvPr/>
        </p:nvSpPr>
        <p:spPr>
          <a:xfrm>
            <a:off x="5351069" y="3927348"/>
            <a:ext cx="1097280" cy="201168"/>
          </a:xfrm>
          <a:prstGeom prst="rect">
            <a:avLst/>
          </a:prstGeom>
          <a:noFill/>
          <a:ln/>
        </p:spPr>
        <p:txBody>
          <a:bodyPr wrap="square" lIns="0" tIns="0" rIns="0" bIns="0" rtlCol="0" anchor="ctr"/>
          <a:lstStyle/>
          <a:p>
            <a:pPr algn="l" indent="0" marL="0">
              <a:buNone/>
            </a:pPr>
            <a:r>
              <a:rPr lang="en-US" sz="1000" b="1" dirty="0">
                <a:solidFill>
                  <a:srgbClr val="3C6C9C"/>
                </a:solidFill>
                <a:latin typeface="Calibri" pitchFamily="34" charset="0"/>
                <a:ea typeface="Calibri" pitchFamily="34" charset="-122"/>
                <a:cs typeface="Calibri" pitchFamily="34" charset="-120"/>
              </a:rPr>
              <a:t>aluminium</a:t>
            </a:r>
            <a:endParaRPr lang="en-US" sz="1000" dirty="0"/>
          </a:p>
        </p:txBody>
      </p:sp>
      <p:sp>
        <p:nvSpPr>
          <p:cNvPr id="104" name="Text 102"/>
          <p:cNvSpPr/>
          <p:nvPr/>
        </p:nvSpPr>
        <p:spPr>
          <a:xfrm>
            <a:off x="4817974" y="4091940"/>
            <a:ext cx="1280160" cy="201168"/>
          </a:xfrm>
          <a:prstGeom prst="rect">
            <a:avLst/>
          </a:prstGeom>
          <a:noFill/>
          <a:ln/>
        </p:spPr>
        <p:txBody>
          <a:bodyPr wrap="square" lIns="0" tIns="0" rIns="0" bIns="0" rtlCol="0" anchor="ctr"/>
          <a:lstStyle/>
          <a:p>
            <a:pPr algn="l" indent="0" marL="0">
              <a:buNone/>
            </a:pPr>
            <a:r>
              <a:rPr lang="en-US" sz="1000" b="1" dirty="0">
                <a:solidFill>
                  <a:srgbClr val="2F7A3A"/>
                </a:solidFill>
                <a:latin typeface="Calibri" pitchFamily="34" charset="0"/>
                <a:ea typeface="Calibri" pitchFamily="34" charset="-122"/>
                <a:cs typeface="Calibri" pitchFamily="34" charset="-120"/>
              </a:rPr>
              <a:t>nylon</a:t>
            </a:r>
            <a:endParaRPr lang="en-US" sz="1000" dirty="0"/>
          </a:p>
        </p:txBody>
      </p:sp>
      <p:sp>
        <p:nvSpPr>
          <p:cNvPr id="105" name="Shape 103"/>
          <p:cNvSpPr/>
          <p:nvPr/>
        </p:nvSpPr>
        <p:spPr>
          <a:xfrm>
            <a:off x="2249424" y="4066291"/>
            <a:ext cx="2907792" cy="91"/>
          </a:xfrm>
          <a:prstGeom prst="line">
            <a:avLst/>
          </a:prstGeom>
          <a:noFill/>
          <a:ln w="15875">
            <a:solidFill>
              <a:srgbClr val="C8414C"/>
            </a:solidFill>
            <a:prstDash val="dash"/>
          </a:ln>
        </p:spPr>
      </p:sp>
      <p:sp>
        <p:nvSpPr>
          <p:cNvPr id="106" name="Shape 104"/>
          <p:cNvSpPr/>
          <p:nvPr/>
        </p:nvSpPr>
        <p:spPr>
          <a:xfrm flipV="1">
            <a:off x="5157216" y="2137684"/>
            <a:ext cx="91" cy="1928607"/>
          </a:xfrm>
          <a:prstGeom prst="line">
            <a:avLst/>
          </a:prstGeom>
          <a:noFill/>
          <a:ln w="15875">
            <a:solidFill>
              <a:srgbClr val="C8414C"/>
            </a:solidFill>
            <a:prstDash val="dash"/>
          </a:ln>
        </p:spPr>
      </p:sp>
      <p:sp>
        <p:nvSpPr>
          <p:cNvPr id="107" name="Text 105"/>
          <p:cNvSpPr/>
          <p:nvPr/>
        </p:nvSpPr>
        <p:spPr>
          <a:xfrm>
            <a:off x="2685593" y="3837691"/>
            <a:ext cx="109728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Δx = 6.0 cm³</a:t>
            </a:r>
            <a:endParaRPr lang="en-US" sz="1000" dirty="0"/>
          </a:p>
        </p:txBody>
      </p:sp>
      <p:sp>
        <p:nvSpPr>
          <p:cNvPr id="108" name="Text 106"/>
          <p:cNvSpPr/>
          <p:nvPr/>
        </p:nvSpPr>
        <p:spPr>
          <a:xfrm>
            <a:off x="5202936" y="2980944"/>
            <a:ext cx="91440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Δy = 46.9 g</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75120" y="1188720"/>
          <a:ext cx="5102352" cy="914400"/>
        </p:xfrm>
        <a:graphic>
          <a:graphicData uri="http://schemas.openxmlformats.org/drawingml/2006/table">
            <a:tbl>
              <a:tblPr/>
              <a:tblGrid>
                <a:gridCol w="1444752"/>
                <a:gridCol w="914400"/>
                <a:gridCol w="914400"/>
                <a:gridCol w="914400"/>
                <a:gridCol w="914400"/>
              </a:tblGrid>
              <a:tr h="24688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Volume / cm³</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Steel mass / 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15.7</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47.0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62.5</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Al mass / 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10.7</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16.3</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21.5</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Nylon mass / 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6.8</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9.3</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110" name="Shape 107"/>
          <p:cNvSpPr/>
          <p:nvPr/>
        </p:nvSpPr>
        <p:spPr>
          <a:xfrm>
            <a:off x="6675120" y="2331720"/>
            <a:ext cx="5102352" cy="1600200"/>
          </a:xfrm>
          <a:prstGeom prst="roundRect">
            <a:avLst>
              <a:gd name="adj" fmla="val 3429"/>
            </a:avLst>
          </a:prstGeom>
          <a:solidFill>
            <a:srgbClr val="FFF4E0"/>
          </a:solidFill>
          <a:ln w="9525">
            <a:solidFill>
              <a:srgbClr val="F1D9A8"/>
            </a:solidFill>
            <a:prstDash val="solid"/>
          </a:ln>
        </p:spPr>
      </p:sp>
      <p:sp>
        <p:nvSpPr>
          <p:cNvPr id="111" name="Text 108"/>
          <p:cNvSpPr/>
          <p:nvPr/>
        </p:nvSpPr>
        <p:spPr>
          <a:xfrm>
            <a:off x="6839712" y="2404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density from the gradient</a:t>
            </a:r>
            <a:endParaRPr lang="en-US" sz="1300" dirty="0"/>
          </a:p>
        </p:txBody>
      </p:sp>
      <p:sp>
        <p:nvSpPr>
          <p:cNvPr id="112" name="Text 109"/>
          <p:cNvSpPr/>
          <p:nvPr/>
        </p:nvSpPr>
        <p:spPr>
          <a:xfrm>
            <a:off x="6839712" y="2715768"/>
            <a:ext cx="4773168"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Steel line, using the triangle.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Gradient   </a:t>
            </a:r>
            <a:r>
              <a:rPr lang="en-US" sz="1050" dirty="0">
                <a:solidFill>
                  <a:srgbClr val="262B3A"/>
                </a:solidFill>
                <a:latin typeface="Calibri" pitchFamily="34" charset="0"/>
                <a:ea typeface="Calibri" pitchFamily="34" charset="-122"/>
                <a:cs typeface="Calibri" pitchFamily="34" charset="-120"/>
              </a:rPr>
              <a:t>Δy ÷ Δx = 46.9 ÷ 6.0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 </a:t>
            </a:r>
            <a:r>
              <a:rPr lang="en-US" sz="1050" b="1" dirty="0">
                <a:solidFill>
                  <a:srgbClr val="C8414C"/>
                </a:solidFill>
                <a:latin typeface="Calibri" pitchFamily="34" charset="0"/>
                <a:ea typeface="Calibri" pitchFamily="34" charset="-122"/>
                <a:cs typeface="Calibri" pitchFamily="34" charset="-120"/>
              </a:rPr>
              <a:t>7.8 g/cm³</a:t>
            </a:r>
            <a:r>
              <a:rPr lang="en-US" sz="1050" b="1" dirty="0">
                <a:solidFill>
                  <a:srgbClr val="C8414C"/>
                </a:solidFill>
                <a:latin typeface="Calibri" pitchFamily="34" charset="0"/>
                <a:ea typeface="Calibri" pitchFamily="34" charset="-122"/>
                <a:cs typeface="Calibri" pitchFamily="34" charset="-120"/>
              </a:rPr>
              <a:t>; aluminium 2.7, nylon 1.15 g/cm³</a:t>
            </a:r>
            <a:endParaRPr lang="en-US" sz="1050" dirty="0"/>
          </a:p>
        </p:txBody>
      </p:sp>
      <p:sp>
        <p:nvSpPr>
          <p:cNvPr id="113" name="Shape 110"/>
          <p:cNvSpPr/>
          <p:nvPr/>
        </p:nvSpPr>
        <p:spPr>
          <a:xfrm>
            <a:off x="6675120" y="4069080"/>
            <a:ext cx="5102352" cy="1645920"/>
          </a:xfrm>
          <a:prstGeom prst="roundRect">
            <a:avLst>
              <a:gd name="adj" fmla="val 3333"/>
            </a:avLst>
          </a:prstGeom>
          <a:solidFill>
            <a:srgbClr val="F8F5FC"/>
          </a:solidFill>
          <a:ln w="9525">
            <a:solidFill>
              <a:srgbClr val="DDD3EC"/>
            </a:solidFill>
            <a:prstDash val="solid"/>
          </a:ln>
        </p:spPr>
      </p:sp>
      <p:sp>
        <p:nvSpPr>
          <p:cNvPr id="114" name="Text 111"/>
          <p:cNvSpPr/>
          <p:nvPr/>
        </p:nvSpPr>
        <p:spPr>
          <a:xfrm>
            <a:off x="6839712" y="416052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Errors and improvements</a:t>
            </a:r>
            <a:endParaRPr lang="en-US" sz="1300" dirty="0"/>
          </a:p>
        </p:txBody>
      </p:sp>
      <p:sp>
        <p:nvSpPr>
          <p:cNvPr id="115" name="Text 112"/>
          <p:cNvSpPr/>
          <p:nvPr/>
        </p:nvSpPr>
        <p:spPr>
          <a:xfrm>
            <a:off x="6839712" y="4489704"/>
            <a:ext cx="4773168" cy="11521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Cylinder read to ±0.5 cm³: for 4.0 cm³ that is </a:t>
            </a:r>
            <a:r>
              <a:rPr lang="en-US" sz="1050" b="1" dirty="0">
                <a:solidFill>
                  <a:srgbClr val="262B3A"/>
                </a:solidFill>
                <a:latin typeface="Calibri" pitchFamily="34" charset="0"/>
                <a:ea typeface="Calibri" pitchFamily="34" charset="-122"/>
                <a:cs typeface="Calibri" pitchFamily="34" charset="-120"/>
              </a:rPr>
              <a:t>±12.5%</a:t>
            </a:r>
            <a:r>
              <a:rPr lang="en-US" sz="1050" dirty="0">
                <a:solidFill>
                  <a:srgbClr val="262B3A"/>
                </a:solidFill>
                <a:latin typeface="Calibri" pitchFamily="34" charset="0"/>
                <a:ea typeface="Calibri" pitchFamily="34" charset="-122"/>
                <a:cs typeface="Calibri" pitchFamily="34" charset="-120"/>
              </a:rPr>
              <a:t>; for 8.0 cm³ only ±6.25%. Use </a:t>
            </a:r>
            <a:r>
              <a:rPr lang="en-US" sz="1050" b="1" dirty="0">
                <a:solidFill>
                  <a:srgbClr val="262B3A"/>
                </a:solidFill>
                <a:latin typeface="Calibri" pitchFamily="34" charset="0"/>
                <a:ea typeface="Calibri" pitchFamily="34" charset="-122"/>
                <a:cs typeface="Calibri" pitchFamily="34" charset="-120"/>
              </a:rPr>
              <a:t>bigger samples</a:t>
            </a:r>
            <a:r>
              <a:rPr lang="en-US" sz="1050" dirty="0">
                <a:solidFill>
                  <a:srgbClr val="262B3A"/>
                </a:solidFill>
                <a:latin typeface="Calibri" pitchFamily="34" charset="0"/>
                <a:ea typeface="Calibri" pitchFamily="34" charset="-122"/>
                <a:cs typeface="Calibri" pitchFamily="34" charset="-120"/>
              </a:rPr>
              <a:t> or a narrower cylinder.</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Air bubbles or water lost by splashing; wet samples weighed. Repeat and find a </a:t>
            </a:r>
            <a:r>
              <a:rPr lang="en-US" sz="1050" b="1" dirty="0">
                <a:solidFill>
                  <a:srgbClr val="262B3A"/>
                </a:solidFill>
                <a:latin typeface="Calibri" pitchFamily="34" charset="0"/>
                <a:ea typeface="Calibri" pitchFamily="34" charset="-122"/>
                <a:cs typeface="Calibri" pitchFamily="34" charset="-120"/>
              </a:rPr>
              <a:t>mean</a:t>
            </a:r>
            <a:r>
              <a:rPr lang="en-US" sz="1050" dirty="0">
                <a:solidFill>
                  <a:srgbClr val="262B3A"/>
                </a:solidFill>
                <a:latin typeface="Calibri" pitchFamily="34" charset="0"/>
                <a:ea typeface="Calibri" pitchFamily="34" charset="-122"/>
                <a:cs typeface="Calibri" pitchFamily="34" charset="-120"/>
              </a:rPr>
              <a:t>; use the </a:t>
            </a:r>
            <a:r>
              <a:rPr lang="en-US" sz="1050" b="1" dirty="0">
                <a:solidFill>
                  <a:srgbClr val="262B3A"/>
                </a:solidFill>
                <a:latin typeface="Calibri" pitchFamily="34" charset="0"/>
                <a:ea typeface="Calibri" pitchFamily="34" charset="-122"/>
                <a:cs typeface="Calibri" pitchFamily="34" charset="-120"/>
              </a:rPr>
              <a:t>gradient</a:t>
            </a:r>
            <a:r>
              <a:rPr lang="en-US" sz="1050" dirty="0">
                <a:solidFill>
                  <a:srgbClr val="262B3A"/>
                </a:solidFill>
                <a:latin typeface="Calibri" pitchFamily="34" charset="0"/>
                <a:ea typeface="Calibri" pitchFamily="34" charset="-122"/>
                <a:cs typeface="Calibri" pitchFamily="34" charset="-120"/>
              </a:rPr>
              <a:t> of many points.</a:t>
            </a:r>
            <a:endParaRPr lang="en-US" sz="1050" dirty="0"/>
          </a:p>
        </p:txBody>
      </p:sp>
      <p:sp>
        <p:nvSpPr>
          <p:cNvPr id="116" name="Shape 113"/>
          <p:cNvSpPr/>
          <p:nvPr/>
        </p:nvSpPr>
        <p:spPr>
          <a:xfrm>
            <a:off x="411480" y="5833872"/>
            <a:ext cx="11368735" cy="530352"/>
          </a:xfrm>
          <a:prstGeom prst="rect">
            <a:avLst/>
          </a:prstGeom>
          <a:solidFill>
            <a:srgbClr val="FFF4E0"/>
          </a:solidFill>
          <a:ln w="6350">
            <a:solidFill>
              <a:srgbClr val="F1D9A8"/>
            </a:solidFill>
            <a:prstDash val="solid"/>
          </a:ln>
        </p:spPr>
      </p:sp>
      <p:sp>
        <p:nvSpPr>
          <p:cNvPr id="117" name="Shape 114"/>
          <p:cNvSpPr/>
          <p:nvPr/>
        </p:nvSpPr>
        <p:spPr>
          <a:xfrm>
            <a:off x="411480" y="5833872"/>
            <a:ext cx="82296" cy="530352"/>
          </a:xfrm>
          <a:prstGeom prst="rect">
            <a:avLst/>
          </a:prstGeom>
          <a:solidFill>
            <a:srgbClr val="E39A2F"/>
          </a:solidFill>
          <a:ln w="12700">
            <a:solidFill>
              <a:srgbClr val="E39A2F"/>
            </a:solidFill>
            <a:prstDash val="solid"/>
          </a:ln>
        </p:spPr>
      </p:sp>
      <p:sp>
        <p:nvSpPr>
          <p:cNvPr id="118" name="Text 11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to calculate the density of the </a:t>
            </a:r>
            <a:r>
              <a:rPr lang="en-US" sz="1150" b="1" dirty="0">
                <a:solidFill>
                  <a:srgbClr val="262B3A"/>
                </a:solidFill>
                <a:latin typeface="Calibri" pitchFamily="34" charset="0"/>
                <a:ea typeface="Calibri" pitchFamily="34" charset="-122"/>
                <a:cs typeface="Calibri" pitchFamily="34" charset="-120"/>
              </a:rPr>
              <a:t>6.0 cm³</a:t>
            </a:r>
            <a:r>
              <a:rPr lang="en-US" sz="1150" dirty="0">
                <a:solidFill>
                  <a:srgbClr val="262B3A"/>
                </a:solidFill>
                <a:latin typeface="Calibri" pitchFamily="34" charset="0"/>
                <a:ea typeface="Calibri" pitchFamily="34" charset="-122"/>
                <a:cs typeface="Calibri" pitchFamily="34" charset="-120"/>
              </a:rPr>
              <a:t> steel sample. Why is a line of best fit better than one reading?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 • density practical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sample has mass </a:t>
            </a:r>
            <a:r>
              <a:rPr lang="en-US" sz="1250" b="1" dirty="0">
                <a:solidFill>
                  <a:srgbClr val="262B3A"/>
                </a:solidFill>
                <a:latin typeface="Calibri" pitchFamily="34" charset="0"/>
                <a:ea typeface="Calibri" pitchFamily="34" charset="-122"/>
                <a:cs typeface="Calibri" pitchFamily="34" charset="-120"/>
              </a:rPr>
              <a:t>23.0 g</a:t>
            </a:r>
            <a:r>
              <a:rPr lang="en-US" sz="1250" dirty="0">
                <a:solidFill>
                  <a:srgbClr val="262B3A"/>
                </a:solidFill>
                <a:latin typeface="Calibri" pitchFamily="34" charset="0"/>
                <a:ea typeface="Calibri" pitchFamily="34" charset="-122"/>
                <a:cs typeface="Calibri" pitchFamily="34" charset="-120"/>
              </a:rPr>
              <a:t>. The water level rises from </a:t>
            </a:r>
            <a:r>
              <a:rPr lang="en-US" sz="1250" b="1" dirty="0">
                <a:solidFill>
                  <a:srgbClr val="262B3A"/>
                </a:solidFill>
                <a:latin typeface="Calibri" pitchFamily="34" charset="0"/>
                <a:ea typeface="Calibri" pitchFamily="34" charset="-122"/>
                <a:cs typeface="Calibri" pitchFamily="34" charset="-120"/>
              </a:rPr>
              <a:t>50.0</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58.5 cm³</a:t>
            </a:r>
            <a:r>
              <a:rPr lang="en-US" sz="1250" dirty="0">
                <a:solidFill>
                  <a:srgbClr val="262B3A"/>
                </a:solidFill>
                <a:latin typeface="Calibri" pitchFamily="34" charset="0"/>
                <a:ea typeface="Calibri" pitchFamily="34" charset="-122"/>
                <a:cs typeface="Calibri" pitchFamily="34" charset="-120"/>
              </a:rPr>
              <a:t>. Calculate the density (2 s.f.).</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to read the volume of water in a measuring cylinder accurately.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using a </a:t>
            </a:r>
            <a:r>
              <a:rPr lang="en-US" sz="1250" b="1" dirty="0">
                <a:solidFill>
                  <a:srgbClr val="262B3A"/>
                </a:solidFill>
                <a:latin typeface="Calibri" pitchFamily="34" charset="0"/>
                <a:ea typeface="Calibri" pitchFamily="34" charset="-122"/>
                <a:cs typeface="Calibri" pitchFamily="34" charset="-120"/>
              </a:rPr>
              <a:t>larger</a:t>
            </a:r>
            <a:r>
              <a:rPr lang="en-US" sz="1250" dirty="0">
                <a:solidFill>
                  <a:srgbClr val="262B3A"/>
                </a:solidFill>
                <a:latin typeface="Calibri" pitchFamily="34" charset="0"/>
                <a:ea typeface="Calibri" pitchFamily="34" charset="-122"/>
                <a:cs typeface="Calibri" pitchFamily="34" charset="-120"/>
              </a:rPr>
              <a:t> sample makes the density measurement more accurate.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Mass is plotted against volume for one material. Describe the graph and say what the </a:t>
            </a:r>
            <a:r>
              <a:rPr lang="en-US" sz="1250" b="1" dirty="0">
                <a:solidFill>
                  <a:srgbClr val="262B3A"/>
                </a:solidFill>
                <a:latin typeface="Calibri" pitchFamily="34" charset="0"/>
                <a:ea typeface="Calibri" pitchFamily="34" charset="-122"/>
                <a:cs typeface="Calibri" pitchFamily="34" charset="-120"/>
              </a:rPr>
              <a:t>gradient</a:t>
            </a:r>
            <a:r>
              <a:rPr lang="en-US" sz="1250" dirty="0">
                <a:solidFill>
                  <a:srgbClr val="262B3A"/>
                </a:solidFill>
                <a:latin typeface="Calibri" pitchFamily="34" charset="0"/>
                <a:ea typeface="Calibri" pitchFamily="34" charset="-122"/>
                <a:cs typeface="Calibri" pitchFamily="34" charset="-120"/>
              </a:rPr>
              <a:t> shows.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Evaluating a choice: car panels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C4.1.2 • weighing benefits against costs using data</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C4.1.2  |  18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bar charts drawn to scale from the table (illustrative values)</a:t>
            </a:r>
            <a:endParaRPr lang="en-US" sz="1000" dirty="0"/>
          </a:p>
        </p:txBody>
      </p:sp>
      <p:sp>
        <p:nvSpPr>
          <p:cNvPr id="10" name="Shape 8"/>
          <p:cNvSpPr/>
          <p:nvPr/>
        </p:nvSpPr>
        <p:spPr>
          <a:xfrm>
            <a:off x="1188720" y="1463040"/>
            <a:ext cx="1828800" cy="2834640"/>
          </a:xfrm>
          <a:prstGeom prst="rect">
            <a:avLst/>
          </a:prstGeom>
          <a:solidFill>
            <a:srgbClr val="FFFFFF"/>
          </a:solidFill>
          <a:ln/>
        </p:spPr>
      </p:sp>
      <p:sp>
        <p:nvSpPr>
          <p:cNvPr id="11" name="Shape 9"/>
          <p:cNvSpPr/>
          <p:nvPr/>
        </p:nvSpPr>
        <p:spPr>
          <a:xfrm>
            <a:off x="1188720" y="1463040"/>
            <a:ext cx="91" cy="2834640"/>
          </a:xfrm>
          <a:prstGeom prst="line">
            <a:avLst/>
          </a:prstGeom>
          <a:noFill/>
          <a:ln w="6350">
            <a:solidFill>
              <a:srgbClr val="D6CBE8"/>
            </a:solidFill>
            <a:prstDash val="solid"/>
          </a:ln>
        </p:spPr>
      </p:sp>
      <p:sp>
        <p:nvSpPr>
          <p:cNvPr id="12" name="Shape 10"/>
          <p:cNvSpPr/>
          <p:nvPr/>
        </p:nvSpPr>
        <p:spPr>
          <a:xfrm>
            <a:off x="1493520" y="1463040"/>
            <a:ext cx="91" cy="2834640"/>
          </a:xfrm>
          <a:prstGeom prst="line">
            <a:avLst/>
          </a:prstGeom>
          <a:noFill/>
          <a:ln w="6350">
            <a:solidFill>
              <a:srgbClr val="EEE9F6"/>
            </a:solidFill>
            <a:prstDash val="solid"/>
          </a:ln>
        </p:spPr>
      </p:sp>
      <p:sp>
        <p:nvSpPr>
          <p:cNvPr id="13" name="Shape 11"/>
          <p:cNvSpPr/>
          <p:nvPr/>
        </p:nvSpPr>
        <p:spPr>
          <a:xfrm>
            <a:off x="1798320" y="1463040"/>
            <a:ext cx="91" cy="2834640"/>
          </a:xfrm>
          <a:prstGeom prst="line">
            <a:avLst/>
          </a:prstGeom>
          <a:noFill/>
          <a:ln w="6350">
            <a:solidFill>
              <a:srgbClr val="D6CBE8"/>
            </a:solidFill>
            <a:prstDash val="solid"/>
          </a:ln>
        </p:spPr>
      </p:sp>
      <p:sp>
        <p:nvSpPr>
          <p:cNvPr id="14" name="Shape 12"/>
          <p:cNvSpPr/>
          <p:nvPr/>
        </p:nvSpPr>
        <p:spPr>
          <a:xfrm>
            <a:off x="2103120" y="1463040"/>
            <a:ext cx="91" cy="2834640"/>
          </a:xfrm>
          <a:prstGeom prst="line">
            <a:avLst/>
          </a:prstGeom>
          <a:noFill/>
          <a:ln w="6350">
            <a:solidFill>
              <a:srgbClr val="EEE9F6"/>
            </a:solidFill>
            <a:prstDash val="solid"/>
          </a:ln>
        </p:spPr>
      </p:sp>
      <p:sp>
        <p:nvSpPr>
          <p:cNvPr id="15" name="Shape 13"/>
          <p:cNvSpPr/>
          <p:nvPr/>
        </p:nvSpPr>
        <p:spPr>
          <a:xfrm>
            <a:off x="2407920" y="1463040"/>
            <a:ext cx="91" cy="2834640"/>
          </a:xfrm>
          <a:prstGeom prst="line">
            <a:avLst/>
          </a:prstGeom>
          <a:noFill/>
          <a:ln w="6350">
            <a:solidFill>
              <a:srgbClr val="D6CBE8"/>
            </a:solidFill>
            <a:prstDash val="solid"/>
          </a:ln>
        </p:spPr>
      </p:sp>
      <p:sp>
        <p:nvSpPr>
          <p:cNvPr id="16" name="Shape 14"/>
          <p:cNvSpPr/>
          <p:nvPr/>
        </p:nvSpPr>
        <p:spPr>
          <a:xfrm>
            <a:off x="2712720" y="1463040"/>
            <a:ext cx="91" cy="2834640"/>
          </a:xfrm>
          <a:prstGeom prst="line">
            <a:avLst/>
          </a:prstGeom>
          <a:noFill/>
          <a:ln w="6350">
            <a:solidFill>
              <a:srgbClr val="EEE9F6"/>
            </a:solidFill>
            <a:prstDash val="solid"/>
          </a:ln>
        </p:spPr>
      </p:sp>
      <p:sp>
        <p:nvSpPr>
          <p:cNvPr id="17" name="Shape 15"/>
          <p:cNvSpPr/>
          <p:nvPr/>
        </p:nvSpPr>
        <p:spPr>
          <a:xfrm>
            <a:off x="3017520" y="1463040"/>
            <a:ext cx="91" cy="2834640"/>
          </a:xfrm>
          <a:prstGeom prst="line">
            <a:avLst/>
          </a:prstGeom>
          <a:noFill/>
          <a:ln w="6350">
            <a:solidFill>
              <a:srgbClr val="D6CBE8"/>
            </a:solidFill>
            <a:prstDash val="solid"/>
          </a:ln>
        </p:spPr>
      </p:sp>
      <p:sp>
        <p:nvSpPr>
          <p:cNvPr id="18" name="Shape 16"/>
          <p:cNvSpPr/>
          <p:nvPr/>
        </p:nvSpPr>
        <p:spPr>
          <a:xfrm>
            <a:off x="1188720" y="4297680"/>
            <a:ext cx="1828800" cy="91"/>
          </a:xfrm>
          <a:prstGeom prst="line">
            <a:avLst/>
          </a:prstGeom>
          <a:noFill/>
          <a:ln w="6350">
            <a:solidFill>
              <a:srgbClr val="D6CBE8"/>
            </a:solidFill>
            <a:prstDash val="solid"/>
          </a:ln>
        </p:spPr>
      </p:sp>
      <p:sp>
        <p:nvSpPr>
          <p:cNvPr id="19" name="Shape 17"/>
          <p:cNvSpPr/>
          <p:nvPr/>
        </p:nvSpPr>
        <p:spPr>
          <a:xfrm>
            <a:off x="1188720" y="4095206"/>
            <a:ext cx="1828800" cy="91"/>
          </a:xfrm>
          <a:prstGeom prst="line">
            <a:avLst/>
          </a:prstGeom>
          <a:noFill/>
          <a:ln w="6350">
            <a:solidFill>
              <a:srgbClr val="EEE9F6"/>
            </a:solidFill>
            <a:prstDash val="solid"/>
          </a:ln>
        </p:spPr>
      </p:sp>
      <p:sp>
        <p:nvSpPr>
          <p:cNvPr id="20" name="Shape 18"/>
          <p:cNvSpPr/>
          <p:nvPr/>
        </p:nvSpPr>
        <p:spPr>
          <a:xfrm>
            <a:off x="1188720" y="3892731"/>
            <a:ext cx="1828800" cy="91"/>
          </a:xfrm>
          <a:prstGeom prst="line">
            <a:avLst/>
          </a:prstGeom>
          <a:noFill/>
          <a:ln w="6350">
            <a:solidFill>
              <a:srgbClr val="D6CBE8"/>
            </a:solidFill>
            <a:prstDash val="solid"/>
          </a:ln>
        </p:spPr>
      </p:sp>
      <p:sp>
        <p:nvSpPr>
          <p:cNvPr id="21" name="Shape 19"/>
          <p:cNvSpPr/>
          <p:nvPr/>
        </p:nvSpPr>
        <p:spPr>
          <a:xfrm>
            <a:off x="1188720" y="3690257"/>
            <a:ext cx="1828800" cy="91"/>
          </a:xfrm>
          <a:prstGeom prst="line">
            <a:avLst/>
          </a:prstGeom>
          <a:noFill/>
          <a:ln w="6350">
            <a:solidFill>
              <a:srgbClr val="EEE9F6"/>
            </a:solidFill>
            <a:prstDash val="solid"/>
          </a:ln>
        </p:spPr>
      </p:sp>
      <p:sp>
        <p:nvSpPr>
          <p:cNvPr id="22" name="Shape 20"/>
          <p:cNvSpPr/>
          <p:nvPr/>
        </p:nvSpPr>
        <p:spPr>
          <a:xfrm>
            <a:off x="1188720" y="3487783"/>
            <a:ext cx="1828800" cy="91"/>
          </a:xfrm>
          <a:prstGeom prst="line">
            <a:avLst/>
          </a:prstGeom>
          <a:noFill/>
          <a:ln w="6350">
            <a:solidFill>
              <a:srgbClr val="D6CBE8"/>
            </a:solidFill>
            <a:prstDash val="solid"/>
          </a:ln>
        </p:spPr>
      </p:sp>
      <p:sp>
        <p:nvSpPr>
          <p:cNvPr id="23" name="Shape 21"/>
          <p:cNvSpPr/>
          <p:nvPr/>
        </p:nvSpPr>
        <p:spPr>
          <a:xfrm>
            <a:off x="1188720" y="3285309"/>
            <a:ext cx="1828800" cy="91"/>
          </a:xfrm>
          <a:prstGeom prst="line">
            <a:avLst/>
          </a:prstGeom>
          <a:noFill/>
          <a:ln w="6350">
            <a:solidFill>
              <a:srgbClr val="EEE9F6"/>
            </a:solidFill>
            <a:prstDash val="solid"/>
          </a:ln>
        </p:spPr>
      </p:sp>
      <p:sp>
        <p:nvSpPr>
          <p:cNvPr id="24" name="Shape 22"/>
          <p:cNvSpPr/>
          <p:nvPr/>
        </p:nvSpPr>
        <p:spPr>
          <a:xfrm>
            <a:off x="1188720" y="3082834"/>
            <a:ext cx="1828800" cy="91"/>
          </a:xfrm>
          <a:prstGeom prst="line">
            <a:avLst/>
          </a:prstGeom>
          <a:noFill/>
          <a:ln w="6350">
            <a:solidFill>
              <a:srgbClr val="D6CBE8"/>
            </a:solidFill>
            <a:prstDash val="solid"/>
          </a:ln>
        </p:spPr>
      </p:sp>
      <p:sp>
        <p:nvSpPr>
          <p:cNvPr id="25" name="Shape 23"/>
          <p:cNvSpPr/>
          <p:nvPr/>
        </p:nvSpPr>
        <p:spPr>
          <a:xfrm>
            <a:off x="1188720" y="2880360"/>
            <a:ext cx="1828800" cy="91"/>
          </a:xfrm>
          <a:prstGeom prst="line">
            <a:avLst/>
          </a:prstGeom>
          <a:noFill/>
          <a:ln w="6350">
            <a:solidFill>
              <a:srgbClr val="EEE9F6"/>
            </a:solidFill>
            <a:prstDash val="solid"/>
          </a:ln>
        </p:spPr>
      </p:sp>
      <p:sp>
        <p:nvSpPr>
          <p:cNvPr id="26" name="Shape 24"/>
          <p:cNvSpPr/>
          <p:nvPr/>
        </p:nvSpPr>
        <p:spPr>
          <a:xfrm>
            <a:off x="1188720" y="2677886"/>
            <a:ext cx="1828800" cy="91"/>
          </a:xfrm>
          <a:prstGeom prst="line">
            <a:avLst/>
          </a:prstGeom>
          <a:noFill/>
          <a:ln w="6350">
            <a:solidFill>
              <a:srgbClr val="D6CBE8"/>
            </a:solidFill>
            <a:prstDash val="solid"/>
          </a:ln>
        </p:spPr>
      </p:sp>
      <p:sp>
        <p:nvSpPr>
          <p:cNvPr id="27" name="Shape 25"/>
          <p:cNvSpPr/>
          <p:nvPr/>
        </p:nvSpPr>
        <p:spPr>
          <a:xfrm>
            <a:off x="1188720" y="2475411"/>
            <a:ext cx="1828800" cy="91"/>
          </a:xfrm>
          <a:prstGeom prst="line">
            <a:avLst/>
          </a:prstGeom>
          <a:noFill/>
          <a:ln w="6350">
            <a:solidFill>
              <a:srgbClr val="EEE9F6"/>
            </a:solidFill>
            <a:prstDash val="solid"/>
          </a:ln>
        </p:spPr>
      </p:sp>
      <p:sp>
        <p:nvSpPr>
          <p:cNvPr id="28" name="Shape 26"/>
          <p:cNvSpPr/>
          <p:nvPr/>
        </p:nvSpPr>
        <p:spPr>
          <a:xfrm>
            <a:off x="1188720" y="2272937"/>
            <a:ext cx="1828800" cy="91"/>
          </a:xfrm>
          <a:prstGeom prst="line">
            <a:avLst/>
          </a:prstGeom>
          <a:noFill/>
          <a:ln w="6350">
            <a:solidFill>
              <a:srgbClr val="D6CBE8"/>
            </a:solidFill>
            <a:prstDash val="solid"/>
          </a:ln>
        </p:spPr>
      </p:sp>
      <p:sp>
        <p:nvSpPr>
          <p:cNvPr id="29" name="Shape 27"/>
          <p:cNvSpPr/>
          <p:nvPr/>
        </p:nvSpPr>
        <p:spPr>
          <a:xfrm>
            <a:off x="1188720" y="2070463"/>
            <a:ext cx="1828800" cy="91"/>
          </a:xfrm>
          <a:prstGeom prst="line">
            <a:avLst/>
          </a:prstGeom>
          <a:noFill/>
          <a:ln w="6350">
            <a:solidFill>
              <a:srgbClr val="EEE9F6"/>
            </a:solidFill>
            <a:prstDash val="solid"/>
          </a:ln>
        </p:spPr>
      </p:sp>
      <p:sp>
        <p:nvSpPr>
          <p:cNvPr id="30" name="Shape 28"/>
          <p:cNvSpPr/>
          <p:nvPr/>
        </p:nvSpPr>
        <p:spPr>
          <a:xfrm>
            <a:off x="1188720" y="1867989"/>
            <a:ext cx="1828800" cy="91"/>
          </a:xfrm>
          <a:prstGeom prst="line">
            <a:avLst/>
          </a:prstGeom>
          <a:noFill/>
          <a:ln w="6350">
            <a:solidFill>
              <a:srgbClr val="D6CBE8"/>
            </a:solidFill>
            <a:prstDash val="solid"/>
          </a:ln>
        </p:spPr>
      </p:sp>
      <p:sp>
        <p:nvSpPr>
          <p:cNvPr id="31" name="Shape 29"/>
          <p:cNvSpPr/>
          <p:nvPr/>
        </p:nvSpPr>
        <p:spPr>
          <a:xfrm>
            <a:off x="1188720" y="1665514"/>
            <a:ext cx="1828800" cy="91"/>
          </a:xfrm>
          <a:prstGeom prst="line">
            <a:avLst/>
          </a:prstGeom>
          <a:noFill/>
          <a:ln w="6350">
            <a:solidFill>
              <a:srgbClr val="EEE9F6"/>
            </a:solidFill>
            <a:prstDash val="solid"/>
          </a:ln>
        </p:spPr>
      </p:sp>
      <p:sp>
        <p:nvSpPr>
          <p:cNvPr id="32" name="Shape 30"/>
          <p:cNvSpPr/>
          <p:nvPr/>
        </p:nvSpPr>
        <p:spPr>
          <a:xfrm>
            <a:off x="1188720" y="1463040"/>
            <a:ext cx="1828800" cy="91"/>
          </a:xfrm>
          <a:prstGeom prst="line">
            <a:avLst/>
          </a:prstGeom>
          <a:noFill/>
          <a:ln w="6350">
            <a:solidFill>
              <a:srgbClr val="D6CBE8"/>
            </a:solidFill>
            <a:prstDash val="solid"/>
          </a:ln>
        </p:spPr>
      </p:sp>
      <p:sp>
        <p:nvSpPr>
          <p:cNvPr id="33" name="Shape 31"/>
          <p:cNvSpPr/>
          <p:nvPr/>
        </p:nvSpPr>
        <p:spPr>
          <a:xfrm>
            <a:off x="1188720" y="4297680"/>
            <a:ext cx="1828800" cy="91"/>
          </a:xfrm>
          <a:prstGeom prst="line">
            <a:avLst/>
          </a:prstGeom>
          <a:noFill/>
          <a:ln w="19050">
            <a:solidFill>
              <a:srgbClr val="2A1F3D"/>
            </a:solidFill>
            <a:prstDash val="solid"/>
          </a:ln>
        </p:spPr>
      </p:sp>
      <p:sp>
        <p:nvSpPr>
          <p:cNvPr id="34" name="Shape 32"/>
          <p:cNvSpPr/>
          <p:nvPr/>
        </p:nvSpPr>
        <p:spPr>
          <a:xfrm flipV="1">
            <a:off x="1188720" y="1463040"/>
            <a:ext cx="91" cy="2834640"/>
          </a:xfrm>
          <a:prstGeom prst="line">
            <a:avLst/>
          </a:prstGeom>
          <a:noFill/>
          <a:ln w="19050">
            <a:solidFill>
              <a:srgbClr val="2A1F3D"/>
            </a:solidFill>
            <a:prstDash val="solid"/>
          </a:ln>
        </p:spPr>
      </p:sp>
      <p:sp>
        <p:nvSpPr>
          <p:cNvPr id="35" name="Shape 33"/>
          <p:cNvSpPr/>
          <p:nvPr/>
        </p:nvSpPr>
        <p:spPr>
          <a:xfrm>
            <a:off x="1188720" y="4297680"/>
            <a:ext cx="91" cy="54864"/>
          </a:xfrm>
          <a:prstGeom prst="line">
            <a:avLst/>
          </a:prstGeom>
          <a:noFill/>
          <a:ln w="12700">
            <a:solidFill>
              <a:srgbClr val="2A1F3D"/>
            </a:solidFill>
            <a:prstDash val="solid"/>
          </a:ln>
        </p:spPr>
      </p:sp>
      <p:sp>
        <p:nvSpPr>
          <p:cNvPr id="36" name="Text 34"/>
          <p:cNvSpPr/>
          <p:nvPr/>
        </p:nvSpPr>
        <p:spPr>
          <a:xfrm>
            <a:off x="9144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5"/>
          <p:cNvSpPr/>
          <p:nvPr/>
        </p:nvSpPr>
        <p:spPr>
          <a:xfrm>
            <a:off x="1798320" y="4297680"/>
            <a:ext cx="91" cy="54864"/>
          </a:xfrm>
          <a:prstGeom prst="line">
            <a:avLst/>
          </a:prstGeom>
          <a:noFill/>
          <a:ln w="12700">
            <a:solidFill>
              <a:srgbClr val="2A1F3D"/>
            </a:solidFill>
            <a:prstDash val="solid"/>
          </a:ln>
        </p:spPr>
      </p:sp>
      <p:sp>
        <p:nvSpPr>
          <p:cNvPr id="38" name="Text 36"/>
          <p:cNvSpPr/>
          <p:nvPr/>
        </p:nvSpPr>
        <p:spPr>
          <a:xfrm>
            <a:off x="15240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39" name="Shape 37"/>
          <p:cNvSpPr/>
          <p:nvPr/>
        </p:nvSpPr>
        <p:spPr>
          <a:xfrm>
            <a:off x="2407920" y="4297680"/>
            <a:ext cx="91" cy="54864"/>
          </a:xfrm>
          <a:prstGeom prst="line">
            <a:avLst/>
          </a:prstGeom>
          <a:noFill/>
          <a:ln w="12700">
            <a:solidFill>
              <a:srgbClr val="2A1F3D"/>
            </a:solidFill>
            <a:prstDash val="solid"/>
          </a:ln>
        </p:spPr>
      </p:sp>
      <p:sp>
        <p:nvSpPr>
          <p:cNvPr id="40" name="Text 38"/>
          <p:cNvSpPr/>
          <p:nvPr/>
        </p:nvSpPr>
        <p:spPr>
          <a:xfrm>
            <a:off x="21336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41" name="Shape 39"/>
          <p:cNvSpPr/>
          <p:nvPr/>
        </p:nvSpPr>
        <p:spPr>
          <a:xfrm>
            <a:off x="3017520" y="4297680"/>
            <a:ext cx="91" cy="54864"/>
          </a:xfrm>
          <a:prstGeom prst="line">
            <a:avLst/>
          </a:prstGeom>
          <a:noFill/>
          <a:ln w="12700">
            <a:solidFill>
              <a:srgbClr val="2A1F3D"/>
            </a:solidFill>
            <a:prstDash val="solid"/>
          </a:ln>
        </p:spPr>
      </p:sp>
      <p:sp>
        <p:nvSpPr>
          <p:cNvPr id="42" name="Text 40"/>
          <p:cNvSpPr/>
          <p:nvPr/>
        </p:nvSpPr>
        <p:spPr>
          <a:xfrm>
            <a:off x="27432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43" name="Shape 41"/>
          <p:cNvSpPr/>
          <p:nvPr/>
        </p:nvSpPr>
        <p:spPr>
          <a:xfrm>
            <a:off x="1133856" y="4297680"/>
            <a:ext cx="54864" cy="91"/>
          </a:xfrm>
          <a:prstGeom prst="line">
            <a:avLst/>
          </a:prstGeom>
          <a:noFill/>
          <a:ln w="12700">
            <a:solidFill>
              <a:srgbClr val="2A1F3D"/>
            </a:solidFill>
            <a:prstDash val="solid"/>
          </a:ln>
        </p:spPr>
      </p:sp>
      <p:sp>
        <p:nvSpPr>
          <p:cNvPr id="44" name="Text 42"/>
          <p:cNvSpPr/>
          <p:nvPr/>
        </p:nvSpPr>
        <p:spPr>
          <a:xfrm>
            <a:off x="749808" y="4206240"/>
            <a:ext cx="365760" cy="182880"/>
          </a:xfrm>
          <a:prstGeom prst="rect">
            <a:avLst/>
          </a:prstGeom>
          <a:noFill/>
          <a:ln/>
        </p:spPr>
        <p:txBody>
          <a:bodyPr wrap="square" lIns="0" tIns="0" rIns="0" bIns="0" rtlCol="0" anchor="ctr"/>
          <a:lstStyle/>
          <a:p>
            <a:pPr algn="r" indent="0" marL="0">
              <a:buNone/>
            </a:pPr>
            <a:endParaRPr lang="en-US" sz="1000" dirty="0"/>
          </a:p>
        </p:txBody>
      </p:sp>
      <p:sp>
        <p:nvSpPr>
          <p:cNvPr id="45" name="Shape 43"/>
          <p:cNvSpPr/>
          <p:nvPr/>
        </p:nvSpPr>
        <p:spPr>
          <a:xfrm>
            <a:off x="1133856" y="3892731"/>
            <a:ext cx="54864" cy="91"/>
          </a:xfrm>
          <a:prstGeom prst="line">
            <a:avLst/>
          </a:prstGeom>
          <a:noFill/>
          <a:ln w="12700">
            <a:solidFill>
              <a:srgbClr val="2A1F3D"/>
            </a:solidFill>
            <a:prstDash val="solid"/>
          </a:ln>
        </p:spPr>
      </p:sp>
      <p:sp>
        <p:nvSpPr>
          <p:cNvPr id="46" name="Text 44"/>
          <p:cNvSpPr/>
          <p:nvPr/>
        </p:nvSpPr>
        <p:spPr>
          <a:xfrm>
            <a:off x="749808" y="3801291"/>
            <a:ext cx="365760" cy="182880"/>
          </a:xfrm>
          <a:prstGeom prst="rect">
            <a:avLst/>
          </a:prstGeom>
          <a:noFill/>
          <a:ln/>
        </p:spPr>
        <p:txBody>
          <a:bodyPr wrap="square" lIns="0" tIns="0" rIns="0" bIns="0" rtlCol="0" anchor="ctr"/>
          <a:lstStyle/>
          <a:p>
            <a:pPr algn="r" indent="0" marL="0">
              <a:buNone/>
            </a:pPr>
            <a:endParaRPr lang="en-US" sz="1000" dirty="0"/>
          </a:p>
        </p:txBody>
      </p:sp>
      <p:sp>
        <p:nvSpPr>
          <p:cNvPr id="47" name="Shape 45"/>
          <p:cNvSpPr/>
          <p:nvPr/>
        </p:nvSpPr>
        <p:spPr>
          <a:xfrm>
            <a:off x="1133856" y="3487783"/>
            <a:ext cx="54864" cy="91"/>
          </a:xfrm>
          <a:prstGeom prst="line">
            <a:avLst/>
          </a:prstGeom>
          <a:noFill/>
          <a:ln w="12700">
            <a:solidFill>
              <a:srgbClr val="2A1F3D"/>
            </a:solidFill>
            <a:prstDash val="solid"/>
          </a:ln>
        </p:spPr>
      </p:sp>
      <p:sp>
        <p:nvSpPr>
          <p:cNvPr id="48" name="Text 46"/>
          <p:cNvSpPr/>
          <p:nvPr/>
        </p:nvSpPr>
        <p:spPr>
          <a:xfrm>
            <a:off x="749808" y="3396343"/>
            <a:ext cx="365760" cy="182880"/>
          </a:xfrm>
          <a:prstGeom prst="rect">
            <a:avLst/>
          </a:prstGeom>
          <a:noFill/>
          <a:ln/>
        </p:spPr>
        <p:txBody>
          <a:bodyPr wrap="square" lIns="0" tIns="0" rIns="0" bIns="0" rtlCol="0" anchor="ctr"/>
          <a:lstStyle/>
          <a:p>
            <a:pPr algn="r" indent="0" marL="0">
              <a:buNone/>
            </a:pPr>
            <a:endParaRPr lang="en-US" sz="1000" dirty="0"/>
          </a:p>
        </p:txBody>
      </p:sp>
      <p:sp>
        <p:nvSpPr>
          <p:cNvPr id="49" name="Shape 47"/>
          <p:cNvSpPr/>
          <p:nvPr/>
        </p:nvSpPr>
        <p:spPr>
          <a:xfrm>
            <a:off x="1133856" y="3082834"/>
            <a:ext cx="54864" cy="91"/>
          </a:xfrm>
          <a:prstGeom prst="line">
            <a:avLst/>
          </a:prstGeom>
          <a:noFill/>
          <a:ln w="12700">
            <a:solidFill>
              <a:srgbClr val="2A1F3D"/>
            </a:solidFill>
            <a:prstDash val="solid"/>
          </a:ln>
        </p:spPr>
      </p:sp>
      <p:sp>
        <p:nvSpPr>
          <p:cNvPr id="50" name="Text 48"/>
          <p:cNvSpPr/>
          <p:nvPr/>
        </p:nvSpPr>
        <p:spPr>
          <a:xfrm>
            <a:off x="749808" y="2991394"/>
            <a:ext cx="365760" cy="182880"/>
          </a:xfrm>
          <a:prstGeom prst="rect">
            <a:avLst/>
          </a:prstGeom>
          <a:noFill/>
          <a:ln/>
        </p:spPr>
        <p:txBody>
          <a:bodyPr wrap="square" lIns="0" tIns="0" rIns="0" bIns="0" rtlCol="0" anchor="ctr"/>
          <a:lstStyle/>
          <a:p>
            <a:pPr algn="r" indent="0" marL="0">
              <a:buNone/>
            </a:pPr>
            <a:endParaRPr lang="en-US" sz="1000" dirty="0"/>
          </a:p>
        </p:txBody>
      </p:sp>
      <p:sp>
        <p:nvSpPr>
          <p:cNvPr id="51" name="Shape 49"/>
          <p:cNvSpPr/>
          <p:nvPr/>
        </p:nvSpPr>
        <p:spPr>
          <a:xfrm>
            <a:off x="1133856" y="2677886"/>
            <a:ext cx="54864" cy="91"/>
          </a:xfrm>
          <a:prstGeom prst="line">
            <a:avLst/>
          </a:prstGeom>
          <a:noFill/>
          <a:ln w="12700">
            <a:solidFill>
              <a:srgbClr val="2A1F3D"/>
            </a:solidFill>
            <a:prstDash val="solid"/>
          </a:ln>
        </p:spPr>
      </p:sp>
      <p:sp>
        <p:nvSpPr>
          <p:cNvPr id="52" name="Text 50"/>
          <p:cNvSpPr/>
          <p:nvPr/>
        </p:nvSpPr>
        <p:spPr>
          <a:xfrm>
            <a:off x="749808" y="2586446"/>
            <a:ext cx="365760" cy="182880"/>
          </a:xfrm>
          <a:prstGeom prst="rect">
            <a:avLst/>
          </a:prstGeom>
          <a:noFill/>
          <a:ln/>
        </p:spPr>
        <p:txBody>
          <a:bodyPr wrap="square" lIns="0" tIns="0" rIns="0" bIns="0" rtlCol="0" anchor="ctr"/>
          <a:lstStyle/>
          <a:p>
            <a:pPr algn="r" indent="0" marL="0">
              <a:buNone/>
            </a:pPr>
            <a:endParaRPr lang="en-US" sz="1000" dirty="0"/>
          </a:p>
        </p:txBody>
      </p:sp>
      <p:sp>
        <p:nvSpPr>
          <p:cNvPr id="53" name="Shape 51"/>
          <p:cNvSpPr/>
          <p:nvPr/>
        </p:nvSpPr>
        <p:spPr>
          <a:xfrm>
            <a:off x="1133856" y="2272937"/>
            <a:ext cx="54864" cy="91"/>
          </a:xfrm>
          <a:prstGeom prst="line">
            <a:avLst/>
          </a:prstGeom>
          <a:noFill/>
          <a:ln w="12700">
            <a:solidFill>
              <a:srgbClr val="2A1F3D"/>
            </a:solidFill>
            <a:prstDash val="solid"/>
          </a:ln>
        </p:spPr>
      </p:sp>
      <p:sp>
        <p:nvSpPr>
          <p:cNvPr id="54" name="Text 52"/>
          <p:cNvSpPr/>
          <p:nvPr/>
        </p:nvSpPr>
        <p:spPr>
          <a:xfrm>
            <a:off x="749808" y="2181497"/>
            <a:ext cx="365760" cy="182880"/>
          </a:xfrm>
          <a:prstGeom prst="rect">
            <a:avLst/>
          </a:prstGeom>
          <a:noFill/>
          <a:ln/>
        </p:spPr>
        <p:txBody>
          <a:bodyPr wrap="square" lIns="0" tIns="0" rIns="0" bIns="0" rtlCol="0" anchor="ctr"/>
          <a:lstStyle/>
          <a:p>
            <a:pPr algn="r" indent="0" marL="0">
              <a:buNone/>
            </a:pPr>
            <a:endParaRPr lang="en-US" sz="1000" dirty="0"/>
          </a:p>
        </p:txBody>
      </p:sp>
      <p:sp>
        <p:nvSpPr>
          <p:cNvPr id="55" name="Shape 53"/>
          <p:cNvSpPr/>
          <p:nvPr/>
        </p:nvSpPr>
        <p:spPr>
          <a:xfrm>
            <a:off x="1133856" y="1867989"/>
            <a:ext cx="54864" cy="91"/>
          </a:xfrm>
          <a:prstGeom prst="line">
            <a:avLst/>
          </a:prstGeom>
          <a:noFill/>
          <a:ln w="12700">
            <a:solidFill>
              <a:srgbClr val="2A1F3D"/>
            </a:solidFill>
            <a:prstDash val="solid"/>
          </a:ln>
        </p:spPr>
      </p:sp>
      <p:sp>
        <p:nvSpPr>
          <p:cNvPr id="56" name="Text 54"/>
          <p:cNvSpPr/>
          <p:nvPr/>
        </p:nvSpPr>
        <p:spPr>
          <a:xfrm>
            <a:off x="749808" y="1776549"/>
            <a:ext cx="365760" cy="182880"/>
          </a:xfrm>
          <a:prstGeom prst="rect">
            <a:avLst/>
          </a:prstGeom>
          <a:noFill/>
          <a:ln/>
        </p:spPr>
        <p:txBody>
          <a:bodyPr wrap="square" lIns="0" tIns="0" rIns="0" bIns="0" rtlCol="0" anchor="ctr"/>
          <a:lstStyle/>
          <a:p>
            <a:pPr algn="r" indent="0" marL="0">
              <a:buNone/>
            </a:pPr>
            <a:endParaRPr lang="en-US" sz="1000" dirty="0"/>
          </a:p>
        </p:txBody>
      </p:sp>
      <p:sp>
        <p:nvSpPr>
          <p:cNvPr id="57" name="Shape 55"/>
          <p:cNvSpPr/>
          <p:nvPr/>
        </p:nvSpPr>
        <p:spPr>
          <a:xfrm>
            <a:off x="1133856" y="1463040"/>
            <a:ext cx="54864" cy="91"/>
          </a:xfrm>
          <a:prstGeom prst="line">
            <a:avLst/>
          </a:prstGeom>
          <a:noFill/>
          <a:ln w="12700">
            <a:solidFill>
              <a:srgbClr val="2A1F3D"/>
            </a:solidFill>
            <a:prstDash val="solid"/>
          </a:ln>
        </p:spPr>
      </p:sp>
      <p:sp>
        <p:nvSpPr>
          <p:cNvPr id="58" name="Text 56"/>
          <p:cNvSpPr/>
          <p:nvPr/>
        </p:nvSpPr>
        <p:spPr>
          <a:xfrm>
            <a:off x="749808" y="1371600"/>
            <a:ext cx="365760" cy="182880"/>
          </a:xfrm>
          <a:prstGeom prst="rect">
            <a:avLst/>
          </a:prstGeom>
          <a:noFill/>
          <a:ln/>
        </p:spPr>
        <p:txBody>
          <a:bodyPr wrap="square" lIns="0" tIns="0" rIns="0" bIns="0" rtlCol="0" anchor="ctr"/>
          <a:lstStyle/>
          <a:p>
            <a:pPr algn="r" indent="0" marL="0">
              <a:buNone/>
            </a:pPr>
            <a:endParaRPr lang="en-US" sz="1000" dirty="0"/>
          </a:p>
        </p:txBody>
      </p:sp>
      <p:sp>
        <p:nvSpPr>
          <p:cNvPr id="59" name="Text 57"/>
          <p:cNvSpPr/>
          <p:nvPr/>
        </p:nvSpPr>
        <p:spPr>
          <a:xfrm rot="16200000">
            <a:off x="-795528" y="2752344"/>
            <a:ext cx="2834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 kg</a:t>
            </a:r>
            <a:endParaRPr lang="en-US" sz="1050" dirty="0"/>
          </a:p>
        </p:txBody>
      </p:sp>
      <p:sp>
        <p:nvSpPr>
          <p:cNvPr id="60" name="Shape 58"/>
          <p:cNvSpPr/>
          <p:nvPr/>
        </p:nvSpPr>
        <p:spPr>
          <a:xfrm>
            <a:off x="3931920" y="1463040"/>
            <a:ext cx="1828800" cy="2834640"/>
          </a:xfrm>
          <a:prstGeom prst="rect">
            <a:avLst/>
          </a:prstGeom>
          <a:solidFill>
            <a:srgbClr val="FFFFFF"/>
          </a:solidFill>
          <a:ln/>
        </p:spPr>
      </p:sp>
      <p:sp>
        <p:nvSpPr>
          <p:cNvPr id="61" name="Shape 59"/>
          <p:cNvSpPr/>
          <p:nvPr/>
        </p:nvSpPr>
        <p:spPr>
          <a:xfrm>
            <a:off x="3931920" y="1463040"/>
            <a:ext cx="91" cy="2834640"/>
          </a:xfrm>
          <a:prstGeom prst="line">
            <a:avLst/>
          </a:prstGeom>
          <a:noFill/>
          <a:ln w="6350">
            <a:solidFill>
              <a:srgbClr val="D6CBE8"/>
            </a:solidFill>
            <a:prstDash val="solid"/>
          </a:ln>
        </p:spPr>
      </p:sp>
      <p:sp>
        <p:nvSpPr>
          <p:cNvPr id="62" name="Shape 60"/>
          <p:cNvSpPr/>
          <p:nvPr/>
        </p:nvSpPr>
        <p:spPr>
          <a:xfrm>
            <a:off x="4236720" y="1463040"/>
            <a:ext cx="91" cy="2834640"/>
          </a:xfrm>
          <a:prstGeom prst="line">
            <a:avLst/>
          </a:prstGeom>
          <a:noFill/>
          <a:ln w="6350">
            <a:solidFill>
              <a:srgbClr val="EEE9F6"/>
            </a:solidFill>
            <a:prstDash val="solid"/>
          </a:ln>
        </p:spPr>
      </p:sp>
      <p:sp>
        <p:nvSpPr>
          <p:cNvPr id="63" name="Shape 61"/>
          <p:cNvSpPr/>
          <p:nvPr/>
        </p:nvSpPr>
        <p:spPr>
          <a:xfrm>
            <a:off x="4541520" y="1463040"/>
            <a:ext cx="91" cy="2834640"/>
          </a:xfrm>
          <a:prstGeom prst="line">
            <a:avLst/>
          </a:prstGeom>
          <a:noFill/>
          <a:ln w="6350">
            <a:solidFill>
              <a:srgbClr val="D6CBE8"/>
            </a:solidFill>
            <a:prstDash val="solid"/>
          </a:ln>
        </p:spPr>
      </p:sp>
      <p:sp>
        <p:nvSpPr>
          <p:cNvPr id="64" name="Shape 62"/>
          <p:cNvSpPr/>
          <p:nvPr/>
        </p:nvSpPr>
        <p:spPr>
          <a:xfrm>
            <a:off x="4846320" y="1463040"/>
            <a:ext cx="91" cy="2834640"/>
          </a:xfrm>
          <a:prstGeom prst="line">
            <a:avLst/>
          </a:prstGeom>
          <a:noFill/>
          <a:ln w="6350">
            <a:solidFill>
              <a:srgbClr val="EEE9F6"/>
            </a:solidFill>
            <a:prstDash val="solid"/>
          </a:ln>
        </p:spPr>
      </p:sp>
      <p:sp>
        <p:nvSpPr>
          <p:cNvPr id="65" name="Shape 63"/>
          <p:cNvSpPr/>
          <p:nvPr/>
        </p:nvSpPr>
        <p:spPr>
          <a:xfrm>
            <a:off x="5151120" y="1463040"/>
            <a:ext cx="91" cy="2834640"/>
          </a:xfrm>
          <a:prstGeom prst="line">
            <a:avLst/>
          </a:prstGeom>
          <a:noFill/>
          <a:ln w="6350">
            <a:solidFill>
              <a:srgbClr val="D6CBE8"/>
            </a:solidFill>
            <a:prstDash val="solid"/>
          </a:ln>
        </p:spPr>
      </p:sp>
      <p:sp>
        <p:nvSpPr>
          <p:cNvPr id="66" name="Shape 64"/>
          <p:cNvSpPr/>
          <p:nvPr/>
        </p:nvSpPr>
        <p:spPr>
          <a:xfrm>
            <a:off x="5455920" y="1463040"/>
            <a:ext cx="91" cy="2834640"/>
          </a:xfrm>
          <a:prstGeom prst="line">
            <a:avLst/>
          </a:prstGeom>
          <a:noFill/>
          <a:ln w="6350">
            <a:solidFill>
              <a:srgbClr val="EEE9F6"/>
            </a:solidFill>
            <a:prstDash val="solid"/>
          </a:ln>
        </p:spPr>
      </p:sp>
      <p:sp>
        <p:nvSpPr>
          <p:cNvPr id="67" name="Shape 65"/>
          <p:cNvSpPr/>
          <p:nvPr/>
        </p:nvSpPr>
        <p:spPr>
          <a:xfrm>
            <a:off x="5760720" y="1463040"/>
            <a:ext cx="91" cy="2834640"/>
          </a:xfrm>
          <a:prstGeom prst="line">
            <a:avLst/>
          </a:prstGeom>
          <a:noFill/>
          <a:ln w="6350">
            <a:solidFill>
              <a:srgbClr val="D6CBE8"/>
            </a:solidFill>
            <a:prstDash val="solid"/>
          </a:ln>
        </p:spPr>
      </p:sp>
      <p:sp>
        <p:nvSpPr>
          <p:cNvPr id="68" name="Shape 66"/>
          <p:cNvSpPr/>
          <p:nvPr/>
        </p:nvSpPr>
        <p:spPr>
          <a:xfrm>
            <a:off x="3931920" y="4297680"/>
            <a:ext cx="1828800" cy="91"/>
          </a:xfrm>
          <a:prstGeom prst="line">
            <a:avLst/>
          </a:prstGeom>
          <a:noFill/>
          <a:ln w="6350">
            <a:solidFill>
              <a:srgbClr val="D6CBE8"/>
            </a:solidFill>
            <a:prstDash val="solid"/>
          </a:ln>
        </p:spPr>
      </p:sp>
      <p:sp>
        <p:nvSpPr>
          <p:cNvPr id="69" name="Shape 67"/>
          <p:cNvSpPr/>
          <p:nvPr/>
        </p:nvSpPr>
        <p:spPr>
          <a:xfrm>
            <a:off x="3931920" y="4014216"/>
            <a:ext cx="1828800" cy="91"/>
          </a:xfrm>
          <a:prstGeom prst="line">
            <a:avLst/>
          </a:prstGeom>
          <a:noFill/>
          <a:ln w="6350">
            <a:solidFill>
              <a:srgbClr val="EEE9F6"/>
            </a:solidFill>
            <a:prstDash val="solid"/>
          </a:ln>
        </p:spPr>
      </p:sp>
      <p:sp>
        <p:nvSpPr>
          <p:cNvPr id="70" name="Shape 68"/>
          <p:cNvSpPr/>
          <p:nvPr/>
        </p:nvSpPr>
        <p:spPr>
          <a:xfrm>
            <a:off x="3931920" y="3730752"/>
            <a:ext cx="1828800" cy="91"/>
          </a:xfrm>
          <a:prstGeom prst="line">
            <a:avLst/>
          </a:prstGeom>
          <a:noFill/>
          <a:ln w="6350">
            <a:solidFill>
              <a:srgbClr val="D6CBE8"/>
            </a:solidFill>
            <a:prstDash val="solid"/>
          </a:ln>
        </p:spPr>
      </p:sp>
      <p:sp>
        <p:nvSpPr>
          <p:cNvPr id="71" name="Shape 69"/>
          <p:cNvSpPr/>
          <p:nvPr/>
        </p:nvSpPr>
        <p:spPr>
          <a:xfrm>
            <a:off x="3931920" y="3447288"/>
            <a:ext cx="1828800" cy="91"/>
          </a:xfrm>
          <a:prstGeom prst="line">
            <a:avLst/>
          </a:prstGeom>
          <a:noFill/>
          <a:ln w="6350">
            <a:solidFill>
              <a:srgbClr val="EEE9F6"/>
            </a:solidFill>
            <a:prstDash val="solid"/>
          </a:ln>
        </p:spPr>
      </p:sp>
      <p:sp>
        <p:nvSpPr>
          <p:cNvPr id="72" name="Shape 70"/>
          <p:cNvSpPr/>
          <p:nvPr/>
        </p:nvSpPr>
        <p:spPr>
          <a:xfrm>
            <a:off x="3931920" y="3163824"/>
            <a:ext cx="1828800" cy="91"/>
          </a:xfrm>
          <a:prstGeom prst="line">
            <a:avLst/>
          </a:prstGeom>
          <a:noFill/>
          <a:ln w="6350">
            <a:solidFill>
              <a:srgbClr val="D6CBE8"/>
            </a:solidFill>
            <a:prstDash val="solid"/>
          </a:ln>
        </p:spPr>
      </p:sp>
      <p:sp>
        <p:nvSpPr>
          <p:cNvPr id="73" name="Shape 71"/>
          <p:cNvSpPr/>
          <p:nvPr/>
        </p:nvSpPr>
        <p:spPr>
          <a:xfrm>
            <a:off x="3931920" y="2880360"/>
            <a:ext cx="1828800" cy="91"/>
          </a:xfrm>
          <a:prstGeom prst="line">
            <a:avLst/>
          </a:prstGeom>
          <a:noFill/>
          <a:ln w="6350">
            <a:solidFill>
              <a:srgbClr val="EEE9F6"/>
            </a:solidFill>
            <a:prstDash val="solid"/>
          </a:ln>
        </p:spPr>
      </p:sp>
      <p:sp>
        <p:nvSpPr>
          <p:cNvPr id="74" name="Shape 72"/>
          <p:cNvSpPr/>
          <p:nvPr/>
        </p:nvSpPr>
        <p:spPr>
          <a:xfrm>
            <a:off x="3931920" y="2596896"/>
            <a:ext cx="1828800" cy="91"/>
          </a:xfrm>
          <a:prstGeom prst="line">
            <a:avLst/>
          </a:prstGeom>
          <a:noFill/>
          <a:ln w="6350">
            <a:solidFill>
              <a:srgbClr val="D6CBE8"/>
            </a:solidFill>
            <a:prstDash val="solid"/>
          </a:ln>
        </p:spPr>
      </p:sp>
      <p:sp>
        <p:nvSpPr>
          <p:cNvPr id="75" name="Shape 73"/>
          <p:cNvSpPr/>
          <p:nvPr/>
        </p:nvSpPr>
        <p:spPr>
          <a:xfrm>
            <a:off x="3931920" y="2313432"/>
            <a:ext cx="1828800" cy="91"/>
          </a:xfrm>
          <a:prstGeom prst="line">
            <a:avLst/>
          </a:prstGeom>
          <a:noFill/>
          <a:ln w="6350">
            <a:solidFill>
              <a:srgbClr val="EEE9F6"/>
            </a:solidFill>
            <a:prstDash val="solid"/>
          </a:ln>
        </p:spPr>
      </p:sp>
      <p:sp>
        <p:nvSpPr>
          <p:cNvPr id="76" name="Shape 74"/>
          <p:cNvSpPr/>
          <p:nvPr/>
        </p:nvSpPr>
        <p:spPr>
          <a:xfrm>
            <a:off x="3931920" y="2029968"/>
            <a:ext cx="1828800" cy="91"/>
          </a:xfrm>
          <a:prstGeom prst="line">
            <a:avLst/>
          </a:prstGeom>
          <a:noFill/>
          <a:ln w="6350">
            <a:solidFill>
              <a:srgbClr val="D6CBE8"/>
            </a:solidFill>
            <a:prstDash val="solid"/>
          </a:ln>
        </p:spPr>
      </p:sp>
      <p:sp>
        <p:nvSpPr>
          <p:cNvPr id="77" name="Shape 75"/>
          <p:cNvSpPr/>
          <p:nvPr/>
        </p:nvSpPr>
        <p:spPr>
          <a:xfrm>
            <a:off x="3931920" y="1746504"/>
            <a:ext cx="1828800" cy="91"/>
          </a:xfrm>
          <a:prstGeom prst="line">
            <a:avLst/>
          </a:prstGeom>
          <a:noFill/>
          <a:ln w="6350">
            <a:solidFill>
              <a:srgbClr val="EEE9F6"/>
            </a:solidFill>
            <a:prstDash val="solid"/>
          </a:ln>
        </p:spPr>
      </p:sp>
      <p:sp>
        <p:nvSpPr>
          <p:cNvPr id="78" name="Shape 76"/>
          <p:cNvSpPr/>
          <p:nvPr/>
        </p:nvSpPr>
        <p:spPr>
          <a:xfrm>
            <a:off x="3931920" y="1463040"/>
            <a:ext cx="1828800" cy="91"/>
          </a:xfrm>
          <a:prstGeom prst="line">
            <a:avLst/>
          </a:prstGeom>
          <a:noFill/>
          <a:ln w="6350">
            <a:solidFill>
              <a:srgbClr val="D6CBE8"/>
            </a:solidFill>
            <a:prstDash val="solid"/>
          </a:ln>
        </p:spPr>
      </p:sp>
      <p:sp>
        <p:nvSpPr>
          <p:cNvPr id="79" name="Shape 77"/>
          <p:cNvSpPr/>
          <p:nvPr/>
        </p:nvSpPr>
        <p:spPr>
          <a:xfrm>
            <a:off x="3931920" y="4297680"/>
            <a:ext cx="1828800" cy="91"/>
          </a:xfrm>
          <a:prstGeom prst="line">
            <a:avLst/>
          </a:prstGeom>
          <a:noFill/>
          <a:ln w="19050">
            <a:solidFill>
              <a:srgbClr val="2A1F3D"/>
            </a:solidFill>
            <a:prstDash val="solid"/>
          </a:ln>
        </p:spPr>
      </p:sp>
      <p:sp>
        <p:nvSpPr>
          <p:cNvPr id="80" name="Shape 78"/>
          <p:cNvSpPr/>
          <p:nvPr/>
        </p:nvSpPr>
        <p:spPr>
          <a:xfrm flipV="1">
            <a:off x="3931920" y="1463040"/>
            <a:ext cx="91" cy="2834640"/>
          </a:xfrm>
          <a:prstGeom prst="line">
            <a:avLst/>
          </a:prstGeom>
          <a:noFill/>
          <a:ln w="19050">
            <a:solidFill>
              <a:srgbClr val="2A1F3D"/>
            </a:solidFill>
            <a:prstDash val="solid"/>
          </a:ln>
        </p:spPr>
      </p:sp>
      <p:sp>
        <p:nvSpPr>
          <p:cNvPr id="81" name="Shape 79"/>
          <p:cNvSpPr/>
          <p:nvPr/>
        </p:nvSpPr>
        <p:spPr>
          <a:xfrm>
            <a:off x="3931920" y="4297680"/>
            <a:ext cx="91" cy="54864"/>
          </a:xfrm>
          <a:prstGeom prst="line">
            <a:avLst/>
          </a:prstGeom>
          <a:noFill/>
          <a:ln w="12700">
            <a:solidFill>
              <a:srgbClr val="2A1F3D"/>
            </a:solidFill>
            <a:prstDash val="solid"/>
          </a:ln>
        </p:spPr>
      </p:sp>
      <p:sp>
        <p:nvSpPr>
          <p:cNvPr id="82" name="Text 80"/>
          <p:cNvSpPr/>
          <p:nvPr/>
        </p:nvSpPr>
        <p:spPr>
          <a:xfrm>
            <a:off x="36576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83" name="Shape 81"/>
          <p:cNvSpPr/>
          <p:nvPr/>
        </p:nvSpPr>
        <p:spPr>
          <a:xfrm>
            <a:off x="4541520" y="4297680"/>
            <a:ext cx="91" cy="54864"/>
          </a:xfrm>
          <a:prstGeom prst="line">
            <a:avLst/>
          </a:prstGeom>
          <a:noFill/>
          <a:ln w="12700">
            <a:solidFill>
              <a:srgbClr val="2A1F3D"/>
            </a:solidFill>
            <a:prstDash val="solid"/>
          </a:ln>
        </p:spPr>
      </p:sp>
      <p:sp>
        <p:nvSpPr>
          <p:cNvPr id="84" name="Text 82"/>
          <p:cNvSpPr/>
          <p:nvPr/>
        </p:nvSpPr>
        <p:spPr>
          <a:xfrm>
            <a:off x="42672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85" name="Shape 83"/>
          <p:cNvSpPr/>
          <p:nvPr/>
        </p:nvSpPr>
        <p:spPr>
          <a:xfrm>
            <a:off x="5151120" y="4297680"/>
            <a:ext cx="91" cy="54864"/>
          </a:xfrm>
          <a:prstGeom prst="line">
            <a:avLst/>
          </a:prstGeom>
          <a:noFill/>
          <a:ln w="12700">
            <a:solidFill>
              <a:srgbClr val="2A1F3D"/>
            </a:solidFill>
            <a:prstDash val="solid"/>
          </a:ln>
        </p:spPr>
      </p:sp>
      <p:sp>
        <p:nvSpPr>
          <p:cNvPr id="86" name="Text 84"/>
          <p:cNvSpPr/>
          <p:nvPr/>
        </p:nvSpPr>
        <p:spPr>
          <a:xfrm>
            <a:off x="48768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87" name="Shape 85"/>
          <p:cNvSpPr/>
          <p:nvPr/>
        </p:nvSpPr>
        <p:spPr>
          <a:xfrm>
            <a:off x="5760720" y="4297680"/>
            <a:ext cx="91" cy="54864"/>
          </a:xfrm>
          <a:prstGeom prst="line">
            <a:avLst/>
          </a:prstGeom>
          <a:noFill/>
          <a:ln w="12700">
            <a:solidFill>
              <a:srgbClr val="2A1F3D"/>
            </a:solidFill>
            <a:prstDash val="solid"/>
          </a:ln>
        </p:spPr>
      </p:sp>
      <p:sp>
        <p:nvSpPr>
          <p:cNvPr id="88" name="Text 86"/>
          <p:cNvSpPr/>
          <p:nvPr/>
        </p:nvSpPr>
        <p:spPr>
          <a:xfrm>
            <a:off x="5486400" y="4352544"/>
            <a:ext cx="548640" cy="182880"/>
          </a:xfrm>
          <a:prstGeom prst="rect">
            <a:avLst/>
          </a:prstGeom>
          <a:noFill/>
          <a:ln/>
        </p:spPr>
        <p:txBody>
          <a:bodyPr wrap="square" lIns="0" tIns="0" rIns="0" bIns="0" rtlCol="0" anchor="ctr"/>
          <a:lstStyle/>
          <a:p>
            <a:pPr algn="ctr" indent="0" marL="0">
              <a:buNone/>
            </a:pPr>
            <a:endParaRPr lang="en-US" sz="1000" dirty="0"/>
          </a:p>
        </p:txBody>
      </p:sp>
      <p:sp>
        <p:nvSpPr>
          <p:cNvPr id="89" name="Shape 87"/>
          <p:cNvSpPr/>
          <p:nvPr/>
        </p:nvSpPr>
        <p:spPr>
          <a:xfrm>
            <a:off x="3877056" y="4297680"/>
            <a:ext cx="54864" cy="91"/>
          </a:xfrm>
          <a:prstGeom prst="line">
            <a:avLst/>
          </a:prstGeom>
          <a:noFill/>
          <a:ln w="12700">
            <a:solidFill>
              <a:srgbClr val="2A1F3D"/>
            </a:solidFill>
            <a:prstDash val="solid"/>
          </a:ln>
        </p:spPr>
      </p:sp>
      <p:sp>
        <p:nvSpPr>
          <p:cNvPr id="90" name="Text 88"/>
          <p:cNvSpPr/>
          <p:nvPr/>
        </p:nvSpPr>
        <p:spPr>
          <a:xfrm>
            <a:off x="3493008" y="4206240"/>
            <a:ext cx="365760" cy="182880"/>
          </a:xfrm>
          <a:prstGeom prst="rect">
            <a:avLst/>
          </a:prstGeom>
          <a:noFill/>
          <a:ln/>
        </p:spPr>
        <p:txBody>
          <a:bodyPr wrap="square" lIns="0" tIns="0" rIns="0" bIns="0" rtlCol="0" anchor="ctr"/>
          <a:lstStyle/>
          <a:p>
            <a:pPr algn="r" indent="0" marL="0">
              <a:buNone/>
            </a:pPr>
            <a:endParaRPr lang="en-US" sz="1000" dirty="0"/>
          </a:p>
        </p:txBody>
      </p:sp>
      <p:sp>
        <p:nvSpPr>
          <p:cNvPr id="91" name="Shape 89"/>
          <p:cNvSpPr/>
          <p:nvPr/>
        </p:nvSpPr>
        <p:spPr>
          <a:xfrm>
            <a:off x="3877056" y="3730752"/>
            <a:ext cx="54864" cy="91"/>
          </a:xfrm>
          <a:prstGeom prst="line">
            <a:avLst/>
          </a:prstGeom>
          <a:noFill/>
          <a:ln w="12700">
            <a:solidFill>
              <a:srgbClr val="2A1F3D"/>
            </a:solidFill>
            <a:prstDash val="solid"/>
          </a:ln>
        </p:spPr>
      </p:sp>
      <p:sp>
        <p:nvSpPr>
          <p:cNvPr id="92" name="Text 90"/>
          <p:cNvSpPr/>
          <p:nvPr/>
        </p:nvSpPr>
        <p:spPr>
          <a:xfrm>
            <a:off x="3493008" y="3639312"/>
            <a:ext cx="365760" cy="182880"/>
          </a:xfrm>
          <a:prstGeom prst="rect">
            <a:avLst/>
          </a:prstGeom>
          <a:noFill/>
          <a:ln/>
        </p:spPr>
        <p:txBody>
          <a:bodyPr wrap="square" lIns="0" tIns="0" rIns="0" bIns="0" rtlCol="0" anchor="ctr"/>
          <a:lstStyle/>
          <a:p>
            <a:pPr algn="r" indent="0" marL="0">
              <a:buNone/>
            </a:pPr>
            <a:endParaRPr lang="en-US" sz="1000" dirty="0"/>
          </a:p>
        </p:txBody>
      </p:sp>
      <p:sp>
        <p:nvSpPr>
          <p:cNvPr id="93" name="Shape 91"/>
          <p:cNvSpPr/>
          <p:nvPr/>
        </p:nvSpPr>
        <p:spPr>
          <a:xfrm>
            <a:off x="3877056" y="3163824"/>
            <a:ext cx="54864" cy="91"/>
          </a:xfrm>
          <a:prstGeom prst="line">
            <a:avLst/>
          </a:prstGeom>
          <a:noFill/>
          <a:ln w="12700">
            <a:solidFill>
              <a:srgbClr val="2A1F3D"/>
            </a:solidFill>
            <a:prstDash val="solid"/>
          </a:ln>
        </p:spPr>
      </p:sp>
      <p:sp>
        <p:nvSpPr>
          <p:cNvPr id="94" name="Text 92"/>
          <p:cNvSpPr/>
          <p:nvPr/>
        </p:nvSpPr>
        <p:spPr>
          <a:xfrm>
            <a:off x="3493008" y="3072384"/>
            <a:ext cx="365760" cy="182880"/>
          </a:xfrm>
          <a:prstGeom prst="rect">
            <a:avLst/>
          </a:prstGeom>
          <a:noFill/>
          <a:ln/>
        </p:spPr>
        <p:txBody>
          <a:bodyPr wrap="square" lIns="0" tIns="0" rIns="0" bIns="0" rtlCol="0" anchor="ctr"/>
          <a:lstStyle/>
          <a:p>
            <a:pPr algn="r" indent="0" marL="0">
              <a:buNone/>
            </a:pPr>
            <a:endParaRPr lang="en-US" sz="1000" dirty="0"/>
          </a:p>
        </p:txBody>
      </p:sp>
      <p:sp>
        <p:nvSpPr>
          <p:cNvPr id="95" name="Shape 93"/>
          <p:cNvSpPr/>
          <p:nvPr/>
        </p:nvSpPr>
        <p:spPr>
          <a:xfrm>
            <a:off x="3877056" y="2596896"/>
            <a:ext cx="54864" cy="91"/>
          </a:xfrm>
          <a:prstGeom prst="line">
            <a:avLst/>
          </a:prstGeom>
          <a:noFill/>
          <a:ln w="12700">
            <a:solidFill>
              <a:srgbClr val="2A1F3D"/>
            </a:solidFill>
            <a:prstDash val="solid"/>
          </a:ln>
        </p:spPr>
      </p:sp>
      <p:sp>
        <p:nvSpPr>
          <p:cNvPr id="96" name="Text 94"/>
          <p:cNvSpPr/>
          <p:nvPr/>
        </p:nvSpPr>
        <p:spPr>
          <a:xfrm>
            <a:off x="3493008" y="2505456"/>
            <a:ext cx="365760" cy="182880"/>
          </a:xfrm>
          <a:prstGeom prst="rect">
            <a:avLst/>
          </a:prstGeom>
          <a:noFill/>
          <a:ln/>
        </p:spPr>
        <p:txBody>
          <a:bodyPr wrap="square" lIns="0" tIns="0" rIns="0" bIns="0" rtlCol="0" anchor="ctr"/>
          <a:lstStyle/>
          <a:p>
            <a:pPr algn="r" indent="0" marL="0">
              <a:buNone/>
            </a:pPr>
            <a:endParaRPr lang="en-US" sz="1000" dirty="0"/>
          </a:p>
        </p:txBody>
      </p:sp>
      <p:sp>
        <p:nvSpPr>
          <p:cNvPr id="97" name="Shape 95"/>
          <p:cNvSpPr/>
          <p:nvPr/>
        </p:nvSpPr>
        <p:spPr>
          <a:xfrm>
            <a:off x="3877056" y="2029968"/>
            <a:ext cx="54864" cy="91"/>
          </a:xfrm>
          <a:prstGeom prst="line">
            <a:avLst/>
          </a:prstGeom>
          <a:noFill/>
          <a:ln w="12700">
            <a:solidFill>
              <a:srgbClr val="2A1F3D"/>
            </a:solidFill>
            <a:prstDash val="solid"/>
          </a:ln>
        </p:spPr>
      </p:sp>
      <p:sp>
        <p:nvSpPr>
          <p:cNvPr id="98" name="Text 96"/>
          <p:cNvSpPr/>
          <p:nvPr/>
        </p:nvSpPr>
        <p:spPr>
          <a:xfrm>
            <a:off x="3493008" y="1938528"/>
            <a:ext cx="365760" cy="182880"/>
          </a:xfrm>
          <a:prstGeom prst="rect">
            <a:avLst/>
          </a:prstGeom>
          <a:noFill/>
          <a:ln/>
        </p:spPr>
        <p:txBody>
          <a:bodyPr wrap="square" lIns="0" tIns="0" rIns="0" bIns="0" rtlCol="0" anchor="ctr"/>
          <a:lstStyle/>
          <a:p>
            <a:pPr algn="r" indent="0" marL="0">
              <a:buNone/>
            </a:pPr>
            <a:endParaRPr lang="en-US" sz="1000" dirty="0"/>
          </a:p>
        </p:txBody>
      </p:sp>
      <p:sp>
        <p:nvSpPr>
          <p:cNvPr id="99" name="Shape 97"/>
          <p:cNvSpPr/>
          <p:nvPr/>
        </p:nvSpPr>
        <p:spPr>
          <a:xfrm>
            <a:off x="3877056" y="1463040"/>
            <a:ext cx="54864" cy="91"/>
          </a:xfrm>
          <a:prstGeom prst="line">
            <a:avLst/>
          </a:prstGeom>
          <a:noFill/>
          <a:ln w="12700">
            <a:solidFill>
              <a:srgbClr val="2A1F3D"/>
            </a:solidFill>
            <a:prstDash val="solid"/>
          </a:ln>
        </p:spPr>
      </p:sp>
      <p:sp>
        <p:nvSpPr>
          <p:cNvPr id="100" name="Text 98"/>
          <p:cNvSpPr/>
          <p:nvPr/>
        </p:nvSpPr>
        <p:spPr>
          <a:xfrm>
            <a:off x="3493008" y="1371600"/>
            <a:ext cx="365760" cy="182880"/>
          </a:xfrm>
          <a:prstGeom prst="rect">
            <a:avLst/>
          </a:prstGeom>
          <a:noFill/>
          <a:ln/>
        </p:spPr>
        <p:txBody>
          <a:bodyPr wrap="square" lIns="0" tIns="0" rIns="0" bIns="0" rtlCol="0" anchor="ctr"/>
          <a:lstStyle/>
          <a:p>
            <a:pPr algn="r" indent="0" marL="0">
              <a:buNone/>
            </a:pPr>
            <a:endParaRPr lang="en-US" sz="1000" dirty="0"/>
          </a:p>
        </p:txBody>
      </p:sp>
      <p:sp>
        <p:nvSpPr>
          <p:cNvPr id="101" name="Text 99"/>
          <p:cNvSpPr/>
          <p:nvPr/>
        </p:nvSpPr>
        <p:spPr>
          <a:xfrm rot="16200000">
            <a:off x="1947672" y="2752344"/>
            <a:ext cx="2834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Cost / £</a:t>
            </a:r>
            <a:endParaRPr lang="en-US" sz="1050" dirty="0"/>
          </a:p>
        </p:txBody>
      </p:sp>
      <p:sp>
        <p:nvSpPr>
          <p:cNvPr id="102" name="Shape 100"/>
          <p:cNvSpPr/>
          <p:nvPr/>
        </p:nvSpPr>
        <p:spPr>
          <a:xfrm>
            <a:off x="1301496" y="1867989"/>
            <a:ext cx="384048" cy="2429691"/>
          </a:xfrm>
          <a:prstGeom prst="rect">
            <a:avLst/>
          </a:prstGeom>
          <a:solidFill>
            <a:srgbClr val="8C96A8"/>
          </a:solidFill>
          <a:ln w="9525">
            <a:solidFill>
              <a:srgbClr val="2A1F3D"/>
            </a:solidFill>
            <a:prstDash val="solid"/>
          </a:ln>
        </p:spPr>
      </p:sp>
      <p:sp>
        <p:nvSpPr>
          <p:cNvPr id="103" name="Shape 101"/>
          <p:cNvSpPr/>
          <p:nvPr/>
        </p:nvSpPr>
        <p:spPr>
          <a:xfrm>
            <a:off x="1911096" y="3082834"/>
            <a:ext cx="384048" cy="1214846"/>
          </a:xfrm>
          <a:prstGeom prst="rect">
            <a:avLst/>
          </a:prstGeom>
          <a:solidFill>
            <a:srgbClr val="8FB3D9"/>
          </a:solidFill>
          <a:ln w="9525">
            <a:solidFill>
              <a:srgbClr val="2A1F3D"/>
            </a:solidFill>
            <a:prstDash val="solid"/>
          </a:ln>
        </p:spPr>
      </p:sp>
      <p:sp>
        <p:nvSpPr>
          <p:cNvPr id="104" name="Shape 102"/>
          <p:cNvSpPr/>
          <p:nvPr/>
        </p:nvSpPr>
        <p:spPr>
          <a:xfrm>
            <a:off x="2520696" y="3325803"/>
            <a:ext cx="384048" cy="971877"/>
          </a:xfrm>
          <a:prstGeom prst="rect">
            <a:avLst/>
          </a:prstGeom>
          <a:solidFill>
            <a:srgbClr val="6A3FA0"/>
          </a:solidFill>
          <a:ln w="9525">
            <a:solidFill>
              <a:srgbClr val="2A1F3D"/>
            </a:solidFill>
            <a:prstDash val="solid"/>
          </a:ln>
        </p:spPr>
      </p:sp>
      <p:sp>
        <p:nvSpPr>
          <p:cNvPr id="105" name="Shape 103"/>
          <p:cNvSpPr/>
          <p:nvPr/>
        </p:nvSpPr>
        <p:spPr>
          <a:xfrm>
            <a:off x="4044696" y="3957523"/>
            <a:ext cx="384048" cy="340157"/>
          </a:xfrm>
          <a:prstGeom prst="rect">
            <a:avLst/>
          </a:prstGeom>
          <a:solidFill>
            <a:srgbClr val="8C96A8"/>
          </a:solidFill>
          <a:ln w="9525">
            <a:solidFill>
              <a:srgbClr val="2A1F3D"/>
            </a:solidFill>
            <a:prstDash val="solid"/>
          </a:ln>
        </p:spPr>
      </p:sp>
      <p:sp>
        <p:nvSpPr>
          <p:cNvPr id="106" name="Shape 104"/>
          <p:cNvSpPr/>
          <p:nvPr/>
        </p:nvSpPr>
        <p:spPr>
          <a:xfrm>
            <a:off x="4654296" y="3787445"/>
            <a:ext cx="384048" cy="510235"/>
          </a:xfrm>
          <a:prstGeom prst="rect">
            <a:avLst/>
          </a:prstGeom>
          <a:solidFill>
            <a:srgbClr val="8FB3D9"/>
          </a:solidFill>
          <a:ln w="9525">
            <a:solidFill>
              <a:srgbClr val="2A1F3D"/>
            </a:solidFill>
            <a:prstDash val="solid"/>
          </a:ln>
        </p:spPr>
      </p:sp>
      <p:sp>
        <p:nvSpPr>
          <p:cNvPr id="107" name="Shape 105"/>
          <p:cNvSpPr/>
          <p:nvPr/>
        </p:nvSpPr>
        <p:spPr>
          <a:xfrm>
            <a:off x="5263896" y="1576426"/>
            <a:ext cx="384048" cy="2721254"/>
          </a:xfrm>
          <a:prstGeom prst="rect">
            <a:avLst/>
          </a:prstGeom>
          <a:solidFill>
            <a:srgbClr val="6A3FA0"/>
          </a:solidFill>
          <a:ln w="9525">
            <a:solidFill>
              <a:srgbClr val="2A1F3D"/>
            </a:solidFill>
            <a:prstDash val="solid"/>
          </a:ln>
        </p:spPr>
      </p:sp>
      <p:sp>
        <p:nvSpPr>
          <p:cNvPr id="108" name="Text 106"/>
          <p:cNvSpPr/>
          <p:nvPr/>
        </p:nvSpPr>
        <p:spPr>
          <a:xfrm>
            <a:off x="1200912" y="435254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Steel</a:t>
            </a:r>
            <a:endParaRPr lang="en-US" sz="1000" dirty="0"/>
          </a:p>
        </p:txBody>
      </p:sp>
      <p:sp>
        <p:nvSpPr>
          <p:cNvPr id="109" name="Text 107"/>
          <p:cNvSpPr/>
          <p:nvPr/>
        </p:nvSpPr>
        <p:spPr>
          <a:xfrm>
            <a:off x="3944112" y="435254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Steel</a:t>
            </a:r>
            <a:endParaRPr lang="en-US" sz="1000" dirty="0"/>
          </a:p>
        </p:txBody>
      </p:sp>
      <p:sp>
        <p:nvSpPr>
          <p:cNvPr id="110" name="Text 108"/>
          <p:cNvSpPr/>
          <p:nvPr/>
        </p:nvSpPr>
        <p:spPr>
          <a:xfrm>
            <a:off x="1810512" y="435254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Al</a:t>
            </a:r>
            <a:endParaRPr lang="en-US" sz="1000" dirty="0"/>
          </a:p>
        </p:txBody>
      </p:sp>
      <p:sp>
        <p:nvSpPr>
          <p:cNvPr id="111" name="Text 109"/>
          <p:cNvSpPr/>
          <p:nvPr/>
        </p:nvSpPr>
        <p:spPr>
          <a:xfrm>
            <a:off x="4553712" y="435254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Al</a:t>
            </a:r>
            <a:endParaRPr lang="en-US" sz="1000" dirty="0"/>
          </a:p>
        </p:txBody>
      </p:sp>
      <p:sp>
        <p:nvSpPr>
          <p:cNvPr id="112" name="Text 110"/>
          <p:cNvSpPr/>
          <p:nvPr/>
        </p:nvSpPr>
        <p:spPr>
          <a:xfrm>
            <a:off x="2420112" y="435254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CFRP</a:t>
            </a:r>
            <a:endParaRPr lang="en-US" sz="1000" dirty="0"/>
          </a:p>
        </p:txBody>
      </p:sp>
      <p:sp>
        <p:nvSpPr>
          <p:cNvPr id="113" name="Text 111"/>
          <p:cNvSpPr/>
          <p:nvPr/>
        </p:nvSpPr>
        <p:spPr>
          <a:xfrm>
            <a:off x="5163312" y="4352544"/>
            <a:ext cx="585216"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CFRP</a:t>
            </a:r>
            <a:endParaRPr lang="en-US" sz="1000" dirty="0"/>
          </a:p>
        </p:txBody>
      </p:sp>
      <p:sp>
        <p:nvSpPr>
          <p:cNvPr id="114" name="Text 112"/>
          <p:cNvSpPr/>
          <p:nvPr/>
        </p:nvSpPr>
        <p:spPr>
          <a:xfrm>
            <a:off x="1219200" y="1666821"/>
            <a:ext cx="54864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12</a:t>
            </a:r>
            <a:endParaRPr lang="en-US" sz="1000" dirty="0"/>
          </a:p>
        </p:txBody>
      </p:sp>
      <p:sp>
        <p:nvSpPr>
          <p:cNvPr id="115" name="Text 113"/>
          <p:cNvSpPr/>
          <p:nvPr/>
        </p:nvSpPr>
        <p:spPr>
          <a:xfrm>
            <a:off x="1828800" y="2881666"/>
            <a:ext cx="54864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6</a:t>
            </a:r>
            <a:endParaRPr lang="en-US" sz="1000" dirty="0"/>
          </a:p>
        </p:txBody>
      </p:sp>
      <p:sp>
        <p:nvSpPr>
          <p:cNvPr id="116" name="Text 114"/>
          <p:cNvSpPr/>
          <p:nvPr/>
        </p:nvSpPr>
        <p:spPr>
          <a:xfrm>
            <a:off x="2438400" y="3124635"/>
            <a:ext cx="54864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4.8</a:t>
            </a:r>
            <a:endParaRPr lang="en-US" sz="1000" dirty="0"/>
          </a:p>
        </p:txBody>
      </p:sp>
      <p:sp>
        <p:nvSpPr>
          <p:cNvPr id="117" name="Text 115"/>
          <p:cNvSpPr/>
          <p:nvPr/>
        </p:nvSpPr>
        <p:spPr>
          <a:xfrm>
            <a:off x="3962400" y="3756355"/>
            <a:ext cx="54864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£12</a:t>
            </a:r>
            <a:endParaRPr lang="en-US" sz="1000" dirty="0"/>
          </a:p>
        </p:txBody>
      </p:sp>
      <p:sp>
        <p:nvSpPr>
          <p:cNvPr id="118" name="Text 116"/>
          <p:cNvSpPr/>
          <p:nvPr/>
        </p:nvSpPr>
        <p:spPr>
          <a:xfrm>
            <a:off x="4572000" y="3586277"/>
            <a:ext cx="54864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£18</a:t>
            </a:r>
            <a:endParaRPr lang="en-US" sz="1000" dirty="0"/>
          </a:p>
        </p:txBody>
      </p:sp>
      <p:sp>
        <p:nvSpPr>
          <p:cNvPr id="119" name="Text 117"/>
          <p:cNvSpPr/>
          <p:nvPr/>
        </p:nvSpPr>
        <p:spPr>
          <a:xfrm>
            <a:off x="5181600" y="1375258"/>
            <a:ext cx="548640"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£96</a:t>
            </a:r>
            <a:endParaRPr lang="en-US" sz="1000" dirty="0"/>
          </a:p>
        </p:txBody>
      </p:sp>
      <p:sp>
        <p:nvSpPr>
          <p:cNvPr id="120" name="Text 118"/>
          <p:cNvSpPr/>
          <p:nvPr/>
        </p:nvSpPr>
        <p:spPr>
          <a:xfrm>
            <a:off x="640080" y="1207008"/>
            <a:ext cx="265176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Panel mass</a:t>
            </a:r>
            <a:endParaRPr lang="en-US" sz="1050" dirty="0"/>
          </a:p>
        </p:txBody>
      </p:sp>
      <p:sp>
        <p:nvSpPr>
          <p:cNvPr id="121" name="Text 119"/>
          <p:cNvSpPr/>
          <p:nvPr/>
        </p:nvSpPr>
        <p:spPr>
          <a:xfrm>
            <a:off x="3383280" y="1207008"/>
            <a:ext cx="265176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Material cost</a:t>
            </a:r>
            <a:endParaRPr lang="en-US" sz="1050" dirty="0"/>
          </a:p>
        </p:txBody>
      </p:sp>
      <p:sp>
        <p:nvSpPr>
          <p:cNvPr id="122" name="Text 120"/>
          <p:cNvSpPr/>
          <p:nvPr/>
        </p:nvSpPr>
        <p:spPr>
          <a:xfrm>
            <a:off x="640080" y="4663440"/>
            <a:ext cx="512064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Each panel has the same stiffness. Lighter panels → less fuel or longer battery range.</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097280"/>
                <a:gridCol w="868680"/>
                <a:gridCol w="777240"/>
                <a:gridCol w="2816352"/>
              </a:tblGrid>
              <a:tr h="31089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Panel</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Mass / kg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 per kg</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Other points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31089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Steel</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cheap, easy to press and repair; can rust</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31089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Aluminium</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does not rust; harder to weld</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31089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CFRP</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lightest; slow to make; hard to repair</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124" name="Shape 121"/>
          <p:cNvSpPr/>
          <p:nvPr/>
        </p:nvSpPr>
        <p:spPr>
          <a:xfrm>
            <a:off x="6217920" y="2606040"/>
            <a:ext cx="5559552" cy="1554480"/>
          </a:xfrm>
          <a:prstGeom prst="roundRect">
            <a:avLst>
              <a:gd name="adj" fmla="val 3529"/>
            </a:avLst>
          </a:prstGeom>
          <a:solidFill>
            <a:srgbClr val="FFF4E0"/>
          </a:solidFill>
          <a:ln w="9525">
            <a:solidFill>
              <a:srgbClr val="F1D9A8"/>
            </a:solidFill>
            <a:prstDash val="solid"/>
          </a:ln>
        </p:spPr>
      </p:sp>
      <p:sp>
        <p:nvSpPr>
          <p:cNvPr id="125" name="Text 122"/>
          <p:cNvSpPr/>
          <p:nvPr/>
        </p:nvSpPr>
        <p:spPr>
          <a:xfrm>
            <a:off x="6382512" y="267919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mass saved</a:t>
            </a:r>
            <a:endParaRPr lang="en-US" sz="1300" dirty="0"/>
          </a:p>
        </p:txBody>
      </p:sp>
      <p:sp>
        <p:nvSpPr>
          <p:cNvPr id="126" name="Text 123"/>
          <p:cNvSpPr/>
          <p:nvPr/>
        </p:nvSpPr>
        <p:spPr>
          <a:xfrm>
            <a:off x="6382512" y="2990088"/>
            <a:ext cx="5230368" cy="10972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Replace the 12.0 kg steel panel with a 4.8 kg CFRP panel.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Saved   </a:t>
            </a:r>
            <a:r>
              <a:rPr lang="en-US" sz="1050" dirty="0">
                <a:solidFill>
                  <a:srgbClr val="262B3A"/>
                </a:solidFill>
                <a:latin typeface="Calibri" pitchFamily="34" charset="0"/>
                <a:ea typeface="Calibri" pitchFamily="34" charset="-122"/>
                <a:cs typeface="Calibri" pitchFamily="34" charset="-120"/>
              </a:rPr>
              <a:t>12.0 − 4.8 = 7.2 kg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7.2 ÷ 12.0 × 100 = </a:t>
            </a:r>
            <a:r>
              <a:rPr lang="en-US" sz="1050" b="1" dirty="0">
                <a:solidFill>
                  <a:srgbClr val="C8414C"/>
                </a:solidFill>
                <a:latin typeface="Calibri" pitchFamily="34" charset="0"/>
                <a:ea typeface="Calibri" pitchFamily="34" charset="-122"/>
                <a:cs typeface="Calibri" pitchFamily="34" charset="-120"/>
              </a:rPr>
              <a:t>60%</a:t>
            </a:r>
            <a:r>
              <a:rPr lang="en-US" sz="1050" b="1" dirty="0">
                <a:solidFill>
                  <a:srgbClr val="C8414C"/>
                </a:solidFill>
                <a:latin typeface="Calibri" pitchFamily="34" charset="0"/>
                <a:ea typeface="Calibri" pitchFamily="34" charset="-122"/>
                <a:cs typeface="Calibri" pitchFamily="34" charset="-120"/>
              </a:rPr>
              <a:t> lighter, but costs £96 not £12</a:t>
            </a:r>
            <a:endParaRPr lang="en-US" sz="1050" dirty="0"/>
          </a:p>
        </p:txBody>
      </p:sp>
      <p:sp>
        <p:nvSpPr>
          <p:cNvPr id="127" name="Shape 124"/>
          <p:cNvSpPr/>
          <p:nvPr/>
        </p:nvSpPr>
        <p:spPr>
          <a:xfrm>
            <a:off x="6217920" y="4297680"/>
            <a:ext cx="5559552" cy="1417320"/>
          </a:xfrm>
          <a:prstGeom prst="roundRect">
            <a:avLst>
              <a:gd name="adj" fmla="val 3871"/>
            </a:avLst>
          </a:prstGeom>
          <a:solidFill>
            <a:srgbClr val="F8F5FC"/>
          </a:solidFill>
          <a:ln w="9525">
            <a:solidFill>
              <a:srgbClr val="DDD3EC"/>
            </a:solidFill>
            <a:prstDash val="solid"/>
          </a:ln>
        </p:spPr>
      </p:sp>
      <p:sp>
        <p:nvSpPr>
          <p:cNvPr id="128" name="Text 125"/>
          <p:cNvSpPr/>
          <p:nvPr/>
        </p:nvSpPr>
        <p:spPr>
          <a:xfrm>
            <a:off x="6382512" y="438912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Making a judgement</a:t>
            </a:r>
            <a:endParaRPr lang="en-US" sz="1300" dirty="0"/>
          </a:p>
        </p:txBody>
      </p:sp>
      <p:sp>
        <p:nvSpPr>
          <p:cNvPr id="129" name="Text 126"/>
          <p:cNvSpPr/>
          <p:nvPr/>
        </p:nvSpPr>
        <p:spPr>
          <a:xfrm>
            <a:off x="6382512" y="4718304"/>
            <a:ext cx="5230368" cy="9235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Family car: </a:t>
            </a:r>
            <a:r>
              <a:rPr lang="en-US" sz="1050" b="1" dirty="0">
                <a:solidFill>
                  <a:srgbClr val="262B3A"/>
                </a:solidFill>
                <a:latin typeface="Calibri" pitchFamily="34" charset="0"/>
                <a:ea typeface="Calibri" pitchFamily="34" charset="-122"/>
                <a:cs typeface="Calibri" pitchFamily="34" charset="-120"/>
              </a:rPr>
              <a:t>steel</a:t>
            </a:r>
            <a:r>
              <a:rPr lang="en-US" sz="1050" dirty="0">
                <a:solidFill>
                  <a:srgbClr val="262B3A"/>
                </a:solidFill>
                <a:latin typeface="Calibri" pitchFamily="34" charset="0"/>
                <a:ea typeface="Calibri" pitchFamily="34" charset="-122"/>
                <a:cs typeface="Calibri" pitchFamily="34" charset="-120"/>
              </a:rPr>
              <a:t> or </a:t>
            </a:r>
            <a:r>
              <a:rPr lang="en-US" sz="1050" b="1" dirty="0">
                <a:solidFill>
                  <a:srgbClr val="262B3A"/>
                </a:solidFill>
                <a:latin typeface="Calibri" pitchFamily="34" charset="0"/>
                <a:ea typeface="Calibri" pitchFamily="34" charset="-122"/>
                <a:cs typeface="Calibri" pitchFamily="34" charset="-120"/>
              </a:rPr>
              <a:t>aluminium</a:t>
            </a:r>
            <a:r>
              <a:rPr lang="en-US" sz="1050" dirty="0">
                <a:solidFill>
                  <a:srgbClr val="262B3A"/>
                </a:solidFill>
                <a:latin typeface="Calibri" pitchFamily="34" charset="0"/>
                <a:ea typeface="Calibri" pitchFamily="34" charset="-122"/>
                <a:cs typeface="Calibri" pitchFamily="34" charset="-120"/>
              </a:rPr>
              <a:t> (cost matters). Sports car: </a:t>
            </a:r>
            <a:r>
              <a:rPr lang="en-US" sz="1050" b="1" dirty="0">
                <a:solidFill>
                  <a:srgbClr val="262B3A"/>
                </a:solidFill>
                <a:latin typeface="Calibri" pitchFamily="34" charset="0"/>
                <a:ea typeface="Calibri" pitchFamily="34" charset="-122"/>
                <a:cs typeface="Calibri" pitchFamily="34" charset="-120"/>
              </a:rPr>
              <a:t>CFRP</a:t>
            </a:r>
            <a:r>
              <a:rPr lang="en-US" sz="1050" dirty="0">
                <a:solidFill>
                  <a:srgbClr val="262B3A"/>
                </a:solidFill>
                <a:latin typeface="Calibri" pitchFamily="34" charset="0"/>
                <a:ea typeface="Calibri" pitchFamily="34" charset="-122"/>
                <a:cs typeface="Calibri" pitchFamily="34" charset="-120"/>
              </a:rPr>
              <a:t> (mass matters most).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full judgement also looks at energy and waste over the product's whole life: </a:t>
            </a:r>
            <a:r>
              <a:rPr lang="en-US" sz="1050" b="1" dirty="0">
                <a:solidFill>
                  <a:srgbClr val="262B3A"/>
                </a:solidFill>
                <a:latin typeface="Calibri" pitchFamily="34" charset="0"/>
                <a:ea typeface="Calibri" pitchFamily="34" charset="-122"/>
                <a:cs typeface="Calibri" pitchFamily="34" charset="-120"/>
              </a:rPr>
              <a:t>life-cycle assessment</a:t>
            </a:r>
            <a:r>
              <a:rPr lang="en-US" sz="1050" dirty="0">
                <a:solidFill>
                  <a:srgbClr val="262B3A"/>
                </a:solidFill>
                <a:latin typeface="Calibri" pitchFamily="34" charset="0"/>
                <a:ea typeface="Calibri" pitchFamily="34" charset="-122"/>
                <a:cs typeface="Calibri" pitchFamily="34" charset="-120"/>
              </a:rPr>
              <a:t> (C4.4).</a:t>
            </a:r>
            <a:endParaRPr lang="en-US" sz="1050" dirty="0"/>
          </a:p>
        </p:txBody>
      </p:sp>
      <p:sp>
        <p:nvSpPr>
          <p:cNvPr id="130" name="Shape 127"/>
          <p:cNvSpPr/>
          <p:nvPr/>
        </p:nvSpPr>
        <p:spPr>
          <a:xfrm>
            <a:off x="411480" y="5833872"/>
            <a:ext cx="11368735" cy="530352"/>
          </a:xfrm>
          <a:prstGeom prst="rect">
            <a:avLst/>
          </a:prstGeom>
          <a:solidFill>
            <a:srgbClr val="FFF4E0"/>
          </a:solidFill>
          <a:ln w="6350">
            <a:solidFill>
              <a:srgbClr val="F1D9A8"/>
            </a:solidFill>
            <a:prstDash val="solid"/>
          </a:ln>
        </p:spPr>
      </p:sp>
      <p:sp>
        <p:nvSpPr>
          <p:cNvPr id="131" name="Shape 128"/>
          <p:cNvSpPr/>
          <p:nvPr/>
        </p:nvSpPr>
        <p:spPr>
          <a:xfrm>
            <a:off x="411480" y="5833872"/>
            <a:ext cx="82296" cy="530352"/>
          </a:xfrm>
          <a:prstGeom prst="rect">
            <a:avLst/>
          </a:prstGeom>
          <a:solidFill>
            <a:srgbClr val="E39A2F"/>
          </a:solidFill>
          <a:ln w="12700">
            <a:solidFill>
              <a:srgbClr val="E39A2F"/>
            </a:solidFill>
            <a:prstDash val="solid"/>
          </a:ln>
        </p:spPr>
      </p:sp>
      <p:sp>
        <p:nvSpPr>
          <p:cNvPr id="132" name="Text 1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extra cost per kg of mass saved for </a:t>
            </a:r>
            <a:r>
              <a:rPr lang="en-US" sz="1150" b="1" dirty="0">
                <a:solidFill>
                  <a:srgbClr val="262B3A"/>
                </a:solidFill>
                <a:latin typeface="Calibri" pitchFamily="34" charset="0"/>
                <a:ea typeface="Calibri" pitchFamily="34" charset="-122"/>
                <a:cs typeface="Calibri" pitchFamily="34" charset="-120"/>
              </a:rPr>
              <a:t>aluminium</a:t>
            </a:r>
            <a:r>
              <a:rPr lang="en-US" sz="1150" dirty="0">
                <a:solidFill>
                  <a:srgbClr val="262B3A"/>
                </a:solidFill>
                <a:latin typeface="Calibri" pitchFamily="34" charset="0"/>
                <a:ea typeface="Calibri" pitchFamily="34" charset="-122"/>
                <a:cs typeface="Calibri" pitchFamily="34" charset="-120"/>
              </a:rPr>
              <a:t> compared with steel. Which panel would you choose for a </a:t>
            </a:r>
            <a:r>
              <a:rPr lang="en-US" sz="1150" b="1" dirty="0">
                <a:solidFill>
                  <a:srgbClr val="262B3A"/>
                </a:solidFill>
                <a:latin typeface="Calibri" pitchFamily="34" charset="0"/>
                <a:ea typeface="Calibri" pitchFamily="34" charset="-122"/>
                <a:cs typeface="Calibri" pitchFamily="34" charset="-120"/>
              </a:rPr>
              <a:t>taxi</a:t>
            </a:r>
            <a:r>
              <a:rPr lang="en-US" sz="1150" dirty="0">
                <a:solidFill>
                  <a:srgbClr val="262B3A"/>
                </a:solidFill>
                <a:latin typeface="Calibri" pitchFamily="34" charset="0"/>
                <a:ea typeface="Calibri" pitchFamily="34" charset="-122"/>
                <a:cs typeface="Calibri" pitchFamily="34" charset="-120"/>
              </a:rPr>
              <a:t>? Why?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C4.1.2 • evaluating material choices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19</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20 kg</a:t>
            </a:r>
            <a:r>
              <a:rPr lang="en-US" sz="1250" dirty="0">
                <a:solidFill>
                  <a:srgbClr val="262B3A"/>
                </a:solidFill>
                <a:latin typeface="Calibri" pitchFamily="34" charset="0"/>
                <a:ea typeface="Calibri" pitchFamily="34" charset="-122"/>
                <a:cs typeface="Calibri" pitchFamily="34" charset="-120"/>
              </a:rPr>
              <a:t> steel bonnet is replaced with a </a:t>
            </a:r>
            <a:r>
              <a:rPr lang="en-US" sz="1250" b="1" dirty="0">
                <a:solidFill>
                  <a:srgbClr val="262B3A"/>
                </a:solidFill>
                <a:latin typeface="Calibri" pitchFamily="34" charset="0"/>
                <a:ea typeface="Calibri" pitchFamily="34" charset="-122"/>
                <a:cs typeface="Calibri" pitchFamily="34" charset="-120"/>
              </a:rPr>
              <a:t>14 kg</a:t>
            </a:r>
            <a:r>
              <a:rPr lang="en-US" sz="1250" dirty="0">
                <a:solidFill>
                  <a:srgbClr val="262B3A"/>
                </a:solidFill>
                <a:latin typeface="Calibri" pitchFamily="34" charset="0"/>
                <a:ea typeface="Calibri" pitchFamily="34" charset="-122"/>
                <a:cs typeface="Calibri" pitchFamily="34" charset="-120"/>
              </a:rPr>
              <a:t> aluminium one. Calculate the percentage mass saved.</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advantage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disadvantage of CFRP compared with steel for car panels.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why </a:t>
            </a:r>
            <a:r>
              <a:rPr lang="en-US" sz="1250" b="1" dirty="0">
                <a:solidFill>
                  <a:srgbClr val="262B3A"/>
                </a:solidFill>
                <a:latin typeface="Calibri" pitchFamily="34" charset="0"/>
                <a:ea typeface="Calibri" pitchFamily="34" charset="-122"/>
                <a:cs typeface="Calibri" pitchFamily="34" charset="-120"/>
              </a:rPr>
              <a:t>aluminium alloy</a:t>
            </a:r>
            <a:r>
              <a:rPr lang="en-US" sz="1250" dirty="0">
                <a:solidFill>
                  <a:srgbClr val="262B3A"/>
                </a:solidFill>
                <a:latin typeface="Calibri" pitchFamily="34" charset="0"/>
                <a:ea typeface="Calibri" pitchFamily="34" charset="-122"/>
                <a:cs typeface="Calibri" pitchFamily="34" charset="-120"/>
              </a:rPr>
              <a:t>, not pure aluminium, is used for aircraft bodies.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there is rarely a </a:t>
            </a:r>
            <a:r>
              <a:rPr lang="en-US" sz="1250" b="1" dirty="0">
                <a:solidFill>
                  <a:srgbClr val="262B3A"/>
                </a:solidFill>
                <a:latin typeface="Calibri" pitchFamily="34" charset="0"/>
                <a:ea typeface="Calibri" pitchFamily="34" charset="-122"/>
                <a:cs typeface="Calibri" pitchFamily="34" charset="-120"/>
              </a:rPr>
              <a:t>perfect</a:t>
            </a:r>
            <a:r>
              <a:rPr lang="en-US" sz="1250" dirty="0">
                <a:solidFill>
                  <a:srgbClr val="262B3A"/>
                </a:solidFill>
                <a:latin typeface="Calibri" pitchFamily="34" charset="0"/>
                <a:ea typeface="Calibri" pitchFamily="34" charset="-122"/>
                <a:cs typeface="Calibri" pitchFamily="34" charset="-120"/>
              </a:rPr>
              <a:t> material for a product.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C4.1 How is data used to choose a material for a particular use?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20</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Ceramic</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Hard, brittle, heat-resistant material such as glass, brick or pottery.</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Polymer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Material made of very long chain molecules, e.g. poly(ethene).</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Composite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Two or more materials combined, e.g. carbon fibres in resin.</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Alloy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mixture of a metal with other elements, e.g. steel.</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Steel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Alloy of iron with a small amount of carbon (and sometimes other metals).</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Stainless steel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Iron with chromium and nickel: does not rust.</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Density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Mass per unit volume: density = mass ÷ volume (g/cm³).</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Tensile strength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Force per unit area needed to break a material by pulling it.</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Compression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squashing force; concrete and brick are strong in compression.</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Stiffness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hard it is to bend or stretch a material. Opposite: flexible.</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Hardness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hard it is to scratch or dent the surface.</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Brittle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Breaks suddenly without bending first, e.g. glass.</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Softening temperature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Temperature at which a polymer becomes soft and can be reshaped.</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Conductor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Lets electricity (or heat) pass through easily, e.g. copper.</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Specification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list of what a product (and its material) must do.</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Displacement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Finding volume from the rise in water level when an object is submerged.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C4.1.1–C4.1.3 • answer every part • 13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21</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company is choosing a material for a </a:t>
            </a:r>
            <a:r>
              <a:rPr lang="en-US" sz="1200" b="1" i="1" dirty="0">
                <a:solidFill>
                  <a:srgbClr val="262B3A"/>
                </a:solidFill>
                <a:latin typeface="Calibri" pitchFamily="34" charset="0"/>
                <a:ea typeface="Calibri" pitchFamily="34" charset="-122"/>
                <a:cs typeface="Calibri" pitchFamily="34" charset="-120"/>
              </a:rPr>
              <a:t>ladder</a:t>
            </a:r>
            <a:r>
              <a:rPr lang="en-US" sz="1200" i="1" dirty="0">
                <a:solidFill>
                  <a:srgbClr val="262B3A"/>
                </a:solidFill>
                <a:latin typeface="Calibri" pitchFamily="34" charset="0"/>
                <a:ea typeface="Calibri" pitchFamily="34" charset="-122"/>
                <a:cs typeface="Calibri" pitchFamily="34" charset="-120"/>
              </a:rPr>
              <a:t>. Each ladder uses </a:t>
            </a:r>
            <a:r>
              <a:rPr lang="en-US" sz="1200" b="1" i="1" dirty="0">
                <a:solidFill>
                  <a:srgbClr val="262B3A"/>
                </a:solidFill>
                <a:latin typeface="Calibri" pitchFamily="34" charset="0"/>
                <a:ea typeface="Calibri" pitchFamily="34" charset="-122"/>
                <a:cs typeface="Calibri" pitchFamily="34" charset="-120"/>
              </a:rPr>
              <a:t>250 cm³</a:t>
            </a:r>
            <a:r>
              <a:rPr lang="en-US" sz="1200" i="1" dirty="0">
                <a:solidFill>
                  <a:srgbClr val="262B3A"/>
                </a:solidFill>
                <a:latin typeface="Calibri" pitchFamily="34" charset="0"/>
                <a:ea typeface="Calibri" pitchFamily="34" charset="-122"/>
                <a:cs typeface="Calibri" pitchFamily="34" charset="-120"/>
              </a:rPr>
              <a:t> of material. Data: aluminium alloy density </a:t>
            </a:r>
            <a:r>
              <a:rPr lang="en-US" sz="1200" b="1" i="1" dirty="0">
                <a:solidFill>
                  <a:srgbClr val="262B3A"/>
                </a:solidFill>
                <a:latin typeface="Calibri" pitchFamily="34" charset="0"/>
                <a:ea typeface="Calibri" pitchFamily="34" charset="-122"/>
                <a:cs typeface="Calibri" pitchFamily="34" charset="-120"/>
              </a:rPr>
              <a:t>2.7 g/cm³</a:t>
            </a:r>
            <a:r>
              <a:rPr lang="en-US" sz="1200" i="1" dirty="0">
                <a:solidFill>
                  <a:srgbClr val="262B3A"/>
                </a:solidFill>
                <a:latin typeface="Calibri" pitchFamily="34" charset="0"/>
                <a:ea typeface="Calibri" pitchFamily="34" charset="-122"/>
                <a:cs typeface="Calibri" pitchFamily="34" charset="-120"/>
              </a:rPr>
              <a:t>; steel density </a:t>
            </a:r>
            <a:r>
              <a:rPr lang="en-US" sz="1200" b="1" i="1" dirty="0">
                <a:solidFill>
                  <a:srgbClr val="262B3A"/>
                </a:solidFill>
                <a:latin typeface="Calibri" pitchFamily="34" charset="0"/>
                <a:ea typeface="Calibri" pitchFamily="34" charset="-122"/>
                <a:cs typeface="Calibri" pitchFamily="34" charset="-120"/>
              </a:rPr>
              <a:t>7.8 g/cm³</a:t>
            </a:r>
            <a:r>
              <a:rPr lang="en-US" sz="1200" i="1" dirty="0">
                <a:solidFill>
                  <a:srgbClr val="262B3A"/>
                </a:solidFill>
                <a:latin typeface="Calibri" pitchFamily="34" charset="0"/>
                <a:ea typeface="Calibri" pitchFamily="34" charset="-122"/>
                <a:cs typeface="Calibri" pitchFamily="34" charset="-120"/>
              </a:rPr>
              <a:t>; GRP is an electrical </a:t>
            </a:r>
            <a:r>
              <a:rPr lang="en-US" sz="1200" b="1" i="1" dirty="0">
                <a:solidFill>
                  <a:srgbClr val="262B3A"/>
                </a:solidFill>
                <a:latin typeface="Calibri" pitchFamily="34" charset="0"/>
                <a:ea typeface="Calibri" pitchFamily="34" charset="-122"/>
                <a:cs typeface="Calibri" pitchFamily="34" charset="-120"/>
              </a:rPr>
              <a:t>insulator</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253656"/>
          </a:xfrm>
          <a:prstGeom prst="roundRect">
            <a:avLst>
              <a:gd name="adj" fmla="val 3647"/>
            </a:avLst>
          </a:prstGeom>
          <a:solidFill>
            <a:srgbClr val="F8F5FC"/>
          </a:solidFill>
          <a:ln w="9525">
            <a:solidFill>
              <a:srgbClr val="DDD3EC"/>
            </a:solidFill>
            <a:prstDash val="solid"/>
          </a:ln>
        </p:spPr>
      </p:sp>
      <p:sp>
        <p:nvSpPr>
          <p:cNvPr id="10" name="Text 8"/>
          <p:cNvSpPr/>
          <p:nvPr/>
        </p:nvSpPr>
        <p:spPr>
          <a:xfrm>
            <a:off x="548640" y="1792224"/>
            <a:ext cx="5295748" cy="88789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Calculate the mass of the aluminium alloy ladder.</a:t>
            </a:r>
            <a:endParaRPr lang="en-US" sz="1200" dirty="0"/>
          </a:p>
        </p:txBody>
      </p:sp>
      <p:sp>
        <p:nvSpPr>
          <p:cNvPr id="11" name="Text 9"/>
          <p:cNvSpPr/>
          <p:nvPr/>
        </p:nvSpPr>
        <p:spPr>
          <a:xfrm>
            <a:off x="4518508" y="266183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082456"/>
            <a:ext cx="5570068" cy="1441704"/>
          </a:xfrm>
          <a:prstGeom prst="roundRect">
            <a:avLst>
              <a:gd name="adj" fmla="val 3171"/>
            </a:avLst>
          </a:prstGeom>
          <a:solidFill>
            <a:srgbClr val="FFFFFF"/>
          </a:solidFill>
          <a:ln w="9525">
            <a:solidFill>
              <a:srgbClr val="DDD3EC"/>
            </a:solidFill>
            <a:prstDash val="solid"/>
          </a:ln>
        </p:spPr>
      </p:sp>
      <p:sp>
        <p:nvSpPr>
          <p:cNvPr id="13" name="Text 11"/>
          <p:cNvSpPr/>
          <p:nvPr/>
        </p:nvSpPr>
        <p:spPr>
          <a:xfrm>
            <a:off x="548640" y="3155608"/>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The steel ladder has a mass of </a:t>
            </a:r>
            <a:r>
              <a:rPr lang="en-US" sz="1200" b="1" dirty="0">
                <a:solidFill>
                  <a:srgbClr val="262B3A"/>
                </a:solidFill>
                <a:latin typeface="Calibri" pitchFamily="34" charset="0"/>
                <a:ea typeface="Calibri" pitchFamily="34" charset="-122"/>
                <a:cs typeface="Calibri" pitchFamily="34" charset="-120"/>
              </a:rPr>
              <a:t>1950 g</a:t>
            </a:r>
            <a:r>
              <a:rPr lang="en-US" sz="1200" dirty="0">
                <a:solidFill>
                  <a:srgbClr val="262B3A"/>
                </a:solidFill>
                <a:latin typeface="Calibri" pitchFamily="34" charset="0"/>
                <a:ea typeface="Calibri" pitchFamily="34" charset="-122"/>
                <a:cs typeface="Calibri" pitchFamily="34" charset="-120"/>
              </a:rPr>
              <a:t>. Calculate how much lighter (as a percentage) the aluminium ladder is. (2 s.f.)</a:t>
            </a:r>
            <a:endParaRPr lang="en-US" sz="1200" dirty="0"/>
          </a:p>
        </p:txBody>
      </p:sp>
      <p:sp>
        <p:nvSpPr>
          <p:cNvPr id="14" name="Text 12"/>
          <p:cNvSpPr/>
          <p:nvPr/>
        </p:nvSpPr>
        <p:spPr>
          <a:xfrm>
            <a:off x="4518508" y="421326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633888"/>
            <a:ext cx="5570068" cy="1629752"/>
          </a:xfrm>
          <a:prstGeom prst="roundRect">
            <a:avLst>
              <a:gd name="adj" fmla="val 2805"/>
            </a:avLst>
          </a:prstGeom>
          <a:solidFill>
            <a:srgbClr val="F8F5FC"/>
          </a:solidFill>
          <a:ln w="9525">
            <a:solidFill>
              <a:srgbClr val="DDD3EC"/>
            </a:solidFill>
            <a:prstDash val="solid"/>
          </a:ln>
        </p:spPr>
      </p:sp>
      <p:sp>
        <p:nvSpPr>
          <p:cNvPr id="16" name="Text 14"/>
          <p:cNvSpPr/>
          <p:nvPr/>
        </p:nvSpPr>
        <p:spPr>
          <a:xfrm>
            <a:off x="548640" y="4707040"/>
            <a:ext cx="5295748" cy="1263992"/>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Describe how you could measure the </a:t>
            </a:r>
            <a:r>
              <a:rPr lang="en-US" sz="1200" b="1" dirty="0">
                <a:solidFill>
                  <a:srgbClr val="262B3A"/>
                </a:solidFill>
                <a:latin typeface="Calibri" pitchFamily="34" charset="0"/>
                <a:ea typeface="Calibri" pitchFamily="34" charset="-122"/>
                <a:cs typeface="Calibri" pitchFamily="34" charset="-120"/>
              </a:rPr>
              <a:t>density</a:t>
            </a:r>
            <a:r>
              <a:rPr lang="en-US" sz="1200" dirty="0">
                <a:solidFill>
                  <a:srgbClr val="262B3A"/>
                </a:solidFill>
                <a:latin typeface="Calibri" pitchFamily="34" charset="0"/>
                <a:ea typeface="Calibri" pitchFamily="34" charset="-122"/>
                <a:cs typeface="Calibri" pitchFamily="34" charset="-120"/>
              </a:rPr>
              <a:t> of a small piece of the alloy in the lab.</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719072"/>
            <a:ext cx="5570068" cy="1441704"/>
          </a:xfrm>
          <a:prstGeom prst="roundRect">
            <a:avLst>
              <a:gd name="adj" fmla="val 3171"/>
            </a:avLst>
          </a:prstGeom>
          <a:solidFill>
            <a:srgbClr val="F8F5FC"/>
          </a:solidFill>
          <a:ln w="9525">
            <a:solidFill>
              <a:srgbClr val="DDD3EC"/>
            </a:solidFill>
            <a:prstDash val="solid"/>
          </a:ln>
        </p:spPr>
      </p:sp>
      <p:sp>
        <p:nvSpPr>
          <p:cNvPr id="19" name="Text 17"/>
          <p:cNvSpPr/>
          <p:nvPr/>
        </p:nvSpPr>
        <p:spPr>
          <a:xfrm>
            <a:off x="6347308" y="1792224"/>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Steel is an </a:t>
            </a:r>
            <a:r>
              <a:rPr lang="en-US" sz="1200" b="1" dirty="0">
                <a:solidFill>
                  <a:srgbClr val="262B3A"/>
                </a:solidFill>
                <a:latin typeface="Calibri" pitchFamily="34" charset="0"/>
                <a:ea typeface="Calibri" pitchFamily="34" charset="-122"/>
                <a:cs typeface="Calibri" pitchFamily="34" charset="-120"/>
              </a:rPr>
              <a:t>alloy</a:t>
            </a:r>
            <a:r>
              <a:rPr lang="en-US" sz="1200" dirty="0">
                <a:solidFill>
                  <a:srgbClr val="262B3A"/>
                </a:solidFill>
                <a:latin typeface="Calibri" pitchFamily="34" charset="0"/>
                <a:ea typeface="Calibri" pitchFamily="34" charset="-122"/>
                <a:cs typeface="Calibri" pitchFamily="34" charset="-120"/>
              </a:rPr>
              <a:t> of iron. State what is added to iron to make steel, and why.</a:t>
            </a:r>
            <a:endParaRPr lang="en-US" sz="1200" dirty="0"/>
          </a:p>
        </p:txBody>
      </p:sp>
      <p:sp>
        <p:nvSpPr>
          <p:cNvPr id="20" name="Text 18"/>
          <p:cNvSpPr/>
          <p:nvPr/>
        </p:nvSpPr>
        <p:spPr>
          <a:xfrm>
            <a:off x="10317175"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270504"/>
            <a:ext cx="5570068" cy="1441704"/>
          </a:xfrm>
          <a:prstGeom prst="roundRect">
            <a:avLst>
              <a:gd name="adj" fmla="val 3171"/>
            </a:avLst>
          </a:prstGeom>
          <a:solidFill>
            <a:srgbClr val="FFFFFF"/>
          </a:solidFill>
          <a:ln w="9525">
            <a:solidFill>
              <a:srgbClr val="DDD3EC"/>
            </a:solidFill>
            <a:prstDash val="solid"/>
          </a:ln>
        </p:spPr>
      </p:sp>
      <p:sp>
        <p:nvSpPr>
          <p:cNvPr id="22" name="Text 20"/>
          <p:cNvSpPr/>
          <p:nvPr/>
        </p:nvSpPr>
        <p:spPr>
          <a:xfrm>
            <a:off x="6347308" y="3343656"/>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Suggest why electricians use </a:t>
            </a:r>
            <a:r>
              <a:rPr lang="en-US" sz="1200" b="1" dirty="0">
                <a:solidFill>
                  <a:srgbClr val="262B3A"/>
                </a:solidFill>
                <a:latin typeface="Calibri" pitchFamily="34" charset="0"/>
                <a:ea typeface="Calibri" pitchFamily="34" charset="-122"/>
                <a:cs typeface="Calibri" pitchFamily="34" charset="-120"/>
              </a:rPr>
              <a:t>GRP</a:t>
            </a:r>
            <a:r>
              <a:rPr lang="en-US" sz="1200" dirty="0">
                <a:solidFill>
                  <a:srgbClr val="262B3A"/>
                </a:solidFill>
                <a:latin typeface="Calibri" pitchFamily="34" charset="0"/>
                <a:ea typeface="Calibri" pitchFamily="34" charset="-122"/>
                <a:cs typeface="Calibri" pitchFamily="34" charset="-120"/>
              </a:rPr>
              <a:t> ladders rather than aluminium ladders.</a:t>
            </a:r>
            <a:endParaRPr lang="en-US" sz="1200" dirty="0"/>
          </a:p>
        </p:txBody>
      </p:sp>
      <p:sp>
        <p:nvSpPr>
          <p:cNvPr id="23" name="Text 21"/>
          <p:cNvSpPr/>
          <p:nvPr/>
        </p:nvSpPr>
        <p:spPr>
          <a:xfrm>
            <a:off x="10317175"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821936"/>
            <a:ext cx="5570068" cy="1441704"/>
          </a:xfrm>
          <a:prstGeom prst="roundRect">
            <a:avLst>
              <a:gd name="adj" fmla="val 3171"/>
            </a:avLst>
          </a:prstGeom>
          <a:solidFill>
            <a:srgbClr val="F8F5FC"/>
          </a:solidFill>
          <a:ln w="9525">
            <a:solidFill>
              <a:srgbClr val="DDD3EC"/>
            </a:solidFill>
            <a:prstDash val="solid"/>
          </a:ln>
        </p:spPr>
      </p:sp>
      <p:sp>
        <p:nvSpPr>
          <p:cNvPr id="25" name="Text 23"/>
          <p:cNvSpPr/>
          <p:nvPr/>
        </p:nvSpPr>
        <p:spPr>
          <a:xfrm>
            <a:off x="6347308" y="4895088"/>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Glass is not used for ladders even though it is hard and strong in compression. Explain why.</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C4.1 Choosing materials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C4.1 How is data used to choose a material for a particular use?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23</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use the data table from slide 8.</a:t>
            </a:r>
            <a:endParaRPr lang="en-US" sz="1150" dirty="0"/>
          </a:p>
        </p:txBody>
      </p:sp>
      <p:sp>
        <p:nvSpPr>
          <p:cNvPr id="9" name="Shape 7"/>
          <p:cNvSpPr/>
          <p:nvPr/>
        </p:nvSpPr>
        <p:spPr>
          <a:xfrm>
            <a:off x="411480" y="1517904"/>
            <a:ext cx="5570068" cy="1120140"/>
          </a:xfrm>
          <a:prstGeom prst="roundRect">
            <a:avLst>
              <a:gd name="adj" fmla="val 4082"/>
            </a:avLst>
          </a:prstGeom>
          <a:solidFill>
            <a:srgbClr val="F8F5FC"/>
          </a:solidFill>
          <a:ln w="9525">
            <a:solidFill>
              <a:srgbClr val="DDD3EC"/>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family</a:t>
            </a:r>
            <a:r>
              <a:rPr lang="en-US" sz="1150" dirty="0">
                <a:solidFill>
                  <a:srgbClr val="262B3A"/>
                </a:solidFill>
                <a:latin typeface="Calibri" pitchFamily="34" charset="0"/>
                <a:ea typeface="Calibri" pitchFamily="34" charset="-122"/>
                <a:cs typeface="Calibri" pitchFamily="34" charset="-120"/>
              </a:rPr>
              <a:t> of materials that glass and brick belong to.</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8F5FC"/>
          </a:solidFill>
          <a:ln w="9525">
            <a:solidFill>
              <a:srgbClr val="DDD3EC"/>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metal sample has mass </a:t>
            </a:r>
            <a:r>
              <a:rPr lang="en-US" sz="1150" b="1" dirty="0">
                <a:solidFill>
                  <a:srgbClr val="262B3A"/>
                </a:solidFill>
                <a:latin typeface="Calibri" pitchFamily="34" charset="0"/>
                <a:ea typeface="Calibri" pitchFamily="34" charset="-122"/>
                <a:cs typeface="Calibri" pitchFamily="34" charset="-120"/>
              </a:rPr>
              <a:t>88.0 g</a:t>
            </a:r>
            <a:r>
              <a:rPr lang="en-US" sz="1150" dirty="0">
                <a:solidFill>
                  <a:srgbClr val="262B3A"/>
                </a:solidFill>
                <a:latin typeface="Calibri" pitchFamily="34" charset="0"/>
                <a:ea typeface="Calibri" pitchFamily="34" charset="-122"/>
                <a:cs typeface="Calibri" pitchFamily="34" charset="-120"/>
              </a:rPr>
              <a:t> and volume </a:t>
            </a:r>
            <a:r>
              <a:rPr lang="en-US" sz="1150" b="1" dirty="0">
                <a:solidFill>
                  <a:srgbClr val="262B3A"/>
                </a:solidFill>
                <a:latin typeface="Calibri" pitchFamily="34" charset="0"/>
                <a:ea typeface="Calibri" pitchFamily="34" charset="-122"/>
                <a:cs typeface="Calibri" pitchFamily="34" charset="-120"/>
              </a:rPr>
              <a:t>11.0 cm³</a:t>
            </a:r>
            <a:r>
              <a:rPr lang="en-US" sz="1150" dirty="0">
                <a:solidFill>
                  <a:srgbClr val="262B3A"/>
                </a:solidFill>
                <a:latin typeface="Calibri" pitchFamily="34" charset="0"/>
                <a:ea typeface="Calibri" pitchFamily="34" charset="-122"/>
                <a:cs typeface="Calibri" pitchFamily="34" charset="-120"/>
              </a:rPr>
              <a:t>. Calculate its density.</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8F5FC"/>
          </a:solidFill>
          <a:ln w="9525">
            <a:solidFill>
              <a:srgbClr val="DDD3EC"/>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b="1" dirty="0">
                <a:solidFill>
                  <a:srgbClr val="262B3A"/>
                </a:solidFill>
                <a:latin typeface="Calibri" pitchFamily="34" charset="0"/>
                <a:ea typeface="Calibri" pitchFamily="34" charset="-122"/>
                <a:cs typeface="Calibri" pitchFamily="34" charset="-120"/>
              </a:rPr>
              <a:t>22-carat</a:t>
            </a:r>
            <a:r>
              <a:rPr lang="en-US" sz="1150" dirty="0">
                <a:solidFill>
                  <a:srgbClr val="262B3A"/>
                </a:solidFill>
                <a:latin typeface="Calibri" pitchFamily="34" charset="0"/>
                <a:ea typeface="Calibri" pitchFamily="34" charset="-122"/>
                <a:cs typeface="Calibri" pitchFamily="34" charset="-120"/>
              </a:rPr>
              <a:t> gold contains 22 parts gold in 24. Calculate the percentage of gold (3 s.f.).</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8F5FC"/>
          </a:solidFill>
          <a:ln w="9525">
            <a:solidFill>
              <a:srgbClr val="DDD3EC"/>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bronze bell of mass </a:t>
            </a:r>
            <a:r>
              <a:rPr lang="en-US" sz="1150" b="1" dirty="0">
                <a:solidFill>
                  <a:srgbClr val="262B3A"/>
                </a:solidFill>
                <a:latin typeface="Calibri" pitchFamily="34" charset="0"/>
                <a:ea typeface="Calibri" pitchFamily="34" charset="-122"/>
                <a:cs typeface="Calibri" pitchFamily="34" charset="-120"/>
              </a:rPr>
              <a:t>5.0 kg</a:t>
            </a:r>
            <a:r>
              <a:rPr lang="en-US" sz="1150" dirty="0">
                <a:solidFill>
                  <a:srgbClr val="262B3A"/>
                </a:solidFill>
                <a:latin typeface="Calibri" pitchFamily="34" charset="0"/>
                <a:ea typeface="Calibri" pitchFamily="34" charset="-122"/>
                <a:cs typeface="Calibri" pitchFamily="34" charset="-120"/>
              </a:rPr>
              <a:t> is </a:t>
            </a:r>
            <a:r>
              <a:rPr lang="en-US" sz="1150" b="1" dirty="0">
                <a:solidFill>
                  <a:srgbClr val="262B3A"/>
                </a:solidFill>
                <a:latin typeface="Calibri" pitchFamily="34" charset="0"/>
                <a:ea typeface="Calibri" pitchFamily="34" charset="-122"/>
                <a:cs typeface="Calibri" pitchFamily="34" charset="-120"/>
              </a:rPr>
              <a:t>12%</a:t>
            </a:r>
            <a:r>
              <a:rPr lang="en-US" sz="1150" dirty="0">
                <a:solidFill>
                  <a:srgbClr val="262B3A"/>
                </a:solidFill>
                <a:latin typeface="Calibri" pitchFamily="34" charset="0"/>
                <a:ea typeface="Calibri" pitchFamily="34" charset="-122"/>
                <a:cs typeface="Calibri" pitchFamily="34" charset="-120"/>
              </a:rPr>
              <a:t> tin. Calculate the mass of tin.</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77312"/>
          </a:xfrm>
          <a:prstGeom prst="roundRect">
            <a:avLst>
              <a:gd name="adj" fmla="val 4244"/>
            </a:avLst>
          </a:prstGeom>
          <a:solidFill>
            <a:srgbClr val="F8F5FC"/>
          </a:solidFill>
          <a:ln w="9525">
            <a:solidFill>
              <a:srgbClr val="DDD3EC"/>
            </a:solidFill>
            <a:prstDash val="solid"/>
          </a:ln>
        </p:spPr>
      </p:sp>
      <p:sp>
        <p:nvSpPr>
          <p:cNvPr id="22" name="Text 20"/>
          <p:cNvSpPr/>
          <p:nvPr/>
        </p:nvSpPr>
        <p:spPr>
          <a:xfrm>
            <a:off x="6347308" y="1591056"/>
            <a:ext cx="5295748" cy="729840"/>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polymers</a:t>
            </a:r>
            <a:r>
              <a:rPr lang="en-US" sz="1150" dirty="0">
                <a:solidFill>
                  <a:srgbClr val="262B3A"/>
                </a:solidFill>
                <a:latin typeface="Calibri" pitchFamily="34" charset="0"/>
                <a:ea typeface="Calibri" pitchFamily="34" charset="-122"/>
                <a:cs typeface="Calibri" pitchFamily="34" charset="-120"/>
              </a:rPr>
              <a:t> are used to make plastic bottles but not </a:t>
            </a:r>
            <a:r>
              <a:rPr lang="en-US" sz="1150" b="1" dirty="0">
                <a:solidFill>
                  <a:srgbClr val="262B3A"/>
                </a:solidFill>
                <a:latin typeface="Calibri" pitchFamily="34" charset="0"/>
                <a:ea typeface="Calibri" pitchFamily="34" charset="-122"/>
                <a:cs typeface="Calibri" pitchFamily="34" charset="-120"/>
              </a:rPr>
              <a:t>saucepan</a:t>
            </a:r>
            <a:r>
              <a:rPr lang="en-US" sz="1150" dirty="0">
                <a:solidFill>
                  <a:srgbClr val="262B3A"/>
                </a:solidFill>
                <a:latin typeface="Calibri" pitchFamily="34" charset="0"/>
                <a:ea typeface="Calibri" pitchFamily="34" charset="-122"/>
                <a:cs typeface="Calibri" pitchFamily="34" charset="-120"/>
              </a:rPr>
              <a:t> bodies.</a:t>
            </a:r>
            <a:endParaRPr lang="en-US" sz="1150" dirty="0"/>
          </a:p>
        </p:txBody>
      </p:sp>
      <p:sp>
        <p:nvSpPr>
          <p:cNvPr id="23" name="Text 21"/>
          <p:cNvSpPr/>
          <p:nvPr/>
        </p:nvSpPr>
        <p:spPr>
          <a:xfrm>
            <a:off x="10317175" y="2302608"/>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704944"/>
            <a:ext cx="5570068" cy="1077312"/>
          </a:xfrm>
          <a:prstGeom prst="roundRect">
            <a:avLst>
              <a:gd name="adj" fmla="val 4244"/>
            </a:avLst>
          </a:prstGeom>
          <a:solidFill>
            <a:srgbClr val="F8F5FC"/>
          </a:solidFill>
          <a:ln w="9525">
            <a:solidFill>
              <a:srgbClr val="DDD3EC"/>
            </a:solidFill>
            <a:prstDash val="solid"/>
          </a:ln>
        </p:spPr>
      </p:sp>
      <p:sp>
        <p:nvSpPr>
          <p:cNvPr id="25" name="Text 23"/>
          <p:cNvSpPr/>
          <p:nvPr/>
        </p:nvSpPr>
        <p:spPr>
          <a:xfrm>
            <a:off x="6347308" y="2778096"/>
            <a:ext cx="5295748" cy="729840"/>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reinforced concrete</a:t>
            </a:r>
            <a:r>
              <a:rPr lang="en-US" sz="1150" dirty="0">
                <a:solidFill>
                  <a:srgbClr val="262B3A"/>
                </a:solidFill>
                <a:latin typeface="Calibri" pitchFamily="34" charset="0"/>
                <a:ea typeface="Calibri" pitchFamily="34" charset="-122"/>
                <a:cs typeface="Calibri" pitchFamily="34" charset="-120"/>
              </a:rPr>
              <a:t> is a composite and why it is better than concrete alone for a beam.</a:t>
            </a:r>
            <a:endParaRPr lang="en-US" sz="1150" dirty="0"/>
          </a:p>
        </p:txBody>
      </p:sp>
      <p:sp>
        <p:nvSpPr>
          <p:cNvPr id="26" name="Text 24"/>
          <p:cNvSpPr/>
          <p:nvPr/>
        </p:nvSpPr>
        <p:spPr>
          <a:xfrm>
            <a:off x="10317175" y="348964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891985"/>
            <a:ext cx="5570068" cy="2435663"/>
          </a:xfrm>
          <a:prstGeom prst="roundRect">
            <a:avLst>
              <a:gd name="adj" fmla="val 1877"/>
            </a:avLst>
          </a:prstGeom>
          <a:solidFill>
            <a:srgbClr val="FFF4E0"/>
          </a:solidFill>
          <a:ln w="9525">
            <a:solidFill>
              <a:srgbClr val="F1D9A8"/>
            </a:solidFill>
            <a:prstDash val="solid"/>
          </a:ln>
        </p:spPr>
      </p:sp>
      <p:sp>
        <p:nvSpPr>
          <p:cNvPr id="28" name="Text 26"/>
          <p:cNvSpPr/>
          <p:nvPr/>
        </p:nvSpPr>
        <p:spPr>
          <a:xfrm>
            <a:off x="6347308" y="3965137"/>
            <a:ext cx="5295748" cy="208819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Use the data on steel, aluminium alloy and CFRP to </a:t>
            </a:r>
            <a:r>
              <a:rPr lang="en-US" sz="1150" b="1" dirty="0">
                <a:solidFill>
                  <a:srgbClr val="262B3A"/>
                </a:solidFill>
                <a:latin typeface="Calibri" pitchFamily="34" charset="0"/>
                <a:ea typeface="Calibri" pitchFamily="34" charset="-122"/>
                <a:cs typeface="Calibri" pitchFamily="34" charset="-120"/>
              </a:rPr>
              <a:t>evaluate</a:t>
            </a:r>
            <a:r>
              <a:rPr lang="en-US" sz="1150" dirty="0">
                <a:solidFill>
                  <a:srgbClr val="262B3A"/>
                </a:solidFill>
                <a:latin typeface="Calibri" pitchFamily="34" charset="0"/>
                <a:ea typeface="Calibri" pitchFamily="34" charset="-122"/>
                <a:cs typeface="Calibri" pitchFamily="34" charset="-120"/>
              </a:rPr>
              <a:t> which material is best for a </a:t>
            </a:r>
            <a:r>
              <a:rPr lang="en-US" sz="1150" b="1" dirty="0">
                <a:solidFill>
                  <a:srgbClr val="262B3A"/>
                </a:solidFill>
                <a:latin typeface="Calibri" pitchFamily="34" charset="0"/>
                <a:ea typeface="Calibri" pitchFamily="34" charset="-122"/>
                <a:cs typeface="Calibri" pitchFamily="34" charset="-120"/>
              </a:rPr>
              <a:t>bicycle frame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C4.1 How is data used to choose a material for a particular use?</dc:title>
  <dc:subject>PptxGenJS Presentation</dc:subject>
  <dc:creator>GCSE Chemistry</dc:creator>
  <cp:lastModifiedBy>GCSE Chemistry</cp:lastModifiedBy>
  <cp:revision>1</cp:revision>
  <dcterms:created xsi:type="dcterms:W3CDTF">2026-10-31T15:33:36Z</dcterms:created>
  <dcterms:modified xsi:type="dcterms:W3CDTF">2026-10-31T15:33:36Z</dcterms:modified>
</cp:coreProperties>
</file>