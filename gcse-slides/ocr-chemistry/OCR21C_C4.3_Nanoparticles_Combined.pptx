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C4.3 Why are nanoparticles so useful? is Part 3 of 4 in J260 Chapter C4 Material choices: C4.1 How is data used to choose a material for a particular use?; C4.2 How do bonding and structure affect properties of materials?; C4.3 Why are nanoparticles so useful?; C4.4 the life cycle of materials (LCA).
Numbering: in J258 (Chemistry B, separate science) this sub-topic is C4.4, because J258 has an extra C4.2 on types of polymers that is separate-science only. The J260 C4.3 title is confirmed by the J260 specification listing (plutoniumscience mirror, search extract) and RSC Education resources that cite "OCR Combined Science B C4.3 Why are nanoparticles so useful?" with statements C4.3.1, C4.3.3 and C4.3.5. See SPEC_C4_3.md for wording and confidence.
No Higher-only (bold) statement was found for C4.3; the 10 nm cube calculation and the 3D surface-atom figures are marked GRADE 7–9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(wording from search extracts of the J260 and J258 specifications and RSC spec links; see SPEC_C4_3.md):
C4.3.1 compare "nano" dimensions to typical dimensions of atoms and molecules (RSC: high confidence)
C4.3.2 describe the surface area to volume relationship for different-sized particles and describe how this affects properties (medium)
C4.3.3 describe how the properties of nanoparticulate materials are related to their uses, including size, surface area and the arrangement of atoms in tubes or rings (RSC extract: medium–high)
C4.3.4 nanoparticles incorporated in / embedded in materials (wording UNVERIFIED; medium–low)
C4.3.5 explain the possible risks associated with some nanoparticulate materials (RSC "Toxic socks": high)
Maths: M1b standard form, M1c ratios, M5c surface area and volume of cubes. Ideas about Science: risk, benefits and risks, decisions.
No statement in C4.3 is bold (Higher only) in any source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C4 has four sub-topics. J258 (Chemistry B) has five: its C4.2 "What are the different types of polymers?" is separate-science only, so J258 C4.3 bonding and structure becomes J260 C4.2, J258 C4.4 nanoparticles becomes J260 C4.3 (this deck) and J258 C4.5 life cycle becomes J260 C4.4 (docbrown combined page: "Topic C4.4 considers the life cycle of materials"; SPEC_C4_1.md agrees).
Overlap control: giant covalent structures, diamond and graphite are taught in C4.2 and only recapped here; SPEC_C4_2.md leaves graphene, fullerenes and nanotubes to C4.3, so slide 15 teaches them. Choosing materials from property data is C4.1. Life cycle assessment and disposal are C4.4: only mentioned on slide 19 (silver washed into waste water). Rates of reaction are taught in Chapter C6; the practical here is used only to show the effect of surface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About 1 × 10⁻¹⁰ m (0.1 nm). Protons and neutrons.
2. Tiny solid particles (mostly carbon, soot) in the air, e.g. PM10 and PM2.5. They are breathed deep into the lungs and can cause or worsen breathing problems, heart disease and cancer (C1).
3. Speeds up a reaction without being used up (C1: converts CO and NO into CO₂ and N₂). Platinum is spread very thinly to give a large surface.
4. A shared pair of electrons between two atoms. Non-metals (C2).
5. Layers of carbon atoms in hexagons; each C covalently bonded to three others; weak forces between layers. One electron per atom is delocalised, so it conducts (C4.2; recap only). A single layer of graphite is graphene (introduced on slide 15).
6. 1 × 10⁻⁶ m (a micrometre, µm) and 1 × 10⁻⁹ m = 1 nanometre (nm).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50 nm = 50 × 10⁻⁹ m = 5 × 10⁻⁸ m. 80 nm = 8 × 10⁻⁸ m; 8 × 10⁻⁵ ÷ 8 × 10⁻⁸ = 1000 times.
C4.3.1 wording (RSC spec link): "compare nano dimensions to typical dimensions of atoms and molecules". Sizes are typical values: atom radius ~0.1 nm in GCSE questions (atoms are 0.1–0.5 nm across); PM2.5 means particles below 2.5 µm (C1 recap); human hair width varies (about 20–180 µm), 80 µm used as a round value. Ladder not to scale, which is why standard form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5 × 10⁻¹⁰ m (molecule) &lt; 3.5 × 10⁻⁸ m (nanoparticle) &lt; 2.5 × 10⁻⁶ m (fine particle). 2.5 µm = 2500 nm; 2500 ÷ 25 = 100 particles.
Maths skills M1b (standard form) and M1c (ratios). Hair ÷ atom = 8 × 10⁵: log₁₀ = 5.9, so about 6 orders of magnitude (asserted in node). Red blood cell ~7 µm. All sizes typical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1 nm (1); to 100 nm (1). Allow 1–100 nm for 2 marks; allow 10⁻⁹ to 10⁻⁷ m.
Q2 [2]: 25 × 10⁻⁹ m (1); = 2.5 × 10⁻⁸ m (1).
Q3 [2]: 25 ÷ 0.1 (1); = 250 (times) (1).
Q4 [2]: atom, simple molecule, nanoparticle, fine dust (2). One pair swapped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SA = 6 × 2² = 24 cm²; V = 2³ = 8 cm³; SA : V = 24 : 8 = 3 : 1. A 1 cm cube has 6 : 1, so halving the side doubles the ratio.
C4.3.2 (describe the SA : V relationship for different-sized particles). Maths M5c: surface areas and volumes of cubes. Stretch derivation: 1 cm³ cut into 10 nm cubes gives (10⁶)³ = 10¹⁸ cubes, each with SA 6 × (10⁻⁶ cm)² = 6 × 10⁻¹² cm²; total = 6 × 10⁶ cm² = 600 m² (about two tennis courts). SA : V = 6/L: 6 cm⁻¹ for L = 1 cm and 6 × 10⁶ cm⁻¹ for L = 10⁻⁶ cm (factor 10⁶). All values asserted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Inner square 4 × 4 = 16, so surface = 36 − 16 = 20 atoms; 20 ÷ 36 × 100 = 56% (2 s.f.).
C4.3.2 "...and describe how this affects properties". 3D figures (GRADE 7–9 stretch, asserted in node): fraction on surface = 1 − ((n − 2)/n)³: n = 10 → 48.8%; n = 100 → 5.9%. Colour of gold nanoparticles (red / purple in stained glass) and transparency of nano ZnO / TiO₂ are standard examples of size-dependent properties; no explanation of the optics is needed at GCSE.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SA = 6 × 3² = 54 cm² (1); V = 3³ = 27 cm³ (1). Units needed.
Q2 [2]: 54 ÷ 27 / 54 : 27 (1); = 2 : 1 (1). Allow error carried forward.
Q3 [2]: SA : V increases (1); e.g. halving the side doubles the ratio / a larger fraction of atoms is at the surface (1).
Q4 [2]: Much larger surface area / SA : V (1); more atoms exposed at the surface so more collisions / contact with reactants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So that only the particle size (surface area) changes; more catalyst would also speed up the reaction (fair test). A catalyst is not used up and does not change the amount of product; it only speeds up the reaction, so the total O₂ depends on the hydrogen peroxide.
SUGGESTED PRACTICAL (no PAG is linked to C4.3 in any source found; this models C4.3.2/C4.3.3: catalyst surface area). Rates of reaction are taught in Chapter C6; here we only use it to show the effect of particle size. Equation atom balance checked in node: H 4 = 4, O 4 = 2 + 2.
Hazards (CLEAPSS style): hydrogen peroxide solution, 10-volume (about 3%): LOW HAZARD at this concentration, but may irritate the eyes; wear eye protection. Manganese(IV) oxide: HARMFUL if swallowed or inhaled; avoid raising dust; weigh the powder carefully. Oxygen produced: keep away from flames. Teacher: check your own CLEAPSS Hazcards and risk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27 cm³ ÷ 60 s = 0.45 cm³/s. The hydrogen peroxide is used up (all 50 cm³ O₂ released); the catalyst is not used up.
All data illustrative, asserted in node: powder 0, 18, 32, 42, 47, 49, 50; granules 0, 5, 10, 15, 19, 23, 27 cm³. Mean rates 1.4 and 0.5 cm³/s (ratio 2.8). Link: nanoparticle catalysts take this further, with a far larger surface per gram. Rate is taught fully in Chapter C6.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Nanoparticles have a much bigger surface area, so more silver is in contact with / releases more silver ions to the bacteria for the same mass of silver. 6/5 ÷ 6/50 = 10 times.
C4.3.3 (RSC spec link): "describe how the properties of nanoparticulate materials are related to their uses" including size, surface area and the arrangement of atoms in tubes or rings (next slide). Examples are those in OCR / RSC teaching materials (cerium oxide fuel additive, silver dressings and socks, TiO₂ / ZnO sunscreens, self-cleaning glass). Ideas about light absorption and scattering are not required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Any two (1 each): mass of catalyst; volume of hydrogen peroxide; concentration of hydrogen peroxide; temperature; same apparatus.
Q2 [2]: 36 ÷ 40 (1); = 0.9 cm³/s (1).
Q3 [2]: Still absorbs / blocks UV (1); transparent / does not leave a white layer because particles are too small to scatter visible light (1).
Q4 [2]: Very large surface area per gram / high SA : V (1); so most atoms are at the surface and can catalyse; platinum is expensive / rare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Every carbon atom is joined to three others by strong covalent bonds in a continuous network, so a lot of energy / force is needed to break the tube. 1.5 × 3000 = 4500 nm = 4.5 µm.
C4.3.3 includes "the arrangement of atoms in tubes or rings" (RSC spec-link extract). Graphite (and diamond) bonding is taught in C4.2 and is recapped only; SPEC_C4_2.md leaves graphene, fullerenes and nanotubes to this deck, so they are taught here. Fullerene sketch: a central pentagon surrounded by five hexagons, as in the real C₆₀ (12 pentagons and 20 hexagons: (12 × 5 + 20 × 6) ÷ 3 = 60 atoms, because every atom is shared by three rings; asserted in node). C₆₀ diameter about 0.7 nm (nucleus to nucleus), about 1 nm including the electron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Strength / stiffness / low density / electrical conductivity; e.g. tennis rackets, bike frames, car panels, anti-static packaging. 25 × 40 = 1000 µg = 1 mg.
C4.3.4 wording is UNVERIFIED: search extracts (Cherry Hill Tuition J260 page) mention composites with nanoparticles "incorporated in a material or embedded in a matrix". If your copy of the specification puts composites in C4.1 instead, use this slide as an application of C4.3.3. Composites on a bulk scale (e.g. reinforced concrete, glass fibre) belong to C4.1 and are not taught here. Silver values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Carbon atoms in hexagons / rolled-up graphene sheet (1); each C covalently bonded to three others, forming a cylinder / tube (1).
Q2 [2]: 2 × 500 (1); = 1000 nm (= 1 µm) (1).
Q3 [2]: Any two use + property (1 each): drug delivery – hollow cage; lubricant – small spheres roll; reinforcing sports equipment – strong and light; electronics – conducts electricity.
Q4 [2]: Silver is antibacterial / kills bacteria (1); nano size gives a large surface area so a small mass is very effective / reduces infection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Nanoparticles are new / not used for long, so long-term effects are unknown; hard to detect and measure tiny particles in the body or environment; effects depend on the size, shape and substance; few studies so far. Reduce risk: bind silver into the fibre so it is not washed out; wash less; treat waste water; use only where needed.
C4.3.5 (RSC "Toxic socks" spec link): "explain the possible risks associated with some nanoparticulate materials". Ideas about Science: risk = likelihood × consequence; perceived vs actual risk; the precautionary principle; regulation decisions. Disposal and the full life cycle of products are in C4.4 (LCA): link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(20 − 14) ÷ 20 × 100 = 30%. Wound dressings: the benefit (preventing serious infection, saving lives) is much greater, used for a short time and disposed of as clinical waste; socks are a minor benefit and release silver into water every wash. Accept a reasoned case either way.
Values illustrative (asserted in node): 40, 28, 20, 14, 10 µg/g, each wash removes 30% of what is left. The pattern follows published sock-washing studies (e.g. Benn and Westerhoff 2008) but numbers are UNVERIFIED. Ideas about Science: benefits, risks, who decides (regulators); some people accept risks they choose (voluntary) more than imposed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Breathed in / inhaled (1); pass deep into the lungs / into the blood / cells and cause damage / inflammation (1).
Q2 [2]: Nanoparticles are new / used only recently (1); so long-term studies have not been done / effects take years to appear / hard to measure (1).
Q3 [2]: (40 − 10) ÷ 40 × 100 (1); = 75% (1).
Q4 [2]: Benefit: kills bacteria / less odour / washed less often (1). Risk: silver washed into water harms useful bacteria / aquatic life / unknown health effects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Graphite and covalent bonding are C2 / C4.2 recap terms. Catalyst links back to C1 (catalytic converters) and forward to C6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[1]: 4 × 10⁻⁹ m (1).
(b) [1]: 4 ÷ 0.1 = 40 (1).
(c) [3]: SA = 6 × 4² = 96 nm² (1); V = 4³ = 64 nm³ (1); SA : V = 96 ÷ 64 = 1.5 (nm⁻¹) / 1.5 : 1 (1).
(d) [2]: 1.5 ÷ 0.15 (1); = 10 (times) (1). Allow error carried forward from (c).
(e) [2]: Larger surface area / SA : V (1); more atoms / active sites at the surface in contact with the reacting fuel and oxygen, so faster reaction (1).
(f) [4]: Breathed in, reach deep into the lungs / blood (1); reactive surface could damage cells / cause inflammation (1); settle in soil / water and harm organisms (1); uncertain because new technology / long-term effects not yet studied / hard to measure such tiny particles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[2]: 8 × 10⁻⁸ m (1); yes: it is 80 nm, which is between 1 and 100 nm (1).
2 [2]: SA = 6 × 0.25 = 1.5 cm² and V = 0.125 cm³ (1); 1.5 ÷ 0.125 = 12 (: 1) (1). Allow 6 ÷ 0.5 = 12.
3 [2]: Particles too small to scatter visible light so transparent (1); still absorb / block UV (1).
4 [2]: (60 − 15) ÷ 60 × 100 (1); = 75% (1).
5 [3]: Fullerene: hollow ball / cage (1); rings of 5 and 6 carbon atoms (1). Nanotube: hexagons rolled into a long cylinder / tube (1).
6 [6]: OCR level-of-response mark scheme (6 marks). Read the whole answer, decide the level from the content descriptor, then the mark within the level from the quality of the line of reasoning. Use the indicative scientific points below.
Level 3 (5–6 marks): Explains how the size / surface area of silver nanoparticles makes them useful AND explains at least one risk to people AND one to the environment, AND makes a reasoned judgement comparing the two uses. There is a well-developed line of reasoning which is clear and logically structured. The information presented is relevant and substantiated.
Level 2 (3–4 marks): Describes benefits AND risks, with some explanation linked to size or surface area; a simple judgement may be given. There is a line of reasoning presented with some structure. The information presented is relevant and supported by some evidence.
Level 1 (1–2 marks): Simple statements of a benefit or a risk, e.g. "silver kills germs" or "it might be harmful". There is an attempt at a logical structure with a line of reasoning. The information is in the most part relevant.
0 marks: no response or no response worthy of credit.
Indicative scientific points may include:
 • Size: silver nanoparticles are 1–100 nm, so they have a very large surface area to volume ratio.
 • Benefit: large surface → silver is very effective as an antibacterial for a tiny mass; kills bacteria in wounds (fewer infections, faster healing) and in socks (less odour).
 • Benefit: socks can be washed less often, saving water and energy; dressings may save lives / reduce use of antibiotics.
 • Risk: nanoparticles can pass into the body (skin, lungs, blood) where larger particles cannot; reactive surface may damage cells.
 • Risk: silver washed out of socks enters waste water and may kill useful bacteria in sewage works, and harm aquatic life.
 • Uncertainty: long-term effects not yet known; few studies; hard to measure tiny particles.
 • Decision: the benefit of dressings is large and short-term; the benefit of socks is small and silver is released at every wash, so silver may be more justified in dressings. Regulation / labelling /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47"/>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5B3A8C"/>
          </a:solidFill>
          <a:ln w="12700">
            <a:solidFill>
              <a:srgbClr val="5B3A8C"/>
            </a:solidFill>
            <a:prstDash val="solid"/>
          </a:ln>
        </p:spPr>
      </p:sp>
      <p:sp>
        <p:nvSpPr>
          <p:cNvPr id="3" name="Shape 1"/>
          <p:cNvSpPr/>
          <p:nvPr/>
        </p:nvSpPr>
        <p:spPr>
          <a:xfrm>
            <a:off x="9326880" y="2377440"/>
            <a:ext cx="4937760" cy="4937760"/>
          </a:xfrm>
          <a:prstGeom prst="ellipse">
            <a:avLst/>
          </a:prstGeom>
          <a:solidFill>
            <a:srgbClr val="7A52B3">
              <a:alpha val="85000"/>
            </a:srgbClr>
          </a:solidFill>
          <a:ln w="12700">
            <a:solidFill>
              <a:srgbClr val="7A52B3"/>
            </a:solidFill>
            <a:prstDash val="solid"/>
          </a:ln>
        </p:spPr>
      </p:sp>
      <p:sp>
        <p:nvSpPr>
          <p:cNvPr id="4" name="Shape 2"/>
          <p:cNvSpPr/>
          <p:nvPr/>
        </p:nvSpPr>
        <p:spPr>
          <a:xfrm>
            <a:off x="0" y="0"/>
            <a:ext cx="164592" cy="6858000"/>
          </a:xfrm>
          <a:prstGeom prst="rect">
            <a:avLst/>
          </a:prstGeom>
          <a:solidFill>
            <a:srgbClr val="7A52B3"/>
          </a:solidFill>
          <a:ln w="12700">
            <a:solidFill>
              <a:srgbClr val="7A52B3"/>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CD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C4.3  Nanoparticles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DCCDF3"/>
                </a:solidFill>
                <a:latin typeface="Georgia" pitchFamily="34" charset="0"/>
                <a:ea typeface="Georgia" pitchFamily="34" charset="-122"/>
                <a:cs typeface="Georgia" pitchFamily="34" charset="-120"/>
              </a:rPr>
              <a:t>Why are nanoparticles so useful?</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E4DAF5"/>
                </a:solidFill>
                <a:latin typeface="Calibri" pitchFamily="34" charset="0"/>
                <a:ea typeface="Calibri" pitchFamily="34" charset="-122"/>
                <a:cs typeface="Calibri" pitchFamily="34" charset="-120"/>
              </a:rPr>
              <a:t>Nanoparticle  •  Nanometre  •  Surface area to volume  •  Catalyst  •  Nanotube  •  Risk</a:t>
            </a:r>
            <a:endParaRPr lang="en-US" sz="1300" dirty="0"/>
          </a:p>
        </p:txBody>
      </p:sp>
      <p:sp>
        <p:nvSpPr>
          <p:cNvPr id="10" name="Shape 8"/>
          <p:cNvSpPr/>
          <p:nvPr/>
        </p:nvSpPr>
        <p:spPr>
          <a:xfrm>
            <a:off x="731520" y="3886200"/>
            <a:ext cx="457200" cy="457200"/>
          </a:xfrm>
          <a:prstGeom prst="ellipse">
            <a:avLst/>
          </a:prstGeom>
          <a:solidFill>
            <a:srgbClr val="7A52B3"/>
          </a:solidFill>
          <a:ln w="12700">
            <a:solidFill>
              <a:srgbClr val="CD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C4.3.1–C4.3.5 • nano sizes, surface area to volume, uses, nanotubes, risks</a:t>
            </a:r>
            <a:endParaRPr lang="en-US" sz="1400" dirty="0"/>
          </a:p>
        </p:txBody>
      </p:sp>
      <p:sp>
        <p:nvSpPr>
          <p:cNvPr id="13" name="Shape 11"/>
          <p:cNvSpPr/>
          <p:nvPr/>
        </p:nvSpPr>
        <p:spPr>
          <a:xfrm>
            <a:off x="731520" y="4507992"/>
            <a:ext cx="457200" cy="457200"/>
          </a:xfrm>
          <a:prstGeom prst="ellipse">
            <a:avLst/>
          </a:prstGeom>
          <a:solidFill>
            <a:srgbClr val="7A52B3"/>
          </a:solidFill>
          <a:ln w="12700">
            <a:solidFill>
              <a:srgbClr val="CD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 found • stretch marked</a:t>
            </a:r>
            <a:endParaRPr lang="en-US" sz="1400" dirty="0"/>
          </a:p>
        </p:txBody>
      </p:sp>
      <p:sp>
        <p:nvSpPr>
          <p:cNvPr id="16" name="Shape 14"/>
          <p:cNvSpPr/>
          <p:nvPr/>
        </p:nvSpPr>
        <p:spPr>
          <a:xfrm>
            <a:off x="731520" y="5129784"/>
            <a:ext cx="457200" cy="457200"/>
          </a:xfrm>
          <a:prstGeom prst="ellipse">
            <a:avLst/>
          </a:prstGeom>
          <a:solidFill>
            <a:srgbClr val="7A52B3"/>
          </a:solidFill>
          <a:ln w="12700">
            <a:solidFill>
              <a:srgbClr val="CD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Maths: standard form, ratios, surface area and volume of cubes, rates from a gas syringe</a:t>
            </a:r>
            <a:endParaRPr lang="en-US" sz="1400" dirty="0"/>
          </a:p>
        </p:txBody>
      </p:sp>
      <p:sp>
        <p:nvSpPr>
          <p:cNvPr id="19" name="Shape 17"/>
          <p:cNvSpPr/>
          <p:nvPr/>
        </p:nvSpPr>
        <p:spPr>
          <a:xfrm>
            <a:off x="731520" y="5769864"/>
            <a:ext cx="4192524" cy="365760"/>
          </a:xfrm>
          <a:prstGeom prst="roundRect">
            <a:avLst>
              <a:gd name="adj" fmla="val 50000"/>
            </a:avLst>
          </a:prstGeom>
          <a:solidFill>
            <a:srgbClr val="22133A"/>
          </a:solidFill>
          <a:ln w="15875">
            <a:solidFill>
              <a:srgbClr val="F5A742"/>
            </a:solidFill>
            <a:prstDash val="solid"/>
          </a:ln>
        </p:spPr>
      </p:sp>
      <p:sp>
        <p:nvSpPr>
          <p:cNvPr id="20" name="Text 18"/>
          <p:cNvSpPr/>
          <p:nvPr/>
        </p:nvSpPr>
        <p:spPr>
          <a:xfrm>
            <a:off x="731520" y="5769864"/>
            <a:ext cx="4192524"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3 of 4 in Chapter C4: Material choices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DDD0F2"/>
                </a:solidFill>
                <a:latin typeface="Calibri" pitchFamily="34" charset="0"/>
                <a:ea typeface="Calibri" pitchFamily="34" charset="-122"/>
                <a:cs typeface="Calibri" pitchFamily="34" charset="-120"/>
              </a:rPr>
              <a:t>OCR J260 Combined Science B • C4.3 Why are nanoparticles so useful?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C4.3.1–C4.3.5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6A3FA0"/>
          </a:solidFill>
          <a:ln w="12700">
            <a:solidFill>
              <a:srgbClr val="6A3FA0"/>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C4.3.1   </a:t>
            </a:r>
            <a:r>
              <a:rPr lang="en-US" sz="1200" dirty="0">
                <a:solidFill>
                  <a:srgbClr val="262B3A"/>
                </a:solidFill>
                <a:latin typeface="Calibri" pitchFamily="34" charset="0"/>
                <a:ea typeface="Calibri" pitchFamily="34" charset="-122"/>
                <a:cs typeface="Calibri" pitchFamily="34" charset="-120"/>
              </a:rPr>
              <a:t>Define a </a:t>
            </a:r>
            <a:r>
              <a:rPr lang="en-US" sz="1200" b="1" dirty="0">
                <a:solidFill>
                  <a:srgbClr val="262B3A"/>
                </a:solidFill>
                <a:latin typeface="Calibri" pitchFamily="34" charset="0"/>
                <a:ea typeface="Calibri" pitchFamily="34" charset="-122"/>
                <a:cs typeface="Calibri" pitchFamily="34" charset="-120"/>
              </a:rPr>
              <a:t>nanoparticle</a:t>
            </a:r>
            <a:r>
              <a:rPr lang="en-US" sz="1200" dirty="0">
                <a:solidFill>
                  <a:srgbClr val="262B3A"/>
                </a:solidFill>
                <a:latin typeface="Calibri" pitchFamily="34" charset="0"/>
                <a:ea typeface="Calibri" pitchFamily="34" charset="-122"/>
                <a:cs typeface="Calibri" pitchFamily="34" charset="-120"/>
              </a:rPr>
              <a:t> (1–100 nm) and compare </a:t>
            </a:r>
            <a:r>
              <a:rPr lang="en-US" sz="1200" b="1" dirty="0">
                <a:solidFill>
                  <a:srgbClr val="262B3A"/>
                </a:solidFill>
                <a:latin typeface="Calibri" pitchFamily="34" charset="0"/>
                <a:ea typeface="Calibri" pitchFamily="34" charset="-122"/>
                <a:cs typeface="Calibri" pitchFamily="34" charset="-120"/>
              </a:rPr>
              <a:t>nano</a:t>
            </a:r>
            <a:r>
              <a:rPr lang="en-US" sz="1200" dirty="0">
                <a:solidFill>
                  <a:srgbClr val="262B3A"/>
                </a:solidFill>
                <a:latin typeface="Calibri" pitchFamily="34" charset="0"/>
                <a:ea typeface="Calibri" pitchFamily="34" charset="-122"/>
                <a:cs typeface="Calibri" pitchFamily="34" charset="-120"/>
              </a:rPr>
              <a:t> sizes with </a:t>
            </a:r>
            <a:r>
              <a:rPr lang="en-US" sz="1200" b="1" dirty="0">
                <a:solidFill>
                  <a:srgbClr val="262B3A"/>
                </a:solidFill>
                <a:latin typeface="Calibri" pitchFamily="34" charset="0"/>
                <a:ea typeface="Calibri" pitchFamily="34" charset="-122"/>
                <a:cs typeface="Calibri" pitchFamily="34" charset="-120"/>
              </a:rPr>
              <a:t>atoms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molecules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2920" y="2194560"/>
            <a:ext cx="457200" cy="457200"/>
          </a:xfrm>
          <a:prstGeom prst="ellipse">
            <a:avLst/>
          </a:prstGeom>
          <a:solidFill>
            <a:srgbClr val="6A3FA0"/>
          </a:solidFill>
          <a:ln w="12700">
            <a:solidFill>
              <a:srgbClr val="6A3FA0"/>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C4.3.1   </a:t>
            </a:r>
            <a:r>
              <a:rPr lang="en-US" sz="1200" dirty="0">
                <a:solidFill>
                  <a:srgbClr val="262B3A"/>
                </a:solidFill>
                <a:latin typeface="Calibri" pitchFamily="34" charset="0"/>
                <a:ea typeface="Calibri" pitchFamily="34" charset="-122"/>
                <a:cs typeface="Calibri" pitchFamily="34" charset="-120"/>
              </a:rPr>
              <a:t>Write sizes in </a:t>
            </a:r>
            <a:r>
              <a:rPr lang="en-US" sz="1200" b="1" dirty="0">
                <a:solidFill>
                  <a:srgbClr val="262B3A"/>
                </a:solidFill>
                <a:latin typeface="Calibri" pitchFamily="34" charset="0"/>
                <a:ea typeface="Calibri" pitchFamily="34" charset="-122"/>
                <a:cs typeface="Calibri" pitchFamily="34" charset="-120"/>
              </a:rPr>
              <a:t>standard form</a:t>
            </a:r>
            <a:r>
              <a:rPr lang="en-US" sz="1200" dirty="0">
                <a:solidFill>
                  <a:srgbClr val="262B3A"/>
                </a:solidFill>
                <a:latin typeface="Calibri" pitchFamily="34" charset="0"/>
                <a:ea typeface="Calibri" pitchFamily="34" charset="-122"/>
                <a:cs typeface="Calibri" pitchFamily="34" charset="-120"/>
              </a:rPr>
              <a:t>, put them in order and compare them with </a:t>
            </a:r>
            <a:r>
              <a:rPr lang="en-US" sz="1200" b="1" dirty="0">
                <a:solidFill>
                  <a:srgbClr val="262B3A"/>
                </a:solidFill>
                <a:latin typeface="Calibri" pitchFamily="34" charset="0"/>
                <a:ea typeface="Calibri" pitchFamily="34" charset="-122"/>
                <a:cs typeface="Calibri" pitchFamily="34" charset="-120"/>
              </a:rPr>
              <a:t>ratios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6A3FA0"/>
          </a:solidFill>
          <a:ln w="12700">
            <a:solidFill>
              <a:srgbClr val="6A3FA0"/>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C4.3.2   </a:t>
            </a:r>
            <a:r>
              <a:rPr lang="en-US" sz="1200" dirty="0">
                <a:solidFill>
                  <a:srgbClr val="262B3A"/>
                </a:solidFill>
                <a:latin typeface="Calibri" pitchFamily="34" charset="0"/>
                <a:ea typeface="Calibri" pitchFamily="34" charset="-122"/>
                <a:cs typeface="Calibri" pitchFamily="34" charset="-120"/>
              </a:rPr>
              <a:t>Calculate the </a:t>
            </a:r>
            <a:r>
              <a:rPr lang="en-US" sz="1200" b="1" dirty="0">
                <a:solidFill>
                  <a:srgbClr val="262B3A"/>
                </a:solidFill>
                <a:latin typeface="Calibri" pitchFamily="34" charset="0"/>
                <a:ea typeface="Calibri" pitchFamily="34" charset="-122"/>
                <a:cs typeface="Calibri" pitchFamily="34" charset="-120"/>
              </a:rPr>
              <a:t>surface area</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volume</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SA : V ratio</a:t>
            </a:r>
            <a:r>
              <a:rPr lang="en-US" sz="1200" dirty="0">
                <a:solidFill>
                  <a:srgbClr val="262B3A"/>
                </a:solidFill>
                <a:latin typeface="Calibri" pitchFamily="34" charset="0"/>
                <a:ea typeface="Calibri" pitchFamily="34" charset="-122"/>
                <a:cs typeface="Calibri" pitchFamily="34" charset="-120"/>
              </a:rPr>
              <a:t> of cubes of different sizes.</a:t>
            </a:r>
            <a:endParaRPr lang="en-US" sz="1100" dirty="0"/>
          </a:p>
        </p:txBody>
      </p:sp>
      <p:sp>
        <p:nvSpPr>
          <p:cNvPr id="17" name="Shape 15"/>
          <p:cNvSpPr/>
          <p:nvPr/>
        </p:nvSpPr>
        <p:spPr>
          <a:xfrm>
            <a:off x="502920" y="3931920"/>
            <a:ext cx="457200" cy="457200"/>
          </a:xfrm>
          <a:prstGeom prst="ellipse">
            <a:avLst/>
          </a:prstGeom>
          <a:solidFill>
            <a:srgbClr val="6A3FA0"/>
          </a:solidFill>
          <a:ln w="12700">
            <a:solidFill>
              <a:srgbClr val="6A3FA0"/>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C4.3.2   </a:t>
            </a:r>
            <a:r>
              <a:rPr lang="en-US" sz="1200" dirty="0">
                <a:solidFill>
                  <a:srgbClr val="262B3A"/>
                </a:solidFill>
                <a:latin typeface="Calibri" pitchFamily="34" charset="0"/>
                <a:ea typeface="Calibri" pitchFamily="34" charset="-122"/>
                <a:cs typeface="Calibri" pitchFamily="34" charset="-120"/>
              </a:rPr>
              <a:t>Explain how a high </a:t>
            </a:r>
            <a:r>
              <a:rPr lang="en-US" sz="1200" b="1" dirty="0">
                <a:solidFill>
                  <a:srgbClr val="262B3A"/>
                </a:solidFill>
                <a:latin typeface="Calibri" pitchFamily="34" charset="0"/>
                <a:ea typeface="Calibri" pitchFamily="34" charset="-122"/>
                <a:cs typeface="Calibri" pitchFamily="34" charset="-120"/>
              </a:rPr>
              <a:t>SA : V ratio</a:t>
            </a:r>
            <a:r>
              <a:rPr lang="en-US" sz="1200" dirty="0">
                <a:solidFill>
                  <a:srgbClr val="262B3A"/>
                </a:solidFill>
                <a:latin typeface="Calibri" pitchFamily="34" charset="0"/>
                <a:ea typeface="Calibri" pitchFamily="34" charset="-122"/>
                <a:cs typeface="Calibri" pitchFamily="34" charset="-120"/>
              </a:rPr>
              <a:t> changes the </a:t>
            </a:r>
            <a:r>
              <a:rPr lang="en-US" sz="1200" b="1" dirty="0">
                <a:solidFill>
                  <a:srgbClr val="262B3A"/>
                </a:solidFill>
                <a:latin typeface="Calibri" pitchFamily="34" charset="0"/>
                <a:ea typeface="Calibri" pitchFamily="34" charset="-122"/>
                <a:cs typeface="Calibri" pitchFamily="34" charset="-120"/>
              </a:rPr>
              <a:t>properties</a:t>
            </a:r>
            <a:r>
              <a:rPr lang="en-US" sz="1200" dirty="0">
                <a:solidFill>
                  <a:srgbClr val="262B3A"/>
                </a:solidFill>
                <a:latin typeface="Calibri" pitchFamily="34" charset="0"/>
                <a:ea typeface="Calibri" pitchFamily="34" charset="-122"/>
                <a:cs typeface="Calibri" pitchFamily="34" charset="-120"/>
              </a:rPr>
              <a:t> of nanoparticles.</a:t>
            </a:r>
            <a:endParaRPr lang="en-US" sz="1100" dirty="0"/>
          </a:p>
        </p:txBody>
      </p:sp>
      <p:sp>
        <p:nvSpPr>
          <p:cNvPr id="20" name="Shape 18"/>
          <p:cNvSpPr/>
          <p:nvPr/>
        </p:nvSpPr>
        <p:spPr>
          <a:xfrm>
            <a:off x="6263640" y="1325880"/>
            <a:ext cx="457200" cy="457200"/>
          </a:xfrm>
          <a:prstGeom prst="ellipse">
            <a:avLst/>
          </a:prstGeom>
          <a:solidFill>
            <a:srgbClr val="6A3FA0"/>
          </a:solidFill>
          <a:ln w="12700">
            <a:solidFill>
              <a:srgbClr val="6A3FA0"/>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C4.3.3   </a:t>
            </a:r>
            <a:r>
              <a:rPr lang="en-US" sz="1200" dirty="0">
                <a:solidFill>
                  <a:srgbClr val="262B3A"/>
                </a:solidFill>
                <a:latin typeface="Calibri" pitchFamily="34" charset="0"/>
                <a:ea typeface="Calibri" pitchFamily="34" charset="-122"/>
                <a:cs typeface="Calibri" pitchFamily="34" charset="-120"/>
              </a:rPr>
              <a:t>Relate the </a:t>
            </a:r>
            <a:r>
              <a:rPr lang="en-US" sz="1200" b="1" dirty="0">
                <a:solidFill>
                  <a:srgbClr val="262B3A"/>
                </a:solidFill>
                <a:latin typeface="Calibri" pitchFamily="34" charset="0"/>
                <a:ea typeface="Calibri" pitchFamily="34" charset="-122"/>
                <a:cs typeface="Calibri" pitchFamily="34" charset="-120"/>
              </a:rPr>
              <a:t>properties</a:t>
            </a:r>
            <a:r>
              <a:rPr lang="en-US" sz="1200" dirty="0">
                <a:solidFill>
                  <a:srgbClr val="262B3A"/>
                </a:solidFill>
                <a:latin typeface="Calibri" pitchFamily="34" charset="0"/>
                <a:ea typeface="Calibri" pitchFamily="34" charset="-122"/>
                <a:cs typeface="Calibri" pitchFamily="34" charset="-120"/>
              </a:rPr>
              <a:t> of nanoparticles (size, surface, atoms in </a:t>
            </a:r>
            <a:r>
              <a:rPr lang="en-US" sz="1200" b="1" dirty="0">
                <a:solidFill>
                  <a:srgbClr val="262B3A"/>
                </a:solidFill>
                <a:latin typeface="Calibri" pitchFamily="34" charset="0"/>
                <a:ea typeface="Calibri" pitchFamily="34" charset="-122"/>
                <a:cs typeface="Calibri" pitchFamily="34" charset="-120"/>
              </a:rPr>
              <a:t>tubes</a:t>
            </a:r>
            <a:r>
              <a:rPr lang="en-US" sz="1200" dirty="0">
                <a:solidFill>
                  <a:srgbClr val="262B3A"/>
                </a:solidFill>
                <a:latin typeface="Calibri" pitchFamily="34" charset="0"/>
                <a:ea typeface="Calibri" pitchFamily="34" charset="-122"/>
                <a:cs typeface="Calibri" pitchFamily="34" charset="-120"/>
              </a:rPr>
              <a:t> or </a:t>
            </a:r>
            <a:r>
              <a:rPr lang="en-US" sz="1200" b="1" dirty="0">
                <a:solidFill>
                  <a:srgbClr val="262B3A"/>
                </a:solidFill>
                <a:latin typeface="Calibri" pitchFamily="34" charset="0"/>
                <a:ea typeface="Calibri" pitchFamily="34" charset="-122"/>
                <a:cs typeface="Calibri" pitchFamily="34" charset="-120"/>
              </a:rPr>
              <a:t>rings</a:t>
            </a:r>
            <a:r>
              <a:rPr lang="en-US" sz="1200" dirty="0">
                <a:solidFill>
                  <a:srgbClr val="262B3A"/>
                </a:solidFill>
                <a:latin typeface="Calibri" pitchFamily="34" charset="0"/>
                <a:ea typeface="Calibri" pitchFamily="34" charset="-122"/>
                <a:cs typeface="Calibri" pitchFamily="34" charset="-120"/>
              </a:rPr>
              <a:t>) to their </a:t>
            </a:r>
            <a:r>
              <a:rPr lang="en-US" sz="1200" b="1" dirty="0">
                <a:solidFill>
                  <a:srgbClr val="262B3A"/>
                </a:solidFill>
                <a:latin typeface="Calibri" pitchFamily="34" charset="0"/>
                <a:ea typeface="Calibri" pitchFamily="34" charset="-122"/>
                <a:cs typeface="Calibri" pitchFamily="34" charset="-120"/>
              </a:rPr>
              <a:t>uses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6263640" y="2194560"/>
            <a:ext cx="457200" cy="457200"/>
          </a:xfrm>
          <a:prstGeom prst="ellipse">
            <a:avLst/>
          </a:prstGeom>
          <a:solidFill>
            <a:srgbClr val="6A3FA0"/>
          </a:solidFill>
          <a:ln w="12700">
            <a:solidFill>
              <a:srgbClr val="6A3FA0"/>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C4.3.4   </a:t>
            </a:r>
            <a:r>
              <a:rPr lang="en-US" sz="1200" dirty="0">
                <a:solidFill>
                  <a:srgbClr val="262B3A"/>
                </a:solidFill>
                <a:latin typeface="Calibri" pitchFamily="34" charset="0"/>
                <a:ea typeface="Calibri" pitchFamily="34" charset="-122"/>
                <a:cs typeface="Calibri" pitchFamily="34" charset="-120"/>
              </a:rPr>
              <a:t>Describe how nanoparticles are added to </a:t>
            </a:r>
            <a:r>
              <a:rPr lang="en-US" sz="1200" b="1" dirty="0">
                <a:solidFill>
                  <a:srgbClr val="262B3A"/>
                </a:solidFill>
                <a:latin typeface="Calibri" pitchFamily="34" charset="0"/>
                <a:ea typeface="Calibri" pitchFamily="34" charset="-122"/>
                <a:cs typeface="Calibri" pitchFamily="34" charset="-120"/>
              </a:rPr>
              <a:t>materials</a:t>
            </a:r>
            <a:r>
              <a:rPr lang="en-US" sz="1200" dirty="0">
                <a:solidFill>
                  <a:srgbClr val="262B3A"/>
                </a:solidFill>
                <a:latin typeface="Calibri" pitchFamily="34" charset="0"/>
                <a:ea typeface="Calibri" pitchFamily="34" charset="-122"/>
                <a:cs typeface="Calibri" pitchFamily="34" charset="-120"/>
              </a:rPr>
              <a:t>, e.g. silver in fabrics, nanotubes in plastics.</a:t>
            </a:r>
            <a:endParaRPr lang="en-US" sz="1100" dirty="0"/>
          </a:p>
        </p:txBody>
      </p:sp>
      <p:sp>
        <p:nvSpPr>
          <p:cNvPr id="26" name="Shape 24"/>
          <p:cNvSpPr/>
          <p:nvPr/>
        </p:nvSpPr>
        <p:spPr>
          <a:xfrm>
            <a:off x="6263640" y="3063240"/>
            <a:ext cx="457200" cy="457200"/>
          </a:xfrm>
          <a:prstGeom prst="ellipse">
            <a:avLst/>
          </a:prstGeom>
          <a:solidFill>
            <a:srgbClr val="6A3FA0"/>
          </a:solidFill>
          <a:ln w="12700">
            <a:solidFill>
              <a:srgbClr val="6A3FA0"/>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C4.3.5   </a:t>
            </a:r>
            <a:r>
              <a:rPr lang="en-US" sz="1200" dirty="0">
                <a:solidFill>
                  <a:srgbClr val="262B3A"/>
                </a:solidFill>
                <a:latin typeface="Calibri" pitchFamily="34" charset="0"/>
                <a:ea typeface="Calibri" pitchFamily="34" charset="-122"/>
                <a:cs typeface="Calibri" pitchFamily="34" charset="-120"/>
              </a:rPr>
              <a:t>Explain the possible </a:t>
            </a:r>
            <a:r>
              <a:rPr lang="en-US" sz="1200" b="1" dirty="0">
                <a:solidFill>
                  <a:srgbClr val="262B3A"/>
                </a:solidFill>
                <a:latin typeface="Calibri" pitchFamily="34" charset="0"/>
                <a:ea typeface="Calibri" pitchFamily="34" charset="-122"/>
                <a:cs typeface="Calibri" pitchFamily="34" charset="-120"/>
              </a:rPr>
              <a:t>risks</a:t>
            </a:r>
            <a:r>
              <a:rPr lang="en-US" sz="1200" dirty="0">
                <a:solidFill>
                  <a:srgbClr val="262B3A"/>
                </a:solidFill>
                <a:latin typeface="Calibri" pitchFamily="34" charset="0"/>
                <a:ea typeface="Calibri" pitchFamily="34" charset="-122"/>
                <a:cs typeface="Calibri" pitchFamily="34" charset="-120"/>
              </a:rPr>
              <a:t> of some nanoparticulate materials, and weigh </a:t>
            </a:r>
            <a:r>
              <a:rPr lang="en-US" sz="1200" b="1" dirty="0">
                <a:solidFill>
                  <a:srgbClr val="262B3A"/>
                </a:solidFill>
                <a:latin typeface="Calibri" pitchFamily="34" charset="0"/>
                <a:ea typeface="Calibri" pitchFamily="34" charset="-122"/>
                <a:cs typeface="Calibri" pitchFamily="34" charset="-120"/>
              </a:rPr>
              <a:t>benefits</a:t>
            </a:r>
            <a:r>
              <a:rPr lang="en-US" sz="1200" dirty="0">
                <a:solidFill>
                  <a:srgbClr val="262B3A"/>
                </a:solidFill>
                <a:latin typeface="Calibri" pitchFamily="34" charset="0"/>
                <a:ea typeface="Calibri" pitchFamily="34" charset="-122"/>
                <a:cs typeface="Calibri" pitchFamily="34" charset="-120"/>
              </a:rPr>
              <a:t> against </a:t>
            </a:r>
            <a:r>
              <a:rPr lang="en-US" sz="1200" b="1" dirty="0">
                <a:solidFill>
                  <a:srgbClr val="262B3A"/>
                </a:solidFill>
                <a:latin typeface="Calibri" pitchFamily="34" charset="0"/>
                <a:ea typeface="Calibri" pitchFamily="34" charset="-122"/>
                <a:cs typeface="Calibri" pitchFamily="34" charset="-120"/>
              </a:rPr>
              <a:t>risks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6263640" y="3931920"/>
            <a:ext cx="457200" cy="457200"/>
          </a:xfrm>
          <a:prstGeom prst="ellipse">
            <a:avLst/>
          </a:prstGeom>
          <a:solidFill>
            <a:srgbClr val="6A3FA0"/>
          </a:solidFill>
          <a:ln w="12700">
            <a:solidFill>
              <a:srgbClr val="6A3FA0"/>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C4.3.2   </a:t>
            </a:r>
            <a:r>
              <a:rPr lang="en-US" sz="1200" dirty="0">
                <a:solidFill>
                  <a:srgbClr val="262B3A"/>
                </a:solidFill>
                <a:latin typeface="Calibri" pitchFamily="34" charset="0"/>
                <a:ea typeface="Calibri" pitchFamily="34" charset="-122"/>
                <a:cs typeface="Calibri" pitchFamily="34" charset="-120"/>
              </a:rPr>
              <a:t>Practical: compare a </a:t>
            </a:r>
            <a:r>
              <a:rPr lang="en-US" sz="1200" b="1" dirty="0">
                <a:solidFill>
                  <a:srgbClr val="262B3A"/>
                </a:solidFill>
                <a:latin typeface="Calibri" pitchFamily="34" charset="0"/>
                <a:ea typeface="Calibri" pitchFamily="34" charset="-122"/>
                <a:cs typeface="Calibri" pitchFamily="34" charset="-120"/>
              </a:rPr>
              <a:t>powdered</a:t>
            </a:r>
            <a:r>
              <a:rPr lang="en-US" sz="1200" dirty="0">
                <a:solidFill>
                  <a:srgbClr val="262B3A"/>
                </a:solidFill>
                <a:latin typeface="Calibri" pitchFamily="34" charset="0"/>
                <a:ea typeface="Calibri" pitchFamily="34" charset="-122"/>
                <a:cs typeface="Calibri" pitchFamily="34" charset="-120"/>
              </a:rPr>
              <a:t> and a </a:t>
            </a:r>
            <a:r>
              <a:rPr lang="en-US" sz="1200" b="1" dirty="0">
                <a:solidFill>
                  <a:srgbClr val="262B3A"/>
                </a:solidFill>
                <a:latin typeface="Calibri" pitchFamily="34" charset="0"/>
                <a:ea typeface="Calibri" pitchFamily="34" charset="-122"/>
                <a:cs typeface="Calibri" pitchFamily="34" charset="-120"/>
              </a:rPr>
              <a:t>granular</a:t>
            </a:r>
            <a:r>
              <a:rPr lang="en-US" sz="1200" dirty="0">
                <a:solidFill>
                  <a:srgbClr val="262B3A"/>
                </a:solidFill>
                <a:latin typeface="Calibri" pitchFamily="34" charset="0"/>
                <a:ea typeface="Calibri" pitchFamily="34" charset="-122"/>
                <a:cs typeface="Calibri" pitchFamily="34" charset="-120"/>
              </a:rPr>
              <a:t> catalyst using a </a:t>
            </a:r>
            <a:r>
              <a:rPr lang="en-US" sz="1200" b="1" dirty="0">
                <a:solidFill>
                  <a:srgbClr val="262B3A"/>
                </a:solidFill>
                <a:latin typeface="Calibri" pitchFamily="34" charset="0"/>
                <a:ea typeface="Calibri" pitchFamily="34" charset="-122"/>
                <a:cs typeface="Calibri" pitchFamily="34" charset="-120"/>
              </a:rPr>
              <a:t>gas syringe</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Chapter C4 Material choices • C4.3 is Part 3 of 4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2A1F3D"/>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C4.3</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Nanoparticles</a:t>
            </a:r>
            <a:endParaRPr lang="en-US" sz="1100" dirty="0"/>
          </a:p>
        </p:txBody>
      </p:sp>
      <p:sp>
        <p:nvSpPr>
          <p:cNvPr id="10" name="Shape 8"/>
          <p:cNvSpPr/>
          <p:nvPr/>
        </p:nvSpPr>
        <p:spPr>
          <a:xfrm>
            <a:off x="914400" y="1920240"/>
            <a:ext cx="91" cy="3758184"/>
          </a:xfrm>
          <a:prstGeom prst="line">
            <a:avLst/>
          </a:prstGeom>
          <a:noFill/>
          <a:ln w="19050">
            <a:solidFill>
              <a:srgbClr val="6A3FA0"/>
            </a:solidFill>
            <a:prstDash val="solid"/>
          </a:ln>
        </p:spPr>
      </p:sp>
      <p:sp>
        <p:nvSpPr>
          <p:cNvPr id="11" name="Shape 9"/>
          <p:cNvSpPr/>
          <p:nvPr/>
        </p:nvSpPr>
        <p:spPr>
          <a:xfrm>
            <a:off x="914400" y="2386584"/>
            <a:ext cx="411480" cy="91"/>
          </a:xfrm>
          <a:prstGeom prst="line">
            <a:avLst/>
          </a:prstGeom>
          <a:noFill/>
          <a:ln w="19050">
            <a:solidFill>
              <a:srgbClr val="6A3FA0"/>
            </a:solidFill>
            <a:prstDash val="solid"/>
          </a:ln>
        </p:spPr>
      </p:sp>
      <p:sp>
        <p:nvSpPr>
          <p:cNvPr id="12" name="Shape 10"/>
          <p:cNvSpPr/>
          <p:nvPr/>
        </p:nvSpPr>
        <p:spPr>
          <a:xfrm>
            <a:off x="1325880" y="2103120"/>
            <a:ext cx="5120640" cy="566928"/>
          </a:xfrm>
          <a:prstGeom prst="roundRect">
            <a:avLst>
              <a:gd name="adj" fmla="val 8065"/>
            </a:avLst>
          </a:prstGeom>
          <a:solidFill>
            <a:srgbClr val="F8F5FC"/>
          </a:solidFill>
          <a:ln w="12700">
            <a:solidFill>
              <a:srgbClr val="DDD3EC"/>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C4.3.1   </a:t>
            </a:r>
            <a:r>
              <a:rPr lang="en-US" sz="1100" dirty="0">
                <a:solidFill>
                  <a:srgbClr val="262B3A"/>
                </a:solidFill>
                <a:latin typeface="Calibri" pitchFamily="34" charset="0"/>
                <a:ea typeface="Calibri" pitchFamily="34" charset="-122"/>
                <a:cs typeface="Calibri" pitchFamily="34" charset="-120"/>
              </a:rPr>
              <a:t>How small is nano? Sizes and standard form</a:t>
            </a:r>
            <a:endParaRPr lang="en-US" sz="1100" dirty="0"/>
          </a:p>
        </p:txBody>
      </p:sp>
      <p:sp>
        <p:nvSpPr>
          <p:cNvPr id="14" name="Shape 12"/>
          <p:cNvSpPr/>
          <p:nvPr/>
        </p:nvSpPr>
        <p:spPr>
          <a:xfrm>
            <a:off x="5257800" y="2249424"/>
            <a:ext cx="1097280" cy="274320"/>
          </a:xfrm>
          <a:prstGeom prst="roundRect">
            <a:avLst>
              <a:gd name="adj" fmla="val 50000"/>
            </a:avLst>
          </a:prstGeom>
          <a:solidFill>
            <a:srgbClr val="6A3FA0"/>
          </a:solidFill>
          <a:ln w="12700">
            <a:solidFill>
              <a:srgbClr val="6A3FA0"/>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6A3FA0"/>
            </a:solidFill>
            <a:prstDash val="solid"/>
          </a:ln>
        </p:spPr>
      </p:sp>
      <p:sp>
        <p:nvSpPr>
          <p:cNvPr id="17" name="Shape 15"/>
          <p:cNvSpPr/>
          <p:nvPr/>
        </p:nvSpPr>
        <p:spPr>
          <a:xfrm>
            <a:off x="1325880" y="2761488"/>
            <a:ext cx="5120640" cy="566928"/>
          </a:xfrm>
          <a:prstGeom prst="roundRect">
            <a:avLst>
              <a:gd name="adj" fmla="val 8065"/>
            </a:avLst>
          </a:prstGeom>
          <a:solidFill>
            <a:srgbClr val="F8F5FC"/>
          </a:solidFill>
          <a:ln w="12700">
            <a:solidFill>
              <a:srgbClr val="DDD3EC"/>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C4.3.2   </a:t>
            </a:r>
            <a:r>
              <a:rPr lang="en-US" sz="1100" dirty="0">
                <a:solidFill>
                  <a:srgbClr val="262B3A"/>
                </a:solidFill>
                <a:latin typeface="Calibri" pitchFamily="34" charset="0"/>
                <a:ea typeface="Calibri" pitchFamily="34" charset="-122"/>
                <a:cs typeface="Calibri" pitchFamily="34" charset="-120"/>
              </a:rPr>
              <a:t>Surface area to volume and surface atoms</a:t>
            </a:r>
            <a:endParaRPr lang="en-US" sz="1100" dirty="0"/>
          </a:p>
        </p:txBody>
      </p:sp>
      <p:sp>
        <p:nvSpPr>
          <p:cNvPr id="19" name="Shape 17"/>
          <p:cNvSpPr/>
          <p:nvPr/>
        </p:nvSpPr>
        <p:spPr>
          <a:xfrm>
            <a:off x="5257800" y="2907792"/>
            <a:ext cx="1097280" cy="274320"/>
          </a:xfrm>
          <a:prstGeom prst="roundRect">
            <a:avLst>
              <a:gd name="adj" fmla="val 50000"/>
            </a:avLst>
          </a:prstGeom>
          <a:solidFill>
            <a:srgbClr val="6A3FA0"/>
          </a:solidFill>
          <a:ln w="12700">
            <a:solidFill>
              <a:srgbClr val="6A3FA0"/>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6A3FA0"/>
            </a:solidFill>
            <a:prstDash val="solid"/>
          </a:ln>
        </p:spPr>
      </p:sp>
      <p:sp>
        <p:nvSpPr>
          <p:cNvPr id="22" name="Shape 20"/>
          <p:cNvSpPr/>
          <p:nvPr/>
        </p:nvSpPr>
        <p:spPr>
          <a:xfrm>
            <a:off x="1325880" y="3419856"/>
            <a:ext cx="5120640" cy="566928"/>
          </a:xfrm>
          <a:prstGeom prst="roundRect">
            <a:avLst>
              <a:gd name="adj" fmla="val 8065"/>
            </a:avLst>
          </a:prstGeom>
          <a:solidFill>
            <a:srgbClr val="F8F5FC"/>
          </a:solidFill>
          <a:ln w="12700">
            <a:solidFill>
              <a:srgbClr val="DDD3EC"/>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Powder vs granules: catalyst surface area</a:t>
            </a:r>
            <a:endParaRPr lang="en-US" sz="1100" dirty="0"/>
          </a:p>
        </p:txBody>
      </p:sp>
      <p:sp>
        <p:nvSpPr>
          <p:cNvPr id="24" name="Shape 22"/>
          <p:cNvSpPr/>
          <p:nvPr/>
        </p:nvSpPr>
        <p:spPr>
          <a:xfrm>
            <a:off x="5257800" y="3566160"/>
            <a:ext cx="1097280" cy="274320"/>
          </a:xfrm>
          <a:prstGeom prst="roundRect">
            <a:avLst>
              <a:gd name="adj" fmla="val 50000"/>
            </a:avLst>
          </a:prstGeom>
          <a:solidFill>
            <a:srgbClr val="B8730A"/>
          </a:solidFill>
          <a:ln w="12700">
            <a:solidFill>
              <a:srgbClr val="B8730A"/>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26" name="Shape 24"/>
          <p:cNvSpPr/>
          <p:nvPr/>
        </p:nvSpPr>
        <p:spPr>
          <a:xfrm>
            <a:off x="914400" y="4361688"/>
            <a:ext cx="411480" cy="91"/>
          </a:xfrm>
          <a:prstGeom prst="line">
            <a:avLst/>
          </a:prstGeom>
          <a:noFill/>
          <a:ln w="19050">
            <a:solidFill>
              <a:srgbClr val="6A3FA0"/>
            </a:solidFill>
            <a:prstDash val="solid"/>
          </a:ln>
        </p:spPr>
      </p:sp>
      <p:sp>
        <p:nvSpPr>
          <p:cNvPr id="27" name="Shape 25"/>
          <p:cNvSpPr/>
          <p:nvPr/>
        </p:nvSpPr>
        <p:spPr>
          <a:xfrm>
            <a:off x="1325880" y="4078224"/>
            <a:ext cx="5120640" cy="566928"/>
          </a:xfrm>
          <a:prstGeom prst="roundRect">
            <a:avLst>
              <a:gd name="adj" fmla="val 8065"/>
            </a:avLst>
          </a:prstGeom>
          <a:solidFill>
            <a:srgbClr val="F8F5FC"/>
          </a:solidFill>
          <a:ln w="12700">
            <a:solidFill>
              <a:srgbClr val="DDD3EC"/>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C4.3.3   </a:t>
            </a:r>
            <a:r>
              <a:rPr lang="en-US" sz="1100" dirty="0">
                <a:solidFill>
                  <a:srgbClr val="262B3A"/>
                </a:solidFill>
                <a:latin typeface="Calibri" pitchFamily="34" charset="0"/>
                <a:ea typeface="Calibri" pitchFamily="34" charset="-122"/>
                <a:cs typeface="Calibri" pitchFamily="34" charset="-120"/>
              </a:rPr>
              <a:t>Uses: catalysts, sunscreen, silver, nanotubes</a:t>
            </a:r>
            <a:endParaRPr lang="en-US" sz="1100" dirty="0"/>
          </a:p>
        </p:txBody>
      </p:sp>
      <p:sp>
        <p:nvSpPr>
          <p:cNvPr id="29" name="Shape 27"/>
          <p:cNvSpPr/>
          <p:nvPr/>
        </p:nvSpPr>
        <p:spPr>
          <a:xfrm>
            <a:off x="5257800" y="4224528"/>
            <a:ext cx="1097280" cy="274320"/>
          </a:xfrm>
          <a:prstGeom prst="roundRect">
            <a:avLst>
              <a:gd name="adj" fmla="val 50000"/>
            </a:avLst>
          </a:prstGeom>
          <a:solidFill>
            <a:srgbClr val="6A3FA0"/>
          </a:solidFill>
          <a:ln w="12700">
            <a:solidFill>
              <a:srgbClr val="6A3FA0"/>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6A3FA0"/>
            </a:solidFill>
            <a:prstDash val="solid"/>
          </a:ln>
        </p:spPr>
      </p:sp>
      <p:sp>
        <p:nvSpPr>
          <p:cNvPr id="32" name="Shape 30"/>
          <p:cNvSpPr/>
          <p:nvPr/>
        </p:nvSpPr>
        <p:spPr>
          <a:xfrm>
            <a:off x="1325880" y="4736592"/>
            <a:ext cx="5120640" cy="566928"/>
          </a:xfrm>
          <a:prstGeom prst="roundRect">
            <a:avLst>
              <a:gd name="adj" fmla="val 8065"/>
            </a:avLst>
          </a:prstGeom>
          <a:solidFill>
            <a:srgbClr val="F8F5FC"/>
          </a:solidFill>
          <a:ln w="12700">
            <a:solidFill>
              <a:srgbClr val="DDD3EC"/>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C4.3.4   </a:t>
            </a:r>
            <a:r>
              <a:rPr lang="en-US" sz="1100" dirty="0">
                <a:solidFill>
                  <a:srgbClr val="262B3A"/>
                </a:solidFill>
                <a:latin typeface="Calibri" pitchFamily="34" charset="0"/>
                <a:ea typeface="Calibri" pitchFamily="34" charset="-122"/>
                <a:cs typeface="Calibri" pitchFamily="34" charset="-120"/>
              </a:rPr>
              <a:t>Nanoparticles in materials (nanocomposites)</a:t>
            </a:r>
            <a:endParaRPr lang="en-US" sz="1100" dirty="0"/>
          </a:p>
        </p:txBody>
      </p:sp>
      <p:sp>
        <p:nvSpPr>
          <p:cNvPr id="34" name="Shape 32"/>
          <p:cNvSpPr/>
          <p:nvPr/>
        </p:nvSpPr>
        <p:spPr>
          <a:xfrm>
            <a:off x="5257800" y="4882896"/>
            <a:ext cx="1097280" cy="274320"/>
          </a:xfrm>
          <a:prstGeom prst="roundRect">
            <a:avLst>
              <a:gd name="adj" fmla="val 50000"/>
            </a:avLst>
          </a:prstGeom>
          <a:solidFill>
            <a:srgbClr val="6A3FA0"/>
          </a:solidFill>
          <a:ln w="12700">
            <a:solidFill>
              <a:srgbClr val="6A3FA0"/>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6A3FA0"/>
            </a:solidFill>
            <a:prstDash val="solid"/>
          </a:ln>
        </p:spPr>
      </p:sp>
      <p:sp>
        <p:nvSpPr>
          <p:cNvPr id="37" name="Shape 35"/>
          <p:cNvSpPr/>
          <p:nvPr/>
        </p:nvSpPr>
        <p:spPr>
          <a:xfrm>
            <a:off x="1325880" y="5394960"/>
            <a:ext cx="5120640" cy="566928"/>
          </a:xfrm>
          <a:prstGeom prst="roundRect">
            <a:avLst>
              <a:gd name="adj" fmla="val 8065"/>
            </a:avLst>
          </a:prstGeom>
          <a:solidFill>
            <a:srgbClr val="F8F5FC"/>
          </a:solidFill>
          <a:ln w="12700">
            <a:solidFill>
              <a:srgbClr val="DDD3EC"/>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C4.3.5   </a:t>
            </a:r>
            <a:r>
              <a:rPr lang="en-US" sz="1100" dirty="0">
                <a:solidFill>
                  <a:srgbClr val="262B3A"/>
                </a:solidFill>
                <a:latin typeface="Calibri" pitchFamily="34" charset="0"/>
                <a:ea typeface="Calibri" pitchFamily="34" charset="-122"/>
                <a:cs typeface="Calibri" pitchFamily="34" charset="-120"/>
              </a:rPr>
              <a:t>Risks, and benefits against risks</a:t>
            </a:r>
            <a:endParaRPr lang="en-US" sz="1100" dirty="0"/>
          </a:p>
        </p:txBody>
      </p:sp>
      <p:sp>
        <p:nvSpPr>
          <p:cNvPr id="39" name="Shape 37"/>
          <p:cNvSpPr/>
          <p:nvPr/>
        </p:nvSpPr>
        <p:spPr>
          <a:xfrm>
            <a:off x="5257800" y="5541264"/>
            <a:ext cx="1097280" cy="274320"/>
          </a:xfrm>
          <a:prstGeom prst="roundRect">
            <a:avLst>
              <a:gd name="adj" fmla="val 50000"/>
            </a:avLst>
          </a:prstGeom>
          <a:solidFill>
            <a:srgbClr val="6A3FA0"/>
          </a:solidFill>
          <a:ln w="12700">
            <a:solidFill>
              <a:srgbClr val="6A3FA0"/>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C1 particulates, catalytic converters • C2 atoms, covalent bonds • C4.2 graphite</a:t>
            </a:r>
            <a:endParaRPr lang="en-US" sz="1050" dirty="0"/>
          </a:p>
        </p:txBody>
      </p:sp>
      <p:sp>
        <p:nvSpPr>
          <p:cNvPr id="42" name="Shape 40"/>
          <p:cNvSpPr/>
          <p:nvPr/>
        </p:nvSpPr>
        <p:spPr>
          <a:xfrm>
            <a:off x="6720840" y="1234440"/>
            <a:ext cx="5056632" cy="2514600"/>
          </a:xfrm>
          <a:prstGeom prst="roundRect">
            <a:avLst>
              <a:gd name="adj" fmla="val 2182"/>
            </a:avLst>
          </a:prstGeom>
          <a:solidFill>
            <a:srgbClr val="2E1A47"/>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C4 in J260</a:t>
            </a:r>
            <a:endParaRPr lang="en-US" sz="1500" dirty="0"/>
          </a:p>
          <a:p>
            <a:pPr marL="152400" indent="-152400">
              <a:spcAft>
                <a:spcPts val="200"/>
              </a:spcAft>
              <a:buSzPct val="100000"/>
              <a:buChar char="▪"/>
            </a:pPr>
            <a:r>
              <a:rPr lang="en-US" sz="1100" dirty="0">
                <a:solidFill>
                  <a:srgbClr val="E4DAF5"/>
                </a:solidFill>
                <a:latin typeface="Calibri" pitchFamily="34" charset="0"/>
                <a:ea typeface="Calibri" pitchFamily="34" charset="-122"/>
                <a:cs typeface="Calibri" pitchFamily="34" charset="-120"/>
              </a:rPr>
              <a:t>C4.1 How is data used to choose a material for a particular use?</a:t>
            </a:r>
            <a:endParaRPr lang="en-US" sz="1500" dirty="0"/>
          </a:p>
          <a:p>
            <a:pPr marL="152400" indent="-152400">
              <a:spcAft>
                <a:spcPts val="200"/>
              </a:spcAft>
              <a:buSzPct val="100000"/>
              <a:buChar char="▪"/>
            </a:pPr>
            <a:r>
              <a:rPr lang="en-US" sz="1100" dirty="0">
                <a:solidFill>
                  <a:srgbClr val="E4DAF5"/>
                </a:solidFill>
                <a:latin typeface="Calibri" pitchFamily="34" charset="0"/>
                <a:ea typeface="Calibri" pitchFamily="34" charset="-122"/>
                <a:cs typeface="Calibri" pitchFamily="34" charset="-120"/>
              </a:rPr>
              <a:t>C4.2 How do bonding and structure affect properties of materials?</a:t>
            </a:r>
            <a:endParaRPr lang="en-US" sz="1500" dirty="0"/>
          </a:p>
          <a:p>
            <a:pPr marL="152400" indent="-152400">
              <a:spcAft>
                <a:spcPts val="200"/>
              </a:spcAft>
              <a:buSzPct val="100000"/>
              <a:buChar char="▪"/>
            </a:pPr>
            <a:r>
              <a:rPr lang="en-US" sz="1100" b="1" dirty="0">
                <a:solidFill>
                  <a:srgbClr val="E4DAF5"/>
                </a:solidFill>
                <a:latin typeface="Calibri" pitchFamily="34" charset="0"/>
                <a:ea typeface="Calibri" pitchFamily="34" charset="-122"/>
                <a:cs typeface="Calibri" pitchFamily="34" charset="-120"/>
              </a:rPr>
              <a:t>C4.3 Why are nanoparticles so useful?</a:t>
            </a:r>
            <a:r>
              <a:rPr lang="en-US" sz="1100" dirty="0">
                <a:solidFill>
                  <a:srgbClr val="E4DAF5"/>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4DAF5"/>
                </a:solidFill>
                <a:latin typeface="Calibri" pitchFamily="34" charset="0"/>
                <a:ea typeface="Calibri" pitchFamily="34" charset="-122"/>
                <a:cs typeface="Calibri" pitchFamily="34" charset="-120"/>
              </a:rPr>
              <a:t>C4.4 Life cycle of materials (life cycle assessment)</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No C4.3 statement is Higher only. Harder maths is marked </a:t>
            </a:r>
            <a:r>
              <a:rPr lang="en-US" sz="1100" b="1" dirty="0">
                <a:solidFill>
                  <a:srgbClr val="262B3A"/>
                </a:solidFill>
                <a:latin typeface="Calibri" pitchFamily="34" charset="0"/>
                <a:ea typeface="Calibri" pitchFamily="34" charset="-122"/>
                <a:cs typeface="Calibri" pitchFamily="34" charset="-120"/>
              </a:rPr>
              <a:t>GRADE 7–9 STRETCH</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Ideas about Science: </a:t>
            </a:r>
            <a:r>
              <a:rPr lang="en-US" sz="1100" b="1" dirty="0">
                <a:solidFill>
                  <a:srgbClr val="262B3A"/>
                </a:solidFill>
                <a:latin typeface="Calibri" pitchFamily="34" charset="0"/>
                <a:ea typeface="Calibri" pitchFamily="34" charset="-122"/>
                <a:cs typeface="Calibri" pitchFamily="34" charset="-120"/>
              </a:rPr>
              <a:t>risk</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benefits and risks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uncertainty</a:t>
            </a:r>
            <a:r>
              <a:rPr lang="en-US" sz="1100" dirty="0">
                <a:solidFill>
                  <a:srgbClr val="262B3A"/>
                </a:solidFill>
                <a:latin typeface="Calibri" pitchFamily="34" charset="0"/>
                <a:ea typeface="Calibri" pitchFamily="34" charset="-122"/>
                <a:cs typeface="Calibri" pitchFamily="34" charset="-120"/>
              </a:rPr>
              <a:t> and who </a:t>
            </a:r>
            <a:r>
              <a:rPr lang="en-US" sz="1100" b="1" dirty="0">
                <a:solidFill>
                  <a:srgbClr val="262B3A"/>
                </a:solidFill>
                <a:latin typeface="Calibri" pitchFamily="34" charset="0"/>
                <a:ea typeface="Calibri" pitchFamily="34" charset="-122"/>
                <a:cs typeface="Calibri" pitchFamily="34" charset="-120"/>
              </a:rPr>
              <a:t>decides</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standard form</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ratios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surface area and volume</a:t>
            </a:r>
            <a:r>
              <a:rPr lang="en-US" sz="1100" dirty="0">
                <a:solidFill>
                  <a:srgbClr val="262B3A"/>
                </a:solidFill>
                <a:latin typeface="Calibri" pitchFamily="34" charset="0"/>
                <a:ea typeface="Calibri" pitchFamily="34" charset="-122"/>
                <a:cs typeface="Calibri" pitchFamily="34" charset="-120"/>
              </a:rPr>
              <a:t> of cubes, </a:t>
            </a:r>
            <a:r>
              <a:rPr lang="en-US" sz="1100" b="1" dirty="0">
                <a:solidFill>
                  <a:srgbClr val="262B3A"/>
                </a:solidFill>
                <a:latin typeface="Calibri" pitchFamily="34" charset="0"/>
                <a:ea typeface="Calibri" pitchFamily="34" charset="-122"/>
                <a:cs typeface="Calibri" pitchFamily="34" charset="-120"/>
              </a:rPr>
              <a:t>rates</a:t>
            </a:r>
            <a:r>
              <a:rPr lang="en-US" sz="1100" dirty="0">
                <a:solidFill>
                  <a:srgbClr val="262B3A"/>
                </a:solidFill>
                <a:latin typeface="Calibri" pitchFamily="34" charset="0"/>
                <a:ea typeface="Calibri" pitchFamily="34" charset="-122"/>
                <a:cs typeface="Calibri" pitchFamily="34" charset="-120"/>
              </a:rPr>
              <a:t> from a graph.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Recall from C1, C2 and C4.2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8F5FC"/>
          </a:solidFill>
          <a:ln w="9525">
            <a:solidFill>
              <a:srgbClr val="DDD3EC"/>
            </a:solidFill>
            <a:prstDash val="solid"/>
          </a:ln>
        </p:spPr>
      </p:sp>
      <p:sp>
        <p:nvSpPr>
          <p:cNvPr id="9" name="Shape 7"/>
          <p:cNvSpPr/>
          <p:nvPr/>
        </p:nvSpPr>
        <p:spPr>
          <a:xfrm>
            <a:off x="548640" y="1371600"/>
            <a:ext cx="438912" cy="438912"/>
          </a:xfrm>
          <a:prstGeom prst="ellipse">
            <a:avLst/>
          </a:prstGeom>
          <a:solidFill>
            <a:srgbClr val="6A3FA0"/>
          </a:solidFill>
          <a:ln w="12700">
            <a:solidFill>
              <a:srgbClr val="6A3FA0"/>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atoms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Roughly how wide is an </a:t>
            </a:r>
            <a:r>
              <a:rPr lang="en-US" sz="1250" b="1" dirty="0">
                <a:solidFill>
                  <a:srgbClr val="262B3A"/>
                </a:solidFill>
                <a:latin typeface="Calibri" pitchFamily="34" charset="0"/>
                <a:ea typeface="Calibri" pitchFamily="34" charset="-122"/>
                <a:cs typeface="Calibri" pitchFamily="34" charset="-120"/>
              </a:rPr>
              <a:t>atom</a:t>
            </a:r>
            <a:r>
              <a:rPr lang="en-US" sz="1250" dirty="0">
                <a:solidFill>
                  <a:srgbClr val="262B3A"/>
                </a:solidFill>
                <a:latin typeface="Calibri" pitchFamily="34" charset="0"/>
                <a:ea typeface="Calibri" pitchFamily="34" charset="-122"/>
                <a:cs typeface="Calibri" pitchFamily="34" charset="-120"/>
              </a:rPr>
              <a:t>, in metres? Which particles are in its </a:t>
            </a:r>
            <a:r>
              <a:rPr lang="en-US" sz="1250" b="1" dirty="0">
                <a:solidFill>
                  <a:srgbClr val="262B3A"/>
                </a:solidFill>
                <a:latin typeface="Calibri" pitchFamily="34" charset="0"/>
                <a:ea typeface="Calibri" pitchFamily="34" charset="-122"/>
                <a:cs typeface="Calibri" pitchFamily="34" charset="-120"/>
              </a:rPr>
              <a:t>nucleus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3" name="Shape 11"/>
          <p:cNvSpPr/>
          <p:nvPr/>
        </p:nvSpPr>
        <p:spPr>
          <a:xfrm>
            <a:off x="4251960" y="1234440"/>
            <a:ext cx="3657600" cy="2011680"/>
          </a:xfrm>
          <a:prstGeom prst="roundRect">
            <a:avLst>
              <a:gd name="adj" fmla="val 2727"/>
            </a:avLst>
          </a:prstGeom>
          <a:solidFill>
            <a:srgbClr val="F8F5FC"/>
          </a:solidFill>
          <a:ln w="9525">
            <a:solidFill>
              <a:srgbClr val="DDD3EC"/>
            </a:solidFill>
            <a:prstDash val="solid"/>
          </a:ln>
        </p:spPr>
      </p:sp>
      <p:sp>
        <p:nvSpPr>
          <p:cNvPr id="14" name="Shape 12"/>
          <p:cNvSpPr/>
          <p:nvPr/>
        </p:nvSpPr>
        <p:spPr>
          <a:xfrm>
            <a:off x="4389120" y="1371600"/>
            <a:ext cx="438912" cy="438912"/>
          </a:xfrm>
          <a:prstGeom prst="ellipse">
            <a:avLst/>
          </a:prstGeom>
          <a:solidFill>
            <a:srgbClr val="6A3FA0"/>
          </a:solidFill>
          <a:ln w="12700">
            <a:solidFill>
              <a:srgbClr val="6A3FA0"/>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C1 • air pollution</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Diesel engines release </a:t>
            </a:r>
            <a:r>
              <a:rPr lang="en-US" sz="1250" b="1" dirty="0">
                <a:solidFill>
                  <a:srgbClr val="262B3A"/>
                </a:solidFill>
                <a:latin typeface="Calibri" pitchFamily="34" charset="0"/>
                <a:ea typeface="Calibri" pitchFamily="34" charset="-122"/>
                <a:cs typeface="Calibri" pitchFamily="34" charset="-120"/>
              </a:rPr>
              <a:t>particulates</a:t>
            </a:r>
            <a:r>
              <a:rPr lang="en-US" sz="1250" dirty="0">
                <a:solidFill>
                  <a:srgbClr val="262B3A"/>
                </a:solidFill>
                <a:latin typeface="Calibri" pitchFamily="34" charset="0"/>
                <a:ea typeface="Calibri" pitchFamily="34" charset="-122"/>
                <a:cs typeface="Calibri" pitchFamily="34" charset="-120"/>
              </a:rPr>
              <a:t>. What are they, and why are they harmful to health?</a:t>
            </a:r>
            <a:endParaRPr lang="en-US" sz="1250" dirty="0"/>
          </a:p>
        </p:txBody>
      </p:sp>
      <p:sp>
        <p:nvSpPr>
          <p:cNvPr id="18" name="Shape 16"/>
          <p:cNvSpPr/>
          <p:nvPr/>
        </p:nvSpPr>
        <p:spPr>
          <a:xfrm>
            <a:off x="8092440" y="1234440"/>
            <a:ext cx="3657600" cy="2011680"/>
          </a:xfrm>
          <a:prstGeom prst="roundRect">
            <a:avLst>
              <a:gd name="adj" fmla="val 2727"/>
            </a:avLst>
          </a:prstGeom>
          <a:solidFill>
            <a:srgbClr val="F8F5FC"/>
          </a:solidFill>
          <a:ln w="9525">
            <a:solidFill>
              <a:srgbClr val="DDD3EC"/>
            </a:solidFill>
            <a:prstDash val="solid"/>
          </a:ln>
        </p:spPr>
      </p:sp>
      <p:sp>
        <p:nvSpPr>
          <p:cNvPr id="19" name="Shape 17"/>
          <p:cNvSpPr/>
          <p:nvPr/>
        </p:nvSpPr>
        <p:spPr>
          <a:xfrm>
            <a:off x="8229600" y="1371600"/>
            <a:ext cx="438912" cy="438912"/>
          </a:xfrm>
          <a:prstGeom prst="ellipse">
            <a:avLst/>
          </a:prstGeom>
          <a:solidFill>
            <a:srgbClr val="6A3FA0"/>
          </a:solidFill>
          <a:ln w="12700">
            <a:solidFill>
              <a:srgbClr val="6A3FA0"/>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C1 • cleaning up exhaust</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catalytic converter</a:t>
            </a:r>
            <a:r>
              <a:rPr lang="en-US" sz="1250" dirty="0">
                <a:solidFill>
                  <a:srgbClr val="262B3A"/>
                </a:solidFill>
                <a:latin typeface="Calibri" pitchFamily="34" charset="0"/>
                <a:ea typeface="Calibri" pitchFamily="34" charset="-122"/>
                <a:cs typeface="Calibri" pitchFamily="34" charset="-120"/>
              </a:rPr>
              <a:t> contains platinum. What does a </a:t>
            </a:r>
            <a:r>
              <a:rPr lang="en-US" sz="1250" b="1" dirty="0">
                <a:solidFill>
                  <a:srgbClr val="262B3A"/>
                </a:solidFill>
                <a:latin typeface="Calibri" pitchFamily="34" charset="0"/>
                <a:ea typeface="Calibri" pitchFamily="34" charset="-122"/>
                <a:cs typeface="Calibri" pitchFamily="34" charset="-120"/>
              </a:rPr>
              <a:t>catalyst</a:t>
            </a:r>
            <a:r>
              <a:rPr lang="en-US" sz="1250" dirty="0">
                <a:solidFill>
                  <a:srgbClr val="262B3A"/>
                </a:solidFill>
                <a:latin typeface="Calibri" pitchFamily="34" charset="0"/>
                <a:ea typeface="Calibri" pitchFamily="34" charset="-122"/>
                <a:cs typeface="Calibri" pitchFamily="34" charset="-120"/>
              </a:rPr>
              <a:t> do?</a:t>
            </a:r>
            <a:endParaRPr lang="en-US" sz="1250" dirty="0"/>
          </a:p>
        </p:txBody>
      </p:sp>
      <p:sp>
        <p:nvSpPr>
          <p:cNvPr id="23" name="Shape 21"/>
          <p:cNvSpPr/>
          <p:nvPr/>
        </p:nvSpPr>
        <p:spPr>
          <a:xfrm>
            <a:off x="411480" y="3429000"/>
            <a:ext cx="3657600" cy="2011680"/>
          </a:xfrm>
          <a:prstGeom prst="roundRect">
            <a:avLst>
              <a:gd name="adj" fmla="val 2727"/>
            </a:avLst>
          </a:prstGeom>
          <a:solidFill>
            <a:srgbClr val="F8F5FC"/>
          </a:solidFill>
          <a:ln w="9525">
            <a:solidFill>
              <a:srgbClr val="DDD3EC"/>
            </a:solidFill>
            <a:prstDash val="solid"/>
          </a:ln>
        </p:spPr>
      </p:sp>
      <p:sp>
        <p:nvSpPr>
          <p:cNvPr id="24" name="Shape 22"/>
          <p:cNvSpPr/>
          <p:nvPr/>
        </p:nvSpPr>
        <p:spPr>
          <a:xfrm>
            <a:off x="548640" y="3566160"/>
            <a:ext cx="438912" cy="438912"/>
          </a:xfrm>
          <a:prstGeom prst="ellipse">
            <a:avLst/>
          </a:prstGeom>
          <a:solidFill>
            <a:srgbClr val="6A3FA0"/>
          </a:solidFill>
          <a:ln w="12700">
            <a:solidFill>
              <a:srgbClr val="6A3FA0"/>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bonding</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covalent bond</a:t>
            </a:r>
            <a:r>
              <a:rPr lang="en-US" sz="1250" dirty="0">
                <a:solidFill>
                  <a:srgbClr val="262B3A"/>
                </a:solidFill>
                <a:latin typeface="Calibri" pitchFamily="34" charset="0"/>
                <a:ea typeface="Calibri" pitchFamily="34" charset="-122"/>
                <a:cs typeface="Calibri" pitchFamily="34" charset="-120"/>
              </a:rPr>
              <a:t>? Which type of elements form covalent bonds?</a:t>
            </a:r>
            <a:endParaRPr lang="en-US" sz="1250" dirty="0"/>
          </a:p>
        </p:txBody>
      </p:sp>
      <p:sp>
        <p:nvSpPr>
          <p:cNvPr id="28" name="Shape 26"/>
          <p:cNvSpPr/>
          <p:nvPr/>
        </p:nvSpPr>
        <p:spPr>
          <a:xfrm>
            <a:off x="4251960" y="3429000"/>
            <a:ext cx="3657600" cy="2011680"/>
          </a:xfrm>
          <a:prstGeom prst="roundRect">
            <a:avLst>
              <a:gd name="adj" fmla="val 2727"/>
            </a:avLst>
          </a:prstGeom>
          <a:solidFill>
            <a:srgbClr val="F8F5FC"/>
          </a:solidFill>
          <a:ln w="9525">
            <a:solidFill>
              <a:srgbClr val="DDD3EC"/>
            </a:solidFill>
            <a:prstDash val="solid"/>
          </a:ln>
        </p:spPr>
      </p:sp>
      <p:sp>
        <p:nvSpPr>
          <p:cNvPr id="29" name="Shape 27"/>
          <p:cNvSpPr/>
          <p:nvPr/>
        </p:nvSpPr>
        <p:spPr>
          <a:xfrm>
            <a:off x="4389120" y="3566160"/>
            <a:ext cx="438912" cy="438912"/>
          </a:xfrm>
          <a:prstGeom prst="ellipse">
            <a:avLst/>
          </a:prstGeom>
          <a:solidFill>
            <a:srgbClr val="6A3FA0"/>
          </a:solidFill>
          <a:ln w="12700">
            <a:solidFill>
              <a:srgbClr val="6A3FA0"/>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C4.2 • carbon structures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structure of </a:t>
            </a:r>
            <a:r>
              <a:rPr lang="en-US" sz="1250" b="1" dirty="0">
                <a:solidFill>
                  <a:srgbClr val="262B3A"/>
                </a:solidFill>
                <a:latin typeface="Calibri" pitchFamily="34" charset="0"/>
                <a:ea typeface="Calibri" pitchFamily="34" charset="-122"/>
                <a:cs typeface="Calibri" pitchFamily="34" charset="-120"/>
              </a:rPr>
              <a:t>graphite</a:t>
            </a:r>
            <a:r>
              <a:rPr lang="en-US" sz="1250" dirty="0">
                <a:solidFill>
                  <a:srgbClr val="262B3A"/>
                </a:solidFill>
                <a:latin typeface="Calibri" pitchFamily="34" charset="0"/>
                <a:ea typeface="Calibri" pitchFamily="34" charset="-122"/>
                <a:cs typeface="Calibri" pitchFamily="34" charset="-120"/>
              </a:rPr>
              <a:t>. Why can graphite </a:t>
            </a:r>
            <a:r>
              <a:rPr lang="en-US" sz="1250" b="1" dirty="0">
                <a:solidFill>
                  <a:srgbClr val="262B3A"/>
                </a:solidFill>
                <a:latin typeface="Calibri" pitchFamily="34" charset="0"/>
                <a:ea typeface="Calibri" pitchFamily="34" charset="-122"/>
                <a:cs typeface="Calibri" pitchFamily="34" charset="-120"/>
              </a:rPr>
              <a:t>conduct</a:t>
            </a:r>
            <a:r>
              <a:rPr lang="en-US" sz="1250" dirty="0">
                <a:solidFill>
                  <a:srgbClr val="262B3A"/>
                </a:solidFill>
                <a:latin typeface="Calibri" pitchFamily="34" charset="0"/>
                <a:ea typeface="Calibri" pitchFamily="34" charset="-122"/>
                <a:cs typeface="Calibri" pitchFamily="34" charset="-120"/>
              </a:rPr>
              <a:t> electricity?</a:t>
            </a:r>
            <a:endParaRPr lang="en-US" sz="1250" dirty="0"/>
          </a:p>
        </p:txBody>
      </p:sp>
      <p:sp>
        <p:nvSpPr>
          <p:cNvPr id="33" name="Shape 31"/>
          <p:cNvSpPr/>
          <p:nvPr/>
        </p:nvSpPr>
        <p:spPr>
          <a:xfrm>
            <a:off x="8092440" y="3429000"/>
            <a:ext cx="3657600" cy="2011680"/>
          </a:xfrm>
          <a:prstGeom prst="roundRect">
            <a:avLst>
              <a:gd name="adj" fmla="val 2727"/>
            </a:avLst>
          </a:prstGeom>
          <a:solidFill>
            <a:srgbClr val="F8F5FC"/>
          </a:solidFill>
          <a:ln w="9525">
            <a:solidFill>
              <a:srgbClr val="DDD3EC"/>
            </a:solidFill>
            <a:prstDash val="solid"/>
          </a:ln>
        </p:spPr>
      </p:sp>
      <p:sp>
        <p:nvSpPr>
          <p:cNvPr id="34" name="Shape 32"/>
          <p:cNvSpPr/>
          <p:nvPr/>
        </p:nvSpPr>
        <p:spPr>
          <a:xfrm>
            <a:off x="8229600" y="3566160"/>
            <a:ext cx="438912" cy="438912"/>
          </a:xfrm>
          <a:prstGeom prst="ellipse">
            <a:avLst/>
          </a:prstGeom>
          <a:solidFill>
            <a:srgbClr val="6A3FA0"/>
          </a:solidFill>
          <a:ln w="12700">
            <a:solidFill>
              <a:srgbClr val="6A3FA0"/>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Maths • standard form</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a:t>
            </a:r>
            <a:r>
              <a:rPr lang="en-US" sz="1250" b="1" dirty="0">
                <a:solidFill>
                  <a:srgbClr val="262B3A"/>
                </a:solidFill>
                <a:latin typeface="Calibri" pitchFamily="34" charset="0"/>
                <a:ea typeface="Calibri" pitchFamily="34" charset="-122"/>
                <a:cs typeface="Calibri" pitchFamily="34" charset="-120"/>
              </a:rPr>
              <a:t>0.000 001 m</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0.000 000 001 m</a:t>
            </a:r>
            <a:r>
              <a:rPr lang="en-US" sz="1250" dirty="0">
                <a:solidFill>
                  <a:srgbClr val="262B3A"/>
                </a:solidFill>
                <a:latin typeface="Calibri" pitchFamily="34" charset="0"/>
                <a:ea typeface="Calibri" pitchFamily="34" charset="-122"/>
                <a:cs typeface="Calibri" pitchFamily="34" charset="-120"/>
              </a:rPr>
              <a:t> in standard form. Which one is a </a:t>
            </a:r>
            <a:r>
              <a:rPr lang="en-US" sz="1250" b="1" dirty="0">
                <a:solidFill>
                  <a:srgbClr val="262B3A"/>
                </a:solidFill>
                <a:latin typeface="Calibri" pitchFamily="34" charset="0"/>
                <a:ea typeface="Calibri" pitchFamily="34" charset="-122"/>
                <a:cs typeface="Calibri" pitchFamily="34" charset="-120"/>
              </a:rPr>
              <a:t>nanometre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8" name="Shape 36"/>
          <p:cNvSpPr/>
          <p:nvPr/>
        </p:nvSpPr>
        <p:spPr>
          <a:xfrm>
            <a:off x="411480" y="5715000"/>
            <a:ext cx="11368735" cy="548640"/>
          </a:xfrm>
          <a:prstGeom prst="rect">
            <a:avLst/>
          </a:prstGeom>
          <a:solidFill>
            <a:srgbClr val="F1ECF8"/>
          </a:solidFill>
          <a:ln w="12700">
            <a:solidFill>
              <a:srgbClr val="DDD3EC"/>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6A3FA0"/>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How small is a nanoparticle?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C4.3.1 • comparing nano dimensions with atoms and molecules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C4.3.1  |  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size ladder; each step is NOT to scale (sizes span 6 powers of ten)</a:t>
            </a:r>
            <a:endParaRPr lang="en-US" sz="1000" dirty="0"/>
          </a:p>
        </p:txBody>
      </p:sp>
      <p:sp>
        <p:nvSpPr>
          <p:cNvPr id="10" name="Shape 8"/>
          <p:cNvSpPr/>
          <p:nvPr/>
        </p:nvSpPr>
        <p:spPr>
          <a:xfrm>
            <a:off x="1078992" y="1627632"/>
            <a:ext cx="128016" cy="128016"/>
          </a:xfrm>
          <a:prstGeom prst="ellipse">
            <a:avLst/>
          </a:prstGeom>
          <a:solidFill>
            <a:srgbClr val="4A4F5C"/>
          </a:solidFill>
          <a:ln w="9525">
            <a:solidFill>
              <a:srgbClr val="23262E"/>
            </a:solidFill>
            <a:prstDash val="solid"/>
          </a:ln>
        </p:spPr>
      </p:sp>
      <p:sp>
        <p:nvSpPr>
          <p:cNvPr id="11" name="Text 9"/>
          <p:cNvSpPr/>
          <p:nvPr/>
        </p:nvSpPr>
        <p:spPr>
          <a:xfrm>
            <a:off x="1783080" y="1463040"/>
            <a:ext cx="1737360" cy="457200"/>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Atom</a:t>
            </a:r>
            <a:endParaRPr lang="en-US" sz="1100" dirty="0"/>
          </a:p>
        </p:txBody>
      </p:sp>
      <p:sp>
        <p:nvSpPr>
          <p:cNvPr id="12" name="Text 10"/>
          <p:cNvSpPr/>
          <p:nvPr/>
        </p:nvSpPr>
        <p:spPr>
          <a:xfrm>
            <a:off x="3520440" y="1463040"/>
            <a:ext cx="1005840" cy="457200"/>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0.1 nm</a:t>
            </a:r>
            <a:endParaRPr lang="en-US" sz="1100" dirty="0"/>
          </a:p>
        </p:txBody>
      </p:sp>
      <p:sp>
        <p:nvSpPr>
          <p:cNvPr id="13" name="Text 11"/>
          <p:cNvSpPr/>
          <p:nvPr/>
        </p:nvSpPr>
        <p:spPr>
          <a:xfrm>
            <a:off x="4526280" y="1463040"/>
            <a:ext cx="1280160" cy="4572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1 × 10⁻¹⁰ m</a:t>
            </a:r>
            <a:endParaRPr lang="en-US" sz="1050" dirty="0"/>
          </a:p>
        </p:txBody>
      </p:sp>
      <p:sp>
        <p:nvSpPr>
          <p:cNvPr id="14" name="Shape 12"/>
          <p:cNvSpPr/>
          <p:nvPr/>
        </p:nvSpPr>
        <p:spPr>
          <a:xfrm>
            <a:off x="950976" y="2258568"/>
            <a:ext cx="146304" cy="146304"/>
          </a:xfrm>
          <a:prstGeom prst="ellipse">
            <a:avLst/>
          </a:prstGeom>
          <a:solidFill>
            <a:srgbClr val="E05A5A"/>
          </a:solidFill>
          <a:ln w="9525">
            <a:solidFill>
              <a:srgbClr val="A03030"/>
            </a:solidFill>
            <a:prstDash val="solid"/>
          </a:ln>
        </p:spPr>
      </p:sp>
      <p:sp>
        <p:nvSpPr>
          <p:cNvPr id="15" name="Shape 13"/>
          <p:cNvSpPr/>
          <p:nvPr/>
        </p:nvSpPr>
        <p:spPr>
          <a:xfrm>
            <a:off x="1088136" y="2249424"/>
            <a:ext cx="164592" cy="164592"/>
          </a:xfrm>
          <a:prstGeom prst="ellipse">
            <a:avLst/>
          </a:prstGeom>
          <a:solidFill>
            <a:srgbClr val="4A4F5C"/>
          </a:solidFill>
          <a:ln w="9525">
            <a:solidFill>
              <a:srgbClr val="23262E"/>
            </a:solidFill>
            <a:prstDash val="solid"/>
          </a:ln>
        </p:spPr>
      </p:sp>
      <p:sp>
        <p:nvSpPr>
          <p:cNvPr id="16" name="Shape 14"/>
          <p:cNvSpPr/>
          <p:nvPr/>
        </p:nvSpPr>
        <p:spPr>
          <a:xfrm>
            <a:off x="1243584" y="2258568"/>
            <a:ext cx="146304" cy="146304"/>
          </a:xfrm>
          <a:prstGeom prst="ellipse">
            <a:avLst/>
          </a:prstGeom>
          <a:solidFill>
            <a:srgbClr val="E05A5A"/>
          </a:solidFill>
          <a:ln w="9525">
            <a:solidFill>
              <a:srgbClr val="A03030"/>
            </a:solidFill>
            <a:prstDash val="solid"/>
          </a:ln>
        </p:spPr>
      </p:sp>
      <p:sp>
        <p:nvSpPr>
          <p:cNvPr id="17" name="Text 15"/>
          <p:cNvSpPr/>
          <p:nvPr/>
        </p:nvSpPr>
        <p:spPr>
          <a:xfrm>
            <a:off x="1783080" y="2103120"/>
            <a:ext cx="1737360" cy="457200"/>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Simple molecule</a:t>
            </a:r>
            <a:endParaRPr lang="en-US" sz="1100" dirty="0"/>
          </a:p>
        </p:txBody>
      </p:sp>
      <p:sp>
        <p:nvSpPr>
          <p:cNvPr id="18" name="Text 16"/>
          <p:cNvSpPr/>
          <p:nvPr/>
        </p:nvSpPr>
        <p:spPr>
          <a:xfrm>
            <a:off x="3520440" y="2103120"/>
            <a:ext cx="1005840" cy="457200"/>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~0.5 nm</a:t>
            </a:r>
            <a:endParaRPr lang="en-US" sz="1100" dirty="0"/>
          </a:p>
        </p:txBody>
      </p:sp>
      <p:sp>
        <p:nvSpPr>
          <p:cNvPr id="19" name="Text 17"/>
          <p:cNvSpPr/>
          <p:nvPr/>
        </p:nvSpPr>
        <p:spPr>
          <a:xfrm>
            <a:off x="4526280" y="2103120"/>
            <a:ext cx="1280160" cy="4572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5 × 10⁻¹⁰ m</a:t>
            </a:r>
            <a:endParaRPr lang="en-US" sz="1050" dirty="0"/>
          </a:p>
        </p:txBody>
      </p:sp>
      <p:sp>
        <p:nvSpPr>
          <p:cNvPr id="20" name="Shape 18"/>
          <p:cNvSpPr/>
          <p:nvPr/>
        </p:nvSpPr>
        <p:spPr>
          <a:xfrm>
            <a:off x="594360" y="2761488"/>
            <a:ext cx="5212080" cy="640080"/>
          </a:xfrm>
          <a:prstGeom prst="roundRect">
            <a:avLst>
              <a:gd name="adj" fmla="val 8571"/>
            </a:avLst>
          </a:prstGeom>
          <a:solidFill>
            <a:srgbClr val="FFF4E0"/>
          </a:solidFill>
          <a:ln w="12700">
            <a:solidFill>
              <a:srgbClr val="F1D9A8"/>
            </a:solidFill>
            <a:prstDash val="solid"/>
          </a:ln>
        </p:spPr>
      </p:sp>
      <p:sp>
        <p:nvSpPr>
          <p:cNvPr id="21" name="Shape 19"/>
          <p:cNvSpPr/>
          <p:nvPr/>
        </p:nvSpPr>
        <p:spPr>
          <a:xfrm>
            <a:off x="891540" y="2729484"/>
            <a:ext cx="118872" cy="118872"/>
          </a:xfrm>
          <a:prstGeom prst="ellipse">
            <a:avLst/>
          </a:prstGeom>
          <a:solidFill>
            <a:srgbClr val="E8C43A"/>
          </a:solidFill>
          <a:ln w="6350">
            <a:solidFill>
              <a:srgbClr val="A8861A"/>
            </a:solidFill>
            <a:prstDash val="solid"/>
          </a:ln>
        </p:spPr>
      </p:sp>
      <p:sp>
        <p:nvSpPr>
          <p:cNvPr id="22" name="Shape 20"/>
          <p:cNvSpPr/>
          <p:nvPr/>
        </p:nvSpPr>
        <p:spPr>
          <a:xfrm>
            <a:off x="891540" y="2848356"/>
            <a:ext cx="118872" cy="118872"/>
          </a:xfrm>
          <a:prstGeom prst="ellipse">
            <a:avLst/>
          </a:prstGeom>
          <a:solidFill>
            <a:srgbClr val="E8C43A"/>
          </a:solidFill>
          <a:ln w="6350">
            <a:solidFill>
              <a:srgbClr val="A8861A"/>
            </a:solidFill>
            <a:prstDash val="solid"/>
          </a:ln>
        </p:spPr>
      </p:sp>
      <p:sp>
        <p:nvSpPr>
          <p:cNvPr id="23" name="Shape 21"/>
          <p:cNvSpPr/>
          <p:nvPr/>
        </p:nvSpPr>
        <p:spPr>
          <a:xfrm>
            <a:off x="891540" y="2967228"/>
            <a:ext cx="118872" cy="118872"/>
          </a:xfrm>
          <a:prstGeom prst="ellipse">
            <a:avLst/>
          </a:prstGeom>
          <a:solidFill>
            <a:srgbClr val="E8C43A"/>
          </a:solidFill>
          <a:ln w="6350">
            <a:solidFill>
              <a:srgbClr val="A8861A"/>
            </a:solidFill>
            <a:prstDash val="solid"/>
          </a:ln>
        </p:spPr>
      </p:sp>
      <p:sp>
        <p:nvSpPr>
          <p:cNvPr id="24" name="Shape 22"/>
          <p:cNvSpPr/>
          <p:nvPr/>
        </p:nvSpPr>
        <p:spPr>
          <a:xfrm>
            <a:off x="891540" y="3086100"/>
            <a:ext cx="118872" cy="118872"/>
          </a:xfrm>
          <a:prstGeom prst="ellipse">
            <a:avLst/>
          </a:prstGeom>
          <a:solidFill>
            <a:srgbClr val="E8C43A"/>
          </a:solidFill>
          <a:ln w="6350">
            <a:solidFill>
              <a:srgbClr val="A8861A"/>
            </a:solidFill>
            <a:prstDash val="solid"/>
          </a:ln>
        </p:spPr>
      </p:sp>
      <p:sp>
        <p:nvSpPr>
          <p:cNvPr id="25" name="Shape 23"/>
          <p:cNvSpPr/>
          <p:nvPr/>
        </p:nvSpPr>
        <p:spPr>
          <a:xfrm>
            <a:off x="1010412" y="2729484"/>
            <a:ext cx="118872" cy="118872"/>
          </a:xfrm>
          <a:prstGeom prst="ellipse">
            <a:avLst/>
          </a:prstGeom>
          <a:solidFill>
            <a:srgbClr val="E8C43A"/>
          </a:solidFill>
          <a:ln w="6350">
            <a:solidFill>
              <a:srgbClr val="A8861A"/>
            </a:solidFill>
            <a:prstDash val="solid"/>
          </a:ln>
        </p:spPr>
      </p:sp>
      <p:sp>
        <p:nvSpPr>
          <p:cNvPr id="26" name="Shape 24"/>
          <p:cNvSpPr/>
          <p:nvPr/>
        </p:nvSpPr>
        <p:spPr>
          <a:xfrm>
            <a:off x="1010412" y="2848356"/>
            <a:ext cx="118872" cy="118872"/>
          </a:xfrm>
          <a:prstGeom prst="ellipse">
            <a:avLst/>
          </a:prstGeom>
          <a:solidFill>
            <a:srgbClr val="E8C43A"/>
          </a:solidFill>
          <a:ln w="6350">
            <a:solidFill>
              <a:srgbClr val="A8861A"/>
            </a:solidFill>
            <a:prstDash val="solid"/>
          </a:ln>
        </p:spPr>
      </p:sp>
      <p:sp>
        <p:nvSpPr>
          <p:cNvPr id="27" name="Shape 25"/>
          <p:cNvSpPr/>
          <p:nvPr/>
        </p:nvSpPr>
        <p:spPr>
          <a:xfrm>
            <a:off x="1010412" y="2967228"/>
            <a:ext cx="118872" cy="118872"/>
          </a:xfrm>
          <a:prstGeom prst="ellipse">
            <a:avLst/>
          </a:prstGeom>
          <a:solidFill>
            <a:srgbClr val="E8C43A"/>
          </a:solidFill>
          <a:ln w="6350">
            <a:solidFill>
              <a:srgbClr val="A8861A"/>
            </a:solidFill>
            <a:prstDash val="solid"/>
          </a:ln>
        </p:spPr>
      </p:sp>
      <p:sp>
        <p:nvSpPr>
          <p:cNvPr id="28" name="Shape 26"/>
          <p:cNvSpPr/>
          <p:nvPr/>
        </p:nvSpPr>
        <p:spPr>
          <a:xfrm>
            <a:off x="1010412" y="3086100"/>
            <a:ext cx="118872" cy="118872"/>
          </a:xfrm>
          <a:prstGeom prst="ellipse">
            <a:avLst/>
          </a:prstGeom>
          <a:solidFill>
            <a:srgbClr val="E8C43A"/>
          </a:solidFill>
          <a:ln w="6350">
            <a:solidFill>
              <a:srgbClr val="A8861A"/>
            </a:solidFill>
            <a:prstDash val="solid"/>
          </a:ln>
        </p:spPr>
      </p:sp>
      <p:sp>
        <p:nvSpPr>
          <p:cNvPr id="29" name="Shape 27"/>
          <p:cNvSpPr/>
          <p:nvPr/>
        </p:nvSpPr>
        <p:spPr>
          <a:xfrm>
            <a:off x="1129284" y="2729484"/>
            <a:ext cx="118872" cy="118872"/>
          </a:xfrm>
          <a:prstGeom prst="ellipse">
            <a:avLst/>
          </a:prstGeom>
          <a:solidFill>
            <a:srgbClr val="E8C43A"/>
          </a:solidFill>
          <a:ln w="6350">
            <a:solidFill>
              <a:srgbClr val="A8861A"/>
            </a:solidFill>
            <a:prstDash val="solid"/>
          </a:ln>
        </p:spPr>
      </p:sp>
      <p:sp>
        <p:nvSpPr>
          <p:cNvPr id="30" name="Shape 28"/>
          <p:cNvSpPr/>
          <p:nvPr/>
        </p:nvSpPr>
        <p:spPr>
          <a:xfrm>
            <a:off x="1129284" y="2848356"/>
            <a:ext cx="118872" cy="118872"/>
          </a:xfrm>
          <a:prstGeom prst="ellipse">
            <a:avLst/>
          </a:prstGeom>
          <a:solidFill>
            <a:srgbClr val="E8C43A"/>
          </a:solidFill>
          <a:ln w="6350">
            <a:solidFill>
              <a:srgbClr val="A8861A"/>
            </a:solidFill>
            <a:prstDash val="solid"/>
          </a:ln>
        </p:spPr>
      </p:sp>
      <p:sp>
        <p:nvSpPr>
          <p:cNvPr id="31" name="Shape 29"/>
          <p:cNvSpPr/>
          <p:nvPr/>
        </p:nvSpPr>
        <p:spPr>
          <a:xfrm>
            <a:off x="1129284" y="2967228"/>
            <a:ext cx="118872" cy="118872"/>
          </a:xfrm>
          <a:prstGeom prst="ellipse">
            <a:avLst/>
          </a:prstGeom>
          <a:solidFill>
            <a:srgbClr val="E8C43A"/>
          </a:solidFill>
          <a:ln w="6350">
            <a:solidFill>
              <a:srgbClr val="A8861A"/>
            </a:solidFill>
            <a:prstDash val="solid"/>
          </a:ln>
        </p:spPr>
      </p:sp>
      <p:sp>
        <p:nvSpPr>
          <p:cNvPr id="32" name="Shape 30"/>
          <p:cNvSpPr/>
          <p:nvPr/>
        </p:nvSpPr>
        <p:spPr>
          <a:xfrm>
            <a:off x="1129284" y="3086100"/>
            <a:ext cx="118872" cy="118872"/>
          </a:xfrm>
          <a:prstGeom prst="ellipse">
            <a:avLst/>
          </a:prstGeom>
          <a:solidFill>
            <a:srgbClr val="E8C43A"/>
          </a:solidFill>
          <a:ln w="6350">
            <a:solidFill>
              <a:srgbClr val="A8861A"/>
            </a:solidFill>
            <a:prstDash val="solid"/>
          </a:ln>
        </p:spPr>
      </p:sp>
      <p:sp>
        <p:nvSpPr>
          <p:cNvPr id="33" name="Shape 31"/>
          <p:cNvSpPr/>
          <p:nvPr/>
        </p:nvSpPr>
        <p:spPr>
          <a:xfrm>
            <a:off x="1248156" y="2729484"/>
            <a:ext cx="118872" cy="118872"/>
          </a:xfrm>
          <a:prstGeom prst="ellipse">
            <a:avLst/>
          </a:prstGeom>
          <a:solidFill>
            <a:srgbClr val="E8C43A"/>
          </a:solidFill>
          <a:ln w="6350">
            <a:solidFill>
              <a:srgbClr val="A8861A"/>
            </a:solidFill>
            <a:prstDash val="solid"/>
          </a:ln>
        </p:spPr>
      </p:sp>
      <p:sp>
        <p:nvSpPr>
          <p:cNvPr id="34" name="Shape 32"/>
          <p:cNvSpPr/>
          <p:nvPr/>
        </p:nvSpPr>
        <p:spPr>
          <a:xfrm>
            <a:off x="1248156" y="2848356"/>
            <a:ext cx="118872" cy="118872"/>
          </a:xfrm>
          <a:prstGeom prst="ellipse">
            <a:avLst/>
          </a:prstGeom>
          <a:solidFill>
            <a:srgbClr val="E8C43A"/>
          </a:solidFill>
          <a:ln w="6350">
            <a:solidFill>
              <a:srgbClr val="A8861A"/>
            </a:solidFill>
            <a:prstDash val="solid"/>
          </a:ln>
        </p:spPr>
      </p:sp>
      <p:sp>
        <p:nvSpPr>
          <p:cNvPr id="35" name="Shape 33"/>
          <p:cNvSpPr/>
          <p:nvPr/>
        </p:nvSpPr>
        <p:spPr>
          <a:xfrm>
            <a:off x="1248156" y="2967228"/>
            <a:ext cx="118872" cy="118872"/>
          </a:xfrm>
          <a:prstGeom prst="ellipse">
            <a:avLst/>
          </a:prstGeom>
          <a:solidFill>
            <a:srgbClr val="E8C43A"/>
          </a:solidFill>
          <a:ln w="6350">
            <a:solidFill>
              <a:srgbClr val="A8861A"/>
            </a:solidFill>
            <a:prstDash val="solid"/>
          </a:ln>
        </p:spPr>
      </p:sp>
      <p:sp>
        <p:nvSpPr>
          <p:cNvPr id="36" name="Shape 34"/>
          <p:cNvSpPr/>
          <p:nvPr/>
        </p:nvSpPr>
        <p:spPr>
          <a:xfrm>
            <a:off x="1248156" y="3086100"/>
            <a:ext cx="118872" cy="118872"/>
          </a:xfrm>
          <a:prstGeom prst="ellipse">
            <a:avLst/>
          </a:prstGeom>
          <a:solidFill>
            <a:srgbClr val="E8C43A"/>
          </a:solidFill>
          <a:ln w="6350">
            <a:solidFill>
              <a:srgbClr val="A8861A"/>
            </a:solidFill>
            <a:prstDash val="solid"/>
          </a:ln>
        </p:spPr>
      </p:sp>
      <p:sp>
        <p:nvSpPr>
          <p:cNvPr id="37" name="Text 35"/>
          <p:cNvSpPr/>
          <p:nvPr/>
        </p:nvSpPr>
        <p:spPr>
          <a:xfrm>
            <a:off x="1783080" y="2816352"/>
            <a:ext cx="1737360" cy="457200"/>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Nanoparticle</a:t>
            </a:r>
            <a:endParaRPr lang="en-US" sz="1100" dirty="0"/>
          </a:p>
        </p:txBody>
      </p:sp>
      <p:sp>
        <p:nvSpPr>
          <p:cNvPr id="38" name="Text 36"/>
          <p:cNvSpPr/>
          <p:nvPr/>
        </p:nvSpPr>
        <p:spPr>
          <a:xfrm>
            <a:off x="3520440" y="2816352"/>
            <a:ext cx="1005840" cy="457200"/>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1–100 nm</a:t>
            </a:r>
            <a:endParaRPr lang="en-US" sz="1100" dirty="0"/>
          </a:p>
        </p:txBody>
      </p:sp>
      <p:sp>
        <p:nvSpPr>
          <p:cNvPr id="39" name="Text 37"/>
          <p:cNvSpPr/>
          <p:nvPr/>
        </p:nvSpPr>
        <p:spPr>
          <a:xfrm>
            <a:off x="4526280" y="2816352"/>
            <a:ext cx="1280160" cy="4572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10⁻⁹ to 10⁻⁷ m</a:t>
            </a:r>
            <a:endParaRPr lang="en-US" sz="1050" dirty="0"/>
          </a:p>
        </p:txBody>
      </p:sp>
      <p:sp>
        <p:nvSpPr>
          <p:cNvPr id="40" name="Shape 38"/>
          <p:cNvSpPr/>
          <p:nvPr/>
        </p:nvSpPr>
        <p:spPr>
          <a:xfrm>
            <a:off x="905256" y="3465576"/>
            <a:ext cx="475488" cy="475488"/>
          </a:xfrm>
          <a:prstGeom prst="ellipse">
            <a:avLst/>
          </a:prstGeom>
          <a:solidFill>
            <a:srgbClr val="9AA3B0"/>
          </a:solidFill>
          <a:ln w="9525">
            <a:solidFill>
              <a:srgbClr val="4A5568"/>
            </a:solidFill>
            <a:prstDash val="solid"/>
          </a:ln>
        </p:spPr>
      </p:sp>
      <p:sp>
        <p:nvSpPr>
          <p:cNvPr id="41" name="Text 39"/>
          <p:cNvSpPr/>
          <p:nvPr/>
        </p:nvSpPr>
        <p:spPr>
          <a:xfrm>
            <a:off x="1783080" y="3566160"/>
            <a:ext cx="1737360" cy="457200"/>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Fine particle (PM2.5)</a:t>
            </a:r>
            <a:endParaRPr lang="en-US" sz="1100" dirty="0"/>
          </a:p>
        </p:txBody>
      </p:sp>
      <p:sp>
        <p:nvSpPr>
          <p:cNvPr id="42" name="Text 40"/>
          <p:cNvSpPr/>
          <p:nvPr/>
        </p:nvSpPr>
        <p:spPr>
          <a:xfrm>
            <a:off x="3520440" y="3566160"/>
            <a:ext cx="1005840" cy="457200"/>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100–2500 nm</a:t>
            </a:r>
            <a:endParaRPr lang="en-US" sz="1100" dirty="0"/>
          </a:p>
        </p:txBody>
      </p:sp>
      <p:sp>
        <p:nvSpPr>
          <p:cNvPr id="43" name="Text 41"/>
          <p:cNvSpPr/>
          <p:nvPr/>
        </p:nvSpPr>
        <p:spPr>
          <a:xfrm>
            <a:off x="4526280" y="3566160"/>
            <a:ext cx="1280160" cy="4572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up to 2.5 × 10⁻⁶ m</a:t>
            </a:r>
            <a:endParaRPr lang="en-US" sz="1050" dirty="0"/>
          </a:p>
        </p:txBody>
      </p:sp>
      <p:sp>
        <p:nvSpPr>
          <p:cNvPr id="44" name="Shape 42"/>
          <p:cNvSpPr/>
          <p:nvPr/>
        </p:nvSpPr>
        <p:spPr>
          <a:xfrm>
            <a:off x="685800" y="4224528"/>
            <a:ext cx="914400" cy="329184"/>
          </a:xfrm>
          <a:prstGeom prst="roundRect">
            <a:avLst>
              <a:gd name="adj" fmla="val 27778"/>
            </a:avLst>
          </a:prstGeom>
          <a:solidFill>
            <a:srgbClr val="C99A5B"/>
          </a:solidFill>
          <a:ln w="12700">
            <a:solidFill>
              <a:srgbClr val="8A6D3B"/>
            </a:solidFill>
            <a:prstDash val="solid"/>
          </a:ln>
        </p:spPr>
      </p:sp>
      <p:sp>
        <p:nvSpPr>
          <p:cNvPr id="45" name="Text 43"/>
          <p:cNvSpPr/>
          <p:nvPr/>
        </p:nvSpPr>
        <p:spPr>
          <a:xfrm>
            <a:off x="1783080" y="4206240"/>
            <a:ext cx="1737360" cy="457200"/>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Human hair (width)</a:t>
            </a:r>
            <a:endParaRPr lang="en-US" sz="1100" dirty="0"/>
          </a:p>
        </p:txBody>
      </p:sp>
      <p:sp>
        <p:nvSpPr>
          <p:cNvPr id="46" name="Text 44"/>
          <p:cNvSpPr/>
          <p:nvPr/>
        </p:nvSpPr>
        <p:spPr>
          <a:xfrm>
            <a:off x="3520440" y="4206240"/>
            <a:ext cx="1005840" cy="457200"/>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~80 000 nm</a:t>
            </a:r>
            <a:endParaRPr lang="en-US" sz="1100" dirty="0"/>
          </a:p>
        </p:txBody>
      </p:sp>
      <p:sp>
        <p:nvSpPr>
          <p:cNvPr id="47" name="Text 45"/>
          <p:cNvSpPr/>
          <p:nvPr/>
        </p:nvSpPr>
        <p:spPr>
          <a:xfrm>
            <a:off x="4526280" y="4206240"/>
            <a:ext cx="1280160" cy="4572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8 × 10⁻⁵ m</a:t>
            </a:r>
            <a:endParaRPr lang="en-US" sz="1050" dirty="0"/>
          </a:p>
        </p:txBody>
      </p:sp>
      <p:sp>
        <p:nvSpPr>
          <p:cNvPr id="48" name="Text 46"/>
          <p:cNvSpPr/>
          <p:nvPr/>
        </p:nvSpPr>
        <p:spPr>
          <a:xfrm>
            <a:off x="1783080" y="1188720"/>
            <a:ext cx="1737360" cy="228600"/>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Object</a:t>
            </a:r>
            <a:endParaRPr lang="en-US" sz="1000" dirty="0"/>
          </a:p>
        </p:txBody>
      </p:sp>
      <p:sp>
        <p:nvSpPr>
          <p:cNvPr id="49" name="Text 47"/>
          <p:cNvSpPr/>
          <p:nvPr/>
        </p:nvSpPr>
        <p:spPr>
          <a:xfrm>
            <a:off x="3520440" y="1188720"/>
            <a:ext cx="1005840" cy="22860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Size</a:t>
            </a:r>
            <a:endParaRPr lang="en-US" sz="1000" dirty="0"/>
          </a:p>
        </p:txBody>
      </p:sp>
      <p:sp>
        <p:nvSpPr>
          <p:cNvPr id="50" name="Text 48"/>
          <p:cNvSpPr/>
          <p:nvPr/>
        </p:nvSpPr>
        <p:spPr>
          <a:xfrm>
            <a:off x="4526280" y="1188720"/>
            <a:ext cx="1280160" cy="22860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In metres</a:t>
            </a:r>
            <a:endParaRPr lang="en-US" sz="1000" dirty="0"/>
          </a:p>
        </p:txBody>
      </p:sp>
      <p:sp>
        <p:nvSpPr>
          <p:cNvPr id="51" name="Shape 49"/>
          <p:cNvSpPr/>
          <p:nvPr/>
        </p:nvSpPr>
        <p:spPr>
          <a:xfrm>
            <a:off x="566928" y="1508760"/>
            <a:ext cx="91" cy="3063240"/>
          </a:xfrm>
          <a:prstGeom prst="line">
            <a:avLst/>
          </a:prstGeom>
          <a:noFill/>
          <a:ln w="25400">
            <a:solidFill>
              <a:srgbClr val="6A3FA0"/>
            </a:solidFill>
            <a:prstDash val="solid"/>
            <a:tailEnd type="triangle"/>
          </a:ln>
        </p:spPr>
      </p:sp>
      <p:sp>
        <p:nvSpPr>
          <p:cNvPr id="52" name="Text 50"/>
          <p:cNvSpPr/>
          <p:nvPr/>
        </p:nvSpPr>
        <p:spPr>
          <a:xfrm>
            <a:off x="594360" y="4709160"/>
            <a:ext cx="5212080" cy="36576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 nm = 1 × 10⁻⁹ m</a:t>
            </a:r>
            <a:r>
              <a:rPr lang="en-US" sz="1050" dirty="0">
                <a:solidFill>
                  <a:srgbClr val="262B3A"/>
                </a:solidFill>
                <a:latin typeface="Calibri" pitchFamily="34" charset="0"/>
                <a:ea typeface="Calibri" pitchFamily="34" charset="-122"/>
                <a:cs typeface="Calibri" pitchFamily="34" charset="-120"/>
              </a:rPr>
              <a:t> • a nanoparticle is about 10 to 1000 atoms across</a:t>
            </a:r>
            <a:endParaRPr lang="en-US" sz="1050" dirty="0"/>
          </a:p>
        </p:txBody>
      </p:sp>
      <p:sp>
        <p:nvSpPr>
          <p:cNvPr id="53" name="Shape 51"/>
          <p:cNvSpPr/>
          <p:nvPr/>
        </p:nvSpPr>
        <p:spPr>
          <a:xfrm>
            <a:off x="6217920" y="1188720"/>
            <a:ext cx="5562295" cy="2971800"/>
          </a:xfrm>
          <a:prstGeom prst="roundRect">
            <a:avLst>
              <a:gd name="adj" fmla="val 1846"/>
            </a:avLst>
          </a:prstGeom>
          <a:solidFill>
            <a:srgbClr val="F8F5FC"/>
          </a:solidFill>
          <a:ln w="9525">
            <a:solidFill>
              <a:srgbClr val="DDD3EC"/>
            </a:solidFill>
            <a:prstDash val="solid"/>
          </a:ln>
        </p:spPr>
      </p:sp>
      <p:sp>
        <p:nvSpPr>
          <p:cNvPr id="54" name="Text 5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Nanoparticles</a:t>
            </a:r>
            <a:endParaRPr lang="en-US" sz="1300" dirty="0"/>
          </a:p>
        </p:txBody>
      </p:sp>
      <p:sp>
        <p:nvSpPr>
          <p:cNvPr id="55" name="Text 53"/>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nanometre</a:t>
            </a:r>
            <a:r>
              <a:rPr lang="en-US" sz="1150" dirty="0">
                <a:solidFill>
                  <a:srgbClr val="262B3A"/>
                </a:solidFill>
                <a:latin typeface="Calibri" pitchFamily="34" charset="0"/>
                <a:ea typeface="Calibri" pitchFamily="34" charset="-122"/>
                <a:cs typeface="Calibri" pitchFamily="34" charset="-120"/>
              </a:rPr>
              <a:t> (nm) is one billionth of a metre: </a:t>
            </a:r>
            <a:r>
              <a:rPr lang="en-US" sz="1150" b="1" dirty="0">
                <a:solidFill>
                  <a:srgbClr val="262B3A"/>
                </a:solidFill>
                <a:latin typeface="Calibri" pitchFamily="34" charset="0"/>
                <a:ea typeface="Calibri" pitchFamily="34" charset="-122"/>
                <a:cs typeface="Calibri" pitchFamily="34" charset="-120"/>
              </a:rPr>
              <a:t>1 nm = 1 × 10⁻⁹ m</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Nanoparticles</a:t>
            </a:r>
            <a:r>
              <a:rPr lang="en-US" sz="1150" dirty="0">
                <a:solidFill>
                  <a:srgbClr val="262B3A"/>
                </a:solidFill>
                <a:latin typeface="Calibri" pitchFamily="34" charset="0"/>
                <a:ea typeface="Calibri" pitchFamily="34" charset="-122"/>
                <a:cs typeface="Calibri" pitchFamily="34" charset="-120"/>
              </a:rPr>
              <a:t> are particles </a:t>
            </a:r>
            <a:r>
              <a:rPr lang="en-US" sz="1150" b="1" dirty="0">
                <a:solidFill>
                  <a:srgbClr val="262B3A"/>
                </a:solidFill>
                <a:latin typeface="Calibri" pitchFamily="34" charset="0"/>
                <a:ea typeface="Calibri" pitchFamily="34" charset="-122"/>
                <a:cs typeface="Calibri" pitchFamily="34" charset="-120"/>
              </a:rPr>
              <a:t>1–100 nm</a:t>
            </a:r>
            <a:r>
              <a:rPr lang="en-US" sz="1150" dirty="0">
                <a:solidFill>
                  <a:srgbClr val="262B3A"/>
                </a:solidFill>
                <a:latin typeface="Calibri" pitchFamily="34" charset="0"/>
                <a:ea typeface="Calibri" pitchFamily="34" charset="-122"/>
                <a:cs typeface="Calibri" pitchFamily="34" charset="-120"/>
              </a:rPr>
              <a:t> across.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They are </a:t>
            </a:r>
            <a:r>
              <a:rPr lang="en-US" sz="1150" b="1" dirty="0">
                <a:solidFill>
                  <a:srgbClr val="262B3A"/>
                </a:solidFill>
                <a:latin typeface="Calibri" pitchFamily="34" charset="0"/>
                <a:ea typeface="Calibri" pitchFamily="34" charset="-122"/>
                <a:cs typeface="Calibri" pitchFamily="34" charset="-120"/>
              </a:rPr>
              <a:t>bigger</a:t>
            </a:r>
            <a:r>
              <a:rPr lang="en-US" sz="1150" dirty="0">
                <a:solidFill>
                  <a:srgbClr val="262B3A"/>
                </a:solidFill>
                <a:latin typeface="Calibri" pitchFamily="34" charset="0"/>
                <a:ea typeface="Calibri" pitchFamily="34" charset="-122"/>
                <a:cs typeface="Calibri" pitchFamily="34" charset="-120"/>
              </a:rPr>
              <a:t> than atoms (about </a:t>
            </a:r>
            <a:r>
              <a:rPr lang="en-US" sz="1150" b="1" dirty="0">
                <a:solidFill>
                  <a:srgbClr val="262B3A"/>
                </a:solidFill>
                <a:latin typeface="Calibri" pitchFamily="34" charset="0"/>
                <a:ea typeface="Calibri" pitchFamily="34" charset="-122"/>
                <a:cs typeface="Calibri" pitchFamily="34" charset="-120"/>
              </a:rPr>
              <a:t>0.1 nm</a:t>
            </a:r>
            <a:r>
              <a:rPr lang="en-US" sz="1150" dirty="0">
                <a:solidFill>
                  <a:srgbClr val="262B3A"/>
                </a:solidFill>
                <a:latin typeface="Calibri" pitchFamily="34" charset="0"/>
                <a:ea typeface="Calibri" pitchFamily="34" charset="-122"/>
                <a:cs typeface="Calibri" pitchFamily="34" charset="-120"/>
              </a:rPr>
              <a:t>) and simple molecules (under 1 nm), but much </a:t>
            </a:r>
            <a:r>
              <a:rPr lang="en-US" sz="1150" b="1" dirty="0">
                <a:solidFill>
                  <a:srgbClr val="262B3A"/>
                </a:solidFill>
                <a:latin typeface="Calibri" pitchFamily="34" charset="0"/>
                <a:ea typeface="Calibri" pitchFamily="34" charset="-122"/>
                <a:cs typeface="Calibri" pitchFamily="34" charset="-120"/>
              </a:rPr>
              <a:t>smaller</a:t>
            </a:r>
            <a:r>
              <a:rPr lang="en-US" sz="1150" dirty="0">
                <a:solidFill>
                  <a:srgbClr val="262B3A"/>
                </a:solidFill>
                <a:latin typeface="Calibri" pitchFamily="34" charset="0"/>
                <a:ea typeface="Calibri" pitchFamily="34" charset="-122"/>
                <a:cs typeface="Calibri" pitchFamily="34" charset="-120"/>
              </a:rPr>
              <a:t> than fine dust or cells.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Nanoparticles can be made of metals (silver, gold), metal oxides (titanium dioxide, zinc oxide) or carbon (nanotubes).</a:t>
            </a:r>
            <a:endParaRPr lang="en-US" sz="1150" dirty="0"/>
          </a:p>
        </p:txBody>
      </p:sp>
      <p:sp>
        <p:nvSpPr>
          <p:cNvPr id="56" name="Shape 54"/>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57" name="Text 55"/>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atoms across a nanoparticle</a:t>
            </a:r>
            <a:endParaRPr lang="en-US" sz="1300" dirty="0"/>
          </a:p>
        </p:txBody>
      </p:sp>
      <p:sp>
        <p:nvSpPr>
          <p:cNvPr id="58" name="Text 56"/>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How many atoms (0.1 nm wide) fit across a 2 nm nanoparticle?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Same units   </a:t>
            </a:r>
            <a:r>
              <a:rPr lang="en-US" sz="1050" dirty="0">
                <a:solidFill>
                  <a:srgbClr val="262B3A"/>
                </a:solidFill>
                <a:latin typeface="Calibri" pitchFamily="34" charset="0"/>
                <a:ea typeface="Calibri" pitchFamily="34" charset="-122"/>
                <a:cs typeface="Calibri" pitchFamily="34" charset="-120"/>
              </a:rPr>
              <a:t>both sizes in nm: 2 nm and 0.1 nm</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Divide   </a:t>
            </a:r>
            <a:r>
              <a:rPr lang="en-US" sz="1050" dirty="0">
                <a:solidFill>
                  <a:srgbClr val="262B3A"/>
                </a:solidFill>
                <a:latin typeface="Calibri" pitchFamily="34" charset="0"/>
                <a:ea typeface="Calibri" pitchFamily="34" charset="-122"/>
                <a:cs typeface="Calibri" pitchFamily="34" charset="-120"/>
              </a:rPr>
              <a:t>2 ÷ 0.1</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about </a:t>
            </a:r>
            <a:r>
              <a:rPr lang="en-US" sz="1050" b="1" dirty="0">
                <a:solidFill>
                  <a:srgbClr val="C8414C"/>
                </a:solidFill>
                <a:latin typeface="Calibri" pitchFamily="34" charset="0"/>
                <a:ea typeface="Calibri" pitchFamily="34" charset="-122"/>
                <a:cs typeface="Calibri" pitchFamily="34" charset="-120"/>
              </a:rPr>
              <a:t>20 atoms</a:t>
            </a:r>
            <a:r>
              <a:rPr lang="en-US" sz="1050" b="1" dirty="0">
                <a:solidFill>
                  <a:srgbClr val="C8414C"/>
                </a:solidFill>
                <a:latin typeface="Calibri" pitchFamily="34" charset="0"/>
                <a:ea typeface="Calibri" pitchFamily="34" charset="-122"/>
                <a:cs typeface="Calibri" pitchFamily="34" charset="-120"/>
              </a:rPr>
              <a:t> across</a:t>
            </a:r>
            <a:endParaRPr lang="en-US" sz="1050" dirty="0"/>
          </a:p>
        </p:txBody>
      </p:sp>
      <p:sp>
        <p:nvSpPr>
          <p:cNvPr id="59" name="Shape 57"/>
          <p:cNvSpPr/>
          <p:nvPr/>
        </p:nvSpPr>
        <p:spPr>
          <a:xfrm>
            <a:off x="411480" y="5833872"/>
            <a:ext cx="11368735" cy="530352"/>
          </a:xfrm>
          <a:prstGeom prst="rect">
            <a:avLst/>
          </a:prstGeom>
          <a:solidFill>
            <a:srgbClr val="FFF4E0"/>
          </a:solidFill>
          <a:ln w="6350">
            <a:solidFill>
              <a:srgbClr val="F1D9A8"/>
            </a:solidFill>
            <a:prstDash val="solid"/>
          </a:ln>
        </p:spPr>
      </p:sp>
      <p:sp>
        <p:nvSpPr>
          <p:cNvPr id="60" name="Shape 58"/>
          <p:cNvSpPr/>
          <p:nvPr/>
        </p:nvSpPr>
        <p:spPr>
          <a:xfrm>
            <a:off x="411480" y="5833872"/>
            <a:ext cx="82296" cy="530352"/>
          </a:xfrm>
          <a:prstGeom prst="rect">
            <a:avLst/>
          </a:prstGeom>
          <a:solidFill>
            <a:srgbClr val="E39A2F"/>
          </a:solidFill>
          <a:ln w="12700">
            <a:solidFill>
              <a:srgbClr val="E39A2F"/>
            </a:solidFill>
            <a:prstDash val="solid"/>
          </a:ln>
        </p:spPr>
      </p:sp>
      <p:sp>
        <p:nvSpPr>
          <p:cNvPr id="61" name="Text 5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Write </a:t>
            </a:r>
            <a:r>
              <a:rPr lang="en-US" sz="1150" b="1" dirty="0">
                <a:solidFill>
                  <a:srgbClr val="262B3A"/>
                </a:solidFill>
                <a:latin typeface="Calibri" pitchFamily="34" charset="0"/>
                <a:ea typeface="Calibri" pitchFamily="34" charset="-122"/>
                <a:cs typeface="Calibri" pitchFamily="34" charset="-120"/>
              </a:rPr>
              <a:t>50 nm</a:t>
            </a:r>
            <a:r>
              <a:rPr lang="en-US" sz="1150" dirty="0">
                <a:solidFill>
                  <a:srgbClr val="262B3A"/>
                </a:solidFill>
                <a:latin typeface="Calibri" pitchFamily="34" charset="0"/>
                <a:ea typeface="Calibri" pitchFamily="34" charset="-122"/>
                <a:cs typeface="Calibri" pitchFamily="34" charset="-120"/>
              </a:rPr>
              <a:t> in metres in standard form. How many times wider is a hair (</a:t>
            </a:r>
            <a:r>
              <a:rPr lang="en-US" sz="1150" b="1" dirty="0">
                <a:solidFill>
                  <a:srgbClr val="262B3A"/>
                </a:solidFill>
                <a:latin typeface="Calibri" pitchFamily="34" charset="0"/>
                <a:ea typeface="Calibri" pitchFamily="34" charset="-122"/>
                <a:cs typeface="Calibri" pitchFamily="34" charset="-120"/>
              </a:rPr>
              <a:t>8 × 10⁻⁵ m</a:t>
            </a:r>
            <a:r>
              <a:rPr lang="en-US" sz="1150" dirty="0">
                <a:solidFill>
                  <a:srgbClr val="262B3A"/>
                </a:solidFill>
                <a:latin typeface="Calibri" pitchFamily="34" charset="0"/>
                <a:ea typeface="Calibri" pitchFamily="34" charset="-122"/>
                <a:cs typeface="Calibri" pitchFamily="34" charset="-120"/>
              </a:rPr>
              <a:t>) than an </a:t>
            </a:r>
            <a:r>
              <a:rPr lang="en-US" sz="1150" b="1" dirty="0">
                <a:solidFill>
                  <a:srgbClr val="262B3A"/>
                </a:solidFill>
                <a:latin typeface="Calibri" pitchFamily="34" charset="0"/>
                <a:ea typeface="Calibri" pitchFamily="34" charset="-122"/>
                <a:cs typeface="Calibri" pitchFamily="34" charset="-120"/>
              </a:rPr>
              <a:t>80 nm</a:t>
            </a:r>
            <a:r>
              <a:rPr lang="en-US" sz="1150" dirty="0">
                <a:solidFill>
                  <a:srgbClr val="262B3A"/>
                </a:solidFill>
                <a:latin typeface="Calibri" pitchFamily="34" charset="0"/>
                <a:ea typeface="Calibri" pitchFamily="34" charset="-122"/>
                <a:cs typeface="Calibri" pitchFamily="34" charset="-120"/>
              </a:rPr>
              <a:t> particle?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Comparing sizes with standard form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C4.3.1 • ordering sizes and working out how many times bigger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C4.3.1  |  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powers-of-ten scale: each major tick is 10 times the one before</a:t>
            </a:r>
            <a:endParaRPr lang="en-US" sz="1000" dirty="0"/>
          </a:p>
        </p:txBody>
      </p:sp>
      <p:sp>
        <p:nvSpPr>
          <p:cNvPr id="10" name="Shape 8"/>
          <p:cNvSpPr/>
          <p:nvPr/>
        </p:nvSpPr>
        <p:spPr>
          <a:xfrm>
            <a:off x="777240" y="2926080"/>
            <a:ext cx="4846320" cy="91"/>
          </a:xfrm>
          <a:prstGeom prst="line">
            <a:avLst/>
          </a:prstGeom>
          <a:noFill/>
          <a:ln w="25400">
            <a:solidFill>
              <a:srgbClr val="2A1F3D"/>
            </a:solidFill>
            <a:prstDash val="solid"/>
          </a:ln>
        </p:spPr>
      </p:sp>
      <p:sp>
        <p:nvSpPr>
          <p:cNvPr id="11" name="Shape 9"/>
          <p:cNvSpPr/>
          <p:nvPr/>
        </p:nvSpPr>
        <p:spPr>
          <a:xfrm>
            <a:off x="777240" y="2834640"/>
            <a:ext cx="91" cy="182880"/>
          </a:xfrm>
          <a:prstGeom prst="line">
            <a:avLst/>
          </a:prstGeom>
          <a:noFill/>
          <a:ln w="19050">
            <a:solidFill>
              <a:srgbClr val="2A1F3D"/>
            </a:solidFill>
            <a:prstDash val="solid"/>
          </a:ln>
        </p:spPr>
      </p:sp>
      <p:sp>
        <p:nvSpPr>
          <p:cNvPr id="12" name="Text 10"/>
          <p:cNvSpPr/>
          <p:nvPr/>
        </p:nvSpPr>
        <p:spPr>
          <a:xfrm>
            <a:off x="411480" y="3035808"/>
            <a:ext cx="7315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r>
              <a:rPr lang="en-US" sz="1000" baseline="30000" dirty="0">
                <a:solidFill>
                  <a:srgbClr val="262B3A"/>
                </a:solidFill>
                <a:latin typeface="Calibri" pitchFamily="34" charset="0"/>
                <a:ea typeface="Calibri" pitchFamily="34" charset="-122"/>
                <a:cs typeface="Calibri" pitchFamily="34" charset="-120"/>
              </a:rPr>
              <a:t>−10</a:t>
            </a:r>
            <a:endParaRPr lang="en-US" sz="1000" dirty="0"/>
          </a:p>
        </p:txBody>
      </p:sp>
      <p:sp>
        <p:nvSpPr>
          <p:cNvPr id="13" name="Shape 11"/>
          <p:cNvSpPr/>
          <p:nvPr/>
        </p:nvSpPr>
        <p:spPr>
          <a:xfrm>
            <a:off x="1584960" y="2834640"/>
            <a:ext cx="91" cy="182880"/>
          </a:xfrm>
          <a:prstGeom prst="line">
            <a:avLst/>
          </a:prstGeom>
          <a:noFill/>
          <a:ln w="19050">
            <a:solidFill>
              <a:srgbClr val="2A1F3D"/>
            </a:solidFill>
            <a:prstDash val="solid"/>
          </a:ln>
        </p:spPr>
      </p:sp>
      <p:sp>
        <p:nvSpPr>
          <p:cNvPr id="14" name="Text 12"/>
          <p:cNvSpPr/>
          <p:nvPr/>
        </p:nvSpPr>
        <p:spPr>
          <a:xfrm>
            <a:off x="1219200" y="3035808"/>
            <a:ext cx="7315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r>
              <a:rPr lang="en-US" sz="1000" baseline="30000" dirty="0">
                <a:solidFill>
                  <a:srgbClr val="262B3A"/>
                </a:solidFill>
                <a:latin typeface="Calibri" pitchFamily="34" charset="0"/>
                <a:ea typeface="Calibri" pitchFamily="34" charset="-122"/>
                <a:cs typeface="Calibri" pitchFamily="34" charset="-120"/>
              </a:rPr>
              <a:t>−9</a:t>
            </a:r>
            <a:endParaRPr lang="en-US" sz="1000" dirty="0"/>
          </a:p>
        </p:txBody>
      </p:sp>
      <p:sp>
        <p:nvSpPr>
          <p:cNvPr id="15" name="Shape 13"/>
          <p:cNvSpPr/>
          <p:nvPr/>
        </p:nvSpPr>
        <p:spPr>
          <a:xfrm>
            <a:off x="2392680" y="2834640"/>
            <a:ext cx="91" cy="182880"/>
          </a:xfrm>
          <a:prstGeom prst="line">
            <a:avLst/>
          </a:prstGeom>
          <a:noFill/>
          <a:ln w="19050">
            <a:solidFill>
              <a:srgbClr val="2A1F3D"/>
            </a:solidFill>
            <a:prstDash val="solid"/>
          </a:ln>
        </p:spPr>
      </p:sp>
      <p:sp>
        <p:nvSpPr>
          <p:cNvPr id="16" name="Text 14"/>
          <p:cNvSpPr/>
          <p:nvPr/>
        </p:nvSpPr>
        <p:spPr>
          <a:xfrm>
            <a:off x="2026920" y="3035808"/>
            <a:ext cx="7315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r>
              <a:rPr lang="en-US" sz="1000" baseline="30000" dirty="0">
                <a:solidFill>
                  <a:srgbClr val="262B3A"/>
                </a:solidFill>
                <a:latin typeface="Calibri" pitchFamily="34" charset="0"/>
                <a:ea typeface="Calibri" pitchFamily="34" charset="-122"/>
                <a:cs typeface="Calibri" pitchFamily="34" charset="-120"/>
              </a:rPr>
              <a:t>−8</a:t>
            </a:r>
            <a:endParaRPr lang="en-US" sz="1000" dirty="0"/>
          </a:p>
        </p:txBody>
      </p:sp>
      <p:sp>
        <p:nvSpPr>
          <p:cNvPr id="17" name="Shape 15"/>
          <p:cNvSpPr/>
          <p:nvPr/>
        </p:nvSpPr>
        <p:spPr>
          <a:xfrm>
            <a:off x="3200400" y="2834640"/>
            <a:ext cx="91" cy="182880"/>
          </a:xfrm>
          <a:prstGeom prst="line">
            <a:avLst/>
          </a:prstGeom>
          <a:noFill/>
          <a:ln w="19050">
            <a:solidFill>
              <a:srgbClr val="2A1F3D"/>
            </a:solidFill>
            <a:prstDash val="solid"/>
          </a:ln>
        </p:spPr>
      </p:sp>
      <p:sp>
        <p:nvSpPr>
          <p:cNvPr id="18" name="Text 16"/>
          <p:cNvSpPr/>
          <p:nvPr/>
        </p:nvSpPr>
        <p:spPr>
          <a:xfrm>
            <a:off x="2834640" y="3035808"/>
            <a:ext cx="7315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r>
              <a:rPr lang="en-US" sz="1000" baseline="30000" dirty="0">
                <a:solidFill>
                  <a:srgbClr val="262B3A"/>
                </a:solidFill>
                <a:latin typeface="Calibri" pitchFamily="34" charset="0"/>
                <a:ea typeface="Calibri" pitchFamily="34" charset="-122"/>
                <a:cs typeface="Calibri" pitchFamily="34" charset="-120"/>
              </a:rPr>
              <a:t>−7</a:t>
            </a:r>
            <a:endParaRPr lang="en-US" sz="1000" dirty="0"/>
          </a:p>
        </p:txBody>
      </p:sp>
      <p:sp>
        <p:nvSpPr>
          <p:cNvPr id="19" name="Shape 17"/>
          <p:cNvSpPr/>
          <p:nvPr/>
        </p:nvSpPr>
        <p:spPr>
          <a:xfrm>
            <a:off x="4008120" y="2834640"/>
            <a:ext cx="91" cy="182880"/>
          </a:xfrm>
          <a:prstGeom prst="line">
            <a:avLst/>
          </a:prstGeom>
          <a:noFill/>
          <a:ln w="19050">
            <a:solidFill>
              <a:srgbClr val="2A1F3D"/>
            </a:solidFill>
            <a:prstDash val="solid"/>
          </a:ln>
        </p:spPr>
      </p:sp>
      <p:sp>
        <p:nvSpPr>
          <p:cNvPr id="20" name="Text 18"/>
          <p:cNvSpPr/>
          <p:nvPr/>
        </p:nvSpPr>
        <p:spPr>
          <a:xfrm>
            <a:off x="3642360" y="3035808"/>
            <a:ext cx="7315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r>
              <a:rPr lang="en-US" sz="1000" baseline="30000" dirty="0">
                <a:solidFill>
                  <a:srgbClr val="262B3A"/>
                </a:solidFill>
                <a:latin typeface="Calibri" pitchFamily="34" charset="0"/>
                <a:ea typeface="Calibri" pitchFamily="34" charset="-122"/>
                <a:cs typeface="Calibri" pitchFamily="34" charset="-120"/>
              </a:rPr>
              <a:t>−6</a:t>
            </a:r>
            <a:endParaRPr lang="en-US" sz="1000" dirty="0"/>
          </a:p>
        </p:txBody>
      </p:sp>
      <p:sp>
        <p:nvSpPr>
          <p:cNvPr id="21" name="Shape 19"/>
          <p:cNvSpPr/>
          <p:nvPr/>
        </p:nvSpPr>
        <p:spPr>
          <a:xfrm>
            <a:off x="4815840" y="2834640"/>
            <a:ext cx="91" cy="182880"/>
          </a:xfrm>
          <a:prstGeom prst="line">
            <a:avLst/>
          </a:prstGeom>
          <a:noFill/>
          <a:ln w="19050">
            <a:solidFill>
              <a:srgbClr val="2A1F3D"/>
            </a:solidFill>
            <a:prstDash val="solid"/>
          </a:ln>
        </p:spPr>
      </p:sp>
      <p:sp>
        <p:nvSpPr>
          <p:cNvPr id="22" name="Text 20"/>
          <p:cNvSpPr/>
          <p:nvPr/>
        </p:nvSpPr>
        <p:spPr>
          <a:xfrm>
            <a:off x="4450080" y="3035808"/>
            <a:ext cx="7315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r>
              <a:rPr lang="en-US" sz="1000" baseline="30000" dirty="0">
                <a:solidFill>
                  <a:srgbClr val="262B3A"/>
                </a:solidFill>
                <a:latin typeface="Calibri" pitchFamily="34" charset="0"/>
                <a:ea typeface="Calibri" pitchFamily="34" charset="-122"/>
                <a:cs typeface="Calibri" pitchFamily="34" charset="-120"/>
              </a:rPr>
              <a:t>−5</a:t>
            </a:r>
            <a:endParaRPr lang="en-US" sz="1000" dirty="0"/>
          </a:p>
        </p:txBody>
      </p:sp>
      <p:sp>
        <p:nvSpPr>
          <p:cNvPr id="23" name="Shape 21"/>
          <p:cNvSpPr/>
          <p:nvPr/>
        </p:nvSpPr>
        <p:spPr>
          <a:xfrm>
            <a:off x="5623560" y="2834640"/>
            <a:ext cx="91" cy="182880"/>
          </a:xfrm>
          <a:prstGeom prst="line">
            <a:avLst/>
          </a:prstGeom>
          <a:noFill/>
          <a:ln w="19050">
            <a:solidFill>
              <a:srgbClr val="2A1F3D"/>
            </a:solidFill>
            <a:prstDash val="solid"/>
          </a:ln>
        </p:spPr>
      </p:sp>
      <p:sp>
        <p:nvSpPr>
          <p:cNvPr id="24" name="Text 22"/>
          <p:cNvSpPr/>
          <p:nvPr/>
        </p:nvSpPr>
        <p:spPr>
          <a:xfrm>
            <a:off x="5257800" y="3035808"/>
            <a:ext cx="7315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r>
              <a:rPr lang="en-US" sz="1000" baseline="30000" dirty="0">
                <a:solidFill>
                  <a:srgbClr val="262B3A"/>
                </a:solidFill>
                <a:latin typeface="Calibri" pitchFamily="34" charset="0"/>
                <a:ea typeface="Calibri" pitchFamily="34" charset="-122"/>
                <a:cs typeface="Calibri" pitchFamily="34" charset="-120"/>
              </a:rPr>
              <a:t>−4</a:t>
            </a:r>
            <a:endParaRPr lang="en-US" sz="1000" dirty="0"/>
          </a:p>
        </p:txBody>
      </p:sp>
      <p:sp>
        <p:nvSpPr>
          <p:cNvPr id="25" name="Shape 23"/>
          <p:cNvSpPr/>
          <p:nvPr/>
        </p:nvSpPr>
        <p:spPr>
          <a:xfrm>
            <a:off x="1584960" y="2779776"/>
            <a:ext cx="1615440" cy="292608"/>
          </a:xfrm>
          <a:prstGeom prst="rect">
            <a:avLst/>
          </a:prstGeom>
          <a:solidFill>
            <a:srgbClr val="F5A742">
              <a:alpha val="45000"/>
            </a:srgbClr>
          </a:solidFill>
          <a:ln/>
        </p:spPr>
      </p:sp>
      <p:sp>
        <p:nvSpPr>
          <p:cNvPr id="26" name="Text 24"/>
          <p:cNvSpPr/>
          <p:nvPr/>
        </p:nvSpPr>
        <p:spPr>
          <a:xfrm>
            <a:off x="1584960" y="2468880"/>
            <a:ext cx="1615440" cy="256032"/>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nano range</a:t>
            </a:r>
            <a:endParaRPr lang="en-US" sz="1050" dirty="0"/>
          </a:p>
        </p:txBody>
      </p:sp>
      <p:sp>
        <p:nvSpPr>
          <p:cNvPr id="27" name="Shape 25"/>
          <p:cNvSpPr/>
          <p:nvPr/>
        </p:nvSpPr>
        <p:spPr>
          <a:xfrm>
            <a:off x="722376" y="2871216"/>
            <a:ext cx="109728" cy="109728"/>
          </a:xfrm>
          <a:prstGeom prst="ellipse">
            <a:avLst/>
          </a:prstGeom>
          <a:solidFill>
            <a:srgbClr val="6A3FA0"/>
          </a:solidFill>
          <a:ln w="9525">
            <a:solidFill>
              <a:srgbClr val="6A3FA0"/>
            </a:solidFill>
            <a:prstDash val="solid"/>
          </a:ln>
        </p:spPr>
      </p:sp>
      <p:sp>
        <p:nvSpPr>
          <p:cNvPr id="28" name="Shape 26"/>
          <p:cNvSpPr/>
          <p:nvPr/>
        </p:nvSpPr>
        <p:spPr>
          <a:xfrm>
            <a:off x="777240" y="2359152"/>
            <a:ext cx="91" cy="493776"/>
          </a:xfrm>
          <a:prstGeom prst="line">
            <a:avLst/>
          </a:prstGeom>
          <a:noFill/>
          <a:ln w="12700">
            <a:solidFill>
              <a:srgbClr val="6A3FA0"/>
            </a:solidFill>
            <a:prstDash val="dash"/>
          </a:ln>
        </p:spPr>
      </p:sp>
      <p:sp>
        <p:nvSpPr>
          <p:cNvPr id="29" name="Text 27"/>
          <p:cNvSpPr/>
          <p:nvPr/>
        </p:nvSpPr>
        <p:spPr>
          <a:xfrm>
            <a:off x="210312" y="1828800"/>
            <a:ext cx="1133856" cy="502920"/>
          </a:xfrm>
          <a:prstGeom prst="rect">
            <a:avLst/>
          </a:prstGeom>
          <a:noFill/>
          <a:ln/>
        </p:spPr>
        <p:txBody>
          <a:bodyPr wrap="square" lIns="0" tIns="0" rIns="0" bIns="0" rtlCol="0" anchor="b"/>
          <a:lstStyle/>
          <a:p>
            <a:pPr algn="ctr" indent="0" marL="0">
              <a:buNone/>
            </a:pPr>
            <a:r>
              <a:rPr lang="en-US" sz="1000" b="1" dirty="0">
                <a:solidFill>
                  <a:srgbClr val="262B3A"/>
                </a:solidFill>
                <a:latin typeface="Calibri" pitchFamily="34" charset="0"/>
                <a:ea typeface="Calibri" pitchFamily="34" charset="-122"/>
                <a:cs typeface="Calibri" pitchFamily="34" charset="-120"/>
              </a:rPr>
              <a:t>atom</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1 × 10⁻¹⁰ m</a:t>
            </a:r>
            <a:endParaRPr lang="en-US" sz="1000" dirty="0"/>
          </a:p>
        </p:txBody>
      </p:sp>
      <p:sp>
        <p:nvSpPr>
          <p:cNvPr id="30" name="Shape 28"/>
          <p:cNvSpPr/>
          <p:nvPr/>
        </p:nvSpPr>
        <p:spPr>
          <a:xfrm>
            <a:off x="1286948" y="2871216"/>
            <a:ext cx="109728" cy="109728"/>
          </a:xfrm>
          <a:prstGeom prst="ellipse">
            <a:avLst/>
          </a:prstGeom>
          <a:solidFill>
            <a:srgbClr val="6A3FA0"/>
          </a:solidFill>
          <a:ln w="9525">
            <a:solidFill>
              <a:srgbClr val="6A3FA0"/>
            </a:solidFill>
            <a:prstDash val="solid"/>
          </a:ln>
        </p:spPr>
      </p:sp>
      <p:sp>
        <p:nvSpPr>
          <p:cNvPr id="31" name="Shape 29"/>
          <p:cNvSpPr/>
          <p:nvPr/>
        </p:nvSpPr>
        <p:spPr>
          <a:xfrm flipV="1">
            <a:off x="1341812" y="2999232"/>
            <a:ext cx="91" cy="310896"/>
          </a:xfrm>
          <a:prstGeom prst="line">
            <a:avLst/>
          </a:prstGeom>
          <a:noFill/>
          <a:ln w="12700">
            <a:solidFill>
              <a:srgbClr val="6A3FA0"/>
            </a:solidFill>
            <a:prstDash val="dash"/>
          </a:ln>
        </p:spPr>
      </p:sp>
      <p:sp>
        <p:nvSpPr>
          <p:cNvPr id="32" name="Text 30"/>
          <p:cNvSpPr/>
          <p:nvPr/>
        </p:nvSpPr>
        <p:spPr>
          <a:xfrm>
            <a:off x="774884" y="3337560"/>
            <a:ext cx="1133856" cy="50292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molecule</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5 × 10⁻¹⁰ m</a:t>
            </a:r>
            <a:endParaRPr lang="en-US" sz="1000" dirty="0"/>
          </a:p>
        </p:txBody>
      </p:sp>
      <p:sp>
        <p:nvSpPr>
          <p:cNvPr id="33" name="Shape 31"/>
          <p:cNvSpPr/>
          <p:nvPr/>
        </p:nvSpPr>
        <p:spPr>
          <a:xfrm>
            <a:off x="2777271" y="2871216"/>
            <a:ext cx="109728" cy="109728"/>
          </a:xfrm>
          <a:prstGeom prst="ellipse">
            <a:avLst/>
          </a:prstGeom>
          <a:solidFill>
            <a:srgbClr val="6A3FA0"/>
          </a:solidFill>
          <a:ln w="9525">
            <a:solidFill>
              <a:srgbClr val="6A3FA0"/>
            </a:solidFill>
            <a:prstDash val="solid"/>
          </a:ln>
        </p:spPr>
      </p:sp>
      <p:sp>
        <p:nvSpPr>
          <p:cNvPr id="34" name="Shape 32"/>
          <p:cNvSpPr/>
          <p:nvPr/>
        </p:nvSpPr>
        <p:spPr>
          <a:xfrm>
            <a:off x="2832135" y="2359152"/>
            <a:ext cx="91" cy="493776"/>
          </a:xfrm>
          <a:prstGeom prst="line">
            <a:avLst/>
          </a:prstGeom>
          <a:noFill/>
          <a:ln w="12700">
            <a:solidFill>
              <a:srgbClr val="6A3FA0"/>
            </a:solidFill>
            <a:prstDash val="dash"/>
          </a:ln>
        </p:spPr>
      </p:sp>
      <p:sp>
        <p:nvSpPr>
          <p:cNvPr id="35" name="Text 33"/>
          <p:cNvSpPr/>
          <p:nvPr/>
        </p:nvSpPr>
        <p:spPr>
          <a:xfrm>
            <a:off x="2265207" y="1828800"/>
            <a:ext cx="1133856" cy="502920"/>
          </a:xfrm>
          <a:prstGeom prst="rect">
            <a:avLst/>
          </a:prstGeom>
          <a:noFill/>
          <a:ln/>
        </p:spPr>
        <p:txBody>
          <a:bodyPr wrap="square" lIns="0" tIns="0" rIns="0" bIns="0" rtlCol="0" anchor="b"/>
          <a:lstStyle/>
          <a:p>
            <a:pPr algn="ctr" indent="0" marL="0">
              <a:buNone/>
            </a:pPr>
            <a:r>
              <a:rPr lang="en-US" sz="1000" b="1" dirty="0">
                <a:solidFill>
                  <a:srgbClr val="262B3A"/>
                </a:solidFill>
                <a:latin typeface="Calibri" pitchFamily="34" charset="0"/>
                <a:ea typeface="Calibri" pitchFamily="34" charset="-122"/>
                <a:cs typeface="Calibri" pitchFamily="34" charset="-120"/>
              </a:rPr>
              <a:t>nanoparticle</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3.5 × 10⁻⁸ m</a:t>
            </a:r>
            <a:endParaRPr lang="en-US" sz="1000" dirty="0"/>
          </a:p>
        </p:txBody>
      </p:sp>
      <p:sp>
        <p:nvSpPr>
          <p:cNvPr id="36" name="Shape 34"/>
          <p:cNvSpPr/>
          <p:nvPr/>
        </p:nvSpPr>
        <p:spPr>
          <a:xfrm>
            <a:off x="4274680" y="2871216"/>
            <a:ext cx="109728" cy="109728"/>
          </a:xfrm>
          <a:prstGeom prst="ellipse">
            <a:avLst/>
          </a:prstGeom>
          <a:solidFill>
            <a:srgbClr val="6A3FA0"/>
          </a:solidFill>
          <a:ln w="9525">
            <a:solidFill>
              <a:srgbClr val="6A3FA0"/>
            </a:solidFill>
            <a:prstDash val="solid"/>
          </a:ln>
        </p:spPr>
      </p:sp>
      <p:sp>
        <p:nvSpPr>
          <p:cNvPr id="37" name="Shape 35"/>
          <p:cNvSpPr/>
          <p:nvPr/>
        </p:nvSpPr>
        <p:spPr>
          <a:xfrm flipV="1">
            <a:off x="4329544" y="2999232"/>
            <a:ext cx="91" cy="310896"/>
          </a:xfrm>
          <a:prstGeom prst="line">
            <a:avLst/>
          </a:prstGeom>
          <a:noFill/>
          <a:ln w="12700">
            <a:solidFill>
              <a:srgbClr val="6A3FA0"/>
            </a:solidFill>
            <a:prstDash val="dash"/>
          </a:ln>
        </p:spPr>
      </p:sp>
      <p:sp>
        <p:nvSpPr>
          <p:cNvPr id="38" name="Text 36"/>
          <p:cNvSpPr/>
          <p:nvPr/>
        </p:nvSpPr>
        <p:spPr>
          <a:xfrm>
            <a:off x="3762616" y="3337560"/>
            <a:ext cx="1133856" cy="50292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PM2.5</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2.5 × 10⁻⁶ m</a:t>
            </a:r>
            <a:endParaRPr lang="en-US" sz="1000" dirty="0"/>
          </a:p>
        </p:txBody>
      </p:sp>
      <p:sp>
        <p:nvSpPr>
          <p:cNvPr id="39" name="Shape 37"/>
          <p:cNvSpPr/>
          <p:nvPr/>
        </p:nvSpPr>
        <p:spPr>
          <a:xfrm>
            <a:off x="4635859" y="2871216"/>
            <a:ext cx="109728" cy="109728"/>
          </a:xfrm>
          <a:prstGeom prst="ellipse">
            <a:avLst/>
          </a:prstGeom>
          <a:solidFill>
            <a:srgbClr val="6A3FA0"/>
          </a:solidFill>
          <a:ln w="9525">
            <a:solidFill>
              <a:srgbClr val="6A3FA0"/>
            </a:solidFill>
            <a:prstDash val="solid"/>
          </a:ln>
        </p:spPr>
      </p:sp>
      <p:sp>
        <p:nvSpPr>
          <p:cNvPr id="40" name="Shape 38"/>
          <p:cNvSpPr/>
          <p:nvPr/>
        </p:nvSpPr>
        <p:spPr>
          <a:xfrm>
            <a:off x="4690723" y="2359152"/>
            <a:ext cx="91" cy="493776"/>
          </a:xfrm>
          <a:prstGeom prst="line">
            <a:avLst/>
          </a:prstGeom>
          <a:noFill/>
          <a:ln w="12700">
            <a:solidFill>
              <a:srgbClr val="6A3FA0"/>
            </a:solidFill>
            <a:prstDash val="dash"/>
          </a:ln>
        </p:spPr>
      </p:sp>
      <p:sp>
        <p:nvSpPr>
          <p:cNvPr id="41" name="Text 39"/>
          <p:cNvSpPr/>
          <p:nvPr/>
        </p:nvSpPr>
        <p:spPr>
          <a:xfrm>
            <a:off x="4123795" y="1828800"/>
            <a:ext cx="1133856" cy="502920"/>
          </a:xfrm>
          <a:prstGeom prst="rect">
            <a:avLst/>
          </a:prstGeom>
          <a:noFill/>
          <a:ln/>
        </p:spPr>
        <p:txBody>
          <a:bodyPr wrap="square" lIns="0" tIns="0" rIns="0" bIns="0" rtlCol="0" anchor="b"/>
          <a:lstStyle/>
          <a:p>
            <a:pPr algn="ctr" indent="0" marL="0">
              <a:buNone/>
            </a:pPr>
            <a:r>
              <a:rPr lang="en-US" sz="1000" b="1" dirty="0">
                <a:solidFill>
                  <a:srgbClr val="262B3A"/>
                </a:solidFill>
                <a:latin typeface="Calibri" pitchFamily="34" charset="0"/>
                <a:ea typeface="Calibri" pitchFamily="34" charset="-122"/>
                <a:cs typeface="Calibri" pitchFamily="34" charset="-120"/>
              </a:rPr>
              <a:t>blood cell</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7 × 10⁻⁶ m</a:t>
            </a:r>
            <a:endParaRPr lang="en-US" sz="1000" dirty="0"/>
          </a:p>
        </p:txBody>
      </p:sp>
      <p:sp>
        <p:nvSpPr>
          <p:cNvPr id="42" name="Shape 40"/>
          <p:cNvSpPr/>
          <p:nvPr/>
        </p:nvSpPr>
        <p:spPr>
          <a:xfrm>
            <a:off x="5490420" y="2871216"/>
            <a:ext cx="109728" cy="109728"/>
          </a:xfrm>
          <a:prstGeom prst="ellipse">
            <a:avLst/>
          </a:prstGeom>
          <a:solidFill>
            <a:srgbClr val="6A3FA0"/>
          </a:solidFill>
          <a:ln w="9525">
            <a:solidFill>
              <a:srgbClr val="6A3FA0"/>
            </a:solidFill>
            <a:prstDash val="solid"/>
          </a:ln>
        </p:spPr>
      </p:sp>
      <p:sp>
        <p:nvSpPr>
          <p:cNvPr id="43" name="Shape 41"/>
          <p:cNvSpPr/>
          <p:nvPr/>
        </p:nvSpPr>
        <p:spPr>
          <a:xfrm flipV="1">
            <a:off x="5545284" y="2999232"/>
            <a:ext cx="91" cy="310896"/>
          </a:xfrm>
          <a:prstGeom prst="line">
            <a:avLst/>
          </a:prstGeom>
          <a:noFill/>
          <a:ln w="12700">
            <a:solidFill>
              <a:srgbClr val="6A3FA0"/>
            </a:solidFill>
            <a:prstDash val="dash"/>
          </a:ln>
        </p:spPr>
      </p:sp>
      <p:sp>
        <p:nvSpPr>
          <p:cNvPr id="44" name="Text 42"/>
          <p:cNvSpPr/>
          <p:nvPr/>
        </p:nvSpPr>
        <p:spPr>
          <a:xfrm>
            <a:off x="4978356" y="3337560"/>
            <a:ext cx="1133856" cy="50292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hair</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8 × 10⁻⁵ m</a:t>
            </a:r>
            <a:endParaRPr lang="en-US" sz="1000" dirty="0"/>
          </a:p>
        </p:txBody>
      </p:sp>
      <p:sp>
        <p:nvSpPr>
          <p:cNvPr id="45" name="Text 43"/>
          <p:cNvSpPr/>
          <p:nvPr/>
        </p:nvSpPr>
        <p:spPr>
          <a:xfrm>
            <a:off x="685800" y="4343400"/>
            <a:ext cx="5120640" cy="54864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Bigger negative power = </a:t>
            </a:r>
            <a:r>
              <a:rPr lang="en-US" sz="1050" b="1" dirty="0">
                <a:solidFill>
                  <a:srgbClr val="262B3A"/>
                </a:solidFill>
                <a:latin typeface="Calibri" pitchFamily="34" charset="0"/>
                <a:ea typeface="Calibri" pitchFamily="34" charset="-122"/>
                <a:cs typeface="Calibri" pitchFamily="34" charset="-120"/>
              </a:rPr>
              <a:t>smaller</a:t>
            </a:r>
            <a:r>
              <a:rPr lang="en-US" sz="1050" dirty="0">
                <a:solidFill>
                  <a:srgbClr val="262B3A"/>
                </a:solidFill>
                <a:latin typeface="Calibri" pitchFamily="34" charset="0"/>
                <a:ea typeface="Calibri" pitchFamily="34" charset="-122"/>
                <a:cs typeface="Calibri" pitchFamily="34" charset="-120"/>
              </a:rPr>
              <a:t> size. Order by the power of ten first, then by the number in front.</a:t>
            </a:r>
            <a:endParaRPr lang="en-US" sz="1050" dirty="0"/>
          </a:p>
        </p:txBody>
      </p:sp>
      <p:sp>
        <p:nvSpPr>
          <p:cNvPr id="46" name="Shape 44"/>
          <p:cNvSpPr/>
          <p:nvPr/>
        </p:nvSpPr>
        <p:spPr>
          <a:xfrm>
            <a:off x="6217920" y="1188720"/>
            <a:ext cx="5559552" cy="2514600"/>
          </a:xfrm>
          <a:prstGeom prst="roundRect">
            <a:avLst>
              <a:gd name="adj" fmla="val 2182"/>
            </a:avLst>
          </a:prstGeom>
          <a:solidFill>
            <a:srgbClr val="F8F5FC"/>
          </a:solidFill>
          <a:ln w="9525">
            <a:solidFill>
              <a:srgbClr val="DDD3EC"/>
            </a:solidFill>
            <a:prstDash val="solid"/>
          </a:ln>
        </p:spPr>
      </p:sp>
      <p:sp>
        <p:nvSpPr>
          <p:cNvPr id="47" name="Text 45"/>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Using standard form</a:t>
            </a:r>
            <a:endParaRPr lang="en-US" sz="1300" dirty="0"/>
          </a:p>
        </p:txBody>
      </p:sp>
      <p:sp>
        <p:nvSpPr>
          <p:cNvPr id="48" name="Text 46"/>
          <p:cNvSpPr/>
          <p:nvPr/>
        </p:nvSpPr>
        <p:spPr>
          <a:xfrm>
            <a:off x="6382512" y="1609344"/>
            <a:ext cx="5230368" cy="2020824"/>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Sizes this small are written as </a:t>
            </a:r>
            <a:r>
              <a:rPr lang="en-US" sz="1250" b="1" dirty="0">
                <a:solidFill>
                  <a:srgbClr val="262B3A"/>
                </a:solidFill>
                <a:latin typeface="Calibri" pitchFamily="34" charset="0"/>
                <a:ea typeface="Calibri" pitchFamily="34" charset="-122"/>
                <a:cs typeface="Calibri" pitchFamily="34" charset="-120"/>
              </a:rPr>
              <a:t>A × 10ⁿ</a:t>
            </a:r>
            <a:r>
              <a:rPr lang="en-US" sz="1250" dirty="0">
                <a:solidFill>
                  <a:srgbClr val="262B3A"/>
                </a:solidFill>
                <a:latin typeface="Calibri" pitchFamily="34" charset="0"/>
                <a:ea typeface="Calibri" pitchFamily="34" charset="-122"/>
                <a:cs typeface="Calibri" pitchFamily="34" charset="-120"/>
              </a:rPr>
              <a:t>, with A between 1 and 10.</a:t>
            </a:r>
            <a:endParaRPr lang="en-US" sz="1250" dirty="0"/>
          </a:p>
          <a:p>
            <a:pPr marL="152400" indent="-152400">
              <a:spcAft>
                <a:spcPts val="300"/>
              </a:spcAft>
              <a:buSzPct val="100000"/>
              <a:buChar char="▪"/>
            </a:pPr>
            <a:r>
              <a:rPr lang="en-US" sz="1250" b="1" dirty="0">
                <a:solidFill>
                  <a:srgbClr val="262B3A"/>
                </a:solidFill>
                <a:latin typeface="Calibri" pitchFamily="34" charset="0"/>
                <a:ea typeface="Calibri" pitchFamily="34" charset="-122"/>
                <a:cs typeface="Calibri" pitchFamily="34" charset="-120"/>
              </a:rPr>
              <a:t>nm → m</a:t>
            </a:r>
            <a:r>
              <a:rPr lang="en-US" sz="1250" dirty="0">
                <a:solidFill>
                  <a:srgbClr val="262B3A"/>
                </a:solidFill>
                <a:latin typeface="Calibri" pitchFamily="34" charset="0"/>
                <a:ea typeface="Calibri" pitchFamily="34" charset="-122"/>
                <a:cs typeface="Calibri" pitchFamily="34" charset="-120"/>
              </a:rPr>
              <a:t>: multiply by 10⁻⁹. 35 nm = 35 × 10⁻⁹ m = </a:t>
            </a:r>
            <a:r>
              <a:rPr lang="en-US" sz="1250" b="1" dirty="0">
                <a:solidFill>
                  <a:srgbClr val="262B3A"/>
                </a:solidFill>
                <a:latin typeface="Calibri" pitchFamily="34" charset="0"/>
                <a:ea typeface="Calibri" pitchFamily="34" charset="-122"/>
                <a:cs typeface="Calibri" pitchFamily="34" charset="-120"/>
              </a:rPr>
              <a:t>3.5 × 10⁻⁸ m</a:t>
            </a:r>
            <a:r>
              <a:rPr lang="en-US" sz="1250" dirty="0">
                <a:solidFill>
                  <a:srgbClr val="262B3A"/>
                </a:solidFill>
                <a:latin typeface="Calibri" pitchFamily="34" charset="0"/>
                <a:ea typeface="Calibri" pitchFamily="34" charset="-122"/>
                <a:cs typeface="Calibri" pitchFamily="34" charset="-120"/>
              </a:rPr>
              <a:t>.</a:t>
            </a:r>
            <a:endParaRPr lang="en-US" sz="1250" dirty="0"/>
          </a:p>
          <a:p>
            <a:pPr marL="152400" indent="-152400">
              <a:spcAft>
                <a:spcPts val="300"/>
              </a:spcAft>
              <a:buSzPct val="100000"/>
              <a:buChar char="▪"/>
            </a:pPr>
            <a:r>
              <a:rPr lang="en-US" sz="1250" b="1" dirty="0">
                <a:solidFill>
                  <a:srgbClr val="262B3A"/>
                </a:solidFill>
                <a:latin typeface="Calibri" pitchFamily="34" charset="0"/>
                <a:ea typeface="Calibri" pitchFamily="34" charset="-122"/>
                <a:cs typeface="Calibri" pitchFamily="34" charset="-120"/>
              </a:rPr>
              <a:t>How many times bigger?</a:t>
            </a:r>
            <a:r>
              <a:rPr lang="en-US" sz="1250" dirty="0">
                <a:solidFill>
                  <a:srgbClr val="262B3A"/>
                </a:solidFill>
                <a:latin typeface="Calibri" pitchFamily="34" charset="0"/>
                <a:ea typeface="Calibri" pitchFamily="34" charset="-122"/>
                <a:cs typeface="Calibri" pitchFamily="34" charset="-120"/>
              </a:rPr>
              <a:t> Divide the bigger size by the smaller (same units). This is a </a:t>
            </a:r>
            <a:r>
              <a:rPr lang="en-US" sz="1250" b="1" dirty="0">
                <a:solidFill>
                  <a:srgbClr val="262B3A"/>
                </a:solidFill>
                <a:latin typeface="Calibri" pitchFamily="34" charset="0"/>
                <a:ea typeface="Calibri" pitchFamily="34" charset="-122"/>
                <a:cs typeface="Calibri" pitchFamily="34" charset="-120"/>
              </a:rPr>
              <a:t>ratio</a:t>
            </a:r>
            <a:r>
              <a:rPr lang="en-US" sz="1250" dirty="0">
                <a:solidFill>
                  <a:srgbClr val="262B3A"/>
                </a:solidFill>
                <a:latin typeface="Calibri" pitchFamily="34" charset="0"/>
                <a:ea typeface="Calibri" pitchFamily="34" charset="-122"/>
                <a:cs typeface="Calibri" pitchFamily="34" charset="-120"/>
              </a:rPr>
              <a:t>.</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An </a:t>
            </a:r>
            <a:r>
              <a:rPr lang="en-US" sz="1250" b="1" dirty="0">
                <a:solidFill>
                  <a:srgbClr val="262B3A"/>
                </a:solidFill>
                <a:latin typeface="Calibri" pitchFamily="34" charset="0"/>
                <a:ea typeface="Calibri" pitchFamily="34" charset="-122"/>
                <a:cs typeface="Calibri" pitchFamily="34" charset="-120"/>
              </a:rPr>
              <a:t>order of magnitude</a:t>
            </a:r>
            <a:r>
              <a:rPr lang="en-US" sz="1250" dirty="0">
                <a:solidFill>
                  <a:srgbClr val="262B3A"/>
                </a:solidFill>
                <a:latin typeface="Calibri" pitchFamily="34" charset="0"/>
                <a:ea typeface="Calibri" pitchFamily="34" charset="-122"/>
                <a:cs typeface="Calibri" pitchFamily="34" charset="-120"/>
              </a:rPr>
              <a:t> is a factor of 10. A hair is about 10⁶ times wider than an atom.</a:t>
            </a:r>
            <a:endParaRPr lang="en-US" sz="1250" dirty="0"/>
          </a:p>
        </p:txBody>
      </p:sp>
      <p:sp>
        <p:nvSpPr>
          <p:cNvPr id="49" name="Shape 47"/>
          <p:cNvSpPr/>
          <p:nvPr/>
        </p:nvSpPr>
        <p:spPr>
          <a:xfrm>
            <a:off x="6217920" y="3840480"/>
            <a:ext cx="5559552" cy="1874520"/>
          </a:xfrm>
          <a:prstGeom prst="roundRect">
            <a:avLst>
              <a:gd name="adj" fmla="val 2927"/>
            </a:avLst>
          </a:prstGeom>
          <a:solidFill>
            <a:srgbClr val="FFF4E0"/>
          </a:solidFill>
          <a:ln w="9525">
            <a:solidFill>
              <a:srgbClr val="F1D9A8"/>
            </a:solidFill>
            <a:prstDash val="solid"/>
          </a:ln>
        </p:spPr>
      </p:sp>
      <p:sp>
        <p:nvSpPr>
          <p:cNvPr id="50" name="Text 48"/>
          <p:cNvSpPr/>
          <p:nvPr/>
        </p:nvSpPr>
        <p:spPr>
          <a:xfrm>
            <a:off x="6382512" y="391363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nanoparticle compared with an atom</a:t>
            </a:r>
            <a:endParaRPr lang="en-US" sz="1300" dirty="0"/>
          </a:p>
        </p:txBody>
      </p:sp>
      <p:sp>
        <p:nvSpPr>
          <p:cNvPr id="51" name="Text 49"/>
          <p:cNvSpPr/>
          <p:nvPr/>
        </p:nvSpPr>
        <p:spPr>
          <a:xfrm>
            <a:off x="6382512" y="4224528"/>
            <a:ext cx="5230368" cy="14173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nanoparticle is 3.5 × 10⁻⁸ m wide; an atom is 1 × 10⁻¹⁰ m.</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Ratio   </a:t>
            </a:r>
            <a:r>
              <a:rPr lang="en-US" sz="1050" dirty="0">
                <a:solidFill>
                  <a:srgbClr val="262B3A"/>
                </a:solidFill>
                <a:latin typeface="Calibri" pitchFamily="34" charset="0"/>
                <a:ea typeface="Calibri" pitchFamily="34" charset="-122"/>
                <a:cs typeface="Calibri" pitchFamily="34" charset="-120"/>
              </a:rPr>
              <a:t>3.5 × 10⁻⁸ ÷ 1 × 10⁻¹⁰</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Powers   </a:t>
            </a:r>
            <a:r>
              <a:rPr lang="en-US" sz="1050" dirty="0">
                <a:solidFill>
                  <a:srgbClr val="262B3A"/>
                </a:solidFill>
                <a:latin typeface="Calibri" pitchFamily="34" charset="0"/>
                <a:ea typeface="Calibri" pitchFamily="34" charset="-122"/>
                <a:cs typeface="Calibri" pitchFamily="34" charset="-120"/>
              </a:rPr>
              <a:t>3.5 × 10⁻⁸⁻⁽⁻¹⁰⁾ = 3.5 × 10²</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the nanoparticle is </a:t>
            </a:r>
            <a:r>
              <a:rPr lang="en-US" sz="1050" b="1" dirty="0">
                <a:solidFill>
                  <a:srgbClr val="C8414C"/>
                </a:solidFill>
                <a:latin typeface="Calibri" pitchFamily="34" charset="0"/>
                <a:ea typeface="Calibri" pitchFamily="34" charset="-122"/>
                <a:cs typeface="Calibri" pitchFamily="34" charset="-120"/>
              </a:rPr>
              <a:t>350 times</a:t>
            </a:r>
            <a:r>
              <a:rPr lang="en-US" sz="1050" b="1" dirty="0">
                <a:solidFill>
                  <a:srgbClr val="C8414C"/>
                </a:solidFill>
                <a:latin typeface="Calibri" pitchFamily="34" charset="0"/>
                <a:ea typeface="Calibri" pitchFamily="34" charset="-122"/>
                <a:cs typeface="Calibri" pitchFamily="34" charset="-120"/>
              </a:rPr>
              <a:t> wider than the atom</a:t>
            </a:r>
            <a:endParaRPr lang="en-US" sz="1050" dirty="0"/>
          </a:p>
        </p:txBody>
      </p:sp>
      <p:sp>
        <p:nvSpPr>
          <p:cNvPr id="52" name="Shape 50"/>
          <p:cNvSpPr/>
          <p:nvPr/>
        </p:nvSpPr>
        <p:spPr>
          <a:xfrm>
            <a:off x="411480" y="5833872"/>
            <a:ext cx="11368735" cy="530352"/>
          </a:xfrm>
          <a:prstGeom prst="rect">
            <a:avLst/>
          </a:prstGeom>
          <a:solidFill>
            <a:srgbClr val="FFF4E0"/>
          </a:solidFill>
          <a:ln w="6350">
            <a:solidFill>
              <a:srgbClr val="F1D9A8"/>
            </a:solidFill>
            <a:prstDash val="solid"/>
          </a:ln>
        </p:spPr>
      </p:sp>
      <p:sp>
        <p:nvSpPr>
          <p:cNvPr id="53" name="Shape 51"/>
          <p:cNvSpPr/>
          <p:nvPr/>
        </p:nvSpPr>
        <p:spPr>
          <a:xfrm>
            <a:off x="411480" y="5833872"/>
            <a:ext cx="82296" cy="530352"/>
          </a:xfrm>
          <a:prstGeom prst="rect">
            <a:avLst/>
          </a:prstGeom>
          <a:solidFill>
            <a:srgbClr val="E39A2F"/>
          </a:solidFill>
          <a:ln w="12700">
            <a:solidFill>
              <a:srgbClr val="E39A2F"/>
            </a:solidFill>
            <a:prstDash val="solid"/>
          </a:ln>
        </p:spPr>
      </p:sp>
      <p:sp>
        <p:nvSpPr>
          <p:cNvPr id="54" name="Text 5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Put in order, smallest first: </a:t>
            </a:r>
            <a:r>
              <a:rPr lang="en-US" sz="1150" b="1" dirty="0">
                <a:solidFill>
                  <a:srgbClr val="262B3A"/>
                </a:solidFill>
                <a:latin typeface="Calibri" pitchFamily="34" charset="0"/>
                <a:ea typeface="Calibri" pitchFamily="34" charset="-122"/>
                <a:cs typeface="Calibri" pitchFamily="34" charset="-120"/>
              </a:rPr>
              <a:t>2.5 × 10⁻⁶ m</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5 × 10⁻¹⁰ m</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3.5 × 10⁻⁸ m</a:t>
            </a:r>
            <a:r>
              <a:rPr lang="en-US" sz="1150" dirty="0">
                <a:solidFill>
                  <a:srgbClr val="262B3A"/>
                </a:solidFill>
                <a:latin typeface="Calibri" pitchFamily="34" charset="0"/>
                <a:ea typeface="Calibri" pitchFamily="34" charset="-122"/>
                <a:cs typeface="Calibri" pitchFamily="34" charset="-120"/>
              </a:rPr>
              <a:t>. How many </a:t>
            </a:r>
            <a:r>
              <a:rPr lang="en-US" sz="1150" b="1" dirty="0">
                <a:solidFill>
                  <a:srgbClr val="262B3A"/>
                </a:solidFill>
                <a:latin typeface="Calibri" pitchFamily="34" charset="0"/>
                <a:ea typeface="Calibri" pitchFamily="34" charset="-122"/>
                <a:cs typeface="Calibri" pitchFamily="34" charset="-120"/>
              </a:rPr>
              <a:t>25 nm</a:t>
            </a:r>
            <a:r>
              <a:rPr lang="en-US" sz="1150" dirty="0">
                <a:solidFill>
                  <a:srgbClr val="262B3A"/>
                </a:solidFill>
                <a:latin typeface="Calibri" pitchFamily="34" charset="0"/>
                <a:ea typeface="Calibri" pitchFamily="34" charset="-122"/>
                <a:cs typeface="Calibri" pitchFamily="34" charset="-120"/>
              </a:rPr>
              <a:t> particles fit across a </a:t>
            </a:r>
            <a:r>
              <a:rPr lang="en-US" sz="1150" b="1" dirty="0">
                <a:solidFill>
                  <a:srgbClr val="262B3A"/>
                </a:solidFill>
                <a:latin typeface="Calibri" pitchFamily="34" charset="0"/>
                <a:ea typeface="Calibri" pitchFamily="34" charset="-122"/>
                <a:cs typeface="Calibri" pitchFamily="34" charset="-120"/>
              </a:rPr>
              <a:t>2.5 µm</a:t>
            </a:r>
            <a:r>
              <a:rPr lang="en-US" sz="1150" dirty="0">
                <a:solidFill>
                  <a:srgbClr val="262B3A"/>
                </a:solidFill>
                <a:latin typeface="Calibri" pitchFamily="34" charset="0"/>
                <a:ea typeface="Calibri" pitchFamily="34" charset="-122"/>
                <a:cs typeface="Calibri" pitchFamily="34" charset="-120"/>
              </a:rPr>
              <a:t> dust particle?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C4.3.1 • nano sizes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the size range of </a:t>
            </a:r>
            <a:r>
              <a:rPr lang="en-US" sz="1250" b="1" dirty="0">
                <a:solidFill>
                  <a:srgbClr val="262B3A"/>
                </a:solidFill>
                <a:latin typeface="Calibri" pitchFamily="34" charset="0"/>
                <a:ea typeface="Calibri" pitchFamily="34" charset="-122"/>
                <a:cs typeface="Calibri" pitchFamily="34" charset="-120"/>
              </a:rPr>
              <a:t>nanoparticles</a:t>
            </a:r>
            <a:r>
              <a:rPr lang="en-US" sz="1250" dirty="0">
                <a:solidFill>
                  <a:srgbClr val="262B3A"/>
                </a:solidFill>
                <a:latin typeface="Calibri" pitchFamily="34" charset="0"/>
                <a:ea typeface="Calibri" pitchFamily="34" charset="-122"/>
                <a:cs typeface="Calibri" pitchFamily="34" charset="-120"/>
              </a:rPr>
              <a:t> in nanometres.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nanoparticle is </a:t>
            </a:r>
            <a:r>
              <a:rPr lang="en-US" sz="1250" b="1" dirty="0">
                <a:solidFill>
                  <a:srgbClr val="262B3A"/>
                </a:solidFill>
                <a:latin typeface="Calibri" pitchFamily="34" charset="0"/>
                <a:ea typeface="Calibri" pitchFamily="34" charset="-122"/>
                <a:cs typeface="Calibri" pitchFamily="34" charset="-120"/>
              </a:rPr>
              <a:t>25 nm</a:t>
            </a:r>
            <a:r>
              <a:rPr lang="en-US" sz="1250" dirty="0">
                <a:solidFill>
                  <a:srgbClr val="262B3A"/>
                </a:solidFill>
                <a:latin typeface="Calibri" pitchFamily="34" charset="0"/>
                <a:ea typeface="Calibri" pitchFamily="34" charset="-122"/>
                <a:cs typeface="Calibri" pitchFamily="34" charset="-120"/>
              </a:rPr>
              <a:t> across. Write this size in </a:t>
            </a:r>
            <a:r>
              <a:rPr lang="en-US" sz="1250" b="1" dirty="0">
                <a:solidFill>
                  <a:srgbClr val="262B3A"/>
                </a:solidFill>
                <a:latin typeface="Calibri" pitchFamily="34" charset="0"/>
                <a:ea typeface="Calibri" pitchFamily="34" charset="-122"/>
                <a:cs typeface="Calibri" pitchFamily="34" charset="-120"/>
              </a:rPr>
              <a:t>metres</a:t>
            </a:r>
            <a:r>
              <a:rPr lang="en-US" sz="1250" dirty="0">
                <a:solidFill>
                  <a:srgbClr val="262B3A"/>
                </a:solidFill>
                <a:latin typeface="Calibri" pitchFamily="34" charset="0"/>
                <a:ea typeface="Calibri" pitchFamily="34" charset="-122"/>
                <a:cs typeface="Calibri" pitchFamily="34" charset="-120"/>
              </a:rPr>
              <a:t> in standard form.</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An atom is </a:t>
            </a:r>
            <a:r>
              <a:rPr lang="en-US" sz="1250" b="1" dirty="0">
                <a:solidFill>
                  <a:srgbClr val="262B3A"/>
                </a:solidFill>
                <a:latin typeface="Calibri" pitchFamily="34" charset="0"/>
                <a:ea typeface="Calibri" pitchFamily="34" charset="-122"/>
                <a:cs typeface="Calibri" pitchFamily="34" charset="-120"/>
              </a:rPr>
              <a:t>0.1 nm</a:t>
            </a:r>
            <a:r>
              <a:rPr lang="en-US" sz="1250" dirty="0">
                <a:solidFill>
                  <a:srgbClr val="262B3A"/>
                </a:solidFill>
                <a:latin typeface="Calibri" pitchFamily="34" charset="0"/>
                <a:ea typeface="Calibri" pitchFamily="34" charset="-122"/>
                <a:cs typeface="Calibri" pitchFamily="34" charset="-120"/>
              </a:rPr>
              <a:t> across. How many times wider is the 25 nm nanoparticle than the atom?</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Put these in order of size, </a:t>
            </a:r>
            <a:r>
              <a:rPr lang="en-US" sz="1250" b="1" dirty="0">
                <a:solidFill>
                  <a:srgbClr val="262B3A"/>
                </a:solidFill>
                <a:latin typeface="Calibri" pitchFamily="34" charset="0"/>
                <a:ea typeface="Calibri" pitchFamily="34" charset="-122"/>
                <a:cs typeface="Calibri" pitchFamily="34" charset="-120"/>
              </a:rPr>
              <a:t>smallest first</a:t>
            </a:r>
            <a:r>
              <a:rPr lang="en-US" sz="1250" dirty="0">
                <a:solidFill>
                  <a:srgbClr val="262B3A"/>
                </a:solidFill>
                <a:latin typeface="Calibri" pitchFamily="34" charset="0"/>
                <a:ea typeface="Calibri" pitchFamily="34" charset="-122"/>
                <a:cs typeface="Calibri" pitchFamily="34" charset="-120"/>
              </a:rPr>
              <a:t>: fine dust particle, atom, nanoparticle, simple molecule.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Surface area to volume ratio</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C4.3.2 • cutting a cube into smaller cubes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C4.3.2  |  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same 1 cm³ cut into smaller and smaller cubes</a:t>
            </a:r>
            <a:endParaRPr lang="en-US" sz="1000" dirty="0"/>
          </a:p>
        </p:txBody>
      </p:sp>
      <p:sp>
        <p:nvSpPr>
          <p:cNvPr id="10" name="Shape 8"/>
          <p:cNvSpPr/>
          <p:nvPr/>
        </p:nvSpPr>
        <p:spPr>
          <a:xfrm>
            <a:off x="685800" y="2212848"/>
            <a:ext cx="1188720" cy="1188720"/>
          </a:xfrm>
          <a:custGeom>
            <a:avLst/>
            <a:gdLst/>
            <a:ahLst/>
            <a:cxnLst/>
            <a:rect l="l" t="t" r="r" b="b"/>
            <a:pathLst>
              <a:path w="1188720" h="1188720">
                <a:moveTo>
                  <a:pt x="0" y="0"/>
                </a:moveTo>
                <a:lnTo>
                  <a:pt x="1188720" y="0"/>
                </a:lnTo>
                <a:lnTo>
                  <a:pt x="1188720" y="1188720"/>
                </a:lnTo>
                <a:lnTo>
                  <a:pt x="0" y="1188720"/>
                </a:lnTo>
                <a:close/>
              </a:path>
            </a:pathLst>
          </a:custGeom>
          <a:solidFill>
            <a:srgbClr val="C9B6E4"/>
          </a:solidFill>
          <a:ln w="12700">
            <a:solidFill>
              <a:srgbClr val="5A3590"/>
            </a:solidFill>
            <a:prstDash val="solid"/>
          </a:ln>
        </p:spPr>
      </p:sp>
      <p:sp>
        <p:nvSpPr>
          <p:cNvPr id="11" name="Shape 9"/>
          <p:cNvSpPr/>
          <p:nvPr/>
        </p:nvSpPr>
        <p:spPr>
          <a:xfrm>
            <a:off x="685800" y="1737360"/>
            <a:ext cx="1664208" cy="475488"/>
          </a:xfrm>
          <a:custGeom>
            <a:avLst/>
            <a:gdLst/>
            <a:ahLst/>
            <a:cxnLst/>
            <a:rect l="l" t="t" r="r" b="b"/>
            <a:pathLst>
              <a:path w="1664208" h="475488">
                <a:moveTo>
                  <a:pt x="0" y="475488"/>
                </a:moveTo>
                <a:lnTo>
                  <a:pt x="475488" y="0"/>
                </a:lnTo>
                <a:lnTo>
                  <a:pt x="1664208" y="0"/>
                </a:lnTo>
                <a:lnTo>
                  <a:pt x="1188720" y="475488"/>
                </a:lnTo>
                <a:close/>
              </a:path>
            </a:pathLst>
          </a:custGeom>
          <a:solidFill>
            <a:srgbClr val="DCCDF3"/>
          </a:solidFill>
          <a:ln w="12700">
            <a:solidFill>
              <a:srgbClr val="5A3590"/>
            </a:solidFill>
            <a:prstDash val="solid"/>
          </a:ln>
        </p:spPr>
      </p:sp>
      <p:sp>
        <p:nvSpPr>
          <p:cNvPr id="12" name="Shape 10"/>
          <p:cNvSpPr/>
          <p:nvPr/>
        </p:nvSpPr>
        <p:spPr>
          <a:xfrm>
            <a:off x="1874520" y="1737360"/>
            <a:ext cx="475488" cy="1664208"/>
          </a:xfrm>
          <a:custGeom>
            <a:avLst/>
            <a:gdLst/>
            <a:ahLst/>
            <a:cxnLst/>
            <a:rect l="l" t="t" r="r" b="b"/>
            <a:pathLst>
              <a:path w="475488" h="1664208">
                <a:moveTo>
                  <a:pt x="0" y="475488"/>
                </a:moveTo>
                <a:lnTo>
                  <a:pt x="475488" y="0"/>
                </a:lnTo>
                <a:lnTo>
                  <a:pt x="475488" y="1188720"/>
                </a:lnTo>
                <a:lnTo>
                  <a:pt x="0" y="1664208"/>
                </a:lnTo>
                <a:close/>
              </a:path>
            </a:pathLst>
          </a:custGeom>
          <a:solidFill>
            <a:srgbClr val="B49AD8"/>
          </a:solidFill>
          <a:ln w="12700">
            <a:solidFill>
              <a:srgbClr val="5A3590"/>
            </a:solidFill>
            <a:prstDash val="solid"/>
          </a:ln>
        </p:spPr>
      </p:sp>
      <p:sp>
        <p:nvSpPr>
          <p:cNvPr id="13" name="Shape 11"/>
          <p:cNvSpPr/>
          <p:nvPr/>
        </p:nvSpPr>
        <p:spPr>
          <a:xfrm>
            <a:off x="2423160" y="2212848"/>
            <a:ext cx="1188720" cy="1188720"/>
          </a:xfrm>
          <a:custGeom>
            <a:avLst/>
            <a:gdLst/>
            <a:ahLst/>
            <a:cxnLst/>
            <a:rect l="l" t="t" r="r" b="b"/>
            <a:pathLst>
              <a:path w="1188720" h="1188720">
                <a:moveTo>
                  <a:pt x="0" y="0"/>
                </a:moveTo>
                <a:lnTo>
                  <a:pt x="1188720" y="0"/>
                </a:lnTo>
                <a:lnTo>
                  <a:pt x="1188720" y="1188720"/>
                </a:lnTo>
                <a:lnTo>
                  <a:pt x="0" y="1188720"/>
                </a:lnTo>
                <a:close/>
              </a:path>
            </a:pathLst>
          </a:custGeom>
          <a:solidFill>
            <a:srgbClr val="C9B6E4"/>
          </a:solidFill>
          <a:ln w="12700">
            <a:solidFill>
              <a:srgbClr val="5A3590"/>
            </a:solidFill>
            <a:prstDash val="solid"/>
          </a:ln>
        </p:spPr>
      </p:sp>
      <p:sp>
        <p:nvSpPr>
          <p:cNvPr id="14" name="Shape 12"/>
          <p:cNvSpPr/>
          <p:nvPr/>
        </p:nvSpPr>
        <p:spPr>
          <a:xfrm>
            <a:off x="2423160" y="1737360"/>
            <a:ext cx="1664208" cy="475488"/>
          </a:xfrm>
          <a:custGeom>
            <a:avLst/>
            <a:gdLst/>
            <a:ahLst/>
            <a:cxnLst/>
            <a:rect l="l" t="t" r="r" b="b"/>
            <a:pathLst>
              <a:path w="1664208" h="475488">
                <a:moveTo>
                  <a:pt x="0" y="475488"/>
                </a:moveTo>
                <a:lnTo>
                  <a:pt x="475488" y="0"/>
                </a:lnTo>
                <a:lnTo>
                  <a:pt x="1664208" y="0"/>
                </a:lnTo>
                <a:lnTo>
                  <a:pt x="1188720" y="475488"/>
                </a:lnTo>
                <a:close/>
              </a:path>
            </a:pathLst>
          </a:custGeom>
          <a:solidFill>
            <a:srgbClr val="DCCDF3"/>
          </a:solidFill>
          <a:ln w="12700">
            <a:solidFill>
              <a:srgbClr val="5A3590"/>
            </a:solidFill>
            <a:prstDash val="solid"/>
          </a:ln>
        </p:spPr>
      </p:sp>
      <p:sp>
        <p:nvSpPr>
          <p:cNvPr id="15" name="Shape 13"/>
          <p:cNvSpPr/>
          <p:nvPr/>
        </p:nvSpPr>
        <p:spPr>
          <a:xfrm>
            <a:off x="3611880" y="1737360"/>
            <a:ext cx="475488" cy="1664208"/>
          </a:xfrm>
          <a:custGeom>
            <a:avLst/>
            <a:gdLst/>
            <a:ahLst/>
            <a:cxnLst/>
            <a:rect l="l" t="t" r="r" b="b"/>
            <a:pathLst>
              <a:path w="475488" h="1664208">
                <a:moveTo>
                  <a:pt x="0" y="475488"/>
                </a:moveTo>
                <a:lnTo>
                  <a:pt x="475488" y="0"/>
                </a:lnTo>
                <a:lnTo>
                  <a:pt x="475488" y="1188720"/>
                </a:lnTo>
                <a:lnTo>
                  <a:pt x="0" y="1664208"/>
                </a:lnTo>
                <a:close/>
              </a:path>
            </a:pathLst>
          </a:custGeom>
          <a:solidFill>
            <a:srgbClr val="B49AD8"/>
          </a:solidFill>
          <a:ln w="12700">
            <a:solidFill>
              <a:srgbClr val="5A3590"/>
            </a:solidFill>
            <a:prstDash val="solid"/>
          </a:ln>
        </p:spPr>
      </p:sp>
      <p:sp>
        <p:nvSpPr>
          <p:cNvPr id="16" name="Shape 14"/>
          <p:cNvSpPr/>
          <p:nvPr/>
        </p:nvSpPr>
        <p:spPr>
          <a:xfrm>
            <a:off x="3017520" y="2212848"/>
            <a:ext cx="91" cy="1188720"/>
          </a:xfrm>
          <a:prstGeom prst="line">
            <a:avLst/>
          </a:prstGeom>
          <a:noFill/>
          <a:ln w="9525">
            <a:solidFill>
              <a:srgbClr val="5A3590"/>
            </a:solidFill>
            <a:prstDash val="solid"/>
          </a:ln>
        </p:spPr>
      </p:sp>
      <p:sp>
        <p:nvSpPr>
          <p:cNvPr id="17" name="Shape 15"/>
          <p:cNvSpPr/>
          <p:nvPr/>
        </p:nvSpPr>
        <p:spPr>
          <a:xfrm>
            <a:off x="2423160" y="2807208"/>
            <a:ext cx="1188720" cy="91"/>
          </a:xfrm>
          <a:prstGeom prst="line">
            <a:avLst/>
          </a:prstGeom>
          <a:noFill/>
          <a:ln w="9525">
            <a:solidFill>
              <a:srgbClr val="5A3590"/>
            </a:solidFill>
            <a:prstDash val="solid"/>
          </a:ln>
        </p:spPr>
      </p:sp>
      <p:sp>
        <p:nvSpPr>
          <p:cNvPr id="18" name="Shape 16"/>
          <p:cNvSpPr/>
          <p:nvPr/>
        </p:nvSpPr>
        <p:spPr>
          <a:xfrm flipV="1">
            <a:off x="3017520" y="1737360"/>
            <a:ext cx="475488" cy="475488"/>
          </a:xfrm>
          <a:prstGeom prst="line">
            <a:avLst/>
          </a:prstGeom>
          <a:noFill/>
          <a:ln w="9525">
            <a:solidFill>
              <a:srgbClr val="5A3590"/>
            </a:solidFill>
            <a:prstDash val="solid"/>
          </a:ln>
        </p:spPr>
      </p:sp>
      <p:sp>
        <p:nvSpPr>
          <p:cNvPr id="19" name="Shape 17"/>
          <p:cNvSpPr/>
          <p:nvPr/>
        </p:nvSpPr>
        <p:spPr>
          <a:xfrm>
            <a:off x="2660904" y="1975104"/>
            <a:ext cx="1188720" cy="91"/>
          </a:xfrm>
          <a:prstGeom prst="line">
            <a:avLst/>
          </a:prstGeom>
          <a:noFill/>
          <a:ln w="9525">
            <a:solidFill>
              <a:srgbClr val="5A3590"/>
            </a:solidFill>
            <a:prstDash val="solid"/>
          </a:ln>
        </p:spPr>
      </p:sp>
      <p:sp>
        <p:nvSpPr>
          <p:cNvPr id="20" name="Shape 18"/>
          <p:cNvSpPr/>
          <p:nvPr/>
        </p:nvSpPr>
        <p:spPr>
          <a:xfrm>
            <a:off x="3849624" y="1975104"/>
            <a:ext cx="91" cy="1188720"/>
          </a:xfrm>
          <a:prstGeom prst="line">
            <a:avLst/>
          </a:prstGeom>
          <a:noFill/>
          <a:ln w="9525">
            <a:solidFill>
              <a:srgbClr val="5A3590"/>
            </a:solidFill>
            <a:prstDash val="solid"/>
          </a:ln>
        </p:spPr>
      </p:sp>
      <p:sp>
        <p:nvSpPr>
          <p:cNvPr id="21" name="Shape 19"/>
          <p:cNvSpPr/>
          <p:nvPr/>
        </p:nvSpPr>
        <p:spPr>
          <a:xfrm flipV="1">
            <a:off x="3611880" y="2331720"/>
            <a:ext cx="475488" cy="475488"/>
          </a:xfrm>
          <a:prstGeom prst="line">
            <a:avLst/>
          </a:prstGeom>
          <a:noFill/>
          <a:ln w="9525">
            <a:solidFill>
              <a:srgbClr val="5A3590"/>
            </a:solidFill>
            <a:prstDash val="solid"/>
          </a:ln>
        </p:spPr>
      </p:sp>
      <p:sp>
        <p:nvSpPr>
          <p:cNvPr id="22" name="Shape 20"/>
          <p:cNvSpPr/>
          <p:nvPr/>
        </p:nvSpPr>
        <p:spPr>
          <a:xfrm>
            <a:off x="4160520" y="2212848"/>
            <a:ext cx="1188720" cy="1188720"/>
          </a:xfrm>
          <a:custGeom>
            <a:avLst/>
            <a:gdLst/>
            <a:ahLst/>
            <a:cxnLst/>
            <a:rect l="l" t="t" r="r" b="b"/>
            <a:pathLst>
              <a:path w="1188720" h="1188720">
                <a:moveTo>
                  <a:pt x="0" y="0"/>
                </a:moveTo>
                <a:lnTo>
                  <a:pt x="1188720" y="0"/>
                </a:lnTo>
                <a:lnTo>
                  <a:pt x="1188720" y="1188720"/>
                </a:lnTo>
                <a:lnTo>
                  <a:pt x="0" y="1188720"/>
                </a:lnTo>
                <a:close/>
              </a:path>
            </a:pathLst>
          </a:custGeom>
          <a:solidFill>
            <a:srgbClr val="C9B6E4"/>
          </a:solidFill>
          <a:ln w="12700">
            <a:solidFill>
              <a:srgbClr val="5A3590"/>
            </a:solidFill>
            <a:prstDash val="solid"/>
          </a:ln>
        </p:spPr>
      </p:sp>
      <p:sp>
        <p:nvSpPr>
          <p:cNvPr id="23" name="Shape 21"/>
          <p:cNvSpPr/>
          <p:nvPr/>
        </p:nvSpPr>
        <p:spPr>
          <a:xfrm>
            <a:off x="4160520" y="1737360"/>
            <a:ext cx="1664208" cy="475488"/>
          </a:xfrm>
          <a:custGeom>
            <a:avLst/>
            <a:gdLst/>
            <a:ahLst/>
            <a:cxnLst/>
            <a:rect l="l" t="t" r="r" b="b"/>
            <a:pathLst>
              <a:path w="1664208" h="475488">
                <a:moveTo>
                  <a:pt x="0" y="475488"/>
                </a:moveTo>
                <a:lnTo>
                  <a:pt x="475488" y="0"/>
                </a:lnTo>
                <a:lnTo>
                  <a:pt x="1664208" y="0"/>
                </a:lnTo>
                <a:lnTo>
                  <a:pt x="1188720" y="475488"/>
                </a:lnTo>
                <a:close/>
              </a:path>
            </a:pathLst>
          </a:custGeom>
          <a:solidFill>
            <a:srgbClr val="DCCDF3"/>
          </a:solidFill>
          <a:ln w="12700">
            <a:solidFill>
              <a:srgbClr val="5A3590"/>
            </a:solidFill>
            <a:prstDash val="solid"/>
          </a:ln>
        </p:spPr>
      </p:sp>
      <p:sp>
        <p:nvSpPr>
          <p:cNvPr id="24" name="Shape 22"/>
          <p:cNvSpPr/>
          <p:nvPr/>
        </p:nvSpPr>
        <p:spPr>
          <a:xfrm>
            <a:off x="5349240" y="1737360"/>
            <a:ext cx="475488" cy="1664208"/>
          </a:xfrm>
          <a:custGeom>
            <a:avLst/>
            <a:gdLst/>
            <a:ahLst/>
            <a:cxnLst/>
            <a:rect l="l" t="t" r="r" b="b"/>
            <a:pathLst>
              <a:path w="475488" h="1664208">
                <a:moveTo>
                  <a:pt x="0" y="475488"/>
                </a:moveTo>
                <a:lnTo>
                  <a:pt x="475488" y="0"/>
                </a:lnTo>
                <a:lnTo>
                  <a:pt x="475488" y="1188720"/>
                </a:lnTo>
                <a:lnTo>
                  <a:pt x="0" y="1664208"/>
                </a:lnTo>
                <a:close/>
              </a:path>
            </a:pathLst>
          </a:custGeom>
          <a:solidFill>
            <a:srgbClr val="B49AD8"/>
          </a:solidFill>
          <a:ln w="12700">
            <a:solidFill>
              <a:srgbClr val="5A3590"/>
            </a:solidFill>
            <a:prstDash val="solid"/>
          </a:ln>
        </p:spPr>
      </p:sp>
      <p:sp>
        <p:nvSpPr>
          <p:cNvPr id="25" name="Shape 23"/>
          <p:cNvSpPr/>
          <p:nvPr/>
        </p:nvSpPr>
        <p:spPr>
          <a:xfrm>
            <a:off x="4457700" y="2212848"/>
            <a:ext cx="91" cy="1188720"/>
          </a:xfrm>
          <a:prstGeom prst="line">
            <a:avLst/>
          </a:prstGeom>
          <a:noFill/>
          <a:ln w="9525">
            <a:solidFill>
              <a:srgbClr val="5A3590"/>
            </a:solidFill>
            <a:prstDash val="solid"/>
          </a:ln>
        </p:spPr>
      </p:sp>
      <p:sp>
        <p:nvSpPr>
          <p:cNvPr id="26" name="Shape 24"/>
          <p:cNvSpPr/>
          <p:nvPr/>
        </p:nvSpPr>
        <p:spPr>
          <a:xfrm>
            <a:off x="4160520" y="2510028"/>
            <a:ext cx="1188720" cy="91"/>
          </a:xfrm>
          <a:prstGeom prst="line">
            <a:avLst/>
          </a:prstGeom>
          <a:noFill/>
          <a:ln w="9525">
            <a:solidFill>
              <a:srgbClr val="5A3590"/>
            </a:solidFill>
            <a:prstDash val="solid"/>
          </a:ln>
        </p:spPr>
      </p:sp>
      <p:sp>
        <p:nvSpPr>
          <p:cNvPr id="27" name="Shape 25"/>
          <p:cNvSpPr/>
          <p:nvPr/>
        </p:nvSpPr>
        <p:spPr>
          <a:xfrm flipV="1">
            <a:off x="4457700" y="1737360"/>
            <a:ext cx="475488" cy="475488"/>
          </a:xfrm>
          <a:prstGeom prst="line">
            <a:avLst/>
          </a:prstGeom>
          <a:noFill/>
          <a:ln w="9525">
            <a:solidFill>
              <a:srgbClr val="5A3590"/>
            </a:solidFill>
            <a:prstDash val="solid"/>
          </a:ln>
        </p:spPr>
      </p:sp>
      <p:sp>
        <p:nvSpPr>
          <p:cNvPr id="28" name="Shape 26"/>
          <p:cNvSpPr/>
          <p:nvPr/>
        </p:nvSpPr>
        <p:spPr>
          <a:xfrm>
            <a:off x="4279392" y="2093976"/>
            <a:ext cx="1188720" cy="91"/>
          </a:xfrm>
          <a:prstGeom prst="line">
            <a:avLst/>
          </a:prstGeom>
          <a:noFill/>
          <a:ln w="9525">
            <a:solidFill>
              <a:srgbClr val="5A3590"/>
            </a:solidFill>
            <a:prstDash val="solid"/>
          </a:ln>
        </p:spPr>
      </p:sp>
      <p:sp>
        <p:nvSpPr>
          <p:cNvPr id="29" name="Shape 27"/>
          <p:cNvSpPr/>
          <p:nvPr/>
        </p:nvSpPr>
        <p:spPr>
          <a:xfrm>
            <a:off x="5468112" y="2093976"/>
            <a:ext cx="91" cy="1188720"/>
          </a:xfrm>
          <a:prstGeom prst="line">
            <a:avLst/>
          </a:prstGeom>
          <a:noFill/>
          <a:ln w="9525">
            <a:solidFill>
              <a:srgbClr val="5A3590"/>
            </a:solidFill>
            <a:prstDash val="solid"/>
          </a:ln>
        </p:spPr>
      </p:sp>
      <p:sp>
        <p:nvSpPr>
          <p:cNvPr id="30" name="Shape 28"/>
          <p:cNvSpPr/>
          <p:nvPr/>
        </p:nvSpPr>
        <p:spPr>
          <a:xfrm flipV="1">
            <a:off x="5349240" y="2034540"/>
            <a:ext cx="475488" cy="475488"/>
          </a:xfrm>
          <a:prstGeom prst="line">
            <a:avLst/>
          </a:prstGeom>
          <a:noFill/>
          <a:ln w="9525">
            <a:solidFill>
              <a:srgbClr val="5A3590"/>
            </a:solidFill>
            <a:prstDash val="solid"/>
          </a:ln>
        </p:spPr>
      </p:sp>
      <p:sp>
        <p:nvSpPr>
          <p:cNvPr id="31" name="Shape 29"/>
          <p:cNvSpPr/>
          <p:nvPr/>
        </p:nvSpPr>
        <p:spPr>
          <a:xfrm>
            <a:off x="4754880" y="2212848"/>
            <a:ext cx="91" cy="1188720"/>
          </a:xfrm>
          <a:prstGeom prst="line">
            <a:avLst/>
          </a:prstGeom>
          <a:noFill/>
          <a:ln w="9525">
            <a:solidFill>
              <a:srgbClr val="5A3590"/>
            </a:solidFill>
            <a:prstDash val="solid"/>
          </a:ln>
        </p:spPr>
      </p:sp>
      <p:sp>
        <p:nvSpPr>
          <p:cNvPr id="32" name="Shape 30"/>
          <p:cNvSpPr/>
          <p:nvPr/>
        </p:nvSpPr>
        <p:spPr>
          <a:xfrm>
            <a:off x="4160520" y="2807208"/>
            <a:ext cx="1188720" cy="91"/>
          </a:xfrm>
          <a:prstGeom prst="line">
            <a:avLst/>
          </a:prstGeom>
          <a:noFill/>
          <a:ln w="9525">
            <a:solidFill>
              <a:srgbClr val="5A3590"/>
            </a:solidFill>
            <a:prstDash val="solid"/>
          </a:ln>
        </p:spPr>
      </p:sp>
      <p:sp>
        <p:nvSpPr>
          <p:cNvPr id="33" name="Shape 31"/>
          <p:cNvSpPr/>
          <p:nvPr/>
        </p:nvSpPr>
        <p:spPr>
          <a:xfrm flipV="1">
            <a:off x="4754880" y="1737360"/>
            <a:ext cx="475488" cy="475488"/>
          </a:xfrm>
          <a:prstGeom prst="line">
            <a:avLst/>
          </a:prstGeom>
          <a:noFill/>
          <a:ln w="9525">
            <a:solidFill>
              <a:srgbClr val="5A3590"/>
            </a:solidFill>
            <a:prstDash val="solid"/>
          </a:ln>
        </p:spPr>
      </p:sp>
      <p:sp>
        <p:nvSpPr>
          <p:cNvPr id="34" name="Shape 32"/>
          <p:cNvSpPr/>
          <p:nvPr/>
        </p:nvSpPr>
        <p:spPr>
          <a:xfrm>
            <a:off x="4398264" y="1975104"/>
            <a:ext cx="1188720" cy="91"/>
          </a:xfrm>
          <a:prstGeom prst="line">
            <a:avLst/>
          </a:prstGeom>
          <a:noFill/>
          <a:ln w="9525">
            <a:solidFill>
              <a:srgbClr val="5A3590"/>
            </a:solidFill>
            <a:prstDash val="solid"/>
          </a:ln>
        </p:spPr>
      </p:sp>
      <p:sp>
        <p:nvSpPr>
          <p:cNvPr id="35" name="Shape 33"/>
          <p:cNvSpPr/>
          <p:nvPr/>
        </p:nvSpPr>
        <p:spPr>
          <a:xfrm>
            <a:off x="5586984" y="1975104"/>
            <a:ext cx="91" cy="1188720"/>
          </a:xfrm>
          <a:prstGeom prst="line">
            <a:avLst/>
          </a:prstGeom>
          <a:noFill/>
          <a:ln w="9525">
            <a:solidFill>
              <a:srgbClr val="5A3590"/>
            </a:solidFill>
            <a:prstDash val="solid"/>
          </a:ln>
        </p:spPr>
      </p:sp>
      <p:sp>
        <p:nvSpPr>
          <p:cNvPr id="36" name="Shape 34"/>
          <p:cNvSpPr/>
          <p:nvPr/>
        </p:nvSpPr>
        <p:spPr>
          <a:xfrm flipV="1">
            <a:off x="5349240" y="2331720"/>
            <a:ext cx="475488" cy="475488"/>
          </a:xfrm>
          <a:prstGeom prst="line">
            <a:avLst/>
          </a:prstGeom>
          <a:noFill/>
          <a:ln w="9525">
            <a:solidFill>
              <a:srgbClr val="5A3590"/>
            </a:solidFill>
            <a:prstDash val="solid"/>
          </a:ln>
        </p:spPr>
      </p:sp>
      <p:sp>
        <p:nvSpPr>
          <p:cNvPr id="37" name="Shape 35"/>
          <p:cNvSpPr/>
          <p:nvPr/>
        </p:nvSpPr>
        <p:spPr>
          <a:xfrm>
            <a:off x="5052060" y="2212848"/>
            <a:ext cx="91" cy="1188720"/>
          </a:xfrm>
          <a:prstGeom prst="line">
            <a:avLst/>
          </a:prstGeom>
          <a:noFill/>
          <a:ln w="9525">
            <a:solidFill>
              <a:srgbClr val="5A3590"/>
            </a:solidFill>
            <a:prstDash val="solid"/>
          </a:ln>
        </p:spPr>
      </p:sp>
      <p:sp>
        <p:nvSpPr>
          <p:cNvPr id="38" name="Shape 36"/>
          <p:cNvSpPr/>
          <p:nvPr/>
        </p:nvSpPr>
        <p:spPr>
          <a:xfrm>
            <a:off x="4160520" y="3104388"/>
            <a:ext cx="1188720" cy="91"/>
          </a:xfrm>
          <a:prstGeom prst="line">
            <a:avLst/>
          </a:prstGeom>
          <a:noFill/>
          <a:ln w="9525">
            <a:solidFill>
              <a:srgbClr val="5A3590"/>
            </a:solidFill>
            <a:prstDash val="solid"/>
          </a:ln>
        </p:spPr>
      </p:sp>
      <p:sp>
        <p:nvSpPr>
          <p:cNvPr id="39" name="Shape 37"/>
          <p:cNvSpPr/>
          <p:nvPr/>
        </p:nvSpPr>
        <p:spPr>
          <a:xfrm flipV="1">
            <a:off x="5052060" y="1737360"/>
            <a:ext cx="475488" cy="475488"/>
          </a:xfrm>
          <a:prstGeom prst="line">
            <a:avLst/>
          </a:prstGeom>
          <a:noFill/>
          <a:ln w="9525">
            <a:solidFill>
              <a:srgbClr val="5A3590"/>
            </a:solidFill>
            <a:prstDash val="solid"/>
          </a:ln>
        </p:spPr>
      </p:sp>
      <p:sp>
        <p:nvSpPr>
          <p:cNvPr id="40" name="Shape 38"/>
          <p:cNvSpPr/>
          <p:nvPr/>
        </p:nvSpPr>
        <p:spPr>
          <a:xfrm>
            <a:off x="4517136" y="1856232"/>
            <a:ext cx="1188720" cy="91"/>
          </a:xfrm>
          <a:prstGeom prst="line">
            <a:avLst/>
          </a:prstGeom>
          <a:noFill/>
          <a:ln w="9525">
            <a:solidFill>
              <a:srgbClr val="5A3590"/>
            </a:solidFill>
            <a:prstDash val="solid"/>
          </a:ln>
        </p:spPr>
      </p:sp>
      <p:sp>
        <p:nvSpPr>
          <p:cNvPr id="41" name="Shape 39"/>
          <p:cNvSpPr/>
          <p:nvPr/>
        </p:nvSpPr>
        <p:spPr>
          <a:xfrm>
            <a:off x="5705856" y="1856232"/>
            <a:ext cx="91" cy="1188720"/>
          </a:xfrm>
          <a:prstGeom prst="line">
            <a:avLst/>
          </a:prstGeom>
          <a:noFill/>
          <a:ln w="9525">
            <a:solidFill>
              <a:srgbClr val="5A3590"/>
            </a:solidFill>
            <a:prstDash val="solid"/>
          </a:ln>
        </p:spPr>
      </p:sp>
      <p:sp>
        <p:nvSpPr>
          <p:cNvPr id="42" name="Shape 40"/>
          <p:cNvSpPr/>
          <p:nvPr/>
        </p:nvSpPr>
        <p:spPr>
          <a:xfrm flipV="1">
            <a:off x="5349240" y="2628900"/>
            <a:ext cx="475488" cy="475488"/>
          </a:xfrm>
          <a:prstGeom prst="line">
            <a:avLst/>
          </a:prstGeom>
          <a:noFill/>
          <a:ln w="9525">
            <a:solidFill>
              <a:srgbClr val="5A3590"/>
            </a:solidFill>
            <a:prstDash val="solid"/>
          </a:ln>
        </p:spPr>
      </p:sp>
      <p:sp>
        <p:nvSpPr>
          <p:cNvPr id="43" name="Text 41"/>
          <p:cNvSpPr/>
          <p:nvPr/>
        </p:nvSpPr>
        <p:spPr>
          <a:xfrm>
            <a:off x="594360" y="3429000"/>
            <a:ext cx="1737360" cy="256032"/>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 cube, side 1 cm</a:t>
            </a:r>
            <a:endParaRPr lang="en-US" sz="1000" dirty="0"/>
          </a:p>
        </p:txBody>
      </p:sp>
      <p:sp>
        <p:nvSpPr>
          <p:cNvPr id="44" name="Text 42"/>
          <p:cNvSpPr/>
          <p:nvPr/>
        </p:nvSpPr>
        <p:spPr>
          <a:xfrm>
            <a:off x="2331720" y="3429000"/>
            <a:ext cx="1737360" cy="256032"/>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8 cubes, side 0.5 cm</a:t>
            </a:r>
            <a:endParaRPr lang="en-US" sz="1000" dirty="0"/>
          </a:p>
        </p:txBody>
      </p:sp>
      <p:sp>
        <p:nvSpPr>
          <p:cNvPr id="45" name="Text 43"/>
          <p:cNvSpPr/>
          <p:nvPr/>
        </p:nvSpPr>
        <p:spPr>
          <a:xfrm>
            <a:off x="4069080" y="3429000"/>
            <a:ext cx="1737360" cy="256032"/>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64 cubes, side 0.25 cm</a:t>
            </a:r>
            <a:endParaRPr lang="en-US" sz="1000" dirty="0"/>
          </a:p>
        </p:txBody>
      </p:sp>
      <p:sp>
        <p:nvSpPr>
          <p:cNvPr id="46" name="Shape 44"/>
          <p:cNvSpPr/>
          <p:nvPr/>
        </p:nvSpPr>
        <p:spPr>
          <a:xfrm>
            <a:off x="2011680" y="2468880"/>
            <a:ext cx="320040" cy="91"/>
          </a:xfrm>
          <a:prstGeom prst="line">
            <a:avLst/>
          </a:prstGeom>
          <a:noFill/>
          <a:ln w="25400">
            <a:solidFill>
              <a:srgbClr val="2A1F3D"/>
            </a:solidFill>
            <a:prstDash val="solid"/>
            <a:tailEnd type="triangle"/>
          </a:ln>
        </p:spPr>
      </p:sp>
      <p:sp>
        <p:nvSpPr>
          <p:cNvPr id="47" name="Shape 45"/>
          <p:cNvSpPr/>
          <p:nvPr/>
        </p:nvSpPr>
        <p:spPr>
          <a:xfrm>
            <a:off x="3749040" y="2468880"/>
            <a:ext cx="320040" cy="91"/>
          </a:xfrm>
          <a:prstGeom prst="line">
            <a:avLst/>
          </a:prstGeom>
          <a:noFill/>
          <a:ln w="25400">
            <a:solidFill>
              <a:srgbClr val="2A1F3D"/>
            </a:solidFill>
            <a:prstDash val="solid"/>
            <a:tailEnd type="triangle"/>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3794760"/>
          <a:ext cx="5029200" cy="914400"/>
        </p:xfrm>
        <a:graphic>
          <a:graphicData uri="http://schemas.openxmlformats.org/drawingml/2006/table">
            <a:tbl>
              <a:tblPr/>
              <a:tblGrid>
                <a:gridCol w="1097280"/>
                <a:gridCol w="1463040"/>
                <a:gridCol w="1371600"/>
                <a:gridCol w="1097280"/>
              </a:tblGrid>
              <a:tr h="2743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Side / cm</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Total SA / cm²</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Total V / cm³</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 : V</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274320">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6 : 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12 : 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274320">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24 : 1</a:t>
                      </a:r>
                      <a:endParaRPr lang="en-US" sz="11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bl>
          </a:graphicData>
        </a:graphic>
      </p:graphicFrame>
      <p:sp>
        <p:nvSpPr>
          <p:cNvPr id="49" name="Shape 46"/>
          <p:cNvSpPr/>
          <p:nvPr/>
        </p:nvSpPr>
        <p:spPr>
          <a:xfrm>
            <a:off x="6217920" y="1188720"/>
            <a:ext cx="5559552" cy="2331720"/>
          </a:xfrm>
          <a:prstGeom prst="roundRect">
            <a:avLst>
              <a:gd name="adj" fmla="val 2353"/>
            </a:avLst>
          </a:prstGeom>
          <a:solidFill>
            <a:srgbClr val="F8F5FC"/>
          </a:solidFill>
          <a:ln w="9525">
            <a:solidFill>
              <a:srgbClr val="DDD3EC"/>
            </a:solidFill>
            <a:prstDash val="solid"/>
          </a:ln>
        </p:spPr>
      </p:sp>
      <p:sp>
        <p:nvSpPr>
          <p:cNvPr id="50" name="Text 47"/>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Smaller particles, bigger SA : V</a:t>
            </a:r>
            <a:endParaRPr lang="en-US" sz="1300" dirty="0"/>
          </a:p>
        </p:txBody>
      </p:sp>
      <p:sp>
        <p:nvSpPr>
          <p:cNvPr id="51" name="Text 48"/>
          <p:cNvSpPr/>
          <p:nvPr/>
        </p:nvSpPr>
        <p:spPr>
          <a:xfrm>
            <a:off x="6382512" y="1609344"/>
            <a:ext cx="5230368" cy="1837944"/>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For a cube of side L: </a:t>
            </a:r>
            <a:r>
              <a:rPr lang="en-US" sz="1250" b="1" dirty="0">
                <a:solidFill>
                  <a:srgbClr val="262B3A"/>
                </a:solidFill>
                <a:latin typeface="Calibri" pitchFamily="34" charset="0"/>
                <a:ea typeface="Calibri" pitchFamily="34" charset="-122"/>
                <a:cs typeface="Calibri" pitchFamily="34" charset="-120"/>
              </a:rPr>
              <a:t>surface area = 6 × L²</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volume = L³</a:t>
            </a:r>
            <a:r>
              <a:rPr lang="en-US" sz="1250" dirty="0">
                <a:solidFill>
                  <a:srgbClr val="262B3A"/>
                </a:solidFill>
                <a:latin typeface="Calibri" pitchFamily="34" charset="0"/>
                <a:ea typeface="Calibri" pitchFamily="34" charset="-122"/>
                <a:cs typeface="Calibri" pitchFamily="34" charset="-120"/>
              </a:rPr>
              <a:t>.</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Cutting the cube up adds new faces, so the </a:t>
            </a:r>
            <a:r>
              <a:rPr lang="en-US" sz="1250" b="1" dirty="0">
                <a:solidFill>
                  <a:srgbClr val="262B3A"/>
                </a:solidFill>
                <a:latin typeface="Calibri" pitchFamily="34" charset="0"/>
                <a:ea typeface="Calibri" pitchFamily="34" charset="-122"/>
                <a:cs typeface="Calibri" pitchFamily="34" charset="-120"/>
              </a:rPr>
              <a:t>total surface area</a:t>
            </a:r>
            <a:r>
              <a:rPr lang="en-US" sz="1250" dirty="0">
                <a:solidFill>
                  <a:srgbClr val="262B3A"/>
                </a:solidFill>
                <a:latin typeface="Calibri" pitchFamily="34" charset="0"/>
                <a:ea typeface="Calibri" pitchFamily="34" charset="-122"/>
                <a:cs typeface="Calibri" pitchFamily="34" charset="-120"/>
              </a:rPr>
              <a:t> goes up but the </a:t>
            </a:r>
            <a:r>
              <a:rPr lang="en-US" sz="1250" b="1" dirty="0">
                <a:solidFill>
                  <a:srgbClr val="262B3A"/>
                </a:solidFill>
                <a:latin typeface="Calibri" pitchFamily="34" charset="0"/>
                <a:ea typeface="Calibri" pitchFamily="34" charset="-122"/>
                <a:cs typeface="Calibri" pitchFamily="34" charset="-120"/>
              </a:rPr>
              <a:t>volume</a:t>
            </a:r>
            <a:r>
              <a:rPr lang="en-US" sz="1250" dirty="0">
                <a:solidFill>
                  <a:srgbClr val="262B3A"/>
                </a:solidFill>
                <a:latin typeface="Calibri" pitchFamily="34" charset="0"/>
                <a:ea typeface="Calibri" pitchFamily="34" charset="-122"/>
                <a:cs typeface="Calibri" pitchFamily="34" charset="-120"/>
              </a:rPr>
              <a:t> stays the same.</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Halve the side → </a:t>
            </a:r>
            <a:r>
              <a:rPr lang="en-US" sz="1250" b="1" dirty="0">
                <a:solidFill>
                  <a:srgbClr val="262B3A"/>
                </a:solidFill>
                <a:latin typeface="Calibri" pitchFamily="34" charset="0"/>
                <a:ea typeface="Calibri" pitchFamily="34" charset="-122"/>
                <a:cs typeface="Calibri" pitchFamily="34" charset="-120"/>
              </a:rPr>
              <a:t>double</a:t>
            </a:r>
            <a:r>
              <a:rPr lang="en-US" sz="1250" dirty="0">
                <a:solidFill>
                  <a:srgbClr val="262B3A"/>
                </a:solidFill>
                <a:latin typeface="Calibri" pitchFamily="34" charset="0"/>
                <a:ea typeface="Calibri" pitchFamily="34" charset="-122"/>
                <a:cs typeface="Calibri" pitchFamily="34" charset="-120"/>
              </a:rPr>
              <a:t> the SA : V ratio. For a cube, </a:t>
            </a:r>
            <a:r>
              <a:rPr lang="en-US" sz="1250" b="1" dirty="0">
                <a:solidFill>
                  <a:srgbClr val="262B3A"/>
                </a:solidFill>
                <a:latin typeface="Calibri" pitchFamily="34" charset="0"/>
                <a:ea typeface="Calibri" pitchFamily="34" charset="-122"/>
                <a:cs typeface="Calibri" pitchFamily="34" charset="-120"/>
              </a:rPr>
              <a:t>SA : V = 6 ÷ L</a:t>
            </a:r>
            <a:r>
              <a:rPr lang="en-US" sz="1250" dirty="0">
                <a:solidFill>
                  <a:srgbClr val="262B3A"/>
                </a:solidFill>
                <a:latin typeface="Calibri" pitchFamily="34" charset="0"/>
                <a:ea typeface="Calibri" pitchFamily="34" charset="-122"/>
                <a:cs typeface="Calibri" pitchFamily="34" charset="-120"/>
              </a:rPr>
              <a:t>.</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Nanoparticles are so small that their SA : V ratio is </a:t>
            </a:r>
            <a:r>
              <a:rPr lang="en-US" sz="1250" b="1" dirty="0">
                <a:solidFill>
                  <a:srgbClr val="262B3A"/>
                </a:solidFill>
                <a:latin typeface="Calibri" pitchFamily="34" charset="0"/>
                <a:ea typeface="Calibri" pitchFamily="34" charset="-122"/>
                <a:cs typeface="Calibri" pitchFamily="34" charset="-120"/>
              </a:rPr>
              <a:t>enormous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52" name="Shape 49"/>
          <p:cNvSpPr/>
          <p:nvPr/>
        </p:nvSpPr>
        <p:spPr>
          <a:xfrm>
            <a:off x="6217920" y="3657600"/>
            <a:ext cx="5559552" cy="2057400"/>
          </a:xfrm>
          <a:prstGeom prst="roundRect">
            <a:avLst>
              <a:gd name="adj" fmla="val 2667"/>
            </a:avLst>
          </a:prstGeom>
          <a:solidFill>
            <a:srgbClr val="FFF4E0"/>
          </a:solidFill>
          <a:ln w="9525">
            <a:solidFill>
              <a:srgbClr val="F1D9A8"/>
            </a:solidFill>
            <a:prstDash val="solid"/>
          </a:ln>
        </p:spPr>
      </p:sp>
      <p:sp>
        <p:nvSpPr>
          <p:cNvPr id="53" name="Text 50"/>
          <p:cNvSpPr/>
          <p:nvPr/>
        </p:nvSpPr>
        <p:spPr>
          <a:xfrm>
            <a:off x="6382512" y="373075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1 cm³ as 10 nm cubes</a:t>
            </a:r>
            <a:endParaRPr lang="en-US" sz="1300" dirty="0"/>
          </a:p>
        </p:txBody>
      </p:sp>
      <p:sp>
        <p:nvSpPr>
          <p:cNvPr id="54" name="Text 51"/>
          <p:cNvSpPr/>
          <p:nvPr/>
        </p:nvSpPr>
        <p:spPr>
          <a:xfrm>
            <a:off x="6382512" y="4041648"/>
            <a:ext cx="5230368" cy="16002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GRADE 7–9 STRETCH • 10 nm = 10⁻⁸ m = 10⁻⁶ cm. Total volume stays 1 cm³.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SA : V   </a:t>
            </a:r>
            <a:r>
              <a:rPr lang="en-US" sz="1050" dirty="0">
                <a:solidFill>
                  <a:srgbClr val="262B3A"/>
                </a:solidFill>
                <a:latin typeface="Calibri" pitchFamily="34" charset="0"/>
                <a:ea typeface="Calibri" pitchFamily="34" charset="-122"/>
                <a:cs typeface="Calibri" pitchFamily="34" charset="-120"/>
              </a:rPr>
              <a:t>6 ÷ L = 6 ÷ 10⁻⁶ cm = 6 × 10⁶ cm⁻¹ (10⁶ times the 1 cm cube)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Total SA   </a:t>
            </a:r>
            <a:r>
              <a:rPr lang="en-US" sz="1050" dirty="0">
                <a:solidFill>
                  <a:srgbClr val="262B3A"/>
                </a:solidFill>
                <a:latin typeface="Calibri" pitchFamily="34" charset="0"/>
                <a:ea typeface="Calibri" pitchFamily="34" charset="-122"/>
                <a:cs typeface="Calibri" pitchFamily="34" charset="-120"/>
              </a:rPr>
              <a:t>SA : V × volume = 6 × 10⁶ × 1 cm³ = 6 × 10⁶ cm²</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6 × 10⁶ cm² ÷ 10⁴ = </a:t>
            </a:r>
            <a:r>
              <a:rPr lang="en-US" sz="1050" b="1" dirty="0">
                <a:solidFill>
                  <a:srgbClr val="C8414C"/>
                </a:solidFill>
                <a:latin typeface="Calibri" pitchFamily="34" charset="0"/>
                <a:ea typeface="Calibri" pitchFamily="34" charset="-122"/>
                <a:cs typeface="Calibri" pitchFamily="34" charset="-120"/>
              </a:rPr>
              <a:t>600 m²</a:t>
            </a:r>
            <a:r>
              <a:rPr lang="en-US" sz="1050" b="1" dirty="0">
                <a:solidFill>
                  <a:srgbClr val="C8414C"/>
                </a:solidFill>
                <a:latin typeface="Calibri" pitchFamily="34" charset="0"/>
                <a:ea typeface="Calibri" pitchFamily="34" charset="-122"/>
                <a:cs typeface="Calibri" pitchFamily="34" charset="-120"/>
              </a:rPr>
              <a:t> from just 1 cm³</a:t>
            </a:r>
            <a:endParaRPr lang="en-US" sz="1050" dirty="0"/>
          </a:p>
        </p:txBody>
      </p:sp>
      <p:sp>
        <p:nvSpPr>
          <p:cNvPr id="55" name="Shape 52"/>
          <p:cNvSpPr/>
          <p:nvPr/>
        </p:nvSpPr>
        <p:spPr>
          <a:xfrm>
            <a:off x="10058400" y="3721608"/>
            <a:ext cx="777240" cy="274320"/>
          </a:xfrm>
          <a:prstGeom prst="roundRect">
            <a:avLst>
              <a:gd name="adj" fmla="val 50000"/>
            </a:avLst>
          </a:prstGeom>
          <a:solidFill>
            <a:srgbClr val="C8414C"/>
          </a:solidFill>
          <a:ln w="12700">
            <a:solidFill>
              <a:srgbClr val="C8414C"/>
            </a:solidFill>
            <a:prstDash val="solid"/>
          </a:ln>
        </p:spPr>
      </p:sp>
      <p:sp>
        <p:nvSpPr>
          <p:cNvPr id="56" name="Text 53"/>
          <p:cNvSpPr/>
          <p:nvPr/>
        </p:nvSpPr>
        <p:spPr>
          <a:xfrm>
            <a:off x="10058400" y="3721608"/>
            <a:ext cx="777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STRETCH</a:t>
            </a:r>
            <a:endParaRPr lang="en-US" sz="1000" dirty="0"/>
          </a:p>
        </p:txBody>
      </p:sp>
      <p:sp>
        <p:nvSpPr>
          <p:cNvPr id="57" name="Shape 54"/>
          <p:cNvSpPr/>
          <p:nvPr/>
        </p:nvSpPr>
        <p:spPr>
          <a:xfrm>
            <a:off x="411480" y="5833872"/>
            <a:ext cx="11368735" cy="530352"/>
          </a:xfrm>
          <a:prstGeom prst="rect">
            <a:avLst/>
          </a:prstGeom>
          <a:solidFill>
            <a:srgbClr val="FFF4E0"/>
          </a:solidFill>
          <a:ln w="6350">
            <a:solidFill>
              <a:srgbClr val="F1D9A8"/>
            </a:solidFill>
            <a:prstDash val="solid"/>
          </a:ln>
        </p:spPr>
      </p:sp>
      <p:sp>
        <p:nvSpPr>
          <p:cNvPr id="58" name="Shape 55"/>
          <p:cNvSpPr/>
          <p:nvPr/>
        </p:nvSpPr>
        <p:spPr>
          <a:xfrm>
            <a:off x="411480" y="5833872"/>
            <a:ext cx="82296" cy="530352"/>
          </a:xfrm>
          <a:prstGeom prst="rect">
            <a:avLst/>
          </a:prstGeom>
          <a:solidFill>
            <a:srgbClr val="E39A2F"/>
          </a:solidFill>
          <a:ln w="12700">
            <a:solidFill>
              <a:srgbClr val="E39A2F"/>
            </a:solidFill>
            <a:prstDash val="solid"/>
          </a:ln>
        </p:spPr>
      </p:sp>
      <p:sp>
        <p:nvSpPr>
          <p:cNvPr id="59" name="Text 5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cube has sides of </a:t>
            </a:r>
            <a:r>
              <a:rPr lang="en-US" sz="1150" b="1" dirty="0">
                <a:solidFill>
                  <a:srgbClr val="262B3A"/>
                </a:solidFill>
                <a:latin typeface="Calibri" pitchFamily="34" charset="0"/>
                <a:ea typeface="Calibri" pitchFamily="34" charset="-122"/>
                <a:cs typeface="Calibri" pitchFamily="34" charset="-120"/>
              </a:rPr>
              <a:t>2 cm</a:t>
            </a:r>
            <a:r>
              <a:rPr lang="en-US" sz="1150" dirty="0">
                <a:solidFill>
                  <a:srgbClr val="262B3A"/>
                </a:solidFill>
                <a:latin typeface="Calibri" pitchFamily="34" charset="0"/>
                <a:ea typeface="Calibri" pitchFamily="34" charset="-122"/>
                <a:cs typeface="Calibri" pitchFamily="34" charset="-120"/>
              </a:rPr>
              <a:t>. Calculate its </a:t>
            </a:r>
            <a:r>
              <a:rPr lang="en-US" sz="1150" b="1" dirty="0">
                <a:solidFill>
                  <a:srgbClr val="262B3A"/>
                </a:solidFill>
                <a:latin typeface="Calibri" pitchFamily="34" charset="0"/>
                <a:ea typeface="Calibri" pitchFamily="34" charset="-122"/>
                <a:cs typeface="Calibri" pitchFamily="34" charset="-120"/>
              </a:rPr>
              <a:t>surface area</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volume</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SA : V ratio</a:t>
            </a:r>
            <a:r>
              <a:rPr lang="en-US" sz="1150" dirty="0">
                <a:solidFill>
                  <a:srgbClr val="262B3A"/>
                </a:solidFill>
                <a:latin typeface="Calibri" pitchFamily="34" charset="0"/>
                <a:ea typeface="Calibri" pitchFamily="34" charset="-122"/>
                <a:cs typeface="Calibri" pitchFamily="34" charset="-120"/>
              </a:rPr>
              <a:t>. How does SA : V change for a 1 cm cube?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Why a big surface changes properties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C4.3.2 • a larger fraction of the atoms is at the surface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C4.3.2  |  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2D slices through two particles; orange = surface atoms</a:t>
            </a:r>
            <a:endParaRPr lang="en-US" sz="1000" dirty="0"/>
          </a:p>
        </p:txBody>
      </p:sp>
      <p:sp>
        <p:nvSpPr>
          <p:cNvPr id="10" name="Shape 8"/>
          <p:cNvSpPr/>
          <p:nvPr/>
        </p:nvSpPr>
        <p:spPr>
          <a:xfrm>
            <a:off x="923544" y="1929384"/>
            <a:ext cx="347472" cy="347472"/>
          </a:xfrm>
          <a:prstGeom prst="ellipse">
            <a:avLst/>
          </a:prstGeom>
          <a:solidFill>
            <a:srgbClr val="F5A742"/>
          </a:solidFill>
          <a:ln w="6350">
            <a:solidFill>
              <a:srgbClr val="B8730A"/>
            </a:solidFill>
            <a:prstDash val="solid"/>
          </a:ln>
        </p:spPr>
      </p:sp>
      <p:sp>
        <p:nvSpPr>
          <p:cNvPr id="11" name="Shape 9"/>
          <p:cNvSpPr/>
          <p:nvPr/>
        </p:nvSpPr>
        <p:spPr>
          <a:xfrm>
            <a:off x="923544" y="2295144"/>
            <a:ext cx="347472" cy="347472"/>
          </a:xfrm>
          <a:prstGeom prst="ellipse">
            <a:avLst/>
          </a:prstGeom>
          <a:solidFill>
            <a:srgbClr val="F5A742"/>
          </a:solidFill>
          <a:ln w="6350">
            <a:solidFill>
              <a:srgbClr val="B8730A"/>
            </a:solidFill>
            <a:prstDash val="solid"/>
          </a:ln>
        </p:spPr>
      </p:sp>
      <p:sp>
        <p:nvSpPr>
          <p:cNvPr id="12" name="Shape 10"/>
          <p:cNvSpPr/>
          <p:nvPr/>
        </p:nvSpPr>
        <p:spPr>
          <a:xfrm>
            <a:off x="923544" y="2660904"/>
            <a:ext cx="347472" cy="347472"/>
          </a:xfrm>
          <a:prstGeom prst="ellipse">
            <a:avLst/>
          </a:prstGeom>
          <a:solidFill>
            <a:srgbClr val="F5A742"/>
          </a:solidFill>
          <a:ln w="6350">
            <a:solidFill>
              <a:srgbClr val="B8730A"/>
            </a:solidFill>
            <a:prstDash val="solid"/>
          </a:ln>
        </p:spPr>
      </p:sp>
      <p:sp>
        <p:nvSpPr>
          <p:cNvPr id="13" name="Shape 11"/>
          <p:cNvSpPr/>
          <p:nvPr/>
        </p:nvSpPr>
        <p:spPr>
          <a:xfrm>
            <a:off x="923544" y="3026664"/>
            <a:ext cx="347472" cy="347472"/>
          </a:xfrm>
          <a:prstGeom prst="ellipse">
            <a:avLst/>
          </a:prstGeom>
          <a:solidFill>
            <a:srgbClr val="F5A742"/>
          </a:solidFill>
          <a:ln w="6350">
            <a:solidFill>
              <a:srgbClr val="B8730A"/>
            </a:solidFill>
            <a:prstDash val="solid"/>
          </a:ln>
        </p:spPr>
      </p:sp>
      <p:sp>
        <p:nvSpPr>
          <p:cNvPr id="14" name="Shape 12"/>
          <p:cNvSpPr/>
          <p:nvPr/>
        </p:nvSpPr>
        <p:spPr>
          <a:xfrm>
            <a:off x="1289304" y="1929384"/>
            <a:ext cx="347472" cy="347472"/>
          </a:xfrm>
          <a:prstGeom prst="ellipse">
            <a:avLst/>
          </a:prstGeom>
          <a:solidFill>
            <a:srgbClr val="F5A742"/>
          </a:solidFill>
          <a:ln w="6350">
            <a:solidFill>
              <a:srgbClr val="B8730A"/>
            </a:solidFill>
            <a:prstDash val="solid"/>
          </a:ln>
        </p:spPr>
      </p:sp>
      <p:sp>
        <p:nvSpPr>
          <p:cNvPr id="15" name="Shape 13"/>
          <p:cNvSpPr/>
          <p:nvPr/>
        </p:nvSpPr>
        <p:spPr>
          <a:xfrm>
            <a:off x="1289304" y="2295144"/>
            <a:ext cx="347472" cy="347472"/>
          </a:xfrm>
          <a:prstGeom prst="ellipse">
            <a:avLst/>
          </a:prstGeom>
          <a:solidFill>
            <a:srgbClr val="C9B6E4"/>
          </a:solidFill>
          <a:ln w="6350">
            <a:solidFill>
              <a:srgbClr val="5A3590"/>
            </a:solidFill>
            <a:prstDash val="solid"/>
          </a:ln>
        </p:spPr>
      </p:sp>
      <p:sp>
        <p:nvSpPr>
          <p:cNvPr id="16" name="Shape 14"/>
          <p:cNvSpPr/>
          <p:nvPr/>
        </p:nvSpPr>
        <p:spPr>
          <a:xfrm>
            <a:off x="1289304" y="2660904"/>
            <a:ext cx="347472" cy="347472"/>
          </a:xfrm>
          <a:prstGeom prst="ellipse">
            <a:avLst/>
          </a:prstGeom>
          <a:solidFill>
            <a:srgbClr val="C9B6E4"/>
          </a:solidFill>
          <a:ln w="6350">
            <a:solidFill>
              <a:srgbClr val="5A3590"/>
            </a:solidFill>
            <a:prstDash val="solid"/>
          </a:ln>
        </p:spPr>
      </p:sp>
      <p:sp>
        <p:nvSpPr>
          <p:cNvPr id="17" name="Shape 15"/>
          <p:cNvSpPr/>
          <p:nvPr/>
        </p:nvSpPr>
        <p:spPr>
          <a:xfrm>
            <a:off x="1289304" y="3026664"/>
            <a:ext cx="347472" cy="347472"/>
          </a:xfrm>
          <a:prstGeom prst="ellipse">
            <a:avLst/>
          </a:prstGeom>
          <a:solidFill>
            <a:srgbClr val="F5A742"/>
          </a:solidFill>
          <a:ln w="6350">
            <a:solidFill>
              <a:srgbClr val="B8730A"/>
            </a:solidFill>
            <a:prstDash val="solid"/>
          </a:ln>
        </p:spPr>
      </p:sp>
      <p:sp>
        <p:nvSpPr>
          <p:cNvPr id="18" name="Shape 16"/>
          <p:cNvSpPr/>
          <p:nvPr/>
        </p:nvSpPr>
        <p:spPr>
          <a:xfrm>
            <a:off x="1655064" y="1929384"/>
            <a:ext cx="347472" cy="347472"/>
          </a:xfrm>
          <a:prstGeom prst="ellipse">
            <a:avLst/>
          </a:prstGeom>
          <a:solidFill>
            <a:srgbClr val="F5A742"/>
          </a:solidFill>
          <a:ln w="6350">
            <a:solidFill>
              <a:srgbClr val="B8730A"/>
            </a:solidFill>
            <a:prstDash val="solid"/>
          </a:ln>
        </p:spPr>
      </p:sp>
      <p:sp>
        <p:nvSpPr>
          <p:cNvPr id="19" name="Shape 17"/>
          <p:cNvSpPr/>
          <p:nvPr/>
        </p:nvSpPr>
        <p:spPr>
          <a:xfrm>
            <a:off x="1655064" y="2295144"/>
            <a:ext cx="347472" cy="347472"/>
          </a:xfrm>
          <a:prstGeom prst="ellipse">
            <a:avLst/>
          </a:prstGeom>
          <a:solidFill>
            <a:srgbClr val="C9B6E4"/>
          </a:solidFill>
          <a:ln w="6350">
            <a:solidFill>
              <a:srgbClr val="5A3590"/>
            </a:solidFill>
            <a:prstDash val="solid"/>
          </a:ln>
        </p:spPr>
      </p:sp>
      <p:sp>
        <p:nvSpPr>
          <p:cNvPr id="20" name="Shape 18"/>
          <p:cNvSpPr/>
          <p:nvPr/>
        </p:nvSpPr>
        <p:spPr>
          <a:xfrm>
            <a:off x="1655064" y="2660904"/>
            <a:ext cx="347472" cy="347472"/>
          </a:xfrm>
          <a:prstGeom prst="ellipse">
            <a:avLst/>
          </a:prstGeom>
          <a:solidFill>
            <a:srgbClr val="C9B6E4"/>
          </a:solidFill>
          <a:ln w="6350">
            <a:solidFill>
              <a:srgbClr val="5A3590"/>
            </a:solidFill>
            <a:prstDash val="solid"/>
          </a:ln>
        </p:spPr>
      </p:sp>
      <p:sp>
        <p:nvSpPr>
          <p:cNvPr id="21" name="Shape 19"/>
          <p:cNvSpPr/>
          <p:nvPr/>
        </p:nvSpPr>
        <p:spPr>
          <a:xfrm>
            <a:off x="1655064" y="3026664"/>
            <a:ext cx="347472" cy="347472"/>
          </a:xfrm>
          <a:prstGeom prst="ellipse">
            <a:avLst/>
          </a:prstGeom>
          <a:solidFill>
            <a:srgbClr val="F5A742"/>
          </a:solidFill>
          <a:ln w="6350">
            <a:solidFill>
              <a:srgbClr val="B8730A"/>
            </a:solidFill>
            <a:prstDash val="solid"/>
          </a:ln>
        </p:spPr>
      </p:sp>
      <p:sp>
        <p:nvSpPr>
          <p:cNvPr id="22" name="Shape 20"/>
          <p:cNvSpPr/>
          <p:nvPr/>
        </p:nvSpPr>
        <p:spPr>
          <a:xfrm>
            <a:off x="2020824" y="1929384"/>
            <a:ext cx="347472" cy="347472"/>
          </a:xfrm>
          <a:prstGeom prst="ellipse">
            <a:avLst/>
          </a:prstGeom>
          <a:solidFill>
            <a:srgbClr val="F5A742"/>
          </a:solidFill>
          <a:ln w="6350">
            <a:solidFill>
              <a:srgbClr val="B8730A"/>
            </a:solidFill>
            <a:prstDash val="solid"/>
          </a:ln>
        </p:spPr>
      </p:sp>
      <p:sp>
        <p:nvSpPr>
          <p:cNvPr id="23" name="Shape 21"/>
          <p:cNvSpPr/>
          <p:nvPr/>
        </p:nvSpPr>
        <p:spPr>
          <a:xfrm>
            <a:off x="2020824" y="2295144"/>
            <a:ext cx="347472" cy="347472"/>
          </a:xfrm>
          <a:prstGeom prst="ellipse">
            <a:avLst/>
          </a:prstGeom>
          <a:solidFill>
            <a:srgbClr val="F5A742"/>
          </a:solidFill>
          <a:ln w="6350">
            <a:solidFill>
              <a:srgbClr val="B8730A"/>
            </a:solidFill>
            <a:prstDash val="solid"/>
          </a:ln>
        </p:spPr>
      </p:sp>
      <p:sp>
        <p:nvSpPr>
          <p:cNvPr id="24" name="Shape 22"/>
          <p:cNvSpPr/>
          <p:nvPr/>
        </p:nvSpPr>
        <p:spPr>
          <a:xfrm>
            <a:off x="2020824" y="2660904"/>
            <a:ext cx="347472" cy="347472"/>
          </a:xfrm>
          <a:prstGeom prst="ellipse">
            <a:avLst/>
          </a:prstGeom>
          <a:solidFill>
            <a:srgbClr val="F5A742"/>
          </a:solidFill>
          <a:ln w="6350">
            <a:solidFill>
              <a:srgbClr val="B8730A"/>
            </a:solidFill>
            <a:prstDash val="solid"/>
          </a:ln>
        </p:spPr>
      </p:sp>
      <p:sp>
        <p:nvSpPr>
          <p:cNvPr id="25" name="Shape 23"/>
          <p:cNvSpPr/>
          <p:nvPr/>
        </p:nvSpPr>
        <p:spPr>
          <a:xfrm>
            <a:off x="2020824" y="3026664"/>
            <a:ext cx="347472" cy="347472"/>
          </a:xfrm>
          <a:prstGeom prst="ellipse">
            <a:avLst/>
          </a:prstGeom>
          <a:solidFill>
            <a:srgbClr val="F5A742"/>
          </a:solidFill>
          <a:ln w="6350">
            <a:solidFill>
              <a:srgbClr val="B8730A"/>
            </a:solidFill>
            <a:prstDash val="solid"/>
          </a:ln>
        </p:spPr>
      </p:sp>
      <p:sp>
        <p:nvSpPr>
          <p:cNvPr id="26" name="Text 24"/>
          <p:cNvSpPr/>
          <p:nvPr/>
        </p:nvSpPr>
        <p:spPr>
          <a:xfrm>
            <a:off x="640080" y="1417320"/>
            <a:ext cx="2011680" cy="27432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Tiny particle</a:t>
            </a:r>
            <a:r>
              <a:rPr lang="en-US" sz="1100" dirty="0">
                <a:solidFill>
                  <a:srgbClr val="262B3A"/>
                </a:solidFill>
                <a:latin typeface="Calibri" pitchFamily="34" charset="0"/>
                <a:ea typeface="Calibri" pitchFamily="34" charset="-122"/>
                <a:cs typeface="Calibri" pitchFamily="34" charset="-120"/>
              </a:rPr>
              <a:t>: 4 × 4</a:t>
            </a:r>
            <a:endParaRPr lang="en-US" sz="1100" dirty="0"/>
          </a:p>
        </p:txBody>
      </p:sp>
      <p:sp>
        <p:nvSpPr>
          <p:cNvPr id="27" name="Text 25"/>
          <p:cNvSpPr/>
          <p:nvPr/>
        </p:nvSpPr>
        <p:spPr>
          <a:xfrm>
            <a:off x="640080" y="3520440"/>
            <a:ext cx="2011680" cy="50292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12 of 16 at the surface</a:t>
            </a:r>
            <a:endParaRPr lang="en-US" sz="1100" dirty="0"/>
          </a:p>
          <a:p>
            <a:pPr algn="ctr" indent="0" marL="0">
              <a:buNone/>
            </a:pPr>
            <a:r>
              <a:rPr lang="en-US" sz="1100" dirty="0">
                <a:solidFill>
                  <a:srgbClr val="262B3A"/>
                </a:solidFill>
                <a:latin typeface="Calibri" pitchFamily="34" charset="0"/>
                <a:ea typeface="Calibri" pitchFamily="34" charset="-122"/>
                <a:cs typeface="Calibri" pitchFamily="34" charset="-120"/>
              </a:rPr>
              <a:t>= </a:t>
            </a:r>
            <a:endParaRPr lang="en-US" sz="1100" dirty="0"/>
          </a:p>
          <a:p>
            <a:pPr algn="ctr" indent="0" marL="0">
              <a:buNone/>
            </a:pPr>
            <a:r>
              <a:rPr lang="en-US" sz="1100" b="1" dirty="0">
                <a:solidFill>
                  <a:srgbClr val="262B3A"/>
                </a:solidFill>
                <a:latin typeface="Calibri" pitchFamily="34" charset="0"/>
                <a:ea typeface="Calibri" pitchFamily="34" charset="-122"/>
                <a:cs typeface="Calibri" pitchFamily="34" charset="-120"/>
              </a:rPr>
              <a:t>75%</a:t>
            </a:r>
            <a:endParaRPr lang="en-US" sz="1100" dirty="0"/>
          </a:p>
        </p:txBody>
      </p:sp>
      <p:sp>
        <p:nvSpPr>
          <p:cNvPr id="28" name="Shape 26"/>
          <p:cNvSpPr/>
          <p:nvPr/>
        </p:nvSpPr>
        <p:spPr>
          <a:xfrm>
            <a:off x="3067812" y="1696212"/>
            <a:ext cx="173736" cy="173736"/>
          </a:xfrm>
          <a:prstGeom prst="ellipse">
            <a:avLst/>
          </a:prstGeom>
          <a:solidFill>
            <a:srgbClr val="F5A742"/>
          </a:solidFill>
          <a:ln w="6350">
            <a:solidFill>
              <a:srgbClr val="B8730A"/>
            </a:solidFill>
            <a:prstDash val="solid"/>
          </a:ln>
        </p:spPr>
      </p:sp>
      <p:sp>
        <p:nvSpPr>
          <p:cNvPr id="29" name="Shape 27"/>
          <p:cNvSpPr/>
          <p:nvPr/>
        </p:nvSpPr>
        <p:spPr>
          <a:xfrm>
            <a:off x="3067812" y="1879092"/>
            <a:ext cx="173736" cy="173736"/>
          </a:xfrm>
          <a:prstGeom prst="ellipse">
            <a:avLst/>
          </a:prstGeom>
          <a:solidFill>
            <a:srgbClr val="F5A742"/>
          </a:solidFill>
          <a:ln w="6350">
            <a:solidFill>
              <a:srgbClr val="B8730A"/>
            </a:solidFill>
            <a:prstDash val="solid"/>
          </a:ln>
        </p:spPr>
      </p:sp>
      <p:sp>
        <p:nvSpPr>
          <p:cNvPr id="30" name="Shape 28"/>
          <p:cNvSpPr/>
          <p:nvPr/>
        </p:nvSpPr>
        <p:spPr>
          <a:xfrm>
            <a:off x="3067812" y="2061972"/>
            <a:ext cx="173736" cy="173736"/>
          </a:xfrm>
          <a:prstGeom prst="ellipse">
            <a:avLst/>
          </a:prstGeom>
          <a:solidFill>
            <a:srgbClr val="F5A742"/>
          </a:solidFill>
          <a:ln w="6350">
            <a:solidFill>
              <a:srgbClr val="B8730A"/>
            </a:solidFill>
            <a:prstDash val="solid"/>
          </a:ln>
        </p:spPr>
      </p:sp>
      <p:sp>
        <p:nvSpPr>
          <p:cNvPr id="31" name="Shape 29"/>
          <p:cNvSpPr/>
          <p:nvPr/>
        </p:nvSpPr>
        <p:spPr>
          <a:xfrm>
            <a:off x="3067812" y="2244852"/>
            <a:ext cx="173736" cy="173736"/>
          </a:xfrm>
          <a:prstGeom prst="ellipse">
            <a:avLst/>
          </a:prstGeom>
          <a:solidFill>
            <a:srgbClr val="F5A742"/>
          </a:solidFill>
          <a:ln w="6350">
            <a:solidFill>
              <a:srgbClr val="B8730A"/>
            </a:solidFill>
            <a:prstDash val="solid"/>
          </a:ln>
        </p:spPr>
      </p:sp>
      <p:sp>
        <p:nvSpPr>
          <p:cNvPr id="32" name="Shape 30"/>
          <p:cNvSpPr/>
          <p:nvPr/>
        </p:nvSpPr>
        <p:spPr>
          <a:xfrm>
            <a:off x="3067812" y="2427732"/>
            <a:ext cx="173736" cy="173736"/>
          </a:xfrm>
          <a:prstGeom prst="ellipse">
            <a:avLst/>
          </a:prstGeom>
          <a:solidFill>
            <a:srgbClr val="F5A742"/>
          </a:solidFill>
          <a:ln w="6350">
            <a:solidFill>
              <a:srgbClr val="B8730A"/>
            </a:solidFill>
            <a:prstDash val="solid"/>
          </a:ln>
        </p:spPr>
      </p:sp>
      <p:sp>
        <p:nvSpPr>
          <p:cNvPr id="33" name="Shape 31"/>
          <p:cNvSpPr/>
          <p:nvPr/>
        </p:nvSpPr>
        <p:spPr>
          <a:xfrm>
            <a:off x="3067812" y="2610612"/>
            <a:ext cx="173736" cy="173736"/>
          </a:xfrm>
          <a:prstGeom prst="ellipse">
            <a:avLst/>
          </a:prstGeom>
          <a:solidFill>
            <a:srgbClr val="F5A742"/>
          </a:solidFill>
          <a:ln w="6350">
            <a:solidFill>
              <a:srgbClr val="B8730A"/>
            </a:solidFill>
            <a:prstDash val="solid"/>
          </a:ln>
        </p:spPr>
      </p:sp>
      <p:sp>
        <p:nvSpPr>
          <p:cNvPr id="34" name="Shape 32"/>
          <p:cNvSpPr/>
          <p:nvPr/>
        </p:nvSpPr>
        <p:spPr>
          <a:xfrm>
            <a:off x="3067812" y="2793492"/>
            <a:ext cx="173736" cy="173736"/>
          </a:xfrm>
          <a:prstGeom prst="ellipse">
            <a:avLst/>
          </a:prstGeom>
          <a:solidFill>
            <a:srgbClr val="F5A742"/>
          </a:solidFill>
          <a:ln w="6350">
            <a:solidFill>
              <a:srgbClr val="B8730A"/>
            </a:solidFill>
            <a:prstDash val="solid"/>
          </a:ln>
        </p:spPr>
      </p:sp>
      <p:sp>
        <p:nvSpPr>
          <p:cNvPr id="35" name="Shape 33"/>
          <p:cNvSpPr/>
          <p:nvPr/>
        </p:nvSpPr>
        <p:spPr>
          <a:xfrm>
            <a:off x="3067812" y="2976372"/>
            <a:ext cx="173736" cy="173736"/>
          </a:xfrm>
          <a:prstGeom prst="ellipse">
            <a:avLst/>
          </a:prstGeom>
          <a:solidFill>
            <a:srgbClr val="F5A742"/>
          </a:solidFill>
          <a:ln w="6350">
            <a:solidFill>
              <a:srgbClr val="B8730A"/>
            </a:solidFill>
            <a:prstDash val="solid"/>
          </a:ln>
        </p:spPr>
      </p:sp>
      <p:sp>
        <p:nvSpPr>
          <p:cNvPr id="36" name="Shape 34"/>
          <p:cNvSpPr/>
          <p:nvPr/>
        </p:nvSpPr>
        <p:spPr>
          <a:xfrm>
            <a:off x="3067812" y="3159252"/>
            <a:ext cx="173736" cy="173736"/>
          </a:xfrm>
          <a:prstGeom prst="ellipse">
            <a:avLst/>
          </a:prstGeom>
          <a:solidFill>
            <a:srgbClr val="F5A742"/>
          </a:solidFill>
          <a:ln w="6350">
            <a:solidFill>
              <a:srgbClr val="B8730A"/>
            </a:solidFill>
            <a:prstDash val="solid"/>
          </a:ln>
        </p:spPr>
      </p:sp>
      <p:sp>
        <p:nvSpPr>
          <p:cNvPr id="37" name="Shape 35"/>
          <p:cNvSpPr/>
          <p:nvPr/>
        </p:nvSpPr>
        <p:spPr>
          <a:xfrm>
            <a:off x="3067812" y="3342132"/>
            <a:ext cx="173736" cy="173736"/>
          </a:xfrm>
          <a:prstGeom prst="ellipse">
            <a:avLst/>
          </a:prstGeom>
          <a:solidFill>
            <a:srgbClr val="F5A742"/>
          </a:solidFill>
          <a:ln w="6350">
            <a:solidFill>
              <a:srgbClr val="B8730A"/>
            </a:solidFill>
            <a:prstDash val="solid"/>
          </a:ln>
        </p:spPr>
      </p:sp>
      <p:sp>
        <p:nvSpPr>
          <p:cNvPr id="38" name="Shape 36"/>
          <p:cNvSpPr/>
          <p:nvPr/>
        </p:nvSpPr>
        <p:spPr>
          <a:xfrm>
            <a:off x="3250692" y="1696212"/>
            <a:ext cx="173736" cy="173736"/>
          </a:xfrm>
          <a:prstGeom prst="ellipse">
            <a:avLst/>
          </a:prstGeom>
          <a:solidFill>
            <a:srgbClr val="F5A742"/>
          </a:solidFill>
          <a:ln w="6350">
            <a:solidFill>
              <a:srgbClr val="B8730A"/>
            </a:solidFill>
            <a:prstDash val="solid"/>
          </a:ln>
        </p:spPr>
      </p:sp>
      <p:sp>
        <p:nvSpPr>
          <p:cNvPr id="39" name="Shape 37"/>
          <p:cNvSpPr/>
          <p:nvPr/>
        </p:nvSpPr>
        <p:spPr>
          <a:xfrm>
            <a:off x="3250692" y="1879092"/>
            <a:ext cx="173736" cy="173736"/>
          </a:xfrm>
          <a:prstGeom prst="ellipse">
            <a:avLst/>
          </a:prstGeom>
          <a:solidFill>
            <a:srgbClr val="C9B6E4"/>
          </a:solidFill>
          <a:ln w="6350">
            <a:solidFill>
              <a:srgbClr val="5A3590"/>
            </a:solidFill>
            <a:prstDash val="solid"/>
          </a:ln>
        </p:spPr>
      </p:sp>
      <p:sp>
        <p:nvSpPr>
          <p:cNvPr id="40" name="Shape 38"/>
          <p:cNvSpPr/>
          <p:nvPr/>
        </p:nvSpPr>
        <p:spPr>
          <a:xfrm>
            <a:off x="3250692" y="2061972"/>
            <a:ext cx="173736" cy="173736"/>
          </a:xfrm>
          <a:prstGeom prst="ellipse">
            <a:avLst/>
          </a:prstGeom>
          <a:solidFill>
            <a:srgbClr val="C9B6E4"/>
          </a:solidFill>
          <a:ln w="6350">
            <a:solidFill>
              <a:srgbClr val="5A3590"/>
            </a:solidFill>
            <a:prstDash val="solid"/>
          </a:ln>
        </p:spPr>
      </p:sp>
      <p:sp>
        <p:nvSpPr>
          <p:cNvPr id="41" name="Shape 39"/>
          <p:cNvSpPr/>
          <p:nvPr/>
        </p:nvSpPr>
        <p:spPr>
          <a:xfrm>
            <a:off x="3250692" y="2244852"/>
            <a:ext cx="173736" cy="173736"/>
          </a:xfrm>
          <a:prstGeom prst="ellipse">
            <a:avLst/>
          </a:prstGeom>
          <a:solidFill>
            <a:srgbClr val="C9B6E4"/>
          </a:solidFill>
          <a:ln w="6350">
            <a:solidFill>
              <a:srgbClr val="5A3590"/>
            </a:solidFill>
            <a:prstDash val="solid"/>
          </a:ln>
        </p:spPr>
      </p:sp>
      <p:sp>
        <p:nvSpPr>
          <p:cNvPr id="42" name="Shape 40"/>
          <p:cNvSpPr/>
          <p:nvPr/>
        </p:nvSpPr>
        <p:spPr>
          <a:xfrm>
            <a:off x="3250692" y="2427732"/>
            <a:ext cx="173736" cy="173736"/>
          </a:xfrm>
          <a:prstGeom prst="ellipse">
            <a:avLst/>
          </a:prstGeom>
          <a:solidFill>
            <a:srgbClr val="C9B6E4"/>
          </a:solidFill>
          <a:ln w="6350">
            <a:solidFill>
              <a:srgbClr val="5A3590"/>
            </a:solidFill>
            <a:prstDash val="solid"/>
          </a:ln>
        </p:spPr>
      </p:sp>
      <p:sp>
        <p:nvSpPr>
          <p:cNvPr id="43" name="Shape 41"/>
          <p:cNvSpPr/>
          <p:nvPr/>
        </p:nvSpPr>
        <p:spPr>
          <a:xfrm>
            <a:off x="3250692" y="2610612"/>
            <a:ext cx="173736" cy="173736"/>
          </a:xfrm>
          <a:prstGeom prst="ellipse">
            <a:avLst/>
          </a:prstGeom>
          <a:solidFill>
            <a:srgbClr val="C9B6E4"/>
          </a:solidFill>
          <a:ln w="6350">
            <a:solidFill>
              <a:srgbClr val="5A3590"/>
            </a:solidFill>
            <a:prstDash val="solid"/>
          </a:ln>
        </p:spPr>
      </p:sp>
      <p:sp>
        <p:nvSpPr>
          <p:cNvPr id="44" name="Shape 42"/>
          <p:cNvSpPr/>
          <p:nvPr/>
        </p:nvSpPr>
        <p:spPr>
          <a:xfrm>
            <a:off x="3250692" y="2793492"/>
            <a:ext cx="173736" cy="173736"/>
          </a:xfrm>
          <a:prstGeom prst="ellipse">
            <a:avLst/>
          </a:prstGeom>
          <a:solidFill>
            <a:srgbClr val="C9B6E4"/>
          </a:solidFill>
          <a:ln w="6350">
            <a:solidFill>
              <a:srgbClr val="5A3590"/>
            </a:solidFill>
            <a:prstDash val="solid"/>
          </a:ln>
        </p:spPr>
      </p:sp>
      <p:sp>
        <p:nvSpPr>
          <p:cNvPr id="45" name="Shape 43"/>
          <p:cNvSpPr/>
          <p:nvPr/>
        </p:nvSpPr>
        <p:spPr>
          <a:xfrm>
            <a:off x="3250692" y="2976372"/>
            <a:ext cx="173736" cy="173736"/>
          </a:xfrm>
          <a:prstGeom prst="ellipse">
            <a:avLst/>
          </a:prstGeom>
          <a:solidFill>
            <a:srgbClr val="C9B6E4"/>
          </a:solidFill>
          <a:ln w="6350">
            <a:solidFill>
              <a:srgbClr val="5A3590"/>
            </a:solidFill>
            <a:prstDash val="solid"/>
          </a:ln>
        </p:spPr>
      </p:sp>
      <p:sp>
        <p:nvSpPr>
          <p:cNvPr id="46" name="Shape 44"/>
          <p:cNvSpPr/>
          <p:nvPr/>
        </p:nvSpPr>
        <p:spPr>
          <a:xfrm>
            <a:off x="3250692" y="3159252"/>
            <a:ext cx="173736" cy="173736"/>
          </a:xfrm>
          <a:prstGeom prst="ellipse">
            <a:avLst/>
          </a:prstGeom>
          <a:solidFill>
            <a:srgbClr val="C9B6E4"/>
          </a:solidFill>
          <a:ln w="6350">
            <a:solidFill>
              <a:srgbClr val="5A3590"/>
            </a:solidFill>
            <a:prstDash val="solid"/>
          </a:ln>
        </p:spPr>
      </p:sp>
      <p:sp>
        <p:nvSpPr>
          <p:cNvPr id="47" name="Shape 45"/>
          <p:cNvSpPr/>
          <p:nvPr/>
        </p:nvSpPr>
        <p:spPr>
          <a:xfrm>
            <a:off x="3250692" y="3342132"/>
            <a:ext cx="173736" cy="173736"/>
          </a:xfrm>
          <a:prstGeom prst="ellipse">
            <a:avLst/>
          </a:prstGeom>
          <a:solidFill>
            <a:srgbClr val="F5A742"/>
          </a:solidFill>
          <a:ln w="6350">
            <a:solidFill>
              <a:srgbClr val="B8730A"/>
            </a:solidFill>
            <a:prstDash val="solid"/>
          </a:ln>
        </p:spPr>
      </p:sp>
      <p:sp>
        <p:nvSpPr>
          <p:cNvPr id="48" name="Shape 46"/>
          <p:cNvSpPr/>
          <p:nvPr/>
        </p:nvSpPr>
        <p:spPr>
          <a:xfrm>
            <a:off x="3433572" y="1696212"/>
            <a:ext cx="173736" cy="173736"/>
          </a:xfrm>
          <a:prstGeom prst="ellipse">
            <a:avLst/>
          </a:prstGeom>
          <a:solidFill>
            <a:srgbClr val="F5A742"/>
          </a:solidFill>
          <a:ln w="6350">
            <a:solidFill>
              <a:srgbClr val="B8730A"/>
            </a:solidFill>
            <a:prstDash val="solid"/>
          </a:ln>
        </p:spPr>
      </p:sp>
      <p:sp>
        <p:nvSpPr>
          <p:cNvPr id="49" name="Shape 47"/>
          <p:cNvSpPr/>
          <p:nvPr/>
        </p:nvSpPr>
        <p:spPr>
          <a:xfrm>
            <a:off x="3433572" y="1879092"/>
            <a:ext cx="173736" cy="173736"/>
          </a:xfrm>
          <a:prstGeom prst="ellipse">
            <a:avLst/>
          </a:prstGeom>
          <a:solidFill>
            <a:srgbClr val="C9B6E4"/>
          </a:solidFill>
          <a:ln w="6350">
            <a:solidFill>
              <a:srgbClr val="5A3590"/>
            </a:solidFill>
            <a:prstDash val="solid"/>
          </a:ln>
        </p:spPr>
      </p:sp>
      <p:sp>
        <p:nvSpPr>
          <p:cNvPr id="50" name="Shape 48"/>
          <p:cNvSpPr/>
          <p:nvPr/>
        </p:nvSpPr>
        <p:spPr>
          <a:xfrm>
            <a:off x="3433572" y="2061972"/>
            <a:ext cx="173736" cy="173736"/>
          </a:xfrm>
          <a:prstGeom prst="ellipse">
            <a:avLst/>
          </a:prstGeom>
          <a:solidFill>
            <a:srgbClr val="C9B6E4"/>
          </a:solidFill>
          <a:ln w="6350">
            <a:solidFill>
              <a:srgbClr val="5A3590"/>
            </a:solidFill>
            <a:prstDash val="solid"/>
          </a:ln>
        </p:spPr>
      </p:sp>
      <p:sp>
        <p:nvSpPr>
          <p:cNvPr id="51" name="Shape 49"/>
          <p:cNvSpPr/>
          <p:nvPr/>
        </p:nvSpPr>
        <p:spPr>
          <a:xfrm>
            <a:off x="3433572" y="2244852"/>
            <a:ext cx="173736" cy="173736"/>
          </a:xfrm>
          <a:prstGeom prst="ellipse">
            <a:avLst/>
          </a:prstGeom>
          <a:solidFill>
            <a:srgbClr val="C9B6E4"/>
          </a:solidFill>
          <a:ln w="6350">
            <a:solidFill>
              <a:srgbClr val="5A3590"/>
            </a:solidFill>
            <a:prstDash val="solid"/>
          </a:ln>
        </p:spPr>
      </p:sp>
      <p:sp>
        <p:nvSpPr>
          <p:cNvPr id="52" name="Shape 50"/>
          <p:cNvSpPr/>
          <p:nvPr/>
        </p:nvSpPr>
        <p:spPr>
          <a:xfrm>
            <a:off x="3433572" y="2427732"/>
            <a:ext cx="173736" cy="173736"/>
          </a:xfrm>
          <a:prstGeom prst="ellipse">
            <a:avLst/>
          </a:prstGeom>
          <a:solidFill>
            <a:srgbClr val="C9B6E4"/>
          </a:solidFill>
          <a:ln w="6350">
            <a:solidFill>
              <a:srgbClr val="5A3590"/>
            </a:solidFill>
            <a:prstDash val="solid"/>
          </a:ln>
        </p:spPr>
      </p:sp>
      <p:sp>
        <p:nvSpPr>
          <p:cNvPr id="53" name="Shape 51"/>
          <p:cNvSpPr/>
          <p:nvPr/>
        </p:nvSpPr>
        <p:spPr>
          <a:xfrm>
            <a:off x="3433572" y="2610612"/>
            <a:ext cx="173736" cy="173736"/>
          </a:xfrm>
          <a:prstGeom prst="ellipse">
            <a:avLst/>
          </a:prstGeom>
          <a:solidFill>
            <a:srgbClr val="C9B6E4"/>
          </a:solidFill>
          <a:ln w="6350">
            <a:solidFill>
              <a:srgbClr val="5A3590"/>
            </a:solidFill>
            <a:prstDash val="solid"/>
          </a:ln>
        </p:spPr>
      </p:sp>
      <p:sp>
        <p:nvSpPr>
          <p:cNvPr id="54" name="Shape 52"/>
          <p:cNvSpPr/>
          <p:nvPr/>
        </p:nvSpPr>
        <p:spPr>
          <a:xfrm>
            <a:off x="3433572" y="2793492"/>
            <a:ext cx="173736" cy="173736"/>
          </a:xfrm>
          <a:prstGeom prst="ellipse">
            <a:avLst/>
          </a:prstGeom>
          <a:solidFill>
            <a:srgbClr val="C9B6E4"/>
          </a:solidFill>
          <a:ln w="6350">
            <a:solidFill>
              <a:srgbClr val="5A3590"/>
            </a:solidFill>
            <a:prstDash val="solid"/>
          </a:ln>
        </p:spPr>
      </p:sp>
      <p:sp>
        <p:nvSpPr>
          <p:cNvPr id="55" name="Shape 53"/>
          <p:cNvSpPr/>
          <p:nvPr/>
        </p:nvSpPr>
        <p:spPr>
          <a:xfrm>
            <a:off x="3433572" y="2976372"/>
            <a:ext cx="173736" cy="173736"/>
          </a:xfrm>
          <a:prstGeom prst="ellipse">
            <a:avLst/>
          </a:prstGeom>
          <a:solidFill>
            <a:srgbClr val="C9B6E4"/>
          </a:solidFill>
          <a:ln w="6350">
            <a:solidFill>
              <a:srgbClr val="5A3590"/>
            </a:solidFill>
            <a:prstDash val="solid"/>
          </a:ln>
        </p:spPr>
      </p:sp>
      <p:sp>
        <p:nvSpPr>
          <p:cNvPr id="56" name="Shape 54"/>
          <p:cNvSpPr/>
          <p:nvPr/>
        </p:nvSpPr>
        <p:spPr>
          <a:xfrm>
            <a:off x="3433572" y="3159252"/>
            <a:ext cx="173736" cy="173736"/>
          </a:xfrm>
          <a:prstGeom prst="ellipse">
            <a:avLst/>
          </a:prstGeom>
          <a:solidFill>
            <a:srgbClr val="C9B6E4"/>
          </a:solidFill>
          <a:ln w="6350">
            <a:solidFill>
              <a:srgbClr val="5A3590"/>
            </a:solidFill>
            <a:prstDash val="solid"/>
          </a:ln>
        </p:spPr>
      </p:sp>
      <p:sp>
        <p:nvSpPr>
          <p:cNvPr id="57" name="Shape 55"/>
          <p:cNvSpPr/>
          <p:nvPr/>
        </p:nvSpPr>
        <p:spPr>
          <a:xfrm>
            <a:off x="3433572" y="3342132"/>
            <a:ext cx="173736" cy="173736"/>
          </a:xfrm>
          <a:prstGeom prst="ellipse">
            <a:avLst/>
          </a:prstGeom>
          <a:solidFill>
            <a:srgbClr val="F5A742"/>
          </a:solidFill>
          <a:ln w="6350">
            <a:solidFill>
              <a:srgbClr val="B8730A"/>
            </a:solidFill>
            <a:prstDash val="solid"/>
          </a:ln>
        </p:spPr>
      </p:sp>
      <p:sp>
        <p:nvSpPr>
          <p:cNvPr id="58" name="Shape 56"/>
          <p:cNvSpPr/>
          <p:nvPr/>
        </p:nvSpPr>
        <p:spPr>
          <a:xfrm>
            <a:off x="3616452" y="1696212"/>
            <a:ext cx="173736" cy="173736"/>
          </a:xfrm>
          <a:prstGeom prst="ellipse">
            <a:avLst/>
          </a:prstGeom>
          <a:solidFill>
            <a:srgbClr val="F5A742"/>
          </a:solidFill>
          <a:ln w="6350">
            <a:solidFill>
              <a:srgbClr val="B8730A"/>
            </a:solidFill>
            <a:prstDash val="solid"/>
          </a:ln>
        </p:spPr>
      </p:sp>
      <p:sp>
        <p:nvSpPr>
          <p:cNvPr id="59" name="Shape 57"/>
          <p:cNvSpPr/>
          <p:nvPr/>
        </p:nvSpPr>
        <p:spPr>
          <a:xfrm>
            <a:off x="3616452" y="1879092"/>
            <a:ext cx="173736" cy="173736"/>
          </a:xfrm>
          <a:prstGeom prst="ellipse">
            <a:avLst/>
          </a:prstGeom>
          <a:solidFill>
            <a:srgbClr val="C9B6E4"/>
          </a:solidFill>
          <a:ln w="6350">
            <a:solidFill>
              <a:srgbClr val="5A3590"/>
            </a:solidFill>
            <a:prstDash val="solid"/>
          </a:ln>
        </p:spPr>
      </p:sp>
      <p:sp>
        <p:nvSpPr>
          <p:cNvPr id="60" name="Shape 58"/>
          <p:cNvSpPr/>
          <p:nvPr/>
        </p:nvSpPr>
        <p:spPr>
          <a:xfrm>
            <a:off x="3616452" y="2061972"/>
            <a:ext cx="173736" cy="173736"/>
          </a:xfrm>
          <a:prstGeom prst="ellipse">
            <a:avLst/>
          </a:prstGeom>
          <a:solidFill>
            <a:srgbClr val="C9B6E4"/>
          </a:solidFill>
          <a:ln w="6350">
            <a:solidFill>
              <a:srgbClr val="5A3590"/>
            </a:solidFill>
            <a:prstDash val="solid"/>
          </a:ln>
        </p:spPr>
      </p:sp>
      <p:sp>
        <p:nvSpPr>
          <p:cNvPr id="61" name="Shape 59"/>
          <p:cNvSpPr/>
          <p:nvPr/>
        </p:nvSpPr>
        <p:spPr>
          <a:xfrm>
            <a:off x="3616452" y="2244852"/>
            <a:ext cx="173736" cy="173736"/>
          </a:xfrm>
          <a:prstGeom prst="ellipse">
            <a:avLst/>
          </a:prstGeom>
          <a:solidFill>
            <a:srgbClr val="C9B6E4"/>
          </a:solidFill>
          <a:ln w="6350">
            <a:solidFill>
              <a:srgbClr val="5A3590"/>
            </a:solidFill>
            <a:prstDash val="solid"/>
          </a:ln>
        </p:spPr>
      </p:sp>
      <p:sp>
        <p:nvSpPr>
          <p:cNvPr id="62" name="Shape 60"/>
          <p:cNvSpPr/>
          <p:nvPr/>
        </p:nvSpPr>
        <p:spPr>
          <a:xfrm>
            <a:off x="3616452" y="2427732"/>
            <a:ext cx="173736" cy="173736"/>
          </a:xfrm>
          <a:prstGeom prst="ellipse">
            <a:avLst/>
          </a:prstGeom>
          <a:solidFill>
            <a:srgbClr val="C9B6E4"/>
          </a:solidFill>
          <a:ln w="6350">
            <a:solidFill>
              <a:srgbClr val="5A3590"/>
            </a:solidFill>
            <a:prstDash val="solid"/>
          </a:ln>
        </p:spPr>
      </p:sp>
      <p:sp>
        <p:nvSpPr>
          <p:cNvPr id="63" name="Shape 61"/>
          <p:cNvSpPr/>
          <p:nvPr/>
        </p:nvSpPr>
        <p:spPr>
          <a:xfrm>
            <a:off x="3616452" y="2610612"/>
            <a:ext cx="173736" cy="173736"/>
          </a:xfrm>
          <a:prstGeom prst="ellipse">
            <a:avLst/>
          </a:prstGeom>
          <a:solidFill>
            <a:srgbClr val="C9B6E4"/>
          </a:solidFill>
          <a:ln w="6350">
            <a:solidFill>
              <a:srgbClr val="5A3590"/>
            </a:solidFill>
            <a:prstDash val="solid"/>
          </a:ln>
        </p:spPr>
      </p:sp>
      <p:sp>
        <p:nvSpPr>
          <p:cNvPr id="64" name="Shape 62"/>
          <p:cNvSpPr/>
          <p:nvPr/>
        </p:nvSpPr>
        <p:spPr>
          <a:xfrm>
            <a:off x="3616452" y="2793492"/>
            <a:ext cx="173736" cy="173736"/>
          </a:xfrm>
          <a:prstGeom prst="ellipse">
            <a:avLst/>
          </a:prstGeom>
          <a:solidFill>
            <a:srgbClr val="C9B6E4"/>
          </a:solidFill>
          <a:ln w="6350">
            <a:solidFill>
              <a:srgbClr val="5A3590"/>
            </a:solidFill>
            <a:prstDash val="solid"/>
          </a:ln>
        </p:spPr>
      </p:sp>
      <p:sp>
        <p:nvSpPr>
          <p:cNvPr id="65" name="Shape 63"/>
          <p:cNvSpPr/>
          <p:nvPr/>
        </p:nvSpPr>
        <p:spPr>
          <a:xfrm>
            <a:off x="3616452" y="2976372"/>
            <a:ext cx="173736" cy="173736"/>
          </a:xfrm>
          <a:prstGeom prst="ellipse">
            <a:avLst/>
          </a:prstGeom>
          <a:solidFill>
            <a:srgbClr val="C9B6E4"/>
          </a:solidFill>
          <a:ln w="6350">
            <a:solidFill>
              <a:srgbClr val="5A3590"/>
            </a:solidFill>
            <a:prstDash val="solid"/>
          </a:ln>
        </p:spPr>
      </p:sp>
      <p:sp>
        <p:nvSpPr>
          <p:cNvPr id="66" name="Shape 64"/>
          <p:cNvSpPr/>
          <p:nvPr/>
        </p:nvSpPr>
        <p:spPr>
          <a:xfrm>
            <a:off x="3616452" y="3159252"/>
            <a:ext cx="173736" cy="173736"/>
          </a:xfrm>
          <a:prstGeom prst="ellipse">
            <a:avLst/>
          </a:prstGeom>
          <a:solidFill>
            <a:srgbClr val="C9B6E4"/>
          </a:solidFill>
          <a:ln w="6350">
            <a:solidFill>
              <a:srgbClr val="5A3590"/>
            </a:solidFill>
            <a:prstDash val="solid"/>
          </a:ln>
        </p:spPr>
      </p:sp>
      <p:sp>
        <p:nvSpPr>
          <p:cNvPr id="67" name="Shape 65"/>
          <p:cNvSpPr/>
          <p:nvPr/>
        </p:nvSpPr>
        <p:spPr>
          <a:xfrm>
            <a:off x="3616452" y="3342132"/>
            <a:ext cx="173736" cy="173736"/>
          </a:xfrm>
          <a:prstGeom prst="ellipse">
            <a:avLst/>
          </a:prstGeom>
          <a:solidFill>
            <a:srgbClr val="F5A742"/>
          </a:solidFill>
          <a:ln w="6350">
            <a:solidFill>
              <a:srgbClr val="B8730A"/>
            </a:solidFill>
            <a:prstDash val="solid"/>
          </a:ln>
        </p:spPr>
      </p:sp>
      <p:sp>
        <p:nvSpPr>
          <p:cNvPr id="68" name="Shape 66"/>
          <p:cNvSpPr/>
          <p:nvPr/>
        </p:nvSpPr>
        <p:spPr>
          <a:xfrm>
            <a:off x="3799332" y="1696212"/>
            <a:ext cx="173736" cy="173736"/>
          </a:xfrm>
          <a:prstGeom prst="ellipse">
            <a:avLst/>
          </a:prstGeom>
          <a:solidFill>
            <a:srgbClr val="F5A742"/>
          </a:solidFill>
          <a:ln w="6350">
            <a:solidFill>
              <a:srgbClr val="B8730A"/>
            </a:solidFill>
            <a:prstDash val="solid"/>
          </a:ln>
        </p:spPr>
      </p:sp>
      <p:sp>
        <p:nvSpPr>
          <p:cNvPr id="69" name="Shape 67"/>
          <p:cNvSpPr/>
          <p:nvPr/>
        </p:nvSpPr>
        <p:spPr>
          <a:xfrm>
            <a:off x="3799332" y="1879092"/>
            <a:ext cx="173736" cy="173736"/>
          </a:xfrm>
          <a:prstGeom prst="ellipse">
            <a:avLst/>
          </a:prstGeom>
          <a:solidFill>
            <a:srgbClr val="C9B6E4"/>
          </a:solidFill>
          <a:ln w="6350">
            <a:solidFill>
              <a:srgbClr val="5A3590"/>
            </a:solidFill>
            <a:prstDash val="solid"/>
          </a:ln>
        </p:spPr>
      </p:sp>
      <p:sp>
        <p:nvSpPr>
          <p:cNvPr id="70" name="Shape 68"/>
          <p:cNvSpPr/>
          <p:nvPr/>
        </p:nvSpPr>
        <p:spPr>
          <a:xfrm>
            <a:off x="3799332" y="2061972"/>
            <a:ext cx="173736" cy="173736"/>
          </a:xfrm>
          <a:prstGeom prst="ellipse">
            <a:avLst/>
          </a:prstGeom>
          <a:solidFill>
            <a:srgbClr val="C9B6E4"/>
          </a:solidFill>
          <a:ln w="6350">
            <a:solidFill>
              <a:srgbClr val="5A3590"/>
            </a:solidFill>
            <a:prstDash val="solid"/>
          </a:ln>
        </p:spPr>
      </p:sp>
      <p:sp>
        <p:nvSpPr>
          <p:cNvPr id="71" name="Shape 69"/>
          <p:cNvSpPr/>
          <p:nvPr/>
        </p:nvSpPr>
        <p:spPr>
          <a:xfrm>
            <a:off x="3799332" y="2244852"/>
            <a:ext cx="173736" cy="173736"/>
          </a:xfrm>
          <a:prstGeom prst="ellipse">
            <a:avLst/>
          </a:prstGeom>
          <a:solidFill>
            <a:srgbClr val="C9B6E4"/>
          </a:solidFill>
          <a:ln w="6350">
            <a:solidFill>
              <a:srgbClr val="5A3590"/>
            </a:solidFill>
            <a:prstDash val="solid"/>
          </a:ln>
        </p:spPr>
      </p:sp>
      <p:sp>
        <p:nvSpPr>
          <p:cNvPr id="72" name="Shape 70"/>
          <p:cNvSpPr/>
          <p:nvPr/>
        </p:nvSpPr>
        <p:spPr>
          <a:xfrm>
            <a:off x="3799332" y="2427732"/>
            <a:ext cx="173736" cy="173736"/>
          </a:xfrm>
          <a:prstGeom prst="ellipse">
            <a:avLst/>
          </a:prstGeom>
          <a:solidFill>
            <a:srgbClr val="C9B6E4"/>
          </a:solidFill>
          <a:ln w="6350">
            <a:solidFill>
              <a:srgbClr val="5A3590"/>
            </a:solidFill>
            <a:prstDash val="solid"/>
          </a:ln>
        </p:spPr>
      </p:sp>
      <p:sp>
        <p:nvSpPr>
          <p:cNvPr id="73" name="Shape 71"/>
          <p:cNvSpPr/>
          <p:nvPr/>
        </p:nvSpPr>
        <p:spPr>
          <a:xfrm>
            <a:off x="3799332" y="2610612"/>
            <a:ext cx="173736" cy="173736"/>
          </a:xfrm>
          <a:prstGeom prst="ellipse">
            <a:avLst/>
          </a:prstGeom>
          <a:solidFill>
            <a:srgbClr val="C9B6E4"/>
          </a:solidFill>
          <a:ln w="6350">
            <a:solidFill>
              <a:srgbClr val="5A3590"/>
            </a:solidFill>
            <a:prstDash val="solid"/>
          </a:ln>
        </p:spPr>
      </p:sp>
      <p:sp>
        <p:nvSpPr>
          <p:cNvPr id="74" name="Shape 72"/>
          <p:cNvSpPr/>
          <p:nvPr/>
        </p:nvSpPr>
        <p:spPr>
          <a:xfrm>
            <a:off x="3799332" y="2793492"/>
            <a:ext cx="173736" cy="173736"/>
          </a:xfrm>
          <a:prstGeom prst="ellipse">
            <a:avLst/>
          </a:prstGeom>
          <a:solidFill>
            <a:srgbClr val="C9B6E4"/>
          </a:solidFill>
          <a:ln w="6350">
            <a:solidFill>
              <a:srgbClr val="5A3590"/>
            </a:solidFill>
            <a:prstDash val="solid"/>
          </a:ln>
        </p:spPr>
      </p:sp>
      <p:sp>
        <p:nvSpPr>
          <p:cNvPr id="75" name="Shape 73"/>
          <p:cNvSpPr/>
          <p:nvPr/>
        </p:nvSpPr>
        <p:spPr>
          <a:xfrm>
            <a:off x="3799332" y="2976372"/>
            <a:ext cx="173736" cy="173736"/>
          </a:xfrm>
          <a:prstGeom prst="ellipse">
            <a:avLst/>
          </a:prstGeom>
          <a:solidFill>
            <a:srgbClr val="C9B6E4"/>
          </a:solidFill>
          <a:ln w="6350">
            <a:solidFill>
              <a:srgbClr val="5A3590"/>
            </a:solidFill>
            <a:prstDash val="solid"/>
          </a:ln>
        </p:spPr>
      </p:sp>
      <p:sp>
        <p:nvSpPr>
          <p:cNvPr id="76" name="Shape 74"/>
          <p:cNvSpPr/>
          <p:nvPr/>
        </p:nvSpPr>
        <p:spPr>
          <a:xfrm>
            <a:off x="3799332" y="3159252"/>
            <a:ext cx="173736" cy="173736"/>
          </a:xfrm>
          <a:prstGeom prst="ellipse">
            <a:avLst/>
          </a:prstGeom>
          <a:solidFill>
            <a:srgbClr val="C9B6E4"/>
          </a:solidFill>
          <a:ln w="6350">
            <a:solidFill>
              <a:srgbClr val="5A3590"/>
            </a:solidFill>
            <a:prstDash val="solid"/>
          </a:ln>
        </p:spPr>
      </p:sp>
      <p:sp>
        <p:nvSpPr>
          <p:cNvPr id="77" name="Shape 75"/>
          <p:cNvSpPr/>
          <p:nvPr/>
        </p:nvSpPr>
        <p:spPr>
          <a:xfrm>
            <a:off x="3799332" y="3342132"/>
            <a:ext cx="173736" cy="173736"/>
          </a:xfrm>
          <a:prstGeom prst="ellipse">
            <a:avLst/>
          </a:prstGeom>
          <a:solidFill>
            <a:srgbClr val="F5A742"/>
          </a:solidFill>
          <a:ln w="6350">
            <a:solidFill>
              <a:srgbClr val="B8730A"/>
            </a:solidFill>
            <a:prstDash val="solid"/>
          </a:ln>
        </p:spPr>
      </p:sp>
      <p:sp>
        <p:nvSpPr>
          <p:cNvPr id="78" name="Shape 76"/>
          <p:cNvSpPr/>
          <p:nvPr/>
        </p:nvSpPr>
        <p:spPr>
          <a:xfrm>
            <a:off x="3982212" y="1696212"/>
            <a:ext cx="173736" cy="173736"/>
          </a:xfrm>
          <a:prstGeom prst="ellipse">
            <a:avLst/>
          </a:prstGeom>
          <a:solidFill>
            <a:srgbClr val="F5A742"/>
          </a:solidFill>
          <a:ln w="6350">
            <a:solidFill>
              <a:srgbClr val="B8730A"/>
            </a:solidFill>
            <a:prstDash val="solid"/>
          </a:ln>
        </p:spPr>
      </p:sp>
      <p:sp>
        <p:nvSpPr>
          <p:cNvPr id="79" name="Shape 77"/>
          <p:cNvSpPr/>
          <p:nvPr/>
        </p:nvSpPr>
        <p:spPr>
          <a:xfrm>
            <a:off x="3982212" y="1879092"/>
            <a:ext cx="173736" cy="173736"/>
          </a:xfrm>
          <a:prstGeom prst="ellipse">
            <a:avLst/>
          </a:prstGeom>
          <a:solidFill>
            <a:srgbClr val="C9B6E4"/>
          </a:solidFill>
          <a:ln w="6350">
            <a:solidFill>
              <a:srgbClr val="5A3590"/>
            </a:solidFill>
            <a:prstDash val="solid"/>
          </a:ln>
        </p:spPr>
      </p:sp>
      <p:sp>
        <p:nvSpPr>
          <p:cNvPr id="80" name="Shape 78"/>
          <p:cNvSpPr/>
          <p:nvPr/>
        </p:nvSpPr>
        <p:spPr>
          <a:xfrm>
            <a:off x="3982212" y="2061972"/>
            <a:ext cx="173736" cy="173736"/>
          </a:xfrm>
          <a:prstGeom prst="ellipse">
            <a:avLst/>
          </a:prstGeom>
          <a:solidFill>
            <a:srgbClr val="C9B6E4"/>
          </a:solidFill>
          <a:ln w="6350">
            <a:solidFill>
              <a:srgbClr val="5A3590"/>
            </a:solidFill>
            <a:prstDash val="solid"/>
          </a:ln>
        </p:spPr>
      </p:sp>
      <p:sp>
        <p:nvSpPr>
          <p:cNvPr id="81" name="Shape 79"/>
          <p:cNvSpPr/>
          <p:nvPr/>
        </p:nvSpPr>
        <p:spPr>
          <a:xfrm>
            <a:off x="3982212" y="2244852"/>
            <a:ext cx="173736" cy="173736"/>
          </a:xfrm>
          <a:prstGeom prst="ellipse">
            <a:avLst/>
          </a:prstGeom>
          <a:solidFill>
            <a:srgbClr val="C9B6E4"/>
          </a:solidFill>
          <a:ln w="6350">
            <a:solidFill>
              <a:srgbClr val="5A3590"/>
            </a:solidFill>
            <a:prstDash val="solid"/>
          </a:ln>
        </p:spPr>
      </p:sp>
      <p:sp>
        <p:nvSpPr>
          <p:cNvPr id="82" name="Shape 80"/>
          <p:cNvSpPr/>
          <p:nvPr/>
        </p:nvSpPr>
        <p:spPr>
          <a:xfrm>
            <a:off x="3982212" y="2427732"/>
            <a:ext cx="173736" cy="173736"/>
          </a:xfrm>
          <a:prstGeom prst="ellipse">
            <a:avLst/>
          </a:prstGeom>
          <a:solidFill>
            <a:srgbClr val="C9B6E4"/>
          </a:solidFill>
          <a:ln w="6350">
            <a:solidFill>
              <a:srgbClr val="5A3590"/>
            </a:solidFill>
            <a:prstDash val="solid"/>
          </a:ln>
        </p:spPr>
      </p:sp>
      <p:sp>
        <p:nvSpPr>
          <p:cNvPr id="83" name="Shape 81"/>
          <p:cNvSpPr/>
          <p:nvPr/>
        </p:nvSpPr>
        <p:spPr>
          <a:xfrm>
            <a:off x="3982212" y="2610612"/>
            <a:ext cx="173736" cy="173736"/>
          </a:xfrm>
          <a:prstGeom prst="ellipse">
            <a:avLst/>
          </a:prstGeom>
          <a:solidFill>
            <a:srgbClr val="C9B6E4"/>
          </a:solidFill>
          <a:ln w="6350">
            <a:solidFill>
              <a:srgbClr val="5A3590"/>
            </a:solidFill>
            <a:prstDash val="solid"/>
          </a:ln>
        </p:spPr>
      </p:sp>
      <p:sp>
        <p:nvSpPr>
          <p:cNvPr id="84" name="Shape 82"/>
          <p:cNvSpPr/>
          <p:nvPr/>
        </p:nvSpPr>
        <p:spPr>
          <a:xfrm>
            <a:off x="3982212" y="2793492"/>
            <a:ext cx="173736" cy="173736"/>
          </a:xfrm>
          <a:prstGeom prst="ellipse">
            <a:avLst/>
          </a:prstGeom>
          <a:solidFill>
            <a:srgbClr val="C9B6E4"/>
          </a:solidFill>
          <a:ln w="6350">
            <a:solidFill>
              <a:srgbClr val="5A3590"/>
            </a:solidFill>
            <a:prstDash val="solid"/>
          </a:ln>
        </p:spPr>
      </p:sp>
      <p:sp>
        <p:nvSpPr>
          <p:cNvPr id="85" name="Shape 83"/>
          <p:cNvSpPr/>
          <p:nvPr/>
        </p:nvSpPr>
        <p:spPr>
          <a:xfrm>
            <a:off x="3982212" y="2976372"/>
            <a:ext cx="173736" cy="173736"/>
          </a:xfrm>
          <a:prstGeom prst="ellipse">
            <a:avLst/>
          </a:prstGeom>
          <a:solidFill>
            <a:srgbClr val="C9B6E4"/>
          </a:solidFill>
          <a:ln w="6350">
            <a:solidFill>
              <a:srgbClr val="5A3590"/>
            </a:solidFill>
            <a:prstDash val="solid"/>
          </a:ln>
        </p:spPr>
      </p:sp>
      <p:sp>
        <p:nvSpPr>
          <p:cNvPr id="86" name="Shape 84"/>
          <p:cNvSpPr/>
          <p:nvPr/>
        </p:nvSpPr>
        <p:spPr>
          <a:xfrm>
            <a:off x="3982212" y="3159252"/>
            <a:ext cx="173736" cy="173736"/>
          </a:xfrm>
          <a:prstGeom prst="ellipse">
            <a:avLst/>
          </a:prstGeom>
          <a:solidFill>
            <a:srgbClr val="C9B6E4"/>
          </a:solidFill>
          <a:ln w="6350">
            <a:solidFill>
              <a:srgbClr val="5A3590"/>
            </a:solidFill>
            <a:prstDash val="solid"/>
          </a:ln>
        </p:spPr>
      </p:sp>
      <p:sp>
        <p:nvSpPr>
          <p:cNvPr id="87" name="Shape 85"/>
          <p:cNvSpPr/>
          <p:nvPr/>
        </p:nvSpPr>
        <p:spPr>
          <a:xfrm>
            <a:off x="3982212" y="3342132"/>
            <a:ext cx="173736" cy="173736"/>
          </a:xfrm>
          <a:prstGeom prst="ellipse">
            <a:avLst/>
          </a:prstGeom>
          <a:solidFill>
            <a:srgbClr val="F5A742"/>
          </a:solidFill>
          <a:ln w="6350">
            <a:solidFill>
              <a:srgbClr val="B8730A"/>
            </a:solidFill>
            <a:prstDash val="solid"/>
          </a:ln>
        </p:spPr>
      </p:sp>
      <p:sp>
        <p:nvSpPr>
          <p:cNvPr id="88" name="Shape 86"/>
          <p:cNvSpPr/>
          <p:nvPr/>
        </p:nvSpPr>
        <p:spPr>
          <a:xfrm>
            <a:off x="4165092" y="1696212"/>
            <a:ext cx="173736" cy="173736"/>
          </a:xfrm>
          <a:prstGeom prst="ellipse">
            <a:avLst/>
          </a:prstGeom>
          <a:solidFill>
            <a:srgbClr val="F5A742"/>
          </a:solidFill>
          <a:ln w="6350">
            <a:solidFill>
              <a:srgbClr val="B8730A"/>
            </a:solidFill>
            <a:prstDash val="solid"/>
          </a:ln>
        </p:spPr>
      </p:sp>
      <p:sp>
        <p:nvSpPr>
          <p:cNvPr id="89" name="Shape 87"/>
          <p:cNvSpPr/>
          <p:nvPr/>
        </p:nvSpPr>
        <p:spPr>
          <a:xfrm>
            <a:off x="4165092" y="1879092"/>
            <a:ext cx="173736" cy="173736"/>
          </a:xfrm>
          <a:prstGeom prst="ellipse">
            <a:avLst/>
          </a:prstGeom>
          <a:solidFill>
            <a:srgbClr val="C9B6E4"/>
          </a:solidFill>
          <a:ln w="6350">
            <a:solidFill>
              <a:srgbClr val="5A3590"/>
            </a:solidFill>
            <a:prstDash val="solid"/>
          </a:ln>
        </p:spPr>
      </p:sp>
      <p:sp>
        <p:nvSpPr>
          <p:cNvPr id="90" name="Shape 88"/>
          <p:cNvSpPr/>
          <p:nvPr/>
        </p:nvSpPr>
        <p:spPr>
          <a:xfrm>
            <a:off x="4165092" y="2061972"/>
            <a:ext cx="173736" cy="173736"/>
          </a:xfrm>
          <a:prstGeom prst="ellipse">
            <a:avLst/>
          </a:prstGeom>
          <a:solidFill>
            <a:srgbClr val="C9B6E4"/>
          </a:solidFill>
          <a:ln w="6350">
            <a:solidFill>
              <a:srgbClr val="5A3590"/>
            </a:solidFill>
            <a:prstDash val="solid"/>
          </a:ln>
        </p:spPr>
      </p:sp>
      <p:sp>
        <p:nvSpPr>
          <p:cNvPr id="91" name="Shape 89"/>
          <p:cNvSpPr/>
          <p:nvPr/>
        </p:nvSpPr>
        <p:spPr>
          <a:xfrm>
            <a:off x="4165092" y="2244852"/>
            <a:ext cx="173736" cy="173736"/>
          </a:xfrm>
          <a:prstGeom prst="ellipse">
            <a:avLst/>
          </a:prstGeom>
          <a:solidFill>
            <a:srgbClr val="C9B6E4"/>
          </a:solidFill>
          <a:ln w="6350">
            <a:solidFill>
              <a:srgbClr val="5A3590"/>
            </a:solidFill>
            <a:prstDash val="solid"/>
          </a:ln>
        </p:spPr>
      </p:sp>
      <p:sp>
        <p:nvSpPr>
          <p:cNvPr id="92" name="Shape 90"/>
          <p:cNvSpPr/>
          <p:nvPr/>
        </p:nvSpPr>
        <p:spPr>
          <a:xfrm>
            <a:off x="4165092" y="2427732"/>
            <a:ext cx="173736" cy="173736"/>
          </a:xfrm>
          <a:prstGeom prst="ellipse">
            <a:avLst/>
          </a:prstGeom>
          <a:solidFill>
            <a:srgbClr val="C9B6E4"/>
          </a:solidFill>
          <a:ln w="6350">
            <a:solidFill>
              <a:srgbClr val="5A3590"/>
            </a:solidFill>
            <a:prstDash val="solid"/>
          </a:ln>
        </p:spPr>
      </p:sp>
      <p:sp>
        <p:nvSpPr>
          <p:cNvPr id="93" name="Shape 91"/>
          <p:cNvSpPr/>
          <p:nvPr/>
        </p:nvSpPr>
        <p:spPr>
          <a:xfrm>
            <a:off x="4165092" y="2610612"/>
            <a:ext cx="173736" cy="173736"/>
          </a:xfrm>
          <a:prstGeom prst="ellipse">
            <a:avLst/>
          </a:prstGeom>
          <a:solidFill>
            <a:srgbClr val="C9B6E4"/>
          </a:solidFill>
          <a:ln w="6350">
            <a:solidFill>
              <a:srgbClr val="5A3590"/>
            </a:solidFill>
            <a:prstDash val="solid"/>
          </a:ln>
        </p:spPr>
      </p:sp>
      <p:sp>
        <p:nvSpPr>
          <p:cNvPr id="94" name="Shape 92"/>
          <p:cNvSpPr/>
          <p:nvPr/>
        </p:nvSpPr>
        <p:spPr>
          <a:xfrm>
            <a:off x="4165092" y="2793492"/>
            <a:ext cx="173736" cy="173736"/>
          </a:xfrm>
          <a:prstGeom prst="ellipse">
            <a:avLst/>
          </a:prstGeom>
          <a:solidFill>
            <a:srgbClr val="C9B6E4"/>
          </a:solidFill>
          <a:ln w="6350">
            <a:solidFill>
              <a:srgbClr val="5A3590"/>
            </a:solidFill>
            <a:prstDash val="solid"/>
          </a:ln>
        </p:spPr>
      </p:sp>
      <p:sp>
        <p:nvSpPr>
          <p:cNvPr id="95" name="Shape 93"/>
          <p:cNvSpPr/>
          <p:nvPr/>
        </p:nvSpPr>
        <p:spPr>
          <a:xfrm>
            <a:off x="4165092" y="2976372"/>
            <a:ext cx="173736" cy="173736"/>
          </a:xfrm>
          <a:prstGeom prst="ellipse">
            <a:avLst/>
          </a:prstGeom>
          <a:solidFill>
            <a:srgbClr val="C9B6E4"/>
          </a:solidFill>
          <a:ln w="6350">
            <a:solidFill>
              <a:srgbClr val="5A3590"/>
            </a:solidFill>
            <a:prstDash val="solid"/>
          </a:ln>
        </p:spPr>
      </p:sp>
      <p:sp>
        <p:nvSpPr>
          <p:cNvPr id="96" name="Shape 94"/>
          <p:cNvSpPr/>
          <p:nvPr/>
        </p:nvSpPr>
        <p:spPr>
          <a:xfrm>
            <a:off x="4165092" y="3159252"/>
            <a:ext cx="173736" cy="173736"/>
          </a:xfrm>
          <a:prstGeom prst="ellipse">
            <a:avLst/>
          </a:prstGeom>
          <a:solidFill>
            <a:srgbClr val="C9B6E4"/>
          </a:solidFill>
          <a:ln w="6350">
            <a:solidFill>
              <a:srgbClr val="5A3590"/>
            </a:solidFill>
            <a:prstDash val="solid"/>
          </a:ln>
        </p:spPr>
      </p:sp>
      <p:sp>
        <p:nvSpPr>
          <p:cNvPr id="97" name="Shape 95"/>
          <p:cNvSpPr/>
          <p:nvPr/>
        </p:nvSpPr>
        <p:spPr>
          <a:xfrm>
            <a:off x="4165092" y="3342132"/>
            <a:ext cx="173736" cy="173736"/>
          </a:xfrm>
          <a:prstGeom prst="ellipse">
            <a:avLst/>
          </a:prstGeom>
          <a:solidFill>
            <a:srgbClr val="F5A742"/>
          </a:solidFill>
          <a:ln w="6350">
            <a:solidFill>
              <a:srgbClr val="B8730A"/>
            </a:solidFill>
            <a:prstDash val="solid"/>
          </a:ln>
        </p:spPr>
      </p:sp>
      <p:sp>
        <p:nvSpPr>
          <p:cNvPr id="98" name="Shape 96"/>
          <p:cNvSpPr/>
          <p:nvPr/>
        </p:nvSpPr>
        <p:spPr>
          <a:xfrm>
            <a:off x="4347972" y="1696212"/>
            <a:ext cx="173736" cy="173736"/>
          </a:xfrm>
          <a:prstGeom prst="ellipse">
            <a:avLst/>
          </a:prstGeom>
          <a:solidFill>
            <a:srgbClr val="F5A742"/>
          </a:solidFill>
          <a:ln w="6350">
            <a:solidFill>
              <a:srgbClr val="B8730A"/>
            </a:solidFill>
            <a:prstDash val="solid"/>
          </a:ln>
        </p:spPr>
      </p:sp>
      <p:sp>
        <p:nvSpPr>
          <p:cNvPr id="99" name="Shape 97"/>
          <p:cNvSpPr/>
          <p:nvPr/>
        </p:nvSpPr>
        <p:spPr>
          <a:xfrm>
            <a:off x="4347972" y="1879092"/>
            <a:ext cx="173736" cy="173736"/>
          </a:xfrm>
          <a:prstGeom prst="ellipse">
            <a:avLst/>
          </a:prstGeom>
          <a:solidFill>
            <a:srgbClr val="C9B6E4"/>
          </a:solidFill>
          <a:ln w="6350">
            <a:solidFill>
              <a:srgbClr val="5A3590"/>
            </a:solidFill>
            <a:prstDash val="solid"/>
          </a:ln>
        </p:spPr>
      </p:sp>
      <p:sp>
        <p:nvSpPr>
          <p:cNvPr id="100" name="Shape 98"/>
          <p:cNvSpPr/>
          <p:nvPr/>
        </p:nvSpPr>
        <p:spPr>
          <a:xfrm>
            <a:off x="4347972" y="2061972"/>
            <a:ext cx="173736" cy="173736"/>
          </a:xfrm>
          <a:prstGeom prst="ellipse">
            <a:avLst/>
          </a:prstGeom>
          <a:solidFill>
            <a:srgbClr val="C9B6E4"/>
          </a:solidFill>
          <a:ln w="6350">
            <a:solidFill>
              <a:srgbClr val="5A3590"/>
            </a:solidFill>
            <a:prstDash val="solid"/>
          </a:ln>
        </p:spPr>
      </p:sp>
      <p:sp>
        <p:nvSpPr>
          <p:cNvPr id="101" name="Shape 99"/>
          <p:cNvSpPr/>
          <p:nvPr/>
        </p:nvSpPr>
        <p:spPr>
          <a:xfrm>
            <a:off x="4347972" y="2244852"/>
            <a:ext cx="173736" cy="173736"/>
          </a:xfrm>
          <a:prstGeom prst="ellipse">
            <a:avLst/>
          </a:prstGeom>
          <a:solidFill>
            <a:srgbClr val="C9B6E4"/>
          </a:solidFill>
          <a:ln w="6350">
            <a:solidFill>
              <a:srgbClr val="5A3590"/>
            </a:solidFill>
            <a:prstDash val="solid"/>
          </a:ln>
        </p:spPr>
      </p:sp>
      <p:sp>
        <p:nvSpPr>
          <p:cNvPr id="102" name="Shape 100"/>
          <p:cNvSpPr/>
          <p:nvPr/>
        </p:nvSpPr>
        <p:spPr>
          <a:xfrm>
            <a:off x="4347972" y="2427732"/>
            <a:ext cx="173736" cy="173736"/>
          </a:xfrm>
          <a:prstGeom prst="ellipse">
            <a:avLst/>
          </a:prstGeom>
          <a:solidFill>
            <a:srgbClr val="C9B6E4"/>
          </a:solidFill>
          <a:ln w="6350">
            <a:solidFill>
              <a:srgbClr val="5A3590"/>
            </a:solidFill>
            <a:prstDash val="solid"/>
          </a:ln>
        </p:spPr>
      </p:sp>
      <p:sp>
        <p:nvSpPr>
          <p:cNvPr id="103" name="Shape 101"/>
          <p:cNvSpPr/>
          <p:nvPr/>
        </p:nvSpPr>
        <p:spPr>
          <a:xfrm>
            <a:off x="4347972" y="2610612"/>
            <a:ext cx="173736" cy="173736"/>
          </a:xfrm>
          <a:prstGeom prst="ellipse">
            <a:avLst/>
          </a:prstGeom>
          <a:solidFill>
            <a:srgbClr val="C9B6E4"/>
          </a:solidFill>
          <a:ln w="6350">
            <a:solidFill>
              <a:srgbClr val="5A3590"/>
            </a:solidFill>
            <a:prstDash val="solid"/>
          </a:ln>
        </p:spPr>
      </p:sp>
      <p:sp>
        <p:nvSpPr>
          <p:cNvPr id="104" name="Shape 102"/>
          <p:cNvSpPr/>
          <p:nvPr/>
        </p:nvSpPr>
        <p:spPr>
          <a:xfrm>
            <a:off x="4347972" y="2793492"/>
            <a:ext cx="173736" cy="173736"/>
          </a:xfrm>
          <a:prstGeom prst="ellipse">
            <a:avLst/>
          </a:prstGeom>
          <a:solidFill>
            <a:srgbClr val="C9B6E4"/>
          </a:solidFill>
          <a:ln w="6350">
            <a:solidFill>
              <a:srgbClr val="5A3590"/>
            </a:solidFill>
            <a:prstDash val="solid"/>
          </a:ln>
        </p:spPr>
      </p:sp>
      <p:sp>
        <p:nvSpPr>
          <p:cNvPr id="105" name="Shape 103"/>
          <p:cNvSpPr/>
          <p:nvPr/>
        </p:nvSpPr>
        <p:spPr>
          <a:xfrm>
            <a:off x="4347972" y="2976372"/>
            <a:ext cx="173736" cy="173736"/>
          </a:xfrm>
          <a:prstGeom prst="ellipse">
            <a:avLst/>
          </a:prstGeom>
          <a:solidFill>
            <a:srgbClr val="C9B6E4"/>
          </a:solidFill>
          <a:ln w="6350">
            <a:solidFill>
              <a:srgbClr val="5A3590"/>
            </a:solidFill>
            <a:prstDash val="solid"/>
          </a:ln>
        </p:spPr>
      </p:sp>
      <p:sp>
        <p:nvSpPr>
          <p:cNvPr id="106" name="Shape 104"/>
          <p:cNvSpPr/>
          <p:nvPr/>
        </p:nvSpPr>
        <p:spPr>
          <a:xfrm>
            <a:off x="4347972" y="3159252"/>
            <a:ext cx="173736" cy="173736"/>
          </a:xfrm>
          <a:prstGeom prst="ellipse">
            <a:avLst/>
          </a:prstGeom>
          <a:solidFill>
            <a:srgbClr val="C9B6E4"/>
          </a:solidFill>
          <a:ln w="6350">
            <a:solidFill>
              <a:srgbClr val="5A3590"/>
            </a:solidFill>
            <a:prstDash val="solid"/>
          </a:ln>
        </p:spPr>
      </p:sp>
      <p:sp>
        <p:nvSpPr>
          <p:cNvPr id="107" name="Shape 105"/>
          <p:cNvSpPr/>
          <p:nvPr/>
        </p:nvSpPr>
        <p:spPr>
          <a:xfrm>
            <a:off x="4347972" y="3342132"/>
            <a:ext cx="173736" cy="173736"/>
          </a:xfrm>
          <a:prstGeom prst="ellipse">
            <a:avLst/>
          </a:prstGeom>
          <a:solidFill>
            <a:srgbClr val="F5A742"/>
          </a:solidFill>
          <a:ln w="6350">
            <a:solidFill>
              <a:srgbClr val="B8730A"/>
            </a:solidFill>
            <a:prstDash val="solid"/>
          </a:ln>
        </p:spPr>
      </p:sp>
      <p:sp>
        <p:nvSpPr>
          <p:cNvPr id="108" name="Shape 106"/>
          <p:cNvSpPr/>
          <p:nvPr/>
        </p:nvSpPr>
        <p:spPr>
          <a:xfrm>
            <a:off x="4530852" y="1696212"/>
            <a:ext cx="173736" cy="173736"/>
          </a:xfrm>
          <a:prstGeom prst="ellipse">
            <a:avLst/>
          </a:prstGeom>
          <a:solidFill>
            <a:srgbClr val="F5A742"/>
          </a:solidFill>
          <a:ln w="6350">
            <a:solidFill>
              <a:srgbClr val="B8730A"/>
            </a:solidFill>
            <a:prstDash val="solid"/>
          </a:ln>
        </p:spPr>
      </p:sp>
      <p:sp>
        <p:nvSpPr>
          <p:cNvPr id="109" name="Shape 107"/>
          <p:cNvSpPr/>
          <p:nvPr/>
        </p:nvSpPr>
        <p:spPr>
          <a:xfrm>
            <a:off x="4530852" y="1879092"/>
            <a:ext cx="173736" cy="173736"/>
          </a:xfrm>
          <a:prstGeom prst="ellipse">
            <a:avLst/>
          </a:prstGeom>
          <a:solidFill>
            <a:srgbClr val="C9B6E4"/>
          </a:solidFill>
          <a:ln w="6350">
            <a:solidFill>
              <a:srgbClr val="5A3590"/>
            </a:solidFill>
            <a:prstDash val="solid"/>
          </a:ln>
        </p:spPr>
      </p:sp>
      <p:sp>
        <p:nvSpPr>
          <p:cNvPr id="110" name="Shape 108"/>
          <p:cNvSpPr/>
          <p:nvPr/>
        </p:nvSpPr>
        <p:spPr>
          <a:xfrm>
            <a:off x="4530852" y="2061972"/>
            <a:ext cx="173736" cy="173736"/>
          </a:xfrm>
          <a:prstGeom prst="ellipse">
            <a:avLst/>
          </a:prstGeom>
          <a:solidFill>
            <a:srgbClr val="C9B6E4"/>
          </a:solidFill>
          <a:ln w="6350">
            <a:solidFill>
              <a:srgbClr val="5A3590"/>
            </a:solidFill>
            <a:prstDash val="solid"/>
          </a:ln>
        </p:spPr>
      </p:sp>
      <p:sp>
        <p:nvSpPr>
          <p:cNvPr id="111" name="Shape 109"/>
          <p:cNvSpPr/>
          <p:nvPr/>
        </p:nvSpPr>
        <p:spPr>
          <a:xfrm>
            <a:off x="4530852" y="2244852"/>
            <a:ext cx="173736" cy="173736"/>
          </a:xfrm>
          <a:prstGeom prst="ellipse">
            <a:avLst/>
          </a:prstGeom>
          <a:solidFill>
            <a:srgbClr val="C9B6E4"/>
          </a:solidFill>
          <a:ln w="6350">
            <a:solidFill>
              <a:srgbClr val="5A3590"/>
            </a:solidFill>
            <a:prstDash val="solid"/>
          </a:ln>
        </p:spPr>
      </p:sp>
      <p:sp>
        <p:nvSpPr>
          <p:cNvPr id="112" name="Shape 110"/>
          <p:cNvSpPr/>
          <p:nvPr/>
        </p:nvSpPr>
        <p:spPr>
          <a:xfrm>
            <a:off x="4530852" y="2427732"/>
            <a:ext cx="173736" cy="173736"/>
          </a:xfrm>
          <a:prstGeom prst="ellipse">
            <a:avLst/>
          </a:prstGeom>
          <a:solidFill>
            <a:srgbClr val="C9B6E4"/>
          </a:solidFill>
          <a:ln w="6350">
            <a:solidFill>
              <a:srgbClr val="5A3590"/>
            </a:solidFill>
            <a:prstDash val="solid"/>
          </a:ln>
        </p:spPr>
      </p:sp>
      <p:sp>
        <p:nvSpPr>
          <p:cNvPr id="113" name="Shape 111"/>
          <p:cNvSpPr/>
          <p:nvPr/>
        </p:nvSpPr>
        <p:spPr>
          <a:xfrm>
            <a:off x="4530852" y="2610612"/>
            <a:ext cx="173736" cy="173736"/>
          </a:xfrm>
          <a:prstGeom prst="ellipse">
            <a:avLst/>
          </a:prstGeom>
          <a:solidFill>
            <a:srgbClr val="C9B6E4"/>
          </a:solidFill>
          <a:ln w="6350">
            <a:solidFill>
              <a:srgbClr val="5A3590"/>
            </a:solidFill>
            <a:prstDash val="solid"/>
          </a:ln>
        </p:spPr>
      </p:sp>
      <p:sp>
        <p:nvSpPr>
          <p:cNvPr id="114" name="Shape 112"/>
          <p:cNvSpPr/>
          <p:nvPr/>
        </p:nvSpPr>
        <p:spPr>
          <a:xfrm>
            <a:off x="4530852" y="2793492"/>
            <a:ext cx="173736" cy="173736"/>
          </a:xfrm>
          <a:prstGeom prst="ellipse">
            <a:avLst/>
          </a:prstGeom>
          <a:solidFill>
            <a:srgbClr val="C9B6E4"/>
          </a:solidFill>
          <a:ln w="6350">
            <a:solidFill>
              <a:srgbClr val="5A3590"/>
            </a:solidFill>
            <a:prstDash val="solid"/>
          </a:ln>
        </p:spPr>
      </p:sp>
      <p:sp>
        <p:nvSpPr>
          <p:cNvPr id="115" name="Shape 113"/>
          <p:cNvSpPr/>
          <p:nvPr/>
        </p:nvSpPr>
        <p:spPr>
          <a:xfrm>
            <a:off x="4530852" y="2976372"/>
            <a:ext cx="173736" cy="173736"/>
          </a:xfrm>
          <a:prstGeom prst="ellipse">
            <a:avLst/>
          </a:prstGeom>
          <a:solidFill>
            <a:srgbClr val="C9B6E4"/>
          </a:solidFill>
          <a:ln w="6350">
            <a:solidFill>
              <a:srgbClr val="5A3590"/>
            </a:solidFill>
            <a:prstDash val="solid"/>
          </a:ln>
        </p:spPr>
      </p:sp>
      <p:sp>
        <p:nvSpPr>
          <p:cNvPr id="116" name="Shape 114"/>
          <p:cNvSpPr/>
          <p:nvPr/>
        </p:nvSpPr>
        <p:spPr>
          <a:xfrm>
            <a:off x="4530852" y="3159252"/>
            <a:ext cx="173736" cy="173736"/>
          </a:xfrm>
          <a:prstGeom prst="ellipse">
            <a:avLst/>
          </a:prstGeom>
          <a:solidFill>
            <a:srgbClr val="C9B6E4"/>
          </a:solidFill>
          <a:ln w="6350">
            <a:solidFill>
              <a:srgbClr val="5A3590"/>
            </a:solidFill>
            <a:prstDash val="solid"/>
          </a:ln>
        </p:spPr>
      </p:sp>
      <p:sp>
        <p:nvSpPr>
          <p:cNvPr id="117" name="Shape 115"/>
          <p:cNvSpPr/>
          <p:nvPr/>
        </p:nvSpPr>
        <p:spPr>
          <a:xfrm>
            <a:off x="4530852" y="3342132"/>
            <a:ext cx="173736" cy="173736"/>
          </a:xfrm>
          <a:prstGeom prst="ellipse">
            <a:avLst/>
          </a:prstGeom>
          <a:solidFill>
            <a:srgbClr val="F5A742"/>
          </a:solidFill>
          <a:ln w="6350">
            <a:solidFill>
              <a:srgbClr val="B8730A"/>
            </a:solidFill>
            <a:prstDash val="solid"/>
          </a:ln>
        </p:spPr>
      </p:sp>
      <p:sp>
        <p:nvSpPr>
          <p:cNvPr id="118" name="Shape 116"/>
          <p:cNvSpPr/>
          <p:nvPr/>
        </p:nvSpPr>
        <p:spPr>
          <a:xfrm>
            <a:off x="4713732" y="1696212"/>
            <a:ext cx="173736" cy="173736"/>
          </a:xfrm>
          <a:prstGeom prst="ellipse">
            <a:avLst/>
          </a:prstGeom>
          <a:solidFill>
            <a:srgbClr val="F5A742"/>
          </a:solidFill>
          <a:ln w="6350">
            <a:solidFill>
              <a:srgbClr val="B8730A"/>
            </a:solidFill>
            <a:prstDash val="solid"/>
          </a:ln>
        </p:spPr>
      </p:sp>
      <p:sp>
        <p:nvSpPr>
          <p:cNvPr id="119" name="Shape 117"/>
          <p:cNvSpPr/>
          <p:nvPr/>
        </p:nvSpPr>
        <p:spPr>
          <a:xfrm>
            <a:off x="4713732" y="1879092"/>
            <a:ext cx="173736" cy="173736"/>
          </a:xfrm>
          <a:prstGeom prst="ellipse">
            <a:avLst/>
          </a:prstGeom>
          <a:solidFill>
            <a:srgbClr val="F5A742"/>
          </a:solidFill>
          <a:ln w="6350">
            <a:solidFill>
              <a:srgbClr val="B8730A"/>
            </a:solidFill>
            <a:prstDash val="solid"/>
          </a:ln>
        </p:spPr>
      </p:sp>
      <p:sp>
        <p:nvSpPr>
          <p:cNvPr id="120" name="Shape 118"/>
          <p:cNvSpPr/>
          <p:nvPr/>
        </p:nvSpPr>
        <p:spPr>
          <a:xfrm>
            <a:off x="4713732" y="2061972"/>
            <a:ext cx="173736" cy="173736"/>
          </a:xfrm>
          <a:prstGeom prst="ellipse">
            <a:avLst/>
          </a:prstGeom>
          <a:solidFill>
            <a:srgbClr val="F5A742"/>
          </a:solidFill>
          <a:ln w="6350">
            <a:solidFill>
              <a:srgbClr val="B8730A"/>
            </a:solidFill>
            <a:prstDash val="solid"/>
          </a:ln>
        </p:spPr>
      </p:sp>
      <p:sp>
        <p:nvSpPr>
          <p:cNvPr id="121" name="Shape 119"/>
          <p:cNvSpPr/>
          <p:nvPr/>
        </p:nvSpPr>
        <p:spPr>
          <a:xfrm>
            <a:off x="4713732" y="2244852"/>
            <a:ext cx="173736" cy="173736"/>
          </a:xfrm>
          <a:prstGeom prst="ellipse">
            <a:avLst/>
          </a:prstGeom>
          <a:solidFill>
            <a:srgbClr val="F5A742"/>
          </a:solidFill>
          <a:ln w="6350">
            <a:solidFill>
              <a:srgbClr val="B8730A"/>
            </a:solidFill>
            <a:prstDash val="solid"/>
          </a:ln>
        </p:spPr>
      </p:sp>
      <p:sp>
        <p:nvSpPr>
          <p:cNvPr id="122" name="Shape 120"/>
          <p:cNvSpPr/>
          <p:nvPr/>
        </p:nvSpPr>
        <p:spPr>
          <a:xfrm>
            <a:off x="4713732" y="2427732"/>
            <a:ext cx="173736" cy="173736"/>
          </a:xfrm>
          <a:prstGeom prst="ellipse">
            <a:avLst/>
          </a:prstGeom>
          <a:solidFill>
            <a:srgbClr val="F5A742"/>
          </a:solidFill>
          <a:ln w="6350">
            <a:solidFill>
              <a:srgbClr val="B8730A"/>
            </a:solidFill>
            <a:prstDash val="solid"/>
          </a:ln>
        </p:spPr>
      </p:sp>
      <p:sp>
        <p:nvSpPr>
          <p:cNvPr id="123" name="Shape 121"/>
          <p:cNvSpPr/>
          <p:nvPr/>
        </p:nvSpPr>
        <p:spPr>
          <a:xfrm>
            <a:off x="4713732" y="2610612"/>
            <a:ext cx="173736" cy="173736"/>
          </a:xfrm>
          <a:prstGeom prst="ellipse">
            <a:avLst/>
          </a:prstGeom>
          <a:solidFill>
            <a:srgbClr val="F5A742"/>
          </a:solidFill>
          <a:ln w="6350">
            <a:solidFill>
              <a:srgbClr val="B8730A"/>
            </a:solidFill>
            <a:prstDash val="solid"/>
          </a:ln>
        </p:spPr>
      </p:sp>
      <p:sp>
        <p:nvSpPr>
          <p:cNvPr id="124" name="Shape 122"/>
          <p:cNvSpPr/>
          <p:nvPr/>
        </p:nvSpPr>
        <p:spPr>
          <a:xfrm>
            <a:off x="4713732" y="2793492"/>
            <a:ext cx="173736" cy="173736"/>
          </a:xfrm>
          <a:prstGeom prst="ellipse">
            <a:avLst/>
          </a:prstGeom>
          <a:solidFill>
            <a:srgbClr val="F5A742"/>
          </a:solidFill>
          <a:ln w="6350">
            <a:solidFill>
              <a:srgbClr val="B8730A"/>
            </a:solidFill>
            <a:prstDash val="solid"/>
          </a:ln>
        </p:spPr>
      </p:sp>
      <p:sp>
        <p:nvSpPr>
          <p:cNvPr id="125" name="Shape 123"/>
          <p:cNvSpPr/>
          <p:nvPr/>
        </p:nvSpPr>
        <p:spPr>
          <a:xfrm>
            <a:off x="4713732" y="2976372"/>
            <a:ext cx="173736" cy="173736"/>
          </a:xfrm>
          <a:prstGeom prst="ellipse">
            <a:avLst/>
          </a:prstGeom>
          <a:solidFill>
            <a:srgbClr val="F5A742"/>
          </a:solidFill>
          <a:ln w="6350">
            <a:solidFill>
              <a:srgbClr val="B8730A"/>
            </a:solidFill>
            <a:prstDash val="solid"/>
          </a:ln>
        </p:spPr>
      </p:sp>
      <p:sp>
        <p:nvSpPr>
          <p:cNvPr id="126" name="Shape 124"/>
          <p:cNvSpPr/>
          <p:nvPr/>
        </p:nvSpPr>
        <p:spPr>
          <a:xfrm>
            <a:off x="4713732" y="3159252"/>
            <a:ext cx="173736" cy="173736"/>
          </a:xfrm>
          <a:prstGeom prst="ellipse">
            <a:avLst/>
          </a:prstGeom>
          <a:solidFill>
            <a:srgbClr val="F5A742"/>
          </a:solidFill>
          <a:ln w="6350">
            <a:solidFill>
              <a:srgbClr val="B8730A"/>
            </a:solidFill>
            <a:prstDash val="solid"/>
          </a:ln>
        </p:spPr>
      </p:sp>
      <p:sp>
        <p:nvSpPr>
          <p:cNvPr id="127" name="Shape 125"/>
          <p:cNvSpPr/>
          <p:nvPr/>
        </p:nvSpPr>
        <p:spPr>
          <a:xfrm>
            <a:off x="4713732" y="3342132"/>
            <a:ext cx="173736" cy="173736"/>
          </a:xfrm>
          <a:prstGeom prst="ellipse">
            <a:avLst/>
          </a:prstGeom>
          <a:solidFill>
            <a:srgbClr val="F5A742"/>
          </a:solidFill>
          <a:ln w="6350">
            <a:solidFill>
              <a:srgbClr val="B8730A"/>
            </a:solidFill>
            <a:prstDash val="solid"/>
          </a:ln>
        </p:spPr>
      </p:sp>
      <p:sp>
        <p:nvSpPr>
          <p:cNvPr id="128" name="Text 126"/>
          <p:cNvSpPr/>
          <p:nvPr/>
        </p:nvSpPr>
        <p:spPr>
          <a:xfrm>
            <a:off x="2971800" y="1417320"/>
            <a:ext cx="2011680" cy="27432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Larger particle</a:t>
            </a:r>
            <a:r>
              <a:rPr lang="en-US" sz="1100" dirty="0">
                <a:solidFill>
                  <a:srgbClr val="262B3A"/>
                </a:solidFill>
                <a:latin typeface="Calibri" pitchFamily="34" charset="0"/>
                <a:ea typeface="Calibri" pitchFamily="34" charset="-122"/>
                <a:cs typeface="Calibri" pitchFamily="34" charset="-120"/>
              </a:rPr>
              <a:t>: 10 × 10</a:t>
            </a:r>
            <a:endParaRPr lang="en-US" sz="1100" dirty="0"/>
          </a:p>
        </p:txBody>
      </p:sp>
      <p:sp>
        <p:nvSpPr>
          <p:cNvPr id="129" name="Text 127"/>
          <p:cNvSpPr/>
          <p:nvPr/>
        </p:nvSpPr>
        <p:spPr>
          <a:xfrm>
            <a:off x="2971800" y="3520440"/>
            <a:ext cx="2011680" cy="50292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36 of 100 at the surface</a:t>
            </a:r>
            <a:endParaRPr lang="en-US" sz="1100" dirty="0"/>
          </a:p>
          <a:p>
            <a:pPr algn="ctr" indent="0" marL="0">
              <a:buNone/>
            </a:pPr>
            <a:r>
              <a:rPr lang="en-US" sz="1100" dirty="0">
                <a:solidFill>
                  <a:srgbClr val="262B3A"/>
                </a:solidFill>
                <a:latin typeface="Calibri" pitchFamily="34" charset="0"/>
                <a:ea typeface="Calibri" pitchFamily="34" charset="-122"/>
                <a:cs typeface="Calibri" pitchFamily="34" charset="-120"/>
              </a:rPr>
              <a:t>= </a:t>
            </a:r>
            <a:endParaRPr lang="en-US" sz="1100" dirty="0"/>
          </a:p>
          <a:p>
            <a:pPr algn="ctr" indent="0" marL="0">
              <a:buNone/>
            </a:pPr>
            <a:r>
              <a:rPr lang="en-US" sz="1100" b="1" dirty="0">
                <a:solidFill>
                  <a:srgbClr val="262B3A"/>
                </a:solidFill>
                <a:latin typeface="Calibri" pitchFamily="34" charset="0"/>
                <a:ea typeface="Calibri" pitchFamily="34" charset="-122"/>
                <a:cs typeface="Calibri" pitchFamily="34" charset="-120"/>
              </a:rPr>
              <a:t>36%</a:t>
            </a:r>
            <a:endParaRPr lang="en-US" sz="1100" dirty="0"/>
          </a:p>
        </p:txBody>
      </p:sp>
      <p:sp>
        <p:nvSpPr>
          <p:cNvPr id="130" name="Shape 128"/>
          <p:cNvSpPr/>
          <p:nvPr/>
        </p:nvSpPr>
        <p:spPr>
          <a:xfrm>
            <a:off x="777240" y="4251960"/>
            <a:ext cx="182880" cy="182880"/>
          </a:xfrm>
          <a:prstGeom prst="ellipse">
            <a:avLst/>
          </a:prstGeom>
          <a:solidFill>
            <a:srgbClr val="F5A742"/>
          </a:solidFill>
          <a:ln w="9525">
            <a:solidFill>
              <a:srgbClr val="B8730A"/>
            </a:solidFill>
            <a:prstDash val="solid"/>
          </a:ln>
        </p:spPr>
      </p:sp>
      <p:sp>
        <p:nvSpPr>
          <p:cNvPr id="131" name="Text 129"/>
          <p:cNvSpPr/>
          <p:nvPr/>
        </p:nvSpPr>
        <p:spPr>
          <a:xfrm>
            <a:off x="1024128" y="4224528"/>
            <a:ext cx="1920240" cy="237744"/>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surface atom: can react</a:t>
            </a:r>
            <a:endParaRPr lang="en-US" sz="1000" dirty="0"/>
          </a:p>
        </p:txBody>
      </p:sp>
      <p:sp>
        <p:nvSpPr>
          <p:cNvPr id="132" name="Shape 130"/>
          <p:cNvSpPr/>
          <p:nvPr/>
        </p:nvSpPr>
        <p:spPr>
          <a:xfrm>
            <a:off x="3063240" y="4251960"/>
            <a:ext cx="182880" cy="182880"/>
          </a:xfrm>
          <a:prstGeom prst="ellipse">
            <a:avLst/>
          </a:prstGeom>
          <a:solidFill>
            <a:srgbClr val="C9B6E4"/>
          </a:solidFill>
          <a:ln w="9525">
            <a:solidFill>
              <a:srgbClr val="5A3590"/>
            </a:solidFill>
            <a:prstDash val="solid"/>
          </a:ln>
        </p:spPr>
      </p:sp>
      <p:sp>
        <p:nvSpPr>
          <p:cNvPr id="133" name="Text 131"/>
          <p:cNvSpPr/>
          <p:nvPr/>
        </p:nvSpPr>
        <p:spPr>
          <a:xfrm>
            <a:off x="3310128" y="4224528"/>
            <a:ext cx="2377440" cy="237744"/>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inside atom: cannot touch reactants</a:t>
            </a:r>
            <a:endParaRPr lang="en-US" sz="1000" dirty="0"/>
          </a:p>
        </p:txBody>
      </p:sp>
      <p:sp>
        <p:nvSpPr>
          <p:cNvPr id="134" name="Text 132"/>
          <p:cNvSpPr/>
          <p:nvPr/>
        </p:nvSpPr>
        <p:spPr>
          <a:xfrm>
            <a:off x="640080" y="4617720"/>
            <a:ext cx="5120640" cy="45720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In 3D the effect is bigger: a cube 10 atoms wide has about </a:t>
            </a:r>
            <a:r>
              <a:rPr lang="en-US" sz="1050" b="1" dirty="0">
                <a:solidFill>
                  <a:srgbClr val="262B3A"/>
                </a:solidFill>
                <a:latin typeface="Calibri" pitchFamily="34" charset="0"/>
                <a:ea typeface="Calibri" pitchFamily="34" charset="-122"/>
                <a:cs typeface="Calibri" pitchFamily="34" charset="-120"/>
              </a:rPr>
              <a:t>49%</a:t>
            </a:r>
            <a:r>
              <a:rPr lang="en-US" sz="1050" dirty="0">
                <a:solidFill>
                  <a:srgbClr val="262B3A"/>
                </a:solidFill>
                <a:latin typeface="Calibri" pitchFamily="34" charset="0"/>
                <a:ea typeface="Calibri" pitchFamily="34" charset="-122"/>
                <a:cs typeface="Calibri" pitchFamily="34" charset="-120"/>
              </a:rPr>
              <a:t> of its atoms on the surface; 100 atoms wide, about </a:t>
            </a:r>
            <a:r>
              <a:rPr lang="en-US" sz="1050" b="1" dirty="0">
                <a:solidFill>
                  <a:srgbClr val="262B3A"/>
                </a:solidFill>
                <a:latin typeface="Calibri" pitchFamily="34" charset="0"/>
                <a:ea typeface="Calibri" pitchFamily="34" charset="-122"/>
                <a:cs typeface="Calibri" pitchFamily="34" charset="-120"/>
              </a:rPr>
              <a:t>6%</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135" name="Shape 133"/>
          <p:cNvSpPr/>
          <p:nvPr/>
        </p:nvSpPr>
        <p:spPr>
          <a:xfrm>
            <a:off x="6217920" y="1188720"/>
            <a:ext cx="5562295" cy="2971800"/>
          </a:xfrm>
          <a:prstGeom prst="roundRect">
            <a:avLst>
              <a:gd name="adj" fmla="val 1846"/>
            </a:avLst>
          </a:prstGeom>
          <a:solidFill>
            <a:srgbClr val="F8F5FC"/>
          </a:solidFill>
          <a:ln w="9525">
            <a:solidFill>
              <a:srgbClr val="DDD3EC"/>
            </a:solidFill>
            <a:prstDash val="solid"/>
          </a:ln>
        </p:spPr>
      </p:sp>
      <p:sp>
        <p:nvSpPr>
          <p:cNvPr id="136" name="Text 13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More surface, new properties</a:t>
            </a:r>
            <a:endParaRPr lang="en-US" sz="1300" dirty="0"/>
          </a:p>
        </p:txBody>
      </p:sp>
      <p:sp>
        <p:nvSpPr>
          <p:cNvPr id="137" name="Text 135"/>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In a nanoparticle a </a:t>
            </a:r>
            <a:r>
              <a:rPr lang="en-US" sz="1200" b="1" dirty="0">
                <a:solidFill>
                  <a:srgbClr val="262B3A"/>
                </a:solidFill>
                <a:latin typeface="Calibri" pitchFamily="34" charset="0"/>
                <a:ea typeface="Calibri" pitchFamily="34" charset="-122"/>
                <a:cs typeface="Calibri" pitchFamily="34" charset="-120"/>
              </a:rPr>
              <a:t>large fraction of the atoms is on the surface</a:t>
            </a:r>
            <a:r>
              <a:rPr lang="en-US" sz="1200" dirty="0">
                <a:solidFill>
                  <a:srgbClr val="262B3A"/>
                </a:solidFill>
                <a:latin typeface="Calibri" pitchFamily="34" charset="0"/>
                <a:ea typeface="Calibri" pitchFamily="34" charset="-122"/>
                <a:cs typeface="Calibri" pitchFamily="34" charset="-120"/>
              </a:rPr>
              <a:t>, where they can meet other particles.</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So nanoparticles can be </a:t>
            </a:r>
            <a:r>
              <a:rPr lang="en-US" sz="1200" b="1" dirty="0">
                <a:solidFill>
                  <a:srgbClr val="262B3A"/>
                </a:solidFill>
                <a:latin typeface="Calibri" pitchFamily="34" charset="0"/>
                <a:ea typeface="Calibri" pitchFamily="34" charset="-122"/>
                <a:cs typeface="Calibri" pitchFamily="34" charset="-120"/>
              </a:rPr>
              <a:t>much more reactive</a:t>
            </a:r>
            <a:r>
              <a:rPr lang="en-US" sz="1200" dirty="0">
                <a:solidFill>
                  <a:srgbClr val="262B3A"/>
                </a:solidFill>
                <a:latin typeface="Calibri" pitchFamily="34" charset="0"/>
                <a:ea typeface="Calibri" pitchFamily="34" charset="-122"/>
                <a:cs typeface="Calibri" pitchFamily="34" charset="-120"/>
              </a:rPr>
              <a:t> and make </a:t>
            </a:r>
            <a:r>
              <a:rPr lang="en-US" sz="1200" b="1" dirty="0">
                <a:solidFill>
                  <a:srgbClr val="262B3A"/>
                </a:solidFill>
                <a:latin typeface="Calibri" pitchFamily="34" charset="0"/>
                <a:ea typeface="Calibri" pitchFamily="34" charset="-122"/>
                <a:cs typeface="Calibri" pitchFamily="34" charset="-120"/>
              </a:rPr>
              <a:t>better catalysts</a:t>
            </a:r>
            <a:r>
              <a:rPr lang="en-US" sz="1200" dirty="0">
                <a:solidFill>
                  <a:srgbClr val="262B3A"/>
                </a:solidFill>
                <a:latin typeface="Calibri" pitchFamily="34" charset="0"/>
                <a:ea typeface="Calibri" pitchFamily="34" charset="-122"/>
                <a:cs typeface="Calibri" pitchFamily="34" charset="-120"/>
              </a:rPr>
              <a:t> than the same mass of a lump.</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Nanoparticles can have </a:t>
            </a:r>
            <a:r>
              <a:rPr lang="en-US" sz="1200" b="1" dirty="0">
                <a:solidFill>
                  <a:srgbClr val="262B3A"/>
                </a:solidFill>
                <a:latin typeface="Calibri" pitchFamily="34" charset="0"/>
                <a:ea typeface="Calibri" pitchFamily="34" charset="-122"/>
                <a:cs typeface="Calibri" pitchFamily="34" charset="-120"/>
              </a:rPr>
              <a:t>different properties</a:t>
            </a:r>
            <a:r>
              <a:rPr lang="en-US" sz="1200" dirty="0">
                <a:solidFill>
                  <a:srgbClr val="262B3A"/>
                </a:solidFill>
                <a:latin typeface="Calibri" pitchFamily="34" charset="0"/>
                <a:ea typeface="Calibri" pitchFamily="34" charset="-122"/>
                <a:cs typeface="Calibri" pitchFamily="34" charset="-120"/>
              </a:rPr>
              <a:t> from the </a:t>
            </a:r>
            <a:r>
              <a:rPr lang="en-US" sz="1200" b="1" dirty="0">
                <a:solidFill>
                  <a:srgbClr val="262B3A"/>
                </a:solidFill>
                <a:latin typeface="Calibri" pitchFamily="34" charset="0"/>
                <a:ea typeface="Calibri" pitchFamily="34" charset="-122"/>
                <a:cs typeface="Calibri" pitchFamily="34" charset="-120"/>
              </a:rPr>
              <a:t>bulk</a:t>
            </a:r>
            <a:r>
              <a:rPr lang="en-US" sz="1200" dirty="0">
                <a:solidFill>
                  <a:srgbClr val="262B3A"/>
                </a:solidFill>
                <a:latin typeface="Calibri" pitchFamily="34" charset="0"/>
                <a:ea typeface="Calibri" pitchFamily="34" charset="-122"/>
                <a:cs typeface="Calibri" pitchFamily="34" charset="-120"/>
              </a:rPr>
              <a:t> material: gold nanoparticles look </a:t>
            </a:r>
            <a:r>
              <a:rPr lang="en-US" sz="1200" b="1" dirty="0">
                <a:solidFill>
                  <a:srgbClr val="262B3A"/>
                </a:solidFill>
                <a:latin typeface="Calibri" pitchFamily="34" charset="0"/>
                <a:ea typeface="Calibri" pitchFamily="34" charset="-122"/>
                <a:cs typeface="Calibri" pitchFamily="34" charset="-120"/>
              </a:rPr>
              <a:t>red</a:t>
            </a:r>
            <a:r>
              <a:rPr lang="en-US" sz="1200" dirty="0">
                <a:solidFill>
                  <a:srgbClr val="262B3A"/>
                </a:solidFill>
                <a:latin typeface="Calibri" pitchFamily="34" charset="0"/>
                <a:ea typeface="Calibri" pitchFamily="34" charset="-122"/>
                <a:cs typeface="Calibri" pitchFamily="34" charset="-120"/>
              </a:rPr>
              <a:t>, not gold; zinc oxide nanoparticles are </a:t>
            </a:r>
            <a:r>
              <a:rPr lang="en-US" sz="1200" b="1" dirty="0">
                <a:solidFill>
                  <a:srgbClr val="262B3A"/>
                </a:solidFill>
                <a:latin typeface="Calibri" pitchFamily="34" charset="0"/>
                <a:ea typeface="Calibri" pitchFamily="34" charset="-122"/>
                <a:cs typeface="Calibri" pitchFamily="34" charset="-120"/>
              </a:rPr>
              <a:t>transparent</a:t>
            </a:r>
            <a:r>
              <a:rPr lang="en-US" sz="1200" dirty="0">
                <a:solidFill>
                  <a:srgbClr val="262B3A"/>
                </a:solidFill>
                <a:latin typeface="Calibri" pitchFamily="34" charset="0"/>
                <a:ea typeface="Calibri" pitchFamily="34" charset="-122"/>
                <a:cs typeface="Calibri" pitchFamily="34" charset="-120"/>
              </a:rPr>
              <a:t> to visible light.</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Properties depend on </a:t>
            </a:r>
            <a:r>
              <a:rPr lang="en-US" sz="1200" b="1" dirty="0">
                <a:solidFill>
                  <a:srgbClr val="262B3A"/>
                </a:solidFill>
                <a:latin typeface="Calibri" pitchFamily="34" charset="0"/>
                <a:ea typeface="Calibri" pitchFamily="34" charset="-122"/>
                <a:cs typeface="Calibri" pitchFamily="34" charset="-120"/>
              </a:rPr>
              <a:t>size</a:t>
            </a:r>
            <a:r>
              <a:rPr lang="en-US" sz="1200" dirty="0">
                <a:solidFill>
                  <a:srgbClr val="262B3A"/>
                </a:solidFill>
                <a:latin typeface="Calibri" pitchFamily="34" charset="0"/>
                <a:ea typeface="Calibri" pitchFamily="34" charset="-122"/>
                <a:cs typeface="Calibri" pitchFamily="34" charset="-120"/>
              </a:rPr>
              <a:t> as well as on the </a:t>
            </a:r>
            <a:r>
              <a:rPr lang="en-US" sz="1200" b="1" dirty="0">
                <a:solidFill>
                  <a:srgbClr val="262B3A"/>
                </a:solidFill>
                <a:latin typeface="Calibri" pitchFamily="34" charset="0"/>
                <a:ea typeface="Calibri" pitchFamily="34" charset="-122"/>
                <a:cs typeface="Calibri" pitchFamily="34" charset="-120"/>
              </a:rPr>
              <a:t>substance</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38" name="Shape 136"/>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139" name="Text 137"/>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percentage of surface atoms</a:t>
            </a:r>
            <a:endParaRPr lang="en-US" sz="1300" dirty="0"/>
          </a:p>
        </p:txBody>
      </p:sp>
      <p:sp>
        <p:nvSpPr>
          <p:cNvPr id="140" name="Text 138"/>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2D slice is 10 × 10 atoms. The inner square is 8 × 8.</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Surface   </a:t>
            </a:r>
            <a:r>
              <a:rPr lang="en-US" sz="1050" dirty="0">
                <a:solidFill>
                  <a:srgbClr val="262B3A"/>
                </a:solidFill>
                <a:latin typeface="Calibri" pitchFamily="34" charset="0"/>
                <a:ea typeface="Calibri" pitchFamily="34" charset="-122"/>
                <a:cs typeface="Calibri" pitchFamily="34" charset="-120"/>
              </a:rPr>
              <a:t>100 − 64 = 36 atoms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Percentage   </a:t>
            </a:r>
            <a:r>
              <a:rPr lang="en-US" sz="1050" dirty="0">
                <a:solidFill>
                  <a:srgbClr val="262B3A"/>
                </a:solidFill>
                <a:latin typeface="Calibri" pitchFamily="34" charset="0"/>
                <a:ea typeface="Calibri" pitchFamily="34" charset="-122"/>
                <a:cs typeface="Calibri" pitchFamily="34" charset="-120"/>
              </a:rPr>
              <a:t>36 ÷ 100 × 100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36%</a:t>
            </a:r>
            <a:r>
              <a:rPr lang="en-US" sz="1050" b="1" dirty="0">
                <a:solidFill>
                  <a:srgbClr val="C8414C"/>
                </a:solidFill>
                <a:latin typeface="Calibri" pitchFamily="34" charset="0"/>
                <a:ea typeface="Calibri" pitchFamily="34" charset="-122"/>
                <a:cs typeface="Calibri" pitchFamily="34" charset="-120"/>
              </a:rPr>
              <a:t> of the atoms are at the surface</a:t>
            </a:r>
            <a:endParaRPr lang="en-US" sz="1050" dirty="0"/>
          </a:p>
        </p:txBody>
      </p:sp>
      <p:sp>
        <p:nvSpPr>
          <p:cNvPr id="141" name="Shape 139"/>
          <p:cNvSpPr/>
          <p:nvPr/>
        </p:nvSpPr>
        <p:spPr>
          <a:xfrm>
            <a:off x="411480" y="5833872"/>
            <a:ext cx="11368735" cy="530352"/>
          </a:xfrm>
          <a:prstGeom prst="rect">
            <a:avLst/>
          </a:prstGeom>
          <a:solidFill>
            <a:srgbClr val="FFF4E0"/>
          </a:solidFill>
          <a:ln w="6350">
            <a:solidFill>
              <a:srgbClr val="F1D9A8"/>
            </a:solidFill>
            <a:prstDash val="solid"/>
          </a:ln>
        </p:spPr>
      </p:sp>
      <p:sp>
        <p:nvSpPr>
          <p:cNvPr id="142" name="Shape 140"/>
          <p:cNvSpPr/>
          <p:nvPr/>
        </p:nvSpPr>
        <p:spPr>
          <a:xfrm>
            <a:off x="411480" y="5833872"/>
            <a:ext cx="82296" cy="530352"/>
          </a:xfrm>
          <a:prstGeom prst="rect">
            <a:avLst/>
          </a:prstGeom>
          <a:solidFill>
            <a:srgbClr val="E39A2F"/>
          </a:solidFill>
          <a:ln w="12700">
            <a:solidFill>
              <a:srgbClr val="E39A2F"/>
            </a:solidFill>
            <a:prstDash val="solid"/>
          </a:ln>
        </p:spPr>
      </p:sp>
      <p:sp>
        <p:nvSpPr>
          <p:cNvPr id="143" name="Text 14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For a </a:t>
            </a:r>
            <a:r>
              <a:rPr lang="en-US" sz="1150" b="1" dirty="0">
                <a:solidFill>
                  <a:srgbClr val="262B3A"/>
                </a:solidFill>
                <a:latin typeface="Calibri" pitchFamily="34" charset="0"/>
                <a:ea typeface="Calibri" pitchFamily="34" charset="-122"/>
                <a:cs typeface="Calibri" pitchFamily="34" charset="-120"/>
              </a:rPr>
              <a:t>6 × 6</a:t>
            </a:r>
            <a:r>
              <a:rPr lang="en-US" sz="1150" dirty="0">
                <a:solidFill>
                  <a:srgbClr val="262B3A"/>
                </a:solidFill>
                <a:latin typeface="Calibri" pitchFamily="34" charset="0"/>
                <a:ea typeface="Calibri" pitchFamily="34" charset="-122"/>
                <a:cs typeface="Calibri" pitchFamily="34" charset="-120"/>
              </a:rPr>
              <a:t> slice of atoms, how many atoms are at the surface, and what </a:t>
            </a:r>
            <a:r>
              <a:rPr lang="en-US" sz="1150" b="1" dirty="0">
                <a:solidFill>
                  <a:srgbClr val="262B3A"/>
                </a:solidFill>
                <a:latin typeface="Calibri" pitchFamily="34" charset="0"/>
                <a:ea typeface="Calibri" pitchFamily="34" charset="-122"/>
                <a:cs typeface="Calibri" pitchFamily="34" charset="-120"/>
              </a:rPr>
              <a:t>percentage</a:t>
            </a:r>
            <a:r>
              <a:rPr lang="en-US" sz="1150" dirty="0">
                <a:solidFill>
                  <a:srgbClr val="262B3A"/>
                </a:solidFill>
                <a:latin typeface="Calibri" pitchFamily="34" charset="0"/>
                <a:ea typeface="Calibri" pitchFamily="34" charset="-122"/>
                <a:cs typeface="Calibri" pitchFamily="34" charset="-120"/>
              </a:rPr>
              <a:t> is this (2 s.f.)?</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C4.3.2 • surface area to volume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cube has sides of </a:t>
            </a:r>
            <a:r>
              <a:rPr lang="en-US" sz="1250" b="1" dirty="0">
                <a:solidFill>
                  <a:srgbClr val="262B3A"/>
                </a:solidFill>
                <a:latin typeface="Calibri" pitchFamily="34" charset="0"/>
                <a:ea typeface="Calibri" pitchFamily="34" charset="-122"/>
                <a:cs typeface="Calibri" pitchFamily="34" charset="-120"/>
              </a:rPr>
              <a:t>3 cm</a:t>
            </a:r>
            <a:r>
              <a:rPr lang="en-US" sz="1250" dirty="0">
                <a:solidFill>
                  <a:srgbClr val="262B3A"/>
                </a:solidFill>
                <a:latin typeface="Calibri" pitchFamily="34" charset="0"/>
                <a:ea typeface="Calibri" pitchFamily="34" charset="-122"/>
                <a:cs typeface="Calibri" pitchFamily="34" charset="-120"/>
              </a:rPr>
              <a:t>. Calculate its surface area and its volume.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your answers to calculate the </a:t>
            </a:r>
            <a:r>
              <a:rPr lang="en-US" sz="1250" b="1" dirty="0">
                <a:solidFill>
                  <a:srgbClr val="262B3A"/>
                </a:solidFill>
                <a:latin typeface="Calibri" pitchFamily="34" charset="0"/>
                <a:ea typeface="Calibri" pitchFamily="34" charset="-122"/>
                <a:cs typeface="Calibri" pitchFamily="34" charset="-120"/>
              </a:rPr>
              <a:t>SA : V ratio</a:t>
            </a:r>
            <a:r>
              <a:rPr lang="en-US" sz="1250" dirty="0">
                <a:solidFill>
                  <a:srgbClr val="262B3A"/>
                </a:solidFill>
                <a:latin typeface="Calibri" pitchFamily="34" charset="0"/>
                <a:ea typeface="Calibri" pitchFamily="34" charset="-122"/>
                <a:cs typeface="Calibri" pitchFamily="34" charset="-120"/>
              </a:rPr>
              <a:t> of the cube.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what happens to the SA : V ratio as particles get </a:t>
            </a:r>
            <a:r>
              <a:rPr lang="en-US" sz="1250" b="1" dirty="0">
                <a:solidFill>
                  <a:srgbClr val="262B3A"/>
                </a:solidFill>
                <a:latin typeface="Calibri" pitchFamily="34" charset="0"/>
                <a:ea typeface="Calibri" pitchFamily="34" charset="-122"/>
                <a:cs typeface="Calibri" pitchFamily="34" charset="-120"/>
              </a:rPr>
              <a:t>smaller</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nanoparticles of a metal can be </a:t>
            </a:r>
            <a:r>
              <a:rPr lang="en-US" sz="1250" b="1" dirty="0">
                <a:solidFill>
                  <a:srgbClr val="262B3A"/>
                </a:solidFill>
                <a:latin typeface="Calibri" pitchFamily="34" charset="0"/>
                <a:ea typeface="Calibri" pitchFamily="34" charset="-122"/>
                <a:cs typeface="Calibri" pitchFamily="34" charset="-120"/>
              </a:rPr>
              <a:t>more reactive</a:t>
            </a:r>
            <a:r>
              <a:rPr lang="en-US" sz="1250" dirty="0">
                <a:solidFill>
                  <a:srgbClr val="262B3A"/>
                </a:solidFill>
                <a:latin typeface="Calibri" pitchFamily="34" charset="0"/>
                <a:ea typeface="Calibri" pitchFamily="34" charset="-122"/>
                <a:cs typeface="Calibri" pitchFamily="34" charset="-120"/>
              </a:rPr>
              <a:t> than a lump of the same mass.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catalyst powder or granules?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C4.3.2 • modelling why small particles make better catalysts</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11</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apparatus: conical flask, bung and delivery tube, 100 cm³ gas syringe, stop-clock</a:t>
            </a:r>
            <a:endParaRPr lang="en-US" sz="1000" dirty="0"/>
          </a:p>
        </p:txBody>
      </p:sp>
      <p:sp>
        <p:nvSpPr>
          <p:cNvPr id="12" name="Shape 10"/>
          <p:cNvSpPr/>
          <p:nvPr/>
        </p:nvSpPr>
        <p:spPr>
          <a:xfrm>
            <a:off x="868680" y="3408883"/>
            <a:ext cx="1371600" cy="614477"/>
          </a:xfrm>
          <a:custGeom>
            <a:avLst/>
            <a:gdLst/>
            <a:ahLst/>
            <a:cxnLst/>
            <a:rect l="l" t="t" r="r" b="b"/>
            <a:pathLst>
              <a:path w="1371600" h="614477">
                <a:moveTo>
                  <a:pt x="225726" y="0"/>
                </a:moveTo>
                <a:lnTo>
                  <a:pt x="0" y="614477"/>
                </a:lnTo>
                <a:lnTo>
                  <a:pt x="1371600" y="614477"/>
                </a:lnTo>
                <a:lnTo>
                  <a:pt x="1145874" y="0"/>
                </a:lnTo>
                <a:close/>
              </a:path>
            </a:pathLst>
          </a:custGeom>
          <a:solidFill>
            <a:srgbClr val="DCEBF7"/>
          </a:solidFill>
          <a:ln/>
        </p:spPr>
      </p:sp>
      <p:sp>
        <p:nvSpPr>
          <p:cNvPr id="13" name="Shape 11"/>
          <p:cNvSpPr/>
          <p:nvPr/>
        </p:nvSpPr>
        <p:spPr>
          <a:xfrm>
            <a:off x="868680" y="2679192"/>
            <a:ext cx="1371600" cy="1344168"/>
          </a:xfrm>
          <a:custGeom>
            <a:avLst/>
            <a:gdLst/>
            <a:ahLst/>
            <a:cxnLst/>
            <a:rect l="l" t="t" r="r" b="b"/>
            <a:pathLst>
              <a:path w="1371600" h="1344168">
                <a:moveTo>
                  <a:pt x="493776" y="0"/>
                </a:moveTo>
                <a:lnTo>
                  <a:pt x="0" y="1344168"/>
                </a:lnTo>
                <a:lnTo>
                  <a:pt x="1371600" y="1344168"/>
                </a:lnTo>
                <a:lnTo>
                  <a:pt x="877824" y="0"/>
                </a:lnTo>
                <a:close/>
              </a:path>
            </a:pathLst>
          </a:custGeom>
          <a:ln w="22225">
            <a:solidFill>
              <a:srgbClr val="2A1F3D"/>
            </a:solidFill>
            <a:prstDash val="solid"/>
          </a:ln>
        </p:spPr>
      </p:sp>
      <p:sp>
        <p:nvSpPr>
          <p:cNvPr id="14" name="Shape 12"/>
          <p:cNvSpPr/>
          <p:nvPr/>
        </p:nvSpPr>
        <p:spPr>
          <a:xfrm>
            <a:off x="1362456" y="2103120"/>
            <a:ext cx="91" cy="576072"/>
          </a:xfrm>
          <a:prstGeom prst="line">
            <a:avLst/>
          </a:prstGeom>
          <a:noFill/>
          <a:ln w="22225">
            <a:solidFill>
              <a:srgbClr val="2A1F3D"/>
            </a:solidFill>
            <a:prstDash val="solid"/>
          </a:ln>
        </p:spPr>
      </p:sp>
      <p:sp>
        <p:nvSpPr>
          <p:cNvPr id="15" name="Shape 13"/>
          <p:cNvSpPr/>
          <p:nvPr/>
        </p:nvSpPr>
        <p:spPr>
          <a:xfrm>
            <a:off x="1746504" y="2103120"/>
            <a:ext cx="91" cy="576072"/>
          </a:xfrm>
          <a:prstGeom prst="line">
            <a:avLst/>
          </a:prstGeom>
          <a:noFill/>
          <a:ln w="22225">
            <a:solidFill>
              <a:srgbClr val="2A1F3D"/>
            </a:solidFill>
            <a:prstDash val="solid"/>
          </a:ln>
        </p:spPr>
      </p:sp>
      <p:sp>
        <p:nvSpPr>
          <p:cNvPr id="16" name="Shape 14"/>
          <p:cNvSpPr/>
          <p:nvPr/>
        </p:nvSpPr>
        <p:spPr>
          <a:xfrm>
            <a:off x="1344168" y="1920240"/>
            <a:ext cx="420624" cy="228600"/>
          </a:xfrm>
          <a:prstGeom prst="roundRect">
            <a:avLst>
              <a:gd name="adj" fmla="val 16000"/>
            </a:avLst>
          </a:prstGeom>
          <a:solidFill>
            <a:srgbClr val="3A3A3A"/>
          </a:solidFill>
          <a:ln/>
        </p:spPr>
      </p:sp>
      <p:sp>
        <p:nvSpPr>
          <p:cNvPr id="17" name="Shape 15"/>
          <p:cNvSpPr/>
          <p:nvPr/>
        </p:nvSpPr>
        <p:spPr>
          <a:xfrm>
            <a:off x="996696" y="3922776"/>
            <a:ext cx="54864" cy="54864"/>
          </a:xfrm>
          <a:prstGeom prst="ellipse">
            <a:avLst/>
          </a:prstGeom>
          <a:solidFill>
            <a:srgbClr val="3A3A3A"/>
          </a:solidFill>
          <a:ln w="9525">
            <a:solidFill>
              <a:srgbClr val="3A3A3A"/>
            </a:solidFill>
            <a:prstDash val="solid"/>
          </a:ln>
        </p:spPr>
      </p:sp>
      <p:sp>
        <p:nvSpPr>
          <p:cNvPr id="18" name="Shape 16"/>
          <p:cNvSpPr/>
          <p:nvPr/>
        </p:nvSpPr>
        <p:spPr>
          <a:xfrm>
            <a:off x="1074420" y="3922776"/>
            <a:ext cx="54864" cy="54864"/>
          </a:xfrm>
          <a:prstGeom prst="ellipse">
            <a:avLst/>
          </a:prstGeom>
          <a:solidFill>
            <a:srgbClr val="3A3A3A"/>
          </a:solidFill>
          <a:ln w="9525">
            <a:solidFill>
              <a:srgbClr val="3A3A3A"/>
            </a:solidFill>
            <a:prstDash val="solid"/>
          </a:ln>
        </p:spPr>
      </p:sp>
      <p:sp>
        <p:nvSpPr>
          <p:cNvPr id="19" name="Shape 17"/>
          <p:cNvSpPr/>
          <p:nvPr/>
        </p:nvSpPr>
        <p:spPr>
          <a:xfrm>
            <a:off x="1152144" y="3922776"/>
            <a:ext cx="54864" cy="54864"/>
          </a:xfrm>
          <a:prstGeom prst="ellipse">
            <a:avLst/>
          </a:prstGeom>
          <a:solidFill>
            <a:srgbClr val="3A3A3A"/>
          </a:solidFill>
          <a:ln w="9525">
            <a:solidFill>
              <a:srgbClr val="3A3A3A"/>
            </a:solidFill>
            <a:prstDash val="solid"/>
          </a:ln>
        </p:spPr>
      </p:sp>
      <p:sp>
        <p:nvSpPr>
          <p:cNvPr id="20" name="Shape 18"/>
          <p:cNvSpPr/>
          <p:nvPr/>
        </p:nvSpPr>
        <p:spPr>
          <a:xfrm>
            <a:off x="1229868" y="3922776"/>
            <a:ext cx="54864" cy="54864"/>
          </a:xfrm>
          <a:prstGeom prst="ellipse">
            <a:avLst/>
          </a:prstGeom>
          <a:solidFill>
            <a:srgbClr val="3A3A3A"/>
          </a:solidFill>
          <a:ln w="9525">
            <a:solidFill>
              <a:srgbClr val="3A3A3A"/>
            </a:solidFill>
            <a:prstDash val="solid"/>
          </a:ln>
        </p:spPr>
      </p:sp>
      <p:sp>
        <p:nvSpPr>
          <p:cNvPr id="21" name="Shape 19"/>
          <p:cNvSpPr/>
          <p:nvPr/>
        </p:nvSpPr>
        <p:spPr>
          <a:xfrm>
            <a:off x="1307592" y="3922776"/>
            <a:ext cx="54864" cy="54864"/>
          </a:xfrm>
          <a:prstGeom prst="ellipse">
            <a:avLst/>
          </a:prstGeom>
          <a:solidFill>
            <a:srgbClr val="3A3A3A"/>
          </a:solidFill>
          <a:ln w="9525">
            <a:solidFill>
              <a:srgbClr val="3A3A3A"/>
            </a:solidFill>
            <a:prstDash val="solid"/>
          </a:ln>
        </p:spPr>
      </p:sp>
      <p:sp>
        <p:nvSpPr>
          <p:cNvPr id="22" name="Shape 20"/>
          <p:cNvSpPr/>
          <p:nvPr/>
        </p:nvSpPr>
        <p:spPr>
          <a:xfrm>
            <a:off x="1385316" y="3922776"/>
            <a:ext cx="54864" cy="54864"/>
          </a:xfrm>
          <a:prstGeom prst="ellipse">
            <a:avLst/>
          </a:prstGeom>
          <a:solidFill>
            <a:srgbClr val="3A3A3A"/>
          </a:solidFill>
          <a:ln w="9525">
            <a:solidFill>
              <a:srgbClr val="3A3A3A"/>
            </a:solidFill>
            <a:prstDash val="solid"/>
          </a:ln>
        </p:spPr>
      </p:sp>
      <p:sp>
        <p:nvSpPr>
          <p:cNvPr id="23" name="Shape 21"/>
          <p:cNvSpPr/>
          <p:nvPr/>
        </p:nvSpPr>
        <p:spPr>
          <a:xfrm>
            <a:off x="1463040" y="3922776"/>
            <a:ext cx="54864" cy="54864"/>
          </a:xfrm>
          <a:prstGeom prst="ellipse">
            <a:avLst/>
          </a:prstGeom>
          <a:solidFill>
            <a:srgbClr val="3A3A3A"/>
          </a:solidFill>
          <a:ln w="9525">
            <a:solidFill>
              <a:srgbClr val="3A3A3A"/>
            </a:solidFill>
            <a:prstDash val="solid"/>
          </a:ln>
        </p:spPr>
      </p:sp>
      <p:sp>
        <p:nvSpPr>
          <p:cNvPr id="24" name="Shape 22"/>
          <p:cNvSpPr/>
          <p:nvPr/>
        </p:nvSpPr>
        <p:spPr>
          <a:xfrm>
            <a:off x="1540764" y="3922776"/>
            <a:ext cx="54864" cy="54864"/>
          </a:xfrm>
          <a:prstGeom prst="ellipse">
            <a:avLst/>
          </a:prstGeom>
          <a:solidFill>
            <a:srgbClr val="3A3A3A"/>
          </a:solidFill>
          <a:ln w="9525">
            <a:solidFill>
              <a:srgbClr val="3A3A3A"/>
            </a:solidFill>
            <a:prstDash val="solid"/>
          </a:ln>
        </p:spPr>
      </p:sp>
      <p:sp>
        <p:nvSpPr>
          <p:cNvPr id="25" name="Shape 23"/>
          <p:cNvSpPr/>
          <p:nvPr/>
        </p:nvSpPr>
        <p:spPr>
          <a:xfrm>
            <a:off x="1618488" y="3922776"/>
            <a:ext cx="54864" cy="54864"/>
          </a:xfrm>
          <a:prstGeom prst="ellipse">
            <a:avLst/>
          </a:prstGeom>
          <a:solidFill>
            <a:srgbClr val="3A3A3A"/>
          </a:solidFill>
          <a:ln w="9525">
            <a:solidFill>
              <a:srgbClr val="3A3A3A"/>
            </a:solidFill>
            <a:prstDash val="solid"/>
          </a:ln>
        </p:spPr>
      </p:sp>
      <p:sp>
        <p:nvSpPr>
          <p:cNvPr id="26" name="Shape 24"/>
          <p:cNvSpPr/>
          <p:nvPr/>
        </p:nvSpPr>
        <p:spPr>
          <a:xfrm>
            <a:off x="1696212" y="3922776"/>
            <a:ext cx="54864" cy="54864"/>
          </a:xfrm>
          <a:prstGeom prst="ellipse">
            <a:avLst/>
          </a:prstGeom>
          <a:solidFill>
            <a:srgbClr val="3A3A3A"/>
          </a:solidFill>
          <a:ln w="9525">
            <a:solidFill>
              <a:srgbClr val="3A3A3A"/>
            </a:solidFill>
            <a:prstDash val="solid"/>
          </a:ln>
        </p:spPr>
      </p:sp>
      <p:sp>
        <p:nvSpPr>
          <p:cNvPr id="27" name="Shape 25"/>
          <p:cNvSpPr/>
          <p:nvPr/>
        </p:nvSpPr>
        <p:spPr>
          <a:xfrm>
            <a:off x="1773936" y="3922776"/>
            <a:ext cx="54864" cy="54864"/>
          </a:xfrm>
          <a:prstGeom prst="ellipse">
            <a:avLst/>
          </a:prstGeom>
          <a:solidFill>
            <a:srgbClr val="3A3A3A"/>
          </a:solidFill>
          <a:ln w="9525">
            <a:solidFill>
              <a:srgbClr val="3A3A3A"/>
            </a:solidFill>
            <a:prstDash val="solid"/>
          </a:ln>
        </p:spPr>
      </p:sp>
      <p:sp>
        <p:nvSpPr>
          <p:cNvPr id="28" name="Shape 26"/>
          <p:cNvSpPr/>
          <p:nvPr/>
        </p:nvSpPr>
        <p:spPr>
          <a:xfrm>
            <a:off x="1851660" y="3922776"/>
            <a:ext cx="54864" cy="54864"/>
          </a:xfrm>
          <a:prstGeom prst="ellipse">
            <a:avLst/>
          </a:prstGeom>
          <a:solidFill>
            <a:srgbClr val="3A3A3A"/>
          </a:solidFill>
          <a:ln w="9525">
            <a:solidFill>
              <a:srgbClr val="3A3A3A"/>
            </a:solidFill>
            <a:prstDash val="solid"/>
          </a:ln>
        </p:spPr>
      </p:sp>
      <p:sp>
        <p:nvSpPr>
          <p:cNvPr id="29" name="Shape 27"/>
          <p:cNvSpPr/>
          <p:nvPr/>
        </p:nvSpPr>
        <p:spPr>
          <a:xfrm>
            <a:off x="1929384" y="3922776"/>
            <a:ext cx="54864" cy="54864"/>
          </a:xfrm>
          <a:prstGeom prst="ellipse">
            <a:avLst/>
          </a:prstGeom>
          <a:solidFill>
            <a:srgbClr val="3A3A3A"/>
          </a:solidFill>
          <a:ln w="9525">
            <a:solidFill>
              <a:srgbClr val="3A3A3A"/>
            </a:solidFill>
            <a:prstDash val="solid"/>
          </a:ln>
        </p:spPr>
      </p:sp>
      <p:sp>
        <p:nvSpPr>
          <p:cNvPr id="30" name="Shape 28"/>
          <p:cNvSpPr/>
          <p:nvPr/>
        </p:nvSpPr>
        <p:spPr>
          <a:xfrm>
            <a:off x="2007108" y="3922776"/>
            <a:ext cx="54864" cy="54864"/>
          </a:xfrm>
          <a:prstGeom prst="ellipse">
            <a:avLst/>
          </a:prstGeom>
          <a:solidFill>
            <a:srgbClr val="3A3A3A"/>
          </a:solidFill>
          <a:ln w="9525">
            <a:solidFill>
              <a:srgbClr val="3A3A3A"/>
            </a:solidFill>
            <a:prstDash val="solid"/>
          </a:ln>
        </p:spPr>
      </p:sp>
      <p:sp>
        <p:nvSpPr>
          <p:cNvPr id="31" name="Text 29"/>
          <p:cNvSpPr/>
          <p:nvPr/>
        </p:nvSpPr>
        <p:spPr>
          <a:xfrm>
            <a:off x="548640" y="4114800"/>
            <a:ext cx="219456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MnO₂ catalyst + H₂O₂(aq)</a:t>
            </a:r>
            <a:endParaRPr lang="en-US" sz="1000" dirty="0"/>
          </a:p>
        </p:txBody>
      </p:sp>
      <p:sp>
        <p:nvSpPr>
          <p:cNvPr id="32" name="Shape 30"/>
          <p:cNvSpPr/>
          <p:nvPr/>
        </p:nvSpPr>
        <p:spPr>
          <a:xfrm>
            <a:off x="1335024" y="3575304"/>
            <a:ext cx="73152" cy="73152"/>
          </a:xfrm>
          <a:prstGeom prst="ellipse">
            <a:avLst/>
          </a:prstGeom>
          <a:solidFill>
            <a:srgbClr val="FFFFFF"/>
          </a:solidFill>
          <a:ln w="9525">
            <a:solidFill>
              <a:srgbClr val="5B9BD5"/>
            </a:solidFill>
            <a:prstDash val="solid"/>
          </a:ln>
        </p:spPr>
      </p:sp>
      <p:sp>
        <p:nvSpPr>
          <p:cNvPr id="33" name="Shape 31"/>
          <p:cNvSpPr/>
          <p:nvPr/>
        </p:nvSpPr>
        <p:spPr>
          <a:xfrm>
            <a:off x="1563624" y="3666744"/>
            <a:ext cx="73152" cy="73152"/>
          </a:xfrm>
          <a:prstGeom prst="ellipse">
            <a:avLst/>
          </a:prstGeom>
          <a:solidFill>
            <a:srgbClr val="FFFFFF"/>
          </a:solidFill>
          <a:ln w="9525">
            <a:solidFill>
              <a:srgbClr val="5B9BD5"/>
            </a:solidFill>
            <a:prstDash val="solid"/>
          </a:ln>
        </p:spPr>
      </p:sp>
      <p:sp>
        <p:nvSpPr>
          <p:cNvPr id="34" name="Shape 32"/>
          <p:cNvSpPr/>
          <p:nvPr/>
        </p:nvSpPr>
        <p:spPr>
          <a:xfrm>
            <a:off x="1700784" y="3483864"/>
            <a:ext cx="73152" cy="73152"/>
          </a:xfrm>
          <a:prstGeom prst="ellipse">
            <a:avLst/>
          </a:prstGeom>
          <a:solidFill>
            <a:srgbClr val="FFFFFF"/>
          </a:solidFill>
          <a:ln w="9525">
            <a:solidFill>
              <a:srgbClr val="5B9BD5"/>
            </a:solidFill>
            <a:prstDash val="solid"/>
          </a:ln>
        </p:spPr>
      </p:sp>
      <p:sp>
        <p:nvSpPr>
          <p:cNvPr id="35" name="Shape 33"/>
          <p:cNvSpPr/>
          <p:nvPr/>
        </p:nvSpPr>
        <p:spPr>
          <a:xfrm>
            <a:off x="1197864" y="3712464"/>
            <a:ext cx="73152" cy="73152"/>
          </a:xfrm>
          <a:prstGeom prst="ellipse">
            <a:avLst/>
          </a:prstGeom>
          <a:solidFill>
            <a:srgbClr val="FFFFFF"/>
          </a:solidFill>
          <a:ln w="9525">
            <a:solidFill>
              <a:srgbClr val="5B9BD5"/>
            </a:solidFill>
            <a:prstDash val="solid"/>
          </a:ln>
        </p:spPr>
      </p:sp>
      <p:sp>
        <p:nvSpPr>
          <p:cNvPr id="36" name="Shape 34"/>
          <p:cNvSpPr/>
          <p:nvPr/>
        </p:nvSpPr>
        <p:spPr>
          <a:xfrm flipV="1">
            <a:off x="1554480" y="1600200"/>
            <a:ext cx="91" cy="320040"/>
          </a:xfrm>
          <a:prstGeom prst="line">
            <a:avLst/>
          </a:prstGeom>
          <a:noFill/>
          <a:ln w="25400">
            <a:solidFill>
              <a:srgbClr val="2A1F3D"/>
            </a:solidFill>
            <a:prstDash val="solid"/>
          </a:ln>
        </p:spPr>
      </p:sp>
      <p:sp>
        <p:nvSpPr>
          <p:cNvPr id="37" name="Shape 35"/>
          <p:cNvSpPr/>
          <p:nvPr/>
        </p:nvSpPr>
        <p:spPr>
          <a:xfrm>
            <a:off x="1554480" y="1600200"/>
            <a:ext cx="1280160" cy="91"/>
          </a:xfrm>
          <a:prstGeom prst="line">
            <a:avLst/>
          </a:prstGeom>
          <a:noFill/>
          <a:ln w="25400">
            <a:solidFill>
              <a:srgbClr val="2A1F3D"/>
            </a:solidFill>
            <a:prstDash val="solid"/>
          </a:ln>
        </p:spPr>
      </p:sp>
      <p:sp>
        <p:nvSpPr>
          <p:cNvPr id="38" name="Shape 36"/>
          <p:cNvSpPr/>
          <p:nvPr/>
        </p:nvSpPr>
        <p:spPr>
          <a:xfrm>
            <a:off x="2834640" y="1600200"/>
            <a:ext cx="91" cy="338328"/>
          </a:xfrm>
          <a:prstGeom prst="line">
            <a:avLst/>
          </a:prstGeom>
          <a:noFill/>
          <a:ln w="25400">
            <a:solidFill>
              <a:srgbClr val="2A1F3D"/>
            </a:solidFill>
            <a:prstDash val="solid"/>
          </a:ln>
        </p:spPr>
      </p:sp>
      <p:sp>
        <p:nvSpPr>
          <p:cNvPr id="39" name="Shape 37"/>
          <p:cNvSpPr/>
          <p:nvPr/>
        </p:nvSpPr>
        <p:spPr>
          <a:xfrm>
            <a:off x="2834640" y="1828800"/>
            <a:ext cx="2148840" cy="310896"/>
          </a:xfrm>
          <a:prstGeom prst="rect">
            <a:avLst/>
          </a:prstGeom>
          <a:solidFill>
            <a:srgbClr val="F4F8FC"/>
          </a:solidFill>
          <a:ln w="19050">
            <a:solidFill>
              <a:srgbClr val="2A1F3D"/>
            </a:solidFill>
            <a:prstDash val="solid"/>
          </a:ln>
        </p:spPr>
      </p:sp>
      <p:sp>
        <p:nvSpPr>
          <p:cNvPr id="40" name="Shape 38"/>
          <p:cNvSpPr/>
          <p:nvPr/>
        </p:nvSpPr>
        <p:spPr>
          <a:xfrm>
            <a:off x="2926080" y="1828800"/>
            <a:ext cx="91" cy="128016"/>
          </a:xfrm>
          <a:prstGeom prst="line">
            <a:avLst/>
          </a:prstGeom>
          <a:noFill/>
          <a:ln w="9525">
            <a:solidFill>
              <a:srgbClr val="2A1F3D"/>
            </a:solidFill>
            <a:prstDash val="solid"/>
          </a:ln>
        </p:spPr>
      </p:sp>
      <p:sp>
        <p:nvSpPr>
          <p:cNvPr id="41" name="Shape 39"/>
          <p:cNvSpPr/>
          <p:nvPr/>
        </p:nvSpPr>
        <p:spPr>
          <a:xfrm>
            <a:off x="3122676" y="1828800"/>
            <a:ext cx="91" cy="73152"/>
          </a:xfrm>
          <a:prstGeom prst="line">
            <a:avLst/>
          </a:prstGeom>
          <a:noFill/>
          <a:ln w="9525">
            <a:solidFill>
              <a:srgbClr val="2A1F3D"/>
            </a:solidFill>
            <a:prstDash val="solid"/>
          </a:ln>
        </p:spPr>
      </p:sp>
      <p:sp>
        <p:nvSpPr>
          <p:cNvPr id="42" name="Shape 40"/>
          <p:cNvSpPr/>
          <p:nvPr/>
        </p:nvSpPr>
        <p:spPr>
          <a:xfrm>
            <a:off x="3319272" y="1828800"/>
            <a:ext cx="91" cy="73152"/>
          </a:xfrm>
          <a:prstGeom prst="line">
            <a:avLst/>
          </a:prstGeom>
          <a:noFill/>
          <a:ln w="9525">
            <a:solidFill>
              <a:srgbClr val="2A1F3D"/>
            </a:solidFill>
            <a:prstDash val="solid"/>
          </a:ln>
        </p:spPr>
      </p:sp>
      <p:sp>
        <p:nvSpPr>
          <p:cNvPr id="43" name="Shape 41"/>
          <p:cNvSpPr/>
          <p:nvPr/>
        </p:nvSpPr>
        <p:spPr>
          <a:xfrm>
            <a:off x="3515868" y="1828800"/>
            <a:ext cx="91" cy="73152"/>
          </a:xfrm>
          <a:prstGeom prst="line">
            <a:avLst/>
          </a:prstGeom>
          <a:noFill/>
          <a:ln w="9525">
            <a:solidFill>
              <a:srgbClr val="2A1F3D"/>
            </a:solidFill>
            <a:prstDash val="solid"/>
          </a:ln>
        </p:spPr>
      </p:sp>
      <p:sp>
        <p:nvSpPr>
          <p:cNvPr id="44" name="Shape 42"/>
          <p:cNvSpPr/>
          <p:nvPr/>
        </p:nvSpPr>
        <p:spPr>
          <a:xfrm>
            <a:off x="3712464" y="1828800"/>
            <a:ext cx="91" cy="73152"/>
          </a:xfrm>
          <a:prstGeom prst="line">
            <a:avLst/>
          </a:prstGeom>
          <a:noFill/>
          <a:ln w="9525">
            <a:solidFill>
              <a:srgbClr val="2A1F3D"/>
            </a:solidFill>
            <a:prstDash val="solid"/>
          </a:ln>
        </p:spPr>
      </p:sp>
      <p:sp>
        <p:nvSpPr>
          <p:cNvPr id="45" name="Shape 43"/>
          <p:cNvSpPr/>
          <p:nvPr/>
        </p:nvSpPr>
        <p:spPr>
          <a:xfrm>
            <a:off x="3909060" y="1828800"/>
            <a:ext cx="91" cy="128016"/>
          </a:xfrm>
          <a:prstGeom prst="line">
            <a:avLst/>
          </a:prstGeom>
          <a:noFill/>
          <a:ln w="9525">
            <a:solidFill>
              <a:srgbClr val="2A1F3D"/>
            </a:solidFill>
            <a:prstDash val="solid"/>
          </a:ln>
        </p:spPr>
      </p:sp>
      <p:sp>
        <p:nvSpPr>
          <p:cNvPr id="46" name="Shape 44"/>
          <p:cNvSpPr/>
          <p:nvPr/>
        </p:nvSpPr>
        <p:spPr>
          <a:xfrm>
            <a:off x="4105656" y="1828800"/>
            <a:ext cx="91" cy="73152"/>
          </a:xfrm>
          <a:prstGeom prst="line">
            <a:avLst/>
          </a:prstGeom>
          <a:noFill/>
          <a:ln w="9525">
            <a:solidFill>
              <a:srgbClr val="2A1F3D"/>
            </a:solidFill>
            <a:prstDash val="solid"/>
          </a:ln>
        </p:spPr>
      </p:sp>
      <p:sp>
        <p:nvSpPr>
          <p:cNvPr id="47" name="Shape 45"/>
          <p:cNvSpPr/>
          <p:nvPr/>
        </p:nvSpPr>
        <p:spPr>
          <a:xfrm>
            <a:off x="4302252" y="1828800"/>
            <a:ext cx="91" cy="73152"/>
          </a:xfrm>
          <a:prstGeom prst="line">
            <a:avLst/>
          </a:prstGeom>
          <a:noFill/>
          <a:ln w="9525">
            <a:solidFill>
              <a:srgbClr val="2A1F3D"/>
            </a:solidFill>
            <a:prstDash val="solid"/>
          </a:ln>
        </p:spPr>
      </p:sp>
      <p:sp>
        <p:nvSpPr>
          <p:cNvPr id="48" name="Shape 46"/>
          <p:cNvSpPr/>
          <p:nvPr/>
        </p:nvSpPr>
        <p:spPr>
          <a:xfrm>
            <a:off x="4498848" y="1828800"/>
            <a:ext cx="91" cy="73152"/>
          </a:xfrm>
          <a:prstGeom prst="line">
            <a:avLst/>
          </a:prstGeom>
          <a:noFill/>
          <a:ln w="9525">
            <a:solidFill>
              <a:srgbClr val="2A1F3D"/>
            </a:solidFill>
            <a:prstDash val="solid"/>
          </a:ln>
        </p:spPr>
      </p:sp>
      <p:sp>
        <p:nvSpPr>
          <p:cNvPr id="49" name="Shape 47"/>
          <p:cNvSpPr/>
          <p:nvPr/>
        </p:nvSpPr>
        <p:spPr>
          <a:xfrm>
            <a:off x="4695444" y="1828800"/>
            <a:ext cx="91" cy="73152"/>
          </a:xfrm>
          <a:prstGeom prst="line">
            <a:avLst/>
          </a:prstGeom>
          <a:noFill/>
          <a:ln w="9525">
            <a:solidFill>
              <a:srgbClr val="2A1F3D"/>
            </a:solidFill>
            <a:prstDash val="solid"/>
          </a:ln>
        </p:spPr>
      </p:sp>
      <p:sp>
        <p:nvSpPr>
          <p:cNvPr id="50" name="Shape 48"/>
          <p:cNvSpPr/>
          <p:nvPr/>
        </p:nvSpPr>
        <p:spPr>
          <a:xfrm>
            <a:off x="4892040" y="1828800"/>
            <a:ext cx="91" cy="128016"/>
          </a:xfrm>
          <a:prstGeom prst="line">
            <a:avLst/>
          </a:prstGeom>
          <a:noFill/>
          <a:ln w="9525">
            <a:solidFill>
              <a:srgbClr val="2A1F3D"/>
            </a:solidFill>
            <a:prstDash val="solid"/>
          </a:ln>
        </p:spPr>
      </p:sp>
      <p:sp>
        <p:nvSpPr>
          <p:cNvPr id="51" name="Shape 49"/>
          <p:cNvSpPr/>
          <p:nvPr/>
        </p:nvSpPr>
        <p:spPr>
          <a:xfrm>
            <a:off x="2880360" y="1883664"/>
            <a:ext cx="871423" cy="201168"/>
          </a:xfrm>
          <a:prstGeom prst="rect">
            <a:avLst/>
          </a:prstGeom>
          <a:solidFill>
            <a:srgbClr val="E6F0F8"/>
          </a:solidFill>
          <a:ln/>
        </p:spPr>
      </p:sp>
      <p:sp>
        <p:nvSpPr>
          <p:cNvPr id="52" name="Shape 50"/>
          <p:cNvSpPr/>
          <p:nvPr/>
        </p:nvSpPr>
        <p:spPr>
          <a:xfrm>
            <a:off x="3706063" y="1856232"/>
            <a:ext cx="91440" cy="256032"/>
          </a:xfrm>
          <a:prstGeom prst="rect">
            <a:avLst/>
          </a:prstGeom>
          <a:solidFill>
            <a:srgbClr val="6B7385"/>
          </a:solidFill>
          <a:ln w="9525">
            <a:solidFill>
              <a:srgbClr val="2A1F3D"/>
            </a:solidFill>
            <a:prstDash val="solid"/>
          </a:ln>
        </p:spPr>
      </p:sp>
      <p:sp>
        <p:nvSpPr>
          <p:cNvPr id="53" name="Shape 51"/>
          <p:cNvSpPr/>
          <p:nvPr/>
        </p:nvSpPr>
        <p:spPr>
          <a:xfrm>
            <a:off x="3751783" y="1984248"/>
            <a:ext cx="1643177" cy="91"/>
          </a:xfrm>
          <a:prstGeom prst="line">
            <a:avLst/>
          </a:prstGeom>
          <a:noFill/>
          <a:ln w="31750">
            <a:solidFill>
              <a:srgbClr val="2A1F3D"/>
            </a:solidFill>
            <a:prstDash val="solid"/>
          </a:ln>
        </p:spPr>
      </p:sp>
      <p:sp>
        <p:nvSpPr>
          <p:cNvPr id="54" name="Shape 52"/>
          <p:cNvSpPr/>
          <p:nvPr/>
        </p:nvSpPr>
        <p:spPr>
          <a:xfrm>
            <a:off x="5394960" y="1847088"/>
            <a:ext cx="73152" cy="274320"/>
          </a:xfrm>
          <a:prstGeom prst="rect">
            <a:avLst/>
          </a:prstGeom>
          <a:solidFill>
            <a:srgbClr val="6B7385"/>
          </a:solidFill>
          <a:ln w="9525">
            <a:solidFill>
              <a:srgbClr val="2A1F3D"/>
            </a:solidFill>
            <a:prstDash val="solid"/>
          </a:ln>
        </p:spPr>
      </p:sp>
      <p:sp>
        <p:nvSpPr>
          <p:cNvPr id="55" name="Text 53"/>
          <p:cNvSpPr/>
          <p:nvPr/>
        </p:nvSpPr>
        <p:spPr>
          <a:xfrm>
            <a:off x="2743200" y="2194560"/>
            <a:ext cx="237744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gas syringe: volume of O₂ / cm³</a:t>
            </a:r>
            <a:endParaRPr lang="en-US" sz="1000" dirty="0"/>
          </a:p>
        </p:txBody>
      </p:sp>
      <p:sp>
        <p:nvSpPr>
          <p:cNvPr id="56" name="Shape 54"/>
          <p:cNvSpPr/>
          <p:nvPr/>
        </p:nvSpPr>
        <p:spPr>
          <a:xfrm>
            <a:off x="3675888" y="2807208"/>
            <a:ext cx="694944" cy="694944"/>
          </a:xfrm>
          <a:prstGeom prst="ellipse">
            <a:avLst/>
          </a:prstGeom>
          <a:solidFill>
            <a:srgbClr val="FFFFFF"/>
          </a:solidFill>
          <a:ln w="19050">
            <a:solidFill>
              <a:srgbClr val="2A1F3D"/>
            </a:solidFill>
            <a:prstDash val="solid"/>
          </a:ln>
        </p:spPr>
      </p:sp>
      <p:sp>
        <p:nvSpPr>
          <p:cNvPr id="57" name="Shape 55"/>
          <p:cNvSpPr/>
          <p:nvPr/>
        </p:nvSpPr>
        <p:spPr>
          <a:xfrm flipV="1">
            <a:off x="4023360" y="2898648"/>
            <a:ext cx="91" cy="256032"/>
          </a:xfrm>
          <a:prstGeom prst="line">
            <a:avLst/>
          </a:prstGeom>
          <a:noFill/>
          <a:ln w="19050">
            <a:solidFill>
              <a:srgbClr val="2A1F3D"/>
            </a:solidFill>
            <a:prstDash val="solid"/>
          </a:ln>
        </p:spPr>
      </p:sp>
      <p:sp>
        <p:nvSpPr>
          <p:cNvPr id="58" name="Shape 56"/>
          <p:cNvSpPr/>
          <p:nvPr/>
        </p:nvSpPr>
        <p:spPr>
          <a:xfrm>
            <a:off x="4023360" y="3154680"/>
            <a:ext cx="182880" cy="91440"/>
          </a:xfrm>
          <a:prstGeom prst="line">
            <a:avLst/>
          </a:prstGeom>
          <a:noFill/>
          <a:ln w="19050">
            <a:solidFill>
              <a:srgbClr val="2A1F3D"/>
            </a:solidFill>
            <a:prstDash val="solid"/>
          </a:ln>
        </p:spPr>
      </p:sp>
      <p:sp>
        <p:nvSpPr>
          <p:cNvPr id="59" name="Shape 57"/>
          <p:cNvSpPr/>
          <p:nvPr/>
        </p:nvSpPr>
        <p:spPr>
          <a:xfrm>
            <a:off x="3950208" y="2715768"/>
            <a:ext cx="146304" cy="91440"/>
          </a:xfrm>
          <a:prstGeom prst="rect">
            <a:avLst/>
          </a:prstGeom>
          <a:solidFill>
            <a:srgbClr val="2A1F3D"/>
          </a:solidFill>
          <a:ln/>
        </p:spPr>
      </p:sp>
      <p:sp>
        <p:nvSpPr>
          <p:cNvPr id="60" name="Text 58"/>
          <p:cNvSpPr/>
          <p:nvPr/>
        </p:nvSpPr>
        <p:spPr>
          <a:xfrm>
            <a:off x="3474720" y="3566160"/>
            <a:ext cx="109728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stop-clock</a:t>
            </a:r>
            <a:endParaRPr lang="en-US" sz="1000" dirty="0"/>
          </a:p>
        </p:txBody>
      </p:sp>
      <p:sp>
        <p:nvSpPr>
          <p:cNvPr id="61" name="Shape 59"/>
          <p:cNvSpPr/>
          <p:nvPr/>
        </p:nvSpPr>
        <p:spPr>
          <a:xfrm>
            <a:off x="2926080" y="3886200"/>
            <a:ext cx="1097280" cy="685800"/>
          </a:xfrm>
          <a:prstGeom prst="roundRect">
            <a:avLst>
              <a:gd name="adj" fmla="val 6667"/>
            </a:avLst>
          </a:prstGeom>
          <a:solidFill>
            <a:srgbClr val="FFFFFF"/>
          </a:solidFill>
          <a:ln w="12700">
            <a:solidFill>
              <a:srgbClr val="DDD3EC"/>
            </a:solidFill>
            <a:prstDash val="solid"/>
          </a:ln>
        </p:spPr>
      </p:sp>
      <p:sp>
        <p:nvSpPr>
          <p:cNvPr id="62" name="Shape 60"/>
          <p:cNvSpPr/>
          <p:nvPr/>
        </p:nvSpPr>
        <p:spPr>
          <a:xfrm>
            <a:off x="3031236" y="4082796"/>
            <a:ext cx="64008" cy="64008"/>
          </a:xfrm>
          <a:prstGeom prst="ellipse">
            <a:avLst/>
          </a:prstGeom>
          <a:solidFill>
            <a:srgbClr val="3A3A3A"/>
          </a:solidFill>
          <a:ln w="9525">
            <a:solidFill>
              <a:srgbClr val="3A3A3A"/>
            </a:solidFill>
            <a:prstDash val="solid"/>
          </a:ln>
        </p:spPr>
      </p:sp>
      <p:sp>
        <p:nvSpPr>
          <p:cNvPr id="63" name="Shape 61"/>
          <p:cNvSpPr/>
          <p:nvPr/>
        </p:nvSpPr>
        <p:spPr>
          <a:xfrm>
            <a:off x="3150108" y="4082796"/>
            <a:ext cx="64008" cy="64008"/>
          </a:xfrm>
          <a:prstGeom prst="ellipse">
            <a:avLst/>
          </a:prstGeom>
          <a:solidFill>
            <a:srgbClr val="3A3A3A"/>
          </a:solidFill>
          <a:ln w="9525">
            <a:solidFill>
              <a:srgbClr val="3A3A3A"/>
            </a:solidFill>
            <a:prstDash val="solid"/>
          </a:ln>
        </p:spPr>
      </p:sp>
      <p:sp>
        <p:nvSpPr>
          <p:cNvPr id="64" name="Shape 62"/>
          <p:cNvSpPr/>
          <p:nvPr/>
        </p:nvSpPr>
        <p:spPr>
          <a:xfrm>
            <a:off x="3268980" y="4082796"/>
            <a:ext cx="64008" cy="64008"/>
          </a:xfrm>
          <a:prstGeom prst="ellipse">
            <a:avLst/>
          </a:prstGeom>
          <a:solidFill>
            <a:srgbClr val="3A3A3A"/>
          </a:solidFill>
          <a:ln w="9525">
            <a:solidFill>
              <a:srgbClr val="3A3A3A"/>
            </a:solidFill>
            <a:prstDash val="solid"/>
          </a:ln>
        </p:spPr>
      </p:sp>
      <p:sp>
        <p:nvSpPr>
          <p:cNvPr id="65" name="Shape 63"/>
          <p:cNvSpPr/>
          <p:nvPr/>
        </p:nvSpPr>
        <p:spPr>
          <a:xfrm>
            <a:off x="3387852" y="4082796"/>
            <a:ext cx="64008" cy="64008"/>
          </a:xfrm>
          <a:prstGeom prst="ellipse">
            <a:avLst/>
          </a:prstGeom>
          <a:solidFill>
            <a:srgbClr val="3A3A3A"/>
          </a:solidFill>
          <a:ln w="9525">
            <a:solidFill>
              <a:srgbClr val="3A3A3A"/>
            </a:solidFill>
            <a:prstDash val="solid"/>
          </a:ln>
        </p:spPr>
      </p:sp>
      <p:sp>
        <p:nvSpPr>
          <p:cNvPr id="66" name="Shape 64"/>
          <p:cNvSpPr/>
          <p:nvPr/>
        </p:nvSpPr>
        <p:spPr>
          <a:xfrm>
            <a:off x="3506724" y="4082796"/>
            <a:ext cx="64008" cy="64008"/>
          </a:xfrm>
          <a:prstGeom prst="ellipse">
            <a:avLst/>
          </a:prstGeom>
          <a:solidFill>
            <a:srgbClr val="3A3A3A"/>
          </a:solidFill>
          <a:ln w="9525">
            <a:solidFill>
              <a:srgbClr val="3A3A3A"/>
            </a:solidFill>
            <a:prstDash val="solid"/>
          </a:ln>
        </p:spPr>
      </p:sp>
      <p:sp>
        <p:nvSpPr>
          <p:cNvPr id="67" name="Shape 65"/>
          <p:cNvSpPr/>
          <p:nvPr/>
        </p:nvSpPr>
        <p:spPr>
          <a:xfrm>
            <a:off x="3625596" y="4082796"/>
            <a:ext cx="64008" cy="64008"/>
          </a:xfrm>
          <a:prstGeom prst="ellipse">
            <a:avLst/>
          </a:prstGeom>
          <a:solidFill>
            <a:srgbClr val="3A3A3A"/>
          </a:solidFill>
          <a:ln w="9525">
            <a:solidFill>
              <a:srgbClr val="3A3A3A"/>
            </a:solidFill>
            <a:prstDash val="solid"/>
          </a:ln>
        </p:spPr>
      </p:sp>
      <p:sp>
        <p:nvSpPr>
          <p:cNvPr id="68" name="Shape 66"/>
          <p:cNvSpPr/>
          <p:nvPr/>
        </p:nvSpPr>
        <p:spPr>
          <a:xfrm>
            <a:off x="3744468" y="4082796"/>
            <a:ext cx="64008" cy="64008"/>
          </a:xfrm>
          <a:prstGeom prst="ellipse">
            <a:avLst/>
          </a:prstGeom>
          <a:solidFill>
            <a:srgbClr val="3A3A3A"/>
          </a:solidFill>
          <a:ln w="9525">
            <a:solidFill>
              <a:srgbClr val="3A3A3A"/>
            </a:solidFill>
            <a:prstDash val="solid"/>
          </a:ln>
        </p:spPr>
      </p:sp>
      <p:sp>
        <p:nvSpPr>
          <p:cNvPr id="69" name="Shape 67"/>
          <p:cNvSpPr/>
          <p:nvPr/>
        </p:nvSpPr>
        <p:spPr>
          <a:xfrm>
            <a:off x="3863340" y="4082796"/>
            <a:ext cx="64008" cy="64008"/>
          </a:xfrm>
          <a:prstGeom prst="ellipse">
            <a:avLst/>
          </a:prstGeom>
          <a:solidFill>
            <a:srgbClr val="3A3A3A"/>
          </a:solidFill>
          <a:ln w="9525">
            <a:solidFill>
              <a:srgbClr val="3A3A3A"/>
            </a:solidFill>
            <a:prstDash val="solid"/>
          </a:ln>
        </p:spPr>
      </p:sp>
      <p:sp>
        <p:nvSpPr>
          <p:cNvPr id="70" name="Shape 68"/>
          <p:cNvSpPr/>
          <p:nvPr/>
        </p:nvSpPr>
        <p:spPr>
          <a:xfrm>
            <a:off x="3031236" y="4201668"/>
            <a:ext cx="64008" cy="64008"/>
          </a:xfrm>
          <a:prstGeom prst="ellipse">
            <a:avLst/>
          </a:prstGeom>
          <a:solidFill>
            <a:srgbClr val="3A3A3A"/>
          </a:solidFill>
          <a:ln w="9525">
            <a:solidFill>
              <a:srgbClr val="3A3A3A"/>
            </a:solidFill>
            <a:prstDash val="solid"/>
          </a:ln>
        </p:spPr>
      </p:sp>
      <p:sp>
        <p:nvSpPr>
          <p:cNvPr id="71" name="Shape 69"/>
          <p:cNvSpPr/>
          <p:nvPr/>
        </p:nvSpPr>
        <p:spPr>
          <a:xfrm>
            <a:off x="3150108" y="4201668"/>
            <a:ext cx="64008" cy="64008"/>
          </a:xfrm>
          <a:prstGeom prst="ellipse">
            <a:avLst/>
          </a:prstGeom>
          <a:solidFill>
            <a:srgbClr val="3A3A3A"/>
          </a:solidFill>
          <a:ln w="9525">
            <a:solidFill>
              <a:srgbClr val="3A3A3A"/>
            </a:solidFill>
            <a:prstDash val="solid"/>
          </a:ln>
        </p:spPr>
      </p:sp>
      <p:sp>
        <p:nvSpPr>
          <p:cNvPr id="72" name="Shape 70"/>
          <p:cNvSpPr/>
          <p:nvPr/>
        </p:nvSpPr>
        <p:spPr>
          <a:xfrm>
            <a:off x="3268980" y="4201668"/>
            <a:ext cx="64008" cy="64008"/>
          </a:xfrm>
          <a:prstGeom prst="ellipse">
            <a:avLst/>
          </a:prstGeom>
          <a:solidFill>
            <a:srgbClr val="3A3A3A"/>
          </a:solidFill>
          <a:ln w="9525">
            <a:solidFill>
              <a:srgbClr val="3A3A3A"/>
            </a:solidFill>
            <a:prstDash val="solid"/>
          </a:ln>
        </p:spPr>
      </p:sp>
      <p:sp>
        <p:nvSpPr>
          <p:cNvPr id="73" name="Shape 71"/>
          <p:cNvSpPr/>
          <p:nvPr/>
        </p:nvSpPr>
        <p:spPr>
          <a:xfrm>
            <a:off x="3387852" y="4201668"/>
            <a:ext cx="64008" cy="64008"/>
          </a:xfrm>
          <a:prstGeom prst="ellipse">
            <a:avLst/>
          </a:prstGeom>
          <a:solidFill>
            <a:srgbClr val="3A3A3A"/>
          </a:solidFill>
          <a:ln w="9525">
            <a:solidFill>
              <a:srgbClr val="3A3A3A"/>
            </a:solidFill>
            <a:prstDash val="solid"/>
          </a:ln>
        </p:spPr>
      </p:sp>
      <p:sp>
        <p:nvSpPr>
          <p:cNvPr id="74" name="Shape 72"/>
          <p:cNvSpPr/>
          <p:nvPr/>
        </p:nvSpPr>
        <p:spPr>
          <a:xfrm>
            <a:off x="3506724" y="4201668"/>
            <a:ext cx="64008" cy="64008"/>
          </a:xfrm>
          <a:prstGeom prst="ellipse">
            <a:avLst/>
          </a:prstGeom>
          <a:solidFill>
            <a:srgbClr val="3A3A3A"/>
          </a:solidFill>
          <a:ln w="9525">
            <a:solidFill>
              <a:srgbClr val="3A3A3A"/>
            </a:solidFill>
            <a:prstDash val="solid"/>
          </a:ln>
        </p:spPr>
      </p:sp>
      <p:sp>
        <p:nvSpPr>
          <p:cNvPr id="75" name="Shape 73"/>
          <p:cNvSpPr/>
          <p:nvPr/>
        </p:nvSpPr>
        <p:spPr>
          <a:xfrm>
            <a:off x="3625596" y="4201668"/>
            <a:ext cx="64008" cy="64008"/>
          </a:xfrm>
          <a:prstGeom prst="ellipse">
            <a:avLst/>
          </a:prstGeom>
          <a:solidFill>
            <a:srgbClr val="3A3A3A"/>
          </a:solidFill>
          <a:ln w="9525">
            <a:solidFill>
              <a:srgbClr val="3A3A3A"/>
            </a:solidFill>
            <a:prstDash val="solid"/>
          </a:ln>
        </p:spPr>
      </p:sp>
      <p:sp>
        <p:nvSpPr>
          <p:cNvPr id="76" name="Shape 74"/>
          <p:cNvSpPr/>
          <p:nvPr/>
        </p:nvSpPr>
        <p:spPr>
          <a:xfrm>
            <a:off x="3744468" y="4201668"/>
            <a:ext cx="64008" cy="64008"/>
          </a:xfrm>
          <a:prstGeom prst="ellipse">
            <a:avLst/>
          </a:prstGeom>
          <a:solidFill>
            <a:srgbClr val="3A3A3A"/>
          </a:solidFill>
          <a:ln w="9525">
            <a:solidFill>
              <a:srgbClr val="3A3A3A"/>
            </a:solidFill>
            <a:prstDash val="solid"/>
          </a:ln>
        </p:spPr>
      </p:sp>
      <p:sp>
        <p:nvSpPr>
          <p:cNvPr id="77" name="Shape 75"/>
          <p:cNvSpPr/>
          <p:nvPr/>
        </p:nvSpPr>
        <p:spPr>
          <a:xfrm>
            <a:off x="3863340" y="4201668"/>
            <a:ext cx="64008" cy="64008"/>
          </a:xfrm>
          <a:prstGeom prst="ellipse">
            <a:avLst/>
          </a:prstGeom>
          <a:solidFill>
            <a:srgbClr val="3A3A3A"/>
          </a:solidFill>
          <a:ln w="9525">
            <a:solidFill>
              <a:srgbClr val="3A3A3A"/>
            </a:solidFill>
            <a:prstDash val="solid"/>
          </a:ln>
        </p:spPr>
      </p:sp>
      <p:sp>
        <p:nvSpPr>
          <p:cNvPr id="78" name="Shape 76"/>
          <p:cNvSpPr/>
          <p:nvPr/>
        </p:nvSpPr>
        <p:spPr>
          <a:xfrm>
            <a:off x="3031236" y="4320540"/>
            <a:ext cx="64008" cy="64008"/>
          </a:xfrm>
          <a:prstGeom prst="ellipse">
            <a:avLst/>
          </a:prstGeom>
          <a:solidFill>
            <a:srgbClr val="3A3A3A"/>
          </a:solidFill>
          <a:ln w="9525">
            <a:solidFill>
              <a:srgbClr val="3A3A3A"/>
            </a:solidFill>
            <a:prstDash val="solid"/>
          </a:ln>
        </p:spPr>
      </p:sp>
      <p:sp>
        <p:nvSpPr>
          <p:cNvPr id="79" name="Shape 77"/>
          <p:cNvSpPr/>
          <p:nvPr/>
        </p:nvSpPr>
        <p:spPr>
          <a:xfrm>
            <a:off x="3150108" y="4320540"/>
            <a:ext cx="64008" cy="64008"/>
          </a:xfrm>
          <a:prstGeom prst="ellipse">
            <a:avLst/>
          </a:prstGeom>
          <a:solidFill>
            <a:srgbClr val="3A3A3A"/>
          </a:solidFill>
          <a:ln w="9525">
            <a:solidFill>
              <a:srgbClr val="3A3A3A"/>
            </a:solidFill>
            <a:prstDash val="solid"/>
          </a:ln>
        </p:spPr>
      </p:sp>
      <p:sp>
        <p:nvSpPr>
          <p:cNvPr id="80" name="Shape 78"/>
          <p:cNvSpPr/>
          <p:nvPr/>
        </p:nvSpPr>
        <p:spPr>
          <a:xfrm>
            <a:off x="3268980" y="4320540"/>
            <a:ext cx="64008" cy="64008"/>
          </a:xfrm>
          <a:prstGeom prst="ellipse">
            <a:avLst/>
          </a:prstGeom>
          <a:solidFill>
            <a:srgbClr val="3A3A3A"/>
          </a:solidFill>
          <a:ln w="9525">
            <a:solidFill>
              <a:srgbClr val="3A3A3A"/>
            </a:solidFill>
            <a:prstDash val="solid"/>
          </a:ln>
        </p:spPr>
      </p:sp>
      <p:sp>
        <p:nvSpPr>
          <p:cNvPr id="81" name="Shape 79"/>
          <p:cNvSpPr/>
          <p:nvPr/>
        </p:nvSpPr>
        <p:spPr>
          <a:xfrm>
            <a:off x="3387852" y="4320540"/>
            <a:ext cx="64008" cy="64008"/>
          </a:xfrm>
          <a:prstGeom prst="ellipse">
            <a:avLst/>
          </a:prstGeom>
          <a:solidFill>
            <a:srgbClr val="3A3A3A"/>
          </a:solidFill>
          <a:ln w="9525">
            <a:solidFill>
              <a:srgbClr val="3A3A3A"/>
            </a:solidFill>
            <a:prstDash val="solid"/>
          </a:ln>
        </p:spPr>
      </p:sp>
      <p:sp>
        <p:nvSpPr>
          <p:cNvPr id="82" name="Shape 80"/>
          <p:cNvSpPr/>
          <p:nvPr/>
        </p:nvSpPr>
        <p:spPr>
          <a:xfrm>
            <a:off x="3506724" y="4320540"/>
            <a:ext cx="64008" cy="64008"/>
          </a:xfrm>
          <a:prstGeom prst="ellipse">
            <a:avLst/>
          </a:prstGeom>
          <a:solidFill>
            <a:srgbClr val="3A3A3A"/>
          </a:solidFill>
          <a:ln w="9525">
            <a:solidFill>
              <a:srgbClr val="3A3A3A"/>
            </a:solidFill>
            <a:prstDash val="solid"/>
          </a:ln>
        </p:spPr>
      </p:sp>
      <p:sp>
        <p:nvSpPr>
          <p:cNvPr id="83" name="Shape 81"/>
          <p:cNvSpPr/>
          <p:nvPr/>
        </p:nvSpPr>
        <p:spPr>
          <a:xfrm>
            <a:off x="3625596" y="4320540"/>
            <a:ext cx="64008" cy="64008"/>
          </a:xfrm>
          <a:prstGeom prst="ellipse">
            <a:avLst/>
          </a:prstGeom>
          <a:solidFill>
            <a:srgbClr val="3A3A3A"/>
          </a:solidFill>
          <a:ln w="9525">
            <a:solidFill>
              <a:srgbClr val="3A3A3A"/>
            </a:solidFill>
            <a:prstDash val="solid"/>
          </a:ln>
        </p:spPr>
      </p:sp>
      <p:sp>
        <p:nvSpPr>
          <p:cNvPr id="84" name="Shape 82"/>
          <p:cNvSpPr/>
          <p:nvPr/>
        </p:nvSpPr>
        <p:spPr>
          <a:xfrm>
            <a:off x="3744468" y="4320540"/>
            <a:ext cx="64008" cy="64008"/>
          </a:xfrm>
          <a:prstGeom prst="ellipse">
            <a:avLst/>
          </a:prstGeom>
          <a:solidFill>
            <a:srgbClr val="3A3A3A"/>
          </a:solidFill>
          <a:ln w="9525">
            <a:solidFill>
              <a:srgbClr val="3A3A3A"/>
            </a:solidFill>
            <a:prstDash val="solid"/>
          </a:ln>
        </p:spPr>
      </p:sp>
      <p:sp>
        <p:nvSpPr>
          <p:cNvPr id="85" name="Shape 83"/>
          <p:cNvSpPr/>
          <p:nvPr/>
        </p:nvSpPr>
        <p:spPr>
          <a:xfrm>
            <a:off x="3863340" y="4320540"/>
            <a:ext cx="64008" cy="64008"/>
          </a:xfrm>
          <a:prstGeom prst="ellipse">
            <a:avLst/>
          </a:prstGeom>
          <a:solidFill>
            <a:srgbClr val="3A3A3A"/>
          </a:solidFill>
          <a:ln w="9525">
            <a:solidFill>
              <a:srgbClr val="3A3A3A"/>
            </a:solidFill>
            <a:prstDash val="solid"/>
          </a:ln>
        </p:spPr>
      </p:sp>
      <p:sp>
        <p:nvSpPr>
          <p:cNvPr id="86" name="Shape 84"/>
          <p:cNvSpPr/>
          <p:nvPr/>
        </p:nvSpPr>
        <p:spPr>
          <a:xfrm>
            <a:off x="4206240" y="3886200"/>
            <a:ext cx="1097280" cy="685800"/>
          </a:xfrm>
          <a:prstGeom prst="roundRect">
            <a:avLst>
              <a:gd name="adj" fmla="val 6667"/>
            </a:avLst>
          </a:prstGeom>
          <a:solidFill>
            <a:srgbClr val="FFFFFF"/>
          </a:solidFill>
          <a:ln w="12700">
            <a:solidFill>
              <a:srgbClr val="DDD3EC"/>
            </a:solidFill>
            <a:prstDash val="solid"/>
          </a:ln>
        </p:spPr>
      </p:sp>
      <p:sp>
        <p:nvSpPr>
          <p:cNvPr id="87" name="Shape 85"/>
          <p:cNvSpPr/>
          <p:nvPr/>
        </p:nvSpPr>
        <p:spPr>
          <a:xfrm>
            <a:off x="4306824" y="4096512"/>
            <a:ext cx="256032" cy="256032"/>
          </a:xfrm>
          <a:prstGeom prst="ellipse">
            <a:avLst/>
          </a:prstGeom>
          <a:solidFill>
            <a:srgbClr val="3A3A3A"/>
          </a:solidFill>
          <a:ln w="9525">
            <a:solidFill>
              <a:srgbClr val="1A1A1A"/>
            </a:solidFill>
            <a:prstDash val="solid"/>
          </a:ln>
        </p:spPr>
      </p:sp>
      <p:sp>
        <p:nvSpPr>
          <p:cNvPr id="88" name="Shape 86"/>
          <p:cNvSpPr/>
          <p:nvPr/>
        </p:nvSpPr>
        <p:spPr>
          <a:xfrm>
            <a:off x="4626864" y="4032504"/>
            <a:ext cx="256032" cy="256032"/>
          </a:xfrm>
          <a:prstGeom prst="ellipse">
            <a:avLst/>
          </a:prstGeom>
          <a:solidFill>
            <a:srgbClr val="3A3A3A"/>
          </a:solidFill>
          <a:ln w="9525">
            <a:solidFill>
              <a:srgbClr val="1A1A1A"/>
            </a:solidFill>
            <a:prstDash val="solid"/>
          </a:ln>
        </p:spPr>
      </p:sp>
      <p:sp>
        <p:nvSpPr>
          <p:cNvPr id="89" name="Shape 87"/>
          <p:cNvSpPr/>
          <p:nvPr/>
        </p:nvSpPr>
        <p:spPr>
          <a:xfrm>
            <a:off x="4901184" y="4169664"/>
            <a:ext cx="256032" cy="256032"/>
          </a:xfrm>
          <a:prstGeom prst="ellipse">
            <a:avLst/>
          </a:prstGeom>
          <a:solidFill>
            <a:srgbClr val="3A3A3A"/>
          </a:solidFill>
          <a:ln w="9525">
            <a:solidFill>
              <a:srgbClr val="1A1A1A"/>
            </a:solidFill>
            <a:prstDash val="solid"/>
          </a:ln>
        </p:spPr>
      </p:sp>
      <p:sp>
        <p:nvSpPr>
          <p:cNvPr id="90" name="Text 88"/>
          <p:cNvSpPr/>
          <p:nvPr/>
        </p:nvSpPr>
        <p:spPr>
          <a:xfrm>
            <a:off x="2926080" y="4590288"/>
            <a:ext cx="109728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0.5 g powder</a:t>
            </a:r>
            <a:endParaRPr lang="en-US" sz="1000" dirty="0"/>
          </a:p>
        </p:txBody>
      </p:sp>
      <p:sp>
        <p:nvSpPr>
          <p:cNvPr id="91" name="Text 89"/>
          <p:cNvSpPr/>
          <p:nvPr/>
        </p:nvSpPr>
        <p:spPr>
          <a:xfrm>
            <a:off x="4206240" y="4590288"/>
            <a:ext cx="109728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0.5 g granules</a:t>
            </a:r>
            <a:endParaRPr lang="en-US" sz="1000" dirty="0"/>
          </a:p>
        </p:txBody>
      </p:sp>
      <p:sp>
        <p:nvSpPr>
          <p:cNvPr id="92" name="Text 90"/>
          <p:cNvSpPr/>
          <p:nvPr/>
        </p:nvSpPr>
        <p:spPr>
          <a:xfrm>
            <a:off x="640080" y="4892040"/>
            <a:ext cx="5120640" cy="292608"/>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2H₂O₂(aq) → 2H₂O(l) + O₂(g)</a:t>
            </a:r>
            <a:endParaRPr lang="en-US" sz="1150" dirty="0"/>
          </a:p>
        </p:txBody>
      </p:sp>
      <p:sp>
        <p:nvSpPr>
          <p:cNvPr id="93" name="Shape 91"/>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94" name="Text 9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95" name="Text 93"/>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Put </a:t>
            </a:r>
            <a:r>
              <a:rPr lang="en-US" sz="1150" b="1" dirty="0">
                <a:solidFill>
                  <a:srgbClr val="262B3A"/>
                </a:solidFill>
                <a:latin typeface="Calibri" pitchFamily="34" charset="0"/>
                <a:ea typeface="Calibri" pitchFamily="34" charset="-122"/>
                <a:cs typeface="Calibri" pitchFamily="34" charset="-120"/>
              </a:rPr>
              <a:t>5 cm³</a:t>
            </a:r>
            <a:r>
              <a:rPr lang="en-US" sz="1150" dirty="0">
                <a:solidFill>
                  <a:srgbClr val="262B3A"/>
                </a:solidFill>
                <a:latin typeface="Calibri" pitchFamily="34" charset="0"/>
                <a:ea typeface="Calibri" pitchFamily="34" charset="-122"/>
                <a:cs typeface="Calibri" pitchFamily="34" charset="-120"/>
              </a:rPr>
              <a:t> of 10-volume hydrogen peroxide in the flask. Connect the gas syringe and check it reads zero.</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Add </a:t>
            </a:r>
            <a:r>
              <a:rPr lang="en-US" sz="1150" b="1" dirty="0">
                <a:solidFill>
                  <a:srgbClr val="262B3A"/>
                </a:solidFill>
                <a:latin typeface="Calibri" pitchFamily="34" charset="0"/>
                <a:ea typeface="Calibri" pitchFamily="34" charset="-122"/>
                <a:cs typeface="Calibri" pitchFamily="34" charset="-120"/>
              </a:rPr>
              <a:t>0.5 g of MnO₂ powder</a:t>
            </a:r>
            <a:r>
              <a:rPr lang="en-US" sz="1150" dirty="0">
                <a:solidFill>
                  <a:srgbClr val="262B3A"/>
                </a:solidFill>
                <a:latin typeface="Calibri" pitchFamily="34" charset="0"/>
                <a:ea typeface="Calibri" pitchFamily="34" charset="-122"/>
                <a:cs typeface="Calibri" pitchFamily="34" charset="-120"/>
              </a:rPr>
              <a:t>, replace the bung and start the clock. Read the volume of O₂ every </a:t>
            </a:r>
            <a:r>
              <a:rPr lang="en-US" sz="1150" b="1" dirty="0">
                <a:solidFill>
                  <a:srgbClr val="262B3A"/>
                </a:solidFill>
                <a:latin typeface="Calibri" pitchFamily="34" charset="0"/>
                <a:ea typeface="Calibri" pitchFamily="34" charset="-122"/>
                <a:cs typeface="Calibri" pitchFamily="34" charset="-120"/>
              </a:rPr>
              <a:t>10 s</a:t>
            </a:r>
            <a:r>
              <a:rPr lang="en-US" sz="1150" dirty="0">
                <a:solidFill>
                  <a:srgbClr val="262B3A"/>
                </a:solidFill>
                <a:latin typeface="Calibri" pitchFamily="34" charset="0"/>
                <a:ea typeface="Calibri" pitchFamily="34" charset="-122"/>
                <a:cs typeface="Calibri" pitchFamily="34" charset="-120"/>
              </a:rPr>
              <a:t> for 60 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Repeat with </a:t>
            </a:r>
            <a:r>
              <a:rPr lang="en-US" sz="1150" b="1" dirty="0">
                <a:solidFill>
                  <a:srgbClr val="262B3A"/>
                </a:solidFill>
                <a:latin typeface="Calibri" pitchFamily="34" charset="0"/>
                <a:ea typeface="Calibri" pitchFamily="34" charset="-122"/>
                <a:cs typeface="Calibri" pitchFamily="34" charset="-120"/>
              </a:rPr>
              <a:t>0.5 g of MnO₂ granules</a:t>
            </a:r>
            <a:r>
              <a:rPr lang="en-US" sz="1150" dirty="0">
                <a:solidFill>
                  <a:srgbClr val="262B3A"/>
                </a:solidFill>
                <a:latin typeface="Calibri" pitchFamily="34" charset="0"/>
                <a:ea typeface="Calibri" pitchFamily="34" charset="-122"/>
                <a:cs typeface="Calibri" pitchFamily="34" charset="-120"/>
              </a:rPr>
              <a:t>. Do each twice and take a mean.</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IV</a:t>
            </a:r>
            <a:r>
              <a:rPr lang="en-US" sz="1150" dirty="0">
                <a:solidFill>
                  <a:srgbClr val="262B3A"/>
                </a:solidFill>
                <a:latin typeface="Calibri" pitchFamily="34" charset="0"/>
                <a:ea typeface="Calibri" pitchFamily="34" charset="-122"/>
                <a:cs typeface="Calibri" pitchFamily="34" charset="-120"/>
              </a:rPr>
              <a:t>: particle size of catalyst. </a:t>
            </a:r>
            <a:r>
              <a:rPr lang="en-US" sz="1150" b="1" dirty="0">
                <a:solidFill>
                  <a:srgbClr val="262B3A"/>
                </a:solidFill>
                <a:latin typeface="Calibri" pitchFamily="34" charset="0"/>
                <a:ea typeface="Calibri" pitchFamily="34" charset="-122"/>
                <a:cs typeface="Calibri" pitchFamily="34" charset="-120"/>
              </a:rPr>
              <a:t>DV</a:t>
            </a:r>
            <a:r>
              <a:rPr lang="en-US" sz="1150" dirty="0">
                <a:solidFill>
                  <a:srgbClr val="262B3A"/>
                </a:solidFill>
                <a:latin typeface="Calibri" pitchFamily="34" charset="0"/>
                <a:ea typeface="Calibri" pitchFamily="34" charset="-122"/>
                <a:cs typeface="Calibri" pitchFamily="34" charset="-120"/>
              </a:rPr>
              <a:t>: volume of O₂. </a:t>
            </a:r>
            <a:r>
              <a:rPr lang="en-US" sz="1150" b="1" dirty="0">
                <a:solidFill>
                  <a:srgbClr val="262B3A"/>
                </a:solidFill>
                <a:latin typeface="Calibri" pitchFamily="34" charset="0"/>
                <a:ea typeface="Calibri" pitchFamily="34" charset="-122"/>
                <a:cs typeface="Calibri" pitchFamily="34" charset="-120"/>
              </a:rPr>
              <a:t>Control</a:t>
            </a:r>
            <a:r>
              <a:rPr lang="en-US" sz="1150" dirty="0">
                <a:solidFill>
                  <a:srgbClr val="262B3A"/>
                </a:solidFill>
                <a:latin typeface="Calibri" pitchFamily="34" charset="0"/>
                <a:ea typeface="Calibri" pitchFamily="34" charset="-122"/>
                <a:cs typeface="Calibri" pitchFamily="34" charset="-120"/>
              </a:rPr>
              <a:t>: mass of catalyst, volume and concentration of H₂O₂, temperature.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Safety</a:t>
            </a:r>
            <a:r>
              <a:rPr lang="en-US" sz="1150" dirty="0">
                <a:solidFill>
                  <a:srgbClr val="262B3A"/>
                </a:solidFill>
                <a:latin typeface="Calibri" pitchFamily="34" charset="0"/>
                <a:ea typeface="Calibri" pitchFamily="34" charset="-122"/>
                <a:cs typeface="Calibri" pitchFamily="34" charset="-120"/>
              </a:rPr>
              <a:t>: eye protection. 10-volume H₂O₂ is low hazard but irritates eyes. MnO₂ is </a:t>
            </a:r>
            <a:r>
              <a:rPr lang="en-US" sz="1150" b="1" dirty="0">
                <a:solidFill>
                  <a:srgbClr val="262B3A"/>
                </a:solidFill>
                <a:latin typeface="Calibri" pitchFamily="34" charset="0"/>
                <a:ea typeface="Calibri" pitchFamily="34" charset="-122"/>
                <a:cs typeface="Calibri" pitchFamily="34" charset="-120"/>
              </a:rPr>
              <a:t>HARMFUL</a:t>
            </a:r>
            <a:r>
              <a:rPr lang="en-US" sz="1150" dirty="0">
                <a:solidFill>
                  <a:srgbClr val="262B3A"/>
                </a:solidFill>
                <a:latin typeface="Calibri" pitchFamily="34" charset="0"/>
                <a:ea typeface="Calibri" pitchFamily="34" charset="-122"/>
                <a:cs typeface="Calibri" pitchFamily="34" charset="-120"/>
              </a:rPr>
              <a:t> if swallowed or inhaled: avoid raising dust.</a:t>
            </a:r>
            <a:endParaRPr lang="en-US" sz="1150" dirty="0"/>
          </a:p>
        </p:txBody>
      </p:sp>
      <p:sp>
        <p:nvSpPr>
          <p:cNvPr id="96" name="Shape 94"/>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97" name="Text 95"/>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maximum volume of oxygen</a:t>
            </a:r>
            <a:endParaRPr lang="en-US" sz="1300" dirty="0"/>
          </a:p>
        </p:txBody>
      </p:sp>
      <p:sp>
        <p:nvSpPr>
          <p:cNvPr id="98" name="Text 96"/>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"10-volume" means 1 cm³ of the solution gives 10 cm³ of O₂.</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Volume   </a:t>
            </a:r>
            <a:r>
              <a:rPr lang="en-US" sz="1050" dirty="0">
                <a:solidFill>
                  <a:srgbClr val="262B3A"/>
                </a:solidFill>
                <a:latin typeface="Calibri" pitchFamily="34" charset="0"/>
                <a:ea typeface="Calibri" pitchFamily="34" charset="-122"/>
                <a:cs typeface="Calibri" pitchFamily="34" charset="-120"/>
              </a:rPr>
              <a:t>5 cm³ of solution used</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5 × 10 = </a:t>
            </a:r>
            <a:r>
              <a:rPr lang="en-US" sz="1050" b="1" dirty="0">
                <a:solidFill>
                  <a:srgbClr val="C8414C"/>
                </a:solidFill>
                <a:latin typeface="Calibri" pitchFamily="34" charset="0"/>
                <a:ea typeface="Calibri" pitchFamily="34" charset="-122"/>
                <a:cs typeface="Calibri" pitchFamily="34" charset="-120"/>
              </a:rPr>
              <a:t>50 cm³</a:t>
            </a:r>
            <a:r>
              <a:rPr lang="en-US" sz="1050" b="1" dirty="0">
                <a:solidFill>
                  <a:srgbClr val="C8414C"/>
                </a:solidFill>
                <a:latin typeface="Calibri" pitchFamily="34" charset="0"/>
                <a:ea typeface="Calibri" pitchFamily="34" charset="-122"/>
                <a:cs typeface="Calibri" pitchFamily="34" charset="-120"/>
              </a:rPr>
              <a:t> of O₂ at most, whichever catalyst</a:t>
            </a:r>
            <a:endParaRPr lang="en-US" sz="1050" dirty="0"/>
          </a:p>
        </p:txBody>
      </p:sp>
      <p:sp>
        <p:nvSpPr>
          <p:cNvPr id="99" name="Shape 97"/>
          <p:cNvSpPr/>
          <p:nvPr/>
        </p:nvSpPr>
        <p:spPr>
          <a:xfrm>
            <a:off x="411480" y="5833872"/>
            <a:ext cx="11368735" cy="530352"/>
          </a:xfrm>
          <a:prstGeom prst="rect">
            <a:avLst/>
          </a:prstGeom>
          <a:solidFill>
            <a:srgbClr val="FFF4E0"/>
          </a:solidFill>
          <a:ln w="6350">
            <a:solidFill>
              <a:srgbClr val="F1D9A8"/>
            </a:solidFill>
            <a:prstDash val="solid"/>
          </a:ln>
        </p:spPr>
      </p:sp>
      <p:sp>
        <p:nvSpPr>
          <p:cNvPr id="100" name="Shape 98"/>
          <p:cNvSpPr/>
          <p:nvPr/>
        </p:nvSpPr>
        <p:spPr>
          <a:xfrm>
            <a:off x="411480" y="5833872"/>
            <a:ext cx="82296" cy="530352"/>
          </a:xfrm>
          <a:prstGeom prst="rect">
            <a:avLst/>
          </a:prstGeom>
          <a:solidFill>
            <a:srgbClr val="E39A2F"/>
          </a:solidFill>
          <a:ln w="12700">
            <a:solidFill>
              <a:srgbClr val="E39A2F"/>
            </a:solidFill>
            <a:prstDash val="solid"/>
          </a:ln>
        </p:spPr>
      </p:sp>
      <p:sp>
        <p:nvSpPr>
          <p:cNvPr id="101" name="Text 9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the </a:t>
            </a:r>
            <a:r>
              <a:rPr lang="en-US" sz="1150" b="1" dirty="0">
                <a:solidFill>
                  <a:srgbClr val="262B3A"/>
                </a:solidFill>
                <a:latin typeface="Calibri" pitchFamily="34" charset="0"/>
                <a:ea typeface="Calibri" pitchFamily="34" charset="-122"/>
                <a:cs typeface="Calibri" pitchFamily="34" charset="-120"/>
              </a:rPr>
              <a:t>mass</a:t>
            </a:r>
            <a:r>
              <a:rPr lang="en-US" sz="1150" dirty="0">
                <a:solidFill>
                  <a:srgbClr val="262B3A"/>
                </a:solidFill>
                <a:latin typeface="Calibri" pitchFamily="34" charset="0"/>
                <a:ea typeface="Calibri" pitchFamily="34" charset="-122"/>
                <a:cs typeface="Calibri" pitchFamily="34" charset="-120"/>
              </a:rPr>
              <a:t> of MnO₂ be the same in both runs? Why does the catalyst not change the </a:t>
            </a:r>
            <a:r>
              <a:rPr lang="en-US" sz="1150" b="1" dirty="0">
                <a:solidFill>
                  <a:srgbClr val="262B3A"/>
                </a:solidFill>
                <a:latin typeface="Calibri" pitchFamily="34" charset="0"/>
                <a:ea typeface="Calibri" pitchFamily="34" charset="-122"/>
                <a:cs typeface="Calibri" pitchFamily="34" charset="-120"/>
              </a:rPr>
              <a:t>total</a:t>
            </a:r>
            <a:r>
              <a:rPr lang="en-US" sz="1150" dirty="0">
                <a:solidFill>
                  <a:srgbClr val="262B3A"/>
                </a:solidFill>
                <a:latin typeface="Calibri" pitchFamily="34" charset="0"/>
                <a:ea typeface="Calibri" pitchFamily="34" charset="-122"/>
                <a:cs typeface="Calibri" pitchFamily="34" charset="-120"/>
              </a:rPr>
              <a:t> volume of O₂?</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C4.3.2 • volume of oxygen against time, plotted to scale</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12</a:t>
            </a:r>
            <a:endParaRPr lang="en-US" sz="1000" dirty="0"/>
          </a:p>
        </p:txBody>
      </p:sp>
      <p:sp>
        <p:nvSpPr>
          <p:cNvPr id="10" name="Shape 8"/>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illustrative class results (means of two runs), plotted to scale</a:t>
            </a:r>
            <a:endParaRPr lang="en-US" sz="1000" dirty="0"/>
          </a:p>
        </p:txBody>
      </p:sp>
      <p:sp>
        <p:nvSpPr>
          <p:cNvPr id="12" name="Shape 10"/>
          <p:cNvSpPr/>
          <p:nvPr/>
        </p:nvSpPr>
        <p:spPr>
          <a:xfrm>
            <a:off x="1325880" y="1417320"/>
            <a:ext cx="4846320" cy="3246120"/>
          </a:xfrm>
          <a:prstGeom prst="rect">
            <a:avLst/>
          </a:prstGeom>
          <a:solidFill>
            <a:srgbClr val="FFFFFF"/>
          </a:solidFill>
          <a:ln/>
        </p:spPr>
      </p:sp>
      <p:sp>
        <p:nvSpPr>
          <p:cNvPr id="13" name="Shape 11"/>
          <p:cNvSpPr/>
          <p:nvPr/>
        </p:nvSpPr>
        <p:spPr>
          <a:xfrm>
            <a:off x="1325880" y="1417320"/>
            <a:ext cx="91" cy="3246120"/>
          </a:xfrm>
          <a:prstGeom prst="line">
            <a:avLst/>
          </a:prstGeom>
          <a:noFill/>
          <a:ln w="6350">
            <a:solidFill>
              <a:srgbClr val="D6CBE8"/>
            </a:solidFill>
            <a:prstDash val="solid"/>
          </a:ln>
        </p:spPr>
      </p:sp>
      <p:sp>
        <p:nvSpPr>
          <p:cNvPr id="14" name="Shape 12"/>
          <p:cNvSpPr/>
          <p:nvPr/>
        </p:nvSpPr>
        <p:spPr>
          <a:xfrm>
            <a:off x="1729740" y="1417320"/>
            <a:ext cx="91" cy="3246120"/>
          </a:xfrm>
          <a:prstGeom prst="line">
            <a:avLst/>
          </a:prstGeom>
          <a:noFill/>
          <a:ln w="6350">
            <a:solidFill>
              <a:srgbClr val="EEE9F6"/>
            </a:solidFill>
            <a:prstDash val="solid"/>
          </a:ln>
        </p:spPr>
      </p:sp>
      <p:sp>
        <p:nvSpPr>
          <p:cNvPr id="15" name="Shape 13"/>
          <p:cNvSpPr/>
          <p:nvPr/>
        </p:nvSpPr>
        <p:spPr>
          <a:xfrm>
            <a:off x="2133600" y="1417320"/>
            <a:ext cx="91" cy="3246120"/>
          </a:xfrm>
          <a:prstGeom prst="line">
            <a:avLst/>
          </a:prstGeom>
          <a:noFill/>
          <a:ln w="6350">
            <a:solidFill>
              <a:srgbClr val="D6CBE8"/>
            </a:solidFill>
            <a:prstDash val="solid"/>
          </a:ln>
        </p:spPr>
      </p:sp>
      <p:sp>
        <p:nvSpPr>
          <p:cNvPr id="16" name="Shape 14"/>
          <p:cNvSpPr/>
          <p:nvPr/>
        </p:nvSpPr>
        <p:spPr>
          <a:xfrm>
            <a:off x="2537460" y="1417320"/>
            <a:ext cx="91" cy="3246120"/>
          </a:xfrm>
          <a:prstGeom prst="line">
            <a:avLst/>
          </a:prstGeom>
          <a:noFill/>
          <a:ln w="6350">
            <a:solidFill>
              <a:srgbClr val="EEE9F6"/>
            </a:solidFill>
            <a:prstDash val="solid"/>
          </a:ln>
        </p:spPr>
      </p:sp>
      <p:sp>
        <p:nvSpPr>
          <p:cNvPr id="17" name="Shape 15"/>
          <p:cNvSpPr/>
          <p:nvPr/>
        </p:nvSpPr>
        <p:spPr>
          <a:xfrm>
            <a:off x="2941320" y="1417320"/>
            <a:ext cx="91" cy="3246120"/>
          </a:xfrm>
          <a:prstGeom prst="line">
            <a:avLst/>
          </a:prstGeom>
          <a:noFill/>
          <a:ln w="6350">
            <a:solidFill>
              <a:srgbClr val="D6CBE8"/>
            </a:solidFill>
            <a:prstDash val="solid"/>
          </a:ln>
        </p:spPr>
      </p:sp>
      <p:sp>
        <p:nvSpPr>
          <p:cNvPr id="18" name="Shape 16"/>
          <p:cNvSpPr/>
          <p:nvPr/>
        </p:nvSpPr>
        <p:spPr>
          <a:xfrm>
            <a:off x="3345180" y="1417320"/>
            <a:ext cx="91" cy="3246120"/>
          </a:xfrm>
          <a:prstGeom prst="line">
            <a:avLst/>
          </a:prstGeom>
          <a:noFill/>
          <a:ln w="6350">
            <a:solidFill>
              <a:srgbClr val="EEE9F6"/>
            </a:solidFill>
            <a:prstDash val="solid"/>
          </a:ln>
        </p:spPr>
      </p:sp>
      <p:sp>
        <p:nvSpPr>
          <p:cNvPr id="19" name="Shape 17"/>
          <p:cNvSpPr/>
          <p:nvPr/>
        </p:nvSpPr>
        <p:spPr>
          <a:xfrm>
            <a:off x="3749040" y="1417320"/>
            <a:ext cx="91" cy="3246120"/>
          </a:xfrm>
          <a:prstGeom prst="line">
            <a:avLst/>
          </a:prstGeom>
          <a:noFill/>
          <a:ln w="6350">
            <a:solidFill>
              <a:srgbClr val="D6CBE8"/>
            </a:solidFill>
            <a:prstDash val="solid"/>
          </a:ln>
        </p:spPr>
      </p:sp>
      <p:sp>
        <p:nvSpPr>
          <p:cNvPr id="20" name="Shape 18"/>
          <p:cNvSpPr/>
          <p:nvPr/>
        </p:nvSpPr>
        <p:spPr>
          <a:xfrm>
            <a:off x="4152900" y="1417320"/>
            <a:ext cx="91" cy="3246120"/>
          </a:xfrm>
          <a:prstGeom prst="line">
            <a:avLst/>
          </a:prstGeom>
          <a:noFill/>
          <a:ln w="6350">
            <a:solidFill>
              <a:srgbClr val="EEE9F6"/>
            </a:solidFill>
            <a:prstDash val="solid"/>
          </a:ln>
        </p:spPr>
      </p:sp>
      <p:sp>
        <p:nvSpPr>
          <p:cNvPr id="21" name="Shape 19"/>
          <p:cNvSpPr/>
          <p:nvPr/>
        </p:nvSpPr>
        <p:spPr>
          <a:xfrm>
            <a:off x="4556760" y="1417320"/>
            <a:ext cx="91" cy="3246120"/>
          </a:xfrm>
          <a:prstGeom prst="line">
            <a:avLst/>
          </a:prstGeom>
          <a:noFill/>
          <a:ln w="6350">
            <a:solidFill>
              <a:srgbClr val="D6CBE8"/>
            </a:solidFill>
            <a:prstDash val="solid"/>
          </a:ln>
        </p:spPr>
      </p:sp>
      <p:sp>
        <p:nvSpPr>
          <p:cNvPr id="22" name="Shape 20"/>
          <p:cNvSpPr/>
          <p:nvPr/>
        </p:nvSpPr>
        <p:spPr>
          <a:xfrm>
            <a:off x="4960620" y="1417320"/>
            <a:ext cx="91" cy="3246120"/>
          </a:xfrm>
          <a:prstGeom prst="line">
            <a:avLst/>
          </a:prstGeom>
          <a:noFill/>
          <a:ln w="6350">
            <a:solidFill>
              <a:srgbClr val="EEE9F6"/>
            </a:solidFill>
            <a:prstDash val="solid"/>
          </a:ln>
        </p:spPr>
      </p:sp>
      <p:sp>
        <p:nvSpPr>
          <p:cNvPr id="23" name="Shape 21"/>
          <p:cNvSpPr/>
          <p:nvPr/>
        </p:nvSpPr>
        <p:spPr>
          <a:xfrm>
            <a:off x="5364480" y="1417320"/>
            <a:ext cx="91" cy="3246120"/>
          </a:xfrm>
          <a:prstGeom prst="line">
            <a:avLst/>
          </a:prstGeom>
          <a:noFill/>
          <a:ln w="6350">
            <a:solidFill>
              <a:srgbClr val="D6CBE8"/>
            </a:solidFill>
            <a:prstDash val="solid"/>
          </a:ln>
        </p:spPr>
      </p:sp>
      <p:sp>
        <p:nvSpPr>
          <p:cNvPr id="24" name="Shape 22"/>
          <p:cNvSpPr/>
          <p:nvPr/>
        </p:nvSpPr>
        <p:spPr>
          <a:xfrm>
            <a:off x="5768340" y="1417320"/>
            <a:ext cx="91" cy="3246120"/>
          </a:xfrm>
          <a:prstGeom prst="line">
            <a:avLst/>
          </a:prstGeom>
          <a:noFill/>
          <a:ln w="6350">
            <a:solidFill>
              <a:srgbClr val="EEE9F6"/>
            </a:solidFill>
            <a:prstDash val="solid"/>
          </a:ln>
        </p:spPr>
      </p:sp>
      <p:sp>
        <p:nvSpPr>
          <p:cNvPr id="25" name="Shape 23"/>
          <p:cNvSpPr/>
          <p:nvPr/>
        </p:nvSpPr>
        <p:spPr>
          <a:xfrm>
            <a:off x="6172200" y="1417320"/>
            <a:ext cx="91" cy="3246120"/>
          </a:xfrm>
          <a:prstGeom prst="line">
            <a:avLst/>
          </a:prstGeom>
          <a:noFill/>
          <a:ln w="6350">
            <a:solidFill>
              <a:srgbClr val="D6CBE8"/>
            </a:solidFill>
            <a:prstDash val="solid"/>
          </a:ln>
        </p:spPr>
      </p:sp>
      <p:sp>
        <p:nvSpPr>
          <p:cNvPr id="26" name="Shape 24"/>
          <p:cNvSpPr/>
          <p:nvPr/>
        </p:nvSpPr>
        <p:spPr>
          <a:xfrm>
            <a:off x="1325880" y="4663440"/>
            <a:ext cx="4846320" cy="91"/>
          </a:xfrm>
          <a:prstGeom prst="line">
            <a:avLst/>
          </a:prstGeom>
          <a:noFill/>
          <a:ln w="6350">
            <a:solidFill>
              <a:srgbClr val="D6CBE8"/>
            </a:solidFill>
            <a:prstDash val="solid"/>
          </a:ln>
        </p:spPr>
      </p:sp>
      <p:sp>
        <p:nvSpPr>
          <p:cNvPr id="27" name="Shape 25"/>
          <p:cNvSpPr/>
          <p:nvPr/>
        </p:nvSpPr>
        <p:spPr>
          <a:xfrm>
            <a:off x="1325880" y="4392930"/>
            <a:ext cx="4846320" cy="91"/>
          </a:xfrm>
          <a:prstGeom prst="line">
            <a:avLst/>
          </a:prstGeom>
          <a:noFill/>
          <a:ln w="6350">
            <a:solidFill>
              <a:srgbClr val="EEE9F6"/>
            </a:solidFill>
            <a:prstDash val="solid"/>
          </a:ln>
        </p:spPr>
      </p:sp>
      <p:sp>
        <p:nvSpPr>
          <p:cNvPr id="28" name="Shape 26"/>
          <p:cNvSpPr/>
          <p:nvPr/>
        </p:nvSpPr>
        <p:spPr>
          <a:xfrm>
            <a:off x="1325880" y="4122420"/>
            <a:ext cx="4846320" cy="91"/>
          </a:xfrm>
          <a:prstGeom prst="line">
            <a:avLst/>
          </a:prstGeom>
          <a:noFill/>
          <a:ln w="6350">
            <a:solidFill>
              <a:srgbClr val="D6CBE8"/>
            </a:solidFill>
            <a:prstDash val="solid"/>
          </a:ln>
        </p:spPr>
      </p:sp>
      <p:sp>
        <p:nvSpPr>
          <p:cNvPr id="29" name="Shape 27"/>
          <p:cNvSpPr/>
          <p:nvPr/>
        </p:nvSpPr>
        <p:spPr>
          <a:xfrm>
            <a:off x="1325880" y="3851910"/>
            <a:ext cx="4846320" cy="91"/>
          </a:xfrm>
          <a:prstGeom prst="line">
            <a:avLst/>
          </a:prstGeom>
          <a:noFill/>
          <a:ln w="6350">
            <a:solidFill>
              <a:srgbClr val="EEE9F6"/>
            </a:solidFill>
            <a:prstDash val="solid"/>
          </a:ln>
        </p:spPr>
      </p:sp>
      <p:sp>
        <p:nvSpPr>
          <p:cNvPr id="30" name="Shape 28"/>
          <p:cNvSpPr/>
          <p:nvPr/>
        </p:nvSpPr>
        <p:spPr>
          <a:xfrm>
            <a:off x="1325880" y="3581400"/>
            <a:ext cx="4846320" cy="91"/>
          </a:xfrm>
          <a:prstGeom prst="line">
            <a:avLst/>
          </a:prstGeom>
          <a:noFill/>
          <a:ln w="6350">
            <a:solidFill>
              <a:srgbClr val="D6CBE8"/>
            </a:solidFill>
            <a:prstDash val="solid"/>
          </a:ln>
        </p:spPr>
      </p:sp>
      <p:sp>
        <p:nvSpPr>
          <p:cNvPr id="31" name="Shape 29"/>
          <p:cNvSpPr/>
          <p:nvPr/>
        </p:nvSpPr>
        <p:spPr>
          <a:xfrm>
            <a:off x="1325880" y="3310890"/>
            <a:ext cx="4846320" cy="91"/>
          </a:xfrm>
          <a:prstGeom prst="line">
            <a:avLst/>
          </a:prstGeom>
          <a:noFill/>
          <a:ln w="6350">
            <a:solidFill>
              <a:srgbClr val="EEE9F6"/>
            </a:solidFill>
            <a:prstDash val="solid"/>
          </a:ln>
        </p:spPr>
      </p:sp>
      <p:sp>
        <p:nvSpPr>
          <p:cNvPr id="32" name="Shape 30"/>
          <p:cNvSpPr/>
          <p:nvPr/>
        </p:nvSpPr>
        <p:spPr>
          <a:xfrm>
            <a:off x="1325880" y="3040380"/>
            <a:ext cx="4846320" cy="91"/>
          </a:xfrm>
          <a:prstGeom prst="line">
            <a:avLst/>
          </a:prstGeom>
          <a:noFill/>
          <a:ln w="6350">
            <a:solidFill>
              <a:srgbClr val="D6CBE8"/>
            </a:solidFill>
            <a:prstDash val="solid"/>
          </a:ln>
        </p:spPr>
      </p:sp>
      <p:sp>
        <p:nvSpPr>
          <p:cNvPr id="33" name="Shape 31"/>
          <p:cNvSpPr/>
          <p:nvPr/>
        </p:nvSpPr>
        <p:spPr>
          <a:xfrm>
            <a:off x="1325880" y="2769870"/>
            <a:ext cx="4846320" cy="91"/>
          </a:xfrm>
          <a:prstGeom prst="line">
            <a:avLst/>
          </a:prstGeom>
          <a:noFill/>
          <a:ln w="6350">
            <a:solidFill>
              <a:srgbClr val="EEE9F6"/>
            </a:solidFill>
            <a:prstDash val="solid"/>
          </a:ln>
        </p:spPr>
      </p:sp>
      <p:sp>
        <p:nvSpPr>
          <p:cNvPr id="34" name="Shape 32"/>
          <p:cNvSpPr/>
          <p:nvPr/>
        </p:nvSpPr>
        <p:spPr>
          <a:xfrm>
            <a:off x="1325880" y="2499360"/>
            <a:ext cx="4846320" cy="91"/>
          </a:xfrm>
          <a:prstGeom prst="line">
            <a:avLst/>
          </a:prstGeom>
          <a:noFill/>
          <a:ln w="6350">
            <a:solidFill>
              <a:srgbClr val="D6CBE8"/>
            </a:solidFill>
            <a:prstDash val="solid"/>
          </a:ln>
        </p:spPr>
      </p:sp>
      <p:sp>
        <p:nvSpPr>
          <p:cNvPr id="35" name="Shape 33"/>
          <p:cNvSpPr/>
          <p:nvPr/>
        </p:nvSpPr>
        <p:spPr>
          <a:xfrm>
            <a:off x="1325880" y="2228850"/>
            <a:ext cx="4846320" cy="91"/>
          </a:xfrm>
          <a:prstGeom prst="line">
            <a:avLst/>
          </a:prstGeom>
          <a:noFill/>
          <a:ln w="6350">
            <a:solidFill>
              <a:srgbClr val="EEE9F6"/>
            </a:solidFill>
            <a:prstDash val="solid"/>
          </a:ln>
        </p:spPr>
      </p:sp>
      <p:sp>
        <p:nvSpPr>
          <p:cNvPr id="36" name="Shape 34"/>
          <p:cNvSpPr/>
          <p:nvPr/>
        </p:nvSpPr>
        <p:spPr>
          <a:xfrm>
            <a:off x="1325880" y="1958340"/>
            <a:ext cx="4846320" cy="91"/>
          </a:xfrm>
          <a:prstGeom prst="line">
            <a:avLst/>
          </a:prstGeom>
          <a:noFill/>
          <a:ln w="6350">
            <a:solidFill>
              <a:srgbClr val="D6CBE8"/>
            </a:solidFill>
            <a:prstDash val="solid"/>
          </a:ln>
        </p:spPr>
      </p:sp>
      <p:sp>
        <p:nvSpPr>
          <p:cNvPr id="37" name="Shape 35"/>
          <p:cNvSpPr/>
          <p:nvPr/>
        </p:nvSpPr>
        <p:spPr>
          <a:xfrm>
            <a:off x="1325880" y="1687830"/>
            <a:ext cx="4846320" cy="91"/>
          </a:xfrm>
          <a:prstGeom prst="line">
            <a:avLst/>
          </a:prstGeom>
          <a:noFill/>
          <a:ln w="6350">
            <a:solidFill>
              <a:srgbClr val="EEE9F6"/>
            </a:solidFill>
            <a:prstDash val="solid"/>
          </a:ln>
        </p:spPr>
      </p:sp>
      <p:sp>
        <p:nvSpPr>
          <p:cNvPr id="38" name="Shape 36"/>
          <p:cNvSpPr/>
          <p:nvPr/>
        </p:nvSpPr>
        <p:spPr>
          <a:xfrm>
            <a:off x="1325880" y="1417320"/>
            <a:ext cx="4846320" cy="91"/>
          </a:xfrm>
          <a:prstGeom prst="line">
            <a:avLst/>
          </a:prstGeom>
          <a:noFill/>
          <a:ln w="6350">
            <a:solidFill>
              <a:srgbClr val="D6CBE8"/>
            </a:solidFill>
            <a:prstDash val="solid"/>
          </a:ln>
        </p:spPr>
      </p:sp>
      <p:sp>
        <p:nvSpPr>
          <p:cNvPr id="39" name="Shape 37"/>
          <p:cNvSpPr/>
          <p:nvPr/>
        </p:nvSpPr>
        <p:spPr>
          <a:xfrm>
            <a:off x="1325880" y="4663440"/>
            <a:ext cx="4846320" cy="91"/>
          </a:xfrm>
          <a:prstGeom prst="line">
            <a:avLst/>
          </a:prstGeom>
          <a:noFill/>
          <a:ln w="19050">
            <a:solidFill>
              <a:srgbClr val="2A1F3D"/>
            </a:solidFill>
            <a:prstDash val="solid"/>
          </a:ln>
        </p:spPr>
      </p:sp>
      <p:sp>
        <p:nvSpPr>
          <p:cNvPr id="40" name="Shape 38"/>
          <p:cNvSpPr/>
          <p:nvPr/>
        </p:nvSpPr>
        <p:spPr>
          <a:xfrm flipV="1">
            <a:off x="1325880" y="1417320"/>
            <a:ext cx="91" cy="3246120"/>
          </a:xfrm>
          <a:prstGeom prst="line">
            <a:avLst/>
          </a:prstGeom>
          <a:noFill/>
          <a:ln w="19050">
            <a:solidFill>
              <a:srgbClr val="2A1F3D"/>
            </a:solidFill>
            <a:prstDash val="solid"/>
          </a:ln>
        </p:spPr>
      </p:sp>
      <p:sp>
        <p:nvSpPr>
          <p:cNvPr id="41" name="Shape 39"/>
          <p:cNvSpPr/>
          <p:nvPr/>
        </p:nvSpPr>
        <p:spPr>
          <a:xfrm>
            <a:off x="1325880" y="4663440"/>
            <a:ext cx="91" cy="54864"/>
          </a:xfrm>
          <a:prstGeom prst="line">
            <a:avLst/>
          </a:prstGeom>
          <a:noFill/>
          <a:ln w="12700">
            <a:solidFill>
              <a:srgbClr val="2A1F3D"/>
            </a:solidFill>
            <a:prstDash val="solid"/>
          </a:ln>
        </p:spPr>
      </p:sp>
      <p:sp>
        <p:nvSpPr>
          <p:cNvPr id="42" name="Text 40"/>
          <p:cNvSpPr/>
          <p:nvPr/>
        </p:nvSpPr>
        <p:spPr>
          <a:xfrm>
            <a:off x="105156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3" name="Shape 41"/>
          <p:cNvSpPr/>
          <p:nvPr/>
        </p:nvSpPr>
        <p:spPr>
          <a:xfrm>
            <a:off x="2133600" y="4663440"/>
            <a:ext cx="91" cy="54864"/>
          </a:xfrm>
          <a:prstGeom prst="line">
            <a:avLst/>
          </a:prstGeom>
          <a:noFill/>
          <a:ln w="12700">
            <a:solidFill>
              <a:srgbClr val="2A1F3D"/>
            </a:solidFill>
            <a:prstDash val="solid"/>
          </a:ln>
        </p:spPr>
      </p:sp>
      <p:sp>
        <p:nvSpPr>
          <p:cNvPr id="44" name="Text 42"/>
          <p:cNvSpPr/>
          <p:nvPr/>
        </p:nvSpPr>
        <p:spPr>
          <a:xfrm>
            <a:off x="185928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5" name="Shape 43"/>
          <p:cNvSpPr/>
          <p:nvPr/>
        </p:nvSpPr>
        <p:spPr>
          <a:xfrm>
            <a:off x="2941320" y="4663440"/>
            <a:ext cx="91" cy="54864"/>
          </a:xfrm>
          <a:prstGeom prst="line">
            <a:avLst/>
          </a:prstGeom>
          <a:noFill/>
          <a:ln w="12700">
            <a:solidFill>
              <a:srgbClr val="2A1F3D"/>
            </a:solidFill>
            <a:prstDash val="solid"/>
          </a:ln>
        </p:spPr>
      </p:sp>
      <p:sp>
        <p:nvSpPr>
          <p:cNvPr id="46" name="Text 44"/>
          <p:cNvSpPr/>
          <p:nvPr/>
        </p:nvSpPr>
        <p:spPr>
          <a:xfrm>
            <a:off x="266700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7" name="Shape 45"/>
          <p:cNvSpPr/>
          <p:nvPr/>
        </p:nvSpPr>
        <p:spPr>
          <a:xfrm>
            <a:off x="3749040" y="4663440"/>
            <a:ext cx="91" cy="54864"/>
          </a:xfrm>
          <a:prstGeom prst="line">
            <a:avLst/>
          </a:prstGeom>
          <a:noFill/>
          <a:ln w="12700">
            <a:solidFill>
              <a:srgbClr val="2A1F3D"/>
            </a:solidFill>
            <a:prstDash val="solid"/>
          </a:ln>
        </p:spPr>
      </p:sp>
      <p:sp>
        <p:nvSpPr>
          <p:cNvPr id="48" name="Text 46"/>
          <p:cNvSpPr/>
          <p:nvPr/>
        </p:nvSpPr>
        <p:spPr>
          <a:xfrm>
            <a:off x="347472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9" name="Shape 47"/>
          <p:cNvSpPr/>
          <p:nvPr/>
        </p:nvSpPr>
        <p:spPr>
          <a:xfrm>
            <a:off x="4556760" y="4663440"/>
            <a:ext cx="91" cy="54864"/>
          </a:xfrm>
          <a:prstGeom prst="line">
            <a:avLst/>
          </a:prstGeom>
          <a:noFill/>
          <a:ln w="12700">
            <a:solidFill>
              <a:srgbClr val="2A1F3D"/>
            </a:solidFill>
            <a:prstDash val="solid"/>
          </a:ln>
        </p:spPr>
      </p:sp>
      <p:sp>
        <p:nvSpPr>
          <p:cNvPr id="50" name="Text 48"/>
          <p:cNvSpPr/>
          <p:nvPr/>
        </p:nvSpPr>
        <p:spPr>
          <a:xfrm>
            <a:off x="428244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1" name="Shape 49"/>
          <p:cNvSpPr/>
          <p:nvPr/>
        </p:nvSpPr>
        <p:spPr>
          <a:xfrm>
            <a:off x="5364480" y="4663440"/>
            <a:ext cx="91" cy="54864"/>
          </a:xfrm>
          <a:prstGeom prst="line">
            <a:avLst/>
          </a:prstGeom>
          <a:noFill/>
          <a:ln w="12700">
            <a:solidFill>
              <a:srgbClr val="2A1F3D"/>
            </a:solidFill>
            <a:prstDash val="solid"/>
          </a:ln>
        </p:spPr>
      </p:sp>
      <p:sp>
        <p:nvSpPr>
          <p:cNvPr id="52" name="Text 50"/>
          <p:cNvSpPr/>
          <p:nvPr/>
        </p:nvSpPr>
        <p:spPr>
          <a:xfrm>
            <a:off x="509016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3" name="Shape 51"/>
          <p:cNvSpPr/>
          <p:nvPr/>
        </p:nvSpPr>
        <p:spPr>
          <a:xfrm>
            <a:off x="6172200" y="4663440"/>
            <a:ext cx="91" cy="54864"/>
          </a:xfrm>
          <a:prstGeom prst="line">
            <a:avLst/>
          </a:prstGeom>
          <a:noFill/>
          <a:ln w="12700">
            <a:solidFill>
              <a:srgbClr val="2A1F3D"/>
            </a:solidFill>
            <a:prstDash val="solid"/>
          </a:ln>
        </p:spPr>
      </p:sp>
      <p:sp>
        <p:nvSpPr>
          <p:cNvPr id="54" name="Text 52"/>
          <p:cNvSpPr/>
          <p:nvPr/>
        </p:nvSpPr>
        <p:spPr>
          <a:xfrm>
            <a:off x="589788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55" name="Shape 53"/>
          <p:cNvSpPr/>
          <p:nvPr/>
        </p:nvSpPr>
        <p:spPr>
          <a:xfrm>
            <a:off x="1271016" y="4663440"/>
            <a:ext cx="54864" cy="91"/>
          </a:xfrm>
          <a:prstGeom prst="line">
            <a:avLst/>
          </a:prstGeom>
          <a:noFill/>
          <a:ln w="12700">
            <a:solidFill>
              <a:srgbClr val="2A1F3D"/>
            </a:solidFill>
            <a:prstDash val="solid"/>
          </a:ln>
        </p:spPr>
      </p:sp>
      <p:sp>
        <p:nvSpPr>
          <p:cNvPr id="56" name="Text 54"/>
          <p:cNvSpPr/>
          <p:nvPr/>
        </p:nvSpPr>
        <p:spPr>
          <a:xfrm>
            <a:off x="886968" y="45720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7" name="Shape 55"/>
          <p:cNvSpPr/>
          <p:nvPr/>
        </p:nvSpPr>
        <p:spPr>
          <a:xfrm>
            <a:off x="1271016" y="4122420"/>
            <a:ext cx="54864" cy="91"/>
          </a:xfrm>
          <a:prstGeom prst="line">
            <a:avLst/>
          </a:prstGeom>
          <a:noFill/>
          <a:ln w="12700">
            <a:solidFill>
              <a:srgbClr val="2A1F3D"/>
            </a:solidFill>
            <a:prstDash val="solid"/>
          </a:ln>
        </p:spPr>
      </p:sp>
      <p:sp>
        <p:nvSpPr>
          <p:cNvPr id="58" name="Text 56"/>
          <p:cNvSpPr/>
          <p:nvPr/>
        </p:nvSpPr>
        <p:spPr>
          <a:xfrm>
            <a:off x="886968" y="40309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9" name="Shape 57"/>
          <p:cNvSpPr/>
          <p:nvPr/>
        </p:nvSpPr>
        <p:spPr>
          <a:xfrm>
            <a:off x="1271016" y="3581400"/>
            <a:ext cx="54864" cy="91"/>
          </a:xfrm>
          <a:prstGeom prst="line">
            <a:avLst/>
          </a:prstGeom>
          <a:noFill/>
          <a:ln w="12700">
            <a:solidFill>
              <a:srgbClr val="2A1F3D"/>
            </a:solidFill>
            <a:prstDash val="solid"/>
          </a:ln>
        </p:spPr>
      </p:sp>
      <p:sp>
        <p:nvSpPr>
          <p:cNvPr id="60" name="Text 58"/>
          <p:cNvSpPr/>
          <p:nvPr/>
        </p:nvSpPr>
        <p:spPr>
          <a:xfrm>
            <a:off x="886968" y="34899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1" name="Shape 59"/>
          <p:cNvSpPr/>
          <p:nvPr/>
        </p:nvSpPr>
        <p:spPr>
          <a:xfrm>
            <a:off x="1271016" y="3040380"/>
            <a:ext cx="54864" cy="91"/>
          </a:xfrm>
          <a:prstGeom prst="line">
            <a:avLst/>
          </a:prstGeom>
          <a:noFill/>
          <a:ln w="12700">
            <a:solidFill>
              <a:srgbClr val="2A1F3D"/>
            </a:solidFill>
            <a:prstDash val="solid"/>
          </a:ln>
        </p:spPr>
      </p:sp>
      <p:sp>
        <p:nvSpPr>
          <p:cNvPr id="62" name="Text 60"/>
          <p:cNvSpPr/>
          <p:nvPr/>
        </p:nvSpPr>
        <p:spPr>
          <a:xfrm>
            <a:off x="886968" y="29489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63" name="Shape 61"/>
          <p:cNvSpPr/>
          <p:nvPr/>
        </p:nvSpPr>
        <p:spPr>
          <a:xfrm>
            <a:off x="1271016" y="2499360"/>
            <a:ext cx="54864" cy="91"/>
          </a:xfrm>
          <a:prstGeom prst="line">
            <a:avLst/>
          </a:prstGeom>
          <a:noFill/>
          <a:ln w="12700">
            <a:solidFill>
              <a:srgbClr val="2A1F3D"/>
            </a:solidFill>
            <a:prstDash val="solid"/>
          </a:ln>
        </p:spPr>
      </p:sp>
      <p:sp>
        <p:nvSpPr>
          <p:cNvPr id="64" name="Text 62"/>
          <p:cNvSpPr/>
          <p:nvPr/>
        </p:nvSpPr>
        <p:spPr>
          <a:xfrm>
            <a:off x="886968" y="2407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5" name="Shape 63"/>
          <p:cNvSpPr/>
          <p:nvPr/>
        </p:nvSpPr>
        <p:spPr>
          <a:xfrm>
            <a:off x="1271016" y="1958340"/>
            <a:ext cx="54864" cy="91"/>
          </a:xfrm>
          <a:prstGeom prst="line">
            <a:avLst/>
          </a:prstGeom>
          <a:noFill/>
          <a:ln w="12700">
            <a:solidFill>
              <a:srgbClr val="2A1F3D"/>
            </a:solidFill>
            <a:prstDash val="solid"/>
          </a:ln>
        </p:spPr>
      </p:sp>
      <p:sp>
        <p:nvSpPr>
          <p:cNvPr id="66" name="Text 64"/>
          <p:cNvSpPr/>
          <p:nvPr/>
        </p:nvSpPr>
        <p:spPr>
          <a:xfrm>
            <a:off x="886968" y="18669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67" name="Shape 65"/>
          <p:cNvSpPr/>
          <p:nvPr/>
        </p:nvSpPr>
        <p:spPr>
          <a:xfrm>
            <a:off x="1271016" y="1417320"/>
            <a:ext cx="54864" cy="91"/>
          </a:xfrm>
          <a:prstGeom prst="line">
            <a:avLst/>
          </a:prstGeom>
          <a:noFill/>
          <a:ln w="12700">
            <a:solidFill>
              <a:srgbClr val="2A1F3D"/>
            </a:solidFill>
            <a:prstDash val="solid"/>
          </a:ln>
        </p:spPr>
      </p:sp>
      <p:sp>
        <p:nvSpPr>
          <p:cNvPr id="68" name="Text 66"/>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69" name="Text 67"/>
          <p:cNvSpPr/>
          <p:nvPr/>
        </p:nvSpPr>
        <p:spPr>
          <a:xfrm>
            <a:off x="1325880" y="4910328"/>
            <a:ext cx="4846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s</a:t>
            </a:r>
            <a:endParaRPr lang="en-US" sz="1050" dirty="0"/>
          </a:p>
        </p:txBody>
      </p:sp>
      <p:sp>
        <p:nvSpPr>
          <p:cNvPr id="70" name="Text 68"/>
          <p:cNvSpPr/>
          <p:nvPr/>
        </p:nvSpPr>
        <p:spPr>
          <a:xfrm rot="16200000">
            <a:off x="-864108" y="2912364"/>
            <a:ext cx="3246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Volume of O₂ / cm³</a:t>
            </a:r>
            <a:endParaRPr lang="en-US" sz="1050" dirty="0"/>
          </a:p>
        </p:txBody>
      </p:sp>
      <p:sp>
        <p:nvSpPr>
          <p:cNvPr id="71" name="Shape 69"/>
          <p:cNvSpPr/>
          <p:nvPr/>
        </p:nvSpPr>
        <p:spPr>
          <a:xfrm flipV="1">
            <a:off x="1325880" y="3689604"/>
            <a:ext cx="807720" cy="973836"/>
          </a:xfrm>
          <a:prstGeom prst="line">
            <a:avLst/>
          </a:prstGeom>
          <a:noFill/>
          <a:ln w="28575">
            <a:solidFill>
              <a:srgbClr val="6A3FA0"/>
            </a:solidFill>
            <a:prstDash val="solid"/>
          </a:ln>
        </p:spPr>
      </p:sp>
      <p:sp>
        <p:nvSpPr>
          <p:cNvPr id="72" name="Shape 70"/>
          <p:cNvSpPr/>
          <p:nvPr/>
        </p:nvSpPr>
        <p:spPr>
          <a:xfrm flipV="1">
            <a:off x="2133600" y="2932176"/>
            <a:ext cx="807720" cy="757428"/>
          </a:xfrm>
          <a:prstGeom prst="line">
            <a:avLst/>
          </a:prstGeom>
          <a:noFill/>
          <a:ln w="28575">
            <a:solidFill>
              <a:srgbClr val="6A3FA0"/>
            </a:solidFill>
            <a:prstDash val="solid"/>
          </a:ln>
        </p:spPr>
      </p:sp>
      <p:sp>
        <p:nvSpPr>
          <p:cNvPr id="73" name="Shape 71"/>
          <p:cNvSpPr/>
          <p:nvPr/>
        </p:nvSpPr>
        <p:spPr>
          <a:xfrm flipV="1">
            <a:off x="2941320" y="2391156"/>
            <a:ext cx="807720" cy="541020"/>
          </a:xfrm>
          <a:prstGeom prst="line">
            <a:avLst/>
          </a:prstGeom>
          <a:noFill/>
          <a:ln w="28575">
            <a:solidFill>
              <a:srgbClr val="6A3FA0"/>
            </a:solidFill>
            <a:prstDash val="solid"/>
          </a:ln>
        </p:spPr>
      </p:sp>
      <p:sp>
        <p:nvSpPr>
          <p:cNvPr id="74" name="Shape 72"/>
          <p:cNvSpPr/>
          <p:nvPr/>
        </p:nvSpPr>
        <p:spPr>
          <a:xfrm flipV="1">
            <a:off x="3749040" y="2120646"/>
            <a:ext cx="807720" cy="270510"/>
          </a:xfrm>
          <a:prstGeom prst="line">
            <a:avLst/>
          </a:prstGeom>
          <a:noFill/>
          <a:ln w="28575">
            <a:solidFill>
              <a:srgbClr val="6A3FA0"/>
            </a:solidFill>
            <a:prstDash val="solid"/>
          </a:ln>
        </p:spPr>
      </p:sp>
      <p:sp>
        <p:nvSpPr>
          <p:cNvPr id="75" name="Shape 73"/>
          <p:cNvSpPr/>
          <p:nvPr/>
        </p:nvSpPr>
        <p:spPr>
          <a:xfrm flipV="1">
            <a:off x="4556760" y="2012442"/>
            <a:ext cx="807720" cy="108204"/>
          </a:xfrm>
          <a:prstGeom prst="line">
            <a:avLst/>
          </a:prstGeom>
          <a:noFill/>
          <a:ln w="28575">
            <a:solidFill>
              <a:srgbClr val="6A3FA0"/>
            </a:solidFill>
            <a:prstDash val="solid"/>
          </a:ln>
        </p:spPr>
      </p:sp>
      <p:sp>
        <p:nvSpPr>
          <p:cNvPr id="76" name="Shape 74"/>
          <p:cNvSpPr/>
          <p:nvPr/>
        </p:nvSpPr>
        <p:spPr>
          <a:xfrm flipV="1">
            <a:off x="5364480" y="1958340"/>
            <a:ext cx="807720" cy="54102"/>
          </a:xfrm>
          <a:prstGeom prst="line">
            <a:avLst/>
          </a:prstGeom>
          <a:noFill/>
          <a:ln w="28575">
            <a:solidFill>
              <a:srgbClr val="6A3FA0"/>
            </a:solidFill>
            <a:prstDash val="solid"/>
          </a:ln>
        </p:spPr>
      </p:sp>
      <p:sp>
        <p:nvSpPr>
          <p:cNvPr id="77" name="Shape 75"/>
          <p:cNvSpPr/>
          <p:nvPr/>
        </p:nvSpPr>
        <p:spPr>
          <a:xfrm>
            <a:off x="1280160" y="4617720"/>
            <a:ext cx="91440" cy="91440"/>
          </a:xfrm>
          <a:prstGeom prst="line">
            <a:avLst/>
          </a:prstGeom>
          <a:noFill/>
          <a:ln w="15875">
            <a:solidFill>
              <a:srgbClr val="2A1F3D"/>
            </a:solidFill>
            <a:prstDash val="solid"/>
          </a:ln>
        </p:spPr>
      </p:sp>
      <p:sp>
        <p:nvSpPr>
          <p:cNvPr id="78" name="Shape 76"/>
          <p:cNvSpPr/>
          <p:nvPr/>
        </p:nvSpPr>
        <p:spPr>
          <a:xfrm flipV="1">
            <a:off x="1280160" y="4617720"/>
            <a:ext cx="91440" cy="91440"/>
          </a:xfrm>
          <a:prstGeom prst="line">
            <a:avLst/>
          </a:prstGeom>
          <a:noFill/>
          <a:ln w="15875">
            <a:solidFill>
              <a:srgbClr val="2A1F3D"/>
            </a:solidFill>
            <a:prstDash val="solid"/>
          </a:ln>
        </p:spPr>
      </p:sp>
      <p:sp>
        <p:nvSpPr>
          <p:cNvPr id="79" name="Shape 77"/>
          <p:cNvSpPr/>
          <p:nvPr/>
        </p:nvSpPr>
        <p:spPr>
          <a:xfrm>
            <a:off x="2087880" y="3643884"/>
            <a:ext cx="91440" cy="91440"/>
          </a:xfrm>
          <a:prstGeom prst="line">
            <a:avLst/>
          </a:prstGeom>
          <a:noFill/>
          <a:ln w="15875">
            <a:solidFill>
              <a:srgbClr val="2A1F3D"/>
            </a:solidFill>
            <a:prstDash val="solid"/>
          </a:ln>
        </p:spPr>
      </p:sp>
      <p:sp>
        <p:nvSpPr>
          <p:cNvPr id="80" name="Shape 78"/>
          <p:cNvSpPr/>
          <p:nvPr/>
        </p:nvSpPr>
        <p:spPr>
          <a:xfrm flipV="1">
            <a:off x="2087880" y="3643884"/>
            <a:ext cx="91440" cy="91440"/>
          </a:xfrm>
          <a:prstGeom prst="line">
            <a:avLst/>
          </a:prstGeom>
          <a:noFill/>
          <a:ln w="15875">
            <a:solidFill>
              <a:srgbClr val="2A1F3D"/>
            </a:solidFill>
            <a:prstDash val="solid"/>
          </a:ln>
        </p:spPr>
      </p:sp>
      <p:sp>
        <p:nvSpPr>
          <p:cNvPr id="81" name="Shape 79"/>
          <p:cNvSpPr/>
          <p:nvPr/>
        </p:nvSpPr>
        <p:spPr>
          <a:xfrm>
            <a:off x="2895600" y="2886456"/>
            <a:ext cx="91440" cy="91440"/>
          </a:xfrm>
          <a:prstGeom prst="line">
            <a:avLst/>
          </a:prstGeom>
          <a:noFill/>
          <a:ln w="15875">
            <a:solidFill>
              <a:srgbClr val="2A1F3D"/>
            </a:solidFill>
            <a:prstDash val="solid"/>
          </a:ln>
        </p:spPr>
      </p:sp>
      <p:sp>
        <p:nvSpPr>
          <p:cNvPr id="82" name="Shape 80"/>
          <p:cNvSpPr/>
          <p:nvPr/>
        </p:nvSpPr>
        <p:spPr>
          <a:xfrm flipV="1">
            <a:off x="2895600" y="2886456"/>
            <a:ext cx="91440" cy="91440"/>
          </a:xfrm>
          <a:prstGeom prst="line">
            <a:avLst/>
          </a:prstGeom>
          <a:noFill/>
          <a:ln w="15875">
            <a:solidFill>
              <a:srgbClr val="2A1F3D"/>
            </a:solidFill>
            <a:prstDash val="solid"/>
          </a:ln>
        </p:spPr>
      </p:sp>
      <p:sp>
        <p:nvSpPr>
          <p:cNvPr id="83" name="Shape 81"/>
          <p:cNvSpPr/>
          <p:nvPr/>
        </p:nvSpPr>
        <p:spPr>
          <a:xfrm>
            <a:off x="3703320" y="2345436"/>
            <a:ext cx="91440" cy="91440"/>
          </a:xfrm>
          <a:prstGeom prst="line">
            <a:avLst/>
          </a:prstGeom>
          <a:noFill/>
          <a:ln w="15875">
            <a:solidFill>
              <a:srgbClr val="2A1F3D"/>
            </a:solidFill>
            <a:prstDash val="solid"/>
          </a:ln>
        </p:spPr>
      </p:sp>
      <p:sp>
        <p:nvSpPr>
          <p:cNvPr id="84" name="Shape 82"/>
          <p:cNvSpPr/>
          <p:nvPr/>
        </p:nvSpPr>
        <p:spPr>
          <a:xfrm flipV="1">
            <a:off x="3703320" y="2345436"/>
            <a:ext cx="91440" cy="91440"/>
          </a:xfrm>
          <a:prstGeom prst="line">
            <a:avLst/>
          </a:prstGeom>
          <a:noFill/>
          <a:ln w="15875">
            <a:solidFill>
              <a:srgbClr val="2A1F3D"/>
            </a:solidFill>
            <a:prstDash val="solid"/>
          </a:ln>
        </p:spPr>
      </p:sp>
      <p:sp>
        <p:nvSpPr>
          <p:cNvPr id="85" name="Shape 83"/>
          <p:cNvSpPr/>
          <p:nvPr/>
        </p:nvSpPr>
        <p:spPr>
          <a:xfrm>
            <a:off x="4511040" y="2074926"/>
            <a:ext cx="91440" cy="91440"/>
          </a:xfrm>
          <a:prstGeom prst="line">
            <a:avLst/>
          </a:prstGeom>
          <a:noFill/>
          <a:ln w="15875">
            <a:solidFill>
              <a:srgbClr val="2A1F3D"/>
            </a:solidFill>
            <a:prstDash val="solid"/>
          </a:ln>
        </p:spPr>
      </p:sp>
      <p:sp>
        <p:nvSpPr>
          <p:cNvPr id="86" name="Shape 84"/>
          <p:cNvSpPr/>
          <p:nvPr/>
        </p:nvSpPr>
        <p:spPr>
          <a:xfrm flipV="1">
            <a:off x="4511040" y="2074926"/>
            <a:ext cx="91440" cy="91440"/>
          </a:xfrm>
          <a:prstGeom prst="line">
            <a:avLst/>
          </a:prstGeom>
          <a:noFill/>
          <a:ln w="15875">
            <a:solidFill>
              <a:srgbClr val="2A1F3D"/>
            </a:solidFill>
            <a:prstDash val="solid"/>
          </a:ln>
        </p:spPr>
      </p:sp>
      <p:sp>
        <p:nvSpPr>
          <p:cNvPr id="87" name="Shape 85"/>
          <p:cNvSpPr/>
          <p:nvPr/>
        </p:nvSpPr>
        <p:spPr>
          <a:xfrm>
            <a:off x="5318760" y="1966722"/>
            <a:ext cx="91440" cy="91440"/>
          </a:xfrm>
          <a:prstGeom prst="line">
            <a:avLst/>
          </a:prstGeom>
          <a:noFill/>
          <a:ln w="15875">
            <a:solidFill>
              <a:srgbClr val="2A1F3D"/>
            </a:solidFill>
            <a:prstDash val="solid"/>
          </a:ln>
        </p:spPr>
      </p:sp>
      <p:sp>
        <p:nvSpPr>
          <p:cNvPr id="88" name="Shape 86"/>
          <p:cNvSpPr/>
          <p:nvPr/>
        </p:nvSpPr>
        <p:spPr>
          <a:xfrm flipV="1">
            <a:off x="5318760" y="1966722"/>
            <a:ext cx="91440" cy="91440"/>
          </a:xfrm>
          <a:prstGeom prst="line">
            <a:avLst/>
          </a:prstGeom>
          <a:noFill/>
          <a:ln w="15875">
            <a:solidFill>
              <a:srgbClr val="2A1F3D"/>
            </a:solidFill>
            <a:prstDash val="solid"/>
          </a:ln>
        </p:spPr>
      </p:sp>
      <p:sp>
        <p:nvSpPr>
          <p:cNvPr id="89" name="Shape 87"/>
          <p:cNvSpPr/>
          <p:nvPr/>
        </p:nvSpPr>
        <p:spPr>
          <a:xfrm>
            <a:off x="6126480" y="1912620"/>
            <a:ext cx="91440" cy="91440"/>
          </a:xfrm>
          <a:prstGeom prst="line">
            <a:avLst/>
          </a:prstGeom>
          <a:noFill/>
          <a:ln w="15875">
            <a:solidFill>
              <a:srgbClr val="2A1F3D"/>
            </a:solidFill>
            <a:prstDash val="solid"/>
          </a:ln>
        </p:spPr>
      </p:sp>
      <p:sp>
        <p:nvSpPr>
          <p:cNvPr id="90" name="Shape 88"/>
          <p:cNvSpPr/>
          <p:nvPr/>
        </p:nvSpPr>
        <p:spPr>
          <a:xfrm flipV="1">
            <a:off x="6126480" y="1912620"/>
            <a:ext cx="91440" cy="91440"/>
          </a:xfrm>
          <a:prstGeom prst="line">
            <a:avLst/>
          </a:prstGeom>
          <a:noFill/>
          <a:ln w="15875">
            <a:solidFill>
              <a:srgbClr val="2A1F3D"/>
            </a:solidFill>
            <a:prstDash val="solid"/>
          </a:ln>
        </p:spPr>
      </p:sp>
      <p:sp>
        <p:nvSpPr>
          <p:cNvPr id="91" name="Shape 89"/>
          <p:cNvSpPr/>
          <p:nvPr/>
        </p:nvSpPr>
        <p:spPr>
          <a:xfrm flipV="1">
            <a:off x="1325880" y="4392930"/>
            <a:ext cx="807720" cy="270510"/>
          </a:xfrm>
          <a:prstGeom prst="line">
            <a:avLst/>
          </a:prstGeom>
          <a:noFill/>
          <a:ln w="28575">
            <a:solidFill>
              <a:srgbClr val="B8730A"/>
            </a:solidFill>
            <a:prstDash val="solid"/>
          </a:ln>
        </p:spPr>
      </p:sp>
      <p:sp>
        <p:nvSpPr>
          <p:cNvPr id="92" name="Shape 90"/>
          <p:cNvSpPr/>
          <p:nvPr/>
        </p:nvSpPr>
        <p:spPr>
          <a:xfrm flipV="1">
            <a:off x="2133600" y="4122420"/>
            <a:ext cx="807720" cy="270510"/>
          </a:xfrm>
          <a:prstGeom prst="line">
            <a:avLst/>
          </a:prstGeom>
          <a:noFill/>
          <a:ln w="28575">
            <a:solidFill>
              <a:srgbClr val="B8730A"/>
            </a:solidFill>
            <a:prstDash val="solid"/>
          </a:ln>
        </p:spPr>
      </p:sp>
      <p:sp>
        <p:nvSpPr>
          <p:cNvPr id="93" name="Shape 91"/>
          <p:cNvSpPr/>
          <p:nvPr/>
        </p:nvSpPr>
        <p:spPr>
          <a:xfrm flipV="1">
            <a:off x="2941320" y="3851910"/>
            <a:ext cx="807720" cy="270510"/>
          </a:xfrm>
          <a:prstGeom prst="line">
            <a:avLst/>
          </a:prstGeom>
          <a:noFill/>
          <a:ln w="28575">
            <a:solidFill>
              <a:srgbClr val="B8730A"/>
            </a:solidFill>
            <a:prstDash val="solid"/>
          </a:ln>
        </p:spPr>
      </p:sp>
      <p:sp>
        <p:nvSpPr>
          <p:cNvPr id="94" name="Shape 92"/>
          <p:cNvSpPr/>
          <p:nvPr/>
        </p:nvSpPr>
        <p:spPr>
          <a:xfrm flipV="1">
            <a:off x="3749040" y="3635502"/>
            <a:ext cx="807720" cy="216408"/>
          </a:xfrm>
          <a:prstGeom prst="line">
            <a:avLst/>
          </a:prstGeom>
          <a:noFill/>
          <a:ln w="28575">
            <a:solidFill>
              <a:srgbClr val="B8730A"/>
            </a:solidFill>
            <a:prstDash val="solid"/>
          </a:ln>
        </p:spPr>
      </p:sp>
      <p:sp>
        <p:nvSpPr>
          <p:cNvPr id="95" name="Shape 93"/>
          <p:cNvSpPr/>
          <p:nvPr/>
        </p:nvSpPr>
        <p:spPr>
          <a:xfrm flipV="1">
            <a:off x="4556760" y="3419094"/>
            <a:ext cx="807720" cy="216408"/>
          </a:xfrm>
          <a:prstGeom prst="line">
            <a:avLst/>
          </a:prstGeom>
          <a:noFill/>
          <a:ln w="28575">
            <a:solidFill>
              <a:srgbClr val="B8730A"/>
            </a:solidFill>
            <a:prstDash val="solid"/>
          </a:ln>
        </p:spPr>
      </p:sp>
      <p:sp>
        <p:nvSpPr>
          <p:cNvPr id="96" name="Shape 94"/>
          <p:cNvSpPr/>
          <p:nvPr/>
        </p:nvSpPr>
        <p:spPr>
          <a:xfrm flipV="1">
            <a:off x="5364480" y="3202686"/>
            <a:ext cx="807720" cy="216408"/>
          </a:xfrm>
          <a:prstGeom prst="line">
            <a:avLst/>
          </a:prstGeom>
          <a:noFill/>
          <a:ln w="28575">
            <a:solidFill>
              <a:srgbClr val="B8730A"/>
            </a:solidFill>
            <a:prstDash val="solid"/>
          </a:ln>
        </p:spPr>
      </p:sp>
      <p:sp>
        <p:nvSpPr>
          <p:cNvPr id="97" name="Shape 95"/>
          <p:cNvSpPr/>
          <p:nvPr/>
        </p:nvSpPr>
        <p:spPr>
          <a:xfrm>
            <a:off x="1280160" y="4617720"/>
            <a:ext cx="91440" cy="91440"/>
          </a:xfrm>
          <a:prstGeom prst="line">
            <a:avLst/>
          </a:prstGeom>
          <a:noFill/>
          <a:ln w="15875">
            <a:solidFill>
              <a:srgbClr val="2A1F3D"/>
            </a:solidFill>
            <a:prstDash val="solid"/>
          </a:ln>
        </p:spPr>
      </p:sp>
      <p:sp>
        <p:nvSpPr>
          <p:cNvPr id="98" name="Shape 96"/>
          <p:cNvSpPr/>
          <p:nvPr/>
        </p:nvSpPr>
        <p:spPr>
          <a:xfrm flipV="1">
            <a:off x="1280160" y="4617720"/>
            <a:ext cx="91440" cy="91440"/>
          </a:xfrm>
          <a:prstGeom prst="line">
            <a:avLst/>
          </a:prstGeom>
          <a:noFill/>
          <a:ln w="15875">
            <a:solidFill>
              <a:srgbClr val="2A1F3D"/>
            </a:solidFill>
            <a:prstDash val="solid"/>
          </a:ln>
        </p:spPr>
      </p:sp>
      <p:sp>
        <p:nvSpPr>
          <p:cNvPr id="99" name="Shape 97"/>
          <p:cNvSpPr/>
          <p:nvPr/>
        </p:nvSpPr>
        <p:spPr>
          <a:xfrm>
            <a:off x="2087880" y="4347210"/>
            <a:ext cx="91440" cy="91440"/>
          </a:xfrm>
          <a:prstGeom prst="line">
            <a:avLst/>
          </a:prstGeom>
          <a:noFill/>
          <a:ln w="15875">
            <a:solidFill>
              <a:srgbClr val="2A1F3D"/>
            </a:solidFill>
            <a:prstDash val="solid"/>
          </a:ln>
        </p:spPr>
      </p:sp>
      <p:sp>
        <p:nvSpPr>
          <p:cNvPr id="100" name="Shape 98"/>
          <p:cNvSpPr/>
          <p:nvPr/>
        </p:nvSpPr>
        <p:spPr>
          <a:xfrm flipV="1">
            <a:off x="2087880" y="4347210"/>
            <a:ext cx="91440" cy="91440"/>
          </a:xfrm>
          <a:prstGeom prst="line">
            <a:avLst/>
          </a:prstGeom>
          <a:noFill/>
          <a:ln w="15875">
            <a:solidFill>
              <a:srgbClr val="2A1F3D"/>
            </a:solidFill>
            <a:prstDash val="solid"/>
          </a:ln>
        </p:spPr>
      </p:sp>
      <p:sp>
        <p:nvSpPr>
          <p:cNvPr id="101" name="Shape 99"/>
          <p:cNvSpPr/>
          <p:nvPr/>
        </p:nvSpPr>
        <p:spPr>
          <a:xfrm>
            <a:off x="2895600" y="4076700"/>
            <a:ext cx="91440" cy="91440"/>
          </a:xfrm>
          <a:prstGeom prst="line">
            <a:avLst/>
          </a:prstGeom>
          <a:noFill/>
          <a:ln w="15875">
            <a:solidFill>
              <a:srgbClr val="2A1F3D"/>
            </a:solidFill>
            <a:prstDash val="solid"/>
          </a:ln>
        </p:spPr>
      </p:sp>
      <p:sp>
        <p:nvSpPr>
          <p:cNvPr id="102" name="Shape 100"/>
          <p:cNvSpPr/>
          <p:nvPr/>
        </p:nvSpPr>
        <p:spPr>
          <a:xfrm flipV="1">
            <a:off x="2895600" y="4076700"/>
            <a:ext cx="91440" cy="91440"/>
          </a:xfrm>
          <a:prstGeom prst="line">
            <a:avLst/>
          </a:prstGeom>
          <a:noFill/>
          <a:ln w="15875">
            <a:solidFill>
              <a:srgbClr val="2A1F3D"/>
            </a:solidFill>
            <a:prstDash val="solid"/>
          </a:ln>
        </p:spPr>
      </p:sp>
      <p:sp>
        <p:nvSpPr>
          <p:cNvPr id="103" name="Shape 101"/>
          <p:cNvSpPr/>
          <p:nvPr/>
        </p:nvSpPr>
        <p:spPr>
          <a:xfrm>
            <a:off x="3703320" y="3806190"/>
            <a:ext cx="91440" cy="91440"/>
          </a:xfrm>
          <a:prstGeom prst="line">
            <a:avLst/>
          </a:prstGeom>
          <a:noFill/>
          <a:ln w="15875">
            <a:solidFill>
              <a:srgbClr val="2A1F3D"/>
            </a:solidFill>
            <a:prstDash val="solid"/>
          </a:ln>
        </p:spPr>
      </p:sp>
      <p:sp>
        <p:nvSpPr>
          <p:cNvPr id="104" name="Shape 102"/>
          <p:cNvSpPr/>
          <p:nvPr/>
        </p:nvSpPr>
        <p:spPr>
          <a:xfrm flipV="1">
            <a:off x="3703320" y="3806190"/>
            <a:ext cx="91440" cy="91440"/>
          </a:xfrm>
          <a:prstGeom prst="line">
            <a:avLst/>
          </a:prstGeom>
          <a:noFill/>
          <a:ln w="15875">
            <a:solidFill>
              <a:srgbClr val="2A1F3D"/>
            </a:solidFill>
            <a:prstDash val="solid"/>
          </a:ln>
        </p:spPr>
      </p:sp>
      <p:sp>
        <p:nvSpPr>
          <p:cNvPr id="105" name="Shape 103"/>
          <p:cNvSpPr/>
          <p:nvPr/>
        </p:nvSpPr>
        <p:spPr>
          <a:xfrm>
            <a:off x="4511040" y="3589782"/>
            <a:ext cx="91440" cy="91440"/>
          </a:xfrm>
          <a:prstGeom prst="line">
            <a:avLst/>
          </a:prstGeom>
          <a:noFill/>
          <a:ln w="15875">
            <a:solidFill>
              <a:srgbClr val="2A1F3D"/>
            </a:solidFill>
            <a:prstDash val="solid"/>
          </a:ln>
        </p:spPr>
      </p:sp>
      <p:sp>
        <p:nvSpPr>
          <p:cNvPr id="106" name="Shape 104"/>
          <p:cNvSpPr/>
          <p:nvPr/>
        </p:nvSpPr>
        <p:spPr>
          <a:xfrm flipV="1">
            <a:off x="4511040" y="3589782"/>
            <a:ext cx="91440" cy="91440"/>
          </a:xfrm>
          <a:prstGeom prst="line">
            <a:avLst/>
          </a:prstGeom>
          <a:noFill/>
          <a:ln w="15875">
            <a:solidFill>
              <a:srgbClr val="2A1F3D"/>
            </a:solidFill>
            <a:prstDash val="solid"/>
          </a:ln>
        </p:spPr>
      </p:sp>
      <p:sp>
        <p:nvSpPr>
          <p:cNvPr id="107" name="Shape 105"/>
          <p:cNvSpPr/>
          <p:nvPr/>
        </p:nvSpPr>
        <p:spPr>
          <a:xfrm>
            <a:off x="5318760" y="3373374"/>
            <a:ext cx="91440" cy="91440"/>
          </a:xfrm>
          <a:prstGeom prst="line">
            <a:avLst/>
          </a:prstGeom>
          <a:noFill/>
          <a:ln w="15875">
            <a:solidFill>
              <a:srgbClr val="2A1F3D"/>
            </a:solidFill>
            <a:prstDash val="solid"/>
          </a:ln>
        </p:spPr>
      </p:sp>
      <p:sp>
        <p:nvSpPr>
          <p:cNvPr id="108" name="Shape 106"/>
          <p:cNvSpPr/>
          <p:nvPr/>
        </p:nvSpPr>
        <p:spPr>
          <a:xfrm flipV="1">
            <a:off x="5318760" y="3373374"/>
            <a:ext cx="91440" cy="91440"/>
          </a:xfrm>
          <a:prstGeom prst="line">
            <a:avLst/>
          </a:prstGeom>
          <a:noFill/>
          <a:ln w="15875">
            <a:solidFill>
              <a:srgbClr val="2A1F3D"/>
            </a:solidFill>
            <a:prstDash val="solid"/>
          </a:ln>
        </p:spPr>
      </p:sp>
      <p:sp>
        <p:nvSpPr>
          <p:cNvPr id="109" name="Shape 107"/>
          <p:cNvSpPr/>
          <p:nvPr/>
        </p:nvSpPr>
        <p:spPr>
          <a:xfrm>
            <a:off x="6126480" y="3156966"/>
            <a:ext cx="91440" cy="91440"/>
          </a:xfrm>
          <a:prstGeom prst="line">
            <a:avLst/>
          </a:prstGeom>
          <a:noFill/>
          <a:ln w="15875">
            <a:solidFill>
              <a:srgbClr val="2A1F3D"/>
            </a:solidFill>
            <a:prstDash val="solid"/>
          </a:ln>
        </p:spPr>
      </p:sp>
      <p:sp>
        <p:nvSpPr>
          <p:cNvPr id="110" name="Shape 108"/>
          <p:cNvSpPr/>
          <p:nvPr/>
        </p:nvSpPr>
        <p:spPr>
          <a:xfrm flipV="1">
            <a:off x="6126480" y="3156966"/>
            <a:ext cx="91440" cy="91440"/>
          </a:xfrm>
          <a:prstGeom prst="line">
            <a:avLst/>
          </a:prstGeom>
          <a:noFill/>
          <a:ln w="15875">
            <a:solidFill>
              <a:srgbClr val="2A1F3D"/>
            </a:solidFill>
            <a:prstDash val="solid"/>
          </a:ln>
        </p:spPr>
      </p:sp>
      <p:sp>
        <p:nvSpPr>
          <p:cNvPr id="111" name="Shape 109"/>
          <p:cNvSpPr/>
          <p:nvPr/>
        </p:nvSpPr>
        <p:spPr>
          <a:xfrm flipV="1">
            <a:off x="1325880" y="2391156"/>
            <a:ext cx="2423160" cy="2272284"/>
          </a:xfrm>
          <a:prstGeom prst="line">
            <a:avLst/>
          </a:prstGeom>
          <a:noFill/>
          <a:ln w="15875">
            <a:solidFill>
              <a:srgbClr val="C8414C"/>
            </a:solidFill>
            <a:prstDash val="dash"/>
          </a:ln>
        </p:spPr>
      </p:sp>
      <p:sp>
        <p:nvSpPr>
          <p:cNvPr id="112" name="Text 110"/>
          <p:cNvSpPr/>
          <p:nvPr/>
        </p:nvSpPr>
        <p:spPr>
          <a:xfrm>
            <a:off x="4233672" y="1557528"/>
            <a:ext cx="1280160" cy="219456"/>
          </a:xfrm>
          <a:prstGeom prst="rect">
            <a:avLst/>
          </a:prstGeom>
          <a:noFill/>
          <a:ln/>
        </p:spPr>
        <p:txBody>
          <a:bodyPr wrap="square" lIns="0" tIns="0" rIns="0" bIns="0" rtlCol="0" anchor="ctr"/>
          <a:lstStyle/>
          <a:p>
            <a:pPr algn="ctr" indent="0" marL="0">
              <a:buNone/>
            </a:pPr>
            <a:r>
              <a:rPr lang="en-US" sz="1050" b="1" dirty="0">
                <a:solidFill>
                  <a:srgbClr val="6A3FA0"/>
                </a:solidFill>
                <a:latin typeface="Calibri" pitchFamily="34" charset="0"/>
                <a:ea typeface="Calibri" pitchFamily="34" charset="-122"/>
                <a:cs typeface="Calibri" pitchFamily="34" charset="-120"/>
              </a:rPr>
              <a:t>powder</a:t>
            </a:r>
            <a:endParaRPr lang="en-US" sz="1050" dirty="0"/>
          </a:p>
        </p:txBody>
      </p:sp>
      <p:sp>
        <p:nvSpPr>
          <p:cNvPr id="113" name="Text 111"/>
          <p:cNvSpPr/>
          <p:nvPr/>
        </p:nvSpPr>
        <p:spPr>
          <a:xfrm>
            <a:off x="4718304" y="3735324"/>
            <a:ext cx="1280160" cy="219456"/>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granules</a:t>
            </a:r>
            <a:endParaRPr lang="en-US" sz="1050" dirty="0"/>
          </a:p>
        </p:txBody>
      </p:sp>
      <p:sp>
        <p:nvSpPr>
          <p:cNvPr id="114" name="Text 112"/>
          <p:cNvSpPr/>
          <p:nvPr/>
        </p:nvSpPr>
        <p:spPr>
          <a:xfrm>
            <a:off x="1729740" y="1687830"/>
            <a:ext cx="201168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max 50 cm³ (10-volume, 5 cm³)</a:t>
            </a:r>
            <a:endParaRPr lang="en-US" sz="1000" dirty="0"/>
          </a:p>
        </p:txBody>
      </p:sp>
      <p:sp>
        <p:nvSpPr>
          <p:cNvPr id="115" name="Shape 113"/>
          <p:cNvSpPr/>
          <p:nvPr/>
        </p:nvSpPr>
        <p:spPr>
          <a:xfrm>
            <a:off x="1325880" y="1958340"/>
            <a:ext cx="4846320" cy="91"/>
          </a:xfrm>
          <a:prstGeom prst="line">
            <a:avLst/>
          </a:prstGeom>
          <a:noFill/>
          <a:ln w="9525">
            <a:solidFill>
              <a:srgbClr val="6B7385"/>
            </a:solidFill>
            <a:prstDash val="dash"/>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75120" y="1188720"/>
          <a:ext cx="5102352" cy="914400"/>
        </p:xfrm>
        <a:graphic>
          <a:graphicData uri="http://schemas.openxmlformats.org/drawingml/2006/table">
            <a:tbl>
              <a:tblPr/>
              <a:tblGrid>
                <a:gridCol w="1261872"/>
                <a:gridCol w="548640"/>
                <a:gridCol w="548640"/>
                <a:gridCol w="548640"/>
                <a:gridCol w="548640"/>
                <a:gridCol w="548640"/>
                <a:gridCol w="548640"/>
                <a:gridCol w="548640"/>
              </a:tblGrid>
              <a:tr h="27432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Time / 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Powder / cm³</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32</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49</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Granules / cm³</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19</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27</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bl>
          </a:graphicData>
        </a:graphic>
      </p:graphicFrame>
      <p:sp>
        <p:nvSpPr>
          <p:cNvPr id="117" name="Shape 114"/>
          <p:cNvSpPr/>
          <p:nvPr/>
        </p:nvSpPr>
        <p:spPr>
          <a:xfrm>
            <a:off x="6675120" y="2148840"/>
            <a:ext cx="5102352" cy="1874520"/>
          </a:xfrm>
          <a:prstGeom prst="roundRect">
            <a:avLst>
              <a:gd name="adj" fmla="val 2927"/>
            </a:avLst>
          </a:prstGeom>
          <a:solidFill>
            <a:srgbClr val="FFF4E0"/>
          </a:solidFill>
          <a:ln w="9525">
            <a:solidFill>
              <a:srgbClr val="F1D9A8"/>
            </a:solidFill>
            <a:prstDash val="solid"/>
          </a:ln>
        </p:spPr>
      </p:sp>
      <p:sp>
        <p:nvSpPr>
          <p:cNvPr id="118" name="Text 115"/>
          <p:cNvSpPr/>
          <p:nvPr/>
        </p:nvSpPr>
        <p:spPr>
          <a:xfrm>
            <a:off x="6839712" y="222199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mean rate in the first 30 s</a:t>
            </a:r>
            <a:endParaRPr lang="en-US" sz="1300" dirty="0"/>
          </a:p>
        </p:txBody>
      </p:sp>
      <p:sp>
        <p:nvSpPr>
          <p:cNvPr id="119" name="Text 116"/>
          <p:cNvSpPr/>
          <p:nvPr/>
        </p:nvSpPr>
        <p:spPr>
          <a:xfrm>
            <a:off x="6839712" y="2532888"/>
            <a:ext cx="4773168" cy="14173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Mean rate = volume of gas ÷ time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Powder   </a:t>
            </a:r>
            <a:r>
              <a:rPr lang="en-US" sz="1050" dirty="0">
                <a:solidFill>
                  <a:srgbClr val="262B3A"/>
                </a:solidFill>
                <a:latin typeface="Calibri" pitchFamily="34" charset="0"/>
                <a:ea typeface="Calibri" pitchFamily="34" charset="-122"/>
                <a:cs typeface="Calibri" pitchFamily="34" charset="-120"/>
              </a:rPr>
              <a:t>42 cm³ ÷ 30 s = 1.4 cm³/s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Granules   </a:t>
            </a:r>
            <a:r>
              <a:rPr lang="en-US" sz="1050" dirty="0">
                <a:solidFill>
                  <a:srgbClr val="262B3A"/>
                </a:solidFill>
                <a:latin typeface="Calibri" pitchFamily="34" charset="0"/>
                <a:ea typeface="Calibri" pitchFamily="34" charset="-122"/>
                <a:cs typeface="Calibri" pitchFamily="34" charset="-120"/>
              </a:rPr>
              <a:t>15 cm³ ÷ 30 s = 0.5 cm³/s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the powder is </a:t>
            </a:r>
            <a:r>
              <a:rPr lang="en-US" sz="1050" b="1" dirty="0">
                <a:solidFill>
                  <a:srgbClr val="C8414C"/>
                </a:solidFill>
                <a:latin typeface="Calibri" pitchFamily="34" charset="0"/>
                <a:ea typeface="Calibri" pitchFamily="34" charset="-122"/>
                <a:cs typeface="Calibri" pitchFamily="34" charset="-120"/>
              </a:rPr>
              <a:t>2.8 times</a:t>
            </a:r>
            <a:r>
              <a:rPr lang="en-US" sz="1050" b="1" dirty="0">
                <a:solidFill>
                  <a:srgbClr val="C8414C"/>
                </a:solidFill>
                <a:latin typeface="Calibri" pitchFamily="34" charset="0"/>
                <a:ea typeface="Calibri" pitchFamily="34" charset="-122"/>
                <a:cs typeface="Calibri" pitchFamily="34" charset="-120"/>
              </a:rPr>
              <a:t> faster</a:t>
            </a:r>
            <a:endParaRPr lang="en-US" sz="1050" dirty="0"/>
          </a:p>
        </p:txBody>
      </p:sp>
      <p:sp>
        <p:nvSpPr>
          <p:cNvPr id="120" name="Shape 117"/>
          <p:cNvSpPr/>
          <p:nvPr/>
        </p:nvSpPr>
        <p:spPr>
          <a:xfrm>
            <a:off x="6675120" y="4160520"/>
            <a:ext cx="5102352" cy="1554480"/>
          </a:xfrm>
          <a:prstGeom prst="roundRect">
            <a:avLst>
              <a:gd name="adj" fmla="val 3529"/>
            </a:avLst>
          </a:prstGeom>
          <a:solidFill>
            <a:srgbClr val="F8F5FC"/>
          </a:solidFill>
          <a:ln w="9525">
            <a:solidFill>
              <a:srgbClr val="DDD3EC"/>
            </a:solidFill>
            <a:prstDash val="solid"/>
          </a:ln>
        </p:spPr>
      </p:sp>
      <p:sp>
        <p:nvSpPr>
          <p:cNvPr id="121" name="Text 118"/>
          <p:cNvSpPr/>
          <p:nvPr/>
        </p:nvSpPr>
        <p:spPr>
          <a:xfrm>
            <a:off x="6839712" y="425196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Conclusion and errors</a:t>
            </a:r>
            <a:endParaRPr lang="en-US" sz="1300" dirty="0"/>
          </a:p>
        </p:txBody>
      </p:sp>
      <p:sp>
        <p:nvSpPr>
          <p:cNvPr id="122" name="Text 119"/>
          <p:cNvSpPr/>
          <p:nvPr/>
        </p:nvSpPr>
        <p:spPr>
          <a:xfrm>
            <a:off x="6839712" y="4581144"/>
            <a:ext cx="4773168" cy="106070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Smaller particles → </a:t>
            </a:r>
            <a:r>
              <a:rPr lang="en-US" sz="1050" b="1" dirty="0">
                <a:solidFill>
                  <a:srgbClr val="262B3A"/>
                </a:solidFill>
                <a:latin typeface="Calibri" pitchFamily="34" charset="0"/>
                <a:ea typeface="Calibri" pitchFamily="34" charset="-122"/>
                <a:cs typeface="Calibri" pitchFamily="34" charset="-120"/>
              </a:rPr>
              <a:t>larger surface area</a:t>
            </a:r>
            <a:r>
              <a:rPr lang="en-US" sz="1050" dirty="0">
                <a:solidFill>
                  <a:srgbClr val="262B3A"/>
                </a:solidFill>
                <a:latin typeface="Calibri" pitchFamily="34" charset="0"/>
                <a:ea typeface="Calibri" pitchFamily="34" charset="-122"/>
                <a:cs typeface="Calibri" pitchFamily="34" charset="-120"/>
              </a:rPr>
              <a:t> → more reacting particles meet the catalyst → </a:t>
            </a:r>
            <a:r>
              <a:rPr lang="en-US" sz="1050" b="1" dirty="0">
                <a:solidFill>
                  <a:srgbClr val="262B3A"/>
                </a:solidFill>
                <a:latin typeface="Calibri" pitchFamily="34" charset="0"/>
                <a:ea typeface="Calibri" pitchFamily="34" charset="-122"/>
                <a:cs typeface="Calibri" pitchFamily="34" charset="-120"/>
              </a:rPr>
              <a:t>faster</a:t>
            </a:r>
            <a:r>
              <a:rPr lang="en-US" sz="1050" dirty="0">
                <a:solidFill>
                  <a:srgbClr val="262B3A"/>
                </a:solidFill>
                <a:latin typeface="Calibri" pitchFamily="34" charset="0"/>
                <a:ea typeface="Calibri" pitchFamily="34" charset="-122"/>
                <a:cs typeface="Calibri" pitchFamily="34" charset="-120"/>
              </a:rPr>
              <a:t> reaction.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Errors: gas lost before the bung is in; syringe sticks; timing. Improve: use a side-arm tube to tip in the catalyst; repeat.</a:t>
            </a:r>
            <a:endParaRPr lang="en-US" sz="1050" dirty="0"/>
          </a:p>
        </p:txBody>
      </p:sp>
      <p:sp>
        <p:nvSpPr>
          <p:cNvPr id="123" name="Shape 120"/>
          <p:cNvSpPr/>
          <p:nvPr/>
        </p:nvSpPr>
        <p:spPr>
          <a:xfrm>
            <a:off x="411480" y="5833872"/>
            <a:ext cx="11368735" cy="530352"/>
          </a:xfrm>
          <a:prstGeom prst="rect">
            <a:avLst/>
          </a:prstGeom>
          <a:solidFill>
            <a:srgbClr val="FFF4E0"/>
          </a:solidFill>
          <a:ln w="6350">
            <a:solidFill>
              <a:srgbClr val="F1D9A8"/>
            </a:solidFill>
            <a:prstDash val="solid"/>
          </a:ln>
        </p:spPr>
      </p:sp>
      <p:sp>
        <p:nvSpPr>
          <p:cNvPr id="124" name="Shape 121"/>
          <p:cNvSpPr/>
          <p:nvPr/>
        </p:nvSpPr>
        <p:spPr>
          <a:xfrm>
            <a:off x="411480" y="5833872"/>
            <a:ext cx="82296" cy="530352"/>
          </a:xfrm>
          <a:prstGeom prst="rect">
            <a:avLst/>
          </a:prstGeom>
          <a:solidFill>
            <a:srgbClr val="E39A2F"/>
          </a:solidFill>
          <a:ln w="12700">
            <a:solidFill>
              <a:srgbClr val="E39A2F"/>
            </a:solidFill>
            <a:prstDash val="solid"/>
          </a:ln>
        </p:spPr>
      </p:sp>
      <p:sp>
        <p:nvSpPr>
          <p:cNvPr id="125" name="Text 12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table to calculate the </a:t>
            </a:r>
            <a:r>
              <a:rPr lang="en-US" sz="1150" b="1" dirty="0">
                <a:solidFill>
                  <a:srgbClr val="262B3A"/>
                </a:solidFill>
                <a:latin typeface="Calibri" pitchFamily="34" charset="0"/>
                <a:ea typeface="Calibri" pitchFamily="34" charset="-122"/>
                <a:cs typeface="Calibri" pitchFamily="34" charset="-120"/>
              </a:rPr>
              <a:t>mean rate</a:t>
            </a:r>
            <a:r>
              <a:rPr lang="en-US" sz="1150" dirty="0">
                <a:solidFill>
                  <a:srgbClr val="262B3A"/>
                </a:solidFill>
                <a:latin typeface="Calibri" pitchFamily="34" charset="0"/>
                <a:ea typeface="Calibri" pitchFamily="34" charset="-122"/>
                <a:cs typeface="Calibri" pitchFamily="34" charset="-120"/>
              </a:rPr>
              <a:t> for the granules over the </a:t>
            </a:r>
            <a:r>
              <a:rPr lang="en-US" sz="1150" b="1" dirty="0">
                <a:solidFill>
                  <a:srgbClr val="262B3A"/>
                </a:solidFill>
                <a:latin typeface="Calibri" pitchFamily="34" charset="0"/>
                <a:ea typeface="Calibri" pitchFamily="34" charset="-122"/>
                <a:cs typeface="Calibri" pitchFamily="34" charset="-120"/>
              </a:rPr>
              <a:t>whole 60 s</a:t>
            </a:r>
            <a:r>
              <a:rPr lang="en-US" sz="1150" dirty="0">
                <a:solidFill>
                  <a:srgbClr val="262B3A"/>
                </a:solidFill>
                <a:latin typeface="Calibri" pitchFamily="34" charset="0"/>
                <a:ea typeface="Calibri" pitchFamily="34" charset="-122"/>
                <a:cs typeface="Calibri" pitchFamily="34" charset="-120"/>
              </a:rPr>
              <a:t>. Why does the powder curve </a:t>
            </a:r>
            <a:r>
              <a:rPr lang="en-US" sz="1150" b="1" dirty="0">
                <a:solidFill>
                  <a:srgbClr val="262B3A"/>
                </a:solidFill>
                <a:latin typeface="Calibri" pitchFamily="34" charset="0"/>
                <a:ea typeface="Calibri" pitchFamily="34" charset="-122"/>
                <a:cs typeface="Calibri" pitchFamily="34" charset="-120"/>
              </a:rPr>
              <a:t>level off</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Properties and uses of nanoparticles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C4.3.3 • size and surface area explain the uses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C4.3.3  |  13</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sunscreen on skin; particle sizes exaggerated</a:t>
            </a:r>
            <a:endParaRPr lang="en-US" sz="1000" dirty="0"/>
          </a:p>
        </p:txBody>
      </p:sp>
      <p:sp>
        <p:nvSpPr>
          <p:cNvPr id="10" name="Text 8"/>
          <p:cNvSpPr/>
          <p:nvPr/>
        </p:nvSpPr>
        <p:spPr>
          <a:xfrm>
            <a:off x="594360" y="1371600"/>
            <a:ext cx="2514600" cy="27432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Ordinary ZnO particles</a:t>
            </a:r>
            <a:endParaRPr lang="en-US" sz="1100" dirty="0"/>
          </a:p>
        </p:txBody>
      </p:sp>
      <p:sp>
        <p:nvSpPr>
          <p:cNvPr id="11" name="Shape 9"/>
          <p:cNvSpPr/>
          <p:nvPr/>
        </p:nvSpPr>
        <p:spPr>
          <a:xfrm>
            <a:off x="594360" y="3429000"/>
            <a:ext cx="2514600" cy="914400"/>
          </a:xfrm>
          <a:prstGeom prst="rect">
            <a:avLst/>
          </a:prstGeom>
          <a:solidFill>
            <a:srgbClr val="F2D6B8"/>
          </a:solidFill>
          <a:ln w="12700">
            <a:solidFill>
              <a:srgbClr val="A8865E"/>
            </a:solidFill>
            <a:prstDash val="solid"/>
          </a:ln>
        </p:spPr>
      </p:sp>
      <p:sp>
        <p:nvSpPr>
          <p:cNvPr id="12" name="Text 10"/>
          <p:cNvSpPr/>
          <p:nvPr/>
        </p:nvSpPr>
        <p:spPr>
          <a:xfrm>
            <a:off x="594360" y="4069080"/>
            <a:ext cx="2514600" cy="228600"/>
          </a:xfrm>
          <a:prstGeom prst="rect">
            <a:avLst/>
          </a:prstGeom>
          <a:noFill/>
          <a:ln/>
        </p:spPr>
        <p:txBody>
          <a:bodyPr wrap="square" lIns="0" tIns="0" rIns="0" bIns="0" rtlCol="0" anchor="ctr"/>
          <a:lstStyle/>
          <a:p>
            <a:pPr algn="ctr" indent="0" marL="0">
              <a:buNone/>
            </a:pPr>
            <a:r>
              <a:rPr lang="en-US" sz="1000" dirty="0">
                <a:solidFill>
                  <a:srgbClr val="8A6D3B"/>
                </a:solidFill>
                <a:latin typeface="Calibri" pitchFamily="34" charset="0"/>
                <a:ea typeface="Calibri" pitchFamily="34" charset="-122"/>
                <a:cs typeface="Calibri" pitchFamily="34" charset="-120"/>
              </a:rPr>
              <a:t>skin</a:t>
            </a:r>
            <a:endParaRPr lang="en-US" sz="1000" dirty="0"/>
          </a:p>
        </p:txBody>
      </p:sp>
      <p:sp>
        <p:nvSpPr>
          <p:cNvPr id="13" name="Shape 11"/>
          <p:cNvSpPr/>
          <p:nvPr/>
        </p:nvSpPr>
        <p:spPr>
          <a:xfrm>
            <a:off x="594360" y="3063240"/>
            <a:ext cx="2514600" cy="365760"/>
          </a:xfrm>
          <a:prstGeom prst="rect">
            <a:avLst/>
          </a:prstGeom>
          <a:solidFill>
            <a:srgbClr val="F2F2F2"/>
          </a:solidFill>
          <a:ln w="9525">
            <a:solidFill>
              <a:srgbClr val="9AA3B0"/>
            </a:solidFill>
            <a:prstDash val="solid"/>
          </a:ln>
        </p:spPr>
      </p:sp>
      <p:sp>
        <p:nvSpPr>
          <p:cNvPr id="14" name="Shape 12"/>
          <p:cNvSpPr/>
          <p:nvPr/>
        </p:nvSpPr>
        <p:spPr>
          <a:xfrm>
            <a:off x="658368" y="3108960"/>
            <a:ext cx="274320" cy="274320"/>
          </a:xfrm>
          <a:prstGeom prst="ellipse">
            <a:avLst/>
          </a:prstGeom>
          <a:solidFill>
            <a:srgbClr val="F2F2F2"/>
          </a:solidFill>
          <a:ln w="9525">
            <a:solidFill>
              <a:srgbClr val="9AA3B0"/>
            </a:solidFill>
            <a:prstDash val="solid"/>
          </a:ln>
        </p:spPr>
      </p:sp>
      <p:sp>
        <p:nvSpPr>
          <p:cNvPr id="15" name="Shape 13"/>
          <p:cNvSpPr/>
          <p:nvPr/>
        </p:nvSpPr>
        <p:spPr>
          <a:xfrm>
            <a:off x="1005840" y="3108960"/>
            <a:ext cx="274320" cy="274320"/>
          </a:xfrm>
          <a:prstGeom prst="ellipse">
            <a:avLst/>
          </a:prstGeom>
          <a:solidFill>
            <a:srgbClr val="F2F2F2"/>
          </a:solidFill>
          <a:ln w="9525">
            <a:solidFill>
              <a:srgbClr val="9AA3B0"/>
            </a:solidFill>
            <a:prstDash val="solid"/>
          </a:ln>
        </p:spPr>
      </p:sp>
      <p:sp>
        <p:nvSpPr>
          <p:cNvPr id="16" name="Shape 14"/>
          <p:cNvSpPr/>
          <p:nvPr/>
        </p:nvSpPr>
        <p:spPr>
          <a:xfrm>
            <a:off x="1353312" y="3108960"/>
            <a:ext cx="274320" cy="274320"/>
          </a:xfrm>
          <a:prstGeom prst="ellipse">
            <a:avLst/>
          </a:prstGeom>
          <a:solidFill>
            <a:srgbClr val="F2F2F2"/>
          </a:solidFill>
          <a:ln w="9525">
            <a:solidFill>
              <a:srgbClr val="9AA3B0"/>
            </a:solidFill>
            <a:prstDash val="solid"/>
          </a:ln>
        </p:spPr>
      </p:sp>
      <p:sp>
        <p:nvSpPr>
          <p:cNvPr id="17" name="Shape 15"/>
          <p:cNvSpPr/>
          <p:nvPr/>
        </p:nvSpPr>
        <p:spPr>
          <a:xfrm>
            <a:off x="1700784" y="3108960"/>
            <a:ext cx="274320" cy="274320"/>
          </a:xfrm>
          <a:prstGeom prst="ellipse">
            <a:avLst/>
          </a:prstGeom>
          <a:solidFill>
            <a:srgbClr val="F2F2F2"/>
          </a:solidFill>
          <a:ln w="9525">
            <a:solidFill>
              <a:srgbClr val="9AA3B0"/>
            </a:solidFill>
            <a:prstDash val="solid"/>
          </a:ln>
        </p:spPr>
      </p:sp>
      <p:sp>
        <p:nvSpPr>
          <p:cNvPr id="18" name="Shape 16"/>
          <p:cNvSpPr/>
          <p:nvPr/>
        </p:nvSpPr>
        <p:spPr>
          <a:xfrm>
            <a:off x="2048256" y="3108960"/>
            <a:ext cx="274320" cy="274320"/>
          </a:xfrm>
          <a:prstGeom prst="ellipse">
            <a:avLst/>
          </a:prstGeom>
          <a:solidFill>
            <a:srgbClr val="F2F2F2"/>
          </a:solidFill>
          <a:ln w="9525">
            <a:solidFill>
              <a:srgbClr val="9AA3B0"/>
            </a:solidFill>
            <a:prstDash val="solid"/>
          </a:ln>
        </p:spPr>
      </p:sp>
      <p:sp>
        <p:nvSpPr>
          <p:cNvPr id="19" name="Shape 17"/>
          <p:cNvSpPr/>
          <p:nvPr/>
        </p:nvSpPr>
        <p:spPr>
          <a:xfrm>
            <a:off x="2395728" y="3108960"/>
            <a:ext cx="274320" cy="274320"/>
          </a:xfrm>
          <a:prstGeom prst="ellipse">
            <a:avLst/>
          </a:prstGeom>
          <a:solidFill>
            <a:srgbClr val="F2F2F2"/>
          </a:solidFill>
          <a:ln w="9525">
            <a:solidFill>
              <a:srgbClr val="9AA3B0"/>
            </a:solidFill>
            <a:prstDash val="solid"/>
          </a:ln>
        </p:spPr>
      </p:sp>
      <p:sp>
        <p:nvSpPr>
          <p:cNvPr id="20" name="Shape 18"/>
          <p:cNvSpPr/>
          <p:nvPr/>
        </p:nvSpPr>
        <p:spPr>
          <a:xfrm>
            <a:off x="2743200" y="3108960"/>
            <a:ext cx="274320" cy="274320"/>
          </a:xfrm>
          <a:prstGeom prst="ellipse">
            <a:avLst/>
          </a:prstGeom>
          <a:solidFill>
            <a:srgbClr val="F2F2F2"/>
          </a:solidFill>
          <a:ln w="9525">
            <a:solidFill>
              <a:srgbClr val="9AA3B0"/>
            </a:solidFill>
            <a:prstDash val="solid"/>
          </a:ln>
        </p:spPr>
      </p:sp>
      <p:sp>
        <p:nvSpPr>
          <p:cNvPr id="21" name="Shape 19"/>
          <p:cNvSpPr/>
          <p:nvPr/>
        </p:nvSpPr>
        <p:spPr>
          <a:xfrm>
            <a:off x="1051560" y="1783080"/>
            <a:ext cx="91" cy="1234440"/>
          </a:xfrm>
          <a:prstGeom prst="line">
            <a:avLst/>
          </a:prstGeom>
          <a:noFill/>
          <a:ln w="28575">
            <a:solidFill>
              <a:srgbClr val="6A3FA0"/>
            </a:solidFill>
            <a:prstDash val="solid"/>
            <a:tailEnd type="triangle"/>
          </a:ln>
        </p:spPr>
      </p:sp>
      <p:sp>
        <p:nvSpPr>
          <p:cNvPr id="22" name="Text 20"/>
          <p:cNvSpPr/>
          <p:nvPr/>
        </p:nvSpPr>
        <p:spPr>
          <a:xfrm>
            <a:off x="640080" y="2103120"/>
            <a:ext cx="365760" cy="201168"/>
          </a:xfrm>
          <a:prstGeom prst="rect">
            <a:avLst/>
          </a:prstGeom>
          <a:noFill/>
          <a:ln/>
        </p:spPr>
        <p:txBody>
          <a:bodyPr wrap="square" lIns="0" tIns="0" rIns="0" bIns="0" rtlCol="0" anchor="ctr"/>
          <a:lstStyle/>
          <a:p>
            <a:pPr algn="r" indent="0" marL="0">
              <a:buNone/>
            </a:pPr>
            <a:r>
              <a:rPr lang="en-US" sz="1050" b="1" dirty="0">
                <a:solidFill>
                  <a:srgbClr val="6A3FA0"/>
                </a:solidFill>
                <a:latin typeface="Calibri" pitchFamily="34" charset="0"/>
                <a:ea typeface="Calibri" pitchFamily="34" charset="-122"/>
                <a:cs typeface="Calibri" pitchFamily="34" charset="-120"/>
              </a:rPr>
              <a:t>UV</a:t>
            </a:r>
            <a:endParaRPr lang="en-US" sz="1050" dirty="0"/>
          </a:p>
        </p:txBody>
      </p:sp>
      <p:sp>
        <p:nvSpPr>
          <p:cNvPr id="23" name="Shape 21"/>
          <p:cNvSpPr/>
          <p:nvPr/>
        </p:nvSpPr>
        <p:spPr>
          <a:xfrm>
            <a:off x="2148840" y="1783080"/>
            <a:ext cx="91" cy="1234440"/>
          </a:xfrm>
          <a:prstGeom prst="line">
            <a:avLst/>
          </a:prstGeom>
          <a:noFill/>
          <a:ln w="28575">
            <a:solidFill>
              <a:srgbClr val="E0B030"/>
            </a:solidFill>
            <a:prstDash val="solid"/>
            <a:tailEnd type="triangle"/>
          </a:ln>
        </p:spPr>
      </p:sp>
      <p:sp>
        <p:nvSpPr>
          <p:cNvPr id="24" name="Shape 22"/>
          <p:cNvSpPr/>
          <p:nvPr/>
        </p:nvSpPr>
        <p:spPr>
          <a:xfrm flipV="1">
            <a:off x="2194560" y="2148840"/>
            <a:ext cx="502920" cy="868680"/>
          </a:xfrm>
          <a:prstGeom prst="line">
            <a:avLst/>
          </a:prstGeom>
          <a:noFill/>
          <a:ln w="28575">
            <a:solidFill>
              <a:srgbClr val="E0B030"/>
            </a:solidFill>
            <a:prstDash val="solid"/>
            <a:tailEnd type="triangle"/>
          </a:ln>
        </p:spPr>
      </p:sp>
      <p:sp>
        <p:nvSpPr>
          <p:cNvPr id="25" name="Text 23"/>
          <p:cNvSpPr/>
          <p:nvPr/>
        </p:nvSpPr>
        <p:spPr>
          <a:xfrm>
            <a:off x="1188720" y="1600200"/>
            <a:ext cx="914400" cy="411480"/>
          </a:xfrm>
          <a:prstGeom prst="rect">
            <a:avLst/>
          </a:prstGeom>
          <a:noFill/>
          <a:ln/>
        </p:spPr>
        <p:txBody>
          <a:bodyPr wrap="square" lIns="0" tIns="0" rIns="0" bIns="0" rtlCol="0" anchor="ctr"/>
          <a:lstStyle/>
          <a:p>
            <a:pPr algn="r" indent="0" marL="0">
              <a:buNone/>
            </a:pPr>
            <a:r>
              <a:rPr lang="en-US" sz="1000" dirty="0">
                <a:solidFill>
                  <a:srgbClr val="B8860B"/>
                </a:solidFill>
                <a:latin typeface="Calibri" pitchFamily="34" charset="0"/>
                <a:ea typeface="Calibri" pitchFamily="34" charset="-122"/>
                <a:cs typeface="Calibri" pitchFamily="34" charset="-120"/>
              </a:rPr>
              <a:t>visible light scattered</a:t>
            </a:r>
            <a:endParaRPr lang="en-US" sz="1000" dirty="0"/>
          </a:p>
        </p:txBody>
      </p:sp>
      <p:sp>
        <p:nvSpPr>
          <p:cNvPr id="26" name="Text 24"/>
          <p:cNvSpPr/>
          <p:nvPr/>
        </p:nvSpPr>
        <p:spPr>
          <a:xfrm>
            <a:off x="2377440" y="2651760"/>
            <a:ext cx="731520" cy="22860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looks </a:t>
            </a:r>
            <a:r>
              <a:rPr lang="en-US" sz="1000" b="1" dirty="0">
                <a:solidFill>
                  <a:srgbClr val="262B3A"/>
                </a:solidFill>
                <a:latin typeface="Calibri" pitchFamily="34" charset="0"/>
                <a:ea typeface="Calibri" pitchFamily="34" charset="-122"/>
                <a:cs typeface="Calibri" pitchFamily="34" charset="-120"/>
              </a:rPr>
              <a:t>white</a:t>
            </a:r>
            <a:endParaRPr lang="en-US" sz="1000" dirty="0"/>
          </a:p>
        </p:txBody>
      </p:sp>
      <p:sp>
        <p:nvSpPr>
          <p:cNvPr id="27" name="Text 25"/>
          <p:cNvSpPr/>
          <p:nvPr/>
        </p:nvSpPr>
        <p:spPr>
          <a:xfrm>
            <a:off x="3291840" y="1371600"/>
            <a:ext cx="2514600" cy="27432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Nano ZnO / TiO₂ particles</a:t>
            </a:r>
            <a:endParaRPr lang="en-US" sz="1100" dirty="0"/>
          </a:p>
        </p:txBody>
      </p:sp>
      <p:sp>
        <p:nvSpPr>
          <p:cNvPr id="28" name="Shape 26"/>
          <p:cNvSpPr/>
          <p:nvPr/>
        </p:nvSpPr>
        <p:spPr>
          <a:xfrm>
            <a:off x="3291840" y="3429000"/>
            <a:ext cx="2514600" cy="914400"/>
          </a:xfrm>
          <a:prstGeom prst="rect">
            <a:avLst/>
          </a:prstGeom>
          <a:solidFill>
            <a:srgbClr val="F2D6B8"/>
          </a:solidFill>
          <a:ln w="12700">
            <a:solidFill>
              <a:srgbClr val="A8865E"/>
            </a:solidFill>
            <a:prstDash val="solid"/>
          </a:ln>
        </p:spPr>
      </p:sp>
      <p:sp>
        <p:nvSpPr>
          <p:cNvPr id="29" name="Text 27"/>
          <p:cNvSpPr/>
          <p:nvPr/>
        </p:nvSpPr>
        <p:spPr>
          <a:xfrm>
            <a:off x="3291840" y="4069080"/>
            <a:ext cx="2514600" cy="228600"/>
          </a:xfrm>
          <a:prstGeom prst="rect">
            <a:avLst/>
          </a:prstGeom>
          <a:noFill/>
          <a:ln/>
        </p:spPr>
        <p:txBody>
          <a:bodyPr wrap="square" lIns="0" tIns="0" rIns="0" bIns="0" rtlCol="0" anchor="ctr"/>
          <a:lstStyle/>
          <a:p>
            <a:pPr algn="ctr" indent="0" marL="0">
              <a:buNone/>
            </a:pPr>
            <a:r>
              <a:rPr lang="en-US" sz="1000" dirty="0">
                <a:solidFill>
                  <a:srgbClr val="8A6D3B"/>
                </a:solidFill>
                <a:latin typeface="Calibri" pitchFamily="34" charset="0"/>
                <a:ea typeface="Calibri" pitchFamily="34" charset="-122"/>
                <a:cs typeface="Calibri" pitchFamily="34" charset="-120"/>
              </a:rPr>
              <a:t>skin</a:t>
            </a:r>
            <a:endParaRPr lang="en-US" sz="1000" dirty="0"/>
          </a:p>
        </p:txBody>
      </p:sp>
      <p:sp>
        <p:nvSpPr>
          <p:cNvPr id="30" name="Shape 28"/>
          <p:cNvSpPr/>
          <p:nvPr/>
        </p:nvSpPr>
        <p:spPr>
          <a:xfrm>
            <a:off x="3291840" y="3063240"/>
            <a:ext cx="2514600" cy="365760"/>
          </a:xfrm>
          <a:prstGeom prst="rect">
            <a:avLst/>
          </a:prstGeom>
          <a:solidFill>
            <a:srgbClr val="F7FBFF"/>
          </a:solidFill>
          <a:ln w="9525">
            <a:solidFill>
              <a:srgbClr val="9AA3B0"/>
            </a:solidFill>
            <a:prstDash val="solid"/>
          </a:ln>
        </p:spPr>
      </p:sp>
      <p:sp>
        <p:nvSpPr>
          <p:cNvPr id="31" name="Shape 29"/>
          <p:cNvSpPr/>
          <p:nvPr/>
        </p:nvSpPr>
        <p:spPr>
          <a:xfrm>
            <a:off x="3337560" y="3127248"/>
            <a:ext cx="54864" cy="54864"/>
          </a:xfrm>
          <a:prstGeom prst="ellipse">
            <a:avLst/>
          </a:prstGeom>
          <a:solidFill>
            <a:srgbClr val="F2F2F2"/>
          </a:solidFill>
          <a:ln w="9525">
            <a:solidFill>
              <a:srgbClr val="9AA3B0"/>
            </a:solidFill>
            <a:prstDash val="solid"/>
          </a:ln>
        </p:spPr>
      </p:sp>
      <p:sp>
        <p:nvSpPr>
          <p:cNvPr id="32" name="Shape 30"/>
          <p:cNvSpPr/>
          <p:nvPr/>
        </p:nvSpPr>
        <p:spPr>
          <a:xfrm>
            <a:off x="3462833" y="3127248"/>
            <a:ext cx="54864" cy="54864"/>
          </a:xfrm>
          <a:prstGeom prst="ellipse">
            <a:avLst/>
          </a:prstGeom>
          <a:solidFill>
            <a:srgbClr val="F2F2F2"/>
          </a:solidFill>
          <a:ln w="9525">
            <a:solidFill>
              <a:srgbClr val="9AA3B0"/>
            </a:solidFill>
            <a:prstDash val="solid"/>
          </a:ln>
        </p:spPr>
      </p:sp>
      <p:sp>
        <p:nvSpPr>
          <p:cNvPr id="33" name="Shape 31"/>
          <p:cNvSpPr/>
          <p:nvPr/>
        </p:nvSpPr>
        <p:spPr>
          <a:xfrm>
            <a:off x="3588106" y="3127248"/>
            <a:ext cx="54864" cy="54864"/>
          </a:xfrm>
          <a:prstGeom prst="ellipse">
            <a:avLst/>
          </a:prstGeom>
          <a:solidFill>
            <a:srgbClr val="F2F2F2"/>
          </a:solidFill>
          <a:ln w="9525">
            <a:solidFill>
              <a:srgbClr val="9AA3B0"/>
            </a:solidFill>
            <a:prstDash val="solid"/>
          </a:ln>
        </p:spPr>
      </p:sp>
      <p:sp>
        <p:nvSpPr>
          <p:cNvPr id="34" name="Shape 32"/>
          <p:cNvSpPr/>
          <p:nvPr/>
        </p:nvSpPr>
        <p:spPr>
          <a:xfrm>
            <a:off x="3713378" y="3127248"/>
            <a:ext cx="54864" cy="54864"/>
          </a:xfrm>
          <a:prstGeom prst="ellipse">
            <a:avLst/>
          </a:prstGeom>
          <a:solidFill>
            <a:srgbClr val="F2F2F2"/>
          </a:solidFill>
          <a:ln w="9525">
            <a:solidFill>
              <a:srgbClr val="9AA3B0"/>
            </a:solidFill>
            <a:prstDash val="solid"/>
          </a:ln>
        </p:spPr>
      </p:sp>
      <p:sp>
        <p:nvSpPr>
          <p:cNvPr id="35" name="Shape 33"/>
          <p:cNvSpPr/>
          <p:nvPr/>
        </p:nvSpPr>
        <p:spPr>
          <a:xfrm>
            <a:off x="3838651" y="3127248"/>
            <a:ext cx="54864" cy="54864"/>
          </a:xfrm>
          <a:prstGeom prst="ellipse">
            <a:avLst/>
          </a:prstGeom>
          <a:solidFill>
            <a:srgbClr val="F2F2F2"/>
          </a:solidFill>
          <a:ln w="9525">
            <a:solidFill>
              <a:srgbClr val="9AA3B0"/>
            </a:solidFill>
            <a:prstDash val="solid"/>
          </a:ln>
        </p:spPr>
      </p:sp>
      <p:sp>
        <p:nvSpPr>
          <p:cNvPr id="36" name="Shape 34"/>
          <p:cNvSpPr/>
          <p:nvPr/>
        </p:nvSpPr>
        <p:spPr>
          <a:xfrm>
            <a:off x="3963924" y="3127248"/>
            <a:ext cx="54864" cy="54864"/>
          </a:xfrm>
          <a:prstGeom prst="ellipse">
            <a:avLst/>
          </a:prstGeom>
          <a:solidFill>
            <a:srgbClr val="F2F2F2"/>
          </a:solidFill>
          <a:ln w="9525">
            <a:solidFill>
              <a:srgbClr val="9AA3B0"/>
            </a:solidFill>
            <a:prstDash val="solid"/>
          </a:ln>
        </p:spPr>
      </p:sp>
      <p:sp>
        <p:nvSpPr>
          <p:cNvPr id="37" name="Shape 35"/>
          <p:cNvSpPr/>
          <p:nvPr/>
        </p:nvSpPr>
        <p:spPr>
          <a:xfrm>
            <a:off x="4089197" y="3127248"/>
            <a:ext cx="54864" cy="54864"/>
          </a:xfrm>
          <a:prstGeom prst="ellipse">
            <a:avLst/>
          </a:prstGeom>
          <a:solidFill>
            <a:srgbClr val="F2F2F2"/>
          </a:solidFill>
          <a:ln w="9525">
            <a:solidFill>
              <a:srgbClr val="9AA3B0"/>
            </a:solidFill>
            <a:prstDash val="solid"/>
          </a:ln>
        </p:spPr>
      </p:sp>
      <p:sp>
        <p:nvSpPr>
          <p:cNvPr id="38" name="Shape 36"/>
          <p:cNvSpPr/>
          <p:nvPr/>
        </p:nvSpPr>
        <p:spPr>
          <a:xfrm>
            <a:off x="4214470" y="3127248"/>
            <a:ext cx="54864" cy="54864"/>
          </a:xfrm>
          <a:prstGeom prst="ellipse">
            <a:avLst/>
          </a:prstGeom>
          <a:solidFill>
            <a:srgbClr val="F2F2F2"/>
          </a:solidFill>
          <a:ln w="9525">
            <a:solidFill>
              <a:srgbClr val="9AA3B0"/>
            </a:solidFill>
            <a:prstDash val="solid"/>
          </a:ln>
        </p:spPr>
      </p:sp>
      <p:sp>
        <p:nvSpPr>
          <p:cNvPr id="39" name="Shape 37"/>
          <p:cNvSpPr/>
          <p:nvPr/>
        </p:nvSpPr>
        <p:spPr>
          <a:xfrm>
            <a:off x="4339742" y="3127248"/>
            <a:ext cx="54864" cy="54864"/>
          </a:xfrm>
          <a:prstGeom prst="ellipse">
            <a:avLst/>
          </a:prstGeom>
          <a:solidFill>
            <a:srgbClr val="F2F2F2"/>
          </a:solidFill>
          <a:ln w="9525">
            <a:solidFill>
              <a:srgbClr val="9AA3B0"/>
            </a:solidFill>
            <a:prstDash val="solid"/>
          </a:ln>
        </p:spPr>
      </p:sp>
      <p:sp>
        <p:nvSpPr>
          <p:cNvPr id="40" name="Shape 38"/>
          <p:cNvSpPr/>
          <p:nvPr/>
        </p:nvSpPr>
        <p:spPr>
          <a:xfrm>
            <a:off x="4465015" y="3127248"/>
            <a:ext cx="54864" cy="54864"/>
          </a:xfrm>
          <a:prstGeom prst="ellipse">
            <a:avLst/>
          </a:prstGeom>
          <a:solidFill>
            <a:srgbClr val="F2F2F2"/>
          </a:solidFill>
          <a:ln w="9525">
            <a:solidFill>
              <a:srgbClr val="9AA3B0"/>
            </a:solidFill>
            <a:prstDash val="solid"/>
          </a:ln>
        </p:spPr>
      </p:sp>
      <p:sp>
        <p:nvSpPr>
          <p:cNvPr id="41" name="Shape 39"/>
          <p:cNvSpPr/>
          <p:nvPr/>
        </p:nvSpPr>
        <p:spPr>
          <a:xfrm>
            <a:off x="4590288" y="3127248"/>
            <a:ext cx="54864" cy="54864"/>
          </a:xfrm>
          <a:prstGeom prst="ellipse">
            <a:avLst/>
          </a:prstGeom>
          <a:solidFill>
            <a:srgbClr val="F2F2F2"/>
          </a:solidFill>
          <a:ln w="9525">
            <a:solidFill>
              <a:srgbClr val="9AA3B0"/>
            </a:solidFill>
            <a:prstDash val="solid"/>
          </a:ln>
        </p:spPr>
      </p:sp>
      <p:sp>
        <p:nvSpPr>
          <p:cNvPr id="42" name="Shape 40"/>
          <p:cNvSpPr/>
          <p:nvPr/>
        </p:nvSpPr>
        <p:spPr>
          <a:xfrm>
            <a:off x="4715561" y="3127248"/>
            <a:ext cx="54864" cy="54864"/>
          </a:xfrm>
          <a:prstGeom prst="ellipse">
            <a:avLst/>
          </a:prstGeom>
          <a:solidFill>
            <a:srgbClr val="F2F2F2"/>
          </a:solidFill>
          <a:ln w="9525">
            <a:solidFill>
              <a:srgbClr val="9AA3B0"/>
            </a:solidFill>
            <a:prstDash val="solid"/>
          </a:ln>
        </p:spPr>
      </p:sp>
      <p:sp>
        <p:nvSpPr>
          <p:cNvPr id="43" name="Shape 41"/>
          <p:cNvSpPr/>
          <p:nvPr/>
        </p:nvSpPr>
        <p:spPr>
          <a:xfrm>
            <a:off x="4840834" y="3127248"/>
            <a:ext cx="54864" cy="54864"/>
          </a:xfrm>
          <a:prstGeom prst="ellipse">
            <a:avLst/>
          </a:prstGeom>
          <a:solidFill>
            <a:srgbClr val="F2F2F2"/>
          </a:solidFill>
          <a:ln w="9525">
            <a:solidFill>
              <a:srgbClr val="9AA3B0"/>
            </a:solidFill>
            <a:prstDash val="solid"/>
          </a:ln>
        </p:spPr>
      </p:sp>
      <p:sp>
        <p:nvSpPr>
          <p:cNvPr id="44" name="Shape 42"/>
          <p:cNvSpPr/>
          <p:nvPr/>
        </p:nvSpPr>
        <p:spPr>
          <a:xfrm>
            <a:off x="4966106" y="3127248"/>
            <a:ext cx="54864" cy="54864"/>
          </a:xfrm>
          <a:prstGeom prst="ellipse">
            <a:avLst/>
          </a:prstGeom>
          <a:solidFill>
            <a:srgbClr val="F2F2F2"/>
          </a:solidFill>
          <a:ln w="9525">
            <a:solidFill>
              <a:srgbClr val="9AA3B0"/>
            </a:solidFill>
            <a:prstDash val="solid"/>
          </a:ln>
        </p:spPr>
      </p:sp>
      <p:sp>
        <p:nvSpPr>
          <p:cNvPr id="45" name="Shape 43"/>
          <p:cNvSpPr/>
          <p:nvPr/>
        </p:nvSpPr>
        <p:spPr>
          <a:xfrm>
            <a:off x="5091379" y="3127248"/>
            <a:ext cx="54864" cy="54864"/>
          </a:xfrm>
          <a:prstGeom prst="ellipse">
            <a:avLst/>
          </a:prstGeom>
          <a:solidFill>
            <a:srgbClr val="F2F2F2"/>
          </a:solidFill>
          <a:ln w="9525">
            <a:solidFill>
              <a:srgbClr val="9AA3B0"/>
            </a:solidFill>
            <a:prstDash val="solid"/>
          </a:ln>
        </p:spPr>
      </p:sp>
      <p:sp>
        <p:nvSpPr>
          <p:cNvPr id="46" name="Shape 44"/>
          <p:cNvSpPr/>
          <p:nvPr/>
        </p:nvSpPr>
        <p:spPr>
          <a:xfrm>
            <a:off x="5216652" y="3127248"/>
            <a:ext cx="54864" cy="54864"/>
          </a:xfrm>
          <a:prstGeom prst="ellipse">
            <a:avLst/>
          </a:prstGeom>
          <a:solidFill>
            <a:srgbClr val="F2F2F2"/>
          </a:solidFill>
          <a:ln w="9525">
            <a:solidFill>
              <a:srgbClr val="9AA3B0"/>
            </a:solidFill>
            <a:prstDash val="solid"/>
          </a:ln>
        </p:spPr>
      </p:sp>
      <p:sp>
        <p:nvSpPr>
          <p:cNvPr id="47" name="Shape 45"/>
          <p:cNvSpPr/>
          <p:nvPr/>
        </p:nvSpPr>
        <p:spPr>
          <a:xfrm>
            <a:off x="5341925" y="3127248"/>
            <a:ext cx="54864" cy="54864"/>
          </a:xfrm>
          <a:prstGeom prst="ellipse">
            <a:avLst/>
          </a:prstGeom>
          <a:solidFill>
            <a:srgbClr val="F2F2F2"/>
          </a:solidFill>
          <a:ln w="9525">
            <a:solidFill>
              <a:srgbClr val="9AA3B0"/>
            </a:solidFill>
            <a:prstDash val="solid"/>
          </a:ln>
        </p:spPr>
      </p:sp>
      <p:sp>
        <p:nvSpPr>
          <p:cNvPr id="48" name="Shape 46"/>
          <p:cNvSpPr/>
          <p:nvPr/>
        </p:nvSpPr>
        <p:spPr>
          <a:xfrm>
            <a:off x="5467198" y="3127248"/>
            <a:ext cx="54864" cy="54864"/>
          </a:xfrm>
          <a:prstGeom prst="ellipse">
            <a:avLst/>
          </a:prstGeom>
          <a:solidFill>
            <a:srgbClr val="F2F2F2"/>
          </a:solidFill>
          <a:ln w="9525">
            <a:solidFill>
              <a:srgbClr val="9AA3B0"/>
            </a:solidFill>
            <a:prstDash val="solid"/>
          </a:ln>
        </p:spPr>
      </p:sp>
      <p:sp>
        <p:nvSpPr>
          <p:cNvPr id="49" name="Shape 47"/>
          <p:cNvSpPr/>
          <p:nvPr/>
        </p:nvSpPr>
        <p:spPr>
          <a:xfrm>
            <a:off x="5592470" y="3127248"/>
            <a:ext cx="54864" cy="54864"/>
          </a:xfrm>
          <a:prstGeom prst="ellipse">
            <a:avLst/>
          </a:prstGeom>
          <a:solidFill>
            <a:srgbClr val="F2F2F2"/>
          </a:solidFill>
          <a:ln w="9525">
            <a:solidFill>
              <a:srgbClr val="9AA3B0"/>
            </a:solidFill>
            <a:prstDash val="solid"/>
          </a:ln>
        </p:spPr>
      </p:sp>
      <p:sp>
        <p:nvSpPr>
          <p:cNvPr id="50" name="Shape 48"/>
          <p:cNvSpPr/>
          <p:nvPr/>
        </p:nvSpPr>
        <p:spPr>
          <a:xfrm>
            <a:off x="5717743" y="3127248"/>
            <a:ext cx="54864" cy="54864"/>
          </a:xfrm>
          <a:prstGeom prst="ellipse">
            <a:avLst/>
          </a:prstGeom>
          <a:solidFill>
            <a:srgbClr val="F2F2F2"/>
          </a:solidFill>
          <a:ln w="9525">
            <a:solidFill>
              <a:srgbClr val="9AA3B0"/>
            </a:solidFill>
            <a:prstDash val="solid"/>
          </a:ln>
        </p:spPr>
      </p:sp>
      <p:sp>
        <p:nvSpPr>
          <p:cNvPr id="51" name="Shape 49"/>
          <p:cNvSpPr/>
          <p:nvPr/>
        </p:nvSpPr>
        <p:spPr>
          <a:xfrm>
            <a:off x="3337560" y="3291840"/>
            <a:ext cx="54864" cy="54864"/>
          </a:xfrm>
          <a:prstGeom prst="ellipse">
            <a:avLst/>
          </a:prstGeom>
          <a:solidFill>
            <a:srgbClr val="F2F2F2"/>
          </a:solidFill>
          <a:ln w="9525">
            <a:solidFill>
              <a:srgbClr val="9AA3B0"/>
            </a:solidFill>
            <a:prstDash val="solid"/>
          </a:ln>
        </p:spPr>
      </p:sp>
      <p:sp>
        <p:nvSpPr>
          <p:cNvPr id="52" name="Shape 50"/>
          <p:cNvSpPr/>
          <p:nvPr/>
        </p:nvSpPr>
        <p:spPr>
          <a:xfrm>
            <a:off x="3462833" y="3291840"/>
            <a:ext cx="54864" cy="54864"/>
          </a:xfrm>
          <a:prstGeom prst="ellipse">
            <a:avLst/>
          </a:prstGeom>
          <a:solidFill>
            <a:srgbClr val="F2F2F2"/>
          </a:solidFill>
          <a:ln w="9525">
            <a:solidFill>
              <a:srgbClr val="9AA3B0"/>
            </a:solidFill>
            <a:prstDash val="solid"/>
          </a:ln>
        </p:spPr>
      </p:sp>
      <p:sp>
        <p:nvSpPr>
          <p:cNvPr id="53" name="Shape 51"/>
          <p:cNvSpPr/>
          <p:nvPr/>
        </p:nvSpPr>
        <p:spPr>
          <a:xfrm>
            <a:off x="3588106" y="3291840"/>
            <a:ext cx="54864" cy="54864"/>
          </a:xfrm>
          <a:prstGeom prst="ellipse">
            <a:avLst/>
          </a:prstGeom>
          <a:solidFill>
            <a:srgbClr val="F2F2F2"/>
          </a:solidFill>
          <a:ln w="9525">
            <a:solidFill>
              <a:srgbClr val="9AA3B0"/>
            </a:solidFill>
            <a:prstDash val="solid"/>
          </a:ln>
        </p:spPr>
      </p:sp>
      <p:sp>
        <p:nvSpPr>
          <p:cNvPr id="54" name="Shape 52"/>
          <p:cNvSpPr/>
          <p:nvPr/>
        </p:nvSpPr>
        <p:spPr>
          <a:xfrm>
            <a:off x="3713378" y="3291840"/>
            <a:ext cx="54864" cy="54864"/>
          </a:xfrm>
          <a:prstGeom prst="ellipse">
            <a:avLst/>
          </a:prstGeom>
          <a:solidFill>
            <a:srgbClr val="F2F2F2"/>
          </a:solidFill>
          <a:ln w="9525">
            <a:solidFill>
              <a:srgbClr val="9AA3B0"/>
            </a:solidFill>
            <a:prstDash val="solid"/>
          </a:ln>
        </p:spPr>
      </p:sp>
      <p:sp>
        <p:nvSpPr>
          <p:cNvPr id="55" name="Shape 53"/>
          <p:cNvSpPr/>
          <p:nvPr/>
        </p:nvSpPr>
        <p:spPr>
          <a:xfrm>
            <a:off x="3838651" y="3291840"/>
            <a:ext cx="54864" cy="54864"/>
          </a:xfrm>
          <a:prstGeom prst="ellipse">
            <a:avLst/>
          </a:prstGeom>
          <a:solidFill>
            <a:srgbClr val="F2F2F2"/>
          </a:solidFill>
          <a:ln w="9525">
            <a:solidFill>
              <a:srgbClr val="9AA3B0"/>
            </a:solidFill>
            <a:prstDash val="solid"/>
          </a:ln>
        </p:spPr>
      </p:sp>
      <p:sp>
        <p:nvSpPr>
          <p:cNvPr id="56" name="Shape 54"/>
          <p:cNvSpPr/>
          <p:nvPr/>
        </p:nvSpPr>
        <p:spPr>
          <a:xfrm>
            <a:off x="3963924" y="3291840"/>
            <a:ext cx="54864" cy="54864"/>
          </a:xfrm>
          <a:prstGeom prst="ellipse">
            <a:avLst/>
          </a:prstGeom>
          <a:solidFill>
            <a:srgbClr val="F2F2F2"/>
          </a:solidFill>
          <a:ln w="9525">
            <a:solidFill>
              <a:srgbClr val="9AA3B0"/>
            </a:solidFill>
            <a:prstDash val="solid"/>
          </a:ln>
        </p:spPr>
      </p:sp>
      <p:sp>
        <p:nvSpPr>
          <p:cNvPr id="57" name="Shape 55"/>
          <p:cNvSpPr/>
          <p:nvPr/>
        </p:nvSpPr>
        <p:spPr>
          <a:xfrm>
            <a:off x="4089197" y="3291840"/>
            <a:ext cx="54864" cy="54864"/>
          </a:xfrm>
          <a:prstGeom prst="ellipse">
            <a:avLst/>
          </a:prstGeom>
          <a:solidFill>
            <a:srgbClr val="F2F2F2"/>
          </a:solidFill>
          <a:ln w="9525">
            <a:solidFill>
              <a:srgbClr val="9AA3B0"/>
            </a:solidFill>
            <a:prstDash val="solid"/>
          </a:ln>
        </p:spPr>
      </p:sp>
      <p:sp>
        <p:nvSpPr>
          <p:cNvPr id="58" name="Shape 56"/>
          <p:cNvSpPr/>
          <p:nvPr/>
        </p:nvSpPr>
        <p:spPr>
          <a:xfrm>
            <a:off x="4214470" y="3291840"/>
            <a:ext cx="54864" cy="54864"/>
          </a:xfrm>
          <a:prstGeom prst="ellipse">
            <a:avLst/>
          </a:prstGeom>
          <a:solidFill>
            <a:srgbClr val="F2F2F2"/>
          </a:solidFill>
          <a:ln w="9525">
            <a:solidFill>
              <a:srgbClr val="9AA3B0"/>
            </a:solidFill>
            <a:prstDash val="solid"/>
          </a:ln>
        </p:spPr>
      </p:sp>
      <p:sp>
        <p:nvSpPr>
          <p:cNvPr id="59" name="Shape 57"/>
          <p:cNvSpPr/>
          <p:nvPr/>
        </p:nvSpPr>
        <p:spPr>
          <a:xfrm>
            <a:off x="4339742" y="3291840"/>
            <a:ext cx="54864" cy="54864"/>
          </a:xfrm>
          <a:prstGeom prst="ellipse">
            <a:avLst/>
          </a:prstGeom>
          <a:solidFill>
            <a:srgbClr val="F2F2F2"/>
          </a:solidFill>
          <a:ln w="9525">
            <a:solidFill>
              <a:srgbClr val="9AA3B0"/>
            </a:solidFill>
            <a:prstDash val="solid"/>
          </a:ln>
        </p:spPr>
      </p:sp>
      <p:sp>
        <p:nvSpPr>
          <p:cNvPr id="60" name="Shape 58"/>
          <p:cNvSpPr/>
          <p:nvPr/>
        </p:nvSpPr>
        <p:spPr>
          <a:xfrm>
            <a:off x="4465015" y="3291840"/>
            <a:ext cx="54864" cy="54864"/>
          </a:xfrm>
          <a:prstGeom prst="ellipse">
            <a:avLst/>
          </a:prstGeom>
          <a:solidFill>
            <a:srgbClr val="F2F2F2"/>
          </a:solidFill>
          <a:ln w="9525">
            <a:solidFill>
              <a:srgbClr val="9AA3B0"/>
            </a:solidFill>
            <a:prstDash val="solid"/>
          </a:ln>
        </p:spPr>
      </p:sp>
      <p:sp>
        <p:nvSpPr>
          <p:cNvPr id="61" name="Shape 59"/>
          <p:cNvSpPr/>
          <p:nvPr/>
        </p:nvSpPr>
        <p:spPr>
          <a:xfrm>
            <a:off x="4590288" y="3291840"/>
            <a:ext cx="54864" cy="54864"/>
          </a:xfrm>
          <a:prstGeom prst="ellipse">
            <a:avLst/>
          </a:prstGeom>
          <a:solidFill>
            <a:srgbClr val="F2F2F2"/>
          </a:solidFill>
          <a:ln w="9525">
            <a:solidFill>
              <a:srgbClr val="9AA3B0"/>
            </a:solidFill>
            <a:prstDash val="solid"/>
          </a:ln>
        </p:spPr>
      </p:sp>
      <p:sp>
        <p:nvSpPr>
          <p:cNvPr id="62" name="Shape 60"/>
          <p:cNvSpPr/>
          <p:nvPr/>
        </p:nvSpPr>
        <p:spPr>
          <a:xfrm>
            <a:off x="4715561" y="3291840"/>
            <a:ext cx="54864" cy="54864"/>
          </a:xfrm>
          <a:prstGeom prst="ellipse">
            <a:avLst/>
          </a:prstGeom>
          <a:solidFill>
            <a:srgbClr val="F2F2F2"/>
          </a:solidFill>
          <a:ln w="9525">
            <a:solidFill>
              <a:srgbClr val="9AA3B0"/>
            </a:solidFill>
            <a:prstDash val="solid"/>
          </a:ln>
        </p:spPr>
      </p:sp>
      <p:sp>
        <p:nvSpPr>
          <p:cNvPr id="63" name="Shape 61"/>
          <p:cNvSpPr/>
          <p:nvPr/>
        </p:nvSpPr>
        <p:spPr>
          <a:xfrm>
            <a:off x="4840834" y="3291840"/>
            <a:ext cx="54864" cy="54864"/>
          </a:xfrm>
          <a:prstGeom prst="ellipse">
            <a:avLst/>
          </a:prstGeom>
          <a:solidFill>
            <a:srgbClr val="F2F2F2"/>
          </a:solidFill>
          <a:ln w="9525">
            <a:solidFill>
              <a:srgbClr val="9AA3B0"/>
            </a:solidFill>
            <a:prstDash val="solid"/>
          </a:ln>
        </p:spPr>
      </p:sp>
      <p:sp>
        <p:nvSpPr>
          <p:cNvPr id="64" name="Shape 62"/>
          <p:cNvSpPr/>
          <p:nvPr/>
        </p:nvSpPr>
        <p:spPr>
          <a:xfrm>
            <a:off x="4966106" y="3291840"/>
            <a:ext cx="54864" cy="54864"/>
          </a:xfrm>
          <a:prstGeom prst="ellipse">
            <a:avLst/>
          </a:prstGeom>
          <a:solidFill>
            <a:srgbClr val="F2F2F2"/>
          </a:solidFill>
          <a:ln w="9525">
            <a:solidFill>
              <a:srgbClr val="9AA3B0"/>
            </a:solidFill>
            <a:prstDash val="solid"/>
          </a:ln>
        </p:spPr>
      </p:sp>
      <p:sp>
        <p:nvSpPr>
          <p:cNvPr id="65" name="Shape 63"/>
          <p:cNvSpPr/>
          <p:nvPr/>
        </p:nvSpPr>
        <p:spPr>
          <a:xfrm>
            <a:off x="5091379" y="3291840"/>
            <a:ext cx="54864" cy="54864"/>
          </a:xfrm>
          <a:prstGeom prst="ellipse">
            <a:avLst/>
          </a:prstGeom>
          <a:solidFill>
            <a:srgbClr val="F2F2F2"/>
          </a:solidFill>
          <a:ln w="9525">
            <a:solidFill>
              <a:srgbClr val="9AA3B0"/>
            </a:solidFill>
            <a:prstDash val="solid"/>
          </a:ln>
        </p:spPr>
      </p:sp>
      <p:sp>
        <p:nvSpPr>
          <p:cNvPr id="66" name="Shape 64"/>
          <p:cNvSpPr/>
          <p:nvPr/>
        </p:nvSpPr>
        <p:spPr>
          <a:xfrm>
            <a:off x="5216652" y="3291840"/>
            <a:ext cx="54864" cy="54864"/>
          </a:xfrm>
          <a:prstGeom prst="ellipse">
            <a:avLst/>
          </a:prstGeom>
          <a:solidFill>
            <a:srgbClr val="F2F2F2"/>
          </a:solidFill>
          <a:ln w="9525">
            <a:solidFill>
              <a:srgbClr val="9AA3B0"/>
            </a:solidFill>
            <a:prstDash val="solid"/>
          </a:ln>
        </p:spPr>
      </p:sp>
      <p:sp>
        <p:nvSpPr>
          <p:cNvPr id="67" name="Shape 65"/>
          <p:cNvSpPr/>
          <p:nvPr/>
        </p:nvSpPr>
        <p:spPr>
          <a:xfrm>
            <a:off x="5341925" y="3291840"/>
            <a:ext cx="54864" cy="54864"/>
          </a:xfrm>
          <a:prstGeom prst="ellipse">
            <a:avLst/>
          </a:prstGeom>
          <a:solidFill>
            <a:srgbClr val="F2F2F2"/>
          </a:solidFill>
          <a:ln w="9525">
            <a:solidFill>
              <a:srgbClr val="9AA3B0"/>
            </a:solidFill>
            <a:prstDash val="solid"/>
          </a:ln>
        </p:spPr>
      </p:sp>
      <p:sp>
        <p:nvSpPr>
          <p:cNvPr id="68" name="Shape 66"/>
          <p:cNvSpPr/>
          <p:nvPr/>
        </p:nvSpPr>
        <p:spPr>
          <a:xfrm>
            <a:off x="5467198" y="3291840"/>
            <a:ext cx="54864" cy="54864"/>
          </a:xfrm>
          <a:prstGeom prst="ellipse">
            <a:avLst/>
          </a:prstGeom>
          <a:solidFill>
            <a:srgbClr val="F2F2F2"/>
          </a:solidFill>
          <a:ln w="9525">
            <a:solidFill>
              <a:srgbClr val="9AA3B0"/>
            </a:solidFill>
            <a:prstDash val="solid"/>
          </a:ln>
        </p:spPr>
      </p:sp>
      <p:sp>
        <p:nvSpPr>
          <p:cNvPr id="69" name="Shape 67"/>
          <p:cNvSpPr/>
          <p:nvPr/>
        </p:nvSpPr>
        <p:spPr>
          <a:xfrm>
            <a:off x="5592470" y="3291840"/>
            <a:ext cx="54864" cy="54864"/>
          </a:xfrm>
          <a:prstGeom prst="ellipse">
            <a:avLst/>
          </a:prstGeom>
          <a:solidFill>
            <a:srgbClr val="F2F2F2"/>
          </a:solidFill>
          <a:ln w="9525">
            <a:solidFill>
              <a:srgbClr val="9AA3B0"/>
            </a:solidFill>
            <a:prstDash val="solid"/>
          </a:ln>
        </p:spPr>
      </p:sp>
      <p:sp>
        <p:nvSpPr>
          <p:cNvPr id="70" name="Shape 68"/>
          <p:cNvSpPr/>
          <p:nvPr/>
        </p:nvSpPr>
        <p:spPr>
          <a:xfrm>
            <a:off x="5717743" y="3291840"/>
            <a:ext cx="54864" cy="54864"/>
          </a:xfrm>
          <a:prstGeom prst="ellipse">
            <a:avLst/>
          </a:prstGeom>
          <a:solidFill>
            <a:srgbClr val="F2F2F2"/>
          </a:solidFill>
          <a:ln w="9525">
            <a:solidFill>
              <a:srgbClr val="9AA3B0"/>
            </a:solidFill>
            <a:prstDash val="solid"/>
          </a:ln>
        </p:spPr>
      </p:sp>
      <p:sp>
        <p:nvSpPr>
          <p:cNvPr id="71" name="Shape 69"/>
          <p:cNvSpPr/>
          <p:nvPr/>
        </p:nvSpPr>
        <p:spPr>
          <a:xfrm>
            <a:off x="3749040" y="1783080"/>
            <a:ext cx="91" cy="1234440"/>
          </a:xfrm>
          <a:prstGeom prst="line">
            <a:avLst/>
          </a:prstGeom>
          <a:noFill/>
          <a:ln w="28575">
            <a:solidFill>
              <a:srgbClr val="6A3FA0"/>
            </a:solidFill>
            <a:prstDash val="solid"/>
            <a:tailEnd type="triangle"/>
          </a:ln>
        </p:spPr>
      </p:sp>
      <p:sp>
        <p:nvSpPr>
          <p:cNvPr id="72" name="Text 70"/>
          <p:cNvSpPr/>
          <p:nvPr/>
        </p:nvSpPr>
        <p:spPr>
          <a:xfrm>
            <a:off x="3337560" y="2103120"/>
            <a:ext cx="365760" cy="201168"/>
          </a:xfrm>
          <a:prstGeom prst="rect">
            <a:avLst/>
          </a:prstGeom>
          <a:noFill/>
          <a:ln/>
        </p:spPr>
        <p:txBody>
          <a:bodyPr wrap="square" lIns="0" tIns="0" rIns="0" bIns="0" rtlCol="0" anchor="ctr"/>
          <a:lstStyle/>
          <a:p>
            <a:pPr algn="r" indent="0" marL="0">
              <a:buNone/>
            </a:pPr>
            <a:r>
              <a:rPr lang="en-US" sz="1050" b="1" dirty="0">
                <a:solidFill>
                  <a:srgbClr val="6A3FA0"/>
                </a:solidFill>
                <a:latin typeface="Calibri" pitchFamily="34" charset="0"/>
                <a:ea typeface="Calibri" pitchFamily="34" charset="-122"/>
                <a:cs typeface="Calibri" pitchFamily="34" charset="-120"/>
              </a:rPr>
              <a:t>UV</a:t>
            </a:r>
            <a:endParaRPr lang="en-US" sz="1050" dirty="0"/>
          </a:p>
        </p:txBody>
      </p:sp>
      <p:sp>
        <p:nvSpPr>
          <p:cNvPr id="73" name="Shape 71"/>
          <p:cNvSpPr/>
          <p:nvPr/>
        </p:nvSpPr>
        <p:spPr>
          <a:xfrm>
            <a:off x="4846320" y="1783080"/>
            <a:ext cx="91" cy="1600200"/>
          </a:xfrm>
          <a:prstGeom prst="line">
            <a:avLst/>
          </a:prstGeom>
          <a:noFill/>
          <a:ln w="28575">
            <a:solidFill>
              <a:srgbClr val="E0B030"/>
            </a:solidFill>
            <a:prstDash val="solid"/>
            <a:tailEnd type="triangle"/>
          </a:ln>
        </p:spPr>
      </p:sp>
      <p:sp>
        <p:nvSpPr>
          <p:cNvPr id="74" name="Text 72"/>
          <p:cNvSpPr/>
          <p:nvPr/>
        </p:nvSpPr>
        <p:spPr>
          <a:xfrm>
            <a:off x="3886200" y="1600200"/>
            <a:ext cx="914400" cy="411480"/>
          </a:xfrm>
          <a:prstGeom prst="rect">
            <a:avLst/>
          </a:prstGeom>
          <a:noFill/>
          <a:ln/>
        </p:spPr>
        <p:txBody>
          <a:bodyPr wrap="square" lIns="0" tIns="0" rIns="0" bIns="0" rtlCol="0" anchor="ctr"/>
          <a:lstStyle/>
          <a:p>
            <a:pPr algn="r" indent="0" marL="0">
              <a:buNone/>
            </a:pPr>
            <a:r>
              <a:rPr lang="en-US" sz="1000" dirty="0">
                <a:solidFill>
                  <a:srgbClr val="B8860B"/>
                </a:solidFill>
                <a:latin typeface="Calibri" pitchFamily="34" charset="0"/>
                <a:ea typeface="Calibri" pitchFamily="34" charset="-122"/>
                <a:cs typeface="Calibri" pitchFamily="34" charset="-120"/>
              </a:rPr>
              <a:t>visible light passes</a:t>
            </a:r>
            <a:endParaRPr lang="en-US" sz="1000" dirty="0"/>
          </a:p>
        </p:txBody>
      </p:sp>
      <p:sp>
        <p:nvSpPr>
          <p:cNvPr id="75" name="Text 73"/>
          <p:cNvSpPr/>
          <p:nvPr/>
        </p:nvSpPr>
        <p:spPr>
          <a:xfrm>
            <a:off x="4937760" y="2514600"/>
            <a:ext cx="868680" cy="22860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looks </a:t>
            </a:r>
            <a:r>
              <a:rPr lang="en-US" sz="1000" b="1" dirty="0">
                <a:solidFill>
                  <a:srgbClr val="262B3A"/>
                </a:solidFill>
                <a:latin typeface="Calibri" pitchFamily="34" charset="0"/>
                <a:ea typeface="Calibri" pitchFamily="34" charset="-122"/>
                <a:cs typeface="Calibri" pitchFamily="34" charset="-120"/>
              </a:rPr>
              <a:t>clear</a:t>
            </a:r>
            <a:endParaRPr lang="en-US" sz="1000" dirty="0"/>
          </a:p>
        </p:txBody>
      </p:sp>
      <p:sp>
        <p:nvSpPr>
          <p:cNvPr id="76" name="Text 74"/>
          <p:cNvSpPr/>
          <p:nvPr/>
        </p:nvSpPr>
        <p:spPr>
          <a:xfrm>
            <a:off x="594360" y="4526280"/>
            <a:ext cx="5212080" cy="45720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Both block </a:t>
            </a:r>
            <a:r>
              <a:rPr lang="en-US" sz="1050" b="1" dirty="0">
                <a:solidFill>
                  <a:srgbClr val="262B3A"/>
                </a:solidFill>
                <a:latin typeface="Calibri" pitchFamily="34" charset="0"/>
                <a:ea typeface="Calibri" pitchFamily="34" charset="-122"/>
                <a:cs typeface="Calibri" pitchFamily="34" charset="-120"/>
              </a:rPr>
              <a:t>UV</a:t>
            </a:r>
            <a:r>
              <a:rPr lang="en-US" sz="1050" dirty="0">
                <a:solidFill>
                  <a:srgbClr val="262B3A"/>
                </a:solidFill>
                <a:latin typeface="Calibri" pitchFamily="34" charset="0"/>
                <a:ea typeface="Calibri" pitchFamily="34" charset="-122"/>
                <a:cs typeface="Calibri" pitchFamily="34" charset="-120"/>
              </a:rPr>
              <a:t>; the nanoparticles are too small to scatter visible light, so the cream is </a:t>
            </a:r>
            <a:r>
              <a:rPr lang="en-US" sz="1050" b="1" dirty="0">
                <a:solidFill>
                  <a:srgbClr val="262B3A"/>
                </a:solidFill>
                <a:latin typeface="Calibri" pitchFamily="34" charset="0"/>
                <a:ea typeface="Calibri" pitchFamily="34" charset="-122"/>
                <a:cs typeface="Calibri" pitchFamily="34" charset="-120"/>
              </a:rPr>
              <a:t>transparent</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77" name="Shape 75"/>
          <p:cNvSpPr/>
          <p:nvPr/>
        </p:nvSpPr>
        <p:spPr>
          <a:xfrm>
            <a:off x="6217920" y="1188720"/>
            <a:ext cx="5562295" cy="3154680"/>
          </a:xfrm>
          <a:prstGeom prst="roundRect">
            <a:avLst>
              <a:gd name="adj" fmla="val 1739"/>
            </a:avLst>
          </a:prstGeom>
          <a:solidFill>
            <a:srgbClr val="F8F5FC"/>
          </a:solidFill>
          <a:ln w="9525">
            <a:solidFill>
              <a:srgbClr val="DDD3EC"/>
            </a:solidFill>
            <a:prstDash val="solid"/>
          </a:ln>
        </p:spPr>
      </p:sp>
      <p:sp>
        <p:nvSpPr>
          <p:cNvPr id="78" name="Text 7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Property → use</a:t>
            </a:r>
            <a:endParaRPr lang="en-US" sz="1300" dirty="0"/>
          </a:p>
        </p:txBody>
      </p:sp>
      <p:sp>
        <p:nvSpPr>
          <p:cNvPr id="79" name="Text 77"/>
          <p:cNvSpPr/>
          <p:nvPr/>
        </p:nvSpPr>
        <p:spPr>
          <a:xfrm>
            <a:off x="6382512" y="1609344"/>
            <a:ext cx="5233111" cy="2660904"/>
          </a:xfrm>
          <a:prstGeom prst="rect">
            <a:avLst/>
          </a:prstGeom>
          <a:noFill/>
          <a:ln/>
        </p:spPr>
        <p:txBody>
          <a:bodyPr wrap="square" lIns="0" tIns="0" rIns="0" bIns="0" rtlCol="0" anchor="t"/>
          <a:lstStyle/>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Catalysts</a:t>
            </a:r>
            <a:r>
              <a:rPr lang="en-US" sz="1200" dirty="0">
                <a:solidFill>
                  <a:srgbClr val="262B3A"/>
                </a:solidFill>
                <a:latin typeface="Calibri" pitchFamily="34" charset="0"/>
                <a:ea typeface="Calibri" pitchFamily="34" charset="-122"/>
                <a:cs typeface="Calibri" pitchFamily="34" charset="-120"/>
              </a:rPr>
              <a:t>: huge surface area → more reactions per gram. Cerium oxide nanoparticles in diesel fuel; platinum in catalytic converters.</a:t>
            </a:r>
            <a:endParaRPr lang="en-US" sz="1200" dirty="0"/>
          </a:p>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Sunscreens and cosmetics</a:t>
            </a:r>
            <a:r>
              <a:rPr lang="en-US" sz="1200" dirty="0">
                <a:solidFill>
                  <a:srgbClr val="262B3A"/>
                </a:solidFill>
                <a:latin typeface="Calibri" pitchFamily="34" charset="0"/>
                <a:ea typeface="Calibri" pitchFamily="34" charset="-122"/>
                <a:cs typeface="Calibri" pitchFamily="34" charset="-120"/>
              </a:rPr>
              <a:t>: nano TiO₂ / ZnO absorb </a:t>
            </a:r>
            <a:r>
              <a:rPr lang="en-US" sz="1200" b="1" dirty="0">
                <a:solidFill>
                  <a:srgbClr val="262B3A"/>
                </a:solidFill>
                <a:latin typeface="Calibri" pitchFamily="34" charset="0"/>
                <a:ea typeface="Calibri" pitchFamily="34" charset="-122"/>
                <a:cs typeface="Calibri" pitchFamily="34" charset="-120"/>
              </a:rPr>
              <a:t>UV</a:t>
            </a:r>
            <a:r>
              <a:rPr lang="en-US" sz="1200" dirty="0">
                <a:solidFill>
                  <a:srgbClr val="262B3A"/>
                </a:solidFill>
                <a:latin typeface="Calibri" pitchFamily="34" charset="0"/>
                <a:ea typeface="Calibri" pitchFamily="34" charset="-122"/>
                <a:cs typeface="Calibri" pitchFamily="34" charset="-120"/>
              </a:rPr>
              <a:t> but are </a:t>
            </a:r>
            <a:r>
              <a:rPr lang="en-US" sz="1200" b="1" dirty="0">
                <a:solidFill>
                  <a:srgbClr val="262B3A"/>
                </a:solidFill>
                <a:latin typeface="Calibri" pitchFamily="34" charset="0"/>
                <a:ea typeface="Calibri" pitchFamily="34" charset="-122"/>
                <a:cs typeface="Calibri" pitchFamily="34" charset="-120"/>
              </a:rPr>
              <a:t>transparent</a:t>
            </a:r>
            <a:r>
              <a:rPr lang="en-US" sz="1200" dirty="0">
                <a:solidFill>
                  <a:srgbClr val="262B3A"/>
                </a:solidFill>
                <a:latin typeface="Calibri" pitchFamily="34" charset="0"/>
                <a:ea typeface="Calibri" pitchFamily="34" charset="-122"/>
                <a:cs typeface="Calibri" pitchFamily="34" charset="-120"/>
              </a:rPr>
              <a:t>.</a:t>
            </a:r>
            <a:endParaRPr lang="en-US" sz="1200" dirty="0"/>
          </a:p>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Silver</a:t>
            </a:r>
            <a:r>
              <a:rPr lang="en-US" sz="1200" dirty="0">
                <a:solidFill>
                  <a:srgbClr val="262B3A"/>
                </a:solidFill>
                <a:latin typeface="Calibri" pitchFamily="34" charset="0"/>
                <a:ea typeface="Calibri" pitchFamily="34" charset="-122"/>
                <a:cs typeface="Calibri" pitchFamily="34" charset="-120"/>
              </a:rPr>
              <a:t> nanoparticles: </a:t>
            </a:r>
            <a:r>
              <a:rPr lang="en-US" sz="1200" b="1" dirty="0">
                <a:solidFill>
                  <a:srgbClr val="262B3A"/>
                </a:solidFill>
                <a:latin typeface="Calibri" pitchFamily="34" charset="0"/>
                <a:ea typeface="Calibri" pitchFamily="34" charset="-122"/>
                <a:cs typeface="Calibri" pitchFamily="34" charset="-120"/>
              </a:rPr>
              <a:t>antibacterial</a:t>
            </a:r>
            <a:r>
              <a:rPr lang="en-US" sz="1200" dirty="0">
                <a:solidFill>
                  <a:srgbClr val="262B3A"/>
                </a:solidFill>
                <a:latin typeface="Calibri" pitchFamily="34" charset="0"/>
                <a:ea typeface="Calibri" pitchFamily="34" charset="-122"/>
                <a:cs typeface="Calibri" pitchFamily="34" charset="-120"/>
              </a:rPr>
              <a:t> → wound dressings, socks, sports clothing, fridge linings.</a:t>
            </a:r>
            <a:endParaRPr lang="en-US" sz="1200" dirty="0"/>
          </a:p>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Self-cleaning glass</a:t>
            </a:r>
            <a:r>
              <a:rPr lang="en-US" sz="1200" dirty="0">
                <a:solidFill>
                  <a:srgbClr val="262B3A"/>
                </a:solidFill>
                <a:latin typeface="Calibri" pitchFamily="34" charset="0"/>
                <a:ea typeface="Calibri" pitchFamily="34" charset="-122"/>
                <a:cs typeface="Calibri" pitchFamily="34" charset="-120"/>
              </a:rPr>
              <a:t>: a thin TiO₂ nano-coating breaks down dirt in sunlight.</a:t>
            </a:r>
            <a:endParaRPr lang="en-US" sz="1200" dirty="0"/>
          </a:p>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Medicine and electronics</a:t>
            </a:r>
            <a:r>
              <a:rPr lang="en-US" sz="1200" dirty="0">
                <a:solidFill>
                  <a:srgbClr val="262B3A"/>
                </a:solidFill>
                <a:latin typeface="Calibri" pitchFamily="34" charset="0"/>
                <a:ea typeface="Calibri" pitchFamily="34" charset="-122"/>
                <a:cs typeface="Calibri" pitchFamily="34" charset="-120"/>
              </a:rPr>
              <a:t>: tiny enough to carry drugs to cells, or to build very small circuits.</a:t>
            </a:r>
            <a:endParaRPr lang="en-US" sz="1200" dirty="0"/>
          </a:p>
        </p:txBody>
      </p:sp>
      <p:sp>
        <p:nvSpPr>
          <p:cNvPr id="80" name="Shape 78"/>
          <p:cNvSpPr/>
          <p:nvPr/>
        </p:nvSpPr>
        <p:spPr>
          <a:xfrm>
            <a:off x="6217920" y="4480560"/>
            <a:ext cx="5562295" cy="1234440"/>
          </a:xfrm>
          <a:prstGeom prst="roundRect">
            <a:avLst>
              <a:gd name="adj" fmla="val 4444"/>
            </a:avLst>
          </a:prstGeom>
          <a:solidFill>
            <a:srgbClr val="FFF4E0"/>
          </a:solidFill>
          <a:ln w="9525">
            <a:solidFill>
              <a:srgbClr val="F1D9A8"/>
            </a:solidFill>
            <a:prstDash val="solid"/>
          </a:ln>
        </p:spPr>
      </p:sp>
      <p:sp>
        <p:nvSpPr>
          <p:cNvPr id="81" name="Text 79"/>
          <p:cNvSpPr/>
          <p:nvPr/>
        </p:nvSpPr>
        <p:spPr>
          <a:xfrm>
            <a:off x="6382512" y="45537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catalyst particle size</a:t>
            </a:r>
            <a:endParaRPr lang="en-US" sz="1300" dirty="0"/>
          </a:p>
        </p:txBody>
      </p:sp>
      <p:sp>
        <p:nvSpPr>
          <p:cNvPr id="82" name="Text 80"/>
          <p:cNvSpPr/>
          <p:nvPr/>
        </p:nvSpPr>
        <p:spPr>
          <a:xfrm>
            <a:off x="6382512" y="4864608"/>
            <a:ext cx="5233111" cy="7772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Compare the SA : V of a cube-shaped particle 10 nm across with one 1 µm (1000 nm) across.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SA : V   </a:t>
            </a:r>
            <a:r>
              <a:rPr lang="en-US" sz="1050" dirty="0">
                <a:solidFill>
                  <a:srgbClr val="262B3A"/>
                </a:solidFill>
                <a:latin typeface="Calibri" pitchFamily="34" charset="0"/>
                <a:ea typeface="Calibri" pitchFamily="34" charset="-122"/>
                <a:cs typeface="Calibri" pitchFamily="34" charset="-120"/>
              </a:rPr>
              <a:t>6 ÷ 10 = 0.6 nm⁻¹ and 6 ÷ 1000 = 0.006 nm⁻¹</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0.6 ÷ 0.006 = </a:t>
            </a:r>
            <a:r>
              <a:rPr lang="en-US" sz="1050" b="1" dirty="0">
                <a:solidFill>
                  <a:srgbClr val="C8414C"/>
                </a:solidFill>
                <a:latin typeface="Calibri" pitchFamily="34" charset="0"/>
                <a:ea typeface="Calibri" pitchFamily="34" charset="-122"/>
                <a:cs typeface="Calibri" pitchFamily="34" charset="-120"/>
              </a:rPr>
              <a:t>100 times</a:t>
            </a:r>
            <a:r>
              <a:rPr lang="en-US" sz="1050" b="1" dirty="0">
                <a:solidFill>
                  <a:srgbClr val="C8414C"/>
                </a:solidFill>
                <a:latin typeface="Calibri" pitchFamily="34" charset="0"/>
                <a:ea typeface="Calibri" pitchFamily="34" charset="-122"/>
                <a:cs typeface="Calibri" pitchFamily="34" charset="-120"/>
              </a:rPr>
              <a:t> more surface per volume</a:t>
            </a:r>
            <a:endParaRPr lang="en-US" sz="1050" dirty="0"/>
          </a:p>
        </p:txBody>
      </p:sp>
      <p:sp>
        <p:nvSpPr>
          <p:cNvPr id="83" name="Shape 81"/>
          <p:cNvSpPr/>
          <p:nvPr/>
        </p:nvSpPr>
        <p:spPr>
          <a:xfrm>
            <a:off x="411480" y="5833872"/>
            <a:ext cx="11368735" cy="530352"/>
          </a:xfrm>
          <a:prstGeom prst="rect">
            <a:avLst/>
          </a:prstGeom>
          <a:solidFill>
            <a:srgbClr val="FFF4E0"/>
          </a:solidFill>
          <a:ln w="6350">
            <a:solidFill>
              <a:srgbClr val="F1D9A8"/>
            </a:solidFill>
            <a:prstDash val="solid"/>
          </a:ln>
        </p:spPr>
      </p:sp>
      <p:sp>
        <p:nvSpPr>
          <p:cNvPr id="84" name="Shape 82"/>
          <p:cNvSpPr/>
          <p:nvPr/>
        </p:nvSpPr>
        <p:spPr>
          <a:xfrm>
            <a:off x="411480" y="5833872"/>
            <a:ext cx="82296" cy="530352"/>
          </a:xfrm>
          <a:prstGeom prst="rect">
            <a:avLst/>
          </a:prstGeom>
          <a:solidFill>
            <a:srgbClr val="E39A2F"/>
          </a:solidFill>
          <a:ln w="12700">
            <a:solidFill>
              <a:srgbClr val="E39A2F"/>
            </a:solidFill>
            <a:prstDash val="solid"/>
          </a:ln>
        </p:spPr>
      </p:sp>
      <p:sp>
        <p:nvSpPr>
          <p:cNvPr id="85" name="Text 8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does silver work better as an antibacterial when it is in </a:t>
            </a:r>
            <a:r>
              <a:rPr lang="en-US" sz="1150" b="1" dirty="0">
                <a:solidFill>
                  <a:srgbClr val="262B3A"/>
                </a:solidFill>
                <a:latin typeface="Calibri" pitchFamily="34" charset="0"/>
                <a:ea typeface="Calibri" pitchFamily="34" charset="-122"/>
                <a:cs typeface="Calibri" pitchFamily="34" charset="-120"/>
              </a:rPr>
              <a:t>nanoparticle</a:t>
            </a:r>
            <a:r>
              <a:rPr lang="en-US" sz="1150" dirty="0">
                <a:solidFill>
                  <a:srgbClr val="262B3A"/>
                </a:solidFill>
                <a:latin typeface="Calibri" pitchFamily="34" charset="0"/>
                <a:ea typeface="Calibri" pitchFamily="34" charset="-122"/>
                <a:cs typeface="Calibri" pitchFamily="34" charset="-120"/>
              </a:rPr>
              <a:t> form? How many times bigger is SA : V for </a:t>
            </a:r>
            <a:r>
              <a:rPr lang="en-US" sz="1150" b="1" dirty="0">
                <a:solidFill>
                  <a:srgbClr val="262B3A"/>
                </a:solidFill>
                <a:latin typeface="Calibri" pitchFamily="34" charset="0"/>
                <a:ea typeface="Calibri" pitchFamily="34" charset="-122"/>
                <a:cs typeface="Calibri" pitchFamily="34" charset="-120"/>
              </a:rPr>
              <a:t>5 nm</a:t>
            </a:r>
            <a:r>
              <a:rPr lang="en-US" sz="1150" dirty="0">
                <a:solidFill>
                  <a:srgbClr val="262B3A"/>
                </a:solidFill>
                <a:latin typeface="Calibri" pitchFamily="34" charset="0"/>
                <a:ea typeface="Calibri" pitchFamily="34" charset="-122"/>
                <a:cs typeface="Calibri" pitchFamily="34" charset="-120"/>
              </a:rPr>
              <a:t> than for </a:t>
            </a:r>
            <a:r>
              <a:rPr lang="en-US" sz="1150" b="1" dirty="0">
                <a:solidFill>
                  <a:srgbClr val="262B3A"/>
                </a:solidFill>
                <a:latin typeface="Calibri" pitchFamily="34" charset="0"/>
                <a:ea typeface="Calibri" pitchFamily="34" charset="-122"/>
                <a:cs typeface="Calibri" pitchFamily="34" charset="-120"/>
              </a:rPr>
              <a:t>50 nm</a:t>
            </a:r>
            <a:r>
              <a:rPr lang="en-US" sz="1150" dirty="0">
                <a:solidFill>
                  <a:srgbClr val="262B3A"/>
                </a:solidFill>
                <a:latin typeface="Calibri" pitchFamily="34" charset="0"/>
                <a:ea typeface="Calibri" pitchFamily="34" charset="-122"/>
                <a:cs typeface="Calibri" pitchFamily="34" charset="-120"/>
              </a:rPr>
              <a:t> cubes?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C4.3.2, C4.3.3 • catalysts, practical and uses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variables that must be controlled when comparing MnO₂ </a:t>
            </a:r>
            <a:r>
              <a:rPr lang="en-US" sz="1250" b="1" dirty="0">
                <a:solidFill>
                  <a:srgbClr val="262B3A"/>
                </a:solidFill>
                <a:latin typeface="Calibri" pitchFamily="34" charset="0"/>
                <a:ea typeface="Calibri" pitchFamily="34" charset="-122"/>
                <a:cs typeface="Calibri" pitchFamily="34" charset="-120"/>
              </a:rPr>
              <a:t>powder</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granules</a:t>
            </a:r>
            <a:r>
              <a:rPr lang="en-US" sz="1250" dirty="0">
                <a:solidFill>
                  <a:srgbClr val="262B3A"/>
                </a:solidFill>
                <a:latin typeface="Calibri" pitchFamily="34" charset="0"/>
                <a:ea typeface="Calibri" pitchFamily="34" charset="-122"/>
                <a:cs typeface="Calibri" pitchFamily="34" charset="-120"/>
              </a:rPr>
              <a:t> as catalysts.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catalyst produced </a:t>
            </a:r>
            <a:r>
              <a:rPr lang="en-US" sz="1250" b="1" dirty="0">
                <a:solidFill>
                  <a:srgbClr val="262B3A"/>
                </a:solidFill>
                <a:latin typeface="Calibri" pitchFamily="34" charset="0"/>
                <a:ea typeface="Calibri" pitchFamily="34" charset="-122"/>
                <a:cs typeface="Calibri" pitchFamily="34" charset="-120"/>
              </a:rPr>
              <a:t>36 cm³</a:t>
            </a:r>
            <a:r>
              <a:rPr lang="en-US" sz="1250" dirty="0">
                <a:solidFill>
                  <a:srgbClr val="262B3A"/>
                </a:solidFill>
                <a:latin typeface="Calibri" pitchFamily="34" charset="0"/>
                <a:ea typeface="Calibri" pitchFamily="34" charset="-122"/>
                <a:cs typeface="Calibri" pitchFamily="34" charset="-120"/>
              </a:rPr>
              <a:t> of oxygen in </a:t>
            </a:r>
            <a:r>
              <a:rPr lang="en-US" sz="1250" b="1" dirty="0">
                <a:solidFill>
                  <a:srgbClr val="262B3A"/>
                </a:solidFill>
                <a:latin typeface="Calibri" pitchFamily="34" charset="0"/>
                <a:ea typeface="Calibri" pitchFamily="34" charset="-122"/>
                <a:cs typeface="Calibri" pitchFamily="34" charset="-120"/>
              </a:rPr>
              <a:t>40 s</a:t>
            </a:r>
            <a:r>
              <a:rPr lang="en-US" sz="1250" dirty="0">
                <a:solidFill>
                  <a:srgbClr val="262B3A"/>
                </a:solidFill>
                <a:latin typeface="Calibri" pitchFamily="34" charset="0"/>
                <a:ea typeface="Calibri" pitchFamily="34" charset="-122"/>
                <a:cs typeface="Calibri" pitchFamily="34" charset="-120"/>
              </a:rPr>
              <a:t>. Calculate the mean rate in cm³/s.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nano-sized </a:t>
            </a:r>
            <a:r>
              <a:rPr lang="en-US" sz="1250" b="1" dirty="0">
                <a:solidFill>
                  <a:srgbClr val="262B3A"/>
                </a:solidFill>
                <a:latin typeface="Calibri" pitchFamily="34" charset="0"/>
                <a:ea typeface="Calibri" pitchFamily="34" charset="-122"/>
                <a:cs typeface="Calibri" pitchFamily="34" charset="-120"/>
              </a:rPr>
              <a:t>titanium dioxide</a:t>
            </a:r>
            <a:r>
              <a:rPr lang="en-US" sz="1250" dirty="0">
                <a:solidFill>
                  <a:srgbClr val="262B3A"/>
                </a:solidFill>
                <a:latin typeface="Calibri" pitchFamily="34" charset="0"/>
                <a:ea typeface="Calibri" pitchFamily="34" charset="-122"/>
                <a:cs typeface="Calibri" pitchFamily="34" charset="-120"/>
              </a:rPr>
              <a:t> is used in sunscreens instead of ordinary-sized particles.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why only a </a:t>
            </a:r>
            <a:r>
              <a:rPr lang="en-US" sz="1250" b="1" dirty="0">
                <a:solidFill>
                  <a:srgbClr val="262B3A"/>
                </a:solidFill>
                <a:latin typeface="Calibri" pitchFamily="34" charset="0"/>
                <a:ea typeface="Calibri" pitchFamily="34" charset="-122"/>
                <a:cs typeface="Calibri" pitchFamily="34" charset="-120"/>
              </a:rPr>
              <a:t>small mass</a:t>
            </a:r>
            <a:r>
              <a:rPr lang="en-US" sz="1250" dirty="0">
                <a:solidFill>
                  <a:srgbClr val="262B3A"/>
                </a:solidFill>
                <a:latin typeface="Calibri" pitchFamily="34" charset="0"/>
                <a:ea typeface="Calibri" pitchFamily="34" charset="-122"/>
                <a:cs typeface="Calibri" pitchFamily="34" charset="-120"/>
              </a:rPr>
              <a:t> of platinum nanoparticles is needed in a catalytic converter.</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Atoms in tubes and rings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C4.3.3 • carbon nanotubes and fullerenes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C4.3.3  |  15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graphene sheet rolled into a nanotube; fullerene cage (C₆₀) shown flattened</a:t>
            </a:r>
            <a:endParaRPr lang="en-US" sz="1000" dirty="0"/>
          </a:p>
        </p:txBody>
      </p:sp>
      <p:sp>
        <p:nvSpPr>
          <p:cNvPr id="10" name="Text 8"/>
          <p:cNvSpPr/>
          <p:nvPr/>
        </p:nvSpPr>
        <p:spPr>
          <a:xfrm>
            <a:off x="502920" y="1298448"/>
            <a:ext cx="23774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Graphene</a:t>
            </a:r>
            <a:r>
              <a:rPr lang="en-US" sz="1100" dirty="0">
                <a:solidFill>
                  <a:srgbClr val="262B3A"/>
                </a:solidFill>
                <a:latin typeface="Calibri" pitchFamily="34" charset="0"/>
                <a:ea typeface="Calibri" pitchFamily="34" charset="-122"/>
                <a:cs typeface="Calibri" pitchFamily="34" charset="-120"/>
              </a:rPr>
              <a:t>: one layer of graphite</a:t>
            </a:r>
            <a:endParaRPr lang="en-US" sz="1100" dirty="0"/>
          </a:p>
        </p:txBody>
      </p:sp>
      <p:sp>
        <p:nvSpPr>
          <p:cNvPr id="11" name="Shape 9"/>
          <p:cNvSpPr/>
          <p:nvPr/>
        </p:nvSpPr>
        <p:spPr>
          <a:xfrm>
            <a:off x="685800" y="1645920"/>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2" name="Shape 10"/>
          <p:cNvSpPr/>
          <p:nvPr/>
        </p:nvSpPr>
        <p:spPr>
          <a:xfrm>
            <a:off x="934306" y="1856232"/>
            <a:ext cx="73152" cy="73152"/>
          </a:xfrm>
          <a:prstGeom prst="ellipse">
            <a:avLst/>
          </a:prstGeom>
          <a:solidFill>
            <a:srgbClr val="4A4F5C"/>
          </a:solidFill>
          <a:ln w="6350">
            <a:solidFill>
              <a:srgbClr val="23262E"/>
            </a:solidFill>
            <a:prstDash val="solid"/>
          </a:ln>
        </p:spPr>
      </p:sp>
      <p:sp>
        <p:nvSpPr>
          <p:cNvPr id="13" name="Shape 11"/>
          <p:cNvSpPr/>
          <p:nvPr/>
        </p:nvSpPr>
        <p:spPr>
          <a:xfrm>
            <a:off x="791765" y="1938528"/>
            <a:ext cx="73152" cy="73152"/>
          </a:xfrm>
          <a:prstGeom prst="ellipse">
            <a:avLst/>
          </a:prstGeom>
          <a:solidFill>
            <a:srgbClr val="4A4F5C"/>
          </a:solidFill>
          <a:ln w="6350">
            <a:solidFill>
              <a:srgbClr val="23262E"/>
            </a:solidFill>
            <a:prstDash val="solid"/>
          </a:ln>
        </p:spPr>
      </p:sp>
      <p:sp>
        <p:nvSpPr>
          <p:cNvPr id="14" name="Shape 12"/>
          <p:cNvSpPr/>
          <p:nvPr/>
        </p:nvSpPr>
        <p:spPr>
          <a:xfrm>
            <a:off x="649224" y="1856232"/>
            <a:ext cx="73152" cy="73152"/>
          </a:xfrm>
          <a:prstGeom prst="ellipse">
            <a:avLst/>
          </a:prstGeom>
          <a:solidFill>
            <a:srgbClr val="4A4F5C"/>
          </a:solidFill>
          <a:ln w="6350">
            <a:solidFill>
              <a:srgbClr val="23262E"/>
            </a:solidFill>
            <a:prstDash val="solid"/>
          </a:ln>
        </p:spPr>
      </p:sp>
      <p:sp>
        <p:nvSpPr>
          <p:cNvPr id="15" name="Shape 13"/>
          <p:cNvSpPr/>
          <p:nvPr/>
        </p:nvSpPr>
        <p:spPr>
          <a:xfrm>
            <a:off x="649224" y="1691640"/>
            <a:ext cx="73152" cy="73152"/>
          </a:xfrm>
          <a:prstGeom prst="ellipse">
            <a:avLst/>
          </a:prstGeom>
          <a:solidFill>
            <a:srgbClr val="4A4F5C"/>
          </a:solidFill>
          <a:ln w="6350">
            <a:solidFill>
              <a:srgbClr val="23262E"/>
            </a:solidFill>
            <a:prstDash val="solid"/>
          </a:ln>
        </p:spPr>
      </p:sp>
      <p:sp>
        <p:nvSpPr>
          <p:cNvPr id="16" name="Shape 14"/>
          <p:cNvSpPr/>
          <p:nvPr/>
        </p:nvSpPr>
        <p:spPr>
          <a:xfrm>
            <a:off x="791765" y="1609344"/>
            <a:ext cx="73152" cy="73152"/>
          </a:xfrm>
          <a:prstGeom prst="ellipse">
            <a:avLst/>
          </a:prstGeom>
          <a:solidFill>
            <a:srgbClr val="4A4F5C"/>
          </a:solidFill>
          <a:ln w="6350">
            <a:solidFill>
              <a:srgbClr val="23262E"/>
            </a:solidFill>
            <a:prstDash val="solid"/>
          </a:ln>
        </p:spPr>
      </p:sp>
      <p:sp>
        <p:nvSpPr>
          <p:cNvPr id="17" name="Shape 15"/>
          <p:cNvSpPr/>
          <p:nvPr/>
        </p:nvSpPr>
        <p:spPr>
          <a:xfrm>
            <a:off x="934306" y="1691640"/>
            <a:ext cx="73152" cy="73152"/>
          </a:xfrm>
          <a:prstGeom prst="ellipse">
            <a:avLst/>
          </a:prstGeom>
          <a:solidFill>
            <a:srgbClr val="4A4F5C"/>
          </a:solidFill>
          <a:ln w="6350">
            <a:solidFill>
              <a:srgbClr val="23262E"/>
            </a:solidFill>
            <a:prstDash val="solid"/>
          </a:ln>
        </p:spPr>
      </p:sp>
      <p:sp>
        <p:nvSpPr>
          <p:cNvPr id="18" name="Shape 16"/>
          <p:cNvSpPr/>
          <p:nvPr/>
        </p:nvSpPr>
        <p:spPr>
          <a:xfrm>
            <a:off x="970882" y="1645920"/>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9" name="Shape 17"/>
          <p:cNvSpPr/>
          <p:nvPr/>
        </p:nvSpPr>
        <p:spPr>
          <a:xfrm>
            <a:off x="1219387" y="1856232"/>
            <a:ext cx="73152" cy="73152"/>
          </a:xfrm>
          <a:prstGeom prst="ellipse">
            <a:avLst/>
          </a:prstGeom>
          <a:solidFill>
            <a:srgbClr val="4A4F5C"/>
          </a:solidFill>
          <a:ln w="6350">
            <a:solidFill>
              <a:srgbClr val="23262E"/>
            </a:solidFill>
            <a:prstDash val="solid"/>
          </a:ln>
        </p:spPr>
      </p:sp>
      <p:sp>
        <p:nvSpPr>
          <p:cNvPr id="20" name="Shape 18"/>
          <p:cNvSpPr/>
          <p:nvPr/>
        </p:nvSpPr>
        <p:spPr>
          <a:xfrm>
            <a:off x="1076847" y="1938528"/>
            <a:ext cx="73152" cy="73152"/>
          </a:xfrm>
          <a:prstGeom prst="ellipse">
            <a:avLst/>
          </a:prstGeom>
          <a:solidFill>
            <a:srgbClr val="4A4F5C"/>
          </a:solidFill>
          <a:ln w="6350">
            <a:solidFill>
              <a:srgbClr val="23262E"/>
            </a:solidFill>
            <a:prstDash val="solid"/>
          </a:ln>
        </p:spPr>
      </p:sp>
      <p:sp>
        <p:nvSpPr>
          <p:cNvPr id="21" name="Shape 19"/>
          <p:cNvSpPr/>
          <p:nvPr/>
        </p:nvSpPr>
        <p:spPr>
          <a:xfrm>
            <a:off x="1076847" y="1609344"/>
            <a:ext cx="73152" cy="73152"/>
          </a:xfrm>
          <a:prstGeom prst="ellipse">
            <a:avLst/>
          </a:prstGeom>
          <a:solidFill>
            <a:srgbClr val="4A4F5C"/>
          </a:solidFill>
          <a:ln w="6350">
            <a:solidFill>
              <a:srgbClr val="23262E"/>
            </a:solidFill>
            <a:prstDash val="solid"/>
          </a:ln>
        </p:spPr>
      </p:sp>
      <p:sp>
        <p:nvSpPr>
          <p:cNvPr id="22" name="Shape 20"/>
          <p:cNvSpPr/>
          <p:nvPr/>
        </p:nvSpPr>
        <p:spPr>
          <a:xfrm>
            <a:off x="1219387" y="1691640"/>
            <a:ext cx="73152" cy="73152"/>
          </a:xfrm>
          <a:prstGeom prst="ellipse">
            <a:avLst/>
          </a:prstGeom>
          <a:solidFill>
            <a:srgbClr val="4A4F5C"/>
          </a:solidFill>
          <a:ln w="6350">
            <a:solidFill>
              <a:srgbClr val="23262E"/>
            </a:solidFill>
            <a:prstDash val="solid"/>
          </a:ln>
        </p:spPr>
      </p:sp>
      <p:sp>
        <p:nvSpPr>
          <p:cNvPr id="23" name="Shape 21"/>
          <p:cNvSpPr/>
          <p:nvPr/>
        </p:nvSpPr>
        <p:spPr>
          <a:xfrm>
            <a:off x="1255963" y="1645920"/>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24" name="Shape 22"/>
          <p:cNvSpPr/>
          <p:nvPr/>
        </p:nvSpPr>
        <p:spPr>
          <a:xfrm>
            <a:off x="1504469" y="1856232"/>
            <a:ext cx="73152" cy="73152"/>
          </a:xfrm>
          <a:prstGeom prst="ellipse">
            <a:avLst/>
          </a:prstGeom>
          <a:solidFill>
            <a:srgbClr val="4A4F5C"/>
          </a:solidFill>
          <a:ln w="6350">
            <a:solidFill>
              <a:srgbClr val="23262E"/>
            </a:solidFill>
            <a:prstDash val="solid"/>
          </a:ln>
        </p:spPr>
      </p:sp>
      <p:sp>
        <p:nvSpPr>
          <p:cNvPr id="25" name="Shape 23"/>
          <p:cNvSpPr/>
          <p:nvPr/>
        </p:nvSpPr>
        <p:spPr>
          <a:xfrm>
            <a:off x="1361928" y="1938528"/>
            <a:ext cx="73152" cy="73152"/>
          </a:xfrm>
          <a:prstGeom prst="ellipse">
            <a:avLst/>
          </a:prstGeom>
          <a:solidFill>
            <a:srgbClr val="4A4F5C"/>
          </a:solidFill>
          <a:ln w="6350">
            <a:solidFill>
              <a:srgbClr val="23262E"/>
            </a:solidFill>
            <a:prstDash val="solid"/>
          </a:ln>
        </p:spPr>
      </p:sp>
      <p:sp>
        <p:nvSpPr>
          <p:cNvPr id="26" name="Shape 24"/>
          <p:cNvSpPr/>
          <p:nvPr/>
        </p:nvSpPr>
        <p:spPr>
          <a:xfrm>
            <a:off x="1361928" y="1609344"/>
            <a:ext cx="73152" cy="73152"/>
          </a:xfrm>
          <a:prstGeom prst="ellipse">
            <a:avLst/>
          </a:prstGeom>
          <a:solidFill>
            <a:srgbClr val="4A4F5C"/>
          </a:solidFill>
          <a:ln w="6350">
            <a:solidFill>
              <a:srgbClr val="23262E"/>
            </a:solidFill>
            <a:prstDash val="solid"/>
          </a:ln>
        </p:spPr>
      </p:sp>
      <p:sp>
        <p:nvSpPr>
          <p:cNvPr id="27" name="Shape 25"/>
          <p:cNvSpPr/>
          <p:nvPr/>
        </p:nvSpPr>
        <p:spPr>
          <a:xfrm>
            <a:off x="1504469" y="1691640"/>
            <a:ext cx="73152" cy="73152"/>
          </a:xfrm>
          <a:prstGeom prst="ellipse">
            <a:avLst/>
          </a:prstGeom>
          <a:solidFill>
            <a:srgbClr val="4A4F5C"/>
          </a:solidFill>
          <a:ln w="6350">
            <a:solidFill>
              <a:srgbClr val="23262E"/>
            </a:solidFill>
            <a:prstDash val="solid"/>
          </a:ln>
        </p:spPr>
      </p:sp>
      <p:sp>
        <p:nvSpPr>
          <p:cNvPr id="28" name="Shape 26"/>
          <p:cNvSpPr/>
          <p:nvPr/>
        </p:nvSpPr>
        <p:spPr>
          <a:xfrm>
            <a:off x="1541045" y="1645920"/>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29" name="Shape 27"/>
          <p:cNvSpPr/>
          <p:nvPr/>
        </p:nvSpPr>
        <p:spPr>
          <a:xfrm>
            <a:off x="1789551" y="1856232"/>
            <a:ext cx="73152" cy="73152"/>
          </a:xfrm>
          <a:prstGeom prst="ellipse">
            <a:avLst/>
          </a:prstGeom>
          <a:solidFill>
            <a:srgbClr val="4A4F5C"/>
          </a:solidFill>
          <a:ln w="6350">
            <a:solidFill>
              <a:srgbClr val="23262E"/>
            </a:solidFill>
            <a:prstDash val="solid"/>
          </a:ln>
        </p:spPr>
      </p:sp>
      <p:sp>
        <p:nvSpPr>
          <p:cNvPr id="30" name="Shape 28"/>
          <p:cNvSpPr/>
          <p:nvPr/>
        </p:nvSpPr>
        <p:spPr>
          <a:xfrm>
            <a:off x="1647010" y="1938528"/>
            <a:ext cx="73152" cy="73152"/>
          </a:xfrm>
          <a:prstGeom prst="ellipse">
            <a:avLst/>
          </a:prstGeom>
          <a:solidFill>
            <a:srgbClr val="4A4F5C"/>
          </a:solidFill>
          <a:ln w="6350">
            <a:solidFill>
              <a:srgbClr val="23262E"/>
            </a:solidFill>
            <a:prstDash val="solid"/>
          </a:ln>
        </p:spPr>
      </p:sp>
      <p:sp>
        <p:nvSpPr>
          <p:cNvPr id="31" name="Shape 29"/>
          <p:cNvSpPr/>
          <p:nvPr/>
        </p:nvSpPr>
        <p:spPr>
          <a:xfrm>
            <a:off x="1647010" y="1609344"/>
            <a:ext cx="73152" cy="73152"/>
          </a:xfrm>
          <a:prstGeom prst="ellipse">
            <a:avLst/>
          </a:prstGeom>
          <a:solidFill>
            <a:srgbClr val="4A4F5C"/>
          </a:solidFill>
          <a:ln w="6350">
            <a:solidFill>
              <a:srgbClr val="23262E"/>
            </a:solidFill>
            <a:prstDash val="solid"/>
          </a:ln>
        </p:spPr>
      </p:sp>
      <p:sp>
        <p:nvSpPr>
          <p:cNvPr id="32" name="Shape 30"/>
          <p:cNvSpPr/>
          <p:nvPr/>
        </p:nvSpPr>
        <p:spPr>
          <a:xfrm>
            <a:off x="1789551" y="1691640"/>
            <a:ext cx="73152" cy="73152"/>
          </a:xfrm>
          <a:prstGeom prst="ellipse">
            <a:avLst/>
          </a:prstGeom>
          <a:solidFill>
            <a:srgbClr val="4A4F5C"/>
          </a:solidFill>
          <a:ln w="6350">
            <a:solidFill>
              <a:srgbClr val="23262E"/>
            </a:solidFill>
            <a:prstDash val="solid"/>
          </a:ln>
        </p:spPr>
      </p:sp>
      <p:sp>
        <p:nvSpPr>
          <p:cNvPr id="33" name="Shape 31"/>
          <p:cNvSpPr/>
          <p:nvPr/>
        </p:nvSpPr>
        <p:spPr>
          <a:xfrm>
            <a:off x="1826127" y="1645920"/>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34" name="Shape 32"/>
          <p:cNvSpPr/>
          <p:nvPr/>
        </p:nvSpPr>
        <p:spPr>
          <a:xfrm>
            <a:off x="2074633" y="1856232"/>
            <a:ext cx="73152" cy="73152"/>
          </a:xfrm>
          <a:prstGeom prst="ellipse">
            <a:avLst/>
          </a:prstGeom>
          <a:solidFill>
            <a:srgbClr val="4A4F5C"/>
          </a:solidFill>
          <a:ln w="6350">
            <a:solidFill>
              <a:srgbClr val="23262E"/>
            </a:solidFill>
            <a:prstDash val="solid"/>
          </a:ln>
        </p:spPr>
      </p:sp>
      <p:sp>
        <p:nvSpPr>
          <p:cNvPr id="35" name="Shape 33"/>
          <p:cNvSpPr/>
          <p:nvPr/>
        </p:nvSpPr>
        <p:spPr>
          <a:xfrm>
            <a:off x="1932092" y="1938528"/>
            <a:ext cx="73152" cy="73152"/>
          </a:xfrm>
          <a:prstGeom prst="ellipse">
            <a:avLst/>
          </a:prstGeom>
          <a:solidFill>
            <a:srgbClr val="4A4F5C"/>
          </a:solidFill>
          <a:ln w="6350">
            <a:solidFill>
              <a:srgbClr val="23262E"/>
            </a:solidFill>
            <a:prstDash val="solid"/>
          </a:ln>
        </p:spPr>
      </p:sp>
      <p:sp>
        <p:nvSpPr>
          <p:cNvPr id="36" name="Shape 34"/>
          <p:cNvSpPr/>
          <p:nvPr/>
        </p:nvSpPr>
        <p:spPr>
          <a:xfrm>
            <a:off x="1932092" y="1609344"/>
            <a:ext cx="73152" cy="73152"/>
          </a:xfrm>
          <a:prstGeom prst="ellipse">
            <a:avLst/>
          </a:prstGeom>
          <a:solidFill>
            <a:srgbClr val="4A4F5C"/>
          </a:solidFill>
          <a:ln w="6350">
            <a:solidFill>
              <a:srgbClr val="23262E"/>
            </a:solidFill>
            <a:prstDash val="solid"/>
          </a:ln>
        </p:spPr>
      </p:sp>
      <p:sp>
        <p:nvSpPr>
          <p:cNvPr id="37" name="Shape 35"/>
          <p:cNvSpPr/>
          <p:nvPr/>
        </p:nvSpPr>
        <p:spPr>
          <a:xfrm>
            <a:off x="2074633" y="1691640"/>
            <a:ext cx="73152" cy="73152"/>
          </a:xfrm>
          <a:prstGeom prst="ellipse">
            <a:avLst/>
          </a:prstGeom>
          <a:solidFill>
            <a:srgbClr val="4A4F5C"/>
          </a:solidFill>
          <a:ln w="6350">
            <a:solidFill>
              <a:srgbClr val="23262E"/>
            </a:solidFill>
            <a:prstDash val="solid"/>
          </a:ln>
        </p:spPr>
      </p:sp>
      <p:sp>
        <p:nvSpPr>
          <p:cNvPr id="38" name="Shape 36"/>
          <p:cNvSpPr/>
          <p:nvPr/>
        </p:nvSpPr>
        <p:spPr>
          <a:xfrm>
            <a:off x="2111209" y="1645920"/>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39" name="Shape 37"/>
          <p:cNvSpPr/>
          <p:nvPr/>
        </p:nvSpPr>
        <p:spPr>
          <a:xfrm>
            <a:off x="2359714" y="1856232"/>
            <a:ext cx="73152" cy="73152"/>
          </a:xfrm>
          <a:prstGeom prst="ellipse">
            <a:avLst/>
          </a:prstGeom>
          <a:solidFill>
            <a:srgbClr val="4A4F5C"/>
          </a:solidFill>
          <a:ln w="6350">
            <a:solidFill>
              <a:srgbClr val="23262E"/>
            </a:solidFill>
            <a:prstDash val="solid"/>
          </a:ln>
        </p:spPr>
      </p:sp>
      <p:sp>
        <p:nvSpPr>
          <p:cNvPr id="40" name="Shape 38"/>
          <p:cNvSpPr/>
          <p:nvPr/>
        </p:nvSpPr>
        <p:spPr>
          <a:xfrm>
            <a:off x="2217173" y="1938528"/>
            <a:ext cx="73152" cy="73152"/>
          </a:xfrm>
          <a:prstGeom prst="ellipse">
            <a:avLst/>
          </a:prstGeom>
          <a:solidFill>
            <a:srgbClr val="4A4F5C"/>
          </a:solidFill>
          <a:ln w="6350">
            <a:solidFill>
              <a:srgbClr val="23262E"/>
            </a:solidFill>
            <a:prstDash val="solid"/>
          </a:ln>
        </p:spPr>
      </p:sp>
      <p:sp>
        <p:nvSpPr>
          <p:cNvPr id="41" name="Shape 39"/>
          <p:cNvSpPr/>
          <p:nvPr/>
        </p:nvSpPr>
        <p:spPr>
          <a:xfrm>
            <a:off x="2217173" y="1609344"/>
            <a:ext cx="73152" cy="73152"/>
          </a:xfrm>
          <a:prstGeom prst="ellipse">
            <a:avLst/>
          </a:prstGeom>
          <a:solidFill>
            <a:srgbClr val="4A4F5C"/>
          </a:solidFill>
          <a:ln w="6350">
            <a:solidFill>
              <a:srgbClr val="23262E"/>
            </a:solidFill>
            <a:prstDash val="solid"/>
          </a:ln>
        </p:spPr>
      </p:sp>
      <p:sp>
        <p:nvSpPr>
          <p:cNvPr id="42" name="Shape 40"/>
          <p:cNvSpPr/>
          <p:nvPr/>
        </p:nvSpPr>
        <p:spPr>
          <a:xfrm>
            <a:off x="2359714" y="1691640"/>
            <a:ext cx="73152" cy="73152"/>
          </a:xfrm>
          <a:prstGeom prst="ellipse">
            <a:avLst/>
          </a:prstGeom>
          <a:solidFill>
            <a:srgbClr val="4A4F5C"/>
          </a:solidFill>
          <a:ln w="6350">
            <a:solidFill>
              <a:srgbClr val="23262E"/>
            </a:solidFill>
            <a:prstDash val="solid"/>
          </a:ln>
        </p:spPr>
      </p:sp>
      <p:sp>
        <p:nvSpPr>
          <p:cNvPr id="43" name="Shape 41"/>
          <p:cNvSpPr/>
          <p:nvPr/>
        </p:nvSpPr>
        <p:spPr>
          <a:xfrm>
            <a:off x="2396290" y="1645920"/>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44" name="Shape 42"/>
          <p:cNvSpPr/>
          <p:nvPr/>
        </p:nvSpPr>
        <p:spPr>
          <a:xfrm>
            <a:off x="2644796" y="1856232"/>
            <a:ext cx="73152" cy="73152"/>
          </a:xfrm>
          <a:prstGeom prst="ellipse">
            <a:avLst/>
          </a:prstGeom>
          <a:solidFill>
            <a:srgbClr val="4A4F5C"/>
          </a:solidFill>
          <a:ln w="6350">
            <a:solidFill>
              <a:srgbClr val="23262E"/>
            </a:solidFill>
            <a:prstDash val="solid"/>
          </a:ln>
        </p:spPr>
      </p:sp>
      <p:sp>
        <p:nvSpPr>
          <p:cNvPr id="45" name="Shape 43"/>
          <p:cNvSpPr/>
          <p:nvPr/>
        </p:nvSpPr>
        <p:spPr>
          <a:xfrm>
            <a:off x="2502255" y="1938528"/>
            <a:ext cx="73152" cy="73152"/>
          </a:xfrm>
          <a:prstGeom prst="ellipse">
            <a:avLst/>
          </a:prstGeom>
          <a:solidFill>
            <a:srgbClr val="4A4F5C"/>
          </a:solidFill>
          <a:ln w="6350">
            <a:solidFill>
              <a:srgbClr val="23262E"/>
            </a:solidFill>
            <a:prstDash val="solid"/>
          </a:ln>
        </p:spPr>
      </p:sp>
      <p:sp>
        <p:nvSpPr>
          <p:cNvPr id="46" name="Shape 44"/>
          <p:cNvSpPr/>
          <p:nvPr/>
        </p:nvSpPr>
        <p:spPr>
          <a:xfrm>
            <a:off x="2502255" y="1609344"/>
            <a:ext cx="73152" cy="73152"/>
          </a:xfrm>
          <a:prstGeom prst="ellipse">
            <a:avLst/>
          </a:prstGeom>
          <a:solidFill>
            <a:srgbClr val="4A4F5C"/>
          </a:solidFill>
          <a:ln w="6350">
            <a:solidFill>
              <a:srgbClr val="23262E"/>
            </a:solidFill>
            <a:prstDash val="solid"/>
          </a:ln>
        </p:spPr>
      </p:sp>
      <p:sp>
        <p:nvSpPr>
          <p:cNvPr id="47" name="Shape 45"/>
          <p:cNvSpPr/>
          <p:nvPr/>
        </p:nvSpPr>
        <p:spPr>
          <a:xfrm>
            <a:off x="2644796" y="1691640"/>
            <a:ext cx="73152" cy="73152"/>
          </a:xfrm>
          <a:prstGeom prst="ellipse">
            <a:avLst/>
          </a:prstGeom>
          <a:solidFill>
            <a:srgbClr val="4A4F5C"/>
          </a:solidFill>
          <a:ln w="6350">
            <a:solidFill>
              <a:srgbClr val="23262E"/>
            </a:solidFill>
            <a:prstDash val="solid"/>
          </a:ln>
        </p:spPr>
      </p:sp>
      <p:sp>
        <p:nvSpPr>
          <p:cNvPr id="48" name="Shape 46"/>
          <p:cNvSpPr/>
          <p:nvPr/>
        </p:nvSpPr>
        <p:spPr>
          <a:xfrm>
            <a:off x="828341" y="1892808"/>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49" name="Shape 47"/>
          <p:cNvSpPr/>
          <p:nvPr/>
        </p:nvSpPr>
        <p:spPr>
          <a:xfrm>
            <a:off x="1076847" y="2103120"/>
            <a:ext cx="73152" cy="73152"/>
          </a:xfrm>
          <a:prstGeom prst="ellipse">
            <a:avLst/>
          </a:prstGeom>
          <a:solidFill>
            <a:srgbClr val="4A4F5C"/>
          </a:solidFill>
          <a:ln w="6350">
            <a:solidFill>
              <a:srgbClr val="23262E"/>
            </a:solidFill>
            <a:prstDash val="solid"/>
          </a:ln>
        </p:spPr>
      </p:sp>
      <p:sp>
        <p:nvSpPr>
          <p:cNvPr id="50" name="Shape 48"/>
          <p:cNvSpPr/>
          <p:nvPr/>
        </p:nvSpPr>
        <p:spPr>
          <a:xfrm>
            <a:off x="934306" y="2185416"/>
            <a:ext cx="73152" cy="73152"/>
          </a:xfrm>
          <a:prstGeom prst="ellipse">
            <a:avLst/>
          </a:prstGeom>
          <a:solidFill>
            <a:srgbClr val="4A4F5C"/>
          </a:solidFill>
          <a:ln w="6350">
            <a:solidFill>
              <a:srgbClr val="23262E"/>
            </a:solidFill>
            <a:prstDash val="solid"/>
          </a:ln>
        </p:spPr>
      </p:sp>
      <p:sp>
        <p:nvSpPr>
          <p:cNvPr id="51" name="Shape 49"/>
          <p:cNvSpPr/>
          <p:nvPr/>
        </p:nvSpPr>
        <p:spPr>
          <a:xfrm>
            <a:off x="791765" y="2103120"/>
            <a:ext cx="73152" cy="73152"/>
          </a:xfrm>
          <a:prstGeom prst="ellipse">
            <a:avLst/>
          </a:prstGeom>
          <a:solidFill>
            <a:srgbClr val="4A4F5C"/>
          </a:solidFill>
          <a:ln w="6350">
            <a:solidFill>
              <a:srgbClr val="23262E"/>
            </a:solidFill>
            <a:prstDash val="solid"/>
          </a:ln>
        </p:spPr>
      </p:sp>
      <p:sp>
        <p:nvSpPr>
          <p:cNvPr id="52" name="Shape 50"/>
          <p:cNvSpPr/>
          <p:nvPr/>
        </p:nvSpPr>
        <p:spPr>
          <a:xfrm>
            <a:off x="1113423" y="1892808"/>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53" name="Shape 51"/>
          <p:cNvSpPr/>
          <p:nvPr/>
        </p:nvSpPr>
        <p:spPr>
          <a:xfrm>
            <a:off x="1361928" y="2103120"/>
            <a:ext cx="73152" cy="73152"/>
          </a:xfrm>
          <a:prstGeom prst="ellipse">
            <a:avLst/>
          </a:prstGeom>
          <a:solidFill>
            <a:srgbClr val="4A4F5C"/>
          </a:solidFill>
          <a:ln w="6350">
            <a:solidFill>
              <a:srgbClr val="23262E"/>
            </a:solidFill>
            <a:prstDash val="solid"/>
          </a:ln>
        </p:spPr>
      </p:sp>
      <p:sp>
        <p:nvSpPr>
          <p:cNvPr id="54" name="Shape 52"/>
          <p:cNvSpPr/>
          <p:nvPr/>
        </p:nvSpPr>
        <p:spPr>
          <a:xfrm>
            <a:off x="1219387" y="2185416"/>
            <a:ext cx="73152" cy="73152"/>
          </a:xfrm>
          <a:prstGeom prst="ellipse">
            <a:avLst/>
          </a:prstGeom>
          <a:solidFill>
            <a:srgbClr val="4A4F5C"/>
          </a:solidFill>
          <a:ln w="6350">
            <a:solidFill>
              <a:srgbClr val="23262E"/>
            </a:solidFill>
            <a:prstDash val="solid"/>
          </a:ln>
        </p:spPr>
      </p:sp>
      <p:sp>
        <p:nvSpPr>
          <p:cNvPr id="55" name="Shape 53"/>
          <p:cNvSpPr/>
          <p:nvPr/>
        </p:nvSpPr>
        <p:spPr>
          <a:xfrm>
            <a:off x="1398504" y="1892808"/>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56" name="Shape 54"/>
          <p:cNvSpPr/>
          <p:nvPr/>
        </p:nvSpPr>
        <p:spPr>
          <a:xfrm>
            <a:off x="1647010" y="2103120"/>
            <a:ext cx="73152" cy="73152"/>
          </a:xfrm>
          <a:prstGeom prst="ellipse">
            <a:avLst/>
          </a:prstGeom>
          <a:solidFill>
            <a:srgbClr val="4A4F5C"/>
          </a:solidFill>
          <a:ln w="6350">
            <a:solidFill>
              <a:srgbClr val="23262E"/>
            </a:solidFill>
            <a:prstDash val="solid"/>
          </a:ln>
        </p:spPr>
      </p:sp>
      <p:sp>
        <p:nvSpPr>
          <p:cNvPr id="57" name="Shape 55"/>
          <p:cNvSpPr/>
          <p:nvPr/>
        </p:nvSpPr>
        <p:spPr>
          <a:xfrm>
            <a:off x="1504469" y="2185416"/>
            <a:ext cx="73152" cy="73152"/>
          </a:xfrm>
          <a:prstGeom prst="ellipse">
            <a:avLst/>
          </a:prstGeom>
          <a:solidFill>
            <a:srgbClr val="4A4F5C"/>
          </a:solidFill>
          <a:ln w="6350">
            <a:solidFill>
              <a:srgbClr val="23262E"/>
            </a:solidFill>
            <a:prstDash val="solid"/>
          </a:ln>
        </p:spPr>
      </p:sp>
      <p:sp>
        <p:nvSpPr>
          <p:cNvPr id="58" name="Shape 56"/>
          <p:cNvSpPr/>
          <p:nvPr/>
        </p:nvSpPr>
        <p:spPr>
          <a:xfrm>
            <a:off x="1683586" y="1892808"/>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59" name="Shape 57"/>
          <p:cNvSpPr/>
          <p:nvPr/>
        </p:nvSpPr>
        <p:spPr>
          <a:xfrm>
            <a:off x="1932092" y="2103120"/>
            <a:ext cx="73152" cy="73152"/>
          </a:xfrm>
          <a:prstGeom prst="ellipse">
            <a:avLst/>
          </a:prstGeom>
          <a:solidFill>
            <a:srgbClr val="4A4F5C"/>
          </a:solidFill>
          <a:ln w="6350">
            <a:solidFill>
              <a:srgbClr val="23262E"/>
            </a:solidFill>
            <a:prstDash val="solid"/>
          </a:ln>
        </p:spPr>
      </p:sp>
      <p:sp>
        <p:nvSpPr>
          <p:cNvPr id="60" name="Shape 58"/>
          <p:cNvSpPr/>
          <p:nvPr/>
        </p:nvSpPr>
        <p:spPr>
          <a:xfrm>
            <a:off x="1789551" y="2185416"/>
            <a:ext cx="73152" cy="73152"/>
          </a:xfrm>
          <a:prstGeom prst="ellipse">
            <a:avLst/>
          </a:prstGeom>
          <a:solidFill>
            <a:srgbClr val="4A4F5C"/>
          </a:solidFill>
          <a:ln w="6350">
            <a:solidFill>
              <a:srgbClr val="23262E"/>
            </a:solidFill>
            <a:prstDash val="solid"/>
          </a:ln>
        </p:spPr>
      </p:sp>
      <p:sp>
        <p:nvSpPr>
          <p:cNvPr id="61" name="Shape 59"/>
          <p:cNvSpPr/>
          <p:nvPr/>
        </p:nvSpPr>
        <p:spPr>
          <a:xfrm>
            <a:off x="1968668" y="1892808"/>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62" name="Shape 60"/>
          <p:cNvSpPr/>
          <p:nvPr/>
        </p:nvSpPr>
        <p:spPr>
          <a:xfrm>
            <a:off x="2217173" y="2103120"/>
            <a:ext cx="73152" cy="73152"/>
          </a:xfrm>
          <a:prstGeom prst="ellipse">
            <a:avLst/>
          </a:prstGeom>
          <a:solidFill>
            <a:srgbClr val="4A4F5C"/>
          </a:solidFill>
          <a:ln w="6350">
            <a:solidFill>
              <a:srgbClr val="23262E"/>
            </a:solidFill>
            <a:prstDash val="solid"/>
          </a:ln>
        </p:spPr>
      </p:sp>
      <p:sp>
        <p:nvSpPr>
          <p:cNvPr id="63" name="Shape 61"/>
          <p:cNvSpPr/>
          <p:nvPr/>
        </p:nvSpPr>
        <p:spPr>
          <a:xfrm>
            <a:off x="2074633" y="2185416"/>
            <a:ext cx="73152" cy="73152"/>
          </a:xfrm>
          <a:prstGeom prst="ellipse">
            <a:avLst/>
          </a:prstGeom>
          <a:solidFill>
            <a:srgbClr val="4A4F5C"/>
          </a:solidFill>
          <a:ln w="6350">
            <a:solidFill>
              <a:srgbClr val="23262E"/>
            </a:solidFill>
            <a:prstDash val="solid"/>
          </a:ln>
        </p:spPr>
      </p:sp>
      <p:sp>
        <p:nvSpPr>
          <p:cNvPr id="64" name="Shape 62"/>
          <p:cNvSpPr/>
          <p:nvPr/>
        </p:nvSpPr>
        <p:spPr>
          <a:xfrm>
            <a:off x="2253749" y="1892808"/>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65" name="Shape 63"/>
          <p:cNvSpPr/>
          <p:nvPr/>
        </p:nvSpPr>
        <p:spPr>
          <a:xfrm>
            <a:off x="2502255" y="2103120"/>
            <a:ext cx="73152" cy="73152"/>
          </a:xfrm>
          <a:prstGeom prst="ellipse">
            <a:avLst/>
          </a:prstGeom>
          <a:solidFill>
            <a:srgbClr val="4A4F5C"/>
          </a:solidFill>
          <a:ln w="6350">
            <a:solidFill>
              <a:srgbClr val="23262E"/>
            </a:solidFill>
            <a:prstDash val="solid"/>
          </a:ln>
        </p:spPr>
      </p:sp>
      <p:sp>
        <p:nvSpPr>
          <p:cNvPr id="66" name="Shape 64"/>
          <p:cNvSpPr/>
          <p:nvPr/>
        </p:nvSpPr>
        <p:spPr>
          <a:xfrm>
            <a:off x="2359714" y="2185416"/>
            <a:ext cx="73152" cy="73152"/>
          </a:xfrm>
          <a:prstGeom prst="ellipse">
            <a:avLst/>
          </a:prstGeom>
          <a:solidFill>
            <a:srgbClr val="4A4F5C"/>
          </a:solidFill>
          <a:ln w="6350">
            <a:solidFill>
              <a:srgbClr val="23262E"/>
            </a:solidFill>
            <a:prstDash val="solid"/>
          </a:ln>
        </p:spPr>
      </p:sp>
      <p:sp>
        <p:nvSpPr>
          <p:cNvPr id="67" name="Shape 65"/>
          <p:cNvSpPr/>
          <p:nvPr/>
        </p:nvSpPr>
        <p:spPr>
          <a:xfrm>
            <a:off x="685800" y="2139696"/>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68" name="Shape 66"/>
          <p:cNvSpPr/>
          <p:nvPr/>
        </p:nvSpPr>
        <p:spPr>
          <a:xfrm>
            <a:off x="934306" y="2350008"/>
            <a:ext cx="73152" cy="73152"/>
          </a:xfrm>
          <a:prstGeom prst="ellipse">
            <a:avLst/>
          </a:prstGeom>
          <a:solidFill>
            <a:srgbClr val="4A4F5C"/>
          </a:solidFill>
          <a:ln w="6350">
            <a:solidFill>
              <a:srgbClr val="23262E"/>
            </a:solidFill>
            <a:prstDash val="solid"/>
          </a:ln>
        </p:spPr>
      </p:sp>
      <p:sp>
        <p:nvSpPr>
          <p:cNvPr id="69" name="Shape 67"/>
          <p:cNvSpPr/>
          <p:nvPr/>
        </p:nvSpPr>
        <p:spPr>
          <a:xfrm>
            <a:off x="791765" y="2432304"/>
            <a:ext cx="73152" cy="73152"/>
          </a:xfrm>
          <a:prstGeom prst="ellipse">
            <a:avLst/>
          </a:prstGeom>
          <a:solidFill>
            <a:srgbClr val="4A4F5C"/>
          </a:solidFill>
          <a:ln w="6350">
            <a:solidFill>
              <a:srgbClr val="23262E"/>
            </a:solidFill>
            <a:prstDash val="solid"/>
          </a:ln>
        </p:spPr>
      </p:sp>
      <p:sp>
        <p:nvSpPr>
          <p:cNvPr id="70" name="Shape 68"/>
          <p:cNvSpPr/>
          <p:nvPr/>
        </p:nvSpPr>
        <p:spPr>
          <a:xfrm>
            <a:off x="649224" y="2350008"/>
            <a:ext cx="73152" cy="73152"/>
          </a:xfrm>
          <a:prstGeom prst="ellipse">
            <a:avLst/>
          </a:prstGeom>
          <a:solidFill>
            <a:srgbClr val="4A4F5C"/>
          </a:solidFill>
          <a:ln w="6350">
            <a:solidFill>
              <a:srgbClr val="23262E"/>
            </a:solidFill>
            <a:prstDash val="solid"/>
          </a:ln>
        </p:spPr>
      </p:sp>
      <p:sp>
        <p:nvSpPr>
          <p:cNvPr id="71" name="Shape 69"/>
          <p:cNvSpPr/>
          <p:nvPr/>
        </p:nvSpPr>
        <p:spPr>
          <a:xfrm>
            <a:off x="649224" y="2185416"/>
            <a:ext cx="73152" cy="73152"/>
          </a:xfrm>
          <a:prstGeom prst="ellipse">
            <a:avLst/>
          </a:prstGeom>
          <a:solidFill>
            <a:srgbClr val="4A4F5C"/>
          </a:solidFill>
          <a:ln w="6350">
            <a:solidFill>
              <a:srgbClr val="23262E"/>
            </a:solidFill>
            <a:prstDash val="solid"/>
          </a:ln>
        </p:spPr>
      </p:sp>
      <p:sp>
        <p:nvSpPr>
          <p:cNvPr id="72" name="Shape 70"/>
          <p:cNvSpPr/>
          <p:nvPr/>
        </p:nvSpPr>
        <p:spPr>
          <a:xfrm>
            <a:off x="970882" y="2139696"/>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73" name="Shape 71"/>
          <p:cNvSpPr/>
          <p:nvPr/>
        </p:nvSpPr>
        <p:spPr>
          <a:xfrm>
            <a:off x="1219387" y="2350008"/>
            <a:ext cx="73152" cy="73152"/>
          </a:xfrm>
          <a:prstGeom prst="ellipse">
            <a:avLst/>
          </a:prstGeom>
          <a:solidFill>
            <a:srgbClr val="4A4F5C"/>
          </a:solidFill>
          <a:ln w="6350">
            <a:solidFill>
              <a:srgbClr val="23262E"/>
            </a:solidFill>
            <a:prstDash val="solid"/>
          </a:ln>
        </p:spPr>
      </p:sp>
      <p:sp>
        <p:nvSpPr>
          <p:cNvPr id="74" name="Shape 72"/>
          <p:cNvSpPr/>
          <p:nvPr/>
        </p:nvSpPr>
        <p:spPr>
          <a:xfrm>
            <a:off x="1076847" y="2432304"/>
            <a:ext cx="73152" cy="73152"/>
          </a:xfrm>
          <a:prstGeom prst="ellipse">
            <a:avLst/>
          </a:prstGeom>
          <a:solidFill>
            <a:srgbClr val="4A4F5C"/>
          </a:solidFill>
          <a:ln w="6350">
            <a:solidFill>
              <a:srgbClr val="23262E"/>
            </a:solidFill>
            <a:prstDash val="solid"/>
          </a:ln>
        </p:spPr>
      </p:sp>
      <p:sp>
        <p:nvSpPr>
          <p:cNvPr id="75" name="Shape 73"/>
          <p:cNvSpPr/>
          <p:nvPr/>
        </p:nvSpPr>
        <p:spPr>
          <a:xfrm>
            <a:off x="1255963" y="2139696"/>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76" name="Shape 74"/>
          <p:cNvSpPr/>
          <p:nvPr/>
        </p:nvSpPr>
        <p:spPr>
          <a:xfrm>
            <a:off x="1504469" y="2350008"/>
            <a:ext cx="73152" cy="73152"/>
          </a:xfrm>
          <a:prstGeom prst="ellipse">
            <a:avLst/>
          </a:prstGeom>
          <a:solidFill>
            <a:srgbClr val="4A4F5C"/>
          </a:solidFill>
          <a:ln w="6350">
            <a:solidFill>
              <a:srgbClr val="23262E"/>
            </a:solidFill>
            <a:prstDash val="solid"/>
          </a:ln>
        </p:spPr>
      </p:sp>
      <p:sp>
        <p:nvSpPr>
          <p:cNvPr id="77" name="Shape 75"/>
          <p:cNvSpPr/>
          <p:nvPr/>
        </p:nvSpPr>
        <p:spPr>
          <a:xfrm>
            <a:off x="1361928" y="2432304"/>
            <a:ext cx="73152" cy="73152"/>
          </a:xfrm>
          <a:prstGeom prst="ellipse">
            <a:avLst/>
          </a:prstGeom>
          <a:solidFill>
            <a:srgbClr val="4A4F5C"/>
          </a:solidFill>
          <a:ln w="6350">
            <a:solidFill>
              <a:srgbClr val="23262E"/>
            </a:solidFill>
            <a:prstDash val="solid"/>
          </a:ln>
        </p:spPr>
      </p:sp>
      <p:sp>
        <p:nvSpPr>
          <p:cNvPr id="78" name="Shape 76"/>
          <p:cNvSpPr/>
          <p:nvPr/>
        </p:nvSpPr>
        <p:spPr>
          <a:xfrm>
            <a:off x="1541045" y="2139696"/>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79" name="Shape 77"/>
          <p:cNvSpPr/>
          <p:nvPr/>
        </p:nvSpPr>
        <p:spPr>
          <a:xfrm>
            <a:off x="1789551" y="2350008"/>
            <a:ext cx="73152" cy="73152"/>
          </a:xfrm>
          <a:prstGeom prst="ellipse">
            <a:avLst/>
          </a:prstGeom>
          <a:solidFill>
            <a:srgbClr val="4A4F5C"/>
          </a:solidFill>
          <a:ln w="6350">
            <a:solidFill>
              <a:srgbClr val="23262E"/>
            </a:solidFill>
            <a:prstDash val="solid"/>
          </a:ln>
        </p:spPr>
      </p:sp>
      <p:sp>
        <p:nvSpPr>
          <p:cNvPr id="80" name="Shape 78"/>
          <p:cNvSpPr/>
          <p:nvPr/>
        </p:nvSpPr>
        <p:spPr>
          <a:xfrm>
            <a:off x="1647010" y="2432304"/>
            <a:ext cx="73152" cy="73152"/>
          </a:xfrm>
          <a:prstGeom prst="ellipse">
            <a:avLst/>
          </a:prstGeom>
          <a:solidFill>
            <a:srgbClr val="4A4F5C"/>
          </a:solidFill>
          <a:ln w="6350">
            <a:solidFill>
              <a:srgbClr val="23262E"/>
            </a:solidFill>
            <a:prstDash val="solid"/>
          </a:ln>
        </p:spPr>
      </p:sp>
      <p:sp>
        <p:nvSpPr>
          <p:cNvPr id="81" name="Shape 79"/>
          <p:cNvSpPr/>
          <p:nvPr/>
        </p:nvSpPr>
        <p:spPr>
          <a:xfrm>
            <a:off x="1826127" y="2139696"/>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82" name="Shape 80"/>
          <p:cNvSpPr/>
          <p:nvPr/>
        </p:nvSpPr>
        <p:spPr>
          <a:xfrm>
            <a:off x="2074633" y="2350008"/>
            <a:ext cx="73152" cy="73152"/>
          </a:xfrm>
          <a:prstGeom prst="ellipse">
            <a:avLst/>
          </a:prstGeom>
          <a:solidFill>
            <a:srgbClr val="4A4F5C"/>
          </a:solidFill>
          <a:ln w="6350">
            <a:solidFill>
              <a:srgbClr val="23262E"/>
            </a:solidFill>
            <a:prstDash val="solid"/>
          </a:ln>
        </p:spPr>
      </p:sp>
      <p:sp>
        <p:nvSpPr>
          <p:cNvPr id="83" name="Shape 81"/>
          <p:cNvSpPr/>
          <p:nvPr/>
        </p:nvSpPr>
        <p:spPr>
          <a:xfrm>
            <a:off x="1932092" y="2432304"/>
            <a:ext cx="73152" cy="73152"/>
          </a:xfrm>
          <a:prstGeom prst="ellipse">
            <a:avLst/>
          </a:prstGeom>
          <a:solidFill>
            <a:srgbClr val="4A4F5C"/>
          </a:solidFill>
          <a:ln w="6350">
            <a:solidFill>
              <a:srgbClr val="23262E"/>
            </a:solidFill>
            <a:prstDash val="solid"/>
          </a:ln>
        </p:spPr>
      </p:sp>
      <p:sp>
        <p:nvSpPr>
          <p:cNvPr id="84" name="Shape 82"/>
          <p:cNvSpPr/>
          <p:nvPr/>
        </p:nvSpPr>
        <p:spPr>
          <a:xfrm>
            <a:off x="2111209" y="2139696"/>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85" name="Shape 83"/>
          <p:cNvSpPr/>
          <p:nvPr/>
        </p:nvSpPr>
        <p:spPr>
          <a:xfrm>
            <a:off x="2359714" y="2350008"/>
            <a:ext cx="73152" cy="73152"/>
          </a:xfrm>
          <a:prstGeom prst="ellipse">
            <a:avLst/>
          </a:prstGeom>
          <a:solidFill>
            <a:srgbClr val="4A4F5C"/>
          </a:solidFill>
          <a:ln w="6350">
            <a:solidFill>
              <a:srgbClr val="23262E"/>
            </a:solidFill>
            <a:prstDash val="solid"/>
          </a:ln>
        </p:spPr>
      </p:sp>
      <p:sp>
        <p:nvSpPr>
          <p:cNvPr id="86" name="Shape 84"/>
          <p:cNvSpPr/>
          <p:nvPr/>
        </p:nvSpPr>
        <p:spPr>
          <a:xfrm>
            <a:off x="2217173" y="2432304"/>
            <a:ext cx="73152" cy="73152"/>
          </a:xfrm>
          <a:prstGeom prst="ellipse">
            <a:avLst/>
          </a:prstGeom>
          <a:solidFill>
            <a:srgbClr val="4A4F5C"/>
          </a:solidFill>
          <a:ln w="6350">
            <a:solidFill>
              <a:srgbClr val="23262E"/>
            </a:solidFill>
            <a:prstDash val="solid"/>
          </a:ln>
        </p:spPr>
      </p:sp>
      <p:sp>
        <p:nvSpPr>
          <p:cNvPr id="87" name="Shape 85"/>
          <p:cNvSpPr/>
          <p:nvPr/>
        </p:nvSpPr>
        <p:spPr>
          <a:xfrm>
            <a:off x="2396290" y="2139696"/>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88" name="Shape 86"/>
          <p:cNvSpPr/>
          <p:nvPr/>
        </p:nvSpPr>
        <p:spPr>
          <a:xfrm>
            <a:off x="2644796" y="2350008"/>
            <a:ext cx="73152" cy="73152"/>
          </a:xfrm>
          <a:prstGeom prst="ellipse">
            <a:avLst/>
          </a:prstGeom>
          <a:solidFill>
            <a:srgbClr val="4A4F5C"/>
          </a:solidFill>
          <a:ln w="6350">
            <a:solidFill>
              <a:srgbClr val="23262E"/>
            </a:solidFill>
            <a:prstDash val="solid"/>
          </a:ln>
        </p:spPr>
      </p:sp>
      <p:sp>
        <p:nvSpPr>
          <p:cNvPr id="89" name="Shape 87"/>
          <p:cNvSpPr/>
          <p:nvPr/>
        </p:nvSpPr>
        <p:spPr>
          <a:xfrm>
            <a:off x="2502255" y="2432304"/>
            <a:ext cx="73152" cy="73152"/>
          </a:xfrm>
          <a:prstGeom prst="ellipse">
            <a:avLst/>
          </a:prstGeom>
          <a:solidFill>
            <a:srgbClr val="4A4F5C"/>
          </a:solidFill>
          <a:ln w="6350">
            <a:solidFill>
              <a:srgbClr val="23262E"/>
            </a:solidFill>
            <a:prstDash val="solid"/>
          </a:ln>
        </p:spPr>
      </p:sp>
      <p:sp>
        <p:nvSpPr>
          <p:cNvPr id="90" name="Shape 88"/>
          <p:cNvSpPr/>
          <p:nvPr/>
        </p:nvSpPr>
        <p:spPr>
          <a:xfrm>
            <a:off x="2644796" y="2185416"/>
            <a:ext cx="73152" cy="73152"/>
          </a:xfrm>
          <a:prstGeom prst="ellipse">
            <a:avLst/>
          </a:prstGeom>
          <a:solidFill>
            <a:srgbClr val="4A4F5C"/>
          </a:solidFill>
          <a:ln w="6350">
            <a:solidFill>
              <a:srgbClr val="23262E"/>
            </a:solidFill>
            <a:prstDash val="solid"/>
          </a:ln>
        </p:spPr>
      </p:sp>
      <p:sp>
        <p:nvSpPr>
          <p:cNvPr id="91" name="Shape 89"/>
          <p:cNvSpPr/>
          <p:nvPr/>
        </p:nvSpPr>
        <p:spPr>
          <a:xfrm>
            <a:off x="828341" y="2386584"/>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92" name="Shape 90"/>
          <p:cNvSpPr/>
          <p:nvPr/>
        </p:nvSpPr>
        <p:spPr>
          <a:xfrm>
            <a:off x="1076847" y="2596896"/>
            <a:ext cx="73152" cy="73152"/>
          </a:xfrm>
          <a:prstGeom prst="ellipse">
            <a:avLst/>
          </a:prstGeom>
          <a:solidFill>
            <a:srgbClr val="4A4F5C"/>
          </a:solidFill>
          <a:ln w="6350">
            <a:solidFill>
              <a:srgbClr val="23262E"/>
            </a:solidFill>
            <a:prstDash val="solid"/>
          </a:ln>
        </p:spPr>
      </p:sp>
      <p:sp>
        <p:nvSpPr>
          <p:cNvPr id="93" name="Shape 91"/>
          <p:cNvSpPr/>
          <p:nvPr/>
        </p:nvSpPr>
        <p:spPr>
          <a:xfrm>
            <a:off x="934306" y="2679192"/>
            <a:ext cx="73152" cy="73152"/>
          </a:xfrm>
          <a:prstGeom prst="ellipse">
            <a:avLst/>
          </a:prstGeom>
          <a:solidFill>
            <a:srgbClr val="4A4F5C"/>
          </a:solidFill>
          <a:ln w="6350">
            <a:solidFill>
              <a:srgbClr val="23262E"/>
            </a:solidFill>
            <a:prstDash val="solid"/>
          </a:ln>
        </p:spPr>
      </p:sp>
      <p:sp>
        <p:nvSpPr>
          <p:cNvPr id="94" name="Shape 92"/>
          <p:cNvSpPr/>
          <p:nvPr/>
        </p:nvSpPr>
        <p:spPr>
          <a:xfrm>
            <a:off x="791765" y="2596896"/>
            <a:ext cx="73152" cy="73152"/>
          </a:xfrm>
          <a:prstGeom prst="ellipse">
            <a:avLst/>
          </a:prstGeom>
          <a:solidFill>
            <a:srgbClr val="4A4F5C"/>
          </a:solidFill>
          <a:ln w="6350">
            <a:solidFill>
              <a:srgbClr val="23262E"/>
            </a:solidFill>
            <a:prstDash val="solid"/>
          </a:ln>
        </p:spPr>
      </p:sp>
      <p:sp>
        <p:nvSpPr>
          <p:cNvPr id="95" name="Shape 93"/>
          <p:cNvSpPr/>
          <p:nvPr/>
        </p:nvSpPr>
        <p:spPr>
          <a:xfrm>
            <a:off x="1113423" y="2386584"/>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96" name="Shape 94"/>
          <p:cNvSpPr/>
          <p:nvPr/>
        </p:nvSpPr>
        <p:spPr>
          <a:xfrm>
            <a:off x="1361928" y="2596896"/>
            <a:ext cx="73152" cy="73152"/>
          </a:xfrm>
          <a:prstGeom prst="ellipse">
            <a:avLst/>
          </a:prstGeom>
          <a:solidFill>
            <a:srgbClr val="4A4F5C"/>
          </a:solidFill>
          <a:ln w="6350">
            <a:solidFill>
              <a:srgbClr val="23262E"/>
            </a:solidFill>
            <a:prstDash val="solid"/>
          </a:ln>
        </p:spPr>
      </p:sp>
      <p:sp>
        <p:nvSpPr>
          <p:cNvPr id="97" name="Shape 95"/>
          <p:cNvSpPr/>
          <p:nvPr/>
        </p:nvSpPr>
        <p:spPr>
          <a:xfrm>
            <a:off x="1219387" y="2679192"/>
            <a:ext cx="73152" cy="73152"/>
          </a:xfrm>
          <a:prstGeom prst="ellipse">
            <a:avLst/>
          </a:prstGeom>
          <a:solidFill>
            <a:srgbClr val="4A4F5C"/>
          </a:solidFill>
          <a:ln w="6350">
            <a:solidFill>
              <a:srgbClr val="23262E"/>
            </a:solidFill>
            <a:prstDash val="solid"/>
          </a:ln>
        </p:spPr>
      </p:sp>
      <p:sp>
        <p:nvSpPr>
          <p:cNvPr id="98" name="Shape 96"/>
          <p:cNvSpPr/>
          <p:nvPr/>
        </p:nvSpPr>
        <p:spPr>
          <a:xfrm>
            <a:off x="1398504" y="2386584"/>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99" name="Shape 97"/>
          <p:cNvSpPr/>
          <p:nvPr/>
        </p:nvSpPr>
        <p:spPr>
          <a:xfrm>
            <a:off x="1647010" y="2596896"/>
            <a:ext cx="73152" cy="73152"/>
          </a:xfrm>
          <a:prstGeom prst="ellipse">
            <a:avLst/>
          </a:prstGeom>
          <a:solidFill>
            <a:srgbClr val="4A4F5C"/>
          </a:solidFill>
          <a:ln w="6350">
            <a:solidFill>
              <a:srgbClr val="23262E"/>
            </a:solidFill>
            <a:prstDash val="solid"/>
          </a:ln>
        </p:spPr>
      </p:sp>
      <p:sp>
        <p:nvSpPr>
          <p:cNvPr id="100" name="Shape 98"/>
          <p:cNvSpPr/>
          <p:nvPr/>
        </p:nvSpPr>
        <p:spPr>
          <a:xfrm>
            <a:off x="1504469" y="2679192"/>
            <a:ext cx="73152" cy="73152"/>
          </a:xfrm>
          <a:prstGeom prst="ellipse">
            <a:avLst/>
          </a:prstGeom>
          <a:solidFill>
            <a:srgbClr val="4A4F5C"/>
          </a:solidFill>
          <a:ln w="6350">
            <a:solidFill>
              <a:srgbClr val="23262E"/>
            </a:solidFill>
            <a:prstDash val="solid"/>
          </a:ln>
        </p:spPr>
      </p:sp>
      <p:sp>
        <p:nvSpPr>
          <p:cNvPr id="101" name="Shape 99"/>
          <p:cNvSpPr/>
          <p:nvPr/>
        </p:nvSpPr>
        <p:spPr>
          <a:xfrm>
            <a:off x="1683586" y="2386584"/>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02" name="Shape 100"/>
          <p:cNvSpPr/>
          <p:nvPr/>
        </p:nvSpPr>
        <p:spPr>
          <a:xfrm>
            <a:off x="1932092" y="2596896"/>
            <a:ext cx="73152" cy="73152"/>
          </a:xfrm>
          <a:prstGeom prst="ellipse">
            <a:avLst/>
          </a:prstGeom>
          <a:solidFill>
            <a:srgbClr val="4A4F5C"/>
          </a:solidFill>
          <a:ln w="6350">
            <a:solidFill>
              <a:srgbClr val="23262E"/>
            </a:solidFill>
            <a:prstDash val="solid"/>
          </a:ln>
        </p:spPr>
      </p:sp>
      <p:sp>
        <p:nvSpPr>
          <p:cNvPr id="103" name="Shape 101"/>
          <p:cNvSpPr/>
          <p:nvPr/>
        </p:nvSpPr>
        <p:spPr>
          <a:xfrm>
            <a:off x="1789551" y="2679192"/>
            <a:ext cx="73152" cy="73152"/>
          </a:xfrm>
          <a:prstGeom prst="ellipse">
            <a:avLst/>
          </a:prstGeom>
          <a:solidFill>
            <a:srgbClr val="4A4F5C"/>
          </a:solidFill>
          <a:ln w="6350">
            <a:solidFill>
              <a:srgbClr val="23262E"/>
            </a:solidFill>
            <a:prstDash val="solid"/>
          </a:ln>
        </p:spPr>
      </p:sp>
      <p:sp>
        <p:nvSpPr>
          <p:cNvPr id="104" name="Shape 102"/>
          <p:cNvSpPr/>
          <p:nvPr/>
        </p:nvSpPr>
        <p:spPr>
          <a:xfrm>
            <a:off x="1968668" y="2386584"/>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05" name="Shape 103"/>
          <p:cNvSpPr/>
          <p:nvPr/>
        </p:nvSpPr>
        <p:spPr>
          <a:xfrm>
            <a:off x="2217173" y="2596896"/>
            <a:ext cx="73152" cy="73152"/>
          </a:xfrm>
          <a:prstGeom prst="ellipse">
            <a:avLst/>
          </a:prstGeom>
          <a:solidFill>
            <a:srgbClr val="4A4F5C"/>
          </a:solidFill>
          <a:ln w="6350">
            <a:solidFill>
              <a:srgbClr val="23262E"/>
            </a:solidFill>
            <a:prstDash val="solid"/>
          </a:ln>
        </p:spPr>
      </p:sp>
      <p:sp>
        <p:nvSpPr>
          <p:cNvPr id="106" name="Shape 104"/>
          <p:cNvSpPr/>
          <p:nvPr/>
        </p:nvSpPr>
        <p:spPr>
          <a:xfrm>
            <a:off x="2074633" y="2679192"/>
            <a:ext cx="73152" cy="73152"/>
          </a:xfrm>
          <a:prstGeom prst="ellipse">
            <a:avLst/>
          </a:prstGeom>
          <a:solidFill>
            <a:srgbClr val="4A4F5C"/>
          </a:solidFill>
          <a:ln w="6350">
            <a:solidFill>
              <a:srgbClr val="23262E"/>
            </a:solidFill>
            <a:prstDash val="solid"/>
          </a:ln>
        </p:spPr>
      </p:sp>
      <p:sp>
        <p:nvSpPr>
          <p:cNvPr id="107" name="Shape 105"/>
          <p:cNvSpPr/>
          <p:nvPr/>
        </p:nvSpPr>
        <p:spPr>
          <a:xfrm>
            <a:off x="2253749" y="2386584"/>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08" name="Shape 106"/>
          <p:cNvSpPr/>
          <p:nvPr/>
        </p:nvSpPr>
        <p:spPr>
          <a:xfrm>
            <a:off x="2502255" y="2596896"/>
            <a:ext cx="73152" cy="73152"/>
          </a:xfrm>
          <a:prstGeom prst="ellipse">
            <a:avLst/>
          </a:prstGeom>
          <a:solidFill>
            <a:srgbClr val="4A4F5C"/>
          </a:solidFill>
          <a:ln w="6350">
            <a:solidFill>
              <a:srgbClr val="23262E"/>
            </a:solidFill>
            <a:prstDash val="solid"/>
          </a:ln>
        </p:spPr>
      </p:sp>
      <p:sp>
        <p:nvSpPr>
          <p:cNvPr id="109" name="Shape 107"/>
          <p:cNvSpPr/>
          <p:nvPr/>
        </p:nvSpPr>
        <p:spPr>
          <a:xfrm>
            <a:off x="2359714" y="2679192"/>
            <a:ext cx="73152" cy="73152"/>
          </a:xfrm>
          <a:prstGeom prst="ellipse">
            <a:avLst/>
          </a:prstGeom>
          <a:solidFill>
            <a:srgbClr val="4A4F5C"/>
          </a:solidFill>
          <a:ln w="6350">
            <a:solidFill>
              <a:srgbClr val="23262E"/>
            </a:solidFill>
            <a:prstDash val="solid"/>
          </a:ln>
        </p:spPr>
      </p:sp>
      <p:sp>
        <p:nvSpPr>
          <p:cNvPr id="110" name="Shape 108"/>
          <p:cNvSpPr/>
          <p:nvPr/>
        </p:nvSpPr>
        <p:spPr>
          <a:xfrm>
            <a:off x="685800" y="2633472"/>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11" name="Shape 109"/>
          <p:cNvSpPr/>
          <p:nvPr/>
        </p:nvSpPr>
        <p:spPr>
          <a:xfrm>
            <a:off x="934306" y="2843784"/>
            <a:ext cx="73152" cy="73152"/>
          </a:xfrm>
          <a:prstGeom prst="ellipse">
            <a:avLst/>
          </a:prstGeom>
          <a:solidFill>
            <a:srgbClr val="4A4F5C"/>
          </a:solidFill>
          <a:ln w="6350">
            <a:solidFill>
              <a:srgbClr val="23262E"/>
            </a:solidFill>
            <a:prstDash val="solid"/>
          </a:ln>
        </p:spPr>
      </p:sp>
      <p:sp>
        <p:nvSpPr>
          <p:cNvPr id="112" name="Shape 110"/>
          <p:cNvSpPr/>
          <p:nvPr/>
        </p:nvSpPr>
        <p:spPr>
          <a:xfrm>
            <a:off x="791765" y="2926080"/>
            <a:ext cx="73152" cy="73152"/>
          </a:xfrm>
          <a:prstGeom prst="ellipse">
            <a:avLst/>
          </a:prstGeom>
          <a:solidFill>
            <a:srgbClr val="4A4F5C"/>
          </a:solidFill>
          <a:ln w="6350">
            <a:solidFill>
              <a:srgbClr val="23262E"/>
            </a:solidFill>
            <a:prstDash val="solid"/>
          </a:ln>
        </p:spPr>
      </p:sp>
      <p:sp>
        <p:nvSpPr>
          <p:cNvPr id="113" name="Shape 111"/>
          <p:cNvSpPr/>
          <p:nvPr/>
        </p:nvSpPr>
        <p:spPr>
          <a:xfrm>
            <a:off x="649224" y="2843784"/>
            <a:ext cx="73152" cy="73152"/>
          </a:xfrm>
          <a:prstGeom prst="ellipse">
            <a:avLst/>
          </a:prstGeom>
          <a:solidFill>
            <a:srgbClr val="4A4F5C"/>
          </a:solidFill>
          <a:ln w="6350">
            <a:solidFill>
              <a:srgbClr val="23262E"/>
            </a:solidFill>
            <a:prstDash val="solid"/>
          </a:ln>
        </p:spPr>
      </p:sp>
      <p:sp>
        <p:nvSpPr>
          <p:cNvPr id="114" name="Shape 112"/>
          <p:cNvSpPr/>
          <p:nvPr/>
        </p:nvSpPr>
        <p:spPr>
          <a:xfrm>
            <a:off x="649224" y="2679192"/>
            <a:ext cx="73152" cy="73152"/>
          </a:xfrm>
          <a:prstGeom prst="ellipse">
            <a:avLst/>
          </a:prstGeom>
          <a:solidFill>
            <a:srgbClr val="4A4F5C"/>
          </a:solidFill>
          <a:ln w="6350">
            <a:solidFill>
              <a:srgbClr val="23262E"/>
            </a:solidFill>
            <a:prstDash val="solid"/>
          </a:ln>
        </p:spPr>
      </p:sp>
      <p:sp>
        <p:nvSpPr>
          <p:cNvPr id="115" name="Shape 113"/>
          <p:cNvSpPr/>
          <p:nvPr/>
        </p:nvSpPr>
        <p:spPr>
          <a:xfrm>
            <a:off x="970882" y="2633472"/>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16" name="Shape 114"/>
          <p:cNvSpPr/>
          <p:nvPr/>
        </p:nvSpPr>
        <p:spPr>
          <a:xfrm>
            <a:off x="1219387" y="2843784"/>
            <a:ext cx="73152" cy="73152"/>
          </a:xfrm>
          <a:prstGeom prst="ellipse">
            <a:avLst/>
          </a:prstGeom>
          <a:solidFill>
            <a:srgbClr val="4A4F5C"/>
          </a:solidFill>
          <a:ln w="6350">
            <a:solidFill>
              <a:srgbClr val="23262E"/>
            </a:solidFill>
            <a:prstDash val="solid"/>
          </a:ln>
        </p:spPr>
      </p:sp>
      <p:sp>
        <p:nvSpPr>
          <p:cNvPr id="117" name="Shape 115"/>
          <p:cNvSpPr/>
          <p:nvPr/>
        </p:nvSpPr>
        <p:spPr>
          <a:xfrm>
            <a:off x="1076847" y="2926080"/>
            <a:ext cx="73152" cy="73152"/>
          </a:xfrm>
          <a:prstGeom prst="ellipse">
            <a:avLst/>
          </a:prstGeom>
          <a:solidFill>
            <a:srgbClr val="4A4F5C"/>
          </a:solidFill>
          <a:ln w="6350">
            <a:solidFill>
              <a:srgbClr val="23262E"/>
            </a:solidFill>
            <a:prstDash val="solid"/>
          </a:ln>
        </p:spPr>
      </p:sp>
      <p:sp>
        <p:nvSpPr>
          <p:cNvPr id="118" name="Shape 116"/>
          <p:cNvSpPr/>
          <p:nvPr/>
        </p:nvSpPr>
        <p:spPr>
          <a:xfrm>
            <a:off x="1255963" y="2633472"/>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19" name="Shape 117"/>
          <p:cNvSpPr/>
          <p:nvPr/>
        </p:nvSpPr>
        <p:spPr>
          <a:xfrm>
            <a:off x="1504469" y="2843784"/>
            <a:ext cx="73152" cy="73152"/>
          </a:xfrm>
          <a:prstGeom prst="ellipse">
            <a:avLst/>
          </a:prstGeom>
          <a:solidFill>
            <a:srgbClr val="4A4F5C"/>
          </a:solidFill>
          <a:ln w="6350">
            <a:solidFill>
              <a:srgbClr val="23262E"/>
            </a:solidFill>
            <a:prstDash val="solid"/>
          </a:ln>
        </p:spPr>
      </p:sp>
      <p:sp>
        <p:nvSpPr>
          <p:cNvPr id="120" name="Shape 118"/>
          <p:cNvSpPr/>
          <p:nvPr/>
        </p:nvSpPr>
        <p:spPr>
          <a:xfrm>
            <a:off x="1361928" y="2926080"/>
            <a:ext cx="73152" cy="73152"/>
          </a:xfrm>
          <a:prstGeom prst="ellipse">
            <a:avLst/>
          </a:prstGeom>
          <a:solidFill>
            <a:srgbClr val="4A4F5C"/>
          </a:solidFill>
          <a:ln w="6350">
            <a:solidFill>
              <a:srgbClr val="23262E"/>
            </a:solidFill>
            <a:prstDash val="solid"/>
          </a:ln>
        </p:spPr>
      </p:sp>
      <p:sp>
        <p:nvSpPr>
          <p:cNvPr id="121" name="Shape 119"/>
          <p:cNvSpPr/>
          <p:nvPr/>
        </p:nvSpPr>
        <p:spPr>
          <a:xfrm>
            <a:off x="1541045" y="2633472"/>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22" name="Shape 120"/>
          <p:cNvSpPr/>
          <p:nvPr/>
        </p:nvSpPr>
        <p:spPr>
          <a:xfrm>
            <a:off x="1789551" y="2843784"/>
            <a:ext cx="73152" cy="73152"/>
          </a:xfrm>
          <a:prstGeom prst="ellipse">
            <a:avLst/>
          </a:prstGeom>
          <a:solidFill>
            <a:srgbClr val="4A4F5C"/>
          </a:solidFill>
          <a:ln w="6350">
            <a:solidFill>
              <a:srgbClr val="23262E"/>
            </a:solidFill>
            <a:prstDash val="solid"/>
          </a:ln>
        </p:spPr>
      </p:sp>
      <p:sp>
        <p:nvSpPr>
          <p:cNvPr id="123" name="Shape 121"/>
          <p:cNvSpPr/>
          <p:nvPr/>
        </p:nvSpPr>
        <p:spPr>
          <a:xfrm>
            <a:off x="1647010" y="2926080"/>
            <a:ext cx="73152" cy="73152"/>
          </a:xfrm>
          <a:prstGeom prst="ellipse">
            <a:avLst/>
          </a:prstGeom>
          <a:solidFill>
            <a:srgbClr val="4A4F5C"/>
          </a:solidFill>
          <a:ln w="6350">
            <a:solidFill>
              <a:srgbClr val="23262E"/>
            </a:solidFill>
            <a:prstDash val="solid"/>
          </a:ln>
        </p:spPr>
      </p:sp>
      <p:sp>
        <p:nvSpPr>
          <p:cNvPr id="124" name="Shape 122"/>
          <p:cNvSpPr/>
          <p:nvPr/>
        </p:nvSpPr>
        <p:spPr>
          <a:xfrm>
            <a:off x="1826127" y="2633472"/>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25" name="Shape 123"/>
          <p:cNvSpPr/>
          <p:nvPr/>
        </p:nvSpPr>
        <p:spPr>
          <a:xfrm>
            <a:off x="2074633" y="2843784"/>
            <a:ext cx="73152" cy="73152"/>
          </a:xfrm>
          <a:prstGeom prst="ellipse">
            <a:avLst/>
          </a:prstGeom>
          <a:solidFill>
            <a:srgbClr val="4A4F5C"/>
          </a:solidFill>
          <a:ln w="6350">
            <a:solidFill>
              <a:srgbClr val="23262E"/>
            </a:solidFill>
            <a:prstDash val="solid"/>
          </a:ln>
        </p:spPr>
      </p:sp>
      <p:sp>
        <p:nvSpPr>
          <p:cNvPr id="126" name="Shape 124"/>
          <p:cNvSpPr/>
          <p:nvPr/>
        </p:nvSpPr>
        <p:spPr>
          <a:xfrm>
            <a:off x="1932092" y="2926080"/>
            <a:ext cx="73152" cy="73152"/>
          </a:xfrm>
          <a:prstGeom prst="ellipse">
            <a:avLst/>
          </a:prstGeom>
          <a:solidFill>
            <a:srgbClr val="4A4F5C"/>
          </a:solidFill>
          <a:ln w="6350">
            <a:solidFill>
              <a:srgbClr val="23262E"/>
            </a:solidFill>
            <a:prstDash val="solid"/>
          </a:ln>
        </p:spPr>
      </p:sp>
      <p:sp>
        <p:nvSpPr>
          <p:cNvPr id="127" name="Shape 125"/>
          <p:cNvSpPr/>
          <p:nvPr/>
        </p:nvSpPr>
        <p:spPr>
          <a:xfrm>
            <a:off x="2111209" y="2633472"/>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28" name="Shape 126"/>
          <p:cNvSpPr/>
          <p:nvPr/>
        </p:nvSpPr>
        <p:spPr>
          <a:xfrm>
            <a:off x="2359714" y="2843784"/>
            <a:ext cx="73152" cy="73152"/>
          </a:xfrm>
          <a:prstGeom prst="ellipse">
            <a:avLst/>
          </a:prstGeom>
          <a:solidFill>
            <a:srgbClr val="4A4F5C"/>
          </a:solidFill>
          <a:ln w="6350">
            <a:solidFill>
              <a:srgbClr val="23262E"/>
            </a:solidFill>
            <a:prstDash val="solid"/>
          </a:ln>
        </p:spPr>
      </p:sp>
      <p:sp>
        <p:nvSpPr>
          <p:cNvPr id="129" name="Shape 127"/>
          <p:cNvSpPr/>
          <p:nvPr/>
        </p:nvSpPr>
        <p:spPr>
          <a:xfrm>
            <a:off x="2217173" y="2926080"/>
            <a:ext cx="73152" cy="73152"/>
          </a:xfrm>
          <a:prstGeom prst="ellipse">
            <a:avLst/>
          </a:prstGeom>
          <a:solidFill>
            <a:srgbClr val="4A4F5C"/>
          </a:solidFill>
          <a:ln w="6350">
            <a:solidFill>
              <a:srgbClr val="23262E"/>
            </a:solidFill>
            <a:prstDash val="solid"/>
          </a:ln>
        </p:spPr>
      </p:sp>
      <p:sp>
        <p:nvSpPr>
          <p:cNvPr id="130" name="Shape 128"/>
          <p:cNvSpPr/>
          <p:nvPr/>
        </p:nvSpPr>
        <p:spPr>
          <a:xfrm>
            <a:off x="2396290" y="2633472"/>
            <a:ext cx="285082" cy="329184"/>
          </a:xfrm>
          <a:custGeom>
            <a:avLst/>
            <a:gdLst/>
            <a:ahLst/>
            <a:cxnLst/>
            <a:rect l="l" t="t" r="r" b="b"/>
            <a:pathLst>
              <a:path w="285082" h="329184">
                <a:moveTo>
                  <a:pt x="285082" y="246888"/>
                </a:moveTo>
                <a:lnTo>
                  <a:pt x="142541" y="329184"/>
                </a:lnTo>
                <a:lnTo>
                  <a:pt x="0" y="246888"/>
                </a:lnTo>
                <a:lnTo>
                  <a:pt x="0" y="82296"/>
                </a:lnTo>
                <a:lnTo>
                  <a:pt x="142541" y="0"/>
                </a:lnTo>
                <a:lnTo>
                  <a:pt x="285082" y="82296"/>
                </a:lnTo>
                <a:close/>
              </a:path>
            </a:pathLst>
          </a:custGeom>
          <a:ln w="12700">
            <a:solidFill>
              <a:srgbClr val="6B7385"/>
            </a:solidFill>
            <a:prstDash val="solid"/>
          </a:ln>
        </p:spPr>
      </p:sp>
      <p:sp>
        <p:nvSpPr>
          <p:cNvPr id="131" name="Shape 129"/>
          <p:cNvSpPr/>
          <p:nvPr/>
        </p:nvSpPr>
        <p:spPr>
          <a:xfrm>
            <a:off x="2644796" y="2843784"/>
            <a:ext cx="73152" cy="73152"/>
          </a:xfrm>
          <a:prstGeom prst="ellipse">
            <a:avLst/>
          </a:prstGeom>
          <a:solidFill>
            <a:srgbClr val="4A4F5C"/>
          </a:solidFill>
          <a:ln w="6350">
            <a:solidFill>
              <a:srgbClr val="23262E"/>
            </a:solidFill>
            <a:prstDash val="solid"/>
          </a:ln>
        </p:spPr>
      </p:sp>
      <p:sp>
        <p:nvSpPr>
          <p:cNvPr id="132" name="Shape 130"/>
          <p:cNvSpPr/>
          <p:nvPr/>
        </p:nvSpPr>
        <p:spPr>
          <a:xfrm>
            <a:off x="2502255" y="2926080"/>
            <a:ext cx="73152" cy="73152"/>
          </a:xfrm>
          <a:prstGeom prst="ellipse">
            <a:avLst/>
          </a:prstGeom>
          <a:solidFill>
            <a:srgbClr val="4A4F5C"/>
          </a:solidFill>
          <a:ln w="6350">
            <a:solidFill>
              <a:srgbClr val="23262E"/>
            </a:solidFill>
            <a:prstDash val="solid"/>
          </a:ln>
        </p:spPr>
      </p:sp>
      <p:sp>
        <p:nvSpPr>
          <p:cNvPr id="133" name="Shape 131"/>
          <p:cNvSpPr/>
          <p:nvPr/>
        </p:nvSpPr>
        <p:spPr>
          <a:xfrm>
            <a:off x="2644796" y="2679192"/>
            <a:ext cx="73152" cy="73152"/>
          </a:xfrm>
          <a:prstGeom prst="ellipse">
            <a:avLst/>
          </a:prstGeom>
          <a:solidFill>
            <a:srgbClr val="4A4F5C"/>
          </a:solidFill>
          <a:ln w="6350">
            <a:solidFill>
              <a:srgbClr val="23262E"/>
            </a:solidFill>
            <a:prstDash val="solid"/>
          </a:ln>
        </p:spPr>
      </p:sp>
      <p:sp>
        <p:nvSpPr>
          <p:cNvPr id="134" name="Shape 132"/>
          <p:cNvSpPr/>
          <p:nvPr/>
        </p:nvSpPr>
        <p:spPr>
          <a:xfrm>
            <a:off x="2788920" y="2286000"/>
            <a:ext cx="411480" cy="91"/>
          </a:xfrm>
          <a:prstGeom prst="line">
            <a:avLst/>
          </a:prstGeom>
          <a:noFill/>
          <a:ln w="25400">
            <a:solidFill>
              <a:srgbClr val="2A1F3D"/>
            </a:solidFill>
            <a:prstDash val="solid"/>
            <a:tailEnd type="triangle"/>
          </a:ln>
        </p:spPr>
      </p:sp>
      <p:sp>
        <p:nvSpPr>
          <p:cNvPr id="135" name="Text 133"/>
          <p:cNvSpPr/>
          <p:nvPr/>
        </p:nvSpPr>
        <p:spPr>
          <a:xfrm>
            <a:off x="2697480" y="1920240"/>
            <a:ext cx="640080" cy="201168"/>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roll up</a:t>
            </a:r>
            <a:endParaRPr lang="en-US" sz="1000" dirty="0"/>
          </a:p>
        </p:txBody>
      </p:sp>
      <p:sp>
        <p:nvSpPr>
          <p:cNvPr id="136" name="Text 134"/>
          <p:cNvSpPr/>
          <p:nvPr/>
        </p:nvSpPr>
        <p:spPr>
          <a:xfrm>
            <a:off x="3291840" y="1298448"/>
            <a:ext cx="256032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Carbon nanotube</a:t>
            </a:r>
            <a:endParaRPr lang="en-US" sz="1100" dirty="0"/>
          </a:p>
        </p:txBody>
      </p:sp>
      <p:sp>
        <p:nvSpPr>
          <p:cNvPr id="137" name="Shape 135"/>
          <p:cNvSpPr/>
          <p:nvPr/>
        </p:nvSpPr>
        <p:spPr>
          <a:xfrm>
            <a:off x="3429000" y="1874520"/>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38" name="Shape 136"/>
          <p:cNvSpPr/>
          <p:nvPr/>
        </p:nvSpPr>
        <p:spPr>
          <a:xfrm>
            <a:off x="3666240" y="2075688"/>
            <a:ext cx="64008" cy="64008"/>
          </a:xfrm>
          <a:prstGeom prst="ellipse">
            <a:avLst/>
          </a:prstGeom>
          <a:solidFill>
            <a:srgbClr val="4A4F5C"/>
          </a:solidFill>
          <a:ln w="6350">
            <a:solidFill>
              <a:srgbClr val="23262E"/>
            </a:solidFill>
            <a:prstDash val="solid"/>
          </a:ln>
        </p:spPr>
      </p:sp>
      <p:sp>
        <p:nvSpPr>
          <p:cNvPr id="139" name="Shape 137"/>
          <p:cNvSpPr/>
          <p:nvPr/>
        </p:nvSpPr>
        <p:spPr>
          <a:xfrm>
            <a:off x="3531618" y="2153412"/>
            <a:ext cx="64008" cy="64008"/>
          </a:xfrm>
          <a:prstGeom prst="ellipse">
            <a:avLst/>
          </a:prstGeom>
          <a:solidFill>
            <a:srgbClr val="4A4F5C"/>
          </a:solidFill>
          <a:ln w="6350">
            <a:solidFill>
              <a:srgbClr val="23262E"/>
            </a:solidFill>
            <a:prstDash val="solid"/>
          </a:ln>
        </p:spPr>
      </p:sp>
      <p:sp>
        <p:nvSpPr>
          <p:cNvPr id="140" name="Shape 138"/>
          <p:cNvSpPr/>
          <p:nvPr/>
        </p:nvSpPr>
        <p:spPr>
          <a:xfrm>
            <a:off x="3396996" y="2075688"/>
            <a:ext cx="64008" cy="64008"/>
          </a:xfrm>
          <a:prstGeom prst="ellipse">
            <a:avLst/>
          </a:prstGeom>
          <a:solidFill>
            <a:srgbClr val="4A4F5C"/>
          </a:solidFill>
          <a:ln w="6350">
            <a:solidFill>
              <a:srgbClr val="23262E"/>
            </a:solidFill>
            <a:prstDash val="solid"/>
          </a:ln>
        </p:spPr>
      </p:sp>
      <p:sp>
        <p:nvSpPr>
          <p:cNvPr id="141" name="Shape 139"/>
          <p:cNvSpPr/>
          <p:nvPr/>
        </p:nvSpPr>
        <p:spPr>
          <a:xfrm>
            <a:off x="3396996" y="1920240"/>
            <a:ext cx="64008" cy="64008"/>
          </a:xfrm>
          <a:prstGeom prst="ellipse">
            <a:avLst/>
          </a:prstGeom>
          <a:solidFill>
            <a:srgbClr val="4A4F5C"/>
          </a:solidFill>
          <a:ln w="6350">
            <a:solidFill>
              <a:srgbClr val="23262E"/>
            </a:solidFill>
            <a:prstDash val="solid"/>
          </a:ln>
        </p:spPr>
      </p:sp>
      <p:sp>
        <p:nvSpPr>
          <p:cNvPr id="142" name="Shape 140"/>
          <p:cNvSpPr/>
          <p:nvPr/>
        </p:nvSpPr>
        <p:spPr>
          <a:xfrm>
            <a:off x="3531618" y="1842516"/>
            <a:ext cx="64008" cy="64008"/>
          </a:xfrm>
          <a:prstGeom prst="ellipse">
            <a:avLst/>
          </a:prstGeom>
          <a:solidFill>
            <a:srgbClr val="4A4F5C"/>
          </a:solidFill>
          <a:ln w="6350">
            <a:solidFill>
              <a:srgbClr val="23262E"/>
            </a:solidFill>
            <a:prstDash val="solid"/>
          </a:ln>
        </p:spPr>
      </p:sp>
      <p:sp>
        <p:nvSpPr>
          <p:cNvPr id="143" name="Shape 141"/>
          <p:cNvSpPr/>
          <p:nvPr/>
        </p:nvSpPr>
        <p:spPr>
          <a:xfrm>
            <a:off x="3666240" y="1920240"/>
            <a:ext cx="64008" cy="64008"/>
          </a:xfrm>
          <a:prstGeom prst="ellipse">
            <a:avLst/>
          </a:prstGeom>
          <a:solidFill>
            <a:srgbClr val="4A4F5C"/>
          </a:solidFill>
          <a:ln w="6350">
            <a:solidFill>
              <a:srgbClr val="23262E"/>
            </a:solidFill>
            <a:prstDash val="solid"/>
          </a:ln>
        </p:spPr>
      </p:sp>
      <p:sp>
        <p:nvSpPr>
          <p:cNvPr id="144" name="Shape 142"/>
          <p:cNvSpPr/>
          <p:nvPr/>
        </p:nvSpPr>
        <p:spPr>
          <a:xfrm>
            <a:off x="3698244" y="1874520"/>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45" name="Shape 143"/>
          <p:cNvSpPr/>
          <p:nvPr/>
        </p:nvSpPr>
        <p:spPr>
          <a:xfrm>
            <a:off x="3935484" y="2075688"/>
            <a:ext cx="64008" cy="64008"/>
          </a:xfrm>
          <a:prstGeom prst="ellipse">
            <a:avLst/>
          </a:prstGeom>
          <a:solidFill>
            <a:srgbClr val="4A4F5C"/>
          </a:solidFill>
          <a:ln w="6350">
            <a:solidFill>
              <a:srgbClr val="23262E"/>
            </a:solidFill>
            <a:prstDash val="solid"/>
          </a:ln>
        </p:spPr>
      </p:sp>
      <p:sp>
        <p:nvSpPr>
          <p:cNvPr id="146" name="Shape 144"/>
          <p:cNvSpPr/>
          <p:nvPr/>
        </p:nvSpPr>
        <p:spPr>
          <a:xfrm>
            <a:off x="3800862" y="2153412"/>
            <a:ext cx="64008" cy="64008"/>
          </a:xfrm>
          <a:prstGeom prst="ellipse">
            <a:avLst/>
          </a:prstGeom>
          <a:solidFill>
            <a:srgbClr val="4A4F5C"/>
          </a:solidFill>
          <a:ln w="6350">
            <a:solidFill>
              <a:srgbClr val="23262E"/>
            </a:solidFill>
            <a:prstDash val="solid"/>
          </a:ln>
        </p:spPr>
      </p:sp>
      <p:sp>
        <p:nvSpPr>
          <p:cNvPr id="147" name="Shape 145"/>
          <p:cNvSpPr/>
          <p:nvPr/>
        </p:nvSpPr>
        <p:spPr>
          <a:xfrm>
            <a:off x="3800862" y="1842516"/>
            <a:ext cx="64008" cy="64008"/>
          </a:xfrm>
          <a:prstGeom prst="ellipse">
            <a:avLst/>
          </a:prstGeom>
          <a:solidFill>
            <a:srgbClr val="4A4F5C"/>
          </a:solidFill>
          <a:ln w="6350">
            <a:solidFill>
              <a:srgbClr val="23262E"/>
            </a:solidFill>
            <a:prstDash val="solid"/>
          </a:ln>
        </p:spPr>
      </p:sp>
      <p:sp>
        <p:nvSpPr>
          <p:cNvPr id="148" name="Shape 146"/>
          <p:cNvSpPr/>
          <p:nvPr/>
        </p:nvSpPr>
        <p:spPr>
          <a:xfrm>
            <a:off x="3935484" y="1920240"/>
            <a:ext cx="64008" cy="64008"/>
          </a:xfrm>
          <a:prstGeom prst="ellipse">
            <a:avLst/>
          </a:prstGeom>
          <a:solidFill>
            <a:srgbClr val="4A4F5C"/>
          </a:solidFill>
          <a:ln w="6350">
            <a:solidFill>
              <a:srgbClr val="23262E"/>
            </a:solidFill>
            <a:prstDash val="solid"/>
          </a:ln>
        </p:spPr>
      </p:sp>
      <p:sp>
        <p:nvSpPr>
          <p:cNvPr id="149" name="Shape 147"/>
          <p:cNvSpPr/>
          <p:nvPr/>
        </p:nvSpPr>
        <p:spPr>
          <a:xfrm>
            <a:off x="3967488" y="1874520"/>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50" name="Shape 148"/>
          <p:cNvSpPr/>
          <p:nvPr/>
        </p:nvSpPr>
        <p:spPr>
          <a:xfrm>
            <a:off x="4204728" y="2075688"/>
            <a:ext cx="64008" cy="64008"/>
          </a:xfrm>
          <a:prstGeom prst="ellipse">
            <a:avLst/>
          </a:prstGeom>
          <a:solidFill>
            <a:srgbClr val="4A4F5C"/>
          </a:solidFill>
          <a:ln w="6350">
            <a:solidFill>
              <a:srgbClr val="23262E"/>
            </a:solidFill>
            <a:prstDash val="solid"/>
          </a:ln>
        </p:spPr>
      </p:sp>
      <p:sp>
        <p:nvSpPr>
          <p:cNvPr id="151" name="Shape 149"/>
          <p:cNvSpPr/>
          <p:nvPr/>
        </p:nvSpPr>
        <p:spPr>
          <a:xfrm>
            <a:off x="4070106" y="2153412"/>
            <a:ext cx="64008" cy="64008"/>
          </a:xfrm>
          <a:prstGeom prst="ellipse">
            <a:avLst/>
          </a:prstGeom>
          <a:solidFill>
            <a:srgbClr val="4A4F5C"/>
          </a:solidFill>
          <a:ln w="6350">
            <a:solidFill>
              <a:srgbClr val="23262E"/>
            </a:solidFill>
            <a:prstDash val="solid"/>
          </a:ln>
        </p:spPr>
      </p:sp>
      <p:sp>
        <p:nvSpPr>
          <p:cNvPr id="152" name="Shape 150"/>
          <p:cNvSpPr/>
          <p:nvPr/>
        </p:nvSpPr>
        <p:spPr>
          <a:xfrm>
            <a:off x="4070106" y="1842516"/>
            <a:ext cx="64008" cy="64008"/>
          </a:xfrm>
          <a:prstGeom prst="ellipse">
            <a:avLst/>
          </a:prstGeom>
          <a:solidFill>
            <a:srgbClr val="4A4F5C"/>
          </a:solidFill>
          <a:ln w="6350">
            <a:solidFill>
              <a:srgbClr val="23262E"/>
            </a:solidFill>
            <a:prstDash val="solid"/>
          </a:ln>
        </p:spPr>
      </p:sp>
      <p:sp>
        <p:nvSpPr>
          <p:cNvPr id="153" name="Shape 151"/>
          <p:cNvSpPr/>
          <p:nvPr/>
        </p:nvSpPr>
        <p:spPr>
          <a:xfrm>
            <a:off x="4204728" y="1920240"/>
            <a:ext cx="64008" cy="64008"/>
          </a:xfrm>
          <a:prstGeom prst="ellipse">
            <a:avLst/>
          </a:prstGeom>
          <a:solidFill>
            <a:srgbClr val="4A4F5C"/>
          </a:solidFill>
          <a:ln w="6350">
            <a:solidFill>
              <a:srgbClr val="23262E"/>
            </a:solidFill>
            <a:prstDash val="solid"/>
          </a:ln>
        </p:spPr>
      </p:sp>
      <p:sp>
        <p:nvSpPr>
          <p:cNvPr id="154" name="Shape 152"/>
          <p:cNvSpPr/>
          <p:nvPr/>
        </p:nvSpPr>
        <p:spPr>
          <a:xfrm>
            <a:off x="4236732" y="1874520"/>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55" name="Shape 153"/>
          <p:cNvSpPr/>
          <p:nvPr/>
        </p:nvSpPr>
        <p:spPr>
          <a:xfrm>
            <a:off x="4473971" y="2075688"/>
            <a:ext cx="64008" cy="64008"/>
          </a:xfrm>
          <a:prstGeom prst="ellipse">
            <a:avLst/>
          </a:prstGeom>
          <a:solidFill>
            <a:srgbClr val="4A4F5C"/>
          </a:solidFill>
          <a:ln w="6350">
            <a:solidFill>
              <a:srgbClr val="23262E"/>
            </a:solidFill>
            <a:prstDash val="solid"/>
          </a:ln>
        </p:spPr>
      </p:sp>
      <p:sp>
        <p:nvSpPr>
          <p:cNvPr id="156" name="Shape 154"/>
          <p:cNvSpPr/>
          <p:nvPr/>
        </p:nvSpPr>
        <p:spPr>
          <a:xfrm>
            <a:off x="4339349" y="2153412"/>
            <a:ext cx="64008" cy="64008"/>
          </a:xfrm>
          <a:prstGeom prst="ellipse">
            <a:avLst/>
          </a:prstGeom>
          <a:solidFill>
            <a:srgbClr val="4A4F5C"/>
          </a:solidFill>
          <a:ln w="6350">
            <a:solidFill>
              <a:srgbClr val="23262E"/>
            </a:solidFill>
            <a:prstDash val="solid"/>
          </a:ln>
        </p:spPr>
      </p:sp>
      <p:sp>
        <p:nvSpPr>
          <p:cNvPr id="157" name="Shape 155"/>
          <p:cNvSpPr/>
          <p:nvPr/>
        </p:nvSpPr>
        <p:spPr>
          <a:xfrm>
            <a:off x="4339349" y="1842516"/>
            <a:ext cx="64008" cy="64008"/>
          </a:xfrm>
          <a:prstGeom prst="ellipse">
            <a:avLst/>
          </a:prstGeom>
          <a:solidFill>
            <a:srgbClr val="4A4F5C"/>
          </a:solidFill>
          <a:ln w="6350">
            <a:solidFill>
              <a:srgbClr val="23262E"/>
            </a:solidFill>
            <a:prstDash val="solid"/>
          </a:ln>
        </p:spPr>
      </p:sp>
      <p:sp>
        <p:nvSpPr>
          <p:cNvPr id="158" name="Shape 156"/>
          <p:cNvSpPr/>
          <p:nvPr/>
        </p:nvSpPr>
        <p:spPr>
          <a:xfrm>
            <a:off x="4473971" y="1920240"/>
            <a:ext cx="64008" cy="64008"/>
          </a:xfrm>
          <a:prstGeom prst="ellipse">
            <a:avLst/>
          </a:prstGeom>
          <a:solidFill>
            <a:srgbClr val="4A4F5C"/>
          </a:solidFill>
          <a:ln w="6350">
            <a:solidFill>
              <a:srgbClr val="23262E"/>
            </a:solidFill>
            <a:prstDash val="solid"/>
          </a:ln>
        </p:spPr>
      </p:sp>
      <p:sp>
        <p:nvSpPr>
          <p:cNvPr id="159" name="Shape 157"/>
          <p:cNvSpPr/>
          <p:nvPr/>
        </p:nvSpPr>
        <p:spPr>
          <a:xfrm>
            <a:off x="4505975" y="1874520"/>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60" name="Shape 158"/>
          <p:cNvSpPr/>
          <p:nvPr/>
        </p:nvSpPr>
        <p:spPr>
          <a:xfrm>
            <a:off x="4743215" y="2075688"/>
            <a:ext cx="64008" cy="64008"/>
          </a:xfrm>
          <a:prstGeom prst="ellipse">
            <a:avLst/>
          </a:prstGeom>
          <a:solidFill>
            <a:srgbClr val="4A4F5C"/>
          </a:solidFill>
          <a:ln w="6350">
            <a:solidFill>
              <a:srgbClr val="23262E"/>
            </a:solidFill>
            <a:prstDash val="solid"/>
          </a:ln>
        </p:spPr>
      </p:sp>
      <p:sp>
        <p:nvSpPr>
          <p:cNvPr id="161" name="Shape 159"/>
          <p:cNvSpPr/>
          <p:nvPr/>
        </p:nvSpPr>
        <p:spPr>
          <a:xfrm>
            <a:off x="4608593" y="2153412"/>
            <a:ext cx="64008" cy="64008"/>
          </a:xfrm>
          <a:prstGeom prst="ellipse">
            <a:avLst/>
          </a:prstGeom>
          <a:solidFill>
            <a:srgbClr val="4A4F5C"/>
          </a:solidFill>
          <a:ln w="6350">
            <a:solidFill>
              <a:srgbClr val="23262E"/>
            </a:solidFill>
            <a:prstDash val="solid"/>
          </a:ln>
        </p:spPr>
      </p:sp>
      <p:sp>
        <p:nvSpPr>
          <p:cNvPr id="162" name="Shape 160"/>
          <p:cNvSpPr/>
          <p:nvPr/>
        </p:nvSpPr>
        <p:spPr>
          <a:xfrm>
            <a:off x="4608593" y="1842516"/>
            <a:ext cx="64008" cy="64008"/>
          </a:xfrm>
          <a:prstGeom prst="ellipse">
            <a:avLst/>
          </a:prstGeom>
          <a:solidFill>
            <a:srgbClr val="4A4F5C"/>
          </a:solidFill>
          <a:ln w="6350">
            <a:solidFill>
              <a:srgbClr val="23262E"/>
            </a:solidFill>
            <a:prstDash val="solid"/>
          </a:ln>
        </p:spPr>
      </p:sp>
      <p:sp>
        <p:nvSpPr>
          <p:cNvPr id="163" name="Shape 161"/>
          <p:cNvSpPr/>
          <p:nvPr/>
        </p:nvSpPr>
        <p:spPr>
          <a:xfrm>
            <a:off x="4743215" y="1920240"/>
            <a:ext cx="64008" cy="64008"/>
          </a:xfrm>
          <a:prstGeom prst="ellipse">
            <a:avLst/>
          </a:prstGeom>
          <a:solidFill>
            <a:srgbClr val="4A4F5C"/>
          </a:solidFill>
          <a:ln w="6350">
            <a:solidFill>
              <a:srgbClr val="23262E"/>
            </a:solidFill>
            <a:prstDash val="solid"/>
          </a:ln>
        </p:spPr>
      </p:sp>
      <p:sp>
        <p:nvSpPr>
          <p:cNvPr id="164" name="Shape 162"/>
          <p:cNvSpPr/>
          <p:nvPr/>
        </p:nvSpPr>
        <p:spPr>
          <a:xfrm>
            <a:off x="4775219" y="1874520"/>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65" name="Shape 163"/>
          <p:cNvSpPr/>
          <p:nvPr/>
        </p:nvSpPr>
        <p:spPr>
          <a:xfrm>
            <a:off x="5012459" y="2075688"/>
            <a:ext cx="64008" cy="64008"/>
          </a:xfrm>
          <a:prstGeom prst="ellipse">
            <a:avLst/>
          </a:prstGeom>
          <a:solidFill>
            <a:srgbClr val="4A4F5C"/>
          </a:solidFill>
          <a:ln w="6350">
            <a:solidFill>
              <a:srgbClr val="23262E"/>
            </a:solidFill>
            <a:prstDash val="solid"/>
          </a:ln>
        </p:spPr>
      </p:sp>
      <p:sp>
        <p:nvSpPr>
          <p:cNvPr id="166" name="Shape 164"/>
          <p:cNvSpPr/>
          <p:nvPr/>
        </p:nvSpPr>
        <p:spPr>
          <a:xfrm>
            <a:off x="4877837" y="2153412"/>
            <a:ext cx="64008" cy="64008"/>
          </a:xfrm>
          <a:prstGeom prst="ellipse">
            <a:avLst/>
          </a:prstGeom>
          <a:solidFill>
            <a:srgbClr val="4A4F5C"/>
          </a:solidFill>
          <a:ln w="6350">
            <a:solidFill>
              <a:srgbClr val="23262E"/>
            </a:solidFill>
            <a:prstDash val="solid"/>
          </a:ln>
        </p:spPr>
      </p:sp>
      <p:sp>
        <p:nvSpPr>
          <p:cNvPr id="167" name="Shape 165"/>
          <p:cNvSpPr/>
          <p:nvPr/>
        </p:nvSpPr>
        <p:spPr>
          <a:xfrm>
            <a:off x="4877837" y="1842516"/>
            <a:ext cx="64008" cy="64008"/>
          </a:xfrm>
          <a:prstGeom prst="ellipse">
            <a:avLst/>
          </a:prstGeom>
          <a:solidFill>
            <a:srgbClr val="4A4F5C"/>
          </a:solidFill>
          <a:ln w="6350">
            <a:solidFill>
              <a:srgbClr val="23262E"/>
            </a:solidFill>
            <a:prstDash val="solid"/>
          </a:ln>
        </p:spPr>
      </p:sp>
      <p:sp>
        <p:nvSpPr>
          <p:cNvPr id="168" name="Shape 166"/>
          <p:cNvSpPr/>
          <p:nvPr/>
        </p:nvSpPr>
        <p:spPr>
          <a:xfrm>
            <a:off x="5012459" y="1920240"/>
            <a:ext cx="64008" cy="64008"/>
          </a:xfrm>
          <a:prstGeom prst="ellipse">
            <a:avLst/>
          </a:prstGeom>
          <a:solidFill>
            <a:srgbClr val="4A4F5C"/>
          </a:solidFill>
          <a:ln w="6350">
            <a:solidFill>
              <a:srgbClr val="23262E"/>
            </a:solidFill>
            <a:prstDash val="solid"/>
          </a:ln>
        </p:spPr>
      </p:sp>
      <p:sp>
        <p:nvSpPr>
          <p:cNvPr id="169" name="Shape 167"/>
          <p:cNvSpPr/>
          <p:nvPr/>
        </p:nvSpPr>
        <p:spPr>
          <a:xfrm>
            <a:off x="5044463" y="1874520"/>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70" name="Shape 168"/>
          <p:cNvSpPr/>
          <p:nvPr/>
        </p:nvSpPr>
        <p:spPr>
          <a:xfrm>
            <a:off x="5281703" y="2075688"/>
            <a:ext cx="64008" cy="64008"/>
          </a:xfrm>
          <a:prstGeom prst="ellipse">
            <a:avLst/>
          </a:prstGeom>
          <a:solidFill>
            <a:srgbClr val="4A4F5C"/>
          </a:solidFill>
          <a:ln w="6350">
            <a:solidFill>
              <a:srgbClr val="23262E"/>
            </a:solidFill>
            <a:prstDash val="solid"/>
          </a:ln>
        </p:spPr>
      </p:sp>
      <p:sp>
        <p:nvSpPr>
          <p:cNvPr id="171" name="Shape 169"/>
          <p:cNvSpPr/>
          <p:nvPr/>
        </p:nvSpPr>
        <p:spPr>
          <a:xfrm>
            <a:off x="5147081" y="2153412"/>
            <a:ext cx="64008" cy="64008"/>
          </a:xfrm>
          <a:prstGeom prst="ellipse">
            <a:avLst/>
          </a:prstGeom>
          <a:solidFill>
            <a:srgbClr val="4A4F5C"/>
          </a:solidFill>
          <a:ln w="6350">
            <a:solidFill>
              <a:srgbClr val="23262E"/>
            </a:solidFill>
            <a:prstDash val="solid"/>
          </a:ln>
        </p:spPr>
      </p:sp>
      <p:sp>
        <p:nvSpPr>
          <p:cNvPr id="172" name="Shape 170"/>
          <p:cNvSpPr/>
          <p:nvPr/>
        </p:nvSpPr>
        <p:spPr>
          <a:xfrm>
            <a:off x="5147081" y="1842516"/>
            <a:ext cx="64008" cy="64008"/>
          </a:xfrm>
          <a:prstGeom prst="ellipse">
            <a:avLst/>
          </a:prstGeom>
          <a:solidFill>
            <a:srgbClr val="4A4F5C"/>
          </a:solidFill>
          <a:ln w="6350">
            <a:solidFill>
              <a:srgbClr val="23262E"/>
            </a:solidFill>
            <a:prstDash val="solid"/>
          </a:ln>
        </p:spPr>
      </p:sp>
      <p:sp>
        <p:nvSpPr>
          <p:cNvPr id="173" name="Shape 171"/>
          <p:cNvSpPr/>
          <p:nvPr/>
        </p:nvSpPr>
        <p:spPr>
          <a:xfrm>
            <a:off x="5281703" y="1920240"/>
            <a:ext cx="64008" cy="64008"/>
          </a:xfrm>
          <a:prstGeom prst="ellipse">
            <a:avLst/>
          </a:prstGeom>
          <a:solidFill>
            <a:srgbClr val="4A4F5C"/>
          </a:solidFill>
          <a:ln w="6350">
            <a:solidFill>
              <a:srgbClr val="23262E"/>
            </a:solidFill>
            <a:prstDash val="solid"/>
          </a:ln>
        </p:spPr>
      </p:sp>
      <p:sp>
        <p:nvSpPr>
          <p:cNvPr id="174" name="Shape 172"/>
          <p:cNvSpPr/>
          <p:nvPr/>
        </p:nvSpPr>
        <p:spPr>
          <a:xfrm>
            <a:off x="5313707" y="1874520"/>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75" name="Shape 173"/>
          <p:cNvSpPr/>
          <p:nvPr/>
        </p:nvSpPr>
        <p:spPr>
          <a:xfrm>
            <a:off x="5550947" y="2075688"/>
            <a:ext cx="64008" cy="64008"/>
          </a:xfrm>
          <a:prstGeom prst="ellipse">
            <a:avLst/>
          </a:prstGeom>
          <a:solidFill>
            <a:srgbClr val="4A4F5C"/>
          </a:solidFill>
          <a:ln w="6350">
            <a:solidFill>
              <a:srgbClr val="23262E"/>
            </a:solidFill>
            <a:prstDash val="solid"/>
          </a:ln>
        </p:spPr>
      </p:sp>
      <p:sp>
        <p:nvSpPr>
          <p:cNvPr id="176" name="Shape 174"/>
          <p:cNvSpPr/>
          <p:nvPr/>
        </p:nvSpPr>
        <p:spPr>
          <a:xfrm>
            <a:off x="5416325" y="2153412"/>
            <a:ext cx="64008" cy="64008"/>
          </a:xfrm>
          <a:prstGeom prst="ellipse">
            <a:avLst/>
          </a:prstGeom>
          <a:solidFill>
            <a:srgbClr val="4A4F5C"/>
          </a:solidFill>
          <a:ln w="6350">
            <a:solidFill>
              <a:srgbClr val="23262E"/>
            </a:solidFill>
            <a:prstDash val="solid"/>
          </a:ln>
        </p:spPr>
      </p:sp>
      <p:sp>
        <p:nvSpPr>
          <p:cNvPr id="177" name="Shape 175"/>
          <p:cNvSpPr/>
          <p:nvPr/>
        </p:nvSpPr>
        <p:spPr>
          <a:xfrm>
            <a:off x="5416325" y="1842516"/>
            <a:ext cx="64008" cy="64008"/>
          </a:xfrm>
          <a:prstGeom prst="ellipse">
            <a:avLst/>
          </a:prstGeom>
          <a:solidFill>
            <a:srgbClr val="4A4F5C"/>
          </a:solidFill>
          <a:ln w="6350">
            <a:solidFill>
              <a:srgbClr val="23262E"/>
            </a:solidFill>
            <a:prstDash val="solid"/>
          </a:ln>
        </p:spPr>
      </p:sp>
      <p:sp>
        <p:nvSpPr>
          <p:cNvPr id="178" name="Shape 176"/>
          <p:cNvSpPr/>
          <p:nvPr/>
        </p:nvSpPr>
        <p:spPr>
          <a:xfrm>
            <a:off x="5550947" y="1920240"/>
            <a:ext cx="64008" cy="64008"/>
          </a:xfrm>
          <a:prstGeom prst="ellipse">
            <a:avLst/>
          </a:prstGeom>
          <a:solidFill>
            <a:srgbClr val="4A4F5C"/>
          </a:solidFill>
          <a:ln w="6350">
            <a:solidFill>
              <a:srgbClr val="23262E"/>
            </a:solidFill>
            <a:prstDash val="solid"/>
          </a:ln>
        </p:spPr>
      </p:sp>
      <p:sp>
        <p:nvSpPr>
          <p:cNvPr id="179" name="Shape 177"/>
          <p:cNvSpPr/>
          <p:nvPr/>
        </p:nvSpPr>
        <p:spPr>
          <a:xfrm>
            <a:off x="3563622" y="2107692"/>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80" name="Shape 178"/>
          <p:cNvSpPr/>
          <p:nvPr/>
        </p:nvSpPr>
        <p:spPr>
          <a:xfrm>
            <a:off x="3800862" y="2308860"/>
            <a:ext cx="64008" cy="64008"/>
          </a:xfrm>
          <a:prstGeom prst="ellipse">
            <a:avLst/>
          </a:prstGeom>
          <a:solidFill>
            <a:srgbClr val="4A4F5C"/>
          </a:solidFill>
          <a:ln w="6350">
            <a:solidFill>
              <a:srgbClr val="23262E"/>
            </a:solidFill>
            <a:prstDash val="solid"/>
          </a:ln>
        </p:spPr>
      </p:sp>
      <p:sp>
        <p:nvSpPr>
          <p:cNvPr id="181" name="Shape 179"/>
          <p:cNvSpPr/>
          <p:nvPr/>
        </p:nvSpPr>
        <p:spPr>
          <a:xfrm>
            <a:off x="3666240" y="2386584"/>
            <a:ext cx="64008" cy="64008"/>
          </a:xfrm>
          <a:prstGeom prst="ellipse">
            <a:avLst/>
          </a:prstGeom>
          <a:solidFill>
            <a:srgbClr val="4A4F5C"/>
          </a:solidFill>
          <a:ln w="6350">
            <a:solidFill>
              <a:srgbClr val="23262E"/>
            </a:solidFill>
            <a:prstDash val="solid"/>
          </a:ln>
        </p:spPr>
      </p:sp>
      <p:sp>
        <p:nvSpPr>
          <p:cNvPr id="182" name="Shape 180"/>
          <p:cNvSpPr/>
          <p:nvPr/>
        </p:nvSpPr>
        <p:spPr>
          <a:xfrm>
            <a:off x="3531618" y="2308860"/>
            <a:ext cx="64008" cy="64008"/>
          </a:xfrm>
          <a:prstGeom prst="ellipse">
            <a:avLst/>
          </a:prstGeom>
          <a:solidFill>
            <a:srgbClr val="4A4F5C"/>
          </a:solidFill>
          <a:ln w="6350">
            <a:solidFill>
              <a:srgbClr val="23262E"/>
            </a:solidFill>
            <a:prstDash val="solid"/>
          </a:ln>
        </p:spPr>
      </p:sp>
      <p:sp>
        <p:nvSpPr>
          <p:cNvPr id="183" name="Shape 181"/>
          <p:cNvSpPr/>
          <p:nvPr/>
        </p:nvSpPr>
        <p:spPr>
          <a:xfrm>
            <a:off x="3832866" y="2107692"/>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84" name="Shape 182"/>
          <p:cNvSpPr/>
          <p:nvPr/>
        </p:nvSpPr>
        <p:spPr>
          <a:xfrm>
            <a:off x="4070106" y="2308860"/>
            <a:ext cx="64008" cy="64008"/>
          </a:xfrm>
          <a:prstGeom prst="ellipse">
            <a:avLst/>
          </a:prstGeom>
          <a:solidFill>
            <a:srgbClr val="4A4F5C"/>
          </a:solidFill>
          <a:ln w="6350">
            <a:solidFill>
              <a:srgbClr val="23262E"/>
            </a:solidFill>
            <a:prstDash val="solid"/>
          </a:ln>
        </p:spPr>
      </p:sp>
      <p:sp>
        <p:nvSpPr>
          <p:cNvPr id="185" name="Shape 183"/>
          <p:cNvSpPr/>
          <p:nvPr/>
        </p:nvSpPr>
        <p:spPr>
          <a:xfrm>
            <a:off x="3935484" y="2386584"/>
            <a:ext cx="64008" cy="64008"/>
          </a:xfrm>
          <a:prstGeom prst="ellipse">
            <a:avLst/>
          </a:prstGeom>
          <a:solidFill>
            <a:srgbClr val="4A4F5C"/>
          </a:solidFill>
          <a:ln w="6350">
            <a:solidFill>
              <a:srgbClr val="23262E"/>
            </a:solidFill>
            <a:prstDash val="solid"/>
          </a:ln>
        </p:spPr>
      </p:sp>
      <p:sp>
        <p:nvSpPr>
          <p:cNvPr id="186" name="Shape 184"/>
          <p:cNvSpPr/>
          <p:nvPr/>
        </p:nvSpPr>
        <p:spPr>
          <a:xfrm>
            <a:off x="4102110" y="2107692"/>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87" name="Shape 185"/>
          <p:cNvSpPr/>
          <p:nvPr/>
        </p:nvSpPr>
        <p:spPr>
          <a:xfrm>
            <a:off x="4339349" y="2308860"/>
            <a:ext cx="64008" cy="64008"/>
          </a:xfrm>
          <a:prstGeom prst="ellipse">
            <a:avLst/>
          </a:prstGeom>
          <a:solidFill>
            <a:srgbClr val="4A4F5C"/>
          </a:solidFill>
          <a:ln w="6350">
            <a:solidFill>
              <a:srgbClr val="23262E"/>
            </a:solidFill>
            <a:prstDash val="solid"/>
          </a:ln>
        </p:spPr>
      </p:sp>
      <p:sp>
        <p:nvSpPr>
          <p:cNvPr id="188" name="Shape 186"/>
          <p:cNvSpPr/>
          <p:nvPr/>
        </p:nvSpPr>
        <p:spPr>
          <a:xfrm>
            <a:off x="4204728" y="2386584"/>
            <a:ext cx="64008" cy="64008"/>
          </a:xfrm>
          <a:prstGeom prst="ellipse">
            <a:avLst/>
          </a:prstGeom>
          <a:solidFill>
            <a:srgbClr val="4A4F5C"/>
          </a:solidFill>
          <a:ln w="6350">
            <a:solidFill>
              <a:srgbClr val="23262E"/>
            </a:solidFill>
            <a:prstDash val="solid"/>
          </a:ln>
        </p:spPr>
      </p:sp>
      <p:sp>
        <p:nvSpPr>
          <p:cNvPr id="189" name="Shape 187"/>
          <p:cNvSpPr/>
          <p:nvPr/>
        </p:nvSpPr>
        <p:spPr>
          <a:xfrm>
            <a:off x="4371353" y="2107692"/>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90" name="Shape 188"/>
          <p:cNvSpPr/>
          <p:nvPr/>
        </p:nvSpPr>
        <p:spPr>
          <a:xfrm>
            <a:off x="4608593" y="2308860"/>
            <a:ext cx="64008" cy="64008"/>
          </a:xfrm>
          <a:prstGeom prst="ellipse">
            <a:avLst/>
          </a:prstGeom>
          <a:solidFill>
            <a:srgbClr val="4A4F5C"/>
          </a:solidFill>
          <a:ln w="6350">
            <a:solidFill>
              <a:srgbClr val="23262E"/>
            </a:solidFill>
            <a:prstDash val="solid"/>
          </a:ln>
        </p:spPr>
      </p:sp>
      <p:sp>
        <p:nvSpPr>
          <p:cNvPr id="191" name="Shape 189"/>
          <p:cNvSpPr/>
          <p:nvPr/>
        </p:nvSpPr>
        <p:spPr>
          <a:xfrm>
            <a:off x="4473971" y="2386584"/>
            <a:ext cx="64008" cy="64008"/>
          </a:xfrm>
          <a:prstGeom prst="ellipse">
            <a:avLst/>
          </a:prstGeom>
          <a:solidFill>
            <a:srgbClr val="4A4F5C"/>
          </a:solidFill>
          <a:ln w="6350">
            <a:solidFill>
              <a:srgbClr val="23262E"/>
            </a:solidFill>
            <a:prstDash val="solid"/>
          </a:ln>
        </p:spPr>
      </p:sp>
      <p:sp>
        <p:nvSpPr>
          <p:cNvPr id="192" name="Shape 190"/>
          <p:cNvSpPr/>
          <p:nvPr/>
        </p:nvSpPr>
        <p:spPr>
          <a:xfrm>
            <a:off x="4640597" y="2107692"/>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93" name="Shape 191"/>
          <p:cNvSpPr/>
          <p:nvPr/>
        </p:nvSpPr>
        <p:spPr>
          <a:xfrm>
            <a:off x="4877837" y="2308860"/>
            <a:ext cx="64008" cy="64008"/>
          </a:xfrm>
          <a:prstGeom prst="ellipse">
            <a:avLst/>
          </a:prstGeom>
          <a:solidFill>
            <a:srgbClr val="4A4F5C"/>
          </a:solidFill>
          <a:ln w="6350">
            <a:solidFill>
              <a:srgbClr val="23262E"/>
            </a:solidFill>
            <a:prstDash val="solid"/>
          </a:ln>
        </p:spPr>
      </p:sp>
      <p:sp>
        <p:nvSpPr>
          <p:cNvPr id="194" name="Shape 192"/>
          <p:cNvSpPr/>
          <p:nvPr/>
        </p:nvSpPr>
        <p:spPr>
          <a:xfrm>
            <a:off x="4743215" y="2386584"/>
            <a:ext cx="64008" cy="64008"/>
          </a:xfrm>
          <a:prstGeom prst="ellipse">
            <a:avLst/>
          </a:prstGeom>
          <a:solidFill>
            <a:srgbClr val="4A4F5C"/>
          </a:solidFill>
          <a:ln w="6350">
            <a:solidFill>
              <a:srgbClr val="23262E"/>
            </a:solidFill>
            <a:prstDash val="solid"/>
          </a:ln>
        </p:spPr>
      </p:sp>
      <p:sp>
        <p:nvSpPr>
          <p:cNvPr id="195" name="Shape 193"/>
          <p:cNvSpPr/>
          <p:nvPr/>
        </p:nvSpPr>
        <p:spPr>
          <a:xfrm>
            <a:off x="4909841" y="2107692"/>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96" name="Shape 194"/>
          <p:cNvSpPr/>
          <p:nvPr/>
        </p:nvSpPr>
        <p:spPr>
          <a:xfrm>
            <a:off x="5147081" y="2308860"/>
            <a:ext cx="64008" cy="64008"/>
          </a:xfrm>
          <a:prstGeom prst="ellipse">
            <a:avLst/>
          </a:prstGeom>
          <a:solidFill>
            <a:srgbClr val="4A4F5C"/>
          </a:solidFill>
          <a:ln w="6350">
            <a:solidFill>
              <a:srgbClr val="23262E"/>
            </a:solidFill>
            <a:prstDash val="solid"/>
          </a:ln>
        </p:spPr>
      </p:sp>
      <p:sp>
        <p:nvSpPr>
          <p:cNvPr id="197" name="Shape 195"/>
          <p:cNvSpPr/>
          <p:nvPr/>
        </p:nvSpPr>
        <p:spPr>
          <a:xfrm>
            <a:off x="5012459" y="2386584"/>
            <a:ext cx="64008" cy="64008"/>
          </a:xfrm>
          <a:prstGeom prst="ellipse">
            <a:avLst/>
          </a:prstGeom>
          <a:solidFill>
            <a:srgbClr val="4A4F5C"/>
          </a:solidFill>
          <a:ln w="6350">
            <a:solidFill>
              <a:srgbClr val="23262E"/>
            </a:solidFill>
            <a:prstDash val="solid"/>
          </a:ln>
        </p:spPr>
      </p:sp>
      <p:sp>
        <p:nvSpPr>
          <p:cNvPr id="198" name="Shape 196"/>
          <p:cNvSpPr/>
          <p:nvPr/>
        </p:nvSpPr>
        <p:spPr>
          <a:xfrm>
            <a:off x="5179085" y="2107692"/>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199" name="Shape 197"/>
          <p:cNvSpPr/>
          <p:nvPr/>
        </p:nvSpPr>
        <p:spPr>
          <a:xfrm>
            <a:off x="5416325" y="2308860"/>
            <a:ext cx="64008" cy="64008"/>
          </a:xfrm>
          <a:prstGeom prst="ellipse">
            <a:avLst/>
          </a:prstGeom>
          <a:solidFill>
            <a:srgbClr val="4A4F5C"/>
          </a:solidFill>
          <a:ln w="6350">
            <a:solidFill>
              <a:srgbClr val="23262E"/>
            </a:solidFill>
            <a:prstDash val="solid"/>
          </a:ln>
        </p:spPr>
      </p:sp>
      <p:sp>
        <p:nvSpPr>
          <p:cNvPr id="200" name="Shape 198"/>
          <p:cNvSpPr/>
          <p:nvPr/>
        </p:nvSpPr>
        <p:spPr>
          <a:xfrm>
            <a:off x="5281703" y="2386584"/>
            <a:ext cx="64008" cy="64008"/>
          </a:xfrm>
          <a:prstGeom prst="ellipse">
            <a:avLst/>
          </a:prstGeom>
          <a:solidFill>
            <a:srgbClr val="4A4F5C"/>
          </a:solidFill>
          <a:ln w="6350">
            <a:solidFill>
              <a:srgbClr val="23262E"/>
            </a:solidFill>
            <a:prstDash val="solid"/>
          </a:ln>
        </p:spPr>
      </p:sp>
      <p:sp>
        <p:nvSpPr>
          <p:cNvPr id="201" name="Shape 199"/>
          <p:cNvSpPr/>
          <p:nvPr/>
        </p:nvSpPr>
        <p:spPr>
          <a:xfrm>
            <a:off x="3429000" y="2340864"/>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202" name="Shape 200"/>
          <p:cNvSpPr/>
          <p:nvPr/>
        </p:nvSpPr>
        <p:spPr>
          <a:xfrm>
            <a:off x="3666240" y="2542032"/>
            <a:ext cx="64008" cy="64008"/>
          </a:xfrm>
          <a:prstGeom prst="ellipse">
            <a:avLst/>
          </a:prstGeom>
          <a:solidFill>
            <a:srgbClr val="4A4F5C"/>
          </a:solidFill>
          <a:ln w="6350">
            <a:solidFill>
              <a:srgbClr val="23262E"/>
            </a:solidFill>
            <a:prstDash val="solid"/>
          </a:ln>
        </p:spPr>
      </p:sp>
      <p:sp>
        <p:nvSpPr>
          <p:cNvPr id="203" name="Shape 201"/>
          <p:cNvSpPr/>
          <p:nvPr/>
        </p:nvSpPr>
        <p:spPr>
          <a:xfrm>
            <a:off x="3531618" y="2619756"/>
            <a:ext cx="64008" cy="64008"/>
          </a:xfrm>
          <a:prstGeom prst="ellipse">
            <a:avLst/>
          </a:prstGeom>
          <a:solidFill>
            <a:srgbClr val="4A4F5C"/>
          </a:solidFill>
          <a:ln w="6350">
            <a:solidFill>
              <a:srgbClr val="23262E"/>
            </a:solidFill>
            <a:prstDash val="solid"/>
          </a:ln>
        </p:spPr>
      </p:sp>
      <p:sp>
        <p:nvSpPr>
          <p:cNvPr id="204" name="Shape 202"/>
          <p:cNvSpPr/>
          <p:nvPr/>
        </p:nvSpPr>
        <p:spPr>
          <a:xfrm>
            <a:off x="3396996" y="2542032"/>
            <a:ext cx="64008" cy="64008"/>
          </a:xfrm>
          <a:prstGeom prst="ellipse">
            <a:avLst/>
          </a:prstGeom>
          <a:solidFill>
            <a:srgbClr val="4A4F5C"/>
          </a:solidFill>
          <a:ln w="6350">
            <a:solidFill>
              <a:srgbClr val="23262E"/>
            </a:solidFill>
            <a:prstDash val="solid"/>
          </a:ln>
        </p:spPr>
      </p:sp>
      <p:sp>
        <p:nvSpPr>
          <p:cNvPr id="205" name="Shape 203"/>
          <p:cNvSpPr/>
          <p:nvPr/>
        </p:nvSpPr>
        <p:spPr>
          <a:xfrm>
            <a:off x="3396996" y="2386584"/>
            <a:ext cx="64008" cy="64008"/>
          </a:xfrm>
          <a:prstGeom prst="ellipse">
            <a:avLst/>
          </a:prstGeom>
          <a:solidFill>
            <a:srgbClr val="4A4F5C"/>
          </a:solidFill>
          <a:ln w="6350">
            <a:solidFill>
              <a:srgbClr val="23262E"/>
            </a:solidFill>
            <a:prstDash val="solid"/>
          </a:ln>
        </p:spPr>
      </p:sp>
      <p:sp>
        <p:nvSpPr>
          <p:cNvPr id="206" name="Shape 204"/>
          <p:cNvSpPr/>
          <p:nvPr/>
        </p:nvSpPr>
        <p:spPr>
          <a:xfrm>
            <a:off x="3698244" y="2340864"/>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207" name="Shape 205"/>
          <p:cNvSpPr/>
          <p:nvPr/>
        </p:nvSpPr>
        <p:spPr>
          <a:xfrm>
            <a:off x="3935484" y="2542032"/>
            <a:ext cx="64008" cy="64008"/>
          </a:xfrm>
          <a:prstGeom prst="ellipse">
            <a:avLst/>
          </a:prstGeom>
          <a:solidFill>
            <a:srgbClr val="4A4F5C"/>
          </a:solidFill>
          <a:ln w="6350">
            <a:solidFill>
              <a:srgbClr val="23262E"/>
            </a:solidFill>
            <a:prstDash val="solid"/>
          </a:ln>
        </p:spPr>
      </p:sp>
      <p:sp>
        <p:nvSpPr>
          <p:cNvPr id="208" name="Shape 206"/>
          <p:cNvSpPr/>
          <p:nvPr/>
        </p:nvSpPr>
        <p:spPr>
          <a:xfrm>
            <a:off x="3800862" y="2619756"/>
            <a:ext cx="64008" cy="64008"/>
          </a:xfrm>
          <a:prstGeom prst="ellipse">
            <a:avLst/>
          </a:prstGeom>
          <a:solidFill>
            <a:srgbClr val="4A4F5C"/>
          </a:solidFill>
          <a:ln w="6350">
            <a:solidFill>
              <a:srgbClr val="23262E"/>
            </a:solidFill>
            <a:prstDash val="solid"/>
          </a:ln>
        </p:spPr>
      </p:sp>
      <p:sp>
        <p:nvSpPr>
          <p:cNvPr id="209" name="Shape 207"/>
          <p:cNvSpPr/>
          <p:nvPr/>
        </p:nvSpPr>
        <p:spPr>
          <a:xfrm>
            <a:off x="3967488" y="2340864"/>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210" name="Shape 208"/>
          <p:cNvSpPr/>
          <p:nvPr/>
        </p:nvSpPr>
        <p:spPr>
          <a:xfrm>
            <a:off x="4204728" y="2542032"/>
            <a:ext cx="64008" cy="64008"/>
          </a:xfrm>
          <a:prstGeom prst="ellipse">
            <a:avLst/>
          </a:prstGeom>
          <a:solidFill>
            <a:srgbClr val="4A4F5C"/>
          </a:solidFill>
          <a:ln w="6350">
            <a:solidFill>
              <a:srgbClr val="23262E"/>
            </a:solidFill>
            <a:prstDash val="solid"/>
          </a:ln>
        </p:spPr>
      </p:sp>
      <p:sp>
        <p:nvSpPr>
          <p:cNvPr id="211" name="Shape 209"/>
          <p:cNvSpPr/>
          <p:nvPr/>
        </p:nvSpPr>
        <p:spPr>
          <a:xfrm>
            <a:off x="4070106" y="2619756"/>
            <a:ext cx="64008" cy="64008"/>
          </a:xfrm>
          <a:prstGeom prst="ellipse">
            <a:avLst/>
          </a:prstGeom>
          <a:solidFill>
            <a:srgbClr val="4A4F5C"/>
          </a:solidFill>
          <a:ln w="6350">
            <a:solidFill>
              <a:srgbClr val="23262E"/>
            </a:solidFill>
            <a:prstDash val="solid"/>
          </a:ln>
        </p:spPr>
      </p:sp>
      <p:sp>
        <p:nvSpPr>
          <p:cNvPr id="212" name="Shape 210"/>
          <p:cNvSpPr/>
          <p:nvPr/>
        </p:nvSpPr>
        <p:spPr>
          <a:xfrm>
            <a:off x="4236732" y="2340864"/>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213" name="Shape 211"/>
          <p:cNvSpPr/>
          <p:nvPr/>
        </p:nvSpPr>
        <p:spPr>
          <a:xfrm>
            <a:off x="4473971" y="2542032"/>
            <a:ext cx="64008" cy="64008"/>
          </a:xfrm>
          <a:prstGeom prst="ellipse">
            <a:avLst/>
          </a:prstGeom>
          <a:solidFill>
            <a:srgbClr val="4A4F5C"/>
          </a:solidFill>
          <a:ln w="6350">
            <a:solidFill>
              <a:srgbClr val="23262E"/>
            </a:solidFill>
            <a:prstDash val="solid"/>
          </a:ln>
        </p:spPr>
      </p:sp>
      <p:sp>
        <p:nvSpPr>
          <p:cNvPr id="214" name="Shape 212"/>
          <p:cNvSpPr/>
          <p:nvPr/>
        </p:nvSpPr>
        <p:spPr>
          <a:xfrm>
            <a:off x="4339349" y="2619756"/>
            <a:ext cx="64008" cy="64008"/>
          </a:xfrm>
          <a:prstGeom prst="ellipse">
            <a:avLst/>
          </a:prstGeom>
          <a:solidFill>
            <a:srgbClr val="4A4F5C"/>
          </a:solidFill>
          <a:ln w="6350">
            <a:solidFill>
              <a:srgbClr val="23262E"/>
            </a:solidFill>
            <a:prstDash val="solid"/>
          </a:ln>
        </p:spPr>
      </p:sp>
      <p:sp>
        <p:nvSpPr>
          <p:cNvPr id="215" name="Shape 213"/>
          <p:cNvSpPr/>
          <p:nvPr/>
        </p:nvSpPr>
        <p:spPr>
          <a:xfrm>
            <a:off x="4505975" y="2340864"/>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216" name="Shape 214"/>
          <p:cNvSpPr/>
          <p:nvPr/>
        </p:nvSpPr>
        <p:spPr>
          <a:xfrm>
            <a:off x="4743215" y="2542032"/>
            <a:ext cx="64008" cy="64008"/>
          </a:xfrm>
          <a:prstGeom prst="ellipse">
            <a:avLst/>
          </a:prstGeom>
          <a:solidFill>
            <a:srgbClr val="4A4F5C"/>
          </a:solidFill>
          <a:ln w="6350">
            <a:solidFill>
              <a:srgbClr val="23262E"/>
            </a:solidFill>
            <a:prstDash val="solid"/>
          </a:ln>
        </p:spPr>
      </p:sp>
      <p:sp>
        <p:nvSpPr>
          <p:cNvPr id="217" name="Shape 215"/>
          <p:cNvSpPr/>
          <p:nvPr/>
        </p:nvSpPr>
        <p:spPr>
          <a:xfrm>
            <a:off x="4608593" y="2619756"/>
            <a:ext cx="64008" cy="64008"/>
          </a:xfrm>
          <a:prstGeom prst="ellipse">
            <a:avLst/>
          </a:prstGeom>
          <a:solidFill>
            <a:srgbClr val="4A4F5C"/>
          </a:solidFill>
          <a:ln w="6350">
            <a:solidFill>
              <a:srgbClr val="23262E"/>
            </a:solidFill>
            <a:prstDash val="solid"/>
          </a:ln>
        </p:spPr>
      </p:sp>
      <p:sp>
        <p:nvSpPr>
          <p:cNvPr id="218" name="Shape 216"/>
          <p:cNvSpPr/>
          <p:nvPr/>
        </p:nvSpPr>
        <p:spPr>
          <a:xfrm>
            <a:off x="4775219" y="2340864"/>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219" name="Shape 217"/>
          <p:cNvSpPr/>
          <p:nvPr/>
        </p:nvSpPr>
        <p:spPr>
          <a:xfrm>
            <a:off x="5012459" y="2542032"/>
            <a:ext cx="64008" cy="64008"/>
          </a:xfrm>
          <a:prstGeom prst="ellipse">
            <a:avLst/>
          </a:prstGeom>
          <a:solidFill>
            <a:srgbClr val="4A4F5C"/>
          </a:solidFill>
          <a:ln w="6350">
            <a:solidFill>
              <a:srgbClr val="23262E"/>
            </a:solidFill>
            <a:prstDash val="solid"/>
          </a:ln>
        </p:spPr>
      </p:sp>
      <p:sp>
        <p:nvSpPr>
          <p:cNvPr id="220" name="Shape 218"/>
          <p:cNvSpPr/>
          <p:nvPr/>
        </p:nvSpPr>
        <p:spPr>
          <a:xfrm>
            <a:off x="4877837" y="2619756"/>
            <a:ext cx="64008" cy="64008"/>
          </a:xfrm>
          <a:prstGeom prst="ellipse">
            <a:avLst/>
          </a:prstGeom>
          <a:solidFill>
            <a:srgbClr val="4A4F5C"/>
          </a:solidFill>
          <a:ln w="6350">
            <a:solidFill>
              <a:srgbClr val="23262E"/>
            </a:solidFill>
            <a:prstDash val="solid"/>
          </a:ln>
        </p:spPr>
      </p:sp>
      <p:sp>
        <p:nvSpPr>
          <p:cNvPr id="221" name="Shape 219"/>
          <p:cNvSpPr/>
          <p:nvPr/>
        </p:nvSpPr>
        <p:spPr>
          <a:xfrm>
            <a:off x="5044463" y="2340864"/>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222" name="Shape 220"/>
          <p:cNvSpPr/>
          <p:nvPr/>
        </p:nvSpPr>
        <p:spPr>
          <a:xfrm>
            <a:off x="5281703" y="2542032"/>
            <a:ext cx="64008" cy="64008"/>
          </a:xfrm>
          <a:prstGeom prst="ellipse">
            <a:avLst/>
          </a:prstGeom>
          <a:solidFill>
            <a:srgbClr val="4A4F5C"/>
          </a:solidFill>
          <a:ln w="6350">
            <a:solidFill>
              <a:srgbClr val="23262E"/>
            </a:solidFill>
            <a:prstDash val="solid"/>
          </a:ln>
        </p:spPr>
      </p:sp>
      <p:sp>
        <p:nvSpPr>
          <p:cNvPr id="223" name="Shape 221"/>
          <p:cNvSpPr/>
          <p:nvPr/>
        </p:nvSpPr>
        <p:spPr>
          <a:xfrm>
            <a:off x="5147081" y="2619756"/>
            <a:ext cx="64008" cy="64008"/>
          </a:xfrm>
          <a:prstGeom prst="ellipse">
            <a:avLst/>
          </a:prstGeom>
          <a:solidFill>
            <a:srgbClr val="4A4F5C"/>
          </a:solidFill>
          <a:ln w="6350">
            <a:solidFill>
              <a:srgbClr val="23262E"/>
            </a:solidFill>
            <a:prstDash val="solid"/>
          </a:ln>
        </p:spPr>
      </p:sp>
      <p:sp>
        <p:nvSpPr>
          <p:cNvPr id="224" name="Shape 222"/>
          <p:cNvSpPr/>
          <p:nvPr/>
        </p:nvSpPr>
        <p:spPr>
          <a:xfrm>
            <a:off x="5313707" y="2340864"/>
            <a:ext cx="269244" cy="310896"/>
          </a:xfrm>
          <a:custGeom>
            <a:avLst/>
            <a:gdLst/>
            <a:ahLst/>
            <a:cxnLst/>
            <a:rect l="l" t="t" r="r" b="b"/>
            <a:pathLst>
              <a:path w="269244" h="310896">
                <a:moveTo>
                  <a:pt x="269244" y="233172"/>
                </a:moveTo>
                <a:lnTo>
                  <a:pt x="134622" y="310896"/>
                </a:lnTo>
                <a:lnTo>
                  <a:pt x="0" y="233172"/>
                </a:lnTo>
                <a:lnTo>
                  <a:pt x="0" y="77724"/>
                </a:lnTo>
                <a:lnTo>
                  <a:pt x="134622" y="0"/>
                </a:lnTo>
                <a:lnTo>
                  <a:pt x="269244" y="77724"/>
                </a:lnTo>
                <a:close/>
              </a:path>
            </a:pathLst>
          </a:custGeom>
          <a:ln w="9525">
            <a:solidFill>
              <a:srgbClr val="6B7385"/>
            </a:solidFill>
            <a:prstDash val="solid"/>
          </a:ln>
        </p:spPr>
      </p:sp>
      <p:sp>
        <p:nvSpPr>
          <p:cNvPr id="225" name="Shape 223"/>
          <p:cNvSpPr/>
          <p:nvPr/>
        </p:nvSpPr>
        <p:spPr>
          <a:xfrm>
            <a:off x="5550947" y="2542032"/>
            <a:ext cx="64008" cy="64008"/>
          </a:xfrm>
          <a:prstGeom prst="ellipse">
            <a:avLst/>
          </a:prstGeom>
          <a:solidFill>
            <a:srgbClr val="4A4F5C"/>
          </a:solidFill>
          <a:ln w="6350">
            <a:solidFill>
              <a:srgbClr val="23262E"/>
            </a:solidFill>
            <a:prstDash val="solid"/>
          </a:ln>
        </p:spPr>
      </p:sp>
      <p:sp>
        <p:nvSpPr>
          <p:cNvPr id="226" name="Shape 224"/>
          <p:cNvSpPr/>
          <p:nvPr/>
        </p:nvSpPr>
        <p:spPr>
          <a:xfrm>
            <a:off x="5416325" y="2619756"/>
            <a:ext cx="64008" cy="64008"/>
          </a:xfrm>
          <a:prstGeom prst="ellipse">
            <a:avLst/>
          </a:prstGeom>
          <a:solidFill>
            <a:srgbClr val="4A4F5C"/>
          </a:solidFill>
          <a:ln w="6350">
            <a:solidFill>
              <a:srgbClr val="23262E"/>
            </a:solidFill>
            <a:prstDash val="solid"/>
          </a:ln>
        </p:spPr>
      </p:sp>
      <p:sp>
        <p:nvSpPr>
          <p:cNvPr id="227" name="Shape 225"/>
          <p:cNvSpPr/>
          <p:nvPr/>
        </p:nvSpPr>
        <p:spPr>
          <a:xfrm>
            <a:off x="5550947" y="2386584"/>
            <a:ext cx="64008" cy="64008"/>
          </a:xfrm>
          <a:prstGeom prst="ellipse">
            <a:avLst/>
          </a:prstGeom>
          <a:solidFill>
            <a:srgbClr val="4A4F5C"/>
          </a:solidFill>
          <a:ln w="6350">
            <a:solidFill>
              <a:srgbClr val="23262E"/>
            </a:solidFill>
            <a:prstDash val="solid"/>
          </a:ln>
        </p:spPr>
      </p:sp>
      <p:sp>
        <p:nvSpPr>
          <p:cNvPr id="228" name="Shape 226"/>
          <p:cNvSpPr/>
          <p:nvPr/>
        </p:nvSpPr>
        <p:spPr>
          <a:xfrm>
            <a:off x="3429000" y="1874520"/>
            <a:ext cx="2240280" cy="91"/>
          </a:xfrm>
          <a:prstGeom prst="line">
            <a:avLst/>
          </a:prstGeom>
          <a:noFill/>
          <a:ln w="19050">
            <a:solidFill>
              <a:srgbClr val="2A1F3D"/>
            </a:solidFill>
            <a:prstDash val="solid"/>
          </a:ln>
        </p:spPr>
      </p:sp>
      <p:sp>
        <p:nvSpPr>
          <p:cNvPr id="229" name="Shape 227"/>
          <p:cNvSpPr/>
          <p:nvPr/>
        </p:nvSpPr>
        <p:spPr>
          <a:xfrm>
            <a:off x="3429000" y="2715768"/>
            <a:ext cx="2240280" cy="91"/>
          </a:xfrm>
          <a:prstGeom prst="line">
            <a:avLst/>
          </a:prstGeom>
          <a:noFill/>
          <a:ln w="19050">
            <a:solidFill>
              <a:srgbClr val="2A1F3D"/>
            </a:solidFill>
            <a:prstDash val="solid"/>
          </a:ln>
        </p:spPr>
      </p:sp>
      <p:sp>
        <p:nvSpPr>
          <p:cNvPr id="230" name="Shape 228"/>
          <p:cNvSpPr/>
          <p:nvPr/>
        </p:nvSpPr>
        <p:spPr>
          <a:xfrm>
            <a:off x="3300984" y="1874520"/>
            <a:ext cx="256032" cy="841248"/>
          </a:xfrm>
          <a:prstGeom prst="ellipse">
            <a:avLst/>
          </a:prstGeom>
          <a:solidFill>
            <a:srgbClr val="EDE6F8">
              <a:alpha val="70000"/>
            </a:srgbClr>
          </a:solidFill>
          <a:ln w="19050">
            <a:solidFill>
              <a:srgbClr val="2A1F3D"/>
            </a:solidFill>
            <a:prstDash val="solid"/>
          </a:ln>
        </p:spPr>
      </p:sp>
      <p:sp>
        <p:nvSpPr>
          <p:cNvPr id="231" name="Shape 229"/>
          <p:cNvSpPr/>
          <p:nvPr/>
        </p:nvSpPr>
        <p:spPr>
          <a:xfrm>
            <a:off x="5541264" y="1874520"/>
            <a:ext cx="256032" cy="841248"/>
          </a:xfrm>
          <a:prstGeom prst="ellipse">
            <a:avLst/>
          </a:prstGeom>
          <a:ln w="19050">
            <a:solidFill>
              <a:srgbClr val="2A1F3D"/>
            </a:solidFill>
            <a:prstDash val="dash"/>
          </a:ln>
        </p:spPr>
      </p:sp>
      <p:sp>
        <p:nvSpPr>
          <p:cNvPr id="232" name="Text 230"/>
          <p:cNvSpPr/>
          <p:nvPr/>
        </p:nvSpPr>
        <p:spPr>
          <a:xfrm>
            <a:off x="3291840" y="2788920"/>
            <a:ext cx="256032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about </a:t>
            </a:r>
            <a:r>
              <a:rPr lang="en-US" sz="1000" b="1" dirty="0">
                <a:solidFill>
                  <a:srgbClr val="262B3A"/>
                </a:solidFill>
                <a:latin typeface="Calibri" pitchFamily="34" charset="0"/>
                <a:ea typeface="Calibri" pitchFamily="34" charset="-122"/>
                <a:cs typeface="Calibri" pitchFamily="34" charset="-120"/>
              </a:rPr>
              <a:t>1 nm</a:t>
            </a:r>
            <a:r>
              <a:rPr lang="en-US" sz="1000" dirty="0">
                <a:solidFill>
                  <a:srgbClr val="262B3A"/>
                </a:solidFill>
                <a:latin typeface="Calibri" pitchFamily="34" charset="0"/>
                <a:ea typeface="Calibri" pitchFamily="34" charset="-122"/>
                <a:cs typeface="Calibri" pitchFamily="34" charset="-120"/>
              </a:rPr>
              <a:t> wide, up to µm–mm long</a:t>
            </a:r>
            <a:endParaRPr lang="en-US" sz="1000" dirty="0"/>
          </a:p>
        </p:txBody>
      </p:sp>
      <p:sp>
        <p:nvSpPr>
          <p:cNvPr id="233" name="Text 231"/>
          <p:cNvSpPr/>
          <p:nvPr/>
        </p:nvSpPr>
        <p:spPr>
          <a:xfrm>
            <a:off x="594360" y="3108960"/>
            <a:ext cx="23774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Fullerene C₆₀</a:t>
            </a:r>
            <a:endParaRPr lang="en-US" sz="1100" dirty="0"/>
          </a:p>
        </p:txBody>
      </p:sp>
      <p:sp>
        <p:nvSpPr>
          <p:cNvPr id="234" name="Shape 232"/>
          <p:cNvSpPr/>
          <p:nvPr/>
        </p:nvSpPr>
        <p:spPr>
          <a:xfrm>
            <a:off x="969264" y="3410712"/>
            <a:ext cx="1627632" cy="1627632"/>
          </a:xfrm>
          <a:prstGeom prst="ellipse">
            <a:avLst/>
          </a:prstGeom>
          <a:solidFill>
            <a:srgbClr val="F8F5FC"/>
          </a:solidFill>
          <a:ln w="15875">
            <a:solidFill>
              <a:srgbClr val="6A3FA0"/>
            </a:solidFill>
            <a:prstDash val="dash"/>
          </a:ln>
        </p:spPr>
      </p:sp>
      <p:sp>
        <p:nvSpPr>
          <p:cNvPr id="235" name="Shape 233"/>
          <p:cNvSpPr/>
          <p:nvPr/>
        </p:nvSpPr>
        <p:spPr>
          <a:xfrm>
            <a:off x="1574365" y="4005072"/>
            <a:ext cx="417430" cy="397000"/>
          </a:xfrm>
          <a:custGeom>
            <a:avLst/>
            <a:gdLst/>
            <a:ahLst/>
            <a:cxnLst/>
            <a:rect l="l" t="t" r="r" b="b"/>
            <a:pathLst>
              <a:path w="417430" h="397000">
                <a:moveTo>
                  <a:pt x="208715" y="0"/>
                </a:moveTo>
                <a:lnTo>
                  <a:pt x="417430" y="151640"/>
                </a:lnTo>
                <a:lnTo>
                  <a:pt x="337708" y="397000"/>
                </a:lnTo>
                <a:lnTo>
                  <a:pt x="79722" y="397000"/>
                </a:lnTo>
                <a:lnTo>
                  <a:pt x="0" y="151640"/>
                </a:lnTo>
                <a:close/>
              </a:path>
            </a:pathLst>
          </a:custGeom>
          <a:solidFill>
            <a:srgbClr val="F5D9A8"/>
          </a:solidFill>
          <a:ln w="12700">
            <a:solidFill>
              <a:srgbClr val="2A1F3D"/>
            </a:solidFill>
            <a:prstDash val="solid"/>
          </a:ln>
        </p:spPr>
      </p:sp>
      <p:sp>
        <p:nvSpPr>
          <p:cNvPr id="236" name="Shape 234"/>
          <p:cNvSpPr/>
          <p:nvPr/>
        </p:nvSpPr>
        <p:spPr>
          <a:xfrm>
            <a:off x="1783080" y="3643567"/>
            <a:ext cx="471364" cy="513145"/>
          </a:xfrm>
          <a:custGeom>
            <a:avLst/>
            <a:gdLst/>
            <a:ahLst/>
            <a:cxnLst/>
            <a:rect l="l" t="t" r="r" b="b"/>
            <a:pathLst>
              <a:path w="471364" h="513145">
                <a:moveTo>
                  <a:pt x="471364" y="151640"/>
                </a:moveTo>
                <a:lnTo>
                  <a:pt x="444397" y="408213"/>
                </a:lnTo>
                <a:lnTo>
                  <a:pt x="208715" y="513145"/>
                </a:lnTo>
                <a:lnTo>
                  <a:pt x="0" y="361505"/>
                </a:lnTo>
                <a:lnTo>
                  <a:pt x="26967" y="104932"/>
                </a:lnTo>
                <a:lnTo>
                  <a:pt x="262649" y="0"/>
                </a:lnTo>
                <a:close/>
              </a:path>
            </a:pathLst>
          </a:custGeom>
          <a:ln w="12700">
            <a:solidFill>
              <a:srgbClr val="2A1F3D"/>
            </a:solidFill>
            <a:prstDash val="solid"/>
          </a:ln>
        </p:spPr>
      </p:sp>
      <p:sp>
        <p:nvSpPr>
          <p:cNvPr id="237" name="Shape 235"/>
          <p:cNvSpPr/>
          <p:nvPr/>
        </p:nvSpPr>
        <p:spPr>
          <a:xfrm>
            <a:off x="1912073" y="4103074"/>
            <a:ext cx="504697" cy="490719"/>
          </a:xfrm>
          <a:custGeom>
            <a:avLst/>
            <a:gdLst/>
            <a:ahLst/>
            <a:cxnLst/>
            <a:rect l="l" t="t" r="r" b="b"/>
            <a:pathLst>
              <a:path w="504697" h="490719">
                <a:moveTo>
                  <a:pt x="424975" y="437080"/>
                </a:moveTo>
                <a:lnTo>
                  <a:pt x="172626" y="490719"/>
                </a:lnTo>
                <a:lnTo>
                  <a:pt x="0" y="298998"/>
                </a:lnTo>
                <a:lnTo>
                  <a:pt x="79722" y="53638"/>
                </a:lnTo>
                <a:lnTo>
                  <a:pt x="332070" y="0"/>
                </a:lnTo>
                <a:lnTo>
                  <a:pt x="504697" y="191721"/>
                </a:lnTo>
                <a:close/>
              </a:path>
            </a:pathLst>
          </a:custGeom>
          <a:ln w="12700">
            <a:solidFill>
              <a:srgbClr val="2A1F3D"/>
            </a:solidFill>
            <a:prstDash val="solid"/>
          </a:ln>
        </p:spPr>
      </p:sp>
      <p:sp>
        <p:nvSpPr>
          <p:cNvPr id="238" name="Shape 236"/>
          <p:cNvSpPr/>
          <p:nvPr/>
        </p:nvSpPr>
        <p:spPr>
          <a:xfrm>
            <a:off x="1525094" y="4402072"/>
            <a:ext cx="515972" cy="446845"/>
          </a:xfrm>
          <a:custGeom>
            <a:avLst/>
            <a:gdLst/>
            <a:ahLst/>
            <a:cxnLst/>
            <a:rect l="l" t="t" r="r" b="b"/>
            <a:pathLst>
              <a:path w="515972" h="446845">
                <a:moveTo>
                  <a:pt x="128993" y="446845"/>
                </a:moveTo>
                <a:lnTo>
                  <a:pt x="0" y="223422"/>
                </a:lnTo>
                <a:lnTo>
                  <a:pt x="128993" y="0"/>
                </a:lnTo>
                <a:lnTo>
                  <a:pt x="386979" y="0"/>
                </a:lnTo>
                <a:lnTo>
                  <a:pt x="515972" y="223422"/>
                </a:lnTo>
                <a:lnTo>
                  <a:pt x="386979" y="446845"/>
                </a:lnTo>
                <a:close/>
              </a:path>
            </a:pathLst>
          </a:custGeom>
          <a:ln w="12700">
            <a:solidFill>
              <a:srgbClr val="2A1F3D"/>
            </a:solidFill>
            <a:prstDash val="solid"/>
          </a:ln>
        </p:spPr>
      </p:sp>
      <p:sp>
        <p:nvSpPr>
          <p:cNvPr id="239" name="Shape 237"/>
          <p:cNvSpPr/>
          <p:nvPr/>
        </p:nvSpPr>
        <p:spPr>
          <a:xfrm>
            <a:off x="1149390" y="4103074"/>
            <a:ext cx="504697" cy="490719"/>
          </a:xfrm>
          <a:custGeom>
            <a:avLst/>
            <a:gdLst/>
            <a:ahLst/>
            <a:cxnLst/>
            <a:rect l="l" t="t" r="r" b="b"/>
            <a:pathLst>
              <a:path w="504697" h="490719">
                <a:moveTo>
                  <a:pt x="0" y="191721"/>
                </a:moveTo>
                <a:lnTo>
                  <a:pt x="172626" y="0"/>
                </a:lnTo>
                <a:lnTo>
                  <a:pt x="424975" y="53638"/>
                </a:lnTo>
                <a:lnTo>
                  <a:pt x="504697" y="298998"/>
                </a:lnTo>
                <a:lnTo>
                  <a:pt x="332070" y="490719"/>
                </a:lnTo>
                <a:lnTo>
                  <a:pt x="79722" y="437080"/>
                </a:lnTo>
                <a:close/>
              </a:path>
            </a:pathLst>
          </a:custGeom>
          <a:ln w="12700">
            <a:solidFill>
              <a:srgbClr val="2A1F3D"/>
            </a:solidFill>
            <a:prstDash val="solid"/>
          </a:ln>
        </p:spPr>
      </p:sp>
      <p:sp>
        <p:nvSpPr>
          <p:cNvPr id="240" name="Shape 238"/>
          <p:cNvSpPr/>
          <p:nvPr/>
        </p:nvSpPr>
        <p:spPr>
          <a:xfrm>
            <a:off x="1311716" y="3643567"/>
            <a:ext cx="471364" cy="513145"/>
          </a:xfrm>
          <a:custGeom>
            <a:avLst/>
            <a:gdLst/>
            <a:ahLst/>
            <a:cxnLst/>
            <a:rect l="l" t="t" r="r" b="b"/>
            <a:pathLst>
              <a:path w="471364" h="513145">
                <a:moveTo>
                  <a:pt x="208715" y="0"/>
                </a:moveTo>
                <a:lnTo>
                  <a:pt x="444397" y="104932"/>
                </a:lnTo>
                <a:lnTo>
                  <a:pt x="471364" y="361505"/>
                </a:lnTo>
                <a:lnTo>
                  <a:pt x="262649" y="513145"/>
                </a:lnTo>
                <a:lnTo>
                  <a:pt x="26967" y="408213"/>
                </a:lnTo>
                <a:lnTo>
                  <a:pt x="0" y="151640"/>
                </a:lnTo>
                <a:close/>
              </a:path>
            </a:pathLst>
          </a:custGeom>
          <a:ln w="12700">
            <a:solidFill>
              <a:srgbClr val="2A1F3D"/>
            </a:solidFill>
            <a:prstDash val="solid"/>
          </a:ln>
        </p:spPr>
      </p:sp>
      <p:sp>
        <p:nvSpPr>
          <p:cNvPr id="241" name="Shape 239"/>
          <p:cNvSpPr/>
          <p:nvPr/>
        </p:nvSpPr>
        <p:spPr>
          <a:xfrm>
            <a:off x="1751076" y="3973068"/>
            <a:ext cx="64008" cy="64008"/>
          </a:xfrm>
          <a:prstGeom prst="ellipse">
            <a:avLst/>
          </a:prstGeom>
          <a:solidFill>
            <a:srgbClr val="4A4F5C"/>
          </a:solidFill>
          <a:ln w="6350">
            <a:solidFill>
              <a:srgbClr val="23262E"/>
            </a:solidFill>
            <a:prstDash val="solid"/>
          </a:ln>
        </p:spPr>
      </p:sp>
      <p:sp>
        <p:nvSpPr>
          <p:cNvPr id="242" name="Shape 240"/>
          <p:cNvSpPr/>
          <p:nvPr/>
        </p:nvSpPr>
        <p:spPr>
          <a:xfrm>
            <a:off x="1959791" y="4124708"/>
            <a:ext cx="64008" cy="64008"/>
          </a:xfrm>
          <a:prstGeom prst="ellipse">
            <a:avLst/>
          </a:prstGeom>
          <a:solidFill>
            <a:srgbClr val="4A4F5C"/>
          </a:solidFill>
          <a:ln w="6350">
            <a:solidFill>
              <a:srgbClr val="23262E"/>
            </a:solidFill>
            <a:prstDash val="solid"/>
          </a:ln>
        </p:spPr>
      </p:sp>
      <p:sp>
        <p:nvSpPr>
          <p:cNvPr id="243" name="Shape 241"/>
          <p:cNvSpPr/>
          <p:nvPr/>
        </p:nvSpPr>
        <p:spPr>
          <a:xfrm>
            <a:off x="1880069" y="4370068"/>
            <a:ext cx="64008" cy="64008"/>
          </a:xfrm>
          <a:prstGeom prst="ellipse">
            <a:avLst/>
          </a:prstGeom>
          <a:solidFill>
            <a:srgbClr val="4A4F5C"/>
          </a:solidFill>
          <a:ln w="6350">
            <a:solidFill>
              <a:srgbClr val="23262E"/>
            </a:solidFill>
            <a:prstDash val="solid"/>
          </a:ln>
        </p:spPr>
      </p:sp>
      <p:sp>
        <p:nvSpPr>
          <p:cNvPr id="244" name="Shape 242"/>
          <p:cNvSpPr/>
          <p:nvPr/>
        </p:nvSpPr>
        <p:spPr>
          <a:xfrm>
            <a:off x="1622083" y="4370068"/>
            <a:ext cx="64008" cy="64008"/>
          </a:xfrm>
          <a:prstGeom prst="ellipse">
            <a:avLst/>
          </a:prstGeom>
          <a:solidFill>
            <a:srgbClr val="4A4F5C"/>
          </a:solidFill>
          <a:ln w="6350">
            <a:solidFill>
              <a:srgbClr val="23262E"/>
            </a:solidFill>
            <a:prstDash val="solid"/>
          </a:ln>
        </p:spPr>
      </p:sp>
      <p:sp>
        <p:nvSpPr>
          <p:cNvPr id="245" name="Shape 243"/>
          <p:cNvSpPr/>
          <p:nvPr/>
        </p:nvSpPr>
        <p:spPr>
          <a:xfrm>
            <a:off x="1542361" y="4124708"/>
            <a:ext cx="64008" cy="64008"/>
          </a:xfrm>
          <a:prstGeom prst="ellipse">
            <a:avLst/>
          </a:prstGeom>
          <a:solidFill>
            <a:srgbClr val="4A4F5C"/>
          </a:solidFill>
          <a:ln w="6350">
            <a:solidFill>
              <a:srgbClr val="23262E"/>
            </a:solidFill>
            <a:prstDash val="solid"/>
          </a:ln>
        </p:spPr>
      </p:sp>
      <p:sp>
        <p:nvSpPr>
          <p:cNvPr id="246" name="Shape 244"/>
          <p:cNvSpPr/>
          <p:nvPr/>
        </p:nvSpPr>
        <p:spPr>
          <a:xfrm>
            <a:off x="2222440" y="3763203"/>
            <a:ext cx="64008" cy="64008"/>
          </a:xfrm>
          <a:prstGeom prst="ellipse">
            <a:avLst/>
          </a:prstGeom>
          <a:solidFill>
            <a:srgbClr val="4A4F5C"/>
          </a:solidFill>
          <a:ln w="6350">
            <a:solidFill>
              <a:srgbClr val="23262E"/>
            </a:solidFill>
            <a:prstDash val="solid"/>
          </a:ln>
        </p:spPr>
      </p:sp>
      <p:sp>
        <p:nvSpPr>
          <p:cNvPr id="247" name="Shape 245"/>
          <p:cNvSpPr/>
          <p:nvPr/>
        </p:nvSpPr>
        <p:spPr>
          <a:xfrm>
            <a:off x="2195473" y="4019776"/>
            <a:ext cx="64008" cy="64008"/>
          </a:xfrm>
          <a:prstGeom prst="ellipse">
            <a:avLst/>
          </a:prstGeom>
          <a:solidFill>
            <a:srgbClr val="4A4F5C"/>
          </a:solidFill>
          <a:ln w="6350">
            <a:solidFill>
              <a:srgbClr val="23262E"/>
            </a:solidFill>
            <a:prstDash val="solid"/>
          </a:ln>
        </p:spPr>
      </p:sp>
      <p:sp>
        <p:nvSpPr>
          <p:cNvPr id="248" name="Shape 246"/>
          <p:cNvSpPr/>
          <p:nvPr/>
        </p:nvSpPr>
        <p:spPr>
          <a:xfrm>
            <a:off x="1959791" y="4124708"/>
            <a:ext cx="64008" cy="64008"/>
          </a:xfrm>
          <a:prstGeom prst="ellipse">
            <a:avLst/>
          </a:prstGeom>
          <a:solidFill>
            <a:srgbClr val="4A4F5C"/>
          </a:solidFill>
          <a:ln w="6350">
            <a:solidFill>
              <a:srgbClr val="23262E"/>
            </a:solidFill>
            <a:prstDash val="solid"/>
          </a:ln>
        </p:spPr>
      </p:sp>
      <p:sp>
        <p:nvSpPr>
          <p:cNvPr id="249" name="Shape 247"/>
          <p:cNvSpPr/>
          <p:nvPr/>
        </p:nvSpPr>
        <p:spPr>
          <a:xfrm>
            <a:off x="1751076" y="3973068"/>
            <a:ext cx="64008" cy="64008"/>
          </a:xfrm>
          <a:prstGeom prst="ellipse">
            <a:avLst/>
          </a:prstGeom>
          <a:solidFill>
            <a:srgbClr val="4A4F5C"/>
          </a:solidFill>
          <a:ln w="6350">
            <a:solidFill>
              <a:srgbClr val="23262E"/>
            </a:solidFill>
            <a:prstDash val="solid"/>
          </a:ln>
        </p:spPr>
      </p:sp>
      <p:sp>
        <p:nvSpPr>
          <p:cNvPr id="250" name="Shape 248"/>
          <p:cNvSpPr/>
          <p:nvPr/>
        </p:nvSpPr>
        <p:spPr>
          <a:xfrm>
            <a:off x="1778043" y="3716495"/>
            <a:ext cx="64008" cy="64008"/>
          </a:xfrm>
          <a:prstGeom prst="ellipse">
            <a:avLst/>
          </a:prstGeom>
          <a:solidFill>
            <a:srgbClr val="4A4F5C"/>
          </a:solidFill>
          <a:ln w="6350">
            <a:solidFill>
              <a:srgbClr val="23262E"/>
            </a:solidFill>
            <a:prstDash val="solid"/>
          </a:ln>
        </p:spPr>
      </p:sp>
      <p:sp>
        <p:nvSpPr>
          <p:cNvPr id="251" name="Shape 249"/>
          <p:cNvSpPr/>
          <p:nvPr/>
        </p:nvSpPr>
        <p:spPr>
          <a:xfrm>
            <a:off x="2013725" y="3611563"/>
            <a:ext cx="64008" cy="64008"/>
          </a:xfrm>
          <a:prstGeom prst="ellipse">
            <a:avLst/>
          </a:prstGeom>
          <a:solidFill>
            <a:srgbClr val="4A4F5C"/>
          </a:solidFill>
          <a:ln w="6350">
            <a:solidFill>
              <a:srgbClr val="23262E"/>
            </a:solidFill>
            <a:prstDash val="solid"/>
          </a:ln>
        </p:spPr>
      </p:sp>
      <p:sp>
        <p:nvSpPr>
          <p:cNvPr id="252" name="Shape 250"/>
          <p:cNvSpPr/>
          <p:nvPr/>
        </p:nvSpPr>
        <p:spPr>
          <a:xfrm>
            <a:off x="2305044" y="4508150"/>
            <a:ext cx="64008" cy="64008"/>
          </a:xfrm>
          <a:prstGeom prst="ellipse">
            <a:avLst/>
          </a:prstGeom>
          <a:solidFill>
            <a:srgbClr val="4A4F5C"/>
          </a:solidFill>
          <a:ln w="6350">
            <a:solidFill>
              <a:srgbClr val="23262E"/>
            </a:solidFill>
            <a:prstDash val="solid"/>
          </a:ln>
        </p:spPr>
      </p:sp>
      <p:sp>
        <p:nvSpPr>
          <p:cNvPr id="253" name="Shape 251"/>
          <p:cNvSpPr/>
          <p:nvPr/>
        </p:nvSpPr>
        <p:spPr>
          <a:xfrm>
            <a:off x="2052695" y="4561789"/>
            <a:ext cx="64008" cy="64008"/>
          </a:xfrm>
          <a:prstGeom prst="ellipse">
            <a:avLst/>
          </a:prstGeom>
          <a:solidFill>
            <a:srgbClr val="4A4F5C"/>
          </a:solidFill>
          <a:ln w="6350">
            <a:solidFill>
              <a:srgbClr val="23262E"/>
            </a:solidFill>
            <a:prstDash val="solid"/>
          </a:ln>
        </p:spPr>
      </p:sp>
      <p:sp>
        <p:nvSpPr>
          <p:cNvPr id="254" name="Shape 252"/>
          <p:cNvSpPr/>
          <p:nvPr/>
        </p:nvSpPr>
        <p:spPr>
          <a:xfrm>
            <a:off x="1880069" y="4370068"/>
            <a:ext cx="64008" cy="64008"/>
          </a:xfrm>
          <a:prstGeom prst="ellipse">
            <a:avLst/>
          </a:prstGeom>
          <a:solidFill>
            <a:srgbClr val="4A4F5C"/>
          </a:solidFill>
          <a:ln w="6350">
            <a:solidFill>
              <a:srgbClr val="23262E"/>
            </a:solidFill>
            <a:prstDash val="solid"/>
          </a:ln>
        </p:spPr>
      </p:sp>
      <p:sp>
        <p:nvSpPr>
          <p:cNvPr id="255" name="Shape 253"/>
          <p:cNvSpPr/>
          <p:nvPr/>
        </p:nvSpPr>
        <p:spPr>
          <a:xfrm>
            <a:off x="1959791" y="4124708"/>
            <a:ext cx="64008" cy="64008"/>
          </a:xfrm>
          <a:prstGeom prst="ellipse">
            <a:avLst/>
          </a:prstGeom>
          <a:solidFill>
            <a:srgbClr val="4A4F5C"/>
          </a:solidFill>
          <a:ln w="6350">
            <a:solidFill>
              <a:srgbClr val="23262E"/>
            </a:solidFill>
            <a:prstDash val="solid"/>
          </a:ln>
        </p:spPr>
      </p:sp>
      <p:sp>
        <p:nvSpPr>
          <p:cNvPr id="256" name="Shape 254"/>
          <p:cNvSpPr/>
          <p:nvPr/>
        </p:nvSpPr>
        <p:spPr>
          <a:xfrm>
            <a:off x="2212139" y="4071070"/>
            <a:ext cx="64008" cy="64008"/>
          </a:xfrm>
          <a:prstGeom prst="ellipse">
            <a:avLst/>
          </a:prstGeom>
          <a:solidFill>
            <a:srgbClr val="4A4F5C"/>
          </a:solidFill>
          <a:ln w="6350">
            <a:solidFill>
              <a:srgbClr val="23262E"/>
            </a:solidFill>
            <a:prstDash val="solid"/>
          </a:ln>
        </p:spPr>
      </p:sp>
      <p:sp>
        <p:nvSpPr>
          <p:cNvPr id="257" name="Shape 255"/>
          <p:cNvSpPr/>
          <p:nvPr/>
        </p:nvSpPr>
        <p:spPr>
          <a:xfrm>
            <a:off x="2384766" y="4262791"/>
            <a:ext cx="64008" cy="64008"/>
          </a:xfrm>
          <a:prstGeom prst="ellipse">
            <a:avLst/>
          </a:prstGeom>
          <a:solidFill>
            <a:srgbClr val="4A4F5C"/>
          </a:solidFill>
          <a:ln w="6350">
            <a:solidFill>
              <a:srgbClr val="23262E"/>
            </a:solidFill>
            <a:prstDash val="solid"/>
          </a:ln>
        </p:spPr>
      </p:sp>
      <p:sp>
        <p:nvSpPr>
          <p:cNvPr id="258" name="Shape 256"/>
          <p:cNvSpPr/>
          <p:nvPr/>
        </p:nvSpPr>
        <p:spPr>
          <a:xfrm>
            <a:off x="1622083" y="4816912"/>
            <a:ext cx="64008" cy="64008"/>
          </a:xfrm>
          <a:prstGeom prst="ellipse">
            <a:avLst/>
          </a:prstGeom>
          <a:solidFill>
            <a:srgbClr val="4A4F5C"/>
          </a:solidFill>
          <a:ln w="6350">
            <a:solidFill>
              <a:srgbClr val="23262E"/>
            </a:solidFill>
            <a:prstDash val="solid"/>
          </a:ln>
        </p:spPr>
      </p:sp>
      <p:sp>
        <p:nvSpPr>
          <p:cNvPr id="259" name="Shape 257"/>
          <p:cNvSpPr/>
          <p:nvPr/>
        </p:nvSpPr>
        <p:spPr>
          <a:xfrm>
            <a:off x="1493090" y="4593490"/>
            <a:ext cx="64008" cy="64008"/>
          </a:xfrm>
          <a:prstGeom prst="ellipse">
            <a:avLst/>
          </a:prstGeom>
          <a:solidFill>
            <a:srgbClr val="4A4F5C"/>
          </a:solidFill>
          <a:ln w="6350">
            <a:solidFill>
              <a:srgbClr val="23262E"/>
            </a:solidFill>
            <a:prstDash val="solid"/>
          </a:ln>
        </p:spPr>
      </p:sp>
      <p:sp>
        <p:nvSpPr>
          <p:cNvPr id="260" name="Shape 258"/>
          <p:cNvSpPr/>
          <p:nvPr/>
        </p:nvSpPr>
        <p:spPr>
          <a:xfrm>
            <a:off x="1622083" y="4370068"/>
            <a:ext cx="64008" cy="64008"/>
          </a:xfrm>
          <a:prstGeom prst="ellipse">
            <a:avLst/>
          </a:prstGeom>
          <a:solidFill>
            <a:srgbClr val="4A4F5C"/>
          </a:solidFill>
          <a:ln w="6350">
            <a:solidFill>
              <a:srgbClr val="23262E"/>
            </a:solidFill>
            <a:prstDash val="solid"/>
          </a:ln>
        </p:spPr>
      </p:sp>
      <p:sp>
        <p:nvSpPr>
          <p:cNvPr id="261" name="Shape 259"/>
          <p:cNvSpPr/>
          <p:nvPr/>
        </p:nvSpPr>
        <p:spPr>
          <a:xfrm>
            <a:off x="1880069" y="4370068"/>
            <a:ext cx="64008" cy="64008"/>
          </a:xfrm>
          <a:prstGeom prst="ellipse">
            <a:avLst/>
          </a:prstGeom>
          <a:solidFill>
            <a:srgbClr val="4A4F5C"/>
          </a:solidFill>
          <a:ln w="6350">
            <a:solidFill>
              <a:srgbClr val="23262E"/>
            </a:solidFill>
            <a:prstDash val="solid"/>
          </a:ln>
        </p:spPr>
      </p:sp>
      <p:sp>
        <p:nvSpPr>
          <p:cNvPr id="262" name="Shape 260"/>
          <p:cNvSpPr/>
          <p:nvPr/>
        </p:nvSpPr>
        <p:spPr>
          <a:xfrm>
            <a:off x="2009062" y="4593490"/>
            <a:ext cx="64008" cy="64008"/>
          </a:xfrm>
          <a:prstGeom prst="ellipse">
            <a:avLst/>
          </a:prstGeom>
          <a:solidFill>
            <a:srgbClr val="4A4F5C"/>
          </a:solidFill>
          <a:ln w="6350">
            <a:solidFill>
              <a:srgbClr val="23262E"/>
            </a:solidFill>
            <a:prstDash val="solid"/>
          </a:ln>
        </p:spPr>
      </p:sp>
      <p:sp>
        <p:nvSpPr>
          <p:cNvPr id="263" name="Shape 261"/>
          <p:cNvSpPr/>
          <p:nvPr/>
        </p:nvSpPr>
        <p:spPr>
          <a:xfrm>
            <a:off x="1880069" y="4816912"/>
            <a:ext cx="64008" cy="64008"/>
          </a:xfrm>
          <a:prstGeom prst="ellipse">
            <a:avLst/>
          </a:prstGeom>
          <a:solidFill>
            <a:srgbClr val="4A4F5C"/>
          </a:solidFill>
          <a:ln w="6350">
            <a:solidFill>
              <a:srgbClr val="23262E"/>
            </a:solidFill>
            <a:prstDash val="solid"/>
          </a:ln>
        </p:spPr>
      </p:sp>
      <p:sp>
        <p:nvSpPr>
          <p:cNvPr id="264" name="Shape 262"/>
          <p:cNvSpPr/>
          <p:nvPr/>
        </p:nvSpPr>
        <p:spPr>
          <a:xfrm>
            <a:off x="1117386" y="4262791"/>
            <a:ext cx="64008" cy="64008"/>
          </a:xfrm>
          <a:prstGeom prst="ellipse">
            <a:avLst/>
          </a:prstGeom>
          <a:solidFill>
            <a:srgbClr val="4A4F5C"/>
          </a:solidFill>
          <a:ln w="6350">
            <a:solidFill>
              <a:srgbClr val="23262E"/>
            </a:solidFill>
            <a:prstDash val="solid"/>
          </a:ln>
        </p:spPr>
      </p:sp>
      <p:sp>
        <p:nvSpPr>
          <p:cNvPr id="265" name="Shape 263"/>
          <p:cNvSpPr/>
          <p:nvPr/>
        </p:nvSpPr>
        <p:spPr>
          <a:xfrm>
            <a:off x="1290013" y="4071070"/>
            <a:ext cx="64008" cy="64008"/>
          </a:xfrm>
          <a:prstGeom prst="ellipse">
            <a:avLst/>
          </a:prstGeom>
          <a:solidFill>
            <a:srgbClr val="4A4F5C"/>
          </a:solidFill>
          <a:ln w="6350">
            <a:solidFill>
              <a:srgbClr val="23262E"/>
            </a:solidFill>
            <a:prstDash val="solid"/>
          </a:ln>
        </p:spPr>
      </p:sp>
      <p:sp>
        <p:nvSpPr>
          <p:cNvPr id="266" name="Shape 264"/>
          <p:cNvSpPr/>
          <p:nvPr/>
        </p:nvSpPr>
        <p:spPr>
          <a:xfrm>
            <a:off x="1542361" y="4124708"/>
            <a:ext cx="64008" cy="64008"/>
          </a:xfrm>
          <a:prstGeom prst="ellipse">
            <a:avLst/>
          </a:prstGeom>
          <a:solidFill>
            <a:srgbClr val="4A4F5C"/>
          </a:solidFill>
          <a:ln w="6350">
            <a:solidFill>
              <a:srgbClr val="23262E"/>
            </a:solidFill>
            <a:prstDash val="solid"/>
          </a:ln>
        </p:spPr>
      </p:sp>
      <p:sp>
        <p:nvSpPr>
          <p:cNvPr id="267" name="Shape 265"/>
          <p:cNvSpPr/>
          <p:nvPr/>
        </p:nvSpPr>
        <p:spPr>
          <a:xfrm>
            <a:off x="1622083" y="4370068"/>
            <a:ext cx="64008" cy="64008"/>
          </a:xfrm>
          <a:prstGeom prst="ellipse">
            <a:avLst/>
          </a:prstGeom>
          <a:solidFill>
            <a:srgbClr val="4A4F5C"/>
          </a:solidFill>
          <a:ln w="6350">
            <a:solidFill>
              <a:srgbClr val="23262E"/>
            </a:solidFill>
            <a:prstDash val="solid"/>
          </a:ln>
        </p:spPr>
      </p:sp>
      <p:sp>
        <p:nvSpPr>
          <p:cNvPr id="268" name="Shape 266"/>
          <p:cNvSpPr/>
          <p:nvPr/>
        </p:nvSpPr>
        <p:spPr>
          <a:xfrm>
            <a:off x="1449457" y="4561789"/>
            <a:ext cx="64008" cy="64008"/>
          </a:xfrm>
          <a:prstGeom prst="ellipse">
            <a:avLst/>
          </a:prstGeom>
          <a:solidFill>
            <a:srgbClr val="4A4F5C"/>
          </a:solidFill>
          <a:ln w="6350">
            <a:solidFill>
              <a:srgbClr val="23262E"/>
            </a:solidFill>
            <a:prstDash val="solid"/>
          </a:ln>
        </p:spPr>
      </p:sp>
      <p:sp>
        <p:nvSpPr>
          <p:cNvPr id="269" name="Shape 267"/>
          <p:cNvSpPr/>
          <p:nvPr/>
        </p:nvSpPr>
        <p:spPr>
          <a:xfrm>
            <a:off x="1197108" y="4508150"/>
            <a:ext cx="64008" cy="64008"/>
          </a:xfrm>
          <a:prstGeom prst="ellipse">
            <a:avLst/>
          </a:prstGeom>
          <a:solidFill>
            <a:srgbClr val="4A4F5C"/>
          </a:solidFill>
          <a:ln w="6350">
            <a:solidFill>
              <a:srgbClr val="23262E"/>
            </a:solidFill>
            <a:prstDash val="solid"/>
          </a:ln>
        </p:spPr>
      </p:sp>
      <p:sp>
        <p:nvSpPr>
          <p:cNvPr id="270" name="Shape 268"/>
          <p:cNvSpPr/>
          <p:nvPr/>
        </p:nvSpPr>
        <p:spPr>
          <a:xfrm>
            <a:off x="1488427" y="3611563"/>
            <a:ext cx="64008" cy="64008"/>
          </a:xfrm>
          <a:prstGeom prst="ellipse">
            <a:avLst/>
          </a:prstGeom>
          <a:solidFill>
            <a:srgbClr val="4A4F5C"/>
          </a:solidFill>
          <a:ln w="6350">
            <a:solidFill>
              <a:srgbClr val="23262E"/>
            </a:solidFill>
            <a:prstDash val="solid"/>
          </a:ln>
        </p:spPr>
      </p:sp>
      <p:sp>
        <p:nvSpPr>
          <p:cNvPr id="271" name="Shape 269"/>
          <p:cNvSpPr/>
          <p:nvPr/>
        </p:nvSpPr>
        <p:spPr>
          <a:xfrm>
            <a:off x="1724109" y="3716495"/>
            <a:ext cx="64008" cy="64008"/>
          </a:xfrm>
          <a:prstGeom prst="ellipse">
            <a:avLst/>
          </a:prstGeom>
          <a:solidFill>
            <a:srgbClr val="4A4F5C"/>
          </a:solidFill>
          <a:ln w="6350">
            <a:solidFill>
              <a:srgbClr val="23262E"/>
            </a:solidFill>
            <a:prstDash val="solid"/>
          </a:ln>
        </p:spPr>
      </p:sp>
      <p:sp>
        <p:nvSpPr>
          <p:cNvPr id="272" name="Shape 270"/>
          <p:cNvSpPr/>
          <p:nvPr/>
        </p:nvSpPr>
        <p:spPr>
          <a:xfrm>
            <a:off x="1751076" y="3973068"/>
            <a:ext cx="64008" cy="64008"/>
          </a:xfrm>
          <a:prstGeom prst="ellipse">
            <a:avLst/>
          </a:prstGeom>
          <a:solidFill>
            <a:srgbClr val="4A4F5C"/>
          </a:solidFill>
          <a:ln w="6350">
            <a:solidFill>
              <a:srgbClr val="23262E"/>
            </a:solidFill>
            <a:prstDash val="solid"/>
          </a:ln>
        </p:spPr>
      </p:sp>
      <p:sp>
        <p:nvSpPr>
          <p:cNvPr id="273" name="Shape 271"/>
          <p:cNvSpPr/>
          <p:nvPr/>
        </p:nvSpPr>
        <p:spPr>
          <a:xfrm>
            <a:off x="1542361" y="4124708"/>
            <a:ext cx="64008" cy="64008"/>
          </a:xfrm>
          <a:prstGeom prst="ellipse">
            <a:avLst/>
          </a:prstGeom>
          <a:solidFill>
            <a:srgbClr val="4A4F5C"/>
          </a:solidFill>
          <a:ln w="6350">
            <a:solidFill>
              <a:srgbClr val="23262E"/>
            </a:solidFill>
            <a:prstDash val="solid"/>
          </a:ln>
        </p:spPr>
      </p:sp>
      <p:sp>
        <p:nvSpPr>
          <p:cNvPr id="274" name="Shape 272"/>
          <p:cNvSpPr/>
          <p:nvPr/>
        </p:nvSpPr>
        <p:spPr>
          <a:xfrm>
            <a:off x="1306679" y="4019776"/>
            <a:ext cx="64008" cy="64008"/>
          </a:xfrm>
          <a:prstGeom prst="ellipse">
            <a:avLst/>
          </a:prstGeom>
          <a:solidFill>
            <a:srgbClr val="4A4F5C"/>
          </a:solidFill>
          <a:ln w="6350">
            <a:solidFill>
              <a:srgbClr val="23262E"/>
            </a:solidFill>
            <a:prstDash val="solid"/>
          </a:ln>
        </p:spPr>
      </p:sp>
      <p:sp>
        <p:nvSpPr>
          <p:cNvPr id="275" name="Shape 273"/>
          <p:cNvSpPr/>
          <p:nvPr/>
        </p:nvSpPr>
        <p:spPr>
          <a:xfrm>
            <a:off x="1279712" y="3763203"/>
            <a:ext cx="64008" cy="64008"/>
          </a:xfrm>
          <a:prstGeom prst="ellipse">
            <a:avLst/>
          </a:prstGeom>
          <a:solidFill>
            <a:srgbClr val="4A4F5C"/>
          </a:solidFill>
          <a:ln w="6350">
            <a:solidFill>
              <a:srgbClr val="23262E"/>
            </a:solidFill>
            <a:prstDash val="solid"/>
          </a:ln>
        </p:spPr>
      </p:sp>
      <p:sp>
        <p:nvSpPr>
          <p:cNvPr id="276" name="Text 274"/>
          <p:cNvSpPr/>
          <p:nvPr/>
        </p:nvSpPr>
        <p:spPr>
          <a:xfrm>
            <a:off x="502920" y="5056632"/>
            <a:ext cx="2560320" cy="38404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 pentagons + 20 hexagons: a hollow ball of </a:t>
            </a:r>
            <a:r>
              <a:rPr lang="en-US" sz="1000" b="1" dirty="0">
                <a:solidFill>
                  <a:srgbClr val="262B3A"/>
                </a:solidFill>
                <a:latin typeface="Calibri" pitchFamily="34" charset="0"/>
                <a:ea typeface="Calibri" pitchFamily="34" charset="-122"/>
                <a:cs typeface="Calibri" pitchFamily="34" charset="-120"/>
              </a:rPr>
              <a:t>60 C atoms</a:t>
            </a:r>
            <a:r>
              <a:rPr lang="en-US" sz="1000" dirty="0">
                <a:solidFill>
                  <a:srgbClr val="262B3A"/>
                </a:solidFill>
                <a:latin typeface="Calibri" pitchFamily="34" charset="0"/>
                <a:ea typeface="Calibri" pitchFamily="34" charset="-122"/>
                <a:cs typeface="Calibri" pitchFamily="34" charset="-120"/>
              </a:rPr>
              <a:t>, ~1 nm</a:t>
            </a:r>
            <a:endParaRPr lang="en-US" sz="1000" dirty="0"/>
          </a:p>
        </p:txBody>
      </p:sp>
      <p:sp>
        <p:nvSpPr>
          <p:cNvPr id="277" name="Shape 275"/>
          <p:cNvSpPr/>
          <p:nvPr/>
        </p:nvSpPr>
        <p:spPr>
          <a:xfrm>
            <a:off x="3291840" y="3246120"/>
            <a:ext cx="2514600" cy="2057400"/>
          </a:xfrm>
          <a:prstGeom prst="roundRect">
            <a:avLst>
              <a:gd name="adj" fmla="val 2222"/>
            </a:avLst>
          </a:prstGeom>
          <a:solidFill>
            <a:srgbClr val="FFFFFF"/>
          </a:solidFill>
          <a:ln w="12700">
            <a:solidFill>
              <a:srgbClr val="DDD3EC"/>
            </a:solidFill>
            <a:prstDash val="solid"/>
          </a:ln>
        </p:spPr>
      </p:sp>
      <p:sp>
        <p:nvSpPr>
          <p:cNvPr id="278" name="Text 276"/>
          <p:cNvSpPr/>
          <p:nvPr/>
        </p:nvSpPr>
        <p:spPr>
          <a:xfrm>
            <a:off x="3383280" y="3291840"/>
            <a:ext cx="237744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Structure → use</a:t>
            </a:r>
            <a:endParaRPr lang="en-US" sz="1050" dirty="0"/>
          </a:p>
        </p:txBody>
      </p:sp>
      <p:sp>
        <p:nvSpPr>
          <p:cNvPr id="279" name="Text 277"/>
          <p:cNvSpPr/>
          <p:nvPr/>
        </p:nvSpPr>
        <p:spPr>
          <a:xfrm>
            <a:off x="3383280" y="3547872"/>
            <a:ext cx="2377440" cy="1691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 strong covalent bonds → very </a:t>
            </a:r>
            <a:r>
              <a:rPr lang="en-US" sz="1000" b="1" dirty="0">
                <a:solidFill>
                  <a:srgbClr val="262B3A"/>
                </a:solidFill>
                <a:latin typeface="Calibri" pitchFamily="34" charset="0"/>
                <a:ea typeface="Calibri" pitchFamily="34" charset="-122"/>
                <a:cs typeface="Calibri" pitchFamily="34" charset="-120"/>
              </a:rPr>
              <a:t>strong</a:t>
            </a:r>
            <a:r>
              <a:rPr lang="en-US" sz="1000" dirty="0">
                <a:solidFill>
                  <a:srgbClr val="262B3A"/>
                </a:solidFill>
                <a:latin typeface="Calibri" pitchFamily="34" charset="0"/>
                <a:ea typeface="Calibri" pitchFamily="34" charset="-122"/>
                <a:cs typeface="Calibri" pitchFamily="34" charset="-120"/>
              </a:rPr>
              <a:t>, </a:t>
            </a:r>
            <a:r>
              <a:rPr lang="en-US" sz="1000" b="1" dirty="0">
                <a:solidFill>
                  <a:srgbClr val="262B3A"/>
                </a:solidFill>
                <a:latin typeface="Calibri" pitchFamily="34" charset="0"/>
                <a:ea typeface="Calibri" pitchFamily="34" charset="-122"/>
                <a:cs typeface="Calibri" pitchFamily="34" charset="-120"/>
              </a:rPr>
              <a:t>light</a:t>
            </a:r>
            <a:r>
              <a:rPr lang="en-US" sz="1000" dirty="0">
                <a:solidFill>
                  <a:srgbClr val="262B3A"/>
                </a:solidFill>
                <a:latin typeface="Calibri" pitchFamily="34" charset="0"/>
                <a:ea typeface="Calibri" pitchFamily="34" charset="-122"/>
                <a:cs typeface="Calibri" pitchFamily="34" charset="-120"/>
              </a:rPr>
              <a:t>: reinforce bike frames, rackets</a:t>
            </a:r>
            <a:endParaRPr lang="en-US" sz="1000" dirty="0"/>
          </a:p>
          <a:p>
            <a:pPr algn="l" indent="0" marL="0">
              <a:buNone/>
            </a:pPr>
            <a:r>
              <a:rPr lang="en-US" sz="1000" dirty="0">
                <a:solidFill>
                  <a:srgbClr val="262B3A"/>
                </a:solidFill>
                <a:latin typeface="Calibri" pitchFamily="34" charset="0"/>
                <a:ea typeface="Calibri" pitchFamily="34" charset="-122"/>
                <a:cs typeface="Calibri" pitchFamily="34" charset="-120"/>
              </a:rPr>
              <a:t>• delocalised electrons → </a:t>
            </a:r>
            <a:endParaRPr lang="en-US" sz="1000" dirty="0"/>
          </a:p>
          <a:p>
            <a:pPr algn="l" indent="0" marL="0">
              <a:buNone/>
            </a:pPr>
            <a:r>
              <a:rPr lang="en-US" sz="1000" b="1" dirty="0">
                <a:solidFill>
                  <a:srgbClr val="262B3A"/>
                </a:solidFill>
                <a:latin typeface="Calibri" pitchFamily="34" charset="0"/>
                <a:ea typeface="Calibri" pitchFamily="34" charset="-122"/>
                <a:cs typeface="Calibri" pitchFamily="34" charset="-120"/>
              </a:rPr>
              <a:t>conduct</a:t>
            </a:r>
            <a:r>
              <a:rPr lang="en-US" sz="1000" dirty="0">
                <a:solidFill>
                  <a:srgbClr val="262B3A"/>
                </a:solidFill>
                <a:latin typeface="Calibri" pitchFamily="34" charset="0"/>
                <a:ea typeface="Calibri" pitchFamily="34" charset="-122"/>
                <a:cs typeface="Calibri" pitchFamily="34" charset="-120"/>
              </a:rPr>
              <a:t>: tiny circuits</a:t>
            </a:r>
            <a:endParaRPr lang="en-US" sz="1000" dirty="0"/>
          </a:p>
          <a:p>
            <a:pPr algn="l" indent="0" marL="0">
              <a:buNone/>
            </a:pPr>
            <a:r>
              <a:rPr lang="en-US" sz="1000" dirty="0">
                <a:solidFill>
                  <a:srgbClr val="262B3A"/>
                </a:solidFill>
                <a:latin typeface="Calibri" pitchFamily="34" charset="0"/>
                <a:ea typeface="Calibri" pitchFamily="34" charset="-122"/>
                <a:cs typeface="Calibri" pitchFamily="34" charset="-120"/>
              </a:rPr>
              <a:t>• hollow cage / tube → </a:t>
            </a:r>
            <a:endParaRPr lang="en-US" sz="1000" dirty="0"/>
          </a:p>
          <a:p>
            <a:pPr algn="l" indent="0" marL="0">
              <a:buNone/>
            </a:pPr>
            <a:r>
              <a:rPr lang="en-US" sz="1000" b="1" dirty="0">
                <a:solidFill>
                  <a:srgbClr val="262B3A"/>
                </a:solidFill>
                <a:latin typeface="Calibri" pitchFamily="34" charset="0"/>
                <a:ea typeface="Calibri" pitchFamily="34" charset="-122"/>
                <a:cs typeface="Calibri" pitchFamily="34" charset="-120"/>
              </a:rPr>
              <a:t>carry drugs</a:t>
            </a:r>
            <a:r>
              <a:rPr lang="en-US" sz="1000" dirty="0">
                <a:solidFill>
                  <a:srgbClr val="262B3A"/>
                </a:solidFill>
                <a:latin typeface="Calibri" pitchFamily="34" charset="0"/>
                <a:ea typeface="Calibri" pitchFamily="34" charset="-122"/>
                <a:cs typeface="Calibri" pitchFamily="34" charset="-120"/>
              </a:rPr>
              <a:t>; balls → </a:t>
            </a:r>
            <a:r>
              <a:rPr lang="en-US" sz="1000" b="1" dirty="0">
                <a:solidFill>
                  <a:srgbClr val="262B3A"/>
                </a:solidFill>
                <a:latin typeface="Calibri" pitchFamily="34" charset="0"/>
                <a:ea typeface="Calibri" pitchFamily="34" charset="-122"/>
                <a:cs typeface="Calibri" pitchFamily="34" charset="-120"/>
              </a:rPr>
              <a:t>lubricants</a:t>
            </a:r>
            <a:endParaRPr lang="en-US" sz="1000" dirty="0"/>
          </a:p>
        </p:txBody>
      </p:sp>
      <p:sp>
        <p:nvSpPr>
          <p:cNvPr id="280" name="Shape 278"/>
          <p:cNvSpPr/>
          <p:nvPr/>
        </p:nvSpPr>
        <p:spPr>
          <a:xfrm>
            <a:off x="6217920" y="1188720"/>
            <a:ext cx="5559552" cy="2514600"/>
          </a:xfrm>
          <a:prstGeom prst="roundRect">
            <a:avLst>
              <a:gd name="adj" fmla="val 2182"/>
            </a:avLst>
          </a:prstGeom>
          <a:solidFill>
            <a:srgbClr val="F8F5FC"/>
          </a:solidFill>
          <a:ln w="9525">
            <a:solidFill>
              <a:srgbClr val="DDD3EC"/>
            </a:solidFill>
            <a:prstDash val="solid"/>
          </a:ln>
        </p:spPr>
      </p:sp>
      <p:sp>
        <p:nvSpPr>
          <p:cNvPr id="281" name="Text 279"/>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Tubes and rings of carbon atoms</a:t>
            </a:r>
            <a:endParaRPr lang="en-US" sz="1300" dirty="0"/>
          </a:p>
        </p:txBody>
      </p:sp>
      <p:sp>
        <p:nvSpPr>
          <p:cNvPr id="282" name="Text 280"/>
          <p:cNvSpPr/>
          <p:nvPr/>
        </p:nvSpPr>
        <p:spPr>
          <a:xfrm>
            <a:off x="6382512" y="1609344"/>
            <a:ext cx="5230368" cy="2020824"/>
          </a:xfrm>
          <a:prstGeom prst="rect">
            <a:avLst/>
          </a:prstGeom>
          <a:noFill/>
          <a:ln/>
        </p:spPr>
        <p:txBody>
          <a:bodyPr wrap="square" lIns="0" tIns="0" rIns="0" bIns="0" rtlCol="0" anchor="t"/>
          <a:lstStyle/>
          <a:p>
            <a:pPr marL="152400" indent="-152400">
              <a:spcAft>
                <a:spcPts val="300"/>
              </a:spcAft>
              <a:buSzPct val="100000"/>
              <a:buChar char="▪"/>
            </a:pPr>
            <a:r>
              <a:rPr lang="en-US" sz="1250" b="1" dirty="0">
                <a:solidFill>
                  <a:srgbClr val="262B3A"/>
                </a:solidFill>
                <a:latin typeface="Calibri" pitchFamily="34" charset="0"/>
                <a:ea typeface="Calibri" pitchFamily="34" charset="-122"/>
                <a:cs typeface="Calibri" pitchFamily="34" charset="-120"/>
              </a:rPr>
              <a:t>Graphene</a:t>
            </a:r>
            <a:r>
              <a:rPr lang="en-US" sz="1250" dirty="0">
                <a:solidFill>
                  <a:srgbClr val="262B3A"/>
                </a:solidFill>
                <a:latin typeface="Calibri" pitchFamily="34" charset="0"/>
                <a:ea typeface="Calibri" pitchFamily="34" charset="-122"/>
                <a:cs typeface="Calibri" pitchFamily="34" charset="-120"/>
              </a:rPr>
              <a:t> is one layer of graphite. A </a:t>
            </a:r>
            <a:r>
              <a:rPr lang="en-US" sz="1250" b="1" dirty="0">
                <a:solidFill>
                  <a:srgbClr val="262B3A"/>
                </a:solidFill>
                <a:latin typeface="Calibri" pitchFamily="34" charset="0"/>
                <a:ea typeface="Calibri" pitchFamily="34" charset="-122"/>
                <a:cs typeface="Calibri" pitchFamily="34" charset="-120"/>
              </a:rPr>
              <a:t>nanotube</a:t>
            </a:r>
            <a:r>
              <a:rPr lang="en-US" sz="1250" dirty="0">
                <a:solidFill>
                  <a:srgbClr val="262B3A"/>
                </a:solidFill>
                <a:latin typeface="Calibri" pitchFamily="34" charset="0"/>
                <a:ea typeface="Calibri" pitchFamily="34" charset="-122"/>
                <a:cs typeface="Calibri" pitchFamily="34" charset="-120"/>
              </a:rPr>
              <a:t> is graphene rolled into a cylinder: each C atom is </a:t>
            </a:r>
            <a:r>
              <a:rPr lang="en-US" sz="1250" b="1" dirty="0">
                <a:solidFill>
                  <a:srgbClr val="262B3A"/>
                </a:solidFill>
                <a:latin typeface="Calibri" pitchFamily="34" charset="0"/>
                <a:ea typeface="Calibri" pitchFamily="34" charset="-122"/>
                <a:cs typeface="Calibri" pitchFamily="34" charset="-120"/>
              </a:rPr>
              <a:t>covalently bonded</a:t>
            </a:r>
            <a:r>
              <a:rPr lang="en-US" sz="1250" dirty="0">
                <a:solidFill>
                  <a:srgbClr val="262B3A"/>
                </a:solidFill>
                <a:latin typeface="Calibri" pitchFamily="34" charset="0"/>
                <a:ea typeface="Calibri" pitchFamily="34" charset="-122"/>
                <a:cs typeface="Calibri" pitchFamily="34" charset="-120"/>
              </a:rPr>
              <a:t> to three others in hexagons.</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fullerene</a:t>
            </a:r>
            <a:r>
              <a:rPr lang="en-US" sz="1250" dirty="0">
                <a:solidFill>
                  <a:srgbClr val="262B3A"/>
                </a:solidFill>
                <a:latin typeface="Calibri" pitchFamily="34" charset="0"/>
                <a:ea typeface="Calibri" pitchFamily="34" charset="-122"/>
                <a:cs typeface="Calibri" pitchFamily="34" charset="-120"/>
              </a:rPr>
              <a:t> is a hollow cage of carbon atoms in </a:t>
            </a:r>
            <a:r>
              <a:rPr lang="en-US" sz="1250" b="1" dirty="0">
                <a:solidFill>
                  <a:srgbClr val="262B3A"/>
                </a:solidFill>
                <a:latin typeface="Calibri" pitchFamily="34" charset="0"/>
                <a:ea typeface="Calibri" pitchFamily="34" charset="-122"/>
                <a:cs typeface="Calibri" pitchFamily="34" charset="-120"/>
              </a:rPr>
              <a:t>rings</a:t>
            </a:r>
            <a:r>
              <a:rPr lang="en-US" sz="1250" dirty="0">
                <a:solidFill>
                  <a:srgbClr val="262B3A"/>
                </a:solidFill>
                <a:latin typeface="Calibri" pitchFamily="34" charset="0"/>
                <a:ea typeface="Calibri" pitchFamily="34" charset="-122"/>
                <a:cs typeface="Calibri" pitchFamily="34" charset="-120"/>
              </a:rPr>
              <a:t> of 5 and 6. The first found was </a:t>
            </a:r>
            <a:r>
              <a:rPr lang="en-US" sz="1250" b="1" dirty="0">
                <a:solidFill>
                  <a:srgbClr val="262B3A"/>
                </a:solidFill>
                <a:latin typeface="Calibri" pitchFamily="34" charset="0"/>
                <a:ea typeface="Calibri" pitchFamily="34" charset="-122"/>
                <a:cs typeface="Calibri" pitchFamily="34" charset="-120"/>
              </a:rPr>
              <a:t>C₆₀</a:t>
            </a:r>
            <a:r>
              <a:rPr lang="en-US" sz="1250" dirty="0">
                <a:solidFill>
                  <a:srgbClr val="262B3A"/>
                </a:solidFill>
                <a:latin typeface="Calibri" pitchFamily="34" charset="0"/>
                <a:ea typeface="Calibri" pitchFamily="34" charset="-122"/>
                <a:cs typeface="Calibri" pitchFamily="34" charset="-120"/>
              </a:rPr>
              <a:t> (buckminsterfullerene).</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Nanotubes are only about </a:t>
            </a:r>
            <a:r>
              <a:rPr lang="en-US" sz="1250" b="1" dirty="0">
                <a:solidFill>
                  <a:srgbClr val="262B3A"/>
                </a:solidFill>
                <a:latin typeface="Calibri" pitchFamily="34" charset="0"/>
                <a:ea typeface="Calibri" pitchFamily="34" charset="-122"/>
                <a:cs typeface="Calibri" pitchFamily="34" charset="-120"/>
              </a:rPr>
              <a:t>1 nm</a:t>
            </a:r>
            <a:r>
              <a:rPr lang="en-US" sz="1250" dirty="0">
                <a:solidFill>
                  <a:srgbClr val="262B3A"/>
                </a:solidFill>
                <a:latin typeface="Calibri" pitchFamily="34" charset="0"/>
                <a:ea typeface="Calibri" pitchFamily="34" charset="-122"/>
                <a:cs typeface="Calibri" pitchFamily="34" charset="-120"/>
              </a:rPr>
              <a:t> wide but can be </a:t>
            </a:r>
            <a:r>
              <a:rPr lang="en-US" sz="1250" b="1" dirty="0">
                <a:solidFill>
                  <a:srgbClr val="262B3A"/>
                </a:solidFill>
                <a:latin typeface="Calibri" pitchFamily="34" charset="0"/>
                <a:ea typeface="Calibri" pitchFamily="34" charset="-122"/>
                <a:cs typeface="Calibri" pitchFamily="34" charset="-120"/>
              </a:rPr>
              <a:t>thousands</a:t>
            </a:r>
            <a:r>
              <a:rPr lang="en-US" sz="1250" dirty="0">
                <a:solidFill>
                  <a:srgbClr val="262B3A"/>
                </a:solidFill>
                <a:latin typeface="Calibri" pitchFamily="34" charset="0"/>
                <a:ea typeface="Calibri" pitchFamily="34" charset="-122"/>
                <a:cs typeface="Calibri" pitchFamily="34" charset="-120"/>
              </a:rPr>
              <a:t> of times longer.</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Their </a:t>
            </a:r>
            <a:r>
              <a:rPr lang="en-US" sz="1250" b="1" dirty="0">
                <a:solidFill>
                  <a:srgbClr val="262B3A"/>
                </a:solidFill>
                <a:latin typeface="Calibri" pitchFamily="34" charset="0"/>
                <a:ea typeface="Calibri" pitchFamily="34" charset="-122"/>
                <a:cs typeface="Calibri" pitchFamily="34" charset="-120"/>
              </a:rPr>
              <a:t>arrangement of atoms</a:t>
            </a:r>
            <a:r>
              <a:rPr lang="en-US" sz="1250" dirty="0">
                <a:solidFill>
                  <a:srgbClr val="262B3A"/>
                </a:solidFill>
                <a:latin typeface="Calibri" pitchFamily="34" charset="0"/>
                <a:ea typeface="Calibri" pitchFamily="34" charset="-122"/>
                <a:cs typeface="Calibri" pitchFamily="34" charset="-120"/>
              </a:rPr>
              <a:t> gives them their properties, and so their uses.</a:t>
            </a:r>
            <a:endParaRPr lang="en-US" sz="1250" dirty="0"/>
          </a:p>
        </p:txBody>
      </p:sp>
      <p:sp>
        <p:nvSpPr>
          <p:cNvPr id="283" name="Shape 281"/>
          <p:cNvSpPr/>
          <p:nvPr/>
        </p:nvSpPr>
        <p:spPr>
          <a:xfrm>
            <a:off x="6217920" y="3840480"/>
            <a:ext cx="5559552" cy="1874520"/>
          </a:xfrm>
          <a:prstGeom prst="roundRect">
            <a:avLst>
              <a:gd name="adj" fmla="val 2927"/>
            </a:avLst>
          </a:prstGeom>
          <a:solidFill>
            <a:srgbClr val="FFF4E0"/>
          </a:solidFill>
          <a:ln w="9525">
            <a:solidFill>
              <a:srgbClr val="F1D9A8"/>
            </a:solidFill>
            <a:prstDash val="solid"/>
          </a:ln>
        </p:spPr>
      </p:sp>
      <p:sp>
        <p:nvSpPr>
          <p:cNvPr id="284" name="Text 282"/>
          <p:cNvSpPr/>
          <p:nvPr/>
        </p:nvSpPr>
        <p:spPr>
          <a:xfrm>
            <a:off x="6382512" y="391363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long compared with how wide?</a:t>
            </a:r>
            <a:endParaRPr lang="en-US" sz="1300" dirty="0"/>
          </a:p>
        </p:txBody>
      </p:sp>
      <p:sp>
        <p:nvSpPr>
          <p:cNvPr id="285" name="Text 283"/>
          <p:cNvSpPr/>
          <p:nvPr/>
        </p:nvSpPr>
        <p:spPr>
          <a:xfrm>
            <a:off x="6382512" y="4224528"/>
            <a:ext cx="5230368" cy="14173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nanotube is 1 nm wide and 1 µm long (1 µm = 1000 nm).</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Same units   </a:t>
            </a:r>
            <a:r>
              <a:rPr lang="en-US" sz="1050" dirty="0">
                <a:solidFill>
                  <a:srgbClr val="262B3A"/>
                </a:solidFill>
                <a:latin typeface="Calibri" pitchFamily="34" charset="0"/>
                <a:ea typeface="Calibri" pitchFamily="34" charset="-122"/>
                <a:cs typeface="Calibri" pitchFamily="34" charset="-120"/>
              </a:rPr>
              <a:t>1 µm = 1000 nm</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Ratio   </a:t>
            </a:r>
            <a:r>
              <a:rPr lang="en-US" sz="1050" dirty="0">
                <a:solidFill>
                  <a:srgbClr val="262B3A"/>
                </a:solidFill>
                <a:latin typeface="Calibri" pitchFamily="34" charset="0"/>
                <a:ea typeface="Calibri" pitchFamily="34" charset="-122"/>
                <a:cs typeface="Calibri" pitchFamily="34" charset="-120"/>
              </a:rPr>
              <a:t>length ÷ width = 1000 ÷ 1</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the tube is </a:t>
            </a:r>
            <a:r>
              <a:rPr lang="en-US" sz="1050" b="1" dirty="0">
                <a:solidFill>
                  <a:srgbClr val="C8414C"/>
                </a:solidFill>
                <a:latin typeface="Calibri" pitchFamily="34" charset="0"/>
                <a:ea typeface="Calibri" pitchFamily="34" charset="-122"/>
                <a:cs typeface="Calibri" pitchFamily="34" charset="-120"/>
              </a:rPr>
              <a:t>1000 times</a:t>
            </a:r>
            <a:r>
              <a:rPr lang="en-US" sz="1050" b="1" dirty="0">
                <a:solidFill>
                  <a:srgbClr val="C8414C"/>
                </a:solidFill>
                <a:latin typeface="Calibri" pitchFamily="34" charset="0"/>
                <a:ea typeface="Calibri" pitchFamily="34" charset="-122"/>
                <a:cs typeface="Calibri" pitchFamily="34" charset="-120"/>
              </a:rPr>
              <a:t> longer than it is wide</a:t>
            </a:r>
            <a:endParaRPr lang="en-US" sz="1050" dirty="0"/>
          </a:p>
        </p:txBody>
      </p:sp>
      <p:sp>
        <p:nvSpPr>
          <p:cNvPr id="286" name="Shape 284"/>
          <p:cNvSpPr/>
          <p:nvPr/>
        </p:nvSpPr>
        <p:spPr>
          <a:xfrm>
            <a:off x="411480" y="5833872"/>
            <a:ext cx="11368735" cy="530352"/>
          </a:xfrm>
          <a:prstGeom prst="rect">
            <a:avLst/>
          </a:prstGeom>
          <a:solidFill>
            <a:srgbClr val="FFF4E0"/>
          </a:solidFill>
          <a:ln w="6350">
            <a:solidFill>
              <a:srgbClr val="F1D9A8"/>
            </a:solidFill>
            <a:prstDash val="solid"/>
          </a:ln>
        </p:spPr>
      </p:sp>
      <p:sp>
        <p:nvSpPr>
          <p:cNvPr id="287" name="Shape 285"/>
          <p:cNvSpPr/>
          <p:nvPr/>
        </p:nvSpPr>
        <p:spPr>
          <a:xfrm>
            <a:off x="411480" y="5833872"/>
            <a:ext cx="82296" cy="530352"/>
          </a:xfrm>
          <a:prstGeom prst="rect">
            <a:avLst/>
          </a:prstGeom>
          <a:solidFill>
            <a:srgbClr val="E39A2F"/>
          </a:solidFill>
          <a:ln w="12700">
            <a:solidFill>
              <a:srgbClr val="E39A2F"/>
            </a:solidFill>
            <a:prstDash val="solid"/>
          </a:ln>
        </p:spPr>
      </p:sp>
      <p:sp>
        <p:nvSpPr>
          <p:cNvPr id="288" name="Text 28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carbon nanotubes are </a:t>
            </a:r>
            <a:r>
              <a:rPr lang="en-US" sz="1150" b="1" dirty="0">
                <a:solidFill>
                  <a:srgbClr val="262B3A"/>
                </a:solidFill>
                <a:latin typeface="Calibri" pitchFamily="34" charset="0"/>
                <a:ea typeface="Calibri" pitchFamily="34" charset="-122"/>
                <a:cs typeface="Calibri" pitchFamily="34" charset="-120"/>
              </a:rPr>
              <a:t>strong</a:t>
            </a:r>
            <a:r>
              <a:rPr lang="en-US" sz="1150" dirty="0">
                <a:solidFill>
                  <a:srgbClr val="262B3A"/>
                </a:solidFill>
                <a:latin typeface="Calibri" pitchFamily="34" charset="0"/>
                <a:ea typeface="Calibri" pitchFamily="34" charset="-122"/>
                <a:cs typeface="Calibri" pitchFamily="34" charset="-120"/>
              </a:rPr>
              <a:t>. A nanotube </a:t>
            </a:r>
            <a:r>
              <a:rPr lang="en-US" sz="1150" b="1" dirty="0">
                <a:solidFill>
                  <a:srgbClr val="262B3A"/>
                </a:solidFill>
                <a:latin typeface="Calibri" pitchFamily="34" charset="0"/>
                <a:ea typeface="Calibri" pitchFamily="34" charset="-122"/>
                <a:cs typeface="Calibri" pitchFamily="34" charset="-120"/>
              </a:rPr>
              <a:t>1.5 nm</a:t>
            </a:r>
            <a:r>
              <a:rPr lang="en-US" sz="1150" dirty="0">
                <a:solidFill>
                  <a:srgbClr val="262B3A"/>
                </a:solidFill>
                <a:latin typeface="Calibri" pitchFamily="34" charset="0"/>
                <a:ea typeface="Calibri" pitchFamily="34" charset="-122"/>
                <a:cs typeface="Calibri" pitchFamily="34" charset="-120"/>
              </a:rPr>
              <a:t> wide is </a:t>
            </a:r>
            <a:r>
              <a:rPr lang="en-US" sz="1150" b="1" dirty="0">
                <a:solidFill>
                  <a:srgbClr val="262B3A"/>
                </a:solidFill>
                <a:latin typeface="Calibri" pitchFamily="34" charset="0"/>
                <a:ea typeface="Calibri" pitchFamily="34" charset="-122"/>
                <a:cs typeface="Calibri" pitchFamily="34" charset="-120"/>
              </a:rPr>
              <a:t>3000</a:t>
            </a:r>
            <a:r>
              <a:rPr lang="en-US" sz="1150" dirty="0">
                <a:solidFill>
                  <a:srgbClr val="262B3A"/>
                </a:solidFill>
                <a:latin typeface="Calibri" pitchFamily="34" charset="0"/>
                <a:ea typeface="Calibri" pitchFamily="34" charset="-122"/>
                <a:cs typeface="Calibri" pitchFamily="34" charset="-120"/>
              </a:rPr>
              <a:t> times longer than its width: how long is it in </a:t>
            </a:r>
            <a:r>
              <a:rPr lang="en-US" sz="1150" b="1" dirty="0">
                <a:solidFill>
                  <a:srgbClr val="262B3A"/>
                </a:solidFill>
                <a:latin typeface="Calibri" pitchFamily="34" charset="0"/>
                <a:ea typeface="Calibri" pitchFamily="34" charset="-122"/>
                <a:cs typeface="Calibri" pitchFamily="34" charset="-120"/>
              </a:rPr>
              <a:t>µm</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Nanoparticles in materials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C4.3.4 • adding nanoparticles to a material changes its properties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C4.3.4  |  16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nanoparticles embedded in a matrix; sizes exaggerated</a:t>
            </a:r>
            <a:endParaRPr lang="en-US" sz="1000" dirty="0"/>
          </a:p>
        </p:txBody>
      </p:sp>
      <p:sp>
        <p:nvSpPr>
          <p:cNvPr id="10" name="Text 8"/>
          <p:cNvSpPr/>
          <p:nvPr/>
        </p:nvSpPr>
        <p:spPr>
          <a:xfrm>
            <a:off x="594360" y="1325880"/>
            <a:ext cx="256032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Silver in sock fibres</a:t>
            </a:r>
            <a:endParaRPr lang="en-US" sz="1100" dirty="0"/>
          </a:p>
        </p:txBody>
      </p:sp>
      <p:sp>
        <p:nvSpPr>
          <p:cNvPr id="11" name="Shape 9"/>
          <p:cNvSpPr/>
          <p:nvPr/>
        </p:nvSpPr>
        <p:spPr>
          <a:xfrm>
            <a:off x="777240" y="1691640"/>
            <a:ext cx="1056132" cy="1508760"/>
          </a:xfrm>
          <a:custGeom>
            <a:avLst/>
            <a:gdLst/>
            <a:ahLst/>
            <a:cxnLst/>
            <a:rect l="l" t="t" r="r" b="b"/>
            <a:pathLst>
              <a:path w="1056132" h="1508760">
                <a:moveTo>
                  <a:pt x="0" y="0"/>
                </a:moveTo>
                <a:lnTo>
                  <a:pt x="553212" y="0"/>
                </a:lnTo>
                <a:lnTo>
                  <a:pt x="553212" y="955548"/>
                </a:lnTo>
                <a:lnTo>
                  <a:pt x="1056132" y="1156716"/>
                </a:lnTo>
                <a:lnTo>
                  <a:pt x="1056132" y="1508760"/>
                </a:lnTo>
                <a:lnTo>
                  <a:pt x="100584" y="1508760"/>
                </a:lnTo>
                <a:lnTo>
                  <a:pt x="0" y="1307592"/>
                </a:lnTo>
                <a:close/>
              </a:path>
            </a:pathLst>
          </a:custGeom>
          <a:solidFill>
            <a:srgbClr val="EDEFF3"/>
          </a:solidFill>
          <a:ln w="15875">
            <a:solidFill>
              <a:srgbClr val="6B7385"/>
            </a:solidFill>
            <a:prstDash val="solid"/>
          </a:ln>
        </p:spPr>
      </p:sp>
      <p:sp>
        <p:nvSpPr>
          <p:cNvPr id="12" name="Shape 10"/>
          <p:cNvSpPr/>
          <p:nvPr/>
        </p:nvSpPr>
        <p:spPr>
          <a:xfrm>
            <a:off x="777240" y="1691640"/>
            <a:ext cx="553212" cy="160934"/>
          </a:xfrm>
          <a:prstGeom prst="rect">
            <a:avLst/>
          </a:prstGeom>
          <a:solidFill>
            <a:srgbClr val="C9CED6"/>
          </a:solidFill>
          <a:ln w="9525">
            <a:solidFill>
              <a:srgbClr val="6B7385"/>
            </a:solidFill>
            <a:prstDash val="solid"/>
          </a:ln>
        </p:spPr>
      </p:sp>
      <p:sp>
        <p:nvSpPr>
          <p:cNvPr id="13" name="Shape 11"/>
          <p:cNvSpPr/>
          <p:nvPr/>
        </p:nvSpPr>
        <p:spPr>
          <a:xfrm>
            <a:off x="2240280" y="2148840"/>
            <a:ext cx="914400" cy="914400"/>
          </a:xfrm>
          <a:prstGeom prst="ellipse">
            <a:avLst/>
          </a:prstGeom>
          <a:solidFill>
            <a:srgbClr val="EDEFF3"/>
          </a:solidFill>
          <a:ln w="19050">
            <a:solidFill>
              <a:srgbClr val="6B7385"/>
            </a:solidFill>
            <a:prstDash val="solid"/>
          </a:ln>
        </p:spPr>
      </p:sp>
      <p:sp>
        <p:nvSpPr>
          <p:cNvPr id="14" name="Shape 12"/>
          <p:cNvSpPr/>
          <p:nvPr/>
        </p:nvSpPr>
        <p:spPr>
          <a:xfrm>
            <a:off x="2432304" y="2340864"/>
            <a:ext cx="73152" cy="73152"/>
          </a:xfrm>
          <a:prstGeom prst="ellipse">
            <a:avLst/>
          </a:prstGeom>
          <a:solidFill>
            <a:srgbClr val="C9CED6"/>
          </a:solidFill>
          <a:ln w="6350">
            <a:solidFill>
              <a:srgbClr val="7D8592"/>
            </a:solidFill>
            <a:prstDash val="solid"/>
          </a:ln>
        </p:spPr>
      </p:sp>
      <p:sp>
        <p:nvSpPr>
          <p:cNvPr id="15" name="Shape 13"/>
          <p:cNvSpPr/>
          <p:nvPr/>
        </p:nvSpPr>
        <p:spPr>
          <a:xfrm>
            <a:off x="2798064" y="2295144"/>
            <a:ext cx="73152" cy="73152"/>
          </a:xfrm>
          <a:prstGeom prst="ellipse">
            <a:avLst/>
          </a:prstGeom>
          <a:solidFill>
            <a:srgbClr val="C9CED6"/>
          </a:solidFill>
          <a:ln w="6350">
            <a:solidFill>
              <a:srgbClr val="7D8592"/>
            </a:solidFill>
            <a:prstDash val="solid"/>
          </a:ln>
        </p:spPr>
      </p:sp>
      <p:sp>
        <p:nvSpPr>
          <p:cNvPr id="16" name="Shape 14"/>
          <p:cNvSpPr/>
          <p:nvPr/>
        </p:nvSpPr>
        <p:spPr>
          <a:xfrm>
            <a:off x="2569464" y="2706624"/>
            <a:ext cx="73152" cy="73152"/>
          </a:xfrm>
          <a:prstGeom prst="ellipse">
            <a:avLst/>
          </a:prstGeom>
          <a:solidFill>
            <a:srgbClr val="C9CED6"/>
          </a:solidFill>
          <a:ln w="6350">
            <a:solidFill>
              <a:srgbClr val="7D8592"/>
            </a:solidFill>
            <a:prstDash val="solid"/>
          </a:ln>
        </p:spPr>
      </p:sp>
      <p:sp>
        <p:nvSpPr>
          <p:cNvPr id="17" name="Shape 15"/>
          <p:cNvSpPr/>
          <p:nvPr/>
        </p:nvSpPr>
        <p:spPr>
          <a:xfrm>
            <a:off x="2889504" y="2752344"/>
            <a:ext cx="73152" cy="73152"/>
          </a:xfrm>
          <a:prstGeom prst="ellipse">
            <a:avLst/>
          </a:prstGeom>
          <a:solidFill>
            <a:srgbClr val="C9CED6"/>
          </a:solidFill>
          <a:ln w="6350">
            <a:solidFill>
              <a:srgbClr val="7D8592"/>
            </a:solidFill>
            <a:prstDash val="solid"/>
          </a:ln>
        </p:spPr>
      </p:sp>
      <p:sp>
        <p:nvSpPr>
          <p:cNvPr id="18" name="Shape 16"/>
          <p:cNvSpPr/>
          <p:nvPr/>
        </p:nvSpPr>
        <p:spPr>
          <a:xfrm>
            <a:off x="2340864" y="2706624"/>
            <a:ext cx="73152" cy="73152"/>
          </a:xfrm>
          <a:prstGeom prst="ellipse">
            <a:avLst/>
          </a:prstGeom>
          <a:solidFill>
            <a:srgbClr val="C9CED6"/>
          </a:solidFill>
          <a:ln w="6350">
            <a:solidFill>
              <a:srgbClr val="7D8592"/>
            </a:solidFill>
            <a:prstDash val="solid"/>
          </a:ln>
        </p:spPr>
      </p:sp>
      <p:sp>
        <p:nvSpPr>
          <p:cNvPr id="19" name="Shape 17"/>
          <p:cNvSpPr/>
          <p:nvPr/>
        </p:nvSpPr>
        <p:spPr>
          <a:xfrm>
            <a:off x="2706624" y="2523744"/>
            <a:ext cx="73152" cy="73152"/>
          </a:xfrm>
          <a:prstGeom prst="ellipse">
            <a:avLst/>
          </a:prstGeom>
          <a:solidFill>
            <a:srgbClr val="C9CED6"/>
          </a:solidFill>
          <a:ln w="6350">
            <a:solidFill>
              <a:srgbClr val="7D8592"/>
            </a:solidFill>
            <a:prstDash val="solid"/>
          </a:ln>
        </p:spPr>
      </p:sp>
      <p:sp>
        <p:nvSpPr>
          <p:cNvPr id="20" name="Shape 18"/>
          <p:cNvSpPr/>
          <p:nvPr/>
        </p:nvSpPr>
        <p:spPr>
          <a:xfrm>
            <a:off x="2935224" y="2478024"/>
            <a:ext cx="73152" cy="73152"/>
          </a:xfrm>
          <a:prstGeom prst="ellipse">
            <a:avLst/>
          </a:prstGeom>
          <a:solidFill>
            <a:srgbClr val="C9CED6"/>
          </a:solidFill>
          <a:ln w="6350">
            <a:solidFill>
              <a:srgbClr val="7D8592"/>
            </a:solidFill>
            <a:prstDash val="solid"/>
          </a:ln>
        </p:spPr>
      </p:sp>
      <p:sp>
        <p:nvSpPr>
          <p:cNvPr id="21" name="Shape 19"/>
          <p:cNvSpPr/>
          <p:nvPr/>
        </p:nvSpPr>
        <p:spPr>
          <a:xfrm>
            <a:off x="1600200" y="2377440"/>
            <a:ext cx="640080" cy="137160"/>
          </a:xfrm>
          <a:prstGeom prst="line">
            <a:avLst/>
          </a:prstGeom>
          <a:noFill/>
          <a:ln w="12700">
            <a:solidFill>
              <a:srgbClr val="6B7385"/>
            </a:solidFill>
            <a:prstDash val="dash"/>
          </a:ln>
        </p:spPr>
      </p:sp>
      <p:sp>
        <p:nvSpPr>
          <p:cNvPr id="22" name="Text 20"/>
          <p:cNvSpPr/>
          <p:nvPr/>
        </p:nvSpPr>
        <p:spPr>
          <a:xfrm>
            <a:off x="2240280" y="3108960"/>
            <a:ext cx="9144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fibre (cut)</a:t>
            </a:r>
            <a:endParaRPr lang="en-US" sz="1000" dirty="0"/>
          </a:p>
        </p:txBody>
      </p:sp>
      <p:sp>
        <p:nvSpPr>
          <p:cNvPr id="23" name="Text 21"/>
          <p:cNvSpPr/>
          <p:nvPr/>
        </p:nvSpPr>
        <p:spPr>
          <a:xfrm>
            <a:off x="594360" y="3337560"/>
            <a:ext cx="269748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silver kills the bacteria that cause </a:t>
            </a:r>
            <a:r>
              <a:rPr lang="en-US" sz="1000" b="1" dirty="0">
                <a:solidFill>
                  <a:srgbClr val="262B3A"/>
                </a:solidFill>
                <a:latin typeface="Calibri" pitchFamily="34" charset="0"/>
                <a:ea typeface="Calibri" pitchFamily="34" charset="-122"/>
                <a:cs typeface="Calibri" pitchFamily="34" charset="-120"/>
              </a:rPr>
              <a:t>odour</a:t>
            </a:r>
            <a:endParaRPr lang="en-US" sz="1000" dirty="0"/>
          </a:p>
        </p:txBody>
      </p:sp>
      <p:sp>
        <p:nvSpPr>
          <p:cNvPr id="24" name="Text 22"/>
          <p:cNvSpPr/>
          <p:nvPr/>
        </p:nvSpPr>
        <p:spPr>
          <a:xfrm>
            <a:off x="3429000" y="1325880"/>
            <a:ext cx="23774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Nanotubes in a plastic</a:t>
            </a:r>
            <a:endParaRPr lang="en-US" sz="1100" dirty="0"/>
          </a:p>
        </p:txBody>
      </p:sp>
      <p:sp>
        <p:nvSpPr>
          <p:cNvPr id="25" name="Shape 23"/>
          <p:cNvSpPr/>
          <p:nvPr/>
        </p:nvSpPr>
        <p:spPr>
          <a:xfrm>
            <a:off x="3520440" y="1691640"/>
            <a:ext cx="2194560" cy="1417320"/>
          </a:xfrm>
          <a:prstGeom prst="rect">
            <a:avLst/>
          </a:prstGeom>
          <a:solidFill>
            <a:srgbClr val="DDE7F2"/>
          </a:solidFill>
          <a:ln w="15875">
            <a:solidFill>
              <a:srgbClr val="5B9BD5"/>
            </a:solidFill>
            <a:prstDash val="solid"/>
          </a:ln>
        </p:spPr>
      </p:sp>
      <p:sp>
        <p:nvSpPr>
          <p:cNvPr id="26" name="Shape 24"/>
          <p:cNvSpPr/>
          <p:nvPr/>
        </p:nvSpPr>
        <p:spPr>
          <a:xfrm>
            <a:off x="3611880" y="1828800"/>
            <a:ext cx="457200" cy="137160"/>
          </a:xfrm>
          <a:prstGeom prst="line">
            <a:avLst/>
          </a:prstGeom>
          <a:noFill/>
          <a:ln w="31750">
            <a:solidFill>
              <a:srgbClr val="23262E"/>
            </a:solidFill>
            <a:prstDash val="solid"/>
          </a:ln>
        </p:spPr>
      </p:sp>
      <p:sp>
        <p:nvSpPr>
          <p:cNvPr id="27" name="Shape 25"/>
          <p:cNvSpPr/>
          <p:nvPr/>
        </p:nvSpPr>
        <p:spPr>
          <a:xfrm flipV="1">
            <a:off x="4206240" y="2011680"/>
            <a:ext cx="548640" cy="91440"/>
          </a:xfrm>
          <a:prstGeom prst="line">
            <a:avLst/>
          </a:prstGeom>
          <a:noFill/>
          <a:ln w="31750">
            <a:solidFill>
              <a:srgbClr val="23262E"/>
            </a:solidFill>
            <a:prstDash val="solid"/>
          </a:ln>
        </p:spPr>
      </p:sp>
      <p:sp>
        <p:nvSpPr>
          <p:cNvPr id="28" name="Shape 26"/>
          <p:cNvSpPr/>
          <p:nvPr/>
        </p:nvSpPr>
        <p:spPr>
          <a:xfrm>
            <a:off x="3749040" y="2514600"/>
            <a:ext cx="502920" cy="182880"/>
          </a:xfrm>
          <a:prstGeom prst="line">
            <a:avLst/>
          </a:prstGeom>
          <a:noFill/>
          <a:ln w="31750">
            <a:solidFill>
              <a:srgbClr val="23262E"/>
            </a:solidFill>
            <a:prstDash val="solid"/>
          </a:ln>
        </p:spPr>
      </p:sp>
      <p:sp>
        <p:nvSpPr>
          <p:cNvPr id="29" name="Shape 27"/>
          <p:cNvSpPr/>
          <p:nvPr/>
        </p:nvSpPr>
        <p:spPr>
          <a:xfrm flipV="1">
            <a:off x="4572000" y="2468880"/>
            <a:ext cx="594360" cy="137160"/>
          </a:xfrm>
          <a:prstGeom prst="line">
            <a:avLst/>
          </a:prstGeom>
          <a:noFill/>
          <a:ln w="31750">
            <a:solidFill>
              <a:srgbClr val="23262E"/>
            </a:solidFill>
            <a:prstDash val="solid"/>
          </a:ln>
        </p:spPr>
      </p:sp>
      <p:sp>
        <p:nvSpPr>
          <p:cNvPr id="30" name="Shape 28"/>
          <p:cNvSpPr/>
          <p:nvPr/>
        </p:nvSpPr>
        <p:spPr>
          <a:xfrm>
            <a:off x="4846320" y="1920240"/>
            <a:ext cx="548640" cy="164592"/>
          </a:xfrm>
          <a:prstGeom prst="line">
            <a:avLst/>
          </a:prstGeom>
          <a:noFill/>
          <a:ln w="31750">
            <a:solidFill>
              <a:srgbClr val="23262E"/>
            </a:solidFill>
            <a:prstDash val="solid"/>
          </a:ln>
        </p:spPr>
      </p:sp>
      <p:sp>
        <p:nvSpPr>
          <p:cNvPr id="31" name="Shape 29"/>
          <p:cNvSpPr/>
          <p:nvPr/>
        </p:nvSpPr>
        <p:spPr>
          <a:xfrm flipV="1">
            <a:off x="3931920" y="2852928"/>
            <a:ext cx="640080" cy="73152"/>
          </a:xfrm>
          <a:prstGeom prst="line">
            <a:avLst/>
          </a:prstGeom>
          <a:noFill/>
          <a:ln w="31750">
            <a:solidFill>
              <a:srgbClr val="23262E"/>
            </a:solidFill>
            <a:prstDash val="solid"/>
          </a:ln>
        </p:spPr>
      </p:sp>
      <p:sp>
        <p:nvSpPr>
          <p:cNvPr id="32" name="Text 30"/>
          <p:cNvSpPr/>
          <p:nvPr/>
        </p:nvSpPr>
        <p:spPr>
          <a:xfrm>
            <a:off x="3429000" y="3154680"/>
            <a:ext cx="2377440" cy="4114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plastic matrix + nanotubes:
</a:t>
            </a:r>
            <a:r>
              <a:rPr lang="en-US" sz="1000" b="1" dirty="0">
                <a:solidFill>
                  <a:srgbClr val="262B3A"/>
                </a:solidFill>
                <a:latin typeface="Calibri" pitchFamily="34" charset="0"/>
                <a:ea typeface="Calibri" pitchFamily="34" charset="-122"/>
                <a:cs typeface="Calibri" pitchFamily="34" charset="-120"/>
              </a:rPr>
              <a:t>stronger</a:t>
            </a:r>
            <a:r>
              <a:rPr lang="en-US" sz="1000" dirty="0">
                <a:solidFill>
                  <a:srgbClr val="262B3A"/>
                </a:solidFill>
                <a:latin typeface="Calibri" pitchFamily="34" charset="0"/>
                <a:ea typeface="Calibri" pitchFamily="34" charset="-122"/>
                <a:cs typeface="Calibri" pitchFamily="34" charset="-120"/>
              </a:rPr>
              <a:t> and </a:t>
            </a:r>
            <a:r>
              <a:rPr lang="en-US" sz="1000" b="1" dirty="0">
                <a:solidFill>
                  <a:srgbClr val="262B3A"/>
                </a:solidFill>
                <a:latin typeface="Calibri" pitchFamily="34" charset="0"/>
                <a:ea typeface="Calibri" pitchFamily="34" charset="-122"/>
                <a:cs typeface="Calibri" pitchFamily="34" charset="-120"/>
              </a:rPr>
              <a:t>lighter</a:t>
            </a:r>
            <a:endParaRPr lang="en-US" sz="1000" dirty="0"/>
          </a:p>
        </p:txBody>
      </p:sp>
      <p:sp>
        <p:nvSpPr>
          <p:cNvPr id="33" name="Text 31"/>
          <p:cNvSpPr/>
          <p:nvPr/>
        </p:nvSpPr>
        <p:spPr>
          <a:xfrm>
            <a:off x="594360" y="3657600"/>
            <a:ext cx="521208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Nanoclay layers in a plastic bottle wall</a:t>
            </a:r>
            <a:r>
              <a:rPr lang="en-US" sz="1050" dirty="0">
                <a:solidFill>
                  <a:srgbClr val="262B3A"/>
                </a:solidFill>
                <a:latin typeface="Calibri" pitchFamily="34" charset="0"/>
                <a:ea typeface="Calibri" pitchFamily="34" charset="-122"/>
                <a:cs typeface="Calibri" pitchFamily="34" charset="-120"/>
              </a:rPr>
              <a:t>: gas molecules must take a long path</a:t>
            </a:r>
            <a:endParaRPr lang="en-US" sz="1050" dirty="0"/>
          </a:p>
        </p:txBody>
      </p:sp>
      <p:sp>
        <p:nvSpPr>
          <p:cNvPr id="34" name="Shape 32"/>
          <p:cNvSpPr/>
          <p:nvPr/>
        </p:nvSpPr>
        <p:spPr>
          <a:xfrm>
            <a:off x="777240" y="3977640"/>
            <a:ext cx="4846320" cy="960120"/>
          </a:xfrm>
          <a:prstGeom prst="rect">
            <a:avLst/>
          </a:prstGeom>
          <a:solidFill>
            <a:srgbClr val="F4F0FA"/>
          </a:solidFill>
          <a:ln w="12700">
            <a:solidFill>
              <a:srgbClr val="9A86C2"/>
            </a:solidFill>
            <a:prstDash val="solid"/>
          </a:ln>
        </p:spPr>
      </p:sp>
      <p:sp>
        <p:nvSpPr>
          <p:cNvPr id="35" name="Shape 33"/>
          <p:cNvSpPr/>
          <p:nvPr/>
        </p:nvSpPr>
        <p:spPr>
          <a:xfrm>
            <a:off x="914400" y="4114800"/>
            <a:ext cx="1005840" cy="64008"/>
          </a:xfrm>
          <a:prstGeom prst="rect">
            <a:avLst/>
          </a:prstGeom>
          <a:solidFill>
            <a:srgbClr val="8A6D3B"/>
          </a:solidFill>
          <a:ln/>
        </p:spPr>
      </p:sp>
      <p:sp>
        <p:nvSpPr>
          <p:cNvPr id="36" name="Shape 34"/>
          <p:cNvSpPr/>
          <p:nvPr/>
        </p:nvSpPr>
        <p:spPr>
          <a:xfrm>
            <a:off x="2194560" y="4114800"/>
            <a:ext cx="1005840" cy="64008"/>
          </a:xfrm>
          <a:prstGeom prst="rect">
            <a:avLst/>
          </a:prstGeom>
          <a:solidFill>
            <a:srgbClr val="8A6D3B"/>
          </a:solidFill>
          <a:ln/>
        </p:spPr>
      </p:sp>
      <p:sp>
        <p:nvSpPr>
          <p:cNvPr id="37" name="Shape 35"/>
          <p:cNvSpPr/>
          <p:nvPr/>
        </p:nvSpPr>
        <p:spPr>
          <a:xfrm>
            <a:off x="3474720" y="4114800"/>
            <a:ext cx="1005840" cy="64008"/>
          </a:xfrm>
          <a:prstGeom prst="rect">
            <a:avLst/>
          </a:prstGeom>
          <a:solidFill>
            <a:srgbClr val="8A6D3B"/>
          </a:solidFill>
          <a:ln/>
        </p:spPr>
      </p:sp>
      <p:sp>
        <p:nvSpPr>
          <p:cNvPr id="38" name="Shape 36"/>
          <p:cNvSpPr/>
          <p:nvPr/>
        </p:nvSpPr>
        <p:spPr>
          <a:xfrm>
            <a:off x="1463040" y="4389120"/>
            <a:ext cx="1005840" cy="64008"/>
          </a:xfrm>
          <a:prstGeom prst="rect">
            <a:avLst/>
          </a:prstGeom>
          <a:solidFill>
            <a:srgbClr val="8A6D3B"/>
          </a:solidFill>
          <a:ln/>
        </p:spPr>
      </p:sp>
      <p:sp>
        <p:nvSpPr>
          <p:cNvPr id="39" name="Shape 37"/>
          <p:cNvSpPr/>
          <p:nvPr/>
        </p:nvSpPr>
        <p:spPr>
          <a:xfrm>
            <a:off x="2743200" y="4389120"/>
            <a:ext cx="1005840" cy="64008"/>
          </a:xfrm>
          <a:prstGeom prst="rect">
            <a:avLst/>
          </a:prstGeom>
          <a:solidFill>
            <a:srgbClr val="8A6D3B"/>
          </a:solidFill>
          <a:ln/>
        </p:spPr>
      </p:sp>
      <p:sp>
        <p:nvSpPr>
          <p:cNvPr id="40" name="Shape 38"/>
          <p:cNvSpPr/>
          <p:nvPr/>
        </p:nvSpPr>
        <p:spPr>
          <a:xfrm>
            <a:off x="4023360" y="4389120"/>
            <a:ext cx="1005840" cy="64008"/>
          </a:xfrm>
          <a:prstGeom prst="rect">
            <a:avLst/>
          </a:prstGeom>
          <a:solidFill>
            <a:srgbClr val="8A6D3B"/>
          </a:solidFill>
          <a:ln/>
        </p:spPr>
      </p:sp>
      <p:sp>
        <p:nvSpPr>
          <p:cNvPr id="41" name="Shape 39"/>
          <p:cNvSpPr/>
          <p:nvPr/>
        </p:nvSpPr>
        <p:spPr>
          <a:xfrm>
            <a:off x="914400" y="4663440"/>
            <a:ext cx="1005840" cy="64008"/>
          </a:xfrm>
          <a:prstGeom prst="rect">
            <a:avLst/>
          </a:prstGeom>
          <a:solidFill>
            <a:srgbClr val="8A6D3B"/>
          </a:solidFill>
          <a:ln/>
        </p:spPr>
      </p:sp>
      <p:sp>
        <p:nvSpPr>
          <p:cNvPr id="42" name="Shape 40"/>
          <p:cNvSpPr/>
          <p:nvPr/>
        </p:nvSpPr>
        <p:spPr>
          <a:xfrm>
            <a:off x="2194560" y="4663440"/>
            <a:ext cx="1005840" cy="64008"/>
          </a:xfrm>
          <a:prstGeom prst="rect">
            <a:avLst/>
          </a:prstGeom>
          <a:solidFill>
            <a:srgbClr val="8A6D3B"/>
          </a:solidFill>
          <a:ln/>
        </p:spPr>
      </p:sp>
      <p:sp>
        <p:nvSpPr>
          <p:cNvPr id="43" name="Shape 41"/>
          <p:cNvSpPr/>
          <p:nvPr/>
        </p:nvSpPr>
        <p:spPr>
          <a:xfrm>
            <a:off x="3474720" y="4663440"/>
            <a:ext cx="1005840" cy="64008"/>
          </a:xfrm>
          <a:prstGeom prst="rect">
            <a:avLst/>
          </a:prstGeom>
          <a:solidFill>
            <a:srgbClr val="8A6D3B"/>
          </a:solidFill>
          <a:ln/>
        </p:spPr>
      </p:sp>
      <p:sp>
        <p:nvSpPr>
          <p:cNvPr id="44" name="Shape 42"/>
          <p:cNvSpPr/>
          <p:nvPr/>
        </p:nvSpPr>
        <p:spPr>
          <a:xfrm>
            <a:off x="868680" y="4041648"/>
            <a:ext cx="1188720" cy="91"/>
          </a:xfrm>
          <a:prstGeom prst="line">
            <a:avLst/>
          </a:prstGeom>
          <a:noFill/>
          <a:ln w="15875">
            <a:solidFill>
              <a:srgbClr val="C8414C"/>
            </a:solidFill>
            <a:prstDash val="dash"/>
          </a:ln>
        </p:spPr>
      </p:sp>
      <p:sp>
        <p:nvSpPr>
          <p:cNvPr id="45" name="Shape 43"/>
          <p:cNvSpPr/>
          <p:nvPr/>
        </p:nvSpPr>
        <p:spPr>
          <a:xfrm>
            <a:off x="2057400" y="4041648"/>
            <a:ext cx="91" cy="274320"/>
          </a:xfrm>
          <a:prstGeom prst="line">
            <a:avLst/>
          </a:prstGeom>
          <a:noFill/>
          <a:ln w="15875">
            <a:solidFill>
              <a:srgbClr val="C8414C"/>
            </a:solidFill>
            <a:prstDash val="dash"/>
          </a:ln>
        </p:spPr>
      </p:sp>
      <p:sp>
        <p:nvSpPr>
          <p:cNvPr id="46" name="Shape 44"/>
          <p:cNvSpPr/>
          <p:nvPr/>
        </p:nvSpPr>
        <p:spPr>
          <a:xfrm flipH="1">
            <a:off x="1371600" y="4315968"/>
            <a:ext cx="685800" cy="91"/>
          </a:xfrm>
          <a:prstGeom prst="line">
            <a:avLst/>
          </a:prstGeom>
          <a:noFill/>
          <a:ln w="15875">
            <a:solidFill>
              <a:srgbClr val="C8414C"/>
            </a:solidFill>
            <a:prstDash val="dash"/>
          </a:ln>
        </p:spPr>
      </p:sp>
      <p:sp>
        <p:nvSpPr>
          <p:cNvPr id="47" name="Shape 45"/>
          <p:cNvSpPr/>
          <p:nvPr/>
        </p:nvSpPr>
        <p:spPr>
          <a:xfrm>
            <a:off x="1371600" y="4315968"/>
            <a:ext cx="91" cy="274320"/>
          </a:xfrm>
          <a:prstGeom prst="line">
            <a:avLst/>
          </a:prstGeom>
          <a:noFill/>
          <a:ln w="15875">
            <a:solidFill>
              <a:srgbClr val="C8414C"/>
            </a:solidFill>
            <a:prstDash val="dash"/>
          </a:ln>
        </p:spPr>
      </p:sp>
      <p:sp>
        <p:nvSpPr>
          <p:cNvPr id="48" name="Shape 46"/>
          <p:cNvSpPr/>
          <p:nvPr/>
        </p:nvSpPr>
        <p:spPr>
          <a:xfrm>
            <a:off x="1371600" y="4590288"/>
            <a:ext cx="749808" cy="91"/>
          </a:xfrm>
          <a:prstGeom prst="line">
            <a:avLst/>
          </a:prstGeom>
          <a:noFill/>
          <a:ln w="15875">
            <a:solidFill>
              <a:srgbClr val="C8414C"/>
            </a:solidFill>
            <a:prstDash val="dash"/>
          </a:ln>
        </p:spPr>
      </p:sp>
      <p:sp>
        <p:nvSpPr>
          <p:cNvPr id="49" name="Shape 47"/>
          <p:cNvSpPr/>
          <p:nvPr/>
        </p:nvSpPr>
        <p:spPr>
          <a:xfrm>
            <a:off x="2121408" y="4590288"/>
            <a:ext cx="91" cy="274320"/>
          </a:xfrm>
          <a:prstGeom prst="line">
            <a:avLst/>
          </a:prstGeom>
          <a:noFill/>
          <a:ln w="15875">
            <a:solidFill>
              <a:srgbClr val="C8414C"/>
            </a:solidFill>
            <a:prstDash val="dash"/>
          </a:ln>
        </p:spPr>
      </p:sp>
      <p:sp>
        <p:nvSpPr>
          <p:cNvPr id="50" name="Text 48"/>
          <p:cNvSpPr/>
          <p:nvPr/>
        </p:nvSpPr>
        <p:spPr>
          <a:xfrm>
            <a:off x="4206240" y="4983480"/>
            <a:ext cx="1463040" cy="201168"/>
          </a:xfrm>
          <a:prstGeom prst="rect">
            <a:avLst/>
          </a:prstGeom>
          <a:noFill/>
          <a:ln/>
        </p:spPr>
        <p:txBody>
          <a:bodyPr wrap="square" lIns="0" tIns="0" rIns="0" bIns="0" rtlCol="0" anchor="ctr"/>
          <a:lstStyle/>
          <a:p>
            <a:pPr algn="ctr" indent="0" marL="0">
              <a:buNone/>
            </a:pPr>
            <a:r>
              <a:rPr lang="en-US" sz="1000" dirty="0">
                <a:solidFill>
                  <a:srgbClr val="C8414C"/>
                </a:solidFill>
                <a:latin typeface="Calibri" pitchFamily="34" charset="0"/>
                <a:ea typeface="Calibri" pitchFamily="34" charset="-122"/>
                <a:cs typeface="Calibri" pitchFamily="34" charset="-120"/>
              </a:rPr>
              <a:t>CO₂ / O₂ path</a:t>
            </a:r>
            <a:endParaRPr lang="en-US" sz="1000" dirty="0"/>
          </a:p>
        </p:txBody>
      </p:sp>
      <p:sp>
        <p:nvSpPr>
          <p:cNvPr id="51" name="Shape 49"/>
          <p:cNvSpPr/>
          <p:nvPr/>
        </p:nvSpPr>
        <p:spPr>
          <a:xfrm>
            <a:off x="6217920" y="1188720"/>
            <a:ext cx="5562295" cy="2971800"/>
          </a:xfrm>
          <a:prstGeom prst="roundRect">
            <a:avLst>
              <a:gd name="adj" fmla="val 1846"/>
            </a:avLst>
          </a:prstGeom>
          <a:solidFill>
            <a:srgbClr val="F8F5FC"/>
          </a:solidFill>
          <a:ln w="9525">
            <a:solidFill>
              <a:srgbClr val="DDD3EC"/>
            </a:solidFill>
            <a:prstDash val="solid"/>
          </a:ln>
        </p:spPr>
      </p:sp>
      <p:sp>
        <p:nvSpPr>
          <p:cNvPr id="52" name="Text 5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Nanocomposites</a:t>
            </a:r>
            <a:endParaRPr lang="en-US" sz="1300" dirty="0"/>
          </a:p>
        </p:txBody>
      </p:sp>
      <p:sp>
        <p:nvSpPr>
          <p:cNvPr id="53" name="Text 51"/>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Nanoparticles can be </a:t>
            </a:r>
            <a:r>
              <a:rPr lang="en-US" sz="1200" b="1" dirty="0">
                <a:solidFill>
                  <a:srgbClr val="262B3A"/>
                </a:solidFill>
                <a:latin typeface="Calibri" pitchFamily="34" charset="0"/>
                <a:ea typeface="Calibri" pitchFamily="34" charset="-122"/>
                <a:cs typeface="Calibri" pitchFamily="34" charset="-120"/>
              </a:rPr>
              <a:t>mixed into</a:t>
            </a:r>
            <a:r>
              <a:rPr lang="en-US" sz="1200" dirty="0">
                <a:solidFill>
                  <a:srgbClr val="262B3A"/>
                </a:solidFill>
                <a:latin typeface="Calibri" pitchFamily="34" charset="0"/>
                <a:ea typeface="Calibri" pitchFamily="34" charset="-122"/>
                <a:cs typeface="Calibri" pitchFamily="34" charset="-120"/>
              </a:rPr>
              <a:t> or </a:t>
            </a:r>
            <a:r>
              <a:rPr lang="en-US" sz="1200" b="1" dirty="0">
                <a:solidFill>
                  <a:srgbClr val="262B3A"/>
                </a:solidFill>
                <a:latin typeface="Calibri" pitchFamily="34" charset="0"/>
                <a:ea typeface="Calibri" pitchFamily="34" charset="-122"/>
                <a:cs typeface="Calibri" pitchFamily="34" charset="-120"/>
              </a:rPr>
              <a:t>embedded in</a:t>
            </a:r>
            <a:r>
              <a:rPr lang="en-US" sz="1200" dirty="0">
                <a:solidFill>
                  <a:srgbClr val="262B3A"/>
                </a:solidFill>
                <a:latin typeface="Calibri" pitchFamily="34" charset="0"/>
                <a:ea typeface="Calibri" pitchFamily="34" charset="-122"/>
                <a:cs typeface="Calibri" pitchFamily="34" charset="-120"/>
              </a:rPr>
              <a:t> another material (the </a:t>
            </a:r>
            <a:r>
              <a:rPr lang="en-US" sz="1200" b="1" dirty="0">
                <a:solidFill>
                  <a:srgbClr val="262B3A"/>
                </a:solidFill>
                <a:latin typeface="Calibri" pitchFamily="34" charset="0"/>
                <a:ea typeface="Calibri" pitchFamily="34" charset="-122"/>
                <a:cs typeface="Calibri" pitchFamily="34" charset="-120"/>
              </a:rPr>
              <a:t>matrix</a:t>
            </a:r>
            <a:r>
              <a:rPr lang="en-US" sz="1200" dirty="0">
                <a:solidFill>
                  <a:srgbClr val="262B3A"/>
                </a:solidFill>
                <a:latin typeface="Calibri" pitchFamily="34" charset="0"/>
                <a:ea typeface="Calibri" pitchFamily="34" charset="-122"/>
                <a:cs typeface="Calibri" pitchFamily="34" charset="-120"/>
              </a:rPr>
              <a:t>) to make a </a:t>
            </a:r>
            <a:r>
              <a:rPr lang="en-US" sz="1200" b="1" dirty="0">
                <a:solidFill>
                  <a:srgbClr val="262B3A"/>
                </a:solidFill>
                <a:latin typeface="Calibri" pitchFamily="34" charset="0"/>
                <a:ea typeface="Calibri" pitchFamily="34" charset="-122"/>
                <a:cs typeface="Calibri" pitchFamily="34" charset="-120"/>
              </a:rPr>
              <a:t>nanocomposite</a:t>
            </a:r>
            <a:r>
              <a:rPr lang="en-US" sz="1200" dirty="0">
                <a:solidFill>
                  <a:srgbClr val="262B3A"/>
                </a:solidFill>
                <a:latin typeface="Calibri" pitchFamily="34" charset="0"/>
                <a:ea typeface="Calibri" pitchFamily="34" charset="-122"/>
                <a:cs typeface="Calibri" pitchFamily="34" charset="-120"/>
              </a:rPr>
              <a:t>.</a:t>
            </a:r>
            <a:endParaRPr lang="en-US" sz="1200" dirty="0"/>
          </a:p>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Silver</a:t>
            </a:r>
            <a:r>
              <a:rPr lang="en-US" sz="1200" dirty="0">
                <a:solidFill>
                  <a:srgbClr val="262B3A"/>
                </a:solidFill>
                <a:latin typeface="Calibri" pitchFamily="34" charset="0"/>
                <a:ea typeface="Calibri" pitchFamily="34" charset="-122"/>
                <a:cs typeface="Calibri" pitchFamily="34" charset="-120"/>
              </a:rPr>
              <a:t> in fabrics and dressings: antibacterial, so less odour and infection.</a:t>
            </a:r>
            <a:endParaRPr lang="en-US" sz="1200" dirty="0"/>
          </a:p>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Carbon nanotubes</a:t>
            </a:r>
            <a:r>
              <a:rPr lang="en-US" sz="1200" dirty="0">
                <a:solidFill>
                  <a:srgbClr val="262B3A"/>
                </a:solidFill>
                <a:latin typeface="Calibri" pitchFamily="34" charset="0"/>
                <a:ea typeface="Calibri" pitchFamily="34" charset="-122"/>
                <a:cs typeface="Calibri" pitchFamily="34" charset="-120"/>
              </a:rPr>
              <a:t> in plastics or resins: </a:t>
            </a:r>
            <a:r>
              <a:rPr lang="en-US" sz="1200" b="1" dirty="0">
                <a:solidFill>
                  <a:srgbClr val="262B3A"/>
                </a:solidFill>
                <a:latin typeface="Calibri" pitchFamily="34" charset="0"/>
                <a:ea typeface="Calibri" pitchFamily="34" charset="-122"/>
                <a:cs typeface="Calibri" pitchFamily="34" charset="-120"/>
              </a:rPr>
              <a:t>strong</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stiff</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light</a:t>
            </a:r>
            <a:r>
              <a:rPr lang="en-US" sz="1200" dirty="0">
                <a:solidFill>
                  <a:srgbClr val="262B3A"/>
                </a:solidFill>
                <a:latin typeface="Calibri" pitchFamily="34" charset="0"/>
                <a:ea typeface="Calibri" pitchFamily="34" charset="-122"/>
                <a:cs typeface="Calibri" pitchFamily="34" charset="-120"/>
              </a:rPr>
              <a:t> sports goods and car parts.</a:t>
            </a:r>
            <a:endParaRPr lang="en-US" sz="1200" dirty="0"/>
          </a:p>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Nanoclay</a:t>
            </a:r>
            <a:r>
              <a:rPr lang="en-US" sz="1200" dirty="0">
                <a:solidFill>
                  <a:srgbClr val="262B3A"/>
                </a:solidFill>
                <a:latin typeface="Calibri" pitchFamily="34" charset="0"/>
                <a:ea typeface="Calibri" pitchFamily="34" charset="-122"/>
                <a:cs typeface="Calibri" pitchFamily="34" charset="-120"/>
              </a:rPr>
              <a:t> in plastic bottles: gases pass through more slowly, so fizzy drinks stay fizzy.</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Only a </a:t>
            </a:r>
            <a:r>
              <a:rPr lang="en-US" sz="1200" b="1" dirty="0">
                <a:solidFill>
                  <a:srgbClr val="262B3A"/>
                </a:solidFill>
                <a:latin typeface="Calibri" pitchFamily="34" charset="0"/>
                <a:ea typeface="Calibri" pitchFamily="34" charset="-122"/>
                <a:cs typeface="Calibri" pitchFamily="34" charset="-120"/>
              </a:rPr>
              <a:t>tiny mass</a:t>
            </a:r>
            <a:r>
              <a:rPr lang="en-US" sz="1200" dirty="0">
                <a:solidFill>
                  <a:srgbClr val="262B3A"/>
                </a:solidFill>
                <a:latin typeface="Calibri" pitchFamily="34" charset="0"/>
                <a:ea typeface="Calibri" pitchFamily="34" charset="-122"/>
                <a:cs typeface="Calibri" pitchFamily="34" charset="-120"/>
              </a:rPr>
              <a:t> of nanoparticles is needed because of their huge surface area.</a:t>
            </a:r>
            <a:endParaRPr lang="en-US" sz="1200" dirty="0"/>
          </a:p>
        </p:txBody>
      </p:sp>
      <p:sp>
        <p:nvSpPr>
          <p:cNvPr id="54" name="Shape 52"/>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55" name="Text 53"/>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silver in a sock</a:t>
            </a:r>
            <a:endParaRPr lang="en-US" sz="1300" dirty="0"/>
          </a:p>
        </p:txBody>
      </p:sp>
      <p:sp>
        <p:nvSpPr>
          <p:cNvPr id="56" name="Text 54"/>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20 g sock contains 40 µg of silver per gram of fabric.</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Mass   </a:t>
            </a:r>
            <a:r>
              <a:rPr lang="en-US" sz="1050" dirty="0">
                <a:solidFill>
                  <a:srgbClr val="262B3A"/>
                </a:solidFill>
                <a:latin typeface="Calibri" pitchFamily="34" charset="0"/>
                <a:ea typeface="Calibri" pitchFamily="34" charset="-122"/>
                <a:cs typeface="Calibri" pitchFamily="34" charset="-120"/>
              </a:rPr>
              <a:t>20 g × 40 µg/g = 800 µg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Units   </a:t>
            </a:r>
            <a:r>
              <a:rPr lang="en-US" sz="1050" dirty="0">
                <a:solidFill>
                  <a:srgbClr val="262B3A"/>
                </a:solidFill>
                <a:latin typeface="Calibri" pitchFamily="34" charset="0"/>
                <a:ea typeface="Calibri" pitchFamily="34" charset="-122"/>
                <a:cs typeface="Calibri" pitchFamily="34" charset="-120"/>
              </a:rPr>
              <a:t>1 mg = 1000 µg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800 ÷ 1000 = </a:t>
            </a:r>
            <a:r>
              <a:rPr lang="en-US" sz="1050" b="1" dirty="0">
                <a:solidFill>
                  <a:srgbClr val="C8414C"/>
                </a:solidFill>
                <a:latin typeface="Calibri" pitchFamily="34" charset="0"/>
                <a:ea typeface="Calibri" pitchFamily="34" charset="-122"/>
                <a:cs typeface="Calibri" pitchFamily="34" charset="-120"/>
              </a:rPr>
              <a:t>0.8 mg</a:t>
            </a:r>
            <a:r>
              <a:rPr lang="en-US" sz="1050" b="1" dirty="0">
                <a:solidFill>
                  <a:srgbClr val="C8414C"/>
                </a:solidFill>
                <a:latin typeface="Calibri" pitchFamily="34" charset="0"/>
                <a:ea typeface="Calibri" pitchFamily="34" charset="-122"/>
                <a:cs typeface="Calibri" pitchFamily="34" charset="-120"/>
              </a:rPr>
              <a:t> of silver</a:t>
            </a:r>
            <a:endParaRPr lang="en-US" sz="1050" dirty="0"/>
          </a:p>
        </p:txBody>
      </p:sp>
      <p:sp>
        <p:nvSpPr>
          <p:cNvPr id="57" name="Shape 55"/>
          <p:cNvSpPr/>
          <p:nvPr/>
        </p:nvSpPr>
        <p:spPr>
          <a:xfrm>
            <a:off x="411480" y="5833872"/>
            <a:ext cx="11368735" cy="530352"/>
          </a:xfrm>
          <a:prstGeom prst="rect">
            <a:avLst/>
          </a:prstGeom>
          <a:solidFill>
            <a:srgbClr val="FFF4E0"/>
          </a:solidFill>
          <a:ln w="6350">
            <a:solidFill>
              <a:srgbClr val="F1D9A8"/>
            </a:solidFill>
            <a:prstDash val="solid"/>
          </a:ln>
        </p:spPr>
      </p:sp>
      <p:sp>
        <p:nvSpPr>
          <p:cNvPr id="58" name="Shape 56"/>
          <p:cNvSpPr/>
          <p:nvPr/>
        </p:nvSpPr>
        <p:spPr>
          <a:xfrm>
            <a:off x="411480" y="5833872"/>
            <a:ext cx="82296" cy="530352"/>
          </a:xfrm>
          <a:prstGeom prst="rect">
            <a:avLst/>
          </a:prstGeom>
          <a:solidFill>
            <a:srgbClr val="E39A2F"/>
          </a:solidFill>
          <a:ln w="12700">
            <a:solidFill>
              <a:srgbClr val="E39A2F"/>
            </a:solidFill>
            <a:prstDash val="solid"/>
          </a:ln>
        </p:spPr>
      </p:sp>
      <p:sp>
        <p:nvSpPr>
          <p:cNvPr id="59" name="Text 5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property that nanotubes add to a plastic, and a use. How much silver (in </a:t>
            </a:r>
            <a:r>
              <a:rPr lang="en-US" sz="1150" b="1" dirty="0">
                <a:solidFill>
                  <a:srgbClr val="262B3A"/>
                </a:solidFill>
                <a:latin typeface="Calibri" pitchFamily="34" charset="0"/>
                <a:ea typeface="Calibri" pitchFamily="34" charset="-122"/>
                <a:cs typeface="Calibri" pitchFamily="34" charset="-120"/>
              </a:rPr>
              <a:t>mg</a:t>
            </a:r>
            <a:r>
              <a:rPr lang="en-US" sz="1150" dirty="0">
                <a:solidFill>
                  <a:srgbClr val="262B3A"/>
                </a:solidFill>
                <a:latin typeface="Calibri" pitchFamily="34" charset="0"/>
                <a:ea typeface="Calibri" pitchFamily="34" charset="-122"/>
                <a:cs typeface="Calibri" pitchFamily="34" charset="-120"/>
              </a:rPr>
              <a:t>) is in a </a:t>
            </a:r>
            <a:r>
              <a:rPr lang="en-US" sz="1150" b="1" dirty="0">
                <a:solidFill>
                  <a:srgbClr val="262B3A"/>
                </a:solidFill>
                <a:latin typeface="Calibri" pitchFamily="34" charset="0"/>
                <a:ea typeface="Calibri" pitchFamily="34" charset="-122"/>
                <a:cs typeface="Calibri" pitchFamily="34" charset="-120"/>
              </a:rPr>
              <a:t>25 g</a:t>
            </a:r>
            <a:r>
              <a:rPr lang="en-US" sz="1150" dirty="0">
                <a:solidFill>
                  <a:srgbClr val="262B3A"/>
                </a:solidFill>
                <a:latin typeface="Calibri" pitchFamily="34" charset="0"/>
                <a:ea typeface="Calibri" pitchFamily="34" charset="-122"/>
                <a:cs typeface="Calibri" pitchFamily="34" charset="-120"/>
              </a:rPr>
              <a:t> sock with </a:t>
            </a:r>
            <a:r>
              <a:rPr lang="en-US" sz="1150" b="1" dirty="0">
                <a:solidFill>
                  <a:srgbClr val="262B3A"/>
                </a:solidFill>
                <a:latin typeface="Calibri" pitchFamily="34" charset="0"/>
                <a:ea typeface="Calibri" pitchFamily="34" charset="-122"/>
                <a:cs typeface="Calibri" pitchFamily="34" charset="-120"/>
              </a:rPr>
              <a:t>40 µg/g</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C4.3.3, C4.3.4 • tubes, rings and nanocomposites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structure of a </a:t>
            </a:r>
            <a:r>
              <a:rPr lang="en-US" sz="1250" b="1" dirty="0">
                <a:solidFill>
                  <a:srgbClr val="262B3A"/>
                </a:solidFill>
                <a:latin typeface="Calibri" pitchFamily="34" charset="0"/>
                <a:ea typeface="Calibri" pitchFamily="34" charset="-122"/>
                <a:cs typeface="Calibri" pitchFamily="34" charset="-120"/>
              </a:rPr>
              <a:t>carbon nanotube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nanotube is </a:t>
            </a:r>
            <a:r>
              <a:rPr lang="en-US" sz="1250" b="1" dirty="0">
                <a:solidFill>
                  <a:srgbClr val="262B3A"/>
                </a:solidFill>
                <a:latin typeface="Calibri" pitchFamily="34" charset="0"/>
                <a:ea typeface="Calibri" pitchFamily="34" charset="-122"/>
                <a:cs typeface="Calibri" pitchFamily="34" charset="-120"/>
              </a:rPr>
              <a:t>2 nm</a:t>
            </a:r>
            <a:r>
              <a:rPr lang="en-US" sz="1250" dirty="0">
                <a:solidFill>
                  <a:srgbClr val="262B3A"/>
                </a:solidFill>
                <a:latin typeface="Calibri" pitchFamily="34" charset="0"/>
                <a:ea typeface="Calibri" pitchFamily="34" charset="-122"/>
                <a:cs typeface="Calibri" pitchFamily="34" charset="-120"/>
              </a:rPr>
              <a:t> wide and </a:t>
            </a:r>
            <a:r>
              <a:rPr lang="en-US" sz="1250" b="1" dirty="0">
                <a:solidFill>
                  <a:srgbClr val="262B3A"/>
                </a:solidFill>
                <a:latin typeface="Calibri" pitchFamily="34" charset="0"/>
                <a:ea typeface="Calibri" pitchFamily="34" charset="-122"/>
                <a:cs typeface="Calibri" pitchFamily="34" charset="-120"/>
              </a:rPr>
              <a:t>500</a:t>
            </a:r>
            <a:r>
              <a:rPr lang="en-US" sz="1250" dirty="0">
                <a:solidFill>
                  <a:srgbClr val="262B3A"/>
                </a:solidFill>
                <a:latin typeface="Calibri" pitchFamily="34" charset="0"/>
                <a:ea typeface="Calibri" pitchFamily="34" charset="-122"/>
                <a:cs typeface="Calibri" pitchFamily="34" charset="-120"/>
              </a:rPr>
              <a:t> times as long as it is wide. Calculate its length in nm.</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uses of fullerenes or nanotubes and the property that makes each one suitable.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silver </a:t>
            </a:r>
            <a:r>
              <a:rPr lang="en-US" sz="1250" b="1" dirty="0">
                <a:solidFill>
                  <a:srgbClr val="262B3A"/>
                </a:solidFill>
                <a:latin typeface="Calibri" pitchFamily="34" charset="0"/>
                <a:ea typeface="Calibri" pitchFamily="34" charset="-122"/>
                <a:cs typeface="Calibri" pitchFamily="34" charset="-120"/>
              </a:rPr>
              <a:t>nanoparticles</a:t>
            </a:r>
            <a:r>
              <a:rPr lang="en-US" sz="1250" dirty="0">
                <a:solidFill>
                  <a:srgbClr val="262B3A"/>
                </a:solidFill>
                <a:latin typeface="Calibri" pitchFamily="34" charset="0"/>
                <a:ea typeface="Calibri" pitchFamily="34" charset="-122"/>
                <a:cs typeface="Calibri" pitchFamily="34" charset="-120"/>
              </a:rPr>
              <a:t> are added to wound dressings.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Possible risks of nanoparticles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C4.3.5 • the same small size that makes them useful can make them harmful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C4.3.5  |  18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routes by which nanoparticles might reach people and the environment</a:t>
            </a:r>
            <a:endParaRPr lang="en-US" sz="1000" dirty="0"/>
          </a:p>
        </p:txBody>
      </p:sp>
      <p:sp>
        <p:nvSpPr>
          <p:cNvPr id="10" name="Shape 8"/>
          <p:cNvSpPr/>
          <p:nvPr/>
        </p:nvSpPr>
        <p:spPr>
          <a:xfrm>
            <a:off x="1175004" y="1417320"/>
            <a:ext cx="576072" cy="576072"/>
          </a:xfrm>
          <a:prstGeom prst="ellipse">
            <a:avLst/>
          </a:prstGeom>
          <a:solidFill>
            <a:srgbClr val="F2D6B8"/>
          </a:solidFill>
          <a:ln w="12700">
            <a:solidFill>
              <a:srgbClr val="A8865E"/>
            </a:solidFill>
            <a:prstDash val="solid"/>
          </a:ln>
        </p:spPr>
      </p:sp>
      <p:sp>
        <p:nvSpPr>
          <p:cNvPr id="11" name="Shape 9"/>
          <p:cNvSpPr/>
          <p:nvPr/>
        </p:nvSpPr>
        <p:spPr>
          <a:xfrm>
            <a:off x="934974" y="2041398"/>
            <a:ext cx="1056132" cy="1680210"/>
          </a:xfrm>
          <a:prstGeom prst="roundRect">
            <a:avLst>
              <a:gd name="adj" fmla="val 12987"/>
            </a:avLst>
          </a:prstGeom>
          <a:solidFill>
            <a:srgbClr val="DDE7F2"/>
          </a:solidFill>
          <a:ln w="12700">
            <a:solidFill>
              <a:srgbClr val="6B7385"/>
            </a:solidFill>
            <a:prstDash val="solid"/>
          </a:ln>
        </p:spPr>
      </p:sp>
      <p:sp>
        <p:nvSpPr>
          <p:cNvPr id="12" name="Shape 10"/>
          <p:cNvSpPr/>
          <p:nvPr/>
        </p:nvSpPr>
        <p:spPr>
          <a:xfrm>
            <a:off x="1030986" y="2233422"/>
            <a:ext cx="384048" cy="768096"/>
          </a:xfrm>
          <a:prstGeom prst="ellipse">
            <a:avLst/>
          </a:prstGeom>
          <a:solidFill>
            <a:srgbClr val="F2B8B8"/>
          </a:solidFill>
          <a:ln w="12700">
            <a:solidFill>
              <a:srgbClr val="B85A5A"/>
            </a:solidFill>
            <a:prstDash val="solid"/>
          </a:ln>
        </p:spPr>
      </p:sp>
      <p:sp>
        <p:nvSpPr>
          <p:cNvPr id="13" name="Shape 11"/>
          <p:cNvSpPr/>
          <p:nvPr/>
        </p:nvSpPr>
        <p:spPr>
          <a:xfrm>
            <a:off x="1511046" y="2233422"/>
            <a:ext cx="384048" cy="768096"/>
          </a:xfrm>
          <a:prstGeom prst="ellipse">
            <a:avLst/>
          </a:prstGeom>
          <a:solidFill>
            <a:srgbClr val="F2B8B8"/>
          </a:solidFill>
          <a:ln w="12700">
            <a:solidFill>
              <a:srgbClr val="B85A5A"/>
            </a:solidFill>
            <a:prstDash val="solid"/>
          </a:ln>
        </p:spPr>
      </p:sp>
      <p:sp>
        <p:nvSpPr>
          <p:cNvPr id="14" name="Shape 12"/>
          <p:cNvSpPr/>
          <p:nvPr/>
        </p:nvSpPr>
        <p:spPr>
          <a:xfrm>
            <a:off x="1463040" y="1993392"/>
            <a:ext cx="91" cy="336042"/>
          </a:xfrm>
          <a:prstGeom prst="line">
            <a:avLst/>
          </a:prstGeom>
          <a:noFill/>
          <a:ln w="25400">
            <a:solidFill>
              <a:srgbClr val="B85A5A"/>
            </a:solidFill>
            <a:prstDash val="solid"/>
          </a:ln>
        </p:spPr>
      </p:sp>
      <p:sp>
        <p:nvSpPr>
          <p:cNvPr id="15" name="Shape 13"/>
          <p:cNvSpPr/>
          <p:nvPr/>
        </p:nvSpPr>
        <p:spPr>
          <a:xfrm>
            <a:off x="2391156" y="1568196"/>
            <a:ext cx="64008" cy="64008"/>
          </a:xfrm>
          <a:prstGeom prst="ellipse">
            <a:avLst/>
          </a:prstGeom>
          <a:solidFill>
            <a:srgbClr val="E8C43A"/>
          </a:solidFill>
          <a:ln w="6350">
            <a:solidFill>
              <a:srgbClr val="A8861A"/>
            </a:solidFill>
            <a:prstDash val="solid"/>
          </a:ln>
        </p:spPr>
      </p:sp>
      <p:sp>
        <p:nvSpPr>
          <p:cNvPr id="16" name="Shape 14"/>
          <p:cNvSpPr/>
          <p:nvPr/>
        </p:nvSpPr>
        <p:spPr>
          <a:xfrm>
            <a:off x="2528316" y="1705356"/>
            <a:ext cx="64008" cy="64008"/>
          </a:xfrm>
          <a:prstGeom prst="ellipse">
            <a:avLst/>
          </a:prstGeom>
          <a:solidFill>
            <a:srgbClr val="E8C43A"/>
          </a:solidFill>
          <a:ln w="6350">
            <a:solidFill>
              <a:srgbClr val="A8861A"/>
            </a:solidFill>
            <a:prstDash val="solid"/>
          </a:ln>
        </p:spPr>
      </p:sp>
      <p:sp>
        <p:nvSpPr>
          <p:cNvPr id="17" name="Shape 15"/>
          <p:cNvSpPr/>
          <p:nvPr/>
        </p:nvSpPr>
        <p:spPr>
          <a:xfrm>
            <a:off x="2345436" y="1796796"/>
            <a:ext cx="64008" cy="64008"/>
          </a:xfrm>
          <a:prstGeom prst="ellipse">
            <a:avLst/>
          </a:prstGeom>
          <a:solidFill>
            <a:srgbClr val="E8C43A"/>
          </a:solidFill>
          <a:ln w="6350">
            <a:solidFill>
              <a:srgbClr val="A8861A"/>
            </a:solidFill>
            <a:prstDash val="solid"/>
          </a:ln>
        </p:spPr>
      </p:sp>
      <p:sp>
        <p:nvSpPr>
          <p:cNvPr id="18" name="Shape 16"/>
          <p:cNvSpPr/>
          <p:nvPr/>
        </p:nvSpPr>
        <p:spPr>
          <a:xfrm flipH="1">
            <a:off x="1783080" y="1737360"/>
            <a:ext cx="502920" cy="91"/>
          </a:xfrm>
          <a:prstGeom prst="line">
            <a:avLst/>
          </a:prstGeom>
          <a:noFill/>
          <a:ln w="22225">
            <a:solidFill>
              <a:srgbClr val="C8414C"/>
            </a:solidFill>
            <a:prstDash val="solid"/>
            <a:tailEnd type="triangle"/>
          </a:ln>
        </p:spPr>
      </p:sp>
      <p:sp>
        <p:nvSpPr>
          <p:cNvPr id="19" name="Text 17"/>
          <p:cNvSpPr/>
          <p:nvPr/>
        </p:nvSpPr>
        <p:spPr>
          <a:xfrm>
            <a:off x="2697480" y="1463040"/>
            <a:ext cx="1737360" cy="45720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breathed in</a:t>
            </a:r>
            <a:r>
              <a:rPr lang="en-US" sz="1000" dirty="0">
                <a:solidFill>
                  <a:srgbClr val="262B3A"/>
                </a:solidFill>
                <a:latin typeface="Calibri" pitchFamily="34" charset="0"/>
                <a:ea typeface="Calibri" pitchFamily="34" charset="-122"/>
                <a:cs typeface="Calibri" pitchFamily="34" charset="-120"/>
              </a:rPr>
              <a:t> → deep in lungs; may pass into blood</a:t>
            </a:r>
            <a:endParaRPr lang="en-US" sz="1000" dirty="0"/>
          </a:p>
        </p:txBody>
      </p:sp>
      <p:sp>
        <p:nvSpPr>
          <p:cNvPr id="20" name="Shape 18"/>
          <p:cNvSpPr/>
          <p:nvPr/>
        </p:nvSpPr>
        <p:spPr>
          <a:xfrm>
            <a:off x="2482596" y="2802636"/>
            <a:ext cx="64008" cy="64008"/>
          </a:xfrm>
          <a:prstGeom prst="ellipse">
            <a:avLst/>
          </a:prstGeom>
          <a:solidFill>
            <a:srgbClr val="E8C43A"/>
          </a:solidFill>
          <a:ln w="6350">
            <a:solidFill>
              <a:srgbClr val="A8861A"/>
            </a:solidFill>
            <a:prstDash val="solid"/>
          </a:ln>
        </p:spPr>
      </p:sp>
      <p:sp>
        <p:nvSpPr>
          <p:cNvPr id="21" name="Shape 19"/>
          <p:cNvSpPr/>
          <p:nvPr/>
        </p:nvSpPr>
        <p:spPr>
          <a:xfrm>
            <a:off x="2619756" y="2939796"/>
            <a:ext cx="64008" cy="64008"/>
          </a:xfrm>
          <a:prstGeom prst="ellipse">
            <a:avLst/>
          </a:prstGeom>
          <a:solidFill>
            <a:srgbClr val="E8C43A"/>
          </a:solidFill>
          <a:ln w="6350">
            <a:solidFill>
              <a:srgbClr val="A8861A"/>
            </a:solidFill>
            <a:prstDash val="solid"/>
          </a:ln>
        </p:spPr>
      </p:sp>
      <p:sp>
        <p:nvSpPr>
          <p:cNvPr id="22" name="Shape 20"/>
          <p:cNvSpPr/>
          <p:nvPr/>
        </p:nvSpPr>
        <p:spPr>
          <a:xfrm flipH="1">
            <a:off x="2011680" y="2926080"/>
            <a:ext cx="365760" cy="91"/>
          </a:xfrm>
          <a:prstGeom prst="line">
            <a:avLst/>
          </a:prstGeom>
          <a:noFill/>
          <a:ln w="22225">
            <a:solidFill>
              <a:srgbClr val="C8414C"/>
            </a:solidFill>
            <a:prstDash val="solid"/>
            <a:tailEnd type="triangle"/>
          </a:ln>
        </p:spPr>
      </p:sp>
      <p:sp>
        <p:nvSpPr>
          <p:cNvPr id="23" name="Text 21"/>
          <p:cNvSpPr/>
          <p:nvPr/>
        </p:nvSpPr>
        <p:spPr>
          <a:xfrm>
            <a:off x="2788920" y="2743200"/>
            <a:ext cx="1737360" cy="41148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through skin</a:t>
            </a:r>
            <a:r>
              <a:rPr lang="en-US" sz="1000" dirty="0">
                <a:solidFill>
                  <a:srgbClr val="262B3A"/>
                </a:solidFill>
                <a:latin typeface="Calibri" pitchFamily="34" charset="0"/>
                <a:ea typeface="Calibri" pitchFamily="34" charset="-122"/>
                <a:cs typeface="Calibri" pitchFamily="34" charset="-120"/>
              </a:rPr>
              <a:t>? (creams, sprays)</a:t>
            </a:r>
            <a:endParaRPr lang="en-US" sz="1000" dirty="0"/>
          </a:p>
        </p:txBody>
      </p:sp>
      <p:sp>
        <p:nvSpPr>
          <p:cNvPr id="24" name="Shape 22"/>
          <p:cNvSpPr/>
          <p:nvPr/>
        </p:nvSpPr>
        <p:spPr>
          <a:xfrm>
            <a:off x="685800" y="3977640"/>
            <a:ext cx="822960" cy="822960"/>
          </a:xfrm>
          <a:prstGeom prst="roundRect">
            <a:avLst>
              <a:gd name="adj" fmla="val 8889"/>
            </a:avLst>
          </a:prstGeom>
          <a:solidFill>
            <a:srgbClr val="EDEFF3"/>
          </a:solidFill>
          <a:ln w="15875">
            <a:solidFill>
              <a:srgbClr val="6B7385"/>
            </a:solidFill>
            <a:prstDash val="solid"/>
          </a:ln>
        </p:spPr>
      </p:sp>
      <p:sp>
        <p:nvSpPr>
          <p:cNvPr id="25" name="Shape 23"/>
          <p:cNvSpPr/>
          <p:nvPr/>
        </p:nvSpPr>
        <p:spPr>
          <a:xfrm>
            <a:off x="822960" y="4133088"/>
            <a:ext cx="548640" cy="548640"/>
          </a:xfrm>
          <a:prstGeom prst="ellipse">
            <a:avLst/>
          </a:prstGeom>
          <a:solidFill>
            <a:srgbClr val="BFD9F2"/>
          </a:solidFill>
          <a:ln w="15875">
            <a:solidFill>
              <a:srgbClr val="5B9BD5"/>
            </a:solidFill>
            <a:prstDash val="solid"/>
          </a:ln>
        </p:spPr>
      </p:sp>
      <p:sp>
        <p:nvSpPr>
          <p:cNvPr id="26" name="Text 24"/>
          <p:cNvSpPr/>
          <p:nvPr/>
        </p:nvSpPr>
        <p:spPr>
          <a:xfrm>
            <a:off x="548640" y="4828032"/>
            <a:ext cx="109728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washing</a:t>
            </a:r>
            <a:endParaRPr lang="en-US" sz="1000" dirty="0"/>
          </a:p>
        </p:txBody>
      </p:sp>
      <p:sp>
        <p:nvSpPr>
          <p:cNvPr id="27" name="Shape 25"/>
          <p:cNvSpPr/>
          <p:nvPr/>
        </p:nvSpPr>
        <p:spPr>
          <a:xfrm>
            <a:off x="1600200" y="4389120"/>
            <a:ext cx="731520" cy="91"/>
          </a:xfrm>
          <a:prstGeom prst="line">
            <a:avLst/>
          </a:prstGeom>
          <a:noFill/>
          <a:ln w="28575">
            <a:solidFill>
              <a:srgbClr val="5B9BD5"/>
            </a:solidFill>
            <a:prstDash val="solid"/>
            <a:tailEnd type="triangle"/>
          </a:ln>
        </p:spPr>
      </p:sp>
      <p:sp>
        <p:nvSpPr>
          <p:cNvPr id="28" name="Shape 26"/>
          <p:cNvSpPr/>
          <p:nvPr/>
        </p:nvSpPr>
        <p:spPr>
          <a:xfrm>
            <a:off x="1796796" y="4219956"/>
            <a:ext cx="64008" cy="64008"/>
          </a:xfrm>
          <a:prstGeom prst="ellipse">
            <a:avLst/>
          </a:prstGeom>
          <a:solidFill>
            <a:srgbClr val="E8C43A"/>
          </a:solidFill>
          <a:ln w="6350">
            <a:solidFill>
              <a:srgbClr val="A8861A"/>
            </a:solidFill>
            <a:prstDash val="solid"/>
          </a:ln>
        </p:spPr>
      </p:sp>
      <p:sp>
        <p:nvSpPr>
          <p:cNvPr id="29" name="Shape 27"/>
          <p:cNvSpPr/>
          <p:nvPr/>
        </p:nvSpPr>
        <p:spPr>
          <a:xfrm>
            <a:off x="2025396" y="4247388"/>
            <a:ext cx="64008" cy="64008"/>
          </a:xfrm>
          <a:prstGeom prst="ellipse">
            <a:avLst/>
          </a:prstGeom>
          <a:solidFill>
            <a:srgbClr val="E8C43A"/>
          </a:solidFill>
          <a:ln w="6350">
            <a:solidFill>
              <a:srgbClr val="A8861A"/>
            </a:solidFill>
            <a:prstDash val="solid"/>
          </a:ln>
        </p:spPr>
      </p:sp>
      <p:sp>
        <p:nvSpPr>
          <p:cNvPr id="30" name="Shape 28"/>
          <p:cNvSpPr/>
          <p:nvPr/>
        </p:nvSpPr>
        <p:spPr>
          <a:xfrm>
            <a:off x="2423160" y="4023360"/>
            <a:ext cx="1463040" cy="731520"/>
          </a:xfrm>
          <a:prstGeom prst="roundRect">
            <a:avLst>
              <a:gd name="adj" fmla="val 10000"/>
            </a:avLst>
          </a:prstGeom>
          <a:solidFill>
            <a:srgbClr val="DCEBF7"/>
          </a:solidFill>
          <a:ln w="15875">
            <a:solidFill>
              <a:srgbClr val="5B9BD5"/>
            </a:solidFill>
            <a:prstDash val="solid"/>
          </a:ln>
        </p:spPr>
      </p:sp>
      <p:sp>
        <p:nvSpPr>
          <p:cNvPr id="31" name="Text 29"/>
          <p:cNvSpPr/>
          <p:nvPr/>
        </p:nvSpPr>
        <p:spPr>
          <a:xfrm>
            <a:off x="2423160" y="4023360"/>
            <a:ext cx="1463040" cy="73152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sewage works:</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useful bacteria</a:t>
            </a:r>
            <a:endParaRPr lang="en-US" sz="1000" dirty="0"/>
          </a:p>
        </p:txBody>
      </p:sp>
      <p:sp>
        <p:nvSpPr>
          <p:cNvPr id="32" name="Shape 30"/>
          <p:cNvSpPr/>
          <p:nvPr/>
        </p:nvSpPr>
        <p:spPr>
          <a:xfrm>
            <a:off x="3977640" y="4389120"/>
            <a:ext cx="640080" cy="91"/>
          </a:xfrm>
          <a:prstGeom prst="line">
            <a:avLst/>
          </a:prstGeom>
          <a:noFill/>
          <a:ln w="28575">
            <a:solidFill>
              <a:srgbClr val="5B9BD5"/>
            </a:solidFill>
            <a:prstDash val="solid"/>
            <a:tailEnd type="triangle"/>
          </a:ln>
        </p:spPr>
      </p:sp>
      <p:sp>
        <p:nvSpPr>
          <p:cNvPr id="33" name="Shape 31"/>
          <p:cNvSpPr/>
          <p:nvPr/>
        </p:nvSpPr>
        <p:spPr>
          <a:xfrm rot="5400000">
            <a:off x="4780483" y="4295851"/>
            <a:ext cx="186538" cy="164592"/>
          </a:xfrm>
          <a:prstGeom prst="triangle">
            <a:avLst/>
          </a:prstGeom>
          <a:solidFill>
            <a:srgbClr val="6E8FB5"/>
          </a:solidFill>
          <a:ln w="9525">
            <a:solidFill>
              <a:srgbClr val="3E5C80"/>
            </a:solidFill>
            <a:prstDash val="solid"/>
          </a:ln>
        </p:spPr>
      </p:sp>
      <p:sp>
        <p:nvSpPr>
          <p:cNvPr id="34" name="Shape 32"/>
          <p:cNvSpPr/>
          <p:nvPr/>
        </p:nvSpPr>
        <p:spPr>
          <a:xfrm>
            <a:off x="4846320" y="4273906"/>
            <a:ext cx="548640" cy="230429"/>
          </a:xfrm>
          <a:prstGeom prst="ellipse">
            <a:avLst/>
          </a:prstGeom>
          <a:solidFill>
            <a:srgbClr val="6E8FB5"/>
          </a:solidFill>
          <a:ln w="9525">
            <a:solidFill>
              <a:srgbClr val="3E5C80"/>
            </a:solidFill>
            <a:prstDash val="solid"/>
          </a:ln>
        </p:spPr>
      </p:sp>
      <p:sp>
        <p:nvSpPr>
          <p:cNvPr id="35" name="Shape 33"/>
          <p:cNvSpPr/>
          <p:nvPr/>
        </p:nvSpPr>
        <p:spPr>
          <a:xfrm>
            <a:off x="5263286" y="4345229"/>
            <a:ext cx="43891" cy="43891"/>
          </a:xfrm>
          <a:prstGeom prst="ellipse">
            <a:avLst/>
          </a:prstGeom>
          <a:solidFill>
            <a:srgbClr val="2A1F3D"/>
          </a:solidFill>
          <a:ln w="9525">
            <a:solidFill>
              <a:srgbClr val="2A1F3D"/>
            </a:solidFill>
            <a:prstDash val="solid"/>
          </a:ln>
        </p:spPr>
      </p:sp>
      <p:sp>
        <p:nvSpPr>
          <p:cNvPr id="36" name="Text 34"/>
          <p:cNvSpPr/>
          <p:nvPr/>
        </p:nvSpPr>
        <p:spPr>
          <a:xfrm>
            <a:off x="4526280" y="4828032"/>
            <a:ext cx="128016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rivers, soil</a:t>
            </a:r>
            <a:endParaRPr lang="en-US" sz="1000" dirty="0"/>
          </a:p>
        </p:txBody>
      </p:sp>
      <p:sp>
        <p:nvSpPr>
          <p:cNvPr id="37" name="Text 35"/>
          <p:cNvSpPr/>
          <p:nvPr/>
        </p:nvSpPr>
        <p:spPr>
          <a:xfrm>
            <a:off x="594360" y="5074920"/>
            <a:ext cx="5212080" cy="27432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Silver washed out of socks can kill </a:t>
            </a:r>
            <a:r>
              <a:rPr lang="en-US" sz="1050" b="1" dirty="0">
                <a:solidFill>
                  <a:srgbClr val="262B3A"/>
                </a:solidFill>
                <a:latin typeface="Calibri" pitchFamily="34" charset="0"/>
                <a:ea typeface="Calibri" pitchFamily="34" charset="-122"/>
                <a:cs typeface="Calibri" pitchFamily="34" charset="-120"/>
              </a:rPr>
              <a:t>useful</a:t>
            </a:r>
            <a:r>
              <a:rPr lang="en-US" sz="1050" dirty="0">
                <a:solidFill>
                  <a:srgbClr val="262B3A"/>
                </a:solidFill>
                <a:latin typeface="Calibri" pitchFamily="34" charset="0"/>
                <a:ea typeface="Calibri" pitchFamily="34" charset="-122"/>
                <a:cs typeface="Calibri" pitchFamily="34" charset="-120"/>
              </a:rPr>
              <a:t> bacteria too.</a:t>
            </a:r>
            <a:endParaRPr lang="en-US" sz="1050" dirty="0"/>
          </a:p>
        </p:txBody>
      </p:sp>
      <p:sp>
        <p:nvSpPr>
          <p:cNvPr id="38" name="Shape 36"/>
          <p:cNvSpPr/>
          <p:nvPr/>
        </p:nvSpPr>
        <p:spPr>
          <a:xfrm>
            <a:off x="6217920" y="1188720"/>
            <a:ext cx="5562295" cy="2971800"/>
          </a:xfrm>
          <a:prstGeom prst="roundRect">
            <a:avLst>
              <a:gd name="adj" fmla="val 1846"/>
            </a:avLst>
          </a:prstGeom>
          <a:solidFill>
            <a:srgbClr val="F8F5FC"/>
          </a:solidFill>
          <a:ln w="9525">
            <a:solidFill>
              <a:srgbClr val="DDD3EC"/>
            </a:solidFill>
            <a:prstDash val="solid"/>
          </a:ln>
        </p:spPr>
      </p:sp>
      <p:sp>
        <p:nvSpPr>
          <p:cNvPr id="39" name="Text 3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Why might nanoparticles be risky?</a:t>
            </a:r>
            <a:endParaRPr lang="en-US" sz="1300" dirty="0"/>
          </a:p>
        </p:txBody>
      </p:sp>
      <p:sp>
        <p:nvSpPr>
          <p:cNvPr id="40" name="Text 38"/>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They are so small they may get </a:t>
            </a:r>
            <a:r>
              <a:rPr lang="en-US" sz="1200" b="1" dirty="0">
                <a:solidFill>
                  <a:srgbClr val="262B3A"/>
                </a:solidFill>
                <a:latin typeface="Calibri" pitchFamily="34" charset="0"/>
                <a:ea typeface="Calibri" pitchFamily="34" charset="-122"/>
                <a:cs typeface="Calibri" pitchFamily="34" charset="-120"/>
              </a:rPr>
              <a:t>into the body</a:t>
            </a:r>
            <a:r>
              <a:rPr lang="en-US" sz="1200" dirty="0">
                <a:solidFill>
                  <a:srgbClr val="262B3A"/>
                </a:solidFill>
                <a:latin typeface="Calibri" pitchFamily="34" charset="0"/>
                <a:ea typeface="Calibri" pitchFamily="34" charset="-122"/>
                <a:cs typeface="Calibri" pitchFamily="34" charset="-120"/>
              </a:rPr>
              <a:t> (lungs, blood, cells) where larger particles cannot.</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Their </a:t>
            </a:r>
            <a:r>
              <a:rPr lang="en-US" sz="1200" b="1" dirty="0">
                <a:solidFill>
                  <a:srgbClr val="262B3A"/>
                </a:solidFill>
                <a:latin typeface="Calibri" pitchFamily="34" charset="0"/>
                <a:ea typeface="Calibri" pitchFamily="34" charset="-122"/>
                <a:cs typeface="Calibri" pitchFamily="34" charset="-120"/>
              </a:rPr>
              <a:t>large surface area</a:t>
            </a:r>
            <a:r>
              <a:rPr lang="en-US" sz="1200" dirty="0">
                <a:solidFill>
                  <a:srgbClr val="262B3A"/>
                </a:solidFill>
                <a:latin typeface="Calibri" pitchFamily="34" charset="0"/>
                <a:ea typeface="Calibri" pitchFamily="34" charset="-122"/>
                <a:cs typeface="Calibri" pitchFamily="34" charset="-120"/>
              </a:rPr>
              <a:t> makes them </a:t>
            </a:r>
            <a:r>
              <a:rPr lang="en-US" sz="1200" b="1" dirty="0">
                <a:solidFill>
                  <a:srgbClr val="262B3A"/>
                </a:solidFill>
                <a:latin typeface="Calibri" pitchFamily="34" charset="0"/>
                <a:ea typeface="Calibri" pitchFamily="34" charset="-122"/>
                <a:cs typeface="Calibri" pitchFamily="34" charset="-120"/>
              </a:rPr>
              <a:t>reactive</a:t>
            </a:r>
            <a:r>
              <a:rPr lang="en-US" sz="1200" dirty="0">
                <a:solidFill>
                  <a:srgbClr val="262B3A"/>
                </a:solidFill>
                <a:latin typeface="Calibri" pitchFamily="34" charset="0"/>
                <a:ea typeface="Calibri" pitchFamily="34" charset="-122"/>
                <a:cs typeface="Calibri" pitchFamily="34" charset="-120"/>
              </a:rPr>
              <a:t>: they could damage cells or carry other substances.</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Long, thin </a:t>
            </a:r>
            <a:r>
              <a:rPr lang="en-US" sz="1200" b="1" dirty="0">
                <a:solidFill>
                  <a:srgbClr val="262B3A"/>
                </a:solidFill>
                <a:latin typeface="Calibri" pitchFamily="34" charset="0"/>
                <a:ea typeface="Calibri" pitchFamily="34" charset="-122"/>
                <a:cs typeface="Calibri" pitchFamily="34" charset="-120"/>
              </a:rPr>
              <a:t>nanotubes</a:t>
            </a:r>
            <a:r>
              <a:rPr lang="en-US" sz="1200" dirty="0">
                <a:solidFill>
                  <a:srgbClr val="262B3A"/>
                </a:solidFill>
                <a:latin typeface="Calibri" pitchFamily="34" charset="0"/>
                <a:ea typeface="Calibri" pitchFamily="34" charset="-122"/>
                <a:cs typeface="Calibri" pitchFamily="34" charset="-120"/>
              </a:rPr>
              <a:t> may behave like asbestos fibres in the lungs.</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Nanoparticles washed into </a:t>
            </a:r>
            <a:r>
              <a:rPr lang="en-US" sz="1200" b="1" dirty="0">
                <a:solidFill>
                  <a:srgbClr val="262B3A"/>
                </a:solidFill>
                <a:latin typeface="Calibri" pitchFamily="34" charset="0"/>
                <a:ea typeface="Calibri" pitchFamily="34" charset="-122"/>
                <a:cs typeface="Calibri" pitchFamily="34" charset="-120"/>
              </a:rPr>
              <a:t>water</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soil</a:t>
            </a:r>
            <a:r>
              <a:rPr lang="en-US" sz="1200" dirty="0">
                <a:solidFill>
                  <a:srgbClr val="262B3A"/>
                </a:solidFill>
                <a:latin typeface="Calibri" pitchFamily="34" charset="0"/>
                <a:ea typeface="Calibri" pitchFamily="34" charset="-122"/>
                <a:cs typeface="Calibri" pitchFamily="34" charset="-120"/>
              </a:rPr>
              <a:t> may harm living things.</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Many products are </a:t>
            </a:r>
            <a:r>
              <a:rPr lang="en-US" sz="1200" b="1" dirty="0">
                <a:solidFill>
                  <a:srgbClr val="262B3A"/>
                </a:solidFill>
                <a:latin typeface="Calibri" pitchFamily="34" charset="0"/>
                <a:ea typeface="Calibri" pitchFamily="34" charset="-122"/>
                <a:cs typeface="Calibri" pitchFamily="34" charset="-120"/>
              </a:rPr>
              <a:t>new</a:t>
            </a:r>
            <a:r>
              <a:rPr lang="en-US" sz="1200" dirty="0">
                <a:solidFill>
                  <a:srgbClr val="262B3A"/>
                </a:solidFill>
                <a:latin typeface="Calibri" pitchFamily="34" charset="0"/>
                <a:ea typeface="Calibri" pitchFamily="34" charset="-122"/>
                <a:cs typeface="Calibri" pitchFamily="34" charset="-120"/>
              </a:rPr>
              <a:t>, so </a:t>
            </a:r>
            <a:r>
              <a:rPr lang="en-US" sz="1200" b="1" dirty="0">
                <a:solidFill>
                  <a:srgbClr val="262B3A"/>
                </a:solidFill>
                <a:latin typeface="Calibri" pitchFamily="34" charset="0"/>
                <a:ea typeface="Calibri" pitchFamily="34" charset="-122"/>
                <a:cs typeface="Calibri" pitchFamily="34" charset="-120"/>
              </a:rPr>
              <a:t>long-term effects are not yet known</a:t>
            </a:r>
            <a:r>
              <a:rPr lang="en-US" sz="1200" dirty="0">
                <a:solidFill>
                  <a:srgbClr val="262B3A"/>
                </a:solidFill>
                <a:latin typeface="Calibri" pitchFamily="34" charset="0"/>
                <a:ea typeface="Calibri" pitchFamily="34" charset="-122"/>
                <a:cs typeface="Calibri" pitchFamily="34" charset="-120"/>
              </a:rPr>
              <a:t>: we are </a:t>
            </a:r>
            <a:r>
              <a:rPr lang="en-US" sz="1200" b="1" dirty="0">
                <a:solidFill>
                  <a:srgbClr val="262B3A"/>
                </a:solidFill>
                <a:latin typeface="Calibri" pitchFamily="34" charset="0"/>
                <a:ea typeface="Calibri" pitchFamily="34" charset="-122"/>
                <a:cs typeface="Calibri" pitchFamily="34" charset="-120"/>
              </a:rPr>
              <a:t>uncertain</a:t>
            </a:r>
            <a:r>
              <a:rPr lang="en-US" sz="1200" dirty="0">
                <a:solidFill>
                  <a:srgbClr val="262B3A"/>
                </a:solidFill>
                <a:latin typeface="Calibri" pitchFamily="34" charset="0"/>
                <a:ea typeface="Calibri" pitchFamily="34" charset="-122"/>
                <a:cs typeface="Calibri" pitchFamily="34" charset="-120"/>
              </a:rPr>
              <a:t> about the risk.</a:t>
            </a:r>
            <a:endParaRPr lang="en-US" sz="1200" dirty="0"/>
          </a:p>
        </p:txBody>
      </p:sp>
      <p:sp>
        <p:nvSpPr>
          <p:cNvPr id="41" name="Shape 39"/>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42" name="Text 40"/>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Reducing the risk</a:t>
            </a:r>
            <a:endParaRPr lang="en-US" sz="1300" dirty="0"/>
          </a:p>
        </p:txBody>
      </p:sp>
      <p:sp>
        <p:nvSpPr>
          <p:cNvPr id="43" name="Text 41"/>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Scientists and regulators can…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Test   </a:t>
            </a:r>
            <a:r>
              <a:rPr lang="en-US" sz="1050" dirty="0">
                <a:solidFill>
                  <a:srgbClr val="262B3A"/>
                </a:solidFill>
                <a:latin typeface="Calibri" pitchFamily="34" charset="0"/>
                <a:ea typeface="Calibri" pitchFamily="34" charset="-122"/>
                <a:cs typeface="Calibri" pitchFamily="34" charset="-120"/>
              </a:rPr>
              <a:t>study effects on cells, animals and water life before use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Label   </a:t>
            </a:r>
            <a:r>
              <a:rPr lang="en-US" sz="1050" dirty="0">
                <a:solidFill>
                  <a:srgbClr val="262B3A"/>
                </a:solidFill>
                <a:latin typeface="Calibri" pitchFamily="34" charset="0"/>
                <a:ea typeface="Calibri" pitchFamily="34" charset="-122"/>
                <a:cs typeface="Calibri" pitchFamily="34" charset="-120"/>
              </a:rPr>
              <a:t>list "nano" ingredients so people can choose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Control   </a:t>
            </a:r>
            <a:r>
              <a:rPr lang="en-US" sz="1050" b="1" dirty="0">
                <a:solidFill>
                  <a:srgbClr val="C8414C"/>
                </a:solidFill>
                <a:latin typeface="Calibri" pitchFamily="34" charset="0"/>
                <a:ea typeface="Calibri" pitchFamily="34" charset="-122"/>
                <a:cs typeface="Calibri" pitchFamily="34" charset="-120"/>
              </a:rPr>
              <a:t>limit release, e.g. bind silver firmly into fibres</a:t>
            </a:r>
            <a:endParaRPr lang="en-US" sz="1050" dirty="0"/>
          </a:p>
        </p:txBody>
      </p:sp>
      <p:sp>
        <p:nvSpPr>
          <p:cNvPr id="44" name="Shape 42"/>
          <p:cNvSpPr/>
          <p:nvPr/>
        </p:nvSpPr>
        <p:spPr>
          <a:xfrm>
            <a:off x="411480" y="5833872"/>
            <a:ext cx="11368735" cy="530352"/>
          </a:xfrm>
          <a:prstGeom prst="rect">
            <a:avLst/>
          </a:prstGeom>
          <a:solidFill>
            <a:srgbClr val="FFF4E0"/>
          </a:solidFill>
          <a:ln w="6350">
            <a:solidFill>
              <a:srgbClr val="F1D9A8"/>
            </a:solidFill>
            <a:prstDash val="solid"/>
          </a:ln>
        </p:spPr>
      </p:sp>
      <p:sp>
        <p:nvSpPr>
          <p:cNvPr id="45" name="Shape 43"/>
          <p:cNvSpPr/>
          <p:nvPr/>
        </p:nvSpPr>
        <p:spPr>
          <a:xfrm>
            <a:off x="411480" y="5833872"/>
            <a:ext cx="82296" cy="530352"/>
          </a:xfrm>
          <a:prstGeom prst="rect">
            <a:avLst/>
          </a:prstGeom>
          <a:solidFill>
            <a:srgbClr val="E39A2F"/>
          </a:solidFill>
          <a:ln w="12700">
            <a:solidFill>
              <a:srgbClr val="E39A2F"/>
            </a:solidFill>
            <a:prstDash val="solid"/>
          </a:ln>
        </p:spPr>
      </p:sp>
      <p:sp>
        <p:nvSpPr>
          <p:cNvPr id="46" name="Text 4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reasons why the risks of nanoparticles are </a:t>
            </a:r>
            <a:r>
              <a:rPr lang="en-US" sz="1150" b="1" dirty="0">
                <a:solidFill>
                  <a:srgbClr val="262B3A"/>
                </a:solidFill>
                <a:latin typeface="Calibri" pitchFamily="34" charset="0"/>
                <a:ea typeface="Calibri" pitchFamily="34" charset="-122"/>
                <a:cs typeface="Calibri" pitchFamily="34" charset="-120"/>
              </a:rPr>
              <a:t>uncertain</a:t>
            </a:r>
            <a:r>
              <a:rPr lang="en-US" sz="1150" dirty="0">
                <a:solidFill>
                  <a:srgbClr val="262B3A"/>
                </a:solidFill>
                <a:latin typeface="Calibri" pitchFamily="34" charset="0"/>
                <a:ea typeface="Calibri" pitchFamily="34" charset="-122"/>
                <a:cs typeface="Calibri" pitchFamily="34" charset="-120"/>
              </a:rPr>
              <a:t>. Suggest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way to reduce the risk from silver in socks.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Benefits and risks: using data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C4.3.5 • how much silver washes out of a sock?</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C4.3.5  |  19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illustrative values; bar chart plotted to scale</a:t>
            </a:r>
            <a:endParaRPr lang="en-US" sz="1000" dirty="0"/>
          </a:p>
        </p:txBody>
      </p:sp>
      <p:sp>
        <p:nvSpPr>
          <p:cNvPr id="10" name="Shape 8"/>
          <p:cNvSpPr/>
          <p:nvPr/>
        </p:nvSpPr>
        <p:spPr>
          <a:xfrm>
            <a:off x="1325880" y="1463040"/>
            <a:ext cx="4343400" cy="3108960"/>
          </a:xfrm>
          <a:prstGeom prst="rect">
            <a:avLst/>
          </a:prstGeom>
          <a:solidFill>
            <a:srgbClr val="FFFFFF"/>
          </a:solidFill>
          <a:ln/>
        </p:spPr>
      </p:sp>
      <p:sp>
        <p:nvSpPr>
          <p:cNvPr id="11" name="Shape 9"/>
          <p:cNvSpPr/>
          <p:nvPr/>
        </p:nvSpPr>
        <p:spPr>
          <a:xfrm>
            <a:off x="1325880" y="1463040"/>
            <a:ext cx="91" cy="3108960"/>
          </a:xfrm>
          <a:prstGeom prst="line">
            <a:avLst/>
          </a:prstGeom>
          <a:noFill/>
          <a:ln w="6350">
            <a:solidFill>
              <a:srgbClr val="D6CBE8"/>
            </a:solidFill>
            <a:prstDash val="solid"/>
          </a:ln>
        </p:spPr>
      </p:sp>
      <p:sp>
        <p:nvSpPr>
          <p:cNvPr id="12" name="Shape 10"/>
          <p:cNvSpPr/>
          <p:nvPr/>
        </p:nvSpPr>
        <p:spPr>
          <a:xfrm>
            <a:off x="1760220" y="1463040"/>
            <a:ext cx="91" cy="3108960"/>
          </a:xfrm>
          <a:prstGeom prst="line">
            <a:avLst/>
          </a:prstGeom>
          <a:noFill/>
          <a:ln w="6350">
            <a:solidFill>
              <a:srgbClr val="EEE9F6"/>
            </a:solidFill>
            <a:prstDash val="solid"/>
          </a:ln>
        </p:spPr>
      </p:sp>
      <p:sp>
        <p:nvSpPr>
          <p:cNvPr id="13" name="Shape 11"/>
          <p:cNvSpPr/>
          <p:nvPr/>
        </p:nvSpPr>
        <p:spPr>
          <a:xfrm>
            <a:off x="2194560" y="1463040"/>
            <a:ext cx="91" cy="3108960"/>
          </a:xfrm>
          <a:prstGeom prst="line">
            <a:avLst/>
          </a:prstGeom>
          <a:noFill/>
          <a:ln w="6350">
            <a:solidFill>
              <a:srgbClr val="D6CBE8"/>
            </a:solidFill>
            <a:prstDash val="solid"/>
          </a:ln>
        </p:spPr>
      </p:sp>
      <p:sp>
        <p:nvSpPr>
          <p:cNvPr id="14" name="Shape 12"/>
          <p:cNvSpPr/>
          <p:nvPr/>
        </p:nvSpPr>
        <p:spPr>
          <a:xfrm>
            <a:off x="2628900" y="1463040"/>
            <a:ext cx="91" cy="3108960"/>
          </a:xfrm>
          <a:prstGeom prst="line">
            <a:avLst/>
          </a:prstGeom>
          <a:noFill/>
          <a:ln w="6350">
            <a:solidFill>
              <a:srgbClr val="EEE9F6"/>
            </a:solidFill>
            <a:prstDash val="solid"/>
          </a:ln>
        </p:spPr>
      </p:sp>
      <p:sp>
        <p:nvSpPr>
          <p:cNvPr id="15" name="Shape 13"/>
          <p:cNvSpPr/>
          <p:nvPr/>
        </p:nvSpPr>
        <p:spPr>
          <a:xfrm>
            <a:off x="3063240" y="1463040"/>
            <a:ext cx="91" cy="3108960"/>
          </a:xfrm>
          <a:prstGeom prst="line">
            <a:avLst/>
          </a:prstGeom>
          <a:noFill/>
          <a:ln w="6350">
            <a:solidFill>
              <a:srgbClr val="D6CBE8"/>
            </a:solidFill>
            <a:prstDash val="solid"/>
          </a:ln>
        </p:spPr>
      </p:sp>
      <p:sp>
        <p:nvSpPr>
          <p:cNvPr id="16" name="Shape 14"/>
          <p:cNvSpPr/>
          <p:nvPr/>
        </p:nvSpPr>
        <p:spPr>
          <a:xfrm>
            <a:off x="3497580" y="1463040"/>
            <a:ext cx="91" cy="3108960"/>
          </a:xfrm>
          <a:prstGeom prst="line">
            <a:avLst/>
          </a:prstGeom>
          <a:noFill/>
          <a:ln w="6350">
            <a:solidFill>
              <a:srgbClr val="EEE9F6"/>
            </a:solidFill>
            <a:prstDash val="solid"/>
          </a:ln>
        </p:spPr>
      </p:sp>
      <p:sp>
        <p:nvSpPr>
          <p:cNvPr id="17" name="Shape 15"/>
          <p:cNvSpPr/>
          <p:nvPr/>
        </p:nvSpPr>
        <p:spPr>
          <a:xfrm>
            <a:off x="3931920" y="1463040"/>
            <a:ext cx="91" cy="3108960"/>
          </a:xfrm>
          <a:prstGeom prst="line">
            <a:avLst/>
          </a:prstGeom>
          <a:noFill/>
          <a:ln w="6350">
            <a:solidFill>
              <a:srgbClr val="D6CBE8"/>
            </a:solidFill>
            <a:prstDash val="solid"/>
          </a:ln>
        </p:spPr>
      </p:sp>
      <p:sp>
        <p:nvSpPr>
          <p:cNvPr id="18" name="Shape 16"/>
          <p:cNvSpPr/>
          <p:nvPr/>
        </p:nvSpPr>
        <p:spPr>
          <a:xfrm>
            <a:off x="4366260" y="1463040"/>
            <a:ext cx="91" cy="3108960"/>
          </a:xfrm>
          <a:prstGeom prst="line">
            <a:avLst/>
          </a:prstGeom>
          <a:noFill/>
          <a:ln w="6350">
            <a:solidFill>
              <a:srgbClr val="EEE9F6"/>
            </a:solidFill>
            <a:prstDash val="solid"/>
          </a:ln>
        </p:spPr>
      </p:sp>
      <p:sp>
        <p:nvSpPr>
          <p:cNvPr id="19" name="Shape 17"/>
          <p:cNvSpPr/>
          <p:nvPr/>
        </p:nvSpPr>
        <p:spPr>
          <a:xfrm>
            <a:off x="4800600" y="1463040"/>
            <a:ext cx="91" cy="3108960"/>
          </a:xfrm>
          <a:prstGeom prst="line">
            <a:avLst/>
          </a:prstGeom>
          <a:noFill/>
          <a:ln w="6350">
            <a:solidFill>
              <a:srgbClr val="D6CBE8"/>
            </a:solidFill>
            <a:prstDash val="solid"/>
          </a:ln>
        </p:spPr>
      </p:sp>
      <p:sp>
        <p:nvSpPr>
          <p:cNvPr id="20" name="Shape 18"/>
          <p:cNvSpPr/>
          <p:nvPr/>
        </p:nvSpPr>
        <p:spPr>
          <a:xfrm>
            <a:off x="5234940" y="1463040"/>
            <a:ext cx="91" cy="3108960"/>
          </a:xfrm>
          <a:prstGeom prst="line">
            <a:avLst/>
          </a:prstGeom>
          <a:noFill/>
          <a:ln w="6350">
            <a:solidFill>
              <a:srgbClr val="EEE9F6"/>
            </a:solidFill>
            <a:prstDash val="solid"/>
          </a:ln>
        </p:spPr>
      </p:sp>
      <p:sp>
        <p:nvSpPr>
          <p:cNvPr id="21" name="Shape 19"/>
          <p:cNvSpPr/>
          <p:nvPr/>
        </p:nvSpPr>
        <p:spPr>
          <a:xfrm>
            <a:off x="5669280" y="1463040"/>
            <a:ext cx="91" cy="3108960"/>
          </a:xfrm>
          <a:prstGeom prst="line">
            <a:avLst/>
          </a:prstGeom>
          <a:noFill/>
          <a:ln w="6350">
            <a:solidFill>
              <a:srgbClr val="D6CBE8"/>
            </a:solidFill>
            <a:prstDash val="solid"/>
          </a:ln>
        </p:spPr>
      </p:sp>
      <p:sp>
        <p:nvSpPr>
          <p:cNvPr id="22" name="Shape 20"/>
          <p:cNvSpPr/>
          <p:nvPr/>
        </p:nvSpPr>
        <p:spPr>
          <a:xfrm>
            <a:off x="1325880" y="4572000"/>
            <a:ext cx="4343400" cy="91"/>
          </a:xfrm>
          <a:prstGeom prst="line">
            <a:avLst/>
          </a:prstGeom>
          <a:noFill/>
          <a:ln w="6350">
            <a:solidFill>
              <a:srgbClr val="D6CBE8"/>
            </a:solidFill>
            <a:prstDash val="solid"/>
          </a:ln>
        </p:spPr>
      </p:sp>
      <p:sp>
        <p:nvSpPr>
          <p:cNvPr id="23" name="Shape 21"/>
          <p:cNvSpPr/>
          <p:nvPr/>
        </p:nvSpPr>
        <p:spPr>
          <a:xfrm>
            <a:off x="1325880" y="4261104"/>
            <a:ext cx="4343400" cy="91"/>
          </a:xfrm>
          <a:prstGeom prst="line">
            <a:avLst/>
          </a:prstGeom>
          <a:noFill/>
          <a:ln w="6350">
            <a:solidFill>
              <a:srgbClr val="EEE9F6"/>
            </a:solidFill>
            <a:prstDash val="solid"/>
          </a:ln>
        </p:spPr>
      </p:sp>
      <p:sp>
        <p:nvSpPr>
          <p:cNvPr id="24" name="Shape 22"/>
          <p:cNvSpPr/>
          <p:nvPr/>
        </p:nvSpPr>
        <p:spPr>
          <a:xfrm>
            <a:off x="1325880" y="3950208"/>
            <a:ext cx="4343400" cy="91"/>
          </a:xfrm>
          <a:prstGeom prst="line">
            <a:avLst/>
          </a:prstGeom>
          <a:noFill/>
          <a:ln w="6350">
            <a:solidFill>
              <a:srgbClr val="D6CBE8"/>
            </a:solidFill>
            <a:prstDash val="solid"/>
          </a:ln>
        </p:spPr>
      </p:sp>
      <p:sp>
        <p:nvSpPr>
          <p:cNvPr id="25" name="Shape 23"/>
          <p:cNvSpPr/>
          <p:nvPr/>
        </p:nvSpPr>
        <p:spPr>
          <a:xfrm>
            <a:off x="1325880" y="3639312"/>
            <a:ext cx="4343400" cy="91"/>
          </a:xfrm>
          <a:prstGeom prst="line">
            <a:avLst/>
          </a:prstGeom>
          <a:noFill/>
          <a:ln w="6350">
            <a:solidFill>
              <a:srgbClr val="EEE9F6"/>
            </a:solidFill>
            <a:prstDash val="solid"/>
          </a:ln>
        </p:spPr>
      </p:sp>
      <p:sp>
        <p:nvSpPr>
          <p:cNvPr id="26" name="Shape 24"/>
          <p:cNvSpPr/>
          <p:nvPr/>
        </p:nvSpPr>
        <p:spPr>
          <a:xfrm>
            <a:off x="1325880" y="3328416"/>
            <a:ext cx="4343400" cy="91"/>
          </a:xfrm>
          <a:prstGeom prst="line">
            <a:avLst/>
          </a:prstGeom>
          <a:noFill/>
          <a:ln w="6350">
            <a:solidFill>
              <a:srgbClr val="D6CBE8"/>
            </a:solidFill>
            <a:prstDash val="solid"/>
          </a:ln>
        </p:spPr>
      </p:sp>
      <p:sp>
        <p:nvSpPr>
          <p:cNvPr id="27" name="Shape 25"/>
          <p:cNvSpPr/>
          <p:nvPr/>
        </p:nvSpPr>
        <p:spPr>
          <a:xfrm>
            <a:off x="1325880" y="3017520"/>
            <a:ext cx="4343400" cy="91"/>
          </a:xfrm>
          <a:prstGeom prst="line">
            <a:avLst/>
          </a:prstGeom>
          <a:noFill/>
          <a:ln w="6350">
            <a:solidFill>
              <a:srgbClr val="EEE9F6"/>
            </a:solidFill>
            <a:prstDash val="solid"/>
          </a:ln>
        </p:spPr>
      </p:sp>
      <p:sp>
        <p:nvSpPr>
          <p:cNvPr id="28" name="Shape 26"/>
          <p:cNvSpPr/>
          <p:nvPr/>
        </p:nvSpPr>
        <p:spPr>
          <a:xfrm>
            <a:off x="1325880" y="2706624"/>
            <a:ext cx="4343400" cy="91"/>
          </a:xfrm>
          <a:prstGeom prst="line">
            <a:avLst/>
          </a:prstGeom>
          <a:noFill/>
          <a:ln w="6350">
            <a:solidFill>
              <a:srgbClr val="D6CBE8"/>
            </a:solidFill>
            <a:prstDash val="solid"/>
          </a:ln>
        </p:spPr>
      </p:sp>
      <p:sp>
        <p:nvSpPr>
          <p:cNvPr id="29" name="Shape 27"/>
          <p:cNvSpPr/>
          <p:nvPr/>
        </p:nvSpPr>
        <p:spPr>
          <a:xfrm>
            <a:off x="1325880" y="2395728"/>
            <a:ext cx="4343400" cy="91"/>
          </a:xfrm>
          <a:prstGeom prst="line">
            <a:avLst/>
          </a:prstGeom>
          <a:noFill/>
          <a:ln w="6350">
            <a:solidFill>
              <a:srgbClr val="EEE9F6"/>
            </a:solidFill>
            <a:prstDash val="solid"/>
          </a:ln>
        </p:spPr>
      </p:sp>
      <p:sp>
        <p:nvSpPr>
          <p:cNvPr id="30" name="Shape 28"/>
          <p:cNvSpPr/>
          <p:nvPr/>
        </p:nvSpPr>
        <p:spPr>
          <a:xfrm>
            <a:off x="1325880" y="2084832"/>
            <a:ext cx="4343400" cy="91"/>
          </a:xfrm>
          <a:prstGeom prst="line">
            <a:avLst/>
          </a:prstGeom>
          <a:noFill/>
          <a:ln w="6350">
            <a:solidFill>
              <a:srgbClr val="D6CBE8"/>
            </a:solidFill>
            <a:prstDash val="solid"/>
          </a:ln>
        </p:spPr>
      </p:sp>
      <p:sp>
        <p:nvSpPr>
          <p:cNvPr id="31" name="Shape 29"/>
          <p:cNvSpPr/>
          <p:nvPr/>
        </p:nvSpPr>
        <p:spPr>
          <a:xfrm>
            <a:off x="1325880" y="1773936"/>
            <a:ext cx="4343400" cy="91"/>
          </a:xfrm>
          <a:prstGeom prst="line">
            <a:avLst/>
          </a:prstGeom>
          <a:noFill/>
          <a:ln w="6350">
            <a:solidFill>
              <a:srgbClr val="EEE9F6"/>
            </a:solidFill>
            <a:prstDash val="solid"/>
          </a:ln>
        </p:spPr>
      </p:sp>
      <p:sp>
        <p:nvSpPr>
          <p:cNvPr id="32" name="Shape 30"/>
          <p:cNvSpPr/>
          <p:nvPr/>
        </p:nvSpPr>
        <p:spPr>
          <a:xfrm>
            <a:off x="1325880" y="1463040"/>
            <a:ext cx="4343400" cy="91"/>
          </a:xfrm>
          <a:prstGeom prst="line">
            <a:avLst/>
          </a:prstGeom>
          <a:noFill/>
          <a:ln w="6350">
            <a:solidFill>
              <a:srgbClr val="D6CBE8"/>
            </a:solidFill>
            <a:prstDash val="solid"/>
          </a:ln>
        </p:spPr>
      </p:sp>
      <p:sp>
        <p:nvSpPr>
          <p:cNvPr id="33" name="Shape 31"/>
          <p:cNvSpPr/>
          <p:nvPr/>
        </p:nvSpPr>
        <p:spPr>
          <a:xfrm>
            <a:off x="1325880" y="4572000"/>
            <a:ext cx="4343400" cy="91"/>
          </a:xfrm>
          <a:prstGeom prst="line">
            <a:avLst/>
          </a:prstGeom>
          <a:noFill/>
          <a:ln w="19050">
            <a:solidFill>
              <a:srgbClr val="2A1F3D"/>
            </a:solidFill>
            <a:prstDash val="solid"/>
          </a:ln>
        </p:spPr>
      </p:sp>
      <p:sp>
        <p:nvSpPr>
          <p:cNvPr id="34" name="Shape 32"/>
          <p:cNvSpPr/>
          <p:nvPr/>
        </p:nvSpPr>
        <p:spPr>
          <a:xfrm flipV="1">
            <a:off x="1325880" y="1463040"/>
            <a:ext cx="91" cy="3108960"/>
          </a:xfrm>
          <a:prstGeom prst="line">
            <a:avLst/>
          </a:prstGeom>
          <a:noFill/>
          <a:ln w="19050">
            <a:solidFill>
              <a:srgbClr val="2A1F3D"/>
            </a:solidFill>
            <a:prstDash val="solid"/>
          </a:ln>
        </p:spPr>
      </p:sp>
      <p:sp>
        <p:nvSpPr>
          <p:cNvPr id="35" name="Shape 33"/>
          <p:cNvSpPr/>
          <p:nvPr/>
        </p:nvSpPr>
        <p:spPr>
          <a:xfrm>
            <a:off x="1325880" y="4572000"/>
            <a:ext cx="91" cy="54864"/>
          </a:xfrm>
          <a:prstGeom prst="line">
            <a:avLst/>
          </a:prstGeom>
          <a:noFill/>
          <a:ln w="12700">
            <a:solidFill>
              <a:srgbClr val="2A1F3D"/>
            </a:solidFill>
            <a:prstDash val="solid"/>
          </a:ln>
        </p:spPr>
      </p:sp>
      <p:sp>
        <p:nvSpPr>
          <p:cNvPr id="36" name="Text 34"/>
          <p:cNvSpPr/>
          <p:nvPr/>
        </p:nvSpPr>
        <p:spPr>
          <a:xfrm>
            <a:off x="105156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7" name="Shape 35"/>
          <p:cNvSpPr/>
          <p:nvPr/>
        </p:nvSpPr>
        <p:spPr>
          <a:xfrm>
            <a:off x="2194560" y="4572000"/>
            <a:ext cx="91" cy="54864"/>
          </a:xfrm>
          <a:prstGeom prst="line">
            <a:avLst/>
          </a:prstGeom>
          <a:noFill/>
          <a:ln w="12700">
            <a:solidFill>
              <a:srgbClr val="2A1F3D"/>
            </a:solidFill>
            <a:prstDash val="solid"/>
          </a:ln>
        </p:spPr>
      </p:sp>
      <p:sp>
        <p:nvSpPr>
          <p:cNvPr id="38" name="Text 36"/>
          <p:cNvSpPr/>
          <p:nvPr/>
        </p:nvSpPr>
        <p:spPr>
          <a:xfrm>
            <a:off x="192024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9" name="Shape 37"/>
          <p:cNvSpPr/>
          <p:nvPr/>
        </p:nvSpPr>
        <p:spPr>
          <a:xfrm>
            <a:off x="3063240" y="4572000"/>
            <a:ext cx="91" cy="54864"/>
          </a:xfrm>
          <a:prstGeom prst="line">
            <a:avLst/>
          </a:prstGeom>
          <a:noFill/>
          <a:ln w="12700">
            <a:solidFill>
              <a:srgbClr val="2A1F3D"/>
            </a:solidFill>
            <a:prstDash val="solid"/>
          </a:ln>
        </p:spPr>
      </p:sp>
      <p:sp>
        <p:nvSpPr>
          <p:cNvPr id="40" name="Text 38"/>
          <p:cNvSpPr/>
          <p:nvPr/>
        </p:nvSpPr>
        <p:spPr>
          <a:xfrm>
            <a:off x="278892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41" name="Shape 39"/>
          <p:cNvSpPr/>
          <p:nvPr/>
        </p:nvSpPr>
        <p:spPr>
          <a:xfrm>
            <a:off x="3931920" y="4572000"/>
            <a:ext cx="91" cy="54864"/>
          </a:xfrm>
          <a:prstGeom prst="line">
            <a:avLst/>
          </a:prstGeom>
          <a:noFill/>
          <a:ln w="12700">
            <a:solidFill>
              <a:srgbClr val="2A1F3D"/>
            </a:solidFill>
            <a:prstDash val="solid"/>
          </a:ln>
        </p:spPr>
      </p:sp>
      <p:sp>
        <p:nvSpPr>
          <p:cNvPr id="42" name="Text 40"/>
          <p:cNvSpPr/>
          <p:nvPr/>
        </p:nvSpPr>
        <p:spPr>
          <a:xfrm>
            <a:off x="365760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43" name="Shape 41"/>
          <p:cNvSpPr/>
          <p:nvPr/>
        </p:nvSpPr>
        <p:spPr>
          <a:xfrm>
            <a:off x="4800600" y="4572000"/>
            <a:ext cx="91" cy="54864"/>
          </a:xfrm>
          <a:prstGeom prst="line">
            <a:avLst/>
          </a:prstGeom>
          <a:noFill/>
          <a:ln w="12700">
            <a:solidFill>
              <a:srgbClr val="2A1F3D"/>
            </a:solidFill>
            <a:prstDash val="solid"/>
          </a:ln>
        </p:spPr>
      </p:sp>
      <p:sp>
        <p:nvSpPr>
          <p:cNvPr id="44" name="Text 42"/>
          <p:cNvSpPr/>
          <p:nvPr/>
        </p:nvSpPr>
        <p:spPr>
          <a:xfrm>
            <a:off x="452628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45" name="Shape 43"/>
          <p:cNvSpPr/>
          <p:nvPr/>
        </p:nvSpPr>
        <p:spPr>
          <a:xfrm>
            <a:off x="5669280" y="4572000"/>
            <a:ext cx="91" cy="54864"/>
          </a:xfrm>
          <a:prstGeom prst="line">
            <a:avLst/>
          </a:prstGeom>
          <a:noFill/>
          <a:ln w="12700">
            <a:solidFill>
              <a:srgbClr val="2A1F3D"/>
            </a:solidFill>
            <a:prstDash val="solid"/>
          </a:ln>
        </p:spPr>
      </p:sp>
      <p:sp>
        <p:nvSpPr>
          <p:cNvPr id="46" name="Text 44"/>
          <p:cNvSpPr/>
          <p:nvPr/>
        </p:nvSpPr>
        <p:spPr>
          <a:xfrm>
            <a:off x="5394960" y="4626864"/>
            <a:ext cx="548640" cy="182880"/>
          </a:xfrm>
          <a:prstGeom prst="rect">
            <a:avLst/>
          </a:prstGeom>
          <a:noFill/>
          <a:ln/>
        </p:spPr>
        <p:txBody>
          <a:bodyPr wrap="square" lIns="0" tIns="0" rIns="0" bIns="0" rtlCol="0" anchor="ctr"/>
          <a:lstStyle/>
          <a:p>
            <a:pPr algn="ctr" indent="0" marL="0">
              <a:buNone/>
            </a:pPr>
            <a:endParaRPr lang="en-US" sz="1000" dirty="0"/>
          </a:p>
        </p:txBody>
      </p:sp>
      <p:sp>
        <p:nvSpPr>
          <p:cNvPr id="47" name="Shape 45"/>
          <p:cNvSpPr/>
          <p:nvPr/>
        </p:nvSpPr>
        <p:spPr>
          <a:xfrm>
            <a:off x="1271016" y="4572000"/>
            <a:ext cx="54864" cy="91"/>
          </a:xfrm>
          <a:prstGeom prst="line">
            <a:avLst/>
          </a:prstGeom>
          <a:noFill/>
          <a:ln w="12700">
            <a:solidFill>
              <a:srgbClr val="2A1F3D"/>
            </a:solidFill>
            <a:prstDash val="solid"/>
          </a:ln>
        </p:spPr>
      </p:sp>
      <p:sp>
        <p:nvSpPr>
          <p:cNvPr id="48" name="Text 46"/>
          <p:cNvSpPr/>
          <p:nvPr/>
        </p:nvSpPr>
        <p:spPr>
          <a:xfrm>
            <a:off x="886968" y="44805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9" name="Shape 47"/>
          <p:cNvSpPr/>
          <p:nvPr/>
        </p:nvSpPr>
        <p:spPr>
          <a:xfrm>
            <a:off x="1271016" y="3950208"/>
            <a:ext cx="54864" cy="91"/>
          </a:xfrm>
          <a:prstGeom prst="line">
            <a:avLst/>
          </a:prstGeom>
          <a:noFill/>
          <a:ln w="12700">
            <a:solidFill>
              <a:srgbClr val="2A1F3D"/>
            </a:solidFill>
            <a:prstDash val="solid"/>
          </a:ln>
        </p:spPr>
      </p:sp>
      <p:sp>
        <p:nvSpPr>
          <p:cNvPr id="50" name="Text 48"/>
          <p:cNvSpPr/>
          <p:nvPr/>
        </p:nvSpPr>
        <p:spPr>
          <a:xfrm>
            <a:off x="886968" y="385876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1" name="Shape 49"/>
          <p:cNvSpPr/>
          <p:nvPr/>
        </p:nvSpPr>
        <p:spPr>
          <a:xfrm>
            <a:off x="1271016" y="3328416"/>
            <a:ext cx="54864" cy="91"/>
          </a:xfrm>
          <a:prstGeom prst="line">
            <a:avLst/>
          </a:prstGeom>
          <a:noFill/>
          <a:ln w="12700">
            <a:solidFill>
              <a:srgbClr val="2A1F3D"/>
            </a:solidFill>
            <a:prstDash val="solid"/>
          </a:ln>
        </p:spPr>
      </p:sp>
      <p:sp>
        <p:nvSpPr>
          <p:cNvPr id="52" name="Text 50"/>
          <p:cNvSpPr/>
          <p:nvPr/>
        </p:nvSpPr>
        <p:spPr>
          <a:xfrm>
            <a:off x="886968" y="323697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3" name="Shape 51"/>
          <p:cNvSpPr/>
          <p:nvPr/>
        </p:nvSpPr>
        <p:spPr>
          <a:xfrm>
            <a:off x="1271016" y="2706624"/>
            <a:ext cx="54864" cy="91"/>
          </a:xfrm>
          <a:prstGeom prst="line">
            <a:avLst/>
          </a:prstGeom>
          <a:noFill/>
          <a:ln w="12700">
            <a:solidFill>
              <a:srgbClr val="2A1F3D"/>
            </a:solidFill>
            <a:prstDash val="solid"/>
          </a:ln>
        </p:spPr>
      </p:sp>
      <p:sp>
        <p:nvSpPr>
          <p:cNvPr id="54" name="Text 52"/>
          <p:cNvSpPr/>
          <p:nvPr/>
        </p:nvSpPr>
        <p:spPr>
          <a:xfrm>
            <a:off x="886968" y="261518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55" name="Shape 53"/>
          <p:cNvSpPr/>
          <p:nvPr/>
        </p:nvSpPr>
        <p:spPr>
          <a:xfrm>
            <a:off x="1271016" y="2084832"/>
            <a:ext cx="54864" cy="91"/>
          </a:xfrm>
          <a:prstGeom prst="line">
            <a:avLst/>
          </a:prstGeom>
          <a:noFill/>
          <a:ln w="12700">
            <a:solidFill>
              <a:srgbClr val="2A1F3D"/>
            </a:solidFill>
            <a:prstDash val="solid"/>
          </a:ln>
        </p:spPr>
      </p:sp>
      <p:sp>
        <p:nvSpPr>
          <p:cNvPr id="56" name="Text 54"/>
          <p:cNvSpPr/>
          <p:nvPr/>
        </p:nvSpPr>
        <p:spPr>
          <a:xfrm>
            <a:off x="886968" y="19933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7" name="Shape 55"/>
          <p:cNvSpPr/>
          <p:nvPr/>
        </p:nvSpPr>
        <p:spPr>
          <a:xfrm>
            <a:off x="1271016" y="1463040"/>
            <a:ext cx="54864" cy="91"/>
          </a:xfrm>
          <a:prstGeom prst="line">
            <a:avLst/>
          </a:prstGeom>
          <a:noFill/>
          <a:ln w="12700">
            <a:solidFill>
              <a:srgbClr val="2A1F3D"/>
            </a:solidFill>
            <a:prstDash val="solid"/>
          </a:ln>
        </p:spPr>
      </p:sp>
      <p:sp>
        <p:nvSpPr>
          <p:cNvPr id="58" name="Text 56"/>
          <p:cNvSpPr/>
          <p:nvPr/>
        </p:nvSpPr>
        <p:spPr>
          <a:xfrm>
            <a:off x="88696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9" name="Text 57"/>
          <p:cNvSpPr/>
          <p:nvPr/>
        </p:nvSpPr>
        <p:spPr>
          <a:xfrm>
            <a:off x="1325880" y="4818888"/>
            <a:ext cx="43434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Number of washes</a:t>
            </a:r>
            <a:endParaRPr lang="en-US" sz="1050" dirty="0"/>
          </a:p>
        </p:txBody>
      </p:sp>
      <p:sp>
        <p:nvSpPr>
          <p:cNvPr id="60" name="Text 58"/>
          <p:cNvSpPr/>
          <p:nvPr/>
        </p:nvSpPr>
        <p:spPr>
          <a:xfrm rot="16200000">
            <a:off x="-795528" y="2889504"/>
            <a:ext cx="3108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Silver / µg per g of sock</a:t>
            </a:r>
            <a:endParaRPr lang="en-US" sz="1050" dirty="0"/>
          </a:p>
        </p:txBody>
      </p:sp>
      <p:sp>
        <p:nvSpPr>
          <p:cNvPr id="61" name="Shape 59"/>
          <p:cNvSpPr/>
          <p:nvPr/>
        </p:nvSpPr>
        <p:spPr>
          <a:xfrm>
            <a:off x="1531620" y="2084832"/>
            <a:ext cx="457200" cy="2487168"/>
          </a:xfrm>
          <a:prstGeom prst="rect">
            <a:avLst/>
          </a:prstGeom>
          <a:solidFill>
            <a:srgbClr val="9AA3B0"/>
          </a:solidFill>
          <a:ln w="9525">
            <a:solidFill>
              <a:srgbClr val="2A1F3D"/>
            </a:solidFill>
            <a:prstDash val="solid"/>
          </a:ln>
        </p:spPr>
      </p:sp>
      <p:sp>
        <p:nvSpPr>
          <p:cNvPr id="62" name="Text 60"/>
          <p:cNvSpPr/>
          <p:nvPr/>
        </p:nvSpPr>
        <p:spPr>
          <a:xfrm>
            <a:off x="1485900" y="1837944"/>
            <a:ext cx="54864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40</a:t>
            </a:r>
            <a:endParaRPr lang="en-US" sz="1000" dirty="0"/>
          </a:p>
        </p:txBody>
      </p:sp>
      <p:sp>
        <p:nvSpPr>
          <p:cNvPr id="63" name="Text 61"/>
          <p:cNvSpPr/>
          <p:nvPr/>
        </p:nvSpPr>
        <p:spPr>
          <a:xfrm>
            <a:off x="148590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4" name="Shape 62"/>
          <p:cNvSpPr/>
          <p:nvPr/>
        </p:nvSpPr>
        <p:spPr>
          <a:xfrm>
            <a:off x="2400300" y="2830982"/>
            <a:ext cx="457200" cy="1741018"/>
          </a:xfrm>
          <a:prstGeom prst="rect">
            <a:avLst/>
          </a:prstGeom>
          <a:solidFill>
            <a:srgbClr val="C9CED6"/>
          </a:solidFill>
          <a:ln w="9525">
            <a:solidFill>
              <a:srgbClr val="2A1F3D"/>
            </a:solidFill>
            <a:prstDash val="solid"/>
          </a:ln>
        </p:spPr>
      </p:sp>
      <p:sp>
        <p:nvSpPr>
          <p:cNvPr id="65" name="Text 63"/>
          <p:cNvSpPr/>
          <p:nvPr/>
        </p:nvSpPr>
        <p:spPr>
          <a:xfrm>
            <a:off x="2354580" y="2584094"/>
            <a:ext cx="54864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28</a:t>
            </a:r>
            <a:endParaRPr lang="en-US" sz="1000" dirty="0"/>
          </a:p>
        </p:txBody>
      </p:sp>
      <p:sp>
        <p:nvSpPr>
          <p:cNvPr id="66" name="Text 64"/>
          <p:cNvSpPr/>
          <p:nvPr/>
        </p:nvSpPr>
        <p:spPr>
          <a:xfrm>
            <a:off x="235458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67" name="Shape 65"/>
          <p:cNvSpPr/>
          <p:nvPr/>
        </p:nvSpPr>
        <p:spPr>
          <a:xfrm>
            <a:off x="3268980" y="3328416"/>
            <a:ext cx="457200" cy="1243584"/>
          </a:xfrm>
          <a:prstGeom prst="rect">
            <a:avLst/>
          </a:prstGeom>
          <a:solidFill>
            <a:srgbClr val="C9CED6"/>
          </a:solidFill>
          <a:ln w="9525">
            <a:solidFill>
              <a:srgbClr val="2A1F3D"/>
            </a:solidFill>
            <a:prstDash val="solid"/>
          </a:ln>
        </p:spPr>
      </p:sp>
      <p:sp>
        <p:nvSpPr>
          <p:cNvPr id="68" name="Text 66"/>
          <p:cNvSpPr/>
          <p:nvPr/>
        </p:nvSpPr>
        <p:spPr>
          <a:xfrm>
            <a:off x="3223260" y="3081528"/>
            <a:ext cx="54864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20</a:t>
            </a:r>
            <a:endParaRPr lang="en-US" sz="1000" dirty="0"/>
          </a:p>
        </p:txBody>
      </p:sp>
      <p:sp>
        <p:nvSpPr>
          <p:cNvPr id="69" name="Text 67"/>
          <p:cNvSpPr/>
          <p:nvPr/>
        </p:nvSpPr>
        <p:spPr>
          <a:xfrm>
            <a:off x="322326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70" name="Shape 68"/>
          <p:cNvSpPr/>
          <p:nvPr/>
        </p:nvSpPr>
        <p:spPr>
          <a:xfrm>
            <a:off x="4137660" y="3701491"/>
            <a:ext cx="457200" cy="870509"/>
          </a:xfrm>
          <a:prstGeom prst="rect">
            <a:avLst/>
          </a:prstGeom>
          <a:solidFill>
            <a:srgbClr val="C9CED6"/>
          </a:solidFill>
          <a:ln w="9525">
            <a:solidFill>
              <a:srgbClr val="2A1F3D"/>
            </a:solidFill>
            <a:prstDash val="solid"/>
          </a:ln>
        </p:spPr>
      </p:sp>
      <p:sp>
        <p:nvSpPr>
          <p:cNvPr id="71" name="Text 69"/>
          <p:cNvSpPr/>
          <p:nvPr/>
        </p:nvSpPr>
        <p:spPr>
          <a:xfrm>
            <a:off x="4091940" y="3454603"/>
            <a:ext cx="54864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14</a:t>
            </a:r>
            <a:endParaRPr lang="en-US" sz="1000" dirty="0"/>
          </a:p>
        </p:txBody>
      </p:sp>
      <p:sp>
        <p:nvSpPr>
          <p:cNvPr id="72" name="Text 70"/>
          <p:cNvSpPr/>
          <p:nvPr/>
        </p:nvSpPr>
        <p:spPr>
          <a:xfrm>
            <a:off x="409194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73" name="Shape 71"/>
          <p:cNvSpPr/>
          <p:nvPr/>
        </p:nvSpPr>
        <p:spPr>
          <a:xfrm>
            <a:off x="5006340" y="3950208"/>
            <a:ext cx="457200" cy="621792"/>
          </a:xfrm>
          <a:prstGeom prst="rect">
            <a:avLst/>
          </a:prstGeom>
          <a:solidFill>
            <a:srgbClr val="C9CED6"/>
          </a:solidFill>
          <a:ln w="9525">
            <a:solidFill>
              <a:srgbClr val="2A1F3D"/>
            </a:solidFill>
            <a:prstDash val="solid"/>
          </a:ln>
        </p:spPr>
      </p:sp>
      <p:sp>
        <p:nvSpPr>
          <p:cNvPr id="74" name="Text 72"/>
          <p:cNvSpPr/>
          <p:nvPr/>
        </p:nvSpPr>
        <p:spPr>
          <a:xfrm>
            <a:off x="4960620" y="3703320"/>
            <a:ext cx="54864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10</a:t>
            </a:r>
            <a:endParaRPr lang="en-US" sz="1000" dirty="0"/>
          </a:p>
        </p:txBody>
      </p:sp>
      <p:sp>
        <p:nvSpPr>
          <p:cNvPr id="75" name="Text 73"/>
          <p:cNvSpPr/>
          <p:nvPr/>
        </p:nvSpPr>
        <p:spPr>
          <a:xfrm>
            <a:off x="496062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76" name="Text 74"/>
          <p:cNvSpPr/>
          <p:nvPr/>
        </p:nvSpPr>
        <p:spPr>
          <a:xfrm>
            <a:off x="685800" y="5029200"/>
            <a:ext cx="5120640" cy="27432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After 4 washes, </a:t>
            </a:r>
            <a:r>
              <a:rPr lang="en-US" sz="1050" b="1" dirty="0">
                <a:solidFill>
                  <a:srgbClr val="262B3A"/>
                </a:solidFill>
                <a:latin typeface="Calibri" pitchFamily="34" charset="0"/>
                <a:ea typeface="Calibri" pitchFamily="34" charset="-122"/>
                <a:cs typeface="Calibri" pitchFamily="34" charset="-120"/>
              </a:rPr>
              <a:t>75%</a:t>
            </a:r>
            <a:r>
              <a:rPr lang="en-US" sz="1050" dirty="0">
                <a:solidFill>
                  <a:srgbClr val="262B3A"/>
                </a:solidFill>
                <a:latin typeface="Calibri" pitchFamily="34" charset="0"/>
                <a:ea typeface="Calibri" pitchFamily="34" charset="-122"/>
                <a:cs typeface="Calibri" pitchFamily="34" charset="-120"/>
              </a:rPr>
              <a:t> of the silver has gone: into waste water.</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2779776"/>
                <a:gridCol w="2779776"/>
              </a:tblGrid>
              <a:tr h="43891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Benefits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Risks and costs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438912">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Kills odour bacteria; socks washed less often (saves water and energy)</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Silver washed into waste water may harm useful bacteria and water life</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438912">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Silver dressings reduce infection in burns and wounds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Effects on people and wildlife over many years unknown</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438912">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Very little silver needed (high surface area)</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Silver is a finite resource; antibacterial effect fades with washing</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bl>
          </a:graphicData>
        </a:graphic>
      </p:graphicFrame>
      <p:sp>
        <p:nvSpPr>
          <p:cNvPr id="78" name="Shape 75"/>
          <p:cNvSpPr/>
          <p:nvPr/>
        </p:nvSpPr>
        <p:spPr>
          <a:xfrm>
            <a:off x="6217920" y="3154680"/>
            <a:ext cx="5559552" cy="1417320"/>
          </a:xfrm>
          <a:prstGeom prst="roundRect">
            <a:avLst>
              <a:gd name="adj" fmla="val 3871"/>
            </a:avLst>
          </a:prstGeom>
          <a:solidFill>
            <a:srgbClr val="FFF4E0"/>
          </a:solidFill>
          <a:ln w="9525">
            <a:solidFill>
              <a:srgbClr val="F1D9A8"/>
            </a:solidFill>
            <a:prstDash val="solid"/>
          </a:ln>
        </p:spPr>
      </p:sp>
      <p:sp>
        <p:nvSpPr>
          <p:cNvPr id="79" name="Text 76"/>
          <p:cNvSpPr/>
          <p:nvPr/>
        </p:nvSpPr>
        <p:spPr>
          <a:xfrm>
            <a:off x="6382512" y="322783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percentage of silver lost</a:t>
            </a:r>
            <a:endParaRPr lang="en-US" sz="1300" dirty="0"/>
          </a:p>
        </p:txBody>
      </p:sp>
      <p:sp>
        <p:nvSpPr>
          <p:cNvPr id="80" name="Text 77"/>
          <p:cNvSpPr/>
          <p:nvPr/>
        </p:nvSpPr>
        <p:spPr>
          <a:xfrm>
            <a:off x="6382512" y="3538728"/>
            <a:ext cx="5230368"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chart: 40 µg/g before washing, 10 µg/g after 4 washes.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Lost   </a:t>
            </a:r>
            <a:r>
              <a:rPr lang="en-US" sz="1050" dirty="0">
                <a:solidFill>
                  <a:srgbClr val="262B3A"/>
                </a:solidFill>
                <a:latin typeface="Calibri" pitchFamily="34" charset="0"/>
                <a:ea typeface="Calibri" pitchFamily="34" charset="-122"/>
                <a:cs typeface="Calibri" pitchFamily="34" charset="-120"/>
              </a:rPr>
              <a:t>40 − 10 = 30 µg/g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30 ÷ 40 × 100 = </a:t>
            </a:r>
            <a:r>
              <a:rPr lang="en-US" sz="1050" b="1" dirty="0">
                <a:solidFill>
                  <a:srgbClr val="C8414C"/>
                </a:solidFill>
                <a:latin typeface="Calibri" pitchFamily="34" charset="0"/>
                <a:ea typeface="Calibri" pitchFamily="34" charset="-122"/>
                <a:cs typeface="Calibri" pitchFamily="34" charset="-120"/>
              </a:rPr>
              <a:t>75%</a:t>
            </a:r>
            <a:r>
              <a:rPr lang="en-US" sz="1050" b="1" dirty="0">
                <a:solidFill>
                  <a:srgbClr val="C8414C"/>
                </a:solidFill>
                <a:latin typeface="Calibri" pitchFamily="34" charset="0"/>
                <a:ea typeface="Calibri" pitchFamily="34" charset="-122"/>
                <a:cs typeface="Calibri" pitchFamily="34" charset="-120"/>
              </a:rPr>
              <a:t> lost</a:t>
            </a:r>
            <a:endParaRPr lang="en-US" sz="1050" dirty="0"/>
          </a:p>
        </p:txBody>
      </p:sp>
      <p:sp>
        <p:nvSpPr>
          <p:cNvPr id="81" name="Shape 78"/>
          <p:cNvSpPr/>
          <p:nvPr/>
        </p:nvSpPr>
        <p:spPr>
          <a:xfrm>
            <a:off x="6217920" y="4681728"/>
            <a:ext cx="5559552" cy="1033272"/>
          </a:xfrm>
          <a:prstGeom prst="roundRect">
            <a:avLst>
              <a:gd name="adj" fmla="val 5310"/>
            </a:avLst>
          </a:prstGeom>
          <a:solidFill>
            <a:srgbClr val="F8F5FC"/>
          </a:solidFill>
          <a:ln w="9525">
            <a:solidFill>
              <a:srgbClr val="DDD3EC"/>
            </a:solidFill>
            <a:prstDash val="solid"/>
          </a:ln>
        </p:spPr>
      </p:sp>
      <p:sp>
        <p:nvSpPr>
          <p:cNvPr id="82" name="Text 79"/>
          <p:cNvSpPr/>
          <p:nvPr/>
        </p:nvSpPr>
        <p:spPr>
          <a:xfrm>
            <a:off x="6382512" y="4773168"/>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Making a decision</a:t>
            </a:r>
            <a:endParaRPr lang="en-US" sz="1300" dirty="0"/>
          </a:p>
        </p:txBody>
      </p:sp>
      <p:sp>
        <p:nvSpPr>
          <p:cNvPr id="83" name="Text 80"/>
          <p:cNvSpPr/>
          <p:nvPr/>
        </p:nvSpPr>
        <p:spPr>
          <a:xfrm>
            <a:off x="6382512" y="5102352"/>
            <a:ext cx="5230368" cy="539496"/>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Weigh </a:t>
            </a:r>
            <a:r>
              <a:rPr lang="en-US" sz="1050" b="1" dirty="0">
                <a:solidFill>
                  <a:srgbClr val="262B3A"/>
                </a:solidFill>
                <a:latin typeface="Calibri" pitchFamily="34" charset="0"/>
                <a:ea typeface="Calibri" pitchFamily="34" charset="-122"/>
                <a:cs typeface="Calibri" pitchFamily="34" charset="-120"/>
              </a:rPr>
              <a:t>benefits</a:t>
            </a:r>
            <a:r>
              <a:rPr lang="en-US" sz="1050" dirty="0">
                <a:solidFill>
                  <a:srgbClr val="262B3A"/>
                </a:solidFill>
                <a:latin typeface="Calibri" pitchFamily="34" charset="0"/>
                <a:ea typeface="Calibri" pitchFamily="34" charset="-122"/>
                <a:cs typeface="Calibri" pitchFamily="34" charset="-120"/>
              </a:rPr>
              <a:t> against </a:t>
            </a:r>
            <a:r>
              <a:rPr lang="en-US" sz="1050" b="1" dirty="0">
                <a:solidFill>
                  <a:srgbClr val="262B3A"/>
                </a:solidFill>
                <a:latin typeface="Calibri" pitchFamily="34" charset="0"/>
                <a:ea typeface="Calibri" pitchFamily="34" charset="-122"/>
                <a:cs typeface="Calibri" pitchFamily="34" charset="-120"/>
              </a:rPr>
              <a:t>risks</a:t>
            </a:r>
            <a:r>
              <a:rPr lang="en-US" sz="1050" dirty="0">
                <a:solidFill>
                  <a:srgbClr val="262B3A"/>
                </a:solidFill>
                <a:latin typeface="Calibri" pitchFamily="34" charset="0"/>
                <a:ea typeface="Calibri" pitchFamily="34" charset="-122"/>
                <a:cs typeface="Calibri" pitchFamily="34" charset="-120"/>
              </a:rPr>
              <a:t>. A large benefit (fewer wound infections) may justify a small risk; odour-free socks may not.</a:t>
            </a:r>
            <a:endParaRPr lang="en-US" sz="1050" dirty="0"/>
          </a:p>
        </p:txBody>
      </p:sp>
      <p:sp>
        <p:nvSpPr>
          <p:cNvPr id="84" name="Shape 81"/>
          <p:cNvSpPr/>
          <p:nvPr/>
        </p:nvSpPr>
        <p:spPr>
          <a:xfrm>
            <a:off x="411480" y="5833872"/>
            <a:ext cx="11368735" cy="530352"/>
          </a:xfrm>
          <a:prstGeom prst="rect">
            <a:avLst/>
          </a:prstGeom>
          <a:solidFill>
            <a:srgbClr val="FFF4E0"/>
          </a:solidFill>
          <a:ln w="6350">
            <a:solidFill>
              <a:srgbClr val="F1D9A8"/>
            </a:solidFill>
            <a:prstDash val="solid"/>
          </a:ln>
        </p:spPr>
      </p:sp>
      <p:sp>
        <p:nvSpPr>
          <p:cNvPr id="85" name="Shape 82"/>
          <p:cNvSpPr/>
          <p:nvPr/>
        </p:nvSpPr>
        <p:spPr>
          <a:xfrm>
            <a:off x="411480" y="5833872"/>
            <a:ext cx="82296" cy="530352"/>
          </a:xfrm>
          <a:prstGeom prst="rect">
            <a:avLst/>
          </a:prstGeom>
          <a:solidFill>
            <a:srgbClr val="E39A2F"/>
          </a:solidFill>
          <a:ln w="12700">
            <a:solidFill>
              <a:srgbClr val="E39A2F"/>
            </a:solidFill>
            <a:prstDash val="solid"/>
          </a:ln>
        </p:spPr>
      </p:sp>
      <p:sp>
        <p:nvSpPr>
          <p:cNvPr id="86" name="Text 8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percentage of silver lost between wash </a:t>
            </a:r>
            <a:r>
              <a:rPr lang="en-US" sz="1150" b="1" dirty="0">
                <a:solidFill>
                  <a:srgbClr val="262B3A"/>
                </a:solidFill>
                <a:latin typeface="Calibri" pitchFamily="34" charset="0"/>
                <a:ea typeface="Calibri" pitchFamily="34" charset="-122"/>
                <a:cs typeface="Calibri" pitchFamily="34" charset="-120"/>
              </a:rPr>
              <a:t>2</a:t>
            </a:r>
            <a:r>
              <a:rPr lang="en-US" sz="1150" dirty="0">
                <a:solidFill>
                  <a:srgbClr val="262B3A"/>
                </a:solidFill>
                <a:latin typeface="Calibri" pitchFamily="34" charset="0"/>
                <a:ea typeface="Calibri" pitchFamily="34" charset="-122"/>
                <a:cs typeface="Calibri" pitchFamily="34" charset="-120"/>
              </a:rPr>
              <a:t> and wash </a:t>
            </a:r>
            <a:r>
              <a:rPr lang="en-US" sz="1150" b="1" dirty="0">
                <a:solidFill>
                  <a:srgbClr val="262B3A"/>
                </a:solidFill>
                <a:latin typeface="Calibri" pitchFamily="34" charset="0"/>
                <a:ea typeface="Calibri" pitchFamily="34" charset="-122"/>
                <a:cs typeface="Calibri" pitchFamily="34" charset="-120"/>
              </a:rPr>
              <a:t>3</a:t>
            </a:r>
            <a:r>
              <a:rPr lang="en-US" sz="1150" dirty="0">
                <a:solidFill>
                  <a:srgbClr val="262B3A"/>
                </a:solidFill>
                <a:latin typeface="Calibri" pitchFamily="34" charset="0"/>
                <a:ea typeface="Calibri" pitchFamily="34" charset="-122"/>
                <a:cs typeface="Calibri" pitchFamily="34" charset="-120"/>
              </a:rPr>
              <a:t>. Is silver more justified in </a:t>
            </a:r>
            <a:r>
              <a:rPr lang="en-US" sz="1150" b="1" dirty="0">
                <a:solidFill>
                  <a:srgbClr val="262B3A"/>
                </a:solidFill>
                <a:latin typeface="Calibri" pitchFamily="34" charset="0"/>
                <a:ea typeface="Calibri" pitchFamily="34" charset="-122"/>
                <a:cs typeface="Calibri" pitchFamily="34" charset="-120"/>
              </a:rPr>
              <a:t>socks</a:t>
            </a:r>
            <a:r>
              <a:rPr lang="en-US" sz="1150" dirty="0">
                <a:solidFill>
                  <a:srgbClr val="262B3A"/>
                </a:solidFill>
                <a:latin typeface="Calibri" pitchFamily="34" charset="0"/>
                <a:ea typeface="Calibri" pitchFamily="34" charset="-122"/>
                <a:cs typeface="Calibri" pitchFamily="34" charset="-120"/>
              </a:rPr>
              <a:t> or in </a:t>
            </a:r>
            <a:r>
              <a:rPr lang="en-US" sz="1150" b="1" dirty="0">
                <a:solidFill>
                  <a:srgbClr val="262B3A"/>
                </a:solidFill>
                <a:latin typeface="Calibri" pitchFamily="34" charset="0"/>
                <a:ea typeface="Calibri" pitchFamily="34" charset="-122"/>
                <a:cs typeface="Calibri" pitchFamily="34" charset="-120"/>
              </a:rPr>
              <a:t>wound dressings</a:t>
            </a:r>
            <a:r>
              <a:rPr lang="en-US" sz="1150" dirty="0">
                <a:solidFill>
                  <a:srgbClr val="262B3A"/>
                </a:solidFill>
                <a:latin typeface="Calibri" pitchFamily="34" charset="0"/>
                <a:ea typeface="Calibri" pitchFamily="34" charset="-122"/>
                <a:cs typeface="Calibri" pitchFamily="34" charset="-120"/>
              </a:rPr>
              <a:t>? Explain.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C4.3.5 • risks and decisions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way nanoparticles in a spray could harm a person.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scientists are </a:t>
            </a:r>
            <a:r>
              <a:rPr lang="en-US" sz="1250" b="1" dirty="0">
                <a:solidFill>
                  <a:srgbClr val="262B3A"/>
                </a:solidFill>
                <a:latin typeface="Calibri" pitchFamily="34" charset="0"/>
                <a:ea typeface="Calibri" pitchFamily="34" charset="-122"/>
                <a:cs typeface="Calibri" pitchFamily="34" charset="-120"/>
              </a:rPr>
              <a:t>uncertain</a:t>
            </a:r>
            <a:r>
              <a:rPr lang="en-US" sz="1250" dirty="0">
                <a:solidFill>
                  <a:srgbClr val="262B3A"/>
                </a:solidFill>
                <a:latin typeface="Calibri" pitchFamily="34" charset="0"/>
                <a:ea typeface="Calibri" pitchFamily="34" charset="-122"/>
                <a:cs typeface="Calibri" pitchFamily="34" charset="-120"/>
              </a:rPr>
              <a:t> about the long-term risks of nanoparticles.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Silver in a sock fell from </a:t>
            </a:r>
            <a:r>
              <a:rPr lang="en-US" sz="1250" b="1" dirty="0">
                <a:solidFill>
                  <a:srgbClr val="262B3A"/>
                </a:solidFill>
                <a:latin typeface="Calibri" pitchFamily="34" charset="0"/>
                <a:ea typeface="Calibri" pitchFamily="34" charset="-122"/>
                <a:cs typeface="Calibri" pitchFamily="34" charset="-120"/>
              </a:rPr>
              <a:t>40</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10 µg/g</a:t>
            </a:r>
            <a:r>
              <a:rPr lang="en-US" sz="1250" dirty="0">
                <a:solidFill>
                  <a:srgbClr val="262B3A"/>
                </a:solidFill>
                <a:latin typeface="Calibri" pitchFamily="34" charset="0"/>
                <a:ea typeface="Calibri" pitchFamily="34" charset="-122"/>
                <a:cs typeface="Calibri" pitchFamily="34" charset="-120"/>
              </a:rPr>
              <a:t> after washing. Calculate the percentage lost.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benefit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risk of adding silver nanoparticles to clothing.</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C4.3 Why are nanoparticles so useful?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21</a:t>
            </a:r>
            <a:endParaRPr lang="en-US" sz="1000" dirty="0"/>
          </a:p>
        </p:txBody>
      </p:sp>
      <p:sp>
        <p:nvSpPr>
          <p:cNvPr id="8" name="Shape 6"/>
          <p:cNvSpPr/>
          <p:nvPr/>
        </p:nvSpPr>
        <p:spPr>
          <a:xfrm>
            <a:off x="411480" y="1188720"/>
            <a:ext cx="2739314" cy="1143000"/>
          </a:xfrm>
          <a:prstGeom prst="rect">
            <a:avLst/>
          </a:prstGeom>
          <a:solidFill>
            <a:srgbClr val="F8F5FC"/>
          </a:solidFill>
          <a:ln w="9525">
            <a:solidFill>
              <a:srgbClr val="DDD3EC"/>
            </a:solidFill>
            <a:prstDash val="solid"/>
          </a:ln>
        </p:spPr>
      </p:sp>
      <p:sp>
        <p:nvSpPr>
          <p:cNvPr id="9" name="Shape 7"/>
          <p:cNvSpPr/>
          <p:nvPr/>
        </p:nvSpPr>
        <p:spPr>
          <a:xfrm>
            <a:off x="411480" y="1188720"/>
            <a:ext cx="73152" cy="1143000"/>
          </a:xfrm>
          <a:prstGeom prst="rect">
            <a:avLst/>
          </a:prstGeom>
          <a:solidFill>
            <a:srgbClr val="6A3FA0"/>
          </a:solidFill>
          <a:ln w="12700">
            <a:solidFill>
              <a:srgbClr val="6A3FA0"/>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Nanometre (nm)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One billionth of a metre: 1 nm = 1 × 10⁻⁹ m.</a:t>
            </a:r>
            <a:endParaRPr lang="en-US" sz="1200" dirty="0"/>
          </a:p>
        </p:txBody>
      </p:sp>
      <p:sp>
        <p:nvSpPr>
          <p:cNvPr id="11" name="Shape 9"/>
          <p:cNvSpPr/>
          <p:nvPr/>
        </p:nvSpPr>
        <p:spPr>
          <a:xfrm>
            <a:off x="3287954" y="1188720"/>
            <a:ext cx="2739314" cy="1143000"/>
          </a:xfrm>
          <a:prstGeom prst="rect">
            <a:avLst/>
          </a:prstGeom>
          <a:solidFill>
            <a:srgbClr val="F8F5FC"/>
          </a:solidFill>
          <a:ln w="9525">
            <a:solidFill>
              <a:srgbClr val="DDD3EC"/>
            </a:solidFill>
            <a:prstDash val="solid"/>
          </a:ln>
        </p:spPr>
      </p:sp>
      <p:sp>
        <p:nvSpPr>
          <p:cNvPr id="12" name="Shape 10"/>
          <p:cNvSpPr/>
          <p:nvPr/>
        </p:nvSpPr>
        <p:spPr>
          <a:xfrm>
            <a:off x="3287954" y="1188720"/>
            <a:ext cx="73152" cy="1143000"/>
          </a:xfrm>
          <a:prstGeom prst="rect">
            <a:avLst/>
          </a:prstGeom>
          <a:solidFill>
            <a:srgbClr val="6A3FA0"/>
          </a:solidFill>
          <a:ln w="12700">
            <a:solidFill>
              <a:srgbClr val="6A3FA0"/>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Nanoparticle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particle 1–100 nm across, about 10 to 1000 atoms wide.</a:t>
            </a:r>
            <a:endParaRPr lang="en-US" sz="1200" dirty="0"/>
          </a:p>
        </p:txBody>
      </p:sp>
      <p:sp>
        <p:nvSpPr>
          <p:cNvPr id="14" name="Shape 12"/>
          <p:cNvSpPr/>
          <p:nvPr/>
        </p:nvSpPr>
        <p:spPr>
          <a:xfrm>
            <a:off x="6164428" y="1188720"/>
            <a:ext cx="2739314" cy="1143000"/>
          </a:xfrm>
          <a:prstGeom prst="rect">
            <a:avLst/>
          </a:prstGeom>
          <a:solidFill>
            <a:srgbClr val="F8F5FC"/>
          </a:solidFill>
          <a:ln w="9525">
            <a:solidFill>
              <a:srgbClr val="DDD3EC"/>
            </a:solidFill>
            <a:prstDash val="solid"/>
          </a:ln>
        </p:spPr>
      </p:sp>
      <p:sp>
        <p:nvSpPr>
          <p:cNvPr id="15" name="Shape 13"/>
          <p:cNvSpPr/>
          <p:nvPr/>
        </p:nvSpPr>
        <p:spPr>
          <a:xfrm>
            <a:off x="6164428" y="1188720"/>
            <a:ext cx="73152" cy="1143000"/>
          </a:xfrm>
          <a:prstGeom prst="rect">
            <a:avLst/>
          </a:prstGeom>
          <a:solidFill>
            <a:srgbClr val="6A3FA0"/>
          </a:solidFill>
          <a:ln w="12700">
            <a:solidFill>
              <a:srgbClr val="6A3FA0"/>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Nanotechnology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Making and using structures on the scale of nanometres.</a:t>
            </a:r>
            <a:endParaRPr lang="en-US" sz="1200" dirty="0"/>
          </a:p>
        </p:txBody>
      </p:sp>
      <p:sp>
        <p:nvSpPr>
          <p:cNvPr id="17" name="Shape 15"/>
          <p:cNvSpPr/>
          <p:nvPr/>
        </p:nvSpPr>
        <p:spPr>
          <a:xfrm>
            <a:off x="9040901" y="1188720"/>
            <a:ext cx="2739314" cy="1143000"/>
          </a:xfrm>
          <a:prstGeom prst="rect">
            <a:avLst/>
          </a:prstGeom>
          <a:solidFill>
            <a:srgbClr val="F8F5FC"/>
          </a:solidFill>
          <a:ln w="9525">
            <a:solidFill>
              <a:srgbClr val="DDD3EC"/>
            </a:solidFill>
            <a:prstDash val="solid"/>
          </a:ln>
        </p:spPr>
      </p:sp>
      <p:sp>
        <p:nvSpPr>
          <p:cNvPr id="18" name="Shape 16"/>
          <p:cNvSpPr/>
          <p:nvPr/>
        </p:nvSpPr>
        <p:spPr>
          <a:xfrm>
            <a:off x="9040901" y="1188720"/>
            <a:ext cx="73152" cy="1143000"/>
          </a:xfrm>
          <a:prstGeom prst="rect">
            <a:avLst/>
          </a:prstGeom>
          <a:solidFill>
            <a:srgbClr val="6A3FA0"/>
          </a:solidFill>
          <a:ln w="12700">
            <a:solidFill>
              <a:srgbClr val="6A3FA0"/>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Bulk material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same substance in normal-sized pieces, e.g. a lump of gold.</a:t>
            </a:r>
            <a:endParaRPr lang="en-US" sz="1200" dirty="0"/>
          </a:p>
        </p:txBody>
      </p:sp>
      <p:sp>
        <p:nvSpPr>
          <p:cNvPr id="20" name="Shape 18"/>
          <p:cNvSpPr/>
          <p:nvPr/>
        </p:nvSpPr>
        <p:spPr>
          <a:xfrm>
            <a:off x="411480" y="2441448"/>
            <a:ext cx="2739314" cy="1143000"/>
          </a:xfrm>
          <a:prstGeom prst="rect">
            <a:avLst/>
          </a:prstGeom>
          <a:solidFill>
            <a:srgbClr val="F8F5FC"/>
          </a:solidFill>
          <a:ln w="9525">
            <a:solidFill>
              <a:srgbClr val="DDD3EC"/>
            </a:solidFill>
            <a:prstDash val="solid"/>
          </a:ln>
        </p:spPr>
      </p:sp>
      <p:sp>
        <p:nvSpPr>
          <p:cNvPr id="21" name="Shape 19"/>
          <p:cNvSpPr/>
          <p:nvPr/>
        </p:nvSpPr>
        <p:spPr>
          <a:xfrm>
            <a:off x="411480" y="2441448"/>
            <a:ext cx="73152" cy="1143000"/>
          </a:xfrm>
          <a:prstGeom prst="rect">
            <a:avLst/>
          </a:prstGeom>
          <a:solidFill>
            <a:srgbClr val="6A3FA0"/>
          </a:solidFill>
          <a:ln w="12700">
            <a:solidFill>
              <a:srgbClr val="6A3FA0"/>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Standard form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number written as A × 10ⁿ, with A between 1 and 10.</a:t>
            </a:r>
            <a:endParaRPr lang="en-US" sz="1200" dirty="0"/>
          </a:p>
        </p:txBody>
      </p:sp>
      <p:sp>
        <p:nvSpPr>
          <p:cNvPr id="23" name="Shape 21"/>
          <p:cNvSpPr/>
          <p:nvPr/>
        </p:nvSpPr>
        <p:spPr>
          <a:xfrm>
            <a:off x="3287954" y="2441448"/>
            <a:ext cx="2739314" cy="1143000"/>
          </a:xfrm>
          <a:prstGeom prst="rect">
            <a:avLst/>
          </a:prstGeom>
          <a:solidFill>
            <a:srgbClr val="F8F5FC"/>
          </a:solidFill>
          <a:ln w="9525">
            <a:solidFill>
              <a:srgbClr val="DDD3EC"/>
            </a:solidFill>
            <a:prstDash val="solid"/>
          </a:ln>
        </p:spPr>
      </p:sp>
      <p:sp>
        <p:nvSpPr>
          <p:cNvPr id="24" name="Shape 22"/>
          <p:cNvSpPr/>
          <p:nvPr/>
        </p:nvSpPr>
        <p:spPr>
          <a:xfrm>
            <a:off x="3287954" y="2441448"/>
            <a:ext cx="73152" cy="1143000"/>
          </a:xfrm>
          <a:prstGeom prst="rect">
            <a:avLst/>
          </a:prstGeom>
          <a:solidFill>
            <a:srgbClr val="6A3FA0"/>
          </a:solidFill>
          <a:ln w="12700">
            <a:solidFill>
              <a:srgbClr val="6A3FA0"/>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Order of magnitude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factor of 10 difference in size.</a:t>
            </a:r>
            <a:endParaRPr lang="en-US" sz="1200" dirty="0"/>
          </a:p>
        </p:txBody>
      </p:sp>
      <p:sp>
        <p:nvSpPr>
          <p:cNvPr id="26" name="Shape 24"/>
          <p:cNvSpPr/>
          <p:nvPr/>
        </p:nvSpPr>
        <p:spPr>
          <a:xfrm>
            <a:off x="6164428" y="2441448"/>
            <a:ext cx="2739314" cy="1143000"/>
          </a:xfrm>
          <a:prstGeom prst="rect">
            <a:avLst/>
          </a:prstGeom>
          <a:solidFill>
            <a:srgbClr val="F8F5FC"/>
          </a:solidFill>
          <a:ln w="9525">
            <a:solidFill>
              <a:srgbClr val="DDD3EC"/>
            </a:solidFill>
            <a:prstDash val="solid"/>
          </a:ln>
        </p:spPr>
      </p:sp>
      <p:sp>
        <p:nvSpPr>
          <p:cNvPr id="27" name="Shape 25"/>
          <p:cNvSpPr/>
          <p:nvPr/>
        </p:nvSpPr>
        <p:spPr>
          <a:xfrm>
            <a:off x="6164428" y="2441448"/>
            <a:ext cx="73152" cy="1143000"/>
          </a:xfrm>
          <a:prstGeom prst="rect">
            <a:avLst/>
          </a:prstGeom>
          <a:solidFill>
            <a:srgbClr val="6A3FA0"/>
          </a:solidFill>
          <a:ln w="12700">
            <a:solidFill>
              <a:srgbClr val="6A3FA0"/>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Surface area : volume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Surface area ÷ volume. For a cube, 6 ÷ side length.</a:t>
            </a:r>
            <a:endParaRPr lang="en-US" sz="1200" dirty="0"/>
          </a:p>
        </p:txBody>
      </p:sp>
      <p:sp>
        <p:nvSpPr>
          <p:cNvPr id="29" name="Shape 27"/>
          <p:cNvSpPr/>
          <p:nvPr/>
        </p:nvSpPr>
        <p:spPr>
          <a:xfrm>
            <a:off x="9040901" y="2441448"/>
            <a:ext cx="2739314" cy="1143000"/>
          </a:xfrm>
          <a:prstGeom prst="rect">
            <a:avLst/>
          </a:prstGeom>
          <a:solidFill>
            <a:srgbClr val="F8F5FC"/>
          </a:solidFill>
          <a:ln w="9525">
            <a:solidFill>
              <a:srgbClr val="DDD3EC"/>
            </a:solidFill>
            <a:prstDash val="solid"/>
          </a:ln>
        </p:spPr>
      </p:sp>
      <p:sp>
        <p:nvSpPr>
          <p:cNvPr id="30" name="Shape 28"/>
          <p:cNvSpPr/>
          <p:nvPr/>
        </p:nvSpPr>
        <p:spPr>
          <a:xfrm>
            <a:off x="9040901" y="2441448"/>
            <a:ext cx="73152" cy="1143000"/>
          </a:xfrm>
          <a:prstGeom prst="rect">
            <a:avLst/>
          </a:prstGeom>
          <a:solidFill>
            <a:srgbClr val="6A3FA0"/>
          </a:solidFill>
          <a:ln w="12700">
            <a:solidFill>
              <a:srgbClr val="6A3FA0"/>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Catalyst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Speeds up a reaction without being used up; works at its surface.</a:t>
            </a:r>
            <a:endParaRPr lang="en-US" sz="1200" dirty="0"/>
          </a:p>
        </p:txBody>
      </p:sp>
      <p:sp>
        <p:nvSpPr>
          <p:cNvPr id="32" name="Shape 30"/>
          <p:cNvSpPr/>
          <p:nvPr/>
        </p:nvSpPr>
        <p:spPr>
          <a:xfrm>
            <a:off x="411480" y="3694176"/>
            <a:ext cx="2739314" cy="1143000"/>
          </a:xfrm>
          <a:prstGeom prst="rect">
            <a:avLst/>
          </a:prstGeom>
          <a:solidFill>
            <a:srgbClr val="F8F5FC"/>
          </a:solidFill>
          <a:ln w="9525">
            <a:solidFill>
              <a:srgbClr val="DDD3EC"/>
            </a:solidFill>
            <a:prstDash val="solid"/>
          </a:ln>
        </p:spPr>
      </p:sp>
      <p:sp>
        <p:nvSpPr>
          <p:cNvPr id="33" name="Shape 31"/>
          <p:cNvSpPr/>
          <p:nvPr/>
        </p:nvSpPr>
        <p:spPr>
          <a:xfrm>
            <a:off x="411480" y="3694176"/>
            <a:ext cx="73152" cy="1143000"/>
          </a:xfrm>
          <a:prstGeom prst="rect">
            <a:avLst/>
          </a:prstGeom>
          <a:solidFill>
            <a:srgbClr val="6A3FA0"/>
          </a:solidFill>
          <a:ln w="12700">
            <a:solidFill>
              <a:srgbClr val="6A3FA0"/>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Fine particles (PM2.5)</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Particles less than 2.5 µm across in the air; bigger than nanoparticles.</a:t>
            </a:r>
            <a:endParaRPr lang="en-US" sz="1200" dirty="0"/>
          </a:p>
        </p:txBody>
      </p:sp>
      <p:sp>
        <p:nvSpPr>
          <p:cNvPr id="35" name="Shape 33"/>
          <p:cNvSpPr/>
          <p:nvPr/>
        </p:nvSpPr>
        <p:spPr>
          <a:xfrm>
            <a:off x="3287954" y="3694176"/>
            <a:ext cx="2739314" cy="1143000"/>
          </a:xfrm>
          <a:prstGeom prst="rect">
            <a:avLst/>
          </a:prstGeom>
          <a:solidFill>
            <a:srgbClr val="F8F5FC"/>
          </a:solidFill>
          <a:ln w="9525">
            <a:solidFill>
              <a:srgbClr val="DDD3EC"/>
            </a:solidFill>
            <a:prstDash val="solid"/>
          </a:ln>
        </p:spPr>
      </p:sp>
      <p:sp>
        <p:nvSpPr>
          <p:cNvPr id="36" name="Shape 34"/>
          <p:cNvSpPr/>
          <p:nvPr/>
        </p:nvSpPr>
        <p:spPr>
          <a:xfrm>
            <a:off x="3287954" y="3694176"/>
            <a:ext cx="73152" cy="1143000"/>
          </a:xfrm>
          <a:prstGeom prst="rect">
            <a:avLst/>
          </a:prstGeom>
          <a:solidFill>
            <a:srgbClr val="6A3FA0"/>
          </a:solidFill>
          <a:ln w="12700">
            <a:solidFill>
              <a:srgbClr val="6A3FA0"/>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Carbon nanotube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Graphene (one layer of graphite) rolled into a tube ~1 nm wide.</a:t>
            </a:r>
            <a:endParaRPr lang="en-US" sz="1200" dirty="0"/>
          </a:p>
        </p:txBody>
      </p:sp>
      <p:sp>
        <p:nvSpPr>
          <p:cNvPr id="38" name="Shape 36"/>
          <p:cNvSpPr/>
          <p:nvPr/>
        </p:nvSpPr>
        <p:spPr>
          <a:xfrm>
            <a:off x="6164428" y="3694176"/>
            <a:ext cx="2739314" cy="1143000"/>
          </a:xfrm>
          <a:prstGeom prst="rect">
            <a:avLst/>
          </a:prstGeom>
          <a:solidFill>
            <a:srgbClr val="F8F5FC"/>
          </a:solidFill>
          <a:ln w="9525">
            <a:solidFill>
              <a:srgbClr val="DDD3EC"/>
            </a:solidFill>
            <a:prstDash val="solid"/>
          </a:ln>
        </p:spPr>
      </p:sp>
      <p:sp>
        <p:nvSpPr>
          <p:cNvPr id="39" name="Shape 37"/>
          <p:cNvSpPr/>
          <p:nvPr/>
        </p:nvSpPr>
        <p:spPr>
          <a:xfrm>
            <a:off x="6164428" y="3694176"/>
            <a:ext cx="73152" cy="1143000"/>
          </a:xfrm>
          <a:prstGeom prst="rect">
            <a:avLst/>
          </a:prstGeom>
          <a:solidFill>
            <a:srgbClr val="6A3FA0"/>
          </a:solidFill>
          <a:ln w="12700">
            <a:solidFill>
              <a:srgbClr val="6A3FA0"/>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Fullerene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hollow cage of carbon atoms in 5- and 6-membered rings, e.g. C₆₀.</a:t>
            </a:r>
            <a:endParaRPr lang="en-US" sz="1200" dirty="0"/>
          </a:p>
        </p:txBody>
      </p:sp>
      <p:sp>
        <p:nvSpPr>
          <p:cNvPr id="41" name="Shape 39"/>
          <p:cNvSpPr/>
          <p:nvPr/>
        </p:nvSpPr>
        <p:spPr>
          <a:xfrm>
            <a:off x="9040901" y="3694176"/>
            <a:ext cx="2739314" cy="1143000"/>
          </a:xfrm>
          <a:prstGeom prst="rect">
            <a:avLst/>
          </a:prstGeom>
          <a:solidFill>
            <a:srgbClr val="F8F5FC"/>
          </a:solidFill>
          <a:ln w="9525">
            <a:solidFill>
              <a:srgbClr val="DDD3EC"/>
            </a:solidFill>
            <a:prstDash val="solid"/>
          </a:ln>
        </p:spPr>
      </p:sp>
      <p:sp>
        <p:nvSpPr>
          <p:cNvPr id="42" name="Shape 40"/>
          <p:cNvSpPr/>
          <p:nvPr/>
        </p:nvSpPr>
        <p:spPr>
          <a:xfrm>
            <a:off x="9040901" y="3694176"/>
            <a:ext cx="73152" cy="1143000"/>
          </a:xfrm>
          <a:prstGeom prst="rect">
            <a:avLst/>
          </a:prstGeom>
          <a:solidFill>
            <a:srgbClr val="6A3FA0"/>
          </a:solidFill>
          <a:ln w="12700">
            <a:solidFill>
              <a:srgbClr val="6A3FA0"/>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Nanocomposite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material with nanoparticles embedded in a matrix.</a:t>
            </a:r>
            <a:endParaRPr lang="en-US" sz="1200" dirty="0"/>
          </a:p>
        </p:txBody>
      </p:sp>
      <p:sp>
        <p:nvSpPr>
          <p:cNvPr id="44" name="Shape 42"/>
          <p:cNvSpPr/>
          <p:nvPr/>
        </p:nvSpPr>
        <p:spPr>
          <a:xfrm>
            <a:off x="411480" y="4946904"/>
            <a:ext cx="2739314" cy="1143000"/>
          </a:xfrm>
          <a:prstGeom prst="rect">
            <a:avLst/>
          </a:prstGeom>
          <a:solidFill>
            <a:srgbClr val="F8F5FC"/>
          </a:solidFill>
          <a:ln w="9525">
            <a:solidFill>
              <a:srgbClr val="DDD3EC"/>
            </a:solidFill>
            <a:prstDash val="solid"/>
          </a:ln>
        </p:spPr>
      </p:sp>
      <p:sp>
        <p:nvSpPr>
          <p:cNvPr id="45" name="Shape 43"/>
          <p:cNvSpPr/>
          <p:nvPr/>
        </p:nvSpPr>
        <p:spPr>
          <a:xfrm>
            <a:off x="411480" y="4946904"/>
            <a:ext cx="73152" cy="1143000"/>
          </a:xfrm>
          <a:prstGeom prst="rect">
            <a:avLst/>
          </a:prstGeom>
          <a:solidFill>
            <a:srgbClr val="6A3FA0"/>
          </a:solidFill>
          <a:ln w="12700">
            <a:solidFill>
              <a:srgbClr val="6A3FA0"/>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Antibacterial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Kills or stops the growth of bacteria, e.g. silver nanoparticles.</a:t>
            </a:r>
            <a:endParaRPr lang="en-US" sz="1200" dirty="0"/>
          </a:p>
        </p:txBody>
      </p:sp>
      <p:sp>
        <p:nvSpPr>
          <p:cNvPr id="47" name="Shape 45"/>
          <p:cNvSpPr/>
          <p:nvPr/>
        </p:nvSpPr>
        <p:spPr>
          <a:xfrm>
            <a:off x="3287954" y="4946904"/>
            <a:ext cx="2739314" cy="1143000"/>
          </a:xfrm>
          <a:prstGeom prst="rect">
            <a:avLst/>
          </a:prstGeom>
          <a:solidFill>
            <a:srgbClr val="F8F5FC"/>
          </a:solidFill>
          <a:ln w="9525">
            <a:solidFill>
              <a:srgbClr val="DDD3EC"/>
            </a:solidFill>
            <a:prstDash val="solid"/>
          </a:ln>
        </p:spPr>
      </p:sp>
      <p:sp>
        <p:nvSpPr>
          <p:cNvPr id="48" name="Shape 46"/>
          <p:cNvSpPr/>
          <p:nvPr/>
        </p:nvSpPr>
        <p:spPr>
          <a:xfrm>
            <a:off x="3287954" y="4946904"/>
            <a:ext cx="73152" cy="1143000"/>
          </a:xfrm>
          <a:prstGeom prst="rect">
            <a:avLst/>
          </a:prstGeom>
          <a:solidFill>
            <a:srgbClr val="6A3FA0"/>
          </a:solidFill>
          <a:ln w="12700">
            <a:solidFill>
              <a:srgbClr val="6A3FA0"/>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Risk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chance of harm and how serious the harm would be.</a:t>
            </a:r>
            <a:endParaRPr lang="en-US" sz="1200" dirty="0"/>
          </a:p>
        </p:txBody>
      </p:sp>
      <p:sp>
        <p:nvSpPr>
          <p:cNvPr id="50" name="Shape 48"/>
          <p:cNvSpPr/>
          <p:nvPr/>
        </p:nvSpPr>
        <p:spPr>
          <a:xfrm>
            <a:off x="6164428" y="4946904"/>
            <a:ext cx="2739314" cy="1143000"/>
          </a:xfrm>
          <a:prstGeom prst="rect">
            <a:avLst/>
          </a:prstGeom>
          <a:solidFill>
            <a:srgbClr val="F8F5FC"/>
          </a:solidFill>
          <a:ln w="9525">
            <a:solidFill>
              <a:srgbClr val="DDD3EC"/>
            </a:solidFill>
            <a:prstDash val="solid"/>
          </a:ln>
        </p:spPr>
      </p:sp>
      <p:sp>
        <p:nvSpPr>
          <p:cNvPr id="51" name="Shape 49"/>
          <p:cNvSpPr/>
          <p:nvPr/>
        </p:nvSpPr>
        <p:spPr>
          <a:xfrm>
            <a:off x="6164428" y="4946904"/>
            <a:ext cx="73152" cy="1143000"/>
          </a:xfrm>
          <a:prstGeom prst="rect">
            <a:avLst/>
          </a:prstGeom>
          <a:solidFill>
            <a:srgbClr val="6A3FA0"/>
          </a:solidFill>
          <a:ln w="12700">
            <a:solidFill>
              <a:srgbClr val="6A3FA0"/>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Uncertainty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Not knowing the effects for sure, e.g. long-term effects of new materials.</a:t>
            </a:r>
            <a:endParaRPr lang="en-US" sz="1200" dirty="0"/>
          </a:p>
        </p:txBody>
      </p:sp>
      <p:sp>
        <p:nvSpPr>
          <p:cNvPr id="53" name="Shape 51"/>
          <p:cNvSpPr/>
          <p:nvPr/>
        </p:nvSpPr>
        <p:spPr>
          <a:xfrm>
            <a:off x="9040901" y="4946904"/>
            <a:ext cx="2739314" cy="1143000"/>
          </a:xfrm>
          <a:prstGeom prst="rect">
            <a:avLst/>
          </a:prstGeom>
          <a:solidFill>
            <a:srgbClr val="F8F5FC"/>
          </a:solidFill>
          <a:ln w="9525">
            <a:solidFill>
              <a:srgbClr val="DDD3EC"/>
            </a:solidFill>
            <a:prstDash val="solid"/>
          </a:ln>
        </p:spPr>
      </p:sp>
      <p:sp>
        <p:nvSpPr>
          <p:cNvPr id="54" name="Shape 52"/>
          <p:cNvSpPr/>
          <p:nvPr/>
        </p:nvSpPr>
        <p:spPr>
          <a:xfrm>
            <a:off x="9040901" y="4946904"/>
            <a:ext cx="73152" cy="1143000"/>
          </a:xfrm>
          <a:prstGeom prst="rect">
            <a:avLst/>
          </a:prstGeom>
          <a:solidFill>
            <a:srgbClr val="6A3FA0"/>
          </a:solidFill>
          <a:ln w="12700">
            <a:solidFill>
              <a:srgbClr val="6A3FA0"/>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Benefit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An advantage of using something, weighed against its risks.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C4.3.1–C4.3.5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22</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Cerium oxide nanoparticles are added to diesel fuel. They act as a </a:t>
            </a:r>
            <a:r>
              <a:rPr lang="en-US" sz="1200" b="1" i="1" dirty="0">
                <a:solidFill>
                  <a:srgbClr val="262B3A"/>
                </a:solidFill>
                <a:latin typeface="Calibri" pitchFamily="34" charset="0"/>
                <a:ea typeface="Calibri" pitchFamily="34" charset="-122"/>
                <a:cs typeface="Calibri" pitchFamily="34" charset="-120"/>
              </a:rPr>
              <a:t>catalyst</a:t>
            </a:r>
            <a:r>
              <a:rPr lang="en-US" sz="1200" i="1" dirty="0">
                <a:solidFill>
                  <a:srgbClr val="262B3A"/>
                </a:solidFill>
                <a:latin typeface="Calibri" pitchFamily="34" charset="0"/>
                <a:ea typeface="Calibri" pitchFamily="34" charset="-122"/>
                <a:cs typeface="Calibri" pitchFamily="34" charset="-120"/>
              </a:rPr>
              <a:t> so the fuel burns more completely. A typical particle is a cube with sides of </a:t>
            </a:r>
            <a:r>
              <a:rPr lang="en-US" sz="1200" b="1" i="1" dirty="0">
                <a:solidFill>
                  <a:srgbClr val="262B3A"/>
                </a:solidFill>
                <a:latin typeface="Calibri" pitchFamily="34" charset="0"/>
                <a:ea typeface="Calibri" pitchFamily="34" charset="-122"/>
                <a:cs typeface="Calibri" pitchFamily="34" charset="-120"/>
              </a:rPr>
              <a:t>4 nm</a:t>
            </a:r>
            <a:r>
              <a:rPr lang="en-US" sz="1200" i="1" dirty="0">
                <a:solidFill>
                  <a:srgbClr val="262B3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411480" y="1719072"/>
            <a:ext cx="5570068" cy="1330804"/>
          </a:xfrm>
          <a:prstGeom prst="roundRect">
            <a:avLst>
              <a:gd name="adj" fmla="val 3436"/>
            </a:avLst>
          </a:prstGeom>
          <a:solidFill>
            <a:srgbClr val="F8F5FC"/>
          </a:solidFill>
          <a:ln w="9525">
            <a:solidFill>
              <a:srgbClr val="DDD3EC"/>
            </a:solidFill>
            <a:prstDash val="solid"/>
          </a:ln>
        </p:spPr>
      </p:sp>
      <p:sp>
        <p:nvSpPr>
          <p:cNvPr id="10" name="Text 8"/>
          <p:cNvSpPr/>
          <p:nvPr/>
        </p:nvSpPr>
        <p:spPr>
          <a:xfrm>
            <a:off x="548640" y="1792224"/>
            <a:ext cx="5295748" cy="9650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Write </a:t>
            </a:r>
            <a:r>
              <a:rPr lang="en-US" sz="1200" b="1" dirty="0">
                <a:solidFill>
                  <a:srgbClr val="262B3A"/>
                </a:solidFill>
                <a:latin typeface="Calibri" pitchFamily="34" charset="0"/>
                <a:ea typeface="Calibri" pitchFamily="34" charset="-122"/>
                <a:cs typeface="Calibri" pitchFamily="34" charset="-120"/>
              </a:rPr>
              <a:t>4 nm</a:t>
            </a:r>
            <a:r>
              <a:rPr lang="en-US" sz="1200" dirty="0">
                <a:solidFill>
                  <a:srgbClr val="262B3A"/>
                </a:solidFill>
                <a:latin typeface="Calibri" pitchFamily="34" charset="0"/>
                <a:ea typeface="Calibri" pitchFamily="34" charset="-122"/>
                <a:cs typeface="Calibri" pitchFamily="34" charset="-120"/>
              </a:rPr>
              <a:t> in metres, in standard form.</a:t>
            </a:r>
            <a:endParaRPr lang="en-US" sz="1200" dirty="0"/>
          </a:p>
        </p:txBody>
      </p:sp>
      <p:sp>
        <p:nvSpPr>
          <p:cNvPr id="11" name="Text 9"/>
          <p:cNvSpPr/>
          <p:nvPr/>
        </p:nvSpPr>
        <p:spPr>
          <a:xfrm>
            <a:off x="4518508" y="27389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3159604"/>
            <a:ext cx="5570068" cy="1330804"/>
          </a:xfrm>
          <a:prstGeom prst="roundRect">
            <a:avLst>
              <a:gd name="adj" fmla="val 3436"/>
            </a:avLst>
          </a:prstGeom>
          <a:solidFill>
            <a:srgbClr val="FFFFFF"/>
          </a:solidFill>
          <a:ln w="9525">
            <a:solidFill>
              <a:srgbClr val="DDD3EC"/>
            </a:solidFill>
            <a:prstDash val="solid"/>
          </a:ln>
        </p:spPr>
      </p:sp>
      <p:sp>
        <p:nvSpPr>
          <p:cNvPr id="13" name="Text 11"/>
          <p:cNvSpPr/>
          <p:nvPr/>
        </p:nvSpPr>
        <p:spPr>
          <a:xfrm>
            <a:off x="548640" y="3232756"/>
            <a:ext cx="5295748" cy="96504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An atom is about </a:t>
            </a:r>
            <a:r>
              <a:rPr lang="en-US" sz="1200" b="1" dirty="0">
                <a:solidFill>
                  <a:srgbClr val="262B3A"/>
                </a:solidFill>
                <a:latin typeface="Calibri" pitchFamily="34" charset="0"/>
                <a:ea typeface="Calibri" pitchFamily="34" charset="-122"/>
                <a:cs typeface="Calibri" pitchFamily="34" charset="-120"/>
              </a:rPr>
              <a:t>0.1 nm</a:t>
            </a:r>
            <a:r>
              <a:rPr lang="en-US" sz="1200" dirty="0">
                <a:solidFill>
                  <a:srgbClr val="262B3A"/>
                </a:solidFill>
                <a:latin typeface="Calibri" pitchFamily="34" charset="0"/>
                <a:ea typeface="Calibri" pitchFamily="34" charset="-122"/>
                <a:cs typeface="Calibri" pitchFamily="34" charset="-120"/>
              </a:rPr>
              <a:t> across. How many atoms fit along one edge of the particle?</a:t>
            </a:r>
            <a:endParaRPr lang="en-US" sz="1200" dirty="0"/>
          </a:p>
        </p:txBody>
      </p:sp>
      <p:sp>
        <p:nvSpPr>
          <p:cNvPr id="14" name="Text 12"/>
          <p:cNvSpPr/>
          <p:nvPr/>
        </p:nvSpPr>
        <p:spPr>
          <a:xfrm>
            <a:off x="4518508" y="4179511"/>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5" name="Shape 13"/>
          <p:cNvSpPr/>
          <p:nvPr/>
        </p:nvSpPr>
        <p:spPr>
          <a:xfrm>
            <a:off x="411480" y="4600135"/>
            <a:ext cx="5570068" cy="1663505"/>
          </a:xfrm>
          <a:prstGeom prst="roundRect">
            <a:avLst>
              <a:gd name="adj" fmla="val 2748"/>
            </a:avLst>
          </a:prstGeom>
          <a:solidFill>
            <a:srgbClr val="F8F5FC"/>
          </a:solidFill>
          <a:ln w="9525">
            <a:solidFill>
              <a:srgbClr val="DDD3EC"/>
            </a:solidFill>
            <a:prstDash val="solid"/>
          </a:ln>
        </p:spPr>
      </p:sp>
      <p:sp>
        <p:nvSpPr>
          <p:cNvPr id="16" name="Text 14"/>
          <p:cNvSpPr/>
          <p:nvPr/>
        </p:nvSpPr>
        <p:spPr>
          <a:xfrm>
            <a:off x="548640" y="4673287"/>
            <a:ext cx="5295748" cy="1297745"/>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Calculate the </a:t>
            </a:r>
            <a:r>
              <a:rPr lang="en-US" sz="1200" b="1" dirty="0">
                <a:solidFill>
                  <a:srgbClr val="262B3A"/>
                </a:solidFill>
                <a:latin typeface="Calibri" pitchFamily="34" charset="0"/>
                <a:ea typeface="Calibri" pitchFamily="34" charset="-122"/>
                <a:cs typeface="Calibri" pitchFamily="34" charset="-120"/>
              </a:rPr>
              <a:t>surface area</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volume</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SA : V ratio</a:t>
            </a:r>
            <a:r>
              <a:rPr lang="en-US" sz="1200" dirty="0">
                <a:solidFill>
                  <a:srgbClr val="262B3A"/>
                </a:solidFill>
                <a:latin typeface="Calibri" pitchFamily="34" charset="0"/>
                <a:ea typeface="Calibri" pitchFamily="34" charset="-122"/>
                <a:cs typeface="Calibri" pitchFamily="34" charset="-120"/>
              </a:rPr>
              <a:t> of one 4 nm particle. Give units.</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6210148" y="1719072"/>
            <a:ext cx="5570068" cy="1340176"/>
          </a:xfrm>
          <a:prstGeom prst="roundRect">
            <a:avLst>
              <a:gd name="adj" fmla="val 3411"/>
            </a:avLst>
          </a:prstGeom>
          <a:solidFill>
            <a:srgbClr val="F8F5FC"/>
          </a:solidFill>
          <a:ln w="9525">
            <a:solidFill>
              <a:srgbClr val="DDD3EC"/>
            </a:solidFill>
            <a:prstDash val="solid"/>
          </a:ln>
        </p:spPr>
      </p:sp>
      <p:sp>
        <p:nvSpPr>
          <p:cNvPr id="19" name="Text 17"/>
          <p:cNvSpPr/>
          <p:nvPr/>
        </p:nvSpPr>
        <p:spPr>
          <a:xfrm>
            <a:off x="6347308" y="1792224"/>
            <a:ext cx="5295748" cy="974416"/>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A </a:t>
            </a:r>
            <a:r>
              <a:rPr lang="en-US" sz="1200" b="1" dirty="0">
                <a:solidFill>
                  <a:srgbClr val="262B3A"/>
                </a:solidFill>
                <a:latin typeface="Calibri" pitchFamily="34" charset="0"/>
                <a:ea typeface="Calibri" pitchFamily="34" charset="-122"/>
                <a:cs typeface="Calibri" pitchFamily="34" charset="-120"/>
              </a:rPr>
              <a:t>40 nm</a:t>
            </a:r>
            <a:r>
              <a:rPr lang="en-US" sz="1200" dirty="0">
                <a:solidFill>
                  <a:srgbClr val="262B3A"/>
                </a:solidFill>
                <a:latin typeface="Calibri" pitchFamily="34" charset="0"/>
                <a:ea typeface="Calibri" pitchFamily="34" charset="-122"/>
                <a:cs typeface="Calibri" pitchFamily="34" charset="-120"/>
              </a:rPr>
              <a:t> particle has an SA : V ratio of </a:t>
            </a:r>
            <a:r>
              <a:rPr lang="en-US" sz="1200" b="1" dirty="0">
                <a:solidFill>
                  <a:srgbClr val="262B3A"/>
                </a:solidFill>
                <a:latin typeface="Calibri" pitchFamily="34" charset="0"/>
                <a:ea typeface="Calibri" pitchFamily="34" charset="-122"/>
                <a:cs typeface="Calibri" pitchFamily="34" charset="-120"/>
              </a:rPr>
              <a:t>0.15 nm⁻¹</a:t>
            </a:r>
            <a:r>
              <a:rPr lang="en-US" sz="1200" dirty="0">
                <a:solidFill>
                  <a:srgbClr val="262B3A"/>
                </a:solidFill>
                <a:latin typeface="Calibri" pitchFamily="34" charset="0"/>
                <a:ea typeface="Calibri" pitchFamily="34" charset="-122"/>
                <a:cs typeface="Calibri" pitchFamily="34" charset="-120"/>
              </a:rPr>
              <a:t>. How many times bigger is the ratio for the 4 nm particle?</a:t>
            </a:r>
            <a:endParaRPr lang="en-US" sz="1200" dirty="0"/>
          </a:p>
        </p:txBody>
      </p:sp>
      <p:sp>
        <p:nvSpPr>
          <p:cNvPr id="20" name="Text 18"/>
          <p:cNvSpPr/>
          <p:nvPr/>
        </p:nvSpPr>
        <p:spPr>
          <a:xfrm>
            <a:off x="10317175" y="274835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168976"/>
            <a:ext cx="5570068" cy="1218341"/>
          </a:xfrm>
          <a:prstGeom prst="roundRect">
            <a:avLst>
              <a:gd name="adj" fmla="val 3753"/>
            </a:avLst>
          </a:prstGeom>
          <a:solidFill>
            <a:srgbClr val="FFFFFF"/>
          </a:solidFill>
          <a:ln w="9525">
            <a:solidFill>
              <a:srgbClr val="DDD3EC"/>
            </a:solidFill>
            <a:prstDash val="solid"/>
          </a:ln>
        </p:spPr>
      </p:sp>
      <p:sp>
        <p:nvSpPr>
          <p:cNvPr id="22" name="Text 20"/>
          <p:cNvSpPr/>
          <p:nvPr/>
        </p:nvSpPr>
        <p:spPr>
          <a:xfrm>
            <a:off x="6347308" y="3242128"/>
            <a:ext cx="5295748" cy="852581"/>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Explain why the </a:t>
            </a:r>
            <a:r>
              <a:rPr lang="en-US" sz="1200" b="1" dirty="0">
                <a:solidFill>
                  <a:srgbClr val="262B3A"/>
                </a:solidFill>
                <a:latin typeface="Calibri" pitchFamily="34" charset="0"/>
                <a:ea typeface="Calibri" pitchFamily="34" charset="-122"/>
                <a:cs typeface="Calibri" pitchFamily="34" charset="-120"/>
              </a:rPr>
              <a:t>nanoparticles</a:t>
            </a:r>
            <a:r>
              <a:rPr lang="en-US" sz="1200" dirty="0">
                <a:solidFill>
                  <a:srgbClr val="262B3A"/>
                </a:solidFill>
                <a:latin typeface="Calibri" pitchFamily="34" charset="0"/>
                <a:ea typeface="Calibri" pitchFamily="34" charset="-122"/>
                <a:cs typeface="Calibri" pitchFamily="34" charset="-120"/>
              </a:rPr>
              <a:t> are better catalysts than the same mass of larger particles.</a:t>
            </a:r>
            <a:endParaRPr lang="en-US" sz="1200" dirty="0"/>
          </a:p>
        </p:txBody>
      </p:sp>
      <p:sp>
        <p:nvSpPr>
          <p:cNvPr id="23" name="Text 21"/>
          <p:cNvSpPr/>
          <p:nvPr/>
        </p:nvSpPr>
        <p:spPr>
          <a:xfrm>
            <a:off x="10317175" y="4076421"/>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497045"/>
            <a:ext cx="5570068" cy="1766595"/>
          </a:xfrm>
          <a:prstGeom prst="roundRect">
            <a:avLst>
              <a:gd name="adj" fmla="val 2588"/>
            </a:avLst>
          </a:prstGeom>
          <a:solidFill>
            <a:srgbClr val="F8F5FC"/>
          </a:solidFill>
          <a:ln w="9525">
            <a:solidFill>
              <a:srgbClr val="DDD3EC"/>
            </a:solidFill>
            <a:prstDash val="solid"/>
          </a:ln>
        </p:spPr>
      </p:sp>
      <p:sp>
        <p:nvSpPr>
          <p:cNvPr id="25" name="Text 23"/>
          <p:cNvSpPr/>
          <p:nvPr/>
        </p:nvSpPr>
        <p:spPr>
          <a:xfrm>
            <a:off x="6347308" y="4570197"/>
            <a:ext cx="5295748" cy="1400835"/>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Some cerium oxide nanoparticles leave the exhaust. Explain </a:t>
            </a:r>
            <a:r>
              <a:rPr lang="en-US" sz="1200" b="1" dirty="0">
                <a:solidFill>
                  <a:srgbClr val="262B3A"/>
                </a:solidFill>
                <a:latin typeface="Calibri" pitchFamily="34" charset="0"/>
                <a:ea typeface="Calibri" pitchFamily="34" charset="-122"/>
                <a:cs typeface="Calibri" pitchFamily="34" charset="-120"/>
              </a:rPr>
              <a:t>two</a:t>
            </a:r>
            <a:r>
              <a:rPr lang="en-US" sz="1200" dirty="0">
                <a:solidFill>
                  <a:srgbClr val="262B3A"/>
                </a:solidFill>
                <a:latin typeface="Calibri" pitchFamily="34" charset="0"/>
                <a:ea typeface="Calibri" pitchFamily="34" charset="-122"/>
                <a:cs typeface="Calibri" pitchFamily="34" charset="-120"/>
              </a:rPr>
              <a:t> possible risks, and why these risks are </a:t>
            </a:r>
            <a:r>
              <a:rPr lang="en-US" sz="1200" b="1" dirty="0">
                <a:solidFill>
                  <a:srgbClr val="262B3A"/>
                </a:solidFill>
                <a:latin typeface="Calibri" pitchFamily="34" charset="0"/>
                <a:ea typeface="Calibri" pitchFamily="34" charset="-122"/>
                <a:cs typeface="Calibri" pitchFamily="34" charset="-120"/>
              </a:rPr>
              <a:t>uncertain</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[4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A3590"/>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5B3A8C"/>
          </a:solidFill>
          <a:ln w="12700">
            <a:solidFill>
              <a:srgbClr val="5B3A8C"/>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5A3590"/>
          </a:solidFill>
          <a:ln w="12700">
            <a:solidFill>
              <a:srgbClr val="5A3590"/>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DE6F8"/>
                </a:solidFill>
                <a:latin typeface="Calibri" pitchFamily="34" charset="0"/>
                <a:ea typeface="Calibri" pitchFamily="34" charset="-122"/>
                <a:cs typeface="Calibri" pitchFamily="34" charset="-120"/>
              </a:rPr>
              <a:t>C4.3 Nanoparticles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DDD0F2"/>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DDD0F2"/>
                </a:solidFill>
                <a:latin typeface="Calibri" pitchFamily="34" charset="0"/>
                <a:ea typeface="Calibri" pitchFamily="34" charset="-122"/>
                <a:cs typeface="Calibri" pitchFamily="34" charset="-120"/>
              </a:rPr>
              <a:t>Homework  |  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C4.3 Why are nanoparticles so useful?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24</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Q6 is a 6-mark extended answer. There are no Higher-only questions in this homework.</a:t>
            </a:r>
            <a:endParaRPr lang="en-US" sz="1150" dirty="0"/>
          </a:p>
        </p:txBody>
      </p:sp>
      <p:sp>
        <p:nvSpPr>
          <p:cNvPr id="9" name="Shape 7"/>
          <p:cNvSpPr/>
          <p:nvPr/>
        </p:nvSpPr>
        <p:spPr>
          <a:xfrm>
            <a:off x="411480" y="1517904"/>
            <a:ext cx="5570068" cy="1530096"/>
          </a:xfrm>
          <a:prstGeom prst="roundRect">
            <a:avLst>
              <a:gd name="adj" fmla="val 2988"/>
            </a:avLst>
          </a:prstGeom>
          <a:solidFill>
            <a:srgbClr val="F8F5FC"/>
          </a:solidFill>
          <a:ln w="9525">
            <a:solidFill>
              <a:srgbClr val="DDD3EC"/>
            </a:solidFill>
            <a:prstDash val="solid"/>
          </a:ln>
        </p:spPr>
      </p:sp>
      <p:sp>
        <p:nvSpPr>
          <p:cNvPr id="10" name="Text 8"/>
          <p:cNvSpPr/>
          <p:nvPr/>
        </p:nvSpPr>
        <p:spPr>
          <a:xfrm>
            <a:off x="548640" y="1591056"/>
            <a:ext cx="5295748" cy="1182624"/>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Write </a:t>
            </a:r>
            <a:r>
              <a:rPr lang="en-US" sz="1150" b="1" dirty="0">
                <a:solidFill>
                  <a:srgbClr val="262B3A"/>
                </a:solidFill>
                <a:latin typeface="Calibri" pitchFamily="34" charset="0"/>
                <a:ea typeface="Calibri" pitchFamily="34" charset="-122"/>
                <a:cs typeface="Calibri" pitchFamily="34" charset="-120"/>
              </a:rPr>
              <a:t>0.000 000 08 m</a:t>
            </a:r>
            <a:r>
              <a:rPr lang="en-US" sz="1150" dirty="0">
                <a:solidFill>
                  <a:srgbClr val="262B3A"/>
                </a:solidFill>
                <a:latin typeface="Calibri" pitchFamily="34" charset="0"/>
                <a:ea typeface="Calibri" pitchFamily="34" charset="-122"/>
                <a:cs typeface="Calibri" pitchFamily="34" charset="-120"/>
              </a:rPr>
              <a:t> in standard form. Is this a nanoparticle? Explain.</a:t>
            </a:r>
            <a:endParaRPr lang="en-US" sz="1150" dirty="0"/>
          </a:p>
        </p:txBody>
      </p:sp>
      <p:sp>
        <p:nvSpPr>
          <p:cNvPr id="11" name="Text 9"/>
          <p:cNvSpPr/>
          <p:nvPr/>
        </p:nvSpPr>
        <p:spPr>
          <a:xfrm>
            <a:off x="4518508" y="275539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157728"/>
            <a:ext cx="5570068" cy="1530096"/>
          </a:xfrm>
          <a:prstGeom prst="roundRect">
            <a:avLst>
              <a:gd name="adj" fmla="val 2988"/>
            </a:avLst>
          </a:prstGeom>
          <a:solidFill>
            <a:srgbClr val="F8F5FC"/>
          </a:solidFill>
          <a:ln w="9525">
            <a:solidFill>
              <a:srgbClr val="DDD3EC"/>
            </a:solidFill>
            <a:prstDash val="solid"/>
          </a:ln>
        </p:spPr>
      </p:sp>
      <p:sp>
        <p:nvSpPr>
          <p:cNvPr id="13" name="Text 11"/>
          <p:cNvSpPr/>
          <p:nvPr/>
        </p:nvSpPr>
        <p:spPr>
          <a:xfrm>
            <a:off x="548640" y="3230880"/>
            <a:ext cx="5295748" cy="1182624"/>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Calculate the </a:t>
            </a:r>
            <a:r>
              <a:rPr lang="en-US" sz="1150" b="1" dirty="0">
                <a:solidFill>
                  <a:srgbClr val="262B3A"/>
                </a:solidFill>
                <a:latin typeface="Calibri" pitchFamily="34" charset="0"/>
                <a:ea typeface="Calibri" pitchFamily="34" charset="-122"/>
                <a:cs typeface="Calibri" pitchFamily="34" charset="-120"/>
              </a:rPr>
              <a:t>SA : V ratio</a:t>
            </a:r>
            <a:r>
              <a:rPr lang="en-US" sz="1150" dirty="0">
                <a:solidFill>
                  <a:srgbClr val="262B3A"/>
                </a:solidFill>
                <a:latin typeface="Calibri" pitchFamily="34" charset="0"/>
                <a:ea typeface="Calibri" pitchFamily="34" charset="-122"/>
                <a:cs typeface="Calibri" pitchFamily="34" charset="-120"/>
              </a:rPr>
              <a:t> of a cube with sides of </a:t>
            </a:r>
            <a:r>
              <a:rPr lang="en-US" sz="1150" b="1" dirty="0">
                <a:solidFill>
                  <a:srgbClr val="262B3A"/>
                </a:solidFill>
                <a:latin typeface="Calibri" pitchFamily="34" charset="0"/>
                <a:ea typeface="Calibri" pitchFamily="34" charset="-122"/>
                <a:cs typeface="Calibri" pitchFamily="34" charset="-120"/>
              </a:rPr>
              <a:t>0.5 cm</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4" name="Text 12"/>
          <p:cNvSpPr/>
          <p:nvPr/>
        </p:nvSpPr>
        <p:spPr>
          <a:xfrm>
            <a:off x="4518508" y="439521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797552"/>
            <a:ext cx="5570068" cy="1530096"/>
          </a:xfrm>
          <a:prstGeom prst="roundRect">
            <a:avLst>
              <a:gd name="adj" fmla="val 2988"/>
            </a:avLst>
          </a:prstGeom>
          <a:solidFill>
            <a:srgbClr val="F8F5FC"/>
          </a:solidFill>
          <a:ln w="9525">
            <a:solidFill>
              <a:srgbClr val="DDD3EC"/>
            </a:solidFill>
            <a:prstDash val="solid"/>
          </a:ln>
        </p:spPr>
      </p:sp>
      <p:sp>
        <p:nvSpPr>
          <p:cNvPr id="16" name="Text 14"/>
          <p:cNvSpPr/>
          <p:nvPr/>
        </p:nvSpPr>
        <p:spPr>
          <a:xfrm>
            <a:off x="548640" y="4870704"/>
            <a:ext cx="5295748" cy="1182624"/>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Explain why nano </a:t>
            </a:r>
            <a:r>
              <a:rPr lang="en-US" sz="1150" b="1" dirty="0">
                <a:solidFill>
                  <a:srgbClr val="262B3A"/>
                </a:solidFill>
                <a:latin typeface="Calibri" pitchFamily="34" charset="0"/>
                <a:ea typeface="Calibri" pitchFamily="34" charset="-122"/>
                <a:cs typeface="Calibri" pitchFamily="34" charset="-120"/>
              </a:rPr>
              <a:t>zinc oxide</a:t>
            </a:r>
            <a:r>
              <a:rPr lang="en-US" sz="1150" dirty="0">
                <a:solidFill>
                  <a:srgbClr val="262B3A"/>
                </a:solidFill>
                <a:latin typeface="Calibri" pitchFamily="34" charset="0"/>
                <a:ea typeface="Calibri" pitchFamily="34" charset="-122"/>
                <a:cs typeface="Calibri" pitchFamily="34" charset="-120"/>
              </a:rPr>
              <a:t> sunscreen looks </a:t>
            </a:r>
            <a:r>
              <a:rPr lang="en-US" sz="1150" b="1" dirty="0">
                <a:solidFill>
                  <a:srgbClr val="262B3A"/>
                </a:solidFill>
                <a:latin typeface="Calibri" pitchFamily="34" charset="0"/>
                <a:ea typeface="Calibri" pitchFamily="34" charset="-122"/>
                <a:cs typeface="Calibri" pitchFamily="34" charset="-120"/>
              </a:rPr>
              <a:t>clear</a:t>
            </a:r>
            <a:r>
              <a:rPr lang="en-US" sz="1150" dirty="0">
                <a:solidFill>
                  <a:srgbClr val="262B3A"/>
                </a:solidFill>
                <a:latin typeface="Calibri" pitchFamily="34" charset="0"/>
                <a:ea typeface="Calibri" pitchFamily="34" charset="-122"/>
                <a:cs typeface="Calibri" pitchFamily="34" charset="-120"/>
              </a:rPr>
              <a:t> on the skin but still protects it.</a:t>
            </a:r>
            <a:endParaRPr lang="en-US" sz="1150" dirty="0"/>
          </a:p>
        </p:txBody>
      </p:sp>
      <p:sp>
        <p:nvSpPr>
          <p:cNvPr id="17" name="Text 15"/>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517904"/>
            <a:ext cx="5570068" cy="966376"/>
          </a:xfrm>
          <a:prstGeom prst="roundRect">
            <a:avLst>
              <a:gd name="adj" fmla="val 4731"/>
            </a:avLst>
          </a:prstGeom>
          <a:solidFill>
            <a:srgbClr val="F8F5FC"/>
          </a:solidFill>
          <a:ln w="9525">
            <a:solidFill>
              <a:srgbClr val="DDD3EC"/>
            </a:solidFill>
            <a:prstDash val="solid"/>
          </a:ln>
        </p:spPr>
      </p:sp>
      <p:sp>
        <p:nvSpPr>
          <p:cNvPr id="19" name="Text 17"/>
          <p:cNvSpPr/>
          <p:nvPr/>
        </p:nvSpPr>
        <p:spPr>
          <a:xfrm>
            <a:off x="6347308" y="1591056"/>
            <a:ext cx="5295748" cy="618904"/>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A silver dressing had </a:t>
            </a:r>
            <a:r>
              <a:rPr lang="en-US" sz="1150" b="1" dirty="0">
                <a:solidFill>
                  <a:srgbClr val="262B3A"/>
                </a:solidFill>
                <a:latin typeface="Calibri" pitchFamily="34" charset="0"/>
                <a:ea typeface="Calibri" pitchFamily="34" charset="-122"/>
                <a:cs typeface="Calibri" pitchFamily="34" charset="-120"/>
              </a:rPr>
              <a:t>60 µg</a:t>
            </a:r>
            <a:r>
              <a:rPr lang="en-US" sz="1150" dirty="0">
                <a:solidFill>
                  <a:srgbClr val="262B3A"/>
                </a:solidFill>
                <a:latin typeface="Calibri" pitchFamily="34" charset="0"/>
                <a:ea typeface="Calibri" pitchFamily="34" charset="-122"/>
                <a:cs typeface="Calibri" pitchFamily="34" charset="-120"/>
              </a:rPr>
              <a:t> of silver per cm². After a week it had </a:t>
            </a:r>
            <a:r>
              <a:rPr lang="en-US" sz="1150" b="1" dirty="0">
                <a:solidFill>
                  <a:srgbClr val="262B3A"/>
                </a:solidFill>
                <a:latin typeface="Calibri" pitchFamily="34" charset="0"/>
                <a:ea typeface="Calibri" pitchFamily="34" charset="-122"/>
                <a:cs typeface="Calibri" pitchFamily="34" charset="-120"/>
              </a:rPr>
              <a:t>15 µg</a:t>
            </a:r>
            <a:r>
              <a:rPr lang="en-US" sz="1150" dirty="0">
                <a:solidFill>
                  <a:srgbClr val="262B3A"/>
                </a:solidFill>
                <a:latin typeface="Calibri" pitchFamily="34" charset="0"/>
                <a:ea typeface="Calibri" pitchFamily="34" charset="-122"/>
                <a:cs typeface="Calibri" pitchFamily="34" charset="-120"/>
              </a:rPr>
              <a:t>. Calculate the percentage lost.</a:t>
            </a:r>
            <a:endParaRPr lang="en-US" sz="1150" dirty="0"/>
          </a:p>
        </p:txBody>
      </p:sp>
      <p:sp>
        <p:nvSpPr>
          <p:cNvPr id="20" name="Text 18"/>
          <p:cNvSpPr/>
          <p:nvPr/>
        </p:nvSpPr>
        <p:spPr>
          <a:xfrm>
            <a:off x="10317175" y="21916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2594008"/>
            <a:ext cx="5570068" cy="1111333"/>
          </a:xfrm>
          <a:prstGeom prst="roundRect">
            <a:avLst>
              <a:gd name="adj" fmla="val 4114"/>
            </a:avLst>
          </a:prstGeom>
          <a:solidFill>
            <a:srgbClr val="F8F5FC"/>
          </a:solidFill>
          <a:ln w="9525">
            <a:solidFill>
              <a:srgbClr val="DDD3EC"/>
            </a:solidFill>
            <a:prstDash val="solid"/>
          </a:ln>
        </p:spPr>
      </p:sp>
      <p:sp>
        <p:nvSpPr>
          <p:cNvPr id="22" name="Text 20"/>
          <p:cNvSpPr/>
          <p:nvPr/>
        </p:nvSpPr>
        <p:spPr>
          <a:xfrm>
            <a:off x="6347308" y="2667160"/>
            <a:ext cx="5295748" cy="763861"/>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Describe how the arrangement of atoms in a </a:t>
            </a:r>
            <a:r>
              <a:rPr lang="en-US" sz="1150" b="1" dirty="0">
                <a:solidFill>
                  <a:srgbClr val="262B3A"/>
                </a:solidFill>
                <a:latin typeface="Calibri" pitchFamily="34" charset="0"/>
                <a:ea typeface="Calibri" pitchFamily="34" charset="-122"/>
                <a:cs typeface="Calibri" pitchFamily="34" charset="-120"/>
              </a:rPr>
              <a:t>fullerene</a:t>
            </a:r>
            <a:r>
              <a:rPr lang="en-US" sz="1150" dirty="0">
                <a:solidFill>
                  <a:srgbClr val="262B3A"/>
                </a:solidFill>
                <a:latin typeface="Calibri" pitchFamily="34" charset="0"/>
                <a:ea typeface="Calibri" pitchFamily="34" charset="-122"/>
                <a:cs typeface="Calibri" pitchFamily="34" charset="-120"/>
              </a:rPr>
              <a:t> differs from that in a </a:t>
            </a:r>
            <a:r>
              <a:rPr lang="en-US" sz="1150" b="1" dirty="0">
                <a:solidFill>
                  <a:srgbClr val="262B3A"/>
                </a:solidFill>
                <a:latin typeface="Calibri" pitchFamily="34" charset="0"/>
                <a:ea typeface="Calibri" pitchFamily="34" charset="-122"/>
                <a:cs typeface="Calibri" pitchFamily="34" charset="-120"/>
              </a:rPr>
              <a:t>carbon nanotube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10317175" y="3412733"/>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4" name="Shape 22"/>
          <p:cNvSpPr/>
          <p:nvPr/>
        </p:nvSpPr>
        <p:spPr>
          <a:xfrm>
            <a:off x="6210148" y="3815069"/>
            <a:ext cx="5570068" cy="2512579"/>
          </a:xfrm>
          <a:prstGeom prst="roundRect">
            <a:avLst>
              <a:gd name="adj" fmla="val 1820"/>
            </a:avLst>
          </a:prstGeom>
          <a:solidFill>
            <a:srgbClr val="FFF4E0"/>
          </a:solidFill>
          <a:ln w="9525">
            <a:solidFill>
              <a:srgbClr val="F1D9A8"/>
            </a:solidFill>
            <a:prstDash val="solid"/>
          </a:ln>
        </p:spPr>
      </p:sp>
      <p:sp>
        <p:nvSpPr>
          <p:cNvPr id="25" name="Text 23"/>
          <p:cNvSpPr/>
          <p:nvPr/>
        </p:nvSpPr>
        <p:spPr>
          <a:xfrm>
            <a:off x="6347308" y="3888221"/>
            <a:ext cx="5295748" cy="2165107"/>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Evaluate the use of </a:t>
            </a:r>
            <a:r>
              <a:rPr lang="en-US" sz="1150" b="1" dirty="0">
                <a:solidFill>
                  <a:srgbClr val="262B3A"/>
                </a:solidFill>
                <a:latin typeface="Calibri" pitchFamily="34" charset="0"/>
                <a:ea typeface="Calibri" pitchFamily="34" charset="-122"/>
                <a:cs typeface="Calibri" pitchFamily="34" charset="-120"/>
              </a:rPr>
              <a:t>silver nanoparticles</a:t>
            </a:r>
            <a:r>
              <a:rPr lang="en-US" sz="1150" dirty="0">
                <a:solidFill>
                  <a:srgbClr val="262B3A"/>
                </a:solidFill>
                <a:latin typeface="Calibri" pitchFamily="34" charset="0"/>
                <a:ea typeface="Calibri" pitchFamily="34" charset="-122"/>
                <a:cs typeface="Calibri" pitchFamily="34" charset="-120"/>
              </a:rPr>
              <a:t> in </a:t>
            </a:r>
            <a:r>
              <a:rPr lang="en-US" sz="1150" b="1" dirty="0">
                <a:solidFill>
                  <a:srgbClr val="262B3A"/>
                </a:solidFill>
                <a:latin typeface="Calibri" pitchFamily="34" charset="0"/>
                <a:ea typeface="Calibri" pitchFamily="34" charset="-122"/>
                <a:cs typeface="Calibri" pitchFamily="34" charset="-120"/>
              </a:rPr>
              <a:t>socks</a:t>
            </a:r>
            <a:r>
              <a:rPr lang="en-US" sz="1150" dirty="0">
                <a:solidFill>
                  <a:srgbClr val="262B3A"/>
                </a:solidFill>
                <a:latin typeface="Calibri" pitchFamily="34" charset="0"/>
                <a:ea typeface="Calibri" pitchFamily="34" charset="-122"/>
                <a:cs typeface="Calibri" pitchFamily="34" charset="-120"/>
              </a:rPr>
              <a:t> and in </a:t>
            </a:r>
            <a:r>
              <a:rPr lang="en-US" sz="1150" b="1" dirty="0">
                <a:solidFill>
                  <a:srgbClr val="262B3A"/>
                </a:solidFill>
                <a:latin typeface="Calibri" pitchFamily="34" charset="0"/>
                <a:ea typeface="Calibri" pitchFamily="34" charset="-122"/>
                <a:cs typeface="Calibri" pitchFamily="34" charset="-120"/>
              </a:rPr>
              <a:t>wound dressings</a:t>
            </a:r>
            <a:r>
              <a:rPr lang="en-US" sz="1150" dirty="0">
                <a:solidFill>
                  <a:srgbClr val="262B3A"/>
                </a:solidFill>
                <a:latin typeface="Calibri" pitchFamily="34" charset="0"/>
                <a:ea typeface="Calibri" pitchFamily="34" charset="-122"/>
                <a:cs typeface="Calibri" pitchFamily="34" charset="-120"/>
              </a:rPr>
              <a:t>. Use ideas about size, benefits and risks.</a:t>
            </a:r>
            <a:endParaRPr lang="en-US" sz="1150" dirty="0"/>
          </a:p>
        </p:txBody>
      </p:sp>
      <p:sp>
        <p:nvSpPr>
          <p:cNvPr id="26" name="Text 24"/>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C4.3 Why are nanoparticles so useful?</dc:title>
  <dc:subject>PptxGenJS Presentation</dc:subject>
  <dc:creator>GCSE Chemistry</dc:creator>
  <cp:lastModifiedBy>GCSE Chemistry</cp:lastModifiedBy>
  <cp:revision>1</cp:revision>
  <dcterms:created xsi:type="dcterms:W3CDTF">2026-10-31T15:34:33Z</dcterms:created>
  <dcterms:modified xsi:type="dcterms:W3CDTF">2026-10-31T15:34:33Z</dcterms:modified>
</cp:coreProperties>
</file>