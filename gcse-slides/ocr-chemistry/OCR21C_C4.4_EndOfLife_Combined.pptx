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C4.4 What happens to products at the end of their useful life? is Part 4 of 4 in J260 Chapter C4 Material choices (C4.1 choosing materials with data; C4.2 bonding and structure; C4.3 nanoparticles; C4.4 end of life). It is the LAST C4 deck; Chapter C5 Chemical analysis follows.
Numbering: in J258 (Chemistry B, separate science) this sub-topic is C4.5, because J258 has an extra C4.2 "What are the different types of polymers?" that is separate-science only. Evidence: OCR J260 Advance Information (June 2022) lists "Section C4.4 What happens to products at the end of their useful life?"; docbrown combined page says "Topic C4.4 considers the life cycle of materials" (separate page: C4.5). See SPEC_C4_4.md.
Statement wording is taken from J258 C4.5 search extracts and renumbered. C4.4.1 (corrosion) and C4.4.4 (LCA principles) are the most certain; see SPEC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(J258 C4.5 wording from search extracts, renumbered for J260 C4.4; see SPEC_C4_4.md for confidence):
C4.4.1 describe the conditions which cause corrosion and the process of corrosion, and explain how mitigation is achieved by creating a physical barrier to oxygen and water and by sacrificial protection (wording seen in two sources as J258 C4.5.1)
C4.4.2–C4.4.3: wording NOT found in any reachable source. The deck covers the likely content (corrosion as oxidation, extending useful life, the suggested corrosion practical) under C4.4.1 rather than inventing codes.
C4.4.4 describe the basic principles in carrying out a life-cycle assessment of a material or product, including the use of water, energy and environmental impact at each stage (combined code C4.4.4 seen in a search extract)
C4.4.5 interpret data from a life-cycle assessment of a material or product
C4.4.6 describe a process where a material or product is recycled for a different use, and explain why this is viable (J258 wording; code inferred)
C4.4.7 evaluate factors that affect decisions on recycling (J258 C4.5.7)
HT: the electron-transfer (half equation) explanation is marked HT because electron-transfer redox is Higher tier elsewhere in OCR B; UNVERIFIED as an HT statement in C4.4. Teach the "loses electrons" idea to all if your copy has no bold.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C4 has four sub-topics (OCR J260 Advance Information June 2022 lists C4.4 "What happens to products at the end of their useful life?"; SPEC_C4_1.md reached the same list independently). J258 Chemistry B has five: C4.2 "What are the different types of polymers?" is separate science only, so the later sub-topics are renumbered down by one.
Overlap control: properties data and choosing materials are C4.1; bonding, polymer structure and thermosoftening are C4.2; nanoparticles are C4.3. They are recapped only (starter; slide 18 polymer chains). The reactivity series, oxidation and metal extraction are C3 (recap only on slides 6 and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Magnesium &gt; zinc &gt; iron &gt; copper (C3 reactivity series).
2. Oxidation = gain of oxygen (also loss of electrons, HT). Magnesium oxide, MgO.
3. About 21% (20.9%). Carbon dioxide, water vapour, carbon monoxide, soot (particulates), sulfur dioxide, nitrogen oxides (C1).
4. Any two: strength (tensile / compressive), stiffness, density, cost, resistance to corrosion, hardness (C4.1).
5. Thermosoftening: separate chains held by weak intermolecular forces that are overcome by heating, so chains slide / it melts. Thermosetting: strong covalent cross-links between chains, which do not break on heating (C4.2; recap only).
6. Very large surface area to volume ratio, so more particles exposed to react (C4.3). 6 faces × 2 × 2 = 24 nm².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Boiling removes dissolved air (oxygen); the oil layer stops air dissolving back in. So the nail has water but no oxygen. (2.53 − 2.50) ÷ 2.50 × 100 = 1.2%.
The mass increases because the oxygen and water atoms are added to the iron (link to conservation of mass, C1/C3). Rust Fe(OH)₃ loses water to give hydrated iron(III) oxide, Fe₂O₃·xH₂O; both equations are atom-balanced in node. Aluminium corrodes too but forms a thin, tough Al₂O₃ layer that sticks and protects it (4Al(s) + 3O₂(g) → 2Al₂O₃(s)). Calcium chloride (anhydrous) is the drying agent: CLEAPSS hazard IRRITANT, causes serious eye irritation.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Zn(s) → Zn²⁺(aq) + 2e⁻ (accept Zn → Zn²⁺ + 2e⁻). Zinc atoms lose electrons; loss of electrons is oxidation ("OIL RIG").
All half equations atom- and charge-balanced in node; overall 2Fe + O₂ + 2H₂O → 2Fe²⁺ + 4OH⁻ also checked. HT status UNVERIFIED for C4.4: OCR B treats electron-transfer redox as Higher in C3; if your copy shows this in normal type, teach it to all. Foundation students need only: rusting is oxidation; iron needs oxygen and water; salt speeds it up.
GRADE 7–9 STRETCH: the electrochemical picture (anode in the drop centre, cathode at the edge) explains why pits form under a drop and rust forms at the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Oxygen / air (1); water (1).
Q2 [2]: Boiling removes dissolved oxygen / air (1); oil stops air / oxygen dissolving back into the water (1).
Q3 [2]: 4Fe + 3O₂ + 6H₂O → 4Fe(OH)₃: all four correct (2); three correct coefficients / correct ratio for Fe and Fe(OH)₃ (1).
Q4 [2]: Fe → Fe²⁺ + 2e⁻ (1); iron (atoms) lose electrons, and loss of electrons is oxidation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chain links move against each other, so paint would crack and flake off; oil keeps a flexible barrier that also lubricates. 2.0 × 1.5 × 2 = 6.0 m².
Tin plating is a barrier, NOT sacrificial: tin is LESS reactive than iron, so once scratched the iron rusts even faster than bare iron (HW Q2). Calculations asserted in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Copper is LESS reactive than iron, so the iron would corrode instead (in fact faster); a sacrificial metal must be MORE reactive than iron. 60 ÷ 3 = 20 kg per year.
The reactivity order Mg &gt; Al &gt; Zn &gt; Fe &gt; Sn &gt; Cu is C3 recap. Aluminium is not used as a sacrificial coating at GCSE because its oxide layer makes it behave as if unreactive. HT line: half equation balanced in node; Foundation students need "zinc is more reactive, so it reacts / corrodes instead of the iron". Calculations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Any two (1 each): painting; oiling / greasing; plastic coating; electroplating / tin plating / chromium plating; galvanising (zinc coating) as a barrier.
Q2 [2]: Zinc is more reactive than iron (1); so zinc corrodes / is oxidised instead of the iron (sacrificial protection) (1).
Q3 [2]: Copper is less reactive than iron (1); so the iron would corrode / be oxidised instead of the copper (1).
Q4 [2]: Magnesium loses electrons more readily / is oxidised in preference to iron: Mg → Mg²⁺ + 2e⁻ (1); so iron atoms do not lose electrons / are not oxidised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To remove any grease, coating or existing rust so that all nails start the same (fair test). The mass changes are only a few mg (0.003–0.090 g), so a 0.1 g balance would read no change: resolution too low.
Suggested practical: sources list "investigating the effectiveness of corrosion prevention (barrier and sacrificial protection methods)" as a suggested activity for this topic; a PAG code is NOT confirmed for J260 (the OCR B chemistry PAG list was not reachable), so it is labelled SUGGESTED PRACTICAL. Tube C painted nail = barrier; D zinc = sacrificial; E copper = less reactive metal (shows the opposite effect).
CLEAPSS-style hazards: sodium chloride solution (low hazard); if anhydrous calcium chloride is used for a dry tube, IRRITANT, causes serious eye irritation; wear eye protection. Alternative indicator: rust indicator / potassium hexacyanoferrate(III) in agar turns blue where Fe²⁺ forms (low hazard at the concentrations used; teacher prepares).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Day 2 = 25 mg, day 5 = 64 mg: 64 − 25 = 39 mg (accept 38–40 from the graph). Copper is less reactive than iron, so the iron is oxidised in preference (it acts as the sacrificial metal); the iron corrodes faster than on its own.
All values illustrative; asserted in node: daily readings rise each day; day-7 values match the table; rates 45 ÷ 7 = 6.428571 → 6.4 and 90 ÷ 7 = 12.857143 → 13 mg per day; B ÷ A = 2.0; E ÷ A = 1.6 (2 s.f.). The lines are lines of best fit through the origin (straight: constant rate over one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(5.06 − 5.00) ÷ 5.00 × 100 (1); = 1.2% (1).
Q2 [2]: Any two (1 each): size / mass / type of nail; volume of water; temperature; time left; same cleaning of nails; same concentration of salt.
Q3 [2]: Some rust flaked off / was lost when drying the nail (1); weigh the nail with the tube contents filtered and dried / handle gently / collect the rust (1). Accept balance resolution too low → use a 0.001 g balance.
Q4 [2]: Zinc is more reactive than iron so it corrodes instead / sacrificial protection (1); copper is less reactive so the iron corrodes (faster)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Extracting / obtaining raw materials; manufacture (and packaging); use (including maintenance); disposal at the end of life (transport between stages too). 5.0 ÷ 10 = 0.50 MJ per use.
C4.4.4 wording (J258 C4.5.4 extract): "describe the basic principles in carrying out a life-cycle assessment of a material or product, including the use of water, energy and environmental impact of each stage". Glass bottle values illustrative (asserted: total 5.0 MJ, manufacture 52%). IaS: LCAs involve value judgements and may be used selectively in advertising (shortened LCAs).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12 ÷ 100 = 0.12 MJ per use (lower than the plastic bag here). Not shown: water use, land use for trees / cotton, litter and harm to wildlife, microplastics, emissions other than energy (CO₂), pesticides for cotton.
Illustrative values (asserted: 0.80 and 1.80 MJ; ratio 2.25; 0.16 MJ per use; 1.80 ÷ 0.16 = 11.25, "about 11 times"). C4.4.5 "interpret data from a life-cycle assessment of a material or product". The J258 spec is commonly taught with a shopping-bag LCA comparison (UNVERIFIED as a named example in the J260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Raw materials / extraction; manufacture; use; disposal. All four (2); two or three (1).
Q2 [2]: Paper 1.8 ÷ 3 = 0.6 MJ and plastic 0.8 ÷ 5 = 0.16 MJ (1); plastic uses less per use (1).
Q3 [2]: Any two (1 each): some impacts are hard to measure / need value judgements; different assumptions (e.g. number of uses, transport distance, energy source); data estimated / incomplete; may be biased / selective by the company paying for it.
Q4 [2]: Made from a renewable resource / trees can be regrown (1) OR biodegradable / does not persist as litter (1), with a reason, e.g. plastic comes from crude oil which is finite / plastic litter harms wildlife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Reuse needs only cleaning / repair, so far less energy, water and transport than melting or re-processing the material, and no material is lost. 480 × 0.25 = 120 kg.
Waste hierarchy is a widely used framework (UK waste regulations). Figures illustrative, asserted in node. Methane from landfill: a greenhouse gas (link to C1 climate change, recap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Thermosetting polymers have covalent cross-links between chains, so they do not soften or melt on heating (they char); they cannot be reshaped. 300 ÷ 20 = 15 bottles.
C4.4.6 wording (J258 extract): "describe a process where a material or product is recycled for a different use, and explain why this is viable". Polymer structure is C4.2 (recap only: one sentence and the chain drawing). Bottle and fleece masses illustrative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(20 − 8) ÷ 20 × 100 = 60%. Mixed plastics are hard to sort into separate polymers, are often contaminated, and the recycled plastic is lower quality and worth less; the energy saving is smaller; aluminium is easy to separate (magnets remove steel; eddy currents pull out aluminium), keeps its quality and saves about 95% of the energy.
The 95% energy saving for recycled aluminium is a widely quoted figure; the 170 MJ/kg value is illustrative and chosen to match it (asserted). C4.4.7 "evaluate factors that affect decisions on recycling" (J258 C4.5.7). IaS: sustainability; decisions weigh costs, benefits and risks for different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Advantage: reduces volume of waste / generates electricity / less land used for landfill (1). Disadvantage: releases carbon dioxide / toxic gases / resources lost (1).
Q2 [2]: (60 − 9) ÷ 60 × 100 (1); = 85% (1).
Q3 [2]: Example, e.g. PET bottles → fleece fibres / glass → road surfaces or insulation / tyres → playground surfaces (1); reason, e.g. thermosoftening so can be melted and reshaped / does not need high purity / saves raw materials and energy / there is a market (1).
Q4 [2]: Any two (1 each): collecting / sorting / transport use energy and cost money; hard to separate mixed / contaminated materials; recycled material is lower quality; little or no market; reuse may be better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The electron-based definitions of oxidation and reduction are HT. Thermosoftening / thermosetting are C4.2 terms (recap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Oxygen (1); water / water vapour (1).
(b) [1]: iron + oxygen + water → hydrated iron(III) oxide / rust (1).
(c) [2]: Paint is a barrier that keeps oxygen and water away from the iron (1); when chipped, oxygen and water reach the iron / exposed steel, so it rusts (1).
(d) [2]: Zinc is more reactive than iron (1); so zinc corrodes / is oxidised instead (sacrificial protection) (1).
(e) [2]: Zn → Zn²⁺ + 2e⁻ (1); zinc loses electrons / loss of electrons is oxidation (1).
(f) [4]: Painted: 900 + 6 × 40 = 1140 GJ (1); galvanised: 900 + 150 = 1050 GJ (1); galvanising uses 90 GJ less / is better for energy (1); other factor, e.g. cost, appearance, closing the bridge for repainting, emissions / solvents from paint, zinc is a finite resource, safety of workers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Corrosion / rusting (for iron) (1).
2 [2]: Tin is only a barrier / tin is less reactive than iron (1); so the exposed iron corrodes (faster) / iron is oxidised in preference to tin (1).
3 [2]: (20 − 8) ÷ 20 × 100 (1); = 60% (1).
4 [2]: Energy / water used (1); emissions / pollution / waste produced / raw materials used, at each stage from raw materials to disposal (1).
5 [2]: Magnesium is more reactive / loses electrons more easily than iron: Mg → Mg²⁺ + 2e⁻ (1); so iron does not lose electrons / is not oxidised (1).
6 [2]: PET is thermosoftening / can be melted and reshaped (1); plus one: fibres do not need high purity / saves crude oil / energy / there is a market for fleece (1).
7 [6]: OCR level-of-response mark scheme (6 marks). Read the whole answer, decide the level from the content descriptor, then the mark within the level from the quality of the line of reasoning. Use the indicative scientific points below.
Level 3 (5–6 marks): Evaluates factors FOR and AGAINST recycling for BOTH materials, using energy / resource data or LCA ideas, AND reaches a justified conclusion. There is a well-developed line of reasoning which is clear and logically structured. The information presented is relevant and substantiated.
Level 2 (3–4 marks): Describes some advantages AND some disadvantages of recycling, for at least one material, with some explanation. There is a line of reasoning presented with some structure. The information presented is relevant and supported by some evidence.
Level 1 (1–2 marks): Simple statements, e.g. "recycling saves energy" or "it costs money to collect". There is an attempt at a logical structure with a line of reasoning. The information is in the most part relevant.
0 marks: no response or no response worthy of credit.
Indicative scientific points may include:
 • For recycling aluminium cans: saves about 95% of the energy compared with electrolysis of ore; conserves finite bauxite ore; less mining and quarrying damage; easy to separate (eddy currents); keeps its quality; valuable, so there is a market.
 • For recycling plastic bottles: saves crude oil (finite) and some energy; keeps plastic out of landfill and the environment; PET is thermosoftening so can be melted and reused, e.g. for fleece fibres.
 • Against / challenges: cost and energy of collection, sorting, cleaning and transport (lorries emit CO₂); mixed and contaminated plastics are hard to separate; recycled plastic is lower quality and worth less; need a market.
 • Alternatives: reuse / refill is better than recycling; incineration recovers energy but releases CO₂; landfill wastes resources and land.
 • Use of LCA: compare energy, water and emissions at every stage, including transport; LCAs involve judgements and estimates.
 • Conclusion: e.g. aluminium recycling clearly worthwhile; plastic recycling worthwhile if sorting and markets exist; supported by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47"/>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5B3A8C"/>
          </a:solidFill>
          <a:ln w="12700">
            <a:solidFill>
              <a:srgbClr val="5B3A8C"/>
            </a:solidFill>
            <a:prstDash val="solid"/>
          </a:ln>
        </p:spPr>
      </p:sp>
      <p:sp>
        <p:nvSpPr>
          <p:cNvPr id="3" name="Shape 1"/>
          <p:cNvSpPr/>
          <p:nvPr/>
        </p:nvSpPr>
        <p:spPr>
          <a:xfrm>
            <a:off x="9326880" y="2377440"/>
            <a:ext cx="4937760" cy="4937760"/>
          </a:xfrm>
          <a:prstGeom prst="ellipse">
            <a:avLst/>
          </a:prstGeom>
          <a:solidFill>
            <a:srgbClr val="7A52B3">
              <a:alpha val="85000"/>
            </a:srgbClr>
          </a:solidFill>
          <a:ln w="12700">
            <a:solidFill>
              <a:srgbClr val="7A52B3"/>
            </a:solidFill>
            <a:prstDash val="solid"/>
          </a:ln>
        </p:spPr>
      </p:sp>
      <p:sp>
        <p:nvSpPr>
          <p:cNvPr id="4" name="Shape 2"/>
          <p:cNvSpPr/>
          <p:nvPr/>
        </p:nvSpPr>
        <p:spPr>
          <a:xfrm>
            <a:off x="0" y="0"/>
            <a:ext cx="164592" cy="6858000"/>
          </a:xfrm>
          <a:prstGeom prst="rect">
            <a:avLst/>
          </a:prstGeom>
          <a:solidFill>
            <a:srgbClr val="7A52B3"/>
          </a:solidFill>
          <a:ln w="12700">
            <a:solidFill>
              <a:srgbClr val="7A52B3"/>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CD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C4.4  End of life</a:t>
            </a:r>
            <a:endParaRPr lang="en-US" sz="4000" dirty="0"/>
          </a:p>
        </p:txBody>
      </p:sp>
      <p:sp>
        <p:nvSpPr>
          <p:cNvPr id="7" name="Text 5"/>
          <p:cNvSpPr/>
          <p:nvPr/>
        </p:nvSpPr>
        <p:spPr>
          <a:xfrm>
            <a:off x="731520" y="2331720"/>
            <a:ext cx="6675120" cy="603504"/>
          </a:xfrm>
          <a:prstGeom prst="rect">
            <a:avLst/>
          </a:prstGeom>
          <a:noFill/>
          <a:ln/>
        </p:spPr>
        <p:txBody>
          <a:bodyPr wrap="square" lIns="0" tIns="0" rIns="0" bIns="0" rtlCol="0" anchor="t"/>
          <a:lstStyle/>
          <a:p>
            <a:pPr indent="0" marL="0">
              <a:buNone/>
            </a:pPr>
            <a:r>
              <a:rPr lang="en-US" sz="1500" i="1" dirty="0">
                <a:solidFill>
                  <a:srgbClr val="DCCDF3"/>
                </a:solidFill>
                <a:latin typeface="Georgia" pitchFamily="34" charset="0"/>
                <a:ea typeface="Georgia" pitchFamily="34" charset="-122"/>
                <a:cs typeface="Georgia" pitchFamily="34" charset="-120"/>
              </a:rPr>
              <a:t>What happens to products at the end of their useful life?</a:t>
            </a:r>
            <a:endParaRPr lang="en-US" sz="15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E4DAF5"/>
                </a:solidFill>
                <a:latin typeface="Calibri" pitchFamily="34" charset="0"/>
                <a:ea typeface="Calibri" pitchFamily="34" charset="-122"/>
                <a:cs typeface="Calibri" pitchFamily="34" charset="-120"/>
              </a:rPr>
              <a:t>Corrosion  •  Sacrificial protection  •  Life-cycle assessment  •  Recycling  •  Landfill</a:t>
            </a:r>
            <a:endParaRPr lang="en-US" sz="1300" dirty="0"/>
          </a:p>
        </p:txBody>
      </p:sp>
      <p:sp>
        <p:nvSpPr>
          <p:cNvPr id="10" name="Shape 8"/>
          <p:cNvSpPr/>
          <p:nvPr/>
        </p:nvSpPr>
        <p:spPr>
          <a:xfrm>
            <a:off x="731520" y="3886200"/>
            <a:ext cx="457200" cy="457200"/>
          </a:xfrm>
          <a:prstGeom prst="ellipse">
            <a:avLst/>
          </a:prstGeom>
          <a:solidFill>
            <a:srgbClr val="7A52B3"/>
          </a:solidFill>
          <a:ln w="12700">
            <a:solidFill>
              <a:srgbClr val="CD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C4.4.1–C4.4.7 • corrosion, life-cycle assessment, reuse, recycling, disposal</a:t>
            </a:r>
            <a:endParaRPr lang="en-US" sz="1400" dirty="0"/>
          </a:p>
        </p:txBody>
      </p:sp>
      <p:sp>
        <p:nvSpPr>
          <p:cNvPr id="13" name="Shape 11"/>
          <p:cNvSpPr/>
          <p:nvPr/>
        </p:nvSpPr>
        <p:spPr>
          <a:xfrm>
            <a:off x="731520" y="4507992"/>
            <a:ext cx="457200" cy="457200"/>
          </a:xfrm>
          <a:prstGeom prst="ellipse">
            <a:avLst/>
          </a:prstGeom>
          <a:solidFill>
            <a:srgbClr val="7A52B3"/>
          </a:solidFill>
          <a:ln w="12700">
            <a:solidFill>
              <a:srgbClr val="CD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electron-transfer explanations of corrosion marked HT</a:t>
            </a:r>
            <a:endParaRPr lang="en-US" sz="1400" dirty="0"/>
          </a:p>
        </p:txBody>
      </p:sp>
      <p:sp>
        <p:nvSpPr>
          <p:cNvPr id="16" name="Shape 14"/>
          <p:cNvSpPr/>
          <p:nvPr/>
        </p:nvSpPr>
        <p:spPr>
          <a:xfrm>
            <a:off x="731520" y="5129784"/>
            <a:ext cx="457200" cy="457200"/>
          </a:xfrm>
          <a:prstGeom prst="ellipse">
            <a:avLst/>
          </a:prstGeom>
          <a:solidFill>
            <a:srgbClr val="7A52B3"/>
          </a:solidFill>
          <a:ln w="12700">
            <a:solidFill>
              <a:srgbClr val="CD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Suggested practical: corrosion prevention • LCA data • recycling energy savings</a:t>
            </a:r>
            <a:endParaRPr lang="en-US" sz="1400" dirty="0"/>
          </a:p>
        </p:txBody>
      </p:sp>
      <p:sp>
        <p:nvSpPr>
          <p:cNvPr id="19" name="Shape 17"/>
          <p:cNvSpPr/>
          <p:nvPr/>
        </p:nvSpPr>
        <p:spPr>
          <a:xfrm>
            <a:off x="731520" y="5769864"/>
            <a:ext cx="4192524" cy="365760"/>
          </a:xfrm>
          <a:prstGeom prst="roundRect">
            <a:avLst>
              <a:gd name="adj" fmla="val 50000"/>
            </a:avLst>
          </a:prstGeom>
          <a:solidFill>
            <a:srgbClr val="22133A"/>
          </a:solidFill>
          <a:ln w="15875">
            <a:solidFill>
              <a:srgbClr val="F5A742"/>
            </a:solidFill>
            <a:prstDash val="solid"/>
          </a:ln>
        </p:spPr>
      </p:sp>
      <p:sp>
        <p:nvSpPr>
          <p:cNvPr id="20" name="Text 18"/>
          <p:cNvSpPr/>
          <p:nvPr/>
        </p:nvSpPr>
        <p:spPr>
          <a:xfrm>
            <a:off x="731520" y="5769864"/>
            <a:ext cx="4192524"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4 of 4 in Chapter C4: Material choices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DDD0F2"/>
                </a:solidFill>
                <a:latin typeface="Calibri" pitchFamily="34" charset="0"/>
                <a:ea typeface="Calibri" pitchFamily="34" charset="-122"/>
                <a:cs typeface="Calibri" pitchFamily="34" charset="-120"/>
              </a:rPr>
              <a:t>OCR J260 Combined Science B • C4.4 what happens to products at the end of their useful life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C4.4.1–C4.4.7 • by the end of this sub-topic you can…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6A3FA0"/>
          </a:solidFill>
          <a:ln w="12700">
            <a:solidFill>
              <a:srgbClr val="6A3FA0"/>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C4.4.1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conditions</a:t>
            </a:r>
            <a:r>
              <a:rPr lang="en-US" sz="1200" dirty="0">
                <a:solidFill>
                  <a:srgbClr val="262B3A"/>
                </a:solidFill>
                <a:latin typeface="Calibri" pitchFamily="34" charset="0"/>
                <a:ea typeface="Calibri" pitchFamily="34" charset="-122"/>
                <a:cs typeface="Calibri" pitchFamily="34" charset="-120"/>
              </a:rPr>
              <a:t> that cause </a:t>
            </a:r>
            <a:r>
              <a:rPr lang="en-US" sz="1200" b="1" dirty="0">
                <a:solidFill>
                  <a:srgbClr val="262B3A"/>
                </a:solidFill>
                <a:latin typeface="Calibri" pitchFamily="34" charset="0"/>
                <a:ea typeface="Calibri" pitchFamily="34" charset="-122"/>
                <a:cs typeface="Calibri" pitchFamily="34" charset="-120"/>
              </a:rPr>
              <a:t>corrosion</a:t>
            </a:r>
            <a:r>
              <a:rPr lang="en-US" sz="1200" dirty="0">
                <a:solidFill>
                  <a:srgbClr val="262B3A"/>
                </a:solidFill>
                <a:latin typeface="Calibri" pitchFamily="34" charset="0"/>
                <a:ea typeface="Calibri" pitchFamily="34" charset="-122"/>
                <a:cs typeface="Calibri" pitchFamily="34" charset="-120"/>
              </a:rPr>
              <a:t> (rusting) and the </a:t>
            </a:r>
            <a:r>
              <a:rPr lang="en-US" sz="1200" b="1" dirty="0">
                <a:solidFill>
                  <a:srgbClr val="262B3A"/>
                </a:solidFill>
                <a:latin typeface="Calibri" pitchFamily="34" charset="0"/>
                <a:ea typeface="Calibri" pitchFamily="34" charset="-122"/>
                <a:cs typeface="Calibri" pitchFamily="34" charset="-120"/>
              </a:rPr>
              <a:t>process</a:t>
            </a:r>
            <a:r>
              <a:rPr lang="en-US" sz="1200" dirty="0">
                <a:solidFill>
                  <a:srgbClr val="262B3A"/>
                </a:solidFill>
                <a:latin typeface="Calibri" pitchFamily="34" charset="0"/>
                <a:ea typeface="Calibri" pitchFamily="34" charset="-122"/>
                <a:cs typeface="Calibri" pitchFamily="34" charset="-120"/>
              </a:rPr>
              <a:t> of corrosion.</a:t>
            </a:r>
            <a:endParaRPr lang="en-US" sz="1100" dirty="0"/>
          </a:p>
        </p:txBody>
      </p:sp>
      <p:sp>
        <p:nvSpPr>
          <p:cNvPr id="11" name="Shape 9"/>
          <p:cNvSpPr/>
          <p:nvPr/>
        </p:nvSpPr>
        <p:spPr>
          <a:xfrm>
            <a:off x="502920" y="2194560"/>
            <a:ext cx="457200" cy="457200"/>
          </a:xfrm>
          <a:prstGeom prst="ellipse">
            <a:avLst/>
          </a:prstGeom>
          <a:solidFill>
            <a:srgbClr val="6A3FA0"/>
          </a:solidFill>
          <a:ln w="12700">
            <a:solidFill>
              <a:srgbClr val="6A3FA0"/>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C4.4.1   </a:t>
            </a:r>
            <a:r>
              <a:rPr lang="en-US" sz="1200" dirty="0">
                <a:solidFill>
                  <a:srgbClr val="262B3A"/>
                </a:solidFill>
                <a:latin typeface="Calibri" pitchFamily="34" charset="0"/>
                <a:ea typeface="Calibri" pitchFamily="34" charset="-122"/>
                <a:cs typeface="Calibri" pitchFamily="34" charset="-120"/>
              </a:rPr>
              <a:t>Explain corrosion as </a:t>
            </a:r>
            <a:r>
              <a:rPr lang="en-US" sz="1200" b="1" dirty="0">
                <a:solidFill>
                  <a:srgbClr val="262B3A"/>
                </a:solidFill>
                <a:latin typeface="Calibri" pitchFamily="34" charset="0"/>
                <a:ea typeface="Calibri" pitchFamily="34" charset="-122"/>
                <a:cs typeface="Calibri" pitchFamily="34" charset="-120"/>
              </a:rPr>
              <a:t>oxidation</a:t>
            </a:r>
            <a:r>
              <a:rPr lang="en-US" sz="1200" dirty="0">
                <a:solidFill>
                  <a:srgbClr val="262B3A"/>
                </a:solidFill>
                <a:latin typeface="Calibri" pitchFamily="34" charset="0"/>
                <a:ea typeface="Calibri" pitchFamily="34" charset="-122"/>
                <a:cs typeface="Calibri" pitchFamily="34" charset="-120"/>
              </a:rPr>
              <a:t>: metal atoms </a:t>
            </a:r>
            <a:r>
              <a:rPr lang="en-US" sz="1200" b="1" dirty="0">
                <a:solidFill>
                  <a:srgbClr val="262B3A"/>
                </a:solidFill>
                <a:latin typeface="Calibri" pitchFamily="34" charset="0"/>
                <a:ea typeface="Calibri" pitchFamily="34" charset="-122"/>
                <a:cs typeface="Calibri" pitchFamily="34" charset="-120"/>
              </a:rPr>
              <a:t>lose electrons</a:t>
            </a:r>
            <a:r>
              <a:rPr lang="en-US" sz="1200" dirty="0">
                <a:solidFill>
                  <a:srgbClr val="262B3A"/>
                </a:solidFill>
                <a:latin typeface="Calibri" pitchFamily="34" charset="0"/>
                <a:ea typeface="Calibri" pitchFamily="34" charset="-122"/>
                <a:cs typeface="Calibri" pitchFamily="34" charset="-120"/>
              </a:rPr>
              <a:t>; write </a:t>
            </a:r>
            <a:r>
              <a:rPr lang="en-US" sz="1200" b="1" dirty="0">
                <a:solidFill>
                  <a:srgbClr val="262B3A"/>
                </a:solidFill>
                <a:latin typeface="Calibri" pitchFamily="34" charset="0"/>
                <a:ea typeface="Calibri" pitchFamily="34" charset="-122"/>
                <a:cs typeface="Calibri" pitchFamily="34" charset="-120"/>
              </a:rPr>
              <a:t>half equations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257800" y="2633472"/>
            <a:ext cx="411480" cy="274320"/>
          </a:xfrm>
          <a:prstGeom prst="roundRect">
            <a:avLst>
              <a:gd name="adj" fmla="val 50000"/>
            </a:avLst>
          </a:prstGeom>
          <a:solidFill>
            <a:srgbClr val="C8414C"/>
          </a:solidFill>
          <a:ln w="12700">
            <a:solidFill>
              <a:srgbClr val="C8414C"/>
            </a:solidFill>
            <a:prstDash val="solid"/>
          </a:ln>
        </p:spPr>
      </p:sp>
      <p:sp>
        <p:nvSpPr>
          <p:cNvPr id="15" name="Text 13"/>
          <p:cNvSpPr/>
          <p:nvPr/>
        </p:nvSpPr>
        <p:spPr>
          <a:xfrm>
            <a:off x="5257800" y="2633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6" name="Shape 14"/>
          <p:cNvSpPr/>
          <p:nvPr/>
        </p:nvSpPr>
        <p:spPr>
          <a:xfrm>
            <a:off x="502920" y="3063240"/>
            <a:ext cx="457200" cy="457200"/>
          </a:xfrm>
          <a:prstGeom prst="ellipse">
            <a:avLst/>
          </a:prstGeom>
          <a:solidFill>
            <a:srgbClr val="6A3FA0"/>
          </a:solidFill>
          <a:ln w="12700">
            <a:solidFill>
              <a:srgbClr val="6A3FA0"/>
            </a:solidFill>
            <a:prstDash val="solid"/>
          </a:ln>
        </p:spPr>
      </p:sp>
      <p:sp>
        <p:nvSpPr>
          <p:cNvPr id="17" name="Text 15"/>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8" name="Text 16"/>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C4.4.1   </a:t>
            </a:r>
            <a:r>
              <a:rPr lang="en-US" sz="1200" dirty="0">
                <a:solidFill>
                  <a:srgbClr val="262B3A"/>
                </a:solidFill>
                <a:latin typeface="Calibri" pitchFamily="34" charset="0"/>
                <a:ea typeface="Calibri" pitchFamily="34" charset="-122"/>
                <a:cs typeface="Calibri" pitchFamily="34" charset="-120"/>
              </a:rPr>
              <a:t>Explain how a </a:t>
            </a:r>
            <a:r>
              <a:rPr lang="en-US" sz="1200" b="1" dirty="0">
                <a:solidFill>
                  <a:srgbClr val="262B3A"/>
                </a:solidFill>
                <a:latin typeface="Calibri" pitchFamily="34" charset="0"/>
                <a:ea typeface="Calibri" pitchFamily="34" charset="-122"/>
                <a:cs typeface="Calibri" pitchFamily="34" charset="-120"/>
              </a:rPr>
              <a:t>physical barrier</a:t>
            </a:r>
            <a:r>
              <a:rPr lang="en-US" sz="1200" dirty="0">
                <a:solidFill>
                  <a:srgbClr val="262B3A"/>
                </a:solidFill>
                <a:latin typeface="Calibri" pitchFamily="34" charset="0"/>
                <a:ea typeface="Calibri" pitchFamily="34" charset="-122"/>
                <a:cs typeface="Calibri" pitchFamily="34" charset="-120"/>
              </a:rPr>
              <a:t> to oxygen and water and </a:t>
            </a:r>
            <a:r>
              <a:rPr lang="en-US" sz="1200" b="1" dirty="0">
                <a:solidFill>
                  <a:srgbClr val="262B3A"/>
                </a:solidFill>
                <a:latin typeface="Calibri" pitchFamily="34" charset="0"/>
                <a:ea typeface="Calibri" pitchFamily="34" charset="-122"/>
                <a:cs typeface="Calibri" pitchFamily="34" charset="-120"/>
              </a:rPr>
              <a:t>sacrificial protection</a:t>
            </a:r>
            <a:r>
              <a:rPr lang="en-US" sz="1200" dirty="0">
                <a:solidFill>
                  <a:srgbClr val="262B3A"/>
                </a:solidFill>
                <a:latin typeface="Calibri" pitchFamily="34" charset="0"/>
                <a:ea typeface="Calibri" pitchFamily="34" charset="-122"/>
                <a:cs typeface="Calibri" pitchFamily="34" charset="-120"/>
              </a:rPr>
              <a:t> prevent corrosion.</a:t>
            </a:r>
            <a:endParaRPr lang="en-US" sz="1100" dirty="0"/>
          </a:p>
        </p:txBody>
      </p:sp>
      <p:sp>
        <p:nvSpPr>
          <p:cNvPr id="19" name="Shape 17"/>
          <p:cNvSpPr/>
          <p:nvPr/>
        </p:nvSpPr>
        <p:spPr>
          <a:xfrm>
            <a:off x="502920" y="3931920"/>
            <a:ext cx="457200" cy="457200"/>
          </a:xfrm>
          <a:prstGeom prst="ellipse">
            <a:avLst/>
          </a:prstGeom>
          <a:solidFill>
            <a:srgbClr val="6A3FA0"/>
          </a:solidFill>
          <a:ln w="12700">
            <a:solidFill>
              <a:srgbClr val="6A3FA0"/>
            </a:solidFill>
            <a:prstDash val="solid"/>
          </a:ln>
        </p:spPr>
      </p:sp>
      <p:sp>
        <p:nvSpPr>
          <p:cNvPr id="20" name="Text 18"/>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1" name="Text 19"/>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C4.4.1   </a:t>
            </a:r>
            <a:r>
              <a:rPr lang="en-US" sz="1200" dirty="0">
                <a:solidFill>
                  <a:srgbClr val="262B3A"/>
                </a:solidFill>
                <a:latin typeface="Calibri" pitchFamily="34" charset="0"/>
                <a:ea typeface="Calibri" pitchFamily="34" charset="-122"/>
                <a:cs typeface="Calibri" pitchFamily="34" charset="-120"/>
              </a:rPr>
              <a:t>Plan and analyse a </a:t>
            </a:r>
            <a:r>
              <a:rPr lang="en-US" sz="1200" b="1" dirty="0">
                <a:solidFill>
                  <a:srgbClr val="262B3A"/>
                </a:solidFill>
                <a:latin typeface="Calibri" pitchFamily="34" charset="0"/>
                <a:ea typeface="Calibri" pitchFamily="34" charset="-122"/>
                <a:cs typeface="Calibri" pitchFamily="34" charset="-120"/>
              </a:rPr>
              <a:t>practical</a:t>
            </a:r>
            <a:r>
              <a:rPr lang="en-US" sz="1200" dirty="0">
                <a:solidFill>
                  <a:srgbClr val="262B3A"/>
                </a:solidFill>
                <a:latin typeface="Calibri" pitchFamily="34" charset="0"/>
                <a:ea typeface="Calibri" pitchFamily="34" charset="-122"/>
                <a:cs typeface="Calibri" pitchFamily="34" charset="-120"/>
              </a:rPr>
              <a:t> comparing ways to prevent rusting.</a:t>
            </a:r>
            <a:endParaRPr lang="en-US" sz="1100" dirty="0"/>
          </a:p>
        </p:txBody>
      </p:sp>
      <p:sp>
        <p:nvSpPr>
          <p:cNvPr id="22" name="Shape 20"/>
          <p:cNvSpPr/>
          <p:nvPr/>
        </p:nvSpPr>
        <p:spPr>
          <a:xfrm>
            <a:off x="6263640" y="1325880"/>
            <a:ext cx="457200" cy="457200"/>
          </a:xfrm>
          <a:prstGeom prst="ellipse">
            <a:avLst/>
          </a:prstGeom>
          <a:solidFill>
            <a:srgbClr val="6A3FA0"/>
          </a:solidFill>
          <a:ln w="12700">
            <a:solidFill>
              <a:srgbClr val="6A3FA0"/>
            </a:solidFill>
            <a:prstDash val="solid"/>
          </a:ln>
        </p:spPr>
      </p:sp>
      <p:sp>
        <p:nvSpPr>
          <p:cNvPr id="23" name="Text 21"/>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4" name="Text 22"/>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C4.4.4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principles</a:t>
            </a:r>
            <a:r>
              <a:rPr lang="en-US" sz="1200" dirty="0">
                <a:solidFill>
                  <a:srgbClr val="262B3A"/>
                </a:solidFill>
                <a:latin typeface="Calibri" pitchFamily="34" charset="0"/>
                <a:ea typeface="Calibri" pitchFamily="34" charset="-122"/>
                <a:cs typeface="Calibri" pitchFamily="34" charset="-120"/>
              </a:rPr>
              <a:t> of a </a:t>
            </a:r>
            <a:r>
              <a:rPr lang="en-US" sz="1200" b="1" dirty="0">
                <a:solidFill>
                  <a:srgbClr val="262B3A"/>
                </a:solidFill>
                <a:latin typeface="Calibri" pitchFamily="34" charset="0"/>
                <a:ea typeface="Calibri" pitchFamily="34" charset="-122"/>
                <a:cs typeface="Calibri" pitchFamily="34" charset="-120"/>
              </a:rPr>
              <a:t>life-cycle assessment (LCA)</a:t>
            </a:r>
            <a:r>
              <a:rPr lang="en-US" sz="1200" dirty="0">
                <a:solidFill>
                  <a:srgbClr val="262B3A"/>
                </a:solidFill>
                <a:latin typeface="Calibri" pitchFamily="34" charset="0"/>
                <a:ea typeface="Calibri" pitchFamily="34" charset="-122"/>
                <a:cs typeface="Calibri" pitchFamily="34" charset="-120"/>
              </a:rPr>
              <a:t>: energy, water and impacts at each stage.</a:t>
            </a:r>
            <a:endParaRPr lang="en-US" sz="1100" dirty="0"/>
          </a:p>
        </p:txBody>
      </p:sp>
      <p:sp>
        <p:nvSpPr>
          <p:cNvPr id="25" name="Shape 23"/>
          <p:cNvSpPr/>
          <p:nvPr/>
        </p:nvSpPr>
        <p:spPr>
          <a:xfrm>
            <a:off x="6263640" y="2194560"/>
            <a:ext cx="457200" cy="457200"/>
          </a:xfrm>
          <a:prstGeom prst="ellipse">
            <a:avLst/>
          </a:prstGeom>
          <a:solidFill>
            <a:srgbClr val="6A3FA0"/>
          </a:solidFill>
          <a:ln w="12700">
            <a:solidFill>
              <a:srgbClr val="6A3FA0"/>
            </a:solidFill>
            <a:prstDash val="solid"/>
          </a:ln>
        </p:spPr>
      </p:sp>
      <p:sp>
        <p:nvSpPr>
          <p:cNvPr id="26" name="Text 24"/>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7" name="Text 25"/>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C4.4.5   </a:t>
            </a:r>
            <a:r>
              <a:rPr lang="en-US" sz="1200" b="1" dirty="0">
                <a:solidFill>
                  <a:srgbClr val="262B3A"/>
                </a:solidFill>
                <a:latin typeface="Calibri" pitchFamily="34" charset="0"/>
                <a:ea typeface="Calibri" pitchFamily="34" charset="-122"/>
                <a:cs typeface="Calibri" pitchFamily="34" charset="-120"/>
              </a:rPr>
              <a:t>Interpret LCA data</a:t>
            </a:r>
            <a:r>
              <a:rPr lang="en-US" sz="1200" dirty="0">
                <a:solidFill>
                  <a:srgbClr val="262B3A"/>
                </a:solidFill>
                <a:latin typeface="Calibri" pitchFamily="34" charset="0"/>
                <a:ea typeface="Calibri" pitchFamily="34" charset="-122"/>
                <a:cs typeface="Calibri" pitchFamily="34" charset="-120"/>
              </a:rPr>
              <a:t> and calculate energy per use.</a:t>
            </a:r>
            <a:endParaRPr lang="en-US" sz="1100" dirty="0"/>
          </a:p>
        </p:txBody>
      </p:sp>
      <p:sp>
        <p:nvSpPr>
          <p:cNvPr id="28" name="Shape 26"/>
          <p:cNvSpPr/>
          <p:nvPr/>
        </p:nvSpPr>
        <p:spPr>
          <a:xfrm>
            <a:off x="6263640" y="3063240"/>
            <a:ext cx="457200" cy="457200"/>
          </a:xfrm>
          <a:prstGeom prst="ellipse">
            <a:avLst/>
          </a:prstGeom>
          <a:solidFill>
            <a:srgbClr val="6A3FA0"/>
          </a:solidFill>
          <a:ln w="12700">
            <a:solidFill>
              <a:srgbClr val="6A3FA0"/>
            </a:solidFill>
            <a:prstDash val="solid"/>
          </a:ln>
        </p:spPr>
      </p:sp>
      <p:sp>
        <p:nvSpPr>
          <p:cNvPr id="29" name="Text 27"/>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0" name="Text 28"/>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C4.4.6   </a:t>
            </a:r>
            <a:r>
              <a:rPr lang="en-US" sz="1200" dirty="0">
                <a:solidFill>
                  <a:srgbClr val="262B3A"/>
                </a:solidFill>
                <a:latin typeface="Calibri" pitchFamily="34" charset="0"/>
                <a:ea typeface="Calibri" pitchFamily="34" charset="-122"/>
                <a:cs typeface="Calibri" pitchFamily="34" charset="-120"/>
              </a:rPr>
              <a:t>Describe how a material is </a:t>
            </a:r>
            <a:r>
              <a:rPr lang="en-US" sz="1200" b="1" dirty="0">
                <a:solidFill>
                  <a:srgbClr val="262B3A"/>
                </a:solidFill>
                <a:latin typeface="Calibri" pitchFamily="34" charset="0"/>
                <a:ea typeface="Calibri" pitchFamily="34" charset="-122"/>
                <a:cs typeface="Calibri" pitchFamily="34" charset="-120"/>
              </a:rPr>
              <a:t>recycled for a different use</a:t>
            </a:r>
            <a:r>
              <a:rPr lang="en-US" sz="1200" dirty="0">
                <a:solidFill>
                  <a:srgbClr val="262B3A"/>
                </a:solidFill>
                <a:latin typeface="Calibri" pitchFamily="34" charset="0"/>
                <a:ea typeface="Calibri" pitchFamily="34" charset="-122"/>
                <a:cs typeface="Calibri" pitchFamily="34" charset="-120"/>
              </a:rPr>
              <a:t> and explain why it is </a:t>
            </a:r>
            <a:r>
              <a:rPr lang="en-US" sz="1200" b="1" dirty="0">
                <a:solidFill>
                  <a:srgbClr val="262B3A"/>
                </a:solidFill>
                <a:latin typeface="Calibri" pitchFamily="34" charset="0"/>
                <a:ea typeface="Calibri" pitchFamily="34" charset="-122"/>
                <a:cs typeface="Calibri" pitchFamily="34" charset="-120"/>
              </a:rPr>
              <a:t>viable</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6263640" y="3931920"/>
            <a:ext cx="457200" cy="457200"/>
          </a:xfrm>
          <a:prstGeom prst="ellipse">
            <a:avLst/>
          </a:prstGeom>
          <a:solidFill>
            <a:srgbClr val="6A3FA0"/>
          </a:solidFill>
          <a:ln w="12700">
            <a:solidFill>
              <a:srgbClr val="6A3FA0"/>
            </a:solidFill>
            <a:prstDash val="solid"/>
          </a:ln>
        </p:spPr>
      </p:sp>
      <p:sp>
        <p:nvSpPr>
          <p:cNvPr id="32" name="Text 30"/>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3" name="Text 31"/>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C4.4.7   </a:t>
            </a:r>
            <a:r>
              <a:rPr lang="en-US" sz="1200" b="1" dirty="0">
                <a:solidFill>
                  <a:srgbClr val="262B3A"/>
                </a:solidFill>
                <a:latin typeface="Calibri" pitchFamily="34" charset="0"/>
                <a:ea typeface="Calibri" pitchFamily="34" charset="-122"/>
                <a:cs typeface="Calibri" pitchFamily="34" charset="-120"/>
              </a:rPr>
              <a:t>Evaluate</a:t>
            </a:r>
            <a:r>
              <a:rPr lang="en-US" sz="1200" dirty="0">
                <a:solidFill>
                  <a:srgbClr val="262B3A"/>
                </a:solidFill>
                <a:latin typeface="Calibri" pitchFamily="34" charset="0"/>
                <a:ea typeface="Calibri" pitchFamily="34" charset="-122"/>
                <a:cs typeface="Calibri" pitchFamily="34" charset="-120"/>
              </a:rPr>
              <a:t> factors that affect decisions on </a:t>
            </a:r>
            <a:r>
              <a:rPr lang="en-US" sz="1200" b="1" dirty="0">
                <a:solidFill>
                  <a:srgbClr val="262B3A"/>
                </a:solidFill>
                <a:latin typeface="Calibri" pitchFamily="34" charset="0"/>
                <a:ea typeface="Calibri" pitchFamily="34" charset="-122"/>
                <a:cs typeface="Calibri" pitchFamily="34" charset="-120"/>
              </a:rPr>
              <a:t>recycling</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reuse</a:t>
            </a:r>
            <a:r>
              <a:rPr lang="en-US" sz="1200" dirty="0">
                <a:solidFill>
                  <a:srgbClr val="262B3A"/>
                </a:solidFill>
                <a:latin typeface="Calibri" pitchFamily="34" charset="0"/>
                <a:ea typeface="Calibri" pitchFamily="34" charset="-122"/>
                <a:cs typeface="Calibri" pitchFamily="34" charset="-120"/>
              </a:rPr>
              <a:t>, incineration and landfill.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Chapter C4 Material choices • C4.4 is Part 4 of 4 in Combined Science B</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2A1F3D"/>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C4.4</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End of useful life</a:t>
            </a:r>
            <a:endParaRPr lang="en-US" sz="1100" dirty="0"/>
          </a:p>
        </p:txBody>
      </p:sp>
      <p:sp>
        <p:nvSpPr>
          <p:cNvPr id="10" name="Shape 8"/>
          <p:cNvSpPr/>
          <p:nvPr/>
        </p:nvSpPr>
        <p:spPr>
          <a:xfrm>
            <a:off x="914400" y="1920240"/>
            <a:ext cx="91" cy="3758184"/>
          </a:xfrm>
          <a:prstGeom prst="line">
            <a:avLst/>
          </a:prstGeom>
          <a:noFill/>
          <a:ln w="19050">
            <a:solidFill>
              <a:srgbClr val="6A3FA0"/>
            </a:solidFill>
            <a:prstDash val="solid"/>
          </a:ln>
        </p:spPr>
      </p:sp>
      <p:sp>
        <p:nvSpPr>
          <p:cNvPr id="11" name="Shape 9"/>
          <p:cNvSpPr/>
          <p:nvPr/>
        </p:nvSpPr>
        <p:spPr>
          <a:xfrm>
            <a:off x="914400" y="2386584"/>
            <a:ext cx="411480" cy="91"/>
          </a:xfrm>
          <a:prstGeom prst="line">
            <a:avLst/>
          </a:prstGeom>
          <a:noFill/>
          <a:ln w="19050">
            <a:solidFill>
              <a:srgbClr val="6A3FA0"/>
            </a:solidFill>
            <a:prstDash val="solid"/>
          </a:ln>
        </p:spPr>
      </p:sp>
      <p:sp>
        <p:nvSpPr>
          <p:cNvPr id="12" name="Shape 10"/>
          <p:cNvSpPr/>
          <p:nvPr/>
        </p:nvSpPr>
        <p:spPr>
          <a:xfrm>
            <a:off x="1325880" y="2103120"/>
            <a:ext cx="5120640" cy="566928"/>
          </a:xfrm>
          <a:prstGeom prst="roundRect">
            <a:avLst>
              <a:gd name="adj" fmla="val 8065"/>
            </a:avLst>
          </a:prstGeom>
          <a:solidFill>
            <a:srgbClr val="F8F5FC"/>
          </a:solidFill>
          <a:ln w="12700">
            <a:solidFill>
              <a:srgbClr val="DDD3EC"/>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C4.4.1   </a:t>
            </a:r>
            <a:r>
              <a:rPr lang="en-US" sz="1100" dirty="0">
                <a:solidFill>
                  <a:srgbClr val="262B3A"/>
                </a:solidFill>
                <a:latin typeface="Calibri" pitchFamily="34" charset="0"/>
                <a:ea typeface="Calibri" pitchFamily="34" charset="-122"/>
                <a:cs typeface="Calibri" pitchFamily="34" charset="-120"/>
              </a:rPr>
              <a:t>Corrosion: what rusting needs; oxidation</a:t>
            </a:r>
            <a:endParaRPr lang="en-US" sz="1100" dirty="0"/>
          </a:p>
        </p:txBody>
      </p:sp>
      <p:sp>
        <p:nvSpPr>
          <p:cNvPr id="14" name="Shape 12"/>
          <p:cNvSpPr/>
          <p:nvPr/>
        </p:nvSpPr>
        <p:spPr>
          <a:xfrm>
            <a:off x="5257800" y="2249424"/>
            <a:ext cx="1097280" cy="274320"/>
          </a:xfrm>
          <a:prstGeom prst="roundRect">
            <a:avLst>
              <a:gd name="adj" fmla="val 50000"/>
            </a:avLst>
          </a:prstGeom>
          <a:solidFill>
            <a:srgbClr val="6A3FA0"/>
          </a:solidFill>
          <a:ln w="12700">
            <a:solidFill>
              <a:srgbClr val="6A3FA0"/>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6A3FA0"/>
            </a:solidFill>
            <a:prstDash val="solid"/>
          </a:ln>
        </p:spPr>
      </p:sp>
      <p:sp>
        <p:nvSpPr>
          <p:cNvPr id="17" name="Shape 15"/>
          <p:cNvSpPr/>
          <p:nvPr/>
        </p:nvSpPr>
        <p:spPr>
          <a:xfrm>
            <a:off x="1325880" y="2761488"/>
            <a:ext cx="5120640" cy="566928"/>
          </a:xfrm>
          <a:prstGeom prst="roundRect">
            <a:avLst>
              <a:gd name="adj" fmla="val 8065"/>
            </a:avLst>
          </a:prstGeom>
          <a:solidFill>
            <a:srgbClr val="F8F5FC"/>
          </a:solidFill>
          <a:ln w="12700">
            <a:solidFill>
              <a:srgbClr val="DDD3EC"/>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C4.4.1   </a:t>
            </a:r>
            <a:r>
              <a:rPr lang="en-US" sz="1100" dirty="0">
                <a:solidFill>
                  <a:srgbClr val="262B3A"/>
                </a:solidFill>
                <a:latin typeface="Calibri" pitchFamily="34" charset="0"/>
                <a:ea typeface="Calibri" pitchFamily="34" charset="-122"/>
                <a:cs typeface="Calibri" pitchFamily="34" charset="-120"/>
              </a:rPr>
              <a:t>Electron transfer and half equations</a:t>
            </a:r>
            <a:endParaRPr lang="en-US" sz="1100" dirty="0"/>
          </a:p>
        </p:txBody>
      </p:sp>
      <p:sp>
        <p:nvSpPr>
          <p:cNvPr id="19" name="Shape 17"/>
          <p:cNvSpPr/>
          <p:nvPr/>
        </p:nvSpPr>
        <p:spPr>
          <a:xfrm>
            <a:off x="5257800" y="2907792"/>
            <a:ext cx="1097280" cy="274320"/>
          </a:xfrm>
          <a:prstGeom prst="roundRect">
            <a:avLst>
              <a:gd name="adj" fmla="val 50000"/>
            </a:avLst>
          </a:prstGeom>
          <a:solidFill>
            <a:srgbClr val="C8414C"/>
          </a:solidFill>
          <a:ln w="12700">
            <a:solidFill>
              <a:srgbClr val="C8414C"/>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1" name="Shape 19"/>
          <p:cNvSpPr/>
          <p:nvPr/>
        </p:nvSpPr>
        <p:spPr>
          <a:xfrm>
            <a:off x="914400" y="3703320"/>
            <a:ext cx="411480" cy="91"/>
          </a:xfrm>
          <a:prstGeom prst="line">
            <a:avLst/>
          </a:prstGeom>
          <a:noFill/>
          <a:ln w="19050">
            <a:solidFill>
              <a:srgbClr val="6A3FA0"/>
            </a:solidFill>
            <a:prstDash val="solid"/>
          </a:ln>
        </p:spPr>
      </p:sp>
      <p:sp>
        <p:nvSpPr>
          <p:cNvPr id="22" name="Shape 20"/>
          <p:cNvSpPr/>
          <p:nvPr/>
        </p:nvSpPr>
        <p:spPr>
          <a:xfrm>
            <a:off x="1325880" y="3419856"/>
            <a:ext cx="5120640" cy="566928"/>
          </a:xfrm>
          <a:prstGeom prst="roundRect">
            <a:avLst>
              <a:gd name="adj" fmla="val 8065"/>
            </a:avLst>
          </a:prstGeom>
          <a:solidFill>
            <a:srgbClr val="F8F5FC"/>
          </a:solidFill>
          <a:ln w="12700">
            <a:solidFill>
              <a:srgbClr val="DDD3EC"/>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C4.4.1   </a:t>
            </a:r>
            <a:r>
              <a:rPr lang="en-US" sz="1100" dirty="0">
                <a:solidFill>
                  <a:srgbClr val="262B3A"/>
                </a:solidFill>
                <a:latin typeface="Calibri" pitchFamily="34" charset="0"/>
                <a:ea typeface="Calibri" pitchFamily="34" charset="-122"/>
                <a:cs typeface="Calibri" pitchFamily="34" charset="-120"/>
              </a:rPr>
              <a:t>Barrier and sacrificial protection</a:t>
            </a:r>
            <a:endParaRPr lang="en-US" sz="1100" dirty="0"/>
          </a:p>
        </p:txBody>
      </p:sp>
      <p:sp>
        <p:nvSpPr>
          <p:cNvPr id="24" name="Shape 22"/>
          <p:cNvSpPr/>
          <p:nvPr/>
        </p:nvSpPr>
        <p:spPr>
          <a:xfrm>
            <a:off x="5257800" y="3566160"/>
            <a:ext cx="1097280" cy="274320"/>
          </a:xfrm>
          <a:prstGeom prst="roundRect">
            <a:avLst>
              <a:gd name="adj" fmla="val 50000"/>
            </a:avLst>
          </a:prstGeom>
          <a:solidFill>
            <a:srgbClr val="6A3FA0"/>
          </a:solidFill>
          <a:ln w="12700">
            <a:solidFill>
              <a:srgbClr val="6A3FA0"/>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6A3FA0"/>
            </a:solidFill>
            <a:prstDash val="solid"/>
          </a:ln>
        </p:spPr>
      </p:sp>
      <p:sp>
        <p:nvSpPr>
          <p:cNvPr id="27" name="Shape 25"/>
          <p:cNvSpPr/>
          <p:nvPr/>
        </p:nvSpPr>
        <p:spPr>
          <a:xfrm>
            <a:off x="1325880" y="4078224"/>
            <a:ext cx="5120640" cy="566928"/>
          </a:xfrm>
          <a:prstGeom prst="roundRect">
            <a:avLst>
              <a:gd name="adj" fmla="val 8065"/>
            </a:avLst>
          </a:prstGeom>
          <a:solidFill>
            <a:srgbClr val="F8F5FC"/>
          </a:solidFill>
          <a:ln w="12700">
            <a:solidFill>
              <a:srgbClr val="DDD3EC"/>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Comparing ways to prevent rusting</a:t>
            </a:r>
            <a:endParaRPr lang="en-US" sz="1100" dirty="0"/>
          </a:p>
        </p:txBody>
      </p:sp>
      <p:sp>
        <p:nvSpPr>
          <p:cNvPr id="29" name="Shape 27"/>
          <p:cNvSpPr/>
          <p:nvPr/>
        </p:nvSpPr>
        <p:spPr>
          <a:xfrm>
            <a:off x="5257800" y="4224528"/>
            <a:ext cx="1097280" cy="274320"/>
          </a:xfrm>
          <a:prstGeom prst="roundRect">
            <a:avLst>
              <a:gd name="adj" fmla="val 50000"/>
            </a:avLst>
          </a:prstGeom>
          <a:solidFill>
            <a:srgbClr val="B8730A"/>
          </a:solidFill>
          <a:ln w="12700">
            <a:solidFill>
              <a:srgbClr val="B8730A"/>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31" name="Shape 29"/>
          <p:cNvSpPr/>
          <p:nvPr/>
        </p:nvSpPr>
        <p:spPr>
          <a:xfrm>
            <a:off x="914400" y="5020056"/>
            <a:ext cx="411480" cy="91"/>
          </a:xfrm>
          <a:prstGeom prst="line">
            <a:avLst/>
          </a:prstGeom>
          <a:noFill/>
          <a:ln w="19050">
            <a:solidFill>
              <a:srgbClr val="6A3FA0"/>
            </a:solidFill>
            <a:prstDash val="solid"/>
          </a:ln>
        </p:spPr>
      </p:sp>
      <p:sp>
        <p:nvSpPr>
          <p:cNvPr id="32" name="Shape 30"/>
          <p:cNvSpPr/>
          <p:nvPr/>
        </p:nvSpPr>
        <p:spPr>
          <a:xfrm>
            <a:off x="1325880" y="4736592"/>
            <a:ext cx="5120640" cy="566928"/>
          </a:xfrm>
          <a:prstGeom prst="roundRect">
            <a:avLst>
              <a:gd name="adj" fmla="val 8065"/>
            </a:avLst>
          </a:prstGeom>
          <a:solidFill>
            <a:srgbClr val="F8F5FC"/>
          </a:solidFill>
          <a:ln w="12700">
            <a:solidFill>
              <a:srgbClr val="DDD3EC"/>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C4.4.4–5   </a:t>
            </a:r>
            <a:r>
              <a:rPr lang="en-US" sz="1100" dirty="0">
                <a:solidFill>
                  <a:srgbClr val="262B3A"/>
                </a:solidFill>
                <a:latin typeface="Calibri" pitchFamily="34" charset="0"/>
                <a:ea typeface="Calibri" pitchFamily="34" charset="-122"/>
                <a:cs typeface="Calibri" pitchFamily="34" charset="-120"/>
              </a:rPr>
              <a:t>Life-cycle assessment and LCA data</a:t>
            </a:r>
            <a:endParaRPr lang="en-US" sz="1100" dirty="0"/>
          </a:p>
        </p:txBody>
      </p:sp>
      <p:sp>
        <p:nvSpPr>
          <p:cNvPr id="34" name="Shape 32"/>
          <p:cNvSpPr/>
          <p:nvPr/>
        </p:nvSpPr>
        <p:spPr>
          <a:xfrm>
            <a:off x="5257800" y="4882896"/>
            <a:ext cx="1097280" cy="274320"/>
          </a:xfrm>
          <a:prstGeom prst="roundRect">
            <a:avLst>
              <a:gd name="adj" fmla="val 50000"/>
            </a:avLst>
          </a:prstGeom>
          <a:solidFill>
            <a:srgbClr val="6A3FA0"/>
          </a:solidFill>
          <a:ln w="12700">
            <a:solidFill>
              <a:srgbClr val="6A3FA0"/>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6A3FA0"/>
            </a:solidFill>
            <a:prstDash val="solid"/>
          </a:ln>
        </p:spPr>
      </p:sp>
      <p:sp>
        <p:nvSpPr>
          <p:cNvPr id="37" name="Shape 35"/>
          <p:cNvSpPr/>
          <p:nvPr/>
        </p:nvSpPr>
        <p:spPr>
          <a:xfrm>
            <a:off x="1325880" y="5394960"/>
            <a:ext cx="5120640" cy="566928"/>
          </a:xfrm>
          <a:prstGeom prst="roundRect">
            <a:avLst>
              <a:gd name="adj" fmla="val 8065"/>
            </a:avLst>
          </a:prstGeom>
          <a:solidFill>
            <a:srgbClr val="F8F5FC"/>
          </a:solidFill>
          <a:ln w="12700">
            <a:solidFill>
              <a:srgbClr val="DDD3EC"/>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C4.4.6–7   </a:t>
            </a:r>
            <a:r>
              <a:rPr lang="en-US" sz="1100" dirty="0">
                <a:solidFill>
                  <a:srgbClr val="262B3A"/>
                </a:solidFill>
                <a:latin typeface="Calibri" pitchFamily="34" charset="0"/>
                <a:ea typeface="Calibri" pitchFamily="34" charset="-122"/>
                <a:cs typeface="Calibri" pitchFamily="34" charset="-120"/>
              </a:rPr>
              <a:t>Reuse, recycling, incineration, landfill</a:t>
            </a:r>
            <a:endParaRPr lang="en-US" sz="1100" dirty="0"/>
          </a:p>
        </p:txBody>
      </p:sp>
      <p:sp>
        <p:nvSpPr>
          <p:cNvPr id="39" name="Shape 37"/>
          <p:cNvSpPr/>
          <p:nvPr/>
        </p:nvSpPr>
        <p:spPr>
          <a:xfrm>
            <a:off x="5257800" y="5541264"/>
            <a:ext cx="1097280" cy="274320"/>
          </a:xfrm>
          <a:prstGeom prst="roundRect">
            <a:avLst>
              <a:gd name="adj" fmla="val 50000"/>
            </a:avLst>
          </a:prstGeom>
          <a:solidFill>
            <a:srgbClr val="6A3FA0"/>
          </a:solidFill>
          <a:ln w="12700">
            <a:solidFill>
              <a:srgbClr val="6A3FA0"/>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C3 reactivity series, oxidation, extraction of metals • C1 combustion • C4.1–C4.3 materials</a:t>
            </a:r>
            <a:endParaRPr lang="en-US" sz="1050" dirty="0"/>
          </a:p>
        </p:txBody>
      </p:sp>
      <p:sp>
        <p:nvSpPr>
          <p:cNvPr id="42" name="Shape 40"/>
          <p:cNvSpPr/>
          <p:nvPr/>
        </p:nvSpPr>
        <p:spPr>
          <a:xfrm>
            <a:off x="6720840" y="1234440"/>
            <a:ext cx="5056632" cy="2514600"/>
          </a:xfrm>
          <a:prstGeom prst="roundRect">
            <a:avLst>
              <a:gd name="adj" fmla="val 2182"/>
            </a:avLst>
          </a:prstGeom>
          <a:solidFill>
            <a:srgbClr val="2E1A47"/>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C4 in J260</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C4.1 How is data used to choose a material for a particular use?</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C4.2 How do bonding and structure affect properties of materials?</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C4.3 Why are nanoparticles so useful?</a:t>
            </a:r>
            <a:endParaRPr lang="en-US" sz="1500" dirty="0"/>
          </a:p>
          <a:p>
            <a:pPr marL="152400" indent="-152400">
              <a:spcAft>
                <a:spcPts val="200"/>
              </a:spcAft>
              <a:buSzPct val="100000"/>
              <a:buChar char="▪"/>
            </a:pPr>
            <a:r>
              <a:rPr lang="en-US" sz="1100" b="1" dirty="0">
                <a:solidFill>
                  <a:srgbClr val="E9E0F7"/>
                </a:solidFill>
                <a:latin typeface="Calibri" pitchFamily="34" charset="0"/>
                <a:ea typeface="Calibri" pitchFamily="34" charset="-122"/>
                <a:cs typeface="Calibri" pitchFamily="34" charset="-120"/>
              </a:rPr>
              <a:t>C4.4 What happens to products at the end of their useful life?</a:t>
            </a:r>
            <a:r>
              <a:rPr lang="en-US" sz="1100" dirty="0">
                <a:solidFill>
                  <a:srgbClr val="E9E0F7"/>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J258 (separate) has an extra polymers sub-topic, so this is </a:t>
            </a:r>
            <a:r>
              <a:rPr lang="en-US" sz="1100" b="1" dirty="0">
                <a:solidFill>
                  <a:srgbClr val="E9E0F7"/>
                </a:solidFill>
                <a:latin typeface="Calibri" pitchFamily="34" charset="0"/>
                <a:ea typeface="Calibri" pitchFamily="34" charset="-122"/>
                <a:cs typeface="Calibri" pitchFamily="34" charset="-120"/>
              </a:rPr>
              <a:t>C4.5</a:t>
            </a:r>
            <a:r>
              <a:rPr lang="en-US" sz="1100" dirty="0">
                <a:solidFill>
                  <a:srgbClr val="E9E0F7"/>
                </a:solidFill>
                <a:latin typeface="Calibri" pitchFamily="34" charset="0"/>
                <a:ea typeface="Calibri" pitchFamily="34" charset="-122"/>
                <a:cs typeface="Calibri" pitchFamily="34" charset="-120"/>
              </a:rPr>
              <a:t> there.</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C4.4 is the </a:t>
            </a:r>
            <a:r>
              <a:rPr lang="en-US" sz="1100" b="1" dirty="0">
                <a:solidFill>
                  <a:srgbClr val="E9E0F7"/>
                </a:solidFill>
                <a:latin typeface="Calibri" pitchFamily="34" charset="0"/>
                <a:ea typeface="Calibri" pitchFamily="34" charset="-122"/>
                <a:cs typeface="Calibri" pitchFamily="34" charset="-120"/>
              </a:rPr>
              <a:t>last</a:t>
            </a:r>
            <a:r>
              <a:rPr lang="en-US" sz="1100" dirty="0">
                <a:solidFill>
                  <a:srgbClr val="E9E0F7"/>
                </a:solidFill>
                <a:latin typeface="Calibri" pitchFamily="34" charset="0"/>
                <a:ea typeface="Calibri" pitchFamily="34" charset="-122"/>
                <a:cs typeface="Calibri" pitchFamily="34" charset="-120"/>
              </a:rPr>
              <a:t> C4 deck; </a:t>
            </a:r>
            <a:r>
              <a:rPr lang="en-US" sz="1100" b="1" dirty="0">
                <a:solidFill>
                  <a:srgbClr val="E9E0F7"/>
                </a:solidFill>
                <a:latin typeface="Calibri" pitchFamily="34" charset="0"/>
                <a:ea typeface="Calibri" pitchFamily="34" charset="-122"/>
                <a:cs typeface="Calibri" pitchFamily="34" charset="-120"/>
              </a:rPr>
              <a:t>C5 Chemical analysis</a:t>
            </a:r>
            <a:r>
              <a:rPr lang="en-US" sz="1100" dirty="0">
                <a:solidFill>
                  <a:srgbClr val="E9E0F7"/>
                </a:solidFill>
                <a:latin typeface="Calibri" pitchFamily="34" charset="0"/>
                <a:ea typeface="Calibri" pitchFamily="34" charset="-122"/>
                <a:cs typeface="Calibri" pitchFamily="34" charset="-120"/>
              </a:rPr>
              <a:t> follows.</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Slides with the red </a:t>
            </a:r>
            <a:r>
              <a:rPr lang="en-US" sz="1100" b="1" dirty="0">
                <a:solidFill>
                  <a:srgbClr val="262B3A"/>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pill (electron transfer, half equations) are for Higher tier only.</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Ideas about Science: </a:t>
            </a:r>
            <a:r>
              <a:rPr lang="en-US" sz="1100" b="1" dirty="0">
                <a:solidFill>
                  <a:srgbClr val="262B3A"/>
                </a:solidFill>
                <a:latin typeface="Calibri" pitchFamily="34" charset="0"/>
                <a:ea typeface="Calibri" pitchFamily="34" charset="-122"/>
                <a:cs typeface="Calibri" pitchFamily="34" charset="-120"/>
              </a:rPr>
              <a:t>benefits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risks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sustainability</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decisions</a:t>
            </a:r>
            <a:r>
              <a:rPr lang="en-US" sz="1100" dirty="0">
                <a:solidFill>
                  <a:srgbClr val="262B3A"/>
                </a:solidFill>
                <a:latin typeface="Calibri" pitchFamily="34" charset="0"/>
                <a:ea typeface="Calibri" pitchFamily="34" charset="-122"/>
                <a:cs typeface="Calibri" pitchFamily="34" charset="-120"/>
              </a:rPr>
              <a:t>; data can be </a:t>
            </a:r>
            <a:r>
              <a:rPr lang="en-US" sz="1100" b="1" dirty="0">
                <a:solidFill>
                  <a:srgbClr val="262B3A"/>
                </a:solidFill>
                <a:latin typeface="Calibri" pitchFamily="34" charset="0"/>
                <a:ea typeface="Calibri" pitchFamily="34" charset="-122"/>
                <a:cs typeface="Calibri" pitchFamily="34" charset="-120"/>
              </a:rPr>
              <a:t>uncertain</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percentage change</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rates</a:t>
            </a:r>
            <a:r>
              <a:rPr lang="en-US" sz="1100" dirty="0">
                <a:solidFill>
                  <a:srgbClr val="262B3A"/>
                </a:solidFill>
                <a:latin typeface="Calibri" pitchFamily="34" charset="0"/>
                <a:ea typeface="Calibri" pitchFamily="34" charset="-122"/>
                <a:cs typeface="Calibri" pitchFamily="34" charset="-120"/>
              </a:rPr>
              <a:t>, totals and </a:t>
            </a:r>
            <a:r>
              <a:rPr lang="en-US" sz="1100" b="1" dirty="0">
                <a:solidFill>
                  <a:srgbClr val="262B3A"/>
                </a:solidFill>
                <a:latin typeface="Calibri" pitchFamily="34" charset="0"/>
                <a:ea typeface="Calibri" pitchFamily="34" charset="-122"/>
                <a:cs typeface="Calibri" pitchFamily="34" charset="-120"/>
              </a:rPr>
              <a:t>per use</a:t>
            </a:r>
            <a:r>
              <a:rPr lang="en-US" sz="1100" dirty="0">
                <a:solidFill>
                  <a:srgbClr val="262B3A"/>
                </a:solidFill>
                <a:latin typeface="Calibri" pitchFamily="34" charset="0"/>
                <a:ea typeface="Calibri" pitchFamily="34" charset="-122"/>
                <a:cs typeface="Calibri" pitchFamily="34" charset="-120"/>
              </a:rPr>
              <a:t> values, reading and plotting </a:t>
            </a:r>
            <a:r>
              <a:rPr lang="en-US" sz="1100" b="1" dirty="0">
                <a:solidFill>
                  <a:srgbClr val="262B3A"/>
                </a:solidFill>
                <a:latin typeface="Calibri" pitchFamily="34" charset="0"/>
                <a:ea typeface="Calibri" pitchFamily="34" charset="-122"/>
                <a:cs typeface="Calibri" pitchFamily="34" charset="-120"/>
              </a:rPr>
              <a:t>graphs</a:t>
            </a:r>
            <a:r>
              <a:rPr lang="en-US" sz="1100" dirty="0">
                <a:solidFill>
                  <a:srgbClr val="262B3A"/>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Recall from C1, C3 and C4.1–C4.3 • 6 minutes • no notes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8F5FC"/>
          </a:solidFill>
          <a:ln w="9525">
            <a:solidFill>
              <a:srgbClr val="DDD3EC"/>
            </a:solidFill>
            <a:prstDash val="solid"/>
          </a:ln>
        </p:spPr>
      </p:sp>
      <p:sp>
        <p:nvSpPr>
          <p:cNvPr id="9" name="Shape 7"/>
          <p:cNvSpPr/>
          <p:nvPr/>
        </p:nvSpPr>
        <p:spPr>
          <a:xfrm>
            <a:off x="548640" y="1371600"/>
            <a:ext cx="438912" cy="438912"/>
          </a:xfrm>
          <a:prstGeom prst="ellipse">
            <a:avLst/>
          </a:prstGeom>
          <a:solidFill>
            <a:srgbClr val="6A3FA0"/>
          </a:solidFill>
          <a:ln w="12700">
            <a:solidFill>
              <a:srgbClr val="6A3FA0"/>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C3 • reactivity</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Put these metals in order of </a:t>
            </a:r>
            <a:r>
              <a:rPr lang="en-US" sz="1250" b="1" dirty="0">
                <a:solidFill>
                  <a:srgbClr val="262B3A"/>
                </a:solidFill>
                <a:latin typeface="Calibri" pitchFamily="34" charset="0"/>
                <a:ea typeface="Calibri" pitchFamily="34" charset="-122"/>
                <a:cs typeface="Calibri" pitchFamily="34" charset="-120"/>
              </a:rPr>
              <a:t>reactivity</a:t>
            </a:r>
            <a:r>
              <a:rPr lang="en-US" sz="1250" dirty="0">
                <a:solidFill>
                  <a:srgbClr val="262B3A"/>
                </a:solidFill>
                <a:latin typeface="Calibri" pitchFamily="34" charset="0"/>
                <a:ea typeface="Calibri" pitchFamily="34" charset="-122"/>
                <a:cs typeface="Calibri" pitchFamily="34" charset="-120"/>
              </a:rPr>
              <a:t>, most reactive first: </a:t>
            </a:r>
            <a:r>
              <a:rPr lang="en-US" sz="1250" b="1" dirty="0">
                <a:solidFill>
                  <a:srgbClr val="262B3A"/>
                </a:solidFill>
                <a:latin typeface="Calibri" pitchFamily="34" charset="0"/>
                <a:ea typeface="Calibri" pitchFamily="34" charset="-122"/>
                <a:cs typeface="Calibri" pitchFamily="34" charset="-120"/>
              </a:rPr>
              <a:t>iron, magnesium, copper, zinc</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3" name="Shape 11"/>
          <p:cNvSpPr/>
          <p:nvPr/>
        </p:nvSpPr>
        <p:spPr>
          <a:xfrm>
            <a:off x="4251960" y="1234440"/>
            <a:ext cx="3657600" cy="2011680"/>
          </a:xfrm>
          <a:prstGeom prst="roundRect">
            <a:avLst>
              <a:gd name="adj" fmla="val 2727"/>
            </a:avLst>
          </a:prstGeom>
          <a:solidFill>
            <a:srgbClr val="F8F5FC"/>
          </a:solidFill>
          <a:ln w="9525">
            <a:solidFill>
              <a:srgbClr val="DDD3EC"/>
            </a:solidFill>
            <a:prstDash val="solid"/>
          </a:ln>
        </p:spPr>
      </p:sp>
      <p:sp>
        <p:nvSpPr>
          <p:cNvPr id="14" name="Shape 12"/>
          <p:cNvSpPr/>
          <p:nvPr/>
        </p:nvSpPr>
        <p:spPr>
          <a:xfrm>
            <a:off x="4389120" y="1371600"/>
            <a:ext cx="438912" cy="438912"/>
          </a:xfrm>
          <a:prstGeom prst="ellipse">
            <a:avLst/>
          </a:prstGeom>
          <a:solidFill>
            <a:srgbClr val="6A3FA0"/>
          </a:solidFill>
          <a:ln w="12700">
            <a:solidFill>
              <a:srgbClr val="6A3FA0"/>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C3 • oxidation</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a:t>
            </a:r>
            <a:r>
              <a:rPr lang="en-US" sz="1250" b="1" dirty="0">
                <a:solidFill>
                  <a:srgbClr val="262B3A"/>
                </a:solidFill>
                <a:latin typeface="Calibri" pitchFamily="34" charset="0"/>
                <a:ea typeface="Calibri" pitchFamily="34" charset="-122"/>
                <a:cs typeface="Calibri" pitchFamily="34" charset="-120"/>
              </a:rPr>
              <a:t>oxidation</a:t>
            </a:r>
            <a:r>
              <a:rPr lang="en-US" sz="1250" dirty="0">
                <a:solidFill>
                  <a:srgbClr val="262B3A"/>
                </a:solidFill>
                <a:latin typeface="Calibri" pitchFamily="34" charset="0"/>
                <a:ea typeface="Calibri" pitchFamily="34" charset="-122"/>
                <a:cs typeface="Calibri" pitchFamily="34" charset="-120"/>
              </a:rPr>
              <a:t> in terms of oxygen. Name the product when </a:t>
            </a:r>
            <a:r>
              <a:rPr lang="en-US" sz="1250" b="1" dirty="0">
                <a:solidFill>
                  <a:srgbClr val="262B3A"/>
                </a:solidFill>
                <a:latin typeface="Calibri" pitchFamily="34" charset="0"/>
                <a:ea typeface="Calibri" pitchFamily="34" charset="-122"/>
                <a:cs typeface="Calibri" pitchFamily="34" charset="-120"/>
              </a:rPr>
              <a:t>magnesium</a:t>
            </a:r>
            <a:r>
              <a:rPr lang="en-US" sz="1250" dirty="0">
                <a:solidFill>
                  <a:srgbClr val="262B3A"/>
                </a:solidFill>
                <a:latin typeface="Calibri" pitchFamily="34" charset="0"/>
                <a:ea typeface="Calibri" pitchFamily="34" charset="-122"/>
                <a:cs typeface="Calibri" pitchFamily="34" charset="-120"/>
              </a:rPr>
              <a:t> burns in air.</a:t>
            </a:r>
            <a:endParaRPr lang="en-US" sz="1250" dirty="0"/>
          </a:p>
        </p:txBody>
      </p:sp>
      <p:sp>
        <p:nvSpPr>
          <p:cNvPr id="18" name="Shape 16"/>
          <p:cNvSpPr/>
          <p:nvPr/>
        </p:nvSpPr>
        <p:spPr>
          <a:xfrm>
            <a:off x="8092440" y="1234440"/>
            <a:ext cx="3657600" cy="2011680"/>
          </a:xfrm>
          <a:prstGeom prst="roundRect">
            <a:avLst>
              <a:gd name="adj" fmla="val 2727"/>
            </a:avLst>
          </a:prstGeom>
          <a:solidFill>
            <a:srgbClr val="F8F5FC"/>
          </a:solidFill>
          <a:ln w="9525">
            <a:solidFill>
              <a:srgbClr val="DDD3EC"/>
            </a:solidFill>
            <a:prstDash val="solid"/>
          </a:ln>
        </p:spPr>
      </p:sp>
      <p:sp>
        <p:nvSpPr>
          <p:cNvPr id="19" name="Shape 17"/>
          <p:cNvSpPr/>
          <p:nvPr/>
        </p:nvSpPr>
        <p:spPr>
          <a:xfrm>
            <a:off x="8229600" y="1371600"/>
            <a:ext cx="438912" cy="438912"/>
          </a:xfrm>
          <a:prstGeom prst="ellipse">
            <a:avLst/>
          </a:prstGeom>
          <a:solidFill>
            <a:srgbClr val="6A3FA0"/>
          </a:solidFill>
          <a:ln w="12700">
            <a:solidFill>
              <a:srgbClr val="6A3FA0"/>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C1 • air</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percentage of dry air is </a:t>
            </a:r>
            <a:r>
              <a:rPr lang="en-US" sz="1250" b="1" dirty="0">
                <a:solidFill>
                  <a:srgbClr val="262B3A"/>
                </a:solidFill>
                <a:latin typeface="Calibri" pitchFamily="34" charset="0"/>
                <a:ea typeface="Calibri" pitchFamily="34" charset="-122"/>
                <a:cs typeface="Calibri" pitchFamily="34" charset="-120"/>
              </a:rPr>
              <a:t>oxygen</a:t>
            </a:r>
            <a:r>
              <a:rPr lang="en-US" sz="1250" dirty="0">
                <a:solidFill>
                  <a:srgbClr val="262B3A"/>
                </a:solidFill>
                <a:latin typeface="Calibri" pitchFamily="34" charset="0"/>
                <a:ea typeface="Calibri" pitchFamily="34" charset="-122"/>
                <a:cs typeface="Calibri" pitchFamily="34" charset="-120"/>
              </a:rPr>
              <a:t>? Name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gas made when fossil fuels burn.</a:t>
            </a:r>
            <a:endParaRPr lang="en-US" sz="1250" dirty="0"/>
          </a:p>
        </p:txBody>
      </p:sp>
      <p:sp>
        <p:nvSpPr>
          <p:cNvPr id="23" name="Shape 21"/>
          <p:cNvSpPr/>
          <p:nvPr/>
        </p:nvSpPr>
        <p:spPr>
          <a:xfrm>
            <a:off x="411480" y="3429000"/>
            <a:ext cx="3657600" cy="2011680"/>
          </a:xfrm>
          <a:prstGeom prst="roundRect">
            <a:avLst>
              <a:gd name="adj" fmla="val 2727"/>
            </a:avLst>
          </a:prstGeom>
          <a:solidFill>
            <a:srgbClr val="F8F5FC"/>
          </a:solidFill>
          <a:ln w="9525">
            <a:solidFill>
              <a:srgbClr val="DDD3EC"/>
            </a:solidFill>
            <a:prstDash val="solid"/>
          </a:ln>
        </p:spPr>
      </p:sp>
      <p:sp>
        <p:nvSpPr>
          <p:cNvPr id="24" name="Shape 22"/>
          <p:cNvSpPr/>
          <p:nvPr/>
        </p:nvSpPr>
        <p:spPr>
          <a:xfrm>
            <a:off x="548640" y="3566160"/>
            <a:ext cx="438912" cy="438912"/>
          </a:xfrm>
          <a:prstGeom prst="ellipse">
            <a:avLst/>
          </a:prstGeom>
          <a:solidFill>
            <a:srgbClr val="6A3FA0"/>
          </a:solidFill>
          <a:ln w="12700">
            <a:solidFill>
              <a:srgbClr val="6A3FA0"/>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C4.1 • data</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properties you would check in a data table when choosing a metal for a </a:t>
            </a:r>
            <a:r>
              <a:rPr lang="en-US" sz="1250" b="1" dirty="0">
                <a:solidFill>
                  <a:srgbClr val="262B3A"/>
                </a:solidFill>
                <a:latin typeface="Calibri" pitchFamily="34" charset="0"/>
                <a:ea typeface="Calibri" pitchFamily="34" charset="-122"/>
                <a:cs typeface="Calibri" pitchFamily="34" charset="-120"/>
              </a:rPr>
              <a:t>bridge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8F5FC"/>
          </a:solidFill>
          <a:ln w="9525">
            <a:solidFill>
              <a:srgbClr val="DDD3EC"/>
            </a:solidFill>
            <a:prstDash val="solid"/>
          </a:ln>
        </p:spPr>
      </p:sp>
      <p:sp>
        <p:nvSpPr>
          <p:cNvPr id="29" name="Shape 27"/>
          <p:cNvSpPr/>
          <p:nvPr/>
        </p:nvSpPr>
        <p:spPr>
          <a:xfrm>
            <a:off x="4389120" y="3566160"/>
            <a:ext cx="438912" cy="438912"/>
          </a:xfrm>
          <a:prstGeom prst="ellipse">
            <a:avLst/>
          </a:prstGeom>
          <a:solidFill>
            <a:srgbClr val="6A3FA0"/>
          </a:solidFill>
          <a:ln w="12700">
            <a:solidFill>
              <a:srgbClr val="6A3FA0"/>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C4.2 • polymers</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does a </a:t>
            </a:r>
            <a:r>
              <a:rPr lang="en-US" sz="1250" b="1" dirty="0">
                <a:solidFill>
                  <a:srgbClr val="262B3A"/>
                </a:solidFill>
                <a:latin typeface="Calibri" pitchFamily="34" charset="0"/>
                <a:ea typeface="Calibri" pitchFamily="34" charset="-122"/>
                <a:cs typeface="Calibri" pitchFamily="34" charset="-120"/>
              </a:rPr>
              <a:t>thermosoftening</a:t>
            </a:r>
            <a:r>
              <a:rPr lang="en-US" sz="1250" dirty="0">
                <a:solidFill>
                  <a:srgbClr val="262B3A"/>
                </a:solidFill>
                <a:latin typeface="Calibri" pitchFamily="34" charset="0"/>
                <a:ea typeface="Calibri" pitchFamily="34" charset="-122"/>
                <a:cs typeface="Calibri" pitchFamily="34" charset="-120"/>
              </a:rPr>
              <a:t> polymer melt when heated but a </a:t>
            </a:r>
            <a:r>
              <a:rPr lang="en-US" sz="1250" b="1" dirty="0">
                <a:solidFill>
                  <a:srgbClr val="262B3A"/>
                </a:solidFill>
                <a:latin typeface="Calibri" pitchFamily="34" charset="0"/>
                <a:ea typeface="Calibri" pitchFamily="34" charset="-122"/>
                <a:cs typeface="Calibri" pitchFamily="34" charset="-120"/>
              </a:rPr>
              <a:t>thermosetting</a:t>
            </a:r>
            <a:r>
              <a:rPr lang="en-US" sz="1250" dirty="0">
                <a:solidFill>
                  <a:srgbClr val="262B3A"/>
                </a:solidFill>
                <a:latin typeface="Calibri" pitchFamily="34" charset="0"/>
                <a:ea typeface="Calibri" pitchFamily="34" charset="-122"/>
                <a:cs typeface="Calibri" pitchFamily="34" charset="-120"/>
              </a:rPr>
              <a:t> one does not?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8F5FC"/>
          </a:solidFill>
          <a:ln w="9525">
            <a:solidFill>
              <a:srgbClr val="DDD3EC"/>
            </a:solidFill>
            <a:prstDash val="solid"/>
          </a:ln>
        </p:spPr>
      </p:sp>
      <p:sp>
        <p:nvSpPr>
          <p:cNvPr id="34" name="Shape 32"/>
          <p:cNvSpPr/>
          <p:nvPr/>
        </p:nvSpPr>
        <p:spPr>
          <a:xfrm>
            <a:off x="8229600" y="3566160"/>
            <a:ext cx="438912" cy="438912"/>
          </a:xfrm>
          <a:prstGeom prst="ellipse">
            <a:avLst/>
          </a:prstGeom>
          <a:solidFill>
            <a:srgbClr val="6A3FA0"/>
          </a:solidFill>
          <a:ln w="12700">
            <a:solidFill>
              <a:srgbClr val="6A3FA0"/>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C4.3 • nanoparticles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are nanoparticles good </a:t>
            </a:r>
            <a:r>
              <a:rPr lang="en-US" sz="1250" b="1" dirty="0">
                <a:solidFill>
                  <a:srgbClr val="262B3A"/>
                </a:solidFill>
                <a:latin typeface="Calibri" pitchFamily="34" charset="0"/>
                <a:ea typeface="Calibri" pitchFamily="34" charset="-122"/>
                <a:cs typeface="Calibri" pitchFamily="34" charset="-120"/>
              </a:rPr>
              <a:t>catalysts</a:t>
            </a:r>
            <a:r>
              <a:rPr lang="en-US" sz="1250" dirty="0">
                <a:solidFill>
                  <a:srgbClr val="262B3A"/>
                </a:solidFill>
                <a:latin typeface="Calibri" pitchFamily="34" charset="0"/>
                <a:ea typeface="Calibri" pitchFamily="34" charset="-122"/>
                <a:cs typeface="Calibri" pitchFamily="34" charset="-120"/>
              </a:rPr>
              <a:t>? (A cube of side </a:t>
            </a:r>
            <a:r>
              <a:rPr lang="en-US" sz="1250" b="1" dirty="0">
                <a:solidFill>
                  <a:srgbClr val="262B3A"/>
                </a:solidFill>
                <a:latin typeface="Calibri" pitchFamily="34" charset="0"/>
                <a:ea typeface="Calibri" pitchFamily="34" charset="-122"/>
                <a:cs typeface="Calibri" pitchFamily="34" charset="-120"/>
              </a:rPr>
              <a:t>2 nm</a:t>
            </a:r>
            <a:r>
              <a:rPr lang="en-US" sz="1250" dirty="0">
                <a:solidFill>
                  <a:srgbClr val="262B3A"/>
                </a:solidFill>
                <a:latin typeface="Calibri" pitchFamily="34" charset="0"/>
                <a:ea typeface="Calibri" pitchFamily="34" charset="-122"/>
                <a:cs typeface="Calibri" pitchFamily="34" charset="-120"/>
              </a:rPr>
              <a:t>: surface area?)</a:t>
            </a:r>
            <a:endParaRPr lang="en-US" sz="1250" dirty="0"/>
          </a:p>
        </p:txBody>
      </p:sp>
      <p:sp>
        <p:nvSpPr>
          <p:cNvPr id="38" name="Shape 36"/>
          <p:cNvSpPr/>
          <p:nvPr/>
        </p:nvSpPr>
        <p:spPr>
          <a:xfrm>
            <a:off x="411480" y="5715000"/>
            <a:ext cx="11368735" cy="548640"/>
          </a:xfrm>
          <a:prstGeom prst="rect">
            <a:avLst/>
          </a:prstGeom>
          <a:solidFill>
            <a:srgbClr val="F1ECF8"/>
          </a:solidFill>
          <a:ln w="12700">
            <a:solidFill>
              <a:srgbClr val="DDD3EC"/>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6A3FA0"/>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Corrosion: what rusting needs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C4.4.1 • the conditions that cause corrosion and the process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C4.4.1  |  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three iron nails after one week; not to scale</a:t>
            </a:r>
            <a:endParaRPr lang="en-US" sz="1000" dirty="0"/>
          </a:p>
        </p:txBody>
      </p:sp>
      <p:sp>
        <p:nvSpPr>
          <p:cNvPr id="10" name="Shape 8"/>
          <p:cNvSpPr/>
          <p:nvPr/>
        </p:nvSpPr>
        <p:spPr>
          <a:xfrm>
            <a:off x="914400" y="3502152"/>
            <a:ext cx="566928" cy="566928"/>
          </a:xfrm>
          <a:prstGeom prst="ellipse">
            <a:avLst/>
          </a:prstGeom>
          <a:solidFill>
            <a:srgbClr val="EEF5FB"/>
          </a:solidFill>
          <a:ln w="15875">
            <a:solidFill>
              <a:srgbClr val="2A1F3D"/>
            </a:solidFill>
            <a:prstDash val="solid"/>
          </a:ln>
        </p:spPr>
      </p:sp>
      <p:sp>
        <p:nvSpPr>
          <p:cNvPr id="11" name="Shape 9"/>
          <p:cNvSpPr/>
          <p:nvPr/>
        </p:nvSpPr>
        <p:spPr>
          <a:xfrm>
            <a:off x="914400" y="1691640"/>
            <a:ext cx="566928" cy="2093976"/>
          </a:xfrm>
          <a:prstGeom prst="rect">
            <a:avLst/>
          </a:prstGeom>
          <a:solidFill>
            <a:srgbClr val="EEF5FB"/>
          </a:solidFill>
          <a:ln/>
        </p:spPr>
      </p:sp>
      <p:sp>
        <p:nvSpPr>
          <p:cNvPr id="12" name="Shape 10"/>
          <p:cNvSpPr/>
          <p:nvPr/>
        </p:nvSpPr>
        <p:spPr>
          <a:xfrm>
            <a:off x="914400" y="3502152"/>
            <a:ext cx="566928" cy="566928"/>
          </a:xfrm>
          <a:prstGeom prst="ellipse">
            <a:avLst/>
          </a:prstGeom>
          <a:solidFill>
            <a:srgbClr val="CFE4F7"/>
          </a:solidFill>
          <a:ln/>
        </p:spPr>
      </p:sp>
      <p:sp>
        <p:nvSpPr>
          <p:cNvPr id="13" name="Shape 11"/>
          <p:cNvSpPr/>
          <p:nvPr/>
        </p:nvSpPr>
        <p:spPr>
          <a:xfrm>
            <a:off x="914400" y="2999232"/>
            <a:ext cx="566928" cy="786384"/>
          </a:xfrm>
          <a:prstGeom prst="rect">
            <a:avLst/>
          </a:prstGeom>
          <a:solidFill>
            <a:srgbClr val="CFE4F7"/>
          </a:solidFill>
          <a:ln/>
        </p:spPr>
      </p:sp>
      <p:sp>
        <p:nvSpPr>
          <p:cNvPr id="14" name="Shape 12"/>
          <p:cNvSpPr/>
          <p:nvPr/>
        </p:nvSpPr>
        <p:spPr>
          <a:xfrm>
            <a:off x="914400" y="1691640"/>
            <a:ext cx="91" cy="2103120"/>
          </a:xfrm>
          <a:prstGeom prst="line">
            <a:avLst/>
          </a:prstGeom>
          <a:noFill/>
          <a:ln w="15875">
            <a:solidFill>
              <a:srgbClr val="2A1F3D"/>
            </a:solidFill>
            <a:prstDash val="solid"/>
          </a:ln>
        </p:spPr>
      </p:sp>
      <p:sp>
        <p:nvSpPr>
          <p:cNvPr id="15" name="Shape 13"/>
          <p:cNvSpPr/>
          <p:nvPr/>
        </p:nvSpPr>
        <p:spPr>
          <a:xfrm>
            <a:off x="1481328" y="1691640"/>
            <a:ext cx="91" cy="2103120"/>
          </a:xfrm>
          <a:prstGeom prst="line">
            <a:avLst/>
          </a:prstGeom>
          <a:noFill/>
          <a:ln w="15875">
            <a:solidFill>
              <a:srgbClr val="2A1F3D"/>
            </a:solidFill>
            <a:prstDash val="solid"/>
          </a:ln>
        </p:spPr>
      </p:sp>
      <p:sp>
        <p:nvSpPr>
          <p:cNvPr id="16" name="Shape 14"/>
          <p:cNvSpPr/>
          <p:nvPr/>
        </p:nvSpPr>
        <p:spPr>
          <a:xfrm>
            <a:off x="1115568" y="2011680"/>
            <a:ext cx="164592" cy="45720"/>
          </a:xfrm>
          <a:prstGeom prst="rect">
            <a:avLst/>
          </a:prstGeom>
          <a:solidFill>
            <a:srgbClr val="B9C0CC"/>
          </a:solidFill>
          <a:ln w="6350">
            <a:solidFill>
              <a:srgbClr val="5A6275"/>
            </a:solidFill>
            <a:prstDash val="solid"/>
          </a:ln>
        </p:spPr>
      </p:sp>
      <p:sp>
        <p:nvSpPr>
          <p:cNvPr id="17" name="Shape 15"/>
          <p:cNvSpPr/>
          <p:nvPr/>
        </p:nvSpPr>
        <p:spPr>
          <a:xfrm>
            <a:off x="1170432" y="2057400"/>
            <a:ext cx="54864" cy="1645920"/>
          </a:xfrm>
          <a:prstGeom prst="rect">
            <a:avLst/>
          </a:prstGeom>
          <a:solidFill>
            <a:srgbClr val="B9C0CC"/>
          </a:solidFill>
          <a:ln w="6350">
            <a:solidFill>
              <a:srgbClr val="5A6275"/>
            </a:solidFill>
            <a:prstDash val="solid"/>
          </a:ln>
        </p:spPr>
      </p:sp>
      <p:sp>
        <p:nvSpPr>
          <p:cNvPr id="18" name="Shape 16"/>
          <p:cNvSpPr/>
          <p:nvPr/>
        </p:nvSpPr>
        <p:spPr>
          <a:xfrm>
            <a:off x="1170432" y="3703320"/>
            <a:ext cx="54864" cy="91440"/>
          </a:xfrm>
          <a:custGeom>
            <a:avLst/>
            <a:gdLst/>
            <a:ahLst/>
            <a:cxnLst/>
            <a:rect l="l" t="t" r="r" b="b"/>
            <a:pathLst>
              <a:path w="54864" h="91440">
                <a:moveTo>
                  <a:pt x="0" y="0"/>
                </a:moveTo>
                <a:lnTo>
                  <a:pt x="54864" y="0"/>
                </a:lnTo>
                <a:lnTo>
                  <a:pt x="27432" y="91440"/>
                </a:lnTo>
                <a:close/>
              </a:path>
            </a:pathLst>
          </a:custGeom>
          <a:solidFill>
            <a:srgbClr val="B9C0CC"/>
          </a:solidFill>
          <a:ln w="6350">
            <a:solidFill>
              <a:srgbClr val="5A6275"/>
            </a:solidFill>
            <a:prstDash val="solid"/>
          </a:ln>
        </p:spPr>
      </p:sp>
      <p:sp>
        <p:nvSpPr>
          <p:cNvPr id="19" name="Shape 17"/>
          <p:cNvSpPr/>
          <p:nvPr/>
        </p:nvSpPr>
        <p:spPr>
          <a:xfrm>
            <a:off x="1138428" y="2162556"/>
            <a:ext cx="64008" cy="64008"/>
          </a:xfrm>
          <a:prstGeom prst="ellipse">
            <a:avLst/>
          </a:prstGeom>
          <a:solidFill>
            <a:srgbClr val="B5541E"/>
          </a:solidFill>
          <a:ln w="6350">
            <a:solidFill>
              <a:srgbClr val="7A3510"/>
            </a:solidFill>
            <a:prstDash val="solid"/>
          </a:ln>
        </p:spPr>
      </p:sp>
      <p:sp>
        <p:nvSpPr>
          <p:cNvPr id="20" name="Shape 18"/>
          <p:cNvSpPr/>
          <p:nvPr/>
        </p:nvSpPr>
        <p:spPr>
          <a:xfrm>
            <a:off x="1193292" y="2455164"/>
            <a:ext cx="64008" cy="64008"/>
          </a:xfrm>
          <a:prstGeom prst="ellipse">
            <a:avLst/>
          </a:prstGeom>
          <a:solidFill>
            <a:srgbClr val="B5541E"/>
          </a:solidFill>
          <a:ln w="6350">
            <a:solidFill>
              <a:srgbClr val="7A3510"/>
            </a:solidFill>
            <a:prstDash val="solid"/>
          </a:ln>
        </p:spPr>
      </p:sp>
      <p:sp>
        <p:nvSpPr>
          <p:cNvPr id="21" name="Shape 19"/>
          <p:cNvSpPr/>
          <p:nvPr/>
        </p:nvSpPr>
        <p:spPr>
          <a:xfrm>
            <a:off x="1138428" y="2747772"/>
            <a:ext cx="64008" cy="64008"/>
          </a:xfrm>
          <a:prstGeom prst="ellipse">
            <a:avLst/>
          </a:prstGeom>
          <a:solidFill>
            <a:srgbClr val="B5541E"/>
          </a:solidFill>
          <a:ln w="6350">
            <a:solidFill>
              <a:srgbClr val="7A3510"/>
            </a:solidFill>
            <a:prstDash val="solid"/>
          </a:ln>
        </p:spPr>
      </p:sp>
      <p:sp>
        <p:nvSpPr>
          <p:cNvPr id="22" name="Shape 20"/>
          <p:cNvSpPr/>
          <p:nvPr/>
        </p:nvSpPr>
        <p:spPr>
          <a:xfrm>
            <a:off x="1193292" y="3040380"/>
            <a:ext cx="64008" cy="64008"/>
          </a:xfrm>
          <a:prstGeom prst="ellipse">
            <a:avLst/>
          </a:prstGeom>
          <a:solidFill>
            <a:srgbClr val="B5541E"/>
          </a:solidFill>
          <a:ln w="6350">
            <a:solidFill>
              <a:srgbClr val="7A3510"/>
            </a:solidFill>
            <a:prstDash val="solid"/>
          </a:ln>
        </p:spPr>
      </p:sp>
      <p:sp>
        <p:nvSpPr>
          <p:cNvPr id="23" name="Shape 21"/>
          <p:cNvSpPr/>
          <p:nvPr/>
        </p:nvSpPr>
        <p:spPr>
          <a:xfrm>
            <a:off x="1138428" y="3332988"/>
            <a:ext cx="64008" cy="64008"/>
          </a:xfrm>
          <a:prstGeom prst="ellipse">
            <a:avLst/>
          </a:prstGeom>
          <a:solidFill>
            <a:srgbClr val="B5541E"/>
          </a:solidFill>
          <a:ln w="6350">
            <a:solidFill>
              <a:srgbClr val="7A3510"/>
            </a:solidFill>
            <a:prstDash val="solid"/>
          </a:ln>
        </p:spPr>
      </p:sp>
      <p:sp>
        <p:nvSpPr>
          <p:cNvPr id="24" name="Shape 22"/>
          <p:cNvSpPr/>
          <p:nvPr/>
        </p:nvSpPr>
        <p:spPr>
          <a:xfrm>
            <a:off x="1193292" y="3625596"/>
            <a:ext cx="64008" cy="64008"/>
          </a:xfrm>
          <a:prstGeom prst="ellipse">
            <a:avLst/>
          </a:prstGeom>
          <a:solidFill>
            <a:srgbClr val="B5541E"/>
          </a:solidFill>
          <a:ln w="6350">
            <a:solidFill>
              <a:srgbClr val="7A3510"/>
            </a:solidFill>
            <a:prstDash val="solid"/>
          </a:ln>
        </p:spPr>
      </p:sp>
      <p:sp>
        <p:nvSpPr>
          <p:cNvPr id="25" name="Text 23"/>
          <p:cNvSpPr/>
          <p:nvPr/>
        </p:nvSpPr>
        <p:spPr>
          <a:xfrm>
            <a:off x="685800" y="1325880"/>
            <a:ext cx="1005840" cy="274320"/>
          </a:xfrm>
          <a:prstGeom prst="rect">
            <a:avLst/>
          </a:prstGeom>
          <a:noFill/>
          <a:ln/>
        </p:spPr>
        <p:txBody>
          <a:bodyPr wrap="square" lIns="0" tIns="0" rIns="0" bIns="0" rtlCol="0" anchor="ctr"/>
          <a:lstStyle/>
          <a:p>
            <a:pPr algn="ctr" indent="0" marL="0">
              <a:buNone/>
            </a:pPr>
            <a:r>
              <a:rPr lang="en-US" sz="1300" b="1" dirty="0">
                <a:solidFill>
                  <a:srgbClr val="6A3FA0"/>
                </a:solidFill>
                <a:latin typeface="Calibri" pitchFamily="34" charset="0"/>
                <a:ea typeface="Calibri" pitchFamily="34" charset="-122"/>
                <a:cs typeface="Calibri" pitchFamily="34" charset="-120"/>
              </a:rPr>
              <a:t>A</a:t>
            </a:r>
            <a:endParaRPr lang="en-US" sz="1300" dirty="0"/>
          </a:p>
        </p:txBody>
      </p:sp>
      <p:sp>
        <p:nvSpPr>
          <p:cNvPr id="26" name="Text 24"/>
          <p:cNvSpPr/>
          <p:nvPr/>
        </p:nvSpPr>
        <p:spPr>
          <a:xfrm>
            <a:off x="457200" y="4160520"/>
            <a:ext cx="1463040" cy="50292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air + water</a:t>
            </a:r>
            <a:endParaRPr lang="en-US" sz="1050" dirty="0"/>
          </a:p>
        </p:txBody>
      </p:sp>
      <p:sp>
        <p:nvSpPr>
          <p:cNvPr id="27" name="Shape 25"/>
          <p:cNvSpPr/>
          <p:nvPr/>
        </p:nvSpPr>
        <p:spPr>
          <a:xfrm>
            <a:off x="594360" y="4709160"/>
            <a:ext cx="1207008" cy="310896"/>
          </a:xfrm>
          <a:prstGeom prst="roundRect">
            <a:avLst>
              <a:gd name="adj" fmla="val 17647"/>
            </a:avLst>
          </a:prstGeom>
          <a:solidFill>
            <a:srgbClr val="F6DCCB"/>
          </a:solidFill>
          <a:ln w="9525">
            <a:solidFill>
              <a:srgbClr val="B5541E"/>
            </a:solidFill>
            <a:prstDash val="solid"/>
          </a:ln>
        </p:spPr>
      </p:sp>
      <p:sp>
        <p:nvSpPr>
          <p:cNvPr id="28" name="Text 26"/>
          <p:cNvSpPr/>
          <p:nvPr/>
        </p:nvSpPr>
        <p:spPr>
          <a:xfrm>
            <a:off x="649224" y="4709160"/>
            <a:ext cx="1097280" cy="31089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rusts</a:t>
            </a:r>
            <a:endParaRPr lang="en-US" sz="1050" dirty="0"/>
          </a:p>
        </p:txBody>
      </p:sp>
      <p:sp>
        <p:nvSpPr>
          <p:cNvPr id="29" name="Shape 27"/>
          <p:cNvSpPr/>
          <p:nvPr/>
        </p:nvSpPr>
        <p:spPr>
          <a:xfrm>
            <a:off x="2697480" y="3502152"/>
            <a:ext cx="566928" cy="566928"/>
          </a:xfrm>
          <a:prstGeom prst="ellipse">
            <a:avLst/>
          </a:prstGeom>
          <a:solidFill>
            <a:srgbClr val="EEF5FB"/>
          </a:solidFill>
          <a:ln w="15875">
            <a:solidFill>
              <a:srgbClr val="2A1F3D"/>
            </a:solidFill>
            <a:prstDash val="solid"/>
          </a:ln>
        </p:spPr>
      </p:sp>
      <p:sp>
        <p:nvSpPr>
          <p:cNvPr id="30" name="Shape 28"/>
          <p:cNvSpPr/>
          <p:nvPr/>
        </p:nvSpPr>
        <p:spPr>
          <a:xfrm>
            <a:off x="2697480" y="1691640"/>
            <a:ext cx="566928" cy="2093976"/>
          </a:xfrm>
          <a:prstGeom prst="rect">
            <a:avLst/>
          </a:prstGeom>
          <a:solidFill>
            <a:srgbClr val="EEF5FB"/>
          </a:solidFill>
          <a:ln/>
        </p:spPr>
      </p:sp>
      <p:sp>
        <p:nvSpPr>
          <p:cNvPr id="31" name="Shape 29"/>
          <p:cNvSpPr/>
          <p:nvPr/>
        </p:nvSpPr>
        <p:spPr>
          <a:xfrm>
            <a:off x="2697480" y="3502152"/>
            <a:ext cx="566928" cy="566928"/>
          </a:xfrm>
          <a:prstGeom prst="ellipse">
            <a:avLst/>
          </a:prstGeom>
          <a:solidFill>
            <a:srgbClr val="CFE4F7"/>
          </a:solidFill>
          <a:ln/>
        </p:spPr>
      </p:sp>
      <p:sp>
        <p:nvSpPr>
          <p:cNvPr id="32" name="Shape 30"/>
          <p:cNvSpPr/>
          <p:nvPr/>
        </p:nvSpPr>
        <p:spPr>
          <a:xfrm>
            <a:off x="2697480" y="2761488"/>
            <a:ext cx="566928" cy="1024128"/>
          </a:xfrm>
          <a:prstGeom prst="rect">
            <a:avLst/>
          </a:prstGeom>
          <a:solidFill>
            <a:srgbClr val="CFE4F7"/>
          </a:solidFill>
          <a:ln/>
        </p:spPr>
      </p:sp>
      <p:sp>
        <p:nvSpPr>
          <p:cNvPr id="33" name="Shape 31"/>
          <p:cNvSpPr/>
          <p:nvPr/>
        </p:nvSpPr>
        <p:spPr>
          <a:xfrm>
            <a:off x="2697480" y="2651760"/>
            <a:ext cx="566928" cy="109728"/>
          </a:xfrm>
          <a:prstGeom prst="rect">
            <a:avLst/>
          </a:prstGeom>
          <a:solidFill>
            <a:srgbClr val="F3D27A"/>
          </a:solidFill>
          <a:ln/>
        </p:spPr>
      </p:sp>
      <p:sp>
        <p:nvSpPr>
          <p:cNvPr id="34" name="Shape 32"/>
          <p:cNvSpPr/>
          <p:nvPr/>
        </p:nvSpPr>
        <p:spPr>
          <a:xfrm>
            <a:off x="2697480" y="1691640"/>
            <a:ext cx="91" cy="2103120"/>
          </a:xfrm>
          <a:prstGeom prst="line">
            <a:avLst/>
          </a:prstGeom>
          <a:noFill/>
          <a:ln w="15875">
            <a:solidFill>
              <a:srgbClr val="2A1F3D"/>
            </a:solidFill>
            <a:prstDash val="solid"/>
          </a:ln>
        </p:spPr>
      </p:sp>
      <p:sp>
        <p:nvSpPr>
          <p:cNvPr id="35" name="Shape 33"/>
          <p:cNvSpPr/>
          <p:nvPr/>
        </p:nvSpPr>
        <p:spPr>
          <a:xfrm>
            <a:off x="3264408" y="1691640"/>
            <a:ext cx="91" cy="2103120"/>
          </a:xfrm>
          <a:prstGeom prst="line">
            <a:avLst/>
          </a:prstGeom>
          <a:noFill/>
          <a:ln w="15875">
            <a:solidFill>
              <a:srgbClr val="2A1F3D"/>
            </a:solidFill>
            <a:prstDash val="solid"/>
          </a:ln>
        </p:spPr>
      </p:sp>
      <p:sp>
        <p:nvSpPr>
          <p:cNvPr id="36" name="Shape 34"/>
          <p:cNvSpPr/>
          <p:nvPr/>
        </p:nvSpPr>
        <p:spPr>
          <a:xfrm>
            <a:off x="2660904" y="1581912"/>
            <a:ext cx="640080" cy="201168"/>
          </a:xfrm>
          <a:prstGeom prst="rect">
            <a:avLst/>
          </a:prstGeom>
          <a:solidFill>
            <a:srgbClr val="8C6A4A"/>
          </a:solidFill>
          <a:ln w="9525">
            <a:solidFill>
              <a:srgbClr val="5A4030"/>
            </a:solidFill>
            <a:prstDash val="solid"/>
          </a:ln>
        </p:spPr>
      </p:sp>
      <p:sp>
        <p:nvSpPr>
          <p:cNvPr id="37" name="Shape 35"/>
          <p:cNvSpPr/>
          <p:nvPr/>
        </p:nvSpPr>
        <p:spPr>
          <a:xfrm>
            <a:off x="2898648" y="2011680"/>
            <a:ext cx="164592" cy="45720"/>
          </a:xfrm>
          <a:prstGeom prst="rect">
            <a:avLst/>
          </a:prstGeom>
          <a:solidFill>
            <a:srgbClr val="B9C0CC"/>
          </a:solidFill>
          <a:ln w="6350">
            <a:solidFill>
              <a:srgbClr val="5A6275"/>
            </a:solidFill>
            <a:prstDash val="solid"/>
          </a:ln>
        </p:spPr>
      </p:sp>
      <p:sp>
        <p:nvSpPr>
          <p:cNvPr id="38" name="Shape 36"/>
          <p:cNvSpPr/>
          <p:nvPr/>
        </p:nvSpPr>
        <p:spPr>
          <a:xfrm>
            <a:off x="2953512" y="2057400"/>
            <a:ext cx="54864" cy="1645920"/>
          </a:xfrm>
          <a:prstGeom prst="rect">
            <a:avLst/>
          </a:prstGeom>
          <a:solidFill>
            <a:srgbClr val="B9C0CC"/>
          </a:solidFill>
          <a:ln w="6350">
            <a:solidFill>
              <a:srgbClr val="5A6275"/>
            </a:solidFill>
            <a:prstDash val="solid"/>
          </a:ln>
        </p:spPr>
      </p:sp>
      <p:sp>
        <p:nvSpPr>
          <p:cNvPr id="39" name="Shape 37"/>
          <p:cNvSpPr/>
          <p:nvPr/>
        </p:nvSpPr>
        <p:spPr>
          <a:xfrm>
            <a:off x="2953512" y="3703320"/>
            <a:ext cx="54864" cy="91440"/>
          </a:xfrm>
          <a:custGeom>
            <a:avLst/>
            <a:gdLst/>
            <a:ahLst/>
            <a:cxnLst/>
            <a:rect l="l" t="t" r="r" b="b"/>
            <a:pathLst>
              <a:path w="54864" h="91440">
                <a:moveTo>
                  <a:pt x="0" y="0"/>
                </a:moveTo>
                <a:lnTo>
                  <a:pt x="54864" y="0"/>
                </a:lnTo>
                <a:lnTo>
                  <a:pt x="27432" y="91440"/>
                </a:lnTo>
                <a:close/>
              </a:path>
            </a:pathLst>
          </a:custGeom>
          <a:solidFill>
            <a:srgbClr val="B9C0CC"/>
          </a:solidFill>
          <a:ln w="6350">
            <a:solidFill>
              <a:srgbClr val="5A6275"/>
            </a:solidFill>
            <a:prstDash val="solid"/>
          </a:ln>
        </p:spPr>
      </p:sp>
      <p:sp>
        <p:nvSpPr>
          <p:cNvPr id="40" name="Text 38"/>
          <p:cNvSpPr/>
          <p:nvPr/>
        </p:nvSpPr>
        <p:spPr>
          <a:xfrm>
            <a:off x="2468880" y="1325880"/>
            <a:ext cx="1005840" cy="274320"/>
          </a:xfrm>
          <a:prstGeom prst="rect">
            <a:avLst/>
          </a:prstGeom>
          <a:noFill/>
          <a:ln/>
        </p:spPr>
        <p:txBody>
          <a:bodyPr wrap="square" lIns="0" tIns="0" rIns="0" bIns="0" rtlCol="0" anchor="ctr"/>
          <a:lstStyle/>
          <a:p>
            <a:pPr algn="ctr" indent="0" marL="0">
              <a:buNone/>
            </a:pPr>
            <a:r>
              <a:rPr lang="en-US" sz="1300" b="1" dirty="0">
                <a:solidFill>
                  <a:srgbClr val="6A3FA0"/>
                </a:solidFill>
                <a:latin typeface="Calibri" pitchFamily="34" charset="0"/>
                <a:ea typeface="Calibri" pitchFamily="34" charset="-122"/>
                <a:cs typeface="Calibri" pitchFamily="34" charset="-120"/>
              </a:rPr>
              <a:t>B</a:t>
            </a:r>
            <a:endParaRPr lang="en-US" sz="1300" dirty="0"/>
          </a:p>
        </p:txBody>
      </p:sp>
      <p:sp>
        <p:nvSpPr>
          <p:cNvPr id="41" name="Text 39"/>
          <p:cNvSpPr/>
          <p:nvPr/>
        </p:nvSpPr>
        <p:spPr>
          <a:xfrm>
            <a:off x="2240280" y="4160520"/>
            <a:ext cx="1463040" cy="50292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boiled water + oil</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(no air)</a:t>
            </a:r>
            <a:endParaRPr lang="en-US" sz="1050" dirty="0"/>
          </a:p>
        </p:txBody>
      </p:sp>
      <p:sp>
        <p:nvSpPr>
          <p:cNvPr id="42" name="Shape 40"/>
          <p:cNvSpPr/>
          <p:nvPr/>
        </p:nvSpPr>
        <p:spPr>
          <a:xfrm>
            <a:off x="2377440" y="4709160"/>
            <a:ext cx="1207008" cy="310896"/>
          </a:xfrm>
          <a:prstGeom prst="roundRect">
            <a:avLst>
              <a:gd name="adj" fmla="val 17647"/>
            </a:avLst>
          </a:prstGeom>
          <a:solidFill>
            <a:srgbClr val="D8F0E2"/>
          </a:solidFill>
          <a:ln w="9525">
            <a:solidFill>
              <a:srgbClr val="2E8B57"/>
            </a:solidFill>
            <a:prstDash val="solid"/>
          </a:ln>
        </p:spPr>
      </p:sp>
      <p:sp>
        <p:nvSpPr>
          <p:cNvPr id="43" name="Text 41"/>
          <p:cNvSpPr/>
          <p:nvPr/>
        </p:nvSpPr>
        <p:spPr>
          <a:xfrm>
            <a:off x="2432304" y="4709160"/>
            <a:ext cx="1097280" cy="31089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no rust</a:t>
            </a:r>
            <a:endParaRPr lang="en-US" sz="1050" dirty="0"/>
          </a:p>
        </p:txBody>
      </p:sp>
      <p:sp>
        <p:nvSpPr>
          <p:cNvPr id="44" name="Shape 42"/>
          <p:cNvSpPr/>
          <p:nvPr/>
        </p:nvSpPr>
        <p:spPr>
          <a:xfrm>
            <a:off x="4480560" y="3502152"/>
            <a:ext cx="566928" cy="566928"/>
          </a:xfrm>
          <a:prstGeom prst="ellipse">
            <a:avLst/>
          </a:prstGeom>
          <a:solidFill>
            <a:srgbClr val="EEF5FB"/>
          </a:solidFill>
          <a:ln w="15875">
            <a:solidFill>
              <a:srgbClr val="2A1F3D"/>
            </a:solidFill>
            <a:prstDash val="solid"/>
          </a:ln>
        </p:spPr>
      </p:sp>
      <p:sp>
        <p:nvSpPr>
          <p:cNvPr id="45" name="Shape 43"/>
          <p:cNvSpPr/>
          <p:nvPr/>
        </p:nvSpPr>
        <p:spPr>
          <a:xfrm>
            <a:off x="4480560" y="1691640"/>
            <a:ext cx="566928" cy="2093976"/>
          </a:xfrm>
          <a:prstGeom prst="rect">
            <a:avLst/>
          </a:prstGeom>
          <a:solidFill>
            <a:srgbClr val="EEF5FB"/>
          </a:solidFill>
          <a:ln/>
        </p:spPr>
      </p:sp>
      <p:sp>
        <p:nvSpPr>
          <p:cNvPr id="46" name="Shape 44"/>
          <p:cNvSpPr/>
          <p:nvPr/>
        </p:nvSpPr>
        <p:spPr>
          <a:xfrm>
            <a:off x="4503420" y="3936492"/>
            <a:ext cx="82296" cy="82296"/>
          </a:xfrm>
          <a:prstGeom prst="ellipse">
            <a:avLst/>
          </a:prstGeom>
          <a:solidFill>
            <a:srgbClr val="FFFFFF"/>
          </a:solidFill>
          <a:ln w="6350">
            <a:solidFill>
              <a:srgbClr val="8A8F99"/>
            </a:solidFill>
            <a:prstDash val="solid"/>
          </a:ln>
        </p:spPr>
      </p:sp>
      <p:sp>
        <p:nvSpPr>
          <p:cNvPr id="47" name="Shape 45"/>
          <p:cNvSpPr/>
          <p:nvPr/>
        </p:nvSpPr>
        <p:spPr>
          <a:xfrm>
            <a:off x="4722876" y="3936492"/>
            <a:ext cx="82296" cy="82296"/>
          </a:xfrm>
          <a:prstGeom prst="ellipse">
            <a:avLst/>
          </a:prstGeom>
          <a:solidFill>
            <a:srgbClr val="FFFFFF"/>
          </a:solidFill>
          <a:ln w="6350">
            <a:solidFill>
              <a:srgbClr val="8A8F99"/>
            </a:solidFill>
            <a:prstDash val="solid"/>
          </a:ln>
        </p:spPr>
      </p:sp>
      <p:sp>
        <p:nvSpPr>
          <p:cNvPr id="48" name="Shape 46"/>
          <p:cNvSpPr/>
          <p:nvPr/>
        </p:nvSpPr>
        <p:spPr>
          <a:xfrm>
            <a:off x="4942332" y="3936492"/>
            <a:ext cx="82296" cy="82296"/>
          </a:xfrm>
          <a:prstGeom prst="ellipse">
            <a:avLst/>
          </a:prstGeom>
          <a:solidFill>
            <a:srgbClr val="FFFFFF"/>
          </a:solidFill>
          <a:ln w="6350">
            <a:solidFill>
              <a:srgbClr val="8A8F99"/>
            </a:solidFill>
            <a:prstDash val="solid"/>
          </a:ln>
        </p:spPr>
      </p:sp>
      <p:sp>
        <p:nvSpPr>
          <p:cNvPr id="49" name="Shape 47"/>
          <p:cNvSpPr/>
          <p:nvPr/>
        </p:nvSpPr>
        <p:spPr>
          <a:xfrm>
            <a:off x="4503420" y="3854196"/>
            <a:ext cx="82296" cy="82296"/>
          </a:xfrm>
          <a:prstGeom prst="ellipse">
            <a:avLst/>
          </a:prstGeom>
          <a:solidFill>
            <a:srgbClr val="FFFFFF"/>
          </a:solidFill>
          <a:ln w="6350">
            <a:solidFill>
              <a:srgbClr val="8A8F99"/>
            </a:solidFill>
            <a:prstDash val="solid"/>
          </a:ln>
        </p:spPr>
      </p:sp>
      <p:sp>
        <p:nvSpPr>
          <p:cNvPr id="50" name="Shape 48"/>
          <p:cNvSpPr/>
          <p:nvPr/>
        </p:nvSpPr>
        <p:spPr>
          <a:xfrm>
            <a:off x="4722876" y="3854196"/>
            <a:ext cx="82296" cy="82296"/>
          </a:xfrm>
          <a:prstGeom prst="ellipse">
            <a:avLst/>
          </a:prstGeom>
          <a:solidFill>
            <a:srgbClr val="FFFFFF"/>
          </a:solidFill>
          <a:ln w="6350">
            <a:solidFill>
              <a:srgbClr val="8A8F99"/>
            </a:solidFill>
            <a:prstDash val="solid"/>
          </a:ln>
        </p:spPr>
      </p:sp>
      <p:sp>
        <p:nvSpPr>
          <p:cNvPr id="51" name="Shape 49"/>
          <p:cNvSpPr/>
          <p:nvPr/>
        </p:nvSpPr>
        <p:spPr>
          <a:xfrm>
            <a:off x="4942332" y="3854196"/>
            <a:ext cx="82296" cy="82296"/>
          </a:xfrm>
          <a:prstGeom prst="ellipse">
            <a:avLst/>
          </a:prstGeom>
          <a:solidFill>
            <a:srgbClr val="FFFFFF"/>
          </a:solidFill>
          <a:ln w="6350">
            <a:solidFill>
              <a:srgbClr val="8A8F99"/>
            </a:solidFill>
            <a:prstDash val="solid"/>
          </a:ln>
        </p:spPr>
      </p:sp>
      <p:sp>
        <p:nvSpPr>
          <p:cNvPr id="52" name="Shape 50"/>
          <p:cNvSpPr/>
          <p:nvPr/>
        </p:nvSpPr>
        <p:spPr>
          <a:xfrm>
            <a:off x="4503420" y="3771900"/>
            <a:ext cx="82296" cy="82296"/>
          </a:xfrm>
          <a:prstGeom prst="ellipse">
            <a:avLst/>
          </a:prstGeom>
          <a:solidFill>
            <a:srgbClr val="FFFFFF"/>
          </a:solidFill>
          <a:ln w="6350">
            <a:solidFill>
              <a:srgbClr val="8A8F99"/>
            </a:solidFill>
            <a:prstDash val="solid"/>
          </a:ln>
        </p:spPr>
      </p:sp>
      <p:sp>
        <p:nvSpPr>
          <p:cNvPr id="53" name="Shape 51"/>
          <p:cNvSpPr/>
          <p:nvPr/>
        </p:nvSpPr>
        <p:spPr>
          <a:xfrm>
            <a:off x="4722876" y="3771900"/>
            <a:ext cx="82296" cy="82296"/>
          </a:xfrm>
          <a:prstGeom prst="ellipse">
            <a:avLst/>
          </a:prstGeom>
          <a:solidFill>
            <a:srgbClr val="FFFFFF"/>
          </a:solidFill>
          <a:ln w="6350">
            <a:solidFill>
              <a:srgbClr val="8A8F99"/>
            </a:solidFill>
            <a:prstDash val="solid"/>
          </a:ln>
        </p:spPr>
      </p:sp>
      <p:sp>
        <p:nvSpPr>
          <p:cNvPr id="54" name="Shape 52"/>
          <p:cNvSpPr/>
          <p:nvPr/>
        </p:nvSpPr>
        <p:spPr>
          <a:xfrm>
            <a:off x="4942332" y="3771900"/>
            <a:ext cx="82296" cy="82296"/>
          </a:xfrm>
          <a:prstGeom prst="ellipse">
            <a:avLst/>
          </a:prstGeom>
          <a:solidFill>
            <a:srgbClr val="FFFFFF"/>
          </a:solidFill>
          <a:ln w="6350">
            <a:solidFill>
              <a:srgbClr val="8A8F99"/>
            </a:solidFill>
            <a:prstDash val="solid"/>
          </a:ln>
        </p:spPr>
      </p:sp>
      <p:sp>
        <p:nvSpPr>
          <p:cNvPr id="55" name="Shape 53"/>
          <p:cNvSpPr/>
          <p:nvPr/>
        </p:nvSpPr>
        <p:spPr>
          <a:xfrm>
            <a:off x="4498848" y="3538728"/>
            <a:ext cx="530352" cy="182880"/>
          </a:xfrm>
          <a:prstGeom prst="roundRect">
            <a:avLst>
              <a:gd name="adj" fmla="val 40000"/>
            </a:avLst>
          </a:prstGeom>
          <a:solidFill>
            <a:srgbClr val="F7F7F7"/>
          </a:solidFill>
          <a:ln w="6350">
            <a:solidFill>
              <a:srgbClr val="B0B0B0"/>
            </a:solidFill>
            <a:prstDash val="solid"/>
          </a:ln>
        </p:spPr>
      </p:sp>
      <p:sp>
        <p:nvSpPr>
          <p:cNvPr id="56" name="Shape 54"/>
          <p:cNvSpPr/>
          <p:nvPr/>
        </p:nvSpPr>
        <p:spPr>
          <a:xfrm>
            <a:off x="4480560" y="1691640"/>
            <a:ext cx="91" cy="2103120"/>
          </a:xfrm>
          <a:prstGeom prst="line">
            <a:avLst/>
          </a:prstGeom>
          <a:noFill/>
          <a:ln w="15875">
            <a:solidFill>
              <a:srgbClr val="2A1F3D"/>
            </a:solidFill>
            <a:prstDash val="solid"/>
          </a:ln>
        </p:spPr>
      </p:sp>
      <p:sp>
        <p:nvSpPr>
          <p:cNvPr id="57" name="Shape 55"/>
          <p:cNvSpPr/>
          <p:nvPr/>
        </p:nvSpPr>
        <p:spPr>
          <a:xfrm>
            <a:off x="5047488" y="1691640"/>
            <a:ext cx="91" cy="2103120"/>
          </a:xfrm>
          <a:prstGeom prst="line">
            <a:avLst/>
          </a:prstGeom>
          <a:noFill/>
          <a:ln w="15875">
            <a:solidFill>
              <a:srgbClr val="2A1F3D"/>
            </a:solidFill>
            <a:prstDash val="solid"/>
          </a:ln>
        </p:spPr>
      </p:sp>
      <p:sp>
        <p:nvSpPr>
          <p:cNvPr id="58" name="Shape 56"/>
          <p:cNvSpPr/>
          <p:nvPr/>
        </p:nvSpPr>
        <p:spPr>
          <a:xfrm>
            <a:off x="4443984" y="1581912"/>
            <a:ext cx="640080" cy="201168"/>
          </a:xfrm>
          <a:prstGeom prst="rect">
            <a:avLst/>
          </a:prstGeom>
          <a:solidFill>
            <a:srgbClr val="8C6A4A"/>
          </a:solidFill>
          <a:ln w="9525">
            <a:solidFill>
              <a:srgbClr val="5A4030"/>
            </a:solidFill>
            <a:prstDash val="solid"/>
          </a:ln>
        </p:spPr>
      </p:sp>
      <p:sp>
        <p:nvSpPr>
          <p:cNvPr id="59" name="Shape 57"/>
          <p:cNvSpPr/>
          <p:nvPr/>
        </p:nvSpPr>
        <p:spPr>
          <a:xfrm>
            <a:off x="4681728" y="2011680"/>
            <a:ext cx="164592" cy="45720"/>
          </a:xfrm>
          <a:prstGeom prst="rect">
            <a:avLst/>
          </a:prstGeom>
          <a:solidFill>
            <a:srgbClr val="B9C0CC"/>
          </a:solidFill>
          <a:ln w="6350">
            <a:solidFill>
              <a:srgbClr val="5A6275"/>
            </a:solidFill>
            <a:prstDash val="solid"/>
          </a:ln>
        </p:spPr>
      </p:sp>
      <p:sp>
        <p:nvSpPr>
          <p:cNvPr id="60" name="Shape 58"/>
          <p:cNvSpPr/>
          <p:nvPr/>
        </p:nvSpPr>
        <p:spPr>
          <a:xfrm>
            <a:off x="4736592" y="2057400"/>
            <a:ext cx="54864" cy="1371600"/>
          </a:xfrm>
          <a:prstGeom prst="rect">
            <a:avLst/>
          </a:prstGeom>
          <a:solidFill>
            <a:srgbClr val="B9C0CC"/>
          </a:solidFill>
          <a:ln w="6350">
            <a:solidFill>
              <a:srgbClr val="5A6275"/>
            </a:solidFill>
            <a:prstDash val="solid"/>
          </a:ln>
        </p:spPr>
      </p:sp>
      <p:sp>
        <p:nvSpPr>
          <p:cNvPr id="61" name="Shape 59"/>
          <p:cNvSpPr/>
          <p:nvPr/>
        </p:nvSpPr>
        <p:spPr>
          <a:xfrm>
            <a:off x="4736592" y="3429000"/>
            <a:ext cx="54864" cy="91440"/>
          </a:xfrm>
          <a:custGeom>
            <a:avLst/>
            <a:gdLst/>
            <a:ahLst/>
            <a:cxnLst/>
            <a:rect l="l" t="t" r="r" b="b"/>
            <a:pathLst>
              <a:path w="54864" h="91440">
                <a:moveTo>
                  <a:pt x="0" y="0"/>
                </a:moveTo>
                <a:lnTo>
                  <a:pt x="54864" y="0"/>
                </a:lnTo>
                <a:lnTo>
                  <a:pt x="27432" y="91440"/>
                </a:lnTo>
                <a:close/>
              </a:path>
            </a:pathLst>
          </a:custGeom>
          <a:solidFill>
            <a:srgbClr val="B9C0CC"/>
          </a:solidFill>
          <a:ln w="6350">
            <a:solidFill>
              <a:srgbClr val="5A6275"/>
            </a:solidFill>
            <a:prstDash val="solid"/>
          </a:ln>
        </p:spPr>
      </p:sp>
      <p:sp>
        <p:nvSpPr>
          <p:cNvPr id="62" name="Text 60"/>
          <p:cNvSpPr/>
          <p:nvPr/>
        </p:nvSpPr>
        <p:spPr>
          <a:xfrm>
            <a:off x="4251960" y="1325880"/>
            <a:ext cx="1005840" cy="274320"/>
          </a:xfrm>
          <a:prstGeom prst="rect">
            <a:avLst/>
          </a:prstGeom>
          <a:noFill/>
          <a:ln/>
        </p:spPr>
        <p:txBody>
          <a:bodyPr wrap="square" lIns="0" tIns="0" rIns="0" bIns="0" rtlCol="0" anchor="ctr"/>
          <a:lstStyle/>
          <a:p>
            <a:pPr algn="ctr" indent="0" marL="0">
              <a:buNone/>
            </a:pPr>
            <a:r>
              <a:rPr lang="en-US" sz="1300" b="1" dirty="0">
                <a:solidFill>
                  <a:srgbClr val="6A3FA0"/>
                </a:solidFill>
                <a:latin typeface="Calibri" pitchFamily="34" charset="0"/>
                <a:ea typeface="Calibri" pitchFamily="34" charset="-122"/>
                <a:cs typeface="Calibri" pitchFamily="34" charset="-120"/>
              </a:rPr>
              <a:t>C</a:t>
            </a:r>
            <a:endParaRPr lang="en-US" sz="1300" dirty="0"/>
          </a:p>
        </p:txBody>
      </p:sp>
      <p:sp>
        <p:nvSpPr>
          <p:cNvPr id="63" name="Text 61"/>
          <p:cNvSpPr/>
          <p:nvPr/>
        </p:nvSpPr>
        <p:spPr>
          <a:xfrm>
            <a:off x="4023360" y="4160520"/>
            <a:ext cx="1463040" cy="502920"/>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dry air</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(drying agent)</a:t>
            </a:r>
            <a:endParaRPr lang="en-US" sz="1050" dirty="0"/>
          </a:p>
        </p:txBody>
      </p:sp>
      <p:sp>
        <p:nvSpPr>
          <p:cNvPr id="64" name="Shape 62"/>
          <p:cNvSpPr/>
          <p:nvPr/>
        </p:nvSpPr>
        <p:spPr>
          <a:xfrm>
            <a:off x="4160520" y="4709160"/>
            <a:ext cx="1207008" cy="310896"/>
          </a:xfrm>
          <a:prstGeom prst="roundRect">
            <a:avLst>
              <a:gd name="adj" fmla="val 17647"/>
            </a:avLst>
          </a:prstGeom>
          <a:solidFill>
            <a:srgbClr val="D8F0E2"/>
          </a:solidFill>
          <a:ln w="9525">
            <a:solidFill>
              <a:srgbClr val="2E8B57"/>
            </a:solidFill>
            <a:prstDash val="solid"/>
          </a:ln>
        </p:spPr>
      </p:sp>
      <p:sp>
        <p:nvSpPr>
          <p:cNvPr id="65" name="Text 63"/>
          <p:cNvSpPr/>
          <p:nvPr/>
        </p:nvSpPr>
        <p:spPr>
          <a:xfrm>
            <a:off x="4215384" y="4709160"/>
            <a:ext cx="1097280" cy="31089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no rust</a:t>
            </a:r>
            <a:endParaRPr lang="en-US" sz="1050" dirty="0"/>
          </a:p>
        </p:txBody>
      </p:sp>
      <p:sp>
        <p:nvSpPr>
          <p:cNvPr id="66" name="Text 64"/>
          <p:cNvSpPr/>
          <p:nvPr/>
        </p:nvSpPr>
        <p:spPr>
          <a:xfrm>
            <a:off x="1481328" y="2743200"/>
            <a:ext cx="822960" cy="256032"/>
          </a:xfrm>
          <a:prstGeom prst="rect">
            <a:avLst/>
          </a:prstGeom>
          <a:noFill/>
          <a:ln/>
        </p:spPr>
        <p:txBody>
          <a:bodyPr wrap="square" lIns="0" tIns="0" rIns="0" bIns="0" rtlCol="0" anchor="ctr"/>
          <a:lstStyle/>
          <a:p>
            <a:pPr algn="l" indent="0" marL="0">
              <a:buNone/>
            </a:pPr>
            <a:r>
              <a:rPr lang="en-US" sz="1000" b="1" dirty="0">
                <a:solidFill>
                  <a:srgbClr val="7A3510"/>
                </a:solidFill>
                <a:latin typeface="Calibri" pitchFamily="34" charset="0"/>
                <a:ea typeface="Calibri" pitchFamily="34" charset="-122"/>
                <a:cs typeface="Calibri" pitchFamily="34" charset="-120"/>
              </a:rPr>
              <a:t>rust</a:t>
            </a:r>
            <a:endParaRPr lang="en-US" sz="1000" dirty="0"/>
          </a:p>
        </p:txBody>
      </p:sp>
      <p:sp>
        <p:nvSpPr>
          <p:cNvPr id="67" name="Text 65"/>
          <p:cNvSpPr/>
          <p:nvPr/>
        </p:nvSpPr>
        <p:spPr>
          <a:xfrm>
            <a:off x="3310128" y="1828800"/>
            <a:ext cx="822960" cy="256032"/>
          </a:xfrm>
          <a:prstGeom prst="rect">
            <a:avLst/>
          </a:prstGeom>
          <a:noFill/>
          <a:ln/>
        </p:spPr>
        <p:txBody>
          <a:bodyPr wrap="square" lIns="0" tIns="0" rIns="0" bIns="0" rtlCol="0" anchor="ctr"/>
          <a:lstStyle/>
          <a:p>
            <a:pPr algn="l" indent="0" marL="0">
              <a:buNone/>
            </a:pPr>
            <a:r>
              <a:rPr lang="en-US" sz="1000" b="1" dirty="0">
                <a:solidFill>
                  <a:srgbClr val="B8912A"/>
                </a:solidFill>
                <a:latin typeface="Calibri" pitchFamily="34" charset="0"/>
                <a:ea typeface="Calibri" pitchFamily="34" charset="-122"/>
                <a:cs typeface="Calibri" pitchFamily="34" charset="-120"/>
              </a:rPr>
              <a:t>oil layer</a:t>
            </a:r>
            <a:endParaRPr lang="en-US" sz="1000" dirty="0"/>
          </a:p>
        </p:txBody>
      </p:sp>
      <p:sp>
        <p:nvSpPr>
          <p:cNvPr id="68" name="Text 66"/>
          <p:cNvSpPr/>
          <p:nvPr/>
        </p:nvSpPr>
        <p:spPr>
          <a:xfrm>
            <a:off x="5093208" y="3310128"/>
            <a:ext cx="868680" cy="201168"/>
          </a:xfrm>
          <a:prstGeom prst="rect">
            <a:avLst/>
          </a:prstGeom>
          <a:noFill/>
          <a:ln/>
        </p:spPr>
        <p:txBody>
          <a:bodyPr wrap="square" lIns="0" tIns="0" rIns="0" bIns="0" rtlCol="0" anchor="ctr"/>
          <a:lstStyle/>
          <a:p>
            <a:pPr algn="l" indent="0" marL="0">
              <a:buNone/>
            </a:pPr>
            <a:r>
              <a:rPr lang="en-US" sz="1000" b="1" dirty="0">
                <a:solidFill>
                  <a:srgbClr val="6B7385"/>
                </a:solidFill>
                <a:latin typeface="Calibri" pitchFamily="34" charset="0"/>
                <a:ea typeface="Calibri" pitchFamily="34" charset="-122"/>
                <a:cs typeface="Calibri" pitchFamily="34" charset="-120"/>
              </a:rPr>
              <a:t>cotton wool</a:t>
            </a:r>
            <a:endParaRPr lang="en-US" sz="1000" dirty="0"/>
          </a:p>
        </p:txBody>
      </p:sp>
      <p:sp>
        <p:nvSpPr>
          <p:cNvPr id="69" name="Text 67"/>
          <p:cNvSpPr/>
          <p:nvPr/>
        </p:nvSpPr>
        <p:spPr>
          <a:xfrm>
            <a:off x="5093208" y="3703320"/>
            <a:ext cx="868680" cy="365760"/>
          </a:xfrm>
          <a:prstGeom prst="rect">
            <a:avLst/>
          </a:prstGeom>
          <a:noFill/>
          <a:ln/>
        </p:spPr>
        <p:txBody>
          <a:bodyPr wrap="square" lIns="0" tIns="0" rIns="0" bIns="0" rtlCol="0" anchor="ctr"/>
          <a:lstStyle/>
          <a:p>
            <a:pPr algn="l" indent="0" marL="0">
              <a:buNone/>
            </a:pPr>
            <a:r>
              <a:rPr lang="en-US" sz="1000" b="1" dirty="0">
                <a:solidFill>
                  <a:srgbClr val="6B7385"/>
                </a:solidFill>
                <a:latin typeface="Calibri" pitchFamily="34" charset="0"/>
                <a:ea typeface="Calibri" pitchFamily="34" charset="-122"/>
                <a:cs typeface="Calibri" pitchFamily="34" charset="-120"/>
              </a:rPr>
              <a:t>calcium chloride</a:t>
            </a:r>
            <a:endParaRPr lang="en-US" sz="1000" dirty="0"/>
          </a:p>
        </p:txBody>
      </p:sp>
      <p:sp>
        <p:nvSpPr>
          <p:cNvPr id="70" name="Text 68"/>
          <p:cNvSpPr/>
          <p:nvPr/>
        </p:nvSpPr>
        <p:spPr>
          <a:xfrm>
            <a:off x="548640" y="5138928"/>
            <a:ext cx="5303520" cy="274320"/>
          </a:xfrm>
          <a:prstGeom prst="rect">
            <a:avLst/>
          </a:prstGeom>
          <a:noFill/>
          <a:ln/>
        </p:spPr>
        <p:txBody>
          <a:bodyPr wrap="square" lIns="0" tIns="0" rIns="0" bIns="0" rtlCol="0" anchor="ctr"/>
          <a:lstStyle/>
          <a:p>
            <a:pPr algn="ctr" indent="0" marL="0">
              <a:buNone/>
            </a:pPr>
            <a:r>
              <a:rPr lang="en-US" sz="1100" dirty="0">
                <a:solidFill>
                  <a:srgbClr val="2A1F3D"/>
                </a:solidFill>
                <a:latin typeface="Calibri" pitchFamily="34" charset="0"/>
                <a:ea typeface="Calibri" pitchFamily="34" charset="-122"/>
                <a:cs typeface="Calibri" pitchFamily="34" charset="-120"/>
              </a:rPr>
              <a:t>Only A rusts: iron needs </a:t>
            </a:r>
            <a:r>
              <a:rPr lang="en-US" sz="1100" b="1" dirty="0">
                <a:solidFill>
                  <a:srgbClr val="2A1F3D"/>
                </a:solidFill>
                <a:latin typeface="Calibri" pitchFamily="34" charset="0"/>
                <a:ea typeface="Calibri" pitchFamily="34" charset="-122"/>
                <a:cs typeface="Calibri" pitchFamily="34" charset="-120"/>
              </a:rPr>
              <a:t>both</a:t>
            </a:r>
            <a:r>
              <a:rPr lang="en-US" sz="1100" dirty="0">
                <a:solidFill>
                  <a:srgbClr val="2A1F3D"/>
                </a:solidFill>
                <a:latin typeface="Calibri" pitchFamily="34" charset="0"/>
                <a:ea typeface="Calibri" pitchFamily="34" charset="-122"/>
                <a:cs typeface="Calibri" pitchFamily="34" charset="-120"/>
              </a:rPr>
              <a:t> oxygen </a:t>
            </a:r>
            <a:r>
              <a:rPr lang="en-US" sz="1100" b="1" dirty="0">
                <a:solidFill>
                  <a:srgbClr val="2A1F3D"/>
                </a:solidFill>
                <a:latin typeface="Calibri" pitchFamily="34" charset="0"/>
                <a:ea typeface="Calibri" pitchFamily="34" charset="-122"/>
                <a:cs typeface="Calibri" pitchFamily="34" charset="-120"/>
              </a:rPr>
              <a:t>and</a:t>
            </a:r>
            <a:r>
              <a:rPr lang="en-US" sz="1100" dirty="0">
                <a:solidFill>
                  <a:srgbClr val="2A1F3D"/>
                </a:solidFill>
                <a:latin typeface="Calibri" pitchFamily="34" charset="0"/>
                <a:ea typeface="Calibri" pitchFamily="34" charset="-122"/>
                <a:cs typeface="Calibri" pitchFamily="34" charset="-120"/>
              </a:rPr>
              <a:t> water</a:t>
            </a:r>
            <a:endParaRPr lang="en-US" sz="1100" dirty="0"/>
          </a:p>
        </p:txBody>
      </p:sp>
      <p:sp>
        <p:nvSpPr>
          <p:cNvPr id="71" name="Shape 69"/>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72" name="Text 7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Corrosion</a:t>
            </a:r>
            <a:endParaRPr lang="en-US" sz="1300" dirty="0"/>
          </a:p>
        </p:txBody>
      </p:sp>
      <p:sp>
        <p:nvSpPr>
          <p:cNvPr id="73" name="Text 71"/>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Corrosion</a:t>
            </a:r>
            <a:r>
              <a:rPr lang="en-US" sz="1200" dirty="0">
                <a:solidFill>
                  <a:srgbClr val="262B3A"/>
                </a:solidFill>
                <a:latin typeface="Calibri" pitchFamily="34" charset="0"/>
                <a:ea typeface="Calibri" pitchFamily="34" charset="-122"/>
                <a:cs typeface="Calibri" pitchFamily="34" charset="-120"/>
              </a:rPr>
              <a:t>: a metal reacts with substances around it (oxygen, water) and is slowly </a:t>
            </a:r>
            <a:r>
              <a:rPr lang="en-US" sz="1200" b="1" dirty="0">
                <a:solidFill>
                  <a:srgbClr val="262B3A"/>
                </a:solidFill>
                <a:latin typeface="Calibri" pitchFamily="34" charset="0"/>
                <a:ea typeface="Calibri" pitchFamily="34" charset="-122"/>
                <a:cs typeface="Calibri" pitchFamily="34" charset="-120"/>
              </a:rPr>
              <a:t>oxidised</a:t>
            </a:r>
            <a:r>
              <a:rPr lang="en-US" sz="1200" dirty="0">
                <a:solidFill>
                  <a:srgbClr val="262B3A"/>
                </a:solidFill>
                <a:latin typeface="Calibri" pitchFamily="34" charset="0"/>
                <a:ea typeface="Calibri" pitchFamily="34" charset="-122"/>
                <a:cs typeface="Calibri" pitchFamily="34" charset="-120"/>
              </a:rPr>
              <a:t>.</a:t>
            </a:r>
            <a:endParaRPr lang="en-US" sz="1200" dirty="0"/>
          </a:p>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Rusting</a:t>
            </a:r>
            <a:r>
              <a:rPr lang="en-US" sz="1200" dirty="0">
                <a:solidFill>
                  <a:srgbClr val="262B3A"/>
                </a:solidFill>
                <a:latin typeface="Calibri" pitchFamily="34" charset="0"/>
                <a:ea typeface="Calibri" pitchFamily="34" charset="-122"/>
                <a:cs typeface="Calibri" pitchFamily="34" charset="-120"/>
              </a:rPr>
              <a:t> is the corrosion of </a:t>
            </a:r>
            <a:r>
              <a:rPr lang="en-US" sz="1200" b="1" dirty="0">
                <a:solidFill>
                  <a:srgbClr val="262B3A"/>
                </a:solidFill>
                <a:latin typeface="Calibri" pitchFamily="34" charset="0"/>
                <a:ea typeface="Calibri" pitchFamily="34" charset="-122"/>
                <a:cs typeface="Calibri" pitchFamily="34" charset="-120"/>
              </a:rPr>
              <a:t>iron</a:t>
            </a:r>
            <a:r>
              <a:rPr lang="en-US" sz="1200" dirty="0">
                <a:solidFill>
                  <a:srgbClr val="262B3A"/>
                </a:solidFill>
                <a:latin typeface="Calibri" pitchFamily="34" charset="0"/>
                <a:ea typeface="Calibri" pitchFamily="34" charset="-122"/>
                <a:cs typeface="Calibri" pitchFamily="34" charset="-120"/>
              </a:rPr>
              <a:t> and steel. It needs </a:t>
            </a:r>
            <a:r>
              <a:rPr lang="en-US" sz="1200" b="1" dirty="0">
                <a:solidFill>
                  <a:srgbClr val="262B3A"/>
                </a:solidFill>
                <a:latin typeface="Calibri" pitchFamily="34" charset="0"/>
                <a:ea typeface="Calibri" pitchFamily="34" charset="-122"/>
                <a:cs typeface="Calibri" pitchFamily="34" charset="-120"/>
              </a:rPr>
              <a:t>oxygen</a:t>
            </a:r>
            <a:r>
              <a:rPr lang="en-US" sz="1200" dirty="0">
                <a:solidFill>
                  <a:srgbClr val="262B3A"/>
                </a:solidFill>
                <a:latin typeface="Calibri" pitchFamily="34" charset="0"/>
                <a:ea typeface="Calibri" pitchFamily="34" charset="-122"/>
                <a:cs typeface="Calibri" pitchFamily="34" charset="-120"/>
              </a:rPr>
              <a:t> (air) </a:t>
            </a:r>
            <a:r>
              <a:rPr lang="en-US" sz="1200" b="1" dirty="0">
                <a:solidFill>
                  <a:srgbClr val="262B3A"/>
                </a:solidFill>
                <a:latin typeface="Calibri" pitchFamily="34" charset="0"/>
                <a:ea typeface="Calibri" pitchFamily="34" charset="-122"/>
                <a:cs typeface="Calibri" pitchFamily="34" charset="-120"/>
              </a:rPr>
              <a:t>and</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water</a:t>
            </a:r>
            <a:r>
              <a:rPr lang="en-US" sz="1200" dirty="0">
                <a:solidFill>
                  <a:srgbClr val="262B3A"/>
                </a:solidFill>
                <a:latin typeface="Calibri" pitchFamily="34" charset="0"/>
                <a:ea typeface="Calibri" pitchFamily="34" charset="-122"/>
                <a:cs typeface="Calibri" pitchFamily="34" charset="-120"/>
              </a:rPr>
              <a:t>.</a:t>
            </a:r>
            <a:endParaRPr lang="en-US" sz="1200" dirty="0"/>
          </a:p>
          <a:p>
            <a:pPr marL="152400" indent="-152400">
              <a:spcAft>
                <a:spcPts val="300"/>
              </a:spcAft>
              <a:buSzPct val="100000"/>
              <a:buChar char="▪"/>
            </a:pPr>
            <a:r>
              <a:rPr lang="en-US" sz="1200" b="1" dirty="0">
                <a:solidFill>
                  <a:srgbClr val="262B3A"/>
                </a:solidFill>
                <a:latin typeface="Calibri" pitchFamily="34" charset="0"/>
                <a:ea typeface="Calibri" pitchFamily="34" charset="-122"/>
                <a:cs typeface="Calibri" pitchFamily="34" charset="-120"/>
              </a:rPr>
              <a:t>Salt</a:t>
            </a:r>
            <a:r>
              <a:rPr lang="en-US" sz="1200" dirty="0">
                <a:solidFill>
                  <a:srgbClr val="262B3A"/>
                </a:solidFill>
                <a:latin typeface="Calibri" pitchFamily="34" charset="0"/>
                <a:ea typeface="Calibri" pitchFamily="34" charset="-122"/>
                <a:cs typeface="Calibri" pitchFamily="34" charset="-120"/>
              </a:rPr>
              <a:t> water and </a:t>
            </a:r>
            <a:r>
              <a:rPr lang="en-US" sz="1200" b="1" dirty="0">
                <a:solidFill>
                  <a:srgbClr val="262B3A"/>
                </a:solidFill>
                <a:latin typeface="Calibri" pitchFamily="34" charset="0"/>
                <a:ea typeface="Calibri" pitchFamily="34" charset="-122"/>
                <a:cs typeface="Calibri" pitchFamily="34" charset="-120"/>
              </a:rPr>
              <a:t>acid</a:t>
            </a:r>
            <a:r>
              <a:rPr lang="en-US" sz="1200" dirty="0">
                <a:solidFill>
                  <a:srgbClr val="262B3A"/>
                </a:solidFill>
                <a:latin typeface="Calibri" pitchFamily="34" charset="0"/>
                <a:ea typeface="Calibri" pitchFamily="34" charset="-122"/>
                <a:cs typeface="Calibri" pitchFamily="34" charset="-120"/>
              </a:rPr>
              <a:t> rain make iron rust </a:t>
            </a:r>
            <a:r>
              <a:rPr lang="en-US" sz="1200" b="1" dirty="0">
                <a:solidFill>
                  <a:srgbClr val="262B3A"/>
                </a:solidFill>
                <a:latin typeface="Calibri" pitchFamily="34" charset="0"/>
                <a:ea typeface="Calibri" pitchFamily="34" charset="-122"/>
                <a:cs typeface="Calibri" pitchFamily="34" charset="-120"/>
              </a:rPr>
              <a:t>faster</a:t>
            </a:r>
            <a:r>
              <a:rPr lang="en-US" sz="1200" dirty="0">
                <a:solidFill>
                  <a:srgbClr val="262B3A"/>
                </a:solidFill>
                <a:latin typeface="Calibri" pitchFamily="34" charset="0"/>
                <a:ea typeface="Calibri" pitchFamily="34" charset="-122"/>
                <a:cs typeface="Calibri" pitchFamily="34" charset="-120"/>
              </a:rPr>
              <a:t>.</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Rust is </a:t>
            </a:r>
            <a:r>
              <a:rPr lang="en-US" sz="1200" b="1" dirty="0">
                <a:solidFill>
                  <a:srgbClr val="262B3A"/>
                </a:solidFill>
                <a:latin typeface="Calibri" pitchFamily="34" charset="0"/>
                <a:ea typeface="Calibri" pitchFamily="34" charset="-122"/>
                <a:cs typeface="Calibri" pitchFamily="34" charset="-120"/>
              </a:rPr>
              <a:t>hydrated iron(III) oxide</a:t>
            </a:r>
            <a:r>
              <a:rPr lang="en-US" sz="1200" dirty="0">
                <a:solidFill>
                  <a:srgbClr val="262B3A"/>
                </a:solidFill>
                <a:latin typeface="Calibri" pitchFamily="34" charset="0"/>
                <a:ea typeface="Calibri" pitchFamily="34" charset="-122"/>
                <a:cs typeface="Calibri" pitchFamily="34" charset="-120"/>
              </a:rPr>
              <a:t>. It is weak and </a:t>
            </a:r>
            <a:r>
              <a:rPr lang="en-US" sz="1200" b="1" dirty="0">
                <a:solidFill>
                  <a:srgbClr val="262B3A"/>
                </a:solidFill>
                <a:latin typeface="Calibri" pitchFamily="34" charset="0"/>
                <a:ea typeface="Calibri" pitchFamily="34" charset="-122"/>
                <a:cs typeface="Calibri" pitchFamily="34" charset="-120"/>
              </a:rPr>
              <a:t>flakes off</a:t>
            </a:r>
            <a:r>
              <a:rPr lang="en-US" sz="1200" dirty="0">
                <a:solidFill>
                  <a:srgbClr val="262B3A"/>
                </a:solidFill>
                <a:latin typeface="Calibri" pitchFamily="34" charset="0"/>
                <a:ea typeface="Calibri" pitchFamily="34" charset="-122"/>
                <a:cs typeface="Calibri" pitchFamily="34" charset="-120"/>
              </a:rPr>
              <a:t>, so fresh iron is exposed and rusting continues.</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iron + oxygen + water → hydrated iron(III) oxide</a:t>
            </a:r>
            <a:endParaRPr lang="en-US" sz="1200" dirty="0"/>
          </a:p>
          <a:p>
            <a:pPr indent="0" marL="0">
              <a:spcAft>
                <a:spcPts val="300"/>
              </a:spcAft>
              <a:buNone/>
            </a:pPr>
            <a:r>
              <a:rPr lang="en-US" sz="1200" b="1" dirty="0">
                <a:solidFill>
                  <a:srgbClr val="6A3FA0"/>
                </a:solidFill>
                <a:latin typeface="Calibri" pitchFamily="34" charset="0"/>
                <a:ea typeface="Calibri" pitchFamily="34" charset="-122"/>
                <a:cs typeface="Calibri" pitchFamily="34" charset="-120"/>
              </a:rPr>
              <a:t>4Fe(s) + 3O₂(g) + 6H₂O(l) → 4Fe(OH)₃(s)</a:t>
            </a:r>
            <a:endParaRPr lang="en-US" sz="1200" dirty="0"/>
          </a:p>
        </p:txBody>
      </p:sp>
      <p:sp>
        <p:nvSpPr>
          <p:cNvPr id="74" name="Shape 72"/>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75" name="Text 73"/>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mass gain</a:t>
            </a:r>
            <a:endParaRPr lang="en-US" sz="1300" dirty="0"/>
          </a:p>
        </p:txBody>
      </p:sp>
      <p:sp>
        <p:nvSpPr>
          <p:cNvPr id="76" name="Text 74"/>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5.00 g nail weighs 5.06 g after rusting.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Gain   </a:t>
            </a:r>
            <a:r>
              <a:rPr lang="en-US" sz="1050" dirty="0">
                <a:solidFill>
                  <a:srgbClr val="262B3A"/>
                </a:solidFill>
                <a:latin typeface="Calibri" pitchFamily="34" charset="0"/>
                <a:ea typeface="Calibri" pitchFamily="34" charset="-122"/>
                <a:cs typeface="Calibri" pitchFamily="34" charset="-120"/>
              </a:rPr>
              <a:t>5.06 − 5.00 = 0.06 g (oxygen and water added)</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0.06 ÷ 5.00 × 100 = </a:t>
            </a:r>
            <a:r>
              <a:rPr lang="en-US" sz="1050" b="1" dirty="0">
                <a:solidFill>
                  <a:srgbClr val="C8414C"/>
                </a:solidFill>
                <a:latin typeface="Calibri" pitchFamily="34" charset="0"/>
                <a:ea typeface="Calibri" pitchFamily="34" charset="-122"/>
                <a:cs typeface="Calibri" pitchFamily="34" charset="-120"/>
              </a:rPr>
              <a:t>1.2%</a:t>
            </a:r>
            <a:r>
              <a:rPr lang="en-US" sz="1050" b="1" dirty="0">
                <a:solidFill>
                  <a:srgbClr val="C8414C"/>
                </a:solidFill>
                <a:latin typeface="Calibri" pitchFamily="34" charset="0"/>
                <a:ea typeface="Calibri" pitchFamily="34" charset="-122"/>
                <a:cs typeface="Calibri" pitchFamily="34" charset="-120"/>
              </a:rPr>
              <a:t> increase</a:t>
            </a:r>
            <a:endParaRPr lang="en-US" sz="1050" dirty="0"/>
          </a:p>
        </p:txBody>
      </p:sp>
      <p:sp>
        <p:nvSpPr>
          <p:cNvPr id="77" name="Shape 75"/>
          <p:cNvSpPr/>
          <p:nvPr/>
        </p:nvSpPr>
        <p:spPr>
          <a:xfrm>
            <a:off x="411480" y="5833872"/>
            <a:ext cx="11368735" cy="530352"/>
          </a:xfrm>
          <a:prstGeom prst="rect">
            <a:avLst/>
          </a:prstGeom>
          <a:solidFill>
            <a:srgbClr val="FFF4E0"/>
          </a:solidFill>
          <a:ln w="6350">
            <a:solidFill>
              <a:srgbClr val="F1D9A8"/>
            </a:solidFill>
            <a:prstDash val="solid"/>
          </a:ln>
        </p:spPr>
      </p:sp>
      <p:sp>
        <p:nvSpPr>
          <p:cNvPr id="78" name="Shape 76"/>
          <p:cNvSpPr/>
          <p:nvPr/>
        </p:nvSpPr>
        <p:spPr>
          <a:xfrm>
            <a:off x="411480" y="5833872"/>
            <a:ext cx="82296" cy="530352"/>
          </a:xfrm>
          <a:prstGeom prst="rect">
            <a:avLst/>
          </a:prstGeom>
          <a:solidFill>
            <a:srgbClr val="E39A2F"/>
          </a:solidFill>
          <a:ln w="12700">
            <a:solidFill>
              <a:srgbClr val="E39A2F"/>
            </a:solidFill>
            <a:prstDash val="solid"/>
          </a:ln>
        </p:spPr>
      </p:sp>
      <p:sp>
        <p:nvSpPr>
          <p:cNvPr id="79" name="Text 7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does tube </a:t>
            </a: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use </a:t>
            </a:r>
            <a:r>
              <a:rPr lang="en-US" sz="1150" b="1" dirty="0">
                <a:solidFill>
                  <a:srgbClr val="262B3A"/>
                </a:solidFill>
                <a:latin typeface="Calibri" pitchFamily="34" charset="0"/>
                <a:ea typeface="Calibri" pitchFamily="34" charset="-122"/>
                <a:cs typeface="Calibri" pitchFamily="34" charset="-120"/>
              </a:rPr>
              <a:t>boiled</a:t>
            </a:r>
            <a:r>
              <a:rPr lang="en-US" sz="1150" dirty="0">
                <a:solidFill>
                  <a:srgbClr val="262B3A"/>
                </a:solidFill>
                <a:latin typeface="Calibri" pitchFamily="34" charset="0"/>
                <a:ea typeface="Calibri" pitchFamily="34" charset="-122"/>
                <a:cs typeface="Calibri" pitchFamily="34" charset="-120"/>
              </a:rPr>
              <a:t> water and a layer of </a:t>
            </a:r>
            <a:r>
              <a:rPr lang="en-US" sz="1150" b="1" dirty="0">
                <a:solidFill>
                  <a:srgbClr val="262B3A"/>
                </a:solidFill>
                <a:latin typeface="Calibri" pitchFamily="34" charset="0"/>
                <a:ea typeface="Calibri" pitchFamily="34" charset="-122"/>
                <a:cs typeface="Calibri" pitchFamily="34" charset="-120"/>
              </a:rPr>
              <a:t>oil</a:t>
            </a:r>
            <a:r>
              <a:rPr lang="en-US" sz="1150" dirty="0">
                <a:solidFill>
                  <a:srgbClr val="262B3A"/>
                </a:solidFill>
                <a:latin typeface="Calibri" pitchFamily="34" charset="0"/>
                <a:ea typeface="Calibri" pitchFamily="34" charset="-122"/>
                <a:cs typeface="Calibri" pitchFamily="34" charset="-120"/>
              </a:rPr>
              <a:t>? A 2.50 g nail weighs 2.53 g after a week: what is the % increase?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Corrosion as electron loss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C4.4.1 • the process of corrosion: iron atoms are oxidised</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C4.4.1  |  6</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water drop on iron; ions and electrons not to scale</a:t>
            </a:r>
            <a:endParaRPr lang="en-US" sz="1000" dirty="0"/>
          </a:p>
        </p:txBody>
      </p:sp>
      <p:sp>
        <p:nvSpPr>
          <p:cNvPr id="12" name="Shape 10"/>
          <p:cNvSpPr/>
          <p:nvPr/>
        </p:nvSpPr>
        <p:spPr>
          <a:xfrm>
            <a:off x="1508760" y="2788920"/>
            <a:ext cx="3383280" cy="1920240"/>
          </a:xfrm>
          <a:prstGeom prst="ellipse">
            <a:avLst/>
          </a:prstGeom>
          <a:solidFill>
            <a:srgbClr val="CFE4F7">
              <a:alpha val="90000"/>
            </a:srgbClr>
          </a:solidFill>
          <a:ln w="12700">
            <a:solidFill>
              <a:srgbClr val="5B9BD5"/>
            </a:solidFill>
            <a:prstDash val="solid"/>
          </a:ln>
        </p:spPr>
      </p:sp>
      <p:sp>
        <p:nvSpPr>
          <p:cNvPr id="13" name="Shape 11"/>
          <p:cNvSpPr/>
          <p:nvPr/>
        </p:nvSpPr>
        <p:spPr>
          <a:xfrm>
            <a:off x="685800" y="3749040"/>
            <a:ext cx="5029200" cy="1005840"/>
          </a:xfrm>
          <a:prstGeom prst="rect">
            <a:avLst/>
          </a:prstGeom>
          <a:solidFill>
            <a:srgbClr val="E6E9EE"/>
          </a:solidFill>
          <a:ln w="12700">
            <a:solidFill>
              <a:srgbClr val="5A6275"/>
            </a:solidFill>
            <a:prstDash val="solid"/>
          </a:ln>
        </p:spPr>
      </p:sp>
      <p:sp>
        <p:nvSpPr>
          <p:cNvPr id="14" name="Shape 12"/>
          <p:cNvSpPr/>
          <p:nvPr/>
        </p:nvSpPr>
        <p:spPr>
          <a:xfrm>
            <a:off x="740664" y="3803904"/>
            <a:ext cx="256032" cy="256032"/>
          </a:xfrm>
          <a:prstGeom prst="ellipse">
            <a:avLst/>
          </a:prstGeom>
          <a:solidFill>
            <a:srgbClr val="B9C0CC"/>
          </a:solidFill>
          <a:ln w="9525">
            <a:solidFill>
              <a:srgbClr val="5A6275"/>
            </a:solidFill>
            <a:prstDash val="solid"/>
          </a:ln>
        </p:spPr>
      </p:sp>
      <p:sp>
        <p:nvSpPr>
          <p:cNvPr id="15" name="Shape 13"/>
          <p:cNvSpPr/>
          <p:nvPr/>
        </p:nvSpPr>
        <p:spPr>
          <a:xfrm>
            <a:off x="1074420" y="3803904"/>
            <a:ext cx="256032" cy="256032"/>
          </a:xfrm>
          <a:prstGeom prst="ellipse">
            <a:avLst/>
          </a:prstGeom>
          <a:solidFill>
            <a:srgbClr val="B9C0CC"/>
          </a:solidFill>
          <a:ln w="9525">
            <a:solidFill>
              <a:srgbClr val="5A6275"/>
            </a:solidFill>
            <a:prstDash val="solid"/>
          </a:ln>
        </p:spPr>
      </p:sp>
      <p:sp>
        <p:nvSpPr>
          <p:cNvPr id="16" name="Shape 14"/>
          <p:cNvSpPr/>
          <p:nvPr/>
        </p:nvSpPr>
        <p:spPr>
          <a:xfrm>
            <a:off x="1408176" y="3803904"/>
            <a:ext cx="256032" cy="256032"/>
          </a:xfrm>
          <a:prstGeom prst="ellipse">
            <a:avLst/>
          </a:prstGeom>
          <a:solidFill>
            <a:srgbClr val="B9C0CC"/>
          </a:solidFill>
          <a:ln w="9525">
            <a:solidFill>
              <a:srgbClr val="5A6275"/>
            </a:solidFill>
            <a:prstDash val="solid"/>
          </a:ln>
        </p:spPr>
      </p:sp>
      <p:sp>
        <p:nvSpPr>
          <p:cNvPr id="17" name="Shape 15"/>
          <p:cNvSpPr/>
          <p:nvPr/>
        </p:nvSpPr>
        <p:spPr>
          <a:xfrm>
            <a:off x="1741932" y="3803904"/>
            <a:ext cx="256032" cy="256032"/>
          </a:xfrm>
          <a:prstGeom prst="ellipse">
            <a:avLst/>
          </a:prstGeom>
          <a:solidFill>
            <a:srgbClr val="B9C0CC"/>
          </a:solidFill>
          <a:ln w="9525">
            <a:solidFill>
              <a:srgbClr val="5A6275"/>
            </a:solidFill>
            <a:prstDash val="solid"/>
          </a:ln>
        </p:spPr>
      </p:sp>
      <p:sp>
        <p:nvSpPr>
          <p:cNvPr id="18" name="Shape 16"/>
          <p:cNvSpPr/>
          <p:nvPr/>
        </p:nvSpPr>
        <p:spPr>
          <a:xfrm>
            <a:off x="2075688" y="3803904"/>
            <a:ext cx="256032" cy="256032"/>
          </a:xfrm>
          <a:prstGeom prst="ellipse">
            <a:avLst/>
          </a:prstGeom>
          <a:solidFill>
            <a:srgbClr val="B9C0CC"/>
          </a:solidFill>
          <a:ln w="9525">
            <a:solidFill>
              <a:srgbClr val="5A6275"/>
            </a:solidFill>
            <a:prstDash val="solid"/>
          </a:ln>
        </p:spPr>
      </p:sp>
      <p:sp>
        <p:nvSpPr>
          <p:cNvPr id="19" name="Shape 17"/>
          <p:cNvSpPr/>
          <p:nvPr/>
        </p:nvSpPr>
        <p:spPr>
          <a:xfrm>
            <a:off x="2409444" y="3803904"/>
            <a:ext cx="256032" cy="256032"/>
          </a:xfrm>
          <a:prstGeom prst="ellipse">
            <a:avLst/>
          </a:prstGeom>
          <a:solidFill>
            <a:srgbClr val="B9C0CC"/>
          </a:solidFill>
          <a:ln w="9525">
            <a:solidFill>
              <a:srgbClr val="5A6275"/>
            </a:solidFill>
            <a:prstDash val="solid"/>
          </a:ln>
        </p:spPr>
      </p:sp>
      <p:sp>
        <p:nvSpPr>
          <p:cNvPr id="20" name="Shape 18"/>
          <p:cNvSpPr/>
          <p:nvPr/>
        </p:nvSpPr>
        <p:spPr>
          <a:xfrm>
            <a:off x="2743200" y="3803904"/>
            <a:ext cx="256032" cy="256032"/>
          </a:xfrm>
          <a:prstGeom prst="ellipse">
            <a:avLst/>
          </a:prstGeom>
          <a:solidFill>
            <a:srgbClr val="B9C0CC"/>
          </a:solidFill>
          <a:ln w="9525">
            <a:solidFill>
              <a:srgbClr val="5A6275"/>
            </a:solidFill>
            <a:prstDash val="solid"/>
          </a:ln>
        </p:spPr>
      </p:sp>
      <p:sp>
        <p:nvSpPr>
          <p:cNvPr id="21" name="Shape 19"/>
          <p:cNvSpPr/>
          <p:nvPr/>
        </p:nvSpPr>
        <p:spPr>
          <a:xfrm>
            <a:off x="3076956" y="3803904"/>
            <a:ext cx="256032" cy="256032"/>
          </a:xfrm>
          <a:prstGeom prst="ellipse">
            <a:avLst/>
          </a:prstGeom>
          <a:solidFill>
            <a:srgbClr val="B9C0CC"/>
          </a:solidFill>
          <a:ln w="9525">
            <a:solidFill>
              <a:srgbClr val="5A6275"/>
            </a:solidFill>
            <a:prstDash val="solid"/>
          </a:ln>
        </p:spPr>
      </p:sp>
      <p:sp>
        <p:nvSpPr>
          <p:cNvPr id="22" name="Shape 20"/>
          <p:cNvSpPr/>
          <p:nvPr/>
        </p:nvSpPr>
        <p:spPr>
          <a:xfrm>
            <a:off x="3410712" y="3803904"/>
            <a:ext cx="256032" cy="256032"/>
          </a:xfrm>
          <a:prstGeom prst="ellipse">
            <a:avLst/>
          </a:prstGeom>
          <a:solidFill>
            <a:srgbClr val="B9C0CC"/>
          </a:solidFill>
          <a:ln w="9525">
            <a:solidFill>
              <a:srgbClr val="5A6275"/>
            </a:solidFill>
            <a:prstDash val="solid"/>
          </a:ln>
        </p:spPr>
      </p:sp>
      <p:sp>
        <p:nvSpPr>
          <p:cNvPr id="23" name="Shape 21"/>
          <p:cNvSpPr/>
          <p:nvPr/>
        </p:nvSpPr>
        <p:spPr>
          <a:xfrm>
            <a:off x="3744468" y="3803904"/>
            <a:ext cx="256032" cy="256032"/>
          </a:xfrm>
          <a:prstGeom prst="ellipse">
            <a:avLst/>
          </a:prstGeom>
          <a:solidFill>
            <a:srgbClr val="B9C0CC"/>
          </a:solidFill>
          <a:ln w="9525">
            <a:solidFill>
              <a:srgbClr val="5A6275"/>
            </a:solidFill>
            <a:prstDash val="solid"/>
          </a:ln>
        </p:spPr>
      </p:sp>
      <p:sp>
        <p:nvSpPr>
          <p:cNvPr id="24" name="Shape 22"/>
          <p:cNvSpPr/>
          <p:nvPr/>
        </p:nvSpPr>
        <p:spPr>
          <a:xfrm>
            <a:off x="4078224" y="3803904"/>
            <a:ext cx="256032" cy="256032"/>
          </a:xfrm>
          <a:prstGeom prst="ellipse">
            <a:avLst/>
          </a:prstGeom>
          <a:solidFill>
            <a:srgbClr val="B9C0CC"/>
          </a:solidFill>
          <a:ln w="9525">
            <a:solidFill>
              <a:srgbClr val="5A6275"/>
            </a:solidFill>
            <a:prstDash val="solid"/>
          </a:ln>
        </p:spPr>
      </p:sp>
      <p:sp>
        <p:nvSpPr>
          <p:cNvPr id="25" name="Shape 23"/>
          <p:cNvSpPr/>
          <p:nvPr/>
        </p:nvSpPr>
        <p:spPr>
          <a:xfrm>
            <a:off x="4411980" y="3803904"/>
            <a:ext cx="256032" cy="256032"/>
          </a:xfrm>
          <a:prstGeom prst="ellipse">
            <a:avLst/>
          </a:prstGeom>
          <a:solidFill>
            <a:srgbClr val="B9C0CC"/>
          </a:solidFill>
          <a:ln w="9525">
            <a:solidFill>
              <a:srgbClr val="5A6275"/>
            </a:solidFill>
            <a:prstDash val="solid"/>
          </a:ln>
        </p:spPr>
      </p:sp>
      <p:sp>
        <p:nvSpPr>
          <p:cNvPr id="26" name="Shape 24"/>
          <p:cNvSpPr/>
          <p:nvPr/>
        </p:nvSpPr>
        <p:spPr>
          <a:xfrm>
            <a:off x="4745736" y="3803904"/>
            <a:ext cx="256032" cy="256032"/>
          </a:xfrm>
          <a:prstGeom prst="ellipse">
            <a:avLst/>
          </a:prstGeom>
          <a:solidFill>
            <a:srgbClr val="B9C0CC"/>
          </a:solidFill>
          <a:ln w="9525">
            <a:solidFill>
              <a:srgbClr val="5A6275"/>
            </a:solidFill>
            <a:prstDash val="solid"/>
          </a:ln>
        </p:spPr>
      </p:sp>
      <p:sp>
        <p:nvSpPr>
          <p:cNvPr id="27" name="Shape 25"/>
          <p:cNvSpPr/>
          <p:nvPr/>
        </p:nvSpPr>
        <p:spPr>
          <a:xfrm>
            <a:off x="5079492" y="3803904"/>
            <a:ext cx="256032" cy="256032"/>
          </a:xfrm>
          <a:prstGeom prst="ellipse">
            <a:avLst/>
          </a:prstGeom>
          <a:solidFill>
            <a:srgbClr val="B9C0CC"/>
          </a:solidFill>
          <a:ln w="9525">
            <a:solidFill>
              <a:srgbClr val="5A6275"/>
            </a:solidFill>
            <a:prstDash val="solid"/>
          </a:ln>
        </p:spPr>
      </p:sp>
      <p:sp>
        <p:nvSpPr>
          <p:cNvPr id="28" name="Shape 26"/>
          <p:cNvSpPr/>
          <p:nvPr/>
        </p:nvSpPr>
        <p:spPr>
          <a:xfrm>
            <a:off x="5413248" y="3803904"/>
            <a:ext cx="256032" cy="256032"/>
          </a:xfrm>
          <a:prstGeom prst="ellipse">
            <a:avLst/>
          </a:prstGeom>
          <a:solidFill>
            <a:srgbClr val="B9C0CC"/>
          </a:solidFill>
          <a:ln w="9525">
            <a:solidFill>
              <a:srgbClr val="5A6275"/>
            </a:solidFill>
            <a:prstDash val="solid"/>
          </a:ln>
        </p:spPr>
      </p:sp>
      <p:sp>
        <p:nvSpPr>
          <p:cNvPr id="29" name="Shape 27"/>
          <p:cNvSpPr/>
          <p:nvPr/>
        </p:nvSpPr>
        <p:spPr>
          <a:xfrm>
            <a:off x="740664" y="4105656"/>
            <a:ext cx="256032" cy="256032"/>
          </a:xfrm>
          <a:prstGeom prst="ellipse">
            <a:avLst/>
          </a:prstGeom>
          <a:solidFill>
            <a:srgbClr val="B9C0CC"/>
          </a:solidFill>
          <a:ln w="9525">
            <a:solidFill>
              <a:srgbClr val="5A6275"/>
            </a:solidFill>
            <a:prstDash val="solid"/>
          </a:ln>
        </p:spPr>
      </p:sp>
      <p:sp>
        <p:nvSpPr>
          <p:cNvPr id="30" name="Shape 28"/>
          <p:cNvSpPr/>
          <p:nvPr/>
        </p:nvSpPr>
        <p:spPr>
          <a:xfrm>
            <a:off x="1074420" y="4105656"/>
            <a:ext cx="256032" cy="256032"/>
          </a:xfrm>
          <a:prstGeom prst="ellipse">
            <a:avLst/>
          </a:prstGeom>
          <a:solidFill>
            <a:srgbClr val="B9C0CC"/>
          </a:solidFill>
          <a:ln w="9525">
            <a:solidFill>
              <a:srgbClr val="5A6275"/>
            </a:solidFill>
            <a:prstDash val="solid"/>
          </a:ln>
        </p:spPr>
      </p:sp>
      <p:sp>
        <p:nvSpPr>
          <p:cNvPr id="31" name="Shape 29"/>
          <p:cNvSpPr/>
          <p:nvPr/>
        </p:nvSpPr>
        <p:spPr>
          <a:xfrm>
            <a:off x="1408176" y="4105656"/>
            <a:ext cx="256032" cy="256032"/>
          </a:xfrm>
          <a:prstGeom prst="ellipse">
            <a:avLst/>
          </a:prstGeom>
          <a:solidFill>
            <a:srgbClr val="B9C0CC"/>
          </a:solidFill>
          <a:ln w="9525">
            <a:solidFill>
              <a:srgbClr val="5A6275"/>
            </a:solidFill>
            <a:prstDash val="solid"/>
          </a:ln>
        </p:spPr>
      </p:sp>
      <p:sp>
        <p:nvSpPr>
          <p:cNvPr id="32" name="Shape 30"/>
          <p:cNvSpPr/>
          <p:nvPr/>
        </p:nvSpPr>
        <p:spPr>
          <a:xfrm>
            <a:off x="1741932" y="4105656"/>
            <a:ext cx="256032" cy="256032"/>
          </a:xfrm>
          <a:prstGeom prst="ellipse">
            <a:avLst/>
          </a:prstGeom>
          <a:solidFill>
            <a:srgbClr val="B9C0CC"/>
          </a:solidFill>
          <a:ln w="9525">
            <a:solidFill>
              <a:srgbClr val="5A6275"/>
            </a:solidFill>
            <a:prstDash val="solid"/>
          </a:ln>
        </p:spPr>
      </p:sp>
      <p:sp>
        <p:nvSpPr>
          <p:cNvPr id="33" name="Shape 31"/>
          <p:cNvSpPr/>
          <p:nvPr/>
        </p:nvSpPr>
        <p:spPr>
          <a:xfrm>
            <a:off x="2075688" y="4105656"/>
            <a:ext cx="256032" cy="256032"/>
          </a:xfrm>
          <a:prstGeom prst="ellipse">
            <a:avLst/>
          </a:prstGeom>
          <a:solidFill>
            <a:srgbClr val="B9C0CC"/>
          </a:solidFill>
          <a:ln w="9525">
            <a:solidFill>
              <a:srgbClr val="5A6275"/>
            </a:solidFill>
            <a:prstDash val="solid"/>
          </a:ln>
        </p:spPr>
      </p:sp>
      <p:sp>
        <p:nvSpPr>
          <p:cNvPr id="34" name="Shape 32"/>
          <p:cNvSpPr/>
          <p:nvPr/>
        </p:nvSpPr>
        <p:spPr>
          <a:xfrm>
            <a:off x="2409444" y="4105656"/>
            <a:ext cx="256032" cy="256032"/>
          </a:xfrm>
          <a:prstGeom prst="ellipse">
            <a:avLst/>
          </a:prstGeom>
          <a:solidFill>
            <a:srgbClr val="B9C0CC"/>
          </a:solidFill>
          <a:ln w="9525">
            <a:solidFill>
              <a:srgbClr val="5A6275"/>
            </a:solidFill>
            <a:prstDash val="solid"/>
          </a:ln>
        </p:spPr>
      </p:sp>
      <p:sp>
        <p:nvSpPr>
          <p:cNvPr id="35" name="Shape 33"/>
          <p:cNvSpPr/>
          <p:nvPr/>
        </p:nvSpPr>
        <p:spPr>
          <a:xfrm>
            <a:off x="2743200" y="4105656"/>
            <a:ext cx="256032" cy="256032"/>
          </a:xfrm>
          <a:prstGeom prst="ellipse">
            <a:avLst/>
          </a:prstGeom>
          <a:solidFill>
            <a:srgbClr val="B9C0CC"/>
          </a:solidFill>
          <a:ln w="9525">
            <a:solidFill>
              <a:srgbClr val="5A6275"/>
            </a:solidFill>
            <a:prstDash val="solid"/>
          </a:ln>
        </p:spPr>
      </p:sp>
      <p:sp>
        <p:nvSpPr>
          <p:cNvPr id="36" name="Shape 34"/>
          <p:cNvSpPr/>
          <p:nvPr/>
        </p:nvSpPr>
        <p:spPr>
          <a:xfrm>
            <a:off x="3076956" y="4105656"/>
            <a:ext cx="256032" cy="256032"/>
          </a:xfrm>
          <a:prstGeom prst="ellipse">
            <a:avLst/>
          </a:prstGeom>
          <a:solidFill>
            <a:srgbClr val="B9C0CC"/>
          </a:solidFill>
          <a:ln w="9525">
            <a:solidFill>
              <a:srgbClr val="5A6275"/>
            </a:solidFill>
            <a:prstDash val="solid"/>
          </a:ln>
        </p:spPr>
      </p:sp>
      <p:sp>
        <p:nvSpPr>
          <p:cNvPr id="37" name="Shape 35"/>
          <p:cNvSpPr/>
          <p:nvPr/>
        </p:nvSpPr>
        <p:spPr>
          <a:xfrm>
            <a:off x="3410712" y="4105656"/>
            <a:ext cx="256032" cy="256032"/>
          </a:xfrm>
          <a:prstGeom prst="ellipse">
            <a:avLst/>
          </a:prstGeom>
          <a:solidFill>
            <a:srgbClr val="B9C0CC"/>
          </a:solidFill>
          <a:ln w="9525">
            <a:solidFill>
              <a:srgbClr val="5A6275"/>
            </a:solidFill>
            <a:prstDash val="solid"/>
          </a:ln>
        </p:spPr>
      </p:sp>
      <p:sp>
        <p:nvSpPr>
          <p:cNvPr id="38" name="Shape 36"/>
          <p:cNvSpPr/>
          <p:nvPr/>
        </p:nvSpPr>
        <p:spPr>
          <a:xfrm>
            <a:off x="3744468" y="4105656"/>
            <a:ext cx="256032" cy="256032"/>
          </a:xfrm>
          <a:prstGeom prst="ellipse">
            <a:avLst/>
          </a:prstGeom>
          <a:solidFill>
            <a:srgbClr val="B9C0CC"/>
          </a:solidFill>
          <a:ln w="9525">
            <a:solidFill>
              <a:srgbClr val="5A6275"/>
            </a:solidFill>
            <a:prstDash val="solid"/>
          </a:ln>
        </p:spPr>
      </p:sp>
      <p:sp>
        <p:nvSpPr>
          <p:cNvPr id="39" name="Shape 37"/>
          <p:cNvSpPr/>
          <p:nvPr/>
        </p:nvSpPr>
        <p:spPr>
          <a:xfrm>
            <a:off x="4078224" y="4105656"/>
            <a:ext cx="256032" cy="256032"/>
          </a:xfrm>
          <a:prstGeom prst="ellipse">
            <a:avLst/>
          </a:prstGeom>
          <a:solidFill>
            <a:srgbClr val="B9C0CC"/>
          </a:solidFill>
          <a:ln w="9525">
            <a:solidFill>
              <a:srgbClr val="5A6275"/>
            </a:solidFill>
            <a:prstDash val="solid"/>
          </a:ln>
        </p:spPr>
      </p:sp>
      <p:sp>
        <p:nvSpPr>
          <p:cNvPr id="40" name="Shape 38"/>
          <p:cNvSpPr/>
          <p:nvPr/>
        </p:nvSpPr>
        <p:spPr>
          <a:xfrm>
            <a:off x="4411980" y="4105656"/>
            <a:ext cx="256032" cy="256032"/>
          </a:xfrm>
          <a:prstGeom prst="ellipse">
            <a:avLst/>
          </a:prstGeom>
          <a:solidFill>
            <a:srgbClr val="B9C0CC"/>
          </a:solidFill>
          <a:ln w="9525">
            <a:solidFill>
              <a:srgbClr val="5A6275"/>
            </a:solidFill>
            <a:prstDash val="solid"/>
          </a:ln>
        </p:spPr>
      </p:sp>
      <p:sp>
        <p:nvSpPr>
          <p:cNvPr id="41" name="Shape 39"/>
          <p:cNvSpPr/>
          <p:nvPr/>
        </p:nvSpPr>
        <p:spPr>
          <a:xfrm>
            <a:off x="4745736" y="4105656"/>
            <a:ext cx="256032" cy="256032"/>
          </a:xfrm>
          <a:prstGeom prst="ellipse">
            <a:avLst/>
          </a:prstGeom>
          <a:solidFill>
            <a:srgbClr val="B9C0CC"/>
          </a:solidFill>
          <a:ln w="9525">
            <a:solidFill>
              <a:srgbClr val="5A6275"/>
            </a:solidFill>
            <a:prstDash val="solid"/>
          </a:ln>
        </p:spPr>
      </p:sp>
      <p:sp>
        <p:nvSpPr>
          <p:cNvPr id="42" name="Shape 40"/>
          <p:cNvSpPr/>
          <p:nvPr/>
        </p:nvSpPr>
        <p:spPr>
          <a:xfrm>
            <a:off x="5079492" y="4105656"/>
            <a:ext cx="256032" cy="256032"/>
          </a:xfrm>
          <a:prstGeom prst="ellipse">
            <a:avLst/>
          </a:prstGeom>
          <a:solidFill>
            <a:srgbClr val="B9C0CC"/>
          </a:solidFill>
          <a:ln w="9525">
            <a:solidFill>
              <a:srgbClr val="5A6275"/>
            </a:solidFill>
            <a:prstDash val="solid"/>
          </a:ln>
        </p:spPr>
      </p:sp>
      <p:sp>
        <p:nvSpPr>
          <p:cNvPr id="43" name="Shape 41"/>
          <p:cNvSpPr/>
          <p:nvPr/>
        </p:nvSpPr>
        <p:spPr>
          <a:xfrm>
            <a:off x="5413248" y="4105656"/>
            <a:ext cx="256032" cy="256032"/>
          </a:xfrm>
          <a:prstGeom prst="ellipse">
            <a:avLst/>
          </a:prstGeom>
          <a:solidFill>
            <a:srgbClr val="B9C0CC"/>
          </a:solidFill>
          <a:ln w="9525">
            <a:solidFill>
              <a:srgbClr val="5A6275"/>
            </a:solidFill>
            <a:prstDash val="solid"/>
          </a:ln>
        </p:spPr>
      </p:sp>
      <p:sp>
        <p:nvSpPr>
          <p:cNvPr id="44" name="Shape 42"/>
          <p:cNvSpPr/>
          <p:nvPr/>
        </p:nvSpPr>
        <p:spPr>
          <a:xfrm>
            <a:off x="740664" y="4407408"/>
            <a:ext cx="256032" cy="256032"/>
          </a:xfrm>
          <a:prstGeom prst="ellipse">
            <a:avLst/>
          </a:prstGeom>
          <a:solidFill>
            <a:srgbClr val="B9C0CC"/>
          </a:solidFill>
          <a:ln w="9525">
            <a:solidFill>
              <a:srgbClr val="5A6275"/>
            </a:solidFill>
            <a:prstDash val="solid"/>
          </a:ln>
        </p:spPr>
      </p:sp>
      <p:sp>
        <p:nvSpPr>
          <p:cNvPr id="45" name="Shape 43"/>
          <p:cNvSpPr/>
          <p:nvPr/>
        </p:nvSpPr>
        <p:spPr>
          <a:xfrm>
            <a:off x="1074420" y="4407408"/>
            <a:ext cx="256032" cy="256032"/>
          </a:xfrm>
          <a:prstGeom prst="ellipse">
            <a:avLst/>
          </a:prstGeom>
          <a:solidFill>
            <a:srgbClr val="B9C0CC"/>
          </a:solidFill>
          <a:ln w="9525">
            <a:solidFill>
              <a:srgbClr val="5A6275"/>
            </a:solidFill>
            <a:prstDash val="solid"/>
          </a:ln>
        </p:spPr>
      </p:sp>
      <p:sp>
        <p:nvSpPr>
          <p:cNvPr id="46" name="Shape 44"/>
          <p:cNvSpPr/>
          <p:nvPr/>
        </p:nvSpPr>
        <p:spPr>
          <a:xfrm>
            <a:off x="1408176" y="4407408"/>
            <a:ext cx="256032" cy="256032"/>
          </a:xfrm>
          <a:prstGeom prst="ellipse">
            <a:avLst/>
          </a:prstGeom>
          <a:solidFill>
            <a:srgbClr val="B9C0CC"/>
          </a:solidFill>
          <a:ln w="9525">
            <a:solidFill>
              <a:srgbClr val="5A6275"/>
            </a:solidFill>
            <a:prstDash val="solid"/>
          </a:ln>
        </p:spPr>
      </p:sp>
      <p:sp>
        <p:nvSpPr>
          <p:cNvPr id="47" name="Shape 45"/>
          <p:cNvSpPr/>
          <p:nvPr/>
        </p:nvSpPr>
        <p:spPr>
          <a:xfrm>
            <a:off x="1741932" y="4407408"/>
            <a:ext cx="256032" cy="256032"/>
          </a:xfrm>
          <a:prstGeom prst="ellipse">
            <a:avLst/>
          </a:prstGeom>
          <a:solidFill>
            <a:srgbClr val="B9C0CC"/>
          </a:solidFill>
          <a:ln w="9525">
            <a:solidFill>
              <a:srgbClr val="5A6275"/>
            </a:solidFill>
            <a:prstDash val="solid"/>
          </a:ln>
        </p:spPr>
      </p:sp>
      <p:sp>
        <p:nvSpPr>
          <p:cNvPr id="48" name="Shape 46"/>
          <p:cNvSpPr/>
          <p:nvPr/>
        </p:nvSpPr>
        <p:spPr>
          <a:xfrm>
            <a:off x="2075688" y="4407408"/>
            <a:ext cx="256032" cy="256032"/>
          </a:xfrm>
          <a:prstGeom prst="ellipse">
            <a:avLst/>
          </a:prstGeom>
          <a:solidFill>
            <a:srgbClr val="B9C0CC"/>
          </a:solidFill>
          <a:ln w="9525">
            <a:solidFill>
              <a:srgbClr val="5A6275"/>
            </a:solidFill>
            <a:prstDash val="solid"/>
          </a:ln>
        </p:spPr>
      </p:sp>
      <p:sp>
        <p:nvSpPr>
          <p:cNvPr id="49" name="Shape 47"/>
          <p:cNvSpPr/>
          <p:nvPr/>
        </p:nvSpPr>
        <p:spPr>
          <a:xfrm>
            <a:off x="2409444" y="4407408"/>
            <a:ext cx="256032" cy="256032"/>
          </a:xfrm>
          <a:prstGeom prst="ellipse">
            <a:avLst/>
          </a:prstGeom>
          <a:solidFill>
            <a:srgbClr val="B9C0CC"/>
          </a:solidFill>
          <a:ln w="9525">
            <a:solidFill>
              <a:srgbClr val="5A6275"/>
            </a:solidFill>
            <a:prstDash val="solid"/>
          </a:ln>
        </p:spPr>
      </p:sp>
      <p:sp>
        <p:nvSpPr>
          <p:cNvPr id="50" name="Shape 48"/>
          <p:cNvSpPr/>
          <p:nvPr/>
        </p:nvSpPr>
        <p:spPr>
          <a:xfrm>
            <a:off x="2743200" y="4407408"/>
            <a:ext cx="256032" cy="256032"/>
          </a:xfrm>
          <a:prstGeom prst="ellipse">
            <a:avLst/>
          </a:prstGeom>
          <a:solidFill>
            <a:srgbClr val="B9C0CC"/>
          </a:solidFill>
          <a:ln w="9525">
            <a:solidFill>
              <a:srgbClr val="5A6275"/>
            </a:solidFill>
            <a:prstDash val="solid"/>
          </a:ln>
        </p:spPr>
      </p:sp>
      <p:sp>
        <p:nvSpPr>
          <p:cNvPr id="51" name="Shape 49"/>
          <p:cNvSpPr/>
          <p:nvPr/>
        </p:nvSpPr>
        <p:spPr>
          <a:xfrm>
            <a:off x="3076956" y="4407408"/>
            <a:ext cx="256032" cy="256032"/>
          </a:xfrm>
          <a:prstGeom prst="ellipse">
            <a:avLst/>
          </a:prstGeom>
          <a:solidFill>
            <a:srgbClr val="B9C0CC"/>
          </a:solidFill>
          <a:ln w="9525">
            <a:solidFill>
              <a:srgbClr val="5A6275"/>
            </a:solidFill>
            <a:prstDash val="solid"/>
          </a:ln>
        </p:spPr>
      </p:sp>
      <p:sp>
        <p:nvSpPr>
          <p:cNvPr id="52" name="Shape 50"/>
          <p:cNvSpPr/>
          <p:nvPr/>
        </p:nvSpPr>
        <p:spPr>
          <a:xfrm>
            <a:off x="3410712" y="4407408"/>
            <a:ext cx="256032" cy="256032"/>
          </a:xfrm>
          <a:prstGeom prst="ellipse">
            <a:avLst/>
          </a:prstGeom>
          <a:solidFill>
            <a:srgbClr val="B9C0CC"/>
          </a:solidFill>
          <a:ln w="9525">
            <a:solidFill>
              <a:srgbClr val="5A6275"/>
            </a:solidFill>
            <a:prstDash val="solid"/>
          </a:ln>
        </p:spPr>
      </p:sp>
      <p:sp>
        <p:nvSpPr>
          <p:cNvPr id="53" name="Shape 51"/>
          <p:cNvSpPr/>
          <p:nvPr/>
        </p:nvSpPr>
        <p:spPr>
          <a:xfrm>
            <a:off x="3744468" y="4407408"/>
            <a:ext cx="256032" cy="256032"/>
          </a:xfrm>
          <a:prstGeom prst="ellipse">
            <a:avLst/>
          </a:prstGeom>
          <a:solidFill>
            <a:srgbClr val="B9C0CC"/>
          </a:solidFill>
          <a:ln w="9525">
            <a:solidFill>
              <a:srgbClr val="5A6275"/>
            </a:solidFill>
            <a:prstDash val="solid"/>
          </a:ln>
        </p:spPr>
      </p:sp>
      <p:sp>
        <p:nvSpPr>
          <p:cNvPr id="54" name="Shape 52"/>
          <p:cNvSpPr/>
          <p:nvPr/>
        </p:nvSpPr>
        <p:spPr>
          <a:xfrm>
            <a:off x="4078224" y="4407408"/>
            <a:ext cx="256032" cy="256032"/>
          </a:xfrm>
          <a:prstGeom prst="ellipse">
            <a:avLst/>
          </a:prstGeom>
          <a:solidFill>
            <a:srgbClr val="B9C0CC"/>
          </a:solidFill>
          <a:ln w="9525">
            <a:solidFill>
              <a:srgbClr val="5A6275"/>
            </a:solidFill>
            <a:prstDash val="solid"/>
          </a:ln>
        </p:spPr>
      </p:sp>
      <p:sp>
        <p:nvSpPr>
          <p:cNvPr id="55" name="Shape 53"/>
          <p:cNvSpPr/>
          <p:nvPr/>
        </p:nvSpPr>
        <p:spPr>
          <a:xfrm>
            <a:off x="4411980" y="4407408"/>
            <a:ext cx="256032" cy="256032"/>
          </a:xfrm>
          <a:prstGeom prst="ellipse">
            <a:avLst/>
          </a:prstGeom>
          <a:solidFill>
            <a:srgbClr val="B9C0CC"/>
          </a:solidFill>
          <a:ln w="9525">
            <a:solidFill>
              <a:srgbClr val="5A6275"/>
            </a:solidFill>
            <a:prstDash val="solid"/>
          </a:ln>
        </p:spPr>
      </p:sp>
      <p:sp>
        <p:nvSpPr>
          <p:cNvPr id="56" name="Shape 54"/>
          <p:cNvSpPr/>
          <p:nvPr/>
        </p:nvSpPr>
        <p:spPr>
          <a:xfrm>
            <a:off x="4745736" y="4407408"/>
            <a:ext cx="256032" cy="256032"/>
          </a:xfrm>
          <a:prstGeom prst="ellipse">
            <a:avLst/>
          </a:prstGeom>
          <a:solidFill>
            <a:srgbClr val="B9C0CC"/>
          </a:solidFill>
          <a:ln w="9525">
            <a:solidFill>
              <a:srgbClr val="5A6275"/>
            </a:solidFill>
            <a:prstDash val="solid"/>
          </a:ln>
        </p:spPr>
      </p:sp>
      <p:sp>
        <p:nvSpPr>
          <p:cNvPr id="57" name="Shape 55"/>
          <p:cNvSpPr/>
          <p:nvPr/>
        </p:nvSpPr>
        <p:spPr>
          <a:xfrm>
            <a:off x="5079492" y="4407408"/>
            <a:ext cx="256032" cy="256032"/>
          </a:xfrm>
          <a:prstGeom prst="ellipse">
            <a:avLst/>
          </a:prstGeom>
          <a:solidFill>
            <a:srgbClr val="B9C0CC"/>
          </a:solidFill>
          <a:ln w="9525">
            <a:solidFill>
              <a:srgbClr val="5A6275"/>
            </a:solidFill>
            <a:prstDash val="solid"/>
          </a:ln>
        </p:spPr>
      </p:sp>
      <p:sp>
        <p:nvSpPr>
          <p:cNvPr id="58" name="Shape 56"/>
          <p:cNvSpPr/>
          <p:nvPr/>
        </p:nvSpPr>
        <p:spPr>
          <a:xfrm>
            <a:off x="5413248" y="4407408"/>
            <a:ext cx="256032" cy="256032"/>
          </a:xfrm>
          <a:prstGeom prst="ellipse">
            <a:avLst/>
          </a:prstGeom>
          <a:solidFill>
            <a:srgbClr val="B9C0CC"/>
          </a:solidFill>
          <a:ln w="9525">
            <a:solidFill>
              <a:srgbClr val="5A6275"/>
            </a:solidFill>
            <a:prstDash val="solid"/>
          </a:ln>
        </p:spPr>
      </p:sp>
      <p:sp>
        <p:nvSpPr>
          <p:cNvPr id="59" name="Text 57"/>
          <p:cNvSpPr/>
          <p:nvPr/>
        </p:nvSpPr>
        <p:spPr>
          <a:xfrm>
            <a:off x="685800" y="4800600"/>
            <a:ext cx="5029200" cy="2286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iron</a:t>
            </a:r>
            <a:r>
              <a:rPr lang="en-US" sz="1050" dirty="0">
                <a:solidFill>
                  <a:srgbClr val="262B3A"/>
                </a:solidFill>
                <a:latin typeface="Calibri" pitchFamily="34" charset="0"/>
                <a:ea typeface="Calibri" pitchFamily="34" charset="-122"/>
                <a:cs typeface="Calibri" pitchFamily="34" charset="-120"/>
              </a:rPr>
              <a:t> (giant metallic lattice): electrons flow through the metal</a:t>
            </a:r>
            <a:endParaRPr lang="en-US" sz="1050" dirty="0"/>
          </a:p>
        </p:txBody>
      </p:sp>
      <p:sp>
        <p:nvSpPr>
          <p:cNvPr id="60" name="Text 58"/>
          <p:cNvSpPr/>
          <p:nvPr/>
        </p:nvSpPr>
        <p:spPr>
          <a:xfrm>
            <a:off x="2286000" y="2834640"/>
            <a:ext cx="1828800" cy="201168"/>
          </a:xfrm>
          <a:prstGeom prst="rect">
            <a:avLst/>
          </a:prstGeom>
          <a:noFill/>
          <a:ln/>
        </p:spPr>
        <p:txBody>
          <a:bodyPr wrap="square" lIns="0" tIns="0" rIns="0" bIns="0" rtlCol="0" anchor="ctr"/>
          <a:lstStyle/>
          <a:p>
            <a:pPr algn="ctr" indent="0" marL="0">
              <a:buNone/>
            </a:pPr>
            <a:r>
              <a:rPr lang="en-US" sz="1050" b="1" dirty="0">
                <a:solidFill>
                  <a:srgbClr val="5B9BD5"/>
                </a:solidFill>
                <a:latin typeface="Calibri" pitchFamily="34" charset="0"/>
                <a:ea typeface="Calibri" pitchFamily="34" charset="-122"/>
                <a:cs typeface="Calibri" pitchFamily="34" charset="-120"/>
              </a:rPr>
              <a:t>water drop</a:t>
            </a:r>
            <a:endParaRPr lang="en-US" sz="1050" dirty="0"/>
          </a:p>
        </p:txBody>
      </p:sp>
      <p:sp>
        <p:nvSpPr>
          <p:cNvPr id="61" name="Shape 59"/>
          <p:cNvSpPr/>
          <p:nvPr/>
        </p:nvSpPr>
        <p:spPr>
          <a:xfrm>
            <a:off x="3035808" y="3200400"/>
            <a:ext cx="329184" cy="329184"/>
          </a:xfrm>
          <a:prstGeom prst="ellipse">
            <a:avLst/>
          </a:prstGeom>
          <a:solidFill>
            <a:srgbClr val="F2B279"/>
          </a:solidFill>
          <a:ln w="9525">
            <a:solidFill>
              <a:srgbClr val="A4561C"/>
            </a:solidFill>
            <a:prstDash val="solid"/>
          </a:ln>
        </p:spPr>
      </p:sp>
      <p:sp>
        <p:nvSpPr>
          <p:cNvPr id="62" name="Text 60"/>
          <p:cNvSpPr/>
          <p:nvPr/>
        </p:nvSpPr>
        <p:spPr>
          <a:xfrm>
            <a:off x="2926080" y="3236976"/>
            <a:ext cx="548640" cy="256032"/>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Fe²⁺</a:t>
            </a:r>
            <a:endParaRPr lang="en-US" sz="1000" dirty="0"/>
          </a:p>
        </p:txBody>
      </p:sp>
      <p:sp>
        <p:nvSpPr>
          <p:cNvPr id="63" name="Shape 61"/>
          <p:cNvSpPr/>
          <p:nvPr/>
        </p:nvSpPr>
        <p:spPr>
          <a:xfrm flipV="1">
            <a:off x="3200400" y="3547872"/>
            <a:ext cx="91" cy="219456"/>
          </a:xfrm>
          <a:prstGeom prst="line">
            <a:avLst/>
          </a:prstGeom>
          <a:noFill/>
          <a:ln w="19050">
            <a:solidFill>
              <a:srgbClr val="A4561C"/>
            </a:solidFill>
            <a:prstDash val="solid"/>
            <a:tailEnd type="triangle"/>
          </a:ln>
        </p:spPr>
      </p:sp>
      <p:sp>
        <p:nvSpPr>
          <p:cNvPr id="64" name="Text 62"/>
          <p:cNvSpPr/>
          <p:nvPr/>
        </p:nvSpPr>
        <p:spPr>
          <a:xfrm>
            <a:off x="2103120" y="3035808"/>
            <a:ext cx="2194560" cy="201168"/>
          </a:xfrm>
          <a:prstGeom prst="rect">
            <a:avLst/>
          </a:prstGeom>
          <a:noFill/>
          <a:ln/>
        </p:spPr>
        <p:txBody>
          <a:bodyPr wrap="square" lIns="0" tIns="0" rIns="0" bIns="0" rtlCol="0" anchor="ctr"/>
          <a:lstStyle/>
          <a:p>
            <a:pPr algn="ctr" indent="0" marL="0">
              <a:buNone/>
            </a:pPr>
            <a:r>
              <a:rPr lang="en-US" sz="1000" b="1" dirty="0">
                <a:solidFill>
                  <a:srgbClr val="A4561C"/>
                </a:solidFill>
                <a:latin typeface="Calibri" pitchFamily="34" charset="0"/>
                <a:ea typeface="Calibri" pitchFamily="34" charset="-122"/>
                <a:cs typeface="Calibri" pitchFamily="34" charset="-120"/>
              </a:rPr>
              <a:t>centre: Fe loses electrons</a:t>
            </a:r>
            <a:endParaRPr lang="en-US" sz="1000" dirty="0"/>
          </a:p>
        </p:txBody>
      </p:sp>
      <p:sp>
        <p:nvSpPr>
          <p:cNvPr id="65" name="Shape 63"/>
          <p:cNvSpPr/>
          <p:nvPr/>
        </p:nvSpPr>
        <p:spPr>
          <a:xfrm>
            <a:off x="1851660" y="3863340"/>
            <a:ext cx="137160" cy="137160"/>
          </a:xfrm>
          <a:prstGeom prst="ellipse">
            <a:avLst/>
          </a:prstGeom>
          <a:solidFill>
            <a:srgbClr val="F5D547"/>
          </a:solidFill>
          <a:ln w="9525">
            <a:solidFill>
              <a:srgbClr val="B8912A"/>
            </a:solidFill>
            <a:prstDash val="solid"/>
          </a:ln>
        </p:spPr>
      </p:sp>
      <p:sp>
        <p:nvSpPr>
          <p:cNvPr id="66" name="Shape 64"/>
          <p:cNvSpPr/>
          <p:nvPr/>
        </p:nvSpPr>
        <p:spPr>
          <a:xfrm>
            <a:off x="2217420" y="3863340"/>
            <a:ext cx="137160" cy="137160"/>
          </a:xfrm>
          <a:prstGeom prst="ellipse">
            <a:avLst/>
          </a:prstGeom>
          <a:solidFill>
            <a:srgbClr val="F5D547"/>
          </a:solidFill>
          <a:ln w="9525">
            <a:solidFill>
              <a:srgbClr val="B8912A"/>
            </a:solidFill>
            <a:prstDash val="solid"/>
          </a:ln>
        </p:spPr>
      </p:sp>
      <p:sp>
        <p:nvSpPr>
          <p:cNvPr id="67" name="Shape 65"/>
          <p:cNvSpPr/>
          <p:nvPr/>
        </p:nvSpPr>
        <p:spPr>
          <a:xfrm>
            <a:off x="4046220" y="3863340"/>
            <a:ext cx="137160" cy="137160"/>
          </a:xfrm>
          <a:prstGeom prst="ellipse">
            <a:avLst/>
          </a:prstGeom>
          <a:solidFill>
            <a:srgbClr val="F5D547"/>
          </a:solidFill>
          <a:ln w="9525">
            <a:solidFill>
              <a:srgbClr val="B8912A"/>
            </a:solidFill>
            <a:prstDash val="solid"/>
          </a:ln>
        </p:spPr>
      </p:sp>
      <p:sp>
        <p:nvSpPr>
          <p:cNvPr id="68" name="Shape 66"/>
          <p:cNvSpPr/>
          <p:nvPr/>
        </p:nvSpPr>
        <p:spPr>
          <a:xfrm>
            <a:off x="4411980" y="3863340"/>
            <a:ext cx="137160" cy="137160"/>
          </a:xfrm>
          <a:prstGeom prst="ellipse">
            <a:avLst/>
          </a:prstGeom>
          <a:solidFill>
            <a:srgbClr val="F5D547"/>
          </a:solidFill>
          <a:ln w="9525">
            <a:solidFill>
              <a:srgbClr val="B8912A"/>
            </a:solidFill>
            <a:prstDash val="solid"/>
          </a:ln>
        </p:spPr>
      </p:sp>
      <p:sp>
        <p:nvSpPr>
          <p:cNvPr id="69" name="Shape 67"/>
          <p:cNvSpPr/>
          <p:nvPr/>
        </p:nvSpPr>
        <p:spPr>
          <a:xfrm flipH="1">
            <a:off x="2423160" y="3931920"/>
            <a:ext cx="548640" cy="91"/>
          </a:xfrm>
          <a:prstGeom prst="line">
            <a:avLst/>
          </a:prstGeom>
          <a:noFill/>
          <a:ln w="22225">
            <a:solidFill>
              <a:srgbClr val="B8912A"/>
            </a:solidFill>
            <a:prstDash val="solid"/>
            <a:tailEnd type="triangle"/>
          </a:ln>
        </p:spPr>
      </p:sp>
      <p:sp>
        <p:nvSpPr>
          <p:cNvPr id="70" name="Shape 68"/>
          <p:cNvSpPr/>
          <p:nvPr/>
        </p:nvSpPr>
        <p:spPr>
          <a:xfrm>
            <a:off x="3429000" y="3931920"/>
            <a:ext cx="548640" cy="91"/>
          </a:xfrm>
          <a:prstGeom prst="line">
            <a:avLst/>
          </a:prstGeom>
          <a:noFill/>
          <a:ln w="22225">
            <a:solidFill>
              <a:srgbClr val="B8912A"/>
            </a:solidFill>
            <a:prstDash val="solid"/>
            <a:tailEnd type="triangle"/>
          </a:ln>
        </p:spPr>
      </p:sp>
      <p:sp>
        <p:nvSpPr>
          <p:cNvPr id="71" name="Text 69"/>
          <p:cNvSpPr/>
          <p:nvPr/>
        </p:nvSpPr>
        <p:spPr>
          <a:xfrm>
            <a:off x="1874520" y="3566160"/>
            <a:ext cx="548640" cy="182880"/>
          </a:xfrm>
          <a:prstGeom prst="rect">
            <a:avLst/>
          </a:prstGeom>
          <a:noFill/>
          <a:ln/>
        </p:spPr>
        <p:txBody>
          <a:bodyPr wrap="square" lIns="0" tIns="0" rIns="0" bIns="0" rtlCol="0" anchor="ctr"/>
          <a:lstStyle/>
          <a:p>
            <a:pPr algn="ctr" indent="0" marL="0">
              <a:buNone/>
            </a:pPr>
            <a:r>
              <a:rPr lang="en-US" sz="1050" dirty="0">
                <a:solidFill>
                  <a:srgbClr val="B8912A"/>
                </a:solidFill>
                <a:latin typeface="Calibri" pitchFamily="34" charset="0"/>
                <a:ea typeface="Calibri" pitchFamily="34" charset="-122"/>
                <a:cs typeface="Calibri" pitchFamily="34" charset="-120"/>
              </a:rPr>
              <a:t>← </a:t>
            </a:r>
            <a:r>
              <a:rPr lang="en-US" sz="1050" b="1" dirty="0">
                <a:solidFill>
                  <a:srgbClr val="B8912A"/>
                </a:solidFill>
                <a:latin typeface="Calibri" pitchFamily="34" charset="0"/>
                <a:ea typeface="Calibri" pitchFamily="34" charset="-122"/>
                <a:cs typeface="Calibri" pitchFamily="34" charset="-120"/>
              </a:rPr>
              <a:t>e⁻</a:t>
            </a:r>
            <a:endParaRPr lang="en-US" sz="1050" dirty="0"/>
          </a:p>
        </p:txBody>
      </p:sp>
      <p:sp>
        <p:nvSpPr>
          <p:cNvPr id="72" name="Text 70"/>
          <p:cNvSpPr/>
          <p:nvPr/>
        </p:nvSpPr>
        <p:spPr>
          <a:xfrm>
            <a:off x="3977640" y="3566160"/>
            <a:ext cx="548640" cy="182880"/>
          </a:xfrm>
          <a:prstGeom prst="rect">
            <a:avLst/>
          </a:prstGeom>
          <a:noFill/>
          <a:ln/>
        </p:spPr>
        <p:txBody>
          <a:bodyPr wrap="square" lIns="0" tIns="0" rIns="0" bIns="0" rtlCol="0" anchor="ctr"/>
          <a:lstStyle/>
          <a:p>
            <a:pPr algn="ctr" indent="0" marL="0">
              <a:buNone/>
            </a:pPr>
            <a:r>
              <a:rPr lang="en-US" sz="1050" b="1" dirty="0">
                <a:solidFill>
                  <a:srgbClr val="B8912A"/>
                </a:solidFill>
                <a:latin typeface="Calibri" pitchFamily="34" charset="0"/>
                <a:ea typeface="Calibri" pitchFamily="34" charset="-122"/>
                <a:cs typeface="Calibri" pitchFamily="34" charset="-120"/>
              </a:rPr>
              <a:t>e⁻</a:t>
            </a:r>
            <a:r>
              <a:rPr lang="en-US" sz="1050" dirty="0">
                <a:solidFill>
                  <a:srgbClr val="B8912A"/>
                </a:solidFill>
                <a:latin typeface="Calibri" pitchFamily="34" charset="0"/>
                <a:ea typeface="Calibri" pitchFamily="34" charset="-122"/>
                <a:cs typeface="Calibri" pitchFamily="34" charset="-120"/>
              </a:rPr>
              <a:t> →</a:t>
            </a:r>
            <a:endParaRPr lang="en-US" sz="1050" dirty="0"/>
          </a:p>
        </p:txBody>
      </p:sp>
      <p:sp>
        <p:nvSpPr>
          <p:cNvPr id="73" name="Shape 71"/>
          <p:cNvSpPr/>
          <p:nvPr/>
        </p:nvSpPr>
        <p:spPr>
          <a:xfrm>
            <a:off x="1600200" y="3154680"/>
            <a:ext cx="182880" cy="457200"/>
          </a:xfrm>
          <a:prstGeom prst="line">
            <a:avLst/>
          </a:prstGeom>
          <a:noFill/>
          <a:ln w="19050">
            <a:solidFill>
              <a:srgbClr val="6A3FA0"/>
            </a:solidFill>
            <a:prstDash val="solid"/>
            <a:tailEnd type="triangle"/>
          </a:ln>
        </p:spPr>
      </p:sp>
      <p:sp>
        <p:nvSpPr>
          <p:cNvPr id="74" name="Shape 72"/>
          <p:cNvSpPr/>
          <p:nvPr/>
        </p:nvSpPr>
        <p:spPr>
          <a:xfrm flipH="1">
            <a:off x="4617720" y="3154680"/>
            <a:ext cx="182880" cy="457200"/>
          </a:xfrm>
          <a:prstGeom prst="line">
            <a:avLst/>
          </a:prstGeom>
          <a:noFill/>
          <a:ln w="19050">
            <a:solidFill>
              <a:srgbClr val="6A3FA0"/>
            </a:solidFill>
            <a:prstDash val="solid"/>
            <a:tailEnd type="triangle"/>
          </a:ln>
        </p:spPr>
      </p:sp>
      <p:sp>
        <p:nvSpPr>
          <p:cNvPr id="75" name="Text 73"/>
          <p:cNvSpPr/>
          <p:nvPr/>
        </p:nvSpPr>
        <p:spPr>
          <a:xfrm>
            <a:off x="548640" y="2697480"/>
            <a:ext cx="1554480" cy="411480"/>
          </a:xfrm>
          <a:prstGeom prst="rect">
            <a:avLst/>
          </a:prstGeom>
          <a:noFill/>
          <a:ln/>
        </p:spPr>
        <p:txBody>
          <a:bodyPr wrap="square" lIns="0" tIns="0" rIns="0" bIns="0" rtlCol="0" anchor="ctr"/>
          <a:lstStyle/>
          <a:p>
            <a:pPr algn="ctr" indent="0" marL="0">
              <a:buNone/>
            </a:pPr>
            <a:r>
              <a:rPr lang="en-US" sz="1000" b="1" dirty="0">
                <a:solidFill>
                  <a:srgbClr val="6A3FA0"/>
                </a:solidFill>
                <a:latin typeface="Calibri" pitchFamily="34" charset="0"/>
                <a:ea typeface="Calibri" pitchFamily="34" charset="-122"/>
                <a:cs typeface="Calibri" pitchFamily="34" charset="-120"/>
              </a:rPr>
              <a:t>edge: O₂ from air</a:t>
            </a:r>
            <a:endParaRPr lang="en-US" sz="1000" dirty="0"/>
          </a:p>
          <a:p>
            <a:pPr algn="ctr" indent="0" marL="0">
              <a:buNone/>
            </a:pPr>
            <a:r>
              <a:rPr lang="en-US" sz="1000" b="1" dirty="0">
                <a:solidFill>
                  <a:srgbClr val="6A3FA0"/>
                </a:solidFill>
                <a:latin typeface="Calibri" pitchFamily="34" charset="0"/>
                <a:ea typeface="Calibri" pitchFamily="34" charset="-122"/>
                <a:cs typeface="Calibri" pitchFamily="34" charset="-120"/>
              </a:rPr>
              <a:t>gains electrons</a:t>
            </a:r>
            <a:endParaRPr lang="en-US" sz="1000" dirty="0"/>
          </a:p>
        </p:txBody>
      </p:sp>
      <p:sp>
        <p:nvSpPr>
          <p:cNvPr id="76" name="Text 74"/>
          <p:cNvSpPr/>
          <p:nvPr/>
        </p:nvSpPr>
        <p:spPr>
          <a:xfrm>
            <a:off x="4297680" y="2697480"/>
            <a:ext cx="1554480" cy="411480"/>
          </a:xfrm>
          <a:prstGeom prst="rect">
            <a:avLst/>
          </a:prstGeom>
          <a:noFill/>
          <a:ln/>
        </p:spPr>
        <p:txBody>
          <a:bodyPr wrap="square" lIns="0" tIns="0" rIns="0" bIns="0" rtlCol="0" anchor="ctr"/>
          <a:lstStyle/>
          <a:p>
            <a:pPr algn="ctr" indent="0" marL="0">
              <a:buNone/>
            </a:pPr>
            <a:r>
              <a:rPr lang="en-US" sz="1000" b="1" dirty="0">
                <a:solidFill>
                  <a:srgbClr val="6A3FA0"/>
                </a:solidFill>
                <a:latin typeface="Calibri" pitchFamily="34" charset="0"/>
                <a:ea typeface="Calibri" pitchFamily="34" charset="-122"/>
                <a:cs typeface="Calibri" pitchFamily="34" charset="-120"/>
              </a:rPr>
              <a:t>edge: O₂ from air</a:t>
            </a:r>
            <a:endParaRPr lang="en-US" sz="1000" dirty="0"/>
          </a:p>
          <a:p>
            <a:pPr algn="ctr" indent="0" marL="0">
              <a:buNone/>
            </a:pPr>
            <a:r>
              <a:rPr lang="en-US" sz="1000" b="1" dirty="0">
                <a:solidFill>
                  <a:srgbClr val="6A3FA0"/>
                </a:solidFill>
                <a:latin typeface="Calibri" pitchFamily="34" charset="0"/>
                <a:ea typeface="Calibri" pitchFamily="34" charset="-122"/>
                <a:cs typeface="Calibri" pitchFamily="34" charset="-120"/>
              </a:rPr>
              <a:t>gains electrons</a:t>
            </a:r>
            <a:endParaRPr lang="en-US" sz="1000" dirty="0"/>
          </a:p>
        </p:txBody>
      </p:sp>
      <p:sp>
        <p:nvSpPr>
          <p:cNvPr id="77" name="Shape 75"/>
          <p:cNvSpPr/>
          <p:nvPr/>
        </p:nvSpPr>
        <p:spPr>
          <a:xfrm>
            <a:off x="685800" y="1371600"/>
            <a:ext cx="5029200" cy="365760"/>
          </a:xfrm>
          <a:prstGeom prst="roundRect">
            <a:avLst>
              <a:gd name="adj" fmla="val 12500"/>
            </a:avLst>
          </a:prstGeom>
          <a:solidFill>
            <a:srgbClr val="FFFFFF"/>
          </a:solidFill>
          <a:ln w="12700">
            <a:solidFill>
              <a:srgbClr val="DDD3EC"/>
            </a:solidFill>
            <a:prstDash val="solid"/>
          </a:ln>
        </p:spPr>
      </p:sp>
      <p:sp>
        <p:nvSpPr>
          <p:cNvPr id="78" name="Text 76"/>
          <p:cNvSpPr/>
          <p:nvPr/>
        </p:nvSpPr>
        <p:spPr>
          <a:xfrm>
            <a:off x="758952" y="1371600"/>
            <a:ext cx="4882896" cy="365760"/>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Fe(s) → Fe²⁺(aq) + 2e⁻      oxidation (loss of electrons)</a:t>
            </a:r>
            <a:endParaRPr lang="en-US" sz="1150" dirty="0"/>
          </a:p>
        </p:txBody>
      </p:sp>
      <p:sp>
        <p:nvSpPr>
          <p:cNvPr id="79" name="Shape 77"/>
          <p:cNvSpPr/>
          <p:nvPr/>
        </p:nvSpPr>
        <p:spPr>
          <a:xfrm>
            <a:off x="685800" y="1810512"/>
            <a:ext cx="5029200" cy="365760"/>
          </a:xfrm>
          <a:prstGeom prst="roundRect">
            <a:avLst>
              <a:gd name="adj" fmla="val 12500"/>
            </a:avLst>
          </a:prstGeom>
          <a:solidFill>
            <a:srgbClr val="FFFFFF"/>
          </a:solidFill>
          <a:ln w="12700">
            <a:solidFill>
              <a:srgbClr val="DDD3EC"/>
            </a:solidFill>
            <a:prstDash val="solid"/>
          </a:ln>
        </p:spPr>
      </p:sp>
      <p:sp>
        <p:nvSpPr>
          <p:cNvPr id="80" name="Text 78"/>
          <p:cNvSpPr/>
          <p:nvPr/>
        </p:nvSpPr>
        <p:spPr>
          <a:xfrm>
            <a:off x="758952" y="1810512"/>
            <a:ext cx="4882896" cy="365760"/>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O₂(g) + 2H₂O(l) + 4e⁻ → 4OH⁻(aq)      reduction (gain)</a:t>
            </a:r>
            <a:endParaRPr lang="en-US" sz="1150" dirty="0"/>
          </a:p>
        </p:txBody>
      </p:sp>
      <p:sp>
        <p:nvSpPr>
          <p:cNvPr id="81" name="Text 79"/>
          <p:cNvSpPr/>
          <p:nvPr/>
        </p:nvSpPr>
        <p:spPr>
          <a:xfrm>
            <a:off x="685800" y="2212848"/>
            <a:ext cx="5029200" cy="256032"/>
          </a:xfrm>
          <a:prstGeom prst="rect">
            <a:avLst/>
          </a:prstGeom>
          <a:noFill/>
          <a:ln/>
        </p:spPr>
        <p:txBody>
          <a:bodyPr wrap="square" lIns="0" tIns="0" rIns="0" bIns="0" rtlCol="0" anchor="ctr"/>
          <a:lstStyle/>
          <a:p>
            <a:pPr algn="ctr" indent="0" marL="0">
              <a:buNone/>
            </a:pPr>
            <a:r>
              <a:rPr lang="en-US" sz="1050" dirty="0">
                <a:solidFill>
                  <a:srgbClr val="7A3510"/>
                </a:solidFill>
                <a:latin typeface="Calibri" pitchFamily="34" charset="0"/>
                <a:ea typeface="Calibri" pitchFamily="34" charset="-122"/>
                <a:cs typeface="Calibri" pitchFamily="34" charset="-120"/>
              </a:rPr>
              <a:t>Fe²⁺ + OH⁻ → iron hydroxide → (more O₂) → </a:t>
            </a:r>
            <a:r>
              <a:rPr lang="en-US" sz="1050" b="1" dirty="0">
                <a:solidFill>
                  <a:srgbClr val="7A3510"/>
                </a:solidFill>
                <a:latin typeface="Calibri" pitchFamily="34" charset="0"/>
                <a:ea typeface="Calibri" pitchFamily="34" charset="-122"/>
                <a:cs typeface="Calibri" pitchFamily="34" charset="-120"/>
              </a:rPr>
              <a:t>rust</a:t>
            </a:r>
            <a:endParaRPr lang="en-US" sz="1050" dirty="0"/>
          </a:p>
        </p:txBody>
      </p:sp>
      <p:sp>
        <p:nvSpPr>
          <p:cNvPr id="82" name="Shape 80"/>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83" name="Text 81"/>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Oxidation and reduction</a:t>
            </a:r>
            <a:endParaRPr lang="en-US" sz="1300" dirty="0"/>
          </a:p>
        </p:txBody>
      </p:sp>
      <p:sp>
        <p:nvSpPr>
          <p:cNvPr id="84" name="Text 82"/>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Oxidation</a:t>
            </a:r>
            <a:r>
              <a:rPr lang="en-US" sz="1100" dirty="0">
                <a:solidFill>
                  <a:srgbClr val="262B3A"/>
                </a:solidFill>
                <a:latin typeface="Calibri" pitchFamily="34" charset="0"/>
                <a:ea typeface="Calibri" pitchFamily="34" charset="-122"/>
                <a:cs typeface="Calibri" pitchFamily="34" charset="-120"/>
              </a:rPr>
              <a:t> is </a:t>
            </a:r>
            <a:r>
              <a:rPr lang="en-US" sz="1100" b="1" dirty="0">
                <a:solidFill>
                  <a:srgbClr val="262B3A"/>
                </a:solidFill>
                <a:latin typeface="Calibri" pitchFamily="34" charset="0"/>
                <a:ea typeface="Calibri" pitchFamily="34" charset="-122"/>
                <a:cs typeface="Calibri" pitchFamily="34" charset="-120"/>
              </a:rPr>
              <a:t>loss of electrons</a:t>
            </a:r>
            <a:r>
              <a:rPr lang="en-US" sz="1100" dirty="0">
                <a:solidFill>
                  <a:srgbClr val="262B3A"/>
                </a:solidFill>
                <a:latin typeface="Calibri" pitchFamily="34" charset="0"/>
                <a:ea typeface="Calibri" pitchFamily="34" charset="-122"/>
                <a:cs typeface="Calibri" pitchFamily="34" charset="-120"/>
              </a:rPr>
              <a:t> (and gain of oxygen). </a:t>
            </a:r>
            <a:r>
              <a:rPr lang="en-US" sz="1100" b="1" dirty="0">
                <a:solidFill>
                  <a:srgbClr val="262B3A"/>
                </a:solidFill>
                <a:latin typeface="Calibri" pitchFamily="34" charset="0"/>
                <a:ea typeface="Calibri" pitchFamily="34" charset="-122"/>
                <a:cs typeface="Calibri" pitchFamily="34" charset="-120"/>
              </a:rPr>
              <a:t>Reduction</a:t>
            </a:r>
            <a:r>
              <a:rPr lang="en-US" sz="1100" dirty="0">
                <a:solidFill>
                  <a:srgbClr val="262B3A"/>
                </a:solidFill>
                <a:latin typeface="Calibri" pitchFamily="34" charset="0"/>
                <a:ea typeface="Calibri" pitchFamily="34" charset="-122"/>
                <a:cs typeface="Calibri" pitchFamily="34" charset="-120"/>
              </a:rPr>
              <a:t> is </a:t>
            </a:r>
            <a:r>
              <a:rPr lang="en-US" sz="1100" b="1" dirty="0">
                <a:solidFill>
                  <a:srgbClr val="262B3A"/>
                </a:solidFill>
                <a:latin typeface="Calibri" pitchFamily="34" charset="0"/>
                <a:ea typeface="Calibri" pitchFamily="34" charset="-122"/>
                <a:cs typeface="Calibri" pitchFamily="34" charset="-120"/>
              </a:rPr>
              <a:t>gain of electrons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 rusting, </a:t>
            </a:r>
            <a:r>
              <a:rPr lang="en-US" sz="1100" b="1" dirty="0">
                <a:solidFill>
                  <a:srgbClr val="262B3A"/>
                </a:solidFill>
                <a:latin typeface="Calibri" pitchFamily="34" charset="0"/>
                <a:ea typeface="Calibri" pitchFamily="34" charset="-122"/>
                <a:cs typeface="Calibri" pitchFamily="34" charset="-120"/>
              </a:rPr>
              <a:t>iron atoms</a:t>
            </a:r>
            <a:r>
              <a:rPr lang="en-US" sz="1100" dirty="0">
                <a:solidFill>
                  <a:srgbClr val="262B3A"/>
                </a:solidFill>
                <a:latin typeface="Calibri" pitchFamily="34" charset="0"/>
                <a:ea typeface="Calibri" pitchFamily="34" charset="-122"/>
                <a:cs typeface="Calibri" pitchFamily="34" charset="-120"/>
              </a:rPr>
              <a:t> lose 2 electrons to become </a:t>
            </a:r>
            <a:r>
              <a:rPr lang="en-US" sz="1100" b="1" dirty="0">
                <a:solidFill>
                  <a:srgbClr val="262B3A"/>
                </a:solidFill>
                <a:latin typeface="Calibri" pitchFamily="34" charset="0"/>
                <a:ea typeface="Calibri" pitchFamily="34" charset="-122"/>
                <a:cs typeface="Calibri" pitchFamily="34" charset="-120"/>
              </a:rPr>
              <a:t>Fe²⁺ ions</a:t>
            </a:r>
            <a:r>
              <a:rPr lang="en-US" sz="1100" dirty="0">
                <a:solidFill>
                  <a:srgbClr val="262B3A"/>
                </a:solidFill>
                <a:latin typeface="Calibri" pitchFamily="34" charset="0"/>
                <a:ea typeface="Calibri" pitchFamily="34" charset="-122"/>
                <a:cs typeface="Calibri" pitchFamily="34" charset="-120"/>
              </a:rPr>
              <a:t>: iron is </a:t>
            </a:r>
            <a:r>
              <a:rPr lang="en-US" sz="1100" b="1" dirty="0">
                <a:solidFill>
                  <a:srgbClr val="262B3A"/>
                </a:solidFill>
                <a:latin typeface="Calibri" pitchFamily="34" charset="0"/>
                <a:ea typeface="Calibri" pitchFamily="34" charset="-122"/>
                <a:cs typeface="Calibri" pitchFamily="34" charset="-120"/>
              </a:rPr>
              <a:t>oxidised</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electrons flow through the metal to where </a:t>
            </a:r>
            <a:r>
              <a:rPr lang="en-US" sz="1100" b="1" dirty="0">
                <a:solidFill>
                  <a:srgbClr val="262B3A"/>
                </a:solidFill>
                <a:latin typeface="Calibri" pitchFamily="34" charset="0"/>
                <a:ea typeface="Calibri" pitchFamily="34" charset="-122"/>
                <a:cs typeface="Calibri" pitchFamily="34" charset="-120"/>
              </a:rPr>
              <a:t>oxygen</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 meet: oxygen is </a:t>
            </a:r>
            <a:r>
              <a:rPr lang="en-US" sz="1100" b="1" dirty="0">
                <a:solidFill>
                  <a:srgbClr val="262B3A"/>
                </a:solidFill>
                <a:latin typeface="Calibri" pitchFamily="34" charset="0"/>
                <a:ea typeface="Calibri" pitchFamily="34" charset="-122"/>
                <a:cs typeface="Calibri" pitchFamily="34" charset="-120"/>
              </a:rPr>
              <a:t>reduced</a:t>
            </a:r>
            <a:r>
              <a:rPr lang="en-US" sz="1100" dirty="0">
                <a:solidFill>
                  <a:srgbClr val="262B3A"/>
                </a:solidFill>
                <a:latin typeface="Calibri" pitchFamily="34" charset="0"/>
                <a:ea typeface="Calibri" pitchFamily="34" charset="-122"/>
                <a:cs typeface="Calibri" pitchFamily="34" charset="-120"/>
              </a:rPr>
              <a:t> to hydroxide ions.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Water is needed as the </a:t>
            </a:r>
            <a:r>
              <a:rPr lang="en-US" sz="1100" b="1" dirty="0">
                <a:solidFill>
                  <a:srgbClr val="262B3A"/>
                </a:solidFill>
                <a:latin typeface="Calibri" pitchFamily="34" charset="0"/>
                <a:ea typeface="Calibri" pitchFamily="34" charset="-122"/>
                <a:cs typeface="Calibri" pitchFamily="34" charset="-120"/>
              </a:rPr>
              <a:t>electrolyte</a:t>
            </a:r>
            <a:r>
              <a:rPr lang="en-US" sz="1100" dirty="0">
                <a:solidFill>
                  <a:srgbClr val="262B3A"/>
                </a:solidFill>
                <a:latin typeface="Calibri" pitchFamily="34" charset="0"/>
                <a:ea typeface="Calibri" pitchFamily="34" charset="-122"/>
                <a:cs typeface="Calibri" pitchFamily="34" charset="-120"/>
              </a:rPr>
              <a:t>: ions move through it. Salt water has </a:t>
            </a:r>
            <a:r>
              <a:rPr lang="en-US" sz="1100" b="1" dirty="0">
                <a:solidFill>
                  <a:srgbClr val="262B3A"/>
                </a:solidFill>
                <a:latin typeface="Calibri" pitchFamily="34" charset="0"/>
                <a:ea typeface="Calibri" pitchFamily="34" charset="-122"/>
                <a:cs typeface="Calibri" pitchFamily="34" charset="-120"/>
              </a:rPr>
              <a:t>more ions</a:t>
            </a:r>
            <a:r>
              <a:rPr lang="en-US" sz="1100" dirty="0">
                <a:solidFill>
                  <a:srgbClr val="262B3A"/>
                </a:solidFill>
                <a:latin typeface="Calibri" pitchFamily="34" charset="0"/>
                <a:ea typeface="Calibri" pitchFamily="34" charset="-122"/>
                <a:cs typeface="Calibri" pitchFamily="34" charset="-120"/>
              </a:rPr>
              <a:t>, so rusting is faster.</a:t>
            </a:r>
            <a:endParaRPr lang="en-US" sz="1100" dirty="0"/>
          </a:p>
        </p:txBody>
      </p:sp>
      <p:sp>
        <p:nvSpPr>
          <p:cNvPr id="85" name="Shape 83"/>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86" name="Text 84"/>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counting electrons</a:t>
            </a:r>
            <a:endParaRPr lang="en-US" sz="1300" dirty="0"/>
          </a:p>
        </p:txBody>
      </p:sp>
      <p:sp>
        <p:nvSpPr>
          <p:cNvPr id="87" name="Text 85"/>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How many iron atoms must be oxidised to reduce one O₂ molecule?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O₂ needs   </a:t>
            </a:r>
            <a:r>
              <a:rPr lang="en-US" sz="1050" dirty="0">
                <a:solidFill>
                  <a:srgbClr val="262B3A"/>
                </a:solidFill>
                <a:latin typeface="Calibri" pitchFamily="34" charset="0"/>
                <a:ea typeface="Calibri" pitchFamily="34" charset="-122"/>
                <a:cs typeface="Calibri" pitchFamily="34" charset="-120"/>
              </a:rPr>
              <a:t>O₂ + 2H₂O + 4e⁻ → 4OH⁻: </a:t>
            </a:r>
            <a:r>
              <a:rPr lang="en-US" sz="1050" b="1" dirty="0">
                <a:solidFill>
                  <a:srgbClr val="262B3A"/>
                </a:solidFill>
                <a:latin typeface="Calibri" pitchFamily="34" charset="0"/>
                <a:ea typeface="Calibri" pitchFamily="34" charset="-122"/>
                <a:cs typeface="Calibri" pitchFamily="34" charset="-120"/>
              </a:rPr>
              <a:t>4 electrons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Each Fe gives   </a:t>
            </a:r>
            <a:r>
              <a:rPr lang="en-US" sz="1050" dirty="0">
                <a:solidFill>
                  <a:srgbClr val="262B3A"/>
                </a:solidFill>
                <a:latin typeface="Calibri" pitchFamily="34" charset="0"/>
                <a:ea typeface="Calibri" pitchFamily="34" charset="-122"/>
                <a:cs typeface="Calibri" pitchFamily="34" charset="-120"/>
              </a:rPr>
              <a:t>Fe → Fe²⁺ + 2e⁻: 2 electrons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4 ÷ 2 = </a:t>
            </a:r>
            <a:r>
              <a:rPr lang="en-US" sz="1050" b="1" dirty="0">
                <a:solidFill>
                  <a:srgbClr val="C8414C"/>
                </a:solidFill>
                <a:latin typeface="Calibri" pitchFamily="34" charset="0"/>
                <a:ea typeface="Calibri" pitchFamily="34" charset="-122"/>
                <a:cs typeface="Calibri" pitchFamily="34" charset="-120"/>
              </a:rPr>
              <a:t>2 iron atoms</a:t>
            </a:r>
            <a:r>
              <a:rPr lang="en-US" sz="1050" b="1" dirty="0">
                <a:solidFill>
                  <a:srgbClr val="C8414C"/>
                </a:solidFill>
                <a:latin typeface="Calibri" pitchFamily="34" charset="0"/>
                <a:ea typeface="Calibri" pitchFamily="34" charset="-122"/>
                <a:cs typeface="Calibri" pitchFamily="34" charset="-120"/>
              </a:rPr>
              <a:t> per O₂ molecule</a:t>
            </a:r>
            <a:endParaRPr lang="en-US" sz="1050" dirty="0"/>
          </a:p>
        </p:txBody>
      </p:sp>
      <p:sp>
        <p:nvSpPr>
          <p:cNvPr id="88" name="Shape 86"/>
          <p:cNvSpPr/>
          <p:nvPr/>
        </p:nvSpPr>
        <p:spPr>
          <a:xfrm>
            <a:off x="411480" y="5833872"/>
            <a:ext cx="11368735" cy="530352"/>
          </a:xfrm>
          <a:prstGeom prst="rect">
            <a:avLst/>
          </a:prstGeom>
          <a:solidFill>
            <a:srgbClr val="FFF4E0"/>
          </a:solidFill>
          <a:ln w="6350">
            <a:solidFill>
              <a:srgbClr val="F1D9A8"/>
            </a:solidFill>
            <a:prstDash val="solid"/>
          </a:ln>
        </p:spPr>
      </p:sp>
      <p:sp>
        <p:nvSpPr>
          <p:cNvPr id="89" name="Shape 87"/>
          <p:cNvSpPr/>
          <p:nvPr/>
        </p:nvSpPr>
        <p:spPr>
          <a:xfrm>
            <a:off x="411480" y="5833872"/>
            <a:ext cx="82296" cy="530352"/>
          </a:xfrm>
          <a:prstGeom prst="rect">
            <a:avLst/>
          </a:prstGeom>
          <a:solidFill>
            <a:srgbClr val="E39A2F"/>
          </a:solidFill>
          <a:ln w="12700">
            <a:solidFill>
              <a:srgbClr val="E39A2F"/>
            </a:solidFill>
            <a:prstDash val="solid"/>
          </a:ln>
        </p:spPr>
      </p:sp>
      <p:sp>
        <p:nvSpPr>
          <p:cNvPr id="90" name="Text 8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Write the half equation for </a:t>
            </a:r>
            <a:r>
              <a:rPr lang="en-US" sz="1150" b="1" dirty="0">
                <a:solidFill>
                  <a:srgbClr val="262B3A"/>
                </a:solidFill>
                <a:latin typeface="Calibri" pitchFamily="34" charset="0"/>
                <a:ea typeface="Calibri" pitchFamily="34" charset="-122"/>
                <a:cs typeface="Calibri" pitchFamily="34" charset="-120"/>
              </a:rPr>
              <a:t>zinc</a:t>
            </a:r>
            <a:r>
              <a:rPr lang="en-US" sz="1150" dirty="0">
                <a:solidFill>
                  <a:srgbClr val="262B3A"/>
                </a:solidFill>
                <a:latin typeface="Calibri" pitchFamily="34" charset="0"/>
                <a:ea typeface="Calibri" pitchFamily="34" charset="-122"/>
                <a:cs typeface="Calibri" pitchFamily="34" charset="-120"/>
              </a:rPr>
              <a:t> being oxidised. Explain why it is called </a:t>
            </a:r>
            <a:r>
              <a:rPr lang="en-US" sz="1150" b="1" dirty="0">
                <a:solidFill>
                  <a:srgbClr val="262B3A"/>
                </a:solidFill>
                <a:latin typeface="Calibri" pitchFamily="34" charset="0"/>
                <a:ea typeface="Calibri" pitchFamily="34" charset="-122"/>
                <a:cs typeface="Calibri" pitchFamily="34" charset="-120"/>
              </a:rPr>
              <a:t>oxidation</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C4.4.1 • the conditions and process of corrosion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substances that must be present for iron to rust.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nail in boiled water with a layer of oil on top does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rust. Explain why.</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Balance the equation: (…) Fe(s) + (…) O₂(g) + (…) H₂O(l) → (…) Fe(OH)₃(s)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Shape 24"/>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Iron changes to Fe²⁺ ions when it rusts. Write the half equation and explain why this is </a:t>
            </a:r>
            <a:r>
              <a:rPr lang="en-US" sz="1250" b="1" dirty="0">
                <a:solidFill>
                  <a:srgbClr val="262B3A"/>
                </a:solidFill>
                <a:latin typeface="Calibri" pitchFamily="34" charset="0"/>
                <a:ea typeface="Calibri" pitchFamily="34" charset="-122"/>
                <a:cs typeface="Calibri" pitchFamily="34" charset="-120"/>
              </a:rPr>
              <a:t>oxidation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9" name="Text 27"/>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Preventing corrosion: barriers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C4.4.1 • mitigation by a physical barrier to oxygen and water</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C4.4.1  |  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steel in cross-section; coating thickness exaggerated</a:t>
            </a:r>
            <a:endParaRPr lang="en-US" sz="1000" dirty="0"/>
          </a:p>
        </p:txBody>
      </p:sp>
      <p:sp>
        <p:nvSpPr>
          <p:cNvPr id="10" name="Text 8"/>
          <p:cNvSpPr/>
          <p:nvPr/>
        </p:nvSpPr>
        <p:spPr>
          <a:xfrm>
            <a:off x="640080" y="1325880"/>
            <a:ext cx="512064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1</a:t>
            </a:r>
            <a:r>
              <a:rPr lang="en-US" sz="1050" dirty="0">
                <a:solidFill>
                  <a:srgbClr val="262B3A"/>
                </a:solidFill>
                <a:latin typeface="Calibri" pitchFamily="34" charset="0"/>
                <a:ea typeface="Calibri" pitchFamily="34" charset="-122"/>
                <a:cs typeface="Calibri" pitchFamily="34" charset="-120"/>
              </a:rPr>
              <a:t> Painted steel: the paint keeps out air and water</a:t>
            </a:r>
            <a:endParaRPr lang="en-US" sz="1050" dirty="0"/>
          </a:p>
        </p:txBody>
      </p:sp>
      <p:sp>
        <p:nvSpPr>
          <p:cNvPr id="11" name="Shape 9"/>
          <p:cNvSpPr/>
          <p:nvPr/>
        </p:nvSpPr>
        <p:spPr>
          <a:xfrm>
            <a:off x="822960" y="2057400"/>
            <a:ext cx="4754880" cy="502920"/>
          </a:xfrm>
          <a:prstGeom prst="rect">
            <a:avLst/>
          </a:prstGeom>
          <a:solidFill>
            <a:srgbClr val="B9C0CC"/>
          </a:solidFill>
          <a:ln w="12700">
            <a:solidFill>
              <a:srgbClr val="5A6275"/>
            </a:solidFill>
            <a:prstDash val="solid"/>
          </a:ln>
        </p:spPr>
      </p:sp>
      <p:sp>
        <p:nvSpPr>
          <p:cNvPr id="12" name="Shape 10"/>
          <p:cNvSpPr/>
          <p:nvPr/>
        </p:nvSpPr>
        <p:spPr>
          <a:xfrm>
            <a:off x="877824" y="2258568"/>
            <a:ext cx="109728" cy="109728"/>
          </a:xfrm>
          <a:prstGeom prst="ellipse">
            <a:avLst/>
          </a:prstGeom>
          <a:solidFill>
            <a:srgbClr val="A5ADBA"/>
          </a:solidFill>
          <a:ln w="6350">
            <a:solidFill>
              <a:srgbClr val="7D8794"/>
            </a:solidFill>
            <a:prstDash val="solid"/>
          </a:ln>
        </p:spPr>
      </p:sp>
      <p:sp>
        <p:nvSpPr>
          <p:cNvPr id="13" name="Shape 11"/>
          <p:cNvSpPr/>
          <p:nvPr/>
        </p:nvSpPr>
        <p:spPr>
          <a:xfrm>
            <a:off x="1078992" y="2258568"/>
            <a:ext cx="109728" cy="109728"/>
          </a:xfrm>
          <a:prstGeom prst="ellipse">
            <a:avLst/>
          </a:prstGeom>
          <a:solidFill>
            <a:srgbClr val="A5ADBA"/>
          </a:solidFill>
          <a:ln w="6350">
            <a:solidFill>
              <a:srgbClr val="7D8794"/>
            </a:solidFill>
            <a:prstDash val="solid"/>
          </a:ln>
        </p:spPr>
      </p:sp>
      <p:sp>
        <p:nvSpPr>
          <p:cNvPr id="14" name="Shape 12"/>
          <p:cNvSpPr/>
          <p:nvPr/>
        </p:nvSpPr>
        <p:spPr>
          <a:xfrm>
            <a:off x="1280160" y="2258568"/>
            <a:ext cx="109728" cy="109728"/>
          </a:xfrm>
          <a:prstGeom prst="ellipse">
            <a:avLst/>
          </a:prstGeom>
          <a:solidFill>
            <a:srgbClr val="A5ADBA"/>
          </a:solidFill>
          <a:ln w="6350">
            <a:solidFill>
              <a:srgbClr val="7D8794"/>
            </a:solidFill>
            <a:prstDash val="solid"/>
          </a:ln>
        </p:spPr>
      </p:sp>
      <p:sp>
        <p:nvSpPr>
          <p:cNvPr id="15" name="Shape 13"/>
          <p:cNvSpPr/>
          <p:nvPr/>
        </p:nvSpPr>
        <p:spPr>
          <a:xfrm>
            <a:off x="1481328" y="2258568"/>
            <a:ext cx="109728" cy="109728"/>
          </a:xfrm>
          <a:prstGeom prst="ellipse">
            <a:avLst/>
          </a:prstGeom>
          <a:solidFill>
            <a:srgbClr val="A5ADBA"/>
          </a:solidFill>
          <a:ln w="6350">
            <a:solidFill>
              <a:srgbClr val="7D8794"/>
            </a:solidFill>
            <a:prstDash val="solid"/>
          </a:ln>
        </p:spPr>
      </p:sp>
      <p:sp>
        <p:nvSpPr>
          <p:cNvPr id="16" name="Shape 14"/>
          <p:cNvSpPr/>
          <p:nvPr/>
        </p:nvSpPr>
        <p:spPr>
          <a:xfrm>
            <a:off x="1682496" y="2258568"/>
            <a:ext cx="109728" cy="109728"/>
          </a:xfrm>
          <a:prstGeom prst="ellipse">
            <a:avLst/>
          </a:prstGeom>
          <a:solidFill>
            <a:srgbClr val="A5ADBA"/>
          </a:solidFill>
          <a:ln w="6350">
            <a:solidFill>
              <a:srgbClr val="7D8794"/>
            </a:solidFill>
            <a:prstDash val="solid"/>
          </a:ln>
        </p:spPr>
      </p:sp>
      <p:sp>
        <p:nvSpPr>
          <p:cNvPr id="17" name="Shape 15"/>
          <p:cNvSpPr/>
          <p:nvPr/>
        </p:nvSpPr>
        <p:spPr>
          <a:xfrm>
            <a:off x="1883664" y="2258568"/>
            <a:ext cx="109728" cy="109728"/>
          </a:xfrm>
          <a:prstGeom prst="ellipse">
            <a:avLst/>
          </a:prstGeom>
          <a:solidFill>
            <a:srgbClr val="A5ADBA"/>
          </a:solidFill>
          <a:ln w="6350">
            <a:solidFill>
              <a:srgbClr val="7D8794"/>
            </a:solidFill>
            <a:prstDash val="solid"/>
          </a:ln>
        </p:spPr>
      </p:sp>
      <p:sp>
        <p:nvSpPr>
          <p:cNvPr id="18" name="Shape 16"/>
          <p:cNvSpPr/>
          <p:nvPr/>
        </p:nvSpPr>
        <p:spPr>
          <a:xfrm>
            <a:off x="2084832" y="2258568"/>
            <a:ext cx="109728" cy="109728"/>
          </a:xfrm>
          <a:prstGeom prst="ellipse">
            <a:avLst/>
          </a:prstGeom>
          <a:solidFill>
            <a:srgbClr val="A5ADBA"/>
          </a:solidFill>
          <a:ln w="6350">
            <a:solidFill>
              <a:srgbClr val="7D8794"/>
            </a:solidFill>
            <a:prstDash val="solid"/>
          </a:ln>
        </p:spPr>
      </p:sp>
      <p:sp>
        <p:nvSpPr>
          <p:cNvPr id="19" name="Shape 17"/>
          <p:cNvSpPr/>
          <p:nvPr/>
        </p:nvSpPr>
        <p:spPr>
          <a:xfrm>
            <a:off x="2286000" y="2258568"/>
            <a:ext cx="109728" cy="109728"/>
          </a:xfrm>
          <a:prstGeom prst="ellipse">
            <a:avLst/>
          </a:prstGeom>
          <a:solidFill>
            <a:srgbClr val="A5ADBA"/>
          </a:solidFill>
          <a:ln w="6350">
            <a:solidFill>
              <a:srgbClr val="7D8794"/>
            </a:solidFill>
            <a:prstDash val="solid"/>
          </a:ln>
        </p:spPr>
      </p:sp>
      <p:sp>
        <p:nvSpPr>
          <p:cNvPr id="20" name="Shape 18"/>
          <p:cNvSpPr/>
          <p:nvPr/>
        </p:nvSpPr>
        <p:spPr>
          <a:xfrm>
            <a:off x="2487168" y="2258568"/>
            <a:ext cx="109728" cy="109728"/>
          </a:xfrm>
          <a:prstGeom prst="ellipse">
            <a:avLst/>
          </a:prstGeom>
          <a:solidFill>
            <a:srgbClr val="A5ADBA"/>
          </a:solidFill>
          <a:ln w="6350">
            <a:solidFill>
              <a:srgbClr val="7D8794"/>
            </a:solidFill>
            <a:prstDash val="solid"/>
          </a:ln>
        </p:spPr>
      </p:sp>
      <p:sp>
        <p:nvSpPr>
          <p:cNvPr id="21" name="Shape 19"/>
          <p:cNvSpPr/>
          <p:nvPr/>
        </p:nvSpPr>
        <p:spPr>
          <a:xfrm>
            <a:off x="2688336" y="2258568"/>
            <a:ext cx="109728" cy="109728"/>
          </a:xfrm>
          <a:prstGeom prst="ellipse">
            <a:avLst/>
          </a:prstGeom>
          <a:solidFill>
            <a:srgbClr val="A5ADBA"/>
          </a:solidFill>
          <a:ln w="6350">
            <a:solidFill>
              <a:srgbClr val="7D8794"/>
            </a:solidFill>
            <a:prstDash val="solid"/>
          </a:ln>
        </p:spPr>
      </p:sp>
      <p:sp>
        <p:nvSpPr>
          <p:cNvPr id="22" name="Shape 20"/>
          <p:cNvSpPr/>
          <p:nvPr/>
        </p:nvSpPr>
        <p:spPr>
          <a:xfrm>
            <a:off x="2889504" y="2258568"/>
            <a:ext cx="109728" cy="109728"/>
          </a:xfrm>
          <a:prstGeom prst="ellipse">
            <a:avLst/>
          </a:prstGeom>
          <a:solidFill>
            <a:srgbClr val="A5ADBA"/>
          </a:solidFill>
          <a:ln w="6350">
            <a:solidFill>
              <a:srgbClr val="7D8794"/>
            </a:solidFill>
            <a:prstDash val="solid"/>
          </a:ln>
        </p:spPr>
      </p:sp>
      <p:sp>
        <p:nvSpPr>
          <p:cNvPr id="23" name="Shape 21"/>
          <p:cNvSpPr/>
          <p:nvPr/>
        </p:nvSpPr>
        <p:spPr>
          <a:xfrm>
            <a:off x="3090672" y="2258568"/>
            <a:ext cx="109728" cy="109728"/>
          </a:xfrm>
          <a:prstGeom prst="ellipse">
            <a:avLst/>
          </a:prstGeom>
          <a:solidFill>
            <a:srgbClr val="A5ADBA"/>
          </a:solidFill>
          <a:ln w="6350">
            <a:solidFill>
              <a:srgbClr val="7D8794"/>
            </a:solidFill>
            <a:prstDash val="solid"/>
          </a:ln>
        </p:spPr>
      </p:sp>
      <p:sp>
        <p:nvSpPr>
          <p:cNvPr id="24" name="Shape 22"/>
          <p:cNvSpPr/>
          <p:nvPr/>
        </p:nvSpPr>
        <p:spPr>
          <a:xfrm>
            <a:off x="3291840" y="2258568"/>
            <a:ext cx="109728" cy="109728"/>
          </a:xfrm>
          <a:prstGeom prst="ellipse">
            <a:avLst/>
          </a:prstGeom>
          <a:solidFill>
            <a:srgbClr val="A5ADBA"/>
          </a:solidFill>
          <a:ln w="6350">
            <a:solidFill>
              <a:srgbClr val="7D8794"/>
            </a:solidFill>
            <a:prstDash val="solid"/>
          </a:ln>
        </p:spPr>
      </p:sp>
      <p:sp>
        <p:nvSpPr>
          <p:cNvPr id="25" name="Shape 23"/>
          <p:cNvSpPr/>
          <p:nvPr/>
        </p:nvSpPr>
        <p:spPr>
          <a:xfrm>
            <a:off x="3493008" y="2258568"/>
            <a:ext cx="109728" cy="109728"/>
          </a:xfrm>
          <a:prstGeom prst="ellipse">
            <a:avLst/>
          </a:prstGeom>
          <a:solidFill>
            <a:srgbClr val="A5ADBA"/>
          </a:solidFill>
          <a:ln w="6350">
            <a:solidFill>
              <a:srgbClr val="7D8794"/>
            </a:solidFill>
            <a:prstDash val="solid"/>
          </a:ln>
        </p:spPr>
      </p:sp>
      <p:sp>
        <p:nvSpPr>
          <p:cNvPr id="26" name="Shape 24"/>
          <p:cNvSpPr/>
          <p:nvPr/>
        </p:nvSpPr>
        <p:spPr>
          <a:xfrm>
            <a:off x="3694176" y="2258568"/>
            <a:ext cx="109728" cy="109728"/>
          </a:xfrm>
          <a:prstGeom prst="ellipse">
            <a:avLst/>
          </a:prstGeom>
          <a:solidFill>
            <a:srgbClr val="A5ADBA"/>
          </a:solidFill>
          <a:ln w="6350">
            <a:solidFill>
              <a:srgbClr val="7D8794"/>
            </a:solidFill>
            <a:prstDash val="solid"/>
          </a:ln>
        </p:spPr>
      </p:sp>
      <p:sp>
        <p:nvSpPr>
          <p:cNvPr id="27" name="Shape 25"/>
          <p:cNvSpPr/>
          <p:nvPr/>
        </p:nvSpPr>
        <p:spPr>
          <a:xfrm>
            <a:off x="3895344" y="2258568"/>
            <a:ext cx="109728" cy="109728"/>
          </a:xfrm>
          <a:prstGeom prst="ellipse">
            <a:avLst/>
          </a:prstGeom>
          <a:solidFill>
            <a:srgbClr val="A5ADBA"/>
          </a:solidFill>
          <a:ln w="6350">
            <a:solidFill>
              <a:srgbClr val="7D8794"/>
            </a:solidFill>
            <a:prstDash val="solid"/>
          </a:ln>
        </p:spPr>
      </p:sp>
      <p:sp>
        <p:nvSpPr>
          <p:cNvPr id="28" name="Shape 26"/>
          <p:cNvSpPr/>
          <p:nvPr/>
        </p:nvSpPr>
        <p:spPr>
          <a:xfrm>
            <a:off x="4096512" y="2258568"/>
            <a:ext cx="109728" cy="109728"/>
          </a:xfrm>
          <a:prstGeom prst="ellipse">
            <a:avLst/>
          </a:prstGeom>
          <a:solidFill>
            <a:srgbClr val="A5ADBA"/>
          </a:solidFill>
          <a:ln w="6350">
            <a:solidFill>
              <a:srgbClr val="7D8794"/>
            </a:solidFill>
            <a:prstDash val="solid"/>
          </a:ln>
        </p:spPr>
      </p:sp>
      <p:sp>
        <p:nvSpPr>
          <p:cNvPr id="29" name="Shape 27"/>
          <p:cNvSpPr/>
          <p:nvPr/>
        </p:nvSpPr>
        <p:spPr>
          <a:xfrm>
            <a:off x="4297680" y="2258568"/>
            <a:ext cx="109728" cy="109728"/>
          </a:xfrm>
          <a:prstGeom prst="ellipse">
            <a:avLst/>
          </a:prstGeom>
          <a:solidFill>
            <a:srgbClr val="A5ADBA"/>
          </a:solidFill>
          <a:ln w="6350">
            <a:solidFill>
              <a:srgbClr val="7D8794"/>
            </a:solidFill>
            <a:prstDash val="solid"/>
          </a:ln>
        </p:spPr>
      </p:sp>
      <p:sp>
        <p:nvSpPr>
          <p:cNvPr id="30" name="Shape 28"/>
          <p:cNvSpPr/>
          <p:nvPr/>
        </p:nvSpPr>
        <p:spPr>
          <a:xfrm>
            <a:off x="4498848" y="2258568"/>
            <a:ext cx="109728" cy="109728"/>
          </a:xfrm>
          <a:prstGeom prst="ellipse">
            <a:avLst/>
          </a:prstGeom>
          <a:solidFill>
            <a:srgbClr val="A5ADBA"/>
          </a:solidFill>
          <a:ln w="6350">
            <a:solidFill>
              <a:srgbClr val="7D8794"/>
            </a:solidFill>
            <a:prstDash val="solid"/>
          </a:ln>
        </p:spPr>
      </p:sp>
      <p:sp>
        <p:nvSpPr>
          <p:cNvPr id="31" name="Shape 29"/>
          <p:cNvSpPr/>
          <p:nvPr/>
        </p:nvSpPr>
        <p:spPr>
          <a:xfrm>
            <a:off x="4700016" y="2258568"/>
            <a:ext cx="109728" cy="109728"/>
          </a:xfrm>
          <a:prstGeom prst="ellipse">
            <a:avLst/>
          </a:prstGeom>
          <a:solidFill>
            <a:srgbClr val="A5ADBA"/>
          </a:solidFill>
          <a:ln w="6350">
            <a:solidFill>
              <a:srgbClr val="7D8794"/>
            </a:solidFill>
            <a:prstDash val="solid"/>
          </a:ln>
        </p:spPr>
      </p:sp>
      <p:sp>
        <p:nvSpPr>
          <p:cNvPr id="32" name="Shape 30"/>
          <p:cNvSpPr/>
          <p:nvPr/>
        </p:nvSpPr>
        <p:spPr>
          <a:xfrm>
            <a:off x="4901184" y="2258568"/>
            <a:ext cx="109728" cy="109728"/>
          </a:xfrm>
          <a:prstGeom prst="ellipse">
            <a:avLst/>
          </a:prstGeom>
          <a:solidFill>
            <a:srgbClr val="A5ADBA"/>
          </a:solidFill>
          <a:ln w="6350">
            <a:solidFill>
              <a:srgbClr val="7D8794"/>
            </a:solidFill>
            <a:prstDash val="solid"/>
          </a:ln>
        </p:spPr>
      </p:sp>
      <p:sp>
        <p:nvSpPr>
          <p:cNvPr id="33" name="Shape 31"/>
          <p:cNvSpPr/>
          <p:nvPr/>
        </p:nvSpPr>
        <p:spPr>
          <a:xfrm>
            <a:off x="5102352" y="2258568"/>
            <a:ext cx="109728" cy="109728"/>
          </a:xfrm>
          <a:prstGeom prst="ellipse">
            <a:avLst/>
          </a:prstGeom>
          <a:solidFill>
            <a:srgbClr val="A5ADBA"/>
          </a:solidFill>
          <a:ln w="6350">
            <a:solidFill>
              <a:srgbClr val="7D8794"/>
            </a:solidFill>
            <a:prstDash val="solid"/>
          </a:ln>
        </p:spPr>
      </p:sp>
      <p:sp>
        <p:nvSpPr>
          <p:cNvPr id="34" name="Shape 32"/>
          <p:cNvSpPr/>
          <p:nvPr/>
        </p:nvSpPr>
        <p:spPr>
          <a:xfrm>
            <a:off x="5303520" y="2258568"/>
            <a:ext cx="109728" cy="109728"/>
          </a:xfrm>
          <a:prstGeom prst="ellipse">
            <a:avLst/>
          </a:prstGeom>
          <a:solidFill>
            <a:srgbClr val="A5ADBA"/>
          </a:solidFill>
          <a:ln w="6350">
            <a:solidFill>
              <a:srgbClr val="7D8794"/>
            </a:solidFill>
            <a:prstDash val="solid"/>
          </a:ln>
        </p:spPr>
      </p:sp>
      <p:sp>
        <p:nvSpPr>
          <p:cNvPr id="35" name="Shape 33"/>
          <p:cNvSpPr/>
          <p:nvPr/>
        </p:nvSpPr>
        <p:spPr>
          <a:xfrm>
            <a:off x="822960" y="1874520"/>
            <a:ext cx="4754880" cy="182880"/>
          </a:xfrm>
          <a:prstGeom prst="rect">
            <a:avLst/>
          </a:prstGeom>
          <a:solidFill>
            <a:srgbClr val="3A7BC8"/>
          </a:solidFill>
          <a:ln w="9525">
            <a:solidFill>
              <a:srgbClr val="1F4E8C"/>
            </a:solidFill>
            <a:prstDash val="solid"/>
          </a:ln>
        </p:spPr>
      </p:sp>
      <p:sp>
        <p:nvSpPr>
          <p:cNvPr id="36" name="Text 34"/>
          <p:cNvSpPr/>
          <p:nvPr/>
        </p:nvSpPr>
        <p:spPr>
          <a:xfrm>
            <a:off x="4754880" y="1627632"/>
            <a:ext cx="822960" cy="201168"/>
          </a:xfrm>
          <a:prstGeom prst="rect">
            <a:avLst/>
          </a:prstGeom>
          <a:noFill/>
          <a:ln/>
        </p:spPr>
        <p:txBody>
          <a:bodyPr wrap="square" lIns="0" tIns="0" rIns="0" bIns="0" rtlCol="0" anchor="ctr"/>
          <a:lstStyle/>
          <a:p>
            <a:pPr algn="r" indent="0" marL="0">
              <a:buNone/>
            </a:pPr>
            <a:r>
              <a:rPr lang="en-US" sz="1000" b="1" dirty="0">
                <a:solidFill>
                  <a:srgbClr val="1F4E8C"/>
                </a:solidFill>
                <a:latin typeface="Calibri" pitchFamily="34" charset="0"/>
                <a:ea typeface="Calibri" pitchFamily="34" charset="-122"/>
                <a:cs typeface="Calibri" pitchFamily="34" charset="-120"/>
              </a:rPr>
              <a:t>paint</a:t>
            </a:r>
            <a:endParaRPr lang="en-US" sz="1000" dirty="0"/>
          </a:p>
        </p:txBody>
      </p:sp>
      <p:sp>
        <p:nvSpPr>
          <p:cNvPr id="37" name="Shape 35"/>
          <p:cNvSpPr/>
          <p:nvPr/>
        </p:nvSpPr>
        <p:spPr>
          <a:xfrm>
            <a:off x="1280160" y="1609344"/>
            <a:ext cx="91" cy="237744"/>
          </a:xfrm>
          <a:prstGeom prst="line">
            <a:avLst/>
          </a:prstGeom>
          <a:noFill/>
          <a:ln w="15875">
            <a:solidFill>
              <a:srgbClr val="5B9BD5"/>
            </a:solidFill>
            <a:prstDash val="solid"/>
            <a:tailEnd type="triangle"/>
          </a:ln>
        </p:spPr>
      </p:sp>
      <p:sp>
        <p:nvSpPr>
          <p:cNvPr id="38" name="Shape 36"/>
          <p:cNvSpPr/>
          <p:nvPr/>
        </p:nvSpPr>
        <p:spPr>
          <a:xfrm>
            <a:off x="2377440" y="1609344"/>
            <a:ext cx="91" cy="237744"/>
          </a:xfrm>
          <a:prstGeom prst="line">
            <a:avLst/>
          </a:prstGeom>
          <a:noFill/>
          <a:ln w="15875">
            <a:solidFill>
              <a:srgbClr val="5B9BD5"/>
            </a:solidFill>
            <a:prstDash val="solid"/>
            <a:tailEnd type="triangle"/>
          </a:ln>
        </p:spPr>
      </p:sp>
      <p:sp>
        <p:nvSpPr>
          <p:cNvPr id="39" name="Shape 37"/>
          <p:cNvSpPr/>
          <p:nvPr/>
        </p:nvSpPr>
        <p:spPr>
          <a:xfrm>
            <a:off x="3474720" y="1609344"/>
            <a:ext cx="91" cy="237744"/>
          </a:xfrm>
          <a:prstGeom prst="line">
            <a:avLst/>
          </a:prstGeom>
          <a:noFill/>
          <a:ln w="15875">
            <a:solidFill>
              <a:srgbClr val="5B9BD5"/>
            </a:solidFill>
            <a:prstDash val="solid"/>
            <a:tailEnd type="triangle"/>
          </a:ln>
        </p:spPr>
      </p:sp>
      <p:sp>
        <p:nvSpPr>
          <p:cNvPr id="40" name="Text 38"/>
          <p:cNvSpPr/>
          <p:nvPr/>
        </p:nvSpPr>
        <p:spPr>
          <a:xfrm>
            <a:off x="868680" y="2606040"/>
            <a:ext cx="2743200" cy="201168"/>
          </a:xfrm>
          <a:prstGeom prst="rect">
            <a:avLst/>
          </a:prstGeom>
          <a:noFill/>
          <a:ln/>
        </p:spPr>
        <p:txBody>
          <a:bodyPr wrap="square" lIns="0" tIns="0" rIns="0" bIns="0" rtlCol="0" anchor="ctr"/>
          <a:lstStyle/>
          <a:p>
            <a:pPr algn="l" indent="0" marL="0">
              <a:buNone/>
            </a:pPr>
            <a:r>
              <a:rPr lang="en-US" sz="1000" i="1" dirty="0">
                <a:solidFill>
                  <a:srgbClr val="5B9BD5"/>
                </a:solidFill>
                <a:latin typeface="Calibri" pitchFamily="34" charset="0"/>
                <a:ea typeface="Calibri" pitchFamily="34" charset="-122"/>
                <a:cs typeface="Calibri" pitchFamily="34" charset="-120"/>
              </a:rPr>
              <a:t>O₂ and H₂O blocked</a:t>
            </a:r>
            <a:endParaRPr lang="en-US" sz="1000" dirty="0"/>
          </a:p>
        </p:txBody>
      </p:sp>
      <p:sp>
        <p:nvSpPr>
          <p:cNvPr id="41" name="Text 39"/>
          <p:cNvSpPr/>
          <p:nvPr/>
        </p:nvSpPr>
        <p:spPr>
          <a:xfrm>
            <a:off x="640080" y="2852928"/>
            <a:ext cx="512064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2</a:t>
            </a:r>
            <a:r>
              <a:rPr lang="en-US" sz="1050" dirty="0">
                <a:solidFill>
                  <a:srgbClr val="262B3A"/>
                </a:solidFill>
                <a:latin typeface="Calibri" pitchFamily="34" charset="0"/>
                <a:ea typeface="Calibri" pitchFamily="34" charset="-122"/>
                <a:cs typeface="Calibri" pitchFamily="34" charset="-120"/>
              </a:rPr>
              <a:t> Scratched paint: air and water reach the steel, which rusts</a:t>
            </a:r>
            <a:endParaRPr lang="en-US" sz="1050" dirty="0"/>
          </a:p>
        </p:txBody>
      </p:sp>
      <p:sp>
        <p:nvSpPr>
          <p:cNvPr id="42" name="Shape 40"/>
          <p:cNvSpPr/>
          <p:nvPr/>
        </p:nvSpPr>
        <p:spPr>
          <a:xfrm>
            <a:off x="822960" y="3584448"/>
            <a:ext cx="4754880" cy="502920"/>
          </a:xfrm>
          <a:prstGeom prst="rect">
            <a:avLst/>
          </a:prstGeom>
          <a:solidFill>
            <a:srgbClr val="B9C0CC"/>
          </a:solidFill>
          <a:ln w="12700">
            <a:solidFill>
              <a:srgbClr val="5A6275"/>
            </a:solidFill>
            <a:prstDash val="solid"/>
          </a:ln>
        </p:spPr>
      </p:sp>
      <p:sp>
        <p:nvSpPr>
          <p:cNvPr id="43" name="Shape 41"/>
          <p:cNvSpPr/>
          <p:nvPr/>
        </p:nvSpPr>
        <p:spPr>
          <a:xfrm>
            <a:off x="877824" y="3785616"/>
            <a:ext cx="109728" cy="109728"/>
          </a:xfrm>
          <a:prstGeom prst="ellipse">
            <a:avLst/>
          </a:prstGeom>
          <a:solidFill>
            <a:srgbClr val="A5ADBA"/>
          </a:solidFill>
          <a:ln w="6350">
            <a:solidFill>
              <a:srgbClr val="7D8794"/>
            </a:solidFill>
            <a:prstDash val="solid"/>
          </a:ln>
        </p:spPr>
      </p:sp>
      <p:sp>
        <p:nvSpPr>
          <p:cNvPr id="44" name="Shape 42"/>
          <p:cNvSpPr/>
          <p:nvPr/>
        </p:nvSpPr>
        <p:spPr>
          <a:xfrm>
            <a:off x="1078992" y="3785616"/>
            <a:ext cx="109728" cy="109728"/>
          </a:xfrm>
          <a:prstGeom prst="ellipse">
            <a:avLst/>
          </a:prstGeom>
          <a:solidFill>
            <a:srgbClr val="A5ADBA"/>
          </a:solidFill>
          <a:ln w="6350">
            <a:solidFill>
              <a:srgbClr val="7D8794"/>
            </a:solidFill>
            <a:prstDash val="solid"/>
          </a:ln>
        </p:spPr>
      </p:sp>
      <p:sp>
        <p:nvSpPr>
          <p:cNvPr id="45" name="Shape 43"/>
          <p:cNvSpPr/>
          <p:nvPr/>
        </p:nvSpPr>
        <p:spPr>
          <a:xfrm>
            <a:off x="1280160" y="3785616"/>
            <a:ext cx="109728" cy="109728"/>
          </a:xfrm>
          <a:prstGeom prst="ellipse">
            <a:avLst/>
          </a:prstGeom>
          <a:solidFill>
            <a:srgbClr val="A5ADBA"/>
          </a:solidFill>
          <a:ln w="6350">
            <a:solidFill>
              <a:srgbClr val="7D8794"/>
            </a:solidFill>
            <a:prstDash val="solid"/>
          </a:ln>
        </p:spPr>
      </p:sp>
      <p:sp>
        <p:nvSpPr>
          <p:cNvPr id="46" name="Shape 44"/>
          <p:cNvSpPr/>
          <p:nvPr/>
        </p:nvSpPr>
        <p:spPr>
          <a:xfrm>
            <a:off x="1481328" y="3785616"/>
            <a:ext cx="109728" cy="109728"/>
          </a:xfrm>
          <a:prstGeom prst="ellipse">
            <a:avLst/>
          </a:prstGeom>
          <a:solidFill>
            <a:srgbClr val="A5ADBA"/>
          </a:solidFill>
          <a:ln w="6350">
            <a:solidFill>
              <a:srgbClr val="7D8794"/>
            </a:solidFill>
            <a:prstDash val="solid"/>
          </a:ln>
        </p:spPr>
      </p:sp>
      <p:sp>
        <p:nvSpPr>
          <p:cNvPr id="47" name="Shape 45"/>
          <p:cNvSpPr/>
          <p:nvPr/>
        </p:nvSpPr>
        <p:spPr>
          <a:xfrm>
            <a:off x="1682496" y="3785616"/>
            <a:ext cx="109728" cy="109728"/>
          </a:xfrm>
          <a:prstGeom prst="ellipse">
            <a:avLst/>
          </a:prstGeom>
          <a:solidFill>
            <a:srgbClr val="A5ADBA"/>
          </a:solidFill>
          <a:ln w="6350">
            <a:solidFill>
              <a:srgbClr val="7D8794"/>
            </a:solidFill>
            <a:prstDash val="solid"/>
          </a:ln>
        </p:spPr>
      </p:sp>
      <p:sp>
        <p:nvSpPr>
          <p:cNvPr id="48" name="Shape 46"/>
          <p:cNvSpPr/>
          <p:nvPr/>
        </p:nvSpPr>
        <p:spPr>
          <a:xfrm>
            <a:off x="1883664" y="3785616"/>
            <a:ext cx="109728" cy="109728"/>
          </a:xfrm>
          <a:prstGeom prst="ellipse">
            <a:avLst/>
          </a:prstGeom>
          <a:solidFill>
            <a:srgbClr val="A5ADBA"/>
          </a:solidFill>
          <a:ln w="6350">
            <a:solidFill>
              <a:srgbClr val="7D8794"/>
            </a:solidFill>
            <a:prstDash val="solid"/>
          </a:ln>
        </p:spPr>
      </p:sp>
      <p:sp>
        <p:nvSpPr>
          <p:cNvPr id="49" name="Shape 47"/>
          <p:cNvSpPr/>
          <p:nvPr/>
        </p:nvSpPr>
        <p:spPr>
          <a:xfrm>
            <a:off x="2084832" y="3785616"/>
            <a:ext cx="109728" cy="109728"/>
          </a:xfrm>
          <a:prstGeom prst="ellipse">
            <a:avLst/>
          </a:prstGeom>
          <a:solidFill>
            <a:srgbClr val="A5ADBA"/>
          </a:solidFill>
          <a:ln w="6350">
            <a:solidFill>
              <a:srgbClr val="7D8794"/>
            </a:solidFill>
            <a:prstDash val="solid"/>
          </a:ln>
        </p:spPr>
      </p:sp>
      <p:sp>
        <p:nvSpPr>
          <p:cNvPr id="50" name="Shape 48"/>
          <p:cNvSpPr/>
          <p:nvPr/>
        </p:nvSpPr>
        <p:spPr>
          <a:xfrm>
            <a:off x="2286000" y="3785616"/>
            <a:ext cx="109728" cy="109728"/>
          </a:xfrm>
          <a:prstGeom prst="ellipse">
            <a:avLst/>
          </a:prstGeom>
          <a:solidFill>
            <a:srgbClr val="A5ADBA"/>
          </a:solidFill>
          <a:ln w="6350">
            <a:solidFill>
              <a:srgbClr val="7D8794"/>
            </a:solidFill>
            <a:prstDash val="solid"/>
          </a:ln>
        </p:spPr>
      </p:sp>
      <p:sp>
        <p:nvSpPr>
          <p:cNvPr id="51" name="Shape 49"/>
          <p:cNvSpPr/>
          <p:nvPr/>
        </p:nvSpPr>
        <p:spPr>
          <a:xfrm>
            <a:off x="2487168" y="3785616"/>
            <a:ext cx="109728" cy="109728"/>
          </a:xfrm>
          <a:prstGeom prst="ellipse">
            <a:avLst/>
          </a:prstGeom>
          <a:solidFill>
            <a:srgbClr val="A5ADBA"/>
          </a:solidFill>
          <a:ln w="6350">
            <a:solidFill>
              <a:srgbClr val="7D8794"/>
            </a:solidFill>
            <a:prstDash val="solid"/>
          </a:ln>
        </p:spPr>
      </p:sp>
      <p:sp>
        <p:nvSpPr>
          <p:cNvPr id="52" name="Shape 50"/>
          <p:cNvSpPr/>
          <p:nvPr/>
        </p:nvSpPr>
        <p:spPr>
          <a:xfrm>
            <a:off x="2688336" y="3785616"/>
            <a:ext cx="109728" cy="109728"/>
          </a:xfrm>
          <a:prstGeom prst="ellipse">
            <a:avLst/>
          </a:prstGeom>
          <a:solidFill>
            <a:srgbClr val="A5ADBA"/>
          </a:solidFill>
          <a:ln w="6350">
            <a:solidFill>
              <a:srgbClr val="7D8794"/>
            </a:solidFill>
            <a:prstDash val="solid"/>
          </a:ln>
        </p:spPr>
      </p:sp>
      <p:sp>
        <p:nvSpPr>
          <p:cNvPr id="53" name="Shape 51"/>
          <p:cNvSpPr/>
          <p:nvPr/>
        </p:nvSpPr>
        <p:spPr>
          <a:xfrm>
            <a:off x="2889504" y="3785616"/>
            <a:ext cx="109728" cy="109728"/>
          </a:xfrm>
          <a:prstGeom prst="ellipse">
            <a:avLst/>
          </a:prstGeom>
          <a:solidFill>
            <a:srgbClr val="A5ADBA"/>
          </a:solidFill>
          <a:ln w="6350">
            <a:solidFill>
              <a:srgbClr val="7D8794"/>
            </a:solidFill>
            <a:prstDash val="solid"/>
          </a:ln>
        </p:spPr>
      </p:sp>
      <p:sp>
        <p:nvSpPr>
          <p:cNvPr id="54" name="Shape 52"/>
          <p:cNvSpPr/>
          <p:nvPr/>
        </p:nvSpPr>
        <p:spPr>
          <a:xfrm>
            <a:off x="3090672" y="3785616"/>
            <a:ext cx="109728" cy="109728"/>
          </a:xfrm>
          <a:prstGeom prst="ellipse">
            <a:avLst/>
          </a:prstGeom>
          <a:solidFill>
            <a:srgbClr val="A5ADBA"/>
          </a:solidFill>
          <a:ln w="6350">
            <a:solidFill>
              <a:srgbClr val="7D8794"/>
            </a:solidFill>
            <a:prstDash val="solid"/>
          </a:ln>
        </p:spPr>
      </p:sp>
      <p:sp>
        <p:nvSpPr>
          <p:cNvPr id="55" name="Shape 53"/>
          <p:cNvSpPr/>
          <p:nvPr/>
        </p:nvSpPr>
        <p:spPr>
          <a:xfrm>
            <a:off x="3291840" y="3785616"/>
            <a:ext cx="109728" cy="109728"/>
          </a:xfrm>
          <a:prstGeom prst="ellipse">
            <a:avLst/>
          </a:prstGeom>
          <a:solidFill>
            <a:srgbClr val="A5ADBA"/>
          </a:solidFill>
          <a:ln w="6350">
            <a:solidFill>
              <a:srgbClr val="7D8794"/>
            </a:solidFill>
            <a:prstDash val="solid"/>
          </a:ln>
        </p:spPr>
      </p:sp>
      <p:sp>
        <p:nvSpPr>
          <p:cNvPr id="56" name="Shape 54"/>
          <p:cNvSpPr/>
          <p:nvPr/>
        </p:nvSpPr>
        <p:spPr>
          <a:xfrm>
            <a:off x="3493008" y="3785616"/>
            <a:ext cx="109728" cy="109728"/>
          </a:xfrm>
          <a:prstGeom prst="ellipse">
            <a:avLst/>
          </a:prstGeom>
          <a:solidFill>
            <a:srgbClr val="A5ADBA"/>
          </a:solidFill>
          <a:ln w="6350">
            <a:solidFill>
              <a:srgbClr val="7D8794"/>
            </a:solidFill>
            <a:prstDash val="solid"/>
          </a:ln>
        </p:spPr>
      </p:sp>
      <p:sp>
        <p:nvSpPr>
          <p:cNvPr id="57" name="Shape 55"/>
          <p:cNvSpPr/>
          <p:nvPr/>
        </p:nvSpPr>
        <p:spPr>
          <a:xfrm>
            <a:off x="3694176" y="3785616"/>
            <a:ext cx="109728" cy="109728"/>
          </a:xfrm>
          <a:prstGeom prst="ellipse">
            <a:avLst/>
          </a:prstGeom>
          <a:solidFill>
            <a:srgbClr val="A5ADBA"/>
          </a:solidFill>
          <a:ln w="6350">
            <a:solidFill>
              <a:srgbClr val="7D8794"/>
            </a:solidFill>
            <a:prstDash val="solid"/>
          </a:ln>
        </p:spPr>
      </p:sp>
      <p:sp>
        <p:nvSpPr>
          <p:cNvPr id="58" name="Shape 56"/>
          <p:cNvSpPr/>
          <p:nvPr/>
        </p:nvSpPr>
        <p:spPr>
          <a:xfrm>
            <a:off x="3895344" y="3785616"/>
            <a:ext cx="109728" cy="109728"/>
          </a:xfrm>
          <a:prstGeom prst="ellipse">
            <a:avLst/>
          </a:prstGeom>
          <a:solidFill>
            <a:srgbClr val="A5ADBA"/>
          </a:solidFill>
          <a:ln w="6350">
            <a:solidFill>
              <a:srgbClr val="7D8794"/>
            </a:solidFill>
            <a:prstDash val="solid"/>
          </a:ln>
        </p:spPr>
      </p:sp>
      <p:sp>
        <p:nvSpPr>
          <p:cNvPr id="59" name="Shape 57"/>
          <p:cNvSpPr/>
          <p:nvPr/>
        </p:nvSpPr>
        <p:spPr>
          <a:xfrm>
            <a:off x="4096512" y="3785616"/>
            <a:ext cx="109728" cy="109728"/>
          </a:xfrm>
          <a:prstGeom prst="ellipse">
            <a:avLst/>
          </a:prstGeom>
          <a:solidFill>
            <a:srgbClr val="A5ADBA"/>
          </a:solidFill>
          <a:ln w="6350">
            <a:solidFill>
              <a:srgbClr val="7D8794"/>
            </a:solidFill>
            <a:prstDash val="solid"/>
          </a:ln>
        </p:spPr>
      </p:sp>
      <p:sp>
        <p:nvSpPr>
          <p:cNvPr id="60" name="Shape 58"/>
          <p:cNvSpPr/>
          <p:nvPr/>
        </p:nvSpPr>
        <p:spPr>
          <a:xfrm>
            <a:off x="4297680" y="3785616"/>
            <a:ext cx="109728" cy="109728"/>
          </a:xfrm>
          <a:prstGeom prst="ellipse">
            <a:avLst/>
          </a:prstGeom>
          <a:solidFill>
            <a:srgbClr val="A5ADBA"/>
          </a:solidFill>
          <a:ln w="6350">
            <a:solidFill>
              <a:srgbClr val="7D8794"/>
            </a:solidFill>
            <a:prstDash val="solid"/>
          </a:ln>
        </p:spPr>
      </p:sp>
      <p:sp>
        <p:nvSpPr>
          <p:cNvPr id="61" name="Shape 59"/>
          <p:cNvSpPr/>
          <p:nvPr/>
        </p:nvSpPr>
        <p:spPr>
          <a:xfrm>
            <a:off x="4498848" y="3785616"/>
            <a:ext cx="109728" cy="109728"/>
          </a:xfrm>
          <a:prstGeom prst="ellipse">
            <a:avLst/>
          </a:prstGeom>
          <a:solidFill>
            <a:srgbClr val="A5ADBA"/>
          </a:solidFill>
          <a:ln w="6350">
            <a:solidFill>
              <a:srgbClr val="7D8794"/>
            </a:solidFill>
            <a:prstDash val="solid"/>
          </a:ln>
        </p:spPr>
      </p:sp>
      <p:sp>
        <p:nvSpPr>
          <p:cNvPr id="62" name="Shape 60"/>
          <p:cNvSpPr/>
          <p:nvPr/>
        </p:nvSpPr>
        <p:spPr>
          <a:xfrm>
            <a:off x="4700016" y="3785616"/>
            <a:ext cx="109728" cy="109728"/>
          </a:xfrm>
          <a:prstGeom prst="ellipse">
            <a:avLst/>
          </a:prstGeom>
          <a:solidFill>
            <a:srgbClr val="A5ADBA"/>
          </a:solidFill>
          <a:ln w="6350">
            <a:solidFill>
              <a:srgbClr val="7D8794"/>
            </a:solidFill>
            <a:prstDash val="solid"/>
          </a:ln>
        </p:spPr>
      </p:sp>
      <p:sp>
        <p:nvSpPr>
          <p:cNvPr id="63" name="Shape 61"/>
          <p:cNvSpPr/>
          <p:nvPr/>
        </p:nvSpPr>
        <p:spPr>
          <a:xfrm>
            <a:off x="4901184" y="3785616"/>
            <a:ext cx="109728" cy="109728"/>
          </a:xfrm>
          <a:prstGeom prst="ellipse">
            <a:avLst/>
          </a:prstGeom>
          <a:solidFill>
            <a:srgbClr val="A5ADBA"/>
          </a:solidFill>
          <a:ln w="6350">
            <a:solidFill>
              <a:srgbClr val="7D8794"/>
            </a:solidFill>
            <a:prstDash val="solid"/>
          </a:ln>
        </p:spPr>
      </p:sp>
      <p:sp>
        <p:nvSpPr>
          <p:cNvPr id="64" name="Shape 62"/>
          <p:cNvSpPr/>
          <p:nvPr/>
        </p:nvSpPr>
        <p:spPr>
          <a:xfrm>
            <a:off x="5102352" y="3785616"/>
            <a:ext cx="109728" cy="109728"/>
          </a:xfrm>
          <a:prstGeom prst="ellipse">
            <a:avLst/>
          </a:prstGeom>
          <a:solidFill>
            <a:srgbClr val="A5ADBA"/>
          </a:solidFill>
          <a:ln w="6350">
            <a:solidFill>
              <a:srgbClr val="7D8794"/>
            </a:solidFill>
            <a:prstDash val="solid"/>
          </a:ln>
        </p:spPr>
      </p:sp>
      <p:sp>
        <p:nvSpPr>
          <p:cNvPr id="65" name="Shape 63"/>
          <p:cNvSpPr/>
          <p:nvPr/>
        </p:nvSpPr>
        <p:spPr>
          <a:xfrm>
            <a:off x="5303520" y="3785616"/>
            <a:ext cx="109728" cy="109728"/>
          </a:xfrm>
          <a:prstGeom prst="ellipse">
            <a:avLst/>
          </a:prstGeom>
          <a:solidFill>
            <a:srgbClr val="A5ADBA"/>
          </a:solidFill>
          <a:ln w="6350">
            <a:solidFill>
              <a:srgbClr val="7D8794"/>
            </a:solidFill>
            <a:prstDash val="solid"/>
          </a:ln>
        </p:spPr>
      </p:sp>
      <p:sp>
        <p:nvSpPr>
          <p:cNvPr id="66" name="Shape 64"/>
          <p:cNvSpPr/>
          <p:nvPr/>
        </p:nvSpPr>
        <p:spPr>
          <a:xfrm>
            <a:off x="822960" y="3401568"/>
            <a:ext cx="2286000" cy="182880"/>
          </a:xfrm>
          <a:prstGeom prst="rect">
            <a:avLst/>
          </a:prstGeom>
          <a:solidFill>
            <a:srgbClr val="3A7BC8"/>
          </a:solidFill>
          <a:ln w="9525">
            <a:solidFill>
              <a:srgbClr val="1F4E8C"/>
            </a:solidFill>
            <a:prstDash val="solid"/>
          </a:ln>
        </p:spPr>
      </p:sp>
      <p:sp>
        <p:nvSpPr>
          <p:cNvPr id="67" name="Shape 65"/>
          <p:cNvSpPr/>
          <p:nvPr/>
        </p:nvSpPr>
        <p:spPr>
          <a:xfrm>
            <a:off x="3291840" y="3401568"/>
            <a:ext cx="2286000" cy="182880"/>
          </a:xfrm>
          <a:prstGeom prst="rect">
            <a:avLst/>
          </a:prstGeom>
          <a:solidFill>
            <a:srgbClr val="3A7BC8"/>
          </a:solidFill>
          <a:ln w="9525">
            <a:solidFill>
              <a:srgbClr val="1F4E8C"/>
            </a:solidFill>
            <a:prstDash val="solid"/>
          </a:ln>
        </p:spPr>
      </p:sp>
      <p:sp>
        <p:nvSpPr>
          <p:cNvPr id="68" name="Shape 66"/>
          <p:cNvSpPr/>
          <p:nvPr/>
        </p:nvSpPr>
        <p:spPr>
          <a:xfrm>
            <a:off x="3008376" y="3502152"/>
            <a:ext cx="384048" cy="201168"/>
          </a:xfrm>
          <a:prstGeom prst="ellipse">
            <a:avLst/>
          </a:prstGeom>
          <a:solidFill>
            <a:srgbClr val="B5541E"/>
          </a:solidFill>
          <a:ln w="9525">
            <a:solidFill>
              <a:srgbClr val="7A3510"/>
            </a:solidFill>
            <a:prstDash val="solid"/>
          </a:ln>
        </p:spPr>
      </p:sp>
      <p:sp>
        <p:nvSpPr>
          <p:cNvPr id="69" name="Shape 67"/>
          <p:cNvSpPr/>
          <p:nvPr/>
        </p:nvSpPr>
        <p:spPr>
          <a:xfrm>
            <a:off x="3200400" y="3154680"/>
            <a:ext cx="91" cy="338328"/>
          </a:xfrm>
          <a:prstGeom prst="line">
            <a:avLst/>
          </a:prstGeom>
          <a:noFill/>
          <a:ln w="19050">
            <a:solidFill>
              <a:srgbClr val="5B9BD5"/>
            </a:solidFill>
            <a:prstDash val="solid"/>
            <a:tailEnd type="triangle"/>
          </a:ln>
        </p:spPr>
      </p:sp>
      <p:sp>
        <p:nvSpPr>
          <p:cNvPr id="70" name="Text 68"/>
          <p:cNvSpPr/>
          <p:nvPr/>
        </p:nvSpPr>
        <p:spPr>
          <a:xfrm>
            <a:off x="3337560" y="3154680"/>
            <a:ext cx="2011680" cy="201168"/>
          </a:xfrm>
          <a:prstGeom prst="rect">
            <a:avLst/>
          </a:prstGeom>
          <a:noFill/>
          <a:ln/>
        </p:spPr>
        <p:txBody>
          <a:bodyPr wrap="square" lIns="0" tIns="0" rIns="0" bIns="0" rtlCol="0" anchor="ctr"/>
          <a:lstStyle/>
          <a:p>
            <a:pPr algn="l" indent="0" marL="0">
              <a:buNone/>
            </a:pPr>
            <a:r>
              <a:rPr lang="en-US" sz="1000" b="1" dirty="0">
                <a:solidFill>
                  <a:srgbClr val="7A3510"/>
                </a:solidFill>
                <a:latin typeface="Calibri" pitchFamily="34" charset="0"/>
                <a:ea typeface="Calibri" pitchFamily="34" charset="-122"/>
                <a:cs typeface="Calibri" pitchFamily="34" charset="-120"/>
              </a:rPr>
              <a:t>rust spreads under paint</a:t>
            </a:r>
            <a:endParaRPr lang="en-US" sz="1000" dirty="0"/>
          </a:p>
        </p:txBody>
      </p:sp>
      <p:sp>
        <p:nvSpPr>
          <p:cNvPr id="71" name="Shape 69"/>
          <p:cNvSpPr/>
          <p:nvPr/>
        </p:nvSpPr>
        <p:spPr>
          <a:xfrm>
            <a:off x="640080" y="4251960"/>
            <a:ext cx="1207008" cy="914400"/>
          </a:xfrm>
          <a:prstGeom prst="roundRect">
            <a:avLst>
              <a:gd name="adj" fmla="val 5000"/>
            </a:avLst>
          </a:prstGeom>
          <a:solidFill>
            <a:srgbClr val="FFFFFF"/>
          </a:solidFill>
          <a:ln w="12700">
            <a:solidFill>
              <a:srgbClr val="DDD3EC"/>
            </a:solidFill>
            <a:prstDash val="solid"/>
          </a:ln>
        </p:spPr>
      </p:sp>
      <p:sp>
        <p:nvSpPr>
          <p:cNvPr id="72" name="Shape 70"/>
          <p:cNvSpPr/>
          <p:nvPr/>
        </p:nvSpPr>
        <p:spPr>
          <a:xfrm>
            <a:off x="731520" y="4343400"/>
            <a:ext cx="1024128" cy="128016"/>
          </a:xfrm>
          <a:prstGeom prst="rect">
            <a:avLst/>
          </a:prstGeom>
          <a:solidFill>
            <a:srgbClr val="3A7BC8"/>
          </a:solidFill>
          <a:ln w="6350">
            <a:solidFill>
              <a:srgbClr val="2A1F3D"/>
            </a:solidFill>
            <a:prstDash val="solid"/>
          </a:ln>
        </p:spPr>
      </p:sp>
      <p:sp>
        <p:nvSpPr>
          <p:cNvPr id="73" name="Text 71"/>
          <p:cNvSpPr/>
          <p:nvPr/>
        </p:nvSpPr>
        <p:spPr>
          <a:xfrm>
            <a:off x="667512" y="4498848"/>
            <a:ext cx="1152144"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Paint</a:t>
            </a:r>
            <a:endParaRPr lang="en-US" sz="1050" dirty="0"/>
          </a:p>
        </p:txBody>
      </p:sp>
      <p:sp>
        <p:nvSpPr>
          <p:cNvPr id="74" name="Text 72"/>
          <p:cNvSpPr/>
          <p:nvPr/>
        </p:nvSpPr>
        <p:spPr>
          <a:xfrm>
            <a:off x="667512" y="4736592"/>
            <a:ext cx="1152144"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cars, bridges, gates</a:t>
            </a:r>
            <a:endParaRPr lang="en-US" sz="1000" dirty="0"/>
          </a:p>
        </p:txBody>
      </p:sp>
      <p:sp>
        <p:nvSpPr>
          <p:cNvPr id="75" name="Shape 73"/>
          <p:cNvSpPr/>
          <p:nvPr/>
        </p:nvSpPr>
        <p:spPr>
          <a:xfrm>
            <a:off x="1938528" y="4251960"/>
            <a:ext cx="1207008" cy="914400"/>
          </a:xfrm>
          <a:prstGeom prst="roundRect">
            <a:avLst>
              <a:gd name="adj" fmla="val 5000"/>
            </a:avLst>
          </a:prstGeom>
          <a:solidFill>
            <a:srgbClr val="FFFFFF"/>
          </a:solidFill>
          <a:ln w="12700">
            <a:solidFill>
              <a:srgbClr val="DDD3EC"/>
            </a:solidFill>
            <a:prstDash val="solid"/>
          </a:ln>
        </p:spPr>
      </p:sp>
      <p:sp>
        <p:nvSpPr>
          <p:cNvPr id="76" name="Shape 74"/>
          <p:cNvSpPr/>
          <p:nvPr/>
        </p:nvSpPr>
        <p:spPr>
          <a:xfrm>
            <a:off x="2029968" y="4343400"/>
            <a:ext cx="1024128" cy="128016"/>
          </a:xfrm>
          <a:prstGeom prst="rect">
            <a:avLst/>
          </a:prstGeom>
          <a:solidFill>
            <a:srgbClr val="F3D27A"/>
          </a:solidFill>
          <a:ln w="6350">
            <a:solidFill>
              <a:srgbClr val="2A1F3D"/>
            </a:solidFill>
            <a:prstDash val="solid"/>
          </a:ln>
        </p:spPr>
      </p:sp>
      <p:sp>
        <p:nvSpPr>
          <p:cNvPr id="77" name="Text 75"/>
          <p:cNvSpPr/>
          <p:nvPr/>
        </p:nvSpPr>
        <p:spPr>
          <a:xfrm>
            <a:off x="1965960" y="4498848"/>
            <a:ext cx="1152144"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Oil / grease</a:t>
            </a:r>
            <a:endParaRPr lang="en-US" sz="1050" dirty="0"/>
          </a:p>
        </p:txBody>
      </p:sp>
      <p:sp>
        <p:nvSpPr>
          <p:cNvPr id="78" name="Text 76"/>
          <p:cNvSpPr/>
          <p:nvPr/>
        </p:nvSpPr>
        <p:spPr>
          <a:xfrm>
            <a:off x="1965960" y="4736592"/>
            <a:ext cx="1152144"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bike chains, tools</a:t>
            </a:r>
            <a:endParaRPr lang="en-US" sz="1000" dirty="0"/>
          </a:p>
        </p:txBody>
      </p:sp>
      <p:sp>
        <p:nvSpPr>
          <p:cNvPr id="79" name="Shape 77"/>
          <p:cNvSpPr/>
          <p:nvPr/>
        </p:nvSpPr>
        <p:spPr>
          <a:xfrm>
            <a:off x="3236976" y="4251960"/>
            <a:ext cx="1207008" cy="914400"/>
          </a:xfrm>
          <a:prstGeom prst="roundRect">
            <a:avLst>
              <a:gd name="adj" fmla="val 5000"/>
            </a:avLst>
          </a:prstGeom>
          <a:solidFill>
            <a:srgbClr val="FFFFFF"/>
          </a:solidFill>
          <a:ln w="12700">
            <a:solidFill>
              <a:srgbClr val="DDD3EC"/>
            </a:solidFill>
            <a:prstDash val="solid"/>
          </a:ln>
        </p:spPr>
      </p:sp>
      <p:sp>
        <p:nvSpPr>
          <p:cNvPr id="80" name="Shape 78"/>
          <p:cNvSpPr/>
          <p:nvPr/>
        </p:nvSpPr>
        <p:spPr>
          <a:xfrm>
            <a:off x="3328416" y="4343400"/>
            <a:ext cx="1024128" cy="128016"/>
          </a:xfrm>
          <a:prstGeom prst="rect">
            <a:avLst/>
          </a:prstGeom>
          <a:solidFill>
            <a:srgbClr val="5FB37A"/>
          </a:solidFill>
          <a:ln w="6350">
            <a:solidFill>
              <a:srgbClr val="2A1F3D"/>
            </a:solidFill>
            <a:prstDash val="solid"/>
          </a:ln>
        </p:spPr>
      </p:sp>
      <p:sp>
        <p:nvSpPr>
          <p:cNvPr id="81" name="Text 79"/>
          <p:cNvSpPr/>
          <p:nvPr/>
        </p:nvSpPr>
        <p:spPr>
          <a:xfrm>
            <a:off x="3264408" y="4498848"/>
            <a:ext cx="1152144"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Plastic</a:t>
            </a:r>
            <a:endParaRPr lang="en-US" sz="1050" dirty="0"/>
          </a:p>
        </p:txBody>
      </p:sp>
      <p:sp>
        <p:nvSpPr>
          <p:cNvPr id="82" name="Text 80"/>
          <p:cNvSpPr/>
          <p:nvPr/>
        </p:nvSpPr>
        <p:spPr>
          <a:xfrm>
            <a:off x="3264408" y="4736592"/>
            <a:ext cx="1152144"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wire fences, dish racks</a:t>
            </a:r>
            <a:endParaRPr lang="en-US" sz="1000" dirty="0"/>
          </a:p>
        </p:txBody>
      </p:sp>
      <p:sp>
        <p:nvSpPr>
          <p:cNvPr id="83" name="Shape 81"/>
          <p:cNvSpPr/>
          <p:nvPr/>
        </p:nvSpPr>
        <p:spPr>
          <a:xfrm>
            <a:off x="4535424" y="4251960"/>
            <a:ext cx="1207008" cy="914400"/>
          </a:xfrm>
          <a:prstGeom prst="roundRect">
            <a:avLst>
              <a:gd name="adj" fmla="val 5000"/>
            </a:avLst>
          </a:prstGeom>
          <a:solidFill>
            <a:srgbClr val="FFFFFF"/>
          </a:solidFill>
          <a:ln w="12700">
            <a:solidFill>
              <a:srgbClr val="DDD3EC"/>
            </a:solidFill>
            <a:prstDash val="solid"/>
          </a:ln>
        </p:spPr>
      </p:sp>
      <p:sp>
        <p:nvSpPr>
          <p:cNvPr id="84" name="Shape 82"/>
          <p:cNvSpPr/>
          <p:nvPr/>
        </p:nvSpPr>
        <p:spPr>
          <a:xfrm>
            <a:off x="4626864" y="4343400"/>
            <a:ext cx="1024128" cy="128016"/>
          </a:xfrm>
          <a:prstGeom prst="rect">
            <a:avLst/>
          </a:prstGeom>
          <a:solidFill>
            <a:srgbClr val="D5DBE3"/>
          </a:solidFill>
          <a:ln w="6350">
            <a:solidFill>
              <a:srgbClr val="2A1F3D"/>
            </a:solidFill>
            <a:prstDash val="solid"/>
          </a:ln>
        </p:spPr>
      </p:sp>
      <p:sp>
        <p:nvSpPr>
          <p:cNvPr id="85" name="Text 83"/>
          <p:cNvSpPr/>
          <p:nvPr/>
        </p:nvSpPr>
        <p:spPr>
          <a:xfrm>
            <a:off x="4562856" y="4498848"/>
            <a:ext cx="1152144"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Tin plating</a:t>
            </a:r>
            <a:endParaRPr lang="en-US" sz="1050" dirty="0"/>
          </a:p>
        </p:txBody>
      </p:sp>
      <p:sp>
        <p:nvSpPr>
          <p:cNvPr id="86" name="Text 84"/>
          <p:cNvSpPr/>
          <p:nvPr/>
        </p:nvSpPr>
        <p:spPr>
          <a:xfrm>
            <a:off x="4562856" y="4736592"/>
            <a:ext cx="1152144"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food cans</a:t>
            </a:r>
            <a:endParaRPr lang="en-US" sz="1000" dirty="0"/>
          </a:p>
        </p:txBody>
      </p:sp>
      <p:sp>
        <p:nvSpPr>
          <p:cNvPr id="87" name="Shape 85"/>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88" name="Text 8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Barrier methods</a:t>
            </a:r>
            <a:endParaRPr lang="en-US" sz="1300" dirty="0"/>
          </a:p>
        </p:txBody>
      </p:sp>
      <p:sp>
        <p:nvSpPr>
          <p:cNvPr id="89" name="Text 87"/>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barrier</a:t>
            </a:r>
            <a:r>
              <a:rPr lang="en-US" sz="1100" dirty="0">
                <a:solidFill>
                  <a:srgbClr val="262B3A"/>
                </a:solidFill>
                <a:latin typeface="Calibri" pitchFamily="34" charset="0"/>
                <a:ea typeface="Calibri" pitchFamily="34" charset="-122"/>
                <a:cs typeface="Calibri" pitchFamily="34" charset="-120"/>
              </a:rPr>
              <a:t> coats the metal so </a:t>
            </a:r>
            <a:r>
              <a:rPr lang="en-US" sz="1100" b="1" dirty="0">
                <a:solidFill>
                  <a:srgbClr val="262B3A"/>
                </a:solidFill>
                <a:latin typeface="Calibri" pitchFamily="34" charset="0"/>
                <a:ea typeface="Calibri" pitchFamily="34" charset="-122"/>
                <a:cs typeface="Calibri" pitchFamily="34" charset="-120"/>
              </a:rPr>
              <a:t>oxygen</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 cannot reach its surface.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Paint</a:t>
            </a:r>
            <a:r>
              <a:rPr lang="en-US" sz="1100" dirty="0">
                <a:solidFill>
                  <a:srgbClr val="262B3A"/>
                </a:solidFill>
                <a:latin typeface="Calibri" pitchFamily="34" charset="0"/>
                <a:ea typeface="Calibri" pitchFamily="34" charset="-122"/>
                <a:cs typeface="Calibri" pitchFamily="34" charset="-120"/>
              </a:rPr>
              <a:t>: cheap, covers large areas; must be renewed. </a:t>
            </a:r>
            <a:r>
              <a:rPr lang="en-US" sz="1100" b="1" dirty="0">
                <a:solidFill>
                  <a:srgbClr val="262B3A"/>
                </a:solidFill>
                <a:latin typeface="Calibri" pitchFamily="34" charset="0"/>
                <a:ea typeface="Calibri" pitchFamily="34" charset="-122"/>
                <a:cs typeface="Calibri" pitchFamily="34" charset="-120"/>
              </a:rPr>
              <a:t>Oil or grease</a:t>
            </a:r>
            <a:r>
              <a:rPr lang="en-US" sz="1100" dirty="0">
                <a:solidFill>
                  <a:srgbClr val="262B3A"/>
                </a:solidFill>
                <a:latin typeface="Calibri" pitchFamily="34" charset="0"/>
                <a:ea typeface="Calibri" pitchFamily="34" charset="-122"/>
                <a:cs typeface="Calibri" pitchFamily="34" charset="-120"/>
              </a:rPr>
              <a:t>: for moving parts that paint would crack on.</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Plastic coating</a:t>
            </a:r>
            <a:r>
              <a:rPr lang="en-US" sz="1100" dirty="0">
                <a:solidFill>
                  <a:srgbClr val="262B3A"/>
                </a:solidFill>
                <a:latin typeface="Calibri" pitchFamily="34" charset="0"/>
                <a:ea typeface="Calibri" pitchFamily="34" charset="-122"/>
                <a:cs typeface="Calibri" pitchFamily="34" charset="-120"/>
              </a:rPr>
              <a:t>: tough, waterproof. </a:t>
            </a:r>
            <a:r>
              <a:rPr lang="en-US" sz="1100" b="1" dirty="0">
                <a:solidFill>
                  <a:srgbClr val="262B3A"/>
                </a:solidFill>
                <a:latin typeface="Calibri" pitchFamily="34" charset="0"/>
                <a:ea typeface="Calibri" pitchFamily="34" charset="-122"/>
                <a:cs typeface="Calibri" pitchFamily="34" charset="-120"/>
              </a:rPr>
              <a:t>Electroplating</a:t>
            </a:r>
            <a:r>
              <a:rPr lang="en-US" sz="1100" dirty="0">
                <a:solidFill>
                  <a:srgbClr val="262B3A"/>
                </a:solidFill>
                <a:latin typeface="Calibri" pitchFamily="34" charset="0"/>
                <a:ea typeface="Calibri" pitchFamily="34" charset="-122"/>
                <a:cs typeface="Calibri" pitchFamily="34" charset="-120"/>
              </a:rPr>
              <a:t> with tin or chromium: thin metal layer, attractive.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If the barrier is </a:t>
            </a:r>
            <a:r>
              <a:rPr lang="en-US" sz="1100" b="1" dirty="0">
                <a:solidFill>
                  <a:srgbClr val="262B3A"/>
                </a:solidFill>
                <a:latin typeface="Calibri" pitchFamily="34" charset="0"/>
                <a:ea typeface="Calibri" pitchFamily="34" charset="-122"/>
                <a:cs typeface="Calibri" pitchFamily="34" charset="-120"/>
              </a:rPr>
              <a:t>scratched</a:t>
            </a:r>
            <a:r>
              <a:rPr lang="en-US" sz="1100" dirty="0">
                <a:solidFill>
                  <a:srgbClr val="262B3A"/>
                </a:solidFill>
                <a:latin typeface="Calibri" pitchFamily="34" charset="0"/>
                <a:ea typeface="Calibri" pitchFamily="34" charset="-122"/>
                <a:cs typeface="Calibri" pitchFamily="34" charset="-120"/>
              </a:rPr>
              <a:t> or worn, the iron underneath is exposed and </a:t>
            </a:r>
            <a:r>
              <a:rPr lang="en-US" sz="1100" b="1" dirty="0">
                <a:solidFill>
                  <a:srgbClr val="262B3A"/>
                </a:solidFill>
                <a:latin typeface="Calibri" pitchFamily="34" charset="0"/>
                <a:ea typeface="Calibri" pitchFamily="34" charset="-122"/>
                <a:cs typeface="Calibri" pitchFamily="34" charset="-120"/>
              </a:rPr>
              <a:t>rusts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Barriers </a:t>
            </a:r>
            <a:r>
              <a:rPr lang="en-US" sz="1100" b="1" dirty="0">
                <a:solidFill>
                  <a:srgbClr val="262B3A"/>
                </a:solidFill>
                <a:latin typeface="Calibri" pitchFamily="34" charset="0"/>
                <a:ea typeface="Calibri" pitchFamily="34" charset="-122"/>
                <a:cs typeface="Calibri" pitchFamily="34" charset="-120"/>
              </a:rPr>
              <a:t>extend the useful life</a:t>
            </a:r>
            <a:r>
              <a:rPr lang="en-US" sz="1100" dirty="0">
                <a:solidFill>
                  <a:srgbClr val="262B3A"/>
                </a:solidFill>
                <a:latin typeface="Calibri" pitchFamily="34" charset="0"/>
                <a:ea typeface="Calibri" pitchFamily="34" charset="-122"/>
                <a:cs typeface="Calibri" pitchFamily="34" charset="-120"/>
              </a:rPr>
              <a:t> of a product, which improves its </a:t>
            </a:r>
            <a:r>
              <a:rPr lang="en-US" sz="1100" b="1" dirty="0">
                <a:solidFill>
                  <a:srgbClr val="262B3A"/>
                </a:solidFill>
                <a:latin typeface="Calibri" pitchFamily="34" charset="0"/>
                <a:ea typeface="Calibri" pitchFamily="34" charset="-122"/>
                <a:cs typeface="Calibri" pitchFamily="34" charset="-120"/>
              </a:rPr>
              <a:t>life-cycle assessment</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90" name="Shape 88"/>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91" name="Text 89"/>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paint needed</a:t>
            </a:r>
            <a:endParaRPr lang="en-US" sz="1300" dirty="0"/>
          </a:p>
        </p:txBody>
      </p:sp>
      <p:sp>
        <p:nvSpPr>
          <p:cNvPr id="92" name="Text 90"/>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railing is 30 m long and 1.2 m high. One tin of paint covers 12 m².</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Area   </a:t>
            </a:r>
            <a:r>
              <a:rPr lang="en-US" sz="1050" dirty="0">
                <a:solidFill>
                  <a:srgbClr val="262B3A"/>
                </a:solidFill>
                <a:latin typeface="Calibri" pitchFamily="34" charset="0"/>
                <a:ea typeface="Calibri" pitchFamily="34" charset="-122"/>
                <a:cs typeface="Calibri" pitchFamily="34" charset="-120"/>
              </a:rPr>
              <a:t>30 × 1.2 = 36 m²</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36 ÷ 12 = </a:t>
            </a:r>
            <a:r>
              <a:rPr lang="en-US" sz="1050" b="1" dirty="0">
                <a:solidFill>
                  <a:srgbClr val="C8414C"/>
                </a:solidFill>
                <a:latin typeface="Calibri" pitchFamily="34" charset="0"/>
                <a:ea typeface="Calibri" pitchFamily="34" charset="-122"/>
                <a:cs typeface="Calibri" pitchFamily="34" charset="-120"/>
              </a:rPr>
              <a:t>3 tins</a:t>
            </a:r>
            <a:r>
              <a:rPr lang="en-US" sz="1050" b="1" dirty="0">
                <a:solidFill>
                  <a:srgbClr val="C8414C"/>
                </a:solidFill>
                <a:latin typeface="Calibri" pitchFamily="34" charset="0"/>
                <a:ea typeface="Calibri" pitchFamily="34" charset="-122"/>
                <a:cs typeface="Calibri" pitchFamily="34" charset="-120"/>
              </a:rPr>
              <a:t> for one coat</a:t>
            </a:r>
            <a:endParaRPr lang="en-US" sz="1050" dirty="0"/>
          </a:p>
        </p:txBody>
      </p:sp>
      <p:sp>
        <p:nvSpPr>
          <p:cNvPr id="93" name="Shape 91"/>
          <p:cNvSpPr/>
          <p:nvPr/>
        </p:nvSpPr>
        <p:spPr>
          <a:xfrm>
            <a:off x="411480" y="5833872"/>
            <a:ext cx="11368735" cy="530352"/>
          </a:xfrm>
          <a:prstGeom prst="rect">
            <a:avLst/>
          </a:prstGeom>
          <a:solidFill>
            <a:srgbClr val="FFF4E0"/>
          </a:solidFill>
          <a:ln w="6350">
            <a:solidFill>
              <a:srgbClr val="F1D9A8"/>
            </a:solidFill>
            <a:prstDash val="solid"/>
          </a:ln>
        </p:spPr>
      </p:sp>
      <p:sp>
        <p:nvSpPr>
          <p:cNvPr id="94" name="Shape 92"/>
          <p:cNvSpPr/>
          <p:nvPr/>
        </p:nvSpPr>
        <p:spPr>
          <a:xfrm>
            <a:off x="411480" y="5833872"/>
            <a:ext cx="82296" cy="530352"/>
          </a:xfrm>
          <a:prstGeom prst="rect">
            <a:avLst/>
          </a:prstGeom>
          <a:solidFill>
            <a:srgbClr val="E39A2F"/>
          </a:solidFill>
          <a:ln w="12700">
            <a:solidFill>
              <a:srgbClr val="E39A2F"/>
            </a:solidFill>
            <a:prstDash val="solid"/>
          </a:ln>
        </p:spPr>
      </p:sp>
      <p:sp>
        <p:nvSpPr>
          <p:cNvPr id="95" name="Text 9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a bicycle </a:t>
            </a:r>
            <a:r>
              <a:rPr lang="en-US" sz="1150" b="1" dirty="0">
                <a:solidFill>
                  <a:srgbClr val="262B3A"/>
                </a:solidFill>
                <a:latin typeface="Calibri" pitchFamily="34" charset="0"/>
                <a:ea typeface="Calibri" pitchFamily="34" charset="-122"/>
                <a:cs typeface="Calibri" pitchFamily="34" charset="-120"/>
              </a:rPr>
              <a:t>chain</a:t>
            </a:r>
            <a:r>
              <a:rPr lang="en-US" sz="1150" dirty="0">
                <a:solidFill>
                  <a:srgbClr val="262B3A"/>
                </a:solidFill>
                <a:latin typeface="Calibri" pitchFamily="34" charset="0"/>
                <a:ea typeface="Calibri" pitchFamily="34" charset="-122"/>
                <a:cs typeface="Calibri" pitchFamily="34" charset="-120"/>
              </a:rPr>
              <a:t> oiled rather than painted? A gate is </a:t>
            </a:r>
            <a:r>
              <a:rPr lang="en-US" sz="1150" b="1" dirty="0">
                <a:solidFill>
                  <a:srgbClr val="262B3A"/>
                </a:solidFill>
                <a:latin typeface="Calibri" pitchFamily="34" charset="0"/>
                <a:ea typeface="Calibri" pitchFamily="34" charset="-122"/>
                <a:cs typeface="Calibri" pitchFamily="34" charset="-120"/>
              </a:rPr>
              <a:t>2.0 m × 1.5 m</a:t>
            </a:r>
            <a:r>
              <a:rPr lang="en-US" sz="1150" dirty="0">
                <a:solidFill>
                  <a:srgbClr val="262B3A"/>
                </a:solidFill>
                <a:latin typeface="Calibri" pitchFamily="34" charset="0"/>
                <a:ea typeface="Calibri" pitchFamily="34" charset="-122"/>
                <a:cs typeface="Calibri" pitchFamily="34" charset="-120"/>
              </a:rPr>
              <a:t>: what area is painted on </a:t>
            </a:r>
            <a:r>
              <a:rPr lang="en-US" sz="1150" b="1" dirty="0">
                <a:solidFill>
                  <a:srgbClr val="262B3A"/>
                </a:solidFill>
                <a:latin typeface="Calibri" pitchFamily="34" charset="0"/>
                <a:ea typeface="Calibri" pitchFamily="34" charset="-122"/>
                <a:cs typeface="Calibri" pitchFamily="34" charset="-120"/>
              </a:rPr>
              <a:t>both</a:t>
            </a:r>
            <a:r>
              <a:rPr lang="en-US" sz="1150" dirty="0">
                <a:solidFill>
                  <a:srgbClr val="262B3A"/>
                </a:solidFill>
                <a:latin typeface="Calibri" pitchFamily="34" charset="0"/>
                <a:ea typeface="Calibri" pitchFamily="34" charset="-122"/>
                <a:cs typeface="Calibri" pitchFamily="34" charset="-120"/>
              </a:rPr>
              <a:t> sides?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Preventing corrosion: sacrificial metals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C4.4.1 • mitigation by sacrificial protection with a more reactive metal</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C4.4.1  |  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galvanised steel (top); ship hull with zinc blocks (bottom); not to scale</a:t>
            </a:r>
            <a:endParaRPr lang="en-US" sz="1000" dirty="0"/>
          </a:p>
        </p:txBody>
      </p:sp>
      <p:sp>
        <p:nvSpPr>
          <p:cNvPr id="10" name="Text 8"/>
          <p:cNvSpPr/>
          <p:nvPr/>
        </p:nvSpPr>
        <p:spPr>
          <a:xfrm>
            <a:off x="640080" y="1325880"/>
            <a:ext cx="356616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Galvanised</a:t>
            </a:r>
            <a:r>
              <a:rPr lang="en-US" sz="1050" dirty="0">
                <a:solidFill>
                  <a:srgbClr val="262B3A"/>
                </a:solidFill>
                <a:latin typeface="Calibri" pitchFamily="34" charset="0"/>
                <a:ea typeface="Calibri" pitchFamily="34" charset="-122"/>
                <a:cs typeface="Calibri" pitchFamily="34" charset="-120"/>
              </a:rPr>
              <a:t> steel, scratched</a:t>
            </a:r>
            <a:endParaRPr lang="en-US" sz="1050" dirty="0"/>
          </a:p>
        </p:txBody>
      </p:sp>
      <p:sp>
        <p:nvSpPr>
          <p:cNvPr id="11" name="Shape 9"/>
          <p:cNvSpPr/>
          <p:nvPr/>
        </p:nvSpPr>
        <p:spPr>
          <a:xfrm>
            <a:off x="822960" y="2103120"/>
            <a:ext cx="3291840" cy="502920"/>
          </a:xfrm>
          <a:prstGeom prst="rect">
            <a:avLst/>
          </a:prstGeom>
          <a:solidFill>
            <a:srgbClr val="B9C0CC"/>
          </a:solidFill>
          <a:ln w="12700">
            <a:solidFill>
              <a:srgbClr val="5A6275"/>
            </a:solidFill>
            <a:prstDash val="solid"/>
          </a:ln>
        </p:spPr>
      </p:sp>
      <p:sp>
        <p:nvSpPr>
          <p:cNvPr id="12" name="Shape 10"/>
          <p:cNvSpPr/>
          <p:nvPr/>
        </p:nvSpPr>
        <p:spPr>
          <a:xfrm>
            <a:off x="877824" y="2304288"/>
            <a:ext cx="109728" cy="109728"/>
          </a:xfrm>
          <a:prstGeom prst="ellipse">
            <a:avLst/>
          </a:prstGeom>
          <a:solidFill>
            <a:srgbClr val="A5ADBA"/>
          </a:solidFill>
          <a:ln w="6350">
            <a:solidFill>
              <a:srgbClr val="7D8794"/>
            </a:solidFill>
            <a:prstDash val="solid"/>
          </a:ln>
        </p:spPr>
      </p:sp>
      <p:sp>
        <p:nvSpPr>
          <p:cNvPr id="13" name="Shape 11"/>
          <p:cNvSpPr/>
          <p:nvPr/>
        </p:nvSpPr>
        <p:spPr>
          <a:xfrm>
            <a:off x="1078992" y="2304288"/>
            <a:ext cx="109728" cy="109728"/>
          </a:xfrm>
          <a:prstGeom prst="ellipse">
            <a:avLst/>
          </a:prstGeom>
          <a:solidFill>
            <a:srgbClr val="A5ADBA"/>
          </a:solidFill>
          <a:ln w="6350">
            <a:solidFill>
              <a:srgbClr val="7D8794"/>
            </a:solidFill>
            <a:prstDash val="solid"/>
          </a:ln>
        </p:spPr>
      </p:sp>
      <p:sp>
        <p:nvSpPr>
          <p:cNvPr id="14" name="Shape 12"/>
          <p:cNvSpPr/>
          <p:nvPr/>
        </p:nvSpPr>
        <p:spPr>
          <a:xfrm>
            <a:off x="1280160" y="2304288"/>
            <a:ext cx="109728" cy="109728"/>
          </a:xfrm>
          <a:prstGeom prst="ellipse">
            <a:avLst/>
          </a:prstGeom>
          <a:solidFill>
            <a:srgbClr val="A5ADBA"/>
          </a:solidFill>
          <a:ln w="6350">
            <a:solidFill>
              <a:srgbClr val="7D8794"/>
            </a:solidFill>
            <a:prstDash val="solid"/>
          </a:ln>
        </p:spPr>
      </p:sp>
      <p:sp>
        <p:nvSpPr>
          <p:cNvPr id="15" name="Shape 13"/>
          <p:cNvSpPr/>
          <p:nvPr/>
        </p:nvSpPr>
        <p:spPr>
          <a:xfrm>
            <a:off x="1481328" y="2304288"/>
            <a:ext cx="109728" cy="109728"/>
          </a:xfrm>
          <a:prstGeom prst="ellipse">
            <a:avLst/>
          </a:prstGeom>
          <a:solidFill>
            <a:srgbClr val="A5ADBA"/>
          </a:solidFill>
          <a:ln w="6350">
            <a:solidFill>
              <a:srgbClr val="7D8794"/>
            </a:solidFill>
            <a:prstDash val="solid"/>
          </a:ln>
        </p:spPr>
      </p:sp>
      <p:sp>
        <p:nvSpPr>
          <p:cNvPr id="16" name="Shape 14"/>
          <p:cNvSpPr/>
          <p:nvPr/>
        </p:nvSpPr>
        <p:spPr>
          <a:xfrm>
            <a:off x="1682496" y="2304288"/>
            <a:ext cx="109728" cy="109728"/>
          </a:xfrm>
          <a:prstGeom prst="ellipse">
            <a:avLst/>
          </a:prstGeom>
          <a:solidFill>
            <a:srgbClr val="A5ADBA"/>
          </a:solidFill>
          <a:ln w="6350">
            <a:solidFill>
              <a:srgbClr val="7D8794"/>
            </a:solidFill>
            <a:prstDash val="solid"/>
          </a:ln>
        </p:spPr>
      </p:sp>
      <p:sp>
        <p:nvSpPr>
          <p:cNvPr id="17" name="Shape 15"/>
          <p:cNvSpPr/>
          <p:nvPr/>
        </p:nvSpPr>
        <p:spPr>
          <a:xfrm>
            <a:off x="1883664" y="2304288"/>
            <a:ext cx="109728" cy="109728"/>
          </a:xfrm>
          <a:prstGeom prst="ellipse">
            <a:avLst/>
          </a:prstGeom>
          <a:solidFill>
            <a:srgbClr val="A5ADBA"/>
          </a:solidFill>
          <a:ln w="6350">
            <a:solidFill>
              <a:srgbClr val="7D8794"/>
            </a:solidFill>
            <a:prstDash val="solid"/>
          </a:ln>
        </p:spPr>
      </p:sp>
      <p:sp>
        <p:nvSpPr>
          <p:cNvPr id="18" name="Shape 16"/>
          <p:cNvSpPr/>
          <p:nvPr/>
        </p:nvSpPr>
        <p:spPr>
          <a:xfrm>
            <a:off x="2084832" y="2304288"/>
            <a:ext cx="109728" cy="109728"/>
          </a:xfrm>
          <a:prstGeom prst="ellipse">
            <a:avLst/>
          </a:prstGeom>
          <a:solidFill>
            <a:srgbClr val="A5ADBA"/>
          </a:solidFill>
          <a:ln w="6350">
            <a:solidFill>
              <a:srgbClr val="7D8794"/>
            </a:solidFill>
            <a:prstDash val="solid"/>
          </a:ln>
        </p:spPr>
      </p:sp>
      <p:sp>
        <p:nvSpPr>
          <p:cNvPr id="19" name="Shape 17"/>
          <p:cNvSpPr/>
          <p:nvPr/>
        </p:nvSpPr>
        <p:spPr>
          <a:xfrm>
            <a:off x="2286000" y="2304288"/>
            <a:ext cx="109728" cy="109728"/>
          </a:xfrm>
          <a:prstGeom prst="ellipse">
            <a:avLst/>
          </a:prstGeom>
          <a:solidFill>
            <a:srgbClr val="A5ADBA"/>
          </a:solidFill>
          <a:ln w="6350">
            <a:solidFill>
              <a:srgbClr val="7D8794"/>
            </a:solidFill>
            <a:prstDash val="solid"/>
          </a:ln>
        </p:spPr>
      </p:sp>
      <p:sp>
        <p:nvSpPr>
          <p:cNvPr id="20" name="Shape 18"/>
          <p:cNvSpPr/>
          <p:nvPr/>
        </p:nvSpPr>
        <p:spPr>
          <a:xfrm>
            <a:off x="2487168" y="2304288"/>
            <a:ext cx="109728" cy="109728"/>
          </a:xfrm>
          <a:prstGeom prst="ellipse">
            <a:avLst/>
          </a:prstGeom>
          <a:solidFill>
            <a:srgbClr val="A5ADBA"/>
          </a:solidFill>
          <a:ln w="6350">
            <a:solidFill>
              <a:srgbClr val="7D8794"/>
            </a:solidFill>
            <a:prstDash val="solid"/>
          </a:ln>
        </p:spPr>
      </p:sp>
      <p:sp>
        <p:nvSpPr>
          <p:cNvPr id="21" name="Shape 19"/>
          <p:cNvSpPr/>
          <p:nvPr/>
        </p:nvSpPr>
        <p:spPr>
          <a:xfrm>
            <a:off x="2688336" y="2304288"/>
            <a:ext cx="109728" cy="109728"/>
          </a:xfrm>
          <a:prstGeom prst="ellipse">
            <a:avLst/>
          </a:prstGeom>
          <a:solidFill>
            <a:srgbClr val="A5ADBA"/>
          </a:solidFill>
          <a:ln w="6350">
            <a:solidFill>
              <a:srgbClr val="7D8794"/>
            </a:solidFill>
            <a:prstDash val="solid"/>
          </a:ln>
        </p:spPr>
      </p:sp>
      <p:sp>
        <p:nvSpPr>
          <p:cNvPr id="22" name="Shape 20"/>
          <p:cNvSpPr/>
          <p:nvPr/>
        </p:nvSpPr>
        <p:spPr>
          <a:xfrm>
            <a:off x="2889504" y="2304288"/>
            <a:ext cx="109728" cy="109728"/>
          </a:xfrm>
          <a:prstGeom prst="ellipse">
            <a:avLst/>
          </a:prstGeom>
          <a:solidFill>
            <a:srgbClr val="A5ADBA"/>
          </a:solidFill>
          <a:ln w="6350">
            <a:solidFill>
              <a:srgbClr val="7D8794"/>
            </a:solidFill>
            <a:prstDash val="solid"/>
          </a:ln>
        </p:spPr>
      </p:sp>
      <p:sp>
        <p:nvSpPr>
          <p:cNvPr id="23" name="Shape 21"/>
          <p:cNvSpPr/>
          <p:nvPr/>
        </p:nvSpPr>
        <p:spPr>
          <a:xfrm>
            <a:off x="3090672" y="2304288"/>
            <a:ext cx="109728" cy="109728"/>
          </a:xfrm>
          <a:prstGeom prst="ellipse">
            <a:avLst/>
          </a:prstGeom>
          <a:solidFill>
            <a:srgbClr val="A5ADBA"/>
          </a:solidFill>
          <a:ln w="6350">
            <a:solidFill>
              <a:srgbClr val="7D8794"/>
            </a:solidFill>
            <a:prstDash val="solid"/>
          </a:ln>
        </p:spPr>
      </p:sp>
      <p:sp>
        <p:nvSpPr>
          <p:cNvPr id="24" name="Shape 22"/>
          <p:cNvSpPr/>
          <p:nvPr/>
        </p:nvSpPr>
        <p:spPr>
          <a:xfrm>
            <a:off x="3291840" y="2304288"/>
            <a:ext cx="109728" cy="109728"/>
          </a:xfrm>
          <a:prstGeom prst="ellipse">
            <a:avLst/>
          </a:prstGeom>
          <a:solidFill>
            <a:srgbClr val="A5ADBA"/>
          </a:solidFill>
          <a:ln w="6350">
            <a:solidFill>
              <a:srgbClr val="7D8794"/>
            </a:solidFill>
            <a:prstDash val="solid"/>
          </a:ln>
        </p:spPr>
      </p:sp>
      <p:sp>
        <p:nvSpPr>
          <p:cNvPr id="25" name="Shape 23"/>
          <p:cNvSpPr/>
          <p:nvPr/>
        </p:nvSpPr>
        <p:spPr>
          <a:xfrm>
            <a:off x="3493008" y="2304288"/>
            <a:ext cx="109728" cy="109728"/>
          </a:xfrm>
          <a:prstGeom prst="ellipse">
            <a:avLst/>
          </a:prstGeom>
          <a:solidFill>
            <a:srgbClr val="A5ADBA"/>
          </a:solidFill>
          <a:ln w="6350">
            <a:solidFill>
              <a:srgbClr val="7D8794"/>
            </a:solidFill>
            <a:prstDash val="solid"/>
          </a:ln>
        </p:spPr>
      </p:sp>
      <p:sp>
        <p:nvSpPr>
          <p:cNvPr id="26" name="Shape 24"/>
          <p:cNvSpPr/>
          <p:nvPr/>
        </p:nvSpPr>
        <p:spPr>
          <a:xfrm>
            <a:off x="3694176" y="2304288"/>
            <a:ext cx="109728" cy="109728"/>
          </a:xfrm>
          <a:prstGeom prst="ellipse">
            <a:avLst/>
          </a:prstGeom>
          <a:solidFill>
            <a:srgbClr val="A5ADBA"/>
          </a:solidFill>
          <a:ln w="6350">
            <a:solidFill>
              <a:srgbClr val="7D8794"/>
            </a:solidFill>
            <a:prstDash val="solid"/>
          </a:ln>
        </p:spPr>
      </p:sp>
      <p:sp>
        <p:nvSpPr>
          <p:cNvPr id="27" name="Shape 25"/>
          <p:cNvSpPr/>
          <p:nvPr/>
        </p:nvSpPr>
        <p:spPr>
          <a:xfrm>
            <a:off x="3895344" y="2304288"/>
            <a:ext cx="109728" cy="109728"/>
          </a:xfrm>
          <a:prstGeom prst="ellipse">
            <a:avLst/>
          </a:prstGeom>
          <a:solidFill>
            <a:srgbClr val="A5ADBA"/>
          </a:solidFill>
          <a:ln w="6350">
            <a:solidFill>
              <a:srgbClr val="7D8794"/>
            </a:solidFill>
            <a:prstDash val="solid"/>
          </a:ln>
        </p:spPr>
      </p:sp>
      <p:sp>
        <p:nvSpPr>
          <p:cNvPr id="28" name="Shape 26"/>
          <p:cNvSpPr/>
          <p:nvPr/>
        </p:nvSpPr>
        <p:spPr>
          <a:xfrm>
            <a:off x="822960" y="1920240"/>
            <a:ext cx="1554480" cy="182880"/>
          </a:xfrm>
          <a:prstGeom prst="rect">
            <a:avLst/>
          </a:prstGeom>
          <a:solidFill>
            <a:srgbClr val="D5DBE3"/>
          </a:solidFill>
          <a:ln w="9525">
            <a:solidFill>
              <a:srgbClr val="7D8794"/>
            </a:solidFill>
            <a:prstDash val="solid"/>
          </a:ln>
        </p:spPr>
      </p:sp>
      <p:sp>
        <p:nvSpPr>
          <p:cNvPr id="29" name="Shape 27"/>
          <p:cNvSpPr/>
          <p:nvPr/>
        </p:nvSpPr>
        <p:spPr>
          <a:xfrm>
            <a:off x="2560320" y="1920240"/>
            <a:ext cx="1554480" cy="182880"/>
          </a:xfrm>
          <a:prstGeom prst="rect">
            <a:avLst/>
          </a:prstGeom>
          <a:solidFill>
            <a:srgbClr val="D5DBE3"/>
          </a:solidFill>
          <a:ln w="9525">
            <a:solidFill>
              <a:srgbClr val="7D8794"/>
            </a:solidFill>
            <a:prstDash val="solid"/>
          </a:ln>
        </p:spPr>
      </p:sp>
      <p:sp>
        <p:nvSpPr>
          <p:cNvPr id="30" name="Text 28"/>
          <p:cNvSpPr/>
          <p:nvPr/>
        </p:nvSpPr>
        <p:spPr>
          <a:xfrm>
            <a:off x="3017520" y="1664208"/>
            <a:ext cx="1097280" cy="201168"/>
          </a:xfrm>
          <a:prstGeom prst="rect">
            <a:avLst/>
          </a:prstGeom>
          <a:noFill/>
          <a:ln/>
        </p:spPr>
        <p:txBody>
          <a:bodyPr wrap="square" lIns="0" tIns="0" rIns="0" bIns="0" rtlCol="0" anchor="ctr"/>
          <a:lstStyle/>
          <a:p>
            <a:pPr algn="r" indent="0" marL="0">
              <a:buNone/>
            </a:pPr>
            <a:r>
              <a:rPr lang="en-US" sz="1000" b="1" dirty="0">
                <a:solidFill>
                  <a:srgbClr val="7D8794"/>
                </a:solidFill>
                <a:latin typeface="Calibri" pitchFamily="34" charset="0"/>
                <a:ea typeface="Calibri" pitchFamily="34" charset="-122"/>
                <a:cs typeface="Calibri" pitchFamily="34" charset="-120"/>
              </a:rPr>
              <a:t>zinc layer</a:t>
            </a:r>
            <a:endParaRPr lang="en-US" sz="1000" dirty="0"/>
          </a:p>
        </p:txBody>
      </p:sp>
      <p:sp>
        <p:nvSpPr>
          <p:cNvPr id="31" name="Shape 29"/>
          <p:cNvSpPr/>
          <p:nvPr/>
        </p:nvSpPr>
        <p:spPr>
          <a:xfrm>
            <a:off x="2468880" y="1627632"/>
            <a:ext cx="91" cy="365760"/>
          </a:xfrm>
          <a:prstGeom prst="line">
            <a:avLst/>
          </a:prstGeom>
          <a:noFill/>
          <a:ln w="19050">
            <a:solidFill>
              <a:srgbClr val="5B9BD5"/>
            </a:solidFill>
            <a:prstDash val="solid"/>
            <a:tailEnd type="triangle"/>
          </a:ln>
        </p:spPr>
      </p:sp>
      <p:sp>
        <p:nvSpPr>
          <p:cNvPr id="32" name="Text 30"/>
          <p:cNvSpPr/>
          <p:nvPr/>
        </p:nvSpPr>
        <p:spPr>
          <a:xfrm>
            <a:off x="1188720" y="1664208"/>
            <a:ext cx="1188720" cy="201168"/>
          </a:xfrm>
          <a:prstGeom prst="rect">
            <a:avLst/>
          </a:prstGeom>
          <a:noFill/>
          <a:ln/>
        </p:spPr>
        <p:txBody>
          <a:bodyPr wrap="square" lIns="0" tIns="0" rIns="0" bIns="0" rtlCol="0" anchor="ctr"/>
          <a:lstStyle/>
          <a:p>
            <a:pPr algn="r" indent="0" marL="0">
              <a:buNone/>
            </a:pPr>
            <a:r>
              <a:rPr lang="en-US" sz="1000" i="1" dirty="0">
                <a:solidFill>
                  <a:srgbClr val="5B9BD5"/>
                </a:solidFill>
                <a:latin typeface="Calibri" pitchFamily="34" charset="0"/>
                <a:ea typeface="Calibri" pitchFamily="34" charset="-122"/>
                <a:cs typeface="Calibri" pitchFamily="34" charset="-120"/>
              </a:rPr>
              <a:t>O₂ and H₂O</a:t>
            </a:r>
            <a:endParaRPr lang="en-US" sz="1000" dirty="0"/>
          </a:p>
        </p:txBody>
      </p:sp>
      <p:sp>
        <p:nvSpPr>
          <p:cNvPr id="33" name="Shape 31"/>
          <p:cNvSpPr/>
          <p:nvPr/>
        </p:nvSpPr>
        <p:spPr>
          <a:xfrm>
            <a:off x="2221992" y="1856232"/>
            <a:ext cx="128016" cy="128016"/>
          </a:xfrm>
          <a:prstGeom prst="ellipse">
            <a:avLst/>
          </a:prstGeom>
          <a:solidFill>
            <a:srgbClr val="F4F4F4"/>
          </a:solidFill>
          <a:ln w="9525">
            <a:solidFill>
              <a:srgbClr val="9AA3B0"/>
            </a:solidFill>
            <a:prstDash val="solid"/>
          </a:ln>
        </p:spPr>
      </p:sp>
      <p:sp>
        <p:nvSpPr>
          <p:cNvPr id="34" name="Shape 32"/>
          <p:cNvSpPr/>
          <p:nvPr/>
        </p:nvSpPr>
        <p:spPr>
          <a:xfrm>
            <a:off x="2587752" y="1856232"/>
            <a:ext cx="128016" cy="128016"/>
          </a:xfrm>
          <a:prstGeom prst="ellipse">
            <a:avLst/>
          </a:prstGeom>
          <a:solidFill>
            <a:srgbClr val="F4F4F4"/>
          </a:solidFill>
          <a:ln w="9525">
            <a:solidFill>
              <a:srgbClr val="9AA3B0"/>
            </a:solidFill>
            <a:prstDash val="solid"/>
          </a:ln>
        </p:spPr>
      </p:sp>
      <p:sp>
        <p:nvSpPr>
          <p:cNvPr id="35" name="Text 33"/>
          <p:cNvSpPr/>
          <p:nvPr/>
        </p:nvSpPr>
        <p:spPr>
          <a:xfrm>
            <a:off x="640080" y="2670048"/>
            <a:ext cx="3566160" cy="365760"/>
          </a:xfrm>
          <a:prstGeom prst="rect">
            <a:avLst/>
          </a:prstGeom>
          <a:noFill/>
          <a:ln/>
        </p:spPr>
        <p:txBody>
          <a:bodyPr wrap="square" lIns="0" tIns="0" rIns="0" bIns="0" rtlCol="0" anchor="t"/>
          <a:lstStyle/>
          <a:p>
            <a:pPr algn="l" indent="0" marL="0">
              <a:buNone/>
            </a:pPr>
            <a:r>
              <a:rPr lang="en-US" sz="1000" i="1" dirty="0">
                <a:solidFill>
                  <a:srgbClr val="2E8B57"/>
                </a:solidFill>
                <a:latin typeface="Calibri" pitchFamily="34" charset="0"/>
                <a:ea typeface="Calibri" pitchFamily="34" charset="-122"/>
                <a:cs typeface="Calibri" pitchFamily="34" charset="-120"/>
              </a:rPr>
              <a:t>Zinc next to the scratch corrodes </a:t>
            </a:r>
            <a:r>
              <a:rPr lang="en-US" sz="1000" b="1" i="1" dirty="0">
                <a:solidFill>
                  <a:srgbClr val="2E8B57"/>
                </a:solidFill>
                <a:latin typeface="Calibri" pitchFamily="34" charset="0"/>
                <a:ea typeface="Calibri" pitchFamily="34" charset="-122"/>
                <a:cs typeface="Calibri" pitchFamily="34" charset="-120"/>
              </a:rPr>
              <a:t>instead of</a:t>
            </a:r>
            <a:r>
              <a:rPr lang="en-US" sz="1000" i="1" dirty="0">
                <a:solidFill>
                  <a:srgbClr val="2E8B57"/>
                </a:solidFill>
                <a:latin typeface="Calibri" pitchFamily="34" charset="0"/>
                <a:ea typeface="Calibri" pitchFamily="34" charset="-122"/>
                <a:cs typeface="Calibri" pitchFamily="34" charset="-120"/>
              </a:rPr>
              <a:t> the iron: no rust</a:t>
            </a:r>
            <a:endParaRPr lang="en-US" sz="1000" dirty="0"/>
          </a:p>
        </p:txBody>
      </p:sp>
      <p:sp>
        <p:nvSpPr>
          <p:cNvPr id="36" name="Text 34"/>
          <p:cNvSpPr/>
          <p:nvPr/>
        </p:nvSpPr>
        <p:spPr>
          <a:xfrm>
            <a:off x="4343400" y="1280160"/>
            <a:ext cx="1554480" cy="2286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Reactivity</a:t>
            </a:r>
            <a:r>
              <a:rPr lang="en-US" sz="1050" dirty="0">
                <a:solidFill>
                  <a:srgbClr val="262B3A"/>
                </a:solidFill>
                <a:latin typeface="Calibri" pitchFamily="34" charset="0"/>
                <a:ea typeface="Calibri" pitchFamily="34" charset="-122"/>
                <a:cs typeface="Calibri" pitchFamily="34" charset="-120"/>
              </a:rPr>
              <a:t> (C3)</a:t>
            </a:r>
            <a:endParaRPr lang="en-US" sz="1050" dirty="0"/>
          </a:p>
        </p:txBody>
      </p:sp>
      <p:sp>
        <p:nvSpPr>
          <p:cNvPr id="37" name="Shape 35"/>
          <p:cNvSpPr/>
          <p:nvPr/>
        </p:nvSpPr>
        <p:spPr>
          <a:xfrm>
            <a:off x="4617720" y="1536192"/>
            <a:ext cx="1005840" cy="274320"/>
          </a:xfrm>
          <a:prstGeom prst="roundRect">
            <a:avLst>
              <a:gd name="adj" fmla="val 20000"/>
            </a:avLst>
          </a:prstGeom>
          <a:solidFill>
            <a:srgbClr val="E9ECEF"/>
          </a:solidFill>
          <a:ln w="9525">
            <a:solidFill>
              <a:srgbClr val="2A1F3D"/>
            </a:solidFill>
            <a:prstDash val="solid"/>
          </a:ln>
        </p:spPr>
      </p:sp>
      <p:sp>
        <p:nvSpPr>
          <p:cNvPr id="38" name="Text 36"/>
          <p:cNvSpPr/>
          <p:nvPr/>
        </p:nvSpPr>
        <p:spPr>
          <a:xfrm>
            <a:off x="4672584" y="1536192"/>
            <a:ext cx="896112" cy="2743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Mg</a:t>
            </a:r>
            <a:endParaRPr lang="en-US" sz="1050" dirty="0"/>
          </a:p>
        </p:txBody>
      </p:sp>
      <p:sp>
        <p:nvSpPr>
          <p:cNvPr id="39" name="Shape 37"/>
          <p:cNvSpPr/>
          <p:nvPr/>
        </p:nvSpPr>
        <p:spPr>
          <a:xfrm>
            <a:off x="4617720" y="1865376"/>
            <a:ext cx="1005840" cy="274320"/>
          </a:xfrm>
          <a:prstGeom prst="roundRect">
            <a:avLst>
              <a:gd name="adj" fmla="val 20000"/>
            </a:avLst>
          </a:prstGeom>
          <a:solidFill>
            <a:srgbClr val="E3E6EA"/>
          </a:solidFill>
          <a:ln w="9525">
            <a:solidFill>
              <a:srgbClr val="2A1F3D"/>
            </a:solidFill>
            <a:prstDash val="solid"/>
          </a:ln>
        </p:spPr>
      </p:sp>
      <p:sp>
        <p:nvSpPr>
          <p:cNvPr id="40" name="Text 38"/>
          <p:cNvSpPr/>
          <p:nvPr/>
        </p:nvSpPr>
        <p:spPr>
          <a:xfrm>
            <a:off x="4672584" y="1865376"/>
            <a:ext cx="896112" cy="2743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Al</a:t>
            </a:r>
            <a:endParaRPr lang="en-US" sz="1050" dirty="0"/>
          </a:p>
        </p:txBody>
      </p:sp>
      <p:sp>
        <p:nvSpPr>
          <p:cNvPr id="41" name="Shape 39"/>
          <p:cNvSpPr/>
          <p:nvPr/>
        </p:nvSpPr>
        <p:spPr>
          <a:xfrm>
            <a:off x="4617720" y="2194560"/>
            <a:ext cx="1005840" cy="274320"/>
          </a:xfrm>
          <a:prstGeom prst="roundRect">
            <a:avLst>
              <a:gd name="adj" fmla="val 20000"/>
            </a:avLst>
          </a:prstGeom>
          <a:solidFill>
            <a:srgbClr val="D5DBE3"/>
          </a:solidFill>
          <a:ln w="9525">
            <a:solidFill>
              <a:srgbClr val="2A1F3D"/>
            </a:solidFill>
            <a:prstDash val="solid"/>
          </a:ln>
        </p:spPr>
      </p:sp>
      <p:sp>
        <p:nvSpPr>
          <p:cNvPr id="42" name="Text 40"/>
          <p:cNvSpPr/>
          <p:nvPr/>
        </p:nvSpPr>
        <p:spPr>
          <a:xfrm>
            <a:off x="4672584" y="2194560"/>
            <a:ext cx="896112" cy="2743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Zn</a:t>
            </a:r>
            <a:endParaRPr lang="en-US" sz="1050" dirty="0"/>
          </a:p>
        </p:txBody>
      </p:sp>
      <p:sp>
        <p:nvSpPr>
          <p:cNvPr id="43" name="Shape 41"/>
          <p:cNvSpPr/>
          <p:nvPr/>
        </p:nvSpPr>
        <p:spPr>
          <a:xfrm>
            <a:off x="4617720" y="2523744"/>
            <a:ext cx="1005840" cy="274320"/>
          </a:xfrm>
          <a:prstGeom prst="roundRect">
            <a:avLst>
              <a:gd name="adj" fmla="val 20000"/>
            </a:avLst>
          </a:prstGeom>
          <a:solidFill>
            <a:srgbClr val="B9C0CC"/>
          </a:solidFill>
          <a:ln w="25400">
            <a:solidFill>
              <a:srgbClr val="B5541E"/>
            </a:solidFill>
            <a:prstDash val="solid"/>
          </a:ln>
        </p:spPr>
      </p:sp>
      <p:sp>
        <p:nvSpPr>
          <p:cNvPr id="44" name="Text 42"/>
          <p:cNvSpPr/>
          <p:nvPr/>
        </p:nvSpPr>
        <p:spPr>
          <a:xfrm>
            <a:off x="4672584" y="2523744"/>
            <a:ext cx="896112" cy="2743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Fe</a:t>
            </a:r>
            <a:endParaRPr lang="en-US" sz="1050" dirty="0"/>
          </a:p>
        </p:txBody>
      </p:sp>
      <p:sp>
        <p:nvSpPr>
          <p:cNvPr id="45" name="Shape 43"/>
          <p:cNvSpPr/>
          <p:nvPr/>
        </p:nvSpPr>
        <p:spPr>
          <a:xfrm>
            <a:off x="4617720" y="2852928"/>
            <a:ext cx="1005840" cy="274320"/>
          </a:xfrm>
          <a:prstGeom prst="roundRect">
            <a:avLst>
              <a:gd name="adj" fmla="val 20000"/>
            </a:avLst>
          </a:prstGeom>
          <a:solidFill>
            <a:srgbClr val="C9CDD3"/>
          </a:solidFill>
          <a:ln w="9525">
            <a:solidFill>
              <a:srgbClr val="2A1F3D"/>
            </a:solidFill>
            <a:prstDash val="solid"/>
          </a:ln>
        </p:spPr>
      </p:sp>
      <p:sp>
        <p:nvSpPr>
          <p:cNvPr id="46" name="Text 44"/>
          <p:cNvSpPr/>
          <p:nvPr/>
        </p:nvSpPr>
        <p:spPr>
          <a:xfrm>
            <a:off x="4672584" y="2852928"/>
            <a:ext cx="896112" cy="2743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Sn</a:t>
            </a:r>
            <a:endParaRPr lang="en-US" sz="1050" dirty="0"/>
          </a:p>
        </p:txBody>
      </p:sp>
      <p:sp>
        <p:nvSpPr>
          <p:cNvPr id="47" name="Shape 45"/>
          <p:cNvSpPr/>
          <p:nvPr/>
        </p:nvSpPr>
        <p:spPr>
          <a:xfrm>
            <a:off x="4617720" y="3182112"/>
            <a:ext cx="1005840" cy="274320"/>
          </a:xfrm>
          <a:prstGeom prst="roundRect">
            <a:avLst>
              <a:gd name="adj" fmla="val 20000"/>
            </a:avLst>
          </a:prstGeom>
          <a:solidFill>
            <a:srgbClr val="D9894A"/>
          </a:solidFill>
          <a:ln w="9525">
            <a:solidFill>
              <a:srgbClr val="2A1F3D"/>
            </a:solidFill>
            <a:prstDash val="solid"/>
          </a:ln>
        </p:spPr>
      </p:sp>
      <p:sp>
        <p:nvSpPr>
          <p:cNvPr id="48" name="Text 46"/>
          <p:cNvSpPr/>
          <p:nvPr/>
        </p:nvSpPr>
        <p:spPr>
          <a:xfrm>
            <a:off x="4672584" y="3182112"/>
            <a:ext cx="896112" cy="27432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Cu</a:t>
            </a:r>
            <a:endParaRPr lang="en-US" sz="1050" dirty="0"/>
          </a:p>
        </p:txBody>
      </p:sp>
      <p:sp>
        <p:nvSpPr>
          <p:cNvPr id="49" name="Shape 47"/>
          <p:cNvSpPr/>
          <p:nvPr/>
        </p:nvSpPr>
        <p:spPr>
          <a:xfrm flipV="1">
            <a:off x="4434840" y="1600200"/>
            <a:ext cx="91" cy="1828800"/>
          </a:xfrm>
          <a:prstGeom prst="line">
            <a:avLst/>
          </a:prstGeom>
          <a:noFill/>
          <a:ln w="25400">
            <a:solidFill>
              <a:srgbClr val="6A3FA0"/>
            </a:solidFill>
            <a:prstDash val="solid"/>
            <a:tailEnd type="triangle"/>
          </a:ln>
        </p:spPr>
      </p:sp>
      <p:sp>
        <p:nvSpPr>
          <p:cNvPr id="50" name="Text 48"/>
          <p:cNvSpPr/>
          <p:nvPr/>
        </p:nvSpPr>
        <p:spPr>
          <a:xfrm>
            <a:off x="3931920" y="3493008"/>
            <a:ext cx="1783080" cy="201168"/>
          </a:xfrm>
          <a:prstGeom prst="rect">
            <a:avLst/>
          </a:prstGeom>
          <a:noFill/>
          <a:ln/>
        </p:spPr>
        <p:txBody>
          <a:bodyPr wrap="square" lIns="0" tIns="0" rIns="0" bIns="0" rtlCol="0" anchor="ctr"/>
          <a:lstStyle/>
          <a:p>
            <a:pPr algn="ctr" indent="0" marL="0">
              <a:buNone/>
            </a:pPr>
            <a:r>
              <a:rPr lang="en-US" sz="1000" i="1" dirty="0">
                <a:solidFill>
                  <a:srgbClr val="6A3FA0"/>
                </a:solidFill>
                <a:latin typeface="Calibri" pitchFamily="34" charset="0"/>
                <a:ea typeface="Calibri" pitchFamily="34" charset="-122"/>
                <a:cs typeface="Calibri" pitchFamily="34" charset="-120"/>
              </a:rPr>
              <a:t>more reactive at top</a:t>
            </a:r>
            <a:endParaRPr lang="en-US" sz="1000" dirty="0"/>
          </a:p>
        </p:txBody>
      </p:sp>
      <p:sp>
        <p:nvSpPr>
          <p:cNvPr id="51" name="Shape 49"/>
          <p:cNvSpPr/>
          <p:nvPr/>
        </p:nvSpPr>
        <p:spPr>
          <a:xfrm>
            <a:off x="731520" y="3611880"/>
            <a:ext cx="3291840" cy="822960"/>
          </a:xfrm>
          <a:custGeom>
            <a:avLst/>
            <a:gdLst/>
            <a:ahLst/>
            <a:cxnLst/>
            <a:rect l="l" t="t" r="r" b="b"/>
            <a:pathLst>
              <a:path w="3291840" h="822960">
                <a:moveTo>
                  <a:pt x="0" y="0"/>
                </a:moveTo>
                <a:lnTo>
                  <a:pt x="3291840" y="0"/>
                </a:lnTo>
                <a:lnTo>
                  <a:pt x="2926080" y="822960"/>
                </a:lnTo>
                <a:lnTo>
                  <a:pt x="365760" y="822960"/>
                </a:lnTo>
                <a:close/>
              </a:path>
            </a:pathLst>
          </a:custGeom>
          <a:solidFill>
            <a:srgbClr val="7D8794"/>
          </a:solidFill>
          <a:ln w="15875">
            <a:solidFill>
              <a:srgbClr val="4A5568"/>
            </a:solidFill>
            <a:prstDash val="solid"/>
          </a:ln>
        </p:spPr>
      </p:sp>
      <p:sp>
        <p:nvSpPr>
          <p:cNvPr id="52" name="Shape 50"/>
          <p:cNvSpPr/>
          <p:nvPr/>
        </p:nvSpPr>
        <p:spPr>
          <a:xfrm>
            <a:off x="548640" y="3977640"/>
            <a:ext cx="4846320" cy="1005840"/>
          </a:xfrm>
          <a:prstGeom prst="rect">
            <a:avLst/>
          </a:prstGeom>
          <a:solidFill>
            <a:srgbClr val="CFE4F7">
              <a:alpha val="65000"/>
            </a:srgbClr>
          </a:solidFill>
          <a:ln/>
        </p:spPr>
      </p:sp>
      <p:sp>
        <p:nvSpPr>
          <p:cNvPr id="53" name="Shape 51"/>
          <p:cNvSpPr/>
          <p:nvPr/>
        </p:nvSpPr>
        <p:spPr>
          <a:xfrm>
            <a:off x="548640" y="3977640"/>
            <a:ext cx="4846320" cy="91"/>
          </a:xfrm>
          <a:prstGeom prst="line">
            <a:avLst/>
          </a:prstGeom>
          <a:noFill/>
          <a:ln w="15875">
            <a:solidFill>
              <a:srgbClr val="5B9BD5"/>
            </a:solidFill>
            <a:prstDash val="solid"/>
          </a:ln>
        </p:spPr>
      </p:sp>
      <p:sp>
        <p:nvSpPr>
          <p:cNvPr id="54" name="Shape 52"/>
          <p:cNvSpPr/>
          <p:nvPr/>
        </p:nvSpPr>
        <p:spPr>
          <a:xfrm>
            <a:off x="1399032" y="4297680"/>
            <a:ext cx="310896" cy="146304"/>
          </a:xfrm>
          <a:prstGeom prst="rect">
            <a:avLst/>
          </a:prstGeom>
          <a:solidFill>
            <a:srgbClr val="D5DBE3"/>
          </a:solidFill>
          <a:ln w="12700">
            <a:solidFill>
              <a:srgbClr val="7D8794"/>
            </a:solidFill>
            <a:prstDash val="solid"/>
          </a:ln>
        </p:spPr>
      </p:sp>
      <p:sp>
        <p:nvSpPr>
          <p:cNvPr id="55" name="Shape 53"/>
          <p:cNvSpPr/>
          <p:nvPr/>
        </p:nvSpPr>
        <p:spPr>
          <a:xfrm>
            <a:off x="2221992" y="4297680"/>
            <a:ext cx="310896" cy="146304"/>
          </a:xfrm>
          <a:prstGeom prst="rect">
            <a:avLst/>
          </a:prstGeom>
          <a:solidFill>
            <a:srgbClr val="D5DBE3"/>
          </a:solidFill>
          <a:ln w="12700">
            <a:solidFill>
              <a:srgbClr val="7D8794"/>
            </a:solidFill>
            <a:prstDash val="solid"/>
          </a:ln>
        </p:spPr>
      </p:sp>
      <p:sp>
        <p:nvSpPr>
          <p:cNvPr id="56" name="Shape 54"/>
          <p:cNvSpPr/>
          <p:nvPr/>
        </p:nvSpPr>
        <p:spPr>
          <a:xfrm>
            <a:off x="3044952" y="4297680"/>
            <a:ext cx="310896" cy="146304"/>
          </a:xfrm>
          <a:prstGeom prst="rect">
            <a:avLst/>
          </a:prstGeom>
          <a:solidFill>
            <a:srgbClr val="D5DBE3"/>
          </a:solidFill>
          <a:ln w="12700">
            <a:solidFill>
              <a:srgbClr val="7D8794"/>
            </a:solidFill>
            <a:prstDash val="solid"/>
          </a:ln>
        </p:spPr>
      </p:sp>
      <p:sp>
        <p:nvSpPr>
          <p:cNvPr id="57" name="Text 55"/>
          <p:cNvSpPr/>
          <p:nvPr/>
        </p:nvSpPr>
        <p:spPr>
          <a:xfrm>
            <a:off x="3794760" y="4160520"/>
            <a:ext cx="1600200" cy="548640"/>
          </a:xfrm>
          <a:prstGeom prst="rect">
            <a:avLst/>
          </a:prstGeom>
          <a:noFill/>
          <a:ln/>
        </p:spPr>
        <p:txBody>
          <a:bodyPr wrap="square" lIns="0" tIns="0" rIns="0" bIns="0" rtlCol="0" anchor="t"/>
          <a:lstStyle/>
          <a:p>
            <a:pPr algn="l" indent="0" marL="0">
              <a:buNone/>
            </a:pPr>
            <a:r>
              <a:rPr lang="en-US" sz="1000" b="1" dirty="0">
                <a:solidFill>
                  <a:srgbClr val="7D8794"/>
                </a:solidFill>
                <a:latin typeface="Calibri" pitchFamily="34" charset="0"/>
                <a:ea typeface="Calibri" pitchFamily="34" charset="-122"/>
                <a:cs typeface="Calibri" pitchFamily="34" charset="-120"/>
              </a:rPr>
              <a:t>zinc blocks on the hull, replaced when used up</a:t>
            </a:r>
            <a:endParaRPr lang="en-US" sz="1000" dirty="0"/>
          </a:p>
        </p:txBody>
      </p:sp>
      <p:sp>
        <p:nvSpPr>
          <p:cNvPr id="58" name="Text 56"/>
          <p:cNvSpPr/>
          <p:nvPr/>
        </p:nvSpPr>
        <p:spPr>
          <a:xfrm>
            <a:off x="731520" y="3337560"/>
            <a:ext cx="3291840" cy="22860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steel ship in salt water</a:t>
            </a:r>
            <a:endParaRPr lang="en-US" sz="1000" dirty="0"/>
          </a:p>
        </p:txBody>
      </p:sp>
      <p:sp>
        <p:nvSpPr>
          <p:cNvPr id="59" name="Shape 57"/>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60" name="Text 5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Sacrificial protection</a:t>
            </a:r>
            <a:endParaRPr lang="en-US" sz="1300" dirty="0"/>
          </a:p>
        </p:txBody>
      </p:sp>
      <p:sp>
        <p:nvSpPr>
          <p:cNvPr id="61" name="Text 59"/>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Attach or coat iron with a </a:t>
            </a:r>
            <a:r>
              <a:rPr lang="en-US" sz="1100" b="1" dirty="0">
                <a:solidFill>
                  <a:srgbClr val="262B3A"/>
                </a:solidFill>
                <a:latin typeface="Calibri" pitchFamily="34" charset="0"/>
                <a:ea typeface="Calibri" pitchFamily="34" charset="-122"/>
                <a:cs typeface="Calibri" pitchFamily="34" charset="-120"/>
              </a:rPr>
              <a:t>more reactive</a:t>
            </a:r>
            <a:r>
              <a:rPr lang="en-US" sz="1100" dirty="0">
                <a:solidFill>
                  <a:srgbClr val="262B3A"/>
                </a:solidFill>
                <a:latin typeface="Calibri" pitchFamily="34" charset="0"/>
                <a:ea typeface="Calibri" pitchFamily="34" charset="-122"/>
                <a:cs typeface="Calibri" pitchFamily="34" charset="-120"/>
              </a:rPr>
              <a:t> metal, e.g. </a:t>
            </a:r>
            <a:r>
              <a:rPr lang="en-US" sz="1100" b="1" dirty="0">
                <a:solidFill>
                  <a:srgbClr val="262B3A"/>
                </a:solidFill>
                <a:latin typeface="Calibri" pitchFamily="34" charset="0"/>
                <a:ea typeface="Calibri" pitchFamily="34" charset="-122"/>
                <a:cs typeface="Calibri" pitchFamily="34" charset="-120"/>
              </a:rPr>
              <a:t>zinc</a:t>
            </a:r>
            <a:r>
              <a:rPr lang="en-US" sz="1100" dirty="0">
                <a:solidFill>
                  <a:srgbClr val="262B3A"/>
                </a:solidFill>
                <a:latin typeface="Calibri" pitchFamily="34" charset="0"/>
                <a:ea typeface="Calibri" pitchFamily="34" charset="-122"/>
                <a:cs typeface="Calibri" pitchFamily="34" charset="-120"/>
              </a:rPr>
              <a:t> or </a:t>
            </a:r>
            <a:r>
              <a:rPr lang="en-US" sz="1100" b="1" dirty="0">
                <a:solidFill>
                  <a:srgbClr val="262B3A"/>
                </a:solidFill>
                <a:latin typeface="Calibri" pitchFamily="34" charset="0"/>
                <a:ea typeface="Calibri" pitchFamily="34" charset="-122"/>
                <a:cs typeface="Calibri" pitchFamily="34" charset="-120"/>
              </a:rPr>
              <a:t>magnesium</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more reactive metal </a:t>
            </a:r>
            <a:r>
              <a:rPr lang="en-US" sz="1100" b="1" dirty="0">
                <a:solidFill>
                  <a:srgbClr val="262B3A"/>
                </a:solidFill>
                <a:latin typeface="Calibri" pitchFamily="34" charset="0"/>
                <a:ea typeface="Calibri" pitchFamily="34" charset="-122"/>
                <a:cs typeface="Calibri" pitchFamily="34" charset="-120"/>
              </a:rPr>
              <a:t>corrodes instead of</a:t>
            </a:r>
            <a:r>
              <a:rPr lang="en-US" sz="1100" dirty="0">
                <a:solidFill>
                  <a:srgbClr val="262B3A"/>
                </a:solidFill>
                <a:latin typeface="Calibri" pitchFamily="34" charset="0"/>
                <a:ea typeface="Calibri" pitchFamily="34" charset="-122"/>
                <a:cs typeface="Calibri" pitchFamily="34" charset="-120"/>
              </a:rPr>
              <a:t> the iron: it is </a:t>
            </a:r>
            <a:r>
              <a:rPr lang="en-US" sz="1100" b="1" dirty="0">
                <a:solidFill>
                  <a:srgbClr val="262B3A"/>
                </a:solidFill>
                <a:latin typeface="Calibri" pitchFamily="34" charset="0"/>
                <a:ea typeface="Calibri" pitchFamily="34" charset="-122"/>
                <a:cs typeface="Calibri" pitchFamily="34" charset="-120"/>
              </a:rPr>
              <a:t>sacrificed</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Galvanising</a:t>
            </a:r>
            <a:r>
              <a:rPr lang="en-US" sz="1100" dirty="0">
                <a:solidFill>
                  <a:srgbClr val="262B3A"/>
                </a:solidFill>
                <a:latin typeface="Calibri" pitchFamily="34" charset="0"/>
                <a:ea typeface="Calibri" pitchFamily="34" charset="-122"/>
                <a:cs typeface="Calibri" pitchFamily="34" charset="-120"/>
              </a:rPr>
              <a:t> = coating steel with zinc. Zinc is also a </a:t>
            </a:r>
            <a:r>
              <a:rPr lang="en-US" sz="1100" b="1" dirty="0">
                <a:solidFill>
                  <a:srgbClr val="262B3A"/>
                </a:solidFill>
                <a:latin typeface="Calibri" pitchFamily="34" charset="0"/>
                <a:ea typeface="Calibri" pitchFamily="34" charset="-122"/>
                <a:cs typeface="Calibri" pitchFamily="34" charset="-120"/>
              </a:rPr>
              <a:t>barrier</a:t>
            </a:r>
            <a:r>
              <a:rPr lang="en-US" sz="1100" dirty="0">
                <a:solidFill>
                  <a:srgbClr val="262B3A"/>
                </a:solidFill>
                <a:latin typeface="Calibri" pitchFamily="34" charset="0"/>
                <a:ea typeface="Calibri" pitchFamily="34" charset="-122"/>
                <a:cs typeface="Calibri" pitchFamily="34" charset="-120"/>
              </a:rPr>
              <a:t>, and still protects if </a:t>
            </a:r>
            <a:r>
              <a:rPr lang="en-US" sz="1100" b="1" dirty="0">
                <a:solidFill>
                  <a:srgbClr val="262B3A"/>
                </a:solidFill>
                <a:latin typeface="Calibri" pitchFamily="34" charset="0"/>
                <a:ea typeface="Calibri" pitchFamily="34" charset="-122"/>
                <a:cs typeface="Calibri" pitchFamily="34" charset="-120"/>
              </a:rPr>
              <a:t>scratched</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Uses: galvanised buckets, car bodies, fences; zinc or magnesium blocks on </a:t>
            </a:r>
            <a:r>
              <a:rPr lang="en-US" sz="1100" b="1" dirty="0">
                <a:solidFill>
                  <a:srgbClr val="262B3A"/>
                </a:solidFill>
                <a:latin typeface="Calibri" pitchFamily="34" charset="0"/>
                <a:ea typeface="Calibri" pitchFamily="34" charset="-122"/>
                <a:cs typeface="Calibri" pitchFamily="34" charset="-120"/>
              </a:rPr>
              <a:t>ships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oil rigs</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pipes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C8414C"/>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Zinc </a:t>
            </a:r>
            <a:r>
              <a:rPr lang="en-US" sz="1100" b="1" dirty="0">
                <a:solidFill>
                  <a:srgbClr val="262B3A"/>
                </a:solidFill>
                <a:latin typeface="Calibri" pitchFamily="34" charset="0"/>
                <a:ea typeface="Calibri" pitchFamily="34" charset="-122"/>
                <a:cs typeface="Calibri" pitchFamily="34" charset="-120"/>
              </a:rPr>
              <a:t>loses electrons</a:t>
            </a:r>
            <a:r>
              <a:rPr lang="en-US" sz="1100" dirty="0">
                <a:solidFill>
                  <a:srgbClr val="262B3A"/>
                </a:solidFill>
                <a:latin typeface="Calibri" pitchFamily="34" charset="0"/>
                <a:ea typeface="Calibri" pitchFamily="34" charset="-122"/>
                <a:cs typeface="Calibri" pitchFamily="34" charset="-120"/>
              </a:rPr>
              <a:t> more easily than iron: Zn → Zn²⁺ + 2e⁻, so the iron is not oxidised.</a:t>
            </a:r>
            <a:endParaRPr lang="en-US" sz="1100" dirty="0"/>
          </a:p>
        </p:txBody>
      </p:sp>
      <p:sp>
        <p:nvSpPr>
          <p:cNvPr id="62" name="Shape 60"/>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63" name="Text 61"/>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replacing zinc blocks</a:t>
            </a:r>
            <a:endParaRPr lang="en-US" sz="1300" dirty="0"/>
          </a:p>
        </p:txBody>
      </p:sp>
      <p:sp>
        <p:nvSpPr>
          <p:cNvPr id="64" name="Text 62"/>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ship carries 12 zinc blocks of 8 kg. They are used up in 4 years.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Total zinc   </a:t>
            </a:r>
            <a:r>
              <a:rPr lang="en-US" sz="1050" dirty="0">
                <a:solidFill>
                  <a:srgbClr val="262B3A"/>
                </a:solidFill>
                <a:latin typeface="Calibri" pitchFamily="34" charset="0"/>
                <a:ea typeface="Calibri" pitchFamily="34" charset="-122"/>
                <a:cs typeface="Calibri" pitchFamily="34" charset="-120"/>
              </a:rPr>
              <a:t>12 × 8 = 96 kg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96 ÷ 4 = </a:t>
            </a:r>
            <a:r>
              <a:rPr lang="en-US" sz="1050" b="1" dirty="0">
                <a:solidFill>
                  <a:srgbClr val="C8414C"/>
                </a:solidFill>
                <a:latin typeface="Calibri" pitchFamily="34" charset="0"/>
                <a:ea typeface="Calibri" pitchFamily="34" charset="-122"/>
                <a:cs typeface="Calibri" pitchFamily="34" charset="-120"/>
              </a:rPr>
              <a:t>24 kg</a:t>
            </a:r>
            <a:r>
              <a:rPr lang="en-US" sz="1050" b="1" dirty="0">
                <a:solidFill>
                  <a:srgbClr val="C8414C"/>
                </a:solidFill>
                <a:latin typeface="Calibri" pitchFamily="34" charset="0"/>
                <a:ea typeface="Calibri" pitchFamily="34" charset="-122"/>
                <a:cs typeface="Calibri" pitchFamily="34" charset="-120"/>
              </a:rPr>
              <a:t> of zinc corroded per year</a:t>
            </a:r>
            <a:endParaRPr lang="en-US" sz="1050" dirty="0"/>
          </a:p>
        </p:txBody>
      </p:sp>
      <p:sp>
        <p:nvSpPr>
          <p:cNvPr id="65" name="Shape 63"/>
          <p:cNvSpPr/>
          <p:nvPr/>
        </p:nvSpPr>
        <p:spPr>
          <a:xfrm>
            <a:off x="411480" y="5833872"/>
            <a:ext cx="11368735" cy="530352"/>
          </a:xfrm>
          <a:prstGeom prst="rect">
            <a:avLst/>
          </a:prstGeom>
          <a:solidFill>
            <a:srgbClr val="FFF4E0"/>
          </a:solidFill>
          <a:ln w="6350">
            <a:solidFill>
              <a:srgbClr val="F1D9A8"/>
            </a:solidFill>
            <a:prstDash val="solid"/>
          </a:ln>
        </p:spPr>
      </p:sp>
      <p:sp>
        <p:nvSpPr>
          <p:cNvPr id="66" name="Shape 64"/>
          <p:cNvSpPr/>
          <p:nvPr/>
        </p:nvSpPr>
        <p:spPr>
          <a:xfrm>
            <a:off x="411480" y="5833872"/>
            <a:ext cx="82296" cy="530352"/>
          </a:xfrm>
          <a:prstGeom prst="rect">
            <a:avLst/>
          </a:prstGeom>
          <a:solidFill>
            <a:srgbClr val="E39A2F"/>
          </a:solidFill>
          <a:ln w="12700">
            <a:solidFill>
              <a:srgbClr val="E39A2F"/>
            </a:solidFill>
            <a:prstDash val="solid"/>
          </a:ln>
        </p:spPr>
      </p:sp>
      <p:sp>
        <p:nvSpPr>
          <p:cNvPr id="67" name="Text 6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would </a:t>
            </a:r>
            <a:r>
              <a:rPr lang="en-US" sz="1150" b="1" dirty="0">
                <a:solidFill>
                  <a:srgbClr val="262B3A"/>
                </a:solidFill>
                <a:latin typeface="Calibri" pitchFamily="34" charset="0"/>
                <a:ea typeface="Calibri" pitchFamily="34" charset="-122"/>
                <a:cs typeface="Calibri" pitchFamily="34" charset="-120"/>
              </a:rPr>
              <a:t>copper</a:t>
            </a:r>
            <a:r>
              <a:rPr lang="en-US" sz="1150" dirty="0">
                <a:solidFill>
                  <a:srgbClr val="262B3A"/>
                </a:solidFill>
                <a:latin typeface="Calibri" pitchFamily="34" charset="0"/>
                <a:ea typeface="Calibri" pitchFamily="34" charset="-122"/>
                <a:cs typeface="Calibri" pitchFamily="34" charset="-120"/>
              </a:rPr>
              <a:t> blocks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protect a steel hull? A pipeline uses </a:t>
            </a:r>
            <a:r>
              <a:rPr lang="en-US" sz="1150" b="1" dirty="0">
                <a:solidFill>
                  <a:srgbClr val="262B3A"/>
                </a:solidFill>
                <a:latin typeface="Calibri" pitchFamily="34" charset="0"/>
                <a:ea typeface="Calibri" pitchFamily="34" charset="-122"/>
                <a:cs typeface="Calibri" pitchFamily="34" charset="-120"/>
              </a:rPr>
              <a:t>60 kg</a:t>
            </a:r>
            <a:r>
              <a:rPr lang="en-US" sz="1150" dirty="0">
                <a:solidFill>
                  <a:srgbClr val="262B3A"/>
                </a:solidFill>
                <a:latin typeface="Calibri" pitchFamily="34" charset="0"/>
                <a:ea typeface="Calibri" pitchFamily="34" charset="-122"/>
                <a:cs typeface="Calibri" pitchFamily="34" charset="-120"/>
              </a:rPr>
              <a:t> of magnesium in </a:t>
            </a:r>
            <a:r>
              <a:rPr lang="en-US" sz="1150" b="1" dirty="0">
                <a:solidFill>
                  <a:srgbClr val="262B3A"/>
                </a:solidFill>
                <a:latin typeface="Calibri" pitchFamily="34" charset="0"/>
                <a:ea typeface="Calibri" pitchFamily="34" charset="-122"/>
                <a:cs typeface="Calibri" pitchFamily="34" charset="-120"/>
              </a:rPr>
              <a:t>3</a:t>
            </a:r>
            <a:r>
              <a:rPr lang="en-US" sz="1150" dirty="0">
                <a:solidFill>
                  <a:srgbClr val="262B3A"/>
                </a:solidFill>
                <a:latin typeface="Calibri" pitchFamily="34" charset="0"/>
                <a:ea typeface="Calibri" pitchFamily="34" charset="-122"/>
                <a:cs typeface="Calibri" pitchFamily="34" charset="-120"/>
              </a:rPr>
              <a:t> years: how much per year?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C4.4.1 • barrier and sacrificial protection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barrier methods used to stop iron rusting.</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galvanised steel bucket is scratched but does not rust. Explain why.</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t>
            </a:r>
            <a:r>
              <a:rPr lang="en-US" sz="1250" b="1" dirty="0">
                <a:solidFill>
                  <a:srgbClr val="262B3A"/>
                </a:solidFill>
                <a:latin typeface="Calibri" pitchFamily="34" charset="0"/>
                <a:ea typeface="Calibri" pitchFamily="34" charset="-122"/>
                <a:cs typeface="Calibri" pitchFamily="34" charset="-120"/>
              </a:rPr>
              <a:t>copper</a:t>
            </a:r>
            <a:r>
              <a:rPr lang="en-US" sz="1250" dirty="0">
                <a:solidFill>
                  <a:srgbClr val="262B3A"/>
                </a:solidFill>
                <a:latin typeface="Calibri" pitchFamily="34" charset="0"/>
                <a:ea typeface="Calibri" pitchFamily="34" charset="-122"/>
                <a:cs typeface="Calibri" pitchFamily="34" charset="-120"/>
              </a:rPr>
              <a:t> cannot be used for sacrificial protection of iron.</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Shape 24"/>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in terms of </a:t>
            </a:r>
            <a:r>
              <a:rPr lang="en-US" sz="1250" b="1" dirty="0">
                <a:solidFill>
                  <a:srgbClr val="262B3A"/>
                </a:solidFill>
                <a:latin typeface="Calibri" pitchFamily="34" charset="0"/>
                <a:ea typeface="Calibri" pitchFamily="34" charset="-122"/>
                <a:cs typeface="Calibri" pitchFamily="34" charset="-120"/>
              </a:rPr>
              <a:t>electrons</a:t>
            </a:r>
            <a:r>
              <a:rPr lang="en-US" sz="1250" dirty="0">
                <a:solidFill>
                  <a:srgbClr val="262B3A"/>
                </a:solidFill>
                <a:latin typeface="Calibri" pitchFamily="34" charset="0"/>
                <a:ea typeface="Calibri" pitchFamily="34" charset="-122"/>
                <a:cs typeface="Calibri" pitchFamily="34" charset="-120"/>
              </a:rPr>
              <a:t>, how magnesium blocks protect a steel pipe.</a:t>
            </a:r>
            <a:endParaRPr lang="en-US" sz="1250" dirty="0"/>
          </a:p>
        </p:txBody>
      </p:sp>
      <p:sp>
        <p:nvSpPr>
          <p:cNvPr id="29" name="Text 27"/>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preventing rusting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C4.4.1 • suggested practical: compare the effectiveness of barrier and sacrificial methods</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11</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five boiling tubes in a rack, left for 7 days; balance reads to 0.001 g</a:t>
            </a:r>
            <a:endParaRPr lang="en-US" sz="1000" dirty="0"/>
          </a:p>
        </p:txBody>
      </p:sp>
      <p:sp>
        <p:nvSpPr>
          <p:cNvPr id="12" name="Shape 10"/>
          <p:cNvSpPr/>
          <p:nvPr/>
        </p:nvSpPr>
        <p:spPr>
          <a:xfrm>
            <a:off x="640080" y="3749040"/>
            <a:ext cx="4023360" cy="201168"/>
          </a:xfrm>
          <a:prstGeom prst="rect">
            <a:avLst/>
          </a:prstGeom>
          <a:solidFill>
            <a:srgbClr val="C99A5B"/>
          </a:solidFill>
          <a:ln w="12700">
            <a:solidFill>
              <a:srgbClr val="8A5A2B"/>
            </a:solidFill>
            <a:prstDash val="solid"/>
          </a:ln>
        </p:spPr>
      </p:sp>
      <p:sp>
        <p:nvSpPr>
          <p:cNvPr id="13" name="Shape 11"/>
          <p:cNvSpPr/>
          <p:nvPr/>
        </p:nvSpPr>
        <p:spPr>
          <a:xfrm>
            <a:off x="685800" y="3950208"/>
            <a:ext cx="137160" cy="548640"/>
          </a:xfrm>
          <a:prstGeom prst="rect">
            <a:avLst/>
          </a:prstGeom>
          <a:solidFill>
            <a:srgbClr val="C99A5B"/>
          </a:solidFill>
          <a:ln w="12700">
            <a:solidFill>
              <a:srgbClr val="8A5A2B"/>
            </a:solidFill>
            <a:prstDash val="solid"/>
          </a:ln>
        </p:spPr>
      </p:sp>
      <p:sp>
        <p:nvSpPr>
          <p:cNvPr id="14" name="Shape 12"/>
          <p:cNvSpPr/>
          <p:nvPr/>
        </p:nvSpPr>
        <p:spPr>
          <a:xfrm>
            <a:off x="4480560" y="3950208"/>
            <a:ext cx="137160" cy="548640"/>
          </a:xfrm>
          <a:prstGeom prst="rect">
            <a:avLst/>
          </a:prstGeom>
          <a:solidFill>
            <a:srgbClr val="C99A5B"/>
          </a:solidFill>
          <a:ln w="12700">
            <a:solidFill>
              <a:srgbClr val="8A5A2B"/>
            </a:solidFill>
            <a:prstDash val="solid"/>
          </a:ln>
        </p:spPr>
      </p:sp>
      <p:sp>
        <p:nvSpPr>
          <p:cNvPr id="15" name="Shape 13"/>
          <p:cNvSpPr/>
          <p:nvPr/>
        </p:nvSpPr>
        <p:spPr>
          <a:xfrm>
            <a:off x="868680" y="3657600"/>
            <a:ext cx="457200" cy="457200"/>
          </a:xfrm>
          <a:prstGeom prst="ellipse">
            <a:avLst/>
          </a:prstGeom>
          <a:solidFill>
            <a:srgbClr val="EEF5FB"/>
          </a:solidFill>
          <a:ln w="15875">
            <a:solidFill>
              <a:srgbClr val="2A1F3D"/>
            </a:solidFill>
            <a:prstDash val="solid"/>
          </a:ln>
        </p:spPr>
      </p:sp>
      <p:sp>
        <p:nvSpPr>
          <p:cNvPr id="16" name="Shape 14"/>
          <p:cNvSpPr/>
          <p:nvPr/>
        </p:nvSpPr>
        <p:spPr>
          <a:xfrm>
            <a:off x="868680" y="1783080"/>
            <a:ext cx="457200" cy="2103120"/>
          </a:xfrm>
          <a:prstGeom prst="rect">
            <a:avLst/>
          </a:prstGeom>
          <a:solidFill>
            <a:srgbClr val="EEF5FB"/>
          </a:solidFill>
          <a:ln/>
        </p:spPr>
      </p:sp>
      <p:sp>
        <p:nvSpPr>
          <p:cNvPr id="17" name="Shape 15"/>
          <p:cNvSpPr/>
          <p:nvPr/>
        </p:nvSpPr>
        <p:spPr>
          <a:xfrm>
            <a:off x="868680" y="3657600"/>
            <a:ext cx="457200" cy="457200"/>
          </a:xfrm>
          <a:prstGeom prst="ellipse">
            <a:avLst/>
          </a:prstGeom>
          <a:solidFill>
            <a:srgbClr val="CFE4F7"/>
          </a:solidFill>
          <a:ln/>
        </p:spPr>
      </p:sp>
      <p:sp>
        <p:nvSpPr>
          <p:cNvPr id="18" name="Shape 16"/>
          <p:cNvSpPr/>
          <p:nvPr/>
        </p:nvSpPr>
        <p:spPr>
          <a:xfrm>
            <a:off x="868680" y="2715768"/>
            <a:ext cx="457200" cy="1170432"/>
          </a:xfrm>
          <a:prstGeom prst="rect">
            <a:avLst/>
          </a:prstGeom>
          <a:solidFill>
            <a:srgbClr val="CFE4F7"/>
          </a:solidFill>
          <a:ln/>
        </p:spPr>
      </p:sp>
      <p:sp>
        <p:nvSpPr>
          <p:cNvPr id="19" name="Shape 17"/>
          <p:cNvSpPr/>
          <p:nvPr/>
        </p:nvSpPr>
        <p:spPr>
          <a:xfrm>
            <a:off x="868680" y="1783080"/>
            <a:ext cx="91" cy="2112264"/>
          </a:xfrm>
          <a:prstGeom prst="line">
            <a:avLst/>
          </a:prstGeom>
          <a:noFill/>
          <a:ln w="15875">
            <a:solidFill>
              <a:srgbClr val="2A1F3D"/>
            </a:solidFill>
            <a:prstDash val="solid"/>
          </a:ln>
        </p:spPr>
      </p:sp>
      <p:sp>
        <p:nvSpPr>
          <p:cNvPr id="20" name="Shape 18"/>
          <p:cNvSpPr/>
          <p:nvPr/>
        </p:nvSpPr>
        <p:spPr>
          <a:xfrm>
            <a:off x="1325880" y="1783080"/>
            <a:ext cx="91" cy="2112264"/>
          </a:xfrm>
          <a:prstGeom prst="line">
            <a:avLst/>
          </a:prstGeom>
          <a:noFill/>
          <a:ln w="15875">
            <a:solidFill>
              <a:srgbClr val="2A1F3D"/>
            </a:solidFill>
            <a:prstDash val="solid"/>
          </a:ln>
        </p:spPr>
      </p:sp>
      <p:sp>
        <p:nvSpPr>
          <p:cNvPr id="21" name="Shape 19"/>
          <p:cNvSpPr/>
          <p:nvPr/>
        </p:nvSpPr>
        <p:spPr>
          <a:xfrm>
            <a:off x="1014984" y="2103120"/>
            <a:ext cx="164592" cy="45720"/>
          </a:xfrm>
          <a:prstGeom prst="rect">
            <a:avLst/>
          </a:prstGeom>
          <a:solidFill>
            <a:srgbClr val="B9C0CC"/>
          </a:solidFill>
          <a:ln w="6350">
            <a:solidFill>
              <a:srgbClr val="5A6275"/>
            </a:solidFill>
            <a:prstDash val="solid"/>
          </a:ln>
        </p:spPr>
      </p:sp>
      <p:sp>
        <p:nvSpPr>
          <p:cNvPr id="22" name="Shape 20"/>
          <p:cNvSpPr/>
          <p:nvPr/>
        </p:nvSpPr>
        <p:spPr>
          <a:xfrm>
            <a:off x="1069848" y="2148840"/>
            <a:ext cx="54864" cy="1645920"/>
          </a:xfrm>
          <a:prstGeom prst="rect">
            <a:avLst/>
          </a:prstGeom>
          <a:solidFill>
            <a:srgbClr val="B9C0CC"/>
          </a:solidFill>
          <a:ln w="6350">
            <a:solidFill>
              <a:srgbClr val="5A6275"/>
            </a:solidFill>
            <a:prstDash val="solid"/>
          </a:ln>
        </p:spPr>
      </p:sp>
      <p:sp>
        <p:nvSpPr>
          <p:cNvPr id="23" name="Shape 21"/>
          <p:cNvSpPr/>
          <p:nvPr/>
        </p:nvSpPr>
        <p:spPr>
          <a:xfrm>
            <a:off x="1069848" y="3794760"/>
            <a:ext cx="54864" cy="91440"/>
          </a:xfrm>
          <a:custGeom>
            <a:avLst/>
            <a:gdLst/>
            <a:ahLst/>
            <a:cxnLst/>
            <a:rect l="l" t="t" r="r" b="b"/>
            <a:pathLst>
              <a:path w="54864" h="91440">
                <a:moveTo>
                  <a:pt x="0" y="0"/>
                </a:moveTo>
                <a:lnTo>
                  <a:pt x="54864" y="0"/>
                </a:lnTo>
                <a:lnTo>
                  <a:pt x="27432" y="91440"/>
                </a:lnTo>
                <a:close/>
              </a:path>
            </a:pathLst>
          </a:custGeom>
          <a:solidFill>
            <a:srgbClr val="B9C0CC"/>
          </a:solidFill>
          <a:ln w="6350">
            <a:solidFill>
              <a:srgbClr val="5A6275"/>
            </a:solidFill>
            <a:prstDash val="solid"/>
          </a:ln>
        </p:spPr>
      </p:sp>
      <p:sp>
        <p:nvSpPr>
          <p:cNvPr id="24" name="Text 22"/>
          <p:cNvSpPr/>
          <p:nvPr/>
        </p:nvSpPr>
        <p:spPr>
          <a:xfrm>
            <a:off x="777240" y="1417320"/>
            <a:ext cx="640080" cy="274320"/>
          </a:xfrm>
          <a:prstGeom prst="rect">
            <a:avLst/>
          </a:prstGeom>
          <a:noFill/>
          <a:ln/>
        </p:spPr>
        <p:txBody>
          <a:bodyPr wrap="square" lIns="0" tIns="0" rIns="0" bIns="0" rtlCol="0" anchor="ctr"/>
          <a:lstStyle/>
          <a:p>
            <a:pPr algn="ctr" indent="0" marL="0">
              <a:buNone/>
            </a:pPr>
            <a:r>
              <a:rPr lang="en-US" sz="1250" b="1" dirty="0">
                <a:solidFill>
                  <a:srgbClr val="6A3FA0"/>
                </a:solidFill>
                <a:latin typeface="Calibri" pitchFamily="34" charset="0"/>
                <a:ea typeface="Calibri" pitchFamily="34" charset="-122"/>
                <a:cs typeface="Calibri" pitchFamily="34" charset="-120"/>
              </a:rPr>
              <a:t>A</a:t>
            </a:r>
            <a:endParaRPr lang="en-US" sz="1250" dirty="0"/>
          </a:p>
        </p:txBody>
      </p:sp>
      <p:sp>
        <p:nvSpPr>
          <p:cNvPr id="25" name="Text 23"/>
          <p:cNvSpPr/>
          <p:nvPr/>
        </p:nvSpPr>
        <p:spPr>
          <a:xfrm>
            <a:off x="685800" y="4526280"/>
            <a:ext cx="82296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tap water</a:t>
            </a:r>
            <a:endParaRPr lang="en-US" sz="1000" dirty="0"/>
          </a:p>
        </p:txBody>
      </p:sp>
      <p:sp>
        <p:nvSpPr>
          <p:cNvPr id="26" name="Shape 24"/>
          <p:cNvSpPr/>
          <p:nvPr/>
        </p:nvSpPr>
        <p:spPr>
          <a:xfrm>
            <a:off x="1627632" y="3657600"/>
            <a:ext cx="457200" cy="457200"/>
          </a:xfrm>
          <a:prstGeom prst="ellipse">
            <a:avLst/>
          </a:prstGeom>
          <a:solidFill>
            <a:srgbClr val="EEF5FB"/>
          </a:solidFill>
          <a:ln w="15875">
            <a:solidFill>
              <a:srgbClr val="2A1F3D"/>
            </a:solidFill>
            <a:prstDash val="solid"/>
          </a:ln>
        </p:spPr>
      </p:sp>
      <p:sp>
        <p:nvSpPr>
          <p:cNvPr id="27" name="Shape 25"/>
          <p:cNvSpPr/>
          <p:nvPr/>
        </p:nvSpPr>
        <p:spPr>
          <a:xfrm>
            <a:off x="1627632" y="1783080"/>
            <a:ext cx="457200" cy="2103120"/>
          </a:xfrm>
          <a:prstGeom prst="rect">
            <a:avLst/>
          </a:prstGeom>
          <a:solidFill>
            <a:srgbClr val="EEF5FB"/>
          </a:solidFill>
          <a:ln/>
        </p:spPr>
      </p:sp>
      <p:sp>
        <p:nvSpPr>
          <p:cNvPr id="28" name="Shape 26"/>
          <p:cNvSpPr/>
          <p:nvPr/>
        </p:nvSpPr>
        <p:spPr>
          <a:xfrm>
            <a:off x="1627632" y="3657600"/>
            <a:ext cx="457200" cy="457200"/>
          </a:xfrm>
          <a:prstGeom prst="ellipse">
            <a:avLst/>
          </a:prstGeom>
          <a:solidFill>
            <a:srgbClr val="B9D3EC"/>
          </a:solidFill>
          <a:ln/>
        </p:spPr>
      </p:sp>
      <p:sp>
        <p:nvSpPr>
          <p:cNvPr id="29" name="Shape 27"/>
          <p:cNvSpPr/>
          <p:nvPr/>
        </p:nvSpPr>
        <p:spPr>
          <a:xfrm>
            <a:off x="1627632" y="2715768"/>
            <a:ext cx="457200" cy="1170432"/>
          </a:xfrm>
          <a:prstGeom prst="rect">
            <a:avLst/>
          </a:prstGeom>
          <a:solidFill>
            <a:srgbClr val="B9D3EC"/>
          </a:solidFill>
          <a:ln/>
        </p:spPr>
      </p:sp>
      <p:sp>
        <p:nvSpPr>
          <p:cNvPr id="30" name="Shape 28"/>
          <p:cNvSpPr/>
          <p:nvPr/>
        </p:nvSpPr>
        <p:spPr>
          <a:xfrm>
            <a:off x="1627632" y="1783080"/>
            <a:ext cx="91" cy="2112264"/>
          </a:xfrm>
          <a:prstGeom prst="line">
            <a:avLst/>
          </a:prstGeom>
          <a:noFill/>
          <a:ln w="15875">
            <a:solidFill>
              <a:srgbClr val="2A1F3D"/>
            </a:solidFill>
            <a:prstDash val="solid"/>
          </a:ln>
        </p:spPr>
      </p:sp>
      <p:sp>
        <p:nvSpPr>
          <p:cNvPr id="31" name="Shape 29"/>
          <p:cNvSpPr/>
          <p:nvPr/>
        </p:nvSpPr>
        <p:spPr>
          <a:xfrm>
            <a:off x="2084832" y="1783080"/>
            <a:ext cx="91" cy="2112264"/>
          </a:xfrm>
          <a:prstGeom prst="line">
            <a:avLst/>
          </a:prstGeom>
          <a:noFill/>
          <a:ln w="15875">
            <a:solidFill>
              <a:srgbClr val="2A1F3D"/>
            </a:solidFill>
            <a:prstDash val="solid"/>
          </a:ln>
        </p:spPr>
      </p:sp>
      <p:sp>
        <p:nvSpPr>
          <p:cNvPr id="32" name="Shape 30"/>
          <p:cNvSpPr/>
          <p:nvPr/>
        </p:nvSpPr>
        <p:spPr>
          <a:xfrm>
            <a:off x="1773936" y="2103120"/>
            <a:ext cx="164592" cy="45720"/>
          </a:xfrm>
          <a:prstGeom prst="rect">
            <a:avLst/>
          </a:prstGeom>
          <a:solidFill>
            <a:srgbClr val="B9C0CC"/>
          </a:solidFill>
          <a:ln w="6350">
            <a:solidFill>
              <a:srgbClr val="5A6275"/>
            </a:solidFill>
            <a:prstDash val="solid"/>
          </a:ln>
        </p:spPr>
      </p:sp>
      <p:sp>
        <p:nvSpPr>
          <p:cNvPr id="33" name="Shape 31"/>
          <p:cNvSpPr/>
          <p:nvPr/>
        </p:nvSpPr>
        <p:spPr>
          <a:xfrm>
            <a:off x="1828800" y="2148840"/>
            <a:ext cx="54864" cy="1645920"/>
          </a:xfrm>
          <a:prstGeom prst="rect">
            <a:avLst/>
          </a:prstGeom>
          <a:solidFill>
            <a:srgbClr val="B9C0CC"/>
          </a:solidFill>
          <a:ln w="6350">
            <a:solidFill>
              <a:srgbClr val="5A6275"/>
            </a:solidFill>
            <a:prstDash val="solid"/>
          </a:ln>
        </p:spPr>
      </p:sp>
      <p:sp>
        <p:nvSpPr>
          <p:cNvPr id="34" name="Shape 32"/>
          <p:cNvSpPr/>
          <p:nvPr/>
        </p:nvSpPr>
        <p:spPr>
          <a:xfrm>
            <a:off x="1828800" y="3794760"/>
            <a:ext cx="54864" cy="91440"/>
          </a:xfrm>
          <a:custGeom>
            <a:avLst/>
            <a:gdLst/>
            <a:ahLst/>
            <a:cxnLst/>
            <a:rect l="l" t="t" r="r" b="b"/>
            <a:pathLst>
              <a:path w="54864" h="91440">
                <a:moveTo>
                  <a:pt x="0" y="0"/>
                </a:moveTo>
                <a:lnTo>
                  <a:pt x="54864" y="0"/>
                </a:lnTo>
                <a:lnTo>
                  <a:pt x="27432" y="91440"/>
                </a:lnTo>
                <a:close/>
              </a:path>
            </a:pathLst>
          </a:custGeom>
          <a:solidFill>
            <a:srgbClr val="B9C0CC"/>
          </a:solidFill>
          <a:ln w="6350">
            <a:solidFill>
              <a:srgbClr val="5A6275"/>
            </a:solidFill>
            <a:prstDash val="solid"/>
          </a:ln>
        </p:spPr>
      </p:sp>
      <p:sp>
        <p:nvSpPr>
          <p:cNvPr id="35" name="Text 33"/>
          <p:cNvSpPr/>
          <p:nvPr/>
        </p:nvSpPr>
        <p:spPr>
          <a:xfrm>
            <a:off x="1536192" y="1417320"/>
            <a:ext cx="640080" cy="274320"/>
          </a:xfrm>
          <a:prstGeom prst="rect">
            <a:avLst/>
          </a:prstGeom>
          <a:noFill/>
          <a:ln/>
        </p:spPr>
        <p:txBody>
          <a:bodyPr wrap="square" lIns="0" tIns="0" rIns="0" bIns="0" rtlCol="0" anchor="ctr"/>
          <a:lstStyle/>
          <a:p>
            <a:pPr algn="ctr" indent="0" marL="0">
              <a:buNone/>
            </a:pPr>
            <a:r>
              <a:rPr lang="en-US" sz="1250" b="1" dirty="0">
                <a:solidFill>
                  <a:srgbClr val="6A3FA0"/>
                </a:solidFill>
                <a:latin typeface="Calibri" pitchFamily="34" charset="0"/>
                <a:ea typeface="Calibri" pitchFamily="34" charset="-122"/>
                <a:cs typeface="Calibri" pitchFamily="34" charset="-120"/>
              </a:rPr>
              <a:t>B</a:t>
            </a:r>
            <a:endParaRPr lang="en-US" sz="1250" dirty="0"/>
          </a:p>
        </p:txBody>
      </p:sp>
      <p:sp>
        <p:nvSpPr>
          <p:cNvPr id="36" name="Text 34"/>
          <p:cNvSpPr/>
          <p:nvPr/>
        </p:nvSpPr>
        <p:spPr>
          <a:xfrm>
            <a:off x="1444752" y="4526280"/>
            <a:ext cx="82296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salt water</a:t>
            </a:r>
            <a:endParaRPr lang="en-US" sz="1000" dirty="0"/>
          </a:p>
        </p:txBody>
      </p:sp>
      <p:sp>
        <p:nvSpPr>
          <p:cNvPr id="37" name="Shape 35"/>
          <p:cNvSpPr/>
          <p:nvPr/>
        </p:nvSpPr>
        <p:spPr>
          <a:xfrm>
            <a:off x="2386584" y="3657600"/>
            <a:ext cx="457200" cy="457200"/>
          </a:xfrm>
          <a:prstGeom prst="ellipse">
            <a:avLst/>
          </a:prstGeom>
          <a:solidFill>
            <a:srgbClr val="EEF5FB"/>
          </a:solidFill>
          <a:ln w="15875">
            <a:solidFill>
              <a:srgbClr val="2A1F3D"/>
            </a:solidFill>
            <a:prstDash val="solid"/>
          </a:ln>
        </p:spPr>
      </p:sp>
      <p:sp>
        <p:nvSpPr>
          <p:cNvPr id="38" name="Shape 36"/>
          <p:cNvSpPr/>
          <p:nvPr/>
        </p:nvSpPr>
        <p:spPr>
          <a:xfrm>
            <a:off x="2386584" y="1783080"/>
            <a:ext cx="457200" cy="2103120"/>
          </a:xfrm>
          <a:prstGeom prst="rect">
            <a:avLst/>
          </a:prstGeom>
          <a:solidFill>
            <a:srgbClr val="EEF5FB"/>
          </a:solidFill>
          <a:ln/>
        </p:spPr>
      </p:sp>
      <p:sp>
        <p:nvSpPr>
          <p:cNvPr id="39" name="Shape 37"/>
          <p:cNvSpPr/>
          <p:nvPr/>
        </p:nvSpPr>
        <p:spPr>
          <a:xfrm>
            <a:off x="2386584" y="3657600"/>
            <a:ext cx="457200" cy="457200"/>
          </a:xfrm>
          <a:prstGeom prst="ellipse">
            <a:avLst/>
          </a:prstGeom>
          <a:solidFill>
            <a:srgbClr val="CFE4F7"/>
          </a:solidFill>
          <a:ln/>
        </p:spPr>
      </p:sp>
      <p:sp>
        <p:nvSpPr>
          <p:cNvPr id="40" name="Shape 38"/>
          <p:cNvSpPr/>
          <p:nvPr/>
        </p:nvSpPr>
        <p:spPr>
          <a:xfrm>
            <a:off x="2386584" y="2715768"/>
            <a:ext cx="457200" cy="1170432"/>
          </a:xfrm>
          <a:prstGeom prst="rect">
            <a:avLst/>
          </a:prstGeom>
          <a:solidFill>
            <a:srgbClr val="CFE4F7"/>
          </a:solidFill>
          <a:ln/>
        </p:spPr>
      </p:sp>
      <p:sp>
        <p:nvSpPr>
          <p:cNvPr id="41" name="Shape 39"/>
          <p:cNvSpPr/>
          <p:nvPr/>
        </p:nvSpPr>
        <p:spPr>
          <a:xfrm>
            <a:off x="2386584" y="1783080"/>
            <a:ext cx="91" cy="2112264"/>
          </a:xfrm>
          <a:prstGeom prst="line">
            <a:avLst/>
          </a:prstGeom>
          <a:noFill/>
          <a:ln w="15875">
            <a:solidFill>
              <a:srgbClr val="2A1F3D"/>
            </a:solidFill>
            <a:prstDash val="solid"/>
          </a:ln>
        </p:spPr>
      </p:sp>
      <p:sp>
        <p:nvSpPr>
          <p:cNvPr id="42" name="Shape 40"/>
          <p:cNvSpPr/>
          <p:nvPr/>
        </p:nvSpPr>
        <p:spPr>
          <a:xfrm>
            <a:off x="2843784" y="1783080"/>
            <a:ext cx="91" cy="2112264"/>
          </a:xfrm>
          <a:prstGeom prst="line">
            <a:avLst/>
          </a:prstGeom>
          <a:noFill/>
          <a:ln w="15875">
            <a:solidFill>
              <a:srgbClr val="2A1F3D"/>
            </a:solidFill>
            <a:prstDash val="solid"/>
          </a:ln>
        </p:spPr>
      </p:sp>
      <p:sp>
        <p:nvSpPr>
          <p:cNvPr id="43" name="Shape 41"/>
          <p:cNvSpPr/>
          <p:nvPr/>
        </p:nvSpPr>
        <p:spPr>
          <a:xfrm>
            <a:off x="2532888" y="2103120"/>
            <a:ext cx="164592" cy="45720"/>
          </a:xfrm>
          <a:prstGeom prst="rect">
            <a:avLst/>
          </a:prstGeom>
          <a:solidFill>
            <a:srgbClr val="3A7BC8"/>
          </a:solidFill>
          <a:ln w="6350">
            <a:solidFill>
              <a:srgbClr val="1F4E8C"/>
            </a:solidFill>
            <a:prstDash val="solid"/>
          </a:ln>
        </p:spPr>
      </p:sp>
      <p:sp>
        <p:nvSpPr>
          <p:cNvPr id="44" name="Shape 42"/>
          <p:cNvSpPr/>
          <p:nvPr/>
        </p:nvSpPr>
        <p:spPr>
          <a:xfrm>
            <a:off x="2587752" y="2148840"/>
            <a:ext cx="54864" cy="1645920"/>
          </a:xfrm>
          <a:prstGeom prst="rect">
            <a:avLst/>
          </a:prstGeom>
          <a:solidFill>
            <a:srgbClr val="3A7BC8"/>
          </a:solidFill>
          <a:ln w="6350">
            <a:solidFill>
              <a:srgbClr val="1F4E8C"/>
            </a:solidFill>
            <a:prstDash val="solid"/>
          </a:ln>
        </p:spPr>
      </p:sp>
      <p:sp>
        <p:nvSpPr>
          <p:cNvPr id="45" name="Shape 43"/>
          <p:cNvSpPr/>
          <p:nvPr/>
        </p:nvSpPr>
        <p:spPr>
          <a:xfrm>
            <a:off x="2587752" y="3794760"/>
            <a:ext cx="54864" cy="91440"/>
          </a:xfrm>
          <a:custGeom>
            <a:avLst/>
            <a:gdLst/>
            <a:ahLst/>
            <a:cxnLst/>
            <a:rect l="l" t="t" r="r" b="b"/>
            <a:pathLst>
              <a:path w="54864" h="91440">
                <a:moveTo>
                  <a:pt x="0" y="0"/>
                </a:moveTo>
                <a:lnTo>
                  <a:pt x="54864" y="0"/>
                </a:lnTo>
                <a:lnTo>
                  <a:pt x="27432" y="91440"/>
                </a:lnTo>
                <a:close/>
              </a:path>
            </a:pathLst>
          </a:custGeom>
          <a:solidFill>
            <a:srgbClr val="3A7BC8"/>
          </a:solidFill>
          <a:ln w="6350">
            <a:solidFill>
              <a:srgbClr val="1F4E8C"/>
            </a:solidFill>
            <a:prstDash val="solid"/>
          </a:ln>
        </p:spPr>
      </p:sp>
      <p:sp>
        <p:nvSpPr>
          <p:cNvPr id="46" name="Text 44"/>
          <p:cNvSpPr/>
          <p:nvPr/>
        </p:nvSpPr>
        <p:spPr>
          <a:xfrm>
            <a:off x="2295144" y="1417320"/>
            <a:ext cx="640080" cy="274320"/>
          </a:xfrm>
          <a:prstGeom prst="rect">
            <a:avLst/>
          </a:prstGeom>
          <a:noFill/>
          <a:ln/>
        </p:spPr>
        <p:txBody>
          <a:bodyPr wrap="square" lIns="0" tIns="0" rIns="0" bIns="0" rtlCol="0" anchor="ctr"/>
          <a:lstStyle/>
          <a:p>
            <a:pPr algn="ctr" indent="0" marL="0">
              <a:buNone/>
            </a:pPr>
            <a:r>
              <a:rPr lang="en-US" sz="1250" b="1" dirty="0">
                <a:solidFill>
                  <a:srgbClr val="6A3FA0"/>
                </a:solidFill>
                <a:latin typeface="Calibri" pitchFamily="34" charset="0"/>
                <a:ea typeface="Calibri" pitchFamily="34" charset="-122"/>
                <a:cs typeface="Calibri" pitchFamily="34" charset="-120"/>
              </a:rPr>
              <a:t>C</a:t>
            </a:r>
            <a:endParaRPr lang="en-US" sz="1250" dirty="0"/>
          </a:p>
        </p:txBody>
      </p:sp>
      <p:sp>
        <p:nvSpPr>
          <p:cNvPr id="47" name="Text 45"/>
          <p:cNvSpPr/>
          <p:nvPr/>
        </p:nvSpPr>
        <p:spPr>
          <a:xfrm>
            <a:off x="2203704" y="4526280"/>
            <a:ext cx="82296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painted</a:t>
            </a:r>
            <a:endParaRPr lang="en-US" sz="1000" dirty="0"/>
          </a:p>
        </p:txBody>
      </p:sp>
      <p:sp>
        <p:nvSpPr>
          <p:cNvPr id="48" name="Shape 46"/>
          <p:cNvSpPr/>
          <p:nvPr/>
        </p:nvSpPr>
        <p:spPr>
          <a:xfrm>
            <a:off x="3145536" y="3657600"/>
            <a:ext cx="457200" cy="457200"/>
          </a:xfrm>
          <a:prstGeom prst="ellipse">
            <a:avLst/>
          </a:prstGeom>
          <a:solidFill>
            <a:srgbClr val="EEF5FB"/>
          </a:solidFill>
          <a:ln w="15875">
            <a:solidFill>
              <a:srgbClr val="2A1F3D"/>
            </a:solidFill>
            <a:prstDash val="solid"/>
          </a:ln>
        </p:spPr>
      </p:sp>
      <p:sp>
        <p:nvSpPr>
          <p:cNvPr id="49" name="Shape 47"/>
          <p:cNvSpPr/>
          <p:nvPr/>
        </p:nvSpPr>
        <p:spPr>
          <a:xfrm>
            <a:off x="3145536" y="1783080"/>
            <a:ext cx="457200" cy="2103120"/>
          </a:xfrm>
          <a:prstGeom prst="rect">
            <a:avLst/>
          </a:prstGeom>
          <a:solidFill>
            <a:srgbClr val="EEF5FB"/>
          </a:solidFill>
          <a:ln/>
        </p:spPr>
      </p:sp>
      <p:sp>
        <p:nvSpPr>
          <p:cNvPr id="50" name="Shape 48"/>
          <p:cNvSpPr/>
          <p:nvPr/>
        </p:nvSpPr>
        <p:spPr>
          <a:xfrm>
            <a:off x="3145536" y="3657600"/>
            <a:ext cx="457200" cy="457200"/>
          </a:xfrm>
          <a:prstGeom prst="ellipse">
            <a:avLst/>
          </a:prstGeom>
          <a:solidFill>
            <a:srgbClr val="CFE4F7"/>
          </a:solidFill>
          <a:ln/>
        </p:spPr>
      </p:sp>
      <p:sp>
        <p:nvSpPr>
          <p:cNvPr id="51" name="Shape 49"/>
          <p:cNvSpPr/>
          <p:nvPr/>
        </p:nvSpPr>
        <p:spPr>
          <a:xfrm>
            <a:off x="3145536" y="2715768"/>
            <a:ext cx="457200" cy="1170432"/>
          </a:xfrm>
          <a:prstGeom prst="rect">
            <a:avLst/>
          </a:prstGeom>
          <a:solidFill>
            <a:srgbClr val="CFE4F7"/>
          </a:solidFill>
          <a:ln/>
        </p:spPr>
      </p:sp>
      <p:sp>
        <p:nvSpPr>
          <p:cNvPr id="52" name="Shape 50"/>
          <p:cNvSpPr/>
          <p:nvPr/>
        </p:nvSpPr>
        <p:spPr>
          <a:xfrm>
            <a:off x="3145536" y="1783080"/>
            <a:ext cx="91" cy="2112264"/>
          </a:xfrm>
          <a:prstGeom prst="line">
            <a:avLst/>
          </a:prstGeom>
          <a:noFill/>
          <a:ln w="15875">
            <a:solidFill>
              <a:srgbClr val="2A1F3D"/>
            </a:solidFill>
            <a:prstDash val="solid"/>
          </a:ln>
        </p:spPr>
      </p:sp>
      <p:sp>
        <p:nvSpPr>
          <p:cNvPr id="53" name="Shape 51"/>
          <p:cNvSpPr/>
          <p:nvPr/>
        </p:nvSpPr>
        <p:spPr>
          <a:xfrm>
            <a:off x="3602736" y="1783080"/>
            <a:ext cx="91" cy="2112264"/>
          </a:xfrm>
          <a:prstGeom prst="line">
            <a:avLst/>
          </a:prstGeom>
          <a:noFill/>
          <a:ln w="15875">
            <a:solidFill>
              <a:srgbClr val="2A1F3D"/>
            </a:solidFill>
            <a:prstDash val="solid"/>
          </a:ln>
        </p:spPr>
      </p:sp>
      <p:sp>
        <p:nvSpPr>
          <p:cNvPr id="54" name="Shape 52"/>
          <p:cNvSpPr/>
          <p:nvPr/>
        </p:nvSpPr>
        <p:spPr>
          <a:xfrm>
            <a:off x="3291840" y="2103120"/>
            <a:ext cx="164592" cy="45720"/>
          </a:xfrm>
          <a:prstGeom prst="rect">
            <a:avLst/>
          </a:prstGeom>
          <a:solidFill>
            <a:srgbClr val="B9C0CC"/>
          </a:solidFill>
          <a:ln w="6350">
            <a:solidFill>
              <a:srgbClr val="5A6275"/>
            </a:solidFill>
            <a:prstDash val="solid"/>
          </a:ln>
        </p:spPr>
      </p:sp>
      <p:sp>
        <p:nvSpPr>
          <p:cNvPr id="55" name="Shape 53"/>
          <p:cNvSpPr/>
          <p:nvPr/>
        </p:nvSpPr>
        <p:spPr>
          <a:xfrm>
            <a:off x="3346704" y="2148840"/>
            <a:ext cx="54864" cy="1645920"/>
          </a:xfrm>
          <a:prstGeom prst="rect">
            <a:avLst/>
          </a:prstGeom>
          <a:solidFill>
            <a:srgbClr val="B9C0CC"/>
          </a:solidFill>
          <a:ln w="6350">
            <a:solidFill>
              <a:srgbClr val="5A6275"/>
            </a:solidFill>
            <a:prstDash val="solid"/>
          </a:ln>
        </p:spPr>
      </p:sp>
      <p:sp>
        <p:nvSpPr>
          <p:cNvPr id="56" name="Shape 54"/>
          <p:cNvSpPr/>
          <p:nvPr/>
        </p:nvSpPr>
        <p:spPr>
          <a:xfrm>
            <a:off x="3346704" y="3794760"/>
            <a:ext cx="54864" cy="91440"/>
          </a:xfrm>
          <a:custGeom>
            <a:avLst/>
            <a:gdLst/>
            <a:ahLst/>
            <a:cxnLst/>
            <a:rect l="l" t="t" r="r" b="b"/>
            <a:pathLst>
              <a:path w="54864" h="91440">
                <a:moveTo>
                  <a:pt x="0" y="0"/>
                </a:moveTo>
                <a:lnTo>
                  <a:pt x="54864" y="0"/>
                </a:lnTo>
                <a:lnTo>
                  <a:pt x="27432" y="91440"/>
                </a:lnTo>
                <a:close/>
              </a:path>
            </a:pathLst>
          </a:custGeom>
          <a:solidFill>
            <a:srgbClr val="B9C0CC"/>
          </a:solidFill>
          <a:ln w="6350">
            <a:solidFill>
              <a:srgbClr val="5A6275"/>
            </a:solidFill>
            <a:prstDash val="solid"/>
          </a:ln>
        </p:spPr>
      </p:sp>
      <p:sp>
        <p:nvSpPr>
          <p:cNvPr id="57" name="Shape 55"/>
          <p:cNvSpPr/>
          <p:nvPr/>
        </p:nvSpPr>
        <p:spPr>
          <a:xfrm>
            <a:off x="3319272" y="2727198"/>
            <a:ext cx="109728" cy="45720"/>
          </a:xfrm>
          <a:prstGeom prst="rect">
            <a:avLst/>
          </a:prstGeom>
          <a:solidFill>
            <a:srgbClr val="D5DBE3"/>
          </a:solidFill>
          <a:ln w="6350">
            <a:solidFill>
              <a:srgbClr val="7D8794"/>
            </a:solidFill>
            <a:prstDash val="solid"/>
          </a:ln>
        </p:spPr>
      </p:sp>
      <p:sp>
        <p:nvSpPr>
          <p:cNvPr id="58" name="Shape 56"/>
          <p:cNvSpPr/>
          <p:nvPr/>
        </p:nvSpPr>
        <p:spPr>
          <a:xfrm>
            <a:off x="3319272" y="2809494"/>
            <a:ext cx="109728" cy="45720"/>
          </a:xfrm>
          <a:prstGeom prst="rect">
            <a:avLst/>
          </a:prstGeom>
          <a:solidFill>
            <a:srgbClr val="D5DBE3"/>
          </a:solidFill>
          <a:ln w="6350">
            <a:solidFill>
              <a:srgbClr val="7D8794"/>
            </a:solidFill>
            <a:prstDash val="solid"/>
          </a:ln>
        </p:spPr>
      </p:sp>
      <p:sp>
        <p:nvSpPr>
          <p:cNvPr id="59" name="Shape 57"/>
          <p:cNvSpPr/>
          <p:nvPr/>
        </p:nvSpPr>
        <p:spPr>
          <a:xfrm>
            <a:off x="3319272" y="2891790"/>
            <a:ext cx="109728" cy="45720"/>
          </a:xfrm>
          <a:prstGeom prst="rect">
            <a:avLst/>
          </a:prstGeom>
          <a:solidFill>
            <a:srgbClr val="D5DBE3"/>
          </a:solidFill>
          <a:ln w="6350">
            <a:solidFill>
              <a:srgbClr val="7D8794"/>
            </a:solidFill>
            <a:prstDash val="solid"/>
          </a:ln>
        </p:spPr>
      </p:sp>
      <p:sp>
        <p:nvSpPr>
          <p:cNvPr id="60" name="Text 58"/>
          <p:cNvSpPr/>
          <p:nvPr/>
        </p:nvSpPr>
        <p:spPr>
          <a:xfrm>
            <a:off x="3054096" y="1417320"/>
            <a:ext cx="640080" cy="274320"/>
          </a:xfrm>
          <a:prstGeom prst="rect">
            <a:avLst/>
          </a:prstGeom>
          <a:noFill/>
          <a:ln/>
        </p:spPr>
        <p:txBody>
          <a:bodyPr wrap="square" lIns="0" tIns="0" rIns="0" bIns="0" rtlCol="0" anchor="ctr"/>
          <a:lstStyle/>
          <a:p>
            <a:pPr algn="ctr" indent="0" marL="0">
              <a:buNone/>
            </a:pPr>
            <a:r>
              <a:rPr lang="en-US" sz="1250" b="1" dirty="0">
                <a:solidFill>
                  <a:srgbClr val="6A3FA0"/>
                </a:solidFill>
                <a:latin typeface="Calibri" pitchFamily="34" charset="0"/>
                <a:ea typeface="Calibri" pitchFamily="34" charset="-122"/>
                <a:cs typeface="Calibri" pitchFamily="34" charset="-120"/>
              </a:rPr>
              <a:t>D</a:t>
            </a:r>
            <a:endParaRPr lang="en-US" sz="1250" dirty="0"/>
          </a:p>
        </p:txBody>
      </p:sp>
      <p:sp>
        <p:nvSpPr>
          <p:cNvPr id="61" name="Text 59"/>
          <p:cNvSpPr/>
          <p:nvPr/>
        </p:nvSpPr>
        <p:spPr>
          <a:xfrm>
            <a:off x="2962656" y="4526280"/>
            <a:ext cx="82296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zinc strip</a:t>
            </a:r>
            <a:endParaRPr lang="en-US" sz="1000" dirty="0"/>
          </a:p>
        </p:txBody>
      </p:sp>
      <p:sp>
        <p:nvSpPr>
          <p:cNvPr id="62" name="Shape 60"/>
          <p:cNvSpPr/>
          <p:nvPr/>
        </p:nvSpPr>
        <p:spPr>
          <a:xfrm>
            <a:off x="3904488" y="3657600"/>
            <a:ext cx="457200" cy="457200"/>
          </a:xfrm>
          <a:prstGeom prst="ellipse">
            <a:avLst/>
          </a:prstGeom>
          <a:solidFill>
            <a:srgbClr val="EEF5FB"/>
          </a:solidFill>
          <a:ln w="15875">
            <a:solidFill>
              <a:srgbClr val="2A1F3D"/>
            </a:solidFill>
            <a:prstDash val="solid"/>
          </a:ln>
        </p:spPr>
      </p:sp>
      <p:sp>
        <p:nvSpPr>
          <p:cNvPr id="63" name="Shape 61"/>
          <p:cNvSpPr/>
          <p:nvPr/>
        </p:nvSpPr>
        <p:spPr>
          <a:xfrm>
            <a:off x="3904488" y="1783080"/>
            <a:ext cx="457200" cy="2103120"/>
          </a:xfrm>
          <a:prstGeom prst="rect">
            <a:avLst/>
          </a:prstGeom>
          <a:solidFill>
            <a:srgbClr val="EEF5FB"/>
          </a:solidFill>
          <a:ln/>
        </p:spPr>
      </p:sp>
      <p:sp>
        <p:nvSpPr>
          <p:cNvPr id="64" name="Shape 62"/>
          <p:cNvSpPr/>
          <p:nvPr/>
        </p:nvSpPr>
        <p:spPr>
          <a:xfrm>
            <a:off x="3904488" y="3657600"/>
            <a:ext cx="457200" cy="457200"/>
          </a:xfrm>
          <a:prstGeom prst="ellipse">
            <a:avLst/>
          </a:prstGeom>
          <a:solidFill>
            <a:srgbClr val="CFE4F7"/>
          </a:solidFill>
          <a:ln/>
        </p:spPr>
      </p:sp>
      <p:sp>
        <p:nvSpPr>
          <p:cNvPr id="65" name="Shape 63"/>
          <p:cNvSpPr/>
          <p:nvPr/>
        </p:nvSpPr>
        <p:spPr>
          <a:xfrm>
            <a:off x="3904488" y="2715768"/>
            <a:ext cx="457200" cy="1170432"/>
          </a:xfrm>
          <a:prstGeom prst="rect">
            <a:avLst/>
          </a:prstGeom>
          <a:solidFill>
            <a:srgbClr val="CFE4F7"/>
          </a:solidFill>
          <a:ln/>
        </p:spPr>
      </p:sp>
      <p:sp>
        <p:nvSpPr>
          <p:cNvPr id="66" name="Shape 64"/>
          <p:cNvSpPr/>
          <p:nvPr/>
        </p:nvSpPr>
        <p:spPr>
          <a:xfrm>
            <a:off x="3904488" y="1783080"/>
            <a:ext cx="91" cy="2112264"/>
          </a:xfrm>
          <a:prstGeom prst="line">
            <a:avLst/>
          </a:prstGeom>
          <a:noFill/>
          <a:ln w="15875">
            <a:solidFill>
              <a:srgbClr val="2A1F3D"/>
            </a:solidFill>
            <a:prstDash val="solid"/>
          </a:ln>
        </p:spPr>
      </p:sp>
      <p:sp>
        <p:nvSpPr>
          <p:cNvPr id="67" name="Shape 65"/>
          <p:cNvSpPr/>
          <p:nvPr/>
        </p:nvSpPr>
        <p:spPr>
          <a:xfrm>
            <a:off x="4361688" y="1783080"/>
            <a:ext cx="91" cy="2112264"/>
          </a:xfrm>
          <a:prstGeom prst="line">
            <a:avLst/>
          </a:prstGeom>
          <a:noFill/>
          <a:ln w="15875">
            <a:solidFill>
              <a:srgbClr val="2A1F3D"/>
            </a:solidFill>
            <a:prstDash val="solid"/>
          </a:ln>
        </p:spPr>
      </p:sp>
      <p:sp>
        <p:nvSpPr>
          <p:cNvPr id="68" name="Shape 66"/>
          <p:cNvSpPr/>
          <p:nvPr/>
        </p:nvSpPr>
        <p:spPr>
          <a:xfrm>
            <a:off x="4050792" y="2103120"/>
            <a:ext cx="164592" cy="45720"/>
          </a:xfrm>
          <a:prstGeom prst="rect">
            <a:avLst/>
          </a:prstGeom>
          <a:solidFill>
            <a:srgbClr val="B9C0CC"/>
          </a:solidFill>
          <a:ln w="6350">
            <a:solidFill>
              <a:srgbClr val="5A6275"/>
            </a:solidFill>
            <a:prstDash val="solid"/>
          </a:ln>
        </p:spPr>
      </p:sp>
      <p:sp>
        <p:nvSpPr>
          <p:cNvPr id="69" name="Shape 67"/>
          <p:cNvSpPr/>
          <p:nvPr/>
        </p:nvSpPr>
        <p:spPr>
          <a:xfrm>
            <a:off x="4105656" y="2148840"/>
            <a:ext cx="54864" cy="1645920"/>
          </a:xfrm>
          <a:prstGeom prst="rect">
            <a:avLst/>
          </a:prstGeom>
          <a:solidFill>
            <a:srgbClr val="B9C0CC"/>
          </a:solidFill>
          <a:ln w="6350">
            <a:solidFill>
              <a:srgbClr val="5A6275"/>
            </a:solidFill>
            <a:prstDash val="solid"/>
          </a:ln>
        </p:spPr>
      </p:sp>
      <p:sp>
        <p:nvSpPr>
          <p:cNvPr id="70" name="Shape 68"/>
          <p:cNvSpPr/>
          <p:nvPr/>
        </p:nvSpPr>
        <p:spPr>
          <a:xfrm>
            <a:off x="4105656" y="3794760"/>
            <a:ext cx="54864" cy="91440"/>
          </a:xfrm>
          <a:custGeom>
            <a:avLst/>
            <a:gdLst/>
            <a:ahLst/>
            <a:cxnLst/>
            <a:rect l="l" t="t" r="r" b="b"/>
            <a:pathLst>
              <a:path w="54864" h="91440">
                <a:moveTo>
                  <a:pt x="0" y="0"/>
                </a:moveTo>
                <a:lnTo>
                  <a:pt x="54864" y="0"/>
                </a:lnTo>
                <a:lnTo>
                  <a:pt x="27432" y="91440"/>
                </a:lnTo>
                <a:close/>
              </a:path>
            </a:pathLst>
          </a:custGeom>
          <a:solidFill>
            <a:srgbClr val="B9C0CC"/>
          </a:solidFill>
          <a:ln w="6350">
            <a:solidFill>
              <a:srgbClr val="5A6275"/>
            </a:solidFill>
            <a:prstDash val="solid"/>
          </a:ln>
        </p:spPr>
      </p:sp>
      <p:sp>
        <p:nvSpPr>
          <p:cNvPr id="71" name="Shape 69"/>
          <p:cNvSpPr/>
          <p:nvPr/>
        </p:nvSpPr>
        <p:spPr>
          <a:xfrm>
            <a:off x="4078224" y="2727198"/>
            <a:ext cx="109728" cy="45720"/>
          </a:xfrm>
          <a:prstGeom prst="rect">
            <a:avLst/>
          </a:prstGeom>
          <a:solidFill>
            <a:srgbClr val="D9894A"/>
          </a:solidFill>
          <a:ln w="6350">
            <a:solidFill>
              <a:srgbClr val="9A5524"/>
            </a:solidFill>
            <a:prstDash val="solid"/>
          </a:ln>
        </p:spPr>
      </p:sp>
      <p:sp>
        <p:nvSpPr>
          <p:cNvPr id="72" name="Shape 70"/>
          <p:cNvSpPr/>
          <p:nvPr/>
        </p:nvSpPr>
        <p:spPr>
          <a:xfrm>
            <a:off x="4078224" y="2809494"/>
            <a:ext cx="109728" cy="45720"/>
          </a:xfrm>
          <a:prstGeom prst="rect">
            <a:avLst/>
          </a:prstGeom>
          <a:solidFill>
            <a:srgbClr val="D9894A"/>
          </a:solidFill>
          <a:ln w="6350">
            <a:solidFill>
              <a:srgbClr val="9A5524"/>
            </a:solidFill>
            <a:prstDash val="solid"/>
          </a:ln>
        </p:spPr>
      </p:sp>
      <p:sp>
        <p:nvSpPr>
          <p:cNvPr id="73" name="Shape 71"/>
          <p:cNvSpPr/>
          <p:nvPr/>
        </p:nvSpPr>
        <p:spPr>
          <a:xfrm>
            <a:off x="4078224" y="2891790"/>
            <a:ext cx="109728" cy="45720"/>
          </a:xfrm>
          <a:prstGeom prst="rect">
            <a:avLst/>
          </a:prstGeom>
          <a:solidFill>
            <a:srgbClr val="D9894A"/>
          </a:solidFill>
          <a:ln w="6350">
            <a:solidFill>
              <a:srgbClr val="9A5524"/>
            </a:solidFill>
            <a:prstDash val="solid"/>
          </a:ln>
        </p:spPr>
      </p:sp>
      <p:sp>
        <p:nvSpPr>
          <p:cNvPr id="74" name="Text 72"/>
          <p:cNvSpPr/>
          <p:nvPr/>
        </p:nvSpPr>
        <p:spPr>
          <a:xfrm>
            <a:off x="3813048" y="1417320"/>
            <a:ext cx="640080" cy="274320"/>
          </a:xfrm>
          <a:prstGeom prst="rect">
            <a:avLst/>
          </a:prstGeom>
          <a:noFill/>
          <a:ln/>
        </p:spPr>
        <p:txBody>
          <a:bodyPr wrap="square" lIns="0" tIns="0" rIns="0" bIns="0" rtlCol="0" anchor="ctr"/>
          <a:lstStyle/>
          <a:p>
            <a:pPr algn="ctr" indent="0" marL="0">
              <a:buNone/>
            </a:pPr>
            <a:r>
              <a:rPr lang="en-US" sz="1250" b="1" dirty="0">
                <a:solidFill>
                  <a:srgbClr val="6A3FA0"/>
                </a:solidFill>
                <a:latin typeface="Calibri" pitchFamily="34" charset="0"/>
                <a:ea typeface="Calibri" pitchFamily="34" charset="-122"/>
                <a:cs typeface="Calibri" pitchFamily="34" charset="-120"/>
              </a:rPr>
              <a:t>E</a:t>
            </a:r>
            <a:endParaRPr lang="en-US" sz="1250" dirty="0"/>
          </a:p>
        </p:txBody>
      </p:sp>
      <p:sp>
        <p:nvSpPr>
          <p:cNvPr id="75" name="Text 73"/>
          <p:cNvSpPr/>
          <p:nvPr/>
        </p:nvSpPr>
        <p:spPr>
          <a:xfrm>
            <a:off x="3721608" y="4526280"/>
            <a:ext cx="82296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copper strip</a:t>
            </a:r>
            <a:endParaRPr lang="en-US" sz="1000" dirty="0"/>
          </a:p>
        </p:txBody>
      </p:sp>
      <p:sp>
        <p:nvSpPr>
          <p:cNvPr id="76" name="Shape 74"/>
          <p:cNvSpPr/>
          <p:nvPr/>
        </p:nvSpPr>
        <p:spPr>
          <a:xfrm>
            <a:off x="4754880" y="3611880"/>
            <a:ext cx="1051560" cy="502920"/>
          </a:xfrm>
          <a:prstGeom prst="roundRect">
            <a:avLst>
              <a:gd name="adj" fmla="val 10909"/>
            </a:avLst>
          </a:prstGeom>
          <a:solidFill>
            <a:srgbClr val="E8EBF0"/>
          </a:solidFill>
          <a:ln w="15875">
            <a:solidFill>
              <a:srgbClr val="4A5568"/>
            </a:solidFill>
            <a:prstDash val="solid"/>
          </a:ln>
        </p:spPr>
      </p:sp>
      <p:sp>
        <p:nvSpPr>
          <p:cNvPr id="77" name="Shape 75"/>
          <p:cNvSpPr/>
          <p:nvPr/>
        </p:nvSpPr>
        <p:spPr>
          <a:xfrm>
            <a:off x="4846320" y="3730752"/>
            <a:ext cx="868680" cy="256032"/>
          </a:xfrm>
          <a:prstGeom prst="rect">
            <a:avLst/>
          </a:prstGeom>
          <a:solidFill>
            <a:srgbClr val="1F2A3A"/>
          </a:solidFill>
          <a:ln/>
        </p:spPr>
      </p:sp>
      <p:sp>
        <p:nvSpPr>
          <p:cNvPr id="78" name="Text 76"/>
          <p:cNvSpPr/>
          <p:nvPr/>
        </p:nvSpPr>
        <p:spPr>
          <a:xfrm>
            <a:off x="4846320" y="3730752"/>
            <a:ext cx="868680" cy="256032"/>
          </a:xfrm>
          <a:prstGeom prst="rect">
            <a:avLst/>
          </a:prstGeom>
          <a:noFill/>
          <a:ln/>
        </p:spPr>
        <p:txBody>
          <a:bodyPr wrap="square" lIns="0" tIns="0" rIns="0" bIns="0" rtlCol="0" anchor="ctr"/>
          <a:lstStyle/>
          <a:p>
            <a:pPr algn="ctr" indent="0" marL="0">
              <a:buNone/>
            </a:pPr>
            <a:r>
              <a:rPr lang="en-US" sz="1050" b="1" dirty="0">
                <a:solidFill>
                  <a:srgbClr val="7CFC9A"/>
                </a:solidFill>
                <a:latin typeface="Calibri" pitchFamily="34" charset="0"/>
                <a:ea typeface="Calibri" pitchFamily="34" charset="-122"/>
                <a:cs typeface="Calibri" pitchFamily="34" charset="-120"/>
              </a:rPr>
              <a:t>5.045 g</a:t>
            </a:r>
            <a:endParaRPr lang="en-US" sz="1050" dirty="0"/>
          </a:p>
        </p:txBody>
      </p:sp>
      <p:sp>
        <p:nvSpPr>
          <p:cNvPr id="79" name="Shape 77"/>
          <p:cNvSpPr/>
          <p:nvPr/>
        </p:nvSpPr>
        <p:spPr>
          <a:xfrm>
            <a:off x="4892040" y="3474720"/>
            <a:ext cx="777240" cy="109728"/>
          </a:xfrm>
          <a:prstGeom prst="rect">
            <a:avLst/>
          </a:prstGeom>
          <a:solidFill>
            <a:srgbClr val="9AA3B0"/>
          </a:solidFill>
          <a:ln w="9525">
            <a:solidFill>
              <a:srgbClr val="4A5568"/>
            </a:solidFill>
            <a:prstDash val="solid"/>
          </a:ln>
        </p:spPr>
      </p:sp>
      <p:sp>
        <p:nvSpPr>
          <p:cNvPr id="80" name="Text 78"/>
          <p:cNvSpPr/>
          <p:nvPr/>
        </p:nvSpPr>
        <p:spPr>
          <a:xfrm>
            <a:off x="4663440" y="4160520"/>
            <a:ext cx="123444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balance</a:t>
            </a:r>
            <a:endParaRPr lang="en-US" sz="1000" dirty="0"/>
          </a:p>
        </p:txBody>
      </p:sp>
      <p:sp>
        <p:nvSpPr>
          <p:cNvPr id="81" name="Text 79"/>
          <p:cNvSpPr/>
          <p:nvPr/>
        </p:nvSpPr>
        <p:spPr>
          <a:xfrm>
            <a:off x="640080" y="4983480"/>
            <a:ext cx="5212080" cy="274320"/>
          </a:xfrm>
          <a:prstGeom prst="rect">
            <a:avLst/>
          </a:prstGeom>
          <a:noFill/>
          <a:ln/>
        </p:spPr>
        <p:txBody>
          <a:bodyPr wrap="square" lIns="0" tIns="0" rIns="0" bIns="0" rtlCol="0" anchor="ctr"/>
          <a:lstStyle/>
          <a:p>
            <a:pPr algn="ctr" indent="0" marL="0">
              <a:buNone/>
            </a:pPr>
            <a:r>
              <a:rPr lang="en-US" sz="1050" b="1" dirty="0">
                <a:solidFill>
                  <a:srgbClr val="2A1F3D"/>
                </a:solidFill>
                <a:latin typeface="Calibri" pitchFamily="34" charset="0"/>
                <a:ea typeface="Calibri" pitchFamily="34" charset="-122"/>
                <a:cs typeface="Calibri" pitchFamily="34" charset="-120"/>
              </a:rPr>
              <a:t>Same nail type, same volume of water, same place, same time</a:t>
            </a:r>
            <a:endParaRPr lang="en-US" sz="1050" dirty="0"/>
          </a:p>
        </p:txBody>
      </p:sp>
      <p:sp>
        <p:nvSpPr>
          <p:cNvPr id="82" name="Shape 80"/>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83" name="Text 8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84" name="Text 82"/>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Clean</a:t>
            </a:r>
            <a:r>
              <a:rPr lang="en-US" sz="1150" dirty="0">
                <a:solidFill>
                  <a:srgbClr val="262B3A"/>
                </a:solidFill>
                <a:latin typeface="Calibri" pitchFamily="34" charset="0"/>
                <a:ea typeface="Calibri" pitchFamily="34" charset="-122"/>
                <a:cs typeface="Calibri" pitchFamily="34" charset="-120"/>
              </a:rPr>
              <a:t> five iron nails with emery paper. Weigh each nail (to 0.001 g).</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Treat them: </a:t>
            </a:r>
            <a:r>
              <a:rPr lang="en-US" sz="1150" b="1" dirty="0">
                <a:solidFill>
                  <a:srgbClr val="262B3A"/>
                </a:solidFill>
                <a:latin typeface="Calibri" pitchFamily="34" charset="0"/>
                <a:ea typeface="Calibri" pitchFamily="34" charset="-122"/>
                <a:cs typeface="Calibri" pitchFamily="34" charset="-120"/>
              </a:rPr>
              <a:t>A</a:t>
            </a:r>
            <a:r>
              <a:rPr lang="en-US" sz="1150" dirty="0">
                <a:solidFill>
                  <a:srgbClr val="262B3A"/>
                </a:solidFill>
                <a:latin typeface="Calibri" pitchFamily="34" charset="0"/>
                <a:ea typeface="Calibri" pitchFamily="34" charset="-122"/>
                <a:cs typeface="Calibri" pitchFamily="34" charset="-120"/>
              </a:rPr>
              <a:t> untreated, </a:t>
            </a: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untreated in salt water, </a:t>
            </a:r>
            <a:r>
              <a:rPr lang="en-US" sz="1150" b="1" dirty="0">
                <a:solidFill>
                  <a:srgbClr val="262B3A"/>
                </a:solidFill>
                <a:latin typeface="Calibri" pitchFamily="34" charset="0"/>
                <a:ea typeface="Calibri" pitchFamily="34" charset="-122"/>
                <a:cs typeface="Calibri" pitchFamily="34" charset="-120"/>
              </a:rPr>
              <a:t>C</a:t>
            </a:r>
            <a:r>
              <a:rPr lang="en-US" sz="1150" dirty="0">
                <a:solidFill>
                  <a:srgbClr val="262B3A"/>
                </a:solidFill>
                <a:latin typeface="Calibri" pitchFamily="34" charset="0"/>
                <a:ea typeface="Calibri" pitchFamily="34" charset="-122"/>
                <a:cs typeface="Calibri" pitchFamily="34" charset="-120"/>
              </a:rPr>
              <a:t> painted, </a:t>
            </a:r>
            <a:r>
              <a:rPr lang="en-US" sz="1150" b="1" dirty="0">
                <a:solidFill>
                  <a:srgbClr val="262B3A"/>
                </a:solidFill>
                <a:latin typeface="Calibri" pitchFamily="34" charset="0"/>
                <a:ea typeface="Calibri" pitchFamily="34" charset="-122"/>
                <a:cs typeface="Calibri" pitchFamily="34" charset="-120"/>
              </a:rPr>
              <a:t>D</a:t>
            </a:r>
            <a:r>
              <a:rPr lang="en-US" sz="1150" dirty="0">
                <a:solidFill>
                  <a:srgbClr val="262B3A"/>
                </a:solidFill>
                <a:latin typeface="Calibri" pitchFamily="34" charset="0"/>
                <a:ea typeface="Calibri" pitchFamily="34" charset="-122"/>
                <a:cs typeface="Calibri" pitchFamily="34" charset="-120"/>
              </a:rPr>
              <a:t> wrapped with </a:t>
            </a:r>
            <a:r>
              <a:rPr lang="en-US" sz="1150" b="1" dirty="0">
                <a:solidFill>
                  <a:srgbClr val="262B3A"/>
                </a:solidFill>
                <a:latin typeface="Calibri" pitchFamily="34" charset="0"/>
                <a:ea typeface="Calibri" pitchFamily="34" charset="-122"/>
                <a:cs typeface="Calibri" pitchFamily="34" charset="-120"/>
              </a:rPr>
              <a:t>zinc</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E</a:t>
            </a:r>
            <a:r>
              <a:rPr lang="en-US" sz="1150" dirty="0">
                <a:solidFill>
                  <a:srgbClr val="262B3A"/>
                </a:solidFill>
                <a:latin typeface="Calibri" pitchFamily="34" charset="0"/>
                <a:ea typeface="Calibri" pitchFamily="34" charset="-122"/>
                <a:cs typeface="Calibri" pitchFamily="34" charset="-120"/>
              </a:rPr>
              <a:t> wrapped with </a:t>
            </a:r>
            <a:r>
              <a:rPr lang="en-US" sz="1150" b="1" dirty="0">
                <a:solidFill>
                  <a:srgbClr val="262B3A"/>
                </a:solidFill>
                <a:latin typeface="Calibri" pitchFamily="34" charset="0"/>
                <a:ea typeface="Calibri" pitchFamily="34" charset="-122"/>
                <a:cs typeface="Calibri" pitchFamily="34" charset="-120"/>
              </a:rPr>
              <a:t>copper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Add the same volume of water to each tube. Leave for </a:t>
            </a:r>
            <a:r>
              <a:rPr lang="en-US" sz="1150" b="1" dirty="0">
                <a:solidFill>
                  <a:srgbClr val="262B3A"/>
                </a:solidFill>
                <a:latin typeface="Calibri" pitchFamily="34" charset="0"/>
                <a:ea typeface="Calibri" pitchFamily="34" charset="-122"/>
                <a:cs typeface="Calibri" pitchFamily="34" charset="-120"/>
              </a:rPr>
              <a:t>7 days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Remove, dry carefully </a:t>
            </a:r>
            <a:r>
              <a:rPr lang="en-US" sz="1150" b="1" dirty="0">
                <a:solidFill>
                  <a:srgbClr val="262B3A"/>
                </a:solidFill>
                <a:latin typeface="Calibri" pitchFamily="34" charset="0"/>
                <a:ea typeface="Calibri" pitchFamily="34" charset="-122"/>
                <a:cs typeface="Calibri" pitchFamily="34" charset="-120"/>
              </a:rPr>
              <a:t>without</a:t>
            </a:r>
            <a:r>
              <a:rPr lang="en-US" sz="1150" dirty="0">
                <a:solidFill>
                  <a:srgbClr val="262B3A"/>
                </a:solidFill>
                <a:latin typeface="Calibri" pitchFamily="34" charset="0"/>
                <a:ea typeface="Calibri" pitchFamily="34" charset="-122"/>
                <a:cs typeface="Calibri" pitchFamily="34" charset="-120"/>
              </a:rPr>
              <a:t> knocking off rust, and reweigh. </a:t>
            </a:r>
            <a:r>
              <a:rPr lang="en-US" sz="1150" b="1" dirty="0">
                <a:solidFill>
                  <a:srgbClr val="262B3A"/>
                </a:solidFill>
                <a:latin typeface="Calibri" pitchFamily="34" charset="0"/>
                <a:ea typeface="Calibri" pitchFamily="34" charset="-122"/>
                <a:cs typeface="Calibri" pitchFamily="34" charset="-120"/>
              </a:rPr>
              <a:t>Mass gain</a:t>
            </a:r>
            <a:r>
              <a:rPr lang="en-US" sz="1150" dirty="0">
                <a:solidFill>
                  <a:srgbClr val="262B3A"/>
                </a:solidFill>
                <a:latin typeface="Calibri" pitchFamily="34" charset="0"/>
                <a:ea typeface="Calibri" pitchFamily="34" charset="-122"/>
                <a:cs typeface="Calibri" pitchFamily="34" charset="-120"/>
              </a:rPr>
              <a:t> = mass of oxygen and water added.</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IV</a:t>
            </a:r>
            <a:r>
              <a:rPr lang="en-US" sz="1150" dirty="0">
                <a:solidFill>
                  <a:srgbClr val="262B3A"/>
                </a:solidFill>
                <a:latin typeface="Calibri" pitchFamily="34" charset="0"/>
                <a:ea typeface="Calibri" pitchFamily="34" charset="-122"/>
                <a:cs typeface="Calibri" pitchFamily="34" charset="-120"/>
              </a:rPr>
              <a:t>: protection method. </a:t>
            </a:r>
            <a:r>
              <a:rPr lang="en-US" sz="1150" b="1" dirty="0">
                <a:solidFill>
                  <a:srgbClr val="262B3A"/>
                </a:solidFill>
                <a:latin typeface="Calibri" pitchFamily="34" charset="0"/>
                <a:ea typeface="Calibri" pitchFamily="34" charset="-122"/>
                <a:cs typeface="Calibri" pitchFamily="34" charset="-120"/>
              </a:rPr>
              <a:t>DV</a:t>
            </a:r>
            <a:r>
              <a:rPr lang="en-US" sz="1150" dirty="0">
                <a:solidFill>
                  <a:srgbClr val="262B3A"/>
                </a:solidFill>
                <a:latin typeface="Calibri" pitchFamily="34" charset="0"/>
                <a:ea typeface="Calibri" pitchFamily="34" charset="-122"/>
                <a:cs typeface="Calibri" pitchFamily="34" charset="-120"/>
              </a:rPr>
              <a:t>: mass gain / mg. </a:t>
            </a:r>
            <a:r>
              <a:rPr lang="en-US" sz="1150" b="1" dirty="0">
                <a:solidFill>
                  <a:srgbClr val="262B3A"/>
                </a:solidFill>
                <a:latin typeface="Calibri" pitchFamily="34" charset="0"/>
                <a:ea typeface="Calibri" pitchFamily="34" charset="-122"/>
                <a:cs typeface="Calibri" pitchFamily="34" charset="-120"/>
              </a:rPr>
              <a:t>Control</a:t>
            </a:r>
            <a:r>
              <a:rPr lang="en-US" sz="1150" dirty="0">
                <a:solidFill>
                  <a:srgbClr val="262B3A"/>
                </a:solidFill>
                <a:latin typeface="Calibri" pitchFamily="34" charset="0"/>
                <a:ea typeface="Calibri" pitchFamily="34" charset="-122"/>
                <a:cs typeface="Calibri" pitchFamily="34" charset="-120"/>
              </a:rPr>
              <a:t>: nail size, volume, temperature, time.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Safety</a:t>
            </a:r>
            <a:r>
              <a:rPr lang="en-US" sz="1150" dirty="0">
                <a:solidFill>
                  <a:srgbClr val="262B3A"/>
                </a:solidFill>
                <a:latin typeface="Calibri" pitchFamily="34" charset="0"/>
                <a:ea typeface="Calibri" pitchFamily="34" charset="-122"/>
                <a:cs typeface="Calibri" pitchFamily="34" charset="-120"/>
              </a:rPr>
              <a:t>: eye protection; salt solution low hazard; wash hands; nails are sharp.</a:t>
            </a:r>
            <a:endParaRPr lang="en-US" sz="1150" dirty="0"/>
          </a:p>
        </p:txBody>
      </p:sp>
      <p:sp>
        <p:nvSpPr>
          <p:cNvPr id="85" name="Shape 83"/>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86" name="Text 84"/>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 mass increase</a:t>
            </a:r>
            <a:endParaRPr lang="en-US" sz="1300" dirty="0"/>
          </a:p>
        </p:txBody>
      </p:sp>
      <p:sp>
        <p:nvSpPr>
          <p:cNvPr id="87" name="Text 85"/>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Nail A: 5.000 g → 5.045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Gain   </a:t>
            </a:r>
            <a:r>
              <a:rPr lang="en-US" sz="1050" dirty="0">
                <a:solidFill>
                  <a:srgbClr val="262B3A"/>
                </a:solidFill>
                <a:latin typeface="Calibri" pitchFamily="34" charset="0"/>
                <a:ea typeface="Calibri" pitchFamily="34" charset="-122"/>
                <a:cs typeface="Calibri" pitchFamily="34" charset="-120"/>
              </a:rPr>
              <a:t>5.045 − 5.000 = 0.045 g = 45 mg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0.045 ÷ 5.000 × 100 = </a:t>
            </a:r>
            <a:r>
              <a:rPr lang="en-US" sz="1050" b="1" dirty="0">
                <a:solidFill>
                  <a:srgbClr val="C8414C"/>
                </a:solidFill>
                <a:latin typeface="Calibri" pitchFamily="34" charset="0"/>
                <a:ea typeface="Calibri" pitchFamily="34" charset="-122"/>
                <a:cs typeface="Calibri" pitchFamily="34" charset="-120"/>
              </a:rPr>
              <a:t>0.90%</a:t>
            </a:r>
            <a:endParaRPr lang="en-US" sz="1050" dirty="0"/>
          </a:p>
        </p:txBody>
      </p:sp>
      <p:sp>
        <p:nvSpPr>
          <p:cNvPr id="88" name="Shape 86"/>
          <p:cNvSpPr/>
          <p:nvPr/>
        </p:nvSpPr>
        <p:spPr>
          <a:xfrm>
            <a:off x="411480" y="5833872"/>
            <a:ext cx="11368735" cy="530352"/>
          </a:xfrm>
          <a:prstGeom prst="rect">
            <a:avLst/>
          </a:prstGeom>
          <a:solidFill>
            <a:srgbClr val="FFF4E0"/>
          </a:solidFill>
          <a:ln w="6350">
            <a:solidFill>
              <a:srgbClr val="F1D9A8"/>
            </a:solidFill>
            <a:prstDash val="solid"/>
          </a:ln>
        </p:spPr>
      </p:sp>
      <p:sp>
        <p:nvSpPr>
          <p:cNvPr id="89" name="Shape 87"/>
          <p:cNvSpPr/>
          <p:nvPr/>
        </p:nvSpPr>
        <p:spPr>
          <a:xfrm>
            <a:off x="411480" y="5833872"/>
            <a:ext cx="82296" cy="530352"/>
          </a:xfrm>
          <a:prstGeom prst="rect">
            <a:avLst/>
          </a:prstGeom>
          <a:solidFill>
            <a:srgbClr val="E39A2F"/>
          </a:solidFill>
          <a:ln w="12700">
            <a:solidFill>
              <a:srgbClr val="E39A2F"/>
            </a:solidFill>
            <a:prstDash val="solid"/>
          </a:ln>
        </p:spPr>
      </p:sp>
      <p:sp>
        <p:nvSpPr>
          <p:cNvPr id="90" name="Text 8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are the nails cleaned with emery paper first? Why must the balance read to </a:t>
            </a:r>
            <a:r>
              <a:rPr lang="en-US" sz="1150" b="1" dirty="0">
                <a:solidFill>
                  <a:srgbClr val="262B3A"/>
                </a:solidFill>
                <a:latin typeface="Calibri" pitchFamily="34" charset="0"/>
                <a:ea typeface="Calibri" pitchFamily="34" charset="-122"/>
                <a:cs typeface="Calibri" pitchFamily="34" charset="-120"/>
              </a:rPr>
              <a:t>0.001 g</a:t>
            </a:r>
            <a:r>
              <a:rPr lang="en-US" sz="1150" dirty="0">
                <a:solidFill>
                  <a:srgbClr val="262B3A"/>
                </a:solidFill>
                <a:latin typeface="Calibri" pitchFamily="34" charset="0"/>
                <a:ea typeface="Calibri" pitchFamily="34" charset="-122"/>
                <a:cs typeface="Calibri" pitchFamily="34" charset="-120"/>
              </a:rPr>
              <a:t>, not 0.1 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C4.4.1 • tables, graphs, rates and errors</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12</a:t>
            </a:r>
            <a:endParaRPr lang="en-US" sz="1000" dirty="0"/>
          </a:p>
        </p:txBody>
      </p:sp>
      <p:sp>
        <p:nvSpPr>
          <p:cNvPr id="10" name="Shape 8"/>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 plotted to scale from the daily readings (illustrative data)</a:t>
            </a:r>
            <a:endParaRPr lang="en-US" sz="1000" dirty="0"/>
          </a:p>
        </p:txBody>
      </p:sp>
      <p:sp>
        <p:nvSpPr>
          <p:cNvPr id="12" name="Shape 10"/>
          <p:cNvSpPr/>
          <p:nvPr/>
        </p:nvSpPr>
        <p:spPr>
          <a:xfrm>
            <a:off x="1325880" y="1417320"/>
            <a:ext cx="4846320" cy="2651760"/>
          </a:xfrm>
          <a:prstGeom prst="rect">
            <a:avLst/>
          </a:prstGeom>
          <a:solidFill>
            <a:srgbClr val="FFFFFF"/>
          </a:solidFill>
          <a:ln/>
        </p:spPr>
      </p:sp>
      <p:sp>
        <p:nvSpPr>
          <p:cNvPr id="13" name="Shape 11"/>
          <p:cNvSpPr/>
          <p:nvPr/>
        </p:nvSpPr>
        <p:spPr>
          <a:xfrm>
            <a:off x="1325880" y="1417320"/>
            <a:ext cx="91" cy="2651760"/>
          </a:xfrm>
          <a:prstGeom prst="line">
            <a:avLst/>
          </a:prstGeom>
          <a:noFill/>
          <a:ln w="6350">
            <a:solidFill>
              <a:srgbClr val="D6CBE8"/>
            </a:solidFill>
            <a:prstDash val="solid"/>
          </a:ln>
        </p:spPr>
      </p:sp>
      <p:sp>
        <p:nvSpPr>
          <p:cNvPr id="14" name="Shape 12"/>
          <p:cNvSpPr/>
          <p:nvPr/>
        </p:nvSpPr>
        <p:spPr>
          <a:xfrm>
            <a:off x="1672046" y="1417320"/>
            <a:ext cx="91" cy="2651760"/>
          </a:xfrm>
          <a:prstGeom prst="line">
            <a:avLst/>
          </a:prstGeom>
          <a:noFill/>
          <a:ln w="6350">
            <a:solidFill>
              <a:srgbClr val="EEE9F6"/>
            </a:solidFill>
            <a:prstDash val="solid"/>
          </a:ln>
        </p:spPr>
      </p:sp>
      <p:sp>
        <p:nvSpPr>
          <p:cNvPr id="15" name="Shape 13"/>
          <p:cNvSpPr/>
          <p:nvPr/>
        </p:nvSpPr>
        <p:spPr>
          <a:xfrm>
            <a:off x="2018211" y="1417320"/>
            <a:ext cx="91" cy="2651760"/>
          </a:xfrm>
          <a:prstGeom prst="line">
            <a:avLst/>
          </a:prstGeom>
          <a:noFill/>
          <a:ln w="6350">
            <a:solidFill>
              <a:srgbClr val="D6CBE8"/>
            </a:solidFill>
            <a:prstDash val="solid"/>
          </a:ln>
        </p:spPr>
      </p:sp>
      <p:sp>
        <p:nvSpPr>
          <p:cNvPr id="16" name="Shape 14"/>
          <p:cNvSpPr/>
          <p:nvPr/>
        </p:nvSpPr>
        <p:spPr>
          <a:xfrm>
            <a:off x="2364377" y="1417320"/>
            <a:ext cx="91" cy="2651760"/>
          </a:xfrm>
          <a:prstGeom prst="line">
            <a:avLst/>
          </a:prstGeom>
          <a:noFill/>
          <a:ln w="6350">
            <a:solidFill>
              <a:srgbClr val="EEE9F6"/>
            </a:solidFill>
            <a:prstDash val="solid"/>
          </a:ln>
        </p:spPr>
      </p:sp>
      <p:sp>
        <p:nvSpPr>
          <p:cNvPr id="17" name="Shape 15"/>
          <p:cNvSpPr/>
          <p:nvPr/>
        </p:nvSpPr>
        <p:spPr>
          <a:xfrm>
            <a:off x="2710543" y="1417320"/>
            <a:ext cx="91" cy="2651760"/>
          </a:xfrm>
          <a:prstGeom prst="line">
            <a:avLst/>
          </a:prstGeom>
          <a:noFill/>
          <a:ln w="6350">
            <a:solidFill>
              <a:srgbClr val="D6CBE8"/>
            </a:solidFill>
            <a:prstDash val="solid"/>
          </a:ln>
        </p:spPr>
      </p:sp>
      <p:sp>
        <p:nvSpPr>
          <p:cNvPr id="18" name="Shape 16"/>
          <p:cNvSpPr/>
          <p:nvPr/>
        </p:nvSpPr>
        <p:spPr>
          <a:xfrm>
            <a:off x="3056709" y="1417320"/>
            <a:ext cx="91" cy="2651760"/>
          </a:xfrm>
          <a:prstGeom prst="line">
            <a:avLst/>
          </a:prstGeom>
          <a:noFill/>
          <a:ln w="6350">
            <a:solidFill>
              <a:srgbClr val="EEE9F6"/>
            </a:solidFill>
            <a:prstDash val="solid"/>
          </a:ln>
        </p:spPr>
      </p:sp>
      <p:sp>
        <p:nvSpPr>
          <p:cNvPr id="19" name="Shape 17"/>
          <p:cNvSpPr/>
          <p:nvPr/>
        </p:nvSpPr>
        <p:spPr>
          <a:xfrm>
            <a:off x="3402874" y="1417320"/>
            <a:ext cx="91" cy="2651760"/>
          </a:xfrm>
          <a:prstGeom prst="line">
            <a:avLst/>
          </a:prstGeom>
          <a:noFill/>
          <a:ln w="6350">
            <a:solidFill>
              <a:srgbClr val="D6CBE8"/>
            </a:solidFill>
            <a:prstDash val="solid"/>
          </a:ln>
        </p:spPr>
      </p:sp>
      <p:sp>
        <p:nvSpPr>
          <p:cNvPr id="20" name="Shape 18"/>
          <p:cNvSpPr/>
          <p:nvPr/>
        </p:nvSpPr>
        <p:spPr>
          <a:xfrm>
            <a:off x="3749040" y="1417320"/>
            <a:ext cx="91" cy="2651760"/>
          </a:xfrm>
          <a:prstGeom prst="line">
            <a:avLst/>
          </a:prstGeom>
          <a:noFill/>
          <a:ln w="6350">
            <a:solidFill>
              <a:srgbClr val="EEE9F6"/>
            </a:solidFill>
            <a:prstDash val="solid"/>
          </a:ln>
        </p:spPr>
      </p:sp>
      <p:sp>
        <p:nvSpPr>
          <p:cNvPr id="21" name="Shape 19"/>
          <p:cNvSpPr/>
          <p:nvPr/>
        </p:nvSpPr>
        <p:spPr>
          <a:xfrm>
            <a:off x="4095206" y="1417320"/>
            <a:ext cx="91" cy="2651760"/>
          </a:xfrm>
          <a:prstGeom prst="line">
            <a:avLst/>
          </a:prstGeom>
          <a:noFill/>
          <a:ln w="6350">
            <a:solidFill>
              <a:srgbClr val="D6CBE8"/>
            </a:solidFill>
            <a:prstDash val="solid"/>
          </a:ln>
        </p:spPr>
      </p:sp>
      <p:sp>
        <p:nvSpPr>
          <p:cNvPr id="22" name="Shape 20"/>
          <p:cNvSpPr/>
          <p:nvPr/>
        </p:nvSpPr>
        <p:spPr>
          <a:xfrm>
            <a:off x="4441371" y="1417320"/>
            <a:ext cx="91" cy="2651760"/>
          </a:xfrm>
          <a:prstGeom prst="line">
            <a:avLst/>
          </a:prstGeom>
          <a:noFill/>
          <a:ln w="6350">
            <a:solidFill>
              <a:srgbClr val="EEE9F6"/>
            </a:solidFill>
            <a:prstDash val="solid"/>
          </a:ln>
        </p:spPr>
      </p:sp>
      <p:sp>
        <p:nvSpPr>
          <p:cNvPr id="23" name="Shape 21"/>
          <p:cNvSpPr/>
          <p:nvPr/>
        </p:nvSpPr>
        <p:spPr>
          <a:xfrm>
            <a:off x="4787537" y="1417320"/>
            <a:ext cx="91" cy="2651760"/>
          </a:xfrm>
          <a:prstGeom prst="line">
            <a:avLst/>
          </a:prstGeom>
          <a:noFill/>
          <a:ln w="6350">
            <a:solidFill>
              <a:srgbClr val="D6CBE8"/>
            </a:solidFill>
            <a:prstDash val="solid"/>
          </a:ln>
        </p:spPr>
      </p:sp>
      <p:sp>
        <p:nvSpPr>
          <p:cNvPr id="24" name="Shape 22"/>
          <p:cNvSpPr/>
          <p:nvPr/>
        </p:nvSpPr>
        <p:spPr>
          <a:xfrm>
            <a:off x="5133703" y="1417320"/>
            <a:ext cx="91" cy="2651760"/>
          </a:xfrm>
          <a:prstGeom prst="line">
            <a:avLst/>
          </a:prstGeom>
          <a:noFill/>
          <a:ln w="6350">
            <a:solidFill>
              <a:srgbClr val="EEE9F6"/>
            </a:solidFill>
            <a:prstDash val="solid"/>
          </a:ln>
        </p:spPr>
      </p:sp>
      <p:sp>
        <p:nvSpPr>
          <p:cNvPr id="25" name="Shape 23"/>
          <p:cNvSpPr/>
          <p:nvPr/>
        </p:nvSpPr>
        <p:spPr>
          <a:xfrm>
            <a:off x="5479869" y="1417320"/>
            <a:ext cx="91" cy="2651760"/>
          </a:xfrm>
          <a:prstGeom prst="line">
            <a:avLst/>
          </a:prstGeom>
          <a:noFill/>
          <a:ln w="6350">
            <a:solidFill>
              <a:srgbClr val="D6CBE8"/>
            </a:solidFill>
            <a:prstDash val="solid"/>
          </a:ln>
        </p:spPr>
      </p:sp>
      <p:sp>
        <p:nvSpPr>
          <p:cNvPr id="26" name="Shape 24"/>
          <p:cNvSpPr/>
          <p:nvPr/>
        </p:nvSpPr>
        <p:spPr>
          <a:xfrm>
            <a:off x="5826034" y="1417320"/>
            <a:ext cx="91" cy="2651760"/>
          </a:xfrm>
          <a:prstGeom prst="line">
            <a:avLst/>
          </a:prstGeom>
          <a:noFill/>
          <a:ln w="6350">
            <a:solidFill>
              <a:srgbClr val="EEE9F6"/>
            </a:solidFill>
            <a:prstDash val="solid"/>
          </a:ln>
        </p:spPr>
      </p:sp>
      <p:sp>
        <p:nvSpPr>
          <p:cNvPr id="27" name="Shape 25"/>
          <p:cNvSpPr/>
          <p:nvPr/>
        </p:nvSpPr>
        <p:spPr>
          <a:xfrm>
            <a:off x="6172200" y="1417320"/>
            <a:ext cx="91" cy="2651760"/>
          </a:xfrm>
          <a:prstGeom prst="line">
            <a:avLst/>
          </a:prstGeom>
          <a:noFill/>
          <a:ln w="6350">
            <a:solidFill>
              <a:srgbClr val="D6CBE8"/>
            </a:solidFill>
            <a:prstDash val="solid"/>
          </a:ln>
        </p:spPr>
      </p:sp>
      <p:sp>
        <p:nvSpPr>
          <p:cNvPr id="28" name="Shape 26"/>
          <p:cNvSpPr/>
          <p:nvPr/>
        </p:nvSpPr>
        <p:spPr>
          <a:xfrm>
            <a:off x="1325880" y="4069080"/>
            <a:ext cx="4846320" cy="91"/>
          </a:xfrm>
          <a:prstGeom prst="line">
            <a:avLst/>
          </a:prstGeom>
          <a:noFill/>
          <a:ln w="6350">
            <a:solidFill>
              <a:srgbClr val="D6CBE8"/>
            </a:solidFill>
            <a:prstDash val="solid"/>
          </a:ln>
        </p:spPr>
      </p:sp>
      <p:sp>
        <p:nvSpPr>
          <p:cNvPr id="29" name="Shape 27"/>
          <p:cNvSpPr/>
          <p:nvPr/>
        </p:nvSpPr>
        <p:spPr>
          <a:xfrm>
            <a:off x="1325880" y="3803904"/>
            <a:ext cx="4846320" cy="91"/>
          </a:xfrm>
          <a:prstGeom prst="line">
            <a:avLst/>
          </a:prstGeom>
          <a:noFill/>
          <a:ln w="6350">
            <a:solidFill>
              <a:srgbClr val="EEE9F6"/>
            </a:solidFill>
            <a:prstDash val="solid"/>
          </a:ln>
        </p:spPr>
      </p:sp>
      <p:sp>
        <p:nvSpPr>
          <p:cNvPr id="30" name="Shape 28"/>
          <p:cNvSpPr/>
          <p:nvPr/>
        </p:nvSpPr>
        <p:spPr>
          <a:xfrm>
            <a:off x="1325880" y="3538728"/>
            <a:ext cx="4846320" cy="91"/>
          </a:xfrm>
          <a:prstGeom prst="line">
            <a:avLst/>
          </a:prstGeom>
          <a:noFill/>
          <a:ln w="6350">
            <a:solidFill>
              <a:srgbClr val="D6CBE8"/>
            </a:solidFill>
            <a:prstDash val="solid"/>
          </a:ln>
        </p:spPr>
      </p:sp>
      <p:sp>
        <p:nvSpPr>
          <p:cNvPr id="31" name="Shape 29"/>
          <p:cNvSpPr/>
          <p:nvPr/>
        </p:nvSpPr>
        <p:spPr>
          <a:xfrm>
            <a:off x="1325880" y="3273552"/>
            <a:ext cx="4846320" cy="91"/>
          </a:xfrm>
          <a:prstGeom prst="line">
            <a:avLst/>
          </a:prstGeom>
          <a:noFill/>
          <a:ln w="6350">
            <a:solidFill>
              <a:srgbClr val="EEE9F6"/>
            </a:solidFill>
            <a:prstDash val="solid"/>
          </a:ln>
        </p:spPr>
      </p:sp>
      <p:sp>
        <p:nvSpPr>
          <p:cNvPr id="32" name="Shape 30"/>
          <p:cNvSpPr/>
          <p:nvPr/>
        </p:nvSpPr>
        <p:spPr>
          <a:xfrm>
            <a:off x="1325880" y="3008376"/>
            <a:ext cx="4846320" cy="91"/>
          </a:xfrm>
          <a:prstGeom prst="line">
            <a:avLst/>
          </a:prstGeom>
          <a:noFill/>
          <a:ln w="6350">
            <a:solidFill>
              <a:srgbClr val="D6CBE8"/>
            </a:solidFill>
            <a:prstDash val="solid"/>
          </a:ln>
        </p:spPr>
      </p:sp>
      <p:sp>
        <p:nvSpPr>
          <p:cNvPr id="33" name="Shape 31"/>
          <p:cNvSpPr/>
          <p:nvPr/>
        </p:nvSpPr>
        <p:spPr>
          <a:xfrm>
            <a:off x="1325880" y="2743200"/>
            <a:ext cx="4846320" cy="91"/>
          </a:xfrm>
          <a:prstGeom prst="line">
            <a:avLst/>
          </a:prstGeom>
          <a:noFill/>
          <a:ln w="6350">
            <a:solidFill>
              <a:srgbClr val="EEE9F6"/>
            </a:solidFill>
            <a:prstDash val="solid"/>
          </a:ln>
        </p:spPr>
      </p:sp>
      <p:sp>
        <p:nvSpPr>
          <p:cNvPr id="34" name="Shape 32"/>
          <p:cNvSpPr/>
          <p:nvPr/>
        </p:nvSpPr>
        <p:spPr>
          <a:xfrm>
            <a:off x="1325880" y="2478024"/>
            <a:ext cx="4846320" cy="91"/>
          </a:xfrm>
          <a:prstGeom prst="line">
            <a:avLst/>
          </a:prstGeom>
          <a:noFill/>
          <a:ln w="6350">
            <a:solidFill>
              <a:srgbClr val="D6CBE8"/>
            </a:solidFill>
            <a:prstDash val="solid"/>
          </a:ln>
        </p:spPr>
      </p:sp>
      <p:sp>
        <p:nvSpPr>
          <p:cNvPr id="35" name="Shape 33"/>
          <p:cNvSpPr/>
          <p:nvPr/>
        </p:nvSpPr>
        <p:spPr>
          <a:xfrm>
            <a:off x="1325880" y="2212848"/>
            <a:ext cx="4846320" cy="91"/>
          </a:xfrm>
          <a:prstGeom prst="line">
            <a:avLst/>
          </a:prstGeom>
          <a:noFill/>
          <a:ln w="6350">
            <a:solidFill>
              <a:srgbClr val="EEE9F6"/>
            </a:solidFill>
            <a:prstDash val="solid"/>
          </a:ln>
        </p:spPr>
      </p:sp>
      <p:sp>
        <p:nvSpPr>
          <p:cNvPr id="36" name="Shape 34"/>
          <p:cNvSpPr/>
          <p:nvPr/>
        </p:nvSpPr>
        <p:spPr>
          <a:xfrm>
            <a:off x="1325880" y="1947672"/>
            <a:ext cx="4846320" cy="91"/>
          </a:xfrm>
          <a:prstGeom prst="line">
            <a:avLst/>
          </a:prstGeom>
          <a:noFill/>
          <a:ln w="6350">
            <a:solidFill>
              <a:srgbClr val="D6CBE8"/>
            </a:solidFill>
            <a:prstDash val="solid"/>
          </a:ln>
        </p:spPr>
      </p:sp>
      <p:sp>
        <p:nvSpPr>
          <p:cNvPr id="37" name="Shape 35"/>
          <p:cNvSpPr/>
          <p:nvPr/>
        </p:nvSpPr>
        <p:spPr>
          <a:xfrm>
            <a:off x="1325880" y="1682496"/>
            <a:ext cx="4846320" cy="91"/>
          </a:xfrm>
          <a:prstGeom prst="line">
            <a:avLst/>
          </a:prstGeom>
          <a:noFill/>
          <a:ln w="6350">
            <a:solidFill>
              <a:srgbClr val="EEE9F6"/>
            </a:solidFill>
            <a:prstDash val="solid"/>
          </a:ln>
        </p:spPr>
      </p:sp>
      <p:sp>
        <p:nvSpPr>
          <p:cNvPr id="38" name="Shape 36"/>
          <p:cNvSpPr/>
          <p:nvPr/>
        </p:nvSpPr>
        <p:spPr>
          <a:xfrm>
            <a:off x="1325880" y="1417320"/>
            <a:ext cx="4846320" cy="91"/>
          </a:xfrm>
          <a:prstGeom prst="line">
            <a:avLst/>
          </a:prstGeom>
          <a:noFill/>
          <a:ln w="6350">
            <a:solidFill>
              <a:srgbClr val="D6CBE8"/>
            </a:solidFill>
            <a:prstDash val="solid"/>
          </a:ln>
        </p:spPr>
      </p:sp>
      <p:sp>
        <p:nvSpPr>
          <p:cNvPr id="39" name="Shape 37"/>
          <p:cNvSpPr/>
          <p:nvPr/>
        </p:nvSpPr>
        <p:spPr>
          <a:xfrm>
            <a:off x="1325880" y="4069080"/>
            <a:ext cx="4846320" cy="91"/>
          </a:xfrm>
          <a:prstGeom prst="line">
            <a:avLst/>
          </a:prstGeom>
          <a:noFill/>
          <a:ln w="19050">
            <a:solidFill>
              <a:srgbClr val="2A1F3D"/>
            </a:solidFill>
            <a:prstDash val="solid"/>
          </a:ln>
        </p:spPr>
      </p:sp>
      <p:sp>
        <p:nvSpPr>
          <p:cNvPr id="40" name="Shape 38"/>
          <p:cNvSpPr/>
          <p:nvPr/>
        </p:nvSpPr>
        <p:spPr>
          <a:xfrm flipV="1">
            <a:off x="1325880" y="1417320"/>
            <a:ext cx="91" cy="2651760"/>
          </a:xfrm>
          <a:prstGeom prst="line">
            <a:avLst/>
          </a:prstGeom>
          <a:noFill/>
          <a:ln w="19050">
            <a:solidFill>
              <a:srgbClr val="2A1F3D"/>
            </a:solidFill>
            <a:prstDash val="solid"/>
          </a:ln>
        </p:spPr>
      </p:sp>
      <p:sp>
        <p:nvSpPr>
          <p:cNvPr id="41" name="Shape 39"/>
          <p:cNvSpPr/>
          <p:nvPr/>
        </p:nvSpPr>
        <p:spPr>
          <a:xfrm>
            <a:off x="1325880" y="4069080"/>
            <a:ext cx="91" cy="54864"/>
          </a:xfrm>
          <a:prstGeom prst="line">
            <a:avLst/>
          </a:prstGeom>
          <a:noFill/>
          <a:ln w="12700">
            <a:solidFill>
              <a:srgbClr val="2A1F3D"/>
            </a:solidFill>
            <a:prstDash val="solid"/>
          </a:ln>
        </p:spPr>
      </p:sp>
      <p:sp>
        <p:nvSpPr>
          <p:cNvPr id="42" name="Text 40"/>
          <p:cNvSpPr/>
          <p:nvPr/>
        </p:nvSpPr>
        <p:spPr>
          <a:xfrm>
            <a:off x="1051560" y="41239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3" name="Shape 41"/>
          <p:cNvSpPr/>
          <p:nvPr/>
        </p:nvSpPr>
        <p:spPr>
          <a:xfrm>
            <a:off x="2018211" y="4069080"/>
            <a:ext cx="91" cy="54864"/>
          </a:xfrm>
          <a:prstGeom prst="line">
            <a:avLst/>
          </a:prstGeom>
          <a:noFill/>
          <a:ln w="12700">
            <a:solidFill>
              <a:srgbClr val="2A1F3D"/>
            </a:solidFill>
            <a:prstDash val="solid"/>
          </a:ln>
        </p:spPr>
      </p:sp>
      <p:sp>
        <p:nvSpPr>
          <p:cNvPr id="44" name="Text 42"/>
          <p:cNvSpPr/>
          <p:nvPr/>
        </p:nvSpPr>
        <p:spPr>
          <a:xfrm>
            <a:off x="1743891" y="41239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45" name="Shape 43"/>
          <p:cNvSpPr/>
          <p:nvPr/>
        </p:nvSpPr>
        <p:spPr>
          <a:xfrm>
            <a:off x="2710543" y="4069080"/>
            <a:ext cx="91" cy="54864"/>
          </a:xfrm>
          <a:prstGeom prst="line">
            <a:avLst/>
          </a:prstGeom>
          <a:noFill/>
          <a:ln w="12700">
            <a:solidFill>
              <a:srgbClr val="2A1F3D"/>
            </a:solidFill>
            <a:prstDash val="solid"/>
          </a:ln>
        </p:spPr>
      </p:sp>
      <p:sp>
        <p:nvSpPr>
          <p:cNvPr id="46" name="Text 44"/>
          <p:cNvSpPr/>
          <p:nvPr/>
        </p:nvSpPr>
        <p:spPr>
          <a:xfrm>
            <a:off x="2436223" y="41239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47" name="Shape 45"/>
          <p:cNvSpPr/>
          <p:nvPr/>
        </p:nvSpPr>
        <p:spPr>
          <a:xfrm>
            <a:off x="3402874" y="4069080"/>
            <a:ext cx="91" cy="54864"/>
          </a:xfrm>
          <a:prstGeom prst="line">
            <a:avLst/>
          </a:prstGeom>
          <a:noFill/>
          <a:ln w="12700">
            <a:solidFill>
              <a:srgbClr val="2A1F3D"/>
            </a:solidFill>
            <a:prstDash val="solid"/>
          </a:ln>
        </p:spPr>
      </p:sp>
      <p:sp>
        <p:nvSpPr>
          <p:cNvPr id="48" name="Text 46"/>
          <p:cNvSpPr/>
          <p:nvPr/>
        </p:nvSpPr>
        <p:spPr>
          <a:xfrm>
            <a:off x="3128554" y="41239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49" name="Shape 47"/>
          <p:cNvSpPr/>
          <p:nvPr/>
        </p:nvSpPr>
        <p:spPr>
          <a:xfrm>
            <a:off x="4095206" y="4069080"/>
            <a:ext cx="91" cy="54864"/>
          </a:xfrm>
          <a:prstGeom prst="line">
            <a:avLst/>
          </a:prstGeom>
          <a:noFill/>
          <a:ln w="12700">
            <a:solidFill>
              <a:srgbClr val="2A1F3D"/>
            </a:solidFill>
            <a:prstDash val="solid"/>
          </a:ln>
        </p:spPr>
      </p:sp>
      <p:sp>
        <p:nvSpPr>
          <p:cNvPr id="50" name="Text 48"/>
          <p:cNvSpPr/>
          <p:nvPr/>
        </p:nvSpPr>
        <p:spPr>
          <a:xfrm>
            <a:off x="3820886" y="41239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1" name="Shape 49"/>
          <p:cNvSpPr/>
          <p:nvPr/>
        </p:nvSpPr>
        <p:spPr>
          <a:xfrm>
            <a:off x="4787537" y="4069080"/>
            <a:ext cx="91" cy="54864"/>
          </a:xfrm>
          <a:prstGeom prst="line">
            <a:avLst/>
          </a:prstGeom>
          <a:noFill/>
          <a:ln w="12700">
            <a:solidFill>
              <a:srgbClr val="2A1F3D"/>
            </a:solidFill>
            <a:prstDash val="solid"/>
          </a:ln>
        </p:spPr>
      </p:sp>
      <p:sp>
        <p:nvSpPr>
          <p:cNvPr id="52" name="Text 50"/>
          <p:cNvSpPr/>
          <p:nvPr/>
        </p:nvSpPr>
        <p:spPr>
          <a:xfrm>
            <a:off x="4513217" y="41239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53" name="Shape 51"/>
          <p:cNvSpPr/>
          <p:nvPr/>
        </p:nvSpPr>
        <p:spPr>
          <a:xfrm>
            <a:off x="5479869" y="4069080"/>
            <a:ext cx="91" cy="54864"/>
          </a:xfrm>
          <a:prstGeom prst="line">
            <a:avLst/>
          </a:prstGeom>
          <a:noFill/>
          <a:ln w="12700">
            <a:solidFill>
              <a:srgbClr val="2A1F3D"/>
            </a:solidFill>
            <a:prstDash val="solid"/>
          </a:ln>
        </p:spPr>
      </p:sp>
      <p:sp>
        <p:nvSpPr>
          <p:cNvPr id="54" name="Text 52"/>
          <p:cNvSpPr/>
          <p:nvPr/>
        </p:nvSpPr>
        <p:spPr>
          <a:xfrm>
            <a:off x="5205549" y="41239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5" name="Shape 53"/>
          <p:cNvSpPr/>
          <p:nvPr/>
        </p:nvSpPr>
        <p:spPr>
          <a:xfrm>
            <a:off x="6172200" y="4069080"/>
            <a:ext cx="91" cy="54864"/>
          </a:xfrm>
          <a:prstGeom prst="line">
            <a:avLst/>
          </a:prstGeom>
          <a:noFill/>
          <a:ln w="12700">
            <a:solidFill>
              <a:srgbClr val="2A1F3D"/>
            </a:solidFill>
            <a:prstDash val="solid"/>
          </a:ln>
        </p:spPr>
      </p:sp>
      <p:sp>
        <p:nvSpPr>
          <p:cNvPr id="56" name="Text 54"/>
          <p:cNvSpPr/>
          <p:nvPr/>
        </p:nvSpPr>
        <p:spPr>
          <a:xfrm>
            <a:off x="5897880" y="41239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57" name="Shape 55"/>
          <p:cNvSpPr/>
          <p:nvPr/>
        </p:nvSpPr>
        <p:spPr>
          <a:xfrm>
            <a:off x="1271016" y="4069080"/>
            <a:ext cx="54864" cy="91"/>
          </a:xfrm>
          <a:prstGeom prst="line">
            <a:avLst/>
          </a:prstGeom>
          <a:noFill/>
          <a:ln w="12700">
            <a:solidFill>
              <a:srgbClr val="2A1F3D"/>
            </a:solidFill>
            <a:prstDash val="solid"/>
          </a:ln>
        </p:spPr>
      </p:sp>
      <p:sp>
        <p:nvSpPr>
          <p:cNvPr id="58" name="Text 56"/>
          <p:cNvSpPr/>
          <p:nvPr/>
        </p:nvSpPr>
        <p:spPr>
          <a:xfrm>
            <a:off x="886968" y="39776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9" name="Shape 57"/>
          <p:cNvSpPr/>
          <p:nvPr/>
        </p:nvSpPr>
        <p:spPr>
          <a:xfrm>
            <a:off x="1271016" y="3538728"/>
            <a:ext cx="54864" cy="91"/>
          </a:xfrm>
          <a:prstGeom prst="line">
            <a:avLst/>
          </a:prstGeom>
          <a:noFill/>
          <a:ln w="12700">
            <a:solidFill>
              <a:srgbClr val="2A1F3D"/>
            </a:solidFill>
            <a:prstDash val="solid"/>
          </a:ln>
        </p:spPr>
      </p:sp>
      <p:sp>
        <p:nvSpPr>
          <p:cNvPr id="60" name="Text 58"/>
          <p:cNvSpPr/>
          <p:nvPr/>
        </p:nvSpPr>
        <p:spPr>
          <a:xfrm>
            <a:off x="886968" y="344728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1" name="Shape 59"/>
          <p:cNvSpPr/>
          <p:nvPr/>
        </p:nvSpPr>
        <p:spPr>
          <a:xfrm>
            <a:off x="1271016" y="3008376"/>
            <a:ext cx="54864" cy="91"/>
          </a:xfrm>
          <a:prstGeom prst="line">
            <a:avLst/>
          </a:prstGeom>
          <a:noFill/>
          <a:ln w="12700">
            <a:solidFill>
              <a:srgbClr val="2A1F3D"/>
            </a:solidFill>
            <a:prstDash val="solid"/>
          </a:ln>
        </p:spPr>
      </p:sp>
      <p:sp>
        <p:nvSpPr>
          <p:cNvPr id="62" name="Text 60"/>
          <p:cNvSpPr/>
          <p:nvPr/>
        </p:nvSpPr>
        <p:spPr>
          <a:xfrm>
            <a:off x="886968" y="291693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3" name="Shape 61"/>
          <p:cNvSpPr/>
          <p:nvPr/>
        </p:nvSpPr>
        <p:spPr>
          <a:xfrm>
            <a:off x="1271016" y="2478024"/>
            <a:ext cx="54864" cy="91"/>
          </a:xfrm>
          <a:prstGeom prst="line">
            <a:avLst/>
          </a:prstGeom>
          <a:noFill/>
          <a:ln w="12700">
            <a:solidFill>
              <a:srgbClr val="2A1F3D"/>
            </a:solidFill>
            <a:prstDash val="solid"/>
          </a:ln>
        </p:spPr>
      </p:sp>
      <p:sp>
        <p:nvSpPr>
          <p:cNvPr id="64" name="Text 62"/>
          <p:cNvSpPr/>
          <p:nvPr/>
        </p:nvSpPr>
        <p:spPr>
          <a:xfrm>
            <a:off x="886968" y="238658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65" name="Shape 63"/>
          <p:cNvSpPr/>
          <p:nvPr/>
        </p:nvSpPr>
        <p:spPr>
          <a:xfrm>
            <a:off x="1271016" y="1947672"/>
            <a:ext cx="54864" cy="91"/>
          </a:xfrm>
          <a:prstGeom prst="line">
            <a:avLst/>
          </a:prstGeom>
          <a:noFill/>
          <a:ln w="12700">
            <a:solidFill>
              <a:srgbClr val="2A1F3D"/>
            </a:solidFill>
            <a:prstDash val="solid"/>
          </a:ln>
        </p:spPr>
      </p:sp>
      <p:sp>
        <p:nvSpPr>
          <p:cNvPr id="66" name="Text 64"/>
          <p:cNvSpPr/>
          <p:nvPr/>
        </p:nvSpPr>
        <p:spPr>
          <a:xfrm>
            <a:off x="886968" y="185623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67" name="Shape 65"/>
          <p:cNvSpPr/>
          <p:nvPr/>
        </p:nvSpPr>
        <p:spPr>
          <a:xfrm>
            <a:off x="1271016" y="1417320"/>
            <a:ext cx="54864" cy="91"/>
          </a:xfrm>
          <a:prstGeom prst="line">
            <a:avLst/>
          </a:prstGeom>
          <a:noFill/>
          <a:ln w="12700">
            <a:solidFill>
              <a:srgbClr val="2A1F3D"/>
            </a:solidFill>
            <a:prstDash val="solid"/>
          </a:ln>
        </p:spPr>
      </p:sp>
      <p:sp>
        <p:nvSpPr>
          <p:cNvPr id="68" name="Text 66"/>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69" name="Text 67"/>
          <p:cNvSpPr/>
          <p:nvPr/>
        </p:nvSpPr>
        <p:spPr>
          <a:xfrm>
            <a:off x="1325880" y="4315968"/>
            <a:ext cx="4846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days</a:t>
            </a:r>
            <a:endParaRPr lang="en-US" sz="1050" dirty="0"/>
          </a:p>
        </p:txBody>
      </p:sp>
      <p:sp>
        <p:nvSpPr>
          <p:cNvPr id="70" name="Text 68"/>
          <p:cNvSpPr/>
          <p:nvPr/>
        </p:nvSpPr>
        <p:spPr>
          <a:xfrm rot="16200000">
            <a:off x="-566928" y="2615184"/>
            <a:ext cx="26517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Mass gain / mg</a:t>
            </a:r>
            <a:endParaRPr lang="en-US" sz="1050" dirty="0"/>
          </a:p>
        </p:txBody>
      </p:sp>
      <p:sp>
        <p:nvSpPr>
          <p:cNvPr id="71" name="Shape 69"/>
          <p:cNvSpPr/>
          <p:nvPr/>
        </p:nvSpPr>
        <p:spPr>
          <a:xfrm flipV="1">
            <a:off x="1325880" y="2875788"/>
            <a:ext cx="4846320" cy="1193292"/>
          </a:xfrm>
          <a:prstGeom prst="line">
            <a:avLst/>
          </a:prstGeom>
          <a:noFill/>
          <a:ln w="25400">
            <a:solidFill>
              <a:srgbClr val="5B9BD5"/>
            </a:solidFill>
            <a:prstDash val="solid"/>
          </a:ln>
        </p:spPr>
      </p:sp>
      <p:sp>
        <p:nvSpPr>
          <p:cNvPr id="72" name="Shape 70"/>
          <p:cNvSpPr/>
          <p:nvPr/>
        </p:nvSpPr>
        <p:spPr>
          <a:xfrm>
            <a:off x="1280160" y="4023360"/>
            <a:ext cx="91440" cy="91440"/>
          </a:xfrm>
          <a:prstGeom prst="line">
            <a:avLst/>
          </a:prstGeom>
          <a:noFill/>
          <a:ln w="15875">
            <a:solidFill>
              <a:srgbClr val="2A1F3D"/>
            </a:solidFill>
            <a:prstDash val="solid"/>
          </a:ln>
        </p:spPr>
      </p:sp>
      <p:sp>
        <p:nvSpPr>
          <p:cNvPr id="73" name="Shape 71"/>
          <p:cNvSpPr/>
          <p:nvPr/>
        </p:nvSpPr>
        <p:spPr>
          <a:xfrm flipV="1">
            <a:off x="1280160" y="4023360"/>
            <a:ext cx="91440" cy="91440"/>
          </a:xfrm>
          <a:prstGeom prst="line">
            <a:avLst/>
          </a:prstGeom>
          <a:noFill/>
          <a:ln w="15875">
            <a:solidFill>
              <a:srgbClr val="2A1F3D"/>
            </a:solidFill>
            <a:prstDash val="solid"/>
          </a:ln>
        </p:spPr>
      </p:sp>
      <p:sp>
        <p:nvSpPr>
          <p:cNvPr id="74" name="Shape 72"/>
          <p:cNvSpPr/>
          <p:nvPr/>
        </p:nvSpPr>
        <p:spPr>
          <a:xfrm>
            <a:off x="1972491" y="3864254"/>
            <a:ext cx="91440" cy="91440"/>
          </a:xfrm>
          <a:prstGeom prst="line">
            <a:avLst/>
          </a:prstGeom>
          <a:noFill/>
          <a:ln w="15875">
            <a:solidFill>
              <a:srgbClr val="2A1F3D"/>
            </a:solidFill>
            <a:prstDash val="solid"/>
          </a:ln>
        </p:spPr>
      </p:sp>
      <p:sp>
        <p:nvSpPr>
          <p:cNvPr id="75" name="Shape 73"/>
          <p:cNvSpPr/>
          <p:nvPr/>
        </p:nvSpPr>
        <p:spPr>
          <a:xfrm flipV="1">
            <a:off x="1972491" y="3864254"/>
            <a:ext cx="91440" cy="91440"/>
          </a:xfrm>
          <a:prstGeom prst="line">
            <a:avLst/>
          </a:prstGeom>
          <a:noFill/>
          <a:ln w="15875">
            <a:solidFill>
              <a:srgbClr val="2A1F3D"/>
            </a:solidFill>
            <a:prstDash val="solid"/>
          </a:ln>
        </p:spPr>
      </p:sp>
      <p:sp>
        <p:nvSpPr>
          <p:cNvPr id="76" name="Shape 74"/>
          <p:cNvSpPr/>
          <p:nvPr/>
        </p:nvSpPr>
        <p:spPr>
          <a:xfrm>
            <a:off x="2664823" y="3705149"/>
            <a:ext cx="91440" cy="91440"/>
          </a:xfrm>
          <a:prstGeom prst="line">
            <a:avLst/>
          </a:prstGeom>
          <a:noFill/>
          <a:ln w="15875">
            <a:solidFill>
              <a:srgbClr val="2A1F3D"/>
            </a:solidFill>
            <a:prstDash val="solid"/>
          </a:ln>
        </p:spPr>
      </p:sp>
      <p:sp>
        <p:nvSpPr>
          <p:cNvPr id="77" name="Shape 75"/>
          <p:cNvSpPr/>
          <p:nvPr/>
        </p:nvSpPr>
        <p:spPr>
          <a:xfrm flipV="1">
            <a:off x="2664823" y="3705149"/>
            <a:ext cx="91440" cy="91440"/>
          </a:xfrm>
          <a:prstGeom prst="line">
            <a:avLst/>
          </a:prstGeom>
          <a:noFill/>
          <a:ln w="15875">
            <a:solidFill>
              <a:srgbClr val="2A1F3D"/>
            </a:solidFill>
            <a:prstDash val="solid"/>
          </a:ln>
        </p:spPr>
      </p:sp>
      <p:sp>
        <p:nvSpPr>
          <p:cNvPr id="78" name="Shape 76"/>
          <p:cNvSpPr/>
          <p:nvPr/>
        </p:nvSpPr>
        <p:spPr>
          <a:xfrm>
            <a:off x="3357154" y="3519526"/>
            <a:ext cx="91440" cy="91440"/>
          </a:xfrm>
          <a:prstGeom prst="line">
            <a:avLst/>
          </a:prstGeom>
          <a:noFill/>
          <a:ln w="15875">
            <a:solidFill>
              <a:srgbClr val="2A1F3D"/>
            </a:solidFill>
            <a:prstDash val="solid"/>
          </a:ln>
        </p:spPr>
      </p:sp>
      <p:sp>
        <p:nvSpPr>
          <p:cNvPr id="79" name="Shape 77"/>
          <p:cNvSpPr/>
          <p:nvPr/>
        </p:nvSpPr>
        <p:spPr>
          <a:xfrm flipV="1">
            <a:off x="3357154" y="3519526"/>
            <a:ext cx="91440" cy="91440"/>
          </a:xfrm>
          <a:prstGeom prst="line">
            <a:avLst/>
          </a:prstGeom>
          <a:noFill/>
          <a:ln w="15875">
            <a:solidFill>
              <a:srgbClr val="2A1F3D"/>
            </a:solidFill>
            <a:prstDash val="solid"/>
          </a:ln>
        </p:spPr>
      </p:sp>
      <p:sp>
        <p:nvSpPr>
          <p:cNvPr id="80" name="Shape 78"/>
          <p:cNvSpPr/>
          <p:nvPr/>
        </p:nvSpPr>
        <p:spPr>
          <a:xfrm>
            <a:off x="4049486" y="3360420"/>
            <a:ext cx="91440" cy="91440"/>
          </a:xfrm>
          <a:prstGeom prst="line">
            <a:avLst/>
          </a:prstGeom>
          <a:noFill/>
          <a:ln w="15875">
            <a:solidFill>
              <a:srgbClr val="2A1F3D"/>
            </a:solidFill>
            <a:prstDash val="solid"/>
          </a:ln>
        </p:spPr>
      </p:sp>
      <p:sp>
        <p:nvSpPr>
          <p:cNvPr id="81" name="Shape 79"/>
          <p:cNvSpPr/>
          <p:nvPr/>
        </p:nvSpPr>
        <p:spPr>
          <a:xfrm flipV="1">
            <a:off x="4049486" y="3360420"/>
            <a:ext cx="91440" cy="91440"/>
          </a:xfrm>
          <a:prstGeom prst="line">
            <a:avLst/>
          </a:prstGeom>
          <a:noFill/>
          <a:ln w="15875">
            <a:solidFill>
              <a:srgbClr val="2A1F3D"/>
            </a:solidFill>
            <a:prstDash val="solid"/>
          </a:ln>
        </p:spPr>
      </p:sp>
      <p:sp>
        <p:nvSpPr>
          <p:cNvPr id="82" name="Shape 80"/>
          <p:cNvSpPr/>
          <p:nvPr/>
        </p:nvSpPr>
        <p:spPr>
          <a:xfrm>
            <a:off x="4741817" y="3174797"/>
            <a:ext cx="91440" cy="91440"/>
          </a:xfrm>
          <a:prstGeom prst="line">
            <a:avLst/>
          </a:prstGeom>
          <a:noFill/>
          <a:ln w="15875">
            <a:solidFill>
              <a:srgbClr val="2A1F3D"/>
            </a:solidFill>
            <a:prstDash val="solid"/>
          </a:ln>
        </p:spPr>
      </p:sp>
      <p:sp>
        <p:nvSpPr>
          <p:cNvPr id="83" name="Shape 81"/>
          <p:cNvSpPr/>
          <p:nvPr/>
        </p:nvSpPr>
        <p:spPr>
          <a:xfrm flipV="1">
            <a:off x="4741817" y="3174797"/>
            <a:ext cx="91440" cy="91440"/>
          </a:xfrm>
          <a:prstGeom prst="line">
            <a:avLst/>
          </a:prstGeom>
          <a:noFill/>
          <a:ln w="15875">
            <a:solidFill>
              <a:srgbClr val="2A1F3D"/>
            </a:solidFill>
            <a:prstDash val="solid"/>
          </a:ln>
        </p:spPr>
      </p:sp>
      <p:sp>
        <p:nvSpPr>
          <p:cNvPr id="84" name="Shape 82"/>
          <p:cNvSpPr/>
          <p:nvPr/>
        </p:nvSpPr>
        <p:spPr>
          <a:xfrm>
            <a:off x="5434149" y="3015691"/>
            <a:ext cx="91440" cy="91440"/>
          </a:xfrm>
          <a:prstGeom prst="line">
            <a:avLst/>
          </a:prstGeom>
          <a:noFill/>
          <a:ln w="15875">
            <a:solidFill>
              <a:srgbClr val="2A1F3D"/>
            </a:solidFill>
            <a:prstDash val="solid"/>
          </a:ln>
        </p:spPr>
      </p:sp>
      <p:sp>
        <p:nvSpPr>
          <p:cNvPr id="85" name="Shape 83"/>
          <p:cNvSpPr/>
          <p:nvPr/>
        </p:nvSpPr>
        <p:spPr>
          <a:xfrm flipV="1">
            <a:off x="5434149" y="3015691"/>
            <a:ext cx="91440" cy="91440"/>
          </a:xfrm>
          <a:prstGeom prst="line">
            <a:avLst/>
          </a:prstGeom>
          <a:noFill/>
          <a:ln w="15875">
            <a:solidFill>
              <a:srgbClr val="2A1F3D"/>
            </a:solidFill>
            <a:prstDash val="solid"/>
          </a:ln>
        </p:spPr>
      </p:sp>
      <p:sp>
        <p:nvSpPr>
          <p:cNvPr id="86" name="Shape 84"/>
          <p:cNvSpPr/>
          <p:nvPr/>
        </p:nvSpPr>
        <p:spPr>
          <a:xfrm>
            <a:off x="6126480" y="2830068"/>
            <a:ext cx="91440" cy="91440"/>
          </a:xfrm>
          <a:prstGeom prst="line">
            <a:avLst/>
          </a:prstGeom>
          <a:noFill/>
          <a:ln w="15875">
            <a:solidFill>
              <a:srgbClr val="2A1F3D"/>
            </a:solidFill>
            <a:prstDash val="solid"/>
          </a:ln>
        </p:spPr>
      </p:sp>
      <p:sp>
        <p:nvSpPr>
          <p:cNvPr id="87" name="Shape 85"/>
          <p:cNvSpPr/>
          <p:nvPr/>
        </p:nvSpPr>
        <p:spPr>
          <a:xfrm flipV="1">
            <a:off x="6126480" y="2830068"/>
            <a:ext cx="91440" cy="91440"/>
          </a:xfrm>
          <a:prstGeom prst="line">
            <a:avLst/>
          </a:prstGeom>
          <a:noFill/>
          <a:ln w="15875">
            <a:solidFill>
              <a:srgbClr val="2A1F3D"/>
            </a:solidFill>
            <a:prstDash val="solid"/>
          </a:ln>
        </p:spPr>
      </p:sp>
      <p:sp>
        <p:nvSpPr>
          <p:cNvPr id="88" name="Shape 86"/>
          <p:cNvSpPr/>
          <p:nvPr/>
        </p:nvSpPr>
        <p:spPr>
          <a:xfrm flipV="1">
            <a:off x="1325880" y="1682496"/>
            <a:ext cx="4846320" cy="2386584"/>
          </a:xfrm>
          <a:prstGeom prst="line">
            <a:avLst/>
          </a:prstGeom>
          <a:noFill/>
          <a:ln w="25400">
            <a:solidFill>
              <a:srgbClr val="B5541E"/>
            </a:solidFill>
            <a:prstDash val="solid"/>
          </a:ln>
        </p:spPr>
      </p:sp>
      <p:sp>
        <p:nvSpPr>
          <p:cNvPr id="89" name="Shape 87"/>
          <p:cNvSpPr/>
          <p:nvPr/>
        </p:nvSpPr>
        <p:spPr>
          <a:xfrm>
            <a:off x="1280160" y="4023360"/>
            <a:ext cx="91440" cy="91440"/>
          </a:xfrm>
          <a:prstGeom prst="line">
            <a:avLst/>
          </a:prstGeom>
          <a:noFill/>
          <a:ln w="15875">
            <a:solidFill>
              <a:srgbClr val="2A1F3D"/>
            </a:solidFill>
            <a:prstDash val="solid"/>
          </a:ln>
        </p:spPr>
      </p:sp>
      <p:sp>
        <p:nvSpPr>
          <p:cNvPr id="90" name="Shape 88"/>
          <p:cNvSpPr/>
          <p:nvPr/>
        </p:nvSpPr>
        <p:spPr>
          <a:xfrm flipV="1">
            <a:off x="1280160" y="4023360"/>
            <a:ext cx="91440" cy="91440"/>
          </a:xfrm>
          <a:prstGeom prst="line">
            <a:avLst/>
          </a:prstGeom>
          <a:noFill/>
          <a:ln w="15875">
            <a:solidFill>
              <a:srgbClr val="2A1F3D"/>
            </a:solidFill>
            <a:prstDash val="solid"/>
          </a:ln>
        </p:spPr>
      </p:sp>
      <p:sp>
        <p:nvSpPr>
          <p:cNvPr id="91" name="Shape 89"/>
          <p:cNvSpPr/>
          <p:nvPr/>
        </p:nvSpPr>
        <p:spPr>
          <a:xfrm>
            <a:off x="1972491" y="3705149"/>
            <a:ext cx="91440" cy="91440"/>
          </a:xfrm>
          <a:prstGeom prst="line">
            <a:avLst/>
          </a:prstGeom>
          <a:noFill/>
          <a:ln w="15875">
            <a:solidFill>
              <a:srgbClr val="2A1F3D"/>
            </a:solidFill>
            <a:prstDash val="solid"/>
          </a:ln>
        </p:spPr>
      </p:sp>
      <p:sp>
        <p:nvSpPr>
          <p:cNvPr id="92" name="Shape 90"/>
          <p:cNvSpPr/>
          <p:nvPr/>
        </p:nvSpPr>
        <p:spPr>
          <a:xfrm flipV="1">
            <a:off x="1972491" y="3705149"/>
            <a:ext cx="91440" cy="91440"/>
          </a:xfrm>
          <a:prstGeom prst="line">
            <a:avLst/>
          </a:prstGeom>
          <a:noFill/>
          <a:ln w="15875">
            <a:solidFill>
              <a:srgbClr val="2A1F3D"/>
            </a:solidFill>
            <a:prstDash val="solid"/>
          </a:ln>
        </p:spPr>
      </p:sp>
      <p:sp>
        <p:nvSpPr>
          <p:cNvPr id="93" name="Shape 91"/>
          <p:cNvSpPr/>
          <p:nvPr/>
        </p:nvSpPr>
        <p:spPr>
          <a:xfrm>
            <a:off x="2664823" y="3360420"/>
            <a:ext cx="91440" cy="91440"/>
          </a:xfrm>
          <a:prstGeom prst="line">
            <a:avLst/>
          </a:prstGeom>
          <a:noFill/>
          <a:ln w="15875">
            <a:solidFill>
              <a:srgbClr val="2A1F3D"/>
            </a:solidFill>
            <a:prstDash val="solid"/>
          </a:ln>
        </p:spPr>
      </p:sp>
      <p:sp>
        <p:nvSpPr>
          <p:cNvPr id="94" name="Shape 92"/>
          <p:cNvSpPr/>
          <p:nvPr/>
        </p:nvSpPr>
        <p:spPr>
          <a:xfrm flipV="1">
            <a:off x="2664823" y="3360420"/>
            <a:ext cx="91440" cy="91440"/>
          </a:xfrm>
          <a:prstGeom prst="line">
            <a:avLst/>
          </a:prstGeom>
          <a:noFill/>
          <a:ln w="15875">
            <a:solidFill>
              <a:srgbClr val="2A1F3D"/>
            </a:solidFill>
            <a:prstDash val="solid"/>
          </a:ln>
        </p:spPr>
      </p:sp>
      <p:sp>
        <p:nvSpPr>
          <p:cNvPr id="95" name="Shape 93"/>
          <p:cNvSpPr/>
          <p:nvPr/>
        </p:nvSpPr>
        <p:spPr>
          <a:xfrm>
            <a:off x="3357154" y="3015691"/>
            <a:ext cx="91440" cy="91440"/>
          </a:xfrm>
          <a:prstGeom prst="line">
            <a:avLst/>
          </a:prstGeom>
          <a:noFill/>
          <a:ln w="15875">
            <a:solidFill>
              <a:srgbClr val="2A1F3D"/>
            </a:solidFill>
            <a:prstDash val="solid"/>
          </a:ln>
        </p:spPr>
      </p:sp>
      <p:sp>
        <p:nvSpPr>
          <p:cNvPr id="96" name="Shape 94"/>
          <p:cNvSpPr/>
          <p:nvPr/>
        </p:nvSpPr>
        <p:spPr>
          <a:xfrm flipV="1">
            <a:off x="3357154" y="3015691"/>
            <a:ext cx="91440" cy="91440"/>
          </a:xfrm>
          <a:prstGeom prst="line">
            <a:avLst/>
          </a:prstGeom>
          <a:noFill/>
          <a:ln w="15875">
            <a:solidFill>
              <a:srgbClr val="2A1F3D"/>
            </a:solidFill>
            <a:prstDash val="solid"/>
          </a:ln>
        </p:spPr>
      </p:sp>
      <p:sp>
        <p:nvSpPr>
          <p:cNvPr id="97" name="Shape 95"/>
          <p:cNvSpPr/>
          <p:nvPr/>
        </p:nvSpPr>
        <p:spPr>
          <a:xfrm>
            <a:off x="4049486" y="2670962"/>
            <a:ext cx="91440" cy="91440"/>
          </a:xfrm>
          <a:prstGeom prst="line">
            <a:avLst/>
          </a:prstGeom>
          <a:noFill/>
          <a:ln w="15875">
            <a:solidFill>
              <a:srgbClr val="2A1F3D"/>
            </a:solidFill>
            <a:prstDash val="solid"/>
          </a:ln>
        </p:spPr>
      </p:sp>
      <p:sp>
        <p:nvSpPr>
          <p:cNvPr id="98" name="Shape 96"/>
          <p:cNvSpPr/>
          <p:nvPr/>
        </p:nvSpPr>
        <p:spPr>
          <a:xfrm flipV="1">
            <a:off x="4049486" y="2670962"/>
            <a:ext cx="91440" cy="91440"/>
          </a:xfrm>
          <a:prstGeom prst="line">
            <a:avLst/>
          </a:prstGeom>
          <a:noFill/>
          <a:ln w="15875">
            <a:solidFill>
              <a:srgbClr val="2A1F3D"/>
            </a:solidFill>
            <a:prstDash val="solid"/>
          </a:ln>
        </p:spPr>
      </p:sp>
      <p:sp>
        <p:nvSpPr>
          <p:cNvPr id="99" name="Shape 97"/>
          <p:cNvSpPr/>
          <p:nvPr/>
        </p:nvSpPr>
        <p:spPr>
          <a:xfrm>
            <a:off x="4741817" y="2326234"/>
            <a:ext cx="91440" cy="91440"/>
          </a:xfrm>
          <a:prstGeom prst="line">
            <a:avLst/>
          </a:prstGeom>
          <a:noFill/>
          <a:ln w="15875">
            <a:solidFill>
              <a:srgbClr val="2A1F3D"/>
            </a:solidFill>
            <a:prstDash val="solid"/>
          </a:ln>
        </p:spPr>
      </p:sp>
      <p:sp>
        <p:nvSpPr>
          <p:cNvPr id="100" name="Shape 98"/>
          <p:cNvSpPr/>
          <p:nvPr/>
        </p:nvSpPr>
        <p:spPr>
          <a:xfrm flipV="1">
            <a:off x="4741817" y="2326234"/>
            <a:ext cx="91440" cy="91440"/>
          </a:xfrm>
          <a:prstGeom prst="line">
            <a:avLst/>
          </a:prstGeom>
          <a:noFill/>
          <a:ln w="15875">
            <a:solidFill>
              <a:srgbClr val="2A1F3D"/>
            </a:solidFill>
            <a:prstDash val="solid"/>
          </a:ln>
        </p:spPr>
      </p:sp>
      <p:sp>
        <p:nvSpPr>
          <p:cNvPr id="101" name="Shape 99"/>
          <p:cNvSpPr/>
          <p:nvPr/>
        </p:nvSpPr>
        <p:spPr>
          <a:xfrm>
            <a:off x="5434149" y="1981505"/>
            <a:ext cx="91440" cy="91440"/>
          </a:xfrm>
          <a:prstGeom prst="line">
            <a:avLst/>
          </a:prstGeom>
          <a:noFill/>
          <a:ln w="15875">
            <a:solidFill>
              <a:srgbClr val="2A1F3D"/>
            </a:solidFill>
            <a:prstDash val="solid"/>
          </a:ln>
        </p:spPr>
      </p:sp>
      <p:sp>
        <p:nvSpPr>
          <p:cNvPr id="102" name="Shape 100"/>
          <p:cNvSpPr/>
          <p:nvPr/>
        </p:nvSpPr>
        <p:spPr>
          <a:xfrm flipV="1">
            <a:off x="5434149" y="1981505"/>
            <a:ext cx="91440" cy="91440"/>
          </a:xfrm>
          <a:prstGeom prst="line">
            <a:avLst/>
          </a:prstGeom>
          <a:noFill/>
          <a:ln w="15875">
            <a:solidFill>
              <a:srgbClr val="2A1F3D"/>
            </a:solidFill>
            <a:prstDash val="solid"/>
          </a:ln>
        </p:spPr>
      </p:sp>
      <p:sp>
        <p:nvSpPr>
          <p:cNvPr id="103" name="Shape 101"/>
          <p:cNvSpPr/>
          <p:nvPr/>
        </p:nvSpPr>
        <p:spPr>
          <a:xfrm>
            <a:off x="6126480" y="1636776"/>
            <a:ext cx="91440" cy="91440"/>
          </a:xfrm>
          <a:prstGeom prst="line">
            <a:avLst/>
          </a:prstGeom>
          <a:noFill/>
          <a:ln w="15875">
            <a:solidFill>
              <a:srgbClr val="2A1F3D"/>
            </a:solidFill>
            <a:prstDash val="solid"/>
          </a:ln>
        </p:spPr>
      </p:sp>
      <p:sp>
        <p:nvSpPr>
          <p:cNvPr id="104" name="Shape 102"/>
          <p:cNvSpPr/>
          <p:nvPr/>
        </p:nvSpPr>
        <p:spPr>
          <a:xfrm flipV="1">
            <a:off x="6126480" y="1636776"/>
            <a:ext cx="91440" cy="91440"/>
          </a:xfrm>
          <a:prstGeom prst="line">
            <a:avLst/>
          </a:prstGeom>
          <a:noFill/>
          <a:ln w="15875">
            <a:solidFill>
              <a:srgbClr val="2A1F3D"/>
            </a:solidFill>
            <a:prstDash val="solid"/>
          </a:ln>
        </p:spPr>
      </p:sp>
      <p:sp>
        <p:nvSpPr>
          <p:cNvPr id="105" name="Text 103"/>
          <p:cNvSpPr/>
          <p:nvPr/>
        </p:nvSpPr>
        <p:spPr>
          <a:xfrm>
            <a:off x="4510605" y="1947672"/>
            <a:ext cx="1463040" cy="201168"/>
          </a:xfrm>
          <a:prstGeom prst="rect">
            <a:avLst/>
          </a:prstGeom>
          <a:noFill/>
          <a:ln/>
        </p:spPr>
        <p:txBody>
          <a:bodyPr wrap="square" lIns="0" tIns="0" rIns="0" bIns="0" rtlCol="0" anchor="ctr"/>
          <a:lstStyle/>
          <a:p>
            <a:pPr algn="l" indent="0" marL="0">
              <a:buNone/>
            </a:pPr>
            <a:r>
              <a:rPr lang="en-US" sz="1050" b="1" dirty="0">
                <a:solidFill>
                  <a:srgbClr val="7A3510"/>
                </a:solidFill>
                <a:latin typeface="Calibri" pitchFamily="34" charset="0"/>
                <a:ea typeface="Calibri" pitchFamily="34" charset="-122"/>
                <a:cs typeface="Calibri" pitchFamily="34" charset="-120"/>
              </a:rPr>
              <a:t>B</a:t>
            </a:r>
            <a:r>
              <a:rPr lang="en-US" sz="1050" dirty="0">
                <a:solidFill>
                  <a:srgbClr val="7A3510"/>
                </a:solidFill>
                <a:latin typeface="Calibri" pitchFamily="34" charset="0"/>
                <a:ea typeface="Calibri" pitchFamily="34" charset="-122"/>
                <a:cs typeface="Calibri" pitchFamily="34" charset="-120"/>
              </a:rPr>
              <a:t> salt water</a:t>
            </a:r>
            <a:endParaRPr lang="en-US" sz="1050" dirty="0"/>
          </a:p>
        </p:txBody>
      </p:sp>
      <p:sp>
        <p:nvSpPr>
          <p:cNvPr id="106" name="Text 104"/>
          <p:cNvSpPr/>
          <p:nvPr/>
        </p:nvSpPr>
        <p:spPr>
          <a:xfrm>
            <a:off x="4787537" y="3485693"/>
            <a:ext cx="1463040" cy="201168"/>
          </a:xfrm>
          <a:prstGeom prst="rect">
            <a:avLst/>
          </a:prstGeom>
          <a:noFill/>
          <a:ln/>
        </p:spPr>
        <p:txBody>
          <a:bodyPr wrap="square" lIns="0" tIns="0" rIns="0" bIns="0" rtlCol="0" anchor="ctr"/>
          <a:lstStyle/>
          <a:p>
            <a:pPr algn="l" indent="0" marL="0">
              <a:buNone/>
            </a:pPr>
            <a:r>
              <a:rPr lang="en-US" sz="1050" b="1" dirty="0">
                <a:solidFill>
                  <a:srgbClr val="5B9BD5"/>
                </a:solidFill>
                <a:latin typeface="Calibri" pitchFamily="34" charset="0"/>
                <a:ea typeface="Calibri" pitchFamily="34" charset="-122"/>
                <a:cs typeface="Calibri" pitchFamily="34" charset="-120"/>
              </a:rPr>
              <a:t>A</a:t>
            </a:r>
            <a:r>
              <a:rPr lang="en-US" sz="1050" dirty="0">
                <a:solidFill>
                  <a:srgbClr val="5B9BD5"/>
                </a:solidFill>
                <a:latin typeface="Calibri" pitchFamily="34" charset="0"/>
                <a:ea typeface="Calibri" pitchFamily="34" charset="-122"/>
                <a:cs typeface="Calibri" pitchFamily="34" charset="-120"/>
              </a:rPr>
              <a:t> tap water</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4553712"/>
          <a:ext cx="5577840" cy="914400"/>
        </p:xfrm>
        <a:graphic>
          <a:graphicData uri="http://schemas.openxmlformats.org/drawingml/2006/table">
            <a:tbl>
              <a:tblPr/>
              <a:tblGrid>
                <a:gridCol w="1005840"/>
                <a:gridCol w="914400"/>
                <a:gridCol w="914400"/>
                <a:gridCol w="914400"/>
                <a:gridCol w="914400"/>
                <a:gridCol w="914400"/>
              </a:tblGrid>
              <a:tr h="19202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Tube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192024">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Method</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tap water</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salt water</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painted nail</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zinc strip</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copper strip</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192024">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Gain / mg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108" name="Shape 105"/>
          <p:cNvSpPr/>
          <p:nvPr/>
        </p:nvSpPr>
        <p:spPr>
          <a:xfrm>
            <a:off x="6675120" y="1188720"/>
            <a:ext cx="5102352" cy="1463040"/>
          </a:xfrm>
          <a:prstGeom prst="roundRect">
            <a:avLst>
              <a:gd name="adj" fmla="val 3750"/>
            </a:avLst>
          </a:prstGeom>
          <a:solidFill>
            <a:srgbClr val="FFF4E0"/>
          </a:solidFill>
          <a:ln w="9525">
            <a:solidFill>
              <a:srgbClr val="F1D9A8"/>
            </a:solidFill>
            <a:prstDash val="solid"/>
          </a:ln>
        </p:spPr>
      </p:sp>
      <p:sp>
        <p:nvSpPr>
          <p:cNvPr id="109" name="Text 106"/>
          <p:cNvSpPr/>
          <p:nvPr/>
        </p:nvSpPr>
        <p:spPr>
          <a:xfrm>
            <a:off x="6839712" y="126187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rate of rusting</a:t>
            </a:r>
            <a:endParaRPr lang="en-US" sz="1300" dirty="0"/>
          </a:p>
        </p:txBody>
      </p:sp>
      <p:sp>
        <p:nvSpPr>
          <p:cNvPr id="110" name="Text 107"/>
          <p:cNvSpPr/>
          <p:nvPr/>
        </p:nvSpPr>
        <p:spPr>
          <a:xfrm>
            <a:off x="6839712" y="1572768"/>
            <a:ext cx="4773168" cy="10058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7-day values.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A   </a:t>
            </a:r>
            <a:r>
              <a:rPr lang="en-US" sz="1050" dirty="0">
                <a:solidFill>
                  <a:srgbClr val="262B3A"/>
                </a:solidFill>
                <a:latin typeface="Calibri" pitchFamily="34" charset="0"/>
                <a:ea typeface="Calibri" pitchFamily="34" charset="-122"/>
                <a:cs typeface="Calibri" pitchFamily="34" charset="-120"/>
              </a:rPr>
              <a:t>45 ÷ 7 = 6.4 mg per day</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B   </a:t>
            </a:r>
            <a:r>
              <a:rPr lang="en-US" sz="1050" dirty="0">
                <a:solidFill>
                  <a:srgbClr val="262B3A"/>
                </a:solidFill>
                <a:latin typeface="Calibri" pitchFamily="34" charset="0"/>
                <a:ea typeface="Calibri" pitchFamily="34" charset="-122"/>
                <a:cs typeface="Calibri" pitchFamily="34" charset="-120"/>
              </a:rPr>
              <a:t>90 ÷ 7 = 13 mg per day</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salt water rusts the nail </a:t>
            </a:r>
            <a:r>
              <a:rPr lang="en-US" sz="1050" b="1" dirty="0">
                <a:solidFill>
                  <a:srgbClr val="C8414C"/>
                </a:solidFill>
                <a:latin typeface="Calibri" pitchFamily="34" charset="0"/>
                <a:ea typeface="Calibri" pitchFamily="34" charset="-122"/>
                <a:cs typeface="Calibri" pitchFamily="34" charset="-120"/>
              </a:rPr>
              <a:t>2.0 times</a:t>
            </a:r>
            <a:r>
              <a:rPr lang="en-US" sz="1050" b="1" dirty="0">
                <a:solidFill>
                  <a:srgbClr val="C8414C"/>
                </a:solidFill>
                <a:latin typeface="Calibri" pitchFamily="34" charset="0"/>
                <a:ea typeface="Calibri" pitchFamily="34" charset="-122"/>
                <a:cs typeface="Calibri" pitchFamily="34" charset="-120"/>
              </a:rPr>
              <a:t> as fast</a:t>
            </a:r>
            <a:endParaRPr lang="en-US" sz="1050" dirty="0"/>
          </a:p>
        </p:txBody>
      </p:sp>
      <p:sp>
        <p:nvSpPr>
          <p:cNvPr id="111" name="Shape 108"/>
          <p:cNvSpPr/>
          <p:nvPr/>
        </p:nvSpPr>
        <p:spPr>
          <a:xfrm>
            <a:off x="6675120" y="2788920"/>
            <a:ext cx="5102352" cy="2926080"/>
          </a:xfrm>
          <a:prstGeom prst="roundRect">
            <a:avLst>
              <a:gd name="adj" fmla="val 1875"/>
            </a:avLst>
          </a:prstGeom>
          <a:solidFill>
            <a:srgbClr val="F8F5FC"/>
          </a:solidFill>
          <a:ln w="9525">
            <a:solidFill>
              <a:srgbClr val="DDD3EC"/>
            </a:solidFill>
            <a:prstDash val="solid"/>
          </a:ln>
        </p:spPr>
      </p:sp>
      <p:sp>
        <p:nvSpPr>
          <p:cNvPr id="112" name="Text 109"/>
          <p:cNvSpPr/>
          <p:nvPr/>
        </p:nvSpPr>
        <p:spPr>
          <a:xfrm>
            <a:off x="6839712" y="288036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Conclusion and errors</a:t>
            </a:r>
            <a:endParaRPr lang="en-US" sz="1300" dirty="0"/>
          </a:p>
        </p:txBody>
      </p:sp>
      <p:sp>
        <p:nvSpPr>
          <p:cNvPr id="113" name="Text 110"/>
          <p:cNvSpPr/>
          <p:nvPr/>
        </p:nvSpPr>
        <p:spPr>
          <a:xfrm>
            <a:off x="6839712" y="3209544"/>
            <a:ext cx="4773168" cy="243230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D</a:t>
            </a:r>
            <a:r>
              <a:rPr lang="en-US" sz="1150" dirty="0">
                <a:solidFill>
                  <a:srgbClr val="262B3A"/>
                </a:solidFill>
                <a:latin typeface="Calibri" pitchFamily="34" charset="0"/>
                <a:ea typeface="Calibri" pitchFamily="34" charset="-122"/>
                <a:cs typeface="Calibri" pitchFamily="34" charset="-120"/>
              </a:rPr>
              <a:t> (zinc) best: 0 mg, zinc corrodes instead. </a:t>
            </a:r>
            <a:r>
              <a:rPr lang="en-US" sz="1150" b="1" dirty="0">
                <a:solidFill>
                  <a:srgbClr val="262B3A"/>
                </a:solidFill>
                <a:latin typeface="Calibri" pitchFamily="34" charset="0"/>
                <a:ea typeface="Calibri" pitchFamily="34" charset="-122"/>
                <a:cs typeface="Calibri" pitchFamily="34" charset="-120"/>
              </a:rPr>
              <a:t>C</a:t>
            </a:r>
            <a:r>
              <a:rPr lang="en-US" sz="1150" dirty="0">
                <a:solidFill>
                  <a:srgbClr val="262B3A"/>
                </a:solidFill>
                <a:latin typeface="Calibri" pitchFamily="34" charset="0"/>
                <a:ea typeface="Calibri" pitchFamily="34" charset="-122"/>
                <a:cs typeface="Calibri" pitchFamily="34" charset="-120"/>
              </a:rPr>
              <a:t> (paint) 3 mg: barrier works until chipped.</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a:t>
            </a:r>
            <a:r>
              <a:rPr lang="en-US" sz="1150" dirty="0">
                <a:solidFill>
                  <a:srgbClr val="262B3A"/>
                </a:solidFill>
                <a:latin typeface="Calibri" pitchFamily="34" charset="0"/>
                <a:ea typeface="Calibri" pitchFamily="34" charset="-122"/>
                <a:cs typeface="Calibri" pitchFamily="34" charset="-120"/>
              </a:rPr>
              <a:t> (copper) 70 mg, </a:t>
            </a:r>
            <a:r>
              <a:rPr lang="en-US" sz="1150" b="1" dirty="0">
                <a:solidFill>
                  <a:srgbClr val="262B3A"/>
                </a:solidFill>
                <a:latin typeface="Calibri" pitchFamily="34" charset="0"/>
                <a:ea typeface="Calibri" pitchFamily="34" charset="-122"/>
                <a:cs typeface="Calibri" pitchFamily="34" charset="-120"/>
              </a:rPr>
              <a:t>more</a:t>
            </a:r>
            <a:r>
              <a:rPr lang="en-US" sz="1150" dirty="0">
                <a:solidFill>
                  <a:srgbClr val="262B3A"/>
                </a:solidFill>
                <a:latin typeface="Calibri" pitchFamily="34" charset="0"/>
                <a:ea typeface="Calibri" pitchFamily="34" charset="-122"/>
                <a:cs typeface="Calibri" pitchFamily="34" charset="-120"/>
              </a:rPr>
              <a:t> than A: a less reactive metal makes iron rust </a:t>
            </a:r>
            <a:r>
              <a:rPr lang="en-US" sz="1150" b="1" dirty="0">
                <a:solidFill>
                  <a:srgbClr val="262B3A"/>
                </a:solidFill>
                <a:latin typeface="Calibri" pitchFamily="34" charset="0"/>
                <a:ea typeface="Calibri" pitchFamily="34" charset="-122"/>
                <a:cs typeface="Calibri" pitchFamily="34" charset="-120"/>
              </a:rPr>
              <a:t>faster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Errors</a:t>
            </a:r>
            <a:r>
              <a:rPr lang="en-US" sz="1150" dirty="0">
                <a:solidFill>
                  <a:srgbClr val="262B3A"/>
                </a:solidFill>
                <a:latin typeface="Calibri" pitchFamily="34" charset="0"/>
                <a:ea typeface="Calibri" pitchFamily="34" charset="-122"/>
                <a:cs typeface="Calibri" pitchFamily="34" charset="-120"/>
              </a:rPr>
              <a:t>: rust flakes fall off (gain too low); nail still wet (too high); nails differ → use one batch.</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Improve</a:t>
            </a:r>
            <a:r>
              <a:rPr lang="en-US" sz="1150" dirty="0">
                <a:solidFill>
                  <a:srgbClr val="262B3A"/>
                </a:solidFill>
                <a:latin typeface="Calibri" pitchFamily="34" charset="0"/>
                <a:ea typeface="Calibri" pitchFamily="34" charset="-122"/>
                <a:cs typeface="Calibri" pitchFamily="34" charset="-120"/>
              </a:rPr>
              <a:t>: 3 nails per tube and find a </a:t>
            </a:r>
            <a:r>
              <a:rPr lang="en-US" sz="1150" b="1" dirty="0">
                <a:solidFill>
                  <a:srgbClr val="262B3A"/>
                </a:solidFill>
                <a:latin typeface="Calibri" pitchFamily="34" charset="0"/>
                <a:ea typeface="Calibri" pitchFamily="34" charset="-122"/>
                <a:cs typeface="Calibri" pitchFamily="34" charset="-120"/>
              </a:rPr>
              <a:t>mean</a:t>
            </a:r>
            <a:r>
              <a:rPr lang="en-US" sz="1150" dirty="0">
                <a:solidFill>
                  <a:srgbClr val="262B3A"/>
                </a:solidFill>
                <a:latin typeface="Calibri" pitchFamily="34" charset="0"/>
                <a:ea typeface="Calibri" pitchFamily="34" charset="-122"/>
                <a:cs typeface="Calibri" pitchFamily="34" charset="-120"/>
              </a:rPr>
              <a:t>; spot anomalies; keep tubes at the same temperature.</a:t>
            </a:r>
            <a:endParaRPr lang="en-US" sz="1150" dirty="0"/>
          </a:p>
        </p:txBody>
      </p:sp>
      <p:sp>
        <p:nvSpPr>
          <p:cNvPr id="114" name="Shape 111"/>
          <p:cNvSpPr/>
          <p:nvPr/>
        </p:nvSpPr>
        <p:spPr>
          <a:xfrm>
            <a:off x="411480" y="5833872"/>
            <a:ext cx="11368735" cy="530352"/>
          </a:xfrm>
          <a:prstGeom prst="rect">
            <a:avLst/>
          </a:prstGeom>
          <a:solidFill>
            <a:srgbClr val="FFF4E0"/>
          </a:solidFill>
          <a:ln w="6350">
            <a:solidFill>
              <a:srgbClr val="F1D9A8"/>
            </a:solidFill>
            <a:prstDash val="solid"/>
          </a:ln>
        </p:spPr>
      </p:sp>
      <p:sp>
        <p:nvSpPr>
          <p:cNvPr id="115" name="Shape 112"/>
          <p:cNvSpPr/>
          <p:nvPr/>
        </p:nvSpPr>
        <p:spPr>
          <a:xfrm>
            <a:off x="411480" y="5833872"/>
            <a:ext cx="82296" cy="530352"/>
          </a:xfrm>
          <a:prstGeom prst="rect">
            <a:avLst/>
          </a:prstGeom>
          <a:solidFill>
            <a:srgbClr val="E39A2F"/>
          </a:solidFill>
          <a:ln w="12700">
            <a:solidFill>
              <a:srgbClr val="E39A2F"/>
            </a:solidFill>
            <a:prstDash val="solid"/>
          </a:ln>
        </p:spPr>
      </p:sp>
      <p:sp>
        <p:nvSpPr>
          <p:cNvPr id="116" name="Text 11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how much mass did nail </a:t>
            </a: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gain between day </a:t>
            </a:r>
            <a:r>
              <a:rPr lang="en-US" sz="1150" b="1" dirty="0">
                <a:solidFill>
                  <a:srgbClr val="262B3A"/>
                </a:solidFill>
                <a:latin typeface="Calibri" pitchFamily="34" charset="0"/>
                <a:ea typeface="Calibri" pitchFamily="34" charset="-122"/>
                <a:cs typeface="Calibri" pitchFamily="34" charset="-120"/>
              </a:rPr>
              <a:t>2</a:t>
            </a:r>
            <a:r>
              <a:rPr lang="en-US" sz="1150" dirty="0">
                <a:solidFill>
                  <a:srgbClr val="262B3A"/>
                </a:solidFill>
                <a:latin typeface="Calibri" pitchFamily="34" charset="0"/>
                <a:ea typeface="Calibri" pitchFamily="34" charset="-122"/>
                <a:cs typeface="Calibri" pitchFamily="34" charset="-120"/>
              </a:rPr>
              <a:t> and day </a:t>
            </a:r>
            <a:r>
              <a:rPr lang="en-US" sz="1150" b="1" dirty="0">
                <a:solidFill>
                  <a:srgbClr val="262B3A"/>
                </a:solidFill>
                <a:latin typeface="Calibri" pitchFamily="34" charset="0"/>
                <a:ea typeface="Calibri" pitchFamily="34" charset="-122"/>
                <a:cs typeface="Calibri" pitchFamily="34" charset="-120"/>
              </a:rPr>
              <a:t>5</a:t>
            </a:r>
            <a:r>
              <a:rPr lang="en-US" sz="1150" dirty="0">
                <a:solidFill>
                  <a:srgbClr val="262B3A"/>
                </a:solidFill>
                <a:latin typeface="Calibri" pitchFamily="34" charset="0"/>
                <a:ea typeface="Calibri" pitchFamily="34" charset="-122"/>
                <a:cs typeface="Calibri" pitchFamily="34" charset="-120"/>
              </a:rPr>
              <a:t>? Explain why tube </a:t>
            </a:r>
            <a:r>
              <a:rPr lang="en-US" sz="1150" b="1" dirty="0">
                <a:solidFill>
                  <a:srgbClr val="262B3A"/>
                </a:solidFill>
                <a:latin typeface="Calibri" pitchFamily="34" charset="0"/>
                <a:ea typeface="Calibri" pitchFamily="34" charset="-122"/>
                <a:cs typeface="Calibri" pitchFamily="34" charset="-120"/>
              </a:rPr>
              <a:t>E</a:t>
            </a:r>
            <a:r>
              <a:rPr lang="en-US" sz="1150" dirty="0">
                <a:solidFill>
                  <a:srgbClr val="262B3A"/>
                </a:solidFill>
                <a:latin typeface="Calibri" pitchFamily="34" charset="0"/>
                <a:ea typeface="Calibri" pitchFamily="34" charset="-122"/>
                <a:cs typeface="Calibri" pitchFamily="34" charset="-120"/>
              </a:rPr>
              <a:t> gained </a:t>
            </a:r>
            <a:r>
              <a:rPr lang="en-US" sz="1150" b="1" dirty="0">
                <a:solidFill>
                  <a:srgbClr val="262B3A"/>
                </a:solidFill>
                <a:latin typeface="Calibri" pitchFamily="34" charset="0"/>
                <a:ea typeface="Calibri" pitchFamily="34" charset="-122"/>
                <a:cs typeface="Calibri" pitchFamily="34" charset="-120"/>
              </a:rPr>
              <a:t>more</a:t>
            </a:r>
            <a:r>
              <a:rPr lang="en-US" sz="1150" dirty="0">
                <a:solidFill>
                  <a:srgbClr val="262B3A"/>
                </a:solidFill>
                <a:latin typeface="Calibri" pitchFamily="34" charset="0"/>
                <a:ea typeface="Calibri" pitchFamily="34" charset="-122"/>
                <a:cs typeface="Calibri" pitchFamily="34" charset="-120"/>
              </a:rPr>
              <a:t> mass than tube </a:t>
            </a:r>
            <a:r>
              <a:rPr lang="en-US" sz="1150" b="1" dirty="0">
                <a:solidFill>
                  <a:srgbClr val="262B3A"/>
                </a:solidFill>
                <a:latin typeface="Calibri" pitchFamily="34" charset="0"/>
                <a:ea typeface="Calibri" pitchFamily="34" charset="-122"/>
                <a:cs typeface="Calibri" pitchFamily="34" charset="-120"/>
              </a:rPr>
              <a:t>A</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C4.4.1 • the corrosion practical</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13</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nail of mass </a:t>
            </a:r>
            <a:r>
              <a:rPr lang="en-US" sz="1250" b="1" dirty="0">
                <a:solidFill>
                  <a:srgbClr val="262B3A"/>
                </a:solidFill>
                <a:latin typeface="Calibri" pitchFamily="34" charset="0"/>
                <a:ea typeface="Calibri" pitchFamily="34" charset="-122"/>
                <a:cs typeface="Calibri" pitchFamily="34" charset="-120"/>
              </a:rPr>
              <a:t>5.00 g</a:t>
            </a:r>
            <a:r>
              <a:rPr lang="en-US" sz="1250" dirty="0">
                <a:solidFill>
                  <a:srgbClr val="262B3A"/>
                </a:solidFill>
                <a:latin typeface="Calibri" pitchFamily="34" charset="0"/>
                <a:ea typeface="Calibri" pitchFamily="34" charset="-122"/>
                <a:cs typeface="Calibri" pitchFamily="34" charset="-120"/>
              </a:rPr>
              <a:t> has a mass of </a:t>
            </a:r>
            <a:r>
              <a:rPr lang="en-US" sz="1250" b="1" dirty="0">
                <a:solidFill>
                  <a:srgbClr val="262B3A"/>
                </a:solidFill>
                <a:latin typeface="Calibri" pitchFamily="34" charset="0"/>
                <a:ea typeface="Calibri" pitchFamily="34" charset="-122"/>
                <a:cs typeface="Calibri" pitchFamily="34" charset="-120"/>
              </a:rPr>
              <a:t>5.06 g</a:t>
            </a:r>
            <a:r>
              <a:rPr lang="en-US" sz="1250" dirty="0">
                <a:solidFill>
                  <a:srgbClr val="262B3A"/>
                </a:solidFill>
                <a:latin typeface="Calibri" pitchFamily="34" charset="0"/>
                <a:ea typeface="Calibri" pitchFamily="34" charset="-122"/>
                <a:cs typeface="Calibri" pitchFamily="34" charset="-120"/>
              </a:rPr>
              <a:t> after one week. Calculate the percentage increase in mass.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variables that must be </a:t>
            </a:r>
            <a:r>
              <a:rPr lang="en-US" sz="1250" b="1" dirty="0">
                <a:solidFill>
                  <a:srgbClr val="262B3A"/>
                </a:solidFill>
                <a:latin typeface="Calibri" pitchFamily="34" charset="0"/>
                <a:ea typeface="Calibri" pitchFamily="34" charset="-122"/>
                <a:cs typeface="Calibri" pitchFamily="34" charset="-120"/>
              </a:rPr>
              <a:t>controlled</a:t>
            </a:r>
            <a:r>
              <a:rPr lang="en-US" sz="1250" dirty="0">
                <a:solidFill>
                  <a:srgbClr val="262B3A"/>
                </a:solidFill>
                <a:latin typeface="Calibri" pitchFamily="34" charset="0"/>
                <a:ea typeface="Calibri" pitchFamily="34" charset="-122"/>
                <a:cs typeface="Calibri" pitchFamily="34" charset="-120"/>
              </a:rPr>
              <a:t> in the corrosion practical.</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student found the mass gain was </a:t>
            </a:r>
            <a:r>
              <a:rPr lang="en-US" sz="1250" b="1" dirty="0">
                <a:solidFill>
                  <a:srgbClr val="262B3A"/>
                </a:solidFill>
                <a:latin typeface="Calibri" pitchFamily="34" charset="0"/>
                <a:ea typeface="Calibri" pitchFamily="34" charset="-122"/>
                <a:cs typeface="Calibri" pitchFamily="34" charset="-120"/>
              </a:rPr>
              <a:t>lower</a:t>
            </a:r>
            <a:r>
              <a:rPr lang="en-US" sz="1250" dirty="0">
                <a:solidFill>
                  <a:srgbClr val="262B3A"/>
                </a:solidFill>
                <a:latin typeface="Calibri" pitchFamily="34" charset="0"/>
                <a:ea typeface="Calibri" pitchFamily="34" charset="-122"/>
                <a:cs typeface="Calibri" pitchFamily="34" charset="-120"/>
              </a:rPr>
              <a:t> than expected, and suggest an improvement.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zinc-wrapped nail gained </a:t>
            </a:r>
            <a:r>
              <a:rPr lang="en-US" sz="1250" b="1" dirty="0">
                <a:solidFill>
                  <a:srgbClr val="262B3A"/>
                </a:solidFill>
                <a:latin typeface="Calibri" pitchFamily="34" charset="0"/>
                <a:ea typeface="Calibri" pitchFamily="34" charset="-122"/>
                <a:cs typeface="Calibri" pitchFamily="34" charset="-120"/>
              </a:rPr>
              <a:t>0 mg</a:t>
            </a:r>
            <a:r>
              <a:rPr lang="en-US" sz="1250" dirty="0">
                <a:solidFill>
                  <a:srgbClr val="262B3A"/>
                </a:solidFill>
                <a:latin typeface="Calibri" pitchFamily="34" charset="0"/>
                <a:ea typeface="Calibri" pitchFamily="34" charset="-122"/>
                <a:cs typeface="Calibri" pitchFamily="34" charset="-120"/>
              </a:rPr>
              <a:t>. A copper-wrapped nail gained </a:t>
            </a:r>
            <a:r>
              <a:rPr lang="en-US" sz="1250" b="1" dirty="0">
                <a:solidFill>
                  <a:srgbClr val="262B3A"/>
                </a:solidFill>
                <a:latin typeface="Calibri" pitchFamily="34" charset="0"/>
                <a:ea typeface="Calibri" pitchFamily="34" charset="-122"/>
                <a:cs typeface="Calibri" pitchFamily="34" charset="-120"/>
              </a:rPr>
              <a:t>70 mg</a:t>
            </a:r>
            <a:r>
              <a:rPr lang="en-US" sz="1250" dirty="0">
                <a:solidFill>
                  <a:srgbClr val="262B3A"/>
                </a:solidFill>
                <a:latin typeface="Calibri" pitchFamily="34" charset="0"/>
                <a:ea typeface="Calibri" pitchFamily="34" charset="-122"/>
                <a:cs typeface="Calibri" pitchFamily="34" charset="-120"/>
              </a:rPr>
              <a:t>. Explain the difference.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Life-cycle assessment (LCA)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C4.4.4 • the basic principles: water, energy and environmental impact at each stage</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C4.4.4  |  14</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four stages of a life cycle, with inputs and outputs</a:t>
            </a:r>
            <a:endParaRPr lang="en-US" sz="1000" dirty="0"/>
          </a:p>
        </p:txBody>
      </p:sp>
      <p:sp>
        <p:nvSpPr>
          <p:cNvPr id="10" name="Shape 8"/>
          <p:cNvSpPr/>
          <p:nvPr/>
        </p:nvSpPr>
        <p:spPr>
          <a:xfrm>
            <a:off x="731520" y="1463040"/>
            <a:ext cx="1920240" cy="822960"/>
          </a:xfrm>
          <a:prstGeom prst="roundRect">
            <a:avLst>
              <a:gd name="adj" fmla="val 8889"/>
            </a:avLst>
          </a:prstGeom>
          <a:solidFill>
            <a:srgbClr val="8E7CC3"/>
          </a:solidFill>
          <a:ln w="9525">
            <a:solidFill>
              <a:srgbClr val="2A1F3D"/>
            </a:solidFill>
            <a:prstDash val="solid"/>
          </a:ln>
        </p:spPr>
      </p:sp>
      <p:sp>
        <p:nvSpPr>
          <p:cNvPr id="11" name="Text 9"/>
          <p:cNvSpPr/>
          <p:nvPr/>
        </p:nvSpPr>
        <p:spPr>
          <a:xfrm>
            <a:off x="777240" y="1490472"/>
            <a:ext cx="18288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Raw materials</a:t>
            </a:r>
            <a:endParaRPr lang="en-US" sz="1100" dirty="0"/>
          </a:p>
        </p:txBody>
      </p:sp>
      <p:sp>
        <p:nvSpPr>
          <p:cNvPr id="12" name="Text 10"/>
          <p:cNvSpPr/>
          <p:nvPr/>
        </p:nvSpPr>
        <p:spPr>
          <a:xfrm>
            <a:off x="777240" y="1783080"/>
            <a:ext cx="182880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mining, quarrying, crude oil, trees</a:t>
            </a:r>
            <a:endParaRPr lang="en-US" sz="1000" dirty="0"/>
          </a:p>
        </p:txBody>
      </p:sp>
      <p:sp>
        <p:nvSpPr>
          <p:cNvPr id="13" name="Shape 11"/>
          <p:cNvSpPr/>
          <p:nvPr/>
        </p:nvSpPr>
        <p:spPr>
          <a:xfrm>
            <a:off x="3566160" y="1463040"/>
            <a:ext cx="1920240" cy="822960"/>
          </a:xfrm>
          <a:prstGeom prst="roundRect">
            <a:avLst>
              <a:gd name="adj" fmla="val 8889"/>
            </a:avLst>
          </a:prstGeom>
          <a:solidFill>
            <a:srgbClr val="6A3FA0"/>
          </a:solidFill>
          <a:ln w="9525">
            <a:solidFill>
              <a:srgbClr val="2A1F3D"/>
            </a:solidFill>
            <a:prstDash val="solid"/>
          </a:ln>
        </p:spPr>
      </p:sp>
      <p:sp>
        <p:nvSpPr>
          <p:cNvPr id="14" name="Text 12"/>
          <p:cNvSpPr/>
          <p:nvPr/>
        </p:nvSpPr>
        <p:spPr>
          <a:xfrm>
            <a:off x="3611880" y="1490472"/>
            <a:ext cx="18288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Manufacture</a:t>
            </a:r>
            <a:endParaRPr lang="en-US" sz="1100" dirty="0"/>
          </a:p>
        </p:txBody>
      </p:sp>
      <p:sp>
        <p:nvSpPr>
          <p:cNvPr id="15" name="Text 13"/>
          <p:cNvSpPr/>
          <p:nvPr/>
        </p:nvSpPr>
        <p:spPr>
          <a:xfrm>
            <a:off x="3611880" y="1783080"/>
            <a:ext cx="182880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making the material and product</a:t>
            </a:r>
            <a:endParaRPr lang="en-US" sz="1000" dirty="0"/>
          </a:p>
        </p:txBody>
      </p:sp>
      <p:sp>
        <p:nvSpPr>
          <p:cNvPr id="16" name="Shape 14"/>
          <p:cNvSpPr/>
          <p:nvPr/>
        </p:nvSpPr>
        <p:spPr>
          <a:xfrm>
            <a:off x="3566160" y="3474720"/>
            <a:ext cx="1920240" cy="822960"/>
          </a:xfrm>
          <a:prstGeom prst="roundRect">
            <a:avLst>
              <a:gd name="adj" fmla="val 8889"/>
            </a:avLst>
          </a:prstGeom>
          <a:solidFill>
            <a:srgbClr val="E39A2F"/>
          </a:solidFill>
          <a:ln w="9525">
            <a:solidFill>
              <a:srgbClr val="2A1F3D"/>
            </a:solidFill>
            <a:prstDash val="solid"/>
          </a:ln>
        </p:spPr>
      </p:sp>
      <p:sp>
        <p:nvSpPr>
          <p:cNvPr id="17" name="Text 15"/>
          <p:cNvSpPr/>
          <p:nvPr/>
        </p:nvSpPr>
        <p:spPr>
          <a:xfrm>
            <a:off x="3611880" y="3502152"/>
            <a:ext cx="18288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 Use</a:t>
            </a:r>
            <a:endParaRPr lang="en-US" sz="1100" dirty="0"/>
          </a:p>
        </p:txBody>
      </p:sp>
      <p:sp>
        <p:nvSpPr>
          <p:cNvPr id="18" name="Text 16"/>
          <p:cNvSpPr/>
          <p:nvPr/>
        </p:nvSpPr>
        <p:spPr>
          <a:xfrm>
            <a:off x="3611880" y="3794760"/>
            <a:ext cx="182880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energy, water, repairs</a:t>
            </a:r>
            <a:endParaRPr lang="en-US" sz="1000" dirty="0"/>
          </a:p>
        </p:txBody>
      </p:sp>
      <p:sp>
        <p:nvSpPr>
          <p:cNvPr id="19" name="Shape 17"/>
          <p:cNvSpPr/>
          <p:nvPr/>
        </p:nvSpPr>
        <p:spPr>
          <a:xfrm>
            <a:off x="731520" y="3474720"/>
            <a:ext cx="1920240" cy="822960"/>
          </a:xfrm>
          <a:prstGeom prst="roundRect">
            <a:avLst>
              <a:gd name="adj" fmla="val 8889"/>
            </a:avLst>
          </a:prstGeom>
          <a:solidFill>
            <a:srgbClr val="7D8794"/>
          </a:solidFill>
          <a:ln w="9525">
            <a:solidFill>
              <a:srgbClr val="2A1F3D"/>
            </a:solidFill>
            <a:prstDash val="solid"/>
          </a:ln>
        </p:spPr>
      </p:sp>
      <p:sp>
        <p:nvSpPr>
          <p:cNvPr id="20" name="Text 18"/>
          <p:cNvSpPr/>
          <p:nvPr/>
        </p:nvSpPr>
        <p:spPr>
          <a:xfrm>
            <a:off x="777240" y="3502152"/>
            <a:ext cx="18288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Disposal</a:t>
            </a:r>
            <a:endParaRPr lang="en-US" sz="1100" dirty="0"/>
          </a:p>
        </p:txBody>
      </p:sp>
      <p:sp>
        <p:nvSpPr>
          <p:cNvPr id="21" name="Text 19"/>
          <p:cNvSpPr/>
          <p:nvPr/>
        </p:nvSpPr>
        <p:spPr>
          <a:xfrm>
            <a:off x="777240" y="3794760"/>
            <a:ext cx="1828800" cy="457200"/>
          </a:xfrm>
          <a:prstGeom prst="rect">
            <a:avLst/>
          </a:prstGeom>
          <a:noFill/>
          <a:ln/>
        </p:spPr>
        <p:txBody>
          <a:bodyPr wrap="square" lIns="0" tIns="0" rIns="0" bIns="0" rtlCol="0" anchor="t"/>
          <a:lstStyle/>
          <a:p>
            <a:pPr algn="ctr" indent="0" marL="0">
              <a:buNone/>
            </a:pPr>
            <a:r>
              <a:rPr lang="en-US" sz="1000" dirty="0">
                <a:solidFill>
                  <a:srgbClr val="FFFFFF"/>
                </a:solidFill>
                <a:latin typeface="Calibri" pitchFamily="34" charset="0"/>
                <a:ea typeface="Calibri" pitchFamily="34" charset="-122"/>
                <a:cs typeface="Calibri" pitchFamily="34" charset="-120"/>
              </a:rPr>
              <a:t>reuse, recycle, incinerate, landfill</a:t>
            </a:r>
            <a:endParaRPr lang="en-US" sz="1000" dirty="0"/>
          </a:p>
        </p:txBody>
      </p:sp>
      <p:sp>
        <p:nvSpPr>
          <p:cNvPr id="22" name="Shape 20"/>
          <p:cNvSpPr/>
          <p:nvPr/>
        </p:nvSpPr>
        <p:spPr>
          <a:xfrm>
            <a:off x="2697480" y="1874520"/>
            <a:ext cx="822960" cy="91"/>
          </a:xfrm>
          <a:prstGeom prst="line">
            <a:avLst/>
          </a:prstGeom>
          <a:noFill/>
          <a:ln w="25400">
            <a:solidFill>
              <a:srgbClr val="2A1F3D"/>
            </a:solidFill>
            <a:prstDash val="solid"/>
            <a:tailEnd type="triangle"/>
          </a:ln>
        </p:spPr>
      </p:sp>
      <p:sp>
        <p:nvSpPr>
          <p:cNvPr id="23" name="Shape 21"/>
          <p:cNvSpPr/>
          <p:nvPr/>
        </p:nvSpPr>
        <p:spPr>
          <a:xfrm>
            <a:off x="4526280" y="2331720"/>
            <a:ext cx="91" cy="1097280"/>
          </a:xfrm>
          <a:prstGeom prst="line">
            <a:avLst/>
          </a:prstGeom>
          <a:noFill/>
          <a:ln w="25400">
            <a:solidFill>
              <a:srgbClr val="2A1F3D"/>
            </a:solidFill>
            <a:prstDash val="solid"/>
            <a:tailEnd type="triangle"/>
          </a:ln>
        </p:spPr>
      </p:sp>
      <p:sp>
        <p:nvSpPr>
          <p:cNvPr id="24" name="Shape 22"/>
          <p:cNvSpPr/>
          <p:nvPr/>
        </p:nvSpPr>
        <p:spPr>
          <a:xfrm flipH="1">
            <a:off x="2697480" y="3886200"/>
            <a:ext cx="822960" cy="91"/>
          </a:xfrm>
          <a:prstGeom prst="line">
            <a:avLst/>
          </a:prstGeom>
          <a:noFill/>
          <a:ln w="25400">
            <a:solidFill>
              <a:srgbClr val="2A1F3D"/>
            </a:solidFill>
            <a:prstDash val="solid"/>
            <a:tailEnd type="triangle"/>
          </a:ln>
        </p:spPr>
      </p:sp>
      <p:sp>
        <p:nvSpPr>
          <p:cNvPr id="25" name="Shape 23"/>
          <p:cNvSpPr/>
          <p:nvPr/>
        </p:nvSpPr>
        <p:spPr>
          <a:xfrm flipV="1">
            <a:off x="1691640" y="2331720"/>
            <a:ext cx="91" cy="1097280"/>
          </a:xfrm>
          <a:prstGeom prst="line">
            <a:avLst/>
          </a:prstGeom>
          <a:noFill/>
          <a:ln w="25400">
            <a:solidFill>
              <a:srgbClr val="2E8B57"/>
            </a:solidFill>
            <a:prstDash val="dash"/>
            <a:tailEnd type="triangle"/>
          </a:ln>
        </p:spPr>
      </p:sp>
      <p:sp>
        <p:nvSpPr>
          <p:cNvPr id="26" name="Text 24"/>
          <p:cNvSpPr/>
          <p:nvPr/>
        </p:nvSpPr>
        <p:spPr>
          <a:xfrm>
            <a:off x="502920" y="2697480"/>
            <a:ext cx="1143000" cy="457200"/>
          </a:xfrm>
          <a:prstGeom prst="rect">
            <a:avLst/>
          </a:prstGeom>
          <a:noFill/>
          <a:ln/>
        </p:spPr>
        <p:txBody>
          <a:bodyPr wrap="square" lIns="0" tIns="0" rIns="0" bIns="0" rtlCol="0" anchor="ctr"/>
          <a:lstStyle/>
          <a:p>
            <a:pPr algn="r" indent="0" marL="0">
              <a:buNone/>
            </a:pPr>
            <a:r>
              <a:rPr lang="en-US" sz="1000" b="1" dirty="0">
                <a:solidFill>
                  <a:srgbClr val="2E8B57"/>
                </a:solidFill>
                <a:latin typeface="Calibri" pitchFamily="34" charset="0"/>
                <a:ea typeface="Calibri" pitchFamily="34" charset="-122"/>
                <a:cs typeface="Calibri" pitchFamily="34" charset="-120"/>
              </a:rPr>
              <a:t>recycling closes the loop</a:t>
            </a:r>
            <a:endParaRPr lang="en-US" sz="1000" dirty="0"/>
          </a:p>
        </p:txBody>
      </p:sp>
      <p:sp>
        <p:nvSpPr>
          <p:cNvPr id="27" name="Text 25"/>
          <p:cNvSpPr/>
          <p:nvPr/>
        </p:nvSpPr>
        <p:spPr>
          <a:xfrm>
            <a:off x="2743200" y="1600200"/>
            <a:ext cx="73152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transport</a:t>
            </a:r>
            <a:endParaRPr lang="en-US" sz="1000" dirty="0"/>
          </a:p>
        </p:txBody>
      </p:sp>
      <p:sp>
        <p:nvSpPr>
          <p:cNvPr id="28" name="Text 26"/>
          <p:cNvSpPr/>
          <p:nvPr/>
        </p:nvSpPr>
        <p:spPr>
          <a:xfrm>
            <a:off x="2743200" y="3931920"/>
            <a:ext cx="73152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transport</a:t>
            </a:r>
            <a:endParaRPr lang="en-US" sz="1000" dirty="0"/>
          </a:p>
        </p:txBody>
      </p:sp>
      <p:sp>
        <p:nvSpPr>
          <p:cNvPr id="29" name="Shape 27"/>
          <p:cNvSpPr/>
          <p:nvPr/>
        </p:nvSpPr>
        <p:spPr>
          <a:xfrm>
            <a:off x="2468880" y="2560320"/>
            <a:ext cx="1280160" cy="731520"/>
          </a:xfrm>
          <a:prstGeom prst="roundRect">
            <a:avLst>
              <a:gd name="adj" fmla="val 7500"/>
            </a:avLst>
          </a:prstGeom>
          <a:solidFill>
            <a:srgbClr val="E3F0FB"/>
          </a:solidFill>
          <a:ln w="9525">
            <a:solidFill>
              <a:srgbClr val="5B9BD5"/>
            </a:solidFill>
            <a:prstDash val="solid"/>
          </a:ln>
        </p:spPr>
      </p:sp>
      <p:sp>
        <p:nvSpPr>
          <p:cNvPr id="30" name="Text 28"/>
          <p:cNvSpPr/>
          <p:nvPr/>
        </p:nvSpPr>
        <p:spPr>
          <a:xfrm>
            <a:off x="2523744" y="2560320"/>
            <a:ext cx="1170432" cy="73152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In</a:t>
            </a:r>
            <a:r>
              <a:rPr lang="en-US" sz="1000" dirty="0">
                <a:solidFill>
                  <a:srgbClr val="262B3A"/>
                </a:solidFill>
                <a:latin typeface="Calibri" pitchFamily="34" charset="0"/>
                <a:ea typeface="Calibri" pitchFamily="34" charset="-122"/>
                <a:cs typeface="Calibri" pitchFamily="34" charset="-120"/>
              </a:rPr>
              <a:t>: energy, water, raw materials</a:t>
            </a:r>
            <a:endParaRPr lang="en-US" sz="1000" dirty="0"/>
          </a:p>
        </p:txBody>
      </p:sp>
      <p:sp>
        <p:nvSpPr>
          <p:cNvPr id="31" name="Shape 29"/>
          <p:cNvSpPr/>
          <p:nvPr/>
        </p:nvSpPr>
        <p:spPr>
          <a:xfrm>
            <a:off x="3840480" y="2560320"/>
            <a:ext cx="1280160" cy="731520"/>
          </a:xfrm>
          <a:prstGeom prst="roundRect">
            <a:avLst>
              <a:gd name="adj" fmla="val 7500"/>
            </a:avLst>
          </a:prstGeom>
          <a:solidFill>
            <a:srgbClr val="FBE3E4"/>
          </a:solidFill>
          <a:ln w="9525">
            <a:solidFill>
              <a:srgbClr val="C8414C"/>
            </a:solidFill>
            <a:prstDash val="solid"/>
          </a:ln>
        </p:spPr>
      </p:sp>
      <p:sp>
        <p:nvSpPr>
          <p:cNvPr id="32" name="Text 30"/>
          <p:cNvSpPr/>
          <p:nvPr/>
        </p:nvSpPr>
        <p:spPr>
          <a:xfrm>
            <a:off x="3895344" y="2560320"/>
            <a:ext cx="1170432" cy="73152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Out</a:t>
            </a:r>
            <a:r>
              <a:rPr lang="en-US" sz="1000" dirty="0">
                <a:solidFill>
                  <a:srgbClr val="262B3A"/>
                </a:solidFill>
                <a:latin typeface="Calibri" pitchFamily="34" charset="0"/>
                <a:ea typeface="Calibri" pitchFamily="34" charset="-122"/>
                <a:cs typeface="Calibri" pitchFamily="34" charset="-120"/>
              </a:rPr>
              <a:t>: CO₂, pollution, waste</a:t>
            </a:r>
            <a:endParaRPr lang="en-US" sz="1000" dirty="0"/>
          </a:p>
        </p:txBody>
      </p:sp>
      <p:sp>
        <p:nvSpPr>
          <p:cNvPr id="33" name="Text 31"/>
          <p:cNvSpPr/>
          <p:nvPr/>
        </p:nvSpPr>
        <p:spPr>
          <a:xfrm>
            <a:off x="548640" y="4572000"/>
            <a:ext cx="5303520" cy="219456"/>
          </a:xfrm>
          <a:prstGeom prst="rect">
            <a:avLst/>
          </a:prstGeom>
          <a:noFill/>
          <a:ln/>
        </p:spPr>
        <p:txBody>
          <a:bodyPr wrap="square" lIns="0" tIns="0" rIns="0" bIns="0" rtlCol="0" anchor="ctr"/>
          <a:lstStyle/>
          <a:p>
            <a:pPr algn="ctr" indent="0" marL="0">
              <a:buNone/>
            </a:pPr>
            <a:r>
              <a:rPr lang="en-US" sz="1050" b="1" dirty="0">
                <a:solidFill>
                  <a:srgbClr val="2A1F3D"/>
                </a:solidFill>
                <a:latin typeface="Calibri" pitchFamily="34" charset="0"/>
                <a:ea typeface="Calibri" pitchFamily="34" charset="-122"/>
                <a:cs typeface="Calibri" pitchFamily="34" charset="-120"/>
              </a:rPr>
              <a:t>Example: a glass bottle (MJ per bottle)</a:t>
            </a:r>
            <a:endParaRPr lang="en-US" sz="1050" dirty="0"/>
          </a:p>
        </p:txBody>
      </p:sp>
      <p:sp>
        <p:nvSpPr>
          <p:cNvPr id="34" name="Shape 32"/>
          <p:cNvSpPr/>
          <p:nvPr/>
        </p:nvSpPr>
        <p:spPr>
          <a:xfrm>
            <a:off x="685800" y="4846320"/>
            <a:ext cx="1188720" cy="457200"/>
          </a:xfrm>
          <a:prstGeom prst="roundRect">
            <a:avLst>
              <a:gd name="adj" fmla="val 12000"/>
            </a:avLst>
          </a:prstGeom>
          <a:solidFill>
            <a:srgbClr val="F8F5FC"/>
          </a:solidFill>
          <a:ln w="12700">
            <a:solidFill>
              <a:srgbClr val="8E7CC3"/>
            </a:solidFill>
            <a:prstDash val="solid"/>
          </a:ln>
        </p:spPr>
      </p:sp>
      <p:sp>
        <p:nvSpPr>
          <p:cNvPr id="35" name="Text 33"/>
          <p:cNvSpPr/>
          <p:nvPr/>
        </p:nvSpPr>
        <p:spPr>
          <a:xfrm>
            <a:off x="740664" y="4846320"/>
            <a:ext cx="1078992" cy="4572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Raw materials
</a:t>
            </a:r>
            <a:r>
              <a:rPr lang="en-US" sz="1000" b="1" dirty="0">
                <a:solidFill>
                  <a:srgbClr val="262B3A"/>
                </a:solidFill>
                <a:latin typeface="Calibri" pitchFamily="34" charset="0"/>
                <a:ea typeface="Calibri" pitchFamily="34" charset="-122"/>
                <a:cs typeface="Calibri" pitchFamily="34" charset="-120"/>
              </a:rPr>
              <a:t>1.2</a:t>
            </a:r>
            <a:endParaRPr lang="en-US" sz="1000" dirty="0"/>
          </a:p>
        </p:txBody>
      </p:sp>
      <p:sp>
        <p:nvSpPr>
          <p:cNvPr id="36" name="Shape 34"/>
          <p:cNvSpPr/>
          <p:nvPr/>
        </p:nvSpPr>
        <p:spPr>
          <a:xfrm>
            <a:off x="1984248" y="4846320"/>
            <a:ext cx="1188720" cy="457200"/>
          </a:xfrm>
          <a:prstGeom prst="roundRect">
            <a:avLst>
              <a:gd name="adj" fmla="val 12000"/>
            </a:avLst>
          </a:prstGeom>
          <a:solidFill>
            <a:srgbClr val="FFFFFF"/>
          </a:solidFill>
          <a:ln w="12700">
            <a:solidFill>
              <a:srgbClr val="6A3FA0"/>
            </a:solidFill>
            <a:prstDash val="solid"/>
          </a:ln>
        </p:spPr>
      </p:sp>
      <p:sp>
        <p:nvSpPr>
          <p:cNvPr id="37" name="Text 35"/>
          <p:cNvSpPr/>
          <p:nvPr/>
        </p:nvSpPr>
        <p:spPr>
          <a:xfrm>
            <a:off x="2039112" y="4846320"/>
            <a:ext cx="1078992" cy="4572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Manufacture
</a:t>
            </a:r>
            <a:r>
              <a:rPr lang="en-US" sz="1000" b="1" dirty="0">
                <a:solidFill>
                  <a:srgbClr val="262B3A"/>
                </a:solidFill>
                <a:latin typeface="Calibri" pitchFamily="34" charset="0"/>
                <a:ea typeface="Calibri" pitchFamily="34" charset="-122"/>
                <a:cs typeface="Calibri" pitchFamily="34" charset="-120"/>
              </a:rPr>
              <a:t>2.6</a:t>
            </a:r>
            <a:endParaRPr lang="en-US" sz="1000" dirty="0"/>
          </a:p>
        </p:txBody>
      </p:sp>
      <p:sp>
        <p:nvSpPr>
          <p:cNvPr id="38" name="Shape 36"/>
          <p:cNvSpPr/>
          <p:nvPr/>
        </p:nvSpPr>
        <p:spPr>
          <a:xfrm>
            <a:off x="3282696" y="4846320"/>
            <a:ext cx="1188720" cy="457200"/>
          </a:xfrm>
          <a:prstGeom prst="roundRect">
            <a:avLst>
              <a:gd name="adj" fmla="val 12000"/>
            </a:avLst>
          </a:prstGeom>
          <a:solidFill>
            <a:srgbClr val="F8F5FC"/>
          </a:solidFill>
          <a:ln w="12700">
            <a:solidFill>
              <a:srgbClr val="E39A2F"/>
            </a:solidFill>
            <a:prstDash val="solid"/>
          </a:ln>
        </p:spPr>
      </p:sp>
      <p:sp>
        <p:nvSpPr>
          <p:cNvPr id="39" name="Text 37"/>
          <p:cNvSpPr/>
          <p:nvPr/>
        </p:nvSpPr>
        <p:spPr>
          <a:xfrm>
            <a:off x="3337560" y="4846320"/>
            <a:ext cx="1078992" cy="4572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Transport
</a:t>
            </a:r>
            <a:r>
              <a:rPr lang="en-US" sz="1000" b="1" dirty="0">
                <a:solidFill>
                  <a:srgbClr val="262B3A"/>
                </a:solidFill>
                <a:latin typeface="Calibri" pitchFamily="34" charset="0"/>
                <a:ea typeface="Calibri" pitchFamily="34" charset="-122"/>
                <a:cs typeface="Calibri" pitchFamily="34" charset="-120"/>
              </a:rPr>
              <a:t>0.7</a:t>
            </a:r>
            <a:endParaRPr lang="en-US" sz="1000" dirty="0"/>
          </a:p>
        </p:txBody>
      </p:sp>
      <p:sp>
        <p:nvSpPr>
          <p:cNvPr id="40" name="Shape 38"/>
          <p:cNvSpPr/>
          <p:nvPr/>
        </p:nvSpPr>
        <p:spPr>
          <a:xfrm>
            <a:off x="4581144" y="4846320"/>
            <a:ext cx="1188720" cy="457200"/>
          </a:xfrm>
          <a:prstGeom prst="roundRect">
            <a:avLst>
              <a:gd name="adj" fmla="val 12000"/>
            </a:avLst>
          </a:prstGeom>
          <a:solidFill>
            <a:srgbClr val="FFFFFF"/>
          </a:solidFill>
          <a:ln w="12700">
            <a:solidFill>
              <a:srgbClr val="7D8794"/>
            </a:solidFill>
            <a:prstDash val="solid"/>
          </a:ln>
        </p:spPr>
      </p:sp>
      <p:sp>
        <p:nvSpPr>
          <p:cNvPr id="41" name="Text 39"/>
          <p:cNvSpPr/>
          <p:nvPr/>
        </p:nvSpPr>
        <p:spPr>
          <a:xfrm>
            <a:off x="4636008" y="4846320"/>
            <a:ext cx="1078992" cy="45720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Disposal
</a:t>
            </a:r>
            <a:r>
              <a:rPr lang="en-US" sz="1000" b="1" dirty="0">
                <a:solidFill>
                  <a:srgbClr val="262B3A"/>
                </a:solidFill>
                <a:latin typeface="Calibri" pitchFamily="34" charset="0"/>
                <a:ea typeface="Calibri" pitchFamily="34" charset="-122"/>
                <a:cs typeface="Calibri" pitchFamily="34" charset="-120"/>
              </a:rPr>
              <a:t>0.5</a:t>
            </a:r>
            <a:endParaRPr lang="en-US" sz="1000" dirty="0"/>
          </a:p>
        </p:txBody>
      </p:sp>
      <p:sp>
        <p:nvSpPr>
          <p:cNvPr id="42" name="Shape 40"/>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43" name="Text 4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What an LCA does</a:t>
            </a:r>
            <a:endParaRPr lang="en-US" sz="1300" dirty="0"/>
          </a:p>
        </p:txBody>
      </p:sp>
      <p:sp>
        <p:nvSpPr>
          <p:cNvPr id="44" name="Text 42"/>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An </a:t>
            </a:r>
            <a:r>
              <a:rPr lang="en-US" sz="1100" b="1" dirty="0">
                <a:solidFill>
                  <a:srgbClr val="262B3A"/>
                </a:solidFill>
                <a:latin typeface="Calibri" pitchFamily="34" charset="0"/>
                <a:ea typeface="Calibri" pitchFamily="34" charset="-122"/>
                <a:cs typeface="Calibri" pitchFamily="34" charset="-120"/>
              </a:rPr>
              <a:t>LCA</a:t>
            </a:r>
            <a:r>
              <a:rPr lang="en-US" sz="1100" dirty="0">
                <a:solidFill>
                  <a:srgbClr val="262B3A"/>
                </a:solidFill>
                <a:latin typeface="Calibri" pitchFamily="34" charset="0"/>
                <a:ea typeface="Calibri" pitchFamily="34" charset="-122"/>
                <a:cs typeface="Calibri" pitchFamily="34" charset="-120"/>
              </a:rPr>
              <a:t> assesses the </a:t>
            </a:r>
            <a:r>
              <a:rPr lang="en-US" sz="1100" b="1" dirty="0">
                <a:solidFill>
                  <a:srgbClr val="262B3A"/>
                </a:solidFill>
                <a:latin typeface="Calibri" pitchFamily="34" charset="0"/>
                <a:ea typeface="Calibri" pitchFamily="34" charset="-122"/>
                <a:cs typeface="Calibri" pitchFamily="34" charset="-120"/>
              </a:rPr>
              <a:t>environmental impact</a:t>
            </a:r>
            <a:r>
              <a:rPr lang="en-US" sz="1100" dirty="0">
                <a:solidFill>
                  <a:srgbClr val="262B3A"/>
                </a:solidFill>
                <a:latin typeface="Calibri" pitchFamily="34" charset="0"/>
                <a:ea typeface="Calibri" pitchFamily="34" charset="-122"/>
                <a:cs typeface="Calibri" pitchFamily="34" charset="-120"/>
              </a:rPr>
              <a:t> of a product at </a:t>
            </a:r>
            <a:r>
              <a:rPr lang="en-US" sz="1100" b="1" dirty="0">
                <a:solidFill>
                  <a:srgbClr val="262B3A"/>
                </a:solidFill>
                <a:latin typeface="Calibri" pitchFamily="34" charset="0"/>
                <a:ea typeface="Calibri" pitchFamily="34" charset="-122"/>
                <a:cs typeface="Calibri" pitchFamily="34" charset="-120"/>
              </a:rPr>
              <a:t>every stage</a:t>
            </a:r>
            <a:r>
              <a:rPr lang="en-US" sz="1100" dirty="0">
                <a:solidFill>
                  <a:srgbClr val="262B3A"/>
                </a:solidFill>
                <a:latin typeface="Calibri" pitchFamily="34" charset="0"/>
                <a:ea typeface="Calibri" pitchFamily="34" charset="-122"/>
                <a:cs typeface="Calibri" pitchFamily="34" charset="-120"/>
              </a:rPr>
              <a:t> of its life: “cradle to grave”.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At each stage it counts the </a:t>
            </a:r>
            <a:r>
              <a:rPr lang="en-US" sz="1100" b="1" dirty="0">
                <a:solidFill>
                  <a:srgbClr val="262B3A"/>
                </a:solidFill>
                <a:latin typeface="Calibri" pitchFamily="34" charset="0"/>
                <a:ea typeface="Calibri" pitchFamily="34" charset="-122"/>
                <a:cs typeface="Calibri" pitchFamily="34" charset="-120"/>
              </a:rPr>
              <a:t>energy</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 used, the </a:t>
            </a:r>
            <a:r>
              <a:rPr lang="en-US" sz="1100" b="1" dirty="0">
                <a:solidFill>
                  <a:srgbClr val="262B3A"/>
                </a:solidFill>
                <a:latin typeface="Calibri" pitchFamily="34" charset="0"/>
                <a:ea typeface="Calibri" pitchFamily="34" charset="-122"/>
                <a:cs typeface="Calibri" pitchFamily="34" charset="-120"/>
              </a:rPr>
              <a:t>raw materials</a:t>
            </a:r>
            <a:r>
              <a:rPr lang="en-US" sz="1100" dirty="0">
                <a:solidFill>
                  <a:srgbClr val="262B3A"/>
                </a:solidFill>
                <a:latin typeface="Calibri" pitchFamily="34" charset="0"/>
                <a:ea typeface="Calibri" pitchFamily="34" charset="-122"/>
                <a:cs typeface="Calibri" pitchFamily="34" charset="-120"/>
              </a:rPr>
              <a:t> used up and the </a:t>
            </a:r>
            <a:r>
              <a:rPr lang="en-US" sz="1100" b="1" dirty="0">
                <a:solidFill>
                  <a:srgbClr val="262B3A"/>
                </a:solidFill>
                <a:latin typeface="Calibri" pitchFamily="34" charset="0"/>
                <a:ea typeface="Calibri" pitchFamily="34" charset="-122"/>
                <a:cs typeface="Calibri" pitchFamily="34" charset="-120"/>
              </a:rPr>
              <a:t>emissions</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waste</a:t>
            </a:r>
            <a:r>
              <a:rPr lang="en-US" sz="1100" dirty="0">
                <a:solidFill>
                  <a:srgbClr val="262B3A"/>
                </a:solidFill>
                <a:latin typeface="Calibri" pitchFamily="34" charset="0"/>
                <a:ea typeface="Calibri" pitchFamily="34" charset="-122"/>
                <a:cs typeface="Calibri" pitchFamily="34" charset="-120"/>
              </a:rPr>
              <a:t> made.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Transport</a:t>
            </a:r>
            <a:r>
              <a:rPr lang="en-US" sz="1100" dirty="0">
                <a:solidFill>
                  <a:srgbClr val="262B3A"/>
                </a:solidFill>
                <a:latin typeface="Calibri" pitchFamily="34" charset="0"/>
                <a:ea typeface="Calibri" pitchFamily="34" charset="-122"/>
                <a:cs typeface="Calibri" pitchFamily="34" charset="-120"/>
              </a:rPr>
              <a:t> between stages is included.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LCAs let us </a:t>
            </a:r>
            <a:r>
              <a:rPr lang="en-US" sz="1100" b="1" dirty="0">
                <a:solidFill>
                  <a:srgbClr val="262B3A"/>
                </a:solidFill>
                <a:latin typeface="Calibri" pitchFamily="34" charset="0"/>
                <a:ea typeface="Calibri" pitchFamily="34" charset="-122"/>
                <a:cs typeface="Calibri" pitchFamily="34" charset="-120"/>
              </a:rPr>
              <a:t>compare</a:t>
            </a:r>
            <a:r>
              <a:rPr lang="en-US" sz="1100" dirty="0">
                <a:solidFill>
                  <a:srgbClr val="262B3A"/>
                </a:solidFill>
                <a:latin typeface="Calibri" pitchFamily="34" charset="0"/>
                <a:ea typeface="Calibri" pitchFamily="34" charset="-122"/>
                <a:cs typeface="Calibri" pitchFamily="34" charset="-120"/>
              </a:rPr>
              <a:t> products or materials doing the same job.</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Some impacts are easy to measure (energy, CO₂); others need </a:t>
            </a:r>
            <a:r>
              <a:rPr lang="en-US" sz="1100" b="1" dirty="0">
                <a:solidFill>
                  <a:srgbClr val="262B3A"/>
                </a:solidFill>
                <a:latin typeface="Calibri" pitchFamily="34" charset="0"/>
                <a:ea typeface="Calibri" pitchFamily="34" charset="-122"/>
                <a:cs typeface="Calibri" pitchFamily="34" charset="-120"/>
              </a:rPr>
              <a:t>judgements</a:t>
            </a:r>
            <a:r>
              <a:rPr lang="en-US" sz="1100" dirty="0">
                <a:solidFill>
                  <a:srgbClr val="262B3A"/>
                </a:solidFill>
                <a:latin typeface="Calibri" pitchFamily="34" charset="0"/>
                <a:ea typeface="Calibri" pitchFamily="34" charset="-122"/>
                <a:cs typeface="Calibri" pitchFamily="34" charset="-120"/>
              </a:rPr>
              <a:t> (litter, harm to wildlife), so LCAs can be </a:t>
            </a:r>
            <a:r>
              <a:rPr lang="en-US" sz="1100" b="1" dirty="0">
                <a:solidFill>
                  <a:srgbClr val="262B3A"/>
                </a:solidFill>
                <a:latin typeface="Calibri" pitchFamily="34" charset="0"/>
                <a:ea typeface="Calibri" pitchFamily="34" charset="-122"/>
                <a:cs typeface="Calibri" pitchFamily="34" charset="-120"/>
              </a:rPr>
              <a:t>biased</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45" name="Shape 43"/>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46" name="Text 44"/>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LCA total</a:t>
            </a:r>
            <a:endParaRPr lang="en-US" sz="1300" dirty="0"/>
          </a:p>
        </p:txBody>
      </p:sp>
      <p:sp>
        <p:nvSpPr>
          <p:cNvPr id="47" name="Text 45"/>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glass bottle values.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Add   </a:t>
            </a:r>
            <a:r>
              <a:rPr lang="en-US" sz="1050" dirty="0">
                <a:solidFill>
                  <a:srgbClr val="262B3A"/>
                </a:solidFill>
                <a:latin typeface="Calibri" pitchFamily="34" charset="0"/>
                <a:ea typeface="Calibri" pitchFamily="34" charset="-122"/>
                <a:cs typeface="Calibri" pitchFamily="34" charset="-120"/>
              </a:rPr>
              <a:t>1.2 + 2.6 + 0.7 + 0.5 = 5.0 MJ</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manufacture is 2.6 ÷ 5.0 × 100 = </a:t>
            </a:r>
            <a:r>
              <a:rPr lang="en-US" sz="1050" b="1" dirty="0">
                <a:solidFill>
                  <a:srgbClr val="C8414C"/>
                </a:solidFill>
                <a:latin typeface="Calibri" pitchFamily="34" charset="0"/>
                <a:ea typeface="Calibri" pitchFamily="34" charset="-122"/>
                <a:cs typeface="Calibri" pitchFamily="34" charset="-120"/>
              </a:rPr>
              <a:t>52%</a:t>
            </a:r>
            <a:r>
              <a:rPr lang="en-US" sz="1050" b="1" dirty="0">
                <a:solidFill>
                  <a:srgbClr val="C8414C"/>
                </a:solidFill>
                <a:latin typeface="Calibri" pitchFamily="34" charset="0"/>
                <a:ea typeface="Calibri" pitchFamily="34" charset="-122"/>
                <a:cs typeface="Calibri" pitchFamily="34" charset="-120"/>
              </a:rPr>
              <a:t> of the total</a:t>
            </a:r>
            <a:endParaRPr lang="en-US" sz="1050" dirty="0"/>
          </a:p>
        </p:txBody>
      </p:sp>
      <p:sp>
        <p:nvSpPr>
          <p:cNvPr id="48" name="Shape 46"/>
          <p:cNvSpPr/>
          <p:nvPr/>
        </p:nvSpPr>
        <p:spPr>
          <a:xfrm>
            <a:off x="411480" y="5833872"/>
            <a:ext cx="11368735" cy="530352"/>
          </a:xfrm>
          <a:prstGeom prst="rect">
            <a:avLst/>
          </a:prstGeom>
          <a:solidFill>
            <a:srgbClr val="FFF4E0"/>
          </a:solidFill>
          <a:ln w="6350">
            <a:solidFill>
              <a:srgbClr val="F1D9A8"/>
            </a:solidFill>
            <a:prstDash val="solid"/>
          </a:ln>
        </p:spPr>
      </p:sp>
      <p:sp>
        <p:nvSpPr>
          <p:cNvPr id="49" name="Shape 47"/>
          <p:cNvSpPr/>
          <p:nvPr/>
        </p:nvSpPr>
        <p:spPr>
          <a:xfrm>
            <a:off x="411480" y="5833872"/>
            <a:ext cx="82296" cy="530352"/>
          </a:xfrm>
          <a:prstGeom prst="rect">
            <a:avLst/>
          </a:prstGeom>
          <a:solidFill>
            <a:srgbClr val="E39A2F"/>
          </a:solidFill>
          <a:ln w="12700">
            <a:solidFill>
              <a:srgbClr val="E39A2F"/>
            </a:solidFill>
            <a:prstDash val="solid"/>
          </a:ln>
        </p:spPr>
      </p:sp>
      <p:sp>
        <p:nvSpPr>
          <p:cNvPr id="50" name="Text 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four</a:t>
            </a:r>
            <a:r>
              <a:rPr lang="en-US" sz="1150" dirty="0">
                <a:solidFill>
                  <a:srgbClr val="262B3A"/>
                </a:solidFill>
                <a:latin typeface="Calibri" pitchFamily="34" charset="0"/>
                <a:ea typeface="Calibri" pitchFamily="34" charset="-122"/>
                <a:cs typeface="Calibri" pitchFamily="34" charset="-120"/>
              </a:rPr>
              <a:t> stages of an LCA. If the bottle is </a:t>
            </a:r>
            <a:r>
              <a:rPr lang="en-US" sz="1150" b="1" dirty="0">
                <a:solidFill>
                  <a:srgbClr val="262B3A"/>
                </a:solidFill>
                <a:latin typeface="Calibri" pitchFamily="34" charset="0"/>
                <a:ea typeface="Calibri" pitchFamily="34" charset="-122"/>
                <a:cs typeface="Calibri" pitchFamily="34" charset="-120"/>
              </a:rPr>
              <a:t>reused 10 times</a:t>
            </a:r>
            <a:r>
              <a:rPr lang="en-US" sz="1150" dirty="0">
                <a:solidFill>
                  <a:srgbClr val="262B3A"/>
                </a:solidFill>
                <a:latin typeface="Calibri" pitchFamily="34" charset="0"/>
                <a:ea typeface="Calibri" pitchFamily="34" charset="-122"/>
                <a:cs typeface="Calibri" pitchFamily="34" charset="-120"/>
              </a:rPr>
              <a:t>, what is the energy </a:t>
            </a:r>
            <a:r>
              <a:rPr lang="en-US" sz="1150" b="1" dirty="0">
                <a:solidFill>
                  <a:srgbClr val="262B3A"/>
                </a:solidFill>
                <a:latin typeface="Calibri" pitchFamily="34" charset="0"/>
                <a:ea typeface="Calibri" pitchFamily="34" charset="-122"/>
                <a:cs typeface="Calibri" pitchFamily="34" charset="-120"/>
              </a:rPr>
              <a:t>per use</a:t>
            </a:r>
            <a:r>
              <a:rPr lang="en-US" sz="1150" dirty="0">
                <a:solidFill>
                  <a:srgbClr val="262B3A"/>
                </a:solidFill>
                <a:latin typeface="Calibri" pitchFamily="34" charset="0"/>
                <a:ea typeface="Calibri" pitchFamily="34" charset="-122"/>
                <a:cs typeface="Calibri" pitchFamily="34" charset="-120"/>
              </a:rPr>
              <a:t>? (Ignore washing.)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LCA data: paper or plastic bag?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C4.4.5 • interpreting data from a life-cycle assessment</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C4.4.5  |  15</a:t>
            </a:r>
            <a:endParaRPr lang="en-US" sz="1000" dirty="0"/>
          </a:p>
        </p:txBody>
      </p:sp>
      <p:sp>
        <p:nvSpPr>
          <p:cNvPr id="8" name="Shape 6"/>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stacked bars plotted to scale from the table (illustrative LCA data)</a:t>
            </a:r>
            <a:endParaRPr lang="en-US" sz="1000" dirty="0"/>
          </a:p>
        </p:txBody>
      </p:sp>
      <p:sp>
        <p:nvSpPr>
          <p:cNvPr id="10" name="Shape 8"/>
          <p:cNvSpPr/>
          <p:nvPr/>
        </p:nvSpPr>
        <p:spPr>
          <a:xfrm>
            <a:off x="1371600" y="1417320"/>
            <a:ext cx="3291840" cy="2697480"/>
          </a:xfrm>
          <a:prstGeom prst="rect">
            <a:avLst/>
          </a:prstGeom>
          <a:solidFill>
            <a:srgbClr val="FFFFFF"/>
          </a:solidFill>
          <a:ln/>
        </p:spPr>
      </p:sp>
      <p:sp>
        <p:nvSpPr>
          <p:cNvPr id="11" name="Shape 9"/>
          <p:cNvSpPr/>
          <p:nvPr/>
        </p:nvSpPr>
        <p:spPr>
          <a:xfrm>
            <a:off x="1371600" y="1417320"/>
            <a:ext cx="91" cy="2697480"/>
          </a:xfrm>
          <a:prstGeom prst="line">
            <a:avLst/>
          </a:prstGeom>
          <a:noFill/>
          <a:ln w="6350">
            <a:solidFill>
              <a:srgbClr val="D6CBE8"/>
            </a:solidFill>
            <a:prstDash val="solid"/>
          </a:ln>
        </p:spPr>
      </p:sp>
      <p:sp>
        <p:nvSpPr>
          <p:cNvPr id="12" name="Shape 10"/>
          <p:cNvSpPr/>
          <p:nvPr/>
        </p:nvSpPr>
        <p:spPr>
          <a:xfrm>
            <a:off x="1920240" y="1417320"/>
            <a:ext cx="91" cy="2697480"/>
          </a:xfrm>
          <a:prstGeom prst="line">
            <a:avLst/>
          </a:prstGeom>
          <a:noFill/>
          <a:ln w="6350">
            <a:solidFill>
              <a:srgbClr val="EEE9F6"/>
            </a:solidFill>
            <a:prstDash val="solid"/>
          </a:ln>
        </p:spPr>
      </p:sp>
      <p:sp>
        <p:nvSpPr>
          <p:cNvPr id="13" name="Shape 11"/>
          <p:cNvSpPr/>
          <p:nvPr/>
        </p:nvSpPr>
        <p:spPr>
          <a:xfrm>
            <a:off x="2468880" y="1417320"/>
            <a:ext cx="91" cy="2697480"/>
          </a:xfrm>
          <a:prstGeom prst="line">
            <a:avLst/>
          </a:prstGeom>
          <a:noFill/>
          <a:ln w="6350">
            <a:solidFill>
              <a:srgbClr val="D6CBE8"/>
            </a:solidFill>
            <a:prstDash val="solid"/>
          </a:ln>
        </p:spPr>
      </p:sp>
      <p:sp>
        <p:nvSpPr>
          <p:cNvPr id="14" name="Shape 12"/>
          <p:cNvSpPr/>
          <p:nvPr/>
        </p:nvSpPr>
        <p:spPr>
          <a:xfrm>
            <a:off x="3017520" y="1417320"/>
            <a:ext cx="91" cy="2697480"/>
          </a:xfrm>
          <a:prstGeom prst="line">
            <a:avLst/>
          </a:prstGeom>
          <a:noFill/>
          <a:ln w="6350">
            <a:solidFill>
              <a:srgbClr val="EEE9F6"/>
            </a:solidFill>
            <a:prstDash val="solid"/>
          </a:ln>
        </p:spPr>
      </p:sp>
      <p:sp>
        <p:nvSpPr>
          <p:cNvPr id="15" name="Shape 13"/>
          <p:cNvSpPr/>
          <p:nvPr/>
        </p:nvSpPr>
        <p:spPr>
          <a:xfrm>
            <a:off x="3566160" y="1417320"/>
            <a:ext cx="91" cy="2697480"/>
          </a:xfrm>
          <a:prstGeom prst="line">
            <a:avLst/>
          </a:prstGeom>
          <a:noFill/>
          <a:ln w="6350">
            <a:solidFill>
              <a:srgbClr val="D6CBE8"/>
            </a:solidFill>
            <a:prstDash val="solid"/>
          </a:ln>
        </p:spPr>
      </p:sp>
      <p:sp>
        <p:nvSpPr>
          <p:cNvPr id="16" name="Shape 14"/>
          <p:cNvSpPr/>
          <p:nvPr/>
        </p:nvSpPr>
        <p:spPr>
          <a:xfrm>
            <a:off x="4114800" y="1417320"/>
            <a:ext cx="91" cy="2697480"/>
          </a:xfrm>
          <a:prstGeom prst="line">
            <a:avLst/>
          </a:prstGeom>
          <a:noFill/>
          <a:ln w="6350">
            <a:solidFill>
              <a:srgbClr val="EEE9F6"/>
            </a:solidFill>
            <a:prstDash val="solid"/>
          </a:ln>
        </p:spPr>
      </p:sp>
      <p:sp>
        <p:nvSpPr>
          <p:cNvPr id="17" name="Shape 15"/>
          <p:cNvSpPr/>
          <p:nvPr/>
        </p:nvSpPr>
        <p:spPr>
          <a:xfrm>
            <a:off x="4663440" y="1417320"/>
            <a:ext cx="91" cy="2697480"/>
          </a:xfrm>
          <a:prstGeom prst="line">
            <a:avLst/>
          </a:prstGeom>
          <a:noFill/>
          <a:ln w="6350">
            <a:solidFill>
              <a:srgbClr val="D6CBE8"/>
            </a:solidFill>
            <a:prstDash val="solid"/>
          </a:ln>
        </p:spPr>
      </p:sp>
      <p:sp>
        <p:nvSpPr>
          <p:cNvPr id="18" name="Shape 16"/>
          <p:cNvSpPr/>
          <p:nvPr/>
        </p:nvSpPr>
        <p:spPr>
          <a:xfrm>
            <a:off x="1371600" y="4114800"/>
            <a:ext cx="3291840" cy="91"/>
          </a:xfrm>
          <a:prstGeom prst="line">
            <a:avLst/>
          </a:prstGeom>
          <a:noFill/>
          <a:ln w="6350">
            <a:solidFill>
              <a:srgbClr val="D6CBE8"/>
            </a:solidFill>
            <a:prstDash val="solid"/>
          </a:ln>
        </p:spPr>
      </p:sp>
      <p:sp>
        <p:nvSpPr>
          <p:cNvPr id="19" name="Shape 17"/>
          <p:cNvSpPr/>
          <p:nvPr/>
        </p:nvSpPr>
        <p:spPr>
          <a:xfrm>
            <a:off x="1371600" y="3845052"/>
            <a:ext cx="3291840" cy="91"/>
          </a:xfrm>
          <a:prstGeom prst="line">
            <a:avLst/>
          </a:prstGeom>
          <a:noFill/>
          <a:ln w="6350">
            <a:solidFill>
              <a:srgbClr val="EEE9F6"/>
            </a:solidFill>
            <a:prstDash val="solid"/>
          </a:ln>
        </p:spPr>
      </p:sp>
      <p:sp>
        <p:nvSpPr>
          <p:cNvPr id="20" name="Shape 18"/>
          <p:cNvSpPr/>
          <p:nvPr/>
        </p:nvSpPr>
        <p:spPr>
          <a:xfrm>
            <a:off x="1371600" y="3575304"/>
            <a:ext cx="3291840" cy="91"/>
          </a:xfrm>
          <a:prstGeom prst="line">
            <a:avLst/>
          </a:prstGeom>
          <a:noFill/>
          <a:ln w="6350">
            <a:solidFill>
              <a:srgbClr val="D6CBE8"/>
            </a:solidFill>
            <a:prstDash val="solid"/>
          </a:ln>
        </p:spPr>
      </p:sp>
      <p:sp>
        <p:nvSpPr>
          <p:cNvPr id="21" name="Shape 19"/>
          <p:cNvSpPr/>
          <p:nvPr/>
        </p:nvSpPr>
        <p:spPr>
          <a:xfrm>
            <a:off x="1371600" y="3305556"/>
            <a:ext cx="3291840" cy="91"/>
          </a:xfrm>
          <a:prstGeom prst="line">
            <a:avLst/>
          </a:prstGeom>
          <a:noFill/>
          <a:ln w="6350">
            <a:solidFill>
              <a:srgbClr val="EEE9F6"/>
            </a:solidFill>
            <a:prstDash val="solid"/>
          </a:ln>
        </p:spPr>
      </p:sp>
      <p:sp>
        <p:nvSpPr>
          <p:cNvPr id="22" name="Shape 20"/>
          <p:cNvSpPr/>
          <p:nvPr/>
        </p:nvSpPr>
        <p:spPr>
          <a:xfrm>
            <a:off x="1371600" y="3035808"/>
            <a:ext cx="3291840" cy="91"/>
          </a:xfrm>
          <a:prstGeom prst="line">
            <a:avLst/>
          </a:prstGeom>
          <a:noFill/>
          <a:ln w="6350">
            <a:solidFill>
              <a:srgbClr val="D6CBE8"/>
            </a:solidFill>
            <a:prstDash val="solid"/>
          </a:ln>
        </p:spPr>
      </p:sp>
      <p:sp>
        <p:nvSpPr>
          <p:cNvPr id="23" name="Shape 21"/>
          <p:cNvSpPr/>
          <p:nvPr/>
        </p:nvSpPr>
        <p:spPr>
          <a:xfrm>
            <a:off x="1371600" y="2766060"/>
            <a:ext cx="3291840" cy="91"/>
          </a:xfrm>
          <a:prstGeom prst="line">
            <a:avLst/>
          </a:prstGeom>
          <a:noFill/>
          <a:ln w="6350">
            <a:solidFill>
              <a:srgbClr val="EEE9F6"/>
            </a:solidFill>
            <a:prstDash val="solid"/>
          </a:ln>
        </p:spPr>
      </p:sp>
      <p:sp>
        <p:nvSpPr>
          <p:cNvPr id="24" name="Shape 22"/>
          <p:cNvSpPr/>
          <p:nvPr/>
        </p:nvSpPr>
        <p:spPr>
          <a:xfrm>
            <a:off x="1371600" y="2496312"/>
            <a:ext cx="3291840" cy="91"/>
          </a:xfrm>
          <a:prstGeom prst="line">
            <a:avLst/>
          </a:prstGeom>
          <a:noFill/>
          <a:ln w="6350">
            <a:solidFill>
              <a:srgbClr val="D6CBE8"/>
            </a:solidFill>
            <a:prstDash val="solid"/>
          </a:ln>
        </p:spPr>
      </p:sp>
      <p:sp>
        <p:nvSpPr>
          <p:cNvPr id="25" name="Shape 23"/>
          <p:cNvSpPr/>
          <p:nvPr/>
        </p:nvSpPr>
        <p:spPr>
          <a:xfrm>
            <a:off x="1371600" y="2226564"/>
            <a:ext cx="3291840" cy="91"/>
          </a:xfrm>
          <a:prstGeom prst="line">
            <a:avLst/>
          </a:prstGeom>
          <a:noFill/>
          <a:ln w="6350">
            <a:solidFill>
              <a:srgbClr val="EEE9F6"/>
            </a:solidFill>
            <a:prstDash val="solid"/>
          </a:ln>
        </p:spPr>
      </p:sp>
      <p:sp>
        <p:nvSpPr>
          <p:cNvPr id="26" name="Shape 24"/>
          <p:cNvSpPr/>
          <p:nvPr/>
        </p:nvSpPr>
        <p:spPr>
          <a:xfrm>
            <a:off x="1371600" y="1956816"/>
            <a:ext cx="3291840" cy="91"/>
          </a:xfrm>
          <a:prstGeom prst="line">
            <a:avLst/>
          </a:prstGeom>
          <a:noFill/>
          <a:ln w="6350">
            <a:solidFill>
              <a:srgbClr val="D6CBE8"/>
            </a:solidFill>
            <a:prstDash val="solid"/>
          </a:ln>
        </p:spPr>
      </p:sp>
      <p:sp>
        <p:nvSpPr>
          <p:cNvPr id="27" name="Shape 25"/>
          <p:cNvSpPr/>
          <p:nvPr/>
        </p:nvSpPr>
        <p:spPr>
          <a:xfrm>
            <a:off x="1371600" y="1687068"/>
            <a:ext cx="3291840" cy="91"/>
          </a:xfrm>
          <a:prstGeom prst="line">
            <a:avLst/>
          </a:prstGeom>
          <a:noFill/>
          <a:ln w="6350">
            <a:solidFill>
              <a:srgbClr val="EEE9F6"/>
            </a:solidFill>
            <a:prstDash val="solid"/>
          </a:ln>
        </p:spPr>
      </p:sp>
      <p:sp>
        <p:nvSpPr>
          <p:cNvPr id="28" name="Shape 26"/>
          <p:cNvSpPr/>
          <p:nvPr/>
        </p:nvSpPr>
        <p:spPr>
          <a:xfrm>
            <a:off x="1371600" y="1417320"/>
            <a:ext cx="3291840" cy="91"/>
          </a:xfrm>
          <a:prstGeom prst="line">
            <a:avLst/>
          </a:prstGeom>
          <a:noFill/>
          <a:ln w="6350">
            <a:solidFill>
              <a:srgbClr val="D6CBE8"/>
            </a:solidFill>
            <a:prstDash val="solid"/>
          </a:ln>
        </p:spPr>
      </p:sp>
      <p:sp>
        <p:nvSpPr>
          <p:cNvPr id="29" name="Shape 27"/>
          <p:cNvSpPr/>
          <p:nvPr/>
        </p:nvSpPr>
        <p:spPr>
          <a:xfrm>
            <a:off x="1371600" y="4114800"/>
            <a:ext cx="3291840" cy="91"/>
          </a:xfrm>
          <a:prstGeom prst="line">
            <a:avLst/>
          </a:prstGeom>
          <a:noFill/>
          <a:ln w="19050">
            <a:solidFill>
              <a:srgbClr val="2A1F3D"/>
            </a:solidFill>
            <a:prstDash val="solid"/>
          </a:ln>
        </p:spPr>
      </p:sp>
      <p:sp>
        <p:nvSpPr>
          <p:cNvPr id="30" name="Shape 28"/>
          <p:cNvSpPr/>
          <p:nvPr/>
        </p:nvSpPr>
        <p:spPr>
          <a:xfrm flipV="1">
            <a:off x="1371600" y="1417320"/>
            <a:ext cx="91" cy="2697480"/>
          </a:xfrm>
          <a:prstGeom prst="line">
            <a:avLst/>
          </a:prstGeom>
          <a:noFill/>
          <a:ln w="19050">
            <a:solidFill>
              <a:srgbClr val="2A1F3D"/>
            </a:solidFill>
            <a:prstDash val="solid"/>
          </a:ln>
        </p:spPr>
      </p:sp>
      <p:sp>
        <p:nvSpPr>
          <p:cNvPr id="31" name="Shape 29"/>
          <p:cNvSpPr/>
          <p:nvPr/>
        </p:nvSpPr>
        <p:spPr>
          <a:xfrm>
            <a:off x="1371600" y="4114800"/>
            <a:ext cx="91" cy="54864"/>
          </a:xfrm>
          <a:prstGeom prst="line">
            <a:avLst/>
          </a:prstGeom>
          <a:noFill/>
          <a:ln w="12700">
            <a:solidFill>
              <a:srgbClr val="2A1F3D"/>
            </a:solidFill>
            <a:prstDash val="solid"/>
          </a:ln>
        </p:spPr>
      </p:sp>
      <p:sp>
        <p:nvSpPr>
          <p:cNvPr id="32" name="Text 30"/>
          <p:cNvSpPr/>
          <p:nvPr/>
        </p:nvSpPr>
        <p:spPr>
          <a:xfrm>
            <a:off x="1097280" y="41696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3" name="Shape 31"/>
          <p:cNvSpPr/>
          <p:nvPr/>
        </p:nvSpPr>
        <p:spPr>
          <a:xfrm>
            <a:off x="2468880" y="4114800"/>
            <a:ext cx="91" cy="54864"/>
          </a:xfrm>
          <a:prstGeom prst="line">
            <a:avLst/>
          </a:prstGeom>
          <a:noFill/>
          <a:ln w="12700">
            <a:solidFill>
              <a:srgbClr val="2A1F3D"/>
            </a:solidFill>
            <a:prstDash val="solid"/>
          </a:ln>
        </p:spPr>
      </p:sp>
      <p:sp>
        <p:nvSpPr>
          <p:cNvPr id="34" name="Text 32"/>
          <p:cNvSpPr/>
          <p:nvPr/>
        </p:nvSpPr>
        <p:spPr>
          <a:xfrm>
            <a:off x="2194560" y="41696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5" name="Shape 33"/>
          <p:cNvSpPr/>
          <p:nvPr/>
        </p:nvSpPr>
        <p:spPr>
          <a:xfrm>
            <a:off x="3566160" y="4114800"/>
            <a:ext cx="91" cy="54864"/>
          </a:xfrm>
          <a:prstGeom prst="line">
            <a:avLst/>
          </a:prstGeom>
          <a:noFill/>
          <a:ln w="12700">
            <a:solidFill>
              <a:srgbClr val="2A1F3D"/>
            </a:solidFill>
            <a:prstDash val="solid"/>
          </a:ln>
        </p:spPr>
      </p:sp>
      <p:sp>
        <p:nvSpPr>
          <p:cNvPr id="36" name="Text 34"/>
          <p:cNvSpPr/>
          <p:nvPr/>
        </p:nvSpPr>
        <p:spPr>
          <a:xfrm>
            <a:off x="3291840" y="41696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7" name="Shape 35"/>
          <p:cNvSpPr/>
          <p:nvPr/>
        </p:nvSpPr>
        <p:spPr>
          <a:xfrm>
            <a:off x="4663440" y="4114800"/>
            <a:ext cx="91" cy="54864"/>
          </a:xfrm>
          <a:prstGeom prst="line">
            <a:avLst/>
          </a:prstGeom>
          <a:noFill/>
          <a:ln w="12700">
            <a:solidFill>
              <a:srgbClr val="2A1F3D"/>
            </a:solidFill>
            <a:prstDash val="solid"/>
          </a:ln>
        </p:spPr>
      </p:sp>
      <p:sp>
        <p:nvSpPr>
          <p:cNvPr id="38" name="Text 36"/>
          <p:cNvSpPr/>
          <p:nvPr/>
        </p:nvSpPr>
        <p:spPr>
          <a:xfrm>
            <a:off x="4389120" y="4169664"/>
            <a:ext cx="548640" cy="182880"/>
          </a:xfrm>
          <a:prstGeom prst="rect">
            <a:avLst/>
          </a:prstGeom>
          <a:noFill/>
          <a:ln/>
        </p:spPr>
        <p:txBody>
          <a:bodyPr wrap="square" lIns="0" tIns="0" rIns="0" bIns="0" rtlCol="0" anchor="ctr"/>
          <a:lstStyle/>
          <a:p>
            <a:pPr algn="ctr" indent="0" marL="0">
              <a:buNone/>
            </a:pPr>
            <a:endParaRPr lang="en-US" sz="1000" dirty="0"/>
          </a:p>
        </p:txBody>
      </p:sp>
      <p:sp>
        <p:nvSpPr>
          <p:cNvPr id="39" name="Shape 37"/>
          <p:cNvSpPr/>
          <p:nvPr/>
        </p:nvSpPr>
        <p:spPr>
          <a:xfrm>
            <a:off x="1316736" y="4114800"/>
            <a:ext cx="54864" cy="91"/>
          </a:xfrm>
          <a:prstGeom prst="line">
            <a:avLst/>
          </a:prstGeom>
          <a:noFill/>
          <a:ln w="12700">
            <a:solidFill>
              <a:srgbClr val="2A1F3D"/>
            </a:solidFill>
            <a:prstDash val="solid"/>
          </a:ln>
        </p:spPr>
      </p:sp>
      <p:sp>
        <p:nvSpPr>
          <p:cNvPr id="40" name="Text 38"/>
          <p:cNvSpPr/>
          <p:nvPr/>
        </p:nvSpPr>
        <p:spPr>
          <a:xfrm>
            <a:off x="932688" y="4023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41" name="Shape 39"/>
          <p:cNvSpPr/>
          <p:nvPr/>
        </p:nvSpPr>
        <p:spPr>
          <a:xfrm>
            <a:off x="1316736" y="3575304"/>
            <a:ext cx="54864" cy="91"/>
          </a:xfrm>
          <a:prstGeom prst="line">
            <a:avLst/>
          </a:prstGeom>
          <a:noFill/>
          <a:ln w="12700">
            <a:solidFill>
              <a:srgbClr val="2A1F3D"/>
            </a:solidFill>
            <a:prstDash val="solid"/>
          </a:ln>
        </p:spPr>
      </p:sp>
      <p:sp>
        <p:nvSpPr>
          <p:cNvPr id="42" name="Text 40"/>
          <p:cNvSpPr/>
          <p:nvPr/>
        </p:nvSpPr>
        <p:spPr>
          <a:xfrm>
            <a:off x="932688" y="348386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43" name="Shape 41"/>
          <p:cNvSpPr/>
          <p:nvPr/>
        </p:nvSpPr>
        <p:spPr>
          <a:xfrm>
            <a:off x="1316736" y="3035808"/>
            <a:ext cx="54864" cy="91"/>
          </a:xfrm>
          <a:prstGeom prst="line">
            <a:avLst/>
          </a:prstGeom>
          <a:noFill/>
          <a:ln w="12700">
            <a:solidFill>
              <a:srgbClr val="2A1F3D"/>
            </a:solidFill>
            <a:prstDash val="solid"/>
          </a:ln>
        </p:spPr>
      </p:sp>
      <p:sp>
        <p:nvSpPr>
          <p:cNvPr id="44" name="Text 42"/>
          <p:cNvSpPr/>
          <p:nvPr/>
        </p:nvSpPr>
        <p:spPr>
          <a:xfrm>
            <a:off x="932688" y="294436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0.8</a:t>
            </a:r>
            <a:endParaRPr lang="en-US" sz="1000" dirty="0"/>
          </a:p>
        </p:txBody>
      </p:sp>
      <p:sp>
        <p:nvSpPr>
          <p:cNvPr id="45" name="Shape 43"/>
          <p:cNvSpPr/>
          <p:nvPr/>
        </p:nvSpPr>
        <p:spPr>
          <a:xfrm>
            <a:off x="1316736" y="2496312"/>
            <a:ext cx="54864" cy="91"/>
          </a:xfrm>
          <a:prstGeom prst="line">
            <a:avLst/>
          </a:prstGeom>
          <a:noFill/>
          <a:ln w="12700">
            <a:solidFill>
              <a:srgbClr val="2A1F3D"/>
            </a:solidFill>
            <a:prstDash val="solid"/>
          </a:ln>
        </p:spPr>
      </p:sp>
      <p:sp>
        <p:nvSpPr>
          <p:cNvPr id="46" name="Text 44"/>
          <p:cNvSpPr/>
          <p:nvPr/>
        </p:nvSpPr>
        <p:spPr>
          <a:xfrm>
            <a:off x="932688" y="240487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47" name="Shape 45"/>
          <p:cNvSpPr/>
          <p:nvPr/>
        </p:nvSpPr>
        <p:spPr>
          <a:xfrm>
            <a:off x="1316736" y="1956816"/>
            <a:ext cx="54864" cy="91"/>
          </a:xfrm>
          <a:prstGeom prst="line">
            <a:avLst/>
          </a:prstGeom>
          <a:noFill/>
          <a:ln w="12700">
            <a:solidFill>
              <a:srgbClr val="2A1F3D"/>
            </a:solidFill>
            <a:prstDash val="solid"/>
          </a:ln>
        </p:spPr>
      </p:sp>
      <p:sp>
        <p:nvSpPr>
          <p:cNvPr id="48" name="Text 46"/>
          <p:cNvSpPr/>
          <p:nvPr/>
        </p:nvSpPr>
        <p:spPr>
          <a:xfrm>
            <a:off x="932688" y="186537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49" name="Shape 47"/>
          <p:cNvSpPr/>
          <p:nvPr/>
        </p:nvSpPr>
        <p:spPr>
          <a:xfrm>
            <a:off x="1316736" y="1417320"/>
            <a:ext cx="54864" cy="91"/>
          </a:xfrm>
          <a:prstGeom prst="line">
            <a:avLst/>
          </a:prstGeom>
          <a:noFill/>
          <a:ln w="12700">
            <a:solidFill>
              <a:srgbClr val="2A1F3D"/>
            </a:solidFill>
            <a:prstDash val="solid"/>
          </a:ln>
        </p:spPr>
      </p:sp>
      <p:sp>
        <p:nvSpPr>
          <p:cNvPr id="50" name="Text 48"/>
          <p:cNvSpPr/>
          <p:nvPr/>
        </p:nvSpPr>
        <p:spPr>
          <a:xfrm>
            <a:off x="93268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1" name="Text 49"/>
          <p:cNvSpPr/>
          <p:nvPr/>
        </p:nvSpPr>
        <p:spPr>
          <a:xfrm rot="16200000">
            <a:off x="-544068" y="2638044"/>
            <a:ext cx="26974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Energy per bag / MJ</a:t>
            </a:r>
            <a:endParaRPr lang="en-US" sz="1050" dirty="0"/>
          </a:p>
        </p:txBody>
      </p:sp>
      <p:sp>
        <p:nvSpPr>
          <p:cNvPr id="52" name="Shape 50"/>
          <p:cNvSpPr/>
          <p:nvPr/>
        </p:nvSpPr>
        <p:spPr>
          <a:xfrm>
            <a:off x="2194560" y="3575304"/>
            <a:ext cx="548640" cy="539496"/>
          </a:xfrm>
          <a:prstGeom prst="rect">
            <a:avLst/>
          </a:prstGeom>
          <a:solidFill>
            <a:srgbClr val="8E7CC3"/>
          </a:solidFill>
          <a:ln w="9525">
            <a:solidFill>
              <a:srgbClr val="2A1F3D"/>
            </a:solidFill>
            <a:prstDash val="solid"/>
          </a:ln>
        </p:spPr>
      </p:sp>
      <p:sp>
        <p:nvSpPr>
          <p:cNvPr id="53" name="Shape 51"/>
          <p:cNvSpPr/>
          <p:nvPr/>
        </p:nvSpPr>
        <p:spPr>
          <a:xfrm>
            <a:off x="2194560" y="3170682"/>
            <a:ext cx="548640" cy="404622"/>
          </a:xfrm>
          <a:prstGeom prst="rect">
            <a:avLst/>
          </a:prstGeom>
          <a:solidFill>
            <a:srgbClr val="6A3FA0"/>
          </a:solidFill>
          <a:ln w="9525">
            <a:solidFill>
              <a:srgbClr val="2A1F3D"/>
            </a:solidFill>
            <a:prstDash val="solid"/>
          </a:ln>
        </p:spPr>
      </p:sp>
      <p:sp>
        <p:nvSpPr>
          <p:cNvPr id="54" name="Shape 52"/>
          <p:cNvSpPr/>
          <p:nvPr/>
        </p:nvSpPr>
        <p:spPr>
          <a:xfrm>
            <a:off x="2194560" y="3103245"/>
            <a:ext cx="548640" cy="67437"/>
          </a:xfrm>
          <a:prstGeom prst="rect">
            <a:avLst/>
          </a:prstGeom>
          <a:solidFill>
            <a:srgbClr val="E39A2F"/>
          </a:solidFill>
          <a:ln w="9525">
            <a:solidFill>
              <a:srgbClr val="2A1F3D"/>
            </a:solidFill>
            <a:prstDash val="solid"/>
          </a:ln>
        </p:spPr>
      </p:sp>
      <p:sp>
        <p:nvSpPr>
          <p:cNvPr id="55" name="Shape 53"/>
          <p:cNvSpPr/>
          <p:nvPr/>
        </p:nvSpPr>
        <p:spPr>
          <a:xfrm>
            <a:off x="2194560" y="3035808"/>
            <a:ext cx="548640" cy="67437"/>
          </a:xfrm>
          <a:prstGeom prst="rect">
            <a:avLst/>
          </a:prstGeom>
          <a:solidFill>
            <a:srgbClr val="7D8794"/>
          </a:solidFill>
          <a:ln w="9525">
            <a:solidFill>
              <a:srgbClr val="2A1F3D"/>
            </a:solidFill>
            <a:prstDash val="solid"/>
          </a:ln>
        </p:spPr>
      </p:sp>
      <p:sp>
        <p:nvSpPr>
          <p:cNvPr id="56" name="Shape 54"/>
          <p:cNvSpPr/>
          <p:nvPr/>
        </p:nvSpPr>
        <p:spPr>
          <a:xfrm>
            <a:off x="3291840" y="3440430"/>
            <a:ext cx="548640" cy="674370"/>
          </a:xfrm>
          <a:prstGeom prst="rect">
            <a:avLst/>
          </a:prstGeom>
          <a:solidFill>
            <a:srgbClr val="8E7CC3"/>
          </a:solidFill>
          <a:ln w="9525">
            <a:solidFill>
              <a:srgbClr val="2A1F3D"/>
            </a:solidFill>
            <a:prstDash val="solid"/>
          </a:ln>
        </p:spPr>
      </p:sp>
      <p:sp>
        <p:nvSpPr>
          <p:cNvPr id="57" name="Shape 55"/>
          <p:cNvSpPr/>
          <p:nvPr/>
        </p:nvSpPr>
        <p:spPr>
          <a:xfrm>
            <a:off x="3291840" y="2091690"/>
            <a:ext cx="548640" cy="1348740"/>
          </a:xfrm>
          <a:prstGeom prst="rect">
            <a:avLst/>
          </a:prstGeom>
          <a:solidFill>
            <a:srgbClr val="6A3FA0"/>
          </a:solidFill>
          <a:ln w="9525">
            <a:solidFill>
              <a:srgbClr val="2A1F3D"/>
            </a:solidFill>
            <a:prstDash val="solid"/>
          </a:ln>
        </p:spPr>
      </p:sp>
      <p:sp>
        <p:nvSpPr>
          <p:cNvPr id="58" name="Shape 56"/>
          <p:cNvSpPr/>
          <p:nvPr/>
        </p:nvSpPr>
        <p:spPr>
          <a:xfrm>
            <a:off x="3291840" y="1821942"/>
            <a:ext cx="548640" cy="269748"/>
          </a:xfrm>
          <a:prstGeom prst="rect">
            <a:avLst/>
          </a:prstGeom>
          <a:solidFill>
            <a:srgbClr val="E39A2F"/>
          </a:solidFill>
          <a:ln w="9525">
            <a:solidFill>
              <a:srgbClr val="2A1F3D"/>
            </a:solidFill>
            <a:prstDash val="solid"/>
          </a:ln>
        </p:spPr>
      </p:sp>
      <p:sp>
        <p:nvSpPr>
          <p:cNvPr id="59" name="Shape 57"/>
          <p:cNvSpPr/>
          <p:nvPr/>
        </p:nvSpPr>
        <p:spPr>
          <a:xfrm>
            <a:off x="3291840" y="1687068"/>
            <a:ext cx="548640" cy="134874"/>
          </a:xfrm>
          <a:prstGeom prst="rect">
            <a:avLst/>
          </a:prstGeom>
          <a:solidFill>
            <a:srgbClr val="7D8794"/>
          </a:solidFill>
          <a:ln w="9525">
            <a:solidFill>
              <a:srgbClr val="2A1F3D"/>
            </a:solidFill>
            <a:prstDash val="solid"/>
          </a:ln>
        </p:spPr>
      </p:sp>
      <p:sp>
        <p:nvSpPr>
          <p:cNvPr id="60" name="Text 58"/>
          <p:cNvSpPr/>
          <p:nvPr/>
        </p:nvSpPr>
        <p:spPr>
          <a:xfrm>
            <a:off x="1828800" y="4187952"/>
            <a:ext cx="128016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Plastic</a:t>
            </a:r>
            <a:r>
              <a:rPr lang="en-US" sz="1050" dirty="0">
                <a:solidFill>
                  <a:srgbClr val="262B3A"/>
                </a:solidFill>
                <a:latin typeface="Calibri" pitchFamily="34" charset="0"/>
                <a:ea typeface="Calibri" pitchFamily="34" charset="-122"/>
                <a:cs typeface="Calibri" pitchFamily="34" charset="-120"/>
              </a:rPr>
              <a:t> (LDPE)</a:t>
            </a:r>
            <a:endParaRPr lang="en-US" sz="1050" dirty="0"/>
          </a:p>
        </p:txBody>
      </p:sp>
      <p:sp>
        <p:nvSpPr>
          <p:cNvPr id="61" name="Text 59"/>
          <p:cNvSpPr/>
          <p:nvPr/>
        </p:nvSpPr>
        <p:spPr>
          <a:xfrm>
            <a:off x="2926080" y="4187952"/>
            <a:ext cx="128016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Paper</a:t>
            </a:r>
            <a:endParaRPr lang="en-US" sz="1050" dirty="0"/>
          </a:p>
        </p:txBody>
      </p:sp>
      <p:sp>
        <p:nvSpPr>
          <p:cNvPr id="62" name="Text 60"/>
          <p:cNvSpPr/>
          <p:nvPr/>
        </p:nvSpPr>
        <p:spPr>
          <a:xfrm>
            <a:off x="2011680" y="2779776"/>
            <a:ext cx="91440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0.80</a:t>
            </a:r>
            <a:endParaRPr lang="en-US" sz="1050" dirty="0"/>
          </a:p>
        </p:txBody>
      </p:sp>
      <p:sp>
        <p:nvSpPr>
          <p:cNvPr id="63" name="Text 61"/>
          <p:cNvSpPr/>
          <p:nvPr/>
        </p:nvSpPr>
        <p:spPr>
          <a:xfrm>
            <a:off x="3108960" y="1431036"/>
            <a:ext cx="91440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1.80</a:t>
            </a:r>
            <a:endParaRPr lang="en-US" sz="1050" dirty="0"/>
          </a:p>
        </p:txBody>
      </p:sp>
      <p:sp>
        <p:nvSpPr>
          <p:cNvPr id="64" name="Shape 62"/>
          <p:cNvSpPr/>
          <p:nvPr/>
        </p:nvSpPr>
        <p:spPr>
          <a:xfrm>
            <a:off x="4846320" y="2697480"/>
            <a:ext cx="228600" cy="228600"/>
          </a:xfrm>
          <a:prstGeom prst="rect">
            <a:avLst/>
          </a:prstGeom>
          <a:solidFill>
            <a:srgbClr val="8E7CC3"/>
          </a:solidFill>
          <a:ln w="6350">
            <a:solidFill>
              <a:srgbClr val="2A1F3D"/>
            </a:solidFill>
            <a:prstDash val="solid"/>
          </a:ln>
        </p:spPr>
      </p:sp>
      <p:sp>
        <p:nvSpPr>
          <p:cNvPr id="65" name="Text 63"/>
          <p:cNvSpPr/>
          <p:nvPr/>
        </p:nvSpPr>
        <p:spPr>
          <a:xfrm>
            <a:off x="5120640" y="2679192"/>
            <a:ext cx="12801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Raw materials</a:t>
            </a:r>
            <a:endParaRPr lang="en-US" sz="1000" dirty="0"/>
          </a:p>
        </p:txBody>
      </p:sp>
      <p:sp>
        <p:nvSpPr>
          <p:cNvPr id="66" name="Shape 64"/>
          <p:cNvSpPr/>
          <p:nvPr/>
        </p:nvSpPr>
        <p:spPr>
          <a:xfrm>
            <a:off x="4846320" y="2331720"/>
            <a:ext cx="228600" cy="228600"/>
          </a:xfrm>
          <a:prstGeom prst="rect">
            <a:avLst/>
          </a:prstGeom>
          <a:solidFill>
            <a:srgbClr val="6A3FA0"/>
          </a:solidFill>
          <a:ln w="6350">
            <a:solidFill>
              <a:srgbClr val="2A1F3D"/>
            </a:solidFill>
            <a:prstDash val="solid"/>
          </a:ln>
        </p:spPr>
      </p:sp>
      <p:sp>
        <p:nvSpPr>
          <p:cNvPr id="67" name="Text 65"/>
          <p:cNvSpPr/>
          <p:nvPr/>
        </p:nvSpPr>
        <p:spPr>
          <a:xfrm>
            <a:off x="5120640" y="2313432"/>
            <a:ext cx="12801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Manufacture</a:t>
            </a:r>
            <a:endParaRPr lang="en-US" sz="1000" dirty="0"/>
          </a:p>
        </p:txBody>
      </p:sp>
      <p:sp>
        <p:nvSpPr>
          <p:cNvPr id="68" name="Shape 66"/>
          <p:cNvSpPr/>
          <p:nvPr/>
        </p:nvSpPr>
        <p:spPr>
          <a:xfrm>
            <a:off x="4846320" y="1965960"/>
            <a:ext cx="228600" cy="228600"/>
          </a:xfrm>
          <a:prstGeom prst="rect">
            <a:avLst/>
          </a:prstGeom>
          <a:solidFill>
            <a:srgbClr val="E39A2F"/>
          </a:solidFill>
          <a:ln w="6350">
            <a:solidFill>
              <a:srgbClr val="2A1F3D"/>
            </a:solidFill>
            <a:prstDash val="solid"/>
          </a:ln>
        </p:spPr>
      </p:sp>
      <p:sp>
        <p:nvSpPr>
          <p:cNvPr id="69" name="Text 67"/>
          <p:cNvSpPr/>
          <p:nvPr/>
        </p:nvSpPr>
        <p:spPr>
          <a:xfrm>
            <a:off x="5120640" y="1947672"/>
            <a:ext cx="12801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Transport</a:t>
            </a:r>
            <a:endParaRPr lang="en-US" sz="1000" dirty="0"/>
          </a:p>
        </p:txBody>
      </p:sp>
      <p:sp>
        <p:nvSpPr>
          <p:cNvPr id="70" name="Shape 68"/>
          <p:cNvSpPr/>
          <p:nvPr/>
        </p:nvSpPr>
        <p:spPr>
          <a:xfrm>
            <a:off x="4846320" y="1600200"/>
            <a:ext cx="228600" cy="228600"/>
          </a:xfrm>
          <a:prstGeom prst="rect">
            <a:avLst/>
          </a:prstGeom>
          <a:solidFill>
            <a:srgbClr val="7D8794"/>
          </a:solidFill>
          <a:ln w="6350">
            <a:solidFill>
              <a:srgbClr val="2A1F3D"/>
            </a:solidFill>
            <a:prstDash val="solid"/>
          </a:ln>
        </p:spPr>
      </p:sp>
      <p:sp>
        <p:nvSpPr>
          <p:cNvPr id="71" name="Text 69"/>
          <p:cNvSpPr/>
          <p:nvPr/>
        </p:nvSpPr>
        <p:spPr>
          <a:xfrm>
            <a:off x="5120640" y="1581912"/>
            <a:ext cx="12801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Disposal</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4498848"/>
          <a:ext cx="5577840" cy="914400"/>
        </p:xfrm>
        <a:graphic>
          <a:graphicData uri="http://schemas.openxmlformats.org/drawingml/2006/table">
            <a:tbl>
              <a:tblPr/>
              <a:tblGrid>
                <a:gridCol w="960120"/>
                <a:gridCol w="960120"/>
                <a:gridCol w="960120"/>
                <a:gridCol w="868680"/>
                <a:gridCol w="868680"/>
                <a:gridCol w="960120"/>
              </a:tblGrid>
              <a:tr h="20116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MJ per bag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Raw materials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Manufacture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Transport</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Disposal</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Total</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01168">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Plastic</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0.05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0.05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01168">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Paper</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0.50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0.10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1.80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73" name="Shape 70"/>
          <p:cNvSpPr/>
          <p:nvPr/>
        </p:nvSpPr>
        <p:spPr>
          <a:xfrm>
            <a:off x="6675120" y="1188720"/>
            <a:ext cx="5102352" cy="2423160"/>
          </a:xfrm>
          <a:prstGeom prst="roundRect">
            <a:avLst>
              <a:gd name="adj" fmla="val 2264"/>
            </a:avLst>
          </a:prstGeom>
          <a:solidFill>
            <a:srgbClr val="F8F5FC"/>
          </a:solidFill>
          <a:ln w="9525">
            <a:solidFill>
              <a:srgbClr val="DDD3EC"/>
            </a:solidFill>
            <a:prstDash val="solid"/>
          </a:ln>
        </p:spPr>
      </p:sp>
      <p:sp>
        <p:nvSpPr>
          <p:cNvPr id="74" name="Text 71"/>
          <p:cNvSpPr/>
          <p:nvPr/>
        </p:nvSpPr>
        <p:spPr>
          <a:xfrm>
            <a:off x="6839712" y="128016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Reading the LCA</a:t>
            </a:r>
            <a:endParaRPr lang="en-US" sz="1300" dirty="0"/>
          </a:p>
        </p:txBody>
      </p:sp>
      <p:sp>
        <p:nvSpPr>
          <p:cNvPr id="75" name="Text 72"/>
          <p:cNvSpPr/>
          <p:nvPr/>
        </p:nvSpPr>
        <p:spPr>
          <a:xfrm>
            <a:off x="6839712" y="1609344"/>
            <a:ext cx="4773168" cy="192938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Paper uses </a:t>
            </a:r>
            <a:r>
              <a:rPr lang="en-US" sz="1100" b="1" dirty="0">
                <a:solidFill>
                  <a:srgbClr val="262B3A"/>
                </a:solidFill>
                <a:latin typeface="Calibri" pitchFamily="34" charset="0"/>
                <a:ea typeface="Calibri" pitchFamily="34" charset="-122"/>
                <a:cs typeface="Calibri" pitchFamily="34" charset="-120"/>
              </a:rPr>
              <a:t>2.25 times</a:t>
            </a:r>
            <a:r>
              <a:rPr lang="en-US" sz="1100" dirty="0">
                <a:solidFill>
                  <a:srgbClr val="262B3A"/>
                </a:solidFill>
                <a:latin typeface="Calibri" pitchFamily="34" charset="0"/>
                <a:ea typeface="Calibri" pitchFamily="34" charset="-122"/>
                <a:cs typeface="Calibri" pitchFamily="34" charset="-120"/>
              </a:rPr>
              <a:t> the energy of plastic per bag, mostly in </a:t>
            </a:r>
            <a:r>
              <a:rPr lang="en-US" sz="1100" b="1" dirty="0">
                <a:solidFill>
                  <a:srgbClr val="262B3A"/>
                </a:solidFill>
                <a:latin typeface="Calibri" pitchFamily="34" charset="0"/>
                <a:ea typeface="Calibri" pitchFamily="34" charset="-122"/>
                <a:cs typeface="Calibri" pitchFamily="34" charset="-120"/>
              </a:rPr>
              <a:t>manufacture</a:t>
            </a:r>
            <a:r>
              <a:rPr lang="en-US" sz="1100" dirty="0">
                <a:solidFill>
                  <a:srgbClr val="262B3A"/>
                </a:solidFill>
                <a:latin typeface="Calibri" pitchFamily="34" charset="0"/>
                <a:ea typeface="Calibri" pitchFamily="34" charset="-122"/>
                <a:cs typeface="Calibri" pitchFamily="34" charset="-120"/>
              </a:rPr>
              <a:t> (pulping, drying).</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But paper is from </a:t>
            </a:r>
            <a:r>
              <a:rPr lang="en-US" sz="1100" b="1" dirty="0">
                <a:solidFill>
                  <a:srgbClr val="262B3A"/>
                </a:solidFill>
                <a:latin typeface="Calibri" pitchFamily="34" charset="0"/>
                <a:ea typeface="Calibri" pitchFamily="34" charset="-122"/>
                <a:cs typeface="Calibri" pitchFamily="34" charset="-120"/>
              </a:rPr>
              <a:t>renewable</a:t>
            </a:r>
            <a:r>
              <a:rPr lang="en-US" sz="1100" dirty="0">
                <a:solidFill>
                  <a:srgbClr val="262B3A"/>
                </a:solidFill>
                <a:latin typeface="Calibri" pitchFamily="34" charset="0"/>
                <a:ea typeface="Calibri" pitchFamily="34" charset="-122"/>
                <a:cs typeface="Calibri" pitchFamily="34" charset="-120"/>
              </a:rPr>
              <a:t> trees and is </a:t>
            </a:r>
            <a:r>
              <a:rPr lang="en-US" sz="1100" b="1" dirty="0">
                <a:solidFill>
                  <a:srgbClr val="262B3A"/>
                </a:solidFill>
                <a:latin typeface="Calibri" pitchFamily="34" charset="0"/>
                <a:ea typeface="Calibri" pitchFamily="34" charset="-122"/>
                <a:cs typeface="Calibri" pitchFamily="34" charset="-120"/>
              </a:rPr>
              <a:t>biodegradable</a:t>
            </a:r>
            <a:r>
              <a:rPr lang="en-US" sz="1100" dirty="0">
                <a:solidFill>
                  <a:srgbClr val="262B3A"/>
                </a:solidFill>
                <a:latin typeface="Calibri" pitchFamily="34" charset="0"/>
                <a:ea typeface="Calibri" pitchFamily="34" charset="-122"/>
                <a:cs typeface="Calibri" pitchFamily="34" charset="-120"/>
              </a:rPr>
              <a:t>; plastic is from </a:t>
            </a:r>
            <a:r>
              <a:rPr lang="en-US" sz="1100" b="1" dirty="0">
                <a:solidFill>
                  <a:srgbClr val="262B3A"/>
                </a:solidFill>
                <a:latin typeface="Calibri" pitchFamily="34" charset="0"/>
                <a:ea typeface="Calibri" pitchFamily="34" charset="-122"/>
                <a:cs typeface="Calibri" pitchFamily="34" charset="-120"/>
              </a:rPr>
              <a:t>crude oil</a:t>
            </a:r>
            <a:r>
              <a:rPr lang="en-US" sz="1100" dirty="0">
                <a:solidFill>
                  <a:srgbClr val="262B3A"/>
                </a:solidFill>
                <a:latin typeface="Calibri" pitchFamily="34" charset="0"/>
                <a:ea typeface="Calibri" pitchFamily="34" charset="-122"/>
                <a:cs typeface="Calibri" pitchFamily="34" charset="-120"/>
              </a:rPr>
              <a:t> (finite) and persists as </a:t>
            </a:r>
            <a:r>
              <a:rPr lang="en-US" sz="1100" b="1" dirty="0">
                <a:solidFill>
                  <a:srgbClr val="262B3A"/>
                </a:solidFill>
                <a:latin typeface="Calibri" pitchFamily="34" charset="0"/>
                <a:ea typeface="Calibri" pitchFamily="34" charset="-122"/>
                <a:cs typeface="Calibri" pitchFamily="34" charset="-120"/>
              </a:rPr>
              <a:t>litter</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answer depends on </a:t>
            </a:r>
            <a:r>
              <a:rPr lang="en-US" sz="1100" b="1" dirty="0">
                <a:solidFill>
                  <a:srgbClr val="262B3A"/>
                </a:solidFill>
                <a:latin typeface="Calibri" pitchFamily="34" charset="0"/>
                <a:ea typeface="Calibri" pitchFamily="34" charset="-122"/>
                <a:cs typeface="Calibri" pitchFamily="34" charset="-120"/>
              </a:rPr>
              <a:t>how many times</a:t>
            </a:r>
            <a:r>
              <a:rPr lang="en-US" sz="1100" dirty="0">
                <a:solidFill>
                  <a:srgbClr val="262B3A"/>
                </a:solidFill>
                <a:latin typeface="Calibri" pitchFamily="34" charset="0"/>
                <a:ea typeface="Calibri" pitchFamily="34" charset="-122"/>
                <a:cs typeface="Calibri" pitchFamily="34" charset="-120"/>
              </a:rPr>
              <a:t> a bag is reused, and on impacts that are hard to put a number on.</a:t>
            </a:r>
            <a:endParaRPr lang="en-US" sz="1100" dirty="0"/>
          </a:p>
        </p:txBody>
      </p:sp>
      <p:sp>
        <p:nvSpPr>
          <p:cNvPr id="76" name="Shape 73"/>
          <p:cNvSpPr/>
          <p:nvPr/>
        </p:nvSpPr>
        <p:spPr>
          <a:xfrm>
            <a:off x="6675120" y="3749040"/>
            <a:ext cx="5102352" cy="1965960"/>
          </a:xfrm>
          <a:prstGeom prst="roundRect">
            <a:avLst>
              <a:gd name="adj" fmla="val 2791"/>
            </a:avLst>
          </a:prstGeom>
          <a:solidFill>
            <a:srgbClr val="FFF4E0"/>
          </a:solidFill>
          <a:ln w="9525">
            <a:solidFill>
              <a:srgbClr val="F1D9A8"/>
            </a:solidFill>
            <a:prstDash val="solid"/>
          </a:ln>
        </p:spPr>
      </p:sp>
      <p:sp>
        <p:nvSpPr>
          <p:cNvPr id="77" name="Text 74"/>
          <p:cNvSpPr/>
          <p:nvPr/>
        </p:nvSpPr>
        <p:spPr>
          <a:xfrm>
            <a:off x="6839712" y="382219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energy per use</a:t>
            </a:r>
            <a:endParaRPr lang="en-US" sz="1300" dirty="0"/>
          </a:p>
        </p:txBody>
      </p:sp>
      <p:sp>
        <p:nvSpPr>
          <p:cNvPr id="78" name="Text 75"/>
          <p:cNvSpPr/>
          <p:nvPr/>
        </p:nvSpPr>
        <p:spPr>
          <a:xfrm>
            <a:off x="6839712" y="4133088"/>
            <a:ext cx="4773168"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plastic bag is used 5 times; the paper bag once.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Plastic   </a:t>
            </a:r>
            <a:r>
              <a:rPr lang="en-US" sz="1050" dirty="0">
                <a:solidFill>
                  <a:srgbClr val="262B3A"/>
                </a:solidFill>
                <a:latin typeface="Calibri" pitchFamily="34" charset="0"/>
                <a:ea typeface="Calibri" pitchFamily="34" charset="-122"/>
                <a:cs typeface="Calibri" pitchFamily="34" charset="-120"/>
              </a:rPr>
              <a:t>0.80 ÷ 5 = 0.16 MJ per use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Paper   </a:t>
            </a:r>
            <a:r>
              <a:rPr lang="en-US" sz="1050" dirty="0">
                <a:solidFill>
                  <a:srgbClr val="262B3A"/>
                </a:solidFill>
                <a:latin typeface="Calibri" pitchFamily="34" charset="0"/>
                <a:ea typeface="Calibri" pitchFamily="34" charset="-122"/>
                <a:cs typeface="Calibri" pitchFamily="34" charset="-120"/>
              </a:rPr>
              <a:t>1.80 ÷ 1 = 1.80 MJ per use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reused plastic uses </a:t>
            </a:r>
            <a:r>
              <a:rPr lang="en-US" sz="1050" b="1" dirty="0">
                <a:solidFill>
                  <a:srgbClr val="C8414C"/>
                </a:solidFill>
                <a:latin typeface="Calibri" pitchFamily="34" charset="0"/>
                <a:ea typeface="Calibri" pitchFamily="34" charset="-122"/>
                <a:cs typeface="Calibri" pitchFamily="34" charset="-120"/>
              </a:rPr>
              <a:t>about 11 times</a:t>
            </a:r>
            <a:r>
              <a:rPr lang="en-US" sz="1050" b="1" dirty="0">
                <a:solidFill>
                  <a:srgbClr val="C8414C"/>
                </a:solidFill>
                <a:latin typeface="Calibri" pitchFamily="34" charset="0"/>
                <a:ea typeface="Calibri" pitchFamily="34" charset="-122"/>
                <a:cs typeface="Calibri" pitchFamily="34" charset="-120"/>
              </a:rPr>
              <a:t> less energy per use</a:t>
            </a:r>
            <a:endParaRPr lang="en-US" sz="1050" dirty="0"/>
          </a:p>
        </p:txBody>
      </p:sp>
      <p:sp>
        <p:nvSpPr>
          <p:cNvPr id="79" name="Shape 76"/>
          <p:cNvSpPr/>
          <p:nvPr/>
        </p:nvSpPr>
        <p:spPr>
          <a:xfrm>
            <a:off x="411480" y="5833872"/>
            <a:ext cx="11368735" cy="530352"/>
          </a:xfrm>
          <a:prstGeom prst="rect">
            <a:avLst/>
          </a:prstGeom>
          <a:solidFill>
            <a:srgbClr val="FFF4E0"/>
          </a:solidFill>
          <a:ln w="6350">
            <a:solidFill>
              <a:srgbClr val="F1D9A8"/>
            </a:solidFill>
            <a:prstDash val="solid"/>
          </a:ln>
        </p:spPr>
      </p:sp>
      <p:sp>
        <p:nvSpPr>
          <p:cNvPr id="80" name="Shape 77"/>
          <p:cNvSpPr/>
          <p:nvPr/>
        </p:nvSpPr>
        <p:spPr>
          <a:xfrm>
            <a:off x="411480" y="5833872"/>
            <a:ext cx="82296" cy="530352"/>
          </a:xfrm>
          <a:prstGeom prst="rect">
            <a:avLst/>
          </a:prstGeom>
          <a:solidFill>
            <a:srgbClr val="E39A2F"/>
          </a:solidFill>
          <a:ln w="12700">
            <a:solidFill>
              <a:srgbClr val="E39A2F"/>
            </a:solidFill>
            <a:prstDash val="solid"/>
          </a:ln>
        </p:spPr>
      </p:sp>
      <p:sp>
        <p:nvSpPr>
          <p:cNvPr id="81" name="Text 7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cotton bag needs </a:t>
            </a:r>
            <a:r>
              <a:rPr lang="en-US" sz="1150" b="1" dirty="0">
                <a:solidFill>
                  <a:srgbClr val="262B3A"/>
                </a:solidFill>
                <a:latin typeface="Calibri" pitchFamily="34" charset="0"/>
                <a:ea typeface="Calibri" pitchFamily="34" charset="-122"/>
                <a:cs typeface="Calibri" pitchFamily="34" charset="-120"/>
              </a:rPr>
              <a:t>12 MJ</a:t>
            </a:r>
            <a:r>
              <a:rPr lang="en-US" sz="1150" dirty="0">
                <a:solidFill>
                  <a:srgbClr val="262B3A"/>
                </a:solidFill>
                <a:latin typeface="Calibri" pitchFamily="34" charset="0"/>
                <a:ea typeface="Calibri" pitchFamily="34" charset="-122"/>
                <a:cs typeface="Calibri" pitchFamily="34" charset="-120"/>
              </a:rPr>
              <a:t> to make and is used </a:t>
            </a:r>
            <a:r>
              <a:rPr lang="en-US" sz="1150" b="1" dirty="0">
                <a:solidFill>
                  <a:srgbClr val="262B3A"/>
                </a:solidFill>
                <a:latin typeface="Calibri" pitchFamily="34" charset="0"/>
                <a:ea typeface="Calibri" pitchFamily="34" charset="-122"/>
                <a:cs typeface="Calibri" pitchFamily="34" charset="-120"/>
              </a:rPr>
              <a:t>100 times</a:t>
            </a:r>
            <a:r>
              <a:rPr lang="en-US" sz="1150" dirty="0">
                <a:solidFill>
                  <a:srgbClr val="262B3A"/>
                </a:solidFill>
                <a:latin typeface="Calibri" pitchFamily="34" charset="0"/>
                <a:ea typeface="Calibri" pitchFamily="34" charset="-122"/>
                <a:cs typeface="Calibri" pitchFamily="34" charset="-120"/>
              </a:rPr>
              <a:t>. Calculate its energy per use. 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impact this LCA does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show.</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C4.4.4, C4.4.5 • life-cycle assessment</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16</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four</a:t>
            </a:r>
            <a:r>
              <a:rPr lang="en-US" sz="1250" dirty="0">
                <a:solidFill>
                  <a:srgbClr val="262B3A"/>
                </a:solidFill>
                <a:latin typeface="Calibri" pitchFamily="34" charset="0"/>
                <a:ea typeface="Calibri" pitchFamily="34" charset="-122"/>
                <a:cs typeface="Calibri" pitchFamily="34" charset="-120"/>
              </a:rPr>
              <a:t> main stages considered in a life-cycle assessment.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paper bag needs </a:t>
            </a:r>
            <a:r>
              <a:rPr lang="en-US" sz="1250" b="1" dirty="0">
                <a:solidFill>
                  <a:srgbClr val="262B3A"/>
                </a:solidFill>
                <a:latin typeface="Calibri" pitchFamily="34" charset="0"/>
                <a:ea typeface="Calibri" pitchFamily="34" charset="-122"/>
                <a:cs typeface="Calibri" pitchFamily="34" charset="-120"/>
              </a:rPr>
              <a:t>1.8 MJ</a:t>
            </a:r>
            <a:r>
              <a:rPr lang="en-US" sz="1250" dirty="0">
                <a:solidFill>
                  <a:srgbClr val="262B3A"/>
                </a:solidFill>
                <a:latin typeface="Calibri" pitchFamily="34" charset="0"/>
                <a:ea typeface="Calibri" pitchFamily="34" charset="-122"/>
                <a:cs typeface="Calibri" pitchFamily="34" charset="-120"/>
              </a:rPr>
              <a:t> and is used </a:t>
            </a:r>
            <a:r>
              <a:rPr lang="en-US" sz="1250" b="1" dirty="0">
                <a:solidFill>
                  <a:srgbClr val="262B3A"/>
                </a:solidFill>
                <a:latin typeface="Calibri" pitchFamily="34" charset="0"/>
                <a:ea typeface="Calibri" pitchFamily="34" charset="-122"/>
                <a:cs typeface="Calibri" pitchFamily="34" charset="-120"/>
              </a:rPr>
              <a:t>3</a:t>
            </a:r>
            <a:r>
              <a:rPr lang="en-US" sz="1250" dirty="0">
                <a:solidFill>
                  <a:srgbClr val="262B3A"/>
                </a:solidFill>
                <a:latin typeface="Calibri" pitchFamily="34" charset="0"/>
                <a:ea typeface="Calibri" pitchFamily="34" charset="-122"/>
                <a:cs typeface="Calibri" pitchFamily="34" charset="-120"/>
              </a:rPr>
              <a:t> times. A plastic bag needs </a:t>
            </a:r>
            <a:r>
              <a:rPr lang="en-US" sz="1250" b="1" dirty="0">
                <a:solidFill>
                  <a:srgbClr val="262B3A"/>
                </a:solidFill>
                <a:latin typeface="Calibri" pitchFamily="34" charset="0"/>
                <a:ea typeface="Calibri" pitchFamily="34" charset="-122"/>
                <a:cs typeface="Calibri" pitchFamily="34" charset="-120"/>
              </a:rPr>
              <a:t>0.8 MJ</a:t>
            </a:r>
            <a:r>
              <a:rPr lang="en-US" sz="1250" dirty="0">
                <a:solidFill>
                  <a:srgbClr val="262B3A"/>
                </a:solidFill>
                <a:latin typeface="Calibri" pitchFamily="34" charset="0"/>
                <a:ea typeface="Calibri" pitchFamily="34" charset="-122"/>
                <a:cs typeface="Calibri" pitchFamily="34" charset="-120"/>
              </a:rPr>
              <a:t> and is used </a:t>
            </a:r>
            <a:r>
              <a:rPr lang="en-US" sz="1250" b="1" dirty="0">
                <a:solidFill>
                  <a:srgbClr val="262B3A"/>
                </a:solidFill>
                <a:latin typeface="Calibri" pitchFamily="34" charset="0"/>
                <a:ea typeface="Calibri" pitchFamily="34" charset="-122"/>
                <a:cs typeface="Calibri" pitchFamily="34" charset="-120"/>
              </a:rPr>
              <a:t>5</a:t>
            </a:r>
            <a:r>
              <a:rPr lang="en-US" sz="1250" dirty="0">
                <a:solidFill>
                  <a:srgbClr val="262B3A"/>
                </a:solidFill>
                <a:latin typeface="Calibri" pitchFamily="34" charset="0"/>
                <a:ea typeface="Calibri" pitchFamily="34" charset="-122"/>
                <a:cs typeface="Calibri" pitchFamily="34" charset="-120"/>
              </a:rPr>
              <a:t> times. Which uses less energy </a:t>
            </a:r>
            <a:r>
              <a:rPr lang="en-US" sz="1250" b="1" dirty="0">
                <a:solidFill>
                  <a:srgbClr val="262B3A"/>
                </a:solidFill>
                <a:latin typeface="Calibri" pitchFamily="34" charset="0"/>
                <a:ea typeface="Calibri" pitchFamily="34" charset="-122"/>
                <a:cs typeface="Calibri" pitchFamily="34" charset="-120"/>
              </a:rPr>
              <a:t>per use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reasons why two LCAs of the same product may give different conclusions.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environmental advantage of a paper bag over a plastic bag </a:t>
            </a:r>
            <a:r>
              <a:rPr lang="en-US" sz="1250" b="1" dirty="0">
                <a:solidFill>
                  <a:srgbClr val="262B3A"/>
                </a:solidFill>
                <a:latin typeface="Calibri" pitchFamily="34" charset="0"/>
                <a:ea typeface="Calibri" pitchFamily="34" charset="-122"/>
                <a:cs typeface="Calibri" pitchFamily="34" charset="-120"/>
              </a:rPr>
              <a:t>other than</a:t>
            </a:r>
            <a:r>
              <a:rPr lang="en-US" sz="1250" dirty="0">
                <a:solidFill>
                  <a:srgbClr val="262B3A"/>
                </a:solidFill>
                <a:latin typeface="Calibri" pitchFamily="34" charset="0"/>
                <a:ea typeface="Calibri" pitchFamily="34" charset="-122"/>
                <a:cs typeface="Calibri" pitchFamily="34" charset="-120"/>
              </a:rPr>
              <a:t> energy.</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End of life: the options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C4.4.7 • reuse, recycle, incinerate or landfill</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C4.4.7  |  17</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waste hierarchy: best option at the top</a:t>
            </a:r>
            <a:endParaRPr lang="en-US" sz="1000" dirty="0"/>
          </a:p>
        </p:txBody>
      </p:sp>
      <p:sp>
        <p:nvSpPr>
          <p:cNvPr id="10" name="Shape 8"/>
          <p:cNvSpPr/>
          <p:nvPr/>
        </p:nvSpPr>
        <p:spPr>
          <a:xfrm>
            <a:off x="1097280" y="1371600"/>
            <a:ext cx="4663440" cy="594360"/>
          </a:xfrm>
          <a:prstGeom prst="rect">
            <a:avLst/>
          </a:prstGeom>
          <a:solidFill>
            <a:srgbClr val="2E8B57"/>
          </a:solidFill>
          <a:ln w="9525">
            <a:solidFill>
              <a:srgbClr val="2A1F3D"/>
            </a:solidFill>
            <a:prstDash val="solid"/>
          </a:ln>
        </p:spPr>
      </p:sp>
      <p:sp>
        <p:nvSpPr>
          <p:cNvPr id="11" name="Text 9"/>
          <p:cNvSpPr/>
          <p:nvPr/>
        </p:nvSpPr>
        <p:spPr>
          <a:xfrm>
            <a:off x="1097280" y="1389888"/>
            <a:ext cx="466344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Reduce</a:t>
            </a:r>
            <a:endParaRPr lang="en-US" sz="1150" dirty="0"/>
          </a:p>
        </p:txBody>
      </p:sp>
      <p:sp>
        <p:nvSpPr>
          <p:cNvPr id="12" name="Text 10"/>
          <p:cNvSpPr/>
          <p:nvPr/>
        </p:nvSpPr>
        <p:spPr>
          <a:xfrm>
            <a:off x="1097280" y="1645920"/>
            <a:ext cx="466344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use less material in the first place</a:t>
            </a:r>
            <a:endParaRPr lang="en-US" sz="1000" dirty="0"/>
          </a:p>
        </p:txBody>
      </p:sp>
      <p:sp>
        <p:nvSpPr>
          <p:cNvPr id="13" name="Shape 11"/>
          <p:cNvSpPr/>
          <p:nvPr/>
        </p:nvSpPr>
        <p:spPr>
          <a:xfrm>
            <a:off x="1394460" y="2057400"/>
            <a:ext cx="4069080" cy="594360"/>
          </a:xfrm>
          <a:prstGeom prst="rect">
            <a:avLst/>
          </a:prstGeom>
          <a:solidFill>
            <a:srgbClr val="4FA36B"/>
          </a:solidFill>
          <a:ln w="9525">
            <a:solidFill>
              <a:srgbClr val="2A1F3D"/>
            </a:solidFill>
            <a:prstDash val="solid"/>
          </a:ln>
        </p:spPr>
      </p:sp>
      <p:sp>
        <p:nvSpPr>
          <p:cNvPr id="14" name="Text 12"/>
          <p:cNvSpPr/>
          <p:nvPr/>
        </p:nvSpPr>
        <p:spPr>
          <a:xfrm>
            <a:off x="1394460" y="2075688"/>
            <a:ext cx="406908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Reuse</a:t>
            </a:r>
            <a:endParaRPr lang="en-US" sz="1150" dirty="0"/>
          </a:p>
        </p:txBody>
      </p:sp>
      <p:sp>
        <p:nvSpPr>
          <p:cNvPr id="15" name="Text 13"/>
          <p:cNvSpPr/>
          <p:nvPr/>
        </p:nvSpPr>
        <p:spPr>
          <a:xfrm>
            <a:off x="1394460" y="2331720"/>
            <a:ext cx="406908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use the product again (refill, repair)</a:t>
            </a:r>
            <a:endParaRPr lang="en-US" sz="1000" dirty="0"/>
          </a:p>
        </p:txBody>
      </p:sp>
      <p:sp>
        <p:nvSpPr>
          <p:cNvPr id="16" name="Shape 14"/>
          <p:cNvSpPr/>
          <p:nvPr/>
        </p:nvSpPr>
        <p:spPr>
          <a:xfrm>
            <a:off x="1691640" y="2743200"/>
            <a:ext cx="3474720" cy="594360"/>
          </a:xfrm>
          <a:prstGeom prst="rect">
            <a:avLst/>
          </a:prstGeom>
          <a:solidFill>
            <a:srgbClr val="8DBE5A"/>
          </a:solidFill>
          <a:ln w="9525">
            <a:solidFill>
              <a:srgbClr val="2A1F3D"/>
            </a:solidFill>
            <a:prstDash val="solid"/>
          </a:ln>
        </p:spPr>
      </p:sp>
      <p:sp>
        <p:nvSpPr>
          <p:cNvPr id="17" name="Text 15"/>
          <p:cNvSpPr/>
          <p:nvPr/>
        </p:nvSpPr>
        <p:spPr>
          <a:xfrm>
            <a:off x="1691640" y="2761488"/>
            <a:ext cx="34747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Recycle</a:t>
            </a:r>
            <a:endParaRPr lang="en-US" sz="1150" dirty="0"/>
          </a:p>
        </p:txBody>
      </p:sp>
      <p:sp>
        <p:nvSpPr>
          <p:cNvPr id="18" name="Text 16"/>
          <p:cNvSpPr/>
          <p:nvPr/>
        </p:nvSpPr>
        <p:spPr>
          <a:xfrm>
            <a:off x="1691640" y="3017520"/>
            <a:ext cx="347472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make the material into new products</a:t>
            </a:r>
            <a:endParaRPr lang="en-US" sz="1000" dirty="0"/>
          </a:p>
        </p:txBody>
      </p:sp>
      <p:sp>
        <p:nvSpPr>
          <p:cNvPr id="19" name="Shape 17"/>
          <p:cNvSpPr/>
          <p:nvPr/>
        </p:nvSpPr>
        <p:spPr>
          <a:xfrm>
            <a:off x="1988820" y="3429000"/>
            <a:ext cx="2880360" cy="594360"/>
          </a:xfrm>
          <a:prstGeom prst="rect">
            <a:avLst/>
          </a:prstGeom>
          <a:solidFill>
            <a:srgbClr val="E3A93A"/>
          </a:solidFill>
          <a:ln w="9525">
            <a:solidFill>
              <a:srgbClr val="2A1F3D"/>
            </a:solidFill>
            <a:prstDash val="solid"/>
          </a:ln>
        </p:spPr>
      </p:sp>
      <p:sp>
        <p:nvSpPr>
          <p:cNvPr id="20" name="Text 18"/>
          <p:cNvSpPr/>
          <p:nvPr/>
        </p:nvSpPr>
        <p:spPr>
          <a:xfrm>
            <a:off x="1988820" y="3447288"/>
            <a:ext cx="288036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Recover energy</a:t>
            </a:r>
            <a:endParaRPr lang="en-US" sz="1150" dirty="0"/>
          </a:p>
        </p:txBody>
      </p:sp>
      <p:sp>
        <p:nvSpPr>
          <p:cNvPr id="21" name="Text 19"/>
          <p:cNvSpPr/>
          <p:nvPr/>
        </p:nvSpPr>
        <p:spPr>
          <a:xfrm>
            <a:off x="1988820" y="3703320"/>
            <a:ext cx="288036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incinerate and generate electricity</a:t>
            </a:r>
            <a:endParaRPr lang="en-US" sz="1000" dirty="0"/>
          </a:p>
        </p:txBody>
      </p:sp>
      <p:sp>
        <p:nvSpPr>
          <p:cNvPr id="22" name="Shape 20"/>
          <p:cNvSpPr/>
          <p:nvPr/>
        </p:nvSpPr>
        <p:spPr>
          <a:xfrm>
            <a:off x="2286000" y="4114800"/>
            <a:ext cx="2286000" cy="594360"/>
          </a:xfrm>
          <a:prstGeom prst="rect">
            <a:avLst/>
          </a:prstGeom>
          <a:solidFill>
            <a:srgbClr val="C8414C"/>
          </a:solidFill>
          <a:ln w="9525">
            <a:solidFill>
              <a:srgbClr val="2A1F3D"/>
            </a:solidFill>
            <a:prstDash val="solid"/>
          </a:ln>
        </p:spPr>
      </p:sp>
      <p:sp>
        <p:nvSpPr>
          <p:cNvPr id="23" name="Text 21"/>
          <p:cNvSpPr/>
          <p:nvPr/>
        </p:nvSpPr>
        <p:spPr>
          <a:xfrm>
            <a:off x="2286000" y="4133088"/>
            <a:ext cx="228600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Landfill</a:t>
            </a:r>
            <a:endParaRPr lang="en-US" sz="1150" dirty="0"/>
          </a:p>
        </p:txBody>
      </p:sp>
      <p:sp>
        <p:nvSpPr>
          <p:cNvPr id="24" name="Text 22"/>
          <p:cNvSpPr/>
          <p:nvPr/>
        </p:nvSpPr>
        <p:spPr>
          <a:xfrm>
            <a:off x="2286000" y="4389120"/>
            <a:ext cx="228600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bury in the ground: last resort</a:t>
            </a:r>
            <a:endParaRPr lang="en-US" sz="1000" dirty="0"/>
          </a:p>
        </p:txBody>
      </p:sp>
      <p:sp>
        <p:nvSpPr>
          <p:cNvPr id="25" name="Shape 23"/>
          <p:cNvSpPr/>
          <p:nvPr/>
        </p:nvSpPr>
        <p:spPr>
          <a:xfrm flipV="1">
            <a:off x="640080" y="1417320"/>
            <a:ext cx="91" cy="3291840"/>
          </a:xfrm>
          <a:prstGeom prst="line">
            <a:avLst/>
          </a:prstGeom>
          <a:noFill/>
          <a:ln w="31750">
            <a:solidFill>
              <a:srgbClr val="2E8B57"/>
            </a:solidFill>
            <a:prstDash val="solid"/>
            <a:tailEnd type="triangle"/>
          </a:ln>
        </p:spPr>
      </p:sp>
      <p:sp>
        <p:nvSpPr>
          <p:cNvPr id="26" name="Text 24"/>
          <p:cNvSpPr/>
          <p:nvPr/>
        </p:nvSpPr>
        <p:spPr>
          <a:xfrm>
            <a:off x="411480" y="4800600"/>
            <a:ext cx="1371600" cy="411480"/>
          </a:xfrm>
          <a:prstGeom prst="rect">
            <a:avLst/>
          </a:prstGeom>
          <a:noFill/>
          <a:ln/>
        </p:spPr>
        <p:txBody>
          <a:bodyPr wrap="square" lIns="0" tIns="0" rIns="0" bIns="0" rtlCol="0" anchor="t"/>
          <a:lstStyle/>
          <a:p>
            <a:pPr algn="l" indent="0" marL="0">
              <a:buNone/>
            </a:pPr>
            <a:r>
              <a:rPr lang="en-US" sz="1000" b="1" dirty="0">
                <a:solidFill>
                  <a:srgbClr val="2E8B57"/>
                </a:solidFill>
                <a:latin typeface="Calibri" pitchFamily="34" charset="0"/>
                <a:ea typeface="Calibri" pitchFamily="34" charset="-122"/>
                <a:cs typeface="Calibri" pitchFamily="34" charset="-120"/>
              </a:rPr>
              <a:t>better for the environment</a:t>
            </a:r>
            <a:endParaRPr lang="en-US" sz="1000" dirty="0"/>
          </a:p>
        </p:txBody>
      </p:sp>
      <p:sp>
        <p:nvSpPr>
          <p:cNvPr id="27" name="Text 25"/>
          <p:cNvSpPr/>
          <p:nvPr/>
        </p:nvSpPr>
        <p:spPr>
          <a:xfrm>
            <a:off x="1828800" y="4892040"/>
            <a:ext cx="4023360" cy="36576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Household waste: </a:t>
            </a:r>
            <a:r>
              <a:rPr lang="en-US" sz="1050" b="1" dirty="0">
                <a:solidFill>
                  <a:srgbClr val="262B3A"/>
                </a:solidFill>
                <a:latin typeface="Calibri" pitchFamily="34" charset="0"/>
                <a:ea typeface="Calibri" pitchFamily="34" charset="-122"/>
                <a:cs typeface="Calibri" pitchFamily="34" charset="-120"/>
              </a:rPr>
              <a:t>400 kg</a:t>
            </a:r>
            <a:r>
              <a:rPr lang="en-US" sz="1050" dirty="0">
                <a:solidFill>
                  <a:srgbClr val="262B3A"/>
                </a:solidFill>
                <a:latin typeface="Calibri" pitchFamily="34" charset="0"/>
                <a:ea typeface="Calibri" pitchFamily="34" charset="-122"/>
                <a:cs typeface="Calibri" pitchFamily="34" charset="-120"/>
              </a:rPr>
              <a:t> a year per home (illustrative)</a:t>
            </a:r>
            <a:endParaRPr lang="en-US" sz="1050" dirty="0"/>
          </a:p>
        </p:txBody>
      </p:sp>
      <p:sp>
        <p:nvSpPr>
          <p:cNvPr id="28" name="Shape 26"/>
          <p:cNvSpPr/>
          <p:nvPr/>
        </p:nvSpPr>
        <p:spPr>
          <a:xfrm>
            <a:off x="6217920" y="1188720"/>
            <a:ext cx="5562295" cy="2971800"/>
          </a:xfrm>
          <a:prstGeom prst="roundRect">
            <a:avLst>
              <a:gd name="adj" fmla="val 1846"/>
            </a:avLst>
          </a:prstGeom>
          <a:solidFill>
            <a:srgbClr val="F8F5FC"/>
          </a:solidFill>
          <a:ln w="9525">
            <a:solidFill>
              <a:srgbClr val="DDD3EC"/>
            </a:solidFill>
            <a:prstDash val="solid"/>
          </a:ln>
        </p:spPr>
      </p:sp>
      <p:sp>
        <p:nvSpPr>
          <p:cNvPr id="29" name="Text 2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Disposal choices</a:t>
            </a:r>
            <a:endParaRPr lang="en-US" sz="1300" dirty="0"/>
          </a:p>
        </p:txBody>
      </p:sp>
      <p:sp>
        <p:nvSpPr>
          <p:cNvPr id="30" name="Text 28"/>
          <p:cNvSpPr/>
          <p:nvPr/>
        </p:nvSpPr>
        <p:spPr>
          <a:xfrm>
            <a:off x="6382512" y="1609344"/>
            <a:ext cx="5233111" cy="247802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Reuse</a:t>
            </a:r>
            <a:r>
              <a:rPr lang="en-US" sz="1100" dirty="0">
                <a:solidFill>
                  <a:srgbClr val="262B3A"/>
                </a:solidFill>
                <a:latin typeface="Calibri" pitchFamily="34" charset="0"/>
                <a:ea typeface="Calibri" pitchFamily="34" charset="-122"/>
                <a:cs typeface="Calibri" pitchFamily="34" charset="-120"/>
              </a:rPr>
              <a:t>: little extra energy; e.g. refillable glass bottles, repairing a phone.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Recycle</a:t>
            </a:r>
            <a:r>
              <a:rPr lang="en-US" sz="1100" dirty="0">
                <a:solidFill>
                  <a:srgbClr val="262B3A"/>
                </a:solidFill>
                <a:latin typeface="Calibri" pitchFamily="34" charset="0"/>
                <a:ea typeface="Calibri" pitchFamily="34" charset="-122"/>
                <a:cs typeface="Calibri" pitchFamily="34" charset="-120"/>
              </a:rPr>
              <a:t>: saves </a:t>
            </a:r>
            <a:r>
              <a:rPr lang="en-US" sz="1100" b="1" dirty="0">
                <a:solidFill>
                  <a:srgbClr val="262B3A"/>
                </a:solidFill>
                <a:latin typeface="Calibri" pitchFamily="34" charset="0"/>
                <a:ea typeface="Calibri" pitchFamily="34" charset="-122"/>
                <a:cs typeface="Calibri" pitchFamily="34" charset="-120"/>
              </a:rPr>
              <a:t>raw materials</a:t>
            </a:r>
            <a:r>
              <a:rPr lang="en-US" sz="1100" dirty="0">
                <a:solidFill>
                  <a:srgbClr val="262B3A"/>
                </a:solidFill>
                <a:latin typeface="Calibri" pitchFamily="34" charset="0"/>
                <a:ea typeface="Calibri" pitchFamily="34" charset="-122"/>
                <a:cs typeface="Calibri" pitchFamily="34" charset="-120"/>
              </a:rPr>
              <a:t> and usually </a:t>
            </a:r>
            <a:r>
              <a:rPr lang="en-US" sz="1100" b="1" dirty="0">
                <a:solidFill>
                  <a:srgbClr val="262B3A"/>
                </a:solidFill>
                <a:latin typeface="Calibri" pitchFamily="34" charset="0"/>
                <a:ea typeface="Calibri" pitchFamily="34" charset="-122"/>
                <a:cs typeface="Calibri" pitchFamily="34" charset="-120"/>
              </a:rPr>
              <a:t>energy</a:t>
            </a:r>
            <a:r>
              <a:rPr lang="en-US" sz="1100" dirty="0">
                <a:solidFill>
                  <a:srgbClr val="262B3A"/>
                </a:solidFill>
                <a:latin typeface="Calibri" pitchFamily="34" charset="0"/>
                <a:ea typeface="Calibri" pitchFamily="34" charset="-122"/>
                <a:cs typeface="Calibri" pitchFamily="34" charset="-120"/>
              </a:rPr>
              <a:t>; needs collecting, </a:t>
            </a:r>
            <a:r>
              <a:rPr lang="en-US" sz="1100" b="1" dirty="0">
                <a:solidFill>
                  <a:srgbClr val="262B3A"/>
                </a:solidFill>
                <a:latin typeface="Calibri" pitchFamily="34" charset="0"/>
                <a:ea typeface="Calibri" pitchFamily="34" charset="-122"/>
                <a:cs typeface="Calibri" pitchFamily="34" charset="-120"/>
              </a:rPr>
              <a:t>sorting</a:t>
            </a:r>
            <a:r>
              <a:rPr lang="en-US" sz="1100" dirty="0">
                <a:solidFill>
                  <a:srgbClr val="262B3A"/>
                </a:solidFill>
                <a:latin typeface="Calibri" pitchFamily="34" charset="0"/>
                <a:ea typeface="Calibri" pitchFamily="34" charset="-122"/>
                <a:cs typeface="Calibri" pitchFamily="34" charset="-120"/>
              </a:rPr>
              <a:t> and cleaning.</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Incinerate</a:t>
            </a:r>
            <a:r>
              <a:rPr lang="en-US" sz="1100" dirty="0">
                <a:solidFill>
                  <a:srgbClr val="262B3A"/>
                </a:solidFill>
                <a:latin typeface="Calibri" pitchFamily="34" charset="0"/>
                <a:ea typeface="Calibri" pitchFamily="34" charset="-122"/>
                <a:cs typeface="Calibri" pitchFamily="34" charset="-120"/>
              </a:rPr>
              <a:t>: reduces volume and can generate electricity, but releases </a:t>
            </a:r>
            <a:r>
              <a:rPr lang="en-US" sz="1100" b="1" dirty="0">
                <a:solidFill>
                  <a:srgbClr val="262B3A"/>
                </a:solidFill>
                <a:latin typeface="Calibri" pitchFamily="34" charset="0"/>
                <a:ea typeface="Calibri" pitchFamily="34" charset="-122"/>
                <a:cs typeface="Calibri" pitchFamily="34" charset="-120"/>
              </a:rPr>
              <a:t>CO₂</a:t>
            </a:r>
            <a:r>
              <a:rPr lang="en-US" sz="1100" dirty="0">
                <a:solidFill>
                  <a:srgbClr val="262B3A"/>
                </a:solidFill>
                <a:latin typeface="Calibri" pitchFamily="34" charset="0"/>
                <a:ea typeface="Calibri" pitchFamily="34" charset="-122"/>
                <a:cs typeface="Calibri" pitchFamily="34" charset="-120"/>
              </a:rPr>
              <a:t> and possibly toxic gases.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Landfill</a:t>
            </a:r>
            <a:r>
              <a:rPr lang="en-US" sz="1100" dirty="0">
                <a:solidFill>
                  <a:srgbClr val="262B3A"/>
                </a:solidFill>
                <a:latin typeface="Calibri" pitchFamily="34" charset="0"/>
                <a:ea typeface="Calibri" pitchFamily="34" charset="-122"/>
                <a:cs typeface="Calibri" pitchFamily="34" charset="-120"/>
              </a:rPr>
              <a:t>: cheap, but uses land, wastes resources; plastics persist; rotting waste releases </a:t>
            </a:r>
            <a:r>
              <a:rPr lang="en-US" sz="1100" b="1" dirty="0">
                <a:solidFill>
                  <a:srgbClr val="262B3A"/>
                </a:solidFill>
                <a:latin typeface="Calibri" pitchFamily="34" charset="0"/>
                <a:ea typeface="Calibri" pitchFamily="34" charset="-122"/>
                <a:cs typeface="Calibri" pitchFamily="34" charset="-120"/>
              </a:rPr>
              <a:t>methane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Extending </a:t>
            </a:r>
            <a:r>
              <a:rPr lang="en-US" sz="1100" b="1" dirty="0">
                <a:solidFill>
                  <a:srgbClr val="262B3A"/>
                </a:solidFill>
                <a:latin typeface="Calibri" pitchFamily="34" charset="0"/>
                <a:ea typeface="Calibri" pitchFamily="34" charset="-122"/>
                <a:cs typeface="Calibri" pitchFamily="34" charset="-120"/>
              </a:rPr>
              <a:t>useful life</a:t>
            </a:r>
            <a:r>
              <a:rPr lang="en-US" sz="1100" dirty="0">
                <a:solidFill>
                  <a:srgbClr val="262B3A"/>
                </a:solidFill>
                <a:latin typeface="Calibri" pitchFamily="34" charset="0"/>
                <a:ea typeface="Calibri" pitchFamily="34" charset="-122"/>
                <a:cs typeface="Calibri" pitchFamily="34" charset="-120"/>
              </a:rPr>
              <a:t> (repair, rust prevention) delays all of these.</a:t>
            </a:r>
            <a:endParaRPr lang="en-US" sz="1100" dirty="0"/>
          </a:p>
        </p:txBody>
      </p:sp>
      <p:sp>
        <p:nvSpPr>
          <p:cNvPr id="31" name="Shape 29"/>
          <p:cNvSpPr/>
          <p:nvPr/>
        </p:nvSpPr>
        <p:spPr>
          <a:xfrm>
            <a:off x="6217920" y="4297680"/>
            <a:ext cx="5562295" cy="1417320"/>
          </a:xfrm>
          <a:prstGeom prst="roundRect">
            <a:avLst>
              <a:gd name="adj" fmla="val 3871"/>
            </a:avLst>
          </a:prstGeom>
          <a:solidFill>
            <a:srgbClr val="FFF4E0"/>
          </a:solidFill>
          <a:ln w="9525">
            <a:solidFill>
              <a:srgbClr val="F1D9A8"/>
            </a:solidFill>
            <a:prstDash val="solid"/>
          </a:ln>
        </p:spPr>
      </p:sp>
      <p:sp>
        <p:nvSpPr>
          <p:cNvPr id="32" name="Text 30"/>
          <p:cNvSpPr/>
          <p:nvPr/>
        </p:nvSpPr>
        <p:spPr>
          <a:xfrm>
            <a:off x="6382512" y="43708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waste data</a:t>
            </a:r>
            <a:endParaRPr lang="en-US" sz="1300" dirty="0"/>
          </a:p>
        </p:txBody>
      </p:sp>
      <p:sp>
        <p:nvSpPr>
          <p:cNvPr id="33" name="Text 31"/>
          <p:cNvSpPr/>
          <p:nvPr/>
        </p:nvSpPr>
        <p:spPr>
          <a:xfrm>
            <a:off x="6382512" y="4681728"/>
            <a:ext cx="5233111" cy="9601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400 kg: 45% recycled, 100 kg incinerated, the rest to landfill.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Recycled   </a:t>
            </a:r>
            <a:r>
              <a:rPr lang="en-US" sz="1050" dirty="0">
                <a:solidFill>
                  <a:srgbClr val="262B3A"/>
                </a:solidFill>
                <a:latin typeface="Calibri" pitchFamily="34" charset="0"/>
                <a:ea typeface="Calibri" pitchFamily="34" charset="-122"/>
                <a:cs typeface="Calibri" pitchFamily="34" charset="-120"/>
              </a:rPr>
              <a:t>400 × 0.45 = 180 kg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Landfill   </a:t>
            </a:r>
            <a:r>
              <a:rPr lang="en-US" sz="1050" dirty="0">
                <a:solidFill>
                  <a:srgbClr val="262B3A"/>
                </a:solidFill>
                <a:latin typeface="Calibri" pitchFamily="34" charset="0"/>
                <a:ea typeface="Calibri" pitchFamily="34" charset="-122"/>
                <a:cs typeface="Calibri" pitchFamily="34" charset="-120"/>
              </a:rPr>
              <a:t>400 − 180 − 100 = 120 kg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120 ÷ 400 × 100 = </a:t>
            </a:r>
            <a:r>
              <a:rPr lang="en-US" sz="1050" b="1" dirty="0">
                <a:solidFill>
                  <a:srgbClr val="C8414C"/>
                </a:solidFill>
                <a:latin typeface="Calibri" pitchFamily="34" charset="0"/>
                <a:ea typeface="Calibri" pitchFamily="34" charset="-122"/>
                <a:cs typeface="Calibri" pitchFamily="34" charset="-120"/>
              </a:rPr>
              <a:t>30%</a:t>
            </a:r>
            <a:r>
              <a:rPr lang="en-US" sz="1050" b="1" dirty="0">
                <a:solidFill>
                  <a:srgbClr val="C8414C"/>
                </a:solidFill>
                <a:latin typeface="Calibri" pitchFamily="34" charset="0"/>
                <a:ea typeface="Calibri" pitchFamily="34" charset="-122"/>
                <a:cs typeface="Calibri" pitchFamily="34" charset="-120"/>
              </a:rPr>
              <a:t> to landfill</a:t>
            </a:r>
            <a:endParaRPr lang="en-US" sz="1050" dirty="0"/>
          </a:p>
        </p:txBody>
      </p:sp>
      <p:sp>
        <p:nvSpPr>
          <p:cNvPr id="34" name="Shape 32"/>
          <p:cNvSpPr/>
          <p:nvPr/>
        </p:nvSpPr>
        <p:spPr>
          <a:xfrm>
            <a:off x="411480" y="5833872"/>
            <a:ext cx="11368735" cy="530352"/>
          </a:xfrm>
          <a:prstGeom prst="rect">
            <a:avLst/>
          </a:prstGeom>
          <a:solidFill>
            <a:srgbClr val="FFF4E0"/>
          </a:solidFill>
          <a:ln w="6350">
            <a:solidFill>
              <a:srgbClr val="F1D9A8"/>
            </a:solidFill>
            <a:prstDash val="solid"/>
          </a:ln>
        </p:spPr>
      </p:sp>
      <p:sp>
        <p:nvSpPr>
          <p:cNvPr id="35" name="Shape 33"/>
          <p:cNvSpPr/>
          <p:nvPr/>
        </p:nvSpPr>
        <p:spPr>
          <a:xfrm>
            <a:off x="411480" y="5833872"/>
            <a:ext cx="82296" cy="530352"/>
          </a:xfrm>
          <a:prstGeom prst="rect">
            <a:avLst/>
          </a:prstGeom>
          <a:solidFill>
            <a:srgbClr val="E39A2F"/>
          </a:solidFill>
          <a:ln w="12700">
            <a:solidFill>
              <a:srgbClr val="E39A2F"/>
            </a:solidFill>
            <a:prstDash val="solid"/>
          </a:ln>
        </p:spPr>
      </p:sp>
      <p:sp>
        <p:nvSpPr>
          <p:cNvPr id="36" name="Text 3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a:t>
            </a:r>
            <a:r>
              <a:rPr lang="en-US" sz="1150" b="1" dirty="0">
                <a:solidFill>
                  <a:srgbClr val="262B3A"/>
                </a:solidFill>
                <a:latin typeface="Calibri" pitchFamily="34" charset="0"/>
                <a:ea typeface="Calibri" pitchFamily="34" charset="-122"/>
                <a:cs typeface="Calibri" pitchFamily="34" charset="-120"/>
              </a:rPr>
              <a:t>reuse</a:t>
            </a:r>
            <a:r>
              <a:rPr lang="en-US" sz="1150" dirty="0">
                <a:solidFill>
                  <a:srgbClr val="262B3A"/>
                </a:solidFill>
                <a:latin typeface="Calibri" pitchFamily="34" charset="0"/>
                <a:ea typeface="Calibri" pitchFamily="34" charset="-122"/>
                <a:cs typeface="Calibri" pitchFamily="34" charset="-120"/>
              </a:rPr>
              <a:t> usually better than </a:t>
            </a:r>
            <a:r>
              <a:rPr lang="en-US" sz="1150" b="1" dirty="0">
                <a:solidFill>
                  <a:srgbClr val="262B3A"/>
                </a:solidFill>
                <a:latin typeface="Calibri" pitchFamily="34" charset="0"/>
                <a:ea typeface="Calibri" pitchFamily="34" charset="-122"/>
                <a:cs typeface="Calibri" pitchFamily="34" charset="-120"/>
              </a:rPr>
              <a:t>recycling</a:t>
            </a:r>
            <a:r>
              <a:rPr lang="en-US" sz="1150" dirty="0">
                <a:solidFill>
                  <a:srgbClr val="262B3A"/>
                </a:solidFill>
                <a:latin typeface="Calibri" pitchFamily="34" charset="0"/>
                <a:ea typeface="Calibri" pitchFamily="34" charset="-122"/>
                <a:cs typeface="Calibri" pitchFamily="34" charset="-120"/>
              </a:rPr>
              <a:t>? A home makes </a:t>
            </a:r>
            <a:r>
              <a:rPr lang="en-US" sz="1150" b="1" dirty="0">
                <a:solidFill>
                  <a:srgbClr val="262B3A"/>
                </a:solidFill>
                <a:latin typeface="Calibri" pitchFamily="34" charset="0"/>
                <a:ea typeface="Calibri" pitchFamily="34" charset="-122"/>
                <a:cs typeface="Calibri" pitchFamily="34" charset="-120"/>
              </a:rPr>
              <a:t>480 kg</a:t>
            </a:r>
            <a:r>
              <a:rPr lang="en-US" sz="1150" dirty="0">
                <a:solidFill>
                  <a:srgbClr val="262B3A"/>
                </a:solidFill>
                <a:latin typeface="Calibri" pitchFamily="34" charset="0"/>
                <a:ea typeface="Calibri" pitchFamily="34" charset="-122"/>
                <a:cs typeface="Calibri" pitchFamily="34" charset="-120"/>
              </a:rPr>
              <a:t> of waste and recycles </a:t>
            </a:r>
            <a:r>
              <a:rPr lang="en-US" sz="1150" b="1" dirty="0">
                <a:solidFill>
                  <a:srgbClr val="262B3A"/>
                </a:solidFill>
                <a:latin typeface="Calibri" pitchFamily="34" charset="0"/>
                <a:ea typeface="Calibri" pitchFamily="34" charset="-122"/>
                <a:cs typeface="Calibri" pitchFamily="34" charset="-120"/>
              </a:rPr>
              <a:t>25%</a:t>
            </a:r>
            <a:r>
              <a:rPr lang="en-US" sz="1150" dirty="0">
                <a:solidFill>
                  <a:srgbClr val="262B3A"/>
                </a:solidFill>
                <a:latin typeface="Calibri" pitchFamily="34" charset="0"/>
                <a:ea typeface="Calibri" pitchFamily="34" charset="-122"/>
                <a:cs typeface="Calibri" pitchFamily="34" charset="-120"/>
              </a:rPr>
              <a:t>: how many kg is recycled?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Recycling for a different use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C4.4.6 • a process where a material is recycled for a different use, and why it is viable</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C4.4.6  |  18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PET drinks bottles recycled into fleece fibre; chains not to scale</a:t>
            </a:r>
            <a:endParaRPr lang="en-US" sz="1000" dirty="0"/>
          </a:p>
        </p:txBody>
      </p:sp>
      <p:sp>
        <p:nvSpPr>
          <p:cNvPr id="10" name="Shape 8"/>
          <p:cNvSpPr/>
          <p:nvPr/>
        </p:nvSpPr>
        <p:spPr>
          <a:xfrm>
            <a:off x="640080" y="1371600"/>
            <a:ext cx="2331720" cy="621792"/>
          </a:xfrm>
          <a:prstGeom prst="roundRect">
            <a:avLst>
              <a:gd name="adj" fmla="val 8824"/>
            </a:avLst>
          </a:prstGeom>
          <a:solidFill>
            <a:srgbClr val="F8F5FC"/>
          </a:solidFill>
          <a:ln w="9525">
            <a:solidFill>
              <a:srgbClr val="6A3FA0"/>
            </a:solidFill>
            <a:prstDash val="solid"/>
          </a:ln>
        </p:spPr>
      </p:sp>
      <p:sp>
        <p:nvSpPr>
          <p:cNvPr id="11" name="Text 9"/>
          <p:cNvSpPr/>
          <p:nvPr/>
        </p:nvSpPr>
        <p:spPr>
          <a:xfrm>
            <a:off x="694944" y="1371600"/>
            <a:ext cx="2221992" cy="621792"/>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 Collect</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bottles in recycling bins</a:t>
            </a:r>
            <a:endParaRPr lang="en-US" sz="1000" dirty="0"/>
          </a:p>
        </p:txBody>
      </p:sp>
      <p:sp>
        <p:nvSpPr>
          <p:cNvPr id="12" name="Shape 10"/>
          <p:cNvSpPr/>
          <p:nvPr/>
        </p:nvSpPr>
        <p:spPr>
          <a:xfrm>
            <a:off x="1801368" y="1993392"/>
            <a:ext cx="91" cy="155448"/>
          </a:xfrm>
          <a:prstGeom prst="line">
            <a:avLst/>
          </a:prstGeom>
          <a:noFill/>
          <a:ln w="19050">
            <a:solidFill>
              <a:srgbClr val="2A1F3D"/>
            </a:solidFill>
            <a:prstDash val="solid"/>
            <a:tailEnd type="triangle"/>
          </a:ln>
        </p:spPr>
      </p:sp>
      <p:sp>
        <p:nvSpPr>
          <p:cNvPr id="13" name="Shape 11"/>
          <p:cNvSpPr/>
          <p:nvPr/>
        </p:nvSpPr>
        <p:spPr>
          <a:xfrm>
            <a:off x="640080" y="2148840"/>
            <a:ext cx="2331720" cy="621792"/>
          </a:xfrm>
          <a:prstGeom prst="roundRect">
            <a:avLst>
              <a:gd name="adj" fmla="val 8824"/>
            </a:avLst>
          </a:prstGeom>
          <a:solidFill>
            <a:srgbClr val="FFFFFF"/>
          </a:solidFill>
          <a:ln w="9525">
            <a:solidFill>
              <a:srgbClr val="6A3FA0"/>
            </a:solidFill>
            <a:prstDash val="solid"/>
          </a:ln>
        </p:spPr>
      </p:sp>
      <p:sp>
        <p:nvSpPr>
          <p:cNvPr id="14" name="Text 12"/>
          <p:cNvSpPr/>
          <p:nvPr/>
        </p:nvSpPr>
        <p:spPr>
          <a:xfrm>
            <a:off x="694944" y="2148840"/>
            <a:ext cx="2221992" cy="621792"/>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2 Sort</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PET separated from other plastics</a:t>
            </a:r>
            <a:endParaRPr lang="en-US" sz="1000" dirty="0"/>
          </a:p>
        </p:txBody>
      </p:sp>
      <p:sp>
        <p:nvSpPr>
          <p:cNvPr id="15" name="Shape 13"/>
          <p:cNvSpPr/>
          <p:nvPr/>
        </p:nvSpPr>
        <p:spPr>
          <a:xfrm>
            <a:off x="1801368" y="2770632"/>
            <a:ext cx="91" cy="155448"/>
          </a:xfrm>
          <a:prstGeom prst="line">
            <a:avLst/>
          </a:prstGeom>
          <a:noFill/>
          <a:ln w="19050">
            <a:solidFill>
              <a:srgbClr val="2A1F3D"/>
            </a:solidFill>
            <a:prstDash val="solid"/>
            <a:tailEnd type="triangle"/>
          </a:ln>
        </p:spPr>
      </p:sp>
      <p:sp>
        <p:nvSpPr>
          <p:cNvPr id="16" name="Shape 14"/>
          <p:cNvSpPr/>
          <p:nvPr/>
        </p:nvSpPr>
        <p:spPr>
          <a:xfrm>
            <a:off x="640080" y="2926080"/>
            <a:ext cx="2331720" cy="621792"/>
          </a:xfrm>
          <a:prstGeom prst="roundRect">
            <a:avLst>
              <a:gd name="adj" fmla="val 8824"/>
            </a:avLst>
          </a:prstGeom>
          <a:solidFill>
            <a:srgbClr val="F8F5FC"/>
          </a:solidFill>
          <a:ln w="9525">
            <a:solidFill>
              <a:srgbClr val="6A3FA0"/>
            </a:solidFill>
            <a:prstDash val="solid"/>
          </a:ln>
        </p:spPr>
      </p:sp>
      <p:sp>
        <p:nvSpPr>
          <p:cNvPr id="17" name="Text 15"/>
          <p:cNvSpPr/>
          <p:nvPr/>
        </p:nvSpPr>
        <p:spPr>
          <a:xfrm>
            <a:off x="694944" y="2926080"/>
            <a:ext cx="2221992" cy="621792"/>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3 Wash and shred</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into small flakes</a:t>
            </a:r>
            <a:endParaRPr lang="en-US" sz="1000" dirty="0"/>
          </a:p>
        </p:txBody>
      </p:sp>
      <p:sp>
        <p:nvSpPr>
          <p:cNvPr id="18" name="Shape 16"/>
          <p:cNvSpPr/>
          <p:nvPr/>
        </p:nvSpPr>
        <p:spPr>
          <a:xfrm>
            <a:off x="3337560" y="1371600"/>
            <a:ext cx="2331720" cy="621792"/>
          </a:xfrm>
          <a:prstGeom prst="roundRect">
            <a:avLst>
              <a:gd name="adj" fmla="val 8824"/>
            </a:avLst>
          </a:prstGeom>
          <a:solidFill>
            <a:srgbClr val="FFFFFF"/>
          </a:solidFill>
          <a:ln w="9525">
            <a:solidFill>
              <a:srgbClr val="6A3FA0"/>
            </a:solidFill>
            <a:prstDash val="solid"/>
          </a:ln>
        </p:spPr>
      </p:sp>
      <p:sp>
        <p:nvSpPr>
          <p:cNvPr id="19" name="Text 17"/>
          <p:cNvSpPr/>
          <p:nvPr/>
        </p:nvSpPr>
        <p:spPr>
          <a:xfrm>
            <a:off x="3392424" y="1371600"/>
            <a:ext cx="2221992" cy="621792"/>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4 Melt</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flakes soften and melt</a:t>
            </a:r>
            <a:endParaRPr lang="en-US" sz="1000" dirty="0"/>
          </a:p>
        </p:txBody>
      </p:sp>
      <p:sp>
        <p:nvSpPr>
          <p:cNvPr id="20" name="Shape 18"/>
          <p:cNvSpPr/>
          <p:nvPr/>
        </p:nvSpPr>
        <p:spPr>
          <a:xfrm>
            <a:off x="4498848" y="1993392"/>
            <a:ext cx="91" cy="155448"/>
          </a:xfrm>
          <a:prstGeom prst="line">
            <a:avLst/>
          </a:prstGeom>
          <a:noFill/>
          <a:ln w="19050">
            <a:solidFill>
              <a:srgbClr val="2A1F3D"/>
            </a:solidFill>
            <a:prstDash val="solid"/>
            <a:tailEnd type="triangle"/>
          </a:ln>
        </p:spPr>
      </p:sp>
      <p:sp>
        <p:nvSpPr>
          <p:cNvPr id="21" name="Shape 19"/>
          <p:cNvSpPr/>
          <p:nvPr/>
        </p:nvSpPr>
        <p:spPr>
          <a:xfrm>
            <a:off x="3337560" y="2148840"/>
            <a:ext cx="2331720" cy="621792"/>
          </a:xfrm>
          <a:prstGeom prst="roundRect">
            <a:avLst>
              <a:gd name="adj" fmla="val 8824"/>
            </a:avLst>
          </a:prstGeom>
          <a:solidFill>
            <a:srgbClr val="F8F5FC"/>
          </a:solidFill>
          <a:ln w="9525">
            <a:solidFill>
              <a:srgbClr val="6A3FA0"/>
            </a:solidFill>
            <a:prstDash val="solid"/>
          </a:ln>
        </p:spPr>
      </p:sp>
      <p:sp>
        <p:nvSpPr>
          <p:cNvPr id="22" name="Text 20"/>
          <p:cNvSpPr/>
          <p:nvPr/>
        </p:nvSpPr>
        <p:spPr>
          <a:xfrm>
            <a:off x="3392424" y="2148840"/>
            <a:ext cx="2221992" cy="621792"/>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5 Spin</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pull into fibres</a:t>
            </a:r>
            <a:endParaRPr lang="en-US" sz="1000" dirty="0"/>
          </a:p>
        </p:txBody>
      </p:sp>
      <p:sp>
        <p:nvSpPr>
          <p:cNvPr id="23" name="Shape 21"/>
          <p:cNvSpPr/>
          <p:nvPr/>
        </p:nvSpPr>
        <p:spPr>
          <a:xfrm>
            <a:off x="4498848" y="2770632"/>
            <a:ext cx="91" cy="155448"/>
          </a:xfrm>
          <a:prstGeom prst="line">
            <a:avLst/>
          </a:prstGeom>
          <a:noFill/>
          <a:ln w="19050">
            <a:solidFill>
              <a:srgbClr val="2A1F3D"/>
            </a:solidFill>
            <a:prstDash val="solid"/>
            <a:tailEnd type="triangle"/>
          </a:ln>
        </p:spPr>
      </p:sp>
      <p:sp>
        <p:nvSpPr>
          <p:cNvPr id="24" name="Shape 22"/>
          <p:cNvSpPr/>
          <p:nvPr/>
        </p:nvSpPr>
        <p:spPr>
          <a:xfrm>
            <a:off x="3337560" y="2926080"/>
            <a:ext cx="2331720" cy="621792"/>
          </a:xfrm>
          <a:prstGeom prst="roundRect">
            <a:avLst>
              <a:gd name="adj" fmla="val 8824"/>
            </a:avLst>
          </a:prstGeom>
          <a:solidFill>
            <a:srgbClr val="FFFFFF"/>
          </a:solidFill>
          <a:ln w="9525">
            <a:solidFill>
              <a:srgbClr val="6A3FA0"/>
            </a:solidFill>
            <a:prstDash val="solid"/>
          </a:ln>
        </p:spPr>
      </p:sp>
      <p:sp>
        <p:nvSpPr>
          <p:cNvPr id="25" name="Text 23"/>
          <p:cNvSpPr/>
          <p:nvPr/>
        </p:nvSpPr>
        <p:spPr>
          <a:xfrm>
            <a:off x="3392424" y="2926080"/>
            <a:ext cx="2221992" cy="621792"/>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6 Weave</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fleece jackets, carpets</a:t>
            </a:r>
            <a:endParaRPr lang="en-US" sz="1000" dirty="0"/>
          </a:p>
        </p:txBody>
      </p:sp>
      <p:sp>
        <p:nvSpPr>
          <p:cNvPr id="26" name="Shape 24"/>
          <p:cNvSpPr/>
          <p:nvPr/>
        </p:nvSpPr>
        <p:spPr>
          <a:xfrm flipV="1">
            <a:off x="2971800" y="1682496"/>
            <a:ext cx="365760" cy="1554480"/>
          </a:xfrm>
          <a:prstGeom prst="line">
            <a:avLst/>
          </a:prstGeom>
          <a:noFill/>
          <a:ln w="19050">
            <a:solidFill>
              <a:srgbClr val="2A1F3D"/>
            </a:solidFill>
            <a:prstDash val="solid"/>
            <a:tailEnd type="triangle"/>
          </a:ln>
        </p:spPr>
      </p:sp>
      <p:sp>
        <p:nvSpPr>
          <p:cNvPr id="27" name="Shape 25"/>
          <p:cNvSpPr/>
          <p:nvPr/>
        </p:nvSpPr>
        <p:spPr>
          <a:xfrm>
            <a:off x="822960" y="3886200"/>
            <a:ext cx="502920" cy="960120"/>
          </a:xfrm>
          <a:prstGeom prst="roundRect">
            <a:avLst>
              <a:gd name="adj" fmla="val 18182"/>
            </a:avLst>
          </a:prstGeom>
          <a:solidFill>
            <a:srgbClr val="D6ECF5"/>
          </a:solidFill>
          <a:ln w="15875">
            <a:solidFill>
              <a:srgbClr val="5B9BD5"/>
            </a:solidFill>
            <a:prstDash val="solid"/>
          </a:ln>
        </p:spPr>
      </p:sp>
      <p:sp>
        <p:nvSpPr>
          <p:cNvPr id="28" name="Shape 26"/>
          <p:cNvSpPr/>
          <p:nvPr/>
        </p:nvSpPr>
        <p:spPr>
          <a:xfrm>
            <a:off x="969264" y="3703320"/>
            <a:ext cx="210312" cy="201168"/>
          </a:xfrm>
          <a:prstGeom prst="rect">
            <a:avLst/>
          </a:prstGeom>
          <a:solidFill>
            <a:srgbClr val="5B9BD5"/>
          </a:solidFill>
          <a:ln w="9525">
            <a:solidFill>
              <a:srgbClr val="2F5F8F"/>
            </a:solidFill>
            <a:prstDash val="solid"/>
          </a:ln>
        </p:spPr>
      </p:sp>
      <p:sp>
        <p:nvSpPr>
          <p:cNvPr id="29" name="Text 27"/>
          <p:cNvSpPr/>
          <p:nvPr/>
        </p:nvSpPr>
        <p:spPr>
          <a:xfrm>
            <a:off x="640080" y="4873752"/>
            <a:ext cx="86868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PET bottle</a:t>
            </a:r>
            <a:endParaRPr lang="en-US" sz="1000" dirty="0"/>
          </a:p>
        </p:txBody>
      </p:sp>
      <p:sp>
        <p:nvSpPr>
          <p:cNvPr id="30" name="Shape 28"/>
          <p:cNvSpPr/>
          <p:nvPr/>
        </p:nvSpPr>
        <p:spPr>
          <a:xfrm>
            <a:off x="1463040" y="4343400"/>
            <a:ext cx="457200" cy="91"/>
          </a:xfrm>
          <a:prstGeom prst="line">
            <a:avLst/>
          </a:prstGeom>
          <a:noFill/>
          <a:ln w="19050">
            <a:solidFill>
              <a:srgbClr val="2A1F3D"/>
            </a:solidFill>
            <a:prstDash val="solid"/>
            <a:tailEnd type="triangle"/>
          </a:ln>
        </p:spPr>
      </p:sp>
      <p:sp>
        <p:nvSpPr>
          <p:cNvPr id="31" name="Shape 29"/>
          <p:cNvSpPr/>
          <p:nvPr/>
        </p:nvSpPr>
        <p:spPr>
          <a:xfrm>
            <a:off x="2011680" y="3794760"/>
            <a:ext cx="1737360" cy="1051560"/>
          </a:xfrm>
          <a:prstGeom prst="roundRect">
            <a:avLst>
              <a:gd name="adj" fmla="val 4348"/>
            </a:avLst>
          </a:prstGeom>
          <a:solidFill>
            <a:srgbClr val="FFFFFF"/>
          </a:solidFill>
          <a:ln w="12700">
            <a:solidFill>
              <a:srgbClr val="DDD3EC"/>
            </a:solidFill>
            <a:prstDash val="solid"/>
          </a:ln>
        </p:spPr>
      </p:sp>
      <p:sp>
        <p:nvSpPr>
          <p:cNvPr id="32" name="Shape 30"/>
          <p:cNvSpPr/>
          <p:nvPr/>
        </p:nvSpPr>
        <p:spPr>
          <a:xfrm>
            <a:off x="2148840" y="3851794"/>
            <a:ext cx="1463040" cy="217233"/>
          </a:xfrm>
          <a:custGeom>
            <a:avLst/>
            <a:gdLst/>
            <a:ahLst/>
            <a:cxnLst/>
            <a:rect l="l" t="t" r="r" b="b"/>
            <a:pathLst>
              <a:path w="1463040" h="217233">
                <a:moveTo>
                  <a:pt x="0" y="172709"/>
                </a:moveTo>
                <a:lnTo>
                  <a:pt x="121920" y="80506"/>
                </a:lnTo>
                <a:lnTo>
                  <a:pt x="243840" y="217233"/>
                </a:lnTo>
                <a:lnTo>
                  <a:pt x="365760" y="64232"/>
                </a:lnTo>
                <a:lnTo>
                  <a:pt x="487680" y="152477"/>
                </a:lnTo>
                <a:lnTo>
                  <a:pt x="609600" y="0"/>
                </a:lnTo>
                <a:lnTo>
                  <a:pt x="731520" y="137378"/>
                </a:lnTo>
                <a:lnTo>
                  <a:pt x="853440" y="45461"/>
                </a:lnTo>
                <a:lnTo>
                  <a:pt x="975360" y="208995"/>
                </a:lnTo>
                <a:lnTo>
                  <a:pt x="1097280" y="89036"/>
                </a:lnTo>
                <a:lnTo>
                  <a:pt x="1219200" y="191551"/>
                </a:lnTo>
                <a:lnTo>
                  <a:pt x="1341120" y="23774"/>
                </a:lnTo>
                <a:lnTo>
                  <a:pt x="1463040" y="127860"/>
                </a:lnTo>
              </a:path>
            </a:pathLst>
          </a:custGeom>
          <a:ln w="19050">
            <a:solidFill>
              <a:srgbClr val="6A3FA0"/>
            </a:solidFill>
            <a:prstDash val="solid"/>
          </a:ln>
        </p:spPr>
      </p:sp>
      <p:sp>
        <p:nvSpPr>
          <p:cNvPr id="33" name="Shape 31"/>
          <p:cNvSpPr/>
          <p:nvPr/>
        </p:nvSpPr>
        <p:spPr>
          <a:xfrm>
            <a:off x="2148840" y="4091006"/>
            <a:ext cx="1463040" cy="216538"/>
          </a:xfrm>
          <a:custGeom>
            <a:avLst/>
            <a:gdLst/>
            <a:ahLst/>
            <a:cxnLst/>
            <a:rect l="l" t="t" r="r" b="b"/>
            <a:pathLst>
              <a:path w="1463040" h="216538">
                <a:moveTo>
                  <a:pt x="0" y="211999"/>
                </a:moveTo>
                <a:lnTo>
                  <a:pt x="121920" y="88776"/>
                </a:lnTo>
                <a:lnTo>
                  <a:pt x="243840" y="188843"/>
                </a:lnTo>
                <a:lnTo>
                  <a:pt x="365760" y="21287"/>
                </a:lnTo>
                <a:lnTo>
                  <a:pt x="487680" y="128096"/>
                </a:lnTo>
                <a:lnTo>
                  <a:pt x="609600" y="13254"/>
                </a:lnTo>
                <a:lnTo>
                  <a:pt x="731520" y="178856"/>
                </a:lnTo>
                <a:lnTo>
                  <a:pt x="853440" y="84393"/>
                </a:lnTo>
                <a:lnTo>
                  <a:pt x="975360" y="216538"/>
                </a:lnTo>
                <a:lnTo>
                  <a:pt x="1097280" y="60101"/>
                </a:lnTo>
                <a:lnTo>
                  <a:pt x="1219200" y="148655"/>
                </a:lnTo>
                <a:lnTo>
                  <a:pt x="1341120" y="0"/>
                </a:lnTo>
                <a:lnTo>
                  <a:pt x="1463040" y="141819"/>
                </a:lnTo>
              </a:path>
            </a:pathLst>
          </a:custGeom>
          <a:ln w="19050">
            <a:solidFill>
              <a:srgbClr val="6A3FA0"/>
            </a:solidFill>
            <a:prstDash val="solid"/>
          </a:ln>
        </p:spPr>
      </p:sp>
      <p:sp>
        <p:nvSpPr>
          <p:cNvPr id="34" name="Shape 32"/>
          <p:cNvSpPr/>
          <p:nvPr/>
        </p:nvSpPr>
        <p:spPr>
          <a:xfrm>
            <a:off x="2148840" y="4330831"/>
            <a:ext cx="1463040" cy="215306"/>
          </a:xfrm>
          <a:custGeom>
            <a:avLst/>
            <a:gdLst/>
            <a:ahLst/>
            <a:cxnLst/>
            <a:rect l="l" t="t" r="r" b="b"/>
            <a:pathLst>
              <a:path w="1463040" h="215306">
                <a:moveTo>
                  <a:pt x="0" y="215306"/>
                </a:moveTo>
                <a:lnTo>
                  <a:pt x="121920" y="56655"/>
                </a:lnTo>
                <a:lnTo>
                  <a:pt x="243840" y="145758"/>
                </a:lnTo>
                <a:lnTo>
                  <a:pt x="365760" y="0"/>
                </a:lnTo>
                <a:lnTo>
                  <a:pt x="487680" y="144871"/>
                </a:lnTo>
                <a:lnTo>
                  <a:pt x="609600" y="55552"/>
                </a:lnTo>
                <a:lnTo>
                  <a:pt x="731520" y="214821"/>
                </a:lnTo>
                <a:lnTo>
                  <a:pt x="853440" y="86964"/>
                </a:lnTo>
                <a:lnTo>
                  <a:pt x="975360" y="183923"/>
                </a:lnTo>
                <a:lnTo>
                  <a:pt x="1097280" y="17138"/>
                </a:lnTo>
                <a:lnTo>
                  <a:pt x="1219200" y="128013"/>
                </a:lnTo>
                <a:lnTo>
                  <a:pt x="1341120" y="17455"/>
                </a:lnTo>
                <a:lnTo>
                  <a:pt x="1463040" y="184317"/>
                </a:lnTo>
              </a:path>
            </a:pathLst>
          </a:custGeom>
          <a:ln w="19050">
            <a:solidFill>
              <a:srgbClr val="6A3FA0"/>
            </a:solidFill>
            <a:prstDash val="solid"/>
          </a:ln>
        </p:spPr>
      </p:sp>
      <p:sp>
        <p:nvSpPr>
          <p:cNvPr id="35" name="Shape 33"/>
          <p:cNvSpPr/>
          <p:nvPr/>
        </p:nvSpPr>
        <p:spPr>
          <a:xfrm>
            <a:off x="2148840" y="4571106"/>
            <a:ext cx="1463040" cy="216633"/>
          </a:xfrm>
          <a:custGeom>
            <a:avLst/>
            <a:gdLst/>
            <a:ahLst/>
            <a:cxnLst/>
            <a:rect l="l" t="t" r="r" b="b"/>
            <a:pathLst>
              <a:path w="1463040" h="216633">
                <a:moveTo>
                  <a:pt x="0" y="179939"/>
                </a:moveTo>
                <a:lnTo>
                  <a:pt x="121920" y="14026"/>
                </a:lnTo>
                <a:lnTo>
                  <a:pt x="243840" y="127942"/>
                </a:lnTo>
                <a:lnTo>
                  <a:pt x="365760" y="20294"/>
                </a:lnTo>
                <a:lnTo>
                  <a:pt x="487680" y="187731"/>
                </a:lnTo>
                <a:lnTo>
                  <a:pt x="609600" y="88356"/>
                </a:lnTo>
                <a:lnTo>
                  <a:pt x="731520" y="212559"/>
                </a:lnTo>
                <a:lnTo>
                  <a:pt x="853440" y="51161"/>
                </a:lnTo>
                <a:lnTo>
                  <a:pt x="975360" y="141489"/>
                </a:lnTo>
                <a:lnTo>
                  <a:pt x="1097280" y="0"/>
                </a:lnTo>
                <a:lnTo>
                  <a:pt x="1219200" y="148955"/>
                </a:lnTo>
                <a:lnTo>
                  <a:pt x="1341120" y="60443"/>
                </a:lnTo>
                <a:lnTo>
                  <a:pt x="1463040" y="216633"/>
                </a:lnTo>
              </a:path>
            </a:pathLst>
          </a:custGeom>
          <a:ln w="19050">
            <a:solidFill>
              <a:srgbClr val="6A3FA0"/>
            </a:solidFill>
            <a:prstDash val="solid"/>
          </a:ln>
        </p:spPr>
      </p:sp>
      <p:sp>
        <p:nvSpPr>
          <p:cNvPr id="36" name="Text 34"/>
          <p:cNvSpPr/>
          <p:nvPr/>
        </p:nvSpPr>
        <p:spPr>
          <a:xfrm>
            <a:off x="2011680" y="4873752"/>
            <a:ext cx="173736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separate chains, no cross-links</a:t>
            </a:r>
            <a:endParaRPr lang="en-US" sz="1000" dirty="0"/>
          </a:p>
        </p:txBody>
      </p:sp>
      <p:sp>
        <p:nvSpPr>
          <p:cNvPr id="37" name="Shape 35"/>
          <p:cNvSpPr/>
          <p:nvPr/>
        </p:nvSpPr>
        <p:spPr>
          <a:xfrm>
            <a:off x="3840480" y="4343400"/>
            <a:ext cx="457200" cy="91"/>
          </a:xfrm>
          <a:prstGeom prst="line">
            <a:avLst/>
          </a:prstGeom>
          <a:noFill/>
          <a:ln w="19050">
            <a:solidFill>
              <a:srgbClr val="2A1F3D"/>
            </a:solidFill>
            <a:prstDash val="solid"/>
            <a:tailEnd type="triangle"/>
          </a:ln>
        </p:spPr>
      </p:sp>
      <p:sp>
        <p:nvSpPr>
          <p:cNvPr id="38" name="Shape 36"/>
          <p:cNvSpPr/>
          <p:nvPr/>
        </p:nvSpPr>
        <p:spPr>
          <a:xfrm>
            <a:off x="4389120" y="3840480"/>
            <a:ext cx="1280160" cy="1005840"/>
          </a:xfrm>
          <a:prstGeom prst="roundRect">
            <a:avLst>
              <a:gd name="adj" fmla="val 10909"/>
            </a:avLst>
          </a:prstGeom>
          <a:solidFill>
            <a:srgbClr val="C9B6E4"/>
          </a:solidFill>
          <a:ln w="15875">
            <a:solidFill>
              <a:srgbClr val="6A4C93"/>
            </a:solidFill>
            <a:prstDash val="solid"/>
          </a:ln>
        </p:spPr>
      </p:sp>
      <p:sp>
        <p:nvSpPr>
          <p:cNvPr id="39" name="Shape 37"/>
          <p:cNvSpPr/>
          <p:nvPr/>
        </p:nvSpPr>
        <p:spPr>
          <a:xfrm>
            <a:off x="4480560" y="3905515"/>
            <a:ext cx="1097280" cy="217233"/>
          </a:xfrm>
          <a:custGeom>
            <a:avLst/>
            <a:gdLst/>
            <a:ahLst/>
            <a:cxnLst/>
            <a:rect l="l" t="t" r="r" b="b"/>
            <a:pathLst>
              <a:path w="1097280" h="217233">
                <a:moveTo>
                  <a:pt x="0" y="172709"/>
                </a:moveTo>
                <a:lnTo>
                  <a:pt x="91440" y="80506"/>
                </a:lnTo>
                <a:lnTo>
                  <a:pt x="182880" y="217233"/>
                </a:lnTo>
                <a:lnTo>
                  <a:pt x="274320" y="64232"/>
                </a:lnTo>
                <a:lnTo>
                  <a:pt x="365760" y="152477"/>
                </a:lnTo>
                <a:lnTo>
                  <a:pt x="457200" y="0"/>
                </a:lnTo>
                <a:lnTo>
                  <a:pt x="548640" y="137378"/>
                </a:lnTo>
                <a:lnTo>
                  <a:pt x="640080" y="45461"/>
                </a:lnTo>
                <a:lnTo>
                  <a:pt x="731520" y="208995"/>
                </a:lnTo>
                <a:lnTo>
                  <a:pt x="822960" y="89036"/>
                </a:lnTo>
                <a:lnTo>
                  <a:pt x="914400" y="191551"/>
                </a:lnTo>
                <a:lnTo>
                  <a:pt x="1005840" y="23774"/>
                </a:lnTo>
                <a:lnTo>
                  <a:pt x="1097280" y="127860"/>
                </a:lnTo>
              </a:path>
            </a:pathLst>
          </a:custGeom>
          <a:ln w="19050">
            <a:solidFill>
              <a:srgbClr val="6A4C93"/>
            </a:solidFill>
            <a:prstDash val="solid"/>
          </a:ln>
        </p:spPr>
      </p:sp>
      <p:sp>
        <p:nvSpPr>
          <p:cNvPr id="40" name="Shape 38"/>
          <p:cNvSpPr/>
          <p:nvPr/>
        </p:nvSpPr>
        <p:spPr>
          <a:xfrm>
            <a:off x="4480560" y="4124971"/>
            <a:ext cx="1097280" cy="217233"/>
          </a:xfrm>
          <a:custGeom>
            <a:avLst/>
            <a:gdLst/>
            <a:ahLst/>
            <a:cxnLst/>
            <a:rect l="l" t="t" r="r" b="b"/>
            <a:pathLst>
              <a:path w="1097280" h="217233">
                <a:moveTo>
                  <a:pt x="0" y="172709"/>
                </a:moveTo>
                <a:lnTo>
                  <a:pt x="91440" y="80506"/>
                </a:lnTo>
                <a:lnTo>
                  <a:pt x="182880" y="217233"/>
                </a:lnTo>
                <a:lnTo>
                  <a:pt x="274320" y="64232"/>
                </a:lnTo>
                <a:lnTo>
                  <a:pt x="365760" y="152477"/>
                </a:lnTo>
                <a:lnTo>
                  <a:pt x="457200" y="0"/>
                </a:lnTo>
                <a:lnTo>
                  <a:pt x="548640" y="137378"/>
                </a:lnTo>
                <a:lnTo>
                  <a:pt x="640080" y="45461"/>
                </a:lnTo>
                <a:lnTo>
                  <a:pt x="731520" y="208995"/>
                </a:lnTo>
                <a:lnTo>
                  <a:pt x="822960" y="89036"/>
                </a:lnTo>
                <a:lnTo>
                  <a:pt x="914400" y="191551"/>
                </a:lnTo>
                <a:lnTo>
                  <a:pt x="1005840" y="23774"/>
                </a:lnTo>
                <a:lnTo>
                  <a:pt x="1097280" y="127860"/>
                </a:lnTo>
              </a:path>
            </a:pathLst>
          </a:custGeom>
          <a:ln w="19050">
            <a:solidFill>
              <a:srgbClr val="6A4C93"/>
            </a:solidFill>
            <a:prstDash val="solid"/>
          </a:ln>
        </p:spPr>
      </p:sp>
      <p:sp>
        <p:nvSpPr>
          <p:cNvPr id="41" name="Shape 39"/>
          <p:cNvSpPr/>
          <p:nvPr/>
        </p:nvSpPr>
        <p:spPr>
          <a:xfrm>
            <a:off x="4480560" y="4344427"/>
            <a:ext cx="1097280" cy="217233"/>
          </a:xfrm>
          <a:custGeom>
            <a:avLst/>
            <a:gdLst/>
            <a:ahLst/>
            <a:cxnLst/>
            <a:rect l="l" t="t" r="r" b="b"/>
            <a:pathLst>
              <a:path w="1097280" h="217233">
                <a:moveTo>
                  <a:pt x="0" y="172709"/>
                </a:moveTo>
                <a:lnTo>
                  <a:pt x="91440" y="80506"/>
                </a:lnTo>
                <a:lnTo>
                  <a:pt x="182880" y="217233"/>
                </a:lnTo>
                <a:lnTo>
                  <a:pt x="274320" y="64232"/>
                </a:lnTo>
                <a:lnTo>
                  <a:pt x="365760" y="152477"/>
                </a:lnTo>
                <a:lnTo>
                  <a:pt x="457200" y="0"/>
                </a:lnTo>
                <a:lnTo>
                  <a:pt x="548640" y="137378"/>
                </a:lnTo>
                <a:lnTo>
                  <a:pt x="640080" y="45461"/>
                </a:lnTo>
                <a:lnTo>
                  <a:pt x="731520" y="208995"/>
                </a:lnTo>
                <a:lnTo>
                  <a:pt x="822960" y="89036"/>
                </a:lnTo>
                <a:lnTo>
                  <a:pt x="914400" y="191551"/>
                </a:lnTo>
                <a:lnTo>
                  <a:pt x="1005840" y="23774"/>
                </a:lnTo>
                <a:lnTo>
                  <a:pt x="1097280" y="127860"/>
                </a:lnTo>
              </a:path>
            </a:pathLst>
          </a:custGeom>
          <a:ln w="19050">
            <a:solidFill>
              <a:srgbClr val="6A4C93"/>
            </a:solidFill>
            <a:prstDash val="solid"/>
          </a:ln>
        </p:spPr>
      </p:sp>
      <p:sp>
        <p:nvSpPr>
          <p:cNvPr id="42" name="Shape 40"/>
          <p:cNvSpPr/>
          <p:nvPr/>
        </p:nvSpPr>
        <p:spPr>
          <a:xfrm>
            <a:off x="4480560" y="4563883"/>
            <a:ext cx="1097280" cy="217233"/>
          </a:xfrm>
          <a:custGeom>
            <a:avLst/>
            <a:gdLst/>
            <a:ahLst/>
            <a:cxnLst/>
            <a:rect l="l" t="t" r="r" b="b"/>
            <a:pathLst>
              <a:path w="1097280" h="217233">
                <a:moveTo>
                  <a:pt x="0" y="172709"/>
                </a:moveTo>
                <a:lnTo>
                  <a:pt x="91440" y="80506"/>
                </a:lnTo>
                <a:lnTo>
                  <a:pt x="182880" y="217233"/>
                </a:lnTo>
                <a:lnTo>
                  <a:pt x="274320" y="64232"/>
                </a:lnTo>
                <a:lnTo>
                  <a:pt x="365760" y="152477"/>
                </a:lnTo>
                <a:lnTo>
                  <a:pt x="457200" y="0"/>
                </a:lnTo>
                <a:lnTo>
                  <a:pt x="548640" y="137378"/>
                </a:lnTo>
                <a:lnTo>
                  <a:pt x="640080" y="45461"/>
                </a:lnTo>
                <a:lnTo>
                  <a:pt x="731520" y="208995"/>
                </a:lnTo>
                <a:lnTo>
                  <a:pt x="822960" y="89036"/>
                </a:lnTo>
                <a:lnTo>
                  <a:pt x="914400" y="191551"/>
                </a:lnTo>
                <a:lnTo>
                  <a:pt x="1005840" y="23774"/>
                </a:lnTo>
                <a:lnTo>
                  <a:pt x="1097280" y="127860"/>
                </a:lnTo>
              </a:path>
            </a:pathLst>
          </a:custGeom>
          <a:ln w="19050">
            <a:solidFill>
              <a:srgbClr val="6A4C93"/>
            </a:solidFill>
            <a:prstDash val="solid"/>
          </a:ln>
        </p:spPr>
      </p:sp>
      <p:sp>
        <p:nvSpPr>
          <p:cNvPr id="43" name="Text 41"/>
          <p:cNvSpPr/>
          <p:nvPr/>
        </p:nvSpPr>
        <p:spPr>
          <a:xfrm>
            <a:off x="4206240" y="4873752"/>
            <a:ext cx="164592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fleece fabric</a:t>
            </a:r>
            <a:endParaRPr lang="en-US" sz="1000" dirty="0"/>
          </a:p>
        </p:txBody>
      </p:sp>
      <p:sp>
        <p:nvSpPr>
          <p:cNvPr id="44" name="Shape 42"/>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45" name="Text 4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Why this recycling is viable</a:t>
            </a:r>
            <a:endParaRPr lang="en-US" sz="1300" dirty="0"/>
          </a:p>
        </p:txBody>
      </p:sp>
      <p:sp>
        <p:nvSpPr>
          <p:cNvPr id="46" name="Text 44"/>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PET is a </a:t>
            </a:r>
            <a:r>
              <a:rPr lang="en-US" sz="1050" b="1" dirty="0">
                <a:solidFill>
                  <a:srgbClr val="262B3A"/>
                </a:solidFill>
                <a:latin typeface="Calibri" pitchFamily="34" charset="0"/>
                <a:ea typeface="Calibri" pitchFamily="34" charset="-122"/>
                <a:cs typeface="Calibri" pitchFamily="34" charset="-120"/>
              </a:rPr>
              <a:t>thermosoftening</a:t>
            </a:r>
            <a:r>
              <a:rPr lang="en-US" sz="1050" dirty="0">
                <a:solidFill>
                  <a:srgbClr val="262B3A"/>
                </a:solidFill>
                <a:latin typeface="Calibri" pitchFamily="34" charset="0"/>
                <a:ea typeface="Calibri" pitchFamily="34" charset="-122"/>
                <a:cs typeface="Calibri" pitchFamily="34" charset="-120"/>
              </a:rPr>
              <a:t> polymer (C4.2): its chains are not cross-linked, so it can be </a:t>
            </a:r>
            <a:r>
              <a:rPr lang="en-US" sz="1050" b="1" dirty="0">
                <a:solidFill>
                  <a:srgbClr val="262B3A"/>
                </a:solidFill>
                <a:latin typeface="Calibri" pitchFamily="34" charset="0"/>
                <a:ea typeface="Calibri" pitchFamily="34" charset="-122"/>
                <a:cs typeface="Calibri" pitchFamily="34" charset="-120"/>
              </a:rPr>
              <a:t>melted and reshaped</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Fibres do not need </a:t>
            </a:r>
            <a:r>
              <a:rPr lang="en-US" sz="1050" b="1" dirty="0">
                <a:solidFill>
                  <a:srgbClr val="262B3A"/>
                </a:solidFill>
                <a:latin typeface="Calibri" pitchFamily="34" charset="0"/>
                <a:ea typeface="Calibri" pitchFamily="34" charset="-122"/>
                <a:cs typeface="Calibri" pitchFamily="34" charset="-120"/>
              </a:rPr>
              <a:t>food-grade</a:t>
            </a:r>
            <a:r>
              <a:rPr lang="en-US" sz="1050" dirty="0">
                <a:solidFill>
                  <a:srgbClr val="262B3A"/>
                </a:solidFill>
                <a:latin typeface="Calibri" pitchFamily="34" charset="0"/>
                <a:ea typeface="Calibri" pitchFamily="34" charset="-122"/>
                <a:cs typeface="Calibri" pitchFamily="34" charset="-120"/>
              </a:rPr>
              <a:t> purity, so slightly mixed or coloured PET can still be used.</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It saves </a:t>
            </a:r>
            <a:r>
              <a:rPr lang="en-US" sz="1050" b="1" dirty="0">
                <a:solidFill>
                  <a:srgbClr val="262B3A"/>
                </a:solidFill>
                <a:latin typeface="Calibri" pitchFamily="34" charset="0"/>
                <a:ea typeface="Calibri" pitchFamily="34" charset="-122"/>
                <a:cs typeface="Calibri" pitchFamily="34" charset="-120"/>
              </a:rPr>
              <a:t>crude oil</a:t>
            </a:r>
            <a:r>
              <a:rPr lang="en-US" sz="1050" dirty="0">
                <a:solidFill>
                  <a:srgbClr val="262B3A"/>
                </a:solidFill>
                <a:latin typeface="Calibri" pitchFamily="34" charset="0"/>
                <a:ea typeface="Calibri" pitchFamily="34" charset="-122"/>
                <a:cs typeface="Calibri" pitchFamily="34" charset="-120"/>
              </a:rPr>
              <a:t> (finite) and </a:t>
            </a:r>
            <a:r>
              <a:rPr lang="en-US" sz="1050" b="1" dirty="0">
                <a:solidFill>
                  <a:srgbClr val="262B3A"/>
                </a:solidFill>
                <a:latin typeface="Calibri" pitchFamily="34" charset="0"/>
                <a:ea typeface="Calibri" pitchFamily="34" charset="-122"/>
                <a:cs typeface="Calibri" pitchFamily="34" charset="-120"/>
              </a:rPr>
              <a:t>energy</a:t>
            </a:r>
            <a:r>
              <a:rPr lang="en-US" sz="1050" dirty="0">
                <a:solidFill>
                  <a:srgbClr val="262B3A"/>
                </a:solidFill>
                <a:latin typeface="Calibri" pitchFamily="34" charset="0"/>
                <a:ea typeface="Calibri" pitchFamily="34" charset="-122"/>
                <a:cs typeface="Calibri" pitchFamily="34" charset="-120"/>
              </a:rPr>
              <a:t>, and keeps plastic out of </a:t>
            </a:r>
            <a:r>
              <a:rPr lang="en-US" sz="1050" b="1" dirty="0">
                <a:solidFill>
                  <a:srgbClr val="262B3A"/>
                </a:solidFill>
                <a:latin typeface="Calibri" pitchFamily="34" charset="0"/>
                <a:ea typeface="Calibri" pitchFamily="34" charset="-122"/>
                <a:cs typeface="Calibri" pitchFamily="34" charset="-120"/>
              </a:rPr>
              <a:t>landfill</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There is a </a:t>
            </a:r>
            <a:r>
              <a:rPr lang="en-US" sz="1050" b="1" dirty="0">
                <a:solidFill>
                  <a:srgbClr val="262B3A"/>
                </a:solidFill>
                <a:latin typeface="Calibri" pitchFamily="34" charset="0"/>
                <a:ea typeface="Calibri" pitchFamily="34" charset="-122"/>
                <a:cs typeface="Calibri" pitchFamily="34" charset="-120"/>
              </a:rPr>
              <a:t>market</a:t>
            </a:r>
            <a:r>
              <a:rPr lang="en-US" sz="1050" dirty="0">
                <a:solidFill>
                  <a:srgbClr val="262B3A"/>
                </a:solidFill>
                <a:latin typeface="Calibri" pitchFamily="34" charset="0"/>
                <a:ea typeface="Calibri" pitchFamily="34" charset="-122"/>
                <a:cs typeface="Calibri" pitchFamily="34" charset="-120"/>
              </a:rPr>
              <a:t>: people buy fleece, carpets and fillings, so the process pays.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Other examples: crushed </a:t>
            </a:r>
            <a:r>
              <a:rPr lang="en-US" sz="1050" b="1" dirty="0">
                <a:solidFill>
                  <a:srgbClr val="262B3A"/>
                </a:solidFill>
                <a:latin typeface="Calibri" pitchFamily="34" charset="0"/>
                <a:ea typeface="Calibri" pitchFamily="34" charset="-122"/>
                <a:cs typeface="Calibri" pitchFamily="34" charset="-120"/>
              </a:rPr>
              <a:t>glass</a:t>
            </a:r>
            <a:r>
              <a:rPr lang="en-US" sz="1050" dirty="0">
                <a:solidFill>
                  <a:srgbClr val="262B3A"/>
                </a:solidFill>
                <a:latin typeface="Calibri" pitchFamily="34" charset="0"/>
                <a:ea typeface="Calibri" pitchFamily="34" charset="-122"/>
                <a:cs typeface="Calibri" pitchFamily="34" charset="-120"/>
              </a:rPr>
              <a:t> → road surfaces and insulation; old </a:t>
            </a:r>
            <a:r>
              <a:rPr lang="en-US" sz="1050" b="1" dirty="0">
                <a:solidFill>
                  <a:srgbClr val="262B3A"/>
                </a:solidFill>
                <a:latin typeface="Calibri" pitchFamily="34" charset="0"/>
                <a:ea typeface="Calibri" pitchFamily="34" charset="-122"/>
                <a:cs typeface="Calibri" pitchFamily="34" charset="-120"/>
              </a:rPr>
              <a:t>tyres</a:t>
            </a:r>
            <a:r>
              <a:rPr lang="en-US" sz="1050" dirty="0">
                <a:solidFill>
                  <a:srgbClr val="262B3A"/>
                </a:solidFill>
                <a:latin typeface="Calibri" pitchFamily="34" charset="0"/>
                <a:ea typeface="Calibri" pitchFamily="34" charset="-122"/>
                <a:cs typeface="Calibri" pitchFamily="34" charset="-120"/>
              </a:rPr>
              <a:t> → playground surfaces.</a:t>
            </a:r>
            <a:endParaRPr lang="en-US" sz="1050" dirty="0"/>
          </a:p>
        </p:txBody>
      </p:sp>
      <p:sp>
        <p:nvSpPr>
          <p:cNvPr id="47" name="Shape 45"/>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48" name="Text 46"/>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bottles per fleece</a:t>
            </a:r>
            <a:endParaRPr lang="en-US" sz="1300" dirty="0"/>
          </a:p>
        </p:txBody>
      </p:sp>
      <p:sp>
        <p:nvSpPr>
          <p:cNvPr id="49" name="Text 47"/>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fleece has a mass of 500 g. Each bottle gives 20 g of PET.</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Divide   </a:t>
            </a:r>
            <a:r>
              <a:rPr lang="en-US" sz="1050" dirty="0">
                <a:solidFill>
                  <a:srgbClr val="262B3A"/>
                </a:solidFill>
                <a:latin typeface="Calibri" pitchFamily="34" charset="0"/>
                <a:ea typeface="Calibri" pitchFamily="34" charset="-122"/>
                <a:cs typeface="Calibri" pitchFamily="34" charset="-120"/>
              </a:rPr>
              <a:t>500 ÷ 20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25 bottles</a:t>
            </a:r>
            <a:r>
              <a:rPr lang="en-US" sz="1050" b="1" dirty="0">
                <a:solidFill>
                  <a:srgbClr val="C8414C"/>
                </a:solidFill>
                <a:latin typeface="Calibri" pitchFamily="34" charset="0"/>
                <a:ea typeface="Calibri" pitchFamily="34" charset="-122"/>
                <a:cs typeface="Calibri" pitchFamily="34" charset="-120"/>
              </a:rPr>
              <a:t> per fleece</a:t>
            </a:r>
            <a:endParaRPr lang="en-US" sz="1050" dirty="0"/>
          </a:p>
        </p:txBody>
      </p:sp>
      <p:sp>
        <p:nvSpPr>
          <p:cNvPr id="50" name="Shape 48"/>
          <p:cNvSpPr/>
          <p:nvPr/>
        </p:nvSpPr>
        <p:spPr>
          <a:xfrm>
            <a:off x="411480" y="5833872"/>
            <a:ext cx="11368735" cy="530352"/>
          </a:xfrm>
          <a:prstGeom prst="rect">
            <a:avLst/>
          </a:prstGeom>
          <a:solidFill>
            <a:srgbClr val="FFF4E0"/>
          </a:solidFill>
          <a:ln w="6350">
            <a:solidFill>
              <a:srgbClr val="F1D9A8"/>
            </a:solidFill>
            <a:prstDash val="solid"/>
          </a:ln>
        </p:spPr>
      </p:sp>
      <p:sp>
        <p:nvSpPr>
          <p:cNvPr id="51" name="Shape 49"/>
          <p:cNvSpPr/>
          <p:nvPr/>
        </p:nvSpPr>
        <p:spPr>
          <a:xfrm>
            <a:off x="411480" y="5833872"/>
            <a:ext cx="82296" cy="530352"/>
          </a:xfrm>
          <a:prstGeom prst="rect">
            <a:avLst/>
          </a:prstGeom>
          <a:solidFill>
            <a:srgbClr val="E39A2F"/>
          </a:solidFill>
          <a:ln w="12700">
            <a:solidFill>
              <a:srgbClr val="E39A2F"/>
            </a:solidFill>
            <a:prstDash val="solid"/>
          </a:ln>
        </p:spPr>
      </p:sp>
      <p:sp>
        <p:nvSpPr>
          <p:cNvPr id="52" name="Text 5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can a </a:t>
            </a:r>
            <a:r>
              <a:rPr lang="en-US" sz="1150" b="1" dirty="0">
                <a:solidFill>
                  <a:srgbClr val="262B3A"/>
                </a:solidFill>
                <a:latin typeface="Calibri" pitchFamily="34" charset="0"/>
                <a:ea typeface="Calibri" pitchFamily="34" charset="-122"/>
                <a:cs typeface="Calibri" pitchFamily="34" charset="-120"/>
              </a:rPr>
              <a:t>thermosetting</a:t>
            </a:r>
            <a:r>
              <a:rPr lang="en-US" sz="1150" dirty="0">
                <a:solidFill>
                  <a:srgbClr val="262B3A"/>
                </a:solidFill>
                <a:latin typeface="Calibri" pitchFamily="34" charset="0"/>
                <a:ea typeface="Calibri" pitchFamily="34" charset="-122"/>
                <a:cs typeface="Calibri" pitchFamily="34" charset="-120"/>
              </a:rPr>
              <a:t> plastic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be recycled in this way? How many 20 g bottles make a </a:t>
            </a:r>
            <a:r>
              <a:rPr lang="en-US" sz="1150" b="1" dirty="0">
                <a:solidFill>
                  <a:srgbClr val="262B3A"/>
                </a:solidFill>
                <a:latin typeface="Calibri" pitchFamily="34" charset="0"/>
                <a:ea typeface="Calibri" pitchFamily="34" charset="-122"/>
                <a:cs typeface="Calibri" pitchFamily="34" charset="-120"/>
              </a:rPr>
              <a:t>300 g</a:t>
            </a:r>
            <a:r>
              <a:rPr lang="en-US" sz="1150" dirty="0">
                <a:solidFill>
                  <a:srgbClr val="262B3A"/>
                </a:solidFill>
                <a:latin typeface="Calibri" pitchFamily="34" charset="0"/>
                <a:ea typeface="Calibri" pitchFamily="34" charset="-122"/>
                <a:cs typeface="Calibri" pitchFamily="34" charset="-120"/>
              </a:rPr>
              <a:t> jumper?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Should we recycle it?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C4.4.7 • evaluating the factors that affect decisions on recycling</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C4.4.7  |  19</a:t>
            </a:r>
            <a:endParaRPr lang="en-US" sz="1000" dirty="0"/>
          </a:p>
        </p:txBody>
      </p:sp>
      <p:sp>
        <p:nvSpPr>
          <p:cNvPr id="8" name="Shape 6"/>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bar chart to scale (illustrative energy values)</a:t>
            </a:r>
            <a:endParaRPr lang="en-US" sz="1000" dirty="0"/>
          </a:p>
        </p:txBody>
      </p:sp>
      <p:sp>
        <p:nvSpPr>
          <p:cNvPr id="10" name="Shape 8"/>
          <p:cNvSpPr/>
          <p:nvPr/>
        </p:nvSpPr>
        <p:spPr>
          <a:xfrm>
            <a:off x="1417320" y="1417320"/>
            <a:ext cx="3017520" cy="3017520"/>
          </a:xfrm>
          <a:prstGeom prst="rect">
            <a:avLst/>
          </a:prstGeom>
          <a:solidFill>
            <a:srgbClr val="FFFFFF"/>
          </a:solidFill>
          <a:ln/>
        </p:spPr>
      </p:sp>
      <p:sp>
        <p:nvSpPr>
          <p:cNvPr id="11" name="Shape 9"/>
          <p:cNvSpPr/>
          <p:nvPr/>
        </p:nvSpPr>
        <p:spPr>
          <a:xfrm>
            <a:off x="1417320" y="1417320"/>
            <a:ext cx="91" cy="3017520"/>
          </a:xfrm>
          <a:prstGeom prst="line">
            <a:avLst/>
          </a:prstGeom>
          <a:noFill/>
          <a:ln w="6350">
            <a:solidFill>
              <a:srgbClr val="D6CBE8"/>
            </a:solidFill>
            <a:prstDash val="solid"/>
          </a:ln>
        </p:spPr>
      </p:sp>
      <p:sp>
        <p:nvSpPr>
          <p:cNvPr id="12" name="Shape 10"/>
          <p:cNvSpPr/>
          <p:nvPr/>
        </p:nvSpPr>
        <p:spPr>
          <a:xfrm>
            <a:off x="1920240" y="1417320"/>
            <a:ext cx="91" cy="3017520"/>
          </a:xfrm>
          <a:prstGeom prst="line">
            <a:avLst/>
          </a:prstGeom>
          <a:noFill/>
          <a:ln w="6350">
            <a:solidFill>
              <a:srgbClr val="EEE9F6"/>
            </a:solidFill>
            <a:prstDash val="solid"/>
          </a:ln>
        </p:spPr>
      </p:sp>
      <p:sp>
        <p:nvSpPr>
          <p:cNvPr id="13" name="Shape 11"/>
          <p:cNvSpPr/>
          <p:nvPr/>
        </p:nvSpPr>
        <p:spPr>
          <a:xfrm>
            <a:off x="2423160" y="1417320"/>
            <a:ext cx="91" cy="3017520"/>
          </a:xfrm>
          <a:prstGeom prst="line">
            <a:avLst/>
          </a:prstGeom>
          <a:noFill/>
          <a:ln w="6350">
            <a:solidFill>
              <a:srgbClr val="D6CBE8"/>
            </a:solidFill>
            <a:prstDash val="solid"/>
          </a:ln>
        </p:spPr>
      </p:sp>
      <p:sp>
        <p:nvSpPr>
          <p:cNvPr id="14" name="Shape 12"/>
          <p:cNvSpPr/>
          <p:nvPr/>
        </p:nvSpPr>
        <p:spPr>
          <a:xfrm>
            <a:off x="2926080" y="1417320"/>
            <a:ext cx="91" cy="3017520"/>
          </a:xfrm>
          <a:prstGeom prst="line">
            <a:avLst/>
          </a:prstGeom>
          <a:noFill/>
          <a:ln w="6350">
            <a:solidFill>
              <a:srgbClr val="EEE9F6"/>
            </a:solidFill>
            <a:prstDash val="solid"/>
          </a:ln>
        </p:spPr>
      </p:sp>
      <p:sp>
        <p:nvSpPr>
          <p:cNvPr id="15" name="Shape 13"/>
          <p:cNvSpPr/>
          <p:nvPr/>
        </p:nvSpPr>
        <p:spPr>
          <a:xfrm>
            <a:off x="3429000" y="1417320"/>
            <a:ext cx="91" cy="3017520"/>
          </a:xfrm>
          <a:prstGeom prst="line">
            <a:avLst/>
          </a:prstGeom>
          <a:noFill/>
          <a:ln w="6350">
            <a:solidFill>
              <a:srgbClr val="D6CBE8"/>
            </a:solidFill>
            <a:prstDash val="solid"/>
          </a:ln>
        </p:spPr>
      </p:sp>
      <p:sp>
        <p:nvSpPr>
          <p:cNvPr id="16" name="Shape 14"/>
          <p:cNvSpPr/>
          <p:nvPr/>
        </p:nvSpPr>
        <p:spPr>
          <a:xfrm>
            <a:off x="3931920" y="1417320"/>
            <a:ext cx="91" cy="3017520"/>
          </a:xfrm>
          <a:prstGeom prst="line">
            <a:avLst/>
          </a:prstGeom>
          <a:noFill/>
          <a:ln w="6350">
            <a:solidFill>
              <a:srgbClr val="EEE9F6"/>
            </a:solidFill>
            <a:prstDash val="solid"/>
          </a:ln>
        </p:spPr>
      </p:sp>
      <p:sp>
        <p:nvSpPr>
          <p:cNvPr id="17" name="Shape 15"/>
          <p:cNvSpPr/>
          <p:nvPr/>
        </p:nvSpPr>
        <p:spPr>
          <a:xfrm>
            <a:off x="4434840" y="1417320"/>
            <a:ext cx="91" cy="3017520"/>
          </a:xfrm>
          <a:prstGeom prst="line">
            <a:avLst/>
          </a:prstGeom>
          <a:noFill/>
          <a:ln w="6350">
            <a:solidFill>
              <a:srgbClr val="D6CBE8"/>
            </a:solidFill>
            <a:prstDash val="solid"/>
          </a:ln>
        </p:spPr>
      </p:sp>
      <p:sp>
        <p:nvSpPr>
          <p:cNvPr id="18" name="Shape 16"/>
          <p:cNvSpPr/>
          <p:nvPr/>
        </p:nvSpPr>
        <p:spPr>
          <a:xfrm>
            <a:off x="1417320" y="4434840"/>
            <a:ext cx="3017520" cy="91"/>
          </a:xfrm>
          <a:prstGeom prst="line">
            <a:avLst/>
          </a:prstGeom>
          <a:noFill/>
          <a:ln w="6350">
            <a:solidFill>
              <a:srgbClr val="D6CBE8"/>
            </a:solidFill>
            <a:prstDash val="solid"/>
          </a:ln>
        </p:spPr>
      </p:sp>
      <p:sp>
        <p:nvSpPr>
          <p:cNvPr id="19" name="Shape 17"/>
          <p:cNvSpPr/>
          <p:nvPr/>
        </p:nvSpPr>
        <p:spPr>
          <a:xfrm>
            <a:off x="1417320" y="4183380"/>
            <a:ext cx="3017520" cy="91"/>
          </a:xfrm>
          <a:prstGeom prst="line">
            <a:avLst/>
          </a:prstGeom>
          <a:noFill/>
          <a:ln w="6350">
            <a:solidFill>
              <a:srgbClr val="EEE9F6"/>
            </a:solidFill>
            <a:prstDash val="solid"/>
          </a:ln>
        </p:spPr>
      </p:sp>
      <p:sp>
        <p:nvSpPr>
          <p:cNvPr id="20" name="Shape 18"/>
          <p:cNvSpPr/>
          <p:nvPr/>
        </p:nvSpPr>
        <p:spPr>
          <a:xfrm>
            <a:off x="1417320" y="3931920"/>
            <a:ext cx="3017520" cy="91"/>
          </a:xfrm>
          <a:prstGeom prst="line">
            <a:avLst/>
          </a:prstGeom>
          <a:noFill/>
          <a:ln w="6350">
            <a:solidFill>
              <a:srgbClr val="D6CBE8"/>
            </a:solidFill>
            <a:prstDash val="solid"/>
          </a:ln>
        </p:spPr>
      </p:sp>
      <p:sp>
        <p:nvSpPr>
          <p:cNvPr id="21" name="Shape 19"/>
          <p:cNvSpPr/>
          <p:nvPr/>
        </p:nvSpPr>
        <p:spPr>
          <a:xfrm>
            <a:off x="1417320" y="3680460"/>
            <a:ext cx="3017520" cy="91"/>
          </a:xfrm>
          <a:prstGeom prst="line">
            <a:avLst/>
          </a:prstGeom>
          <a:noFill/>
          <a:ln w="6350">
            <a:solidFill>
              <a:srgbClr val="EEE9F6"/>
            </a:solidFill>
            <a:prstDash val="solid"/>
          </a:ln>
        </p:spPr>
      </p:sp>
      <p:sp>
        <p:nvSpPr>
          <p:cNvPr id="22" name="Shape 20"/>
          <p:cNvSpPr/>
          <p:nvPr/>
        </p:nvSpPr>
        <p:spPr>
          <a:xfrm>
            <a:off x="1417320" y="3429000"/>
            <a:ext cx="3017520" cy="91"/>
          </a:xfrm>
          <a:prstGeom prst="line">
            <a:avLst/>
          </a:prstGeom>
          <a:noFill/>
          <a:ln w="6350">
            <a:solidFill>
              <a:srgbClr val="D6CBE8"/>
            </a:solidFill>
            <a:prstDash val="solid"/>
          </a:ln>
        </p:spPr>
      </p:sp>
      <p:sp>
        <p:nvSpPr>
          <p:cNvPr id="23" name="Shape 21"/>
          <p:cNvSpPr/>
          <p:nvPr/>
        </p:nvSpPr>
        <p:spPr>
          <a:xfrm>
            <a:off x="1417320" y="3177540"/>
            <a:ext cx="3017520" cy="91"/>
          </a:xfrm>
          <a:prstGeom prst="line">
            <a:avLst/>
          </a:prstGeom>
          <a:noFill/>
          <a:ln w="6350">
            <a:solidFill>
              <a:srgbClr val="EEE9F6"/>
            </a:solidFill>
            <a:prstDash val="solid"/>
          </a:ln>
        </p:spPr>
      </p:sp>
      <p:sp>
        <p:nvSpPr>
          <p:cNvPr id="24" name="Shape 22"/>
          <p:cNvSpPr/>
          <p:nvPr/>
        </p:nvSpPr>
        <p:spPr>
          <a:xfrm>
            <a:off x="1417320" y="2926080"/>
            <a:ext cx="3017520" cy="91"/>
          </a:xfrm>
          <a:prstGeom prst="line">
            <a:avLst/>
          </a:prstGeom>
          <a:noFill/>
          <a:ln w="6350">
            <a:solidFill>
              <a:srgbClr val="D6CBE8"/>
            </a:solidFill>
            <a:prstDash val="solid"/>
          </a:ln>
        </p:spPr>
      </p:sp>
      <p:sp>
        <p:nvSpPr>
          <p:cNvPr id="25" name="Shape 23"/>
          <p:cNvSpPr/>
          <p:nvPr/>
        </p:nvSpPr>
        <p:spPr>
          <a:xfrm>
            <a:off x="1417320" y="2674620"/>
            <a:ext cx="3017520" cy="91"/>
          </a:xfrm>
          <a:prstGeom prst="line">
            <a:avLst/>
          </a:prstGeom>
          <a:noFill/>
          <a:ln w="6350">
            <a:solidFill>
              <a:srgbClr val="EEE9F6"/>
            </a:solidFill>
            <a:prstDash val="solid"/>
          </a:ln>
        </p:spPr>
      </p:sp>
      <p:sp>
        <p:nvSpPr>
          <p:cNvPr id="26" name="Shape 24"/>
          <p:cNvSpPr/>
          <p:nvPr/>
        </p:nvSpPr>
        <p:spPr>
          <a:xfrm>
            <a:off x="1417320" y="2423160"/>
            <a:ext cx="3017520" cy="91"/>
          </a:xfrm>
          <a:prstGeom prst="line">
            <a:avLst/>
          </a:prstGeom>
          <a:noFill/>
          <a:ln w="6350">
            <a:solidFill>
              <a:srgbClr val="D6CBE8"/>
            </a:solidFill>
            <a:prstDash val="solid"/>
          </a:ln>
        </p:spPr>
      </p:sp>
      <p:sp>
        <p:nvSpPr>
          <p:cNvPr id="27" name="Shape 25"/>
          <p:cNvSpPr/>
          <p:nvPr/>
        </p:nvSpPr>
        <p:spPr>
          <a:xfrm>
            <a:off x="1417320" y="2171700"/>
            <a:ext cx="3017520" cy="91"/>
          </a:xfrm>
          <a:prstGeom prst="line">
            <a:avLst/>
          </a:prstGeom>
          <a:noFill/>
          <a:ln w="6350">
            <a:solidFill>
              <a:srgbClr val="EEE9F6"/>
            </a:solidFill>
            <a:prstDash val="solid"/>
          </a:ln>
        </p:spPr>
      </p:sp>
      <p:sp>
        <p:nvSpPr>
          <p:cNvPr id="28" name="Shape 26"/>
          <p:cNvSpPr/>
          <p:nvPr/>
        </p:nvSpPr>
        <p:spPr>
          <a:xfrm>
            <a:off x="1417320" y="1920240"/>
            <a:ext cx="3017520" cy="91"/>
          </a:xfrm>
          <a:prstGeom prst="line">
            <a:avLst/>
          </a:prstGeom>
          <a:noFill/>
          <a:ln w="6350">
            <a:solidFill>
              <a:srgbClr val="D6CBE8"/>
            </a:solidFill>
            <a:prstDash val="solid"/>
          </a:ln>
        </p:spPr>
      </p:sp>
      <p:sp>
        <p:nvSpPr>
          <p:cNvPr id="29" name="Shape 27"/>
          <p:cNvSpPr/>
          <p:nvPr/>
        </p:nvSpPr>
        <p:spPr>
          <a:xfrm>
            <a:off x="1417320" y="1668780"/>
            <a:ext cx="3017520" cy="91"/>
          </a:xfrm>
          <a:prstGeom prst="line">
            <a:avLst/>
          </a:prstGeom>
          <a:noFill/>
          <a:ln w="6350">
            <a:solidFill>
              <a:srgbClr val="EEE9F6"/>
            </a:solidFill>
            <a:prstDash val="solid"/>
          </a:ln>
        </p:spPr>
      </p:sp>
      <p:sp>
        <p:nvSpPr>
          <p:cNvPr id="30" name="Shape 28"/>
          <p:cNvSpPr/>
          <p:nvPr/>
        </p:nvSpPr>
        <p:spPr>
          <a:xfrm>
            <a:off x="1417320" y="1417320"/>
            <a:ext cx="3017520" cy="91"/>
          </a:xfrm>
          <a:prstGeom prst="line">
            <a:avLst/>
          </a:prstGeom>
          <a:noFill/>
          <a:ln w="6350">
            <a:solidFill>
              <a:srgbClr val="D6CBE8"/>
            </a:solidFill>
            <a:prstDash val="solid"/>
          </a:ln>
        </p:spPr>
      </p:sp>
      <p:sp>
        <p:nvSpPr>
          <p:cNvPr id="31" name="Shape 29"/>
          <p:cNvSpPr/>
          <p:nvPr/>
        </p:nvSpPr>
        <p:spPr>
          <a:xfrm>
            <a:off x="1417320" y="4434840"/>
            <a:ext cx="3017520" cy="91"/>
          </a:xfrm>
          <a:prstGeom prst="line">
            <a:avLst/>
          </a:prstGeom>
          <a:noFill/>
          <a:ln w="19050">
            <a:solidFill>
              <a:srgbClr val="2A1F3D"/>
            </a:solidFill>
            <a:prstDash val="solid"/>
          </a:ln>
        </p:spPr>
      </p:sp>
      <p:sp>
        <p:nvSpPr>
          <p:cNvPr id="32" name="Shape 30"/>
          <p:cNvSpPr/>
          <p:nvPr/>
        </p:nvSpPr>
        <p:spPr>
          <a:xfrm flipV="1">
            <a:off x="1417320" y="1417320"/>
            <a:ext cx="91" cy="3017520"/>
          </a:xfrm>
          <a:prstGeom prst="line">
            <a:avLst/>
          </a:prstGeom>
          <a:noFill/>
          <a:ln w="19050">
            <a:solidFill>
              <a:srgbClr val="2A1F3D"/>
            </a:solidFill>
            <a:prstDash val="solid"/>
          </a:ln>
        </p:spPr>
      </p:sp>
      <p:sp>
        <p:nvSpPr>
          <p:cNvPr id="33" name="Shape 31"/>
          <p:cNvSpPr/>
          <p:nvPr/>
        </p:nvSpPr>
        <p:spPr>
          <a:xfrm>
            <a:off x="1417320" y="4434840"/>
            <a:ext cx="91" cy="54864"/>
          </a:xfrm>
          <a:prstGeom prst="line">
            <a:avLst/>
          </a:prstGeom>
          <a:noFill/>
          <a:ln w="12700">
            <a:solidFill>
              <a:srgbClr val="2A1F3D"/>
            </a:solidFill>
            <a:prstDash val="solid"/>
          </a:ln>
        </p:spPr>
      </p:sp>
      <p:sp>
        <p:nvSpPr>
          <p:cNvPr id="34" name="Text 32"/>
          <p:cNvSpPr/>
          <p:nvPr/>
        </p:nvSpPr>
        <p:spPr>
          <a:xfrm>
            <a:off x="1143000" y="4489704"/>
            <a:ext cx="548640" cy="182880"/>
          </a:xfrm>
          <a:prstGeom prst="rect">
            <a:avLst/>
          </a:prstGeom>
          <a:noFill/>
          <a:ln/>
        </p:spPr>
        <p:txBody>
          <a:bodyPr wrap="square" lIns="0" tIns="0" rIns="0" bIns="0" rtlCol="0" anchor="ctr"/>
          <a:lstStyle/>
          <a:p>
            <a:pPr algn="ctr" indent="0" marL="0">
              <a:buNone/>
            </a:pPr>
            <a:endParaRPr lang="en-US" sz="1000" dirty="0"/>
          </a:p>
        </p:txBody>
      </p:sp>
      <p:sp>
        <p:nvSpPr>
          <p:cNvPr id="35" name="Shape 33"/>
          <p:cNvSpPr/>
          <p:nvPr/>
        </p:nvSpPr>
        <p:spPr>
          <a:xfrm>
            <a:off x="2423160" y="4434840"/>
            <a:ext cx="91" cy="54864"/>
          </a:xfrm>
          <a:prstGeom prst="line">
            <a:avLst/>
          </a:prstGeom>
          <a:noFill/>
          <a:ln w="12700">
            <a:solidFill>
              <a:srgbClr val="2A1F3D"/>
            </a:solidFill>
            <a:prstDash val="solid"/>
          </a:ln>
        </p:spPr>
      </p:sp>
      <p:sp>
        <p:nvSpPr>
          <p:cNvPr id="36" name="Text 34"/>
          <p:cNvSpPr/>
          <p:nvPr/>
        </p:nvSpPr>
        <p:spPr>
          <a:xfrm>
            <a:off x="2148840" y="4489704"/>
            <a:ext cx="548640" cy="182880"/>
          </a:xfrm>
          <a:prstGeom prst="rect">
            <a:avLst/>
          </a:prstGeom>
          <a:noFill/>
          <a:ln/>
        </p:spPr>
        <p:txBody>
          <a:bodyPr wrap="square" lIns="0" tIns="0" rIns="0" bIns="0" rtlCol="0" anchor="ctr"/>
          <a:lstStyle/>
          <a:p>
            <a:pPr algn="ctr" indent="0" marL="0">
              <a:buNone/>
            </a:pPr>
            <a:endParaRPr lang="en-US" sz="1000" dirty="0"/>
          </a:p>
        </p:txBody>
      </p:sp>
      <p:sp>
        <p:nvSpPr>
          <p:cNvPr id="37" name="Shape 35"/>
          <p:cNvSpPr/>
          <p:nvPr/>
        </p:nvSpPr>
        <p:spPr>
          <a:xfrm>
            <a:off x="3429000" y="4434840"/>
            <a:ext cx="91" cy="54864"/>
          </a:xfrm>
          <a:prstGeom prst="line">
            <a:avLst/>
          </a:prstGeom>
          <a:noFill/>
          <a:ln w="12700">
            <a:solidFill>
              <a:srgbClr val="2A1F3D"/>
            </a:solidFill>
            <a:prstDash val="solid"/>
          </a:ln>
        </p:spPr>
      </p:sp>
      <p:sp>
        <p:nvSpPr>
          <p:cNvPr id="38" name="Text 36"/>
          <p:cNvSpPr/>
          <p:nvPr/>
        </p:nvSpPr>
        <p:spPr>
          <a:xfrm>
            <a:off x="3154680" y="4489704"/>
            <a:ext cx="548640" cy="182880"/>
          </a:xfrm>
          <a:prstGeom prst="rect">
            <a:avLst/>
          </a:prstGeom>
          <a:noFill/>
          <a:ln/>
        </p:spPr>
        <p:txBody>
          <a:bodyPr wrap="square" lIns="0" tIns="0" rIns="0" bIns="0" rtlCol="0" anchor="ctr"/>
          <a:lstStyle/>
          <a:p>
            <a:pPr algn="ctr" indent="0" marL="0">
              <a:buNone/>
            </a:pPr>
            <a:endParaRPr lang="en-US" sz="1000" dirty="0"/>
          </a:p>
        </p:txBody>
      </p:sp>
      <p:sp>
        <p:nvSpPr>
          <p:cNvPr id="39" name="Shape 37"/>
          <p:cNvSpPr/>
          <p:nvPr/>
        </p:nvSpPr>
        <p:spPr>
          <a:xfrm>
            <a:off x="4434840" y="4434840"/>
            <a:ext cx="91" cy="54864"/>
          </a:xfrm>
          <a:prstGeom prst="line">
            <a:avLst/>
          </a:prstGeom>
          <a:noFill/>
          <a:ln w="12700">
            <a:solidFill>
              <a:srgbClr val="2A1F3D"/>
            </a:solidFill>
            <a:prstDash val="solid"/>
          </a:ln>
        </p:spPr>
      </p:sp>
      <p:sp>
        <p:nvSpPr>
          <p:cNvPr id="40" name="Text 38"/>
          <p:cNvSpPr/>
          <p:nvPr/>
        </p:nvSpPr>
        <p:spPr>
          <a:xfrm>
            <a:off x="4160520" y="4489704"/>
            <a:ext cx="548640" cy="182880"/>
          </a:xfrm>
          <a:prstGeom prst="rect">
            <a:avLst/>
          </a:prstGeom>
          <a:noFill/>
          <a:ln/>
        </p:spPr>
        <p:txBody>
          <a:bodyPr wrap="square" lIns="0" tIns="0" rIns="0" bIns="0" rtlCol="0" anchor="ctr"/>
          <a:lstStyle/>
          <a:p>
            <a:pPr algn="ctr" indent="0" marL="0">
              <a:buNone/>
            </a:pPr>
            <a:endParaRPr lang="en-US" sz="1000" dirty="0"/>
          </a:p>
        </p:txBody>
      </p:sp>
      <p:sp>
        <p:nvSpPr>
          <p:cNvPr id="41" name="Shape 39"/>
          <p:cNvSpPr/>
          <p:nvPr/>
        </p:nvSpPr>
        <p:spPr>
          <a:xfrm>
            <a:off x="1362456" y="4434840"/>
            <a:ext cx="54864" cy="91"/>
          </a:xfrm>
          <a:prstGeom prst="line">
            <a:avLst/>
          </a:prstGeom>
          <a:noFill/>
          <a:ln w="12700">
            <a:solidFill>
              <a:srgbClr val="2A1F3D"/>
            </a:solidFill>
            <a:prstDash val="solid"/>
          </a:ln>
        </p:spPr>
      </p:sp>
      <p:sp>
        <p:nvSpPr>
          <p:cNvPr id="42" name="Text 40"/>
          <p:cNvSpPr/>
          <p:nvPr/>
        </p:nvSpPr>
        <p:spPr>
          <a:xfrm>
            <a:off x="978408" y="43434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3" name="Shape 41"/>
          <p:cNvSpPr/>
          <p:nvPr/>
        </p:nvSpPr>
        <p:spPr>
          <a:xfrm>
            <a:off x="1362456" y="3931920"/>
            <a:ext cx="54864" cy="91"/>
          </a:xfrm>
          <a:prstGeom prst="line">
            <a:avLst/>
          </a:prstGeom>
          <a:noFill/>
          <a:ln w="12700">
            <a:solidFill>
              <a:srgbClr val="2A1F3D"/>
            </a:solidFill>
            <a:prstDash val="solid"/>
          </a:ln>
        </p:spPr>
      </p:sp>
      <p:sp>
        <p:nvSpPr>
          <p:cNvPr id="44" name="Text 42"/>
          <p:cNvSpPr/>
          <p:nvPr/>
        </p:nvSpPr>
        <p:spPr>
          <a:xfrm>
            <a:off x="978408" y="38404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5" name="Shape 43"/>
          <p:cNvSpPr/>
          <p:nvPr/>
        </p:nvSpPr>
        <p:spPr>
          <a:xfrm>
            <a:off x="1362456" y="3429000"/>
            <a:ext cx="54864" cy="91"/>
          </a:xfrm>
          <a:prstGeom prst="line">
            <a:avLst/>
          </a:prstGeom>
          <a:noFill/>
          <a:ln w="12700">
            <a:solidFill>
              <a:srgbClr val="2A1F3D"/>
            </a:solidFill>
            <a:prstDash val="solid"/>
          </a:ln>
        </p:spPr>
      </p:sp>
      <p:sp>
        <p:nvSpPr>
          <p:cNvPr id="46" name="Text 44"/>
          <p:cNvSpPr/>
          <p:nvPr/>
        </p:nvSpPr>
        <p:spPr>
          <a:xfrm>
            <a:off x="978408" y="33375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47" name="Shape 45"/>
          <p:cNvSpPr/>
          <p:nvPr/>
        </p:nvSpPr>
        <p:spPr>
          <a:xfrm>
            <a:off x="1362456" y="2926080"/>
            <a:ext cx="54864" cy="91"/>
          </a:xfrm>
          <a:prstGeom prst="line">
            <a:avLst/>
          </a:prstGeom>
          <a:noFill/>
          <a:ln w="12700">
            <a:solidFill>
              <a:srgbClr val="2A1F3D"/>
            </a:solidFill>
            <a:prstDash val="solid"/>
          </a:ln>
        </p:spPr>
      </p:sp>
      <p:sp>
        <p:nvSpPr>
          <p:cNvPr id="48" name="Text 46"/>
          <p:cNvSpPr/>
          <p:nvPr/>
        </p:nvSpPr>
        <p:spPr>
          <a:xfrm>
            <a:off x="978408" y="28346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p>
        </p:txBody>
      </p:sp>
      <p:sp>
        <p:nvSpPr>
          <p:cNvPr id="49" name="Shape 47"/>
          <p:cNvSpPr/>
          <p:nvPr/>
        </p:nvSpPr>
        <p:spPr>
          <a:xfrm>
            <a:off x="1362456" y="2423160"/>
            <a:ext cx="54864" cy="91"/>
          </a:xfrm>
          <a:prstGeom prst="line">
            <a:avLst/>
          </a:prstGeom>
          <a:noFill/>
          <a:ln w="12700">
            <a:solidFill>
              <a:srgbClr val="2A1F3D"/>
            </a:solidFill>
            <a:prstDash val="solid"/>
          </a:ln>
        </p:spPr>
      </p:sp>
      <p:sp>
        <p:nvSpPr>
          <p:cNvPr id="50" name="Text 48"/>
          <p:cNvSpPr/>
          <p:nvPr/>
        </p:nvSpPr>
        <p:spPr>
          <a:xfrm>
            <a:off x="978408" y="2331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120</a:t>
            </a:r>
            <a:endParaRPr lang="en-US" sz="1000" dirty="0"/>
          </a:p>
        </p:txBody>
      </p:sp>
      <p:sp>
        <p:nvSpPr>
          <p:cNvPr id="51" name="Shape 49"/>
          <p:cNvSpPr/>
          <p:nvPr/>
        </p:nvSpPr>
        <p:spPr>
          <a:xfrm>
            <a:off x="1362456" y="1920240"/>
            <a:ext cx="54864" cy="91"/>
          </a:xfrm>
          <a:prstGeom prst="line">
            <a:avLst/>
          </a:prstGeom>
          <a:noFill/>
          <a:ln w="12700">
            <a:solidFill>
              <a:srgbClr val="2A1F3D"/>
            </a:solidFill>
            <a:prstDash val="solid"/>
          </a:ln>
        </p:spPr>
      </p:sp>
      <p:sp>
        <p:nvSpPr>
          <p:cNvPr id="52" name="Text 50"/>
          <p:cNvSpPr/>
          <p:nvPr/>
        </p:nvSpPr>
        <p:spPr>
          <a:xfrm>
            <a:off x="978408" y="18288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150</a:t>
            </a:r>
            <a:endParaRPr lang="en-US" sz="1000" dirty="0"/>
          </a:p>
        </p:txBody>
      </p:sp>
      <p:sp>
        <p:nvSpPr>
          <p:cNvPr id="53" name="Shape 51"/>
          <p:cNvSpPr/>
          <p:nvPr/>
        </p:nvSpPr>
        <p:spPr>
          <a:xfrm>
            <a:off x="1362456" y="1417320"/>
            <a:ext cx="54864" cy="91"/>
          </a:xfrm>
          <a:prstGeom prst="line">
            <a:avLst/>
          </a:prstGeom>
          <a:noFill/>
          <a:ln w="12700">
            <a:solidFill>
              <a:srgbClr val="2A1F3D"/>
            </a:solidFill>
            <a:prstDash val="solid"/>
          </a:ln>
        </p:spPr>
      </p:sp>
      <p:sp>
        <p:nvSpPr>
          <p:cNvPr id="54" name="Text 52"/>
          <p:cNvSpPr/>
          <p:nvPr/>
        </p:nvSpPr>
        <p:spPr>
          <a:xfrm>
            <a:off x="97840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180</a:t>
            </a:r>
            <a:endParaRPr lang="en-US" sz="1000" dirty="0"/>
          </a:p>
        </p:txBody>
      </p:sp>
      <p:sp>
        <p:nvSpPr>
          <p:cNvPr id="55" name="Text 53"/>
          <p:cNvSpPr/>
          <p:nvPr/>
        </p:nvSpPr>
        <p:spPr>
          <a:xfrm rot="16200000">
            <a:off x="-658368" y="2798064"/>
            <a:ext cx="3017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Energy to make 1 kg of aluminium / MJ</a:t>
            </a:r>
            <a:endParaRPr lang="en-US" sz="1050" dirty="0"/>
          </a:p>
        </p:txBody>
      </p:sp>
      <p:sp>
        <p:nvSpPr>
          <p:cNvPr id="56" name="Shape 54"/>
          <p:cNvSpPr/>
          <p:nvPr/>
        </p:nvSpPr>
        <p:spPr>
          <a:xfrm>
            <a:off x="2171700" y="1584960"/>
            <a:ext cx="502920" cy="2849880"/>
          </a:xfrm>
          <a:prstGeom prst="rect">
            <a:avLst/>
          </a:prstGeom>
          <a:solidFill>
            <a:srgbClr val="9AA3B0"/>
          </a:solidFill>
          <a:ln w="9525">
            <a:solidFill>
              <a:srgbClr val="2A1F3D"/>
            </a:solidFill>
            <a:prstDash val="solid"/>
          </a:ln>
        </p:spPr>
      </p:sp>
      <p:sp>
        <p:nvSpPr>
          <p:cNvPr id="57" name="Shape 55"/>
          <p:cNvSpPr/>
          <p:nvPr/>
        </p:nvSpPr>
        <p:spPr>
          <a:xfrm>
            <a:off x="3177540" y="4292346"/>
            <a:ext cx="502920" cy="142494"/>
          </a:xfrm>
          <a:prstGeom prst="rect">
            <a:avLst/>
          </a:prstGeom>
          <a:solidFill>
            <a:srgbClr val="2E8B57"/>
          </a:solidFill>
          <a:ln w="9525">
            <a:solidFill>
              <a:srgbClr val="2A1F3D"/>
            </a:solidFill>
            <a:prstDash val="solid"/>
          </a:ln>
        </p:spPr>
      </p:sp>
      <p:sp>
        <p:nvSpPr>
          <p:cNvPr id="58" name="Text 56"/>
          <p:cNvSpPr/>
          <p:nvPr/>
        </p:nvSpPr>
        <p:spPr>
          <a:xfrm>
            <a:off x="1783080" y="4507992"/>
            <a:ext cx="128016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from ore</a:t>
            </a:r>
            <a:endParaRPr lang="en-US" sz="1050" dirty="0"/>
          </a:p>
        </p:txBody>
      </p:sp>
      <p:sp>
        <p:nvSpPr>
          <p:cNvPr id="59" name="Text 57"/>
          <p:cNvSpPr/>
          <p:nvPr/>
        </p:nvSpPr>
        <p:spPr>
          <a:xfrm>
            <a:off x="2788920" y="4507992"/>
            <a:ext cx="128016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recycled</a:t>
            </a:r>
            <a:endParaRPr lang="en-US" sz="1050" dirty="0"/>
          </a:p>
        </p:txBody>
      </p:sp>
      <p:sp>
        <p:nvSpPr>
          <p:cNvPr id="60" name="Text 58"/>
          <p:cNvSpPr/>
          <p:nvPr/>
        </p:nvSpPr>
        <p:spPr>
          <a:xfrm>
            <a:off x="1965960" y="1347216"/>
            <a:ext cx="914400" cy="20116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170</a:t>
            </a:r>
            <a:endParaRPr lang="en-US" sz="1050" dirty="0"/>
          </a:p>
        </p:txBody>
      </p:sp>
      <p:sp>
        <p:nvSpPr>
          <p:cNvPr id="61" name="Text 59"/>
          <p:cNvSpPr/>
          <p:nvPr/>
        </p:nvSpPr>
        <p:spPr>
          <a:xfrm>
            <a:off x="2971800" y="4054602"/>
            <a:ext cx="914400" cy="20116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8.5</a:t>
            </a:r>
            <a:endParaRPr lang="en-US" sz="1050" dirty="0"/>
          </a:p>
        </p:txBody>
      </p:sp>
      <p:sp>
        <p:nvSpPr>
          <p:cNvPr id="62" name="Text 60"/>
          <p:cNvSpPr/>
          <p:nvPr/>
        </p:nvSpPr>
        <p:spPr>
          <a:xfrm>
            <a:off x="4617720" y="1554480"/>
            <a:ext cx="1691640" cy="91440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Extraction by </a:t>
            </a:r>
            <a:r>
              <a:rPr lang="en-US" sz="1000" b="1" dirty="0">
                <a:solidFill>
                  <a:srgbClr val="262B3A"/>
                </a:solidFill>
                <a:latin typeface="Calibri" pitchFamily="34" charset="0"/>
                <a:ea typeface="Calibri" pitchFamily="34" charset="-122"/>
                <a:cs typeface="Calibri" pitchFamily="34" charset="-120"/>
              </a:rPr>
              <a:t>electrolysis</a:t>
            </a:r>
            <a:r>
              <a:rPr lang="en-US" sz="1000" dirty="0">
                <a:solidFill>
                  <a:srgbClr val="262B3A"/>
                </a:solidFill>
                <a:latin typeface="Calibri" pitchFamily="34" charset="0"/>
                <a:ea typeface="Calibri" pitchFamily="34" charset="-122"/>
                <a:cs typeface="Calibri" pitchFamily="34" charset="-120"/>
              </a:rPr>
              <a:t> of molten ore uses a lot of electricity (C3)</a:t>
            </a:r>
            <a:endParaRPr lang="en-US" sz="1000" dirty="0"/>
          </a:p>
        </p:txBody>
      </p:sp>
      <p:sp>
        <p:nvSpPr>
          <p:cNvPr id="63" name="Text 61"/>
          <p:cNvSpPr/>
          <p:nvPr/>
        </p:nvSpPr>
        <p:spPr>
          <a:xfrm>
            <a:off x="4617720" y="2560320"/>
            <a:ext cx="1691640" cy="548640"/>
          </a:xfrm>
          <a:prstGeom prst="rect">
            <a:avLst/>
          </a:prstGeom>
          <a:noFill/>
          <a:ln/>
        </p:spPr>
        <p:txBody>
          <a:bodyPr wrap="square" lIns="0" tIns="0" rIns="0" bIns="0" rtlCol="0" anchor="t"/>
          <a:lstStyle/>
          <a:p>
            <a:pPr algn="l" indent="0" marL="0">
              <a:buNone/>
            </a:pPr>
            <a:r>
              <a:rPr lang="en-US" sz="1000" dirty="0">
                <a:solidFill>
                  <a:srgbClr val="2E8B57"/>
                </a:solidFill>
                <a:latin typeface="Calibri" pitchFamily="34" charset="0"/>
                <a:ea typeface="Calibri" pitchFamily="34" charset="-122"/>
                <a:cs typeface="Calibri" pitchFamily="34" charset="-120"/>
              </a:rPr>
              <a:t>Recycling only </a:t>
            </a:r>
            <a:r>
              <a:rPr lang="en-US" sz="1000" b="1" dirty="0">
                <a:solidFill>
                  <a:srgbClr val="2E8B57"/>
                </a:solidFill>
                <a:latin typeface="Calibri" pitchFamily="34" charset="0"/>
                <a:ea typeface="Calibri" pitchFamily="34" charset="-122"/>
                <a:cs typeface="Calibri" pitchFamily="34" charset="-120"/>
              </a:rPr>
              <a:t>melts</a:t>
            </a:r>
            <a:r>
              <a:rPr lang="en-US" sz="1000" dirty="0">
                <a:solidFill>
                  <a:srgbClr val="2E8B57"/>
                </a:solidFill>
                <a:latin typeface="Calibri" pitchFamily="34" charset="0"/>
                <a:ea typeface="Calibri" pitchFamily="34" charset="-122"/>
                <a:cs typeface="Calibri" pitchFamily="34" charset="-120"/>
              </a:rPr>
              <a:t> the metal</a:t>
            </a:r>
            <a:endParaRPr lang="en-US" sz="1000" dirty="0"/>
          </a:p>
        </p:txBody>
      </p:sp>
      <p:sp>
        <p:nvSpPr>
          <p:cNvPr id="64" name="Text 62"/>
          <p:cNvSpPr/>
          <p:nvPr/>
        </p:nvSpPr>
        <p:spPr>
          <a:xfrm>
            <a:off x="685800" y="4937760"/>
            <a:ext cx="5486400"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For</a:t>
            </a:r>
            <a:r>
              <a:rPr lang="en-US" sz="1050" dirty="0">
                <a:solidFill>
                  <a:srgbClr val="262B3A"/>
                </a:solidFill>
                <a:latin typeface="Calibri" pitchFamily="34" charset="0"/>
                <a:ea typeface="Calibri" pitchFamily="34" charset="-122"/>
                <a:cs typeface="Calibri" pitchFamily="34" charset="-120"/>
              </a:rPr>
              <a:t>: energy, raw materials, landfill space  •  </a:t>
            </a:r>
            <a:r>
              <a:rPr lang="en-US" sz="1050" b="1" dirty="0">
                <a:solidFill>
                  <a:srgbClr val="262B3A"/>
                </a:solidFill>
                <a:latin typeface="Calibri" pitchFamily="34" charset="0"/>
                <a:ea typeface="Calibri" pitchFamily="34" charset="-122"/>
                <a:cs typeface="Calibri" pitchFamily="34" charset="-120"/>
              </a:rPr>
              <a:t>Against</a:t>
            </a:r>
            <a:r>
              <a:rPr lang="en-US" sz="1050" dirty="0">
                <a:solidFill>
                  <a:srgbClr val="262B3A"/>
                </a:solidFill>
                <a:latin typeface="Calibri" pitchFamily="34" charset="0"/>
                <a:ea typeface="Calibri" pitchFamily="34" charset="-122"/>
                <a:cs typeface="Calibri" pitchFamily="34" charset="-120"/>
              </a:rPr>
              <a:t>: collection, sorting, transport, purity</a:t>
            </a:r>
            <a:endParaRPr lang="en-US" sz="1050" dirty="0"/>
          </a:p>
        </p:txBody>
      </p:sp>
      <p:sp>
        <p:nvSpPr>
          <p:cNvPr id="65" name="Shape 63"/>
          <p:cNvSpPr/>
          <p:nvPr/>
        </p:nvSpPr>
        <p:spPr>
          <a:xfrm>
            <a:off x="6675120" y="1188720"/>
            <a:ext cx="5102352" cy="2606040"/>
          </a:xfrm>
          <a:prstGeom prst="roundRect">
            <a:avLst>
              <a:gd name="adj" fmla="val 2105"/>
            </a:avLst>
          </a:prstGeom>
          <a:solidFill>
            <a:srgbClr val="F8F5FC"/>
          </a:solidFill>
          <a:ln w="9525">
            <a:solidFill>
              <a:srgbClr val="DDD3EC"/>
            </a:solidFill>
            <a:prstDash val="solid"/>
          </a:ln>
        </p:spPr>
      </p:sp>
      <p:sp>
        <p:nvSpPr>
          <p:cNvPr id="66" name="Text 64"/>
          <p:cNvSpPr/>
          <p:nvPr/>
        </p:nvSpPr>
        <p:spPr>
          <a:xfrm>
            <a:off x="6839712" y="128016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Factors to weigh up</a:t>
            </a:r>
            <a:endParaRPr lang="en-US" sz="1300" dirty="0"/>
          </a:p>
        </p:txBody>
      </p:sp>
      <p:sp>
        <p:nvSpPr>
          <p:cNvPr id="67" name="Text 65"/>
          <p:cNvSpPr/>
          <p:nvPr/>
        </p:nvSpPr>
        <p:spPr>
          <a:xfrm>
            <a:off x="6839712" y="1609344"/>
            <a:ext cx="4773168" cy="211226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Energy saved</a:t>
            </a:r>
            <a:r>
              <a:rPr lang="en-US" sz="1050" dirty="0">
                <a:solidFill>
                  <a:srgbClr val="262B3A"/>
                </a:solidFill>
                <a:latin typeface="Calibri" pitchFamily="34" charset="0"/>
                <a:ea typeface="Calibri" pitchFamily="34" charset="-122"/>
                <a:cs typeface="Calibri" pitchFamily="34" charset="-120"/>
              </a:rPr>
              <a:t> compared with making new material; </a:t>
            </a:r>
            <a:r>
              <a:rPr lang="en-US" sz="1050" b="1" dirty="0">
                <a:solidFill>
                  <a:srgbClr val="262B3A"/>
                </a:solidFill>
                <a:latin typeface="Calibri" pitchFamily="34" charset="0"/>
                <a:ea typeface="Calibri" pitchFamily="34" charset="-122"/>
                <a:cs typeface="Calibri" pitchFamily="34" charset="-120"/>
              </a:rPr>
              <a:t>finite resources</a:t>
            </a:r>
            <a:r>
              <a:rPr lang="en-US" sz="1050" dirty="0">
                <a:solidFill>
                  <a:srgbClr val="262B3A"/>
                </a:solidFill>
                <a:latin typeface="Calibri" pitchFamily="34" charset="0"/>
                <a:ea typeface="Calibri" pitchFamily="34" charset="-122"/>
                <a:cs typeface="Calibri" pitchFamily="34" charset="-120"/>
              </a:rPr>
              <a:t> (ores, crude oil) conserved.</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Costs</a:t>
            </a:r>
            <a:r>
              <a:rPr lang="en-US" sz="1050" dirty="0">
                <a:solidFill>
                  <a:srgbClr val="262B3A"/>
                </a:solidFill>
                <a:latin typeface="Calibri" pitchFamily="34" charset="0"/>
                <a:ea typeface="Calibri" pitchFamily="34" charset="-122"/>
                <a:cs typeface="Calibri" pitchFamily="34" charset="-120"/>
              </a:rPr>
              <a:t> of collecting, </a:t>
            </a:r>
            <a:r>
              <a:rPr lang="en-US" sz="1050" b="1" dirty="0">
                <a:solidFill>
                  <a:srgbClr val="262B3A"/>
                </a:solidFill>
                <a:latin typeface="Calibri" pitchFamily="34" charset="0"/>
                <a:ea typeface="Calibri" pitchFamily="34" charset="-122"/>
                <a:cs typeface="Calibri" pitchFamily="34" charset="-120"/>
              </a:rPr>
              <a:t>sorting</a:t>
            </a:r>
            <a:r>
              <a:rPr lang="en-US" sz="1050" dirty="0">
                <a:solidFill>
                  <a:srgbClr val="262B3A"/>
                </a:solidFill>
                <a:latin typeface="Calibri" pitchFamily="34" charset="0"/>
                <a:ea typeface="Calibri" pitchFamily="34" charset="-122"/>
                <a:cs typeface="Calibri" pitchFamily="34" charset="-120"/>
              </a:rPr>
              <a:t>, cleaning and </a:t>
            </a:r>
            <a:r>
              <a:rPr lang="en-US" sz="1050" b="1" dirty="0">
                <a:solidFill>
                  <a:srgbClr val="262B3A"/>
                </a:solidFill>
                <a:latin typeface="Calibri" pitchFamily="34" charset="0"/>
                <a:ea typeface="Calibri" pitchFamily="34" charset="-122"/>
                <a:cs typeface="Calibri" pitchFamily="34" charset="-120"/>
              </a:rPr>
              <a:t>transporting</a:t>
            </a:r>
            <a:r>
              <a:rPr lang="en-US" sz="1050" dirty="0">
                <a:solidFill>
                  <a:srgbClr val="262B3A"/>
                </a:solidFill>
                <a:latin typeface="Calibri" pitchFamily="34" charset="0"/>
                <a:ea typeface="Calibri" pitchFamily="34" charset="-122"/>
                <a:cs typeface="Calibri" pitchFamily="34" charset="-120"/>
              </a:rPr>
              <a:t> the waste: these use energy and money too.</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Purity</a:t>
            </a:r>
            <a:r>
              <a:rPr lang="en-US" sz="1050" dirty="0">
                <a:solidFill>
                  <a:srgbClr val="262B3A"/>
                </a:solidFill>
                <a:latin typeface="Calibri" pitchFamily="34" charset="0"/>
                <a:ea typeface="Calibri" pitchFamily="34" charset="-122"/>
                <a:cs typeface="Calibri" pitchFamily="34" charset="-120"/>
              </a:rPr>
              <a:t>: mixed or contaminated materials are hard to separate; plastics often lose quality each time.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Value</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market</a:t>
            </a:r>
            <a:r>
              <a:rPr lang="en-US" sz="1050" dirty="0">
                <a:solidFill>
                  <a:srgbClr val="262B3A"/>
                </a:solidFill>
                <a:latin typeface="Calibri" pitchFamily="34" charset="0"/>
                <a:ea typeface="Calibri" pitchFamily="34" charset="-122"/>
                <a:cs typeface="Calibri" pitchFamily="34" charset="-120"/>
              </a:rPr>
              <a:t> for the recycled material; </a:t>
            </a:r>
            <a:r>
              <a:rPr lang="en-US" sz="1050" b="1" dirty="0">
                <a:solidFill>
                  <a:srgbClr val="262B3A"/>
                </a:solidFill>
                <a:latin typeface="Calibri" pitchFamily="34" charset="0"/>
                <a:ea typeface="Calibri" pitchFamily="34" charset="-122"/>
                <a:cs typeface="Calibri" pitchFamily="34" charset="-120"/>
              </a:rPr>
              <a:t>emissions</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landfill</a:t>
            </a:r>
            <a:r>
              <a:rPr lang="en-US" sz="1050" dirty="0">
                <a:solidFill>
                  <a:srgbClr val="262B3A"/>
                </a:solidFill>
                <a:latin typeface="Calibri" pitchFamily="34" charset="0"/>
                <a:ea typeface="Calibri" pitchFamily="34" charset="-122"/>
                <a:cs typeface="Calibri" pitchFamily="34" charset="-120"/>
              </a:rPr>
              <a:t> space saved.</a:t>
            </a:r>
            <a:endParaRPr lang="en-US" sz="1050" dirty="0"/>
          </a:p>
        </p:txBody>
      </p:sp>
      <p:sp>
        <p:nvSpPr>
          <p:cNvPr id="68" name="Shape 66"/>
          <p:cNvSpPr/>
          <p:nvPr/>
        </p:nvSpPr>
        <p:spPr>
          <a:xfrm>
            <a:off x="6675120" y="3931920"/>
            <a:ext cx="5102352" cy="1783080"/>
          </a:xfrm>
          <a:prstGeom prst="roundRect">
            <a:avLst>
              <a:gd name="adj" fmla="val 3077"/>
            </a:avLst>
          </a:prstGeom>
          <a:solidFill>
            <a:srgbClr val="FFF4E0"/>
          </a:solidFill>
          <a:ln w="9525">
            <a:solidFill>
              <a:srgbClr val="F1D9A8"/>
            </a:solidFill>
            <a:prstDash val="solid"/>
          </a:ln>
        </p:spPr>
      </p:sp>
      <p:sp>
        <p:nvSpPr>
          <p:cNvPr id="69" name="Text 67"/>
          <p:cNvSpPr/>
          <p:nvPr/>
        </p:nvSpPr>
        <p:spPr>
          <a:xfrm>
            <a:off x="6839712" y="400507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aluminium cans</a:t>
            </a:r>
            <a:endParaRPr lang="en-US" sz="1300" dirty="0"/>
          </a:p>
        </p:txBody>
      </p:sp>
      <p:sp>
        <p:nvSpPr>
          <p:cNvPr id="70" name="Text 68"/>
          <p:cNvSpPr/>
          <p:nvPr/>
        </p:nvSpPr>
        <p:spPr>
          <a:xfrm>
            <a:off x="6839712" y="4315968"/>
            <a:ext cx="47731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From ore 170 MJ/kg; recycled 8.5 MJ/kg. A school collects 500 cans of 15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Saving   </a:t>
            </a:r>
            <a:r>
              <a:rPr lang="en-US" sz="1050" dirty="0">
                <a:solidFill>
                  <a:srgbClr val="262B3A"/>
                </a:solidFill>
                <a:latin typeface="Calibri" pitchFamily="34" charset="0"/>
                <a:ea typeface="Calibri" pitchFamily="34" charset="-122"/>
                <a:cs typeface="Calibri" pitchFamily="34" charset="-120"/>
              </a:rPr>
              <a:t>(170 − 8.5) ÷ 170 × 100 = </a:t>
            </a:r>
            <a:r>
              <a:rPr lang="en-US" sz="1050" b="1" dirty="0">
                <a:solidFill>
                  <a:srgbClr val="262B3A"/>
                </a:solidFill>
                <a:latin typeface="Calibri" pitchFamily="34" charset="0"/>
                <a:ea typeface="Calibri" pitchFamily="34" charset="-122"/>
                <a:cs typeface="Calibri" pitchFamily="34" charset="-120"/>
              </a:rPr>
              <a:t>95%</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Mass   </a:t>
            </a:r>
            <a:r>
              <a:rPr lang="en-US" sz="1050" dirty="0">
                <a:solidFill>
                  <a:srgbClr val="262B3A"/>
                </a:solidFill>
                <a:latin typeface="Calibri" pitchFamily="34" charset="0"/>
                <a:ea typeface="Calibri" pitchFamily="34" charset="-122"/>
                <a:cs typeface="Calibri" pitchFamily="34" charset="-120"/>
              </a:rPr>
              <a:t>500 × 15 g = 7.5 kg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7.5 × 161.5 = 1211.25 ≈ </a:t>
            </a:r>
            <a:r>
              <a:rPr lang="en-US" sz="1050" b="1" dirty="0">
                <a:solidFill>
                  <a:srgbClr val="C8414C"/>
                </a:solidFill>
                <a:latin typeface="Calibri" pitchFamily="34" charset="0"/>
                <a:ea typeface="Calibri" pitchFamily="34" charset="-122"/>
                <a:cs typeface="Calibri" pitchFamily="34" charset="-120"/>
              </a:rPr>
              <a:t>1200 MJ</a:t>
            </a:r>
            <a:r>
              <a:rPr lang="en-US" sz="1050" b="1" dirty="0">
                <a:solidFill>
                  <a:srgbClr val="C8414C"/>
                </a:solidFill>
                <a:latin typeface="Calibri" pitchFamily="34" charset="0"/>
                <a:ea typeface="Calibri" pitchFamily="34" charset="-122"/>
                <a:cs typeface="Calibri" pitchFamily="34" charset="-120"/>
              </a:rPr>
              <a:t> saved</a:t>
            </a:r>
            <a:endParaRPr lang="en-US" sz="1050" dirty="0"/>
          </a:p>
        </p:txBody>
      </p:sp>
      <p:sp>
        <p:nvSpPr>
          <p:cNvPr id="71" name="Shape 69"/>
          <p:cNvSpPr/>
          <p:nvPr/>
        </p:nvSpPr>
        <p:spPr>
          <a:xfrm>
            <a:off x="411480" y="5833872"/>
            <a:ext cx="11368735" cy="530352"/>
          </a:xfrm>
          <a:prstGeom prst="rect">
            <a:avLst/>
          </a:prstGeom>
          <a:solidFill>
            <a:srgbClr val="FFF4E0"/>
          </a:solidFill>
          <a:ln w="6350">
            <a:solidFill>
              <a:srgbClr val="F1D9A8"/>
            </a:solidFill>
            <a:prstDash val="solid"/>
          </a:ln>
        </p:spPr>
      </p:sp>
      <p:sp>
        <p:nvSpPr>
          <p:cNvPr id="72" name="Shape 70"/>
          <p:cNvSpPr/>
          <p:nvPr/>
        </p:nvSpPr>
        <p:spPr>
          <a:xfrm>
            <a:off x="411480" y="5833872"/>
            <a:ext cx="82296" cy="530352"/>
          </a:xfrm>
          <a:prstGeom prst="rect">
            <a:avLst/>
          </a:prstGeom>
          <a:solidFill>
            <a:srgbClr val="E39A2F"/>
          </a:solidFill>
          <a:ln w="12700">
            <a:solidFill>
              <a:srgbClr val="E39A2F"/>
            </a:solidFill>
            <a:prstDash val="solid"/>
          </a:ln>
        </p:spPr>
      </p:sp>
      <p:sp>
        <p:nvSpPr>
          <p:cNvPr id="73" name="Text 7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Making steel from ore needs </a:t>
            </a:r>
            <a:r>
              <a:rPr lang="en-US" sz="1150" b="1" dirty="0">
                <a:solidFill>
                  <a:srgbClr val="262B3A"/>
                </a:solidFill>
                <a:latin typeface="Calibri" pitchFamily="34" charset="0"/>
                <a:ea typeface="Calibri" pitchFamily="34" charset="-122"/>
                <a:cs typeface="Calibri" pitchFamily="34" charset="-120"/>
              </a:rPr>
              <a:t>20 MJ/kg</a:t>
            </a:r>
            <a:r>
              <a:rPr lang="en-US" sz="1150" dirty="0">
                <a:solidFill>
                  <a:srgbClr val="262B3A"/>
                </a:solidFill>
                <a:latin typeface="Calibri" pitchFamily="34" charset="0"/>
                <a:ea typeface="Calibri" pitchFamily="34" charset="-122"/>
                <a:cs typeface="Calibri" pitchFamily="34" charset="-120"/>
              </a:rPr>
              <a:t>; from scrap </a:t>
            </a:r>
            <a:r>
              <a:rPr lang="en-US" sz="1150" b="1" dirty="0">
                <a:solidFill>
                  <a:srgbClr val="262B3A"/>
                </a:solidFill>
                <a:latin typeface="Calibri" pitchFamily="34" charset="0"/>
                <a:ea typeface="Calibri" pitchFamily="34" charset="-122"/>
                <a:cs typeface="Calibri" pitchFamily="34" charset="-120"/>
              </a:rPr>
              <a:t>8 MJ/kg</a:t>
            </a:r>
            <a:r>
              <a:rPr lang="en-US" sz="1150" dirty="0">
                <a:solidFill>
                  <a:srgbClr val="262B3A"/>
                </a:solidFill>
                <a:latin typeface="Calibri" pitchFamily="34" charset="0"/>
                <a:ea typeface="Calibri" pitchFamily="34" charset="-122"/>
                <a:cs typeface="Calibri" pitchFamily="34" charset="-120"/>
              </a:rPr>
              <a:t>. Calculate the % saving. Why are </a:t>
            </a:r>
            <a:r>
              <a:rPr lang="en-US" sz="1150" b="1" dirty="0">
                <a:solidFill>
                  <a:srgbClr val="262B3A"/>
                </a:solidFill>
                <a:latin typeface="Calibri" pitchFamily="34" charset="0"/>
                <a:ea typeface="Calibri" pitchFamily="34" charset="-122"/>
                <a:cs typeface="Calibri" pitchFamily="34" charset="-120"/>
              </a:rPr>
              <a:t>mixed plastics</a:t>
            </a:r>
            <a:r>
              <a:rPr lang="en-US" sz="1150" dirty="0">
                <a:solidFill>
                  <a:srgbClr val="262B3A"/>
                </a:solidFill>
                <a:latin typeface="Calibri" pitchFamily="34" charset="0"/>
                <a:ea typeface="Calibri" pitchFamily="34" charset="-122"/>
                <a:cs typeface="Calibri" pitchFamily="34" charset="-120"/>
              </a:rPr>
              <a:t> less often recycled than </a:t>
            </a:r>
            <a:r>
              <a:rPr lang="en-US" sz="1150" b="1" dirty="0">
                <a:solidFill>
                  <a:srgbClr val="262B3A"/>
                </a:solidFill>
                <a:latin typeface="Calibri" pitchFamily="34" charset="0"/>
                <a:ea typeface="Calibri" pitchFamily="34" charset="-122"/>
                <a:cs typeface="Calibri" pitchFamily="34" charset="-120"/>
              </a:rPr>
              <a:t>aluminium</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C4.4.6, C4.4.7 • end-of-life decisions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advantage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disadvantage of </a:t>
            </a:r>
            <a:r>
              <a:rPr lang="en-US" sz="1250" b="1" dirty="0">
                <a:solidFill>
                  <a:srgbClr val="262B3A"/>
                </a:solidFill>
                <a:latin typeface="Calibri" pitchFamily="34" charset="0"/>
                <a:ea typeface="Calibri" pitchFamily="34" charset="-122"/>
                <a:cs typeface="Calibri" pitchFamily="34" charset="-120"/>
              </a:rPr>
              <a:t>incinerating</a:t>
            </a:r>
            <a:r>
              <a:rPr lang="en-US" sz="1250" dirty="0">
                <a:solidFill>
                  <a:srgbClr val="262B3A"/>
                </a:solidFill>
                <a:latin typeface="Calibri" pitchFamily="34" charset="0"/>
                <a:ea typeface="Calibri" pitchFamily="34" charset="-122"/>
                <a:cs typeface="Calibri" pitchFamily="34" charset="-120"/>
              </a:rPr>
              <a:t> waste.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Making copper from ore uses </a:t>
            </a:r>
            <a:r>
              <a:rPr lang="en-US" sz="1250" b="1" dirty="0">
                <a:solidFill>
                  <a:srgbClr val="262B3A"/>
                </a:solidFill>
                <a:latin typeface="Calibri" pitchFamily="34" charset="0"/>
                <a:ea typeface="Calibri" pitchFamily="34" charset="-122"/>
                <a:cs typeface="Calibri" pitchFamily="34" charset="-120"/>
              </a:rPr>
              <a:t>60 MJ/kg</a:t>
            </a:r>
            <a:r>
              <a:rPr lang="en-US" sz="1250" dirty="0">
                <a:solidFill>
                  <a:srgbClr val="262B3A"/>
                </a:solidFill>
                <a:latin typeface="Calibri" pitchFamily="34" charset="0"/>
                <a:ea typeface="Calibri" pitchFamily="34" charset="-122"/>
                <a:cs typeface="Calibri" pitchFamily="34" charset="-120"/>
              </a:rPr>
              <a:t>; recycling uses </a:t>
            </a:r>
            <a:r>
              <a:rPr lang="en-US" sz="1250" b="1" dirty="0">
                <a:solidFill>
                  <a:srgbClr val="262B3A"/>
                </a:solidFill>
                <a:latin typeface="Calibri" pitchFamily="34" charset="0"/>
                <a:ea typeface="Calibri" pitchFamily="34" charset="-122"/>
                <a:cs typeface="Calibri" pitchFamily="34" charset="-120"/>
              </a:rPr>
              <a:t>9 MJ/kg</a:t>
            </a:r>
            <a:r>
              <a:rPr lang="en-US" sz="1250" dirty="0">
                <a:solidFill>
                  <a:srgbClr val="262B3A"/>
                </a:solidFill>
                <a:latin typeface="Calibri" pitchFamily="34" charset="0"/>
                <a:ea typeface="Calibri" pitchFamily="34" charset="-122"/>
                <a:cs typeface="Calibri" pitchFamily="34" charset="-120"/>
              </a:rPr>
              <a:t>. Calculate the percentage energy saving.</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example of a material that is recycled for a </a:t>
            </a:r>
            <a:r>
              <a:rPr lang="en-US" sz="1250" b="1" dirty="0">
                <a:solidFill>
                  <a:srgbClr val="262B3A"/>
                </a:solidFill>
                <a:latin typeface="Calibri" pitchFamily="34" charset="0"/>
                <a:ea typeface="Calibri" pitchFamily="34" charset="-122"/>
                <a:cs typeface="Calibri" pitchFamily="34" charset="-120"/>
              </a:rPr>
              <a:t>different use</a:t>
            </a:r>
            <a:r>
              <a:rPr lang="en-US" sz="1250" dirty="0">
                <a:solidFill>
                  <a:srgbClr val="262B3A"/>
                </a:solidFill>
                <a:latin typeface="Calibri" pitchFamily="34" charset="0"/>
                <a:ea typeface="Calibri" pitchFamily="34" charset="-122"/>
                <a:cs typeface="Calibri" pitchFamily="34" charset="-120"/>
              </a:rPr>
              <a:t>, and explain why it is viable.</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reasons why recycling a product is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always the best choice.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C4.4 What happens to products at the end of their useful life? • learn these definitions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21</a:t>
            </a:r>
            <a:endParaRPr lang="en-US" sz="1000" dirty="0"/>
          </a:p>
        </p:txBody>
      </p:sp>
      <p:sp>
        <p:nvSpPr>
          <p:cNvPr id="8" name="Shape 6"/>
          <p:cNvSpPr/>
          <p:nvPr/>
        </p:nvSpPr>
        <p:spPr>
          <a:xfrm>
            <a:off x="411480" y="1188720"/>
            <a:ext cx="2739314" cy="1143000"/>
          </a:xfrm>
          <a:prstGeom prst="rect">
            <a:avLst/>
          </a:prstGeom>
          <a:solidFill>
            <a:srgbClr val="F8F5FC"/>
          </a:solidFill>
          <a:ln w="9525">
            <a:solidFill>
              <a:srgbClr val="DDD3EC"/>
            </a:solidFill>
            <a:prstDash val="solid"/>
          </a:ln>
        </p:spPr>
      </p:sp>
      <p:sp>
        <p:nvSpPr>
          <p:cNvPr id="9" name="Shape 7"/>
          <p:cNvSpPr/>
          <p:nvPr/>
        </p:nvSpPr>
        <p:spPr>
          <a:xfrm>
            <a:off x="411480" y="1188720"/>
            <a:ext cx="73152" cy="1143000"/>
          </a:xfrm>
          <a:prstGeom prst="rect">
            <a:avLst/>
          </a:prstGeom>
          <a:solidFill>
            <a:srgbClr val="6A3FA0"/>
          </a:solidFill>
          <a:ln w="12700">
            <a:solidFill>
              <a:srgbClr val="6A3FA0"/>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Corrosion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metal reacting with substances around it (oxygen, water) and being slowly oxidised.</a:t>
            </a:r>
            <a:endParaRPr lang="en-US" sz="1200" dirty="0"/>
          </a:p>
        </p:txBody>
      </p:sp>
      <p:sp>
        <p:nvSpPr>
          <p:cNvPr id="11" name="Shape 9"/>
          <p:cNvSpPr/>
          <p:nvPr/>
        </p:nvSpPr>
        <p:spPr>
          <a:xfrm>
            <a:off x="3287954" y="1188720"/>
            <a:ext cx="2739314" cy="1143000"/>
          </a:xfrm>
          <a:prstGeom prst="rect">
            <a:avLst/>
          </a:prstGeom>
          <a:solidFill>
            <a:srgbClr val="F8F5FC"/>
          </a:solidFill>
          <a:ln w="9525">
            <a:solidFill>
              <a:srgbClr val="DDD3EC"/>
            </a:solidFill>
            <a:prstDash val="solid"/>
          </a:ln>
        </p:spPr>
      </p:sp>
      <p:sp>
        <p:nvSpPr>
          <p:cNvPr id="12" name="Shape 10"/>
          <p:cNvSpPr/>
          <p:nvPr/>
        </p:nvSpPr>
        <p:spPr>
          <a:xfrm>
            <a:off x="3287954" y="1188720"/>
            <a:ext cx="73152" cy="1143000"/>
          </a:xfrm>
          <a:prstGeom prst="rect">
            <a:avLst/>
          </a:prstGeom>
          <a:solidFill>
            <a:srgbClr val="6A3FA0"/>
          </a:solidFill>
          <a:ln w="12700">
            <a:solidFill>
              <a:srgbClr val="6A3FA0"/>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Rusting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corrosion of iron and steel; needs both oxygen and water.</a:t>
            </a:r>
            <a:endParaRPr lang="en-US" sz="1200" dirty="0"/>
          </a:p>
        </p:txBody>
      </p:sp>
      <p:sp>
        <p:nvSpPr>
          <p:cNvPr id="14" name="Shape 12"/>
          <p:cNvSpPr/>
          <p:nvPr/>
        </p:nvSpPr>
        <p:spPr>
          <a:xfrm>
            <a:off x="6164428" y="1188720"/>
            <a:ext cx="2739314" cy="1143000"/>
          </a:xfrm>
          <a:prstGeom prst="rect">
            <a:avLst/>
          </a:prstGeom>
          <a:solidFill>
            <a:srgbClr val="F8F5FC"/>
          </a:solidFill>
          <a:ln w="9525">
            <a:solidFill>
              <a:srgbClr val="DDD3EC"/>
            </a:solidFill>
            <a:prstDash val="solid"/>
          </a:ln>
        </p:spPr>
      </p:sp>
      <p:sp>
        <p:nvSpPr>
          <p:cNvPr id="15" name="Shape 13"/>
          <p:cNvSpPr/>
          <p:nvPr/>
        </p:nvSpPr>
        <p:spPr>
          <a:xfrm>
            <a:off x="6164428" y="1188720"/>
            <a:ext cx="73152" cy="1143000"/>
          </a:xfrm>
          <a:prstGeom prst="rect">
            <a:avLst/>
          </a:prstGeom>
          <a:solidFill>
            <a:srgbClr val="6A3FA0"/>
          </a:solidFill>
          <a:ln w="12700">
            <a:solidFill>
              <a:srgbClr val="6A3FA0"/>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Rust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Hydrated iron(III) oxide: weak and flaky, so it exposes more iron.</a:t>
            </a:r>
            <a:endParaRPr lang="en-US" sz="1200" dirty="0"/>
          </a:p>
        </p:txBody>
      </p:sp>
      <p:sp>
        <p:nvSpPr>
          <p:cNvPr id="17" name="Shape 15"/>
          <p:cNvSpPr/>
          <p:nvPr/>
        </p:nvSpPr>
        <p:spPr>
          <a:xfrm>
            <a:off x="9040901" y="1188720"/>
            <a:ext cx="2739314" cy="1143000"/>
          </a:xfrm>
          <a:prstGeom prst="rect">
            <a:avLst/>
          </a:prstGeom>
          <a:solidFill>
            <a:srgbClr val="F8F5FC"/>
          </a:solidFill>
          <a:ln w="9525">
            <a:solidFill>
              <a:srgbClr val="DDD3EC"/>
            </a:solidFill>
            <a:prstDash val="solid"/>
          </a:ln>
        </p:spPr>
      </p:sp>
      <p:sp>
        <p:nvSpPr>
          <p:cNvPr id="18" name="Shape 16"/>
          <p:cNvSpPr/>
          <p:nvPr/>
        </p:nvSpPr>
        <p:spPr>
          <a:xfrm>
            <a:off x="9040901" y="1188720"/>
            <a:ext cx="73152" cy="1143000"/>
          </a:xfrm>
          <a:prstGeom prst="rect">
            <a:avLst/>
          </a:prstGeom>
          <a:solidFill>
            <a:srgbClr val="6A3FA0"/>
          </a:solidFill>
          <a:ln w="12700">
            <a:solidFill>
              <a:srgbClr val="6A3FA0"/>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Oxidation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Gain of oxygen; (HT) loss of electrons, e.g. Fe → Fe²⁺ + 2e⁻.</a:t>
            </a:r>
            <a:endParaRPr lang="en-US" sz="1200" dirty="0"/>
          </a:p>
        </p:txBody>
      </p:sp>
      <p:sp>
        <p:nvSpPr>
          <p:cNvPr id="20" name="Shape 18"/>
          <p:cNvSpPr/>
          <p:nvPr/>
        </p:nvSpPr>
        <p:spPr>
          <a:xfrm>
            <a:off x="411480" y="2441448"/>
            <a:ext cx="2739314" cy="1143000"/>
          </a:xfrm>
          <a:prstGeom prst="rect">
            <a:avLst/>
          </a:prstGeom>
          <a:solidFill>
            <a:srgbClr val="F8F5FC"/>
          </a:solidFill>
          <a:ln w="9525">
            <a:solidFill>
              <a:srgbClr val="DDD3EC"/>
            </a:solidFill>
            <a:prstDash val="solid"/>
          </a:ln>
        </p:spPr>
      </p:sp>
      <p:sp>
        <p:nvSpPr>
          <p:cNvPr id="21" name="Shape 19"/>
          <p:cNvSpPr/>
          <p:nvPr/>
        </p:nvSpPr>
        <p:spPr>
          <a:xfrm>
            <a:off x="411480" y="2441448"/>
            <a:ext cx="73152" cy="1143000"/>
          </a:xfrm>
          <a:prstGeom prst="rect">
            <a:avLst/>
          </a:prstGeom>
          <a:solidFill>
            <a:srgbClr val="6A3FA0"/>
          </a:solidFill>
          <a:ln w="12700">
            <a:solidFill>
              <a:srgbClr val="6A3FA0"/>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Reduction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Loss of oxygen; gain of electrons, e.g. O₂ + 2H₂O + 4e⁻ → 4OH⁻.</a:t>
            </a:r>
            <a:endParaRPr lang="en-US" sz="1200" dirty="0"/>
          </a:p>
        </p:txBody>
      </p:sp>
      <p:sp>
        <p:nvSpPr>
          <p:cNvPr id="23" name="Shape 21"/>
          <p:cNvSpPr/>
          <p:nvPr/>
        </p:nvSpPr>
        <p:spPr>
          <a:xfrm>
            <a:off x="3287954" y="2441448"/>
            <a:ext cx="2739314" cy="1143000"/>
          </a:xfrm>
          <a:prstGeom prst="rect">
            <a:avLst/>
          </a:prstGeom>
          <a:solidFill>
            <a:srgbClr val="F8F5FC"/>
          </a:solidFill>
          <a:ln w="9525">
            <a:solidFill>
              <a:srgbClr val="DDD3EC"/>
            </a:solidFill>
            <a:prstDash val="solid"/>
          </a:ln>
        </p:spPr>
      </p:sp>
      <p:sp>
        <p:nvSpPr>
          <p:cNvPr id="24" name="Shape 22"/>
          <p:cNvSpPr/>
          <p:nvPr/>
        </p:nvSpPr>
        <p:spPr>
          <a:xfrm>
            <a:off x="3287954" y="2441448"/>
            <a:ext cx="73152" cy="1143000"/>
          </a:xfrm>
          <a:prstGeom prst="rect">
            <a:avLst/>
          </a:prstGeom>
          <a:solidFill>
            <a:srgbClr val="6A3FA0"/>
          </a:solidFill>
          <a:ln w="12700">
            <a:solidFill>
              <a:srgbClr val="6A3FA0"/>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Barrier method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coating (paint, oil, plastic, plating) that keeps oxygen and water off the metal.</a:t>
            </a:r>
            <a:endParaRPr lang="en-US" sz="1200" dirty="0"/>
          </a:p>
        </p:txBody>
      </p:sp>
      <p:sp>
        <p:nvSpPr>
          <p:cNvPr id="26" name="Shape 24"/>
          <p:cNvSpPr/>
          <p:nvPr/>
        </p:nvSpPr>
        <p:spPr>
          <a:xfrm>
            <a:off x="6164428" y="2441448"/>
            <a:ext cx="2739314" cy="1143000"/>
          </a:xfrm>
          <a:prstGeom prst="rect">
            <a:avLst/>
          </a:prstGeom>
          <a:solidFill>
            <a:srgbClr val="F8F5FC"/>
          </a:solidFill>
          <a:ln w="9525">
            <a:solidFill>
              <a:srgbClr val="DDD3EC"/>
            </a:solidFill>
            <a:prstDash val="solid"/>
          </a:ln>
        </p:spPr>
      </p:sp>
      <p:sp>
        <p:nvSpPr>
          <p:cNvPr id="27" name="Shape 25"/>
          <p:cNvSpPr/>
          <p:nvPr/>
        </p:nvSpPr>
        <p:spPr>
          <a:xfrm>
            <a:off x="6164428" y="2441448"/>
            <a:ext cx="73152" cy="1143000"/>
          </a:xfrm>
          <a:prstGeom prst="rect">
            <a:avLst/>
          </a:prstGeom>
          <a:solidFill>
            <a:srgbClr val="6A3FA0"/>
          </a:solidFill>
          <a:ln w="12700">
            <a:solidFill>
              <a:srgbClr val="6A3FA0"/>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Sacrificial protection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more reactive metal corrodes instead of iron, e.g. zinc, magnesium.</a:t>
            </a:r>
            <a:endParaRPr lang="en-US" sz="1200" dirty="0"/>
          </a:p>
        </p:txBody>
      </p:sp>
      <p:sp>
        <p:nvSpPr>
          <p:cNvPr id="29" name="Shape 27"/>
          <p:cNvSpPr/>
          <p:nvPr/>
        </p:nvSpPr>
        <p:spPr>
          <a:xfrm>
            <a:off x="9040901" y="2441448"/>
            <a:ext cx="2739314" cy="1143000"/>
          </a:xfrm>
          <a:prstGeom prst="rect">
            <a:avLst/>
          </a:prstGeom>
          <a:solidFill>
            <a:srgbClr val="F8F5FC"/>
          </a:solidFill>
          <a:ln w="9525">
            <a:solidFill>
              <a:srgbClr val="DDD3EC"/>
            </a:solidFill>
            <a:prstDash val="solid"/>
          </a:ln>
        </p:spPr>
      </p:sp>
      <p:sp>
        <p:nvSpPr>
          <p:cNvPr id="30" name="Shape 28"/>
          <p:cNvSpPr/>
          <p:nvPr/>
        </p:nvSpPr>
        <p:spPr>
          <a:xfrm>
            <a:off x="9040901" y="2441448"/>
            <a:ext cx="73152" cy="1143000"/>
          </a:xfrm>
          <a:prstGeom prst="rect">
            <a:avLst/>
          </a:prstGeom>
          <a:solidFill>
            <a:srgbClr val="6A3FA0"/>
          </a:solidFill>
          <a:ln w="12700">
            <a:solidFill>
              <a:srgbClr val="6A3FA0"/>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Galvanising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Coating steel with zinc: barrier + sacrificial protection.</a:t>
            </a:r>
            <a:endParaRPr lang="en-US" sz="1200" dirty="0"/>
          </a:p>
        </p:txBody>
      </p:sp>
      <p:sp>
        <p:nvSpPr>
          <p:cNvPr id="32" name="Shape 30"/>
          <p:cNvSpPr/>
          <p:nvPr/>
        </p:nvSpPr>
        <p:spPr>
          <a:xfrm>
            <a:off x="411480" y="3694176"/>
            <a:ext cx="2739314" cy="1143000"/>
          </a:xfrm>
          <a:prstGeom prst="rect">
            <a:avLst/>
          </a:prstGeom>
          <a:solidFill>
            <a:srgbClr val="F8F5FC"/>
          </a:solidFill>
          <a:ln w="9525">
            <a:solidFill>
              <a:srgbClr val="DDD3EC"/>
            </a:solidFill>
            <a:prstDash val="solid"/>
          </a:ln>
        </p:spPr>
      </p:sp>
      <p:sp>
        <p:nvSpPr>
          <p:cNvPr id="33" name="Shape 31"/>
          <p:cNvSpPr/>
          <p:nvPr/>
        </p:nvSpPr>
        <p:spPr>
          <a:xfrm>
            <a:off x="411480" y="3694176"/>
            <a:ext cx="73152" cy="1143000"/>
          </a:xfrm>
          <a:prstGeom prst="rect">
            <a:avLst/>
          </a:prstGeom>
          <a:solidFill>
            <a:srgbClr val="6A3FA0"/>
          </a:solidFill>
          <a:ln w="12700">
            <a:solidFill>
              <a:srgbClr val="6A3FA0"/>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Electroplating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Coating a metal with a thin layer of another metal, e.g. tin, chromium.</a:t>
            </a:r>
            <a:endParaRPr lang="en-US" sz="1200" dirty="0"/>
          </a:p>
        </p:txBody>
      </p:sp>
      <p:sp>
        <p:nvSpPr>
          <p:cNvPr id="35" name="Shape 33"/>
          <p:cNvSpPr/>
          <p:nvPr/>
        </p:nvSpPr>
        <p:spPr>
          <a:xfrm>
            <a:off x="3287954" y="3694176"/>
            <a:ext cx="2739314" cy="1143000"/>
          </a:xfrm>
          <a:prstGeom prst="rect">
            <a:avLst/>
          </a:prstGeom>
          <a:solidFill>
            <a:srgbClr val="F8F5FC"/>
          </a:solidFill>
          <a:ln w="9525">
            <a:solidFill>
              <a:srgbClr val="DDD3EC"/>
            </a:solidFill>
            <a:prstDash val="solid"/>
          </a:ln>
        </p:spPr>
      </p:sp>
      <p:sp>
        <p:nvSpPr>
          <p:cNvPr id="36" name="Shape 34"/>
          <p:cNvSpPr/>
          <p:nvPr/>
        </p:nvSpPr>
        <p:spPr>
          <a:xfrm>
            <a:off x="3287954" y="3694176"/>
            <a:ext cx="73152" cy="1143000"/>
          </a:xfrm>
          <a:prstGeom prst="rect">
            <a:avLst/>
          </a:prstGeom>
          <a:solidFill>
            <a:srgbClr val="6A3FA0"/>
          </a:solidFill>
          <a:ln w="12700">
            <a:solidFill>
              <a:srgbClr val="6A3FA0"/>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Life-cycle assessment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Assessing the environmental impact of a product at every stage of its life.</a:t>
            </a:r>
            <a:endParaRPr lang="en-US" sz="1200" dirty="0"/>
          </a:p>
        </p:txBody>
      </p:sp>
      <p:sp>
        <p:nvSpPr>
          <p:cNvPr id="38" name="Shape 36"/>
          <p:cNvSpPr/>
          <p:nvPr/>
        </p:nvSpPr>
        <p:spPr>
          <a:xfrm>
            <a:off x="6164428" y="3694176"/>
            <a:ext cx="2739314" cy="1143000"/>
          </a:xfrm>
          <a:prstGeom prst="rect">
            <a:avLst/>
          </a:prstGeom>
          <a:solidFill>
            <a:srgbClr val="F8F5FC"/>
          </a:solidFill>
          <a:ln w="9525">
            <a:solidFill>
              <a:srgbClr val="DDD3EC"/>
            </a:solidFill>
            <a:prstDash val="solid"/>
          </a:ln>
        </p:spPr>
      </p:sp>
      <p:sp>
        <p:nvSpPr>
          <p:cNvPr id="39" name="Shape 37"/>
          <p:cNvSpPr/>
          <p:nvPr/>
        </p:nvSpPr>
        <p:spPr>
          <a:xfrm>
            <a:off x="6164428" y="3694176"/>
            <a:ext cx="73152" cy="1143000"/>
          </a:xfrm>
          <a:prstGeom prst="rect">
            <a:avLst/>
          </a:prstGeom>
          <a:solidFill>
            <a:srgbClr val="6A3FA0"/>
          </a:solidFill>
          <a:ln w="12700">
            <a:solidFill>
              <a:srgbClr val="6A3FA0"/>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Useful life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long a product can do its job before it must be repaired or replaced.</a:t>
            </a:r>
            <a:endParaRPr lang="en-US" sz="1200" dirty="0"/>
          </a:p>
        </p:txBody>
      </p:sp>
      <p:sp>
        <p:nvSpPr>
          <p:cNvPr id="41" name="Shape 39"/>
          <p:cNvSpPr/>
          <p:nvPr/>
        </p:nvSpPr>
        <p:spPr>
          <a:xfrm>
            <a:off x="9040901" y="3694176"/>
            <a:ext cx="2739314" cy="1143000"/>
          </a:xfrm>
          <a:prstGeom prst="rect">
            <a:avLst/>
          </a:prstGeom>
          <a:solidFill>
            <a:srgbClr val="F8F5FC"/>
          </a:solidFill>
          <a:ln w="9525">
            <a:solidFill>
              <a:srgbClr val="DDD3EC"/>
            </a:solidFill>
            <a:prstDash val="solid"/>
          </a:ln>
        </p:spPr>
      </p:sp>
      <p:sp>
        <p:nvSpPr>
          <p:cNvPr id="42" name="Shape 40"/>
          <p:cNvSpPr/>
          <p:nvPr/>
        </p:nvSpPr>
        <p:spPr>
          <a:xfrm>
            <a:off x="9040901" y="3694176"/>
            <a:ext cx="73152" cy="1143000"/>
          </a:xfrm>
          <a:prstGeom prst="rect">
            <a:avLst/>
          </a:prstGeom>
          <a:solidFill>
            <a:srgbClr val="6A3FA0"/>
          </a:solidFill>
          <a:ln w="12700">
            <a:solidFill>
              <a:srgbClr val="6A3FA0"/>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Reuse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Using a product again for the same or another purpose without reprocessing.</a:t>
            </a:r>
            <a:endParaRPr lang="en-US" sz="1200" dirty="0"/>
          </a:p>
        </p:txBody>
      </p:sp>
      <p:sp>
        <p:nvSpPr>
          <p:cNvPr id="44" name="Shape 42"/>
          <p:cNvSpPr/>
          <p:nvPr/>
        </p:nvSpPr>
        <p:spPr>
          <a:xfrm>
            <a:off x="411480" y="4946904"/>
            <a:ext cx="2739314" cy="1143000"/>
          </a:xfrm>
          <a:prstGeom prst="rect">
            <a:avLst/>
          </a:prstGeom>
          <a:solidFill>
            <a:srgbClr val="F8F5FC"/>
          </a:solidFill>
          <a:ln w="9525">
            <a:solidFill>
              <a:srgbClr val="DDD3EC"/>
            </a:solidFill>
            <a:prstDash val="solid"/>
          </a:ln>
        </p:spPr>
      </p:sp>
      <p:sp>
        <p:nvSpPr>
          <p:cNvPr id="45" name="Shape 43"/>
          <p:cNvSpPr/>
          <p:nvPr/>
        </p:nvSpPr>
        <p:spPr>
          <a:xfrm>
            <a:off x="411480" y="4946904"/>
            <a:ext cx="73152" cy="1143000"/>
          </a:xfrm>
          <a:prstGeom prst="rect">
            <a:avLst/>
          </a:prstGeom>
          <a:solidFill>
            <a:srgbClr val="6A3FA0"/>
          </a:solidFill>
          <a:ln w="12700">
            <a:solidFill>
              <a:srgbClr val="6A3FA0"/>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Recycling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Processing used materials so they can be made into new products.</a:t>
            </a:r>
            <a:endParaRPr lang="en-US" sz="1200" dirty="0"/>
          </a:p>
        </p:txBody>
      </p:sp>
      <p:sp>
        <p:nvSpPr>
          <p:cNvPr id="47" name="Shape 45"/>
          <p:cNvSpPr/>
          <p:nvPr/>
        </p:nvSpPr>
        <p:spPr>
          <a:xfrm>
            <a:off x="3287954" y="4946904"/>
            <a:ext cx="2739314" cy="1143000"/>
          </a:xfrm>
          <a:prstGeom prst="rect">
            <a:avLst/>
          </a:prstGeom>
          <a:solidFill>
            <a:srgbClr val="F8F5FC"/>
          </a:solidFill>
          <a:ln w="9525">
            <a:solidFill>
              <a:srgbClr val="DDD3EC"/>
            </a:solidFill>
            <a:prstDash val="solid"/>
          </a:ln>
        </p:spPr>
      </p:sp>
      <p:sp>
        <p:nvSpPr>
          <p:cNvPr id="48" name="Shape 46"/>
          <p:cNvSpPr/>
          <p:nvPr/>
        </p:nvSpPr>
        <p:spPr>
          <a:xfrm>
            <a:off x="3287954" y="4946904"/>
            <a:ext cx="73152" cy="1143000"/>
          </a:xfrm>
          <a:prstGeom prst="rect">
            <a:avLst/>
          </a:prstGeom>
          <a:solidFill>
            <a:srgbClr val="6A3FA0"/>
          </a:solidFill>
          <a:ln w="12700">
            <a:solidFill>
              <a:srgbClr val="6A3FA0"/>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Incineration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Burning waste, often to generate electricity; releases CO₂.</a:t>
            </a:r>
            <a:endParaRPr lang="en-US" sz="1200" dirty="0"/>
          </a:p>
        </p:txBody>
      </p:sp>
      <p:sp>
        <p:nvSpPr>
          <p:cNvPr id="50" name="Shape 48"/>
          <p:cNvSpPr/>
          <p:nvPr/>
        </p:nvSpPr>
        <p:spPr>
          <a:xfrm>
            <a:off x="6164428" y="4946904"/>
            <a:ext cx="2739314" cy="1143000"/>
          </a:xfrm>
          <a:prstGeom prst="rect">
            <a:avLst/>
          </a:prstGeom>
          <a:solidFill>
            <a:srgbClr val="F8F5FC"/>
          </a:solidFill>
          <a:ln w="9525">
            <a:solidFill>
              <a:srgbClr val="DDD3EC"/>
            </a:solidFill>
            <a:prstDash val="solid"/>
          </a:ln>
        </p:spPr>
      </p:sp>
      <p:sp>
        <p:nvSpPr>
          <p:cNvPr id="51" name="Shape 49"/>
          <p:cNvSpPr/>
          <p:nvPr/>
        </p:nvSpPr>
        <p:spPr>
          <a:xfrm>
            <a:off x="6164428" y="4946904"/>
            <a:ext cx="73152" cy="1143000"/>
          </a:xfrm>
          <a:prstGeom prst="rect">
            <a:avLst/>
          </a:prstGeom>
          <a:solidFill>
            <a:srgbClr val="6A3FA0"/>
          </a:solidFill>
          <a:ln w="12700">
            <a:solidFill>
              <a:srgbClr val="6A3FA0"/>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Landfill</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Burying waste in the ground; uses land and may release methane.</a:t>
            </a:r>
            <a:endParaRPr lang="en-US" sz="1200" dirty="0"/>
          </a:p>
        </p:txBody>
      </p:sp>
      <p:sp>
        <p:nvSpPr>
          <p:cNvPr id="53" name="Shape 51"/>
          <p:cNvSpPr/>
          <p:nvPr/>
        </p:nvSpPr>
        <p:spPr>
          <a:xfrm>
            <a:off x="9040901" y="4946904"/>
            <a:ext cx="2739314" cy="1143000"/>
          </a:xfrm>
          <a:prstGeom prst="rect">
            <a:avLst/>
          </a:prstGeom>
          <a:solidFill>
            <a:srgbClr val="F8F5FC"/>
          </a:solidFill>
          <a:ln w="9525">
            <a:solidFill>
              <a:srgbClr val="DDD3EC"/>
            </a:solidFill>
            <a:prstDash val="solid"/>
          </a:ln>
        </p:spPr>
      </p:sp>
      <p:sp>
        <p:nvSpPr>
          <p:cNvPr id="54" name="Shape 52"/>
          <p:cNvSpPr/>
          <p:nvPr/>
        </p:nvSpPr>
        <p:spPr>
          <a:xfrm>
            <a:off x="9040901" y="4946904"/>
            <a:ext cx="73152" cy="1143000"/>
          </a:xfrm>
          <a:prstGeom prst="rect">
            <a:avLst/>
          </a:prstGeom>
          <a:solidFill>
            <a:srgbClr val="6A3FA0"/>
          </a:solidFill>
          <a:ln w="12700">
            <a:solidFill>
              <a:srgbClr val="6A3FA0"/>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Sustainable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Meeting needs today without harming the ability to meet future needs.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C4.4.1–C4.4.7 • answer every part • 13 marks • (e) is HT</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22</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steel footbridge must last </a:t>
            </a:r>
            <a:r>
              <a:rPr lang="en-US" sz="1200" b="1" i="1" dirty="0">
                <a:solidFill>
                  <a:srgbClr val="262B3A"/>
                </a:solidFill>
                <a:latin typeface="Calibri" pitchFamily="34" charset="0"/>
                <a:ea typeface="Calibri" pitchFamily="34" charset="-122"/>
                <a:cs typeface="Calibri" pitchFamily="34" charset="-120"/>
              </a:rPr>
              <a:t>60 years</a:t>
            </a:r>
            <a:r>
              <a:rPr lang="en-US" sz="1200" i="1" dirty="0">
                <a:solidFill>
                  <a:srgbClr val="262B3A"/>
                </a:solidFill>
                <a:latin typeface="Calibri" pitchFamily="34" charset="0"/>
                <a:ea typeface="Calibri" pitchFamily="34" charset="-122"/>
                <a:cs typeface="Calibri" pitchFamily="34" charset="-120"/>
              </a:rPr>
              <a:t>. Engineers compare </a:t>
            </a:r>
            <a:r>
              <a:rPr lang="en-US" sz="1200" b="1" i="1" dirty="0">
                <a:solidFill>
                  <a:srgbClr val="262B3A"/>
                </a:solidFill>
                <a:latin typeface="Calibri" pitchFamily="34" charset="0"/>
                <a:ea typeface="Calibri" pitchFamily="34" charset="-122"/>
                <a:cs typeface="Calibri" pitchFamily="34" charset="-120"/>
              </a:rPr>
              <a:t>painting</a:t>
            </a:r>
            <a:r>
              <a:rPr lang="en-US" sz="1200" i="1" dirty="0">
                <a:solidFill>
                  <a:srgbClr val="262B3A"/>
                </a:solidFill>
                <a:latin typeface="Calibri" pitchFamily="34" charset="0"/>
                <a:ea typeface="Calibri" pitchFamily="34" charset="-122"/>
                <a:cs typeface="Calibri" pitchFamily="34" charset="-120"/>
              </a:rPr>
              <a:t> it (paint renewed every 10 years) with </a:t>
            </a:r>
            <a:r>
              <a:rPr lang="en-US" sz="1200" b="1" i="1" dirty="0">
                <a:solidFill>
                  <a:srgbClr val="262B3A"/>
                </a:solidFill>
                <a:latin typeface="Calibri" pitchFamily="34" charset="0"/>
                <a:ea typeface="Calibri" pitchFamily="34" charset="-122"/>
                <a:cs typeface="Calibri" pitchFamily="34" charset="-120"/>
              </a:rPr>
              <a:t>galvanising</a:t>
            </a:r>
            <a:r>
              <a:rPr lang="en-US" sz="1200" i="1" dirty="0">
                <a:solidFill>
                  <a:srgbClr val="262B3A"/>
                </a:solidFill>
                <a:latin typeface="Calibri" pitchFamily="34" charset="0"/>
                <a:ea typeface="Calibri" pitchFamily="34" charset="-122"/>
                <a:cs typeface="Calibri" pitchFamily="34" charset="-120"/>
              </a:rPr>
              <a:t> it. Energy for making the steel: </a:t>
            </a:r>
            <a:r>
              <a:rPr lang="en-US" sz="1200" b="1" i="1" dirty="0">
                <a:solidFill>
                  <a:srgbClr val="262B3A"/>
                </a:solidFill>
                <a:latin typeface="Calibri" pitchFamily="34" charset="0"/>
                <a:ea typeface="Calibri" pitchFamily="34" charset="-122"/>
                <a:cs typeface="Calibri" pitchFamily="34" charset="-120"/>
              </a:rPr>
              <a:t>900 GJ</a:t>
            </a:r>
            <a:r>
              <a:rPr lang="en-US" sz="1200" i="1" dirty="0">
                <a:solidFill>
                  <a:srgbClr val="262B3A"/>
                </a:solidFill>
                <a:latin typeface="Calibri" pitchFamily="34" charset="0"/>
                <a:ea typeface="Calibri" pitchFamily="34" charset="-122"/>
                <a:cs typeface="Calibri" pitchFamily="34" charset="-120"/>
              </a:rPr>
              <a:t>. Each coat of paint: </a:t>
            </a:r>
            <a:r>
              <a:rPr lang="en-US" sz="1200" b="1" i="1" dirty="0">
                <a:solidFill>
                  <a:srgbClr val="262B3A"/>
                </a:solidFill>
                <a:latin typeface="Calibri" pitchFamily="34" charset="0"/>
                <a:ea typeface="Calibri" pitchFamily="34" charset="-122"/>
                <a:cs typeface="Calibri" pitchFamily="34" charset="-120"/>
              </a:rPr>
              <a:t>40 GJ</a:t>
            </a:r>
            <a:r>
              <a:rPr lang="en-US" sz="1200" i="1" dirty="0">
                <a:solidFill>
                  <a:srgbClr val="262B3A"/>
                </a:solidFill>
                <a:latin typeface="Calibri" pitchFamily="34" charset="0"/>
                <a:ea typeface="Calibri" pitchFamily="34" charset="-122"/>
                <a:cs typeface="Calibri" pitchFamily="34" charset="-120"/>
              </a:rPr>
              <a:t> (6 coats in total). Galvanising once: </a:t>
            </a:r>
            <a:r>
              <a:rPr lang="en-US" sz="1200" b="1" i="1" dirty="0">
                <a:solidFill>
                  <a:srgbClr val="262B3A"/>
                </a:solidFill>
                <a:latin typeface="Calibri" pitchFamily="34" charset="0"/>
                <a:ea typeface="Calibri" pitchFamily="34" charset="-122"/>
                <a:cs typeface="Calibri" pitchFamily="34" charset="-120"/>
              </a:rPr>
              <a:t>150 GJ</a:t>
            </a:r>
            <a:r>
              <a:rPr lang="en-US" sz="1200" i="1" dirty="0">
                <a:solidFill>
                  <a:srgbClr val="262B3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411480" y="1719072"/>
            <a:ext cx="5570068" cy="1395197"/>
          </a:xfrm>
          <a:prstGeom prst="roundRect">
            <a:avLst>
              <a:gd name="adj" fmla="val 3277"/>
            </a:avLst>
          </a:prstGeom>
          <a:solidFill>
            <a:srgbClr val="F8F5FC"/>
          </a:solidFill>
          <a:ln w="9525">
            <a:solidFill>
              <a:srgbClr val="DDD3EC"/>
            </a:solidFill>
            <a:prstDash val="solid"/>
          </a:ln>
        </p:spPr>
      </p:sp>
      <p:sp>
        <p:nvSpPr>
          <p:cNvPr id="10" name="Text 8"/>
          <p:cNvSpPr/>
          <p:nvPr/>
        </p:nvSpPr>
        <p:spPr>
          <a:xfrm>
            <a:off x="548640" y="1792224"/>
            <a:ext cx="5295748" cy="102943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the </a:t>
            </a:r>
            <a:r>
              <a:rPr lang="en-US" sz="1200" b="1" dirty="0">
                <a:solidFill>
                  <a:srgbClr val="262B3A"/>
                </a:solidFill>
                <a:latin typeface="Calibri" pitchFamily="34" charset="0"/>
                <a:ea typeface="Calibri" pitchFamily="34" charset="-122"/>
                <a:cs typeface="Calibri" pitchFamily="34" charset="-120"/>
              </a:rPr>
              <a:t>two</a:t>
            </a:r>
            <a:r>
              <a:rPr lang="en-US" sz="1200" dirty="0">
                <a:solidFill>
                  <a:srgbClr val="262B3A"/>
                </a:solidFill>
                <a:latin typeface="Calibri" pitchFamily="34" charset="0"/>
                <a:ea typeface="Calibri" pitchFamily="34" charset="-122"/>
                <a:cs typeface="Calibri" pitchFamily="34" charset="-120"/>
              </a:rPr>
              <a:t> substances in the air that cause the steel to rust.</a:t>
            </a:r>
            <a:endParaRPr lang="en-US" sz="1200" dirty="0"/>
          </a:p>
        </p:txBody>
      </p:sp>
      <p:sp>
        <p:nvSpPr>
          <p:cNvPr id="11" name="Text 9"/>
          <p:cNvSpPr/>
          <p:nvPr/>
        </p:nvSpPr>
        <p:spPr>
          <a:xfrm>
            <a:off x="4518508" y="280337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223997"/>
            <a:ext cx="5570068" cy="1395197"/>
          </a:xfrm>
          <a:prstGeom prst="roundRect">
            <a:avLst>
              <a:gd name="adj" fmla="val 3277"/>
            </a:avLst>
          </a:prstGeom>
          <a:solidFill>
            <a:srgbClr val="FFFFFF"/>
          </a:solidFill>
          <a:ln w="9525">
            <a:solidFill>
              <a:srgbClr val="DDD3EC"/>
            </a:solidFill>
            <a:prstDash val="solid"/>
          </a:ln>
        </p:spPr>
      </p:sp>
      <p:sp>
        <p:nvSpPr>
          <p:cNvPr id="13" name="Text 11"/>
          <p:cNvSpPr/>
          <p:nvPr/>
        </p:nvSpPr>
        <p:spPr>
          <a:xfrm>
            <a:off x="548640" y="3297149"/>
            <a:ext cx="5295748" cy="102943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Write the </a:t>
            </a:r>
            <a:r>
              <a:rPr lang="en-US" sz="1200" b="1" dirty="0">
                <a:solidFill>
                  <a:srgbClr val="262B3A"/>
                </a:solidFill>
                <a:latin typeface="Calibri" pitchFamily="34" charset="0"/>
                <a:ea typeface="Calibri" pitchFamily="34" charset="-122"/>
                <a:cs typeface="Calibri" pitchFamily="34" charset="-120"/>
              </a:rPr>
              <a:t>word equation</a:t>
            </a:r>
            <a:r>
              <a:rPr lang="en-US" sz="1200" dirty="0">
                <a:solidFill>
                  <a:srgbClr val="262B3A"/>
                </a:solidFill>
                <a:latin typeface="Calibri" pitchFamily="34" charset="0"/>
                <a:ea typeface="Calibri" pitchFamily="34" charset="-122"/>
                <a:cs typeface="Calibri" pitchFamily="34" charset="-120"/>
              </a:rPr>
              <a:t> for the rusting of iron.</a:t>
            </a:r>
            <a:endParaRPr lang="en-US" sz="1200" dirty="0"/>
          </a:p>
        </p:txBody>
      </p:sp>
      <p:sp>
        <p:nvSpPr>
          <p:cNvPr id="14" name="Text 12"/>
          <p:cNvSpPr/>
          <p:nvPr/>
        </p:nvSpPr>
        <p:spPr>
          <a:xfrm>
            <a:off x="4518508" y="430829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5" name="Shape 13"/>
          <p:cNvSpPr/>
          <p:nvPr/>
        </p:nvSpPr>
        <p:spPr>
          <a:xfrm>
            <a:off x="411480" y="4728923"/>
            <a:ext cx="5570068" cy="1534717"/>
          </a:xfrm>
          <a:prstGeom prst="roundRect">
            <a:avLst>
              <a:gd name="adj" fmla="val 2979"/>
            </a:avLst>
          </a:prstGeom>
          <a:solidFill>
            <a:srgbClr val="F8F5FC"/>
          </a:solidFill>
          <a:ln w="9525">
            <a:solidFill>
              <a:srgbClr val="DDD3EC"/>
            </a:solidFill>
            <a:prstDash val="solid"/>
          </a:ln>
        </p:spPr>
      </p:sp>
      <p:sp>
        <p:nvSpPr>
          <p:cNvPr id="16" name="Text 14"/>
          <p:cNvSpPr/>
          <p:nvPr/>
        </p:nvSpPr>
        <p:spPr>
          <a:xfrm>
            <a:off x="548640" y="4802075"/>
            <a:ext cx="5295748" cy="116895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Explain how paint prevents rusting, and why the bridge rusts if the paint is </a:t>
            </a:r>
            <a:r>
              <a:rPr lang="en-US" sz="1200" b="1" dirty="0">
                <a:solidFill>
                  <a:srgbClr val="262B3A"/>
                </a:solidFill>
                <a:latin typeface="Calibri" pitchFamily="34" charset="0"/>
                <a:ea typeface="Calibri" pitchFamily="34" charset="-122"/>
                <a:cs typeface="Calibri" pitchFamily="34" charset="-120"/>
              </a:rPr>
              <a:t>chipped</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285844"/>
          </a:xfrm>
          <a:prstGeom prst="roundRect">
            <a:avLst>
              <a:gd name="adj" fmla="val 3556"/>
            </a:avLst>
          </a:prstGeom>
          <a:solidFill>
            <a:srgbClr val="F8F5FC"/>
          </a:solidFill>
          <a:ln w="9525">
            <a:solidFill>
              <a:srgbClr val="DDD3EC"/>
            </a:solidFill>
            <a:prstDash val="solid"/>
          </a:ln>
        </p:spPr>
      </p:sp>
      <p:sp>
        <p:nvSpPr>
          <p:cNvPr id="19" name="Text 17"/>
          <p:cNvSpPr/>
          <p:nvPr/>
        </p:nvSpPr>
        <p:spPr>
          <a:xfrm>
            <a:off x="6347308" y="1792224"/>
            <a:ext cx="5295748" cy="92008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Explain why galvanised steel does </a:t>
            </a:r>
            <a:r>
              <a:rPr lang="en-US" sz="1200" b="1" dirty="0">
                <a:solidFill>
                  <a:srgbClr val="262B3A"/>
                </a:solidFill>
                <a:latin typeface="Calibri" pitchFamily="34" charset="0"/>
                <a:ea typeface="Calibri" pitchFamily="34" charset="-122"/>
                <a:cs typeface="Calibri" pitchFamily="34" charset="-120"/>
              </a:rPr>
              <a:t>not</a:t>
            </a:r>
            <a:r>
              <a:rPr lang="en-US" sz="1200" dirty="0">
                <a:solidFill>
                  <a:srgbClr val="262B3A"/>
                </a:solidFill>
                <a:latin typeface="Calibri" pitchFamily="34" charset="0"/>
                <a:ea typeface="Calibri" pitchFamily="34" charset="-122"/>
                <a:cs typeface="Calibri" pitchFamily="34" charset="-120"/>
              </a:rPr>
              <a:t> rust even when the zinc is scratched.</a:t>
            </a:r>
            <a:endParaRPr lang="en-US" sz="1200" dirty="0"/>
          </a:p>
        </p:txBody>
      </p:sp>
      <p:sp>
        <p:nvSpPr>
          <p:cNvPr id="20" name="Text 18"/>
          <p:cNvSpPr/>
          <p:nvPr/>
        </p:nvSpPr>
        <p:spPr>
          <a:xfrm>
            <a:off x="10317175" y="269402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114644"/>
            <a:ext cx="5570068" cy="1285844"/>
          </a:xfrm>
          <a:prstGeom prst="roundRect">
            <a:avLst>
              <a:gd name="adj" fmla="val 3556"/>
            </a:avLst>
          </a:prstGeom>
          <a:solidFill>
            <a:srgbClr val="FFFFFF"/>
          </a:solidFill>
          <a:ln w="9525">
            <a:solidFill>
              <a:srgbClr val="DDD3EC"/>
            </a:solidFill>
            <a:prstDash val="solid"/>
          </a:ln>
        </p:spPr>
      </p:sp>
      <p:sp>
        <p:nvSpPr>
          <p:cNvPr id="22" name="Text 20"/>
          <p:cNvSpPr/>
          <p:nvPr/>
        </p:nvSpPr>
        <p:spPr>
          <a:xfrm>
            <a:off x="6347308" y="3187796"/>
            <a:ext cx="4792828" cy="92008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Write a </a:t>
            </a:r>
            <a:r>
              <a:rPr lang="en-US" sz="1200" b="1" dirty="0">
                <a:solidFill>
                  <a:srgbClr val="262B3A"/>
                </a:solidFill>
                <a:latin typeface="Calibri" pitchFamily="34" charset="0"/>
                <a:ea typeface="Calibri" pitchFamily="34" charset="-122"/>
                <a:cs typeface="Calibri" pitchFamily="34" charset="-120"/>
              </a:rPr>
              <a:t>half equation</a:t>
            </a:r>
            <a:r>
              <a:rPr lang="en-US" sz="1200" dirty="0">
                <a:solidFill>
                  <a:srgbClr val="262B3A"/>
                </a:solidFill>
                <a:latin typeface="Calibri" pitchFamily="34" charset="0"/>
                <a:ea typeface="Calibri" pitchFamily="34" charset="-122"/>
                <a:cs typeface="Calibri" pitchFamily="34" charset="-120"/>
              </a:rPr>
              <a:t> for zinc corroding and explain why zinc is </a:t>
            </a:r>
            <a:r>
              <a:rPr lang="en-US" sz="1200" b="1" dirty="0">
                <a:solidFill>
                  <a:srgbClr val="262B3A"/>
                </a:solidFill>
                <a:latin typeface="Calibri" pitchFamily="34" charset="0"/>
                <a:ea typeface="Calibri" pitchFamily="34" charset="-122"/>
                <a:cs typeface="Calibri" pitchFamily="34" charset="-120"/>
              </a:rPr>
              <a:t>oxidised</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11231575" y="318779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318779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408959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4510216"/>
            <a:ext cx="5570068" cy="1753424"/>
          </a:xfrm>
          <a:prstGeom prst="roundRect">
            <a:avLst>
              <a:gd name="adj" fmla="val 2607"/>
            </a:avLst>
          </a:prstGeom>
          <a:solidFill>
            <a:srgbClr val="F8F5FC"/>
          </a:solidFill>
          <a:ln w="9525">
            <a:solidFill>
              <a:srgbClr val="DDD3EC"/>
            </a:solidFill>
            <a:prstDash val="solid"/>
          </a:ln>
        </p:spPr>
      </p:sp>
      <p:sp>
        <p:nvSpPr>
          <p:cNvPr id="27" name="Text 25"/>
          <p:cNvSpPr/>
          <p:nvPr/>
        </p:nvSpPr>
        <p:spPr>
          <a:xfrm>
            <a:off x="6347308" y="4583368"/>
            <a:ext cx="5295748" cy="1387664"/>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Use the data to compare the </a:t>
            </a:r>
            <a:r>
              <a:rPr lang="en-US" sz="1200" b="1" dirty="0">
                <a:solidFill>
                  <a:srgbClr val="262B3A"/>
                </a:solidFill>
                <a:latin typeface="Calibri" pitchFamily="34" charset="0"/>
                <a:ea typeface="Calibri" pitchFamily="34" charset="-122"/>
                <a:cs typeface="Calibri" pitchFamily="34" charset="-120"/>
              </a:rPr>
              <a:t>total energy</a:t>
            </a:r>
            <a:r>
              <a:rPr lang="en-US" sz="1200" dirty="0">
                <a:solidFill>
                  <a:srgbClr val="262B3A"/>
                </a:solidFill>
                <a:latin typeface="Calibri" pitchFamily="34" charset="0"/>
                <a:ea typeface="Calibri" pitchFamily="34" charset="-122"/>
                <a:cs typeface="Calibri" pitchFamily="34" charset="-120"/>
              </a:rPr>
              <a:t> over 60 years for each method. Which is better, and give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other factor to consider.</a:t>
            </a:r>
            <a:endParaRPr lang="en-US" sz="1200" dirty="0"/>
          </a:p>
        </p:txBody>
      </p:sp>
      <p:sp>
        <p:nvSpPr>
          <p:cNvPr id="28" name="Text 26"/>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[4 marks]</a:t>
            </a:r>
            <a:endParaRPr lang="en-US" sz="1200" dirty="0"/>
          </a:p>
        </p:txBody>
      </p:sp>
      <p:sp>
        <p:nvSpPr>
          <p:cNvPr id="29" name="Text 27"/>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A3590"/>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5B3A8C"/>
          </a:solidFill>
          <a:ln w="12700">
            <a:solidFill>
              <a:srgbClr val="5B3A8C"/>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5A3590"/>
          </a:solidFill>
          <a:ln w="12700">
            <a:solidFill>
              <a:srgbClr val="5A3590"/>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DE6F8"/>
                </a:solidFill>
                <a:latin typeface="Calibri" pitchFamily="34" charset="0"/>
                <a:ea typeface="Calibri" pitchFamily="34" charset="-122"/>
                <a:cs typeface="Calibri" pitchFamily="34" charset="-120"/>
              </a:rPr>
              <a:t>C4.4 End of useful life • 17 marks • about 30 minutes</a:t>
            </a:r>
            <a:endParaRPr lang="en-US" sz="1800" dirty="0"/>
          </a:p>
        </p:txBody>
      </p:sp>
      <p:sp>
        <p:nvSpPr>
          <p:cNvPr id="9" name="Text 7"/>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DDD0F2"/>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DDD0F2"/>
                </a:solidFill>
                <a:latin typeface="Calibri" pitchFamily="34" charset="0"/>
                <a:ea typeface="Calibri" pitchFamily="34" charset="-122"/>
                <a:cs typeface="Calibri" pitchFamily="34" charset="-120"/>
              </a:rPr>
              <a:t>Homework  |  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C4.4 What happens to products at the end of their useful life?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24</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Q5 is Higher tier.</a:t>
            </a:r>
            <a:endParaRPr lang="en-US" sz="1150" dirty="0"/>
          </a:p>
        </p:txBody>
      </p:sp>
      <p:sp>
        <p:nvSpPr>
          <p:cNvPr id="9" name="Shape 7"/>
          <p:cNvSpPr/>
          <p:nvPr/>
        </p:nvSpPr>
        <p:spPr>
          <a:xfrm>
            <a:off x="411480" y="1517904"/>
            <a:ext cx="5570068" cy="1120140"/>
          </a:xfrm>
          <a:prstGeom prst="roundRect">
            <a:avLst>
              <a:gd name="adj" fmla="val 4082"/>
            </a:avLst>
          </a:prstGeom>
          <a:solidFill>
            <a:srgbClr val="F8F5FC"/>
          </a:solidFill>
          <a:ln w="9525">
            <a:solidFill>
              <a:srgbClr val="DDD3EC"/>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process in which a metal slowly reacts with oxygen and water in the air.</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8F5FC"/>
          </a:solidFill>
          <a:ln w="9525">
            <a:solidFill>
              <a:srgbClr val="DDD3EC"/>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A food can is </a:t>
            </a:r>
            <a:r>
              <a:rPr lang="en-US" sz="1150" b="1" dirty="0">
                <a:solidFill>
                  <a:srgbClr val="262B3A"/>
                </a:solidFill>
                <a:latin typeface="Calibri" pitchFamily="34" charset="0"/>
                <a:ea typeface="Calibri" pitchFamily="34" charset="-122"/>
                <a:cs typeface="Calibri" pitchFamily="34" charset="-120"/>
              </a:rPr>
              <a:t>tin-plated</a:t>
            </a:r>
            <a:r>
              <a:rPr lang="en-US" sz="1150" dirty="0">
                <a:solidFill>
                  <a:srgbClr val="262B3A"/>
                </a:solidFill>
                <a:latin typeface="Calibri" pitchFamily="34" charset="0"/>
                <a:ea typeface="Calibri" pitchFamily="34" charset="-122"/>
                <a:cs typeface="Calibri" pitchFamily="34" charset="-120"/>
              </a:rPr>
              <a:t> steel. Explain why the can rusts </a:t>
            </a:r>
            <a:r>
              <a:rPr lang="en-US" sz="1150" b="1" dirty="0">
                <a:solidFill>
                  <a:srgbClr val="262B3A"/>
                </a:solidFill>
                <a:latin typeface="Calibri" pitchFamily="34" charset="0"/>
                <a:ea typeface="Calibri" pitchFamily="34" charset="-122"/>
                <a:cs typeface="Calibri" pitchFamily="34" charset="-120"/>
              </a:rPr>
              <a:t>quickly</a:t>
            </a:r>
            <a:r>
              <a:rPr lang="en-US" sz="1150" dirty="0">
                <a:solidFill>
                  <a:srgbClr val="262B3A"/>
                </a:solidFill>
                <a:latin typeface="Calibri" pitchFamily="34" charset="0"/>
                <a:ea typeface="Calibri" pitchFamily="34" charset="-122"/>
                <a:cs typeface="Calibri" pitchFamily="34" charset="-120"/>
              </a:rPr>
              <a:t> once the tin is scratched.</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8F5FC"/>
          </a:solidFill>
          <a:ln w="9525">
            <a:solidFill>
              <a:srgbClr val="DDD3EC"/>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Making steel from ore uses </a:t>
            </a:r>
            <a:r>
              <a:rPr lang="en-US" sz="1150" b="1" dirty="0">
                <a:solidFill>
                  <a:srgbClr val="262B3A"/>
                </a:solidFill>
                <a:latin typeface="Calibri" pitchFamily="34" charset="0"/>
                <a:ea typeface="Calibri" pitchFamily="34" charset="-122"/>
                <a:cs typeface="Calibri" pitchFamily="34" charset="-120"/>
              </a:rPr>
              <a:t>20 MJ/kg</a:t>
            </a:r>
            <a:r>
              <a:rPr lang="en-US" sz="1150" dirty="0">
                <a:solidFill>
                  <a:srgbClr val="262B3A"/>
                </a:solidFill>
                <a:latin typeface="Calibri" pitchFamily="34" charset="0"/>
                <a:ea typeface="Calibri" pitchFamily="34" charset="-122"/>
                <a:cs typeface="Calibri" pitchFamily="34" charset="-120"/>
              </a:rPr>
              <a:t>; from scrap </a:t>
            </a:r>
            <a:r>
              <a:rPr lang="en-US" sz="1150" b="1" dirty="0">
                <a:solidFill>
                  <a:srgbClr val="262B3A"/>
                </a:solidFill>
                <a:latin typeface="Calibri" pitchFamily="34" charset="0"/>
                <a:ea typeface="Calibri" pitchFamily="34" charset="-122"/>
                <a:cs typeface="Calibri" pitchFamily="34" charset="-120"/>
              </a:rPr>
              <a:t>8 MJ/kg</a:t>
            </a:r>
            <a:r>
              <a:rPr lang="en-US" sz="1150" dirty="0">
                <a:solidFill>
                  <a:srgbClr val="262B3A"/>
                </a:solidFill>
                <a:latin typeface="Calibri" pitchFamily="34" charset="0"/>
                <a:ea typeface="Calibri" pitchFamily="34" charset="-122"/>
                <a:cs typeface="Calibri" pitchFamily="34" charset="-120"/>
              </a:rPr>
              <a:t>. Calculate the percentage energy saving.</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8F5FC"/>
          </a:solidFill>
          <a:ln w="9525">
            <a:solidFill>
              <a:srgbClr val="DDD3EC"/>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Describe what is measured at </a:t>
            </a:r>
            <a:r>
              <a:rPr lang="en-US" sz="1150" b="1" dirty="0">
                <a:solidFill>
                  <a:srgbClr val="262B3A"/>
                </a:solidFill>
                <a:latin typeface="Calibri" pitchFamily="34" charset="0"/>
                <a:ea typeface="Calibri" pitchFamily="34" charset="-122"/>
                <a:cs typeface="Calibri" pitchFamily="34" charset="-120"/>
              </a:rPr>
              <a:t>each stage</a:t>
            </a:r>
            <a:r>
              <a:rPr lang="en-US" sz="1150" dirty="0">
                <a:solidFill>
                  <a:srgbClr val="262B3A"/>
                </a:solidFill>
                <a:latin typeface="Calibri" pitchFamily="34" charset="0"/>
                <a:ea typeface="Calibri" pitchFamily="34" charset="-122"/>
                <a:cs typeface="Calibri" pitchFamily="34" charset="-120"/>
              </a:rPr>
              <a:t> of a life-cycle assessment.</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1051941"/>
          </a:xfrm>
          <a:prstGeom prst="roundRect">
            <a:avLst>
              <a:gd name="adj" fmla="val 4346"/>
            </a:avLst>
          </a:prstGeom>
          <a:solidFill>
            <a:srgbClr val="F8F5FC"/>
          </a:solidFill>
          <a:ln w="9525">
            <a:solidFill>
              <a:srgbClr val="DDD3EC"/>
            </a:solidFill>
            <a:prstDash val="solid"/>
          </a:ln>
        </p:spPr>
      </p:sp>
      <p:sp>
        <p:nvSpPr>
          <p:cNvPr id="22" name="Text 20"/>
          <p:cNvSpPr/>
          <p:nvPr/>
        </p:nvSpPr>
        <p:spPr>
          <a:xfrm>
            <a:off x="6347308" y="1591056"/>
            <a:ext cx="4792828" cy="704469"/>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in terms of </a:t>
            </a:r>
            <a:r>
              <a:rPr lang="en-US" sz="1150" b="1" dirty="0">
                <a:solidFill>
                  <a:srgbClr val="262B3A"/>
                </a:solidFill>
                <a:latin typeface="Calibri" pitchFamily="34" charset="0"/>
                <a:ea typeface="Calibri" pitchFamily="34" charset="-122"/>
                <a:cs typeface="Calibri" pitchFamily="34" charset="-120"/>
              </a:rPr>
              <a:t>electrons</a:t>
            </a:r>
            <a:r>
              <a:rPr lang="en-US" sz="1150" dirty="0">
                <a:solidFill>
                  <a:srgbClr val="262B3A"/>
                </a:solidFill>
                <a:latin typeface="Calibri" pitchFamily="34" charset="0"/>
                <a:ea typeface="Calibri" pitchFamily="34" charset="-122"/>
                <a:cs typeface="Calibri" pitchFamily="34" charset="-120"/>
              </a:rPr>
              <a:t>, how magnesium blocks protect a steel ship hull.</a:t>
            </a:r>
            <a:endParaRPr lang="en-US" sz="1150" dirty="0"/>
          </a:p>
        </p:txBody>
      </p:sp>
      <p:sp>
        <p:nvSpPr>
          <p:cNvPr id="23" name="Shape 21"/>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2277237"/>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2679573"/>
            <a:ext cx="5570068" cy="1051941"/>
          </a:xfrm>
          <a:prstGeom prst="roundRect">
            <a:avLst>
              <a:gd name="adj" fmla="val 4346"/>
            </a:avLst>
          </a:prstGeom>
          <a:solidFill>
            <a:srgbClr val="F8F5FC"/>
          </a:solidFill>
          <a:ln w="9525">
            <a:solidFill>
              <a:srgbClr val="DDD3EC"/>
            </a:solidFill>
            <a:prstDash val="solid"/>
          </a:ln>
        </p:spPr>
      </p:sp>
      <p:sp>
        <p:nvSpPr>
          <p:cNvPr id="27" name="Text 25"/>
          <p:cNvSpPr/>
          <p:nvPr/>
        </p:nvSpPr>
        <p:spPr>
          <a:xfrm>
            <a:off x="6347308" y="2752725"/>
            <a:ext cx="5295748" cy="704469"/>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PET bottles are recycled into fleece fibres. Explain why this process is </a:t>
            </a:r>
            <a:r>
              <a:rPr lang="en-US" sz="1150" b="1" dirty="0">
                <a:solidFill>
                  <a:srgbClr val="262B3A"/>
                </a:solidFill>
                <a:latin typeface="Calibri" pitchFamily="34" charset="0"/>
                <a:ea typeface="Calibri" pitchFamily="34" charset="-122"/>
                <a:cs typeface="Calibri" pitchFamily="34" charset="-120"/>
              </a:rPr>
              <a:t>viable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8" name="Text 26"/>
          <p:cNvSpPr/>
          <p:nvPr/>
        </p:nvSpPr>
        <p:spPr>
          <a:xfrm>
            <a:off x="10317175" y="343890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9" name="Shape 27"/>
          <p:cNvSpPr/>
          <p:nvPr/>
        </p:nvSpPr>
        <p:spPr>
          <a:xfrm>
            <a:off x="6210148" y="3841242"/>
            <a:ext cx="5570068" cy="2486406"/>
          </a:xfrm>
          <a:prstGeom prst="roundRect">
            <a:avLst>
              <a:gd name="adj" fmla="val 1839"/>
            </a:avLst>
          </a:prstGeom>
          <a:solidFill>
            <a:srgbClr val="FFF4E0"/>
          </a:solidFill>
          <a:ln w="9525">
            <a:solidFill>
              <a:srgbClr val="F1D9A8"/>
            </a:solidFill>
            <a:prstDash val="solid"/>
          </a:ln>
        </p:spPr>
      </p:sp>
      <p:sp>
        <p:nvSpPr>
          <p:cNvPr id="30" name="Text 28"/>
          <p:cNvSpPr/>
          <p:nvPr/>
        </p:nvSpPr>
        <p:spPr>
          <a:xfrm>
            <a:off x="6347308" y="3914394"/>
            <a:ext cx="5295748" cy="2138934"/>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A council is deciding whether to collect </a:t>
            </a:r>
            <a:r>
              <a:rPr lang="en-US" sz="1150" b="1" dirty="0">
                <a:solidFill>
                  <a:srgbClr val="262B3A"/>
                </a:solidFill>
                <a:latin typeface="Calibri" pitchFamily="34" charset="0"/>
                <a:ea typeface="Calibri" pitchFamily="34" charset="-122"/>
                <a:cs typeface="Calibri" pitchFamily="34" charset="-120"/>
              </a:rPr>
              <a:t>aluminium cans</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plastic bottles</a:t>
            </a:r>
            <a:r>
              <a:rPr lang="en-US" sz="1150" dirty="0">
                <a:solidFill>
                  <a:srgbClr val="262B3A"/>
                </a:solidFill>
                <a:latin typeface="Calibri" pitchFamily="34" charset="0"/>
                <a:ea typeface="Calibri" pitchFamily="34" charset="-122"/>
                <a:cs typeface="Calibri" pitchFamily="34" charset="-120"/>
              </a:rPr>
              <a:t> for recycling. </a:t>
            </a:r>
            <a:r>
              <a:rPr lang="en-US" sz="1150" b="1" dirty="0">
                <a:solidFill>
                  <a:srgbClr val="262B3A"/>
                </a:solidFill>
                <a:latin typeface="Calibri" pitchFamily="34" charset="0"/>
                <a:ea typeface="Calibri" pitchFamily="34" charset="-122"/>
                <a:cs typeface="Calibri" pitchFamily="34" charset="-120"/>
              </a:rPr>
              <a:t>Evaluate</a:t>
            </a:r>
            <a:r>
              <a:rPr lang="en-US" sz="1150" dirty="0">
                <a:solidFill>
                  <a:srgbClr val="262B3A"/>
                </a:solidFill>
                <a:latin typeface="Calibri" pitchFamily="34" charset="0"/>
                <a:ea typeface="Calibri" pitchFamily="34" charset="-122"/>
                <a:cs typeface="Calibri" pitchFamily="34" charset="-120"/>
              </a:rPr>
              <a:t> the factors it should consider.</a:t>
            </a:r>
            <a:endParaRPr lang="en-US" sz="1150" dirty="0"/>
          </a:p>
        </p:txBody>
      </p:sp>
      <p:sp>
        <p:nvSpPr>
          <p:cNvPr id="31" name="Text 29"/>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C4.4 What happens to products at the end of their useful life?</dc:title>
  <dc:subject>PptxGenJS Presentation</dc:subject>
  <dc:creator>GCSE Chemistry</dc:creator>
  <cp:lastModifiedBy>GCSE Chemistry</cp:lastModifiedBy>
  <cp:revision>1</cp:revision>
  <dcterms:created xsi:type="dcterms:W3CDTF">2026-10-31T15:35:08Z</dcterms:created>
  <dcterms:modified xsi:type="dcterms:W3CDTF">2026-10-31T15:35:08Z</dcterms:modified>
</cp:coreProperties>
</file>