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C5.1 How are chemicals separated and tested for purity? is Part 1 of 3 in J260 Chapter C5 Chemical analysis (C5.1 separation and purity; C5.2 How are the amounts of substances in reactions calculated?; C5.3 How are the amounts of chemicals in solution measured?).
Numbering: J258 (Chemistry B, separate science) has an extra C5.2 "How do chemists find the composition of unknown samples?" which is separate science only, so the later J260 sub-topics are one lower. C5.1 has the same code in both. See SPEC_C5_1.md for sources and confidence.
Statement wording is taken from J258 C5.1 search extracts (C5.1.1–C5.1.8). No HT (bold) statement was found for C5.1, so no slide carries the HT pill.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Statements (J258 C5.1 wording from search extracts; J260 C5.1 has the same code; see SPEC_C5_1.md):
C5.1.1 useful materials are formulations of mixtures (wording medium)
C5.1.2 the scientific versus everyday meaning of "pure" (wording medium)
C5.1.3 use melting point data to distinguish pure from impure substances (high)
C5.1.4 chromatography involves a stationary and a mobile phase; separation depends on the distribution of substances between the phases (medium–high)
C5.1.5 interpret chromatograms, including calculating Rf values (high)
C5.1.6 suggest chromatographic methods for distinguishing pure from impure substances, including paper chromatography, aqueous and non-aqueous solvents, and locating agents (high)
C5.1.7 describe, explain and exemplify the processes of filtration, crystallisation, simple distillation and fractional distillation; PAG3, PAG7 in J258 numbering (high)
C5.1.8 suggest suitable purification techniques given information about the substances involved; PAG3, PAG7 (high)
HT: none found. If your copy shows any statement in bold, add the HT pill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C5 has three sub-topics. C5.1 title: OCR C5 scheme-of-work extract. C5.2: the docbrown combined page heading "Chapter C5.2 How are the amounts of substances in reactions calculated?" (J258 C5.3; the planning booklet gives 10 h separate / 6.5 h combined). C5.3 amounts of chemicals in solution (J258 C5.4), inferred with medium confidence.
PAG codes: OCR's example set of Combined Science practicals lists PAG C2 Distillation, PAG C3 Separation techniques and PAG C4 Production of salts; the OCR PAG C3 document links its chromatography activity to Suite B C5.1.4 and C5.1.6.
Overlap control: moles, masses in reactions, concentration and titration belong to C5.2 and C5.3 (other decks) and are not taught here. Making a salt is used only as a separation practical (filtration and crystallisation); no yield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Any two: sedimentation; filtration (through sand beds); chlorination (or ozone / UV) to kill microorganisms (C1).
2. Boiling / evaporation. The forces of attraction between the particles are overcome; particles move far apart (C2).
3. An element contains only one type of atom; a compound contains two or more elements chemically combined (bonded) in fixed proportions (C2).
4. NaCl; CuSO₄ (C2).
5. Giant ionic lattice with strong electrostatic attraction between oppositely charged ions in all directions; lots of energy is needed to overcome them (C4.2; recap only).
6. Ethanol is a gas (90 &gt; 78 °C); water is a liquid (90 &lt; 100 °C). This idea is the basis of fractional distillation.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No: spring water contains dissolved minerals (ions such as calcium and magnesium) and gases, so it is a mixture. In everyday language "pure" means natural / nothing added. 0.025 × 400 = 10 g.
C5.1.1 / C5.1.2 wording (J258 extracts): many useful materials are formulations of mixtures; scientific vs everyday "pure". Paint percentages are illustrative (asserted to total 100%). Each component has a purpose; the amounts are measured carefully so the product works the same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P is pure: it melts sharply at the data-book value. Q is impure: it melts below 169 °C and over a range (5 °C).
C5.1.3 "use melting point data to distinguish pure from impure substances". Heating-curve values are illustrative; benzoic acid melts at about 122 °C and paracetamol at about 169 °C (data-book values). GRADE 7–9 STRETCH: impurity particles disrupt the regular lattice of the solid, so less energy is needed to separate the particles; the impurity concentration in the remaining solid changes as it melts, so it melts over a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8 marks)
Q1 [2]: Contains only one substance (1); a single element or a single compound / no other substances mixed in (1).
Q2 [2]: It is a mixture (1); of water, sugars, acids / several substances (1). (Everyday "pure" means nothing added.)
Q3 [2]: A mixture designed as a useful product / components in measured amounts, each with a purpose (1); example, e.g. paint, medicine, fuel, cleaning product, fertiliser, alloy, food (1).
Q4 [2]: The sample is impure (1); it melts below 136 °C / over a range of temperatures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lid keeps the air in the beaker saturated with solvent vapour, so the solvent does not evaporate from the paper and the solvent front rises evenly (it also reduces flammable / irritant vapour in the room). An ink line would dissolve in the solvent and separate too, giving extra spots that confuse the result.
C5.1.4 "recall that chromatography involves a stationary and a mobile phase and that separation depends on the distribution of substances between the phases" (wording medium–high). GRADE 7–9 STRETCH: the distribution depends on how strongly each substance is attracted to the paper (and the water held in its fibres) compared with how soluble it is in the solvent.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Rf = 3.1 ÷ 6.2 = 0.50. X is not pure: it gives three spots, so it is a mixture of (at least) three dyes, A, B and D.
Chromatogram drawn to scale and asserted in node: front 8.0 cm; A 2.4 cm (Rf 0.30), B 4.8 (0.60), C 5.6 (0.70), D 6.8 (0.85); X spots match A, B and D. C5.1.5 "interpret chromatograms, including calculating Rf values". A spot that stays on the baseline is insoluble in that solvent (Rf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Use a non-aqueous solvent such as ethanol (or propanone): the ink is insoluble in water, so it stays on the baseline; it dissolves in the non-aqueous solvent and can then move and separate.
C5.1.6 "suggest chromatographic methods for distinguishing pure from impure substances, including paper chromatography, aqueous and non-aqueous solvents, and locating agents". A substance can give one spot in one solvent by chance (two substances with the same Rf), which is why two solvents are used.
CLEAPSS-style hazards: ninhydrin spray is HARMFUL if swallowed and an IRRITANT (it stains skin purple); its ethanol solvent is HIGHLY FLAMMABLE. Teacher sprays in a fume cupboard; wear gloves and eye protection. Ethanol and propanone are HIGHLY FLAMMABLE and cause serious eye irritation: no naked flames. Data illustrative (Rf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8 marks)
Q1 [2]: Stationary: the paper (1); mobile: the solvent (1).
Q2 [2]: 4.2 ÷ 6.0 (1); = 0.70 (1). No units.
Q3 [2]: They are distributed differently between the two phases / have different solubility in the solvent / attraction to the paper (1); the one spending more time in the mobile phase (more soluble) moves further (1).
Q4 [2]: Gives only one spot (1); in several / two different solvents (1). Accept: matches the Rf of a pure reference sample in each solvent.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Small spots give separated, sharp spots that can be measured accurately; large spots spread and overlap. Concentrated spots are easy to see after running. The solvent evaporates quickly once the paper is out, so the front disappears; marking it late would make the solvent distance too small and the Rf values too large.
PAG C3 Separation techniques (OCR Combined Science PAG list; the OCR PAG C3 activity document links to Suite B C5.1.4 and C5.1.6). Alternatives: chromatography of leaf pigments with a non-aqueous solvent (teacher-prepared; propanone or ethanol, HIGHLY FLAMMABLE).
CLEAPSS-style hazards: food colourings low hazard; water low hazard; ethanol HIGHLY FLAMMABLE, causes serious eye irritation; propanone HIGHLY FLAMMABLE, causes serious eye irritation, vapour may cause drowsiness. Wear eye protection; keep away from flames; good ventilation.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0.60 × 5.0 = 3.0 cm (read from the graph: accept 2.9–3.1 cm). The distance moved by the dye is always the same fraction (the Rf) of the distance moved by the solvent, so the ratio is constant and the graph is a straight line through the origin.
Data illustrative; each reading is within ±0.03 of the stated Rf (asserted in node). Rf red 0.60 and yellow 0.30 asserted. This graph links C5.1.5 with the maths skill of finding a gradient.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8 marks)
Q1 [2]: Any two (1 each): same solvent; same type of paper; same temperature; same height of baseline; same depth of solvent; run on the same paper at the same time.
Q2 [2]: The solvent evaporates and the front can no longer be seen (1); so the solvent distance would be measured too short / Rf values wrong (too large) (1).
Q3 [2]: Spots too large / too much dye applied / baseline below solvent (1); use smaller spots with a capillary tube, dry between applications / keep the baseline above the solvent (1).
Q4 [2]: 0.30 × 7.0 (1); = 2.1 cm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salt must dissolve so that it passes through the filter paper in the filtrate, while the insoluble sand is left as the residue. 8.0 ÷ 25.0 × 100 = 32%.
C5.1.7 "describe, explain and exemplify the processes of filtration, crystallisation, simple distillation and fractional distillation". The crystallisation point can be tested by dipping a cold glass rod in the solution: crystals form on it. Values asserted in node. Heating over a water bath (rather than directly) avoids spitting. Link to C1 water treatment (filtration through sand beds).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In the liquid it measures the temperature of the boiling salt solution, which is above 100 °C (impurities raise the boiling point), not the temperature of the vapour being collected. Accept "a little over 100 °C".
Anti-bumping granules give smooth boiling. Sea water 3.5% by mass is a typical value; calculation asserted. CLEAPSS-style: salt solution low hazard; hot apparatus: allow to cool; check the condenser hoses are secure before heating; never heat a closed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Propanone is collected first; the thermometer reads about 56 °C while it distils, then rises towards 100 °C.
Industrial examples: fractional distillation of crude oil into fractions, and of liquid air into nitrogen and oxygen (recap only). GRADE 7–9 STRETCH: each condense–boil cycle enriches the vapour in the more volatile liquid; ethanol and water cannot be fully separated by distillation (the distillate is at most about 96% ethanol).
CLEAPSS-style: ethanol HIGHLY FLAMMABLE, causes serious eye irritation; no naked flames; eye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[2]: Filtration (1); sand is insoluble / particles too large to pass through the filter paper, water passes through (1).
Q2 [2]: Boiling to dryness can make the solid spit / decompose / lose water of crystallisation / gives tiny or impure crystals (1); cooling slowly lets larger, purer crystals form (1).
Q3 [2]: Water boils / evaporates and the salt is left in the flask (1); the vapour is cooled and condenses in the condenser and is collected (1).
Q4 [2]: Both are liquids that mix / both evaporate / boiling points fairly close (78 and 100 °C) (1); the column lets them separate by repeated condensing and boiling, so the lower boiling ethanol reaches the top first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 filtration (chalk is insoluble); (b) crystallisation; (c) paper chromatography.
C5.1.8 "suggest suitable purification techniques given information about the substances involved" (PAG3, PAG7 in J258 numbering; PAG C2, C3, C4 in Combined numbering). Exam questions give a table of melting points, boiling points and solubility: students should quote the data in their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While ethanol (the lower boiling liquid) is distilling, the vapour reaching the thermometer is mostly ethanol, so the temperature stays near its boiling point (78–80 °C). Some water evaporates too (water has a vapour pressure below 100 °C) and the column is not perfectly efficient / heating too fast pushes water vapour over; ethanol and water cannot be fully separated by distillation.
PAG C2 Distillation (OCR Combined Science PAG list). Readings illustrative; asserted: temperature never falls; fraction 1 = 12 cm³ = 24% of 50 cm³. Errors: heating too fast (poor separation); thermometer bulb not at the side arm; reading the thermometer late. Improve: heat slowly; repeat; use a longer column.
CLEAPSS-style: ethanol HIGHLY FLAMMABLE, causes serious eye irritation. A water bath can be used instead of a mantle.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8 marks)
Q1 [2]: Fractional distillation (1); hexane first (lower boiling point) (1).
Q2 [2]: Add water, stir and filter: sand is the residue (dry it) (1); heat the filtrate to the crystallisation point and leave to cool / crystallise (1).
Q3 [2]: About 78–80 °C (1); ethanol (1).
Q4 [2]: Ethanol is (highly) flammable (1); its vapour could catch fire from a naked flame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Excess makes sure all the sulfuric acid is used up, so the solution contains only copper sulfate and water (no acid left in the crystals); you can see when this happens because black solid remains. Copper(II) oxide is insoluble, so filtration separates it; crystallisation is for getting the dissolved salt out of the solution.
PAG C4 Production of salts (OCR Combined Science PAG list; suggested activity: copper sulfate synthesis). The acid + base reaction itself is recap (C3 / C6 in J260); here the focus is the separation steps. Equations balanced in node: CuO + H₂SO₄ → CuSO₄ + H₂O; CuCO₃ + H₂SO₄ → CuSO₄ + H₂O + CO₂ (alternative insoluble base); CuSO₄ + 5H₂O → CuSO₄·5H₂O.
CLEAPSS-style hazards: sulfuric acid 0.5–1.5 mol/dm³ IRRITANT (skin and serious eye irritation); copper(II) oxide HARMFUL if swallowed, very toxic to aquatic life (dispose of residues as solid waste, not down the sink); copper(II) sulfate pentahydrate HARMFUL if swallowed, causes skin and serious eye irritation, toxic to aquatic life. Wear eye protection; do not boil the acid; heat the evaporating basin over a water bath so the solution cannot spit.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60 °C. 75.4 − 20.7 = 54.7 g (per 100 g of water; accept 54–55 g from the graph).
Solubility values (g of CuSO₄ per 100 g water) are approximate data-book values: 0 °C 14.3, 20 °C 20.7, 40 °C 28.5, 60 °C 40.0, 80 °C 55.0, 100 °C 75.4. Calculations asserted. Masses in the table are illustrative; CuO reacted 2.50 − 0.51 = 1.99 g asserted. Percentage yield is NOT calculated here (it needs moles: C5.2 / C6, other decks).
Heating the crystals strongly turns them white: CuSO₄·5H₂O → CuSO₄ + 5H₂O (balanced in node) — this is why we do not evaporate to dryness.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6 (total 8 marks)
Q1 [2]: To make sure all the acid reacts / is used up (1); so the solution contains only copper sulfate (and water) / no acid in the product; the excess is easy to remove by filtering (1).
Q2 [2]: Filtration (1); filtrate (1).
Q3 [2]: CuO + H₂SO₄ → CuSO₄ + H₂O correct formulae and balanced (1); state symbols (s), (aq), (aq), (l) (1).
Q4 [2]: 40.0 − 20.7 (1); = 19.3 g (1). Accept 19–20 g from the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No term here is Higher-only. Water of crystallisation (CuSO₄·5H₂O) is mentioned in the practical but is not a C5.1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[2]: Stationary: paper (1); mobile: solvent / water (1).
(b) [2]: 3.0 ÷ 7.5 (1); = 0.40 (1). No units.
(c) [2]: G is a mixture / not pure (two spots) (1); it contains E102 and E133 and not the banned dye Z (1).
(d) [2]: Run it in two or more different solvents (1); a pure sample gives a single spot every time / matches the Rf of a pure reference (1).
(e) [2]: The salt is impure (1); it melts below 801 °C / over a range of temperatures (1).
(f) [3]: Dissolve in (warm) water and stir (1); filter to remove the sand (residue) (1); heat the filtrate to the crystallisation point / evaporate some water, leave to cool, then filter and dry the crystals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A mixture designed as a useful product (with components in measured amounts / each with a purpose) (1).
2 [2]: 2.7 ÷ 9.0 (1); = 0.30 (1).
3 [2]: Pencil (graphite) is insoluble so it does not run / separate (1); above the solvent so the spots do not dissolve into the solvent pool / wash off the paper (1).
4 [2]: 100 °C (1); so the condenser jacket fills completely / cooling is more efficient (1).
5 [2]: A chemical sprayed on the dried chromatogram that reacts to make spots coloured / visible (1); needed when the substances are colourless, e.g. amino acids with ninhydrin (1).
6 [2]: A is pure (1); it melts sharply at the data-book value, whereas B melts lower / over a range so is impure (1).
7 [6]: OCR level-of-response mark scheme (6 marks). Read the whole answer, decide the level from the content descriptor, then the mark within the level from the quality of the line of reasoning. Use the indicative scientific points below.
Level 3 (5–6 marks): Describes a correct sequence to obtain ALL THREE pure substances (filtration, crystallisation, distillation) AND explains why each method works. There is a well-developed line of reasoning which is clear and logically structured. The information presented is relevant and substantiated.
Level 2 (3–4 marks): Describes methods for at least TWO of the substances in a sensible order, with some explanation. There is a line of reasoning presented with some structure. The information presented is relevant and supported by some evidence.
Level 1 (1–2 marks): Names one or two suitable methods, e.g. "filter it" or "evaporate the water", with little explanation. There is an attempt at a logical structure with a line of reasoning. The information is in the most part relevant.
0 marks: no response or no response worthy of credit.
Indicative scientific points may include:
 • Add water to the mixture (if needed) and stir so that all the salt dissolves; sand is insoluble.
 • Filter: sand is the residue on the filter paper; rinse with a little water and dry it (warm oven / leave to dry) to get dry sand.
 • The filtrate is salt solution. Split it into two portions (or use separate samples).
 • Crystallisation: heat one portion on a water bath to the crystallisation point / evaporate some water, leave to cool, filter off and dry the salt crystals (do not boil to dryness).
 • Simple distillation of the other portion: water boils, vapour condenses in a Liebig condenser (cold water in at the bottom), pure water collected as distillate; thermometer at the side arm reads 100 °C.
 • Explains WHY each method works: insoluble vs soluble; boiling point of water far lower than salt; testing purity, e.g. water boils at exactly 100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1A47"/>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5B3A8C"/>
          </a:solidFill>
          <a:ln w="12700">
            <a:solidFill>
              <a:srgbClr val="5B3A8C"/>
            </a:solidFill>
            <a:prstDash val="solid"/>
          </a:ln>
        </p:spPr>
      </p:sp>
      <p:sp>
        <p:nvSpPr>
          <p:cNvPr id="3" name="Shape 1"/>
          <p:cNvSpPr/>
          <p:nvPr/>
        </p:nvSpPr>
        <p:spPr>
          <a:xfrm>
            <a:off x="9326880" y="2377440"/>
            <a:ext cx="4937760" cy="4937760"/>
          </a:xfrm>
          <a:prstGeom prst="ellipse">
            <a:avLst/>
          </a:prstGeom>
          <a:solidFill>
            <a:srgbClr val="7A52B3">
              <a:alpha val="85000"/>
            </a:srgbClr>
          </a:solidFill>
          <a:ln w="12700">
            <a:solidFill>
              <a:srgbClr val="7A52B3"/>
            </a:solidFill>
            <a:prstDash val="solid"/>
          </a:ln>
        </p:spPr>
      </p:sp>
      <p:sp>
        <p:nvSpPr>
          <p:cNvPr id="4" name="Shape 2"/>
          <p:cNvSpPr/>
          <p:nvPr/>
        </p:nvSpPr>
        <p:spPr>
          <a:xfrm>
            <a:off x="0" y="0"/>
            <a:ext cx="164592" cy="6858000"/>
          </a:xfrm>
          <a:prstGeom prst="rect">
            <a:avLst/>
          </a:prstGeom>
          <a:solidFill>
            <a:srgbClr val="7A52B3"/>
          </a:solidFill>
          <a:ln w="12700">
            <a:solidFill>
              <a:srgbClr val="7A52B3"/>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CDB8F0"/>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C5.1  Separation and purity</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DCCDF3"/>
                </a:solidFill>
                <a:latin typeface="Georgia" pitchFamily="34" charset="0"/>
                <a:ea typeface="Georgia" pitchFamily="34" charset="-122"/>
                <a:cs typeface="Georgia" pitchFamily="34" charset="-120"/>
              </a:rPr>
              <a:t>How are chemicals separated and tested for purity?</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E4DAF5"/>
                </a:solidFill>
                <a:latin typeface="Calibri" pitchFamily="34" charset="0"/>
                <a:ea typeface="Calibri" pitchFamily="34" charset="-122"/>
                <a:cs typeface="Calibri" pitchFamily="34" charset="-120"/>
              </a:rPr>
              <a:t>Purity  •  Formulations  •  Chromatography  •  Filtration  •  Crystallisation  •  Distillation</a:t>
            </a:r>
            <a:endParaRPr lang="en-US" sz="1300" dirty="0"/>
          </a:p>
        </p:txBody>
      </p:sp>
      <p:sp>
        <p:nvSpPr>
          <p:cNvPr id="10" name="Shape 8"/>
          <p:cNvSpPr/>
          <p:nvPr/>
        </p:nvSpPr>
        <p:spPr>
          <a:xfrm>
            <a:off x="731520" y="3886200"/>
            <a:ext cx="457200" cy="457200"/>
          </a:xfrm>
          <a:prstGeom prst="ellipse">
            <a:avLst/>
          </a:prstGeom>
          <a:solidFill>
            <a:srgbClr val="7A52B3"/>
          </a:solidFill>
          <a:ln w="12700">
            <a:solidFill>
              <a:srgbClr val="CDB8F0"/>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C5.1.1–C5.1.8 • purity, formulations, chromatography, filtration, crystallisation, distillation</a:t>
            </a:r>
            <a:endParaRPr lang="en-US" sz="1400" dirty="0"/>
          </a:p>
        </p:txBody>
      </p:sp>
      <p:sp>
        <p:nvSpPr>
          <p:cNvPr id="13" name="Shape 11"/>
          <p:cNvSpPr/>
          <p:nvPr/>
        </p:nvSpPr>
        <p:spPr>
          <a:xfrm>
            <a:off x="731520" y="4507992"/>
            <a:ext cx="457200" cy="457200"/>
          </a:xfrm>
          <a:prstGeom prst="ellipse">
            <a:avLst/>
          </a:prstGeom>
          <a:solidFill>
            <a:srgbClr val="7A52B3"/>
          </a:solidFill>
          <a:ln w="12700">
            <a:solidFill>
              <a:srgbClr val="CDB8F0"/>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no Higher-only statements found in C5.1</a:t>
            </a:r>
            <a:endParaRPr lang="en-US" sz="1400" dirty="0"/>
          </a:p>
        </p:txBody>
      </p:sp>
      <p:sp>
        <p:nvSpPr>
          <p:cNvPr id="16" name="Shape 14"/>
          <p:cNvSpPr/>
          <p:nvPr/>
        </p:nvSpPr>
        <p:spPr>
          <a:xfrm>
            <a:off x="731520" y="5129784"/>
            <a:ext cx="457200" cy="457200"/>
          </a:xfrm>
          <a:prstGeom prst="ellipse">
            <a:avLst/>
          </a:prstGeom>
          <a:solidFill>
            <a:srgbClr val="7A52B3"/>
          </a:solidFill>
          <a:ln w="12700">
            <a:solidFill>
              <a:srgbClr val="CDB8F0"/>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PAG C3 chromatography • PAG C2 distillation • PAG C4 making a salt</a:t>
            </a:r>
            <a:endParaRPr lang="en-US" sz="1400" dirty="0"/>
          </a:p>
        </p:txBody>
      </p:sp>
      <p:sp>
        <p:nvSpPr>
          <p:cNvPr id="19" name="Shape 17"/>
          <p:cNvSpPr/>
          <p:nvPr/>
        </p:nvSpPr>
        <p:spPr>
          <a:xfrm>
            <a:off x="731520" y="5769864"/>
            <a:ext cx="4279392" cy="365760"/>
          </a:xfrm>
          <a:prstGeom prst="roundRect">
            <a:avLst>
              <a:gd name="adj" fmla="val 50000"/>
            </a:avLst>
          </a:prstGeom>
          <a:solidFill>
            <a:srgbClr val="22133A"/>
          </a:solidFill>
          <a:ln w="15875">
            <a:solidFill>
              <a:srgbClr val="F5A742"/>
            </a:solidFill>
            <a:prstDash val="solid"/>
          </a:ln>
        </p:spPr>
      </p:sp>
      <p:sp>
        <p:nvSpPr>
          <p:cNvPr id="20" name="Text 18"/>
          <p:cNvSpPr/>
          <p:nvPr/>
        </p:nvSpPr>
        <p:spPr>
          <a:xfrm>
            <a:off x="731520" y="5769864"/>
            <a:ext cx="4279392"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1 of 3 in Chapter C5: Chemical analysis</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DDD0F2"/>
                </a:solidFill>
                <a:latin typeface="Calibri" pitchFamily="34" charset="0"/>
                <a:ea typeface="Calibri" pitchFamily="34" charset="-122"/>
                <a:cs typeface="Calibri" pitchFamily="34" charset="-120"/>
              </a:rPr>
              <a:t>OCR J260 Combined Science B • C5.1 how are chemicals separated and tested for purity? • teacher deck • mark schemes in the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C5.1.1–C5.1.8 • by the end of this sub-topic you can…</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6A3FA0"/>
          </a:solidFill>
          <a:ln w="12700">
            <a:solidFill>
              <a:srgbClr val="6A3FA0"/>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C5.1.1   </a:t>
            </a:r>
            <a:r>
              <a:rPr lang="en-US" sz="1200" dirty="0">
                <a:solidFill>
                  <a:srgbClr val="262B3A"/>
                </a:solidFill>
                <a:latin typeface="Calibri" pitchFamily="34" charset="0"/>
                <a:ea typeface="Calibri" pitchFamily="34" charset="-122"/>
                <a:cs typeface="Calibri" pitchFamily="34" charset="-120"/>
              </a:rPr>
              <a:t>Explain that many useful materials are </a:t>
            </a:r>
            <a:r>
              <a:rPr lang="en-US" sz="1200" b="1" dirty="0">
                <a:solidFill>
                  <a:srgbClr val="262B3A"/>
                </a:solidFill>
                <a:latin typeface="Calibri" pitchFamily="34" charset="0"/>
                <a:ea typeface="Calibri" pitchFamily="34" charset="-122"/>
                <a:cs typeface="Calibri" pitchFamily="34" charset="-120"/>
              </a:rPr>
              <a:t>formulations</a:t>
            </a:r>
            <a:r>
              <a:rPr lang="en-US" sz="1200" dirty="0">
                <a:solidFill>
                  <a:srgbClr val="262B3A"/>
                </a:solidFill>
                <a:latin typeface="Calibri" pitchFamily="34" charset="0"/>
                <a:ea typeface="Calibri" pitchFamily="34" charset="-122"/>
                <a:cs typeface="Calibri" pitchFamily="34" charset="-120"/>
              </a:rPr>
              <a:t>: mixtures designed for a purpose.</a:t>
            </a:r>
            <a:endParaRPr lang="en-US" sz="1100" dirty="0"/>
          </a:p>
        </p:txBody>
      </p:sp>
      <p:sp>
        <p:nvSpPr>
          <p:cNvPr id="11" name="Shape 9"/>
          <p:cNvSpPr/>
          <p:nvPr/>
        </p:nvSpPr>
        <p:spPr>
          <a:xfrm>
            <a:off x="502920" y="2194560"/>
            <a:ext cx="457200" cy="457200"/>
          </a:xfrm>
          <a:prstGeom prst="ellipse">
            <a:avLst/>
          </a:prstGeom>
          <a:solidFill>
            <a:srgbClr val="6A3FA0"/>
          </a:solidFill>
          <a:ln w="12700">
            <a:solidFill>
              <a:srgbClr val="6A3FA0"/>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C5.1.2   </a:t>
            </a:r>
            <a:r>
              <a:rPr lang="en-US" sz="1200" dirty="0">
                <a:solidFill>
                  <a:srgbClr val="262B3A"/>
                </a:solidFill>
                <a:latin typeface="Calibri" pitchFamily="34" charset="0"/>
                <a:ea typeface="Calibri" pitchFamily="34" charset="-122"/>
                <a:cs typeface="Calibri" pitchFamily="34" charset="-120"/>
              </a:rPr>
              <a:t>Distinguish the </a:t>
            </a:r>
            <a:r>
              <a:rPr lang="en-US" sz="1200" b="1" dirty="0">
                <a:solidFill>
                  <a:srgbClr val="262B3A"/>
                </a:solidFill>
                <a:latin typeface="Calibri" pitchFamily="34" charset="0"/>
                <a:ea typeface="Calibri" pitchFamily="34" charset="-122"/>
                <a:cs typeface="Calibri" pitchFamily="34" charset="-120"/>
              </a:rPr>
              <a:t>scientific</a:t>
            </a:r>
            <a:r>
              <a:rPr lang="en-US" sz="1200" dirty="0">
                <a:solidFill>
                  <a:srgbClr val="262B3A"/>
                </a:solidFill>
                <a:latin typeface="Calibri" pitchFamily="34" charset="0"/>
                <a:ea typeface="Calibri" pitchFamily="34" charset="-122"/>
                <a:cs typeface="Calibri" pitchFamily="34" charset="-120"/>
              </a:rPr>
              <a:t> meaning of </a:t>
            </a:r>
            <a:r>
              <a:rPr lang="en-US" sz="1200" b="1" dirty="0">
                <a:solidFill>
                  <a:srgbClr val="262B3A"/>
                </a:solidFill>
                <a:latin typeface="Calibri" pitchFamily="34" charset="0"/>
                <a:ea typeface="Calibri" pitchFamily="34" charset="-122"/>
                <a:cs typeface="Calibri" pitchFamily="34" charset="-120"/>
              </a:rPr>
              <a:t>pure</a:t>
            </a:r>
            <a:r>
              <a:rPr lang="en-US" sz="1200" dirty="0">
                <a:solidFill>
                  <a:srgbClr val="262B3A"/>
                </a:solidFill>
                <a:latin typeface="Calibri" pitchFamily="34" charset="0"/>
                <a:ea typeface="Calibri" pitchFamily="34" charset="-122"/>
                <a:cs typeface="Calibri" pitchFamily="34" charset="-120"/>
              </a:rPr>
              <a:t> from its </a:t>
            </a:r>
            <a:r>
              <a:rPr lang="en-US" sz="1200" b="1" dirty="0">
                <a:solidFill>
                  <a:srgbClr val="262B3A"/>
                </a:solidFill>
                <a:latin typeface="Calibri" pitchFamily="34" charset="0"/>
                <a:ea typeface="Calibri" pitchFamily="34" charset="-122"/>
                <a:cs typeface="Calibri" pitchFamily="34" charset="-120"/>
              </a:rPr>
              <a:t>everyday</a:t>
            </a:r>
            <a:r>
              <a:rPr lang="en-US" sz="1200" dirty="0">
                <a:solidFill>
                  <a:srgbClr val="262B3A"/>
                </a:solidFill>
                <a:latin typeface="Calibri" pitchFamily="34" charset="0"/>
                <a:ea typeface="Calibri" pitchFamily="34" charset="-122"/>
                <a:cs typeface="Calibri" pitchFamily="34" charset="-120"/>
              </a:rPr>
              <a:t> meaning.</a:t>
            </a:r>
            <a:endParaRPr lang="en-US" sz="1100" dirty="0"/>
          </a:p>
        </p:txBody>
      </p:sp>
      <p:sp>
        <p:nvSpPr>
          <p:cNvPr id="14" name="Shape 12"/>
          <p:cNvSpPr/>
          <p:nvPr/>
        </p:nvSpPr>
        <p:spPr>
          <a:xfrm>
            <a:off x="502920" y="3063240"/>
            <a:ext cx="457200" cy="457200"/>
          </a:xfrm>
          <a:prstGeom prst="ellipse">
            <a:avLst/>
          </a:prstGeom>
          <a:solidFill>
            <a:srgbClr val="6A3FA0"/>
          </a:solidFill>
          <a:ln w="12700">
            <a:solidFill>
              <a:srgbClr val="6A3FA0"/>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C5.1.3   </a:t>
            </a:r>
            <a:r>
              <a:rPr lang="en-US" sz="1200" dirty="0">
                <a:solidFill>
                  <a:srgbClr val="262B3A"/>
                </a:solidFill>
                <a:latin typeface="Calibri" pitchFamily="34" charset="0"/>
                <a:ea typeface="Calibri" pitchFamily="34" charset="-122"/>
                <a:cs typeface="Calibri" pitchFamily="34" charset="-120"/>
              </a:rPr>
              <a:t>Use </a:t>
            </a:r>
            <a:r>
              <a:rPr lang="en-US" sz="1200" b="1" dirty="0">
                <a:solidFill>
                  <a:srgbClr val="262B3A"/>
                </a:solidFill>
                <a:latin typeface="Calibri" pitchFamily="34" charset="0"/>
                <a:ea typeface="Calibri" pitchFamily="34" charset="-122"/>
                <a:cs typeface="Calibri" pitchFamily="34" charset="-120"/>
              </a:rPr>
              <a:t>melting point</a:t>
            </a:r>
            <a:r>
              <a:rPr lang="en-US" sz="1200" dirty="0">
                <a:solidFill>
                  <a:srgbClr val="262B3A"/>
                </a:solidFill>
                <a:latin typeface="Calibri" pitchFamily="34" charset="0"/>
                <a:ea typeface="Calibri" pitchFamily="34" charset="-122"/>
                <a:cs typeface="Calibri" pitchFamily="34" charset="-120"/>
              </a:rPr>
              <a:t> data to tell </a:t>
            </a:r>
            <a:r>
              <a:rPr lang="en-US" sz="1200" b="1" dirty="0">
                <a:solidFill>
                  <a:srgbClr val="262B3A"/>
                </a:solidFill>
                <a:latin typeface="Calibri" pitchFamily="34" charset="0"/>
                <a:ea typeface="Calibri" pitchFamily="34" charset="-122"/>
                <a:cs typeface="Calibri" pitchFamily="34" charset="-120"/>
              </a:rPr>
              <a:t>pure</a:t>
            </a:r>
            <a:r>
              <a:rPr lang="en-US" sz="1200" dirty="0">
                <a:solidFill>
                  <a:srgbClr val="262B3A"/>
                </a:solidFill>
                <a:latin typeface="Calibri" pitchFamily="34" charset="0"/>
                <a:ea typeface="Calibri" pitchFamily="34" charset="-122"/>
                <a:cs typeface="Calibri" pitchFamily="34" charset="-120"/>
              </a:rPr>
              <a:t> from </a:t>
            </a:r>
            <a:r>
              <a:rPr lang="en-US" sz="1200" b="1" dirty="0">
                <a:solidFill>
                  <a:srgbClr val="262B3A"/>
                </a:solidFill>
                <a:latin typeface="Calibri" pitchFamily="34" charset="0"/>
                <a:ea typeface="Calibri" pitchFamily="34" charset="-122"/>
                <a:cs typeface="Calibri" pitchFamily="34" charset="-120"/>
              </a:rPr>
              <a:t>impure</a:t>
            </a:r>
            <a:r>
              <a:rPr lang="en-US" sz="1200" dirty="0">
                <a:solidFill>
                  <a:srgbClr val="262B3A"/>
                </a:solidFill>
                <a:latin typeface="Calibri" pitchFamily="34" charset="0"/>
                <a:ea typeface="Calibri" pitchFamily="34" charset="-122"/>
                <a:cs typeface="Calibri" pitchFamily="34" charset="-120"/>
              </a:rPr>
              <a:t> substances.</a:t>
            </a:r>
            <a:endParaRPr lang="en-US" sz="1100" dirty="0"/>
          </a:p>
        </p:txBody>
      </p:sp>
      <p:sp>
        <p:nvSpPr>
          <p:cNvPr id="17" name="Shape 15"/>
          <p:cNvSpPr/>
          <p:nvPr/>
        </p:nvSpPr>
        <p:spPr>
          <a:xfrm>
            <a:off x="502920" y="3931920"/>
            <a:ext cx="457200" cy="457200"/>
          </a:xfrm>
          <a:prstGeom prst="ellipse">
            <a:avLst/>
          </a:prstGeom>
          <a:solidFill>
            <a:srgbClr val="6A3FA0"/>
          </a:solidFill>
          <a:ln w="12700">
            <a:solidFill>
              <a:srgbClr val="6A3FA0"/>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C5.1.4   </a:t>
            </a:r>
            <a:r>
              <a:rPr lang="en-US" sz="1200" dirty="0">
                <a:solidFill>
                  <a:srgbClr val="262B3A"/>
                </a:solidFill>
                <a:latin typeface="Calibri" pitchFamily="34" charset="0"/>
                <a:ea typeface="Calibri" pitchFamily="34" charset="-122"/>
                <a:cs typeface="Calibri" pitchFamily="34" charset="-120"/>
              </a:rPr>
              <a:t>Recall that chromatography has a </a:t>
            </a:r>
            <a:r>
              <a:rPr lang="en-US" sz="1200" b="1" dirty="0">
                <a:solidFill>
                  <a:srgbClr val="262B3A"/>
                </a:solidFill>
                <a:latin typeface="Calibri" pitchFamily="34" charset="0"/>
                <a:ea typeface="Calibri" pitchFamily="34" charset="-122"/>
                <a:cs typeface="Calibri" pitchFamily="34" charset="-120"/>
              </a:rPr>
              <a:t>stationary</a:t>
            </a:r>
            <a:r>
              <a:rPr lang="en-US" sz="1200" dirty="0">
                <a:solidFill>
                  <a:srgbClr val="262B3A"/>
                </a:solidFill>
                <a:latin typeface="Calibri" pitchFamily="34" charset="0"/>
                <a:ea typeface="Calibri" pitchFamily="34" charset="-122"/>
                <a:cs typeface="Calibri" pitchFamily="34" charset="-120"/>
              </a:rPr>
              <a:t> and a </a:t>
            </a:r>
            <a:r>
              <a:rPr lang="en-US" sz="1200" b="1" dirty="0">
                <a:solidFill>
                  <a:srgbClr val="262B3A"/>
                </a:solidFill>
                <a:latin typeface="Calibri" pitchFamily="34" charset="0"/>
                <a:ea typeface="Calibri" pitchFamily="34" charset="-122"/>
                <a:cs typeface="Calibri" pitchFamily="34" charset="-120"/>
              </a:rPr>
              <a:t>mobile phase</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6263640" y="1325880"/>
            <a:ext cx="457200" cy="457200"/>
          </a:xfrm>
          <a:prstGeom prst="ellipse">
            <a:avLst/>
          </a:prstGeom>
          <a:solidFill>
            <a:srgbClr val="6A3FA0"/>
          </a:solidFill>
          <a:ln w="12700">
            <a:solidFill>
              <a:srgbClr val="6A3FA0"/>
            </a:solidFill>
            <a:prstDash val="solid"/>
          </a:ln>
        </p:spPr>
      </p:sp>
      <p:sp>
        <p:nvSpPr>
          <p:cNvPr id="21" name="Text 19"/>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C5.1.5   </a:t>
            </a:r>
            <a:r>
              <a:rPr lang="en-US" sz="1200" b="1" dirty="0">
                <a:solidFill>
                  <a:srgbClr val="262B3A"/>
                </a:solidFill>
                <a:latin typeface="Calibri" pitchFamily="34" charset="0"/>
                <a:ea typeface="Calibri" pitchFamily="34" charset="-122"/>
                <a:cs typeface="Calibri" pitchFamily="34" charset="-120"/>
              </a:rPr>
              <a:t>Interpret chromatograms</a:t>
            </a:r>
            <a:r>
              <a:rPr lang="en-US" sz="1200" dirty="0">
                <a:solidFill>
                  <a:srgbClr val="262B3A"/>
                </a:solidFill>
                <a:latin typeface="Calibri" pitchFamily="34" charset="0"/>
                <a:ea typeface="Calibri" pitchFamily="34" charset="-122"/>
                <a:cs typeface="Calibri" pitchFamily="34" charset="-120"/>
              </a:rPr>
              <a:t> and calculate </a:t>
            </a:r>
            <a:r>
              <a:rPr lang="en-US" sz="1200" b="1" dirty="0">
                <a:solidFill>
                  <a:srgbClr val="262B3A"/>
                </a:solidFill>
                <a:latin typeface="Calibri" pitchFamily="34" charset="0"/>
                <a:ea typeface="Calibri" pitchFamily="34" charset="-122"/>
                <a:cs typeface="Calibri" pitchFamily="34" charset="-120"/>
              </a:rPr>
              <a:t>Rf values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3" name="Shape 21"/>
          <p:cNvSpPr/>
          <p:nvPr/>
        </p:nvSpPr>
        <p:spPr>
          <a:xfrm>
            <a:off x="6263640" y="2194560"/>
            <a:ext cx="457200" cy="457200"/>
          </a:xfrm>
          <a:prstGeom prst="ellipse">
            <a:avLst/>
          </a:prstGeom>
          <a:solidFill>
            <a:srgbClr val="6A3FA0"/>
          </a:solidFill>
          <a:ln w="12700">
            <a:solidFill>
              <a:srgbClr val="6A3FA0"/>
            </a:solidFill>
            <a:prstDash val="solid"/>
          </a:ln>
        </p:spPr>
      </p:sp>
      <p:sp>
        <p:nvSpPr>
          <p:cNvPr id="24" name="Text 22"/>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5" name="Text 23"/>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C5.1.6   </a:t>
            </a:r>
            <a:r>
              <a:rPr lang="en-US" sz="1200" dirty="0">
                <a:solidFill>
                  <a:srgbClr val="262B3A"/>
                </a:solidFill>
                <a:latin typeface="Calibri" pitchFamily="34" charset="0"/>
                <a:ea typeface="Calibri" pitchFamily="34" charset="-122"/>
                <a:cs typeface="Calibri" pitchFamily="34" charset="-120"/>
              </a:rPr>
              <a:t>Suggest </a:t>
            </a:r>
            <a:r>
              <a:rPr lang="en-US" sz="1200" b="1" dirty="0">
                <a:solidFill>
                  <a:srgbClr val="262B3A"/>
                </a:solidFill>
                <a:latin typeface="Calibri" pitchFamily="34" charset="0"/>
                <a:ea typeface="Calibri" pitchFamily="34" charset="-122"/>
                <a:cs typeface="Calibri" pitchFamily="34" charset="-120"/>
              </a:rPr>
              <a:t>chromatographic methods</a:t>
            </a:r>
            <a:r>
              <a:rPr lang="en-US" sz="1200" dirty="0">
                <a:solidFill>
                  <a:srgbClr val="262B3A"/>
                </a:solidFill>
                <a:latin typeface="Calibri" pitchFamily="34" charset="0"/>
                <a:ea typeface="Calibri" pitchFamily="34" charset="-122"/>
                <a:cs typeface="Calibri" pitchFamily="34" charset="-120"/>
              </a:rPr>
              <a:t>: solvents and </a:t>
            </a:r>
            <a:r>
              <a:rPr lang="en-US" sz="1200" b="1" dirty="0">
                <a:solidFill>
                  <a:srgbClr val="262B3A"/>
                </a:solidFill>
                <a:latin typeface="Calibri" pitchFamily="34" charset="0"/>
                <a:ea typeface="Calibri" pitchFamily="34" charset="-122"/>
                <a:cs typeface="Calibri" pitchFamily="34" charset="-120"/>
              </a:rPr>
              <a:t>locating agents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6" name="Shape 24"/>
          <p:cNvSpPr/>
          <p:nvPr/>
        </p:nvSpPr>
        <p:spPr>
          <a:xfrm>
            <a:off x="6263640" y="3063240"/>
            <a:ext cx="457200" cy="457200"/>
          </a:xfrm>
          <a:prstGeom prst="ellipse">
            <a:avLst/>
          </a:prstGeom>
          <a:solidFill>
            <a:srgbClr val="6A3FA0"/>
          </a:solidFill>
          <a:ln w="12700">
            <a:solidFill>
              <a:srgbClr val="6A3FA0"/>
            </a:solidFill>
            <a:prstDash val="solid"/>
          </a:ln>
        </p:spPr>
      </p:sp>
      <p:sp>
        <p:nvSpPr>
          <p:cNvPr id="27" name="Text 25"/>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28" name="Text 26"/>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C5.1.7   </a:t>
            </a:r>
            <a:r>
              <a:rPr lang="en-US" sz="1200" dirty="0">
                <a:solidFill>
                  <a:srgbClr val="262B3A"/>
                </a:solidFill>
                <a:latin typeface="Calibri" pitchFamily="34" charset="0"/>
                <a:ea typeface="Calibri" pitchFamily="34" charset="-122"/>
                <a:cs typeface="Calibri" pitchFamily="34" charset="-120"/>
              </a:rPr>
              <a:t>Describe </a:t>
            </a:r>
            <a:r>
              <a:rPr lang="en-US" sz="1200" b="1" dirty="0">
                <a:solidFill>
                  <a:srgbClr val="262B3A"/>
                </a:solidFill>
                <a:latin typeface="Calibri" pitchFamily="34" charset="0"/>
                <a:ea typeface="Calibri" pitchFamily="34" charset="-122"/>
                <a:cs typeface="Calibri" pitchFamily="34" charset="-120"/>
              </a:rPr>
              <a:t>filtration</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crystallisation</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simple</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fractional distillation</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9" name="Shape 27"/>
          <p:cNvSpPr/>
          <p:nvPr/>
        </p:nvSpPr>
        <p:spPr>
          <a:xfrm>
            <a:off x="6263640" y="3931920"/>
            <a:ext cx="457200" cy="457200"/>
          </a:xfrm>
          <a:prstGeom prst="ellipse">
            <a:avLst/>
          </a:prstGeom>
          <a:solidFill>
            <a:srgbClr val="6A3FA0"/>
          </a:solidFill>
          <a:ln w="12700">
            <a:solidFill>
              <a:srgbClr val="6A3FA0"/>
            </a:solidFill>
            <a:prstDash val="solid"/>
          </a:ln>
        </p:spPr>
      </p:sp>
      <p:sp>
        <p:nvSpPr>
          <p:cNvPr id="30" name="Text 28"/>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1" name="Text 29"/>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C5.1.8   </a:t>
            </a:r>
            <a:r>
              <a:rPr lang="en-US" sz="1200" dirty="0">
                <a:solidFill>
                  <a:srgbClr val="262B3A"/>
                </a:solidFill>
                <a:latin typeface="Calibri" pitchFamily="34" charset="0"/>
                <a:ea typeface="Calibri" pitchFamily="34" charset="-122"/>
                <a:cs typeface="Calibri" pitchFamily="34" charset="-120"/>
              </a:rPr>
              <a:t>Suggest a suitable </a:t>
            </a:r>
            <a:r>
              <a:rPr lang="en-US" sz="1200" b="1" dirty="0">
                <a:solidFill>
                  <a:srgbClr val="262B3A"/>
                </a:solidFill>
                <a:latin typeface="Calibri" pitchFamily="34" charset="0"/>
                <a:ea typeface="Calibri" pitchFamily="34" charset="-122"/>
                <a:cs typeface="Calibri" pitchFamily="34" charset="-120"/>
              </a:rPr>
              <a:t>purification technique</a:t>
            </a:r>
            <a:r>
              <a:rPr lang="en-US" sz="1200" dirty="0">
                <a:solidFill>
                  <a:srgbClr val="262B3A"/>
                </a:solidFill>
                <a:latin typeface="Calibri" pitchFamily="34" charset="0"/>
                <a:ea typeface="Calibri" pitchFamily="34" charset="-122"/>
                <a:cs typeface="Calibri" pitchFamily="34" charset="-120"/>
              </a:rPr>
              <a:t> from data about the substances.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Chapter C5 Chemical analysis • C5.1 is Part 1 of 3 in Combined Science B</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2A1F3D"/>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C5.1</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Separation and purity</a:t>
            </a:r>
            <a:endParaRPr lang="en-US" sz="1100" dirty="0"/>
          </a:p>
        </p:txBody>
      </p:sp>
      <p:sp>
        <p:nvSpPr>
          <p:cNvPr id="10" name="Shape 8"/>
          <p:cNvSpPr/>
          <p:nvPr/>
        </p:nvSpPr>
        <p:spPr>
          <a:xfrm>
            <a:off x="914400" y="1920240"/>
            <a:ext cx="91" cy="3758184"/>
          </a:xfrm>
          <a:prstGeom prst="line">
            <a:avLst/>
          </a:prstGeom>
          <a:noFill/>
          <a:ln w="19050">
            <a:solidFill>
              <a:srgbClr val="6A3FA0"/>
            </a:solidFill>
            <a:prstDash val="solid"/>
          </a:ln>
        </p:spPr>
      </p:sp>
      <p:sp>
        <p:nvSpPr>
          <p:cNvPr id="11" name="Shape 9"/>
          <p:cNvSpPr/>
          <p:nvPr/>
        </p:nvSpPr>
        <p:spPr>
          <a:xfrm>
            <a:off x="914400" y="2386584"/>
            <a:ext cx="411480" cy="91"/>
          </a:xfrm>
          <a:prstGeom prst="line">
            <a:avLst/>
          </a:prstGeom>
          <a:noFill/>
          <a:ln w="19050">
            <a:solidFill>
              <a:srgbClr val="6A3FA0"/>
            </a:solidFill>
            <a:prstDash val="solid"/>
          </a:ln>
        </p:spPr>
      </p:sp>
      <p:sp>
        <p:nvSpPr>
          <p:cNvPr id="12" name="Shape 10"/>
          <p:cNvSpPr/>
          <p:nvPr/>
        </p:nvSpPr>
        <p:spPr>
          <a:xfrm>
            <a:off x="1325880" y="2103120"/>
            <a:ext cx="5120640" cy="566928"/>
          </a:xfrm>
          <a:prstGeom prst="roundRect">
            <a:avLst>
              <a:gd name="adj" fmla="val 8065"/>
            </a:avLst>
          </a:prstGeom>
          <a:solidFill>
            <a:srgbClr val="F8F5FC"/>
          </a:solidFill>
          <a:ln w="12700">
            <a:solidFill>
              <a:srgbClr val="DDD3EC"/>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C5.1.1–2   </a:t>
            </a:r>
            <a:r>
              <a:rPr lang="en-US" sz="1100" dirty="0">
                <a:solidFill>
                  <a:srgbClr val="262B3A"/>
                </a:solidFill>
                <a:latin typeface="Calibri" pitchFamily="34" charset="0"/>
                <a:ea typeface="Calibri" pitchFamily="34" charset="-122"/>
                <a:cs typeface="Calibri" pitchFamily="34" charset="-120"/>
              </a:rPr>
              <a:t>Pure substances, mixtures, formulations</a:t>
            </a:r>
            <a:endParaRPr lang="en-US" sz="1100" dirty="0"/>
          </a:p>
        </p:txBody>
      </p:sp>
      <p:sp>
        <p:nvSpPr>
          <p:cNvPr id="14" name="Shape 12"/>
          <p:cNvSpPr/>
          <p:nvPr/>
        </p:nvSpPr>
        <p:spPr>
          <a:xfrm>
            <a:off x="5257800" y="2249424"/>
            <a:ext cx="1097280" cy="274320"/>
          </a:xfrm>
          <a:prstGeom prst="roundRect">
            <a:avLst>
              <a:gd name="adj" fmla="val 50000"/>
            </a:avLst>
          </a:prstGeom>
          <a:solidFill>
            <a:srgbClr val="6A3FA0"/>
          </a:solidFill>
          <a:ln w="12700">
            <a:solidFill>
              <a:srgbClr val="6A3FA0"/>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044952"/>
            <a:ext cx="411480" cy="91"/>
          </a:xfrm>
          <a:prstGeom prst="line">
            <a:avLst/>
          </a:prstGeom>
          <a:noFill/>
          <a:ln w="19050">
            <a:solidFill>
              <a:srgbClr val="6A3FA0"/>
            </a:solidFill>
            <a:prstDash val="solid"/>
          </a:ln>
        </p:spPr>
      </p:sp>
      <p:sp>
        <p:nvSpPr>
          <p:cNvPr id="17" name="Shape 15"/>
          <p:cNvSpPr/>
          <p:nvPr/>
        </p:nvSpPr>
        <p:spPr>
          <a:xfrm>
            <a:off x="1325880" y="2761488"/>
            <a:ext cx="5120640" cy="566928"/>
          </a:xfrm>
          <a:prstGeom prst="roundRect">
            <a:avLst>
              <a:gd name="adj" fmla="val 8065"/>
            </a:avLst>
          </a:prstGeom>
          <a:solidFill>
            <a:srgbClr val="F8F5FC"/>
          </a:solidFill>
          <a:ln w="12700">
            <a:solidFill>
              <a:srgbClr val="DDD3EC"/>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C5.1.3   </a:t>
            </a:r>
            <a:r>
              <a:rPr lang="en-US" sz="1100" dirty="0">
                <a:solidFill>
                  <a:srgbClr val="262B3A"/>
                </a:solidFill>
                <a:latin typeface="Calibri" pitchFamily="34" charset="0"/>
                <a:ea typeface="Calibri" pitchFamily="34" charset="-122"/>
                <a:cs typeface="Calibri" pitchFamily="34" charset="-120"/>
              </a:rPr>
              <a:t>Melting point as a test for purity</a:t>
            </a:r>
            <a:endParaRPr lang="en-US" sz="1100" dirty="0"/>
          </a:p>
        </p:txBody>
      </p:sp>
      <p:sp>
        <p:nvSpPr>
          <p:cNvPr id="19" name="Shape 17"/>
          <p:cNvSpPr/>
          <p:nvPr/>
        </p:nvSpPr>
        <p:spPr>
          <a:xfrm>
            <a:off x="5257800" y="2907792"/>
            <a:ext cx="1097280" cy="274320"/>
          </a:xfrm>
          <a:prstGeom prst="roundRect">
            <a:avLst>
              <a:gd name="adj" fmla="val 50000"/>
            </a:avLst>
          </a:prstGeom>
          <a:solidFill>
            <a:srgbClr val="6A3FA0"/>
          </a:solidFill>
          <a:ln w="12700">
            <a:solidFill>
              <a:srgbClr val="6A3FA0"/>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703320"/>
            <a:ext cx="411480" cy="91"/>
          </a:xfrm>
          <a:prstGeom prst="line">
            <a:avLst/>
          </a:prstGeom>
          <a:noFill/>
          <a:ln w="19050">
            <a:solidFill>
              <a:srgbClr val="6A3FA0"/>
            </a:solidFill>
            <a:prstDash val="solid"/>
          </a:ln>
        </p:spPr>
      </p:sp>
      <p:sp>
        <p:nvSpPr>
          <p:cNvPr id="22" name="Shape 20"/>
          <p:cNvSpPr/>
          <p:nvPr/>
        </p:nvSpPr>
        <p:spPr>
          <a:xfrm>
            <a:off x="1325880" y="3419856"/>
            <a:ext cx="5120640" cy="566928"/>
          </a:xfrm>
          <a:prstGeom prst="roundRect">
            <a:avLst>
              <a:gd name="adj" fmla="val 8065"/>
            </a:avLst>
          </a:prstGeom>
          <a:solidFill>
            <a:srgbClr val="F8F5FC"/>
          </a:solidFill>
          <a:ln w="12700">
            <a:solidFill>
              <a:srgbClr val="DDD3EC"/>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C5.1.4–6   </a:t>
            </a:r>
            <a:r>
              <a:rPr lang="en-US" sz="1100" dirty="0">
                <a:solidFill>
                  <a:srgbClr val="262B3A"/>
                </a:solidFill>
                <a:latin typeface="Calibri" pitchFamily="34" charset="0"/>
                <a:ea typeface="Calibri" pitchFamily="34" charset="-122"/>
                <a:cs typeface="Calibri" pitchFamily="34" charset="-120"/>
              </a:rPr>
              <a:t>Chromatography, Rf values, locating agents</a:t>
            </a:r>
            <a:endParaRPr lang="en-US" sz="1100" dirty="0"/>
          </a:p>
        </p:txBody>
      </p:sp>
      <p:sp>
        <p:nvSpPr>
          <p:cNvPr id="24" name="Shape 22"/>
          <p:cNvSpPr/>
          <p:nvPr/>
        </p:nvSpPr>
        <p:spPr>
          <a:xfrm>
            <a:off x="5257800" y="3566160"/>
            <a:ext cx="1097280" cy="274320"/>
          </a:xfrm>
          <a:prstGeom prst="roundRect">
            <a:avLst>
              <a:gd name="adj" fmla="val 50000"/>
            </a:avLst>
          </a:prstGeom>
          <a:solidFill>
            <a:srgbClr val="6A3FA0"/>
          </a:solidFill>
          <a:ln w="12700">
            <a:solidFill>
              <a:srgbClr val="6A3FA0"/>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6" name="Shape 24"/>
          <p:cNvSpPr/>
          <p:nvPr/>
        </p:nvSpPr>
        <p:spPr>
          <a:xfrm>
            <a:off x="914400" y="4361688"/>
            <a:ext cx="411480" cy="91"/>
          </a:xfrm>
          <a:prstGeom prst="line">
            <a:avLst/>
          </a:prstGeom>
          <a:noFill/>
          <a:ln w="19050">
            <a:solidFill>
              <a:srgbClr val="6A3FA0"/>
            </a:solidFill>
            <a:prstDash val="solid"/>
          </a:ln>
        </p:spPr>
      </p:sp>
      <p:sp>
        <p:nvSpPr>
          <p:cNvPr id="27" name="Shape 25"/>
          <p:cNvSpPr/>
          <p:nvPr/>
        </p:nvSpPr>
        <p:spPr>
          <a:xfrm>
            <a:off x="1325880" y="4078224"/>
            <a:ext cx="5120640" cy="566928"/>
          </a:xfrm>
          <a:prstGeom prst="roundRect">
            <a:avLst>
              <a:gd name="adj" fmla="val 8065"/>
            </a:avLst>
          </a:prstGeom>
          <a:solidFill>
            <a:srgbClr val="F8F5FC"/>
          </a:solidFill>
          <a:ln w="12700">
            <a:solidFill>
              <a:srgbClr val="DDD3EC"/>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PAG C3   </a:t>
            </a:r>
            <a:r>
              <a:rPr lang="en-US" sz="1100" dirty="0">
                <a:solidFill>
                  <a:srgbClr val="262B3A"/>
                </a:solidFill>
                <a:latin typeface="Calibri" pitchFamily="34" charset="0"/>
                <a:ea typeface="Calibri" pitchFamily="34" charset="-122"/>
                <a:cs typeface="Calibri" pitchFamily="34" charset="-120"/>
              </a:rPr>
              <a:t>Paper chromatography of dyes</a:t>
            </a:r>
            <a:endParaRPr lang="en-US" sz="1100" dirty="0"/>
          </a:p>
        </p:txBody>
      </p:sp>
      <p:sp>
        <p:nvSpPr>
          <p:cNvPr id="29" name="Shape 27"/>
          <p:cNvSpPr/>
          <p:nvPr/>
        </p:nvSpPr>
        <p:spPr>
          <a:xfrm>
            <a:off x="5257800" y="4224528"/>
            <a:ext cx="1097280" cy="274320"/>
          </a:xfrm>
          <a:prstGeom prst="roundRect">
            <a:avLst>
              <a:gd name="adj" fmla="val 50000"/>
            </a:avLst>
          </a:prstGeom>
          <a:solidFill>
            <a:srgbClr val="B8730A"/>
          </a:solidFill>
          <a:ln w="12700">
            <a:solidFill>
              <a:srgbClr val="B8730A"/>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31" name="Shape 29"/>
          <p:cNvSpPr/>
          <p:nvPr/>
        </p:nvSpPr>
        <p:spPr>
          <a:xfrm>
            <a:off x="914400" y="5020056"/>
            <a:ext cx="411480" cy="91"/>
          </a:xfrm>
          <a:prstGeom prst="line">
            <a:avLst/>
          </a:prstGeom>
          <a:noFill/>
          <a:ln w="19050">
            <a:solidFill>
              <a:srgbClr val="6A3FA0"/>
            </a:solidFill>
            <a:prstDash val="solid"/>
          </a:ln>
        </p:spPr>
      </p:sp>
      <p:sp>
        <p:nvSpPr>
          <p:cNvPr id="32" name="Shape 30"/>
          <p:cNvSpPr/>
          <p:nvPr/>
        </p:nvSpPr>
        <p:spPr>
          <a:xfrm>
            <a:off x="1325880" y="4736592"/>
            <a:ext cx="5120640" cy="566928"/>
          </a:xfrm>
          <a:prstGeom prst="roundRect">
            <a:avLst>
              <a:gd name="adj" fmla="val 8065"/>
            </a:avLst>
          </a:prstGeom>
          <a:solidFill>
            <a:srgbClr val="F8F5FC"/>
          </a:solidFill>
          <a:ln w="12700">
            <a:solidFill>
              <a:srgbClr val="DDD3EC"/>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C5.1.7   </a:t>
            </a:r>
            <a:r>
              <a:rPr lang="en-US" sz="1100" dirty="0">
                <a:solidFill>
                  <a:srgbClr val="262B3A"/>
                </a:solidFill>
                <a:latin typeface="Calibri" pitchFamily="34" charset="0"/>
                <a:ea typeface="Calibri" pitchFamily="34" charset="-122"/>
                <a:cs typeface="Calibri" pitchFamily="34" charset="-120"/>
              </a:rPr>
              <a:t>Filtration, crystallisation, distillation</a:t>
            </a:r>
            <a:endParaRPr lang="en-US" sz="1100" dirty="0"/>
          </a:p>
        </p:txBody>
      </p:sp>
      <p:sp>
        <p:nvSpPr>
          <p:cNvPr id="34" name="Shape 32"/>
          <p:cNvSpPr/>
          <p:nvPr/>
        </p:nvSpPr>
        <p:spPr>
          <a:xfrm>
            <a:off x="5257800" y="4882896"/>
            <a:ext cx="1097280" cy="274320"/>
          </a:xfrm>
          <a:prstGeom prst="roundRect">
            <a:avLst>
              <a:gd name="adj" fmla="val 50000"/>
            </a:avLst>
          </a:prstGeom>
          <a:solidFill>
            <a:srgbClr val="6A3FA0"/>
          </a:solidFill>
          <a:ln w="12700">
            <a:solidFill>
              <a:srgbClr val="6A3FA0"/>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6" name="Shape 34"/>
          <p:cNvSpPr/>
          <p:nvPr/>
        </p:nvSpPr>
        <p:spPr>
          <a:xfrm>
            <a:off x="914400" y="5678424"/>
            <a:ext cx="411480" cy="91"/>
          </a:xfrm>
          <a:prstGeom prst="line">
            <a:avLst/>
          </a:prstGeom>
          <a:noFill/>
          <a:ln w="19050">
            <a:solidFill>
              <a:srgbClr val="6A3FA0"/>
            </a:solidFill>
            <a:prstDash val="solid"/>
          </a:ln>
        </p:spPr>
      </p:sp>
      <p:sp>
        <p:nvSpPr>
          <p:cNvPr id="37" name="Shape 35"/>
          <p:cNvSpPr/>
          <p:nvPr/>
        </p:nvSpPr>
        <p:spPr>
          <a:xfrm>
            <a:off x="1325880" y="5394960"/>
            <a:ext cx="5120640" cy="566928"/>
          </a:xfrm>
          <a:prstGeom prst="roundRect">
            <a:avLst>
              <a:gd name="adj" fmla="val 8065"/>
            </a:avLst>
          </a:prstGeom>
          <a:solidFill>
            <a:srgbClr val="F8F5FC"/>
          </a:solidFill>
          <a:ln w="12700">
            <a:solidFill>
              <a:srgbClr val="DDD3EC"/>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C5.1.8   </a:t>
            </a:r>
            <a:r>
              <a:rPr lang="en-US" sz="1100" dirty="0">
                <a:solidFill>
                  <a:srgbClr val="262B3A"/>
                </a:solidFill>
                <a:latin typeface="Calibri" pitchFamily="34" charset="0"/>
                <a:ea typeface="Calibri" pitchFamily="34" charset="-122"/>
                <a:cs typeface="Calibri" pitchFamily="34" charset="-120"/>
              </a:rPr>
              <a:t>Choosing a purification method (PAG C2, C4)</a:t>
            </a:r>
            <a:endParaRPr lang="en-US" sz="1100" dirty="0"/>
          </a:p>
        </p:txBody>
      </p:sp>
      <p:sp>
        <p:nvSpPr>
          <p:cNvPr id="39" name="Shape 37"/>
          <p:cNvSpPr/>
          <p:nvPr/>
        </p:nvSpPr>
        <p:spPr>
          <a:xfrm>
            <a:off x="5257800" y="5541264"/>
            <a:ext cx="1097280" cy="274320"/>
          </a:xfrm>
          <a:prstGeom prst="roundRect">
            <a:avLst>
              <a:gd name="adj" fmla="val 50000"/>
            </a:avLst>
          </a:prstGeom>
          <a:solidFill>
            <a:srgbClr val="B8730A"/>
          </a:solidFill>
          <a:ln w="12700">
            <a:solidFill>
              <a:srgbClr val="B8730A"/>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C1 potable water • C2 particles, elements, compounds • C4.2 bonding and melting points</a:t>
            </a:r>
            <a:endParaRPr lang="en-US" sz="1050" dirty="0"/>
          </a:p>
        </p:txBody>
      </p:sp>
      <p:sp>
        <p:nvSpPr>
          <p:cNvPr id="42" name="Shape 40"/>
          <p:cNvSpPr/>
          <p:nvPr/>
        </p:nvSpPr>
        <p:spPr>
          <a:xfrm>
            <a:off x="6720840" y="1234440"/>
            <a:ext cx="5056632" cy="2514600"/>
          </a:xfrm>
          <a:prstGeom prst="roundRect">
            <a:avLst>
              <a:gd name="adj" fmla="val 2182"/>
            </a:avLst>
          </a:prstGeom>
          <a:solidFill>
            <a:srgbClr val="2E1A47"/>
          </a:solidFill>
          <a:ln/>
        </p:spPr>
      </p:sp>
      <p:sp>
        <p:nvSpPr>
          <p:cNvPr id="43" name="Text 41"/>
          <p:cNvSpPr/>
          <p:nvPr/>
        </p:nvSpPr>
        <p:spPr>
          <a:xfrm>
            <a:off x="6903720" y="1325880"/>
            <a:ext cx="4709160" cy="23317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C5 in J260</a:t>
            </a:r>
            <a:endParaRPr lang="en-US" sz="1500" dirty="0"/>
          </a:p>
          <a:p>
            <a:pPr marL="152400" indent="-152400">
              <a:spcAft>
                <a:spcPts val="200"/>
              </a:spcAft>
              <a:buSzPct val="100000"/>
              <a:buChar char="▪"/>
            </a:pPr>
            <a:r>
              <a:rPr lang="en-US" sz="1100" b="1" dirty="0">
                <a:solidFill>
                  <a:srgbClr val="E9E0F7"/>
                </a:solidFill>
                <a:latin typeface="Calibri" pitchFamily="34" charset="0"/>
                <a:ea typeface="Calibri" pitchFamily="34" charset="-122"/>
                <a:cs typeface="Calibri" pitchFamily="34" charset="-120"/>
              </a:rPr>
              <a:t>C5.1 How are chemicals separated and tested for purity?</a:t>
            </a:r>
            <a:r>
              <a:rPr lang="en-US" sz="1100" dirty="0">
                <a:solidFill>
                  <a:srgbClr val="E9E0F7"/>
                </a:solidFill>
                <a:latin typeface="Calibri" pitchFamily="34" charset="0"/>
                <a:ea typeface="Calibri" pitchFamily="34" charset="-122"/>
                <a:cs typeface="Calibri" pitchFamily="34" charset="-120"/>
              </a:rPr>
              <a:t> (this deck)</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C5.2 How are the amounts of substances in reactions calculated?</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C5.3 How are the amounts of chemicals in solution measured?</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J258 (separate) has an extra C5.2 on finding the composition of unknown samples, so J260 numbers the later sub-topics one lower.</a:t>
            </a:r>
            <a:endParaRPr lang="en-US" sz="1500" dirty="0"/>
          </a:p>
        </p:txBody>
      </p:sp>
      <p:sp>
        <p:nvSpPr>
          <p:cNvPr id="44" name="Shape 42"/>
          <p:cNvSpPr/>
          <p:nvPr/>
        </p:nvSpPr>
        <p:spPr>
          <a:xfrm>
            <a:off x="6720840" y="3886200"/>
            <a:ext cx="5056632" cy="2377440"/>
          </a:xfrm>
          <a:prstGeom prst="roundRect">
            <a:avLst>
              <a:gd name="adj" fmla="val 2308"/>
            </a:avLst>
          </a:prstGeom>
          <a:solidFill>
            <a:srgbClr val="FFF4E0"/>
          </a:solidFill>
          <a:ln w="12700">
            <a:solidFill>
              <a:srgbClr val="F1D9A8"/>
            </a:solidFill>
            <a:prstDash val="solid"/>
          </a:ln>
        </p:spPr>
      </p:sp>
      <p:sp>
        <p:nvSpPr>
          <p:cNvPr id="45" name="Text 43"/>
          <p:cNvSpPr/>
          <p:nvPr/>
        </p:nvSpPr>
        <p:spPr>
          <a:xfrm>
            <a:off x="6903720" y="3977640"/>
            <a:ext cx="4709160" cy="219456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No C5.1 statement is Higher-only, so </a:t>
            </a:r>
            <a:r>
              <a:rPr lang="en-US" sz="1100" b="1" dirty="0">
                <a:solidFill>
                  <a:srgbClr val="262B3A"/>
                </a:solidFill>
                <a:latin typeface="Calibri" pitchFamily="34" charset="0"/>
                <a:ea typeface="Calibri" pitchFamily="34" charset="-122"/>
                <a:cs typeface="Calibri" pitchFamily="34" charset="-120"/>
              </a:rPr>
              <a:t>everything</a:t>
            </a:r>
            <a:r>
              <a:rPr lang="en-US" sz="1100" dirty="0">
                <a:solidFill>
                  <a:srgbClr val="262B3A"/>
                </a:solidFill>
                <a:latin typeface="Calibri" pitchFamily="34" charset="0"/>
                <a:ea typeface="Calibri" pitchFamily="34" charset="-122"/>
                <a:cs typeface="Calibri" pitchFamily="34" charset="-120"/>
              </a:rPr>
              <a:t> here is for both tiers.</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Practicals: </a:t>
            </a:r>
            <a:r>
              <a:rPr lang="en-US" sz="1100" b="1" dirty="0">
                <a:solidFill>
                  <a:srgbClr val="262B3A"/>
                </a:solidFill>
                <a:latin typeface="Calibri" pitchFamily="34" charset="0"/>
                <a:ea typeface="Calibri" pitchFamily="34" charset="-122"/>
                <a:cs typeface="Calibri" pitchFamily="34" charset="-120"/>
              </a:rPr>
              <a:t>PAG C3</a:t>
            </a:r>
            <a:r>
              <a:rPr lang="en-US" sz="1100" dirty="0">
                <a:solidFill>
                  <a:srgbClr val="262B3A"/>
                </a:solidFill>
                <a:latin typeface="Calibri" pitchFamily="34" charset="0"/>
                <a:ea typeface="Calibri" pitchFamily="34" charset="-122"/>
                <a:cs typeface="Calibri" pitchFamily="34" charset="-120"/>
              </a:rPr>
              <a:t> separation techniques, </a:t>
            </a:r>
            <a:r>
              <a:rPr lang="en-US" sz="1100" b="1" dirty="0">
                <a:solidFill>
                  <a:srgbClr val="262B3A"/>
                </a:solidFill>
                <a:latin typeface="Calibri" pitchFamily="34" charset="0"/>
                <a:ea typeface="Calibri" pitchFamily="34" charset="-122"/>
                <a:cs typeface="Calibri" pitchFamily="34" charset="-120"/>
              </a:rPr>
              <a:t>PAG C2</a:t>
            </a:r>
            <a:r>
              <a:rPr lang="en-US" sz="1100" dirty="0">
                <a:solidFill>
                  <a:srgbClr val="262B3A"/>
                </a:solidFill>
                <a:latin typeface="Calibri" pitchFamily="34" charset="0"/>
                <a:ea typeface="Calibri" pitchFamily="34" charset="-122"/>
                <a:cs typeface="Calibri" pitchFamily="34" charset="-120"/>
              </a:rPr>
              <a:t> distillation, </a:t>
            </a:r>
            <a:r>
              <a:rPr lang="en-US" sz="1100" b="1" dirty="0">
                <a:solidFill>
                  <a:srgbClr val="262B3A"/>
                </a:solidFill>
                <a:latin typeface="Calibri" pitchFamily="34" charset="0"/>
                <a:ea typeface="Calibri" pitchFamily="34" charset="-122"/>
                <a:cs typeface="Calibri" pitchFamily="34" charset="-120"/>
              </a:rPr>
              <a:t>PAG C4</a:t>
            </a:r>
            <a:r>
              <a:rPr lang="en-US" sz="1100" dirty="0">
                <a:solidFill>
                  <a:srgbClr val="262B3A"/>
                </a:solidFill>
                <a:latin typeface="Calibri" pitchFamily="34" charset="0"/>
                <a:ea typeface="Calibri" pitchFamily="34" charset="-122"/>
                <a:cs typeface="Calibri" pitchFamily="34" charset="-120"/>
              </a:rPr>
              <a:t> production of salts.</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Maths: </a:t>
            </a:r>
            <a:r>
              <a:rPr lang="en-US" sz="1100" b="1" dirty="0">
                <a:solidFill>
                  <a:srgbClr val="262B3A"/>
                </a:solidFill>
                <a:latin typeface="Calibri" pitchFamily="34" charset="0"/>
                <a:ea typeface="Calibri" pitchFamily="34" charset="-122"/>
                <a:cs typeface="Calibri" pitchFamily="34" charset="-120"/>
              </a:rPr>
              <a:t>Rf</a:t>
            </a:r>
            <a:r>
              <a:rPr lang="en-US" sz="1100" dirty="0">
                <a:solidFill>
                  <a:srgbClr val="262B3A"/>
                </a:solidFill>
                <a:latin typeface="Calibri" pitchFamily="34" charset="0"/>
                <a:ea typeface="Calibri" pitchFamily="34" charset="-122"/>
                <a:cs typeface="Calibri" pitchFamily="34" charset="-120"/>
              </a:rPr>
              <a:t> ratios, </a:t>
            </a:r>
            <a:r>
              <a:rPr lang="en-US" sz="1100" b="1" dirty="0">
                <a:solidFill>
                  <a:srgbClr val="262B3A"/>
                </a:solidFill>
                <a:latin typeface="Calibri" pitchFamily="34" charset="0"/>
                <a:ea typeface="Calibri" pitchFamily="34" charset="-122"/>
                <a:cs typeface="Calibri" pitchFamily="34" charset="-120"/>
              </a:rPr>
              <a:t>percentages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gradients</a:t>
            </a:r>
            <a:r>
              <a:rPr lang="en-US" sz="1100" dirty="0">
                <a:solidFill>
                  <a:srgbClr val="262B3A"/>
                </a:solidFill>
                <a:latin typeface="Calibri" pitchFamily="34" charset="0"/>
                <a:ea typeface="Calibri" pitchFamily="34" charset="-122"/>
                <a:cs typeface="Calibri" pitchFamily="34" charset="-120"/>
              </a:rPr>
              <a:t>, reading and plotting </a:t>
            </a:r>
            <a:r>
              <a:rPr lang="en-US" sz="1100" b="1" dirty="0">
                <a:solidFill>
                  <a:srgbClr val="262B3A"/>
                </a:solidFill>
                <a:latin typeface="Calibri" pitchFamily="34" charset="0"/>
                <a:ea typeface="Calibri" pitchFamily="34" charset="-122"/>
                <a:cs typeface="Calibri" pitchFamily="34" charset="-120"/>
              </a:rPr>
              <a:t>graphs</a:t>
            </a:r>
            <a:r>
              <a:rPr lang="en-US" sz="1100" dirty="0">
                <a:solidFill>
                  <a:srgbClr val="262B3A"/>
                </a:solidFill>
                <a:latin typeface="Calibri" pitchFamily="34" charset="0"/>
                <a:ea typeface="Calibri" pitchFamily="34" charset="-122"/>
                <a:cs typeface="Calibri" pitchFamily="34" charset="-120"/>
              </a:rPr>
              <a:t> to scale.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Recall from C1, C2 and C4 • 6 minutes • no notes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8F5FC"/>
          </a:solidFill>
          <a:ln w="9525">
            <a:solidFill>
              <a:srgbClr val="DDD3EC"/>
            </a:solidFill>
            <a:prstDash val="solid"/>
          </a:ln>
        </p:spPr>
      </p:sp>
      <p:sp>
        <p:nvSpPr>
          <p:cNvPr id="9" name="Shape 7"/>
          <p:cNvSpPr/>
          <p:nvPr/>
        </p:nvSpPr>
        <p:spPr>
          <a:xfrm>
            <a:off x="548640" y="1371600"/>
            <a:ext cx="438912" cy="438912"/>
          </a:xfrm>
          <a:prstGeom prst="ellipse">
            <a:avLst/>
          </a:prstGeom>
          <a:solidFill>
            <a:srgbClr val="6A3FA0"/>
          </a:solidFill>
          <a:ln w="12700">
            <a:solidFill>
              <a:srgbClr val="6A3FA0"/>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C1 • potable water</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stages used to treat water so that it is </a:t>
            </a:r>
            <a:r>
              <a:rPr lang="en-US" sz="1250" b="1" dirty="0">
                <a:solidFill>
                  <a:srgbClr val="262B3A"/>
                </a:solidFill>
                <a:latin typeface="Calibri" pitchFamily="34" charset="0"/>
                <a:ea typeface="Calibri" pitchFamily="34" charset="-122"/>
                <a:cs typeface="Calibri" pitchFamily="34" charset="-120"/>
              </a:rPr>
              <a:t>potable</a:t>
            </a:r>
            <a:r>
              <a:rPr lang="en-US" sz="1250" dirty="0">
                <a:solidFill>
                  <a:srgbClr val="262B3A"/>
                </a:solidFill>
                <a:latin typeface="Calibri" pitchFamily="34" charset="0"/>
                <a:ea typeface="Calibri" pitchFamily="34" charset="-122"/>
                <a:cs typeface="Calibri" pitchFamily="34" charset="-120"/>
              </a:rPr>
              <a:t> (safe to drink).</a:t>
            </a:r>
            <a:endParaRPr lang="en-US" sz="1250" dirty="0"/>
          </a:p>
        </p:txBody>
      </p:sp>
      <p:sp>
        <p:nvSpPr>
          <p:cNvPr id="13" name="Shape 11"/>
          <p:cNvSpPr/>
          <p:nvPr/>
        </p:nvSpPr>
        <p:spPr>
          <a:xfrm>
            <a:off x="4251960" y="1234440"/>
            <a:ext cx="3657600" cy="2011680"/>
          </a:xfrm>
          <a:prstGeom prst="roundRect">
            <a:avLst>
              <a:gd name="adj" fmla="val 2727"/>
            </a:avLst>
          </a:prstGeom>
          <a:solidFill>
            <a:srgbClr val="F8F5FC"/>
          </a:solidFill>
          <a:ln w="9525">
            <a:solidFill>
              <a:srgbClr val="DDD3EC"/>
            </a:solidFill>
            <a:prstDash val="solid"/>
          </a:ln>
        </p:spPr>
      </p:sp>
      <p:sp>
        <p:nvSpPr>
          <p:cNvPr id="14" name="Shape 12"/>
          <p:cNvSpPr/>
          <p:nvPr/>
        </p:nvSpPr>
        <p:spPr>
          <a:xfrm>
            <a:off x="4389120" y="1371600"/>
            <a:ext cx="438912" cy="438912"/>
          </a:xfrm>
          <a:prstGeom prst="ellipse">
            <a:avLst/>
          </a:prstGeom>
          <a:solidFill>
            <a:srgbClr val="6A3FA0"/>
          </a:solidFill>
          <a:ln w="12700">
            <a:solidFill>
              <a:srgbClr val="6A3FA0"/>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C2 • particles</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change of state from </a:t>
            </a:r>
            <a:r>
              <a:rPr lang="en-US" sz="1250" b="1" dirty="0">
                <a:solidFill>
                  <a:srgbClr val="262B3A"/>
                </a:solidFill>
                <a:latin typeface="Calibri" pitchFamily="34" charset="0"/>
                <a:ea typeface="Calibri" pitchFamily="34" charset="-122"/>
                <a:cs typeface="Calibri" pitchFamily="34" charset="-120"/>
              </a:rPr>
              <a:t>liquid to gas</a:t>
            </a:r>
            <a:r>
              <a:rPr lang="en-US" sz="1250" dirty="0">
                <a:solidFill>
                  <a:srgbClr val="262B3A"/>
                </a:solidFill>
                <a:latin typeface="Calibri" pitchFamily="34" charset="0"/>
                <a:ea typeface="Calibri" pitchFamily="34" charset="-122"/>
                <a:cs typeface="Calibri" pitchFamily="34" charset="-120"/>
              </a:rPr>
              <a:t>. What happens to the forces between the particles?</a:t>
            </a:r>
            <a:endParaRPr lang="en-US" sz="1250" dirty="0"/>
          </a:p>
        </p:txBody>
      </p:sp>
      <p:sp>
        <p:nvSpPr>
          <p:cNvPr id="18" name="Shape 16"/>
          <p:cNvSpPr/>
          <p:nvPr/>
        </p:nvSpPr>
        <p:spPr>
          <a:xfrm>
            <a:off x="8092440" y="1234440"/>
            <a:ext cx="3657600" cy="2011680"/>
          </a:xfrm>
          <a:prstGeom prst="roundRect">
            <a:avLst>
              <a:gd name="adj" fmla="val 2727"/>
            </a:avLst>
          </a:prstGeom>
          <a:solidFill>
            <a:srgbClr val="F8F5FC"/>
          </a:solidFill>
          <a:ln w="9525">
            <a:solidFill>
              <a:srgbClr val="DDD3EC"/>
            </a:solidFill>
            <a:prstDash val="solid"/>
          </a:ln>
        </p:spPr>
      </p:sp>
      <p:sp>
        <p:nvSpPr>
          <p:cNvPr id="19" name="Shape 17"/>
          <p:cNvSpPr/>
          <p:nvPr/>
        </p:nvSpPr>
        <p:spPr>
          <a:xfrm>
            <a:off x="8229600" y="1371600"/>
            <a:ext cx="438912" cy="438912"/>
          </a:xfrm>
          <a:prstGeom prst="ellipse">
            <a:avLst/>
          </a:prstGeom>
          <a:solidFill>
            <a:srgbClr val="6A3FA0"/>
          </a:solidFill>
          <a:ln w="12700">
            <a:solidFill>
              <a:srgbClr val="6A3FA0"/>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C2 • elements and compounds</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the difference between an </a:t>
            </a:r>
            <a:r>
              <a:rPr lang="en-US" sz="1250" b="1" dirty="0">
                <a:solidFill>
                  <a:srgbClr val="262B3A"/>
                </a:solidFill>
                <a:latin typeface="Calibri" pitchFamily="34" charset="0"/>
                <a:ea typeface="Calibri" pitchFamily="34" charset="-122"/>
                <a:cs typeface="Calibri" pitchFamily="34" charset="-120"/>
              </a:rPr>
              <a:t>element</a:t>
            </a:r>
            <a:r>
              <a:rPr lang="en-US" sz="1250" dirty="0">
                <a:solidFill>
                  <a:srgbClr val="262B3A"/>
                </a:solidFill>
                <a:latin typeface="Calibri" pitchFamily="34" charset="0"/>
                <a:ea typeface="Calibri" pitchFamily="34" charset="-122"/>
                <a:cs typeface="Calibri" pitchFamily="34" charset="-120"/>
              </a:rPr>
              <a:t> and a </a:t>
            </a:r>
            <a:r>
              <a:rPr lang="en-US" sz="1250" b="1" dirty="0">
                <a:solidFill>
                  <a:srgbClr val="262B3A"/>
                </a:solidFill>
                <a:latin typeface="Calibri" pitchFamily="34" charset="0"/>
                <a:ea typeface="Calibri" pitchFamily="34" charset="-122"/>
                <a:cs typeface="Calibri" pitchFamily="34" charset="-120"/>
              </a:rPr>
              <a:t>compound</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3" name="Shape 21"/>
          <p:cNvSpPr/>
          <p:nvPr/>
        </p:nvSpPr>
        <p:spPr>
          <a:xfrm>
            <a:off x="411480" y="3429000"/>
            <a:ext cx="3657600" cy="2011680"/>
          </a:xfrm>
          <a:prstGeom prst="roundRect">
            <a:avLst>
              <a:gd name="adj" fmla="val 2727"/>
            </a:avLst>
          </a:prstGeom>
          <a:solidFill>
            <a:srgbClr val="F8F5FC"/>
          </a:solidFill>
          <a:ln w="9525">
            <a:solidFill>
              <a:srgbClr val="DDD3EC"/>
            </a:solidFill>
            <a:prstDash val="solid"/>
          </a:ln>
        </p:spPr>
      </p:sp>
      <p:sp>
        <p:nvSpPr>
          <p:cNvPr id="24" name="Shape 22"/>
          <p:cNvSpPr/>
          <p:nvPr/>
        </p:nvSpPr>
        <p:spPr>
          <a:xfrm>
            <a:off x="548640" y="3566160"/>
            <a:ext cx="438912" cy="438912"/>
          </a:xfrm>
          <a:prstGeom prst="ellipse">
            <a:avLst/>
          </a:prstGeom>
          <a:solidFill>
            <a:srgbClr val="6A3FA0"/>
          </a:solidFill>
          <a:ln w="12700">
            <a:solidFill>
              <a:srgbClr val="6A3FA0"/>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C2 • formulae</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Write the formulae of </a:t>
            </a:r>
            <a:r>
              <a:rPr lang="en-US" sz="1250" b="1" dirty="0">
                <a:solidFill>
                  <a:srgbClr val="262B3A"/>
                </a:solidFill>
                <a:latin typeface="Calibri" pitchFamily="34" charset="0"/>
                <a:ea typeface="Calibri" pitchFamily="34" charset="-122"/>
                <a:cs typeface="Calibri" pitchFamily="34" charset="-120"/>
              </a:rPr>
              <a:t>sodium chloride</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copper(II) sulfate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8" name="Shape 26"/>
          <p:cNvSpPr/>
          <p:nvPr/>
        </p:nvSpPr>
        <p:spPr>
          <a:xfrm>
            <a:off x="4251960" y="3429000"/>
            <a:ext cx="3657600" cy="2011680"/>
          </a:xfrm>
          <a:prstGeom prst="roundRect">
            <a:avLst>
              <a:gd name="adj" fmla="val 2727"/>
            </a:avLst>
          </a:prstGeom>
          <a:solidFill>
            <a:srgbClr val="F8F5FC"/>
          </a:solidFill>
          <a:ln w="9525">
            <a:solidFill>
              <a:srgbClr val="DDD3EC"/>
            </a:solidFill>
            <a:prstDash val="solid"/>
          </a:ln>
        </p:spPr>
      </p:sp>
      <p:sp>
        <p:nvSpPr>
          <p:cNvPr id="29" name="Shape 27"/>
          <p:cNvSpPr/>
          <p:nvPr/>
        </p:nvSpPr>
        <p:spPr>
          <a:xfrm>
            <a:off x="4389120" y="3566160"/>
            <a:ext cx="438912" cy="438912"/>
          </a:xfrm>
          <a:prstGeom prst="ellipse">
            <a:avLst/>
          </a:prstGeom>
          <a:solidFill>
            <a:srgbClr val="6A3FA0"/>
          </a:solidFill>
          <a:ln w="12700">
            <a:solidFill>
              <a:srgbClr val="6A3FA0"/>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C4.2 • bonding</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t>
            </a:r>
            <a:r>
              <a:rPr lang="en-US" sz="1250" b="1" dirty="0">
                <a:solidFill>
                  <a:srgbClr val="262B3A"/>
                </a:solidFill>
                <a:latin typeface="Calibri" pitchFamily="34" charset="0"/>
                <a:ea typeface="Calibri" pitchFamily="34" charset="-122"/>
                <a:cs typeface="Calibri" pitchFamily="34" charset="-120"/>
              </a:rPr>
              <a:t>sodium chloride</a:t>
            </a:r>
            <a:r>
              <a:rPr lang="en-US" sz="1250" dirty="0">
                <a:solidFill>
                  <a:srgbClr val="262B3A"/>
                </a:solidFill>
                <a:latin typeface="Calibri" pitchFamily="34" charset="0"/>
                <a:ea typeface="Calibri" pitchFamily="34" charset="-122"/>
                <a:cs typeface="Calibri" pitchFamily="34" charset="-120"/>
              </a:rPr>
              <a:t> has a </a:t>
            </a:r>
            <a:r>
              <a:rPr lang="en-US" sz="1250" b="1" dirty="0">
                <a:solidFill>
                  <a:srgbClr val="262B3A"/>
                </a:solidFill>
                <a:latin typeface="Calibri" pitchFamily="34" charset="0"/>
                <a:ea typeface="Calibri" pitchFamily="34" charset="-122"/>
                <a:cs typeface="Calibri" pitchFamily="34" charset="-120"/>
              </a:rPr>
              <a:t>high</a:t>
            </a:r>
            <a:r>
              <a:rPr lang="en-US" sz="1250" dirty="0">
                <a:solidFill>
                  <a:srgbClr val="262B3A"/>
                </a:solidFill>
                <a:latin typeface="Calibri" pitchFamily="34" charset="0"/>
                <a:ea typeface="Calibri" pitchFamily="34" charset="-122"/>
                <a:cs typeface="Calibri" pitchFamily="34" charset="-120"/>
              </a:rPr>
              <a:t> melting point.</a:t>
            </a:r>
            <a:endParaRPr lang="en-US" sz="1250" dirty="0"/>
          </a:p>
        </p:txBody>
      </p:sp>
      <p:sp>
        <p:nvSpPr>
          <p:cNvPr id="33" name="Shape 31"/>
          <p:cNvSpPr/>
          <p:nvPr/>
        </p:nvSpPr>
        <p:spPr>
          <a:xfrm>
            <a:off x="8092440" y="3429000"/>
            <a:ext cx="3657600" cy="2011680"/>
          </a:xfrm>
          <a:prstGeom prst="roundRect">
            <a:avLst>
              <a:gd name="adj" fmla="val 2727"/>
            </a:avLst>
          </a:prstGeom>
          <a:solidFill>
            <a:srgbClr val="F8F5FC"/>
          </a:solidFill>
          <a:ln w="9525">
            <a:solidFill>
              <a:srgbClr val="DDD3EC"/>
            </a:solidFill>
            <a:prstDash val="solid"/>
          </a:ln>
        </p:spPr>
      </p:sp>
      <p:sp>
        <p:nvSpPr>
          <p:cNvPr id="34" name="Shape 32"/>
          <p:cNvSpPr/>
          <p:nvPr/>
        </p:nvSpPr>
        <p:spPr>
          <a:xfrm>
            <a:off x="8229600" y="3566160"/>
            <a:ext cx="438912" cy="438912"/>
          </a:xfrm>
          <a:prstGeom prst="ellipse">
            <a:avLst/>
          </a:prstGeom>
          <a:solidFill>
            <a:srgbClr val="6A3FA0"/>
          </a:solidFill>
          <a:ln w="12700">
            <a:solidFill>
              <a:srgbClr val="6A3FA0"/>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C4.1 • using data</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Ethanol boils at </a:t>
            </a:r>
            <a:r>
              <a:rPr lang="en-US" sz="1250" b="1" dirty="0">
                <a:solidFill>
                  <a:srgbClr val="262B3A"/>
                </a:solidFill>
                <a:latin typeface="Calibri" pitchFamily="34" charset="0"/>
                <a:ea typeface="Calibri" pitchFamily="34" charset="-122"/>
                <a:cs typeface="Calibri" pitchFamily="34" charset="-120"/>
              </a:rPr>
              <a:t>78 °C</a:t>
            </a:r>
            <a:r>
              <a:rPr lang="en-US" sz="1250" dirty="0">
                <a:solidFill>
                  <a:srgbClr val="262B3A"/>
                </a:solidFill>
                <a:latin typeface="Calibri" pitchFamily="34" charset="0"/>
                <a:ea typeface="Calibri" pitchFamily="34" charset="-122"/>
                <a:cs typeface="Calibri" pitchFamily="34" charset="-120"/>
              </a:rPr>
              <a:t> and water at </a:t>
            </a:r>
            <a:r>
              <a:rPr lang="en-US" sz="1250" b="1" dirty="0">
                <a:solidFill>
                  <a:srgbClr val="262B3A"/>
                </a:solidFill>
                <a:latin typeface="Calibri" pitchFamily="34" charset="0"/>
                <a:ea typeface="Calibri" pitchFamily="34" charset="-122"/>
                <a:cs typeface="Calibri" pitchFamily="34" charset="-120"/>
              </a:rPr>
              <a:t>100 °C</a:t>
            </a:r>
            <a:r>
              <a:rPr lang="en-US" sz="1250" dirty="0">
                <a:solidFill>
                  <a:srgbClr val="262B3A"/>
                </a:solidFill>
                <a:latin typeface="Calibri" pitchFamily="34" charset="0"/>
                <a:ea typeface="Calibri" pitchFamily="34" charset="-122"/>
                <a:cs typeface="Calibri" pitchFamily="34" charset="-120"/>
              </a:rPr>
              <a:t>. What state is each in at </a:t>
            </a:r>
            <a:r>
              <a:rPr lang="en-US" sz="1250" b="1" dirty="0">
                <a:solidFill>
                  <a:srgbClr val="262B3A"/>
                </a:solidFill>
                <a:latin typeface="Calibri" pitchFamily="34" charset="0"/>
                <a:ea typeface="Calibri" pitchFamily="34" charset="-122"/>
                <a:cs typeface="Calibri" pitchFamily="34" charset="-120"/>
              </a:rPr>
              <a:t>90 °C</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8" name="Shape 36"/>
          <p:cNvSpPr/>
          <p:nvPr/>
        </p:nvSpPr>
        <p:spPr>
          <a:xfrm>
            <a:off x="411480" y="5715000"/>
            <a:ext cx="11368735" cy="548640"/>
          </a:xfrm>
          <a:prstGeom prst="rect">
            <a:avLst/>
          </a:prstGeom>
          <a:solidFill>
            <a:srgbClr val="F1ECF8"/>
          </a:solidFill>
          <a:ln w="12700">
            <a:solidFill>
              <a:srgbClr val="DDD3EC"/>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6A3FA0"/>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Pure substances and formulations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C5.1.1, C5.1.2 • the scientific meaning of pure; mixtures designed as useful products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C5.1.1–2  |  5</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particle diagrams and a paint formulation; not to scale</a:t>
            </a:r>
            <a:endParaRPr lang="en-US" sz="1000" dirty="0"/>
          </a:p>
        </p:txBody>
      </p:sp>
      <p:sp>
        <p:nvSpPr>
          <p:cNvPr id="10" name="Shape 8"/>
          <p:cNvSpPr/>
          <p:nvPr/>
        </p:nvSpPr>
        <p:spPr>
          <a:xfrm>
            <a:off x="685800" y="1371600"/>
            <a:ext cx="1463040" cy="1325880"/>
          </a:xfrm>
          <a:prstGeom prst="roundRect">
            <a:avLst>
              <a:gd name="adj" fmla="val 3448"/>
            </a:avLst>
          </a:prstGeom>
          <a:solidFill>
            <a:srgbClr val="FFFFFF"/>
          </a:solidFill>
          <a:ln w="12700">
            <a:solidFill>
              <a:srgbClr val="DDD3EC"/>
            </a:solidFill>
            <a:prstDash val="solid"/>
          </a:ln>
        </p:spPr>
      </p:sp>
      <p:sp>
        <p:nvSpPr>
          <p:cNvPr id="11" name="Shape 9"/>
          <p:cNvSpPr/>
          <p:nvPr/>
        </p:nvSpPr>
        <p:spPr>
          <a:xfrm>
            <a:off x="2468880" y="1371600"/>
            <a:ext cx="1463040" cy="1325880"/>
          </a:xfrm>
          <a:prstGeom prst="roundRect">
            <a:avLst>
              <a:gd name="adj" fmla="val 3448"/>
            </a:avLst>
          </a:prstGeom>
          <a:solidFill>
            <a:srgbClr val="FFFFFF"/>
          </a:solidFill>
          <a:ln w="12700">
            <a:solidFill>
              <a:srgbClr val="DDD3EC"/>
            </a:solidFill>
            <a:prstDash val="solid"/>
          </a:ln>
        </p:spPr>
      </p:sp>
      <p:sp>
        <p:nvSpPr>
          <p:cNvPr id="12" name="Shape 10"/>
          <p:cNvSpPr/>
          <p:nvPr/>
        </p:nvSpPr>
        <p:spPr>
          <a:xfrm>
            <a:off x="4251960" y="1371600"/>
            <a:ext cx="1463040" cy="1325880"/>
          </a:xfrm>
          <a:prstGeom prst="roundRect">
            <a:avLst>
              <a:gd name="adj" fmla="val 3448"/>
            </a:avLst>
          </a:prstGeom>
          <a:solidFill>
            <a:srgbClr val="FFFFFF"/>
          </a:solidFill>
          <a:ln w="12700">
            <a:solidFill>
              <a:srgbClr val="DDD3EC"/>
            </a:solidFill>
            <a:prstDash val="solid"/>
          </a:ln>
        </p:spPr>
      </p:sp>
      <p:sp>
        <p:nvSpPr>
          <p:cNvPr id="13" name="Shape 11"/>
          <p:cNvSpPr/>
          <p:nvPr/>
        </p:nvSpPr>
        <p:spPr>
          <a:xfrm>
            <a:off x="813816" y="1545336"/>
            <a:ext cx="201168" cy="201168"/>
          </a:xfrm>
          <a:prstGeom prst="ellipse">
            <a:avLst/>
          </a:prstGeom>
          <a:solidFill>
            <a:srgbClr val="9AA3B0"/>
          </a:solidFill>
          <a:ln w="9525">
            <a:solidFill>
              <a:srgbClr val="5A6275"/>
            </a:solidFill>
            <a:prstDash val="solid"/>
          </a:ln>
        </p:spPr>
      </p:sp>
      <p:sp>
        <p:nvSpPr>
          <p:cNvPr id="14" name="Shape 12"/>
          <p:cNvSpPr/>
          <p:nvPr/>
        </p:nvSpPr>
        <p:spPr>
          <a:xfrm>
            <a:off x="1225296" y="1499616"/>
            <a:ext cx="201168" cy="201168"/>
          </a:xfrm>
          <a:prstGeom prst="ellipse">
            <a:avLst/>
          </a:prstGeom>
          <a:solidFill>
            <a:srgbClr val="9AA3B0"/>
          </a:solidFill>
          <a:ln w="9525">
            <a:solidFill>
              <a:srgbClr val="5A6275"/>
            </a:solidFill>
            <a:prstDash val="solid"/>
          </a:ln>
        </p:spPr>
      </p:sp>
      <p:sp>
        <p:nvSpPr>
          <p:cNvPr id="15" name="Shape 13"/>
          <p:cNvSpPr/>
          <p:nvPr/>
        </p:nvSpPr>
        <p:spPr>
          <a:xfrm>
            <a:off x="1682496" y="1591056"/>
            <a:ext cx="201168" cy="201168"/>
          </a:xfrm>
          <a:prstGeom prst="ellipse">
            <a:avLst/>
          </a:prstGeom>
          <a:solidFill>
            <a:srgbClr val="9AA3B0"/>
          </a:solidFill>
          <a:ln w="9525">
            <a:solidFill>
              <a:srgbClr val="5A6275"/>
            </a:solidFill>
            <a:prstDash val="solid"/>
          </a:ln>
        </p:spPr>
      </p:sp>
      <p:sp>
        <p:nvSpPr>
          <p:cNvPr id="16" name="Shape 14"/>
          <p:cNvSpPr/>
          <p:nvPr/>
        </p:nvSpPr>
        <p:spPr>
          <a:xfrm>
            <a:off x="950976" y="1956816"/>
            <a:ext cx="201168" cy="201168"/>
          </a:xfrm>
          <a:prstGeom prst="ellipse">
            <a:avLst/>
          </a:prstGeom>
          <a:solidFill>
            <a:srgbClr val="9AA3B0"/>
          </a:solidFill>
          <a:ln w="9525">
            <a:solidFill>
              <a:srgbClr val="5A6275"/>
            </a:solidFill>
            <a:prstDash val="solid"/>
          </a:ln>
        </p:spPr>
      </p:sp>
      <p:sp>
        <p:nvSpPr>
          <p:cNvPr id="17" name="Shape 15"/>
          <p:cNvSpPr/>
          <p:nvPr/>
        </p:nvSpPr>
        <p:spPr>
          <a:xfrm>
            <a:off x="1408176" y="1911096"/>
            <a:ext cx="201168" cy="201168"/>
          </a:xfrm>
          <a:prstGeom prst="ellipse">
            <a:avLst/>
          </a:prstGeom>
          <a:solidFill>
            <a:srgbClr val="9AA3B0"/>
          </a:solidFill>
          <a:ln w="9525">
            <a:solidFill>
              <a:srgbClr val="5A6275"/>
            </a:solidFill>
            <a:prstDash val="solid"/>
          </a:ln>
        </p:spPr>
      </p:sp>
      <p:sp>
        <p:nvSpPr>
          <p:cNvPr id="18" name="Shape 16"/>
          <p:cNvSpPr/>
          <p:nvPr/>
        </p:nvSpPr>
        <p:spPr>
          <a:xfrm>
            <a:off x="1819656" y="2048256"/>
            <a:ext cx="201168" cy="201168"/>
          </a:xfrm>
          <a:prstGeom prst="ellipse">
            <a:avLst/>
          </a:prstGeom>
          <a:solidFill>
            <a:srgbClr val="9AA3B0"/>
          </a:solidFill>
          <a:ln w="9525">
            <a:solidFill>
              <a:srgbClr val="5A6275"/>
            </a:solidFill>
            <a:prstDash val="solid"/>
          </a:ln>
        </p:spPr>
      </p:sp>
      <p:sp>
        <p:nvSpPr>
          <p:cNvPr id="19" name="Shape 17"/>
          <p:cNvSpPr/>
          <p:nvPr/>
        </p:nvSpPr>
        <p:spPr>
          <a:xfrm>
            <a:off x="859536" y="2322576"/>
            <a:ext cx="201168" cy="201168"/>
          </a:xfrm>
          <a:prstGeom prst="ellipse">
            <a:avLst/>
          </a:prstGeom>
          <a:solidFill>
            <a:srgbClr val="9AA3B0"/>
          </a:solidFill>
          <a:ln w="9525">
            <a:solidFill>
              <a:srgbClr val="5A6275"/>
            </a:solidFill>
            <a:prstDash val="solid"/>
          </a:ln>
        </p:spPr>
      </p:sp>
      <p:sp>
        <p:nvSpPr>
          <p:cNvPr id="20" name="Shape 18"/>
          <p:cNvSpPr/>
          <p:nvPr/>
        </p:nvSpPr>
        <p:spPr>
          <a:xfrm>
            <a:off x="1316736" y="2322576"/>
            <a:ext cx="201168" cy="201168"/>
          </a:xfrm>
          <a:prstGeom prst="ellipse">
            <a:avLst/>
          </a:prstGeom>
          <a:solidFill>
            <a:srgbClr val="9AA3B0"/>
          </a:solidFill>
          <a:ln w="9525">
            <a:solidFill>
              <a:srgbClr val="5A6275"/>
            </a:solidFill>
            <a:prstDash val="solid"/>
          </a:ln>
        </p:spPr>
      </p:sp>
      <p:sp>
        <p:nvSpPr>
          <p:cNvPr id="21" name="Shape 19"/>
          <p:cNvSpPr/>
          <p:nvPr/>
        </p:nvSpPr>
        <p:spPr>
          <a:xfrm>
            <a:off x="1728216" y="2368296"/>
            <a:ext cx="201168" cy="201168"/>
          </a:xfrm>
          <a:prstGeom prst="ellipse">
            <a:avLst/>
          </a:prstGeom>
          <a:solidFill>
            <a:srgbClr val="9AA3B0"/>
          </a:solidFill>
          <a:ln w="9525">
            <a:solidFill>
              <a:srgbClr val="5A6275"/>
            </a:solidFill>
            <a:prstDash val="solid"/>
          </a:ln>
        </p:spPr>
      </p:sp>
      <p:sp>
        <p:nvSpPr>
          <p:cNvPr id="22" name="Shape 20"/>
          <p:cNvSpPr/>
          <p:nvPr/>
        </p:nvSpPr>
        <p:spPr>
          <a:xfrm>
            <a:off x="2697480" y="1600200"/>
            <a:ext cx="182880" cy="182880"/>
          </a:xfrm>
          <a:prstGeom prst="ellipse">
            <a:avLst/>
          </a:prstGeom>
          <a:solidFill>
            <a:srgbClr val="C8414C"/>
          </a:solidFill>
          <a:ln w="9525">
            <a:solidFill>
              <a:srgbClr val="8E2A33"/>
            </a:solidFill>
            <a:prstDash val="solid"/>
          </a:ln>
        </p:spPr>
      </p:sp>
      <p:sp>
        <p:nvSpPr>
          <p:cNvPr id="23" name="Shape 21"/>
          <p:cNvSpPr/>
          <p:nvPr/>
        </p:nvSpPr>
        <p:spPr>
          <a:xfrm>
            <a:off x="2619756" y="1705356"/>
            <a:ext cx="118872" cy="118872"/>
          </a:xfrm>
          <a:prstGeom prst="ellipse">
            <a:avLst/>
          </a:prstGeom>
          <a:solidFill>
            <a:srgbClr val="FFFFFF"/>
          </a:solidFill>
          <a:ln w="9525">
            <a:solidFill>
              <a:srgbClr val="7D8794"/>
            </a:solidFill>
            <a:prstDash val="solid"/>
          </a:ln>
        </p:spPr>
      </p:sp>
      <p:sp>
        <p:nvSpPr>
          <p:cNvPr id="24" name="Shape 22"/>
          <p:cNvSpPr/>
          <p:nvPr/>
        </p:nvSpPr>
        <p:spPr>
          <a:xfrm>
            <a:off x="2839212" y="1705356"/>
            <a:ext cx="118872" cy="118872"/>
          </a:xfrm>
          <a:prstGeom prst="ellipse">
            <a:avLst/>
          </a:prstGeom>
          <a:solidFill>
            <a:srgbClr val="FFFFFF"/>
          </a:solidFill>
          <a:ln w="9525">
            <a:solidFill>
              <a:srgbClr val="7D8794"/>
            </a:solidFill>
            <a:prstDash val="solid"/>
          </a:ln>
        </p:spPr>
      </p:sp>
      <p:sp>
        <p:nvSpPr>
          <p:cNvPr id="25" name="Shape 23"/>
          <p:cNvSpPr/>
          <p:nvPr/>
        </p:nvSpPr>
        <p:spPr>
          <a:xfrm>
            <a:off x="3383280" y="1554480"/>
            <a:ext cx="182880" cy="182880"/>
          </a:xfrm>
          <a:prstGeom prst="ellipse">
            <a:avLst/>
          </a:prstGeom>
          <a:solidFill>
            <a:srgbClr val="C8414C"/>
          </a:solidFill>
          <a:ln w="9525">
            <a:solidFill>
              <a:srgbClr val="8E2A33"/>
            </a:solidFill>
            <a:prstDash val="solid"/>
          </a:ln>
        </p:spPr>
      </p:sp>
      <p:sp>
        <p:nvSpPr>
          <p:cNvPr id="26" name="Shape 24"/>
          <p:cNvSpPr/>
          <p:nvPr/>
        </p:nvSpPr>
        <p:spPr>
          <a:xfrm>
            <a:off x="3305556" y="1659636"/>
            <a:ext cx="118872" cy="118872"/>
          </a:xfrm>
          <a:prstGeom prst="ellipse">
            <a:avLst/>
          </a:prstGeom>
          <a:solidFill>
            <a:srgbClr val="FFFFFF"/>
          </a:solidFill>
          <a:ln w="9525">
            <a:solidFill>
              <a:srgbClr val="7D8794"/>
            </a:solidFill>
            <a:prstDash val="solid"/>
          </a:ln>
        </p:spPr>
      </p:sp>
      <p:sp>
        <p:nvSpPr>
          <p:cNvPr id="27" name="Shape 25"/>
          <p:cNvSpPr/>
          <p:nvPr/>
        </p:nvSpPr>
        <p:spPr>
          <a:xfrm>
            <a:off x="3525012" y="1659636"/>
            <a:ext cx="118872" cy="118872"/>
          </a:xfrm>
          <a:prstGeom prst="ellipse">
            <a:avLst/>
          </a:prstGeom>
          <a:solidFill>
            <a:srgbClr val="FFFFFF"/>
          </a:solidFill>
          <a:ln w="9525">
            <a:solidFill>
              <a:srgbClr val="7D8794"/>
            </a:solidFill>
            <a:prstDash val="solid"/>
          </a:ln>
        </p:spPr>
      </p:sp>
      <p:sp>
        <p:nvSpPr>
          <p:cNvPr id="28" name="Shape 26"/>
          <p:cNvSpPr/>
          <p:nvPr/>
        </p:nvSpPr>
        <p:spPr>
          <a:xfrm>
            <a:off x="3017520" y="1965960"/>
            <a:ext cx="182880" cy="182880"/>
          </a:xfrm>
          <a:prstGeom prst="ellipse">
            <a:avLst/>
          </a:prstGeom>
          <a:solidFill>
            <a:srgbClr val="C8414C"/>
          </a:solidFill>
          <a:ln w="9525">
            <a:solidFill>
              <a:srgbClr val="8E2A33"/>
            </a:solidFill>
            <a:prstDash val="solid"/>
          </a:ln>
        </p:spPr>
      </p:sp>
      <p:sp>
        <p:nvSpPr>
          <p:cNvPr id="29" name="Shape 27"/>
          <p:cNvSpPr/>
          <p:nvPr/>
        </p:nvSpPr>
        <p:spPr>
          <a:xfrm>
            <a:off x="2939796" y="2071116"/>
            <a:ext cx="118872" cy="118872"/>
          </a:xfrm>
          <a:prstGeom prst="ellipse">
            <a:avLst/>
          </a:prstGeom>
          <a:solidFill>
            <a:srgbClr val="FFFFFF"/>
          </a:solidFill>
          <a:ln w="9525">
            <a:solidFill>
              <a:srgbClr val="7D8794"/>
            </a:solidFill>
            <a:prstDash val="solid"/>
          </a:ln>
        </p:spPr>
      </p:sp>
      <p:sp>
        <p:nvSpPr>
          <p:cNvPr id="30" name="Shape 28"/>
          <p:cNvSpPr/>
          <p:nvPr/>
        </p:nvSpPr>
        <p:spPr>
          <a:xfrm>
            <a:off x="3159252" y="2071116"/>
            <a:ext cx="118872" cy="118872"/>
          </a:xfrm>
          <a:prstGeom prst="ellipse">
            <a:avLst/>
          </a:prstGeom>
          <a:solidFill>
            <a:srgbClr val="FFFFFF"/>
          </a:solidFill>
          <a:ln w="9525">
            <a:solidFill>
              <a:srgbClr val="7D8794"/>
            </a:solidFill>
            <a:prstDash val="solid"/>
          </a:ln>
        </p:spPr>
      </p:sp>
      <p:sp>
        <p:nvSpPr>
          <p:cNvPr id="31" name="Shape 29"/>
          <p:cNvSpPr/>
          <p:nvPr/>
        </p:nvSpPr>
        <p:spPr>
          <a:xfrm>
            <a:off x="2651760" y="2286000"/>
            <a:ext cx="182880" cy="182880"/>
          </a:xfrm>
          <a:prstGeom prst="ellipse">
            <a:avLst/>
          </a:prstGeom>
          <a:solidFill>
            <a:srgbClr val="C8414C"/>
          </a:solidFill>
          <a:ln w="9525">
            <a:solidFill>
              <a:srgbClr val="8E2A33"/>
            </a:solidFill>
            <a:prstDash val="solid"/>
          </a:ln>
        </p:spPr>
      </p:sp>
      <p:sp>
        <p:nvSpPr>
          <p:cNvPr id="32" name="Shape 30"/>
          <p:cNvSpPr/>
          <p:nvPr/>
        </p:nvSpPr>
        <p:spPr>
          <a:xfrm>
            <a:off x="2574036" y="2391156"/>
            <a:ext cx="118872" cy="118872"/>
          </a:xfrm>
          <a:prstGeom prst="ellipse">
            <a:avLst/>
          </a:prstGeom>
          <a:solidFill>
            <a:srgbClr val="FFFFFF"/>
          </a:solidFill>
          <a:ln w="9525">
            <a:solidFill>
              <a:srgbClr val="7D8794"/>
            </a:solidFill>
            <a:prstDash val="solid"/>
          </a:ln>
        </p:spPr>
      </p:sp>
      <p:sp>
        <p:nvSpPr>
          <p:cNvPr id="33" name="Shape 31"/>
          <p:cNvSpPr/>
          <p:nvPr/>
        </p:nvSpPr>
        <p:spPr>
          <a:xfrm>
            <a:off x="2793492" y="2391156"/>
            <a:ext cx="118872" cy="118872"/>
          </a:xfrm>
          <a:prstGeom prst="ellipse">
            <a:avLst/>
          </a:prstGeom>
          <a:solidFill>
            <a:srgbClr val="FFFFFF"/>
          </a:solidFill>
          <a:ln w="9525">
            <a:solidFill>
              <a:srgbClr val="7D8794"/>
            </a:solidFill>
            <a:prstDash val="solid"/>
          </a:ln>
        </p:spPr>
      </p:sp>
      <p:sp>
        <p:nvSpPr>
          <p:cNvPr id="34" name="Shape 32"/>
          <p:cNvSpPr/>
          <p:nvPr/>
        </p:nvSpPr>
        <p:spPr>
          <a:xfrm>
            <a:off x="3474720" y="2240280"/>
            <a:ext cx="182880" cy="182880"/>
          </a:xfrm>
          <a:prstGeom prst="ellipse">
            <a:avLst/>
          </a:prstGeom>
          <a:solidFill>
            <a:srgbClr val="C8414C"/>
          </a:solidFill>
          <a:ln w="9525">
            <a:solidFill>
              <a:srgbClr val="8E2A33"/>
            </a:solidFill>
            <a:prstDash val="solid"/>
          </a:ln>
        </p:spPr>
      </p:sp>
      <p:sp>
        <p:nvSpPr>
          <p:cNvPr id="35" name="Shape 33"/>
          <p:cNvSpPr/>
          <p:nvPr/>
        </p:nvSpPr>
        <p:spPr>
          <a:xfrm>
            <a:off x="3396996" y="2345436"/>
            <a:ext cx="118872" cy="118872"/>
          </a:xfrm>
          <a:prstGeom prst="ellipse">
            <a:avLst/>
          </a:prstGeom>
          <a:solidFill>
            <a:srgbClr val="FFFFFF"/>
          </a:solidFill>
          <a:ln w="9525">
            <a:solidFill>
              <a:srgbClr val="7D8794"/>
            </a:solidFill>
            <a:prstDash val="solid"/>
          </a:ln>
        </p:spPr>
      </p:sp>
      <p:sp>
        <p:nvSpPr>
          <p:cNvPr id="36" name="Shape 34"/>
          <p:cNvSpPr/>
          <p:nvPr/>
        </p:nvSpPr>
        <p:spPr>
          <a:xfrm>
            <a:off x="3616452" y="2345436"/>
            <a:ext cx="118872" cy="118872"/>
          </a:xfrm>
          <a:prstGeom prst="ellipse">
            <a:avLst/>
          </a:prstGeom>
          <a:solidFill>
            <a:srgbClr val="FFFFFF"/>
          </a:solidFill>
          <a:ln w="9525">
            <a:solidFill>
              <a:srgbClr val="7D8794"/>
            </a:solidFill>
            <a:prstDash val="solid"/>
          </a:ln>
        </p:spPr>
      </p:sp>
      <p:sp>
        <p:nvSpPr>
          <p:cNvPr id="37" name="Shape 35"/>
          <p:cNvSpPr/>
          <p:nvPr/>
        </p:nvSpPr>
        <p:spPr>
          <a:xfrm>
            <a:off x="4480560" y="1600200"/>
            <a:ext cx="182880" cy="182880"/>
          </a:xfrm>
          <a:prstGeom prst="ellipse">
            <a:avLst/>
          </a:prstGeom>
          <a:solidFill>
            <a:srgbClr val="C8414C"/>
          </a:solidFill>
          <a:ln w="9525">
            <a:solidFill>
              <a:srgbClr val="8E2A33"/>
            </a:solidFill>
            <a:prstDash val="solid"/>
          </a:ln>
        </p:spPr>
      </p:sp>
      <p:sp>
        <p:nvSpPr>
          <p:cNvPr id="38" name="Shape 36"/>
          <p:cNvSpPr/>
          <p:nvPr/>
        </p:nvSpPr>
        <p:spPr>
          <a:xfrm>
            <a:off x="4402836" y="1705356"/>
            <a:ext cx="118872" cy="118872"/>
          </a:xfrm>
          <a:prstGeom prst="ellipse">
            <a:avLst/>
          </a:prstGeom>
          <a:solidFill>
            <a:srgbClr val="FFFFFF"/>
          </a:solidFill>
          <a:ln w="9525">
            <a:solidFill>
              <a:srgbClr val="7D8794"/>
            </a:solidFill>
            <a:prstDash val="solid"/>
          </a:ln>
        </p:spPr>
      </p:sp>
      <p:sp>
        <p:nvSpPr>
          <p:cNvPr id="39" name="Shape 37"/>
          <p:cNvSpPr/>
          <p:nvPr/>
        </p:nvSpPr>
        <p:spPr>
          <a:xfrm>
            <a:off x="4622292" y="1705356"/>
            <a:ext cx="118872" cy="118872"/>
          </a:xfrm>
          <a:prstGeom prst="ellipse">
            <a:avLst/>
          </a:prstGeom>
          <a:solidFill>
            <a:srgbClr val="FFFFFF"/>
          </a:solidFill>
          <a:ln w="9525">
            <a:solidFill>
              <a:srgbClr val="7D8794"/>
            </a:solidFill>
            <a:prstDash val="solid"/>
          </a:ln>
        </p:spPr>
      </p:sp>
      <p:sp>
        <p:nvSpPr>
          <p:cNvPr id="40" name="Shape 38"/>
          <p:cNvSpPr/>
          <p:nvPr/>
        </p:nvSpPr>
        <p:spPr>
          <a:xfrm>
            <a:off x="5212080" y="2057400"/>
            <a:ext cx="182880" cy="182880"/>
          </a:xfrm>
          <a:prstGeom prst="ellipse">
            <a:avLst/>
          </a:prstGeom>
          <a:solidFill>
            <a:srgbClr val="C8414C"/>
          </a:solidFill>
          <a:ln w="9525">
            <a:solidFill>
              <a:srgbClr val="8E2A33"/>
            </a:solidFill>
            <a:prstDash val="solid"/>
          </a:ln>
        </p:spPr>
      </p:sp>
      <p:sp>
        <p:nvSpPr>
          <p:cNvPr id="41" name="Shape 39"/>
          <p:cNvSpPr/>
          <p:nvPr/>
        </p:nvSpPr>
        <p:spPr>
          <a:xfrm>
            <a:off x="5134356" y="2162556"/>
            <a:ext cx="118872" cy="118872"/>
          </a:xfrm>
          <a:prstGeom prst="ellipse">
            <a:avLst/>
          </a:prstGeom>
          <a:solidFill>
            <a:srgbClr val="FFFFFF"/>
          </a:solidFill>
          <a:ln w="9525">
            <a:solidFill>
              <a:srgbClr val="7D8794"/>
            </a:solidFill>
            <a:prstDash val="solid"/>
          </a:ln>
        </p:spPr>
      </p:sp>
      <p:sp>
        <p:nvSpPr>
          <p:cNvPr id="42" name="Shape 40"/>
          <p:cNvSpPr/>
          <p:nvPr/>
        </p:nvSpPr>
        <p:spPr>
          <a:xfrm>
            <a:off x="5353812" y="2162556"/>
            <a:ext cx="118872" cy="118872"/>
          </a:xfrm>
          <a:prstGeom prst="ellipse">
            <a:avLst/>
          </a:prstGeom>
          <a:solidFill>
            <a:srgbClr val="FFFFFF"/>
          </a:solidFill>
          <a:ln w="9525">
            <a:solidFill>
              <a:srgbClr val="7D8794"/>
            </a:solidFill>
            <a:prstDash val="solid"/>
          </a:ln>
        </p:spPr>
      </p:sp>
      <p:sp>
        <p:nvSpPr>
          <p:cNvPr id="43" name="Shape 41"/>
          <p:cNvSpPr/>
          <p:nvPr/>
        </p:nvSpPr>
        <p:spPr>
          <a:xfrm>
            <a:off x="4572000" y="2286000"/>
            <a:ext cx="182880" cy="182880"/>
          </a:xfrm>
          <a:prstGeom prst="ellipse">
            <a:avLst/>
          </a:prstGeom>
          <a:solidFill>
            <a:srgbClr val="C8414C"/>
          </a:solidFill>
          <a:ln w="9525">
            <a:solidFill>
              <a:srgbClr val="8E2A33"/>
            </a:solidFill>
            <a:prstDash val="solid"/>
          </a:ln>
        </p:spPr>
      </p:sp>
      <p:sp>
        <p:nvSpPr>
          <p:cNvPr id="44" name="Shape 42"/>
          <p:cNvSpPr/>
          <p:nvPr/>
        </p:nvSpPr>
        <p:spPr>
          <a:xfrm>
            <a:off x="4494276" y="2391156"/>
            <a:ext cx="118872" cy="118872"/>
          </a:xfrm>
          <a:prstGeom prst="ellipse">
            <a:avLst/>
          </a:prstGeom>
          <a:solidFill>
            <a:srgbClr val="FFFFFF"/>
          </a:solidFill>
          <a:ln w="9525">
            <a:solidFill>
              <a:srgbClr val="7D8794"/>
            </a:solidFill>
            <a:prstDash val="solid"/>
          </a:ln>
        </p:spPr>
      </p:sp>
      <p:sp>
        <p:nvSpPr>
          <p:cNvPr id="45" name="Shape 43"/>
          <p:cNvSpPr/>
          <p:nvPr/>
        </p:nvSpPr>
        <p:spPr>
          <a:xfrm>
            <a:off x="4713732" y="2391156"/>
            <a:ext cx="118872" cy="118872"/>
          </a:xfrm>
          <a:prstGeom prst="ellipse">
            <a:avLst/>
          </a:prstGeom>
          <a:solidFill>
            <a:srgbClr val="FFFFFF"/>
          </a:solidFill>
          <a:ln w="9525">
            <a:solidFill>
              <a:srgbClr val="7D8794"/>
            </a:solidFill>
            <a:prstDash val="solid"/>
          </a:ln>
        </p:spPr>
      </p:sp>
      <p:sp>
        <p:nvSpPr>
          <p:cNvPr id="46" name="Shape 44"/>
          <p:cNvSpPr/>
          <p:nvPr/>
        </p:nvSpPr>
        <p:spPr>
          <a:xfrm>
            <a:off x="4965192" y="1563624"/>
            <a:ext cx="164592" cy="164592"/>
          </a:xfrm>
          <a:prstGeom prst="ellipse">
            <a:avLst/>
          </a:prstGeom>
          <a:solidFill>
            <a:srgbClr val="6A3FA0"/>
          </a:solidFill>
          <a:ln w="9525">
            <a:solidFill>
              <a:srgbClr val="3E2266"/>
            </a:solidFill>
            <a:prstDash val="solid"/>
          </a:ln>
        </p:spPr>
      </p:sp>
      <p:sp>
        <p:nvSpPr>
          <p:cNvPr id="47" name="Shape 45"/>
          <p:cNvSpPr/>
          <p:nvPr/>
        </p:nvSpPr>
        <p:spPr>
          <a:xfrm>
            <a:off x="5111496" y="1563624"/>
            <a:ext cx="164592" cy="164592"/>
          </a:xfrm>
          <a:prstGeom prst="ellipse">
            <a:avLst/>
          </a:prstGeom>
          <a:solidFill>
            <a:srgbClr val="6A3FA0"/>
          </a:solidFill>
          <a:ln w="9525">
            <a:solidFill>
              <a:srgbClr val="3E2266"/>
            </a:solidFill>
            <a:prstDash val="solid"/>
          </a:ln>
        </p:spPr>
      </p:sp>
      <p:sp>
        <p:nvSpPr>
          <p:cNvPr id="48" name="Shape 46"/>
          <p:cNvSpPr/>
          <p:nvPr/>
        </p:nvSpPr>
        <p:spPr>
          <a:xfrm>
            <a:off x="4736592" y="1975104"/>
            <a:ext cx="164592" cy="164592"/>
          </a:xfrm>
          <a:prstGeom prst="ellipse">
            <a:avLst/>
          </a:prstGeom>
          <a:solidFill>
            <a:srgbClr val="6A3FA0"/>
          </a:solidFill>
          <a:ln w="9525">
            <a:solidFill>
              <a:srgbClr val="3E2266"/>
            </a:solidFill>
            <a:prstDash val="solid"/>
          </a:ln>
        </p:spPr>
      </p:sp>
      <p:sp>
        <p:nvSpPr>
          <p:cNvPr id="49" name="Shape 47"/>
          <p:cNvSpPr/>
          <p:nvPr/>
        </p:nvSpPr>
        <p:spPr>
          <a:xfrm>
            <a:off x="4882896" y="1975104"/>
            <a:ext cx="164592" cy="164592"/>
          </a:xfrm>
          <a:prstGeom prst="ellipse">
            <a:avLst/>
          </a:prstGeom>
          <a:solidFill>
            <a:srgbClr val="6A3FA0"/>
          </a:solidFill>
          <a:ln w="9525">
            <a:solidFill>
              <a:srgbClr val="3E2266"/>
            </a:solidFill>
            <a:prstDash val="solid"/>
          </a:ln>
        </p:spPr>
      </p:sp>
      <p:sp>
        <p:nvSpPr>
          <p:cNvPr id="50" name="Shape 48"/>
          <p:cNvSpPr/>
          <p:nvPr/>
        </p:nvSpPr>
        <p:spPr>
          <a:xfrm>
            <a:off x="5239512" y="2386584"/>
            <a:ext cx="164592" cy="164592"/>
          </a:xfrm>
          <a:prstGeom prst="ellipse">
            <a:avLst/>
          </a:prstGeom>
          <a:solidFill>
            <a:srgbClr val="6A3FA0"/>
          </a:solidFill>
          <a:ln w="9525">
            <a:solidFill>
              <a:srgbClr val="3E2266"/>
            </a:solidFill>
            <a:prstDash val="solid"/>
          </a:ln>
        </p:spPr>
      </p:sp>
      <p:sp>
        <p:nvSpPr>
          <p:cNvPr id="51" name="Shape 49"/>
          <p:cNvSpPr/>
          <p:nvPr/>
        </p:nvSpPr>
        <p:spPr>
          <a:xfrm>
            <a:off x="5385816" y="2386584"/>
            <a:ext cx="164592" cy="164592"/>
          </a:xfrm>
          <a:prstGeom prst="ellipse">
            <a:avLst/>
          </a:prstGeom>
          <a:solidFill>
            <a:srgbClr val="6A3FA0"/>
          </a:solidFill>
          <a:ln w="9525">
            <a:solidFill>
              <a:srgbClr val="3E2266"/>
            </a:solidFill>
            <a:prstDash val="solid"/>
          </a:ln>
        </p:spPr>
      </p:sp>
      <p:sp>
        <p:nvSpPr>
          <p:cNvPr id="52" name="Text 50"/>
          <p:cNvSpPr/>
          <p:nvPr/>
        </p:nvSpPr>
        <p:spPr>
          <a:xfrm>
            <a:off x="640080" y="2743200"/>
            <a:ext cx="1554480" cy="411480"/>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pure element</a:t>
            </a:r>
            <a:endParaRPr lang="en-US" sz="1050" dirty="0"/>
          </a:p>
          <a:p>
            <a:pPr algn="ctr" indent="0" marL="0">
              <a:buNone/>
            </a:pPr>
            <a:r>
              <a:rPr lang="en-US" sz="1050" dirty="0">
                <a:solidFill>
                  <a:srgbClr val="262B3A"/>
                </a:solidFill>
                <a:latin typeface="Calibri" pitchFamily="34" charset="0"/>
                <a:ea typeface="Calibri" pitchFamily="34" charset="-122"/>
                <a:cs typeface="Calibri" pitchFamily="34" charset="-120"/>
              </a:rPr>
              <a:t>one type of atom</a:t>
            </a:r>
            <a:endParaRPr lang="en-US" sz="1050" dirty="0"/>
          </a:p>
        </p:txBody>
      </p:sp>
      <p:sp>
        <p:nvSpPr>
          <p:cNvPr id="53" name="Text 51"/>
          <p:cNvSpPr/>
          <p:nvPr/>
        </p:nvSpPr>
        <p:spPr>
          <a:xfrm>
            <a:off x="2423160" y="2743200"/>
            <a:ext cx="1554480" cy="411480"/>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pure compound</a:t>
            </a:r>
            <a:endParaRPr lang="en-US" sz="1050" dirty="0"/>
          </a:p>
          <a:p>
            <a:pPr algn="ctr" indent="0" marL="0">
              <a:buNone/>
            </a:pPr>
            <a:r>
              <a:rPr lang="en-US" sz="1050" dirty="0">
                <a:solidFill>
                  <a:srgbClr val="262B3A"/>
                </a:solidFill>
                <a:latin typeface="Calibri" pitchFamily="34" charset="0"/>
                <a:ea typeface="Calibri" pitchFamily="34" charset="-122"/>
                <a:cs typeface="Calibri" pitchFamily="34" charset="-120"/>
              </a:rPr>
              <a:t>one type of molecule</a:t>
            </a:r>
            <a:endParaRPr lang="en-US" sz="1050" dirty="0"/>
          </a:p>
        </p:txBody>
      </p:sp>
      <p:sp>
        <p:nvSpPr>
          <p:cNvPr id="54" name="Text 52"/>
          <p:cNvSpPr/>
          <p:nvPr/>
        </p:nvSpPr>
        <p:spPr>
          <a:xfrm>
            <a:off x="4206240" y="2743200"/>
            <a:ext cx="1554480" cy="411480"/>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mixture</a:t>
            </a:r>
            <a:endParaRPr lang="en-US" sz="1050" dirty="0"/>
          </a:p>
          <a:p>
            <a:pPr algn="ctr" indent="0" marL="0">
              <a:buNone/>
            </a:pPr>
            <a:r>
              <a:rPr lang="en-US" sz="1050" dirty="0">
                <a:solidFill>
                  <a:srgbClr val="262B3A"/>
                </a:solidFill>
                <a:latin typeface="Calibri" pitchFamily="34" charset="0"/>
                <a:ea typeface="Calibri" pitchFamily="34" charset="-122"/>
                <a:cs typeface="Calibri" pitchFamily="34" charset="-120"/>
              </a:rPr>
              <a:t>not chemically joined</a:t>
            </a:r>
            <a:endParaRPr lang="en-US" sz="1050" dirty="0"/>
          </a:p>
        </p:txBody>
      </p:sp>
      <p:sp>
        <p:nvSpPr>
          <p:cNvPr id="55" name="Text 53"/>
          <p:cNvSpPr/>
          <p:nvPr/>
        </p:nvSpPr>
        <p:spPr>
          <a:xfrm>
            <a:off x="685800" y="3310128"/>
            <a:ext cx="5029200" cy="237744"/>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A </a:t>
            </a:r>
            <a:r>
              <a:rPr lang="en-US" sz="1050" b="1" dirty="0">
                <a:solidFill>
                  <a:srgbClr val="262B3A"/>
                </a:solidFill>
                <a:latin typeface="Calibri" pitchFamily="34" charset="0"/>
                <a:ea typeface="Calibri" pitchFamily="34" charset="-122"/>
                <a:cs typeface="Calibri" pitchFamily="34" charset="-120"/>
              </a:rPr>
              <a:t>formulation</a:t>
            </a:r>
            <a:r>
              <a:rPr lang="en-US" sz="1050" dirty="0">
                <a:solidFill>
                  <a:srgbClr val="262B3A"/>
                </a:solidFill>
                <a:latin typeface="Calibri" pitchFamily="34" charset="0"/>
                <a:ea typeface="Calibri" pitchFamily="34" charset="-122"/>
                <a:cs typeface="Calibri" pitchFamily="34" charset="-120"/>
              </a:rPr>
              <a:t>: gloss paint (percentage by mass, illustrative)</a:t>
            </a:r>
            <a:endParaRPr lang="en-US" sz="1050" dirty="0"/>
          </a:p>
        </p:txBody>
      </p:sp>
      <p:sp>
        <p:nvSpPr>
          <p:cNvPr id="56" name="Shape 54"/>
          <p:cNvSpPr/>
          <p:nvPr/>
        </p:nvSpPr>
        <p:spPr>
          <a:xfrm>
            <a:off x="685800" y="3611880"/>
            <a:ext cx="2011680" cy="502920"/>
          </a:xfrm>
          <a:prstGeom prst="rect">
            <a:avLst/>
          </a:prstGeom>
          <a:solidFill>
            <a:srgbClr val="6A3FA0"/>
          </a:solidFill>
          <a:ln w="9525">
            <a:solidFill>
              <a:srgbClr val="2A1F3D"/>
            </a:solidFill>
            <a:prstDash val="solid"/>
          </a:ln>
        </p:spPr>
      </p:sp>
      <p:sp>
        <p:nvSpPr>
          <p:cNvPr id="57" name="Text 55"/>
          <p:cNvSpPr/>
          <p:nvPr/>
        </p:nvSpPr>
        <p:spPr>
          <a:xfrm>
            <a:off x="685800" y="3611880"/>
            <a:ext cx="201168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binder 40%</a:t>
            </a:r>
            <a:endParaRPr lang="en-US" sz="1050" dirty="0"/>
          </a:p>
        </p:txBody>
      </p:sp>
      <p:sp>
        <p:nvSpPr>
          <p:cNvPr id="58" name="Shape 56"/>
          <p:cNvSpPr/>
          <p:nvPr/>
        </p:nvSpPr>
        <p:spPr>
          <a:xfrm>
            <a:off x="2697480" y="3611880"/>
            <a:ext cx="1257300" cy="502920"/>
          </a:xfrm>
          <a:prstGeom prst="rect">
            <a:avLst/>
          </a:prstGeom>
          <a:solidFill>
            <a:srgbClr val="E39A2F"/>
          </a:solidFill>
          <a:ln w="9525">
            <a:solidFill>
              <a:srgbClr val="2A1F3D"/>
            </a:solidFill>
            <a:prstDash val="solid"/>
          </a:ln>
        </p:spPr>
      </p:sp>
      <p:sp>
        <p:nvSpPr>
          <p:cNvPr id="59" name="Text 57"/>
          <p:cNvSpPr/>
          <p:nvPr/>
        </p:nvSpPr>
        <p:spPr>
          <a:xfrm>
            <a:off x="2697480" y="3611880"/>
            <a:ext cx="125730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pigment 25%</a:t>
            </a:r>
            <a:endParaRPr lang="en-US" sz="1050" dirty="0"/>
          </a:p>
        </p:txBody>
      </p:sp>
      <p:sp>
        <p:nvSpPr>
          <p:cNvPr id="60" name="Shape 58"/>
          <p:cNvSpPr/>
          <p:nvPr/>
        </p:nvSpPr>
        <p:spPr>
          <a:xfrm>
            <a:off x="3954780" y="3611880"/>
            <a:ext cx="1508760" cy="502920"/>
          </a:xfrm>
          <a:prstGeom prst="rect">
            <a:avLst/>
          </a:prstGeom>
          <a:solidFill>
            <a:srgbClr val="5B9BD5"/>
          </a:solidFill>
          <a:ln w="9525">
            <a:solidFill>
              <a:srgbClr val="2A1F3D"/>
            </a:solidFill>
            <a:prstDash val="solid"/>
          </a:ln>
        </p:spPr>
      </p:sp>
      <p:sp>
        <p:nvSpPr>
          <p:cNvPr id="61" name="Text 59"/>
          <p:cNvSpPr/>
          <p:nvPr/>
        </p:nvSpPr>
        <p:spPr>
          <a:xfrm>
            <a:off x="3954780" y="3611880"/>
            <a:ext cx="150876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solvent 30%</a:t>
            </a:r>
            <a:endParaRPr lang="en-US" sz="1050" dirty="0"/>
          </a:p>
        </p:txBody>
      </p:sp>
      <p:sp>
        <p:nvSpPr>
          <p:cNvPr id="62" name="Shape 60"/>
          <p:cNvSpPr/>
          <p:nvPr/>
        </p:nvSpPr>
        <p:spPr>
          <a:xfrm>
            <a:off x="5463540" y="3611880"/>
            <a:ext cx="251460" cy="502920"/>
          </a:xfrm>
          <a:prstGeom prst="rect">
            <a:avLst/>
          </a:prstGeom>
          <a:solidFill>
            <a:srgbClr val="2E8B57"/>
          </a:solidFill>
          <a:ln w="9525">
            <a:solidFill>
              <a:srgbClr val="2A1F3D"/>
            </a:solidFill>
            <a:prstDash val="solid"/>
          </a:ln>
        </p:spPr>
      </p:sp>
      <p:sp>
        <p:nvSpPr>
          <p:cNvPr id="63" name="Text 61"/>
          <p:cNvSpPr/>
          <p:nvPr/>
        </p:nvSpPr>
        <p:spPr>
          <a:xfrm>
            <a:off x="5074920" y="4133088"/>
            <a:ext cx="685800" cy="201168"/>
          </a:xfrm>
          <a:prstGeom prst="rect">
            <a:avLst/>
          </a:prstGeom>
          <a:noFill/>
          <a:ln/>
        </p:spPr>
        <p:txBody>
          <a:bodyPr wrap="square" lIns="0" tIns="0" rIns="0" bIns="0" rtlCol="0" anchor="ctr"/>
          <a:lstStyle/>
          <a:p>
            <a:pPr algn="r" indent="0" marL="0">
              <a:buNone/>
            </a:pPr>
            <a:r>
              <a:rPr lang="en-US" sz="1000" b="1" dirty="0">
                <a:solidFill>
                  <a:srgbClr val="2E8B57"/>
                </a:solidFill>
                <a:latin typeface="Calibri" pitchFamily="34" charset="0"/>
                <a:ea typeface="Calibri" pitchFamily="34" charset="-122"/>
                <a:cs typeface="Calibri" pitchFamily="34" charset="-120"/>
              </a:rPr>
              <a:t>additives 5%</a:t>
            </a:r>
            <a:endParaRPr lang="en-US" sz="1000" dirty="0"/>
          </a:p>
        </p:txBody>
      </p:sp>
      <p:sp>
        <p:nvSpPr>
          <p:cNvPr id="64" name="Text 62"/>
          <p:cNvSpPr/>
          <p:nvPr/>
        </p:nvSpPr>
        <p:spPr>
          <a:xfrm>
            <a:off x="685800" y="4343400"/>
            <a:ext cx="5029200" cy="45720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binder: sticks to the surface • pigment: colour • solvent: helps it spread, then evaporates • additives: e.g. speed up drying</a:t>
            </a:r>
            <a:endParaRPr lang="en-US" sz="1000" dirty="0"/>
          </a:p>
        </p:txBody>
      </p:sp>
      <p:sp>
        <p:nvSpPr>
          <p:cNvPr id="65" name="Text 63"/>
          <p:cNvSpPr/>
          <p:nvPr/>
        </p:nvSpPr>
        <p:spPr>
          <a:xfrm>
            <a:off x="685800" y="4892040"/>
            <a:ext cx="5029200" cy="274320"/>
          </a:xfrm>
          <a:prstGeom prst="rect">
            <a:avLst/>
          </a:prstGeom>
          <a:noFill/>
          <a:ln/>
        </p:spPr>
        <p:txBody>
          <a:bodyPr wrap="square" lIns="0" tIns="0" rIns="0" bIns="0" rtlCol="0" anchor="ctr"/>
          <a:lstStyle/>
          <a:p>
            <a:pPr algn="l" indent="0" marL="0">
              <a:buNone/>
            </a:pPr>
            <a:r>
              <a:rPr lang="en-US" sz="1050" i="1" dirty="0">
                <a:solidFill>
                  <a:srgbClr val="6A3FA0"/>
                </a:solidFill>
                <a:latin typeface="Calibri" pitchFamily="34" charset="0"/>
                <a:ea typeface="Calibri" pitchFamily="34" charset="-122"/>
                <a:cs typeface="Calibri" pitchFamily="34" charset="-120"/>
              </a:rPr>
              <a:t>Other formulations: medicines, fuels, cleaning products, fertilisers, alloys, foods</a:t>
            </a:r>
            <a:endParaRPr lang="en-US" sz="1050" dirty="0"/>
          </a:p>
        </p:txBody>
      </p:sp>
      <p:sp>
        <p:nvSpPr>
          <p:cNvPr id="66" name="Shape 64"/>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67" name="Text 6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What does pure mean?</a:t>
            </a:r>
            <a:endParaRPr lang="en-US" sz="1300" dirty="0"/>
          </a:p>
        </p:txBody>
      </p:sp>
      <p:sp>
        <p:nvSpPr>
          <p:cNvPr id="68" name="Text 66"/>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 chemistry a </a:t>
            </a:r>
            <a:r>
              <a:rPr lang="en-US" sz="1150" b="1" dirty="0">
                <a:solidFill>
                  <a:srgbClr val="262B3A"/>
                </a:solidFill>
                <a:latin typeface="Calibri" pitchFamily="34" charset="0"/>
                <a:ea typeface="Calibri" pitchFamily="34" charset="-122"/>
                <a:cs typeface="Calibri" pitchFamily="34" charset="-120"/>
              </a:rPr>
              <a:t>pure</a:t>
            </a:r>
            <a:r>
              <a:rPr lang="en-US" sz="1150" dirty="0">
                <a:solidFill>
                  <a:srgbClr val="262B3A"/>
                </a:solidFill>
                <a:latin typeface="Calibri" pitchFamily="34" charset="0"/>
                <a:ea typeface="Calibri" pitchFamily="34" charset="-122"/>
                <a:cs typeface="Calibri" pitchFamily="34" charset="-120"/>
              </a:rPr>
              <a:t> substance contains only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element or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compound.</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 everyday use "pure" means </a:t>
            </a:r>
            <a:r>
              <a:rPr lang="en-US" sz="1150" b="1" dirty="0">
                <a:solidFill>
                  <a:srgbClr val="262B3A"/>
                </a:solidFill>
                <a:latin typeface="Calibri" pitchFamily="34" charset="0"/>
                <a:ea typeface="Calibri" pitchFamily="34" charset="-122"/>
                <a:cs typeface="Calibri" pitchFamily="34" charset="-120"/>
              </a:rPr>
              <a:t>nothing added</a:t>
            </a:r>
            <a:r>
              <a:rPr lang="en-US" sz="1150" dirty="0">
                <a:solidFill>
                  <a:srgbClr val="262B3A"/>
                </a:solidFill>
                <a:latin typeface="Calibri" pitchFamily="34" charset="0"/>
                <a:ea typeface="Calibri" pitchFamily="34" charset="-122"/>
                <a:cs typeface="Calibri" pitchFamily="34" charset="-120"/>
              </a:rPr>
              <a:t>, e.g. "pure orange juice", but juice is a mixture of water, sugars, acids and more.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 a </a:t>
            </a:r>
            <a:r>
              <a:rPr lang="en-US" sz="1150" b="1" dirty="0">
                <a:solidFill>
                  <a:srgbClr val="262B3A"/>
                </a:solidFill>
                <a:latin typeface="Calibri" pitchFamily="34" charset="0"/>
                <a:ea typeface="Calibri" pitchFamily="34" charset="-122"/>
                <a:cs typeface="Calibri" pitchFamily="34" charset="-120"/>
              </a:rPr>
              <a:t>mixture</a:t>
            </a:r>
            <a:r>
              <a:rPr lang="en-US" sz="1150" dirty="0">
                <a:solidFill>
                  <a:srgbClr val="262B3A"/>
                </a:solidFill>
                <a:latin typeface="Calibri" pitchFamily="34" charset="0"/>
                <a:ea typeface="Calibri" pitchFamily="34" charset="-122"/>
                <a:cs typeface="Calibri" pitchFamily="34" charset="-120"/>
              </a:rPr>
              <a:t> the substances are </a:t>
            </a:r>
            <a:r>
              <a:rPr lang="en-US" sz="1150" b="1" dirty="0">
                <a:solidFill>
                  <a:srgbClr val="262B3A"/>
                </a:solidFill>
                <a:latin typeface="Calibri" pitchFamily="34" charset="0"/>
                <a:ea typeface="Calibri" pitchFamily="34" charset="-122"/>
                <a:cs typeface="Calibri" pitchFamily="34" charset="-120"/>
              </a:rPr>
              <a:t>not chemically joined</a:t>
            </a:r>
            <a:r>
              <a:rPr lang="en-US" sz="1150" dirty="0">
                <a:solidFill>
                  <a:srgbClr val="262B3A"/>
                </a:solidFill>
                <a:latin typeface="Calibri" pitchFamily="34" charset="0"/>
                <a:ea typeface="Calibri" pitchFamily="34" charset="-122"/>
                <a:cs typeface="Calibri" pitchFamily="34" charset="-120"/>
              </a:rPr>
              <a:t>, so they can be separated by </a:t>
            </a:r>
            <a:r>
              <a:rPr lang="en-US" sz="1150" b="1" dirty="0">
                <a:solidFill>
                  <a:srgbClr val="262B3A"/>
                </a:solidFill>
                <a:latin typeface="Calibri" pitchFamily="34" charset="0"/>
                <a:ea typeface="Calibri" pitchFamily="34" charset="-122"/>
                <a:cs typeface="Calibri" pitchFamily="34" charset="-120"/>
              </a:rPr>
              <a:t>physical</a:t>
            </a:r>
            <a:r>
              <a:rPr lang="en-US" sz="1150" dirty="0">
                <a:solidFill>
                  <a:srgbClr val="262B3A"/>
                </a:solidFill>
                <a:latin typeface="Calibri" pitchFamily="34" charset="0"/>
                <a:ea typeface="Calibri" pitchFamily="34" charset="-122"/>
                <a:cs typeface="Calibri" pitchFamily="34" charset="-120"/>
              </a:rPr>
              <a:t> methods.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formulation</a:t>
            </a:r>
            <a:r>
              <a:rPr lang="en-US" sz="1150" dirty="0">
                <a:solidFill>
                  <a:srgbClr val="262B3A"/>
                </a:solidFill>
                <a:latin typeface="Calibri" pitchFamily="34" charset="0"/>
                <a:ea typeface="Calibri" pitchFamily="34" charset="-122"/>
                <a:cs typeface="Calibri" pitchFamily="34" charset="-120"/>
              </a:rPr>
              <a:t> is a mixture </a:t>
            </a:r>
            <a:r>
              <a:rPr lang="en-US" sz="1150" b="1" dirty="0">
                <a:solidFill>
                  <a:srgbClr val="262B3A"/>
                </a:solidFill>
                <a:latin typeface="Calibri" pitchFamily="34" charset="0"/>
                <a:ea typeface="Calibri" pitchFamily="34" charset="-122"/>
                <a:cs typeface="Calibri" pitchFamily="34" charset="-120"/>
              </a:rPr>
              <a:t>designed</a:t>
            </a:r>
            <a:r>
              <a:rPr lang="en-US" sz="1150" dirty="0">
                <a:solidFill>
                  <a:srgbClr val="262B3A"/>
                </a:solidFill>
                <a:latin typeface="Calibri" pitchFamily="34" charset="0"/>
                <a:ea typeface="Calibri" pitchFamily="34" charset="-122"/>
                <a:cs typeface="Calibri" pitchFamily="34" charset="-120"/>
              </a:rPr>
              <a:t> as a useful product. Each component is there for a </a:t>
            </a:r>
            <a:r>
              <a:rPr lang="en-US" sz="1150" b="1" dirty="0">
                <a:solidFill>
                  <a:srgbClr val="262B3A"/>
                </a:solidFill>
                <a:latin typeface="Calibri" pitchFamily="34" charset="0"/>
                <a:ea typeface="Calibri" pitchFamily="34" charset="-122"/>
                <a:cs typeface="Calibri" pitchFamily="34" charset="-120"/>
              </a:rPr>
              <a:t>purpose</a:t>
            </a:r>
            <a:r>
              <a:rPr lang="en-US" sz="1150" dirty="0">
                <a:solidFill>
                  <a:srgbClr val="262B3A"/>
                </a:solidFill>
                <a:latin typeface="Calibri" pitchFamily="34" charset="0"/>
                <a:ea typeface="Calibri" pitchFamily="34" charset="-122"/>
                <a:cs typeface="Calibri" pitchFamily="34" charset="-120"/>
              </a:rPr>
              <a:t>, in a </a:t>
            </a:r>
            <a:r>
              <a:rPr lang="en-US" sz="1150" b="1" dirty="0">
                <a:solidFill>
                  <a:srgbClr val="262B3A"/>
                </a:solidFill>
                <a:latin typeface="Calibri" pitchFamily="34" charset="0"/>
                <a:ea typeface="Calibri" pitchFamily="34" charset="-122"/>
                <a:cs typeface="Calibri" pitchFamily="34" charset="-120"/>
              </a:rPr>
              <a:t>measured</a:t>
            </a:r>
            <a:r>
              <a:rPr lang="en-US" sz="1150" dirty="0">
                <a:solidFill>
                  <a:srgbClr val="262B3A"/>
                </a:solidFill>
                <a:latin typeface="Calibri" pitchFamily="34" charset="0"/>
                <a:ea typeface="Calibri" pitchFamily="34" charset="-122"/>
                <a:cs typeface="Calibri" pitchFamily="34" charset="-120"/>
              </a:rPr>
              <a:t> amount.</a:t>
            </a:r>
            <a:endParaRPr lang="en-US" sz="1150" dirty="0"/>
          </a:p>
        </p:txBody>
      </p:sp>
      <p:sp>
        <p:nvSpPr>
          <p:cNvPr id="69" name="Shape 67"/>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70" name="Text 68"/>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a formulation</a:t>
            </a:r>
            <a:endParaRPr lang="en-US" sz="1300" dirty="0"/>
          </a:p>
        </p:txBody>
      </p:sp>
      <p:sp>
        <p:nvSpPr>
          <p:cNvPr id="71" name="Text 69"/>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250 g tin of the paint shown.</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Binder   </a:t>
            </a:r>
            <a:r>
              <a:rPr lang="en-US" sz="1050" dirty="0">
                <a:solidFill>
                  <a:srgbClr val="262B3A"/>
                </a:solidFill>
                <a:latin typeface="Calibri" pitchFamily="34" charset="0"/>
                <a:ea typeface="Calibri" pitchFamily="34" charset="-122"/>
                <a:cs typeface="Calibri" pitchFamily="34" charset="-120"/>
              </a:rPr>
              <a:t>40 ÷ 100 × 250 = 100 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pigment = 0.25 × 250 = </a:t>
            </a:r>
            <a:r>
              <a:rPr lang="en-US" sz="1050" b="1" dirty="0">
                <a:solidFill>
                  <a:srgbClr val="C8414C"/>
                </a:solidFill>
                <a:latin typeface="Calibri" pitchFamily="34" charset="0"/>
                <a:ea typeface="Calibri" pitchFamily="34" charset="-122"/>
                <a:cs typeface="Calibri" pitchFamily="34" charset="-120"/>
              </a:rPr>
              <a:t>62.5 g</a:t>
            </a:r>
            <a:endParaRPr lang="en-US" sz="1050" dirty="0"/>
          </a:p>
        </p:txBody>
      </p:sp>
      <p:sp>
        <p:nvSpPr>
          <p:cNvPr id="72" name="Shape 70"/>
          <p:cNvSpPr/>
          <p:nvPr/>
        </p:nvSpPr>
        <p:spPr>
          <a:xfrm>
            <a:off x="411480" y="5833872"/>
            <a:ext cx="11368735" cy="530352"/>
          </a:xfrm>
          <a:prstGeom prst="rect">
            <a:avLst/>
          </a:prstGeom>
          <a:solidFill>
            <a:srgbClr val="FFF4E0"/>
          </a:solidFill>
          <a:ln w="6350">
            <a:solidFill>
              <a:srgbClr val="F1D9A8"/>
            </a:solidFill>
            <a:prstDash val="solid"/>
          </a:ln>
        </p:spPr>
      </p:sp>
      <p:sp>
        <p:nvSpPr>
          <p:cNvPr id="73" name="Shape 71"/>
          <p:cNvSpPr/>
          <p:nvPr/>
        </p:nvSpPr>
        <p:spPr>
          <a:xfrm>
            <a:off x="411480" y="5833872"/>
            <a:ext cx="82296" cy="530352"/>
          </a:xfrm>
          <a:prstGeom prst="rect">
            <a:avLst/>
          </a:prstGeom>
          <a:solidFill>
            <a:srgbClr val="E39A2F"/>
          </a:solidFill>
          <a:ln w="12700">
            <a:solidFill>
              <a:srgbClr val="E39A2F"/>
            </a:solidFill>
            <a:prstDash val="solid"/>
          </a:ln>
        </p:spPr>
      </p:sp>
      <p:sp>
        <p:nvSpPr>
          <p:cNvPr id="74" name="Text 7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Is "</a:t>
            </a:r>
            <a:r>
              <a:rPr lang="en-US" sz="1150" b="1" dirty="0">
                <a:solidFill>
                  <a:srgbClr val="262B3A"/>
                </a:solidFill>
                <a:latin typeface="Calibri" pitchFamily="34" charset="0"/>
                <a:ea typeface="Calibri" pitchFamily="34" charset="-122"/>
                <a:cs typeface="Calibri" pitchFamily="34" charset="-120"/>
              </a:rPr>
              <a:t>pure</a:t>
            </a:r>
            <a:r>
              <a:rPr lang="en-US" sz="1150" dirty="0">
                <a:solidFill>
                  <a:srgbClr val="262B3A"/>
                </a:solidFill>
                <a:latin typeface="Calibri" pitchFamily="34" charset="0"/>
                <a:ea typeface="Calibri" pitchFamily="34" charset="-122"/>
                <a:cs typeface="Calibri" pitchFamily="34" charset="-120"/>
              </a:rPr>
              <a:t> spring water" pure in the scientific sense? Explain. A 400 g medicine contains </a:t>
            </a:r>
            <a:r>
              <a:rPr lang="en-US" sz="1150" b="1" dirty="0">
                <a:solidFill>
                  <a:srgbClr val="262B3A"/>
                </a:solidFill>
                <a:latin typeface="Calibri" pitchFamily="34" charset="0"/>
                <a:ea typeface="Calibri" pitchFamily="34" charset="-122"/>
                <a:cs typeface="Calibri" pitchFamily="34" charset="-120"/>
              </a:rPr>
              <a:t>2.5%</a:t>
            </a:r>
            <a:r>
              <a:rPr lang="en-US" sz="1150" dirty="0">
                <a:solidFill>
                  <a:srgbClr val="262B3A"/>
                </a:solidFill>
                <a:latin typeface="Calibri" pitchFamily="34" charset="0"/>
                <a:ea typeface="Calibri" pitchFamily="34" charset="-122"/>
                <a:cs typeface="Calibri" pitchFamily="34" charset="-120"/>
              </a:rPr>
              <a:t> active ingredient: what mass is that?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Melting point: a test for purity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C5.1.3 • use melting point data to distinguish pure from impure substances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C5.1.3  |  6</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heating curves plotted to scale (illustrative data)</a:t>
            </a:r>
            <a:endParaRPr lang="en-US" sz="1000" dirty="0"/>
          </a:p>
        </p:txBody>
      </p:sp>
      <p:sp>
        <p:nvSpPr>
          <p:cNvPr id="10" name="Shape 8"/>
          <p:cNvSpPr/>
          <p:nvPr/>
        </p:nvSpPr>
        <p:spPr>
          <a:xfrm>
            <a:off x="1234440" y="1417320"/>
            <a:ext cx="4434840" cy="3017520"/>
          </a:xfrm>
          <a:prstGeom prst="rect">
            <a:avLst/>
          </a:prstGeom>
          <a:solidFill>
            <a:srgbClr val="FFFFFF"/>
          </a:solidFill>
          <a:ln/>
        </p:spPr>
      </p:sp>
      <p:sp>
        <p:nvSpPr>
          <p:cNvPr id="11" name="Shape 9"/>
          <p:cNvSpPr/>
          <p:nvPr/>
        </p:nvSpPr>
        <p:spPr>
          <a:xfrm>
            <a:off x="1234440" y="1417320"/>
            <a:ext cx="91" cy="3017520"/>
          </a:xfrm>
          <a:prstGeom prst="line">
            <a:avLst/>
          </a:prstGeom>
          <a:noFill/>
          <a:ln w="6350">
            <a:solidFill>
              <a:srgbClr val="D6CBE8"/>
            </a:solidFill>
            <a:prstDash val="solid"/>
          </a:ln>
        </p:spPr>
      </p:sp>
      <p:sp>
        <p:nvSpPr>
          <p:cNvPr id="12" name="Shape 10"/>
          <p:cNvSpPr/>
          <p:nvPr/>
        </p:nvSpPr>
        <p:spPr>
          <a:xfrm>
            <a:off x="1788795" y="1417320"/>
            <a:ext cx="91" cy="3017520"/>
          </a:xfrm>
          <a:prstGeom prst="line">
            <a:avLst/>
          </a:prstGeom>
          <a:noFill/>
          <a:ln w="6350">
            <a:solidFill>
              <a:srgbClr val="D6CBE8"/>
            </a:solidFill>
            <a:prstDash val="solid"/>
          </a:ln>
        </p:spPr>
      </p:sp>
      <p:sp>
        <p:nvSpPr>
          <p:cNvPr id="13" name="Shape 11"/>
          <p:cNvSpPr/>
          <p:nvPr/>
        </p:nvSpPr>
        <p:spPr>
          <a:xfrm>
            <a:off x="2343150" y="1417320"/>
            <a:ext cx="91" cy="3017520"/>
          </a:xfrm>
          <a:prstGeom prst="line">
            <a:avLst/>
          </a:prstGeom>
          <a:noFill/>
          <a:ln w="6350">
            <a:solidFill>
              <a:srgbClr val="D6CBE8"/>
            </a:solidFill>
            <a:prstDash val="solid"/>
          </a:ln>
        </p:spPr>
      </p:sp>
      <p:sp>
        <p:nvSpPr>
          <p:cNvPr id="14" name="Shape 12"/>
          <p:cNvSpPr/>
          <p:nvPr/>
        </p:nvSpPr>
        <p:spPr>
          <a:xfrm>
            <a:off x="2897505" y="1417320"/>
            <a:ext cx="91" cy="3017520"/>
          </a:xfrm>
          <a:prstGeom prst="line">
            <a:avLst/>
          </a:prstGeom>
          <a:noFill/>
          <a:ln w="6350">
            <a:solidFill>
              <a:srgbClr val="D6CBE8"/>
            </a:solidFill>
            <a:prstDash val="solid"/>
          </a:ln>
        </p:spPr>
      </p:sp>
      <p:sp>
        <p:nvSpPr>
          <p:cNvPr id="15" name="Shape 13"/>
          <p:cNvSpPr/>
          <p:nvPr/>
        </p:nvSpPr>
        <p:spPr>
          <a:xfrm>
            <a:off x="3451860" y="1417320"/>
            <a:ext cx="91" cy="3017520"/>
          </a:xfrm>
          <a:prstGeom prst="line">
            <a:avLst/>
          </a:prstGeom>
          <a:noFill/>
          <a:ln w="6350">
            <a:solidFill>
              <a:srgbClr val="D6CBE8"/>
            </a:solidFill>
            <a:prstDash val="solid"/>
          </a:ln>
        </p:spPr>
      </p:sp>
      <p:sp>
        <p:nvSpPr>
          <p:cNvPr id="16" name="Shape 14"/>
          <p:cNvSpPr/>
          <p:nvPr/>
        </p:nvSpPr>
        <p:spPr>
          <a:xfrm>
            <a:off x="4006215" y="1417320"/>
            <a:ext cx="91" cy="3017520"/>
          </a:xfrm>
          <a:prstGeom prst="line">
            <a:avLst/>
          </a:prstGeom>
          <a:noFill/>
          <a:ln w="6350">
            <a:solidFill>
              <a:srgbClr val="D6CBE8"/>
            </a:solidFill>
            <a:prstDash val="solid"/>
          </a:ln>
        </p:spPr>
      </p:sp>
      <p:sp>
        <p:nvSpPr>
          <p:cNvPr id="17" name="Shape 15"/>
          <p:cNvSpPr/>
          <p:nvPr/>
        </p:nvSpPr>
        <p:spPr>
          <a:xfrm>
            <a:off x="4560570" y="1417320"/>
            <a:ext cx="91" cy="3017520"/>
          </a:xfrm>
          <a:prstGeom prst="line">
            <a:avLst/>
          </a:prstGeom>
          <a:noFill/>
          <a:ln w="6350">
            <a:solidFill>
              <a:srgbClr val="D6CBE8"/>
            </a:solidFill>
            <a:prstDash val="solid"/>
          </a:ln>
        </p:spPr>
      </p:sp>
      <p:sp>
        <p:nvSpPr>
          <p:cNvPr id="18" name="Shape 16"/>
          <p:cNvSpPr/>
          <p:nvPr/>
        </p:nvSpPr>
        <p:spPr>
          <a:xfrm>
            <a:off x="5114925" y="1417320"/>
            <a:ext cx="91" cy="3017520"/>
          </a:xfrm>
          <a:prstGeom prst="line">
            <a:avLst/>
          </a:prstGeom>
          <a:noFill/>
          <a:ln w="6350">
            <a:solidFill>
              <a:srgbClr val="D6CBE8"/>
            </a:solidFill>
            <a:prstDash val="solid"/>
          </a:ln>
        </p:spPr>
      </p:sp>
      <p:sp>
        <p:nvSpPr>
          <p:cNvPr id="19" name="Shape 17"/>
          <p:cNvSpPr/>
          <p:nvPr/>
        </p:nvSpPr>
        <p:spPr>
          <a:xfrm>
            <a:off x="5669280" y="1417320"/>
            <a:ext cx="91" cy="3017520"/>
          </a:xfrm>
          <a:prstGeom prst="line">
            <a:avLst/>
          </a:prstGeom>
          <a:noFill/>
          <a:ln w="6350">
            <a:solidFill>
              <a:srgbClr val="D6CBE8"/>
            </a:solidFill>
            <a:prstDash val="solid"/>
          </a:ln>
        </p:spPr>
      </p:sp>
      <p:sp>
        <p:nvSpPr>
          <p:cNvPr id="20" name="Shape 18"/>
          <p:cNvSpPr/>
          <p:nvPr/>
        </p:nvSpPr>
        <p:spPr>
          <a:xfrm>
            <a:off x="1234440" y="4434840"/>
            <a:ext cx="4434840" cy="91"/>
          </a:xfrm>
          <a:prstGeom prst="line">
            <a:avLst/>
          </a:prstGeom>
          <a:noFill/>
          <a:ln w="6350">
            <a:solidFill>
              <a:srgbClr val="D6CBE8"/>
            </a:solidFill>
            <a:prstDash val="solid"/>
          </a:ln>
        </p:spPr>
      </p:sp>
      <p:sp>
        <p:nvSpPr>
          <p:cNvPr id="21" name="Shape 19"/>
          <p:cNvSpPr/>
          <p:nvPr/>
        </p:nvSpPr>
        <p:spPr>
          <a:xfrm>
            <a:off x="1234440" y="4003766"/>
            <a:ext cx="4434840" cy="91"/>
          </a:xfrm>
          <a:prstGeom prst="line">
            <a:avLst/>
          </a:prstGeom>
          <a:noFill/>
          <a:ln w="6350">
            <a:solidFill>
              <a:srgbClr val="D6CBE8"/>
            </a:solidFill>
            <a:prstDash val="solid"/>
          </a:ln>
        </p:spPr>
      </p:sp>
      <p:sp>
        <p:nvSpPr>
          <p:cNvPr id="22" name="Shape 20"/>
          <p:cNvSpPr/>
          <p:nvPr/>
        </p:nvSpPr>
        <p:spPr>
          <a:xfrm>
            <a:off x="1234440" y="3572691"/>
            <a:ext cx="4434840" cy="91"/>
          </a:xfrm>
          <a:prstGeom prst="line">
            <a:avLst/>
          </a:prstGeom>
          <a:noFill/>
          <a:ln w="6350">
            <a:solidFill>
              <a:srgbClr val="D6CBE8"/>
            </a:solidFill>
            <a:prstDash val="solid"/>
          </a:ln>
        </p:spPr>
      </p:sp>
      <p:sp>
        <p:nvSpPr>
          <p:cNvPr id="23" name="Shape 21"/>
          <p:cNvSpPr/>
          <p:nvPr/>
        </p:nvSpPr>
        <p:spPr>
          <a:xfrm>
            <a:off x="1234440" y="3141617"/>
            <a:ext cx="4434840" cy="91"/>
          </a:xfrm>
          <a:prstGeom prst="line">
            <a:avLst/>
          </a:prstGeom>
          <a:noFill/>
          <a:ln w="6350">
            <a:solidFill>
              <a:srgbClr val="D6CBE8"/>
            </a:solidFill>
            <a:prstDash val="solid"/>
          </a:ln>
        </p:spPr>
      </p:sp>
      <p:sp>
        <p:nvSpPr>
          <p:cNvPr id="24" name="Shape 22"/>
          <p:cNvSpPr/>
          <p:nvPr/>
        </p:nvSpPr>
        <p:spPr>
          <a:xfrm>
            <a:off x="1234440" y="2710543"/>
            <a:ext cx="4434840" cy="91"/>
          </a:xfrm>
          <a:prstGeom prst="line">
            <a:avLst/>
          </a:prstGeom>
          <a:noFill/>
          <a:ln w="6350">
            <a:solidFill>
              <a:srgbClr val="D6CBE8"/>
            </a:solidFill>
            <a:prstDash val="solid"/>
          </a:ln>
        </p:spPr>
      </p:sp>
      <p:sp>
        <p:nvSpPr>
          <p:cNvPr id="25" name="Shape 23"/>
          <p:cNvSpPr/>
          <p:nvPr/>
        </p:nvSpPr>
        <p:spPr>
          <a:xfrm>
            <a:off x="1234440" y="2279469"/>
            <a:ext cx="4434840" cy="91"/>
          </a:xfrm>
          <a:prstGeom prst="line">
            <a:avLst/>
          </a:prstGeom>
          <a:noFill/>
          <a:ln w="6350">
            <a:solidFill>
              <a:srgbClr val="D6CBE8"/>
            </a:solidFill>
            <a:prstDash val="solid"/>
          </a:ln>
        </p:spPr>
      </p:sp>
      <p:sp>
        <p:nvSpPr>
          <p:cNvPr id="26" name="Shape 24"/>
          <p:cNvSpPr/>
          <p:nvPr/>
        </p:nvSpPr>
        <p:spPr>
          <a:xfrm>
            <a:off x="1234440" y="1848394"/>
            <a:ext cx="4434840" cy="91"/>
          </a:xfrm>
          <a:prstGeom prst="line">
            <a:avLst/>
          </a:prstGeom>
          <a:noFill/>
          <a:ln w="6350">
            <a:solidFill>
              <a:srgbClr val="D6CBE8"/>
            </a:solidFill>
            <a:prstDash val="solid"/>
          </a:ln>
        </p:spPr>
      </p:sp>
      <p:sp>
        <p:nvSpPr>
          <p:cNvPr id="27" name="Shape 25"/>
          <p:cNvSpPr/>
          <p:nvPr/>
        </p:nvSpPr>
        <p:spPr>
          <a:xfrm>
            <a:off x="1234440" y="1417320"/>
            <a:ext cx="4434840" cy="91"/>
          </a:xfrm>
          <a:prstGeom prst="line">
            <a:avLst/>
          </a:prstGeom>
          <a:noFill/>
          <a:ln w="6350">
            <a:solidFill>
              <a:srgbClr val="D6CBE8"/>
            </a:solidFill>
            <a:prstDash val="solid"/>
          </a:ln>
        </p:spPr>
      </p:sp>
      <p:sp>
        <p:nvSpPr>
          <p:cNvPr id="28" name="Shape 26"/>
          <p:cNvSpPr/>
          <p:nvPr/>
        </p:nvSpPr>
        <p:spPr>
          <a:xfrm>
            <a:off x="1234440" y="4434840"/>
            <a:ext cx="4434840" cy="91"/>
          </a:xfrm>
          <a:prstGeom prst="line">
            <a:avLst/>
          </a:prstGeom>
          <a:noFill/>
          <a:ln w="19050">
            <a:solidFill>
              <a:srgbClr val="2A1F3D"/>
            </a:solidFill>
            <a:prstDash val="solid"/>
          </a:ln>
        </p:spPr>
      </p:sp>
      <p:sp>
        <p:nvSpPr>
          <p:cNvPr id="29" name="Shape 27"/>
          <p:cNvSpPr/>
          <p:nvPr/>
        </p:nvSpPr>
        <p:spPr>
          <a:xfrm flipV="1">
            <a:off x="1234440" y="1417320"/>
            <a:ext cx="91" cy="3017520"/>
          </a:xfrm>
          <a:prstGeom prst="line">
            <a:avLst/>
          </a:prstGeom>
          <a:noFill/>
          <a:ln w="19050">
            <a:solidFill>
              <a:srgbClr val="2A1F3D"/>
            </a:solidFill>
            <a:prstDash val="solid"/>
          </a:ln>
        </p:spPr>
      </p:sp>
      <p:sp>
        <p:nvSpPr>
          <p:cNvPr id="30" name="Shape 28"/>
          <p:cNvSpPr/>
          <p:nvPr/>
        </p:nvSpPr>
        <p:spPr>
          <a:xfrm>
            <a:off x="1234440" y="4434840"/>
            <a:ext cx="91" cy="54864"/>
          </a:xfrm>
          <a:prstGeom prst="line">
            <a:avLst/>
          </a:prstGeom>
          <a:noFill/>
          <a:ln w="12700">
            <a:solidFill>
              <a:srgbClr val="2A1F3D"/>
            </a:solidFill>
            <a:prstDash val="solid"/>
          </a:ln>
        </p:spPr>
      </p:sp>
      <p:sp>
        <p:nvSpPr>
          <p:cNvPr id="31" name="Text 29"/>
          <p:cNvSpPr/>
          <p:nvPr/>
        </p:nvSpPr>
        <p:spPr>
          <a:xfrm>
            <a:off x="960120"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32" name="Shape 30"/>
          <p:cNvSpPr/>
          <p:nvPr/>
        </p:nvSpPr>
        <p:spPr>
          <a:xfrm>
            <a:off x="1788795" y="4434840"/>
            <a:ext cx="91" cy="54864"/>
          </a:xfrm>
          <a:prstGeom prst="line">
            <a:avLst/>
          </a:prstGeom>
          <a:noFill/>
          <a:ln w="12700">
            <a:solidFill>
              <a:srgbClr val="2A1F3D"/>
            </a:solidFill>
            <a:prstDash val="solid"/>
          </a:ln>
        </p:spPr>
      </p:sp>
      <p:sp>
        <p:nvSpPr>
          <p:cNvPr id="33" name="Text 31"/>
          <p:cNvSpPr/>
          <p:nvPr/>
        </p:nvSpPr>
        <p:spPr>
          <a:xfrm>
            <a:off x="1514475"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a:t>
            </a:r>
            <a:endParaRPr lang="en-US" sz="1000" dirty="0"/>
          </a:p>
        </p:txBody>
      </p:sp>
      <p:sp>
        <p:nvSpPr>
          <p:cNvPr id="34" name="Shape 32"/>
          <p:cNvSpPr/>
          <p:nvPr/>
        </p:nvSpPr>
        <p:spPr>
          <a:xfrm>
            <a:off x="2343150" y="4434840"/>
            <a:ext cx="91" cy="54864"/>
          </a:xfrm>
          <a:prstGeom prst="line">
            <a:avLst/>
          </a:prstGeom>
          <a:noFill/>
          <a:ln w="12700">
            <a:solidFill>
              <a:srgbClr val="2A1F3D"/>
            </a:solidFill>
            <a:prstDash val="solid"/>
          </a:ln>
        </p:spPr>
      </p:sp>
      <p:sp>
        <p:nvSpPr>
          <p:cNvPr id="35" name="Text 33"/>
          <p:cNvSpPr/>
          <p:nvPr/>
        </p:nvSpPr>
        <p:spPr>
          <a:xfrm>
            <a:off x="2068830"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36" name="Shape 34"/>
          <p:cNvSpPr/>
          <p:nvPr/>
        </p:nvSpPr>
        <p:spPr>
          <a:xfrm>
            <a:off x="2897505" y="4434840"/>
            <a:ext cx="91" cy="54864"/>
          </a:xfrm>
          <a:prstGeom prst="line">
            <a:avLst/>
          </a:prstGeom>
          <a:noFill/>
          <a:ln w="12700">
            <a:solidFill>
              <a:srgbClr val="2A1F3D"/>
            </a:solidFill>
            <a:prstDash val="solid"/>
          </a:ln>
        </p:spPr>
      </p:sp>
      <p:sp>
        <p:nvSpPr>
          <p:cNvPr id="37" name="Text 35"/>
          <p:cNvSpPr/>
          <p:nvPr/>
        </p:nvSpPr>
        <p:spPr>
          <a:xfrm>
            <a:off x="2623185"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p>
        </p:txBody>
      </p:sp>
      <p:sp>
        <p:nvSpPr>
          <p:cNvPr id="38" name="Shape 36"/>
          <p:cNvSpPr/>
          <p:nvPr/>
        </p:nvSpPr>
        <p:spPr>
          <a:xfrm>
            <a:off x="3451860" y="4434840"/>
            <a:ext cx="91" cy="54864"/>
          </a:xfrm>
          <a:prstGeom prst="line">
            <a:avLst/>
          </a:prstGeom>
          <a:noFill/>
          <a:ln w="12700">
            <a:solidFill>
              <a:srgbClr val="2A1F3D"/>
            </a:solidFill>
            <a:prstDash val="solid"/>
          </a:ln>
        </p:spPr>
      </p:sp>
      <p:sp>
        <p:nvSpPr>
          <p:cNvPr id="39" name="Text 37"/>
          <p:cNvSpPr/>
          <p:nvPr/>
        </p:nvSpPr>
        <p:spPr>
          <a:xfrm>
            <a:off x="3177540"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40" name="Shape 38"/>
          <p:cNvSpPr/>
          <p:nvPr/>
        </p:nvSpPr>
        <p:spPr>
          <a:xfrm>
            <a:off x="4006215" y="4434840"/>
            <a:ext cx="91" cy="54864"/>
          </a:xfrm>
          <a:prstGeom prst="line">
            <a:avLst/>
          </a:prstGeom>
          <a:noFill/>
          <a:ln w="12700">
            <a:solidFill>
              <a:srgbClr val="2A1F3D"/>
            </a:solidFill>
            <a:prstDash val="solid"/>
          </a:ln>
        </p:spPr>
      </p:sp>
      <p:sp>
        <p:nvSpPr>
          <p:cNvPr id="41" name="Text 39"/>
          <p:cNvSpPr/>
          <p:nvPr/>
        </p:nvSpPr>
        <p:spPr>
          <a:xfrm>
            <a:off x="3731895"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42" name="Shape 40"/>
          <p:cNvSpPr/>
          <p:nvPr/>
        </p:nvSpPr>
        <p:spPr>
          <a:xfrm>
            <a:off x="4560570" y="4434840"/>
            <a:ext cx="91" cy="54864"/>
          </a:xfrm>
          <a:prstGeom prst="line">
            <a:avLst/>
          </a:prstGeom>
          <a:noFill/>
          <a:ln w="12700">
            <a:solidFill>
              <a:srgbClr val="2A1F3D"/>
            </a:solidFill>
            <a:prstDash val="solid"/>
          </a:ln>
        </p:spPr>
      </p:sp>
      <p:sp>
        <p:nvSpPr>
          <p:cNvPr id="43" name="Text 41"/>
          <p:cNvSpPr/>
          <p:nvPr/>
        </p:nvSpPr>
        <p:spPr>
          <a:xfrm>
            <a:off x="4286250"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44" name="Shape 42"/>
          <p:cNvSpPr/>
          <p:nvPr/>
        </p:nvSpPr>
        <p:spPr>
          <a:xfrm>
            <a:off x="5114925" y="4434840"/>
            <a:ext cx="91" cy="54864"/>
          </a:xfrm>
          <a:prstGeom prst="line">
            <a:avLst/>
          </a:prstGeom>
          <a:noFill/>
          <a:ln w="12700">
            <a:solidFill>
              <a:srgbClr val="2A1F3D"/>
            </a:solidFill>
            <a:prstDash val="solid"/>
          </a:ln>
        </p:spPr>
      </p:sp>
      <p:sp>
        <p:nvSpPr>
          <p:cNvPr id="45" name="Text 43"/>
          <p:cNvSpPr/>
          <p:nvPr/>
        </p:nvSpPr>
        <p:spPr>
          <a:xfrm>
            <a:off x="4840605"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7</a:t>
            </a:r>
            <a:endParaRPr lang="en-US" sz="1000" dirty="0"/>
          </a:p>
        </p:txBody>
      </p:sp>
      <p:sp>
        <p:nvSpPr>
          <p:cNvPr id="46" name="Shape 44"/>
          <p:cNvSpPr/>
          <p:nvPr/>
        </p:nvSpPr>
        <p:spPr>
          <a:xfrm>
            <a:off x="5669280" y="4434840"/>
            <a:ext cx="91" cy="54864"/>
          </a:xfrm>
          <a:prstGeom prst="line">
            <a:avLst/>
          </a:prstGeom>
          <a:noFill/>
          <a:ln w="12700">
            <a:solidFill>
              <a:srgbClr val="2A1F3D"/>
            </a:solidFill>
            <a:prstDash val="solid"/>
          </a:ln>
        </p:spPr>
      </p:sp>
      <p:sp>
        <p:nvSpPr>
          <p:cNvPr id="47" name="Text 45"/>
          <p:cNvSpPr/>
          <p:nvPr/>
        </p:nvSpPr>
        <p:spPr>
          <a:xfrm>
            <a:off x="5394960" y="44897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48" name="Shape 46"/>
          <p:cNvSpPr/>
          <p:nvPr/>
        </p:nvSpPr>
        <p:spPr>
          <a:xfrm>
            <a:off x="1179576" y="4434840"/>
            <a:ext cx="54864" cy="91"/>
          </a:xfrm>
          <a:prstGeom prst="line">
            <a:avLst/>
          </a:prstGeom>
          <a:noFill/>
          <a:ln w="12700">
            <a:solidFill>
              <a:srgbClr val="2A1F3D"/>
            </a:solidFill>
            <a:prstDash val="solid"/>
          </a:ln>
        </p:spPr>
      </p:sp>
      <p:sp>
        <p:nvSpPr>
          <p:cNvPr id="49" name="Text 47"/>
          <p:cNvSpPr/>
          <p:nvPr/>
        </p:nvSpPr>
        <p:spPr>
          <a:xfrm>
            <a:off x="795528" y="43434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50" name="Shape 48"/>
          <p:cNvSpPr/>
          <p:nvPr/>
        </p:nvSpPr>
        <p:spPr>
          <a:xfrm>
            <a:off x="1179576" y="4003766"/>
            <a:ext cx="54864" cy="91"/>
          </a:xfrm>
          <a:prstGeom prst="line">
            <a:avLst/>
          </a:prstGeom>
          <a:noFill/>
          <a:ln w="12700">
            <a:solidFill>
              <a:srgbClr val="2A1F3D"/>
            </a:solidFill>
            <a:prstDash val="solid"/>
          </a:ln>
        </p:spPr>
      </p:sp>
      <p:sp>
        <p:nvSpPr>
          <p:cNvPr id="51" name="Text 49"/>
          <p:cNvSpPr/>
          <p:nvPr/>
        </p:nvSpPr>
        <p:spPr>
          <a:xfrm>
            <a:off x="795528" y="391232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105</a:t>
            </a:r>
            <a:endParaRPr lang="en-US" sz="1000" dirty="0"/>
          </a:p>
        </p:txBody>
      </p:sp>
      <p:sp>
        <p:nvSpPr>
          <p:cNvPr id="52" name="Shape 50"/>
          <p:cNvSpPr/>
          <p:nvPr/>
        </p:nvSpPr>
        <p:spPr>
          <a:xfrm>
            <a:off x="1179576" y="3572691"/>
            <a:ext cx="54864" cy="91"/>
          </a:xfrm>
          <a:prstGeom prst="line">
            <a:avLst/>
          </a:prstGeom>
          <a:noFill/>
          <a:ln w="12700">
            <a:solidFill>
              <a:srgbClr val="2A1F3D"/>
            </a:solidFill>
            <a:prstDash val="solid"/>
          </a:ln>
        </p:spPr>
      </p:sp>
      <p:sp>
        <p:nvSpPr>
          <p:cNvPr id="53" name="Text 51"/>
          <p:cNvSpPr/>
          <p:nvPr/>
        </p:nvSpPr>
        <p:spPr>
          <a:xfrm>
            <a:off x="795528" y="3481251"/>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110</a:t>
            </a:r>
            <a:endParaRPr lang="en-US" sz="1000" dirty="0"/>
          </a:p>
        </p:txBody>
      </p:sp>
      <p:sp>
        <p:nvSpPr>
          <p:cNvPr id="54" name="Shape 52"/>
          <p:cNvSpPr/>
          <p:nvPr/>
        </p:nvSpPr>
        <p:spPr>
          <a:xfrm>
            <a:off x="1179576" y="3141617"/>
            <a:ext cx="54864" cy="91"/>
          </a:xfrm>
          <a:prstGeom prst="line">
            <a:avLst/>
          </a:prstGeom>
          <a:noFill/>
          <a:ln w="12700">
            <a:solidFill>
              <a:srgbClr val="2A1F3D"/>
            </a:solidFill>
            <a:prstDash val="solid"/>
          </a:ln>
        </p:spPr>
      </p:sp>
      <p:sp>
        <p:nvSpPr>
          <p:cNvPr id="55" name="Text 53"/>
          <p:cNvSpPr/>
          <p:nvPr/>
        </p:nvSpPr>
        <p:spPr>
          <a:xfrm>
            <a:off x="795528" y="3050177"/>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115</a:t>
            </a:r>
            <a:endParaRPr lang="en-US" sz="1000" dirty="0"/>
          </a:p>
        </p:txBody>
      </p:sp>
      <p:sp>
        <p:nvSpPr>
          <p:cNvPr id="56" name="Shape 54"/>
          <p:cNvSpPr/>
          <p:nvPr/>
        </p:nvSpPr>
        <p:spPr>
          <a:xfrm>
            <a:off x="1179576" y="2710543"/>
            <a:ext cx="54864" cy="91"/>
          </a:xfrm>
          <a:prstGeom prst="line">
            <a:avLst/>
          </a:prstGeom>
          <a:noFill/>
          <a:ln w="12700">
            <a:solidFill>
              <a:srgbClr val="2A1F3D"/>
            </a:solidFill>
            <a:prstDash val="solid"/>
          </a:ln>
        </p:spPr>
      </p:sp>
      <p:sp>
        <p:nvSpPr>
          <p:cNvPr id="57" name="Text 55"/>
          <p:cNvSpPr/>
          <p:nvPr/>
        </p:nvSpPr>
        <p:spPr>
          <a:xfrm>
            <a:off x="795528" y="2619103"/>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120</a:t>
            </a:r>
            <a:endParaRPr lang="en-US" sz="1000" dirty="0"/>
          </a:p>
        </p:txBody>
      </p:sp>
      <p:sp>
        <p:nvSpPr>
          <p:cNvPr id="58" name="Shape 56"/>
          <p:cNvSpPr/>
          <p:nvPr/>
        </p:nvSpPr>
        <p:spPr>
          <a:xfrm>
            <a:off x="1179576" y="2279469"/>
            <a:ext cx="54864" cy="91"/>
          </a:xfrm>
          <a:prstGeom prst="line">
            <a:avLst/>
          </a:prstGeom>
          <a:noFill/>
          <a:ln w="12700">
            <a:solidFill>
              <a:srgbClr val="2A1F3D"/>
            </a:solidFill>
            <a:prstDash val="solid"/>
          </a:ln>
        </p:spPr>
      </p:sp>
      <p:sp>
        <p:nvSpPr>
          <p:cNvPr id="59" name="Text 57"/>
          <p:cNvSpPr/>
          <p:nvPr/>
        </p:nvSpPr>
        <p:spPr>
          <a:xfrm>
            <a:off x="795528" y="2188029"/>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125</a:t>
            </a:r>
            <a:endParaRPr lang="en-US" sz="1000" dirty="0"/>
          </a:p>
        </p:txBody>
      </p:sp>
      <p:sp>
        <p:nvSpPr>
          <p:cNvPr id="60" name="Shape 58"/>
          <p:cNvSpPr/>
          <p:nvPr/>
        </p:nvSpPr>
        <p:spPr>
          <a:xfrm>
            <a:off x="1179576" y="1848394"/>
            <a:ext cx="54864" cy="91"/>
          </a:xfrm>
          <a:prstGeom prst="line">
            <a:avLst/>
          </a:prstGeom>
          <a:noFill/>
          <a:ln w="12700">
            <a:solidFill>
              <a:srgbClr val="2A1F3D"/>
            </a:solidFill>
            <a:prstDash val="solid"/>
          </a:ln>
        </p:spPr>
      </p:sp>
      <p:sp>
        <p:nvSpPr>
          <p:cNvPr id="61" name="Text 59"/>
          <p:cNvSpPr/>
          <p:nvPr/>
        </p:nvSpPr>
        <p:spPr>
          <a:xfrm>
            <a:off x="795528" y="175695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130</a:t>
            </a:r>
            <a:endParaRPr lang="en-US" sz="1000" dirty="0"/>
          </a:p>
        </p:txBody>
      </p:sp>
      <p:sp>
        <p:nvSpPr>
          <p:cNvPr id="62" name="Shape 60"/>
          <p:cNvSpPr/>
          <p:nvPr/>
        </p:nvSpPr>
        <p:spPr>
          <a:xfrm>
            <a:off x="1179576" y="1417320"/>
            <a:ext cx="54864" cy="91"/>
          </a:xfrm>
          <a:prstGeom prst="line">
            <a:avLst/>
          </a:prstGeom>
          <a:noFill/>
          <a:ln w="12700">
            <a:solidFill>
              <a:srgbClr val="2A1F3D"/>
            </a:solidFill>
            <a:prstDash val="solid"/>
          </a:ln>
        </p:spPr>
      </p:sp>
      <p:sp>
        <p:nvSpPr>
          <p:cNvPr id="63" name="Text 61"/>
          <p:cNvSpPr/>
          <p:nvPr/>
        </p:nvSpPr>
        <p:spPr>
          <a:xfrm>
            <a:off x="79552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135</a:t>
            </a:r>
            <a:endParaRPr lang="en-US" sz="1000" dirty="0"/>
          </a:p>
        </p:txBody>
      </p:sp>
      <p:sp>
        <p:nvSpPr>
          <p:cNvPr id="64" name="Text 62"/>
          <p:cNvSpPr/>
          <p:nvPr/>
        </p:nvSpPr>
        <p:spPr>
          <a:xfrm>
            <a:off x="1234440" y="4681728"/>
            <a:ext cx="4434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minutes</a:t>
            </a:r>
            <a:endParaRPr lang="en-US" sz="1050" dirty="0"/>
          </a:p>
        </p:txBody>
      </p:sp>
      <p:sp>
        <p:nvSpPr>
          <p:cNvPr id="65" name="Text 63"/>
          <p:cNvSpPr/>
          <p:nvPr/>
        </p:nvSpPr>
        <p:spPr>
          <a:xfrm rot="16200000">
            <a:off x="-841248" y="2798064"/>
            <a:ext cx="30175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Temperature / °C</a:t>
            </a:r>
            <a:endParaRPr lang="en-US" sz="1050" dirty="0"/>
          </a:p>
        </p:txBody>
      </p:sp>
      <p:sp>
        <p:nvSpPr>
          <p:cNvPr id="66" name="Shape 64"/>
          <p:cNvSpPr/>
          <p:nvPr/>
        </p:nvSpPr>
        <p:spPr>
          <a:xfrm>
            <a:off x="1234440" y="2538113"/>
            <a:ext cx="4434840" cy="91"/>
          </a:xfrm>
          <a:prstGeom prst="line">
            <a:avLst/>
          </a:prstGeom>
          <a:noFill/>
          <a:ln w="12700">
            <a:solidFill>
              <a:srgbClr val="6B7385"/>
            </a:solidFill>
            <a:prstDash val="dash"/>
          </a:ln>
        </p:spPr>
      </p:sp>
      <p:sp>
        <p:nvSpPr>
          <p:cNvPr id="67" name="Text 65"/>
          <p:cNvSpPr/>
          <p:nvPr/>
        </p:nvSpPr>
        <p:spPr>
          <a:xfrm>
            <a:off x="1262158" y="2309513"/>
            <a:ext cx="1737360" cy="201168"/>
          </a:xfrm>
          <a:prstGeom prst="rect">
            <a:avLst/>
          </a:prstGeom>
          <a:noFill/>
          <a:ln/>
        </p:spPr>
        <p:txBody>
          <a:bodyPr wrap="square" lIns="0" tIns="0" rIns="0" bIns="0" rtlCol="0" anchor="ctr"/>
          <a:lstStyle/>
          <a:p>
            <a:pPr algn="l" indent="0" marL="0">
              <a:buNone/>
            </a:pPr>
            <a:r>
              <a:rPr lang="en-US" sz="1000" dirty="0">
                <a:solidFill>
                  <a:srgbClr val="6B7385"/>
                </a:solidFill>
                <a:latin typeface="Calibri" pitchFamily="34" charset="0"/>
                <a:ea typeface="Calibri" pitchFamily="34" charset="-122"/>
                <a:cs typeface="Calibri" pitchFamily="34" charset="-120"/>
              </a:rPr>
              <a:t>data-book value 122 °C</a:t>
            </a:r>
            <a:endParaRPr lang="en-US" sz="1000" dirty="0"/>
          </a:p>
        </p:txBody>
      </p:sp>
      <p:sp>
        <p:nvSpPr>
          <p:cNvPr id="68" name="Shape 66"/>
          <p:cNvSpPr/>
          <p:nvPr/>
        </p:nvSpPr>
        <p:spPr>
          <a:xfrm flipV="1">
            <a:off x="1234440" y="2538113"/>
            <a:ext cx="1108710" cy="1551867"/>
          </a:xfrm>
          <a:prstGeom prst="line">
            <a:avLst/>
          </a:prstGeom>
          <a:noFill/>
          <a:ln w="31750">
            <a:solidFill>
              <a:srgbClr val="6A3FA0"/>
            </a:solidFill>
            <a:prstDash val="solid"/>
          </a:ln>
        </p:spPr>
      </p:sp>
      <p:sp>
        <p:nvSpPr>
          <p:cNvPr id="69" name="Shape 67"/>
          <p:cNvSpPr/>
          <p:nvPr/>
        </p:nvSpPr>
        <p:spPr>
          <a:xfrm>
            <a:off x="2343150" y="2538113"/>
            <a:ext cx="2217420" cy="91"/>
          </a:xfrm>
          <a:prstGeom prst="line">
            <a:avLst/>
          </a:prstGeom>
          <a:noFill/>
          <a:ln w="31750">
            <a:solidFill>
              <a:srgbClr val="6A3FA0"/>
            </a:solidFill>
            <a:prstDash val="solid"/>
          </a:ln>
        </p:spPr>
      </p:sp>
      <p:sp>
        <p:nvSpPr>
          <p:cNvPr id="70" name="Shape 68"/>
          <p:cNvSpPr/>
          <p:nvPr/>
        </p:nvSpPr>
        <p:spPr>
          <a:xfrm flipV="1">
            <a:off x="4560570" y="1675965"/>
            <a:ext cx="1108710" cy="862149"/>
          </a:xfrm>
          <a:prstGeom prst="line">
            <a:avLst/>
          </a:prstGeom>
          <a:noFill/>
          <a:ln w="31750">
            <a:solidFill>
              <a:srgbClr val="6A3FA0"/>
            </a:solidFill>
            <a:prstDash val="solid"/>
          </a:ln>
        </p:spPr>
      </p:sp>
      <p:sp>
        <p:nvSpPr>
          <p:cNvPr id="71" name="Shape 69"/>
          <p:cNvSpPr/>
          <p:nvPr/>
        </p:nvSpPr>
        <p:spPr>
          <a:xfrm flipV="1">
            <a:off x="1234440" y="3141617"/>
            <a:ext cx="886968" cy="1207008"/>
          </a:xfrm>
          <a:prstGeom prst="line">
            <a:avLst/>
          </a:prstGeom>
          <a:noFill/>
          <a:ln w="31750">
            <a:solidFill>
              <a:srgbClr val="C8414C"/>
            </a:solidFill>
            <a:prstDash val="dash"/>
          </a:ln>
        </p:spPr>
      </p:sp>
      <p:sp>
        <p:nvSpPr>
          <p:cNvPr id="72" name="Shape 70"/>
          <p:cNvSpPr/>
          <p:nvPr/>
        </p:nvSpPr>
        <p:spPr>
          <a:xfrm flipV="1">
            <a:off x="2121408" y="2796758"/>
            <a:ext cx="2660904" cy="344859"/>
          </a:xfrm>
          <a:prstGeom prst="line">
            <a:avLst/>
          </a:prstGeom>
          <a:noFill/>
          <a:ln w="31750">
            <a:solidFill>
              <a:srgbClr val="C8414C"/>
            </a:solidFill>
            <a:prstDash val="dash"/>
          </a:ln>
        </p:spPr>
      </p:sp>
      <p:sp>
        <p:nvSpPr>
          <p:cNvPr id="73" name="Shape 71"/>
          <p:cNvSpPr/>
          <p:nvPr/>
        </p:nvSpPr>
        <p:spPr>
          <a:xfrm flipV="1">
            <a:off x="4782312" y="2107039"/>
            <a:ext cx="886968" cy="689719"/>
          </a:xfrm>
          <a:prstGeom prst="line">
            <a:avLst/>
          </a:prstGeom>
          <a:noFill/>
          <a:ln w="31750">
            <a:solidFill>
              <a:srgbClr val="C8414C"/>
            </a:solidFill>
            <a:prstDash val="dash"/>
          </a:ln>
        </p:spPr>
      </p:sp>
      <p:sp>
        <p:nvSpPr>
          <p:cNvPr id="74" name="Text 72"/>
          <p:cNvSpPr/>
          <p:nvPr/>
        </p:nvSpPr>
        <p:spPr>
          <a:xfrm>
            <a:off x="2398586" y="2150146"/>
            <a:ext cx="2377440" cy="219456"/>
          </a:xfrm>
          <a:prstGeom prst="rect">
            <a:avLst/>
          </a:prstGeom>
          <a:noFill/>
          <a:ln/>
        </p:spPr>
        <p:txBody>
          <a:bodyPr wrap="square" lIns="0" tIns="0" rIns="0" bIns="0" rtlCol="0" anchor="ctr"/>
          <a:lstStyle/>
          <a:p>
            <a:pPr algn="l" indent="0" marL="0">
              <a:buNone/>
            </a:pPr>
            <a:r>
              <a:rPr lang="en-US" sz="1050" b="1" dirty="0">
                <a:solidFill>
                  <a:srgbClr val="6A3FA0"/>
                </a:solidFill>
                <a:latin typeface="Calibri" pitchFamily="34" charset="0"/>
                <a:ea typeface="Calibri" pitchFamily="34" charset="-122"/>
                <a:cs typeface="Calibri" pitchFamily="34" charset="-120"/>
              </a:rPr>
              <a:t>pure</a:t>
            </a:r>
            <a:r>
              <a:rPr lang="en-US" sz="1050" dirty="0">
                <a:solidFill>
                  <a:srgbClr val="6A3FA0"/>
                </a:solidFill>
                <a:latin typeface="Calibri" pitchFamily="34" charset="0"/>
                <a:ea typeface="Calibri" pitchFamily="34" charset="-122"/>
                <a:cs typeface="Calibri" pitchFamily="34" charset="-120"/>
              </a:rPr>
              <a:t>: melts at </a:t>
            </a:r>
            <a:r>
              <a:rPr lang="en-US" sz="1050" b="1" dirty="0">
                <a:solidFill>
                  <a:srgbClr val="6A3FA0"/>
                </a:solidFill>
                <a:latin typeface="Calibri" pitchFamily="34" charset="0"/>
                <a:ea typeface="Calibri" pitchFamily="34" charset="-122"/>
                <a:cs typeface="Calibri" pitchFamily="34" charset="-120"/>
              </a:rPr>
              <a:t>122 °C</a:t>
            </a:r>
            <a:r>
              <a:rPr lang="en-US" sz="1050" dirty="0">
                <a:solidFill>
                  <a:srgbClr val="6A3FA0"/>
                </a:solidFill>
                <a:latin typeface="Calibri" pitchFamily="34" charset="0"/>
                <a:ea typeface="Calibri" pitchFamily="34" charset="-122"/>
                <a:cs typeface="Calibri" pitchFamily="34" charset="-120"/>
              </a:rPr>
              <a:t> (sharp)</a:t>
            </a:r>
            <a:endParaRPr lang="en-US" sz="1050" dirty="0"/>
          </a:p>
        </p:txBody>
      </p:sp>
      <p:sp>
        <p:nvSpPr>
          <p:cNvPr id="75" name="Text 73"/>
          <p:cNvSpPr/>
          <p:nvPr/>
        </p:nvSpPr>
        <p:spPr>
          <a:xfrm>
            <a:off x="2454021" y="3357154"/>
            <a:ext cx="2651760" cy="219456"/>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impure</a:t>
            </a:r>
            <a:r>
              <a:rPr lang="en-US" sz="1050" dirty="0">
                <a:solidFill>
                  <a:srgbClr val="C8414C"/>
                </a:solidFill>
                <a:latin typeface="Calibri" pitchFamily="34" charset="0"/>
                <a:ea typeface="Calibri" pitchFamily="34" charset="-122"/>
                <a:cs typeface="Calibri" pitchFamily="34" charset="-120"/>
              </a:rPr>
              <a:t>: melts over </a:t>
            </a:r>
            <a:r>
              <a:rPr lang="en-US" sz="1050" b="1" dirty="0">
                <a:solidFill>
                  <a:srgbClr val="C8414C"/>
                </a:solidFill>
                <a:latin typeface="Calibri" pitchFamily="34" charset="0"/>
                <a:ea typeface="Calibri" pitchFamily="34" charset="-122"/>
                <a:cs typeface="Calibri" pitchFamily="34" charset="-120"/>
              </a:rPr>
              <a:t>115–119 °C</a:t>
            </a:r>
            <a:endParaRPr lang="en-US" sz="1050" dirty="0"/>
          </a:p>
        </p:txBody>
      </p:sp>
      <p:sp>
        <p:nvSpPr>
          <p:cNvPr id="76" name="Text 74"/>
          <p:cNvSpPr/>
          <p:nvPr/>
        </p:nvSpPr>
        <p:spPr>
          <a:xfrm>
            <a:off x="640080" y="4983480"/>
            <a:ext cx="5120640" cy="274320"/>
          </a:xfrm>
          <a:prstGeom prst="rect">
            <a:avLst/>
          </a:prstGeom>
          <a:noFill/>
          <a:ln/>
        </p:spPr>
        <p:txBody>
          <a:bodyPr wrap="square" lIns="0" tIns="0" rIns="0" bIns="0" rtlCol="0" anchor="ctr"/>
          <a:lstStyle/>
          <a:p>
            <a:pPr algn="ctr" indent="0" marL="0">
              <a:buNone/>
            </a:pPr>
            <a:r>
              <a:rPr lang="en-US" sz="1050" i="1" dirty="0">
                <a:solidFill>
                  <a:srgbClr val="262B3A"/>
                </a:solidFill>
                <a:latin typeface="Calibri" pitchFamily="34" charset="0"/>
                <a:ea typeface="Calibri" pitchFamily="34" charset="-122"/>
                <a:cs typeface="Calibri" pitchFamily="34" charset="-120"/>
              </a:rPr>
              <a:t>Flat line: energy is used to melt the solid, so the temperature stays constant</a:t>
            </a:r>
            <a:endParaRPr lang="en-US" sz="1050" dirty="0"/>
          </a:p>
        </p:txBody>
      </p:sp>
      <p:sp>
        <p:nvSpPr>
          <p:cNvPr id="77" name="Shape 75"/>
          <p:cNvSpPr/>
          <p:nvPr/>
        </p:nvSpPr>
        <p:spPr>
          <a:xfrm>
            <a:off x="6217920" y="1188720"/>
            <a:ext cx="5562295" cy="3108960"/>
          </a:xfrm>
          <a:prstGeom prst="roundRect">
            <a:avLst>
              <a:gd name="adj" fmla="val 1765"/>
            </a:avLst>
          </a:prstGeom>
          <a:solidFill>
            <a:srgbClr val="F8F5FC"/>
          </a:solidFill>
          <a:ln w="9525">
            <a:solidFill>
              <a:srgbClr val="DDD3EC"/>
            </a:solidFill>
            <a:prstDash val="solid"/>
          </a:ln>
        </p:spPr>
      </p:sp>
      <p:sp>
        <p:nvSpPr>
          <p:cNvPr id="78" name="Text 7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Pure or impure?</a:t>
            </a:r>
            <a:endParaRPr lang="en-US" sz="1300" dirty="0"/>
          </a:p>
        </p:txBody>
      </p:sp>
      <p:sp>
        <p:nvSpPr>
          <p:cNvPr id="79" name="Text 77"/>
          <p:cNvSpPr/>
          <p:nvPr/>
        </p:nvSpPr>
        <p:spPr>
          <a:xfrm>
            <a:off x="6382512" y="1609344"/>
            <a:ext cx="5233111" cy="26151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pure</a:t>
            </a:r>
            <a:r>
              <a:rPr lang="en-US" sz="1150" dirty="0">
                <a:solidFill>
                  <a:srgbClr val="262B3A"/>
                </a:solidFill>
                <a:latin typeface="Calibri" pitchFamily="34" charset="0"/>
                <a:ea typeface="Calibri" pitchFamily="34" charset="-122"/>
                <a:cs typeface="Calibri" pitchFamily="34" charset="-120"/>
              </a:rPr>
              <a:t> substance melts at a </a:t>
            </a:r>
            <a:r>
              <a:rPr lang="en-US" sz="1150" b="1" dirty="0">
                <a:solidFill>
                  <a:srgbClr val="262B3A"/>
                </a:solidFill>
                <a:latin typeface="Calibri" pitchFamily="34" charset="0"/>
                <a:ea typeface="Calibri" pitchFamily="34" charset="-122"/>
                <a:cs typeface="Calibri" pitchFamily="34" charset="-120"/>
              </a:rPr>
              <a:t>fixed, sharp</a:t>
            </a:r>
            <a:r>
              <a:rPr lang="en-US" sz="1150" dirty="0">
                <a:solidFill>
                  <a:srgbClr val="262B3A"/>
                </a:solidFill>
                <a:latin typeface="Calibri" pitchFamily="34" charset="0"/>
                <a:ea typeface="Calibri" pitchFamily="34" charset="-122"/>
                <a:cs typeface="Calibri" pitchFamily="34" charset="-120"/>
              </a:rPr>
              <a:t> temperature (and boils at a fixed temperature).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An </a:t>
            </a:r>
            <a:r>
              <a:rPr lang="en-US" sz="1150" b="1" dirty="0">
                <a:solidFill>
                  <a:srgbClr val="262B3A"/>
                </a:solidFill>
                <a:latin typeface="Calibri" pitchFamily="34" charset="0"/>
                <a:ea typeface="Calibri" pitchFamily="34" charset="-122"/>
                <a:cs typeface="Calibri" pitchFamily="34" charset="-120"/>
              </a:rPr>
              <a:t>impure</a:t>
            </a:r>
            <a:r>
              <a:rPr lang="en-US" sz="1150" dirty="0">
                <a:solidFill>
                  <a:srgbClr val="262B3A"/>
                </a:solidFill>
                <a:latin typeface="Calibri" pitchFamily="34" charset="0"/>
                <a:ea typeface="Calibri" pitchFamily="34" charset="-122"/>
                <a:cs typeface="Calibri" pitchFamily="34" charset="-120"/>
              </a:rPr>
              <a:t> substance melts at a </a:t>
            </a:r>
            <a:r>
              <a:rPr lang="en-US" sz="1150" b="1" dirty="0">
                <a:solidFill>
                  <a:srgbClr val="262B3A"/>
                </a:solidFill>
                <a:latin typeface="Calibri" pitchFamily="34" charset="0"/>
                <a:ea typeface="Calibri" pitchFamily="34" charset="-122"/>
                <a:cs typeface="Calibri" pitchFamily="34" charset="-120"/>
              </a:rPr>
              <a:t>lower</a:t>
            </a:r>
            <a:r>
              <a:rPr lang="en-US" sz="1150" dirty="0">
                <a:solidFill>
                  <a:srgbClr val="262B3A"/>
                </a:solidFill>
                <a:latin typeface="Calibri" pitchFamily="34" charset="0"/>
                <a:ea typeface="Calibri" pitchFamily="34" charset="-122"/>
                <a:cs typeface="Calibri" pitchFamily="34" charset="-120"/>
              </a:rPr>
              <a:t> temperature and over a </a:t>
            </a:r>
            <a:r>
              <a:rPr lang="en-US" sz="1150" b="1" dirty="0">
                <a:solidFill>
                  <a:srgbClr val="262B3A"/>
                </a:solidFill>
                <a:latin typeface="Calibri" pitchFamily="34" charset="0"/>
                <a:ea typeface="Calibri" pitchFamily="34" charset="-122"/>
                <a:cs typeface="Calibri" pitchFamily="34" charset="-120"/>
              </a:rPr>
              <a:t>range</a:t>
            </a:r>
            <a:r>
              <a:rPr lang="en-US" sz="1150" dirty="0">
                <a:solidFill>
                  <a:srgbClr val="262B3A"/>
                </a:solidFill>
                <a:latin typeface="Calibri" pitchFamily="34" charset="0"/>
                <a:ea typeface="Calibri" pitchFamily="34" charset="-122"/>
                <a:cs typeface="Calibri" pitchFamily="34" charset="-120"/>
              </a:rPr>
              <a:t> of temperatures.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Compare the measured melting point with the </a:t>
            </a:r>
            <a:r>
              <a:rPr lang="en-US" sz="1150" b="1" dirty="0">
                <a:solidFill>
                  <a:srgbClr val="262B3A"/>
                </a:solidFill>
                <a:latin typeface="Calibri" pitchFamily="34" charset="0"/>
                <a:ea typeface="Calibri" pitchFamily="34" charset="-122"/>
                <a:cs typeface="Calibri" pitchFamily="34" charset="-120"/>
              </a:rPr>
              <a:t>data-book</a:t>
            </a:r>
            <a:r>
              <a:rPr lang="en-US" sz="1150" dirty="0">
                <a:solidFill>
                  <a:srgbClr val="262B3A"/>
                </a:solidFill>
                <a:latin typeface="Calibri" pitchFamily="34" charset="0"/>
                <a:ea typeface="Calibri" pitchFamily="34" charset="-122"/>
                <a:cs typeface="Calibri" pitchFamily="34" charset="-120"/>
              </a:rPr>
              <a:t> value: a sharp match means the sample is pure.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Measure it with a </a:t>
            </a:r>
            <a:r>
              <a:rPr lang="en-US" sz="1150" b="1" dirty="0">
                <a:solidFill>
                  <a:srgbClr val="262B3A"/>
                </a:solidFill>
                <a:latin typeface="Calibri" pitchFamily="34" charset="0"/>
                <a:ea typeface="Calibri" pitchFamily="34" charset="-122"/>
                <a:cs typeface="Calibri" pitchFamily="34" charset="-120"/>
              </a:rPr>
              <a:t>melting point apparatus</a:t>
            </a:r>
            <a:r>
              <a:rPr lang="en-US" sz="1150" dirty="0">
                <a:solidFill>
                  <a:srgbClr val="262B3A"/>
                </a:solidFill>
                <a:latin typeface="Calibri" pitchFamily="34" charset="0"/>
                <a:ea typeface="Calibri" pitchFamily="34" charset="-122"/>
                <a:cs typeface="Calibri" pitchFamily="34" charset="-120"/>
              </a:rPr>
              <a:t>: a little solid in a capillary tube is heated </a:t>
            </a:r>
            <a:r>
              <a:rPr lang="en-US" sz="1150" b="1" dirty="0">
                <a:solidFill>
                  <a:srgbClr val="262B3A"/>
                </a:solidFill>
                <a:latin typeface="Calibri" pitchFamily="34" charset="0"/>
                <a:ea typeface="Calibri" pitchFamily="34" charset="-122"/>
                <a:cs typeface="Calibri" pitchFamily="34" charset="-120"/>
              </a:rPr>
              <a:t>slowly</a:t>
            </a:r>
            <a:r>
              <a:rPr lang="en-US" sz="1150" dirty="0">
                <a:solidFill>
                  <a:srgbClr val="262B3A"/>
                </a:solidFill>
                <a:latin typeface="Calibri" pitchFamily="34" charset="0"/>
                <a:ea typeface="Calibri" pitchFamily="34" charset="-122"/>
                <a:cs typeface="Calibri" pitchFamily="34" charset="-120"/>
              </a:rPr>
              <a:t> and watched.</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Impurities also make a liquid boil at a </a:t>
            </a:r>
            <a:r>
              <a:rPr lang="en-US" sz="1150" b="1" dirty="0">
                <a:solidFill>
                  <a:srgbClr val="262B3A"/>
                </a:solidFill>
                <a:latin typeface="Calibri" pitchFamily="34" charset="0"/>
                <a:ea typeface="Calibri" pitchFamily="34" charset="-122"/>
                <a:cs typeface="Calibri" pitchFamily="34" charset="-120"/>
              </a:rPr>
              <a:t>higher</a:t>
            </a:r>
            <a:r>
              <a:rPr lang="en-US" sz="1150" dirty="0">
                <a:solidFill>
                  <a:srgbClr val="262B3A"/>
                </a:solidFill>
                <a:latin typeface="Calibri" pitchFamily="34" charset="0"/>
                <a:ea typeface="Calibri" pitchFamily="34" charset="-122"/>
                <a:cs typeface="Calibri" pitchFamily="34" charset="-120"/>
              </a:rPr>
              <a:t> temperature, over a range.</a:t>
            </a:r>
            <a:endParaRPr lang="en-US" sz="1150" dirty="0"/>
          </a:p>
        </p:txBody>
      </p:sp>
      <p:sp>
        <p:nvSpPr>
          <p:cNvPr id="80" name="Shape 78"/>
          <p:cNvSpPr/>
          <p:nvPr/>
        </p:nvSpPr>
        <p:spPr>
          <a:xfrm>
            <a:off x="6217920" y="4434840"/>
            <a:ext cx="5562295" cy="1280160"/>
          </a:xfrm>
          <a:prstGeom prst="roundRect">
            <a:avLst>
              <a:gd name="adj" fmla="val 4286"/>
            </a:avLst>
          </a:prstGeom>
          <a:solidFill>
            <a:srgbClr val="FFF4E0"/>
          </a:solidFill>
          <a:ln w="9525">
            <a:solidFill>
              <a:srgbClr val="F1D9A8"/>
            </a:solidFill>
            <a:prstDash val="solid"/>
          </a:ln>
        </p:spPr>
      </p:sp>
      <p:sp>
        <p:nvSpPr>
          <p:cNvPr id="81" name="Text 79"/>
          <p:cNvSpPr/>
          <p:nvPr/>
        </p:nvSpPr>
        <p:spPr>
          <a:xfrm>
            <a:off x="6382512" y="45079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using data</a:t>
            </a:r>
            <a:endParaRPr lang="en-US" sz="1300" dirty="0"/>
          </a:p>
        </p:txBody>
      </p:sp>
      <p:sp>
        <p:nvSpPr>
          <p:cNvPr id="82" name="Text 80"/>
          <p:cNvSpPr/>
          <p:nvPr/>
        </p:nvSpPr>
        <p:spPr>
          <a:xfrm>
            <a:off x="6382512" y="4818888"/>
            <a:ext cx="5233111" cy="8229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Pure benzoic acid melts at 122 °C. Sample X melts from 115 °C to 119 °C.</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Compare   </a:t>
            </a:r>
            <a:r>
              <a:rPr lang="en-US" sz="1050" dirty="0">
                <a:solidFill>
                  <a:srgbClr val="262B3A"/>
                </a:solidFill>
                <a:latin typeface="Calibri" pitchFamily="34" charset="0"/>
                <a:ea typeface="Calibri" pitchFamily="34" charset="-122"/>
                <a:cs typeface="Calibri" pitchFamily="34" charset="-120"/>
              </a:rPr>
              <a:t>range 119 − 115 = 4 °C, and all below 122 °C</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X melts over a range and too low: X is </a:t>
            </a:r>
            <a:r>
              <a:rPr lang="en-US" sz="1050" b="1" dirty="0">
                <a:solidFill>
                  <a:srgbClr val="C8414C"/>
                </a:solidFill>
                <a:latin typeface="Calibri" pitchFamily="34" charset="0"/>
                <a:ea typeface="Calibri" pitchFamily="34" charset="-122"/>
                <a:cs typeface="Calibri" pitchFamily="34" charset="-120"/>
              </a:rPr>
              <a:t>impure</a:t>
            </a:r>
            <a:endParaRPr lang="en-US" sz="1050" dirty="0"/>
          </a:p>
        </p:txBody>
      </p:sp>
      <p:sp>
        <p:nvSpPr>
          <p:cNvPr id="83" name="Shape 81"/>
          <p:cNvSpPr/>
          <p:nvPr/>
        </p:nvSpPr>
        <p:spPr>
          <a:xfrm>
            <a:off x="411480" y="5833872"/>
            <a:ext cx="11368735" cy="530352"/>
          </a:xfrm>
          <a:prstGeom prst="rect">
            <a:avLst/>
          </a:prstGeom>
          <a:solidFill>
            <a:srgbClr val="FFF4E0"/>
          </a:solidFill>
          <a:ln w="6350">
            <a:solidFill>
              <a:srgbClr val="F1D9A8"/>
            </a:solidFill>
            <a:prstDash val="solid"/>
          </a:ln>
        </p:spPr>
      </p:sp>
      <p:sp>
        <p:nvSpPr>
          <p:cNvPr id="84" name="Shape 82"/>
          <p:cNvSpPr/>
          <p:nvPr/>
        </p:nvSpPr>
        <p:spPr>
          <a:xfrm>
            <a:off x="411480" y="5833872"/>
            <a:ext cx="82296" cy="530352"/>
          </a:xfrm>
          <a:prstGeom prst="rect">
            <a:avLst/>
          </a:prstGeom>
          <a:solidFill>
            <a:srgbClr val="E39A2F"/>
          </a:solidFill>
          <a:ln w="12700">
            <a:solidFill>
              <a:srgbClr val="E39A2F"/>
            </a:solidFill>
            <a:prstDash val="solid"/>
          </a:ln>
        </p:spPr>
      </p:sp>
      <p:sp>
        <p:nvSpPr>
          <p:cNvPr id="85" name="Text 8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Paracetamol melts at </a:t>
            </a:r>
            <a:r>
              <a:rPr lang="en-US" sz="1150" b="1" dirty="0">
                <a:solidFill>
                  <a:srgbClr val="262B3A"/>
                </a:solidFill>
                <a:latin typeface="Calibri" pitchFamily="34" charset="0"/>
                <a:ea typeface="Calibri" pitchFamily="34" charset="-122"/>
                <a:cs typeface="Calibri" pitchFamily="34" charset="-120"/>
              </a:rPr>
              <a:t>169 °C</a:t>
            </a:r>
            <a:r>
              <a:rPr lang="en-US" sz="1150" dirty="0">
                <a:solidFill>
                  <a:srgbClr val="262B3A"/>
                </a:solidFill>
                <a:latin typeface="Calibri" pitchFamily="34" charset="0"/>
                <a:ea typeface="Calibri" pitchFamily="34" charset="-122"/>
                <a:cs typeface="Calibri" pitchFamily="34" charset="-120"/>
              </a:rPr>
              <a:t>. Sample P melts at </a:t>
            </a:r>
            <a:r>
              <a:rPr lang="en-US" sz="1150" b="1" dirty="0">
                <a:solidFill>
                  <a:srgbClr val="262B3A"/>
                </a:solidFill>
                <a:latin typeface="Calibri" pitchFamily="34" charset="0"/>
                <a:ea typeface="Calibri" pitchFamily="34" charset="-122"/>
                <a:cs typeface="Calibri" pitchFamily="34" charset="-120"/>
              </a:rPr>
              <a:t>169 °C</a:t>
            </a:r>
            <a:r>
              <a:rPr lang="en-US" sz="1150" dirty="0">
                <a:solidFill>
                  <a:srgbClr val="262B3A"/>
                </a:solidFill>
                <a:latin typeface="Calibri" pitchFamily="34" charset="0"/>
                <a:ea typeface="Calibri" pitchFamily="34" charset="-122"/>
                <a:cs typeface="Calibri" pitchFamily="34" charset="-120"/>
              </a:rPr>
              <a:t>; sample Q melts between </a:t>
            </a:r>
            <a:r>
              <a:rPr lang="en-US" sz="1150" b="1" dirty="0">
                <a:solidFill>
                  <a:srgbClr val="262B3A"/>
                </a:solidFill>
                <a:latin typeface="Calibri" pitchFamily="34" charset="0"/>
                <a:ea typeface="Calibri" pitchFamily="34" charset="-122"/>
                <a:cs typeface="Calibri" pitchFamily="34" charset="-120"/>
              </a:rPr>
              <a:t>160 °C and 165 °C</a:t>
            </a:r>
            <a:r>
              <a:rPr lang="en-US" sz="1150" dirty="0">
                <a:solidFill>
                  <a:srgbClr val="262B3A"/>
                </a:solidFill>
                <a:latin typeface="Calibri" pitchFamily="34" charset="0"/>
                <a:ea typeface="Calibri" pitchFamily="34" charset="-122"/>
                <a:cs typeface="Calibri" pitchFamily="34" charset="-120"/>
              </a:rPr>
              <a:t>. Which is pure? Explain.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C5.1.1–C5.1.3 • purity, mixtures and formulations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meant by a </a:t>
            </a:r>
            <a:r>
              <a:rPr lang="en-US" sz="1250" b="1" dirty="0">
                <a:solidFill>
                  <a:srgbClr val="262B3A"/>
                </a:solidFill>
                <a:latin typeface="Calibri" pitchFamily="34" charset="0"/>
                <a:ea typeface="Calibri" pitchFamily="34" charset="-122"/>
                <a:cs typeface="Calibri" pitchFamily="34" charset="-120"/>
              </a:rPr>
              <a:t>pure</a:t>
            </a:r>
            <a:r>
              <a:rPr lang="en-US" sz="1250" dirty="0">
                <a:solidFill>
                  <a:srgbClr val="262B3A"/>
                </a:solidFill>
                <a:latin typeface="Calibri" pitchFamily="34" charset="0"/>
                <a:ea typeface="Calibri" pitchFamily="34" charset="-122"/>
                <a:cs typeface="Calibri" pitchFamily="34" charset="-120"/>
              </a:rPr>
              <a:t> substance in chemistry?</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carton says "</a:t>
            </a:r>
            <a:r>
              <a:rPr lang="en-US" sz="1250" b="1" dirty="0">
                <a:solidFill>
                  <a:srgbClr val="262B3A"/>
                </a:solidFill>
                <a:latin typeface="Calibri" pitchFamily="34" charset="0"/>
                <a:ea typeface="Calibri" pitchFamily="34" charset="-122"/>
                <a:cs typeface="Calibri" pitchFamily="34" charset="-120"/>
              </a:rPr>
              <a:t>100% pure orange juice</a:t>
            </a:r>
            <a:r>
              <a:rPr lang="en-US" sz="1250" dirty="0">
                <a:solidFill>
                  <a:srgbClr val="262B3A"/>
                </a:solidFill>
                <a:latin typeface="Calibri" pitchFamily="34" charset="0"/>
                <a:ea typeface="Calibri" pitchFamily="34" charset="-122"/>
                <a:cs typeface="Calibri" pitchFamily="34" charset="-120"/>
              </a:rPr>
              <a:t>". Explain why a chemist would </a:t>
            </a:r>
            <a:r>
              <a:rPr lang="en-US" sz="1250" b="1" dirty="0">
                <a:solidFill>
                  <a:srgbClr val="262B3A"/>
                </a:solidFill>
                <a:latin typeface="Calibri" pitchFamily="34" charset="0"/>
                <a:ea typeface="Calibri" pitchFamily="34" charset="-122"/>
                <a:cs typeface="Calibri" pitchFamily="34" charset="-120"/>
              </a:rPr>
              <a:t>not</a:t>
            </a:r>
            <a:r>
              <a:rPr lang="en-US" sz="1250" dirty="0">
                <a:solidFill>
                  <a:srgbClr val="262B3A"/>
                </a:solidFill>
                <a:latin typeface="Calibri" pitchFamily="34" charset="0"/>
                <a:ea typeface="Calibri" pitchFamily="34" charset="-122"/>
                <a:cs typeface="Calibri" pitchFamily="34" charset="-120"/>
              </a:rPr>
              <a:t> call it pure.</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 </a:t>
            </a:r>
            <a:r>
              <a:rPr lang="en-US" sz="1250" b="1" dirty="0">
                <a:solidFill>
                  <a:srgbClr val="262B3A"/>
                </a:solidFill>
                <a:latin typeface="Calibri" pitchFamily="34" charset="0"/>
                <a:ea typeface="Calibri" pitchFamily="34" charset="-122"/>
                <a:cs typeface="Calibri" pitchFamily="34" charset="-120"/>
              </a:rPr>
              <a:t>formulation</a:t>
            </a:r>
            <a:r>
              <a:rPr lang="en-US" sz="1250" dirty="0">
                <a:solidFill>
                  <a:srgbClr val="262B3A"/>
                </a:solidFill>
                <a:latin typeface="Calibri" pitchFamily="34" charset="0"/>
                <a:ea typeface="Calibri" pitchFamily="34" charset="-122"/>
                <a:cs typeface="Calibri" pitchFamily="34" charset="-120"/>
              </a:rPr>
              <a:t>? 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example.</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Pure aspirin melts at </a:t>
            </a:r>
            <a:r>
              <a:rPr lang="en-US" sz="1250" b="1" dirty="0">
                <a:solidFill>
                  <a:srgbClr val="262B3A"/>
                </a:solidFill>
                <a:latin typeface="Calibri" pitchFamily="34" charset="0"/>
                <a:ea typeface="Calibri" pitchFamily="34" charset="-122"/>
                <a:cs typeface="Calibri" pitchFamily="34" charset="-120"/>
              </a:rPr>
              <a:t>136 °C</a:t>
            </a:r>
            <a:r>
              <a:rPr lang="en-US" sz="1250" dirty="0">
                <a:solidFill>
                  <a:srgbClr val="262B3A"/>
                </a:solidFill>
                <a:latin typeface="Calibri" pitchFamily="34" charset="0"/>
                <a:ea typeface="Calibri" pitchFamily="34" charset="-122"/>
                <a:cs typeface="Calibri" pitchFamily="34" charset="-120"/>
              </a:rPr>
              <a:t>. A sample melts between </a:t>
            </a:r>
            <a:r>
              <a:rPr lang="en-US" sz="1250" b="1" dirty="0">
                <a:solidFill>
                  <a:srgbClr val="262B3A"/>
                </a:solidFill>
                <a:latin typeface="Calibri" pitchFamily="34" charset="0"/>
                <a:ea typeface="Calibri" pitchFamily="34" charset="-122"/>
                <a:cs typeface="Calibri" pitchFamily="34" charset="-120"/>
              </a:rPr>
              <a:t>128 °C and 132 °C</a:t>
            </a:r>
            <a:r>
              <a:rPr lang="en-US" sz="1250" dirty="0">
                <a:solidFill>
                  <a:srgbClr val="262B3A"/>
                </a:solidFill>
                <a:latin typeface="Calibri" pitchFamily="34" charset="0"/>
                <a:ea typeface="Calibri" pitchFamily="34" charset="-122"/>
                <a:cs typeface="Calibri" pitchFamily="34" charset="-120"/>
              </a:rPr>
              <a:t>. What can you conclude? Explain.</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Chromatography: two phases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C5.1.4 • a stationary phase and a mobile phase</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C5.1.4  |  8</a:t>
            </a:r>
            <a:endParaRPr lang="en-US" sz="1000" dirty="0"/>
          </a:p>
        </p:txBody>
      </p:sp>
      <p:sp>
        <p:nvSpPr>
          <p:cNvPr id="8" name="Shape 6"/>
          <p:cNvSpPr/>
          <p:nvPr/>
        </p:nvSpPr>
        <p:spPr>
          <a:xfrm>
            <a:off x="411480" y="1188720"/>
            <a:ext cx="585216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57784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paper chromatography part-way through a run; close-up not to scale</a:t>
            </a:r>
            <a:endParaRPr lang="en-US" sz="1000" dirty="0"/>
          </a:p>
        </p:txBody>
      </p:sp>
      <p:sp>
        <p:nvSpPr>
          <p:cNvPr id="10" name="Shape 8"/>
          <p:cNvSpPr/>
          <p:nvPr/>
        </p:nvSpPr>
        <p:spPr>
          <a:xfrm>
            <a:off x="731520" y="1828800"/>
            <a:ext cx="1737360" cy="2834640"/>
          </a:xfrm>
          <a:prstGeom prst="rect">
            <a:avLst/>
          </a:prstGeom>
          <a:solidFill>
            <a:srgbClr val="EEF5FB"/>
          </a:solidFill>
          <a:ln/>
        </p:spPr>
      </p:sp>
      <p:sp>
        <p:nvSpPr>
          <p:cNvPr id="11" name="Shape 9"/>
          <p:cNvSpPr/>
          <p:nvPr/>
        </p:nvSpPr>
        <p:spPr>
          <a:xfrm>
            <a:off x="731520" y="4238244"/>
            <a:ext cx="1737360" cy="425196"/>
          </a:xfrm>
          <a:prstGeom prst="rect">
            <a:avLst/>
          </a:prstGeom>
          <a:solidFill>
            <a:srgbClr val="E8F1D6"/>
          </a:solidFill>
          <a:ln/>
        </p:spPr>
      </p:sp>
      <p:sp>
        <p:nvSpPr>
          <p:cNvPr id="12" name="Shape 10"/>
          <p:cNvSpPr/>
          <p:nvPr/>
        </p:nvSpPr>
        <p:spPr>
          <a:xfrm>
            <a:off x="731520" y="4238244"/>
            <a:ext cx="1737360" cy="91"/>
          </a:xfrm>
          <a:prstGeom prst="line">
            <a:avLst/>
          </a:prstGeom>
          <a:noFill/>
          <a:ln w="12700">
            <a:solidFill>
              <a:srgbClr val="8DB04A"/>
            </a:solidFill>
            <a:prstDash val="solid"/>
          </a:ln>
        </p:spPr>
      </p:sp>
      <p:sp>
        <p:nvSpPr>
          <p:cNvPr id="13" name="Shape 11"/>
          <p:cNvSpPr/>
          <p:nvPr/>
        </p:nvSpPr>
        <p:spPr>
          <a:xfrm>
            <a:off x="731520" y="1828800"/>
            <a:ext cx="91" cy="2834640"/>
          </a:xfrm>
          <a:prstGeom prst="line">
            <a:avLst/>
          </a:prstGeom>
          <a:noFill/>
          <a:ln w="19050">
            <a:solidFill>
              <a:srgbClr val="2A1F3D"/>
            </a:solidFill>
            <a:prstDash val="solid"/>
          </a:ln>
        </p:spPr>
      </p:sp>
      <p:sp>
        <p:nvSpPr>
          <p:cNvPr id="14" name="Shape 12"/>
          <p:cNvSpPr/>
          <p:nvPr/>
        </p:nvSpPr>
        <p:spPr>
          <a:xfrm>
            <a:off x="2468880" y="1828800"/>
            <a:ext cx="91" cy="2834640"/>
          </a:xfrm>
          <a:prstGeom prst="line">
            <a:avLst/>
          </a:prstGeom>
          <a:noFill/>
          <a:ln w="19050">
            <a:solidFill>
              <a:srgbClr val="2A1F3D"/>
            </a:solidFill>
            <a:prstDash val="solid"/>
          </a:ln>
        </p:spPr>
      </p:sp>
      <p:sp>
        <p:nvSpPr>
          <p:cNvPr id="15" name="Shape 13"/>
          <p:cNvSpPr/>
          <p:nvPr/>
        </p:nvSpPr>
        <p:spPr>
          <a:xfrm>
            <a:off x="731520" y="4663440"/>
            <a:ext cx="1737360" cy="91"/>
          </a:xfrm>
          <a:prstGeom prst="line">
            <a:avLst/>
          </a:prstGeom>
          <a:noFill/>
          <a:ln w="19050">
            <a:solidFill>
              <a:srgbClr val="2A1F3D"/>
            </a:solidFill>
            <a:prstDash val="solid"/>
          </a:ln>
        </p:spPr>
      </p:sp>
      <p:sp>
        <p:nvSpPr>
          <p:cNvPr id="16" name="Shape 14"/>
          <p:cNvSpPr/>
          <p:nvPr/>
        </p:nvSpPr>
        <p:spPr>
          <a:xfrm>
            <a:off x="676656" y="1828800"/>
            <a:ext cx="54864" cy="91"/>
          </a:xfrm>
          <a:prstGeom prst="line">
            <a:avLst/>
          </a:prstGeom>
          <a:noFill/>
          <a:ln w="19050">
            <a:solidFill>
              <a:srgbClr val="2A1F3D"/>
            </a:solidFill>
            <a:prstDash val="solid"/>
          </a:ln>
        </p:spPr>
      </p:sp>
      <p:sp>
        <p:nvSpPr>
          <p:cNvPr id="17" name="Shape 15"/>
          <p:cNvSpPr/>
          <p:nvPr/>
        </p:nvSpPr>
        <p:spPr>
          <a:xfrm>
            <a:off x="2468880" y="1828800"/>
            <a:ext cx="54864" cy="91"/>
          </a:xfrm>
          <a:prstGeom prst="line">
            <a:avLst/>
          </a:prstGeom>
          <a:noFill/>
          <a:ln w="19050">
            <a:solidFill>
              <a:srgbClr val="2A1F3D"/>
            </a:solidFill>
            <a:prstDash val="solid"/>
          </a:ln>
        </p:spPr>
      </p:sp>
      <p:sp>
        <p:nvSpPr>
          <p:cNvPr id="18" name="Shape 16"/>
          <p:cNvSpPr/>
          <p:nvPr/>
        </p:nvSpPr>
        <p:spPr>
          <a:xfrm>
            <a:off x="640080" y="1700784"/>
            <a:ext cx="1920240" cy="91440"/>
          </a:xfrm>
          <a:prstGeom prst="rect">
            <a:avLst/>
          </a:prstGeom>
          <a:solidFill>
            <a:srgbClr val="DDE7F0"/>
          </a:solidFill>
          <a:ln w="12700">
            <a:solidFill>
              <a:srgbClr val="2A1F3D"/>
            </a:solidFill>
            <a:prstDash val="solid"/>
          </a:ln>
        </p:spPr>
      </p:sp>
      <p:sp>
        <p:nvSpPr>
          <p:cNvPr id="19" name="Shape 17"/>
          <p:cNvSpPr/>
          <p:nvPr/>
        </p:nvSpPr>
        <p:spPr>
          <a:xfrm>
            <a:off x="1554480" y="1892808"/>
            <a:ext cx="91440" cy="91440"/>
          </a:xfrm>
          <a:prstGeom prst="ellipse">
            <a:avLst/>
          </a:prstGeom>
          <a:solidFill>
            <a:srgbClr val="C9D6E2"/>
          </a:solidFill>
          <a:ln w="9525">
            <a:solidFill>
              <a:srgbClr val="2A1F3D"/>
            </a:solidFill>
            <a:prstDash val="solid"/>
          </a:ln>
        </p:spPr>
      </p:sp>
      <p:sp>
        <p:nvSpPr>
          <p:cNvPr id="20" name="Shape 18"/>
          <p:cNvSpPr/>
          <p:nvPr/>
        </p:nvSpPr>
        <p:spPr>
          <a:xfrm>
            <a:off x="1325880" y="1938528"/>
            <a:ext cx="548640" cy="2633472"/>
          </a:xfrm>
          <a:prstGeom prst="rect">
            <a:avLst/>
          </a:prstGeom>
          <a:solidFill>
            <a:srgbClr val="FFFFFF"/>
          </a:solidFill>
          <a:ln w="12700">
            <a:solidFill>
              <a:srgbClr val="9AA3B0"/>
            </a:solidFill>
            <a:prstDash val="solid"/>
          </a:ln>
        </p:spPr>
      </p:sp>
      <p:sp>
        <p:nvSpPr>
          <p:cNvPr id="21" name="Shape 19"/>
          <p:cNvSpPr/>
          <p:nvPr/>
        </p:nvSpPr>
        <p:spPr>
          <a:xfrm>
            <a:off x="1325880" y="4233672"/>
            <a:ext cx="548640" cy="338328"/>
          </a:xfrm>
          <a:prstGeom prst="rect">
            <a:avLst/>
          </a:prstGeom>
          <a:solidFill>
            <a:srgbClr val="E8F1D6">
              <a:alpha val="70000"/>
            </a:srgbClr>
          </a:solidFill>
          <a:ln/>
        </p:spPr>
      </p:sp>
      <p:sp>
        <p:nvSpPr>
          <p:cNvPr id="22" name="Shape 20"/>
          <p:cNvSpPr/>
          <p:nvPr/>
        </p:nvSpPr>
        <p:spPr>
          <a:xfrm>
            <a:off x="1325880" y="2514600"/>
            <a:ext cx="548640" cy="2057400"/>
          </a:xfrm>
          <a:prstGeom prst="rect">
            <a:avLst/>
          </a:prstGeom>
          <a:solidFill>
            <a:srgbClr val="F4F9EC">
              <a:alpha val="60000"/>
            </a:srgbClr>
          </a:solidFill>
          <a:ln/>
        </p:spPr>
      </p:sp>
      <p:sp>
        <p:nvSpPr>
          <p:cNvPr id="23" name="Shape 21"/>
          <p:cNvSpPr/>
          <p:nvPr/>
        </p:nvSpPr>
        <p:spPr>
          <a:xfrm>
            <a:off x="1362456" y="4069080"/>
            <a:ext cx="475488" cy="91"/>
          </a:xfrm>
          <a:prstGeom prst="line">
            <a:avLst/>
          </a:prstGeom>
          <a:noFill/>
          <a:ln w="12700">
            <a:solidFill>
              <a:srgbClr val="555555"/>
            </a:solidFill>
            <a:prstDash val="solid"/>
          </a:ln>
        </p:spPr>
      </p:sp>
      <p:sp>
        <p:nvSpPr>
          <p:cNvPr id="24" name="Shape 22"/>
          <p:cNvSpPr/>
          <p:nvPr/>
        </p:nvSpPr>
        <p:spPr>
          <a:xfrm>
            <a:off x="1344168" y="2514600"/>
            <a:ext cx="512064" cy="91"/>
          </a:xfrm>
          <a:prstGeom prst="line">
            <a:avLst/>
          </a:prstGeom>
          <a:noFill/>
          <a:ln w="12700">
            <a:solidFill>
              <a:srgbClr val="7D8794"/>
            </a:solidFill>
            <a:prstDash val="dash"/>
          </a:ln>
        </p:spPr>
      </p:sp>
      <p:sp>
        <p:nvSpPr>
          <p:cNvPr id="25" name="Shape 23"/>
          <p:cNvSpPr/>
          <p:nvPr/>
        </p:nvSpPr>
        <p:spPr>
          <a:xfrm>
            <a:off x="1481328" y="2706624"/>
            <a:ext cx="237744" cy="164592"/>
          </a:xfrm>
          <a:prstGeom prst="ellipse">
            <a:avLst/>
          </a:prstGeom>
          <a:solidFill>
            <a:srgbClr val="3A6FD0"/>
          </a:solidFill>
          <a:ln/>
        </p:spPr>
      </p:sp>
      <p:sp>
        <p:nvSpPr>
          <p:cNvPr id="26" name="Shape 24"/>
          <p:cNvSpPr/>
          <p:nvPr/>
        </p:nvSpPr>
        <p:spPr>
          <a:xfrm>
            <a:off x="1481328" y="3529584"/>
            <a:ext cx="237744" cy="164592"/>
          </a:xfrm>
          <a:prstGeom prst="ellipse">
            <a:avLst/>
          </a:prstGeom>
          <a:solidFill>
            <a:srgbClr val="F2C230"/>
          </a:solidFill>
          <a:ln/>
        </p:spPr>
      </p:sp>
      <p:sp>
        <p:nvSpPr>
          <p:cNvPr id="27" name="Text 25"/>
          <p:cNvSpPr/>
          <p:nvPr/>
        </p:nvSpPr>
        <p:spPr>
          <a:xfrm>
            <a:off x="2697480" y="1600200"/>
            <a:ext cx="1463040"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lid</a:t>
            </a:r>
            <a:endParaRPr lang="en-US" sz="1000" dirty="0"/>
          </a:p>
        </p:txBody>
      </p:sp>
      <p:sp>
        <p:nvSpPr>
          <p:cNvPr id="28" name="Shape 26"/>
          <p:cNvSpPr/>
          <p:nvPr/>
        </p:nvSpPr>
        <p:spPr>
          <a:xfrm flipH="1">
            <a:off x="2377440" y="1709928"/>
            <a:ext cx="292608" cy="36576"/>
          </a:xfrm>
          <a:prstGeom prst="line">
            <a:avLst/>
          </a:prstGeom>
          <a:noFill/>
          <a:ln w="9525">
            <a:solidFill>
              <a:srgbClr val="8A8F99"/>
            </a:solidFill>
            <a:prstDash val="solid"/>
          </a:ln>
        </p:spPr>
      </p:sp>
      <p:sp>
        <p:nvSpPr>
          <p:cNvPr id="29" name="Text 27"/>
          <p:cNvSpPr/>
          <p:nvPr/>
        </p:nvSpPr>
        <p:spPr>
          <a:xfrm>
            <a:off x="2697480" y="2395728"/>
            <a:ext cx="1463040"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solvent front</a:t>
            </a:r>
            <a:endParaRPr lang="en-US" sz="1000" dirty="0"/>
          </a:p>
        </p:txBody>
      </p:sp>
      <p:sp>
        <p:nvSpPr>
          <p:cNvPr id="30" name="Shape 28"/>
          <p:cNvSpPr/>
          <p:nvPr/>
        </p:nvSpPr>
        <p:spPr>
          <a:xfrm flipH="1">
            <a:off x="1874520" y="2505456"/>
            <a:ext cx="795528" cy="9144"/>
          </a:xfrm>
          <a:prstGeom prst="line">
            <a:avLst/>
          </a:prstGeom>
          <a:noFill/>
          <a:ln w="9525">
            <a:solidFill>
              <a:srgbClr val="8A8F99"/>
            </a:solidFill>
            <a:prstDash val="solid"/>
          </a:ln>
        </p:spPr>
      </p:sp>
      <p:sp>
        <p:nvSpPr>
          <p:cNvPr id="31" name="Text 29"/>
          <p:cNvSpPr/>
          <p:nvPr/>
        </p:nvSpPr>
        <p:spPr>
          <a:xfrm>
            <a:off x="2697480" y="2971800"/>
            <a:ext cx="1463040" cy="365760"/>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paper</a:t>
            </a:r>
            <a:r>
              <a:rPr lang="en-US" sz="1000" dirty="0">
                <a:solidFill>
                  <a:srgbClr val="262B3A"/>
                </a:solidFill>
                <a:latin typeface="Calibri" pitchFamily="34" charset="0"/>
                <a:ea typeface="Calibri" pitchFamily="34" charset="-122"/>
                <a:cs typeface="Calibri" pitchFamily="34" charset="-120"/>
              </a:rPr>
              <a:t>: stationary phase</a:t>
            </a:r>
            <a:endParaRPr lang="en-US" sz="1000" dirty="0"/>
          </a:p>
        </p:txBody>
      </p:sp>
      <p:sp>
        <p:nvSpPr>
          <p:cNvPr id="32" name="Shape 30"/>
          <p:cNvSpPr/>
          <p:nvPr/>
        </p:nvSpPr>
        <p:spPr>
          <a:xfrm flipH="1" flipV="1">
            <a:off x="1874520" y="3108960"/>
            <a:ext cx="795528" cy="45720"/>
          </a:xfrm>
          <a:prstGeom prst="line">
            <a:avLst/>
          </a:prstGeom>
          <a:noFill/>
          <a:ln w="9525">
            <a:solidFill>
              <a:srgbClr val="8A8F99"/>
            </a:solidFill>
            <a:prstDash val="solid"/>
          </a:ln>
        </p:spPr>
      </p:sp>
      <p:sp>
        <p:nvSpPr>
          <p:cNvPr id="33" name="Text 31"/>
          <p:cNvSpPr/>
          <p:nvPr/>
        </p:nvSpPr>
        <p:spPr>
          <a:xfrm>
            <a:off x="2697480" y="3950208"/>
            <a:ext cx="1463040"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pencil baseline</a:t>
            </a:r>
            <a:endParaRPr lang="en-US" sz="1000" dirty="0"/>
          </a:p>
        </p:txBody>
      </p:sp>
      <p:sp>
        <p:nvSpPr>
          <p:cNvPr id="34" name="Shape 32"/>
          <p:cNvSpPr/>
          <p:nvPr/>
        </p:nvSpPr>
        <p:spPr>
          <a:xfrm flipH="1">
            <a:off x="1874520" y="4059936"/>
            <a:ext cx="795528" cy="9144"/>
          </a:xfrm>
          <a:prstGeom prst="line">
            <a:avLst/>
          </a:prstGeom>
          <a:noFill/>
          <a:ln w="9525">
            <a:solidFill>
              <a:srgbClr val="8A8F99"/>
            </a:solidFill>
            <a:prstDash val="solid"/>
          </a:ln>
        </p:spPr>
      </p:sp>
      <p:sp>
        <p:nvSpPr>
          <p:cNvPr id="35" name="Text 33"/>
          <p:cNvSpPr/>
          <p:nvPr/>
        </p:nvSpPr>
        <p:spPr>
          <a:xfrm>
            <a:off x="2697480" y="4315968"/>
            <a:ext cx="1463040" cy="365760"/>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solvent</a:t>
            </a:r>
            <a:r>
              <a:rPr lang="en-US" sz="1000" dirty="0">
                <a:solidFill>
                  <a:srgbClr val="262B3A"/>
                </a:solidFill>
                <a:latin typeface="Calibri" pitchFamily="34" charset="0"/>
                <a:ea typeface="Calibri" pitchFamily="34" charset="-122"/>
                <a:cs typeface="Calibri" pitchFamily="34" charset="-120"/>
              </a:rPr>
              <a:t>: mobile phase</a:t>
            </a:r>
            <a:endParaRPr lang="en-US" sz="1000" dirty="0"/>
          </a:p>
        </p:txBody>
      </p:sp>
      <p:sp>
        <p:nvSpPr>
          <p:cNvPr id="36" name="Shape 34"/>
          <p:cNvSpPr/>
          <p:nvPr/>
        </p:nvSpPr>
        <p:spPr>
          <a:xfrm flipH="1" flipV="1">
            <a:off x="2194560" y="4389120"/>
            <a:ext cx="475488" cy="109728"/>
          </a:xfrm>
          <a:prstGeom prst="line">
            <a:avLst/>
          </a:prstGeom>
          <a:noFill/>
          <a:ln w="9525">
            <a:solidFill>
              <a:srgbClr val="8A8F99"/>
            </a:solidFill>
            <a:prstDash val="solid"/>
          </a:ln>
        </p:spPr>
      </p:sp>
      <p:sp>
        <p:nvSpPr>
          <p:cNvPr id="37" name="Text 35"/>
          <p:cNvSpPr/>
          <p:nvPr/>
        </p:nvSpPr>
        <p:spPr>
          <a:xfrm>
            <a:off x="640080" y="4800600"/>
            <a:ext cx="2011680" cy="41148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ink spot has separated into </a:t>
            </a:r>
            <a:r>
              <a:rPr lang="en-US" sz="1000" b="1" dirty="0">
                <a:solidFill>
                  <a:srgbClr val="262B3A"/>
                </a:solidFill>
                <a:latin typeface="Calibri" pitchFamily="34" charset="0"/>
                <a:ea typeface="Calibri" pitchFamily="34" charset="-122"/>
                <a:cs typeface="Calibri" pitchFamily="34" charset="-120"/>
              </a:rPr>
              <a:t>blue</a:t>
            </a:r>
            <a:r>
              <a:rPr lang="en-US" sz="1000" dirty="0">
                <a:solidFill>
                  <a:srgbClr val="262B3A"/>
                </a:solidFill>
                <a:latin typeface="Calibri" pitchFamily="34" charset="0"/>
                <a:ea typeface="Calibri" pitchFamily="34" charset="-122"/>
                <a:cs typeface="Calibri" pitchFamily="34" charset="-120"/>
              </a:rPr>
              <a:t> and </a:t>
            </a:r>
            <a:r>
              <a:rPr lang="en-US" sz="1000" b="1" dirty="0">
                <a:solidFill>
                  <a:srgbClr val="262B3A"/>
                </a:solidFill>
                <a:latin typeface="Calibri" pitchFamily="34" charset="0"/>
                <a:ea typeface="Calibri" pitchFamily="34" charset="-122"/>
                <a:cs typeface="Calibri" pitchFamily="34" charset="-120"/>
              </a:rPr>
              <a:t>yellow</a:t>
            </a:r>
            <a:endParaRPr lang="en-US" sz="1000" dirty="0"/>
          </a:p>
        </p:txBody>
      </p:sp>
      <p:sp>
        <p:nvSpPr>
          <p:cNvPr id="38" name="Shape 36"/>
          <p:cNvSpPr/>
          <p:nvPr/>
        </p:nvSpPr>
        <p:spPr>
          <a:xfrm>
            <a:off x="4251960" y="1417320"/>
            <a:ext cx="1600200" cy="3063240"/>
          </a:xfrm>
          <a:prstGeom prst="roundRect">
            <a:avLst>
              <a:gd name="adj" fmla="val 2857"/>
            </a:avLst>
          </a:prstGeom>
          <a:solidFill>
            <a:srgbClr val="FFFFFF"/>
          </a:solidFill>
          <a:ln w="12700">
            <a:solidFill>
              <a:srgbClr val="DDD3EC"/>
            </a:solidFill>
            <a:prstDash val="solid"/>
          </a:ln>
        </p:spPr>
      </p:sp>
      <p:sp>
        <p:nvSpPr>
          <p:cNvPr id="39" name="Text 37"/>
          <p:cNvSpPr/>
          <p:nvPr/>
        </p:nvSpPr>
        <p:spPr>
          <a:xfrm>
            <a:off x="4251960" y="1444752"/>
            <a:ext cx="160020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Close-up</a:t>
            </a:r>
            <a:endParaRPr lang="en-US" sz="1050" dirty="0"/>
          </a:p>
        </p:txBody>
      </p:sp>
      <p:sp>
        <p:nvSpPr>
          <p:cNvPr id="40" name="Shape 38"/>
          <p:cNvSpPr/>
          <p:nvPr/>
        </p:nvSpPr>
        <p:spPr>
          <a:xfrm>
            <a:off x="4343400" y="1709928"/>
            <a:ext cx="658368" cy="2377440"/>
          </a:xfrm>
          <a:prstGeom prst="rect">
            <a:avLst/>
          </a:prstGeom>
          <a:solidFill>
            <a:srgbClr val="F3E6CC"/>
          </a:solidFill>
          <a:ln w="9525">
            <a:solidFill>
              <a:srgbClr val="C9A86A"/>
            </a:solidFill>
            <a:prstDash val="solid"/>
          </a:ln>
        </p:spPr>
      </p:sp>
      <p:sp>
        <p:nvSpPr>
          <p:cNvPr id="41" name="Shape 39"/>
          <p:cNvSpPr/>
          <p:nvPr/>
        </p:nvSpPr>
        <p:spPr>
          <a:xfrm>
            <a:off x="5093208" y="1709928"/>
            <a:ext cx="667512" cy="2377440"/>
          </a:xfrm>
          <a:prstGeom prst="rect">
            <a:avLst/>
          </a:prstGeom>
          <a:solidFill>
            <a:srgbClr val="E8F1D6"/>
          </a:solidFill>
          <a:ln w="9525">
            <a:solidFill>
              <a:srgbClr val="8DB04A"/>
            </a:solidFill>
            <a:prstDash val="solid"/>
          </a:ln>
        </p:spPr>
      </p:sp>
      <p:sp>
        <p:nvSpPr>
          <p:cNvPr id="42" name="Text 40"/>
          <p:cNvSpPr/>
          <p:nvPr/>
        </p:nvSpPr>
        <p:spPr>
          <a:xfrm>
            <a:off x="4343400" y="4114800"/>
            <a:ext cx="658368" cy="201168"/>
          </a:xfrm>
          <a:prstGeom prst="rect">
            <a:avLst/>
          </a:prstGeom>
          <a:noFill/>
          <a:ln/>
        </p:spPr>
        <p:txBody>
          <a:bodyPr wrap="square" lIns="0" tIns="0" rIns="0" bIns="0" rtlCol="0" anchor="ctr"/>
          <a:lstStyle/>
          <a:p>
            <a:pPr algn="ctr" indent="0" marL="0">
              <a:buNone/>
            </a:pPr>
            <a:r>
              <a:rPr lang="en-US" sz="1000" b="1" dirty="0">
                <a:solidFill>
                  <a:srgbClr val="8A6A2A"/>
                </a:solidFill>
                <a:latin typeface="Calibri" pitchFamily="34" charset="0"/>
                <a:ea typeface="Calibri" pitchFamily="34" charset="-122"/>
                <a:cs typeface="Calibri" pitchFamily="34" charset="-120"/>
              </a:rPr>
              <a:t>paper</a:t>
            </a:r>
            <a:endParaRPr lang="en-US" sz="1000" dirty="0"/>
          </a:p>
        </p:txBody>
      </p:sp>
      <p:sp>
        <p:nvSpPr>
          <p:cNvPr id="43" name="Text 41"/>
          <p:cNvSpPr/>
          <p:nvPr/>
        </p:nvSpPr>
        <p:spPr>
          <a:xfrm>
            <a:off x="5093208" y="4114800"/>
            <a:ext cx="667512" cy="201168"/>
          </a:xfrm>
          <a:prstGeom prst="rect">
            <a:avLst/>
          </a:prstGeom>
          <a:noFill/>
          <a:ln/>
        </p:spPr>
        <p:txBody>
          <a:bodyPr wrap="square" lIns="0" tIns="0" rIns="0" bIns="0" rtlCol="0" anchor="ctr"/>
          <a:lstStyle/>
          <a:p>
            <a:pPr algn="ctr" indent="0" marL="0">
              <a:buNone/>
            </a:pPr>
            <a:r>
              <a:rPr lang="en-US" sz="1000" b="1" dirty="0">
                <a:solidFill>
                  <a:srgbClr val="5E7F2A"/>
                </a:solidFill>
                <a:latin typeface="Calibri" pitchFamily="34" charset="0"/>
                <a:ea typeface="Calibri" pitchFamily="34" charset="-122"/>
                <a:cs typeface="Calibri" pitchFamily="34" charset="-120"/>
              </a:rPr>
              <a:t>solvent</a:t>
            </a:r>
            <a:endParaRPr lang="en-US" sz="1000" dirty="0"/>
          </a:p>
        </p:txBody>
      </p:sp>
      <p:sp>
        <p:nvSpPr>
          <p:cNvPr id="44" name="Shape 42"/>
          <p:cNvSpPr/>
          <p:nvPr/>
        </p:nvSpPr>
        <p:spPr>
          <a:xfrm flipV="1">
            <a:off x="5422392" y="1828800"/>
            <a:ext cx="91" cy="2103120"/>
          </a:xfrm>
          <a:prstGeom prst="line">
            <a:avLst/>
          </a:prstGeom>
          <a:noFill/>
          <a:ln w="19050">
            <a:solidFill>
              <a:srgbClr val="5E7F2A"/>
            </a:solidFill>
            <a:prstDash val="solid"/>
            <a:tailEnd type="triangle"/>
          </a:ln>
        </p:spPr>
      </p:sp>
      <p:sp>
        <p:nvSpPr>
          <p:cNvPr id="45" name="Shape 43"/>
          <p:cNvSpPr/>
          <p:nvPr/>
        </p:nvSpPr>
        <p:spPr>
          <a:xfrm>
            <a:off x="4462272" y="1901952"/>
            <a:ext cx="128016" cy="128016"/>
          </a:xfrm>
          <a:prstGeom prst="ellipse">
            <a:avLst/>
          </a:prstGeom>
          <a:solidFill>
            <a:srgbClr val="F2C230"/>
          </a:solidFill>
          <a:ln w="9525">
            <a:solidFill>
              <a:srgbClr val="A88410"/>
            </a:solidFill>
            <a:prstDash val="solid"/>
          </a:ln>
        </p:spPr>
      </p:sp>
      <p:sp>
        <p:nvSpPr>
          <p:cNvPr id="46" name="Shape 44"/>
          <p:cNvSpPr/>
          <p:nvPr/>
        </p:nvSpPr>
        <p:spPr>
          <a:xfrm>
            <a:off x="4690872" y="2450592"/>
            <a:ext cx="128016" cy="128016"/>
          </a:xfrm>
          <a:prstGeom prst="ellipse">
            <a:avLst/>
          </a:prstGeom>
          <a:solidFill>
            <a:srgbClr val="F2C230"/>
          </a:solidFill>
          <a:ln w="9525">
            <a:solidFill>
              <a:srgbClr val="A88410"/>
            </a:solidFill>
            <a:prstDash val="solid"/>
          </a:ln>
        </p:spPr>
      </p:sp>
      <p:sp>
        <p:nvSpPr>
          <p:cNvPr id="47" name="Shape 45"/>
          <p:cNvSpPr/>
          <p:nvPr/>
        </p:nvSpPr>
        <p:spPr>
          <a:xfrm>
            <a:off x="4462272" y="3090672"/>
            <a:ext cx="128016" cy="128016"/>
          </a:xfrm>
          <a:prstGeom prst="ellipse">
            <a:avLst/>
          </a:prstGeom>
          <a:solidFill>
            <a:srgbClr val="F2C230"/>
          </a:solidFill>
          <a:ln w="9525">
            <a:solidFill>
              <a:srgbClr val="A88410"/>
            </a:solidFill>
            <a:prstDash val="solid"/>
          </a:ln>
        </p:spPr>
      </p:sp>
      <p:sp>
        <p:nvSpPr>
          <p:cNvPr id="48" name="Shape 46"/>
          <p:cNvSpPr/>
          <p:nvPr/>
        </p:nvSpPr>
        <p:spPr>
          <a:xfrm>
            <a:off x="4736592" y="3639312"/>
            <a:ext cx="128016" cy="128016"/>
          </a:xfrm>
          <a:prstGeom prst="ellipse">
            <a:avLst/>
          </a:prstGeom>
          <a:solidFill>
            <a:srgbClr val="F2C230"/>
          </a:solidFill>
          <a:ln w="9525">
            <a:solidFill>
              <a:srgbClr val="A88410"/>
            </a:solidFill>
            <a:prstDash val="solid"/>
          </a:ln>
        </p:spPr>
      </p:sp>
      <p:sp>
        <p:nvSpPr>
          <p:cNvPr id="49" name="Shape 47"/>
          <p:cNvSpPr/>
          <p:nvPr/>
        </p:nvSpPr>
        <p:spPr>
          <a:xfrm>
            <a:off x="5193792" y="2724912"/>
            <a:ext cx="128016" cy="128016"/>
          </a:xfrm>
          <a:prstGeom prst="ellipse">
            <a:avLst/>
          </a:prstGeom>
          <a:solidFill>
            <a:srgbClr val="F2C230"/>
          </a:solidFill>
          <a:ln w="9525">
            <a:solidFill>
              <a:srgbClr val="A88410"/>
            </a:solidFill>
            <a:prstDash val="solid"/>
          </a:ln>
        </p:spPr>
      </p:sp>
      <p:sp>
        <p:nvSpPr>
          <p:cNvPr id="50" name="Shape 48"/>
          <p:cNvSpPr/>
          <p:nvPr/>
        </p:nvSpPr>
        <p:spPr>
          <a:xfrm>
            <a:off x="5175504" y="1993392"/>
            <a:ext cx="128016" cy="128016"/>
          </a:xfrm>
          <a:prstGeom prst="ellipse">
            <a:avLst/>
          </a:prstGeom>
          <a:solidFill>
            <a:srgbClr val="3A6FD0"/>
          </a:solidFill>
          <a:ln w="9525">
            <a:solidFill>
              <a:srgbClr val="23488F"/>
            </a:solidFill>
            <a:prstDash val="solid"/>
          </a:ln>
        </p:spPr>
      </p:sp>
      <p:sp>
        <p:nvSpPr>
          <p:cNvPr id="51" name="Shape 49"/>
          <p:cNvSpPr/>
          <p:nvPr/>
        </p:nvSpPr>
        <p:spPr>
          <a:xfrm>
            <a:off x="5513832" y="2313432"/>
            <a:ext cx="128016" cy="128016"/>
          </a:xfrm>
          <a:prstGeom prst="ellipse">
            <a:avLst/>
          </a:prstGeom>
          <a:solidFill>
            <a:srgbClr val="3A6FD0"/>
          </a:solidFill>
          <a:ln w="9525">
            <a:solidFill>
              <a:srgbClr val="23488F"/>
            </a:solidFill>
            <a:prstDash val="solid"/>
          </a:ln>
        </p:spPr>
      </p:sp>
      <p:sp>
        <p:nvSpPr>
          <p:cNvPr id="52" name="Shape 50"/>
          <p:cNvSpPr/>
          <p:nvPr/>
        </p:nvSpPr>
        <p:spPr>
          <a:xfrm>
            <a:off x="5212080" y="3136392"/>
            <a:ext cx="128016" cy="128016"/>
          </a:xfrm>
          <a:prstGeom prst="ellipse">
            <a:avLst/>
          </a:prstGeom>
          <a:solidFill>
            <a:srgbClr val="3A6FD0"/>
          </a:solidFill>
          <a:ln w="9525">
            <a:solidFill>
              <a:srgbClr val="23488F"/>
            </a:solidFill>
            <a:prstDash val="solid"/>
          </a:ln>
        </p:spPr>
      </p:sp>
      <p:sp>
        <p:nvSpPr>
          <p:cNvPr id="53" name="Shape 51"/>
          <p:cNvSpPr/>
          <p:nvPr/>
        </p:nvSpPr>
        <p:spPr>
          <a:xfrm>
            <a:off x="5541264" y="3502152"/>
            <a:ext cx="128016" cy="128016"/>
          </a:xfrm>
          <a:prstGeom prst="ellipse">
            <a:avLst/>
          </a:prstGeom>
          <a:solidFill>
            <a:srgbClr val="3A6FD0"/>
          </a:solidFill>
          <a:ln w="9525">
            <a:solidFill>
              <a:srgbClr val="23488F"/>
            </a:solidFill>
            <a:prstDash val="solid"/>
          </a:ln>
        </p:spPr>
      </p:sp>
      <p:sp>
        <p:nvSpPr>
          <p:cNvPr id="54" name="Shape 52"/>
          <p:cNvSpPr/>
          <p:nvPr/>
        </p:nvSpPr>
        <p:spPr>
          <a:xfrm>
            <a:off x="4599432" y="3364992"/>
            <a:ext cx="128016" cy="128016"/>
          </a:xfrm>
          <a:prstGeom prst="ellipse">
            <a:avLst/>
          </a:prstGeom>
          <a:solidFill>
            <a:srgbClr val="3A6FD0"/>
          </a:solidFill>
          <a:ln w="9525">
            <a:solidFill>
              <a:srgbClr val="23488F"/>
            </a:solidFill>
            <a:prstDash val="solid"/>
          </a:ln>
        </p:spPr>
      </p:sp>
      <p:sp>
        <p:nvSpPr>
          <p:cNvPr id="55" name="Text 53"/>
          <p:cNvSpPr/>
          <p:nvPr/>
        </p:nvSpPr>
        <p:spPr>
          <a:xfrm>
            <a:off x="4160520" y="4572000"/>
            <a:ext cx="1783080" cy="411480"/>
          </a:xfrm>
          <a:prstGeom prst="rect">
            <a:avLst/>
          </a:prstGeom>
          <a:noFill/>
          <a:ln/>
        </p:spPr>
        <p:txBody>
          <a:bodyPr wrap="square" lIns="0" tIns="0" rIns="0" bIns="0" rtlCol="0" anchor="t"/>
          <a:lstStyle/>
          <a:p>
            <a:pPr algn="l" indent="0" marL="0">
              <a:buNone/>
            </a:pPr>
            <a:r>
              <a:rPr lang="en-US" sz="1000" b="1" dirty="0">
                <a:solidFill>
                  <a:srgbClr val="23488F"/>
                </a:solidFill>
                <a:latin typeface="Calibri" pitchFamily="34" charset="0"/>
                <a:ea typeface="Calibri" pitchFamily="34" charset="-122"/>
                <a:cs typeface="Calibri" pitchFamily="34" charset="-120"/>
              </a:rPr>
              <a:t>blue</a:t>
            </a:r>
            <a:r>
              <a:rPr lang="en-US" sz="1000" dirty="0">
                <a:solidFill>
                  <a:srgbClr val="23488F"/>
                </a:solidFill>
                <a:latin typeface="Calibri" pitchFamily="34" charset="0"/>
                <a:ea typeface="Calibri" pitchFamily="34" charset="-122"/>
                <a:cs typeface="Calibri" pitchFamily="34" charset="-120"/>
              </a:rPr>
              <a:t>: mostly in the solvent, so it moves </a:t>
            </a:r>
            <a:r>
              <a:rPr lang="en-US" sz="1000" b="1" dirty="0">
                <a:solidFill>
                  <a:srgbClr val="23488F"/>
                </a:solidFill>
                <a:latin typeface="Calibri" pitchFamily="34" charset="0"/>
                <a:ea typeface="Calibri" pitchFamily="34" charset="-122"/>
                <a:cs typeface="Calibri" pitchFamily="34" charset="-120"/>
              </a:rPr>
              <a:t>further</a:t>
            </a:r>
            <a:endParaRPr lang="en-US" sz="1000" dirty="0"/>
          </a:p>
        </p:txBody>
      </p:sp>
      <p:sp>
        <p:nvSpPr>
          <p:cNvPr id="56" name="Text 54"/>
          <p:cNvSpPr/>
          <p:nvPr/>
        </p:nvSpPr>
        <p:spPr>
          <a:xfrm>
            <a:off x="4160520" y="4956048"/>
            <a:ext cx="1783080" cy="228600"/>
          </a:xfrm>
          <a:prstGeom prst="rect">
            <a:avLst/>
          </a:prstGeom>
          <a:noFill/>
          <a:ln/>
        </p:spPr>
        <p:txBody>
          <a:bodyPr wrap="square" lIns="0" tIns="0" rIns="0" bIns="0" rtlCol="0" anchor="ctr"/>
          <a:lstStyle/>
          <a:p>
            <a:pPr algn="l" indent="0" marL="0">
              <a:buNone/>
            </a:pPr>
            <a:r>
              <a:rPr lang="en-US" sz="1000" b="1" dirty="0">
                <a:solidFill>
                  <a:srgbClr val="A88410"/>
                </a:solidFill>
                <a:latin typeface="Calibri" pitchFamily="34" charset="0"/>
                <a:ea typeface="Calibri" pitchFamily="34" charset="-122"/>
                <a:cs typeface="Calibri" pitchFamily="34" charset="-120"/>
              </a:rPr>
              <a:t>yellow</a:t>
            </a:r>
            <a:r>
              <a:rPr lang="en-US" sz="1000" dirty="0">
                <a:solidFill>
                  <a:srgbClr val="A88410"/>
                </a:solidFill>
                <a:latin typeface="Calibri" pitchFamily="34" charset="0"/>
                <a:ea typeface="Calibri" pitchFamily="34" charset="-122"/>
                <a:cs typeface="Calibri" pitchFamily="34" charset="-120"/>
              </a:rPr>
              <a:t>: held by the paper</a:t>
            </a:r>
            <a:endParaRPr lang="en-US" sz="1000" dirty="0"/>
          </a:p>
        </p:txBody>
      </p:sp>
      <p:sp>
        <p:nvSpPr>
          <p:cNvPr id="57" name="Shape 55"/>
          <p:cNvSpPr/>
          <p:nvPr/>
        </p:nvSpPr>
        <p:spPr>
          <a:xfrm>
            <a:off x="6492240" y="1188720"/>
            <a:ext cx="5287975" cy="4526280"/>
          </a:xfrm>
          <a:prstGeom prst="roundRect">
            <a:avLst>
              <a:gd name="adj" fmla="val 1212"/>
            </a:avLst>
          </a:prstGeom>
          <a:solidFill>
            <a:srgbClr val="F8F5FC"/>
          </a:solidFill>
          <a:ln w="9525">
            <a:solidFill>
              <a:srgbClr val="DDD3EC"/>
            </a:solidFill>
            <a:prstDash val="solid"/>
          </a:ln>
        </p:spPr>
      </p:sp>
      <p:sp>
        <p:nvSpPr>
          <p:cNvPr id="58" name="Text 56"/>
          <p:cNvSpPr/>
          <p:nvPr/>
        </p:nvSpPr>
        <p:spPr>
          <a:xfrm>
            <a:off x="6656832" y="1280160"/>
            <a:ext cx="495879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How chromatography separates</a:t>
            </a:r>
            <a:endParaRPr lang="en-US" sz="1300" dirty="0"/>
          </a:p>
        </p:txBody>
      </p:sp>
      <p:sp>
        <p:nvSpPr>
          <p:cNvPr id="59" name="Text 57"/>
          <p:cNvSpPr/>
          <p:nvPr/>
        </p:nvSpPr>
        <p:spPr>
          <a:xfrm>
            <a:off x="6656832" y="1609344"/>
            <a:ext cx="4958791" cy="403250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Chromatography separates the </a:t>
            </a:r>
            <a:r>
              <a:rPr lang="en-US" sz="1150" b="1" dirty="0">
                <a:solidFill>
                  <a:srgbClr val="262B3A"/>
                </a:solidFill>
                <a:latin typeface="Calibri" pitchFamily="34" charset="0"/>
                <a:ea typeface="Calibri" pitchFamily="34" charset="-122"/>
                <a:cs typeface="Calibri" pitchFamily="34" charset="-120"/>
              </a:rPr>
              <a:t>soluble</a:t>
            </a:r>
            <a:r>
              <a:rPr lang="en-US" sz="1150" dirty="0">
                <a:solidFill>
                  <a:srgbClr val="262B3A"/>
                </a:solidFill>
                <a:latin typeface="Calibri" pitchFamily="34" charset="0"/>
                <a:ea typeface="Calibri" pitchFamily="34" charset="-122"/>
                <a:cs typeface="Calibri" pitchFamily="34" charset="-120"/>
              </a:rPr>
              <a:t> substances in a mixture, e.g. the dyes in an ink.</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stationary phase</a:t>
            </a:r>
            <a:r>
              <a:rPr lang="en-US" sz="1150" dirty="0">
                <a:solidFill>
                  <a:srgbClr val="262B3A"/>
                </a:solidFill>
                <a:latin typeface="Calibri" pitchFamily="34" charset="0"/>
                <a:ea typeface="Calibri" pitchFamily="34" charset="-122"/>
                <a:cs typeface="Calibri" pitchFamily="34" charset="-120"/>
              </a:rPr>
              <a:t> does not move: in paper chromatography it is the </a:t>
            </a:r>
            <a:r>
              <a:rPr lang="en-US" sz="1150" b="1" dirty="0">
                <a:solidFill>
                  <a:srgbClr val="262B3A"/>
                </a:solidFill>
                <a:latin typeface="Calibri" pitchFamily="34" charset="0"/>
                <a:ea typeface="Calibri" pitchFamily="34" charset="-122"/>
                <a:cs typeface="Calibri" pitchFamily="34" charset="-120"/>
              </a:rPr>
              <a:t>paper</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mobile phase</a:t>
            </a:r>
            <a:r>
              <a:rPr lang="en-US" sz="1150" dirty="0">
                <a:solidFill>
                  <a:srgbClr val="262B3A"/>
                </a:solidFill>
                <a:latin typeface="Calibri" pitchFamily="34" charset="0"/>
                <a:ea typeface="Calibri" pitchFamily="34" charset="-122"/>
                <a:cs typeface="Calibri" pitchFamily="34" charset="-120"/>
              </a:rPr>
              <a:t> moves through it: the </a:t>
            </a:r>
            <a:r>
              <a:rPr lang="en-US" sz="1150" b="1" dirty="0">
                <a:solidFill>
                  <a:srgbClr val="262B3A"/>
                </a:solidFill>
                <a:latin typeface="Calibri" pitchFamily="34" charset="0"/>
                <a:ea typeface="Calibri" pitchFamily="34" charset="-122"/>
                <a:cs typeface="Calibri" pitchFamily="34" charset="-120"/>
              </a:rPr>
              <a:t>solvent</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Each substance is </a:t>
            </a:r>
            <a:r>
              <a:rPr lang="en-US" sz="1150" b="1" dirty="0">
                <a:solidFill>
                  <a:srgbClr val="262B3A"/>
                </a:solidFill>
                <a:latin typeface="Calibri" pitchFamily="34" charset="0"/>
                <a:ea typeface="Calibri" pitchFamily="34" charset="-122"/>
                <a:cs typeface="Calibri" pitchFamily="34" charset="-120"/>
              </a:rPr>
              <a:t>distributed</a:t>
            </a:r>
            <a:r>
              <a:rPr lang="en-US" sz="1150" dirty="0">
                <a:solidFill>
                  <a:srgbClr val="262B3A"/>
                </a:solidFill>
                <a:latin typeface="Calibri" pitchFamily="34" charset="0"/>
                <a:ea typeface="Calibri" pitchFamily="34" charset="-122"/>
                <a:cs typeface="Calibri" pitchFamily="34" charset="-120"/>
              </a:rPr>
              <a:t> between the two phases. A substance that spends </a:t>
            </a:r>
            <a:r>
              <a:rPr lang="en-US" sz="1150" b="1" dirty="0">
                <a:solidFill>
                  <a:srgbClr val="262B3A"/>
                </a:solidFill>
                <a:latin typeface="Calibri" pitchFamily="34" charset="0"/>
                <a:ea typeface="Calibri" pitchFamily="34" charset="-122"/>
                <a:cs typeface="Calibri" pitchFamily="34" charset="-120"/>
              </a:rPr>
              <a:t>more time</a:t>
            </a:r>
            <a:r>
              <a:rPr lang="en-US" sz="1150" dirty="0">
                <a:solidFill>
                  <a:srgbClr val="262B3A"/>
                </a:solidFill>
                <a:latin typeface="Calibri" pitchFamily="34" charset="0"/>
                <a:ea typeface="Calibri" pitchFamily="34" charset="-122"/>
                <a:cs typeface="Calibri" pitchFamily="34" charset="-120"/>
              </a:rPr>
              <a:t> in the mobile phase moves </a:t>
            </a:r>
            <a:r>
              <a:rPr lang="en-US" sz="1150" b="1" dirty="0">
                <a:solidFill>
                  <a:srgbClr val="262B3A"/>
                </a:solidFill>
                <a:latin typeface="Calibri" pitchFamily="34" charset="0"/>
                <a:ea typeface="Calibri" pitchFamily="34" charset="-122"/>
                <a:cs typeface="Calibri" pitchFamily="34" charset="-120"/>
              </a:rPr>
              <a:t>further</a:t>
            </a:r>
            <a:r>
              <a:rPr lang="en-US" sz="1150" dirty="0">
                <a:solidFill>
                  <a:srgbClr val="262B3A"/>
                </a:solidFill>
                <a:latin typeface="Calibri" pitchFamily="34" charset="0"/>
                <a:ea typeface="Calibri" pitchFamily="34" charset="-122"/>
                <a:cs typeface="Calibri" pitchFamily="34" charset="-120"/>
              </a:rPr>
              <a:t> up the paper.</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Draw the baseline in </a:t>
            </a:r>
            <a:r>
              <a:rPr lang="en-US" sz="1150" b="1" dirty="0">
                <a:solidFill>
                  <a:srgbClr val="262B3A"/>
                </a:solidFill>
                <a:latin typeface="Calibri" pitchFamily="34" charset="0"/>
                <a:ea typeface="Calibri" pitchFamily="34" charset="-122"/>
                <a:cs typeface="Calibri" pitchFamily="34" charset="-120"/>
              </a:rPr>
              <a:t>pencil</a:t>
            </a:r>
            <a:r>
              <a:rPr lang="en-US" sz="1150" dirty="0">
                <a:solidFill>
                  <a:srgbClr val="262B3A"/>
                </a:solidFill>
                <a:latin typeface="Calibri" pitchFamily="34" charset="0"/>
                <a:ea typeface="Calibri" pitchFamily="34" charset="-122"/>
                <a:cs typeface="Calibri" pitchFamily="34" charset="-120"/>
              </a:rPr>
              <a:t>: graphite does not dissolve, so it does not run.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solvent must start </a:t>
            </a:r>
            <a:r>
              <a:rPr lang="en-US" sz="1150" b="1" dirty="0">
                <a:solidFill>
                  <a:srgbClr val="262B3A"/>
                </a:solidFill>
                <a:latin typeface="Calibri" pitchFamily="34" charset="0"/>
                <a:ea typeface="Calibri" pitchFamily="34" charset="-122"/>
                <a:cs typeface="Calibri" pitchFamily="34" charset="-120"/>
              </a:rPr>
              <a:t>below</a:t>
            </a:r>
            <a:r>
              <a:rPr lang="en-US" sz="1150" dirty="0">
                <a:solidFill>
                  <a:srgbClr val="262B3A"/>
                </a:solidFill>
                <a:latin typeface="Calibri" pitchFamily="34" charset="0"/>
                <a:ea typeface="Calibri" pitchFamily="34" charset="-122"/>
                <a:cs typeface="Calibri" pitchFamily="34" charset="-120"/>
              </a:rPr>
              <a:t> the baseline, or the spots dissolve into the solvent pool.</a:t>
            </a:r>
            <a:endParaRPr lang="en-US" sz="1150" dirty="0"/>
          </a:p>
        </p:txBody>
      </p:sp>
      <p:sp>
        <p:nvSpPr>
          <p:cNvPr id="60" name="Shape 58"/>
          <p:cNvSpPr/>
          <p:nvPr/>
        </p:nvSpPr>
        <p:spPr>
          <a:xfrm>
            <a:off x="411480" y="5833872"/>
            <a:ext cx="11368735" cy="530352"/>
          </a:xfrm>
          <a:prstGeom prst="rect">
            <a:avLst/>
          </a:prstGeom>
          <a:solidFill>
            <a:srgbClr val="FFF4E0"/>
          </a:solidFill>
          <a:ln w="6350">
            <a:solidFill>
              <a:srgbClr val="F1D9A8"/>
            </a:solidFill>
            <a:prstDash val="solid"/>
          </a:ln>
        </p:spPr>
      </p:sp>
      <p:sp>
        <p:nvSpPr>
          <p:cNvPr id="61" name="Shape 59"/>
          <p:cNvSpPr/>
          <p:nvPr/>
        </p:nvSpPr>
        <p:spPr>
          <a:xfrm>
            <a:off x="411480" y="5833872"/>
            <a:ext cx="82296" cy="530352"/>
          </a:xfrm>
          <a:prstGeom prst="rect">
            <a:avLst/>
          </a:prstGeom>
          <a:solidFill>
            <a:srgbClr val="E39A2F"/>
          </a:solidFill>
          <a:ln w="12700">
            <a:solidFill>
              <a:srgbClr val="E39A2F"/>
            </a:solidFill>
            <a:prstDash val="solid"/>
          </a:ln>
        </p:spPr>
      </p:sp>
      <p:sp>
        <p:nvSpPr>
          <p:cNvPr id="62" name="Text 6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a </a:t>
            </a:r>
            <a:r>
              <a:rPr lang="en-US" sz="1150" b="1" dirty="0">
                <a:solidFill>
                  <a:srgbClr val="262B3A"/>
                </a:solidFill>
                <a:latin typeface="Calibri" pitchFamily="34" charset="0"/>
                <a:ea typeface="Calibri" pitchFamily="34" charset="-122"/>
                <a:cs typeface="Calibri" pitchFamily="34" charset="-120"/>
              </a:rPr>
              <a:t>lid</a:t>
            </a:r>
            <a:r>
              <a:rPr lang="en-US" sz="1150" dirty="0">
                <a:solidFill>
                  <a:srgbClr val="262B3A"/>
                </a:solidFill>
                <a:latin typeface="Calibri" pitchFamily="34" charset="0"/>
                <a:ea typeface="Calibri" pitchFamily="34" charset="-122"/>
                <a:cs typeface="Calibri" pitchFamily="34" charset="-120"/>
              </a:rPr>
              <a:t> placed on the beaker? Why would a baseline drawn in </a:t>
            </a:r>
            <a:r>
              <a:rPr lang="en-US" sz="1150" b="1" dirty="0">
                <a:solidFill>
                  <a:srgbClr val="262B3A"/>
                </a:solidFill>
                <a:latin typeface="Calibri" pitchFamily="34" charset="0"/>
                <a:ea typeface="Calibri" pitchFamily="34" charset="-122"/>
                <a:cs typeface="Calibri" pitchFamily="34" charset="-120"/>
              </a:rPr>
              <a:t>ink</a:t>
            </a:r>
            <a:r>
              <a:rPr lang="en-US" sz="1150" dirty="0">
                <a:solidFill>
                  <a:srgbClr val="262B3A"/>
                </a:solidFill>
                <a:latin typeface="Calibri" pitchFamily="34" charset="0"/>
                <a:ea typeface="Calibri" pitchFamily="34" charset="-122"/>
                <a:cs typeface="Calibri" pitchFamily="34" charset="-120"/>
              </a:rPr>
              <a:t> spoil the chromatogram?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Interpreting chromatograms: Rf values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C5.1.5 • interpret chromatograms, including calculating Rf values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C5.1.5  |  9</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chromatogram drawn to scale: 1 cm on the paper = 0.45 in here</a:t>
            </a:r>
            <a:endParaRPr lang="en-US" sz="1000" dirty="0"/>
          </a:p>
        </p:txBody>
      </p:sp>
      <p:sp>
        <p:nvSpPr>
          <p:cNvPr id="10" name="Shape 8"/>
          <p:cNvSpPr/>
          <p:nvPr/>
        </p:nvSpPr>
        <p:spPr>
          <a:xfrm>
            <a:off x="1188720" y="1353312"/>
            <a:ext cx="3657600" cy="3794760"/>
          </a:xfrm>
          <a:prstGeom prst="rect">
            <a:avLst/>
          </a:prstGeom>
          <a:solidFill>
            <a:srgbClr val="FFFFFF"/>
          </a:solidFill>
          <a:ln w="12700">
            <a:solidFill>
              <a:srgbClr val="9AA3B0"/>
            </a:solidFill>
            <a:prstDash val="solid"/>
          </a:ln>
        </p:spPr>
      </p:sp>
      <p:sp>
        <p:nvSpPr>
          <p:cNvPr id="11" name="Shape 9"/>
          <p:cNvSpPr/>
          <p:nvPr/>
        </p:nvSpPr>
        <p:spPr>
          <a:xfrm>
            <a:off x="1261872" y="4754880"/>
            <a:ext cx="3511296" cy="91"/>
          </a:xfrm>
          <a:prstGeom prst="line">
            <a:avLst/>
          </a:prstGeom>
          <a:noFill/>
          <a:ln w="12700">
            <a:solidFill>
              <a:srgbClr val="555555"/>
            </a:solidFill>
            <a:prstDash val="solid"/>
          </a:ln>
        </p:spPr>
      </p:sp>
      <p:sp>
        <p:nvSpPr>
          <p:cNvPr id="12" name="Shape 10"/>
          <p:cNvSpPr/>
          <p:nvPr/>
        </p:nvSpPr>
        <p:spPr>
          <a:xfrm>
            <a:off x="1234440" y="1463040"/>
            <a:ext cx="3566160" cy="91"/>
          </a:xfrm>
          <a:prstGeom prst="line">
            <a:avLst/>
          </a:prstGeom>
          <a:noFill/>
          <a:ln w="12700">
            <a:solidFill>
              <a:srgbClr val="7D8794"/>
            </a:solidFill>
            <a:prstDash val="dash"/>
          </a:ln>
        </p:spPr>
      </p:sp>
      <p:sp>
        <p:nvSpPr>
          <p:cNvPr id="13" name="Shape 11"/>
          <p:cNvSpPr/>
          <p:nvPr/>
        </p:nvSpPr>
        <p:spPr>
          <a:xfrm>
            <a:off x="1472184" y="3685032"/>
            <a:ext cx="256032" cy="164592"/>
          </a:xfrm>
          <a:prstGeom prst="ellipse">
            <a:avLst/>
          </a:prstGeom>
          <a:solidFill>
            <a:srgbClr val="F2C230"/>
          </a:solidFill>
          <a:ln/>
        </p:spPr>
      </p:sp>
      <p:sp>
        <p:nvSpPr>
          <p:cNvPr id="14" name="Shape 12"/>
          <p:cNvSpPr/>
          <p:nvPr/>
        </p:nvSpPr>
        <p:spPr>
          <a:xfrm>
            <a:off x="1472184" y="2697480"/>
            <a:ext cx="256032" cy="164592"/>
          </a:xfrm>
          <a:prstGeom prst="ellipse">
            <a:avLst/>
          </a:prstGeom>
          <a:solidFill>
            <a:srgbClr val="D94848"/>
          </a:solidFill>
          <a:ln/>
        </p:spPr>
      </p:sp>
      <p:sp>
        <p:nvSpPr>
          <p:cNvPr id="15" name="Shape 13"/>
          <p:cNvSpPr/>
          <p:nvPr/>
        </p:nvSpPr>
        <p:spPr>
          <a:xfrm>
            <a:off x="1472184" y="1874520"/>
            <a:ext cx="256032" cy="164592"/>
          </a:xfrm>
          <a:prstGeom prst="ellipse">
            <a:avLst/>
          </a:prstGeom>
          <a:solidFill>
            <a:srgbClr val="3A6FD0"/>
          </a:solidFill>
          <a:ln/>
        </p:spPr>
      </p:sp>
      <p:sp>
        <p:nvSpPr>
          <p:cNvPr id="16" name="Text 14"/>
          <p:cNvSpPr/>
          <p:nvPr/>
        </p:nvSpPr>
        <p:spPr>
          <a:xfrm>
            <a:off x="1325880" y="4800600"/>
            <a:ext cx="54864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X</a:t>
            </a:r>
            <a:endParaRPr lang="en-US" sz="1050" dirty="0"/>
          </a:p>
        </p:txBody>
      </p:sp>
      <p:sp>
        <p:nvSpPr>
          <p:cNvPr id="17" name="Shape 15"/>
          <p:cNvSpPr/>
          <p:nvPr/>
        </p:nvSpPr>
        <p:spPr>
          <a:xfrm>
            <a:off x="2176272" y="3685032"/>
            <a:ext cx="256032" cy="164592"/>
          </a:xfrm>
          <a:prstGeom prst="ellipse">
            <a:avLst/>
          </a:prstGeom>
          <a:solidFill>
            <a:srgbClr val="F2C230"/>
          </a:solidFill>
          <a:ln/>
        </p:spPr>
      </p:sp>
      <p:sp>
        <p:nvSpPr>
          <p:cNvPr id="18" name="Text 16"/>
          <p:cNvSpPr/>
          <p:nvPr/>
        </p:nvSpPr>
        <p:spPr>
          <a:xfrm>
            <a:off x="2029968" y="4800600"/>
            <a:ext cx="54864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a:t>
            </a:r>
            <a:endParaRPr lang="en-US" sz="1050" dirty="0"/>
          </a:p>
        </p:txBody>
      </p:sp>
      <p:sp>
        <p:nvSpPr>
          <p:cNvPr id="19" name="Shape 17"/>
          <p:cNvSpPr/>
          <p:nvPr/>
        </p:nvSpPr>
        <p:spPr>
          <a:xfrm>
            <a:off x="2880360" y="2697480"/>
            <a:ext cx="256032" cy="164592"/>
          </a:xfrm>
          <a:prstGeom prst="ellipse">
            <a:avLst/>
          </a:prstGeom>
          <a:solidFill>
            <a:srgbClr val="D94848"/>
          </a:solidFill>
          <a:ln/>
        </p:spPr>
      </p:sp>
      <p:sp>
        <p:nvSpPr>
          <p:cNvPr id="20" name="Text 18"/>
          <p:cNvSpPr/>
          <p:nvPr/>
        </p:nvSpPr>
        <p:spPr>
          <a:xfrm>
            <a:off x="2734056" y="4800600"/>
            <a:ext cx="54864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B</a:t>
            </a:r>
            <a:endParaRPr lang="en-US" sz="1050" dirty="0"/>
          </a:p>
        </p:txBody>
      </p:sp>
      <p:sp>
        <p:nvSpPr>
          <p:cNvPr id="21" name="Shape 19"/>
          <p:cNvSpPr/>
          <p:nvPr/>
        </p:nvSpPr>
        <p:spPr>
          <a:xfrm>
            <a:off x="3584448" y="2368296"/>
            <a:ext cx="256032" cy="164592"/>
          </a:xfrm>
          <a:prstGeom prst="ellipse">
            <a:avLst/>
          </a:prstGeom>
          <a:solidFill>
            <a:srgbClr val="3E9E5A"/>
          </a:solidFill>
          <a:ln/>
        </p:spPr>
      </p:sp>
      <p:sp>
        <p:nvSpPr>
          <p:cNvPr id="22" name="Text 20"/>
          <p:cNvSpPr/>
          <p:nvPr/>
        </p:nvSpPr>
        <p:spPr>
          <a:xfrm>
            <a:off x="3438144" y="4800600"/>
            <a:ext cx="54864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a:t>
            </a:r>
            <a:endParaRPr lang="en-US" sz="1050" dirty="0"/>
          </a:p>
        </p:txBody>
      </p:sp>
      <p:sp>
        <p:nvSpPr>
          <p:cNvPr id="23" name="Shape 21"/>
          <p:cNvSpPr/>
          <p:nvPr/>
        </p:nvSpPr>
        <p:spPr>
          <a:xfrm>
            <a:off x="4288536" y="1874520"/>
            <a:ext cx="256032" cy="164592"/>
          </a:xfrm>
          <a:prstGeom prst="ellipse">
            <a:avLst/>
          </a:prstGeom>
          <a:solidFill>
            <a:srgbClr val="3A6FD0"/>
          </a:solidFill>
          <a:ln/>
        </p:spPr>
      </p:sp>
      <p:sp>
        <p:nvSpPr>
          <p:cNvPr id="24" name="Text 22"/>
          <p:cNvSpPr/>
          <p:nvPr/>
        </p:nvSpPr>
        <p:spPr>
          <a:xfrm>
            <a:off x="4142232" y="4800600"/>
            <a:ext cx="54864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D</a:t>
            </a:r>
            <a:endParaRPr lang="en-US" sz="1050" dirty="0"/>
          </a:p>
        </p:txBody>
      </p:sp>
      <p:sp>
        <p:nvSpPr>
          <p:cNvPr id="25" name="Shape 23"/>
          <p:cNvSpPr/>
          <p:nvPr/>
        </p:nvSpPr>
        <p:spPr>
          <a:xfrm>
            <a:off x="658368" y="1417320"/>
            <a:ext cx="274320" cy="3383280"/>
          </a:xfrm>
          <a:prstGeom prst="rect">
            <a:avLst/>
          </a:prstGeom>
          <a:solidFill>
            <a:srgbClr val="F6E7B8"/>
          </a:solidFill>
          <a:ln w="9525">
            <a:solidFill>
              <a:srgbClr val="B79B4A"/>
            </a:solidFill>
            <a:prstDash val="solid"/>
          </a:ln>
        </p:spPr>
      </p:sp>
      <p:sp>
        <p:nvSpPr>
          <p:cNvPr id="26" name="Shape 24"/>
          <p:cNvSpPr/>
          <p:nvPr/>
        </p:nvSpPr>
        <p:spPr>
          <a:xfrm>
            <a:off x="658368" y="4754880"/>
            <a:ext cx="128016" cy="91"/>
          </a:xfrm>
          <a:prstGeom prst="line">
            <a:avLst/>
          </a:prstGeom>
          <a:noFill/>
          <a:ln w="9525">
            <a:solidFill>
              <a:srgbClr val="6B5A2A"/>
            </a:solidFill>
            <a:prstDash val="solid"/>
          </a:ln>
        </p:spPr>
      </p:sp>
      <p:sp>
        <p:nvSpPr>
          <p:cNvPr id="27" name="Text 25"/>
          <p:cNvSpPr/>
          <p:nvPr/>
        </p:nvSpPr>
        <p:spPr>
          <a:xfrm>
            <a:off x="758952" y="4672584"/>
            <a:ext cx="164592" cy="164592"/>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28" name="Shape 26"/>
          <p:cNvSpPr/>
          <p:nvPr/>
        </p:nvSpPr>
        <p:spPr>
          <a:xfrm>
            <a:off x="658368" y="4343400"/>
            <a:ext cx="128016" cy="91"/>
          </a:xfrm>
          <a:prstGeom prst="line">
            <a:avLst/>
          </a:prstGeom>
          <a:noFill/>
          <a:ln w="9525">
            <a:solidFill>
              <a:srgbClr val="6B5A2A"/>
            </a:solidFill>
            <a:prstDash val="solid"/>
          </a:ln>
        </p:spPr>
      </p:sp>
      <p:sp>
        <p:nvSpPr>
          <p:cNvPr id="29" name="Text 27"/>
          <p:cNvSpPr/>
          <p:nvPr/>
        </p:nvSpPr>
        <p:spPr>
          <a:xfrm>
            <a:off x="758952" y="4261104"/>
            <a:ext cx="164592" cy="164592"/>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a:t>
            </a:r>
            <a:endParaRPr lang="en-US" sz="1000" dirty="0"/>
          </a:p>
        </p:txBody>
      </p:sp>
      <p:sp>
        <p:nvSpPr>
          <p:cNvPr id="30" name="Shape 28"/>
          <p:cNvSpPr/>
          <p:nvPr/>
        </p:nvSpPr>
        <p:spPr>
          <a:xfrm>
            <a:off x="658368" y="3931920"/>
            <a:ext cx="128016" cy="91"/>
          </a:xfrm>
          <a:prstGeom prst="line">
            <a:avLst/>
          </a:prstGeom>
          <a:noFill/>
          <a:ln w="9525">
            <a:solidFill>
              <a:srgbClr val="6B5A2A"/>
            </a:solidFill>
            <a:prstDash val="solid"/>
          </a:ln>
        </p:spPr>
      </p:sp>
      <p:sp>
        <p:nvSpPr>
          <p:cNvPr id="31" name="Text 29"/>
          <p:cNvSpPr/>
          <p:nvPr/>
        </p:nvSpPr>
        <p:spPr>
          <a:xfrm>
            <a:off x="758952" y="3849624"/>
            <a:ext cx="164592" cy="164592"/>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32" name="Shape 30"/>
          <p:cNvSpPr/>
          <p:nvPr/>
        </p:nvSpPr>
        <p:spPr>
          <a:xfrm>
            <a:off x="658368" y="3520440"/>
            <a:ext cx="128016" cy="91"/>
          </a:xfrm>
          <a:prstGeom prst="line">
            <a:avLst/>
          </a:prstGeom>
          <a:noFill/>
          <a:ln w="9525">
            <a:solidFill>
              <a:srgbClr val="6B5A2A"/>
            </a:solidFill>
            <a:prstDash val="solid"/>
          </a:ln>
        </p:spPr>
      </p:sp>
      <p:sp>
        <p:nvSpPr>
          <p:cNvPr id="33" name="Text 31"/>
          <p:cNvSpPr/>
          <p:nvPr/>
        </p:nvSpPr>
        <p:spPr>
          <a:xfrm>
            <a:off x="758952" y="3438144"/>
            <a:ext cx="164592" cy="164592"/>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p>
        </p:txBody>
      </p:sp>
      <p:sp>
        <p:nvSpPr>
          <p:cNvPr id="34" name="Shape 32"/>
          <p:cNvSpPr/>
          <p:nvPr/>
        </p:nvSpPr>
        <p:spPr>
          <a:xfrm>
            <a:off x="658368" y="3108960"/>
            <a:ext cx="128016" cy="91"/>
          </a:xfrm>
          <a:prstGeom prst="line">
            <a:avLst/>
          </a:prstGeom>
          <a:noFill/>
          <a:ln w="9525">
            <a:solidFill>
              <a:srgbClr val="6B5A2A"/>
            </a:solidFill>
            <a:prstDash val="solid"/>
          </a:ln>
        </p:spPr>
      </p:sp>
      <p:sp>
        <p:nvSpPr>
          <p:cNvPr id="35" name="Text 33"/>
          <p:cNvSpPr/>
          <p:nvPr/>
        </p:nvSpPr>
        <p:spPr>
          <a:xfrm>
            <a:off x="758952" y="3026664"/>
            <a:ext cx="164592" cy="164592"/>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36" name="Shape 34"/>
          <p:cNvSpPr/>
          <p:nvPr/>
        </p:nvSpPr>
        <p:spPr>
          <a:xfrm>
            <a:off x="658368" y="2697480"/>
            <a:ext cx="128016" cy="91"/>
          </a:xfrm>
          <a:prstGeom prst="line">
            <a:avLst/>
          </a:prstGeom>
          <a:noFill/>
          <a:ln w="9525">
            <a:solidFill>
              <a:srgbClr val="6B5A2A"/>
            </a:solidFill>
            <a:prstDash val="solid"/>
          </a:ln>
        </p:spPr>
      </p:sp>
      <p:sp>
        <p:nvSpPr>
          <p:cNvPr id="37" name="Text 35"/>
          <p:cNvSpPr/>
          <p:nvPr/>
        </p:nvSpPr>
        <p:spPr>
          <a:xfrm>
            <a:off x="758952" y="2615184"/>
            <a:ext cx="164592" cy="164592"/>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38" name="Shape 36"/>
          <p:cNvSpPr/>
          <p:nvPr/>
        </p:nvSpPr>
        <p:spPr>
          <a:xfrm>
            <a:off x="658368" y="2286000"/>
            <a:ext cx="128016" cy="91"/>
          </a:xfrm>
          <a:prstGeom prst="line">
            <a:avLst/>
          </a:prstGeom>
          <a:noFill/>
          <a:ln w="9525">
            <a:solidFill>
              <a:srgbClr val="6B5A2A"/>
            </a:solidFill>
            <a:prstDash val="solid"/>
          </a:ln>
        </p:spPr>
      </p:sp>
      <p:sp>
        <p:nvSpPr>
          <p:cNvPr id="39" name="Text 37"/>
          <p:cNvSpPr/>
          <p:nvPr/>
        </p:nvSpPr>
        <p:spPr>
          <a:xfrm>
            <a:off x="758952" y="2203704"/>
            <a:ext cx="164592" cy="164592"/>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40" name="Shape 38"/>
          <p:cNvSpPr/>
          <p:nvPr/>
        </p:nvSpPr>
        <p:spPr>
          <a:xfrm>
            <a:off x="658368" y="1874520"/>
            <a:ext cx="128016" cy="91"/>
          </a:xfrm>
          <a:prstGeom prst="line">
            <a:avLst/>
          </a:prstGeom>
          <a:noFill/>
          <a:ln w="9525">
            <a:solidFill>
              <a:srgbClr val="6B5A2A"/>
            </a:solidFill>
            <a:prstDash val="solid"/>
          </a:ln>
        </p:spPr>
      </p:sp>
      <p:sp>
        <p:nvSpPr>
          <p:cNvPr id="41" name="Text 39"/>
          <p:cNvSpPr/>
          <p:nvPr/>
        </p:nvSpPr>
        <p:spPr>
          <a:xfrm>
            <a:off x="758952" y="1792224"/>
            <a:ext cx="164592" cy="164592"/>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7</a:t>
            </a:r>
            <a:endParaRPr lang="en-US" sz="1000" dirty="0"/>
          </a:p>
        </p:txBody>
      </p:sp>
      <p:sp>
        <p:nvSpPr>
          <p:cNvPr id="42" name="Shape 40"/>
          <p:cNvSpPr/>
          <p:nvPr/>
        </p:nvSpPr>
        <p:spPr>
          <a:xfrm>
            <a:off x="658368" y="1463040"/>
            <a:ext cx="128016" cy="91"/>
          </a:xfrm>
          <a:prstGeom prst="line">
            <a:avLst/>
          </a:prstGeom>
          <a:noFill/>
          <a:ln w="9525">
            <a:solidFill>
              <a:srgbClr val="6B5A2A"/>
            </a:solidFill>
            <a:prstDash val="solid"/>
          </a:ln>
        </p:spPr>
      </p:sp>
      <p:sp>
        <p:nvSpPr>
          <p:cNvPr id="43" name="Text 41"/>
          <p:cNvSpPr/>
          <p:nvPr/>
        </p:nvSpPr>
        <p:spPr>
          <a:xfrm>
            <a:off x="758952" y="1380744"/>
            <a:ext cx="164592" cy="164592"/>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44" name="Text 42"/>
          <p:cNvSpPr/>
          <p:nvPr/>
        </p:nvSpPr>
        <p:spPr>
          <a:xfrm>
            <a:off x="502920" y="4846320"/>
            <a:ext cx="59436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cm</a:t>
            </a:r>
            <a:endParaRPr lang="en-US" sz="1000" dirty="0"/>
          </a:p>
        </p:txBody>
      </p:sp>
      <p:sp>
        <p:nvSpPr>
          <p:cNvPr id="45" name="Shape 43"/>
          <p:cNvSpPr/>
          <p:nvPr/>
        </p:nvSpPr>
        <p:spPr>
          <a:xfrm flipV="1">
            <a:off x="3282696" y="2779776"/>
            <a:ext cx="91" cy="1975104"/>
          </a:xfrm>
          <a:prstGeom prst="line">
            <a:avLst/>
          </a:prstGeom>
          <a:noFill/>
          <a:ln w="15875">
            <a:solidFill>
              <a:srgbClr val="C8414C"/>
            </a:solidFill>
            <a:prstDash val="solid"/>
            <a:headEnd type="triangle"/>
            <a:tailEnd type="triangle"/>
          </a:ln>
        </p:spPr>
      </p:sp>
      <p:sp>
        <p:nvSpPr>
          <p:cNvPr id="46" name="Text 44"/>
          <p:cNvSpPr/>
          <p:nvPr/>
        </p:nvSpPr>
        <p:spPr>
          <a:xfrm>
            <a:off x="3310128" y="3657600"/>
            <a:ext cx="566928" cy="219456"/>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4.8 cm</a:t>
            </a:r>
            <a:endParaRPr lang="en-US" sz="1000" dirty="0"/>
          </a:p>
        </p:txBody>
      </p:sp>
      <p:sp>
        <p:nvSpPr>
          <p:cNvPr id="47" name="Shape 45"/>
          <p:cNvSpPr/>
          <p:nvPr/>
        </p:nvSpPr>
        <p:spPr>
          <a:xfrm flipV="1">
            <a:off x="5074920" y="1463040"/>
            <a:ext cx="91" cy="3291840"/>
          </a:xfrm>
          <a:prstGeom prst="line">
            <a:avLst/>
          </a:prstGeom>
          <a:noFill/>
          <a:ln w="15875">
            <a:solidFill>
              <a:srgbClr val="2A1F3D"/>
            </a:solidFill>
            <a:prstDash val="solid"/>
            <a:headEnd type="triangle"/>
            <a:tailEnd type="triangle"/>
          </a:ln>
        </p:spPr>
      </p:sp>
      <p:sp>
        <p:nvSpPr>
          <p:cNvPr id="48" name="Text 46"/>
          <p:cNvSpPr/>
          <p:nvPr/>
        </p:nvSpPr>
        <p:spPr>
          <a:xfrm>
            <a:off x="5120640" y="2999232"/>
            <a:ext cx="640080" cy="219456"/>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8.0 cm</a:t>
            </a:r>
            <a:endParaRPr lang="en-US" sz="1000" dirty="0"/>
          </a:p>
        </p:txBody>
      </p:sp>
      <p:sp>
        <p:nvSpPr>
          <p:cNvPr id="49" name="Text 47"/>
          <p:cNvSpPr/>
          <p:nvPr/>
        </p:nvSpPr>
        <p:spPr>
          <a:xfrm>
            <a:off x="4937760" y="1170432"/>
            <a:ext cx="1005840" cy="201168"/>
          </a:xfrm>
          <a:prstGeom prst="rect">
            <a:avLst/>
          </a:prstGeom>
          <a:noFill/>
          <a:ln/>
        </p:spPr>
        <p:txBody>
          <a:bodyPr wrap="square" lIns="0" tIns="0" rIns="0" bIns="0" rtlCol="0" anchor="ctr"/>
          <a:lstStyle/>
          <a:p>
            <a:pPr algn="l" indent="0" marL="0">
              <a:buNone/>
            </a:pPr>
            <a:r>
              <a:rPr lang="en-US" sz="1000" dirty="0">
                <a:solidFill>
                  <a:srgbClr val="6B7385"/>
                </a:solidFill>
                <a:latin typeface="Calibri" pitchFamily="34" charset="0"/>
                <a:ea typeface="Calibri" pitchFamily="34" charset="-122"/>
                <a:cs typeface="Calibri" pitchFamily="34" charset="-120"/>
              </a:rPr>
              <a:t>solvent front</a:t>
            </a:r>
            <a:endParaRPr lang="en-US" sz="1000" dirty="0"/>
          </a:p>
        </p:txBody>
      </p:sp>
      <p:sp>
        <p:nvSpPr>
          <p:cNvPr id="50" name="Text 48"/>
          <p:cNvSpPr/>
          <p:nvPr/>
        </p:nvSpPr>
        <p:spPr>
          <a:xfrm>
            <a:off x="4937760" y="4800600"/>
            <a:ext cx="1005840" cy="201168"/>
          </a:xfrm>
          <a:prstGeom prst="rect">
            <a:avLst/>
          </a:prstGeom>
          <a:noFill/>
          <a:ln/>
        </p:spPr>
        <p:txBody>
          <a:bodyPr wrap="square" lIns="0" tIns="0" rIns="0" bIns="0" rtlCol="0" anchor="ctr"/>
          <a:lstStyle/>
          <a:p>
            <a:pPr algn="l" indent="0" marL="0">
              <a:buNone/>
            </a:pPr>
            <a:r>
              <a:rPr lang="en-US" sz="1000" dirty="0">
                <a:solidFill>
                  <a:srgbClr val="6B7385"/>
                </a:solidFill>
                <a:latin typeface="Calibri" pitchFamily="34" charset="0"/>
                <a:ea typeface="Calibri" pitchFamily="34" charset="-122"/>
                <a:cs typeface="Calibri" pitchFamily="34" charset="-120"/>
              </a:rPr>
              <a:t>baseline</a:t>
            </a:r>
            <a:endParaRPr lang="en-US" sz="1000" dirty="0"/>
          </a:p>
        </p:txBody>
      </p:sp>
      <p:sp>
        <p:nvSpPr>
          <p:cNvPr id="51" name="Text 49"/>
          <p:cNvSpPr/>
          <p:nvPr/>
        </p:nvSpPr>
        <p:spPr>
          <a:xfrm>
            <a:off x="548640" y="5120640"/>
            <a:ext cx="53949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X</a:t>
            </a:r>
            <a:r>
              <a:rPr lang="en-US" sz="1050" dirty="0">
                <a:solidFill>
                  <a:srgbClr val="262B3A"/>
                </a:solidFill>
                <a:latin typeface="Calibri" pitchFamily="34" charset="0"/>
                <a:ea typeface="Calibri" pitchFamily="34" charset="-122"/>
                <a:cs typeface="Calibri" pitchFamily="34" charset="-120"/>
              </a:rPr>
              <a:t> = unknown ink; </a:t>
            </a:r>
            <a:r>
              <a:rPr lang="en-US" sz="1050" b="1" dirty="0">
                <a:solidFill>
                  <a:srgbClr val="262B3A"/>
                </a:solidFill>
                <a:latin typeface="Calibri" pitchFamily="34" charset="0"/>
                <a:ea typeface="Calibri" pitchFamily="34" charset="-122"/>
                <a:cs typeface="Calibri" pitchFamily="34" charset="-120"/>
              </a:rPr>
              <a:t>A–D</a:t>
            </a:r>
            <a:r>
              <a:rPr lang="en-US" sz="1050" dirty="0">
                <a:solidFill>
                  <a:srgbClr val="262B3A"/>
                </a:solidFill>
                <a:latin typeface="Calibri" pitchFamily="34" charset="0"/>
                <a:ea typeface="Calibri" pitchFamily="34" charset="-122"/>
                <a:cs typeface="Calibri" pitchFamily="34" charset="-120"/>
              </a:rPr>
              <a:t> = pure reference dyes</a:t>
            </a:r>
            <a:endParaRPr lang="en-US" sz="1050" dirty="0"/>
          </a:p>
        </p:txBody>
      </p:sp>
      <p:sp>
        <p:nvSpPr>
          <p:cNvPr id="52" name="Shape 50"/>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53" name="Text 5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Reading a chromatogram</a:t>
            </a:r>
            <a:endParaRPr lang="en-US" sz="1300" dirty="0"/>
          </a:p>
        </p:txBody>
      </p:sp>
      <p:sp>
        <p:nvSpPr>
          <p:cNvPr id="54" name="Text 52"/>
          <p:cNvSpPr/>
          <p:nvPr/>
        </p:nvSpPr>
        <p:spPr>
          <a:xfrm>
            <a:off x="6382512" y="1609344"/>
            <a:ext cx="5233111" cy="2706624"/>
          </a:xfrm>
          <a:prstGeom prst="rect">
            <a:avLst/>
          </a:prstGeom>
          <a:noFill/>
          <a:ln/>
        </p:spPr>
        <p:txBody>
          <a:bodyPr wrap="square" lIns="0" tIns="0" rIns="0" bIns="0" rtlCol="0" anchor="t"/>
          <a:lstStyle/>
          <a:p>
            <a:pPr indent="0" marL="0">
              <a:spcAft>
                <a:spcPts val="300"/>
              </a:spcAft>
              <a:buNone/>
            </a:pPr>
            <a:r>
              <a:rPr lang="en-US" sz="1150" b="1" dirty="0">
                <a:solidFill>
                  <a:srgbClr val="6A3FA0"/>
                </a:solidFill>
                <a:latin typeface="Calibri" pitchFamily="34" charset="0"/>
                <a:ea typeface="Calibri" pitchFamily="34" charset="-122"/>
                <a:cs typeface="Calibri" pitchFamily="34" charset="-120"/>
              </a:rPr>
              <a:t>Rf = distance moved by substance ÷ distance moved by solvent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Measure both from the </a:t>
            </a:r>
            <a:r>
              <a:rPr lang="en-US" sz="1150" b="1" dirty="0">
                <a:solidFill>
                  <a:srgbClr val="262B3A"/>
                </a:solidFill>
                <a:latin typeface="Calibri" pitchFamily="34" charset="0"/>
                <a:ea typeface="Calibri" pitchFamily="34" charset="-122"/>
                <a:cs typeface="Calibri" pitchFamily="34" charset="-120"/>
              </a:rPr>
              <a:t>baseline</a:t>
            </a:r>
            <a:r>
              <a:rPr lang="en-US" sz="1150" dirty="0">
                <a:solidFill>
                  <a:srgbClr val="262B3A"/>
                </a:solidFill>
                <a:latin typeface="Calibri" pitchFamily="34" charset="0"/>
                <a:ea typeface="Calibri" pitchFamily="34" charset="-122"/>
                <a:cs typeface="Calibri" pitchFamily="34" charset="-120"/>
              </a:rPr>
              <a:t>, to the </a:t>
            </a:r>
            <a:r>
              <a:rPr lang="en-US" sz="1150" b="1" dirty="0">
                <a:solidFill>
                  <a:srgbClr val="262B3A"/>
                </a:solidFill>
                <a:latin typeface="Calibri" pitchFamily="34" charset="0"/>
                <a:ea typeface="Calibri" pitchFamily="34" charset="-122"/>
                <a:cs typeface="Calibri" pitchFamily="34" charset="-120"/>
              </a:rPr>
              <a:t>centre</a:t>
            </a:r>
            <a:r>
              <a:rPr lang="en-US" sz="1150" dirty="0">
                <a:solidFill>
                  <a:srgbClr val="262B3A"/>
                </a:solidFill>
                <a:latin typeface="Calibri" pitchFamily="34" charset="0"/>
                <a:ea typeface="Calibri" pitchFamily="34" charset="-122"/>
                <a:cs typeface="Calibri" pitchFamily="34" charset="-120"/>
              </a:rPr>
              <a:t> of the spot and to the </a:t>
            </a:r>
            <a:r>
              <a:rPr lang="en-US" sz="1150" b="1" dirty="0">
                <a:solidFill>
                  <a:srgbClr val="262B3A"/>
                </a:solidFill>
                <a:latin typeface="Calibri" pitchFamily="34" charset="0"/>
                <a:ea typeface="Calibri" pitchFamily="34" charset="-122"/>
                <a:cs typeface="Calibri" pitchFamily="34" charset="-120"/>
              </a:rPr>
              <a:t>solvent front</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Rf has </a:t>
            </a:r>
            <a:r>
              <a:rPr lang="en-US" sz="1150" b="1" dirty="0">
                <a:solidFill>
                  <a:srgbClr val="262B3A"/>
                </a:solidFill>
                <a:latin typeface="Calibri" pitchFamily="34" charset="0"/>
                <a:ea typeface="Calibri" pitchFamily="34" charset="-122"/>
                <a:cs typeface="Calibri" pitchFamily="34" charset="-120"/>
              </a:rPr>
              <a:t>no units</a:t>
            </a:r>
            <a:r>
              <a:rPr lang="en-US" sz="1150" dirty="0">
                <a:solidFill>
                  <a:srgbClr val="262B3A"/>
                </a:solidFill>
                <a:latin typeface="Calibri" pitchFamily="34" charset="0"/>
                <a:ea typeface="Calibri" pitchFamily="34" charset="-122"/>
                <a:cs typeface="Calibri" pitchFamily="34" charset="-120"/>
              </a:rPr>
              <a:t> and is always </a:t>
            </a:r>
            <a:r>
              <a:rPr lang="en-US" sz="1150" b="1" dirty="0">
                <a:solidFill>
                  <a:srgbClr val="262B3A"/>
                </a:solidFill>
                <a:latin typeface="Calibri" pitchFamily="34" charset="0"/>
                <a:ea typeface="Calibri" pitchFamily="34" charset="-122"/>
                <a:cs typeface="Calibri" pitchFamily="34" charset="-120"/>
              </a:rPr>
              <a:t>between 0 and 1</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same</a:t>
            </a:r>
            <a:r>
              <a:rPr lang="en-US" sz="1150" dirty="0">
                <a:solidFill>
                  <a:srgbClr val="262B3A"/>
                </a:solidFill>
                <a:latin typeface="Calibri" pitchFamily="34" charset="0"/>
                <a:ea typeface="Calibri" pitchFamily="34" charset="-122"/>
                <a:cs typeface="Calibri" pitchFamily="34" charset="-120"/>
              </a:rPr>
              <a:t> substance has the </a:t>
            </a:r>
            <a:r>
              <a:rPr lang="en-US" sz="1150" b="1" dirty="0">
                <a:solidFill>
                  <a:srgbClr val="262B3A"/>
                </a:solidFill>
                <a:latin typeface="Calibri" pitchFamily="34" charset="0"/>
                <a:ea typeface="Calibri" pitchFamily="34" charset="-122"/>
                <a:cs typeface="Calibri" pitchFamily="34" charset="-120"/>
              </a:rPr>
              <a:t>same Rf</a:t>
            </a:r>
            <a:r>
              <a:rPr lang="en-US" sz="1150" dirty="0">
                <a:solidFill>
                  <a:srgbClr val="262B3A"/>
                </a:solidFill>
                <a:latin typeface="Calibri" pitchFamily="34" charset="0"/>
                <a:ea typeface="Calibri" pitchFamily="34" charset="-122"/>
                <a:cs typeface="Calibri" pitchFamily="34" charset="-120"/>
              </a:rPr>
              <a:t> in the same solvent and paper, so we can </a:t>
            </a:r>
            <a:r>
              <a:rPr lang="en-US" sz="1150" b="1" dirty="0">
                <a:solidFill>
                  <a:srgbClr val="262B3A"/>
                </a:solidFill>
                <a:latin typeface="Calibri" pitchFamily="34" charset="0"/>
                <a:ea typeface="Calibri" pitchFamily="34" charset="-122"/>
                <a:cs typeface="Calibri" pitchFamily="34" charset="-120"/>
              </a:rPr>
              <a:t>identify</a:t>
            </a:r>
            <a:r>
              <a:rPr lang="en-US" sz="1150" dirty="0">
                <a:solidFill>
                  <a:srgbClr val="262B3A"/>
                </a:solidFill>
                <a:latin typeface="Calibri" pitchFamily="34" charset="0"/>
                <a:ea typeface="Calibri" pitchFamily="34" charset="-122"/>
                <a:cs typeface="Calibri" pitchFamily="34" charset="-120"/>
              </a:rPr>
              <a:t> it.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pure</a:t>
            </a:r>
            <a:r>
              <a:rPr lang="en-US" sz="1150" dirty="0">
                <a:solidFill>
                  <a:srgbClr val="262B3A"/>
                </a:solidFill>
                <a:latin typeface="Calibri" pitchFamily="34" charset="0"/>
                <a:ea typeface="Calibri" pitchFamily="34" charset="-122"/>
                <a:cs typeface="Calibri" pitchFamily="34" charset="-120"/>
              </a:rPr>
              <a:t> substance gives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spot; a </a:t>
            </a:r>
            <a:r>
              <a:rPr lang="en-US" sz="1150" b="1" dirty="0">
                <a:solidFill>
                  <a:srgbClr val="262B3A"/>
                </a:solidFill>
                <a:latin typeface="Calibri" pitchFamily="34" charset="0"/>
                <a:ea typeface="Calibri" pitchFamily="34" charset="-122"/>
                <a:cs typeface="Calibri" pitchFamily="34" charset="-120"/>
              </a:rPr>
              <a:t>mixture</a:t>
            </a:r>
            <a:r>
              <a:rPr lang="en-US" sz="1150" dirty="0">
                <a:solidFill>
                  <a:srgbClr val="262B3A"/>
                </a:solidFill>
                <a:latin typeface="Calibri" pitchFamily="34" charset="0"/>
                <a:ea typeface="Calibri" pitchFamily="34" charset="-122"/>
                <a:cs typeface="Calibri" pitchFamily="34" charset="-120"/>
              </a:rPr>
              <a:t> gives </a:t>
            </a:r>
            <a:r>
              <a:rPr lang="en-US" sz="1150" b="1" dirty="0">
                <a:solidFill>
                  <a:srgbClr val="262B3A"/>
                </a:solidFill>
                <a:latin typeface="Calibri" pitchFamily="34" charset="0"/>
                <a:ea typeface="Calibri" pitchFamily="34" charset="-122"/>
                <a:cs typeface="Calibri" pitchFamily="34" charset="-120"/>
              </a:rPr>
              <a:t>two or more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X has spots that match </a:t>
            </a:r>
            <a:r>
              <a:rPr lang="en-US" sz="1150" b="1" dirty="0">
                <a:solidFill>
                  <a:srgbClr val="262B3A"/>
                </a:solidFill>
                <a:latin typeface="Calibri" pitchFamily="34" charset="0"/>
                <a:ea typeface="Calibri" pitchFamily="34" charset="-122"/>
                <a:cs typeface="Calibri" pitchFamily="34" charset="-120"/>
              </a:rPr>
              <a:t>A</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B</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D</a:t>
            </a:r>
            <a:r>
              <a:rPr lang="en-US" sz="1150" dirty="0">
                <a:solidFill>
                  <a:srgbClr val="262B3A"/>
                </a:solidFill>
                <a:latin typeface="Calibri" pitchFamily="34" charset="0"/>
                <a:ea typeface="Calibri" pitchFamily="34" charset="-122"/>
                <a:cs typeface="Calibri" pitchFamily="34" charset="-120"/>
              </a:rPr>
              <a:t>, but not C.</a:t>
            </a:r>
            <a:endParaRPr lang="en-US" sz="1150" dirty="0"/>
          </a:p>
        </p:txBody>
      </p:sp>
      <p:sp>
        <p:nvSpPr>
          <p:cNvPr id="55" name="Shape 53"/>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56" name="Text 54"/>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Rf of dye B</a:t>
            </a:r>
            <a:endParaRPr lang="en-US" sz="1300" dirty="0"/>
          </a:p>
        </p:txBody>
      </p:sp>
      <p:sp>
        <p:nvSpPr>
          <p:cNvPr id="57" name="Text 55"/>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Use the chromatogram.</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Measure   </a:t>
            </a:r>
            <a:r>
              <a:rPr lang="en-US" sz="1050" dirty="0">
                <a:solidFill>
                  <a:srgbClr val="262B3A"/>
                </a:solidFill>
                <a:latin typeface="Calibri" pitchFamily="34" charset="0"/>
                <a:ea typeface="Calibri" pitchFamily="34" charset="-122"/>
                <a:cs typeface="Calibri" pitchFamily="34" charset="-120"/>
              </a:rPr>
              <a:t>spot 4.8 cm; solvent front 8.0 cm</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Rf = 4.8 ÷ 8.0 = </a:t>
            </a:r>
            <a:r>
              <a:rPr lang="en-US" sz="1050" b="1" dirty="0">
                <a:solidFill>
                  <a:srgbClr val="C8414C"/>
                </a:solidFill>
                <a:latin typeface="Calibri" pitchFamily="34" charset="0"/>
                <a:ea typeface="Calibri" pitchFamily="34" charset="-122"/>
                <a:cs typeface="Calibri" pitchFamily="34" charset="-120"/>
              </a:rPr>
              <a:t>0.60</a:t>
            </a:r>
            <a:endParaRPr lang="en-US" sz="1050" dirty="0"/>
          </a:p>
        </p:txBody>
      </p:sp>
      <p:sp>
        <p:nvSpPr>
          <p:cNvPr id="58" name="Shape 56"/>
          <p:cNvSpPr/>
          <p:nvPr/>
        </p:nvSpPr>
        <p:spPr>
          <a:xfrm>
            <a:off x="411480" y="5833872"/>
            <a:ext cx="11368735" cy="530352"/>
          </a:xfrm>
          <a:prstGeom prst="rect">
            <a:avLst/>
          </a:prstGeom>
          <a:solidFill>
            <a:srgbClr val="FFF4E0"/>
          </a:solidFill>
          <a:ln w="6350">
            <a:solidFill>
              <a:srgbClr val="F1D9A8"/>
            </a:solidFill>
            <a:prstDash val="solid"/>
          </a:ln>
        </p:spPr>
      </p:sp>
      <p:sp>
        <p:nvSpPr>
          <p:cNvPr id="59" name="Shape 57"/>
          <p:cNvSpPr/>
          <p:nvPr/>
        </p:nvSpPr>
        <p:spPr>
          <a:xfrm>
            <a:off x="411480" y="5833872"/>
            <a:ext cx="82296" cy="530352"/>
          </a:xfrm>
          <a:prstGeom prst="rect">
            <a:avLst/>
          </a:prstGeom>
          <a:solidFill>
            <a:srgbClr val="E39A2F"/>
          </a:solidFill>
          <a:ln w="12700">
            <a:solidFill>
              <a:srgbClr val="E39A2F"/>
            </a:solidFill>
            <a:prstDash val="solid"/>
          </a:ln>
        </p:spPr>
      </p:sp>
      <p:sp>
        <p:nvSpPr>
          <p:cNvPr id="60" name="Text 5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spot moves </a:t>
            </a:r>
            <a:r>
              <a:rPr lang="en-US" sz="1150" b="1" dirty="0">
                <a:solidFill>
                  <a:srgbClr val="262B3A"/>
                </a:solidFill>
                <a:latin typeface="Calibri" pitchFamily="34" charset="0"/>
                <a:ea typeface="Calibri" pitchFamily="34" charset="-122"/>
                <a:cs typeface="Calibri" pitchFamily="34" charset="-120"/>
              </a:rPr>
              <a:t>3.1 cm</a:t>
            </a:r>
            <a:r>
              <a:rPr lang="en-US" sz="1150" dirty="0">
                <a:solidFill>
                  <a:srgbClr val="262B3A"/>
                </a:solidFill>
                <a:latin typeface="Calibri" pitchFamily="34" charset="0"/>
                <a:ea typeface="Calibri" pitchFamily="34" charset="-122"/>
                <a:cs typeface="Calibri" pitchFamily="34" charset="-120"/>
              </a:rPr>
              <a:t> while the solvent front moves </a:t>
            </a:r>
            <a:r>
              <a:rPr lang="en-US" sz="1150" b="1" dirty="0">
                <a:solidFill>
                  <a:srgbClr val="262B3A"/>
                </a:solidFill>
                <a:latin typeface="Calibri" pitchFamily="34" charset="0"/>
                <a:ea typeface="Calibri" pitchFamily="34" charset="-122"/>
                <a:cs typeface="Calibri" pitchFamily="34" charset="-120"/>
              </a:rPr>
              <a:t>6.2 cm</a:t>
            </a:r>
            <a:r>
              <a:rPr lang="en-US" sz="1150" dirty="0">
                <a:solidFill>
                  <a:srgbClr val="262B3A"/>
                </a:solidFill>
                <a:latin typeface="Calibri" pitchFamily="34" charset="0"/>
                <a:ea typeface="Calibri" pitchFamily="34" charset="-122"/>
                <a:cs typeface="Calibri" pitchFamily="34" charset="-120"/>
              </a:rPr>
              <a:t>. Calculate Rf. Is ink </a:t>
            </a:r>
            <a:r>
              <a:rPr lang="en-US" sz="1150" b="1" dirty="0">
                <a:solidFill>
                  <a:srgbClr val="262B3A"/>
                </a:solidFill>
                <a:latin typeface="Calibri" pitchFamily="34" charset="0"/>
                <a:ea typeface="Calibri" pitchFamily="34" charset="-122"/>
                <a:cs typeface="Calibri" pitchFamily="34" charset="-120"/>
              </a:rPr>
              <a:t>X</a:t>
            </a:r>
            <a:r>
              <a:rPr lang="en-US" sz="1150" dirty="0">
                <a:solidFill>
                  <a:srgbClr val="262B3A"/>
                </a:solidFill>
                <a:latin typeface="Calibri" pitchFamily="34" charset="0"/>
                <a:ea typeface="Calibri" pitchFamily="34" charset="-122"/>
                <a:cs typeface="Calibri" pitchFamily="34" charset="-120"/>
              </a:rPr>
              <a:t> pure? Explain.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Choosing a chromatography method</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C5.1.6 • aqueous and non-aqueous solvents; locating agents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C5.1.6  |  10</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chromatograms of sample S and of an amino acid mixture (illustrative)</a:t>
            </a:r>
            <a:endParaRPr lang="en-US" sz="1000" dirty="0"/>
          </a:p>
        </p:txBody>
      </p:sp>
      <p:sp>
        <p:nvSpPr>
          <p:cNvPr id="10" name="Text 8"/>
          <p:cNvSpPr/>
          <p:nvPr/>
        </p:nvSpPr>
        <p:spPr>
          <a:xfrm>
            <a:off x="594360" y="1298448"/>
            <a:ext cx="2286000" cy="2286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Test for purity: two solvents</a:t>
            </a:r>
            <a:endParaRPr lang="en-US" sz="1050" dirty="0"/>
          </a:p>
        </p:txBody>
      </p:sp>
      <p:sp>
        <p:nvSpPr>
          <p:cNvPr id="11" name="Shape 9"/>
          <p:cNvSpPr/>
          <p:nvPr/>
        </p:nvSpPr>
        <p:spPr>
          <a:xfrm>
            <a:off x="731520" y="1600200"/>
            <a:ext cx="914400" cy="2377440"/>
          </a:xfrm>
          <a:prstGeom prst="rect">
            <a:avLst/>
          </a:prstGeom>
          <a:solidFill>
            <a:srgbClr val="FFFFFF"/>
          </a:solidFill>
          <a:ln w="12700">
            <a:solidFill>
              <a:srgbClr val="9AA3B0"/>
            </a:solidFill>
            <a:prstDash val="solid"/>
          </a:ln>
        </p:spPr>
      </p:sp>
      <p:sp>
        <p:nvSpPr>
          <p:cNvPr id="12" name="Shape 10"/>
          <p:cNvSpPr/>
          <p:nvPr/>
        </p:nvSpPr>
        <p:spPr>
          <a:xfrm>
            <a:off x="804672" y="3794760"/>
            <a:ext cx="768096" cy="91"/>
          </a:xfrm>
          <a:prstGeom prst="line">
            <a:avLst/>
          </a:prstGeom>
          <a:noFill/>
          <a:ln w="12700">
            <a:solidFill>
              <a:srgbClr val="555555"/>
            </a:solidFill>
            <a:prstDash val="solid"/>
          </a:ln>
        </p:spPr>
      </p:sp>
      <p:sp>
        <p:nvSpPr>
          <p:cNvPr id="13" name="Shape 11"/>
          <p:cNvSpPr/>
          <p:nvPr/>
        </p:nvSpPr>
        <p:spPr>
          <a:xfrm>
            <a:off x="777240" y="1874520"/>
            <a:ext cx="822960" cy="91"/>
          </a:xfrm>
          <a:prstGeom prst="line">
            <a:avLst/>
          </a:prstGeom>
          <a:noFill/>
          <a:ln w="12700">
            <a:solidFill>
              <a:srgbClr val="7D8794"/>
            </a:solidFill>
            <a:prstDash val="dash"/>
          </a:ln>
        </p:spPr>
      </p:sp>
      <p:sp>
        <p:nvSpPr>
          <p:cNvPr id="14" name="Shape 12"/>
          <p:cNvSpPr/>
          <p:nvPr/>
        </p:nvSpPr>
        <p:spPr>
          <a:xfrm>
            <a:off x="1069848" y="2894076"/>
            <a:ext cx="237744" cy="155448"/>
          </a:xfrm>
          <a:prstGeom prst="ellipse">
            <a:avLst/>
          </a:prstGeom>
          <a:solidFill>
            <a:srgbClr val="3E9E5A"/>
          </a:solidFill>
          <a:ln/>
        </p:spPr>
      </p:sp>
      <p:sp>
        <p:nvSpPr>
          <p:cNvPr id="15" name="Shape 13"/>
          <p:cNvSpPr/>
          <p:nvPr/>
        </p:nvSpPr>
        <p:spPr>
          <a:xfrm>
            <a:off x="1920240" y="1600200"/>
            <a:ext cx="914400" cy="2377440"/>
          </a:xfrm>
          <a:prstGeom prst="rect">
            <a:avLst/>
          </a:prstGeom>
          <a:solidFill>
            <a:srgbClr val="FFFFFF"/>
          </a:solidFill>
          <a:ln w="12700">
            <a:solidFill>
              <a:srgbClr val="9AA3B0"/>
            </a:solidFill>
            <a:prstDash val="solid"/>
          </a:ln>
        </p:spPr>
      </p:sp>
      <p:sp>
        <p:nvSpPr>
          <p:cNvPr id="16" name="Shape 14"/>
          <p:cNvSpPr/>
          <p:nvPr/>
        </p:nvSpPr>
        <p:spPr>
          <a:xfrm>
            <a:off x="1993392" y="3794760"/>
            <a:ext cx="768096" cy="91"/>
          </a:xfrm>
          <a:prstGeom prst="line">
            <a:avLst/>
          </a:prstGeom>
          <a:noFill/>
          <a:ln w="12700">
            <a:solidFill>
              <a:srgbClr val="555555"/>
            </a:solidFill>
            <a:prstDash val="solid"/>
          </a:ln>
        </p:spPr>
      </p:sp>
      <p:sp>
        <p:nvSpPr>
          <p:cNvPr id="17" name="Shape 15"/>
          <p:cNvSpPr/>
          <p:nvPr/>
        </p:nvSpPr>
        <p:spPr>
          <a:xfrm>
            <a:off x="1965960" y="1874520"/>
            <a:ext cx="822960" cy="91"/>
          </a:xfrm>
          <a:prstGeom prst="line">
            <a:avLst/>
          </a:prstGeom>
          <a:noFill/>
          <a:ln w="12700">
            <a:solidFill>
              <a:srgbClr val="7D8794"/>
            </a:solidFill>
            <a:prstDash val="dash"/>
          </a:ln>
        </p:spPr>
      </p:sp>
      <p:sp>
        <p:nvSpPr>
          <p:cNvPr id="18" name="Shape 16"/>
          <p:cNvSpPr/>
          <p:nvPr/>
        </p:nvSpPr>
        <p:spPr>
          <a:xfrm>
            <a:off x="2258568" y="3168396"/>
            <a:ext cx="237744" cy="155448"/>
          </a:xfrm>
          <a:prstGeom prst="ellipse">
            <a:avLst/>
          </a:prstGeom>
          <a:solidFill>
            <a:srgbClr val="3E9E5A"/>
          </a:solidFill>
          <a:ln/>
        </p:spPr>
      </p:sp>
      <p:sp>
        <p:nvSpPr>
          <p:cNvPr id="19" name="Shape 17"/>
          <p:cNvSpPr/>
          <p:nvPr/>
        </p:nvSpPr>
        <p:spPr>
          <a:xfrm>
            <a:off x="2258568" y="2455164"/>
            <a:ext cx="237744" cy="155448"/>
          </a:xfrm>
          <a:prstGeom prst="ellipse">
            <a:avLst/>
          </a:prstGeom>
          <a:solidFill>
            <a:srgbClr val="3A6FD0"/>
          </a:solidFill>
          <a:ln/>
        </p:spPr>
      </p:sp>
      <p:sp>
        <p:nvSpPr>
          <p:cNvPr id="20" name="Text 18"/>
          <p:cNvSpPr/>
          <p:nvPr/>
        </p:nvSpPr>
        <p:spPr>
          <a:xfrm>
            <a:off x="640080" y="4023360"/>
            <a:ext cx="1097280" cy="219456"/>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in </a:t>
            </a:r>
            <a:r>
              <a:rPr lang="en-US" sz="1050" b="1" dirty="0">
                <a:solidFill>
                  <a:srgbClr val="262B3A"/>
                </a:solidFill>
                <a:latin typeface="Calibri" pitchFamily="34" charset="0"/>
                <a:ea typeface="Calibri" pitchFamily="34" charset="-122"/>
                <a:cs typeface="Calibri" pitchFamily="34" charset="-120"/>
              </a:rPr>
              <a:t>water</a:t>
            </a:r>
            <a:endParaRPr lang="en-US" sz="1050" dirty="0"/>
          </a:p>
        </p:txBody>
      </p:sp>
      <p:sp>
        <p:nvSpPr>
          <p:cNvPr id="21" name="Text 19"/>
          <p:cNvSpPr/>
          <p:nvPr/>
        </p:nvSpPr>
        <p:spPr>
          <a:xfrm>
            <a:off x="1828800" y="4023360"/>
            <a:ext cx="1097280" cy="219456"/>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in </a:t>
            </a:r>
            <a:r>
              <a:rPr lang="en-US" sz="1050" b="1" dirty="0">
                <a:solidFill>
                  <a:srgbClr val="262B3A"/>
                </a:solidFill>
                <a:latin typeface="Calibri" pitchFamily="34" charset="0"/>
                <a:ea typeface="Calibri" pitchFamily="34" charset="-122"/>
                <a:cs typeface="Calibri" pitchFamily="34" charset="-120"/>
              </a:rPr>
              <a:t>ethanol</a:t>
            </a:r>
            <a:endParaRPr lang="en-US" sz="1050" dirty="0"/>
          </a:p>
        </p:txBody>
      </p:sp>
      <p:sp>
        <p:nvSpPr>
          <p:cNvPr id="22" name="Text 20"/>
          <p:cNvSpPr/>
          <p:nvPr/>
        </p:nvSpPr>
        <p:spPr>
          <a:xfrm>
            <a:off x="594360" y="4279392"/>
            <a:ext cx="2377440" cy="384048"/>
          </a:xfrm>
          <a:prstGeom prst="rect">
            <a:avLst/>
          </a:prstGeom>
          <a:noFill/>
          <a:ln/>
        </p:spPr>
        <p:txBody>
          <a:bodyPr wrap="square" lIns="0" tIns="0" rIns="0" bIns="0" rtlCol="0" anchor="t"/>
          <a:lstStyle/>
          <a:p>
            <a:pPr algn="ctr" indent="0" marL="0">
              <a:buNone/>
            </a:pPr>
            <a:r>
              <a:rPr lang="en-US" sz="1000" dirty="0">
                <a:solidFill>
                  <a:srgbClr val="C8414C"/>
                </a:solidFill>
                <a:latin typeface="Calibri" pitchFamily="34" charset="0"/>
                <a:ea typeface="Calibri" pitchFamily="34" charset="-122"/>
                <a:cs typeface="Calibri" pitchFamily="34" charset="-120"/>
              </a:rPr>
              <a:t>one spot in water, </a:t>
            </a:r>
            <a:r>
              <a:rPr lang="en-US" sz="1000" b="1" dirty="0">
                <a:solidFill>
                  <a:srgbClr val="C8414C"/>
                </a:solidFill>
                <a:latin typeface="Calibri" pitchFamily="34" charset="0"/>
                <a:ea typeface="Calibri" pitchFamily="34" charset="-122"/>
                <a:cs typeface="Calibri" pitchFamily="34" charset="-120"/>
              </a:rPr>
              <a:t>two</a:t>
            </a:r>
            <a:r>
              <a:rPr lang="en-US" sz="1000" dirty="0">
                <a:solidFill>
                  <a:srgbClr val="C8414C"/>
                </a:solidFill>
                <a:latin typeface="Calibri" pitchFamily="34" charset="0"/>
                <a:ea typeface="Calibri" pitchFamily="34" charset="-122"/>
                <a:cs typeface="Calibri" pitchFamily="34" charset="-120"/>
              </a:rPr>
              <a:t> in ethanol: S is </a:t>
            </a:r>
            <a:r>
              <a:rPr lang="en-US" sz="1000" b="1" dirty="0">
                <a:solidFill>
                  <a:srgbClr val="C8414C"/>
                </a:solidFill>
                <a:latin typeface="Calibri" pitchFamily="34" charset="0"/>
                <a:ea typeface="Calibri" pitchFamily="34" charset="-122"/>
                <a:cs typeface="Calibri" pitchFamily="34" charset="-120"/>
              </a:rPr>
              <a:t>impure</a:t>
            </a:r>
            <a:endParaRPr lang="en-US" sz="1000" dirty="0"/>
          </a:p>
        </p:txBody>
      </p:sp>
      <p:sp>
        <p:nvSpPr>
          <p:cNvPr id="23" name="Text 21"/>
          <p:cNvSpPr/>
          <p:nvPr/>
        </p:nvSpPr>
        <p:spPr>
          <a:xfrm>
            <a:off x="3154680" y="1298448"/>
            <a:ext cx="2651760" cy="2286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Colourless spots: locating agent</a:t>
            </a:r>
            <a:endParaRPr lang="en-US" sz="1050" dirty="0"/>
          </a:p>
        </p:txBody>
      </p:sp>
      <p:sp>
        <p:nvSpPr>
          <p:cNvPr id="24" name="Shape 22"/>
          <p:cNvSpPr/>
          <p:nvPr/>
        </p:nvSpPr>
        <p:spPr>
          <a:xfrm>
            <a:off x="3291840" y="1600200"/>
            <a:ext cx="914400" cy="2377440"/>
          </a:xfrm>
          <a:prstGeom prst="rect">
            <a:avLst/>
          </a:prstGeom>
          <a:solidFill>
            <a:srgbClr val="FFFFFF"/>
          </a:solidFill>
          <a:ln w="12700">
            <a:solidFill>
              <a:srgbClr val="9AA3B0"/>
            </a:solidFill>
            <a:prstDash val="solid"/>
          </a:ln>
        </p:spPr>
      </p:sp>
      <p:sp>
        <p:nvSpPr>
          <p:cNvPr id="25" name="Shape 23"/>
          <p:cNvSpPr/>
          <p:nvPr/>
        </p:nvSpPr>
        <p:spPr>
          <a:xfrm>
            <a:off x="3364992" y="3794760"/>
            <a:ext cx="768096" cy="91"/>
          </a:xfrm>
          <a:prstGeom prst="line">
            <a:avLst/>
          </a:prstGeom>
          <a:noFill/>
          <a:ln w="12700">
            <a:solidFill>
              <a:srgbClr val="555555"/>
            </a:solidFill>
            <a:prstDash val="solid"/>
          </a:ln>
        </p:spPr>
      </p:sp>
      <p:sp>
        <p:nvSpPr>
          <p:cNvPr id="26" name="Shape 24"/>
          <p:cNvSpPr/>
          <p:nvPr/>
        </p:nvSpPr>
        <p:spPr>
          <a:xfrm>
            <a:off x="3337560" y="1819656"/>
            <a:ext cx="822960" cy="91"/>
          </a:xfrm>
          <a:prstGeom prst="line">
            <a:avLst/>
          </a:prstGeom>
          <a:noFill/>
          <a:ln w="12700">
            <a:solidFill>
              <a:srgbClr val="7D8794"/>
            </a:solidFill>
            <a:prstDash val="dash"/>
          </a:ln>
        </p:spPr>
      </p:sp>
      <p:sp>
        <p:nvSpPr>
          <p:cNvPr id="27" name="Shape 25"/>
          <p:cNvSpPr/>
          <p:nvPr/>
        </p:nvSpPr>
        <p:spPr>
          <a:xfrm>
            <a:off x="3630168" y="3124505"/>
            <a:ext cx="237744" cy="155448"/>
          </a:xfrm>
          <a:prstGeom prst="ellipse">
            <a:avLst/>
          </a:prstGeom>
          <a:ln w="9525">
            <a:solidFill>
              <a:srgbClr val="B0B0B0"/>
            </a:solidFill>
            <a:prstDash val="sysDot"/>
          </a:ln>
        </p:spPr>
      </p:sp>
      <p:sp>
        <p:nvSpPr>
          <p:cNvPr id="28" name="Shape 26"/>
          <p:cNvSpPr/>
          <p:nvPr/>
        </p:nvSpPr>
        <p:spPr>
          <a:xfrm>
            <a:off x="3630168" y="2531974"/>
            <a:ext cx="237744" cy="155448"/>
          </a:xfrm>
          <a:prstGeom prst="ellipse">
            <a:avLst/>
          </a:prstGeom>
          <a:ln w="9525">
            <a:solidFill>
              <a:srgbClr val="B0B0B0"/>
            </a:solidFill>
            <a:prstDash val="sysDot"/>
          </a:ln>
        </p:spPr>
      </p:sp>
      <p:sp>
        <p:nvSpPr>
          <p:cNvPr id="29" name="Shape 27"/>
          <p:cNvSpPr/>
          <p:nvPr/>
        </p:nvSpPr>
        <p:spPr>
          <a:xfrm>
            <a:off x="4800600" y="1600200"/>
            <a:ext cx="914400" cy="2377440"/>
          </a:xfrm>
          <a:prstGeom prst="rect">
            <a:avLst/>
          </a:prstGeom>
          <a:solidFill>
            <a:srgbClr val="FFFFFF"/>
          </a:solidFill>
          <a:ln w="12700">
            <a:solidFill>
              <a:srgbClr val="9AA3B0"/>
            </a:solidFill>
            <a:prstDash val="solid"/>
          </a:ln>
        </p:spPr>
      </p:sp>
      <p:sp>
        <p:nvSpPr>
          <p:cNvPr id="30" name="Shape 28"/>
          <p:cNvSpPr/>
          <p:nvPr/>
        </p:nvSpPr>
        <p:spPr>
          <a:xfrm>
            <a:off x="4873752" y="3794760"/>
            <a:ext cx="768096" cy="91"/>
          </a:xfrm>
          <a:prstGeom prst="line">
            <a:avLst/>
          </a:prstGeom>
          <a:noFill/>
          <a:ln w="12700">
            <a:solidFill>
              <a:srgbClr val="555555"/>
            </a:solidFill>
            <a:prstDash val="solid"/>
          </a:ln>
        </p:spPr>
      </p:sp>
      <p:sp>
        <p:nvSpPr>
          <p:cNvPr id="31" name="Shape 29"/>
          <p:cNvSpPr/>
          <p:nvPr/>
        </p:nvSpPr>
        <p:spPr>
          <a:xfrm>
            <a:off x="4846320" y="1819656"/>
            <a:ext cx="822960" cy="91"/>
          </a:xfrm>
          <a:prstGeom prst="line">
            <a:avLst/>
          </a:prstGeom>
          <a:noFill/>
          <a:ln w="12700">
            <a:solidFill>
              <a:srgbClr val="7D8794"/>
            </a:solidFill>
            <a:prstDash val="dash"/>
          </a:ln>
        </p:spPr>
      </p:sp>
      <p:sp>
        <p:nvSpPr>
          <p:cNvPr id="32" name="Shape 30"/>
          <p:cNvSpPr/>
          <p:nvPr/>
        </p:nvSpPr>
        <p:spPr>
          <a:xfrm>
            <a:off x="5138928" y="3124505"/>
            <a:ext cx="237744" cy="155448"/>
          </a:xfrm>
          <a:prstGeom prst="ellipse">
            <a:avLst/>
          </a:prstGeom>
          <a:solidFill>
            <a:srgbClr val="8E44AD"/>
          </a:solidFill>
          <a:ln/>
        </p:spPr>
      </p:sp>
      <p:sp>
        <p:nvSpPr>
          <p:cNvPr id="33" name="Shape 31"/>
          <p:cNvSpPr/>
          <p:nvPr/>
        </p:nvSpPr>
        <p:spPr>
          <a:xfrm>
            <a:off x="5138928" y="2531974"/>
            <a:ext cx="237744" cy="155448"/>
          </a:xfrm>
          <a:prstGeom prst="ellipse">
            <a:avLst/>
          </a:prstGeom>
          <a:solidFill>
            <a:srgbClr val="8E44AD"/>
          </a:solidFill>
          <a:ln/>
        </p:spPr>
      </p:sp>
      <p:sp>
        <p:nvSpPr>
          <p:cNvPr id="34" name="Shape 32"/>
          <p:cNvSpPr/>
          <p:nvPr/>
        </p:nvSpPr>
        <p:spPr>
          <a:xfrm>
            <a:off x="4279392" y="2651760"/>
            <a:ext cx="448056" cy="91"/>
          </a:xfrm>
          <a:prstGeom prst="line">
            <a:avLst/>
          </a:prstGeom>
          <a:noFill/>
          <a:ln w="19050">
            <a:solidFill>
              <a:srgbClr val="2A1F3D"/>
            </a:solidFill>
            <a:prstDash val="solid"/>
            <a:tailEnd type="triangle"/>
          </a:ln>
        </p:spPr>
      </p:sp>
      <p:sp>
        <p:nvSpPr>
          <p:cNvPr id="35" name="Text 33"/>
          <p:cNvSpPr/>
          <p:nvPr/>
        </p:nvSpPr>
        <p:spPr>
          <a:xfrm>
            <a:off x="4224528" y="2176272"/>
            <a:ext cx="566928" cy="201168"/>
          </a:xfrm>
          <a:prstGeom prst="rect">
            <a:avLst/>
          </a:prstGeom>
          <a:noFill/>
          <a:ln/>
        </p:spPr>
        <p:txBody>
          <a:bodyPr wrap="square" lIns="0" tIns="0" rIns="0" bIns="0" rtlCol="0" anchor="ctr"/>
          <a:lstStyle/>
          <a:p>
            <a:pPr algn="ctr" indent="0" marL="0">
              <a:buNone/>
            </a:pPr>
            <a:r>
              <a:rPr lang="en-US" sz="1000" i="1" dirty="0">
                <a:solidFill>
                  <a:srgbClr val="262B3A"/>
                </a:solidFill>
                <a:latin typeface="Calibri" pitchFamily="34" charset="0"/>
                <a:ea typeface="Calibri" pitchFamily="34" charset="-122"/>
                <a:cs typeface="Calibri" pitchFamily="34" charset="-120"/>
              </a:rPr>
              <a:t>spray</a:t>
            </a:r>
            <a:endParaRPr lang="en-US" sz="1000" dirty="0"/>
          </a:p>
        </p:txBody>
      </p:sp>
      <p:sp>
        <p:nvSpPr>
          <p:cNvPr id="36" name="Text 34"/>
          <p:cNvSpPr/>
          <p:nvPr/>
        </p:nvSpPr>
        <p:spPr>
          <a:xfrm>
            <a:off x="3154680" y="4023360"/>
            <a:ext cx="1188720" cy="219456"/>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dried: nothing seen</a:t>
            </a:r>
            <a:endParaRPr lang="en-US" sz="1000" dirty="0"/>
          </a:p>
        </p:txBody>
      </p:sp>
      <p:sp>
        <p:nvSpPr>
          <p:cNvPr id="37" name="Text 35"/>
          <p:cNvSpPr/>
          <p:nvPr/>
        </p:nvSpPr>
        <p:spPr>
          <a:xfrm>
            <a:off x="4617720" y="4023360"/>
            <a:ext cx="1280160" cy="219456"/>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after ninhydrin</a:t>
            </a:r>
            <a:endParaRPr lang="en-US" sz="1000" dirty="0"/>
          </a:p>
        </p:txBody>
      </p:sp>
      <p:sp>
        <p:nvSpPr>
          <p:cNvPr id="38" name="Shape 36"/>
          <p:cNvSpPr/>
          <p:nvPr/>
        </p:nvSpPr>
        <p:spPr>
          <a:xfrm>
            <a:off x="640080" y="4709160"/>
            <a:ext cx="2514600" cy="566928"/>
          </a:xfrm>
          <a:prstGeom prst="roundRect">
            <a:avLst>
              <a:gd name="adj" fmla="val 9677"/>
            </a:avLst>
          </a:prstGeom>
          <a:solidFill>
            <a:srgbClr val="FFFFFF"/>
          </a:solidFill>
          <a:ln w="9525">
            <a:solidFill>
              <a:srgbClr val="5B9BD5"/>
            </a:solidFill>
            <a:prstDash val="solid"/>
          </a:ln>
        </p:spPr>
      </p:sp>
      <p:sp>
        <p:nvSpPr>
          <p:cNvPr id="39" name="Text 37"/>
          <p:cNvSpPr/>
          <p:nvPr/>
        </p:nvSpPr>
        <p:spPr>
          <a:xfrm>
            <a:off x="694944" y="4709160"/>
            <a:ext cx="2404872" cy="56692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Aqueous</a:t>
            </a:r>
            <a:r>
              <a:rPr lang="en-US" sz="1000" dirty="0">
                <a:solidFill>
                  <a:srgbClr val="262B3A"/>
                </a:solidFill>
                <a:latin typeface="Calibri" pitchFamily="34" charset="0"/>
                <a:ea typeface="Calibri" pitchFamily="34" charset="-122"/>
                <a:cs typeface="Calibri" pitchFamily="34" charset="-120"/>
              </a:rPr>
              <a:t> (water): food colourings, sugars, salts</a:t>
            </a:r>
            <a:endParaRPr lang="en-US" sz="1000" dirty="0"/>
          </a:p>
        </p:txBody>
      </p:sp>
      <p:sp>
        <p:nvSpPr>
          <p:cNvPr id="40" name="Shape 38"/>
          <p:cNvSpPr/>
          <p:nvPr/>
        </p:nvSpPr>
        <p:spPr>
          <a:xfrm>
            <a:off x="3291840" y="4709160"/>
            <a:ext cx="2514600" cy="566928"/>
          </a:xfrm>
          <a:prstGeom prst="roundRect">
            <a:avLst>
              <a:gd name="adj" fmla="val 9677"/>
            </a:avLst>
          </a:prstGeom>
          <a:solidFill>
            <a:srgbClr val="FFFFFF"/>
          </a:solidFill>
          <a:ln w="9525">
            <a:solidFill>
              <a:srgbClr val="8DB04A"/>
            </a:solidFill>
            <a:prstDash val="solid"/>
          </a:ln>
        </p:spPr>
      </p:sp>
      <p:sp>
        <p:nvSpPr>
          <p:cNvPr id="41" name="Text 39"/>
          <p:cNvSpPr/>
          <p:nvPr/>
        </p:nvSpPr>
        <p:spPr>
          <a:xfrm>
            <a:off x="3346704" y="4709160"/>
            <a:ext cx="2404872" cy="56692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Non-aqueous</a:t>
            </a:r>
            <a:r>
              <a:rPr lang="en-US" sz="1000" dirty="0">
                <a:solidFill>
                  <a:srgbClr val="262B3A"/>
                </a:solidFill>
                <a:latin typeface="Calibri" pitchFamily="34" charset="0"/>
                <a:ea typeface="Calibri" pitchFamily="34" charset="-122"/>
                <a:cs typeface="Calibri" pitchFamily="34" charset="-120"/>
              </a:rPr>
              <a:t> (ethanol, propanone): permanent inks, chlorophyll</a:t>
            </a:r>
            <a:endParaRPr lang="en-US" sz="1000" dirty="0"/>
          </a:p>
        </p:txBody>
      </p:sp>
      <p:sp>
        <p:nvSpPr>
          <p:cNvPr id="42" name="Shape 40"/>
          <p:cNvSpPr/>
          <p:nvPr/>
        </p:nvSpPr>
        <p:spPr>
          <a:xfrm>
            <a:off x="6217920" y="1188720"/>
            <a:ext cx="5562295" cy="3063240"/>
          </a:xfrm>
          <a:prstGeom prst="roundRect">
            <a:avLst>
              <a:gd name="adj" fmla="val 1791"/>
            </a:avLst>
          </a:prstGeom>
          <a:solidFill>
            <a:srgbClr val="F8F5FC"/>
          </a:solidFill>
          <a:ln w="9525">
            <a:solidFill>
              <a:srgbClr val="DDD3EC"/>
            </a:solidFill>
            <a:prstDash val="solid"/>
          </a:ln>
        </p:spPr>
      </p:sp>
      <p:sp>
        <p:nvSpPr>
          <p:cNvPr id="43" name="Text 4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Planning the method</a:t>
            </a:r>
            <a:endParaRPr lang="en-US" sz="1300" dirty="0"/>
          </a:p>
        </p:txBody>
      </p:sp>
      <p:sp>
        <p:nvSpPr>
          <p:cNvPr id="44" name="Text 42"/>
          <p:cNvSpPr/>
          <p:nvPr/>
        </p:nvSpPr>
        <p:spPr>
          <a:xfrm>
            <a:off x="6382512" y="1609344"/>
            <a:ext cx="5233111" cy="256946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Choose a solvent that the substances </a:t>
            </a:r>
            <a:r>
              <a:rPr lang="en-US" sz="1100" b="1" dirty="0">
                <a:solidFill>
                  <a:srgbClr val="262B3A"/>
                </a:solidFill>
                <a:latin typeface="Calibri" pitchFamily="34" charset="0"/>
                <a:ea typeface="Calibri" pitchFamily="34" charset="-122"/>
                <a:cs typeface="Calibri" pitchFamily="34" charset="-120"/>
              </a:rPr>
              <a:t>dissolve</a:t>
            </a:r>
            <a:r>
              <a:rPr lang="en-US" sz="1100" dirty="0">
                <a:solidFill>
                  <a:srgbClr val="262B3A"/>
                </a:solidFill>
                <a:latin typeface="Calibri" pitchFamily="34" charset="0"/>
                <a:ea typeface="Calibri" pitchFamily="34" charset="-122"/>
                <a:cs typeface="Calibri" pitchFamily="34" charset="-120"/>
              </a:rPr>
              <a:t> in: </a:t>
            </a:r>
            <a:r>
              <a:rPr lang="en-US" sz="1100" b="1" dirty="0">
                <a:solidFill>
                  <a:srgbClr val="262B3A"/>
                </a:solidFill>
                <a:latin typeface="Calibri" pitchFamily="34" charset="0"/>
                <a:ea typeface="Calibri" pitchFamily="34" charset="-122"/>
                <a:cs typeface="Calibri" pitchFamily="34" charset="-120"/>
              </a:rPr>
              <a:t>aqueous</a:t>
            </a:r>
            <a:r>
              <a:rPr lang="en-US" sz="1100" dirty="0">
                <a:solidFill>
                  <a:srgbClr val="262B3A"/>
                </a:solidFill>
                <a:latin typeface="Calibri" pitchFamily="34" charset="0"/>
                <a:ea typeface="Calibri" pitchFamily="34" charset="-122"/>
                <a:cs typeface="Calibri" pitchFamily="34" charset="-120"/>
              </a:rPr>
              <a:t> (water) or </a:t>
            </a:r>
            <a:r>
              <a:rPr lang="en-US" sz="1100" b="1" dirty="0">
                <a:solidFill>
                  <a:srgbClr val="262B3A"/>
                </a:solidFill>
                <a:latin typeface="Calibri" pitchFamily="34" charset="0"/>
                <a:ea typeface="Calibri" pitchFamily="34" charset="-122"/>
                <a:cs typeface="Calibri" pitchFamily="34" charset="-120"/>
              </a:rPr>
              <a:t>non-aqueous</a:t>
            </a:r>
            <a:r>
              <a:rPr lang="en-US" sz="1100" dirty="0">
                <a:solidFill>
                  <a:srgbClr val="262B3A"/>
                </a:solidFill>
                <a:latin typeface="Calibri" pitchFamily="34" charset="0"/>
                <a:ea typeface="Calibri" pitchFamily="34" charset="-122"/>
                <a:cs typeface="Calibri" pitchFamily="34" charset="-120"/>
              </a:rPr>
              <a:t> (e.g. ethanol).</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To test </a:t>
            </a:r>
            <a:r>
              <a:rPr lang="en-US" sz="1100" b="1" dirty="0">
                <a:solidFill>
                  <a:srgbClr val="262B3A"/>
                </a:solidFill>
                <a:latin typeface="Calibri" pitchFamily="34" charset="0"/>
                <a:ea typeface="Calibri" pitchFamily="34" charset="-122"/>
                <a:cs typeface="Calibri" pitchFamily="34" charset="-120"/>
              </a:rPr>
              <a:t>purity</a:t>
            </a:r>
            <a:r>
              <a:rPr lang="en-US" sz="1100" dirty="0">
                <a:solidFill>
                  <a:srgbClr val="262B3A"/>
                </a:solidFill>
                <a:latin typeface="Calibri" pitchFamily="34" charset="0"/>
                <a:ea typeface="Calibri" pitchFamily="34" charset="-122"/>
                <a:cs typeface="Calibri" pitchFamily="34" charset="-120"/>
              </a:rPr>
              <a:t>, run the sample in </a:t>
            </a:r>
            <a:r>
              <a:rPr lang="en-US" sz="1100" b="1" dirty="0">
                <a:solidFill>
                  <a:srgbClr val="262B3A"/>
                </a:solidFill>
                <a:latin typeface="Calibri" pitchFamily="34" charset="0"/>
                <a:ea typeface="Calibri" pitchFamily="34" charset="-122"/>
                <a:cs typeface="Calibri" pitchFamily="34" charset="-120"/>
              </a:rPr>
              <a:t>two or more</a:t>
            </a:r>
            <a:r>
              <a:rPr lang="en-US" sz="1100" dirty="0">
                <a:solidFill>
                  <a:srgbClr val="262B3A"/>
                </a:solidFill>
                <a:latin typeface="Calibri" pitchFamily="34" charset="0"/>
                <a:ea typeface="Calibri" pitchFamily="34" charset="-122"/>
                <a:cs typeface="Calibri" pitchFamily="34" charset="-120"/>
              </a:rPr>
              <a:t> different solvents. A pure substance gives a </a:t>
            </a:r>
            <a:r>
              <a:rPr lang="en-US" sz="1100" b="1" dirty="0">
                <a:solidFill>
                  <a:srgbClr val="262B3A"/>
                </a:solidFill>
                <a:latin typeface="Calibri" pitchFamily="34" charset="0"/>
                <a:ea typeface="Calibri" pitchFamily="34" charset="-122"/>
                <a:cs typeface="Calibri" pitchFamily="34" charset="-120"/>
              </a:rPr>
              <a:t>single</a:t>
            </a:r>
            <a:r>
              <a:rPr lang="en-US" sz="1100" dirty="0">
                <a:solidFill>
                  <a:srgbClr val="262B3A"/>
                </a:solidFill>
                <a:latin typeface="Calibri" pitchFamily="34" charset="0"/>
                <a:ea typeface="Calibri" pitchFamily="34" charset="-122"/>
                <a:cs typeface="Calibri" pitchFamily="34" charset="-120"/>
              </a:rPr>
              <a:t> spot in </a:t>
            </a:r>
            <a:r>
              <a:rPr lang="en-US" sz="1100" b="1" dirty="0">
                <a:solidFill>
                  <a:srgbClr val="262B3A"/>
                </a:solidFill>
                <a:latin typeface="Calibri" pitchFamily="34" charset="0"/>
                <a:ea typeface="Calibri" pitchFamily="34" charset="-122"/>
                <a:cs typeface="Calibri" pitchFamily="34" charset="-120"/>
              </a:rPr>
              <a:t>every</a:t>
            </a:r>
            <a:r>
              <a:rPr lang="en-US" sz="1100" dirty="0">
                <a:solidFill>
                  <a:srgbClr val="262B3A"/>
                </a:solidFill>
                <a:latin typeface="Calibri" pitchFamily="34" charset="0"/>
                <a:ea typeface="Calibri" pitchFamily="34" charset="-122"/>
                <a:cs typeface="Calibri" pitchFamily="34" charset="-120"/>
              </a:rPr>
              <a:t> solvent.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Run </a:t>
            </a:r>
            <a:r>
              <a:rPr lang="en-US" sz="1100" b="1" dirty="0">
                <a:solidFill>
                  <a:srgbClr val="262B3A"/>
                </a:solidFill>
                <a:latin typeface="Calibri" pitchFamily="34" charset="0"/>
                <a:ea typeface="Calibri" pitchFamily="34" charset="-122"/>
                <a:cs typeface="Calibri" pitchFamily="34" charset="-120"/>
              </a:rPr>
              <a:t>pure reference</a:t>
            </a:r>
            <a:r>
              <a:rPr lang="en-US" sz="1100" dirty="0">
                <a:solidFill>
                  <a:srgbClr val="262B3A"/>
                </a:solidFill>
                <a:latin typeface="Calibri" pitchFamily="34" charset="0"/>
                <a:ea typeface="Calibri" pitchFamily="34" charset="-122"/>
                <a:cs typeface="Calibri" pitchFamily="34" charset="-120"/>
              </a:rPr>
              <a:t> samples on the same paper and compare Rf values.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Colourless</a:t>
            </a:r>
            <a:r>
              <a:rPr lang="en-US" sz="1100" dirty="0">
                <a:solidFill>
                  <a:srgbClr val="262B3A"/>
                </a:solidFill>
                <a:latin typeface="Calibri" pitchFamily="34" charset="0"/>
                <a:ea typeface="Calibri" pitchFamily="34" charset="-122"/>
                <a:cs typeface="Calibri" pitchFamily="34" charset="-120"/>
              </a:rPr>
              <a:t> substances: spray the dried chromatogram with a </a:t>
            </a:r>
            <a:r>
              <a:rPr lang="en-US" sz="1100" b="1" dirty="0">
                <a:solidFill>
                  <a:srgbClr val="262B3A"/>
                </a:solidFill>
                <a:latin typeface="Calibri" pitchFamily="34" charset="0"/>
                <a:ea typeface="Calibri" pitchFamily="34" charset="-122"/>
                <a:cs typeface="Calibri" pitchFamily="34" charset="-120"/>
              </a:rPr>
              <a:t>locating agent</a:t>
            </a:r>
            <a:r>
              <a:rPr lang="en-US" sz="1100" dirty="0">
                <a:solidFill>
                  <a:srgbClr val="262B3A"/>
                </a:solidFill>
                <a:latin typeface="Calibri" pitchFamily="34" charset="0"/>
                <a:ea typeface="Calibri" pitchFamily="34" charset="-122"/>
                <a:cs typeface="Calibri" pitchFamily="34" charset="-120"/>
              </a:rPr>
              <a:t>, which reacts to make </a:t>
            </a:r>
            <a:r>
              <a:rPr lang="en-US" sz="1100" b="1" dirty="0">
                <a:solidFill>
                  <a:srgbClr val="262B3A"/>
                </a:solidFill>
                <a:latin typeface="Calibri" pitchFamily="34" charset="0"/>
                <a:ea typeface="Calibri" pitchFamily="34" charset="-122"/>
                <a:cs typeface="Calibri" pitchFamily="34" charset="-120"/>
              </a:rPr>
              <a:t>coloured</a:t>
            </a:r>
            <a:r>
              <a:rPr lang="en-US" sz="1100" dirty="0">
                <a:solidFill>
                  <a:srgbClr val="262B3A"/>
                </a:solidFill>
                <a:latin typeface="Calibri" pitchFamily="34" charset="0"/>
                <a:ea typeface="Calibri" pitchFamily="34" charset="-122"/>
                <a:cs typeface="Calibri" pitchFamily="34" charset="-120"/>
              </a:rPr>
              <a:t> spots, e.g. </a:t>
            </a:r>
            <a:r>
              <a:rPr lang="en-US" sz="1100" b="1" dirty="0">
                <a:solidFill>
                  <a:srgbClr val="262B3A"/>
                </a:solidFill>
                <a:latin typeface="Calibri" pitchFamily="34" charset="0"/>
                <a:ea typeface="Calibri" pitchFamily="34" charset="-122"/>
                <a:cs typeface="Calibri" pitchFamily="34" charset="-120"/>
              </a:rPr>
              <a:t>ninhydrin</a:t>
            </a:r>
            <a:r>
              <a:rPr lang="en-US" sz="1100" dirty="0">
                <a:solidFill>
                  <a:srgbClr val="262B3A"/>
                </a:solidFill>
                <a:latin typeface="Calibri" pitchFamily="34" charset="0"/>
                <a:ea typeface="Calibri" pitchFamily="34" charset="-122"/>
                <a:cs typeface="Calibri" pitchFamily="34" charset="-120"/>
              </a:rPr>
              <a:t> for amino acids.</a:t>
            </a:r>
            <a:endParaRPr lang="en-US" sz="1100" dirty="0"/>
          </a:p>
        </p:txBody>
      </p:sp>
      <p:sp>
        <p:nvSpPr>
          <p:cNvPr id="45" name="Shape 43"/>
          <p:cNvSpPr/>
          <p:nvPr/>
        </p:nvSpPr>
        <p:spPr>
          <a:xfrm>
            <a:off x="6217920" y="4389120"/>
            <a:ext cx="5562295" cy="1325880"/>
          </a:xfrm>
          <a:prstGeom prst="roundRect">
            <a:avLst>
              <a:gd name="adj" fmla="val 4138"/>
            </a:avLst>
          </a:prstGeom>
          <a:solidFill>
            <a:srgbClr val="FFF4E0"/>
          </a:solidFill>
          <a:ln w="9525">
            <a:solidFill>
              <a:srgbClr val="F1D9A8"/>
            </a:solidFill>
            <a:prstDash val="solid"/>
          </a:ln>
        </p:spPr>
      </p:sp>
      <p:sp>
        <p:nvSpPr>
          <p:cNvPr id="46" name="Text 44"/>
          <p:cNvSpPr/>
          <p:nvPr/>
        </p:nvSpPr>
        <p:spPr>
          <a:xfrm>
            <a:off x="6382512" y="446227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amino acids</a:t>
            </a:r>
            <a:endParaRPr lang="en-US" sz="1300" dirty="0"/>
          </a:p>
        </p:txBody>
      </p:sp>
      <p:sp>
        <p:nvSpPr>
          <p:cNvPr id="47" name="Text 45"/>
          <p:cNvSpPr/>
          <p:nvPr/>
        </p:nvSpPr>
        <p:spPr>
          <a:xfrm>
            <a:off x="6382512" y="4773168"/>
            <a:ext cx="5233111" cy="8686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After spraying, spots are at 1.8 cm and 3.6 cm. The solvent front is at 6.0 cm.</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Rf   </a:t>
            </a:r>
            <a:r>
              <a:rPr lang="en-US" sz="1050" dirty="0">
                <a:solidFill>
                  <a:srgbClr val="262B3A"/>
                </a:solidFill>
                <a:latin typeface="Calibri" pitchFamily="34" charset="0"/>
                <a:ea typeface="Calibri" pitchFamily="34" charset="-122"/>
                <a:cs typeface="Calibri" pitchFamily="34" charset="-120"/>
              </a:rPr>
              <a:t>1.8 ÷ 6.0 = 0.30 and 3.6 ÷ 6.0 = 0.60</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two</a:t>
            </a:r>
            <a:r>
              <a:rPr lang="en-US" sz="1050" b="1" dirty="0">
                <a:solidFill>
                  <a:srgbClr val="C8414C"/>
                </a:solidFill>
                <a:latin typeface="Calibri" pitchFamily="34" charset="0"/>
                <a:ea typeface="Calibri" pitchFamily="34" charset="-122"/>
                <a:cs typeface="Calibri" pitchFamily="34" charset="-120"/>
              </a:rPr>
              <a:t> different amino acids: a </a:t>
            </a:r>
            <a:r>
              <a:rPr lang="en-US" sz="1050" b="1" dirty="0">
                <a:solidFill>
                  <a:srgbClr val="C8414C"/>
                </a:solidFill>
                <a:latin typeface="Calibri" pitchFamily="34" charset="0"/>
                <a:ea typeface="Calibri" pitchFamily="34" charset="-122"/>
                <a:cs typeface="Calibri" pitchFamily="34" charset="-120"/>
              </a:rPr>
              <a:t>mixture</a:t>
            </a:r>
            <a:endParaRPr lang="en-US" sz="1050" dirty="0"/>
          </a:p>
        </p:txBody>
      </p:sp>
      <p:sp>
        <p:nvSpPr>
          <p:cNvPr id="48" name="Shape 46"/>
          <p:cNvSpPr/>
          <p:nvPr/>
        </p:nvSpPr>
        <p:spPr>
          <a:xfrm>
            <a:off x="411480" y="5833872"/>
            <a:ext cx="11368735" cy="530352"/>
          </a:xfrm>
          <a:prstGeom prst="rect">
            <a:avLst/>
          </a:prstGeom>
          <a:solidFill>
            <a:srgbClr val="FFF4E0"/>
          </a:solidFill>
          <a:ln w="6350">
            <a:solidFill>
              <a:srgbClr val="F1D9A8"/>
            </a:solidFill>
            <a:prstDash val="solid"/>
          </a:ln>
        </p:spPr>
      </p:sp>
      <p:sp>
        <p:nvSpPr>
          <p:cNvPr id="49" name="Shape 47"/>
          <p:cNvSpPr/>
          <p:nvPr/>
        </p:nvSpPr>
        <p:spPr>
          <a:xfrm>
            <a:off x="411480" y="5833872"/>
            <a:ext cx="82296" cy="530352"/>
          </a:xfrm>
          <a:prstGeom prst="rect">
            <a:avLst/>
          </a:prstGeom>
          <a:solidFill>
            <a:srgbClr val="E39A2F"/>
          </a:solidFill>
          <a:ln w="12700">
            <a:solidFill>
              <a:srgbClr val="E39A2F"/>
            </a:solidFill>
            <a:prstDash val="solid"/>
          </a:ln>
        </p:spPr>
      </p:sp>
      <p:sp>
        <p:nvSpPr>
          <p:cNvPr id="50" name="Text 4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permanent</a:t>
            </a:r>
            <a:r>
              <a:rPr lang="en-US" sz="1150" dirty="0">
                <a:solidFill>
                  <a:srgbClr val="262B3A"/>
                </a:solidFill>
                <a:latin typeface="Calibri" pitchFamily="34" charset="0"/>
                <a:ea typeface="Calibri" pitchFamily="34" charset="-122"/>
                <a:cs typeface="Calibri" pitchFamily="34" charset="-120"/>
              </a:rPr>
              <a:t> marker ink does not move from the baseline in water. What should the student change? Why?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C5.1.4–C5.1.6 • chromatography</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11</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a:t>
            </a:r>
            <a:r>
              <a:rPr lang="en-US" sz="1250" b="1" dirty="0">
                <a:solidFill>
                  <a:srgbClr val="262B3A"/>
                </a:solidFill>
                <a:latin typeface="Calibri" pitchFamily="34" charset="0"/>
                <a:ea typeface="Calibri" pitchFamily="34" charset="-122"/>
                <a:cs typeface="Calibri" pitchFamily="34" charset="-120"/>
              </a:rPr>
              <a:t>stationary</a:t>
            </a:r>
            <a:r>
              <a:rPr lang="en-US" sz="1250" dirty="0">
                <a:solidFill>
                  <a:srgbClr val="262B3A"/>
                </a:solidFill>
                <a:latin typeface="Calibri" pitchFamily="34" charset="0"/>
                <a:ea typeface="Calibri" pitchFamily="34" charset="-122"/>
                <a:cs typeface="Calibri" pitchFamily="34" charset="-120"/>
              </a:rPr>
              <a:t> phase and the </a:t>
            </a:r>
            <a:r>
              <a:rPr lang="en-US" sz="1250" b="1" dirty="0">
                <a:solidFill>
                  <a:srgbClr val="262B3A"/>
                </a:solidFill>
                <a:latin typeface="Calibri" pitchFamily="34" charset="0"/>
                <a:ea typeface="Calibri" pitchFamily="34" charset="-122"/>
                <a:cs typeface="Calibri" pitchFamily="34" charset="-120"/>
              </a:rPr>
              <a:t>mobile</a:t>
            </a:r>
            <a:r>
              <a:rPr lang="en-US" sz="1250" dirty="0">
                <a:solidFill>
                  <a:srgbClr val="262B3A"/>
                </a:solidFill>
                <a:latin typeface="Calibri" pitchFamily="34" charset="0"/>
                <a:ea typeface="Calibri" pitchFamily="34" charset="-122"/>
                <a:cs typeface="Calibri" pitchFamily="34" charset="-120"/>
              </a:rPr>
              <a:t> phase in paper chromatography.</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dye moves </a:t>
            </a:r>
            <a:r>
              <a:rPr lang="en-US" sz="1250" b="1" dirty="0">
                <a:solidFill>
                  <a:srgbClr val="262B3A"/>
                </a:solidFill>
                <a:latin typeface="Calibri" pitchFamily="34" charset="0"/>
                <a:ea typeface="Calibri" pitchFamily="34" charset="-122"/>
                <a:cs typeface="Calibri" pitchFamily="34" charset="-120"/>
              </a:rPr>
              <a:t>4.2 cm</a:t>
            </a:r>
            <a:r>
              <a:rPr lang="en-US" sz="1250" dirty="0">
                <a:solidFill>
                  <a:srgbClr val="262B3A"/>
                </a:solidFill>
                <a:latin typeface="Calibri" pitchFamily="34" charset="0"/>
                <a:ea typeface="Calibri" pitchFamily="34" charset="-122"/>
                <a:cs typeface="Calibri" pitchFamily="34" charset="-120"/>
              </a:rPr>
              <a:t>. The solvent front moves </a:t>
            </a:r>
            <a:r>
              <a:rPr lang="en-US" sz="1250" b="1" dirty="0">
                <a:solidFill>
                  <a:srgbClr val="262B3A"/>
                </a:solidFill>
                <a:latin typeface="Calibri" pitchFamily="34" charset="0"/>
                <a:ea typeface="Calibri" pitchFamily="34" charset="-122"/>
                <a:cs typeface="Calibri" pitchFamily="34" charset="-120"/>
              </a:rPr>
              <a:t>6.0 cm</a:t>
            </a:r>
            <a:r>
              <a:rPr lang="en-US" sz="1250" dirty="0">
                <a:solidFill>
                  <a:srgbClr val="262B3A"/>
                </a:solidFill>
                <a:latin typeface="Calibri" pitchFamily="34" charset="0"/>
                <a:ea typeface="Calibri" pitchFamily="34" charset="-122"/>
                <a:cs typeface="Calibri" pitchFamily="34" charset="-120"/>
              </a:rPr>
              <a:t>. Calculate the Rf value of the dye.</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two dyes in an ink travel </a:t>
            </a:r>
            <a:r>
              <a:rPr lang="en-US" sz="1250" b="1" dirty="0">
                <a:solidFill>
                  <a:srgbClr val="262B3A"/>
                </a:solidFill>
                <a:latin typeface="Calibri" pitchFamily="34" charset="0"/>
                <a:ea typeface="Calibri" pitchFamily="34" charset="-122"/>
                <a:cs typeface="Calibri" pitchFamily="34" charset="-120"/>
              </a:rPr>
              <a:t>different distances</a:t>
            </a:r>
            <a:r>
              <a:rPr lang="en-US" sz="1250" dirty="0">
                <a:solidFill>
                  <a:srgbClr val="262B3A"/>
                </a:solidFill>
                <a:latin typeface="Calibri" pitchFamily="34" charset="0"/>
                <a:ea typeface="Calibri" pitchFamily="34" charset="-122"/>
                <a:cs typeface="Calibri" pitchFamily="34" charset="-120"/>
              </a:rPr>
              <a:t> up the paper.</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how chromatography can show that a substance is </a:t>
            </a:r>
            <a:r>
              <a:rPr lang="en-US" sz="1250" b="1" dirty="0">
                <a:solidFill>
                  <a:srgbClr val="262B3A"/>
                </a:solidFill>
                <a:latin typeface="Calibri" pitchFamily="34" charset="0"/>
                <a:ea typeface="Calibri" pitchFamily="34" charset="-122"/>
                <a:cs typeface="Calibri" pitchFamily="34" charset="-120"/>
              </a:rPr>
              <a:t>pure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Practical: chromatography of dyes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C5.1.4, C5.1.6 • PAG C3 separation techniques</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C3</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C3  |  12</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apparatus for paper chromatography; dimensions not to scale</a:t>
            </a:r>
            <a:endParaRPr lang="en-US" sz="1000" dirty="0"/>
          </a:p>
        </p:txBody>
      </p:sp>
      <p:sp>
        <p:nvSpPr>
          <p:cNvPr id="12" name="Shape 10"/>
          <p:cNvSpPr/>
          <p:nvPr/>
        </p:nvSpPr>
        <p:spPr>
          <a:xfrm>
            <a:off x="1280160" y="1783080"/>
            <a:ext cx="1828800" cy="3063240"/>
          </a:xfrm>
          <a:prstGeom prst="rect">
            <a:avLst/>
          </a:prstGeom>
          <a:solidFill>
            <a:srgbClr val="EEF5FB"/>
          </a:solidFill>
          <a:ln/>
        </p:spPr>
      </p:sp>
      <p:sp>
        <p:nvSpPr>
          <p:cNvPr id="13" name="Shape 11"/>
          <p:cNvSpPr/>
          <p:nvPr/>
        </p:nvSpPr>
        <p:spPr>
          <a:xfrm>
            <a:off x="1280160" y="4570628"/>
            <a:ext cx="1828800" cy="275692"/>
          </a:xfrm>
          <a:prstGeom prst="rect">
            <a:avLst/>
          </a:prstGeom>
          <a:solidFill>
            <a:srgbClr val="CFE4F7"/>
          </a:solidFill>
          <a:ln/>
        </p:spPr>
      </p:sp>
      <p:sp>
        <p:nvSpPr>
          <p:cNvPr id="14" name="Shape 12"/>
          <p:cNvSpPr/>
          <p:nvPr/>
        </p:nvSpPr>
        <p:spPr>
          <a:xfrm>
            <a:off x="1280160" y="4570628"/>
            <a:ext cx="1828800" cy="91"/>
          </a:xfrm>
          <a:prstGeom prst="line">
            <a:avLst/>
          </a:prstGeom>
          <a:noFill/>
          <a:ln w="12700">
            <a:solidFill>
              <a:srgbClr val="5B9BD5"/>
            </a:solidFill>
            <a:prstDash val="solid"/>
          </a:ln>
        </p:spPr>
      </p:sp>
      <p:sp>
        <p:nvSpPr>
          <p:cNvPr id="15" name="Shape 13"/>
          <p:cNvSpPr/>
          <p:nvPr/>
        </p:nvSpPr>
        <p:spPr>
          <a:xfrm>
            <a:off x="1280160" y="1783080"/>
            <a:ext cx="91" cy="3063240"/>
          </a:xfrm>
          <a:prstGeom prst="line">
            <a:avLst/>
          </a:prstGeom>
          <a:noFill/>
          <a:ln w="19050">
            <a:solidFill>
              <a:srgbClr val="2A1F3D"/>
            </a:solidFill>
            <a:prstDash val="solid"/>
          </a:ln>
        </p:spPr>
      </p:sp>
      <p:sp>
        <p:nvSpPr>
          <p:cNvPr id="16" name="Shape 14"/>
          <p:cNvSpPr/>
          <p:nvPr/>
        </p:nvSpPr>
        <p:spPr>
          <a:xfrm>
            <a:off x="3108960" y="1783080"/>
            <a:ext cx="91" cy="3063240"/>
          </a:xfrm>
          <a:prstGeom prst="line">
            <a:avLst/>
          </a:prstGeom>
          <a:noFill/>
          <a:ln w="19050">
            <a:solidFill>
              <a:srgbClr val="2A1F3D"/>
            </a:solidFill>
            <a:prstDash val="solid"/>
          </a:ln>
        </p:spPr>
      </p:sp>
      <p:sp>
        <p:nvSpPr>
          <p:cNvPr id="17" name="Shape 15"/>
          <p:cNvSpPr/>
          <p:nvPr/>
        </p:nvSpPr>
        <p:spPr>
          <a:xfrm>
            <a:off x="1280160" y="4846320"/>
            <a:ext cx="1828800" cy="91"/>
          </a:xfrm>
          <a:prstGeom prst="line">
            <a:avLst/>
          </a:prstGeom>
          <a:noFill/>
          <a:ln w="19050">
            <a:solidFill>
              <a:srgbClr val="2A1F3D"/>
            </a:solidFill>
            <a:prstDash val="solid"/>
          </a:ln>
        </p:spPr>
      </p:sp>
      <p:sp>
        <p:nvSpPr>
          <p:cNvPr id="18" name="Shape 16"/>
          <p:cNvSpPr/>
          <p:nvPr/>
        </p:nvSpPr>
        <p:spPr>
          <a:xfrm>
            <a:off x="1225296" y="1783080"/>
            <a:ext cx="54864" cy="91"/>
          </a:xfrm>
          <a:prstGeom prst="line">
            <a:avLst/>
          </a:prstGeom>
          <a:noFill/>
          <a:ln w="19050">
            <a:solidFill>
              <a:srgbClr val="2A1F3D"/>
            </a:solidFill>
            <a:prstDash val="solid"/>
          </a:ln>
        </p:spPr>
      </p:sp>
      <p:sp>
        <p:nvSpPr>
          <p:cNvPr id="19" name="Shape 17"/>
          <p:cNvSpPr/>
          <p:nvPr/>
        </p:nvSpPr>
        <p:spPr>
          <a:xfrm>
            <a:off x="3108960" y="1783080"/>
            <a:ext cx="54864" cy="91"/>
          </a:xfrm>
          <a:prstGeom prst="line">
            <a:avLst/>
          </a:prstGeom>
          <a:noFill/>
          <a:ln w="19050">
            <a:solidFill>
              <a:srgbClr val="2A1F3D"/>
            </a:solidFill>
            <a:prstDash val="solid"/>
          </a:ln>
        </p:spPr>
      </p:sp>
      <p:sp>
        <p:nvSpPr>
          <p:cNvPr id="20" name="Shape 18"/>
          <p:cNvSpPr/>
          <p:nvPr/>
        </p:nvSpPr>
        <p:spPr>
          <a:xfrm>
            <a:off x="1188720" y="1664208"/>
            <a:ext cx="2011680" cy="91440"/>
          </a:xfrm>
          <a:prstGeom prst="rect">
            <a:avLst/>
          </a:prstGeom>
          <a:solidFill>
            <a:srgbClr val="DDE7F0"/>
          </a:solidFill>
          <a:ln w="12700">
            <a:solidFill>
              <a:srgbClr val="2A1F3D"/>
            </a:solidFill>
            <a:prstDash val="solid"/>
          </a:ln>
        </p:spPr>
      </p:sp>
      <p:sp>
        <p:nvSpPr>
          <p:cNvPr id="21" name="Shape 19"/>
          <p:cNvSpPr/>
          <p:nvPr/>
        </p:nvSpPr>
        <p:spPr>
          <a:xfrm>
            <a:off x="1325880" y="1901952"/>
            <a:ext cx="1737360" cy="91"/>
          </a:xfrm>
          <a:prstGeom prst="line">
            <a:avLst/>
          </a:prstGeom>
          <a:noFill/>
          <a:ln w="38100">
            <a:solidFill>
              <a:srgbClr val="9AA3B0"/>
            </a:solidFill>
            <a:prstDash val="solid"/>
          </a:ln>
        </p:spPr>
      </p:sp>
      <p:sp>
        <p:nvSpPr>
          <p:cNvPr id="22" name="Shape 20"/>
          <p:cNvSpPr/>
          <p:nvPr/>
        </p:nvSpPr>
        <p:spPr>
          <a:xfrm>
            <a:off x="1600200" y="1920240"/>
            <a:ext cx="1188720" cy="2852928"/>
          </a:xfrm>
          <a:prstGeom prst="rect">
            <a:avLst/>
          </a:prstGeom>
          <a:solidFill>
            <a:srgbClr val="FFFFFF"/>
          </a:solidFill>
          <a:ln w="12700">
            <a:solidFill>
              <a:srgbClr val="9AA3B0"/>
            </a:solidFill>
            <a:prstDash val="solid"/>
          </a:ln>
        </p:spPr>
      </p:sp>
      <p:sp>
        <p:nvSpPr>
          <p:cNvPr id="23" name="Shape 21"/>
          <p:cNvSpPr/>
          <p:nvPr/>
        </p:nvSpPr>
        <p:spPr>
          <a:xfrm>
            <a:off x="2103120" y="1828800"/>
            <a:ext cx="182880" cy="182880"/>
          </a:xfrm>
          <a:prstGeom prst="rect">
            <a:avLst/>
          </a:prstGeom>
          <a:solidFill>
            <a:srgbClr val="7D8794"/>
          </a:solidFill>
          <a:ln w="6350">
            <a:solidFill>
              <a:srgbClr val="4A5262"/>
            </a:solidFill>
            <a:prstDash val="solid"/>
          </a:ln>
        </p:spPr>
      </p:sp>
      <p:sp>
        <p:nvSpPr>
          <p:cNvPr id="24" name="Shape 22"/>
          <p:cNvSpPr/>
          <p:nvPr/>
        </p:nvSpPr>
        <p:spPr>
          <a:xfrm>
            <a:off x="1600200" y="4562856"/>
            <a:ext cx="1188720" cy="210312"/>
          </a:xfrm>
          <a:prstGeom prst="rect">
            <a:avLst/>
          </a:prstGeom>
          <a:solidFill>
            <a:srgbClr val="CFE4F7"/>
          </a:solidFill>
          <a:ln/>
        </p:spPr>
      </p:sp>
      <p:sp>
        <p:nvSpPr>
          <p:cNvPr id="25" name="Shape 23"/>
          <p:cNvSpPr/>
          <p:nvPr/>
        </p:nvSpPr>
        <p:spPr>
          <a:xfrm>
            <a:off x="1645920" y="4343400"/>
            <a:ext cx="1097280" cy="91"/>
          </a:xfrm>
          <a:prstGeom prst="line">
            <a:avLst/>
          </a:prstGeom>
          <a:noFill/>
          <a:ln w="12700">
            <a:solidFill>
              <a:srgbClr val="555555"/>
            </a:solidFill>
            <a:prstDash val="solid"/>
          </a:ln>
        </p:spPr>
      </p:sp>
      <p:sp>
        <p:nvSpPr>
          <p:cNvPr id="26" name="Shape 24"/>
          <p:cNvSpPr/>
          <p:nvPr/>
        </p:nvSpPr>
        <p:spPr>
          <a:xfrm>
            <a:off x="1723644" y="4297680"/>
            <a:ext cx="118872" cy="91440"/>
          </a:xfrm>
          <a:prstGeom prst="ellipse">
            <a:avLst/>
          </a:prstGeom>
          <a:solidFill>
            <a:srgbClr val="3A6FD0"/>
          </a:solidFill>
          <a:ln/>
        </p:spPr>
      </p:sp>
      <p:sp>
        <p:nvSpPr>
          <p:cNvPr id="27" name="Text 25"/>
          <p:cNvSpPr/>
          <p:nvPr/>
        </p:nvSpPr>
        <p:spPr>
          <a:xfrm>
            <a:off x="1645920" y="4050792"/>
            <a:ext cx="274320" cy="182880"/>
          </a:xfrm>
          <a:prstGeom prst="rect">
            <a:avLst/>
          </a:prstGeom>
          <a:noFill/>
          <a:ln/>
        </p:spPr>
        <p:txBody>
          <a:bodyPr wrap="square" lIns="0" tIns="0" rIns="0" bIns="0" rtlCol="0" anchor="ctr"/>
          <a:lstStyle/>
          <a:p>
            <a:pPr algn="ctr" indent="0" marL="0">
              <a:buNone/>
            </a:pPr>
            <a:r>
              <a:rPr lang="en-US" sz="1000" dirty="0">
                <a:solidFill>
                  <a:srgbClr val="555555"/>
                </a:solidFill>
                <a:latin typeface="Calibri" pitchFamily="34" charset="0"/>
                <a:ea typeface="Calibri" pitchFamily="34" charset="-122"/>
                <a:cs typeface="Calibri" pitchFamily="34" charset="-120"/>
              </a:rPr>
              <a:t>X</a:t>
            </a:r>
            <a:endParaRPr lang="en-US" sz="1000" dirty="0"/>
          </a:p>
        </p:txBody>
      </p:sp>
      <p:sp>
        <p:nvSpPr>
          <p:cNvPr id="28" name="Shape 26"/>
          <p:cNvSpPr/>
          <p:nvPr/>
        </p:nvSpPr>
        <p:spPr>
          <a:xfrm>
            <a:off x="1997964" y="4297680"/>
            <a:ext cx="118872" cy="91440"/>
          </a:xfrm>
          <a:prstGeom prst="ellipse">
            <a:avLst/>
          </a:prstGeom>
          <a:solidFill>
            <a:srgbClr val="F2C230"/>
          </a:solidFill>
          <a:ln/>
        </p:spPr>
      </p:sp>
      <p:sp>
        <p:nvSpPr>
          <p:cNvPr id="29" name="Text 27"/>
          <p:cNvSpPr/>
          <p:nvPr/>
        </p:nvSpPr>
        <p:spPr>
          <a:xfrm>
            <a:off x="1920240" y="4050792"/>
            <a:ext cx="274320" cy="182880"/>
          </a:xfrm>
          <a:prstGeom prst="rect">
            <a:avLst/>
          </a:prstGeom>
          <a:noFill/>
          <a:ln/>
        </p:spPr>
        <p:txBody>
          <a:bodyPr wrap="square" lIns="0" tIns="0" rIns="0" bIns="0" rtlCol="0" anchor="ctr"/>
          <a:lstStyle/>
          <a:p>
            <a:pPr algn="ctr" indent="0" marL="0">
              <a:buNone/>
            </a:pPr>
            <a:r>
              <a:rPr lang="en-US" sz="1000" dirty="0">
                <a:solidFill>
                  <a:srgbClr val="555555"/>
                </a:solidFill>
                <a:latin typeface="Calibri" pitchFamily="34" charset="0"/>
                <a:ea typeface="Calibri" pitchFamily="34" charset="-122"/>
                <a:cs typeface="Calibri" pitchFamily="34" charset="-120"/>
              </a:rPr>
              <a:t>A</a:t>
            </a:r>
            <a:endParaRPr lang="en-US" sz="1000" dirty="0"/>
          </a:p>
        </p:txBody>
      </p:sp>
      <p:sp>
        <p:nvSpPr>
          <p:cNvPr id="30" name="Shape 28"/>
          <p:cNvSpPr/>
          <p:nvPr/>
        </p:nvSpPr>
        <p:spPr>
          <a:xfrm>
            <a:off x="2272284" y="4297680"/>
            <a:ext cx="118872" cy="91440"/>
          </a:xfrm>
          <a:prstGeom prst="ellipse">
            <a:avLst/>
          </a:prstGeom>
          <a:solidFill>
            <a:srgbClr val="D94848"/>
          </a:solidFill>
          <a:ln/>
        </p:spPr>
      </p:sp>
      <p:sp>
        <p:nvSpPr>
          <p:cNvPr id="31" name="Text 29"/>
          <p:cNvSpPr/>
          <p:nvPr/>
        </p:nvSpPr>
        <p:spPr>
          <a:xfrm>
            <a:off x="2194560" y="4050792"/>
            <a:ext cx="274320" cy="182880"/>
          </a:xfrm>
          <a:prstGeom prst="rect">
            <a:avLst/>
          </a:prstGeom>
          <a:noFill/>
          <a:ln/>
        </p:spPr>
        <p:txBody>
          <a:bodyPr wrap="square" lIns="0" tIns="0" rIns="0" bIns="0" rtlCol="0" anchor="ctr"/>
          <a:lstStyle/>
          <a:p>
            <a:pPr algn="ctr" indent="0" marL="0">
              <a:buNone/>
            </a:pPr>
            <a:r>
              <a:rPr lang="en-US" sz="1000" dirty="0">
                <a:solidFill>
                  <a:srgbClr val="555555"/>
                </a:solidFill>
                <a:latin typeface="Calibri" pitchFamily="34" charset="0"/>
                <a:ea typeface="Calibri" pitchFamily="34" charset="-122"/>
                <a:cs typeface="Calibri" pitchFamily="34" charset="-120"/>
              </a:rPr>
              <a:t>B</a:t>
            </a:r>
            <a:endParaRPr lang="en-US" sz="1000" dirty="0"/>
          </a:p>
        </p:txBody>
      </p:sp>
      <p:sp>
        <p:nvSpPr>
          <p:cNvPr id="32" name="Shape 30"/>
          <p:cNvSpPr/>
          <p:nvPr/>
        </p:nvSpPr>
        <p:spPr>
          <a:xfrm>
            <a:off x="2546604" y="4297680"/>
            <a:ext cx="118872" cy="91440"/>
          </a:xfrm>
          <a:prstGeom prst="ellipse">
            <a:avLst/>
          </a:prstGeom>
          <a:solidFill>
            <a:srgbClr val="3E9E5A"/>
          </a:solidFill>
          <a:ln/>
        </p:spPr>
      </p:sp>
      <p:sp>
        <p:nvSpPr>
          <p:cNvPr id="33" name="Text 31"/>
          <p:cNvSpPr/>
          <p:nvPr/>
        </p:nvSpPr>
        <p:spPr>
          <a:xfrm>
            <a:off x="2468880" y="4050792"/>
            <a:ext cx="274320" cy="182880"/>
          </a:xfrm>
          <a:prstGeom prst="rect">
            <a:avLst/>
          </a:prstGeom>
          <a:noFill/>
          <a:ln/>
        </p:spPr>
        <p:txBody>
          <a:bodyPr wrap="square" lIns="0" tIns="0" rIns="0" bIns="0" rtlCol="0" anchor="ctr"/>
          <a:lstStyle/>
          <a:p>
            <a:pPr algn="ctr" indent="0" marL="0">
              <a:buNone/>
            </a:pPr>
            <a:r>
              <a:rPr lang="en-US" sz="1000" dirty="0">
                <a:solidFill>
                  <a:srgbClr val="555555"/>
                </a:solidFill>
                <a:latin typeface="Calibri" pitchFamily="34" charset="0"/>
                <a:ea typeface="Calibri" pitchFamily="34" charset="-122"/>
                <a:cs typeface="Calibri" pitchFamily="34" charset="-120"/>
              </a:rPr>
              <a:t>C</a:t>
            </a:r>
            <a:endParaRPr lang="en-US" sz="1000" dirty="0"/>
          </a:p>
        </p:txBody>
      </p:sp>
      <p:sp>
        <p:nvSpPr>
          <p:cNvPr id="34" name="Shape 32"/>
          <p:cNvSpPr/>
          <p:nvPr/>
        </p:nvSpPr>
        <p:spPr>
          <a:xfrm>
            <a:off x="1097280" y="4343400"/>
            <a:ext cx="91" cy="502920"/>
          </a:xfrm>
          <a:prstGeom prst="line">
            <a:avLst/>
          </a:prstGeom>
          <a:noFill/>
          <a:ln w="12700">
            <a:solidFill>
              <a:srgbClr val="C8414C"/>
            </a:solidFill>
            <a:prstDash val="solid"/>
            <a:headEnd type="triangle"/>
            <a:tailEnd type="triangle"/>
          </a:ln>
        </p:spPr>
      </p:sp>
      <p:sp>
        <p:nvSpPr>
          <p:cNvPr id="35" name="Text 33"/>
          <p:cNvSpPr/>
          <p:nvPr/>
        </p:nvSpPr>
        <p:spPr>
          <a:xfrm>
            <a:off x="457200" y="4329684"/>
            <a:ext cx="621792" cy="384048"/>
          </a:xfrm>
          <a:prstGeom prst="rect">
            <a:avLst/>
          </a:prstGeom>
          <a:noFill/>
          <a:ln/>
        </p:spPr>
        <p:txBody>
          <a:bodyPr wrap="square" lIns="0" tIns="0" rIns="0" bIns="0" rtlCol="0" anchor="ctr"/>
          <a:lstStyle/>
          <a:p>
            <a:pPr algn="r" indent="0" marL="0">
              <a:buNone/>
            </a:pPr>
            <a:r>
              <a:rPr lang="en-US" sz="1000" b="1" dirty="0">
                <a:solidFill>
                  <a:srgbClr val="C8414C"/>
                </a:solidFill>
                <a:latin typeface="Calibri" pitchFamily="34" charset="0"/>
                <a:ea typeface="Calibri" pitchFamily="34" charset="-122"/>
                <a:cs typeface="Calibri" pitchFamily="34" charset="-120"/>
              </a:rPr>
              <a:t>1.5 cm</a:t>
            </a:r>
            <a:endParaRPr lang="en-US" sz="1000" dirty="0"/>
          </a:p>
          <a:p>
            <a:pPr algn="r" indent="0" marL="0">
              <a:buNone/>
            </a:pPr>
            <a:r>
              <a:rPr lang="en-US" sz="1000" dirty="0">
                <a:solidFill>
                  <a:srgbClr val="C8414C"/>
                </a:solidFill>
                <a:latin typeface="Calibri" pitchFamily="34" charset="0"/>
                <a:ea typeface="Calibri" pitchFamily="34" charset="-122"/>
                <a:cs typeface="Calibri" pitchFamily="34" charset="-120"/>
              </a:rPr>
              <a:t>baseline</a:t>
            </a:r>
            <a:endParaRPr lang="en-US" sz="1000" dirty="0"/>
          </a:p>
        </p:txBody>
      </p:sp>
      <p:sp>
        <p:nvSpPr>
          <p:cNvPr id="36" name="Text 34"/>
          <p:cNvSpPr/>
          <p:nvPr/>
        </p:nvSpPr>
        <p:spPr>
          <a:xfrm>
            <a:off x="3429000" y="1554480"/>
            <a:ext cx="2286000" cy="27432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lid (stops the solvent evaporating)</a:t>
            </a:r>
            <a:endParaRPr lang="en-US" sz="1000" dirty="0"/>
          </a:p>
        </p:txBody>
      </p:sp>
      <p:sp>
        <p:nvSpPr>
          <p:cNvPr id="37" name="Shape 35"/>
          <p:cNvSpPr/>
          <p:nvPr/>
        </p:nvSpPr>
        <p:spPr>
          <a:xfrm flipH="1">
            <a:off x="3200400" y="1691640"/>
            <a:ext cx="201168" cy="18288"/>
          </a:xfrm>
          <a:prstGeom prst="line">
            <a:avLst/>
          </a:prstGeom>
          <a:noFill/>
          <a:ln w="9525">
            <a:solidFill>
              <a:srgbClr val="8A8F99"/>
            </a:solidFill>
            <a:prstDash val="solid"/>
          </a:ln>
        </p:spPr>
      </p:sp>
      <p:sp>
        <p:nvSpPr>
          <p:cNvPr id="38" name="Text 36"/>
          <p:cNvSpPr/>
          <p:nvPr/>
        </p:nvSpPr>
        <p:spPr>
          <a:xfrm>
            <a:off x="3429000" y="2057400"/>
            <a:ext cx="2286000" cy="27432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paper clipped to a glass rod</a:t>
            </a:r>
            <a:endParaRPr lang="en-US" sz="1000" dirty="0"/>
          </a:p>
        </p:txBody>
      </p:sp>
      <p:sp>
        <p:nvSpPr>
          <p:cNvPr id="39" name="Shape 37"/>
          <p:cNvSpPr/>
          <p:nvPr/>
        </p:nvSpPr>
        <p:spPr>
          <a:xfrm flipH="1" flipV="1">
            <a:off x="2788920" y="2057400"/>
            <a:ext cx="612648" cy="137160"/>
          </a:xfrm>
          <a:prstGeom prst="line">
            <a:avLst/>
          </a:prstGeom>
          <a:noFill/>
          <a:ln w="9525">
            <a:solidFill>
              <a:srgbClr val="8A8F99"/>
            </a:solidFill>
            <a:prstDash val="solid"/>
          </a:ln>
        </p:spPr>
      </p:sp>
      <p:sp>
        <p:nvSpPr>
          <p:cNvPr id="40" name="Text 38"/>
          <p:cNvSpPr/>
          <p:nvPr/>
        </p:nvSpPr>
        <p:spPr>
          <a:xfrm>
            <a:off x="3429000" y="2834640"/>
            <a:ext cx="2286000" cy="27432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chromatography paper</a:t>
            </a:r>
            <a:endParaRPr lang="en-US" sz="1000" dirty="0"/>
          </a:p>
        </p:txBody>
      </p:sp>
      <p:sp>
        <p:nvSpPr>
          <p:cNvPr id="41" name="Shape 39"/>
          <p:cNvSpPr/>
          <p:nvPr/>
        </p:nvSpPr>
        <p:spPr>
          <a:xfrm flipH="1" flipV="1">
            <a:off x="2788920" y="2926080"/>
            <a:ext cx="612648" cy="45720"/>
          </a:xfrm>
          <a:prstGeom prst="line">
            <a:avLst/>
          </a:prstGeom>
          <a:noFill/>
          <a:ln w="9525">
            <a:solidFill>
              <a:srgbClr val="8A8F99"/>
            </a:solidFill>
            <a:prstDash val="solid"/>
          </a:ln>
        </p:spPr>
      </p:sp>
      <p:sp>
        <p:nvSpPr>
          <p:cNvPr id="42" name="Text 40"/>
          <p:cNvSpPr/>
          <p:nvPr/>
        </p:nvSpPr>
        <p:spPr>
          <a:xfrm>
            <a:off x="3429000" y="3977640"/>
            <a:ext cx="2286000" cy="27432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pencil baseline with small spots</a:t>
            </a:r>
            <a:endParaRPr lang="en-US" sz="1000" dirty="0"/>
          </a:p>
        </p:txBody>
      </p:sp>
      <p:sp>
        <p:nvSpPr>
          <p:cNvPr id="43" name="Shape 41"/>
          <p:cNvSpPr/>
          <p:nvPr/>
        </p:nvSpPr>
        <p:spPr>
          <a:xfrm flipH="1">
            <a:off x="2788920" y="4114800"/>
            <a:ext cx="612648" cy="201168"/>
          </a:xfrm>
          <a:prstGeom prst="line">
            <a:avLst/>
          </a:prstGeom>
          <a:noFill/>
          <a:ln w="9525">
            <a:solidFill>
              <a:srgbClr val="8A8F99"/>
            </a:solidFill>
            <a:prstDash val="solid"/>
          </a:ln>
        </p:spPr>
      </p:sp>
      <p:sp>
        <p:nvSpPr>
          <p:cNvPr id="44" name="Text 42"/>
          <p:cNvSpPr/>
          <p:nvPr/>
        </p:nvSpPr>
        <p:spPr>
          <a:xfrm>
            <a:off x="3429000" y="4526280"/>
            <a:ext cx="2286000" cy="384048"/>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solvent about </a:t>
            </a:r>
            <a:r>
              <a:rPr lang="en-US" sz="1000" b="1" dirty="0">
                <a:solidFill>
                  <a:srgbClr val="262B3A"/>
                </a:solidFill>
                <a:latin typeface="Calibri" pitchFamily="34" charset="0"/>
                <a:ea typeface="Calibri" pitchFamily="34" charset="-122"/>
                <a:cs typeface="Calibri" pitchFamily="34" charset="-120"/>
              </a:rPr>
              <a:t>1 cm</a:t>
            </a:r>
            <a:r>
              <a:rPr lang="en-US" sz="1000" dirty="0">
                <a:solidFill>
                  <a:srgbClr val="262B3A"/>
                </a:solidFill>
                <a:latin typeface="Calibri" pitchFamily="34" charset="0"/>
                <a:ea typeface="Calibri" pitchFamily="34" charset="-122"/>
                <a:cs typeface="Calibri" pitchFamily="34" charset="-120"/>
              </a:rPr>
              <a:t> deep, </a:t>
            </a:r>
            <a:r>
              <a:rPr lang="en-US" sz="1000" b="1" dirty="0">
                <a:solidFill>
                  <a:srgbClr val="262B3A"/>
                </a:solidFill>
                <a:latin typeface="Calibri" pitchFamily="34" charset="0"/>
                <a:ea typeface="Calibri" pitchFamily="34" charset="-122"/>
                <a:cs typeface="Calibri" pitchFamily="34" charset="-120"/>
              </a:rPr>
              <a:t>below</a:t>
            </a:r>
            <a:r>
              <a:rPr lang="en-US" sz="1000" dirty="0">
                <a:solidFill>
                  <a:srgbClr val="262B3A"/>
                </a:solidFill>
                <a:latin typeface="Calibri" pitchFamily="34" charset="0"/>
                <a:ea typeface="Calibri" pitchFamily="34" charset="-122"/>
                <a:cs typeface="Calibri" pitchFamily="34" charset="-120"/>
              </a:rPr>
              <a:t> the baseline</a:t>
            </a:r>
            <a:endParaRPr lang="en-US" sz="1000" dirty="0"/>
          </a:p>
        </p:txBody>
      </p:sp>
      <p:sp>
        <p:nvSpPr>
          <p:cNvPr id="45" name="Shape 43"/>
          <p:cNvSpPr/>
          <p:nvPr/>
        </p:nvSpPr>
        <p:spPr>
          <a:xfrm flipH="1" flipV="1">
            <a:off x="3108960" y="4663440"/>
            <a:ext cx="292608" cy="54864"/>
          </a:xfrm>
          <a:prstGeom prst="line">
            <a:avLst/>
          </a:prstGeom>
          <a:noFill/>
          <a:ln w="9525">
            <a:solidFill>
              <a:srgbClr val="8A8F99"/>
            </a:solidFill>
            <a:prstDash val="solid"/>
          </a:ln>
        </p:spPr>
      </p:sp>
      <p:sp>
        <p:nvSpPr>
          <p:cNvPr id="46" name="Shape 44"/>
          <p:cNvSpPr/>
          <p:nvPr/>
        </p:nvSpPr>
        <p:spPr>
          <a:xfrm>
            <a:off x="777240" y="2011680"/>
            <a:ext cx="246888" cy="1097280"/>
          </a:xfrm>
          <a:prstGeom prst="line">
            <a:avLst/>
          </a:prstGeom>
          <a:noFill/>
          <a:ln w="38100">
            <a:solidFill>
              <a:srgbClr val="7D8794"/>
            </a:solidFill>
            <a:prstDash val="solid"/>
          </a:ln>
        </p:spPr>
      </p:sp>
      <p:sp>
        <p:nvSpPr>
          <p:cNvPr id="47" name="Shape 45"/>
          <p:cNvSpPr/>
          <p:nvPr/>
        </p:nvSpPr>
        <p:spPr>
          <a:xfrm>
            <a:off x="987552" y="3122676"/>
            <a:ext cx="91440" cy="64008"/>
          </a:xfrm>
          <a:prstGeom prst="ellipse">
            <a:avLst/>
          </a:prstGeom>
          <a:solidFill>
            <a:srgbClr val="3A6FD0"/>
          </a:solidFill>
          <a:ln/>
        </p:spPr>
      </p:sp>
      <p:sp>
        <p:nvSpPr>
          <p:cNvPr id="48" name="Text 46"/>
          <p:cNvSpPr/>
          <p:nvPr/>
        </p:nvSpPr>
        <p:spPr>
          <a:xfrm>
            <a:off x="457200" y="3291840"/>
            <a:ext cx="777240" cy="384048"/>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capillary tube</a:t>
            </a:r>
            <a:endParaRPr lang="en-US" sz="1000" dirty="0"/>
          </a:p>
        </p:txBody>
      </p:sp>
      <p:sp>
        <p:nvSpPr>
          <p:cNvPr id="49" name="Shape 47"/>
          <p:cNvSpPr/>
          <p:nvPr/>
        </p:nvSpPr>
        <p:spPr>
          <a:xfrm>
            <a:off x="6217920" y="1188720"/>
            <a:ext cx="5562295" cy="4526280"/>
          </a:xfrm>
          <a:prstGeom prst="roundRect">
            <a:avLst>
              <a:gd name="adj" fmla="val 1212"/>
            </a:avLst>
          </a:prstGeom>
          <a:solidFill>
            <a:srgbClr val="F8F5FC"/>
          </a:solidFill>
          <a:ln w="9525">
            <a:solidFill>
              <a:srgbClr val="DDD3EC"/>
            </a:solidFill>
            <a:prstDash val="solid"/>
          </a:ln>
        </p:spPr>
      </p:sp>
      <p:sp>
        <p:nvSpPr>
          <p:cNvPr id="50" name="Text 4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Method</a:t>
            </a:r>
            <a:endParaRPr lang="en-US" sz="1300" dirty="0"/>
          </a:p>
        </p:txBody>
      </p:sp>
      <p:sp>
        <p:nvSpPr>
          <p:cNvPr id="51" name="Text 49"/>
          <p:cNvSpPr/>
          <p:nvPr/>
        </p:nvSpPr>
        <p:spPr>
          <a:xfrm>
            <a:off x="6382512" y="1609344"/>
            <a:ext cx="5233111" cy="403250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Draw a </a:t>
            </a:r>
            <a:r>
              <a:rPr lang="en-US" sz="1050" b="1" dirty="0">
                <a:solidFill>
                  <a:srgbClr val="262B3A"/>
                </a:solidFill>
                <a:latin typeface="Calibri" pitchFamily="34" charset="0"/>
                <a:ea typeface="Calibri" pitchFamily="34" charset="-122"/>
                <a:cs typeface="Calibri" pitchFamily="34" charset="-120"/>
              </a:rPr>
              <a:t>pencil</a:t>
            </a:r>
            <a:r>
              <a:rPr lang="en-US" sz="1050" dirty="0">
                <a:solidFill>
                  <a:srgbClr val="262B3A"/>
                </a:solidFill>
                <a:latin typeface="Calibri" pitchFamily="34" charset="0"/>
                <a:ea typeface="Calibri" pitchFamily="34" charset="-122"/>
                <a:cs typeface="Calibri" pitchFamily="34" charset="-120"/>
              </a:rPr>
              <a:t> line 1.5 cm from the bottom of the paper. Put a </a:t>
            </a:r>
            <a:r>
              <a:rPr lang="en-US" sz="1050" b="1" dirty="0">
                <a:solidFill>
                  <a:srgbClr val="262B3A"/>
                </a:solidFill>
                <a:latin typeface="Calibri" pitchFamily="34" charset="0"/>
                <a:ea typeface="Calibri" pitchFamily="34" charset="-122"/>
                <a:cs typeface="Calibri" pitchFamily="34" charset="-120"/>
              </a:rPr>
              <a:t>small</a:t>
            </a:r>
            <a:r>
              <a:rPr lang="en-US" sz="1050" dirty="0">
                <a:solidFill>
                  <a:srgbClr val="262B3A"/>
                </a:solidFill>
                <a:latin typeface="Calibri" pitchFamily="34" charset="0"/>
                <a:ea typeface="Calibri" pitchFamily="34" charset="-122"/>
                <a:cs typeface="Calibri" pitchFamily="34" charset="-120"/>
              </a:rPr>
              <a:t> spot of each dye on it with a capillary tube; let it dry; repeat to concentrate.</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Add solvent (water) to about </a:t>
            </a:r>
            <a:r>
              <a:rPr lang="en-US" sz="1050" b="1" dirty="0">
                <a:solidFill>
                  <a:srgbClr val="262B3A"/>
                </a:solidFill>
                <a:latin typeface="Calibri" pitchFamily="34" charset="0"/>
                <a:ea typeface="Calibri" pitchFamily="34" charset="-122"/>
                <a:cs typeface="Calibri" pitchFamily="34" charset="-120"/>
              </a:rPr>
              <a:t>1 cm</a:t>
            </a:r>
            <a:r>
              <a:rPr lang="en-US" sz="1050" dirty="0">
                <a:solidFill>
                  <a:srgbClr val="262B3A"/>
                </a:solidFill>
                <a:latin typeface="Calibri" pitchFamily="34" charset="0"/>
                <a:ea typeface="Calibri" pitchFamily="34" charset="-122"/>
                <a:cs typeface="Calibri" pitchFamily="34" charset="-120"/>
              </a:rPr>
              <a:t> depth. Hang the paper so the bottom dips in but the </a:t>
            </a:r>
            <a:r>
              <a:rPr lang="en-US" sz="1050" b="1" dirty="0">
                <a:solidFill>
                  <a:srgbClr val="262B3A"/>
                </a:solidFill>
                <a:latin typeface="Calibri" pitchFamily="34" charset="0"/>
                <a:ea typeface="Calibri" pitchFamily="34" charset="-122"/>
                <a:cs typeface="Calibri" pitchFamily="34" charset="-120"/>
              </a:rPr>
              <a:t>baseline is above</a:t>
            </a:r>
            <a:r>
              <a:rPr lang="en-US" sz="1050" dirty="0">
                <a:solidFill>
                  <a:srgbClr val="262B3A"/>
                </a:solidFill>
                <a:latin typeface="Calibri" pitchFamily="34" charset="0"/>
                <a:ea typeface="Calibri" pitchFamily="34" charset="-122"/>
                <a:cs typeface="Calibri" pitchFamily="34" charset="-120"/>
              </a:rPr>
              <a:t> the solvent. Put the lid on.</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When the solvent is near the top, remove the paper and </a:t>
            </a:r>
            <a:r>
              <a:rPr lang="en-US" sz="1050" b="1" dirty="0">
                <a:solidFill>
                  <a:srgbClr val="262B3A"/>
                </a:solidFill>
                <a:latin typeface="Calibri" pitchFamily="34" charset="0"/>
                <a:ea typeface="Calibri" pitchFamily="34" charset="-122"/>
                <a:cs typeface="Calibri" pitchFamily="34" charset="-120"/>
              </a:rPr>
              <a:t>mark the solvent front</a:t>
            </a:r>
            <a:r>
              <a:rPr lang="en-US" sz="1050" dirty="0">
                <a:solidFill>
                  <a:srgbClr val="262B3A"/>
                </a:solidFill>
                <a:latin typeface="Calibri" pitchFamily="34" charset="0"/>
                <a:ea typeface="Calibri" pitchFamily="34" charset="-122"/>
                <a:cs typeface="Calibri" pitchFamily="34" charset="-120"/>
              </a:rPr>
              <a:t> in pencil at once. Dry it.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Measure the distances and calculate </a:t>
            </a:r>
            <a:r>
              <a:rPr lang="en-US" sz="1050" b="1" dirty="0">
                <a:solidFill>
                  <a:srgbClr val="262B3A"/>
                </a:solidFill>
                <a:latin typeface="Calibri" pitchFamily="34" charset="0"/>
                <a:ea typeface="Calibri" pitchFamily="34" charset="-122"/>
                <a:cs typeface="Calibri" pitchFamily="34" charset="-120"/>
              </a:rPr>
              <a:t>Rf</a:t>
            </a:r>
            <a:r>
              <a:rPr lang="en-US" sz="1050" dirty="0">
                <a:solidFill>
                  <a:srgbClr val="262B3A"/>
                </a:solidFill>
                <a:latin typeface="Calibri" pitchFamily="34" charset="0"/>
                <a:ea typeface="Calibri" pitchFamily="34" charset="-122"/>
                <a:cs typeface="Calibri" pitchFamily="34" charset="-120"/>
              </a:rPr>
              <a:t> values.</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IV</a:t>
            </a:r>
            <a:r>
              <a:rPr lang="en-US" sz="1050" dirty="0">
                <a:solidFill>
                  <a:srgbClr val="262B3A"/>
                </a:solidFill>
                <a:latin typeface="Calibri" pitchFamily="34" charset="0"/>
                <a:ea typeface="Calibri" pitchFamily="34" charset="-122"/>
                <a:cs typeface="Calibri" pitchFamily="34" charset="-120"/>
              </a:rPr>
              <a:t>: the dye. </a:t>
            </a:r>
            <a:r>
              <a:rPr lang="en-US" sz="1050" b="1" dirty="0">
                <a:solidFill>
                  <a:srgbClr val="262B3A"/>
                </a:solidFill>
                <a:latin typeface="Calibri" pitchFamily="34" charset="0"/>
                <a:ea typeface="Calibri" pitchFamily="34" charset="-122"/>
                <a:cs typeface="Calibri" pitchFamily="34" charset="-120"/>
              </a:rPr>
              <a:t>DV</a:t>
            </a:r>
            <a:r>
              <a:rPr lang="en-US" sz="1050" dirty="0">
                <a:solidFill>
                  <a:srgbClr val="262B3A"/>
                </a:solidFill>
                <a:latin typeface="Calibri" pitchFamily="34" charset="0"/>
                <a:ea typeface="Calibri" pitchFamily="34" charset="-122"/>
                <a:cs typeface="Calibri" pitchFamily="34" charset="-120"/>
              </a:rPr>
              <a:t>: distance moved / Rf. </a:t>
            </a:r>
            <a:r>
              <a:rPr lang="en-US" sz="1050" b="1" dirty="0">
                <a:solidFill>
                  <a:srgbClr val="262B3A"/>
                </a:solidFill>
                <a:latin typeface="Calibri" pitchFamily="34" charset="0"/>
                <a:ea typeface="Calibri" pitchFamily="34" charset="-122"/>
                <a:cs typeface="Calibri" pitchFamily="34" charset="-120"/>
              </a:rPr>
              <a:t>Control</a:t>
            </a:r>
            <a:r>
              <a:rPr lang="en-US" sz="1050" dirty="0">
                <a:solidFill>
                  <a:srgbClr val="262B3A"/>
                </a:solidFill>
                <a:latin typeface="Calibri" pitchFamily="34" charset="0"/>
                <a:ea typeface="Calibri" pitchFamily="34" charset="-122"/>
                <a:cs typeface="Calibri" pitchFamily="34" charset="-120"/>
              </a:rPr>
              <a:t>: solvent, paper, temperature, baseline height.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Safety</a:t>
            </a:r>
            <a:r>
              <a:rPr lang="en-US" sz="1050" dirty="0">
                <a:solidFill>
                  <a:srgbClr val="262B3A"/>
                </a:solidFill>
                <a:latin typeface="Calibri" pitchFamily="34" charset="0"/>
                <a:ea typeface="Calibri" pitchFamily="34" charset="-122"/>
                <a:cs typeface="Calibri" pitchFamily="34" charset="-120"/>
              </a:rPr>
              <a:t>: eye protection. Food dyes low hazard; if ethanol is used, HIGHLY FLAMMABLE: no naked flames.</a:t>
            </a:r>
            <a:endParaRPr lang="en-US" sz="1050" dirty="0"/>
          </a:p>
        </p:txBody>
      </p:sp>
      <p:sp>
        <p:nvSpPr>
          <p:cNvPr id="52" name="Shape 50"/>
          <p:cNvSpPr/>
          <p:nvPr/>
        </p:nvSpPr>
        <p:spPr>
          <a:xfrm>
            <a:off x="411480" y="5833872"/>
            <a:ext cx="11368735" cy="530352"/>
          </a:xfrm>
          <a:prstGeom prst="rect">
            <a:avLst/>
          </a:prstGeom>
          <a:solidFill>
            <a:srgbClr val="FFF4E0"/>
          </a:solidFill>
          <a:ln w="6350">
            <a:solidFill>
              <a:srgbClr val="F1D9A8"/>
            </a:solidFill>
            <a:prstDash val="solid"/>
          </a:ln>
        </p:spPr>
      </p:sp>
      <p:sp>
        <p:nvSpPr>
          <p:cNvPr id="53" name="Shape 51"/>
          <p:cNvSpPr/>
          <p:nvPr/>
        </p:nvSpPr>
        <p:spPr>
          <a:xfrm>
            <a:off x="411480" y="5833872"/>
            <a:ext cx="82296" cy="530352"/>
          </a:xfrm>
          <a:prstGeom prst="rect">
            <a:avLst/>
          </a:prstGeom>
          <a:solidFill>
            <a:srgbClr val="E39A2F"/>
          </a:solidFill>
          <a:ln w="12700">
            <a:solidFill>
              <a:srgbClr val="E39A2F"/>
            </a:solidFill>
            <a:prstDash val="solid"/>
          </a:ln>
        </p:spPr>
      </p:sp>
      <p:sp>
        <p:nvSpPr>
          <p:cNvPr id="54" name="Text 5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are the spots kept </a:t>
            </a:r>
            <a:r>
              <a:rPr lang="en-US" sz="1150" b="1" dirty="0">
                <a:solidFill>
                  <a:srgbClr val="262B3A"/>
                </a:solidFill>
                <a:latin typeface="Calibri" pitchFamily="34" charset="0"/>
                <a:ea typeface="Calibri" pitchFamily="34" charset="-122"/>
                <a:cs typeface="Calibri" pitchFamily="34" charset="-120"/>
              </a:rPr>
              <a:t>small</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concentrated</a:t>
            </a:r>
            <a:r>
              <a:rPr lang="en-US" sz="1150" dirty="0">
                <a:solidFill>
                  <a:srgbClr val="262B3A"/>
                </a:solidFill>
                <a:latin typeface="Calibri" pitchFamily="34" charset="0"/>
                <a:ea typeface="Calibri" pitchFamily="34" charset="-122"/>
                <a:cs typeface="Calibri" pitchFamily="34" charset="-120"/>
              </a:rPr>
              <a:t>? Why must the solvent front be marked </a:t>
            </a:r>
            <a:r>
              <a:rPr lang="en-US" sz="1150" b="1" dirty="0">
                <a:solidFill>
                  <a:srgbClr val="262B3A"/>
                </a:solidFill>
                <a:latin typeface="Calibri" pitchFamily="34" charset="0"/>
                <a:ea typeface="Calibri" pitchFamily="34" charset="-122"/>
                <a:cs typeface="Calibri" pitchFamily="34" charset="-120"/>
              </a:rPr>
              <a:t>immediately</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Practical: chromatography results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C5.1.5 • tables, a graph to scale, Rf values and errors</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C3</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C3  |  13</a:t>
            </a:r>
            <a:endParaRPr lang="en-US" sz="1000" dirty="0"/>
          </a:p>
        </p:txBody>
      </p:sp>
      <p:sp>
        <p:nvSpPr>
          <p:cNvPr id="10" name="Shape 8"/>
          <p:cNvSpPr/>
          <p:nvPr/>
        </p:nvSpPr>
        <p:spPr>
          <a:xfrm>
            <a:off x="411480" y="1188720"/>
            <a:ext cx="60350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7607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graph plotted to scale from four runs stopped at different times (illustrative data)</a:t>
            </a:r>
            <a:endParaRPr lang="en-US" sz="1000" dirty="0"/>
          </a:p>
        </p:txBody>
      </p:sp>
      <p:sp>
        <p:nvSpPr>
          <p:cNvPr id="12" name="Shape 10"/>
          <p:cNvSpPr/>
          <p:nvPr/>
        </p:nvSpPr>
        <p:spPr>
          <a:xfrm>
            <a:off x="1325880" y="1417320"/>
            <a:ext cx="4754880" cy="2606040"/>
          </a:xfrm>
          <a:prstGeom prst="rect">
            <a:avLst/>
          </a:prstGeom>
          <a:solidFill>
            <a:srgbClr val="FFFFFF"/>
          </a:solidFill>
          <a:ln/>
        </p:spPr>
      </p:sp>
      <p:sp>
        <p:nvSpPr>
          <p:cNvPr id="13" name="Shape 11"/>
          <p:cNvSpPr/>
          <p:nvPr/>
        </p:nvSpPr>
        <p:spPr>
          <a:xfrm>
            <a:off x="1325880" y="1417320"/>
            <a:ext cx="91" cy="2606040"/>
          </a:xfrm>
          <a:prstGeom prst="line">
            <a:avLst/>
          </a:prstGeom>
          <a:noFill/>
          <a:ln w="6350">
            <a:solidFill>
              <a:srgbClr val="D6CBE8"/>
            </a:solidFill>
            <a:prstDash val="solid"/>
          </a:ln>
        </p:spPr>
      </p:sp>
      <p:sp>
        <p:nvSpPr>
          <p:cNvPr id="14" name="Shape 12"/>
          <p:cNvSpPr/>
          <p:nvPr/>
        </p:nvSpPr>
        <p:spPr>
          <a:xfrm>
            <a:off x="1623060" y="1417320"/>
            <a:ext cx="91" cy="2606040"/>
          </a:xfrm>
          <a:prstGeom prst="line">
            <a:avLst/>
          </a:prstGeom>
          <a:noFill/>
          <a:ln w="6350">
            <a:solidFill>
              <a:srgbClr val="EEE9F6"/>
            </a:solidFill>
            <a:prstDash val="solid"/>
          </a:ln>
        </p:spPr>
      </p:sp>
      <p:sp>
        <p:nvSpPr>
          <p:cNvPr id="15" name="Shape 13"/>
          <p:cNvSpPr/>
          <p:nvPr/>
        </p:nvSpPr>
        <p:spPr>
          <a:xfrm>
            <a:off x="1920240" y="1417320"/>
            <a:ext cx="91" cy="2606040"/>
          </a:xfrm>
          <a:prstGeom prst="line">
            <a:avLst/>
          </a:prstGeom>
          <a:noFill/>
          <a:ln w="6350">
            <a:solidFill>
              <a:srgbClr val="D6CBE8"/>
            </a:solidFill>
            <a:prstDash val="solid"/>
          </a:ln>
        </p:spPr>
      </p:sp>
      <p:sp>
        <p:nvSpPr>
          <p:cNvPr id="16" name="Shape 14"/>
          <p:cNvSpPr/>
          <p:nvPr/>
        </p:nvSpPr>
        <p:spPr>
          <a:xfrm>
            <a:off x="2217420" y="1417320"/>
            <a:ext cx="91" cy="2606040"/>
          </a:xfrm>
          <a:prstGeom prst="line">
            <a:avLst/>
          </a:prstGeom>
          <a:noFill/>
          <a:ln w="6350">
            <a:solidFill>
              <a:srgbClr val="EEE9F6"/>
            </a:solidFill>
            <a:prstDash val="solid"/>
          </a:ln>
        </p:spPr>
      </p:sp>
      <p:sp>
        <p:nvSpPr>
          <p:cNvPr id="17" name="Shape 15"/>
          <p:cNvSpPr/>
          <p:nvPr/>
        </p:nvSpPr>
        <p:spPr>
          <a:xfrm>
            <a:off x="2514600" y="1417320"/>
            <a:ext cx="91" cy="2606040"/>
          </a:xfrm>
          <a:prstGeom prst="line">
            <a:avLst/>
          </a:prstGeom>
          <a:noFill/>
          <a:ln w="6350">
            <a:solidFill>
              <a:srgbClr val="D6CBE8"/>
            </a:solidFill>
            <a:prstDash val="solid"/>
          </a:ln>
        </p:spPr>
      </p:sp>
      <p:sp>
        <p:nvSpPr>
          <p:cNvPr id="18" name="Shape 16"/>
          <p:cNvSpPr/>
          <p:nvPr/>
        </p:nvSpPr>
        <p:spPr>
          <a:xfrm>
            <a:off x="2811780" y="1417320"/>
            <a:ext cx="91" cy="2606040"/>
          </a:xfrm>
          <a:prstGeom prst="line">
            <a:avLst/>
          </a:prstGeom>
          <a:noFill/>
          <a:ln w="6350">
            <a:solidFill>
              <a:srgbClr val="EEE9F6"/>
            </a:solidFill>
            <a:prstDash val="solid"/>
          </a:ln>
        </p:spPr>
      </p:sp>
      <p:sp>
        <p:nvSpPr>
          <p:cNvPr id="19" name="Shape 17"/>
          <p:cNvSpPr/>
          <p:nvPr/>
        </p:nvSpPr>
        <p:spPr>
          <a:xfrm>
            <a:off x="3108960" y="1417320"/>
            <a:ext cx="91" cy="2606040"/>
          </a:xfrm>
          <a:prstGeom prst="line">
            <a:avLst/>
          </a:prstGeom>
          <a:noFill/>
          <a:ln w="6350">
            <a:solidFill>
              <a:srgbClr val="D6CBE8"/>
            </a:solidFill>
            <a:prstDash val="solid"/>
          </a:ln>
        </p:spPr>
      </p:sp>
      <p:sp>
        <p:nvSpPr>
          <p:cNvPr id="20" name="Shape 18"/>
          <p:cNvSpPr/>
          <p:nvPr/>
        </p:nvSpPr>
        <p:spPr>
          <a:xfrm>
            <a:off x="3406140" y="1417320"/>
            <a:ext cx="91" cy="2606040"/>
          </a:xfrm>
          <a:prstGeom prst="line">
            <a:avLst/>
          </a:prstGeom>
          <a:noFill/>
          <a:ln w="6350">
            <a:solidFill>
              <a:srgbClr val="EEE9F6"/>
            </a:solidFill>
            <a:prstDash val="solid"/>
          </a:ln>
        </p:spPr>
      </p:sp>
      <p:sp>
        <p:nvSpPr>
          <p:cNvPr id="21" name="Shape 19"/>
          <p:cNvSpPr/>
          <p:nvPr/>
        </p:nvSpPr>
        <p:spPr>
          <a:xfrm>
            <a:off x="3703320" y="1417320"/>
            <a:ext cx="91" cy="2606040"/>
          </a:xfrm>
          <a:prstGeom prst="line">
            <a:avLst/>
          </a:prstGeom>
          <a:noFill/>
          <a:ln w="6350">
            <a:solidFill>
              <a:srgbClr val="D6CBE8"/>
            </a:solidFill>
            <a:prstDash val="solid"/>
          </a:ln>
        </p:spPr>
      </p:sp>
      <p:sp>
        <p:nvSpPr>
          <p:cNvPr id="22" name="Shape 20"/>
          <p:cNvSpPr/>
          <p:nvPr/>
        </p:nvSpPr>
        <p:spPr>
          <a:xfrm>
            <a:off x="4000500" y="1417320"/>
            <a:ext cx="91" cy="2606040"/>
          </a:xfrm>
          <a:prstGeom prst="line">
            <a:avLst/>
          </a:prstGeom>
          <a:noFill/>
          <a:ln w="6350">
            <a:solidFill>
              <a:srgbClr val="EEE9F6"/>
            </a:solidFill>
            <a:prstDash val="solid"/>
          </a:ln>
        </p:spPr>
      </p:sp>
      <p:sp>
        <p:nvSpPr>
          <p:cNvPr id="23" name="Shape 21"/>
          <p:cNvSpPr/>
          <p:nvPr/>
        </p:nvSpPr>
        <p:spPr>
          <a:xfrm>
            <a:off x="4297680" y="1417320"/>
            <a:ext cx="91" cy="2606040"/>
          </a:xfrm>
          <a:prstGeom prst="line">
            <a:avLst/>
          </a:prstGeom>
          <a:noFill/>
          <a:ln w="6350">
            <a:solidFill>
              <a:srgbClr val="D6CBE8"/>
            </a:solidFill>
            <a:prstDash val="solid"/>
          </a:ln>
        </p:spPr>
      </p:sp>
      <p:sp>
        <p:nvSpPr>
          <p:cNvPr id="24" name="Shape 22"/>
          <p:cNvSpPr/>
          <p:nvPr/>
        </p:nvSpPr>
        <p:spPr>
          <a:xfrm>
            <a:off x="4594860" y="1417320"/>
            <a:ext cx="91" cy="2606040"/>
          </a:xfrm>
          <a:prstGeom prst="line">
            <a:avLst/>
          </a:prstGeom>
          <a:noFill/>
          <a:ln w="6350">
            <a:solidFill>
              <a:srgbClr val="EEE9F6"/>
            </a:solidFill>
            <a:prstDash val="solid"/>
          </a:ln>
        </p:spPr>
      </p:sp>
      <p:sp>
        <p:nvSpPr>
          <p:cNvPr id="25" name="Shape 23"/>
          <p:cNvSpPr/>
          <p:nvPr/>
        </p:nvSpPr>
        <p:spPr>
          <a:xfrm>
            <a:off x="4892040" y="1417320"/>
            <a:ext cx="91" cy="2606040"/>
          </a:xfrm>
          <a:prstGeom prst="line">
            <a:avLst/>
          </a:prstGeom>
          <a:noFill/>
          <a:ln w="6350">
            <a:solidFill>
              <a:srgbClr val="D6CBE8"/>
            </a:solidFill>
            <a:prstDash val="solid"/>
          </a:ln>
        </p:spPr>
      </p:sp>
      <p:sp>
        <p:nvSpPr>
          <p:cNvPr id="26" name="Shape 24"/>
          <p:cNvSpPr/>
          <p:nvPr/>
        </p:nvSpPr>
        <p:spPr>
          <a:xfrm>
            <a:off x="5189220" y="1417320"/>
            <a:ext cx="91" cy="2606040"/>
          </a:xfrm>
          <a:prstGeom prst="line">
            <a:avLst/>
          </a:prstGeom>
          <a:noFill/>
          <a:ln w="6350">
            <a:solidFill>
              <a:srgbClr val="EEE9F6"/>
            </a:solidFill>
            <a:prstDash val="solid"/>
          </a:ln>
        </p:spPr>
      </p:sp>
      <p:sp>
        <p:nvSpPr>
          <p:cNvPr id="27" name="Shape 25"/>
          <p:cNvSpPr/>
          <p:nvPr/>
        </p:nvSpPr>
        <p:spPr>
          <a:xfrm>
            <a:off x="5486400" y="1417320"/>
            <a:ext cx="91" cy="2606040"/>
          </a:xfrm>
          <a:prstGeom prst="line">
            <a:avLst/>
          </a:prstGeom>
          <a:noFill/>
          <a:ln w="6350">
            <a:solidFill>
              <a:srgbClr val="D6CBE8"/>
            </a:solidFill>
            <a:prstDash val="solid"/>
          </a:ln>
        </p:spPr>
      </p:sp>
      <p:sp>
        <p:nvSpPr>
          <p:cNvPr id="28" name="Shape 26"/>
          <p:cNvSpPr/>
          <p:nvPr/>
        </p:nvSpPr>
        <p:spPr>
          <a:xfrm>
            <a:off x="5783580" y="1417320"/>
            <a:ext cx="91" cy="2606040"/>
          </a:xfrm>
          <a:prstGeom prst="line">
            <a:avLst/>
          </a:prstGeom>
          <a:noFill/>
          <a:ln w="6350">
            <a:solidFill>
              <a:srgbClr val="EEE9F6"/>
            </a:solidFill>
            <a:prstDash val="solid"/>
          </a:ln>
        </p:spPr>
      </p:sp>
      <p:sp>
        <p:nvSpPr>
          <p:cNvPr id="29" name="Shape 27"/>
          <p:cNvSpPr/>
          <p:nvPr/>
        </p:nvSpPr>
        <p:spPr>
          <a:xfrm>
            <a:off x="6080760" y="1417320"/>
            <a:ext cx="91" cy="2606040"/>
          </a:xfrm>
          <a:prstGeom prst="line">
            <a:avLst/>
          </a:prstGeom>
          <a:noFill/>
          <a:ln w="6350">
            <a:solidFill>
              <a:srgbClr val="D6CBE8"/>
            </a:solidFill>
            <a:prstDash val="solid"/>
          </a:ln>
        </p:spPr>
      </p:sp>
      <p:sp>
        <p:nvSpPr>
          <p:cNvPr id="30" name="Shape 28"/>
          <p:cNvSpPr/>
          <p:nvPr/>
        </p:nvSpPr>
        <p:spPr>
          <a:xfrm>
            <a:off x="1325880" y="4023360"/>
            <a:ext cx="4754880" cy="91"/>
          </a:xfrm>
          <a:prstGeom prst="line">
            <a:avLst/>
          </a:prstGeom>
          <a:noFill/>
          <a:ln w="6350">
            <a:solidFill>
              <a:srgbClr val="D6CBE8"/>
            </a:solidFill>
            <a:prstDash val="solid"/>
          </a:ln>
        </p:spPr>
      </p:sp>
      <p:sp>
        <p:nvSpPr>
          <p:cNvPr id="31" name="Shape 29"/>
          <p:cNvSpPr/>
          <p:nvPr/>
        </p:nvSpPr>
        <p:spPr>
          <a:xfrm>
            <a:off x="1325880" y="3762756"/>
            <a:ext cx="4754880" cy="91"/>
          </a:xfrm>
          <a:prstGeom prst="line">
            <a:avLst/>
          </a:prstGeom>
          <a:noFill/>
          <a:ln w="6350">
            <a:solidFill>
              <a:srgbClr val="EEE9F6"/>
            </a:solidFill>
            <a:prstDash val="solid"/>
          </a:ln>
        </p:spPr>
      </p:sp>
      <p:sp>
        <p:nvSpPr>
          <p:cNvPr id="32" name="Shape 30"/>
          <p:cNvSpPr/>
          <p:nvPr/>
        </p:nvSpPr>
        <p:spPr>
          <a:xfrm>
            <a:off x="1325880" y="3502152"/>
            <a:ext cx="4754880" cy="91"/>
          </a:xfrm>
          <a:prstGeom prst="line">
            <a:avLst/>
          </a:prstGeom>
          <a:noFill/>
          <a:ln w="6350">
            <a:solidFill>
              <a:srgbClr val="D6CBE8"/>
            </a:solidFill>
            <a:prstDash val="solid"/>
          </a:ln>
        </p:spPr>
      </p:sp>
      <p:sp>
        <p:nvSpPr>
          <p:cNvPr id="33" name="Shape 31"/>
          <p:cNvSpPr/>
          <p:nvPr/>
        </p:nvSpPr>
        <p:spPr>
          <a:xfrm>
            <a:off x="1325880" y="3241548"/>
            <a:ext cx="4754880" cy="91"/>
          </a:xfrm>
          <a:prstGeom prst="line">
            <a:avLst/>
          </a:prstGeom>
          <a:noFill/>
          <a:ln w="6350">
            <a:solidFill>
              <a:srgbClr val="EEE9F6"/>
            </a:solidFill>
            <a:prstDash val="solid"/>
          </a:ln>
        </p:spPr>
      </p:sp>
      <p:sp>
        <p:nvSpPr>
          <p:cNvPr id="34" name="Shape 32"/>
          <p:cNvSpPr/>
          <p:nvPr/>
        </p:nvSpPr>
        <p:spPr>
          <a:xfrm>
            <a:off x="1325880" y="2980944"/>
            <a:ext cx="4754880" cy="91"/>
          </a:xfrm>
          <a:prstGeom prst="line">
            <a:avLst/>
          </a:prstGeom>
          <a:noFill/>
          <a:ln w="6350">
            <a:solidFill>
              <a:srgbClr val="D6CBE8"/>
            </a:solidFill>
            <a:prstDash val="solid"/>
          </a:ln>
        </p:spPr>
      </p:sp>
      <p:sp>
        <p:nvSpPr>
          <p:cNvPr id="35" name="Shape 33"/>
          <p:cNvSpPr/>
          <p:nvPr/>
        </p:nvSpPr>
        <p:spPr>
          <a:xfrm>
            <a:off x="1325880" y="2720340"/>
            <a:ext cx="4754880" cy="91"/>
          </a:xfrm>
          <a:prstGeom prst="line">
            <a:avLst/>
          </a:prstGeom>
          <a:noFill/>
          <a:ln w="6350">
            <a:solidFill>
              <a:srgbClr val="EEE9F6"/>
            </a:solidFill>
            <a:prstDash val="solid"/>
          </a:ln>
        </p:spPr>
      </p:sp>
      <p:sp>
        <p:nvSpPr>
          <p:cNvPr id="36" name="Shape 34"/>
          <p:cNvSpPr/>
          <p:nvPr/>
        </p:nvSpPr>
        <p:spPr>
          <a:xfrm>
            <a:off x="1325880" y="2459736"/>
            <a:ext cx="4754880" cy="91"/>
          </a:xfrm>
          <a:prstGeom prst="line">
            <a:avLst/>
          </a:prstGeom>
          <a:noFill/>
          <a:ln w="6350">
            <a:solidFill>
              <a:srgbClr val="D6CBE8"/>
            </a:solidFill>
            <a:prstDash val="solid"/>
          </a:ln>
        </p:spPr>
      </p:sp>
      <p:sp>
        <p:nvSpPr>
          <p:cNvPr id="37" name="Shape 35"/>
          <p:cNvSpPr/>
          <p:nvPr/>
        </p:nvSpPr>
        <p:spPr>
          <a:xfrm>
            <a:off x="1325880" y="2199132"/>
            <a:ext cx="4754880" cy="91"/>
          </a:xfrm>
          <a:prstGeom prst="line">
            <a:avLst/>
          </a:prstGeom>
          <a:noFill/>
          <a:ln w="6350">
            <a:solidFill>
              <a:srgbClr val="EEE9F6"/>
            </a:solidFill>
            <a:prstDash val="solid"/>
          </a:ln>
        </p:spPr>
      </p:sp>
      <p:sp>
        <p:nvSpPr>
          <p:cNvPr id="38" name="Shape 36"/>
          <p:cNvSpPr/>
          <p:nvPr/>
        </p:nvSpPr>
        <p:spPr>
          <a:xfrm>
            <a:off x="1325880" y="1938528"/>
            <a:ext cx="4754880" cy="91"/>
          </a:xfrm>
          <a:prstGeom prst="line">
            <a:avLst/>
          </a:prstGeom>
          <a:noFill/>
          <a:ln w="6350">
            <a:solidFill>
              <a:srgbClr val="D6CBE8"/>
            </a:solidFill>
            <a:prstDash val="solid"/>
          </a:ln>
        </p:spPr>
      </p:sp>
      <p:sp>
        <p:nvSpPr>
          <p:cNvPr id="39" name="Shape 37"/>
          <p:cNvSpPr/>
          <p:nvPr/>
        </p:nvSpPr>
        <p:spPr>
          <a:xfrm>
            <a:off x="1325880" y="1677924"/>
            <a:ext cx="4754880" cy="91"/>
          </a:xfrm>
          <a:prstGeom prst="line">
            <a:avLst/>
          </a:prstGeom>
          <a:noFill/>
          <a:ln w="6350">
            <a:solidFill>
              <a:srgbClr val="EEE9F6"/>
            </a:solidFill>
            <a:prstDash val="solid"/>
          </a:ln>
        </p:spPr>
      </p:sp>
      <p:sp>
        <p:nvSpPr>
          <p:cNvPr id="40" name="Shape 38"/>
          <p:cNvSpPr/>
          <p:nvPr/>
        </p:nvSpPr>
        <p:spPr>
          <a:xfrm>
            <a:off x="1325880" y="1417320"/>
            <a:ext cx="4754880" cy="91"/>
          </a:xfrm>
          <a:prstGeom prst="line">
            <a:avLst/>
          </a:prstGeom>
          <a:noFill/>
          <a:ln w="6350">
            <a:solidFill>
              <a:srgbClr val="D6CBE8"/>
            </a:solidFill>
            <a:prstDash val="solid"/>
          </a:ln>
        </p:spPr>
      </p:sp>
      <p:sp>
        <p:nvSpPr>
          <p:cNvPr id="41" name="Shape 39"/>
          <p:cNvSpPr/>
          <p:nvPr/>
        </p:nvSpPr>
        <p:spPr>
          <a:xfrm>
            <a:off x="1325880" y="4023360"/>
            <a:ext cx="4754880" cy="91"/>
          </a:xfrm>
          <a:prstGeom prst="line">
            <a:avLst/>
          </a:prstGeom>
          <a:noFill/>
          <a:ln w="19050">
            <a:solidFill>
              <a:srgbClr val="2A1F3D"/>
            </a:solidFill>
            <a:prstDash val="solid"/>
          </a:ln>
        </p:spPr>
      </p:sp>
      <p:sp>
        <p:nvSpPr>
          <p:cNvPr id="42" name="Shape 40"/>
          <p:cNvSpPr/>
          <p:nvPr/>
        </p:nvSpPr>
        <p:spPr>
          <a:xfrm flipV="1">
            <a:off x="1325880" y="1417320"/>
            <a:ext cx="91" cy="2606040"/>
          </a:xfrm>
          <a:prstGeom prst="line">
            <a:avLst/>
          </a:prstGeom>
          <a:noFill/>
          <a:ln w="19050">
            <a:solidFill>
              <a:srgbClr val="2A1F3D"/>
            </a:solidFill>
            <a:prstDash val="solid"/>
          </a:ln>
        </p:spPr>
      </p:sp>
      <p:sp>
        <p:nvSpPr>
          <p:cNvPr id="43" name="Shape 41"/>
          <p:cNvSpPr/>
          <p:nvPr/>
        </p:nvSpPr>
        <p:spPr>
          <a:xfrm>
            <a:off x="1325880" y="4023360"/>
            <a:ext cx="91" cy="54864"/>
          </a:xfrm>
          <a:prstGeom prst="line">
            <a:avLst/>
          </a:prstGeom>
          <a:noFill/>
          <a:ln w="12700">
            <a:solidFill>
              <a:srgbClr val="2A1F3D"/>
            </a:solidFill>
            <a:prstDash val="solid"/>
          </a:ln>
        </p:spPr>
      </p:sp>
      <p:sp>
        <p:nvSpPr>
          <p:cNvPr id="44" name="Text 42"/>
          <p:cNvSpPr/>
          <p:nvPr/>
        </p:nvSpPr>
        <p:spPr>
          <a:xfrm>
            <a:off x="105156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5" name="Shape 43"/>
          <p:cNvSpPr/>
          <p:nvPr/>
        </p:nvSpPr>
        <p:spPr>
          <a:xfrm>
            <a:off x="1920240" y="4023360"/>
            <a:ext cx="91" cy="54864"/>
          </a:xfrm>
          <a:prstGeom prst="line">
            <a:avLst/>
          </a:prstGeom>
          <a:noFill/>
          <a:ln w="12700">
            <a:solidFill>
              <a:srgbClr val="2A1F3D"/>
            </a:solidFill>
            <a:prstDash val="solid"/>
          </a:ln>
        </p:spPr>
      </p:sp>
      <p:sp>
        <p:nvSpPr>
          <p:cNvPr id="46" name="Text 44"/>
          <p:cNvSpPr/>
          <p:nvPr/>
        </p:nvSpPr>
        <p:spPr>
          <a:xfrm>
            <a:off x="164592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a:t>
            </a:r>
            <a:endParaRPr lang="en-US" sz="1000" dirty="0"/>
          </a:p>
        </p:txBody>
      </p:sp>
      <p:sp>
        <p:nvSpPr>
          <p:cNvPr id="47" name="Shape 45"/>
          <p:cNvSpPr/>
          <p:nvPr/>
        </p:nvSpPr>
        <p:spPr>
          <a:xfrm>
            <a:off x="2514600" y="4023360"/>
            <a:ext cx="91" cy="54864"/>
          </a:xfrm>
          <a:prstGeom prst="line">
            <a:avLst/>
          </a:prstGeom>
          <a:noFill/>
          <a:ln w="12700">
            <a:solidFill>
              <a:srgbClr val="2A1F3D"/>
            </a:solidFill>
            <a:prstDash val="solid"/>
          </a:ln>
        </p:spPr>
      </p:sp>
      <p:sp>
        <p:nvSpPr>
          <p:cNvPr id="48" name="Text 46"/>
          <p:cNvSpPr/>
          <p:nvPr/>
        </p:nvSpPr>
        <p:spPr>
          <a:xfrm>
            <a:off x="224028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49" name="Shape 47"/>
          <p:cNvSpPr/>
          <p:nvPr/>
        </p:nvSpPr>
        <p:spPr>
          <a:xfrm>
            <a:off x="3108960" y="4023360"/>
            <a:ext cx="91" cy="54864"/>
          </a:xfrm>
          <a:prstGeom prst="line">
            <a:avLst/>
          </a:prstGeom>
          <a:noFill/>
          <a:ln w="12700">
            <a:solidFill>
              <a:srgbClr val="2A1F3D"/>
            </a:solidFill>
            <a:prstDash val="solid"/>
          </a:ln>
        </p:spPr>
      </p:sp>
      <p:sp>
        <p:nvSpPr>
          <p:cNvPr id="50" name="Text 48"/>
          <p:cNvSpPr/>
          <p:nvPr/>
        </p:nvSpPr>
        <p:spPr>
          <a:xfrm>
            <a:off x="283464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p>
        </p:txBody>
      </p:sp>
      <p:sp>
        <p:nvSpPr>
          <p:cNvPr id="51" name="Shape 49"/>
          <p:cNvSpPr/>
          <p:nvPr/>
        </p:nvSpPr>
        <p:spPr>
          <a:xfrm>
            <a:off x="3703320" y="4023360"/>
            <a:ext cx="91" cy="54864"/>
          </a:xfrm>
          <a:prstGeom prst="line">
            <a:avLst/>
          </a:prstGeom>
          <a:noFill/>
          <a:ln w="12700">
            <a:solidFill>
              <a:srgbClr val="2A1F3D"/>
            </a:solidFill>
            <a:prstDash val="solid"/>
          </a:ln>
        </p:spPr>
      </p:sp>
      <p:sp>
        <p:nvSpPr>
          <p:cNvPr id="52" name="Text 50"/>
          <p:cNvSpPr/>
          <p:nvPr/>
        </p:nvSpPr>
        <p:spPr>
          <a:xfrm>
            <a:off x="342900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53" name="Shape 51"/>
          <p:cNvSpPr/>
          <p:nvPr/>
        </p:nvSpPr>
        <p:spPr>
          <a:xfrm>
            <a:off x="4297680" y="4023360"/>
            <a:ext cx="91" cy="54864"/>
          </a:xfrm>
          <a:prstGeom prst="line">
            <a:avLst/>
          </a:prstGeom>
          <a:noFill/>
          <a:ln w="12700">
            <a:solidFill>
              <a:srgbClr val="2A1F3D"/>
            </a:solidFill>
            <a:prstDash val="solid"/>
          </a:ln>
        </p:spPr>
      </p:sp>
      <p:sp>
        <p:nvSpPr>
          <p:cNvPr id="54" name="Text 52"/>
          <p:cNvSpPr/>
          <p:nvPr/>
        </p:nvSpPr>
        <p:spPr>
          <a:xfrm>
            <a:off x="402336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55" name="Shape 53"/>
          <p:cNvSpPr/>
          <p:nvPr/>
        </p:nvSpPr>
        <p:spPr>
          <a:xfrm>
            <a:off x="4892040" y="4023360"/>
            <a:ext cx="91" cy="54864"/>
          </a:xfrm>
          <a:prstGeom prst="line">
            <a:avLst/>
          </a:prstGeom>
          <a:noFill/>
          <a:ln w="12700">
            <a:solidFill>
              <a:srgbClr val="2A1F3D"/>
            </a:solidFill>
            <a:prstDash val="solid"/>
          </a:ln>
        </p:spPr>
      </p:sp>
      <p:sp>
        <p:nvSpPr>
          <p:cNvPr id="56" name="Text 54"/>
          <p:cNvSpPr/>
          <p:nvPr/>
        </p:nvSpPr>
        <p:spPr>
          <a:xfrm>
            <a:off x="461772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57" name="Shape 55"/>
          <p:cNvSpPr/>
          <p:nvPr/>
        </p:nvSpPr>
        <p:spPr>
          <a:xfrm>
            <a:off x="5486400" y="4023360"/>
            <a:ext cx="91" cy="54864"/>
          </a:xfrm>
          <a:prstGeom prst="line">
            <a:avLst/>
          </a:prstGeom>
          <a:noFill/>
          <a:ln w="12700">
            <a:solidFill>
              <a:srgbClr val="2A1F3D"/>
            </a:solidFill>
            <a:prstDash val="solid"/>
          </a:ln>
        </p:spPr>
      </p:sp>
      <p:sp>
        <p:nvSpPr>
          <p:cNvPr id="58" name="Text 56"/>
          <p:cNvSpPr/>
          <p:nvPr/>
        </p:nvSpPr>
        <p:spPr>
          <a:xfrm>
            <a:off x="521208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7</a:t>
            </a:r>
            <a:endParaRPr lang="en-US" sz="1000" dirty="0"/>
          </a:p>
        </p:txBody>
      </p:sp>
      <p:sp>
        <p:nvSpPr>
          <p:cNvPr id="59" name="Shape 57"/>
          <p:cNvSpPr/>
          <p:nvPr/>
        </p:nvSpPr>
        <p:spPr>
          <a:xfrm>
            <a:off x="6080760" y="4023360"/>
            <a:ext cx="91" cy="54864"/>
          </a:xfrm>
          <a:prstGeom prst="line">
            <a:avLst/>
          </a:prstGeom>
          <a:noFill/>
          <a:ln w="12700">
            <a:solidFill>
              <a:srgbClr val="2A1F3D"/>
            </a:solidFill>
            <a:prstDash val="solid"/>
          </a:ln>
        </p:spPr>
      </p:sp>
      <p:sp>
        <p:nvSpPr>
          <p:cNvPr id="60" name="Text 58"/>
          <p:cNvSpPr/>
          <p:nvPr/>
        </p:nvSpPr>
        <p:spPr>
          <a:xfrm>
            <a:off x="580644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61" name="Shape 59"/>
          <p:cNvSpPr/>
          <p:nvPr/>
        </p:nvSpPr>
        <p:spPr>
          <a:xfrm>
            <a:off x="1271016" y="4023360"/>
            <a:ext cx="54864" cy="91"/>
          </a:xfrm>
          <a:prstGeom prst="line">
            <a:avLst/>
          </a:prstGeom>
          <a:noFill/>
          <a:ln w="12700">
            <a:solidFill>
              <a:srgbClr val="2A1F3D"/>
            </a:solidFill>
            <a:prstDash val="solid"/>
          </a:ln>
        </p:spPr>
      </p:sp>
      <p:sp>
        <p:nvSpPr>
          <p:cNvPr id="62" name="Text 60"/>
          <p:cNvSpPr/>
          <p:nvPr/>
        </p:nvSpPr>
        <p:spPr>
          <a:xfrm>
            <a:off x="886968" y="39319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63" name="Shape 61"/>
          <p:cNvSpPr/>
          <p:nvPr/>
        </p:nvSpPr>
        <p:spPr>
          <a:xfrm>
            <a:off x="1271016" y="3502152"/>
            <a:ext cx="54864" cy="91"/>
          </a:xfrm>
          <a:prstGeom prst="line">
            <a:avLst/>
          </a:prstGeom>
          <a:noFill/>
          <a:ln w="12700">
            <a:solidFill>
              <a:srgbClr val="2A1F3D"/>
            </a:solidFill>
            <a:prstDash val="solid"/>
          </a:ln>
        </p:spPr>
      </p:sp>
      <p:sp>
        <p:nvSpPr>
          <p:cNvPr id="64" name="Text 62"/>
          <p:cNvSpPr/>
          <p:nvPr/>
        </p:nvSpPr>
        <p:spPr>
          <a:xfrm>
            <a:off x="886968" y="341071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a:t>
            </a:r>
            <a:endParaRPr lang="en-US" sz="1000" dirty="0"/>
          </a:p>
        </p:txBody>
      </p:sp>
      <p:sp>
        <p:nvSpPr>
          <p:cNvPr id="65" name="Shape 63"/>
          <p:cNvSpPr/>
          <p:nvPr/>
        </p:nvSpPr>
        <p:spPr>
          <a:xfrm>
            <a:off x="1271016" y="2980944"/>
            <a:ext cx="54864" cy="91"/>
          </a:xfrm>
          <a:prstGeom prst="line">
            <a:avLst/>
          </a:prstGeom>
          <a:noFill/>
          <a:ln w="12700">
            <a:solidFill>
              <a:srgbClr val="2A1F3D"/>
            </a:solidFill>
            <a:prstDash val="solid"/>
          </a:ln>
        </p:spPr>
      </p:sp>
      <p:sp>
        <p:nvSpPr>
          <p:cNvPr id="66" name="Text 64"/>
          <p:cNvSpPr/>
          <p:nvPr/>
        </p:nvSpPr>
        <p:spPr>
          <a:xfrm>
            <a:off x="886968" y="288950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67" name="Shape 65"/>
          <p:cNvSpPr/>
          <p:nvPr/>
        </p:nvSpPr>
        <p:spPr>
          <a:xfrm>
            <a:off x="1271016" y="2459736"/>
            <a:ext cx="54864" cy="91"/>
          </a:xfrm>
          <a:prstGeom prst="line">
            <a:avLst/>
          </a:prstGeom>
          <a:noFill/>
          <a:ln w="12700">
            <a:solidFill>
              <a:srgbClr val="2A1F3D"/>
            </a:solidFill>
            <a:prstDash val="solid"/>
          </a:ln>
        </p:spPr>
      </p:sp>
      <p:sp>
        <p:nvSpPr>
          <p:cNvPr id="68" name="Text 66"/>
          <p:cNvSpPr/>
          <p:nvPr/>
        </p:nvSpPr>
        <p:spPr>
          <a:xfrm>
            <a:off x="886968" y="236829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p>
        </p:txBody>
      </p:sp>
      <p:sp>
        <p:nvSpPr>
          <p:cNvPr id="69" name="Shape 67"/>
          <p:cNvSpPr/>
          <p:nvPr/>
        </p:nvSpPr>
        <p:spPr>
          <a:xfrm>
            <a:off x="1271016" y="1938528"/>
            <a:ext cx="54864" cy="91"/>
          </a:xfrm>
          <a:prstGeom prst="line">
            <a:avLst/>
          </a:prstGeom>
          <a:noFill/>
          <a:ln w="12700">
            <a:solidFill>
              <a:srgbClr val="2A1F3D"/>
            </a:solidFill>
            <a:prstDash val="solid"/>
          </a:ln>
        </p:spPr>
      </p:sp>
      <p:sp>
        <p:nvSpPr>
          <p:cNvPr id="70" name="Text 68"/>
          <p:cNvSpPr/>
          <p:nvPr/>
        </p:nvSpPr>
        <p:spPr>
          <a:xfrm>
            <a:off x="886968" y="184708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71" name="Shape 69"/>
          <p:cNvSpPr/>
          <p:nvPr/>
        </p:nvSpPr>
        <p:spPr>
          <a:xfrm>
            <a:off x="1271016" y="1417320"/>
            <a:ext cx="54864" cy="91"/>
          </a:xfrm>
          <a:prstGeom prst="line">
            <a:avLst/>
          </a:prstGeom>
          <a:noFill/>
          <a:ln w="12700">
            <a:solidFill>
              <a:srgbClr val="2A1F3D"/>
            </a:solidFill>
            <a:prstDash val="solid"/>
          </a:ln>
        </p:spPr>
      </p:sp>
      <p:sp>
        <p:nvSpPr>
          <p:cNvPr id="72" name="Text 70"/>
          <p:cNvSpPr/>
          <p:nvPr/>
        </p:nvSpPr>
        <p:spPr>
          <a:xfrm>
            <a:off x="8869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73" name="Text 71"/>
          <p:cNvSpPr/>
          <p:nvPr/>
        </p:nvSpPr>
        <p:spPr>
          <a:xfrm>
            <a:off x="1325880" y="4270248"/>
            <a:ext cx="47548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Distance moved by solvent front / cm</a:t>
            </a:r>
            <a:endParaRPr lang="en-US" sz="1050" dirty="0"/>
          </a:p>
        </p:txBody>
      </p:sp>
      <p:sp>
        <p:nvSpPr>
          <p:cNvPr id="74" name="Text 72"/>
          <p:cNvSpPr/>
          <p:nvPr/>
        </p:nvSpPr>
        <p:spPr>
          <a:xfrm rot="16200000">
            <a:off x="-544068" y="2592324"/>
            <a:ext cx="26060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Distance moved by dye / cm</a:t>
            </a:r>
            <a:endParaRPr lang="en-US" sz="1050" dirty="0"/>
          </a:p>
        </p:txBody>
      </p:sp>
      <p:sp>
        <p:nvSpPr>
          <p:cNvPr id="75" name="Shape 73"/>
          <p:cNvSpPr/>
          <p:nvPr/>
        </p:nvSpPr>
        <p:spPr>
          <a:xfrm flipV="1">
            <a:off x="1325880" y="1521562"/>
            <a:ext cx="4754880" cy="2501798"/>
          </a:xfrm>
          <a:prstGeom prst="line">
            <a:avLst/>
          </a:prstGeom>
          <a:noFill/>
          <a:ln w="25400">
            <a:solidFill>
              <a:srgbClr val="D94848"/>
            </a:solidFill>
            <a:prstDash val="solid"/>
          </a:ln>
        </p:spPr>
      </p:sp>
      <p:sp>
        <p:nvSpPr>
          <p:cNvPr id="76" name="Shape 74"/>
          <p:cNvSpPr/>
          <p:nvPr/>
        </p:nvSpPr>
        <p:spPr>
          <a:xfrm>
            <a:off x="2468880" y="3352190"/>
            <a:ext cx="91440" cy="91440"/>
          </a:xfrm>
          <a:prstGeom prst="line">
            <a:avLst/>
          </a:prstGeom>
          <a:noFill/>
          <a:ln w="15875">
            <a:solidFill>
              <a:srgbClr val="2A1F3D"/>
            </a:solidFill>
            <a:prstDash val="solid"/>
          </a:ln>
        </p:spPr>
      </p:sp>
      <p:sp>
        <p:nvSpPr>
          <p:cNvPr id="77" name="Shape 75"/>
          <p:cNvSpPr/>
          <p:nvPr/>
        </p:nvSpPr>
        <p:spPr>
          <a:xfrm flipV="1">
            <a:off x="2468880" y="3352190"/>
            <a:ext cx="91440" cy="91440"/>
          </a:xfrm>
          <a:prstGeom prst="line">
            <a:avLst/>
          </a:prstGeom>
          <a:noFill/>
          <a:ln w="15875">
            <a:solidFill>
              <a:srgbClr val="2A1F3D"/>
            </a:solidFill>
            <a:prstDash val="solid"/>
          </a:ln>
        </p:spPr>
      </p:sp>
      <p:sp>
        <p:nvSpPr>
          <p:cNvPr id="78" name="Shape 76"/>
          <p:cNvSpPr/>
          <p:nvPr/>
        </p:nvSpPr>
        <p:spPr>
          <a:xfrm>
            <a:off x="3657600" y="2674620"/>
            <a:ext cx="91440" cy="91440"/>
          </a:xfrm>
          <a:prstGeom prst="line">
            <a:avLst/>
          </a:prstGeom>
          <a:noFill/>
          <a:ln w="15875">
            <a:solidFill>
              <a:srgbClr val="2A1F3D"/>
            </a:solidFill>
            <a:prstDash val="solid"/>
          </a:ln>
        </p:spPr>
      </p:sp>
      <p:sp>
        <p:nvSpPr>
          <p:cNvPr id="79" name="Shape 77"/>
          <p:cNvSpPr/>
          <p:nvPr/>
        </p:nvSpPr>
        <p:spPr>
          <a:xfrm flipV="1">
            <a:off x="3657600" y="2674620"/>
            <a:ext cx="91440" cy="91440"/>
          </a:xfrm>
          <a:prstGeom prst="line">
            <a:avLst/>
          </a:prstGeom>
          <a:noFill/>
          <a:ln w="15875">
            <a:solidFill>
              <a:srgbClr val="2A1F3D"/>
            </a:solidFill>
            <a:prstDash val="solid"/>
          </a:ln>
        </p:spPr>
      </p:sp>
      <p:sp>
        <p:nvSpPr>
          <p:cNvPr id="80" name="Shape 78"/>
          <p:cNvSpPr/>
          <p:nvPr/>
        </p:nvSpPr>
        <p:spPr>
          <a:xfrm>
            <a:off x="4846320" y="2153412"/>
            <a:ext cx="91440" cy="91440"/>
          </a:xfrm>
          <a:prstGeom prst="line">
            <a:avLst/>
          </a:prstGeom>
          <a:noFill/>
          <a:ln w="15875">
            <a:solidFill>
              <a:srgbClr val="2A1F3D"/>
            </a:solidFill>
            <a:prstDash val="solid"/>
          </a:ln>
        </p:spPr>
      </p:sp>
      <p:sp>
        <p:nvSpPr>
          <p:cNvPr id="81" name="Shape 79"/>
          <p:cNvSpPr/>
          <p:nvPr/>
        </p:nvSpPr>
        <p:spPr>
          <a:xfrm flipV="1">
            <a:off x="4846320" y="2153412"/>
            <a:ext cx="91440" cy="91440"/>
          </a:xfrm>
          <a:prstGeom prst="line">
            <a:avLst/>
          </a:prstGeom>
          <a:noFill/>
          <a:ln w="15875">
            <a:solidFill>
              <a:srgbClr val="2A1F3D"/>
            </a:solidFill>
            <a:prstDash val="solid"/>
          </a:ln>
        </p:spPr>
      </p:sp>
      <p:sp>
        <p:nvSpPr>
          <p:cNvPr id="82" name="Shape 80"/>
          <p:cNvSpPr/>
          <p:nvPr/>
        </p:nvSpPr>
        <p:spPr>
          <a:xfrm>
            <a:off x="6035040" y="1475842"/>
            <a:ext cx="91440" cy="91440"/>
          </a:xfrm>
          <a:prstGeom prst="line">
            <a:avLst/>
          </a:prstGeom>
          <a:noFill/>
          <a:ln w="15875">
            <a:solidFill>
              <a:srgbClr val="2A1F3D"/>
            </a:solidFill>
            <a:prstDash val="solid"/>
          </a:ln>
        </p:spPr>
      </p:sp>
      <p:sp>
        <p:nvSpPr>
          <p:cNvPr id="83" name="Shape 81"/>
          <p:cNvSpPr/>
          <p:nvPr/>
        </p:nvSpPr>
        <p:spPr>
          <a:xfrm flipV="1">
            <a:off x="6035040" y="1475842"/>
            <a:ext cx="91440" cy="91440"/>
          </a:xfrm>
          <a:prstGeom prst="line">
            <a:avLst/>
          </a:prstGeom>
          <a:noFill/>
          <a:ln w="15875">
            <a:solidFill>
              <a:srgbClr val="2A1F3D"/>
            </a:solidFill>
            <a:prstDash val="solid"/>
          </a:ln>
        </p:spPr>
      </p:sp>
      <p:sp>
        <p:nvSpPr>
          <p:cNvPr id="84" name="Shape 82"/>
          <p:cNvSpPr/>
          <p:nvPr/>
        </p:nvSpPr>
        <p:spPr>
          <a:xfrm flipV="1">
            <a:off x="1325880" y="2772461"/>
            <a:ext cx="4754880" cy="1250899"/>
          </a:xfrm>
          <a:prstGeom prst="line">
            <a:avLst/>
          </a:prstGeom>
          <a:noFill/>
          <a:ln w="25400">
            <a:solidFill>
              <a:srgbClr val="C89A10"/>
            </a:solidFill>
            <a:prstDash val="solid"/>
          </a:ln>
        </p:spPr>
      </p:sp>
      <p:sp>
        <p:nvSpPr>
          <p:cNvPr id="85" name="Shape 83"/>
          <p:cNvSpPr/>
          <p:nvPr/>
        </p:nvSpPr>
        <p:spPr>
          <a:xfrm>
            <a:off x="2468880" y="3664915"/>
            <a:ext cx="91440" cy="91440"/>
          </a:xfrm>
          <a:prstGeom prst="line">
            <a:avLst/>
          </a:prstGeom>
          <a:noFill/>
          <a:ln w="15875">
            <a:solidFill>
              <a:srgbClr val="2A1F3D"/>
            </a:solidFill>
            <a:prstDash val="solid"/>
          </a:ln>
        </p:spPr>
      </p:sp>
      <p:sp>
        <p:nvSpPr>
          <p:cNvPr id="86" name="Shape 84"/>
          <p:cNvSpPr/>
          <p:nvPr/>
        </p:nvSpPr>
        <p:spPr>
          <a:xfrm flipV="1">
            <a:off x="2468880" y="3664915"/>
            <a:ext cx="91440" cy="91440"/>
          </a:xfrm>
          <a:prstGeom prst="line">
            <a:avLst/>
          </a:prstGeom>
          <a:noFill/>
          <a:ln w="15875">
            <a:solidFill>
              <a:srgbClr val="2A1F3D"/>
            </a:solidFill>
            <a:prstDash val="solid"/>
          </a:ln>
        </p:spPr>
      </p:sp>
      <p:sp>
        <p:nvSpPr>
          <p:cNvPr id="87" name="Shape 85"/>
          <p:cNvSpPr/>
          <p:nvPr/>
        </p:nvSpPr>
        <p:spPr>
          <a:xfrm>
            <a:off x="3657600" y="3404311"/>
            <a:ext cx="91440" cy="91440"/>
          </a:xfrm>
          <a:prstGeom prst="line">
            <a:avLst/>
          </a:prstGeom>
          <a:noFill/>
          <a:ln w="15875">
            <a:solidFill>
              <a:srgbClr val="2A1F3D"/>
            </a:solidFill>
            <a:prstDash val="solid"/>
          </a:ln>
        </p:spPr>
      </p:sp>
      <p:sp>
        <p:nvSpPr>
          <p:cNvPr id="88" name="Shape 86"/>
          <p:cNvSpPr/>
          <p:nvPr/>
        </p:nvSpPr>
        <p:spPr>
          <a:xfrm flipV="1">
            <a:off x="3657600" y="3404311"/>
            <a:ext cx="91440" cy="91440"/>
          </a:xfrm>
          <a:prstGeom prst="line">
            <a:avLst/>
          </a:prstGeom>
          <a:noFill/>
          <a:ln w="15875">
            <a:solidFill>
              <a:srgbClr val="2A1F3D"/>
            </a:solidFill>
            <a:prstDash val="solid"/>
          </a:ln>
        </p:spPr>
      </p:sp>
      <p:sp>
        <p:nvSpPr>
          <p:cNvPr id="89" name="Shape 87"/>
          <p:cNvSpPr/>
          <p:nvPr/>
        </p:nvSpPr>
        <p:spPr>
          <a:xfrm>
            <a:off x="4846320" y="3039466"/>
            <a:ext cx="91440" cy="91440"/>
          </a:xfrm>
          <a:prstGeom prst="line">
            <a:avLst/>
          </a:prstGeom>
          <a:noFill/>
          <a:ln w="15875">
            <a:solidFill>
              <a:srgbClr val="2A1F3D"/>
            </a:solidFill>
            <a:prstDash val="solid"/>
          </a:ln>
        </p:spPr>
      </p:sp>
      <p:sp>
        <p:nvSpPr>
          <p:cNvPr id="90" name="Shape 88"/>
          <p:cNvSpPr/>
          <p:nvPr/>
        </p:nvSpPr>
        <p:spPr>
          <a:xfrm flipV="1">
            <a:off x="4846320" y="3039466"/>
            <a:ext cx="91440" cy="91440"/>
          </a:xfrm>
          <a:prstGeom prst="line">
            <a:avLst/>
          </a:prstGeom>
          <a:noFill/>
          <a:ln w="15875">
            <a:solidFill>
              <a:srgbClr val="2A1F3D"/>
            </a:solidFill>
            <a:prstDash val="solid"/>
          </a:ln>
        </p:spPr>
      </p:sp>
      <p:sp>
        <p:nvSpPr>
          <p:cNvPr id="91" name="Shape 89"/>
          <p:cNvSpPr/>
          <p:nvPr/>
        </p:nvSpPr>
        <p:spPr>
          <a:xfrm>
            <a:off x="6035040" y="2726741"/>
            <a:ext cx="91440" cy="91440"/>
          </a:xfrm>
          <a:prstGeom prst="line">
            <a:avLst/>
          </a:prstGeom>
          <a:noFill/>
          <a:ln w="15875">
            <a:solidFill>
              <a:srgbClr val="2A1F3D"/>
            </a:solidFill>
            <a:prstDash val="solid"/>
          </a:ln>
        </p:spPr>
      </p:sp>
      <p:sp>
        <p:nvSpPr>
          <p:cNvPr id="92" name="Shape 90"/>
          <p:cNvSpPr/>
          <p:nvPr/>
        </p:nvSpPr>
        <p:spPr>
          <a:xfrm flipV="1">
            <a:off x="6035040" y="2726741"/>
            <a:ext cx="91440" cy="91440"/>
          </a:xfrm>
          <a:prstGeom prst="line">
            <a:avLst/>
          </a:prstGeom>
          <a:noFill/>
          <a:ln w="15875">
            <a:solidFill>
              <a:srgbClr val="2A1F3D"/>
            </a:solidFill>
            <a:prstDash val="solid"/>
          </a:ln>
        </p:spPr>
      </p:sp>
      <p:sp>
        <p:nvSpPr>
          <p:cNvPr id="93" name="Text 91"/>
          <p:cNvSpPr/>
          <p:nvPr/>
        </p:nvSpPr>
        <p:spPr>
          <a:xfrm>
            <a:off x="4654296" y="1782166"/>
            <a:ext cx="1371600" cy="201168"/>
          </a:xfrm>
          <a:prstGeom prst="rect">
            <a:avLst/>
          </a:prstGeom>
          <a:noFill/>
          <a:ln/>
        </p:spPr>
        <p:txBody>
          <a:bodyPr wrap="square" lIns="0" tIns="0" rIns="0" bIns="0" rtlCol="0" anchor="ctr"/>
          <a:lstStyle/>
          <a:p>
            <a:pPr algn="l" indent="0" marL="0">
              <a:buNone/>
            </a:pPr>
            <a:r>
              <a:rPr lang="en-US" sz="1050" b="1" dirty="0">
                <a:solidFill>
                  <a:srgbClr val="D94848"/>
                </a:solidFill>
                <a:latin typeface="Calibri" pitchFamily="34" charset="0"/>
                <a:ea typeface="Calibri" pitchFamily="34" charset="-122"/>
                <a:cs typeface="Calibri" pitchFamily="34" charset="-120"/>
              </a:rPr>
              <a:t>red</a:t>
            </a:r>
            <a:r>
              <a:rPr lang="en-US" sz="1050" dirty="0">
                <a:solidFill>
                  <a:srgbClr val="D94848"/>
                </a:solidFill>
                <a:latin typeface="Calibri" pitchFamily="34" charset="0"/>
                <a:ea typeface="Calibri" pitchFamily="34" charset="-122"/>
                <a:cs typeface="Calibri" pitchFamily="34" charset="-120"/>
              </a:rPr>
              <a:t> dye</a:t>
            </a:r>
            <a:endParaRPr lang="en-US" sz="1050" dirty="0"/>
          </a:p>
        </p:txBody>
      </p:sp>
      <p:sp>
        <p:nvSpPr>
          <p:cNvPr id="94" name="Text 92"/>
          <p:cNvSpPr/>
          <p:nvPr/>
        </p:nvSpPr>
        <p:spPr>
          <a:xfrm>
            <a:off x="4892040" y="3319729"/>
            <a:ext cx="1371600" cy="201168"/>
          </a:xfrm>
          <a:prstGeom prst="rect">
            <a:avLst/>
          </a:prstGeom>
          <a:noFill/>
          <a:ln/>
        </p:spPr>
        <p:txBody>
          <a:bodyPr wrap="square" lIns="0" tIns="0" rIns="0" bIns="0" rtlCol="0" anchor="ctr"/>
          <a:lstStyle/>
          <a:p>
            <a:pPr algn="l" indent="0" marL="0">
              <a:buNone/>
            </a:pPr>
            <a:r>
              <a:rPr lang="en-US" sz="1050" b="1" dirty="0">
                <a:solidFill>
                  <a:srgbClr val="A88410"/>
                </a:solidFill>
                <a:latin typeface="Calibri" pitchFamily="34" charset="0"/>
                <a:ea typeface="Calibri" pitchFamily="34" charset="-122"/>
                <a:cs typeface="Calibri" pitchFamily="34" charset="-120"/>
              </a:rPr>
              <a:t>yellow</a:t>
            </a:r>
            <a:r>
              <a:rPr lang="en-US" sz="1050" dirty="0">
                <a:solidFill>
                  <a:srgbClr val="A88410"/>
                </a:solidFill>
                <a:latin typeface="Calibri" pitchFamily="34" charset="0"/>
                <a:ea typeface="Calibri" pitchFamily="34" charset="-122"/>
                <a:cs typeface="Calibri" pitchFamily="34" charset="-120"/>
              </a:rPr>
              <a:t> dye</a:t>
            </a:r>
            <a:endParaRPr 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4553712"/>
          <a:ext cx="5577840" cy="914400"/>
        </p:xfrm>
        <a:graphic>
          <a:graphicData uri="http://schemas.openxmlformats.org/drawingml/2006/table">
            <a:tbl>
              <a:tblPr/>
              <a:tblGrid>
                <a:gridCol w="1554480"/>
                <a:gridCol w="1005840"/>
                <a:gridCol w="1005840"/>
                <a:gridCol w="1005840"/>
                <a:gridCol w="1005840"/>
              </a:tblGrid>
              <a:tr h="192024">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Solvent front / cm</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192024">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Red dye / cm</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3.5</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4.8</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192024">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Yellow dye / cm</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0.6</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2.4</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bl>
          </a:graphicData>
        </a:graphic>
      </p:graphicFrame>
      <p:sp>
        <p:nvSpPr>
          <p:cNvPr id="96" name="Shape 93"/>
          <p:cNvSpPr/>
          <p:nvPr/>
        </p:nvSpPr>
        <p:spPr>
          <a:xfrm>
            <a:off x="6675120" y="1188720"/>
            <a:ext cx="5102352" cy="1600200"/>
          </a:xfrm>
          <a:prstGeom prst="roundRect">
            <a:avLst>
              <a:gd name="adj" fmla="val 3429"/>
            </a:avLst>
          </a:prstGeom>
          <a:solidFill>
            <a:srgbClr val="FFF4E0"/>
          </a:solidFill>
          <a:ln w="9525">
            <a:solidFill>
              <a:srgbClr val="F1D9A8"/>
            </a:solidFill>
            <a:prstDash val="solid"/>
          </a:ln>
        </p:spPr>
      </p:sp>
      <p:sp>
        <p:nvSpPr>
          <p:cNvPr id="97" name="Text 94"/>
          <p:cNvSpPr/>
          <p:nvPr/>
        </p:nvSpPr>
        <p:spPr>
          <a:xfrm>
            <a:off x="6839712" y="1261872"/>
            <a:ext cx="47731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Rf from the graph</a:t>
            </a:r>
            <a:endParaRPr lang="en-US" sz="1300" dirty="0"/>
          </a:p>
        </p:txBody>
      </p:sp>
      <p:sp>
        <p:nvSpPr>
          <p:cNvPr id="98" name="Text 95"/>
          <p:cNvSpPr/>
          <p:nvPr/>
        </p:nvSpPr>
        <p:spPr>
          <a:xfrm>
            <a:off x="6839712" y="1572768"/>
            <a:ext cx="4773168" cy="11430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Rf = gradient of the line of best fit.</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Red   </a:t>
            </a:r>
            <a:r>
              <a:rPr lang="en-US" sz="1050" dirty="0">
                <a:solidFill>
                  <a:srgbClr val="262B3A"/>
                </a:solidFill>
                <a:latin typeface="Calibri" pitchFamily="34" charset="0"/>
                <a:ea typeface="Calibri" pitchFamily="34" charset="-122"/>
                <a:cs typeface="Calibri" pitchFamily="34" charset="-120"/>
              </a:rPr>
              <a:t>4.8 ÷ 8.0 = </a:t>
            </a:r>
            <a:r>
              <a:rPr lang="en-US" sz="1050" b="1" dirty="0">
                <a:solidFill>
                  <a:srgbClr val="262B3A"/>
                </a:solidFill>
                <a:latin typeface="Calibri" pitchFamily="34" charset="0"/>
                <a:ea typeface="Calibri" pitchFamily="34" charset="-122"/>
                <a:cs typeface="Calibri" pitchFamily="34" charset="-120"/>
              </a:rPr>
              <a:t>0.60</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Yellow   </a:t>
            </a:r>
            <a:r>
              <a:rPr lang="en-US" sz="1050" dirty="0">
                <a:solidFill>
                  <a:srgbClr val="262B3A"/>
                </a:solidFill>
                <a:latin typeface="Calibri" pitchFamily="34" charset="0"/>
                <a:ea typeface="Calibri" pitchFamily="34" charset="-122"/>
                <a:cs typeface="Calibri" pitchFamily="34" charset="-120"/>
              </a:rPr>
              <a:t>2.4 ÷ 8.0 = </a:t>
            </a:r>
            <a:r>
              <a:rPr lang="en-US" sz="1050" b="1" dirty="0">
                <a:solidFill>
                  <a:srgbClr val="262B3A"/>
                </a:solidFill>
                <a:latin typeface="Calibri" pitchFamily="34" charset="0"/>
                <a:ea typeface="Calibri" pitchFamily="34" charset="-122"/>
                <a:cs typeface="Calibri" pitchFamily="34" charset="-120"/>
              </a:rPr>
              <a:t>0.30</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they match dyes </a:t>
            </a:r>
            <a:r>
              <a:rPr lang="en-US" sz="1050" b="1" dirty="0">
                <a:solidFill>
                  <a:srgbClr val="C8414C"/>
                </a:solidFill>
                <a:latin typeface="Calibri" pitchFamily="34" charset="0"/>
                <a:ea typeface="Calibri" pitchFamily="34" charset="-122"/>
                <a:cs typeface="Calibri" pitchFamily="34" charset="-120"/>
              </a:rPr>
              <a:t>B</a:t>
            </a:r>
            <a:r>
              <a:rPr lang="en-US" sz="1050" b="1" dirty="0">
                <a:solidFill>
                  <a:srgbClr val="C8414C"/>
                </a:solidFill>
                <a:latin typeface="Calibri" pitchFamily="34" charset="0"/>
                <a:ea typeface="Calibri" pitchFamily="34" charset="-122"/>
                <a:cs typeface="Calibri" pitchFamily="34" charset="-120"/>
              </a:rPr>
              <a:t> (0.60) and </a:t>
            </a:r>
            <a:r>
              <a:rPr lang="en-US" sz="1050" b="1" dirty="0">
                <a:solidFill>
                  <a:srgbClr val="C8414C"/>
                </a:solidFill>
                <a:latin typeface="Calibri" pitchFamily="34" charset="0"/>
                <a:ea typeface="Calibri" pitchFamily="34" charset="-122"/>
                <a:cs typeface="Calibri" pitchFamily="34" charset="-120"/>
              </a:rPr>
              <a:t>A</a:t>
            </a:r>
            <a:r>
              <a:rPr lang="en-US" sz="1050" b="1" dirty="0">
                <a:solidFill>
                  <a:srgbClr val="C8414C"/>
                </a:solidFill>
                <a:latin typeface="Calibri" pitchFamily="34" charset="0"/>
                <a:ea typeface="Calibri" pitchFamily="34" charset="-122"/>
                <a:cs typeface="Calibri" pitchFamily="34" charset="-120"/>
              </a:rPr>
              <a:t> (0.30)</a:t>
            </a:r>
            <a:endParaRPr lang="en-US" sz="1050" dirty="0"/>
          </a:p>
        </p:txBody>
      </p:sp>
      <p:sp>
        <p:nvSpPr>
          <p:cNvPr id="99" name="Shape 96"/>
          <p:cNvSpPr/>
          <p:nvPr/>
        </p:nvSpPr>
        <p:spPr>
          <a:xfrm>
            <a:off x="6675120" y="2926080"/>
            <a:ext cx="5102352" cy="2788920"/>
          </a:xfrm>
          <a:prstGeom prst="roundRect">
            <a:avLst>
              <a:gd name="adj" fmla="val 1967"/>
            </a:avLst>
          </a:prstGeom>
          <a:solidFill>
            <a:srgbClr val="F8F5FC"/>
          </a:solidFill>
          <a:ln w="9525">
            <a:solidFill>
              <a:srgbClr val="DDD3EC"/>
            </a:solidFill>
            <a:prstDash val="solid"/>
          </a:ln>
        </p:spPr>
      </p:sp>
      <p:sp>
        <p:nvSpPr>
          <p:cNvPr id="100" name="Text 97"/>
          <p:cNvSpPr/>
          <p:nvPr/>
        </p:nvSpPr>
        <p:spPr>
          <a:xfrm>
            <a:off x="6839712" y="3017520"/>
            <a:ext cx="47731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Conclusion and errors</a:t>
            </a:r>
            <a:endParaRPr lang="en-US" sz="1300" dirty="0"/>
          </a:p>
        </p:txBody>
      </p:sp>
      <p:sp>
        <p:nvSpPr>
          <p:cNvPr id="101" name="Text 98"/>
          <p:cNvSpPr/>
          <p:nvPr/>
        </p:nvSpPr>
        <p:spPr>
          <a:xfrm>
            <a:off x="6839712" y="3346704"/>
            <a:ext cx="4773168" cy="229514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Straight lines through the origin: Rf stays the </a:t>
            </a:r>
            <a:r>
              <a:rPr lang="en-US" sz="1100" b="1" dirty="0">
                <a:solidFill>
                  <a:srgbClr val="262B3A"/>
                </a:solidFill>
                <a:latin typeface="Calibri" pitchFamily="34" charset="0"/>
                <a:ea typeface="Calibri" pitchFamily="34" charset="-122"/>
                <a:cs typeface="Calibri" pitchFamily="34" charset="-120"/>
              </a:rPr>
              <a:t>same</a:t>
            </a:r>
            <a:r>
              <a:rPr lang="en-US" sz="1100" dirty="0">
                <a:solidFill>
                  <a:srgbClr val="262B3A"/>
                </a:solidFill>
                <a:latin typeface="Calibri" pitchFamily="34" charset="0"/>
                <a:ea typeface="Calibri" pitchFamily="34" charset="-122"/>
                <a:cs typeface="Calibri" pitchFamily="34" charset="-120"/>
              </a:rPr>
              <a:t> as the run goes on, so it identifies the dye.</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Errors</a:t>
            </a:r>
            <a:r>
              <a:rPr lang="en-US" sz="1100" dirty="0">
                <a:solidFill>
                  <a:srgbClr val="262B3A"/>
                </a:solidFill>
                <a:latin typeface="Calibri" pitchFamily="34" charset="0"/>
                <a:ea typeface="Calibri" pitchFamily="34" charset="-122"/>
                <a:cs typeface="Calibri" pitchFamily="34" charset="-120"/>
              </a:rPr>
              <a:t>: large spots spread and overlap; measuring to the spot </a:t>
            </a:r>
            <a:r>
              <a:rPr lang="en-US" sz="1100" b="1" dirty="0">
                <a:solidFill>
                  <a:srgbClr val="262B3A"/>
                </a:solidFill>
                <a:latin typeface="Calibri" pitchFamily="34" charset="0"/>
                <a:ea typeface="Calibri" pitchFamily="34" charset="-122"/>
                <a:cs typeface="Calibri" pitchFamily="34" charset="-120"/>
              </a:rPr>
              <a:t>edge</a:t>
            </a:r>
            <a:r>
              <a:rPr lang="en-US" sz="1100" dirty="0">
                <a:solidFill>
                  <a:srgbClr val="262B3A"/>
                </a:solidFill>
                <a:latin typeface="Calibri" pitchFamily="34" charset="0"/>
                <a:ea typeface="Calibri" pitchFamily="34" charset="-122"/>
                <a:cs typeface="Calibri" pitchFamily="34" charset="-120"/>
              </a:rPr>
              <a:t>, not the centre; front marked late.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Baseline under the solvent: dyes wash into the solvent. Uneven paper or no lid: the front is not level.</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Improve</a:t>
            </a:r>
            <a:r>
              <a:rPr lang="en-US" sz="1100" dirty="0">
                <a:solidFill>
                  <a:srgbClr val="262B3A"/>
                </a:solidFill>
                <a:latin typeface="Calibri" pitchFamily="34" charset="0"/>
                <a:ea typeface="Calibri" pitchFamily="34" charset="-122"/>
                <a:cs typeface="Calibri" pitchFamily="34" charset="-120"/>
              </a:rPr>
              <a:t>: small spots, mark the front at once, repeat and find a </a:t>
            </a:r>
            <a:r>
              <a:rPr lang="en-US" sz="1100" b="1" dirty="0">
                <a:solidFill>
                  <a:srgbClr val="262B3A"/>
                </a:solidFill>
                <a:latin typeface="Calibri" pitchFamily="34" charset="0"/>
                <a:ea typeface="Calibri" pitchFamily="34" charset="-122"/>
                <a:cs typeface="Calibri" pitchFamily="34" charset="-120"/>
              </a:rPr>
              <a:t>mean</a:t>
            </a:r>
            <a:r>
              <a:rPr lang="en-US" sz="1100" dirty="0">
                <a:solidFill>
                  <a:srgbClr val="262B3A"/>
                </a:solidFill>
                <a:latin typeface="Calibri" pitchFamily="34" charset="0"/>
                <a:ea typeface="Calibri" pitchFamily="34" charset="-122"/>
                <a:cs typeface="Calibri" pitchFamily="34" charset="-120"/>
              </a:rPr>
              <a:t> Rf, run reference dyes on the same paper.</a:t>
            </a:r>
            <a:endParaRPr lang="en-US" sz="1100" dirty="0"/>
          </a:p>
        </p:txBody>
      </p:sp>
      <p:sp>
        <p:nvSpPr>
          <p:cNvPr id="102" name="Shape 99"/>
          <p:cNvSpPr/>
          <p:nvPr/>
        </p:nvSpPr>
        <p:spPr>
          <a:xfrm>
            <a:off x="411480" y="5833872"/>
            <a:ext cx="11368735" cy="530352"/>
          </a:xfrm>
          <a:prstGeom prst="rect">
            <a:avLst/>
          </a:prstGeom>
          <a:solidFill>
            <a:srgbClr val="FFF4E0"/>
          </a:solidFill>
          <a:ln w="6350">
            <a:solidFill>
              <a:srgbClr val="F1D9A8"/>
            </a:solidFill>
            <a:prstDash val="solid"/>
          </a:ln>
        </p:spPr>
      </p:sp>
      <p:sp>
        <p:nvSpPr>
          <p:cNvPr id="103" name="Shape 100"/>
          <p:cNvSpPr/>
          <p:nvPr/>
        </p:nvSpPr>
        <p:spPr>
          <a:xfrm>
            <a:off x="411480" y="5833872"/>
            <a:ext cx="82296" cy="530352"/>
          </a:xfrm>
          <a:prstGeom prst="rect">
            <a:avLst/>
          </a:prstGeom>
          <a:solidFill>
            <a:srgbClr val="E39A2F"/>
          </a:solidFill>
          <a:ln w="12700">
            <a:solidFill>
              <a:srgbClr val="E39A2F"/>
            </a:solidFill>
            <a:prstDash val="solid"/>
          </a:ln>
        </p:spPr>
      </p:sp>
      <p:sp>
        <p:nvSpPr>
          <p:cNvPr id="104" name="Text 10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graph: how far had the </a:t>
            </a:r>
            <a:r>
              <a:rPr lang="en-US" sz="1150" b="1" dirty="0">
                <a:solidFill>
                  <a:srgbClr val="262B3A"/>
                </a:solidFill>
                <a:latin typeface="Calibri" pitchFamily="34" charset="0"/>
                <a:ea typeface="Calibri" pitchFamily="34" charset="-122"/>
                <a:cs typeface="Calibri" pitchFamily="34" charset="-120"/>
              </a:rPr>
              <a:t>red</a:t>
            </a:r>
            <a:r>
              <a:rPr lang="en-US" sz="1150" dirty="0">
                <a:solidFill>
                  <a:srgbClr val="262B3A"/>
                </a:solidFill>
                <a:latin typeface="Calibri" pitchFamily="34" charset="0"/>
                <a:ea typeface="Calibri" pitchFamily="34" charset="-122"/>
                <a:cs typeface="Calibri" pitchFamily="34" charset="-120"/>
              </a:rPr>
              <a:t> dye moved when the solvent front was at </a:t>
            </a:r>
            <a:r>
              <a:rPr lang="en-US" sz="1150" b="1" dirty="0">
                <a:solidFill>
                  <a:srgbClr val="262B3A"/>
                </a:solidFill>
                <a:latin typeface="Calibri" pitchFamily="34" charset="0"/>
                <a:ea typeface="Calibri" pitchFamily="34" charset="-122"/>
                <a:cs typeface="Calibri" pitchFamily="34" charset="-120"/>
              </a:rPr>
              <a:t>5.0 cm</a:t>
            </a:r>
            <a:r>
              <a:rPr lang="en-US" sz="1150" dirty="0">
                <a:solidFill>
                  <a:srgbClr val="262B3A"/>
                </a:solidFill>
                <a:latin typeface="Calibri" pitchFamily="34" charset="0"/>
                <a:ea typeface="Calibri" pitchFamily="34" charset="-122"/>
                <a:cs typeface="Calibri" pitchFamily="34" charset="-120"/>
              </a:rPr>
              <a:t>? Why is the line straight?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C5.1.5, C5.1.6 • the chromatography practical</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14</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variables that must be </a:t>
            </a:r>
            <a:r>
              <a:rPr lang="en-US" sz="1250" b="1" dirty="0">
                <a:solidFill>
                  <a:srgbClr val="262B3A"/>
                </a:solidFill>
                <a:latin typeface="Calibri" pitchFamily="34" charset="0"/>
                <a:ea typeface="Calibri" pitchFamily="34" charset="-122"/>
                <a:cs typeface="Calibri" pitchFamily="34" charset="-120"/>
              </a:rPr>
              <a:t>controlled</a:t>
            </a:r>
            <a:r>
              <a:rPr lang="en-US" sz="1250" dirty="0">
                <a:solidFill>
                  <a:srgbClr val="262B3A"/>
                </a:solidFill>
                <a:latin typeface="Calibri" pitchFamily="34" charset="0"/>
                <a:ea typeface="Calibri" pitchFamily="34" charset="-122"/>
                <a:cs typeface="Calibri" pitchFamily="34" charset="-120"/>
              </a:rPr>
              <a:t> when comparing dyes by chromatography.</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the solvent front must be marked </a:t>
            </a:r>
            <a:r>
              <a:rPr lang="en-US" sz="1250" b="1" dirty="0">
                <a:solidFill>
                  <a:srgbClr val="262B3A"/>
                </a:solidFill>
                <a:latin typeface="Calibri" pitchFamily="34" charset="0"/>
                <a:ea typeface="Calibri" pitchFamily="34" charset="-122"/>
                <a:cs typeface="Calibri" pitchFamily="34" charset="-120"/>
              </a:rPr>
              <a:t>as soon as</a:t>
            </a:r>
            <a:r>
              <a:rPr lang="en-US" sz="1250" dirty="0">
                <a:solidFill>
                  <a:srgbClr val="262B3A"/>
                </a:solidFill>
                <a:latin typeface="Calibri" pitchFamily="34" charset="0"/>
                <a:ea typeface="Calibri" pitchFamily="34" charset="-122"/>
                <a:cs typeface="Calibri" pitchFamily="34" charset="-120"/>
              </a:rPr>
              <a:t> the paper is removed.</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student's spots were </a:t>
            </a:r>
            <a:r>
              <a:rPr lang="en-US" sz="1250" b="1" dirty="0">
                <a:solidFill>
                  <a:srgbClr val="262B3A"/>
                </a:solidFill>
                <a:latin typeface="Calibri" pitchFamily="34" charset="0"/>
                <a:ea typeface="Calibri" pitchFamily="34" charset="-122"/>
                <a:cs typeface="Calibri" pitchFamily="34" charset="-120"/>
              </a:rPr>
              <a:t>smudged</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overlapped</a:t>
            </a:r>
            <a:r>
              <a:rPr lang="en-US" sz="1250" dirty="0">
                <a:solidFill>
                  <a:srgbClr val="262B3A"/>
                </a:solidFill>
                <a:latin typeface="Calibri" pitchFamily="34" charset="0"/>
                <a:ea typeface="Calibri" pitchFamily="34" charset="-122"/>
                <a:cs typeface="Calibri" pitchFamily="34" charset="-120"/>
              </a:rPr>
              <a:t>. Suggest a cause and an improvement.</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dye has Rf = </a:t>
            </a:r>
            <a:r>
              <a:rPr lang="en-US" sz="1250" b="1" dirty="0">
                <a:solidFill>
                  <a:srgbClr val="262B3A"/>
                </a:solidFill>
                <a:latin typeface="Calibri" pitchFamily="34" charset="0"/>
                <a:ea typeface="Calibri" pitchFamily="34" charset="-122"/>
                <a:cs typeface="Calibri" pitchFamily="34" charset="-120"/>
              </a:rPr>
              <a:t>0.30</a:t>
            </a:r>
            <a:r>
              <a:rPr lang="en-US" sz="1250" dirty="0">
                <a:solidFill>
                  <a:srgbClr val="262B3A"/>
                </a:solidFill>
                <a:latin typeface="Calibri" pitchFamily="34" charset="0"/>
                <a:ea typeface="Calibri" pitchFamily="34" charset="-122"/>
                <a:cs typeface="Calibri" pitchFamily="34" charset="-120"/>
              </a:rPr>
              <a:t>. The solvent front moved </a:t>
            </a:r>
            <a:r>
              <a:rPr lang="en-US" sz="1250" b="1" dirty="0">
                <a:solidFill>
                  <a:srgbClr val="262B3A"/>
                </a:solidFill>
                <a:latin typeface="Calibri" pitchFamily="34" charset="0"/>
                <a:ea typeface="Calibri" pitchFamily="34" charset="-122"/>
                <a:cs typeface="Calibri" pitchFamily="34" charset="-120"/>
              </a:rPr>
              <a:t>7.0 cm</a:t>
            </a:r>
            <a:r>
              <a:rPr lang="en-US" sz="1250" dirty="0">
                <a:solidFill>
                  <a:srgbClr val="262B3A"/>
                </a:solidFill>
                <a:latin typeface="Calibri" pitchFamily="34" charset="0"/>
                <a:ea typeface="Calibri" pitchFamily="34" charset="-122"/>
                <a:cs typeface="Calibri" pitchFamily="34" charset="-120"/>
              </a:rPr>
              <a:t>. How far did the dye move?</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Filtration and crystallisation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C5.1.7 • separating an insoluble solid; obtaining a soluble solid from a solution</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C5.1.7  |  15</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filtration (left) and crystallisation on a water bath (right); not to scale</a:t>
            </a:r>
            <a:endParaRPr lang="en-US" sz="1000" dirty="0"/>
          </a:p>
        </p:txBody>
      </p:sp>
      <p:sp>
        <p:nvSpPr>
          <p:cNvPr id="10" name="Shape 8"/>
          <p:cNvSpPr/>
          <p:nvPr/>
        </p:nvSpPr>
        <p:spPr>
          <a:xfrm>
            <a:off x="1051560" y="1600200"/>
            <a:ext cx="1371600" cy="868680"/>
          </a:xfrm>
          <a:custGeom>
            <a:avLst/>
            <a:gdLst/>
            <a:ahLst/>
            <a:cxnLst/>
            <a:rect l="l" t="t" r="r" b="b"/>
            <a:pathLst>
              <a:path w="1371600" h="868680">
                <a:moveTo>
                  <a:pt x="0" y="0"/>
                </a:moveTo>
                <a:lnTo>
                  <a:pt x="1371600" y="0"/>
                </a:lnTo>
                <a:lnTo>
                  <a:pt x="731520" y="868680"/>
                </a:lnTo>
                <a:lnTo>
                  <a:pt x="640080" y="868680"/>
                </a:lnTo>
                <a:close/>
              </a:path>
            </a:pathLst>
          </a:custGeom>
          <a:solidFill>
            <a:srgbClr val="EEF5FB"/>
          </a:solidFill>
          <a:ln w="19050">
            <a:solidFill>
              <a:srgbClr val="2A1F3D"/>
            </a:solidFill>
            <a:prstDash val="solid"/>
          </a:ln>
        </p:spPr>
      </p:sp>
      <p:sp>
        <p:nvSpPr>
          <p:cNvPr id="11" name="Shape 9"/>
          <p:cNvSpPr/>
          <p:nvPr/>
        </p:nvSpPr>
        <p:spPr>
          <a:xfrm>
            <a:off x="1691640" y="2468880"/>
            <a:ext cx="91440" cy="502920"/>
          </a:xfrm>
          <a:prstGeom prst="rect">
            <a:avLst/>
          </a:prstGeom>
          <a:solidFill>
            <a:srgbClr val="EEF5FB"/>
          </a:solidFill>
          <a:ln w="15875">
            <a:solidFill>
              <a:srgbClr val="2A1F3D"/>
            </a:solidFill>
            <a:prstDash val="solid"/>
          </a:ln>
        </p:spPr>
      </p:sp>
      <p:sp>
        <p:nvSpPr>
          <p:cNvPr id="12" name="Shape 10"/>
          <p:cNvSpPr/>
          <p:nvPr/>
        </p:nvSpPr>
        <p:spPr>
          <a:xfrm>
            <a:off x="1115568" y="1627632"/>
            <a:ext cx="1243584" cy="859536"/>
          </a:xfrm>
          <a:custGeom>
            <a:avLst/>
            <a:gdLst/>
            <a:ahLst/>
            <a:cxnLst/>
            <a:rect l="l" t="t" r="r" b="b"/>
            <a:pathLst>
              <a:path w="1243584" h="859536">
                <a:moveTo>
                  <a:pt x="0" y="0"/>
                </a:moveTo>
                <a:lnTo>
                  <a:pt x="1243584" y="0"/>
                </a:lnTo>
                <a:lnTo>
                  <a:pt x="621792" y="859536"/>
                </a:lnTo>
                <a:close/>
              </a:path>
            </a:pathLst>
          </a:custGeom>
          <a:solidFill>
            <a:srgbClr val="FFFFFF"/>
          </a:solidFill>
          <a:ln w="9525">
            <a:solidFill>
              <a:srgbClr val="9AA3B0"/>
            </a:solidFill>
            <a:prstDash val="solid"/>
          </a:ln>
        </p:spPr>
      </p:sp>
      <p:sp>
        <p:nvSpPr>
          <p:cNvPr id="13" name="Shape 11"/>
          <p:cNvSpPr/>
          <p:nvPr/>
        </p:nvSpPr>
        <p:spPr>
          <a:xfrm>
            <a:off x="1476207" y="2104034"/>
            <a:ext cx="522305" cy="364846"/>
          </a:xfrm>
          <a:custGeom>
            <a:avLst/>
            <a:gdLst/>
            <a:ahLst/>
            <a:cxnLst/>
            <a:rect l="l" t="t" r="r" b="b"/>
            <a:pathLst>
              <a:path w="522305" h="364846">
                <a:moveTo>
                  <a:pt x="0" y="0"/>
                </a:moveTo>
                <a:lnTo>
                  <a:pt x="522305" y="0"/>
                </a:lnTo>
                <a:lnTo>
                  <a:pt x="261153" y="364846"/>
                </a:lnTo>
                <a:close/>
              </a:path>
            </a:pathLst>
          </a:custGeom>
          <a:solidFill>
            <a:srgbClr val="D9B77A"/>
          </a:solidFill>
          <a:ln w="6350">
            <a:solidFill>
              <a:srgbClr val="9A7A3A"/>
            </a:solidFill>
            <a:prstDash val="solid"/>
          </a:ln>
        </p:spPr>
      </p:sp>
      <p:sp>
        <p:nvSpPr>
          <p:cNvPr id="14" name="Shape 12"/>
          <p:cNvSpPr/>
          <p:nvPr/>
        </p:nvSpPr>
        <p:spPr>
          <a:xfrm>
            <a:off x="1705356" y="3003804"/>
            <a:ext cx="64008" cy="64008"/>
          </a:xfrm>
          <a:prstGeom prst="ellipse">
            <a:avLst/>
          </a:prstGeom>
          <a:solidFill>
            <a:srgbClr val="DCEBF5"/>
          </a:solidFill>
          <a:ln w="9525">
            <a:solidFill>
              <a:srgbClr val="DCEBF5"/>
            </a:solidFill>
            <a:prstDash val="solid"/>
          </a:ln>
        </p:spPr>
      </p:sp>
      <p:sp>
        <p:nvSpPr>
          <p:cNvPr id="15" name="Shape 13"/>
          <p:cNvSpPr/>
          <p:nvPr/>
        </p:nvSpPr>
        <p:spPr>
          <a:xfrm>
            <a:off x="1005840" y="2697480"/>
            <a:ext cx="1463040" cy="1828800"/>
          </a:xfrm>
          <a:custGeom>
            <a:avLst/>
            <a:gdLst/>
            <a:ahLst/>
            <a:cxnLst/>
            <a:rect l="l" t="t" r="r" b="b"/>
            <a:pathLst>
              <a:path w="1463040" h="1828800">
                <a:moveTo>
                  <a:pt x="585216" y="0"/>
                </a:moveTo>
                <a:lnTo>
                  <a:pt x="585216" y="548640"/>
                </a:lnTo>
                <a:lnTo>
                  <a:pt x="0" y="1828800"/>
                </a:lnTo>
                <a:lnTo>
                  <a:pt x="1463040" y="1828800"/>
                </a:lnTo>
                <a:lnTo>
                  <a:pt x="877824" y="548640"/>
                </a:lnTo>
                <a:lnTo>
                  <a:pt x="877824" y="0"/>
                </a:lnTo>
                <a:close/>
              </a:path>
            </a:pathLst>
          </a:custGeom>
          <a:solidFill>
            <a:srgbClr val="EEF5FB"/>
          </a:solidFill>
          <a:ln/>
        </p:spPr>
      </p:sp>
      <p:sp>
        <p:nvSpPr>
          <p:cNvPr id="16" name="Shape 14"/>
          <p:cNvSpPr/>
          <p:nvPr/>
        </p:nvSpPr>
        <p:spPr>
          <a:xfrm>
            <a:off x="1005840" y="4078224"/>
            <a:ext cx="1463040" cy="448056"/>
          </a:xfrm>
          <a:custGeom>
            <a:avLst/>
            <a:gdLst/>
            <a:ahLst/>
            <a:cxnLst/>
            <a:rect l="l" t="t" r="r" b="b"/>
            <a:pathLst>
              <a:path w="1463040" h="448056">
                <a:moveTo>
                  <a:pt x="204826" y="0"/>
                </a:moveTo>
                <a:lnTo>
                  <a:pt x="0" y="448056"/>
                </a:lnTo>
                <a:lnTo>
                  <a:pt x="1463040" y="448056"/>
                </a:lnTo>
                <a:lnTo>
                  <a:pt x="1258214" y="0"/>
                </a:lnTo>
                <a:close/>
              </a:path>
            </a:pathLst>
          </a:custGeom>
          <a:solidFill>
            <a:srgbClr val="DCEBF5"/>
          </a:solidFill>
          <a:ln/>
        </p:spPr>
      </p:sp>
      <p:sp>
        <p:nvSpPr>
          <p:cNvPr id="17" name="Shape 15"/>
          <p:cNvSpPr/>
          <p:nvPr/>
        </p:nvSpPr>
        <p:spPr>
          <a:xfrm>
            <a:off x="1210666" y="4078224"/>
            <a:ext cx="1053389" cy="91"/>
          </a:xfrm>
          <a:prstGeom prst="line">
            <a:avLst/>
          </a:prstGeom>
          <a:noFill/>
          <a:ln w="12700">
            <a:solidFill>
              <a:srgbClr val="5B9BD5"/>
            </a:solidFill>
            <a:prstDash val="solid"/>
          </a:ln>
        </p:spPr>
      </p:sp>
      <p:sp>
        <p:nvSpPr>
          <p:cNvPr id="18" name="Shape 16"/>
          <p:cNvSpPr/>
          <p:nvPr/>
        </p:nvSpPr>
        <p:spPr>
          <a:xfrm>
            <a:off x="1005840" y="2697480"/>
            <a:ext cx="1463040" cy="1828800"/>
          </a:xfrm>
          <a:custGeom>
            <a:avLst/>
            <a:gdLst/>
            <a:ahLst/>
            <a:cxnLst/>
            <a:rect l="l" t="t" r="r" b="b"/>
            <a:pathLst>
              <a:path w="1463040" h="1828800">
                <a:moveTo>
                  <a:pt x="585216" y="0"/>
                </a:moveTo>
                <a:lnTo>
                  <a:pt x="585216" y="548640"/>
                </a:lnTo>
                <a:lnTo>
                  <a:pt x="0" y="1828800"/>
                </a:lnTo>
                <a:lnTo>
                  <a:pt x="1463040" y="1828800"/>
                </a:lnTo>
                <a:lnTo>
                  <a:pt x="877824" y="548640"/>
                </a:lnTo>
                <a:lnTo>
                  <a:pt x="877824" y="0"/>
                </a:lnTo>
              </a:path>
            </a:pathLst>
          </a:custGeom>
          <a:ln w="19050">
            <a:solidFill>
              <a:srgbClr val="2A1F3D"/>
            </a:solidFill>
            <a:prstDash val="solid"/>
          </a:ln>
        </p:spPr>
      </p:sp>
      <p:sp>
        <p:nvSpPr>
          <p:cNvPr id="19" name="Shape 17"/>
          <p:cNvSpPr/>
          <p:nvPr/>
        </p:nvSpPr>
        <p:spPr>
          <a:xfrm>
            <a:off x="1545336" y="2212848"/>
            <a:ext cx="54864" cy="54864"/>
          </a:xfrm>
          <a:prstGeom prst="ellipse">
            <a:avLst/>
          </a:prstGeom>
          <a:solidFill>
            <a:srgbClr val="9A7A3A"/>
          </a:solidFill>
          <a:ln w="9525">
            <a:solidFill>
              <a:srgbClr val="9A7A3A"/>
            </a:solidFill>
            <a:prstDash val="solid"/>
          </a:ln>
        </p:spPr>
      </p:sp>
      <p:sp>
        <p:nvSpPr>
          <p:cNvPr id="20" name="Shape 18"/>
          <p:cNvSpPr/>
          <p:nvPr/>
        </p:nvSpPr>
        <p:spPr>
          <a:xfrm>
            <a:off x="1627632" y="2212848"/>
            <a:ext cx="54864" cy="54864"/>
          </a:xfrm>
          <a:prstGeom prst="ellipse">
            <a:avLst/>
          </a:prstGeom>
          <a:solidFill>
            <a:srgbClr val="9A7A3A"/>
          </a:solidFill>
          <a:ln w="9525">
            <a:solidFill>
              <a:srgbClr val="9A7A3A"/>
            </a:solidFill>
            <a:prstDash val="solid"/>
          </a:ln>
        </p:spPr>
      </p:sp>
      <p:sp>
        <p:nvSpPr>
          <p:cNvPr id="21" name="Shape 19"/>
          <p:cNvSpPr/>
          <p:nvPr/>
        </p:nvSpPr>
        <p:spPr>
          <a:xfrm>
            <a:off x="1709928" y="2212848"/>
            <a:ext cx="54864" cy="54864"/>
          </a:xfrm>
          <a:prstGeom prst="ellipse">
            <a:avLst/>
          </a:prstGeom>
          <a:solidFill>
            <a:srgbClr val="9A7A3A"/>
          </a:solidFill>
          <a:ln w="9525">
            <a:solidFill>
              <a:srgbClr val="9A7A3A"/>
            </a:solidFill>
            <a:prstDash val="solid"/>
          </a:ln>
        </p:spPr>
      </p:sp>
      <p:sp>
        <p:nvSpPr>
          <p:cNvPr id="22" name="Shape 20"/>
          <p:cNvSpPr/>
          <p:nvPr/>
        </p:nvSpPr>
        <p:spPr>
          <a:xfrm>
            <a:off x="1792224" y="2212848"/>
            <a:ext cx="54864" cy="54864"/>
          </a:xfrm>
          <a:prstGeom prst="ellipse">
            <a:avLst/>
          </a:prstGeom>
          <a:solidFill>
            <a:srgbClr val="9A7A3A"/>
          </a:solidFill>
          <a:ln w="9525">
            <a:solidFill>
              <a:srgbClr val="9A7A3A"/>
            </a:solidFill>
            <a:prstDash val="solid"/>
          </a:ln>
        </p:spPr>
      </p:sp>
      <p:sp>
        <p:nvSpPr>
          <p:cNvPr id="23" name="Shape 21"/>
          <p:cNvSpPr/>
          <p:nvPr/>
        </p:nvSpPr>
        <p:spPr>
          <a:xfrm>
            <a:off x="1874520" y="2212848"/>
            <a:ext cx="54864" cy="54864"/>
          </a:xfrm>
          <a:prstGeom prst="ellipse">
            <a:avLst/>
          </a:prstGeom>
          <a:solidFill>
            <a:srgbClr val="9A7A3A"/>
          </a:solidFill>
          <a:ln w="9525">
            <a:solidFill>
              <a:srgbClr val="9A7A3A"/>
            </a:solidFill>
            <a:prstDash val="solid"/>
          </a:ln>
        </p:spPr>
      </p:sp>
      <p:sp>
        <p:nvSpPr>
          <p:cNvPr id="24" name="Shape 22"/>
          <p:cNvSpPr/>
          <p:nvPr/>
        </p:nvSpPr>
        <p:spPr>
          <a:xfrm>
            <a:off x="1545336" y="2286000"/>
            <a:ext cx="54864" cy="54864"/>
          </a:xfrm>
          <a:prstGeom prst="ellipse">
            <a:avLst/>
          </a:prstGeom>
          <a:solidFill>
            <a:srgbClr val="9A7A3A"/>
          </a:solidFill>
          <a:ln w="9525">
            <a:solidFill>
              <a:srgbClr val="9A7A3A"/>
            </a:solidFill>
            <a:prstDash val="solid"/>
          </a:ln>
        </p:spPr>
      </p:sp>
      <p:sp>
        <p:nvSpPr>
          <p:cNvPr id="25" name="Shape 23"/>
          <p:cNvSpPr/>
          <p:nvPr/>
        </p:nvSpPr>
        <p:spPr>
          <a:xfrm>
            <a:off x="1627632" y="2286000"/>
            <a:ext cx="54864" cy="54864"/>
          </a:xfrm>
          <a:prstGeom prst="ellipse">
            <a:avLst/>
          </a:prstGeom>
          <a:solidFill>
            <a:srgbClr val="9A7A3A"/>
          </a:solidFill>
          <a:ln w="9525">
            <a:solidFill>
              <a:srgbClr val="9A7A3A"/>
            </a:solidFill>
            <a:prstDash val="solid"/>
          </a:ln>
        </p:spPr>
      </p:sp>
      <p:sp>
        <p:nvSpPr>
          <p:cNvPr id="26" name="Shape 24"/>
          <p:cNvSpPr/>
          <p:nvPr/>
        </p:nvSpPr>
        <p:spPr>
          <a:xfrm>
            <a:off x="1709928" y="2286000"/>
            <a:ext cx="54864" cy="54864"/>
          </a:xfrm>
          <a:prstGeom prst="ellipse">
            <a:avLst/>
          </a:prstGeom>
          <a:solidFill>
            <a:srgbClr val="9A7A3A"/>
          </a:solidFill>
          <a:ln w="9525">
            <a:solidFill>
              <a:srgbClr val="9A7A3A"/>
            </a:solidFill>
            <a:prstDash val="solid"/>
          </a:ln>
        </p:spPr>
      </p:sp>
      <p:sp>
        <p:nvSpPr>
          <p:cNvPr id="27" name="Shape 25"/>
          <p:cNvSpPr/>
          <p:nvPr/>
        </p:nvSpPr>
        <p:spPr>
          <a:xfrm>
            <a:off x="1792224" y="2286000"/>
            <a:ext cx="54864" cy="54864"/>
          </a:xfrm>
          <a:prstGeom prst="ellipse">
            <a:avLst/>
          </a:prstGeom>
          <a:solidFill>
            <a:srgbClr val="9A7A3A"/>
          </a:solidFill>
          <a:ln w="9525">
            <a:solidFill>
              <a:srgbClr val="9A7A3A"/>
            </a:solidFill>
            <a:prstDash val="solid"/>
          </a:ln>
        </p:spPr>
      </p:sp>
      <p:sp>
        <p:nvSpPr>
          <p:cNvPr id="28" name="Shape 26"/>
          <p:cNvSpPr/>
          <p:nvPr/>
        </p:nvSpPr>
        <p:spPr>
          <a:xfrm>
            <a:off x="1874520" y="2286000"/>
            <a:ext cx="54864" cy="54864"/>
          </a:xfrm>
          <a:prstGeom prst="ellipse">
            <a:avLst/>
          </a:prstGeom>
          <a:solidFill>
            <a:srgbClr val="9A7A3A"/>
          </a:solidFill>
          <a:ln w="9525">
            <a:solidFill>
              <a:srgbClr val="9A7A3A"/>
            </a:solidFill>
            <a:prstDash val="solid"/>
          </a:ln>
        </p:spPr>
      </p:sp>
      <p:sp>
        <p:nvSpPr>
          <p:cNvPr id="29" name="Text 27"/>
          <p:cNvSpPr/>
          <p:nvPr/>
        </p:nvSpPr>
        <p:spPr>
          <a:xfrm>
            <a:off x="502920" y="1298448"/>
            <a:ext cx="1188720"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filter paper</a:t>
            </a:r>
            <a:endParaRPr lang="en-US" sz="1000" dirty="0"/>
          </a:p>
        </p:txBody>
      </p:sp>
      <p:sp>
        <p:nvSpPr>
          <p:cNvPr id="30" name="Shape 28"/>
          <p:cNvSpPr/>
          <p:nvPr/>
        </p:nvSpPr>
        <p:spPr>
          <a:xfrm>
            <a:off x="475488" y="1408176"/>
            <a:ext cx="758952" cy="256032"/>
          </a:xfrm>
          <a:prstGeom prst="line">
            <a:avLst/>
          </a:prstGeom>
          <a:noFill/>
          <a:ln w="9525">
            <a:solidFill>
              <a:srgbClr val="8A8F99"/>
            </a:solidFill>
            <a:prstDash val="solid"/>
          </a:ln>
        </p:spPr>
      </p:sp>
      <p:sp>
        <p:nvSpPr>
          <p:cNvPr id="31" name="Text 29"/>
          <p:cNvSpPr/>
          <p:nvPr/>
        </p:nvSpPr>
        <p:spPr>
          <a:xfrm>
            <a:off x="2514600" y="2011680"/>
            <a:ext cx="1005840" cy="365760"/>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residue</a:t>
            </a:r>
            <a:r>
              <a:rPr lang="en-US" sz="1000" dirty="0">
                <a:solidFill>
                  <a:srgbClr val="262B3A"/>
                </a:solidFill>
                <a:latin typeface="Calibri" pitchFamily="34" charset="0"/>
                <a:ea typeface="Calibri" pitchFamily="34" charset="-122"/>
                <a:cs typeface="Calibri" pitchFamily="34" charset="-120"/>
              </a:rPr>
              <a:t> (sand)</a:t>
            </a:r>
            <a:endParaRPr lang="en-US" sz="1000" dirty="0"/>
          </a:p>
        </p:txBody>
      </p:sp>
      <p:sp>
        <p:nvSpPr>
          <p:cNvPr id="32" name="Shape 30"/>
          <p:cNvSpPr/>
          <p:nvPr/>
        </p:nvSpPr>
        <p:spPr>
          <a:xfrm flipH="1">
            <a:off x="1828800" y="2194560"/>
            <a:ext cx="658368" cy="45720"/>
          </a:xfrm>
          <a:prstGeom prst="line">
            <a:avLst/>
          </a:prstGeom>
          <a:noFill/>
          <a:ln w="9525">
            <a:solidFill>
              <a:srgbClr val="8A8F99"/>
            </a:solidFill>
            <a:prstDash val="solid"/>
          </a:ln>
        </p:spPr>
      </p:sp>
      <p:sp>
        <p:nvSpPr>
          <p:cNvPr id="33" name="Text 31"/>
          <p:cNvSpPr/>
          <p:nvPr/>
        </p:nvSpPr>
        <p:spPr>
          <a:xfrm>
            <a:off x="2606040" y="4023360"/>
            <a:ext cx="914400" cy="365760"/>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filtrate</a:t>
            </a:r>
            <a:r>
              <a:rPr lang="en-US" sz="1000" dirty="0">
                <a:solidFill>
                  <a:srgbClr val="262B3A"/>
                </a:solidFill>
                <a:latin typeface="Calibri" pitchFamily="34" charset="0"/>
                <a:ea typeface="Calibri" pitchFamily="34" charset="-122"/>
                <a:cs typeface="Calibri" pitchFamily="34" charset="-120"/>
              </a:rPr>
              <a:t> (salt solution)</a:t>
            </a:r>
            <a:endParaRPr lang="en-US" sz="1000" dirty="0"/>
          </a:p>
        </p:txBody>
      </p:sp>
      <p:sp>
        <p:nvSpPr>
          <p:cNvPr id="34" name="Shape 32"/>
          <p:cNvSpPr/>
          <p:nvPr/>
        </p:nvSpPr>
        <p:spPr>
          <a:xfrm flipH="1" flipV="1">
            <a:off x="2286000" y="4160520"/>
            <a:ext cx="292608" cy="45720"/>
          </a:xfrm>
          <a:prstGeom prst="line">
            <a:avLst/>
          </a:prstGeom>
          <a:noFill/>
          <a:ln w="9525">
            <a:solidFill>
              <a:srgbClr val="8A8F99"/>
            </a:solidFill>
            <a:prstDash val="solid"/>
          </a:ln>
        </p:spPr>
      </p:sp>
      <p:sp>
        <p:nvSpPr>
          <p:cNvPr id="35" name="Shape 33"/>
          <p:cNvSpPr/>
          <p:nvPr/>
        </p:nvSpPr>
        <p:spPr>
          <a:xfrm>
            <a:off x="3931920" y="3291840"/>
            <a:ext cx="1280160" cy="45720"/>
          </a:xfrm>
          <a:prstGeom prst="rect">
            <a:avLst/>
          </a:prstGeom>
          <a:solidFill>
            <a:srgbClr val="9AA3B0"/>
          </a:solidFill>
          <a:ln w="9525">
            <a:solidFill>
              <a:srgbClr val="5A6275"/>
            </a:solidFill>
            <a:prstDash val="solid"/>
          </a:ln>
        </p:spPr>
      </p:sp>
      <p:sp>
        <p:nvSpPr>
          <p:cNvPr id="36" name="Shape 34"/>
          <p:cNvSpPr/>
          <p:nvPr/>
        </p:nvSpPr>
        <p:spPr>
          <a:xfrm flipH="1">
            <a:off x="3931920" y="3337560"/>
            <a:ext cx="91440" cy="1280160"/>
          </a:xfrm>
          <a:prstGeom prst="line">
            <a:avLst/>
          </a:prstGeom>
          <a:noFill/>
          <a:ln w="25400">
            <a:solidFill>
              <a:srgbClr val="5A6275"/>
            </a:solidFill>
            <a:prstDash val="solid"/>
          </a:ln>
        </p:spPr>
      </p:sp>
      <p:sp>
        <p:nvSpPr>
          <p:cNvPr id="37" name="Shape 35"/>
          <p:cNvSpPr/>
          <p:nvPr/>
        </p:nvSpPr>
        <p:spPr>
          <a:xfrm>
            <a:off x="5120640" y="3337560"/>
            <a:ext cx="91440" cy="1280160"/>
          </a:xfrm>
          <a:prstGeom prst="line">
            <a:avLst/>
          </a:prstGeom>
          <a:noFill/>
          <a:ln w="25400">
            <a:solidFill>
              <a:srgbClr val="5A6275"/>
            </a:solidFill>
            <a:prstDash val="solid"/>
          </a:ln>
        </p:spPr>
      </p:sp>
      <p:sp>
        <p:nvSpPr>
          <p:cNvPr id="38" name="Shape 36"/>
          <p:cNvSpPr/>
          <p:nvPr/>
        </p:nvSpPr>
        <p:spPr>
          <a:xfrm>
            <a:off x="4343400" y="4544568"/>
            <a:ext cx="457200" cy="73152"/>
          </a:xfrm>
          <a:prstGeom prst="rect">
            <a:avLst/>
          </a:prstGeom>
          <a:solidFill>
            <a:srgbClr val="5A6275"/>
          </a:solidFill>
          <a:ln w="12700">
            <a:solidFill>
              <a:srgbClr val="3A4255"/>
            </a:solidFill>
            <a:prstDash val="solid"/>
          </a:ln>
        </p:spPr>
      </p:sp>
      <p:sp>
        <p:nvSpPr>
          <p:cNvPr id="39" name="Shape 37"/>
          <p:cNvSpPr/>
          <p:nvPr/>
        </p:nvSpPr>
        <p:spPr>
          <a:xfrm>
            <a:off x="4517136" y="4021074"/>
            <a:ext cx="109728" cy="523494"/>
          </a:xfrm>
          <a:prstGeom prst="rect">
            <a:avLst/>
          </a:prstGeom>
          <a:solidFill>
            <a:srgbClr val="8C96A8"/>
          </a:solidFill>
          <a:ln w="9525">
            <a:solidFill>
              <a:srgbClr val="5A6275"/>
            </a:solidFill>
            <a:prstDash val="solid"/>
          </a:ln>
        </p:spPr>
      </p:sp>
      <p:sp>
        <p:nvSpPr>
          <p:cNvPr id="40" name="Shape 38"/>
          <p:cNvSpPr/>
          <p:nvPr/>
        </p:nvSpPr>
        <p:spPr>
          <a:xfrm>
            <a:off x="4471416" y="3563874"/>
            <a:ext cx="201168" cy="457200"/>
          </a:xfrm>
          <a:prstGeom prst="triangle">
            <a:avLst/>
          </a:prstGeom>
          <a:solidFill>
            <a:srgbClr val="5B8DEF"/>
          </a:solidFill>
          <a:ln w="9525">
            <a:solidFill>
              <a:srgbClr val="2F5FBF"/>
            </a:solidFill>
            <a:prstDash val="solid"/>
          </a:ln>
        </p:spPr>
      </p:sp>
      <p:sp>
        <p:nvSpPr>
          <p:cNvPr id="41" name="Shape 39"/>
          <p:cNvSpPr/>
          <p:nvPr/>
        </p:nvSpPr>
        <p:spPr>
          <a:xfrm>
            <a:off x="4526280" y="3746754"/>
            <a:ext cx="91440" cy="274320"/>
          </a:xfrm>
          <a:prstGeom prst="triangle">
            <a:avLst/>
          </a:prstGeom>
          <a:solidFill>
            <a:srgbClr val="BFD4FB"/>
          </a:solidFill>
          <a:ln/>
        </p:spPr>
      </p:sp>
      <p:sp>
        <p:nvSpPr>
          <p:cNvPr id="42" name="Shape 40"/>
          <p:cNvSpPr/>
          <p:nvPr/>
        </p:nvSpPr>
        <p:spPr>
          <a:xfrm>
            <a:off x="4023360" y="2606040"/>
            <a:ext cx="1097280" cy="685800"/>
          </a:xfrm>
          <a:prstGeom prst="rect">
            <a:avLst/>
          </a:prstGeom>
          <a:solidFill>
            <a:srgbClr val="EEF5FB"/>
          </a:solidFill>
          <a:ln/>
        </p:spPr>
      </p:sp>
      <p:sp>
        <p:nvSpPr>
          <p:cNvPr id="43" name="Shape 41"/>
          <p:cNvSpPr/>
          <p:nvPr/>
        </p:nvSpPr>
        <p:spPr>
          <a:xfrm>
            <a:off x="4023360" y="2777490"/>
            <a:ext cx="1097280" cy="514350"/>
          </a:xfrm>
          <a:prstGeom prst="rect">
            <a:avLst/>
          </a:prstGeom>
          <a:solidFill>
            <a:srgbClr val="CFE4F7"/>
          </a:solidFill>
          <a:ln/>
        </p:spPr>
      </p:sp>
      <p:sp>
        <p:nvSpPr>
          <p:cNvPr id="44" name="Shape 42"/>
          <p:cNvSpPr/>
          <p:nvPr/>
        </p:nvSpPr>
        <p:spPr>
          <a:xfrm>
            <a:off x="4023360" y="2777490"/>
            <a:ext cx="1097280" cy="91"/>
          </a:xfrm>
          <a:prstGeom prst="line">
            <a:avLst/>
          </a:prstGeom>
          <a:noFill/>
          <a:ln w="12700">
            <a:solidFill>
              <a:srgbClr val="5B9BD5"/>
            </a:solidFill>
            <a:prstDash val="solid"/>
          </a:ln>
        </p:spPr>
      </p:sp>
      <p:sp>
        <p:nvSpPr>
          <p:cNvPr id="45" name="Shape 43"/>
          <p:cNvSpPr/>
          <p:nvPr/>
        </p:nvSpPr>
        <p:spPr>
          <a:xfrm>
            <a:off x="4023360" y="2606040"/>
            <a:ext cx="91" cy="685800"/>
          </a:xfrm>
          <a:prstGeom prst="line">
            <a:avLst/>
          </a:prstGeom>
          <a:noFill/>
          <a:ln w="19050">
            <a:solidFill>
              <a:srgbClr val="2A1F3D"/>
            </a:solidFill>
            <a:prstDash val="solid"/>
          </a:ln>
        </p:spPr>
      </p:sp>
      <p:sp>
        <p:nvSpPr>
          <p:cNvPr id="46" name="Shape 44"/>
          <p:cNvSpPr/>
          <p:nvPr/>
        </p:nvSpPr>
        <p:spPr>
          <a:xfrm>
            <a:off x="5120640" y="2606040"/>
            <a:ext cx="91" cy="685800"/>
          </a:xfrm>
          <a:prstGeom prst="line">
            <a:avLst/>
          </a:prstGeom>
          <a:noFill/>
          <a:ln w="19050">
            <a:solidFill>
              <a:srgbClr val="2A1F3D"/>
            </a:solidFill>
            <a:prstDash val="solid"/>
          </a:ln>
        </p:spPr>
      </p:sp>
      <p:sp>
        <p:nvSpPr>
          <p:cNvPr id="47" name="Shape 45"/>
          <p:cNvSpPr/>
          <p:nvPr/>
        </p:nvSpPr>
        <p:spPr>
          <a:xfrm>
            <a:off x="4023360" y="3291840"/>
            <a:ext cx="1097280" cy="91"/>
          </a:xfrm>
          <a:prstGeom prst="line">
            <a:avLst/>
          </a:prstGeom>
          <a:noFill/>
          <a:ln w="19050">
            <a:solidFill>
              <a:srgbClr val="2A1F3D"/>
            </a:solidFill>
            <a:prstDash val="solid"/>
          </a:ln>
        </p:spPr>
      </p:sp>
      <p:sp>
        <p:nvSpPr>
          <p:cNvPr id="48" name="Shape 46"/>
          <p:cNvSpPr/>
          <p:nvPr/>
        </p:nvSpPr>
        <p:spPr>
          <a:xfrm>
            <a:off x="3968496" y="2606040"/>
            <a:ext cx="54864" cy="91"/>
          </a:xfrm>
          <a:prstGeom prst="line">
            <a:avLst/>
          </a:prstGeom>
          <a:noFill/>
          <a:ln w="19050">
            <a:solidFill>
              <a:srgbClr val="2A1F3D"/>
            </a:solidFill>
            <a:prstDash val="solid"/>
          </a:ln>
        </p:spPr>
      </p:sp>
      <p:sp>
        <p:nvSpPr>
          <p:cNvPr id="49" name="Shape 47"/>
          <p:cNvSpPr/>
          <p:nvPr/>
        </p:nvSpPr>
        <p:spPr>
          <a:xfrm>
            <a:off x="5120640" y="2606040"/>
            <a:ext cx="54864" cy="91"/>
          </a:xfrm>
          <a:prstGeom prst="line">
            <a:avLst/>
          </a:prstGeom>
          <a:noFill/>
          <a:ln w="19050">
            <a:solidFill>
              <a:srgbClr val="2A1F3D"/>
            </a:solidFill>
            <a:prstDash val="solid"/>
          </a:ln>
        </p:spPr>
      </p:sp>
      <p:sp>
        <p:nvSpPr>
          <p:cNvPr id="50" name="Shape 48"/>
          <p:cNvSpPr/>
          <p:nvPr/>
        </p:nvSpPr>
        <p:spPr>
          <a:xfrm>
            <a:off x="3909060" y="2395728"/>
            <a:ext cx="1325880" cy="347472"/>
          </a:xfrm>
          <a:custGeom>
            <a:avLst/>
            <a:gdLst/>
            <a:ahLst/>
            <a:cxnLst/>
            <a:rect l="l" t="t" r="r" b="b"/>
            <a:pathLst>
              <a:path w="1325880" h="347472">
                <a:moveTo>
                  <a:pt x="1325880" y="0"/>
                </a:moveTo>
                <a:lnTo>
                  <a:pt x="1320208" y="45354"/>
                </a:lnTo>
                <a:lnTo>
                  <a:pt x="1303291" y="89932"/>
                </a:lnTo>
                <a:lnTo>
                  <a:pt x="1275417" y="132972"/>
                </a:lnTo>
                <a:lnTo>
                  <a:pt x="1237063" y="173736"/>
                </a:lnTo>
                <a:lnTo>
                  <a:pt x="1188886" y="211528"/>
                </a:lnTo>
                <a:lnTo>
                  <a:pt x="1131709" y="245700"/>
                </a:lnTo>
                <a:lnTo>
                  <a:pt x="1066512" y="275668"/>
                </a:lnTo>
                <a:lnTo>
                  <a:pt x="994410" y="300920"/>
                </a:lnTo>
                <a:lnTo>
                  <a:pt x="916636" y="321022"/>
                </a:lnTo>
                <a:lnTo>
                  <a:pt x="834521" y="335632"/>
                </a:lnTo>
                <a:lnTo>
                  <a:pt x="749471" y="344499"/>
                </a:lnTo>
                <a:lnTo>
                  <a:pt x="662940" y="347472"/>
                </a:lnTo>
                <a:lnTo>
                  <a:pt x="576409" y="344499"/>
                </a:lnTo>
                <a:lnTo>
                  <a:pt x="491359" y="335632"/>
                </a:lnTo>
                <a:lnTo>
                  <a:pt x="409244" y="321022"/>
                </a:lnTo>
                <a:lnTo>
                  <a:pt x="331470" y="300920"/>
                </a:lnTo>
                <a:lnTo>
                  <a:pt x="259368" y="275668"/>
                </a:lnTo>
                <a:lnTo>
                  <a:pt x="194171" y="245700"/>
                </a:lnTo>
                <a:lnTo>
                  <a:pt x="136994" y="211528"/>
                </a:lnTo>
                <a:lnTo>
                  <a:pt x="88817" y="173736"/>
                </a:lnTo>
                <a:lnTo>
                  <a:pt x="50463" y="132972"/>
                </a:lnTo>
                <a:lnTo>
                  <a:pt x="22589" y="89932"/>
                </a:lnTo>
                <a:lnTo>
                  <a:pt x="5672" y="45354"/>
                </a:lnTo>
                <a:lnTo>
                  <a:pt x="0" y="0"/>
                </a:lnTo>
                <a:close/>
              </a:path>
            </a:pathLst>
          </a:custGeom>
          <a:solidFill>
            <a:srgbClr val="F4F4F4"/>
          </a:solidFill>
          <a:ln/>
        </p:spPr>
      </p:sp>
      <p:sp>
        <p:nvSpPr>
          <p:cNvPr id="51" name="Shape 49"/>
          <p:cNvSpPr/>
          <p:nvPr/>
        </p:nvSpPr>
        <p:spPr>
          <a:xfrm>
            <a:off x="3949252" y="2514875"/>
            <a:ext cx="1245495" cy="228325"/>
          </a:xfrm>
          <a:custGeom>
            <a:avLst/>
            <a:gdLst/>
            <a:ahLst/>
            <a:cxnLst/>
            <a:rect l="l" t="t" r="r" b="b"/>
            <a:pathLst>
              <a:path w="1245495" h="228325">
                <a:moveTo>
                  <a:pt x="1245495" y="0"/>
                </a:moveTo>
                <a:lnTo>
                  <a:pt x="1219190" y="32533"/>
                </a:lnTo>
                <a:lnTo>
                  <a:pt x="1186716" y="63497"/>
                </a:lnTo>
                <a:lnTo>
                  <a:pt x="1148411" y="92573"/>
                </a:lnTo>
                <a:lnTo>
                  <a:pt x="1104669" y="119460"/>
                </a:lnTo>
                <a:lnTo>
                  <a:pt x="1055945" y="143879"/>
                </a:lnTo>
                <a:lnTo>
                  <a:pt x="1002741" y="165578"/>
                </a:lnTo>
                <a:lnTo>
                  <a:pt x="945607" y="184333"/>
                </a:lnTo>
                <a:lnTo>
                  <a:pt x="885135" y="199950"/>
                </a:lnTo>
                <a:lnTo>
                  <a:pt x="821950" y="212267"/>
                </a:lnTo>
                <a:lnTo>
                  <a:pt x="756705" y="221157"/>
                </a:lnTo>
                <a:lnTo>
                  <a:pt x="690074" y="226528"/>
                </a:lnTo>
                <a:lnTo>
                  <a:pt x="622748" y="228325"/>
                </a:lnTo>
                <a:lnTo>
                  <a:pt x="555421" y="226528"/>
                </a:lnTo>
                <a:lnTo>
                  <a:pt x="488791" y="221157"/>
                </a:lnTo>
                <a:lnTo>
                  <a:pt x="423546" y="212267"/>
                </a:lnTo>
                <a:lnTo>
                  <a:pt x="360360" y="199950"/>
                </a:lnTo>
                <a:lnTo>
                  <a:pt x="299888" y="184333"/>
                </a:lnTo>
                <a:lnTo>
                  <a:pt x="242755" y="165578"/>
                </a:lnTo>
                <a:lnTo>
                  <a:pt x="189551" y="143879"/>
                </a:lnTo>
                <a:lnTo>
                  <a:pt x="140826" y="119460"/>
                </a:lnTo>
                <a:lnTo>
                  <a:pt x="97085" y="92573"/>
                </a:lnTo>
                <a:lnTo>
                  <a:pt x="58780" y="63497"/>
                </a:lnTo>
                <a:lnTo>
                  <a:pt x="26306" y="32533"/>
                </a:lnTo>
                <a:lnTo>
                  <a:pt x="0" y="0"/>
                </a:lnTo>
                <a:close/>
              </a:path>
            </a:pathLst>
          </a:custGeom>
          <a:solidFill>
            <a:srgbClr val="DCEBF5"/>
          </a:solidFill>
          <a:ln/>
        </p:spPr>
      </p:sp>
      <p:sp>
        <p:nvSpPr>
          <p:cNvPr id="52" name="Shape 50"/>
          <p:cNvSpPr/>
          <p:nvPr/>
        </p:nvSpPr>
        <p:spPr>
          <a:xfrm>
            <a:off x="3909060" y="2395728"/>
            <a:ext cx="1325880" cy="347472"/>
          </a:xfrm>
          <a:custGeom>
            <a:avLst/>
            <a:gdLst/>
            <a:ahLst/>
            <a:cxnLst/>
            <a:rect l="l" t="t" r="r" b="b"/>
            <a:pathLst>
              <a:path w="1325880" h="347472">
                <a:moveTo>
                  <a:pt x="1325880" y="0"/>
                </a:moveTo>
                <a:lnTo>
                  <a:pt x="1320208" y="45354"/>
                </a:lnTo>
                <a:lnTo>
                  <a:pt x="1303291" y="89932"/>
                </a:lnTo>
                <a:lnTo>
                  <a:pt x="1275417" y="132972"/>
                </a:lnTo>
                <a:lnTo>
                  <a:pt x="1237063" y="173736"/>
                </a:lnTo>
                <a:lnTo>
                  <a:pt x="1188886" y="211528"/>
                </a:lnTo>
                <a:lnTo>
                  <a:pt x="1131709" y="245700"/>
                </a:lnTo>
                <a:lnTo>
                  <a:pt x="1066512" y="275668"/>
                </a:lnTo>
                <a:lnTo>
                  <a:pt x="994410" y="300920"/>
                </a:lnTo>
                <a:lnTo>
                  <a:pt x="916636" y="321022"/>
                </a:lnTo>
                <a:lnTo>
                  <a:pt x="834521" y="335632"/>
                </a:lnTo>
                <a:lnTo>
                  <a:pt x="749471" y="344499"/>
                </a:lnTo>
                <a:lnTo>
                  <a:pt x="662940" y="347472"/>
                </a:lnTo>
                <a:lnTo>
                  <a:pt x="576409" y="344499"/>
                </a:lnTo>
                <a:lnTo>
                  <a:pt x="491359" y="335632"/>
                </a:lnTo>
                <a:lnTo>
                  <a:pt x="409244" y="321022"/>
                </a:lnTo>
                <a:lnTo>
                  <a:pt x="331470" y="300920"/>
                </a:lnTo>
                <a:lnTo>
                  <a:pt x="259368" y="275668"/>
                </a:lnTo>
                <a:lnTo>
                  <a:pt x="194171" y="245700"/>
                </a:lnTo>
                <a:lnTo>
                  <a:pt x="136994" y="211528"/>
                </a:lnTo>
                <a:lnTo>
                  <a:pt x="88817" y="173736"/>
                </a:lnTo>
                <a:lnTo>
                  <a:pt x="50463" y="132972"/>
                </a:lnTo>
                <a:lnTo>
                  <a:pt x="22589" y="89932"/>
                </a:lnTo>
                <a:lnTo>
                  <a:pt x="5672" y="45354"/>
                </a:lnTo>
                <a:lnTo>
                  <a:pt x="0" y="0"/>
                </a:lnTo>
              </a:path>
            </a:pathLst>
          </a:custGeom>
          <a:ln w="19050">
            <a:solidFill>
              <a:srgbClr val="2A1F3D"/>
            </a:solidFill>
            <a:prstDash val="solid"/>
          </a:ln>
        </p:spPr>
      </p:sp>
      <p:sp>
        <p:nvSpPr>
          <p:cNvPr id="53" name="Shape 51"/>
          <p:cNvSpPr/>
          <p:nvPr/>
        </p:nvSpPr>
        <p:spPr>
          <a:xfrm>
            <a:off x="3909060" y="2395728"/>
            <a:ext cx="1325880" cy="91"/>
          </a:xfrm>
          <a:prstGeom prst="line">
            <a:avLst/>
          </a:prstGeom>
          <a:noFill/>
          <a:ln w="19050">
            <a:solidFill>
              <a:srgbClr val="2A1F3D"/>
            </a:solidFill>
            <a:prstDash val="solid"/>
          </a:ln>
        </p:spPr>
      </p:sp>
      <p:sp>
        <p:nvSpPr>
          <p:cNvPr id="54" name="Shape 52"/>
          <p:cNvSpPr/>
          <p:nvPr/>
        </p:nvSpPr>
        <p:spPr>
          <a:xfrm>
            <a:off x="4174693" y="2504542"/>
            <a:ext cx="131674" cy="164592"/>
          </a:xfrm>
          <a:custGeom>
            <a:avLst/>
            <a:gdLst/>
            <a:ahLst/>
            <a:cxnLst/>
            <a:rect l="l" t="t" r="r" b="b"/>
            <a:pathLst>
              <a:path w="131674" h="164592">
                <a:moveTo>
                  <a:pt x="65837" y="0"/>
                </a:moveTo>
                <a:lnTo>
                  <a:pt x="131674" y="82296"/>
                </a:lnTo>
                <a:lnTo>
                  <a:pt x="65837" y="164592"/>
                </a:lnTo>
                <a:lnTo>
                  <a:pt x="0" y="82296"/>
                </a:lnTo>
                <a:close/>
              </a:path>
            </a:pathLst>
          </a:custGeom>
          <a:solidFill>
            <a:srgbClr val="7FB8E6"/>
          </a:solidFill>
          <a:ln w="9525">
            <a:solidFill>
              <a:srgbClr val="2F6FA8"/>
            </a:solidFill>
            <a:prstDash val="solid"/>
          </a:ln>
        </p:spPr>
      </p:sp>
      <p:sp>
        <p:nvSpPr>
          <p:cNvPr id="55" name="Shape 53"/>
          <p:cNvSpPr/>
          <p:nvPr/>
        </p:nvSpPr>
        <p:spPr>
          <a:xfrm>
            <a:off x="4395673" y="2458822"/>
            <a:ext cx="131674" cy="164592"/>
          </a:xfrm>
          <a:custGeom>
            <a:avLst/>
            <a:gdLst/>
            <a:ahLst/>
            <a:cxnLst/>
            <a:rect l="l" t="t" r="r" b="b"/>
            <a:pathLst>
              <a:path w="131674" h="164592">
                <a:moveTo>
                  <a:pt x="65837" y="0"/>
                </a:moveTo>
                <a:lnTo>
                  <a:pt x="131674" y="82296"/>
                </a:lnTo>
                <a:lnTo>
                  <a:pt x="65837" y="164592"/>
                </a:lnTo>
                <a:lnTo>
                  <a:pt x="0" y="82296"/>
                </a:lnTo>
                <a:close/>
              </a:path>
            </a:pathLst>
          </a:custGeom>
          <a:solidFill>
            <a:srgbClr val="7FB8E6"/>
          </a:solidFill>
          <a:ln w="9525">
            <a:solidFill>
              <a:srgbClr val="2F6FA8"/>
            </a:solidFill>
            <a:prstDash val="solid"/>
          </a:ln>
        </p:spPr>
      </p:sp>
      <p:sp>
        <p:nvSpPr>
          <p:cNvPr id="56" name="Shape 54"/>
          <p:cNvSpPr/>
          <p:nvPr/>
        </p:nvSpPr>
        <p:spPr>
          <a:xfrm>
            <a:off x="4616653" y="2504542"/>
            <a:ext cx="131674" cy="164592"/>
          </a:xfrm>
          <a:custGeom>
            <a:avLst/>
            <a:gdLst/>
            <a:ahLst/>
            <a:cxnLst/>
            <a:rect l="l" t="t" r="r" b="b"/>
            <a:pathLst>
              <a:path w="131674" h="164592">
                <a:moveTo>
                  <a:pt x="65837" y="0"/>
                </a:moveTo>
                <a:lnTo>
                  <a:pt x="131674" y="82296"/>
                </a:lnTo>
                <a:lnTo>
                  <a:pt x="65837" y="164592"/>
                </a:lnTo>
                <a:lnTo>
                  <a:pt x="0" y="82296"/>
                </a:lnTo>
                <a:close/>
              </a:path>
            </a:pathLst>
          </a:custGeom>
          <a:solidFill>
            <a:srgbClr val="7FB8E6"/>
          </a:solidFill>
          <a:ln w="9525">
            <a:solidFill>
              <a:srgbClr val="2F6FA8"/>
            </a:solidFill>
            <a:prstDash val="solid"/>
          </a:ln>
        </p:spPr>
      </p:sp>
      <p:sp>
        <p:nvSpPr>
          <p:cNvPr id="57" name="Shape 55"/>
          <p:cNvSpPr/>
          <p:nvPr/>
        </p:nvSpPr>
        <p:spPr>
          <a:xfrm>
            <a:off x="4837633" y="2458822"/>
            <a:ext cx="131674" cy="164592"/>
          </a:xfrm>
          <a:custGeom>
            <a:avLst/>
            <a:gdLst/>
            <a:ahLst/>
            <a:cxnLst/>
            <a:rect l="l" t="t" r="r" b="b"/>
            <a:pathLst>
              <a:path w="131674" h="164592">
                <a:moveTo>
                  <a:pt x="65837" y="0"/>
                </a:moveTo>
                <a:lnTo>
                  <a:pt x="131674" y="82296"/>
                </a:lnTo>
                <a:lnTo>
                  <a:pt x="65837" y="164592"/>
                </a:lnTo>
                <a:lnTo>
                  <a:pt x="0" y="82296"/>
                </a:lnTo>
                <a:close/>
              </a:path>
            </a:pathLst>
          </a:custGeom>
          <a:solidFill>
            <a:srgbClr val="7FB8E6"/>
          </a:solidFill>
          <a:ln w="9525">
            <a:solidFill>
              <a:srgbClr val="2F6FA8"/>
            </a:solidFill>
            <a:prstDash val="solid"/>
          </a:ln>
        </p:spPr>
      </p:sp>
      <p:sp>
        <p:nvSpPr>
          <p:cNvPr id="58" name="Shape 56"/>
          <p:cNvSpPr/>
          <p:nvPr/>
        </p:nvSpPr>
        <p:spPr>
          <a:xfrm flipV="1">
            <a:off x="4251960" y="1938528"/>
            <a:ext cx="54864" cy="347472"/>
          </a:xfrm>
          <a:prstGeom prst="line">
            <a:avLst/>
          </a:prstGeom>
          <a:noFill/>
          <a:ln w="15875">
            <a:solidFill>
              <a:srgbClr val="B0B8C4"/>
            </a:solidFill>
            <a:prstDash val="sysDot"/>
          </a:ln>
        </p:spPr>
      </p:sp>
      <p:sp>
        <p:nvSpPr>
          <p:cNvPr id="59" name="Shape 57"/>
          <p:cNvSpPr/>
          <p:nvPr/>
        </p:nvSpPr>
        <p:spPr>
          <a:xfrm flipV="1">
            <a:off x="4572000" y="1938528"/>
            <a:ext cx="54864" cy="347472"/>
          </a:xfrm>
          <a:prstGeom prst="line">
            <a:avLst/>
          </a:prstGeom>
          <a:noFill/>
          <a:ln w="15875">
            <a:solidFill>
              <a:srgbClr val="B0B8C4"/>
            </a:solidFill>
            <a:prstDash val="sysDot"/>
          </a:ln>
        </p:spPr>
      </p:sp>
      <p:sp>
        <p:nvSpPr>
          <p:cNvPr id="60" name="Shape 58"/>
          <p:cNvSpPr/>
          <p:nvPr/>
        </p:nvSpPr>
        <p:spPr>
          <a:xfrm flipV="1">
            <a:off x="4892040" y="1938528"/>
            <a:ext cx="54864" cy="347472"/>
          </a:xfrm>
          <a:prstGeom prst="line">
            <a:avLst/>
          </a:prstGeom>
          <a:noFill/>
          <a:ln w="15875">
            <a:solidFill>
              <a:srgbClr val="B0B8C4"/>
            </a:solidFill>
            <a:prstDash val="sysDot"/>
          </a:ln>
        </p:spPr>
      </p:sp>
      <p:sp>
        <p:nvSpPr>
          <p:cNvPr id="61" name="Text 59"/>
          <p:cNvSpPr/>
          <p:nvPr/>
        </p:nvSpPr>
        <p:spPr>
          <a:xfrm>
            <a:off x="3611880" y="1554480"/>
            <a:ext cx="1463040"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water evaporates</a:t>
            </a:r>
            <a:endParaRPr lang="en-US" sz="1000" dirty="0"/>
          </a:p>
        </p:txBody>
      </p:sp>
      <p:sp>
        <p:nvSpPr>
          <p:cNvPr id="62" name="Shape 60"/>
          <p:cNvSpPr/>
          <p:nvPr/>
        </p:nvSpPr>
        <p:spPr>
          <a:xfrm>
            <a:off x="3584448" y="1664208"/>
            <a:ext cx="667512" cy="347472"/>
          </a:xfrm>
          <a:prstGeom prst="line">
            <a:avLst/>
          </a:prstGeom>
          <a:noFill/>
          <a:ln w="9525">
            <a:solidFill>
              <a:srgbClr val="8A8F99"/>
            </a:solidFill>
            <a:prstDash val="solid"/>
          </a:ln>
        </p:spPr>
      </p:sp>
      <p:sp>
        <p:nvSpPr>
          <p:cNvPr id="63" name="Text 61"/>
          <p:cNvSpPr/>
          <p:nvPr/>
        </p:nvSpPr>
        <p:spPr>
          <a:xfrm>
            <a:off x="5257800" y="2121408"/>
            <a:ext cx="685800" cy="384048"/>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evaporating basin</a:t>
            </a:r>
            <a:endParaRPr lang="en-US" sz="1000" dirty="0"/>
          </a:p>
        </p:txBody>
      </p:sp>
      <p:sp>
        <p:nvSpPr>
          <p:cNvPr id="64" name="Shape 62"/>
          <p:cNvSpPr/>
          <p:nvPr/>
        </p:nvSpPr>
        <p:spPr>
          <a:xfrm flipH="1">
            <a:off x="5074920" y="2313432"/>
            <a:ext cx="155448" cy="109728"/>
          </a:xfrm>
          <a:prstGeom prst="line">
            <a:avLst/>
          </a:prstGeom>
          <a:noFill/>
          <a:ln w="9525">
            <a:solidFill>
              <a:srgbClr val="8A8F99"/>
            </a:solidFill>
            <a:prstDash val="solid"/>
          </a:ln>
        </p:spPr>
      </p:sp>
      <p:sp>
        <p:nvSpPr>
          <p:cNvPr id="65" name="Text 63"/>
          <p:cNvSpPr/>
          <p:nvPr/>
        </p:nvSpPr>
        <p:spPr>
          <a:xfrm>
            <a:off x="5257800" y="2834640"/>
            <a:ext cx="685800"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water bath</a:t>
            </a:r>
            <a:endParaRPr lang="en-US" sz="1000" dirty="0"/>
          </a:p>
        </p:txBody>
      </p:sp>
      <p:sp>
        <p:nvSpPr>
          <p:cNvPr id="66" name="Shape 64"/>
          <p:cNvSpPr/>
          <p:nvPr/>
        </p:nvSpPr>
        <p:spPr>
          <a:xfrm flipH="1" flipV="1">
            <a:off x="5120640" y="2926080"/>
            <a:ext cx="109728" cy="18288"/>
          </a:xfrm>
          <a:prstGeom prst="line">
            <a:avLst/>
          </a:prstGeom>
          <a:noFill/>
          <a:ln w="9525">
            <a:solidFill>
              <a:srgbClr val="8A8F99"/>
            </a:solidFill>
            <a:prstDash val="solid"/>
          </a:ln>
        </p:spPr>
      </p:sp>
      <p:sp>
        <p:nvSpPr>
          <p:cNvPr id="67" name="Text 65"/>
          <p:cNvSpPr/>
          <p:nvPr/>
        </p:nvSpPr>
        <p:spPr>
          <a:xfrm>
            <a:off x="4800600" y="3931920"/>
            <a:ext cx="822960" cy="201168"/>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heat</a:t>
            </a:r>
            <a:endParaRPr lang="en-US" sz="1000" dirty="0"/>
          </a:p>
        </p:txBody>
      </p:sp>
      <p:sp>
        <p:nvSpPr>
          <p:cNvPr id="68" name="Text 66"/>
          <p:cNvSpPr/>
          <p:nvPr/>
        </p:nvSpPr>
        <p:spPr>
          <a:xfrm>
            <a:off x="548640" y="4846320"/>
            <a:ext cx="26517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Filtration</a:t>
            </a:r>
            <a:r>
              <a:rPr lang="en-US" sz="1050" dirty="0">
                <a:solidFill>
                  <a:srgbClr val="262B3A"/>
                </a:solidFill>
                <a:latin typeface="Calibri" pitchFamily="34" charset="0"/>
                <a:ea typeface="Calibri" pitchFamily="34" charset="-122"/>
                <a:cs typeface="Calibri" pitchFamily="34" charset="-120"/>
              </a:rPr>
              <a:t>: an </a:t>
            </a:r>
            <a:r>
              <a:rPr lang="en-US" sz="1050" b="1" dirty="0">
                <a:solidFill>
                  <a:srgbClr val="262B3A"/>
                </a:solidFill>
                <a:latin typeface="Calibri" pitchFamily="34" charset="0"/>
                <a:ea typeface="Calibri" pitchFamily="34" charset="-122"/>
                <a:cs typeface="Calibri" pitchFamily="34" charset="-120"/>
              </a:rPr>
              <a:t>insoluble</a:t>
            </a:r>
            <a:r>
              <a:rPr lang="en-US" sz="1050" dirty="0">
                <a:solidFill>
                  <a:srgbClr val="262B3A"/>
                </a:solidFill>
                <a:latin typeface="Calibri" pitchFamily="34" charset="0"/>
                <a:ea typeface="Calibri" pitchFamily="34" charset="-122"/>
                <a:cs typeface="Calibri" pitchFamily="34" charset="-120"/>
              </a:rPr>
              <a:t> solid</a:t>
            </a:r>
            <a:endParaRPr lang="en-US" sz="1050" dirty="0"/>
          </a:p>
        </p:txBody>
      </p:sp>
      <p:sp>
        <p:nvSpPr>
          <p:cNvPr id="69" name="Text 67"/>
          <p:cNvSpPr/>
          <p:nvPr/>
        </p:nvSpPr>
        <p:spPr>
          <a:xfrm>
            <a:off x="3291840" y="4846320"/>
            <a:ext cx="26517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Crystallisation</a:t>
            </a:r>
            <a:r>
              <a:rPr lang="en-US" sz="1050" dirty="0">
                <a:solidFill>
                  <a:srgbClr val="262B3A"/>
                </a:solidFill>
                <a:latin typeface="Calibri" pitchFamily="34" charset="0"/>
                <a:ea typeface="Calibri" pitchFamily="34" charset="-122"/>
                <a:cs typeface="Calibri" pitchFamily="34" charset="-120"/>
              </a:rPr>
              <a:t>: a </a:t>
            </a:r>
            <a:r>
              <a:rPr lang="en-US" sz="1050" b="1" dirty="0">
                <a:solidFill>
                  <a:srgbClr val="262B3A"/>
                </a:solidFill>
                <a:latin typeface="Calibri" pitchFamily="34" charset="0"/>
                <a:ea typeface="Calibri" pitchFamily="34" charset="-122"/>
                <a:cs typeface="Calibri" pitchFamily="34" charset="-120"/>
              </a:rPr>
              <a:t>soluble</a:t>
            </a:r>
            <a:r>
              <a:rPr lang="en-US" sz="1050" dirty="0">
                <a:solidFill>
                  <a:srgbClr val="262B3A"/>
                </a:solidFill>
                <a:latin typeface="Calibri" pitchFamily="34" charset="0"/>
                <a:ea typeface="Calibri" pitchFamily="34" charset="-122"/>
                <a:cs typeface="Calibri" pitchFamily="34" charset="-120"/>
              </a:rPr>
              <a:t> solid</a:t>
            </a:r>
            <a:endParaRPr lang="en-US" sz="1050" dirty="0"/>
          </a:p>
        </p:txBody>
      </p:sp>
      <p:sp>
        <p:nvSpPr>
          <p:cNvPr id="70" name="Shape 68"/>
          <p:cNvSpPr/>
          <p:nvPr/>
        </p:nvSpPr>
        <p:spPr>
          <a:xfrm>
            <a:off x="6217920" y="1188720"/>
            <a:ext cx="5562295" cy="3108960"/>
          </a:xfrm>
          <a:prstGeom prst="roundRect">
            <a:avLst>
              <a:gd name="adj" fmla="val 1765"/>
            </a:avLst>
          </a:prstGeom>
          <a:solidFill>
            <a:srgbClr val="F8F5FC"/>
          </a:solidFill>
          <a:ln w="9525">
            <a:solidFill>
              <a:srgbClr val="DDD3EC"/>
            </a:solidFill>
            <a:prstDash val="solid"/>
          </a:ln>
        </p:spPr>
      </p:sp>
      <p:sp>
        <p:nvSpPr>
          <p:cNvPr id="71" name="Text 6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Two separation methods</a:t>
            </a:r>
            <a:endParaRPr lang="en-US" sz="1300" dirty="0"/>
          </a:p>
        </p:txBody>
      </p:sp>
      <p:sp>
        <p:nvSpPr>
          <p:cNvPr id="72" name="Text 70"/>
          <p:cNvSpPr/>
          <p:nvPr/>
        </p:nvSpPr>
        <p:spPr>
          <a:xfrm>
            <a:off x="6382512" y="1609344"/>
            <a:ext cx="5233111" cy="261518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Filtration</a:t>
            </a:r>
            <a:r>
              <a:rPr lang="en-US" sz="1100" dirty="0">
                <a:solidFill>
                  <a:srgbClr val="262B3A"/>
                </a:solidFill>
                <a:latin typeface="Calibri" pitchFamily="34" charset="0"/>
                <a:ea typeface="Calibri" pitchFamily="34" charset="-122"/>
                <a:cs typeface="Calibri" pitchFamily="34" charset="-120"/>
              </a:rPr>
              <a:t> separates an </a:t>
            </a:r>
            <a:r>
              <a:rPr lang="en-US" sz="1100" b="1" dirty="0">
                <a:solidFill>
                  <a:srgbClr val="262B3A"/>
                </a:solidFill>
                <a:latin typeface="Calibri" pitchFamily="34" charset="0"/>
                <a:ea typeface="Calibri" pitchFamily="34" charset="-122"/>
                <a:cs typeface="Calibri" pitchFamily="34" charset="-120"/>
              </a:rPr>
              <a:t>insoluble solid</a:t>
            </a:r>
            <a:r>
              <a:rPr lang="en-US" sz="1100" dirty="0">
                <a:solidFill>
                  <a:srgbClr val="262B3A"/>
                </a:solidFill>
                <a:latin typeface="Calibri" pitchFamily="34" charset="0"/>
                <a:ea typeface="Calibri" pitchFamily="34" charset="-122"/>
                <a:cs typeface="Calibri" pitchFamily="34" charset="-120"/>
              </a:rPr>
              <a:t> from a liquid. The </a:t>
            </a:r>
            <a:r>
              <a:rPr lang="en-US" sz="1100" b="1" dirty="0">
                <a:solidFill>
                  <a:srgbClr val="262B3A"/>
                </a:solidFill>
                <a:latin typeface="Calibri" pitchFamily="34" charset="0"/>
                <a:ea typeface="Calibri" pitchFamily="34" charset="-122"/>
                <a:cs typeface="Calibri" pitchFamily="34" charset="-120"/>
              </a:rPr>
              <a:t>residue</a:t>
            </a:r>
            <a:r>
              <a:rPr lang="en-US" sz="1100" dirty="0">
                <a:solidFill>
                  <a:srgbClr val="262B3A"/>
                </a:solidFill>
                <a:latin typeface="Calibri" pitchFamily="34" charset="0"/>
                <a:ea typeface="Calibri" pitchFamily="34" charset="-122"/>
                <a:cs typeface="Calibri" pitchFamily="34" charset="-120"/>
              </a:rPr>
              <a:t> stays on the filter paper; the </a:t>
            </a:r>
            <a:r>
              <a:rPr lang="en-US" sz="1100" b="1" dirty="0">
                <a:solidFill>
                  <a:srgbClr val="262B3A"/>
                </a:solidFill>
                <a:latin typeface="Calibri" pitchFamily="34" charset="0"/>
                <a:ea typeface="Calibri" pitchFamily="34" charset="-122"/>
                <a:cs typeface="Calibri" pitchFamily="34" charset="-120"/>
              </a:rPr>
              <a:t>filtrate</a:t>
            </a:r>
            <a:r>
              <a:rPr lang="en-US" sz="1100" dirty="0">
                <a:solidFill>
                  <a:srgbClr val="262B3A"/>
                </a:solidFill>
                <a:latin typeface="Calibri" pitchFamily="34" charset="0"/>
                <a:ea typeface="Calibri" pitchFamily="34" charset="-122"/>
                <a:cs typeface="Calibri" pitchFamily="34" charset="-120"/>
              </a:rPr>
              <a:t> passes through.</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Crystallisation</a:t>
            </a:r>
            <a:r>
              <a:rPr lang="en-US" sz="1100" dirty="0">
                <a:solidFill>
                  <a:srgbClr val="262B3A"/>
                </a:solidFill>
                <a:latin typeface="Calibri" pitchFamily="34" charset="0"/>
                <a:ea typeface="Calibri" pitchFamily="34" charset="-122"/>
                <a:cs typeface="Calibri" pitchFamily="34" charset="-120"/>
              </a:rPr>
              <a:t> gets a </a:t>
            </a:r>
            <a:r>
              <a:rPr lang="en-US" sz="1100" b="1" dirty="0">
                <a:solidFill>
                  <a:srgbClr val="262B3A"/>
                </a:solidFill>
                <a:latin typeface="Calibri" pitchFamily="34" charset="0"/>
                <a:ea typeface="Calibri" pitchFamily="34" charset="-122"/>
                <a:cs typeface="Calibri" pitchFamily="34" charset="-120"/>
              </a:rPr>
              <a:t>soluble solid</a:t>
            </a:r>
            <a:r>
              <a:rPr lang="en-US" sz="1100" dirty="0">
                <a:solidFill>
                  <a:srgbClr val="262B3A"/>
                </a:solidFill>
                <a:latin typeface="Calibri" pitchFamily="34" charset="0"/>
                <a:ea typeface="Calibri" pitchFamily="34" charset="-122"/>
                <a:cs typeface="Calibri" pitchFamily="34" charset="-120"/>
              </a:rPr>
              <a:t> from its solution:</a:t>
            </a:r>
            <a:endParaRPr lang="en-US" sz="1100" dirty="0"/>
          </a:p>
          <a:p>
            <a:pPr indent="0" marL="0">
              <a:spcAft>
                <a:spcPts val="300"/>
              </a:spcAft>
              <a:buNone/>
            </a:pPr>
            <a:r>
              <a:rPr lang="en-US" sz="1100" dirty="0">
                <a:solidFill>
                  <a:srgbClr val="262B3A"/>
                </a:solidFill>
                <a:latin typeface="Calibri" pitchFamily="34" charset="0"/>
                <a:ea typeface="Calibri" pitchFamily="34" charset="-122"/>
                <a:cs typeface="Calibri" pitchFamily="34" charset="-120"/>
              </a:rPr>
              <a:t>1 heat to evaporate some water until crystals start to form (the </a:t>
            </a:r>
            <a:r>
              <a:rPr lang="en-US" sz="1100" b="1" dirty="0">
                <a:solidFill>
                  <a:srgbClr val="262B3A"/>
                </a:solidFill>
                <a:latin typeface="Calibri" pitchFamily="34" charset="0"/>
                <a:ea typeface="Calibri" pitchFamily="34" charset="-122"/>
                <a:cs typeface="Calibri" pitchFamily="34" charset="-120"/>
              </a:rPr>
              <a:t>crystallisation point</a:t>
            </a:r>
            <a:r>
              <a:rPr lang="en-US" sz="1100" dirty="0">
                <a:solidFill>
                  <a:srgbClr val="262B3A"/>
                </a:solidFill>
                <a:latin typeface="Calibri" pitchFamily="34" charset="0"/>
                <a:ea typeface="Calibri" pitchFamily="34" charset="-122"/>
                <a:cs typeface="Calibri" pitchFamily="34" charset="-120"/>
              </a:rPr>
              <a:t>)</a:t>
            </a:r>
            <a:endParaRPr lang="en-US" sz="1100" dirty="0"/>
          </a:p>
          <a:p>
            <a:pPr indent="0" marL="0">
              <a:spcAft>
                <a:spcPts val="300"/>
              </a:spcAft>
              <a:buNone/>
            </a:pPr>
            <a:r>
              <a:rPr lang="en-US" sz="1100" dirty="0">
                <a:solidFill>
                  <a:srgbClr val="262B3A"/>
                </a:solidFill>
                <a:latin typeface="Calibri" pitchFamily="34" charset="0"/>
                <a:ea typeface="Calibri" pitchFamily="34" charset="-122"/>
                <a:cs typeface="Calibri" pitchFamily="34" charset="-120"/>
              </a:rPr>
              <a:t>2 leave to </a:t>
            </a:r>
            <a:r>
              <a:rPr lang="en-US" sz="1100" b="1" dirty="0">
                <a:solidFill>
                  <a:srgbClr val="262B3A"/>
                </a:solidFill>
                <a:latin typeface="Calibri" pitchFamily="34" charset="0"/>
                <a:ea typeface="Calibri" pitchFamily="34" charset="-122"/>
                <a:cs typeface="Calibri" pitchFamily="34" charset="-120"/>
              </a:rPr>
              <a:t>cool</a:t>
            </a:r>
            <a:r>
              <a:rPr lang="en-US" sz="1100" dirty="0">
                <a:solidFill>
                  <a:srgbClr val="262B3A"/>
                </a:solidFill>
                <a:latin typeface="Calibri" pitchFamily="34" charset="0"/>
                <a:ea typeface="Calibri" pitchFamily="34" charset="-122"/>
                <a:cs typeface="Calibri" pitchFamily="34" charset="-120"/>
              </a:rPr>
              <a:t> slowly so crystals form; 3 </a:t>
            </a:r>
            <a:r>
              <a:rPr lang="en-US" sz="1100" b="1" dirty="0">
                <a:solidFill>
                  <a:srgbClr val="262B3A"/>
                </a:solidFill>
                <a:latin typeface="Calibri" pitchFamily="34" charset="0"/>
                <a:ea typeface="Calibri" pitchFamily="34" charset="-122"/>
                <a:cs typeface="Calibri" pitchFamily="34" charset="-120"/>
              </a:rPr>
              <a:t>filter</a:t>
            </a:r>
            <a:r>
              <a:rPr lang="en-US" sz="1100" dirty="0">
                <a:solidFill>
                  <a:srgbClr val="262B3A"/>
                </a:solidFill>
                <a:latin typeface="Calibri" pitchFamily="34" charset="0"/>
                <a:ea typeface="Calibri" pitchFamily="34" charset="-122"/>
                <a:cs typeface="Calibri" pitchFamily="34" charset="-120"/>
              </a:rPr>
              <a:t> them off and dry between filter papers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Do </a:t>
            </a:r>
            <a:r>
              <a:rPr lang="en-US" sz="1100" b="1" dirty="0">
                <a:solidFill>
                  <a:srgbClr val="262B3A"/>
                </a:solidFill>
                <a:latin typeface="Calibri" pitchFamily="34" charset="0"/>
                <a:ea typeface="Calibri" pitchFamily="34" charset="-122"/>
                <a:cs typeface="Calibri" pitchFamily="34" charset="-120"/>
              </a:rPr>
              <a:t>not</a:t>
            </a:r>
            <a:r>
              <a:rPr lang="en-US" sz="1100" dirty="0">
                <a:solidFill>
                  <a:srgbClr val="262B3A"/>
                </a:solidFill>
                <a:latin typeface="Calibri" pitchFamily="34" charset="0"/>
                <a:ea typeface="Calibri" pitchFamily="34" charset="-122"/>
                <a:cs typeface="Calibri" pitchFamily="34" charset="-120"/>
              </a:rPr>
              <a:t> boil to dryness: the solid can spit, decompose or lose its </a:t>
            </a:r>
            <a:r>
              <a:rPr lang="en-US" sz="1100" b="1" dirty="0">
                <a:solidFill>
                  <a:srgbClr val="262B3A"/>
                </a:solidFill>
                <a:latin typeface="Calibri" pitchFamily="34" charset="0"/>
                <a:ea typeface="Calibri" pitchFamily="34" charset="-122"/>
                <a:cs typeface="Calibri" pitchFamily="34" charset="-120"/>
              </a:rPr>
              <a:t>water of crystallisation</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73" name="Shape 71"/>
          <p:cNvSpPr/>
          <p:nvPr/>
        </p:nvSpPr>
        <p:spPr>
          <a:xfrm>
            <a:off x="6217920" y="4434840"/>
            <a:ext cx="5562295" cy="1280160"/>
          </a:xfrm>
          <a:prstGeom prst="roundRect">
            <a:avLst>
              <a:gd name="adj" fmla="val 4286"/>
            </a:avLst>
          </a:prstGeom>
          <a:solidFill>
            <a:srgbClr val="FFF4E0"/>
          </a:solidFill>
          <a:ln w="9525">
            <a:solidFill>
              <a:srgbClr val="F1D9A8"/>
            </a:solidFill>
            <a:prstDash val="solid"/>
          </a:ln>
        </p:spPr>
      </p:sp>
      <p:sp>
        <p:nvSpPr>
          <p:cNvPr id="74" name="Text 72"/>
          <p:cNvSpPr/>
          <p:nvPr/>
        </p:nvSpPr>
        <p:spPr>
          <a:xfrm>
            <a:off x="6382512" y="45079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rock salt</a:t>
            </a:r>
            <a:endParaRPr lang="en-US" sz="1300" dirty="0"/>
          </a:p>
        </p:txBody>
      </p:sp>
      <p:sp>
        <p:nvSpPr>
          <p:cNvPr id="75" name="Text 73"/>
          <p:cNvSpPr/>
          <p:nvPr/>
        </p:nvSpPr>
        <p:spPr>
          <a:xfrm>
            <a:off x="6382512" y="4818888"/>
            <a:ext cx="5233111" cy="8229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10.0 g of rock salt gives 6.2 g of dry sand and 3.6 g of salt.</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Lost   </a:t>
            </a:r>
            <a:r>
              <a:rPr lang="en-US" sz="1050" dirty="0">
                <a:solidFill>
                  <a:srgbClr val="262B3A"/>
                </a:solidFill>
                <a:latin typeface="Calibri" pitchFamily="34" charset="0"/>
                <a:ea typeface="Calibri" pitchFamily="34" charset="-122"/>
                <a:cs typeface="Calibri" pitchFamily="34" charset="-120"/>
              </a:rPr>
              <a:t>10.0 − 6.2 − 3.6 = 0.2 g lost in the process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salt = 3.6 ÷ 10.0 × 100 = </a:t>
            </a:r>
            <a:r>
              <a:rPr lang="en-US" sz="1050" b="1" dirty="0">
                <a:solidFill>
                  <a:srgbClr val="C8414C"/>
                </a:solidFill>
                <a:latin typeface="Calibri" pitchFamily="34" charset="0"/>
                <a:ea typeface="Calibri" pitchFamily="34" charset="-122"/>
                <a:cs typeface="Calibri" pitchFamily="34" charset="-120"/>
              </a:rPr>
              <a:t>36%</a:t>
            </a:r>
            <a:r>
              <a:rPr lang="en-US" sz="1050" b="1" dirty="0">
                <a:solidFill>
                  <a:srgbClr val="C8414C"/>
                </a:solidFill>
                <a:latin typeface="Calibri" pitchFamily="34" charset="0"/>
                <a:ea typeface="Calibri" pitchFamily="34" charset="-122"/>
                <a:cs typeface="Calibri" pitchFamily="34" charset="-120"/>
              </a:rPr>
              <a:t> of the rock salt</a:t>
            </a:r>
            <a:endParaRPr lang="en-US" sz="1050" dirty="0"/>
          </a:p>
        </p:txBody>
      </p:sp>
      <p:sp>
        <p:nvSpPr>
          <p:cNvPr id="76" name="Shape 74"/>
          <p:cNvSpPr/>
          <p:nvPr/>
        </p:nvSpPr>
        <p:spPr>
          <a:xfrm>
            <a:off x="411480" y="5833872"/>
            <a:ext cx="11368735" cy="530352"/>
          </a:xfrm>
          <a:prstGeom prst="rect">
            <a:avLst/>
          </a:prstGeom>
          <a:solidFill>
            <a:srgbClr val="FFF4E0"/>
          </a:solidFill>
          <a:ln w="6350">
            <a:solidFill>
              <a:srgbClr val="F1D9A8"/>
            </a:solidFill>
            <a:prstDash val="solid"/>
          </a:ln>
        </p:spPr>
      </p:sp>
      <p:sp>
        <p:nvSpPr>
          <p:cNvPr id="77" name="Shape 75"/>
          <p:cNvSpPr/>
          <p:nvPr/>
        </p:nvSpPr>
        <p:spPr>
          <a:xfrm>
            <a:off x="411480" y="5833872"/>
            <a:ext cx="82296" cy="530352"/>
          </a:xfrm>
          <a:prstGeom prst="rect">
            <a:avLst/>
          </a:prstGeom>
          <a:solidFill>
            <a:srgbClr val="E39A2F"/>
          </a:solidFill>
          <a:ln w="12700">
            <a:solidFill>
              <a:srgbClr val="E39A2F"/>
            </a:solidFill>
            <a:prstDash val="solid"/>
          </a:ln>
        </p:spPr>
      </p:sp>
      <p:sp>
        <p:nvSpPr>
          <p:cNvPr id="78" name="Text 7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rock salt stirred in </a:t>
            </a:r>
            <a:r>
              <a:rPr lang="en-US" sz="1150" b="1" dirty="0">
                <a:solidFill>
                  <a:srgbClr val="262B3A"/>
                </a:solidFill>
                <a:latin typeface="Calibri" pitchFamily="34" charset="0"/>
                <a:ea typeface="Calibri" pitchFamily="34" charset="-122"/>
                <a:cs typeface="Calibri" pitchFamily="34" charset="-120"/>
              </a:rPr>
              <a:t>water</a:t>
            </a:r>
            <a:r>
              <a:rPr lang="en-US" sz="1150" dirty="0">
                <a:solidFill>
                  <a:srgbClr val="262B3A"/>
                </a:solidFill>
                <a:latin typeface="Calibri" pitchFamily="34" charset="0"/>
                <a:ea typeface="Calibri" pitchFamily="34" charset="-122"/>
                <a:cs typeface="Calibri" pitchFamily="34" charset="-120"/>
              </a:rPr>
              <a:t> before it is filtered? </a:t>
            </a:r>
            <a:r>
              <a:rPr lang="en-US" sz="1150" b="1" dirty="0">
                <a:solidFill>
                  <a:srgbClr val="262B3A"/>
                </a:solidFill>
                <a:latin typeface="Calibri" pitchFamily="34" charset="0"/>
                <a:ea typeface="Calibri" pitchFamily="34" charset="-122"/>
                <a:cs typeface="Calibri" pitchFamily="34" charset="-120"/>
              </a:rPr>
              <a:t>25.0 g</a:t>
            </a:r>
            <a:r>
              <a:rPr lang="en-US" sz="1150" dirty="0">
                <a:solidFill>
                  <a:srgbClr val="262B3A"/>
                </a:solidFill>
                <a:latin typeface="Calibri" pitchFamily="34" charset="0"/>
                <a:ea typeface="Calibri" pitchFamily="34" charset="-122"/>
                <a:cs typeface="Calibri" pitchFamily="34" charset="-120"/>
              </a:rPr>
              <a:t> of rock salt gives </a:t>
            </a:r>
            <a:r>
              <a:rPr lang="en-US" sz="1150" b="1" dirty="0">
                <a:solidFill>
                  <a:srgbClr val="262B3A"/>
                </a:solidFill>
                <a:latin typeface="Calibri" pitchFamily="34" charset="0"/>
                <a:ea typeface="Calibri" pitchFamily="34" charset="-122"/>
                <a:cs typeface="Calibri" pitchFamily="34" charset="-120"/>
              </a:rPr>
              <a:t>8.0 g</a:t>
            </a:r>
            <a:r>
              <a:rPr lang="en-US" sz="1150" dirty="0">
                <a:solidFill>
                  <a:srgbClr val="262B3A"/>
                </a:solidFill>
                <a:latin typeface="Calibri" pitchFamily="34" charset="0"/>
                <a:ea typeface="Calibri" pitchFamily="34" charset="-122"/>
                <a:cs typeface="Calibri" pitchFamily="34" charset="-120"/>
              </a:rPr>
              <a:t> of salt: what percentage is salt?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Simple distillation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C5.1.7 • separating a liquid from a solution</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C5.1.7  |  16</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simple distillation of salt water; water in at the bottom of the condenser</a:t>
            </a:r>
            <a:endParaRPr lang="en-US" sz="1000" dirty="0"/>
          </a:p>
        </p:txBody>
      </p:sp>
      <p:sp>
        <p:nvSpPr>
          <p:cNvPr id="10" name="Shape 8"/>
          <p:cNvSpPr/>
          <p:nvPr/>
        </p:nvSpPr>
        <p:spPr>
          <a:xfrm>
            <a:off x="758952" y="2953512"/>
            <a:ext cx="1133856" cy="1133856"/>
          </a:xfrm>
          <a:prstGeom prst="ellipse">
            <a:avLst/>
          </a:prstGeom>
          <a:solidFill>
            <a:srgbClr val="EEF5FB"/>
          </a:solidFill>
          <a:ln/>
        </p:spPr>
      </p:sp>
      <p:sp>
        <p:nvSpPr>
          <p:cNvPr id="11" name="Shape 9"/>
          <p:cNvSpPr/>
          <p:nvPr/>
        </p:nvSpPr>
        <p:spPr>
          <a:xfrm>
            <a:off x="758952" y="3520440"/>
            <a:ext cx="1133856" cy="566928"/>
          </a:xfrm>
          <a:custGeom>
            <a:avLst/>
            <a:gdLst/>
            <a:ahLst/>
            <a:cxnLst/>
            <a:rect l="l" t="t" r="r" b="b"/>
            <a:pathLst>
              <a:path w="1133856" h="566928">
                <a:moveTo>
                  <a:pt x="1133856" y="0"/>
                </a:moveTo>
                <a:lnTo>
                  <a:pt x="1130750" y="59260"/>
                </a:lnTo>
                <a:lnTo>
                  <a:pt x="1121467" y="117871"/>
                </a:lnTo>
                <a:lnTo>
                  <a:pt x="1106109" y="175190"/>
                </a:lnTo>
                <a:lnTo>
                  <a:pt x="1084842" y="230590"/>
                </a:lnTo>
                <a:lnTo>
                  <a:pt x="1057902" y="283464"/>
                </a:lnTo>
                <a:lnTo>
                  <a:pt x="1025582" y="333232"/>
                </a:lnTo>
                <a:lnTo>
                  <a:pt x="988238" y="379349"/>
                </a:lnTo>
                <a:lnTo>
                  <a:pt x="946277" y="421310"/>
                </a:lnTo>
                <a:lnTo>
                  <a:pt x="900160" y="458654"/>
                </a:lnTo>
                <a:lnTo>
                  <a:pt x="850392" y="490974"/>
                </a:lnTo>
                <a:lnTo>
                  <a:pt x="797518" y="517914"/>
                </a:lnTo>
                <a:lnTo>
                  <a:pt x="742118" y="539181"/>
                </a:lnTo>
                <a:lnTo>
                  <a:pt x="684799" y="554539"/>
                </a:lnTo>
                <a:lnTo>
                  <a:pt x="626188" y="563822"/>
                </a:lnTo>
                <a:lnTo>
                  <a:pt x="566928" y="566928"/>
                </a:lnTo>
                <a:lnTo>
                  <a:pt x="507668" y="563822"/>
                </a:lnTo>
                <a:lnTo>
                  <a:pt x="449057" y="554539"/>
                </a:lnTo>
                <a:lnTo>
                  <a:pt x="391738" y="539181"/>
                </a:lnTo>
                <a:lnTo>
                  <a:pt x="336338" y="517914"/>
                </a:lnTo>
                <a:lnTo>
                  <a:pt x="283464" y="490974"/>
                </a:lnTo>
                <a:lnTo>
                  <a:pt x="233696" y="458654"/>
                </a:lnTo>
                <a:lnTo>
                  <a:pt x="187579" y="421310"/>
                </a:lnTo>
                <a:lnTo>
                  <a:pt x="145618" y="379349"/>
                </a:lnTo>
                <a:lnTo>
                  <a:pt x="108274" y="333232"/>
                </a:lnTo>
                <a:lnTo>
                  <a:pt x="75954" y="283464"/>
                </a:lnTo>
                <a:lnTo>
                  <a:pt x="49014" y="230590"/>
                </a:lnTo>
                <a:lnTo>
                  <a:pt x="27747" y="175190"/>
                </a:lnTo>
                <a:lnTo>
                  <a:pt x="12389" y="117871"/>
                </a:lnTo>
                <a:lnTo>
                  <a:pt x="3106" y="59260"/>
                </a:lnTo>
                <a:lnTo>
                  <a:pt x="0" y="0"/>
                </a:lnTo>
                <a:close/>
              </a:path>
            </a:pathLst>
          </a:custGeom>
          <a:solidFill>
            <a:srgbClr val="DCEBF5"/>
          </a:solidFill>
          <a:ln/>
        </p:spPr>
      </p:sp>
      <p:sp>
        <p:nvSpPr>
          <p:cNvPr id="12" name="Shape 10"/>
          <p:cNvSpPr/>
          <p:nvPr/>
        </p:nvSpPr>
        <p:spPr>
          <a:xfrm>
            <a:off x="758952" y="2953512"/>
            <a:ext cx="1133856" cy="1133856"/>
          </a:xfrm>
          <a:prstGeom prst="ellipse">
            <a:avLst/>
          </a:prstGeom>
          <a:ln w="19050">
            <a:solidFill>
              <a:srgbClr val="2A1F3D"/>
            </a:solidFill>
            <a:prstDash val="solid"/>
          </a:ln>
        </p:spPr>
      </p:sp>
      <p:sp>
        <p:nvSpPr>
          <p:cNvPr id="13" name="Shape 11"/>
          <p:cNvSpPr/>
          <p:nvPr/>
        </p:nvSpPr>
        <p:spPr>
          <a:xfrm>
            <a:off x="1207008" y="2450592"/>
            <a:ext cx="237744" cy="557784"/>
          </a:xfrm>
          <a:prstGeom prst="rect">
            <a:avLst/>
          </a:prstGeom>
          <a:solidFill>
            <a:srgbClr val="EEF5FB"/>
          </a:solidFill>
          <a:ln/>
        </p:spPr>
      </p:sp>
      <p:sp>
        <p:nvSpPr>
          <p:cNvPr id="14" name="Shape 12"/>
          <p:cNvSpPr/>
          <p:nvPr/>
        </p:nvSpPr>
        <p:spPr>
          <a:xfrm>
            <a:off x="1207008" y="2450592"/>
            <a:ext cx="91" cy="519928"/>
          </a:xfrm>
          <a:prstGeom prst="line">
            <a:avLst/>
          </a:prstGeom>
          <a:noFill/>
          <a:ln w="19050">
            <a:solidFill>
              <a:srgbClr val="2A1F3D"/>
            </a:solidFill>
            <a:prstDash val="solid"/>
          </a:ln>
        </p:spPr>
      </p:sp>
      <p:sp>
        <p:nvSpPr>
          <p:cNvPr id="15" name="Shape 13"/>
          <p:cNvSpPr/>
          <p:nvPr/>
        </p:nvSpPr>
        <p:spPr>
          <a:xfrm>
            <a:off x="1444752" y="2450592"/>
            <a:ext cx="91" cy="519928"/>
          </a:xfrm>
          <a:prstGeom prst="line">
            <a:avLst/>
          </a:prstGeom>
          <a:noFill/>
          <a:ln w="19050">
            <a:solidFill>
              <a:srgbClr val="2A1F3D"/>
            </a:solidFill>
            <a:prstDash val="solid"/>
          </a:ln>
        </p:spPr>
      </p:sp>
      <p:sp>
        <p:nvSpPr>
          <p:cNvPr id="16" name="Shape 14"/>
          <p:cNvSpPr/>
          <p:nvPr/>
        </p:nvSpPr>
        <p:spPr>
          <a:xfrm>
            <a:off x="1074420" y="3963924"/>
            <a:ext cx="64008" cy="64008"/>
          </a:xfrm>
          <a:prstGeom prst="ellipse">
            <a:avLst/>
          </a:prstGeom>
          <a:solidFill>
            <a:srgbClr val="FFFFFF"/>
          </a:solidFill>
          <a:ln w="6350">
            <a:solidFill>
              <a:srgbClr val="7D8794"/>
            </a:solidFill>
            <a:prstDash val="solid"/>
          </a:ln>
        </p:spPr>
      </p:sp>
      <p:sp>
        <p:nvSpPr>
          <p:cNvPr id="17" name="Shape 15"/>
          <p:cNvSpPr/>
          <p:nvPr/>
        </p:nvSpPr>
        <p:spPr>
          <a:xfrm>
            <a:off x="1184148" y="3918204"/>
            <a:ext cx="64008" cy="64008"/>
          </a:xfrm>
          <a:prstGeom prst="ellipse">
            <a:avLst/>
          </a:prstGeom>
          <a:solidFill>
            <a:srgbClr val="FFFFFF"/>
          </a:solidFill>
          <a:ln w="6350">
            <a:solidFill>
              <a:srgbClr val="7D8794"/>
            </a:solidFill>
            <a:prstDash val="solid"/>
          </a:ln>
        </p:spPr>
      </p:sp>
      <p:sp>
        <p:nvSpPr>
          <p:cNvPr id="18" name="Shape 16"/>
          <p:cNvSpPr/>
          <p:nvPr/>
        </p:nvSpPr>
        <p:spPr>
          <a:xfrm>
            <a:off x="1293876" y="3963924"/>
            <a:ext cx="64008" cy="64008"/>
          </a:xfrm>
          <a:prstGeom prst="ellipse">
            <a:avLst/>
          </a:prstGeom>
          <a:solidFill>
            <a:srgbClr val="FFFFFF"/>
          </a:solidFill>
          <a:ln w="6350">
            <a:solidFill>
              <a:srgbClr val="7D8794"/>
            </a:solidFill>
            <a:prstDash val="solid"/>
          </a:ln>
        </p:spPr>
      </p:sp>
      <p:sp>
        <p:nvSpPr>
          <p:cNvPr id="19" name="Shape 17"/>
          <p:cNvSpPr/>
          <p:nvPr/>
        </p:nvSpPr>
        <p:spPr>
          <a:xfrm>
            <a:off x="1403604" y="3918204"/>
            <a:ext cx="64008" cy="64008"/>
          </a:xfrm>
          <a:prstGeom prst="ellipse">
            <a:avLst/>
          </a:prstGeom>
          <a:solidFill>
            <a:srgbClr val="FFFFFF"/>
          </a:solidFill>
          <a:ln w="6350">
            <a:solidFill>
              <a:srgbClr val="7D8794"/>
            </a:solidFill>
            <a:prstDash val="solid"/>
          </a:ln>
        </p:spPr>
      </p:sp>
      <p:sp>
        <p:nvSpPr>
          <p:cNvPr id="20" name="Shape 18"/>
          <p:cNvSpPr/>
          <p:nvPr/>
        </p:nvSpPr>
        <p:spPr>
          <a:xfrm>
            <a:off x="1513332" y="3963924"/>
            <a:ext cx="64008" cy="64008"/>
          </a:xfrm>
          <a:prstGeom prst="ellipse">
            <a:avLst/>
          </a:prstGeom>
          <a:solidFill>
            <a:srgbClr val="FFFFFF"/>
          </a:solidFill>
          <a:ln w="6350">
            <a:solidFill>
              <a:srgbClr val="7D8794"/>
            </a:solidFill>
            <a:prstDash val="solid"/>
          </a:ln>
        </p:spPr>
      </p:sp>
      <p:sp>
        <p:nvSpPr>
          <p:cNvPr id="21" name="Shape 19"/>
          <p:cNvSpPr/>
          <p:nvPr/>
        </p:nvSpPr>
        <p:spPr>
          <a:xfrm>
            <a:off x="1207008" y="2039112"/>
            <a:ext cx="237744" cy="429768"/>
          </a:xfrm>
          <a:prstGeom prst="rect">
            <a:avLst/>
          </a:prstGeom>
          <a:solidFill>
            <a:srgbClr val="EEF5FB"/>
          </a:solidFill>
          <a:ln w="15875">
            <a:solidFill>
              <a:srgbClr val="2A1F3D"/>
            </a:solidFill>
            <a:prstDash val="solid"/>
          </a:ln>
        </p:spPr>
      </p:sp>
      <p:sp>
        <p:nvSpPr>
          <p:cNvPr id="22" name="Shape 20"/>
          <p:cNvSpPr/>
          <p:nvPr/>
        </p:nvSpPr>
        <p:spPr>
          <a:xfrm>
            <a:off x="1243584" y="1901952"/>
            <a:ext cx="164592" cy="155448"/>
          </a:xfrm>
          <a:prstGeom prst="rect">
            <a:avLst/>
          </a:prstGeom>
          <a:solidFill>
            <a:srgbClr val="8C6A4A"/>
          </a:solidFill>
          <a:ln w="9525">
            <a:solidFill>
              <a:srgbClr val="5A4030"/>
            </a:solidFill>
            <a:prstDash val="solid"/>
          </a:ln>
        </p:spPr>
      </p:sp>
      <p:sp>
        <p:nvSpPr>
          <p:cNvPr id="23" name="Shape 21"/>
          <p:cNvSpPr/>
          <p:nvPr/>
        </p:nvSpPr>
        <p:spPr>
          <a:xfrm>
            <a:off x="3947470" y="3418343"/>
            <a:ext cx="82296" cy="274320"/>
          </a:xfrm>
          <a:prstGeom prst="rect">
            <a:avLst/>
          </a:prstGeom>
          <a:solidFill>
            <a:srgbClr val="CFE4F7"/>
          </a:solidFill>
          <a:ln w="12700">
            <a:solidFill>
              <a:srgbClr val="2A1F3D"/>
            </a:solidFill>
            <a:prstDash val="solid"/>
          </a:ln>
        </p:spPr>
      </p:sp>
      <p:sp>
        <p:nvSpPr>
          <p:cNvPr id="24" name="Shape 22"/>
          <p:cNvSpPr/>
          <p:nvPr/>
        </p:nvSpPr>
        <p:spPr>
          <a:xfrm>
            <a:off x="1986986" y="2049769"/>
            <a:ext cx="82296" cy="274320"/>
          </a:xfrm>
          <a:prstGeom prst="rect">
            <a:avLst/>
          </a:prstGeom>
          <a:solidFill>
            <a:srgbClr val="CFE4F7"/>
          </a:solidFill>
          <a:ln w="12700">
            <a:solidFill>
              <a:srgbClr val="2A1F3D"/>
            </a:solidFill>
            <a:prstDash val="solid"/>
          </a:ln>
        </p:spPr>
      </p:sp>
      <p:sp>
        <p:nvSpPr>
          <p:cNvPr id="25" name="Shape 23"/>
          <p:cNvSpPr/>
          <p:nvPr/>
        </p:nvSpPr>
        <p:spPr>
          <a:xfrm>
            <a:off x="1763919" y="2242686"/>
            <a:ext cx="2488913" cy="1257060"/>
          </a:xfrm>
          <a:custGeom>
            <a:avLst/>
            <a:gdLst/>
            <a:ahLst/>
            <a:cxnLst/>
            <a:rect l="l" t="t" r="r" b="b"/>
            <a:pathLst>
              <a:path w="2488913" h="1257060">
                <a:moveTo>
                  <a:pt x="112205" y="0"/>
                </a:moveTo>
                <a:lnTo>
                  <a:pt x="2488913" y="986820"/>
                </a:lnTo>
                <a:lnTo>
                  <a:pt x="2376708" y="1257060"/>
                </a:lnTo>
                <a:lnTo>
                  <a:pt x="0" y="270240"/>
                </a:lnTo>
                <a:close/>
              </a:path>
            </a:pathLst>
          </a:custGeom>
          <a:solidFill>
            <a:srgbClr val="CFE4F7"/>
          </a:solidFill>
          <a:ln w="15875">
            <a:solidFill>
              <a:srgbClr val="2A1F3D"/>
            </a:solidFill>
            <a:prstDash val="solid"/>
          </a:ln>
        </p:spPr>
      </p:sp>
      <p:sp>
        <p:nvSpPr>
          <p:cNvPr id="26" name="Shape 24"/>
          <p:cNvSpPr/>
          <p:nvPr/>
        </p:nvSpPr>
        <p:spPr>
          <a:xfrm>
            <a:off x="1425467" y="2175545"/>
            <a:ext cx="3165818" cy="1391343"/>
          </a:xfrm>
          <a:custGeom>
            <a:avLst/>
            <a:gdLst/>
            <a:ahLst/>
            <a:cxnLst/>
            <a:rect l="l" t="t" r="r" b="b"/>
            <a:pathLst>
              <a:path w="3165818" h="1391343">
                <a:moveTo>
                  <a:pt x="38570" y="0"/>
                </a:moveTo>
                <a:lnTo>
                  <a:pt x="3165818" y="1298448"/>
                </a:lnTo>
                <a:lnTo>
                  <a:pt x="3127248" y="1391343"/>
                </a:lnTo>
                <a:lnTo>
                  <a:pt x="0" y="92895"/>
                </a:lnTo>
                <a:close/>
              </a:path>
            </a:pathLst>
          </a:custGeom>
          <a:solidFill>
            <a:srgbClr val="EEF5FB"/>
          </a:solidFill>
          <a:ln w="12700">
            <a:solidFill>
              <a:srgbClr val="2A1F3D"/>
            </a:solidFill>
            <a:prstDash val="solid"/>
          </a:ln>
        </p:spPr>
      </p:sp>
      <p:sp>
        <p:nvSpPr>
          <p:cNvPr id="27" name="Shape 25"/>
          <p:cNvSpPr/>
          <p:nvPr/>
        </p:nvSpPr>
        <p:spPr>
          <a:xfrm>
            <a:off x="1289304" y="1298448"/>
            <a:ext cx="73152" cy="923544"/>
          </a:xfrm>
          <a:prstGeom prst="roundRect">
            <a:avLst>
              <a:gd name="adj" fmla="val 37500"/>
            </a:avLst>
          </a:prstGeom>
          <a:solidFill>
            <a:srgbClr val="FFFFFF"/>
          </a:solidFill>
          <a:ln w="12700">
            <a:solidFill>
              <a:srgbClr val="2A1F3D"/>
            </a:solidFill>
            <a:prstDash val="solid"/>
          </a:ln>
        </p:spPr>
      </p:sp>
      <p:sp>
        <p:nvSpPr>
          <p:cNvPr id="28" name="Shape 26"/>
          <p:cNvSpPr/>
          <p:nvPr/>
        </p:nvSpPr>
        <p:spPr>
          <a:xfrm>
            <a:off x="1325880" y="1621688"/>
            <a:ext cx="91" cy="600304"/>
          </a:xfrm>
          <a:prstGeom prst="line">
            <a:avLst/>
          </a:prstGeom>
          <a:noFill/>
          <a:ln w="19050">
            <a:solidFill>
              <a:srgbClr val="C8414C"/>
            </a:solidFill>
            <a:prstDash val="solid"/>
          </a:ln>
        </p:spPr>
      </p:sp>
      <p:sp>
        <p:nvSpPr>
          <p:cNvPr id="29" name="Shape 27"/>
          <p:cNvSpPr/>
          <p:nvPr/>
        </p:nvSpPr>
        <p:spPr>
          <a:xfrm>
            <a:off x="1266444" y="2162556"/>
            <a:ext cx="118872" cy="118872"/>
          </a:xfrm>
          <a:prstGeom prst="ellipse">
            <a:avLst/>
          </a:prstGeom>
          <a:solidFill>
            <a:srgbClr val="C8414C"/>
          </a:solidFill>
          <a:ln w="9525">
            <a:solidFill>
              <a:srgbClr val="8E2A33"/>
            </a:solidFill>
            <a:prstDash val="solid"/>
          </a:ln>
        </p:spPr>
      </p:sp>
      <p:sp>
        <p:nvSpPr>
          <p:cNvPr id="30" name="Shape 28"/>
          <p:cNvSpPr/>
          <p:nvPr/>
        </p:nvSpPr>
        <p:spPr>
          <a:xfrm>
            <a:off x="4206240" y="3474720"/>
            <a:ext cx="1005840" cy="1325880"/>
          </a:xfrm>
          <a:custGeom>
            <a:avLst/>
            <a:gdLst/>
            <a:ahLst/>
            <a:cxnLst/>
            <a:rect l="l" t="t" r="r" b="b"/>
            <a:pathLst>
              <a:path w="1005840" h="1325880">
                <a:moveTo>
                  <a:pt x="356616" y="0"/>
                </a:moveTo>
                <a:lnTo>
                  <a:pt x="356616" y="397764"/>
                </a:lnTo>
                <a:lnTo>
                  <a:pt x="0" y="1325880"/>
                </a:lnTo>
                <a:lnTo>
                  <a:pt x="1005840" y="1325880"/>
                </a:lnTo>
                <a:lnTo>
                  <a:pt x="649224" y="397764"/>
                </a:lnTo>
                <a:lnTo>
                  <a:pt x="649224" y="0"/>
                </a:lnTo>
                <a:close/>
              </a:path>
            </a:pathLst>
          </a:custGeom>
          <a:solidFill>
            <a:srgbClr val="EEF5FB"/>
          </a:solidFill>
          <a:ln/>
        </p:spPr>
      </p:sp>
      <p:sp>
        <p:nvSpPr>
          <p:cNvPr id="31" name="Shape 29"/>
          <p:cNvSpPr/>
          <p:nvPr/>
        </p:nvSpPr>
        <p:spPr>
          <a:xfrm>
            <a:off x="4206240" y="4522165"/>
            <a:ext cx="1005840" cy="278435"/>
          </a:xfrm>
          <a:custGeom>
            <a:avLst/>
            <a:gdLst/>
            <a:ahLst/>
            <a:cxnLst/>
            <a:rect l="l" t="t" r="r" b="b"/>
            <a:pathLst>
              <a:path w="1005840" h="278435">
                <a:moveTo>
                  <a:pt x="106985" y="0"/>
                </a:moveTo>
                <a:lnTo>
                  <a:pt x="0" y="278435"/>
                </a:lnTo>
                <a:lnTo>
                  <a:pt x="1005840" y="278435"/>
                </a:lnTo>
                <a:lnTo>
                  <a:pt x="898855" y="0"/>
                </a:lnTo>
                <a:close/>
              </a:path>
            </a:pathLst>
          </a:custGeom>
          <a:solidFill>
            <a:srgbClr val="CFE4F7"/>
          </a:solidFill>
          <a:ln/>
        </p:spPr>
      </p:sp>
      <p:sp>
        <p:nvSpPr>
          <p:cNvPr id="32" name="Shape 30"/>
          <p:cNvSpPr/>
          <p:nvPr/>
        </p:nvSpPr>
        <p:spPr>
          <a:xfrm>
            <a:off x="4313225" y="4522165"/>
            <a:ext cx="791870" cy="91"/>
          </a:xfrm>
          <a:prstGeom prst="line">
            <a:avLst/>
          </a:prstGeom>
          <a:noFill/>
          <a:ln w="12700">
            <a:solidFill>
              <a:srgbClr val="5B9BD5"/>
            </a:solidFill>
            <a:prstDash val="solid"/>
          </a:ln>
        </p:spPr>
      </p:sp>
      <p:sp>
        <p:nvSpPr>
          <p:cNvPr id="33" name="Shape 31"/>
          <p:cNvSpPr/>
          <p:nvPr/>
        </p:nvSpPr>
        <p:spPr>
          <a:xfrm>
            <a:off x="4206240" y="3474720"/>
            <a:ext cx="1005840" cy="1325880"/>
          </a:xfrm>
          <a:custGeom>
            <a:avLst/>
            <a:gdLst/>
            <a:ahLst/>
            <a:cxnLst/>
            <a:rect l="l" t="t" r="r" b="b"/>
            <a:pathLst>
              <a:path w="1005840" h="1325880">
                <a:moveTo>
                  <a:pt x="356616" y="0"/>
                </a:moveTo>
                <a:lnTo>
                  <a:pt x="356616" y="397764"/>
                </a:lnTo>
                <a:lnTo>
                  <a:pt x="0" y="1325880"/>
                </a:lnTo>
                <a:lnTo>
                  <a:pt x="1005840" y="1325880"/>
                </a:lnTo>
                <a:lnTo>
                  <a:pt x="649224" y="397764"/>
                </a:lnTo>
                <a:lnTo>
                  <a:pt x="649224" y="0"/>
                </a:lnTo>
              </a:path>
            </a:pathLst>
          </a:custGeom>
          <a:ln w="19050">
            <a:solidFill>
              <a:srgbClr val="2A1F3D"/>
            </a:solidFill>
            <a:prstDash val="solid"/>
          </a:ln>
        </p:spPr>
      </p:sp>
      <p:sp>
        <p:nvSpPr>
          <p:cNvPr id="34" name="Shape 32"/>
          <p:cNvSpPr/>
          <p:nvPr/>
        </p:nvSpPr>
        <p:spPr>
          <a:xfrm>
            <a:off x="777240" y="4114800"/>
            <a:ext cx="1097280" cy="45720"/>
          </a:xfrm>
          <a:prstGeom prst="rect">
            <a:avLst/>
          </a:prstGeom>
          <a:solidFill>
            <a:srgbClr val="9AA3B0"/>
          </a:solidFill>
          <a:ln w="9525">
            <a:solidFill>
              <a:srgbClr val="5A6275"/>
            </a:solidFill>
            <a:prstDash val="solid"/>
          </a:ln>
        </p:spPr>
      </p:sp>
      <p:sp>
        <p:nvSpPr>
          <p:cNvPr id="35" name="Shape 33"/>
          <p:cNvSpPr/>
          <p:nvPr/>
        </p:nvSpPr>
        <p:spPr>
          <a:xfrm flipH="1">
            <a:off x="777240" y="4160520"/>
            <a:ext cx="91440" cy="1097280"/>
          </a:xfrm>
          <a:prstGeom prst="line">
            <a:avLst/>
          </a:prstGeom>
          <a:noFill/>
          <a:ln w="25400">
            <a:solidFill>
              <a:srgbClr val="5A6275"/>
            </a:solidFill>
            <a:prstDash val="solid"/>
          </a:ln>
        </p:spPr>
      </p:sp>
      <p:sp>
        <p:nvSpPr>
          <p:cNvPr id="36" name="Shape 34"/>
          <p:cNvSpPr/>
          <p:nvPr/>
        </p:nvSpPr>
        <p:spPr>
          <a:xfrm>
            <a:off x="1783080" y="4160520"/>
            <a:ext cx="91440" cy="1097280"/>
          </a:xfrm>
          <a:prstGeom prst="line">
            <a:avLst/>
          </a:prstGeom>
          <a:noFill/>
          <a:ln w="25400">
            <a:solidFill>
              <a:srgbClr val="5A6275"/>
            </a:solidFill>
            <a:prstDash val="solid"/>
          </a:ln>
        </p:spPr>
      </p:sp>
      <p:sp>
        <p:nvSpPr>
          <p:cNvPr id="37" name="Shape 35"/>
          <p:cNvSpPr/>
          <p:nvPr/>
        </p:nvSpPr>
        <p:spPr>
          <a:xfrm>
            <a:off x="1097280" y="5184648"/>
            <a:ext cx="457200" cy="73152"/>
          </a:xfrm>
          <a:prstGeom prst="rect">
            <a:avLst/>
          </a:prstGeom>
          <a:solidFill>
            <a:srgbClr val="5A6275"/>
          </a:solidFill>
          <a:ln w="12700">
            <a:solidFill>
              <a:srgbClr val="3A4255"/>
            </a:solidFill>
            <a:prstDash val="solid"/>
          </a:ln>
        </p:spPr>
      </p:sp>
      <p:sp>
        <p:nvSpPr>
          <p:cNvPr id="38" name="Shape 36"/>
          <p:cNvSpPr/>
          <p:nvPr/>
        </p:nvSpPr>
        <p:spPr>
          <a:xfrm>
            <a:off x="1271016" y="4743450"/>
            <a:ext cx="109728" cy="441198"/>
          </a:xfrm>
          <a:prstGeom prst="rect">
            <a:avLst/>
          </a:prstGeom>
          <a:solidFill>
            <a:srgbClr val="8C96A8"/>
          </a:solidFill>
          <a:ln w="9525">
            <a:solidFill>
              <a:srgbClr val="5A6275"/>
            </a:solidFill>
            <a:prstDash val="solid"/>
          </a:ln>
        </p:spPr>
      </p:sp>
      <p:sp>
        <p:nvSpPr>
          <p:cNvPr id="39" name="Shape 37"/>
          <p:cNvSpPr/>
          <p:nvPr/>
        </p:nvSpPr>
        <p:spPr>
          <a:xfrm>
            <a:off x="1225296" y="4286250"/>
            <a:ext cx="201168" cy="457200"/>
          </a:xfrm>
          <a:prstGeom prst="triangle">
            <a:avLst/>
          </a:prstGeom>
          <a:solidFill>
            <a:srgbClr val="5B8DEF"/>
          </a:solidFill>
          <a:ln w="9525">
            <a:solidFill>
              <a:srgbClr val="2F5FBF"/>
            </a:solidFill>
            <a:prstDash val="solid"/>
          </a:ln>
        </p:spPr>
      </p:sp>
      <p:sp>
        <p:nvSpPr>
          <p:cNvPr id="40" name="Shape 38"/>
          <p:cNvSpPr/>
          <p:nvPr/>
        </p:nvSpPr>
        <p:spPr>
          <a:xfrm>
            <a:off x="1280160" y="4469130"/>
            <a:ext cx="91440" cy="274320"/>
          </a:xfrm>
          <a:prstGeom prst="triangle">
            <a:avLst/>
          </a:prstGeom>
          <a:solidFill>
            <a:srgbClr val="BFD4FB"/>
          </a:solidFill>
          <a:ln/>
        </p:spPr>
      </p:sp>
      <p:sp>
        <p:nvSpPr>
          <p:cNvPr id="41" name="Shape 39"/>
          <p:cNvSpPr/>
          <p:nvPr/>
        </p:nvSpPr>
        <p:spPr>
          <a:xfrm flipV="1">
            <a:off x="3988618" y="3701807"/>
            <a:ext cx="91" cy="210312"/>
          </a:xfrm>
          <a:prstGeom prst="line">
            <a:avLst/>
          </a:prstGeom>
          <a:noFill/>
          <a:ln w="19050">
            <a:solidFill>
              <a:srgbClr val="6A3FA0"/>
            </a:solidFill>
            <a:prstDash val="solid"/>
            <a:tailEnd type="triangle"/>
          </a:ln>
        </p:spPr>
      </p:sp>
      <p:sp>
        <p:nvSpPr>
          <p:cNvPr id="42" name="Text 40"/>
          <p:cNvSpPr/>
          <p:nvPr/>
        </p:nvSpPr>
        <p:spPr>
          <a:xfrm>
            <a:off x="3439978" y="3921263"/>
            <a:ext cx="914400" cy="201168"/>
          </a:xfrm>
          <a:prstGeom prst="rect">
            <a:avLst/>
          </a:prstGeom>
          <a:noFill/>
          <a:ln/>
        </p:spPr>
        <p:txBody>
          <a:bodyPr wrap="square" lIns="0" tIns="0" rIns="0" bIns="0" rtlCol="0" anchor="ctr"/>
          <a:lstStyle/>
          <a:p>
            <a:pPr algn="ctr" indent="0" marL="0">
              <a:buNone/>
            </a:pPr>
            <a:r>
              <a:rPr lang="en-US" sz="1000" b="1" dirty="0">
                <a:solidFill>
                  <a:srgbClr val="6A3FA0"/>
                </a:solidFill>
                <a:latin typeface="Calibri" pitchFamily="34" charset="0"/>
                <a:ea typeface="Calibri" pitchFamily="34" charset="-122"/>
                <a:cs typeface="Calibri" pitchFamily="34" charset="-120"/>
              </a:rPr>
              <a:t>cold water in</a:t>
            </a:r>
            <a:endParaRPr lang="en-US" sz="1000" dirty="0"/>
          </a:p>
        </p:txBody>
      </p:sp>
      <p:sp>
        <p:nvSpPr>
          <p:cNvPr id="43" name="Shape 41"/>
          <p:cNvSpPr/>
          <p:nvPr/>
        </p:nvSpPr>
        <p:spPr>
          <a:xfrm flipV="1">
            <a:off x="2028134" y="1866889"/>
            <a:ext cx="320040" cy="201168"/>
          </a:xfrm>
          <a:prstGeom prst="line">
            <a:avLst/>
          </a:prstGeom>
          <a:noFill/>
          <a:ln w="19050">
            <a:solidFill>
              <a:srgbClr val="6A3FA0"/>
            </a:solidFill>
            <a:prstDash val="solid"/>
            <a:tailEnd type="triangle"/>
          </a:ln>
        </p:spPr>
      </p:sp>
      <p:sp>
        <p:nvSpPr>
          <p:cNvPr id="44" name="Text 42"/>
          <p:cNvSpPr/>
          <p:nvPr/>
        </p:nvSpPr>
        <p:spPr>
          <a:xfrm>
            <a:off x="2348174" y="1702297"/>
            <a:ext cx="1005840" cy="201168"/>
          </a:xfrm>
          <a:prstGeom prst="rect">
            <a:avLst/>
          </a:prstGeom>
          <a:noFill/>
          <a:ln/>
        </p:spPr>
        <p:txBody>
          <a:bodyPr wrap="square" lIns="0" tIns="0" rIns="0" bIns="0" rtlCol="0" anchor="ctr"/>
          <a:lstStyle/>
          <a:p>
            <a:pPr algn="l" indent="0" marL="0">
              <a:buNone/>
            </a:pPr>
            <a:r>
              <a:rPr lang="en-US" sz="1000" b="1" dirty="0">
                <a:solidFill>
                  <a:srgbClr val="6A3FA0"/>
                </a:solidFill>
                <a:latin typeface="Calibri" pitchFamily="34" charset="0"/>
                <a:ea typeface="Calibri" pitchFamily="34" charset="-122"/>
                <a:cs typeface="Calibri" pitchFamily="34" charset="-120"/>
              </a:rPr>
              <a:t>water out</a:t>
            </a:r>
            <a:endParaRPr lang="en-US" sz="1000" dirty="0"/>
          </a:p>
        </p:txBody>
      </p:sp>
      <p:sp>
        <p:nvSpPr>
          <p:cNvPr id="45" name="Text 43"/>
          <p:cNvSpPr/>
          <p:nvPr/>
        </p:nvSpPr>
        <p:spPr>
          <a:xfrm>
            <a:off x="3429000" y="1874520"/>
            <a:ext cx="1463040"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Liebig condenser</a:t>
            </a:r>
            <a:endParaRPr lang="en-US" sz="1000" dirty="0"/>
          </a:p>
        </p:txBody>
      </p:sp>
      <p:sp>
        <p:nvSpPr>
          <p:cNvPr id="46" name="Shape 44"/>
          <p:cNvSpPr/>
          <p:nvPr/>
        </p:nvSpPr>
        <p:spPr>
          <a:xfrm flipH="1">
            <a:off x="3017520" y="1984248"/>
            <a:ext cx="384048" cy="713232"/>
          </a:xfrm>
          <a:prstGeom prst="line">
            <a:avLst/>
          </a:prstGeom>
          <a:noFill/>
          <a:ln w="9525">
            <a:solidFill>
              <a:srgbClr val="8A8F99"/>
            </a:solidFill>
            <a:prstDash val="solid"/>
          </a:ln>
        </p:spPr>
      </p:sp>
      <p:sp>
        <p:nvSpPr>
          <p:cNvPr id="47" name="Text 45"/>
          <p:cNvSpPr/>
          <p:nvPr/>
        </p:nvSpPr>
        <p:spPr>
          <a:xfrm>
            <a:off x="1600200" y="1325880"/>
            <a:ext cx="1371600" cy="384048"/>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thermometer bulb level with the side arm</a:t>
            </a:r>
            <a:endParaRPr lang="en-US" sz="1000" dirty="0"/>
          </a:p>
        </p:txBody>
      </p:sp>
      <p:sp>
        <p:nvSpPr>
          <p:cNvPr id="48" name="Shape 46"/>
          <p:cNvSpPr/>
          <p:nvPr/>
        </p:nvSpPr>
        <p:spPr>
          <a:xfrm flipH="1">
            <a:off x="1399032" y="1517904"/>
            <a:ext cx="173736" cy="704088"/>
          </a:xfrm>
          <a:prstGeom prst="line">
            <a:avLst/>
          </a:prstGeom>
          <a:noFill/>
          <a:ln w="9525">
            <a:solidFill>
              <a:srgbClr val="8A8F99"/>
            </a:solidFill>
            <a:prstDash val="solid"/>
          </a:ln>
        </p:spPr>
      </p:sp>
      <p:sp>
        <p:nvSpPr>
          <p:cNvPr id="49" name="Text 47"/>
          <p:cNvSpPr/>
          <p:nvPr/>
        </p:nvSpPr>
        <p:spPr>
          <a:xfrm>
            <a:off x="2194560" y="3794760"/>
            <a:ext cx="1463040" cy="384048"/>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salt water + anti-bumping granules</a:t>
            </a:r>
            <a:endParaRPr lang="en-US" sz="1000" dirty="0"/>
          </a:p>
        </p:txBody>
      </p:sp>
      <p:sp>
        <p:nvSpPr>
          <p:cNvPr id="50" name="Shape 48"/>
          <p:cNvSpPr/>
          <p:nvPr/>
        </p:nvSpPr>
        <p:spPr>
          <a:xfrm flipH="1" flipV="1">
            <a:off x="1783080" y="3749040"/>
            <a:ext cx="384048" cy="237744"/>
          </a:xfrm>
          <a:prstGeom prst="line">
            <a:avLst/>
          </a:prstGeom>
          <a:noFill/>
          <a:ln w="9525">
            <a:solidFill>
              <a:srgbClr val="8A8F99"/>
            </a:solidFill>
            <a:prstDash val="solid"/>
          </a:ln>
        </p:spPr>
      </p:sp>
      <p:sp>
        <p:nvSpPr>
          <p:cNvPr id="51" name="Text 49"/>
          <p:cNvSpPr/>
          <p:nvPr/>
        </p:nvSpPr>
        <p:spPr>
          <a:xfrm>
            <a:off x="3017520" y="4846320"/>
            <a:ext cx="1325880" cy="384048"/>
          </a:xfrm>
          <a:prstGeom prst="rect">
            <a:avLst/>
          </a:prstGeom>
          <a:noFill/>
          <a:ln/>
        </p:spPr>
        <p:txBody>
          <a:bodyPr wrap="square" lIns="0" tIns="0" rIns="0" bIns="0" rtlCol="0" anchor="ctr"/>
          <a:lstStyle/>
          <a:p>
            <a:pPr algn="r" indent="0" marL="0">
              <a:buNone/>
            </a:pPr>
            <a:r>
              <a:rPr lang="en-US" sz="1000" b="1" dirty="0">
                <a:solidFill>
                  <a:srgbClr val="262B3A"/>
                </a:solidFill>
                <a:latin typeface="Calibri" pitchFamily="34" charset="0"/>
                <a:ea typeface="Calibri" pitchFamily="34" charset="-122"/>
                <a:cs typeface="Calibri" pitchFamily="34" charset="-120"/>
              </a:rPr>
              <a:t>distillate</a:t>
            </a:r>
            <a:r>
              <a:rPr lang="en-US" sz="1000" dirty="0">
                <a:solidFill>
                  <a:srgbClr val="262B3A"/>
                </a:solidFill>
                <a:latin typeface="Calibri" pitchFamily="34" charset="0"/>
                <a:ea typeface="Calibri" pitchFamily="34" charset="-122"/>
                <a:cs typeface="Calibri" pitchFamily="34" charset="-120"/>
              </a:rPr>
              <a:t>: pure water</a:t>
            </a:r>
            <a:endParaRPr lang="en-US" sz="1000" dirty="0"/>
          </a:p>
        </p:txBody>
      </p:sp>
      <p:sp>
        <p:nvSpPr>
          <p:cNvPr id="52" name="Shape 50"/>
          <p:cNvSpPr/>
          <p:nvPr/>
        </p:nvSpPr>
        <p:spPr>
          <a:xfrm flipV="1">
            <a:off x="4370832" y="4617720"/>
            <a:ext cx="155448" cy="420624"/>
          </a:xfrm>
          <a:prstGeom prst="line">
            <a:avLst/>
          </a:prstGeom>
          <a:noFill/>
          <a:ln w="9525">
            <a:solidFill>
              <a:srgbClr val="8A8F99"/>
            </a:solidFill>
            <a:prstDash val="solid"/>
          </a:ln>
        </p:spPr>
      </p:sp>
      <p:sp>
        <p:nvSpPr>
          <p:cNvPr id="53" name="Shape 51"/>
          <p:cNvSpPr/>
          <p:nvPr/>
        </p:nvSpPr>
        <p:spPr>
          <a:xfrm>
            <a:off x="6217920" y="1188720"/>
            <a:ext cx="5562295" cy="3108960"/>
          </a:xfrm>
          <a:prstGeom prst="roundRect">
            <a:avLst>
              <a:gd name="adj" fmla="val 1765"/>
            </a:avLst>
          </a:prstGeom>
          <a:solidFill>
            <a:srgbClr val="F8F5FC"/>
          </a:solidFill>
          <a:ln w="9525">
            <a:solidFill>
              <a:srgbClr val="DDD3EC"/>
            </a:solidFill>
            <a:prstDash val="solid"/>
          </a:ln>
        </p:spPr>
      </p:sp>
      <p:sp>
        <p:nvSpPr>
          <p:cNvPr id="54" name="Text 5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How it works</a:t>
            </a:r>
            <a:endParaRPr lang="en-US" sz="1300" dirty="0"/>
          </a:p>
        </p:txBody>
      </p:sp>
      <p:sp>
        <p:nvSpPr>
          <p:cNvPr id="55" name="Text 53"/>
          <p:cNvSpPr/>
          <p:nvPr/>
        </p:nvSpPr>
        <p:spPr>
          <a:xfrm>
            <a:off x="6382512" y="1609344"/>
            <a:ext cx="5233111" cy="26151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Simple distillation separates a </a:t>
            </a:r>
            <a:r>
              <a:rPr lang="en-US" sz="1100" b="1" dirty="0">
                <a:solidFill>
                  <a:srgbClr val="262B3A"/>
                </a:solidFill>
                <a:latin typeface="Calibri" pitchFamily="34" charset="0"/>
                <a:ea typeface="Calibri" pitchFamily="34" charset="-122"/>
                <a:cs typeface="Calibri" pitchFamily="34" charset="-120"/>
              </a:rPr>
              <a:t>liquid</a:t>
            </a:r>
            <a:r>
              <a:rPr lang="en-US" sz="1100" dirty="0">
                <a:solidFill>
                  <a:srgbClr val="262B3A"/>
                </a:solidFill>
                <a:latin typeface="Calibri" pitchFamily="34" charset="0"/>
                <a:ea typeface="Calibri" pitchFamily="34" charset="-122"/>
                <a:cs typeface="Calibri" pitchFamily="34" charset="-120"/>
              </a:rPr>
              <a:t> from a </a:t>
            </a:r>
            <a:r>
              <a:rPr lang="en-US" sz="1100" b="1" dirty="0">
                <a:solidFill>
                  <a:srgbClr val="262B3A"/>
                </a:solidFill>
                <a:latin typeface="Calibri" pitchFamily="34" charset="0"/>
                <a:ea typeface="Calibri" pitchFamily="34" charset="-122"/>
                <a:cs typeface="Calibri" pitchFamily="34" charset="-120"/>
              </a:rPr>
              <a:t>solution</a:t>
            </a:r>
            <a:r>
              <a:rPr lang="en-US" sz="1100" dirty="0">
                <a:solidFill>
                  <a:srgbClr val="262B3A"/>
                </a:solidFill>
                <a:latin typeface="Calibri" pitchFamily="34" charset="0"/>
                <a:ea typeface="Calibri" pitchFamily="34" charset="-122"/>
                <a:cs typeface="Calibri" pitchFamily="34" charset="-120"/>
              </a:rPr>
              <a:t>, e.g. pure water from salt water or inky water.</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Heat the solution: the </a:t>
            </a:r>
            <a:r>
              <a:rPr lang="en-US" sz="1100" b="1" dirty="0">
                <a:solidFill>
                  <a:srgbClr val="262B3A"/>
                </a:solidFill>
                <a:latin typeface="Calibri" pitchFamily="34" charset="0"/>
                <a:ea typeface="Calibri" pitchFamily="34" charset="-122"/>
                <a:cs typeface="Calibri" pitchFamily="34" charset="-120"/>
              </a:rPr>
              <a:t>water boils</a:t>
            </a:r>
            <a:r>
              <a:rPr lang="en-US" sz="1100" dirty="0">
                <a:solidFill>
                  <a:srgbClr val="262B3A"/>
                </a:solidFill>
                <a:latin typeface="Calibri" pitchFamily="34" charset="0"/>
                <a:ea typeface="Calibri" pitchFamily="34" charset="-122"/>
                <a:cs typeface="Calibri" pitchFamily="34" charset="-120"/>
              </a:rPr>
              <a:t>, the vapour moves into the </a:t>
            </a:r>
            <a:r>
              <a:rPr lang="en-US" sz="1100" b="1" dirty="0">
                <a:solidFill>
                  <a:srgbClr val="262B3A"/>
                </a:solidFill>
                <a:latin typeface="Calibri" pitchFamily="34" charset="0"/>
                <a:ea typeface="Calibri" pitchFamily="34" charset="-122"/>
                <a:cs typeface="Calibri" pitchFamily="34" charset="-120"/>
              </a:rPr>
              <a:t>condenser</a:t>
            </a:r>
            <a:r>
              <a:rPr lang="en-US" sz="1100" dirty="0">
                <a:solidFill>
                  <a:srgbClr val="262B3A"/>
                </a:solidFill>
                <a:latin typeface="Calibri" pitchFamily="34" charset="0"/>
                <a:ea typeface="Calibri" pitchFamily="34" charset="-122"/>
                <a:cs typeface="Calibri" pitchFamily="34" charset="-120"/>
              </a:rPr>
              <a:t>, is </a:t>
            </a:r>
            <a:r>
              <a:rPr lang="en-US" sz="1100" b="1" dirty="0">
                <a:solidFill>
                  <a:srgbClr val="262B3A"/>
                </a:solidFill>
                <a:latin typeface="Calibri" pitchFamily="34" charset="0"/>
                <a:ea typeface="Calibri" pitchFamily="34" charset="-122"/>
                <a:cs typeface="Calibri" pitchFamily="34" charset="-120"/>
              </a:rPr>
              <a:t>cooled</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condenses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pure liquid collected is the </a:t>
            </a:r>
            <a:r>
              <a:rPr lang="en-US" sz="1100" b="1" dirty="0">
                <a:solidFill>
                  <a:srgbClr val="262B3A"/>
                </a:solidFill>
                <a:latin typeface="Calibri" pitchFamily="34" charset="0"/>
                <a:ea typeface="Calibri" pitchFamily="34" charset="-122"/>
                <a:cs typeface="Calibri" pitchFamily="34" charset="-120"/>
              </a:rPr>
              <a:t>distillate</a:t>
            </a:r>
            <a:r>
              <a:rPr lang="en-US" sz="1100" dirty="0">
                <a:solidFill>
                  <a:srgbClr val="262B3A"/>
                </a:solidFill>
                <a:latin typeface="Calibri" pitchFamily="34" charset="0"/>
                <a:ea typeface="Calibri" pitchFamily="34" charset="-122"/>
                <a:cs typeface="Calibri" pitchFamily="34" charset="-120"/>
              </a:rPr>
              <a:t>. The dissolved solid stays in the flask.</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thermometer bulb sits at the </a:t>
            </a:r>
            <a:r>
              <a:rPr lang="en-US" sz="1100" b="1" dirty="0">
                <a:solidFill>
                  <a:srgbClr val="262B3A"/>
                </a:solidFill>
                <a:latin typeface="Calibri" pitchFamily="34" charset="0"/>
                <a:ea typeface="Calibri" pitchFamily="34" charset="-122"/>
                <a:cs typeface="Calibri" pitchFamily="34" charset="-120"/>
              </a:rPr>
              <a:t>side arm</a:t>
            </a:r>
            <a:r>
              <a:rPr lang="en-US" sz="1100" dirty="0">
                <a:solidFill>
                  <a:srgbClr val="262B3A"/>
                </a:solidFill>
                <a:latin typeface="Calibri" pitchFamily="34" charset="0"/>
                <a:ea typeface="Calibri" pitchFamily="34" charset="-122"/>
                <a:cs typeface="Calibri" pitchFamily="34" charset="-120"/>
              </a:rPr>
              <a:t> to measure the temperature of the vapour leaving: </a:t>
            </a:r>
            <a:r>
              <a:rPr lang="en-US" sz="1100" b="1" dirty="0">
                <a:solidFill>
                  <a:srgbClr val="262B3A"/>
                </a:solidFill>
                <a:latin typeface="Calibri" pitchFamily="34" charset="0"/>
                <a:ea typeface="Calibri" pitchFamily="34" charset="-122"/>
                <a:cs typeface="Calibri" pitchFamily="34" charset="-120"/>
              </a:rPr>
              <a:t>100 °C</a:t>
            </a:r>
            <a:r>
              <a:rPr lang="en-US" sz="1100" dirty="0">
                <a:solidFill>
                  <a:srgbClr val="262B3A"/>
                </a:solidFill>
                <a:latin typeface="Calibri" pitchFamily="34" charset="0"/>
                <a:ea typeface="Calibri" pitchFamily="34" charset="-122"/>
                <a:cs typeface="Calibri" pitchFamily="34" charset="-120"/>
              </a:rPr>
              <a:t> for water.</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Cold water enters the condenser at the </a:t>
            </a:r>
            <a:r>
              <a:rPr lang="en-US" sz="1100" b="1" dirty="0">
                <a:solidFill>
                  <a:srgbClr val="262B3A"/>
                </a:solidFill>
                <a:latin typeface="Calibri" pitchFamily="34" charset="0"/>
                <a:ea typeface="Calibri" pitchFamily="34" charset="-122"/>
                <a:cs typeface="Calibri" pitchFamily="34" charset="-120"/>
              </a:rPr>
              <a:t>bottom</a:t>
            </a:r>
            <a:r>
              <a:rPr lang="en-US" sz="1100" dirty="0">
                <a:solidFill>
                  <a:srgbClr val="262B3A"/>
                </a:solidFill>
                <a:latin typeface="Calibri" pitchFamily="34" charset="0"/>
                <a:ea typeface="Calibri" pitchFamily="34" charset="-122"/>
                <a:cs typeface="Calibri" pitchFamily="34" charset="-120"/>
              </a:rPr>
              <a:t> so the jacket stays </a:t>
            </a:r>
            <a:r>
              <a:rPr lang="en-US" sz="1100" b="1" dirty="0">
                <a:solidFill>
                  <a:srgbClr val="262B3A"/>
                </a:solidFill>
                <a:latin typeface="Calibri" pitchFamily="34" charset="0"/>
                <a:ea typeface="Calibri" pitchFamily="34" charset="-122"/>
                <a:cs typeface="Calibri" pitchFamily="34" charset="-120"/>
              </a:rPr>
              <a:t>full</a:t>
            </a:r>
            <a:r>
              <a:rPr lang="en-US" sz="1100" dirty="0">
                <a:solidFill>
                  <a:srgbClr val="262B3A"/>
                </a:solidFill>
                <a:latin typeface="Calibri" pitchFamily="34" charset="0"/>
                <a:ea typeface="Calibri" pitchFamily="34" charset="-122"/>
                <a:cs typeface="Calibri" pitchFamily="34" charset="-120"/>
              </a:rPr>
              <a:t> and cooling is efficient.</a:t>
            </a:r>
            <a:endParaRPr lang="en-US" sz="1100" dirty="0"/>
          </a:p>
        </p:txBody>
      </p:sp>
      <p:sp>
        <p:nvSpPr>
          <p:cNvPr id="56" name="Shape 54"/>
          <p:cNvSpPr/>
          <p:nvPr/>
        </p:nvSpPr>
        <p:spPr>
          <a:xfrm>
            <a:off x="6217920" y="4434840"/>
            <a:ext cx="5562295" cy="1280160"/>
          </a:xfrm>
          <a:prstGeom prst="roundRect">
            <a:avLst>
              <a:gd name="adj" fmla="val 4286"/>
            </a:avLst>
          </a:prstGeom>
          <a:solidFill>
            <a:srgbClr val="FFF4E0"/>
          </a:solidFill>
          <a:ln w="9525">
            <a:solidFill>
              <a:srgbClr val="F1D9A8"/>
            </a:solidFill>
            <a:prstDash val="solid"/>
          </a:ln>
        </p:spPr>
      </p:sp>
      <p:sp>
        <p:nvSpPr>
          <p:cNvPr id="57" name="Text 55"/>
          <p:cNvSpPr/>
          <p:nvPr/>
        </p:nvSpPr>
        <p:spPr>
          <a:xfrm>
            <a:off x="6382512" y="45079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sea water</a:t>
            </a:r>
            <a:endParaRPr lang="en-US" sz="1300" dirty="0"/>
          </a:p>
        </p:txBody>
      </p:sp>
      <p:sp>
        <p:nvSpPr>
          <p:cNvPr id="58" name="Text 56"/>
          <p:cNvSpPr/>
          <p:nvPr/>
        </p:nvSpPr>
        <p:spPr>
          <a:xfrm>
            <a:off x="6382512" y="4818888"/>
            <a:ext cx="5233111" cy="8229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200 g of sea water contains 3.5% salt by mass.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Salt   </a:t>
            </a:r>
            <a:r>
              <a:rPr lang="en-US" sz="1050" dirty="0">
                <a:solidFill>
                  <a:srgbClr val="262B3A"/>
                </a:solidFill>
                <a:latin typeface="Calibri" pitchFamily="34" charset="0"/>
                <a:ea typeface="Calibri" pitchFamily="34" charset="-122"/>
                <a:cs typeface="Calibri" pitchFamily="34" charset="-120"/>
              </a:rPr>
              <a:t>0.035 × 200 = 7.0 g stays in the flask</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up to 200 − 7.0 = </a:t>
            </a:r>
            <a:r>
              <a:rPr lang="en-US" sz="1050" b="1" dirty="0">
                <a:solidFill>
                  <a:srgbClr val="C8414C"/>
                </a:solidFill>
                <a:latin typeface="Calibri" pitchFamily="34" charset="0"/>
                <a:ea typeface="Calibri" pitchFamily="34" charset="-122"/>
                <a:cs typeface="Calibri" pitchFamily="34" charset="-120"/>
              </a:rPr>
              <a:t>193 g</a:t>
            </a:r>
            <a:r>
              <a:rPr lang="en-US" sz="1050" b="1" dirty="0">
                <a:solidFill>
                  <a:srgbClr val="C8414C"/>
                </a:solidFill>
                <a:latin typeface="Calibri" pitchFamily="34" charset="0"/>
                <a:ea typeface="Calibri" pitchFamily="34" charset="-122"/>
                <a:cs typeface="Calibri" pitchFamily="34" charset="-120"/>
              </a:rPr>
              <a:t> of pure water can be collected</a:t>
            </a:r>
            <a:endParaRPr lang="en-US" sz="1050" dirty="0"/>
          </a:p>
        </p:txBody>
      </p:sp>
      <p:sp>
        <p:nvSpPr>
          <p:cNvPr id="59" name="Shape 57"/>
          <p:cNvSpPr/>
          <p:nvPr/>
        </p:nvSpPr>
        <p:spPr>
          <a:xfrm>
            <a:off x="411480" y="5833872"/>
            <a:ext cx="11368735" cy="530352"/>
          </a:xfrm>
          <a:prstGeom prst="rect">
            <a:avLst/>
          </a:prstGeom>
          <a:solidFill>
            <a:srgbClr val="FFF4E0"/>
          </a:solidFill>
          <a:ln w="6350">
            <a:solidFill>
              <a:srgbClr val="F1D9A8"/>
            </a:solidFill>
            <a:prstDash val="solid"/>
          </a:ln>
        </p:spPr>
      </p:sp>
      <p:sp>
        <p:nvSpPr>
          <p:cNvPr id="60" name="Shape 58"/>
          <p:cNvSpPr/>
          <p:nvPr/>
        </p:nvSpPr>
        <p:spPr>
          <a:xfrm>
            <a:off x="411480" y="5833872"/>
            <a:ext cx="82296" cy="530352"/>
          </a:xfrm>
          <a:prstGeom prst="rect">
            <a:avLst/>
          </a:prstGeom>
          <a:solidFill>
            <a:srgbClr val="E39A2F"/>
          </a:solidFill>
          <a:ln w="12700">
            <a:solidFill>
              <a:srgbClr val="E39A2F"/>
            </a:solidFill>
            <a:prstDash val="solid"/>
          </a:ln>
        </p:spPr>
      </p:sp>
      <p:sp>
        <p:nvSpPr>
          <p:cNvPr id="61" name="Text 5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would the thermometer give the </a:t>
            </a:r>
            <a:r>
              <a:rPr lang="en-US" sz="1150" b="1" dirty="0">
                <a:solidFill>
                  <a:srgbClr val="262B3A"/>
                </a:solidFill>
                <a:latin typeface="Calibri" pitchFamily="34" charset="0"/>
                <a:ea typeface="Calibri" pitchFamily="34" charset="-122"/>
                <a:cs typeface="Calibri" pitchFamily="34" charset="-120"/>
              </a:rPr>
              <a:t>wrong</a:t>
            </a:r>
            <a:r>
              <a:rPr lang="en-US" sz="1150" dirty="0">
                <a:solidFill>
                  <a:srgbClr val="262B3A"/>
                </a:solidFill>
                <a:latin typeface="Calibri" pitchFamily="34" charset="0"/>
                <a:ea typeface="Calibri" pitchFamily="34" charset="-122"/>
                <a:cs typeface="Calibri" pitchFamily="34" charset="-120"/>
              </a:rPr>
              <a:t> reading if its bulb were </a:t>
            </a:r>
            <a:r>
              <a:rPr lang="en-US" sz="1150" b="1" dirty="0">
                <a:solidFill>
                  <a:srgbClr val="262B3A"/>
                </a:solidFill>
                <a:latin typeface="Calibri" pitchFamily="34" charset="0"/>
                <a:ea typeface="Calibri" pitchFamily="34" charset="-122"/>
                <a:cs typeface="Calibri" pitchFamily="34" charset="-120"/>
              </a:rPr>
              <a:t>in</a:t>
            </a:r>
            <a:r>
              <a:rPr lang="en-US" sz="1150" dirty="0">
                <a:solidFill>
                  <a:srgbClr val="262B3A"/>
                </a:solidFill>
                <a:latin typeface="Calibri" pitchFamily="34" charset="0"/>
                <a:ea typeface="Calibri" pitchFamily="34" charset="-122"/>
                <a:cs typeface="Calibri" pitchFamily="34" charset="-120"/>
              </a:rPr>
              <a:t> the salt water? What would it read?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Fractional distillation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C5.1.7 • separating miscible liquids with different boiling points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C5.1.7  |  17</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fractional distillation of ethanol and water, heated electrically; not to scale</a:t>
            </a:r>
            <a:endParaRPr lang="en-US" sz="1000" dirty="0"/>
          </a:p>
        </p:txBody>
      </p:sp>
      <p:sp>
        <p:nvSpPr>
          <p:cNvPr id="10" name="Shape 8"/>
          <p:cNvSpPr/>
          <p:nvPr/>
        </p:nvSpPr>
        <p:spPr>
          <a:xfrm>
            <a:off x="658368" y="3931920"/>
            <a:ext cx="1335024" cy="960120"/>
          </a:xfrm>
          <a:prstGeom prst="roundRect">
            <a:avLst>
              <a:gd name="adj" fmla="val 11429"/>
            </a:avLst>
          </a:prstGeom>
          <a:solidFill>
            <a:srgbClr val="B9A28A"/>
          </a:solidFill>
          <a:ln w="12700">
            <a:solidFill>
              <a:srgbClr val="6E5A44"/>
            </a:solidFill>
            <a:prstDash val="solid"/>
          </a:ln>
        </p:spPr>
      </p:sp>
      <p:sp>
        <p:nvSpPr>
          <p:cNvPr id="11" name="Shape 9"/>
          <p:cNvSpPr/>
          <p:nvPr/>
        </p:nvSpPr>
        <p:spPr>
          <a:xfrm>
            <a:off x="822960" y="3474720"/>
            <a:ext cx="1005840" cy="1005840"/>
          </a:xfrm>
          <a:prstGeom prst="ellipse">
            <a:avLst/>
          </a:prstGeom>
          <a:solidFill>
            <a:srgbClr val="EEF5FB"/>
          </a:solidFill>
          <a:ln/>
        </p:spPr>
      </p:sp>
      <p:sp>
        <p:nvSpPr>
          <p:cNvPr id="12" name="Shape 10"/>
          <p:cNvSpPr/>
          <p:nvPr/>
        </p:nvSpPr>
        <p:spPr>
          <a:xfrm>
            <a:off x="822960" y="3977640"/>
            <a:ext cx="1005840" cy="502920"/>
          </a:xfrm>
          <a:custGeom>
            <a:avLst/>
            <a:gdLst/>
            <a:ahLst/>
            <a:cxnLst/>
            <a:rect l="l" t="t" r="r" b="b"/>
            <a:pathLst>
              <a:path w="1005840" h="502920">
                <a:moveTo>
                  <a:pt x="1005840" y="0"/>
                </a:moveTo>
                <a:lnTo>
                  <a:pt x="1003085" y="52569"/>
                </a:lnTo>
                <a:lnTo>
                  <a:pt x="994850" y="104563"/>
                </a:lnTo>
                <a:lnTo>
                  <a:pt x="981225" y="155411"/>
                </a:lnTo>
                <a:lnTo>
                  <a:pt x="962360" y="204556"/>
                </a:lnTo>
                <a:lnTo>
                  <a:pt x="938461" y="251460"/>
                </a:lnTo>
                <a:lnTo>
                  <a:pt x="909791" y="295609"/>
                </a:lnTo>
                <a:lnTo>
                  <a:pt x="876662" y="336519"/>
                </a:lnTo>
                <a:lnTo>
                  <a:pt x="839439" y="373742"/>
                </a:lnTo>
                <a:lnTo>
                  <a:pt x="798529" y="406871"/>
                </a:lnTo>
                <a:lnTo>
                  <a:pt x="754380" y="435541"/>
                </a:lnTo>
                <a:lnTo>
                  <a:pt x="707476" y="459440"/>
                </a:lnTo>
                <a:lnTo>
                  <a:pt x="658331" y="478305"/>
                </a:lnTo>
                <a:lnTo>
                  <a:pt x="607483" y="491930"/>
                </a:lnTo>
                <a:lnTo>
                  <a:pt x="555489" y="500165"/>
                </a:lnTo>
                <a:lnTo>
                  <a:pt x="502920" y="502920"/>
                </a:lnTo>
                <a:lnTo>
                  <a:pt x="450351" y="500165"/>
                </a:lnTo>
                <a:lnTo>
                  <a:pt x="398357" y="491930"/>
                </a:lnTo>
                <a:lnTo>
                  <a:pt x="347509" y="478305"/>
                </a:lnTo>
                <a:lnTo>
                  <a:pt x="298364" y="459440"/>
                </a:lnTo>
                <a:lnTo>
                  <a:pt x="251460" y="435541"/>
                </a:lnTo>
                <a:lnTo>
                  <a:pt x="207311" y="406871"/>
                </a:lnTo>
                <a:lnTo>
                  <a:pt x="166401" y="373742"/>
                </a:lnTo>
                <a:lnTo>
                  <a:pt x="129178" y="336519"/>
                </a:lnTo>
                <a:lnTo>
                  <a:pt x="96049" y="295609"/>
                </a:lnTo>
                <a:lnTo>
                  <a:pt x="67379" y="251460"/>
                </a:lnTo>
                <a:lnTo>
                  <a:pt x="43480" y="204556"/>
                </a:lnTo>
                <a:lnTo>
                  <a:pt x="24615" y="155411"/>
                </a:lnTo>
                <a:lnTo>
                  <a:pt x="10990" y="104563"/>
                </a:lnTo>
                <a:lnTo>
                  <a:pt x="2755" y="52569"/>
                </a:lnTo>
                <a:lnTo>
                  <a:pt x="0" y="0"/>
                </a:lnTo>
                <a:close/>
              </a:path>
            </a:pathLst>
          </a:custGeom>
          <a:solidFill>
            <a:srgbClr val="E8F1D6"/>
          </a:solidFill>
          <a:ln/>
        </p:spPr>
      </p:sp>
      <p:sp>
        <p:nvSpPr>
          <p:cNvPr id="13" name="Shape 11"/>
          <p:cNvSpPr/>
          <p:nvPr/>
        </p:nvSpPr>
        <p:spPr>
          <a:xfrm>
            <a:off x="822960" y="3474720"/>
            <a:ext cx="1005840" cy="1005840"/>
          </a:xfrm>
          <a:prstGeom prst="ellipse">
            <a:avLst/>
          </a:prstGeom>
          <a:ln w="19050">
            <a:solidFill>
              <a:srgbClr val="2A1F3D"/>
            </a:solidFill>
            <a:prstDash val="solid"/>
          </a:ln>
        </p:spPr>
      </p:sp>
      <p:sp>
        <p:nvSpPr>
          <p:cNvPr id="14" name="Shape 12"/>
          <p:cNvSpPr/>
          <p:nvPr/>
        </p:nvSpPr>
        <p:spPr>
          <a:xfrm>
            <a:off x="1207008" y="3246120"/>
            <a:ext cx="237744" cy="283464"/>
          </a:xfrm>
          <a:prstGeom prst="rect">
            <a:avLst/>
          </a:prstGeom>
          <a:solidFill>
            <a:srgbClr val="EEF5FB"/>
          </a:solidFill>
          <a:ln/>
        </p:spPr>
      </p:sp>
      <p:sp>
        <p:nvSpPr>
          <p:cNvPr id="15" name="Shape 13"/>
          <p:cNvSpPr/>
          <p:nvPr/>
        </p:nvSpPr>
        <p:spPr>
          <a:xfrm>
            <a:off x="1207008" y="3246120"/>
            <a:ext cx="91" cy="243688"/>
          </a:xfrm>
          <a:prstGeom prst="line">
            <a:avLst/>
          </a:prstGeom>
          <a:noFill/>
          <a:ln w="19050">
            <a:solidFill>
              <a:srgbClr val="2A1F3D"/>
            </a:solidFill>
            <a:prstDash val="solid"/>
          </a:ln>
        </p:spPr>
      </p:sp>
      <p:sp>
        <p:nvSpPr>
          <p:cNvPr id="16" name="Shape 14"/>
          <p:cNvSpPr/>
          <p:nvPr/>
        </p:nvSpPr>
        <p:spPr>
          <a:xfrm>
            <a:off x="1444752" y="3246120"/>
            <a:ext cx="91" cy="243688"/>
          </a:xfrm>
          <a:prstGeom prst="line">
            <a:avLst/>
          </a:prstGeom>
          <a:noFill/>
          <a:ln w="19050">
            <a:solidFill>
              <a:srgbClr val="2A1F3D"/>
            </a:solidFill>
            <a:prstDash val="solid"/>
          </a:ln>
        </p:spPr>
      </p:sp>
      <p:sp>
        <p:nvSpPr>
          <p:cNvPr id="17" name="Text 15"/>
          <p:cNvSpPr/>
          <p:nvPr/>
        </p:nvSpPr>
        <p:spPr>
          <a:xfrm>
            <a:off x="658368" y="4901184"/>
            <a:ext cx="1335024" cy="201168"/>
          </a:xfrm>
          <a:prstGeom prst="rect">
            <a:avLst/>
          </a:prstGeom>
          <a:noFill/>
          <a:ln/>
        </p:spPr>
        <p:txBody>
          <a:bodyPr wrap="square" lIns="0" tIns="0" rIns="0" bIns="0" rtlCol="0" anchor="ctr"/>
          <a:lstStyle/>
          <a:p>
            <a:pPr algn="ctr" indent="0" marL="0">
              <a:buNone/>
            </a:pPr>
            <a:r>
              <a:rPr lang="en-US" sz="1000" b="1" dirty="0">
                <a:solidFill>
                  <a:srgbClr val="6E5A44"/>
                </a:solidFill>
                <a:latin typeface="Calibri" pitchFamily="34" charset="0"/>
                <a:ea typeface="Calibri" pitchFamily="34" charset="-122"/>
                <a:cs typeface="Calibri" pitchFamily="34" charset="-120"/>
              </a:rPr>
              <a:t>heating mantle</a:t>
            </a:r>
            <a:endParaRPr lang="en-US" sz="1000" dirty="0"/>
          </a:p>
        </p:txBody>
      </p:sp>
      <p:sp>
        <p:nvSpPr>
          <p:cNvPr id="18" name="Shape 16"/>
          <p:cNvSpPr/>
          <p:nvPr/>
        </p:nvSpPr>
        <p:spPr>
          <a:xfrm>
            <a:off x="1179576" y="1965960"/>
            <a:ext cx="292608" cy="1554480"/>
          </a:xfrm>
          <a:prstGeom prst="rect">
            <a:avLst/>
          </a:prstGeom>
          <a:solidFill>
            <a:srgbClr val="EEF5FB"/>
          </a:solidFill>
          <a:ln w="15875">
            <a:solidFill>
              <a:srgbClr val="2A1F3D"/>
            </a:solidFill>
            <a:prstDash val="solid"/>
          </a:ln>
        </p:spPr>
      </p:sp>
      <p:sp>
        <p:nvSpPr>
          <p:cNvPr id="19" name="Shape 17"/>
          <p:cNvSpPr/>
          <p:nvPr/>
        </p:nvSpPr>
        <p:spPr>
          <a:xfrm>
            <a:off x="1202436" y="2025396"/>
            <a:ext cx="100584" cy="100584"/>
          </a:xfrm>
          <a:prstGeom prst="ellipse">
            <a:avLst/>
          </a:prstGeom>
          <a:solidFill>
            <a:srgbClr val="FFFFFF"/>
          </a:solidFill>
          <a:ln w="6350">
            <a:solidFill>
              <a:srgbClr val="9AA3B0"/>
            </a:solidFill>
            <a:prstDash val="solid"/>
          </a:ln>
        </p:spPr>
      </p:sp>
      <p:sp>
        <p:nvSpPr>
          <p:cNvPr id="20" name="Shape 18"/>
          <p:cNvSpPr/>
          <p:nvPr/>
        </p:nvSpPr>
        <p:spPr>
          <a:xfrm>
            <a:off x="1348740" y="2025396"/>
            <a:ext cx="100584" cy="100584"/>
          </a:xfrm>
          <a:prstGeom prst="ellipse">
            <a:avLst/>
          </a:prstGeom>
          <a:solidFill>
            <a:srgbClr val="FFFFFF"/>
          </a:solidFill>
          <a:ln w="6350">
            <a:solidFill>
              <a:srgbClr val="9AA3B0"/>
            </a:solidFill>
            <a:prstDash val="solid"/>
          </a:ln>
        </p:spPr>
      </p:sp>
      <p:sp>
        <p:nvSpPr>
          <p:cNvPr id="21" name="Shape 19"/>
          <p:cNvSpPr/>
          <p:nvPr/>
        </p:nvSpPr>
        <p:spPr>
          <a:xfrm>
            <a:off x="1229868" y="2189988"/>
            <a:ext cx="100584" cy="100584"/>
          </a:xfrm>
          <a:prstGeom prst="ellipse">
            <a:avLst/>
          </a:prstGeom>
          <a:solidFill>
            <a:srgbClr val="FFFFFF"/>
          </a:solidFill>
          <a:ln w="6350">
            <a:solidFill>
              <a:srgbClr val="9AA3B0"/>
            </a:solidFill>
            <a:prstDash val="solid"/>
          </a:ln>
        </p:spPr>
      </p:sp>
      <p:sp>
        <p:nvSpPr>
          <p:cNvPr id="22" name="Shape 20"/>
          <p:cNvSpPr/>
          <p:nvPr/>
        </p:nvSpPr>
        <p:spPr>
          <a:xfrm>
            <a:off x="1376172" y="2189988"/>
            <a:ext cx="100584" cy="100584"/>
          </a:xfrm>
          <a:prstGeom prst="ellipse">
            <a:avLst/>
          </a:prstGeom>
          <a:solidFill>
            <a:srgbClr val="FFFFFF"/>
          </a:solidFill>
          <a:ln w="6350">
            <a:solidFill>
              <a:srgbClr val="9AA3B0"/>
            </a:solidFill>
            <a:prstDash val="solid"/>
          </a:ln>
        </p:spPr>
      </p:sp>
      <p:sp>
        <p:nvSpPr>
          <p:cNvPr id="23" name="Shape 21"/>
          <p:cNvSpPr/>
          <p:nvPr/>
        </p:nvSpPr>
        <p:spPr>
          <a:xfrm>
            <a:off x="1202436" y="2354580"/>
            <a:ext cx="100584" cy="100584"/>
          </a:xfrm>
          <a:prstGeom prst="ellipse">
            <a:avLst/>
          </a:prstGeom>
          <a:solidFill>
            <a:srgbClr val="FFFFFF"/>
          </a:solidFill>
          <a:ln w="6350">
            <a:solidFill>
              <a:srgbClr val="9AA3B0"/>
            </a:solidFill>
            <a:prstDash val="solid"/>
          </a:ln>
        </p:spPr>
      </p:sp>
      <p:sp>
        <p:nvSpPr>
          <p:cNvPr id="24" name="Shape 22"/>
          <p:cNvSpPr/>
          <p:nvPr/>
        </p:nvSpPr>
        <p:spPr>
          <a:xfrm>
            <a:off x="1348740" y="2354580"/>
            <a:ext cx="100584" cy="100584"/>
          </a:xfrm>
          <a:prstGeom prst="ellipse">
            <a:avLst/>
          </a:prstGeom>
          <a:solidFill>
            <a:srgbClr val="FFFFFF"/>
          </a:solidFill>
          <a:ln w="6350">
            <a:solidFill>
              <a:srgbClr val="9AA3B0"/>
            </a:solidFill>
            <a:prstDash val="solid"/>
          </a:ln>
        </p:spPr>
      </p:sp>
      <p:sp>
        <p:nvSpPr>
          <p:cNvPr id="25" name="Shape 23"/>
          <p:cNvSpPr/>
          <p:nvPr/>
        </p:nvSpPr>
        <p:spPr>
          <a:xfrm>
            <a:off x="1229868" y="2519172"/>
            <a:ext cx="100584" cy="100584"/>
          </a:xfrm>
          <a:prstGeom prst="ellipse">
            <a:avLst/>
          </a:prstGeom>
          <a:solidFill>
            <a:srgbClr val="FFFFFF"/>
          </a:solidFill>
          <a:ln w="6350">
            <a:solidFill>
              <a:srgbClr val="9AA3B0"/>
            </a:solidFill>
            <a:prstDash val="solid"/>
          </a:ln>
        </p:spPr>
      </p:sp>
      <p:sp>
        <p:nvSpPr>
          <p:cNvPr id="26" name="Shape 24"/>
          <p:cNvSpPr/>
          <p:nvPr/>
        </p:nvSpPr>
        <p:spPr>
          <a:xfrm>
            <a:off x="1376172" y="2519172"/>
            <a:ext cx="100584" cy="100584"/>
          </a:xfrm>
          <a:prstGeom prst="ellipse">
            <a:avLst/>
          </a:prstGeom>
          <a:solidFill>
            <a:srgbClr val="FFFFFF"/>
          </a:solidFill>
          <a:ln w="6350">
            <a:solidFill>
              <a:srgbClr val="9AA3B0"/>
            </a:solidFill>
            <a:prstDash val="solid"/>
          </a:ln>
        </p:spPr>
      </p:sp>
      <p:sp>
        <p:nvSpPr>
          <p:cNvPr id="27" name="Shape 25"/>
          <p:cNvSpPr/>
          <p:nvPr/>
        </p:nvSpPr>
        <p:spPr>
          <a:xfrm>
            <a:off x="1202436" y="2683764"/>
            <a:ext cx="100584" cy="100584"/>
          </a:xfrm>
          <a:prstGeom prst="ellipse">
            <a:avLst/>
          </a:prstGeom>
          <a:solidFill>
            <a:srgbClr val="FFFFFF"/>
          </a:solidFill>
          <a:ln w="6350">
            <a:solidFill>
              <a:srgbClr val="9AA3B0"/>
            </a:solidFill>
            <a:prstDash val="solid"/>
          </a:ln>
        </p:spPr>
      </p:sp>
      <p:sp>
        <p:nvSpPr>
          <p:cNvPr id="28" name="Shape 26"/>
          <p:cNvSpPr/>
          <p:nvPr/>
        </p:nvSpPr>
        <p:spPr>
          <a:xfrm>
            <a:off x="1348740" y="2683764"/>
            <a:ext cx="100584" cy="100584"/>
          </a:xfrm>
          <a:prstGeom prst="ellipse">
            <a:avLst/>
          </a:prstGeom>
          <a:solidFill>
            <a:srgbClr val="FFFFFF"/>
          </a:solidFill>
          <a:ln w="6350">
            <a:solidFill>
              <a:srgbClr val="9AA3B0"/>
            </a:solidFill>
            <a:prstDash val="solid"/>
          </a:ln>
        </p:spPr>
      </p:sp>
      <p:sp>
        <p:nvSpPr>
          <p:cNvPr id="29" name="Shape 27"/>
          <p:cNvSpPr/>
          <p:nvPr/>
        </p:nvSpPr>
        <p:spPr>
          <a:xfrm>
            <a:off x="1229868" y="2848356"/>
            <a:ext cx="100584" cy="100584"/>
          </a:xfrm>
          <a:prstGeom prst="ellipse">
            <a:avLst/>
          </a:prstGeom>
          <a:solidFill>
            <a:srgbClr val="FFFFFF"/>
          </a:solidFill>
          <a:ln w="6350">
            <a:solidFill>
              <a:srgbClr val="9AA3B0"/>
            </a:solidFill>
            <a:prstDash val="solid"/>
          </a:ln>
        </p:spPr>
      </p:sp>
      <p:sp>
        <p:nvSpPr>
          <p:cNvPr id="30" name="Shape 28"/>
          <p:cNvSpPr/>
          <p:nvPr/>
        </p:nvSpPr>
        <p:spPr>
          <a:xfrm>
            <a:off x="1376172" y="2848356"/>
            <a:ext cx="100584" cy="100584"/>
          </a:xfrm>
          <a:prstGeom prst="ellipse">
            <a:avLst/>
          </a:prstGeom>
          <a:solidFill>
            <a:srgbClr val="FFFFFF"/>
          </a:solidFill>
          <a:ln w="6350">
            <a:solidFill>
              <a:srgbClr val="9AA3B0"/>
            </a:solidFill>
            <a:prstDash val="solid"/>
          </a:ln>
        </p:spPr>
      </p:sp>
      <p:sp>
        <p:nvSpPr>
          <p:cNvPr id="31" name="Shape 29"/>
          <p:cNvSpPr/>
          <p:nvPr/>
        </p:nvSpPr>
        <p:spPr>
          <a:xfrm>
            <a:off x="1202436" y="3012948"/>
            <a:ext cx="100584" cy="100584"/>
          </a:xfrm>
          <a:prstGeom prst="ellipse">
            <a:avLst/>
          </a:prstGeom>
          <a:solidFill>
            <a:srgbClr val="FFFFFF"/>
          </a:solidFill>
          <a:ln w="6350">
            <a:solidFill>
              <a:srgbClr val="9AA3B0"/>
            </a:solidFill>
            <a:prstDash val="solid"/>
          </a:ln>
        </p:spPr>
      </p:sp>
      <p:sp>
        <p:nvSpPr>
          <p:cNvPr id="32" name="Shape 30"/>
          <p:cNvSpPr/>
          <p:nvPr/>
        </p:nvSpPr>
        <p:spPr>
          <a:xfrm>
            <a:off x="1348740" y="3012948"/>
            <a:ext cx="100584" cy="100584"/>
          </a:xfrm>
          <a:prstGeom prst="ellipse">
            <a:avLst/>
          </a:prstGeom>
          <a:solidFill>
            <a:srgbClr val="FFFFFF"/>
          </a:solidFill>
          <a:ln w="6350">
            <a:solidFill>
              <a:srgbClr val="9AA3B0"/>
            </a:solidFill>
            <a:prstDash val="solid"/>
          </a:ln>
        </p:spPr>
      </p:sp>
      <p:sp>
        <p:nvSpPr>
          <p:cNvPr id="33" name="Shape 31"/>
          <p:cNvSpPr/>
          <p:nvPr/>
        </p:nvSpPr>
        <p:spPr>
          <a:xfrm>
            <a:off x="1229868" y="3177540"/>
            <a:ext cx="100584" cy="100584"/>
          </a:xfrm>
          <a:prstGeom prst="ellipse">
            <a:avLst/>
          </a:prstGeom>
          <a:solidFill>
            <a:srgbClr val="FFFFFF"/>
          </a:solidFill>
          <a:ln w="6350">
            <a:solidFill>
              <a:srgbClr val="9AA3B0"/>
            </a:solidFill>
            <a:prstDash val="solid"/>
          </a:ln>
        </p:spPr>
      </p:sp>
      <p:sp>
        <p:nvSpPr>
          <p:cNvPr id="34" name="Shape 32"/>
          <p:cNvSpPr/>
          <p:nvPr/>
        </p:nvSpPr>
        <p:spPr>
          <a:xfrm>
            <a:off x="1376172" y="3177540"/>
            <a:ext cx="100584" cy="100584"/>
          </a:xfrm>
          <a:prstGeom prst="ellipse">
            <a:avLst/>
          </a:prstGeom>
          <a:solidFill>
            <a:srgbClr val="FFFFFF"/>
          </a:solidFill>
          <a:ln w="6350">
            <a:solidFill>
              <a:srgbClr val="9AA3B0"/>
            </a:solidFill>
            <a:prstDash val="solid"/>
          </a:ln>
        </p:spPr>
      </p:sp>
      <p:sp>
        <p:nvSpPr>
          <p:cNvPr id="35" name="Shape 33"/>
          <p:cNvSpPr/>
          <p:nvPr/>
        </p:nvSpPr>
        <p:spPr>
          <a:xfrm>
            <a:off x="1202436" y="3342132"/>
            <a:ext cx="100584" cy="100584"/>
          </a:xfrm>
          <a:prstGeom prst="ellipse">
            <a:avLst/>
          </a:prstGeom>
          <a:solidFill>
            <a:srgbClr val="FFFFFF"/>
          </a:solidFill>
          <a:ln w="6350">
            <a:solidFill>
              <a:srgbClr val="9AA3B0"/>
            </a:solidFill>
            <a:prstDash val="solid"/>
          </a:ln>
        </p:spPr>
      </p:sp>
      <p:sp>
        <p:nvSpPr>
          <p:cNvPr id="36" name="Shape 34"/>
          <p:cNvSpPr/>
          <p:nvPr/>
        </p:nvSpPr>
        <p:spPr>
          <a:xfrm>
            <a:off x="1348740" y="3342132"/>
            <a:ext cx="100584" cy="100584"/>
          </a:xfrm>
          <a:prstGeom prst="ellipse">
            <a:avLst/>
          </a:prstGeom>
          <a:solidFill>
            <a:srgbClr val="FFFFFF"/>
          </a:solidFill>
          <a:ln w="6350">
            <a:solidFill>
              <a:srgbClr val="9AA3B0"/>
            </a:solidFill>
            <a:prstDash val="solid"/>
          </a:ln>
        </p:spPr>
      </p:sp>
      <p:sp>
        <p:nvSpPr>
          <p:cNvPr id="37" name="Shape 35"/>
          <p:cNvSpPr/>
          <p:nvPr/>
        </p:nvSpPr>
        <p:spPr>
          <a:xfrm>
            <a:off x="1197864" y="1645920"/>
            <a:ext cx="256032" cy="329184"/>
          </a:xfrm>
          <a:prstGeom prst="rect">
            <a:avLst/>
          </a:prstGeom>
          <a:solidFill>
            <a:srgbClr val="EEF5FB"/>
          </a:solidFill>
          <a:ln w="15875">
            <a:solidFill>
              <a:srgbClr val="2A1F3D"/>
            </a:solidFill>
            <a:prstDash val="solid"/>
          </a:ln>
        </p:spPr>
      </p:sp>
      <p:sp>
        <p:nvSpPr>
          <p:cNvPr id="38" name="Shape 36"/>
          <p:cNvSpPr/>
          <p:nvPr/>
        </p:nvSpPr>
        <p:spPr>
          <a:xfrm>
            <a:off x="3746676" y="2966697"/>
            <a:ext cx="82296" cy="274320"/>
          </a:xfrm>
          <a:prstGeom prst="rect">
            <a:avLst/>
          </a:prstGeom>
          <a:solidFill>
            <a:srgbClr val="CFE4F7"/>
          </a:solidFill>
          <a:ln w="12700">
            <a:solidFill>
              <a:srgbClr val="2A1F3D"/>
            </a:solidFill>
            <a:prstDash val="solid"/>
          </a:ln>
        </p:spPr>
      </p:sp>
      <p:sp>
        <p:nvSpPr>
          <p:cNvPr id="39" name="Shape 37"/>
          <p:cNvSpPr/>
          <p:nvPr/>
        </p:nvSpPr>
        <p:spPr>
          <a:xfrm>
            <a:off x="1968324" y="1651023"/>
            <a:ext cx="82296" cy="274320"/>
          </a:xfrm>
          <a:prstGeom prst="rect">
            <a:avLst/>
          </a:prstGeom>
          <a:solidFill>
            <a:srgbClr val="CFE4F7"/>
          </a:solidFill>
          <a:ln w="12700">
            <a:solidFill>
              <a:srgbClr val="2A1F3D"/>
            </a:solidFill>
            <a:prstDash val="solid"/>
          </a:ln>
        </p:spPr>
      </p:sp>
      <p:sp>
        <p:nvSpPr>
          <p:cNvPr id="40" name="Shape 38"/>
          <p:cNvSpPr/>
          <p:nvPr/>
        </p:nvSpPr>
        <p:spPr>
          <a:xfrm>
            <a:off x="1743159" y="1842392"/>
            <a:ext cx="2310979" cy="1207256"/>
          </a:xfrm>
          <a:custGeom>
            <a:avLst/>
            <a:gdLst/>
            <a:ahLst/>
            <a:cxnLst/>
            <a:rect l="l" t="t" r="r" b="b"/>
            <a:pathLst>
              <a:path w="2310979" h="1207256">
                <a:moveTo>
                  <a:pt x="114956" y="0"/>
                </a:moveTo>
                <a:lnTo>
                  <a:pt x="2310979" y="938174"/>
                </a:lnTo>
                <a:lnTo>
                  <a:pt x="2196023" y="1207256"/>
                </a:lnTo>
                <a:lnTo>
                  <a:pt x="0" y="269081"/>
                </a:lnTo>
                <a:close/>
              </a:path>
            </a:pathLst>
          </a:custGeom>
          <a:solidFill>
            <a:srgbClr val="CFE4F7"/>
          </a:solidFill>
          <a:ln w="15875">
            <a:solidFill>
              <a:srgbClr val="2A1F3D"/>
            </a:solidFill>
            <a:prstDash val="solid"/>
          </a:ln>
        </p:spPr>
      </p:sp>
      <p:sp>
        <p:nvSpPr>
          <p:cNvPr id="41" name="Shape 39"/>
          <p:cNvSpPr/>
          <p:nvPr/>
        </p:nvSpPr>
        <p:spPr>
          <a:xfrm>
            <a:off x="1434138" y="1782552"/>
            <a:ext cx="2929020" cy="1326937"/>
          </a:xfrm>
          <a:custGeom>
            <a:avLst/>
            <a:gdLst/>
            <a:ahLst/>
            <a:cxnLst/>
            <a:rect l="l" t="t" r="r" b="b"/>
            <a:pathLst>
              <a:path w="2929020" h="1326937">
                <a:moveTo>
                  <a:pt x="39516" y="0"/>
                </a:moveTo>
                <a:lnTo>
                  <a:pt x="2929020" y="1234440"/>
                </a:lnTo>
                <a:lnTo>
                  <a:pt x="2889504" y="1326937"/>
                </a:lnTo>
                <a:lnTo>
                  <a:pt x="0" y="92497"/>
                </a:lnTo>
                <a:close/>
              </a:path>
            </a:pathLst>
          </a:custGeom>
          <a:solidFill>
            <a:srgbClr val="EEF5FB"/>
          </a:solidFill>
          <a:ln w="12700">
            <a:solidFill>
              <a:srgbClr val="2A1F3D"/>
            </a:solidFill>
            <a:prstDash val="solid"/>
          </a:ln>
        </p:spPr>
      </p:sp>
      <p:sp>
        <p:nvSpPr>
          <p:cNvPr id="42" name="Shape 40"/>
          <p:cNvSpPr/>
          <p:nvPr/>
        </p:nvSpPr>
        <p:spPr>
          <a:xfrm>
            <a:off x="1289304" y="1280160"/>
            <a:ext cx="73152" cy="548640"/>
          </a:xfrm>
          <a:prstGeom prst="roundRect">
            <a:avLst>
              <a:gd name="adj" fmla="val 37500"/>
            </a:avLst>
          </a:prstGeom>
          <a:solidFill>
            <a:srgbClr val="FFFFFF"/>
          </a:solidFill>
          <a:ln w="12700">
            <a:solidFill>
              <a:srgbClr val="2A1F3D"/>
            </a:solidFill>
            <a:prstDash val="solid"/>
          </a:ln>
        </p:spPr>
      </p:sp>
      <p:sp>
        <p:nvSpPr>
          <p:cNvPr id="43" name="Shape 41"/>
          <p:cNvSpPr/>
          <p:nvPr/>
        </p:nvSpPr>
        <p:spPr>
          <a:xfrm>
            <a:off x="1325880" y="1472184"/>
            <a:ext cx="91" cy="356616"/>
          </a:xfrm>
          <a:prstGeom prst="line">
            <a:avLst/>
          </a:prstGeom>
          <a:noFill/>
          <a:ln w="19050">
            <a:solidFill>
              <a:srgbClr val="C8414C"/>
            </a:solidFill>
            <a:prstDash val="solid"/>
          </a:ln>
        </p:spPr>
      </p:sp>
      <p:sp>
        <p:nvSpPr>
          <p:cNvPr id="44" name="Shape 42"/>
          <p:cNvSpPr/>
          <p:nvPr/>
        </p:nvSpPr>
        <p:spPr>
          <a:xfrm>
            <a:off x="1266444" y="1769364"/>
            <a:ext cx="118872" cy="118872"/>
          </a:xfrm>
          <a:prstGeom prst="ellipse">
            <a:avLst/>
          </a:prstGeom>
          <a:solidFill>
            <a:srgbClr val="C8414C"/>
          </a:solidFill>
          <a:ln w="9525">
            <a:solidFill>
              <a:srgbClr val="8E2A33"/>
            </a:solidFill>
            <a:prstDash val="solid"/>
          </a:ln>
        </p:spPr>
      </p:sp>
      <p:sp>
        <p:nvSpPr>
          <p:cNvPr id="45" name="Shape 43"/>
          <p:cNvSpPr/>
          <p:nvPr/>
        </p:nvSpPr>
        <p:spPr>
          <a:xfrm>
            <a:off x="4069080" y="3017520"/>
            <a:ext cx="914400" cy="1280160"/>
          </a:xfrm>
          <a:custGeom>
            <a:avLst/>
            <a:gdLst/>
            <a:ahLst/>
            <a:cxnLst/>
            <a:rect l="l" t="t" r="r" b="b"/>
            <a:pathLst>
              <a:path w="914400" h="1280160">
                <a:moveTo>
                  <a:pt x="320040" y="0"/>
                </a:moveTo>
                <a:lnTo>
                  <a:pt x="320040" y="384048"/>
                </a:lnTo>
                <a:lnTo>
                  <a:pt x="0" y="1280160"/>
                </a:lnTo>
                <a:lnTo>
                  <a:pt x="914400" y="1280160"/>
                </a:lnTo>
                <a:lnTo>
                  <a:pt x="594360" y="384048"/>
                </a:lnTo>
                <a:lnTo>
                  <a:pt x="594360" y="0"/>
                </a:lnTo>
                <a:close/>
              </a:path>
            </a:pathLst>
          </a:custGeom>
          <a:solidFill>
            <a:srgbClr val="EEF5FB"/>
          </a:solidFill>
          <a:ln/>
        </p:spPr>
      </p:sp>
      <p:sp>
        <p:nvSpPr>
          <p:cNvPr id="46" name="Shape 44"/>
          <p:cNvSpPr/>
          <p:nvPr/>
        </p:nvSpPr>
        <p:spPr>
          <a:xfrm>
            <a:off x="4069080" y="4073652"/>
            <a:ext cx="914400" cy="224028"/>
          </a:xfrm>
          <a:custGeom>
            <a:avLst/>
            <a:gdLst/>
            <a:ahLst/>
            <a:cxnLst/>
            <a:rect l="l" t="t" r="r" b="b"/>
            <a:pathLst>
              <a:path w="914400" h="224028">
                <a:moveTo>
                  <a:pt x="80010" y="0"/>
                </a:moveTo>
                <a:lnTo>
                  <a:pt x="0" y="224028"/>
                </a:lnTo>
                <a:lnTo>
                  <a:pt x="914400" y="224028"/>
                </a:lnTo>
                <a:lnTo>
                  <a:pt x="834390" y="0"/>
                </a:lnTo>
                <a:close/>
              </a:path>
            </a:pathLst>
          </a:custGeom>
          <a:solidFill>
            <a:srgbClr val="E8F1D6"/>
          </a:solidFill>
          <a:ln/>
        </p:spPr>
      </p:sp>
      <p:sp>
        <p:nvSpPr>
          <p:cNvPr id="47" name="Shape 45"/>
          <p:cNvSpPr/>
          <p:nvPr/>
        </p:nvSpPr>
        <p:spPr>
          <a:xfrm>
            <a:off x="4149090" y="4073652"/>
            <a:ext cx="754380" cy="91"/>
          </a:xfrm>
          <a:prstGeom prst="line">
            <a:avLst/>
          </a:prstGeom>
          <a:noFill/>
          <a:ln w="12700">
            <a:solidFill>
              <a:srgbClr val="5B9BD5"/>
            </a:solidFill>
            <a:prstDash val="solid"/>
          </a:ln>
        </p:spPr>
      </p:sp>
      <p:sp>
        <p:nvSpPr>
          <p:cNvPr id="48" name="Shape 46"/>
          <p:cNvSpPr/>
          <p:nvPr/>
        </p:nvSpPr>
        <p:spPr>
          <a:xfrm>
            <a:off x="4069080" y="3017520"/>
            <a:ext cx="914400" cy="1280160"/>
          </a:xfrm>
          <a:custGeom>
            <a:avLst/>
            <a:gdLst/>
            <a:ahLst/>
            <a:cxnLst/>
            <a:rect l="l" t="t" r="r" b="b"/>
            <a:pathLst>
              <a:path w="914400" h="1280160">
                <a:moveTo>
                  <a:pt x="320040" y="0"/>
                </a:moveTo>
                <a:lnTo>
                  <a:pt x="320040" y="384048"/>
                </a:lnTo>
                <a:lnTo>
                  <a:pt x="0" y="1280160"/>
                </a:lnTo>
                <a:lnTo>
                  <a:pt x="914400" y="1280160"/>
                </a:lnTo>
                <a:lnTo>
                  <a:pt x="594360" y="384048"/>
                </a:lnTo>
                <a:lnTo>
                  <a:pt x="594360" y="0"/>
                </a:lnTo>
              </a:path>
            </a:pathLst>
          </a:custGeom>
          <a:ln w="19050">
            <a:solidFill>
              <a:srgbClr val="2A1F3D"/>
            </a:solidFill>
            <a:prstDash val="solid"/>
          </a:ln>
        </p:spPr>
      </p:sp>
      <p:sp>
        <p:nvSpPr>
          <p:cNvPr id="49" name="Shape 47"/>
          <p:cNvSpPr/>
          <p:nvPr/>
        </p:nvSpPr>
        <p:spPr>
          <a:xfrm>
            <a:off x="548640" y="1965960"/>
            <a:ext cx="164592" cy="259080"/>
          </a:xfrm>
          <a:prstGeom prst="rect">
            <a:avLst/>
          </a:prstGeom>
          <a:solidFill>
            <a:srgbClr val="5B9BD5"/>
          </a:solidFill>
          <a:ln/>
        </p:spPr>
      </p:sp>
      <p:sp>
        <p:nvSpPr>
          <p:cNvPr id="50" name="Shape 48"/>
          <p:cNvSpPr/>
          <p:nvPr/>
        </p:nvSpPr>
        <p:spPr>
          <a:xfrm>
            <a:off x="548640" y="2225040"/>
            <a:ext cx="164592" cy="259080"/>
          </a:xfrm>
          <a:prstGeom prst="rect">
            <a:avLst/>
          </a:prstGeom>
          <a:solidFill>
            <a:srgbClr val="86A9D8"/>
          </a:solidFill>
          <a:ln/>
        </p:spPr>
      </p:sp>
      <p:sp>
        <p:nvSpPr>
          <p:cNvPr id="51" name="Shape 49"/>
          <p:cNvSpPr/>
          <p:nvPr/>
        </p:nvSpPr>
        <p:spPr>
          <a:xfrm>
            <a:off x="548640" y="2484120"/>
            <a:ext cx="164592" cy="259080"/>
          </a:xfrm>
          <a:prstGeom prst="rect">
            <a:avLst/>
          </a:prstGeom>
          <a:solidFill>
            <a:srgbClr val="B1A7C9"/>
          </a:solidFill>
          <a:ln/>
        </p:spPr>
      </p:sp>
      <p:sp>
        <p:nvSpPr>
          <p:cNvPr id="52" name="Shape 50"/>
          <p:cNvSpPr/>
          <p:nvPr/>
        </p:nvSpPr>
        <p:spPr>
          <a:xfrm>
            <a:off x="548640" y="2743200"/>
            <a:ext cx="164592" cy="259080"/>
          </a:xfrm>
          <a:prstGeom prst="rect">
            <a:avLst/>
          </a:prstGeom>
          <a:solidFill>
            <a:srgbClr val="D69A9A"/>
          </a:solidFill>
          <a:ln/>
        </p:spPr>
      </p:sp>
      <p:sp>
        <p:nvSpPr>
          <p:cNvPr id="53" name="Shape 51"/>
          <p:cNvSpPr/>
          <p:nvPr/>
        </p:nvSpPr>
        <p:spPr>
          <a:xfrm>
            <a:off x="548640" y="3002280"/>
            <a:ext cx="164592" cy="259080"/>
          </a:xfrm>
          <a:prstGeom prst="rect">
            <a:avLst/>
          </a:prstGeom>
          <a:solidFill>
            <a:srgbClr val="D9736F"/>
          </a:solidFill>
          <a:ln/>
        </p:spPr>
      </p:sp>
      <p:sp>
        <p:nvSpPr>
          <p:cNvPr id="54" name="Shape 52"/>
          <p:cNvSpPr/>
          <p:nvPr/>
        </p:nvSpPr>
        <p:spPr>
          <a:xfrm>
            <a:off x="548640" y="3261360"/>
            <a:ext cx="164592" cy="259080"/>
          </a:xfrm>
          <a:prstGeom prst="rect">
            <a:avLst/>
          </a:prstGeom>
          <a:solidFill>
            <a:srgbClr val="C8414C"/>
          </a:solidFill>
          <a:ln/>
        </p:spPr>
      </p:sp>
      <p:sp>
        <p:nvSpPr>
          <p:cNvPr id="55" name="Text 53"/>
          <p:cNvSpPr/>
          <p:nvPr/>
        </p:nvSpPr>
        <p:spPr>
          <a:xfrm>
            <a:off x="228600" y="1691640"/>
            <a:ext cx="822960" cy="201168"/>
          </a:xfrm>
          <a:prstGeom prst="rect">
            <a:avLst/>
          </a:prstGeom>
          <a:noFill/>
          <a:ln/>
        </p:spPr>
        <p:txBody>
          <a:bodyPr wrap="square" lIns="0" tIns="0" rIns="0" bIns="0" rtlCol="0" anchor="ctr"/>
          <a:lstStyle/>
          <a:p>
            <a:pPr algn="ctr" indent="0" marL="0">
              <a:buNone/>
            </a:pPr>
            <a:r>
              <a:rPr lang="en-US" sz="1000" b="1" dirty="0">
                <a:solidFill>
                  <a:srgbClr val="3A6FB0"/>
                </a:solidFill>
                <a:latin typeface="Calibri" pitchFamily="34" charset="0"/>
                <a:ea typeface="Calibri" pitchFamily="34" charset="-122"/>
                <a:cs typeface="Calibri" pitchFamily="34" charset="-120"/>
              </a:rPr>
              <a:t>cooler</a:t>
            </a:r>
            <a:endParaRPr lang="en-US" sz="1000" dirty="0"/>
          </a:p>
        </p:txBody>
      </p:sp>
      <p:sp>
        <p:nvSpPr>
          <p:cNvPr id="56" name="Text 54"/>
          <p:cNvSpPr/>
          <p:nvPr/>
        </p:nvSpPr>
        <p:spPr>
          <a:xfrm>
            <a:off x="228600" y="3538728"/>
            <a:ext cx="822960" cy="20116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hotter</a:t>
            </a:r>
            <a:endParaRPr lang="en-US" sz="1000" dirty="0"/>
          </a:p>
        </p:txBody>
      </p:sp>
      <p:sp>
        <p:nvSpPr>
          <p:cNvPr id="57" name="Text 55"/>
          <p:cNvSpPr/>
          <p:nvPr/>
        </p:nvSpPr>
        <p:spPr>
          <a:xfrm>
            <a:off x="1828800" y="2926080"/>
            <a:ext cx="1325880" cy="384048"/>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fractionating column with glass beads</a:t>
            </a:r>
            <a:endParaRPr lang="en-US" sz="1000" dirty="0"/>
          </a:p>
        </p:txBody>
      </p:sp>
      <p:sp>
        <p:nvSpPr>
          <p:cNvPr id="58" name="Shape 56"/>
          <p:cNvSpPr/>
          <p:nvPr/>
        </p:nvSpPr>
        <p:spPr>
          <a:xfrm flipH="1" flipV="1">
            <a:off x="1481328" y="2743200"/>
            <a:ext cx="320040" cy="374904"/>
          </a:xfrm>
          <a:prstGeom prst="line">
            <a:avLst/>
          </a:prstGeom>
          <a:noFill/>
          <a:ln w="9525">
            <a:solidFill>
              <a:srgbClr val="8A8F99"/>
            </a:solidFill>
            <a:prstDash val="solid"/>
          </a:ln>
        </p:spPr>
      </p:sp>
      <p:sp>
        <p:nvSpPr>
          <p:cNvPr id="59" name="Text 57"/>
          <p:cNvSpPr/>
          <p:nvPr/>
        </p:nvSpPr>
        <p:spPr>
          <a:xfrm>
            <a:off x="2377440" y="1280160"/>
            <a:ext cx="2194560"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thermometer reads 78 °C while ethanol distils</a:t>
            </a:r>
            <a:endParaRPr lang="en-US" sz="1000" dirty="0"/>
          </a:p>
        </p:txBody>
      </p:sp>
      <p:sp>
        <p:nvSpPr>
          <p:cNvPr id="60" name="Shape 58"/>
          <p:cNvSpPr/>
          <p:nvPr/>
        </p:nvSpPr>
        <p:spPr>
          <a:xfrm flipH="1">
            <a:off x="1399032" y="1389888"/>
            <a:ext cx="950976" cy="438912"/>
          </a:xfrm>
          <a:prstGeom prst="line">
            <a:avLst/>
          </a:prstGeom>
          <a:noFill/>
          <a:ln w="9525">
            <a:solidFill>
              <a:srgbClr val="8A8F99"/>
            </a:solidFill>
            <a:prstDash val="solid"/>
          </a:ln>
        </p:spPr>
      </p:sp>
      <p:sp>
        <p:nvSpPr>
          <p:cNvPr id="61" name="Text 59"/>
          <p:cNvSpPr/>
          <p:nvPr/>
        </p:nvSpPr>
        <p:spPr>
          <a:xfrm>
            <a:off x="2331720" y="3931920"/>
            <a:ext cx="1280160"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ethanol + water</a:t>
            </a:r>
            <a:endParaRPr lang="en-US" sz="1000" dirty="0"/>
          </a:p>
        </p:txBody>
      </p:sp>
      <p:sp>
        <p:nvSpPr>
          <p:cNvPr id="62" name="Shape 60"/>
          <p:cNvSpPr/>
          <p:nvPr/>
        </p:nvSpPr>
        <p:spPr>
          <a:xfrm flipH="1">
            <a:off x="1783080" y="4041648"/>
            <a:ext cx="521208" cy="73152"/>
          </a:xfrm>
          <a:prstGeom prst="line">
            <a:avLst/>
          </a:prstGeom>
          <a:noFill/>
          <a:ln w="9525">
            <a:solidFill>
              <a:srgbClr val="8A8F99"/>
            </a:solidFill>
            <a:prstDash val="solid"/>
          </a:ln>
        </p:spPr>
      </p:sp>
      <p:sp>
        <p:nvSpPr>
          <p:cNvPr id="63" name="Text 61"/>
          <p:cNvSpPr/>
          <p:nvPr/>
        </p:nvSpPr>
        <p:spPr>
          <a:xfrm>
            <a:off x="3703320" y="4352544"/>
            <a:ext cx="1645920" cy="219456"/>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ethanol (first fraction)</a:t>
            </a:r>
            <a:endParaRPr lang="en-US" sz="1000" dirty="0"/>
          </a:p>
        </p:txBody>
      </p:sp>
      <p:sp>
        <p:nvSpPr>
          <p:cNvPr id="64" name="Text 62"/>
          <p:cNvSpPr/>
          <p:nvPr/>
        </p:nvSpPr>
        <p:spPr>
          <a:xfrm>
            <a:off x="3422064" y="3259305"/>
            <a:ext cx="731520" cy="201168"/>
          </a:xfrm>
          <a:prstGeom prst="rect">
            <a:avLst/>
          </a:prstGeom>
          <a:noFill/>
          <a:ln/>
        </p:spPr>
        <p:txBody>
          <a:bodyPr wrap="square" lIns="0" tIns="0" rIns="0" bIns="0" rtlCol="0" anchor="ctr"/>
          <a:lstStyle/>
          <a:p>
            <a:pPr algn="ctr" indent="0" marL="0">
              <a:buNone/>
            </a:pPr>
            <a:r>
              <a:rPr lang="en-US" sz="1000" b="1" dirty="0">
                <a:solidFill>
                  <a:srgbClr val="6A3FA0"/>
                </a:solidFill>
                <a:latin typeface="Calibri" pitchFamily="34" charset="0"/>
                <a:ea typeface="Calibri" pitchFamily="34" charset="-122"/>
                <a:cs typeface="Calibri" pitchFamily="34" charset="-120"/>
              </a:rPr>
              <a:t>water in</a:t>
            </a:r>
            <a:endParaRPr lang="en-US" sz="1000" dirty="0"/>
          </a:p>
        </p:txBody>
      </p:sp>
      <p:sp>
        <p:nvSpPr>
          <p:cNvPr id="65" name="Text 63"/>
          <p:cNvSpPr/>
          <p:nvPr/>
        </p:nvSpPr>
        <p:spPr>
          <a:xfrm>
            <a:off x="2100912" y="1632735"/>
            <a:ext cx="822960" cy="201168"/>
          </a:xfrm>
          <a:prstGeom prst="rect">
            <a:avLst/>
          </a:prstGeom>
          <a:noFill/>
          <a:ln/>
        </p:spPr>
        <p:txBody>
          <a:bodyPr wrap="square" lIns="0" tIns="0" rIns="0" bIns="0" rtlCol="0" anchor="ctr"/>
          <a:lstStyle/>
          <a:p>
            <a:pPr algn="l" indent="0" marL="0">
              <a:buNone/>
            </a:pPr>
            <a:r>
              <a:rPr lang="en-US" sz="1000" b="1" dirty="0">
                <a:solidFill>
                  <a:srgbClr val="6A3FA0"/>
                </a:solidFill>
                <a:latin typeface="Calibri" pitchFamily="34" charset="0"/>
                <a:ea typeface="Calibri" pitchFamily="34" charset="-122"/>
                <a:cs typeface="Calibri" pitchFamily="34" charset="-120"/>
              </a:rPr>
              <a:t>water out</a:t>
            </a:r>
            <a:endParaRPr lang="en-US" sz="1000" dirty="0"/>
          </a:p>
        </p:txBody>
      </p:sp>
      <p:sp>
        <p:nvSpPr>
          <p:cNvPr id="66" name="Shape 64"/>
          <p:cNvSpPr/>
          <p:nvPr/>
        </p:nvSpPr>
        <p:spPr>
          <a:xfrm>
            <a:off x="2377440" y="5029200"/>
            <a:ext cx="1600200" cy="310896"/>
          </a:xfrm>
          <a:prstGeom prst="roundRect">
            <a:avLst>
              <a:gd name="adj" fmla="val 17647"/>
            </a:avLst>
          </a:prstGeom>
          <a:solidFill>
            <a:srgbClr val="FFFFFF"/>
          </a:solidFill>
          <a:ln w="9525">
            <a:solidFill>
              <a:srgbClr val="8DB04A"/>
            </a:solidFill>
            <a:prstDash val="solid"/>
          </a:ln>
        </p:spPr>
      </p:sp>
      <p:sp>
        <p:nvSpPr>
          <p:cNvPr id="67" name="Text 65"/>
          <p:cNvSpPr/>
          <p:nvPr/>
        </p:nvSpPr>
        <p:spPr>
          <a:xfrm>
            <a:off x="2432304" y="5029200"/>
            <a:ext cx="1490472" cy="310896"/>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ethanol</a:t>
            </a:r>
            <a:r>
              <a:rPr lang="en-US" sz="1000" dirty="0">
                <a:solidFill>
                  <a:srgbClr val="262B3A"/>
                </a:solidFill>
                <a:latin typeface="Calibri" pitchFamily="34" charset="0"/>
                <a:ea typeface="Calibri" pitchFamily="34" charset="-122"/>
                <a:cs typeface="Calibri" pitchFamily="34" charset="-120"/>
              </a:rPr>
              <a:t> boils at </a:t>
            </a:r>
            <a:r>
              <a:rPr lang="en-US" sz="1000" b="1" dirty="0">
                <a:solidFill>
                  <a:srgbClr val="262B3A"/>
                </a:solidFill>
                <a:latin typeface="Calibri" pitchFamily="34" charset="0"/>
                <a:ea typeface="Calibri" pitchFamily="34" charset="-122"/>
                <a:cs typeface="Calibri" pitchFamily="34" charset="-120"/>
              </a:rPr>
              <a:t>78 °C</a:t>
            </a:r>
            <a:endParaRPr lang="en-US" sz="1000" dirty="0"/>
          </a:p>
        </p:txBody>
      </p:sp>
      <p:sp>
        <p:nvSpPr>
          <p:cNvPr id="68" name="Shape 66"/>
          <p:cNvSpPr/>
          <p:nvPr/>
        </p:nvSpPr>
        <p:spPr>
          <a:xfrm>
            <a:off x="4069080" y="5029200"/>
            <a:ext cx="1600200" cy="310896"/>
          </a:xfrm>
          <a:prstGeom prst="roundRect">
            <a:avLst>
              <a:gd name="adj" fmla="val 17647"/>
            </a:avLst>
          </a:prstGeom>
          <a:solidFill>
            <a:srgbClr val="FFFFFF"/>
          </a:solidFill>
          <a:ln w="9525">
            <a:solidFill>
              <a:srgbClr val="5B9BD5"/>
            </a:solidFill>
            <a:prstDash val="solid"/>
          </a:ln>
        </p:spPr>
      </p:sp>
      <p:sp>
        <p:nvSpPr>
          <p:cNvPr id="69" name="Text 67"/>
          <p:cNvSpPr/>
          <p:nvPr/>
        </p:nvSpPr>
        <p:spPr>
          <a:xfrm>
            <a:off x="4123944" y="5029200"/>
            <a:ext cx="1490472" cy="310896"/>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water</a:t>
            </a:r>
            <a:r>
              <a:rPr lang="en-US" sz="1000" dirty="0">
                <a:solidFill>
                  <a:srgbClr val="262B3A"/>
                </a:solidFill>
                <a:latin typeface="Calibri" pitchFamily="34" charset="0"/>
                <a:ea typeface="Calibri" pitchFamily="34" charset="-122"/>
                <a:cs typeface="Calibri" pitchFamily="34" charset="-120"/>
              </a:rPr>
              <a:t> boils at </a:t>
            </a:r>
            <a:r>
              <a:rPr lang="en-US" sz="1000" b="1" dirty="0">
                <a:solidFill>
                  <a:srgbClr val="262B3A"/>
                </a:solidFill>
                <a:latin typeface="Calibri" pitchFamily="34" charset="0"/>
                <a:ea typeface="Calibri" pitchFamily="34" charset="-122"/>
                <a:cs typeface="Calibri" pitchFamily="34" charset="-120"/>
              </a:rPr>
              <a:t>100 °C</a:t>
            </a:r>
            <a:endParaRPr lang="en-US" sz="1000" dirty="0"/>
          </a:p>
        </p:txBody>
      </p:sp>
      <p:sp>
        <p:nvSpPr>
          <p:cNvPr id="70" name="Shape 68"/>
          <p:cNvSpPr/>
          <p:nvPr/>
        </p:nvSpPr>
        <p:spPr>
          <a:xfrm>
            <a:off x="6217920" y="1188720"/>
            <a:ext cx="5562295" cy="3108960"/>
          </a:xfrm>
          <a:prstGeom prst="roundRect">
            <a:avLst>
              <a:gd name="adj" fmla="val 1765"/>
            </a:avLst>
          </a:prstGeom>
          <a:solidFill>
            <a:srgbClr val="F8F5FC"/>
          </a:solidFill>
          <a:ln w="9525">
            <a:solidFill>
              <a:srgbClr val="DDD3EC"/>
            </a:solidFill>
            <a:prstDash val="solid"/>
          </a:ln>
        </p:spPr>
      </p:sp>
      <p:sp>
        <p:nvSpPr>
          <p:cNvPr id="71" name="Text 6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Separating liquids</a:t>
            </a:r>
            <a:endParaRPr lang="en-US" sz="1300" dirty="0"/>
          </a:p>
        </p:txBody>
      </p:sp>
      <p:sp>
        <p:nvSpPr>
          <p:cNvPr id="72" name="Text 70"/>
          <p:cNvSpPr/>
          <p:nvPr/>
        </p:nvSpPr>
        <p:spPr>
          <a:xfrm>
            <a:off x="6382512" y="1609344"/>
            <a:ext cx="5233111" cy="26151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Fractional distillation separates </a:t>
            </a:r>
            <a:r>
              <a:rPr lang="en-US" sz="1100" b="1" dirty="0">
                <a:solidFill>
                  <a:srgbClr val="262B3A"/>
                </a:solidFill>
                <a:latin typeface="Calibri" pitchFamily="34" charset="0"/>
                <a:ea typeface="Calibri" pitchFamily="34" charset="-122"/>
                <a:cs typeface="Calibri" pitchFamily="34" charset="-120"/>
              </a:rPr>
              <a:t>miscible</a:t>
            </a:r>
            <a:r>
              <a:rPr lang="en-US" sz="1100" dirty="0">
                <a:solidFill>
                  <a:srgbClr val="262B3A"/>
                </a:solidFill>
                <a:latin typeface="Calibri" pitchFamily="34" charset="0"/>
                <a:ea typeface="Calibri" pitchFamily="34" charset="-122"/>
                <a:cs typeface="Calibri" pitchFamily="34" charset="-120"/>
              </a:rPr>
              <a:t> liquids (liquids that mix) with </a:t>
            </a:r>
            <a:r>
              <a:rPr lang="en-US" sz="1100" b="1" dirty="0">
                <a:solidFill>
                  <a:srgbClr val="262B3A"/>
                </a:solidFill>
                <a:latin typeface="Calibri" pitchFamily="34" charset="0"/>
                <a:ea typeface="Calibri" pitchFamily="34" charset="-122"/>
                <a:cs typeface="Calibri" pitchFamily="34" charset="-120"/>
              </a:rPr>
              <a:t>different boiling points</a:t>
            </a:r>
            <a:r>
              <a:rPr lang="en-US" sz="1100" dirty="0">
                <a:solidFill>
                  <a:srgbClr val="262B3A"/>
                </a:solidFill>
                <a:latin typeface="Calibri" pitchFamily="34" charset="0"/>
                <a:ea typeface="Calibri" pitchFamily="34" charset="-122"/>
                <a:cs typeface="Calibri" pitchFamily="34" charset="-120"/>
              </a:rPr>
              <a:t>, e.g. ethanol and water.</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column is </a:t>
            </a:r>
            <a:r>
              <a:rPr lang="en-US" sz="1100" b="1" dirty="0">
                <a:solidFill>
                  <a:srgbClr val="262B3A"/>
                </a:solidFill>
                <a:latin typeface="Calibri" pitchFamily="34" charset="0"/>
                <a:ea typeface="Calibri" pitchFamily="34" charset="-122"/>
                <a:cs typeface="Calibri" pitchFamily="34" charset="-120"/>
              </a:rPr>
              <a:t>hottest at the bottom</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coolest at the top</a:t>
            </a:r>
            <a:r>
              <a:rPr lang="en-US" sz="1100" dirty="0">
                <a:solidFill>
                  <a:srgbClr val="262B3A"/>
                </a:solidFill>
                <a:latin typeface="Calibri" pitchFamily="34" charset="0"/>
                <a:ea typeface="Calibri" pitchFamily="34" charset="-122"/>
                <a:cs typeface="Calibri" pitchFamily="34" charset="-120"/>
              </a:rPr>
              <a:t>. Vapours condense and boil again many times on the glass beads.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liquid with the </a:t>
            </a:r>
            <a:r>
              <a:rPr lang="en-US" sz="1100" b="1" dirty="0">
                <a:solidFill>
                  <a:srgbClr val="262B3A"/>
                </a:solidFill>
                <a:latin typeface="Calibri" pitchFamily="34" charset="0"/>
                <a:ea typeface="Calibri" pitchFamily="34" charset="-122"/>
                <a:cs typeface="Calibri" pitchFamily="34" charset="-120"/>
              </a:rPr>
              <a:t>lowest boiling point</a:t>
            </a:r>
            <a:r>
              <a:rPr lang="en-US" sz="1100" dirty="0">
                <a:solidFill>
                  <a:srgbClr val="262B3A"/>
                </a:solidFill>
                <a:latin typeface="Calibri" pitchFamily="34" charset="0"/>
                <a:ea typeface="Calibri" pitchFamily="34" charset="-122"/>
                <a:cs typeface="Calibri" pitchFamily="34" charset="-120"/>
              </a:rPr>
              <a:t> reaches the top first and distils over.</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When the thermometer reading </a:t>
            </a:r>
            <a:r>
              <a:rPr lang="en-US" sz="1100" b="1" dirty="0">
                <a:solidFill>
                  <a:srgbClr val="262B3A"/>
                </a:solidFill>
                <a:latin typeface="Calibri" pitchFamily="34" charset="0"/>
                <a:ea typeface="Calibri" pitchFamily="34" charset="-122"/>
                <a:cs typeface="Calibri" pitchFamily="34" charset="-120"/>
              </a:rPr>
              <a:t>rises</a:t>
            </a:r>
            <a:r>
              <a:rPr lang="en-US" sz="1100" dirty="0">
                <a:solidFill>
                  <a:srgbClr val="262B3A"/>
                </a:solidFill>
                <a:latin typeface="Calibri" pitchFamily="34" charset="0"/>
                <a:ea typeface="Calibri" pitchFamily="34" charset="-122"/>
                <a:cs typeface="Calibri" pitchFamily="34" charset="-120"/>
              </a:rPr>
              <a:t>, change the receiver to collect the next </a:t>
            </a:r>
            <a:r>
              <a:rPr lang="en-US" sz="1100" b="1" dirty="0">
                <a:solidFill>
                  <a:srgbClr val="262B3A"/>
                </a:solidFill>
                <a:latin typeface="Calibri" pitchFamily="34" charset="0"/>
                <a:ea typeface="Calibri" pitchFamily="34" charset="-122"/>
                <a:cs typeface="Calibri" pitchFamily="34" charset="-120"/>
              </a:rPr>
              <a:t>fraction</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Ethanol is </a:t>
            </a:r>
            <a:r>
              <a:rPr lang="en-US" sz="1100" b="1" dirty="0">
                <a:solidFill>
                  <a:srgbClr val="262B3A"/>
                </a:solidFill>
                <a:latin typeface="Calibri" pitchFamily="34" charset="0"/>
                <a:ea typeface="Calibri" pitchFamily="34" charset="-122"/>
                <a:cs typeface="Calibri" pitchFamily="34" charset="-120"/>
              </a:rPr>
              <a:t>flammable</a:t>
            </a:r>
            <a:r>
              <a:rPr lang="en-US" sz="1100" dirty="0">
                <a:solidFill>
                  <a:srgbClr val="262B3A"/>
                </a:solidFill>
                <a:latin typeface="Calibri" pitchFamily="34" charset="0"/>
                <a:ea typeface="Calibri" pitchFamily="34" charset="-122"/>
                <a:cs typeface="Calibri" pitchFamily="34" charset="-120"/>
              </a:rPr>
              <a:t>: heat with an electric mantle or water bath, </a:t>
            </a:r>
            <a:r>
              <a:rPr lang="en-US" sz="1100" b="1" dirty="0">
                <a:solidFill>
                  <a:srgbClr val="262B3A"/>
                </a:solidFill>
                <a:latin typeface="Calibri" pitchFamily="34" charset="0"/>
                <a:ea typeface="Calibri" pitchFamily="34" charset="-122"/>
                <a:cs typeface="Calibri" pitchFamily="34" charset="-120"/>
              </a:rPr>
              <a:t>not</a:t>
            </a:r>
            <a:r>
              <a:rPr lang="en-US" sz="1100" dirty="0">
                <a:solidFill>
                  <a:srgbClr val="262B3A"/>
                </a:solidFill>
                <a:latin typeface="Calibri" pitchFamily="34" charset="0"/>
                <a:ea typeface="Calibri" pitchFamily="34" charset="-122"/>
                <a:cs typeface="Calibri" pitchFamily="34" charset="-120"/>
              </a:rPr>
              <a:t> a flame.</a:t>
            </a:r>
            <a:endParaRPr lang="en-US" sz="1100" dirty="0"/>
          </a:p>
        </p:txBody>
      </p:sp>
      <p:sp>
        <p:nvSpPr>
          <p:cNvPr id="73" name="Shape 71"/>
          <p:cNvSpPr/>
          <p:nvPr/>
        </p:nvSpPr>
        <p:spPr>
          <a:xfrm>
            <a:off x="6217920" y="4434840"/>
            <a:ext cx="5562295" cy="1280160"/>
          </a:xfrm>
          <a:prstGeom prst="roundRect">
            <a:avLst>
              <a:gd name="adj" fmla="val 4286"/>
            </a:avLst>
          </a:prstGeom>
          <a:solidFill>
            <a:srgbClr val="FFF4E0"/>
          </a:solidFill>
          <a:ln w="9525">
            <a:solidFill>
              <a:srgbClr val="F1D9A8"/>
            </a:solidFill>
            <a:prstDash val="solid"/>
          </a:ln>
        </p:spPr>
      </p:sp>
      <p:sp>
        <p:nvSpPr>
          <p:cNvPr id="74" name="Text 72"/>
          <p:cNvSpPr/>
          <p:nvPr/>
        </p:nvSpPr>
        <p:spPr>
          <a:xfrm>
            <a:off x="6382512" y="45079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order of fractions</a:t>
            </a:r>
            <a:endParaRPr lang="en-US" sz="1300" dirty="0"/>
          </a:p>
        </p:txBody>
      </p:sp>
      <p:sp>
        <p:nvSpPr>
          <p:cNvPr id="75" name="Text 73"/>
          <p:cNvSpPr/>
          <p:nvPr/>
        </p:nvSpPr>
        <p:spPr>
          <a:xfrm>
            <a:off x="6382512" y="4818888"/>
            <a:ext cx="5233111" cy="8229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Methanol boils at 65 °C, ethanol at 78 °C, water at 100 °C.</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Rule   </a:t>
            </a:r>
            <a:r>
              <a:rPr lang="en-US" sz="1050" dirty="0">
                <a:solidFill>
                  <a:srgbClr val="262B3A"/>
                </a:solidFill>
                <a:latin typeface="Calibri" pitchFamily="34" charset="0"/>
                <a:ea typeface="Calibri" pitchFamily="34" charset="-122"/>
                <a:cs typeface="Calibri" pitchFamily="34" charset="-120"/>
              </a:rPr>
              <a:t>lowest boiling point reaches the top of the column first</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methanol</a:t>
            </a:r>
            <a:r>
              <a:rPr lang="en-US" sz="1050" b="1" dirty="0">
                <a:solidFill>
                  <a:srgbClr val="C8414C"/>
                </a:solidFill>
                <a:latin typeface="Calibri" pitchFamily="34" charset="0"/>
                <a:ea typeface="Calibri" pitchFamily="34" charset="-122"/>
                <a:cs typeface="Calibri" pitchFamily="34" charset="-120"/>
              </a:rPr>
              <a:t>, then </a:t>
            </a:r>
            <a:r>
              <a:rPr lang="en-US" sz="1050" b="1" dirty="0">
                <a:solidFill>
                  <a:srgbClr val="C8414C"/>
                </a:solidFill>
                <a:latin typeface="Calibri" pitchFamily="34" charset="0"/>
                <a:ea typeface="Calibri" pitchFamily="34" charset="-122"/>
                <a:cs typeface="Calibri" pitchFamily="34" charset="-120"/>
              </a:rPr>
              <a:t>ethanol</a:t>
            </a:r>
            <a:r>
              <a:rPr lang="en-US" sz="1050" b="1" dirty="0">
                <a:solidFill>
                  <a:srgbClr val="C8414C"/>
                </a:solidFill>
                <a:latin typeface="Calibri" pitchFamily="34" charset="0"/>
                <a:ea typeface="Calibri" pitchFamily="34" charset="-122"/>
                <a:cs typeface="Calibri" pitchFamily="34" charset="-120"/>
              </a:rPr>
              <a:t>, then </a:t>
            </a:r>
            <a:r>
              <a:rPr lang="en-US" sz="1050" b="1" dirty="0">
                <a:solidFill>
                  <a:srgbClr val="C8414C"/>
                </a:solidFill>
                <a:latin typeface="Calibri" pitchFamily="34" charset="0"/>
                <a:ea typeface="Calibri" pitchFamily="34" charset="-122"/>
                <a:cs typeface="Calibri" pitchFamily="34" charset="-120"/>
              </a:rPr>
              <a:t>water</a:t>
            </a:r>
            <a:endParaRPr lang="en-US" sz="1050" dirty="0"/>
          </a:p>
        </p:txBody>
      </p:sp>
      <p:sp>
        <p:nvSpPr>
          <p:cNvPr id="76" name="Shape 74"/>
          <p:cNvSpPr/>
          <p:nvPr/>
        </p:nvSpPr>
        <p:spPr>
          <a:xfrm>
            <a:off x="411480" y="5833872"/>
            <a:ext cx="11368735" cy="530352"/>
          </a:xfrm>
          <a:prstGeom prst="rect">
            <a:avLst/>
          </a:prstGeom>
          <a:solidFill>
            <a:srgbClr val="FFF4E0"/>
          </a:solidFill>
          <a:ln w="6350">
            <a:solidFill>
              <a:srgbClr val="F1D9A8"/>
            </a:solidFill>
            <a:prstDash val="solid"/>
          </a:ln>
        </p:spPr>
      </p:sp>
      <p:sp>
        <p:nvSpPr>
          <p:cNvPr id="77" name="Shape 75"/>
          <p:cNvSpPr/>
          <p:nvPr/>
        </p:nvSpPr>
        <p:spPr>
          <a:xfrm>
            <a:off x="411480" y="5833872"/>
            <a:ext cx="82296" cy="530352"/>
          </a:xfrm>
          <a:prstGeom prst="rect">
            <a:avLst/>
          </a:prstGeom>
          <a:solidFill>
            <a:srgbClr val="E39A2F"/>
          </a:solidFill>
          <a:ln w="12700">
            <a:solidFill>
              <a:srgbClr val="E39A2F"/>
            </a:solidFill>
            <a:prstDash val="solid"/>
          </a:ln>
        </p:spPr>
      </p:sp>
      <p:sp>
        <p:nvSpPr>
          <p:cNvPr id="78" name="Text 7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Propanone (</a:t>
            </a:r>
            <a:r>
              <a:rPr lang="en-US" sz="1150" b="1" dirty="0">
                <a:solidFill>
                  <a:srgbClr val="262B3A"/>
                </a:solidFill>
                <a:latin typeface="Calibri" pitchFamily="34" charset="0"/>
                <a:ea typeface="Calibri" pitchFamily="34" charset="-122"/>
                <a:cs typeface="Calibri" pitchFamily="34" charset="-120"/>
              </a:rPr>
              <a:t>56 °C</a:t>
            </a:r>
            <a:r>
              <a:rPr lang="en-US" sz="1150" dirty="0">
                <a:solidFill>
                  <a:srgbClr val="262B3A"/>
                </a:solidFill>
                <a:latin typeface="Calibri" pitchFamily="34" charset="0"/>
                <a:ea typeface="Calibri" pitchFamily="34" charset="-122"/>
                <a:cs typeface="Calibri" pitchFamily="34" charset="-120"/>
              </a:rPr>
              <a:t>) is mixed with water. Which liquid is collected </a:t>
            </a:r>
            <a:r>
              <a:rPr lang="en-US" sz="1150" b="1" dirty="0">
                <a:solidFill>
                  <a:srgbClr val="262B3A"/>
                </a:solidFill>
                <a:latin typeface="Calibri" pitchFamily="34" charset="0"/>
                <a:ea typeface="Calibri" pitchFamily="34" charset="-122"/>
                <a:cs typeface="Calibri" pitchFamily="34" charset="-120"/>
              </a:rPr>
              <a:t>first</a:t>
            </a:r>
            <a:r>
              <a:rPr lang="en-US" sz="1150" dirty="0">
                <a:solidFill>
                  <a:srgbClr val="262B3A"/>
                </a:solidFill>
                <a:latin typeface="Calibri" pitchFamily="34" charset="0"/>
                <a:ea typeface="Calibri" pitchFamily="34" charset="-122"/>
                <a:cs typeface="Calibri" pitchFamily="34" charset="-120"/>
              </a:rPr>
              <a:t>, and what will the thermometer read?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C5.1.7 • filtration, crystallisation and distillation</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18</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method used to separate </a:t>
            </a:r>
            <a:r>
              <a:rPr lang="en-US" sz="1250" b="1" dirty="0">
                <a:solidFill>
                  <a:srgbClr val="262B3A"/>
                </a:solidFill>
                <a:latin typeface="Calibri" pitchFamily="34" charset="0"/>
                <a:ea typeface="Calibri" pitchFamily="34" charset="-122"/>
                <a:cs typeface="Calibri" pitchFamily="34" charset="-120"/>
              </a:rPr>
              <a:t>sand</a:t>
            </a:r>
            <a:r>
              <a:rPr lang="en-US" sz="1250" dirty="0">
                <a:solidFill>
                  <a:srgbClr val="262B3A"/>
                </a:solidFill>
                <a:latin typeface="Calibri" pitchFamily="34" charset="0"/>
                <a:ea typeface="Calibri" pitchFamily="34" charset="-122"/>
                <a:cs typeface="Calibri" pitchFamily="34" charset="-120"/>
              </a:rPr>
              <a:t> from </a:t>
            </a:r>
            <a:r>
              <a:rPr lang="en-US" sz="1250" b="1" dirty="0">
                <a:solidFill>
                  <a:srgbClr val="262B3A"/>
                </a:solidFill>
                <a:latin typeface="Calibri" pitchFamily="34" charset="0"/>
                <a:ea typeface="Calibri" pitchFamily="34" charset="-122"/>
                <a:cs typeface="Calibri" pitchFamily="34" charset="-120"/>
              </a:rPr>
              <a:t>water</a:t>
            </a:r>
            <a:r>
              <a:rPr lang="en-US" sz="1250" dirty="0">
                <a:solidFill>
                  <a:srgbClr val="262B3A"/>
                </a:solidFill>
                <a:latin typeface="Calibri" pitchFamily="34" charset="0"/>
                <a:ea typeface="Calibri" pitchFamily="34" charset="-122"/>
                <a:cs typeface="Calibri" pitchFamily="34" charset="-120"/>
              </a:rPr>
              <a:t>. Explain why it works.</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 salt solution is heated only to the </a:t>
            </a:r>
            <a:r>
              <a:rPr lang="en-US" sz="1250" b="1" dirty="0">
                <a:solidFill>
                  <a:srgbClr val="262B3A"/>
                </a:solidFill>
                <a:latin typeface="Calibri" pitchFamily="34" charset="0"/>
                <a:ea typeface="Calibri" pitchFamily="34" charset="-122"/>
                <a:cs typeface="Calibri" pitchFamily="34" charset="-120"/>
              </a:rPr>
              <a:t>crystallisation point</a:t>
            </a:r>
            <a:r>
              <a:rPr lang="en-US" sz="1250" dirty="0">
                <a:solidFill>
                  <a:srgbClr val="262B3A"/>
                </a:solidFill>
                <a:latin typeface="Calibri" pitchFamily="34" charset="0"/>
                <a:ea typeface="Calibri" pitchFamily="34" charset="-122"/>
                <a:cs typeface="Calibri" pitchFamily="34" charset="-120"/>
              </a:rPr>
              <a:t> and then left to cool, not boiled to dryness.</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how </a:t>
            </a:r>
            <a:r>
              <a:rPr lang="en-US" sz="1250" b="1" dirty="0">
                <a:solidFill>
                  <a:srgbClr val="262B3A"/>
                </a:solidFill>
                <a:latin typeface="Calibri" pitchFamily="34" charset="0"/>
                <a:ea typeface="Calibri" pitchFamily="34" charset="-122"/>
                <a:cs typeface="Calibri" pitchFamily="34" charset="-120"/>
              </a:rPr>
              <a:t>simple distillation</a:t>
            </a:r>
            <a:r>
              <a:rPr lang="en-US" sz="1250" dirty="0">
                <a:solidFill>
                  <a:srgbClr val="262B3A"/>
                </a:solidFill>
                <a:latin typeface="Calibri" pitchFamily="34" charset="0"/>
                <a:ea typeface="Calibri" pitchFamily="34" charset="-122"/>
                <a:cs typeface="Calibri" pitchFamily="34" charset="-120"/>
              </a:rPr>
              <a:t> obtains pure water from salt water.</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t>
            </a:r>
            <a:r>
              <a:rPr lang="en-US" sz="1250" b="1" dirty="0">
                <a:solidFill>
                  <a:srgbClr val="262B3A"/>
                </a:solidFill>
                <a:latin typeface="Calibri" pitchFamily="34" charset="0"/>
                <a:ea typeface="Calibri" pitchFamily="34" charset="-122"/>
                <a:cs typeface="Calibri" pitchFamily="34" charset="-120"/>
              </a:rPr>
              <a:t>fractional</a:t>
            </a:r>
            <a:r>
              <a:rPr lang="en-US" sz="1250" dirty="0">
                <a:solidFill>
                  <a:srgbClr val="262B3A"/>
                </a:solidFill>
                <a:latin typeface="Calibri" pitchFamily="34" charset="0"/>
                <a:ea typeface="Calibri" pitchFamily="34" charset="-122"/>
                <a:cs typeface="Calibri" pitchFamily="34" charset="-120"/>
              </a:rPr>
              <a:t> distillation, not simple distillation, is needed to separate </a:t>
            </a:r>
            <a:r>
              <a:rPr lang="en-US" sz="1250" b="1" dirty="0">
                <a:solidFill>
                  <a:srgbClr val="262B3A"/>
                </a:solidFill>
                <a:latin typeface="Calibri" pitchFamily="34" charset="0"/>
                <a:ea typeface="Calibri" pitchFamily="34" charset="-122"/>
                <a:cs typeface="Calibri" pitchFamily="34" charset="-120"/>
              </a:rPr>
              <a:t>ethanol</a:t>
            </a:r>
            <a:r>
              <a:rPr lang="en-US" sz="1250" dirty="0">
                <a:solidFill>
                  <a:srgbClr val="262B3A"/>
                </a:solidFill>
                <a:latin typeface="Calibri" pitchFamily="34" charset="0"/>
                <a:ea typeface="Calibri" pitchFamily="34" charset="-122"/>
                <a:cs typeface="Calibri" pitchFamily="34" charset="-120"/>
              </a:rPr>
              <a:t> from water.</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Choosing a purification method</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C5.1.8 • suggest suitable techniques from information about the substances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C5.1.8  |  19</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decision chart: match the mixture to the method</a:t>
            </a:r>
            <a:endParaRPr lang="en-US" sz="1000" dirty="0"/>
          </a:p>
        </p:txBody>
      </p:sp>
      <p:sp>
        <p:nvSpPr>
          <p:cNvPr id="10" name="Shape 8"/>
          <p:cNvSpPr/>
          <p:nvPr/>
        </p:nvSpPr>
        <p:spPr>
          <a:xfrm>
            <a:off x="640080" y="1371600"/>
            <a:ext cx="5120640" cy="384048"/>
          </a:xfrm>
          <a:prstGeom prst="roundRect">
            <a:avLst>
              <a:gd name="adj" fmla="val 14286"/>
            </a:avLst>
          </a:prstGeom>
          <a:solidFill>
            <a:srgbClr val="2A1F3D"/>
          </a:solidFill>
          <a:ln w="15875">
            <a:solidFill>
              <a:srgbClr val="2A1F3D"/>
            </a:solidFill>
            <a:prstDash val="solid"/>
          </a:ln>
        </p:spPr>
      </p:sp>
      <p:sp>
        <p:nvSpPr>
          <p:cNvPr id="11" name="Text 9"/>
          <p:cNvSpPr/>
          <p:nvPr/>
        </p:nvSpPr>
        <p:spPr>
          <a:xfrm>
            <a:off x="694944" y="1371600"/>
            <a:ext cx="5010912"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is in the mixture, and which part do you want?</a:t>
            </a:r>
            <a:endParaRPr lang="en-US" sz="1100" dirty="0"/>
          </a:p>
        </p:txBody>
      </p:sp>
      <p:sp>
        <p:nvSpPr>
          <p:cNvPr id="12" name="Shape 10"/>
          <p:cNvSpPr/>
          <p:nvPr/>
        </p:nvSpPr>
        <p:spPr>
          <a:xfrm>
            <a:off x="640080" y="1938528"/>
            <a:ext cx="3017520" cy="475488"/>
          </a:xfrm>
          <a:prstGeom prst="roundRect">
            <a:avLst>
              <a:gd name="adj" fmla="val 11538"/>
            </a:avLst>
          </a:prstGeom>
          <a:solidFill>
            <a:srgbClr val="F8F5FC"/>
          </a:solidFill>
          <a:ln w="9525">
            <a:solidFill>
              <a:srgbClr val="DDD3EC"/>
            </a:solidFill>
            <a:prstDash val="solid"/>
          </a:ln>
        </p:spPr>
      </p:sp>
      <p:sp>
        <p:nvSpPr>
          <p:cNvPr id="13" name="Text 11"/>
          <p:cNvSpPr/>
          <p:nvPr/>
        </p:nvSpPr>
        <p:spPr>
          <a:xfrm>
            <a:off x="694944" y="1938528"/>
            <a:ext cx="2907792" cy="475488"/>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insoluble solid in a liquid</a:t>
            </a:r>
            <a:endParaRPr lang="en-US" sz="1050" dirty="0"/>
          </a:p>
        </p:txBody>
      </p:sp>
      <p:sp>
        <p:nvSpPr>
          <p:cNvPr id="14" name="Shape 12"/>
          <p:cNvSpPr/>
          <p:nvPr/>
        </p:nvSpPr>
        <p:spPr>
          <a:xfrm>
            <a:off x="3703320" y="2176272"/>
            <a:ext cx="274320" cy="91"/>
          </a:xfrm>
          <a:prstGeom prst="line">
            <a:avLst/>
          </a:prstGeom>
          <a:noFill/>
          <a:ln w="19050">
            <a:solidFill>
              <a:srgbClr val="2A1F3D"/>
            </a:solidFill>
            <a:prstDash val="solid"/>
            <a:tailEnd type="triangle"/>
          </a:ln>
        </p:spPr>
      </p:sp>
      <p:sp>
        <p:nvSpPr>
          <p:cNvPr id="15" name="Shape 13"/>
          <p:cNvSpPr/>
          <p:nvPr/>
        </p:nvSpPr>
        <p:spPr>
          <a:xfrm>
            <a:off x="4023360" y="1938528"/>
            <a:ext cx="1737360" cy="475488"/>
          </a:xfrm>
          <a:prstGeom prst="roundRect">
            <a:avLst>
              <a:gd name="adj" fmla="val 11538"/>
            </a:avLst>
          </a:prstGeom>
          <a:solidFill>
            <a:srgbClr val="E9E1F5"/>
          </a:solidFill>
          <a:ln w="12700">
            <a:solidFill>
              <a:srgbClr val="6A3FA0"/>
            </a:solidFill>
            <a:prstDash val="solid"/>
          </a:ln>
        </p:spPr>
      </p:sp>
      <p:sp>
        <p:nvSpPr>
          <p:cNvPr id="16" name="Text 14"/>
          <p:cNvSpPr/>
          <p:nvPr/>
        </p:nvSpPr>
        <p:spPr>
          <a:xfrm>
            <a:off x="4078224" y="1938528"/>
            <a:ext cx="1627632" cy="47548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filtration</a:t>
            </a:r>
            <a:endParaRPr lang="en-US" sz="1050" dirty="0"/>
          </a:p>
        </p:txBody>
      </p:sp>
      <p:sp>
        <p:nvSpPr>
          <p:cNvPr id="17" name="Shape 15"/>
          <p:cNvSpPr/>
          <p:nvPr/>
        </p:nvSpPr>
        <p:spPr>
          <a:xfrm>
            <a:off x="640080" y="2542032"/>
            <a:ext cx="3017520" cy="475488"/>
          </a:xfrm>
          <a:prstGeom prst="roundRect">
            <a:avLst>
              <a:gd name="adj" fmla="val 11538"/>
            </a:avLst>
          </a:prstGeom>
          <a:solidFill>
            <a:srgbClr val="F8F5FC"/>
          </a:solidFill>
          <a:ln w="9525">
            <a:solidFill>
              <a:srgbClr val="DDD3EC"/>
            </a:solidFill>
            <a:prstDash val="solid"/>
          </a:ln>
        </p:spPr>
      </p:sp>
      <p:sp>
        <p:nvSpPr>
          <p:cNvPr id="18" name="Text 16"/>
          <p:cNvSpPr/>
          <p:nvPr/>
        </p:nvSpPr>
        <p:spPr>
          <a:xfrm>
            <a:off x="694944" y="2542032"/>
            <a:ext cx="2907792" cy="475488"/>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dissolved solid: want the </a:t>
            </a:r>
            <a:r>
              <a:rPr lang="en-US" sz="1050" b="1" dirty="0">
                <a:solidFill>
                  <a:srgbClr val="262B3A"/>
                </a:solidFill>
                <a:latin typeface="Calibri" pitchFamily="34" charset="0"/>
                <a:ea typeface="Calibri" pitchFamily="34" charset="-122"/>
                <a:cs typeface="Calibri" pitchFamily="34" charset="-120"/>
              </a:rPr>
              <a:t>solid</a:t>
            </a:r>
            <a:endParaRPr lang="en-US" sz="1050" dirty="0"/>
          </a:p>
        </p:txBody>
      </p:sp>
      <p:sp>
        <p:nvSpPr>
          <p:cNvPr id="19" name="Shape 17"/>
          <p:cNvSpPr/>
          <p:nvPr/>
        </p:nvSpPr>
        <p:spPr>
          <a:xfrm>
            <a:off x="3703320" y="2779776"/>
            <a:ext cx="274320" cy="91"/>
          </a:xfrm>
          <a:prstGeom prst="line">
            <a:avLst/>
          </a:prstGeom>
          <a:noFill/>
          <a:ln w="19050">
            <a:solidFill>
              <a:srgbClr val="2A1F3D"/>
            </a:solidFill>
            <a:prstDash val="solid"/>
            <a:tailEnd type="triangle"/>
          </a:ln>
        </p:spPr>
      </p:sp>
      <p:sp>
        <p:nvSpPr>
          <p:cNvPr id="20" name="Shape 18"/>
          <p:cNvSpPr/>
          <p:nvPr/>
        </p:nvSpPr>
        <p:spPr>
          <a:xfrm>
            <a:off x="4023360" y="2542032"/>
            <a:ext cx="1737360" cy="475488"/>
          </a:xfrm>
          <a:prstGeom prst="roundRect">
            <a:avLst>
              <a:gd name="adj" fmla="val 11538"/>
            </a:avLst>
          </a:prstGeom>
          <a:solidFill>
            <a:srgbClr val="E9E1F5"/>
          </a:solidFill>
          <a:ln w="12700">
            <a:solidFill>
              <a:srgbClr val="6A3FA0"/>
            </a:solidFill>
            <a:prstDash val="solid"/>
          </a:ln>
        </p:spPr>
      </p:sp>
      <p:sp>
        <p:nvSpPr>
          <p:cNvPr id="21" name="Text 19"/>
          <p:cNvSpPr/>
          <p:nvPr/>
        </p:nvSpPr>
        <p:spPr>
          <a:xfrm>
            <a:off x="4078224" y="2542032"/>
            <a:ext cx="1627632" cy="47548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crystallisation</a:t>
            </a:r>
            <a:endParaRPr lang="en-US" sz="1050" dirty="0"/>
          </a:p>
        </p:txBody>
      </p:sp>
      <p:sp>
        <p:nvSpPr>
          <p:cNvPr id="22" name="Shape 20"/>
          <p:cNvSpPr/>
          <p:nvPr/>
        </p:nvSpPr>
        <p:spPr>
          <a:xfrm>
            <a:off x="640080" y="3145536"/>
            <a:ext cx="3017520" cy="475488"/>
          </a:xfrm>
          <a:prstGeom prst="roundRect">
            <a:avLst>
              <a:gd name="adj" fmla="val 11538"/>
            </a:avLst>
          </a:prstGeom>
          <a:solidFill>
            <a:srgbClr val="F8F5FC"/>
          </a:solidFill>
          <a:ln w="9525">
            <a:solidFill>
              <a:srgbClr val="DDD3EC"/>
            </a:solidFill>
            <a:prstDash val="solid"/>
          </a:ln>
        </p:spPr>
      </p:sp>
      <p:sp>
        <p:nvSpPr>
          <p:cNvPr id="23" name="Text 21"/>
          <p:cNvSpPr/>
          <p:nvPr/>
        </p:nvSpPr>
        <p:spPr>
          <a:xfrm>
            <a:off x="694944" y="3145536"/>
            <a:ext cx="2907792" cy="475488"/>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dissolved solid: want the </a:t>
            </a:r>
            <a:r>
              <a:rPr lang="en-US" sz="1050" b="1" dirty="0">
                <a:solidFill>
                  <a:srgbClr val="262B3A"/>
                </a:solidFill>
                <a:latin typeface="Calibri" pitchFamily="34" charset="0"/>
                <a:ea typeface="Calibri" pitchFamily="34" charset="-122"/>
                <a:cs typeface="Calibri" pitchFamily="34" charset="-120"/>
              </a:rPr>
              <a:t>liquid</a:t>
            </a:r>
            <a:endParaRPr lang="en-US" sz="1050" dirty="0"/>
          </a:p>
        </p:txBody>
      </p:sp>
      <p:sp>
        <p:nvSpPr>
          <p:cNvPr id="24" name="Shape 22"/>
          <p:cNvSpPr/>
          <p:nvPr/>
        </p:nvSpPr>
        <p:spPr>
          <a:xfrm>
            <a:off x="3703320" y="3383280"/>
            <a:ext cx="274320" cy="91"/>
          </a:xfrm>
          <a:prstGeom prst="line">
            <a:avLst/>
          </a:prstGeom>
          <a:noFill/>
          <a:ln w="19050">
            <a:solidFill>
              <a:srgbClr val="2A1F3D"/>
            </a:solidFill>
            <a:prstDash val="solid"/>
            <a:tailEnd type="triangle"/>
          </a:ln>
        </p:spPr>
      </p:sp>
      <p:sp>
        <p:nvSpPr>
          <p:cNvPr id="25" name="Shape 23"/>
          <p:cNvSpPr/>
          <p:nvPr/>
        </p:nvSpPr>
        <p:spPr>
          <a:xfrm>
            <a:off x="4023360" y="3145536"/>
            <a:ext cx="1737360" cy="475488"/>
          </a:xfrm>
          <a:prstGeom prst="roundRect">
            <a:avLst>
              <a:gd name="adj" fmla="val 11538"/>
            </a:avLst>
          </a:prstGeom>
          <a:solidFill>
            <a:srgbClr val="E9E1F5"/>
          </a:solidFill>
          <a:ln w="12700">
            <a:solidFill>
              <a:srgbClr val="6A3FA0"/>
            </a:solidFill>
            <a:prstDash val="solid"/>
          </a:ln>
        </p:spPr>
      </p:sp>
      <p:sp>
        <p:nvSpPr>
          <p:cNvPr id="26" name="Text 24"/>
          <p:cNvSpPr/>
          <p:nvPr/>
        </p:nvSpPr>
        <p:spPr>
          <a:xfrm>
            <a:off x="4078224" y="3145536"/>
            <a:ext cx="1627632" cy="47548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simple distillation</a:t>
            </a:r>
            <a:endParaRPr lang="en-US" sz="1050" dirty="0"/>
          </a:p>
        </p:txBody>
      </p:sp>
      <p:sp>
        <p:nvSpPr>
          <p:cNvPr id="27" name="Shape 25"/>
          <p:cNvSpPr/>
          <p:nvPr/>
        </p:nvSpPr>
        <p:spPr>
          <a:xfrm>
            <a:off x="640080" y="3749040"/>
            <a:ext cx="3017520" cy="475488"/>
          </a:xfrm>
          <a:prstGeom prst="roundRect">
            <a:avLst>
              <a:gd name="adj" fmla="val 11538"/>
            </a:avLst>
          </a:prstGeom>
          <a:solidFill>
            <a:srgbClr val="F8F5FC"/>
          </a:solidFill>
          <a:ln w="9525">
            <a:solidFill>
              <a:srgbClr val="DDD3EC"/>
            </a:solidFill>
            <a:prstDash val="solid"/>
          </a:ln>
        </p:spPr>
      </p:sp>
      <p:sp>
        <p:nvSpPr>
          <p:cNvPr id="28" name="Text 26"/>
          <p:cNvSpPr/>
          <p:nvPr/>
        </p:nvSpPr>
        <p:spPr>
          <a:xfrm>
            <a:off x="694944" y="3749040"/>
            <a:ext cx="2907792" cy="475488"/>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liquids that mix, different boiling points</a:t>
            </a:r>
            <a:endParaRPr lang="en-US" sz="1050" dirty="0"/>
          </a:p>
        </p:txBody>
      </p:sp>
      <p:sp>
        <p:nvSpPr>
          <p:cNvPr id="29" name="Shape 27"/>
          <p:cNvSpPr/>
          <p:nvPr/>
        </p:nvSpPr>
        <p:spPr>
          <a:xfrm>
            <a:off x="3703320" y="3986784"/>
            <a:ext cx="274320" cy="91"/>
          </a:xfrm>
          <a:prstGeom prst="line">
            <a:avLst/>
          </a:prstGeom>
          <a:noFill/>
          <a:ln w="19050">
            <a:solidFill>
              <a:srgbClr val="2A1F3D"/>
            </a:solidFill>
            <a:prstDash val="solid"/>
            <a:tailEnd type="triangle"/>
          </a:ln>
        </p:spPr>
      </p:sp>
      <p:sp>
        <p:nvSpPr>
          <p:cNvPr id="30" name="Shape 28"/>
          <p:cNvSpPr/>
          <p:nvPr/>
        </p:nvSpPr>
        <p:spPr>
          <a:xfrm>
            <a:off x="4023360" y="3749040"/>
            <a:ext cx="1737360" cy="475488"/>
          </a:xfrm>
          <a:prstGeom prst="roundRect">
            <a:avLst>
              <a:gd name="adj" fmla="val 11538"/>
            </a:avLst>
          </a:prstGeom>
          <a:solidFill>
            <a:srgbClr val="E9E1F5"/>
          </a:solidFill>
          <a:ln w="12700">
            <a:solidFill>
              <a:srgbClr val="6A3FA0"/>
            </a:solidFill>
            <a:prstDash val="solid"/>
          </a:ln>
        </p:spPr>
      </p:sp>
      <p:sp>
        <p:nvSpPr>
          <p:cNvPr id="31" name="Text 29"/>
          <p:cNvSpPr/>
          <p:nvPr/>
        </p:nvSpPr>
        <p:spPr>
          <a:xfrm>
            <a:off x="4078224" y="3749040"/>
            <a:ext cx="1627632" cy="47548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fractional distillation</a:t>
            </a:r>
            <a:endParaRPr lang="en-US" sz="1050" dirty="0"/>
          </a:p>
        </p:txBody>
      </p:sp>
      <p:sp>
        <p:nvSpPr>
          <p:cNvPr id="32" name="Shape 30"/>
          <p:cNvSpPr/>
          <p:nvPr/>
        </p:nvSpPr>
        <p:spPr>
          <a:xfrm>
            <a:off x="640080" y="4352544"/>
            <a:ext cx="3017520" cy="475488"/>
          </a:xfrm>
          <a:prstGeom prst="roundRect">
            <a:avLst>
              <a:gd name="adj" fmla="val 11538"/>
            </a:avLst>
          </a:prstGeom>
          <a:solidFill>
            <a:srgbClr val="F8F5FC"/>
          </a:solidFill>
          <a:ln w="9525">
            <a:solidFill>
              <a:srgbClr val="DDD3EC"/>
            </a:solidFill>
            <a:prstDash val="solid"/>
          </a:ln>
        </p:spPr>
      </p:sp>
      <p:sp>
        <p:nvSpPr>
          <p:cNvPr id="33" name="Text 31"/>
          <p:cNvSpPr/>
          <p:nvPr/>
        </p:nvSpPr>
        <p:spPr>
          <a:xfrm>
            <a:off x="694944" y="4352544"/>
            <a:ext cx="2907792" cy="475488"/>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several dissolved substances, e.g. dyes</a:t>
            </a:r>
            <a:endParaRPr lang="en-US" sz="1050" dirty="0"/>
          </a:p>
        </p:txBody>
      </p:sp>
      <p:sp>
        <p:nvSpPr>
          <p:cNvPr id="34" name="Shape 32"/>
          <p:cNvSpPr/>
          <p:nvPr/>
        </p:nvSpPr>
        <p:spPr>
          <a:xfrm>
            <a:off x="3703320" y="4590288"/>
            <a:ext cx="274320" cy="91"/>
          </a:xfrm>
          <a:prstGeom prst="line">
            <a:avLst/>
          </a:prstGeom>
          <a:noFill/>
          <a:ln w="19050">
            <a:solidFill>
              <a:srgbClr val="2A1F3D"/>
            </a:solidFill>
            <a:prstDash val="solid"/>
            <a:tailEnd type="triangle"/>
          </a:ln>
        </p:spPr>
      </p:sp>
      <p:sp>
        <p:nvSpPr>
          <p:cNvPr id="35" name="Shape 33"/>
          <p:cNvSpPr/>
          <p:nvPr/>
        </p:nvSpPr>
        <p:spPr>
          <a:xfrm>
            <a:off x="4023360" y="4352544"/>
            <a:ext cx="1737360" cy="475488"/>
          </a:xfrm>
          <a:prstGeom prst="roundRect">
            <a:avLst>
              <a:gd name="adj" fmla="val 11538"/>
            </a:avLst>
          </a:prstGeom>
          <a:solidFill>
            <a:srgbClr val="FBEFD9"/>
          </a:solidFill>
          <a:ln w="12700">
            <a:solidFill>
              <a:srgbClr val="B8730A"/>
            </a:solidFill>
            <a:prstDash val="solid"/>
          </a:ln>
        </p:spPr>
      </p:sp>
      <p:sp>
        <p:nvSpPr>
          <p:cNvPr id="36" name="Text 34"/>
          <p:cNvSpPr/>
          <p:nvPr/>
        </p:nvSpPr>
        <p:spPr>
          <a:xfrm>
            <a:off x="4078224" y="4352544"/>
            <a:ext cx="1627632" cy="47548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chromatography</a:t>
            </a:r>
            <a:endParaRPr lang="en-US" sz="1050" dirty="0"/>
          </a:p>
        </p:txBody>
      </p:sp>
      <p:sp>
        <p:nvSpPr>
          <p:cNvPr id="37" name="Shape 35"/>
          <p:cNvSpPr/>
          <p:nvPr/>
        </p:nvSpPr>
        <p:spPr>
          <a:xfrm>
            <a:off x="502920" y="1755648"/>
            <a:ext cx="91" cy="2834640"/>
          </a:xfrm>
          <a:prstGeom prst="line">
            <a:avLst/>
          </a:prstGeom>
          <a:noFill/>
          <a:ln w="15875">
            <a:solidFill>
              <a:srgbClr val="6A3FA0"/>
            </a:solidFill>
            <a:prstDash val="solid"/>
          </a:ln>
        </p:spPr>
      </p:sp>
      <p:sp>
        <p:nvSpPr>
          <p:cNvPr id="38" name="Text 36"/>
          <p:cNvSpPr/>
          <p:nvPr/>
        </p:nvSpPr>
        <p:spPr>
          <a:xfrm>
            <a:off x="640080" y="4983480"/>
            <a:ext cx="5120640" cy="27432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Several steps may be needed, e.g. rock salt: </a:t>
            </a:r>
            <a:r>
              <a:rPr lang="en-US" sz="1050" b="1" dirty="0">
                <a:solidFill>
                  <a:srgbClr val="262B3A"/>
                </a:solidFill>
                <a:latin typeface="Calibri" pitchFamily="34" charset="0"/>
                <a:ea typeface="Calibri" pitchFamily="34" charset="-122"/>
                <a:cs typeface="Calibri" pitchFamily="34" charset="-120"/>
              </a:rPr>
              <a:t>dissolve → filter → crystallise</a:t>
            </a:r>
            <a:endParaRPr lang="en-US" sz="1050" dirty="0"/>
          </a:p>
        </p:txBody>
      </p:sp>
      <p:sp>
        <p:nvSpPr>
          <p:cNvPr id="39" name="Shape 37"/>
          <p:cNvSpPr/>
          <p:nvPr/>
        </p:nvSpPr>
        <p:spPr>
          <a:xfrm>
            <a:off x="6217920" y="1188720"/>
            <a:ext cx="5562295" cy="2834640"/>
          </a:xfrm>
          <a:prstGeom prst="roundRect">
            <a:avLst>
              <a:gd name="adj" fmla="val 1935"/>
            </a:avLst>
          </a:prstGeom>
          <a:solidFill>
            <a:srgbClr val="F8F5FC"/>
          </a:solidFill>
          <a:ln w="9525">
            <a:solidFill>
              <a:srgbClr val="DDD3EC"/>
            </a:solidFill>
            <a:prstDash val="solid"/>
          </a:ln>
        </p:spPr>
      </p:sp>
      <p:sp>
        <p:nvSpPr>
          <p:cNvPr id="40" name="Text 3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Use the data</a:t>
            </a:r>
            <a:endParaRPr lang="en-US" sz="1300" dirty="0"/>
          </a:p>
        </p:txBody>
      </p:sp>
      <p:sp>
        <p:nvSpPr>
          <p:cNvPr id="41" name="Text 39"/>
          <p:cNvSpPr/>
          <p:nvPr/>
        </p:nvSpPr>
        <p:spPr>
          <a:xfrm>
            <a:off x="6382512" y="1609344"/>
            <a:ext cx="5233111" cy="234086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Look at </a:t>
            </a:r>
            <a:r>
              <a:rPr lang="en-US" sz="1150" b="1" dirty="0">
                <a:solidFill>
                  <a:srgbClr val="262B3A"/>
                </a:solidFill>
                <a:latin typeface="Calibri" pitchFamily="34" charset="0"/>
                <a:ea typeface="Calibri" pitchFamily="34" charset="-122"/>
                <a:cs typeface="Calibri" pitchFamily="34" charset="-120"/>
              </a:rPr>
              <a:t>solubility</a:t>
            </a:r>
            <a:r>
              <a:rPr lang="en-US" sz="1150" dirty="0">
                <a:solidFill>
                  <a:srgbClr val="262B3A"/>
                </a:solidFill>
                <a:latin typeface="Calibri" pitchFamily="34" charset="0"/>
                <a:ea typeface="Calibri" pitchFamily="34" charset="-122"/>
                <a:cs typeface="Calibri" pitchFamily="34" charset="-120"/>
              </a:rPr>
              <a:t>: in water or in another solvent?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Look at </a:t>
            </a:r>
            <a:r>
              <a:rPr lang="en-US" sz="1150" b="1" dirty="0">
                <a:solidFill>
                  <a:srgbClr val="262B3A"/>
                </a:solidFill>
                <a:latin typeface="Calibri" pitchFamily="34" charset="0"/>
                <a:ea typeface="Calibri" pitchFamily="34" charset="-122"/>
                <a:cs typeface="Calibri" pitchFamily="34" charset="-120"/>
              </a:rPr>
              <a:t>melting</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boiling points</a:t>
            </a:r>
            <a:r>
              <a:rPr lang="en-US" sz="1150" dirty="0">
                <a:solidFill>
                  <a:srgbClr val="262B3A"/>
                </a:solidFill>
                <a:latin typeface="Calibri" pitchFamily="34" charset="0"/>
                <a:ea typeface="Calibri" pitchFamily="34" charset="-122"/>
                <a:cs typeface="Calibri" pitchFamily="34" charset="-120"/>
              </a:rPr>
              <a:t>: is it a solid or liquid at room temperature? How far apart are the boiling points?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Decide </a:t>
            </a:r>
            <a:r>
              <a:rPr lang="en-US" sz="1150" b="1" dirty="0">
                <a:solidFill>
                  <a:srgbClr val="262B3A"/>
                </a:solidFill>
                <a:latin typeface="Calibri" pitchFamily="34" charset="0"/>
                <a:ea typeface="Calibri" pitchFamily="34" charset="-122"/>
                <a:cs typeface="Calibri" pitchFamily="34" charset="-120"/>
              </a:rPr>
              <a:t>which part</a:t>
            </a:r>
            <a:r>
              <a:rPr lang="en-US" sz="1150" dirty="0">
                <a:solidFill>
                  <a:srgbClr val="262B3A"/>
                </a:solidFill>
                <a:latin typeface="Calibri" pitchFamily="34" charset="0"/>
                <a:ea typeface="Calibri" pitchFamily="34" charset="-122"/>
                <a:cs typeface="Calibri" pitchFamily="34" charset="-120"/>
              </a:rPr>
              <a:t> you want to keep: the solid, the liquid, or every component.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Check whether a substance </a:t>
            </a:r>
            <a:r>
              <a:rPr lang="en-US" sz="1150" b="1" dirty="0">
                <a:solidFill>
                  <a:srgbClr val="262B3A"/>
                </a:solidFill>
                <a:latin typeface="Calibri" pitchFamily="34" charset="0"/>
                <a:ea typeface="Calibri" pitchFamily="34" charset="-122"/>
                <a:cs typeface="Calibri" pitchFamily="34" charset="-120"/>
              </a:rPr>
              <a:t>decomposes</a:t>
            </a:r>
            <a:r>
              <a:rPr lang="en-US" sz="1150" dirty="0">
                <a:solidFill>
                  <a:srgbClr val="262B3A"/>
                </a:solidFill>
                <a:latin typeface="Calibri" pitchFamily="34" charset="0"/>
                <a:ea typeface="Calibri" pitchFamily="34" charset="-122"/>
                <a:cs typeface="Calibri" pitchFamily="34" charset="-120"/>
              </a:rPr>
              <a:t> on heating: then avoid strong heating.</a:t>
            </a:r>
            <a:endParaRPr lang="en-US" sz="1150" dirty="0"/>
          </a:p>
        </p:txBody>
      </p:sp>
      <p:sp>
        <p:nvSpPr>
          <p:cNvPr id="42" name="Shape 40"/>
          <p:cNvSpPr/>
          <p:nvPr/>
        </p:nvSpPr>
        <p:spPr>
          <a:xfrm>
            <a:off x="6217920" y="4160520"/>
            <a:ext cx="5562295" cy="1554480"/>
          </a:xfrm>
          <a:prstGeom prst="roundRect">
            <a:avLst>
              <a:gd name="adj" fmla="val 3529"/>
            </a:avLst>
          </a:prstGeom>
          <a:solidFill>
            <a:srgbClr val="FFF4E0"/>
          </a:solidFill>
          <a:ln w="9525">
            <a:solidFill>
              <a:srgbClr val="F1D9A8"/>
            </a:solidFill>
            <a:prstDash val="solid"/>
          </a:ln>
        </p:spPr>
      </p:sp>
      <p:sp>
        <p:nvSpPr>
          <p:cNvPr id="43" name="Text 41"/>
          <p:cNvSpPr/>
          <p:nvPr/>
        </p:nvSpPr>
        <p:spPr>
          <a:xfrm>
            <a:off x="6382512" y="423367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muddy sea water</a:t>
            </a:r>
            <a:endParaRPr lang="en-US" sz="1300" dirty="0"/>
          </a:p>
        </p:txBody>
      </p:sp>
      <p:sp>
        <p:nvSpPr>
          <p:cNvPr id="44" name="Text 42"/>
          <p:cNvSpPr/>
          <p:nvPr/>
        </p:nvSpPr>
        <p:spPr>
          <a:xfrm>
            <a:off x="6382512" y="4544568"/>
            <a:ext cx="5233111" cy="10972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Suggest how to obtain pure water from muddy sea water.</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Step 1   </a:t>
            </a:r>
            <a:r>
              <a:rPr lang="en-US" sz="1050" b="1" dirty="0">
                <a:solidFill>
                  <a:srgbClr val="262B3A"/>
                </a:solidFill>
                <a:latin typeface="Calibri" pitchFamily="34" charset="0"/>
                <a:ea typeface="Calibri" pitchFamily="34" charset="-122"/>
                <a:cs typeface="Calibri" pitchFamily="34" charset="-120"/>
              </a:rPr>
              <a:t>filter</a:t>
            </a:r>
            <a:r>
              <a:rPr lang="en-US" sz="1050" dirty="0">
                <a:solidFill>
                  <a:srgbClr val="262B3A"/>
                </a:solidFill>
                <a:latin typeface="Calibri" pitchFamily="34" charset="0"/>
                <a:ea typeface="Calibri" pitchFamily="34" charset="-122"/>
                <a:cs typeface="Calibri" pitchFamily="34" charset="-120"/>
              </a:rPr>
              <a:t>: the mud is insoluble and stays on the paper</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Step 2   </a:t>
            </a:r>
            <a:r>
              <a:rPr lang="en-US" sz="1050" b="1" dirty="0">
                <a:solidFill>
                  <a:srgbClr val="262B3A"/>
                </a:solidFill>
                <a:latin typeface="Calibri" pitchFamily="34" charset="0"/>
                <a:ea typeface="Calibri" pitchFamily="34" charset="-122"/>
                <a:cs typeface="Calibri" pitchFamily="34" charset="-120"/>
              </a:rPr>
              <a:t>simple distillation</a:t>
            </a:r>
            <a:r>
              <a:rPr lang="en-US" sz="1050" dirty="0">
                <a:solidFill>
                  <a:srgbClr val="262B3A"/>
                </a:solidFill>
                <a:latin typeface="Calibri" pitchFamily="34" charset="0"/>
                <a:ea typeface="Calibri" pitchFamily="34" charset="-122"/>
                <a:cs typeface="Calibri" pitchFamily="34" charset="-120"/>
              </a:rPr>
              <a:t> of the filtrate: water boils off and condenses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pure water is the </a:t>
            </a:r>
            <a:r>
              <a:rPr lang="en-US" sz="1050" b="1" dirty="0">
                <a:solidFill>
                  <a:srgbClr val="C8414C"/>
                </a:solidFill>
                <a:latin typeface="Calibri" pitchFamily="34" charset="0"/>
                <a:ea typeface="Calibri" pitchFamily="34" charset="-122"/>
                <a:cs typeface="Calibri" pitchFamily="34" charset="-120"/>
              </a:rPr>
              <a:t>distillate</a:t>
            </a:r>
            <a:r>
              <a:rPr lang="en-US" sz="1050" b="1" dirty="0">
                <a:solidFill>
                  <a:srgbClr val="C8414C"/>
                </a:solidFill>
                <a:latin typeface="Calibri" pitchFamily="34" charset="0"/>
                <a:ea typeface="Calibri" pitchFamily="34" charset="-122"/>
                <a:cs typeface="Calibri" pitchFamily="34" charset="-120"/>
              </a:rPr>
              <a:t>, collected at 100 °C</a:t>
            </a:r>
            <a:endParaRPr lang="en-US" sz="1050" dirty="0"/>
          </a:p>
        </p:txBody>
      </p:sp>
      <p:sp>
        <p:nvSpPr>
          <p:cNvPr id="45" name="Shape 43"/>
          <p:cNvSpPr/>
          <p:nvPr/>
        </p:nvSpPr>
        <p:spPr>
          <a:xfrm>
            <a:off x="411480" y="5833872"/>
            <a:ext cx="11368735" cy="530352"/>
          </a:xfrm>
          <a:prstGeom prst="rect">
            <a:avLst/>
          </a:prstGeom>
          <a:solidFill>
            <a:srgbClr val="FFF4E0"/>
          </a:solidFill>
          <a:ln w="6350">
            <a:solidFill>
              <a:srgbClr val="F1D9A8"/>
            </a:solidFill>
            <a:prstDash val="solid"/>
          </a:ln>
        </p:spPr>
      </p:sp>
      <p:sp>
        <p:nvSpPr>
          <p:cNvPr id="46" name="Shape 44"/>
          <p:cNvSpPr/>
          <p:nvPr/>
        </p:nvSpPr>
        <p:spPr>
          <a:xfrm>
            <a:off x="411480" y="5833872"/>
            <a:ext cx="82296" cy="530352"/>
          </a:xfrm>
          <a:prstGeom prst="rect">
            <a:avLst/>
          </a:prstGeom>
          <a:solidFill>
            <a:srgbClr val="E39A2F"/>
          </a:solidFill>
          <a:ln w="12700">
            <a:solidFill>
              <a:srgbClr val="E39A2F"/>
            </a:solidFill>
            <a:prstDash val="solid"/>
          </a:ln>
        </p:spPr>
      </p:sp>
      <p:sp>
        <p:nvSpPr>
          <p:cNvPr id="47" name="Text 4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method separates: (a) </a:t>
            </a:r>
            <a:r>
              <a:rPr lang="en-US" sz="1150" b="1" dirty="0">
                <a:solidFill>
                  <a:srgbClr val="262B3A"/>
                </a:solidFill>
                <a:latin typeface="Calibri" pitchFamily="34" charset="0"/>
                <a:ea typeface="Calibri" pitchFamily="34" charset="-122"/>
                <a:cs typeface="Calibri" pitchFamily="34" charset="-120"/>
              </a:rPr>
              <a:t>chalk</a:t>
            </a:r>
            <a:r>
              <a:rPr lang="en-US" sz="1150" dirty="0">
                <a:solidFill>
                  <a:srgbClr val="262B3A"/>
                </a:solidFill>
                <a:latin typeface="Calibri" pitchFamily="34" charset="0"/>
                <a:ea typeface="Calibri" pitchFamily="34" charset="-122"/>
                <a:cs typeface="Calibri" pitchFamily="34" charset="-120"/>
              </a:rPr>
              <a:t> from water, (b) copper sulfate </a:t>
            </a:r>
            <a:r>
              <a:rPr lang="en-US" sz="1150" b="1" dirty="0">
                <a:solidFill>
                  <a:srgbClr val="262B3A"/>
                </a:solidFill>
                <a:latin typeface="Calibri" pitchFamily="34" charset="0"/>
                <a:ea typeface="Calibri" pitchFamily="34" charset="-122"/>
                <a:cs typeface="Calibri" pitchFamily="34" charset="-120"/>
              </a:rPr>
              <a:t>crystals</a:t>
            </a:r>
            <a:r>
              <a:rPr lang="en-US" sz="1150" dirty="0">
                <a:solidFill>
                  <a:srgbClr val="262B3A"/>
                </a:solidFill>
                <a:latin typeface="Calibri" pitchFamily="34" charset="0"/>
                <a:ea typeface="Calibri" pitchFamily="34" charset="-122"/>
                <a:cs typeface="Calibri" pitchFamily="34" charset="-120"/>
              </a:rPr>
              <a:t> from its solution, (c) the dyes in a </a:t>
            </a:r>
            <a:r>
              <a:rPr lang="en-US" sz="1150" b="1" dirty="0">
                <a:solidFill>
                  <a:srgbClr val="262B3A"/>
                </a:solidFill>
                <a:latin typeface="Calibri" pitchFamily="34" charset="0"/>
                <a:ea typeface="Calibri" pitchFamily="34" charset="-122"/>
                <a:cs typeface="Calibri" pitchFamily="34" charset="-120"/>
              </a:rPr>
              <a:t>pen ink</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Practical: distilling an ethanol–water mixture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C5.1.7 • PAG C2 distillation: temperature readings and fractions</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C2</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C2  |  20</a:t>
            </a:r>
            <a:endParaRPr lang="en-US" sz="1000" dirty="0"/>
          </a:p>
        </p:txBody>
      </p:sp>
      <p:sp>
        <p:nvSpPr>
          <p:cNvPr id="10" name="Shape 8"/>
          <p:cNvSpPr/>
          <p:nvPr/>
        </p:nvSpPr>
        <p:spPr>
          <a:xfrm>
            <a:off x="411480" y="1188720"/>
            <a:ext cx="60350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7607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graph plotted to scale from the readings (illustrative data)</a:t>
            </a:r>
            <a:endParaRPr lang="en-US" sz="1000" dirty="0"/>
          </a:p>
        </p:txBody>
      </p:sp>
      <p:sp>
        <p:nvSpPr>
          <p:cNvPr id="12" name="Shape 10"/>
          <p:cNvSpPr/>
          <p:nvPr/>
        </p:nvSpPr>
        <p:spPr>
          <a:xfrm>
            <a:off x="1325880" y="1417320"/>
            <a:ext cx="4754880" cy="2606040"/>
          </a:xfrm>
          <a:prstGeom prst="rect">
            <a:avLst/>
          </a:prstGeom>
          <a:solidFill>
            <a:srgbClr val="FFFFFF"/>
          </a:solidFill>
          <a:ln/>
        </p:spPr>
      </p:sp>
      <p:sp>
        <p:nvSpPr>
          <p:cNvPr id="13" name="Shape 11"/>
          <p:cNvSpPr/>
          <p:nvPr/>
        </p:nvSpPr>
        <p:spPr>
          <a:xfrm>
            <a:off x="1325880" y="1417320"/>
            <a:ext cx="91" cy="2606040"/>
          </a:xfrm>
          <a:prstGeom prst="line">
            <a:avLst/>
          </a:prstGeom>
          <a:noFill/>
          <a:ln w="6350">
            <a:solidFill>
              <a:srgbClr val="D6CBE8"/>
            </a:solidFill>
            <a:prstDash val="solid"/>
          </a:ln>
        </p:spPr>
      </p:sp>
      <p:sp>
        <p:nvSpPr>
          <p:cNvPr id="14" name="Shape 12"/>
          <p:cNvSpPr/>
          <p:nvPr/>
        </p:nvSpPr>
        <p:spPr>
          <a:xfrm>
            <a:off x="1563624" y="1417320"/>
            <a:ext cx="91" cy="2606040"/>
          </a:xfrm>
          <a:prstGeom prst="line">
            <a:avLst/>
          </a:prstGeom>
          <a:noFill/>
          <a:ln w="6350">
            <a:solidFill>
              <a:srgbClr val="EEE9F6"/>
            </a:solidFill>
            <a:prstDash val="solid"/>
          </a:ln>
        </p:spPr>
      </p:sp>
      <p:sp>
        <p:nvSpPr>
          <p:cNvPr id="15" name="Shape 13"/>
          <p:cNvSpPr/>
          <p:nvPr/>
        </p:nvSpPr>
        <p:spPr>
          <a:xfrm>
            <a:off x="1801368" y="1417320"/>
            <a:ext cx="91" cy="2606040"/>
          </a:xfrm>
          <a:prstGeom prst="line">
            <a:avLst/>
          </a:prstGeom>
          <a:noFill/>
          <a:ln w="6350">
            <a:solidFill>
              <a:srgbClr val="D6CBE8"/>
            </a:solidFill>
            <a:prstDash val="solid"/>
          </a:ln>
        </p:spPr>
      </p:sp>
      <p:sp>
        <p:nvSpPr>
          <p:cNvPr id="16" name="Shape 14"/>
          <p:cNvSpPr/>
          <p:nvPr/>
        </p:nvSpPr>
        <p:spPr>
          <a:xfrm>
            <a:off x="2039112" y="1417320"/>
            <a:ext cx="91" cy="2606040"/>
          </a:xfrm>
          <a:prstGeom prst="line">
            <a:avLst/>
          </a:prstGeom>
          <a:noFill/>
          <a:ln w="6350">
            <a:solidFill>
              <a:srgbClr val="EEE9F6"/>
            </a:solidFill>
            <a:prstDash val="solid"/>
          </a:ln>
        </p:spPr>
      </p:sp>
      <p:sp>
        <p:nvSpPr>
          <p:cNvPr id="17" name="Shape 15"/>
          <p:cNvSpPr/>
          <p:nvPr/>
        </p:nvSpPr>
        <p:spPr>
          <a:xfrm>
            <a:off x="2276856" y="1417320"/>
            <a:ext cx="91" cy="2606040"/>
          </a:xfrm>
          <a:prstGeom prst="line">
            <a:avLst/>
          </a:prstGeom>
          <a:noFill/>
          <a:ln w="6350">
            <a:solidFill>
              <a:srgbClr val="D6CBE8"/>
            </a:solidFill>
            <a:prstDash val="solid"/>
          </a:ln>
        </p:spPr>
      </p:sp>
      <p:sp>
        <p:nvSpPr>
          <p:cNvPr id="18" name="Shape 16"/>
          <p:cNvSpPr/>
          <p:nvPr/>
        </p:nvSpPr>
        <p:spPr>
          <a:xfrm>
            <a:off x="2514600" y="1417320"/>
            <a:ext cx="91" cy="2606040"/>
          </a:xfrm>
          <a:prstGeom prst="line">
            <a:avLst/>
          </a:prstGeom>
          <a:noFill/>
          <a:ln w="6350">
            <a:solidFill>
              <a:srgbClr val="EEE9F6"/>
            </a:solidFill>
            <a:prstDash val="solid"/>
          </a:ln>
        </p:spPr>
      </p:sp>
      <p:sp>
        <p:nvSpPr>
          <p:cNvPr id="19" name="Shape 17"/>
          <p:cNvSpPr/>
          <p:nvPr/>
        </p:nvSpPr>
        <p:spPr>
          <a:xfrm>
            <a:off x="2752344" y="1417320"/>
            <a:ext cx="91" cy="2606040"/>
          </a:xfrm>
          <a:prstGeom prst="line">
            <a:avLst/>
          </a:prstGeom>
          <a:noFill/>
          <a:ln w="6350">
            <a:solidFill>
              <a:srgbClr val="D6CBE8"/>
            </a:solidFill>
            <a:prstDash val="solid"/>
          </a:ln>
        </p:spPr>
      </p:sp>
      <p:sp>
        <p:nvSpPr>
          <p:cNvPr id="20" name="Shape 18"/>
          <p:cNvSpPr/>
          <p:nvPr/>
        </p:nvSpPr>
        <p:spPr>
          <a:xfrm>
            <a:off x="2990088" y="1417320"/>
            <a:ext cx="91" cy="2606040"/>
          </a:xfrm>
          <a:prstGeom prst="line">
            <a:avLst/>
          </a:prstGeom>
          <a:noFill/>
          <a:ln w="6350">
            <a:solidFill>
              <a:srgbClr val="EEE9F6"/>
            </a:solidFill>
            <a:prstDash val="solid"/>
          </a:ln>
        </p:spPr>
      </p:sp>
      <p:sp>
        <p:nvSpPr>
          <p:cNvPr id="21" name="Shape 19"/>
          <p:cNvSpPr/>
          <p:nvPr/>
        </p:nvSpPr>
        <p:spPr>
          <a:xfrm>
            <a:off x="3227832" y="1417320"/>
            <a:ext cx="91" cy="2606040"/>
          </a:xfrm>
          <a:prstGeom prst="line">
            <a:avLst/>
          </a:prstGeom>
          <a:noFill/>
          <a:ln w="6350">
            <a:solidFill>
              <a:srgbClr val="D6CBE8"/>
            </a:solidFill>
            <a:prstDash val="solid"/>
          </a:ln>
        </p:spPr>
      </p:sp>
      <p:sp>
        <p:nvSpPr>
          <p:cNvPr id="22" name="Shape 20"/>
          <p:cNvSpPr/>
          <p:nvPr/>
        </p:nvSpPr>
        <p:spPr>
          <a:xfrm>
            <a:off x="3465576" y="1417320"/>
            <a:ext cx="91" cy="2606040"/>
          </a:xfrm>
          <a:prstGeom prst="line">
            <a:avLst/>
          </a:prstGeom>
          <a:noFill/>
          <a:ln w="6350">
            <a:solidFill>
              <a:srgbClr val="EEE9F6"/>
            </a:solidFill>
            <a:prstDash val="solid"/>
          </a:ln>
        </p:spPr>
      </p:sp>
      <p:sp>
        <p:nvSpPr>
          <p:cNvPr id="23" name="Shape 21"/>
          <p:cNvSpPr/>
          <p:nvPr/>
        </p:nvSpPr>
        <p:spPr>
          <a:xfrm>
            <a:off x="3703320" y="1417320"/>
            <a:ext cx="91" cy="2606040"/>
          </a:xfrm>
          <a:prstGeom prst="line">
            <a:avLst/>
          </a:prstGeom>
          <a:noFill/>
          <a:ln w="6350">
            <a:solidFill>
              <a:srgbClr val="D6CBE8"/>
            </a:solidFill>
            <a:prstDash val="solid"/>
          </a:ln>
        </p:spPr>
      </p:sp>
      <p:sp>
        <p:nvSpPr>
          <p:cNvPr id="24" name="Shape 22"/>
          <p:cNvSpPr/>
          <p:nvPr/>
        </p:nvSpPr>
        <p:spPr>
          <a:xfrm>
            <a:off x="3941064" y="1417320"/>
            <a:ext cx="91" cy="2606040"/>
          </a:xfrm>
          <a:prstGeom prst="line">
            <a:avLst/>
          </a:prstGeom>
          <a:noFill/>
          <a:ln w="6350">
            <a:solidFill>
              <a:srgbClr val="EEE9F6"/>
            </a:solidFill>
            <a:prstDash val="solid"/>
          </a:ln>
        </p:spPr>
      </p:sp>
      <p:sp>
        <p:nvSpPr>
          <p:cNvPr id="25" name="Shape 23"/>
          <p:cNvSpPr/>
          <p:nvPr/>
        </p:nvSpPr>
        <p:spPr>
          <a:xfrm>
            <a:off x="4178808" y="1417320"/>
            <a:ext cx="91" cy="2606040"/>
          </a:xfrm>
          <a:prstGeom prst="line">
            <a:avLst/>
          </a:prstGeom>
          <a:noFill/>
          <a:ln w="6350">
            <a:solidFill>
              <a:srgbClr val="D6CBE8"/>
            </a:solidFill>
            <a:prstDash val="solid"/>
          </a:ln>
        </p:spPr>
      </p:sp>
      <p:sp>
        <p:nvSpPr>
          <p:cNvPr id="26" name="Shape 24"/>
          <p:cNvSpPr/>
          <p:nvPr/>
        </p:nvSpPr>
        <p:spPr>
          <a:xfrm>
            <a:off x="4416552" y="1417320"/>
            <a:ext cx="91" cy="2606040"/>
          </a:xfrm>
          <a:prstGeom prst="line">
            <a:avLst/>
          </a:prstGeom>
          <a:noFill/>
          <a:ln w="6350">
            <a:solidFill>
              <a:srgbClr val="EEE9F6"/>
            </a:solidFill>
            <a:prstDash val="solid"/>
          </a:ln>
        </p:spPr>
      </p:sp>
      <p:sp>
        <p:nvSpPr>
          <p:cNvPr id="27" name="Shape 25"/>
          <p:cNvSpPr/>
          <p:nvPr/>
        </p:nvSpPr>
        <p:spPr>
          <a:xfrm>
            <a:off x="4654296" y="1417320"/>
            <a:ext cx="91" cy="2606040"/>
          </a:xfrm>
          <a:prstGeom prst="line">
            <a:avLst/>
          </a:prstGeom>
          <a:noFill/>
          <a:ln w="6350">
            <a:solidFill>
              <a:srgbClr val="D6CBE8"/>
            </a:solidFill>
            <a:prstDash val="solid"/>
          </a:ln>
        </p:spPr>
      </p:sp>
      <p:sp>
        <p:nvSpPr>
          <p:cNvPr id="28" name="Shape 26"/>
          <p:cNvSpPr/>
          <p:nvPr/>
        </p:nvSpPr>
        <p:spPr>
          <a:xfrm>
            <a:off x="4892040" y="1417320"/>
            <a:ext cx="91" cy="2606040"/>
          </a:xfrm>
          <a:prstGeom prst="line">
            <a:avLst/>
          </a:prstGeom>
          <a:noFill/>
          <a:ln w="6350">
            <a:solidFill>
              <a:srgbClr val="EEE9F6"/>
            </a:solidFill>
            <a:prstDash val="solid"/>
          </a:ln>
        </p:spPr>
      </p:sp>
      <p:sp>
        <p:nvSpPr>
          <p:cNvPr id="29" name="Shape 27"/>
          <p:cNvSpPr/>
          <p:nvPr/>
        </p:nvSpPr>
        <p:spPr>
          <a:xfrm>
            <a:off x="5129784" y="1417320"/>
            <a:ext cx="91" cy="2606040"/>
          </a:xfrm>
          <a:prstGeom prst="line">
            <a:avLst/>
          </a:prstGeom>
          <a:noFill/>
          <a:ln w="6350">
            <a:solidFill>
              <a:srgbClr val="D6CBE8"/>
            </a:solidFill>
            <a:prstDash val="solid"/>
          </a:ln>
        </p:spPr>
      </p:sp>
      <p:sp>
        <p:nvSpPr>
          <p:cNvPr id="30" name="Shape 28"/>
          <p:cNvSpPr/>
          <p:nvPr/>
        </p:nvSpPr>
        <p:spPr>
          <a:xfrm>
            <a:off x="5367528" y="1417320"/>
            <a:ext cx="91" cy="2606040"/>
          </a:xfrm>
          <a:prstGeom prst="line">
            <a:avLst/>
          </a:prstGeom>
          <a:noFill/>
          <a:ln w="6350">
            <a:solidFill>
              <a:srgbClr val="EEE9F6"/>
            </a:solidFill>
            <a:prstDash val="solid"/>
          </a:ln>
        </p:spPr>
      </p:sp>
      <p:sp>
        <p:nvSpPr>
          <p:cNvPr id="31" name="Shape 29"/>
          <p:cNvSpPr/>
          <p:nvPr/>
        </p:nvSpPr>
        <p:spPr>
          <a:xfrm>
            <a:off x="5605272" y="1417320"/>
            <a:ext cx="91" cy="2606040"/>
          </a:xfrm>
          <a:prstGeom prst="line">
            <a:avLst/>
          </a:prstGeom>
          <a:noFill/>
          <a:ln w="6350">
            <a:solidFill>
              <a:srgbClr val="D6CBE8"/>
            </a:solidFill>
            <a:prstDash val="solid"/>
          </a:ln>
        </p:spPr>
      </p:sp>
      <p:sp>
        <p:nvSpPr>
          <p:cNvPr id="32" name="Shape 30"/>
          <p:cNvSpPr/>
          <p:nvPr/>
        </p:nvSpPr>
        <p:spPr>
          <a:xfrm>
            <a:off x="5843016" y="1417320"/>
            <a:ext cx="91" cy="2606040"/>
          </a:xfrm>
          <a:prstGeom prst="line">
            <a:avLst/>
          </a:prstGeom>
          <a:noFill/>
          <a:ln w="6350">
            <a:solidFill>
              <a:srgbClr val="EEE9F6"/>
            </a:solidFill>
            <a:prstDash val="solid"/>
          </a:ln>
        </p:spPr>
      </p:sp>
      <p:sp>
        <p:nvSpPr>
          <p:cNvPr id="33" name="Shape 31"/>
          <p:cNvSpPr/>
          <p:nvPr/>
        </p:nvSpPr>
        <p:spPr>
          <a:xfrm>
            <a:off x="6080760" y="1417320"/>
            <a:ext cx="91" cy="2606040"/>
          </a:xfrm>
          <a:prstGeom prst="line">
            <a:avLst/>
          </a:prstGeom>
          <a:noFill/>
          <a:ln w="6350">
            <a:solidFill>
              <a:srgbClr val="D6CBE8"/>
            </a:solidFill>
            <a:prstDash val="solid"/>
          </a:ln>
        </p:spPr>
      </p:sp>
      <p:sp>
        <p:nvSpPr>
          <p:cNvPr id="34" name="Shape 32"/>
          <p:cNvSpPr/>
          <p:nvPr/>
        </p:nvSpPr>
        <p:spPr>
          <a:xfrm>
            <a:off x="1325880" y="4023360"/>
            <a:ext cx="4754880" cy="91"/>
          </a:xfrm>
          <a:prstGeom prst="line">
            <a:avLst/>
          </a:prstGeom>
          <a:noFill/>
          <a:ln w="6350">
            <a:solidFill>
              <a:srgbClr val="D6CBE8"/>
            </a:solidFill>
            <a:prstDash val="solid"/>
          </a:ln>
        </p:spPr>
      </p:sp>
      <p:sp>
        <p:nvSpPr>
          <p:cNvPr id="35" name="Shape 33"/>
          <p:cNvSpPr/>
          <p:nvPr/>
        </p:nvSpPr>
        <p:spPr>
          <a:xfrm>
            <a:off x="1325880" y="3837214"/>
            <a:ext cx="4754880" cy="91"/>
          </a:xfrm>
          <a:prstGeom prst="line">
            <a:avLst/>
          </a:prstGeom>
          <a:noFill/>
          <a:ln w="6350">
            <a:solidFill>
              <a:srgbClr val="EEE9F6"/>
            </a:solidFill>
            <a:prstDash val="solid"/>
          </a:ln>
        </p:spPr>
      </p:sp>
      <p:sp>
        <p:nvSpPr>
          <p:cNvPr id="36" name="Shape 34"/>
          <p:cNvSpPr/>
          <p:nvPr/>
        </p:nvSpPr>
        <p:spPr>
          <a:xfrm>
            <a:off x="1325880" y="3651069"/>
            <a:ext cx="4754880" cy="91"/>
          </a:xfrm>
          <a:prstGeom prst="line">
            <a:avLst/>
          </a:prstGeom>
          <a:noFill/>
          <a:ln w="6350">
            <a:solidFill>
              <a:srgbClr val="D6CBE8"/>
            </a:solidFill>
            <a:prstDash val="solid"/>
          </a:ln>
        </p:spPr>
      </p:sp>
      <p:sp>
        <p:nvSpPr>
          <p:cNvPr id="37" name="Shape 35"/>
          <p:cNvSpPr/>
          <p:nvPr/>
        </p:nvSpPr>
        <p:spPr>
          <a:xfrm>
            <a:off x="1325880" y="3464923"/>
            <a:ext cx="4754880" cy="91"/>
          </a:xfrm>
          <a:prstGeom prst="line">
            <a:avLst/>
          </a:prstGeom>
          <a:noFill/>
          <a:ln w="6350">
            <a:solidFill>
              <a:srgbClr val="EEE9F6"/>
            </a:solidFill>
            <a:prstDash val="solid"/>
          </a:ln>
        </p:spPr>
      </p:sp>
      <p:sp>
        <p:nvSpPr>
          <p:cNvPr id="38" name="Shape 36"/>
          <p:cNvSpPr/>
          <p:nvPr/>
        </p:nvSpPr>
        <p:spPr>
          <a:xfrm>
            <a:off x="1325880" y="3278777"/>
            <a:ext cx="4754880" cy="91"/>
          </a:xfrm>
          <a:prstGeom prst="line">
            <a:avLst/>
          </a:prstGeom>
          <a:noFill/>
          <a:ln w="6350">
            <a:solidFill>
              <a:srgbClr val="D6CBE8"/>
            </a:solidFill>
            <a:prstDash val="solid"/>
          </a:ln>
        </p:spPr>
      </p:sp>
      <p:sp>
        <p:nvSpPr>
          <p:cNvPr id="39" name="Shape 37"/>
          <p:cNvSpPr/>
          <p:nvPr/>
        </p:nvSpPr>
        <p:spPr>
          <a:xfrm>
            <a:off x="1325880" y="3092631"/>
            <a:ext cx="4754880" cy="91"/>
          </a:xfrm>
          <a:prstGeom prst="line">
            <a:avLst/>
          </a:prstGeom>
          <a:noFill/>
          <a:ln w="6350">
            <a:solidFill>
              <a:srgbClr val="EEE9F6"/>
            </a:solidFill>
            <a:prstDash val="solid"/>
          </a:ln>
        </p:spPr>
      </p:sp>
      <p:sp>
        <p:nvSpPr>
          <p:cNvPr id="40" name="Shape 38"/>
          <p:cNvSpPr/>
          <p:nvPr/>
        </p:nvSpPr>
        <p:spPr>
          <a:xfrm>
            <a:off x="1325880" y="2906486"/>
            <a:ext cx="4754880" cy="91"/>
          </a:xfrm>
          <a:prstGeom prst="line">
            <a:avLst/>
          </a:prstGeom>
          <a:noFill/>
          <a:ln w="6350">
            <a:solidFill>
              <a:srgbClr val="D6CBE8"/>
            </a:solidFill>
            <a:prstDash val="solid"/>
          </a:ln>
        </p:spPr>
      </p:sp>
      <p:sp>
        <p:nvSpPr>
          <p:cNvPr id="41" name="Shape 39"/>
          <p:cNvSpPr/>
          <p:nvPr/>
        </p:nvSpPr>
        <p:spPr>
          <a:xfrm>
            <a:off x="1325880" y="2720340"/>
            <a:ext cx="4754880" cy="91"/>
          </a:xfrm>
          <a:prstGeom prst="line">
            <a:avLst/>
          </a:prstGeom>
          <a:noFill/>
          <a:ln w="6350">
            <a:solidFill>
              <a:srgbClr val="EEE9F6"/>
            </a:solidFill>
            <a:prstDash val="solid"/>
          </a:ln>
        </p:spPr>
      </p:sp>
      <p:sp>
        <p:nvSpPr>
          <p:cNvPr id="42" name="Shape 40"/>
          <p:cNvSpPr/>
          <p:nvPr/>
        </p:nvSpPr>
        <p:spPr>
          <a:xfrm>
            <a:off x="1325880" y="2534194"/>
            <a:ext cx="4754880" cy="91"/>
          </a:xfrm>
          <a:prstGeom prst="line">
            <a:avLst/>
          </a:prstGeom>
          <a:noFill/>
          <a:ln w="6350">
            <a:solidFill>
              <a:srgbClr val="D6CBE8"/>
            </a:solidFill>
            <a:prstDash val="solid"/>
          </a:ln>
        </p:spPr>
      </p:sp>
      <p:sp>
        <p:nvSpPr>
          <p:cNvPr id="43" name="Shape 41"/>
          <p:cNvSpPr/>
          <p:nvPr/>
        </p:nvSpPr>
        <p:spPr>
          <a:xfrm>
            <a:off x="1325880" y="2348049"/>
            <a:ext cx="4754880" cy="91"/>
          </a:xfrm>
          <a:prstGeom prst="line">
            <a:avLst/>
          </a:prstGeom>
          <a:noFill/>
          <a:ln w="6350">
            <a:solidFill>
              <a:srgbClr val="EEE9F6"/>
            </a:solidFill>
            <a:prstDash val="solid"/>
          </a:ln>
        </p:spPr>
      </p:sp>
      <p:sp>
        <p:nvSpPr>
          <p:cNvPr id="44" name="Shape 42"/>
          <p:cNvSpPr/>
          <p:nvPr/>
        </p:nvSpPr>
        <p:spPr>
          <a:xfrm>
            <a:off x="1325880" y="2161903"/>
            <a:ext cx="4754880" cy="91"/>
          </a:xfrm>
          <a:prstGeom prst="line">
            <a:avLst/>
          </a:prstGeom>
          <a:noFill/>
          <a:ln w="6350">
            <a:solidFill>
              <a:srgbClr val="D6CBE8"/>
            </a:solidFill>
            <a:prstDash val="solid"/>
          </a:ln>
        </p:spPr>
      </p:sp>
      <p:sp>
        <p:nvSpPr>
          <p:cNvPr id="45" name="Shape 43"/>
          <p:cNvSpPr/>
          <p:nvPr/>
        </p:nvSpPr>
        <p:spPr>
          <a:xfrm>
            <a:off x="1325880" y="1975757"/>
            <a:ext cx="4754880" cy="91"/>
          </a:xfrm>
          <a:prstGeom prst="line">
            <a:avLst/>
          </a:prstGeom>
          <a:noFill/>
          <a:ln w="6350">
            <a:solidFill>
              <a:srgbClr val="EEE9F6"/>
            </a:solidFill>
            <a:prstDash val="solid"/>
          </a:ln>
        </p:spPr>
      </p:sp>
      <p:sp>
        <p:nvSpPr>
          <p:cNvPr id="46" name="Shape 44"/>
          <p:cNvSpPr/>
          <p:nvPr/>
        </p:nvSpPr>
        <p:spPr>
          <a:xfrm>
            <a:off x="1325880" y="1789611"/>
            <a:ext cx="4754880" cy="91"/>
          </a:xfrm>
          <a:prstGeom prst="line">
            <a:avLst/>
          </a:prstGeom>
          <a:noFill/>
          <a:ln w="6350">
            <a:solidFill>
              <a:srgbClr val="D6CBE8"/>
            </a:solidFill>
            <a:prstDash val="solid"/>
          </a:ln>
        </p:spPr>
      </p:sp>
      <p:sp>
        <p:nvSpPr>
          <p:cNvPr id="47" name="Shape 45"/>
          <p:cNvSpPr/>
          <p:nvPr/>
        </p:nvSpPr>
        <p:spPr>
          <a:xfrm>
            <a:off x="1325880" y="1603466"/>
            <a:ext cx="4754880" cy="91"/>
          </a:xfrm>
          <a:prstGeom prst="line">
            <a:avLst/>
          </a:prstGeom>
          <a:noFill/>
          <a:ln w="6350">
            <a:solidFill>
              <a:srgbClr val="EEE9F6"/>
            </a:solidFill>
            <a:prstDash val="solid"/>
          </a:ln>
        </p:spPr>
      </p:sp>
      <p:sp>
        <p:nvSpPr>
          <p:cNvPr id="48" name="Shape 46"/>
          <p:cNvSpPr/>
          <p:nvPr/>
        </p:nvSpPr>
        <p:spPr>
          <a:xfrm>
            <a:off x="1325880" y="1417320"/>
            <a:ext cx="4754880" cy="91"/>
          </a:xfrm>
          <a:prstGeom prst="line">
            <a:avLst/>
          </a:prstGeom>
          <a:noFill/>
          <a:ln w="6350">
            <a:solidFill>
              <a:srgbClr val="D6CBE8"/>
            </a:solidFill>
            <a:prstDash val="solid"/>
          </a:ln>
        </p:spPr>
      </p:sp>
      <p:sp>
        <p:nvSpPr>
          <p:cNvPr id="49" name="Shape 47"/>
          <p:cNvSpPr/>
          <p:nvPr/>
        </p:nvSpPr>
        <p:spPr>
          <a:xfrm>
            <a:off x="1325880" y="4023360"/>
            <a:ext cx="4754880" cy="91"/>
          </a:xfrm>
          <a:prstGeom prst="line">
            <a:avLst/>
          </a:prstGeom>
          <a:noFill/>
          <a:ln w="19050">
            <a:solidFill>
              <a:srgbClr val="2A1F3D"/>
            </a:solidFill>
            <a:prstDash val="solid"/>
          </a:ln>
        </p:spPr>
      </p:sp>
      <p:sp>
        <p:nvSpPr>
          <p:cNvPr id="50" name="Shape 48"/>
          <p:cNvSpPr/>
          <p:nvPr/>
        </p:nvSpPr>
        <p:spPr>
          <a:xfrm flipV="1">
            <a:off x="1325880" y="1417320"/>
            <a:ext cx="91" cy="2606040"/>
          </a:xfrm>
          <a:prstGeom prst="line">
            <a:avLst/>
          </a:prstGeom>
          <a:noFill/>
          <a:ln w="19050">
            <a:solidFill>
              <a:srgbClr val="2A1F3D"/>
            </a:solidFill>
            <a:prstDash val="solid"/>
          </a:ln>
        </p:spPr>
      </p:sp>
      <p:sp>
        <p:nvSpPr>
          <p:cNvPr id="51" name="Shape 49"/>
          <p:cNvSpPr/>
          <p:nvPr/>
        </p:nvSpPr>
        <p:spPr>
          <a:xfrm>
            <a:off x="1325880" y="4023360"/>
            <a:ext cx="91" cy="54864"/>
          </a:xfrm>
          <a:prstGeom prst="line">
            <a:avLst/>
          </a:prstGeom>
          <a:noFill/>
          <a:ln w="12700">
            <a:solidFill>
              <a:srgbClr val="2A1F3D"/>
            </a:solidFill>
            <a:prstDash val="solid"/>
          </a:ln>
        </p:spPr>
      </p:sp>
      <p:sp>
        <p:nvSpPr>
          <p:cNvPr id="52" name="Text 50"/>
          <p:cNvSpPr/>
          <p:nvPr/>
        </p:nvSpPr>
        <p:spPr>
          <a:xfrm>
            <a:off x="105156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3" name="Shape 51"/>
          <p:cNvSpPr/>
          <p:nvPr/>
        </p:nvSpPr>
        <p:spPr>
          <a:xfrm>
            <a:off x="1801368" y="4023360"/>
            <a:ext cx="91" cy="54864"/>
          </a:xfrm>
          <a:prstGeom prst="line">
            <a:avLst/>
          </a:prstGeom>
          <a:noFill/>
          <a:ln w="12700">
            <a:solidFill>
              <a:srgbClr val="2A1F3D"/>
            </a:solidFill>
            <a:prstDash val="solid"/>
          </a:ln>
        </p:spPr>
      </p:sp>
      <p:sp>
        <p:nvSpPr>
          <p:cNvPr id="54" name="Text 52"/>
          <p:cNvSpPr/>
          <p:nvPr/>
        </p:nvSpPr>
        <p:spPr>
          <a:xfrm>
            <a:off x="1527048"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55" name="Shape 53"/>
          <p:cNvSpPr/>
          <p:nvPr/>
        </p:nvSpPr>
        <p:spPr>
          <a:xfrm>
            <a:off x="2276856" y="4023360"/>
            <a:ext cx="91" cy="54864"/>
          </a:xfrm>
          <a:prstGeom prst="line">
            <a:avLst/>
          </a:prstGeom>
          <a:noFill/>
          <a:ln w="12700">
            <a:solidFill>
              <a:srgbClr val="2A1F3D"/>
            </a:solidFill>
            <a:prstDash val="solid"/>
          </a:ln>
        </p:spPr>
      </p:sp>
      <p:sp>
        <p:nvSpPr>
          <p:cNvPr id="56" name="Text 54"/>
          <p:cNvSpPr/>
          <p:nvPr/>
        </p:nvSpPr>
        <p:spPr>
          <a:xfrm>
            <a:off x="2002536"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57" name="Shape 55"/>
          <p:cNvSpPr/>
          <p:nvPr/>
        </p:nvSpPr>
        <p:spPr>
          <a:xfrm>
            <a:off x="2752344" y="4023360"/>
            <a:ext cx="91" cy="54864"/>
          </a:xfrm>
          <a:prstGeom prst="line">
            <a:avLst/>
          </a:prstGeom>
          <a:noFill/>
          <a:ln w="12700">
            <a:solidFill>
              <a:srgbClr val="2A1F3D"/>
            </a:solidFill>
            <a:prstDash val="solid"/>
          </a:ln>
        </p:spPr>
      </p:sp>
      <p:sp>
        <p:nvSpPr>
          <p:cNvPr id="58" name="Text 56"/>
          <p:cNvSpPr/>
          <p:nvPr/>
        </p:nvSpPr>
        <p:spPr>
          <a:xfrm>
            <a:off x="2478024"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59" name="Shape 57"/>
          <p:cNvSpPr/>
          <p:nvPr/>
        </p:nvSpPr>
        <p:spPr>
          <a:xfrm>
            <a:off x="3227832" y="4023360"/>
            <a:ext cx="91" cy="54864"/>
          </a:xfrm>
          <a:prstGeom prst="line">
            <a:avLst/>
          </a:prstGeom>
          <a:noFill/>
          <a:ln w="12700">
            <a:solidFill>
              <a:srgbClr val="2A1F3D"/>
            </a:solidFill>
            <a:prstDash val="solid"/>
          </a:ln>
        </p:spPr>
      </p:sp>
      <p:sp>
        <p:nvSpPr>
          <p:cNvPr id="60" name="Text 58"/>
          <p:cNvSpPr/>
          <p:nvPr/>
        </p:nvSpPr>
        <p:spPr>
          <a:xfrm>
            <a:off x="2953512"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61" name="Shape 59"/>
          <p:cNvSpPr/>
          <p:nvPr/>
        </p:nvSpPr>
        <p:spPr>
          <a:xfrm>
            <a:off x="3703320" y="4023360"/>
            <a:ext cx="91" cy="54864"/>
          </a:xfrm>
          <a:prstGeom prst="line">
            <a:avLst/>
          </a:prstGeom>
          <a:noFill/>
          <a:ln w="12700">
            <a:solidFill>
              <a:srgbClr val="2A1F3D"/>
            </a:solidFill>
            <a:prstDash val="solid"/>
          </a:ln>
        </p:spPr>
      </p:sp>
      <p:sp>
        <p:nvSpPr>
          <p:cNvPr id="62" name="Text 60"/>
          <p:cNvSpPr/>
          <p:nvPr/>
        </p:nvSpPr>
        <p:spPr>
          <a:xfrm>
            <a:off x="342900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63" name="Shape 61"/>
          <p:cNvSpPr/>
          <p:nvPr/>
        </p:nvSpPr>
        <p:spPr>
          <a:xfrm>
            <a:off x="4178808" y="4023360"/>
            <a:ext cx="91" cy="54864"/>
          </a:xfrm>
          <a:prstGeom prst="line">
            <a:avLst/>
          </a:prstGeom>
          <a:noFill/>
          <a:ln w="12700">
            <a:solidFill>
              <a:srgbClr val="2A1F3D"/>
            </a:solidFill>
            <a:prstDash val="solid"/>
          </a:ln>
        </p:spPr>
      </p:sp>
      <p:sp>
        <p:nvSpPr>
          <p:cNvPr id="64" name="Text 62"/>
          <p:cNvSpPr/>
          <p:nvPr/>
        </p:nvSpPr>
        <p:spPr>
          <a:xfrm>
            <a:off x="3904488"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65" name="Shape 63"/>
          <p:cNvSpPr/>
          <p:nvPr/>
        </p:nvSpPr>
        <p:spPr>
          <a:xfrm>
            <a:off x="4654296" y="4023360"/>
            <a:ext cx="91" cy="54864"/>
          </a:xfrm>
          <a:prstGeom prst="line">
            <a:avLst/>
          </a:prstGeom>
          <a:noFill/>
          <a:ln w="12700">
            <a:solidFill>
              <a:srgbClr val="2A1F3D"/>
            </a:solidFill>
            <a:prstDash val="solid"/>
          </a:ln>
        </p:spPr>
      </p:sp>
      <p:sp>
        <p:nvSpPr>
          <p:cNvPr id="66" name="Text 64"/>
          <p:cNvSpPr/>
          <p:nvPr/>
        </p:nvSpPr>
        <p:spPr>
          <a:xfrm>
            <a:off x="4379976"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14</a:t>
            </a:r>
            <a:endParaRPr lang="en-US" sz="1000" dirty="0"/>
          </a:p>
        </p:txBody>
      </p:sp>
      <p:sp>
        <p:nvSpPr>
          <p:cNvPr id="67" name="Shape 65"/>
          <p:cNvSpPr/>
          <p:nvPr/>
        </p:nvSpPr>
        <p:spPr>
          <a:xfrm>
            <a:off x="5129784" y="4023360"/>
            <a:ext cx="91" cy="54864"/>
          </a:xfrm>
          <a:prstGeom prst="line">
            <a:avLst/>
          </a:prstGeom>
          <a:noFill/>
          <a:ln w="12700">
            <a:solidFill>
              <a:srgbClr val="2A1F3D"/>
            </a:solidFill>
            <a:prstDash val="solid"/>
          </a:ln>
        </p:spPr>
      </p:sp>
      <p:sp>
        <p:nvSpPr>
          <p:cNvPr id="68" name="Text 66"/>
          <p:cNvSpPr/>
          <p:nvPr/>
        </p:nvSpPr>
        <p:spPr>
          <a:xfrm>
            <a:off x="4855464"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p>
        </p:txBody>
      </p:sp>
      <p:sp>
        <p:nvSpPr>
          <p:cNvPr id="69" name="Shape 67"/>
          <p:cNvSpPr/>
          <p:nvPr/>
        </p:nvSpPr>
        <p:spPr>
          <a:xfrm>
            <a:off x="5605272" y="4023360"/>
            <a:ext cx="91" cy="54864"/>
          </a:xfrm>
          <a:prstGeom prst="line">
            <a:avLst/>
          </a:prstGeom>
          <a:noFill/>
          <a:ln w="12700">
            <a:solidFill>
              <a:srgbClr val="2A1F3D"/>
            </a:solidFill>
            <a:prstDash val="solid"/>
          </a:ln>
        </p:spPr>
      </p:sp>
      <p:sp>
        <p:nvSpPr>
          <p:cNvPr id="70" name="Text 68"/>
          <p:cNvSpPr/>
          <p:nvPr/>
        </p:nvSpPr>
        <p:spPr>
          <a:xfrm>
            <a:off x="5330952"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a:t>
            </a:r>
            <a:endParaRPr lang="en-US" sz="1000" dirty="0"/>
          </a:p>
        </p:txBody>
      </p:sp>
      <p:sp>
        <p:nvSpPr>
          <p:cNvPr id="71" name="Shape 69"/>
          <p:cNvSpPr/>
          <p:nvPr/>
        </p:nvSpPr>
        <p:spPr>
          <a:xfrm>
            <a:off x="6080760" y="4023360"/>
            <a:ext cx="91" cy="54864"/>
          </a:xfrm>
          <a:prstGeom prst="line">
            <a:avLst/>
          </a:prstGeom>
          <a:noFill/>
          <a:ln w="12700">
            <a:solidFill>
              <a:srgbClr val="2A1F3D"/>
            </a:solidFill>
            <a:prstDash val="solid"/>
          </a:ln>
        </p:spPr>
      </p:sp>
      <p:sp>
        <p:nvSpPr>
          <p:cNvPr id="72" name="Text 70"/>
          <p:cNvSpPr/>
          <p:nvPr/>
        </p:nvSpPr>
        <p:spPr>
          <a:xfrm>
            <a:off x="580644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73" name="Shape 71"/>
          <p:cNvSpPr/>
          <p:nvPr/>
        </p:nvSpPr>
        <p:spPr>
          <a:xfrm>
            <a:off x="1271016" y="4023360"/>
            <a:ext cx="54864" cy="91"/>
          </a:xfrm>
          <a:prstGeom prst="line">
            <a:avLst/>
          </a:prstGeom>
          <a:noFill/>
          <a:ln w="12700">
            <a:solidFill>
              <a:srgbClr val="2A1F3D"/>
            </a:solidFill>
            <a:prstDash val="solid"/>
          </a:ln>
        </p:spPr>
      </p:sp>
      <p:sp>
        <p:nvSpPr>
          <p:cNvPr id="74" name="Text 72"/>
          <p:cNvSpPr/>
          <p:nvPr/>
        </p:nvSpPr>
        <p:spPr>
          <a:xfrm>
            <a:off x="886968" y="39319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70</a:t>
            </a:r>
            <a:endParaRPr lang="en-US" sz="1000" dirty="0"/>
          </a:p>
        </p:txBody>
      </p:sp>
      <p:sp>
        <p:nvSpPr>
          <p:cNvPr id="75" name="Shape 73"/>
          <p:cNvSpPr/>
          <p:nvPr/>
        </p:nvSpPr>
        <p:spPr>
          <a:xfrm>
            <a:off x="1271016" y="3651069"/>
            <a:ext cx="54864" cy="91"/>
          </a:xfrm>
          <a:prstGeom prst="line">
            <a:avLst/>
          </a:prstGeom>
          <a:noFill/>
          <a:ln w="12700">
            <a:solidFill>
              <a:srgbClr val="2A1F3D"/>
            </a:solidFill>
            <a:prstDash val="solid"/>
          </a:ln>
        </p:spPr>
      </p:sp>
      <p:sp>
        <p:nvSpPr>
          <p:cNvPr id="76" name="Text 74"/>
          <p:cNvSpPr/>
          <p:nvPr/>
        </p:nvSpPr>
        <p:spPr>
          <a:xfrm>
            <a:off x="886968" y="3559629"/>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75</a:t>
            </a:r>
            <a:endParaRPr lang="en-US" sz="1000" dirty="0"/>
          </a:p>
        </p:txBody>
      </p:sp>
      <p:sp>
        <p:nvSpPr>
          <p:cNvPr id="77" name="Shape 75"/>
          <p:cNvSpPr/>
          <p:nvPr/>
        </p:nvSpPr>
        <p:spPr>
          <a:xfrm>
            <a:off x="1271016" y="3278777"/>
            <a:ext cx="54864" cy="91"/>
          </a:xfrm>
          <a:prstGeom prst="line">
            <a:avLst/>
          </a:prstGeom>
          <a:noFill/>
          <a:ln w="12700">
            <a:solidFill>
              <a:srgbClr val="2A1F3D"/>
            </a:solidFill>
            <a:prstDash val="solid"/>
          </a:ln>
        </p:spPr>
      </p:sp>
      <p:sp>
        <p:nvSpPr>
          <p:cNvPr id="78" name="Text 76"/>
          <p:cNvSpPr/>
          <p:nvPr/>
        </p:nvSpPr>
        <p:spPr>
          <a:xfrm>
            <a:off x="886968" y="3187337"/>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79" name="Shape 77"/>
          <p:cNvSpPr/>
          <p:nvPr/>
        </p:nvSpPr>
        <p:spPr>
          <a:xfrm>
            <a:off x="1271016" y="2906486"/>
            <a:ext cx="54864" cy="91"/>
          </a:xfrm>
          <a:prstGeom prst="line">
            <a:avLst/>
          </a:prstGeom>
          <a:noFill/>
          <a:ln w="12700">
            <a:solidFill>
              <a:srgbClr val="2A1F3D"/>
            </a:solidFill>
            <a:prstDash val="solid"/>
          </a:ln>
        </p:spPr>
      </p:sp>
      <p:sp>
        <p:nvSpPr>
          <p:cNvPr id="80" name="Text 78"/>
          <p:cNvSpPr/>
          <p:nvPr/>
        </p:nvSpPr>
        <p:spPr>
          <a:xfrm>
            <a:off x="886968" y="281504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85</a:t>
            </a:r>
            <a:endParaRPr lang="en-US" sz="1000" dirty="0"/>
          </a:p>
        </p:txBody>
      </p:sp>
      <p:sp>
        <p:nvSpPr>
          <p:cNvPr id="81" name="Shape 79"/>
          <p:cNvSpPr/>
          <p:nvPr/>
        </p:nvSpPr>
        <p:spPr>
          <a:xfrm>
            <a:off x="1271016" y="2534194"/>
            <a:ext cx="54864" cy="91"/>
          </a:xfrm>
          <a:prstGeom prst="line">
            <a:avLst/>
          </a:prstGeom>
          <a:noFill/>
          <a:ln w="12700">
            <a:solidFill>
              <a:srgbClr val="2A1F3D"/>
            </a:solidFill>
            <a:prstDash val="solid"/>
          </a:ln>
        </p:spPr>
      </p:sp>
      <p:sp>
        <p:nvSpPr>
          <p:cNvPr id="82" name="Text 80"/>
          <p:cNvSpPr/>
          <p:nvPr/>
        </p:nvSpPr>
        <p:spPr>
          <a:xfrm>
            <a:off x="886968" y="244275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90</a:t>
            </a:r>
            <a:endParaRPr lang="en-US" sz="1000" dirty="0"/>
          </a:p>
        </p:txBody>
      </p:sp>
      <p:sp>
        <p:nvSpPr>
          <p:cNvPr id="83" name="Shape 81"/>
          <p:cNvSpPr/>
          <p:nvPr/>
        </p:nvSpPr>
        <p:spPr>
          <a:xfrm>
            <a:off x="1271016" y="2161903"/>
            <a:ext cx="54864" cy="91"/>
          </a:xfrm>
          <a:prstGeom prst="line">
            <a:avLst/>
          </a:prstGeom>
          <a:noFill/>
          <a:ln w="12700">
            <a:solidFill>
              <a:srgbClr val="2A1F3D"/>
            </a:solidFill>
            <a:prstDash val="solid"/>
          </a:ln>
        </p:spPr>
      </p:sp>
      <p:sp>
        <p:nvSpPr>
          <p:cNvPr id="84" name="Text 82"/>
          <p:cNvSpPr/>
          <p:nvPr/>
        </p:nvSpPr>
        <p:spPr>
          <a:xfrm>
            <a:off x="886968" y="2070463"/>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95</a:t>
            </a:r>
            <a:endParaRPr lang="en-US" sz="1000" dirty="0"/>
          </a:p>
        </p:txBody>
      </p:sp>
      <p:sp>
        <p:nvSpPr>
          <p:cNvPr id="85" name="Shape 83"/>
          <p:cNvSpPr/>
          <p:nvPr/>
        </p:nvSpPr>
        <p:spPr>
          <a:xfrm>
            <a:off x="1271016" y="1789611"/>
            <a:ext cx="54864" cy="91"/>
          </a:xfrm>
          <a:prstGeom prst="line">
            <a:avLst/>
          </a:prstGeom>
          <a:noFill/>
          <a:ln w="12700">
            <a:solidFill>
              <a:srgbClr val="2A1F3D"/>
            </a:solidFill>
            <a:prstDash val="solid"/>
          </a:ln>
        </p:spPr>
      </p:sp>
      <p:sp>
        <p:nvSpPr>
          <p:cNvPr id="86" name="Text 84"/>
          <p:cNvSpPr/>
          <p:nvPr/>
        </p:nvSpPr>
        <p:spPr>
          <a:xfrm>
            <a:off x="886968" y="1698171"/>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87" name="Shape 85"/>
          <p:cNvSpPr/>
          <p:nvPr/>
        </p:nvSpPr>
        <p:spPr>
          <a:xfrm>
            <a:off x="1271016" y="1417320"/>
            <a:ext cx="54864" cy="91"/>
          </a:xfrm>
          <a:prstGeom prst="line">
            <a:avLst/>
          </a:prstGeom>
          <a:noFill/>
          <a:ln w="12700">
            <a:solidFill>
              <a:srgbClr val="2A1F3D"/>
            </a:solidFill>
            <a:prstDash val="solid"/>
          </a:ln>
        </p:spPr>
      </p:sp>
      <p:sp>
        <p:nvSpPr>
          <p:cNvPr id="88" name="Text 86"/>
          <p:cNvSpPr/>
          <p:nvPr/>
        </p:nvSpPr>
        <p:spPr>
          <a:xfrm>
            <a:off x="8869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105</a:t>
            </a:r>
            <a:endParaRPr lang="en-US" sz="1000" dirty="0"/>
          </a:p>
        </p:txBody>
      </p:sp>
      <p:sp>
        <p:nvSpPr>
          <p:cNvPr id="89" name="Text 87"/>
          <p:cNvSpPr/>
          <p:nvPr/>
        </p:nvSpPr>
        <p:spPr>
          <a:xfrm>
            <a:off x="1325880" y="4270248"/>
            <a:ext cx="47548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Volume of distillate collected / cm³</a:t>
            </a:r>
            <a:endParaRPr lang="en-US" sz="1050" dirty="0"/>
          </a:p>
        </p:txBody>
      </p:sp>
      <p:sp>
        <p:nvSpPr>
          <p:cNvPr id="90" name="Text 88"/>
          <p:cNvSpPr/>
          <p:nvPr/>
        </p:nvSpPr>
        <p:spPr>
          <a:xfrm rot="16200000">
            <a:off x="-544068" y="2592324"/>
            <a:ext cx="26060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Temperature / °C</a:t>
            </a:r>
            <a:endParaRPr lang="en-US" sz="1050" dirty="0"/>
          </a:p>
        </p:txBody>
      </p:sp>
      <p:sp>
        <p:nvSpPr>
          <p:cNvPr id="91" name="Shape 89"/>
          <p:cNvSpPr/>
          <p:nvPr/>
        </p:nvSpPr>
        <p:spPr>
          <a:xfrm>
            <a:off x="1325880" y="1417320"/>
            <a:ext cx="2852928" cy="2606040"/>
          </a:xfrm>
          <a:prstGeom prst="rect">
            <a:avLst/>
          </a:prstGeom>
          <a:solidFill>
            <a:srgbClr val="E8F1D6">
              <a:alpha val="70000"/>
            </a:srgbClr>
          </a:solidFill>
          <a:ln/>
        </p:spPr>
      </p:sp>
      <p:sp>
        <p:nvSpPr>
          <p:cNvPr id="92" name="Shape 90"/>
          <p:cNvSpPr/>
          <p:nvPr/>
        </p:nvSpPr>
        <p:spPr>
          <a:xfrm>
            <a:off x="1325880" y="3427694"/>
            <a:ext cx="475488" cy="91"/>
          </a:xfrm>
          <a:prstGeom prst="line">
            <a:avLst/>
          </a:prstGeom>
          <a:noFill/>
          <a:ln w="25400">
            <a:solidFill>
              <a:srgbClr val="6A3FA0"/>
            </a:solidFill>
            <a:prstDash val="solid"/>
          </a:ln>
        </p:spPr>
      </p:sp>
      <p:sp>
        <p:nvSpPr>
          <p:cNvPr id="93" name="Shape 91"/>
          <p:cNvSpPr/>
          <p:nvPr/>
        </p:nvSpPr>
        <p:spPr>
          <a:xfrm flipV="1">
            <a:off x="1801368" y="3353235"/>
            <a:ext cx="475488" cy="74458"/>
          </a:xfrm>
          <a:prstGeom prst="line">
            <a:avLst/>
          </a:prstGeom>
          <a:noFill/>
          <a:ln w="25400">
            <a:solidFill>
              <a:srgbClr val="6A3FA0"/>
            </a:solidFill>
            <a:prstDash val="solid"/>
          </a:ln>
        </p:spPr>
      </p:sp>
      <p:sp>
        <p:nvSpPr>
          <p:cNvPr id="94" name="Shape 92"/>
          <p:cNvSpPr/>
          <p:nvPr/>
        </p:nvSpPr>
        <p:spPr>
          <a:xfrm>
            <a:off x="2276856" y="3353235"/>
            <a:ext cx="475488" cy="91"/>
          </a:xfrm>
          <a:prstGeom prst="line">
            <a:avLst/>
          </a:prstGeom>
          <a:noFill/>
          <a:ln w="25400">
            <a:solidFill>
              <a:srgbClr val="6A3FA0"/>
            </a:solidFill>
            <a:prstDash val="solid"/>
          </a:ln>
        </p:spPr>
      </p:sp>
      <p:sp>
        <p:nvSpPr>
          <p:cNvPr id="95" name="Shape 93"/>
          <p:cNvSpPr/>
          <p:nvPr/>
        </p:nvSpPr>
        <p:spPr>
          <a:xfrm flipV="1">
            <a:off x="2752344" y="3278777"/>
            <a:ext cx="475488" cy="74458"/>
          </a:xfrm>
          <a:prstGeom prst="line">
            <a:avLst/>
          </a:prstGeom>
          <a:noFill/>
          <a:ln w="25400">
            <a:solidFill>
              <a:srgbClr val="6A3FA0"/>
            </a:solidFill>
            <a:prstDash val="solid"/>
          </a:ln>
        </p:spPr>
      </p:sp>
      <p:sp>
        <p:nvSpPr>
          <p:cNvPr id="96" name="Shape 94"/>
          <p:cNvSpPr/>
          <p:nvPr/>
        </p:nvSpPr>
        <p:spPr>
          <a:xfrm>
            <a:off x="3227832" y="3278777"/>
            <a:ext cx="475488" cy="91"/>
          </a:xfrm>
          <a:prstGeom prst="line">
            <a:avLst/>
          </a:prstGeom>
          <a:noFill/>
          <a:ln w="25400">
            <a:solidFill>
              <a:srgbClr val="6A3FA0"/>
            </a:solidFill>
            <a:prstDash val="solid"/>
          </a:ln>
        </p:spPr>
      </p:sp>
      <p:sp>
        <p:nvSpPr>
          <p:cNvPr id="97" name="Shape 95"/>
          <p:cNvSpPr/>
          <p:nvPr/>
        </p:nvSpPr>
        <p:spPr>
          <a:xfrm flipV="1">
            <a:off x="3703320" y="3129861"/>
            <a:ext cx="475488" cy="148917"/>
          </a:xfrm>
          <a:prstGeom prst="line">
            <a:avLst/>
          </a:prstGeom>
          <a:noFill/>
          <a:ln w="25400">
            <a:solidFill>
              <a:srgbClr val="6A3FA0"/>
            </a:solidFill>
            <a:prstDash val="solid"/>
          </a:ln>
        </p:spPr>
      </p:sp>
      <p:sp>
        <p:nvSpPr>
          <p:cNvPr id="98" name="Shape 96"/>
          <p:cNvSpPr/>
          <p:nvPr/>
        </p:nvSpPr>
        <p:spPr>
          <a:xfrm flipV="1">
            <a:off x="4178808" y="2683111"/>
            <a:ext cx="475488" cy="446750"/>
          </a:xfrm>
          <a:prstGeom prst="line">
            <a:avLst/>
          </a:prstGeom>
          <a:noFill/>
          <a:ln w="25400">
            <a:solidFill>
              <a:srgbClr val="6A3FA0"/>
            </a:solidFill>
            <a:prstDash val="solid"/>
          </a:ln>
        </p:spPr>
      </p:sp>
      <p:sp>
        <p:nvSpPr>
          <p:cNvPr id="99" name="Shape 97"/>
          <p:cNvSpPr/>
          <p:nvPr/>
        </p:nvSpPr>
        <p:spPr>
          <a:xfrm flipV="1">
            <a:off x="4654296" y="2161903"/>
            <a:ext cx="475488" cy="521208"/>
          </a:xfrm>
          <a:prstGeom prst="line">
            <a:avLst/>
          </a:prstGeom>
          <a:noFill/>
          <a:ln w="25400">
            <a:solidFill>
              <a:srgbClr val="6A3FA0"/>
            </a:solidFill>
            <a:prstDash val="solid"/>
          </a:ln>
        </p:spPr>
      </p:sp>
      <p:sp>
        <p:nvSpPr>
          <p:cNvPr id="100" name="Shape 98"/>
          <p:cNvSpPr/>
          <p:nvPr/>
        </p:nvSpPr>
        <p:spPr>
          <a:xfrm flipV="1">
            <a:off x="5129784" y="1864070"/>
            <a:ext cx="475488" cy="297833"/>
          </a:xfrm>
          <a:prstGeom prst="line">
            <a:avLst/>
          </a:prstGeom>
          <a:noFill/>
          <a:ln w="25400">
            <a:solidFill>
              <a:srgbClr val="6A3FA0"/>
            </a:solidFill>
            <a:prstDash val="solid"/>
          </a:ln>
        </p:spPr>
      </p:sp>
      <p:sp>
        <p:nvSpPr>
          <p:cNvPr id="101" name="Shape 99"/>
          <p:cNvSpPr/>
          <p:nvPr/>
        </p:nvSpPr>
        <p:spPr>
          <a:xfrm flipV="1">
            <a:off x="5605272" y="1789611"/>
            <a:ext cx="475488" cy="74458"/>
          </a:xfrm>
          <a:prstGeom prst="line">
            <a:avLst/>
          </a:prstGeom>
          <a:noFill/>
          <a:ln w="25400">
            <a:solidFill>
              <a:srgbClr val="6A3FA0"/>
            </a:solidFill>
            <a:prstDash val="solid"/>
          </a:ln>
        </p:spPr>
      </p:sp>
      <p:sp>
        <p:nvSpPr>
          <p:cNvPr id="102" name="Shape 100"/>
          <p:cNvSpPr/>
          <p:nvPr/>
        </p:nvSpPr>
        <p:spPr>
          <a:xfrm>
            <a:off x="1280160" y="3381974"/>
            <a:ext cx="91440" cy="91440"/>
          </a:xfrm>
          <a:prstGeom prst="line">
            <a:avLst/>
          </a:prstGeom>
          <a:noFill/>
          <a:ln w="15875">
            <a:solidFill>
              <a:srgbClr val="2A1F3D"/>
            </a:solidFill>
            <a:prstDash val="solid"/>
          </a:ln>
        </p:spPr>
      </p:sp>
      <p:sp>
        <p:nvSpPr>
          <p:cNvPr id="103" name="Shape 101"/>
          <p:cNvSpPr/>
          <p:nvPr/>
        </p:nvSpPr>
        <p:spPr>
          <a:xfrm flipV="1">
            <a:off x="1280160" y="3381974"/>
            <a:ext cx="91440" cy="91440"/>
          </a:xfrm>
          <a:prstGeom prst="line">
            <a:avLst/>
          </a:prstGeom>
          <a:noFill/>
          <a:ln w="15875">
            <a:solidFill>
              <a:srgbClr val="2A1F3D"/>
            </a:solidFill>
            <a:prstDash val="solid"/>
          </a:ln>
        </p:spPr>
      </p:sp>
      <p:sp>
        <p:nvSpPr>
          <p:cNvPr id="104" name="Shape 102"/>
          <p:cNvSpPr/>
          <p:nvPr/>
        </p:nvSpPr>
        <p:spPr>
          <a:xfrm>
            <a:off x="1755648" y="3381974"/>
            <a:ext cx="91440" cy="91440"/>
          </a:xfrm>
          <a:prstGeom prst="line">
            <a:avLst/>
          </a:prstGeom>
          <a:noFill/>
          <a:ln w="15875">
            <a:solidFill>
              <a:srgbClr val="2A1F3D"/>
            </a:solidFill>
            <a:prstDash val="solid"/>
          </a:ln>
        </p:spPr>
      </p:sp>
      <p:sp>
        <p:nvSpPr>
          <p:cNvPr id="105" name="Shape 103"/>
          <p:cNvSpPr/>
          <p:nvPr/>
        </p:nvSpPr>
        <p:spPr>
          <a:xfrm flipV="1">
            <a:off x="1755648" y="3381974"/>
            <a:ext cx="91440" cy="91440"/>
          </a:xfrm>
          <a:prstGeom prst="line">
            <a:avLst/>
          </a:prstGeom>
          <a:noFill/>
          <a:ln w="15875">
            <a:solidFill>
              <a:srgbClr val="2A1F3D"/>
            </a:solidFill>
            <a:prstDash val="solid"/>
          </a:ln>
        </p:spPr>
      </p:sp>
      <p:sp>
        <p:nvSpPr>
          <p:cNvPr id="106" name="Shape 104"/>
          <p:cNvSpPr/>
          <p:nvPr/>
        </p:nvSpPr>
        <p:spPr>
          <a:xfrm>
            <a:off x="2231136" y="3307515"/>
            <a:ext cx="91440" cy="91440"/>
          </a:xfrm>
          <a:prstGeom prst="line">
            <a:avLst/>
          </a:prstGeom>
          <a:noFill/>
          <a:ln w="15875">
            <a:solidFill>
              <a:srgbClr val="2A1F3D"/>
            </a:solidFill>
            <a:prstDash val="solid"/>
          </a:ln>
        </p:spPr>
      </p:sp>
      <p:sp>
        <p:nvSpPr>
          <p:cNvPr id="107" name="Shape 105"/>
          <p:cNvSpPr/>
          <p:nvPr/>
        </p:nvSpPr>
        <p:spPr>
          <a:xfrm flipV="1">
            <a:off x="2231136" y="3307515"/>
            <a:ext cx="91440" cy="91440"/>
          </a:xfrm>
          <a:prstGeom prst="line">
            <a:avLst/>
          </a:prstGeom>
          <a:noFill/>
          <a:ln w="15875">
            <a:solidFill>
              <a:srgbClr val="2A1F3D"/>
            </a:solidFill>
            <a:prstDash val="solid"/>
          </a:ln>
        </p:spPr>
      </p:sp>
      <p:sp>
        <p:nvSpPr>
          <p:cNvPr id="108" name="Shape 106"/>
          <p:cNvSpPr/>
          <p:nvPr/>
        </p:nvSpPr>
        <p:spPr>
          <a:xfrm>
            <a:off x="2706624" y="3307515"/>
            <a:ext cx="91440" cy="91440"/>
          </a:xfrm>
          <a:prstGeom prst="line">
            <a:avLst/>
          </a:prstGeom>
          <a:noFill/>
          <a:ln w="15875">
            <a:solidFill>
              <a:srgbClr val="2A1F3D"/>
            </a:solidFill>
            <a:prstDash val="solid"/>
          </a:ln>
        </p:spPr>
      </p:sp>
      <p:sp>
        <p:nvSpPr>
          <p:cNvPr id="109" name="Shape 107"/>
          <p:cNvSpPr/>
          <p:nvPr/>
        </p:nvSpPr>
        <p:spPr>
          <a:xfrm flipV="1">
            <a:off x="2706624" y="3307515"/>
            <a:ext cx="91440" cy="91440"/>
          </a:xfrm>
          <a:prstGeom prst="line">
            <a:avLst/>
          </a:prstGeom>
          <a:noFill/>
          <a:ln w="15875">
            <a:solidFill>
              <a:srgbClr val="2A1F3D"/>
            </a:solidFill>
            <a:prstDash val="solid"/>
          </a:ln>
        </p:spPr>
      </p:sp>
      <p:sp>
        <p:nvSpPr>
          <p:cNvPr id="110" name="Shape 108"/>
          <p:cNvSpPr/>
          <p:nvPr/>
        </p:nvSpPr>
        <p:spPr>
          <a:xfrm>
            <a:off x="3182112" y="3233057"/>
            <a:ext cx="91440" cy="91440"/>
          </a:xfrm>
          <a:prstGeom prst="line">
            <a:avLst/>
          </a:prstGeom>
          <a:noFill/>
          <a:ln w="15875">
            <a:solidFill>
              <a:srgbClr val="2A1F3D"/>
            </a:solidFill>
            <a:prstDash val="solid"/>
          </a:ln>
        </p:spPr>
      </p:sp>
      <p:sp>
        <p:nvSpPr>
          <p:cNvPr id="111" name="Shape 109"/>
          <p:cNvSpPr/>
          <p:nvPr/>
        </p:nvSpPr>
        <p:spPr>
          <a:xfrm flipV="1">
            <a:off x="3182112" y="3233057"/>
            <a:ext cx="91440" cy="91440"/>
          </a:xfrm>
          <a:prstGeom prst="line">
            <a:avLst/>
          </a:prstGeom>
          <a:noFill/>
          <a:ln w="15875">
            <a:solidFill>
              <a:srgbClr val="2A1F3D"/>
            </a:solidFill>
            <a:prstDash val="solid"/>
          </a:ln>
        </p:spPr>
      </p:sp>
      <p:sp>
        <p:nvSpPr>
          <p:cNvPr id="112" name="Shape 110"/>
          <p:cNvSpPr/>
          <p:nvPr/>
        </p:nvSpPr>
        <p:spPr>
          <a:xfrm>
            <a:off x="3657600" y="3233057"/>
            <a:ext cx="91440" cy="91440"/>
          </a:xfrm>
          <a:prstGeom prst="line">
            <a:avLst/>
          </a:prstGeom>
          <a:noFill/>
          <a:ln w="15875">
            <a:solidFill>
              <a:srgbClr val="2A1F3D"/>
            </a:solidFill>
            <a:prstDash val="solid"/>
          </a:ln>
        </p:spPr>
      </p:sp>
      <p:sp>
        <p:nvSpPr>
          <p:cNvPr id="113" name="Shape 111"/>
          <p:cNvSpPr/>
          <p:nvPr/>
        </p:nvSpPr>
        <p:spPr>
          <a:xfrm flipV="1">
            <a:off x="3657600" y="3233057"/>
            <a:ext cx="91440" cy="91440"/>
          </a:xfrm>
          <a:prstGeom prst="line">
            <a:avLst/>
          </a:prstGeom>
          <a:noFill/>
          <a:ln w="15875">
            <a:solidFill>
              <a:srgbClr val="2A1F3D"/>
            </a:solidFill>
            <a:prstDash val="solid"/>
          </a:ln>
        </p:spPr>
      </p:sp>
      <p:sp>
        <p:nvSpPr>
          <p:cNvPr id="114" name="Shape 112"/>
          <p:cNvSpPr/>
          <p:nvPr/>
        </p:nvSpPr>
        <p:spPr>
          <a:xfrm>
            <a:off x="4133088" y="3084141"/>
            <a:ext cx="91440" cy="91440"/>
          </a:xfrm>
          <a:prstGeom prst="line">
            <a:avLst/>
          </a:prstGeom>
          <a:noFill/>
          <a:ln w="15875">
            <a:solidFill>
              <a:srgbClr val="2A1F3D"/>
            </a:solidFill>
            <a:prstDash val="solid"/>
          </a:ln>
        </p:spPr>
      </p:sp>
      <p:sp>
        <p:nvSpPr>
          <p:cNvPr id="115" name="Shape 113"/>
          <p:cNvSpPr/>
          <p:nvPr/>
        </p:nvSpPr>
        <p:spPr>
          <a:xfrm flipV="1">
            <a:off x="4133088" y="3084141"/>
            <a:ext cx="91440" cy="91440"/>
          </a:xfrm>
          <a:prstGeom prst="line">
            <a:avLst/>
          </a:prstGeom>
          <a:noFill/>
          <a:ln w="15875">
            <a:solidFill>
              <a:srgbClr val="2A1F3D"/>
            </a:solidFill>
            <a:prstDash val="solid"/>
          </a:ln>
        </p:spPr>
      </p:sp>
      <p:sp>
        <p:nvSpPr>
          <p:cNvPr id="116" name="Shape 114"/>
          <p:cNvSpPr/>
          <p:nvPr/>
        </p:nvSpPr>
        <p:spPr>
          <a:xfrm>
            <a:off x="4608576" y="2637391"/>
            <a:ext cx="91440" cy="91440"/>
          </a:xfrm>
          <a:prstGeom prst="line">
            <a:avLst/>
          </a:prstGeom>
          <a:noFill/>
          <a:ln w="15875">
            <a:solidFill>
              <a:srgbClr val="2A1F3D"/>
            </a:solidFill>
            <a:prstDash val="solid"/>
          </a:ln>
        </p:spPr>
      </p:sp>
      <p:sp>
        <p:nvSpPr>
          <p:cNvPr id="117" name="Shape 115"/>
          <p:cNvSpPr/>
          <p:nvPr/>
        </p:nvSpPr>
        <p:spPr>
          <a:xfrm flipV="1">
            <a:off x="4608576" y="2637391"/>
            <a:ext cx="91440" cy="91440"/>
          </a:xfrm>
          <a:prstGeom prst="line">
            <a:avLst/>
          </a:prstGeom>
          <a:noFill/>
          <a:ln w="15875">
            <a:solidFill>
              <a:srgbClr val="2A1F3D"/>
            </a:solidFill>
            <a:prstDash val="solid"/>
          </a:ln>
        </p:spPr>
      </p:sp>
      <p:sp>
        <p:nvSpPr>
          <p:cNvPr id="118" name="Shape 116"/>
          <p:cNvSpPr/>
          <p:nvPr/>
        </p:nvSpPr>
        <p:spPr>
          <a:xfrm>
            <a:off x="5084064" y="2116183"/>
            <a:ext cx="91440" cy="91440"/>
          </a:xfrm>
          <a:prstGeom prst="line">
            <a:avLst/>
          </a:prstGeom>
          <a:noFill/>
          <a:ln w="15875">
            <a:solidFill>
              <a:srgbClr val="2A1F3D"/>
            </a:solidFill>
            <a:prstDash val="solid"/>
          </a:ln>
        </p:spPr>
      </p:sp>
      <p:sp>
        <p:nvSpPr>
          <p:cNvPr id="119" name="Shape 117"/>
          <p:cNvSpPr/>
          <p:nvPr/>
        </p:nvSpPr>
        <p:spPr>
          <a:xfrm flipV="1">
            <a:off x="5084064" y="2116183"/>
            <a:ext cx="91440" cy="91440"/>
          </a:xfrm>
          <a:prstGeom prst="line">
            <a:avLst/>
          </a:prstGeom>
          <a:noFill/>
          <a:ln w="15875">
            <a:solidFill>
              <a:srgbClr val="2A1F3D"/>
            </a:solidFill>
            <a:prstDash val="solid"/>
          </a:ln>
        </p:spPr>
      </p:sp>
      <p:sp>
        <p:nvSpPr>
          <p:cNvPr id="120" name="Shape 118"/>
          <p:cNvSpPr/>
          <p:nvPr/>
        </p:nvSpPr>
        <p:spPr>
          <a:xfrm>
            <a:off x="5559552" y="1818350"/>
            <a:ext cx="91440" cy="91440"/>
          </a:xfrm>
          <a:prstGeom prst="line">
            <a:avLst/>
          </a:prstGeom>
          <a:noFill/>
          <a:ln w="15875">
            <a:solidFill>
              <a:srgbClr val="2A1F3D"/>
            </a:solidFill>
            <a:prstDash val="solid"/>
          </a:ln>
        </p:spPr>
      </p:sp>
      <p:sp>
        <p:nvSpPr>
          <p:cNvPr id="121" name="Shape 119"/>
          <p:cNvSpPr/>
          <p:nvPr/>
        </p:nvSpPr>
        <p:spPr>
          <a:xfrm flipV="1">
            <a:off x="5559552" y="1818350"/>
            <a:ext cx="91440" cy="91440"/>
          </a:xfrm>
          <a:prstGeom prst="line">
            <a:avLst/>
          </a:prstGeom>
          <a:noFill/>
          <a:ln w="15875">
            <a:solidFill>
              <a:srgbClr val="2A1F3D"/>
            </a:solidFill>
            <a:prstDash val="solid"/>
          </a:ln>
        </p:spPr>
      </p:sp>
      <p:sp>
        <p:nvSpPr>
          <p:cNvPr id="122" name="Shape 120"/>
          <p:cNvSpPr/>
          <p:nvPr/>
        </p:nvSpPr>
        <p:spPr>
          <a:xfrm>
            <a:off x="6035040" y="1743891"/>
            <a:ext cx="91440" cy="91440"/>
          </a:xfrm>
          <a:prstGeom prst="line">
            <a:avLst/>
          </a:prstGeom>
          <a:noFill/>
          <a:ln w="15875">
            <a:solidFill>
              <a:srgbClr val="2A1F3D"/>
            </a:solidFill>
            <a:prstDash val="solid"/>
          </a:ln>
        </p:spPr>
      </p:sp>
      <p:sp>
        <p:nvSpPr>
          <p:cNvPr id="123" name="Shape 121"/>
          <p:cNvSpPr/>
          <p:nvPr/>
        </p:nvSpPr>
        <p:spPr>
          <a:xfrm flipV="1">
            <a:off x="6035040" y="1743891"/>
            <a:ext cx="91440" cy="91440"/>
          </a:xfrm>
          <a:prstGeom prst="line">
            <a:avLst/>
          </a:prstGeom>
          <a:noFill/>
          <a:ln w="15875">
            <a:solidFill>
              <a:srgbClr val="2A1F3D"/>
            </a:solidFill>
            <a:prstDash val="solid"/>
          </a:ln>
        </p:spPr>
      </p:sp>
      <p:sp>
        <p:nvSpPr>
          <p:cNvPr id="124" name="Shape 122"/>
          <p:cNvSpPr/>
          <p:nvPr/>
        </p:nvSpPr>
        <p:spPr>
          <a:xfrm>
            <a:off x="4178808" y="1417320"/>
            <a:ext cx="91" cy="2606040"/>
          </a:xfrm>
          <a:prstGeom prst="line">
            <a:avLst/>
          </a:prstGeom>
          <a:noFill/>
          <a:ln w="12700">
            <a:solidFill>
              <a:srgbClr val="5E7F2A"/>
            </a:solidFill>
            <a:prstDash val="dash"/>
          </a:ln>
        </p:spPr>
      </p:sp>
      <p:sp>
        <p:nvSpPr>
          <p:cNvPr id="125" name="Text 123"/>
          <p:cNvSpPr/>
          <p:nvPr/>
        </p:nvSpPr>
        <p:spPr>
          <a:xfrm>
            <a:off x="1397203" y="3725527"/>
            <a:ext cx="1828800" cy="219456"/>
          </a:xfrm>
          <a:prstGeom prst="rect">
            <a:avLst/>
          </a:prstGeom>
          <a:noFill/>
          <a:ln/>
        </p:spPr>
        <p:txBody>
          <a:bodyPr wrap="square" lIns="0" tIns="0" rIns="0" bIns="0" rtlCol="0" anchor="ctr"/>
          <a:lstStyle/>
          <a:p>
            <a:pPr algn="l" indent="0" marL="0">
              <a:buNone/>
            </a:pPr>
            <a:r>
              <a:rPr lang="en-US" sz="1050" b="1" dirty="0">
                <a:solidFill>
                  <a:srgbClr val="5E7F2A"/>
                </a:solidFill>
                <a:latin typeface="Calibri" pitchFamily="34" charset="0"/>
                <a:ea typeface="Calibri" pitchFamily="34" charset="-122"/>
                <a:cs typeface="Calibri" pitchFamily="34" charset="-120"/>
              </a:rPr>
              <a:t>fraction 1</a:t>
            </a:r>
            <a:r>
              <a:rPr lang="en-US" sz="1050" dirty="0">
                <a:solidFill>
                  <a:srgbClr val="5E7F2A"/>
                </a:solidFill>
                <a:latin typeface="Calibri" pitchFamily="34" charset="0"/>
                <a:ea typeface="Calibri" pitchFamily="34" charset="-122"/>
                <a:cs typeface="Calibri" pitchFamily="34" charset="-120"/>
              </a:rPr>
              <a:t>: mostly ethanol</a:t>
            </a:r>
            <a:endParaRPr lang="en-US" sz="1050" dirty="0"/>
          </a:p>
        </p:txBody>
      </p:sp>
      <p:sp>
        <p:nvSpPr>
          <p:cNvPr id="126" name="Text 124"/>
          <p:cNvSpPr/>
          <p:nvPr/>
        </p:nvSpPr>
        <p:spPr>
          <a:xfrm>
            <a:off x="4250131" y="3576610"/>
            <a:ext cx="1828800" cy="219456"/>
          </a:xfrm>
          <a:prstGeom prst="rect">
            <a:avLst/>
          </a:prstGeom>
          <a:noFill/>
          <a:ln/>
        </p:spPr>
        <p:txBody>
          <a:bodyPr wrap="square" lIns="0" tIns="0" rIns="0" bIns="0" rtlCol="0" anchor="ctr"/>
          <a:lstStyle/>
          <a:p>
            <a:pPr algn="l" indent="0" marL="0">
              <a:buNone/>
            </a:pPr>
            <a:r>
              <a:rPr lang="en-US" sz="1050" dirty="0">
                <a:solidFill>
                  <a:srgbClr val="2A1F3D"/>
                </a:solidFill>
                <a:latin typeface="Calibri" pitchFamily="34" charset="0"/>
                <a:ea typeface="Calibri" pitchFamily="34" charset="-122"/>
                <a:cs typeface="Calibri" pitchFamily="34" charset="-120"/>
              </a:rPr>
              <a:t>change receiver at </a:t>
            </a:r>
            <a:r>
              <a:rPr lang="en-US" sz="1050" b="1" dirty="0">
                <a:solidFill>
                  <a:srgbClr val="2A1F3D"/>
                </a:solidFill>
                <a:latin typeface="Calibri" pitchFamily="34" charset="0"/>
                <a:ea typeface="Calibri" pitchFamily="34" charset="-122"/>
                <a:cs typeface="Calibri" pitchFamily="34" charset="-120"/>
              </a:rPr>
              <a:t>82 °C</a:t>
            </a:r>
            <a:endParaRPr lang="en-US" sz="10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4572000"/>
          <a:ext cx="5577840" cy="914400"/>
        </p:xfrm>
        <a:graphic>
          <a:graphicData uri="http://schemas.openxmlformats.org/drawingml/2006/table">
            <a:tbl>
              <a:tblPr/>
              <a:tblGrid>
                <a:gridCol w="804672"/>
                <a:gridCol w="433883"/>
                <a:gridCol w="433883"/>
                <a:gridCol w="433883"/>
                <a:gridCol w="433883"/>
                <a:gridCol w="433883"/>
                <a:gridCol w="433883"/>
                <a:gridCol w="433883"/>
                <a:gridCol w="433883"/>
                <a:gridCol w="433883"/>
                <a:gridCol w="433883"/>
                <a:gridCol w="433883"/>
              </a:tblGrid>
              <a:tr h="21945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 / cm³</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219456">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T / °C</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78</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78</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79</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79</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82</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88</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95</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99</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bl>
          </a:graphicData>
        </a:graphic>
      </p:graphicFrame>
      <p:sp>
        <p:nvSpPr>
          <p:cNvPr id="128" name="Shape 125"/>
          <p:cNvSpPr/>
          <p:nvPr/>
        </p:nvSpPr>
        <p:spPr>
          <a:xfrm>
            <a:off x="6675120" y="1188720"/>
            <a:ext cx="5102352" cy="2697480"/>
          </a:xfrm>
          <a:prstGeom prst="roundRect">
            <a:avLst>
              <a:gd name="adj" fmla="val 2034"/>
            </a:avLst>
          </a:prstGeom>
          <a:solidFill>
            <a:srgbClr val="F8F5FC"/>
          </a:solidFill>
          <a:ln w="9525">
            <a:solidFill>
              <a:srgbClr val="DDD3EC"/>
            </a:solidFill>
            <a:prstDash val="solid"/>
          </a:ln>
        </p:spPr>
      </p:sp>
      <p:sp>
        <p:nvSpPr>
          <p:cNvPr id="129" name="Text 126"/>
          <p:cNvSpPr/>
          <p:nvPr/>
        </p:nvSpPr>
        <p:spPr>
          <a:xfrm>
            <a:off x="6839712" y="1280160"/>
            <a:ext cx="47731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Method and safety</a:t>
            </a:r>
            <a:endParaRPr lang="en-US" sz="1300" dirty="0"/>
          </a:p>
        </p:txBody>
      </p:sp>
      <p:sp>
        <p:nvSpPr>
          <p:cNvPr id="130" name="Text 127"/>
          <p:cNvSpPr/>
          <p:nvPr/>
        </p:nvSpPr>
        <p:spPr>
          <a:xfrm>
            <a:off x="6839712" y="1609344"/>
            <a:ext cx="4773168" cy="220370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Set up the fractional distillation apparatus (slide 17) with </a:t>
            </a:r>
            <a:r>
              <a:rPr lang="en-US" sz="1100" b="1" dirty="0">
                <a:solidFill>
                  <a:srgbClr val="262B3A"/>
                </a:solidFill>
                <a:latin typeface="Calibri" pitchFamily="34" charset="0"/>
                <a:ea typeface="Calibri" pitchFamily="34" charset="-122"/>
                <a:cs typeface="Calibri" pitchFamily="34" charset="-120"/>
              </a:rPr>
              <a:t>50 cm³</a:t>
            </a:r>
            <a:r>
              <a:rPr lang="en-US" sz="1100" dirty="0">
                <a:solidFill>
                  <a:srgbClr val="262B3A"/>
                </a:solidFill>
                <a:latin typeface="Calibri" pitchFamily="34" charset="0"/>
                <a:ea typeface="Calibri" pitchFamily="34" charset="-122"/>
                <a:cs typeface="Calibri" pitchFamily="34" charset="-120"/>
              </a:rPr>
              <a:t> of the mixture and anti-bumping granules.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Heat </a:t>
            </a:r>
            <a:r>
              <a:rPr lang="en-US" sz="1100" b="1" dirty="0">
                <a:solidFill>
                  <a:srgbClr val="262B3A"/>
                </a:solidFill>
                <a:latin typeface="Calibri" pitchFamily="34" charset="0"/>
                <a:ea typeface="Calibri" pitchFamily="34" charset="-122"/>
                <a:cs typeface="Calibri" pitchFamily="34" charset="-120"/>
              </a:rPr>
              <a:t>gently</a:t>
            </a:r>
            <a:r>
              <a:rPr lang="en-US" sz="1100" dirty="0">
                <a:solidFill>
                  <a:srgbClr val="262B3A"/>
                </a:solidFill>
                <a:latin typeface="Calibri" pitchFamily="34" charset="0"/>
                <a:ea typeface="Calibri" pitchFamily="34" charset="-122"/>
                <a:cs typeface="Calibri" pitchFamily="34" charset="-120"/>
              </a:rPr>
              <a:t> with a heating mantle. Record the temperature every </a:t>
            </a:r>
            <a:r>
              <a:rPr lang="en-US" sz="1100" b="1" dirty="0">
                <a:solidFill>
                  <a:srgbClr val="262B3A"/>
                </a:solidFill>
                <a:latin typeface="Calibri" pitchFamily="34" charset="0"/>
                <a:ea typeface="Calibri" pitchFamily="34" charset="-122"/>
                <a:cs typeface="Calibri" pitchFamily="34" charset="-120"/>
              </a:rPr>
              <a:t>2 cm³</a:t>
            </a:r>
            <a:r>
              <a:rPr lang="en-US" sz="1100" dirty="0">
                <a:solidFill>
                  <a:srgbClr val="262B3A"/>
                </a:solidFill>
                <a:latin typeface="Calibri" pitchFamily="34" charset="0"/>
                <a:ea typeface="Calibri" pitchFamily="34" charset="-122"/>
                <a:cs typeface="Calibri" pitchFamily="34" charset="-120"/>
              </a:rPr>
              <a:t> of distillate.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Change the receiver when the temperature </a:t>
            </a:r>
            <a:r>
              <a:rPr lang="en-US" sz="1100" b="1" dirty="0">
                <a:solidFill>
                  <a:srgbClr val="262B3A"/>
                </a:solidFill>
                <a:latin typeface="Calibri" pitchFamily="34" charset="0"/>
                <a:ea typeface="Calibri" pitchFamily="34" charset="-122"/>
                <a:cs typeface="Calibri" pitchFamily="34" charset="-120"/>
              </a:rPr>
              <a:t>rises</a:t>
            </a:r>
            <a:r>
              <a:rPr lang="en-US" sz="1100" dirty="0">
                <a:solidFill>
                  <a:srgbClr val="262B3A"/>
                </a:solidFill>
                <a:latin typeface="Calibri" pitchFamily="34" charset="0"/>
                <a:ea typeface="Calibri" pitchFamily="34" charset="-122"/>
                <a:cs typeface="Calibri" pitchFamily="34" charset="-120"/>
              </a:rPr>
              <a:t> above about 82 °C.</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Safety</a:t>
            </a:r>
            <a:r>
              <a:rPr lang="en-US" sz="1100" dirty="0">
                <a:solidFill>
                  <a:srgbClr val="262B3A"/>
                </a:solidFill>
                <a:latin typeface="Calibri" pitchFamily="34" charset="0"/>
                <a:ea typeface="Calibri" pitchFamily="34" charset="-122"/>
                <a:cs typeface="Calibri" pitchFamily="34" charset="-120"/>
              </a:rPr>
              <a:t>: ethanol is </a:t>
            </a:r>
            <a:r>
              <a:rPr lang="en-US" sz="1100" b="1" dirty="0">
                <a:solidFill>
                  <a:srgbClr val="262B3A"/>
                </a:solidFill>
                <a:latin typeface="Calibri" pitchFamily="34" charset="0"/>
                <a:ea typeface="Calibri" pitchFamily="34" charset="-122"/>
                <a:cs typeface="Calibri" pitchFamily="34" charset="-120"/>
              </a:rPr>
              <a:t>HIGHLY FLAMMABLE</a:t>
            </a:r>
            <a:r>
              <a:rPr lang="en-US" sz="1100" dirty="0">
                <a:solidFill>
                  <a:srgbClr val="262B3A"/>
                </a:solidFill>
                <a:latin typeface="Calibri" pitchFamily="34" charset="0"/>
                <a:ea typeface="Calibri" pitchFamily="34" charset="-122"/>
                <a:cs typeface="Calibri" pitchFamily="34" charset="-120"/>
              </a:rPr>
              <a:t>: no flames; eye protection; check the condenser hoses; never heat a sealed system.</a:t>
            </a:r>
            <a:endParaRPr lang="en-US" sz="1100" dirty="0"/>
          </a:p>
        </p:txBody>
      </p:sp>
      <p:sp>
        <p:nvSpPr>
          <p:cNvPr id="131" name="Shape 128"/>
          <p:cNvSpPr/>
          <p:nvPr/>
        </p:nvSpPr>
        <p:spPr>
          <a:xfrm>
            <a:off x="6675120" y="4023360"/>
            <a:ext cx="5102352" cy="1691640"/>
          </a:xfrm>
          <a:prstGeom prst="roundRect">
            <a:avLst>
              <a:gd name="adj" fmla="val 3243"/>
            </a:avLst>
          </a:prstGeom>
          <a:solidFill>
            <a:srgbClr val="FFF4E0"/>
          </a:solidFill>
          <a:ln w="9525">
            <a:solidFill>
              <a:srgbClr val="F1D9A8"/>
            </a:solidFill>
            <a:prstDash val="solid"/>
          </a:ln>
        </p:spPr>
      </p:sp>
      <p:sp>
        <p:nvSpPr>
          <p:cNvPr id="132" name="Text 129"/>
          <p:cNvSpPr/>
          <p:nvPr/>
        </p:nvSpPr>
        <p:spPr>
          <a:xfrm>
            <a:off x="6839712" y="4096512"/>
            <a:ext cx="47731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size of fraction 1</a:t>
            </a:r>
            <a:endParaRPr lang="en-US" sz="1300" dirty="0"/>
          </a:p>
        </p:txBody>
      </p:sp>
      <p:sp>
        <p:nvSpPr>
          <p:cNvPr id="133" name="Text 130"/>
          <p:cNvSpPr/>
          <p:nvPr/>
        </p:nvSpPr>
        <p:spPr>
          <a:xfrm>
            <a:off x="6839712" y="4407408"/>
            <a:ext cx="4773168" cy="12344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Fraction 1 is collected below 82 °C.</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Read   </a:t>
            </a:r>
            <a:r>
              <a:rPr lang="en-US" sz="1050" dirty="0">
                <a:solidFill>
                  <a:srgbClr val="262B3A"/>
                </a:solidFill>
                <a:latin typeface="Calibri" pitchFamily="34" charset="0"/>
                <a:ea typeface="Calibri" pitchFamily="34" charset="-122"/>
                <a:cs typeface="Calibri" pitchFamily="34" charset="-120"/>
              </a:rPr>
              <a:t>temperature stays ≤ 82 °C up to </a:t>
            </a:r>
            <a:r>
              <a:rPr lang="en-US" sz="1050" b="1" dirty="0">
                <a:solidFill>
                  <a:srgbClr val="262B3A"/>
                </a:solidFill>
                <a:latin typeface="Calibri" pitchFamily="34" charset="0"/>
                <a:ea typeface="Calibri" pitchFamily="34" charset="-122"/>
                <a:cs typeface="Calibri" pitchFamily="34" charset="-120"/>
              </a:rPr>
              <a:t>12 cm³</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12 ÷ 50 × 100 = </a:t>
            </a:r>
            <a:r>
              <a:rPr lang="en-US" sz="1050" b="1" dirty="0">
                <a:solidFill>
                  <a:srgbClr val="C8414C"/>
                </a:solidFill>
                <a:latin typeface="Calibri" pitchFamily="34" charset="0"/>
                <a:ea typeface="Calibri" pitchFamily="34" charset="-122"/>
                <a:cs typeface="Calibri" pitchFamily="34" charset="-120"/>
              </a:rPr>
              <a:t>24%</a:t>
            </a:r>
            <a:r>
              <a:rPr lang="en-US" sz="1050" b="1" dirty="0">
                <a:solidFill>
                  <a:srgbClr val="C8414C"/>
                </a:solidFill>
                <a:latin typeface="Calibri" pitchFamily="34" charset="0"/>
                <a:ea typeface="Calibri" pitchFamily="34" charset="-122"/>
                <a:cs typeface="Calibri" pitchFamily="34" charset="-120"/>
              </a:rPr>
              <a:t> of the mixture distils as fraction 1</a:t>
            </a:r>
            <a:endParaRPr lang="en-US" sz="1050" dirty="0"/>
          </a:p>
        </p:txBody>
      </p:sp>
      <p:sp>
        <p:nvSpPr>
          <p:cNvPr id="134" name="Shape 131"/>
          <p:cNvSpPr/>
          <p:nvPr/>
        </p:nvSpPr>
        <p:spPr>
          <a:xfrm>
            <a:off x="411480" y="5833872"/>
            <a:ext cx="11368735" cy="530352"/>
          </a:xfrm>
          <a:prstGeom prst="rect">
            <a:avLst/>
          </a:prstGeom>
          <a:solidFill>
            <a:srgbClr val="FFF4E0"/>
          </a:solidFill>
          <a:ln w="6350">
            <a:solidFill>
              <a:srgbClr val="F1D9A8"/>
            </a:solidFill>
            <a:prstDash val="solid"/>
          </a:ln>
        </p:spPr>
      </p:sp>
      <p:sp>
        <p:nvSpPr>
          <p:cNvPr id="135" name="Shape 132"/>
          <p:cNvSpPr/>
          <p:nvPr/>
        </p:nvSpPr>
        <p:spPr>
          <a:xfrm>
            <a:off x="411480" y="5833872"/>
            <a:ext cx="82296" cy="530352"/>
          </a:xfrm>
          <a:prstGeom prst="rect">
            <a:avLst/>
          </a:prstGeom>
          <a:solidFill>
            <a:srgbClr val="E39A2F"/>
          </a:solidFill>
          <a:ln w="12700">
            <a:solidFill>
              <a:srgbClr val="E39A2F"/>
            </a:solidFill>
            <a:prstDash val="solid"/>
          </a:ln>
        </p:spPr>
      </p:sp>
      <p:sp>
        <p:nvSpPr>
          <p:cNvPr id="136" name="Text 13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does the temperature stay </a:t>
            </a:r>
            <a:r>
              <a:rPr lang="en-US" sz="1150" b="1" dirty="0">
                <a:solidFill>
                  <a:srgbClr val="262B3A"/>
                </a:solidFill>
                <a:latin typeface="Calibri" pitchFamily="34" charset="0"/>
                <a:ea typeface="Calibri" pitchFamily="34" charset="-122"/>
                <a:cs typeface="Calibri" pitchFamily="34" charset="-120"/>
              </a:rPr>
              <a:t>almost constant</a:t>
            </a:r>
            <a:r>
              <a:rPr lang="en-US" sz="1150" dirty="0">
                <a:solidFill>
                  <a:srgbClr val="262B3A"/>
                </a:solidFill>
                <a:latin typeface="Calibri" pitchFamily="34" charset="0"/>
                <a:ea typeface="Calibri" pitchFamily="34" charset="-122"/>
                <a:cs typeface="Calibri" pitchFamily="34" charset="-120"/>
              </a:rPr>
              <a:t> at first? Suggest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reason why fraction 1 still contains some </a:t>
            </a:r>
            <a:r>
              <a:rPr lang="en-US" sz="1150" b="1" dirty="0">
                <a:solidFill>
                  <a:srgbClr val="262B3A"/>
                </a:solidFill>
                <a:latin typeface="Calibri" pitchFamily="34" charset="0"/>
                <a:ea typeface="Calibri" pitchFamily="34" charset="-122"/>
                <a:cs typeface="Calibri" pitchFamily="34" charset="-120"/>
              </a:rPr>
              <a:t>water</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C5.1.7, C5.1.8 • choosing a method; the distillation practical</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21</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Hexane boils at </a:t>
            </a:r>
            <a:r>
              <a:rPr lang="en-US" sz="1250" b="1" dirty="0">
                <a:solidFill>
                  <a:srgbClr val="262B3A"/>
                </a:solidFill>
                <a:latin typeface="Calibri" pitchFamily="34" charset="0"/>
                <a:ea typeface="Calibri" pitchFamily="34" charset="-122"/>
                <a:cs typeface="Calibri" pitchFamily="34" charset="-120"/>
              </a:rPr>
              <a:t>69 °C</a:t>
            </a:r>
            <a:r>
              <a:rPr lang="en-US" sz="1250" dirty="0">
                <a:solidFill>
                  <a:srgbClr val="262B3A"/>
                </a:solidFill>
                <a:latin typeface="Calibri" pitchFamily="34" charset="0"/>
                <a:ea typeface="Calibri" pitchFamily="34" charset="-122"/>
                <a:cs typeface="Calibri" pitchFamily="34" charset="-120"/>
              </a:rPr>
              <a:t> and octane at </a:t>
            </a:r>
            <a:r>
              <a:rPr lang="en-US" sz="1250" b="1" dirty="0">
                <a:solidFill>
                  <a:srgbClr val="262B3A"/>
                </a:solidFill>
                <a:latin typeface="Calibri" pitchFamily="34" charset="0"/>
                <a:ea typeface="Calibri" pitchFamily="34" charset="-122"/>
                <a:cs typeface="Calibri" pitchFamily="34" charset="-120"/>
              </a:rPr>
              <a:t>126 °C</a:t>
            </a:r>
            <a:r>
              <a:rPr lang="en-US" sz="1250" dirty="0">
                <a:solidFill>
                  <a:srgbClr val="262B3A"/>
                </a:solidFill>
                <a:latin typeface="Calibri" pitchFamily="34" charset="0"/>
                <a:ea typeface="Calibri" pitchFamily="34" charset="-122"/>
                <a:cs typeface="Calibri" pitchFamily="34" charset="-120"/>
              </a:rPr>
              <a:t>. They mix. Name the method to separate them and which is collected </a:t>
            </a:r>
            <a:r>
              <a:rPr lang="en-US" sz="1250" b="1" dirty="0">
                <a:solidFill>
                  <a:srgbClr val="262B3A"/>
                </a:solidFill>
                <a:latin typeface="Calibri" pitchFamily="34" charset="0"/>
                <a:ea typeface="Calibri" pitchFamily="34" charset="-122"/>
                <a:cs typeface="Calibri" pitchFamily="34" charset="-120"/>
              </a:rPr>
              <a:t>first</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Suggest how to obtain dry </a:t>
            </a:r>
            <a:r>
              <a:rPr lang="en-US" sz="1250" b="1" dirty="0">
                <a:solidFill>
                  <a:srgbClr val="262B3A"/>
                </a:solidFill>
                <a:latin typeface="Calibri" pitchFamily="34" charset="0"/>
                <a:ea typeface="Calibri" pitchFamily="34" charset="-122"/>
                <a:cs typeface="Calibri" pitchFamily="34" charset="-120"/>
              </a:rPr>
              <a:t>sand</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salt crystals</a:t>
            </a:r>
            <a:r>
              <a:rPr lang="en-US" sz="1250" dirty="0">
                <a:solidFill>
                  <a:srgbClr val="262B3A"/>
                </a:solidFill>
                <a:latin typeface="Calibri" pitchFamily="34" charset="0"/>
                <a:ea typeface="Calibri" pitchFamily="34" charset="-122"/>
                <a:cs typeface="Calibri" pitchFamily="34" charset="-120"/>
              </a:rPr>
              <a:t> from a mixture of the two.</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Use the graph on slide 20: at what temperature did most of fraction 1 distil? Name the liquid.</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the ethanol–water mixture is heated with a </a:t>
            </a:r>
            <a:r>
              <a:rPr lang="en-US" sz="1250" b="1" dirty="0">
                <a:solidFill>
                  <a:srgbClr val="262B3A"/>
                </a:solidFill>
                <a:latin typeface="Calibri" pitchFamily="34" charset="0"/>
                <a:ea typeface="Calibri" pitchFamily="34" charset="-122"/>
                <a:cs typeface="Calibri" pitchFamily="34" charset="-120"/>
              </a:rPr>
              <a:t>heating mantle</a:t>
            </a:r>
            <a:r>
              <a:rPr lang="en-US" sz="1250" dirty="0">
                <a:solidFill>
                  <a:srgbClr val="262B3A"/>
                </a:solidFill>
                <a:latin typeface="Calibri" pitchFamily="34" charset="0"/>
                <a:ea typeface="Calibri" pitchFamily="34" charset="-122"/>
                <a:cs typeface="Calibri" pitchFamily="34" charset="-120"/>
              </a:rPr>
              <a:t>, not a Bunsen burner.</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Practical: making copper sulfate crystals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C5.1.7 • PAG C4 production of salts: filtration and crystallisation in use</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C4</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C4  |  22</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four stages; apparatus not to scale</a:t>
            </a:r>
            <a:endParaRPr lang="en-US" sz="1000" dirty="0"/>
          </a:p>
        </p:txBody>
      </p:sp>
      <p:sp>
        <p:nvSpPr>
          <p:cNvPr id="12" name="Shape 10"/>
          <p:cNvSpPr/>
          <p:nvPr/>
        </p:nvSpPr>
        <p:spPr>
          <a:xfrm>
            <a:off x="594360" y="1325880"/>
            <a:ext cx="2560320" cy="1691640"/>
          </a:xfrm>
          <a:prstGeom prst="roundRect">
            <a:avLst>
              <a:gd name="adj" fmla="val 2703"/>
            </a:avLst>
          </a:prstGeom>
          <a:solidFill>
            <a:srgbClr val="FFFFFF"/>
          </a:solidFill>
          <a:ln w="12700">
            <a:solidFill>
              <a:srgbClr val="DDD3EC"/>
            </a:solidFill>
            <a:prstDash val="solid"/>
          </a:ln>
        </p:spPr>
      </p:sp>
      <p:sp>
        <p:nvSpPr>
          <p:cNvPr id="13" name="Text 11"/>
          <p:cNvSpPr/>
          <p:nvPr/>
        </p:nvSpPr>
        <p:spPr>
          <a:xfrm>
            <a:off x="667512" y="1371600"/>
            <a:ext cx="320040" cy="256032"/>
          </a:xfrm>
          <a:prstGeom prst="rect">
            <a:avLst/>
          </a:prstGeom>
          <a:noFill/>
          <a:ln/>
        </p:spPr>
        <p:txBody>
          <a:bodyPr wrap="square" lIns="0" tIns="0" rIns="0" bIns="0" rtlCol="0" anchor="ctr"/>
          <a:lstStyle/>
          <a:p>
            <a:pPr algn="ctr" indent="0" marL="0">
              <a:buNone/>
            </a:pPr>
            <a:r>
              <a:rPr lang="en-US" sz="1200" b="1" dirty="0">
                <a:solidFill>
                  <a:srgbClr val="6A3FA0"/>
                </a:solidFill>
                <a:latin typeface="Calibri" pitchFamily="34" charset="0"/>
                <a:ea typeface="Calibri" pitchFamily="34" charset="-122"/>
                <a:cs typeface="Calibri" pitchFamily="34" charset="-120"/>
              </a:rPr>
              <a:t>1</a:t>
            </a:r>
            <a:endParaRPr lang="en-US" sz="1200" dirty="0"/>
          </a:p>
        </p:txBody>
      </p:sp>
      <p:sp>
        <p:nvSpPr>
          <p:cNvPr id="14" name="Shape 12"/>
          <p:cNvSpPr/>
          <p:nvPr/>
        </p:nvSpPr>
        <p:spPr>
          <a:xfrm>
            <a:off x="3246120" y="1325880"/>
            <a:ext cx="2560320" cy="1691640"/>
          </a:xfrm>
          <a:prstGeom prst="roundRect">
            <a:avLst>
              <a:gd name="adj" fmla="val 2703"/>
            </a:avLst>
          </a:prstGeom>
          <a:solidFill>
            <a:srgbClr val="FFFFFF"/>
          </a:solidFill>
          <a:ln w="12700">
            <a:solidFill>
              <a:srgbClr val="DDD3EC"/>
            </a:solidFill>
            <a:prstDash val="solid"/>
          </a:ln>
        </p:spPr>
      </p:sp>
      <p:sp>
        <p:nvSpPr>
          <p:cNvPr id="15" name="Text 13"/>
          <p:cNvSpPr/>
          <p:nvPr/>
        </p:nvSpPr>
        <p:spPr>
          <a:xfrm>
            <a:off x="3319272" y="1371600"/>
            <a:ext cx="320040" cy="256032"/>
          </a:xfrm>
          <a:prstGeom prst="rect">
            <a:avLst/>
          </a:prstGeom>
          <a:noFill/>
          <a:ln/>
        </p:spPr>
        <p:txBody>
          <a:bodyPr wrap="square" lIns="0" tIns="0" rIns="0" bIns="0" rtlCol="0" anchor="ctr"/>
          <a:lstStyle/>
          <a:p>
            <a:pPr algn="ctr" indent="0" marL="0">
              <a:buNone/>
            </a:pPr>
            <a:r>
              <a:rPr lang="en-US" sz="1200" b="1" dirty="0">
                <a:solidFill>
                  <a:srgbClr val="6A3FA0"/>
                </a:solidFill>
                <a:latin typeface="Calibri" pitchFamily="34" charset="0"/>
                <a:ea typeface="Calibri" pitchFamily="34" charset="-122"/>
                <a:cs typeface="Calibri" pitchFamily="34" charset="-120"/>
              </a:rPr>
              <a:t>2</a:t>
            </a:r>
            <a:endParaRPr lang="en-US" sz="1200" dirty="0"/>
          </a:p>
        </p:txBody>
      </p:sp>
      <p:sp>
        <p:nvSpPr>
          <p:cNvPr id="16" name="Shape 14"/>
          <p:cNvSpPr/>
          <p:nvPr/>
        </p:nvSpPr>
        <p:spPr>
          <a:xfrm>
            <a:off x="594360" y="3108960"/>
            <a:ext cx="2560320" cy="1691640"/>
          </a:xfrm>
          <a:prstGeom prst="roundRect">
            <a:avLst>
              <a:gd name="adj" fmla="val 2703"/>
            </a:avLst>
          </a:prstGeom>
          <a:solidFill>
            <a:srgbClr val="FFFFFF"/>
          </a:solidFill>
          <a:ln w="12700">
            <a:solidFill>
              <a:srgbClr val="DDD3EC"/>
            </a:solidFill>
            <a:prstDash val="solid"/>
          </a:ln>
        </p:spPr>
      </p:sp>
      <p:sp>
        <p:nvSpPr>
          <p:cNvPr id="17" name="Text 15"/>
          <p:cNvSpPr/>
          <p:nvPr/>
        </p:nvSpPr>
        <p:spPr>
          <a:xfrm>
            <a:off x="667512" y="3154680"/>
            <a:ext cx="320040" cy="256032"/>
          </a:xfrm>
          <a:prstGeom prst="rect">
            <a:avLst/>
          </a:prstGeom>
          <a:noFill/>
          <a:ln/>
        </p:spPr>
        <p:txBody>
          <a:bodyPr wrap="square" lIns="0" tIns="0" rIns="0" bIns="0" rtlCol="0" anchor="ctr"/>
          <a:lstStyle/>
          <a:p>
            <a:pPr algn="ctr" indent="0" marL="0">
              <a:buNone/>
            </a:pPr>
            <a:r>
              <a:rPr lang="en-US" sz="1200" b="1" dirty="0">
                <a:solidFill>
                  <a:srgbClr val="6A3FA0"/>
                </a:solidFill>
                <a:latin typeface="Calibri" pitchFamily="34" charset="0"/>
                <a:ea typeface="Calibri" pitchFamily="34" charset="-122"/>
                <a:cs typeface="Calibri" pitchFamily="34" charset="-120"/>
              </a:rPr>
              <a:t>3</a:t>
            </a:r>
            <a:endParaRPr lang="en-US" sz="1200" dirty="0"/>
          </a:p>
        </p:txBody>
      </p:sp>
      <p:sp>
        <p:nvSpPr>
          <p:cNvPr id="18" name="Shape 16"/>
          <p:cNvSpPr/>
          <p:nvPr/>
        </p:nvSpPr>
        <p:spPr>
          <a:xfrm>
            <a:off x="3246120" y="3108960"/>
            <a:ext cx="2560320" cy="1691640"/>
          </a:xfrm>
          <a:prstGeom prst="roundRect">
            <a:avLst>
              <a:gd name="adj" fmla="val 2703"/>
            </a:avLst>
          </a:prstGeom>
          <a:solidFill>
            <a:srgbClr val="FFFFFF"/>
          </a:solidFill>
          <a:ln w="12700">
            <a:solidFill>
              <a:srgbClr val="DDD3EC"/>
            </a:solidFill>
            <a:prstDash val="solid"/>
          </a:ln>
        </p:spPr>
      </p:sp>
      <p:sp>
        <p:nvSpPr>
          <p:cNvPr id="19" name="Text 17"/>
          <p:cNvSpPr/>
          <p:nvPr/>
        </p:nvSpPr>
        <p:spPr>
          <a:xfrm>
            <a:off x="3319272" y="3154680"/>
            <a:ext cx="320040" cy="256032"/>
          </a:xfrm>
          <a:prstGeom prst="rect">
            <a:avLst/>
          </a:prstGeom>
          <a:noFill/>
          <a:ln/>
        </p:spPr>
        <p:txBody>
          <a:bodyPr wrap="square" lIns="0" tIns="0" rIns="0" bIns="0" rtlCol="0" anchor="ctr"/>
          <a:lstStyle/>
          <a:p>
            <a:pPr algn="ctr" indent="0" marL="0">
              <a:buNone/>
            </a:pPr>
            <a:r>
              <a:rPr lang="en-US" sz="1200" b="1" dirty="0">
                <a:solidFill>
                  <a:srgbClr val="6A3FA0"/>
                </a:solidFill>
                <a:latin typeface="Calibri" pitchFamily="34" charset="0"/>
                <a:ea typeface="Calibri" pitchFamily="34" charset="-122"/>
                <a:cs typeface="Calibri" pitchFamily="34" charset="-120"/>
              </a:rPr>
              <a:t>4</a:t>
            </a:r>
            <a:endParaRPr lang="en-US" sz="1200" dirty="0"/>
          </a:p>
        </p:txBody>
      </p:sp>
      <p:sp>
        <p:nvSpPr>
          <p:cNvPr id="20" name="Shape 18"/>
          <p:cNvSpPr/>
          <p:nvPr/>
        </p:nvSpPr>
        <p:spPr>
          <a:xfrm>
            <a:off x="1051560" y="1783080"/>
            <a:ext cx="914400" cy="960120"/>
          </a:xfrm>
          <a:prstGeom prst="rect">
            <a:avLst/>
          </a:prstGeom>
          <a:solidFill>
            <a:srgbClr val="EEF5FB"/>
          </a:solidFill>
          <a:ln/>
        </p:spPr>
      </p:sp>
      <p:sp>
        <p:nvSpPr>
          <p:cNvPr id="21" name="Shape 19"/>
          <p:cNvSpPr/>
          <p:nvPr/>
        </p:nvSpPr>
        <p:spPr>
          <a:xfrm>
            <a:off x="1051560" y="2167128"/>
            <a:ext cx="914400" cy="576072"/>
          </a:xfrm>
          <a:prstGeom prst="rect">
            <a:avLst/>
          </a:prstGeom>
          <a:solidFill>
            <a:srgbClr val="7FB8E6"/>
          </a:solidFill>
          <a:ln/>
        </p:spPr>
      </p:sp>
      <p:sp>
        <p:nvSpPr>
          <p:cNvPr id="22" name="Shape 20"/>
          <p:cNvSpPr/>
          <p:nvPr/>
        </p:nvSpPr>
        <p:spPr>
          <a:xfrm>
            <a:off x="1051560" y="2167128"/>
            <a:ext cx="914400" cy="91"/>
          </a:xfrm>
          <a:prstGeom prst="line">
            <a:avLst/>
          </a:prstGeom>
          <a:noFill/>
          <a:ln w="12700">
            <a:solidFill>
              <a:srgbClr val="5B9BD5"/>
            </a:solidFill>
            <a:prstDash val="solid"/>
          </a:ln>
        </p:spPr>
      </p:sp>
      <p:sp>
        <p:nvSpPr>
          <p:cNvPr id="23" name="Shape 21"/>
          <p:cNvSpPr/>
          <p:nvPr/>
        </p:nvSpPr>
        <p:spPr>
          <a:xfrm>
            <a:off x="1051560" y="1783080"/>
            <a:ext cx="91" cy="960120"/>
          </a:xfrm>
          <a:prstGeom prst="line">
            <a:avLst/>
          </a:prstGeom>
          <a:noFill/>
          <a:ln w="19050">
            <a:solidFill>
              <a:srgbClr val="2A1F3D"/>
            </a:solidFill>
            <a:prstDash val="solid"/>
          </a:ln>
        </p:spPr>
      </p:sp>
      <p:sp>
        <p:nvSpPr>
          <p:cNvPr id="24" name="Shape 22"/>
          <p:cNvSpPr/>
          <p:nvPr/>
        </p:nvSpPr>
        <p:spPr>
          <a:xfrm>
            <a:off x="1965960" y="1783080"/>
            <a:ext cx="91" cy="960120"/>
          </a:xfrm>
          <a:prstGeom prst="line">
            <a:avLst/>
          </a:prstGeom>
          <a:noFill/>
          <a:ln w="19050">
            <a:solidFill>
              <a:srgbClr val="2A1F3D"/>
            </a:solidFill>
            <a:prstDash val="solid"/>
          </a:ln>
        </p:spPr>
      </p:sp>
      <p:sp>
        <p:nvSpPr>
          <p:cNvPr id="25" name="Shape 23"/>
          <p:cNvSpPr/>
          <p:nvPr/>
        </p:nvSpPr>
        <p:spPr>
          <a:xfrm>
            <a:off x="1051560" y="2743200"/>
            <a:ext cx="914400" cy="91"/>
          </a:xfrm>
          <a:prstGeom prst="line">
            <a:avLst/>
          </a:prstGeom>
          <a:noFill/>
          <a:ln w="19050">
            <a:solidFill>
              <a:srgbClr val="2A1F3D"/>
            </a:solidFill>
            <a:prstDash val="solid"/>
          </a:ln>
        </p:spPr>
      </p:sp>
      <p:sp>
        <p:nvSpPr>
          <p:cNvPr id="26" name="Shape 24"/>
          <p:cNvSpPr/>
          <p:nvPr/>
        </p:nvSpPr>
        <p:spPr>
          <a:xfrm>
            <a:off x="996696" y="1783080"/>
            <a:ext cx="54864" cy="91"/>
          </a:xfrm>
          <a:prstGeom prst="line">
            <a:avLst/>
          </a:prstGeom>
          <a:noFill/>
          <a:ln w="19050">
            <a:solidFill>
              <a:srgbClr val="2A1F3D"/>
            </a:solidFill>
            <a:prstDash val="solid"/>
          </a:ln>
        </p:spPr>
      </p:sp>
      <p:sp>
        <p:nvSpPr>
          <p:cNvPr id="27" name="Shape 25"/>
          <p:cNvSpPr/>
          <p:nvPr/>
        </p:nvSpPr>
        <p:spPr>
          <a:xfrm>
            <a:off x="1965960" y="1783080"/>
            <a:ext cx="54864" cy="91"/>
          </a:xfrm>
          <a:prstGeom prst="line">
            <a:avLst/>
          </a:prstGeom>
          <a:noFill/>
          <a:ln w="19050">
            <a:solidFill>
              <a:srgbClr val="2A1F3D"/>
            </a:solidFill>
            <a:prstDash val="solid"/>
          </a:ln>
        </p:spPr>
      </p:sp>
      <p:sp>
        <p:nvSpPr>
          <p:cNvPr id="28" name="Shape 26"/>
          <p:cNvSpPr/>
          <p:nvPr/>
        </p:nvSpPr>
        <p:spPr>
          <a:xfrm>
            <a:off x="1106424" y="2642616"/>
            <a:ext cx="73152" cy="73152"/>
          </a:xfrm>
          <a:prstGeom prst="ellipse">
            <a:avLst/>
          </a:prstGeom>
          <a:solidFill>
            <a:srgbClr val="2B2B2B"/>
          </a:solidFill>
          <a:ln w="9525">
            <a:solidFill>
              <a:srgbClr val="2B2B2B"/>
            </a:solidFill>
            <a:prstDash val="solid"/>
          </a:ln>
        </p:spPr>
      </p:sp>
      <p:sp>
        <p:nvSpPr>
          <p:cNvPr id="29" name="Shape 27"/>
          <p:cNvSpPr/>
          <p:nvPr/>
        </p:nvSpPr>
        <p:spPr>
          <a:xfrm>
            <a:off x="1197864" y="2606040"/>
            <a:ext cx="73152" cy="73152"/>
          </a:xfrm>
          <a:prstGeom prst="ellipse">
            <a:avLst/>
          </a:prstGeom>
          <a:solidFill>
            <a:srgbClr val="2B2B2B"/>
          </a:solidFill>
          <a:ln w="9525">
            <a:solidFill>
              <a:srgbClr val="2B2B2B"/>
            </a:solidFill>
            <a:prstDash val="solid"/>
          </a:ln>
        </p:spPr>
      </p:sp>
      <p:sp>
        <p:nvSpPr>
          <p:cNvPr id="30" name="Shape 28"/>
          <p:cNvSpPr/>
          <p:nvPr/>
        </p:nvSpPr>
        <p:spPr>
          <a:xfrm>
            <a:off x="1289304" y="2642616"/>
            <a:ext cx="73152" cy="73152"/>
          </a:xfrm>
          <a:prstGeom prst="ellipse">
            <a:avLst/>
          </a:prstGeom>
          <a:solidFill>
            <a:srgbClr val="2B2B2B"/>
          </a:solidFill>
          <a:ln w="9525">
            <a:solidFill>
              <a:srgbClr val="2B2B2B"/>
            </a:solidFill>
            <a:prstDash val="solid"/>
          </a:ln>
        </p:spPr>
      </p:sp>
      <p:sp>
        <p:nvSpPr>
          <p:cNvPr id="31" name="Shape 29"/>
          <p:cNvSpPr/>
          <p:nvPr/>
        </p:nvSpPr>
        <p:spPr>
          <a:xfrm>
            <a:off x="1380744" y="2606040"/>
            <a:ext cx="73152" cy="73152"/>
          </a:xfrm>
          <a:prstGeom prst="ellipse">
            <a:avLst/>
          </a:prstGeom>
          <a:solidFill>
            <a:srgbClr val="2B2B2B"/>
          </a:solidFill>
          <a:ln w="9525">
            <a:solidFill>
              <a:srgbClr val="2B2B2B"/>
            </a:solidFill>
            <a:prstDash val="solid"/>
          </a:ln>
        </p:spPr>
      </p:sp>
      <p:sp>
        <p:nvSpPr>
          <p:cNvPr id="32" name="Shape 30"/>
          <p:cNvSpPr/>
          <p:nvPr/>
        </p:nvSpPr>
        <p:spPr>
          <a:xfrm>
            <a:off x="1472184" y="2642616"/>
            <a:ext cx="73152" cy="73152"/>
          </a:xfrm>
          <a:prstGeom prst="ellipse">
            <a:avLst/>
          </a:prstGeom>
          <a:solidFill>
            <a:srgbClr val="2B2B2B"/>
          </a:solidFill>
          <a:ln w="9525">
            <a:solidFill>
              <a:srgbClr val="2B2B2B"/>
            </a:solidFill>
            <a:prstDash val="solid"/>
          </a:ln>
        </p:spPr>
      </p:sp>
      <p:sp>
        <p:nvSpPr>
          <p:cNvPr id="33" name="Shape 31"/>
          <p:cNvSpPr/>
          <p:nvPr/>
        </p:nvSpPr>
        <p:spPr>
          <a:xfrm>
            <a:off x="1563624" y="2606040"/>
            <a:ext cx="73152" cy="73152"/>
          </a:xfrm>
          <a:prstGeom prst="ellipse">
            <a:avLst/>
          </a:prstGeom>
          <a:solidFill>
            <a:srgbClr val="2B2B2B"/>
          </a:solidFill>
          <a:ln w="9525">
            <a:solidFill>
              <a:srgbClr val="2B2B2B"/>
            </a:solidFill>
            <a:prstDash val="solid"/>
          </a:ln>
        </p:spPr>
      </p:sp>
      <p:sp>
        <p:nvSpPr>
          <p:cNvPr id="34" name="Shape 32"/>
          <p:cNvSpPr/>
          <p:nvPr/>
        </p:nvSpPr>
        <p:spPr>
          <a:xfrm>
            <a:off x="1655064" y="2642616"/>
            <a:ext cx="73152" cy="73152"/>
          </a:xfrm>
          <a:prstGeom prst="ellipse">
            <a:avLst/>
          </a:prstGeom>
          <a:solidFill>
            <a:srgbClr val="2B2B2B"/>
          </a:solidFill>
          <a:ln w="9525">
            <a:solidFill>
              <a:srgbClr val="2B2B2B"/>
            </a:solidFill>
            <a:prstDash val="solid"/>
          </a:ln>
        </p:spPr>
      </p:sp>
      <p:sp>
        <p:nvSpPr>
          <p:cNvPr id="35" name="Shape 33"/>
          <p:cNvSpPr/>
          <p:nvPr/>
        </p:nvSpPr>
        <p:spPr>
          <a:xfrm>
            <a:off x="1746504" y="2606040"/>
            <a:ext cx="73152" cy="73152"/>
          </a:xfrm>
          <a:prstGeom prst="ellipse">
            <a:avLst/>
          </a:prstGeom>
          <a:solidFill>
            <a:srgbClr val="2B2B2B"/>
          </a:solidFill>
          <a:ln w="9525">
            <a:solidFill>
              <a:srgbClr val="2B2B2B"/>
            </a:solidFill>
            <a:prstDash val="solid"/>
          </a:ln>
        </p:spPr>
      </p:sp>
      <p:sp>
        <p:nvSpPr>
          <p:cNvPr id="36" name="Shape 34"/>
          <p:cNvSpPr/>
          <p:nvPr/>
        </p:nvSpPr>
        <p:spPr>
          <a:xfrm>
            <a:off x="1837944" y="2642616"/>
            <a:ext cx="73152" cy="73152"/>
          </a:xfrm>
          <a:prstGeom prst="ellipse">
            <a:avLst/>
          </a:prstGeom>
          <a:solidFill>
            <a:srgbClr val="2B2B2B"/>
          </a:solidFill>
          <a:ln w="9525">
            <a:solidFill>
              <a:srgbClr val="2B2B2B"/>
            </a:solidFill>
            <a:prstDash val="solid"/>
          </a:ln>
        </p:spPr>
      </p:sp>
      <p:sp>
        <p:nvSpPr>
          <p:cNvPr id="37" name="Shape 35"/>
          <p:cNvSpPr/>
          <p:nvPr/>
        </p:nvSpPr>
        <p:spPr>
          <a:xfrm flipH="1">
            <a:off x="1463040" y="1600200"/>
            <a:ext cx="320040" cy="1005840"/>
          </a:xfrm>
          <a:prstGeom prst="line">
            <a:avLst/>
          </a:prstGeom>
          <a:noFill/>
          <a:ln w="31750">
            <a:solidFill>
              <a:srgbClr val="9AA3B0"/>
            </a:solidFill>
            <a:prstDash val="solid"/>
          </a:ln>
        </p:spPr>
      </p:sp>
      <p:sp>
        <p:nvSpPr>
          <p:cNvPr id="38" name="Text 36"/>
          <p:cNvSpPr/>
          <p:nvPr/>
        </p:nvSpPr>
        <p:spPr>
          <a:xfrm>
            <a:off x="2057400" y="1600200"/>
            <a:ext cx="1097280" cy="54864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add </a:t>
            </a:r>
            <a:r>
              <a:rPr lang="en-US" sz="1000" b="1" dirty="0">
                <a:solidFill>
                  <a:srgbClr val="262B3A"/>
                </a:solidFill>
                <a:latin typeface="Calibri" pitchFamily="34" charset="0"/>
                <a:ea typeface="Calibri" pitchFamily="34" charset="-122"/>
                <a:cs typeface="Calibri" pitchFamily="34" charset="-120"/>
              </a:rPr>
              <a:t>CuO</a:t>
            </a:r>
            <a:r>
              <a:rPr lang="en-US" sz="1000" dirty="0">
                <a:solidFill>
                  <a:srgbClr val="262B3A"/>
                </a:solidFill>
                <a:latin typeface="Calibri" pitchFamily="34" charset="0"/>
                <a:ea typeface="Calibri" pitchFamily="34" charset="-122"/>
                <a:cs typeface="Calibri" pitchFamily="34" charset="-120"/>
              </a:rPr>
              <a:t> until some is left over</a:t>
            </a:r>
            <a:endParaRPr lang="en-US" sz="1000" dirty="0"/>
          </a:p>
        </p:txBody>
      </p:sp>
      <p:sp>
        <p:nvSpPr>
          <p:cNvPr id="39" name="Text 37"/>
          <p:cNvSpPr/>
          <p:nvPr/>
        </p:nvSpPr>
        <p:spPr>
          <a:xfrm>
            <a:off x="685800" y="2761488"/>
            <a:ext cx="2377440" cy="228600"/>
          </a:xfrm>
          <a:prstGeom prst="rect">
            <a:avLst/>
          </a:prstGeom>
          <a:noFill/>
          <a:ln/>
        </p:spPr>
        <p:txBody>
          <a:bodyPr wrap="square" lIns="0" tIns="0" rIns="0" bIns="0" rtlCol="0" anchor="ctr"/>
          <a:lstStyle/>
          <a:p>
            <a:pPr algn="ctr" indent="0" marL="0">
              <a:buNone/>
            </a:pPr>
            <a:r>
              <a:rPr lang="en-US" sz="1000" i="1" dirty="0">
                <a:solidFill>
                  <a:srgbClr val="262B3A"/>
                </a:solidFill>
                <a:latin typeface="Calibri" pitchFamily="34" charset="0"/>
                <a:ea typeface="Calibri" pitchFamily="34" charset="-122"/>
                <a:cs typeface="Calibri" pitchFamily="34" charset="-120"/>
              </a:rPr>
              <a:t>warm dilute sulfuric acid</a:t>
            </a:r>
            <a:endParaRPr lang="en-US" sz="1000" dirty="0"/>
          </a:p>
        </p:txBody>
      </p:sp>
      <p:sp>
        <p:nvSpPr>
          <p:cNvPr id="40" name="Shape 38"/>
          <p:cNvSpPr/>
          <p:nvPr/>
        </p:nvSpPr>
        <p:spPr>
          <a:xfrm>
            <a:off x="3611880" y="1645920"/>
            <a:ext cx="822960" cy="457200"/>
          </a:xfrm>
          <a:custGeom>
            <a:avLst/>
            <a:gdLst/>
            <a:ahLst/>
            <a:cxnLst/>
            <a:rect l="l" t="t" r="r" b="b"/>
            <a:pathLst>
              <a:path w="822960" h="457200">
                <a:moveTo>
                  <a:pt x="0" y="0"/>
                </a:moveTo>
                <a:lnTo>
                  <a:pt x="822960" y="0"/>
                </a:lnTo>
                <a:lnTo>
                  <a:pt x="457200" y="457200"/>
                </a:lnTo>
                <a:lnTo>
                  <a:pt x="365760" y="457200"/>
                </a:lnTo>
                <a:close/>
              </a:path>
            </a:pathLst>
          </a:custGeom>
          <a:solidFill>
            <a:srgbClr val="EEF5FB"/>
          </a:solidFill>
          <a:ln w="19050">
            <a:solidFill>
              <a:srgbClr val="2A1F3D"/>
            </a:solidFill>
            <a:prstDash val="solid"/>
          </a:ln>
        </p:spPr>
      </p:sp>
      <p:sp>
        <p:nvSpPr>
          <p:cNvPr id="41" name="Shape 39"/>
          <p:cNvSpPr/>
          <p:nvPr/>
        </p:nvSpPr>
        <p:spPr>
          <a:xfrm>
            <a:off x="3977640" y="2103120"/>
            <a:ext cx="91440" cy="228600"/>
          </a:xfrm>
          <a:prstGeom prst="rect">
            <a:avLst/>
          </a:prstGeom>
          <a:solidFill>
            <a:srgbClr val="EEF5FB"/>
          </a:solidFill>
          <a:ln w="15875">
            <a:solidFill>
              <a:srgbClr val="2A1F3D"/>
            </a:solidFill>
            <a:prstDash val="solid"/>
          </a:ln>
        </p:spPr>
      </p:sp>
      <p:sp>
        <p:nvSpPr>
          <p:cNvPr id="42" name="Shape 40"/>
          <p:cNvSpPr/>
          <p:nvPr/>
        </p:nvSpPr>
        <p:spPr>
          <a:xfrm>
            <a:off x="3675888" y="1673352"/>
            <a:ext cx="694944" cy="448056"/>
          </a:xfrm>
          <a:custGeom>
            <a:avLst/>
            <a:gdLst/>
            <a:ahLst/>
            <a:cxnLst/>
            <a:rect l="l" t="t" r="r" b="b"/>
            <a:pathLst>
              <a:path w="694944" h="448056">
                <a:moveTo>
                  <a:pt x="0" y="0"/>
                </a:moveTo>
                <a:lnTo>
                  <a:pt x="694944" y="0"/>
                </a:lnTo>
                <a:lnTo>
                  <a:pt x="347472" y="448056"/>
                </a:lnTo>
                <a:close/>
              </a:path>
            </a:pathLst>
          </a:custGeom>
          <a:solidFill>
            <a:srgbClr val="FFFFFF"/>
          </a:solidFill>
          <a:ln w="9525">
            <a:solidFill>
              <a:srgbClr val="9AA3B0"/>
            </a:solidFill>
            <a:prstDash val="solid"/>
          </a:ln>
        </p:spPr>
      </p:sp>
      <p:sp>
        <p:nvSpPr>
          <p:cNvPr id="43" name="Shape 41"/>
          <p:cNvSpPr/>
          <p:nvPr/>
        </p:nvSpPr>
        <p:spPr>
          <a:xfrm>
            <a:off x="3877422" y="1911096"/>
            <a:ext cx="291876" cy="192024"/>
          </a:xfrm>
          <a:custGeom>
            <a:avLst/>
            <a:gdLst/>
            <a:ahLst/>
            <a:cxnLst/>
            <a:rect l="l" t="t" r="r" b="b"/>
            <a:pathLst>
              <a:path w="291876" h="192024">
                <a:moveTo>
                  <a:pt x="0" y="0"/>
                </a:moveTo>
                <a:lnTo>
                  <a:pt x="291876" y="0"/>
                </a:lnTo>
                <a:lnTo>
                  <a:pt x="145938" y="192024"/>
                </a:lnTo>
                <a:close/>
              </a:path>
            </a:pathLst>
          </a:custGeom>
          <a:solidFill>
            <a:srgbClr val="2B2B2B"/>
          </a:solidFill>
          <a:ln w="6350">
            <a:solidFill>
              <a:srgbClr val="2B2B2B"/>
            </a:solidFill>
            <a:prstDash val="solid"/>
          </a:ln>
        </p:spPr>
      </p:sp>
      <p:sp>
        <p:nvSpPr>
          <p:cNvPr id="44" name="Shape 42"/>
          <p:cNvSpPr/>
          <p:nvPr/>
        </p:nvSpPr>
        <p:spPr>
          <a:xfrm>
            <a:off x="3991356" y="2363724"/>
            <a:ext cx="64008" cy="64008"/>
          </a:xfrm>
          <a:prstGeom prst="ellipse">
            <a:avLst/>
          </a:prstGeom>
          <a:solidFill>
            <a:srgbClr val="7FB8E6"/>
          </a:solidFill>
          <a:ln w="9525">
            <a:solidFill>
              <a:srgbClr val="7FB8E6"/>
            </a:solidFill>
            <a:prstDash val="solid"/>
          </a:ln>
        </p:spPr>
      </p:sp>
      <p:sp>
        <p:nvSpPr>
          <p:cNvPr id="45" name="Shape 43"/>
          <p:cNvSpPr/>
          <p:nvPr/>
        </p:nvSpPr>
        <p:spPr>
          <a:xfrm>
            <a:off x="3611880" y="2240280"/>
            <a:ext cx="822960" cy="457200"/>
          </a:xfrm>
          <a:custGeom>
            <a:avLst/>
            <a:gdLst/>
            <a:ahLst/>
            <a:cxnLst/>
            <a:rect l="l" t="t" r="r" b="b"/>
            <a:pathLst>
              <a:path w="822960" h="457200">
                <a:moveTo>
                  <a:pt x="288036" y="0"/>
                </a:moveTo>
                <a:lnTo>
                  <a:pt x="288036" y="137160"/>
                </a:lnTo>
                <a:lnTo>
                  <a:pt x="0" y="457200"/>
                </a:lnTo>
                <a:lnTo>
                  <a:pt x="822960" y="457200"/>
                </a:lnTo>
                <a:lnTo>
                  <a:pt x="534924" y="137160"/>
                </a:lnTo>
                <a:lnTo>
                  <a:pt x="534924" y="0"/>
                </a:lnTo>
                <a:close/>
              </a:path>
            </a:pathLst>
          </a:custGeom>
          <a:solidFill>
            <a:srgbClr val="EEF5FB"/>
          </a:solidFill>
          <a:ln/>
        </p:spPr>
      </p:sp>
      <p:sp>
        <p:nvSpPr>
          <p:cNvPr id="46" name="Shape 44"/>
          <p:cNvSpPr/>
          <p:nvPr/>
        </p:nvSpPr>
        <p:spPr>
          <a:xfrm>
            <a:off x="3611880" y="2569464"/>
            <a:ext cx="822960" cy="128016"/>
          </a:xfrm>
          <a:custGeom>
            <a:avLst/>
            <a:gdLst/>
            <a:ahLst/>
            <a:cxnLst/>
            <a:rect l="l" t="t" r="r" b="b"/>
            <a:pathLst>
              <a:path w="822960" h="128016">
                <a:moveTo>
                  <a:pt x="115214" y="0"/>
                </a:moveTo>
                <a:lnTo>
                  <a:pt x="0" y="128016"/>
                </a:lnTo>
                <a:lnTo>
                  <a:pt x="822960" y="128016"/>
                </a:lnTo>
                <a:lnTo>
                  <a:pt x="707746" y="0"/>
                </a:lnTo>
                <a:close/>
              </a:path>
            </a:pathLst>
          </a:custGeom>
          <a:solidFill>
            <a:srgbClr val="7FB8E6"/>
          </a:solidFill>
          <a:ln/>
        </p:spPr>
      </p:sp>
      <p:sp>
        <p:nvSpPr>
          <p:cNvPr id="47" name="Shape 45"/>
          <p:cNvSpPr/>
          <p:nvPr/>
        </p:nvSpPr>
        <p:spPr>
          <a:xfrm>
            <a:off x="3727094" y="2569464"/>
            <a:ext cx="592531" cy="91"/>
          </a:xfrm>
          <a:prstGeom prst="line">
            <a:avLst/>
          </a:prstGeom>
          <a:noFill/>
          <a:ln w="12700">
            <a:solidFill>
              <a:srgbClr val="5B9BD5"/>
            </a:solidFill>
            <a:prstDash val="solid"/>
          </a:ln>
        </p:spPr>
      </p:sp>
      <p:sp>
        <p:nvSpPr>
          <p:cNvPr id="48" name="Shape 46"/>
          <p:cNvSpPr/>
          <p:nvPr/>
        </p:nvSpPr>
        <p:spPr>
          <a:xfrm>
            <a:off x="3611880" y="2240280"/>
            <a:ext cx="822960" cy="457200"/>
          </a:xfrm>
          <a:custGeom>
            <a:avLst/>
            <a:gdLst/>
            <a:ahLst/>
            <a:cxnLst/>
            <a:rect l="l" t="t" r="r" b="b"/>
            <a:pathLst>
              <a:path w="822960" h="457200">
                <a:moveTo>
                  <a:pt x="288036" y="0"/>
                </a:moveTo>
                <a:lnTo>
                  <a:pt x="288036" y="137160"/>
                </a:lnTo>
                <a:lnTo>
                  <a:pt x="0" y="457200"/>
                </a:lnTo>
                <a:lnTo>
                  <a:pt x="822960" y="457200"/>
                </a:lnTo>
                <a:lnTo>
                  <a:pt x="534924" y="137160"/>
                </a:lnTo>
                <a:lnTo>
                  <a:pt x="534924" y="0"/>
                </a:lnTo>
              </a:path>
            </a:pathLst>
          </a:custGeom>
          <a:ln w="19050">
            <a:solidFill>
              <a:srgbClr val="2A1F3D"/>
            </a:solidFill>
            <a:prstDash val="solid"/>
          </a:ln>
        </p:spPr>
      </p:sp>
      <p:sp>
        <p:nvSpPr>
          <p:cNvPr id="49" name="Text 47"/>
          <p:cNvSpPr/>
          <p:nvPr/>
        </p:nvSpPr>
        <p:spPr>
          <a:xfrm>
            <a:off x="4572000" y="1600200"/>
            <a:ext cx="1188720" cy="411480"/>
          </a:xfrm>
          <a:prstGeom prst="rect">
            <a:avLst/>
          </a:prstGeom>
          <a:noFill/>
          <a:ln/>
        </p:spPr>
        <p:txBody>
          <a:bodyPr wrap="square" lIns="0" tIns="0" rIns="0" bIns="0" rtlCol="0" anchor="t"/>
          <a:lstStyle/>
          <a:p>
            <a:pPr algn="l" indent="0" marL="0">
              <a:buNone/>
            </a:pPr>
            <a:r>
              <a:rPr lang="en-US" sz="1000" b="1" dirty="0">
                <a:solidFill>
                  <a:srgbClr val="262B3A"/>
                </a:solidFill>
                <a:latin typeface="Calibri" pitchFamily="34" charset="0"/>
                <a:ea typeface="Calibri" pitchFamily="34" charset="-122"/>
                <a:cs typeface="Calibri" pitchFamily="34" charset="-120"/>
              </a:rPr>
              <a:t>filter</a:t>
            </a:r>
            <a:r>
              <a:rPr lang="en-US" sz="1000" dirty="0">
                <a:solidFill>
                  <a:srgbClr val="262B3A"/>
                </a:solidFill>
                <a:latin typeface="Calibri" pitchFamily="34" charset="0"/>
                <a:ea typeface="Calibri" pitchFamily="34" charset="-122"/>
                <a:cs typeface="Calibri" pitchFamily="34" charset="-120"/>
              </a:rPr>
              <a:t> off excess CuO</a:t>
            </a:r>
            <a:endParaRPr lang="en-US" sz="1000" dirty="0"/>
          </a:p>
        </p:txBody>
      </p:sp>
      <p:sp>
        <p:nvSpPr>
          <p:cNvPr id="50" name="Text 48"/>
          <p:cNvSpPr/>
          <p:nvPr/>
        </p:nvSpPr>
        <p:spPr>
          <a:xfrm>
            <a:off x="3337560" y="2761488"/>
            <a:ext cx="2377440" cy="228600"/>
          </a:xfrm>
          <a:prstGeom prst="rect">
            <a:avLst/>
          </a:prstGeom>
          <a:noFill/>
          <a:ln/>
        </p:spPr>
        <p:txBody>
          <a:bodyPr wrap="square" lIns="0" tIns="0" rIns="0" bIns="0" rtlCol="0" anchor="ctr"/>
          <a:lstStyle/>
          <a:p>
            <a:pPr algn="ctr" indent="0" marL="0">
              <a:buNone/>
            </a:pPr>
            <a:r>
              <a:rPr lang="en-US" sz="1000" i="1" dirty="0">
                <a:solidFill>
                  <a:srgbClr val="262B3A"/>
                </a:solidFill>
                <a:latin typeface="Calibri" pitchFamily="34" charset="0"/>
                <a:ea typeface="Calibri" pitchFamily="34" charset="-122"/>
                <a:cs typeface="Calibri" pitchFamily="34" charset="-120"/>
              </a:rPr>
              <a:t>filtrate: copper sulfate solution</a:t>
            </a:r>
            <a:endParaRPr lang="en-US" sz="1000" dirty="0"/>
          </a:p>
        </p:txBody>
      </p:sp>
      <p:sp>
        <p:nvSpPr>
          <p:cNvPr id="51" name="Shape 49"/>
          <p:cNvSpPr/>
          <p:nvPr/>
        </p:nvSpPr>
        <p:spPr>
          <a:xfrm>
            <a:off x="1188720" y="3977640"/>
            <a:ext cx="822960" cy="502920"/>
          </a:xfrm>
          <a:prstGeom prst="rect">
            <a:avLst/>
          </a:prstGeom>
          <a:solidFill>
            <a:srgbClr val="EEF5FB"/>
          </a:solidFill>
          <a:ln/>
        </p:spPr>
      </p:sp>
      <p:sp>
        <p:nvSpPr>
          <p:cNvPr id="52" name="Shape 50"/>
          <p:cNvSpPr/>
          <p:nvPr/>
        </p:nvSpPr>
        <p:spPr>
          <a:xfrm>
            <a:off x="1188720" y="4103370"/>
            <a:ext cx="822960" cy="377190"/>
          </a:xfrm>
          <a:prstGeom prst="rect">
            <a:avLst/>
          </a:prstGeom>
          <a:solidFill>
            <a:srgbClr val="CFE4F7"/>
          </a:solidFill>
          <a:ln/>
        </p:spPr>
      </p:sp>
      <p:sp>
        <p:nvSpPr>
          <p:cNvPr id="53" name="Shape 51"/>
          <p:cNvSpPr/>
          <p:nvPr/>
        </p:nvSpPr>
        <p:spPr>
          <a:xfrm>
            <a:off x="1188720" y="4103370"/>
            <a:ext cx="822960" cy="91"/>
          </a:xfrm>
          <a:prstGeom prst="line">
            <a:avLst/>
          </a:prstGeom>
          <a:noFill/>
          <a:ln w="12700">
            <a:solidFill>
              <a:srgbClr val="5B9BD5"/>
            </a:solidFill>
            <a:prstDash val="solid"/>
          </a:ln>
        </p:spPr>
      </p:sp>
      <p:sp>
        <p:nvSpPr>
          <p:cNvPr id="54" name="Shape 52"/>
          <p:cNvSpPr/>
          <p:nvPr/>
        </p:nvSpPr>
        <p:spPr>
          <a:xfrm>
            <a:off x="1188720" y="3977640"/>
            <a:ext cx="91" cy="502920"/>
          </a:xfrm>
          <a:prstGeom prst="line">
            <a:avLst/>
          </a:prstGeom>
          <a:noFill/>
          <a:ln w="19050">
            <a:solidFill>
              <a:srgbClr val="2A1F3D"/>
            </a:solidFill>
            <a:prstDash val="solid"/>
          </a:ln>
        </p:spPr>
      </p:sp>
      <p:sp>
        <p:nvSpPr>
          <p:cNvPr id="55" name="Shape 53"/>
          <p:cNvSpPr/>
          <p:nvPr/>
        </p:nvSpPr>
        <p:spPr>
          <a:xfrm>
            <a:off x="2011680" y="3977640"/>
            <a:ext cx="91" cy="502920"/>
          </a:xfrm>
          <a:prstGeom prst="line">
            <a:avLst/>
          </a:prstGeom>
          <a:noFill/>
          <a:ln w="19050">
            <a:solidFill>
              <a:srgbClr val="2A1F3D"/>
            </a:solidFill>
            <a:prstDash val="solid"/>
          </a:ln>
        </p:spPr>
      </p:sp>
      <p:sp>
        <p:nvSpPr>
          <p:cNvPr id="56" name="Shape 54"/>
          <p:cNvSpPr/>
          <p:nvPr/>
        </p:nvSpPr>
        <p:spPr>
          <a:xfrm>
            <a:off x="1188720" y="4480560"/>
            <a:ext cx="822960" cy="91"/>
          </a:xfrm>
          <a:prstGeom prst="line">
            <a:avLst/>
          </a:prstGeom>
          <a:noFill/>
          <a:ln w="19050">
            <a:solidFill>
              <a:srgbClr val="2A1F3D"/>
            </a:solidFill>
            <a:prstDash val="solid"/>
          </a:ln>
        </p:spPr>
      </p:sp>
      <p:sp>
        <p:nvSpPr>
          <p:cNvPr id="57" name="Shape 55"/>
          <p:cNvSpPr/>
          <p:nvPr/>
        </p:nvSpPr>
        <p:spPr>
          <a:xfrm>
            <a:off x="1133856" y="3977640"/>
            <a:ext cx="54864" cy="91"/>
          </a:xfrm>
          <a:prstGeom prst="line">
            <a:avLst/>
          </a:prstGeom>
          <a:noFill/>
          <a:ln w="19050">
            <a:solidFill>
              <a:srgbClr val="2A1F3D"/>
            </a:solidFill>
            <a:prstDash val="solid"/>
          </a:ln>
        </p:spPr>
      </p:sp>
      <p:sp>
        <p:nvSpPr>
          <p:cNvPr id="58" name="Shape 56"/>
          <p:cNvSpPr/>
          <p:nvPr/>
        </p:nvSpPr>
        <p:spPr>
          <a:xfrm>
            <a:off x="2011680" y="3977640"/>
            <a:ext cx="54864" cy="91"/>
          </a:xfrm>
          <a:prstGeom prst="line">
            <a:avLst/>
          </a:prstGeom>
          <a:noFill/>
          <a:ln w="19050">
            <a:solidFill>
              <a:srgbClr val="2A1F3D"/>
            </a:solidFill>
            <a:prstDash val="solid"/>
          </a:ln>
        </p:spPr>
      </p:sp>
      <p:sp>
        <p:nvSpPr>
          <p:cNvPr id="59" name="Shape 57"/>
          <p:cNvSpPr/>
          <p:nvPr/>
        </p:nvSpPr>
        <p:spPr>
          <a:xfrm>
            <a:off x="1097280" y="3794760"/>
            <a:ext cx="1005840" cy="274320"/>
          </a:xfrm>
          <a:custGeom>
            <a:avLst/>
            <a:gdLst/>
            <a:ahLst/>
            <a:cxnLst/>
            <a:rect l="l" t="t" r="r" b="b"/>
            <a:pathLst>
              <a:path w="1005840" h="274320">
                <a:moveTo>
                  <a:pt x="1005840" y="0"/>
                </a:moveTo>
                <a:lnTo>
                  <a:pt x="1001537" y="35806"/>
                </a:lnTo>
                <a:lnTo>
                  <a:pt x="988703" y="70999"/>
                </a:lnTo>
                <a:lnTo>
                  <a:pt x="967557" y="104978"/>
                </a:lnTo>
                <a:lnTo>
                  <a:pt x="938461" y="137160"/>
                </a:lnTo>
                <a:lnTo>
                  <a:pt x="901913" y="166995"/>
                </a:lnTo>
                <a:lnTo>
                  <a:pt x="858538" y="193974"/>
                </a:lnTo>
                <a:lnTo>
                  <a:pt x="809078" y="217633"/>
                </a:lnTo>
                <a:lnTo>
                  <a:pt x="754380" y="237568"/>
                </a:lnTo>
                <a:lnTo>
                  <a:pt x="695379" y="253439"/>
                </a:lnTo>
                <a:lnTo>
                  <a:pt x="633085" y="264973"/>
                </a:lnTo>
                <a:lnTo>
                  <a:pt x="568564" y="271973"/>
                </a:lnTo>
                <a:lnTo>
                  <a:pt x="502920" y="274320"/>
                </a:lnTo>
                <a:lnTo>
                  <a:pt x="437276" y="271973"/>
                </a:lnTo>
                <a:lnTo>
                  <a:pt x="372755" y="264973"/>
                </a:lnTo>
                <a:lnTo>
                  <a:pt x="310461" y="253439"/>
                </a:lnTo>
                <a:lnTo>
                  <a:pt x="251460" y="237568"/>
                </a:lnTo>
                <a:lnTo>
                  <a:pt x="196762" y="217633"/>
                </a:lnTo>
                <a:lnTo>
                  <a:pt x="147302" y="193974"/>
                </a:lnTo>
                <a:lnTo>
                  <a:pt x="103927" y="166995"/>
                </a:lnTo>
                <a:lnTo>
                  <a:pt x="67379" y="137160"/>
                </a:lnTo>
                <a:lnTo>
                  <a:pt x="38283" y="104978"/>
                </a:lnTo>
                <a:lnTo>
                  <a:pt x="17137" y="70999"/>
                </a:lnTo>
                <a:lnTo>
                  <a:pt x="4303" y="35806"/>
                </a:lnTo>
                <a:lnTo>
                  <a:pt x="0" y="0"/>
                </a:lnTo>
                <a:close/>
              </a:path>
            </a:pathLst>
          </a:custGeom>
          <a:solidFill>
            <a:srgbClr val="F4F4F4"/>
          </a:solidFill>
          <a:ln/>
        </p:spPr>
      </p:sp>
      <p:sp>
        <p:nvSpPr>
          <p:cNvPr id="60" name="Shape 58"/>
          <p:cNvSpPr/>
          <p:nvPr/>
        </p:nvSpPr>
        <p:spPr>
          <a:xfrm>
            <a:off x="1127771" y="3888824"/>
            <a:ext cx="944859" cy="180256"/>
          </a:xfrm>
          <a:custGeom>
            <a:avLst/>
            <a:gdLst/>
            <a:ahLst/>
            <a:cxnLst/>
            <a:rect l="l" t="t" r="r" b="b"/>
            <a:pathLst>
              <a:path w="944859" h="180256">
                <a:moveTo>
                  <a:pt x="944859" y="0"/>
                </a:moveTo>
                <a:lnTo>
                  <a:pt x="924902" y="25684"/>
                </a:lnTo>
                <a:lnTo>
                  <a:pt x="900267" y="50130"/>
                </a:lnTo>
                <a:lnTo>
                  <a:pt x="871208" y="73084"/>
                </a:lnTo>
                <a:lnTo>
                  <a:pt x="838025" y="94310"/>
                </a:lnTo>
                <a:lnTo>
                  <a:pt x="801062" y="113589"/>
                </a:lnTo>
                <a:lnTo>
                  <a:pt x="760700" y="130720"/>
                </a:lnTo>
                <a:lnTo>
                  <a:pt x="717357" y="145526"/>
                </a:lnTo>
                <a:lnTo>
                  <a:pt x="671482" y="157855"/>
                </a:lnTo>
                <a:lnTo>
                  <a:pt x="623548" y="167579"/>
                </a:lnTo>
                <a:lnTo>
                  <a:pt x="574052" y="174598"/>
                </a:lnTo>
                <a:lnTo>
                  <a:pt x="523505" y="178838"/>
                </a:lnTo>
                <a:lnTo>
                  <a:pt x="472429" y="180256"/>
                </a:lnTo>
                <a:lnTo>
                  <a:pt x="421354" y="178838"/>
                </a:lnTo>
                <a:lnTo>
                  <a:pt x="370807" y="174598"/>
                </a:lnTo>
                <a:lnTo>
                  <a:pt x="321310" y="167579"/>
                </a:lnTo>
                <a:lnTo>
                  <a:pt x="273377" y="157855"/>
                </a:lnTo>
                <a:lnTo>
                  <a:pt x="227501" y="145526"/>
                </a:lnTo>
                <a:lnTo>
                  <a:pt x="184159" y="130720"/>
                </a:lnTo>
                <a:lnTo>
                  <a:pt x="143797" y="113589"/>
                </a:lnTo>
                <a:lnTo>
                  <a:pt x="106834" y="94310"/>
                </a:lnTo>
                <a:lnTo>
                  <a:pt x="73651" y="73084"/>
                </a:lnTo>
                <a:lnTo>
                  <a:pt x="44591" y="50130"/>
                </a:lnTo>
                <a:lnTo>
                  <a:pt x="19956" y="25684"/>
                </a:lnTo>
                <a:lnTo>
                  <a:pt x="0" y="0"/>
                </a:lnTo>
                <a:close/>
              </a:path>
            </a:pathLst>
          </a:custGeom>
          <a:solidFill>
            <a:srgbClr val="7FB8E6"/>
          </a:solidFill>
          <a:ln/>
        </p:spPr>
      </p:sp>
      <p:sp>
        <p:nvSpPr>
          <p:cNvPr id="61" name="Shape 59"/>
          <p:cNvSpPr/>
          <p:nvPr/>
        </p:nvSpPr>
        <p:spPr>
          <a:xfrm>
            <a:off x="1097280" y="3794760"/>
            <a:ext cx="1005840" cy="274320"/>
          </a:xfrm>
          <a:custGeom>
            <a:avLst/>
            <a:gdLst/>
            <a:ahLst/>
            <a:cxnLst/>
            <a:rect l="l" t="t" r="r" b="b"/>
            <a:pathLst>
              <a:path w="1005840" h="274320">
                <a:moveTo>
                  <a:pt x="1005840" y="0"/>
                </a:moveTo>
                <a:lnTo>
                  <a:pt x="1001537" y="35806"/>
                </a:lnTo>
                <a:lnTo>
                  <a:pt x="988703" y="70999"/>
                </a:lnTo>
                <a:lnTo>
                  <a:pt x="967557" y="104978"/>
                </a:lnTo>
                <a:lnTo>
                  <a:pt x="938461" y="137160"/>
                </a:lnTo>
                <a:lnTo>
                  <a:pt x="901913" y="166995"/>
                </a:lnTo>
                <a:lnTo>
                  <a:pt x="858538" y="193974"/>
                </a:lnTo>
                <a:lnTo>
                  <a:pt x="809078" y="217633"/>
                </a:lnTo>
                <a:lnTo>
                  <a:pt x="754380" y="237568"/>
                </a:lnTo>
                <a:lnTo>
                  <a:pt x="695379" y="253439"/>
                </a:lnTo>
                <a:lnTo>
                  <a:pt x="633085" y="264973"/>
                </a:lnTo>
                <a:lnTo>
                  <a:pt x="568564" y="271973"/>
                </a:lnTo>
                <a:lnTo>
                  <a:pt x="502920" y="274320"/>
                </a:lnTo>
                <a:lnTo>
                  <a:pt x="437276" y="271973"/>
                </a:lnTo>
                <a:lnTo>
                  <a:pt x="372755" y="264973"/>
                </a:lnTo>
                <a:lnTo>
                  <a:pt x="310461" y="253439"/>
                </a:lnTo>
                <a:lnTo>
                  <a:pt x="251460" y="237568"/>
                </a:lnTo>
                <a:lnTo>
                  <a:pt x="196762" y="217633"/>
                </a:lnTo>
                <a:lnTo>
                  <a:pt x="147302" y="193974"/>
                </a:lnTo>
                <a:lnTo>
                  <a:pt x="103927" y="166995"/>
                </a:lnTo>
                <a:lnTo>
                  <a:pt x="67379" y="137160"/>
                </a:lnTo>
                <a:lnTo>
                  <a:pt x="38283" y="104978"/>
                </a:lnTo>
                <a:lnTo>
                  <a:pt x="17137" y="70999"/>
                </a:lnTo>
                <a:lnTo>
                  <a:pt x="4303" y="35806"/>
                </a:lnTo>
                <a:lnTo>
                  <a:pt x="0" y="0"/>
                </a:lnTo>
              </a:path>
            </a:pathLst>
          </a:custGeom>
          <a:ln w="19050">
            <a:solidFill>
              <a:srgbClr val="2A1F3D"/>
            </a:solidFill>
            <a:prstDash val="solid"/>
          </a:ln>
        </p:spPr>
      </p:sp>
      <p:sp>
        <p:nvSpPr>
          <p:cNvPr id="62" name="Shape 60"/>
          <p:cNvSpPr/>
          <p:nvPr/>
        </p:nvSpPr>
        <p:spPr>
          <a:xfrm>
            <a:off x="1097280" y="3794760"/>
            <a:ext cx="1005840" cy="91"/>
          </a:xfrm>
          <a:prstGeom prst="line">
            <a:avLst/>
          </a:prstGeom>
          <a:noFill/>
          <a:ln w="19050">
            <a:solidFill>
              <a:srgbClr val="2A1F3D"/>
            </a:solidFill>
            <a:prstDash val="solid"/>
          </a:ln>
        </p:spPr>
      </p:sp>
      <p:sp>
        <p:nvSpPr>
          <p:cNvPr id="63" name="Shape 61"/>
          <p:cNvSpPr/>
          <p:nvPr/>
        </p:nvSpPr>
        <p:spPr>
          <a:xfrm flipV="1">
            <a:off x="1417320" y="3456432"/>
            <a:ext cx="45720" cy="246888"/>
          </a:xfrm>
          <a:prstGeom prst="line">
            <a:avLst/>
          </a:prstGeom>
          <a:noFill/>
          <a:ln w="15875">
            <a:solidFill>
              <a:srgbClr val="B0B8C4"/>
            </a:solidFill>
            <a:prstDash val="sysDot"/>
          </a:ln>
        </p:spPr>
      </p:sp>
      <p:sp>
        <p:nvSpPr>
          <p:cNvPr id="64" name="Shape 62"/>
          <p:cNvSpPr/>
          <p:nvPr/>
        </p:nvSpPr>
        <p:spPr>
          <a:xfrm flipV="1">
            <a:off x="1600200" y="3456432"/>
            <a:ext cx="45720" cy="246888"/>
          </a:xfrm>
          <a:prstGeom prst="line">
            <a:avLst/>
          </a:prstGeom>
          <a:noFill/>
          <a:ln w="15875">
            <a:solidFill>
              <a:srgbClr val="B0B8C4"/>
            </a:solidFill>
            <a:prstDash val="sysDot"/>
          </a:ln>
        </p:spPr>
      </p:sp>
      <p:sp>
        <p:nvSpPr>
          <p:cNvPr id="65" name="Shape 63"/>
          <p:cNvSpPr/>
          <p:nvPr/>
        </p:nvSpPr>
        <p:spPr>
          <a:xfrm flipV="1">
            <a:off x="1783080" y="3456432"/>
            <a:ext cx="45720" cy="246888"/>
          </a:xfrm>
          <a:prstGeom prst="line">
            <a:avLst/>
          </a:prstGeom>
          <a:noFill/>
          <a:ln w="15875">
            <a:solidFill>
              <a:srgbClr val="B0B8C4"/>
            </a:solidFill>
            <a:prstDash val="sysDot"/>
          </a:ln>
        </p:spPr>
      </p:sp>
      <p:sp>
        <p:nvSpPr>
          <p:cNvPr id="66" name="Text 64"/>
          <p:cNvSpPr/>
          <p:nvPr/>
        </p:nvSpPr>
        <p:spPr>
          <a:xfrm>
            <a:off x="2148840" y="3429000"/>
            <a:ext cx="960120" cy="54864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heat to the </a:t>
            </a:r>
            <a:r>
              <a:rPr lang="en-US" sz="1000" b="1" dirty="0">
                <a:solidFill>
                  <a:srgbClr val="262B3A"/>
                </a:solidFill>
                <a:latin typeface="Calibri" pitchFamily="34" charset="0"/>
                <a:ea typeface="Calibri" pitchFamily="34" charset="-122"/>
                <a:cs typeface="Calibri" pitchFamily="34" charset="-120"/>
              </a:rPr>
              <a:t>crystallisation point</a:t>
            </a:r>
            <a:endParaRPr lang="en-US" sz="1000" dirty="0"/>
          </a:p>
        </p:txBody>
      </p:sp>
      <p:sp>
        <p:nvSpPr>
          <p:cNvPr id="67" name="Text 65"/>
          <p:cNvSpPr/>
          <p:nvPr/>
        </p:nvSpPr>
        <p:spPr>
          <a:xfrm>
            <a:off x="685800" y="4544568"/>
            <a:ext cx="2377440" cy="228600"/>
          </a:xfrm>
          <a:prstGeom prst="rect">
            <a:avLst/>
          </a:prstGeom>
          <a:noFill/>
          <a:ln/>
        </p:spPr>
        <p:txBody>
          <a:bodyPr wrap="square" lIns="0" tIns="0" rIns="0" bIns="0" rtlCol="0" anchor="ctr"/>
          <a:lstStyle/>
          <a:p>
            <a:pPr algn="ctr" indent="0" marL="0">
              <a:buNone/>
            </a:pPr>
            <a:r>
              <a:rPr lang="en-US" sz="1000" i="1" dirty="0">
                <a:solidFill>
                  <a:srgbClr val="262B3A"/>
                </a:solidFill>
                <a:latin typeface="Calibri" pitchFamily="34" charset="0"/>
                <a:ea typeface="Calibri" pitchFamily="34" charset="-122"/>
                <a:cs typeface="Calibri" pitchFamily="34" charset="-120"/>
              </a:rPr>
              <a:t>on a water bath</a:t>
            </a:r>
            <a:endParaRPr lang="en-US" sz="1000" dirty="0"/>
          </a:p>
        </p:txBody>
      </p:sp>
      <p:sp>
        <p:nvSpPr>
          <p:cNvPr id="68" name="Shape 66"/>
          <p:cNvSpPr/>
          <p:nvPr/>
        </p:nvSpPr>
        <p:spPr>
          <a:xfrm>
            <a:off x="3429000" y="3977640"/>
            <a:ext cx="1188720" cy="274320"/>
          </a:xfrm>
          <a:prstGeom prst="ellipse">
            <a:avLst/>
          </a:prstGeom>
          <a:solidFill>
            <a:srgbClr val="F4F4F4"/>
          </a:solidFill>
          <a:ln w="12700">
            <a:solidFill>
              <a:srgbClr val="7D8794"/>
            </a:solidFill>
            <a:prstDash val="solid"/>
          </a:ln>
        </p:spPr>
      </p:sp>
      <p:sp>
        <p:nvSpPr>
          <p:cNvPr id="69" name="Shape 67"/>
          <p:cNvSpPr/>
          <p:nvPr/>
        </p:nvSpPr>
        <p:spPr>
          <a:xfrm>
            <a:off x="3622853" y="3941064"/>
            <a:ext cx="160934" cy="201168"/>
          </a:xfrm>
          <a:custGeom>
            <a:avLst/>
            <a:gdLst/>
            <a:ahLst/>
            <a:cxnLst/>
            <a:rect l="l" t="t" r="r" b="b"/>
            <a:pathLst>
              <a:path w="160934" h="201168">
                <a:moveTo>
                  <a:pt x="80467" y="0"/>
                </a:moveTo>
                <a:lnTo>
                  <a:pt x="160934" y="100584"/>
                </a:lnTo>
                <a:lnTo>
                  <a:pt x="80467" y="201168"/>
                </a:lnTo>
                <a:lnTo>
                  <a:pt x="0" y="100584"/>
                </a:lnTo>
                <a:close/>
              </a:path>
            </a:pathLst>
          </a:custGeom>
          <a:solidFill>
            <a:srgbClr val="7FB8E6"/>
          </a:solidFill>
          <a:ln w="9525">
            <a:solidFill>
              <a:srgbClr val="2F6FA8"/>
            </a:solidFill>
            <a:prstDash val="solid"/>
          </a:ln>
        </p:spPr>
      </p:sp>
      <p:sp>
        <p:nvSpPr>
          <p:cNvPr id="70" name="Shape 68"/>
          <p:cNvSpPr/>
          <p:nvPr/>
        </p:nvSpPr>
        <p:spPr>
          <a:xfrm>
            <a:off x="3851453" y="3886200"/>
            <a:ext cx="160934" cy="201168"/>
          </a:xfrm>
          <a:custGeom>
            <a:avLst/>
            <a:gdLst/>
            <a:ahLst/>
            <a:cxnLst/>
            <a:rect l="l" t="t" r="r" b="b"/>
            <a:pathLst>
              <a:path w="160934" h="201168">
                <a:moveTo>
                  <a:pt x="80467" y="0"/>
                </a:moveTo>
                <a:lnTo>
                  <a:pt x="160934" y="100584"/>
                </a:lnTo>
                <a:lnTo>
                  <a:pt x="80467" y="201168"/>
                </a:lnTo>
                <a:lnTo>
                  <a:pt x="0" y="100584"/>
                </a:lnTo>
                <a:close/>
              </a:path>
            </a:pathLst>
          </a:custGeom>
          <a:solidFill>
            <a:srgbClr val="7FB8E6"/>
          </a:solidFill>
          <a:ln w="9525">
            <a:solidFill>
              <a:srgbClr val="2F6FA8"/>
            </a:solidFill>
            <a:prstDash val="solid"/>
          </a:ln>
        </p:spPr>
      </p:sp>
      <p:sp>
        <p:nvSpPr>
          <p:cNvPr id="71" name="Shape 69"/>
          <p:cNvSpPr/>
          <p:nvPr/>
        </p:nvSpPr>
        <p:spPr>
          <a:xfrm>
            <a:off x="4080053" y="3959352"/>
            <a:ext cx="160934" cy="201168"/>
          </a:xfrm>
          <a:custGeom>
            <a:avLst/>
            <a:gdLst/>
            <a:ahLst/>
            <a:cxnLst/>
            <a:rect l="l" t="t" r="r" b="b"/>
            <a:pathLst>
              <a:path w="160934" h="201168">
                <a:moveTo>
                  <a:pt x="80467" y="0"/>
                </a:moveTo>
                <a:lnTo>
                  <a:pt x="160934" y="100584"/>
                </a:lnTo>
                <a:lnTo>
                  <a:pt x="80467" y="201168"/>
                </a:lnTo>
                <a:lnTo>
                  <a:pt x="0" y="100584"/>
                </a:lnTo>
                <a:close/>
              </a:path>
            </a:pathLst>
          </a:custGeom>
          <a:solidFill>
            <a:srgbClr val="7FB8E6"/>
          </a:solidFill>
          <a:ln w="9525">
            <a:solidFill>
              <a:srgbClr val="2F6FA8"/>
            </a:solidFill>
            <a:prstDash val="solid"/>
          </a:ln>
        </p:spPr>
      </p:sp>
      <p:sp>
        <p:nvSpPr>
          <p:cNvPr id="72" name="Shape 70"/>
          <p:cNvSpPr/>
          <p:nvPr/>
        </p:nvSpPr>
        <p:spPr>
          <a:xfrm>
            <a:off x="4290365" y="3904488"/>
            <a:ext cx="160934" cy="201168"/>
          </a:xfrm>
          <a:custGeom>
            <a:avLst/>
            <a:gdLst/>
            <a:ahLst/>
            <a:cxnLst/>
            <a:rect l="l" t="t" r="r" b="b"/>
            <a:pathLst>
              <a:path w="160934" h="201168">
                <a:moveTo>
                  <a:pt x="80467" y="0"/>
                </a:moveTo>
                <a:lnTo>
                  <a:pt x="160934" y="100584"/>
                </a:lnTo>
                <a:lnTo>
                  <a:pt x="80467" y="201168"/>
                </a:lnTo>
                <a:lnTo>
                  <a:pt x="0" y="100584"/>
                </a:lnTo>
                <a:close/>
              </a:path>
            </a:pathLst>
          </a:custGeom>
          <a:solidFill>
            <a:srgbClr val="7FB8E6"/>
          </a:solidFill>
          <a:ln w="9525">
            <a:solidFill>
              <a:srgbClr val="2F6FA8"/>
            </a:solidFill>
            <a:prstDash val="solid"/>
          </a:ln>
        </p:spPr>
      </p:sp>
      <p:sp>
        <p:nvSpPr>
          <p:cNvPr id="73" name="Shape 71"/>
          <p:cNvSpPr/>
          <p:nvPr/>
        </p:nvSpPr>
        <p:spPr>
          <a:xfrm>
            <a:off x="3760013" y="4059936"/>
            <a:ext cx="160934" cy="201168"/>
          </a:xfrm>
          <a:custGeom>
            <a:avLst/>
            <a:gdLst/>
            <a:ahLst/>
            <a:cxnLst/>
            <a:rect l="l" t="t" r="r" b="b"/>
            <a:pathLst>
              <a:path w="160934" h="201168">
                <a:moveTo>
                  <a:pt x="80467" y="0"/>
                </a:moveTo>
                <a:lnTo>
                  <a:pt x="160934" y="100584"/>
                </a:lnTo>
                <a:lnTo>
                  <a:pt x="80467" y="201168"/>
                </a:lnTo>
                <a:lnTo>
                  <a:pt x="0" y="100584"/>
                </a:lnTo>
                <a:close/>
              </a:path>
            </a:pathLst>
          </a:custGeom>
          <a:solidFill>
            <a:srgbClr val="7FB8E6"/>
          </a:solidFill>
          <a:ln w="9525">
            <a:solidFill>
              <a:srgbClr val="2F6FA8"/>
            </a:solidFill>
            <a:prstDash val="solid"/>
          </a:ln>
        </p:spPr>
      </p:sp>
      <p:sp>
        <p:nvSpPr>
          <p:cNvPr id="74" name="Shape 72"/>
          <p:cNvSpPr/>
          <p:nvPr/>
        </p:nvSpPr>
        <p:spPr>
          <a:xfrm>
            <a:off x="4144061" y="4069080"/>
            <a:ext cx="160934" cy="201168"/>
          </a:xfrm>
          <a:custGeom>
            <a:avLst/>
            <a:gdLst/>
            <a:ahLst/>
            <a:cxnLst/>
            <a:rect l="l" t="t" r="r" b="b"/>
            <a:pathLst>
              <a:path w="160934" h="201168">
                <a:moveTo>
                  <a:pt x="80467" y="0"/>
                </a:moveTo>
                <a:lnTo>
                  <a:pt x="160934" y="100584"/>
                </a:lnTo>
                <a:lnTo>
                  <a:pt x="80467" y="201168"/>
                </a:lnTo>
                <a:lnTo>
                  <a:pt x="0" y="100584"/>
                </a:lnTo>
                <a:close/>
              </a:path>
            </a:pathLst>
          </a:custGeom>
          <a:solidFill>
            <a:srgbClr val="7FB8E6"/>
          </a:solidFill>
          <a:ln w="9525">
            <a:solidFill>
              <a:srgbClr val="2F6FA8"/>
            </a:solidFill>
            <a:prstDash val="solid"/>
          </a:ln>
        </p:spPr>
      </p:sp>
      <p:sp>
        <p:nvSpPr>
          <p:cNvPr id="75" name="Text 73"/>
          <p:cNvSpPr/>
          <p:nvPr/>
        </p:nvSpPr>
        <p:spPr>
          <a:xfrm>
            <a:off x="4709160" y="3429000"/>
            <a:ext cx="1051560" cy="54864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cool slowly, </a:t>
            </a:r>
            <a:r>
              <a:rPr lang="en-US" sz="1000" b="1" dirty="0">
                <a:solidFill>
                  <a:srgbClr val="262B3A"/>
                </a:solidFill>
                <a:latin typeface="Calibri" pitchFamily="34" charset="0"/>
                <a:ea typeface="Calibri" pitchFamily="34" charset="-122"/>
                <a:cs typeface="Calibri" pitchFamily="34" charset="-120"/>
              </a:rPr>
              <a:t>filter</a:t>
            </a:r>
            <a:r>
              <a:rPr lang="en-US" sz="1000" dirty="0">
                <a:solidFill>
                  <a:srgbClr val="262B3A"/>
                </a:solidFill>
                <a:latin typeface="Calibri" pitchFamily="34" charset="0"/>
                <a:ea typeface="Calibri" pitchFamily="34" charset="-122"/>
                <a:cs typeface="Calibri" pitchFamily="34" charset="-120"/>
              </a:rPr>
              <a:t>, pat </a:t>
            </a:r>
            <a:r>
              <a:rPr lang="en-US" sz="1000" b="1" dirty="0">
                <a:solidFill>
                  <a:srgbClr val="262B3A"/>
                </a:solidFill>
                <a:latin typeface="Calibri" pitchFamily="34" charset="0"/>
                <a:ea typeface="Calibri" pitchFamily="34" charset="-122"/>
                <a:cs typeface="Calibri" pitchFamily="34" charset="-120"/>
              </a:rPr>
              <a:t>dry</a:t>
            </a:r>
            <a:endParaRPr lang="en-US" sz="1000" dirty="0"/>
          </a:p>
        </p:txBody>
      </p:sp>
      <p:sp>
        <p:nvSpPr>
          <p:cNvPr id="76" name="Text 74"/>
          <p:cNvSpPr/>
          <p:nvPr/>
        </p:nvSpPr>
        <p:spPr>
          <a:xfrm>
            <a:off x="3337560" y="4544568"/>
            <a:ext cx="2377440" cy="228600"/>
          </a:xfrm>
          <a:prstGeom prst="rect">
            <a:avLst/>
          </a:prstGeom>
          <a:noFill/>
          <a:ln/>
        </p:spPr>
        <p:txBody>
          <a:bodyPr wrap="square" lIns="0" tIns="0" rIns="0" bIns="0" rtlCol="0" anchor="ctr"/>
          <a:lstStyle/>
          <a:p>
            <a:pPr algn="ctr" indent="0" marL="0">
              <a:buNone/>
            </a:pPr>
            <a:r>
              <a:rPr lang="en-US" sz="1000" i="1" dirty="0">
                <a:solidFill>
                  <a:srgbClr val="262B3A"/>
                </a:solidFill>
                <a:latin typeface="Calibri" pitchFamily="34" charset="0"/>
                <a:ea typeface="Calibri" pitchFamily="34" charset="-122"/>
                <a:cs typeface="Calibri" pitchFamily="34" charset="-120"/>
              </a:rPr>
              <a:t>blue crystals of CuSO₄·5H₂O</a:t>
            </a:r>
            <a:endParaRPr lang="en-US" sz="1000" dirty="0"/>
          </a:p>
        </p:txBody>
      </p:sp>
      <p:sp>
        <p:nvSpPr>
          <p:cNvPr id="77" name="Shape 75"/>
          <p:cNvSpPr/>
          <p:nvPr/>
        </p:nvSpPr>
        <p:spPr>
          <a:xfrm>
            <a:off x="594360" y="4937760"/>
            <a:ext cx="5212080" cy="384048"/>
          </a:xfrm>
          <a:prstGeom prst="roundRect">
            <a:avLst>
              <a:gd name="adj" fmla="val 11905"/>
            </a:avLst>
          </a:prstGeom>
          <a:solidFill>
            <a:srgbClr val="FFFFFF"/>
          </a:solidFill>
          <a:ln w="12700">
            <a:solidFill>
              <a:srgbClr val="DDD3EC"/>
            </a:solidFill>
            <a:prstDash val="solid"/>
          </a:ln>
        </p:spPr>
      </p:sp>
      <p:sp>
        <p:nvSpPr>
          <p:cNvPr id="78" name="Text 76"/>
          <p:cNvSpPr/>
          <p:nvPr/>
        </p:nvSpPr>
        <p:spPr>
          <a:xfrm>
            <a:off x="667512" y="4937760"/>
            <a:ext cx="5065776" cy="384048"/>
          </a:xfrm>
          <a:prstGeom prst="rect">
            <a:avLst/>
          </a:prstGeom>
          <a:noFill/>
          <a:ln/>
        </p:spPr>
        <p:txBody>
          <a:bodyPr wrap="square" lIns="0" tIns="0" rIns="0" bIns="0" rtlCol="0" anchor="ctr"/>
          <a:lstStyle/>
          <a:p>
            <a:pPr algn="ctr" indent="0" marL="0">
              <a:buNone/>
            </a:pPr>
            <a:r>
              <a:rPr lang="en-US" sz="1200" b="1" dirty="0">
                <a:solidFill>
                  <a:srgbClr val="2A1F3D"/>
                </a:solidFill>
                <a:latin typeface="Calibri" pitchFamily="34" charset="0"/>
                <a:ea typeface="Calibri" pitchFamily="34" charset="-122"/>
                <a:cs typeface="Calibri" pitchFamily="34" charset="-120"/>
              </a:rPr>
              <a:t>CuO(s) + H₂SO₄(aq) → CuSO₄(aq) + H₂O(l)</a:t>
            </a:r>
            <a:endParaRPr lang="en-US" sz="1200" dirty="0"/>
          </a:p>
        </p:txBody>
      </p:sp>
      <p:sp>
        <p:nvSpPr>
          <p:cNvPr id="79" name="Shape 77"/>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80" name="Text 7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Method</a:t>
            </a:r>
            <a:endParaRPr lang="en-US" sz="1300" dirty="0"/>
          </a:p>
        </p:txBody>
      </p:sp>
      <p:sp>
        <p:nvSpPr>
          <p:cNvPr id="81" name="Text 79"/>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Warm </a:t>
            </a:r>
            <a:r>
              <a:rPr lang="en-US" sz="1050" b="1" dirty="0">
                <a:solidFill>
                  <a:srgbClr val="262B3A"/>
                </a:solidFill>
                <a:latin typeface="Calibri" pitchFamily="34" charset="0"/>
                <a:ea typeface="Calibri" pitchFamily="34" charset="-122"/>
                <a:cs typeface="Calibri" pitchFamily="34" charset="-120"/>
              </a:rPr>
              <a:t>25 cm³</a:t>
            </a:r>
            <a:r>
              <a:rPr lang="en-US" sz="1050" dirty="0">
                <a:solidFill>
                  <a:srgbClr val="262B3A"/>
                </a:solidFill>
                <a:latin typeface="Calibri" pitchFamily="34" charset="0"/>
                <a:ea typeface="Calibri" pitchFamily="34" charset="-122"/>
                <a:cs typeface="Calibri" pitchFamily="34" charset="-120"/>
              </a:rPr>
              <a:t> of dilute sulfuric acid to about 50 °C (do </a:t>
            </a:r>
            <a:r>
              <a:rPr lang="en-US" sz="1050" b="1" dirty="0">
                <a:solidFill>
                  <a:srgbClr val="262B3A"/>
                </a:solidFill>
                <a:latin typeface="Calibri" pitchFamily="34" charset="0"/>
                <a:ea typeface="Calibri" pitchFamily="34" charset="-122"/>
                <a:cs typeface="Calibri" pitchFamily="34" charset="-120"/>
              </a:rPr>
              <a:t>not</a:t>
            </a:r>
            <a:r>
              <a:rPr lang="en-US" sz="1050" dirty="0">
                <a:solidFill>
                  <a:srgbClr val="262B3A"/>
                </a:solidFill>
                <a:latin typeface="Calibri" pitchFamily="34" charset="0"/>
                <a:ea typeface="Calibri" pitchFamily="34" charset="-122"/>
                <a:cs typeface="Calibri" pitchFamily="34" charset="-120"/>
              </a:rPr>
              <a:t> boil).</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Add copper(II) oxide a spatula at a time, stirring, until some black solid is </a:t>
            </a:r>
            <a:r>
              <a:rPr lang="en-US" sz="1050" b="1" dirty="0">
                <a:solidFill>
                  <a:srgbClr val="262B3A"/>
                </a:solidFill>
                <a:latin typeface="Calibri" pitchFamily="34" charset="0"/>
                <a:ea typeface="Calibri" pitchFamily="34" charset="-122"/>
                <a:cs typeface="Calibri" pitchFamily="34" charset="-120"/>
              </a:rPr>
              <a:t>left over</a:t>
            </a:r>
            <a:r>
              <a:rPr lang="en-US" sz="1050" dirty="0">
                <a:solidFill>
                  <a:srgbClr val="262B3A"/>
                </a:solidFill>
                <a:latin typeface="Calibri" pitchFamily="34" charset="0"/>
                <a:ea typeface="Calibri" pitchFamily="34" charset="-122"/>
                <a:cs typeface="Calibri" pitchFamily="34" charset="-120"/>
              </a:rPr>
              <a:t> (</a:t>
            </a:r>
            <a:r>
              <a:rPr lang="en-US" sz="1050" b="1" dirty="0">
                <a:solidFill>
                  <a:srgbClr val="262B3A"/>
                </a:solidFill>
                <a:latin typeface="Calibri" pitchFamily="34" charset="0"/>
                <a:ea typeface="Calibri" pitchFamily="34" charset="-122"/>
                <a:cs typeface="Calibri" pitchFamily="34" charset="-120"/>
              </a:rPr>
              <a:t>excess</a:t>
            </a:r>
            <a:r>
              <a:rPr lang="en-US" sz="1050" dirty="0">
                <a:solidFill>
                  <a:srgbClr val="262B3A"/>
                </a:solidFill>
                <a:latin typeface="Calibri" pitchFamily="34" charset="0"/>
                <a:ea typeface="Calibri" pitchFamily="34" charset="-122"/>
                <a:cs typeface="Calibri" pitchFamily="34" charset="-120"/>
              </a:rPr>
              <a:t>): all the acid has reacted.</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Filter</a:t>
            </a:r>
            <a:r>
              <a:rPr lang="en-US" sz="1050" dirty="0">
                <a:solidFill>
                  <a:srgbClr val="262B3A"/>
                </a:solidFill>
                <a:latin typeface="Calibri" pitchFamily="34" charset="0"/>
                <a:ea typeface="Calibri" pitchFamily="34" charset="-122"/>
                <a:cs typeface="Calibri" pitchFamily="34" charset="-120"/>
              </a:rPr>
              <a:t> to remove the excess copper(II) oxide.</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Heat the filtrate on a water bath to the </a:t>
            </a:r>
            <a:r>
              <a:rPr lang="en-US" sz="1050" b="1" dirty="0">
                <a:solidFill>
                  <a:srgbClr val="262B3A"/>
                </a:solidFill>
                <a:latin typeface="Calibri" pitchFamily="34" charset="0"/>
                <a:ea typeface="Calibri" pitchFamily="34" charset="-122"/>
                <a:cs typeface="Calibri" pitchFamily="34" charset="-120"/>
              </a:rPr>
              <a:t>crystallisation point</a:t>
            </a:r>
            <a:r>
              <a:rPr lang="en-US" sz="1050" dirty="0">
                <a:solidFill>
                  <a:srgbClr val="262B3A"/>
                </a:solidFill>
                <a:latin typeface="Calibri" pitchFamily="34" charset="0"/>
                <a:ea typeface="Calibri" pitchFamily="34" charset="-122"/>
                <a:cs typeface="Calibri" pitchFamily="34" charset="-120"/>
              </a:rPr>
              <a:t>, then leave to cool. Filter off the crystals and dry them.</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Safety</a:t>
            </a:r>
            <a:r>
              <a:rPr lang="en-US" sz="1050" dirty="0">
                <a:solidFill>
                  <a:srgbClr val="262B3A"/>
                </a:solidFill>
                <a:latin typeface="Calibri" pitchFamily="34" charset="0"/>
                <a:ea typeface="Calibri" pitchFamily="34" charset="-122"/>
                <a:cs typeface="Calibri" pitchFamily="34" charset="-120"/>
              </a:rPr>
              <a:t>: eye protection. Sulfuric acid (1.0 mol/dm³) </a:t>
            </a:r>
            <a:r>
              <a:rPr lang="en-US" sz="1050" b="1" dirty="0">
                <a:solidFill>
                  <a:srgbClr val="262B3A"/>
                </a:solidFill>
                <a:latin typeface="Calibri" pitchFamily="34" charset="0"/>
                <a:ea typeface="Calibri" pitchFamily="34" charset="-122"/>
                <a:cs typeface="Calibri" pitchFamily="34" charset="-120"/>
              </a:rPr>
              <a:t>IRRITANT</a:t>
            </a:r>
            <a:r>
              <a:rPr lang="en-US" sz="1050" dirty="0">
                <a:solidFill>
                  <a:srgbClr val="262B3A"/>
                </a:solidFill>
                <a:latin typeface="Calibri" pitchFamily="34" charset="0"/>
                <a:ea typeface="Calibri" pitchFamily="34" charset="-122"/>
                <a:cs typeface="Calibri" pitchFamily="34" charset="-120"/>
              </a:rPr>
              <a:t>. Copper(II) oxide and copper(II) sulfate </a:t>
            </a:r>
            <a:r>
              <a:rPr lang="en-US" sz="1050" b="1" dirty="0">
                <a:solidFill>
                  <a:srgbClr val="262B3A"/>
                </a:solidFill>
                <a:latin typeface="Calibri" pitchFamily="34" charset="0"/>
                <a:ea typeface="Calibri" pitchFamily="34" charset="-122"/>
                <a:cs typeface="Calibri" pitchFamily="34" charset="-120"/>
              </a:rPr>
              <a:t>HARMFUL</a:t>
            </a:r>
            <a:r>
              <a:rPr lang="en-US" sz="1050" dirty="0">
                <a:solidFill>
                  <a:srgbClr val="262B3A"/>
                </a:solidFill>
                <a:latin typeface="Calibri" pitchFamily="34" charset="0"/>
                <a:ea typeface="Calibri" pitchFamily="34" charset="-122"/>
                <a:cs typeface="Calibri" pitchFamily="34" charset="-120"/>
              </a:rPr>
              <a:t> if swallowed, eye irritant, toxic to aquatic life.</a:t>
            </a:r>
            <a:endParaRPr lang="en-US" sz="1050" dirty="0"/>
          </a:p>
        </p:txBody>
      </p:sp>
      <p:sp>
        <p:nvSpPr>
          <p:cNvPr id="82" name="Shape 80"/>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83" name="Text 81"/>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mass of base reacted</a:t>
            </a:r>
            <a:endParaRPr lang="en-US" sz="1300" dirty="0"/>
          </a:p>
        </p:txBody>
      </p:sp>
      <p:sp>
        <p:nvSpPr>
          <p:cNvPr id="84" name="Text 82"/>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2.50 g of CuO was added. The dried excess had a mass of 0.51 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Subtract   </a:t>
            </a:r>
            <a:r>
              <a:rPr lang="en-US" sz="1050" dirty="0">
                <a:solidFill>
                  <a:srgbClr val="262B3A"/>
                </a:solidFill>
                <a:latin typeface="Calibri" pitchFamily="34" charset="0"/>
                <a:ea typeface="Calibri" pitchFamily="34" charset="-122"/>
                <a:cs typeface="Calibri" pitchFamily="34" charset="-120"/>
              </a:rPr>
              <a:t>2.50 − 0.51</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1.99 g</a:t>
            </a:r>
            <a:r>
              <a:rPr lang="en-US" sz="1050" b="1" dirty="0">
                <a:solidFill>
                  <a:srgbClr val="C8414C"/>
                </a:solidFill>
                <a:latin typeface="Calibri" pitchFamily="34" charset="0"/>
                <a:ea typeface="Calibri" pitchFamily="34" charset="-122"/>
                <a:cs typeface="Calibri" pitchFamily="34" charset="-120"/>
              </a:rPr>
              <a:t> of copper(II) oxide reacted</a:t>
            </a:r>
            <a:endParaRPr lang="en-US" sz="1050" dirty="0"/>
          </a:p>
        </p:txBody>
      </p:sp>
      <p:sp>
        <p:nvSpPr>
          <p:cNvPr id="85" name="Shape 83"/>
          <p:cNvSpPr/>
          <p:nvPr/>
        </p:nvSpPr>
        <p:spPr>
          <a:xfrm>
            <a:off x="411480" y="5833872"/>
            <a:ext cx="11368735" cy="530352"/>
          </a:xfrm>
          <a:prstGeom prst="rect">
            <a:avLst/>
          </a:prstGeom>
          <a:solidFill>
            <a:srgbClr val="FFF4E0"/>
          </a:solidFill>
          <a:ln w="6350">
            <a:solidFill>
              <a:srgbClr val="F1D9A8"/>
            </a:solidFill>
            <a:prstDash val="solid"/>
          </a:ln>
        </p:spPr>
      </p:sp>
      <p:sp>
        <p:nvSpPr>
          <p:cNvPr id="86" name="Shape 84"/>
          <p:cNvSpPr/>
          <p:nvPr/>
        </p:nvSpPr>
        <p:spPr>
          <a:xfrm>
            <a:off x="411480" y="5833872"/>
            <a:ext cx="82296" cy="530352"/>
          </a:xfrm>
          <a:prstGeom prst="rect">
            <a:avLst/>
          </a:prstGeom>
          <a:solidFill>
            <a:srgbClr val="E39A2F"/>
          </a:solidFill>
          <a:ln w="12700">
            <a:solidFill>
              <a:srgbClr val="E39A2F"/>
            </a:solidFill>
            <a:prstDash val="solid"/>
          </a:ln>
        </p:spPr>
      </p:sp>
      <p:sp>
        <p:nvSpPr>
          <p:cNvPr id="87" name="Text 8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copper(II) oxide added in </a:t>
            </a:r>
            <a:r>
              <a:rPr lang="en-US" sz="1150" b="1" dirty="0">
                <a:solidFill>
                  <a:srgbClr val="262B3A"/>
                </a:solidFill>
                <a:latin typeface="Calibri" pitchFamily="34" charset="0"/>
                <a:ea typeface="Calibri" pitchFamily="34" charset="-122"/>
                <a:cs typeface="Calibri" pitchFamily="34" charset="-120"/>
              </a:rPr>
              <a:t>excess</a:t>
            </a:r>
            <a:r>
              <a:rPr lang="en-US" sz="1150" dirty="0">
                <a:solidFill>
                  <a:srgbClr val="262B3A"/>
                </a:solidFill>
                <a:latin typeface="Calibri" pitchFamily="34" charset="0"/>
                <a:ea typeface="Calibri" pitchFamily="34" charset="-122"/>
                <a:cs typeface="Calibri" pitchFamily="34" charset="-120"/>
              </a:rPr>
              <a:t>? Why is the excess removed by </a:t>
            </a:r>
            <a:r>
              <a:rPr lang="en-US" sz="1150" b="1" dirty="0">
                <a:solidFill>
                  <a:srgbClr val="262B3A"/>
                </a:solidFill>
                <a:latin typeface="Calibri" pitchFamily="34" charset="0"/>
                <a:ea typeface="Calibri" pitchFamily="34" charset="-122"/>
                <a:cs typeface="Calibri" pitchFamily="34" charset="-120"/>
              </a:rPr>
              <a:t>filtration</a:t>
            </a:r>
            <a:r>
              <a:rPr lang="en-US" sz="1150" dirty="0">
                <a:solidFill>
                  <a:srgbClr val="262B3A"/>
                </a:solidFill>
                <a:latin typeface="Calibri" pitchFamily="34" charset="0"/>
                <a:ea typeface="Calibri" pitchFamily="34" charset="-122"/>
                <a:cs typeface="Calibri" pitchFamily="34" charset="-120"/>
              </a:rPr>
              <a:t> and not by crystallisation?</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Practical: crystallisation results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C5.1.7 • PAG C4: why crystals form on cooling; masses and errors</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C4</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C4  |  23</a:t>
            </a:r>
            <a:endParaRPr lang="en-US" sz="1000" dirty="0"/>
          </a:p>
        </p:txBody>
      </p:sp>
      <p:sp>
        <p:nvSpPr>
          <p:cNvPr id="10" name="Shape 8"/>
          <p:cNvSpPr/>
          <p:nvPr/>
        </p:nvSpPr>
        <p:spPr>
          <a:xfrm>
            <a:off x="411480" y="1188720"/>
            <a:ext cx="60350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7607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solubility curve plotted to scale (approximate data-book values)</a:t>
            </a:r>
            <a:endParaRPr lang="en-US" sz="1000" dirty="0"/>
          </a:p>
        </p:txBody>
      </p:sp>
      <p:sp>
        <p:nvSpPr>
          <p:cNvPr id="12" name="Shape 10"/>
          <p:cNvSpPr/>
          <p:nvPr/>
        </p:nvSpPr>
        <p:spPr>
          <a:xfrm>
            <a:off x="1325880" y="1417320"/>
            <a:ext cx="4754880" cy="2606040"/>
          </a:xfrm>
          <a:prstGeom prst="rect">
            <a:avLst/>
          </a:prstGeom>
          <a:solidFill>
            <a:srgbClr val="FFFFFF"/>
          </a:solidFill>
          <a:ln/>
        </p:spPr>
      </p:sp>
      <p:sp>
        <p:nvSpPr>
          <p:cNvPr id="13" name="Shape 11"/>
          <p:cNvSpPr/>
          <p:nvPr/>
        </p:nvSpPr>
        <p:spPr>
          <a:xfrm>
            <a:off x="1325880" y="1417320"/>
            <a:ext cx="91" cy="2606040"/>
          </a:xfrm>
          <a:prstGeom prst="line">
            <a:avLst/>
          </a:prstGeom>
          <a:noFill/>
          <a:ln w="6350">
            <a:solidFill>
              <a:srgbClr val="D6CBE8"/>
            </a:solidFill>
            <a:prstDash val="solid"/>
          </a:ln>
        </p:spPr>
      </p:sp>
      <p:sp>
        <p:nvSpPr>
          <p:cNvPr id="14" name="Shape 12"/>
          <p:cNvSpPr/>
          <p:nvPr/>
        </p:nvSpPr>
        <p:spPr>
          <a:xfrm>
            <a:off x="1801368" y="1417320"/>
            <a:ext cx="91" cy="2606040"/>
          </a:xfrm>
          <a:prstGeom prst="line">
            <a:avLst/>
          </a:prstGeom>
          <a:noFill/>
          <a:ln w="6350">
            <a:solidFill>
              <a:srgbClr val="EEE9F6"/>
            </a:solidFill>
            <a:prstDash val="solid"/>
          </a:ln>
        </p:spPr>
      </p:sp>
      <p:sp>
        <p:nvSpPr>
          <p:cNvPr id="15" name="Shape 13"/>
          <p:cNvSpPr/>
          <p:nvPr/>
        </p:nvSpPr>
        <p:spPr>
          <a:xfrm>
            <a:off x="2276856" y="1417320"/>
            <a:ext cx="91" cy="2606040"/>
          </a:xfrm>
          <a:prstGeom prst="line">
            <a:avLst/>
          </a:prstGeom>
          <a:noFill/>
          <a:ln w="6350">
            <a:solidFill>
              <a:srgbClr val="D6CBE8"/>
            </a:solidFill>
            <a:prstDash val="solid"/>
          </a:ln>
        </p:spPr>
      </p:sp>
      <p:sp>
        <p:nvSpPr>
          <p:cNvPr id="16" name="Shape 14"/>
          <p:cNvSpPr/>
          <p:nvPr/>
        </p:nvSpPr>
        <p:spPr>
          <a:xfrm>
            <a:off x="2752344" y="1417320"/>
            <a:ext cx="91" cy="2606040"/>
          </a:xfrm>
          <a:prstGeom prst="line">
            <a:avLst/>
          </a:prstGeom>
          <a:noFill/>
          <a:ln w="6350">
            <a:solidFill>
              <a:srgbClr val="EEE9F6"/>
            </a:solidFill>
            <a:prstDash val="solid"/>
          </a:ln>
        </p:spPr>
      </p:sp>
      <p:sp>
        <p:nvSpPr>
          <p:cNvPr id="17" name="Shape 15"/>
          <p:cNvSpPr/>
          <p:nvPr/>
        </p:nvSpPr>
        <p:spPr>
          <a:xfrm>
            <a:off x="3227832" y="1417320"/>
            <a:ext cx="91" cy="2606040"/>
          </a:xfrm>
          <a:prstGeom prst="line">
            <a:avLst/>
          </a:prstGeom>
          <a:noFill/>
          <a:ln w="6350">
            <a:solidFill>
              <a:srgbClr val="D6CBE8"/>
            </a:solidFill>
            <a:prstDash val="solid"/>
          </a:ln>
        </p:spPr>
      </p:sp>
      <p:sp>
        <p:nvSpPr>
          <p:cNvPr id="18" name="Shape 16"/>
          <p:cNvSpPr/>
          <p:nvPr/>
        </p:nvSpPr>
        <p:spPr>
          <a:xfrm>
            <a:off x="3703320" y="1417320"/>
            <a:ext cx="91" cy="2606040"/>
          </a:xfrm>
          <a:prstGeom prst="line">
            <a:avLst/>
          </a:prstGeom>
          <a:noFill/>
          <a:ln w="6350">
            <a:solidFill>
              <a:srgbClr val="EEE9F6"/>
            </a:solidFill>
            <a:prstDash val="solid"/>
          </a:ln>
        </p:spPr>
      </p:sp>
      <p:sp>
        <p:nvSpPr>
          <p:cNvPr id="19" name="Shape 17"/>
          <p:cNvSpPr/>
          <p:nvPr/>
        </p:nvSpPr>
        <p:spPr>
          <a:xfrm>
            <a:off x="4178808" y="1417320"/>
            <a:ext cx="91" cy="2606040"/>
          </a:xfrm>
          <a:prstGeom prst="line">
            <a:avLst/>
          </a:prstGeom>
          <a:noFill/>
          <a:ln w="6350">
            <a:solidFill>
              <a:srgbClr val="D6CBE8"/>
            </a:solidFill>
            <a:prstDash val="solid"/>
          </a:ln>
        </p:spPr>
      </p:sp>
      <p:sp>
        <p:nvSpPr>
          <p:cNvPr id="20" name="Shape 18"/>
          <p:cNvSpPr/>
          <p:nvPr/>
        </p:nvSpPr>
        <p:spPr>
          <a:xfrm>
            <a:off x="4654296" y="1417320"/>
            <a:ext cx="91" cy="2606040"/>
          </a:xfrm>
          <a:prstGeom prst="line">
            <a:avLst/>
          </a:prstGeom>
          <a:noFill/>
          <a:ln w="6350">
            <a:solidFill>
              <a:srgbClr val="EEE9F6"/>
            </a:solidFill>
            <a:prstDash val="solid"/>
          </a:ln>
        </p:spPr>
      </p:sp>
      <p:sp>
        <p:nvSpPr>
          <p:cNvPr id="21" name="Shape 19"/>
          <p:cNvSpPr/>
          <p:nvPr/>
        </p:nvSpPr>
        <p:spPr>
          <a:xfrm>
            <a:off x="5129784" y="1417320"/>
            <a:ext cx="91" cy="2606040"/>
          </a:xfrm>
          <a:prstGeom prst="line">
            <a:avLst/>
          </a:prstGeom>
          <a:noFill/>
          <a:ln w="6350">
            <a:solidFill>
              <a:srgbClr val="D6CBE8"/>
            </a:solidFill>
            <a:prstDash val="solid"/>
          </a:ln>
        </p:spPr>
      </p:sp>
      <p:sp>
        <p:nvSpPr>
          <p:cNvPr id="22" name="Shape 20"/>
          <p:cNvSpPr/>
          <p:nvPr/>
        </p:nvSpPr>
        <p:spPr>
          <a:xfrm>
            <a:off x="5605272" y="1417320"/>
            <a:ext cx="91" cy="2606040"/>
          </a:xfrm>
          <a:prstGeom prst="line">
            <a:avLst/>
          </a:prstGeom>
          <a:noFill/>
          <a:ln w="6350">
            <a:solidFill>
              <a:srgbClr val="EEE9F6"/>
            </a:solidFill>
            <a:prstDash val="solid"/>
          </a:ln>
        </p:spPr>
      </p:sp>
      <p:sp>
        <p:nvSpPr>
          <p:cNvPr id="23" name="Shape 21"/>
          <p:cNvSpPr/>
          <p:nvPr/>
        </p:nvSpPr>
        <p:spPr>
          <a:xfrm>
            <a:off x="6080760" y="1417320"/>
            <a:ext cx="91" cy="2606040"/>
          </a:xfrm>
          <a:prstGeom prst="line">
            <a:avLst/>
          </a:prstGeom>
          <a:noFill/>
          <a:ln w="6350">
            <a:solidFill>
              <a:srgbClr val="D6CBE8"/>
            </a:solidFill>
            <a:prstDash val="solid"/>
          </a:ln>
        </p:spPr>
      </p:sp>
      <p:sp>
        <p:nvSpPr>
          <p:cNvPr id="24" name="Shape 22"/>
          <p:cNvSpPr/>
          <p:nvPr/>
        </p:nvSpPr>
        <p:spPr>
          <a:xfrm>
            <a:off x="1325880" y="4023360"/>
            <a:ext cx="4754880" cy="91"/>
          </a:xfrm>
          <a:prstGeom prst="line">
            <a:avLst/>
          </a:prstGeom>
          <a:noFill/>
          <a:ln w="6350">
            <a:solidFill>
              <a:srgbClr val="D6CBE8"/>
            </a:solidFill>
            <a:prstDash val="solid"/>
          </a:ln>
        </p:spPr>
      </p:sp>
      <p:sp>
        <p:nvSpPr>
          <p:cNvPr id="25" name="Shape 23"/>
          <p:cNvSpPr/>
          <p:nvPr/>
        </p:nvSpPr>
        <p:spPr>
          <a:xfrm>
            <a:off x="1325880" y="3860483"/>
            <a:ext cx="4754880" cy="91"/>
          </a:xfrm>
          <a:prstGeom prst="line">
            <a:avLst/>
          </a:prstGeom>
          <a:noFill/>
          <a:ln w="6350">
            <a:solidFill>
              <a:srgbClr val="EEE9F6"/>
            </a:solidFill>
            <a:prstDash val="solid"/>
          </a:ln>
        </p:spPr>
      </p:sp>
      <p:sp>
        <p:nvSpPr>
          <p:cNvPr id="26" name="Shape 24"/>
          <p:cNvSpPr/>
          <p:nvPr/>
        </p:nvSpPr>
        <p:spPr>
          <a:xfrm>
            <a:off x="1325880" y="3697605"/>
            <a:ext cx="4754880" cy="91"/>
          </a:xfrm>
          <a:prstGeom prst="line">
            <a:avLst/>
          </a:prstGeom>
          <a:noFill/>
          <a:ln w="6350">
            <a:solidFill>
              <a:srgbClr val="D6CBE8"/>
            </a:solidFill>
            <a:prstDash val="solid"/>
          </a:ln>
        </p:spPr>
      </p:sp>
      <p:sp>
        <p:nvSpPr>
          <p:cNvPr id="27" name="Shape 25"/>
          <p:cNvSpPr/>
          <p:nvPr/>
        </p:nvSpPr>
        <p:spPr>
          <a:xfrm>
            <a:off x="1325880" y="3534728"/>
            <a:ext cx="4754880" cy="91"/>
          </a:xfrm>
          <a:prstGeom prst="line">
            <a:avLst/>
          </a:prstGeom>
          <a:noFill/>
          <a:ln w="6350">
            <a:solidFill>
              <a:srgbClr val="EEE9F6"/>
            </a:solidFill>
            <a:prstDash val="solid"/>
          </a:ln>
        </p:spPr>
      </p:sp>
      <p:sp>
        <p:nvSpPr>
          <p:cNvPr id="28" name="Shape 26"/>
          <p:cNvSpPr/>
          <p:nvPr/>
        </p:nvSpPr>
        <p:spPr>
          <a:xfrm>
            <a:off x="1325880" y="3371850"/>
            <a:ext cx="4754880" cy="91"/>
          </a:xfrm>
          <a:prstGeom prst="line">
            <a:avLst/>
          </a:prstGeom>
          <a:noFill/>
          <a:ln w="6350">
            <a:solidFill>
              <a:srgbClr val="D6CBE8"/>
            </a:solidFill>
            <a:prstDash val="solid"/>
          </a:ln>
        </p:spPr>
      </p:sp>
      <p:sp>
        <p:nvSpPr>
          <p:cNvPr id="29" name="Shape 27"/>
          <p:cNvSpPr/>
          <p:nvPr/>
        </p:nvSpPr>
        <p:spPr>
          <a:xfrm>
            <a:off x="1325880" y="3208973"/>
            <a:ext cx="4754880" cy="91"/>
          </a:xfrm>
          <a:prstGeom prst="line">
            <a:avLst/>
          </a:prstGeom>
          <a:noFill/>
          <a:ln w="6350">
            <a:solidFill>
              <a:srgbClr val="EEE9F6"/>
            </a:solidFill>
            <a:prstDash val="solid"/>
          </a:ln>
        </p:spPr>
      </p:sp>
      <p:sp>
        <p:nvSpPr>
          <p:cNvPr id="30" name="Shape 28"/>
          <p:cNvSpPr/>
          <p:nvPr/>
        </p:nvSpPr>
        <p:spPr>
          <a:xfrm>
            <a:off x="1325880" y="3046095"/>
            <a:ext cx="4754880" cy="91"/>
          </a:xfrm>
          <a:prstGeom prst="line">
            <a:avLst/>
          </a:prstGeom>
          <a:noFill/>
          <a:ln w="6350">
            <a:solidFill>
              <a:srgbClr val="D6CBE8"/>
            </a:solidFill>
            <a:prstDash val="solid"/>
          </a:ln>
        </p:spPr>
      </p:sp>
      <p:sp>
        <p:nvSpPr>
          <p:cNvPr id="31" name="Shape 29"/>
          <p:cNvSpPr/>
          <p:nvPr/>
        </p:nvSpPr>
        <p:spPr>
          <a:xfrm>
            <a:off x="1325880" y="2883218"/>
            <a:ext cx="4754880" cy="91"/>
          </a:xfrm>
          <a:prstGeom prst="line">
            <a:avLst/>
          </a:prstGeom>
          <a:noFill/>
          <a:ln w="6350">
            <a:solidFill>
              <a:srgbClr val="EEE9F6"/>
            </a:solidFill>
            <a:prstDash val="solid"/>
          </a:ln>
        </p:spPr>
      </p:sp>
      <p:sp>
        <p:nvSpPr>
          <p:cNvPr id="32" name="Shape 30"/>
          <p:cNvSpPr/>
          <p:nvPr/>
        </p:nvSpPr>
        <p:spPr>
          <a:xfrm>
            <a:off x="1325880" y="2720340"/>
            <a:ext cx="4754880" cy="91"/>
          </a:xfrm>
          <a:prstGeom prst="line">
            <a:avLst/>
          </a:prstGeom>
          <a:noFill/>
          <a:ln w="6350">
            <a:solidFill>
              <a:srgbClr val="D6CBE8"/>
            </a:solidFill>
            <a:prstDash val="solid"/>
          </a:ln>
        </p:spPr>
      </p:sp>
      <p:sp>
        <p:nvSpPr>
          <p:cNvPr id="33" name="Shape 31"/>
          <p:cNvSpPr/>
          <p:nvPr/>
        </p:nvSpPr>
        <p:spPr>
          <a:xfrm>
            <a:off x="1325880" y="2557463"/>
            <a:ext cx="4754880" cy="91"/>
          </a:xfrm>
          <a:prstGeom prst="line">
            <a:avLst/>
          </a:prstGeom>
          <a:noFill/>
          <a:ln w="6350">
            <a:solidFill>
              <a:srgbClr val="EEE9F6"/>
            </a:solidFill>
            <a:prstDash val="solid"/>
          </a:ln>
        </p:spPr>
      </p:sp>
      <p:sp>
        <p:nvSpPr>
          <p:cNvPr id="34" name="Shape 32"/>
          <p:cNvSpPr/>
          <p:nvPr/>
        </p:nvSpPr>
        <p:spPr>
          <a:xfrm>
            <a:off x="1325880" y="2394585"/>
            <a:ext cx="4754880" cy="91"/>
          </a:xfrm>
          <a:prstGeom prst="line">
            <a:avLst/>
          </a:prstGeom>
          <a:noFill/>
          <a:ln w="6350">
            <a:solidFill>
              <a:srgbClr val="D6CBE8"/>
            </a:solidFill>
            <a:prstDash val="solid"/>
          </a:ln>
        </p:spPr>
      </p:sp>
      <p:sp>
        <p:nvSpPr>
          <p:cNvPr id="35" name="Shape 33"/>
          <p:cNvSpPr/>
          <p:nvPr/>
        </p:nvSpPr>
        <p:spPr>
          <a:xfrm>
            <a:off x="1325880" y="2231708"/>
            <a:ext cx="4754880" cy="91"/>
          </a:xfrm>
          <a:prstGeom prst="line">
            <a:avLst/>
          </a:prstGeom>
          <a:noFill/>
          <a:ln w="6350">
            <a:solidFill>
              <a:srgbClr val="EEE9F6"/>
            </a:solidFill>
            <a:prstDash val="solid"/>
          </a:ln>
        </p:spPr>
      </p:sp>
      <p:sp>
        <p:nvSpPr>
          <p:cNvPr id="36" name="Shape 34"/>
          <p:cNvSpPr/>
          <p:nvPr/>
        </p:nvSpPr>
        <p:spPr>
          <a:xfrm>
            <a:off x="1325880" y="2068830"/>
            <a:ext cx="4754880" cy="91"/>
          </a:xfrm>
          <a:prstGeom prst="line">
            <a:avLst/>
          </a:prstGeom>
          <a:noFill/>
          <a:ln w="6350">
            <a:solidFill>
              <a:srgbClr val="D6CBE8"/>
            </a:solidFill>
            <a:prstDash val="solid"/>
          </a:ln>
        </p:spPr>
      </p:sp>
      <p:sp>
        <p:nvSpPr>
          <p:cNvPr id="37" name="Shape 35"/>
          <p:cNvSpPr/>
          <p:nvPr/>
        </p:nvSpPr>
        <p:spPr>
          <a:xfrm>
            <a:off x="1325880" y="1905953"/>
            <a:ext cx="4754880" cy="91"/>
          </a:xfrm>
          <a:prstGeom prst="line">
            <a:avLst/>
          </a:prstGeom>
          <a:noFill/>
          <a:ln w="6350">
            <a:solidFill>
              <a:srgbClr val="EEE9F6"/>
            </a:solidFill>
            <a:prstDash val="solid"/>
          </a:ln>
        </p:spPr>
      </p:sp>
      <p:sp>
        <p:nvSpPr>
          <p:cNvPr id="38" name="Shape 36"/>
          <p:cNvSpPr/>
          <p:nvPr/>
        </p:nvSpPr>
        <p:spPr>
          <a:xfrm>
            <a:off x="1325880" y="1743075"/>
            <a:ext cx="4754880" cy="91"/>
          </a:xfrm>
          <a:prstGeom prst="line">
            <a:avLst/>
          </a:prstGeom>
          <a:noFill/>
          <a:ln w="6350">
            <a:solidFill>
              <a:srgbClr val="D6CBE8"/>
            </a:solidFill>
            <a:prstDash val="solid"/>
          </a:ln>
        </p:spPr>
      </p:sp>
      <p:sp>
        <p:nvSpPr>
          <p:cNvPr id="39" name="Shape 37"/>
          <p:cNvSpPr/>
          <p:nvPr/>
        </p:nvSpPr>
        <p:spPr>
          <a:xfrm>
            <a:off x="1325880" y="1580198"/>
            <a:ext cx="4754880" cy="91"/>
          </a:xfrm>
          <a:prstGeom prst="line">
            <a:avLst/>
          </a:prstGeom>
          <a:noFill/>
          <a:ln w="6350">
            <a:solidFill>
              <a:srgbClr val="EEE9F6"/>
            </a:solidFill>
            <a:prstDash val="solid"/>
          </a:ln>
        </p:spPr>
      </p:sp>
      <p:sp>
        <p:nvSpPr>
          <p:cNvPr id="40" name="Shape 38"/>
          <p:cNvSpPr/>
          <p:nvPr/>
        </p:nvSpPr>
        <p:spPr>
          <a:xfrm>
            <a:off x="1325880" y="1417320"/>
            <a:ext cx="4754880" cy="91"/>
          </a:xfrm>
          <a:prstGeom prst="line">
            <a:avLst/>
          </a:prstGeom>
          <a:noFill/>
          <a:ln w="6350">
            <a:solidFill>
              <a:srgbClr val="D6CBE8"/>
            </a:solidFill>
            <a:prstDash val="solid"/>
          </a:ln>
        </p:spPr>
      </p:sp>
      <p:sp>
        <p:nvSpPr>
          <p:cNvPr id="41" name="Shape 39"/>
          <p:cNvSpPr/>
          <p:nvPr/>
        </p:nvSpPr>
        <p:spPr>
          <a:xfrm>
            <a:off x="1325880" y="4023360"/>
            <a:ext cx="4754880" cy="91"/>
          </a:xfrm>
          <a:prstGeom prst="line">
            <a:avLst/>
          </a:prstGeom>
          <a:noFill/>
          <a:ln w="19050">
            <a:solidFill>
              <a:srgbClr val="2A1F3D"/>
            </a:solidFill>
            <a:prstDash val="solid"/>
          </a:ln>
        </p:spPr>
      </p:sp>
      <p:sp>
        <p:nvSpPr>
          <p:cNvPr id="42" name="Shape 40"/>
          <p:cNvSpPr/>
          <p:nvPr/>
        </p:nvSpPr>
        <p:spPr>
          <a:xfrm flipV="1">
            <a:off x="1325880" y="1417320"/>
            <a:ext cx="91" cy="2606040"/>
          </a:xfrm>
          <a:prstGeom prst="line">
            <a:avLst/>
          </a:prstGeom>
          <a:noFill/>
          <a:ln w="19050">
            <a:solidFill>
              <a:srgbClr val="2A1F3D"/>
            </a:solidFill>
            <a:prstDash val="solid"/>
          </a:ln>
        </p:spPr>
      </p:sp>
      <p:sp>
        <p:nvSpPr>
          <p:cNvPr id="43" name="Shape 41"/>
          <p:cNvSpPr/>
          <p:nvPr/>
        </p:nvSpPr>
        <p:spPr>
          <a:xfrm>
            <a:off x="1325880" y="4023360"/>
            <a:ext cx="91" cy="54864"/>
          </a:xfrm>
          <a:prstGeom prst="line">
            <a:avLst/>
          </a:prstGeom>
          <a:noFill/>
          <a:ln w="12700">
            <a:solidFill>
              <a:srgbClr val="2A1F3D"/>
            </a:solidFill>
            <a:prstDash val="solid"/>
          </a:ln>
        </p:spPr>
      </p:sp>
      <p:sp>
        <p:nvSpPr>
          <p:cNvPr id="44" name="Text 42"/>
          <p:cNvSpPr/>
          <p:nvPr/>
        </p:nvSpPr>
        <p:spPr>
          <a:xfrm>
            <a:off x="105156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5" name="Shape 43"/>
          <p:cNvSpPr/>
          <p:nvPr/>
        </p:nvSpPr>
        <p:spPr>
          <a:xfrm>
            <a:off x="2276856" y="4023360"/>
            <a:ext cx="91" cy="54864"/>
          </a:xfrm>
          <a:prstGeom prst="line">
            <a:avLst/>
          </a:prstGeom>
          <a:noFill/>
          <a:ln w="12700">
            <a:solidFill>
              <a:srgbClr val="2A1F3D"/>
            </a:solidFill>
            <a:prstDash val="solid"/>
          </a:ln>
        </p:spPr>
      </p:sp>
      <p:sp>
        <p:nvSpPr>
          <p:cNvPr id="46" name="Text 44"/>
          <p:cNvSpPr/>
          <p:nvPr/>
        </p:nvSpPr>
        <p:spPr>
          <a:xfrm>
            <a:off x="2002536"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47" name="Shape 45"/>
          <p:cNvSpPr/>
          <p:nvPr/>
        </p:nvSpPr>
        <p:spPr>
          <a:xfrm>
            <a:off x="3227832" y="4023360"/>
            <a:ext cx="91" cy="54864"/>
          </a:xfrm>
          <a:prstGeom prst="line">
            <a:avLst/>
          </a:prstGeom>
          <a:noFill/>
          <a:ln w="12700">
            <a:solidFill>
              <a:srgbClr val="2A1F3D"/>
            </a:solidFill>
            <a:prstDash val="solid"/>
          </a:ln>
        </p:spPr>
      </p:sp>
      <p:sp>
        <p:nvSpPr>
          <p:cNvPr id="48" name="Text 46"/>
          <p:cNvSpPr/>
          <p:nvPr/>
        </p:nvSpPr>
        <p:spPr>
          <a:xfrm>
            <a:off x="2953512"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49" name="Shape 47"/>
          <p:cNvSpPr/>
          <p:nvPr/>
        </p:nvSpPr>
        <p:spPr>
          <a:xfrm>
            <a:off x="4178808" y="4023360"/>
            <a:ext cx="91" cy="54864"/>
          </a:xfrm>
          <a:prstGeom prst="line">
            <a:avLst/>
          </a:prstGeom>
          <a:noFill/>
          <a:ln w="12700">
            <a:solidFill>
              <a:srgbClr val="2A1F3D"/>
            </a:solidFill>
            <a:prstDash val="solid"/>
          </a:ln>
        </p:spPr>
      </p:sp>
      <p:sp>
        <p:nvSpPr>
          <p:cNvPr id="50" name="Text 48"/>
          <p:cNvSpPr/>
          <p:nvPr/>
        </p:nvSpPr>
        <p:spPr>
          <a:xfrm>
            <a:off x="3904488"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51" name="Shape 49"/>
          <p:cNvSpPr/>
          <p:nvPr/>
        </p:nvSpPr>
        <p:spPr>
          <a:xfrm>
            <a:off x="5129784" y="4023360"/>
            <a:ext cx="91" cy="54864"/>
          </a:xfrm>
          <a:prstGeom prst="line">
            <a:avLst/>
          </a:prstGeom>
          <a:noFill/>
          <a:ln w="12700">
            <a:solidFill>
              <a:srgbClr val="2A1F3D"/>
            </a:solidFill>
            <a:prstDash val="solid"/>
          </a:ln>
        </p:spPr>
      </p:sp>
      <p:sp>
        <p:nvSpPr>
          <p:cNvPr id="52" name="Text 50"/>
          <p:cNvSpPr/>
          <p:nvPr/>
        </p:nvSpPr>
        <p:spPr>
          <a:xfrm>
            <a:off x="4855464"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53" name="Shape 51"/>
          <p:cNvSpPr/>
          <p:nvPr/>
        </p:nvSpPr>
        <p:spPr>
          <a:xfrm>
            <a:off x="6080760" y="4023360"/>
            <a:ext cx="91" cy="54864"/>
          </a:xfrm>
          <a:prstGeom prst="line">
            <a:avLst/>
          </a:prstGeom>
          <a:noFill/>
          <a:ln w="12700">
            <a:solidFill>
              <a:srgbClr val="2A1F3D"/>
            </a:solidFill>
            <a:prstDash val="solid"/>
          </a:ln>
        </p:spPr>
      </p:sp>
      <p:sp>
        <p:nvSpPr>
          <p:cNvPr id="54" name="Text 52"/>
          <p:cNvSpPr/>
          <p:nvPr/>
        </p:nvSpPr>
        <p:spPr>
          <a:xfrm>
            <a:off x="580644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55" name="Shape 53"/>
          <p:cNvSpPr/>
          <p:nvPr/>
        </p:nvSpPr>
        <p:spPr>
          <a:xfrm>
            <a:off x="1271016" y="4023360"/>
            <a:ext cx="54864" cy="91"/>
          </a:xfrm>
          <a:prstGeom prst="line">
            <a:avLst/>
          </a:prstGeom>
          <a:noFill/>
          <a:ln w="12700">
            <a:solidFill>
              <a:srgbClr val="2A1F3D"/>
            </a:solidFill>
            <a:prstDash val="solid"/>
          </a:ln>
        </p:spPr>
      </p:sp>
      <p:sp>
        <p:nvSpPr>
          <p:cNvPr id="56" name="Text 54"/>
          <p:cNvSpPr/>
          <p:nvPr/>
        </p:nvSpPr>
        <p:spPr>
          <a:xfrm>
            <a:off x="886968" y="39319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7" name="Shape 55"/>
          <p:cNvSpPr/>
          <p:nvPr/>
        </p:nvSpPr>
        <p:spPr>
          <a:xfrm>
            <a:off x="1271016" y="3697605"/>
            <a:ext cx="54864" cy="91"/>
          </a:xfrm>
          <a:prstGeom prst="line">
            <a:avLst/>
          </a:prstGeom>
          <a:noFill/>
          <a:ln w="12700">
            <a:solidFill>
              <a:srgbClr val="2A1F3D"/>
            </a:solidFill>
            <a:prstDash val="solid"/>
          </a:ln>
        </p:spPr>
      </p:sp>
      <p:sp>
        <p:nvSpPr>
          <p:cNvPr id="58" name="Text 56"/>
          <p:cNvSpPr/>
          <p:nvPr/>
        </p:nvSpPr>
        <p:spPr>
          <a:xfrm>
            <a:off x="886968" y="3606165"/>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9" name="Shape 57"/>
          <p:cNvSpPr/>
          <p:nvPr/>
        </p:nvSpPr>
        <p:spPr>
          <a:xfrm>
            <a:off x="1271016" y="3371850"/>
            <a:ext cx="54864" cy="91"/>
          </a:xfrm>
          <a:prstGeom prst="line">
            <a:avLst/>
          </a:prstGeom>
          <a:noFill/>
          <a:ln w="12700">
            <a:solidFill>
              <a:srgbClr val="2A1F3D"/>
            </a:solidFill>
            <a:prstDash val="solid"/>
          </a:ln>
        </p:spPr>
      </p:sp>
      <p:sp>
        <p:nvSpPr>
          <p:cNvPr id="60" name="Text 58"/>
          <p:cNvSpPr/>
          <p:nvPr/>
        </p:nvSpPr>
        <p:spPr>
          <a:xfrm>
            <a:off x="886968" y="328041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61" name="Shape 59"/>
          <p:cNvSpPr/>
          <p:nvPr/>
        </p:nvSpPr>
        <p:spPr>
          <a:xfrm>
            <a:off x="1271016" y="3046095"/>
            <a:ext cx="54864" cy="91"/>
          </a:xfrm>
          <a:prstGeom prst="line">
            <a:avLst/>
          </a:prstGeom>
          <a:noFill/>
          <a:ln w="12700">
            <a:solidFill>
              <a:srgbClr val="2A1F3D"/>
            </a:solidFill>
            <a:prstDash val="solid"/>
          </a:ln>
        </p:spPr>
      </p:sp>
      <p:sp>
        <p:nvSpPr>
          <p:cNvPr id="62" name="Text 60"/>
          <p:cNvSpPr/>
          <p:nvPr/>
        </p:nvSpPr>
        <p:spPr>
          <a:xfrm>
            <a:off x="886968" y="2954655"/>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63" name="Shape 61"/>
          <p:cNvSpPr/>
          <p:nvPr/>
        </p:nvSpPr>
        <p:spPr>
          <a:xfrm>
            <a:off x="1271016" y="2720340"/>
            <a:ext cx="54864" cy="91"/>
          </a:xfrm>
          <a:prstGeom prst="line">
            <a:avLst/>
          </a:prstGeom>
          <a:noFill/>
          <a:ln w="12700">
            <a:solidFill>
              <a:srgbClr val="2A1F3D"/>
            </a:solidFill>
            <a:prstDash val="solid"/>
          </a:ln>
        </p:spPr>
      </p:sp>
      <p:sp>
        <p:nvSpPr>
          <p:cNvPr id="64" name="Text 62"/>
          <p:cNvSpPr/>
          <p:nvPr/>
        </p:nvSpPr>
        <p:spPr>
          <a:xfrm>
            <a:off x="886968" y="26289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65" name="Shape 63"/>
          <p:cNvSpPr/>
          <p:nvPr/>
        </p:nvSpPr>
        <p:spPr>
          <a:xfrm>
            <a:off x="1271016" y="2394585"/>
            <a:ext cx="54864" cy="91"/>
          </a:xfrm>
          <a:prstGeom prst="line">
            <a:avLst/>
          </a:prstGeom>
          <a:noFill/>
          <a:ln w="12700">
            <a:solidFill>
              <a:srgbClr val="2A1F3D"/>
            </a:solidFill>
            <a:prstDash val="solid"/>
          </a:ln>
        </p:spPr>
      </p:sp>
      <p:sp>
        <p:nvSpPr>
          <p:cNvPr id="66" name="Text 64"/>
          <p:cNvSpPr/>
          <p:nvPr/>
        </p:nvSpPr>
        <p:spPr>
          <a:xfrm>
            <a:off x="886968" y="2303145"/>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67" name="Shape 65"/>
          <p:cNvSpPr/>
          <p:nvPr/>
        </p:nvSpPr>
        <p:spPr>
          <a:xfrm>
            <a:off x="1271016" y="2068830"/>
            <a:ext cx="54864" cy="91"/>
          </a:xfrm>
          <a:prstGeom prst="line">
            <a:avLst/>
          </a:prstGeom>
          <a:noFill/>
          <a:ln w="12700">
            <a:solidFill>
              <a:srgbClr val="2A1F3D"/>
            </a:solidFill>
            <a:prstDash val="solid"/>
          </a:ln>
        </p:spPr>
      </p:sp>
      <p:sp>
        <p:nvSpPr>
          <p:cNvPr id="68" name="Text 66"/>
          <p:cNvSpPr/>
          <p:nvPr/>
        </p:nvSpPr>
        <p:spPr>
          <a:xfrm>
            <a:off x="886968" y="197739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69" name="Shape 67"/>
          <p:cNvSpPr/>
          <p:nvPr/>
        </p:nvSpPr>
        <p:spPr>
          <a:xfrm>
            <a:off x="1271016" y="1743075"/>
            <a:ext cx="54864" cy="91"/>
          </a:xfrm>
          <a:prstGeom prst="line">
            <a:avLst/>
          </a:prstGeom>
          <a:noFill/>
          <a:ln w="12700">
            <a:solidFill>
              <a:srgbClr val="2A1F3D"/>
            </a:solidFill>
            <a:prstDash val="solid"/>
          </a:ln>
        </p:spPr>
      </p:sp>
      <p:sp>
        <p:nvSpPr>
          <p:cNvPr id="70" name="Text 68"/>
          <p:cNvSpPr/>
          <p:nvPr/>
        </p:nvSpPr>
        <p:spPr>
          <a:xfrm>
            <a:off x="886968" y="1651635"/>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70</a:t>
            </a:r>
            <a:endParaRPr lang="en-US" sz="1000" dirty="0"/>
          </a:p>
        </p:txBody>
      </p:sp>
      <p:sp>
        <p:nvSpPr>
          <p:cNvPr id="71" name="Shape 69"/>
          <p:cNvSpPr/>
          <p:nvPr/>
        </p:nvSpPr>
        <p:spPr>
          <a:xfrm>
            <a:off x="1271016" y="1417320"/>
            <a:ext cx="54864" cy="91"/>
          </a:xfrm>
          <a:prstGeom prst="line">
            <a:avLst/>
          </a:prstGeom>
          <a:noFill/>
          <a:ln w="12700">
            <a:solidFill>
              <a:srgbClr val="2A1F3D"/>
            </a:solidFill>
            <a:prstDash val="solid"/>
          </a:ln>
        </p:spPr>
      </p:sp>
      <p:sp>
        <p:nvSpPr>
          <p:cNvPr id="72" name="Text 70"/>
          <p:cNvSpPr/>
          <p:nvPr/>
        </p:nvSpPr>
        <p:spPr>
          <a:xfrm>
            <a:off x="8869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73" name="Text 71"/>
          <p:cNvSpPr/>
          <p:nvPr/>
        </p:nvSpPr>
        <p:spPr>
          <a:xfrm>
            <a:off x="1325880" y="4270248"/>
            <a:ext cx="47548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Temperature / °C</a:t>
            </a:r>
            <a:endParaRPr lang="en-US" sz="1050" dirty="0"/>
          </a:p>
        </p:txBody>
      </p:sp>
      <p:sp>
        <p:nvSpPr>
          <p:cNvPr id="74" name="Text 72"/>
          <p:cNvSpPr/>
          <p:nvPr/>
        </p:nvSpPr>
        <p:spPr>
          <a:xfrm rot="16200000">
            <a:off x="-544068" y="2592324"/>
            <a:ext cx="26060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Solubility / g per 100 g water</a:t>
            </a:r>
            <a:endParaRPr lang="en-US" sz="1050" dirty="0"/>
          </a:p>
        </p:txBody>
      </p:sp>
      <p:sp>
        <p:nvSpPr>
          <p:cNvPr id="75" name="Shape 73"/>
          <p:cNvSpPr/>
          <p:nvPr/>
        </p:nvSpPr>
        <p:spPr>
          <a:xfrm flipV="1">
            <a:off x="1325880" y="3536682"/>
            <a:ext cx="95098" cy="20848"/>
          </a:xfrm>
          <a:prstGeom prst="line">
            <a:avLst/>
          </a:prstGeom>
          <a:noFill/>
          <a:ln w="28575">
            <a:solidFill>
              <a:srgbClr val="2F6FA8"/>
            </a:solidFill>
            <a:prstDash val="solid"/>
          </a:ln>
        </p:spPr>
      </p:sp>
      <p:sp>
        <p:nvSpPr>
          <p:cNvPr id="76" name="Shape 74"/>
          <p:cNvSpPr/>
          <p:nvPr/>
        </p:nvSpPr>
        <p:spPr>
          <a:xfrm flipV="1">
            <a:off x="1420978" y="3515834"/>
            <a:ext cx="95098" cy="20848"/>
          </a:xfrm>
          <a:prstGeom prst="line">
            <a:avLst/>
          </a:prstGeom>
          <a:noFill/>
          <a:ln w="28575">
            <a:solidFill>
              <a:srgbClr val="2F6FA8"/>
            </a:solidFill>
            <a:prstDash val="solid"/>
          </a:ln>
        </p:spPr>
      </p:sp>
      <p:sp>
        <p:nvSpPr>
          <p:cNvPr id="77" name="Shape 75"/>
          <p:cNvSpPr/>
          <p:nvPr/>
        </p:nvSpPr>
        <p:spPr>
          <a:xfrm flipV="1">
            <a:off x="1516075" y="3494985"/>
            <a:ext cx="95098" cy="20848"/>
          </a:xfrm>
          <a:prstGeom prst="line">
            <a:avLst/>
          </a:prstGeom>
          <a:noFill/>
          <a:ln w="28575">
            <a:solidFill>
              <a:srgbClr val="2F6FA8"/>
            </a:solidFill>
            <a:prstDash val="solid"/>
          </a:ln>
        </p:spPr>
      </p:sp>
      <p:sp>
        <p:nvSpPr>
          <p:cNvPr id="78" name="Shape 76"/>
          <p:cNvSpPr/>
          <p:nvPr/>
        </p:nvSpPr>
        <p:spPr>
          <a:xfrm flipV="1">
            <a:off x="1611173" y="3474137"/>
            <a:ext cx="95098" cy="20848"/>
          </a:xfrm>
          <a:prstGeom prst="line">
            <a:avLst/>
          </a:prstGeom>
          <a:noFill/>
          <a:ln w="28575">
            <a:solidFill>
              <a:srgbClr val="2F6FA8"/>
            </a:solidFill>
            <a:prstDash val="solid"/>
          </a:ln>
        </p:spPr>
      </p:sp>
      <p:sp>
        <p:nvSpPr>
          <p:cNvPr id="79" name="Shape 77"/>
          <p:cNvSpPr/>
          <p:nvPr/>
        </p:nvSpPr>
        <p:spPr>
          <a:xfrm flipV="1">
            <a:off x="1706270" y="3453289"/>
            <a:ext cx="95098" cy="20848"/>
          </a:xfrm>
          <a:prstGeom prst="line">
            <a:avLst/>
          </a:prstGeom>
          <a:noFill/>
          <a:ln w="28575">
            <a:solidFill>
              <a:srgbClr val="2F6FA8"/>
            </a:solidFill>
            <a:prstDash val="solid"/>
          </a:ln>
        </p:spPr>
      </p:sp>
      <p:sp>
        <p:nvSpPr>
          <p:cNvPr id="80" name="Shape 78"/>
          <p:cNvSpPr/>
          <p:nvPr/>
        </p:nvSpPr>
        <p:spPr>
          <a:xfrm flipV="1">
            <a:off x="1801368" y="3432440"/>
            <a:ext cx="95098" cy="20848"/>
          </a:xfrm>
          <a:prstGeom prst="line">
            <a:avLst/>
          </a:prstGeom>
          <a:noFill/>
          <a:ln w="28575">
            <a:solidFill>
              <a:srgbClr val="2F6FA8"/>
            </a:solidFill>
            <a:prstDash val="solid"/>
          </a:ln>
        </p:spPr>
      </p:sp>
      <p:sp>
        <p:nvSpPr>
          <p:cNvPr id="81" name="Shape 79"/>
          <p:cNvSpPr/>
          <p:nvPr/>
        </p:nvSpPr>
        <p:spPr>
          <a:xfrm flipV="1">
            <a:off x="1896466" y="3411592"/>
            <a:ext cx="95098" cy="20848"/>
          </a:xfrm>
          <a:prstGeom prst="line">
            <a:avLst/>
          </a:prstGeom>
          <a:noFill/>
          <a:ln w="28575">
            <a:solidFill>
              <a:srgbClr val="2F6FA8"/>
            </a:solidFill>
            <a:prstDash val="solid"/>
          </a:ln>
        </p:spPr>
      </p:sp>
      <p:sp>
        <p:nvSpPr>
          <p:cNvPr id="82" name="Shape 80"/>
          <p:cNvSpPr/>
          <p:nvPr/>
        </p:nvSpPr>
        <p:spPr>
          <a:xfrm flipV="1">
            <a:off x="1991563" y="3390744"/>
            <a:ext cx="95098" cy="20848"/>
          </a:xfrm>
          <a:prstGeom prst="line">
            <a:avLst/>
          </a:prstGeom>
          <a:noFill/>
          <a:ln w="28575">
            <a:solidFill>
              <a:srgbClr val="2F6FA8"/>
            </a:solidFill>
            <a:prstDash val="solid"/>
          </a:ln>
        </p:spPr>
      </p:sp>
      <p:sp>
        <p:nvSpPr>
          <p:cNvPr id="83" name="Shape 81"/>
          <p:cNvSpPr/>
          <p:nvPr/>
        </p:nvSpPr>
        <p:spPr>
          <a:xfrm flipV="1">
            <a:off x="2086661" y="3369895"/>
            <a:ext cx="95098" cy="20848"/>
          </a:xfrm>
          <a:prstGeom prst="line">
            <a:avLst/>
          </a:prstGeom>
          <a:noFill/>
          <a:ln w="28575">
            <a:solidFill>
              <a:srgbClr val="2F6FA8"/>
            </a:solidFill>
            <a:prstDash val="solid"/>
          </a:ln>
        </p:spPr>
      </p:sp>
      <p:sp>
        <p:nvSpPr>
          <p:cNvPr id="84" name="Shape 82"/>
          <p:cNvSpPr/>
          <p:nvPr/>
        </p:nvSpPr>
        <p:spPr>
          <a:xfrm flipV="1">
            <a:off x="2181758" y="3349047"/>
            <a:ext cx="95098" cy="20848"/>
          </a:xfrm>
          <a:prstGeom prst="line">
            <a:avLst/>
          </a:prstGeom>
          <a:noFill/>
          <a:ln w="28575">
            <a:solidFill>
              <a:srgbClr val="2F6FA8"/>
            </a:solidFill>
            <a:prstDash val="solid"/>
          </a:ln>
        </p:spPr>
      </p:sp>
      <p:sp>
        <p:nvSpPr>
          <p:cNvPr id="85" name="Shape 83"/>
          <p:cNvSpPr/>
          <p:nvPr/>
        </p:nvSpPr>
        <p:spPr>
          <a:xfrm flipV="1">
            <a:off x="2276856" y="3323638"/>
            <a:ext cx="95098" cy="25409"/>
          </a:xfrm>
          <a:prstGeom prst="line">
            <a:avLst/>
          </a:prstGeom>
          <a:noFill/>
          <a:ln w="28575">
            <a:solidFill>
              <a:srgbClr val="2F6FA8"/>
            </a:solidFill>
            <a:prstDash val="solid"/>
          </a:ln>
        </p:spPr>
      </p:sp>
      <p:sp>
        <p:nvSpPr>
          <p:cNvPr id="86" name="Shape 84"/>
          <p:cNvSpPr/>
          <p:nvPr/>
        </p:nvSpPr>
        <p:spPr>
          <a:xfrm flipV="1">
            <a:off x="2371954" y="3298229"/>
            <a:ext cx="95098" cy="25409"/>
          </a:xfrm>
          <a:prstGeom prst="line">
            <a:avLst/>
          </a:prstGeom>
          <a:noFill/>
          <a:ln w="28575">
            <a:solidFill>
              <a:srgbClr val="2F6FA8"/>
            </a:solidFill>
            <a:prstDash val="solid"/>
          </a:ln>
        </p:spPr>
      </p:sp>
      <p:sp>
        <p:nvSpPr>
          <p:cNvPr id="87" name="Shape 85"/>
          <p:cNvSpPr/>
          <p:nvPr/>
        </p:nvSpPr>
        <p:spPr>
          <a:xfrm flipV="1">
            <a:off x="2467051" y="3272820"/>
            <a:ext cx="95098" cy="25409"/>
          </a:xfrm>
          <a:prstGeom prst="line">
            <a:avLst/>
          </a:prstGeom>
          <a:noFill/>
          <a:ln w="28575">
            <a:solidFill>
              <a:srgbClr val="2F6FA8"/>
            </a:solidFill>
            <a:prstDash val="solid"/>
          </a:ln>
        </p:spPr>
      </p:sp>
      <p:sp>
        <p:nvSpPr>
          <p:cNvPr id="88" name="Shape 86"/>
          <p:cNvSpPr/>
          <p:nvPr/>
        </p:nvSpPr>
        <p:spPr>
          <a:xfrm flipV="1">
            <a:off x="2562149" y="3247412"/>
            <a:ext cx="95098" cy="25409"/>
          </a:xfrm>
          <a:prstGeom prst="line">
            <a:avLst/>
          </a:prstGeom>
          <a:noFill/>
          <a:ln w="28575">
            <a:solidFill>
              <a:srgbClr val="2F6FA8"/>
            </a:solidFill>
            <a:prstDash val="solid"/>
          </a:ln>
        </p:spPr>
      </p:sp>
      <p:sp>
        <p:nvSpPr>
          <p:cNvPr id="89" name="Shape 87"/>
          <p:cNvSpPr/>
          <p:nvPr/>
        </p:nvSpPr>
        <p:spPr>
          <a:xfrm flipV="1">
            <a:off x="2657246" y="3222003"/>
            <a:ext cx="95098" cy="25409"/>
          </a:xfrm>
          <a:prstGeom prst="line">
            <a:avLst/>
          </a:prstGeom>
          <a:noFill/>
          <a:ln w="28575">
            <a:solidFill>
              <a:srgbClr val="2F6FA8"/>
            </a:solidFill>
            <a:prstDash val="solid"/>
          </a:ln>
        </p:spPr>
      </p:sp>
      <p:sp>
        <p:nvSpPr>
          <p:cNvPr id="90" name="Shape 88"/>
          <p:cNvSpPr/>
          <p:nvPr/>
        </p:nvSpPr>
        <p:spPr>
          <a:xfrm flipV="1">
            <a:off x="2752344" y="3196594"/>
            <a:ext cx="95098" cy="25409"/>
          </a:xfrm>
          <a:prstGeom prst="line">
            <a:avLst/>
          </a:prstGeom>
          <a:noFill/>
          <a:ln w="28575">
            <a:solidFill>
              <a:srgbClr val="2F6FA8"/>
            </a:solidFill>
            <a:prstDash val="solid"/>
          </a:ln>
        </p:spPr>
      </p:sp>
      <p:sp>
        <p:nvSpPr>
          <p:cNvPr id="91" name="Shape 89"/>
          <p:cNvSpPr/>
          <p:nvPr/>
        </p:nvSpPr>
        <p:spPr>
          <a:xfrm flipV="1">
            <a:off x="2847442" y="3171185"/>
            <a:ext cx="95098" cy="25409"/>
          </a:xfrm>
          <a:prstGeom prst="line">
            <a:avLst/>
          </a:prstGeom>
          <a:noFill/>
          <a:ln w="28575">
            <a:solidFill>
              <a:srgbClr val="2F6FA8"/>
            </a:solidFill>
            <a:prstDash val="solid"/>
          </a:ln>
        </p:spPr>
      </p:sp>
      <p:sp>
        <p:nvSpPr>
          <p:cNvPr id="92" name="Shape 90"/>
          <p:cNvSpPr/>
          <p:nvPr/>
        </p:nvSpPr>
        <p:spPr>
          <a:xfrm flipV="1">
            <a:off x="2942539" y="3145776"/>
            <a:ext cx="95098" cy="25409"/>
          </a:xfrm>
          <a:prstGeom prst="line">
            <a:avLst/>
          </a:prstGeom>
          <a:noFill/>
          <a:ln w="28575">
            <a:solidFill>
              <a:srgbClr val="2F6FA8"/>
            </a:solidFill>
            <a:prstDash val="solid"/>
          </a:ln>
        </p:spPr>
      </p:sp>
      <p:sp>
        <p:nvSpPr>
          <p:cNvPr id="93" name="Shape 91"/>
          <p:cNvSpPr/>
          <p:nvPr/>
        </p:nvSpPr>
        <p:spPr>
          <a:xfrm flipV="1">
            <a:off x="3037637" y="3120367"/>
            <a:ext cx="95098" cy="25409"/>
          </a:xfrm>
          <a:prstGeom prst="line">
            <a:avLst/>
          </a:prstGeom>
          <a:noFill/>
          <a:ln w="28575">
            <a:solidFill>
              <a:srgbClr val="2F6FA8"/>
            </a:solidFill>
            <a:prstDash val="solid"/>
          </a:ln>
        </p:spPr>
      </p:sp>
      <p:sp>
        <p:nvSpPr>
          <p:cNvPr id="94" name="Shape 92"/>
          <p:cNvSpPr/>
          <p:nvPr/>
        </p:nvSpPr>
        <p:spPr>
          <a:xfrm flipV="1">
            <a:off x="3132734" y="3094958"/>
            <a:ext cx="95098" cy="25409"/>
          </a:xfrm>
          <a:prstGeom prst="line">
            <a:avLst/>
          </a:prstGeom>
          <a:noFill/>
          <a:ln w="28575">
            <a:solidFill>
              <a:srgbClr val="2F6FA8"/>
            </a:solidFill>
            <a:prstDash val="solid"/>
          </a:ln>
        </p:spPr>
      </p:sp>
      <p:sp>
        <p:nvSpPr>
          <p:cNvPr id="95" name="Shape 93"/>
          <p:cNvSpPr/>
          <p:nvPr/>
        </p:nvSpPr>
        <p:spPr>
          <a:xfrm flipV="1">
            <a:off x="3227832" y="3057496"/>
            <a:ext cx="95098" cy="37462"/>
          </a:xfrm>
          <a:prstGeom prst="line">
            <a:avLst/>
          </a:prstGeom>
          <a:noFill/>
          <a:ln w="28575">
            <a:solidFill>
              <a:srgbClr val="2F6FA8"/>
            </a:solidFill>
            <a:prstDash val="solid"/>
          </a:ln>
        </p:spPr>
      </p:sp>
      <p:sp>
        <p:nvSpPr>
          <p:cNvPr id="96" name="Shape 94"/>
          <p:cNvSpPr/>
          <p:nvPr/>
        </p:nvSpPr>
        <p:spPr>
          <a:xfrm flipV="1">
            <a:off x="3322930" y="3020035"/>
            <a:ext cx="95098" cy="37462"/>
          </a:xfrm>
          <a:prstGeom prst="line">
            <a:avLst/>
          </a:prstGeom>
          <a:noFill/>
          <a:ln w="28575">
            <a:solidFill>
              <a:srgbClr val="2F6FA8"/>
            </a:solidFill>
            <a:prstDash val="solid"/>
          </a:ln>
        </p:spPr>
      </p:sp>
      <p:sp>
        <p:nvSpPr>
          <p:cNvPr id="97" name="Shape 95"/>
          <p:cNvSpPr/>
          <p:nvPr/>
        </p:nvSpPr>
        <p:spPr>
          <a:xfrm flipV="1">
            <a:off x="3418027" y="2982573"/>
            <a:ext cx="95098" cy="37462"/>
          </a:xfrm>
          <a:prstGeom prst="line">
            <a:avLst/>
          </a:prstGeom>
          <a:noFill/>
          <a:ln w="28575">
            <a:solidFill>
              <a:srgbClr val="2F6FA8"/>
            </a:solidFill>
            <a:prstDash val="solid"/>
          </a:ln>
        </p:spPr>
      </p:sp>
      <p:sp>
        <p:nvSpPr>
          <p:cNvPr id="98" name="Shape 96"/>
          <p:cNvSpPr/>
          <p:nvPr/>
        </p:nvSpPr>
        <p:spPr>
          <a:xfrm flipV="1">
            <a:off x="3513125" y="2945111"/>
            <a:ext cx="95098" cy="37462"/>
          </a:xfrm>
          <a:prstGeom prst="line">
            <a:avLst/>
          </a:prstGeom>
          <a:noFill/>
          <a:ln w="28575">
            <a:solidFill>
              <a:srgbClr val="2F6FA8"/>
            </a:solidFill>
            <a:prstDash val="solid"/>
          </a:ln>
        </p:spPr>
      </p:sp>
      <p:sp>
        <p:nvSpPr>
          <p:cNvPr id="99" name="Shape 97"/>
          <p:cNvSpPr/>
          <p:nvPr/>
        </p:nvSpPr>
        <p:spPr>
          <a:xfrm flipV="1">
            <a:off x="3608222" y="2907649"/>
            <a:ext cx="95098" cy="37462"/>
          </a:xfrm>
          <a:prstGeom prst="line">
            <a:avLst/>
          </a:prstGeom>
          <a:noFill/>
          <a:ln w="28575">
            <a:solidFill>
              <a:srgbClr val="2F6FA8"/>
            </a:solidFill>
            <a:prstDash val="solid"/>
          </a:ln>
        </p:spPr>
      </p:sp>
      <p:sp>
        <p:nvSpPr>
          <p:cNvPr id="100" name="Shape 98"/>
          <p:cNvSpPr/>
          <p:nvPr/>
        </p:nvSpPr>
        <p:spPr>
          <a:xfrm flipV="1">
            <a:off x="3703320" y="2870187"/>
            <a:ext cx="95098" cy="37462"/>
          </a:xfrm>
          <a:prstGeom prst="line">
            <a:avLst/>
          </a:prstGeom>
          <a:noFill/>
          <a:ln w="28575">
            <a:solidFill>
              <a:srgbClr val="2F6FA8"/>
            </a:solidFill>
            <a:prstDash val="solid"/>
          </a:ln>
        </p:spPr>
      </p:sp>
      <p:sp>
        <p:nvSpPr>
          <p:cNvPr id="101" name="Shape 99"/>
          <p:cNvSpPr/>
          <p:nvPr/>
        </p:nvSpPr>
        <p:spPr>
          <a:xfrm flipV="1">
            <a:off x="3798418" y="2832725"/>
            <a:ext cx="95098" cy="37462"/>
          </a:xfrm>
          <a:prstGeom prst="line">
            <a:avLst/>
          </a:prstGeom>
          <a:noFill/>
          <a:ln w="28575">
            <a:solidFill>
              <a:srgbClr val="2F6FA8"/>
            </a:solidFill>
            <a:prstDash val="solid"/>
          </a:ln>
        </p:spPr>
      </p:sp>
      <p:sp>
        <p:nvSpPr>
          <p:cNvPr id="102" name="Shape 100"/>
          <p:cNvSpPr/>
          <p:nvPr/>
        </p:nvSpPr>
        <p:spPr>
          <a:xfrm flipV="1">
            <a:off x="3893515" y="2795264"/>
            <a:ext cx="95098" cy="37462"/>
          </a:xfrm>
          <a:prstGeom prst="line">
            <a:avLst/>
          </a:prstGeom>
          <a:noFill/>
          <a:ln w="28575">
            <a:solidFill>
              <a:srgbClr val="2F6FA8"/>
            </a:solidFill>
            <a:prstDash val="solid"/>
          </a:ln>
        </p:spPr>
      </p:sp>
      <p:sp>
        <p:nvSpPr>
          <p:cNvPr id="103" name="Shape 101"/>
          <p:cNvSpPr/>
          <p:nvPr/>
        </p:nvSpPr>
        <p:spPr>
          <a:xfrm flipV="1">
            <a:off x="3988613" y="2757802"/>
            <a:ext cx="95098" cy="37462"/>
          </a:xfrm>
          <a:prstGeom prst="line">
            <a:avLst/>
          </a:prstGeom>
          <a:noFill/>
          <a:ln w="28575">
            <a:solidFill>
              <a:srgbClr val="2F6FA8"/>
            </a:solidFill>
            <a:prstDash val="solid"/>
          </a:ln>
        </p:spPr>
      </p:sp>
      <p:sp>
        <p:nvSpPr>
          <p:cNvPr id="104" name="Shape 102"/>
          <p:cNvSpPr/>
          <p:nvPr/>
        </p:nvSpPr>
        <p:spPr>
          <a:xfrm flipV="1">
            <a:off x="4083710" y="2720340"/>
            <a:ext cx="95098" cy="37462"/>
          </a:xfrm>
          <a:prstGeom prst="line">
            <a:avLst/>
          </a:prstGeom>
          <a:noFill/>
          <a:ln w="28575">
            <a:solidFill>
              <a:srgbClr val="2F6FA8"/>
            </a:solidFill>
            <a:prstDash val="solid"/>
          </a:ln>
        </p:spPr>
      </p:sp>
      <p:sp>
        <p:nvSpPr>
          <p:cNvPr id="105" name="Shape 103"/>
          <p:cNvSpPr/>
          <p:nvPr/>
        </p:nvSpPr>
        <p:spPr>
          <a:xfrm flipV="1">
            <a:off x="4178808" y="2671477"/>
            <a:ext cx="95098" cy="48863"/>
          </a:xfrm>
          <a:prstGeom prst="line">
            <a:avLst/>
          </a:prstGeom>
          <a:noFill/>
          <a:ln w="28575">
            <a:solidFill>
              <a:srgbClr val="2F6FA8"/>
            </a:solidFill>
            <a:prstDash val="solid"/>
          </a:ln>
        </p:spPr>
      </p:sp>
      <p:sp>
        <p:nvSpPr>
          <p:cNvPr id="106" name="Shape 104"/>
          <p:cNvSpPr/>
          <p:nvPr/>
        </p:nvSpPr>
        <p:spPr>
          <a:xfrm flipV="1">
            <a:off x="4273906" y="2622614"/>
            <a:ext cx="95098" cy="48863"/>
          </a:xfrm>
          <a:prstGeom prst="line">
            <a:avLst/>
          </a:prstGeom>
          <a:noFill/>
          <a:ln w="28575">
            <a:solidFill>
              <a:srgbClr val="2F6FA8"/>
            </a:solidFill>
            <a:prstDash val="solid"/>
          </a:ln>
        </p:spPr>
      </p:sp>
      <p:sp>
        <p:nvSpPr>
          <p:cNvPr id="107" name="Shape 105"/>
          <p:cNvSpPr/>
          <p:nvPr/>
        </p:nvSpPr>
        <p:spPr>
          <a:xfrm flipV="1">
            <a:off x="4369003" y="2573750"/>
            <a:ext cx="95098" cy="48863"/>
          </a:xfrm>
          <a:prstGeom prst="line">
            <a:avLst/>
          </a:prstGeom>
          <a:noFill/>
          <a:ln w="28575">
            <a:solidFill>
              <a:srgbClr val="2F6FA8"/>
            </a:solidFill>
            <a:prstDash val="solid"/>
          </a:ln>
        </p:spPr>
      </p:sp>
      <p:sp>
        <p:nvSpPr>
          <p:cNvPr id="108" name="Shape 106"/>
          <p:cNvSpPr/>
          <p:nvPr/>
        </p:nvSpPr>
        <p:spPr>
          <a:xfrm flipV="1">
            <a:off x="4464101" y="2524887"/>
            <a:ext cx="95098" cy="48863"/>
          </a:xfrm>
          <a:prstGeom prst="line">
            <a:avLst/>
          </a:prstGeom>
          <a:noFill/>
          <a:ln w="28575">
            <a:solidFill>
              <a:srgbClr val="2F6FA8"/>
            </a:solidFill>
            <a:prstDash val="solid"/>
          </a:ln>
        </p:spPr>
      </p:sp>
      <p:sp>
        <p:nvSpPr>
          <p:cNvPr id="109" name="Shape 107"/>
          <p:cNvSpPr/>
          <p:nvPr/>
        </p:nvSpPr>
        <p:spPr>
          <a:xfrm flipV="1">
            <a:off x="4559198" y="2476024"/>
            <a:ext cx="95098" cy="48863"/>
          </a:xfrm>
          <a:prstGeom prst="line">
            <a:avLst/>
          </a:prstGeom>
          <a:noFill/>
          <a:ln w="28575">
            <a:solidFill>
              <a:srgbClr val="2F6FA8"/>
            </a:solidFill>
            <a:prstDash val="solid"/>
          </a:ln>
        </p:spPr>
      </p:sp>
      <p:sp>
        <p:nvSpPr>
          <p:cNvPr id="110" name="Shape 108"/>
          <p:cNvSpPr/>
          <p:nvPr/>
        </p:nvSpPr>
        <p:spPr>
          <a:xfrm flipV="1">
            <a:off x="4654296" y="2427161"/>
            <a:ext cx="95098" cy="48863"/>
          </a:xfrm>
          <a:prstGeom prst="line">
            <a:avLst/>
          </a:prstGeom>
          <a:noFill/>
          <a:ln w="28575">
            <a:solidFill>
              <a:srgbClr val="2F6FA8"/>
            </a:solidFill>
            <a:prstDash val="solid"/>
          </a:ln>
        </p:spPr>
      </p:sp>
      <p:sp>
        <p:nvSpPr>
          <p:cNvPr id="111" name="Shape 109"/>
          <p:cNvSpPr/>
          <p:nvPr/>
        </p:nvSpPr>
        <p:spPr>
          <a:xfrm flipV="1">
            <a:off x="4749394" y="2378297"/>
            <a:ext cx="95098" cy="48863"/>
          </a:xfrm>
          <a:prstGeom prst="line">
            <a:avLst/>
          </a:prstGeom>
          <a:noFill/>
          <a:ln w="28575">
            <a:solidFill>
              <a:srgbClr val="2F6FA8"/>
            </a:solidFill>
            <a:prstDash val="solid"/>
          </a:ln>
        </p:spPr>
      </p:sp>
      <p:sp>
        <p:nvSpPr>
          <p:cNvPr id="112" name="Shape 110"/>
          <p:cNvSpPr/>
          <p:nvPr/>
        </p:nvSpPr>
        <p:spPr>
          <a:xfrm flipV="1">
            <a:off x="4844491" y="2329434"/>
            <a:ext cx="95098" cy="48863"/>
          </a:xfrm>
          <a:prstGeom prst="line">
            <a:avLst/>
          </a:prstGeom>
          <a:noFill/>
          <a:ln w="28575">
            <a:solidFill>
              <a:srgbClr val="2F6FA8"/>
            </a:solidFill>
            <a:prstDash val="solid"/>
          </a:ln>
        </p:spPr>
      </p:sp>
      <p:sp>
        <p:nvSpPr>
          <p:cNvPr id="113" name="Shape 111"/>
          <p:cNvSpPr/>
          <p:nvPr/>
        </p:nvSpPr>
        <p:spPr>
          <a:xfrm flipV="1">
            <a:off x="4939589" y="2280571"/>
            <a:ext cx="95098" cy="48863"/>
          </a:xfrm>
          <a:prstGeom prst="line">
            <a:avLst/>
          </a:prstGeom>
          <a:noFill/>
          <a:ln w="28575">
            <a:solidFill>
              <a:srgbClr val="2F6FA8"/>
            </a:solidFill>
            <a:prstDash val="solid"/>
          </a:ln>
        </p:spPr>
      </p:sp>
      <p:sp>
        <p:nvSpPr>
          <p:cNvPr id="114" name="Shape 112"/>
          <p:cNvSpPr/>
          <p:nvPr/>
        </p:nvSpPr>
        <p:spPr>
          <a:xfrm flipV="1">
            <a:off x="5034686" y="2231708"/>
            <a:ext cx="95098" cy="48863"/>
          </a:xfrm>
          <a:prstGeom prst="line">
            <a:avLst/>
          </a:prstGeom>
          <a:noFill/>
          <a:ln w="28575">
            <a:solidFill>
              <a:srgbClr val="2F6FA8"/>
            </a:solidFill>
            <a:prstDash val="solid"/>
          </a:ln>
        </p:spPr>
      </p:sp>
      <p:sp>
        <p:nvSpPr>
          <p:cNvPr id="115" name="Shape 113"/>
          <p:cNvSpPr/>
          <p:nvPr/>
        </p:nvSpPr>
        <p:spPr>
          <a:xfrm flipV="1">
            <a:off x="5129784" y="2165253"/>
            <a:ext cx="95098" cy="66454"/>
          </a:xfrm>
          <a:prstGeom prst="line">
            <a:avLst/>
          </a:prstGeom>
          <a:noFill/>
          <a:ln w="28575">
            <a:solidFill>
              <a:srgbClr val="2F6FA8"/>
            </a:solidFill>
            <a:prstDash val="solid"/>
          </a:ln>
        </p:spPr>
      </p:sp>
      <p:sp>
        <p:nvSpPr>
          <p:cNvPr id="116" name="Shape 114"/>
          <p:cNvSpPr/>
          <p:nvPr/>
        </p:nvSpPr>
        <p:spPr>
          <a:xfrm flipV="1">
            <a:off x="5224882" y="2098799"/>
            <a:ext cx="95098" cy="66454"/>
          </a:xfrm>
          <a:prstGeom prst="line">
            <a:avLst/>
          </a:prstGeom>
          <a:noFill/>
          <a:ln w="28575">
            <a:solidFill>
              <a:srgbClr val="2F6FA8"/>
            </a:solidFill>
            <a:prstDash val="solid"/>
          </a:ln>
        </p:spPr>
      </p:sp>
      <p:sp>
        <p:nvSpPr>
          <p:cNvPr id="117" name="Shape 115"/>
          <p:cNvSpPr/>
          <p:nvPr/>
        </p:nvSpPr>
        <p:spPr>
          <a:xfrm flipV="1">
            <a:off x="5319979" y="2032345"/>
            <a:ext cx="95098" cy="66454"/>
          </a:xfrm>
          <a:prstGeom prst="line">
            <a:avLst/>
          </a:prstGeom>
          <a:noFill/>
          <a:ln w="28575">
            <a:solidFill>
              <a:srgbClr val="2F6FA8"/>
            </a:solidFill>
            <a:prstDash val="solid"/>
          </a:ln>
        </p:spPr>
      </p:sp>
      <p:sp>
        <p:nvSpPr>
          <p:cNvPr id="118" name="Shape 116"/>
          <p:cNvSpPr/>
          <p:nvPr/>
        </p:nvSpPr>
        <p:spPr>
          <a:xfrm flipV="1">
            <a:off x="5415077" y="1965891"/>
            <a:ext cx="95098" cy="66454"/>
          </a:xfrm>
          <a:prstGeom prst="line">
            <a:avLst/>
          </a:prstGeom>
          <a:noFill/>
          <a:ln w="28575">
            <a:solidFill>
              <a:srgbClr val="2F6FA8"/>
            </a:solidFill>
            <a:prstDash val="solid"/>
          </a:ln>
        </p:spPr>
      </p:sp>
      <p:sp>
        <p:nvSpPr>
          <p:cNvPr id="119" name="Shape 117"/>
          <p:cNvSpPr/>
          <p:nvPr/>
        </p:nvSpPr>
        <p:spPr>
          <a:xfrm flipV="1">
            <a:off x="5510174" y="1899437"/>
            <a:ext cx="95098" cy="66454"/>
          </a:xfrm>
          <a:prstGeom prst="line">
            <a:avLst/>
          </a:prstGeom>
          <a:noFill/>
          <a:ln w="28575">
            <a:solidFill>
              <a:srgbClr val="2F6FA8"/>
            </a:solidFill>
            <a:prstDash val="solid"/>
          </a:ln>
        </p:spPr>
      </p:sp>
      <p:sp>
        <p:nvSpPr>
          <p:cNvPr id="120" name="Shape 118"/>
          <p:cNvSpPr/>
          <p:nvPr/>
        </p:nvSpPr>
        <p:spPr>
          <a:xfrm flipV="1">
            <a:off x="5605272" y="1832983"/>
            <a:ext cx="95098" cy="66454"/>
          </a:xfrm>
          <a:prstGeom prst="line">
            <a:avLst/>
          </a:prstGeom>
          <a:noFill/>
          <a:ln w="28575">
            <a:solidFill>
              <a:srgbClr val="2F6FA8"/>
            </a:solidFill>
            <a:prstDash val="solid"/>
          </a:ln>
        </p:spPr>
      </p:sp>
      <p:sp>
        <p:nvSpPr>
          <p:cNvPr id="121" name="Shape 119"/>
          <p:cNvSpPr/>
          <p:nvPr/>
        </p:nvSpPr>
        <p:spPr>
          <a:xfrm flipV="1">
            <a:off x="5700370" y="1766529"/>
            <a:ext cx="95098" cy="66454"/>
          </a:xfrm>
          <a:prstGeom prst="line">
            <a:avLst/>
          </a:prstGeom>
          <a:noFill/>
          <a:ln w="28575">
            <a:solidFill>
              <a:srgbClr val="2F6FA8"/>
            </a:solidFill>
            <a:prstDash val="solid"/>
          </a:ln>
        </p:spPr>
      </p:sp>
      <p:sp>
        <p:nvSpPr>
          <p:cNvPr id="122" name="Shape 120"/>
          <p:cNvSpPr/>
          <p:nvPr/>
        </p:nvSpPr>
        <p:spPr>
          <a:xfrm flipV="1">
            <a:off x="5795467" y="1700075"/>
            <a:ext cx="95098" cy="66454"/>
          </a:xfrm>
          <a:prstGeom prst="line">
            <a:avLst/>
          </a:prstGeom>
          <a:noFill/>
          <a:ln w="28575">
            <a:solidFill>
              <a:srgbClr val="2F6FA8"/>
            </a:solidFill>
            <a:prstDash val="solid"/>
          </a:ln>
        </p:spPr>
      </p:sp>
      <p:sp>
        <p:nvSpPr>
          <p:cNvPr id="123" name="Shape 121"/>
          <p:cNvSpPr/>
          <p:nvPr/>
        </p:nvSpPr>
        <p:spPr>
          <a:xfrm flipV="1">
            <a:off x="5890565" y="1633621"/>
            <a:ext cx="95098" cy="66454"/>
          </a:xfrm>
          <a:prstGeom prst="line">
            <a:avLst/>
          </a:prstGeom>
          <a:noFill/>
          <a:ln w="28575">
            <a:solidFill>
              <a:srgbClr val="2F6FA8"/>
            </a:solidFill>
            <a:prstDash val="solid"/>
          </a:ln>
        </p:spPr>
      </p:sp>
      <p:sp>
        <p:nvSpPr>
          <p:cNvPr id="124" name="Shape 122"/>
          <p:cNvSpPr/>
          <p:nvPr/>
        </p:nvSpPr>
        <p:spPr>
          <a:xfrm flipV="1">
            <a:off x="5985662" y="1567167"/>
            <a:ext cx="95098" cy="66454"/>
          </a:xfrm>
          <a:prstGeom prst="line">
            <a:avLst/>
          </a:prstGeom>
          <a:noFill/>
          <a:ln w="28575">
            <a:solidFill>
              <a:srgbClr val="2F6FA8"/>
            </a:solidFill>
            <a:prstDash val="solid"/>
          </a:ln>
        </p:spPr>
      </p:sp>
      <p:sp>
        <p:nvSpPr>
          <p:cNvPr id="125" name="Shape 123"/>
          <p:cNvSpPr/>
          <p:nvPr/>
        </p:nvSpPr>
        <p:spPr>
          <a:xfrm>
            <a:off x="1280160" y="3511810"/>
            <a:ext cx="91440" cy="91440"/>
          </a:xfrm>
          <a:prstGeom prst="line">
            <a:avLst/>
          </a:prstGeom>
          <a:noFill/>
          <a:ln w="15875">
            <a:solidFill>
              <a:srgbClr val="2A1F3D"/>
            </a:solidFill>
            <a:prstDash val="solid"/>
          </a:ln>
        </p:spPr>
      </p:sp>
      <p:sp>
        <p:nvSpPr>
          <p:cNvPr id="126" name="Shape 124"/>
          <p:cNvSpPr/>
          <p:nvPr/>
        </p:nvSpPr>
        <p:spPr>
          <a:xfrm flipV="1">
            <a:off x="1280160" y="3511810"/>
            <a:ext cx="91440" cy="91440"/>
          </a:xfrm>
          <a:prstGeom prst="line">
            <a:avLst/>
          </a:prstGeom>
          <a:noFill/>
          <a:ln w="15875">
            <a:solidFill>
              <a:srgbClr val="2A1F3D"/>
            </a:solidFill>
            <a:prstDash val="solid"/>
          </a:ln>
        </p:spPr>
      </p:sp>
      <p:sp>
        <p:nvSpPr>
          <p:cNvPr id="127" name="Shape 125"/>
          <p:cNvSpPr/>
          <p:nvPr/>
        </p:nvSpPr>
        <p:spPr>
          <a:xfrm>
            <a:off x="2231136" y="3303327"/>
            <a:ext cx="91440" cy="91440"/>
          </a:xfrm>
          <a:prstGeom prst="line">
            <a:avLst/>
          </a:prstGeom>
          <a:noFill/>
          <a:ln w="15875">
            <a:solidFill>
              <a:srgbClr val="2A1F3D"/>
            </a:solidFill>
            <a:prstDash val="solid"/>
          </a:ln>
        </p:spPr>
      </p:sp>
      <p:sp>
        <p:nvSpPr>
          <p:cNvPr id="128" name="Shape 126"/>
          <p:cNvSpPr/>
          <p:nvPr/>
        </p:nvSpPr>
        <p:spPr>
          <a:xfrm flipV="1">
            <a:off x="2231136" y="3303327"/>
            <a:ext cx="91440" cy="91440"/>
          </a:xfrm>
          <a:prstGeom prst="line">
            <a:avLst/>
          </a:prstGeom>
          <a:noFill/>
          <a:ln w="15875">
            <a:solidFill>
              <a:srgbClr val="2A1F3D"/>
            </a:solidFill>
            <a:prstDash val="solid"/>
          </a:ln>
        </p:spPr>
      </p:sp>
      <p:sp>
        <p:nvSpPr>
          <p:cNvPr id="129" name="Shape 127"/>
          <p:cNvSpPr/>
          <p:nvPr/>
        </p:nvSpPr>
        <p:spPr>
          <a:xfrm>
            <a:off x="3182112" y="3049238"/>
            <a:ext cx="91440" cy="91440"/>
          </a:xfrm>
          <a:prstGeom prst="line">
            <a:avLst/>
          </a:prstGeom>
          <a:noFill/>
          <a:ln w="15875">
            <a:solidFill>
              <a:srgbClr val="2A1F3D"/>
            </a:solidFill>
            <a:prstDash val="solid"/>
          </a:ln>
        </p:spPr>
      </p:sp>
      <p:sp>
        <p:nvSpPr>
          <p:cNvPr id="130" name="Shape 128"/>
          <p:cNvSpPr/>
          <p:nvPr/>
        </p:nvSpPr>
        <p:spPr>
          <a:xfrm flipV="1">
            <a:off x="3182112" y="3049238"/>
            <a:ext cx="91440" cy="91440"/>
          </a:xfrm>
          <a:prstGeom prst="line">
            <a:avLst/>
          </a:prstGeom>
          <a:noFill/>
          <a:ln w="15875">
            <a:solidFill>
              <a:srgbClr val="2A1F3D"/>
            </a:solidFill>
            <a:prstDash val="solid"/>
          </a:ln>
        </p:spPr>
      </p:sp>
      <p:sp>
        <p:nvSpPr>
          <p:cNvPr id="131" name="Shape 129"/>
          <p:cNvSpPr/>
          <p:nvPr/>
        </p:nvSpPr>
        <p:spPr>
          <a:xfrm>
            <a:off x="4133088" y="2674620"/>
            <a:ext cx="91440" cy="91440"/>
          </a:xfrm>
          <a:prstGeom prst="line">
            <a:avLst/>
          </a:prstGeom>
          <a:noFill/>
          <a:ln w="15875">
            <a:solidFill>
              <a:srgbClr val="2A1F3D"/>
            </a:solidFill>
            <a:prstDash val="solid"/>
          </a:ln>
        </p:spPr>
      </p:sp>
      <p:sp>
        <p:nvSpPr>
          <p:cNvPr id="132" name="Shape 130"/>
          <p:cNvSpPr/>
          <p:nvPr/>
        </p:nvSpPr>
        <p:spPr>
          <a:xfrm flipV="1">
            <a:off x="4133088" y="2674620"/>
            <a:ext cx="91440" cy="91440"/>
          </a:xfrm>
          <a:prstGeom prst="line">
            <a:avLst/>
          </a:prstGeom>
          <a:noFill/>
          <a:ln w="15875">
            <a:solidFill>
              <a:srgbClr val="2A1F3D"/>
            </a:solidFill>
            <a:prstDash val="solid"/>
          </a:ln>
        </p:spPr>
      </p:sp>
      <p:sp>
        <p:nvSpPr>
          <p:cNvPr id="133" name="Shape 131"/>
          <p:cNvSpPr/>
          <p:nvPr/>
        </p:nvSpPr>
        <p:spPr>
          <a:xfrm>
            <a:off x="5084064" y="2185988"/>
            <a:ext cx="91440" cy="91440"/>
          </a:xfrm>
          <a:prstGeom prst="line">
            <a:avLst/>
          </a:prstGeom>
          <a:noFill/>
          <a:ln w="15875">
            <a:solidFill>
              <a:srgbClr val="2A1F3D"/>
            </a:solidFill>
            <a:prstDash val="solid"/>
          </a:ln>
        </p:spPr>
      </p:sp>
      <p:sp>
        <p:nvSpPr>
          <p:cNvPr id="134" name="Shape 132"/>
          <p:cNvSpPr/>
          <p:nvPr/>
        </p:nvSpPr>
        <p:spPr>
          <a:xfrm flipV="1">
            <a:off x="5084064" y="2185988"/>
            <a:ext cx="91440" cy="91440"/>
          </a:xfrm>
          <a:prstGeom prst="line">
            <a:avLst/>
          </a:prstGeom>
          <a:noFill/>
          <a:ln w="15875">
            <a:solidFill>
              <a:srgbClr val="2A1F3D"/>
            </a:solidFill>
            <a:prstDash val="solid"/>
          </a:ln>
        </p:spPr>
      </p:sp>
      <p:sp>
        <p:nvSpPr>
          <p:cNvPr id="135" name="Shape 133"/>
          <p:cNvSpPr/>
          <p:nvPr/>
        </p:nvSpPr>
        <p:spPr>
          <a:xfrm>
            <a:off x="6035040" y="1521447"/>
            <a:ext cx="91440" cy="91440"/>
          </a:xfrm>
          <a:prstGeom prst="line">
            <a:avLst/>
          </a:prstGeom>
          <a:noFill/>
          <a:ln w="15875">
            <a:solidFill>
              <a:srgbClr val="2A1F3D"/>
            </a:solidFill>
            <a:prstDash val="solid"/>
          </a:ln>
        </p:spPr>
      </p:sp>
      <p:sp>
        <p:nvSpPr>
          <p:cNvPr id="136" name="Shape 134"/>
          <p:cNvSpPr/>
          <p:nvPr/>
        </p:nvSpPr>
        <p:spPr>
          <a:xfrm flipV="1">
            <a:off x="6035040" y="1521447"/>
            <a:ext cx="91440" cy="91440"/>
          </a:xfrm>
          <a:prstGeom prst="line">
            <a:avLst/>
          </a:prstGeom>
          <a:noFill/>
          <a:ln w="15875">
            <a:solidFill>
              <a:srgbClr val="2A1F3D"/>
            </a:solidFill>
            <a:prstDash val="solid"/>
          </a:ln>
        </p:spPr>
      </p:sp>
      <p:sp>
        <p:nvSpPr>
          <p:cNvPr id="137" name="Shape 135"/>
          <p:cNvSpPr/>
          <p:nvPr/>
        </p:nvSpPr>
        <p:spPr>
          <a:xfrm flipH="1">
            <a:off x="2276856" y="2231708"/>
            <a:ext cx="2852928" cy="91"/>
          </a:xfrm>
          <a:prstGeom prst="line">
            <a:avLst/>
          </a:prstGeom>
          <a:noFill/>
          <a:ln w="12700">
            <a:solidFill>
              <a:srgbClr val="C8414C"/>
            </a:solidFill>
            <a:prstDash val="dash"/>
          </a:ln>
        </p:spPr>
      </p:sp>
      <p:sp>
        <p:nvSpPr>
          <p:cNvPr id="138" name="Shape 136"/>
          <p:cNvSpPr/>
          <p:nvPr/>
        </p:nvSpPr>
        <p:spPr>
          <a:xfrm>
            <a:off x="2276856" y="2231708"/>
            <a:ext cx="91" cy="1117340"/>
          </a:xfrm>
          <a:prstGeom prst="line">
            <a:avLst/>
          </a:prstGeom>
          <a:noFill/>
          <a:ln w="19050">
            <a:solidFill>
              <a:srgbClr val="C8414C"/>
            </a:solidFill>
            <a:prstDash val="solid"/>
            <a:tailEnd type="triangle"/>
          </a:ln>
        </p:spPr>
      </p:sp>
      <p:sp>
        <p:nvSpPr>
          <p:cNvPr id="139" name="Text 137"/>
          <p:cNvSpPr/>
          <p:nvPr/>
        </p:nvSpPr>
        <p:spPr>
          <a:xfrm>
            <a:off x="2324405" y="2655189"/>
            <a:ext cx="1463040" cy="219456"/>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34.3 g</a:t>
            </a:r>
            <a:r>
              <a:rPr lang="en-US" sz="1050" dirty="0">
                <a:solidFill>
                  <a:srgbClr val="C8414C"/>
                </a:solidFill>
                <a:latin typeface="Calibri" pitchFamily="34" charset="0"/>
                <a:ea typeface="Calibri" pitchFamily="34" charset="-122"/>
                <a:cs typeface="Calibri" pitchFamily="34" charset="-120"/>
              </a:rPr>
              <a:t> crystallises</a:t>
            </a:r>
            <a:endParaRPr lang="en-US" sz="1050" dirty="0"/>
          </a:p>
        </p:txBody>
      </p:sp>
      <p:sp>
        <p:nvSpPr>
          <p:cNvPr id="140" name="Text 138"/>
          <p:cNvSpPr/>
          <p:nvPr/>
        </p:nvSpPr>
        <p:spPr>
          <a:xfrm>
            <a:off x="2752344" y="1971104"/>
            <a:ext cx="1371600" cy="201168"/>
          </a:xfrm>
          <a:prstGeom prst="rect">
            <a:avLst/>
          </a:prstGeom>
          <a:noFill/>
          <a:ln/>
        </p:spPr>
        <p:txBody>
          <a:bodyPr wrap="square" lIns="0" tIns="0" rIns="0" bIns="0" rtlCol="0" anchor="ctr"/>
          <a:lstStyle/>
          <a:p>
            <a:pPr algn="l" indent="0" marL="0">
              <a:buNone/>
            </a:pPr>
            <a:r>
              <a:rPr lang="en-US" sz="1000" dirty="0">
                <a:solidFill>
                  <a:srgbClr val="C8414C"/>
                </a:solidFill>
                <a:latin typeface="Calibri" pitchFamily="34" charset="0"/>
                <a:ea typeface="Calibri" pitchFamily="34" charset="-122"/>
                <a:cs typeface="Calibri" pitchFamily="34" charset="-120"/>
              </a:rPr>
              <a:t>cool 80 → 20 °C</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 y="4572000"/>
          <a:ext cx="5577840" cy="914400"/>
        </p:xfrm>
        <a:graphic>
          <a:graphicData uri="http://schemas.openxmlformats.org/drawingml/2006/table">
            <a:tbl>
              <a:tblPr/>
              <a:tblGrid>
                <a:gridCol w="1394460"/>
                <a:gridCol w="1394460"/>
                <a:gridCol w="1394460"/>
                <a:gridCol w="1394460"/>
              </a:tblGrid>
              <a:tr h="22860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CuO added / g</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dry excess CuO / g</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CuO reacted / g</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dry crystals / g</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228600">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2.50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0.51</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1.99</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4.40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bl>
          </a:graphicData>
        </a:graphic>
      </p:graphicFrame>
      <p:sp>
        <p:nvSpPr>
          <p:cNvPr id="142" name="Shape 139"/>
          <p:cNvSpPr/>
          <p:nvPr/>
        </p:nvSpPr>
        <p:spPr>
          <a:xfrm>
            <a:off x="6675120" y="1188720"/>
            <a:ext cx="5102352" cy="1600200"/>
          </a:xfrm>
          <a:prstGeom prst="roundRect">
            <a:avLst>
              <a:gd name="adj" fmla="val 3429"/>
            </a:avLst>
          </a:prstGeom>
          <a:solidFill>
            <a:srgbClr val="FFF4E0"/>
          </a:solidFill>
          <a:ln w="9525">
            <a:solidFill>
              <a:srgbClr val="F1D9A8"/>
            </a:solidFill>
            <a:prstDash val="solid"/>
          </a:ln>
        </p:spPr>
      </p:sp>
      <p:sp>
        <p:nvSpPr>
          <p:cNvPr id="143" name="Text 140"/>
          <p:cNvSpPr/>
          <p:nvPr/>
        </p:nvSpPr>
        <p:spPr>
          <a:xfrm>
            <a:off x="6839712" y="1261872"/>
            <a:ext cx="47731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crystals from cooling</a:t>
            </a:r>
            <a:endParaRPr lang="en-US" sz="1300" dirty="0"/>
          </a:p>
        </p:txBody>
      </p:sp>
      <p:sp>
        <p:nvSpPr>
          <p:cNvPr id="144" name="Text 141"/>
          <p:cNvSpPr/>
          <p:nvPr/>
        </p:nvSpPr>
        <p:spPr>
          <a:xfrm>
            <a:off x="6839712" y="1572768"/>
            <a:ext cx="4773168" cy="11430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solution in 100 g of water is saturated at 80 °C and cooled to 20 °C.</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Read   </a:t>
            </a:r>
            <a:r>
              <a:rPr lang="en-US" sz="1050" dirty="0">
                <a:solidFill>
                  <a:srgbClr val="262B3A"/>
                </a:solidFill>
                <a:latin typeface="Calibri" pitchFamily="34" charset="0"/>
                <a:ea typeface="Calibri" pitchFamily="34" charset="-122"/>
                <a:cs typeface="Calibri" pitchFamily="34" charset="-120"/>
              </a:rPr>
              <a:t>solubility 55.0 g at 80 °C; 20.7 g at 20 °C</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55.0 − 20.7 = </a:t>
            </a:r>
            <a:r>
              <a:rPr lang="en-US" sz="1050" b="1" dirty="0">
                <a:solidFill>
                  <a:srgbClr val="C8414C"/>
                </a:solidFill>
                <a:latin typeface="Calibri" pitchFamily="34" charset="0"/>
                <a:ea typeface="Calibri" pitchFamily="34" charset="-122"/>
                <a:cs typeface="Calibri" pitchFamily="34" charset="-120"/>
              </a:rPr>
              <a:t>34.3 g</a:t>
            </a:r>
            <a:r>
              <a:rPr lang="en-US" sz="1050" b="1" dirty="0">
                <a:solidFill>
                  <a:srgbClr val="C8414C"/>
                </a:solidFill>
                <a:latin typeface="Calibri" pitchFamily="34" charset="0"/>
                <a:ea typeface="Calibri" pitchFamily="34" charset="-122"/>
                <a:cs typeface="Calibri" pitchFamily="34" charset="-120"/>
              </a:rPr>
              <a:t> of copper sulfate crystallises</a:t>
            </a:r>
            <a:endParaRPr lang="en-US" sz="1050" dirty="0"/>
          </a:p>
        </p:txBody>
      </p:sp>
      <p:sp>
        <p:nvSpPr>
          <p:cNvPr id="145" name="Shape 142"/>
          <p:cNvSpPr/>
          <p:nvPr/>
        </p:nvSpPr>
        <p:spPr>
          <a:xfrm>
            <a:off x="6675120" y="2926080"/>
            <a:ext cx="5102352" cy="2788920"/>
          </a:xfrm>
          <a:prstGeom prst="roundRect">
            <a:avLst>
              <a:gd name="adj" fmla="val 1967"/>
            </a:avLst>
          </a:prstGeom>
          <a:solidFill>
            <a:srgbClr val="F8F5FC"/>
          </a:solidFill>
          <a:ln w="9525">
            <a:solidFill>
              <a:srgbClr val="DDD3EC"/>
            </a:solidFill>
            <a:prstDash val="solid"/>
          </a:ln>
        </p:spPr>
      </p:sp>
      <p:sp>
        <p:nvSpPr>
          <p:cNvPr id="146" name="Text 143"/>
          <p:cNvSpPr/>
          <p:nvPr/>
        </p:nvSpPr>
        <p:spPr>
          <a:xfrm>
            <a:off x="6839712" y="3017520"/>
            <a:ext cx="47731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Conclusion and errors</a:t>
            </a:r>
            <a:endParaRPr lang="en-US" sz="1300" dirty="0"/>
          </a:p>
        </p:txBody>
      </p:sp>
      <p:sp>
        <p:nvSpPr>
          <p:cNvPr id="147" name="Text 144"/>
          <p:cNvSpPr/>
          <p:nvPr/>
        </p:nvSpPr>
        <p:spPr>
          <a:xfrm>
            <a:off x="6839712" y="3346704"/>
            <a:ext cx="4773168" cy="229514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Solubility </a:t>
            </a:r>
            <a:r>
              <a:rPr lang="en-US" sz="1100" b="1" dirty="0">
                <a:solidFill>
                  <a:srgbClr val="262B3A"/>
                </a:solidFill>
                <a:latin typeface="Calibri" pitchFamily="34" charset="0"/>
                <a:ea typeface="Calibri" pitchFamily="34" charset="-122"/>
                <a:cs typeface="Calibri" pitchFamily="34" charset="-120"/>
              </a:rPr>
              <a:t>falls</a:t>
            </a:r>
            <a:r>
              <a:rPr lang="en-US" sz="1100" dirty="0">
                <a:solidFill>
                  <a:srgbClr val="262B3A"/>
                </a:solidFill>
                <a:latin typeface="Calibri" pitchFamily="34" charset="0"/>
                <a:ea typeface="Calibri" pitchFamily="34" charset="-122"/>
                <a:cs typeface="Calibri" pitchFamily="34" charset="-120"/>
              </a:rPr>
              <a:t> as the solution cools, so the extra copper sulfate comes out as </a:t>
            </a:r>
            <a:r>
              <a:rPr lang="en-US" sz="1100" b="1" dirty="0">
                <a:solidFill>
                  <a:srgbClr val="262B3A"/>
                </a:solidFill>
                <a:latin typeface="Calibri" pitchFamily="34" charset="0"/>
                <a:ea typeface="Calibri" pitchFamily="34" charset="-122"/>
                <a:cs typeface="Calibri" pitchFamily="34" charset="-120"/>
              </a:rPr>
              <a:t>crystals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Some copper sulfate always </a:t>
            </a:r>
            <a:r>
              <a:rPr lang="en-US" sz="1100" b="1" dirty="0">
                <a:solidFill>
                  <a:srgbClr val="262B3A"/>
                </a:solidFill>
                <a:latin typeface="Calibri" pitchFamily="34" charset="0"/>
                <a:ea typeface="Calibri" pitchFamily="34" charset="-122"/>
                <a:cs typeface="Calibri" pitchFamily="34" charset="-120"/>
              </a:rPr>
              <a:t>stays dissolved</a:t>
            </a:r>
            <a:r>
              <a:rPr lang="en-US" sz="1100" dirty="0">
                <a:solidFill>
                  <a:srgbClr val="262B3A"/>
                </a:solidFill>
                <a:latin typeface="Calibri" pitchFamily="34" charset="0"/>
                <a:ea typeface="Calibri" pitchFamily="34" charset="-122"/>
                <a:cs typeface="Calibri" pitchFamily="34" charset="-120"/>
              </a:rPr>
              <a:t>, so the mass of crystals is less than expected.</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Errors</a:t>
            </a:r>
            <a:r>
              <a:rPr lang="en-US" sz="1100" dirty="0">
                <a:solidFill>
                  <a:srgbClr val="262B3A"/>
                </a:solidFill>
                <a:latin typeface="Calibri" pitchFamily="34" charset="0"/>
                <a:ea typeface="Calibri" pitchFamily="34" charset="-122"/>
                <a:cs typeface="Calibri" pitchFamily="34" charset="-120"/>
              </a:rPr>
              <a:t>: crystals still </a:t>
            </a:r>
            <a:r>
              <a:rPr lang="en-US" sz="1100" b="1" dirty="0">
                <a:solidFill>
                  <a:srgbClr val="262B3A"/>
                </a:solidFill>
                <a:latin typeface="Calibri" pitchFamily="34" charset="0"/>
                <a:ea typeface="Calibri" pitchFamily="34" charset="-122"/>
                <a:cs typeface="Calibri" pitchFamily="34" charset="-120"/>
              </a:rPr>
              <a:t>wet</a:t>
            </a:r>
            <a:r>
              <a:rPr lang="en-US" sz="1100" dirty="0">
                <a:solidFill>
                  <a:srgbClr val="262B3A"/>
                </a:solidFill>
                <a:latin typeface="Calibri" pitchFamily="34" charset="0"/>
                <a:ea typeface="Calibri" pitchFamily="34" charset="-122"/>
                <a:cs typeface="Calibri" pitchFamily="34" charset="-120"/>
              </a:rPr>
              <a:t> (mass too high); excess CuO not dried (reacted mass too low); solid lost on filter paper.</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Improve</a:t>
            </a:r>
            <a:r>
              <a:rPr lang="en-US" sz="1100" dirty="0">
                <a:solidFill>
                  <a:srgbClr val="262B3A"/>
                </a:solidFill>
                <a:latin typeface="Calibri" pitchFamily="34" charset="0"/>
                <a:ea typeface="Calibri" pitchFamily="34" charset="-122"/>
                <a:cs typeface="Calibri" pitchFamily="34" charset="-120"/>
              </a:rPr>
              <a:t>: dry to </a:t>
            </a:r>
            <a:r>
              <a:rPr lang="en-US" sz="1100" b="1" dirty="0">
                <a:solidFill>
                  <a:srgbClr val="262B3A"/>
                </a:solidFill>
                <a:latin typeface="Calibri" pitchFamily="34" charset="0"/>
                <a:ea typeface="Calibri" pitchFamily="34" charset="-122"/>
                <a:cs typeface="Calibri" pitchFamily="34" charset="-120"/>
              </a:rPr>
              <a:t>constant mass</a:t>
            </a:r>
            <a:r>
              <a:rPr lang="en-US" sz="1100" dirty="0">
                <a:solidFill>
                  <a:srgbClr val="262B3A"/>
                </a:solidFill>
                <a:latin typeface="Calibri" pitchFamily="34" charset="0"/>
                <a:ea typeface="Calibri" pitchFamily="34" charset="-122"/>
                <a:cs typeface="Calibri" pitchFamily="34" charset="-120"/>
              </a:rPr>
              <a:t>; rinse with a little cold water; cool slowly for larger crystals.</a:t>
            </a:r>
            <a:endParaRPr lang="en-US" sz="1100" dirty="0"/>
          </a:p>
        </p:txBody>
      </p:sp>
      <p:sp>
        <p:nvSpPr>
          <p:cNvPr id="148" name="Shape 145"/>
          <p:cNvSpPr/>
          <p:nvPr/>
        </p:nvSpPr>
        <p:spPr>
          <a:xfrm>
            <a:off x="411480" y="5833872"/>
            <a:ext cx="11368735" cy="530352"/>
          </a:xfrm>
          <a:prstGeom prst="rect">
            <a:avLst/>
          </a:prstGeom>
          <a:solidFill>
            <a:srgbClr val="FFF4E0"/>
          </a:solidFill>
          <a:ln w="6350">
            <a:solidFill>
              <a:srgbClr val="F1D9A8"/>
            </a:solidFill>
            <a:prstDash val="solid"/>
          </a:ln>
        </p:spPr>
      </p:sp>
      <p:sp>
        <p:nvSpPr>
          <p:cNvPr id="149" name="Shape 146"/>
          <p:cNvSpPr/>
          <p:nvPr/>
        </p:nvSpPr>
        <p:spPr>
          <a:xfrm>
            <a:off x="411480" y="5833872"/>
            <a:ext cx="82296" cy="530352"/>
          </a:xfrm>
          <a:prstGeom prst="rect">
            <a:avLst/>
          </a:prstGeom>
          <a:solidFill>
            <a:srgbClr val="E39A2F"/>
          </a:solidFill>
          <a:ln w="12700">
            <a:solidFill>
              <a:srgbClr val="E39A2F"/>
            </a:solidFill>
            <a:prstDash val="solid"/>
          </a:ln>
        </p:spPr>
      </p:sp>
      <p:sp>
        <p:nvSpPr>
          <p:cNvPr id="150" name="Text 14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graph: at what temperature does 100 g of water dissolve </a:t>
            </a:r>
            <a:r>
              <a:rPr lang="en-US" sz="1150" b="1" dirty="0">
                <a:solidFill>
                  <a:srgbClr val="262B3A"/>
                </a:solidFill>
                <a:latin typeface="Calibri" pitchFamily="34" charset="0"/>
                <a:ea typeface="Calibri" pitchFamily="34" charset="-122"/>
                <a:cs typeface="Calibri" pitchFamily="34" charset="-120"/>
              </a:rPr>
              <a:t>40 g</a:t>
            </a:r>
            <a:r>
              <a:rPr lang="en-US" sz="1150" dirty="0">
                <a:solidFill>
                  <a:srgbClr val="262B3A"/>
                </a:solidFill>
                <a:latin typeface="Calibri" pitchFamily="34" charset="0"/>
                <a:ea typeface="Calibri" pitchFamily="34" charset="-122"/>
                <a:cs typeface="Calibri" pitchFamily="34" charset="-120"/>
              </a:rPr>
              <a:t>? What mass crystallises if a saturated solution is cooled from </a:t>
            </a:r>
            <a:r>
              <a:rPr lang="en-US" sz="1150" b="1" dirty="0">
                <a:solidFill>
                  <a:srgbClr val="262B3A"/>
                </a:solidFill>
                <a:latin typeface="Calibri" pitchFamily="34" charset="0"/>
                <a:ea typeface="Calibri" pitchFamily="34" charset="-122"/>
                <a:cs typeface="Calibri" pitchFamily="34" charset="-120"/>
              </a:rPr>
              <a:t>100 °C to 20 °C</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6</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C5.1.7 • making a pure, dry salt</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6  |  24</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copper(II) oxide is added in </a:t>
            </a:r>
            <a:r>
              <a:rPr lang="en-US" sz="1250" b="1" dirty="0">
                <a:solidFill>
                  <a:srgbClr val="262B3A"/>
                </a:solidFill>
                <a:latin typeface="Calibri" pitchFamily="34" charset="0"/>
                <a:ea typeface="Calibri" pitchFamily="34" charset="-122"/>
                <a:cs typeface="Calibri" pitchFamily="34" charset="-120"/>
              </a:rPr>
              <a:t>excess</a:t>
            </a:r>
            <a:r>
              <a:rPr lang="en-US" sz="1250" dirty="0">
                <a:solidFill>
                  <a:srgbClr val="262B3A"/>
                </a:solidFill>
                <a:latin typeface="Calibri" pitchFamily="34" charset="0"/>
                <a:ea typeface="Calibri" pitchFamily="34" charset="-122"/>
                <a:cs typeface="Calibri" pitchFamily="34" charset="-120"/>
              </a:rPr>
              <a:t> to the sulfuric acid.</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method used to remove the excess copper(II) oxide, and the name of the solution that passes through.</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Write a balanced symbol equation, with state symbols, for copper(II) oxide reacting with sulfuric acid.</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Use the solubility curve: a saturated solution in 100 g of water is cooled from </a:t>
            </a:r>
            <a:r>
              <a:rPr lang="en-US" sz="1250" b="1" dirty="0">
                <a:solidFill>
                  <a:srgbClr val="262B3A"/>
                </a:solidFill>
                <a:latin typeface="Calibri" pitchFamily="34" charset="0"/>
                <a:ea typeface="Calibri" pitchFamily="34" charset="-122"/>
                <a:cs typeface="Calibri" pitchFamily="34" charset="-120"/>
              </a:rPr>
              <a:t>60 °C</a:t>
            </a:r>
            <a:r>
              <a:rPr lang="en-US" sz="1250" dirty="0">
                <a:solidFill>
                  <a:srgbClr val="262B3A"/>
                </a:solidFill>
                <a:latin typeface="Calibri" pitchFamily="34" charset="0"/>
                <a:ea typeface="Calibri" pitchFamily="34" charset="-122"/>
                <a:cs typeface="Calibri" pitchFamily="34" charset="-120"/>
              </a:rPr>
              <a:t> to </a:t>
            </a:r>
            <a:r>
              <a:rPr lang="en-US" sz="1250" b="1" dirty="0">
                <a:solidFill>
                  <a:srgbClr val="262B3A"/>
                </a:solidFill>
                <a:latin typeface="Calibri" pitchFamily="34" charset="0"/>
                <a:ea typeface="Calibri" pitchFamily="34" charset="-122"/>
                <a:cs typeface="Calibri" pitchFamily="34" charset="-120"/>
              </a:rPr>
              <a:t>20 °C</a:t>
            </a:r>
            <a:r>
              <a:rPr lang="en-US" sz="1250" dirty="0">
                <a:solidFill>
                  <a:srgbClr val="262B3A"/>
                </a:solidFill>
                <a:latin typeface="Calibri" pitchFamily="34" charset="0"/>
                <a:ea typeface="Calibri" pitchFamily="34" charset="-122"/>
                <a:cs typeface="Calibri" pitchFamily="34" charset="-120"/>
              </a:rPr>
              <a:t>. What mass crystallises?</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C5.1 How are chemicals separated and tested for purity? • learn these definitions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25</a:t>
            </a:r>
            <a:endParaRPr lang="en-US" sz="1000" dirty="0"/>
          </a:p>
        </p:txBody>
      </p:sp>
      <p:sp>
        <p:nvSpPr>
          <p:cNvPr id="8" name="Shape 6"/>
          <p:cNvSpPr/>
          <p:nvPr/>
        </p:nvSpPr>
        <p:spPr>
          <a:xfrm>
            <a:off x="411480" y="1188720"/>
            <a:ext cx="2739314" cy="1143000"/>
          </a:xfrm>
          <a:prstGeom prst="rect">
            <a:avLst/>
          </a:prstGeom>
          <a:solidFill>
            <a:srgbClr val="F8F5FC"/>
          </a:solidFill>
          <a:ln w="9525">
            <a:solidFill>
              <a:srgbClr val="DDD3EC"/>
            </a:solidFill>
            <a:prstDash val="solid"/>
          </a:ln>
        </p:spPr>
      </p:sp>
      <p:sp>
        <p:nvSpPr>
          <p:cNvPr id="9" name="Shape 7"/>
          <p:cNvSpPr/>
          <p:nvPr/>
        </p:nvSpPr>
        <p:spPr>
          <a:xfrm>
            <a:off x="411480" y="1188720"/>
            <a:ext cx="73152" cy="1143000"/>
          </a:xfrm>
          <a:prstGeom prst="rect">
            <a:avLst/>
          </a:prstGeom>
          <a:solidFill>
            <a:srgbClr val="6A3FA0"/>
          </a:solidFill>
          <a:ln w="12700">
            <a:solidFill>
              <a:srgbClr val="6A3FA0"/>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Pure substance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Contains only one element or one compound.</a:t>
            </a:r>
            <a:endParaRPr lang="en-US" sz="1200" dirty="0"/>
          </a:p>
        </p:txBody>
      </p:sp>
      <p:sp>
        <p:nvSpPr>
          <p:cNvPr id="11" name="Shape 9"/>
          <p:cNvSpPr/>
          <p:nvPr/>
        </p:nvSpPr>
        <p:spPr>
          <a:xfrm>
            <a:off x="3287954" y="1188720"/>
            <a:ext cx="2739314" cy="1143000"/>
          </a:xfrm>
          <a:prstGeom prst="rect">
            <a:avLst/>
          </a:prstGeom>
          <a:solidFill>
            <a:srgbClr val="F8F5FC"/>
          </a:solidFill>
          <a:ln w="9525">
            <a:solidFill>
              <a:srgbClr val="DDD3EC"/>
            </a:solidFill>
            <a:prstDash val="solid"/>
          </a:ln>
        </p:spPr>
      </p:sp>
      <p:sp>
        <p:nvSpPr>
          <p:cNvPr id="12" name="Shape 10"/>
          <p:cNvSpPr/>
          <p:nvPr/>
        </p:nvSpPr>
        <p:spPr>
          <a:xfrm>
            <a:off x="3287954" y="1188720"/>
            <a:ext cx="73152" cy="1143000"/>
          </a:xfrm>
          <a:prstGeom prst="rect">
            <a:avLst/>
          </a:prstGeom>
          <a:solidFill>
            <a:srgbClr val="6A3FA0"/>
          </a:solidFill>
          <a:ln w="12700">
            <a:solidFill>
              <a:srgbClr val="6A3FA0"/>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Mixture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Two or more substances not chemically joined; separable by physical methods.</a:t>
            </a:r>
            <a:endParaRPr lang="en-US" sz="1200" dirty="0"/>
          </a:p>
        </p:txBody>
      </p:sp>
      <p:sp>
        <p:nvSpPr>
          <p:cNvPr id="14" name="Shape 12"/>
          <p:cNvSpPr/>
          <p:nvPr/>
        </p:nvSpPr>
        <p:spPr>
          <a:xfrm>
            <a:off x="6164428" y="1188720"/>
            <a:ext cx="2739314" cy="1143000"/>
          </a:xfrm>
          <a:prstGeom prst="rect">
            <a:avLst/>
          </a:prstGeom>
          <a:solidFill>
            <a:srgbClr val="F8F5FC"/>
          </a:solidFill>
          <a:ln w="9525">
            <a:solidFill>
              <a:srgbClr val="DDD3EC"/>
            </a:solidFill>
            <a:prstDash val="solid"/>
          </a:ln>
        </p:spPr>
      </p:sp>
      <p:sp>
        <p:nvSpPr>
          <p:cNvPr id="15" name="Shape 13"/>
          <p:cNvSpPr/>
          <p:nvPr/>
        </p:nvSpPr>
        <p:spPr>
          <a:xfrm>
            <a:off x="6164428" y="1188720"/>
            <a:ext cx="73152" cy="1143000"/>
          </a:xfrm>
          <a:prstGeom prst="rect">
            <a:avLst/>
          </a:prstGeom>
          <a:solidFill>
            <a:srgbClr val="6A3FA0"/>
          </a:solidFill>
          <a:ln w="12700">
            <a:solidFill>
              <a:srgbClr val="6A3FA0"/>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Formulation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mixture designed as a useful product, each part in a measured amount.</a:t>
            </a:r>
            <a:endParaRPr lang="en-US" sz="1200" dirty="0"/>
          </a:p>
        </p:txBody>
      </p:sp>
      <p:sp>
        <p:nvSpPr>
          <p:cNvPr id="17" name="Shape 15"/>
          <p:cNvSpPr/>
          <p:nvPr/>
        </p:nvSpPr>
        <p:spPr>
          <a:xfrm>
            <a:off x="9040901" y="1188720"/>
            <a:ext cx="2739314" cy="1143000"/>
          </a:xfrm>
          <a:prstGeom prst="rect">
            <a:avLst/>
          </a:prstGeom>
          <a:solidFill>
            <a:srgbClr val="F8F5FC"/>
          </a:solidFill>
          <a:ln w="9525">
            <a:solidFill>
              <a:srgbClr val="DDD3EC"/>
            </a:solidFill>
            <a:prstDash val="solid"/>
          </a:ln>
        </p:spPr>
      </p:sp>
      <p:sp>
        <p:nvSpPr>
          <p:cNvPr id="18" name="Shape 16"/>
          <p:cNvSpPr/>
          <p:nvPr/>
        </p:nvSpPr>
        <p:spPr>
          <a:xfrm>
            <a:off x="9040901" y="1188720"/>
            <a:ext cx="73152" cy="1143000"/>
          </a:xfrm>
          <a:prstGeom prst="rect">
            <a:avLst/>
          </a:prstGeom>
          <a:solidFill>
            <a:srgbClr val="6A3FA0"/>
          </a:solidFill>
          <a:ln w="12700">
            <a:solidFill>
              <a:srgbClr val="6A3FA0"/>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Melting point test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Pure: sharp, at the data-book value. Impure: lower and over a range.</a:t>
            </a:r>
            <a:endParaRPr lang="en-US" sz="1200" dirty="0"/>
          </a:p>
        </p:txBody>
      </p:sp>
      <p:sp>
        <p:nvSpPr>
          <p:cNvPr id="20" name="Shape 18"/>
          <p:cNvSpPr/>
          <p:nvPr/>
        </p:nvSpPr>
        <p:spPr>
          <a:xfrm>
            <a:off x="411480" y="2441448"/>
            <a:ext cx="2739314" cy="1143000"/>
          </a:xfrm>
          <a:prstGeom prst="rect">
            <a:avLst/>
          </a:prstGeom>
          <a:solidFill>
            <a:srgbClr val="F8F5FC"/>
          </a:solidFill>
          <a:ln w="9525">
            <a:solidFill>
              <a:srgbClr val="DDD3EC"/>
            </a:solidFill>
            <a:prstDash val="solid"/>
          </a:ln>
        </p:spPr>
      </p:sp>
      <p:sp>
        <p:nvSpPr>
          <p:cNvPr id="21" name="Shape 19"/>
          <p:cNvSpPr/>
          <p:nvPr/>
        </p:nvSpPr>
        <p:spPr>
          <a:xfrm>
            <a:off x="411480" y="2441448"/>
            <a:ext cx="73152" cy="1143000"/>
          </a:xfrm>
          <a:prstGeom prst="rect">
            <a:avLst/>
          </a:prstGeom>
          <a:solidFill>
            <a:srgbClr val="6A3FA0"/>
          </a:solidFill>
          <a:ln w="12700">
            <a:solidFill>
              <a:srgbClr val="6A3FA0"/>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Chromatography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Separates soluble substances by their distribution between two phases.</a:t>
            </a:r>
            <a:endParaRPr lang="en-US" sz="1200" dirty="0"/>
          </a:p>
        </p:txBody>
      </p:sp>
      <p:sp>
        <p:nvSpPr>
          <p:cNvPr id="23" name="Shape 21"/>
          <p:cNvSpPr/>
          <p:nvPr/>
        </p:nvSpPr>
        <p:spPr>
          <a:xfrm>
            <a:off x="3287954" y="2441448"/>
            <a:ext cx="2739314" cy="1143000"/>
          </a:xfrm>
          <a:prstGeom prst="rect">
            <a:avLst/>
          </a:prstGeom>
          <a:solidFill>
            <a:srgbClr val="F8F5FC"/>
          </a:solidFill>
          <a:ln w="9525">
            <a:solidFill>
              <a:srgbClr val="DDD3EC"/>
            </a:solidFill>
            <a:prstDash val="solid"/>
          </a:ln>
        </p:spPr>
      </p:sp>
      <p:sp>
        <p:nvSpPr>
          <p:cNvPr id="24" name="Shape 22"/>
          <p:cNvSpPr/>
          <p:nvPr/>
        </p:nvSpPr>
        <p:spPr>
          <a:xfrm>
            <a:off x="3287954" y="2441448"/>
            <a:ext cx="73152" cy="1143000"/>
          </a:xfrm>
          <a:prstGeom prst="rect">
            <a:avLst/>
          </a:prstGeom>
          <a:solidFill>
            <a:srgbClr val="6A3FA0"/>
          </a:solidFill>
          <a:ln w="12700">
            <a:solidFill>
              <a:srgbClr val="6A3FA0"/>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Stationary phase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phase that does not move, e.g. the paper.</a:t>
            </a:r>
            <a:endParaRPr lang="en-US" sz="1200" dirty="0"/>
          </a:p>
        </p:txBody>
      </p:sp>
      <p:sp>
        <p:nvSpPr>
          <p:cNvPr id="26" name="Shape 24"/>
          <p:cNvSpPr/>
          <p:nvPr/>
        </p:nvSpPr>
        <p:spPr>
          <a:xfrm>
            <a:off x="6164428" y="2441448"/>
            <a:ext cx="2739314" cy="1143000"/>
          </a:xfrm>
          <a:prstGeom prst="rect">
            <a:avLst/>
          </a:prstGeom>
          <a:solidFill>
            <a:srgbClr val="F8F5FC"/>
          </a:solidFill>
          <a:ln w="9525">
            <a:solidFill>
              <a:srgbClr val="DDD3EC"/>
            </a:solidFill>
            <a:prstDash val="solid"/>
          </a:ln>
        </p:spPr>
      </p:sp>
      <p:sp>
        <p:nvSpPr>
          <p:cNvPr id="27" name="Shape 25"/>
          <p:cNvSpPr/>
          <p:nvPr/>
        </p:nvSpPr>
        <p:spPr>
          <a:xfrm>
            <a:off x="6164428" y="2441448"/>
            <a:ext cx="73152" cy="1143000"/>
          </a:xfrm>
          <a:prstGeom prst="rect">
            <a:avLst/>
          </a:prstGeom>
          <a:solidFill>
            <a:srgbClr val="6A3FA0"/>
          </a:solidFill>
          <a:ln w="12700">
            <a:solidFill>
              <a:srgbClr val="6A3FA0"/>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Mobile phase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phase that moves through the stationary phase: the solvent.</a:t>
            </a:r>
            <a:endParaRPr lang="en-US" sz="1200" dirty="0"/>
          </a:p>
        </p:txBody>
      </p:sp>
      <p:sp>
        <p:nvSpPr>
          <p:cNvPr id="29" name="Shape 27"/>
          <p:cNvSpPr/>
          <p:nvPr/>
        </p:nvSpPr>
        <p:spPr>
          <a:xfrm>
            <a:off x="9040901" y="2441448"/>
            <a:ext cx="2739314" cy="1143000"/>
          </a:xfrm>
          <a:prstGeom prst="rect">
            <a:avLst/>
          </a:prstGeom>
          <a:solidFill>
            <a:srgbClr val="F8F5FC"/>
          </a:solidFill>
          <a:ln w="9525">
            <a:solidFill>
              <a:srgbClr val="DDD3EC"/>
            </a:solidFill>
            <a:prstDash val="solid"/>
          </a:ln>
        </p:spPr>
      </p:sp>
      <p:sp>
        <p:nvSpPr>
          <p:cNvPr id="30" name="Shape 28"/>
          <p:cNvSpPr/>
          <p:nvPr/>
        </p:nvSpPr>
        <p:spPr>
          <a:xfrm>
            <a:off x="9040901" y="2441448"/>
            <a:ext cx="73152" cy="1143000"/>
          </a:xfrm>
          <a:prstGeom prst="rect">
            <a:avLst/>
          </a:prstGeom>
          <a:solidFill>
            <a:srgbClr val="6A3FA0"/>
          </a:solidFill>
          <a:ln w="12700">
            <a:solidFill>
              <a:srgbClr val="6A3FA0"/>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Rf value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Distance moved by substance ÷ distance moved by solvent; between 0 and 1.</a:t>
            </a:r>
            <a:endParaRPr lang="en-US" sz="1200" dirty="0"/>
          </a:p>
        </p:txBody>
      </p:sp>
      <p:sp>
        <p:nvSpPr>
          <p:cNvPr id="32" name="Shape 30"/>
          <p:cNvSpPr/>
          <p:nvPr/>
        </p:nvSpPr>
        <p:spPr>
          <a:xfrm>
            <a:off x="411480" y="3694176"/>
            <a:ext cx="2739314" cy="1143000"/>
          </a:xfrm>
          <a:prstGeom prst="rect">
            <a:avLst/>
          </a:prstGeom>
          <a:solidFill>
            <a:srgbClr val="F8F5FC"/>
          </a:solidFill>
          <a:ln w="9525">
            <a:solidFill>
              <a:srgbClr val="DDD3EC"/>
            </a:solidFill>
            <a:prstDash val="solid"/>
          </a:ln>
        </p:spPr>
      </p:sp>
      <p:sp>
        <p:nvSpPr>
          <p:cNvPr id="33" name="Shape 31"/>
          <p:cNvSpPr/>
          <p:nvPr/>
        </p:nvSpPr>
        <p:spPr>
          <a:xfrm>
            <a:off x="411480" y="3694176"/>
            <a:ext cx="73152" cy="1143000"/>
          </a:xfrm>
          <a:prstGeom prst="rect">
            <a:avLst/>
          </a:prstGeom>
          <a:solidFill>
            <a:srgbClr val="6A3FA0"/>
          </a:solidFill>
          <a:ln w="12700">
            <a:solidFill>
              <a:srgbClr val="6A3FA0"/>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Solvent front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furthest point reached by the solvent; mark it at once.</a:t>
            </a:r>
            <a:endParaRPr lang="en-US" sz="1200" dirty="0"/>
          </a:p>
        </p:txBody>
      </p:sp>
      <p:sp>
        <p:nvSpPr>
          <p:cNvPr id="35" name="Shape 33"/>
          <p:cNvSpPr/>
          <p:nvPr/>
        </p:nvSpPr>
        <p:spPr>
          <a:xfrm>
            <a:off x="3287954" y="3694176"/>
            <a:ext cx="2739314" cy="1143000"/>
          </a:xfrm>
          <a:prstGeom prst="rect">
            <a:avLst/>
          </a:prstGeom>
          <a:solidFill>
            <a:srgbClr val="F8F5FC"/>
          </a:solidFill>
          <a:ln w="9525">
            <a:solidFill>
              <a:srgbClr val="DDD3EC"/>
            </a:solidFill>
            <a:prstDash val="solid"/>
          </a:ln>
        </p:spPr>
      </p:sp>
      <p:sp>
        <p:nvSpPr>
          <p:cNvPr id="36" name="Shape 34"/>
          <p:cNvSpPr/>
          <p:nvPr/>
        </p:nvSpPr>
        <p:spPr>
          <a:xfrm>
            <a:off x="3287954" y="3694176"/>
            <a:ext cx="73152" cy="1143000"/>
          </a:xfrm>
          <a:prstGeom prst="rect">
            <a:avLst/>
          </a:prstGeom>
          <a:solidFill>
            <a:srgbClr val="6A3FA0"/>
          </a:solidFill>
          <a:ln w="12700">
            <a:solidFill>
              <a:srgbClr val="6A3FA0"/>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Locating agent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Sprayed on to make colourless spots visible, e.g. ninhydrin.</a:t>
            </a:r>
            <a:endParaRPr lang="en-US" sz="1200" dirty="0"/>
          </a:p>
        </p:txBody>
      </p:sp>
      <p:sp>
        <p:nvSpPr>
          <p:cNvPr id="38" name="Shape 36"/>
          <p:cNvSpPr/>
          <p:nvPr/>
        </p:nvSpPr>
        <p:spPr>
          <a:xfrm>
            <a:off x="6164428" y="3694176"/>
            <a:ext cx="2739314" cy="1143000"/>
          </a:xfrm>
          <a:prstGeom prst="rect">
            <a:avLst/>
          </a:prstGeom>
          <a:solidFill>
            <a:srgbClr val="F8F5FC"/>
          </a:solidFill>
          <a:ln w="9525">
            <a:solidFill>
              <a:srgbClr val="DDD3EC"/>
            </a:solidFill>
            <a:prstDash val="solid"/>
          </a:ln>
        </p:spPr>
      </p:sp>
      <p:sp>
        <p:nvSpPr>
          <p:cNvPr id="39" name="Shape 37"/>
          <p:cNvSpPr/>
          <p:nvPr/>
        </p:nvSpPr>
        <p:spPr>
          <a:xfrm>
            <a:off x="6164428" y="3694176"/>
            <a:ext cx="73152" cy="1143000"/>
          </a:xfrm>
          <a:prstGeom prst="rect">
            <a:avLst/>
          </a:prstGeom>
          <a:solidFill>
            <a:srgbClr val="6A3FA0"/>
          </a:solidFill>
          <a:ln w="12700">
            <a:solidFill>
              <a:srgbClr val="6A3FA0"/>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Filtration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Separates an insoluble solid (residue) from a liquid (filtrate).</a:t>
            </a:r>
            <a:endParaRPr lang="en-US" sz="1200" dirty="0"/>
          </a:p>
        </p:txBody>
      </p:sp>
      <p:sp>
        <p:nvSpPr>
          <p:cNvPr id="41" name="Shape 39"/>
          <p:cNvSpPr/>
          <p:nvPr/>
        </p:nvSpPr>
        <p:spPr>
          <a:xfrm>
            <a:off x="9040901" y="3694176"/>
            <a:ext cx="2739314" cy="1143000"/>
          </a:xfrm>
          <a:prstGeom prst="rect">
            <a:avLst/>
          </a:prstGeom>
          <a:solidFill>
            <a:srgbClr val="F8F5FC"/>
          </a:solidFill>
          <a:ln w="9525">
            <a:solidFill>
              <a:srgbClr val="DDD3EC"/>
            </a:solidFill>
            <a:prstDash val="solid"/>
          </a:ln>
        </p:spPr>
      </p:sp>
      <p:sp>
        <p:nvSpPr>
          <p:cNvPr id="42" name="Shape 40"/>
          <p:cNvSpPr/>
          <p:nvPr/>
        </p:nvSpPr>
        <p:spPr>
          <a:xfrm>
            <a:off x="9040901" y="3694176"/>
            <a:ext cx="73152" cy="1143000"/>
          </a:xfrm>
          <a:prstGeom prst="rect">
            <a:avLst/>
          </a:prstGeom>
          <a:solidFill>
            <a:srgbClr val="6A3FA0"/>
          </a:solidFill>
          <a:ln w="12700">
            <a:solidFill>
              <a:srgbClr val="6A3FA0"/>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Crystallisation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Getting a soluble solid from solution: evaporate some solvent, cool.</a:t>
            </a:r>
            <a:endParaRPr lang="en-US" sz="1200" dirty="0"/>
          </a:p>
        </p:txBody>
      </p:sp>
      <p:sp>
        <p:nvSpPr>
          <p:cNvPr id="44" name="Shape 42"/>
          <p:cNvSpPr/>
          <p:nvPr/>
        </p:nvSpPr>
        <p:spPr>
          <a:xfrm>
            <a:off x="411480" y="4946904"/>
            <a:ext cx="2739314" cy="1143000"/>
          </a:xfrm>
          <a:prstGeom prst="rect">
            <a:avLst/>
          </a:prstGeom>
          <a:solidFill>
            <a:srgbClr val="F8F5FC"/>
          </a:solidFill>
          <a:ln w="9525">
            <a:solidFill>
              <a:srgbClr val="DDD3EC"/>
            </a:solidFill>
            <a:prstDash val="solid"/>
          </a:ln>
        </p:spPr>
      </p:sp>
      <p:sp>
        <p:nvSpPr>
          <p:cNvPr id="45" name="Shape 43"/>
          <p:cNvSpPr/>
          <p:nvPr/>
        </p:nvSpPr>
        <p:spPr>
          <a:xfrm>
            <a:off x="411480" y="4946904"/>
            <a:ext cx="73152" cy="1143000"/>
          </a:xfrm>
          <a:prstGeom prst="rect">
            <a:avLst/>
          </a:prstGeom>
          <a:solidFill>
            <a:srgbClr val="6A3FA0"/>
          </a:solidFill>
          <a:ln w="12700">
            <a:solidFill>
              <a:srgbClr val="6A3FA0"/>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Simple distillation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Separates a liquid from a solution by boiling and condensing.</a:t>
            </a:r>
            <a:endParaRPr lang="en-US" sz="1200" dirty="0"/>
          </a:p>
        </p:txBody>
      </p:sp>
      <p:sp>
        <p:nvSpPr>
          <p:cNvPr id="47" name="Shape 45"/>
          <p:cNvSpPr/>
          <p:nvPr/>
        </p:nvSpPr>
        <p:spPr>
          <a:xfrm>
            <a:off x="3287954" y="4946904"/>
            <a:ext cx="2739314" cy="1143000"/>
          </a:xfrm>
          <a:prstGeom prst="rect">
            <a:avLst/>
          </a:prstGeom>
          <a:solidFill>
            <a:srgbClr val="F8F5FC"/>
          </a:solidFill>
          <a:ln w="9525">
            <a:solidFill>
              <a:srgbClr val="DDD3EC"/>
            </a:solidFill>
            <a:prstDash val="solid"/>
          </a:ln>
        </p:spPr>
      </p:sp>
      <p:sp>
        <p:nvSpPr>
          <p:cNvPr id="48" name="Shape 46"/>
          <p:cNvSpPr/>
          <p:nvPr/>
        </p:nvSpPr>
        <p:spPr>
          <a:xfrm>
            <a:off x="3287954" y="4946904"/>
            <a:ext cx="73152" cy="1143000"/>
          </a:xfrm>
          <a:prstGeom prst="rect">
            <a:avLst/>
          </a:prstGeom>
          <a:solidFill>
            <a:srgbClr val="6A3FA0"/>
          </a:solidFill>
          <a:ln w="12700">
            <a:solidFill>
              <a:srgbClr val="6A3FA0"/>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Fractional distillation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Separates miscible liquids with different boiling points.</a:t>
            </a:r>
            <a:endParaRPr lang="en-US" sz="1200" dirty="0"/>
          </a:p>
        </p:txBody>
      </p:sp>
      <p:sp>
        <p:nvSpPr>
          <p:cNvPr id="50" name="Shape 48"/>
          <p:cNvSpPr/>
          <p:nvPr/>
        </p:nvSpPr>
        <p:spPr>
          <a:xfrm>
            <a:off x="6164428" y="4946904"/>
            <a:ext cx="2739314" cy="1143000"/>
          </a:xfrm>
          <a:prstGeom prst="rect">
            <a:avLst/>
          </a:prstGeom>
          <a:solidFill>
            <a:srgbClr val="F8F5FC"/>
          </a:solidFill>
          <a:ln w="9525">
            <a:solidFill>
              <a:srgbClr val="DDD3EC"/>
            </a:solidFill>
            <a:prstDash val="solid"/>
          </a:ln>
        </p:spPr>
      </p:sp>
      <p:sp>
        <p:nvSpPr>
          <p:cNvPr id="51" name="Shape 49"/>
          <p:cNvSpPr/>
          <p:nvPr/>
        </p:nvSpPr>
        <p:spPr>
          <a:xfrm>
            <a:off x="6164428" y="4946904"/>
            <a:ext cx="73152" cy="1143000"/>
          </a:xfrm>
          <a:prstGeom prst="rect">
            <a:avLst/>
          </a:prstGeom>
          <a:solidFill>
            <a:srgbClr val="6A3FA0"/>
          </a:solidFill>
          <a:ln w="12700">
            <a:solidFill>
              <a:srgbClr val="6A3FA0"/>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Condenser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Cools the vapour so it condenses; cold water enters at the bottom.</a:t>
            </a:r>
            <a:endParaRPr lang="en-US" sz="1200" dirty="0"/>
          </a:p>
        </p:txBody>
      </p:sp>
      <p:sp>
        <p:nvSpPr>
          <p:cNvPr id="53" name="Shape 51"/>
          <p:cNvSpPr/>
          <p:nvPr/>
        </p:nvSpPr>
        <p:spPr>
          <a:xfrm>
            <a:off x="9040901" y="4946904"/>
            <a:ext cx="2739314" cy="1143000"/>
          </a:xfrm>
          <a:prstGeom prst="rect">
            <a:avLst/>
          </a:prstGeom>
          <a:solidFill>
            <a:srgbClr val="F8F5FC"/>
          </a:solidFill>
          <a:ln w="9525">
            <a:solidFill>
              <a:srgbClr val="DDD3EC"/>
            </a:solidFill>
            <a:prstDash val="solid"/>
          </a:ln>
        </p:spPr>
      </p:sp>
      <p:sp>
        <p:nvSpPr>
          <p:cNvPr id="54" name="Shape 52"/>
          <p:cNvSpPr/>
          <p:nvPr/>
        </p:nvSpPr>
        <p:spPr>
          <a:xfrm>
            <a:off x="9040901" y="4946904"/>
            <a:ext cx="73152" cy="1143000"/>
          </a:xfrm>
          <a:prstGeom prst="rect">
            <a:avLst/>
          </a:prstGeom>
          <a:solidFill>
            <a:srgbClr val="6A3FA0"/>
          </a:solidFill>
          <a:ln w="12700">
            <a:solidFill>
              <a:srgbClr val="6A3FA0"/>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Miscible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Liquids that mix completely, e.g. ethanol and water.</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C5.1.1–C5.1.8 • answer every part • 13 marks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26</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food scientist tests a green food colouring </a:t>
            </a:r>
            <a:r>
              <a:rPr lang="en-US" sz="1200" b="1" i="1" dirty="0">
                <a:solidFill>
                  <a:srgbClr val="262B3A"/>
                </a:solidFill>
                <a:latin typeface="Calibri" pitchFamily="34" charset="0"/>
                <a:ea typeface="Calibri" pitchFamily="34" charset="-122"/>
                <a:cs typeface="Calibri" pitchFamily="34" charset="-120"/>
              </a:rPr>
              <a:t>G</a:t>
            </a:r>
            <a:r>
              <a:rPr lang="en-US" sz="1200" i="1" dirty="0">
                <a:solidFill>
                  <a:srgbClr val="262B3A"/>
                </a:solidFill>
                <a:latin typeface="Calibri" pitchFamily="34" charset="0"/>
                <a:ea typeface="Calibri" pitchFamily="34" charset="-122"/>
                <a:cs typeface="Calibri" pitchFamily="34" charset="-120"/>
              </a:rPr>
              <a:t> with paper chromatography, and checks the </a:t>
            </a:r>
            <a:r>
              <a:rPr lang="en-US" sz="1200" b="1" i="1" dirty="0">
                <a:solidFill>
                  <a:srgbClr val="262B3A"/>
                </a:solidFill>
                <a:latin typeface="Calibri" pitchFamily="34" charset="0"/>
                <a:ea typeface="Calibri" pitchFamily="34" charset="-122"/>
                <a:cs typeface="Calibri" pitchFamily="34" charset="-120"/>
              </a:rPr>
              <a:t>salt</a:t>
            </a:r>
            <a:r>
              <a:rPr lang="en-US" sz="1200" i="1" dirty="0">
                <a:solidFill>
                  <a:srgbClr val="262B3A"/>
                </a:solidFill>
                <a:latin typeface="Calibri" pitchFamily="34" charset="0"/>
                <a:ea typeface="Calibri" pitchFamily="34" charset="-122"/>
                <a:cs typeface="Calibri" pitchFamily="34" charset="-120"/>
              </a:rPr>
              <a:t> used in a sweet factory.</a:t>
            </a:r>
            <a:endParaRPr lang="en-US" sz="1200" dirty="0"/>
          </a:p>
        </p:txBody>
      </p:sp>
      <p:sp>
        <p:nvSpPr>
          <p:cNvPr id="9" name="Shape 7"/>
          <p:cNvSpPr/>
          <p:nvPr/>
        </p:nvSpPr>
        <p:spPr>
          <a:xfrm>
            <a:off x="411480" y="1719072"/>
            <a:ext cx="5570068" cy="1351597"/>
          </a:xfrm>
          <a:prstGeom prst="roundRect">
            <a:avLst>
              <a:gd name="adj" fmla="val 3383"/>
            </a:avLst>
          </a:prstGeom>
          <a:solidFill>
            <a:srgbClr val="F8F5FC"/>
          </a:solidFill>
          <a:ln w="9525">
            <a:solidFill>
              <a:srgbClr val="DDD3EC"/>
            </a:solidFill>
            <a:prstDash val="solid"/>
          </a:ln>
        </p:spPr>
      </p:sp>
      <p:sp>
        <p:nvSpPr>
          <p:cNvPr id="10" name="Text 8"/>
          <p:cNvSpPr/>
          <p:nvPr/>
        </p:nvSpPr>
        <p:spPr>
          <a:xfrm>
            <a:off x="548640" y="1792224"/>
            <a:ext cx="5295748" cy="985837"/>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Name the </a:t>
            </a:r>
            <a:r>
              <a:rPr lang="en-US" sz="1200" b="1" dirty="0">
                <a:solidFill>
                  <a:srgbClr val="262B3A"/>
                </a:solidFill>
                <a:latin typeface="Calibri" pitchFamily="34" charset="0"/>
                <a:ea typeface="Calibri" pitchFamily="34" charset="-122"/>
                <a:cs typeface="Calibri" pitchFamily="34" charset="-120"/>
              </a:rPr>
              <a:t>stationary</a:t>
            </a:r>
            <a:r>
              <a:rPr lang="en-US" sz="1200" dirty="0">
                <a:solidFill>
                  <a:srgbClr val="262B3A"/>
                </a:solidFill>
                <a:latin typeface="Calibri" pitchFamily="34" charset="0"/>
                <a:ea typeface="Calibri" pitchFamily="34" charset="-122"/>
                <a:cs typeface="Calibri" pitchFamily="34" charset="-120"/>
              </a:rPr>
              <a:t> phase and the </a:t>
            </a:r>
            <a:r>
              <a:rPr lang="en-US" sz="1200" b="1" dirty="0">
                <a:solidFill>
                  <a:srgbClr val="262B3A"/>
                </a:solidFill>
                <a:latin typeface="Calibri" pitchFamily="34" charset="0"/>
                <a:ea typeface="Calibri" pitchFamily="34" charset="-122"/>
                <a:cs typeface="Calibri" pitchFamily="34" charset="-120"/>
              </a:rPr>
              <a:t>mobile</a:t>
            </a:r>
            <a:r>
              <a:rPr lang="en-US" sz="1200" dirty="0">
                <a:solidFill>
                  <a:srgbClr val="262B3A"/>
                </a:solidFill>
                <a:latin typeface="Calibri" pitchFamily="34" charset="0"/>
                <a:ea typeface="Calibri" pitchFamily="34" charset="-122"/>
                <a:cs typeface="Calibri" pitchFamily="34" charset="-120"/>
              </a:rPr>
              <a:t> phase in paper chromatography.</a:t>
            </a:r>
            <a:endParaRPr lang="en-US" sz="1200" dirty="0"/>
          </a:p>
        </p:txBody>
      </p:sp>
      <p:sp>
        <p:nvSpPr>
          <p:cNvPr id="11" name="Text 9"/>
          <p:cNvSpPr/>
          <p:nvPr/>
        </p:nvSpPr>
        <p:spPr>
          <a:xfrm>
            <a:off x="4518508" y="2759773"/>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2" name="Shape 10"/>
          <p:cNvSpPr/>
          <p:nvPr/>
        </p:nvSpPr>
        <p:spPr>
          <a:xfrm>
            <a:off x="411480" y="3180397"/>
            <a:ext cx="5570068" cy="1351597"/>
          </a:xfrm>
          <a:prstGeom prst="roundRect">
            <a:avLst>
              <a:gd name="adj" fmla="val 3383"/>
            </a:avLst>
          </a:prstGeom>
          <a:solidFill>
            <a:srgbClr val="FFFFFF"/>
          </a:solidFill>
          <a:ln w="9525">
            <a:solidFill>
              <a:srgbClr val="DDD3EC"/>
            </a:solidFill>
            <a:prstDash val="solid"/>
          </a:ln>
        </p:spPr>
      </p:sp>
      <p:sp>
        <p:nvSpPr>
          <p:cNvPr id="13" name="Text 11"/>
          <p:cNvSpPr/>
          <p:nvPr/>
        </p:nvSpPr>
        <p:spPr>
          <a:xfrm>
            <a:off x="548640" y="3253549"/>
            <a:ext cx="5295748" cy="985837"/>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One spot from G moved </a:t>
            </a:r>
            <a:r>
              <a:rPr lang="en-US" sz="1200" b="1" dirty="0">
                <a:solidFill>
                  <a:srgbClr val="262B3A"/>
                </a:solidFill>
                <a:latin typeface="Calibri" pitchFamily="34" charset="0"/>
                <a:ea typeface="Calibri" pitchFamily="34" charset="-122"/>
                <a:cs typeface="Calibri" pitchFamily="34" charset="-120"/>
              </a:rPr>
              <a:t>3.0 cm</a:t>
            </a:r>
            <a:r>
              <a:rPr lang="en-US" sz="1200" dirty="0">
                <a:solidFill>
                  <a:srgbClr val="262B3A"/>
                </a:solidFill>
                <a:latin typeface="Calibri" pitchFamily="34" charset="0"/>
                <a:ea typeface="Calibri" pitchFamily="34" charset="-122"/>
                <a:cs typeface="Calibri" pitchFamily="34" charset="-120"/>
              </a:rPr>
              <a:t>. The solvent front moved </a:t>
            </a:r>
            <a:r>
              <a:rPr lang="en-US" sz="1200" b="1" dirty="0">
                <a:solidFill>
                  <a:srgbClr val="262B3A"/>
                </a:solidFill>
                <a:latin typeface="Calibri" pitchFamily="34" charset="0"/>
                <a:ea typeface="Calibri" pitchFamily="34" charset="-122"/>
                <a:cs typeface="Calibri" pitchFamily="34" charset="-120"/>
              </a:rPr>
              <a:t>7.5 cm</a:t>
            </a:r>
            <a:r>
              <a:rPr lang="en-US" sz="1200" dirty="0">
                <a:solidFill>
                  <a:srgbClr val="262B3A"/>
                </a:solidFill>
                <a:latin typeface="Calibri" pitchFamily="34" charset="0"/>
                <a:ea typeface="Calibri" pitchFamily="34" charset="-122"/>
                <a:cs typeface="Calibri" pitchFamily="34" charset="-120"/>
              </a:rPr>
              <a:t>. Calculate its Rf value.</a:t>
            </a:r>
            <a:endParaRPr lang="en-US" sz="1200" dirty="0"/>
          </a:p>
        </p:txBody>
      </p:sp>
      <p:sp>
        <p:nvSpPr>
          <p:cNvPr id="14" name="Text 12"/>
          <p:cNvSpPr/>
          <p:nvPr/>
        </p:nvSpPr>
        <p:spPr>
          <a:xfrm>
            <a:off x="4518508" y="4221099"/>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4641723"/>
            <a:ext cx="5570068" cy="1621917"/>
          </a:xfrm>
          <a:prstGeom prst="roundRect">
            <a:avLst>
              <a:gd name="adj" fmla="val 2819"/>
            </a:avLst>
          </a:prstGeom>
          <a:solidFill>
            <a:srgbClr val="F8F5FC"/>
          </a:solidFill>
          <a:ln w="9525">
            <a:solidFill>
              <a:srgbClr val="DDD3EC"/>
            </a:solidFill>
            <a:prstDash val="solid"/>
          </a:ln>
        </p:spPr>
      </p:sp>
      <p:sp>
        <p:nvSpPr>
          <p:cNvPr id="16" name="Text 14"/>
          <p:cNvSpPr/>
          <p:nvPr/>
        </p:nvSpPr>
        <p:spPr>
          <a:xfrm>
            <a:off x="548640" y="4714875"/>
            <a:ext cx="5295748" cy="1256157"/>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G gave spots with Rf </a:t>
            </a:r>
            <a:r>
              <a:rPr lang="en-US" sz="1200" b="1" dirty="0">
                <a:solidFill>
                  <a:srgbClr val="262B3A"/>
                </a:solidFill>
                <a:latin typeface="Calibri" pitchFamily="34" charset="0"/>
                <a:ea typeface="Calibri" pitchFamily="34" charset="-122"/>
                <a:cs typeface="Calibri" pitchFamily="34" charset="-120"/>
              </a:rPr>
              <a:t>0.40</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0.75</a:t>
            </a:r>
            <a:r>
              <a:rPr lang="en-US" sz="1200" dirty="0">
                <a:solidFill>
                  <a:srgbClr val="262B3A"/>
                </a:solidFill>
                <a:latin typeface="Calibri" pitchFamily="34" charset="0"/>
                <a:ea typeface="Calibri" pitchFamily="34" charset="-122"/>
                <a:cs typeface="Calibri" pitchFamily="34" charset="-120"/>
              </a:rPr>
              <a:t>. Allowed dyes: E102 (0.40), E133 (0.75). Banned dye Z: 0.55. What does this show?</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719072"/>
            <a:ext cx="5570068" cy="1321562"/>
          </a:xfrm>
          <a:prstGeom prst="roundRect">
            <a:avLst>
              <a:gd name="adj" fmla="val 3460"/>
            </a:avLst>
          </a:prstGeom>
          <a:solidFill>
            <a:srgbClr val="F8F5FC"/>
          </a:solidFill>
          <a:ln w="9525">
            <a:solidFill>
              <a:srgbClr val="DDD3EC"/>
            </a:solidFill>
            <a:prstDash val="solid"/>
          </a:ln>
        </p:spPr>
      </p:sp>
      <p:sp>
        <p:nvSpPr>
          <p:cNvPr id="19" name="Text 17"/>
          <p:cNvSpPr/>
          <p:nvPr/>
        </p:nvSpPr>
        <p:spPr>
          <a:xfrm>
            <a:off x="6347308" y="1792224"/>
            <a:ext cx="5295748" cy="955802"/>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Explain how the scientist could check that a sample of E133 is </a:t>
            </a:r>
            <a:r>
              <a:rPr lang="en-US" sz="1200" b="1" dirty="0">
                <a:solidFill>
                  <a:srgbClr val="262B3A"/>
                </a:solidFill>
                <a:latin typeface="Calibri" pitchFamily="34" charset="0"/>
                <a:ea typeface="Calibri" pitchFamily="34" charset="-122"/>
                <a:cs typeface="Calibri" pitchFamily="34" charset="-120"/>
              </a:rPr>
              <a:t>pure</a:t>
            </a:r>
            <a:r>
              <a:rPr lang="en-US" sz="1200" dirty="0">
                <a:solidFill>
                  <a:srgbClr val="262B3A"/>
                </a:solidFill>
                <a:latin typeface="Calibri" pitchFamily="34" charset="0"/>
                <a:ea typeface="Calibri" pitchFamily="34" charset="-122"/>
                <a:cs typeface="Calibri" pitchFamily="34" charset="-120"/>
              </a:rPr>
              <a:t> using chromatography.</a:t>
            </a:r>
            <a:endParaRPr lang="en-US" sz="1200" dirty="0"/>
          </a:p>
        </p:txBody>
      </p:sp>
      <p:sp>
        <p:nvSpPr>
          <p:cNvPr id="20" name="Text 18"/>
          <p:cNvSpPr/>
          <p:nvPr/>
        </p:nvSpPr>
        <p:spPr>
          <a:xfrm>
            <a:off x="10317175" y="2729738"/>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3150362"/>
            <a:ext cx="5570068" cy="1321562"/>
          </a:xfrm>
          <a:prstGeom prst="roundRect">
            <a:avLst>
              <a:gd name="adj" fmla="val 3460"/>
            </a:avLst>
          </a:prstGeom>
          <a:solidFill>
            <a:srgbClr val="FFFFFF"/>
          </a:solidFill>
          <a:ln w="9525">
            <a:solidFill>
              <a:srgbClr val="DDD3EC"/>
            </a:solidFill>
            <a:prstDash val="solid"/>
          </a:ln>
        </p:spPr>
      </p:sp>
      <p:sp>
        <p:nvSpPr>
          <p:cNvPr id="22" name="Text 20"/>
          <p:cNvSpPr/>
          <p:nvPr/>
        </p:nvSpPr>
        <p:spPr>
          <a:xfrm>
            <a:off x="6347308" y="3223514"/>
            <a:ext cx="5295748" cy="955802"/>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Pure sodium chloride melts at </a:t>
            </a:r>
            <a:r>
              <a:rPr lang="en-US" sz="1200" b="1" dirty="0">
                <a:solidFill>
                  <a:srgbClr val="262B3A"/>
                </a:solidFill>
                <a:latin typeface="Calibri" pitchFamily="34" charset="0"/>
                <a:ea typeface="Calibri" pitchFamily="34" charset="-122"/>
                <a:cs typeface="Calibri" pitchFamily="34" charset="-120"/>
              </a:rPr>
              <a:t>801 °C</a:t>
            </a:r>
            <a:r>
              <a:rPr lang="en-US" sz="1200" dirty="0">
                <a:solidFill>
                  <a:srgbClr val="262B3A"/>
                </a:solidFill>
                <a:latin typeface="Calibri" pitchFamily="34" charset="0"/>
                <a:ea typeface="Calibri" pitchFamily="34" charset="-122"/>
                <a:cs typeface="Calibri" pitchFamily="34" charset="-120"/>
              </a:rPr>
              <a:t>. The salt melts between </a:t>
            </a:r>
            <a:r>
              <a:rPr lang="en-US" sz="1200" b="1" dirty="0">
                <a:solidFill>
                  <a:srgbClr val="262B3A"/>
                </a:solidFill>
                <a:latin typeface="Calibri" pitchFamily="34" charset="0"/>
                <a:ea typeface="Calibri" pitchFamily="34" charset="-122"/>
                <a:cs typeface="Calibri" pitchFamily="34" charset="-120"/>
              </a:rPr>
              <a:t>785 °C and 795 °C</a:t>
            </a:r>
            <a:r>
              <a:rPr lang="en-US" sz="1200" dirty="0">
                <a:solidFill>
                  <a:srgbClr val="262B3A"/>
                </a:solidFill>
                <a:latin typeface="Calibri" pitchFamily="34" charset="0"/>
                <a:ea typeface="Calibri" pitchFamily="34" charset="-122"/>
                <a:cs typeface="Calibri" pitchFamily="34" charset="-120"/>
              </a:rPr>
              <a:t>. What does this show? Explain.</a:t>
            </a:r>
            <a:endParaRPr lang="en-US" sz="1200" dirty="0"/>
          </a:p>
        </p:txBody>
      </p:sp>
      <p:sp>
        <p:nvSpPr>
          <p:cNvPr id="23" name="Text 21"/>
          <p:cNvSpPr/>
          <p:nvPr/>
        </p:nvSpPr>
        <p:spPr>
          <a:xfrm>
            <a:off x="10317175" y="4161028"/>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6210148" y="4581652"/>
            <a:ext cx="5570068" cy="1681988"/>
          </a:xfrm>
          <a:prstGeom prst="roundRect">
            <a:avLst>
              <a:gd name="adj" fmla="val 2718"/>
            </a:avLst>
          </a:prstGeom>
          <a:solidFill>
            <a:srgbClr val="F8F5FC"/>
          </a:solidFill>
          <a:ln w="9525">
            <a:solidFill>
              <a:srgbClr val="DDD3EC"/>
            </a:solidFill>
            <a:prstDash val="solid"/>
          </a:ln>
        </p:spPr>
      </p:sp>
      <p:sp>
        <p:nvSpPr>
          <p:cNvPr id="25" name="Text 23"/>
          <p:cNvSpPr/>
          <p:nvPr/>
        </p:nvSpPr>
        <p:spPr>
          <a:xfrm>
            <a:off x="6347308" y="4654804"/>
            <a:ext cx="5295748" cy="1316228"/>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The salt is contaminated with </a:t>
            </a:r>
            <a:r>
              <a:rPr lang="en-US" sz="1200" b="1" dirty="0">
                <a:solidFill>
                  <a:srgbClr val="262B3A"/>
                </a:solidFill>
                <a:latin typeface="Calibri" pitchFamily="34" charset="0"/>
                <a:ea typeface="Calibri" pitchFamily="34" charset="-122"/>
                <a:cs typeface="Calibri" pitchFamily="34" charset="-120"/>
              </a:rPr>
              <a:t>sand</a:t>
            </a:r>
            <a:r>
              <a:rPr lang="en-US" sz="1200" dirty="0">
                <a:solidFill>
                  <a:srgbClr val="262B3A"/>
                </a:solidFill>
                <a:latin typeface="Calibri" pitchFamily="34" charset="0"/>
                <a:ea typeface="Calibri" pitchFamily="34" charset="-122"/>
                <a:cs typeface="Calibri" pitchFamily="34" charset="-120"/>
              </a:rPr>
              <a:t>. Describe how to obtain </a:t>
            </a:r>
            <a:r>
              <a:rPr lang="en-US" sz="1200" b="1" dirty="0">
                <a:solidFill>
                  <a:srgbClr val="262B3A"/>
                </a:solidFill>
                <a:latin typeface="Calibri" pitchFamily="34" charset="0"/>
                <a:ea typeface="Calibri" pitchFamily="34" charset="-122"/>
                <a:cs typeface="Calibri" pitchFamily="34" charset="-120"/>
              </a:rPr>
              <a:t>pure, dry</a:t>
            </a:r>
            <a:r>
              <a:rPr lang="en-US" sz="1200" dirty="0">
                <a:solidFill>
                  <a:srgbClr val="262B3A"/>
                </a:solidFill>
                <a:latin typeface="Calibri" pitchFamily="34" charset="0"/>
                <a:ea typeface="Calibri" pitchFamily="34" charset="-122"/>
                <a:cs typeface="Calibri" pitchFamily="34" charset="-120"/>
              </a:rPr>
              <a:t> salt crystals.</a:t>
            </a:r>
            <a:endParaRPr lang="en-US" sz="1200" dirty="0"/>
          </a:p>
        </p:txBody>
      </p:sp>
      <p:sp>
        <p:nvSpPr>
          <p:cNvPr id="26" name="Text 24"/>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7" name="Text 25"/>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5A3590"/>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5B3A8C"/>
          </a:solidFill>
          <a:ln w="12700">
            <a:solidFill>
              <a:srgbClr val="5B3A8C"/>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5A3590"/>
          </a:solidFill>
          <a:ln w="12700">
            <a:solidFill>
              <a:srgbClr val="5A3590"/>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DE6F8"/>
                </a:solidFill>
                <a:latin typeface="Calibri" pitchFamily="34" charset="0"/>
                <a:ea typeface="Calibri" pitchFamily="34" charset="-122"/>
                <a:cs typeface="Calibri" pitchFamily="34" charset="-120"/>
              </a:rPr>
              <a:t>C5.1 Separation and purity • 17 marks • about 30 minutes</a:t>
            </a:r>
            <a:endParaRPr lang="en-US" sz="1800" dirty="0"/>
          </a:p>
        </p:txBody>
      </p:sp>
      <p:sp>
        <p:nvSpPr>
          <p:cNvPr id="9" name="Text 7"/>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DDD0F2"/>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DDD0F2"/>
                </a:solidFill>
                <a:latin typeface="Calibri" pitchFamily="34" charset="0"/>
                <a:ea typeface="Calibri" pitchFamily="34" charset="-122"/>
                <a:cs typeface="Calibri" pitchFamily="34" charset="-120"/>
              </a:rPr>
              <a:t>Homework  |  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C5.1 How are chemicals separated and tested for purity?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28</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all questions. Q7 is a 6-mark extended answer. All questions are for both tiers.</a:t>
            </a:r>
            <a:endParaRPr lang="en-US" sz="1150" dirty="0"/>
          </a:p>
        </p:txBody>
      </p:sp>
      <p:sp>
        <p:nvSpPr>
          <p:cNvPr id="9" name="Shape 7"/>
          <p:cNvSpPr/>
          <p:nvPr/>
        </p:nvSpPr>
        <p:spPr>
          <a:xfrm>
            <a:off x="411480" y="1517904"/>
            <a:ext cx="5570068" cy="1066800"/>
          </a:xfrm>
          <a:prstGeom prst="roundRect">
            <a:avLst>
              <a:gd name="adj" fmla="val 4286"/>
            </a:avLst>
          </a:prstGeom>
          <a:solidFill>
            <a:srgbClr val="F8F5FC"/>
          </a:solidFill>
          <a:ln w="9525">
            <a:solidFill>
              <a:srgbClr val="DDD3EC"/>
            </a:solidFill>
            <a:prstDash val="solid"/>
          </a:ln>
        </p:spPr>
      </p:sp>
      <p:sp>
        <p:nvSpPr>
          <p:cNvPr id="10" name="Text 8"/>
          <p:cNvSpPr/>
          <p:nvPr/>
        </p:nvSpPr>
        <p:spPr>
          <a:xfrm>
            <a:off x="548640" y="1591056"/>
            <a:ext cx="5295748" cy="71932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State what is meant by a </a:t>
            </a:r>
            <a:r>
              <a:rPr lang="en-US" sz="1150" b="1" dirty="0">
                <a:solidFill>
                  <a:srgbClr val="262B3A"/>
                </a:solidFill>
                <a:latin typeface="Calibri" pitchFamily="34" charset="0"/>
                <a:ea typeface="Calibri" pitchFamily="34" charset="-122"/>
                <a:cs typeface="Calibri" pitchFamily="34" charset="-120"/>
              </a:rPr>
              <a:t>formulation</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1" name="Text 9"/>
          <p:cNvSpPr/>
          <p:nvPr/>
        </p:nvSpPr>
        <p:spPr>
          <a:xfrm>
            <a:off x="4518508" y="229209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694432"/>
            <a:ext cx="5570068" cy="1066800"/>
          </a:xfrm>
          <a:prstGeom prst="roundRect">
            <a:avLst>
              <a:gd name="adj" fmla="val 4286"/>
            </a:avLst>
          </a:prstGeom>
          <a:solidFill>
            <a:srgbClr val="F8F5FC"/>
          </a:solidFill>
          <a:ln w="9525">
            <a:solidFill>
              <a:srgbClr val="DDD3EC"/>
            </a:solidFill>
            <a:prstDash val="solid"/>
          </a:ln>
        </p:spPr>
      </p:sp>
      <p:sp>
        <p:nvSpPr>
          <p:cNvPr id="13" name="Text 11"/>
          <p:cNvSpPr/>
          <p:nvPr/>
        </p:nvSpPr>
        <p:spPr>
          <a:xfrm>
            <a:off x="548640" y="2767584"/>
            <a:ext cx="5295748" cy="71932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A spot moves </a:t>
            </a:r>
            <a:r>
              <a:rPr lang="en-US" sz="1150" b="1" dirty="0">
                <a:solidFill>
                  <a:srgbClr val="262B3A"/>
                </a:solidFill>
                <a:latin typeface="Calibri" pitchFamily="34" charset="0"/>
                <a:ea typeface="Calibri" pitchFamily="34" charset="-122"/>
                <a:cs typeface="Calibri" pitchFamily="34" charset="-120"/>
              </a:rPr>
              <a:t>2.7 cm</a:t>
            </a:r>
            <a:r>
              <a:rPr lang="en-US" sz="1150" dirty="0">
                <a:solidFill>
                  <a:srgbClr val="262B3A"/>
                </a:solidFill>
                <a:latin typeface="Calibri" pitchFamily="34" charset="0"/>
                <a:ea typeface="Calibri" pitchFamily="34" charset="-122"/>
                <a:cs typeface="Calibri" pitchFamily="34" charset="-120"/>
              </a:rPr>
              <a:t>; the solvent front moves </a:t>
            </a:r>
            <a:r>
              <a:rPr lang="en-US" sz="1150" b="1" dirty="0">
                <a:solidFill>
                  <a:srgbClr val="262B3A"/>
                </a:solidFill>
                <a:latin typeface="Calibri" pitchFamily="34" charset="0"/>
                <a:ea typeface="Calibri" pitchFamily="34" charset="-122"/>
                <a:cs typeface="Calibri" pitchFamily="34" charset="-120"/>
              </a:rPr>
              <a:t>9.0 cm</a:t>
            </a:r>
            <a:r>
              <a:rPr lang="en-US" sz="1150" dirty="0">
                <a:solidFill>
                  <a:srgbClr val="262B3A"/>
                </a:solidFill>
                <a:latin typeface="Calibri" pitchFamily="34" charset="0"/>
                <a:ea typeface="Calibri" pitchFamily="34" charset="-122"/>
                <a:cs typeface="Calibri" pitchFamily="34" charset="-120"/>
              </a:rPr>
              <a:t>. Calculate the Rf value.</a:t>
            </a:r>
            <a:endParaRPr lang="en-US" sz="1150" dirty="0"/>
          </a:p>
        </p:txBody>
      </p:sp>
      <p:sp>
        <p:nvSpPr>
          <p:cNvPr id="14" name="Text 12"/>
          <p:cNvSpPr/>
          <p:nvPr/>
        </p:nvSpPr>
        <p:spPr>
          <a:xfrm>
            <a:off x="4518508" y="346862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3870960"/>
            <a:ext cx="5570068" cy="1066800"/>
          </a:xfrm>
          <a:prstGeom prst="roundRect">
            <a:avLst>
              <a:gd name="adj" fmla="val 4286"/>
            </a:avLst>
          </a:prstGeom>
          <a:solidFill>
            <a:srgbClr val="F8F5FC"/>
          </a:solidFill>
          <a:ln w="9525">
            <a:solidFill>
              <a:srgbClr val="DDD3EC"/>
            </a:solidFill>
            <a:prstDash val="solid"/>
          </a:ln>
        </p:spPr>
      </p:sp>
      <p:sp>
        <p:nvSpPr>
          <p:cNvPr id="16" name="Text 14"/>
          <p:cNvSpPr/>
          <p:nvPr/>
        </p:nvSpPr>
        <p:spPr>
          <a:xfrm>
            <a:off x="548640" y="3944112"/>
            <a:ext cx="5295748" cy="71932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reasons why the baseline is drawn in </a:t>
            </a:r>
            <a:r>
              <a:rPr lang="en-US" sz="1150" b="1" dirty="0">
                <a:solidFill>
                  <a:srgbClr val="262B3A"/>
                </a:solidFill>
                <a:latin typeface="Calibri" pitchFamily="34" charset="0"/>
                <a:ea typeface="Calibri" pitchFamily="34" charset="-122"/>
                <a:cs typeface="Calibri" pitchFamily="34" charset="-120"/>
              </a:rPr>
              <a:t>pencil</a:t>
            </a:r>
            <a:r>
              <a:rPr lang="en-US" sz="1150" dirty="0">
                <a:solidFill>
                  <a:srgbClr val="262B3A"/>
                </a:solidFill>
                <a:latin typeface="Calibri" pitchFamily="34" charset="0"/>
                <a:ea typeface="Calibri" pitchFamily="34" charset="-122"/>
                <a:cs typeface="Calibri" pitchFamily="34" charset="-120"/>
              </a:rPr>
              <a:t> and kept </a:t>
            </a:r>
            <a:r>
              <a:rPr lang="en-US" sz="1150" b="1" dirty="0">
                <a:solidFill>
                  <a:srgbClr val="262B3A"/>
                </a:solidFill>
                <a:latin typeface="Calibri" pitchFamily="34" charset="0"/>
                <a:ea typeface="Calibri" pitchFamily="34" charset="-122"/>
                <a:cs typeface="Calibri" pitchFamily="34" charset="-120"/>
              </a:rPr>
              <a:t>above</a:t>
            </a:r>
            <a:r>
              <a:rPr lang="en-US" sz="1150" dirty="0">
                <a:solidFill>
                  <a:srgbClr val="262B3A"/>
                </a:solidFill>
                <a:latin typeface="Calibri" pitchFamily="34" charset="0"/>
                <a:ea typeface="Calibri" pitchFamily="34" charset="-122"/>
                <a:cs typeface="Calibri" pitchFamily="34" charset="-120"/>
              </a:rPr>
              <a:t> the solvent.</a:t>
            </a:r>
            <a:endParaRPr lang="en-US" sz="1150" dirty="0"/>
          </a:p>
        </p:txBody>
      </p:sp>
      <p:sp>
        <p:nvSpPr>
          <p:cNvPr id="17" name="Text 15"/>
          <p:cNvSpPr/>
          <p:nvPr/>
        </p:nvSpPr>
        <p:spPr>
          <a:xfrm>
            <a:off x="4518508" y="464515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5047488"/>
            <a:ext cx="5570068" cy="1280160"/>
          </a:xfrm>
          <a:prstGeom prst="roundRect">
            <a:avLst>
              <a:gd name="adj" fmla="val 3571"/>
            </a:avLst>
          </a:prstGeom>
          <a:solidFill>
            <a:srgbClr val="F8F5FC"/>
          </a:solidFill>
          <a:ln w="9525">
            <a:solidFill>
              <a:srgbClr val="DDD3EC"/>
            </a:solidFill>
            <a:prstDash val="solid"/>
          </a:ln>
        </p:spPr>
      </p:sp>
      <p:sp>
        <p:nvSpPr>
          <p:cNvPr id="19" name="Text 17"/>
          <p:cNvSpPr/>
          <p:nvPr/>
        </p:nvSpPr>
        <p:spPr>
          <a:xfrm>
            <a:off x="548640" y="5120640"/>
            <a:ext cx="5295748" cy="93268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Inky water is distilled. What does the thermometer read while the distillate is collected? Why does cold water enter the condenser at the </a:t>
            </a:r>
            <a:r>
              <a:rPr lang="en-US" sz="1150" b="1" dirty="0">
                <a:solidFill>
                  <a:srgbClr val="262B3A"/>
                </a:solidFill>
                <a:latin typeface="Calibri" pitchFamily="34" charset="0"/>
                <a:ea typeface="Calibri" pitchFamily="34" charset="-122"/>
                <a:cs typeface="Calibri" pitchFamily="34" charset="-120"/>
              </a:rPr>
              <a:t>bottom</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0" name="Text 18"/>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1517904"/>
            <a:ext cx="5570068" cy="1043247"/>
          </a:xfrm>
          <a:prstGeom prst="roundRect">
            <a:avLst>
              <a:gd name="adj" fmla="val 4382"/>
            </a:avLst>
          </a:prstGeom>
          <a:solidFill>
            <a:srgbClr val="F8F5FC"/>
          </a:solidFill>
          <a:ln w="9525">
            <a:solidFill>
              <a:srgbClr val="DDD3EC"/>
            </a:solidFill>
            <a:prstDash val="solid"/>
          </a:ln>
        </p:spPr>
      </p:sp>
      <p:sp>
        <p:nvSpPr>
          <p:cNvPr id="22" name="Text 20"/>
          <p:cNvSpPr/>
          <p:nvPr/>
        </p:nvSpPr>
        <p:spPr>
          <a:xfrm>
            <a:off x="6347308" y="1591056"/>
            <a:ext cx="5295748" cy="695775"/>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Explain what a </a:t>
            </a:r>
            <a:r>
              <a:rPr lang="en-US" sz="1150" b="1" dirty="0">
                <a:solidFill>
                  <a:srgbClr val="262B3A"/>
                </a:solidFill>
                <a:latin typeface="Calibri" pitchFamily="34" charset="0"/>
                <a:ea typeface="Calibri" pitchFamily="34" charset="-122"/>
                <a:cs typeface="Calibri" pitchFamily="34" charset="-120"/>
              </a:rPr>
              <a:t>locating agent</a:t>
            </a:r>
            <a:r>
              <a:rPr lang="en-US" sz="1150" dirty="0">
                <a:solidFill>
                  <a:srgbClr val="262B3A"/>
                </a:solidFill>
                <a:latin typeface="Calibri" pitchFamily="34" charset="0"/>
                <a:ea typeface="Calibri" pitchFamily="34" charset="-122"/>
                <a:cs typeface="Calibri" pitchFamily="34" charset="-120"/>
              </a:rPr>
              <a:t> is and when one is needed.</a:t>
            </a:r>
            <a:endParaRPr lang="en-US" sz="1150" dirty="0"/>
          </a:p>
        </p:txBody>
      </p:sp>
      <p:sp>
        <p:nvSpPr>
          <p:cNvPr id="23" name="Text 21"/>
          <p:cNvSpPr/>
          <p:nvPr/>
        </p:nvSpPr>
        <p:spPr>
          <a:xfrm>
            <a:off x="10317175" y="2268543"/>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6210148" y="2670879"/>
            <a:ext cx="5570068" cy="1251897"/>
          </a:xfrm>
          <a:prstGeom prst="roundRect">
            <a:avLst>
              <a:gd name="adj" fmla="val 3652"/>
            </a:avLst>
          </a:prstGeom>
          <a:solidFill>
            <a:srgbClr val="F8F5FC"/>
          </a:solidFill>
          <a:ln w="9525">
            <a:solidFill>
              <a:srgbClr val="DDD3EC"/>
            </a:solidFill>
            <a:prstDash val="solid"/>
          </a:ln>
        </p:spPr>
      </p:sp>
      <p:sp>
        <p:nvSpPr>
          <p:cNvPr id="25" name="Text 23"/>
          <p:cNvSpPr/>
          <p:nvPr/>
        </p:nvSpPr>
        <p:spPr>
          <a:xfrm>
            <a:off x="6347308" y="2744031"/>
            <a:ext cx="5295748" cy="904425"/>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Pure naphthalene melts at </a:t>
            </a:r>
            <a:r>
              <a:rPr lang="en-US" sz="1150" b="1" dirty="0">
                <a:solidFill>
                  <a:srgbClr val="262B3A"/>
                </a:solidFill>
                <a:latin typeface="Calibri" pitchFamily="34" charset="0"/>
                <a:ea typeface="Calibri" pitchFamily="34" charset="-122"/>
                <a:cs typeface="Calibri" pitchFamily="34" charset="-120"/>
              </a:rPr>
              <a:t>80 °C</a:t>
            </a:r>
            <a:r>
              <a:rPr lang="en-US" sz="1150" dirty="0">
                <a:solidFill>
                  <a:srgbClr val="262B3A"/>
                </a:solidFill>
                <a:latin typeface="Calibri" pitchFamily="34" charset="0"/>
                <a:ea typeface="Calibri" pitchFamily="34" charset="-122"/>
                <a:cs typeface="Calibri" pitchFamily="34" charset="-120"/>
              </a:rPr>
              <a:t>. Sample A melts at </a:t>
            </a:r>
            <a:r>
              <a:rPr lang="en-US" sz="1150" b="1" dirty="0">
                <a:solidFill>
                  <a:srgbClr val="262B3A"/>
                </a:solidFill>
                <a:latin typeface="Calibri" pitchFamily="34" charset="0"/>
                <a:ea typeface="Calibri" pitchFamily="34" charset="-122"/>
                <a:cs typeface="Calibri" pitchFamily="34" charset="-120"/>
              </a:rPr>
              <a:t>80 °C</a:t>
            </a:r>
            <a:r>
              <a:rPr lang="en-US" sz="1150" dirty="0">
                <a:solidFill>
                  <a:srgbClr val="262B3A"/>
                </a:solidFill>
                <a:latin typeface="Calibri" pitchFamily="34" charset="0"/>
                <a:ea typeface="Calibri" pitchFamily="34" charset="-122"/>
                <a:cs typeface="Calibri" pitchFamily="34" charset="-120"/>
              </a:rPr>
              <a:t>; sample B melts between </a:t>
            </a:r>
            <a:r>
              <a:rPr lang="en-US" sz="1150" b="1" dirty="0">
                <a:solidFill>
                  <a:srgbClr val="262B3A"/>
                </a:solidFill>
                <a:latin typeface="Calibri" pitchFamily="34" charset="0"/>
                <a:ea typeface="Calibri" pitchFamily="34" charset="-122"/>
                <a:cs typeface="Calibri" pitchFamily="34" charset="-120"/>
              </a:rPr>
              <a:t>74 °C and 78 °C</a:t>
            </a:r>
            <a:r>
              <a:rPr lang="en-US" sz="1150" dirty="0">
                <a:solidFill>
                  <a:srgbClr val="262B3A"/>
                </a:solidFill>
                <a:latin typeface="Calibri" pitchFamily="34" charset="0"/>
                <a:ea typeface="Calibri" pitchFamily="34" charset="-122"/>
                <a:cs typeface="Calibri" pitchFamily="34" charset="-120"/>
              </a:rPr>
              <a:t>. Which is pure? Explain.</a:t>
            </a:r>
            <a:endParaRPr lang="en-US" sz="1150" dirty="0"/>
          </a:p>
        </p:txBody>
      </p:sp>
      <p:sp>
        <p:nvSpPr>
          <p:cNvPr id="26" name="Text 24"/>
          <p:cNvSpPr/>
          <p:nvPr/>
        </p:nvSpPr>
        <p:spPr>
          <a:xfrm>
            <a:off x="10317175" y="3630168"/>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7" name="Shape 25"/>
          <p:cNvSpPr/>
          <p:nvPr/>
        </p:nvSpPr>
        <p:spPr>
          <a:xfrm>
            <a:off x="6210148" y="4032504"/>
            <a:ext cx="5570068" cy="2295144"/>
          </a:xfrm>
          <a:prstGeom prst="roundRect">
            <a:avLst>
              <a:gd name="adj" fmla="val 1992"/>
            </a:avLst>
          </a:prstGeom>
          <a:solidFill>
            <a:srgbClr val="FFF4E0"/>
          </a:solidFill>
          <a:ln w="9525">
            <a:solidFill>
              <a:srgbClr val="F1D9A8"/>
            </a:solidFill>
            <a:prstDash val="solid"/>
          </a:ln>
        </p:spPr>
      </p:sp>
      <p:sp>
        <p:nvSpPr>
          <p:cNvPr id="28" name="Text 26"/>
          <p:cNvSpPr/>
          <p:nvPr/>
        </p:nvSpPr>
        <p:spPr>
          <a:xfrm>
            <a:off x="6347308" y="4105656"/>
            <a:ext cx="5295748" cy="1947672"/>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7  </a:t>
            </a:r>
            <a:r>
              <a:rPr lang="en-US" sz="1150" dirty="0">
                <a:solidFill>
                  <a:srgbClr val="262B3A"/>
                </a:solidFill>
                <a:latin typeface="Calibri" pitchFamily="34" charset="0"/>
                <a:ea typeface="Calibri" pitchFamily="34" charset="-122"/>
                <a:cs typeface="Calibri" pitchFamily="34" charset="-120"/>
              </a:rPr>
              <a:t>A mixture contains </a:t>
            </a:r>
            <a:r>
              <a:rPr lang="en-US" sz="1150" b="1" dirty="0">
                <a:solidFill>
                  <a:srgbClr val="262B3A"/>
                </a:solidFill>
                <a:latin typeface="Calibri" pitchFamily="34" charset="0"/>
                <a:ea typeface="Calibri" pitchFamily="34" charset="-122"/>
                <a:cs typeface="Calibri" pitchFamily="34" charset="-120"/>
              </a:rPr>
              <a:t>sand</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salt</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water</a:t>
            </a:r>
            <a:r>
              <a:rPr lang="en-US" sz="1150" dirty="0">
                <a:solidFill>
                  <a:srgbClr val="262B3A"/>
                </a:solidFill>
                <a:latin typeface="Calibri" pitchFamily="34" charset="0"/>
                <a:ea typeface="Calibri" pitchFamily="34" charset="-122"/>
                <a:cs typeface="Calibri" pitchFamily="34" charset="-120"/>
              </a:rPr>
              <a:t>. Describe how to obtain </a:t>
            </a:r>
            <a:r>
              <a:rPr lang="en-US" sz="1150" b="1" dirty="0">
                <a:solidFill>
                  <a:srgbClr val="262B3A"/>
                </a:solidFill>
                <a:latin typeface="Calibri" pitchFamily="34" charset="0"/>
                <a:ea typeface="Calibri" pitchFamily="34" charset="-122"/>
                <a:cs typeface="Calibri" pitchFamily="34" charset="-120"/>
              </a:rPr>
              <a:t>dry sand</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salt crystals</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pure water</a:t>
            </a:r>
            <a:r>
              <a:rPr lang="en-US" sz="1150" dirty="0">
                <a:solidFill>
                  <a:srgbClr val="262B3A"/>
                </a:solidFill>
                <a:latin typeface="Calibri" pitchFamily="34" charset="0"/>
                <a:ea typeface="Calibri" pitchFamily="34" charset="-122"/>
                <a:cs typeface="Calibri" pitchFamily="34" charset="-120"/>
              </a:rPr>
              <a:t> from it. Explain why each method works.</a:t>
            </a:r>
            <a:endParaRPr lang="en-US" sz="1150" dirty="0"/>
          </a:p>
        </p:txBody>
      </p:sp>
      <p:sp>
        <p:nvSpPr>
          <p:cNvPr id="29" name="Text 27"/>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C5.1 How are chemicals separated and tested for purity?</dc:title>
  <dc:subject>PptxGenJS Presentation</dc:subject>
  <dc:creator>GCSE Chemistry</dc:creator>
  <cp:lastModifiedBy>GCSE Chemistry</cp:lastModifiedBy>
  <cp:revision>1</cp:revision>
  <dcterms:created xsi:type="dcterms:W3CDTF">2026-10-31T23:19:02Z</dcterms:created>
  <dcterms:modified xsi:type="dcterms:W3CDTF">2026-10-31T23:19:02Z</dcterms:modified>
</cp:coreProperties>
</file>