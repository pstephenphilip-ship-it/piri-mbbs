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C5.2 How are the amounts of substances in reactions calculated? is Part 2 of 3 in J260 Chapter C5 Chemical analysis (C5.1 How are chemicals separated and tested for purity?; C5.2 this deck; C5.3 How are the amounts of chemicals in solution measured?).
Numbering: in J258 (Chemistry B, separate science) this sub-topic is C5.3. J258 C5.2 "How do chemists find the composition of unknown samples?" is separate-science only, so J260 numbers the later sub-topics one lower. Evidence: OCR J260 Advance Information (Summer 2022) section list and the docbrown.info combined page ("Chapter C5.2 How are the amounts of substances in reactions calculated?"); an RSC resource tags "Combined Science B C5.2.2" and "C5.2.3 / C5.2.7". See SPEC_C5_2.md.
Relative atomic masses are used to 1 decimal place (Mg 24.3, Cl 35.5, Ca 40.1, Cu 63.5), as on the OCR periodic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Statements (J258 C5.3 renumbered for J260 C5.2; see SPEC_C5_2.md for confidence):
C5.2.1 recall and use the law of conservation of mass (J258 C5.3.1 wording quoted by an RSC resource)
C5.2.2 explain any observed changes in mass in non-enclosed systems during a chemical reaction and explain them using the particle model (wording from search extracts; combined code C5.2.2 quoted by an RSC resource)
C5.2.3 calculate relative formula masses of species separately and in a balanced chemical equation (combined code quoted by an RSC resource)
C5.2.4 HT describe the measurement of amounts of substance in moles, including the Avogadro constant (wording and code UNVERIFIED)
C5.2.5 HT relate the mass of a substance to its amount in moles and vice versa (wording and code UNVERIFIED)
C5.2.6 HT deduce the stoichiometry of an equation from the masses of reactants and products (code UNVERIFIED)
C5.2.7 use a balanced equation to calculate masses of reactants or products (combined code quoted by an RSC resource). Foundation: scale by ratio using Mr; HT: the moles method.
C5.2.8 HT explain the effect of a limiting quantity of a reactant on the amount of products, in moles or masses in grams (wording from a revision extract of the OCR B statement; code UNVERIFIED)
HT markers: moles, the Avogadro constant, stoichiometry and limiting reactants are Higher-only in every GCSE specification and in OCR Oak "Higher" lessons; the bold markers in the J260 document itself could not be seen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C5 has three sub-topics (OCR J260 Advance Information 2022 lists C5.1 separation and purity, C5.2 amounts of substances in reactions, C5.3 amounts of chemicals in solution; SPEC_C5_1.md reached the same list independently). J258 Chemistry B has four: its C5.2 "How do chemists find the composition of unknown samples?" is separate science only.
Overlap control: separation, chromatography and purity are C5.1 (one starter question only). Concentration, solutions and titration are C5.3 and are NOT taught here. Writing formulae and balancing equations come from C2/C3 and are used, not retaught.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Carbon dioxide and water (C1).
2. 12 protons; 24 − 12 = 12 neutrons (C2). Link: the relative atomic mass on the periodic table (24.3) is a weighted mean of the isotopes.
3. MgO (Mg²⁺, O²⁻); CaCl₂ (Ca²⁺, 2Cl⁻) (C2).
4. Fe₂O₃ + 3CO → 2Fe + 3CO₂ (C3; atom balance asserted in node).
5. CO₂: covalent bonds (simple molecule); MgO: ionic bonding (giant ionic lattice) (C2/C4.2).
6. A single element or compound, not mixed with anything else; a pure substance melts at a sharp, fixed temperature (impurities lower it and widen the range) (C5.1, recap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12.0 + 32.0 = 44.0 g of carbon dioxide (all of the reactants become product; nothing escapes from a sealed container).
Atom counts in the table are generated from the balanced equation in node (Cu 1, S 1, O 6, Na 2, H 2 on each side). Mr check: 159.6 + 2 × 40.0 = 239.6 = 97.5 + 142.1. CLEAPSS-style hazards for the demo: copper(II) sulfate solution (≥ 0.5 mol/dm³ is HARMFUL / irritant; use dilute, about 0.2 mol/dm³ = LOW HAZARD at this concentration but wear eye protection); sodium hydroxide solution 0.4 mol/dm³ is IRRITANT to eyes (CORROSIVE at 0.5 mol/dm³ and above); wear eye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152.40 − 151.52 = 0.88 g of carbon dioxide. Do the reaction in a closed system: seal the flask (bung, or a balloon over the neck to collect the gas) and the reading stays the same.
Mg data: 2.43 g Mg gives 2.43 × 40.3 ÷ 24.3 = 4.03 g MgO, so 1.60 g of oxygen is gained (balance readings: illustrative crucible 17.41 g; 17.41 + 2.43 = 19.84 g before, 17.41 + 4.03 = 21.44 g after). CaCO₃ 10.0 g → 5.6 g CaO (10.0 × 56.1 ÷ 100.1 = 5.60) asserted. Equations atom-balanced in node. Hazards: dilute hydrochloric acid (below 2 mol/dm³) is LOW HAZARD, but wear eye protection; marble chips low hazard.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Total mass of products equals total mass of reactants / mass is not made or lost in a reaction (1); atoms are not created or destroyed, only rearranged (1).
Q2 [2]: 12.0 + 32.0 (1); = 44.0 g (1).
Q3 [2]: Magnesium reacts with / gains oxygen from the air (1); the oxygen atoms become part of the magnesium oxide, so the solid has more mass (1).
Q4 [2]: Hydrogen gas is produced (1); gas particles move quickly / spread out and escape from the open flask, so their mass is no longer on the balance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H₂SO₄ = (2 × 1.0) + 32.1 + (4 × 16.0) = 98.1. Mg(OH)₂ = 24.3 + 2 × (16.0 + 1.0) = 58.3.
Every Mr on this deck is computed in node from the formula and the Ar table (H 1.0, C 12.0, N 14.0, O 16.0, Na 23.0, Mg 24.3, S 32.1, Cl 35.5, Ca 40.1, Cu 63.5), the 1 d.p. values printed on the OCR periodic table. If your students use whole-number Ar values (Mg 24, Cl 35.5), answers differ slightly; accept either in class.
Common errors: multiplying only the H in (OH)₂; adding the charge of ions; giving units (Mr has none; molar mass in g/mol is a Higher idea on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Reactants (2 × 2.0) + 32.0 = 36.0; products 2 × 18.0 = 36.0, equal. 4.0 g of hydrogen (2H₂) makes 36.0 g of water (with 32.0 g of oxygen).
All totals computed in node from the Ar table and the balanced equations (2Mg + O₂: 80.6 = 80.6; CaCO₃: 100.1 = 56.1 + 44.0; CH₄: 80.0 = 80.0; 2H₂ + O₂: 36.0 = 36.0). Equations are atom-balanced in node. The Foundation route to reacting masses (scaling by ratio) builds on this slide (slide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CO₂ = 12.0 + 2 × 16.0 = 44.0 (1); H₂O = 2 × 1.0 + 16.0 = 18.0 (1).
Q2 [2]: 40.1 + 2 × (16.0 + 1.0) or 40.1 + 34.0 (1); = 74.1 (1).
Q3 [2]: 2 × (14.0 + 4 × 1.0) + 32.1 + 4 × 16.0 / 36.0 + 32.1 + 64.0 (1); = 132.1 (1).
Q4 [2]: Reactants 16.0 + 2 × 32.0 = 80.0 (1); products 44.0 + 2 × 18.0 = 80.0, the same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0.50 × 6.02 × 10²³ = 3.01 × 10²³ atoms (accept 3.0 × 10²³). 1 mol of CO₂ has a mass of 44.0 g.
HT ONLY (C5.2.4; wording and code UNVERIFIED, see SPEC). Calculations asserted in node: 2.5 × 6.02 × 10²³ = 1.505 × 10²⁴ → 1.5 × 10²⁴ (2 s.f., as 2.5 has 2 s.f.).
GRADE 7–9 STRETCH: 1 mol of H₂O molecules contains 3 × 6.02 × 10²³ = 1.81 × 10²⁴ atoms. Whether the J260 data sheet gives the Avogadro constant is UNVERIFIED: students should learn 6.02 × 10²³.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9.0 ÷ 18.0 = 0.50 mol. 2.00 × 58.5 = 117 g.
HT ONLY (C5.2.5; wording and code UNVERIFIED). Every row of the table is asserted in node. The relationship n = m ÷ Mr is not on the J260 equation sheet (chemistry formulae must be recalled; UNVERIFIED whether any data sheet item covers it).
Common errors: dividing Mr by mass; using the Ar of one atom instead of the Mr of the whole formula; rounding too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2.00 × 6.02 × 10²³ (1); = 1.20 × 10²⁴ atoms (1).
Q2 [2]: Mr H₂O = 18.0 (1); 36.0 ÷ 18.0 = 2.00 mol (1).
Q3 [2]: 0.200 × 100.1 (1); = 20.0 g (accept 20.02 g) (1).
Q4 [2]: Same number / neither (1); each is 1 mol (mass = Ar in grams), so each contains 6.02 × 10²³ atoms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(F) double the mass, so 2 × 44.0 = 88.0 g. (HT) 25.0 ÷ 100.1 = 0.2498 mol CaCO₃ → 0.2498 mol CO₂ (1 : 1) → 0.2498 × 44.0 = 10.99 = 11.0 g (3 s.f.). Route 1 gives the same: 25.0 × 44.0 ÷ 100.1 = 11.0 g.
C5.2.7 code from an RSC resource tag (Combined Science B). HT status of C5.2.7 is UNVERIFIED: the Foundation route (scaling the Mr ratio, which is conservation of mass plus ratio) is taught to all; the moles route is marked HT. All values asserted in node: 16.0 g → 44.0 g; 8.0 g → 22.0 g; 4.0 g → 11.0 g; 8.0 g CH₄ → 0.50 mol → 1.00 mol H₂O → 18.0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Cu 1.27 ÷ 63.5 = 0.0200 mol; O₂ 0.32 ÷ 32.0 = 0.0100 mol; CuO 1.59 ÷ 79.5 = 0.0200 mol. Divide by 0.0100: 2 : 1 : 2, so 2Cu + O₂ → 2CuO (atom balance asserted in node).
HT ONLY (C5.2.6; code UNVERIFIED). All moles and ratios asserted in node. Note that masses are conserved (2.43 + 1.60 = 4.03 g; 1.27 + 0.32 = 1.59 g), linking back to C5.2.1. Bars plotted to scale from the computed moles.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2.43 is 24.3 ÷ 10 / scale by the same factor (1); 40.3 ÷ 10 = 4.03 g (1).
Q2 [2]: 3.0 ÷ 12.0 = 0.25 mol C, so 0.25 mol CO₂ (1); 0.25 × 44.0 = 11.0 g (accept 11 g) (1). Ratio method 3.0 × 44.0 ÷ 12.0 also scores.
Q3 [2]: 2.43 ÷ 24.3 = 0.100 mol Mg → 0.100 mol H₂ (1); 0.100 × 2.0 = 0.200 g (1).
Q4 [2]: Moles Cu 0.0400, O₂ 0.0200, CuO 0.0400 (1); ratio 2 : 1 : 2, so 2Cu + O₂ → 2CuO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0.0200 mol Cu needs only 0.0100 mol O₂, so copper is limiting and oxygen is in excess. 0.0200 mol CuO × 79.5 = 1.59 g.
HT ONLY (C5.2.8; code UNVERIFIED; wording from an OCR B revision extract: "explain the effect of a limiting quantity of a reactant on the amount of products it is possible to make, in terms of amount of product in moles or masses in grams").
Particle diagram counts asserted: 5 H₂ + 3 Cl₂ → 6 HCl with 2 H₂ left; H atoms 10 = 6 + 4. Worked example asserted: 0.200 mol Mg, 0.150 mol O₂ (0.0500 mol O₂ left over), 8.06 g MgO.
Link to the practical: the lid is lifted so that oxygen is not the limiting reactant.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Lifting the lid lets in oxygen (air) so that the magnesium is not short of oxygen, but keeping it nearly closed stops magnesium oxide smoke escaping (which would make the mass too low). Heating to constant mass shows that all the magnesium has reacted (reaction complete).
SUGGESTED PRACTICAL: no OCR PAG code was found for this sub-topic. SPEC_C5_1.md lists the Combined Science chemistry PAGs as C1 electrolysis, C2 distillation, C3 separation, C4 salts, C5 rates; none is about reacting masses. Classic activity: RSC "The change in mass when magnesium burns", which supports C5.2.2 (open-system mass gain) and, for HT, C5.2.6 (finding the formula / stoichiometry).
CLEAPSS-style hazards: magnesium ribbon FLAMMABLE (Hazcard 59A); burns with a very bright flame (UV): do not look directly at it; magnesium oxide low hazard; crucible and pipeclay triangle stay hot for a long time: use tongs, cool on a heat-resistant mat. Wear eye protection. Worked example values asserted (0.12 g, 0.08 g, 0.20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From the line, about 0.20 g of oxygen (0.30 × 0.66 = 0.198; accept 0.19–0.21 g). Expected MgO = 0.48 × 40.3 ÷ 24.3 = 0.796 = 0.80 g; the student got 0.75 g, so 0.05 g was lost (smoke escaped / not all Mg reacted).
Illustrative data, asserted in node: oxygen = MgO − Mg for every row (0.08, 0.16, 0.23, 0.27, 0.40 g); every run except 0.48 g is within 0.01 g of the theoretical 16.0 ÷ 24.3 × mass of Mg; the 0.48 g run is 0.05 g low (anomaly). Line of best fit drawn with gradient 0.66 (theory 16.0 ÷ 24.3 = 0.658); it reads 0.40 g of oxygen at 0.60 g of Mg (0.396). HT ratio: 0.60 ÷ 24.3 = 0.024691 mol Mg; 0.40 ÷ 16.0 = 0.025 mol O; ratio 1.0.
GRADE 7–9 STRETCH: some Mg reacts with nitrogen in air to form magnesium nitride, Mg₃N₂, which also lowers the mass gained.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The reactant that is completely used up (1); it determines / limits the amount of product made (and the other reactant is in excess) (1).
Q2 [2]: 0.10 mol O₂ needs 0.20 mol Mg, so O₂ is limiting / Mg in excess (1); 0.20 mol MgO (1).
Q3 [2]: To let air / oxygen in so that the magnesium reacts completely (1); but not fully, so that magnesium oxide (smoke) does not escape (1).
Q4 [2]: 0.59 − 0.36 = 0.23 g (1); some MgO smoke escaped / not all the Mg reacted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m = n × Mr. 0.10 × 6.02 × 10²³ = 6.02 × 10²² particles.
These chemistry relationships are not on the J260 physics equation sheet, so students recall them. The OCR data sheet gives the periodic table with Ar values; whether it also lists the Avogadro constant is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Terms marked (HT) are Higher tier only. Concentration terms (mol/dm³, g/dm³, titration) belong to C5.3 and are not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Carbon dioxide gas is produced (1); the gas particles escape from the open crucible into the air (so their mass is not weighed) (1).
(b) [2]: 63.5 + 12.0 + (3 × 16.0) (1); = 123.5 (1).
(c) [2]: CuO 79.5 + CO₂ 44.0 = 123.5 (1); (law of) conservation of mass (1).
(d) [1]: 12.35 − 7.95 = 4.40 g (1).
(e) [3]: 12.35 ÷ 123.5 = 0.100 mol (1); 1 : 1 ratio, so 0.100 mol CuO (1); 0.100 × 79.5 = 7.95 g (1).
(f) [3]: Not all the copper carbonate decomposed / heating too short (1); so less CO₂ was lost and the calculated mass of CO₂ (4.05 g) is too low (1); heat to constant mass / heat for longer and reweigh until the mass stops changing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In a chemical reaction, the total mass of the products equals the total mass of the reactants / mass is not created or destroyed (1).
2 [2]: 24.3 + 2 × (16.0 + 1.0) (1); = 58.3 (1).
3 [2]: Hydrogen gas is made (1); it escapes from the open beaker into the air (1).
4 [2]: 22.0 ÷ 44.0 = 0.500 mol (1); 0.500 × 6.02 × 10²³ = 3.01 × 10²³ molecules (1).
5 [2]: Cl₂ is limiting (1:1 ratio, less Cl₂) (1); 0.15 × 2 = 0.30 mol HCl (1).
6 [2]: 4.0 is 16.0 ÷ 4 / ratio (1); 36.0 ÷ 4 = 9.0 g (1).
7 [6]: OCR level-of-response mark scheme (6 marks). Read the whole answer, decide the level from the content descriptor, then the mark within the level from the quality of the line of reasoning. Use the indicative scientific points below.
Level 3 (5–6 marks): Describes a clear, workable method that would give the mass of oxygen (including weighing before and after, and heating to constant mass or lifting the lid) AND explains the mass increase using oxygen atoms from the air AND links this to conservation of mass. There is a well-developed line of reasoning which is clear and logically structured. The information presented is relevant and substantiated.
Level 2 (3–4 marks): Describes a method with weighing before and after heating AND gives some explanation of the mass increase (oxygen added). There is a line of reasoning presented with some structure. The information presented is relevant and supported by some evidence.
Level 1 (1–2 marks): Simple statements, e.g. "heat the magnesium and weigh it" or "it gains oxygen". There is an attempt at a logical structure with a line of reasoning. The information is in the most part relevant.
0 marks: no response or no response worthy of credit.
Indicative scientific points may include:
 • Method: weigh an empty crucible and lid; add magnesium ribbon (cleaned) and reweigh; mass of Mg by subtraction.
 • Heat strongly on a pipeclay triangle on a tripod with a Bunsen burner; lift the lid occasionally with tongs to let in air; avoid losing smoke.
 • Cool and reweigh; reheat, cool and reweigh until constant mass; mass of oxygen = final mass − mass of crucible, lid and Mg.
 • Repeat with different masses of Mg / repeat each mass and find a mean; plot mass of oxygen against mass of Mg.
 • Safety: eye protection; do not look directly at the burning magnesium; tongs and heat-resistant mat; let the crucible cool.
 • Explanation: magnesium combines with oxygen from the air (2Mg + O₂ → 2MgO), so the solid product contains the oxygen atoms as well and has a greater mass.
 • Mass is still conserved: atoms are only rearranged; mass of Mg + mass of oxygen used = mass of MgO; the system is open, so oxygen enters from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A47"/>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5B3A8C"/>
          </a:solidFill>
          <a:ln w="12700">
            <a:solidFill>
              <a:srgbClr val="5B3A8C"/>
            </a:solidFill>
            <a:prstDash val="solid"/>
          </a:ln>
        </p:spPr>
      </p:sp>
      <p:sp>
        <p:nvSpPr>
          <p:cNvPr id="3" name="Shape 1"/>
          <p:cNvSpPr/>
          <p:nvPr/>
        </p:nvSpPr>
        <p:spPr>
          <a:xfrm>
            <a:off x="9326880" y="2377440"/>
            <a:ext cx="4937760" cy="4937760"/>
          </a:xfrm>
          <a:prstGeom prst="ellipse">
            <a:avLst/>
          </a:prstGeom>
          <a:solidFill>
            <a:srgbClr val="7A52B3">
              <a:alpha val="85000"/>
            </a:srgbClr>
          </a:solidFill>
          <a:ln w="12700">
            <a:solidFill>
              <a:srgbClr val="7A52B3"/>
            </a:solidFill>
            <a:prstDash val="solid"/>
          </a:ln>
        </p:spPr>
      </p:sp>
      <p:sp>
        <p:nvSpPr>
          <p:cNvPr id="4" name="Shape 2"/>
          <p:cNvSpPr/>
          <p:nvPr/>
        </p:nvSpPr>
        <p:spPr>
          <a:xfrm>
            <a:off x="0" y="0"/>
            <a:ext cx="164592" cy="6858000"/>
          </a:xfrm>
          <a:prstGeom prst="rect">
            <a:avLst/>
          </a:prstGeom>
          <a:solidFill>
            <a:srgbClr val="7A52B3"/>
          </a:solidFill>
          <a:ln w="12700">
            <a:solidFill>
              <a:srgbClr val="7A52B3"/>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CD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C5.2  Amounts in reactions</a:t>
            </a:r>
            <a:endParaRPr lang="en-US" sz="4000" dirty="0"/>
          </a:p>
        </p:txBody>
      </p:sp>
      <p:sp>
        <p:nvSpPr>
          <p:cNvPr id="7" name="Text 5"/>
          <p:cNvSpPr/>
          <p:nvPr/>
        </p:nvSpPr>
        <p:spPr>
          <a:xfrm>
            <a:off x="731520" y="2331720"/>
            <a:ext cx="6675120" cy="603504"/>
          </a:xfrm>
          <a:prstGeom prst="rect">
            <a:avLst/>
          </a:prstGeom>
          <a:noFill/>
          <a:ln/>
        </p:spPr>
        <p:txBody>
          <a:bodyPr wrap="square" lIns="0" tIns="0" rIns="0" bIns="0" rtlCol="0" anchor="t"/>
          <a:lstStyle/>
          <a:p>
            <a:pPr indent="0" marL="0">
              <a:buNone/>
            </a:pPr>
            <a:r>
              <a:rPr lang="en-US" sz="1500" i="1" dirty="0">
                <a:solidFill>
                  <a:srgbClr val="DCCDF3"/>
                </a:solidFill>
                <a:latin typeface="Georgia" pitchFamily="34" charset="0"/>
                <a:ea typeface="Georgia" pitchFamily="34" charset="-122"/>
                <a:cs typeface="Georgia" pitchFamily="34" charset="-120"/>
              </a:rPr>
              <a:t>How are the amounts of substances in reactions calculated?</a:t>
            </a:r>
            <a:endParaRPr lang="en-US" sz="15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E4DAF5"/>
                </a:solidFill>
                <a:latin typeface="Calibri" pitchFamily="34" charset="0"/>
                <a:ea typeface="Calibri" pitchFamily="34" charset="-122"/>
                <a:cs typeface="Calibri" pitchFamily="34" charset="-120"/>
              </a:rPr>
              <a:t>Conservation of mass  •  Relative formula mass  •  Mole  •  Avogadro constant  •  Limiting reactant</a:t>
            </a:r>
            <a:endParaRPr lang="en-US" sz="1300" dirty="0"/>
          </a:p>
        </p:txBody>
      </p:sp>
      <p:sp>
        <p:nvSpPr>
          <p:cNvPr id="10" name="Shape 8"/>
          <p:cNvSpPr/>
          <p:nvPr/>
        </p:nvSpPr>
        <p:spPr>
          <a:xfrm>
            <a:off x="731520" y="3886200"/>
            <a:ext cx="457200" cy="457200"/>
          </a:xfrm>
          <a:prstGeom prst="ellipse">
            <a:avLst/>
          </a:prstGeom>
          <a:solidFill>
            <a:srgbClr val="7A52B3"/>
          </a:solidFill>
          <a:ln w="12700">
            <a:solidFill>
              <a:srgbClr val="CD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C5.2.1–C5.2.8 • conservation of mass, relative formula mass, moles, reacting masses</a:t>
            </a:r>
            <a:endParaRPr lang="en-US" sz="1400" dirty="0"/>
          </a:p>
        </p:txBody>
      </p:sp>
      <p:sp>
        <p:nvSpPr>
          <p:cNvPr id="13" name="Shape 11"/>
          <p:cNvSpPr/>
          <p:nvPr/>
        </p:nvSpPr>
        <p:spPr>
          <a:xfrm>
            <a:off x="731520" y="4507992"/>
            <a:ext cx="457200" cy="457200"/>
          </a:xfrm>
          <a:prstGeom prst="ellipse">
            <a:avLst/>
          </a:prstGeom>
          <a:solidFill>
            <a:srgbClr val="7A52B3"/>
          </a:solidFill>
          <a:ln w="12700">
            <a:solidFill>
              <a:srgbClr val="CD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moles, Avogadro constant and limiting reactants marked HT</a:t>
            </a:r>
            <a:endParaRPr lang="en-US" sz="1400" dirty="0"/>
          </a:p>
        </p:txBody>
      </p:sp>
      <p:sp>
        <p:nvSpPr>
          <p:cNvPr id="16" name="Shape 14"/>
          <p:cNvSpPr/>
          <p:nvPr/>
        </p:nvSpPr>
        <p:spPr>
          <a:xfrm>
            <a:off x="731520" y="5129784"/>
            <a:ext cx="457200" cy="457200"/>
          </a:xfrm>
          <a:prstGeom prst="ellipse">
            <a:avLst/>
          </a:prstGeom>
          <a:solidFill>
            <a:srgbClr val="7A52B3"/>
          </a:solidFill>
          <a:ln w="12700">
            <a:solidFill>
              <a:srgbClr val="CD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Suggested practical: the mass change when magnesium burns • worked calculations verified</a:t>
            </a:r>
            <a:endParaRPr lang="en-US" sz="1400" dirty="0"/>
          </a:p>
        </p:txBody>
      </p:sp>
      <p:sp>
        <p:nvSpPr>
          <p:cNvPr id="19" name="Shape 17"/>
          <p:cNvSpPr/>
          <p:nvPr/>
        </p:nvSpPr>
        <p:spPr>
          <a:xfrm>
            <a:off x="731520" y="5769864"/>
            <a:ext cx="4279392" cy="365760"/>
          </a:xfrm>
          <a:prstGeom prst="roundRect">
            <a:avLst>
              <a:gd name="adj" fmla="val 50000"/>
            </a:avLst>
          </a:prstGeom>
          <a:solidFill>
            <a:srgbClr val="22133A"/>
          </a:solidFill>
          <a:ln w="15875">
            <a:solidFill>
              <a:srgbClr val="F5A742"/>
            </a:solidFill>
            <a:prstDash val="solid"/>
          </a:ln>
        </p:spPr>
      </p:sp>
      <p:sp>
        <p:nvSpPr>
          <p:cNvPr id="20" name="Text 18"/>
          <p:cNvSpPr/>
          <p:nvPr/>
        </p:nvSpPr>
        <p:spPr>
          <a:xfrm>
            <a:off x="731520" y="5769864"/>
            <a:ext cx="4279392"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2 of 3 in Chapter C5: Chemical analysis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DDD0F2"/>
                </a:solidFill>
                <a:latin typeface="Calibri" pitchFamily="34" charset="0"/>
                <a:ea typeface="Calibri" pitchFamily="34" charset="-122"/>
                <a:cs typeface="Calibri" pitchFamily="34" charset="-120"/>
              </a:rPr>
              <a:t>OCR J260 Combined Science B • C5.2 how are the amounts of substances in reactions calculated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C5.2.1–C5.2.8 • by the end of this sub-topic you can…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6A3FA0"/>
          </a:solidFill>
          <a:ln w="12700">
            <a:solidFill>
              <a:srgbClr val="6A3FA0"/>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C5.2.1   </a:t>
            </a:r>
            <a:r>
              <a:rPr lang="en-US" sz="1200" dirty="0">
                <a:solidFill>
                  <a:srgbClr val="262B3A"/>
                </a:solidFill>
                <a:latin typeface="Calibri" pitchFamily="34" charset="0"/>
                <a:ea typeface="Calibri" pitchFamily="34" charset="-122"/>
                <a:cs typeface="Calibri" pitchFamily="34" charset="-120"/>
              </a:rPr>
              <a:t>Recall and use the </a:t>
            </a:r>
            <a:r>
              <a:rPr lang="en-US" sz="1200" b="1" dirty="0">
                <a:solidFill>
                  <a:srgbClr val="262B3A"/>
                </a:solidFill>
                <a:latin typeface="Calibri" pitchFamily="34" charset="0"/>
                <a:ea typeface="Calibri" pitchFamily="34" charset="-122"/>
                <a:cs typeface="Calibri" pitchFamily="34" charset="-120"/>
              </a:rPr>
              <a:t>law of conservation of mass</a:t>
            </a:r>
            <a:r>
              <a:rPr lang="en-US" sz="1200" dirty="0">
                <a:solidFill>
                  <a:srgbClr val="262B3A"/>
                </a:solidFill>
                <a:latin typeface="Calibri" pitchFamily="34" charset="0"/>
                <a:ea typeface="Calibri" pitchFamily="34" charset="-122"/>
                <a:cs typeface="Calibri" pitchFamily="34" charset="-120"/>
              </a:rPr>
              <a:t> in a </a:t>
            </a:r>
            <a:r>
              <a:rPr lang="en-US" sz="1200" b="1" dirty="0">
                <a:solidFill>
                  <a:srgbClr val="262B3A"/>
                </a:solidFill>
                <a:latin typeface="Calibri" pitchFamily="34" charset="0"/>
                <a:ea typeface="Calibri" pitchFamily="34" charset="-122"/>
                <a:cs typeface="Calibri" pitchFamily="34" charset="-120"/>
              </a:rPr>
              <a:t>closed system</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502920" y="2194560"/>
            <a:ext cx="457200" cy="457200"/>
          </a:xfrm>
          <a:prstGeom prst="ellipse">
            <a:avLst/>
          </a:prstGeom>
          <a:solidFill>
            <a:srgbClr val="6A3FA0"/>
          </a:solidFill>
          <a:ln w="12700">
            <a:solidFill>
              <a:srgbClr val="6A3FA0"/>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C5.2.2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mass changes</a:t>
            </a:r>
            <a:r>
              <a:rPr lang="en-US" sz="1200" dirty="0">
                <a:solidFill>
                  <a:srgbClr val="262B3A"/>
                </a:solidFill>
                <a:latin typeface="Calibri" pitchFamily="34" charset="0"/>
                <a:ea typeface="Calibri" pitchFamily="34" charset="-122"/>
                <a:cs typeface="Calibri" pitchFamily="34" charset="-120"/>
              </a:rPr>
              <a:t> in </a:t>
            </a:r>
            <a:r>
              <a:rPr lang="en-US" sz="1200" b="1" dirty="0">
                <a:solidFill>
                  <a:srgbClr val="262B3A"/>
                </a:solidFill>
                <a:latin typeface="Calibri" pitchFamily="34" charset="0"/>
                <a:ea typeface="Calibri" pitchFamily="34" charset="-122"/>
                <a:cs typeface="Calibri" pitchFamily="34" charset="-120"/>
              </a:rPr>
              <a:t>non-enclosed</a:t>
            </a:r>
            <a:r>
              <a:rPr lang="en-US" sz="1200" dirty="0">
                <a:solidFill>
                  <a:srgbClr val="262B3A"/>
                </a:solidFill>
                <a:latin typeface="Calibri" pitchFamily="34" charset="0"/>
                <a:ea typeface="Calibri" pitchFamily="34" charset="-122"/>
                <a:cs typeface="Calibri" pitchFamily="34" charset="-120"/>
              </a:rPr>
              <a:t> (open) systems using the </a:t>
            </a:r>
            <a:r>
              <a:rPr lang="en-US" sz="1200" b="1" dirty="0">
                <a:solidFill>
                  <a:srgbClr val="262B3A"/>
                </a:solidFill>
                <a:latin typeface="Calibri" pitchFamily="34" charset="0"/>
                <a:ea typeface="Calibri" pitchFamily="34" charset="-122"/>
                <a:cs typeface="Calibri" pitchFamily="34" charset="-120"/>
              </a:rPr>
              <a:t>particle model</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6A3FA0"/>
          </a:solidFill>
          <a:ln w="12700">
            <a:solidFill>
              <a:srgbClr val="6A3FA0"/>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C5.2.3   </a:t>
            </a:r>
            <a:r>
              <a:rPr lang="en-US" sz="1200" dirty="0">
                <a:solidFill>
                  <a:srgbClr val="262B3A"/>
                </a:solidFill>
                <a:latin typeface="Calibri" pitchFamily="34" charset="0"/>
                <a:ea typeface="Calibri" pitchFamily="34" charset="-122"/>
                <a:cs typeface="Calibri" pitchFamily="34" charset="-120"/>
              </a:rPr>
              <a:t>Calculate </a:t>
            </a:r>
            <a:r>
              <a:rPr lang="en-US" sz="1200" b="1" dirty="0">
                <a:solidFill>
                  <a:srgbClr val="262B3A"/>
                </a:solidFill>
                <a:latin typeface="Calibri" pitchFamily="34" charset="0"/>
                <a:ea typeface="Calibri" pitchFamily="34" charset="-122"/>
                <a:cs typeface="Calibri" pitchFamily="34" charset="-120"/>
              </a:rPr>
              <a:t>relative formula masses (Mr)</a:t>
            </a:r>
            <a:r>
              <a:rPr lang="en-US" sz="1200" dirty="0">
                <a:solidFill>
                  <a:srgbClr val="262B3A"/>
                </a:solidFill>
                <a:latin typeface="Calibri" pitchFamily="34" charset="0"/>
                <a:ea typeface="Calibri" pitchFamily="34" charset="-122"/>
                <a:cs typeface="Calibri" pitchFamily="34" charset="-120"/>
              </a:rPr>
              <a:t> separately and in a </a:t>
            </a:r>
            <a:r>
              <a:rPr lang="en-US" sz="1200" b="1" dirty="0">
                <a:solidFill>
                  <a:srgbClr val="262B3A"/>
                </a:solidFill>
                <a:latin typeface="Calibri" pitchFamily="34" charset="0"/>
                <a:ea typeface="Calibri" pitchFamily="34" charset="-122"/>
                <a:cs typeface="Calibri" pitchFamily="34" charset="-120"/>
              </a:rPr>
              <a:t>balanced equation</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502920" y="3931920"/>
            <a:ext cx="457200" cy="457200"/>
          </a:xfrm>
          <a:prstGeom prst="ellipse">
            <a:avLst/>
          </a:prstGeom>
          <a:solidFill>
            <a:srgbClr val="6A3FA0"/>
          </a:solidFill>
          <a:ln w="12700">
            <a:solidFill>
              <a:srgbClr val="6A3FA0"/>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C5.2.4   </a:t>
            </a:r>
            <a:r>
              <a:rPr lang="en-US" sz="1200" dirty="0">
                <a:solidFill>
                  <a:srgbClr val="262B3A"/>
                </a:solidFill>
                <a:latin typeface="Calibri" pitchFamily="34" charset="0"/>
                <a:ea typeface="Calibri" pitchFamily="34" charset="-122"/>
                <a:cs typeface="Calibri" pitchFamily="34" charset="-120"/>
              </a:rPr>
              <a:t>Describe amounts in </a:t>
            </a:r>
            <a:r>
              <a:rPr lang="en-US" sz="1200" b="1" dirty="0">
                <a:solidFill>
                  <a:srgbClr val="262B3A"/>
                </a:solidFill>
                <a:latin typeface="Calibri" pitchFamily="34" charset="0"/>
                <a:ea typeface="Calibri" pitchFamily="34" charset="-122"/>
                <a:cs typeface="Calibri" pitchFamily="34" charset="-120"/>
              </a:rPr>
              <a:t>moles</a:t>
            </a:r>
            <a:r>
              <a:rPr lang="en-US" sz="1200" dirty="0">
                <a:solidFill>
                  <a:srgbClr val="262B3A"/>
                </a:solidFill>
                <a:latin typeface="Calibri" pitchFamily="34" charset="0"/>
                <a:ea typeface="Calibri" pitchFamily="34" charset="-122"/>
                <a:cs typeface="Calibri" pitchFamily="34" charset="-120"/>
              </a:rPr>
              <a:t> and use the </a:t>
            </a:r>
            <a:r>
              <a:rPr lang="en-US" sz="1200" b="1" dirty="0">
                <a:solidFill>
                  <a:srgbClr val="262B3A"/>
                </a:solidFill>
                <a:latin typeface="Calibri" pitchFamily="34" charset="0"/>
                <a:ea typeface="Calibri" pitchFamily="34" charset="-122"/>
                <a:cs typeface="Calibri" pitchFamily="34" charset="-120"/>
              </a:rPr>
              <a:t>Avogadro constant</a:t>
            </a:r>
            <a:r>
              <a:rPr lang="en-US" sz="1200" dirty="0">
                <a:solidFill>
                  <a:srgbClr val="262B3A"/>
                </a:solidFill>
                <a:latin typeface="Calibri" pitchFamily="34" charset="0"/>
                <a:ea typeface="Calibri" pitchFamily="34" charset="-122"/>
                <a:cs typeface="Calibri" pitchFamily="34" charset="-120"/>
              </a:rPr>
              <a:t>, 6.02 × 10²³.</a:t>
            </a:r>
            <a:endParaRPr lang="en-US" sz="1100" dirty="0"/>
          </a:p>
        </p:txBody>
      </p:sp>
      <p:sp>
        <p:nvSpPr>
          <p:cNvPr id="20" name="Shape 18"/>
          <p:cNvSpPr/>
          <p:nvPr/>
        </p:nvSpPr>
        <p:spPr>
          <a:xfrm>
            <a:off x="5257800" y="4370832"/>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5257800" y="437083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Shape 20"/>
          <p:cNvSpPr/>
          <p:nvPr/>
        </p:nvSpPr>
        <p:spPr>
          <a:xfrm>
            <a:off x="6263640" y="1325880"/>
            <a:ext cx="457200" cy="457200"/>
          </a:xfrm>
          <a:prstGeom prst="ellipse">
            <a:avLst/>
          </a:prstGeom>
          <a:solidFill>
            <a:srgbClr val="6A3FA0"/>
          </a:solidFill>
          <a:ln w="12700">
            <a:solidFill>
              <a:srgbClr val="6A3FA0"/>
            </a:solidFill>
            <a:prstDash val="solid"/>
          </a:ln>
        </p:spPr>
      </p:sp>
      <p:sp>
        <p:nvSpPr>
          <p:cNvPr id="23" name="Text 21"/>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4" name="Text 22"/>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C5.2.5   </a:t>
            </a:r>
            <a:r>
              <a:rPr lang="en-US" sz="1200" dirty="0">
                <a:solidFill>
                  <a:srgbClr val="262B3A"/>
                </a:solidFill>
                <a:latin typeface="Calibri" pitchFamily="34" charset="0"/>
                <a:ea typeface="Calibri" pitchFamily="34" charset="-122"/>
                <a:cs typeface="Calibri" pitchFamily="34" charset="-120"/>
              </a:rPr>
              <a:t>Convert between </a:t>
            </a:r>
            <a:r>
              <a:rPr lang="en-US" sz="1200" b="1" dirty="0">
                <a:solidFill>
                  <a:srgbClr val="262B3A"/>
                </a:solidFill>
                <a:latin typeface="Calibri" pitchFamily="34" charset="0"/>
                <a:ea typeface="Calibri" pitchFamily="34" charset="-122"/>
                <a:cs typeface="Calibri" pitchFamily="34" charset="-120"/>
              </a:rPr>
              <a:t>mass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amount in moles</a:t>
            </a:r>
            <a:r>
              <a:rPr lang="en-US" sz="1200" dirty="0">
                <a:solidFill>
                  <a:srgbClr val="262B3A"/>
                </a:solidFill>
                <a:latin typeface="Calibri" pitchFamily="34" charset="0"/>
                <a:ea typeface="Calibri" pitchFamily="34" charset="-122"/>
                <a:cs typeface="Calibri" pitchFamily="34" charset="-120"/>
              </a:rPr>
              <a:t>: n = m ÷ Mr.</a:t>
            </a:r>
            <a:endParaRPr lang="en-US" sz="1100" dirty="0"/>
          </a:p>
        </p:txBody>
      </p:sp>
      <p:sp>
        <p:nvSpPr>
          <p:cNvPr id="25" name="Shape 23"/>
          <p:cNvSpPr/>
          <p:nvPr/>
        </p:nvSpPr>
        <p:spPr>
          <a:xfrm>
            <a:off x="11018520" y="1764792"/>
            <a:ext cx="411480" cy="274320"/>
          </a:xfrm>
          <a:prstGeom prst="roundRect">
            <a:avLst>
              <a:gd name="adj" fmla="val 50000"/>
            </a:avLst>
          </a:prstGeom>
          <a:solidFill>
            <a:srgbClr val="C8414C"/>
          </a:solidFill>
          <a:ln w="12700">
            <a:solidFill>
              <a:srgbClr val="C8414C"/>
            </a:solidFill>
            <a:prstDash val="solid"/>
          </a:ln>
        </p:spPr>
      </p:sp>
      <p:sp>
        <p:nvSpPr>
          <p:cNvPr id="26" name="Text 24"/>
          <p:cNvSpPr/>
          <p:nvPr/>
        </p:nvSpPr>
        <p:spPr>
          <a:xfrm>
            <a:off x="11018520" y="176479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7" name="Shape 25"/>
          <p:cNvSpPr/>
          <p:nvPr/>
        </p:nvSpPr>
        <p:spPr>
          <a:xfrm>
            <a:off x="6263640" y="2194560"/>
            <a:ext cx="457200" cy="457200"/>
          </a:xfrm>
          <a:prstGeom prst="ellipse">
            <a:avLst/>
          </a:prstGeom>
          <a:solidFill>
            <a:srgbClr val="6A3FA0"/>
          </a:solidFill>
          <a:ln w="12700">
            <a:solidFill>
              <a:srgbClr val="6A3FA0"/>
            </a:solidFill>
            <a:prstDash val="solid"/>
          </a:ln>
        </p:spPr>
      </p:sp>
      <p:sp>
        <p:nvSpPr>
          <p:cNvPr id="28" name="Text 26"/>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9" name="Text 27"/>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C5.2.6   </a:t>
            </a:r>
            <a:r>
              <a:rPr lang="en-US" sz="1200" dirty="0">
                <a:solidFill>
                  <a:srgbClr val="262B3A"/>
                </a:solidFill>
                <a:latin typeface="Calibri" pitchFamily="34" charset="0"/>
                <a:ea typeface="Calibri" pitchFamily="34" charset="-122"/>
                <a:cs typeface="Calibri" pitchFamily="34" charset="-120"/>
              </a:rPr>
              <a:t>Deduce the </a:t>
            </a:r>
            <a:r>
              <a:rPr lang="en-US" sz="1200" b="1" dirty="0">
                <a:solidFill>
                  <a:srgbClr val="262B3A"/>
                </a:solidFill>
                <a:latin typeface="Calibri" pitchFamily="34" charset="0"/>
                <a:ea typeface="Calibri" pitchFamily="34" charset="-122"/>
                <a:cs typeface="Calibri" pitchFamily="34" charset="-120"/>
              </a:rPr>
              <a:t>stoichiometry</a:t>
            </a:r>
            <a:r>
              <a:rPr lang="en-US" sz="1200" dirty="0">
                <a:solidFill>
                  <a:srgbClr val="262B3A"/>
                </a:solidFill>
                <a:latin typeface="Calibri" pitchFamily="34" charset="0"/>
                <a:ea typeface="Calibri" pitchFamily="34" charset="-122"/>
                <a:cs typeface="Calibri" pitchFamily="34" charset="-120"/>
              </a:rPr>
              <a:t> (mole ratio) of an equation from </a:t>
            </a:r>
            <a:r>
              <a:rPr lang="en-US" sz="1200" b="1" dirty="0">
                <a:solidFill>
                  <a:srgbClr val="262B3A"/>
                </a:solidFill>
                <a:latin typeface="Calibri" pitchFamily="34" charset="0"/>
                <a:ea typeface="Calibri" pitchFamily="34" charset="-122"/>
                <a:cs typeface="Calibri" pitchFamily="34" charset="-120"/>
              </a:rPr>
              <a:t>masses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30" name="Shape 28"/>
          <p:cNvSpPr/>
          <p:nvPr/>
        </p:nvSpPr>
        <p:spPr>
          <a:xfrm>
            <a:off x="11018520" y="2633472"/>
            <a:ext cx="411480" cy="274320"/>
          </a:xfrm>
          <a:prstGeom prst="roundRect">
            <a:avLst>
              <a:gd name="adj" fmla="val 50000"/>
            </a:avLst>
          </a:prstGeom>
          <a:solidFill>
            <a:srgbClr val="C8414C"/>
          </a:solidFill>
          <a:ln w="12700">
            <a:solidFill>
              <a:srgbClr val="C8414C"/>
            </a:solidFill>
            <a:prstDash val="solid"/>
          </a:ln>
        </p:spPr>
      </p:sp>
      <p:sp>
        <p:nvSpPr>
          <p:cNvPr id="31" name="Text 29"/>
          <p:cNvSpPr/>
          <p:nvPr/>
        </p:nvSpPr>
        <p:spPr>
          <a:xfrm>
            <a:off x="11018520" y="263347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2" name="Shape 30"/>
          <p:cNvSpPr/>
          <p:nvPr/>
        </p:nvSpPr>
        <p:spPr>
          <a:xfrm>
            <a:off x="6263640" y="3063240"/>
            <a:ext cx="457200" cy="457200"/>
          </a:xfrm>
          <a:prstGeom prst="ellipse">
            <a:avLst/>
          </a:prstGeom>
          <a:solidFill>
            <a:srgbClr val="6A3FA0"/>
          </a:solidFill>
          <a:ln w="12700">
            <a:solidFill>
              <a:srgbClr val="6A3FA0"/>
            </a:solidFill>
            <a:prstDash val="solid"/>
          </a:ln>
        </p:spPr>
      </p:sp>
      <p:sp>
        <p:nvSpPr>
          <p:cNvPr id="33" name="Text 31"/>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4" name="Text 32"/>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C5.2.7   </a:t>
            </a:r>
            <a:r>
              <a:rPr lang="en-US" sz="1200" dirty="0">
                <a:solidFill>
                  <a:srgbClr val="262B3A"/>
                </a:solidFill>
                <a:latin typeface="Calibri" pitchFamily="34" charset="0"/>
                <a:ea typeface="Calibri" pitchFamily="34" charset="-122"/>
                <a:cs typeface="Calibri" pitchFamily="34" charset="-120"/>
              </a:rPr>
              <a:t>Use a </a:t>
            </a:r>
            <a:r>
              <a:rPr lang="en-US" sz="1200" b="1" dirty="0">
                <a:solidFill>
                  <a:srgbClr val="262B3A"/>
                </a:solidFill>
                <a:latin typeface="Calibri" pitchFamily="34" charset="0"/>
                <a:ea typeface="Calibri" pitchFamily="34" charset="-122"/>
                <a:cs typeface="Calibri" pitchFamily="34" charset="-120"/>
              </a:rPr>
              <a:t>balanced equation</a:t>
            </a:r>
            <a:r>
              <a:rPr lang="en-US" sz="1200" dirty="0">
                <a:solidFill>
                  <a:srgbClr val="262B3A"/>
                </a:solidFill>
                <a:latin typeface="Calibri" pitchFamily="34" charset="0"/>
                <a:ea typeface="Calibri" pitchFamily="34" charset="-122"/>
                <a:cs typeface="Calibri" pitchFamily="34" charset="-120"/>
              </a:rPr>
              <a:t> to calculate the </a:t>
            </a:r>
            <a:r>
              <a:rPr lang="en-US" sz="1200" b="1" dirty="0">
                <a:solidFill>
                  <a:srgbClr val="262B3A"/>
                </a:solidFill>
                <a:latin typeface="Calibri" pitchFamily="34" charset="0"/>
                <a:ea typeface="Calibri" pitchFamily="34" charset="-122"/>
                <a:cs typeface="Calibri" pitchFamily="34" charset="-120"/>
              </a:rPr>
              <a:t>masses</a:t>
            </a:r>
            <a:r>
              <a:rPr lang="en-US" sz="1200" dirty="0">
                <a:solidFill>
                  <a:srgbClr val="262B3A"/>
                </a:solidFill>
                <a:latin typeface="Calibri" pitchFamily="34" charset="0"/>
                <a:ea typeface="Calibri" pitchFamily="34" charset="-122"/>
                <a:cs typeface="Calibri" pitchFamily="34" charset="-120"/>
              </a:rPr>
              <a:t> of reactants or products.</a:t>
            </a:r>
            <a:endParaRPr lang="en-US" sz="1100" dirty="0"/>
          </a:p>
        </p:txBody>
      </p:sp>
      <p:sp>
        <p:nvSpPr>
          <p:cNvPr id="35" name="Shape 33"/>
          <p:cNvSpPr/>
          <p:nvPr/>
        </p:nvSpPr>
        <p:spPr>
          <a:xfrm>
            <a:off x="6263640" y="3931920"/>
            <a:ext cx="457200" cy="457200"/>
          </a:xfrm>
          <a:prstGeom prst="ellipse">
            <a:avLst/>
          </a:prstGeom>
          <a:solidFill>
            <a:srgbClr val="6A3FA0"/>
          </a:solidFill>
          <a:ln w="12700">
            <a:solidFill>
              <a:srgbClr val="6A3FA0"/>
            </a:solidFill>
            <a:prstDash val="solid"/>
          </a:ln>
        </p:spPr>
      </p:sp>
      <p:sp>
        <p:nvSpPr>
          <p:cNvPr id="36" name="Text 34"/>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7" name="Text 35"/>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C5.2.8   </a:t>
            </a:r>
            <a:r>
              <a:rPr lang="en-US" sz="1200" dirty="0">
                <a:solidFill>
                  <a:srgbClr val="262B3A"/>
                </a:solidFill>
                <a:latin typeface="Calibri" pitchFamily="34" charset="0"/>
                <a:ea typeface="Calibri" pitchFamily="34" charset="-122"/>
                <a:cs typeface="Calibri" pitchFamily="34" charset="-120"/>
              </a:rPr>
              <a:t>Explain the effect of a </a:t>
            </a:r>
            <a:r>
              <a:rPr lang="en-US" sz="1200" b="1" dirty="0">
                <a:solidFill>
                  <a:srgbClr val="262B3A"/>
                </a:solidFill>
                <a:latin typeface="Calibri" pitchFamily="34" charset="0"/>
                <a:ea typeface="Calibri" pitchFamily="34" charset="-122"/>
                <a:cs typeface="Calibri" pitchFamily="34" charset="-120"/>
              </a:rPr>
              <a:t>limiting reactant</a:t>
            </a:r>
            <a:r>
              <a:rPr lang="en-US" sz="1200" dirty="0">
                <a:solidFill>
                  <a:srgbClr val="262B3A"/>
                </a:solidFill>
                <a:latin typeface="Calibri" pitchFamily="34" charset="0"/>
                <a:ea typeface="Calibri" pitchFamily="34" charset="-122"/>
                <a:cs typeface="Calibri" pitchFamily="34" charset="-120"/>
              </a:rPr>
              <a:t> on the amount of product.</a:t>
            </a:r>
            <a:endParaRPr lang="en-US" sz="1100" dirty="0"/>
          </a:p>
        </p:txBody>
      </p:sp>
      <p:sp>
        <p:nvSpPr>
          <p:cNvPr id="38" name="Shape 36"/>
          <p:cNvSpPr/>
          <p:nvPr/>
        </p:nvSpPr>
        <p:spPr>
          <a:xfrm>
            <a:off x="11018520" y="4370832"/>
            <a:ext cx="411480" cy="274320"/>
          </a:xfrm>
          <a:prstGeom prst="roundRect">
            <a:avLst>
              <a:gd name="adj" fmla="val 50000"/>
            </a:avLst>
          </a:prstGeom>
          <a:solidFill>
            <a:srgbClr val="C8414C"/>
          </a:solidFill>
          <a:ln w="12700">
            <a:solidFill>
              <a:srgbClr val="C8414C"/>
            </a:solidFill>
            <a:prstDash val="solid"/>
          </a:ln>
        </p:spPr>
      </p:sp>
      <p:sp>
        <p:nvSpPr>
          <p:cNvPr id="39" name="Text 37"/>
          <p:cNvSpPr/>
          <p:nvPr/>
        </p:nvSpPr>
        <p:spPr>
          <a:xfrm>
            <a:off x="11018520" y="437083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Chapter C5 Chemical analysis • C5.2 is Part 2 of 3 in Combined Science B</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2A1F3D"/>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C5.2</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Amounts in reactions</a:t>
            </a:r>
            <a:endParaRPr lang="en-US" sz="1100" dirty="0"/>
          </a:p>
        </p:txBody>
      </p:sp>
      <p:sp>
        <p:nvSpPr>
          <p:cNvPr id="10" name="Shape 8"/>
          <p:cNvSpPr/>
          <p:nvPr/>
        </p:nvSpPr>
        <p:spPr>
          <a:xfrm>
            <a:off x="914400" y="1920240"/>
            <a:ext cx="91" cy="3758184"/>
          </a:xfrm>
          <a:prstGeom prst="line">
            <a:avLst/>
          </a:prstGeom>
          <a:noFill/>
          <a:ln w="19050">
            <a:solidFill>
              <a:srgbClr val="6A3FA0"/>
            </a:solidFill>
            <a:prstDash val="solid"/>
          </a:ln>
        </p:spPr>
      </p:sp>
      <p:sp>
        <p:nvSpPr>
          <p:cNvPr id="11" name="Shape 9"/>
          <p:cNvSpPr/>
          <p:nvPr/>
        </p:nvSpPr>
        <p:spPr>
          <a:xfrm>
            <a:off x="914400" y="2386584"/>
            <a:ext cx="411480" cy="91"/>
          </a:xfrm>
          <a:prstGeom prst="line">
            <a:avLst/>
          </a:prstGeom>
          <a:noFill/>
          <a:ln w="19050">
            <a:solidFill>
              <a:srgbClr val="6A3FA0"/>
            </a:solidFill>
            <a:prstDash val="solid"/>
          </a:ln>
        </p:spPr>
      </p:sp>
      <p:sp>
        <p:nvSpPr>
          <p:cNvPr id="12" name="Shape 10"/>
          <p:cNvSpPr/>
          <p:nvPr/>
        </p:nvSpPr>
        <p:spPr>
          <a:xfrm>
            <a:off x="1325880" y="2103120"/>
            <a:ext cx="5120640" cy="566928"/>
          </a:xfrm>
          <a:prstGeom prst="roundRect">
            <a:avLst>
              <a:gd name="adj" fmla="val 8065"/>
            </a:avLst>
          </a:prstGeom>
          <a:solidFill>
            <a:srgbClr val="F8F5FC"/>
          </a:solidFill>
          <a:ln w="12700">
            <a:solidFill>
              <a:srgbClr val="DDD3EC"/>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C5.2.1–2   </a:t>
            </a:r>
            <a:r>
              <a:rPr lang="en-US" sz="1100" dirty="0">
                <a:solidFill>
                  <a:srgbClr val="262B3A"/>
                </a:solidFill>
                <a:latin typeface="Calibri" pitchFamily="34" charset="0"/>
                <a:ea typeface="Calibri" pitchFamily="34" charset="-122"/>
                <a:cs typeface="Calibri" pitchFamily="34" charset="-120"/>
              </a:rPr>
              <a:t>Conservation of mass: closed and open systems</a:t>
            </a:r>
            <a:endParaRPr lang="en-US" sz="1100" dirty="0"/>
          </a:p>
        </p:txBody>
      </p:sp>
      <p:sp>
        <p:nvSpPr>
          <p:cNvPr id="14" name="Shape 12"/>
          <p:cNvSpPr/>
          <p:nvPr/>
        </p:nvSpPr>
        <p:spPr>
          <a:xfrm>
            <a:off x="5257800" y="2249424"/>
            <a:ext cx="1097280" cy="274320"/>
          </a:xfrm>
          <a:prstGeom prst="roundRect">
            <a:avLst>
              <a:gd name="adj" fmla="val 50000"/>
            </a:avLst>
          </a:prstGeom>
          <a:solidFill>
            <a:srgbClr val="6A3FA0"/>
          </a:solidFill>
          <a:ln w="12700">
            <a:solidFill>
              <a:srgbClr val="6A3FA0"/>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6A3FA0"/>
            </a:solidFill>
            <a:prstDash val="solid"/>
          </a:ln>
        </p:spPr>
      </p:sp>
      <p:sp>
        <p:nvSpPr>
          <p:cNvPr id="17" name="Shape 15"/>
          <p:cNvSpPr/>
          <p:nvPr/>
        </p:nvSpPr>
        <p:spPr>
          <a:xfrm>
            <a:off x="1325880" y="2761488"/>
            <a:ext cx="5120640" cy="566928"/>
          </a:xfrm>
          <a:prstGeom prst="roundRect">
            <a:avLst>
              <a:gd name="adj" fmla="val 8065"/>
            </a:avLst>
          </a:prstGeom>
          <a:solidFill>
            <a:srgbClr val="F8F5FC"/>
          </a:solidFill>
          <a:ln w="12700">
            <a:solidFill>
              <a:srgbClr val="DDD3EC"/>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C5.2.3   </a:t>
            </a:r>
            <a:r>
              <a:rPr lang="en-US" sz="1100" dirty="0">
                <a:solidFill>
                  <a:srgbClr val="262B3A"/>
                </a:solidFill>
                <a:latin typeface="Calibri" pitchFamily="34" charset="0"/>
                <a:ea typeface="Calibri" pitchFamily="34" charset="-122"/>
                <a:cs typeface="Calibri" pitchFamily="34" charset="-120"/>
              </a:rPr>
              <a:t>Relative formula mass, Mr, in equations</a:t>
            </a:r>
            <a:endParaRPr lang="en-US" sz="1100" dirty="0"/>
          </a:p>
        </p:txBody>
      </p:sp>
      <p:sp>
        <p:nvSpPr>
          <p:cNvPr id="19" name="Shape 17"/>
          <p:cNvSpPr/>
          <p:nvPr/>
        </p:nvSpPr>
        <p:spPr>
          <a:xfrm>
            <a:off x="5257800" y="2907792"/>
            <a:ext cx="1097280" cy="274320"/>
          </a:xfrm>
          <a:prstGeom prst="roundRect">
            <a:avLst>
              <a:gd name="adj" fmla="val 50000"/>
            </a:avLst>
          </a:prstGeom>
          <a:solidFill>
            <a:srgbClr val="6A3FA0"/>
          </a:solidFill>
          <a:ln w="12700">
            <a:solidFill>
              <a:srgbClr val="6A3FA0"/>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6A3FA0"/>
            </a:solidFill>
            <a:prstDash val="solid"/>
          </a:ln>
        </p:spPr>
      </p:sp>
      <p:sp>
        <p:nvSpPr>
          <p:cNvPr id="22" name="Shape 20"/>
          <p:cNvSpPr/>
          <p:nvPr/>
        </p:nvSpPr>
        <p:spPr>
          <a:xfrm>
            <a:off x="1325880" y="3419856"/>
            <a:ext cx="5120640" cy="566928"/>
          </a:xfrm>
          <a:prstGeom prst="roundRect">
            <a:avLst>
              <a:gd name="adj" fmla="val 8065"/>
            </a:avLst>
          </a:prstGeom>
          <a:solidFill>
            <a:srgbClr val="F8F5FC"/>
          </a:solidFill>
          <a:ln w="12700">
            <a:solidFill>
              <a:srgbClr val="DDD3EC"/>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C5.2.4–5   </a:t>
            </a:r>
            <a:r>
              <a:rPr lang="en-US" sz="1100" dirty="0">
                <a:solidFill>
                  <a:srgbClr val="262B3A"/>
                </a:solidFill>
                <a:latin typeface="Calibri" pitchFamily="34" charset="0"/>
                <a:ea typeface="Calibri" pitchFamily="34" charset="-122"/>
                <a:cs typeface="Calibri" pitchFamily="34" charset="-120"/>
              </a:rPr>
              <a:t>Moles, Avogadro constant, n = m ÷ Mr</a:t>
            </a:r>
            <a:endParaRPr lang="en-US" sz="1100" dirty="0"/>
          </a:p>
        </p:txBody>
      </p:sp>
      <p:sp>
        <p:nvSpPr>
          <p:cNvPr id="24" name="Shape 22"/>
          <p:cNvSpPr/>
          <p:nvPr/>
        </p:nvSpPr>
        <p:spPr>
          <a:xfrm>
            <a:off x="5257800" y="3566160"/>
            <a:ext cx="1097280" cy="274320"/>
          </a:xfrm>
          <a:prstGeom prst="roundRect">
            <a:avLst>
              <a:gd name="adj" fmla="val 50000"/>
            </a:avLst>
          </a:prstGeom>
          <a:solidFill>
            <a:srgbClr val="C8414C"/>
          </a:solidFill>
          <a:ln w="12700">
            <a:solidFill>
              <a:srgbClr val="C8414C"/>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6" name="Shape 24"/>
          <p:cNvSpPr/>
          <p:nvPr/>
        </p:nvSpPr>
        <p:spPr>
          <a:xfrm>
            <a:off x="914400" y="4361688"/>
            <a:ext cx="411480" cy="91"/>
          </a:xfrm>
          <a:prstGeom prst="line">
            <a:avLst/>
          </a:prstGeom>
          <a:noFill/>
          <a:ln w="19050">
            <a:solidFill>
              <a:srgbClr val="6A3FA0"/>
            </a:solidFill>
            <a:prstDash val="solid"/>
          </a:ln>
        </p:spPr>
      </p:sp>
      <p:sp>
        <p:nvSpPr>
          <p:cNvPr id="27" name="Shape 25"/>
          <p:cNvSpPr/>
          <p:nvPr/>
        </p:nvSpPr>
        <p:spPr>
          <a:xfrm>
            <a:off x="1325880" y="4078224"/>
            <a:ext cx="5120640" cy="566928"/>
          </a:xfrm>
          <a:prstGeom prst="roundRect">
            <a:avLst>
              <a:gd name="adj" fmla="val 8065"/>
            </a:avLst>
          </a:prstGeom>
          <a:solidFill>
            <a:srgbClr val="F8F5FC"/>
          </a:solidFill>
          <a:ln w="12700">
            <a:solidFill>
              <a:srgbClr val="DDD3EC"/>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C5.2.6–7   </a:t>
            </a:r>
            <a:r>
              <a:rPr lang="en-US" sz="1100" dirty="0">
                <a:solidFill>
                  <a:srgbClr val="262B3A"/>
                </a:solidFill>
                <a:latin typeface="Calibri" pitchFamily="34" charset="0"/>
                <a:ea typeface="Calibri" pitchFamily="34" charset="-122"/>
                <a:cs typeface="Calibri" pitchFamily="34" charset="-120"/>
              </a:rPr>
              <a:t>Reacting masses and stoichiometry</a:t>
            </a:r>
            <a:endParaRPr lang="en-US" sz="1100" dirty="0"/>
          </a:p>
        </p:txBody>
      </p:sp>
      <p:sp>
        <p:nvSpPr>
          <p:cNvPr id="29" name="Shape 27"/>
          <p:cNvSpPr/>
          <p:nvPr/>
        </p:nvSpPr>
        <p:spPr>
          <a:xfrm>
            <a:off x="5257800" y="4224528"/>
            <a:ext cx="1097280" cy="274320"/>
          </a:xfrm>
          <a:prstGeom prst="roundRect">
            <a:avLst>
              <a:gd name="adj" fmla="val 50000"/>
            </a:avLst>
          </a:prstGeom>
          <a:solidFill>
            <a:srgbClr val="6A3FA0"/>
          </a:solidFill>
          <a:ln w="12700">
            <a:solidFill>
              <a:srgbClr val="6A3FA0"/>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 HT</a:t>
            </a:r>
            <a:endParaRPr lang="en-US" sz="1000" dirty="0"/>
          </a:p>
        </p:txBody>
      </p:sp>
      <p:sp>
        <p:nvSpPr>
          <p:cNvPr id="31" name="Shape 29"/>
          <p:cNvSpPr/>
          <p:nvPr/>
        </p:nvSpPr>
        <p:spPr>
          <a:xfrm>
            <a:off x="914400" y="5020056"/>
            <a:ext cx="411480" cy="91"/>
          </a:xfrm>
          <a:prstGeom prst="line">
            <a:avLst/>
          </a:prstGeom>
          <a:noFill/>
          <a:ln w="19050">
            <a:solidFill>
              <a:srgbClr val="6A3FA0"/>
            </a:solidFill>
            <a:prstDash val="solid"/>
          </a:ln>
        </p:spPr>
      </p:sp>
      <p:sp>
        <p:nvSpPr>
          <p:cNvPr id="32" name="Shape 30"/>
          <p:cNvSpPr/>
          <p:nvPr/>
        </p:nvSpPr>
        <p:spPr>
          <a:xfrm>
            <a:off x="1325880" y="4736592"/>
            <a:ext cx="5120640" cy="566928"/>
          </a:xfrm>
          <a:prstGeom prst="roundRect">
            <a:avLst>
              <a:gd name="adj" fmla="val 8065"/>
            </a:avLst>
          </a:prstGeom>
          <a:solidFill>
            <a:srgbClr val="F8F5FC"/>
          </a:solidFill>
          <a:ln w="12700">
            <a:solidFill>
              <a:srgbClr val="DDD3EC"/>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C5.2.8   </a:t>
            </a:r>
            <a:r>
              <a:rPr lang="en-US" sz="1100" dirty="0">
                <a:solidFill>
                  <a:srgbClr val="262B3A"/>
                </a:solidFill>
                <a:latin typeface="Calibri" pitchFamily="34" charset="0"/>
                <a:ea typeface="Calibri" pitchFamily="34" charset="-122"/>
                <a:cs typeface="Calibri" pitchFamily="34" charset="-120"/>
              </a:rPr>
              <a:t>Limiting reactants</a:t>
            </a:r>
            <a:endParaRPr lang="en-US" sz="1100" dirty="0"/>
          </a:p>
        </p:txBody>
      </p:sp>
      <p:sp>
        <p:nvSpPr>
          <p:cNvPr id="34" name="Shape 32"/>
          <p:cNvSpPr/>
          <p:nvPr/>
        </p:nvSpPr>
        <p:spPr>
          <a:xfrm>
            <a:off x="5257800" y="4882896"/>
            <a:ext cx="1097280" cy="274320"/>
          </a:xfrm>
          <a:prstGeom prst="roundRect">
            <a:avLst>
              <a:gd name="adj" fmla="val 50000"/>
            </a:avLst>
          </a:prstGeom>
          <a:solidFill>
            <a:srgbClr val="C8414C"/>
          </a:solidFill>
          <a:ln w="12700">
            <a:solidFill>
              <a:srgbClr val="C8414C"/>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6" name="Shape 34"/>
          <p:cNvSpPr/>
          <p:nvPr/>
        </p:nvSpPr>
        <p:spPr>
          <a:xfrm>
            <a:off x="914400" y="5678424"/>
            <a:ext cx="411480" cy="91"/>
          </a:xfrm>
          <a:prstGeom prst="line">
            <a:avLst/>
          </a:prstGeom>
          <a:noFill/>
          <a:ln w="19050">
            <a:solidFill>
              <a:srgbClr val="6A3FA0"/>
            </a:solidFill>
            <a:prstDash val="solid"/>
          </a:ln>
        </p:spPr>
      </p:sp>
      <p:sp>
        <p:nvSpPr>
          <p:cNvPr id="37" name="Shape 35"/>
          <p:cNvSpPr/>
          <p:nvPr/>
        </p:nvSpPr>
        <p:spPr>
          <a:xfrm>
            <a:off x="1325880" y="5394960"/>
            <a:ext cx="5120640" cy="566928"/>
          </a:xfrm>
          <a:prstGeom prst="roundRect">
            <a:avLst>
              <a:gd name="adj" fmla="val 8065"/>
            </a:avLst>
          </a:prstGeom>
          <a:solidFill>
            <a:srgbClr val="F8F5FC"/>
          </a:solidFill>
          <a:ln w="12700">
            <a:solidFill>
              <a:srgbClr val="DDD3EC"/>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Mass change when magnesium burns</a:t>
            </a:r>
            <a:endParaRPr lang="en-US" sz="1100" dirty="0"/>
          </a:p>
        </p:txBody>
      </p:sp>
      <p:sp>
        <p:nvSpPr>
          <p:cNvPr id="39" name="Shape 37"/>
          <p:cNvSpPr/>
          <p:nvPr/>
        </p:nvSpPr>
        <p:spPr>
          <a:xfrm>
            <a:off x="5257800" y="5541264"/>
            <a:ext cx="1097280" cy="274320"/>
          </a:xfrm>
          <a:prstGeom prst="roundRect">
            <a:avLst>
              <a:gd name="adj" fmla="val 50000"/>
            </a:avLst>
          </a:prstGeom>
          <a:solidFill>
            <a:srgbClr val="B8730A"/>
          </a:solidFill>
          <a:ln w="12700">
            <a:solidFill>
              <a:srgbClr val="B8730A"/>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C1 combustion • C2 formulae and ions • C3 balanced equations, extraction • C5.1 purity</a:t>
            </a:r>
            <a:endParaRPr lang="en-US" sz="1050" dirty="0"/>
          </a:p>
        </p:txBody>
      </p:sp>
      <p:sp>
        <p:nvSpPr>
          <p:cNvPr id="42" name="Shape 40"/>
          <p:cNvSpPr/>
          <p:nvPr/>
        </p:nvSpPr>
        <p:spPr>
          <a:xfrm>
            <a:off x="6720840" y="1234440"/>
            <a:ext cx="5056632" cy="2514600"/>
          </a:xfrm>
          <a:prstGeom prst="roundRect">
            <a:avLst>
              <a:gd name="adj" fmla="val 2182"/>
            </a:avLst>
          </a:prstGeom>
          <a:solidFill>
            <a:srgbClr val="2E1A47"/>
          </a:solidFill>
          <a:ln/>
        </p:spPr>
      </p:sp>
      <p:sp>
        <p:nvSpPr>
          <p:cNvPr id="43" name="Text 41"/>
          <p:cNvSpPr/>
          <p:nvPr/>
        </p:nvSpPr>
        <p:spPr>
          <a:xfrm>
            <a:off x="6903720" y="132588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C5 in J260</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C5.1 How are chemicals separated and tested for purity?</a:t>
            </a:r>
            <a:endParaRPr lang="en-US" sz="1500" dirty="0"/>
          </a:p>
          <a:p>
            <a:pPr marL="152400" indent="-152400">
              <a:spcAft>
                <a:spcPts val="200"/>
              </a:spcAft>
              <a:buSzPct val="100000"/>
              <a:buChar char="▪"/>
            </a:pPr>
            <a:r>
              <a:rPr lang="en-US" sz="1100" b="1" dirty="0">
                <a:solidFill>
                  <a:srgbClr val="E9E0F7"/>
                </a:solidFill>
                <a:latin typeface="Calibri" pitchFamily="34" charset="0"/>
                <a:ea typeface="Calibri" pitchFamily="34" charset="-122"/>
                <a:cs typeface="Calibri" pitchFamily="34" charset="-120"/>
              </a:rPr>
              <a:t>C5.2 How are the amounts of substances in reactions calculated?</a:t>
            </a:r>
            <a:r>
              <a:rPr lang="en-US" sz="1100" dirty="0">
                <a:solidFill>
                  <a:srgbClr val="E9E0F7"/>
                </a:solidFill>
                <a:latin typeface="Calibri" pitchFamily="34" charset="0"/>
                <a:ea typeface="Calibri" pitchFamily="34" charset="-122"/>
                <a:cs typeface="Calibri" pitchFamily="34" charset="-120"/>
              </a:rPr>
              <a:t> (this deck)</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C5.3 How are the amounts of chemicals in solution measured?</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J258 (separate) has an extra C5.2 on unknown samples, so this is </a:t>
            </a:r>
            <a:r>
              <a:rPr lang="en-US" sz="1100" b="1" dirty="0">
                <a:solidFill>
                  <a:srgbClr val="E9E0F7"/>
                </a:solidFill>
                <a:latin typeface="Calibri" pitchFamily="34" charset="0"/>
                <a:ea typeface="Calibri" pitchFamily="34" charset="-122"/>
                <a:cs typeface="Calibri" pitchFamily="34" charset="-120"/>
              </a:rPr>
              <a:t>C5.3</a:t>
            </a:r>
            <a:r>
              <a:rPr lang="en-US" sz="1100" dirty="0">
                <a:solidFill>
                  <a:srgbClr val="E9E0F7"/>
                </a:solidFill>
                <a:latin typeface="Calibri" pitchFamily="34" charset="0"/>
                <a:ea typeface="Calibri" pitchFamily="34" charset="-122"/>
                <a:cs typeface="Calibri" pitchFamily="34" charset="-120"/>
              </a:rPr>
              <a:t> there.</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Concentration and solutions come next, in </a:t>
            </a:r>
            <a:r>
              <a:rPr lang="en-US" sz="1100" b="1" dirty="0">
                <a:solidFill>
                  <a:srgbClr val="E9E0F7"/>
                </a:solidFill>
                <a:latin typeface="Calibri" pitchFamily="34" charset="0"/>
                <a:ea typeface="Calibri" pitchFamily="34" charset="-122"/>
                <a:cs typeface="Calibri" pitchFamily="34" charset="-120"/>
              </a:rPr>
              <a:t>C5.3</a:t>
            </a:r>
            <a:r>
              <a:rPr lang="en-US" sz="1100" dirty="0">
                <a:solidFill>
                  <a:srgbClr val="E9E0F7"/>
                </a:solidFill>
                <a:latin typeface="Calibri" pitchFamily="34" charset="0"/>
                <a:ea typeface="Calibri" pitchFamily="34" charset="-122"/>
                <a:cs typeface="Calibri" pitchFamily="34" charset="-120"/>
              </a:rPr>
              <a:t>.</a:t>
            </a:r>
            <a:endParaRPr lang="en-US" sz="1500" dirty="0"/>
          </a:p>
        </p:txBody>
      </p:sp>
      <p:sp>
        <p:nvSpPr>
          <p:cNvPr id="44" name="Shape 42"/>
          <p:cNvSpPr/>
          <p:nvPr/>
        </p:nvSpPr>
        <p:spPr>
          <a:xfrm>
            <a:off x="6720840" y="3886200"/>
            <a:ext cx="5056632" cy="2377440"/>
          </a:xfrm>
          <a:prstGeom prst="roundRect">
            <a:avLst>
              <a:gd name="adj" fmla="val 2308"/>
            </a:avLst>
          </a:prstGeom>
          <a:solidFill>
            <a:srgbClr val="FFF4E0"/>
          </a:solidFill>
          <a:ln w="12700">
            <a:solidFill>
              <a:srgbClr val="F1D9A8"/>
            </a:solidFill>
            <a:prstDash val="solid"/>
          </a:ln>
        </p:spPr>
      </p:sp>
      <p:sp>
        <p:nvSpPr>
          <p:cNvPr id="45" name="Text 43"/>
          <p:cNvSpPr/>
          <p:nvPr/>
        </p:nvSpPr>
        <p:spPr>
          <a:xfrm>
            <a:off x="6903720" y="3977640"/>
            <a:ext cx="4709160" cy="21945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Slides with the red </a:t>
            </a:r>
            <a:r>
              <a:rPr lang="en-US" sz="1100" b="1" dirty="0">
                <a:solidFill>
                  <a:srgbClr val="262B3A"/>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pill (moles, Avogadro, limiting reactants) are for Higher tier only.</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Foundation: conservation of mass, </a:t>
            </a:r>
            <a:r>
              <a:rPr lang="en-US" sz="1100" b="1" dirty="0">
                <a:solidFill>
                  <a:srgbClr val="262B3A"/>
                </a:solidFill>
                <a:latin typeface="Calibri" pitchFamily="34" charset="0"/>
                <a:ea typeface="Calibri" pitchFamily="34" charset="-122"/>
                <a:cs typeface="Calibri" pitchFamily="34" charset="-120"/>
              </a:rPr>
              <a:t>Mr</a:t>
            </a:r>
            <a:r>
              <a:rPr lang="en-US" sz="1100" dirty="0">
                <a:solidFill>
                  <a:srgbClr val="262B3A"/>
                </a:solidFill>
                <a:latin typeface="Calibri" pitchFamily="34" charset="0"/>
                <a:ea typeface="Calibri" pitchFamily="34" charset="-122"/>
                <a:cs typeface="Calibri" pitchFamily="34" charset="-120"/>
              </a:rPr>
              <a:t>, and reacting masses by </a:t>
            </a:r>
            <a:r>
              <a:rPr lang="en-US" sz="1100" b="1" dirty="0">
                <a:solidFill>
                  <a:srgbClr val="262B3A"/>
                </a:solidFill>
                <a:latin typeface="Calibri" pitchFamily="34" charset="0"/>
                <a:ea typeface="Calibri" pitchFamily="34" charset="-122"/>
                <a:cs typeface="Calibri" pitchFamily="34" charset="-120"/>
              </a:rPr>
              <a:t>ratio</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a:t>
            </a:r>
            <a:r>
              <a:rPr lang="en-US" sz="1100" b="1" dirty="0">
                <a:solidFill>
                  <a:srgbClr val="262B3A"/>
                </a:solidFill>
                <a:latin typeface="Calibri" pitchFamily="34" charset="0"/>
                <a:ea typeface="Calibri" pitchFamily="34" charset="-122"/>
                <a:cs typeface="Calibri" pitchFamily="34" charset="-120"/>
              </a:rPr>
              <a:t>ratio</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standard form</a:t>
            </a:r>
            <a:r>
              <a:rPr lang="en-US" sz="1100" dirty="0">
                <a:solidFill>
                  <a:srgbClr val="262B3A"/>
                </a:solidFill>
                <a:latin typeface="Calibri" pitchFamily="34" charset="0"/>
                <a:ea typeface="Calibri" pitchFamily="34" charset="-122"/>
                <a:cs typeface="Calibri" pitchFamily="34" charset="-120"/>
              </a:rPr>
              <a:t>, rearranging, </a:t>
            </a:r>
            <a:r>
              <a:rPr lang="en-US" sz="1100" b="1" dirty="0">
                <a:solidFill>
                  <a:srgbClr val="262B3A"/>
                </a:solidFill>
                <a:latin typeface="Calibri" pitchFamily="34" charset="0"/>
                <a:ea typeface="Calibri" pitchFamily="34" charset="-122"/>
                <a:cs typeface="Calibri" pitchFamily="34" charset="-120"/>
              </a:rPr>
              <a:t>significant figures</a:t>
            </a:r>
            <a:r>
              <a:rPr lang="en-US" sz="1100" dirty="0">
                <a:solidFill>
                  <a:srgbClr val="262B3A"/>
                </a:solidFill>
                <a:latin typeface="Calibri" pitchFamily="34" charset="0"/>
                <a:ea typeface="Calibri" pitchFamily="34" charset="-122"/>
                <a:cs typeface="Calibri" pitchFamily="34" charset="-120"/>
              </a:rPr>
              <a:t>, plotting a </a:t>
            </a:r>
            <a:r>
              <a:rPr lang="en-US" sz="1100" b="1" dirty="0">
                <a:solidFill>
                  <a:srgbClr val="262B3A"/>
                </a:solidFill>
                <a:latin typeface="Calibri" pitchFamily="34" charset="0"/>
                <a:ea typeface="Calibri" pitchFamily="34" charset="-122"/>
                <a:cs typeface="Calibri" pitchFamily="34" charset="-120"/>
              </a:rPr>
              <a:t>graph</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Use the </a:t>
            </a:r>
            <a:r>
              <a:rPr lang="en-US" sz="1100" b="1" dirty="0">
                <a:solidFill>
                  <a:srgbClr val="262B3A"/>
                </a:solidFill>
                <a:latin typeface="Calibri" pitchFamily="34" charset="0"/>
                <a:ea typeface="Calibri" pitchFamily="34" charset="-122"/>
                <a:cs typeface="Calibri" pitchFamily="34" charset="-120"/>
              </a:rPr>
              <a:t>Ar</a:t>
            </a:r>
            <a:r>
              <a:rPr lang="en-US" sz="1100" dirty="0">
                <a:solidFill>
                  <a:srgbClr val="262B3A"/>
                </a:solidFill>
                <a:latin typeface="Calibri" pitchFamily="34" charset="0"/>
                <a:ea typeface="Calibri" pitchFamily="34" charset="-122"/>
                <a:cs typeface="Calibri" pitchFamily="34" charset="-120"/>
              </a:rPr>
              <a:t> values from the OCR periodic table, to </a:t>
            </a:r>
            <a:r>
              <a:rPr lang="en-US" sz="1100" b="1" dirty="0">
                <a:solidFill>
                  <a:srgbClr val="262B3A"/>
                </a:solidFill>
                <a:latin typeface="Calibri" pitchFamily="34" charset="0"/>
                <a:ea typeface="Calibri" pitchFamily="34" charset="-122"/>
                <a:cs typeface="Calibri" pitchFamily="34" charset="-120"/>
              </a:rPr>
              <a:t>1 d.p.</a:t>
            </a:r>
            <a:r>
              <a:rPr lang="en-US" sz="1100" dirty="0">
                <a:solidFill>
                  <a:srgbClr val="262B3A"/>
                </a:solidFill>
                <a:latin typeface="Calibri" pitchFamily="34" charset="0"/>
                <a:ea typeface="Calibri" pitchFamily="34" charset="-122"/>
                <a:cs typeface="Calibri" pitchFamily="34" charset="-120"/>
              </a:rPr>
              <a:t> (Mg = 24.3).</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Recall from C1–C4 and C5.1 • 6 minutes • no notes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8F5FC"/>
          </a:solidFill>
          <a:ln w="9525">
            <a:solidFill>
              <a:srgbClr val="DDD3EC"/>
            </a:solidFill>
            <a:prstDash val="solid"/>
          </a:ln>
        </p:spPr>
      </p:sp>
      <p:sp>
        <p:nvSpPr>
          <p:cNvPr id="9" name="Shape 7"/>
          <p:cNvSpPr/>
          <p:nvPr/>
        </p:nvSpPr>
        <p:spPr>
          <a:xfrm>
            <a:off x="548640" y="1371600"/>
            <a:ext cx="438912" cy="438912"/>
          </a:xfrm>
          <a:prstGeom prst="ellipse">
            <a:avLst/>
          </a:prstGeom>
          <a:solidFill>
            <a:srgbClr val="6A3FA0"/>
          </a:solidFill>
          <a:ln w="12700">
            <a:solidFill>
              <a:srgbClr val="6A3FA0"/>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C1 • air and combustion</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products when </a:t>
            </a:r>
            <a:r>
              <a:rPr lang="en-US" sz="1250" b="1" dirty="0">
                <a:solidFill>
                  <a:srgbClr val="262B3A"/>
                </a:solidFill>
                <a:latin typeface="Calibri" pitchFamily="34" charset="0"/>
                <a:ea typeface="Calibri" pitchFamily="34" charset="-122"/>
                <a:cs typeface="Calibri" pitchFamily="34" charset="-120"/>
              </a:rPr>
              <a:t>methane</a:t>
            </a:r>
            <a:r>
              <a:rPr lang="en-US" sz="1250" dirty="0">
                <a:solidFill>
                  <a:srgbClr val="262B3A"/>
                </a:solidFill>
                <a:latin typeface="Calibri" pitchFamily="34" charset="0"/>
                <a:ea typeface="Calibri" pitchFamily="34" charset="-122"/>
                <a:cs typeface="Calibri" pitchFamily="34" charset="-120"/>
              </a:rPr>
              <a:t> burns completely in air.</a:t>
            </a:r>
            <a:endParaRPr lang="en-US" sz="1250" dirty="0"/>
          </a:p>
        </p:txBody>
      </p:sp>
      <p:sp>
        <p:nvSpPr>
          <p:cNvPr id="13" name="Shape 11"/>
          <p:cNvSpPr/>
          <p:nvPr/>
        </p:nvSpPr>
        <p:spPr>
          <a:xfrm>
            <a:off x="4251960" y="1234440"/>
            <a:ext cx="3657600" cy="2011680"/>
          </a:xfrm>
          <a:prstGeom prst="roundRect">
            <a:avLst>
              <a:gd name="adj" fmla="val 2727"/>
            </a:avLst>
          </a:prstGeom>
          <a:solidFill>
            <a:srgbClr val="F8F5FC"/>
          </a:solidFill>
          <a:ln w="9525">
            <a:solidFill>
              <a:srgbClr val="DDD3EC"/>
            </a:solidFill>
            <a:prstDash val="solid"/>
          </a:ln>
        </p:spPr>
      </p:sp>
      <p:sp>
        <p:nvSpPr>
          <p:cNvPr id="14" name="Shape 12"/>
          <p:cNvSpPr/>
          <p:nvPr/>
        </p:nvSpPr>
        <p:spPr>
          <a:xfrm>
            <a:off x="4389120" y="1371600"/>
            <a:ext cx="438912" cy="438912"/>
          </a:xfrm>
          <a:prstGeom prst="ellipse">
            <a:avLst/>
          </a:prstGeom>
          <a:solidFill>
            <a:srgbClr val="6A3FA0"/>
          </a:solidFill>
          <a:ln w="12700">
            <a:solidFill>
              <a:srgbClr val="6A3FA0"/>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atoms</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Magnesium has atomic number </a:t>
            </a:r>
            <a:r>
              <a:rPr lang="en-US" sz="1250" b="1" dirty="0">
                <a:solidFill>
                  <a:srgbClr val="262B3A"/>
                </a:solidFill>
                <a:latin typeface="Calibri" pitchFamily="34" charset="0"/>
                <a:ea typeface="Calibri" pitchFamily="34" charset="-122"/>
                <a:cs typeface="Calibri" pitchFamily="34" charset="-120"/>
              </a:rPr>
              <a:t>12</a:t>
            </a:r>
            <a:r>
              <a:rPr lang="en-US" sz="1250" dirty="0">
                <a:solidFill>
                  <a:srgbClr val="262B3A"/>
                </a:solidFill>
                <a:latin typeface="Calibri" pitchFamily="34" charset="0"/>
                <a:ea typeface="Calibri" pitchFamily="34" charset="-122"/>
                <a:cs typeface="Calibri" pitchFamily="34" charset="-120"/>
              </a:rPr>
              <a:t> and mass number </a:t>
            </a:r>
            <a:r>
              <a:rPr lang="en-US" sz="1250" b="1" dirty="0">
                <a:solidFill>
                  <a:srgbClr val="262B3A"/>
                </a:solidFill>
                <a:latin typeface="Calibri" pitchFamily="34" charset="0"/>
                <a:ea typeface="Calibri" pitchFamily="34" charset="-122"/>
                <a:cs typeface="Calibri" pitchFamily="34" charset="-120"/>
              </a:rPr>
              <a:t>24</a:t>
            </a:r>
            <a:r>
              <a:rPr lang="en-US" sz="1250" dirty="0">
                <a:solidFill>
                  <a:srgbClr val="262B3A"/>
                </a:solidFill>
                <a:latin typeface="Calibri" pitchFamily="34" charset="0"/>
                <a:ea typeface="Calibri" pitchFamily="34" charset="-122"/>
                <a:cs typeface="Calibri" pitchFamily="34" charset="-120"/>
              </a:rPr>
              <a:t>. How many </a:t>
            </a:r>
            <a:r>
              <a:rPr lang="en-US" sz="1250" b="1" dirty="0">
                <a:solidFill>
                  <a:srgbClr val="262B3A"/>
                </a:solidFill>
                <a:latin typeface="Calibri" pitchFamily="34" charset="0"/>
                <a:ea typeface="Calibri" pitchFamily="34" charset="-122"/>
                <a:cs typeface="Calibri" pitchFamily="34" charset="-120"/>
              </a:rPr>
              <a:t>protons</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neutrons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8F5FC"/>
          </a:solidFill>
          <a:ln w="9525">
            <a:solidFill>
              <a:srgbClr val="DDD3EC"/>
            </a:solidFill>
            <a:prstDash val="solid"/>
          </a:ln>
        </p:spPr>
      </p:sp>
      <p:sp>
        <p:nvSpPr>
          <p:cNvPr id="19" name="Shape 17"/>
          <p:cNvSpPr/>
          <p:nvPr/>
        </p:nvSpPr>
        <p:spPr>
          <a:xfrm>
            <a:off x="8229600" y="1371600"/>
            <a:ext cx="438912" cy="438912"/>
          </a:xfrm>
          <a:prstGeom prst="ellipse">
            <a:avLst/>
          </a:prstGeom>
          <a:solidFill>
            <a:srgbClr val="6A3FA0"/>
          </a:solidFill>
          <a:ln w="12700">
            <a:solidFill>
              <a:srgbClr val="6A3FA0"/>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ionic formulae</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formulae of </a:t>
            </a:r>
            <a:r>
              <a:rPr lang="en-US" sz="1250" b="1" dirty="0">
                <a:solidFill>
                  <a:srgbClr val="262B3A"/>
                </a:solidFill>
                <a:latin typeface="Calibri" pitchFamily="34" charset="0"/>
                <a:ea typeface="Calibri" pitchFamily="34" charset="-122"/>
                <a:cs typeface="Calibri" pitchFamily="34" charset="-120"/>
              </a:rPr>
              <a:t>magnesium oxide</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calcium chloride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3" name="Shape 21"/>
          <p:cNvSpPr/>
          <p:nvPr/>
        </p:nvSpPr>
        <p:spPr>
          <a:xfrm>
            <a:off x="411480" y="3429000"/>
            <a:ext cx="3657600" cy="2011680"/>
          </a:xfrm>
          <a:prstGeom prst="roundRect">
            <a:avLst>
              <a:gd name="adj" fmla="val 2727"/>
            </a:avLst>
          </a:prstGeom>
          <a:solidFill>
            <a:srgbClr val="F8F5FC"/>
          </a:solidFill>
          <a:ln w="9525">
            <a:solidFill>
              <a:srgbClr val="DDD3EC"/>
            </a:solidFill>
            <a:prstDash val="solid"/>
          </a:ln>
        </p:spPr>
      </p:sp>
      <p:sp>
        <p:nvSpPr>
          <p:cNvPr id="24" name="Shape 22"/>
          <p:cNvSpPr/>
          <p:nvPr/>
        </p:nvSpPr>
        <p:spPr>
          <a:xfrm>
            <a:off x="548640" y="3566160"/>
            <a:ext cx="438912" cy="438912"/>
          </a:xfrm>
          <a:prstGeom prst="ellipse">
            <a:avLst/>
          </a:prstGeom>
          <a:solidFill>
            <a:srgbClr val="6A3FA0"/>
          </a:solidFill>
          <a:ln w="12700">
            <a:solidFill>
              <a:srgbClr val="6A3FA0"/>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C3 • equations</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Balance: </a:t>
            </a:r>
            <a:r>
              <a:rPr lang="en-US" sz="1250" b="1" dirty="0">
                <a:solidFill>
                  <a:srgbClr val="262B3A"/>
                </a:solidFill>
                <a:latin typeface="Calibri" pitchFamily="34" charset="0"/>
                <a:ea typeface="Calibri" pitchFamily="34" charset="-122"/>
                <a:cs typeface="Calibri" pitchFamily="34" charset="-120"/>
              </a:rPr>
              <a:t>Fe₂O₃ + CO → Fe + CO₂</a:t>
            </a:r>
            <a:r>
              <a:rPr lang="en-US" sz="1250" dirty="0">
                <a:solidFill>
                  <a:srgbClr val="262B3A"/>
                </a:solidFill>
                <a:latin typeface="Calibri" pitchFamily="34" charset="0"/>
                <a:ea typeface="Calibri" pitchFamily="34" charset="-122"/>
                <a:cs typeface="Calibri" pitchFamily="34" charset="-120"/>
              </a:rPr>
              <a:t> (extracting iron in a blast furnace).</a:t>
            </a:r>
            <a:endParaRPr lang="en-US" sz="1250" dirty="0"/>
          </a:p>
        </p:txBody>
      </p:sp>
      <p:sp>
        <p:nvSpPr>
          <p:cNvPr id="28" name="Shape 26"/>
          <p:cNvSpPr/>
          <p:nvPr/>
        </p:nvSpPr>
        <p:spPr>
          <a:xfrm>
            <a:off x="4251960" y="3429000"/>
            <a:ext cx="3657600" cy="2011680"/>
          </a:xfrm>
          <a:prstGeom prst="roundRect">
            <a:avLst>
              <a:gd name="adj" fmla="val 2727"/>
            </a:avLst>
          </a:prstGeom>
          <a:solidFill>
            <a:srgbClr val="F8F5FC"/>
          </a:solidFill>
          <a:ln w="9525">
            <a:solidFill>
              <a:srgbClr val="DDD3EC"/>
            </a:solidFill>
            <a:prstDash val="solid"/>
          </a:ln>
        </p:spPr>
      </p:sp>
      <p:sp>
        <p:nvSpPr>
          <p:cNvPr id="29" name="Shape 27"/>
          <p:cNvSpPr/>
          <p:nvPr/>
        </p:nvSpPr>
        <p:spPr>
          <a:xfrm>
            <a:off x="4389120" y="3566160"/>
            <a:ext cx="438912" cy="438912"/>
          </a:xfrm>
          <a:prstGeom prst="ellipse">
            <a:avLst/>
          </a:prstGeom>
          <a:solidFill>
            <a:srgbClr val="6A3FA0"/>
          </a:solidFill>
          <a:ln w="12700">
            <a:solidFill>
              <a:srgbClr val="6A3FA0"/>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C4.2 • bonding</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type of </a:t>
            </a:r>
            <a:r>
              <a:rPr lang="en-US" sz="1250" b="1" dirty="0">
                <a:solidFill>
                  <a:srgbClr val="262B3A"/>
                </a:solidFill>
                <a:latin typeface="Calibri" pitchFamily="34" charset="0"/>
                <a:ea typeface="Calibri" pitchFamily="34" charset="-122"/>
                <a:cs typeface="Calibri" pitchFamily="34" charset="-120"/>
              </a:rPr>
              <a:t>bonding</a:t>
            </a:r>
            <a:r>
              <a:rPr lang="en-US" sz="1250" dirty="0">
                <a:solidFill>
                  <a:srgbClr val="262B3A"/>
                </a:solidFill>
                <a:latin typeface="Calibri" pitchFamily="34" charset="0"/>
                <a:ea typeface="Calibri" pitchFamily="34" charset="-122"/>
                <a:cs typeface="Calibri" pitchFamily="34" charset="-120"/>
              </a:rPr>
              <a:t> is in a </a:t>
            </a:r>
            <a:r>
              <a:rPr lang="en-US" sz="1250" b="1" dirty="0">
                <a:solidFill>
                  <a:srgbClr val="262B3A"/>
                </a:solidFill>
                <a:latin typeface="Calibri" pitchFamily="34" charset="0"/>
                <a:ea typeface="Calibri" pitchFamily="34" charset="-122"/>
                <a:cs typeface="Calibri" pitchFamily="34" charset="-120"/>
              </a:rPr>
              <a:t>CO₂</a:t>
            </a:r>
            <a:r>
              <a:rPr lang="en-US" sz="1250" dirty="0">
                <a:solidFill>
                  <a:srgbClr val="262B3A"/>
                </a:solidFill>
                <a:latin typeface="Calibri" pitchFamily="34" charset="0"/>
                <a:ea typeface="Calibri" pitchFamily="34" charset="-122"/>
                <a:cs typeface="Calibri" pitchFamily="34" charset="-120"/>
              </a:rPr>
              <a:t> molecule? And in </a:t>
            </a:r>
            <a:r>
              <a:rPr lang="en-US" sz="1250" b="1" dirty="0">
                <a:solidFill>
                  <a:srgbClr val="262B3A"/>
                </a:solidFill>
                <a:latin typeface="Calibri" pitchFamily="34" charset="0"/>
                <a:ea typeface="Calibri" pitchFamily="34" charset="-122"/>
                <a:cs typeface="Calibri" pitchFamily="34" charset="-120"/>
              </a:rPr>
              <a:t>MgO</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8F5FC"/>
          </a:solidFill>
          <a:ln w="9525">
            <a:solidFill>
              <a:srgbClr val="DDD3EC"/>
            </a:solidFill>
            <a:prstDash val="solid"/>
          </a:ln>
        </p:spPr>
      </p:sp>
      <p:sp>
        <p:nvSpPr>
          <p:cNvPr id="34" name="Shape 32"/>
          <p:cNvSpPr/>
          <p:nvPr/>
        </p:nvSpPr>
        <p:spPr>
          <a:xfrm>
            <a:off x="8229600" y="3566160"/>
            <a:ext cx="438912" cy="438912"/>
          </a:xfrm>
          <a:prstGeom prst="ellipse">
            <a:avLst/>
          </a:prstGeom>
          <a:solidFill>
            <a:srgbClr val="6A3FA0"/>
          </a:solidFill>
          <a:ln w="12700">
            <a:solidFill>
              <a:srgbClr val="6A3FA0"/>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C5.1 • purity</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pure substance</a:t>
            </a:r>
            <a:r>
              <a:rPr lang="en-US" sz="1250" dirty="0">
                <a:solidFill>
                  <a:srgbClr val="262B3A"/>
                </a:solidFill>
                <a:latin typeface="Calibri" pitchFamily="34" charset="0"/>
                <a:ea typeface="Calibri" pitchFamily="34" charset="-122"/>
                <a:cs typeface="Calibri" pitchFamily="34" charset="-120"/>
              </a:rPr>
              <a:t> in chemistry? How does a </a:t>
            </a:r>
            <a:r>
              <a:rPr lang="en-US" sz="1250" b="1" dirty="0">
                <a:solidFill>
                  <a:srgbClr val="262B3A"/>
                </a:solidFill>
                <a:latin typeface="Calibri" pitchFamily="34" charset="0"/>
                <a:ea typeface="Calibri" pitchFamily="34" charset="-122"/>
                <a:cs typeface="Calibri" pitchFamily="34" charset="-120"/>
              </a:rPr>
              <a:t>melting point</a:t>
            </a:r>
            <a:r>
              <a:rPr lang="en-US" sz="1250" dirty="0">
                <a:solidFill>
                  <a:srgbClr val="262B3A"/>
                </a:solidFill>
                <a:latin typeface="Calibri" pitchFamily="34" charset="0"/>
                <a:ea typeface="Calibri" pitchFamily="34" charset="-122"/>
                <a:cs typeface="Calibri" pitchFamily="34" charset="-120"/>
              </a:rPr>
              <a:t> show purity?</a:t>
            </a:r>
            <a:endParaRPr lang="en-US" sz="1250" dirty="0"/>
          </a:p>
        </p:txBody>
      </p:sp>
      <p:sp>
        <p:nvSpPr>
          <p:cNvPr id="38" name="Shape 36"/>
          <p:cNvSpPr/>
          <p:nvPr/>
        </p:nvSpPr>
        <p:spPr>
          <a:xfrm>
            <a:off x="411480" y="5715000"/>
            <a:ext cx="11368735" cy="548640"/>
          </a:xfrm>
          <a:prstGeom prst="rect">
            <a:avLst/>
          </a:prstGeom>
          <a:solidFill>
            <a:srgbClr val="F1ECF8"/>
          </a:solidFill>
          <a:ln w="12700">
            <a:solidFill>
              <a:srgbClr val="DDD3EC"/>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6A3FA0"/>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Conservation of mass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C5.2.1 • recall and use the law of conservation of mass in a closed system</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C5.2.1  |  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sealed flask on a balance, before and after mixing</a:t>
            </a:r>
            <a:endParaRPr lang="en-US" sz="1000" dirty="0"/>
          </a:p>
        </p:txBody>
      </p:sp>
      <p:sp>
        <p:nvSpPr>
          <p:cNvPr id="10" name="Text 8"/>
          <p:cNvSpPr/>
          <p:nvPr/>
        </p:nvSpPr>
        <p:spPr>
          <a:xfrm>
            <a:off x="502920" y="1298448"/>
            <a:ext cx="25603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Before: tube of NaOH(aq) inside</a:t>
            </a:r>
            <a:endParaRPr lang="en-US" sz="1050" dirty="0"/>
          </a:p>
        </p:txBody>
      </p:sp>
      <p:sp>
        <p:nvSpPr>
          <p:cNvPr id="11" name="Shape 9"/>
          <p:cNvSpPr/>
          <p:nvPr/>
        </p:nvSpPr>
        <p:spPr>
          <a:xfrm>
            <a:off x="1097280" y="1783080"/>
            <a:ext cx="1371600" cy="1463040"/>
          </a:xfrm>
          <a:custGeom>
            <a:avLst/>
            <a:gdLst/>
            <a:ahLst/>
            <a:cxnLst/>
            <a:rect l="l" t="t" r="r" b="b"/>
            <a:pathLst>
              <a:path w="1371600" h="1463040">
                <a:moveTo>
                  <a:pt x="507492" y="0"/>
                </a:moveTo>
                <a:lnTo>
                  <a:pt x="864108" y="0"/>
                </a:lnTo>
                <a:lnTo>
                  <a:pt x="864108" y="438912"/>
                </a:lnTo>
                <a:lnTo>
                  <a:pt x="1371600" y="1463040"/>
                </a:lnTo>
                <a:lnTo>
                  <a:pt x="0" y="1463040"/>
                </a:lnTo>
                <a:lnTo>
                  <a:pt x="507492" y="438912"/>
                </a:lnTo>
                <a:close/>
              </a:path>
            </a:pathLst>
          </a:custGeom>
          <a:solidFill>
            <a:srgbClr val="EEF5FB"/>
          </a:solidFill>
          <a:ln/>
        </p:spPr>
      </p:sp>
      <p:sp>
        <p:nvSpPr>
          <p:cNvPr id="12" name="Shape 10"/>
          <p:cNvSpPr/>
          <p:nvPr/>
        </p:nvSpPr>
        <p:spPr>
          <a:xfrm>
            <a:off x="1097280" y="2815986"/>
            <a:ext cx="1371600" cy="430134"/>
          </a:xfrm>
          <a:custGeom>
            <a:avLst/>
            <a:gdLst/>
            <a:ahLst/>
            <a:cxnLst/>
            <a:rect l="l" t="t" r="r" b="b"/>
            <a:pathLst>
              <a:path w="1371600" h="430134">
                <a:moveTo>
                  <a:pt x="213147" y="0"/>
                </a:moveTo>
                <a:lnTo>
                  <a:pt x="1158453" y="0"/>
                </a:lnTo>
                <a:lnTo>
                  <a:pt x="1371600" y="430134"/>
                </a:lnTo>
                <a:lnTo>
                  <a:pt x="0" y="430134"/>
                </a:lnTo>
                <a:close/>
              </a:path>
            </a:pathLst>
          </a:custGeom>
          <a:solidFill>
            <a:srgbClr val="9CC7EE"/>
          </a:solidFill>
          <a:ln/>
        </p:spPr>
      </p:sp>
      <p:sp>
        <p:nvSpPr>
          <p:cNvPr id="13" name="Shape 11"/>
          <p:cNvSpPr/>
          <p:nvPr/>
        </p:nvSpPr>
        <p:spPr>
          <a:xfrm>
            <a:off x="1097280" y="1783080"/>
            <a:ext cx="1371600" cy="1463040"/>
          </a:xfrm>
          <a:custGeom>
            <a:avLst/>
            <a:gdLst/>
            <a:ahLst/>
            <a:cxnLst/>
            <a:rect l="l" t="t" r="r" b="b"/>
            <a:pathLst>
              <a:path w="1371600" h="1463040">
                <a:moveTo>
                  <a:pt x="507492" y="0"/>
                </a:moveTo>
                <a:lnTo>
                  <a:pt x="864108" y="0"/>
                </a:lnTo>
                <a:lnTo>
                  <a:pt x="864108" y="438912"/>
                </a:lnTo>
                <a:lnTo>
                  <a:pt x="1371600" y="1463040"/>
                </a:lnTo>
                <a:lnTo>
                  <a:pt x="0" y="1463040"/>
                </a:lnTo>
                <a:lnTo>
                  <a:pt x="507492" y="438912"/>
                </a:lnTo>
                <a:close/>
              </a:path>
            </a:pathLst>
          </a:custGeom>
          <a:ln w="19050">
            <a:solidFill>
              <a:srgbClr val="2A1F3D"/>
            </a:solidFill>
            <a:prstDash val="solid"/>
          </a:ln>
        </p:spPr>
      </p:sp>
      <p:sp>
        <p:nvSpPr>
          <p:cNvPr id="14" name="Shape 12"/>
          <p:cNvSpPr/>
          <p:nvPr/>
        </p:nvSpPr>
        <p:spPr>
          <a:xfrm>
            <a:off x="1568196" y="1655064"/>
            <a:ext cx="429768" cy="201168"/>
          </a:xfrm>
          <a:prstGeom prst="rect">
            <a:avLst/>
          </a:prstGeom>
          <a:solidFill>
            <a:srgbClr val="8C6A4A"/>
          </a:solidFill>
          <a:ln w="9525">
            <a:solidFill>
              <a:srgbClr val="5A4030"/>
            </a:solidFill>
            <a:prstDash val="solid"/>
          </a:ln>
        </p:spPr>
      </p:sp>
      <p:sp>
        <p:nvSpPr>
          <p:cNvPr id="15" name="Shape 13"/>
          <p:cNvSpPr/>
          <p:nvPr/>
        </p:nvSpPr>
        <p:spPr>
          <a:xfrm>
            <a:off x="1691640" y="3044952"/>
            <a:ext cx="182880" cy="182880"/>
          </a:xfrm>
          <a:prstGeom prst="ellipse">
            <a:avLst/>
          </a:prstGeom>
          <a:solidFill>
            <a:srgbClr val="F4F4F4"/>
          </a:solidFill>
          <a:ln w="12700">
            <a:solidFill>
              <a:srgbClr val="2A1F3D"/>
            </a:solidFill>
            <a:prstDash val="solid"/>
          </a:ln>
        </p:spPr>
      </p:sp>
      <p:sp>
        <p:nvSpPr>
          <p:cNvPr id="16" name="Shape 14"/>
          <p:cNvSpPr/>
          <p:nvPr/>
        </p:nvSpPr>
        <p:spPr>
          <a:xfrm>
            <a:off x="1691640" y="2675077"/>
            <a:ext cx="182880" cy="461315"/>
          </a:xfrm>
          <a:prstGeom prst="rect">
            <a:avLst/>
          </a:prstGeom>
          <a:solidFill>
            <a:srgbClr val="F4F4F4"/>
          </a:solidFill>
          <a:ln/>
        </p:spPr>
      </p:sp>
      <p:sp>
        <p:nvSpPr>
          <p:cNvPr id="17" name="Shape 15"/>
          <p:cNvSpPr/>
          <p:nvPr/>
        </p:nvSpPr>
        <p:spPr>
          <a:xfrm>
            <a:off x="1691640" y="2377440"/>
            <a:ext cx="91" cy="758952"/>
          </a:xfrm>
          <a:prstGeom prst="line">
            <a:avLst/>
          </a:prstGeom>
          <a:noFill/>
          <a:ln w="12700">
            <a:solidFill>
              <a:srgbClr val="2A1F3D"/>
            </a:solidFill>
            <a:prstDash val="solid"/>
          </a:ln>
        </p:spPr>
      </p:sp>
      <p:sp>
        <p:nvSpPr>
          <p:cNvPr id="18" name="Shape 16"/>
          <p:cNvSpPr/>
          <p:nvPr/>
        </p:nvSpPr>
        <p:spPr>
          <a:xfrm>
            <a:off x="1874520" y="2377440"/>
            <a:ext cx="91" cy="758952"/>
          </a:xfrm>
          <a:prstGeom prst="line">
            <a:avLst/>
          </a:prstGeom>
          <a:noFill/>
          <a:ln w="12700">
            <a:solidFill>
              <a:srgbClr val="2A1F3D"/>
            </a:solidFill>
            <a:prstDash val="solid"/>
          </a:ln>
        </p:spPr>
      </p:sp>
      <p:sp>
        <p:nvSpPr>
          <p:cNvPr id="19" name="Shape 17"/>
          <p:cNvSpPr/>
          <p:nvPr/>
        </p:nvSpPr>
        <p:spPr>
          <a:xfrm>
            <a:off x="1024128" y="3246120"/>
            <a:ext cx="1517904" cy="64008"/>
          </a:xfrm>
          <a:prstGeom prst="rect">
            <a:avLst/>
          </a:prstGeom>
          <a:solidFill>
            <a:srgbClr val="9AA3B0"/>
          </a:solidFill>
          <a:ln w="9525">
            <a:solidFill>
              <a:srgbClr val="4A5568"/>
            </a:solidFill>
            <a:prstDash val="solid"/>
          </a:ln>
        </p:spPr>
      </p:sp>
      <p:sp>
        <p:nvSpPr>
          <p:cNvPr id="20" name="Shape 18"/>
          <p:cNvSpPr/>
          <p:nvPr/>
        </p:nvSpPr>
        <p:spPr>
          <a:xfrm>
            <a:off x="914400" y="3310128"/>
            <a:ext cx="1737360" cy="502920"/>
          </a:xfrm>
          <a:prstGeom prst="roundRect">
            <a:avLst>
              <a:gd name="adj" fmla="val 10909"/>
            </a:avLst>
          </a:prstGeom>
          <a:solidFill>
            <a:srgbClr val="E8EBF0"/>
          </a:solidFill>
          <a:ln w="15875">
            <a:solidFill>
              <a:srgbClr val="4A5568"/>
            </a:solidFill>
            <a:prstDash val="solid"/>
          </a:ln>
        </p:spPr>
      </p:sp>
      <p:sp>
        <p:nvSpPr>
          <p:cNvPr id="21" name="Shape 19"/>
          <p:cNvSpPr/>
          <p:nvPr/>
        </p:nvSpPr>
        <p:spPr>
          <a:xfrm>
            <a:off x="1051560" y="3401568"/>
            <a:ext cx="1463040" cy="292608"/>
          </a:xfrm>
          <a:prstGeom prst="rect">
            <a:avLst/>
          </a:prstGeom>
          <a:solidFill>
            <a:srgbClr val="1F2A3A"/>
          </a:solidFill>
          <a:ln/>
        </p:spPr>
      </p:sp>
      <p:sp>
        <p:nvSpPr>
          <p:cNvPr id="22" name="Text 20"/>
          <p:cNvSpPr/>
          <p:nvPr/>
        </p:nvSpPr>
        <p:spPr>
          <a:xfrm>
            <a:off x="1051560" y="3401568"/>
            <a:ext cx="1463040" cy="292608"/>
          </a:xfrm>
          <a:prstGeom prst="rect">
            <a:avLst/>
          </a:prstGeom>
          <a:noFill/>
          <a:ln/>
        </p:spPr>
        <p:txBody>
          <a:bodyPr wrap="square" lIns="0" tIns="0" rIns="0" bIns="0" rtlCol="0" anchor="ctr"/>
          <a:lstStyle/>
          <a:p>
            <a:pPr algn="ctr" indent="0" marL="0">
              <a:buNone/>
            </a:pPr>
            <a:r>
              <a:rPr lang="en-US" sz="1100" b="1" dirty="0">
                <a:solidFill>
                  <a:srgbClr val="7CFC9A"/>
                </a:solidFill>
                <a:latin typeface="Calibri" pitchFamily="34" charset="0"/>
                <a:ea typeface="Calibri" pitchFamily="34" charset="-122"/>
                <a:cs typeface="Calibri" pitchFamily="34" charset="-120"/>
              </a:rPr>
              <a:t>152.40 g</a:t>
            </a:r>
            <a:endParaRPr lang="en-US" sz="1100" dirty="0"/>
          </a:p>
        </p:txBody>
      </p:sp>
      <p:sp>
        <p:nvSpPr>
          <p:cNvPr id="23" name="Text 21"/>
          <p:cNvSpPr/>
          <p:nvPr/>
        </p:nvSpPr>
        <p:spPr>
          <a:xfrm>
            <a:off x="3246120" y="1298448"/>
            <a:ext cx="25603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After: tipped and mixed</a:t>
            </a:r>
            <a:endParaRPr lang="en-US" sz="1050" dirty="0"/>
          </a:p>
        </p:txBody>
      </p:sp>
      <p:sp>
        <p:nvSpPr>
          <p:cNvPr id="24" name="Shape 22"/>
          <p:cNvSpPr/>
          <p:nvPr/>
        </p:nvSpPr>
        <p:spPr>
          <a:xfrm>
            <a:off x="3840480" y="1783080"/>
            <a:ext cx="1371600" cy="1463040"/>
          </a:xfrm>
          <a:custGeom>
            <a:avLst/>
            <a:gdLst/>
            <a:ahLst/>
            <a:cxnLst/>
            <a:rect l="l" t="t" r="r" b="b"/>
            <a:pathLst>
              <a:path w="1371600" h="1463040">
                <a:moveTo>
                  <a:pt x="507492" y="0"/>
                </a:moveTo>
                <a:lnTo>
                  <a:pt x="864108" y="0"/>
                </a:lnTo>
                <a:lnTo>
                  <a:pt x="864108" y="438912"/>
                </a:lnTo>
                <a:lnTo>
                  <a:pt x="1371600" y="1463040"/>
                </a:lnTo>
                <a:lnTo>
                  <a:pt x="0" y="1463040"/>
                </a:lnTo>
                <a:lnTo>
                  <a:pt x="507492" y="438912"/>
                </a:lnTo>
                <a:close/>
              </a:path>
            </a:pathLst>
          </a:custGeom>
          <a:solidFill>
            <a:srgbClr val="EEF5FB"/>
          </a:solidFill>
          <a:ln/>
        </p:spPr>
      </p:sp>
      <p:sp>
        <p:nvSpPr>
          <p:cNvPr id="25" name="Shape 23"/>
          <p:cNvSpPr/>
          <p:nvPr/>
        </p:nvSpPr>
        <p:spPr>
          <a:xfrm>
            <a:off x="3840480" y="2815986"/>
            <a:ext cx="1371600" cy="430134"/>
          </a:xfrm>
          <a:custGeom>
            <a:avLst/>
            <a:gdLst/>
            <a:ahLst/>
            <a:cxnLst/>
            <a:rect l="l" t="t" r="r" b="b"/>
            <a:pathLst>
              <a:path w="1371600" h="430134">
                <a:moveTo>
                  <a:pt x="213147" y="0"/>
                </a:moveTo>
                <a:lnTo>
                  <a:pt x="1158453" y="0"/>
                </a:lnTo>
                <a:lnTo>
                  <a:pt x="1371600" y="430134"/>
                </a:lnTo>
                <a:lnTo>
                  <a:pt x="0" y="430134"/>
                </a:lnTo>
                <a:close/>
              </a:path>
            </a:pathLst>
          </a:custGeom>
          <a:solidFill>
            <a:srgbClr val="8EC0E8"/>
          </a:solidFill>
          <a:ln/>
        </p:spPr>
      </p:sp>
      <p:sp>
        <p:nvSpPr>
          <p:cNvPr id="26" name="Shape 24"/>
          <p:cNvSpPr/>
          <p:nvPr/>
        </p:nvSpPr>
        <p:spPr>
          <a:xfrm>
            <a:off x="3991356" y="3140964"/>
            <a:ext cx="82296" cy="82296"/>
          </a:xfrm>
          <a:prstGeom prst="ellipse">
            <a:avLst/>
          </a:prstGeom>
          <a:solidFill>
            <a:srgbClr val="4F86C6"/>
          </a:solidFill>
          <a:ln w="6350">
            <a:solidFill>
              <a:srgbClr val="2E5F99"/>
            </a:solidFill>
            <a:prstDash val="solid"/>
          </a:ln>
        </p:spPr>
      </p:sp>
      <p:sp>
        <p:nvSpPr>
          <p:cNvPr id="27" name="Shape 25"/>
          <p:cNvSpPr/>
          <p:nvPr/>
        </p:nvSpPr>
        <p:spPr>
          <a:xfrm>
            <a:off x="4155948" y="3140964"/>
            <a:ext cx="82296" cy="82296"/>
          </a:xfrm>
          <a:prstGeom prst="ellipse">
            <a:avLst/>
          </a:prstGeom>
          <a:solidFill>
            <a:srgbClr val="4F86C6"/>
          </a:solidFill>
          <a:ln w="6350">
            <a:solidFill>
              <a:srgbClr val="2E5F99"/>
            </a:solidFill>
            <a:prstDash val="solid"/>
          </a:ln>
        </p:spPr>
      </p:sp>
      <p:sp>
        <p:nvSpPr>
          <p:cNvPr id="28" name="Shape 26"/>
          <p:cNvSpPr/>
          <p:nvPr/>
        </p:nvSpPr>
        <p:spPr>
          <a:xfrm>
            <a:off x="4320540" y="3140964"/>
            <a:ext cx="82296" cy="82296"/>
          </a:xfrm>
          <a:prstGeom prst="ellipse">
            <a:avLst/>
          </a:prstGeom>
          <a:solidFill>
            <a:srgbClr val="4F86C6"/>
          </a:solidFill>
          <a:ln w="6350">
            <a:solidFill>
              <a:srgbClr val="2E5F99"/>
            </a:solidFill>
            <a:prstDash val="solid"/>
          </a:ln>
        </p:spPr>
      </p:sp>
      <p:sp>
        <p:nvSpPr>
          <p:cNvPr id="29" name="Shape 27"/>
          <p:cNvSpPr/>
          <p:nvPr/>
        </p:nvSpPr>
        <p:spPr>
          <a:xfrm>
            <a:off x="4485132" y="3140964"/>
            <a:ext cx="82296" cy="82296"/>
          </a:xfrm>
          <a:prstGeom prst="ellipse">
            <a:avLst/>
          </a:prstGeom>
          <a:solidFill>
            <a:srgbClr val="4F86C6"/>
          </a:solidFill>
          <a:ln w="6350">
            <a:solidFill>
              <a:srgbClr val="2E5F99"/>
            </a:solidFill>
            <a:prstDash val="solid"/>
          </a:ln>
        </p:spPr>
      </p:sp>
      <p:sp>
        <p:nvSpPr>
          <p:cNvPr id="30" name="Shape 28"/>
          <p:cNvSpPr/>
          <p:nvPr/>
        </p:nvSpPr>
        <p:spPr>
          <a:xfrm>
            <a:off x="4649724" y="3140964"/>
            <a:ext cx="82296" cy="82296"/>
          </a:xfrm>
          <a:prstGeom prst="ellipse">
            <a:avLst/>
          </a:prstGeom>
          <a:solidFill>
            <a:srgbClr val="4F86C6"/>
          </a:solidFill>
          <a:ln w="6350">
            <a:solidFill>
              <a:srgbClr val="2E5F99"/>
            </a:solidFill>
            <a:prstDash val="solid"/>
          </a:ln>
        </p:spPr>
      </p:sp>
      <p:sp>
        <p:nvSpPr>
          <p:cNvPr id="31" name="Shape 29"/>
          <p:cNvSpPr/>
          <p:nvPr/>
        </p:nvSpPr>
        <p:spPr>
          <a:xfrm>
            <a:off x="4814316" y="3140964"/>
            <a:ext cx="82296" cy="82296"/>
          </a:xfrm>
          <a:prstGeom prst="ellipse">
            <a:avLst/>
          </a:prstGeom>
          <a:solidFill>
            <a:srgbClr val="4F86C6"/>
          </a:solidFill>
          <a:ln w="6350">
            <a:solidFill>
              <a:srgbClr val="2E5F99"/>
            </a:solidFill>
            <a:prstDash val="solid"/>
          </a:ln>
        </p:spPr>
      </p:sp>
      <p:sp>
        <p:nvSpPr>
          <p:cNvPr id="32" name="Shape 30"/>
          <p:cNvSpPr/>
          <p:nvPr/>
        </p:nvSpPr>
        <p:spPr>
          <a:xfrm>
            <a:off x="4978908" y="3140964"/>
            <a:ext cx="82296" cy="82296"/>
          </a:xfrm>
          <a:prstGeom prst="ellipse">
            <a:avLst/>
          </a:prstGeom>
          <a:solidFill>
            <a:srgbClr val="4F86C6"/>
          </a:solidFill>
          <a:ln w="6350">
            <a:solidFill>
              <a:srgbClr val="2E5F99"/>
            </a:solidFill>
            <a:prstDash val="solid"/>
          </a:ln>
        </p:spPr>
      </p:sp>
      <p:sp>
        <p:nvSpPr>
          <p:cNvPr id="33" name="Shape 31"/>
          <p:cNvSpPr/>
          <p:nvPr/>
        </p:nvSpPr>
        <p:spPr>
          <a:xfrm>
            <a:off x="3991356" y="3067812"/>
            <a:ext cx="82296" cy="82296"/>
          </a:xfrm>
          <a:prstGeom prst="ellipse">
            <a:avLst/>
          </a:prstGeom>
          <a:solidFill>
            <a:srgbClr val="4F86C6"/>
          </a:solidFill>
          <a:ln w="6350">
            <a:solidFill>
              <a:srgbClr val="2E5F99"/>
            </a:solidFill>
            <a:prstDash val="solid"/>
          </a:ln>
        </p:spPr>
      </p:sp>
      <p:sp>
        <p:nvSpPr>
          <p:cNvPr id="34" name="Shape 32"/>
          <p:cNvSpPr/>
          <p:nvPr/>
        </p:nvSpPr>
        <p:spPr>
          <a:xfrm>
            <a:off x="4155948" y="3067812"/>
            <a:ext cx="82296" cy="82296"/>
          </a:xfrm>
          <a:prstGeom prst="ellipse">
            <a:avLst/>
          </a:prstGeom>
          <a:solidFill>
            <a:srgbClr val="4F86C6"/>
          </a:solidFill>
          <a:ln w="6350">
            <a:solidFill>
              <a:srgbClr val="2E5F99"/>
            </a:solidFill>
            <a:prstDash val="solid"/>
          </a:ln>
        </p:spPr>
      </p:sp>
      <p:sp>
        <p:nvSpPr>
          <p:cNvPr id="35" name="Shape 33"/>
          <p:cNvSpPr/>
          <p:nvPr/>
        </p:nvSpPr>
        <p:spPr>
          <a:xfrm>
            <a:off x="4320540" y="3067812"/>
            <a:ext cx="82296" cy="82296"/>
          </a:xfrm>
          <a:prstGeom prst="ellipse">
            <a:avLst/>
          </a:prstGeom>
          <a:solidFill>
            <a:srgbClr val="4F86C6"/>
          </a:solidFill>
          <a:ln w="6350">
            <a:solidFill>
              <a:srgbClr val="2E5F99"/>
            </a:solidFill>
            <a:prstDash val="solid"/>
          </a:ln>
        </p:spPr>
      </p:sp>
      <p:sp>
        <p:nvSpPr>
          <p:cNvPr id="36" name="Shape 34"/>
          <p:cNvSpPr/>
          <p:nvPr/>
        </p:nvSpPr>
        <p:spPr>
          <a:xfrm>
            <a:off x="4485132" y="3067812"/>
            <a:ext cx="82296" cy="82296"/>
          </a:xfrm>
          <a:prstGeom prst="ellipse">
            <a:avLst/>
          </a:prstGeom>
          <a:solidFill>
            <a:srgbClr val="4F86C6"/>
          </a:solidFill>
          <a:ln w="6350">
            <a:solidFill>
              <a:srgbClr val="2E5F99"/>
            </a:solidFill>
            <a:prstDash val="solid"/>
          </a:ln>
        </p:spPr>
      </p:sp>
      <p:sp>
        <p:nvSpPr>
          <p:cNvPr id="37" name="Shape 35"/>
          <p:cNvSpPr/>
          <p:nvPr/>
        </p:nvSpPr>
        <p:spPr>
          <a:xfrm>
            <a:off x="4649724" y="3067812"/>
            <a:ext cx="82296" cy="82296"/>
          </a:xfrm>
          <a:prstGeom prst="ellipse">
            <a:avLst/>
          </a:prstGeom>
          <a:solidFill>
            <a:srgbClr val="4F86C6"/>
          </a:solidFill>
          <a:ln w="6350">
            <a:solidFill>
              <a:srgbClr val="2E5F99"/>
            </a:solidFill>
            <a:prstDash val="solid"/>
          </a:ln>
        </p:spPr>
      </p:sp>
      <p:sp>
        <p:nvSpPr>
          <p:cNvPr id="38" name="Shape 36"/>
          <p:cNvSpPr/>
          <p:nvPr/>
        </p:nvSpPr>
        <p:spPr>
          <a:xfrm>
            <a:off x="4814316" y="3067812"/>
            <a:ext cx="82296" cy="82296"/>
          </a:xfrm>
          <a:prstGeom prst="ellipse">
            <a:avLst/>
          </a:prstGeom>
          <a:solidFill>
            <a:srgbClr val="4F86C6"/>
          </a:solidFill>
          <a:ln w="6350">
            <a:solidFill>
              <a:srgbClr val="2E5F99"/>
            </a:solidFill>
            <a:prstDash val="solid"/>
          </a:ln>
        </p:spPr>
      </p:sp>
      <p:sp>
        <p:nvSpPr>
          <p:cNvPr id="39" name="Shape 37"/>
          <p:cNvSpPr/>
          <p:nvPr/>
        </p:nvSpPr>
        <p:spPr>
          <a:xfrm>
            <a:off x="4978908" y="3067812"/>
            <a:ext cx="82296" cy="82296"/>
          </a:xfrm>
          <a:prstGeom prst="ellipse">
            <a:avLst/>
          </a:prstGeom>
          <a:solidFill>
            <a:srgbClr val="4F86C6"/>
          </a:solidFill>
          <a:ln w="6350">
            <a:solidFill>
              <a:srgbClr val="2E5F99"/>
            </a:solidFill>
            <a:prstDash val="solid"/>
          </a:ln>
        </p:spPr>
      </p:sp>
      <p:sp>
        <p:nvSpPr>
          <p:cNvPr id="40" name="Shape 38"/>
          <p:cNvSpPr/>
          <p:nvPr/>
        </p:nvSpPr>
        <p:spPr>
          <a:xfrm>
            <a:off x="3840480" y="1783080"/>
            <a:ext cx="1371600" cy="1463040"/>
          </a:xfrm>
          <a:custGeom>
            <a:avLst/>
            <a:gdLst/>
            <a:ahLst/>
            <a:cxnLst/>
            <a:rect l="l" t="t" r="r" b="b"/>
            <a:pathLst>
              <a:path w="1371600" h="1463040">
                <a:moveTo>
                  <a:pt x="507492" y="0"/>
                </a:moveTo>
                <a:lnTo>
                  <a:pt x="864108" y="0"/>
                </a:lnTo>
                <a:lnTo>
                  <a:pt x="864108" y="438912"/>
                </a:lnTo>
                <a:lnTo>
                  <a:pt x="1371600" y="1463040"/>
                </a:lnTo>
                <a:lnTo>
                  <a:pt x="0" y="1463040"/>
                </a:lnTo>
                <a:lnTo>
                  <a:pt x="507492" y="438912"/>
                </a:lnTo>
                <a:close/>
              </a:path>
            </a:pathLst>
          </a:custGeom>
          <a:ln w="19050">
            <a:solidFill>
              <a:srgbClr val="2A1F3D"/>
            </a:solidFill>
            <a:prstDash val="solid"/>
          </a:ln>
        </p:spPr>
      </p:sp>
      <p:sp>
        <p:nvSpPr>
          <p:cNvPr id="41" name="Shape 39"/>
          <p:cNvSpPr/>
          <p:nvPr/>
        </p:nvSpPr>
        <p:spPr>
          <a:xfrm>
            <a:off x="4311396" y="1655064"/>
            <a:ext cx="429768" cy="201168"/>
          </a:xfrm>
          <a:prstGeom prst="rect">
            <a:avLst/>
          </a:prstGeom>
          <a:solidFill>
            <a:srgbClr val="8C6A4A"/>
          </a:solidFill>
          <a:ln w="9525">
            <a:solidFill>
              <a:srgbClr val="5A4030"/>
            </a:solidFill>
            <a:prstDash val="solid"/>
          </a:ln>
        </p:spPr>
      </p:sp>
      <p:sp>
        <p:nvSpPr>
          <p:cNvPr id="42" name="Shape 40"/>
          <p:cNvSpPr/>
          <p:nvPr/>
        </p:nvSpPr>
        <p:spPr>
          <a:xfrm>
            <a:off x="3767328" y="3246120"/>
            <a:ext cx="1517904" cy="64008"/>
          </a:xfrm>
          <a:prstGeom prst="rect">
            <a:avLst/>
          </a:prstGeom>
          <a:solidFill>
            <a:srgbClr val="9AA3B0"/>
          </a:solidFill>
          <a:ln w="9525">
            <a:solidFill>
              <a:srgbClr val="4A5568"/>
            </a:solidFill>
            <a:prstDash val="solid"/>
          </a:ln>
        </p:spPr>
      </p:sp>
      <p:sp>
        <p:nvSpPr>
          <p:cNvPr id="43" name="Shape 41"/>
          <p:cNvSpPr/>
          <p:nvPr/>
        </p:nvSpPr>
        <p:spPr>
          <a:xfrm>
            <a:off x="3657600" y="3310128"/>
            <a:ext cx="1737360" cy="502920"/>
          </a:xfrm>
          <a:prstGeom prst="roundRect">
            <a:avLst>
              <a:gd name="adj" fmla="val 10909"/>
            </a:avLst>
          </a:prstGeom>
          <a:solidFill>
            <a:srgbClr val="E8EBF0"/>
          </a:solidFill>
          <a:ln w="15875">
            <a:solidFill>
              <a:srgbClr val="4A5568"/>
            </a:solidFill>
            <a:prstDash val="solid"/>
          </a:ln>
        </p:spPr>
      </p:sp>
      <p:sp>
        <p:nvSpPr>
          <p:cNvPr id="44" name="Shape 42"/>
          <p:cNvSpPr/>
          <p:nvPr/>
        </p:nvSpPr>
        <p:spPr>
          <a:xfrm>
            <a:off x="3794760" y="3401568"/>
            <a:ext cx="1463040" cy="292608"/>
          </a:xfrm>
          <a:prstGeom prst="rect">
            <a:avLst/>
          </a:prstGeom>
          <a:solidFill>
            <a:srgbClr val="1F2A3A"/>
          </a:solidFill>
          <a:ln/>
        </p:spPr>
      </p:sp>
      <p:sp>
        <p:nvSpPr>
          <p:cNvPr id="45" name="Text 43"/>
          <p:cNvSpPr/>
          <p:nvPr/>
        </p:nvSpPr>
        <p:spPr>
          <a:xfrm>
            <a:off x="3794760" y="3401568"/>
            <a:ext cx="1463040" cy="292608"/>
          </a:xfrm>
          <a:prstGeom prst="rect">
            <a:avLst/>
          </a:prstGeom>
          <a:noFill/>
          <a:ln/>
        </p:spPr>
        <p:txBody>
          <a:bodyPr wrap="square" lIns="0" tIns="0" rIns="0" bIns="0" rtlCol="0" anchor="ctr"/>
          <a:lstStyle/>
          <a:p>
            <a:pPr algn="ctr" indent="0" marL="0">
              <a:buNone/>
            </a:pPr>
            <a:r>
              <a:rPr lang="en-US" sz="1100" b="1" dirty="0">
                <a:solidFill>
                  <a:srgbClr val="7CFC9A"/>
                </a:solidFill>
                <a:latin typeface="Calibri" pitchFamily="34" charset="0"/>
                <a:ea typeface="Calibri" pitchFamily="34" charset="-122"/>
                <a:cs typeface="Calibri" pitchFamily="34" charset="-120"/>
              </a:rPr>
              <a:t>152.40 g</a:t>
            </a:r>
            <a:endParaRPr lang="en-US" sz="1100" dirty="0"/>
          </a:p>
        </p:txBody>
      </p:sp>
      <p:sp>
        <p:nvSpPr>
          <p:cNvPr id="46" name="Text 44"/>
          <p:cNvSpPr/>
          <p:nvPr/>
        </p:nvSpPr>
        <p:spPr>
          <a:xfrm>
            <a:off x="2743200" y="2148840"/>
            <a:ext cx="822960" cy="457200"/>
          </a:xfrm>
          <a:prstGeom prst="rect">
            <a:avLst/>
          </a:prstGeom>
          <a:noFill/>
          <a:ln/>
        </p:spPr>
        <p:txBody>
          <a:bodyPr wrap="square" lIns="0" tIns="0" rIns="0" bIns="0" rtlCol="0" anchor="ctr"/>
          <a:lstStyle/>
          <a:p>
            <a:pPr algn="ctr" indent="0" marL="0">
              <a:buNone/>
            </a:pPr>
            <a:r>
              <a:rPr lang="en-US" sz="3000" b="1" dirty="0">
                <a:solidFill>
                  <a:srgbClr val="2E8B57"/>
                </a:solidFill>
                <a:latin typeface="Calibri" pitchFamily="34" charset="0"/>
                <a:ea typeface="Calibri" pitchFamily="34" charset="-122"/>
                <a:cs typeface="Calibri" pitchFamily="34" charset="-120"/>
              </a:rPr>
              <a:t>=</a:t>
            </a:r>
            <a:endParaRPr lang="en-US" sz="3000" dirty="0"/>
          </a:p>
        </p:txBody>
      </p:sp>
      <p:sp>
        <p:nvSpPr>
          <p:cNvPr id="47" name="Text 45"/>
          <p:cNvSpPr/>
          <p:nvPr/>
        </p:nvSpPr>
        <p:spPr>
          <a:xfrm>
            <a:off x="640080" y="3840480"/>
            <a:ext cx="2194560" cy="201168"/>
          </a:xfrm>
          <a:prstGeom prst="rect">
            <a:avLst/>
          </a:prstGeom>
          <a:noFill/>
          <a:ln/>
        </p:spPr>
        <p:txBody>
          <a:bodyPr wrap="square" lIns="0" tIns="0" rIns="0" bIns="0" rtlCol="0" anchor="ctr"/>
          <a:lstStyle/>
          <a:p>
            <a:pPr algn="ctr" indent="0" marL="0">
              <a:buNone/>
            </a:pPr>
            <a:r>
              <a:rPr lang="en-US" sz="1000" i="1" dirty="0">
                <a:solidFill>
                  <a:srgbClr val="3E7FC1"/>
                </a:solidFill>
                <a:latin typeface="Calibri" pitchFamily="34" charset="0"/>
                <a:ea typeface="Calibri" pitchFamily="34" charset="-122"/>
                <a:cs typeface="Calibri" pitchFamily="34" charset="-120"/>
              </a:rPr>
              <a:t>copper sulfate (blue)</a:t>
            </a:r>
            <a:endParaRPr lang="en-US" sz="1000" dirty="0"/>
          </a:p>
        </p:txBody>
      </p:sp>
      <p:sp>
        <p:nvSpPr>
          <p:cNvPr id="48" name="Text 46"/>
          <p:cNvSpPr/>
          <p:nvPr/>
        </p:nvSpPr>
        <p:spPr>
          <a:xfrm>
            <a:off x="3520440" y="3840480"/>
            <a:ext cx="2194560" cy="201168"/>
          </a:xfrm>
          <a:prstGeom prst="rect">
            <a:avLst/>
          </a:prstGeom>
          <a:noFill/>
          <a:ln/>
        </p:spPr>
        <p:txBody>
          <a:bodyPr wrap="square" lIns="0" tIns="0" rIns="0" bIns="0" rtlCol="0" anchor="ctr"/>
          <a:lstStyle/>
          <a:p>
            <a:pPr algn="ctr" indent="0" marL="0">
              <a:buNone/>
            </a:pPr>
            <a:r>
              <a:rPr lang="en-US" sz="1000" i="1" dirty="0">
                <a:solidFill>
                  <a:srgbClr val="3E7FC1"/>
                </a:solidFill>
                <a:latin typeface="Calibri" pitchFamily="34" charset="0"/>
                <a:ea typeface="Calibri" pitchFamily="34" charset="-122"/>
                <a:cs typeface="Calibri" pitchFamily="34" charset="-120"/>
              </a:rPr>
              <a:t>blue precipitate forms</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5800" y="4160520"/>
          <a:ext cx="5029200" cy="914400"/>
        </p:xfrm>
        <a:graphic>
          <a:graphicData uri="http://schemas.openxmlformats.org/drawingml/2006/table">
            <a:tbl>
              <a:tblPr/>
              <a:tblGrid>
                <a:gridCol w="1143000"/>
                <a:gridCol w="777240"/>
                <a:gridCol w="777240"/>
                <a:gridCol w="777240"/>
                <a:gridCol w="777240"/>
                <a:gridCol w="777240"/>
              </a:tblGrid>
              <a:tr h="228600">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Atoms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Cu</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O</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Na</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H</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2860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Reactants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28600">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Products</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bl>
          </a:graphicData>
        </a:graphic>
      </p:graphicFrame>
      <p:sp>
        <p:nvSpPr>
          <p:cNvPr id="50" name="Text 47"/>
          <p:cNvSpPr/>
          <p:nvPr/>
        </p:nvSpPr>
        <p:spPr>
          <a:xfrm>
            <a:off x="548640" y="4956048"/>
            <a:ext cx="5303520" cy="274320"/>
          </a:xfrm>
          <a:prstGeom prst="rect">
            <a:avLst/>
          </a:prstGeom>
          <a:noFill/>
          <a:ln/>
        </p:spPr>
        <p:txBody>
          <a:bodyPr wrap="square" lIns="0" tIns="0" rIns="0" bIns="0" rtlCol="0" anchor="ctr"/>
          <a:lstStyle/>
          <a:p>
            <a:pPr algn="ctr" indent="0" marL="0">
              <a:buNone/>
            </a:pPr>
            <a:r>
              <a:rPr lang="en-US" sz="1100" dirty="0">
                <a:solidFill>
                  <a:srgbClr val="2A1F3D"/>
                </a:solidFill>
                <a:latin typeface="Calibri" pitchFamily="34" charset="0"/>
                <a:ea typeface="Calibri" pitchFamily="34" charset="-122"/>
                <a:cs typeface="Calibri" pitchFamily="34" charset="-120"/>
              </a:rPr>
              <a:t>Atoms are </a:t>
            </a:r>
            <a:r>
              <a:rPr lang="en-US" sz="1100" b="1" dirty="0">
                <a:solidFill>
                  <a:srgbClr val="2A1F3D"/>
                </a:solidFill>
                <a:latin typeface="Calibri" pitchFamily="34" charset="0"/>
                <a:ea typeface="Calibri" pitchFamily="34" charset="-122"/>
                <a:cs typeface="Calibri" pitchFamily="34" charset="-120"/>
              </a:rPr>
              <a:t>rearranged</a:t>
            </a:r>
            <a:r>
              <a:rPr lang="en-US" sz="1100" dirty="0">
                <a:solidFill>
                  <a:srgbClr val="2A1F3D"/>
                </a:solidFill>
                <a:latin typeface="Calibri" pitchFamily="34" charset="0"/>
                <a:ea typeface="Calibri" pitchFamily="34" charset="-122"/>
                <a:cs typeface="Calibri" pitchFamily="34" charset="-120"/>
              </a:rPr>
              <a:t>, not made or destroyed</a:t>
            </a:r>
            <a:endParaRPr lang="en-US" sz="1100" dirty="0"/>
          </a:p>
        </p:txBody>
      </p:sp>
      <p:sp>
        <p:nvSpPr>
          <p:cNvPr id="51" name="Shape 48"/>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52" name="Text 49"/>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The law of conservation of mass</a:t>
            </a:r>
            <a:endParaRPr lang="en-US" sz="1300" dirty="0"/>
          </a:p>
        </p:txBody>
      </p:sp>
      <p:sp>
        <p:nvSpPr>
          <p:cNvPr id="53" name="Text 50"/>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a chemical reaction, </a:t>
            </a:r>
            <a:r>
              <a:rPr lang="en-US" sz="1150" b="1" dirty="0">
                <a:solidFill>
                  <a:srgbClr val="262B3A"/>
                </a:solidFill>
                <a:latin typeface="Calibri" pitchFamily="34" charset="0"/>
                <a:ea typeface="Calibri" pitchFamily="34" charset="-122"/>
                <a:cs typeface="Calibri" pitchFamily="34" charset="-120"/>
              </a:rPr>
              <a:t>no atoms are made or destroyed</a:t>
            </a:r>
            <a:r>
              <a:rPr lang="en-US" sz="1150" dirty="0">
                <a:solidFill>
                  <a:srgbClr val="262B3A"/>
                </a:solidFill>
                <a:latin typeface="Calibri" pitchFamily="34" charset="0"/>
                <a:ea typeface="Calibri" pitchFamily="34" charset="-122"/>
                <a:cs typeface="Calibri" pitchFamily="34" charset="-120"/>
              </a:rPr>
              <a:t>: they are only </a:t>
            </a:r>
            <a:r>
              <a:rPr lang="en-US" sz="1150" b="1" dirty="0">
                <a:solidFill>
                  <a:srgbClr val="262B3A"/>
                </a:solidFill>
                <a:latin typeface="Calibri" pitchFamily="34" charset="0"/>
                <a:ea typeface="Calibri" pitchFamily="34" charset="-122"/>
                <a:cs typeface="Calibri" pitchFamily="34" charset="-120"/>
              </a:rPr>
              <a:t>rearranged</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 the </a:t>
            </a:r>
            <a:r>
              <a:rPr lang="en-US" sz="1150" b="1" dirty="0">
                <a:solidFill>
                  <a:srgbClr val="262B3A"/>
                </a:solidFill>
                <a:latin typeface="Calibri" pitchFamily="34" charset="0"/>
                <a:ea typeface="Calibri" pitchFamily="34" charset="-122"/>
                <a:cs typeface="Calibri" pitchFamily="34" charset="-120"/>
              </a:rPr>
              <a:t>total mass of the products = total mass of the reactants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closed system</a:t>
            </a:r>
            <a:r>
              <a:rPr lang="en-US" sz="1150" dirty="0">
                <a:solidFill>
                  <a:srgbClr val="262B3A"/>
                </a:solidFill>
                <a:latin typeface="Calibri" pitchFamily="34" charset="0"/>
                <a:ea typeface="Calibri" pitchFamily="34" charset="-122"/>
                <a:cs typeface="Calibri" pitchFamily="34" charset="-120"/>
              </a:rPr>
              <a:t> is one where nothing can get in or out (e.g. a </a:t>
            </a:r>
            <a:r>
              <a:rPr lang="en-US" sz="1150" b="1" dirty="0">
                <a:solidFill>
                  <a:srgbClr val="262B3A"/>
                </a:solidFill>
                <a:latin typeface="Calibri" pitchFamily="34" charset="0"/>
                <a:ea typeface="Calibri" pitchFamily="34" charset="-122"/>
                <a:cs typeface="Calibri" pitchFamily="34" charset="-120"/>
              </a:rPr>
              <a:t>sealed</a:t>
            </a:r>
            <a:r>
              <a:rPr lang="en-US" sz="1150" dirty="0">
                <a:solidFill>
                  <a:srgbClr val="262B3A"/>
                </a:solidFill>
                <a:latin typeface="Calibri" pitchFamily="34" charset="0"/>
                <a:ea typeface="Calibri" pitchFamily="34" charset="-122"/>
                <a:cs typeface="Calibri" pitchFamily="34" charset="-120"/>
              </a:rPr>
              <a:t> flask), so the balance reading </a:t>
            </a:r>
            <a:r>
              <a:rPr lang="en-US" sz="1150" b="1" dirty="0">
                <a:solidFill>
                  <a:srgbClr val="262B3A"/>
                </a:solidFill>
                <a:latin typeface="Calibri" pitchFamily="34" charset="0"/>
                <a:ea typeface="Calibri" pitchFamily="34" charset="-122"/>
                <a:cs typeface="Calibri" pitchFamily="34" charset="-120"/>
              </a:rPr>
              <a:t>does not change</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This is why equations must be </a:t>
            </a:r>
            <a:r>
              <a:rPr lang="en-US" sz="1150" b="1" dirty="0">
                <a:solidFill>
                  <a:srgbClr val="262B3A"/>
                </a:solidFill>
                <a:latin typeface="Calibri" pitchFamily="34" charset="0"/>
                <a:ea typeface="Calibri" pitchFamily="34" charset="-122"/>
                <a:cs typeface="Calibri" pitchFamily="34" charset="-120"/>
              </a:rPr>
              <a:t>balanced</a:t>
            </a:r>
            <a:r>
              <a:rPr lang="en-US" sz="1150" dirty="0">
                <a:solidFill>
                  <a:srgbClr val="262B3A"/>
                </a:solidFill>
                <a:latin typeface="Calibri" pitchFamily="34" charset="0"/>
                <a:ea typeface="Calibri" pitchFamily="34" charset="-122"/>
                <a:cs typeface="Calibri" pitchFamily="34" charset="-120"/>
              </a:rPr>
              <a:t>: the same number of each atom on both sides.</a:t>
            </a:r>
            <a:endParaRPr lang="en-US" sz="1150" dirty="0"/>
          </a:p>
          <a:p>
            <a:pPr indent="0" marL="0">
              <a:spcAft>
                <a:spcPts val="300"/>
              </a:spcAft>
              <a:buNone/>
            </a:pPr>
            <a:r>
              <a:rPr lang="en-US" sz="1150" b="1" dirty="0">
                <a:solidFill>
                  <a:srgbClr val="6A3FA0"/>
                </a:solidFill>
                <a:latin typeface="Calibri" pitchFamily="34" charset="0"/>
                <a:ea typeface="Calibri" pitchFamily="34" charset="-122"/>
                <a:cs typeface="Calibri" pitchFamily="34" charset="-120"/>
              </a:rPr>
              <a:t>CuSO₄(aq) + 2NaOH(aq) → Cu(OH)₂(s) + Na₂SO₄(aq)</a:t>
            </a:r>
            <a:endParaRPr lang="en-US" sz="1150" dirty="0"/>
          </a:p>
        </p:txBody>
      </p:sp>
      <p:sp>
        <p:nvSpPr>
          <p:cNvPr id="54" name="Shape 51"/>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55" name="Text 52"/>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using the law</a:t>
            </a:r>
            <a:endParaRPr lang="en-US" sz="1300" dirty="0"/>
          </a:p>
        </p:txBody>
      </p:sp>
      <p:sp>
        <p:nvSpPr>
          <p:cNvPr id="56" name="Text 53"/>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25.0 g of each solution is mixed in a sealed flask.</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Reactants   </a:t>
            </a:r>
            <a:r>
              <a:rPr lang="en-US" sz="1050" dirty="0">
                <a:solidFill>
                  <a:srgbClr val="262B3A"/>
                </a:solidFill>
                <a:latin typeface="Calibri" pitchFamily="34" charset="0"/>
                <a:ea typeface="Calibri" pitchFamily="34" charset="-122"/>
                <a:cs typeface="Calibri" pitchFamily="34" charset="-120"/>
              </a:rPr>
              <a:t>25.0 + 25.0 = 50.0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mass of products = </a:t>
            </a:r>
            <a:r>
              <a:rPr lang="en-US" sz="1050" b="1" dirty="0">
                <a:solidFill>
                  <a:srgbClr val="C8414C"/>
                </a:solidFill>
                <a:latin typeface="Calibri" pitchFamily="34" charset="0"/>
                <a:ea typeface="Calibri" pitchFamily="34" charset="-122"/>
                <a:cs typeface="Calibri" pitchFamily="34" charset="-120"/>
              </a:rPr>
              <a:t>50.0 g</a:t>
            </a:r>
            <a:r>
              <a:rPr lang="en-US" sz="1050" b="1" dirty="0">
                <a:solidFill>
                  <a:srgbClr val="C8414C"/>
                </a:solidFill>
                <a:latin typeface="Calibri" pitchFamily="34" charset="0"/>
                <a:ea typeface="Calibri" pitchFamily="34" charset="-122"/>
                <a:cs typeface="Calibri" pitchFamily="34" charset="-120"/>
              </a:rPr>
              <a:t> (nothing escapes)</a:t>
            </a:r>
            <a:endParaRPr lang="en-US" sz="1050" dirty="0"/>
          </a:p>
        </p:txBody>
      </p:sp>
      <p:sp>
        <p:nvSpPr>
          <p:cNvPr id="57" name="Shape 54"/>
          <p:cNvSpPr/>
          <p:nvPr/>
        </p:nvSpPr>
        <p:spPr>
          <a:xfrm>
            <a:off x="411480" y="5833872"/>
            <a:ext cx="11368735" cy="530352"/>
          </a:xfrm>
          <a:prstGeom prst="rect">
            <a:avLst/>
          </a:prstGeom>
          <a:solidFill>
            <a:srgbClr val="FFF4E0"/>
          </a:solidFill>
          <a:ln w="6350">
            <a:solidFill>
              <a:srgbClr val="F1D9A8"/>
            </a:solidFill>
            <a:prstDash val="solid"/>
          </a:ln>
        </p:spPr>
      </p:sp>
      <p:sp>
        <p:nvSpPr>
          <p:cNvPr id="58" name="Shape 55"/>
          <p:cNvSpPr/>
          <p:nvPr/>
        </p:nvSpPr>
        <p:spPr>
          <a:xfrm>
            <a:off x="411480" y="5833872"/>
            <a:ext cx="82296" cy="530352"/>
          </a:xfrm>
          <a:prstGeom prst="rect">
            <a:avLst/>
          </a:prstGeom>
          <a:solidFill>
            <a:srgbClr val="E39A2F"/>
          </a:solidFill>
          <a:ln w="12700">
            <a:solidFill>
              <a:srgbClr val="E39A2F"/>
            </a:solidFill>
            <a:prstDash val="solid"/>
          </a:ln>
        </p:spPr>
      </p:sp>
      <p:sp>
        <p:nvSpPr>
          <p:cNvPr id="59" name="Text 5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In a sealed container, </a:t>
            </a:r>
            <a:r>
              <a:rPr lang="en-US" sz="1150" b="1" dirty="0">
                <a:solidFill>
                  <a:srgbClr val="262B3A"/>
                </a:solidFill>
                <a:latin typeface="Calibri" pitchFamily="34" charset="0"/>
                <a:ea typeface="Calibri" pitchFamily="34" charset="-122"/>
                <a:cs typeface="Calibri" pitchFamily="34" charset="-120"/>
              </a:rPr>
              <a:t>12.0 g</a:t>
            </a:r>
            <a:r>
              <a:rPr lang="en-US" sz="1150" dirty="0">
                <a:solidFill>
                  <a:srgbClr val="262B3A"/>
                </a:solidFill>
                <a:latin typeface="Calibri" pitchFamily="34" charset="0"/>
                <a:ea typeface="Calibri" pitchFamily="34" charset="-122"/>
                <a:cs typeface="Calibri" pitchFamily="34" charset="-120"/>
              </a:rPr>
              <a:t> of carbon burns in </a:t>
            </a:r>
            <a:r>
              <a:rPr lang="en-US" sz="1150" b="1" dirty="0">
                <a:solidFill>
                  <a:srgbClr val="262B3A"/>
                </a:solidFill>
                <a:latin typeface="Calibri" pitchFamily="34" charset="0"/>
                <a:ea typeface="Calibri" pitchFamily="34" charset="-122"/>
                <a:cs typeface="Calibri" pitchFamily="34" charset="-120"/>
              </a:rPr>
              <a:t>32.0 g</a:t>
            </a:r>
            <a:r>
              <a:rPr lang="en-US" sz="1150" dirty="0">
                <a:solidFill>
                  <a:srgbClr val="262B3A"/>
                </a:solidFill>
                <a:latin typeface="Calibri" pitchFamily="34" charset="0"/>
                <a:ea typeface="Calibri" pitchFamily="34" charset="-122"/>
                <a:cs typeface="Calibri" pitchFamily="34" charset="-120"/>
              </a:rPr>
              <a:t> of oxygen. No carbon or oxygen is left. What mass of carbon dioxide forms?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Mass changes in open systems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C5.2.2 • explain observed mass changes in non-enclosed systems using the particle model</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C5.2.2  |  6</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left: mass goes up; right: mass goes down; not to scale</a:t>
            </a:r>
            <a:endParaRPr lang="en-US" sz="1000" dirty="0"/>
          </a:p>
        </p:txBody>
      </p:sp>
      <p:sp>
        <p:nvSpPr>
          <p:cNvPr id="10" name="Text 8"/>
          <p:cNvSpPr/>
          <p:nvPr/>
        </p:nvSpPr>
        <p:spPr>
          <a:xfrm>
            <a:off x="548640" y="1298448"/>
            <a:ext cx="265176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a:t>
            </a:r>
            <a:r>
              <a:rPr lang="en-US" sz="1050" dirty="0">
                <a:solidFill>
                  <a:srgbClr val="262B3A"/>
                </a:solidFill>
                <a:latin typeface="Calibri" pitchFamily="34" charset="0"/>
                <a:ea typeface="Calibri" pitchFamily="34" charset="-122"/>
                <a:cs typeface="Calibri" pitchFamily="34" charset="-120"/>
              </a:rPr>
              <a:t> Magnesium burns in air</a:t>
            </a:r>
            <a:endParaRPr lang="en-US" sz="1050" dirty="0"/>
          </a:p>
        </p:txBody>
      </p:sp>
      <p:sp>
        <p:nvSpPr>
          <p:cNvPr id="11" name="Shape 9"/>
          <p:cNvSpPr/>
          <p:nvPr/>
        </p:nvSpPr>
        <p:spPr>
          <a:xfrm>
            <a:off x="1325880" y="2377440"/>
            <a:ext cx="1097280" cy="685800"/>
          </a:xfrm>
          <a:custGeom>
            <a:avLst/>
            <a:gdLst/>
            <a:ahLst/>
            <a:cxnLst/>
            <a:rect l="l" t="t" r="r" b="b"/>
            <a:pathLst>
              <a:path w="1097280" h="685800">
                <a:moveTo>
                  <a:pt x="0" y="0"/>
                </a:moveTo>
                <a:lnTo>
                  <a:pt x="1097280" y="0"/>
                </a:lnTo>
                <a:lnTo>
                  <a:pt x="888797" y="685800"/>
                </a:lnTo>
                <a:lnTo>
                  <a:pt x="208483" y="685800"/>
                </a:lnTo>
                <a:close/>
              </a:path>
            </a:pathLst>
          </a:custGeom>
          <a:solidFill>
            <a:srgbClr val="F3EFE6"/>
          </a:solidFill>
          <a:ln w="19050">
            <a:solidFill>
              <a:srgbClr val="7A6E5A"/>
            </a:solidFill>
            <a:prstDash val="solid"/>
          </a:ln>
        </p:spPr>
      </p:sp>
      <p:sp>
        <p:nvSpPr>
          <p:cNvPr id="12" name="Shape 10"/>
          <p:cNvSpPr/>
          <p:nvPr/>
        </p:nvSpPr>
        <p:spPr>
          <a:xfrm>
            <a:off x="1561795" y="2953512"/>
            <a:ext cx="625450" cy="91440"/>
          </a:xfrm>
          <a:prstGeom prst="rect">
            <a:avLst/>
          </a:prstGeom>
          <a:solidFill>
            <a:srgbClr val="F2F2F2"/>
          </a:solidFill>
          <a:ln/>
        </p:spPr>
      </p:sp>
      <p:sp>
        <p:nvSpPr>
          <p:cNvPr id="13" name="Shape 11"/>
          <p:cNvSpPr/>
          <p:nvPr/>
        </p:nvSpPr>
        <p:spPr>
          <a:xfrm>
            <a:off x="1545336" y="2734056"/>
            <a:ext cx="109728" cy="109728"/>
          </a:xfrm>
          <a:prstGeom prst="ellipse">
            <a:avLst/>
          </a:prstGeom>
          <a:solidFill>
            <a:srgbClr val="FFFFFF"/>
          </a:solidFill>
          <a:ln w="6350">
            <a:solidFill>
              <a:srgbClr val="B0B0B0"/>
            </a:solidFill>
            <a:prstDash val="solid"/>
          </a:ln>
        </p:spPr>
      </p:sp>
      <p:sp>
        <p:nvSpPr>
          <p:cNvPr id="14" name="Shape 12"/>
          <p:cNvSpPr/>
          <p:nvPr/>
        </p:nvSpPr>
        <p:spPr>
          <a:xfrm>
            <a:off x="1819656" y="2642616"/>
            <a:ext cx="109728" cy="109728"/>
          </a:xfrm>
          <a:prstGeom prst="ellipse">
            <a:avLst/>
          </a:prstGeom>
          <a:solidFill>
            <a:srgbClr val="FFFFFF"/>
          </a:solidFill>
          <a:ln w="6350">
            <a:solidFill>
              <a:srgbClr val="B0B0B0"/>
            </a:solidFill>
            <a:prstDash val="solid"/>
          </a:ln>
        </p:spPr>
      </p:sp>
      <p:sp>
        <p:nvSpPr>
          <p:cNvPr id="15" name="Shape 13"/>
          <p:cNvSpPr/>
          <p:nvPr/>
        </p:nvSpPr>
        <p:spPr>
          <a:xfrm>
            <a:off x="2093976" y="2734056"/>
            <a:ext cx="109728" cy="109728"/>
          </a:xfrm>
          <a:prstGeom prst="ellipse">
            <a:avLst/>
          </a:prstGeom>
          <a:solidFill>
            <a:srgbClr val="FFFFFF"/>
          </a:solidFill>
          <a:ln w="6350">
            <a:solidFill>
              <a:srgbClr val="B0B0B0"/>
            </a:solidFill>
            <a:prstDash val="solid"/>
          </a:ln>
        </p:spPr>
      </p:sp>
      <p:sp>
        <p:nvSpPr>
          <p:cNvPr id="16" name="Shape 14"/>
          <p:cNvSpPr/>
          <p:nvPr/>
        </p:nvSpPr>
        <p:spPr>
          <a:xfrm>
            <a:off x="1053389" y="1819656"/>
            <a:ext cx="201168" cy="201168"/>
          </a:xfrm>
          <a:prstGeom prst="ellipse">
            <a:avLst/>
          </a:prstGeom>
          <a:solidFill>
            <a:srgbClr val="E06666"/>
          </a:solidFill>
          <a:ln w="12700">
            <a:solidFill>
              <a:srgbClr val="9E2A2A"/>
            </a:solidFill>
            <a:prstDash val="solid"/>
          </a:ln>
        </p:spPr>
      </p:sp>
      <p:sp>
        <p:nvSpPr>
          <p:cNvPr id="17" name="Text 15"/>
          <p:cNvSpPr/>
          <p:nvPr/>
        </p:nvSpPr>
        <p:spPr>
          <a:xfrm>
            <a:off x="1053389" y="181965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O</a:t>
            </a:r>
            <a:endParaRPr lang="en-US" sz="900" dirty="0"/>
          </a:p>
        </p:txBody>
      </p:sp>
      <p:sp>
        <p:nvSpPr>
          <p:cNvPr id="18" name="Shape 16"/>
          <p:cNvSpPr/>
          <p:nvPr/>
        </p:nvSpPr>
        <p:spPr>
          <a:xfrm>
            <a:off x="1214323" y="1819656"/>
            <a:ext cx="201168" cy="201168"/>
          </a:xfrm>
          <a:prstGeom prst="ellipse">
            <a:avLst/>
          </a:prstGeom>
          <a:solidFill>
            <a:srgbClr val="E06666"/>
          </a:solidFill>
          <a:ln w="12700">
            <a:solidFill>
              <a:srgbClr val="9E2A2A"/>
            </a:solidFill>
            <a:prstDash val="solid"/>
          </a:ln>
        </p:spPr>
      </p:sp>
      <p:sp>
        <p:nvSpPr>
          <p:cNvPr id="19" name="Text 17"/>
          <p:cNvSpPr/>
          <p:nvPr/>
        </p:nvSpPr>
        <p:spPr>
          <a:xfrm>
            <a:off x="1214323" y="181965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O</a:t>
            </a:r>
            <a:endParaRPr lang="en-US" sz="900" dirty="0"/>
          </a:p>
        </p:txBody>
      </p:sp>
      <p:sp>
        <p:nvSpPr>
          <p:cNvPr id="20" name="Shape 18"/>
          <p:cNvSpPr/>
          <p:nvPr/>
        </p:nvSpPr>
        <p:spPr>
          <a:xfrm>
            <a:off x="1325880" y="2084832"/>
            <a:ext cx="228600" cy="384048"/>
          </a:xfrm>
          <a:prstGeom prst="line">
            <a:avLst/>
          </a:prstGeom>
          <a:noFill/>
          <a:ln w="19050">
            <a:solidFill>
              <a:srgbClr val="C8414C"/>
            </a:solidFill>
            <a:prstDash val="solid"/>
            <a:tailEnd type="triangle"/>
          </a:ln>
        </p:spPr>
      </p:sp>
      <p:sp>
        <p:nvSpPr>
          <p:cNvPr id="21" name="Shape 19"/>
          <p:cNvSpPr/>
          <p:nvPr/>
        </p:nvSpPr>
        <p:spPr>
          <a:xfrm>
            <a:off x="2333549" y="1819656"/>
            <a:ext cx="201168" cy="201168"/>
          </a:xfrm>
          <a:prstGeom prst="ellipse">
            <a:avLst/>
          </a:prstGeom>
          <a:solidFill>
            <a:srgbClr val="E06666"/>
          </a:solidFill>
          <a:ln w="12700">
            <a:solidFill>
              <a:srgbClr val="9E2A2A"/>
            </a:solidFill>
            <a:prstDash val="solid"/>
          </a:ln>
        </p:spPr>
      </p:sp>
      <p:sp>
        <p:nvSpPr>
          <p:cNvPr id="22" name="Text 20"/>
          <p:cNvSpPr/>
          <p:nvPr/>
        </p:nvSpPr>
        <p:spPr>
          <a:xfrm>
            <a:off x="2333549" y="181965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O</a:t>
            </a:r>
            <a:endParaRPr lang="en-US" sz="900" dirty="0"/>
          </a:p>
        </p:txBody>
      </p:sp>
      <p:sp>
        <p:nvSpPr>
          <p:cNvPr id="23" name="Shape 21"/>
          <p:cNvSpPr/>
          <p:nvPr/>
        </p:nvSpPr>
        <p:spPr>
          <a:xfrm>
            <a:off x="2494483" y="1819656"/>
            <a:ext cx="201168" cy="201168"/>
          </a:xfrm>
          <a:prstGeom prst="ellipse">
            <a:avLst/>
          </a:prstGeom>
          <a:solidFill>
            <a:srgbClr val="E06666"/>
          </a:solidFill>
          <a:ln w="12700">
            <a:solidFill>
              <a:srgbClr val="9E2A2A"/>
            </a:solidFill>
            <a:prstDash val="solid"/>
          </a:ln>
        </p:spPr>
      </p:sp>
      <p:sp>
        <p:nvSpPr>
          <p:cNvPr id="24" name="Text 22"/>
          <p:cNvSpPr/>
          <p:nvPr/>
        </p:nvSpPr>
        <p:spPr>
          <a:xfrm>
            <a:off x="2494483" y="181965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O</a:t>
            </a:r>
            <a:endParaRPr lang="en-US" sz="900" dirty="0"/>
          </a:p>
        </p:txBody>
      </p:sp>
      <p:sp>
        <p:nvSpPr>
          <p:cNvPr id="25" name="Shape 23"/>
          <p:cNvSpPr/>
          <p:nvPr/>
        </p:nvSpPr>
        <p:spPr>
          <a:xfrm flipH="1">
            <a:off x="2194560" y="2084832"/>
            <a:ext cx="228600" cy="384048"/>
          </a:xfrm>
          <a:prstGeom prst="line">
            <a:avLst/>
          </a:prstGeom>
          <a:noFill/>
          <a:ln w="19050">
            <a:solidFill>
              <a:srgbClr val="C8414C"/>
            </a:solidFill>
            <a:prstDash val="solid"/>
            <a:tailEnd type="triangle"/>
          </a:ln>
        </p:spPr>
      </p:sp>
      <p:sp>
        <p:nvSpPr>
          <p:cNvPr id="26" name="Text 24"/>
          <p:cNvSpPr/>
          <p:nvPr/>
        </p:nvSpPr>
        <p:spPr>
          <a:xfrm>
            <a:off x="502920" y="2103120"/>
            <a:ext cx="914400" cy="365760"/>
          </a:xfrm>
          <a:prstGeom prst="rect">
            <a:avLst/>
          </a:prstGeom>
          <a:noFill/>
          <a:ln/>
        </p:spPr>
        <p:txBody>
          <a:bodyPr wrap="square" lIns="0" tIns="0" rIns="0" bIns="0" rtlCol="0" anchor="ctr"/>
          <a:lstStyle/>
          <a:p>
            <a:pPr algn="l" indent="0" marL="0">
              <a:buNone/>
            </a:pPr>
            <a:r>
              <a:rPr lang="en-US" sz="1000" dirty="0">
                <a:solidFill>
                  <a:srgbClr val="C8414C"/>
                </a:solidFill>
                <a:latin typeface="Calibri" pitchFamily="34" charset="0"/>
                <a:ea typeface="Calibri" pitchFamily="34" charset="-122"/>
                <a:cs typeface="Calibri" pitchFamily="34" charset="-120"/>
              </a:rPr>
              <a:t>O₂ from air </a:t>
            </a:r>
            <a:r>
              <a:rPr lang="en-US" sz="1000" b="1" dirty="0">
                <a:solidFill>
                  <a:srgbClr val="C8414C"/>
                </a:solidFill>
                <a:latin typeface="Calibri" pitchFamily="34" charset="0"/>
                <a:ea typeface="Calibri" pitchFamily="34" charset="-122"/>
                <a:cs typeface="Calibri" pitchFamily="34" charset="-120"/>
              </a:rPr>
              <a:t>in</a:t>
            </a:r>
            <a:endParaRPr lang="en-US" sz="1000" dirty="0"/>
          </a:p>
        </p:txBody>
      </p:sp>
      <p:sp>
        <p:nvSpPr>
          <p:cNvPr id="27" name="Shape 25"/>
          <p:cNvSpPr/>
          <p:nvPr/>
        </p:nvSpPr>
        <p:spPr>
          <a:xfrm>
            <a:off x="1115568" y="3127248"/>
            <a:ext cx="1517904" cy="64008"/>
          </a:xfrm>
          <a:prstGeom prst="rect">
            <a:avLst/>
          </a:prstGeom>
          <a:solidFill>
            <a:srgbClr val="9AA3B0"/>
          </a:solidFill>
          <a:ln w="9525">
            <a:solidFill>
              <a:srgbClr val="4A5568"/>
            </a:solidFill>
            <a:prstDash val="solid"/>
          </a:ln>
        </p:spPr>
      </p:sp>
      <p:sp>
        <p:nvSpPr>
          <p:cNvPr id="28" name="Shape 26"/>
          <p:cNvSpPr/>
          <p:nvPr/>
        </p:nvSpPr>
        <p:spPr>
          <a:xfrm>
            <a:off x="1005840" y="3191256"/>
            <a:ext cx="1737360" cy="502920"/>
          </a:xfrm>
          <a:prstGeom prst="roundRect">
            <a:avLst>
              <a:gd name="adj" fmla="val 10909"/>
            </a:avLst>
          </a:prstGeom>
          <a:solidFill>
            <a:srgbClr val="E8EBF0"/>
          </a:solidFill>
          <a:ln w="15875">
            <a:solidFill>
              <a:srgbClr val="4A5568"/>
            </a:solidFill>
            <a:prstDash val="solid"/>
          </a:ln>
        </p:spPr>
      </p:sp>
      <p:sp>
        <p:nvSpPr>
          <p:cNvPr id="29" name="Shape 27"/>
          <p:cNvSpPr/>
          <p:nvPr/>
        </p:nvSpPr>
        <p:spPr>
          <a:xfrm>
            <a:off x="1143000" y="3282696"/>
            <a:ext cx="1463040" cy="292608"/>
          </a:xfrm>
          <a:prstGeom prst="rect">
            <a:avLst/>
          </a:prstGeom>
          <a:solidFill>
            <a:srgbClr val="1F2A3A"/>
          </a:solidFill>
          <a:ln/>
        </p:spPr>
      </p:sp>
      <p:sp>
        <p:nvSpPr>
          <p:cNvPr id="30" name="Text 28"/>
          <p:cNvSpPr/>
          <p:nvPr/>
        </p:nvSpPr>
        <p:spPr>
          <a:xfrm>
            <a:off x="1143000" y="3282696"/>
            <a:ext cx="1463040" cy="292608"/>
          </a:xfrm>
          <a:prstGeom prst="rect">
            <a:avLst/>
          </a:prstGeom>
          <a:noFill/>
          <a:ln/>
        </p:spPr>
        <p:txBody>
          <a:bodyPr wrap="square" lIns="0" tIns="0" rIns="0" bIns="0" rtlCol="0" anchor="ctr"/>
          <a:lstStyle/>
          <a:p>
            <a:pPr algn="ctr" indent="0" marL="0">
              <a:buNone/>
            </a:pPr>
            <a:r>
              <a:rPr lang="en-US" sz="1100" b="1" dirty="0">
                <a:solidFill>
                  <a:srgbClr val="7CFC9A"/>
                </a:solidFill>
                <a:latin typeface="Calibri" pitchFamily="34" charset="0"/>
                <a:ea typeface="Calibri" pitchFamily="34" charset="-122"/>
                <a:cs typeface="Calibri" pitchFamily="34" charset="-120"/>
              </a:rPr>
              <a:t>19.84 → 21.44 g</a:t>
            </a:r>
            <a:endParaRPr lang="en-US" sz="1100" dirty="0"/>
          </a:p>
        </p:txBody>
      </p:sp>
      <p:sp>
        <p:nvSpPr>
          <p:cNvPr id="31" name="Text 29"/>
          <p:cNvSpPr/>
          <p:nvPr/>
        </p:nvSpPr>
        <p:spPr>
          <a:xfrm>
            <a:off x="548640" y="3749040"/>
            <a:ext cx="2651760" cy="411480"/>
          </a:xfrm>
          <a:prstGeom prst="rect">
            <a:avLst/>
          </a:prstGeom>
          <a:noFill/>
          <a:ln/>
        </p:spPr>
        <p:txBody>
          <a:bodyPr wrap="square" lIns="0" tIns="0" rIns="0" bIns="0" rtlCol="0" anchor="t"/>
          <a:lstStyle/>
          <a:p>
            <a:pPr algn="ctr" indent="0" marL="0">
              <a:buNone/>
            </a:pPr>
            <a:r>
              <a:rPr lang="en-US" sz="1000" dirty="0">
                <a:solidFill>
                  <a:srgbClr val="2A1F3D"/>
                </a:solidFill>
                <a:latin typeface="Calibri" pitchFamily="34" charset="0"/>
                <a:ea typeface="Calibri" pitchFamily="34" charset="-122"/>
                <a:cs typeface="Calibri" pitchFamily="34" charset="-120"/>
              </a:rPr>
              <a:t>Oxygen atoms </a:t>
            </a:r>
            <a:r>
              <a:rPr lang="en-US" sz="1000" b="1" dirty="0">
                <a:solidFill>
                  <a:srgbClr val="2A1F3D"/>
                </a:solidFill>
                <a:latin typeface="Calibri" pitchFamily="34" charset="0"/>
                <a:ea typeface="Calibri" pitchFamily="34" charset="-122"/>
                <a:cs typeface="Calibri" pitchFamily="34" charset="-120"/>
              </a:rPr>
              <a:t>join</a:t>
            </a:r>
            <a:r>
              <a:rPr lang="en-US" sz="1000" dirty="0">
                <a:solidFill>
                  <a:srgbClr val="2A1F3D"/>
                </a:solidFill>
                <a:latin typeface="Calibri" pitchFamily="34" charset="0"/>
                <a:ea typeface="Calibri" pitchFamily="34" charset="-122"/>
                <a:cs typeface="Calibri" pitchFamily="34" charset="-120"/>
              </a:rPr>
              <a:t> the Mg, so the solid gets </a:t>
            </a:r>
            <a:r>
              <a:rPr lang="en-US" sz="1000" b="1" dirty="0">
                <a:solidFill>
                  <a:srgbClr val="2A1F3D"/>
                </a:solidFill>
                <a:latin typeface="Calibri" pitchFamily="34" charset="0"/>
                <a:ea typeface="Calibri" pitchFamily="34" charset="-122"/>
                <a:cs typeface="Calibri" pitchFamily="34" charset="-120"/>
              </a:rPr>
              <a:t>heavier</a:t>
            </a:r>
            <a:endParaRPr lang="en-US" sz="1000" dirty="0"/>
          </a:p>
        </p:txBody>
      </p:sp>
      <p:sp>
        <p:nvSpPr>
          <p:cNvPr id="32" name="Text 30"/>
          <p:cNvSpPr/>
          <p:nvPr/>
        </p:nvSpPr>
        <p:spPr>
          <a:xfrm>
            <a:off x="3200400" y="1298448"/>
            <a:ext cx="269748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a:t>
            </a:r>
            <a:r>
              <a:rPr lang="en-US" sz="1050" dirty="0">
                <a:solidFill>
                  <a:srgbClr val="262B3A"/>
                </a:solidFill>
                <a:latin typeface="Calibri" pitchFamily="34" charset="0"/>
                <a:ea typeface="Calibri" pitchFamily="34" charset="-122"/>
                <a:cs typeface="Calibri" pitchFamily="34" charset="-120"/>
              </a:rPr>
              <a:t> Marble chips + acid</a:t>
            </a:r>
            <a:endParaRPr lang="en-US" sz="1050" dirty="0"/>
          </a:p>
        </p:txBody>
      </p:sp>
      <p:sp>
        <p:nvSpPr>
          <p:cNvPr id="33" name="Shape 31"/>
          <p:cNvSpPr/>
          <p:nvPr/>
        </p:nvSpPr>
        <p:spPr>
          <a:xfrm>
            <a:off x="3886200" y="1965960"/>
            <a:ext cx="1280160" cy="1097280"/>
          </a:xfrm>
          <a:custGeom>
            <a:avLst/>
            <a:gdLst/>
            <a:ahLst/>
            <a:cxnLst/>
            <a:rect l="l" t="t" r="r" b="b"/>
            <a:pathLst>
              <a:path w="1280160" h="1097280">
                <a:moveTo>
                  <a:pt x="473659" y="0"/>
                </a:moveTo>
                <a:lnTo>
                  <a:pt x="806501" y="0"/>
                </a:lnTo>
                <a:lnTo>
                  <a:pt x="806501" y="329184"/>
                </a:lnTo>
                <a:lnTo>
                  <a:pt x="1280160" y="1097280"/>
                </a:lnTo>
                <a:lnTo>
                  <a:pt x="0" y="1097280"/>
                </a:lnTo>
                <a:lnTo>
                  <a:pt x="473659" y="329184"/>
                </a:lnTo>
                <a:close/>
              </a:path>
            </a:pathLst>
          </a:custGeom>
          <a:solidFill>
            <a:srgbClr val="EEF5FB"/>
          </a:solidFill>
          <a:ln/>
        </p:spPr>
      </p:sp>
      <p:sp>
        <p:nvSpPr>
          <p:cNvPr id="34" name="Shape 32"/>
          <p:cNvSpPr/>
          <p:nvPr/>
        </p:nvSpPr>
        <p:spPr>
          <a:xfrm>
            <a:off x="3886200" y="2740640"/>
            <a:ext cx="1280160" cy="322600"/>
          </a:xfrm>
          <a:custGeom>
            <a:avLst/>
            <a:gdLst/>
            <a:ahLst/>
            <a:cxnLst/>
            <a:rect l="l" t="t" r="r" b="b"/>
            <a:pathLst>
              <a:path w="1280160" h="322600">
                <a:moveTo>
                  <a:pt x="198937" y="0"/>
                </a:moveTo>
                <a:lnTo>
                  <a:pt x="1081223" y="0"/>
                </a:lnTo>
                <a:lnTo>
                  <a:pt x="1280160" y="322600"/>
                </a:lnTo>
                <a:lnTo>
                  <a:pt x="0" y="322600"/>
                </a:lnTo>
                <a:close/>
              </a:path>
            </a:pathLst>
          </a:custGeom>
          <a:solidFill>
            <a:srgbClr val="CFE4F7"/>
          </a:solidFill>
          <a:ln/>
        </p:spPr>
      </p:sp>
      <p:sp>
        <p:nvSpPr>
          <p:cNvPr id="35" name="Shape 33"/>
          <p:cNvSpPr/>
          <p:nvPr/>
        </p:nvSpPr>
        <p:spPr>
          <a:xfrm>
            <a:off x="3886200" y="1965960"/>
            <a:ext cx="1280160" cy="1097280"/>
          </a:xfrm>
          <a:custGeom>
            <a:avLst/>
            <a:gdLst/>
            <a:ahLst/>
            <a:cxnLst/>
            <a:rect l="l" t="t" r="r" b="b"/>
            <a:pathLst>
              <a:path w="1280160" h="1097280">
                <a:moveTo>
                  <a:pt x="473659" y="0"/>
                </a:moveTo>
                <a:lnTo>
                  <a:pt x="806501" y="0"/>
                </a:lnTo>
                <a:lnTo>
                  <a:pt x="806501" y="329184"/>
                </a:lnTo>
                <a:lnTo>
                  <a:pt x="1280160" y="1097280"/>
                </a:lnTo>
                <a:lnTo>
                  <a:pt x="0" y="1097280"/>
                </a:lnTo>
                <a:lnTo>
                  <a:pt x="473659" y="329184"/>
                </a:lnTo>
                <a:close/>
              </a:path>
            </a:pathLst>
          </a:custGeom>
          <a:ln w="19050">
            <a:solidFill>
              <a:srgbClr val="2A1F3D"/>
            </a:solidFill>
            <a:prstDash val="solid"/>
          </a:ln>
        </p:spPr>
      </p:sp>
      <p:sp>
        <p:nvSpPr>
          <p:cNvPr id="36" name="Shape 34"/>
          <p:cNvSpPr/>
          <p:nvPr/>
        </p:nvSpPr>
        <p:spPr>
          <a:xfrm>
            <a:off x="4233672" y="2898648"/>
            <a:ext cx="128016" cy="128016"/>
          </a:xfrm>
          <a:prstGeom prst="ellipse">
            <a:avLst/>
          </a:prstGeom>
          <a:solidFill>
            <a:srgbClr val="EDEDED"/>
          </a:solidFill>
          <a:ln w="9525">
            <a:solidFill>
              <a:srgbClr val="8A8F99"/>
            </a:solidFill>
            <a:prstDash val="solid"/>
          </a:ln>
        </p:spPr>
      </p:sp>
      <p:sp>
        <p:nvSpPr>
          <p:cNvPr id="37" name="Shape 35"/>
          <p:cNvSpPr/>
          <p:nvPr/>
        </p:nvSpPr>
        <p:spPr>
          <a:xfrm>
            <a:off x="4462272" y="2916936"/>
            <a:ext cx="128016" cy="128016"/>
          </a:xfrm>
          <a:prstGeom prst="ellipse">
            <a:avLst/>
          </a:prstGeom>
          <a:solidFill>
            <a:srgbClr val="EDEDED"/>
          </a:solidFill>
          <a:ln w="9525">
            <a:solidFill>
              <a:srgbClr val="8A8F99"/>
            </a:solidFill>
            <a:prstDash val="solid"/>
          </a:ln>
        </p:spPr>
      </p:sp>
      <p:sp>
        <p:nvSpPr>
          <p:cNvPr id="38" name="Shape 36"/>
          <p:cNvSpPr/>
          <p:nvPr/>
        </p:nvSpPr>
        <p:spPr>
          <a:xfrm>
            <a:off x="4690872" y="2898648"/>
            <a:ext cx="128016" cy="128016"/>
          </a:xfrm>
          <a:prstGeom prst="ellipse">
            <a:avLst/>
          </a:prstGeom>
          <a:solidFill>
            <a:srgbClr val="EDEDED"/>
          </a:solidFill>
          <a:ln w="9525">
            <a:solidFill>
              <a:srgbClr val="8A8F99"/>
            </a:solidFill>
            <a:prstDash val="solid"/>
          </a:ln>
        </p:spPr>
      </p:sp>
      <p:sp>
        <p:nvSpPr>
          <p:cNvPr id="39" name="Shape 37"/>
          <p:cNvSpPr/>
          <p:nvPr/>
        </p:nvSpPr>
        <p:spPr>
          <a:xfrm>
            <a:off x="4343400" y="2816352"/>
            <a:ext cx="128016" cy="128016"/>
          </a:xfrm>
          <a:prstGeom prst="ellipse">
            <a:avLst/>
          </a:prstGeom>
          <a:solidFill>
            <a:srgbClr val="EDEDED"/>
          </a:solidFill>
          <a:ln w="9525">
            <a:solidFill>
              <a:srgbClr val="8A8F99"/>
            </a:solidFill>
            <a:prstDash val="solid"/>
          </a:ln>
        </p:spPr>
      </p:sp>
      <p:sp>
        <p:nvSpPr>
          <p:cNvPr id="40" name="Shape 38"/>
          <p:cNvSpPr/>
          <p:nvPr/>
        </p:nvSpPr>
        <p:spPr>
          <a:xfrm>
            <a:off x="4581144" y="2816352"/>
            <a:ext cx="128016" cy="128016"/>
          </a:xfrm>
          <a:prstGeom prst="ellipse">
            <a:avLst/>
          </a:prstGeom>
          <a:solidFill>
            <a:srgbClr val="EDEDED"/>
          </a:solidFill>
          <a:ln w="9525">
            <a:solidFill>
              <a:srgbClr val="8A8F99"/>
            </a:solidFill>
            <a:prstDash val="solid"/>
          </a:ln>
        </p:spPr>
      </p:sp>
      <p:sp>
        <p:nvSpPr>
          <p:cNvPr id="41" name="Shape 39"/>
          <p:cNvSpPr/>
          <p:nvPr/>
        </p:nvSpPr>
        <p:spPr>
          <a:xfrm>
            <a:off x="4407408" y="2761488"/>
            <a:ext cx="73152" cy="73152"/>
          </a:xfrm>
          <a:prstGeom prst="ellipse">
            <a:avLst/>
          </a:prstGeom>
          <a:solidFill>
            <a:srgbClr val="FFFFFF"/>
          </a:solidFill>
          <a:ln w="6350">
            <a:solidFill>
              <a:srgbClr val="5B9BD5"/>
            </a:solidFill>
            <a:prstDash val="solid"/>
          </a:ln>
        </p:spPr>
      </p:sp>
      <p:sp>
        <p:nvSpPr>
          <p:cNvPr id="42" name="Shape 40"/>
          <p:cNvSpPr/>
          <p:nvPr/>
        </p:nvSpPr>
        <p:spPr>
          <a:xfrm>
            <a:off x="4572000" y="2688336"/>
            <a:ext cx="73152" cy="73152"/>
          </a:xfrm>
          <a:prstGeom prst="ellipse">
            <a:avLst/>
          </a:prstGeom>
          <a:solidFill>
            <a:srgbClr val="FFFFFF"/>
          </a:solidFill>
          <a:ln w="6350">
            <a:solidFill>
              <a:srgbClr val="5B9BD5"/>
            </a:solidFill>
            <a:prstDash val="solid"/>
          </a:ln>
        </p:spPr>
      </p:sp>
      <p:sp>
        <p:nvSpPr>
          <p:cNvPr id="43" name="Shape 41"/>
          <p:cNvSpPr/>
          <p:nvPr/>
        </p:nvSpPr>
        <p:spPr>
          <a:xfrm>
            <a:off x="3776472" y="1728216"/>
            <a:ext cx="164592" cy="164592"/>
          </a:xfrm>
          <a:prstGeom prst="ellipse">
            <a:avLst/>
          </a:prstGeom>
          <a:solidFill>
            <a:srgbClr val="E06666"/>
          </a:solidFill>
          <a:ln w="12700">
            <a:solidFill>
              <a:srgbClr val="9E2A2A"/>
            </a:solidFill>
            <a:prstDash val="solid"/>
          </a:ln>
        </p:spPr>
      </p:sp>
      <p:sp>
        <p:nvSpPr>
          <p:cNvPr id="44" name="Shape 42"/>
          <p:cNvSpPr/>
          <p:nvPr/>
        </p:nvSpPr>
        <p:spPr>
          <a:xfrm>
            <a:off x="3941064" y="1728216"/>
            <a:ext cx="164592" cy="164592"/>
          </a:xfrm>
          <a:prstGeom prst="ellipse">
            <a:avLst/>
          </a:prstGeom>
          <a:solidFill>
            <a:srgbClr val="4A4A4A"/>
          </a:solidFill>
          <a:ln w="12700">
            <a:solidFill>
              <a:srgbClr val="222222"/>
            </a:solidFill>
            <a:prstDash val="solid"/>
          </a:ln>
        </p:spPr>
      </p:sp>
      <p:sp>
        <p:nvSpPr>
          <p:cNvPr id="45" name="Shape 43"/>
          <p:cNvSpPr/>
          <p:nvPr/>
        </p:nvSpPr>
        <p:spPr>
          <a:xfrm>
            <a:off x="4105656" y="1728216"/>
            <a:ext cx="164592" cy="164592"/>
          </a:xfrm>
          <a:prstGeom prst="ellipse">
            <a:avLst/>
          </a:prstGeom>
          <a:solidFill>
            <a:srgbClr val="E06666"/>
          </a:solidFill>
          <a:ln w="12700">
            <a:solidFill>
              <a:srgbClr val="9E2A2A"/>
            </a:solidFill>
            <a:prstDash val="solid"/>
          </a:ln>
        </p:spPr>
      </p:sp>
      <p:sp>
        <p:nvSpPr>
          <p:cNvPr id="46" name="Shape 44"/>
          <p:cNvSpPr/>
          <p:nvPr/>
        </p:nvSpPr>
        <p:spPr>
          <a:xfrm>
            <a:off x="4599432" y="1728216"/>
            <a:ext cx="164592" cy="164592"/>
          </a:xfrm>
          <a:prstGeom prst="ellipse">
            <a:avLst/>
          </a:prstGeom>
          <a:solidFill>
            <a:srgbClr val="E06666"/>
          </a:solidFill>
          <a:ln w="12700">
            <a:solidFill>
              <a:srgbClr val="9E2A2A"/>
            </a:solidFill>
            <a:prstDash val="solid"/>
          </a:ln>
        </p:spPr>
      </p:sp>
      <p:sp>
        <p:nvSpPr>
          <p:cNvPr id="47" name="Shape 45"/>
          <p:cNvSpPr/>
          <p:nvPr/>
        </p:nvSpPr>
        <p:spPr>
          <a:xfrm>
            <a:off x="4764024" y="1728216"/>
            <a:ext cx="164592" cy="164592"/>
          </a:xfrm>
          <a:prstGeom prst="ellipse">
            <a:avLst/>
          </a:prstGeom>
          <a:solidFill>
            <a:srgbClr val="4A4A4A"/>
          </a:solidFill>
          <a:ln w="12700">
            <a:solidFill>
              <a:srgbClr val="222222"/>
            </a:solidFill>
            <a:prstDash val="solid"/>
          </a:ln>
        </p:spPr>
      </p:sp>
      <p:sp>
        <p:nvSpPr>
          <p:cNvPr id="48" name="Shape 46"/>
          <p:cNvSpPr/>
          <p:nvPr/>
        </p:nvSpPr>
        <p:spPr>
          <a:xfrm>
            <a:off x="4928616" y="1728216"/>
            <a:ext cx="164592" cy="164592"/>
          </a:xfrm>
          <a:prstGeom prst="ellipse">
            <a:avLst/>
          </a:prstGeom>
          <a:solidFill>
            <a:srgbClr val="E06666"/>
          </a:solidFill>
          <a:ln w="12700">
            <a:solidFill>
              <a:srgbClr val="9E2A2A"/>
            </a:solidFill>
            <a:prstDash val="solid"/>
          </a:ln>
        </p:spPr>
      </p:sp>
      <p:sp>
        <p:nvSpPr>
          <p:cNvPr id="49" name="Shape 47"/>
          <p:cNvSpPr/>
          <p:nvPr/>
        </p:nvSpPr>
        <p:spPr>
          <a:xfrm flipV="1">
            <a:off x="4526280" y="1600200"/>
            <a:ext cx="91" cy="320040"/>
          </a:xfrm>
          <a:prstGeom prst="line">
            <a:avLst/>
          </a:prstGeom>
          <a:noFill/>
          <a:ln w="19050">
            <a:solidFill>
              <a:srgbClr val="6B7385"/>
            </a:solidFill>
            <a:prstDash val="solid"/>
            <a:tailEnd type="triangle"/>
          </a:ln>
        </p:spPr>
      </p:sp>
      <p:sp>
        <p:nvSpPr>
          <p:cNvPr id="50" name="Text 48"/>
          <p:cNvSpPr/>
          <p:nvPr/>
        </p:nvSpPr>
        <p:spPr>
          <a:xfrm>
            <a:off x="5257800" y="1700784"/>
            <a:ext cx="685800" cy="228600"/>
          </a:xfrm>
          <a:prstGeom prst="rect">
            <a:avLst/>
          </a:prstGeom>
          <a:noFill/>
          <a:ln/>
        </p:spPr>
        <p:txBody>
          <a:bodyPr wrap="square" lIns="0" tIns="0" rIns="0" bIns="0" rtlCol="0" anchor="ctr"/>
          <a:lstStyle/>
          <a:p>
            <a:pPr algn="l" indent="0" marL="0">
              <a:buNone/>
            </a:pPr>
            <a:r>
              <a:rPr lang="en-US" sz="1000" dirty="0">
                <a:solidFill>
                  <a:srgbClr val="6B7385"/>
                </a:solidFill>
                <a:latin typeface="Calibri" pitchFamily="34" charset="0"/>
                <a:ea typeface="Calibri" pitchFamily="34" charset="-122"/>
                <a:cs typeface="Calibri" pitchFamily="34" charset="-120"/>
              </a:rPr>
              <a:t>CO₂ </a:t>
            </a:r>
            <a:r>
              <a:rPr lang="en-US" sz="1000" b="1" dirty="0">
                <a:solidFill>
                  <a:srgbClr val="6B7385"/>
                </a:solidFill>
                <a:latin typeface="Calibri" pitchFamily="34" charset="0"/>
                <a:ea typeface="Calibri" pitchFamily="34" charset="-122"/>
                <a:cs typeface="Calibri" pitchFamily="34" charset="-120"/>
              </a:rPr>
              <a:t>out</a:t>
            </a:r>
            <a:endParaRPr lang="en-US" sz="1000" dirty="0"/>
          </a:p>
        </p:txBody>
      </p:sp>
      <p:sp>
        <p:nvSpPr>
          <p:cNvPr id="51" name="Shape 49"/>
          <p:cNvSpPr/>
          <p:nvPr/>
        </p:nvSpPr>
        <p:spPr>
          <a:xfrm>
            <a:off x="3767328" y="3127248"/>
            <a:ext cx="1517904" cy="64008"/>
          </a:xfrm>
          <a:prstGeom prst="rect">
            <a:avLst/>
          </a:prstGeom>
          <a:solidFill>
            <a:srgbClr val="9AA3B0"/>
          </a:solidFill>
          <a:ln w="9525">
            <a:solidFill>
              <a:srgbClr val="4A5568"/>
            </a:solidFill>
            <a:prstDash val="solid"/>
          </a:ln>
        </p:spPr>
      </p:sp>
      <p:sp>
        <p:nvSpPr>
          <p:cNvPr id="52" name="Shape 50"/>
          <p:cNvSpPr/>
          <p:nvPr/>
        </p:nvSpPr>
        <p:spPr>
          <a:xfrm>
            <a:off x="3657600" y="3191256"/>
            <a:ext cx="1737360" cy="502920"/>
          </a:xfrm>
          <a:prstGeom prst="roundRect">
            <a:avLst>
              <a:gd name="adj" fmla="val 10909"/>
            </a:avLst>
          </a:prstGeom>
          <a:solidFill>
            <a:srgbClr val="E8EBF0"/>
          </a:solidFill>
          <a:ln w="15875">
            <a:solidFill>
              <a:srgbClr val="4A5568"/>
            </a:solidFill>
            <a:prstDash val="solid"/>
          </a:ln>
        </p:spPr>
      </p:sp>
      <p:sp>
        <p:nvSpPr>
          <p:cNvPr id="53" name="Shape 51"/>
          <p:cNvSpPr/>
          <p:nvPr/>
        </p:nvSpPr>
        <p:spPr>
          <a:xfrm>
            <a:off x="3794760" y="3282696"/>
            <a:ext cx="1463040" cy="292608"/>
          </a:xfrm>
          <a:prstGeom prst="rect">
            <a:avLst/>
          </a:prstGeom>
          <a:solidFill>
            <a:srgbClr val="1F2A3A"/>
          </a:solidFill>
          <a:ln/>
        </p:spPr>
      </p:sp>
      <p:sp>
        <p:nvSpPr>
          <p:cNvPr id="54" name="Text 52"/>
          <p:cNvSpPr/>
          <p:nvPr/>
        </p:nvSpPr>
        <p:spPr>
          <a:xfrm>
            <a:off x="3794760" y="3282696"/>
            <a:ext cx="1463040" cy="292608"/>
          </a:xfrm>
          <a:prstGeom prst="rect">
            <a:avLst/>
          </a:prstGeom>
          <a:noFill/>
          <a:ln/>
        </p:spPr>
        <p:txBody>
          <a:bodyPr wrap="square" lIns="0" tIns="0" rIns="0" bIns="0" rtlCol="0" anchor="ctr"/>
          <a:lstStyle/>
          <a:p>
            <a:pPr algn="ctr" indent="0" marL="0">
              <a:buNone/>
            </a:pPr>
            <a:r>
              <a:rPr lang="en-US" sz="1100" b="1" dirty="0">
                <a:solidFill>
                  <a:srgbClr val="7CFC9A"/>
                </a:solidFill>
                <a:latin typeface="Calibri" pitchFamily="34" charset="0"/>
                <a:ea typeface="Calibri" pitchFamily="34" charset="-122"/>
                <a:cs typeface="Calibri" pitchFamily="34" charset="-120"/>
              </a:rPr>
              <a:t>152.40 → 151.52 g</a:t>
            </a:r>
            <a:endParaRPr lang="en-US" sz="1100" dirty="0"/>
          </a:p>
        </p:txBody>
      </p:sp>
      <p:sp>
        <p:nvSpPr>
          <p:cNvPr id="55" name="Text 53"/>
          <p:cNvSpPr/>
          <p:nvPr/>
        </p:nvSpPr>
        <p:spPr>
          <a:xfrm>
            <a:off x="3246120" y="3749040"/>
            <a:ext cx="2606040" cy="411480"/>
          </a:xfrm>
          <a:prstGeom prst="rect">
            <a:avLst/>
          </a:prstGeom>
          <a:noFill/>
          <a:ln/>
        </p:spPr>
        <p:txBody>
          <a:bodyPr wrap="square" lIns="0" tIns="0" rIns="0" bIns="0" rtlCol="0" anchor="t"/>
          <a:lstStyle/>
          <a:p>
            <a:pPr algn="ctr" indent="0" marL="0">
              <a:buNone/>
            </a:pPr>
            <a:r>
              <a:rPr lang="en-US" sz="1000" dirty="0">
                <a:solidFill>
                  <a:srgbClr val="2A1F3D"/>
                </a:solidFill>
                <a:latin typeface="Calibri" pitchFamily="34" charset="0"/>
                <a:ea typeface="Calibri" pitchFamily="34" charset="-122"/>
                <a:cs typeface="Calibri" pitchFamily="34" charset="-120"/>
              </a:rPr>
              <a:t>CO₂ gas </a:t>
            </a:r>
            <a:r>
              <a:rPr lang="en-US" sz="1000" b="1" dirty="0">
                <a:solidFill>
                  <a:srgbClr val="2A1F3D"/>
                </a:solidFill>
                <a:latin typeface="Calibri" pitchFamily="34" charset="0"/>
                <a:ea typeface="Calibri" pitchFamily="34" charset="-122"/>
                <a:cs typeface="Calibri" pitchFamily="34" charset="-120"/>
              </a:rPr>
              <a:t>escapes</a:t>
            </a:r>
            <a:r>
              <a:rPr lang="en-US" sz="1000" dirty="0">
                <a:solidFill>
                  <a:srgbClr val="2A1F3D"/>
                </a:solidFill>
                <a:latin typeface="Calibri" pitchFamily="34" charset="0"/>
                <a:ea typeface="Calibri" pitchFamily="34" charset="-122"/>
                <a:cs typeface="Calibri" pitchFamily="34" charset="-120"/>
              </a:rPr>
              <a:t> into the air, so the reading </a:t>
            </a:r>
            <a:r>
              <a:rPr lang="en-US" sz="1000" b="1" dirty="0">
                <a:solidFill>
                  <a:srgbClr val="2A1F3D"/>
                </a:solidFill>
                <a:latin typeface="Calibri" pitchFamily="34" charset="0"/>
                <a:ea typeface="Calibri" pitchFamily="34" charset="-122"/>
                <a:cs typeface="Calibri" pitchFamily="34" charset="-120"/>
              </a:rPr>
              <a:t>falls</a:t>
            </a:r>
            <a:endParaRPr lang="en-US" sz="1000" dirty="0"/>
          </a:p>
        </p:txBody>
      </p:sp>
      <p:sp>
        <p:nvSpPr>
          <p:cNvPr id="56" name="Shape 54"/>
          <p:cNvSpPr/>
          <p:nvPr/>
        </p:nvSpPr>
        <p:spPr>
          <a:xfrm>
            <a:off x="640080" y="4251960"/>
            <a:ext cx="5120640" cy="329184"/>
          </a:xfrm>
          <a:prstGeom prst="roundRect">
            <a:avLst>
              <a:gd name="adj" fmla="val 13889"/>
            </a:avLst>
          </a:prstGeom>
          <a:solidFill>
            <a:srgbClr val="FFFFFF"/>
          </a:solidFill>
          <a:ln w="12700">
            <a:solidFill>
              <a:srgbClr val="DDD3EC"/>
            </a:solidFill>
            <a:prstDash val="solid"/>
          </a:ln>
        </p:spPr>
      </p:sp>
      <p:sp>
        <p:nvSpPr>
          <p:cNvPr id="57" name="Text 55"/>
          <p:cNvSpPr/>
          <p:nvPr/>
        </p:nvSpPr>
        <p:spPr>
          <a:xfrm>
            <a:off x="713232" y="4251960"/>
            <a:ext cx="4974336" cy="32918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2Mg(s) + O₂(g) → 2MgO(s)</a:t>
            </a:r>
            <a:endParaRPr lang="en-US" sz="1100" dirty="0"/>
          </a:p>
        </p:txBody>
      </p:sp>
      <p:sp>
        <p:nvSpPr>
          <p:cNvPr id="58" name="Shape 56"/>
          <p:cNvSpPr/>
          <p:nvPr/>
        </p:nvSpPr>
        <p:spPr>
          <a:xfrm>
            <a:off x="640080" y="4645152"/>
            <a:ext cx="5120640" cy="329184"/>
          </a:xfrm>
          <a:prstGeom prst="roundRect">
            <a:avLst>
              <a:gd name="adj" fmla="val 13889"/>
            </a:avLst>
          </a:prstGeom>
          <a:solidFill>
            <a:srgbClr val="FFFFFF"/>
          </a:solidFill>
          <a:ln w="12700">
            <a:solidFill>
              <a:srgbClr val="DDD3EC"/>
            </a:solidFill>
            <a:prstDash val="solid"/>
          </a:ln>
        </p:spPr>
      </p:sp>
      <p:sp>
        <p:nvSpPr>
          <p:cNvPr id="59" name="Text 57"/>
          <p:cNvSpPr/>
          <p:nvPr/>
        </p:nvSpPr>
        <p:spPr>
          <a:xfrm>
            <a:off x="713232" y="4645152"/>
            <a:ext cx="4974336" cy="32918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CaCO₃(s) + 2HCl(aq) → CaCl₂(aq) + H₂O(l) + CO₂(g)</a:t>
            </a:r>
            <a:endParaRPr lang="en-US" sz="1100" dirty="0"/>
          </a:p>
        </p:txBody>
      </p:sp>
      <p:sp>
        <p:nvSpPr>
          <p:cNvPr id="60" name="Text 58"/>
          <p:cNvSpPr/>
          <p:nvPr/>
        </p:nvSpPr>
        <p:spPr>
          <a:xfrm>
            <a:off x="640080" y="5029200"/>
            <a:ext cx="5120640" cy="274320"/>
          </a:xfrm>
          <a:prstGeom prst="rect">
            <a:avLst/>
          </a:prstGeom>
          <a:noFill/>
          <a:ln/>
        </p:spPr>
        <p:txBody>
          <a:bodyPr wrap="square" lIns="0" tIns="0" rIns="0" bIns="0" rtlCol="0" anchor="ctr"/>
          <a:lstStyle/>
          <a:p>
            <a:pPr algn="ctr" indent="0" marL="0">
              <a:buNone/>
            </a:pPr>
            <a:r>
              <a:rPr lang="en-US" sz="1050" b="1" dirty="0">
                <a:solidFill>
                  <a:srgbClr val="2E8B57"/>
                </a:solidFill>
                <a:latin typeface="Calibri" pitchFamily="34" charset="0"/>
                <a:ea typeface="Calibri" pitchFamily="34" charset="-122"/>
                <a:cs typeface="Calibri" pitchFamily="34" charset="-120"/>
              </a:rPr>
              <a:t>Total mass is still conserved: count the </a:t>
            </a:r>
            <a:r>
              <a:rPr lang="en-US" sz="1050" b="1" dirty="0">
                <a:solidFill>
                  <a:srgbClr val="2E8B57"/>
                </a:solidFill>
                <a:latin typeface="Calibri" pitchFamily="34" charset="0"/>
                <a:ea typeface="Calibri" pitchFamily="34" charset="-122"/>
                <a:cs typeface="Calibri" pitchFamily="34" charset="-120"/>
              </a:rPr>
              <a:t>gas</a:t>
            </a:r>
            <a:r>
              <a:rPr lang="en-US" sz="1050" b="1" dirty="0">
                <a:solidFill>
                  <a:srgbClr val="2E8B57"/>
                </a:solidFill>
                <a:latin typeface="Calibri" pitchFamily="34" charset="0"/>
                <a:ea typeface="Calibri" pitchFamily="34" charset="-122"/>
                <a:cs typeface="Calibri" pitchFamily="34" charset="-120"/>
              </a:rPr>
              <a:t> too</a:t>
            </a:r>
            <a:endParaRPr lang="en-US" sz="1050" dirty="0"/>
          </a:p>
        </p:txBody>
      </p:sp>
      <p:sp>
        <p:nvSpPr>
          <p:cNvPr id="61" name="Shape 59"/>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62" name="Text 6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Why the balance reading changes</a:t>
            </a:r>
            <a:endParaRPr lang="en-US" sz="1300" dirty="0"/>
          </a:p>
        </p:txBody>
      </p:sp>
      <p:sp>
        <p:nvSpPr>
          <p:cNvPr id="63" name="Text 61"/>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non-enclosed</a:t>
            </a:r>
            <a:r>
              <a:rPr lang="en-US" sz="1100" dirty="0">
                <a:solidFill>
                  <a:srgbClr val="262B3A"/>
                </a:solidFill>
                <a:latin typeface="Calibri" pitchFamily="34" charset="0"/>
                <a:ea typeface="Calibri" pitchFamily="34" charset="-122"/>
                <a:cs typeface="Calibri" pitchFamily="34" charset="-120"/>
              </a:rPr>
              <a:t> (open) system lets gases move </a:t>
            </a:r>
            <a:r>
              <a:rPr lang="en-US" sz="1100" b="1" dirty="0">
                <a:solidFill>
                  <a:srgbClr val="262B3A"/>
                </a:solidFill>
                <a:latin typeface="Calibri" pitchFamily="34" charset="0"/>
                <a:ea typeface="Calibri" pitchFamily="34" charset="-122"/>
                <a:cs typeface="Calibri" pitchFamily="34" charset="-120"/>
              </a:rPr>
              <a:t>in</a:t>
            </a:r>
            <a:r>
              <a:rPr lang="en-US" sz="1100" dirty="0">
                <a:solidFill>
                  <a:srgbClr val="262B3A"/>
                </a:solidFill>
                <a:latin typeface="Calibri" pitchFamily="34" charset="0"/>
                <a:ea typeface="Calibri" pitchFamily="34" charset="-122"/>
                <a:cs typeface="Calibri" pitchFamily="34" charset="-120"/>
              </a:rPr>
              <a:t> or </a:t>
            </a:r>
            <a:r>
              <a:rPr lang="en-US" sz="1100" b="1" dirty="0">
                <a:solidFill>
                  <a:srgbClr val="262B3A"/>
                </a:solidFill>
                <a:latin typeface="Calibri" pitchFamily="34" charset="0"/>
                <a:ea typeface="Calibri" pitchFamily="34" charset="-122"/>
                <a:cs typeface="Calibri" pitchFamily="34" charset="-120"/>
              </a:rPr>
              <a:t>out</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Mass goes up</a:t>
            </a:r>
            <a:r>
              <a:rPr lang="en-US" sz="1100" dirty="0">
                <a:solidFill>
                  <a:srgbClr val="262B3A"/>
                </a:solidFill>
                <a:latin typeface="Calibri" pitchFamily="34" charset="0"/>
                <a:ea typeface="Calibri" pitchFamily="34" charset="-122"/>
                <a:cs typeface="Calibri" pitchFamily="34" charset="-120"/>
              </a:rPr>
              <a:t> when a </a:t>
            </a:r>
            <a:r>
              <a:rPr lang="en-US" sz="1100" b="1" dirty="0">
                <a:solidFill>
                  <a:srgbClr val="262B3A"/>
                </a:solidFill>
                <a:latin typeface="Calibri" pitchFamily="34" charset="0"/>
                <a:ea typeface="Calibri" pitchFamily="34" charset="-122"/>
                <a:cs typeface="Calibri" pitchFamily="34" charset="-120"/>
              </a:rPr>
              <a:t>gas from the air</a:t>
            </a:r>
            <a:r>
              <a:rPr lang="en-US" sz="1100" dirty="0">
                <a:solidFill>
                  <a:srgbClr val="262B3A"/>
                </a:solidFill>
                <a:latin typeface="Calibri" pitchFamily="34" charset="0"/>
                <a:ea typeface="Calibri" pitchFamily="34" charset="-122"/>
                <a:cs typeface="Calibri" pitchFamily="34" charset="-120"/>
              </a:rPr>
              <a:t> (usually </a:t>
            </a:r>
            <a:r>
              <a:rPr lang="en-US" sz="1100" b="1" dirty="0">
                <a:solidFill>
                  <a:srgbClr val="262B3A"/>
                </a:solidFill>
                <a:latin typeface="Calibri" pitchFamily="34" charset="0"/>
                <a:ea typeface="Calibri" pitchFamily="34" charset="-122"/>
                <a:cs typeface="Calibri" pitchFamily="34" charset="-120"/>
              </a:rPr>
              <a:t>oxygen</a:t>
            </a:r>
            <a:r>
              <a:rPr lang="en-US" sz="1100" dirty="0">
                <a:solidFill>
                  <a:srgbClr val="262B3A"/>
                </a:solidFill>
                <a:latin typeface="Calibri" pitchFamily="34" charset="0"/>
                <a:ea typeface="Calibri" pitchFamily="34" charset="-122"/>
                <a:cs typeface="Calibri" pitchFamily="34" charset="-120"/>
              </a:rPr>
              <a:t>) reacts and becomes part of a solid product.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Mass goes down</a:t>
            </a:r>
            <a:r>
              <a:rPr lang="en-US" sz="1100" dirty="0">
                <a:solidFill>
                  <a:srgbClr val="262B3A"/>
                </a:solidFill>
                <a:latin typeface="Calibri" pitchFamily="34" charset="0"/>
                <a:ea typeface="Calibri" pitchFamily="34" charset="-122"/>
                <a:cs typeface="Calibri" pitchFamily="34" charset="-120"/>
              </a:rPr>
              <a:t> when a </a:t>
            </a:r>
            <a:r>
              <a:rPr lang="en-US" sz="1100" b="1" dirty="0">
                <a:solidFill>
                  <a:srgbClr val="262B3A"/>
                </a:solidFill>
                <a:latin typeface="Calibri" pitchFamily="34" charset="0"/>
                <a:ea typeface="Calibri" pitchFamily="34" charset="-122"/>
                <a:cs typeface="Calibri" pitchFamily="34" charset="-120"/>
              </a:rPr>
              <a:t>gas is produced</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escapes</a:t>
            </a:r>
            <a:r>
              <a:rPr lang="en-US" sz="1100" dirty="0">
                <a:solidFill>
                  <a:srgbClr val="262B3A"/>
                </a:solidFill>
                <a:latin typeface="Calibri" pitchFamily="34" charset="0"/>
                <a:ea typeface="Calibri" pitchFamily="34" charset="-122"/>
                <a:cs typeface="Calibri" pitchFamily="34" charset="-120"/>
              </a:rPr>
              <a:t>, e.g. </a:t>
            </a:r>
            <a:r>
              <a:rPr lang="en-US" sz="1100" b="1" dirty="0">
                <a:solidFill>
                  <a:srgbClr val="262B3A"/>
                </a:solidFill>
                <a:latin typeface="Calibri" pitchFamily="34" charset="0"/>
                <a:ea typeface="Calibri" pitchFamily="34" charset="-122"/>
                <a:cs typeface="Calibri" pitchFamily="34" charset="-120"/>
              </a:rPr>
              <a:t>CO₂</a:t>
            </a:r>
            <a:r>
              <a:rPr lang="en-US" sz="1100" dirty="0">
                <a:solidFill>
                  <a:srgbClr val="262B3A"/>
                </a:solidFill>
                <a:latin typeface="Calibri" pitchFamily="34" charset="0"/>
                <a:ea typeface="Calibri" pitchFamily="34" charset="-122"/>
                <a:cs typeface="Calibri" pitchFamily="34" charset="-120"/>
              </a:rPr>
              <a:t> from a carbonate or </a:t>
            </a:r>
            <a:r>
              <a:rPr lang="en-US" sz="1100" b="1" dirty="0">
                <a:solidFill>
                  <a:srgbClr val="262B3A"/>
                </a:solidFill>
                <a:latin typeface="Calibri" pitchFamily="34" charset="0"/>
                <a:ea typeface="Calibri" pitchFamily="34" charset="-122"/>
                <a:cs typeface="Calibri" pitchFamily="34" charset="-120"/>
              </a:rPr>
              <a:t>H₂</a:t>
            </a:r>
            <a:r>
              <a:rPr lang="en-US" sz="1100" dirty="0">
                <a:solidFill>
                  <a:srgbClr val="262B3A"/>
                </a:solidFill>
                <a:latin typeface="Calibri" pitchFamily="34" charset="0"/>
                <a:ea typeface="Calibri" pitchFamily="34" charset="-122"/>
                <a:cs typeface="Calibri" pitchFamily="34" charset="-120"/>
              </a:rPr>
              <a:t> from a metal and acid.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Particle model: gas particles move fast and spread out, so they leave an open container.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atoms</a:t>
            </a:r>
            <a:r>
              <a:rPr lang="en-US" sz="1100" dirty="0">
                <a:solidFill>
                  <a:srgbClr val="262B3A"/>
                </a:solidFill>
                <a:latin typeface="Calibri" pitchFamily="34" charset="0"/>
                <a:ea typeface="Calibri" pitchFamily="34" charset="-122"/>
                <a:cs typeface="Calibri" pitchFamily="34" charset="-120"/>
              </a:rPr>
              <a:t> are all still there: if we include the gas, </a:t>
            </a:r>
            <a:r>
              <a:rPr lang="en-US" sz="1100" b="1" dirty="0">
                <a:solidFill>
                  <a:srgbClr val="262B3A"/>
                </a:solidFill>
                <a:latin typeface="Calibri" pitchFamily="34" charset="0"/>
                <a:ea typeface="Calibri" pitchFamily="34" charset="-122"/>
                <a:cs typeface="Calibri" pitchFamily="34" charset="-120"/>
              </a:rPr>
              <a:t>mass is conserved</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64" name="Shape 62"/>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65" name="Text 63"/>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mass of gas</a:t>
            </a:r>
            <a:endParaRPr lang="en-US" sz="1300" dirty="0"/>
          </a:p>
        </p:txBody>
      </p:sp>
      <p:sp>
        <p:nvSpPr>
          <p:cNvPr id="66" name="Text 64"/>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Heating 10.0 g of calcium carbonate in an open tube leaves 5.6 g of calcium oxide.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Lost   </a:t>
            </a:r>
            <a:r>
              <a:rPr lang="en-US" sz="1050" dirty="0">
                <a:solidFill>
                  <a:srgbClr val="262B3A"/>
                </a:solidFill>
                <a:latin typeface="Calibri" pitchFamily="34" charset="0"/>
                <a:ea typeface="Calibri" pitchFamily="34" charset="-122"/>
                <a:cs typeface="Calibri" pitchFamily="34" charset="-120"/>
              </a:rPr>
              <a:t>10.0 − 5.6 = 4.4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4.4 g</a:t>
            </a:r>
            <a:r>
              <a:rPr lang="en-US" sz="1050" b="1" dirty="0">
                <a:solidFill>
                  <a:srgbClr val="C8414C"/>
                </a:solidFill>
                <a:latin typeface="Calibri" pitchFamily="34" charset="0"/>
                <a:ea typeface="Calibri" pitchFamily="34" charset="-122"/>
                <a:cs typeface="Calibri" pitchFamily="34" charset="-120"/>
              </a:rPr>
              <a:t> of carbon dioxide escaped (CaCO₃ → CaO + CO₂)</a:t>
            </a:r>
            <a:endParaRPr lang="en-US" sz="1050" dirty="0"/>
          </a:p>
        </p:txBody>
      </p:sp>
      <p:sp>
        <p:nvSpPr>
          <p:cNvPr id="67" name="Shape 65"/>
          <p:cNvSpPr/>
          <p:nvPr/>
        </p:nvSpPr>
        <p:spPr>
          <a:xfrm>
            <a:off x="411480" y="5833872"/>
            <a:ext cx="11368735" cy="530352"/>
          </a:xfrm>
          <a:prstGeom prst="rect">
            <a:avLst/>
          </a:prstGeom>
          <a:solidFill>
            <a:srgbClr val="FFF4E0"/>
          </a:solidFill>
          <a:ln w="6350">
            <a:solidFill>
              <a:srgbClr val="F1D9A8"/>
            </a:solidFill>
            <a:prstDash val="solid"/>
          </a:ln>
        </p:spPr>
      </p:sp>
      <p:sp>
        <p:nvSpPr>
          <p:cNvPr id="68" name="Shape 66"/>
          <p:cNvSpPr/>
          <p:nvPr/>
        </p:nvSpPr>
        <p:spPr>
          <a:xfrm>
            <a:off x="411480" y="5833872"/>
            <a:ext cx="82296" cy="530352"/>
          </a:xfrm>
          <a:prstGeom prst="rect">
            <a:avLst/>
          </a:prstGeom>
          <a:solidFill>
            <a:srgbClr val="E39A2F"/>
          </a:solidFill>
          <a:ln w="12700">
            <a:solidFill>
              <a:srgbClr val="E39A2F"/>
            </a:solidFill>
            <a:prstDash val="solid"/>
          </a:ln>
        </p:spPr>
      </p:sp>
      <p:sp>
        <p:nvSpPr>
          <p:cNvPr id="69" name="Text 6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In </a:t>
            </a:r>
            <a:r>
              <a:rPr lang="en-US" sz="1150" b="1" dirty="0">
                <a:solidFill>
                  <a:srgbClr val="262B3A"/>
                </a:solidFill>
                <a:latin typeface="Calibri" pitchFamily="34" charset="0"/>
                <a:ea typeface="Calibri" pitchFamily="34" charset="-122"/>
                <a:cs typeface="Calibri" pitchFamily="34" charset="-120"/>
              </a:rPr>
              <a:t>B</a:t>
            </a:r>
            <a:r>
              <a:rPr lang="en-US" sz="1150" dirty="0">
                <a:solidFill>
                  <a:srgbClr val="262B3A"/>
                </a:solidFill>
                <a:latin typeface="Calibri" pitchFamily="34" charset="0"/>
                <a:ea typeface="Calibri" pitchFamily="34" charset="-122"/>
                <a:cs typeface="Calibri" pitchFamily="34" charset="-120"/>
              </a:rPr>
              <a:t>, the reading fell from </a:t>
            </a:r>
            <a:r>
              <a:rPr lang="en-US" sz="1150" b="1" dirty="0">
                <a:solidFill>
                  <a:srgbClr val="262B3A"/>
                </a:solidFill>
                <a:latin typeface="Calibri" pitchFamily="34" charset="0"/>
                <a:ea typeface="Calibri" pitchFamily="34" charset="-122"/>
                <a:cs typeface="Calibri" pitchFamily="34" charset="-120"/>
              </a:rPr>
              <a:t>152.40 g</a:t>
            </a:r>
            <a:r>
              <a:rPr lang="en-US" sz="1150" dirty="0">
                <a:solidFill>
                  <a:srgbClr val="262B3A"/>
                </a:solidFill>
                <a:latin typeface="Calibri" pitchFamily="34" charset="0"/>
                <a:ea typeface="Calibri" pitchFamily="34" charset="-122"/>
                <a:cs typeface="Calibri" pitchFamily="34" charset="-120"/>
              </a:rPr>
              <a:t> to </a:t>
            </a:r>
            <a:r>
              <a:rPr lang="en-US" sz="1150" b="1" dirty="0">
                <a:solidFill>
                  <a:srgbClr val="262B3A"/>
                </a:solidFill>
                <a:latin typeface="Calibri" pitchFamily="34" charset="0"/>
                <a:ea typeface="Calibri" pitchFamily="34" charset="-122"/>
                <a:cs typeface="Calibri" pitchFamily="34" charset="-120"/>
              </a:rPr>
              <a:t>151.52 g</a:t>
            </a:r>
            <a:r>
              <a:rPr lang="en-US" sz="1150" dirty="0">
                <a:solidFill>
                  <a:srgbClr val="262B3A"/>
                </a:solidFill>
                <a:latin typeface="Calibri" pitchFamily="34" charset="0"/>
                <a:ea typeface="Calibri" pitchFamily="34" charset="-122"/>
                <a:cs typeface="Calibri" pitchFamily="34" charset="-120"/>
              </a:rPr>
              <a:t>. What mass of CO₂ escaped? How could you show that mass </a:t>
            </a:r>
            <a:r>
              <a:rPr lang="en-US" sz="1150" b="1" dirty="0">
                <a:solidFill>
                  <a:srgbClr val="262B3A"/>
                </a:solidFill>
                <a:latin typeface="Calibri" pitchFamily="34" charset="0"/>
                <a:ea typeface="Calibri" pitchFamily="34" charset="-122"/>
                <a:cs typeface="Calibri" pitchFamily="34" charset="-120"/>
              </a:rPr>
              <a:t>is</a:t>
            </a:r>
            <a:r>
              <a:rPr lang="en-US" sz="1150" dirty="0">
                <a:solidFill>
                  <a:srgbClr val="262B3A"/>
                </a:solidFill>
                <a:latin typeface="Calibri" pitchFamily="34" charset="0"/>
                <a:ea typeface="Calibri" pitchFamily="34" charset="-122"/>
                <a:cs typeface="Calibri" pitchFamily="34" charset="-120"/>
              </a:rPr>
              <a:t> conserved?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C5.2.1, C5.2.2 • conservation of mass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the </a:t>
            </a:r>
            <a:r>
              <a:rPr lang="en-US" sz="1250" b="1" dirty="0">
                <a:solidFill>
                  <a:srgbClr val="262B3A"/>
                </a:solidFill>
                <a:latin typeface="Calibri" pitchFamily="34" charset="0"/>
                <a:ea typeface="Calibri" pitchFamily="34" charset="-122"/>
                <a:cs typeface="Calibri" pitchFamily="34" charset="-120"/>
              </a:rPr>
              <a:t>law of conservation of mass</a:t>
            </a:r>
            <a:r>
              <a:rPr lang="en-US" sz="1250" dirty="0">
                <a:solidFill>
                  <a:srgbClr val="262B3A"/>
                </a:solidFill>
                <a:latin typeface="Calibri" pitchFamily="34" charset="0"/>
                <a:ea typeface="Calibri" pitchFamily="34" charset="-122"/>
                <a:cs typeface="Calibri" pitchFamily="34" charset="-120"/>
              </a:rPr>
              <a:t> and explain it in terms of </a:t>
            </a:r>
            <a:r>
              <a:rPr lang="en-US" sz="1250" b="1" dirty="0">
                <a:solidFill>
                  <a:srgbClr val="262B3A"/>
                </a:solidFill>
                <a:latin typeface="Calibri" pitchFamily="34" charset="0"/>
                <a:ea typeface="Calibri" pitchFamily="34" charset="-122"/>
                <a:cs typeface="Calibri" pitchFamily="34" charset="-120"/>
              </a:rPr>
              <a:t>atoms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a sealed container, </a:t>
            </a:r>
            <a:r>
              <a:rPr lang="en-US" sz="1250" b="1" dirty="0">
                <a:solidFill>
                  <a:srgbClr val="262B3A"/>
                </a:solidFill>
                <a:latin typeface="Calibri" pitchFamily="34" charset="0"/>
                <a:ea typeface="Calibri" pitchFamily="34" charset="-122"/>
                <a:cs typeface="Calibri" pitchFamily="34" charset="-120"/>
              </a:rPr>
              <a:t>12.0 g</a:t>
            </a:r>
            <a:r>
              <a:rPr lang="en-US" sz="1250" dirty="0">
                <a:solidFill>
                  <a:srgbClr val="262B3A"/>
                </a:solidFill>
                <a:latin typeface="Calibri" pitchFamily="34" charset="0"/>
                <a:ea typeface="Calibri" pitchFamily="34" charset="-122"/>
                <a:cs typeface="Calibri" pitchFamily="34" charset="-120"/>
              </a:rPr>
              <a:t> of carbon reacts completely with </a:t>
            </a:r>
            <a:r>
              <a:rPr lang="en-US" sz="1250" b="1" dirty="0">
                <a:solidFill>
                  <a:srgbClr val="262B3A"/>
                </a:solidFill>
                <a:latin typeface="Calibri" pitchFamily="34" charset="0"/>
                <a:ea typeface="Calibri" pitchFamily="34" charset="-122"/>
                <a:cs typeface="Calibri" pitchFamily="34" charset="-120"/>
              </a:rPr>
              <a:t>32.0 g</a:t>
            </a:r>
            <a:r>
              <a:rPr lang="en-US" sz="1250" dirty="0">
                <a:solidFill>
                  <a:srgbClr val="262B3A"/>
                </a:solidFill>
                <a:latin typeface="Calibri" pitchFamily="34" charset="0"/>
                <a:ea typeface="Calibri" pitchFamily="34" charset="-122"/>
                <a:cs typeface="Calibri" pitchFamily="34" charset="-120"/>
              </a:rPr>
              <a:t> of oxygen. Calculate the mass of carbon dioxide made.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Magnesium ribbon is heated in an </a:t>
            </a:r>
            <a:r>
              <a:rPr lang="en-US" sz="1250" b="1" dirty="0">
                <a:solidFill>
                  <a:srgbClr val="262B3A"/>
                </a:solidFill>
                <a:latin typeface="Calibri" pitchFamily="34" charset="0"/>
                <a:ea typeface="Calibri" pitchFamily="34" charset="-122"/>
                <a:cs typeface="Calibri" pitchFamily="34" charset="-120"/>
              </a:rPr>
              <a:t>open</a:t>
            </a:r>
            <a:r>
              <a:rPr lang="en-US" sz="1250" dirty="0">
                <a:solidFill>
                  <a:srgbClr val="262B3A"/>
                </a:solidFill>
                <a:latin typeface="Calibri" pitchFamily="34" charset="0"/>
                <a:ea typeface="Calibri" pitchFamily="34" charset="-122"/>
                <a:cs typeface="Calibri" pitchFamily="34" charset="-120"/>
              </a:rPr>
              <a:t> crucible. The mass of the solid </a:t>
            </a:r>
            <a:r>
              <a:rPr lang="en-US" sz="1250" b="1" dirty="0">
                <a:solidFill>
                  <a:srgbClr val="262B3A"/>
                </a:solidFill>
                <a:latin typeface="Calibri" pitchFamily="34" charset="0"/>
                <a:ea typeface="Calibri" pitchFamily="34" charset="-122"/>
                <a:cs typeface="Calibri" pitchFamily="34" charset="-120"/>
              </a:rPr>
              <a:t>increases</a:t>
            </a:r>
            <a:r>
              <a:rPr lang="en-US" sz="1250" dirty="0">
                <a:solidFill>
                  <a:srgbClr val="262B3A"/>
                </a:solidFill>
                <a:latin typeface="Calibri" pitchFamily="34" charset="0"/>
                <a:ea typeface="Calibri" pitchFamily="34" charset="-122"/>
                <a:cs typeface="Calibri" pitchFamily="34" charset="-120"/>
              </a:rPr>
              <a:t>. Explain why.</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Zinc reacts with acid in an </a:t>
            </a:r>
            <a:r>
              <a:rPr lang="en-US" sz="1250" b="1" dirty="0">
                <a:solidFill>
                  <a:srgbClr val="262B3A"/>
                </a:solidFill>
                <a:latin typeface="Calibri" pitchFamily="34" charset="0"/>
                <a:ea typeface="Calibri" pitchFamily="34" charset="-122"/>
                <a:cs typeface="Calibri" pitchFamily="34" charset="-120"/>
              </a:rPr>
              <a:t>open</a:t>
            </a:r>
            <a:r>
              <a:rPr lang="en-US" sz="1250" dirty="0">
                <a:solidFill>
                  <a:srgbClr val="262B3A"/>
                </a:solidFill>
                <a:latin typeface="Calibri" pitchFamily="34" charset="0"/>
                <a:ea typeface="Calibri" pitchFamily="34" charset="-122"/>
                <a:cs typeface="Calibri" pitchFamily="34" charset="-120"/>
              </a:rPr>
              <a:t> flask on a balance. Use the </a:t>
            </a:r>
            <a:r>
              <a:rPr lang="en-US" sz="1250" b="1" dirty="0">
                <a:solidFill>
                  <a:srgbClr val="262B3A"/>
                </a:solidFill>
                <a:latin typeface="Calibri" pitchFamily="34" charset="0"/>
                <a:ea typeface="Calibri" pitchFamily="34" charset="-122"/>
                <a:cs typeface="Calibri" pitchFamily="34" charset="-120"/>
              </a:rPr>
              <a:t>particle model</a:t>
            </a:r>
            <a:r>
              <a:rPr lang="en-US" sz="1250" dirty="0">
                <a:solidFill>
                  <a:srgbClr val="262B3A"/>
                </a:solidFill>
                <a:latin typeface="Calibri" pitchFamily="34" charset="0"/>
                <a:ea typeface="Calibri" pitchFamily="34" charset="-122"/>
                <a:cs typeface="Calibri" pitchFamily="34" charset="-120"/>
              </a:rPr>
              <a:t> to explain why the reading </a:t>
            </a:r>
            <a:r>
              <a:rPr lang="en-US" sz="1250" b="1" dirty="0">
                <a:solidFill>
                  <a:srgbClr val="262B3A"/>
                </a:solidFill>
                <a:latin typeface="Calibri" pitchFamily="34" charset="0"/>
                <a:ea typeface="Calibri" pitchFamily="34" charset="-122"/>
                <a:cs typeface="Calibri" pitchFamily="34" charset="-120"/>
              </a:rPr>
              <a:t>falls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Relative formula mass, Mr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C5.2.3 • calculate relative formula masses of species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C5.2.3  |  8</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Ar values from the OCR periodic table (1 d.p.); ball models not to scale</a:t>
            </a:r>
            <a:endParaRPr lang="en-US" sz="1000" dirty="0"/>
          </a:p>
        </p:txBody>
      </p:sp>
      <p:sp>
        <p:nvSpPr>
          <p:cNvPr id="10" name="Text 8"/>
          <p:cNvSpPr/>
          <p:nvPr/>
        </p:nvSpPr>
        <p:spPr>
          <a:xfrm>
            <a:off x="594360" y="1298448"/>
            <a:ext cx="5303520" cy="237744"/>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Relative atomic masses, Ar</a:t>
            </a:r>
            <a:r>
              <a:rPr lang="en-US" sz="1050" dirty="0">
                <a:solidFill>
                  <a:srgbClr val="262B3A"/>
                </a:solidFill>
                <a:latin typeface="Calibri" pitchFamily="34" charset="0"/>
                <a:ea typeface="Calibri" pitchFamily="34" charset="-122"/>
                <a:cs typeface="Calibri" pitchFamily="34" charset="-120"/>
              </a:rPr>
              <a:t> (periodic table)</a:t>
            </a:r>
            <a:endParaRPr lang="en-US" sz="1050" dirty="0"/>
          </a:p>
        </p:txBody>
      </p:sp>
      <p:sp>
        <p:nvSpPr>
          <p:cNvPr id="11" name="Shape 9"/>
          <p:cNvSpPr/>
          <p:nvPr/>
        </p:nvSpPr>
        <p:spPr>
          <a:xfrm>
            <a:off x="640080" y="1600200"/>
            <a:ext cx="914400" cy="658368"/>
          </a:xfrm>
          <a:prstGeom prst="rect">
            <a:avLst/>
          </a:prstGeom>
          <a:solidFill>
            <a:srgbClr val="FFFFFF"/>
          </a:solidFill>
          <a:ln w="15875">
            <a:solidFill>
              <a:srgbClr val="6A3FA0"/>
            </a:solidFill>
            <a:prstDash val="solid"/>
          </a:ln>
        </p:spPr>
      </p:sp>
      <p:sp>
        <p:nvSpPr>
          <p:cNvPr id="12" name="Text 10"/>
          <p:cNvSpPr/>
          <p:nvPr/>
        </p:nvSpPr>
        <p:spPr>
          <a:xfrm>
            <a:off x="640080" y="1636776"/>
            <a:ext cx="914400" cy="310896"/>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H</a:t>
            </a:r>
            <a:endParaRPr lang="en-US" sz="1400" dirty="0"/>
          </a:p>
        </p:txBody>
      </p:sp>
      <p:sp>
        <p:nvSpPr>
          <p:cNvPr id="13" name="Text 11"/>
          <p:cNvSpPr/>
          <p:nvPr/>
        </p:nvSpPr>
        <p:spPr>
          <a:xfrm>
            <a:off x="640080" y="1947672"/>
            <a:ext cx="914400" cy="256032"/>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1.0</a:t>
            </a:r>
            <a:endParaRPr lang="en-US" sz="1100" dirty="0"/>
          </a:p>
        </p:txBody>
      </p:sp>
      <p:sp>
        <p:nvSpPr>
          <p:cNvPr id="14" name="Shape 12"/>
          <p:cNvSpPr/>
          <p:nvPr/>
        </p:nvSpPr>
        <p:spPr>
          <a:xfrm>
            <a:off x="1691640" y="1600200"/>
            <a:ext cx="914400" cy="658368"/>
          </a:xfrm>
          <a:prstGeom prst="rect">
            <a:avLst/>
          </a:prstGeom>
          <a:solidFill>
            <a:srgbClr val="FFFFFF"/>
          </a:solidFill>
          <a:ln w="15875">
            <a:solidFill>
              <a:srgbClr val="6A3FA0"/>
            </a:solidFill>
            <a:prstDash val="solid"/>
          </a:ln>
        </p:spPr>
      </p:sp>
      <p:sp>
        <p:nvSpPr>
          <p:cNvPr id="15" name="Text 13"/>
          <p:cNvSpPr/>
          <p:nvPr/>
        </p:nvSpPr>
        <p:spPr>
          <a:xfrm>
            <a:off x="1691640" y="1636776"/>
            <a:ext cx="914400" cy="310896"/>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C</a:t>
            </a:r>
            <a:endParaRPr lang="en-US" sz="1400" dirty="0"/>
          </a:p>
        </p:txBody>
      </p:sp>
      <p:sp>
        <p:nvSpPr>
          <p:cNvPr id="16" name="Text 14"/>
          <p:cNvSpPr/>
          <p:nvPr/>
        </p:nvSpPr>
        <p:spPr>
          <a:xfrm>
            <a:off x="1691640" y="1947672"/>
            <a:ext cx="914400" cy="256032"/>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12.0</a:t>
            </a:r>
            <a:endParaRPr lang="en-US" sz="1100" dirty="0"/>
          </a:p>
        </p:txBody>
      </p:sp>
      <p:sp>
        <p:nvSpPr>
          <p:cNvPr id="17" name="Shape 15"/>
          <p:cNvSpPr/>
          <p:nvPr/>
        </p:nvSpPr>
        <p:spPr>
          <a:xfrm>
            <a:off x="2743200" y="1600200"/>
            <a:ext cx="914400" cy="658368"/>
          </a:xfrm>
          <a:prstGeom prst="rect">
            <a:avLst/>
          </a:prstGeom>
          <a:solidFill>
            <a:srgbClr val="FFFFFF"/>
          </a:solidFill>
          <a:ln w="15875">
            <a:solidFill>
              <a:srgbClr val="6A3FA0"/>
            </a:solidFill>
            <a:prstDash val="solid"/>
          </a:ln>
        </p:spPr>
      </p:sp>
      <p:sp>
        <p:nvSpPr>
          <p:cNvPr id="18" name="Text 16"/>
          <p:cNvSpPr/>
          <p:nvPr/>
        </p:nvSpPr>
        <p:spPr>
          <a:xfrm>
            <a:off x="2743200" y="1636776"/>
            <a:ext cx="914400" cy="310896"/>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N</a:t>
            </a:r>
            <a:endParaRPr lang="en-US" sz="1400" dirty="0"/>
          </a:p>
        </p:txBody>
      </p:sp>
      <p:sp>
        <p:nvSpPr>
          <p:cNvPr id="19" name="Text 17"/>
          <p:cNvSpPr/>
          <p:nvPr/>
        </p:nvSpPr>
        <p:spPr>
          <a:xfrm>
            <a:off x="2743200" y="1947672"/>
            <a:ext cx="914400" cy="256032"/>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14.0</a:t>
            </a:r>
            <a:endParaRPr lang="en-US" sz="1100" dirty="0"/>
          </a:p>
        </p:txBody>
      </p:sp>
      <p:sp>
        <p:nvSpPr>
          <p:cNvPr id="20" name="Shape 18"/>
          <p:cNvSpPr/>
          <p:nvPr/>
        </p:nvSpPr>
        <p:spPr>
          <a:xfrm>
            <a:off x="3794760" y="1600200"/>
            <a:ext cx="914400" cy="658368"/>
          </a:xfrm>
          <a:prstGeom prst="rect">
            <a:avLst/>
          </a:prstGeom>
          <a:solidFill>
            <a:srgbClr val="FFFFFF"/>
          </a:solidFill>
          <a:ln w="15875">
            <a:solidFill>
              <a:srgbClr val="6A3FA0"/>
            </a:solidFill>
            <a:prstDash val="solid"/>
          </a:ln>
        </p:spPr>
      </p:sp>
      <p:sp>
        <p:nvSpPr>
          <p:cNvPr id="21" name="Text 19"/>
          <p:cNvSpPr/>
          <p:nvPr/>
        </p:nvSpPr>
        <p:spPr>
          <a:xfrm>
            <a:off x="3794760" y="1636776"/>
            <a:ext cx="914400" cy="310896"/>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O</a:t>
            </a:r>
            <a:endParaRPr lang="en-US" sz="1400" dirty="0"/>
          </a:p>
        </p:txBody>
      </p:sp>
      <p:sp>
        <p:nvSpPr>
          <p:cNvPr id="22" name="Text 20"/>
          <p:cNvSpPr/>
          <p:nvPr/>
        </p:nvSpPr>
        <p:spPr>
          <a:xfrm>
            <a:off x="3794760" y="1947672"/>
            <a:ext cx="914400" cy="256032"/>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16.0</a:t>
            </a:r>
            <a:endParaRPr lang="en-US" sz="1100" dirty="0"/>
          </a:p>
        </p:txBody>
      </p:sp>
      <p:sp>
        <p:nvSpPr>
          <p:cNvPr id="23" name="Shape 21"/>
          <p:cNvSpPr/>
          <p:nvPr/>
        </p:nvSpPr>
        <p:spPr>
          <a:xfrm>
            <a:off x="4846320" y="1600200"/>
            <a:ext cx="914400" cy="658368"/>
          </a:xfrm>
          <a:prstGeom prst="rect">
            <a:avLst/>
          </a:prstGeom>
          <a:solidFill>
            <a:srgbClr val="FFFFFF"/>
          </a:solidFill>
          <a:ln w="15875">
            <a:solidFill>
              <a:srgbClr val="6A3FA0"/>
            </a:solidFill>
            <a:prstDash val="solid"/>
          </a:ln>
        </p:spPr>
      </p:sp>
      <p:sp>
        <p:nvSpPr>
          <p:cNvPr id="24" name="Text 22"/>
          <p:cNvSpPr/>
          <p:nvPr/>
        </p:nvSpPr>
        <p:spPr>
          <a:xfrm>
            <a:off x="4846320" y="1636776"/>
            <a:ext cx="914400" cy="310896"/>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Na</a:t>
            </a:r>
            <a:endParaRPr lang="en-US" sz="1400" dirty="0"/>
          </a:p>
        </p:txBody>
      </p:sp>
      <p:sp>
        <p:nvSpPr>
          <p:cNvPr id="25" name="Text 23"/>
          <p:cNvSpPr/>
          <p:nvPr/>
        </p:nvSpPr>
        <p:spPr>
          <a:xfrm>
            <a:off x="4846320" y="1947672"/>
            <a:ext cx="914400" cy="256032"/>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23.0</a:t>
            </a:r>
            <a:endParaRPr lang="en-US" sz="1100" dirty="0"/>
          </a:p>
        </p:txBody>
      </p:sp>
      <p:sp>
        <p:nvSpPr>
          <p:cNvPr id="26" name="Shape 24"/>
          <p:cNvSpPr/>
          <p:nvPr/>
        </p:nvSpPr>
        <p:spPr>
          <a:xfrm>
            <a:off x="640080" y="2350008"/>
            <a:ext cx="914400" cy="658368"/>
          </a:xfrm>
          <a:prstGeom prst="rect">
            <a:avLst/>
          </a:prstGeom>
          <a:solidFill>
            <a:srgbClr val="FFFFFF"/>
          </a:solidFill>
          <a:ln w="15875">
            <a:solidFill>
              <a:srgbClr val="6A3FA0"/>
            </a:solidFill>
            <a:prstDash val="solid"/>
          </a:ln>
        </p:spPr>
      </p:sp>
      <p:sp>
        <p:nvSpPr>
          <p:cNvPr id="27" name="Text 25"/>
          <p:cNvSpPr/>
          <p:nvPr/>
        </p:nvSpPr>
        <p:spPr>
          <a:xfrm>
            <a:off x="640080" y="2386584"/>
            <a:ext cx="914400" cy="310896"/>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Mg</a:t>
            </a:r>
            <a:endParaRPr lang="en-US" sz="1400" dirty="0"/>
          </a:p>
        </p:txBody>
      </p:sp>
      <p:sp>
        <p:nvSpPr>
          <p:cNvPr id="28" name="Text 26"/>
          <p:cNvSpPr/>
          <p:nvPr/>
        </p:nvSpPr>
        <p:spPr>
          <a:xfrm>
            <a:off x="640080" y="2697480"/>
            <a:ext cx="914400" cy="256032"/>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24.3</a:t>
            </a:r>
            <a:endParaRPr lang="en-US" sz="1100" dirty="0"/>
          </a:p>
        </p:txBody>
      </p:sp>
      <p:sp>
        <p:nvSpPr>
          <p:cNvPr id="29" name="Shape 27"/>
          <p:cNvSpPr/>
          <p:nvPr/>
        </p:nvSpPr>
        <p:spPr>
          <a:xfrm>
            <a:off x="1691640" y="2350008"/>
            <a:ext cx="914400" cy="658368"/>
          </a:xfrm>
          <a:prstGeom prst="rect">
            <a:avLst/>
          </a:prstGeom>
          <a:solidFill>
            <a:srgbClr val="FFFFFF"/>
          </a:solidFill>
          <a:ln w="15875">
            <a:solidFill>
              <a:srgbClr val="6A3FA0"/>
            </a:solidFill>
            <a:prstDash val="solid"/>
          </a:ln>
        </p:spPr>
      </p:sp>
      <p:sp>
        <p:nvSpPr>
          <p:cNvPr id="30" name="Text 28"/>
          <p:cNvSpPr/>
          <p:nvPr/>
        </p:nvSpPr>
        <p:spPr>
          <a:xfrm>
            <a:off x="1691640" y="2386584"/>
            <a:ext cx="914400" cy="310896"/>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S</a:t>
            </a:r>
            <a:endParaRPr lang="en-US" sz="1400" dirty="0"/>
          </a:p>
        </p:txBody>
      </p:sp>
      <p:sp>
        <p:nvSpPr>
          <p:cNvPr id="31" name="Text 29"/>
          <p:cNvSpPr/>
          <p:nvPr/>
        </p:nvSpPr>
        <p:spPr>
          <a:xfrm>
            <a:off x="1691640" y="2697480"/>
            <a:ext cx="914400" cy="256032"/>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32.1</a:t>
            </a:r>
            <a:endParaRPr lang="en-US" sz="1100" dirty="0"/>
          </a:p>
        </p:txBody>
      </p:sp>
      <p:sp>
        <p:nvSpPr>
          <p:cNvPr id="32" name="Shape 30"/>
          <p:cNvSpPr/>
          <p:nvPr/>
        </p:nvSpPr>
        <p:spPr>
          <a:xfrm>
            <a:off x="2743200" y="2350008"/>
            <a:ext cx="914400" cy="658368"/>
          </a:xfrm>
          <a:prstGeom prst="rect">
            <a:avLst/>
          </a:prstGeom>
          <a:solidFill>
            <a:srgbClr val="FFFFFF"/>
          </a:solidFill>
          <a:ln w="15875">
            <a:solidFill>
              <a:srgbClr val="6A3FA0"/>
            </a:solidFill>
            <a:prstDash val="solid"/>
          </a:ln>
        </p:spPr>
      </p:sp>
      <p:sp>
        <p:nvSpPr>
          <p:cNvPr id="33" name="Text 31"/>
          <p:cNvSpPr/>
          <p:nvPr/>
        </p:nvSpPr>
        <p:spPr>
          <a:xfrm>
            <a:off x="2743200" y="2386584"/>
            <a:ext cx="914400" cy="310896"/>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Cl</a:t>
            </a:r>
            <a:endParaRPr lang="en-US" sz="1400" dirty="0"/>
          </a:p>
        </p:txBody>
      </p:sp>
      <p:sp>
        <p:nvSpPr>
          <p:cNvPr id="34" name="Text 32"/>
          <p:cNvSpPr/>
          <p:nvPr/>
        </p:nvSpPr>
        <p:spPr>
          <a:xfrm>
            <a:off x="2743200" y="2697480"/>
            <a:ext cx="914400" cy="256032"/>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35.5</a:t>
            </a:r>
            <a:endParaRPr lang="en-US" sz="1100" dirty="0"/>
          </a:p>
        </p:txBody>
      </p:sp>
      <p:sp>
        <p:nvSpPr>
          <p:cNvPr id="35" name="Shape 33"/>
          <p:cNvSpPr/>
          <p:nvPr/>
        </p:nvSpPr>
        <p:spPr>
          <a:xfrm>
            <a:off x="3794760" y="2350008"/>
            <a:ext cx="914400" cy="658368"/>
          </a:xfrm>
          <a:prstGeom prst="rect">
            <a:avLst/>
          </a:prstGeom>
          <a:solidFill>
            <a:srgbClr val="FFFFFF"/>
          </a:solidFill>
          <a:ln w="15875">
            <a:solidFill>
              <a:srgbClr val="6A3FA0"/>
            </a:solidFill>
            <a:prstDash val="solid"/>
          </a:ln>
        </p:spPr>
      </p:sp>
      <p:sp>
        <p:nvSpPr>
          <p:cNvPr id="36" name="Text 34"/>
          <p:cNvSpPr/>
          <p:nvPr/>
        </p:nvSpPr>
        <p:spPr>
          <a:xfrm>
            <a:off x="3794760" y="2386584"/>
            <a:ext cx="914400" cy="310896"/>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Ca</a:t>
            </a:r>
            <a:endParaRPr lang="en-US" sz="1400" dirty="0"/>
          </a:p>
        </p:txBody>
      </p:sp>
      <p:sp>
        <p:nvSpPr>
          <p:cNvPr id="37" name="Text 35"/>
          <p:cNvSpPr/>
          <p:nvPr/>
        </p:nvSpPr>
        <p:spPr>
          <a:xfrm>
            <a:off x="3794760" y="2697480"/>
            <a:ext cx="914400" cy="256032"/>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40.1</a:t>
            </a:r>
            <a:endParaRPr lang="en-US" sz="1100" dirty="0"/>
          </a:p>
        </p:txBody>
      </p:sp>
      <p:sp>
        <p:nvSpPr>
          <p:cNvPr id="38" name="Shape 36"/>
          <p:cNvSpPr/>
          <p:nvPr/>
        </p:nvSpPr>
        <p:spPr>
          <a:xfrm>
            <a:off x="4846320" y="2350008"/>
            <a:ext cx="914400" cy="658368"/>
          </a:xfrm>
          <a:prstGeom prst="rect">
            <a:avLst/>
          </a:prstGeom>
          <a:solidFill>
            <a:srgbClr val="FFFFFF"/>
          </a:solidFill>
          <a:ln w="15875">
            <a:solidFill>
              <a:srgbClr val="6A3FA0"/>
            </a:solidFill>
            <a:prstDash val="solid"/>
          </a:ln>
        </p:spPr>
      </p:sp>
      <p:sp>
        <p:nvSpPr>
          <p:cNvPr id="39" name="Text 37"/>
          <p:cNvSpPr/>
          <p:nvPr/>
        </p:nvSpPr>
        <p:spPr>
          <a:xfrm>
            <a:off x="4846320" y="2386584"/>
            <a:ext cx="914400" cy="310896"/>
          </a:xfrm>
          <a:prstGeom prst="rect">
            <a:avLst/>
          </a:prstGeom>
          <a:noFill/>
          <a:ln/>
        </p:spPr>
        <p:txBody>
          <a:bodyPr wrap="square" lIns="0" tIns="0" rIns="0" bIns="0" rtlCol="0" anchor="ctr"/>
          <a:lstStyle/>
          <a:p>
            <a:pPr algn="ctr" indent="0" marL="0">
              <a:buNone/>
            </a:pPr>
            <a:r>
              <a:rPr lang="en-US" sz="1400" b="1" dirty="0">
                <a:solidFill>
                  <a:srgbClr val="2A1F3D"/>
                </a:solidFill>
                <a:latin typeface="Calibri" pitchFamily="34" charset="0"/>
                <a:ea typeface="Calibri" pitchFamily="34" charset="-122"/>
                <a:cs typeface="Calibri" pitchFamily="34" charset="-120"/>
              </a:rPr>
              <a:t>Cu</a:t>
            </a:r>
            <a:endParaRPr lang="en-US" sz="1400" dirty="0"/>
          </a:p>
        </p:txBody>
      </p:sp>
      <p:sp>
        <p:nvSpPr>
          <p:cNvPr id="40" name="Text 38"/>
          <p:cNvSpPr/>
          <p:nvPr/>
        </p:nvSpPr>
        <p:spPr>
          <a:xfrm>
            <a:off x="4846320" y="2697480"/>
            <a:ext cx="914400" cy="256032"/>
          </a:xfrm>
          <a:prstGeom prst="rect">
            <a:avLst/>
          </a:prstGeom>
          <a:noFill/>
          <a:ln/>
        </p:spPr>
        <p:txBody>
          <a:bodyPr wrap="square" lIns="0" tIns="0" rIns="0" bIns="0" rtlCol="0" anchor="ctr"/>
          <a:lstStyle/>
          <a:p>
            <a:pPr algn="ctr" indent="0" marL="0">
              <a:buNone/>
            </a:pPr>
            <a:r>
              <a:rPr lang="en-US" sz="1100" b="1" dirty="0">
                <a:solidFill>
                  <a:srgbClr val="6A3FA0"/>
                </a:solidFill>
                <a:latin typeface="Calibri" pitchFamily="34" charset="0"/>
                <a:ea typeface="Calibri" pitchFamily="34" charset="-122"/>
                <a:cs typeface="Calibri" pitchFamily="34" charset="-120"/>
              </a:rPr>
              <a:t>63.5</a:t>
            </a:r>
            <a:endParaRPr lang="en-US" sz="1100" dirty="0"/>
          </a:p>
        </p:txBody>
      </p:sp>
      <p:sp>
        <p:nvSpPr>
          <p:cNvPr id="41" name="Shape 39"/>
          <p:cNvSpPr/>
          <p:nvPr/>
        </p:nvSpPr>
        <p:spPr>
          <a:xfrm>
            <a:off x="1033272" y="3502152"/>
            <a:ext cx="402336" cy="402336"/>
          </a:xfrm>
          <a:prstGeom prst="ellipse">
            <a:avLst/>
          </a:prstGeom>
          <a:solidFill>
            <a:srgbClr val="E06666"/>
          </a:solidFill>
          <a:ln w="12700">
            <a:solidFill>
              <a:srgbClr val="9E2A2A"/>
            </a:solidFill>
            <a:prstDash val="solid"/>
          </a:ln>
        </p:spPr>
      </p:sp>
      <p:sp>
        <p:nvSpPr>
          <p:cNvPr id="42" name="Text 40"/>
          <p:cNvSpPr/>
          <p:nvPr/>
        </p:nvSpPr>
        <p:spPr>
          <a:xfrm>
            <a:off x="1033272" y="3502152"/>
            <a:ext cx="402336" cy="402336"/>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O</a:t>
            </a:r>
            <a:endParaRPr lang="en-US" sz="1100" dirty="0"/>
          </a:p>
        </p:txBody>
      </p:sp>
      <p:sp>
        <p:nvSpPr>
          <p:cNvPr id="43" name="Shape 41"/>
          <p:cNvSpPr/>
          <p:nvPr/>
        </p:nvSpPr>
        <p:spPr>
          <a:xfrm>
            <a:off x="777240" y="3840480"/>
            <a:ext cx="274320" cy="274320"/>
          </a:xfrm>
          <a:prstGeom prst="ellipse">
            <a:avLst/>
          </a:prstGeom>
          <a:solidFill>
            <a:srgbClr val="FFFFFF"/>
          </a:solidFill>
          <a:ln w="12700">
            <a:solidFill>
              <a:srgbClr val="8A8F99"/>
            </a:solidFill>
            <a:prstDash val="solid"/>
          </a:ln>
        </p:spPr>
      </p:sp>
      <p:sp>
        <p:nvSpPr>
          <p:cNvPr id="44" name="Text 42"/>
          <p:cNvSpPr/>
          <p:nvPr/>
        </p:nvSpPr>
        <p:spPr>
          <a:xfrm>
            <a:off x="777240" y="3840480"/>
            <a:ext cx="274320"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45" name="Shape 43"/>
          <p:cNvSpPr/>
          <p:nvPr/>
        </p:nvSpPr>
        <p:spPr>
          <a:xfrm>
            <a:off x="1417320" y="3840480"/>
            <a:ext cx="274320" cy="274320"/>
          </a:xfrm>
          <a:prstGeom prst="ellipse">
            <a:avLst/>
          </a:prstGeom>
          <a:solidFill>
            <a:srgbClr val="FFFFFF"/>
          </a:solidFill>
          <a:ln w="12700">
            <a:solidFill>
              <a:srgbClr val="8A8F99"/>
            </a:solidFill>
            <a:prstDash val="solid"/>
          </a:ln>
        </p:spPr>
      </p:sp>
      <p:sp>
        <p:nvSpPr>
          <p:cNvPr id="46" name="Text 44"/>
          <p:cNvSpPr/>
          <p:nvPr/>
        </p:nvSpPr>
        <p:spPr>
          <a:xfrm>
            <a:off x="1417320" y="3840480"/>
            <a:ext cx="274320" cy="27432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H</a:t>
            </a:r>
            <a:endParaRPr lang="en-US" sz="1000" dirty="0"/>
          </a:p>
        </p:txBody>
      </p:sp>
      <p:sp>
        <p:nvSpPr>
          <p:cNvPr id="47" name="Text 45"/>
          <p:cNvSpPr/>
          <p:nvPr/>
        </p:nvSpPr>
        <p:spPr>
          <a:xfrm>
            <a:off x="502920" y="4206240"/>
            <a:ext cx="1463040" cy="219456"/>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H₂O</a:t>
            </a:r>
            <a:endParaRPr lang="en-US" sz="1100" dirty="0"/>
          </a:p>
        </p:txBody>
      </p:sp>
      <p:sp>
        <p:nvSpPr>
          <p:cNvPr id="48" name="Text 46"/>
          <p:cNvSpPr/>
          <p:nvPr/>
        </p:nvSpPr>
        <p:spPr>
          <a:xfrm>
            <a:off x="1965960" y="3566160"/>
            <a:ext cx="3840480" cy="292608"/>
          </a:xfrm>
          <a:prstGeom prst="rect">
            <a:avLst/>
          </a:prstGeom>
          <a:noFill/>
          <a:ln/>
        </p:spPr>
        <p:txBody>
          <a:bodyPr wrap="square" lIns="0" tIns="0" rIns="0" bIns="0" rtlCol="0" anchor="ctr"/>
          <a:lstStyle/>
          <a:p>
            <a:pPr algn="l" indent="0" marL="0">
              <a:buNone/>
            </a:pPr>
            <a:r>
              <a:rPr lang="en-US" sz="1200" dirty="0">
                <a:solidFill>
                  <a:srgbClr val="262B3A"/>
                </a:solidFill>
                <a:latin typeface="Calibri" pitchFamily="34" charset="0"/>
                <a:ea typeface="Calibri" pitchFamily="34" charset="-122"/>
                <a:cs typeface="Calibri" pitchFamily="34" charset="-120"/>
              </a:rPr>
              <a:t>(2 × 1.0) + 16.0 = </a:t>
            </a:r>
            <a:r>
              <a:rPr lang="en-US" sz="1200" b="1" dirty="0">
                <a:solidFill>
                  <a:srgbClr val="262B3A"/>
                </a:solidFill>
                <a:latin typeface="Calibri" pitchFamily="34" charset="0"/>
                <a:ea typeface="Calibri" pitchFamily="34" charset="-122"/>
                <a:cs typeface="Calibri" pitchFamily="34" charset="-120"/>
              </a:rPr>
              <a:t>18.0</a:t>
            </a:r>
            <a:endParaRPr lang="en-US" sz="1200" dirty="0"/>
          </a:p>
        </p:txBody>
      </p:sp>
      <p:sp>
        <p:nvSpPr>
          <p:cNvPr id="49" name="Shape 47"/>
          <p:cNvSpPr/>
          <p:nvPr/>
        </p:nvSpPr>
        <p:spPr>
          <a:xfrm>
            <a:off x="612648" y="4453128"/>
            <a:ext cx="329184" cy="329184"/>
          </a:xfrm>
          <a:prstGeom prst="ellipse">
            <a:avLst/>
          </a:prstGeom>
          <a:solidFill>
            <a:srgbClr val="E06666"/>
          </a:solidFill>
          <a:ln w="12700">
            <a:solidFill>
              <a:srgbClr val="9E2A2A"/>
            </a:solidFill>
            <a:prstDash val="solid"/>
          </a:ln>
        </p:spPr>
      </p:sp>
      <p:sp>
        <p:nvSpPr>
          <p:cNvPr id="50" name="Text 48"/>
          <p:cNvSpPr/>
          <p:nvPr/>
        </p:nvSpPr>
        <p:spPr>
          <a:xfrm>
            <a:off x="612648" y="4453128"/>
            <a:ext cx="329184"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O</a:t>
            </a:r>
            <a:endParaRPr lang="en-US" sz="1000" dirty="0"/>
          </a:p>
        </p:txBody>
      </p:sp>
      <p:sp>
        <p:nvSpPr>
          <p:cNvPr id="51" name="Shape 49"/>
          <p:cNvSpPr/>
          <p:nvPr/>
        </p:nvSpPr>
        <p:spPr>
          <a:xfrm>
            <a:off x="996696" y="4453128"/>
            <a:ext cx="329184" cy="329184"/>
          </a:xfrm>
          <a:prstGeom prst="ellipse">
            <a:avLst/>
          </a:prstGeom>
          <a:solidFill>
            <a:srgbClr val="4A4A4A"/>
          </a:solidFill>
          <a:ln w="12700">
            <a:solidFill>
              <a:srgbClr val="222222"/>
            </a:solidFill>
            <a:prstDash val="solid"/>
          </a:ln>
        </p:spPr>
      </p:sp>
      <p:sp>
        <p:nvSpPr>
          <p:cNvPr id="52" name="Text 50"/>
          <p:cNvSpPr/>
          <p:nvPr/>
        </p:nvSpPr>
        <p:spPr>
          <a:xfrm>
            <a:off x="996696" y="4453128"/>
            <a:ext cx="329184"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3" name="Shape 51"/>
          <p:cNvSpPr/>
          <p:nvPr/>
        </p:nvSpPr>
        <p:spPr>
          <a:xfrm>
            <a:off x="1380744" y="4453128"/>
            <a:ext cx="329184" cy="329184"/>
          </a:xfrm>
          <a:prstGeom prst="ellipse">
            <a:avLst/>
          </a:prstGeom>
          <a:solidFill>
            <a:srgbClr val="E06666"/>
          </a:solidFill>
          <a:ln w="12700">
            <a:solidFill>
              <a:srgbClr val="9E2A2A"/>
            </a:solidFill>
            <a:prstDash val="solid"/>
          </a:ln>
        </p:spPr>
      </p:sp>
      <p:sp>
        <p:nvSpPr>
          <p:cNvPr id="54" name="Text 52"/>
          <p:cNvSpPr/>
          <p:nvPr/>
        </p:nvSpPr>
        <p:spPr>
          <a:xfrm>
            <a:off x="1380744" y="4453128"/>
            <a:ext cx="329184" cy="329184"/>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O</a:t>
            </a:r>
            <a:endParaRPr lang="en-US" sz="1000" dirty="0"/>
          </a:p>
        </p:txBody>
      </p:sp>
      <p:sp>
        <p:nvSpPr>
          <p:cNvPr id="55" name="Text 53"/>
          <p:cNvSpPr/>
          <p:nvPr/>
        </p:nvSpPr>
        <p:spPr>
          <a:xfrm>
            <a:off x="502920" y="4818888"/>
            <a:ext cx="1463040" cy="219456"/>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CO₂</a:t>
            </a:r>
            <a:endParaRPr lang="en-US" sz="1100" dirty="0"/>
          </a:p>
        </p:txBody>
      </p:sp>
      <p:sp>
        <p:nvSpPr>
          <p:cNvPr id="56" name="Text 54"/>
          <p:cNvSpPr/>
          <p:nvPr/>
        </p:nvSpPr>
        <p:spPr>
          <a:xfrm>
            <a:off x="1965960" y="4462272"/>
            <a:ext cx="3840480" cy="292608"/>
          </a:xfrm>
          <a:prstGeom prst="rect">
            <a:avLst/>
          </a:prstGeom>
          <a:noFill/>
          <a:ln/>
        </p:spPr>
        <p:txBody>
          <a:bodyPr wrap="square" lIns="0" tIns="0" rIns="0" bIns="0" rtlCol="0" anchor="ctr"/>
          <a:lstStyle/>
          <a:p>
            <a:pPr algn="l" indent="0" marL="0">
              <a:buNone/>
            </a:pPr>
            <a:r>
              <a:rPr lang="en-US" sz="1200" dirty="0">
                <a:solidFill>
                  <a:srgbClr val="262B3A"/>
                </a:solidFill>
                <a:latin typeface="Calibri" pitchFamily="34" charset="0"/>
                <a:ea typeface="Calibri" pitchFamily="34" charset="-122"/>
                <a:cs typeface="Calibri" pitchFamily="34" charset="-120"/>
              </a:rPr>
              <a:t>12.0 + (2 × 16.0) = </a:t>
            </a:r>
            <a:r>
              <a:rPr lang="en-US" sz="1200" b="1" dirty="0">
                <a:solidFill>
                  <a:srgbClr val="262B3A"/>
                </a:solidFill>
                <a:latin typeface="Calibri" pitchFamily="34" charset="0"/>
                <a:ea typeface="Calibri" pitchFamily="34" charset="-122"/>
                <a:cs typeface="Calibri" pitchFamily="34" charset="-120"/>
              </a:rPr>
              <a:t>44.0</a:t>
            </a:r>
            <a:endParaRPr lang="en-US" sz="1200" dirty="0"/>
          </a:p>
        </p:txBody>
      </p:sp>
      <p:sp>
        <p:nvSpPr>
          <p:cNvPr id="57" name="Text 55"/>
          <p:cNvSpPr/>
          <p:nvPr/>
        </p:nvSpPr>
        <p:spPr>
          <a:xfrm>
            <a:off x="1965960" y="3931920"/>
            <a:ext cx="3840480" cy="237744"/>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Mr = add up the Ar of </a:t>
            </a:r>
            <a:r>
              <a:rPr lang="en-US" sz="1050" b="1" i="1" dirty="0">
                <a:solidFill>
                  <a:srgbClr val="6B7385"/>
                </a:solidFill>
                <a:latin typeface="Calibri" pitchFamily="34" charset="0"/>
                <a:ea typeface="Calibri" pitchFamily="34" charset="-122"/>
                <a:cs typeface="Calibri" pitchFamily="34" charset="-120"/>
              </a:rPr>
              <a:t>every</a:t>
            </a:r>
            <a:r>
              <a:rPr lang="en-US" sz="1050" i="1" dirty="0">
                <a:solidFill>
                  <a:srgbClr val="6B7385"/>
                </a:solidFill>
                <a:latin typeface="Calibri" pitchFamily="34" charset="0"/>
                <a:ea typeface="Calibri" pitchFamily="34" charset="-122"/>
                <a:cs typeface="Calibri" pitchFamily="34" charset="-120"/>
              </a:rPr>
              <a:t> atom</a:t>
            </a:r>
            <a:endParaRPr lang="en-US" sz="1050" dirty="0"/>
          </a:p>
        </p:txBody>
      </p:sp>
      <p:sp>
        <p:nvSpPr>
          <p:cNvPr id="58" name="Shape 56"/>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59" name="Text 5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Adding up atomic masses</a:t>
            </a:r>
            <a:endParaRPr lang="en-US" sz="1300" dirty="0"/>
          </a:p>
        </p:txBody>
      </p:sp>
      <p:sp>
        <p:nvSpPr>
          <p:cNvPr id="60" name="Text 58"/>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Relative atomic mass, Ar</a:t>
            </a:r>
            <a:r>
              <a:rPr lang="en-US" sz="1150" dirty="0">
                <a:solidFill>
                  <a:srgbClr val="262B3A"/>
                </a:solidFill>
                <a:latin typeface="Calibri" pitchFamily="34" charset="0"/>
                <a:ea typeface="Calibri" pitchFamily="34" charset="-122"/>
                <a:cs typeface="Calibri" pitchFamily="34" charset="-120"/>
              </a:rPr>
              <a:t>: the mean mass of an atom of an element compared with ¹/₁₂ of a carbon-12 atom.</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Relative formula mass, Mr</a:t>
            </a:r>
            <a:r>
              <a:rPr lang="en-US" sz="1150" dirty="0">
                <a:solidFill>
                  <a:srgbClr val="262B3A"/>
                </a:solidFill>
                <a:latin typeface="Calibri" pitchFamily="34" charset="0"/>
                <a:ea typeface="Calibri" pitchFamily="34" charset="-122"/>
                <a:cs typeface="Calibri" pitchFamily="34" charset="-120"/>
              </a:rPr>
              <a:t>: the </a:t>
            </a:r>
            <a:r>
              <a:rPr lang="en-US" sz="1150" b="1" dirty="0">
                <a:solidFill>
                  <a:srgbClr val="262B3A"/>
                </a:solidFill>
                <a:latin typeface="Calibri" pitchFamily="34" charset="0"/>
                <a:ea typeface="Calibri" pitchFamily="34" charset="-122"/>
                <a:cs typeface="Calibri" pitchFamily="34" charset="-120"/>
              </a:rPr>
              <a:t>sum of the Ar</a:t>
            </a:r>
            <a:r>
              <a:rPr lang="en-US" sz="1150" dirty="0">
                <a:solidFill>
                  <a:srgbClr val="262B3A"/>
                </a:solidFill>
                <a:latin typeface="Calibri" pitchFamily="34" charset="0"/>
                <a:ea typeface="Calibri" pitchFamily="34" charset="-122"/>
                <a:cs typeface="Calibri" pitchFamily="34" charset="-120"/>
              </a:rPr>
              <a:t> values of all the atoms in the formula. It has </a:t>
            </a:r>
            <a:r>
              <a:rPr lang="en-US" sz="1150" b="1" dirty="0">
                <a:solidFill>
                  <a:srgbClr val="262B3A"/>
                </a:solidFill>
                <a:latin typeface="Calibri" pitchFamily="34" charset="0"/>
                <a:ea typeface="Calibri" pitchFamily="34" charset="-122"/>
                <a:cs typeface="Calibri" pitchFamily="34" charset="-120"/>
              </a:rPr>
              <a:t>no units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Use the </a:t>
            </a:r>
            <a:r>
              <a:rPr lang="en-US" sz="1150" b="1" dirty="0">
                <a:solidFill>
                  <a:srgbClr val="262B3A"/>
                </a:solidFill>
                <a:latin typeface="Calibri" pitchFamily="34" charset="0"/>
                <a:ea typeface="Calibri" pitchFamily="34" charset="-122"/>
                <a:cs typeface="Calibri" pitchFamily="34" charset="-120"/>
              </a:rPr>
              <a:t>small numbers</a:t>
            </a:r>
            <a:r>
              <a:rPr lang="en-US" sz="1150" dirty="0">
                <a:solidFill>
                  <a:srgbClr val="262B3A"/>
                </a:solidFill>
                <a:latin typeface="Calibri" pitchFamily="34" charset="0"/>
                <a:ea typeface="Calibri" pitchFamily="34" charset="-122"/>
                <a:cs typeface="Calibri" pitchFamily="34" charset="-120"/>
              </a:rPr>
              <a:t>: in CO₂ there are </a:t>
            </a:r>
            <a:r>
              <a:rPr lang="en-US" sz="1150" b="1" dirty="0">
                <a:solidFill>
                  <a:srgbClr val="262B3A"/>
                </a:solidFill>
                <a:latin typeface="Calibri" pitchFamily="34" charset="0"/>
                <a:ea typeface="Calibri" pitchFamily="34" charset="-122"/>
                <a:cs typeface="Calibri" pitchFamily="34" charset="-120"/>
              </a:rPr>
              <a:t>2</a:t>
            </a:r>
            <a:r>
              <a:rPr lang="en-US" sz="1150" dirty="0">
                <a:solidFill>
                  <a:srgbClr val="262B3A"/>
                </a:solidFill>
                <a:latin typeface="Calibri" pitchFamily="34" charset="0"/>
                <a:ea typeface="Calibri" pitchFamily="34" charset="-122"/>
                <a:cs typeface="Calibri" pitchFamily="34" charset="-120"/>
              </a:rPr>
              <a:t> O atoms.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bracket</a:t>
            </a:r>
            <a:r>
              <a:rPr lang="en-US" sz="1150" dirty="0">
                <a:solidFill>
                  <a:srgbClr val="262B3A"/>
                </a:solidFill>
                <a:latin typeface="Calibri" pitchFamily="34" charset="0"/>
                <a:ea typeface="Calibri" pitchFamily="34" charset="-122"/>
                <a:cs typeface="Calibri" pitchFamily="34" charset="-120"/>
              </a:rPr>
              <a:t> multiplies everything inside: Ca(OH)₂ has 1 Ca, </a:t>
            </a:r>
            <a:r>
              <a:rPr lang="en-US" sz="1150" b="1" dirty="0">
                <a:solidFill>
                  <a:srgbClr val="262B3A"/>
                </a:solidFill>
                <a:latin typeface="Calibri" pitchFamily="34" charset="0"/>
                <a:ea typeface="Calibri" pitchFamily="34" charset="-122"/>
                <a:cs typeface="Calibri" pitchFamily="34" charset="-120"/>
              </a:rPr>
              <a:t>2</a:t>
            </a:r>
            <a:r>
              <a:rPr lang="en-US" sz="1150" dirty="0">
                <a:solidFill>
                  <a:srgbClr val="262B3A"/>
                </a:solidFill>
                <a:latin typeface="Calibri" pitchFamily="34" charset="0"/>
                <a:ea typeface="Calibri" pitchFamily="34" charset="-122"/>
                <a:cs typeface="Calibri" pitchFamily="34" charset="-120"/>
              </a:rPr>
              <a:t> O and </a:t>
            </a:r>
            <a:r>
              <a:rPr lang="en-US" sz="1150" b="1" dirty="0">
                <a:solidFill>
                  <a:srgbClr val="262B3A"/>
                </a:solidFill>
                <a:latin typeface="Calibri" pitchFamily="34" charset="0"/>
                <a:ea typeface="Calibri" pitchFamily="34" charset="-122"/>
                <a:cs typeface="Calibri" pitchFamily="34" charset="-120"/>
              </a:rPr>
              <a:t>2</a:t>
            </a:r>
            <a:r>
              <a:rPr lang="en-US" sz="1150" dirty="0">
                <a:solidFill>
                  <a:srgbClr val="262B3A"/>
                </a:solidFill>
                <a:latin typeface="Calibri" pitchFamily="34" charset="0"/>
                <a:ea typeface="Calibri" pitchFamily="34" charset="-122"/>
                <a:cs typeface="Calibri" pitchFamily="34" charset="-120"/>
              </a:rPr>
              <a:t> H.</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Examples: NaCl = </a:t>
            </a:r>
            <a:r>
              <a:rPr lang="en-US" sz="1150" b="1" dirty="0">
                <a:solidFill>
                  <a:srgbClr val="262B3A"/>
                </a:solidFill>
                <a:latin typeface="Calibri" pitchFamily="34" charset="0"/>
                <a:ea typeface="Calibri" pitchFamily="34" charset="-122"/>
                <a:cs typeface="Calibri" pitchFamily="34" charset="-120"/>
              </a:rPr>
              <a:t>58.5</a:t>
            </a:r>
            <a:r>
              <a:rPr lang="en-US" sz="1150" dirty="0">
                <a:solidFill>
                  <a:srgbClr val="262B3A"/>
                </a:solidFill>
                <a:latin typeface="Calibri" pitchFamily="34" charset="0"/>
                <a:ea typeface="Calibri" pitchFamily="34" charset="-122"/>
                <a:cs typeface="Calibri" pitchFamily="34" charset="-120"/>
              </a:rPr>
              <a:t>; MgO = </a:t>
            </a:r>
            <a:r>
              <a:rPr lang="en-US" sz="1150" b="1" dirty="0">
                <a:solidFill>
                  <a:srgbClr val="262B3A"/>
                </a:solidFill>
                <a:latin typeface="Calibri" pitchFamily="34" charset="0"/>
                <a:ea typeface="Calibri" pitchFamily="34" charset="-122"/>
                <a:cs typeface="Calibri" pitchFamily="34" charset="-120"/>
              </a:rPr>
              <a:t>40.3</a:t>
            </a:r>
            <a:r>
              <a:rPr lang="en-US" sz="1150" dirty="0">
                <a:solidFill>
                  <a:srgbClr val="262B3A"/>
                </a:solidFill>
                <a:latin typeface="Calibri" pitchFamily="34" charset="0"/>
                <a:ea typeface="Calibri" pitchFamily="34" charset="-122"/>
                <a:cs typeface="Calibri" pitchFamily="34" charset="-120"/>
              </a:rPr>
              <a:t>; CaCO₃ = </a:t>
            </a:r>
            <a:r>
              <a:rPr lang="en-US" sz="1150" b="1" dirty="0">
                <a:solidFill>
                  <a:srgbClr val="262B3A"/>
                </a:solidFill>
                <a:latin typeface="Calibri" pitchFamily="34" charset="0"/>
                <a:ea typeface="Calibri" pitchFamily="34" charset="-122"/>
                <a:cs typeface="Calibri" pitchFamily="34" charset="-120"/>
              </a:rPr>
              <a:t>100.1</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61" name="Shape 59"/>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62" name="Text 60"/>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brackets</a:t>
            </a:r>
            <a:endParaRPr lang="en-US" sz="1300" dirty="0"/>
          </a:p>
        </p:txBody>
      </p:sp>
      <p:sp>
        <p:nvSpPr>
          <p:cNvPr id="63" name="Text 61"/>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Calculate the Mr of calcium hydroxide, Ca(OH)₂.</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OH group   </a:t>
            </a:r>
            <a:r>
              <a:rPr lang="en-US" sz="1050" dirty="0">
                <a:solidFill>
                  <a:srgbClr val="262B3A"/>
                </a:solidFill>
                <a:latin typeface="Calibri" pitchFamily="34" charset="0"/>
                <a:ea typeface="Calibri" pitchFamily="34" charset="-122"/>
                <a:cs typeface="Calibri" pitchFamily="34" charset="-120"/>
              </a:rPr>
              <a:t>16.0 + 1.0 = 17.0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40.1 + (2 × 17.0) = </a:t>
            </a:r>
            <a:r>
              <a:rPr lang="en-US" sz="1050" b="1" dirty="0">
                <a:solidFill>
                  <a:srgbClr val="C8414C"/>
                </a:solidFill>
                <a:latin typeface="Calibri" pitchFamily="34" charset="0"/>
                <a:ea typeface="Calibri" pitchFamily="34" charset="-122"/>
                <a:cs typeface="Calibri" pitchFamily="34" charset="-120"/>
              </a:rPr>
              <a:t>74.1</a:t>
            </a:r>
            <a:endParaRPr lang="en-US" sz="1050" dirty="0"/>
          </a:p>
        </p:txBody>
      </p:sp>
      <p:sp>
        <p:nvSpPr>
          <p:cNvPr id="64" name="Shape 62"/>
          <p:cNvSpPr/>
          <p:nvPr/>
        </p:nvSpPr>
        <p:spPr>
          <a:xfrm>
            <a:off x="411480" y="5833872"/>
            <a:ext cx="11368735" cy="530352"/>
          </a:xfrm>
          <a:prstGeom prst="rect">
            <a:avLst/>
          </a:prstGeom>
          <a:solidFill>
            <a:srgbClr val="FFF4E0"/>
          </a:solidFill>
          <a:ln w="6350">
            <a:solidFill>
              <a:srgbClr val="F1D9A8"/>
            </a:solidFill>
            <a:prstDash val="solid"/>
          </a:ln>
        </p:spPr>
      </p:sp>
      <p:sp>
        <p:nvSpPr>
          <p:cNvPr id="65" name="Shape 63"/>
          <p:cNvSpPr/>
          <p:nvPr/>
        </p:nvSpPr>
        <p:spPr>
          <a:xfrm>
            <a:off x="411480" y="5833872"/>
            <a:ext cx="82296" cy="530352"/>
          </a:xfrm>
          <a:prstGeom prst="rect">
            <a:avLst/>
          </a:prstGeom>
          <a:solidFill>
            <a:srgbClr val="E39A2F"/>
          </a:solidFill>
          <a:ln w="12700">
            <a:solidFill>
              <a:srgbClr val="E39A2F"/>
            </a:solidFill>
            <a:prstDash val="solid"/>
          </a:ln>
        </p:spPr>
      </p:sp>
      <p:sp>
        <p:nvSpPr>
          <p:cNvPr id="66" name="Text 6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Calculate the Mr of </a:t>
            </a:r>
            <a:r>
              <a:rPr lang="en-US" sz="1150" b="1" dirty="0">
                <a:solidFill>
                  <a:srgbClr val="262B3A"/>
                </a:solidFill>
                <a:latin typeface="Calibri" pitchFamily="34" charset="0"/>
                <a:ea typeface="Calibri" pitchFamily="34" charset="-122"/>
                <a:cs typeface="Calibri" pitchFamily="34" charset="-120"/>
              </a:rPr>
              <a:t>sulfuric acid, H₂SO₄</a:t>
            </a:r>
            <a:r>
              <a:rPr lang="en-US" sz="1150" dirty="0">
                <a:solidFill>
                  <a:srgbClr val="262B3A"/>
                </a:solidFill>
                <a:latin typeface="Calibri" pitchFamily="34" charset="0"/>
                <a:ea typeface="Calibri" pitchFamily="34" charset="-122"/>
                <a:cs typeface="Calibri" pitchFamily="34" charset="-120"/>
              </a:rPr>
              <a:t>, and of </a:t>
            </a:r>
            <a:r>
              <a:rPr lang="en-US" sz="1150" b="1" dirty="0">
                <a:solidFill>
                  <a:srgbClr val="262B3A"/>
                </a:solidFill>
                <a:latin typeface="Calibri" pitchFamily="34" charset="0"/>
                <a:ea typeface="Calibri" pitchFamily="34" charset="-122"/>
                <a:cs typeface="Calibri" pitchFamily="34" charset="-120"/>
              </a:rPr>
              <a:t>magnesium hydroxide, Mg(OH)₂</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Mr in a balanced equation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C5.2.3 • relative formula masses in a balanced equation show mass is conserved</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C5.2.3  |  9</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balance beam: the two sides have the same total mass</a:t>
            </a:r>
            <a:endParaRPr lang="en-US" sz="1000" dirty="0"/>
          </a:p>
        </p:txBody>
      </p:sp>
      <p:sp>
        <p:nvSpPr>
          <p:cNvPr id="10" name="Shape 8"/>
          <p:cNvSpPr/>
          <p:nvPr/>
        </p:nvSpPr>
        <p:spPr>
          <a:xfrm>
            <a:off x="2926080" y="3246120"/>
            <a:ext cx="548640" cy="502920"/>
          </a:xfrm>
          <a:custGeom>
            <a:avLst/>
            <a:gdLst/>
            <a:ahLst/>
            <a:cxnLst/>
            <a:rect l="l" t="t" r="r" b="b"/>
            <a:pathLst>
              <a:path w="548640" h="502920">
                <a:moveTo>
                  <a:pt x="274320" y="0"/>
                </a:moveTo>
                <a:lnTo>
                  <a:pt x="548640" y="502920"/>
                </a:lnTo>
                <a:lnTo>
                  <a:pt x="0" y="502920"/>
                </a:lnTo>
                <a:close/>
              </a:path>
            </a:pathLst>
          </a:custGeom>
          <a:solidFill>
            <a:srgbClr val="7D8794"/>
          </a:solidFill>
          <a:ln w="12700">
            <a:solidFill>
              <a:srgbClr val="4A5568"/>
            </a:solidFill>
            <a:prstDash val="solid"/>
          </a:ln>
        </p:spPr>
      </p:sp>
      <p:sp>
        <p:nvSpPr>
          <p:cNvPr id="11" name="Shape 9"/>
          <p:cNvSpPr/>
          <p:nvPr/>
        </p:nvSpPr>
        <p:spPr>
          <a:xfrm>
            <a:off x="822960" y="3172968"/>
            <a:ext cx="4754880" cy="73152"/>
          </a:xfrm>
          <a:prstGeom prst="rect">
            <a:avLst/>
          </a:prstGeom>
          <a:solidFill>
            <a:srgbClr val="5A6275"/>
          </a:solidFill>
          <a:ln w="6350">
            <a:solidFill>
              <a:srgbClr val="2D3748"/>
            </a:solidFill>
            <a:prstDash val="solid"/>
          </a:ln>
        </p:spPr>
      </p:sp>
      <p:sp>
        <p:nvSpPr>
          <p:cNvPr id="12" name="Shape 10"/>
          <p:cNvSpPr/>
          <p:nvPr/>
        </p:nvSpPr>
        <p:spPr>
          <a:xfrm>
            <a:off x="777240" y="2788920"/>
            <a:ext cx="1920240" cy="128016"/>
          </a:xfrm>
          <a:prstGeom prst="rect">
            <a:avLst/>
          </a:prstGeom>
          <a:solidFill>
            <a:srgbClr val="B9C0CC"/>
          </a:solidFill>
          <a:ln w="9525">
            <a:solidFill>
              <a:srgbClr val="4A5568"/>
            </a:solidFill>
            <a:prstDash val="solid"/>
          </a:ln>
        </p:spPr>
      </p:sp>
      <p:sp>
        <p:nvSpPr>
          <p:cNvPr id="13" name="Text 11"/>
          <p:cNvSpPr/>
          <p:nvPr/>
        </p:nvSpPr>
        <p:spPr>
          <a:xfrm>
            <a:off x="777240" y="1325880"/>
            <a:ext cx="1920240" cy="237744"/>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Reactants</a:t>
            </a:r>
            <a:endParaRPr lang="en-US" sz="1100" dirty="0"/>
          </a:p>
        </p:txBody>
      </p:sp>
      <p:sp>
        <p:nvSpPr>
          <p:cNvPr id="14" name="Shape 12"/>
          <p:cNvSpPr/>
          <p:nvPr/>
        </p:nvSpPr>
        <p:spPr>
          <a:xfrm>
            <a:off x="3703320" y="2788920"/>
            <a:ext cx="1920240" cy="128016"/>
          </a:xfrm>
          <a:prstGeom prst="rect">
            <a:avLst/>
          </a:prstGeom>
          <a:solidFill>
            <a:srgbClr val="B9C0CC"/>
          </a:solidFill>
          <a:ln w="9525">
            <a:solidFill>
              <a:srgbClr val="4A5568"/>
            </a:solidFill>
            <a:prstDash val="solid"/>
          </a:ln>
        </p:spPr>
      </p:sp>
      <p:sp>
        <p:nvSpPr>
          <p:cNvPr id="15" name="Text 13"/>
          <p:cNvSpPr/>
          <p:nvPr/>
        </p:nvSpPr>
        <p:spPr>
          <a:xfrm>
            <a:off x="3703320" y="1325880"/>
            <a:ext cx="1920240" cy="237744"/>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Products</a:t>
            </a:r>
            <a:endParaRPr lang="en-US" sz="1100" dirty="0"/>
          </a:p>
        </p:txBody>
      </p:sp>
      <p:sp>
        <p:nvSpPr>
          <p:cNvPr id="16" name="Shape 14"/>
          <p:cNvSpPr/>
          <p:nvPr/>
        </p:nvSpPr>
        <p:spPr>
          <a:xfrm>
            <a:off x="1051560" y="2331720"/>
            <a:ext cx="365760" cy="365760"/>
          </a:xfrm>
          <a:prstGeom prst="ellipse">
            <a:avLst/>
          </a:prstGeom>
          <a:solidFill>
            <a:srgbClr val="C9CED6"/>
          </a:solidFill>
          <a:ln w="12700">
            <a:solidFill>
              <a:srgbClr val="6B7385"/>
            </a:solidFill>
            <a:prstDash val="solid"/>
          </a:ln>
        </p:spPr>
      </p:sp>
      <p:sp>
        <p:nvSpPr>
          <p:cNvPr id="17" name="Text 15"/>
          <p:cNvSpPr/>
          <p:nvPr/>
        </p:nvSpPr>
        <p:spPr>
          <a:xfrm>
            <a:off x="1051560" y="2331720"/>
            <a:ext cx="365760" cy="36576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Mg</a:t>
            </a:r>
            <a:endParaRPr lang="en-US" sz="1000" dirty="0"/>
          </a:p>
        </p:txBody>
      </p:sp>
      <p:sp>
        <p:nvSpPr>
          <p:cNvPr id="18" name="Shape 16"/>
          <p:cNvSpPr/>
          <p:nvPr/>
        </p:nvSpPr>
        <p:spPr>
          <a:xfrm>
            <a:off x="1508760" y="2331720"/>
            <a:ext cx="365760" cy="365760"/>
          </a:xfrm>
          <a:prstGeom prst="ellipse">
            <a:avLst/>
          </a:prstGeom>
          <a:solidFill>
            <a:srgbClr val="C9CED6"/>
          </a:solidFill>
          <a:ln w="12700">
            <a:solidFill>
              <a:srgbClr val="6B7385"/>
            </a:solidFill>
            <a:prstDash val="solid"/>
          </a:ln>
        </p:spPr>
      </p:sp>
      <p:sp>
        <p:nvSpPr>
          <p:cNvPr id="19" name="Text 17"/>
          <p:cNvSpPr/>
          <p:nvPr/>
        </p:nvSpPr>
        <p:spPr>
          <a:xfrm>
            <a:off x="1508760" y="2331720"/>
            <a:ext cx="365760" cy="36576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Mg</a:t>
            </a:r>
            <a:endParaRPr lang="en-US" sz="1000" dirty="0"/>
          </a:p>
        </p:txBody>
      </p:sp>
      <p:sp>
        <p:nvSpPr>
          <p:cNvPr id="20" name="Shape 18"/>
          <p:cNvSpPr/>
          <p:nvPr/>
        </p:nvSpPr>
        <p:spPr>
          <a:xfrm>
            <a:off x="1960474" y="2359152"/>
            <a:ext cx="310896" cy="310896"/>
          </a:xfrm>
          <a:prstGeom prst="ellipse">
            <a:avLst/>
          </a:prstGeom>
          <a:solidFill>
            <a:srgbClr val="E06666"/>
          </a:solidFill>
          <a:ln w="12700">
            <a:solidFill>
              <a:srgbClr val="9E2A2A"/>
            </a:solidFill>
            <a:prstDash val="solid"/>
          </a:ln>
        </p:spPr>
      </p:sp>
      <p:sp>
        <p:nvSpPr>
          <p:cNvPr id="21" name="Text 19"/>
          <p:cNvSpPr/>
          <p:nvPr/>
        </p:nvSpPr>
        <p:spPr>
          <a:xfrm>
            <a:off x="1960474" y="2359152"/>
            <a:ext cx="310896" cy="310896"/>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O</a:t>
            </a:r>
            <a:endParaRPr lang="en-US" sz="1000" dirty="0"/>
          </a:p>
        </p:txBody>
      </p:sp>
      <p:sp>
        <p:nvSpPr>
          <p:cNvPr id="22" name="Shape 20"/>
          <p:cNvSpPr/>
          <p:nvPr/>
        </p:nvSpPr>
        <p:spPr>
          <a:xfrm>
            <a:off x="2209190" y="2359152"/>
            <a:ext cx="310896" cy="310896"/>
          </a:xfrm>
          <a:prstGeom prst="ellipse">
            <a:avLst/>
          </a:prstGeom>
          <a:solidFill>
            <a:srgbClr val="E06666"/>
          </a:solidFill>
          <a:ln w="12700">
            <a:solidFill>
              <a:srgbClr val="9E2A2A"/>
            </a:solidFill>
            <a:prstDash val="solid"/>
          </a:ln>
        </p:spPr>
      </p:sp>
      <p:sp>
        <p:nvSpPr>
          <p:cNvPr id="23" name="Text 21"/>
          <p:cNvSpPr/>
          <p:nvPr/>
        </p:nvSpPr>
        <p:spPr>
          <a:xfrm>
            <a:off x="2209190" y="2359152"/>
            <a:ext cx="310896" cy="310896"/>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O</a:t>
            </a:r>
            <a:endParaRPr lang="en-US" sz="1000" dirty="0"/>
          </a:p>
        </p:txBody>
      </p:sp>
      <p:sp>
        <p:nvSpPr>
          <p:cNvPr id="24" name="Shape 22"/>
          <p:cNvSpPr/>
          <p:nvPr/>
        </p:nvSpPr>
        <p:spPr>
          <a:xfrm>
            <a:off x="3822192" y="2331720"/>
            <a:ext cx="365760" cy="365760"/>
          </a:xfrm>
          <a:prstGeom prst="ellipse">
            <a:avLst/>
          </a:prstGeom>
          <a:solidFill>
            <a:srgbClr val="C9CED6"/>
          </a:solidFill>
          <a:ln w="12700">
            <a:solidFill>
              <a:srgbClr val="6B7385"/>
            </a:solidFill>
            <a:prstDash val="solid"/>
          </a:ln>
        </p:spPr>
      </p:sp>
      <p:sp>
        <p:nvSpPr>
          <p:cNvPr id="25" name="Text 23"/>
          <p:cNvSpPr/>
          <p:nvPr/>
        </p:nvSpPr>
        <p:spPr>
          <a:xfrm>
            <a:off x="3822192" y="2331720"/>
            <a:ext cx="365760" cy="36576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Mg</a:t>
            </a:r>
            <a:endParaRPr lang="en-US" sz="1000" dirty="0"/>
          </a:p>
        </p:txBody>
      </p:sp>
      <p:sp>
        <p:nvSpPr>
          <p:cNvPr id="26" name="Shape 24"/>
          <p:cNvSpPr/>
          <p:nvPr/>
        </p:nvSpPr>
        <p:spPr>
          <a:xfrm>
            <a:off x="4187952" y="2359152"/>
            <a:ext cx="310896" cy="310896"/>
          </a:xfrm>
          <a:prstGeom prst="ellipse">
            <a:avLst/>
          </a:prstGeom>
          <a:solidFill>
            <a:srgbClr val="E06666"/>
          </a:solidFill>
          <a:ln w="12700">
            <a:solidFill>
              <a:srgbClr val="9E2A2A"/>
            </a:solidFill>
            <a:prstDash val="solid"/>
          </a:ln>
        </p:spPr>
      </p:sp>
      <p:sp>
        <p:nvSpPr>
          <p:cNvPr id="27" name="Text 25"/>
          <p:cNvSpPr/>
          <p:nvPr/>
        </p:nvSpPr>
        <p:spPr>
          <a:xfrm>
            <a:off x="4187952" y="2359152"/>
            <a:ext cx="310896" cy="310896"/>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O</a:t>
            </a:r>
            <a:endParaRPr lang="en-US" sz="1000" dirty="0"/>
          </a:p>
        </p:txBody>
      </p:sp>
      <p:sp>
        <p:nvSpPr>
          <p:cNvPr id="28" name="Shape 26"/>
          <p:cNvSpPr/>
          <p:nvPr/>
        </p:nvSpPr>
        <p:spPr>
          <a:xfrm>
            <a:off x="4599432" y="2331720"/>
            <a:ext cx="365760" cy="365760"/>
          </a:xfrm>
          <a:prstGeom prst="ellipse">
            <a:avLst/>
          </a:prstGeom>
          <a:solidFill>
            <a:srgbClr val="C9CED6"/>
          </a:solidFill>
          <a:ln w="12700">
            <a:solidFill>
              <a:srgbClr val="6B7385"/>
            </a:solidFill>
            <a:prstDash val="solid"/>
          </a:ln>
        </p:spPr>
      </p:sp>
      <p:sp>
        <p:nvSpPr>
          <p:cNvPr id="29" name="Text 27"/>
          <p:cNvSpPr/>
          <p:nvPr/>
        </p:nvSpPr>
        <p:spPr>
          <a:xfrm>
            <a:off x="4599432" y="2331720"/>
            <a:ext cx="365760" cy="36576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Mg</a:t>
            </a:r>
            <a:endParaRPr lang="en-US" sz="1000" dirty="0"/>
          </a:p>
        </p:txBody>
      </p:sp>
      <p:sp>
        <p:nvSpPr>
          <p:cNvPr id="30" name="Shape 28"/>
          <p:cNvSpPr/>
          <p:nvPr/>
        </p:nvSpPr>
        <p:spPr>
          <a:xfrm>
            <a:off x="4965192" y="2359152"/>
            <a:ext cx="310896" cy="310896"/>
          </a:xfrm>
          <a:prstGeom prst="ellipse">
            <a:avLst/>
          </a:prstGeom>
          <a:solidFill>
            <a:srgbClr val="E06666"/>
          </a:solidFill>
          <a:ln w="12700">
            <a:solidFill>
              <a:srgbClr val="9E2A2A"/>
            </a:solidFill>
            <a:prstDash val="solid"/>
          </a:ln>
        </p:spPr>
      </p:sp>
      <p:sp>
        <p:nvSpPr>
          <p:cNvPr id="31" name="Text 29"/>
          <p:cNvSpPr/>
          <p:nvPr/>
        </p:nvSpPr>
        <p:spPr>
          <a:xfrm>
            <a:off x="4965192" y="2359152"/>
            <a:ext cx="310896" cy="310896"/>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O</a:t>
            </a:r>
            <a:endParaRPr lang="en-US" sz="1000" dirty="0"/>
          </a:p>
        </p:txBody>
      </p:sp>
      <p:sp>
        <p:nvSpPr>
          <p:cNvPr id="32" name="Text 30"/>
          <p:cNvSpPr/>
          <p:nvPr/>
        </p:nvSpPr>
        <p:spPr>
          <a:xfrm>
            <a:off x="777240" y="1645920"/>
            <a:ext cx="1920240" cy="274320"/>
          </a:xfrm>
          <a:prstGeom prst="rect">
            <a:avLst/>
          </a:prstGeom>
          <a:noFill/>
          <a:ln/>
        </p:spPr>
        <p:txBody>
          <a:bodyPr wrap="square" lIns="0" tIns="0" rIns="0" bIns="0" rtlCol="0" anchor="ctr"/>
          <a:lstStyle/>
          <a:p>
            <a:pPr algn="ctr" indent="0" marL="0">
              <a:buNone/>
            </a:pPr>
            <a:r>
              <a:rPr lang="en-US" sz="1300" b="1" dirty="0">
                <a:solidFill>
                  <a:srgbClr val="2A1F3D"/>
                </a:solidFill>
                <a:latin typeface="Calibri" pitchFamily="34" charset="0"/>
                <a:ea typeface="Calibri" pitchFamily="34" charset="-122"/>
                <a:cs typeface="Calibri" pitchFamily="34" charset="-120"/>
              </a:rPr>
              <a:t>2Mg + O₂</a:t>
            </a:r>
            <a:endParaRPr lang="en-US" sz="1300" dirty="0"/>
          </a:p>
        </p:txBody>
      </p:sp>
      <p:sp>
        <p:nvSpPr>
          <p:cNvPr id="33" name="Text 31"/>
          <p:cNvSpPr/>
          <p:nvPr/>
        </p:nvSpPr>
        <p:spPr>
          <a:xfrm>
            <a:off x="3703320" y="1645920"/>
            <a:ext cx="1920240" cy="274320"/>
          </a:xfrm>
          <a:prstGeom prst="rect">
            <a:avLst/>
          </a:prstGeom>
          <a:noFill/>
          <a:ln/>
        </p:spPr>
        <p:txBody>
          <a:bodyPr wrap="square" lIns="0" tIns="0" rIns="0" bIns="0" rtlCol="0" anchor="ctr"/>
          <a:lstStyle/>
          <a:p>
            <a:pPr algn="ctr" indent="0" marL="0">
              <a:buNone/>
            </a:pPr>
            <a:r>
              <a:rPr lang="en-US" sz="1300" b="1" dirty="0">
                <a:solidFill>
                  <a:srgbClr val="2A1F3D"/>
                </a:solidFill>
                <a:latin typeface="Calibri" pitchFamily="34" charset="0"/>
                <a:ea typeface="Calibri" pitchFamily="34" charset="-122"/>
                <a:cs typeface="Calibri" pitchFamily="34" charset="-120"/>
              </a:rPr>
              <a:t>2MgO</a:t>
            </a:r>
            <a:endParaRPr lang="en-US" sz="1300" dirty="0"/>
          </a:p>
        </p:txBody>
      </p:sp>
      <p:sp>
        <p:nvSpPr>
          <p:cNvPr id="34" name="Text 32"/>
          <p:cNvSpPr/>
          <p:nvPr/>
        </p:nvSpPr>
        <p:spPr>
          <a:xfrm>
            <a:off x="777240" y="1965960"/>
            <a:ext cx="1920240" cy="237744"/>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(2 × 24.3) + 32.0</a:t>
            </a:r>
            <a:endParaRPr lang="en-US" sz="1100" dirty="0"/>
          </a:p>
        </p:txBody>
      </p:sp>
      <p:sp>
        <p:nvSpPr>
          <p:cNvPr id="35" name="Text 33"/>
          <p:cNvSpPr/>
          <p:nvPr/>
        </p:nvSpPr>
        <p:spPr>
          <a:xfrm>
            <a:off x="3703320" y="1965960"/>
            <a:ext cx="1920240" cy="237744"/>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2 × 40.3</a:t>
            </a:r>
            <a:endParaRPr lang="en-US" sz="1100" dirty="0"/>
          </a:p>
        </p:txBody>
      </p:sp>
      <p:sp>
        <p:nvSpPr>
          <p:cNvPr id="36" name="Shape 34"/>
          <p:cNvSpPr/>
          <p:nvPr/>
        </p:nvSpPr>
        <p:spPr>
          <a:xfrm>
            <a:off x="868680" y="3886200"/>
            <a:ext cx="1737360" cy="384048"/>
          </a:xfrm>
          <a:prstGeom prst="roundRect">
            <a:avLst>
              <a:gd name="adj" fmla="val 14286"/>
            </a:avLst>
          </a:prstGeom>
          <a:solidFill>
            <a:srgbClr val="FFFFFF"/>
          </a:solidFill>
          <a:ln w="15875">
            <a:solidFill>
              <a:srgbClr val="6A3FA0"/>
            </a:solidFill>
            <a:prstDash val="solid"/>
          </a:ln>
        </p:spPr>
      </p:sp>
      <p:sp>
        <p:nvSpPr>
          <p:cNvPr id="37" name="Text 35"/>
          <p:cNvSpPr/>
          <p:nvPr/>
        </p:nvSpPr>
        <p:spPr>
          <a:xfrm>
            <a:off x="923544" y="3886200"/>
            <a:ext cx="1627632" cy="384048"/>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80.6</a:t>
            </a:r>
            <a:endParaRPr lang="en-US" sz="1400" dirty="0"/>
          </a:p>
        </p:txBody>
      </p:sp>
      <p:sp>
        <p:nvSpPr>
          <p:cNvPr id="38" name="Shape 36"/>
          <p:cNvSpPr/>
          <p:nvPr/>
        </p:nvSpPr>
        <p:spPr>
          <a:xfrm>
            <a:off x="3794760" y="3886200"/>
            <a:ext cx="1737360" cy="384048"/>
          </a:xfrm>
          <a:prstGeom prst="roundRect">
            <a:avLst>
              <a:gd name="adj" fmla="val 14286"/>
            </a:avLst>
          </a:prstGeom>
          <a:solidFill>
            <a:srgbClr val="FFFFFF"/>
          </a:solidFill>
          <a:ln w="15875">
            <a:solidFill>
              <a:srgbClr val="6A3FA0"/>
            </a:solidFill>
            <a:prstDash val="solid"/>
          </a:ln>
        </p:spPr>
      </p:sp>
      <p:sp>
        <p:nvSpPr>
          <p:cNvPr id="39" name="Text 37"/>
          <p:cNvSpPr/>
          <p:nvPr/>
        </p:nvSpPr>
        <p:spPr>
          <a:xfrm>
            <a:off x="3849624" y="3886200"/>
            <a:ext cx="1627632" cy="384048"/>
          </a:xfrm>
          <a:prstGeom prst="rect">
            <a:avLst/>
          </a:prstGeom>
          <a:noFill/>
          <a:ln/>
        </p:spPr>
        <p:txBody>
          <a:bodyPr wrap="square" lIns="0" tIns="0" rIns="0" bIns="0" rtlCol="0" anchor="ctr"/>
          <a:lstStyle/>
          <a:p>
            <a:pPr algn="ctr" indent="0" marL="0">
              <a:buNone/>
            </a:pPr>
            <a:r>
              <a:rPr lang="en-US" sz="1400" b="1" dirty="0">
                <a:solidFill>
                  <a:srgbClr val="262B3A"/>
                </a:solidFill>
                <a:latin typeface="Calibri" pitchFamily="34" charset="0"/>
                <a:ea typeface="Calibri" pitchFamily="34" charset="-122"/>
                <a:cs typeface="Calibri" pitchFamily="34" charset="-120"/>
              </a:rPr>
              <a:t>80.6</a:t>
            </a:r>
            <a:endParaRPr lang="en-US" sz="1400" dirty="0"/>
          </a:p>
        </p:txBody>
      </p:sp>
      <p:sp>
        <p:nvSpPr>
          <p:cNvPr id="40" name="Text 38"/>
          <p:cNvSpPr/>
          <p:nvPr/>
        </p:nvSpPr>
        <p:spPr>
          <a:xfrm>
            <a:off x="2606040" y="3886200"/>
            <a:ext cx="1188720" cy="384048"/>
          </a:xfrm>
          <a:prstGeom prst="rect">
            <a:avLst/>
          </a:prstGeom>
          <a:noFill/>
          <a:ln/>
        </p:spPr>
        <p:txBody>
          <a:bodyPr wrap="square" lIns="0" tIns="0" rIns="0" bIns="0" rtlCol="0" anchor="ctr"/>
          <a:lstStyle/>
          <a:p>
            <a:pPr algn="ctr" indent="0" marL="0">
              <a:buNone/>
            </a:pPr>
            <a:r>
              <a:rPr lang="en-US" sz="2200" b="1" dirty="0">
                <a:solidFill>
                  <a:srgbClr val="2E8B57"/>
                </a:solidFill>
                <a:latin typeface="Calibri" pitchFamily="34" charset="0"/>
                <a:ea typeface="Calibri" pitchFamily="34" charset="-122"/>
                <a:cs typeface="Calibri" pitchFamily="34" charset="-120"/>
              </a:rPr>
              <a:t>=</a:t>
            </a:r>
            <a:endParaRPr lang="en-US" sz="2200" dirty="0"/>
          </a:p>
        </p:txBody>
      </p:sp>
      <p:sp>
        <p:nvSpPr>
          <p:cNvPr id="41" name="Text 39"/>
          <p:cNvSpPr/>
          <p:nvPr/>
        </p:nvSpPr>
        <p:spPr>
          <a:xfrm>
            <a:off x="640080" y="4434840"/>
            <a:ext cx="5120640"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Second example: CaCO₃ → CaO + CO₂</a:t>
            </a:r>
            <a:endParaRPr lang="en-US" sz="1100" dirty="0"/>
          </a:p>
        </p:txBody>
      </p:sp>
      <p:sp>
        <p:nvSpPr>
          <p:cNvPr id="42" name="Text 40"/>
          <p:cNvSpPr/>
          <p:nvPr/>
        </p:nvSpPr>
        <p:spPr>
          <a:xfrm>
            <a:off x="640080" y="4681728"/>
            <a:ext cx="5120640" cy="274320"/>
          </a:xfrm>
          <a:prstGeom prst="rect">
            <a:avLst/>
          </a:prstGeom>
          <a:noFill/>
          <a:ln/>
        </p:spPr>
        <p:txBody>
          <a:bodyPr wrap="square" lIns="0" tIns="0" rIns="0" bIns="0" rtlCol="0" anchor="ctr"/>
          <a:lstStyle/>
          <a:p>
            <a:pPr algn="ctr" indent="0" marL="0">
              <a:buNone/>
            </a:pPr>
            <a:r>
              <a:rPr lang="en-US" sz="1200" b="1" dirty="0">
                <a:solidFill>
                  <a:srgbClr val="6A3FA0"/>
                </a:solidFill>
                <a:latin typeface="Calibri" pitchFamily="34" charset="0"/>
                <a:ea typeface="Calibri" pitchFamily="34" charset="-122"/>
                <a:cs typeface="Calibri" pitchFamily="34" charset="-120"/>
              </a:rPr>
              <a:t>100.1  =  56.1 + 44.0  =  100.1</a:t>
            </a:r>
            <a:endParaRPr lang="en-US" sz="1200" dirty="0"/>
          </a:p>
        </p:txBody>
      </p:sp>
      <p:sp>
        <p:nvSpPr>
          <p:cNvPr id="43" name="Shape 41"/>
          <p:cNvSpPr/>
          <p:nvPr/>
        </p:nvSpPr>
        <p:spPr>
          <a:xfrm>
            <a:off x="6217920" y="1188720"/>
            <a:ext cx="5559552" cy="2606040"/>
          </a:xfrm>
          <a:prstGeom prst="roundRect">
            <a:avLst>
              <a:gd name="adj" fmla="val 2105"/>
            </a:avLst>
          </a:prstGeom>
          <a:solidFill>
            <a:srgbClr val="F8F5FC"/>
          </a:solidFill>
          <a:ln w="9525">
            <a:solidFill>
              <a:srgbClr val="DDD3EC"/>
            </a:solidFill>
            <a:prstDash val="solid"/>
          </a:ln>
        </p:spPr>
      </p:sp>
      <p:sp>
        <p:nvSpPr>
          <p:cNvPr id="44" name="Text 42"/>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Using Mr with the big numbers</a:t>
            </a:r>
            <a:endParaRPr lang="en-US" sz="1300" dirty="0"/>
          </a:p>
        </p:txBody>
      </p:sp>
      <p:sp>
        <p:nvSpPr>
          <p:cNvPr id="45" name="Text 43"/>
          <p:cNvSpPr/>
          <p:nvPr/>
        </p:nvSpPr>
        <p:spPr>
          <a:xfrm>
            <a:off x="6382512" y="1609344"/>
            <a:ext cx="5230368" cy="211226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Multiply each </a:t>
            </a:r>
            <a:r>
              <a:rPr lang="en-US" sz="1100" b="1" dirty="0">
                <a:solidFill>
                  <a:srgbClr val="262B3A"/>
                </a:solidFill>
                <a:latin typeface="Calibri" pitchFamily="34" charset="0"/>
                <a:ea typeface="Calibri" pitchFamily="34" charset="-122"/>
                <a:cs typeface="Calibri" pitchFamily="34" charset="-120"/>
              </a:rPr>
              <a:t>Mr</a:t>
            </a:r>
            <a:r>
              <a:rPr lang="en-US" sz="1100" dirty="0">
                <a:solidFill>
                  <a:srgbClr val="262B3A"/>
                </a:solidFill>
                <a:latin typeface="Calibri" pitchFamily="34" charset="0"/>
                <a:ea typeface="Calibri" pitchFamily="34" charset="-122"/>
                <a:cs typeface="Calibri" pitchFamily="34" charset="-120"/>
              </a:rPr>
              <a:t> by the </a:t>
            </a:r>
            <a:r>
              <a:rPr lang="en-US" sz="1100" b="1" dirty="0">
                <a:solidFill>
                  <a:srgbClr val="262B3A"/>
                </a:solidFill>
                <a:latin typeface="Calibri" pitchFamily="34" charset="0"/>
                <a:ea typeface="Calibri" pitchFamily="34" charset="-122"/>
                <a:cs typeface="Calibri" pitchFamily="34" charset="-120"/>
              </a:rPr>
              <a:t>balancing number</a:t>
            </a:r>
            <a:r>
              <a:rPr lang="en-US" sz="1100" dirty="0">
                <a:solidFill>
                  <a:srgbClr val="262B3A"/>
                </a:solidFill>
                <a:latin typeface="Calibri" pitchFamily="34" charset="0"/>
                <a:ea typeface="Calibri" pitchFamily="34" charset="-122"/>
                <a:cs typeface="Calibri" pitchFamily="34" charset="-120"/>
              </a:rPr>
              <a:t> (coefficient) in front of the formula.</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Add up each side: total Mr of </a:t>
            </a:r>
            <a:r>
              <a:rPr lang="en-US" sz="1100" b="1" dirty="0">
                <a:solidFill>
                  <a:srgbClr val="262B3A"/>
                </a:solidFill>
                <a:latin typeface="Calibri" pitchFamily="34" charset="0"/>
                <a:ea typeface="Calibri" pitchFamily="34" charset="-122"/>
                <a:cs typeface="Calibri" pitchFamily="34" charset="-120"/>
              </a:rPr>
              <a:t>reactants</a:t>
            </a:r>
            <a:r>
              <a:rPr lang="en-US" sz="1100" dirty="0">
                <a:solidFill>
                  <a:srgbClr val="262B3A"/>
                </a:solidFill>
                <a:latin typeface="Calibri" pitchFamily="34" charset="0"/>
                <a:ea typeface="Calibri" pitchFamily="34" charset="-122"/>
                <a:cs typeface="Calibri" pitchFamily="34" charset="-120"/>
              </a:rPr>
              <a:t> = total Mr of </a:t>
            </a:r>
            <a:r>
              <a:rPr lang="en-US" sz="1100" b="1" dirty="0">
                <a:solidFill>
                  <a:srgbClr val="262B3A"/>
                </a:solidFill>
                <a:latin typeface="Calibri" pitchFamily="34" charset="0"/>
                <a:ea typeface="Calibri" pitchFamily="34" charset="-122"/>
                <a:cs typeface="Calibri" pitchFamily="34" charset="-120"/>
              </a:rPr>
              <a:t>products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This shows </a:t>
            </a:r>
            <a:r>
              <a:rPr lang="en-US" sz="1100" b="1" dirty="0">
                <a:solidFill>
                  <a:srgbClr val="262B3A"/>
                </a:solidFill>
                <a:latin typeface="Calibri" pitchFamily="34" charset="0"/>
                <a:ea typeface="Calibri" pitchFamily="34" charset="-122"/>
                <a:cs typeface="Calibri" pitchFamily="34" charset="-120"/>
              </a:rPr>
              <a:t>mass is conserved</a:t>
            </a:r>
            <a:r>
              <a:rPr lang="en-US" sz="1100" dirty="0">
                <a:solidFill>
                  <a:srgbClr val="262B3A"/>
                </a:solidFill>
                <a:latin typeface="Calibri" pitchFamily="34" charset="0"/>
                <a:ea typeface="Calibri" pitchFamily="34" charset="-122"/>
                <a:cs typeface="Calibri" pitchFamily="34" charset="-120"/>
              </a:rPr>
              <a:t>, and lets you </a:t>
            </a:r>
            <a:r>
              <a:rPr lang="en-US" sz="1100" b="1" dirty="0">
                <a:solidFill>
                  <a:srgbClr val="262B3A"/>
                </a:solidFill>
                <a:latin typeface="Calibri" pitchFamily="34" charset="0"/>
                <a:ea typeface="Calibri" pitchFamily="34" charset="-122"/>
                <a:cs typeface="Calibri" pitchFamily="34" charset="-120"/>
              </a:rPr>
              <a:t>check</a:t>
            </a:r>
            <a:r>
              <a:rPr lang="en-US" sz="1100" dirty="0">
                <a:solidFill>
                  <a:srgbClr val="262B3A"/>
                </a:solidFill>
                <a:latin typeface="Calibri" pitchFamily="34" charset="0"/>
                <a:ea typeface="Calibri" pitchFamily="34" charset="-122"/>
                <a:cs typeface="Calibri" pitchFamily="34" charset="-120"/>
              </a:rPr>
              <a:t> that an equation is balanced.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masses react in this </a:t>
            </a:r>
            <a:r>
              <a:rPr lang="en-US" sz="1100" b="1" dirty="0">
                <a:solidFill>
                  <a:srgbClr val="262B3A"/>
                </a:solidFill>
                <a:latin typeface="Calibri" pitchFamily="34" charset="0"/>
                <a:ea typeface="Calibri" pitchFamily="34" charset="-122"/>
                <a:cs typeface="Calibri" pitchFamily="34" charset="-120"/>
              </a:rPr>
              <a:t>ratio</a:t>
            </a:r>
            <a:r>
              <a:rPr lang="en-US" sz="1100" dirty="0">
                <a:solidFill>
                  <a:srgbClr val="262B3A"/>
                </a:solidFill>
                <a:latin typeface="Calibri" pitchFamily="34" charset="0"/>
                <a:ea typeface="Calibri" pitchFamily="34" charset="-122"/>
                <a:cs typeface="Calibri" pitchFamily="34" charset="-120"/>
              </a:rPr>
              <a:t>: 48.6 g of Mg reacts with 32.0 g of O₂ to make 80.6 g of MgO.</a:t>
            </a:r>
            <a:endParaRPr lang="en-US" sz="1100" dirty="0"/>
          </a:p>
        </p:txBody>
      </p:sp>
      <p:sp>
        <p:nvSpPr>
          <p:cNvPr id="46" name="Shape 44"/>
          <p:cNvSpPr/>
          <p:nvPr/>
        </p:nvSpPr>
        <p:spPr>
          <a:xfrm>
            <a:off x="6217920" y="3931920"/>
            <a:ext cx="5559552" cy="1783080"/>
          </a:xfrm>
          <a:prstGeom prst="roundRect">
            <a:avLst>
              <a:gd name="adj" fmla="val 3077"/>
            </a:avLst>
          </a:prstGeom>
          <a:solidFill>
            <a:srgbClr val="FFF4E0"/>
          </a:solidFill>
          <a:ln w="9525">
            <a:solidFill>
              <a:srgbClr val="F1D9A8"/>
            </a:solidFill>
            <a:prstDash val="solid"/>
          </a:ln>
        </p:spPr>
      </p:sp>
      <p:sp>
        <p:nvSpPr>
          <p:cNvPr id="47" name="Text 45"/>
          <p:cNvSpPr/>
          <p:nvPr/>
        </p:nvSpPr>
        <p:spPr>
          <a:xfrm>
            <a:off x="6382512" y="40050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methane burning</a:t>
            </a:r>
            <a:endParaRPr lang="en-US" sz="1300" dirty="0"/>
          </a:p>
        </p:txBody>
      </p:sp>
      <p:sp>
        <p:nvSpPr>
          <p:cNvPr id="48" name="Text 46"/>
          <p:cNvSpPr/>
          <p:nvPr/>
        </p:nvSpPr>
        <p:spPr>
          <a:xfrm>
            <a:off x="6382512" y="4315968"/>
            <a:ext cx="52303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Show that mass is conserved: CH₄ + 2O₂ → CO₂ + 2H₂O</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Reactants   </a:t>
            </a:r>
            <a:r>
              <a:rPr lang="en-US" sz="1050" dirty="0">
                <a:solidFill>
                  <a:srgbClr val="262B3A"/>
                </a:solidFill>
                <a:latin typeface="Calibri" pitchFamily="34" charset="0"/>
                <a:ea typeface="Calibri" pitchFamily="34" charset="-122"/>
                <a:cs typeface="Calibri" pitchFamily="34" charset="-120"/>
              </a:rPr>
              <a:t>16.0 + (2 × 32.0) = 80.0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Products   </a:t>
            </a:r>
            <a:r>
              <a:rPr lang="en-US" sz="1050" dirty="0">
                <a:solidFill>
                  <a:srgbClr val="262B3A"/>
                </a:solidFill>
                <a:latin typeface="Calibri" pitchFamily="34" charset="0"/>
                <a:ea typeface="Calibri" pitchFamily="34" charset="-122"/>
                <a:cs typeface="Calibri" pitchFamily="34" charset="-120"/>
              </a:rPr>
              <a:t>44.0 + (2 × 18.0) = 80.0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both sides total </a:t>
            </a:r>
            <a:r>
              <a:rPr lang="en-US" sz="1050" b="1" dirty="0">
                <a:solidFill>
                  <a:srgbClr val="C8414C"/>
                </a:solidFill>
                <a:latin typeface="Calibri" pitchFamily="34" charset="0"/>
                <a:ea typeface="Calibri" pitchFamily="34" charset="-122"/>
                <a:cs typeface="Calibri" pitchFamily="34" charset="-120"/>
              </a:rPr>
              <a:t>80.0</a:t>
            </a:r>
            <a:r>
              <a:rPr lang="en-US" sz="1050" b="1" dirty="0">
                <a:solidFill>
                  <a:srgbClr val="C8414C"/>
                </a:solidFill>
                <a:latin typeface="Calibri" pitchFamily="34" charset="0"/>
                <a:ea typeface="Calibri" pitchFamily="34" charset="-122"/>
                <a:cs typeface="Calibri" pitchFamily="34" charset="-120"/>
              </a:rPr>
              <a:t>, so mass is conserved</a:t>
            </a:r>
            <a:endParaRPr lang="en-US" sz="1050" dirty="0"/>
          </a:p>
        </p:txBody>
      </p:sp>
      <p:sp>
        <p:nvSpPr>
          <p:cNvPr id="49" name="Shape 47"/>
          <p:cNvSpPr/>
          <p:nvPr/>
        </p:nvSpPr>
        <p:spPr>
          <a:xfrm>
            <a:off x="411480" y="5833872"/>
            <a:ext cx="11368735" cy="530352"/>
          </a:xfrm>
          <a:prstGeom prst="rect">
            <a:avLst/>
          </a:prstGeom>
          <a:solidFill>
            <a:srgbClr val="FFF4E0"/>
          </a:solidFill>
          <a:ln w="6350">
            <a:solidFill>
              <a:srgbClr val="F1D9A8"/>
            </a:solidFill>
            <a:prstDash val="solid"/>
          </a:ln>
        </p:spPr>
      </p:sp>
      <p:sp>
        <p:nvSpPr>
          <p:cNvPr id="50" name="Shape 48"/>
          <p:cNvSpPr/>
          <p:nvPr/>
        </p:nvSpPr>
        <p:spPr>
          <a:xfrm>
            <a:off x="411480" y="5833872"/>
            <a:ext cx="82296" cy="530352"/>
          </a:xfrm>
          <a:prstGeom prst="rect">
            <a:avLst/>
          </a:prstGeom>
          <a:solidFill>
            <a:srgbClr val="E39A2F"/>
          </a:solidFill>
          <a:ln w="12700">
            <a:solidFill>
              <a:srgbClr val="E39A2F"/>
            </a:solidFill>
            <a:prstDash val="solid"/>
          </a:ln>
        </p:spPr>
      </p:sp>
      <p:sp>
        <p:nvSpPr>
          <p:cNvPr id="51" name="Text 4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Show that mass is conserved in </a:t>
            </a:r>
            <a:r>
              <a:rPr lang="en-US" sz="1150" b="1" dirty="0">
                <a:solidFill>
                  <a:srgbClr val="262B3A"/>
                </a:solidFill>
                <a:latin typeface="Calibri" pitchFamily="34" charset="0"/>
                <a:ea typeface="Calibri" pitchFamily="34" charset="-122"/>
                <a:cs typeface="Calibri" pitchFamily="34" charset="-120"/>
              </a:rPr>
              <a:t>2H₂ + O₂ → 2H₂O</a:t>
            </a:r>
            <a:r>
              <a:rPr lang="en-US" sz="1150" dirty="0">
                <a:solidFill>
                  <a:srgbClr val="262B3A"/>
                </a:solidFill>
                <a:latin typeface="Calibri" pitchFamily="34" charset="0"/>
                <a:ea typeface="Calibri" pitchFamily="34" charset="-122"/>
                <a:cs typeface="Calibri" pitchFamily="34" charset="-120"/>
              </a:rPr>
              <a:t> using Mr values. What mass of water forms from </a:t>
            </a:r>
            <a:r>
              <a:rPr lang="en-US" sz="1150" b="1" dirty="0">
                <a:solidFill>
                  <a:srgbClr val="262B3A"/>
                </a:solidFill>
                <a:latin typeface="Calibri" pitchFamily="34" charset="0"/>
                <a:ea typeface="Calibri" pitchFamily="34" charset="-122"/>
                <a:cs typeface="Calibri" pitchFamily="34" charset="-120"/>
              </a:rPr>
              <a:t>4.0 g</a:t>
            </a:r>
            <a:r>
              <a:rPr lang="en-US" sz="1150" dirty="0">
                <a:solidFill>
                  <a:srgbClr val="262B3A"/>
                </a:solidFill>
                <a:latin typeface="Calibri" pitchFamily="34" charset="0"/>
                <a:ea typeface="Calibri" pitchFamily="34" charset="-122"/>
                <a:cs typeface="Calibri" pitchFamily="34" charset="-120"/>
              </a:rPr>
              <a:t> of hydrogen?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C5.2.3 • relative formula mass • use Ar: H 1.0, C 12.0, N 14.0, O 16.0, S 32.1, Ca 40.1</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10</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relative formula mass of </a:t>
            </a:r>
            <a:r>
              <a:rPr lang="en-US" sz="1250" b="1" dirty="0">
                <a:solidFill>
                  <a:srgbClr val="262B3A"/>
                </a:solidFill>
                <a:latin typeface="Calibri" pitchFamily="34" charset="0"/>
                <a:ea typeface="Calibri" pitchFamily="34" charset="-122"/>
                <a:cs typeface="Calibri" pitchFamily="34" charset="-120"/>
              </a:rPr>
              <a:t>carbon dioxide, CO₂</a:t>
            </a:r>
            <a:r>
              <a:rPr lang="en-US" sz="1250" dirty="0">
                <a:solidFill>
                  <a:srgbClr val="262B3A"/>
                </a:solidFill>
                <a:latin typeface="Calibri" pitchFamily="34" charset="0"/>
                <a:ea typeface="Calibri" pitchFamily="34" charset="-122"/>
                <a:cs typeface="Calibri" pitchFamily="34" charset="-120"/>
              </a:rPr>
              <a:t>, and of </a:t>
            </a:r>
            <a:r>
              <a:rPr lang="en-US" sz="1250" b="1" dirty="0">
                <a:solidFill>
                  <a:srgbClr val="262B3A"/>
                </a:solidFill>
                <a:latin typeface="Calibri" pitchFamily="34" charset="0"/>
                <a:ea typeface="Calibri" pitchFamily="34" charset="-122"/>
                <a:cs typeface="Calibri" pitchFamily="34" charset="-120"/>
              </a:rPr>
              <a:t>water, H₂O</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relative formula mass of </a:t>
            </a:r>
            <a:r>
              <a:rPr lang="en-US" sz="1250" b="1" dirty="0">
                <a:solidFill>
                  <a:srgbClr val="262B3A"/>
                </a:solidFill>
                <a:latin typeface="Calibri" pitchFamily="34" charset="0"/>
                <a:ea typeface="Calibri" pitchFamily="34" charset="-122"/>
                <a:cs typeface="Calibri" pitchFamily="34" charset="-120"/>
              </a:rPr>
              <a:t>calcium hydroxide, Ca(OH)₂</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relative formula mass of </a:t>
            </a:r>
            <a:r>
              <a:rPr lang="en-US" sz="1250" b="1" dirty="0">
                <a:solidFill>
                  <a:srgbClr val="262B3A"/>
                </a:solidFill>
                <a:latin typeface="Calibri" pitchFamily="34" charset="0"/>
                <a:ea typeface="Calibri" pitchFamily="34" charset="-122"/>
                <a:cs typeface="Calibri" pitchFamily="34" charset="-120"/>
              </a:rPr>
              <a:t>ammonium sulfate, (NH₄)₂SO₄</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Mr values to show that mass is conserved in </a:t>
            </a:r>
            <a:r>
              <a:rPr lang="en-US" sz="1250" b="1" dirty="0">
                <a:solidFill>
                  <a:srgbClr val="262B3A"/>
                </a:solidFill>
                <a:latin typeface="Calibri" pitchFamily="34" charset="0"/>
                <a:ea typeface="Calibri" pitchFamily="34" charset="-122"/>
                <a:cs typeface="Calibri" pitchFamily="34" charset="-120"/>
              </a:rPr>
              <a:t>CH₄ + 2O₂ → CO₂ + 2H₂O</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The mole and the Avogadro constant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C5.2.4 • measuring amounts of substance in moles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C5.2.4  |  11</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one mole of each substance; each contains 6.02 × 10²³ particles</a:t>
            </a:r>
            <a:endParaRPr lang="en-US" sz="1000" dirty="0"/>
          </a:p>
        </p:txBody>
      </p:sp>
      <p:sp>
        <p:nvSpPr>
          <p:cNvPr id="12" name="Shape 10"/>
          <p:cNvSpPr/>
          <p:nvPr/>
        </p:nvSpPr>
        <p:spPr>
          <a:xfrm>
            <a:off x="777240" y="2514600"/>
            <a:ext cx="1097280" cy="777240"/>
          </a:xfrm>
          <a:custGeom>
            <a:avLst/>
            <a:gdLst/>
            <a:ahLst/>
            <a:cxnLst/>
            <a:rect l="l" t="t" r="r" b="b"/>
            <a:pathLst>
              <a:path w="1097280" h="777240">
                <a:moveTo>
                  <a:pt x="0" y="777240"/>
                </a:moveTo>
                <a:lnTo>
                  <a:pt x="548640" y="0"/>
                </a:lnTo>
                <a:lnTo>
                  <a:pt x="1097280" y="777240"/>
                </a:lnTo>
                <a:close/>
              </a:path>
            </a:pathLst>
          </a:custGeom>
          <a:solidFill>
            <a:srgbClr val="3A3A3A"/>
          </a:solidFill>
          <a:ln w="12700">
            <a:solidFill>
              <a:srgbClr val="1E1E1E"/>
            </a:solidFill>
            <a:prstDash val="solid"/>
          </a:ln>
        </p:spPr>
      </p:sp>
      <p:sp>
        <p:nvSpPr>
          <p:cNvPr id="13" name="Shape 11"/>
          <p:cNvSpPr/>
          <p:nvPr/>
        </p:nvSpPr>
        <p:spPr>
          <a:xfrm>
            <a:off x="914400" y="3108960"/>
            <a:ext cx="91440" cy="91440"/>
          </a:xfrm>
          <a:prstGeom prst="ellipse">
            <a:avLst/>
          </a:prstGeom>
          <a:solidFill>
            <a:srgbClr val="5A5A5A"/>
          </a:solidFill>
          <a:ln w="6350">
            <a:solidFill>
              <a:srgbClr val="1E1E1E"/>
            </a:solidFill>
            <a:prstDash val="solid"/>
          </a:ln>
        </p:spPr>
      </p:sp>
      <p:sp>
        <p:nvSpPr>
          <p:cNvPr id="14" name="Shape 12"/>
          <p:cNvSpPr/>
          <p:nvPr/>
        </p:nvSpPr>
        <p:spPr>
          <a:xfrm>
            <a:off x="1097280" y="3108960"/>
            <a:ext cx="91440" cy="91440"/>
          </a:xfrm>
          <a:prstGeom prst="ellipse">
            <a:avLst/>
          </a:prstGeom>
          <a:solidFill>
            <a:srgbClr val="5A5A5A"/>
          </a:solidFill>
          <a:ln w="6350">
            <a:solidFill>
              <a:srgbClr val="1E1E1E"/>
            </a:solidFill>
            <a:prstDash val="solid"/>
          </a:ln>
        </p:spPr>
      </p:sp>
      <p:sp>
        <p:nvSpPr>
          <p:cNvPr id="15" name="Shape 13"/>
          <p:cNvSpPr/>
          <p:nvPr/>
        </p:nvSpPr>
        <p:spPr>
          <a:xfrm>
            <a:off x="1280160" y="3108960"/>
            <a:ext cx="91440" cy="91440"/>
          </a:xfrm>
          <a:prstGeom prst="ellipse">
            <a:avLst/>
          </a:prstGeom>
          <a:solidFill>
            <a:srgbClr val="5A5A5A"/>
          </a:solidFill>
          <a:ln w="6350">
            <a:solidFill>
              <a:srgbClr val="1E1E1E"/>
            </a:solidFill>
            <a:prstDash val="solid"/>
          </a:ln>
        </p:spPr>
      </p:sp>
      <p:sp>
        <p:nvSpPr>
          <p:cNvPr id="16" name="Shape 14"/>
          <p:cNvSpPr/>
          <p:nvPr/>
        </p:nvSpPr>
        <p:spPr>
          <a:xfrm>
            <a:off x="1005840" y="2926080"/>
            <a:ext cx="91440" cy="91440"/>
          </a:xfrm>
          <a:prstGeom prst="ellipse">
            <a:avLst/>
          </a:prstGeom>
          <a:solidFill>
            <a:srgbClr val="5A5A5A"/>
          </a:solidFill>
          <a:ln w="6350">
            <a:solidFill>
              <a:srgbClr val="1E1E1E"/>
            </a:solidFill>
            <a:prstDash val="solid"/>
          </a:ln>
        </p:spPr>
      </p:sp>
      <p:sp>
        <p:nvSpPr>
          <p:cNvPr id="17" name="Shape 15"/>
          <p:cNvSpPr/>
          <p:nvPr/>
        </p:nvSpPr>
        <p:spPr>
          <a:xfrm>
            <a:off x="1188720" y="2926080"/>
            <a:ext cx="91440" cy="91440"/>
          </a:xfrm>
          <a:prstGeom prst="ellipse">
            <a:avLst/>
          </a:prstGeom>
          <a:solidFill>
            <a:srgbClr val="5A5A5A"/>
          </a:solidFill>
          <a:ln w="6350">
            <a:solidFill>
              <a:srgbClr val="1E1E1E"/>
            </a:solidFill>
            <a:prstDash val="solid"/>
          </a:ln>
        </p:spPr>
      </p:sp>
      <p:sp>
        <p:nvSpPr>
          <p:cNvPr id="18" name="Shape 16"/>
          <p:cNvSpPr/>
          <p:nvPr/>
        </p:nvSpPr>
        <p:spPr>
          <a:xfrm>
            <a:off x="1371600" y="2926080"/>
            <a:ext cx="91440" cy="91440"/>
          </a:xfrm>
          <a:prstGeom prst="ellipse">
            <a:avLst/>
          </a:prstGeom>
          <a:solidFill>
            <a:srgbClr val="5A5A5A"/>
          </a:solidFill>
          <a:ln w="6350">
            <a:solidFill>
              <a:srgbClr val="1E1E1E"/>
            </a:solidFill>
            <a:prstDash val="solid"/>
          </a:ln>
        </p:spPr>
      </p:sp>
      <p:sp>
        <p:nvSpPr>
          <p:cNvPr id="19" name="Shape 17"/>
          <p:cNvSpPr/>
          <p:nvPr/>
        </p:nvSpPr>
        <p:spPr>
          <a:xfrm>
            <a:off x="914400" y="2743200"/>
            <a:ext cx="91440" cy="91440"/>
          </a:xfrm>
          <a:prstGeom prst="ellipse">
            <a:avLst/>
          </a:prstGeom>
          <a:solidFill>
            <a:srgbClr val="5A5A5A"/>
          </a:solidFill>
          <a:ln w="6350">
            <a:solidFill>
              <a:srgbClr val="1E1E1E"/>
            </a:solidFill>
            <a:prstDash val="solid"/>
          </a:ln>
        </p:spPr>
      </p:sp>
      <p:sp>
        <p:nvSpPr>
          <p:cNvPr id="20" name="Shape 18"/>
          <p:cNvSpPr/>
          <p:nvPr/>
        </p:nvSpPr>
        <p:spPr>
          <a:xfrm>
            <a:off x="1097280" y="2743200"/>
            <a:ext cx="91440" cy="91440"/>
          </a:xfrm>
          <a:prstGeom prst="ellipse">
            <a:avLst/>
          </a:prstGeom>
          <a:solidFill>
            <a:srgbClr val="5A5A5A"/>
          </a:solidFill>
          <a:ln w="6350">
            <a:solidFill>
              <a:srgbClr val="1E1E1E"/>
            </a:solidFill>
            <a:prstDash val="solid"/>
          </a:ln>
        </p:spPr>
      </p:sp>
      <p:sp>
        <p:nvSpPr>
          <p:cNvPr id="21" name="Shape 19"/>
          <p:cNvSpPr/>
          <p:nvPr/>
        </p:nvSpPr>
        <p:spPr>
          <a:xfrm>
            <a:off x="1280160" y="2743200"/>
            <a:ext cx="91440" cy="91440"/>
          </a:xfrm>
          <a:prstGeom prst="ellipse">
            <a:avLst/>
          </a:prstGeom>
          <a:solidFill>
            <a:srgbClr val="5A5A5A"/>
          </a:solidFill>
          <a:ln w="6350">
            <a:solidFill>
              <a:srgbClr val="1E1E1E"/>
            </a:solidFill>
            <a:prstDash val="solid"/>
          </a:ln>
        </p:spPr>
      </p:sp>
      <p:sp>
        <p:nvSpPr>
          <p:cNvPr id="22" name="Shape 20"/>
          <p:cNvSpPr/>
          <p:nvPr/>
        </p:nvSpPr>
        <p:spPr>
          <a:xfrm>
            <a:off x="2468880" y="2606040"/>
            <a:ext cx="502920" cy="640080"/>
          </a:xfrm>
          <a:prstGeom prst="ellipse">
            <a:avLst/>
          </a:prstGeom>
          <a:ln w="38100">
            <a:solidFill>
              <a:srgbClr val="8C96A8"/>
            </a:solidFill>
            <a:prstDash val="solid"/>
          </a:ln>
        </p:spPr>
      </p:sp>
      <p:sp>
        <p:nvSpPr>
          <p:cNvPr id="23" name="Shape 21"/>
          <p:cNvSpPr/>
          <p:nvPr/>
        </p:nvSpPr>
        <p:spPr>
          <a:xfrm>
            <a:off x="2633472" y="2606040"/>
            <a:ext cx="502920" cy="640080"/>
          </a:xfrm>
          <a:prstGeom prst="ellipse">
            <a:avLst/>
          </a:prstGeom>
          <a:ln w="38100">
            <a:solidFill>
              <a:srgbClr val="8C96A8"/>
            </a:solidFill>
            <a:prstDash val="solid"/>
          </a:ln>
        </p:spPr>
      </p:sp>
      <p:sp>
        <p:nvSpPr>
          <p:cNvPr id="24" name="Shape 22"/>
          <p:cNvSpPr/>
          <p:nvPr/>
        </p:nvSpPr>
        <p:spPr>
          <a:xfrm>
            <a:off x="2798064" y="2606040"/>
            <a:ext cx="502920" cy="640080"/>
          </a:xfrm>
          <a:prstGeom prst="ellipse">
            <a:avLst/>
          </a:prstGeom>
          <a:ln w="38100">
            <a:solidFill>
              <a:srgbClr val="8C96A8"/>
            </a:solidFill>
            <a:prstDash val="solid"/>
          </a:ln>
        </p:spPr>
      </p:sp>
      <p:sp>
        <p:nvSpPr>
          <p:cNvPr id="25" name="Shape 23"/>
          <p:cNvSpPr/>
          <p:nvPr/>
        </p:nvSpPr>
        <p:spPr>
          <a:xfrm>
            <a:off x="2962656" y="2606040"/>
            <a:ext cx="502920" cy="640080"/>
          </a:xfrm>
          <a:prstGeom prst="ellipse">
            <a:avLst/>
          </a:prstGeom>
          <a:ln w="38100">
            <a:solidFill>
              <a:srgbClr val="8C96A8"/>
            </a:solidFill>
            <a:prstDash val="solid"/>
          </a:ln>
        </p:spPr>
      </p:sp>
      <p:sp>
        <p:nvSpPr>
          <p:cNvPr id="26" name="Shape 24"/>
          <p:cNvSpPr/>
          <p:nvPr/>
        </p:nvSpPr>
        <p:spPr>
          <a:xfrm>
            <a:off x="4434840" y="2057400"/>
            <a:ext cx="502920" cy="1234440"/>
          </a:xfrm>
          <a:prstGeom prst="rect">
            <a:avLst/>
          </a:prstGeom>
          <a:solidFill>
            <a:srgbClr val="EEF5FB"/>
          </a:solidFill>
          <a:ln w="15875">
            <a:solidFill>
              <a:srgbClr val="2A1F3D"/>
            </a:solidFill>
            <a:prstDash val="solid"/>
          </a:ln>
        </p:spPr>
      </p:sp>
      <p:sp>
        <p:nvSpPr>
          <p:cNvPr id="27" name="Shape 25"/>
          <p:cNvSpPr/>
          <p:nvPr/>
        </p:nvSpPr>
        <p:spPr>
          <a:xfrm>
            <a:off x="4443984" y="2606040"/>
            <a:ext cx="484632" cy="676656"/>
          </a:xfrm>
          <a:prstGeom prst="rect">
            <a:avLst/>
          </a:prstGeom>
          <a:solidFill>
            <a:srgbClr val="CFE4F7"/>
          </a:solidFill>
          <a:ln/>
        </p:spPr>
      </p:sp>
      <p:sp>
        <p:nvSpPr>
          <p:cNvPr id="28" name="Shape 26"/>
          <p:cNvSpPr/>
          <p:nvPr/>
        </p:nvSpPr>
        <p:spPr>
          <a:xfrm>
            <a:off x="4443984" y="2606040"/>
            <a:ext cx="484632" cy="91"/>
          </a:xfrm>
          <a:prstGeom prst="line">
            <a:avLst/>
          </a:prstGeom>
          <a:noFill/>
          <a:ln w="15875">
            <a:solidFill>
              <a:srgbClr val="5B9BD5"/>
            </a:solidFill>
            <a:prstDash val="solid"/>
          </a:ln>
        </p:spPr>
      </p:sp>
      <p:sp>
        <p:nvSpPr>
          <p:cNvPr id="29" name="Shape 27"/>
          <p:cNvSpPr/>
          <p:nvPr/>
        </p:nvSpPr>
        <p:spPr>
          <a:xfrm>
            <a:off x="4297680" y="3291840"/>
            <a:ext cx="777240" cy="73152"/>
          </a:xfrm>
          <a:prstGeom prst="rect">
            <a:avLst/>
          </a:prstGeom>
          <a:solidFill>
            <a:srgbClr val="EEF5FB"/>
          </a:solidFill>
          <a:ln w="12700">
            <a:solidFill>
              <a:srgbClr val="2A1F3D"/>
            </a:solidFill>
            <a:prstDash val="solid"/>
          </a:ln>
        </p:spPr>
      </p:sp>
      <p:sp>
        <p:nvSpPr>
          <p:cNvPr id="30" name="Text 28"/>
          <p:cNvSpPr/>
          <p:nvPr/>
        </p:nvSpPr>
        <p:spPr>
          <a:xfrm>
            <a:off x="457200" y="1371600"/>
            <a:ext cx="173736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Carbon, C</a:t>
            </a:r>
            <a:endParaRPr lang="en-US" sz="1050" dirty="0"/>
          </a:p>
        </p:txBody>
      </p:sp>
      <p:sp>
        <p:nvSpPr>
          <p:cNvPr id="31" name="Text 29"/>
          <p:cNvSpPr/>
          <p:nvPr/>
        </p:nvSpPr>
        <p:spPr>
          <a:xfrm>
            <a:off x="457200" y="1645920"/>
            <a:ext cx="1737360" cy="219456"/>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Ar = 12.0</a:t>
            </a:r>
            <a:endParaRPr lang="en-US" sz="1000" dirty="0"/>
          </a:p>
        </p:txBody>
      </p:sp>
      <p:sp>
        <p:nvSpPr>
          <p:cNvPr id="32" name="Shape 30"/>
          <p:cNvSpPr/>
          <p:nvPr/>
        </p:nvSpPr>
        <p:spPr>
          <a:xfrm>
            <a:off x="548640" y="3520440"/>
            <a:ext cx="1554480" cy="384048"/>
          </a:xfrm>
          <a:prstGeom prst="roundRect">
            <a:avLst>
              <a:gd name="adj" fmla="val 14286"/>
            </a:avLst>
          </a:prstGeom>
          <a:solidFill>
            <a:srgbClr val="FFFFFF"/>
          </a:solidFill>
          <a:ln w="15875">
            <a:solidFill>
              <a:srgbClr val="6A3FA0"/>
            </a:solidFill>
            <a:prstDash val="solid"/>
          </a:ln>
        </p:spPr>
      </p:sp>
      <p:sp>
        <p:nvSpPr>
          <p:cNvPr id="33" name="Text 31"/>
          <p:cNvSpPr/>
          <p:nvPr/>
        </p:nvSpPr>
        <p:spPr>
          <a:xfrm>
            <a:off x="603504" y="3520440"/>
            <a:ext cx="1444752" cy="384048"/>
          </a:xfrm>
          <a:prstGeom prst="rect">
            <a:avLst/>
          </a:prstGeom>
          <a:noFill/>
          <a:ln/>
        </p:spPr>
        <p:txBody>
          <a:bodyPr wrap="square" lIns="0" tIns="0" rIns="0" bIns="0" rtlCol="0" anchor="ctr"/>
          <a:lstStyle/>
          <a:p>
            <a:pPr algn="ctr" indent="0" marL="0">
              <a:buNone/>
            </a:pPr>
            <a:r>
              <a:rPr lang="en-US" sz="1150" b="1" dirty="0">
                <a:solidFill>
                  <a:srgbClr val="262B3A"/>
                </a:solidFill>
                <a:latin typeface="Calibri" pitchFamily="34" charset="0"/>
                <a:ea typeface="Calibri" pitchFamily="34" charset="-122"/>
                <a:cs typeface="Calibri" pitchFamily="34" charset="-120"/>
              </a:rPr>
              <a:t>12.0 g</a:t>
            </a:r>
            <a:endParaRPr lang="en-US" sz="1150" dirty="0"/>
          </a:p>
        </p:txBody>
      </p:sp>
      <p:sp>
        <p:nvSpPr>
          <p:cNvPr id="34" name="Text 32"/>
          <p:cNvSpPr/>
          <p:nvPr/>
        </p:nvSpPr>
        <p:spPr>
          <a:xfrm>
            <a:off x="457200" y="3950208"/>
            <a:ext cx="1737360" cy="237744"/>
          </a:xfrm>
          <a:prstGeom prst="rect">
            <a:avLst/>
          </a:prstGeom>
          <a:noFill/>
          <a:ln/>
        </p:spPr>
        <p:txBody>
          <a:bodyPr wrap="square" lIns="0" tIns="0" rIns="0" bIns="0" rtlCol="0" anchor="ctr"/>
          <a:lstStyle/>
          <a:p>
            <a:pPr algn="ctr" indent="0" marL="0">
              <a:buNone/>
            </a:pPr>
            <a:r>
              <a:rPr lang="en-US" sz="1100" dirty="0">
                <a:solidFill>
                  <a:srgbClr val="6A3FA0"/>
                </a:solidFill>
                <a:latin typeface="Calibri" pitchFamily="34" charset="0"/>
                <a:ea typeface="Calibri" pitchFamily="34" charset="-122"/>
                <a:cs typeface="Calibri" pitchFamily="34" charset="-120"/>
              </a:rPr>
              <a:t>= </a:t>
            </a:r>
            <a:r>
              <a:rPr lang="en-US" sz="1100" b="1" dirty="0">
                <a:solidFill>
                  <a:srgbClr val="6A3FA0"/>
                </a:solidFill>
                <a:latin typeface="Calibri" pitchFamily="34" charset="0"/>
                <a:ea typeface="Calibri" pitchFamily="34" charset="-122"/>
                <a:cs typeface="Calibri" pitchFamily="34" charset="-120"/>
              </a:rPr>
              <a:t>1 mol</a:t>
            </a:r>
            <a:endParaRPr lang="en-US" sz="1100" dirty="0"/>
          </a:p>
        </p:txBody>
      </p:sp>
      <p:sp>
        <p:nvSpPr>
          <p:cNvPr id="35" name="Text 33"/>
          <p:cNvSpPr/>
          <p:nvPr/>
        </p:nvSpPr>
        <p:spPr>
          <a:xfrm>
            <a:off x="2103120" y="1371600"/>
            <a:ext cx="173736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Magnesium, Mg</a:t>
            </a:r>
            <a:endParaRPr lang="en-US" sz="1050" dirty="0"/>
          </a:p>
        </p:txBody>
      </p:sp>
      <p:sp>
        <p:nvSpPr>
          <p:cNvPr id="36" name="Text 34"/>
          <p:cNvSpPr/>
          <p:nvPr/>
        </p:nvSpPr>
        <p:spPr>
          <a:xfrm>
            <a:off x="2103120" y="1645920"/>
            <a:ext cx="1737360" cy="219456"/>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Ar = 24.3</a:t>
            </a:r>
            <a:endParaRPr lang="en-US" sz="1000" dirty="0"/>
          </a:p>
        </p:txBody>
      </p:sp>
      <p:sp>
        <p:nvSpPr>
          <p:cNvPr id="37" name="Shape 35"/>
          <p:cNvSpPr/>
          <p:nvPr/>
        </p:nvSpPr>
        <p:spPr>
          <a:xfrm>
            <a:off x="2194560" y="3520440"/>
            <a:ext cx="1554480" cy="384048"/>
          </a:xfrm>
          <a:prstGeom prst="roundRect">
            <a:avLst>
              <a:gd name="adj" fmla="val 14286"/>
            </a:avLst>
          </a:prstGeom>
          <a:solidFill>
            <a:srgbClr val="FFFFFF"/>
          </a:solidFill>
          <a:ln w="15875">
            <a:solidFill>
              <a:srgbClr val="6A3FA0"/>
            </a:solidFill>
            <a:prstDash val="solid"/>
          </a:ln>
        </p:spPr>
      </p:sp>
      <p:sp>
        <p:nvSpPr>
          <p:cNvPr id="38" name="Text 36"/>
          <p:cNvSpPr/>
          <p:nvPr/>
        </p:nvSpPr>
        <p:spPr>
          <a:xfrm>
            <a:off x="2249424" y="3520440"/>
            <a:ext cx="1444752" cy="384048"/>
          </a:xfrm>
          <a:prstGeom prst="rect">
            <a:avLst/>
          </a:prstGeom>
          <a:noFill/>
          <a:ln/>
        </p:spPr>
        <p:txBody>
          <a:bodyPr wrap="square" lIns="0" tIns="0" rIns="0" bIns="0" rtlCol="0" anchor="ctr"/>
          <a:lstStyle/>
          <a:p>
            <a:pPr algn="ctr" indent="0" marL="0">
              <a:buNone/>
            </a:pPr>
            <a:r>
              <a:rPr lang="en-US" sz="1150" b="1" dirty="0">
                <a:solidFill>
                  <a:srgbClr val="262B3A"/>
                </a:solidFill>
                <a:latin typeface="Calibri" pitchFamily="34" charset="0"/>
                <a:ea typeface="Calibri" pitchFamily="34" charset="-122"/>
                <a:cs typeface="Calibri" pitchFamily="34" charset="-120"/>
              </a:rPr>
              <a:t>24.3 g</a:t>
            </a:r>
            <a:endParaRPr lang="en-US" sz="1150" dirty="0"/>
          </a:p>
        </p:txBody>
      </p:sp>
      <p:sp>
        <p:nvSpPr>
          <p:cNvPr id="39" name="Text 37"/>
          <p:cNvSpPr/>
          <p:nvPr/>
        </p:nvSpPr>
        <p:spPr>
          <a:xfrm>
            <a:off x="2103120" y="3950208"/>
            <a:ext cx="1737360" cy="237744"/>
          </a:xfrm>
          <a:prstGeom prst="rect">
            <a:avLst/>
          </a:prstGeom>
          <a:noFill/>
          <a:ln/>
        </p:spPr>
        <p:txBody>
          <a:bodyPr wrap="square" lIns="0" tIns="0" rIns="0" bIns="0" rtlCol="0" anchor="ctr"/>
          <a:lstStyle/>
          <a:p>
            <a:pPr algn="ctr" indent="0" marL="0">
              <a:buNone/>
            </a:pPr>
            <a:r>
              <a:rPr lang="en-US" sz="1100" dirty="0">
                <a:solidFill>
                  <a:srgbClr val="6A3FA0"/>
                </a:solidFill>
                <a:latin typeface="Calibri" pitchFamily="34" charset="0"/>
                <a:ea typeface="Calibri" pitchFamily="34" charset="-122"/>
                <a:cs typeface="Calibri" pitchFamily="34" charset="-120"/>
              </a:rPr>
              <a:t>= </a:t>
            </a:r>
            <a:r>
              <a:rPr lang="en-US" sz="1100" b="1" dirty="0">
                <a:solidFill>
                  <a:srgbClr val="6A3FA0"/>
                </a:solidFill>
                <a:latin typeface="Calibri" pitchFamily="34" charset="0"/>
                <a:ea typeface="Calibri" pitchFamily="34" charset="-122"/>
                <a:cs typeface="Calibri" pitchFamily="34" charset="-120"/>
              </a:rPr>
              <a:t>1 mol</a:t>
            </a:r>
            <a:endParaRPr lang="en-US" sz="1100" dirty="0"/>
          </a:p>
        </p:txBody>
      </p:sp>
      <p:sp>
        <p:nvSpPr>
          <p:cNvPr id="40" name="Text 38"/>
          <p:cNvSpPr/>
          <p:nvPr/>
        </p:nvSpPr>
        <p:spPr>
          <a:xfrm>
            <a:off x="3813048" y="1371600"/>
            <a:ext cx="173736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Water, H₂O</a:t>
            </a:r>
            <a:endParaRPr lang="en-US" sz="1050" dirty="0"/>
          </a:p>
        </p:txBody>
      </p:sp>
      <p:sp>
        <p:nvSpPr>
          <p:cNvPr id="41" name="Text 39"/>
          <p:cNvSpPr/>
          <p:nvPr/>
        </p:nvSpPr>
        <p:spPr>
          <a:xfrm>
            <a:off x="3813048" y="1645920"/>
            <a:ext cx="1737360" cy="219456"/>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Mr = 18.0</a:t>
            </a:r>
            <a:endParaRPr lang="en-US" sz="1000" dirty="0"/>
          </a:p>
        </p:txBody>
      </p:sp>
      <p:sp>
        <p:nvSpPr>
          <p:cNvPr id="42" name="Shape 40"/>
          <p:cNvSpPr/>
          <p:nvPr/>
        </p:nvSpPr>
        <p:spPr>
          <a:xfrm>
            <a:off x="3904488" y="3520440"/>
            <a:ext cx="1554480" cy="384048"/>
          </a:xfrm>
          <a:prstGeom prst="roundRect">
            <a:avLst>
              <a:gd name="adj" fmla="val 14286"/>
            </a:avLst>
          </a:prstGeom>
          <a:solidFill>
            <a:srgbClr val="FFFFFF"/>
          </a:solidFill>
          <a:ln w="15875">
            <a:solidFill>
              <a:srgbClr val="6A3FA0"/>
            </a:solidFill>
            <a:prstDash val="solid"/>
          </a:ln>
        </p:spPr>
      </p:sp>
      <p:sp>
        <p:nvSpPr>
          <p:cNvPr id="43" name="Text 41"/>
          <p:cNvSpPr/>
          <p:nvPr/>
        </p:nvSpPr>
        <p:spPr>
          <a:xfrm>
            <a:off x="3959352" y="3520440"/>
            <a:ext cx="1444752" cy="384048"/>
          </a:xfrm>
          <a:prstGeom prst="rect">
            <a:avLst/>
          </a:prstGeom>
          <a:noFill/>
          <a:ln/>
        </p:spPr>
        <p:txBody>
          <a:bodyPr wrap="square" lIns="0" tIns="0" rIns="0" bIns="0" rtlCol="0" anchor="ctr"/>
          <a:lstStyle/>
          <a:p>
            <a:pPr algn="ctr" indent="0" marL="0">
              <a:buNone/>
            </a:pPr>
            <a:r>
              <a:rPr lang="en-US" sz="1150" b="1" dirty="0">
                <a:solidFill>
                  <a:srgbClr val="262B3A"/>
                </a:solidFill>
                <a:latin typeface="Calibri" pitchFamily="34" charset="0"/>
                <a:ea typeface="Calibri" pitchFamily="34" charset="-122"/>
                <a:cs typeface="Calibri" pitchFamily="34" charset="-120"/>
              </a:rPr>
              <a:t>18.0 g (18 cm³)</a:t>
            </a:r>
            <a:endParaRPr lang="en-US" sz="1150" dirty="0"/>
          </a:p>
        </p:txBody>
      </p:sp>
      <p:sp>
        <p:nvSpPr>
          <p:cNvPr id="44" name="Text 42"/>
          <p:cNvSpPr/>
          <p:nvPr/>
        </p:nvSpPr>
        <p:spPr>
          <a:xfrm>
            <a:off x="3813048" y="3950208"/>
            <a:ext cx="1737360" cy="237744"/>
          </a:xfrm>
          <a:prstGeom prst="rect">
            <a:avLst/>
          </a:prstGeom>
          <a:noFill/>
          <a:ln/>
        </p:spPr>
        <p:txBody>
          <a:bodyPr wrap="square" lIns="0" tIns="0" rIns="0" bIns="0" rtlCol="0" anchor="ctr"/>
          <a:lstStyle/>
          <a:p>
            <a:pPr algn="ctr" indent="0" marL="0">
              <a:buNone/>
            </a:pPr>
            <a:r>
              <a:rPr lang="en-US" sz="1100" dirty="0">
                <a:solidFill>
                  <a:srgbClr val="6A3FA0"/>
                </a:solidFill>
                <a:latin typeface="Calibri" pitchFamily="34" charset="0"/>
                <a:ea typeface="Calibri" pitchFamily="34" charset="-122"/>
                <a:cs typeface="Calibri" pitchFamily="34" charset="-120"/>
              </a:rPr>
              <a:t>= </a:t>
            </a:r>
            <a:r>
              <a:rPr lang="en-US" sz="1100" b="1" dirty="0">
                <a:solidFill>
                  <a:srgbClr val="6A3FA0"/>
                </a:solidFill>
                <a:latin typeface="Calibri" pitchFamily="34" charset="0"/>
                <a:ea typeface="Calibri" pitchFamily="34" charset="-122"/>
                <a:cs typeface="Calibri" pitchFamily="34" charset="-120"/>
              </a:rPr>
              <a:t>1 mol</a:t>
            </a:r>
            <a:endParaRPr lang="en-US" sz="1100" dirty="0"/>
          </a:p>
        </p:txBody>
      </p:sp>
      <p:sp>
        <p:nvSpPr>
          <p:cNvPr id="45" name="Shape 43"/>
          <p:cNvSpPr/>
          <p:nvPr/>
        </p:nvSpPr>
        <p:spPr>
          <a:xfrm>
            <a:off x="685800" y="4343400"/>
            <a:ext cx="5029200" cy="457200"/>
          </a:xfrm>
          <a:prstGeom prst="roundRect">
            <a:avLst>
              <a:gd name="adj" fmla="val 12000"/>
            </a:avLst>
          </a:prstGeom>
          <a:solidFill>
            <a:srgbClr val="FBE3E4"/>
          </a:solidFill>
          <a:ln w="12700">
            <a:solidFill>
              <a:srgbClr val="C8414C"/>
            </a:solidFill>
            <a:prstDash val="solid"/>
          </a:ln>
        </p:spPr>
      </p:sp>
      <p:sp>
        <p:nvSpPr>
          <p:cNvPr id="46" name="Text 44"/>
          <p:cNvSpPr/>
          <p:nvPr/>
        </p:nvSpPr>
        <p:spPr>
          <a:xfrm>
            <a:off x="740664" y="4343400"/>
            <a:ext cx="4919472" cy="457200"/>
          </a:xfrm>
          <a:prstGeom prst="rect">
            <a:avLst/>
          </a:prstGeom>
          <a:noFill/>
          <a:ln/>
        </p:spPr>
        <p:txBody>
          <a:bodyPr wrap="square" lIns="0" tIns="0" rIns="0" bIns="0" rtlCol="0" anchor="ctr"/>
          <a:lstStyle/>
          <a:p>
            <a:pPr algn="ctr" indent="0" marL="0">
              <a:buNone/>
            </a:pPr>
            <a:r>
              <a:rPr lang="en-US" sz="1150" dirty="0">
                <a:solidFill>
                  <a:srgbClr val="262B3A"/>
                </a:solidFill>
                <a:latin typeface="Calibri" pitchFamily="34" charset="0"/>
                <a:ea typeface="Calibri" pitchFamily="34" charset="-122"/>
                <a:cs typeface="Calibri" pitchFamily="34" charset="-120"/>
              </a:rPr>
              <a:t>Each pile contains </a:t>
            </a:r>
            <a:r>
              <a:rPr lang="en-US" sz="1150" b="1" dirty="0">
                <a:solidFill>
                  <a:srgbClr val="262B3A"/>
                </a:solidFill>
                <a:latin typeface="Calibri" pitchFamily="34" charset="0"/>
                <a:ea typeface="Calibri" pitchFamily="34" charset="-122"/>
                <a:cs typeface="Calibri" pitchFamily="34" charset="-120"/>
              </a:rPr>
              <a:t>6.02 × 10²³</a:t>
            </a:r>
            <a:r>
              <a:rPr lang="en-US" sz="1150" dirty="0">
                <a:solidFill>
                  <a:srgbClr val="262B3A"/>
                </a:solidFill>
                <a:latin typeface="Calibri" pitchFamily="34" charset="0"/>
                <a:ea typeface="Calibri" pitchFamily="34" charset="-122"/>
                <a:cs typeface="Calibri" pitchFamily="34" charset="-120"/>
              </a:rPr>
              <a:t> particles (atoms or molecules)</a:t>
            </a:r>
            <a:endParaRPr lang="en-US" sz="1150" dirty="0"/>
          </a:p>
        </p:txBody>
      </p:sp>
      <p:sp>
        <p:nvSpPr>
          <p:cNvPr id="47" name="Text 45"/>
          <p:cNvSpPr/>
          <p:nvPr/>
        </p:nvSpPr>
        <p:spPr>
          <a:xfrm>
            <a:off x="640080" y="4892040"/>
            <a:ext cx="5120640" cy="41148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Like a “dozen” means 12, a “mole” means 602 000 000 000 000 000 000 000</a:t>
            </a:r>
            <a:endParaRPr lang="en-US" sz="1000" dirty="0"/>
          </a:p>
        </p:txBody>
      </p:sp>
      <p:sp>
        <p:nvSpPr>
          <p:cNvPr id="48" name="Shape 46"/>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49" name="Text 4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Counting particles by weighing</a:t>
            </a:r>
            <a:endParaRPr lang="en-US" sz="1300" dirty="0"/>
          </a:p>
        </p:txBody>
      </p:sp>
      <p:sp>
        <p:nvSpPr>
          <p:cNvPr id="50" name="Text 48"/>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Atoms are far too small to count, so chemists count them in </a:t>
            </a:r>
            <a:r>
              <a:rPr lang="en-US" sz="1150" b="1" dirty="0">
                <a:solidFill>
                  <a:srgbClr val="262B3A"/>
                </a:solidFill>
                <a:latin typeface="Calibri" pitchFamily="34" charset="0"/>
                <a:ea typeface="Calibri" pitchFamily="34" charset="-122"/>
                <a:cs typeface="Calibri" pitchFamily="34" charset="-120"/>
              </a:rPr>
              <a:t>moles</a:t>
            </a:r>
            <a:r>
              <a:rPr lang="en-US" sz="1150" dirty="0">
                <a:solidFill>
                  <a:srgbClr val="262B3A"/>
                </a:solidFill>
                <a:latin typeface="Calibri" pitchFamily="34" charset="0"/>
                <a:ea typeface="Calibri" pitchFamily="34" charset="-122"/>
                <a:cs typeface="Calibri" pitchFamily="34" charset="-120"/>
              </a:rPr>
              <a:t> (unit </a:t>
            </a:r>
            <a:r>
              <a:rPr lang="en-US" sz="1150" b="1" dirty="0">
                <a:solidFill>
                  <a:srgbClr val="262B3A"/>
                </a:solidFill>
                <a:latin typeface="Calibri" pitchFamily="34" charset="0"/>
                <a:ea typeface="Calibri" pitchFamily="34" charset="-122"/>
                <a:cs typeface="Calibri" pitchFamily="34" charset="-120"/>
              </a:rPr>
              <a:t>mol</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One mole</a:t>
            </a:r>
            <a:r>
              <a:rPr lang="en-US" sz="1150" dirty="0">
                <a:solidFill>
                  <a:srgbClr val="262B3A"/>
                </a:solidFill>
                <a:latin typeface="Calibri" pitchFamily="34" charset="0"/>
                <a:ea typeface="Calibri" pitchFamily="34" charset="-122"/>
                <a:cs typeface="Calibri" pitchFamily="34" charset="-120"/>
              </a:rPr>
              <a:t> contains </a:t>
            </a:r>
            <a:r>
              <a:rPr lang="en-US" sz="1150" b="1" dirty="0">
                <a:solidFill>
                  <a:srgbClr val="262B3A"/>
                </a:solidFill>
                <a:latin typeface="Calibri" pitchFamily="34" charset="0"/>
                <a:ea typeface="Calibri" pitchFamily="34" charset="-122"/>
                <a:cs typeface="Calibri" pitchFamily="34" charset="-120"/>
              </a:rPr>
              <a:t>6.02 × 10²³</a:t>
            </a:r>
            <a:r>
              <a:rPr lang="en-US" sz="1150" dirty="0">
                <a:solidFill>
                  <a:srgbClr val="262B3A"/>
                </a:solidFill>
                <a:latin typeface="Calibri" pitchFamily="34" charset="0"/>
                <a:ea typeface="Calibri" pitchFamily="34" charset="-122"/>
                <a:cs typeface="Calibri" pitchFamily="34" charset="-120"/>
              </a:rPr>
              <a:t> particles: the </a:t>
            </a:r>
            <a:r>
              <a:rPr lang="en-US" sz="1150" b="1" dirty="0">
                <a:solidFill>
                  <a:srgbClr val="262B3A"/>
                </a:solidFill>
                <a:latin typeface="Calibri" pitchFamily="34" charset="0"/>
                <a:ea typeface="Calibri" pitchFamily="34" charset="-122"/>
                <a:cs typeface="Calibri" pitchFamily="34" charset="-120"/>
              </a:rPr>
              <a:t>Avogadro constant</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mass of 1 mole of a substance is its </a:t>
            </a:r>
            <a:r>
              <a:rPr lang="en-US" sz="1150" b="1" dirty="0">
                <a:solidFill>
                  <a:srgbClr val="262B3A"/>
                </a:solidFill>
                <a:latin typeface="Calibri" pitchFamily="34" charset="0"/>
                <a:ea typeface="Calibri" pitchFamily="34" charset="-122"/>
                <a:cs typeface="Calibri" pitchFamily="34" charset="-120"/>
              </a:rPr>
              <a:t>Ar or Mr in grams</a:t>
            </a:r>
            <a:r>
              <a:rPr lang="en-US" sz="1150" dirty="0">
                <a:solidFill>
                  <a:srgbClr val="262B3A"/>
                </a:solidFill>
                <a:latin typeface="Calibri" pitchFamily="34" charset="0"/>
                <a:ea typeface="Calibri" pitchFamily="34" charset="-122"/>
                <a:cs typeface="Calibri" pitchFamily="34" charset="-120"/>
              </a:rPr>
              <a:t> (its </a:t>
            </a:r>
            <a:r>
              <a:rPr lang="en-US" sz="1150" b="1" dirty="0">
                <a:solidFill>
                  <a:srgbClr val="262B3A"/>
                </a:solidFill>
                <a:latin typeface="Calibri" pitchFamily="34" charset="0"/>
                <a:ea typeface="Calibri" pitchFamily="34" charset="-122"/>
                <a:cs typeface="Calibri" pitchFamily="34" charset="-120"/>
              </a:rPr>
              <a:t>molar mass</a:t>
            </a:r>
            <a:r>
              <a:rPr lang="en-US" sz="1150" dirty="0">
                <a:solidFill>
                  <a:srgbClr val="262B3A"/>
                </a:solidFill>
                <a:latin typeface="Calibri" pitchFamily="34" charset="0"/>
                <a:ea typeface="Calibri" pitchFamily="34" charset="-122"/>
                <a:cs typeface="Calibri" pitchFamily="34" charset="-120"/>
              </a:rPr>
              <a:t>, g/mol).</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1 mol of C = 12.0 g; 1 mol of CO₂ = 44.0 g. Both contain the </a:t>
            </a:r>
            <a:r>
              <a:rPr lang="en-US" sz="1150" b="1" dirty="0">
                <a:solidFill>
                  <a:srgbClr val="262B3A"/>
                </a:solidFill>
                <a:latin typeface="Calibri" pitchFamily="34" charset="0"/>
                <a:ea typeface="Calibri" pitchFamily="34" charset="-122"/>
                <a:cs typeface="Calibri" pitchFamily="34" charset="-120"/>
              </a:rPr>
              <a:t>same number</a:t>
            </a:r>
            <a:r>
              <a:rPr lang="en-US" sz="1150" dirty="0">
                <a:solidFill>
                  <a:srgbClr val="262B3A"/>
                </a:solidFill>
                <a:latin typeface="Calibri" pitchFamily="34" charset="0"/>
                <a:ea typeface="Calibri" pitchFamily="34" charset="-122"/>
                <a:cs typeface="Calibri" pitchFamily="34" charset="-120"/>
              </a:rPr>
              <a:t> of particles.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number of particles = </a:t>
            </a:r>
            <a:r>
              <a:rPr lang="en-US" sz="1150" b="1" dirty="0">
                <a:solidFill>
                  <a:srgbClr val="262B3A"/>
                </a:solidFill>
                <a:latin typeface="Calibri" pitchFamily="34" charset="0"/>
                <a:ea typeface="Calibri" pitchFamily="34" charset="-122"/>
                <a:cs typeface="Calibri" pitchFamily="34" charset="-120"/>
              </a:rPr>
              <a:t>moles × 6.02 × 10²³</a:t>
            </a:r>
            <a:endParaRPr lang="en-US" sz="1150" dirty="0"/>
          </a:p>
        </p:txBody>
      </p:sp>
      <p:sp>
        <p:nvSpPr>
          <p:cNvPr id="51" name="Shape 49"/>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52" name="Text 50"/>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number of molecules</a:t>
            </a:r>
            <a:endParaRPr lang="en-US" sz="1300" dirty="0"/>
          </a:p>
        </p:txBody>
      </p:sp>
      <p:sp>
        <p:nvSpPr>
          <p:cNvPr id="53" name="Text 51"/>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How many molecules are in 2.5 mol of water?</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Multiply   </a:t>
            </a:r>
            <a:r>
              <a:rPr lang="en-US" sz="1050" dirty="0">
                <a:solidFill>
                  <a:srgbClr val="262B3A"/>
                </a:solidFill>
                <a:latin typeface="Calibri" pitchFamily="34" charset="0"/>
                <a:ea typeface="Calibri" pitchFamily="34" charset="-122"/>
                <a:cs typeface="Calibri" pitchFamily="34" charset="-120"/>
              </a:rPr>
              <a:t>2.5 × 6.02 × 10²³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 15.05 × 10²³ = </a:t>
            </a:r>
            <a:r>
              <a:rPr lang="en-US" sz="1050" b="1" dirty="0">
                <a:solidFill>
                  <a:srgbClr val="C8414C"/>
                </a:solidFill>
                <a:latin typeface="Calibri" pitchFamily="34" charset="0"/>
                <a:ea typeface="Calibri" pitchFamily="34" charset="-122"/>
                <a:cs typeface="Calibri" pitchFamily="34" charset="-120"/>
              </a:rPr>
              <a:t>1.5 × 10²⁴</a:t>
            </a:r>
            <a:r>
              <a:rPr lang="en-US" sz="1050" b="1" dirty="0">
                <a:solidFill>
                  <a:srgbClr val="C8414C"/>
                </a:solidFill>
                <a:latin typeface="Calibri" pitchFamily="34" charset="0"/>
                <a:ea typeface="Calibri" pitchFamily="34" charset="-122"/>
                <a:cs typeface="Calibri" pitchFamily="34" charset="-120"/>
              </a:rPr>
              <a:t> molecules (2 s.f.)</a:t>
            </a:r>
            <a:endParaRPr lang="en-US" sz="1050" dirty="0"/>
          </a:p>
        </p:txBody>
      </p:sp>
      <p:sp>
        <p:nvSpPr>
          <p:cNvPr id="54"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5"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6"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How many </a:t>
            </a:r>
            <a:r>
              <a:rPr lang="en-US" sz="1150" b="1" dirty="0">
                <a:solidFill>
                  <a:srgbClr val="262B3A"/>
                </a:solidFill>
                <a:latin typeface="Calibri" pitchFamily="34" charset="0"/>
                <a:ea typeface="Calibri" pitchFamily="34" charset="-122"/>
                <a:cs typeface="Calibri" pitchFamily="34" charset="-120"/>
              </a:rPr>
              <a:t>atoms</a:t>
            </a:r>
            <a:r>
              <a:rPr lang="en-US" sz="1150" dirty="0">
                <a:solidFill>
                  <a:srgbClr val="262B3A"/>
                </a:solidFill>
                <a:latin typeface="Calibri" pitchFamily="34" charset="0"/>
                <a:ea typeface="Calibri" pitchFamily="34" charset="-122"/>
                <a:cs typeface="Calibri" pitchFamily="34" charset="-120"/>
              </a:rPr>
              <a:t> are in </a:t>
            </a:r>
            <a:r>
              <a:rPr lang="en-US" sz="1150" b="1" dirty="0">
                <a:solidFill>
                  <a:srgbClr val="262B3A"/>
                </a:solidFill>
                <a:latin typeface="Calibri" pitchFamily="34" charset="0"/>
                <a:ea typeface="Calibri" pitchFamily="34" charset="-122"/>
                <a:cs typeface="Calibri" pitchFamily="34" charset="-120"/>
              </a:rPr>
              <a:t>0.50 mol</a:t>
            </a:r>
            <a:r>
              <a:rPr lang="en-US" sz="1150" dirty="0">
                <a:solidFill>
                  <a:srgbClr val="262B3A"/>
                </a:solidFill>
                <a:latin typeface="Calibri" pitchFamily="34" charset="0"/>
                <a:ea typeface="Calibri" pitchFamily="34" charset="-122"/>
                <a:cs typeface="Calibri" pitchFamily="34" charset="-120"/>
              </a:rPr>
              <a:t> of magnesium? What is the mass of </a:t>
            </a:r>
            <a:r>
              <a:rPr lang="en-US" sz="1150" b="1" dirty="0">
                <a:solidFill>
                  <a:srgbClr val="262B3A"/>
                </a:solidFill>
                <a:latin typeface="Calibri" pitchFamily="34" charset="0"/>
                <a:ea typeface="Calibri" pitchFamily="34" charset="-122"/>
                <a:cs typeface="Calibri" pitchFamily="34" charset="-120"/>
              </a:rPr>
              <a:t>1 mol</a:t>
            </a:r>
            <a:r>
              <a:rPr lang="en-US" sz="1150" dirty="0">
                <a:solidFill>
                  <a:srgbClr val="262B3A"/>
                </a:solidFill>
                <a:latin typeface="Calibri" pitchFamily="34" charset="0"/>
                <a:ea typeface="Calibri" pitchFamily="34" charset="-122"/>
                <a:cs typeface="Calibri" pitchFamily="34" charset="-120"/>
              </a:rPr>
              <a:t> of </a:t>
            </a:r>
            <a:r>
              <a:rPr lang="en-US" sz="1150" b="1" dirty="0">
                <a:solidFill>
                  <a:srgbClr val="262B3A"/>
                </a:solidFill>
                <a:latin typeface="Calibri" pitchFamily="34" charset="0"/>
                <a:ea typeface="Calibri" pitchFamily="34" charset="-122"/>
                <a:cs typeface="Calibri" pitchFamily="34" charset="-120"/>
              </a:rPr>
              <a:t>CO₂</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Converting mass and moles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C5.2.5 • how the mass of a substance is related to its amount in moles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C5.2.5  |  12</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cover the quantity you want; the other two show the calculation</a:t>
            </a:r>
            <a:endParaRPr lang="en-US" sz="1000" dirty="0"/>
          </a:p>
        </p:txBody>
      </p:sp>
      <p:sp>
        <p:nvSpPr>
          <p:cNvPr id="12" name="Shape 10"/>
          <p:cNvSpPr/>
          <p:nvPr/>
        </p:nvSpPr>
        <p:spPr>
          <a:xfrm>
            <a:off x="685800" y="1417320"/>
            <a:ext cx="2560320" cy="2011680"/>
          </a:xfrm>
          <a:custGeom>
            <a:avLst/>
            <a:gdLst/>
            <a:ahLst/>
            <a:cxnLst/>
            <a:rect l="l" t="t" r="r" b="b"/>
            <a:pathLst>
              <a:path w="2560320" h="2011680">
                <a:moveTo>
                  <a:pt x="1280160" y="0"/>
                </a:moveTo>
                <a:lnTo>
                  <a:pt x="2560320" y="2011680"/>
                </a:lnTo>
                <a:lnTo>
                  <a:pt x="0" y="2011680"/>
                </a:lnTo>
                <a:close/>
              </a:path>
            </a:pathLst>
          </a:custGeom>
          <a:solidFill>
            <a:srgbClr val="FFFFFF"/>
          </a:solidFill>
          <a:ln w="25400">
            <a:solidFill>
              <a:srgbClr val="6A3FA0"/>
            </a:solidFill>
            <a:prstDash val="solid"/>
          </a:ln>
        </p:spPr>
      </p:sp>
      <p:sp>
        <p:nvSpPr>
          <p:cNvPr id="13" name="Shape 11"/>
          <p:cNvSpPr/>
          <p:nvPr/>
        </p:nvSpPr>
        <p:spPr>
          <a:xfrm>
            <a:off x="1325880" y="2423160"/>
            <a:ext cx="1280160" cy="91"/>
          </a:xfrm>
          <a:prstGeom prst="line">
            <a:avLst/>
          </a:prstGeom>
          <a:noFill/>
          <a:ln w="19050">
            <a:solidFill>
              <a:srgbClr val="6A3FA0"/>
            </a:solidFill>
            <a:prstDash val="solid"/>
          </a:ln>
        </p:spPr>
      </p:sp>
      <p:sp>
        <p:nvSpPr>
          <p:cNvPr id="14" name="Shape 12"/>
          <p:cNvSpPr/>
          <p:nvPr/>
        </p:nvSpPr>
        <p:spPr>
          <a:xfrm>
            <a:off x="1965960" y="2423160"/>
            <a:ext cx="91" cy="1005840"/>
          </a:xfrm>
          <a:prstGeom prst="line">
            <a:avLst/>
          </a:prstGeom>
          <a:noFill/>
          <a:ln w="19050">
            <a:solidFill>
              <a:srgbClr val="6A3FA0"/>
            </a:solidFill>
            <a:prstDash val="solid"/>
          </a:ln>
        </p:spPr>
      </p:sp>
      <p:sp>
        <p:nvSpPr>
          <p:cNvPr id="15" name="Text 13"/>
          <p:cNvSpPr/>
          <p:nvPr/>
        </p:nvSpPr>
        <p:spPr>
          <a:xfrm>
            <a:off x="1508760" y="1819656"/>
            <a:ext cx="914400" cy="320040"/>
          </a:xfrm>
          <a:prstGeom prst="rect">
            <a:avLst/>
          </a:prstGeom>
          <a:noFill/>
          <a:ln/>
        </p:spPr>
        <p:txBody>
          <a:bodyPr wrap="square" lIns="0" tIns="0" rIns="0" bIns="0" rtlCol="0" anchor="ctr"/>
          <a:lstStyle/>
          <a:p>
            <a:pPr algn="ctr" indent="0" marL="0">
              <a:buNone/>
            </a:pPr>
            <a:r>
              <a:rPr lang="en-US" sz="1800" b="1" dirty="0">
                <a:solidFill>
                  <a:srgbClr val="2A1F3D"/>
                </a:solidFill>
                <a:latin typeface="Calibri" pitchFamily="34" charset="0"/>
                <a:ea typeface="Calibri" pitchFamily="34" charset="-122"/>
                <a:cs typeface="Calibri" pitchFamily="34" charset="-120"/>
              </a:rPr>
              <a:t>m</a:t>
            </a:r>
            <a:endParaRPr lang="en-US" sz="1800" dirty="0"/>
          </a:p>
        </p:txBody>
      </p:sp>
      <p:sp>
        <p:nvSpPr>
          <p:cNvPr id="16" name="Text 14"/>
          <p:cNvSpPr/>
          <p:nvPr/>
        </p:nvSpPr>
        <p:spPr>
          <a:xfrm>
            <a:off x="960120" y="2664562"/>
            <a:ext cx="731520" cy="320040"/>
          </a:xfrm>
          <a:prstGeom prst="rect">
            <a:avLst/>
          </a:prstGeom>
          <a:noFill/>
          <a:ln/>
        </p:spPr>
        <p:txBody>
          <a:bodyPr wrap="square" lIns="0" tIns="0" rIns="0" bIns="0" rtlCol="0" anchor="ctr"/>
          <a:lstStyle/>
          <a:p>
            <a:pPr algn="ctr" indent="0" marL="0">
              <a:buNone/>
            </a:pPr>
            <a:r>
              <a:rPr lang="en-US" sz="1600" b="1" dirty="0">
                <a:solidFill>
                  <a:srgbClr val="2A1F3D"/>
                </a:solidFill>
                <a:latin typeface="Calibri" pitchFamily="34" charset="0"/>
                <a:ea typeface="Calibri" pitchFamily="34" charset="-122"/>
                <a:cs typeface="Calibri" pitchFamily="34" charset="-120"/>
              </a:rPr>
              <a:t>n</a:t>
            </a:r>
            <a:endParaRPr lang="en-US" sz="1600" dirty="0"/>
          </a:p>
        </p:txBody>
      </p:sp>
      <p:sp>
        <p:nvSpPr>
          <p:cNvPr id="17" name="Text 15"/>
          <p:cNvSpPr/>
          <p:nvPr/>
        </p:nvSpPr>
        <p:spPr>
          <a:xfrm>
            <a:off x="2240280" y="2664562"/>
            <a:ext cx="731520" cy="320040"/>
          </a:xfrm>
          <a:prstGeom prst="rect">
            <a:avLst/>
          </a:prstGeom>
          <a:noFill/>
          <a:ln/>
        </p:spPr>
        <p:txBody>
          <a:bodyPr wrap="square" lIns="0" tIns="0" rIns="0" bIns="0" rtlCol="0" anchor="ctr"/>
          <a:lstStyle/>
          <a:p>
            <a:pPr algn="ctr" indent="0" marL="0">
              <a:buNone/>
            </a:pPr>
            <a:r>
              <a:rPr lang="en-US" sz="1600" b="1" dirty="0">
                <a:solidFill>
                  <a:srgbClr val="2A1F3D"/>
                </a:solidFill>
                <a:latin typeface="Calibri" pitchFamily="34" charset="0"/>
                <a:ea typeface="Calibri" pitchFamily="34" charset="-122"/>
                <a:cs typeface="Calibri" pitchFamily="34" charset="-120"/>
              </a:rPr>
              <a:t>Mr</a:t>
            </a:r>
            <a:endParaRPr lang="en-US" sz="1600" dirty="0"/>
          </a:p>
        </p:txBody>
      </p:sp>
      <p:sp>
        <p:nvSpPr>
          <p:cNvPr id="18" name="Text 16"/>
          <p:cNvSpPr/>
          <p:nvPr/>
        </p:nvSpPr>
        <p:spPr>
          <a:xfrm>
            <a:off x="640080" y="3520440"/>
            <a:ext cx="2651760" cy="731520"/>
          </a:xfrm>
          <a:prstGeom prst="rect">
            <a:avLst/>
          </a:prstGeom>
          <a:noFill/>
          <a:ln/>
        </p:spPr>
        <p:txBody>
          <a:bodyPr wrap="square" lIns="0" tIns="0" rIns="0" bIns="0" rtlCol="0" anchor="t"/>
          <a:lstStyle/>
          <a:p>
            <a:pPr algn="l" indent="0" marL="0">
              <a:buNone/>
            </a:pPr>
            <a:r>
              <a:rPr lang="en-US" sz="1050" b="1" dirty="0">
                <a:solidFill>
                  <a:srgbClr val="262B3A"/>
                </a:solidFill>
                <a:latin typeface="Calibri" pitchFamily="34" charset="0"/>
                <a:ea typeface="Calibri" pitchFamily="34" charset="-122"/>
                <a:cs typeface="Calibri" pitchFamily="34" charset="-120"/>
              </a:rPr>
              <a:t>m</a:t>
            </a:r>
            <a:r>
              <a:rPr lang="en-US" sz="1050" dirty="0">
                <a:solidFill>
                  <a:srgbClr val="262B3A"/>
                </a:solidFill>
                <a:latin typeface="Calibri" pitchFamily="34" charset="0"/>
                <a:ea typeface="Calibri" pitchFamily="34" charset="-122"/>
                <a:cs typeface="Calibri" pitchFamily="34" charset="-120"/>
              </a:rPr>
              <a:t> = mass / g
</a:t>
            </a:r>
            <a:r>
              <a:rPr lang="en-US" sz="1050" b="1" dirty="0">
                <a:solidFill>
                  <a:srgbClr val="262B3A"/>
                </a:solidFill>
                <a:latin typeface="Calibri" pitchFamily="34" charset="0"/>
                <a:ea typeface="Calibri" pitchFamily="34" charset="-122"/>
                <a:cs typeface="Calibri" pitchFamily="34" charset="-120"/>
              </a:rPr>
              <a:t>n</a:t>
            </a:r>
            <a:r>
              <a:rPr lang="en-US" sz="1050" dirty="0">
                <a:solidFill>
                  <a:srgbClr val="262B3A"/>
                </a:solidFill>
                <a:latin typeface="Calibri" pitchFamily="34" charset="0"/>
                <a:ea typeface="Calibri" pitchFamily="34" charset="-122"/>
                <a:cs typeface="Calibri" pitchFamily="34" charset="-120"/>
              </a:rPr>
              <a:t> = amount / mol
</a:t>
            </a:r>
            <a:r>
              <a:rPr lang="en-US" sz="1050" b="1" dirty="0">
                <a:solidFill>
                  <a:srgbClr val="262B3A"/>
                </a:solidFill>
                <a:latin typeface="Calibri" pitchFamily="34" charset="0"/>
                <a:ea typeface="Calibri" pitchFamily="34" charset="-122"/>
                <a:cs typeface="Calibri" pitchFamily="34" charset="-120"/>
              </a:rPr>
              <a:t>Mr</a:t>
            </a:r>
            <a:r>
              <a:rPr lang="en-US" sz="1050" dirty="0">
                <a:solidFill>
                  <a:srgbClr val="262B3A"/>
                </a:solidFill>
                <a:latin typeface="Calibri" pitchFamily="34" charset="0"/>
                <a:ea typeface="Calibri" pitchFamily="34" charset="-122"/>
                <a:cs typeface="Calibri" pitchFamily="34" charset="-120"/>
              </a:rPr>
              <a:t> = relative formula mass</a:t>
            </a:r>
            <a:endParaRPr lang="en-US" sz="1050" dirty="0"/>
          </a:p>
        </p:txBody>
      </p:sp>
      <p:sp>
        <p:nvSpPr>
          <p:cNvPr id="19" name="Shape 17"/>
          <p:cNvSpPr/>
          <p:nvPr/>
        </p:nvSpPr>
        <p:spPr>
          <a:xfrm>
            <a:off x="3566160" y="1508760"/>
            <a:ext cx="2240280" cy="548640"/>
          </a:xfrm>
          <a:prstGeom prst="roundRect">
            <a:avLst>
              <a:gd name="adj" fmla="val 10000"/>
            </a:avLst>
          </a:prstGeom>
          <a:solidFill>
            <a:srgbClr val="FBE3E4"/>
          </a:solidFill>
          <a:ln w="12700">
            <a:solidFill>
              <a:srgbClr val="C8414C"/>
            </a:solidFill>
            <a:prstDash val="solid"/>
          </a:ln>
        </p:spPr>
      </p:sp>
      <p:sp>
        <p:nvSpPr>
          <p:cNvPr id="20" name="Text 18"/>
          <p:cNvSpPr/>
          <p:nvPr/>
        </p:nvSpPr>
        <p:spPr>
          <a:xfrm>
            <a:off x="3621024" y="1508760"/>
            <a:ext cx="2130552" cy="54864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n = m ÷ Mr</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moles from mass</a:t>
            </a:r>
            <a:endParaRPr lang="en-US" sz="1050" dirty="0"/>
          </a:p>
        </p:txBody>
      </p:sp>
      <p:sp>
        <p:nvSpPr>
          <p:cNvPr id="21" name="Shape 19"/>
          <p:cNvSpPr/>
          <p:nvPr/>
        </p:nvSpPr>
        <p:spPr>
          <a:xfrm>
            <a:off x="3566160" y="2167128"/>
            <a:ext cx="2240280" cy="548640"/>
          </a:xfrm>
          <a:prstGeom prst="roundRect">
            <a:avLst>
              <a:gd name="adj" fmla="val 10000"/>
            </a:avLst>
          </a:prstGeom>
          <a:solidFill>
            <a:srgbClr val="FFFFFF"/>
          </a:solidFill>
          <a:ln w="12700">
            <a:solidFill>
              <a:srgbClr val="6A3FA0"/>
            </a:solidFill>
            <a:prstDash val="solid"/>
          </a:ln>
        </p:spPr>
      </p:sp>
      <p:sp>
        <p:nvSpPr>
          <p:cNvPr id="22" name="Text 20"/>
          <p:cNvSpPr/>
          <p:nvPr/>
        </p:nvSpPr>
        <p:spPr>
          <a:xfrm>
            <a:off x="3621024" y="2167128"/>
            <a:ext cx="2130552" cy="54864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 = n × Mr</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mass from moles</a:t>
            </a:r>
            <a:endParaRPr lang="en-US" sz="1050" dirty="0"/>
          </a:p>
        </p:txBody>
      </p:sp>
      <p:sp>
        <p:nvSpPr>
          <p:cNvPr id="23" name="Shape 21"/>
          <p:cNvSpPr/>
          <p:nvPr/>
        </p:nvSpPr>
        <p:spPr>
          <a:xfrm>
            <a:off x="3566160" y="2825496"/>
            <a:ext cx="2240280" cy="548640"/>
          </a:xfrm>
          <a:prstGeom prst="roundRect">
            <a:avLst>
              <a:gd name="adj" fmla="val 10000"/>
            </a:avLst>
          </a:prstGeom>
          <a:solidFill>
            <a:srgbClr val="FFFFFF"/>
          </a:solidFill>
          <a:ln w="12700">
            <a:solidFill>
              <a:srgbClr val="6A3FA0"/>
            </a:solidFill>
            <a:prstDash val="solid"/>
          </a:ln>
        </p:spPr>
      </p:sp>
      <p:sp>
        <p:nvSpPr>
          <p:cNvPr id="24" name="Text 22"/>
          <p:cNvSpPr/>
          <p:nvPr/>
        </p:nvSpPr>
        <p:spPr>
          <a:xfrm>
            <a:off x="3621024" y="2825496"/>
            <a:ext cx="2130552" cy="54864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Mr = m ÷ n</a:t>
            </a:r>
            <a:endParaRPr lang="en-US" sz="1050" dirty="0"/>
          </a:p>
          <a:p>
            <a:pPr algn="ctr" indent="0" marL="0">
              <a:buNone/>
            </a:pPr>
            <a:r>
              <a:rPr lang="en-US" sz="1050" dirty="0">
                <a:solidFill>
                  <a:srgbClr val="262B3A"/>
                </a:solidFill>
                <a:latin typeface="Calibri" pitchFamily="34" charset="0"/>
                <a:ea typeface="Calibri" pitchFamily="34" charset="-122"/>
                <a:cs typeface="Calibri" pitchFamily="34" charset="-120"/>
              </a:rPr>
              <a:t>Mr from data</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337560" y="3611880"/>
          <a:ext cx="2514600" cy="914400"/>
        </p:xfrm>
        <a:graphic>
          <a:graphicData uri="http://schemas.openxmlformats.org/drawingml/2006/table">
            <a:tbl>
              <a:tblPr/>
              <a:tblGrid>
                <a:gridCol w="685800"/>
                <a:gridCol w="548640"/>
                <a:gridCol w="640080"/>
                <a:gridCol w="640080"/>
              </a:tblGrid>
              <a:tr h="27432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Formula</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Mr</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Mass /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Moles / mol</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74320">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CO₂</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44.0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88.0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74320">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CaCO₃</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100.1</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25.0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0.250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74320">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H₂O</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18.0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9.0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74320">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NaCl</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58.5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8414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bl>
          </a:graphicData>
        </a:graphic>
      </p:graphicFrame>
      <p:sp>
        <p:nvSpPr>
          <p:cNvPr id="26" name="Shape 23"/>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27" name="Text 2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One equation, three uses</a:t>
            </a:r>
            <a:endParaRPr lang="en-US" sz="1300" dirty="0"/>
          </a:p>
        </p:txBody>
      </p:sp>
      <p:sp>
        <p:nvSpPr>
          <p:cNvPr id="28" name="Text 25"/>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amount (mol) = mass (g) ÷ Mr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Find the </a:t>
            </a:r>
            <a:r>
              <a:rPr lang="en-US" sz="1150" b="1" dirty="0">
                <a:solidFill>
                  <a:srgbClr val="262B3A"/>
                </a:solidFill>
                <a:latin typeface="Calibri" pitchFamily="34" charset="0"/>
                <a:ea typeface="Calibri" pitchFamily="34" charset="-122"/>
                <a:cs typeface="Calibri" pitchFamily="34" charset="-120"/>
              </a:rPr>
              <a:t>Mr</a:t>
            </a:r>
            <a:r>
              <a:rPr lang="en-US" sz="1150" dirty="0">
                <a:solidFill>
                  <a:srgbClr val="262B3A"/>
                </a:solidFill>
                <a:latin typeface="Calibri" pitchFamily="34" charset="0"/>
                <a:ea typeface="Calibri" pitchFamily="34" charset="-122"/>
                <a:cs typeface="Calibri" pitchFamily="34" charset="-120"/>
              </a:rPr>
              <a:t> first, then divide the mass by it.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Rearrange to find a </a:t>
            </a:r>
            <a:r>
              <a:rPr lang="en-US" sz="1150" b="1" dirty="0">
                <a:solidFill>
                  <a:srgbClr val="262B3A"/>
                </a:solidFill>
                <a:latin typeface="Calibri" pitchFamily="34" charset="0"/>
                <a:ea typeface="Calibri" pitchFamily="34" charset="-122"/>
                <a:cs typeface="Calibri" pitchFamily="34" charset="-120"/>
              </a:rPr>
              <a:t>mass</a:t>
            </a:r>
            <a:r>
              <a:rPr lang="en-US" sz="1150" dirty="0">
                <a:solidFill>
                  <a:srgbClr val="262B3A"/>
                </a:solidFill>
                <a:latin typeface="Calibri" pitchFamily="34" charset="0"/>
                <a:ea typeface="Calibri" pitchFamily="34" charset="-122"/>
                <a:cs typeface="Calibri" pitchFamily="34" charset="-120"/>
              </a:rPr>
              <a:t>: m = n × Mr.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Give answers to a </a:t>
            </a:r>
            <a:r>
              <a:rPr lang="en-US" sz="1150" b="1" dirty="0">
                <a:solidFill>
                  <a:srgbClr val="262B3A"/>
                </a:solidFill>
                <a:latin typeface="Calibri" pitchFamily="34" charset="0"/>
                <a:ea typeface="Calibri" pitchFamily="34" charset="-122"/>
                <a:cs typeface="Calibri" pitchFamily="34" charset="-120"/>
              </a:rPr>
              <a:t>sensible number of significant figures</a:t>
            </a:r>
            <a:r>
              <a:rPr lang="en-US" sz="1150" dirty="0">
                <a:solidFill>
                  <a:srgbClr val="262B3A"/>
                </a:solidFill>
                <a:latin typeface="Calibri" pitchFamily="34" charset="0"/>
                <a:ea typeface="Calibri" pitchFamily="34" charset="-122"/>
                <a:cs typeface="Calibri" pitchFamily="34" charset="-120"/>
              </a:rPr>
              <a:t> (usually the same as the data, often 3).</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Always show the </a:t>
            </a:r>
            <a:r>
              <a:rPr lang="en-US" sz="1150" b="1" dirty="0">
                <a:solidFill>
                  <a:srgbClr val="262B3A"/>
                </a:solidFill>
                <a:latin typeface="Calibri" pitchFamily="34" charset="0"/>
                <a:ea typeface="Calibri" pitchFamily="34" charset="-122"/>
                <a:cs typeface="Calibri" pitchFamily="34" charset="-120"/>
              </a:rPr>
              <a:t>units</a:t>
            </a:r>
            <a:r>
              <a:rPr lang="en-US" sz="1150" dirty="0">
                <a:solidFill>
                  <a:srgbClr val="262B3A"/>
                </a:solidFill>
                <a:latin typeface="Calibri" pitchFamily="34" charset="0"/>
                <a:ea typeface="Calibri" pitchFamily="34" charset="-122"/>
                <a:cs typeface="Calibri" pitchFamily="34" charset="-120"/>
              </a:rPr>
              <a:t>: g for mass, mol for amount.</a:t>
            </a:r>
            <a:endParaRPr lang="en-US" sz="1150" dirty="0"/>
          </a:p>
        </p:txBody>
      </p:sp>
      <p:sp>
        <p:nvSpPr>
          <p:cNvPr id="29" name="Shape 26"/>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30" name="Text 27"/>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both directions</a:t>
            </a:r>
            <a:endParaRPr lang="en-US" sz="1300" dirty="0"/>
          </a:p>
        </p:txBody>
      </p:sp>
      <p:sp>
        <p:nvSpPr>
          <p:cNvPr id="31" name="Text 28"/>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Moles in 88.0 g of CO₂? Mass of 0.250 mol of CaCO₃?</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Moles   </a:t>
            </a:r>
            <a:r>
              <a:rPr lang="en-US" sz="1050" dirty="0">
                <a:solidFill>
                  <a:srgbClr val="262B3A"/>
                </a:solidFill>
                <a:latin typeface="Calibri" pitchFamily="34" charset="0"/>
                <a:ea typeface="Calibri" pitchFamily="34" charset="-122"/>
                <a:cs typeface="Calibri" pitchFamily="34" charset="-120"/>
              </a:rPr>
              <a:t>88.0 ÷ 44.0 = </a:t>
            </a:r>
            <a:r>
              <a:rPr lang="en-US" sz="1050" b="1" dirty="0">
                <a:solidFill>
                  <a:srgbClr val="262B3A"/>
                </a:solidFill>
                <a:latin typeface="Calibri" pitchFamily="34" charset="0"/>
                <a:ea typeface="Calibri" pitchFamily="34" charset="-122"/>
                <a:cs typeface="Calibri" pitchFamily="34" charset="-120"/>
              </a:rPr>
              <a:t>2.00 mol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Mass   </a:t>
            </a:r>
            <a:r>
              <a:rPr lang="en-US" sz="1050" b="1" dirty="0">
                <a:solidFill>
                  <a:srgbClr val="C8414C"/>
                </a:solidFill>
                <a:latin typeface="Calibri" pitchFamily="34" charset="0"/>
                <a:ea typeface="Calibri" pitchFamily="34" charset="-122"/>
                <a:cs typeface="Calibri" pitchFamily="34" charset="-120"/>
              </a:rPr>
              <a:t>0.250 × 100.1 = 25.025 = </a:t>
            </a:r>
            <a:r>
              <a:rPr lang="en-US" sz="1050" b="1" dirty="0">
                <a:solidFill>
                  <a:srgbClr val="C8414C"/>
                </a:solidFill>
                <a:latin typeface="Calibri" pitchFamily="34" charset="0"/>
                <a:ea typeface="Calibri" pitchFamily="34" charset="-122"/>
                <a:cs typeface="Calibri" pitchFamily="34" charset="-120"/>
              </a:rPr>
              <a:t>25.0 g</a:t>
            </a:r>
            <a:r>
              <a:rPr lang="en-US" sz="1050" b="1" dirty="0">
                <a:solidFill>
                  <a:srgbClr val="C8414C"/>
                </a:solidFill>
                <a:latin typeface="Calibri" pitchFamily="34" charset="0"/>
                <a:ea typeface="Calibri" pitchFamily="34" charset="-122"/>
                <a:cs typeface="Calibri" pitchFamily="34" charset="-120"/>
              </a:rPr>
              <a:t> (3 s.f.)</a:t>
            </a:r>
            <a:endParaRPr lang="en-US" sz="1050" dirty="0"/>
          </a:p>
        </p:txBody>
      </p:sp>
      <p:sp>
        <p:nvSpPr>
          <p:cNvPr id="32" name="Shape 29"/>
          <p:cNvSpPr/>
          <p:nvPr/>
        </p:nvSpPr>
        <p:spPr>
          <a:xfrm>
            <a:off x="411480" y="5833872"/>
            <a:ext cx="11368735" cy="530352"/>
          </a:xfrm>
          <a:prstGeom prst="rect">
            <a:avLst/>
          </a:prstGeom>
          <a:solidFill>
            <a:srgbClr val="FFF4E0"/>
          </a:solidFill>
          <a:ln w="6350">
            <a:solidFill>
              <a:srgbClr val="F1D9A8"/>
            </a:solidFill>
            <a:prstDash val="solid"/>
          </a:ln>
        </p:spPr>
      </p:sp>
      <p:sp>
        <p:nvSpPr>
          <p:cNvPr id="33" name="Shape 30"/>
          <p:cNvSpPr/>
          <p:nvPr/>
        </p:nvSpPr>
        <p:spPr>
          <a:xfrm>
            <a:off x="411480" y="5833872"/>
            <a:ext cx="82296" cy="530352"/>
          </a:xfrm>
          <a:prstGeom prst="rect">
            <a:avLst/>
          </a:prstGeom>
          <a:solidFill>
            <a:srgbClr val="E39A2F"/>
          </a:solidFill>
          <a:ln w="12700">
            <a:solidFill>
              <a:srgbClr val="E39A2F"/>
            </a:solidFill>
            <a:prstDash val="solid"/>
          </a:ln>
        </p:spPr>
      </p:sp>
      <p:sp>
        <p:nvSpPr>
          <p:cNvPr id="34" name="Text 3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Fill in the red </a:t>
            </a:r>
            <a:r>
              <a:rPr lang="en-US" sz="1150" b="1" dirty="0">
                <a:solidFill>
                  <a:srgbClr val="262B3A"/>
                </a:solidFill>
                <a:latin typeface="Calibri" pitchFamily="34" charset="0"/>
                <a:ea typeface="Calibri" pitchFamily="34" charset="-122"/>
                <a:cs typeface="Calibri" pitchFamily="34" charset="-120"/>
              </a:rPr>
              <a:t>?</a:t>
            </a:r>
            <a:r>
              <a:rPr lang="en-US" sz="1150" dirty="0">
                <a:solidFill>
                  <a:srgbClr val="262B3A"/>
                </a:solidFill>
                <a:latin typeface="Calibri" pitchFamily="34" charset="0"/>
                <a:ea typeface="Calibri" pitchFamily="34" charset="-122"/>
                <a:cs typeface="Calibri" pitchFamily="34" charset="-120"/>
              </a:rPr>
              <a:t> cells: how many moles are in </a:t>
            </a:r>
            <a:r>
              <a:rPr lang="en-US" sz="1150" b="1" dirty="0">
                <a:solidFill>
                  <a:srgbClr val="262B3A"/>
                </a:solidFill>
                <a:latin typeface="Calibri" pitchFamily="34" charset="0"/>
                <a:ea typeface="Calibri" pitchFamily="34" charset="-122"/>
                <a:cs typeface="Calibri" pitchFamily="34" charset="-120"/>
              </a:rPr>
              <a:t>9.0 g</a:t>
            </a:r>
            <a:r>
              <a:rPr lang="en-US" sz="1150" dirty="0">
                <a:solidFill>
                  <a:srgbClr val="262B3A"/>
                </a:solidFill>
                <a:latin typeface="Calibri" pitchFamily="34" charset="0"/>
                <a:ea typeface="Calibri" pitchFamily="34" charset="-122"/>
                <a:cs typeface="Calibri" pitchFamily="34" charset="-120"/>
              </a:rPr>
              <a:t> of water? What is the mass of </a:t>
            </a:r>
            <a:r>
              <a:rPr lang="en-US" sz="1150" b="1" dirty="0">
                <a:solidFill>
                  <a:srgbClr val="262B3A"/>
                </a:solidFill>
                <a:latin typeface="Calibri" pitchFamily="34" charset="0"/>
                <a:ea typeface="Calibri" pitchFamily="34" charset="-122"/>
                <a:cs typeface="Calibri" pitchFamily="34" charset="-120"/>
              </a:rPr>
              <a:t>2.00 mol</a:t>
            </a:r>
            <a:r>
              <a:rPr lang="en-US" sz="1150" dirty="0">
                <a:solidFill>
                  <a:srgbClr val="262B3A"/>
                </a:solidFill>
                <a:latin typeface="Calibri" pitchFamily="34" charset="0"/>
                <a:ea typeface="Calibri" pitchFamily="34" charset="-122"/>
                <a:cs typeface="Calibri" pitchFamily="34" charset="-120"/>
              </a:rPr>
              <a:t> of sodium chloride?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C5.2.4, C5.2.5 • moles • Avogadro constant = 6.02 × 10²³ • Ar: H 1.0, C 12.0, O 16.0, Mg 24.3, Ca 40.1</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13</a:t>
            </a:r>
            <a:endParaRPr lang="en-US" sz="1000" dirty="0"/>
          </a:p>
        </p:txBody>
      </p:sp>
      <p:sp>
        <p:nvSpPr>
          <p:cNvPr id="10" name="Shape 8"/>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Shape 11"/>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4" name="Text 12"/>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5" name="Text 13"/>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number of </a:t>
            </a:r>
            <a:r>
              <a:rPr lang="en-US" sz="1250" b="1" dirty="0">
                <a:solidFill>
                  <a:srgbClr val="262B3A"/>
                </a:solidFill>
                <a:latin typeface="Calibri" pitchFamily="34" charset="0"/>
                <a:ea typeface="Calibri" pitchFamily="34" charset="-122"/>
                <a:cs typeface="Calibri" pitchFamily="34" charset="-120"/>
              </a:rPr>
              <a:t>atoms</a:t>
            </a:r>
            <a:r>
              <a:rPr lang="en-US" sz="1250" dirty="0">
                <a:solidFill>
                  <a:srgbClr val="262B3A"/>
                </a:solidFill>
                <a:latin typeface="Calibri" pitchFamily="34" charset="0"/>
                <a:ea typeface="Calibri" pitchFamily="34" charset="-122"/>
                <a:cs typeface="Calibri" pitchFamily="34" charset="-120"/>
              </a:rPr>
              <a:t> in </a:t>
            </a:r>
            <a:r>
              <a:rPr lang="en-US" sz="1250" b="1" dirty="0">
                <a:solidFill>
                  <a:srgbClr val="262B3A"/>
                </a:solidFill>
                <a:latin typeface="Calibri" pitchFamily="34" charset="0"/>
                <a:ea typeface="Calibri" pitchFamily="34" charset="-122"/>
                <a:cs typeface="Calibri" pitchFamily="34" charset="-120"/>
              </a:rPr>
              <a:t>2.00 mol</a:t>
            </a:r>
            <a:r>
              <a:rPr lang="en-US" sz="1250" dirty="0">
                <a:solidFill>
                  <a:srgbClr val="262B3A"/>
                </a:solidFill>
                <a:latin typeface="Calibri" pitchFamily="34" charset="0"/>
                <a:ea typeface="Calibri" pitchFamily="34" charset="-122"/>
                <a:cs typeface="Calibri" pitchFamily="34" charset="-120"/>
              </a:rPr>
              <a:t> of magnesium. Give your answer in standard form.</a:t>
            </a:r>
            <a:endParaRPr lang="en-US" sz="1250" dirty="0"/>
          </a:p>
        </p:txBody>
      </p:sp>
      <p:sp>
        <p:nvSpPr>
          <p:cNvPr id="16" name="Text 14"/>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8" name="Shape 16"/>
          <p:cNvSpPr/>
          <p:nvPr/>
        </p:nvSpPr>
        <p:spPr>
          <a:xfrm>
            <a:off x="411480" y="2512314"/>
            <a:ext cx="2103120" cy="292608"/>
          </a:xfrm>
          <a:prstGeom prst="rect">
            <a:avLst/>
          </a:prstGeom>
          <a:solidFill>
            <a:srgbClr val="F5A742"/>
          </a:solidFill>
          <a:ln w="12700">
            <a:solidFill>
              <a:srgbClr val="F5A742"/>
            </a:solidFill>
            <a:prstDash val="solid"/>
          </a:ln>
        </p:spPr>
      </p:sp>
      <p:sp>
        <p:nvSpPr>
          <p:cNvPr id="19" name="Text 17"/>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0" name="Shape 18"/>
          <p:cNvSpPr/>
          <p:nvPr/>
        </p:nvSpPr>
        <p:spPr>
          <a:xfrm>
            <a:off x="2606040" y="2521458"/>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2606040" y="252145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Text 20"/>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amount, in moles, of water in </a:t>
            </a:r>
            <a:r>
              <a:rPr lang="en-US" sz="1250" b="1" dirty="0">
                <a:solidFill>
                  <a:srgbClr val="262B3A"/>
                </a:solidFill>
                <a:latin typeface="Calibri" pitchFamily="34" charset="0"/>
                <a:ea typeface="Calibri" pitchFamily="34" charset="-122"/>
                <a:cs typeface="Calibri" pitchFamily="34" charset="-120"/>
              </a:rPr>
              <a:t>36.0 g</a:t>
            </a:r>
            <a:r>
              <a:rPr lang="en-US" sz="1250" dirty="0">
                <a:solidFill>
                  <a:srgbClr val="262B3A"/>
                </a:solidFill>
                <a:latin typeface="Calibri" pitchFamily="34" charset="0"/>
                <a:ea typeface="Calibri" pitchFamily="34" charset="-122"/>
                <a:cs typeface="Calibri" pitchFamily="34" charset="-120"/>
              </a:rPr>
              <a:t> of water.</a:t>
            </a:r>
            <a:endParaRPr lang="en-US" sz="1250" dirty="0"/>
          </a:p>
        </p:txBody>
      </p:sp>
      <p:sp>
        <p:nvSpPr>
          <p:cNvPr id="23" name="Text 21"/>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25" name="Shape 23"/>
          <p:cNvSpPr/>
          <p:nvPr/>
        </p:nvSpPr>
        <p:spPr>
          <a:xfrm>
            <a:off x="411480" y="3817620"/>
            <a:ext cx="2103120" cy="292608"/>
          </a:xfrm>
          <a:prstGeom prst="rect">
            <a:avLst/>
          </a:prstGeom>
          <a:solidFill>
            <a:srgbClr val="F5A742"/>
          </a:solidFill>
          <a:ln w="12700">
            <a:solidFill>
              <a:srgbClr val="F5A742"/>
            </a:solidFill>
            <a:prstDash val="solid"/>
          </a:ln>
        </p:spPr>
      </p:sp>
      <p:sp>
        <p:nvSpPr>
          <p:cNvPr id="26" name="Text 24"/>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7" name="Shape 25"/>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8" name="Text 26"/>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9" name="Text 27"/>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mass of </a:t>
            </a:r>
            <a:r>
              <a:rPr lang="en-US" sz="1250" b="1" dirty="0">
                <a:solidFill>
                  <a:srgbClr val="262B3A"/>
                </a:solidFill>
                <a:latin typeface="Calibri" pitchFamily="34" charset="0"/>
                <a:ea typeface="Calibri" pitchFamily="34" charset="-122"/>
                <a:cs typeface="Calibri" pitchFamily="34" charset="-120"/>
              </a:rPr>
              <a:t>0.200 mol</a:t>
            </a:r>
            <a:r>
              <a:rPr lang="en-US" sz="1250" dirty="0">
                <a:solidFill>
                  <a:srgbClr val="262B3A"/>
                </a:solidFill>
                <a:latin typeface="Calibri" pitchFamily="34" charset="0"/>
                <a:ea typeface="Calibri" pitchFamily="34" charset="-122"/>
                <a:cs typeface="Calibri" pitchFamily="34" charset="-120"/>
              </a:rPr>
              <a:t> of calcium carbonate, CaCO₃ (Mr = 100.1).</a:t>
            </a:r>
            <a:endParaRPr lang="en-US" sz="1250" dirty="0"/>
          </a:p>
        </p:txBody>
      </p:sp>
      <p:sp>
        <p:nvSpPr>
          <p:cNvPr id="30" name="Text 28"/>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32" name="Shape 30"/>
          <p:cNvSpPr/>
          <p:nvPr/>
        </p:nvSpPr>
        <p:spPr>
          <a:xfrm>
            <a:off x="411480" y="5122926"/>
            <a:ext cx="2103120" cy="292608"/>
          </a:xfrm>
          <a:prstGeom prst="rect">
            <a:avLst/>
          </a:prstGeom>
          <a:solidFill>
            <a:srgbClr val="F5A742"/>
          </a:solidFill>
          <a:ln w="12700">
            <a:solidFill>
              <a:srgbClr val="F5A742"/>
            </a:solidFill>
            <a:prstDash val="solid"/>
          </a:ln>
        </p:spPr>
      </p:sp>
      <p:sp>
        <p:nvSpPr>
          <p:cNvPr id="33" name="Text 31"/>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34" name="Shape 32"/>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35" name="Text 33"/>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6" name="Text 3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Which contains more atoms: </a:t>
            </a:r>
            <a:r>
              <a:rPr lang="en-US" sz="1250" b="1" dirty="0">
                <a:solidFill>
                  <a:srgbClr val="262B3A"/>
                </a:solidFill>
                <a:latin typeface="Calibri" pitchFamily="34" charset="0"/>
                <a:ea typeface="Calibri" pitchFamily="34" charset="-122"/>
                <a:cs typeface="Calibri" pitchFamily="34" charset="-120"/>
              </a:rPr>
              <a:t>12.0 g</a:t>
            </a:r>
            <a:r>
              <a:rPr lang="en-US" sz="1250" dirty="0">
                <a:solidFill>
                  <a:srgbClr val="262B3A"/>
                </a:solidFill>
                <a:latin typeface="Calibri" pitchFamily="34" charset="0"/>
                <a:ea typeface="Calibri" pitchFamily="34" charset="-122"/>
                <a:cs typeface="Calibri" pitchFamily="34" charset="-120"/>
              </a:rPr>
              <a:t> of carbon or </a:t>
            </a:r>
            <a:r>
              <a:rPr lang="en-US" sz="1250" b="1" dirty="0">
                <a:solidFill>
                  <a:srgbClr val="262B3A"/>
                </a:solidFill>
                <a:latin typeface="Calibri" pitchFamily="34" charset="0"/>
                <a:ea typeface="Calibri" pitchFamily="34" charset="-122"/>
                <a:cs typeface="Calibri" pitchFamily="34" charset="-120"/>
              </a:rPr>
              <a:t>24.3 g</a:t>
            </a:r>
            <a:r>
              <a:rPr lang="en-US" sz="1250" dirty="0">
                <a:solidFill>
                  <a:srgbClr val="262B3A"/>
                </a:solidFill>
                <a:latin typeface="Calibri" pitchFamily="34" charset="0"/>
                <a:ea typeface="Calibri" pitchFamily="34" charset="-122"/>
                <a:cs typeface="Calibri" pitchFamily="34" charset="-120"/>
              </a:rPr>
              <a:t> of magnesium? Explain your answer.</a:t>
            </a:r>
            <a:endParaRPr lang="en-US" sz="1250" dirty="0"/>
          </a:p>
        </p:txBody>
      </p:sp>
      <p:sp>
        <p:nvSpPr>
          <p:cNvPr id="37" name="Text 3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Calculating reacting masses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C5.2.7 • use a balanced equation to calculate masses of reactants or products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C5.2.7  |  14</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two routes to the same answer</a:t>
            </a:r>
            <a:endParaRPr lang="en-US" sz="1000" dirty="0"/>
          </a:p>
        </p:txBody>
      </p:sp>
      <p:sp>
        <p:nvSpPr>
          <p:cNvPr id="10" name="Shape 8"/>
          <p:cNvSpPr/>
          <p:nvPr/>
        </p:nvSpPr>
        <p:spPr>
          <a:xfrm>
            <a:off x="640080" y="1325880"/>
            <a:ext cx="1463040" cy="310896"/>
          </a:xfrm>
          <a:prstGeom prst="roundRect">
            <a:avLst>
              <a:gd name="adj" fmla="val 17647"/>
            </a:avLst>
          </a:prstGeom>
          <a:solidFill>
            <a:srgbClr val="6A3FA0"/>
          </a:solidFill>
          <a:ln w="15875">
            <a:solidFill>
              <a:srgbClr val="6A3FA0"/>
            </a:solidFill>
            <a:prstDash val="solid"/>
          </a:ln>
        </p:spPr>
      </p:sp>
      <p:sp>
        <p:nvSpPr>
          <p:cNvPr id="11" name="Text 9"/>
          <p:cNvSpPr/>
          <p:nvPr/>
        </p:nvSpPr>
        <p:spPr>
          <a:xfrm>
            <a:off x="694944" y="1325880"/>
            <a:ext cx="135331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FOUNDATION + HT</a:t>
            </a:r>
            <a:endParaRPr lang="en-US" sz="1000" dirty="0"/>
          </a:p>
        </p:txBody>
      </p:sp>
      <p:sp>
        <p:nvSpPr>
          <p:cNvPr id="12" name="Text 10"/>
          <p:cNvSpPr/>
          <p:nvPr/>
        </p:nvSpPr>
        <p:spPr>
          <a:xfrm>
            <a:off x="2194560" y="1325880"/>
            <a:ext cx="3657600" cy="310896"/>
          </a:xfrm>
          <a:prstGeom prst="rect">
            <a:avLst/>
          </a:prstGeom>
          <a:noFill/>
          <a:ln/>
        </p:spPr>
        <p:txBody>
          <a:bodyPr wrap="square" lIns="0" tIns="0" rIns="0" bIns="0" rtlCol="0" anchor="ctr"/>
          <a:lstStyle/>
          <a:p>
            <a:pPr algn="l" indent="0" marL="0">
              <a:buNone/>
            </a:pPr>
            <a:r>
              <a:rPr lang="en-US" sz="1100" b="1" dirty="0">
                <a:solidFill>
                  <a:srgbClr val="2A1F3D"/>
                </a:solidFill>
                <a:latin typeface="Calibri" pitchFamily="34" charset="0"/>
                <a:ea typeface="Calibri" pitchFamily="34" charset="-122"/>
                <a:cs typeface="Calibri" pitchFamily="34" charset="-120"/>
              </a:rPr>
              <a:t>Route 1: scale the Mr ratio</a:t>
            </a:r>
            <a:endParaRPr lang="en-US" sz="1100" dirty="0"/>
          </a:p>
        </p:txBody>
      </p:sp>
      <p:sp>
        <p:nvSpPr>
          <p:cNvPr id="13" name="Shape 11"/>
          <p:cNvSpPr/>
          <p:nvPr/>
        </p:nvSpPr>
        <p:spPr>
          <a:xfrm>
            <a:off x="640080" y="1755648"/>
            <a:ext cx="5120640" cy="347472"/>
          </a:xfrm>
          <a:prstGeom prst="roundRect">
            <a:avLst>
              <a:gd name="adj" fmla="val 13158"/>
            </a:avLst>
          </a:prstGeom>
          <a:solidFill>
            <a:srgbClr val="FFFFFF"/>
          </a:solidFill>
          <a:ln w="12700">
            <a:solidFill>
              <a:srgbClr val="DDD3EC"/>
            </a:solidFill>
            <a:prstDash val="solid"/>
          </a:ln>
        </p:spPr>
      </p:sp>
      <p:sp>
        <p:nvSpPr>
          <p:cNvPr id="14" name="Text 12"/>
          <p:cNvSpPr/>
          <p:nvPr/>
        </p:nvSpPr>
        <p:spPr>
          <a:xfrm>
            <a:off x="713232" y="1755648"/>
            <a:ext cx="4974336" cy="347472"/>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CH₄ + 2O₂ → CO₂ + 2H₂O</a:t>
            </a:r>
            <a:endParaRPr lang="en-US" sz="1200" dirty="0"/>
          </a:p>
        </p:txBody>
      </p:sp>
      <p:sp>
        <p:nvSpPr>
          <p:cNvPr id="15" name="Shape 13"/>
          <p:cNvSpPr/>
          <p:nvPr/>
        </p:nvSpPr>
        <p:spPr>
          <a:xfrm>
            <a:off x="914400" y="2212848"/>
            <a:ext cx="1463040" cy="310896"/>
          </a:xfrm>
          <a:prstGeom prst="roundRect">
            <a:avLst>
              <a:gd name="adj" fmla="val 17647"/>
            </a:avLst>
          </a:prstGeom>
          <a:solidFill>
            <a:srgbClr val="FFFFFF"/>
          </a:solidFill>
          <a:ln w="9525">
            <a:solidFill>
              <a:srgbClr val="DDD3EC"/>
            </a:solidFill>
            <a:prstDash val="solid"/>
          </a:ln>
        </p:spPr>
      </p:sp>
      <p:sp>
        <p:nvSpPr>
          <p:cNvPr id="16" name="Text 14"/>
          <p:cNvSpPr/>
          <p:nvPr/>
        </p:nvSpPr>
        <p:spPr>
          <a:xfrm>
            <a:off x="969264" y="2212848"/>
            <a:ext cx="1353312" cy="31089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16.0 g CH₄</a:t>
            </a:r>
            <a:endParaRPr lang="en-US" sz="1050" dirty="0"/>
          </a:p>
        </p:txBody>
      </p:sp>
      <p:sp>
        <p:nvSpPr>
          <p:cNvPr id="17" name="Shape 15"/>
          <p:cNvSpPr/>
          <p:nvPr/>
        </p:nvSpPr>
        <p:spPr>
          <a:xfrm>
            <a:off x="2423160" y="2368296"/>
            <a:ext cx="914400" cy="91"/>
          </a:xfrm>
          <a:prstGeom prst="line">
            <a:avLst/>
          </a:prstGeom>
          <a:noFill/>
          <a:ln w="19050">
            <a:solidFill>
              <a:srgbClr val="6A3FA0"/>
            </a:solidFill>
            <a:prstDash val="solid"/>
            <a:tailEnd type="triangle"/>
          </a:ln>
        </p:spPr>
      </p:sp>
      <p:sp>
        <p:nvSpPr>
          <p:cNvPr id="18" name="Shape 16"/>
          <p:cNvSpPr/>
          <p:nvPr/>
        </p:nvSpPr>
        <p:spPr>
          <a:xfrm>
            <a:off x="3383280" y="2212848"/>
            <a:ext cx="1463040" cy="310896"/>
          </a:xfrm>
          <a:prstGeom prst="roundRect">
            <a:avLst>
              <a:gd name="adj" fmla="val 17647"/>
            </a:avLst>
          </a:prstGeom>
          <a:solidFill>
            <a:srgbClr val="FFFFFF"/>
          </a:solidFill>
          <a:ln w="9525">
            <a:solidFill>
              <a:srgbClr val="DDD3EC"/>
            </a:solidFill>
            <a:prstDash val="solid"/>
          </a:ln>
        </p:spPr>
      </p:sp>
      <p:sp>
        <p:nvSpPr>
          <p:cNvPr id="19" name="Text 17"/>
          <p:cNvSpPr/>
          <p:nvPr/>
        </p:nvSpPr>
        <p:spPr>
          <a:xfrm>
            <a:off x="3438144" y="2212848"/>
            <a:ext cx="1353312" cy="31089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44.0 g CO₂</a:t>
            </a:r>
            <a:endParaRPr lang="en-US" sz="1050" dirty="0"/>
          </a:p>
        </p:txBody>
      </p:sp>
      <p:sp>
        <p:nvSpPr>
          <p:cNvPr id="20" name="Shape 18"/>
          <p:cNvSpPr/>
          <p:nvPr/>
        </p:nvSpPr>
        <p:spPr>
          <a:xfrm>
            <a:off x="914400" y="2596896"/>
            <a:ext cx="1463040" cy="310896"/>
          </a:xfrm>
          <a:prstGeom prst="roundRect">
            <a:avLst>
              <a:gd name="adj" fmla="val 17647"/>
            </a:avLst>
          </a:prstGeom>
          <a:solidFill>
            <a:srgbClr val="FFFFFF"/>
          </a:solidFill>
          <a:ln w="9525">
            <a:solidFill>
              <a:srgbClr val="DDD3EC"/>
            </a:solidFill>
            <a:prstDash val="solid"/>
          </a:ln>
        </p:spPr>
      </p:sp>
      <p:sp>
        <p:nvSpPr>
          <p:cNvPr id="21" name="Text 19"/>
          <p:cNvSpPr/>
          <p:nvPr/>
        </p:nvSpPr>
        <p:spPr>
          <a:xfrm>
            <a:off x="969264" y="2596896"/>
            <a:ext cx="1353312" cy="31089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8.0 g CH₄</a:t>
            </a:r>
            <a:endParaRPr lang="en-US" sz="1050" dirty="0"/>
          </a:p>
        </p:txBody>
      </p:sp>
      <p:sp>
        <p:nvSpPr>
          <p:cNvPr id="22" name="Shape 20"/>
          <p:cNvSpPr/>
          <p:nvPr/>
        </p:nvSpPr>
        <p:spPr>
          <a:xfrm>
            <a:off x="2423160" y="2752344"/>
            <a:ext cx="914400" cy="91"/>
          </a:xfrm>
          <a:prstGeom prst="line">
            <a:avLst/>
          </a:prstGeom>
          <a:noFill/>
          <a:ln w="19050">
            <a:solidFill>
              <a:srgbClr val="6A3FA0"/>
            </a:solidFill>
            <a:prstDash val="solid"/>
            <a:tailEnd type="triangle"/>
          </a:ln>
        </p:spPr>
      </p:sp>
      <p:sp>
        <p:nvSpPr>
          <p:cNvPr id="23" name="Shape 21"/>
          <p:cNvSpPr/>
          <p:nvPr/>
        </p:nvSpPr>
        <p:spPr>
          <a:xfrm>
            <a:off x="3383280" y="2596896"/>
            <a:ext cx="1463040" cy="310896"/>
          </a:xfrm>
          <a:prstGeom prst="roundRect">
            <a:avLst>
              <a:gd name="adj" fmla="val 17647"/>
            </a:avLst>
          </a:prstGeom>
          <a:solidFill>
            <a:srgbClr val="FFFFFF"/>
          </a:solidFill>
          <a:ln w="9525">
            <a:solidFill>
              <a:srgbClr val="DDD3EC"/>
            </a:solidFill>
            <a:prstDash val="solid"/>
          </a:ln>
        </p:spPr>
      </p:sp>
      <p:sp>
        <p:nvSpPr>
          <p:cNvPr id="24" name="Text 22"/>
          <p:cNvSpPr/>
          <p:nvPr/>
        </p:nvSpPr>
        <p:spPr>
          <a:xfrm>
            <a:off x="3438144" y="2596896"/>
            <a:ext cx="1353312" cy="31089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22.0 g CO₂</a:t>
            </a:r>
            <a:endParaRPr lang="en-US" sz="1050" dirty="0"/>
          </a:p>
        </p:txBody>
      </p:sp>
      <p:sp>
        <p:nvSpPr>
          <p:cNvPr id="25" name="Text 23"/>
          <p:cNvSpPr/>
          <p:nvPr/>
        </p:nvSpPr>
        <p:spPr>
          <a:xfrm>
            <a:off x="4892040" y="2596896"/>
            <a:ext cx="731520" cy="310896"/>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 2</a:t>
            </a:r>
            <a:endParaRPr lang="en-US" sz="1050" dirty="0"/>
          </a:p>
        </p:txBody>
      </p:sp>
      <p:sp>
        <p:nvSpPr>
          <p:cNvPr id="26" name="Shape 24"/>
          <p:cNvSpPr/>
          <p:nvPr/>
        </p:nvSpPr>
        <p:spPr>
          <a:xfrm>
            <a:off x="914400" y="2980944"/>
            <a:ext cx="1463040" cy="310896"/>
          </a:xfrm>
          <a:prstGeom prst="roundRect">
            <a:avLst>
              <a:gd name="adj" fmla="val 17647"/>
            </a:avLst>
          </a:prstGeom>
          <a:solidFill>
            <a:srgbClr val="FFFFFF"/>
          </a:solidFill>
          <a:ln w="9525">
            <a:solidFill>
              <a:srgbClr val="DDD3EC"/>
            </a:solidFill>
            <a:prstDash val="solid"/>
          </a:ln>
        </p:spPr>
      </p:sp>
      <p:sp>
        <p:nvSpPr>
          <p:cNvPr id="27" name="Text 25"/>
          <p:cNvSpPr/>
          <p:nvPr/>
        </p:nvSpPr>
        <p:spPr>
          <a:xfrm>
            <a:off x="969264" y="2980944"/>
            <a:ext cx="1353312" cy="31089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4.0 g CH₄</a:t>
            </a:r>
            <a:endParaRPr lang="en-US" sz="1050" dirty="0"/>
          </a:p>
        </p:txBody>
      </p:sp>
      <p:sp>
        <p:nvSpPr>
          <p:cNvPr id="28" name="Shape 26"/>
          <p:cNvSpPr/>
          <p:nvPr/>
        </p:nvSpPr>
        <p:spPr>
          <a:xfrm>
            <a:off x="2423160" y="3136392"/>
            <a:ext cx="914400" cy="91"/>
          </a:xfrm>
          <a:prstGeom prst="line">
            <a:avLst/>
          </a:prstGeom>
          <a:noFill/>
          <a:ln w="19050">
            <a:solidFill>
              <a:srgbClr val="6A3FA0"/>
            </a:solidFill>
            <a:prstDash val="solid"/>
            <a:tailEnd type="triangle"/>
          </a:ln>
        </p:spPr>
      </p:sp>
      <p:sp>
        <p:nvSpPr>
          <p:cNvPr id="29" name="Shape 27"/>
          <p:cNvSpPr/>
          <p:nvPr/>
        </p:nvSpPr>
        <p:spPr>
          <a:xfrm>
            <a:off x="3383280" y="2980944"/>
            <a:ext cx="1463040" cy="310896"/>
          </a:xfrm>
          <a:prstGeom prst="roundRect">
            <a:avLst>
              <a:gd name="adj" fmla="val 17647"/>
            </a:avLst>
          </a:prstGeom>
          <a:solidFill>
            <a:srgbClr val="FFFFFF"/>
          </a:solidFill>
          <a:ln w="9525">
            <a:solidFill>
              <a:srgbClr val="DDD3EC"/>
            </a:solidFill>
            <a:prstDash val="solid"/>
          </a:ln>
        </p:spPr>
      </p:sp>
      <p:sp>
        <p:nvSpPr>
          <p:cNvPr id="30" name="Text 28"/>
          <p:cNvSpPr/>
          <p:nvPr/>
        </p:nvSpPr>
        <p:spPr>
          <a:xfrm>
            <a:off x="3438144" y="2980944"/>
            <a:ext cx="1353312" cy="310896"/>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11.0 g CO₂</a:t>
            </a:r>
            <a:endParaRPr lang="en-US" sz="1050" dirty="0"/>
          </a:p>
        </p:txBody>
      </p:sp>
      <p:sp>
        <p:nvSpPr>
          <p:cNvPr id="31" name="Text 29"/>
          <p:cNvSpPr/>
          <p:nvPr/>
        </p:nvSpPr>
        <p:spPr>
          <a:xfrm>
            <a:off x="4892040" y="2980944"/>
            <a:ext cx="731520" cy="310896"/>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 4</a:t>
            </a:r>
            <a:endParaRPr lang="en-US" sz="1050" dirty="0"/>
          </a:p>
        </p:txBody>
      </p:sp>
      <p:sp>
        <p:nvSpPr>
          <p:cNvPr id="32" name="Shape 30"/>
          <p:cNvSpPr/>
          <p:nvPr/>
        </p:nvSpPr>
        <p:spPr>
          <a:xfrm>
            <a:off x="640080" y="3520440"/>
            <a:ext cx="548640" cy="310896"/>
          </a:xfrm>
          <a:prstGeom prst="roundRect">
            <a:avLst>
              <a:gd name="adj" fmla="val 17647"/>
            </a:avLst>
          </a:prstGeom>
          <a:solidFill>
            <a:srgbClr val="C8414C"/>
          </a:solidFill>
          <a:ln w="15875">
            <a:solidFill>
              <a:srgbClr val="C8414C"/>
            </a:solidFill>
            <a:prstDash val="solid"/>
          </a:ln>
        </p:spPr>
      </p:sp>
      <p:sp>
        <p:nvSpPr>
          <p:cNvPr id="33" name="Text 31"/>
          <p:cNvSpPr/>
          <p:nvPr/>
        </p:nvSpPr>
        <p:spPr>
          <a:xfrm>
            <a:off x="694944" y="3520440"/>
            <a:ext cx="438912"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4" name="Text 32"/>
          <p:cNvSpPr/>
          <p:nvPr/>
        </p:nvSpPr>
        <p:spPr>
          <a:xfrm>
            <a:off x="1280160" y="3520440"/>
            <a:ext cx="4572000" cy="310896"/>
          </a:xfrm>
          <a:prstGeom prst="rect">
            <a:avLst/>
          </a:prstGeom>
          <a:noFill/>
          <a:ln/>
        </p:spPr>
        <p:txBody>
          <a:bodyPr wrap="square" lIns="0" tIns="0" rIns="0" bIns="0" rtlCol="0" anchor="ctr"/>
          <a:lstStyle/>
          <a:p>
            <a:pPr algn="l" indent="0" marL="0">
              <a:buNone/>
            </a:pPr>
            <a:r>
              <a:rPr lang="en-US" sz="1100" b="1" dirty="0">
                <a:solidFill>
                  <a:srgbClr val="2A1F3D"/>
                </a:solidFill>
                <a:latin typeface="Calibri" pitchFamily="34" charset="0"/>
                <a:ea typeface="Calibri" pitchFamily="34" charset="-122"/>
                <a:cs typeface="Calibri" pitchFamily="34" charset="-120"/>
              </a:rPr>
              <a:t>Route 2: via moles (mass → mol → mol → mass)</a:t>
            </a:r>
            <a:endParaRPr lang="en-US" sz="1100" dirty="0"/>
          </a:p>
        </p:txBody>
      </p:sp>
      <p:sp>
        <p:nvSpPr>
          <p:cNvPr id="35" name="Shape 33"/>
          <p:cNvSpPr/>
          <p:nvPr/>
        </p:nvSpPr>
        <p:spPr>
          <a:xfrm>
            <a:off x="640080" y="3950208"/>
            <a:ext cx="1097280" cy="658368"/>
          </a:xfrm>
          <a:prstGeom prst="roundRect">
            <a:avLst>
              <a:gd name="adj" fmla="val 8333"/>
            </a:avLst>
          </a:prstGeom>
          <a:solidFill>
            <a:srgbClr val="FFFFFF"/>
          </a:solidFill>
          <a:ln w="12700">
            <a:solidFill>
              <a:srgbClr val="6A3FA0"/>
            </a:solidFill>
            <a:prstDash val="solid"/>
          </a:ln>
        </p:spPr>
      </p:sp>
      <p:sp>
        <p:nvSpPr>
          <p:cNvPr id="36" name="Text 34"/>
          <p:cNvSpPr/>
          <p:nvPr/>
        </p:nvSpPr>
        <p:spPr>
          <a:xfrm>
            <a:off x="694944" y="3950208"/>
            <a:ext cx="987552" cy="6583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mass of A</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8.0 g CH₄</a:t>
            </a:r>
            <a:endParaRPr lang="en-US" sz="1000" dirty="0"/>
          </a:p>
        </p:txBody>
      </p:sp>
      <p:sp>
        <p:nvSpPr>
          <p:cNvPr id="37" name="Shape 35"/>
          <p:cNvSpPr/>
          <p:nvPr/>
        </p:nvSpPr>
        <p:spPr>
          <a:xfrm>
            <a:off x="1755648" y="4279392"/>
            <a:ext cx="192024" cy="91"/>
          </a:xfrm>
          <a:prstGeom prst="line">
            <a:avLst/>
          </a:prstGeom>
          <a:noFill/>
          <a:ln w="19050">
            <a:solidFill>
              <a:srgbClr val="2A1F3D"/>
            </a:solidFill>
            <a:prstDash val="solid"/>
            <a:tailEnd type="triangle"/>
          </a:ln>
        </p:spPr>
      </p:sp>
      <p:sp>
        <p:nvSpPr>
          <p:cNvPr id="38" name="Shape 36"/>
          <p:cNvSpPr/>
          <p:nvPr/>
        </p:nvSpPr>
        <p:spPr>
          <a:xfrm>
            <a:off x="1965960" y="3950208"/>
            <a:ext cx="1097280" cy="658368"/>
          </a:xfrm>
          <a:prstGeom prst="roundRect">
            <a:avLst>
              <a:gd name="adj" fmla="val 8333"/>
            </a:avLst>
          </a:prstGeom>
          <a:solidFill>
            <a:srgbClr val="FBE3E4"/>
          </a:solidFill>
          <a:ln w="12700">
            <a:solidFill>
              <a:srgbClr val="C8414C"/>
            </a:solidFill>
            <a:prstDash val="solid"/>
          </a:ln>
        </p:spPr>
      </p:sp>
      <p:sp>
        <p:nvSpPr>
          <p:cNvPr id="39" name="Text 37"/>
          <p:cNvSpPr/>
          <p:nvPr/>
        </p:nvSpPr>
        <p:spPr>
          <a:xfrm>
            <a:off x="2020824" y="3950208"/>
            <a:ext cx="987552" cy="6583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moles of A</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0.50 mol</a:t>
            </a:r>
            <a:endParaRPr lang="en-US" sz="1000" dirty="0"/>
          </a:p>
        </p:txBody>
      </p:sp>
      <p:sp>
        <p:nvSpPr>
          <p:cNvPr id="40" name="Shape 38"/>
          <p:cNvSpPr/>
          <p:nvPr/>
        </p:nvSpPr>
        <p:spPr>
          <a:xfrm>
            <a:off x="3081528" y="4279392"/>
            <a:ext cx="192024" cy="91"/>
          </a:xfrm>
          <a:prstGeom prst="line">
            <a:avLst/>
          </a:prstGeom>
          <a:noFill/>
          <a:ln w="19050">
            <a:solidFill>
              <a:srgbClr val="2A1F3D"/>
            </a:solidFill>
            <a:prstDash val="solid"/>
            <a:tailEnd type="triangle"/>
          </a:ln>
        </p:spPr>
      </p:sp>
      <p:sp>
        <p:nvSpPr>
          <p:cNvPr id="41" name="Shape 39"/>
          <p:cNvSpPr/>
          <p:nvPr/>
        </p:nvSpPr>
        <p:spPr>
          <a:xfrm>
            <a:off x="3291840" y="3950208"/>
            <a:ext cx="1097280" cy="658368"/>
          </a:xfrm>
          <a:prstGeom prst="roundRect">
            <a:avLst>
              <a:gd name="adj" fmla="val 8333"/>
            </a:avLst>
          </a:prstGeom>
          <a:solidFill>
            <a:srgbClr val="FBE3E4"/>
          </a:solidFill>
          <a:ln w="12700">
            <a:solidFill>
              <a:srgbClr val="C8414C"/>
            </a:solidFill>
            <a:prstDash val="solid"/>
          </a:ln>
        </p:spPr>
      </p:sp>
      <p:sp>
        <p:nvSpPr>
          <p:cNvPr id="42" name="Text 40"/>
          <p:cNvSpPr/>
          <p:nvPr/>
        </p:nvSpPr>
        <p:spPr>
          <a:xfrm>
            <a:off x="3346704" y="3950208"/>
            <a:ext cx="987552" cy="6583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moles of B</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1.00 mol H₂O</a:t>
            </a:r>
            <a:endParaRPr lang="en-US" sz="1000" dirty="0"/>
          </a:p>
        </p:txBody>
      </p:sp>
      <p:sp>
        <p:nvSpPr>
          <p:cNvPr id="43" name="Shape 41"/>
          <p:cNvSpPr/>
          <p:nvPr/>
        </p:nvSpPr>
        <p:spPr>
          <a:xfrm>
            <a:off x="4407408" y="4279392"/>
            <a:ext cx="192024" cy="91"/>
          </a:xfrm>
          <a:prstGeom prst="line">
            <a:avLst/>
          </a:prstGeom>
          <a:noFill/>
          <a:ln w="19050">
            <a:solidFill>
              <a:srgbClr val="2A1F3D"/>
            </a:solidFill>
            <a:prstDash val="solid"/>
            <a:tailEnd type="triangle"/>
          </a:ln>
        </p:spPr>
      </p:sp>
      <p:sp>
        <p:nvSpPr>
          <p:cNvPr id="44" name="Shape 42"/>
          <p:cNvSpPr/>
          <p:nvPr/>
        </p:nvSpPr>
        <p:spPr>
          <a:xfrm>
            <a:off x="4617720" y="3950208"/>
            <a:ext cx="1097280" cy="658368"/>
          </a:xfrm>
          <a:prstGeom prst="roundRect">
            <a:avLst>
              <a:gd name="adj" fmla="val 8333"/>
            </a:avLst>
          </a:prstGeom>
          <a:solidFill>
            <a:srgbClr val="FFFFFF"/>
          </a:solidFill>
          <a:ln w="12700">
            <a:solidFill>
              <a:srgbClr val="6A3FA0"/>
            </a:solidFill>
            <a:prstDash val="solid"/>
          </a:ln>
        </p:spPr>
      </p:sp>
      <p:sp>
        <p:nvSpPr>
          <p:cNvPr id="45" name="Text 43"/>
          <p:cNvSpPr/>
          <p:nvPr/>
        </p:nvSpPr>
        <p:spPr>
          <a:xfrm>
            <a:off x="4672584" y="3950208"/>
            <a:ext cx="987552" cy="6583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mass of B</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18.0 g</a:t>
            </a:r>
            <a:endParaRPr lang="en-US" sz="1000" dirty="0"/>
          </a:p>
        </p:txBody>
      </p:sp>
      <p:sp>
        <p:nvSpPr>
          <p:cNvPr id="46" name="Text 44"/>
          <p:cNvSpPr/>
          <p:nvPr/>
        </p:nvSpPr>
        <p:spPr>
          <a:xfrm>
            <a:off x="1389888" y="4663440"/>
            <a:ext cx="914400" cy="219456"/>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 Mr</a:t>
            </a:r>
            <a:endParaRPr lang="en-US" sz="1050" dirty="0"/>
          </a:p>
        </p:txBody>
      </p:sp>
      <p:sp>
        <p:nvSpPr>
          <p:cNvPr id="47" name="Text 45"/>
          <p:cNvSpPr/>
          <p:nvPr/>
        </p:nvSpPr>
        <p:spPr>
          <a:xfrm>
            <a:off x="2715768" y="4663440"/>
            <a:ext cx="914400" cy="219456"/>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 ratio</a:t>
            </a:r>
            <a:endParaRPr lang="en-US" sz="1050" dirty="0"/>
          </a:p>
        </p:txBody>
      </p:sp>
      <p:sp>
        <p:nvSpPr>
          <p:cNvPr id="48" name="Text 46"/>
          <p:cNvSpPr/>
          <p:nvPr/>
        </p:nvSpPr>
        <p:spPr>
          <a:xfrm>
            <a:off x="4041648" y="4663440"/>
            <a:ext cx="914400" cy="219456"/>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 Mr</a:t>
            </a:r>
            <a:endParaRPr lang="en-US" sz="1050" dirty="0"/>
          </a:p>
        </p:txBody>
      </p:sp>
      <p:sp>
        <p:nvSpPr>
          <p:cNvPr id="49" name="Text 47"/>
          <p:cNvSpPr/>
          <p:nvPr/>
        </p:nvSpPr>
        <p:spPr>
          <a:xfrm>
            <a:off x="640080" y="4956048"/>
            <a:ext cx="5120640" cy="274320"/>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Ratio from the equation: 1 CH₄ : 2 H₂O</a:t>
            </a:r>
            <a:endParaRPr lang="en-US" sz="1050" dirty="0"/>
          </a:p>
        </p:txBody>
      </p:sp>
      <p:sp>
        <p:nvSpPr>
          <p:cNvPr id="50" name="Shape 48"/>
          <p:cNvSpPr/>
          <p:nvPr/>
        </p:nvSpPr>
        <p:spPr>
          <a:xfrm>
            <a:off x="6217920" y="1188720"/>
            <a:ext cx="5559552" cy="2606040"/>
          </a:xfrm>
          <a:prstGeom prst="roundRect">
            <a:avLst>
              <a:gd name="adj" fmla="val 2105"/>
            </a:avLst>
          </a:prstGeom>
          <a:solidFill>
            <a:srgbClr val="F8F5FC"/>
          </a:solidFill>
          <a:ln w="9525">
            <a:solidFill>
              <a:srgbClr val="DDD3EC"/>
            </a:solidFill>
            <a:prstDash val="solid"/>
          </a:ln>
        </p:spPr>
      </p:sp>
      <p:sp>
        <p:nvSpPr>
          <p:cNvPr id="51" name="Text 49"/>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Steps</a:t>
            </a:r>
            <a:endParaRPr lang="en-US" sz="1300" dirty="0"/>
          </a:p>
        </p:txBody>
      </p:sp>
      <p:sp>
        <p:nvSpPr>
          <p:cNvPr id="52" name="Text 50"/>
          <p:cNvSpPr/>
          <p:nvPr/>
        </p:nvSpPr>
        <p:spPr>
          <a:xfrm>
            <a:off x="6382512" y="1609344"/>
            <a:ext cx="5230368" cy="211226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Write the </a:t>
            </a:r>
            <a:r>
              <a:rPr lang="en-US" sz="1100" b="1" dirty="0">
                <a:solidFill>
                  <a:srgbClr val="262B3A"/>
                </a:solidFill>
                <a:latin typeface="Calibri" pitchFamily="34" charset="0"/>
                <a:ea typeface="Calibri" pitchFamily="34" charset="-122"/>
                <a:cs typeface="Calibri" pitchFamily="34" charset="-120"/>
              </a:rPr>
              <a:t>balanced equation</a:t>
            </a:r>
            <a:r>
              <a:rPr lang="en-US" sz="1100" dirty="0">
                <a:solidFill>
                  <a:srgbClr val="262B3A"/>
                </a:solidFill>
                <a:latin typeface="Calibri" pitchFamily="34" charset="0"/>
                <a:ea typeface="Calibri" pitchFamily="34" charset="-122"/>
                <a:cs typeface="Calibri" pitchFamily="34" charset="-120"/>
              </a:rPr>
              <a:t>. Find the </a:t>
            </a:r>
            <a:r>
              <a:rPr lang="en-US" sz="1100" b="1" dirty="0">
                <a:solidFill>
                  <a:srgbClr val="262B3A"/>
                </a:solidFill>
                <a:latin typeface="Calibri" pitchFamily="34" charset="0"/>
                <a:ea typeface="Calibri" pitchFamily="34" charset="-122"/>
                <a:cs typeface="Calibri" pitchFamily="34" charset="-120"/>
              </a:rPr>
              <a:t>Mr</a:t>
            </a:r>
            <a:r>
              <a:rPr lang="en-US" sz="1100" dirty="0">
                <a:solidFill>
                  <a:srgbClr val="262B3A"/>
                </a:solidFill>
                <a:latin typeface="Calibri" pitchFamily="34" charset="0"/>
                <a:ea typeface="Calibri" pitchFamily="34" charset="-122"/>
                <a:cs typeface="Calibri" pitchFamily="34" charset="-120"/>
              </a:rPr>
              <a:t> of the two substances you need.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Route 1</a:t>
            </a:r>
            <a:r>
              <a:rPr lang="en-US" sz="1100" dirty="0">
                <a:solidFill>
                  <a:srgbClr val="262B3A"/>
                </a:solidFill>
                <a:latin typeface="Calibri" pitchFamily="34" charset="0"/>
                <a:ea typeface="Calibri" pitchFamily="34" charset="-122"/>
                <a:cs typeface="Calibri" pitchFamily="34" charset="-120"/>
              </a:rPr>
              <a:t>: multiply each Mr by its </a:t>
            </a:r>
            <a:r>
              <a:rPr lang="en-US" sz="1100" b="1" dirty="0">
                <a:solidFill>
                  <a:srgbClr val="262B3A"/>
                </a:solidFill>
                <a:latin typeface="Calibri" pitchFamily="34" charset="0"/>
                <a:ea typeface="Calibri" pitchFamily="34" charset="-122"/>
                <a:cs typeface="Calibri" pitchFamily="34" charset="-120"/>
              </a:rPr>
              <a:t>balancing number</a:t>
            </a:r>
            <a:r>
              <a:rPr lang="en-US" sz="1100" dirty="0">
                <a:solidFill>
                  <a:srgbClr val="262B3A"/>
                </a:solidFill>
                <a:latin typeface="Calibri" pitchFamily="34" charset="0"/>
                <a:ea typeface="Calibri" pitchFamily="34" charset="-122"/>
                <a:cs typeface="Calibri" pitchFamily="34" charset="-120"/>
              </a:rPr>
              <a:t>. These masses react in this </a:t>
            </a:r>
            <a:r>
              <a:rPr lang="en-US" sz="1100" b="1" dirty="0">
                <a:solidFill>
                  <a:srgbClr val="262B3A"/>
                </a:solidFill>
                <a:latin typeface="Calibri" pitchFamily="34" charset="0"/>
                <a:ea typeface="Calibri" pitchFamily="34" charset="-122"/>
                <a:cs typeface="Calibri" pitchFamily="34" charset="-120"/>
              </a:rPr>
              <a:t>ratio</a:t>
            </a:r>
            <a:r>
              <a:rPr lang="en-US" sz="1100" dirty="0">
                <a:solidFill>
                  <a:srgbClr val="262B3A"/>
                </a:solidFill>
                <a:latin typeface="Calibri" pitchFamily="34" charset="0"/>
                <a:ea typeface="Calibri" pitchFamily="34" charset="-122"/>
                <a:cs typeface="Calibri" pitchFamily="34" charset="-120"/>
              </a:rPr>
              <a:t>; scale them up or down.</a:t>
            </a:r>
            <a:endParaRPr lang="en-US" sz="1100" dirty="0"/>
          </a:p>
          <a:p>
            <a:pPr marL="152400" indent="-152400">
              <a:spcAft>
                <a:spcPts val="300"/>
              </a:spcAft>
              <a:buSzPct val="100000"/>
              <a:buChar char="▪"/>
            </a:pPr>
            <a:r>
              <a:rPr lang="en-US" sz="1100" b="1" dirty="0">
                <a:solidFill>
                  <a:srgbClr val="C8414C"/>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Route 2</a:t>
            </a:r>
            <a:r>
              <a:rPr lang="en-US" sz="1100" dirty="0">
                <a:solidFill>
                  <a:srgbClr val="262B3A"/>
                </a:solidFill>
                <a:latin typeface="Calibri" pitchFamily="34" charset="0"/>
                <a:ea typeface="Calibri" pitchFamily="34" charset="-122"/>
                <a:cs typeface="Calibri" pitchFamily="34" charset="-120"/>
              </a:rPr>
              <a:t>: moles of A = mass ÷ Mr; use the </a:t>
            </a:r>
            <a:r>
              <a:rPr lang="en-US" sz="1100" b="1" dirty="0">
                <a:solidFill>
                  <a:srgbClr val="262B3A"/>
                </a:solidFill>
                <a:latin typeface="Calibri" pitchFamily="34" charset="0"/>
                <a:ea typeface="Calibri" pitchFamily="34" charset="-122"/>
                <a:cs typeface="Calibri" pitchFamily="34" charset="-120"/>
              </a:rPr>
              <a:t>mole ratio</a:t>
            </a:r>
            <a:r>
              <a:rPr lang="en-US" sz="1100" dirty="0">
                <a:solidFill>
                  <a:srgbClr val="262B3A"/>
                </a:solidFill>
                <a:latin typeface="Calibri" pitchFamily="34" charset="0"/>
                <a:ea typeface="Calibri" pitchFamily="34" charset="-122"/>
                <a:cs typeface="Calibri" pitchFamily="34" charset="-120"/>
              </a:rPr>
              <a:t> from the equation; mass of B = moles × Mr.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Check: does the answer make sense? Round to a sensible number of </a:t>
            </a:r>
            <a:r>
              <a:rPr lang="en-US" sz="1100" b="1" dirty="0">
                <a:solidFill>
                  <a:srgbClr val="262B3A"/>
                </a:solidFill>
                <a:latin typeface="Calibri" pitchFamily="34" charset="0"/>
                <a:ea typeface="Calibri" pitchFamily="34" charset="-122"/>
                <a:cs typeface="Calibri" pitchFamily="34" charset="-120"/>
              </a:rPr>
              <a:t>significant figures</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53" name="Shape 51"/>
          <p:cNvSpPr/>
          <p:nvPr/>
        </p:nvSpPr>
        <p:spPr>
          <a:xfrm>
            <a:off x="6217920" y="3931920"/>
            <a:ext cx="5559552" cy="1783080"/>
          </a:xfrm>
          <a:prstGeom prst="roundRect">
            <a:avLst>
              <a:gd name="adj" fmla="val 3077"/>
            </a:avLst>
          </a:prstGeom>
          <a:solidFill>
            <a:srgbClr val="FFF4E0"/>
          </a:solidFill>
          <a:ln w="9525">
            <a:solidFill>
              <a:srgbClr val="F1D9A8"/>
            </a:solidFill>
            <a:prstDash val="solid"/>
          </a:ln>
        </p:spPr>
      </p:sp>
      <p:sp>
        <p:nvSpPr>
          <p:cNvPr id="54" name="Text 52"/>
          <p:cNvSpPr/>
          <p:nvPr/>
        </p:nvSpPr>
        <p:spPr>
          <a:xfrm>
            <a:off x="6382512" y="40050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(HT): water from methane</a:t>
            </a:r>
            <a:endParaRPr lang="en-US" sz="1300" dirty="0"/>
          </a:p>
        </p:txBody>
      </p:sp>
      <p:sp>
        <p:nvSpPr>
          <p:cNvPr id="55" name="Text 53"/>
          <p:cNvSpPr/>
          <p:nvPr/>
        </p:nvSpPr>
        <p:spPr>
          <a:xfrm>
            <a:off x="6382512" y="4315968"/>
            <a:ext cx="52303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What mass of water forms when 8.0 g of methane burns?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Moles CH₄   </a:t>
            </a:r>
            <a:r>
              <a:rPr lang="en-US" sz="1050" dirty="0">
                <a:solidFill>
                  <a:srgbClr val="262B3A"/>
                </a:solidFill>
                <a:latin typeface="Calibri" pitchFamily="34" charset="0"/>
                <a:ea typeface="Calibri" pitchFamily="34" charset="-122"/>
                <a:cs typeface="Calibri" pitchFamily="34" charset="-120"/>
              </a:rPr>
              <a:t>8.0 ÷ 16.0 = 0.50 mol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Ratio 1 : 2   </a:t>
            </a:r>
            <a:r>
              <a:rPr lang="en-US" sz="1050" dirty="0">
                <a:solidFill>
                  <a:srgbClr val="262B3A"/>
                </a:solidFill>
                <a:latin typeface="Calibri" pitchFamily="34" charset="0"/>
                <a:ea typeface="Calibri" pitchFamily="34" charset="-122"/>
                <a:cs typeface="Calibri" pitchFamily="34" charset="-120"/>
              </a:rPr>
              <a:t>0.50 × 2 = 1.00 mol H₂O</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1.00 × 18.0 = </a:t>
            </a:r>
            <a:r>
              <a:rPr lang="en-US" sz="1050" b="1" dirty="0">
                <a:solidFill>
                  <a:srgbClr val="C8414C"/>
                </a:solidFill>
                <a:latin typeface="Calibri" pitchFamily="34" charset="0"/>
                <a:ea typeface="Calibri" pitchFamily="34" charset="-122"/>
                <a:cs typeface="Calibri" pitchFamily="34" charset="-120"/>
              </a:rPr>
              <a:t>18.0 g</a:t>
            </a:r>
            <a:r>
              <a:rPr lang="en-US" sz="1050" b="1" dirty="0">
                <a:solidFill>
                  <a:srgbClr val="C8414C"/>
                </a:solidFill>
                <a:latin typeface="Calibri" pitchFamily="34" charset="0"/>
                <a:ea typeface="Calibri" pitchFamily="34" charset="-122"/>
                <a:cs typeface="Calibri" pitchFamily="34" charset="-120"/>
              </a:rPr>
              <a:t> of water</a:t>
            </a:r>
            <a:endParaRPr lang="en-US" sz="1050" dirty="0"/>
          </a:p>
        </p:txBody>
      </p:sp>
      <p:sp>
        <p:nvSpPr>
          <p:cNvPr id="56" name="Shape 54"/>
          <p:cNvSpPr/>
          <p:nvPr/>
        </p:nvSpPr>
        <p:spPr>
          <a:xfrm>
            <a:off x="411480" y="5833872"/>
            <a:ext cx="11368735" cy="530352"/>
          </a:xfrm>
          <a:prstGeom prst="rect">
            <a:avLst/>
          </a:prstGeom>
          <a:solidFill>
            <a:srgbClr val="FFF4E0"/>
          </a:solidFill>
          <a:ln w="6350">
            <a:solidFill>
              <a:srgbClr val="F1D9A8"/>
            </a:solidFill>
            <a:prstDash val="solid"/>
          </a:ln>
        </p:spPr>
      </p:sp>
      <p:sp>
        <p:nvSpPr>
          <p:cNvPr id="57" name="Shape 55"/>
          <p:cNvSpPr/>
          <p:nvPr/>
        </p:nvSpPr>
        <p:spPr>
          <a:xfrm>
            <a:off x="411480" y="5833872"/>
            <a:ext cx="82296" cy="530352"/>
          </a:xfrm>
          <a:prstGeom prst="rect">
            <a:avLst/>
          </a:prstGeom>
          <a:solidFill>
            <a:srgbClr val="E39A2F"/>
          </a:solidFill>
          <a:ln w="12700">
            <a:solidFill>
              <a:srgbClr val="E39A2F"/>
            </a:solidFill>
            <a:prstDash val="solid"/>
          </a:ln>
        </p:spPr>
      </p:sp>
      <p:sp>
        <p:nvSpPr>
          <p:cNvPr id="58" name="Text 5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CaCO₃ → CaO + CO₂. </a:t>
            </a:r>
            <a:r>
              <a:rPr lang="en-US" sz="1150" b="1" dirty="0">
                <a:solidFill>
                  <a:srgbClr val="262B3A"/>
                </a:solidFill>
                <a:latin typeface="Calibri" pitchFamily="34" charset="0"/>
                <a:ea typeface="Calibri" pitchFamily="34" charset="-122"/>
                <a:cs typeface="Calibri" pitchFamily="34" charset="-120"/>
              </a:rPr>
              <a:t>(F)</a:t>
            </a:r>
            <a:r>
              <a:rPr lang="en-US" sz="1150" dirty="0">
                <a:solidFill>
                  <a:srgbClr val="262B3A"/>
                </a:solidFill>
                <a:latin typeface="Calibri" pitchFamily="34" charset="0"/>
                <a:ea typeface="Calibri" pitchFamily="34" charset="-122"/>
                <a:cs typeface="Calibri" pitchFamily="34" charset="-120"/>
              </a:rPr>
              <a:t> 100.1 g of CaCO₃ gives 44.0 g of CO₂: what mass from </a:t>
            </a:r>
            <a:r>
              <a:rPr lang="en-US" sz="1150" b="1" dirty="0">
                <a:solidFill>
                  <a:srgbClr val="262B3A"/>
                </a:solidFill>
                <a:latin typeface="Calibri" pitchFamily="34" charset="0"/>
                <a:ea typeface="Calibri" pitchFamily="34" charset="-122"/>
                <a:cs typeface="Calibri" pitchFamily="34" charset="-120"/>
              </a:rPr>
              <a:t>200.2 g</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(HT)</a:t>
            </a:r>
            <a:r>
              <a:rPr lang="en-US" sz="1150" dirty="0">
                <a:solidFill>
                  <a:srgbClr val="262B3A"/>
                </a:solidFill>
                <a:latin typeface="Calibri" pitchFamily="34" charset="0"/>
                <a:ea typeface="Calibri" pitchFamily="34" charset="-122"/>
                <a:cs typeface="Calibri" pitchFamily="34" charset="-120"/>
              </a:rPr>
              <a:t> What mass of CO₂ from </a:t>
            </a:r>
            <a:r>
              <a:rPr lang="en-US" sz="1150" b="1" dirty="0">
                <a:solidFill>
                  <a:srgbClr val="262B3A"/>
                </a:solidFill>
                <a:latin typeface="Calibri" pitchFamily="34" charset="0"/>
                <a:ea typeface="Calibri" pitchFamily="34" charset="-122"/>
                <a:cs typeface="Calibri" pitchFamily="34" charset="-120"/>
              </a:rPr>
              <a:t>25.0 g</a:t>
            </a:r>
            <a:r>
              <a:rPr lang="en-US" sz="1150" dirty="0">
                <a:solidFill>
                  <a:srgbClr val="262B3A"/>
                </a:solidFill>
                <a:latin typeface="Calibri" pitchFamily="34" charset="0"/>
                <a:ea typeface="Calibri" pitchFamily="34" charset="-122"/>
                <a:cs typeface="Calibri" pitchFamily="34" charset="-120"/>
              </a:rPr>
              <a:t> of CaCO₃?</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Balancing equations from masses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C5.2.6 • deduce the stoichiometry of an equation from masses of reactants and products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C5.2.6  |  15</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moles calculated from measured masses (bars to scale)</a:t>
            </a:r>
            <a:endParaRPr lang="en-US" sz="1000" dirty="0"/>
          </a:p>
        </p:txBody>
      </p:sp>
      <p:sp>
        <p:nvSpPr>
          <p:cNvPr id="12" name="Text 10"/>
          <p:cNvSpPr/>
          <p:nvPr/>
        </p:nvSpPr>
        <p:spPr>
          <a:xfrm>
            <a:off x="640080" y="1298448"/>
            <a:ext cx="512064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2.43 g of Mg reacts with 1.60 g of O₂ to make 4.03 g of MgO</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5120640" cy="914400"/>
        </p:xfrm>
        <a:graphic>
          <a:graphicData uri="http://schemas.openxmlformats.org/drawingml/2006/table">
            <a:tbl>
              <a:tblPr/>
              <a:tblGrid>
                <a:gridCol w="1691640"/>
                <a:gridCol w="1143000"/>
                <a:gridCol w="1143000"/>
                <a:gridCol w="1143000"/>
              </a:tblGrid>
              <a:tr h="274320">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Mg</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O₂</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MgO</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Mass / g</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2.43</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1.60</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Ar or Mr</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24.3</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32.0</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Moles = m ÷ Mr</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0.100</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0.0500</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0.100</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 smallest (0.0500)</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8414C"/>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bl>
          </a:graphicData>
        </a:graphic>
      </p:graphicFrame>
      <p:sp>
        <p:nvSpPr>
          <p:cNvPr id="14" name="Shape 11"/>
          <p:cNvSpPr/>
          <p:nvPr/>
        </p:nvSpPr>
        <p:spPr>
          <a:xfrm>
            <a:off x="1325880" y="3246120"/>
            <a:ext cx="4206240" cy="1463040"/>
          </a:xfrm>
          <a:prstGeom prst="rect">
            <a:avLst/>
          </a:prstGeom>
          <a:solidFill>
            <a:srgbClr val="FFFFFF"/>
          </a:solidFill>
          <a:ln/>
        </p:spPr>
      </p:sp>
      <p:sp>
        <p:nvSpPr>
          <p:cNvPr id="15" name="Shape 12"/>
          <p:cNvSpPr/>
          <p:nvPr/>
        </p:nvSpPr>
        <p:spPr>
          <a:xfrm>
            <a:off x="1325880" y="3246120"/>
            <a:ext cx="91" cy="1463040"/>
          </a:xfrm>
          <a:prstGeom prst="line">
            <a:avLst/>
          </a:prstGeom>
          <a:noFill/>
          <a:ln w="6350">
            <a:solidFill>
              <a:srgbClr val="D6CBE8"/>
            </a:solidFill>
            <a:prstDash val="solid"/>
          </a:ln>
        </p:spPr>
      </p:sp>
      <p:sp>
        <p:nvSpPr>
          <p:cNvPr id="16" name="Shape 13"/>
          <p:cNvSpPr/>
          <p:nvPr/>
        </p:nvSpPr>
        <p:spPr>
          <a:xfrm>
            <a:off x="2727960" y="3246120"/>
            <a:ext cx="91" cy="1463040"/>
          </a:xfrm>
          <a:prstGeom prst="line">
            <a:avLst/>
          </a:prstGeom>
          <a:noFill/>
          <a:ln w="6350">
            <a:solidFill>
              <a:srgbClr val="D6CBE8"/>
            </a:solidFill>
            <a:prstDash val="solid"/>
          </a:ln>
        </p:spPr>
      </p:sp>
      <p:sp>
        <p:nvSpPr>
          <p:cNvPr id="17" name="Shape 14"/>
          <p:cNvSpPr/>
          <p:nvPr/>
        </p:nvSpPr>
        <p:spPr>
          <a:xfrm>
            <a:off x="4130040" y="3246120"/>
            <a:ext cx="91" cy="1463040"/>
          </a:xfrm>
          <a:prstGeom prst="line">
            <a:avLst/>
          </a:prstGeom>
          <a:noFill/>
          <a:ln w="6350">
            <a:solidFill>
              <a:srgbClr val="D6CBE8"/>
            </a:solidFill>
            <a:prstDash val="solid"/>
          </a:ln>
        </p:spPr>
      </p:sp>
      <p:sp>
        <p:nvSpPr>
          <p:cNvPr id="18" name="Shape 15"/>
          <p:cNvSpPr/>
          <p:nvPr/>
        </p:nvSpPr>
        <p:spPr>
          <a:xfrm>
            <a:off x="5532120" y="3246120"/>
            <a:ext cx="91" cy="1463040"/>
          </a:xfrm>
          <a:prstGeom prst="line">
            <a:avLst/>
          </a:prstGeom>
          <a:noFill/>
          <a:ln w="6350">
            <a:solidFill>
              <a:srgbClr val="D6CBE8"/>
            </a:solidFill>
            <a:prstDash val="solid"/>
          </a:ln>
        </p:spPr>
      </p:sp>
      <p:sp>
        <p:nvSpPr>
          <p:cNvPr id="19" name="Shape 16"/>
          <p:cNvSpPr/>
          <p:nvPr/>
        </p:nvSpPr>
        <p:spPr>
          <a:xfrm>
            <a:off x="1325880" y="4709160"/>
            <a:ext cx="4206240" cy="91"/>
          </a:xfrm>
          <a:prstGeom prst="line">
            <a:avLst/>
          </a:prstGeom>
          <a:noFill/>
          <a:ln w="6350">
            <a:solidFill>
              <a:srgbClr val="D6CBE8"/>
            </a:solidFill>
            <a:prstDash val="solid"/>
          </a:ln>
        </p:spPr>
      </p:sp>
      <p:sp>
        <p:nvSpPr>
          <p:cNvPr id="20" name="Shape 17"/>
          <p:cNvSpPr/>
          <p:nvPr/>
        </p:nvSpPr>
        <p:spPr>
          <a:xfrm>
            <a:off x="1325880" y="4221480"/>
            <a:ext cx="4206240" cy="91"/>
          </a:xfrm>
          <a:prstGeom prst="line">
            <a:avLst/>
          </a:prstGeom>
          <a:noFill/>
          <a:ln w="6350">
            <a:solidFill>
              <a:srgbClr val="D6CBE8"/>
            </a:solidFill>
            <a:prstDash val="solid"/>
          </a:ln>
        </p:spPr>
      </p:sp>
      <p:sp>
        <p:nvSpPr>
          <p:cNvPr id="21" name="Shape 18"/>
          <p:cNvSpPr/>
          <p:nvPr/>
        </p:nvSpPr>
        <p:spPr>
          <a:xfrm>
            <a:off x="1325880" y="3733800"/>
            <a:ext cx="4206240" cy="91"/>
          </a:xfrm>
          <a:prstGeom prst="line">
            <a:avLst/>
          </a:prstGeom>
          <a:noFill/>
          <a:ln w="6350">
            <a:solidFill>
              <a:srgbClr val="D6CBE8"/>
            </a:solidFill>
            <a:prstDash val="solid"/>
          </a:ln>
        </p:spPr>
      </p:sp>
      <p:sp>
        <p:nvSpPr>
          <p:cNvPr id="22" name="Shape 19"/>
          <p:cNvSpPr/>
          <p:nvPr/>
        </p:nvSpPr>
        <p:spPr>
          <a:xfrm>
            <a:off x="1325880" y="3246120"/>
            <a:ext cx="4206240" cy="91"/>
          </a:xfrm>
          <a:prstGeom prst="line">
            <a:avLst/>
          </a:prstGeom>
          <a:noFill/>
          <a:ln w="6350">
            <a:solidFill>
              <a:srgbClr val="D6CBE8"/>
            </a:solidFill>
            <a:prstDash val="solid"/>
          </a:ln>
        </p:spPr>
      </p:sp>
      <p:sp>
        <p:nvSpPr>
          <p:cNvPr id="23" name="Shape 20"/>
          <p:cNvSpPr/>
          <p:nvPr/>
        </p:nvSpPr>
        <p:spPr>
          <a:xfrm>
            <a:off x="1325880" y="4709160"/>
            <a:ext cx="4206240" cy="91"/>
          </a:xfrm>
          <a:prstGeom prst="line">
            <a:avLst/>
          </a:prstGeom>
          <a:noFill/>
          <a:ln w="19050">
            <a:solidFill>
              <a:srgbClr val="2A1F3D"/>
            </a:solidFill>
            <a:prstDash val="solid"/>
          </a:ln>
        </p:spPr>
      </p:sp>
      <p:sp>
        <p:nvSpPr>
          <p:cNvPr id="24" name="Shape 21"/>
          <p:cNvSpPr/>
          <p:nvPr/>
        </p:nvSpPr>
        <p:spPr>
          <a:xfrm flipV="1">
            <a:off x="1325880" y="3246120"/>
            <a:ext cx="91" cy="1463040"/>
          </a:xfrm>
          <a:prstGeom prst="line">
            <a:avLst/>
          </a:prstGeom>
          <a:noFill/>
          <a:ln w="19050">
            <a:solidFill>
              <a:srgbClr val="2A1F3D"/>
            </a:solidFill>
            <a:prstDash val="solid"/>
          </a:ln>
        </p:spPr>
      </p:sp>
      <p:sp>
        <p:nvSpPr>
          <p:cNvPr id="25" name="Shape 22"/>
          <p:cNvSpPr/>
          <p:nvPr/>
        </p:nvSpPr>
        <p:spPr>
          <a:xfrm>
            <a:off x="1325880" y="4709160"/>
            <a:ext cx="91" cy="54864"/>
          </a:xfrm>
          <a:prstGeom prst="line">
            <a:avLst/>
          </a:prstGeom>
          <a:noFill/>
          <a:ln w="12700">
            <a:solidFill>
              <a:srgbClr val="2A1F3D"/>
            </a:solidFill>
            <a:prstDash val="solid"/>
          </a:ln>
        </p:spPr>
      </p:sp>
      <p:sp>
        <p:nvSpPr>
          <p:cNvPr id="26" name="Text 23"/>
          <p:cNvSpPr/>
          <p:nvPr/>
        </p:nvSpPr>
        <p:spPr>
          <a:xfrm>
            <a:off x="1051560" y="4764024"/>
            <a:ext cx="548640" cy="182880"/>
          </a:xfrm>
          <a:prstGeom prst="rect">
            <a:avLst/>
          </a:prstGeom>
          <a:noFill/>
          <a:ln/>
        </p:spPr>
        <p:txBody>
          <a:bodyPr wrap="square" lIns="0" tIns="0" rIns="0" bIns="0" rtlCol="0" anchor="ctr"/>
          <a:lstStyle/>
          <a:p>
            <a:pPr algn="ctr" indent="0" marL="0">
              <a:buNone/>
            </a:pPr>
            <a:endParaRPr lang="en-US" sz="1000" dirty="0"/>
          </a:p>
        </p:txBody>
      </p:sp>
      <p:sp>
        <p:nvSpPr>
          <p:cNvPr id="27" name="Shape 24"/>
          <p:cNvSpPr/>
          <p:nvPr/>
        </p:nvSpPr>
        <p:spPr>
          <a:xfrm>
            <a:off x="2727960" y="4709160"/>
            <a:ext cx="91" cy="54864"/>
          </a:xfrm>
          <a:prstGeom prst="line">
            <a:avLst/>
          </a:prstGeom>
          <a:noFill/>
          <a:ln w="12700">
            <a:solidFill>
              <a:srgbClr val="2A1F3D"/>
            </a:solidFill>
            <a:prstDash val="solid"/>
          </a:ln>
        </p:spPr>
      </p:sp>
      <p:sp>
        <p:nvSpPr>
          <p:cNvPr id="28" name="Text 25"/>
          <p:cNvSpPr/>
          <p:nvPr/>
        </p:nvSpPr>
        <p:spPr>
          <a:xfrm>
            <a:off x="2453640" y="4764024"/>
            <a:ext cx="548640" cy="182880"/>
          </a:xfrm>
          <a:prstGeom prst="rect">
            <a:avLst/>
          </a:prstGeom>
          <a:noFill/>
          <a:ln/>
        </p:spPr>
        <p:txBody>
          <a:bodyPr wrap="square" lIns="0" tIns="0" rIns="0" bIns="0" rtlCol="0" anchor="ctr"/>
          <a:lstStyle/>
          <a:p>
            <a:pPr algn="ctr" indent="0" marL="0">
              <a:buNone/>
            </a:pPr>
            <a:endParaRPr lang="en-US" sz="1000" dirty="0"/>
          </a:p>
        </p:txBody>
      </p:sp>
      <p:sp>
        <p:nvSpPr>
          <p:cNvPr id="29" name="Shape 26"/>
          <p:cNvSpPr/>
          <p:nvPr/>
        </p:nvSpPr>
        <p:spPr>
          <a:xfrm>
            <a:off x="4130040" y="4709160"/>
            <a:ext cx="91" cy="54864"/>
          </a:xfrm>
          <a:prstGeom prst="line">
            <a:avLst/>
          </a:prstGeom>
          <a:noFill/>
          <a:ln w="12700">
            <a:solidFill>
              <a:srgbClr val="2A1F3D"/>
            </a:solidFill>
            <a:prstDash val="solid"/>
          </a:ln>
        </p:spPr>
      </p:sp>
      <p:sp>
        <p:nvSpPr>
          <p:cNvPr id="30" name="Text 27"/>
          <p:cNvSpPr/>
          <p:nvPr/>
        </p:nvSpPr>
        <p:spPr>
          <a:xfrm>
            <a:off x="3855720" y="4764024"/>
            <a:ext cx="548640" cy="182880"/>
          </a:xfrm>
          <a:prstGeom prst="rect">
            <a:avLst/>
          </a:prstGeom>
          <a:noFill/>
          <a:ln/>
        </p:spPr>
        <p:txBody>
          <a:bodyPr wrap="square" lIns="0" tIns="0" rIns="0" bIns="0" rtlCol="0" anchor="ctr"/>
          <a:lstStyle/>
          <a:p>
            <a:pPr algn="ctr" indent="0" marL="0">
              <a:buNone/>
            </a:pPr>
            <a:endParaRPr lang="en-US" sz="1000" dirty="0"/>
          </a:p>
        </p:txBody>
      </p:sp>
      <p:sp>
        <p:nvSpPr>
          <p:cNvPr id="31" name="Shape 28"/>
          <p:cNvSpPr/>
          <p:nvPr/>
        </p:nvSpPr>
        <p:spPr>
          <a:xfrm>
            <a:off x="5532120" y="4709160"/>
            <a:ext cx="91" cy="54864"/>
          </a:xfrm>
          <a:prstGeom prst="line">
            <a:avLst/>
          </a:prstGeom>
          <a:noFill/>
          <a:ln w="12700">
            <a:solidFill>
              <a:srgbClr val="2A1F3D"/>
            </a:solidFill>
            <a:prstDash val="solid"/>
          </a:ln>
        </p:spPr>
      </p:sp>
      <p:sp>
        <p:nvSpPr>
          <p:cNvPr id="32" name="Text 29"/>
          <p:cNvSpPr/>
          <p:nvPr/>
        </p:nvSpPr>
        <p:spPr>
          <a:xfrm>
            <a:off x="5257800" y="4764024"/>
            <a:ext cx="548640" cy="182880"/>
          </a:xfrm>
          <a:prstGeom prst="rect">
            <a:avLst/>
          </a:prstGeom>
          <a:noFill/>
          <a:ln/>
        </p:spPr>
        <p:txBody>
          <a:bodyPr wrap="square" lIns="0" tIns="0" rIns="0" bIns="0" rtlCol="0" anchor="ctr"/>
          <a:lstStyle/>
          <a:p>
            <a:pPr algn="ctr" indent="0" marL="0">
              <a:buNone/>
            </a:pPr>
            <a:endParaRPr lang="en-US" sz="1000" dirty="0"/>
          </a:p>
        </p:txBody>
      </p:sp>
      <p:sp>
        <p:nvSpPr>
          <p:cNvPr id="33" name="Shape 30"/>
          <p:cNvSpPr/>
          <p:nvPr/>
        </p:nvSpPr>
        <p:spPr>
          <a:xfrm>
            <a:off x="1271016" y="4709160"/>
            <a:ext cx="54864" cy="91"/>
          </a:xfrm>
          <a:prstGeom prst="line">
            <a:avLst/>
          </a:prstGeom>
          <a:noFill/>
          <a:ln w="12700">
            <a:solidFill>
              <a:srgbClr val="2A1F3D"/>
            </a:solidFill>
            <a:prstDash val="solid"/>
          </a:ln>
        </p:spPr>
      </p:sp>
      <p:sp>
        <p:nvSpPr>
          <p:cNvPr id="34" name="Text 31"/>
          <p:cNvSpPr/>
          <p:nvPr/>
        </p:nvSpPr>
        <p:spPr>
          <a:xfrm>
            <a:off x="886968" y="46177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0.00</a:t>
            </a:r>
            <a:endParaRPr lang="en-US" sz="1000" dirty="0"/>
          </a:p>
        </p:txBody>
      </p:sp>
      <p:sp>
        <p:nvSpPr>
          <p:cNvPr id="35" name="Shape 32"/>
          <p:cNvSpPr/>
          <p:nvPr/>
        </p:nvSpPr>
        <p:spPr>
          <a:xfrm>
            <a:off x="1271016" y="4221480"/>
            <a:ext cx="54864" cy="91"/>
          </a:xfrm>
          <a:prstGeom prst="line">
            <a:avLst/>
          </a:prstGeom>
          <a:noFill/>
          <a:ln w="12700">
            <a:solidFill>
              <a:srgbClr val="2A1F3D"/>
            </a:solidFill>
            <a:prstDash val="solid"/>
          </a:ln>
        </p:spPr>
      </p:sp>
      <p:sp>
        <p:nvSpPr>
          <p:cNvPr id="36" name="Text 33"/>
          <p:cNvSpPr/>
          <p:nvPr/>
        </p:nvSpPr>
        <p:spPr>
          <a:xfrm>
            <a:off x="886968" y="41300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0.04</a:t>
            </a:r>
            <a:endParaRPr lang="en-US" sz="1000" dirty="0"/>
          </a:p>
        </p:txBody>
      </p:sp>
      <p:sp>
        <p:nvSpPr>
          <p:cNvPr id="37" name="Shape 34"/>
          <p:cNvSpPr/>
          <p:nvPr/>
        </p:nvSpPr>
        <p:spPr>
          <a:xfrm>
            <a:off x="1271016" y="3733800"/>
            <a:ext cx="54864" cy="91"/>
          </a:xfrm>
          <a:prstGeom prst="line">
            <a:avLst/>
          </a:prstGeom>
          <a:noFill/>
          <a:ln w="12700">
            <a:solidFill>
              <a:srgbClr val="2A1F3D"/>
            </a:solidFill>
            <a:prstDash val="solid"/>
          </a:ln>
        </p:spPr>
      </p:sp>
      <p:sp>
        <p:nvSpPr>
          <p:cNvPr id="38" name="Text 35"/>
          <p:cNvSpPr/>
          <p:nvPr/>
        </p:nvSpPr>
        <p:spPr>
          <a:xfrm>
            <a:off x="886968" y="36423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0.08</a:t>
            </a:r>
            <a:endParaRPr lang="en-US" sz="1000" dirty="0"/>
          </a:p>
        </p:txBody>
      </p:sp>
      <p:sp>
        <p:nvSpPr>
          <p:cNvPr id="39" name="Shape 36"/>
          <p:cNvSpPr/>
          <p:nvPr/>
        </p:nvSpPr>
        <p:spPr>
          <a:xfrm>
            <a:off x="1271016" y="3246120"/>
            <a:ext cx="54864" cy="91"/>
          </a:xfrm>
          <a:prstGeom prst="line">
            <a:avLst/>
          </a:prstGeom>
          <a:noFill/>
          <a:ln w="12700">
            <a:solidFill>
              <a:srgbClr val="2A1F3D"/>
            </a:solidFill>
            <a:prstDash val="solid"/>
          </a:ln>
        </p:spPr>
      </p:sp>
      <p:sp>
        <p:nvSpPr>
          <p:cNvPr id="40" name="Text 37"/>
          <p:cNvSpPr/>
          <p:nvPr/>
        </p:nvSpPr>
        <p:spPr>
          <a:xfrm>
            <a:off x="886968" y="31546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0.12</a:t>
            </a:r>
            <a:endParaRPr lang="en-US" sz="1000" dirty="0"/>
          </a:p>
        </p:txBody>
      </p:sp>
      <p:sp>
        <p:nvSpPr>
          <p:cNvPr id="41" name="Text 38"/>
          <p:cNvSpPr/>
          <p:nvPr/>
        </p:nvSpPr>
        <p:spPr>
          <a:xfrm rot="16200000">
            <a:off x="27432" y="3849624"/>
            <a:ext cx="14630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Moles</a:t>
            </a:r>
            <a:endParaRPr lang="en-US" sz="1050" dirty="0"/>
          </a:p>
        </p:txBody>
      </p:sp>
      <p:sp>
        <p:nvSpPr>
          <p:cNvPr id="42" name="Shape 39"/>
          <p:cNvSpPr/>
          <p:nvPr/>
        </p:nvSpPr>
        <p:spPr>
          <a:xfrm>
            <a:off x="1706880" y="3489960"/>
            <a:ext cx="640080" cy="1219200"/>
          </a:xfrm>
          <a:prstGeom prst="rect">
            <a:avLst/>
          </a:prstGeom>
          <a:solidFill>
            <a:srgbClr val="C9CED6"/>
          </a:solidFill>
          <a:ln w="9525">
            <a:solidFill>
              <a:srgbClr val="2A1F3D"/>
            </a:solidFill>
            <a:prstDash val="solid"/>
          </a:ln>
        </p:spPr>
      </p:sp>
      <p:sp>
        <p:nvSpPr>
          <p:cNvPr id="43" name="Text 40"/>
          <p:cNvSpPr/>
          <p:nvPr/>
        </p:nvSpPr>
        <p:spPr>
          <a:xfrm>
            <a:off x="1478280" y="4754880"/>
            <a:ext cx="1097280" cy="20116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Mg</a:t>
            </a:r>
            <a:endParaRPr lang="en-US" sz="1050" dirty="0"/>
          </a:p>
        </p:txBody>
      </p:sp>
      <p:sp>
        <p:nvSpPr>
          <p:cNvPr id="44" name="Shape 41"/>
          <p:cNvSpPr/>
          <p:nvPr/>
        </p:nvSpPr>
        <p:spPr>
          <a:xfrm>
            <a:off x="3108960" y="4099560"/>
            <a:ext cx="640080" cy="609600"/>
          </a:xfrm>
          <a:prstGeom prst="rect">
            <a:avLst/>
          </a:prstGeom>
          <a:solidFill>
            <a:srgbClr val="E06666"/>
          </a:solidFill>
          <a:ln w="9525">
            <a:solidFill>
              <a:srgbClr val="2A1F3D"/>
            </a:solidFill>
            <a:prstDash val="solid"/>
          </a:ln>
        </p:spPr>
      </p:sp>
      <p:sp>
        <p:nvSpPr>
          <p:cNvPr id="45" name="Text 42"/>
          <p:cNvSpPr/>
          <p:nvPr/>
        </p:nvSpPr>
        <p:spPr>
          <a:xfrm>
            <a:off x="2880360" y="4754880"/>
            <a:ext cx="1097280" cy="20116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O₂</a:t>
            </a:r>
            <a:endParaRPr lang="en-US" sz="1050" dirty="0"/>
          </a:p>
        </p:txBody>
      </p:sp>
      <p:sp>
        <p:nvSpPr>
          <p:cNvPr id="46" name="Shape 43"/>
          <p:cNvSpPr/>
          <p:nvPr/>
        </p:nvSpPr>
        <p:spPr>
          <a:xfrm>
            <a:off x="4511040" y="3489960"/>
            <a:ext cx="640080" cy="1219200"/>
          </a:xfrm>
          <a:prstGeom prst="rect">
            <a:avLst/>
          </a:prstGeom>
          <a:solidFill>
            <a:srgbClr val="B48ACF"/>
          </a:solidFill>
          <a:ln w="9525">
            <a:solidFill>
              <a:srgbClr val="2A1F3D"/>
            </a:solidFill>
            <a:prstDash val="solid"/>
          </a:ln>
        </p:spPr>
      </p:sp>
      <p:sp>
        <p:nvSpPr>
          <p:cNvPr id="47" name="Text 44"/>
          <p:cNvSpPr/>
          <p:nvPr/>
        </p:nvSpPr>
        <p:spPr>
          <a:xfrm>
            <a:off x="4282440" y="4754880"/>
            <a:ext cx="1097280" cy="20116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MgO</a:t>
            </a:r>
            <a:endParaRPr lang="en-US" sz="1050" dirty="0"/>
          </a:p>
        </p:txBody>
      </p:sp>
      <p:sp>
        <p:nvSpPr>
          <p:cNvPr id="48" name="Text 45"/>
          <p:cNvSpPr/>
          <p:nvPr/>
        </p:nvSpPr>
        <p:spPr>
          <a:xfrm>
            <a:off x="640080" y="5074920"/>
            <a:ext cx="5120640" cy="274320"/>
          </a:xfrm>
          <a:prstGeom prst="rect">
            <a:avLst/>
          </a:prstGeom>
          <a:noFill/>
          <a:ln/>
        </p:spPr>
        <p:txBody>
          <a:bodyPr wrap="square" lIns="0" tIns="0" rIns="0" bIns="0" rtlCol="0" anchor="ctr"/>
          <a:lstStyle/>
          <a:p>
            <a:pPr algn="ctr" indent="0" marL="0">
              <a:buNone/>
            </a:pPr>
            <a:r>
              <a:rPr lang="en-US" sz="1200" b="1" dirty="0">
                <a:solidFill>
                  <a:srgbClr val="6A3FA0"/>
                </a:solidFill>
                <a:latin typeface="Calibri" pitchFamily="34" charset="0"/>
                <a:ea typeface="Calibri" pitchFamily="34" charset="-122"/>
                <a:cs typeface="Calibri" pitchFamily="34" charset="-120"/>
              </a:rPr>
              <a:t>Ratio </a:t>
            </a:r>
            <a:r>
              <a:rPr lang="en-US" sz="1200" b="1" dirty="0">
                <a:solidFill>
                  <a:srgbClr val="6A3FA0"/>
                </a:solidFill>
                <a:latin typeface="Calibri" pitchFamily="34" charset="0"/>
                <a:ea typeface="Calibri" pitchFamily="34" charset="-122"/>
                <a:cs typeface="Calibri" pitchFamily="34" charset="-120"/>
              </a:rPr>
              <a:t>2 : 1 : 2</a:t>
            </a:r>
            <a:r>
              <a:rPr lang="en-US" sz="1200" b="1" dirty="0">
                <a:solidFill>
                  <a:srgbClr val="6A3FA0"/>
                </a:solidFill>
                <a:latin typeface="Calibri" pitchFamily="34" charset="0"/>
                <a:ea typeface="Calibri" pitchFamily="34" charset="-122"/>
                <a:cs typeface="Calibri" pitchFamily="34" charset="-120"/>
              </a:rPr>
              <a:t>  →  </a:t>
            </a:r>
            <a:r>
              <a:rPr lang="en-US" sz="1200" b="1" dirty="0">
                <a:solidFill>
                  <a:srgbClr val="6A3FA0"/>
                </a:solidFill>
                <a:latin typeface="Calibri" pitchFamily="34" charset="0"/>
                <a:ea typeface="Calibri" pitchFamily="34" charset="-122"/>
                <a:cs typeface="Calibri" pitchFamily="34" charset="-120"/>
              </a:rPr>
              <a:t>2Mg + O₂ → 2MgO</a:t>
            </a:r>
            <a:endParaRPr lang="en-US" sz="1200" dirty="0"/>
          </a:p>
        </p:txBody>
      </p:sp>
      <p:sp>
        <p:nvSpPr>
          <p:cNvPr id="49" name="Shape 46"/>
          <p:cNvSpPr/>
          <p:nvPr/>
        </p:nvSpPr>
        <p:spPr>
          <a:xfrm>
            <a:off x="6217920" y="1188720"/>
            <a:ext cx="5559552" cy="2606040"/>
          </a:xfrm>
          <a:prstGeom prst="roundRect">
            <a:avLst>
              <a:gd name="adj" fmla="val 2105"/>
            </a:avLst>
          </a:prstGeom>
          <a:solidFill>
            <a:srgbClr val="F8F5FC"/>
          </a:solidFill>
          <a:ln w="9525">
            <a:solidFill>
              <a:srgbClr val="DDD3EC"/>
            </a:solidFill>
            <a:prstDash val="solid"/>
          </a:ln>
        </p:spPr>
      </p:sp>
      <p:sp>
        <p:nvSpPr>
          <p:cNvPr id="50" name="Text 47"/>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51" name="Text 48"/>
          <p:cNvSpPr/>
          <p:nvPr/>
        </p:nvSpPr>
        <p:spPr>
          <a:xfrm>
            <a:off x="6382512" y="1609344"/>
            <a:ext cx="5230368" cy="211226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Convert the mass of </a:t>
            </a:r>
            <a:r>
              <a:rPr lang="en-US" sz="1150" b="1" dirty="0">
                <a:solidFill>
                  <a:srgbClr val="262B3A"/>
                </a:solidFill>
                <a:latin typeface="Calibri" pitchFamily="34" charset="0"/>
                <a:ea typeface="Calibri" pitchFamily="34" charset="-122"/>
                <a:cs typeface="Calibri" pitchFamily="34" charset="-120"/>
              </a:rPr>
              <a:t>each</a:t>
            </a:r>
            <a:r>
              <a:rPr lang="en-US" sz="1150" dirty="0">
                <a:solidFill>
                  <a:srgbClr val="262B3A"/>
                </a:solidFill>
                <a:latin typeface="Calibri" pitchFamily="34" charset="0"/>
                <a:ea typeface="Calibri" pitchFamily="34" charset="-122"/>
                <a:cs typeface="Calibri" pitchFamily="34" charset="-120"/>
              </a:rPr>
              <a:t> substance to </a:t>
            </a:r>
            <a:r>
              <a:rPr lang="en-US" sz="1150" b="1" dirty="0">
                <a:solidFill>
                  <a:srgbClr val="262B3A"/>
                </a:solidFill>
                <a:latin typeface="Calibri" pitchFamily="34" charset="0"/>
                <a:ea typeface="Calibri" pitchFamily="34" charset="-122"/>
                <a:cs typeface="Calibri" pitchFamily="34" charset="-120"/>
              </a:rPr>
              <a:t>moles</a:t>
            </a:r>
            <a:r>
              <a:rPr lang="en-US" sz="1150" dirty="0">
                <a:solidFill>
                  <a:srgbClr val="262B3A"/>
                </a:solidFill>
                <a:latin typeface="Calibri" pitchFamily="34" charset="0"/>
                <a:ea typeface="Calibri" pitchFamily="34" charset="-122"/>
                <a:cs typeface="Calibri" pitchFamily="34" charset="-120"/>
              </a:rPr>
              <a:t> (mass ÷ Mr).</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Divide</a:t>
            </a:r>
            <a:r>
              <a:rPr lang="en-US" sz="1150" dirty="0">
                <a:solidFill>
                  <a:srgbClr val="262B3A"/>
                </a:solidFill>
                <a:latin typeface="Calibri" pitchFamily="34" charset="0"/>
                <a:ea typeface="Calibri" pitchFamily="34" charset="-122"/>
                <a:cs typeface="Calibri" pitchFamily="34" charset="-120"/>
              </a:rPr>
              <a:t> every amount by the </a:t>
            </a:r>
            <a:r>
              <a:rPr lang="en-US" sz="1150" b="1" dirty="0">
                <a:solidFill>
                  <a:srgbClr val="262B3A"/>
                </a:solidFill>
                <a:latin typeface="Calibri" pitchFamily="34" charset="0"/>
                <a:ea typeface="Calibri" pitchFamily="34" charset="-122"/>
                <a:cs typeface="Calibri" pitchFamily="34" charset="-120"/>
              </a:rPr>
              <a:t>smallest</a:t>
            </a:r>
            <a:r>
              <a:rPr lang="en-US" sz="1150" dirty="0">
                <a:solidFill>
                  <a:srgbClr val="262B3A"/>
                </a:solidFill>
                <a:latin typeface="Calibri" pitchFamily="34" charset="0"/>
                <a:ea typeface="Calibri" pitchFamily="34" charset="-122"/>
                <a:cs typeface="Calibri" pitchFamily="34" charset="-120"/>
              </a:rPr>
              <a:t> amount to get a simple ratio.</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If needed, multiply to get </a:t>
            </a:r>
            <a:r>
              <a:rPr lang="en-US" sz="1150" b="1" dirty="0">
                <a:solidFill>
                  <a:srgbClr val="262B3A"/>
                </a:solidFill>
                <a:latin typeface="Calibri" pitchFamily="34" charset="0"/>
                <a:ea typeface="Calibri" pitchFamily="34" charset="-122"/>
                <a:cs typeface="Calibri" pitchFamily="34" charset="-120"/>
              </a:rPr>
              <a:t>whole numbers</a:t>
            </a:r>
            <a:r>
              <a:rPr lang="en-US" sz="1150" dirty="0">
                <a:solidFill>
                  <a:srgbClr val="262B3A"/>
                </a:solidFill>
                <a:latin typeface="Calibri" pitchFamily="34" charset="0"/>
                <a:ea typeface="Calibri" pitchFamily="34" charset="-122"/>
                <a:cs typeface="Calibri" pitchFamily="34" charset="-120"/>
              </a:rPr>
              <a:t> (e.g. 1 : 1.5 → 2 : 3).</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ratio gives the </a:t>
            </a:r>
            <a:r>
              <a:rPr lang="en-US" sz="1150" b="1" dirty="0">
                <a:solidFill>
                  <a:srgbClr val="262B3A"/>
                </a:solidFill>
                <a:latin typeface="Calibri" pitchFamily="34" charset="0"/>
                <a:ea typeface="Calibri" pitchFamily="34" charset="-122"/>
                <a:cs typeface="Calibri" pitchFamily="34" charset="-120"/>
              </a:rPr>
              <a:t>balancing numbers</a:t>
            </a:r>
            <a:r>
              <a:rPr lang="en-US" sz="1150" dirty="0">
                <a:solidFill>
                  <a:srgbClr val="262B3A"/>
                </a:solidFill>
                <a:latin typeface="Calibri" pitchFamily="34" charset="0"/>
                <a:ea typeface="Calibri" pitchFamily="34" charset="-122"/>
                <a:cs typeface="Calibri" pitchFamily="34" charset="-120"/>
              </a:rPr>
              <a:t> in the equation: the </a:t>
            </a:r>
            <a:r>
              <a:rPr lang="en-US" sz="1150" b="1" dirty="0">
                <a:solidFill>
                  <a:srgbClr val="262B3A"/>
                </a:solidFill>
                <a:latin typeface="Calibri" pitchFamily="34" charset="0"/>
                <a:ea typeface="Calibri" pitchFamily="34" charset="-122"/>
                <a:cs typeface="Calibri" pitchFamily="34" charset="-120"/>
              </a:rPr>
              <a:t>stoichiometry</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52" name="Shape 49"/>
          <p:cNvSpPr/>
          <p:nvPr/>
        </p:nvSpPr>
        <p:spPr>
          <a:xfrm>
            <a:off x="6217920" y="3931920"/>
            <a:ext cx="5559552" cy="1783080"/>
          </a:xfrm>
          <a:prstGeom prst="roundRect">
            <a:avLst>
              <a:gd name="adj" fmla="val 3077"/>
            </a:avLst>
          </a:prstGeom>
          <a:solidFill>
            <a:srgbClr val="FFF4E0"/>
          </a:solidFill>
          <a:ln w="9525">
            <a:solidFill>
              <a:srgbClr val="F1D9A8"/>
            </a:solidFill>
            <a:prstDash val="solid"/>
          </a:ln>
        </p:spPr>
      </p:sp>
      <p:sp>
        <p:nvSpPr>
          <p:cNvPr id="53" name="Text 50"/>
          <p:cNvSpPr/>
          <p:nvPr/>
        </p:nvSpPr>
        <p:spPr>
          <a:xfrm>
            <a:off x="6382512" y="40050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magnesium oxide</a:t>
            </a:r>
            <a:endParaRPr lang="en-US" sz="1300" dirty="0"/>
          </a:p>
        </p:txBody>
      </p:sp>
      <p:sp>
        <p:nvSpPr>
          <p:cNvPr id="54" name="Text 51"/>
          <p:cNvSpPr/>
          <p:nvPr/>
        </p:nvSpPr>
        <p:spPr>
          <a:xfrm>
            <a:off x="6382512" y="4315968"/>
            <a:ext cx="52303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Use the table on the left.</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Moles   </a:t>
            </a:r>
            <a:r>
              <a:rPr lang="en-US" sz="1050" dirty="0">
                <a:solidFill>
                  <a:srgbClr val="262B3A"/>
                </a:solidFill>
                <a:latin typeface="Calibri" pitchFamily="34" charset="0"/>
                <a:ea typeface="Calibri" pitchFamily="34" charset="-122"/>
                <a:cs typeface="Calibri" pitchFamily="34" charset="-120"/>
              </a:rPr>
              <a:t>Mg 2.43 ÷ 24.3 = 0.100; O₂ 1.60 ÷ 32.0 = 0.0500; MgO 0.100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 0.0500   </a:t>
            </a:r>
            <a:r>
              <a:rPr lang="en-US" sz="1050" dirty="0">
                <a:solidFill>
                  <a:srgbClr val="262B3A"/>
                </a:solidFill>
                <a:latin typeface="Calibri" pitchFamily="34" charset="0"/>
                <a:ea typeface="Calibri" pitchFamily="34" charset="-122"/>
                <a:cs typeface="Calibri" pitchFamily="34" charset="-120"/>
              </a:rPr>
              <a:t>Mg 2, O₂ 1, MgO 2</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2Mg + O₂ → 2MgO</a:t>
            </a:r>
            <a:r>
              <a:rPr lang="en-US" sz="1050" b="1" dirty="0">
                <a:solidFill>
                  <a:srgbClr val="C8414C"/>
                </a:solidFill>
                <a:latin typeface="Calibri" pitchFamily="34" charset="0"/>
                <a:ea typeface="Calibri" pitchFamily="34" charset="-122"/>
                <a:cs typeface="Calibri" pitchFamily="34" charset="-120"/>
              </a:rPr>
              <a:t>; check: 2.43 + 1.60 = 4.03 g</a:t>
            </a:r>
            <a:endParaRPr lang="en-US" sz="1050" dirty="0"/>
          </a:p>
        </p:txBody>
      </p:sp>
      <p:sp>
        <p:nvSpPr>
          <p:cNvPr id="55"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6"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7"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b="1" dirty="0">
                <a:solidFill>
                  <a:srgbClr val="262B3A"/>
                </a:solidFill>
                <a:latin typeface="Calibri" pitchFamily="34" charset="0"/>
                <a:ea typeface="Calibri" pitchFamily="34" charset="-122"/>
                <a:cs typeface="Calibri" pitchFamily="34" charset="-120"/>
              </a:rPr>
              <a:t>1.27 g</a:t>
            </a:r>
            <a:r>
              <a:rPr lang="en-US" sz="1150" dirty="0">
                <a:solidFill>
                  <a:srgbClr val="262B3A"/>
                </a:solidFill>
                <a:latin typeface="Calibri" pitchFamily="34" charset="0"/>
                <a:ea typeface="Calibri" pitchFamily="34" charset="-122"/>
                <a:cs typeface="Calibri" pitchFamily="34" charset="-120"/>
              </a:rPr>
              <a:t> of copper reacts with </a:t>
            </a:r>
            <a:r>
              <a:rPr lang="en-US" sz="1150" b="1" dirty="0">
                <a:solidFill>
                  <a:srgbClr val="262B3A"/>
                </a:solidFill>
                <a:latin typeface="Calibri" pitchFamily="34" charset="0"/>
                <a:ea typeface="Calibri" pitchFamily="34" charset="-122"/>
                <a:cs typeface="Calibri" pitchFamily="34" charset="-120"/>
              </a:rPr>
              <a:t>0.32 g</a:t>
            </a:r>
            <a:r>
              <a:rPr lang="en-US" sz="1150" dirty="0">
                <a:solidFill>
                  <a:srgbClr val="262B3A"/>
                </a:solidFill>
                <a:latin typeface="Calibri" pitchFamily="34" charset="0"/>
                <a:ea typeface="Calibri" pitchFamily="34" charset="-122"/>
                <a:cs typeface="Calibri" pitchFamily="34" charset="-120"/>
              </a:rPr>
              <a:t> of oxygen, O₂, to make </a:t>
            </a:r>
            <a:r>
              <a:rPr lang="en-US" sz="1150" b="1" dirty="0">
                <a:solidFill>
                  <a:srgbClr val="262B3A"/>
                </a:solidFill>
                <a:latin typeface="Calibri" pitchFamily="34" charset="0"/>
                <a:ea typeface="Calibri" pitchFamily="34" charset="-122"/>
                <a:cs typeface="Calibri" pitchFamily="34" charset="-120"/>
              </a:rPr>
              <a:t>1.59 g</a:t>
            </a:r>
            <a:r>
              <a:rPr lang="en-US" sz="1150" dirty="0">
                <a:solidFill>
                  <a:srgbClr val="262B3A"/>
                </a:solidFill>
                <a:latin typeface="Calibri" pitchFamily="34" charset="0"/>
                <a:ea typeface="Calibri" pitchFamily="34" charset="-122"/>
                <a:cs typeface="Calibri" pitchFamily="34" charset="-120"/>
              </a:rPr>
              <a:t> of copper oxide, CuO. Deduce the balanced equation. (Cu = 63.5, CuO = 79.5)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C5.2.6, C5.2.7 • reacting masses • Ar: H 1.0, C 12.0, O 16.0, Mg 24.3, Cu 63.5</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16</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24.3 g of magnesium makes 40.3 g of magnesium oxide. What mass of magnesium oxide is made from </a:t>
            </a:r>
            <a:r>
              <a:rPr lang="en-US" sz="1250" b="1" dirty="0">
                <a:solidFill>
                  <a:srgbClr val="262B3A"/>
                </a:solidFill>
                <a:latin typeface="Calibri" pitchFamily="34" charset="0"/>
                <a:ea typeface="Calibri" pitchFamily="34" charset="-122"/>
                <a:cs typeface="Calibri" pitchFamily="34" charset="-120"/>
              </a:rPr>
              <a:t>2.43 g</a:t>
            </a:r>
            <a:r>
              <a:rPr lang="en-US" sz="1250" dirty="0">
                <a:solidFill>
                  <a:srgbClr val="262B3A"/>
                </a:solidFill>
                <a:latin typeface="Calibri" pitchFamily="34" charset="0"/>
                <a:ea typeface="Calibri" pitchFamily="34" charset="-122"/>
                <a:cs typeface="Calibri" pitchFamily="34" charset="-120"/>
              </a:rPr>
              <a:t> of magnesium?</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Shape 14"/>
          <p:cNvSpPr/>
          <p:nvPr/>
        </p:nvSpPr>
        <p:spPr>
          <a:xfrm>
            <a:off x="2606040" y="2521458"/>
            <a:ext cx="411480" cy="274320"/>
          </a:xfrm>
          <a:prstGeom prst="roundRect">
            <a:avLst>
              <a:gd name="adj" fmla="val 50000"/>
            </a:avLst>
          </a:prstGeom>
          <a:solidFill>
            <a:srgbClr val="C8414C"/>
          </a:solidFill>
          <a:ln w="12700">
            <a:solidFill>
              <a:srgbClr val="C8414C"/>
            </a:solidFill>
            <a:prstDash val="solid"/>
          </a:ln>
        </p:spPr>
      </p:sp>
      <p:sp>
        <p:nvSpPr>
          <p:cNvPr id="17" name="Text 15"/>
          <p:cNvSpPr/>
          <p:nvPr/>
        </p:nvSpPr>
        <p:spPr>
          <a:xfrm>
            <a:off x="2606040" y="252145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8" name="Text 16"/>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Carbon burns: C + O₂ → CO₂. Calculate the mass of carbon dioxide made from </a:t>
            </a:r>
            <a:r>
              <a:rPr lang="en-US" sz="1250" b="1" dirty="0">
                <a:solidFill>
                  <a:srgbClr val="262B3A"/>
                </a:solidFill>
                <a:latin typeface="Calibri" pitchFamily="34" charset="0"/>
                <a:ea typeface="Calibri" pitchFamily="34" charset="-122"/>
                <a:cs typeface="Calibri" pitchFamily="34" charset="-120"/>
              </a:rPr>
              <a:t>3.0 g</a:t>
            </a:r>
            <a:r>
              <a:rPr lang="en-US" sz="1250" dirty="0">
                <a:solidFill>
                  <a:srgbClr val="262B3A"/>
                </a:solidFill>
                <a:latin typeface="Calibri" pitchFamily="34" charset="0"/>
                <a:ea typeface="Calibri" pitchFamily="34" charset="-122"/>
                <a:cs typeface="Calibri" pitchFamily="34" charset="-120"/>
              </a:rPr>
              <a:t> of carbon.</a:t>
            </a:r>
            <a:endParaRPr lang="en-US" sz="1250" dirty="0"/>
          </a:p>
        </p:txBody>
      </p:sp>
      <p:sp>
        <p:nvSpPr>
          <p:cNvPr id="19" name="Text 17"/>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0" name="Shape 18"/>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21" name="Shape 19"/>
          <p:cNvSpPr/>
          <p:nvPr/>
        </p:nvSpPr>
        <p:spPr>
          <a:xfrm>
            <a:off x="411480" y="3817620"/>
            <a:ext cx="2103120" cy="292608"/>
          </a:xfrm>
          <a:prstGeom prst="rect">
            <a:avLst/>
          </a:prstGeom>
          <a:solidFill>
            <a:srgbClr val="F5A742"/>
          </a:solidFill>
          <a:ln w="12700">
            <a:solidFill>
              <a:srgbClr val="F5A742"/>
            </a:solidFill>
            <a:prstDash val="solid"/>
          </a:ln>
        </p:spPr>
      </p:sp>
      <p:sp>
        <p:nvSpPr>
          <p:cNvPr id="22" name="Text 20"/>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3" name="Shape 21"/>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Mg + 2HCl → MgCl₂ + H₂. Calculate the mass of hydrogen made from </a:t>
            </a:r>
            <a:r>
              <a:rPr lang="en-US" sz="1250" b="1" dirty="0">
                <a:solidFill>
                  <a:srgbClr val="262B3A"/>
                </a:solidFill>
                <a:latin typeface="Calibri" pitchFamily="34" charset="0"/>
                <a:ea typeface="Calibri" pitchFamily="34" charset="-122"/>
                <a:cs typeface="Calibri" pitchFamily="34" charset="-120"/>
              </a:rPr>
              <a:t>2.43 g</a:t>
            </a:r>
            <a:r>
              <a:rPr lang="en-US" sz="1250" dirty="0">
                <a:solidFill>
                  <a:srgbClr val="262B3A"/>
                </a:solidFill>
                <a:latin typeface="Calibri" pitchFamily="34" charset="0"/>
                <a:ea typeface="Calibri" pitchFamily="34" charset="-122"/>
                <a:cs typeface="Calibri" pitchFamily="34" charset="-120"/>
              </a:rPr>
              <a:t> of magnesium with excess acid.</a:t>
            </a:r>
            <a:endParaRPr lang="en-US" sz="1250" dirty="0"/>
          </a:p>
        </p:txBody>
      </p:sp>
      <p:sp>
        <p:nvSpPr>
          <p:cNvPr id="26" name="Text 24"/>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8" name="Shape 26"/>
          <p:cNvSpPr/>
          <p:nvPr/>
        </p:nvSpPr>
        <p:spPr>
          <a:xfrm>
            <a:off x="411480" y="5122926"/>
            <a:ext cx="2103120" cy="292608"/>
          </a:xfrm>
          <a:prstGeom prst="rect">
            <a:avLst/>
          </a:prstGeom>
          <a:solidFill>
            <a:srgbClr val="F5A742"/>
          </a:solidFill>
          <a:ln w="12700">
            <a:solidFill>
              <a:srgbClr val="F5A742"/>
            </a:solidFill>
            <a:prstDash val="solid"/>
          </a:ln>
        </p:spPr>
      </p:sp>
      <p:sp>
        <p:nvSpPr>
          <p:cNvPr id="29" name="Text 27"/>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30" name="Shape 28"/>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31" name="Text 29"/>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2" name="Text 30"/>
          <p:cNvSpPr/>
          <p:nvPr/>
        </p:nvSpPr>
        <p:spPr>
          <a:xfrm>
            <a:off x="640080" y="5488686"/>
            <a:ext cx="9539935" cy="720090"/>
          </a:xfrm>
          <a:prstGeom prst="rect">
            <a:avLst/>
          </a:prstGeom>
          <a:noFill/>
          <a:ln/>
        </p:spPr>
        <p:txBody>
          <a:bodyPr wrap="square" lIns="0" tIns="0" rIns="0" bIns="0" rtlCol="0" anchor="t"/>
          <a:lstStyle/>
          <a:p>
            <a:pPr indent="0" marL="0">
              <a:buNone/>
            </a:pPr>
            <a:r>
              <a:rPr lang="en-US" sz="1250" b="1" dirty="0">
                <a:solidFill>
                  <a:srgbClr val="262B3A"/>
                </a:solidFill>
                <a:latin typeface="Calibri" pitchFamily="34" charset="0"/>
                <a:ea typeface="Calibri" pitchFamily="34" charset="-122"/>
                <a:cs typeface="Calibri" pitchFamily="34" charset="-120"/>
              </a:rPr>
              <a:t>2.54 g</a:t>
            </a:r>
            <a:r>
              <a:rPr lang="en-US" sz="1250" dirty="0">
                <a:solidFill>
                  <a:srgbClr val="262B3A"/>
                </a:solidFill>
                <a:latin typeface="Calibri" pitchFamily="34" charset="0"/>
                <a:ea typeface="Calibri" pitchFamily="34" charset="-122"/>
                <a:cs typeface="Calibri" pitchFamily="34" charset="-120"/>
              </a:rPr>
              <a:t> of Cu reacts with </a:t>
            </a:r>
            <a:r>
              <a:rPr lang="en-US" sz="1250" b="1" dirty="0">
                <a:solidFill>
                  <a:srgbClr val="262B3A"/>
                </a:solidFill>
                <a:latin typeface="Calibri" pitchFamily="34" charset="0"/>
                <a:ea typeface="Calibri" pitchFamily="34" charset="-122"/>
                <a:cs typeface="Calibri" pitchFamily="34" charset="-120"/>
              </a:rPr>
              <a:t>0.64 g</a:t>
            </a:r>
            <a:r>
              <a:rPr lang="en-US" sz="1250" dirty="0">
                <a:solidFill>
                  <a:srgbClr val="262B3A"/>
                </a:solidFill>
                <a:latin typeface="Calibri" pitchFamily="34" charset="0"/>
                <a:ea typeface="Calibri" pitchFamily="34" charset="-122"/>
                <a:cs typeface="Calibri" pitchFamily="34" charset="-120"/>
              </a:rPr>
              <a:t> of O₂ to make </a:t>
            </a:r>
            <a:r>
              <a:rPr lang="en-US" sz="1250" b="1" dirty="0">
                <a:solidFill>
                  <a:srgbClr val="262B3A"/>
                </a:solidFill>
                <a:latin typeface="Calibri" pitchFamily="34" charset="0"/>
                <a:ea typeface="Calibri" pitchFamily="34" charset="-122"/>
                <a:cs typeface="Calibri" pitchFamily="34" charset="-120"/>
              </a:rPr>
              <a:t>3.18 g</a:t>
            </a:r>
            <a:r>
              <a:rPr lang="en-US" sz="1250" dirty="0">
                <a:solidFill>
                  <a:srgbClr val="262B3A"/>
                </a:solidFill>
                <a:latin typeface="Calibri" pitchFamily="34" charset="0"/>
                <a:ea typeface="Calibri" pitchFamily="34" charset="-122"/>
                <a:cs typeface="Calibri" pitchFamily="34" charset="-120"/>
              </a:rPr>
              <a:t> of CuO. Use moles to deduce the balanced equation.</a:t>
            </a:r>
            <a:endParaRPr lang="en-US" sz="1250" dirty="0"/>
          </a:p>
        </p:txBody>
      </p:sp>
      <p:sp>
        <p:nvSpPr>
          <p:cNvPr id="33" name="Text 31"/>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Limiting reactants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C5.2.8 • the effect of a limiting quantity of a reactant on the amount of product</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C5.2.8  |  17</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particle model: H₂ + Cl₂ → 2HCl; each molecule drawn once</a:t>
            </a:r>
            <a:endParaRPr lang="en-US" sz="1000" dirty="0"/>
          </a:p>
        </p:txBody>
      </p:sp>
      <p:sp>
        <p:nvSpPr>
          <p:cNvPr id="12" name="Shape 10"/>
          <p:cNvSpPr/>
          <p:nvPr/>
        </p:nvSpPr>
        <p:spPr>
          <a:xfrm>
            <a:off x="685800" y="1325880"/>
            <a:ext cx="5029200" cy="347472"/>
          </a:xfrm>
          <a:prstGeom prst="roundRect">
            <a:avLst>
              <a:gd name="adj" fmla="val 13158"/>
            </a:avLst>
          </a:prstGeom>
          <a:solidFill>
            <a:srgbClr val="FFFFFF"/>
          </a:solidFill>
          <a:ln w="12700">
            <a:solidFill>
              <a:srgbClr val="DDD3EC"/>
            </a:solidFill>
            <a:prstDash val="solid"/>
          </a:ln>
        </p:spPr>
      </p:sp>
      <p:sp>
        <p:nvSpPr>
          <p:cNvPr id="13" name="Text 11"/>
          <p:cNvSpPr/>
          <p:nvPr/>
        </p:nvSpPr>
        <p:spPr>
          <a:xfrm>
            <a:off x="758952" y="1325880"/>
            <a:ext cx="4882896" cy="347472"/>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H₂(g) + Cl₂(g) → 2HCl(g)</a:t>
            </a:r>
            <a:endParaRPr lang="en-US" sz="1200" dirty="0"/>
          </a:p>
        </p:txBody>
      </p:sp>
      <p:sp>
        <p:nvSpPr>
          <p:cNvPr id="14" name="Shape 12"/>
          <p:cNvSpPr/>
          <p:nvPr/>
        </p:nvSpPr>
        <p:spPr>
          <a:xfrm>
            <a:off x="685800" y="2057400"/>
            <a:ext cx="2423160" cy="2103120"/>
          </a:xfrm>
          <a:prstGeom prst="rect">
            <a:avLst/>
          </a:prstGeom>
          <a:solidFill>
            <a:srgbClr val="FFFFFF"/>
          </a:solidFill>
          <a:ln w="15875">
            <a:solidFill>
              <a:srgbClr val="2A1F3D"/>
            </a:solidFill>
            <a:prstDash val="solid"/>
          </a:ln>
        </p:spPr>
      </p:sp>
      <p:sp>
        <p:nvSpPr>
          <p:cNvPr id="15" name="Text 13"/>
          <p:cNvSpPr/>
          <p:nvPr/>
        </p:nvSpPr>
        <p:spPr>
          <a:xfrm>
            <a:off x="685800" y="1783080"/>
            <a:ext cx="242316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Before: 5 H₂ + 3 Cl₂</a:t>
            </a:r>
            <a:endParaRPr lang="en-US" sz="1050" dirty="0"/>
          </a:p>
        </p:txBody>
      </p:sp>
      <p:sp>
        <p:nvSpPr>
          <p:cNvPr id="16" name="Shape 14"/>
          <p:cNvSpPr/>
          <p:nvPr/>
        </p:nvSpPr>
        <p:spPr>
          <a:xfrm>
            <a:off x="3291840" y="2057400"/>
            <a:ext cx="2423160" cy="2103120"/>
          </a:xfrm>
          <a:prstGeom prst="rect">
            <a:avLst/>
          </a:prstGeom>
          <a:solidFill>
            <a:srgbClr val="FFFFFF"/>
          </a:solidFill>
          <a:ln w="15875">
            <a:solidFill>
              <a:srgbClr val="2A1F3D"/>
            </a:solidFill>
            <a:prstDash val="solid"/>
          </a:ln>
        </p:spPr>
      </p:sp>
      <p:sp>
        <p:nvSpPr>
          <p:cNvPr id="17" name="Text 15"/>
          <p:cNvSpPr/>
          <p:nvPr/>
        </p:nvSpPr>
        <p:spPr>
          <a:xfrm>
            <a:off x="3291840" y="1783080"/>
            <a:ext cx="242316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After: 6 HCl + 2 H₂ left</a:t>
            </a:r>
            <a:endParaRPr lang="en-US" sz="1050" dirty="0"/>
          </a:p>
        </p:txBody>
      </p:sp>
      <p:sp>
        <p:nvSpPr>
          <p:cNvPr id="18" name="Shape 16"/>
          <p:cNvSpPr/>
          <p:nvPr/>
        </p:nvSpPr>
        <p:spPr>
          <a:xfrm>
            <a:off x="3127248" y="3108960"/>
            <a:ext cx="146304" cy="91"/>
          </a:xfrm>
          <a:prstGeom prst="line">
            <a:avLst/>
          </a:prstGeom>
          <a:noFill/>
          <a:ln w="25400">
            <a:solidFill>
              <a:srgbClr val="2A1F3D"/>
            </a:solidFill>
            <a:prstDash val="solid"/>
            <a:tailEnd type="triangle"/>
          </a:ln>
        </p:spPr>
      </p:sp>
      <p:sp>
        <p:nvSpPr>
          <p:cNvPr id="19" name="Shape 17"/>
          <p:cNvSpPr/>
          <p:nvPr/>
        </p:nvSpPr>
        <p:spPr>
          <a:xfrm>
            <a:off x="870509" y="2276856"/>
            <a:ext cx="201168" cy="201168"/>
          </a:xfrm>
          <a:prstGeom prst="ellipse">
            <a:avLst/>
          </a:prstGeom>
          <a:solidFill>
            <a:srgbClr val="FFFFFF"/>
          </a:solidFill>
          <a:ln w="12700">
            <a:solidFill>
              <a:srgbClr val="8A8F99"/>
            </a:solidFill>
            <a:prstDash val="solid"/>
          </a:ln>
        </p:spPr>
      </p:sp>
      <p:sp>
        <p:nvSpPr>
          <p:cNvPr id="20" name="Text 18"/>
          <p:cNvSpPr/>
          <p:nvPr/>
        </p:nvSpPr>
        <p:spPr>
          <a:xfrm>
            <a:off x="870509" y="227685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21" name="Shape 19"/>
          <p:cNvSpPr/>
          <p:nvPr/>
        </p:nvSpPr>
        <p:spPr>
          <a:xfrm>
            <a:off x="1031443" y="2276856"/>
            <a:ext cx="201168" cy="201168"/>
          </a:xfrm>
          <a:prstGeom prst="ellipse">
            <a:avLst/>
          </a:prstGeom>
          <a:solidFill>
            <a:srgbClr val="FFFFFF"/>
          </a:solidFill>
          <a:ln w="12700">
            <a:solidFill>
              <a:srgbClr val="8A8F99"/>
            </a:solidFill>
            <a:prstDash val="solid"/>
          </a:ln>
        </p:spPr>
      </p:sp>
      <p:sp>
        <p:nvSpPr>
          <p:cNvPr id="22" name="Text 20"/>
          <p:cNvSpPr/>
          <p:nvPr/>
        </p:nvSpPr>
        <p:spPr>
          <a:xfrm>
            <a:off x="1031443" y="227685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23" name="Shape 21"/>
          <p:cNvSpPr/>
          <p:nvPr/>
        </p:nvSpPr>
        <p:spPr>
          <a:xfrm>
            <a:off x="1739189" y="2231136"/>
            <a:ext cx="201168" cy="201168"/>
          </a:xfrm>
          <a:prstGeom prst="ellipse">
            <a:avLst/>
          </a:prstGeom>
          <a:solidFill>
            <a:srgbClr val="FFFFFF"/>
          </a:solidFill>
          <a:ln w="12700">
            <a:solidFill>
              <a:srgbClr val="8A8F99"/>
            </a:solidFill>
            <a:prstDash val="solid"/>
          </a:ln>
        </p:spPr>
      </p:sp>
      <p:sp>
        <p:nvSpPr>
          <p:cNvPr id="24" name="Text 22"/>
          <p:cNvSpPr/>
          <p:nvPr/>
        </p:nvSpPr>
        <p:spPr>
          <a:xfrm>
            <a:off x="1739189" y="223113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25" name="Shape 23"/>
          <p:cNvSpPr/>
          <p:nvPr/>
        </p:nvSpPr>
        <p:spPr>
          <a:xfrm>
            <a:off x="1900123" y="2231136"/>
            <a:ext cx="201168" cy="201168"/>
          </a:xfrm>
          <a:prstGeom prst="ellipse">
            <a:avLst/>
          </a:prstGeom>
          <a:solidFill>
            <a:srgbClr val="FFFFFF"/>
          </a:solidFill>
          <a:ln w="12700">
            <a:solidFill>
              <a:srgbClr val="8A8F99"/>
            </a:solidFill>
            <a:prstDash val="solid"/>
          </a:ln>
        </p:spPr>
      </p:sp>
      <p:sp>
        <p:nvSpPr>
          <p:cNvPr id="26" name="Text 24"/>
          <p:cNvSpPr/>
          <p:nvPr/>
        </p:nvSpPr>
        <p:spPr>
          <a:xfrm>
            <a:off x="1900123" y="223113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27" name="Shape 25"/>
          <p:cNvSpPr/>
          <p:nvPr/>
        </p:nvSpPr>
        <p:spPr>
          <a:xfrm>
            <a:off x="2470709" y="2414016"/>
            <a:ext cx="201168" cy="201168"/>
          </a:xfrm>
          <a:prstGeom prst="ellipse">
            <a:avLst/>
          </a:prstGeom>
          <a:solidFill>
            <a:srgbClr val="FFFFFF"/>
          </a:solidFill>
          <a:ln w="12700">
            <a:solidFill>
              <a:srgbClr val="8A8F99"/>
            </a:solidFill>
            <a:prstDash val="solid"/>
          </a:ln>
        </p:spPr>
      </p:sp>
      <p:sp>
        <p:nvSpPr>
          <p:cNvPr id="28" name="Text 26"/>
          <p:cNvSpPr/>
          <p:nvPr/>
        </p:nvSpPr>
        <p:spPr>
          <a:xfrm>
            <a:off x="2470709" y="241401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29" name="Shape 27"/>
          <p:cNvSpPr/>
          <p:nvPr/>
        </p:nvSpPr>
        <p:spPr>
          <a:xfrm>
            <a:off x="2631643" y="2414016"/>
            <a:ext cx="201168" cy="201168"/>
          </a:xfrm>
          <a:prstGeom prst="ellipse">
            <a:avLst/>
          </a:prstGeom>
          <a:solidFill>
            <a:srgbClr val="FFFFFF"/>
          </a:solidFill>
          <a:ln w="12700">
            <a:solidFill>
              <a:srgbClr val="8A8F99"/>
            </a:solidFill>
            <a:prstDash val="solid"/>
          </a:ln>
        </p:spPr>
      </p:sp>
      <p:sp>
        <p:nvSpPr>
          <p:cNvPr id="30" name="Text 28"/>
          <p:cNvSpPr/>
          <p:nvPr/>
        </p:nvSpPr>
        <p:spPr>
          <a:xfrm>
            <a:off x="2631643" y="241401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31" name="Shape 29"/>
          <p:cNvSpPr/>
          <p:nvPr/>
        </p:nvSpPr>
        <p:spPr>
          <a:xfrm>
            <a:off x="1099109" y="2962656"/>
            <a:ext cx="201168" cy="201168"/>
          </a:xfrm>
          <a:prstGeom prst="ellipse">
            <a:avLst/>
          </a:prstGeom>
          <a:solidFill>
            <a:srgbClr val="FFFFFF"/>
          </a:solidFill>
          <a:ln w="12700">
            <a:solidFill>
              <a:srgbClr val="8A8F99"/>
            </a:solidFill>
            <a:prstDash val="solid"/>
          </a:ln>
        </p:spPr>
      </p:sp>
      <p:sp>
        <p:nvSpPr>
          <p:cNvPr id="32" name="Text 30"/>
          <p:cNvSpPr/>
          <p:nvPr/>
        </p:nvSpPr>
        <p:spPr>
          <a:xfrm>
            <a:off x="1099109" y="296265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33" name="Shape 31"/>
          <p:cNvSpPr/>
          <p:nvPr/>
        </p:nvSpPr>
        <p:spPr>
          <a:xfrm>
            <a:off x="1260043" y="2962656"/>
            <a:ext cx="201168" cy="201168"/>
          </a:xfrm>
          <a:prstGeom prst="ellipse">
            <a:avLst/>
          </a:prstGeom>
          <a:solidFill>
            <a:srgbClr val="FFFFFF"/>
          </a:solidFill>
          <a:ln w="12700">
            <a:solidFill>
              <a:srgbClr val="8A8F99"/>
            </a:solidFill>
            <a:prstDash val="solid"/>
          </a:ln>
        </p:spPr>
      </p:sp>
      <p:sp>
        <p:nvSpPr>
          <p:cNvPr id="34" name="Text 32"/>
          <p:cNvSpPr/>
          <p:nvPr/>
        </p:nvSpPr>
        <p:spPr>
          <a:xfrm>
            <a:off x="1260043" y="296265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35" name="Shape 33"/>
          <p:cNvSpPr/>
          <p:nvPr/>
        </p:nvSpPr>
        <p:spPr>
          <a:xfrm>
            <a:off x="2196389" y="3008376"/>
            <a:ext cx="201168" cy="201168"/>
          </a:xfrm>
          <a:prstGeom prst="ellipse">
            <a:avLst/>
          </a:prstGeom>
          <a:solidFill>
            <a:srgbClr val="FFFFFF"/>
          </a:solidFill>
          <a:ln w="12700">
            <a:solidFill>
              <a:srgbClr val="8A8F99"/>
            </a:solidFill>
            <a:prstDash val="solid"/>
          </a:ln>
        </p:spPr>
      </p:sp>
      <p:sp>
        <p:nvSpPr>
          <p:cNvPr id="36" name="Text 34"/>
          <p:cNvSpPr/>
          <p:nvPr/>
        </p:nvSpPr>
        <p:spPr>
          <a:xfrm>
            <a:off x="2196389" y="300837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37" name="Shape 35"/>
          <p:cNvSpPr/>
          <p:nvPr/>
        </p:nvSpPr>
        <p:spPr>
          <a:xfrm>
            <a:off x="2357323" y="3008376"/>
            <a:ext cx="201168" cy="201168"/>
          </a:xfrm>
          <a:prstGeom prst="ellipse">
            <a:avLst/>
          </a:prstGeom>
          <a:solidFill>
            <a:srgbClr val="FFFFFF"/>
          </a:solidFill>
          <a:ln w="12700">
            <a:solidFill>
              <a:srgbClr val="8A8F99"/>
            </a:solidFill>
            <a:prstDash val="solid"/>
          </a:ln>
        </p:spPr>
      </p:sp>
      <p:sp>
        <p:nvSpPr>
          <p:cNvPr id="38" name="Text 36"/>
          <p:cNvSpPr/>
          <p:nvPr/>
        </p:nvSpPr>
        <p:spPr>
          <a:xfrm>
            <a:off x="2357323" y="300837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39" name="Shape 37"/>
          <p:cNvSpPr/>
          <p:nvPr/>
        </p:nvSpPr>
        <p:spPr>
          <a:xfrm>
            <a:off x="866851" y="3621024"/>
            <a:ext cx="256032" cy="256032"/>
          </a:xfrm>
          <a:prstGeom prst="ellipse">
            <a:avLst/>
          </a:prstGeom>
          <a:solidFill>
            <a:srgbClr val="7DBE6A"/>
          </a:solidFill>
          <a:ln w="12700">
            <a:solidFill>
              <a:srgbClr val="3E7F2E"/>
            </a:solidFill>
            <a:prstDash val="solid"/>
          </a:ln>
        </p:spPr>
      </p:sp>
      <p:sp>
        <p:nvSpPr>
          <p:cNvPr id="40" name="Text 38"/>
          <p:cNvSpPr/>
          <p:nvPr/>
        </p:nvSpPr>
        <p:spPr>
          <a:xfrm>
            <a:off x="866851" y="3621024"/>
            <a:ext cx="256032" cy="256032"/>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41" name="Shape 39"/>
          <p:cNvSpPr/>
          <p:nvPr/>
        </p:nvSpPr>
        <p:spPr>
          <a:xfrm>
            <a:off x="1071677" y="3621024"/>
            <a:ext cx="256032" cy="256032"/>
          </a:xfrm>
          <a:prstGeom prst="ellipse">
            <a:avLst/>
          </a:prstGeom>
          <a:solidFill>
            <a:srgbClr val="7DBE6A"/>
          </a:solidFill>
          <a:ln w="12700">
            <a:solidFill>
              <a:srgbClr val="3E7F2E"/>
            </a:solidFill>
            <a:prstDash val="solid"/>
          </a:ln>
        </p:spPr>
      </p:sp>
      <p:sp>
        <p:nvSpPr>
          <p:cNvPr id="42" name="Text 40"/>
          <p:cNvSpPr/>
          <p:nvPr/>
        </p:nvSpPr>
        <p:spPr>
          <a:xfrm>
            <a:off x="1071677" y="3621024"/>
            <a:ext cx="256032" cy="256032"/>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43" name="Shape 41"/>
          <p:cNvSpPr/>
          <p:nvPr/>
        </p:nvSpPr>
        <p:spPr>
          <a:xfrm>
            <a:off x="1644091" y="3438144"/>
            <a:ext cx="256032" cy="256032"/>
          </a:xfrm>
          <a:prstGeom prst="ellipse">
            <a:avLst/>
          </a:prstGeom>
          <a:solidFill>
            <a:srgbClr val="7DBE6A"/>
          </a:solidFill>
          <a:ln w="12700">
            <a:solidFill>
              <a:srgbClr val="3E7F2E"/>
            </a:solidFill>
            <a:prstDash val="solid"/>
          </a:ln>
        </p:spPr>
      </p:sp>
      <p:sp>
        <p:nvSpPr>
          <p:cNvPr id="44" name="Text 42"/>
          <p:cNvSpPr/>
          <p:nvPr/>
        </p:nvSpPr>
        <p:spPr>
          <a:xfrm>
            <a:off x="1644091" y="3438144"/>
            <a:ext cx="256032" cy="256032"/>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45" name="Shape 43"/>
          <p:cNvSpPr/>
          <p:nvPr/>
        </p:nvSpPr>
        <p:spPr>
          <a:xfrm>
            <a:off x="1848917" y="3438144"/>
            <a:ext cx="256032" cy="256032"/>
          </a:xfrm>
          <a:prstGeom prst="ellipse">
            <a:avLst/>
          </a:prstGeom>
          <a:solidFill>
            <a:srgbClr val="7DBE6A"/>
          </a:solidFill>
          <a:ln w="12700">
            <a:solidFill>
              <a:srgbClr val="3E7F2E"/>
            </a:solidFill>
            <a:prstDash val="solid"/>
          </a:ln>
        </p:spPr>
      </p:sp>
      <p:sp>
        <p:nvSpPr>
          <p:cNvPr id="46" name="Text 44"/>
          <p:cNvSpPr/>
          <p:nvPr/>
        </p:nvSpPr>
        <p:spPr>
          <a:xfrm>
            <a:off x="1848917" y="3438144"/>
            <a:ext cx="256032" cy="256032"/>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47" name="Shape 45"/>
          <p:cNvSpPr/>
          <p:nvPr/>
        </p:nvSpPr>
        <p:spPr>
          <a:xfrm>
            <a:off x="2375611" y="3712464"/>
            <a:ext cx="256032" cy="256032"/>
          </a:xfrm>
          <a:prstGeom prst="ellipse">
            <a:avLst/>
          </a:prstGeom>
          <a:solidFill>
            <a:srgbClr val="7DBE6A"/>
          </a:solidFill>
          <a:ln w="12700">
            <a:solidFill>
              <a:srgbClr val="3E7F2E"/>
            </a:solidFill>
            <a:prstDash val="solid"/>
          </a:ln>
        </p:spPr>
      </p:sp>
      <p:sp>
        <p:nvSpPr>
          <p:cNvPr id="48" name="Text 46"/>
          <p:cNvSpPr/>
          <p:nvPr/>
        </p:nvSpPr>
        <p:spPr>
          <a:xfrm>
            <a:off x="2375611" y="3712464"/>
            <a:ext cx="256032" cy="256032"/>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49" name="Shape 47"/>
          <p:cNvSpPr/>
          <p:nvPr/>
        </p:nvSpPr>
        <p:spPr>
          <a:xfrm>
            <a:off x="2580437" y="3712464"/>
            <a:ext cx="256032" cy="256032"/>
          </a:xfrm>
          <a:prstGeom prst="ellipse">
            <a:avLst/>
          </a:prstGeom>
          <a:solidFill>
            <a:srgbClr val="7DBE6A"/>
          </a:solidFill>
          <a:ln w="12700">
            <a:solidFill>
              <a:srgbClr val="3E7F2E"/>
            </a:solidFill>
            <a:prstDash val="solid"/>
          </a:ln>
        </p:spPr>
      </p:sp>
      <p:sp>
        <p:nvSpPr>
          <p:cNvPr id="50" name="Text 48"/>
          <p:cNvSpPr/>
          <p:nvPr/>
        </p:nvSpPr>
        <p:spPr>
          <a:xfrm>
            <a:off x="2580437" y="3712464"/>
            <a:ext cx="256032" cy="256032"/>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51" name="Shape 49"/>
          <p:cNvSpPr/>
          <p:nvPr/>
        </p:nvSpPr>
        <p:spPr>
          <a:xfrm>
            <a:off x="3456432" y="2276856"/>
            <a:ext cx="201168" cy="201168"/>
          </a:xfrm>
          <a:prstGeom prst="ellipse">
            <a:avLst/>
          </a:prstGeom>
          <a:solidFill>
            <a:srgbClr val="FFFFFF"/>
          </a:solidFill>
          <a:ln w="12700">
            <a:solidFill>
              <a:srgbClr val="8A8F99"/>
            </a:solidFill>
            <a:prstDash val="solid"/>
          </a:ln>
        </p:spPr>
      </p:sp>
      <p:sp>
        <p:nvSpPr>
          <p:cNvPr id="52" name="Text 50"/>
          <p:cNvSpPr/>
          <p:nvPr/>
        </p:nvSpPr>
        <p:spPr>
          <a:xfrm>
            <a:off x="3456432" y="227685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53" name="Shape 51"/>
          <p:cNvSpPr/>
          <p:nvPr/>
        </p:nvSpPr>
        <p:spPr>
          <a:xfrm>
            <a:off x="3639312" y="2249424"/>
            <a:ext cx="256032" cy="256032"/>
          </a:xfrm>
          <a:prstGeom prst="ellipse">
            <a:avLst/>
          </a:prstGeom>
          <a:solidFill>
            <a:srgbClr val="7DBE6A"/>
          </a:solidFill>
          <a:ln w="12700">
            <a:solidFill>
              <a:srgbClr val="3E7F2E"/>
            </a:solidFill>
            <a:prstDash val="solid"/>
          </a:ln>
        </p:spPr>
      </p:sp>
      <p:sp>
        <p:nvSpPr>
          <p:cNvPr id="54" name="Text 52"/>
          <p:cNvSpPr/>
          <p:nvPr/>
        </p:nvSpPr>
        <p:spPr>
          <a:xfrm>
            <a:off x="3639312" y="2249424"/>
            <a:ext cx="256032" cy="256032"/>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55" name="Shape 53"/>
          <p:cNvSpPr/>
          <p:nvPr/>
        </p:nvSpPr>
        <p:spPr>
          <a:xfrm>
            <a:off x="4233672" y="2322576"/>
            <a:ext cx="201168" cy="201168"/>
          </a:xfrm>
          <a:prstGeom prst="ellipse">
            <a:avLst/>
          </a:prstGeom>
          <a:solidFill>
            <a:srgbClr val="FFFFFF"/>
          </a:solidFill>
          <a:ln w="12700">
            <a:solidFill>
              <a:srgbClr val="8A8F99"/>
            </a:solidFill>
            <a:prstDash val="solid"/>
          </a:ln>
        </p:spPr>
      </p:sp>
      <p:sp>
        <p:nvSpPr>
          <p:cNvPr id="56" name="Text 54"/>
          <p:cNvSpPr/>
          <p:nvPr/>
        </p:nvSpPr>
        <p:spPr>
          <a:xfrm>
            <a:off x="4233672" y="232257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57" name="Shape 55"/>
          <p:cNvSpPr/>
          <p:nvPr/>
        </p:nvSpPr>
        <p:spPr>
          <a:xfrm>
            <a:off x="4416552" y="2295144"/>
            <a:ext cx="256032" cy="256032"/>
          </a:xfrm>
          <a:prstGeom prst="ellipse">
            <a:avLst/>
          </a:prstGeom>
          <a:solidFill>
            <a:srgbClr val="7DBE6A"/>
          </a:solidFill>
          <a:ln w="12700">
            <a:solidFill>
              <a:srgbClr val="3E7F2E"/>
            </a:solidFill>
            <a:prstDash val="solid"/>
          </a:ln>
        </p:spPr>
      </p:sp>
      <p:sp>
        <p:nvSpPr>
          <p:cNvPr id="58" name="Text 56"/>
          <p:cNvSpPr/>
          <p:nvPr/>
        </p:nvSpPr>
        <p:spPr>
          <a:xfrm>
            <a:off x="4416552" y="2295144"/>
            <a:ext cx="256032" cy="256032"/>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59" name="Shape 57"/>
          <p:cNvSpPr/>
          <p:nvPr/>
        </p:nvSpPr>
        <p:spPr>
          <a:xfrm>
            <a:off x="3410712" y="2962656"/>
            <a:ext cx="201168" cy="201168"/>
          </a:xfrm>
          <a:prstGeom prst="ellipse">
            <a:avLst/>
          </a:prstGeom>
          <a:solidFill>
            <a:srgbClr val="FFFFFF"/>
          </a:solidFill>
          <a:ln w="12700">
            <a:solidFill>
              <a:srgbClr val="8A8F99"/>
            </a:solidFill>
            <a:prstDash val="solid"/>
          </a:ln>
        </p:spPr>
      </p:sp>
      <p:sp>
        <p:nvSpPr>
          <p:cNvPr id="60" name="Text 58"/>
          <p:cNvSpPr/>
          <p:nvPr/>
        </p:nvSpPr>
        <p:spPr>
          <a:xfrm>
            <a:off x="3410712" y="296265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61" name="Shape 59"/>
          <p:cNvSpPr/>
          <p:nvPr/>
        </p:nvSpPr>
        <p:spPr>
          <a:xfrm>
            <a:off x="3593592" y="2935224"/>
            <a:ext cx="256032" cy="256032"/>
          </a:xfrm>
          <a:prstGeom prst="ellipse">
            <a:avLst/>
          </a:prstGeom>
          <a:solidFill>
            <a:srgbClr val="7DBE6A"/>
          </a:solidFill>
          <a:ln w="12700">
            <a:solidFill>
              <a:srgbClr val="3E7F2E"/>
            </a:solidFill>
            <a:prstDash val="solid"/>
          </a:ln>
        </p:spPr>
      </p:sp>
      <p:sp>
        <p:nvSpPr>
          <p:cNvPr id="62" name="Text 60"/>
          <p:cNvSpPr/>
          <p:nvPr/>
        </p:nvSpPr>
        <p:spPr>
          <a:xfrm>
            <a:off x="3593592" y="2935224"/>
            <a:ext cx="256032" cy="256032"/>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63" name="Shape 61"/>
          <p:cNvSpPr/>
          <p:nvPr/>
        </p:nvSpPr>
        <p:spPr>
          <a:xfrm>
            <a:off x="4142232" y="3054096"/>
            <a:ext cx="201168" cy="201168"/>
          </a:xfrm>
          <a:prstGeom prst="ellipse">
            <a:avLst/>
          </a:prstGeom>
          <a:solidFill>
            <a:srgbClr val="FFFFFF"/>
          </a:solidFill>
          <a:ln w="12700">
            <a:solidFill>
              <a:srgbClr val="8A8F99"/>
            </a:solidFill>
            <a:prstDash val="solid"/>
          </a:ln>
        </p:spPr>
      </p:sp>
      <p:sp>
        <p:nvSpPr>
          <p:cNvPr id="64" name="Text 62"/>
          <p:cNvSpPr/>
          <p:nvPr/>
        </p:nvSpPr>
        <p:spPr>
          <a:xfrm>
            <a:off x="4142232" y="305409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65" name="Shape 63"/>
          <p:cNvSpPr/>
          <p:nvPr/>
        </p:nvSpPr>
        <p:spPr>
          <a:xfrm>
            <a:off x="4325112" y="3026664"/>
            <a:ext cx="256032" cy="256032"/>
          </a:xfrm>
          <a:prstGeom prst="ellipse">
            <a:avLst/>
          </a:prstGeom>
          <a:solidFill>
            <a:srgbClr val="7DBE6A"/>
          </a:solidFill>
          <a:ln w="12700">
            <a:solidFill>
              <a:srgbClr val="3E7F2E"/>
            </a:solidFill>
            <a:prstDash val="solid"/>
          </a:ln>
        </p:spPr>
      </p:sp>
      <p:sp>
        <p:nvSpPr>
          <p:cNvPr id="66" name="Text 64"/>
          <p:cNvSpPr/>
          <p:nvPr/>
        </p:nvSpPr>
        <p:spPr>
          <a:xfrm>
            <a:off x="4325112" y="3026664"/>
            <a:ext cx="256032" cy="256032"/>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67" name="Shape 65"/>
          <p:cNvSpPr/>
          <p:nvPr/>
        </p:nvSpPr>
        <p:spPr>
          <a:xfrm>
            <a:off x="3547872" y="3648456"/>
            <a:ext cx="201168" cy="201168"/>
          </a:xfrm>
          <a:prstGeom prst="ellipse">
            <a:avLst/>
          </a:prstGeom>
          <a:solidFill>
            <a:srgbClr val="FFFFFF"/>
          </a:solidFill>
          <a:ln w="12700">
            <a:solidFill>
              <a:srgbClr val="8A8F99"/>
            </a:solidFill>
            <a:prstDash val="solid"/>
          </a:ln>
        </p:spPr>
      </p:sp>
      <p:sp>
        <p:nvSpPr>
          <p:cNvPr id="68" name="Text 66"/>
          <p:cNvSpPr/>
          <p:nvPr/>
        </p:nvSpPr>
        <p:spPr>
          <a:xfrm>
            <a:off x="3547872" y="364845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69" name="Shape 67"/>
          <p:cNvSpPr/>
          <p:nvPr/>
        </p:nvSpPr>
        <p:spPr>
          <a:xfrm>
            <a:off x="3730752" y="3621024"/>
            <a:ext cx="256032" cy="256032"/>
          </a:xfrm>
          <a:prstGeom prst="ellipse">
            <a:avLst/>
          </a:prstGeom>
          <a:solidFill>
            <a:srgbClr val="7DBE6A"/>
          </a:solidFill>
          <a:ln w="12700">
            <a:solidFill>
              <a:srgbClr val="3E7F2E"/>
            </a:solidFill>
            <a:prstDash val="solid"/>
          </a:ln>
        </p:spPr>
      </p:sp>
      <p:sp>
        <p:nvSpPr>
          <p:cNvPr id="70" name="Text 68"/>
          <p:cNvSpPr/>
          <p:nvPr/>
        </p:nvSpPr>
        <p:spPr>
          <a:xfrm>
            <a:off x="3730752" y="3621024"/>
            <a:ext cx="256032" cy="256032"/>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71" name="Shape 69"/>
          <p:cNvSpPr/>
          <p:nvPr/>
        </p:nvSpPr>
        <p:spPr>
          <a:xfrm>
            <a:off x="4325112" y="3739896"/>
            <a:ext cx="201168" cy="201168"/>
          </a:xfrm>
          <a:prstGeom prst="ellipse">
            <a:avLst/>
          </a:prstGeom>
          <a:solidFill>
            <a:srgbClr val="FFFFFF"/>
          </a:solidFill>
          <a:ln w="12700">
            <a:solidFill>
              <a:srgbClr val="8A8F99"/>
            </a:solidFill>
            <a:prstDash val="solid"/>
          </a:ln>
        </p:spPr>
      </p:sp>
      <p:sp>
        <p:nvSpPr>
          <p:cNvPr id="72" name="Text 70"/>
          <p:cNvSpPr/>
          <p:nvPr/>
        </p:nvSpPr>
        <p:spPr>
          <a:xfrm>
            <a:off x="4325112" y="373989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73" name="Shape 71"/>
          <p:cNvSpPr/>
          <p:nvPr/>
        </p:nvSpPr>
        <p:spPr>
          <a:xfrm>
            <a:off x="4507992" y="3712464"/>
            <a:ext cx="256032" cy="256032"/>
          </a:xfrm>
          <a:prstGeom prst="ellipse">
            <a:avLst/>
          </a:prstGeom>
          <a:solidFill>
            <a:srgbClr val="7DBE6A"/>
          </a:solidFill>
          <a:ln w="12700">
            <a:solidFill>
              <a:srgbClr val="3E7F2E"/>
            </a:solidFill>
            <a:prstDash val="solid"/>
          </a:ln>
        </p:spPr>
      </p:sp>
      <p:sp>
        <p:nvSpPr>
          <p:cNvPr id="74" name="Text 72"/>
          <p:cNvSpPr/>
          <p:nvPr/>
        </p:nvSpPr>
        <p:spPr>
          <a:xfrm>
            <a:off x="4507992" y="3712464"/>
            <a:ext cx="256032" cy="256032"/>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75" name="Shape 73"/>
          <p:cNvSpPr/>
          <p:nvPr/>
        </p:nvSpPr>
        <p:spPr>
          <a:xfrm>
            <a:off x="5076749" y="2459736"/>
            <a:ext cx="201168" cy="201168"/>
          </a:xfrm>
          <a:prstGeom prst="ellipse">
            <a:avLst/>
          </a:prstGeom>
          <a:solidFill>
            <a:srgbClr val="FFFFFF"/>
          </a:solidFill>
          <a:ln w="12700">
            <a:solidFill>
              <a:srgbClr val="8A8F99"/>
            </a:solidFill>
            <a:prstDash val="solid"/>
          </a:ln>
        </p:spPr>
      </p:sp>
      <p:sp>
        <p:nvSpPr>
          <p:cNvPr id="76" name="Text 74"/>
          <p:cNvSpPr/>
          <p:nvPr/>
        </p:nvSpPr>
        <p:spPr>
          <a:xfrm>
            <a:off x="5076749" y="245973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77" name="Shape 75"/>
          <p:cNvSpPr/>
          <p:nvPr/>
        </p:nvSpPr>
        <p:spPr>
          <a:xfrm>
            <a:off x="5237683" y="2459736"/>
            <a:ext cx="201168" cy="201168"/>
          </a:xfrm>
          <a:prstGeom prst="ellipse">
            <a:avLst/>
          </a:prstGeom>
          <a:solidFill>
            <a:srgbClr val="FFFFFF"/>
          </a:solidFill>
          <a:ln w="12700">
            <a:solidFill>
              <a:srgbClr val="8A8F99"/>
            </a:solidFill>
            <a:prstDash val="solid"/>
          </a:ln>
        </p:spPr>
      </p:sp>
      <p:sp>
        <p:nvSpPr>
          <p:cNvPr id="78" name="Text 76"/>
          <p:cNvSpPr/>
          <p:nvPr/>
        </p:nvSpPr>
        <p:spPr>
          <a:xfrm>
            <a:off x="5237683" y="245973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79" name="Shape 77"/>
          <p:cNvSpPr/>
          <p:nvPr/>
        </p:nvSpPr>
        <p:spPr>
          <a:xfrm>
            <a:off x="4965192" y="2331720"/>
            <a:ext cx="585216" cy="457200"/>
          </a:xfrm>
          <a:prstGeom prst="ellipse">
            <a:avLst/>
          </a:prstGeom>
          <a:ln w="19050">
            <a:solidFill>
              <a:srgbClr val="B8730A"/>
            </a:solidFill>
            <a:prstDash val="dash"/>
          </a:ln>
        </p:spPr>
      </p:sp>
      <p:sp>
        <p:nvSpPr>
          <p:cNvPr id="80" name="Shape 78"/>
          <p:cNvSpPr/>
          <p:nvPr/>
        </p:nvSpPr>
        <p:spPr>
          <a:xfrm>
            <a:off x="5076749" y="3374136"/>
            <a:ext cx="201168" cy="201168"/>
          </a:xfrm>
          <a:prstGeom prst="ellipse">
            <a:avLst/>
          </a:prstGeom>
          <a:solidFill>
            <a:srgbClr val="FFFFFF"/>
          </a:solidFill>
          <a:ln w="12700">
            <a:solidFill>
              <a:srgbClr val="8A8F99"/>
            </a:solidFill>
            <a:prstDash val="solid"/>
          </a:ln>
        </p:spPr>
      </p:sp>
      <p:sp>
        <p:nvSpPr>
          <p:cNvPr id="81" name="Text 79"/>
          <p:cNvSpPr/>
          <p:nvPr/>
        </p:nvSpPr>
        <p:spPr>
          <a:xfrm>
            <a:off x="5076749" y="337413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82" name="Shape 80"/>
          <p:cNvSpPr/>
          <p:nvPr/>
        </p:nvSpPr>
        <p:spPr>
          <a:xfrm>
            <a:off x="5237683" y="3374136"/>
            <a:ext cx="201168" cy="201168"/>
          </a:xfrm>
          <a:prstGeom prst="ellipse">
            <a:avLst/>
          </a:prstGeom>
          <a:solidFill>
            <a:srgbClr val="FFFFFF"/>
          </a:solidFill>
          <a:ln w="12700">
            <a:solidFill>
              <a:srgbClr val="8A8F99"/>
            </a:solidFill>
            <a:prstDash val="solid"/>
          </a:ln>
        </p:spPr>
      </p:sp>
      <p:sp>
        <p:nvSpPr>
          <p:cNvPr id="83" name="Text 81"/>
          <p:cNvSpPr/>
          <p:nvPr/>
        </p:nvSpPr>
        <p:spPr>
          <a:xfrm>
            <a:off x="5237683" y="3374136"/>
            <a:ext cx="201168" cy="20116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84" name="Shape 82"/>
          <p:cNvSpPr/>
          <p:nvPr/>
        </p:nvSpPr>
        <p:spPr>
          <a:xfrm>
            <a:off x="4965192" y="3246120"/>
            <a:ext cx="585216" cy="457200"/>
          </a:xfrm>
          <a:prstGeom prst="ellipse">
            <a:avLst/>
          </a:prstGeom>
          <a:ln w="19050">
            <a:solidFill>
              <a:srgbClr val="B8730A"/>
            </a:solidFill>
            <a:prstDash val="dash"/>
          </a:ln>
        </p:spPr>
      </p:sp>
      <p:sp>
        <p:nvSpPr>
          <p:cNvPr id="85" name="Shape 83"/>
          <p:cNvSpPr/>
          <p:nvPr/>
        </p:nvSpPr>
        <p:spPr>
          <a:xfrm>
            <a:off x="685800" y="4343400"/>
            <a:ext cx="2423160" cy="457200"/>
          </a:xfrm>
          <a:prstGeom prst="roundRect">
            <a:avLst>
              <a:gd name="adj" fmla="val 12000"/>
            </a:avLst>
          </a:prstGeom>
          <a:solidFill>
            <a:srgbClr val="FBE3E4"/>
          </a:solidFill>
          <a:ln w="12700">
            <a:solidFill>
              <a:srgbClr val="C8414C"/>
            </a:solidFill>
            <a:prstDash val="solid"/>
          </a:ln>
        </p:spPr>
      </p:sp>
      <p:sp>
        <p:nvSpPr>
          <p:cNvPr id="86" name="Text 84"/>
          <p:cNvSpPr/>
          <p:nvPr/>
        </p:nvSpPr>
        <p:spPr>
          <a:xfrm>
            <a:off x="740664" y="4343400"/>
            <a:ext cx="2313432" cy="4572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Cl₂ is limiting</a:t>
            </a:r>
            <a:r>
              <a:rPr lang="en-US" sz="1050" dirty="0">
                <a:solidFill>
                  <a:srgbClr val="262B3A"/>
                </a:solidFill>
                <a:latin typeface="Calibri" pitchFamily="34" charset="0"/>
                <a:ea typeface="Calibri" pitchFamily="34" charset="-122"/>
                <a:cs typeface="Calibri" pitchFamily="34" charset="-120"/>
              </a:rPr>
              <a:t>: all used up</a:t>
            </a:r>
            <a:endParaRPr lang="en-US" sz="1050" dirty="0"/>
          </a:p>
        </p:txBody>
      </p:sp>
      <p:sp>
        <p:nvSpPr>
          <p:cNvPr id="87" name="Shape 85"/>
          <p:cNvSpPr/>
          <p:nvPr/>
        </p:nvSpPr>
        <p:spPr>
          <a:xfrm>
            <a:off x="3291840" y="4343400"/>
            <a:ext cx="2423160" cy="457200"/>
          </a:xfrm>
          <a:prstGeom prst="roundRect">
            <a:avLst>
              <a:gd name="adj" fmla="val 12000"/>
            </a:avLst>
          </a:prstGeom>
          <a:solidFill>
            <a:srgbClr val="FFF0D9"/>
          </a:solidFill>
          <a:ln w="12700">
            <a:solidFill>
              <a:srgbClr val="B8730A"/>
            </a:solidFill>
            <a:prstDash val="solid"/>
          </a:ln>
        </p:spPr>
      </p:sp>
      <p:sp>
        <p:nvSpPr>
          <p:cNvPr id="88" name="Text 86"/>
          <p:cNvSpPr/>
          <p:nvPr/>
        </p:nvSpPr>
        <p:spPr>
          <a:xfrm>
            <a:off x="3346704" y="4343400"/>
            <a:ext cx="2313432" cy="4572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H₂ is in excess</a:t>
            </a:r>
            <a:r>
              <a:rPr lang="en-US" sz="1050" dirty="0">
                <a:solidFill>
                  <a:srgbClr val="262B3A"/>
                </a:solidFill>
                <a:latin typeface="Calibri" pitchFamily="34" charset="0"/>
                <a:ea typeface="Calibri" pitchFamily="34" charset="-122"/>
                <a:cs typeface="Calibri" pitchFamily="34" charset="-120"/>
              </a:rPr>
              <a:t>: 2 left over</a:t>
            </a:r>
            <a:endParaRPr lang="en-US" sz="1050" dirty="0"/>
          </a:p>
        </p:txBody>
      </p:sp>
      <p:sp>
        <p:nvSpPr>
          <p:cNvPr id="89" name="Text 87"/>
          <p:cNvSpPr/>
          <p:nvPr/>
        </p:nvSpPr>
        <p:spPr>
          <a:xfrm>
            <a:off x="640080" y="4937760"/>
            <a:ext cx="5120640" cy="274320"/>
          </a:xfrm>
          <a:prstGeom prst="rect">
            <a:avLst/>
          </a:prstGeom>
          <a:noFill/>
          <a:ln/>
        </p:spPr>
        <p:txBody>
          <a:bodyPr wrap="square" lIns="0" tIns="0" rIns="0" bIns="0" rtlCol="0" anchor="ctr"/>
          <a:lstStyle/>
          <a:p>
            <a:pPr algn="ctr" indent="0" marL="0">
              <a:buNone/>
            </a:pPr>
            <a:r>
              <a:rPr lang="en-US" sz="1050" dirty="0">
                <a:solidFill>
                  <a:srgbClr val="2A1F3D"/>
                </a:solidFill>
                <a:latin typeface="Calibri" pitchFamily="34" charset="0"/>
                <a:ea typeface="Calibri" pitchFamily="34" charset="-122"/>
                <a:cs typeface="Calibri" pitchFamily="34" charset="-120"/>
              </a:rPr>
              <a:t>Adding more H₂ makes </a:t>
            </a:r>
            <a:r>
              <a:rPr lang="en-US" sz="1050" b="1" dirty="0">
                <a:solidFill>
                  <a:srgbClr val="2A1F3D"/>
                </a:solidFill>
                <a:latin typeface="Calibri" pitchFamily="34" charset="0"/>
                <a:ea typeface="Calibri" pitchFamily="34" charset="-122"/>
                <a:cs typeface="Calibri" pitchFamily="34" charset="-120"/>
              </a:rPr>
              <a:t>no more</a:t>
            </a:r>
            <a:r>
              <a:rPr lang="en-US" sz="1050" dirty="0">
                <a:solidFill>
                  <a:srgbClr val="2A1F3D"/>
                </a:solidFill>
                <a:latin typeface="Calibri" pitchFamily="34" charset="0"/>
                <a:ea typeface="Calibri" pitchFamily="34" charset="-122"/>
                <a:cs typeface="Calibri" pitchFamily="34" charset="-120"/>
              </a:rPr>
              <a:t> HCl; adding more Cl₂ </a:t>
            </a:r>
            <a:r>
              <a:rPr lang="en-US" sz="1050" b="1" dirty="0">
                <a:solidFill>
                  <a:srgbClr val="2A1F3D"/>
                </a:solidFill>
                <a:latin typeface="Calibri" pitchFamily="34" charset="0"/>
                <a:ea typeface="Calibri" pitchFamily="34" charset="-122"/>
                <a:cs typeface="Calibri" pitchFamily="34" charset="-120"/>
              </a:rPr>
              <a:t>would</a:t>
            </a:r>
            <a:endParaRPr lang="en-US" sz="1050" dirty="0"/>
          </a:p>
        </p:txBody>
      </p:sp>
      <p:sp>
        <p:nvSpPr>
          <p:cNvPr id="90" name="Shape 88"/>
          <p:cNvSpPr/>
          <p:nvPr/>
        </p:nvSpPr>
        <p:spPr>
          <a:xfrm>
            <a:off x="6217920" y="1188720"/>
            <a:ext cx="5559552" cy="2606040"/>
          </a:xfrm>
          <a:prstGeom prst="roundRect">
            <a:avLst>
              <a:gd name="adj" fmla="val 2105"/>
            </a:avLst>
          </a:prstGeom>
          <a:solidFill>
            <a:srgbClr val="F8F5FC"/>
          </a:solidFill>
          <a:ln w="9525">
            <a:solidFill>
              <a:srgbClr val="DDD3EC"/>
            </a:solidFill>
            <a:prstDash val="solid"/>
          </a:ln>
        </p:spPr>
      </p:sp>
      <p:sp>
        <p:nvSpPr>
          <p:cNvPr id="91" name="Text 89"/>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The reactant that runs out</a:t>
            </a:r>
            <a:endParaRPr lang="en-US" sz="1300" dirty="0"/>
          </a:p>
        </p:txBody>
      </p:sp>
      <p:sp>
        <p:nvSpPr>
          <p:cNvPr id="92" name="Text 90"/>
          <p:cNvSpPr/>
          <p:nvPr/>
        </p:nvSpPr>
        <p:spPr>
          <a:xfrm>
            <a:off x="6382512" y="1609344"/>
            <a:ext cx="5230368" cy="211226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limiting reactant</a:t>
            </a:r>
            <a:r>
              <a:rPr lang="en-US" sz="1100" dirty="0">
                <a:solidFill>
                  <a:srgbClr val="262B3A"/>
                </a:solidFill>
                <a:latin typeface="Calibri" pitchFamily="34" charset="0"/>
                <a:ea typeface="Calibri" pitchFamily="34" charset="-122"/>
                <a:cs typeface="Calibri" pitchFamily="34" charset="-120"/>
              </a:rPr>
              <a:t> is completely </a:t>
            </a:r>
            <a:r>
              <a:rPr lang="en-US" sz="1100" b="1" dirty="0">
                <a:solidFill>
                  <a:srgbClr val="262B3A"/>
                </a:solidFill>
                <a:latin typeface="Calibri" pitchFamily="34" charset="0"/>
                <a:ea typeface="Calibri" pitchFamily="34" charset="-122"/>
                <a:cs typeface="Calibri" pitchFamily="34" charset="-120"/>
              </a:rPr>
              <a:t>used up</a:t>
            </a:r>
            <a:r>
              <a:rPr lang="en-US" sz="1100" dirty="0">
                <a:solidFill>
                  <a:srgbClr val="262B3A"/>
                </a:solidFill>
                <a:latin typeface="Calibri" pitchFamily="34" charset="0"/>
                <a:ea typeface="Calibri" pitchFamily="34" charset="-122"/>
                <a:cs typeface="Calibri" pitchFamily="34" charset="-120"/>
              </a:rPr>
              <a:t>; the reaction then stops.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other reactant is </a:t>
            </a:r>
            <a:r>
              <a:rPr lang="en-US" sz="1100" b="1" dirty="0">
                <a:solidFill>
                  <a:srgbClr val="262B3A"/>
                </a:solidFill>
                <a:latin typeface="Calibri" pitchFamily="34" charset="0"/>
                <a:ea typeface="Calibri" pitchFamily="34" charset="-122"/>
                <a:cs typeface="Calibri" pitchFamily="34" charset="-120"/>
              </a:rPr>
              <a:t>in excess</a:t>
            </a:r>
            <a:r>
              <a:rPr lang="en-US" sz="1100" dirty="0">
                <a:solidFill>
                  <a:srgbClr val="262B3A"/>
                </a:solidFill>
                <a:latin typeface="Calibri" pitchFamily="34" charset="0"/>
                <a:ea typeface="Calibri" pitchFamily="34" charset="-122"/>
                <a:cs typeface="Calibri" pitchFamily="34" charset="-120"/>
              </a:rPr>
              <a:t>: some is left over.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a:t>
            </a:r>
            <a:r>
              <a:rPr lang="en-US" sz="1100" b="1" dirty="0">
                <a:solidFill>
                  <a:srgbClr val="262B3A"/>
                </a:solidFill>
                <a:latin typeface="Calibri" pitchFamily="34" charset="0"/>
                <a:ea typeface="Calibri" pitchFamily="34" charset="-122"/>
                <a:cs typeface="Calibri" pitchFamily="34" charset="-120"/>
              </a:rPr>
              <a:t>amount of product</a:t>
            </a:r>
            <a:r>
              <a:rPr lang="en-US" sz="1100" dirty="0">
                <a:solidFill>
                  <a:srgbClr val="262B3A"/>
                </a:solidFill>
                <a:latin typeface="Calibri" pitchFamily="34" charset="0"/>
                <a:ea typeface="Calibri" pitchFamily="34" charset="-122"/>
                <a:cs typeface="Calibri" pitchFamily="34" charset="-120"/>
              </a:rPr>
              <a:t> depends only on the limiting reactant: double it and you </a:t>
            </a:r>
            <a:r>
              <a:rPr lang="en-US" sz="1100" b="1" dirty="0">
                <a:solidFill>
                  <a:srgbClr val="262B3A"/>
                </a:solidFill>
                <a:latin typeface="Calibri" pitchFamily="34" charset="0"/>
                <a:ea typeface="Calibri" pitchFamily="34" charset="-122"/>
                <a:cs typeface="Calibri" pitchFamily="34" charset="-120"/>
              </a:rPr>
              <a:t>double</a:t>
            </a:r>
            <a:r>
              <a:rPr lang="en-US" sz="1100" dirty="0">
                <a:solidFill>
                  <a:srgbClr val="262B3A"/>
                </a:solidFill>
                <a:latin typeface="Calibri" pitchFamily="34" charset="0"/>
                <a:ea typeface="Calibri" pitchFamily="34" charset="-122"/>
                <a:cs typeface="Calibri" pitchFamily="34" charset="-120"/>
              </a:rPr>
              <a:t> the product.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To find it: work out the </a:t>
            </a:r>
            <a:r>
              <a:rPr lang="en-US" sz="1100" b="1" dirty="0">
                <a:solidFill>
                  <a:srgbClr val="262B3A"/>
                </a:solidFill>
                <a:latin typeface="Calibri" pitchFamily="34" charset="0"/>
                <a:ea typeface="Calibri" pitchFamily="34" charset="-122"/>
                <a:cs typeface="Calibri" pitchFamily="34" charset="-120"/>
              </a:rPr>
              <a:t>moles</a:t>
            </a:r>
            <a:r>
              <a:rPr lang="en-US" sz="1100" dirty="0">
                <a:solidFill>
                  <a:srgbClr val="262B3A"/>
                </a:solidFill>
                <a:latin typeface="Calibri" pitchFamily="34" charset="0"/>
                <a:ea typeface="Calibri" pitchFamily="34" charset="-122"/>
                <a:cs typeface="Calibri" pitchFamily="34" charset="-120"/>
              </a:rPr>
              <a:t> of each reactant and compare with the </a:t>
            </a:r>
            <a:r>
              <a:rPr lang="en-US" sz="1100" b="1" dirty="0">
                <a:solidFill>
                  <a:srgbClr val="262B3A"/>
                </a:solidFill>
                <a:latin typeface="Calibri" pitchFamily="34" charset="0"/>
                <a:ea typeface="Calibri" pitchFamily="34" charset="-122"/>
                <a:cs typeface="Calibri" pitchFamily="34" charset="-120"/>
              </a:rPr>
              <a:t>mole ratio</a:t>
            </a:r>
            <a:r>
              <a:rPr lang="en-US" sz="1100" dirty="0">
                <a:solidFill>
                  <a:srgbClr val="262B3A"/>
                </a:solidFill>
                <a:latin typeface="Calibri" pitchFamily="34" charset="0"/>
                <a:ea typeface="Calibri" pitchFamily="34" charset="-122"/>
                <a:cs typeface="Calibri" pitchFamily="34" charset="-120"/>
              </a:rPr>
              <a:t> in the equation.</a:t>
            </a:r>
            <a:endParaRPr lang="en-US" sz="1100" dirty="0"/>
          </a:p>
        </p:txBody>
      </p:sp>
      <p:sp>
        <p:nvSpPr>
          <p:cNvPr id="93" name="Shape 91"/>
          <p:cNvSpPr/>
          <p:nvPr/>
        </p:nvSpPr>
        <p:spPr>
          <a:xfrm>
            <a:off x="6217920" y="3931920"/>
            <a:ext cx="5559552" cy="1783080"/>
          </a:xfrm>
          <a:prstGeom prst="roundRect">
            <a:avLst>
              <a:gd name="adj" fmla="val 3077"/>
            </a:avLst>
          </a:prstGeom>
          <a:solidFill>
            <a:srgbClr val="FFF4E0"/>
          </a:solidFill>
          <a:ln w="9525">
            <a:solidFill>
              <a:srgbClr val="F1D9A8"/>
            </a:solidFill>
            <a:prstDash val="solid"/>
          </a:ln>
        </p:spPr>
      </p:sp>
      <p:sp>
        <p:nvSpPr>
          <p:cNvPr id="94" name="Text 92"/>
          <p:cNvSpPr/>
          <p:nvPr/>
        </p:nvSpPr>
        <p:spPr>
          <a:xfrm>
            <a:off x="6382512" y="400507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2Mg + O₂ → 2MgO</a:t>
            </a:r>
            <a:endParaRPr lang="en-US" sz="1300" dirty="0"/>
          </a:p>
        </p:txBody>
      </p:sp>
      <p:sp>
        <p:nvSpPr>
          <p:cNvPr id="95" name="Text 93"/>
          <p:cNvSpPr/>
          <p:nvPr/>
        </p:nvSpPr>
        <p:spPr>
          <a:xfrm>
            <a:off x="6382512" y="4315968"/>
            <a:ext cx="5230368"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4.86 g of Mg is heated with 4.80 g of O₂. Mass of MgO?</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Moles   </a:t>
            </a:r>
            <a:r>
              <a:rPr lang="en-US" sz="1050" dirty="0">
                <a:solidFill>
                  <a:srgbClr val="262B3A"/>
                </a:solidFill>
                <a:latin typeface="Calibri" pitchFamily="34" charset="0"/>
                <a:ea typeface="Calibri" pitchFamily="34" charset="-122"/>
                <a:cs typeface="Calibri" pitchFamily="34" charset="-120"/>
              </a:rPr>
              <a:t>Mg 4.86 ÷ 24.3 = 0.200; O₂ 4.80 ÷ 32.0 = 0.150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Compare   </a:t>
            </a:r>
            <a:r>
              <a:rPr lang="en-US" sz="1050" dirty="0">
                <a:solidFill>
                  <a:srgbClr val="262B3A"/>
                </a:solidFill>
                <a:latin typeface="Calibri" pitchFamily="34" charset="0"/>
                <a:ea typeface="Calibri" pitchFamily="34" charset="-122"/>
                <a:cs typeface="Calibri" pitchFamily="34" charset="-120"/>
              </a:rPr>
              <a:t>0.200 mol Mg needs only 0.100 mol O₂: </a:t>
            </a:r>
            <a:r>
              <a:rPr lang="en-US" sz="1050" b="1" dirty="0">
                <a:solidFill>
                  <a:srgbClr val="262B3A"/>
                </a:solidFill>
                <a:latin typeface="Calibri" pitchFamily="34" charset="0"/>
                <a:ea typeface="Calibri" pitchFamily="34" charset="-122"/>
                <a:cs typeface="Calibri" pitchFamily="34" charset="-120"/>
              </a:rPr>
              <a:t>Mg is limiting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0.200 mol MgO × 40.3 = </a:t>
            </a:r>
            <a:r>
              <a:rPr lang="en-US" sz="1050" b="1" dirty="0">
                <a:solidFill>
                  <a:srgbClr val="C8414C"/>
                </a:solidFill>
                <a:latin typeface="Calibri" pitchFamily="34" charset="0"/>
                <a:ea typeface="Calibri" pitchFamily="34" charset="-122"/>
                <a:cs typeface="Calibri" pitchFamily="34" charset="-120"/>
              </a:rPr>
              <a:t>8.06 g</a:t>
            </a:r>
            <a:endParaRPr lang="en-US" sz="1050" dirty="0"/>
          </a:p>
        </p:txBody>
      </p:sp>
      <p:sp>
        <p:nvSpPr>
          <p:cNvPr id="96" name="Shape 94"/>
          <p:cNvSpPr/>
          <p:nvPr/>
        </p:nvSpPr>
        <p:spPr>
          <a:xfrm>
            <a:off x="411480" y="5833872"/>
            <a:ext cx="11368735" cy="530352"/>
          </a:xfrm>
          <a:prstGeom prst="rect">
            <a:avLst/>
          </a:prstGeom>
          <a:solidFill>
            <a:srgbClr val="FFF4E0"/>
          </a:solidFill>
          <a:ln w="6350">
            <a:solidFill>
              <a:srgbClr val="F1D9A8"/>
            </a:solidFill>
            <a:prstDash val="solid"/>
          </a:ln>
        </p:spPr>
      </p:sp>
      <p:sp>
        <p:nvSpPr>
          <p:cNvPr id="97" name="Shape 95"/>
          <p:cNvSpPr/>
          <p:nvPr/>
        </p:nvSpPr>
        <p:spPr>
          <a:xfrm>
            <a:off x="411480" y="5833872"/>
            <a:ext cx="82296" cy="530352"/>
          </a:xfrm>
          <a:prstGeom prst="rect">
            <a:avLst/>
          </a:prstGeom>
          <a:solidFill>
            <a:srgbClr val="E39A2F"/>
          </a:solidFill>
          <a:ln w="12700">
            <a:solidFill>
              <a:srgbClr val="E39A2F"/>
            </a:solidFill>
            <a:prstDash val="solid"/>
          </a:ln>
        </p:spPr>
      </p:sp>
      <p:sp>
        <p:nvSpPr>
          <p:cNvPr id="98" name="Text 96"/>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b="1" dirty="0">
                <a:solidFill>
                  <a:srgbClr val="262B3A"/>
                </a:solidFill>
                <a:latin typeface="Calibri" pitchFamily="34" charset="0"/>
                <a:ea typeface="Calibri" pitchFamily="34" charset="-122"/>
                <a:cs typeface="Calibri" pitchFamily="34" charset="-120"/>
              </a:rPr>
              <a:t>1.27 g</a:t>
            </a:r>
            <a:r>
              <a:rPr lang="en-US" sz="1150" dirty="0">
                <a:solidFill>
                  <a:srgbClr val="262B3A"/>
                </a:solidFill>
                <a:latin typeface="Calibri" pitchFamily="34" charset="0"/>
                <a:ea typeface="Calibri" pitchFamily="34" charset="-122"/>
                <a:cs typeface="Calibri" pitchFamily="34" charset="-120"/>
              </a:rPr>
              <a:t> of copper (0.0200 mol) is heated with </a:t>
            </a:r>
            <a:r>
              <a:rPr lang="en-US" sz="1150" b="1" dirty="0">
                <a:solidFill>
                  <a:srgbClr val="262B3A"/>
                </a:solidFill>
                <a:latin typeface="Calibri" pitchFamily="34" charset="0"/>
                <a:ea typeface="Calibri" pitchFamily="34" charset="-122"/>
                <a:cs typeface="Calibri" pitchFamily="34" charset="-120"/>
              </a:rPr>
              <a:t>0.64 g</a:t>
            </a:r>
            <a:r>
              <a:rPr lang="en-US" sz="1150" dirty="0">
                <a:solidFill>
                  <a:srgbClr val="262B3A"/>
                </a:solidFill>
                <a:latin typeface="Calibri" pitchFamily="34" charset="0"/>
                <a:ea typeface="Calibri" pitchFamily="34" charset="-122"/>
                <a:cs typeface="Calibri" pitchFamily="34" charset="-120"/>
              </a:rPr>
              <a:t> of oxygen (0.0200 mol O₂): 2Cu + O₂ → 2CuO. Which is limiting? What mass of CuO forms?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burning magnesium</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C5.2.2, C5.2.6 • suggested practical: the mass change when magnesium burns in air</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18</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crucible on a pipeclay triangle, heated strongly; balance reads to 0.01 g</a:t>
            </a:r>
            <a:endParaRPr lang="en-US" sz="1000" dirty="0"/>
          </a:p>
        </p:txBody>
      </p:sp>
      <p:sp>
        <p:nvSpPr>
          <p:cNvPr id="12" name="Shape 10"/>
          <p:cNvSpPr/>
          <p:nvPr/>
        </p:nvSpPr>
        <p:spPr>
          <a:xfrm>
            <a:off x="548640" y="4846320"/>
            <a:ext cx="5303520" cy="73152"/>
          </a:xfrm>
          <a:prstGeom prst="rect">
            <a:avLst/>
          </a:prstGeom>
          <a:solidFill>
            <a:srgbClr val="C99A5B"/>
          </a:solidFill>
          <a:ln w="9525">
            <a:solidFill>
              <a:srgbClr val="8A5A2B"/>
            </a:solidFill>
            <a:prstDash val="solid"/>
          </a:ln>
        </p:spPr>
      </p:sp>
      <p:sp>
        <p:nvSpPr>
          <p:cNvPr id="13" name="Shape 11"/>
          <p:cNvSpPr/>
          <p:nvPr/>
        </p:nvSpPr>
        <p:spPr>
          <a:xfrm>
            <a:off x="1097280" y="4736592"/>
            <a:ext cx="1828800" cy="109728"/>
          </a:xfrm>
          <a:prstGeom prst="rect">
            <a:avLst/>
          </a:prstGeom>
          <a:solidFill>
            <a:srgbClr val="E8E3D6"/>
          </a:solidFill>
          <a:ln w="9525">
            <a:solidFill>
              <a:srgbClr val="9A8F78"/>
            </a:solidFill>
            <a:prstDash val="solid"/>
          </a:ln>
        </p:spPr>
      </p:sp>
      <p:sp>
        <p:nvSpPr>
          <p:cNvPr id="14" name="Text 12"/>
          <p:cNvSpPr/>
          <p:nvPr/>
        </p:nvSpPr>
        <p:spPr>
          <a:xfrm>
            <a:off x="548640" y="4937760"/>
            <a:ext cx="2560320" cy="201168"/>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heat-resistant mat</a:t>
            </a:r>
            <a:endParaRPr lang="en-US" sz="1000" dirty="0"/>
          </a:p>
        </p:txBody>
      </p:sp>
      <p:sp>
        <p:nvSpPr>
          <p:cNvPr id="15" name="Shape 13"/>
          <p:cNvSpPr/>
          <p:nvPr/>
        </p:nvSpPr>
        <p:spPr>
          <a:xfrm>
            <a:off x="685800" y="1371600"/>
            <a:ext cx="5029200" cy="457200"/>
          </a:xfrm>
          <a:prstGeom prst="roundRect">
            <a:avLst>
              <a:gd name="adj" fmla="val 12000"/>
            </a:avLst>
          </a:prstGeom>
          <a:solidFill>
            <a:srgbClr val="FFFFFF"/>
          </a:solidFill>
          <a:ln w="12700">
            <a:solidFill>
              <a:srgbClr val="6A3FA0"/>
            </a:solidFill>
            <a:prstDash val="solid"/>
          </a:ln>
        </p:spPr>
      </p:sp>
      <p:sp>
        <p:nvSpPr>
          <p:cNvPr id="16" name="Text 14"/>
          <p:cNvSpPr/>
          <p:nvPr/>
        </p:nvSpPr>
        <p:spPr>
          <a:xfrm>
            <a:off x="740664" y="1371600"/>
            <a:ext cx="4919472" cy="457200"/>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mass of </a:t>
            </a:r>
            <a:r>
              <a:rPr lang="en-US" sz="1100" b="1" dirty="0">
                <a:solidFill>
                  <a:srgbClr val="262B3A"/>
                </a:solidFill>
                <a:latin typeface="Calibri" pitchFamily="34" charset="0"/>
                <a:ea typeface="Calibri" pitchFamily="34" charset="-122"/>
                <a:cs typeface="Calibri" pitchFamily="34" charset="-120"/>
              </a:rPr>
              <a:t>oxygen</a:t>
            </a:r>
            <a:r>
              <a:rPr lang="en-US" sz="1100" dirty="0">
                <a:solidFill>
                  <a:srgbClr val="262B3A"/>
                </a:solidFill>
                <a:latin typeface="Calibri" pitchFamily="34" charset="0"/>
                <a:ea typeface="Calibri" pitchFamily="34" charset="-122"/>
                <a:cs typeface="Calibri" pitchFamily="34" charset="-120"/>
              </a:rPr>
              <a:t> gained = (crucible + lid + MgO) − (crucible + lid + Mg)</a:t>
            </a:r>
            <a:endParaRPr lang="en-US" sz="1100" dirty="0"/>
          </a:p>
        </p:txBody>
      </p:sp>
      <p:sp>
        <p:nvSpPr>
          <p:cNvPr id="17" name="Shape 15"/>
          <p:cNvSpPr/>
          <p:nvPr/>
        </p:nvSpPr>
        <p:spPr>
          <a:xfrm>
            <a:off x="685800" y="1938528"/>
            <a:ext cx="5029200" cy="384048"/>
          </a:xfrm>
          <a:prstGeom prst="roundRect">
            <a:avLst>
              <a:gd name="adj" fmla="val 14286"/>
            </a:avLst>
          </a:prstGeom>
          <a:solidFill>
            <a:srgbClr val="E8F4EC"/>
          </a:solidFill>
          <a:ln w="12700">
            <a:solidFill>
              <a:srgbClr val="2E8B57"/>
            </a:solidFill>
            <a:prstDash val="solid"/>
          </a:ln>
        </p:spPr>
      </p:sp>
      <p:sp>
        <p:nvSpPr>
          <p:cNvPr id="18" name="Text 16"/>
          <p:cNvSpPr/>
          <p:nvPr/>
        </p:nvSpPr>
        <p:spPr>
          <a:xfrm>
            <a:off x="740664" y="1938528"/>
            <a:ext cx="4919472" cy="384048"/>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Open system: oxygen enters from the air, so the mass </a:t>
            </a:r>
            <a:r>
              <a:rPr lang="en-US" sz="1050" b="1" dirty="0">
                <a:solidFill>
                  <a:srgbClr val="262B3A"/>
                </a:solidFill>
                <a:latin typeface="Calibri" pitchFamily="34" charset="0"/>
                <a:ea typeface="Calibri" pitchFamily="34" charset="-122"/>
                <a:cs typeface="Calibri" pitchFamily="34" charset="-120"/>
              </a:rPr>
              <a:t>increases</a:t>
            </a:r>
            <a:endParaRPr lang="en-US" sz="1050" dirty="0"/>
          </a:p>
        </p:txBody>
      </p:sp>
      <p:sp>
        <p:nvSpPr>
          <p:cNvPr id="19" name="Shape 17"/>
          <p:cNvSpPr/>
          <p:nvPr/>
        </p:nvSpPr>
        <p:spPr>
          <a:xfrm>
            <a:off x="1234440" y="3657600"/>
            <a:ext cx="1554480" cy="54864"/>
          </a:xfrm>
          <a:prstGeom prst="rect">
            <a:avLst/>
          </a:prstGeom>
          <a:solidFill>
            <a:srgbClr val="5A6275"/>
          </a:solidFill>
          <a:ln w="6350">
            <a:solidFill>
              <a:srgbClr val="2D3748"/>
            </a:solidFill>
            <a:prstDash val="solid"/>
          </a:ln>
        </p:spPr>
      </p:sp>
      <p:sp>
        <p:nvSpPr>
          <p:cNvPr id="20" name="Shape 18"/>
          <p:cNvSpPr/>
          <p:nvPr/>
        </p:nvSpPr>
        <p:spPr>
          <a:xfrm flipH="1">
            <a:off x="1097280" y="3712464"/>
            <a:ext cx="182880" cy="1024128"/>
          </a:xfrm>
          <a:prstGeom prst="line">
            <a:avLst/>
          </a:prstGeom>
          <a:noFill/>
          <a:ln w="31750">
            <a:solidFill>
              <a:srgbClr val="5A6275"/>
            </a:solidFill>
            <a:prstDash val="solid"/>
          </a:ln>
        </p:spPr>
      </p:sp>
      <p:sp>
        <p:nvSpPr>
          <p:cNvPr id="21" name="Shape 19"/>
          <p:cNvSpPr/>
          <p:nvPr/>
        </p:nvSpPr>
        <p:spPr>
          <a:xfrm>
            <a:off x="2743200" y="3712464"/>
            <a:ext cx="182880" cy="1024128"/>
          </a:xfrm>
          <a:prstGeom prst="line">
            <a:avLst/>
          </a:prstGeom>
          <a:noFill/>
          <a:ln w="31750">
            <a:solidFill>
              <a:srgbClr val="5A6275"/>
            </a:solidFill>
            <a:prstDash val="solid"/>
          </a:ln>
        </p:spPr>
      </p:sp>
      <p:sp>
        <p:nvSpPr>
          <p:cNvPr id="22" name="Shape 20"/>
          <p:cNvSpPr/>
          <p:nvPr/>
        </p:nvSpPr>
        <p:spPr>
          <a:xfrm>
            <a:off x="1737360" y="4645152"/>
            <a:ext cx="548640" cy="91440"/>
          </a:xfrm>
          <a:prstGeom prst="rect">
            <a:avLst/>
          </a:prstGeom>
          <a:solidFill>
            <a:srgbClr val="4A5568"/>
          </a:solidFill>
          <a:ln w="12700">
            <a:solidFill>
              <a:srgbClr val="2D3748"/>
            </a:solidFill>
            <a:prstDash val="solid"/>
          </a:ln>
        </p:spPr>
      </p:sp>
      <p:sp>
        <p:nvSpPr>
          <p:cNvPr id="23" name="Shape 21"/>
          <p:cNvSpPr/>
          <p:nvPr/>
        </p:nvSpPr>
        <p:spPr>
          <a:xfrm>
            <a:off x="1947672" y="4050792"/>
            <a:ext cx="128016" cy="594360"/>
          </a:xfrm>
          <a:prstGeom prst="rect">
            <a:avLst/>
          </a:prstGeom>
          <a:solidFill>
            <a:srgbClr val="9AA3B0"/>
          </a:solidFill>
          <a:ln w="9525">
            <a:solidFill>
              <a:srgbClr val="4A5568"/>
            </a:solidFill>
            <a:prstDash val="solid"/>
          </a:ln>
        </p:spPr>
      </p:sp>
      <p:sp>
        <p:nvSpPr>
          <p:cNvPr id="24" name="Shape 22"/>
          <p:cNvSpPr/>
          <p:nvPr/>
        </p:nvSpPr>
        <p:spPr>
          <a:xfrm>
            <a:off x="1920240" y="3685032"/>
            <a:ext cx="182880" cy="384048"/>
          </a:xfrm>
          <a:prstGeom prst="ellipse">
            <a:avLst/>
          </a:prstGeom>
          <a:solidFill>
            <a:srgbClr val="7FA8E8">
              <a:alpha val="80000"/>
            </a:srgbClr>
          </a:solidFill>
          <a:ln w="9525">
            <a:solidFill>
              <a:srgbClr val="3E6FC1"/>
            </a:solidFill>
            <a:prstDash val="solid"/>
          </a:ln>
        </p:spPr>
      </p:sp>
      <p:sp>
        <p:nvSpPr>
          <p:cNvPr id="25" name="Shape 23"/>
          <p:cNvSpPr/>
          <p:nvPr/>
        </p:nvSpPr>
        <p:spPr>
          <a:xfrm>
            <a:off x="1965960" y="3822192"/>
            <a:ext cx="91440" cy="219456"/>
          </a:xfrm>
          <a:prstGeom prst="ellipse">
            <a:avLst/>
          </a:prstGeom>
          <a:solidFill>
            <a:srgbClr val="2F5FB0">
              <a:alpha val="90000"/>
            </a:srgbClr>
          </a:solidFill>
          <a:ln/>
        </p:spPr>
      </p:sp>
      <p:sp>
        <p:nvSpPr>
          <p:cNvPr id="26" name="Shape 24"/>
          <p:cNvSpPr/>
          <p:nvPr/>
        </p:nvSpPr>
        <p:spPr>
          <a:xfrm>
            <a:off x="1325880" y="3639312"/>
            <a:ext cx="1371600" cy="91"/>
          </a:xfrm>
          <a:prstGeom prst="line">
            <a:avLst/>
          </a:prstGeom>
          <a:noFill/>
          <a:ln w="50800">
            <a:solidFill>
              <a:srgbClr val="E6DCCB"/>
            </a:solidFill>
            <a:prstDash val="solid"/>
          </a:ln>
        </p:spPr>
      </p:sp>
      <p:sp>
        <p:nvSpPr>
          <p:cNvPr id="27" name="Shape 25"/>
          <p:cNvSpPr/>
          <p:nvPr/>
        </p:nvSpPr>
        <p:spPr>
          <a:xfrm>
            <a:off x="1554480" y="2999232"/>
            <a:ext cx="914400" cy="640080"/>
          </a:xfrm>
          <a:custGeom>
            <a:avLst/>
            <a:gdLst/>
            <a:ahLst/>
            <a:cxnLst/>
            <a:rect l="l" t="t" r="r" b="b"/>
            <a:pathLst>
              <a:path w="914400" h="640080">
                <a:moveTo>
                  <a:pt x="0" y="0"/>
                </a:moveTo>
                <a:lnTo>
                  <a:pt x="914400" y="0"/>
                </a:lnTo>
                <a:lnTo>
                  <a:pt x="740664" y="640080"/>
                </a:lnTo>
                <a:lnTo>
                  <a:pt x="173736" y="640080"/>
                </a:lnTo>
                <a:close/>
              </a:path>
            </a:pathLst>
          </a:custGeom>
          <a:solidFill>
            <a:srgbClr val="F3EFE6"/>
          </a:solidFill>
          <a:ln w="19050">
            <a:solidFill>
              <a:srgbClr val="7A6E5A"/>
            </a:solidFill>
            <a:prstDash val="solid"/>
          </a:ln>
        </p:spPr>
      </p:sp>
      <p:sp>
        <p:nvSpPr>
          <p:cNvPr id="28" name="Shape 26"/>
          <p:cNvSpPr/>
          <p:nvPr/>
        </p:nvSpPr>
        <p:spPr>
          <a:xfrm>
            <a:off x="1755648" y="3529584"/>
            <a:ext cx="512064" cy="91440"/>
          </a:xfrm>
          <a:prstGeom prst="rect">
            <a:avLst/>
          </a:prstGeom>
          <a:solidFill>
            <a:srgbClr val="BFC4CC"/>
          </a:solidFill>
          <a:ln/>
        </p:spPr>
      </p:sp>
      <p:sp>
        <p:nvSpPr>
          <p:cNvPr id="29" name="Shape 27"/>
          <p:cNvSpPr/>
          <p:nvPr/>
        </p:nvSpPr>
        <p:spPr>
          <a:xfrm>
            <a:off x="1517904" y="2779776"/>
            <a:ext cx="987552" cy="54864"/>
          </a:xfrm>
          <a:prstGeom prst="rect">
            <a:avLst/>
          </a:prstGeom>
          <a:solidFill>
            <a:srgbClr val="F3EFE6"/>
          </a:solidFill>
          <a:ln w="15875">
            <a:solidFill>
              <a:srgbClr val="7A6E5A"/>
            </a:solidFill>
            <a:prstDash val="solid"/>
          </a:ln>
        </p:spPr>
      </p:sp>
      <p:sp>
        <p:nvSpPr>
          <p:cNvPr id="30" name="Shape 28"/>
          <p:cNvSpPr/>
          <p:nvPr/>
        </p:nvSpPr>
        <p:spPr>
          <a:xfrm>
            <a:off x="1956816" y="2706624"/>
            <a:ext cx="109728" cy="73152"/>
          </a:xfrm>
          <a:prstGeom prst="rect">
            <a:avLst/>
          </a:prstGeom>
          <a:solidFill>
            <a:srgbClr val="F3EFE6"/>
          </a:solidFill>
          <a:ln w="12700">
            <a:solidFill>
              <a:srgbClr val="7A6E5A"/>
            </a:solidFill>
            <a:prstDash val="solid"/>
          </a:ln>
        </p:spPr>
      </p:sp>
      <p:sp>
        <p:nvSpPr>
          <p:cNvPr id="31" name="Text 29"/>
          <p:cNvSpPr/>
          <p:nvPr/>
        </p:nvSpPr>
        <p:spPr>
          <a:xfrm>
            <a:off x="457200" y="2670048"/>
            <a:ext cx="1024128" cy="274320"/>
          </a:xfrm>
          <a:prstGeom prst="rect">
            <a:avLst/>
          </a:prstGeom>
          <a:noFill/>
          <a:ln/>
        </p:spPr>
        <p:txBody>
          <a:bodyPr wrap="square" lIns="0" tIns="0" rIns="0" bIns="0" rtlCol="0" anchor="ctr"/>
          <a:lstStyle/>
          <a:p>
            <a:pPr algn="r" indent="0" marL="0">
              <a:buNone/>
            </a:pPr>
            <a:r>
              <a:rPr lang="en-US" sz="1000" b="1" dirty="0">
                <a:solidFill>
                  <a:srgbClr val="2A1F3D"/>
                </a:solidFill>
                <a:latin typeface="Calibri" pitchFamily="34" charset="0"/>
                <a:ea typeface="Calibri" pitchFamily="34" charset="-122"/>
                <a:cs typeface="Calibri" pitchFamily="34" charset="-120"/>
              </a:rPr>
              <a:t>lid lifted slightly</a:t>
            </a:r>
            <a:endParaRPr lang="en-US" sz="1000" dirty="0"/>
          </a:p>
        </p:txBody>
      </p:sp>
      <p:sp>
        <p:nvSpPr>
          <p:cNvPr id="32" name="Text 30"/>
          <p:cNvSpPr/>
          <p:nvPr/>
        </p:nvSpPr>
        <p:spPr>
          <a:xfrm>
            <a:off x="2606040" y="3063240"/>
            <a:ext cx="1645920" cy="201168"/>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crucible + Mg ribbon</a:t>
            </a:r>
            <a:endParaRPr lang="en-US" sz="1000" dirty="0"/>
          </a:p>
        </p:txBody>
      </p:sp>
      <p:sp>
        <p:nvSpPr>
          <p:cNvPr id="33" name="Text 31"/>
          <p:cNvSpPr/>
          <p:nvPr/>
        </p:nvSpPr>
        <p:spPr>
          <a:xfrm>
            <a:off x="2834640" y="3520440"/>
            <a:ext cx="1371600" cy="201168"/>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pipeclay triangle</a:t>
            </a:r>
            <a:endParaRPr lang="en-US" sz="1000" dirty="0"/>
          </a:p>
        </p:txBody>
      </p:sp>
      <p:sp>
        <p:nvSpPr>
          <p:cNvPr id="34" name="Text 32"/>
          <p:cNvSpPr/>
          <p:nvPr/>
        </p:nvSpPr>
        <p:spPr>
          <a:xfrm>
            <a:off x="2971800" y="3977640"/>
            <a:ext cx="914400" cy="201168"/>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tripod</a:t>
            </a:r>
            <a:endParaRPr lang="en-US" sz="1000" dirty="0"/>
          </a:p>
        </p:txBody>
      </p:sp>
      <p:sp>
        <p:nvSpPr>
          <p:cNvPr id="35" name="Text 33"/>
          <p:cNvSpPr/>
          <p:nvPr/>
        </p:nvSpPr>
        <p:spPr>
          <a:xfrm>
            <a:off x="2130552" y="4224528"/>
            <a:ext cx="685800" cy="365760"/>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Bunsen</a:t>
            </a:r>
            <a:endParaRPr lang="en-US" sz="1000" dirty="0"/>
          </a:p>
          <a:p>
            <a:pPr algn="l" indent="0" marL="0">
              <a:buNone/>
            </a:pPr>
            <a:r>
              <a:rPr lang="en-US" sz="1000" b="1" dirty="0">
                <a:solidFill>
                  <a:srgbClr val="262B3A"/>
                </a:solidFill>
                <a:latin typeface="Calibri" pitchFamily="34" charset="0"/>
                <a:ea typeface="Calibri" pitchFamily="34" charset="-122"/>
                <a:cs typeface="Calibri" pitchFamily="34" charset="-120"/>
              </a:rPr>
              <a:t>burner</a:t>
            </a:r>
            <a:endParaRPr lang="en-US" sz="1000" dirty="0"/>
          </a:p>
        </p:txBody>
      </p:sp>
      <p:sp>
        <p:nvSpPr>
          <p:cNvPr id="36" name="Shape 34"/>
          <p:cNvSpPr/>
          <p:nvPr/>
        </p:nvSpPr>
        <p:spPr>
          <a:xfrm>
            <a:off x="4133088" y="4206240"/>
            <a:ext cx="1335024" cy="64008"/>
          </a:xfrm>
          <a:prstGeom prst="rect">
            <a:avLst/>
          </a:prstGeom>
          <a:solidFill>
            <a:srgbClr val="9AA3B0"/>
          </a:solidFill>
          <a:ln w="9525">
            <a:solidFill>
              <a:srgbClr val="4A5568"/>
            </a:solidFill>
            <a:prstDash val="solid"/>
          </a:ln>
        </p:spPr>
      </p:sp>
      <p:sp>
        <p:nvSpPr>
          <p:cNvPr id="37" name="Shape 35"/>
          <p:cNvSpPr/>
          <p:nvPr/>
        </p:nvSpPr>
        <p:spPr>
          <a:xfrm>
            <a:off x="4023360" y="4270248"/>
            <a:ext cx="1554480" cy="502920"/>
          </a:xfrm>
          <a:prstGeom prst="roundRect">
            <a:avLst>
              <a:gd name="adj" fmla="val 10909"/>
            </a:avLst>
          </a:prstGeom>
          <a:solidFill>
            <a:srgbClr val="E8EBF0"/>
          </a:solidFill>
          <a:ln w="15875">
            <a:solidFill>
              <a:srgbClr val="4A5568"/>
            </a:solidFill>
            <a:prstDash val="solid"/>
          </a:ln>
        </p:spPr>
      </p:sp>
      <p:sp>
        <p:nvSpPr>
          <p:cNvPr id="38" name="Shape 36"/>
          <p:cNvSpPr/>
          <p:nvPr/>
        </p:nvSpPr>
        <p:spPr>
          <a:xfrm>
            <a:off x="4160520" y="4361688"/>
            <a:ext cx="1280160" cy="292608"/>
          </a:xfrm>
          <a:prstGeom prst="rect">
            <a:avLst/>
          </a:prstGeom>
          <a:solidFill>
            <a:srgbClr val="1F2A3A"/>
          </a:solidFill>
          <a:ln/>
        </p:spPr>
      </p:sp>
      <p:sp>
        <p:nvSpPr>
          <p:cNvPr id="39" name="Text 37"/>
          <p:cNvSpPr/>
          <p:nvPr/>
        </p:nvSpPr>
        <p:spPr>
          <a:xfrm>
            <a:off x="4160520" y="4361688"/>
            <a:ext cx="1280160" cy="292608"/>
          </a:xfrm>
          <a:prstGeom prst="rect">
            <a:avLst/>
          </a:prstGeom>
          <a:noFill/>
          <a:ln/>
        </p:spPr>
        <p:txBody>
          <a:bodyPr wrap="square" lIns="0" tIns="0" rIns="0" bIns="0" rtlCol="0" anchor="ctr"/>
          <a:lstStyle/>
          <a:p>
            <a:pPr algn="ctr" indent="0" marL="0">
              <a:buNone/>
            </a:pPr>
            <a:r>
              <a:rPr lang="en-US" sz="1100" b="1" dirty="0">
                <a:solidFill>
                  <a:srgbClr val="7CFC9A"/>
                </a:solidFill>
                <a:latin typeface="Calibri" pitchFamily="34" charset="0"/>
                <a:ea typeface="Calibri" pitchFamily="34" charset="-122"/>
                <a:cs typeface="Calibri" pitchFamily="34" charset="-120"/>
              </a:rPr>
              <a:t>20.24 g</a:t>
            </a:r>
            <a:endParaRPr lang="en-US" sz="1100" dirty="0"/>
          </a:p>
        </p:txBody>
      </p:sp>
      <p:sp>
        <p:nvSpPr>
          <p:cNvPr id="40" name="Shape 38"/>
          <p:cNvSpPr/>
          <p:nvPr/>
        </p:nvSpPr>
        <p:spPr>
          <a:xfrm>
            <a:off x="4480560" y="3749040"/>
            <a:ext cx="640080" cy="457200"/>
          </a:xfrm>
          <a:custGeom>
            <a:avLst/>
            <a:gdLst/>
            <a:ahLst/>
            <a:cxnLst/>
            <a:rect l="l" t="t" r="r" b="b"/>
            <a:pathLst>
              <a:path w="640080" h="457200">
                <a:moveTo>
                  <a:pt x="0" y="0"/>
                </a:moveTo>
                <a:lnTo>
                  <a:pt x="640080" y="0"/>
                </a:lnTo>
                <a:lnTo>
                  <a:pt x="518465" y="457200"/>
                </a:lnTo>
                <a:lnTo>
                  <a:pt x="121615" y="457200"/>
                </a:lnTo>
                <a:close/>
              </a:path>
            </a:pathLst>
          </a:custGeom>
          <a:solidFill>
            <a:srgbClr val="F3EFE6"/>
          </a:solidFill>
          <a:ln w="19050">
            <a:solidFill>
              <a:srgbClr val="7A6E5A"/>
            </a:solidFill>
            <a:prstDash val="solid"/>
          </a:ln>
        </p:spPr>
      </p:sp>
      <p:sp>
        <p:nvSpPr>
          <p:cNvPr id="41" name="Shape 39"/>
          <p:cNvSpPr/>
          <p:nvPr/>
        </p:nvSpPr>
        <p:spPr>
          <a:xfrm>
            <a:off x="4443984" y="3694176"/>
            <a:ext cx="713232" cy="54864"/>
          </a:xfrm>
          <a:prstGeom prst="rect">
            <a:avLst/>
          </a:prstGeom>
          <a:solidFill>
            <a:srgbClr val="F3EFE6"/>
          </a:solidFill>
          <a:ln w="15875">
            <a:solidFill>
              <a:srgbClr val="7A6E5A"/>
            </a:solidFill>
            <a:prstDash val="solid"/>
          </a:ln>
        </p:spPr>
      </p:sp>
      <p:sp>
        <p:nvSpPr>
          <p:cNvPr id="42" name="Shape 40"/>
          <p:cNvSpPr/>
          <p:nvPr/>
        </p:nvSpPr>
        <p:spPr>
          <a:xfrm>
            <a:off x="4745736" y="3621024"/>
            <a:ext cx="109728" cy="73152"/>
          </a:xfrm>
          <a:prstGeom prst="rect">
            <a:avLst/>
          </a:prstGeom>
          <a:solidFill>
            <a:srgbClr val="F3EFE6"/>
          </a:solidFill>
          <a:ln w="12700">
            <a:solidFill>
              <a:srgbClr val="7A6E5A"/>
            </a:solidFill>
            <a:prstDash val="solid"/>
          </a:ln>
        </p:spPr>
      </p:sp>
      <p:sp>
        <p:nvSpPr>
          <p:cNvPr id="43" name="Text 41"/>
          <p:cNvSpPr/>
          <p:nvPr/>
        </p:nvSpPr>
        <p:spPr>
          <a:xfrm>
            <a:off x="4023360" y="3108960"/>
            <a:ext cx="1554480" cy="365760"/>
          </a:xfrm>
          <a:prstGeom prst="rect">
            <a:avLst/>
          </a:prstGeom>
          <a:noFill/>
          <a:ln/>
        </p:spPr>
        <p:txBody>
          <a:bodyPr wrap="square" lIns="0" tIns="0" rIns="0" bIns="0" rtlCol="0" anchor="b"/>
          <a:lstStyle/>
          <a:p>
            <a:pPr algn="ctr" indent="0" marL="0">
              <a:buNone/>
            </a:pPr>
            <a:r>
              <a:rPr lang="en-US" sz="1000" dirty="0">
                <a:solidFill>
                  <a:srgbClr val="262B3A"/>
                </a:solidFill>
                <a:latin typeface="Calibri" pitchFamily="34" charset="0"/>
                <a:ea typeface="Calibri" pitchFamily="34" charset="-122"/>
                <a:cs typeface="Calibri" pitchFamily="34" charset="-120"/>
              </a:rPr>
              <a:t>weigh crucible + lid + Mg</a:t>
            </a:r>
            <a:endParaRPr lang="en-US" sz="1000" dirty="0"/>
          </a:p>
        </p:txBody>
      </p:sp>
      <p:sp>
        <p:nvSpPr>
          <p:cNvPr id="44" name="Shape 42"/>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45" name="Text 4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46" name="Text 44"/>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Weigh an empty </a:t>
            </a:r>
            <a:r>
              <a:rPr lang="en-US" sz="1100" b="1" dirty="0">
                <a:solidFill>
                  <a:srgbClr val="262B3A"/>
                </a:solidFill>
                <a:latin typeface="Calibri" pitchFamily="34" charset="0"/>
                <a:ea typeface="Calibri" pitchFamily="34" charset="-122"/>
                <a:cs typeface="Calibri" pitchFamily="34" charset="-120"/>
              </a:rPr>
              <a:t>crucible and lid</a:t>
            </a:r>
            <a:r>
              <a:rPr lang="en-US" sz="1100" dirty="0">
                <a:solidFill>
                  <a:srgbClr val="262B3A"/>
                </a:solidFill>
                <a:latin typeface="Calibri" pitchFamily="34" charset="0"/>
                <a:ea typeface="Calibri" pitchFamily="34" charset="-122"/>
                <a:cs typeface="Calibri" pitchFamily="34" charset="-120"/>
              </a:rPr>
              <a:t>. Add a coil of clean </a:t>
            </a:r>
            <a:r>
              <a:rPr lang="en-US" sz="1100" b="1" dirty="0">
                <a:solidFill>
                  <a:srgbClr val="262B3A"/>
                </a:solidFill>
                <a:latin typeface="Calibri" pitchFamily="34" charset="0"/>
                <a:ea typeface="Calibri" pitchFamily="34" charset="-122"/>
                <a:cs typeface="Calibri" pitchFamily="34" charset="-120"/>
              </a:rPr>
              <a:t>magnesium ribbon</a:t>
            </a:r>
            <a:r>
              <a:rPr lang="en-US" sz="1100" dirty="0">
                <a:solidFill>
                  <a:srgbClr val="262B3A"/>
                </a:solidFill>
                <a:latin typeface="Calibri" pitchFamily="34" charset="0"/>
                <a:ea typeface="Calibri" pitchFamily="34" charset="-122"/>
                <a:cs typeface="Calibri" pitchFamily="34" charset="-120"/>
              </a:rPr>
              <a:t>; weigh again.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Heat strongly. </a:t>
            </a:r>
            <a:r>
              <a:rPr lang="en-US" sz="1100" b="1" dirty="0">
                <a:solidFill>
                  <a:srgbClr val="262B3A"/>
                </a:solidFill>
                <a:latin typeface="Calibri" pitchFamily="34" charset="0"/>
                <a:ea typeface="Calibri" pitchFamily="34" charset="-122"/>
                <a:cs typeface="Calibri" pitchFamily="34" charset="-120"/>
              </a:rPr>
              <a:t>Lift the lid</a:t>
            </a:r>
            <a:r>
              <a:rPr lang="en-US" sz="1100" dirty="0">
                <a:solidFill>
                  <a:srgbClr val="262B3A"/>
                </a:solidFill>
                <a:latin typeface="Calibri" pitchFamily="34" charset="0"/>
                <a:ea typeface="Calibri" pitchFamily="34" charset="-122"/>
                <a:cs typeface="Calibri" pitchFamily="34" charset="-120"/>
              </a:rPr>
              <a:t> slightly every minute with </a:t>
            </a:r>
            <a:r>
              <a:rPr lang="en-US" sz="1100" b="1" dirty="0">
                <a:solidFill>
                  <a:srgbClr val="262B3A"/>
                </a:solidFill>
                <a:latin typeface="Calibri" pitchFamily="34" charset="0"/>
                <a:ea typeface="Calibri" pitchFamily="34" charset="-122"/>
                <a:cs typeface="Calibri" pitchFamily="34" charset="-120"/>
              </a:rPr>
              <a:t>tongs</a:t>
            </a:r>
            <a:r>
              <a:rPr lang="en-US" sz="1100" dirty="0">
                <a:solidFill>
                  <a:srgbClr val="262B3A"/>
                </a:solidFill>
                <a:latin typeface="Calibri" pitchFamily="34" charset="0"/>
                <a:ea typeface="Calibri" pitchFamily="34" charset="-122"/>
                <a:cs typeface="Calibri" pitchFamily="34" charset="-120"/>
              </a:rPr>
              <a:t> to let air in, but keep the white smoke in.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When the Mg no longer glows, remove the lid and heat for 2 more minutes. </a:t>
            </a:r>
            <a:r>
              <a:rPr lang="en-US" sz="1100" b="1" dirty="0">
                <a:solidFill>
                  <a:srgbClr val="262B3A"/>
                </a:solidFill>
                <a:latin typeface="Calibri" pitchFamily="34" charset="0"/>
                <a:ea typeface="Calibri" pitchFamily="34" charset="-122"/>
                <a:cs typeface="Calibri" pitchFamily="34" charset="-120"/>
              </a:rPr>
              <a:t>Cool</a:t>
            </a:r>
            <a:r>
              <a:rPr lang="en-US" sz="1100" dirty="0">
                <a:solidFill>
                  <a:srgbClr val="262B3A"/>
                </a:solidFill>
                <a:latin typeface="Calibri" pitchFamily="34" charset="0"/>
                <a:ea typeface="Calibri" pitchFamily="34" charset="-122"/>
                <a:cs typeface="Calibri" pitchFamily="34" charset="-120"/>
              </a:rPr>
              <a:t>, then </a:t>
            </a:r>
            <a:r>
              <a:rPr lang="en-US" sz="1100" b="1" dirty="0">
                <a:solidFill>
                  <a:srgbClr val="262B3A"/>
                </a:solidFill>
                <a:latin typeface="Calibri" pitchFamily="34" charset="0"/>
                <a:ea typeface="Calibri" pitchFamily="34" charset="-122"/>
                <a:cs typeface="Calibri" pitchFamily="34" charset="-120"/>
              </a:rPr>
              <a:t>reweigh</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Repeat heating, cooling and weighing until the mass is </a:t>
            </a:r>
            <a:r>
              <a:rPr lang="en-US" sz="1100" b="1" dirty="0">
                <a:solidFill>
                  <a:srgbClr val="262B3A"/>
                </a:solidFill>
                <a:latin typeface="Calibri" pitchFamily="34" charset="0"/>
                <a:ea typeface="Calibri" pitchFamily="34" charset="-122"/>
                <a:cs typeface="Calibri" pitchFamily="34" charset="-120"/>
              </a:rPr>
              <a:t>constant</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IV</a:t>
            </a:r>
            <a:r>
              <a:rPr lang="en-US" sz="1100" dirty="0">
                <a:solidFill>
                  <a:srgbClr val="262B3A"/>
                </a:solidFill>
                <a:latin typeface="Calibri" pitchFamily="34" charset="0"/>
                <a:ea typeface="Calibri" pitchFamily="34" charset="-122"/>
                <a:cs typeface="Calibri" pitchFamily="34" charset="-120"/>
              </a:rPr>
              <a:t>: mass of Mg. </a:t>
            </a:r>
            <a:r>
              <a:rPr lang="en-US" sz="1100" b="1" dirty="0">
                <a:solidFill>
                  <a:srgbClr val="262B3A"/>
                </a:solidFill>
                <a:latin typeface="Calibri" pitchFamily="34" charset="0"/>
                <a:ea typeface="Calibri" pitchFamily="34" charset="-122"/>
                <a:cs typeface="Calibri" pitchFamily="34" charset="-120"/>
              </a:rPr>
              <a:t>DV</a:t>
            </a:r>
            <a:r>
              <a:rPr lang="en-US" sz="1100" dirty="0">
                <a:solidFill>
                  <a:srgbClr val="262B3A"/>
                </a:solidFill>
                <a:latin typeface="Calibri" pitchFamily="34" charset="0"/>
                <a:ea typeface="Calibri" pitchFamily="34" charset="-122"/>
                <a:cs typeface="Calibri" pitchFamily="34" charset="-120"/>
              </a:rPr>
              <a:t>: mass of oxygen gained. </a:t>
            </a:r>
            <a:r>
              <a:rPr lang="en-US" sz="1100" b="1" dirty="0">
                <a:solidFill>
                  <a:srgbClr val="262B3A"/>
                </a:solidFill>
                <a:latin typeface="Calibri" pitchFamily="34" charset="0"/>
                <a:ea typeface="Calibri" pitchFamily="34" charset="-122"/>
                <a:cs typeface="Calibri" pitchFamily="34" charset="-120"/>
              </a:rPr>
              <a:t>Control</a:t>
            </a:r>
            <a:r>
              <a:rPr lang="en-US" sz="1100" dirty="0">
                <a:solidFill>
                  <a:srgbClr val="262B3A"/>
                </a:solidFill>
                <a:latin typeface="Calibri" pitchFamily="34" charset="0"/>
                <a:ea typeface="Calibri" pitchFamily="34" charset="-122"/>
                <a:cs typeface="Calibri" pitchFamily="34" charset="-120"/>
              </a:rPr>
              <a:t>: heating time, same crucible.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Safety</a:t>
            </a:r>
            <a:r>
              <a:rPr lang="en-US" sz="1100" dirty="0">
                <a:solidFill>
                  <a:srgbClr val="262B3A"/>
                </a:solidFill>
                <a:latin typeface="Calibri" pitchFamily="34" charset="0"/>
                <a:ea typeface="Calibri" pitchFamily="34" charset="-122"/>
                <a:cs typeface="Calibri" pitchFamily="34" charset="-120"/>
              </a:rPr>
              <a:t>: eye protection; do not look directly at burning Mg; hot crucible: use tongs; </a:t>
            </a:r>
            <a:r>
              <a:rPr lang="en-US" sz="1100" b="1" dirty="0">
                <a:solidFill>
                  <a:srgbClr val="262B3A"/>
                </a:solidFill>
                <a:latin typeface="Calibri" pitchFamily="34" charset="0"/>
                <a:ea typeface="Calibri" pitchFamily="34" charset="-122"/>
                <a:cs typeface="Calibri" pitchFamily="34" charset="-120"/>
              </a:rPr>
              <a:t>Mg ribbon is FLAMMABLE</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47" name="Shape 45"/>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48" name="Text 46"/>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mass of oxygen</a:t>
            </a:r>
            <a:endParaRPr lang="en-US" sz="1300" dirty="0"/>
          </a:p>
        </p:txBody>
      </p:sp>
      <p:sp>
        <p:nvSpPr>
          <p:cNvPr id="49" name="Text 47"/>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Crucible + lid 20.12 g; + Mg 20.24 g; after heating 20.32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Mg   </a:t>
            </a:r>
            <a:r>
              <a:rPr lang="en-US" sz="1050" dirty="0">
                <a:solidFill>
                  <a:srgbClr val="262B3A"/>
                </a:solidFill>
                <a:latin typeface="Calibri" pitchFamily="34" charset="0"/>
                <a:ea typeface="Calibri" pitchFamily="34" charset="-122"/>
                <a:cs typeface="Calibri" pitchFamily="34" charset="-120"/>
              </a:rPr>
              <a:t>20.24 − 20.12 = 0.12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oxygen = 20.32 − 20.24 = </a:t>
            </a:r>
            <a:r>
              <a:rPr lang="en-US" sz="1050" b="1" dirty="0">
                <a:solidFill>
                  <a:srgbClr val="C8414C"/>
                </a:solidFill>
                <a:latin typeface="Calibri" pitchFamily="34" charset="0"/>
                <a:ea typeface="Calibri" pitchFamily="34" charset="-122"/>
                <a:cs typeface="Calibri" pitchFamily="34" charset="-120"/>
              </a:rPr>
              <a:t>0.08 g</a:t>
            </a:r>
            <a:r>
              <a:rPr lang="en-US" sz="1050" b="1" dirty="0">
                <a:solidFill>
                  <a:srgbClr val="C8414C"/>
                </a:solidFill>
                <a:latin typeface="Calibri" pitchFamily="34" charset="0"/>
                <a:ea typeface="Calibri" pitchFamily="34" charset="-122"/>
                <a:cs typeface="Calibri" pitchFamily="34" charset="-120"/>
              </a:rPr>
              <a:t>; MgO = </a:t>
            </a:r>
            <a:r>
              <a:rPr lang="en-US" sz="1050" b="1" dirty="0">
                <a:solidFill>
                  <a:srgbClr val="C8414C"/>
                </a:solidFill>
                <a:latin typeface="Calibri" pitchFamily="34" charset="0"/>
                <a:ea typeface="Calibri" pitchFamily="34" charset="-122"/>
                <a:cs typeface="Calibri" pitchFamily="34" charset="-120"/>
              </a:rPr>
              <a:t>0.20 g</a:t>
            </a:r>
            <a:endParaRPr lang="en-US" sz="1050" dirty="0"/>
          </a:p>
        </p:txBody>
      </p:sp>
      <p:sp>
        <p:nvSpPr>
          <p:cNvPr id="50" name="Shape 48"/>
          <p:cNvSpPr/>
          <p:nvPr/>
        </p:nvSpPr>
        <p:spPr>
          <a:xfrm>
            <a:off x="411480" y="5833872"/>
            <a:ext cx="11368735" cy="530352"/>
          </a:xfrm>
          <a:prstGeom prst="rect">
            <a:avLst/>
          </a:prstGeom>
          <a:solidFill>
            <a:srgbClr val="FFF4E0"/>
          </a:solidFill>
          <a:ln w="6350">
            <a:solidFill>
              <a:srgbClr val="F1D9A8"/>
            </a:solidFill>
            <a:prstDash val="solid"/>
          </a:ln>
        </p:spPr>
      </p:sp>
      <p:sp>
        <p:nvSpPr>
          <p:cNvPr id="51" name="Shape 49"/>
          <p:cNvSpPr/>
          <p:nvPr/>
        </p:nvSpPr>
        <p:spPr>
          <a:xfrm>
            <a:off x="411480" y="5833872"/>
            <a:ext cx="82296" cy="530352"/>
          </a:xfrm>
          <a:prstGeom prst="rect">
            <a:avLst/>
          </a:prstGeom>
          <a:solidFill>
            <a:srgbClr val="E39A2F"/>
          </a:solidFill>
          <a:ln w="12700">
            <a:solidFill>
              <a:srgbClr val="E39A2F"/>
            </a:solidFill>
            <a:prstDash val="solid"/>
          </a:ln>
        </p:spPr>
      </p:sp>
      <p:sp>
        <p:nvSpPr>
          <p:cNvPr id="52" name="Text 5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the lid lifted only </a:t>
            </a:r>
            <a:r>
              <a:rPr lang="en-US" sz="1150" b="1" dirty="0">
                <a:solidFill>
                  <a:srgbClr val="262B3A"/>
                </a:solidFill>
                <a:latin typeface="Calibri" pitchFamily="34" charset="0"/>
                <a:ea typeface="Calibri" pitchFamily="34" charset="-122"/>
                <a:cs typeface="Calibri" pitchFamily="34" charset="-120"/>
              </a:rPr>
              <a:t>slightly</a:t>
            </a:r>
            <a:r>
              <a:rPr lang="en-US" sz="1150" dirty="0">
                <a:solidFill>
                  <a:srgbClr val="262B3A"/>
                </a:solidFill>
                <a:latin typeface="Calibri" pitchFamily="34" charset="0"/>
                <a:ea typeface="Calibri" pitchFamily="34" charset="-122"/>
                <a:cs typeface="Calibri" pitchFamily="34" charset="-120"/>
              </a:rPr>
              <a:t>? Why is the crucible </a:t>
            </a:r>
            <a:r>
              <a:rPr lang="en-US" sz="1150" b="1" dirty="0">
                <a:solidFill>
                  <a:srgbClr val="262B3A"/>
                </a:solidFill>
                <a:latin typeface="Calibri" pitchFamily="34" charset="0"/>
                <a:ea typeface="Calibri" pitchFamily="34" charset="-122"/>
                <a:cs typeface="Calibri" pitchFamily="34" charset="-120"/>
              </a:rPr>
              <a:t>heated to constant mass</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results and analysis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C5.2.2, C5.2.6 • table, graph to scale, ratio and errors</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19</a:t>
            </a:r>
            <a:endParaRPr lang="en-US" sz="1000" dirty="0"/>
          </a:p>
        </p:txBody>
      </p:sp>
      <p:sp>
        <p:nvSpPr>
          <p:cNvPr id="10" name="Shape 8"/>
          <p:cNvSpPr/>
          <p:nvPr/>
        </p:nvSpPr>
        <p:spPr>
          <a:xfrm>
            <a:off x="411480" y="1188720"/>
            <a:ext cx="60350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graph plotted to scale from the class results (illustrative data)</a:t>
            </a:r>
            <a:endParaRPr lang="en-US" sz="1000" dirty="0"/>
          </a:p>
        </p:txBody>
      </p:sp>
      <p:sp>
        <p:nvSpPr>
          <p:cNvPr id="12" name="Shape 10"/>
          <p:cNvSpPr/>
          <p:nvPr/>
        </p:nvSpPr>
        <p:spPr>
          <a:xfrm>
            <a:off x="1325880" y="1417320"/>
            <a:ext cx="4846320" cy="2606040"/>
          </a:xfrm>
          <a:prstGeom prst="rect">
            <a:avLst/>
          </a:prstGeom>
          <a:solidFill>
            <a:srgbClr val="FFFFFF"/>
          </a:solidFill>
          <a:ln/>
        </p:spPr>
      </p:sp>
      <p:sp>
        <p:nvSpPr>
          <p:cNvPr id="13" name="Shape 11"/>
          <p:cNvSpPr/>
          <p:nvPr/>
        </p:nvSpPr>
        <p:spPr>
          <a:xfrm>
            <a:off x="1325880" y="1417320"/>
            <a:ext cx="91" cy="2606040"/>
          </a:xfrm>
          <a:prstGeom prst="line">
            <a:avLst/>
          </a:prstGeom>
          <a:noFill/>
          <a:ln w="6350">
            <a:solidFill>
              <a:srgbClr val="D6CBE8"/>
            </a:solidFill>
            <a:prstDash val="solid"/>
          </a:ln>
        </p:spPr>
      </p:sp>
      <p:sp>
        <p:nvSpPr>
          <p:cNvPr id="14" name="Shape 12"/>
          <p:cNvSpPr/>
          <p:nvPr/>
        </p:nvSpPr>
        <p:spPr>
          <a:xfrm>
            <a:off x="1672046" y="1417320"/>
            <a:ext cx="91" cy="2606040"/>
          </a:xfrm>
          <a:prstGeom prst="line">
            <a:avLst/>
          </a:prstGeom>
          <a:noFill/>
          <a:ln w="6350">
            <a:solidFill>
              <a:srgbClr val="EEE9F6"/>
            </a:solidFill>
            <a:prstDash val="solid"/>
          </a:ln>
        </p:spPr>
      </p:sp>
      <p:sp>
        <p:nvSpPr>
          <p:cNvPr id="15" name="Shape 13"/>
          <p:cNvSpPr/>
          <p:nvPr/>
        </p:nvSpPr>
        <p:spPr>
          <a:xfrm>
            <a:off x="2018211" y="1417320"/>
            <a:ext cx="91" cy="2606040"/>
          </a:xfrm>
          <a:prstGeom prst="line">
            <a:avLst/>
          </a:prstGeom>
          <a:noFill/>
          <a:ln w="6350">
            <a:solidFill>
              <a:srgbClr val="D6CBE8"/>
            </a:solidFill>
            <a:prstDash val="solid"/>
          </a:ln>
        </p:spPr>
      </p:sp>
      <p:sp>
        <p:nvSpPr>
          <p:cNvPr id="16" name="Shape 14"/>
          <p:cNvSpPr/>
          <p:nvPr/>
        </p:nvSpPr>
        <p:spPr>
          <a:xfrm>
            <a:off x="2364377" y="1417320"/>
            <a:ext cx="91" cy="2606040"/>
          </a:xfrm>
          <a:prstGeom prst="line">
            <a:avLst/>
          </a:prstGeom>
          <a:noFill/>
          <a:ln w="6350">
            <a:solidFill>
              <a:srgbClr val="EEE9F6"/>
            </a:solidFill>
            <a:prstDash val="solid"/>
          </a:ln>
        </p:spPr>
      </p:sp>
      <p:sp>
        <p:nvSpPr>
          <p:cNvPr id="17" name="Shape 15"/>
          <p:cNvSpPr/>
          <p:nvPr/>
        </p:nvSpPr>
        <p:spPr>
          <a:xfrm>
            <a:off x="2710543" y="1417320"/>
            <a:ext cx="91" cy="2606040"/>
          </a:xfrm>
          <a:prstGeom prst="line">
            <a:avLst/>
          </a:prstGeom>
          <a:noFill/>
          <a:ln w="6350">
            <a:solidFill>
              <a:srgbClr val="D6CBE8"/>
            </a:solidFill>
            <a:prstDash val="solid"/>
          </a:ln>
        </p:spPr>
      </p:sp>
      <p:sp>
        <p:nvSpPr>
          <p:cNvPr id="18" name="Shape 16"/>
          <p:cNvSpPr/>
          <p:nvPr/>
        </p:nvSpPr>
        <p:spPr>
          <a:xfrm>
            <a:off x="3056709" y="1417320"/>
            <a:ext cx="91" cy="2606040"/>
          </a:xfrm>
          <a:prstGeom prst="line">
            <a:avLst/>
          </a:prstGeom>
          <a:noFill/>
          <a:ln w="6350">
            <a:solidFill>
              <a:srgbClr val="EEE9F6"/>
            </a:solidFill>
            <a:prstDash val="solid"/>
          </a:ln>
        </p:spPr>
      </p:sp>
      <p:sp>
        <p:nvSpPr>
          <p:cNvPr id="19" name="Shape 17"/>
          <p:cNvSpPr/>
          <p:nvPr/>
        </p:nvSpPr>
        <p:spPr>
          <a:xfrm>
            <a:off x="3402874" y="1417320"/>
            <a:ext cx="91" cy="2606040"/>
          </a:xfrm>
          <a:prstGeom prst="line">
            <a:avLst/>
          </a:prstGeom>
          <a:noFill/>
          <a:ln w="6350">
            <a:solidFill>
              <a:srgbClr val="D6CBE8"/>
            </a:solidFill>
            <a:prstDash val="solid"/>
          </a:ln>
        </p:spPr>
      </p:sp>
      <p:sp>
        <p:nvSpPr>
          <p:cNvPr id="20" name="Shape 18"/>
          <p:cNvSpPr/>
          <p:nvPr/>
        </p:nvSpPr>
        <p:spPr>
          <a:xfrm>
            <a:off x="3749040" y="1417320"/>
            <a:ext cx="91" cy="2606040"/>
          </a:xfrm>
          <a:prstGeom prst="line">
            <a:avLst/>
          </a:prstGeom>
          <a:noFill/>
          <a:ln w="6350">
            <a:solidFill>
              <a:srgbClr val="EEE9F6"/>
            </a:solidFill>
            <a:prstDash val="solid"/>
          </a:ln>
        </p:spPr>
      </p:sp>
      <p:sp>
        <p:nvSpPr>
          <p:cNvPr id="21" name="Shape 19"/>
          <p:cNvSpPr/>
          <p:nvPr/>
        </p:nvSpPr>
        <p:spPr>
          <a:xfrm>
            <a:off x="4095206" y="1417320"/>
            <a:ext cx="91" cy="2606040"/>
          </a:xfrm>
          <a:prstGeom prst="line">
            <a:avLst/>
          </a:prstGeom>
          <a:noFill/>
          <a:ln w="6350">
            <a:solidFill>
              <a:srgbClr val="D6CBE8"/>
            </a:solidFill>
            <a:prstDash val="solid"/>
          </a:ln>
        </p:spPr>
      </p:sp>
      <p:sp>
        <p:nvSpPr>
          <p:cNvPr id="22" name="Shape 20"/>
          <p:cNvSpPr/>
          <p:nvPr/>
        </p:nvSpPr>
        <p:spPr>
          <a:xfrm>
            <a:off x="4441371" y="1417320"/>
            <a:ext cx="91" cy="2606040"/>
          </a:xfrm>
          <a:prstGeom prst="line">
            <a:avLst/>
          </a:prstGeom>
          <a:noFill/>
          <a:ln w="6350">
            <a:solidFill>
              <a:srgbClr val="EEE9F6"/>
            </a:solidFill>
            <a:prstDash val="solid"/>
          </a:ln>
        </p:spPr>
      </p:sp>
      <p:sp>
        <p:nvSpPr>
          <p:cNvPr id="23" name="Shape 21"/>
          <p:cNvSpPr/>
          <p:nvPr/>
        </p:nvSpPr>
        <p:spPr>
          <a:xfrm>
            <a:off x="4787537" y="1417320"/>
            <a:ext cx="91" cy="2606040"/>
          </a:xfrm>
          <a:prstGeom prst="line">
            <a:avLst/>
          </a:prstGeom>
          <a:noFill/>
          <a:ln w="6350">
            <a:solidFill>
              <a:srgbClr val="D6CBE8"/>
            </a:solidFill>
            <a:prstDash val="solid"/>
          </a:ln>
        </p:spPr>
      </p:sp>
      <p:sp>
        <p:nvSpPr>
          <p:cNvPr id="24" name="Shape 22"/>
          <p:cNvSpPr/>
          <p:nvPr/>
        </p:nvSpPr>
        <p:spPr>
          <a:xfrm>
            <a:off x="5133703" y="1417320"/>
            <a:ext cx="91" cy="2606040"/>
          </a:xfrm>
          <a:prstGeom prst="line">
            <a:avLst/>
          </a:prstGeom>
          <a:noFill/>
          <a:ln w="6350">
            <a:solidFill>
              <a:srgbClr val="EEE9F6"/>
            </a:solidFill>
            <a:prstDash val="solid"/>
          </a:ln>
        </p:spPr>
      </p:sp>
      <p:sp>
        <p:nvSpPr>
          <p:cNvPr id="25" name="Shape 23"/>
          <p:cNvSpPr/>
          <p:nvPr/>
        </p:nvSpPr>
        <p:spPr>
          <a:xfrm>
            <a:off x="5479869" y="1417320"/>
            <a:ext cx="91" cy="2606040"/>
          </a:xfrm>
          <a:prstGeom prst="line">
            <a:avLst/>
          </a:prstGeom>
          <a:noFill/>
          <a:ln w="6350">
            <a:solidFill>
              <a:srgbClr val="D6CBE8"/>
            </a:solidFill>
            <a:prstDash val="solid"/>
          </a:ln>
        </p:spPr>
      </p:sp>
      <p:sp>
        <p:nvSpPr>
          <p:cNvPr id="26" name="Shape 24"/>
          <p:cNvSpPr/>
          <p:nvPr/>
        </p:nvSpPr>
        <p:spPr>
          <a:xfrm>
            <a:off x="5826034" y="1417320"/>
            <a:ext cx="91" cy="2606040"/>
          </a:xfrm>
          <a:prstGeom prst="line">
            <a:avLst/>
          </a:prstGeom>
          <a:noFill/>
          <a:ln w="6350">
            <a:solidFill>
              <a:srgbClr val="EEE9F6"/>
            </a:solidFill>
            <a:prstDash val="solid"/>
          </a:ln>
        </p:spPr>
      </p:sp>
      <p:sp>
        <p:nvSpPr>
          <p:cNvPr id="27" name="Shape 25"/>
          <p:cNvSpPr/>
          <p:nvPr/>
        </p:nvSpPr>
        <p:spPr>
          <a:xfrm>
            <a:off x="6172200" y="1417320"/>
            <a:ext cx="91" cy="2606040"/>
          </a:xfrm>
          <a:prstGeom prst="line">
            <a:avLst/>
          </a:prstGeom>
          <a:noFill/>
          <a:ln w="6350">
            <a:solidFill>
              <a:srgbClr val="D6CBE8"/>
            </a:solidFill>
            <a:prstDash val="solid"/>
          </a:ln>
        </p:spPr>
      </p:sp>
      <p:sp>
        <p:nvSpPr>
          <p:cNvPr id="28" name="Shape 26"/>
          <p:cNvSpPr/>
          <p:nvPr/>
        </p:nvSpPr>
        <p:spPr>
          <a:xfrm>
            <a:off x="1325880" y="4023360"/>
            <a:ext cx="4846320" cy="91"/>
          </a:xfrm>
          <a:prstGeom prst="line">
            <a:avLst/>
          </a:prstGeom>
          <a:noFill/>
          <a:ln w="6350">
            <a:solidFill>
              <a:srgbClr val="D6CBE8"/>
            </a:solidFill>
            <a:prstDash val="solid"/>
          </a:ln>
        </p:spPr>
      </p:sp>
      <p:sp>
        <p:nvSpPr>
          <p:cNvPr id="29" name="Shape 27"/>
          <p:cNvSpPr/>
          <p:nvPr/>
        </p:nvSpPr>
        <p:spPr>
          <a:xfrm>
            <a:off x="1325880" y="3762756"/>
            <a:ext cx="4846320" cy="91"/>
          </a:xfrm>
          <a:prstGeom prst="line">
            <a:avLst/>
          </a:prstGeom>
          <a:noFill/>
          <a:ln w="6350">
            <a:solidFill>
              <a:srgbClr val="EEE9F6"/>
            </a:solidFill>
            <a:prstDash val="solid"/>
          </a:ln>
        </p:spPr>
      </p:sp>
      <p:sp>
        <p:nvSpPr>
          <p:cNvPr id="30" name="Shape 28"/>
          <p:cNvSpPr/>
          <p:nvPr/>
        </p:nvSpPr>
        <p:spPr>
          <a:xfrm>
            <a:off x="1325880" y="3502152"/>
            <a:ext cx="4846320" cy="91"/>
          </a:xfrm>
          <a:prstGeom prst="line">
            <a:avLst/>
          </a:prstGeom>
          <a:noFill/>
          <a:ln w="6350">
            <a:solidFill>
              <a:srgbClr val="D6CBE8"/>
            </a:solidFill>
            <a:prstDash val="solid"/>
          </a:ln>
        </p:spPr>
      </p:sp>
      <p:sp>
        <p:nvSpPr>
          <p:cNvPr id="31" name="Shape 29"/>
          <p:cNvSpPr/>
          <p:nvPr/>
        </p:nvSpPr>
        <p:spPr>
          <a:xfrm>
            <a:off x="1325880" y="3241548"/>
            <a:ext cx="4846320" cy="91"/>
          </a:xfrm>
          <a:prstGeom prst="line">
            <a:avLst/>
          </a:prstGeom>
          <a:noFill/>
          <a:ln w="6350">
            <a:solidFill>
              <a:srgbClr val="EEE9F6"/>
            </a:solidFill>
            <a:prstDash val="solid"/>
          </a:ln>
        </p:spPr>
      </p:sp>
      <p:sp>
        <p:nvSpPr>
          <p:cNvPr id="32" name="Shape 30"/>
          <p:cNvSpPr/>
          <p:nvPr/>
        </p:nvSpPr>
        <p:spPr>
          <a:xfrm>
            <a:off x="1325880" y="2980944"/>
            <a:ext cx="4846320" cy="91"/>
          </a:xfrm>
          <a:prstGeom prst="line">
            <a:avLst/>
          </a:prstGeom>
          <a:noFill/>
          <a:ln w="6350">
            <a:solidFill>
              <a:srgbClr val="D6CBE8"/>
            </a:solidFill>
            <a:prstDash val="solid"/>
          </a:ln>
        </p:spPr>
      </p:sp>
      <p:sp>
        <p:nvSpPr>
          <p:cNvPr id="33" name="Shape 31"/>
          <p:cNvSpPr/>
          <p:nvPr/>
        </p:nvSpPr>
        <p:spPr>
          <a:xfrm>
            <a:off x="1325880" y="2720340"/>
            <a:ext cx="4846320" cy="91"/>
          </a:xfrm>
          <a:prstGeom prst="line">
            <a:avLst/>
          </a:prstGeom>
          <a:noFill/>
          <a:ln w="6350">
            <a:solidFill>
              <a:srgbClr val="EEE9F6"/>
            </a:solidFill>
            <a:prstDash val="solid"/>
          </a:ln>
        </p:spPr>
      </p:sp>
      <p:sp>
        <p:nvSpPr>
          <p:cNvPr id="34" name="Shape 32"/>
          <p:cNvSpPr/>
          <p:nvPr/>
        </p:nvSpPr>
        <p:spPr>
          <a:xfrm>
            <a:off x="1325880" y="2459736"/>
            <a:ext cx="4846320" cy="91"/>
          </a:xfrm>
          <a:prstGeom prst="line">
            <a:avLst/>
          </a:prstGeom>
          <a:noFill/>
          <a:ln w="6350">
            <a:solidFill>
              <a:srgbClr val="D6CBE8"/>
            </a:solidFill>
            <a:prstDash val="solid"/>
          </a:ln>
        </p:spPr>
      </p:sp>
      <p:sp>
        <p:nvSpPr>
          <p:cNvPr id="35" name="Shape 33"/>
          <p:cNvSpPr/>
          <p:nvPr/>
        </p:nvSpPr>
        <p:spPr>
          <a:xfrm>
            <a:off x="1325880" y="2199132"/>
            <a:ext cx="4846320" cy="91"/>
          </a:xfrm>
          <a:prstGeom prst="line">
            <a:avLst/>
          </a:prstGeom>
          <a:noFill/>
          <a:ln w="6350">
            <a:solidFill>
              <a:srgbClr val="EEE9F6"/>
            </a:solidFill>
            <a:prstDash val="solid"/>
          </a:ln>
        </p:spPr>
      </p:sp>
      <p:sp>
        <p:nvSpPr>
          <p:cNvPr id="36" name="Shape 34"/>
          <p:cNvSpPr/>
          <p:nvPr/>
        </p:nvSpPr>
        <p:spPr>
          <a:xfrm>
            <a:off x="1325880" y="1938528"/>
            <a:ext cx="4846320" cy="91"/>
          </a:xfrm>
          <a:prstGeom prst="line">
            <a:avLst/>
          </a:prstGeom>
          <a:noFill/>
          <a:ln w="6350">
            <a:solidFill>
              <a:srgbClr val="D6CBE8"/>
            </a:solidFill>
            <a:prstDash val="solid"/>
          </a:ln>
        </p:spPr>
      </p:sp>
      <p:sp>
        <p:nvSpPr>
          <p:cNvPr id="37" name="Shape 35"/>
          <p:cNvSpPr/>
          <p:nvPr/>
        </p:nvSpPr>
        <p:spPr>
          <a:xfrm>
            <a:off x="1325880" y="1677924"/>
            <a:ext cx="4846320" cy="91"/>
          </a:xfrm>
          <a:prstGeom prst="line">
            <a:avLst/>
          </a:prstGeom>
          <a:noFill/>
          <a:ln w="6350">
            <a:solidFill>
              <a:srgbClr val="EEE9F6"/>
            </a:solidFill>
            <a:prstDash val="solid"/>
          </a:ln>
        </p:spPr>
      </p:sp>
      <p:sp>
        <p:nvSpPr>
          <p:cNvPr id="38" name="Shape 36"/>
          <p:cNvSpPr/>
          <p:nvPr/>
        </p:nvSpPr>
        <p:spPr>
          <a:xfrm>
            <a:off x="1325880" y="1417320"/>
            <a:ext cx="4846320" cy="91"/>
          </a:xfrm>
          <a:prstGeom prst="line">
            <a:avLst/>
          </a:prstGeom>
          <a:noFill/>
          <a:ln w="6350">
            <a:solidFill>
              <a:srgbClr val="D6CBE8"/>
            </a:solidFill>
            <a:prstDash val="solid"/>
          </a:ln>
        </p:spPr>
      </p:sp>
      <p:sp>
        <p:nvSpPr>
          <p:cNvPr id="39" name="Shape 37"/>
          <p:cNvSpPr/>
          <p:nvPr/>
        </p:nvSpPr>
        <p:spPr>
          <a:xfrm>
            <a:off x="1325880" y="4023360"/>
            <a:ext cx="4846320" cy="91"/>
          </a:xfrm>
          <a:prstGeom prst="line">
            <a:avLst/>
          </a:prstGeom>
          <a:noFill/>
          <a:ln w="19050">
            <a:solidFill>
              <a:srgbClr val="2A1F3D"/>
            </a:solidFill>
            <a:prstDash val="solid"/>
          </a:ln>
        </p:spPr>
      </p:sp>
      <p:sp>
        <p:nvSpPr>
          <p:cNvPr id="40" name="Shape 38"/>
          <p:cNvSpPr/>
          <p:nvPr/>
        </p:nvSpPr>
        <p:spPr>
          <a:xfrm flipV="1">
            <a:off x="1325880" y="1417320"/>
            <a:ext cx="91" cy="2606040"/>
          </a:xfrm>
          <a:prstGeom prst="line">
            <a:avLst/>
          </a:prstGeom>
          <a:noFill/>
          <a:ln w="19050">
            <a:solidFill>
              <a:srgbClr val="2A1F3D"/>
            </a:solidFill>
            <a:prstDash val="solid"/>
          </a:ln>
        </p:spPr>
      </p:sp>
      <p:sp>
        <p:nvSpPr>
          <p:cNvPr id="41" name="Shape 39"/>
          <p:cNvSpPr/>
          <p:nvPr/>
        </p:nvSpPr>
        <p:spPr>
          <a:xfrm>
            <a:off x="1325880" y="4023360"/>
            <a:ext cx="91" cy="54864"/>
          </a:xfrm>
          <a:prstGeom prst="line">
            <a:avLst/>
          </a:prstGeom>
          <a:noFill/>
          <a:ln w="12700">
            <a:solidFill>
              <a:srgbClr val="2A1F3D"/>
            </a:solidFill>
            <a:prstDash val="solid"/>
          </a:ln>
        </p:spPr>
      </p:sp>
      <p:sp>
        <p:nvSpPr>
          <p:cNvPr id="42" name="Text 40"/>
          <p:cNvSpPr/>
          <p:nvPr/>
        </p:nvSpPr>
        <p:spPr>
          <a:xfrm>
            <a:off x="105156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43" name="Shape 41"/>
          <p:cNvSpPr/>
          <p:nvPr/>
        </p:nvSpPr>
        <p:spPr>
          <a:xfrm>
            <a:off x="2018211" y="4023360"/>
            <a:ext cx="91" cy="54864"/>
          </a:xfrm>
          <a:prstGeom prst="line">
            <a:avLst/>
          </a:prstGeom>
          <a:noFill/>
          <a:ln w="12700">
            <a:solidFill>
              <a:srgbClr val="2A1F3D"/>
            </a:solidFill>
            <a:prstDash val="solid"/>
          </a:ln>
        </p:spPr>
      </p:sp>
      <p:sp>
        <p:nvSpPr>
          <p:cNvPr id="44" name="Text 42"/>
          <p:cNvSpPr/>
          <p:nvPr/>
        </p:nvSpPr>
        <p:spPr>
          <a:xfrm>
            <a:off x="1743891"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0.1</a:t>
            </a:r>
            <a:endParaRPr lang="en-US" sz="1000" dirty="0"/>
          </a:p>
        </p:txBody>
      </p:sp>
      <p:sp>
        <p:nvSpPr>
          <p:cNvPr id="45" name="Shape 43"/>
          <p:cNvSpPr/>
          <p:nvPr/>
        </p:nvSpPr>
        <p:spPr>
          <a:xfrm>
            <a:off x="2710543" y="4023360"/>
            <a:ext cx="91" cy="54864"/>
          </a:xfrm>
          <a:prstGeom prst="line">
            <a:avLst/>
          </a:prstGeom>
          <a:noFill/>
          <a:ln w="12700">
            <a:solidFill>
              <a:srgbClr val="2A1F3D"/>
            </a:solidFill>
            <a:prstDash val="solid"/>
          </a:ln>
        </p:spPr>
      </p:sp>
      <p:sp>
        <p:nvSpPr>
          <p:cNvPr id="46" name="Text 44"/>
          <p:cNvSpPr/>
          <p:nvPr/>
        </p:nvSpPr>
        <p:spPr>
          <a:xfrm>
            <a:off x="2436223"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p>
        </p:txBody>
      </p:sp>
      <p:sp>
        <p:nvSpPr>
          <p:cNvPr id="47" name="Shape 45"/>
          <p:cNvSpPr/>
          <p:nvPr/>
        </p:nvSpPr>
        <p:spPr>
          <a:xfrm>
            <a:off x="3402874" y="4023360"/>
            <a:ext cx="91" cy="54864"/>
          </a:xfrm>
          <a:prstGeom prst="line">
            <a:avLst/>
          </a:prstGeom>
          <a:noFill/>
          <a:ln w="12700">
            <a:solidFill>
              <a:srgbClr val="2A1F3D"/>
            </a:solidFill>
            <a:prstDash val="solid"/>
          </a:ln>
        </p:spPr>
      </p:sp>
      <p:sp>
        <p:nvSpPr>
          <p:cNvPr id="48" name="Text 46"/>
          <p:cNvSpPr/>
          <p:nvPr/>
        </p:nvSpPr>
        <p:spPr>
          <a:xfrm>
            <a:off x="3128554"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0.3</a:t>
            </a:r>
            <a:endParaRPr lang="en-US" sz="1000" dirty="0"/>
          </a:p>
        </p:txBody>
      </p:sp>
      <p:sp>
        <p:nvSpPr>
          <p:cNvPr id="49" name="Shape 47"/>
          <p:cNvSpPr/>
          <p:nvPr/>
        </p:nvSpPr>
        <p:spPr>
          <a:xfrm>
            <a:off x="4095206" y="4023360"/>
            <a:ext cx="91" cy="54864"/>
          </a:xfrm>
          <a:prstGeom prst="line">
            <a:avLst/>
          </a:prstGeom>
          <a:noFill/>
          <a:ln w="12700">
            <a:solidFill>
              <a:srgbClr val="2A1F3D"/>
            </a:solidFill>
            <a:prstDash val="solid"/>
          </a:ln>
        </p:spPr>
      </p:sp>
      <p:sp>
        <p:nvSpPr>
          <p:cNvPr id="50" name="Text 48"/>
          <p:cNvSpPr/>
          <p:nvPr/>
        </p:nvSpPr>
        <p:spPr>
          <a:xfrm>
            <a:off x="3820886"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p>
        </p:txBody>
      </p:sp>
      <p:sp>
        <p:nvSpPr>
          <p:cNvPr id="51" name="Shape 49"/>
          <p:cNvSpPr/>
          <p:nvPr/>
        </p:nvSpPr>
        <p:spPr>
          <a:xfrm>
            <a:off x="4787537" y="4023360"/>
            <a:ext cx="91" cy="54864"/>
          </a:xfrm>
          <a:prstGeom prst="line">
            <a:avLst/>
          </a:prstGeom>
          <a:noFill/>
          <a:ln w="12700">
            <a:solidFill>
              <a:srgbClr val="2A1F3D"/>
            </a:solidFill>
            <a:prstDash val="solid"/>
          </a:ln>
        </p:spPr>
      </p:sp>
      <p:sp>
        <p:nvSpPr>
          <p:cNvPr id="52" name="Text 50"/>
          <p:cNvSpPr/>
          <p:nvPr/>
        </p:nvSpPr>
        <p:spPr>
          <a:xfrm>
            <a:off x="4513217"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0.5</a:t>
            </a:r>
            <a:endParaRPr lang="en-US" sz="1000" dirty="0"/>
          </a:p>
        </p:txBody>
      </p:sp>
      <p:sp>
        <p:nvSpPr>
          <p:cNvPr id="53" name="Shape 51"/>
          <p:cNvSpPr/>
          <p:nvPr/>
        </p:nvSpPr>
        <p:spPr>
          <a:xfrm>
            <a:off x="5479869" y="4023360"/>
            <a:ext cx="91" cy="54864"/>
          </a:xfrm>
          <a:prstGeom prst="line">
            <a:avLst/>
          </a:prstGeom>
          <a:noFill/>
          <a:ln w="12700">
            <a:solidFill>
              <a:srgbClr val="2A1F3D"/>
            </a:solidFill>
            <a:prstDash val="solid"/>
          </a:ln>
        </p:spPr>
      </p:sp>
      <p:sp>
        <p:nvSpPr>
          <p:cNvPr id="54" name="Text 52"/>
          <p:cNvSpPr/>
          <p:nvPr/>
        </p:nvSpPr>
        <p:spPr>
          <a:xfrm>
            <a:off x="5205549"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0.6</a:t>
            </a:r>
            <a:endParaRPr lang="en-US" sz="1000" dirty="0"/>
          </a:p>
        </p:txBody>
      </p:sp>
      <p:sp>
        <p:nvSpPr>
          <p:cNvPr id="55" name="Shape 53"/>
          <p:cNvSpPr/>
          <p:nvPr/>
        </p:nvSpPr>
        <p:spPr>
          <a:xfrm>
            <a:off x="6172200" y="4023360"/>
            <a:ext cx="91" cy="54864"/>
          </a:xfrm>
          <a:prstGeom prst="line">
            <a:avLst/>
          </a:prstGeom>
          <a:noFill/>
          <a:ln w="12700">
            <a:solidFill>
              <a:srgbClr val="2A1F3D"/>
            </a:solidFill>
            <a:prstDash val="solid"/>
          </a:ln>
        </p:spPr>
      </p:sp>
      <p:sp>
        <p:nvSpPr>
          <p:cNvPr id="56" name="Text 54"/>
          <p:cNvSpPr/>
          <p:nvPr/>
        </p:nvSpPr>
        <p:spPr>
          <a:xfrm>
            <a:off x="589788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0.7</a:t>
            </a:r>
            <a:endParaRPr lang="en-US" sz="1000" dirty="0"/>
          </a:p>
        </p:txBody>
      </p:sp>
      <p:sp>
        <p:nvSpPr>
          <p:cNvPr id="57" name="Shape 55"/>
          <p:cNvSpPr/>
          <p:nvPr/>
        </p:nvSpPr>
        <p:spPr>
          <a:xfrm>
            <a:off x="1271016" y="4023360"/>
            <a:ext cx="54864" cy="91"/>
          </a:xfrm>
          <a:prstGeom prst="line">
            <a:avLst/>
          </a:prstGeom>
          <a:noFill/>
          <a:ln w="12700">
            <a:solidFill>
              <a:srgbClr val="2A1F3D"/>
            </a:solidFill>
            <a:prstDash val="solid"/>
          </a:ln>
        </p:spPr>
      </p:sp>
      <p:sp>
        <p:nvSpPr>
          <p:cNvPr id="58" name="Text 56"/>
          <p:cNvSpPr/>
          <p:nvPr/>
        </p:nvSpPr>
        <p:spPr>
          <a:xfrm>
            <a:off x="886968" y="39319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59" name="Shape 57"/>
          <p:cNvSpPr/>
          <p:nvPr/>
        </p:nvSpPr>
        <p:spPr>
          <a:xfrm>
            <a:off x="1271016" y="3502152"/>
            <a:ext cx="54864" cy="91"/>
          </a:xfrm>
          <a:prstGeom prst="line">
            <a:avLst/>
          </a:prstGeom>
          <a:noFill/>
          <a:ln w="12700">
            <a:solidFill>
              <a:srgbClr val="2A1F3D"/>
            </a:solidFill>
            <a:prstDash val="solid"/>
          </a:ln>
        </p:spPr>
      </p:sp>
      <p:sp>
        <p:nvSpPr>
          <p:cNvPr id="60" name="Text 58"/>
          <p:cNvSpPr/>
          <p:nvPr/>
        </p:nvSpPr>
        <p:spPr>
          <a:xfrm>
            <a:off x="886968" y="341071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0.1</a:t>
            </a:r>
            <a:endParaRPr lang="en-US" sz="1000" dirty="0"/>
          </a:p>
        </p:txBody>
      </p:sp>
      <p:sp>
        <p:nvSpPr>
          <p:cNvPr id="61" name="Shape 59"/>
          <p:cNvSpPr/>
          <p:nvPr/>
        </p:nvSpPr>
        <p:spPr>
          <a:xfrm>
            <a:off x="1271016" y="2980944"/>
            <a:ext cx="54864" cy="91"/>
          </a:xfrm>
          <a:prstGeom prst="line">
            <a:avLst/>
          </a:prstGeom>
          <a:noFill/>
          <a:ln w="12700">
            <a:solidFill>
              <a:srgbClr val="2A1F3D"/>
            </a:solidFill>
            <a:prstDash val="solid"/>
          </a:ln>
        </p:spPr>
      </p:sp>
      <p:sp>
        <p:nvSpPr>
          <p:cNvPr id="62" name="Text 60"/>
          <p:cNvSpPr/>
          <p:nvPr/>
        </p:nvSpPr>
        <p:spPr>
          <a:xfrm>
            <a:off x="886968" y="288950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p>
        </p:txBody>
      </p:sp>
      <p:sp>
        <p:nvSpPr>
          <p:cNvPr id="63" name="Shape 61"/>
          <p:cNvSpPr/>
          <p:nvPr/>
        </p:nvSpPr>
        <p:spPr>
          <a:xfrm>
            <a:off x="1271016" y="2459736"/>
            <a:ext cx="54864" cy="91"/>
          </a:xfrm>
          <a:prstGeom prst="line">
            <a:avLst/>
          </a:prstGeom>
          <a:noFill/>
          <a:ln w="12700">
            <a:solidFill>
              <a:srgbClr val="2A1F3D"/>
            </a:solidFill>
            <a:prstDash val="solid"/>
          </a:ln>
        </p:spPr>
      </p:sp>
      <p:sp>
        <p:nvSpPr>
          <p:cNvPr id="64" name="Text 62"/>
          <p:cNvSpPr/>
          <p:nvPr/>
        </p:nvSpPr>
        <p:spPr>
          <a:xfrm>
            <a:off x="886968" y="236829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0.3</a:t>
            </a:r>
            <a:endParaRPr lang="en-US" sz="1000" dirty="0"/>
          </a:p>
        </p:txBody>
      </p:sp>
      <p:sp>
        <p:nvSpPr>
          <p:cNvPr id="65" name="Shape 63"/>
          <p:cNvSpPr/>
          <p:nvPr/>
        </p:nvSpPr>
        <p:spPr>
          <a:xfrm>
            <a:off x="1271016" y="1938528"/>
            <a:ext cx="54864" cy="91"/>
          </a:xfrm>
          <a:prstGeom prst="line">
            <a:avLst/>
          </a:prstGeom>
          <a:noFill/>
          <a:ln w="12700">
            <a:solidFill>
              <a:srgbClr val="2A1F3D"/>
            </a:solidFill>
            <a:prstDash val="solid"/>
          </a:ln>
        </p:spPr>
      </p:sp>
      <p:sp>
        <p:nvSpPr>
          <p:cNvPr id="66" name="Text 64"/>
          <p:cNvSpPr/>
          <p:nvPr/>
        </p:nvSpPr>
        <p:spPr>
          <a:xfrm>
            <a:off x="886968" y="184708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p>
        </p:txBody>
      </p:sp>
      <p:sp>
        <p:nvSpPr>
          <p:cNvPr id="67" name="Shape 65"/>
          <p:cNvSpPr/>
          <p:nvPr/>
        </p:nvSpPr>
        <p:spPr>
          <a:xfrm>
            <a:off x="1271016" y="1417320"/>
            <a:ext cx="54864" cy="91"/>
          </a:xfrm>
          <a:prstGeom prst="line">
            <a:avLst/>
          </a:prstGeom>
          <a:noFill/>
          <a:ln w="12700">
            <a:solidFill>
              <a:srgbClr val="2A1F3D"/>
            </a:solidFill>
            <a:prstDash val="solid"/>
          </a:ln>
        </p:spPr>
      </p:sp>
      <p:sp>
        <p:nvSpPr>
          <p:cNvPr id="68" name="Text 66"/>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0.5</a:t>
            </a:r>
            <a:endParaRPr lang="en-US" sz="1000" dirty="0"/>
          </a:p>
        </p:txBody>
      </p:sp>
      <p:sp>
        <p:nvSpPr>
          <p:cNvPr id="69" name="Text 67"/>
          <p:cNvSpPr/>
          <p:nvPr/>
        </p:nvSpPr>
        <p:spPr>
          <a:xfrm>
            <a:off x="1325880" y="4270248"/>
            <a:ext cx="48463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Mass of magnesium / g</a:t>
            </a:r>
            <a:endParaRPr lang="en-US" sz="1050" dirty="0"/>
          </a:p>
        </p:txBody>
      </p:sp>
      <p:sp>
        <p:nvSpPr>
          <p:cNvPr id="70" name="Text 68"/>
          <p:cNvSpPr/>
          <p:nvPr/>
        </p:nvSpPr>
        <p:spPr>
          <a:xfrm rot="16200000">
            <a:off x="-544068" y="2592324"/>
            <a:ext cx="26060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Mass of oxygen / g</a:t>
            </a:r>
            <a:endParaRPr lang="en-US" sz="1050" dirty="0"/>
          </a:p>
        </p:txBody>
      </p:sp>
      <p:sp>
        <p:nvSpPr>
          <p:cNvPr id="71" name="Shape 69"/>
          <p:cNvSpPr/>
          <p:nvPr/>
        </p:nvSpPr>
        <p:spPr>
          <a:xfrm flipV="1">
            <a:off x="1325880" y="1615379"/>
            <a:ext cx="4846320" cy="2407981"/>
          </a:xfrm>
          <a:prstGeom prst="line">
            <a:avLst/>
          </a:prstGeom>
          <a:noFill/>
          <a:ln w="25400">
            <a:solidFill>
              <a:srgbClr val="6A3FA0"/>
            </a:solidFill>
            <a:prstDash val="solid"/>
          </a:ln>
        </p:spPr>
      </p:sp>
      <p:sp>
        <p:nvSpPr>
          <p:cNvPr id="72" name="Shape 70"/>
          <p:cNvSpPr/>
          <p:nvPr/>
        </p:nvSpPr>
        <p:spPr>
          <a:xfrm>
            <a:off x="2110958" y="3560674"/>
            <a:ext cx="91440" cy="91440"/>
          </a:xfrm>
          <a:prstGeom prst="line">
            <a:avLst/>
          </a:prstGeom>
          <a:noFill/>
          <a:ln w="15875">
            <a:solidFill>
              <a:srgbClr val="2A1F3D"/>
            </a:solidFill>
            <a:prstDash val="solid"/>
          </a:ln>
        </p:spPr>
      </p:sp>
      <p:sp>
        <p:nvSpPr>
          <p:cNvPr id="73" name="Shape 71"/>
          <p:cNvSpPr/>
          <p:nvPr/>
        </p:nvSpPr>
        <p:spPr>
          <a:xfrm flipV="1">
            <a:off x="2110958" y="3560674"/>
            <a:ext cx="91440" cy="91440"/>
          </a:xfrm>
          <a:prstGeom prst="line">
            <a:avLst/>
          </a:prstGeom>
          <a:noFill/>
          <a:ln w="15875">
            <a:solidFill>
              <a:srgbClr val="2A1F3D"/>
            </a:solidFill>
            <a:prstDash val="solid"/>
          </a:ln>
        </p:spPr>
      </p:sp>
      <p:sp>
        <p:nvSpPr>
          <p:cNvPr id="74" name="Shape 72"/>
          <p:cNvSpPr/>
          <p:nvPr/>
        </p:nvSpPr>
        <p:spPr>
          <a:xfrm>
            <a:off x="2941755" y="3143707"/>
            <a:ext cx="91440" cy="91440"/>
          </a:xfrm>
          <a:prstGeom prst="line">
            <a:avLst/>
          </a:prstGeom>
          <a:noFill/>
          <a:ln w="15875">
            <a:solidFill>
              <a:srgbClr val="2A1F3D"/>
            </a:solidFill>
            <a:prstDash val="solid"/>
          </a:ln>
        </p:spPr>
      </p:sp>
      <p:sp>
        <p:nvSpPr>
          <p:cNvPr id="75" name="Shape 73"/>
          <p:cNvSpPr/>
          <p:nvPr/>
        </p:nvSpPr>
        <p:spPr>
          <a:xfrm flipV="1">
            <a:off x="2941755" y="3143707"/>
            <a:ext cx="91440" cy="91440"/>
          </a:xfrm>
          <a:prstGeom prst="line">
            <a:avLst/>
          </a:prstGeom>
          <a:noFill/>
          <a:ln w="15875">
            <a:solidFill>
              <a:srgbClr val="2A1F3D"/>
            </a:solidFill>
            <a:prstDash val="solid"/>
          </a:ln>
        </p:spPr>
      </p:sp>
      <p:sp>
        <p:nvSpPr>
          <p:cNvPr id="76" name="Shape 74"/>
          <p:cNvSpPr/>
          <p:nvPr/>
        </p:nvSpPr>
        <p:spPr>
          <a:xfrm>
            <a:off x="3772553" y="2778862"/>
            <a:ext cx="91440" cy="91440"/>
          </a:xfrm>
          <a:prstGeom prst="line">
            <a:avLst/>
          </a:prstGeom>
          <a:noFill/>
          <a:ln w="15875">
            <a:solidFill>
              <a:srgbClr val="2A1F3D"/>
            </a:solidFill>
            <a:prstDash val="solid"/>
          </a:ln>
        </p:spPr>
      </p:sp>
      <p:sp>
        <p:nvSpPr>
          <p:cNvPr id="77" name="Shape 75"/>
          <p:cNvSpPr/>
          <p:nvPr/>
        </p:nvSpPr>
        <p:spPr>
          <a:xfrm flipV="1">
            <a:off x="3772553" y="2778862"/>
            <a:ext cx="91440" cy="91440"/>
          </a:xfrm>
          <a:prstGeom prst="line">
            <a:avLst/>
          </a:prstGeom>
          <a:noFill/>
          <a:ln w="15875">
            <a:solidFill>
              <a:srgbClr val="2A1F3D"/>
            </a:solidFill>
            <a:prstDash val="solid"/>
          </a:ln>
        </p:spPr>
      </p:sp>
      <p:sp>
        <p:nvSpPr>
          <p:cNvPr id="78" name="Shape 76"/>
          <p:cNvSpPr/>
          <p:nvPr/>
        </p:nvSpPr>
        <p:spPr>
          <a:xfrm>
            <a:off x="4603351" y="2570378"/>
            <a:ext cx="91440" cy="91440"/>
          </a:xfrm>
          <a:prstGeom prst="line">
            <a:avLst/>
          </a:prstGeom>
          <a:noFill/>
          <a:ln w="15875">
            <a:solidFill>
              <a:srgbClr val="2A1F3D"/>
            </a:solidFill>
            <a:prstDash val="solid"/>
          </a:ln>
        </p:spPr>
      </p:sp>
      <p:sp>
        <p:nvSpPr>
          <p:cNvPr id="79" name="Shape 77"/>
          <p:cNvSpPr/>
          <p:nvPr/>
        </p:nvSpPr>
        <p:spPr>
          <a:xfrm flipV="1">
            <a:off x="4603351" y="2570378"/>
            <a:ext cx="91440" cy="91440"/>
          </a:xfrm>
          <a:prstGeom prst="line">
            <a:avLst/>
          </a:prstGeom>
          <a:noFill/>
          <a:ln w="15875">
            <a:solidFill>
              <a:srgbClr val="2A1F3D"/>
            </a:solidFill>
            <a:prstDash val="solid"/>
          </a:ln>
        </p:spPr>
      </p:sp>
      <p:sp>
        <p:nvSpPr>
          <p:cNvPr id="80" name="Shape 78"/>
          <p:cNvSpPr/>
          <p:nvPr/>
        </p:nvSpPr>
        <p:spPr>
          <a:xfrm>
            <a:off x="5434149" y="1892808"/>
            <a:ext cx="91440" cy="91440"/>
          </a:xfrm>
          <a:prstGeom prst="line">
            <a:avLst/>
          </a:prstGeom>
          <a:noFill/>
          <a:ln w="15875">
            <a:solidFill>
              <a:srgbClr val="2A1F3D"/>
            </a:solidFill>
            <a:prstDash val="solid"/>
          </a:ln>
        </p:spPr>
      </p:sp>
      <p:sp>
        <p:nvSpPr>
          <p:cNvPr id="81" name="Shape 79"/>
          <p:cNvSpPr/>
          <p:nvPr/>
        </p:nvSpPr>
        <p:spPr>
          <a:xfrm flipV="1">
            <a:off x="5434149" y="1892808"/>
            <a:ext cx="91440" cy="91440"/>
          </a:xfrm>
          <a:prstGeom prst="line">
            <a:avLst/>
          </a:prstGeom>
          <a:noFill/>
          <a:ln w="15875">
            <a:solidFill>
              <a:srgbClr val="2A1F3D"/>
            </a:solidFill>
            <a:prstDash val="solid"/>
          </a:ln>
        </p:spPr>
      </p:sp>
      <p:sp>
        <p:nvSpPr>
          <p:cNvPr id="82" name="Shape 80"/>
          <p:cNvSpPr/>
          <p:nvPr/>
        </p:nvSpPr>
        <p:spPr>
          <a:xfrm>
            <a:off x="4530199" y="2497226"/>
            <a:ext cx="237744" cy="237744"/>
          </a:xfrm>
          <a:prstGeom prst="ellipse">
            <a:avLst/>
          </a:prstGeom>
          <a:ln w="19050">
            <a:solidFill>
              <a:srgbClr val="C8414C"/>
            </a:solidFill>
            <a:prstDash val="solid"/>
          </a:ln>
        </p:spPr>
      </p:sp>
      <p:sp>
        <p:nvSpPr>
          <p:cNvPr id="83" name="Text 81"/>
          <p:cNvSpPr/>
          <p:nvPr/>
        </p:nvSpPr>
        <p:spPr>
          <a:xfrm>
            <a:off x="4740511" y="2634386"/>
            <a:ext cx="914400" cy="201168"/>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anomaly</a:t>
            </a:r>
            <a:endParaRPr lang="en-US" sz="1000" dirty="0"/>
          </a:p>
        </p:txBody>
      </p:sp>
      <p:sp>
        <p:nvSpPr>
          <p:cNvPr id="84" name="Text 82"/>
          <p:cNvSpPr/>
          <p:nvPr/>
        </p:nvSpPr>
        <p:spPr>
          <a:xfrm>
            <a:off x="3635393" y="1834286"/>
            <a:ext cx="1737360" cy="365760"/>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line of best fit</a:t>
            </a:r>
            <a:endParaRPr lang="en-US" sz="1000" dirty="0"/>
          </a:p>
          <a:p>
            <a:pPr algn="l" indent="0" marL="0">
              <a:buNone/>
            </a:pPr>
            <a:r>
              <a:rPr lang="en-US" sz="1000" b="1" dirty="0">
                <a:solidFill>
                  <a:srgbClr val="6A3FA0"/>
                </a:solidFill>
                <a:latin typeface="Calibri" pitchFamily="34" charset="0"/>
                <a:ea typeface="Calibri" pitchFamily="34" charset="-122"/>
                <a:cs typeface="Calibri" pitchFamily="34" charset="-120"/>
              </a:rPr>
              <a:t>through the origin</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4553712"/>
          <a:ext cx="5577840" cy="914400"/>
        </p:xfrm>
        <a:graphic>
          <a:graphicData uri="http://schemas.openxmlformats.org/drawingml/2006/table">
            <a:tbl>
              <a:tblPr/>
              <a:tblGrid>
                <a:gridCol w="1463040"/>
                <a:gridCol w="822960"/>
                <a:gridCol w="822960"/>
                <a:gridCol w="822960"/>
                <a:gridCol w="822960"/>
                <a:gridCol w="822960"/>
              </a:tblGrid>
              <a:tr h="192024">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Mass of Mg /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0.12</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0.24</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0.36</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0.48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0.60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192024">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Mass of MgO /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0.20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0.40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0.59</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0.75</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192024">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Mass of O /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0.08</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0.16</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0.23</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C8414C"/>
                          </a:solidFill>
                          <a:latin typeface="Calibri" pitchFamily="34" charset="0"/>
                          <a:ea typeface="Calibri" pitchFamily="34" charset="-122"/>
                          <a:cs typeface="Calibri" pitchFamily="34" charset="-120"/>
                        </a:rPr>
                        <a:t>0.27</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0.40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bl>
          </a:graphicData>
        </a:graphic>
      </p:graphicFrame>
      <p:sp>
        <p:nvSpPr>
          <p:cNvPr id="86" name="Shape 83"/>
          <p:cNvSpPr/>
          <p:nvPr/>
        </p:nvSpPr>
        <p:spPr>
          <a:xfrm>
            <a:off x="6675120" y="1188720"/>
            <a:ext cx="5102352" cy="1691640"/>
          </a:xfrm>
          <a:prstGeom prst="roundRect">
            <a:avLst>
              <a:gd name="adj" fmla="val 3243"/>
            </a:avLst>
          </a:prstGeom>
          <a:solidFill>
            <a:srgbClr val="FFF4E0"/>
          </a:solidFill>
          <a:ln w="9525">
            <a:solidFill>
              <a:srgbClr val="F1D9A8"/>
            </a:solidFill>
            <a:prstDash val="solid"/>
          </a:ln>
        </p:spPr>
      </p:sp>
      <p:sp>
        <p:nvSpPr>
          <p:cNvPr id="87" name="Text 84"/>
          <p:cNvSpPr/>
          <p:nvPr/>
        </p:nvSpPr>
        <p:spPr>
          <a:xfrm>
            <a:off x="6839712" y="126187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(HT): the formula</a:t>
            </a:r>
            <a:endParaRPr lang="en-US" sz="1300" dirty="0"/>
          </a:p>
        </p:txBody>
      </p:sp>
      <p:sp>
        <p:nvSpPr>
          <p:cNvPr id="88" name="Text 85"/>
          <p:cNvSpPr/>
          <p:nvPr/>
        </p:nvSpPr>
        <p:spPr>
          <a:xfrm>
            <a:off x="6839712" y="1572768"/>
            <a:ext cx="4773168"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From the line: 0.60 g of Mg combines with 0.40 g of O.</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Mg   </a:t>
            </a:r>
            <a:r>
              <a:rPr lang="en-US" sz="1050" dirty="0">
                <a:solidFill>
                  <a:srgbClr val="262B3A"/>
                </a:solidFill>
                <a:latin typeface="Calibri" pitchFamily="34" charset="0"/>
                <a:ea typeface="Calibri" pitchFamily="34" charset="-122"/>
                <a:cs typeface="Calibri" pitchFamily="34" charset="-120"/>
              </a:rPr>
              <a:t>0.60 ÷ 24.3 = 0.0247 mol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O atoms   </a:t>
            </a:r>
            <a:r>
              <a:rPr lang="en-US" sz="1050" dirty="0">
                <a:solidFill>
                  <a:srgbClr val="262B3A"/>
                </a:solidFill>
                <a:latin typeface="Calibri" pitchFamily="34" charset="0"/>
                <a:ea typeface="Calibri" pitchFamily="34" charset="-122"/>
                <a:cs typeface="Calibri" pitchFamily="34" charset="-120"/>
              </a:rPr>
              <a:t>0.40 ÷ 16.0 = 0.025 mol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ratio ≈ </a:t>
            </a:r>
            <a:r>
              <a:rPr lang="en-US" sz="1050" b="1" dirty="0">
                <a:solidFill>
                  <a:srgbClr val="C8414C"/>
                </a:solidFill>
                <a:latin typeface="Calibri" pitchFamily="34" charset="0"/>
                <a:ea typeface="Calibri" pitchFamily="34" charset="-122"/>
                <a:cs typeface="Calibri" pitchFamily="34" charset="-120"/>
              </a:rPr>
              <a:t>1 : 1</a:t>
            </a:r>
            <a:r>
              <a:rPr lang="en-US" sz="1050" b="1" dirty="0">
                <a:solidFill>
                  <a:srgbClr val="C8414C"/>
                </a:solidFill>
                <a:latin typeface="Calibri" pitchFamily="34" charset="0"/>
                <a:ea typeface="Calibri" pitchFamily="34" charset="-122"/>
                <a:cs typeface="Calibri" pitchFamily="34" charset="-120"/>
              </a:rPr>
              <a:t>, so the formula is </a:t>
            </a:r>
            <a:r>
              <a:rPr lang="en-US" sz="1050" b="1" dirty="0">
                <a:solidFill>
                  <a:srgbClr val="C8414C"/>
                </a:solidFill>
                <a:latin typeface="Calibri" pitchFamily="34" charset="0"/>
                <a:ea typeface="Calibri" pitchFamily="34" charset="-122"/>
                <a:cs typeface="Calibri" pitchFamily="34" charset="-120"/>
              </a:rPr>
              <a:t>MgO</a:t>
            </a:r>
            <a:endParaRPr lang="en-US" sz="1050" dirty="0"/>
          </a:p>
        </p:txBody>
      </p:sp>
      <p:sp>
        <p:nvSpPr>
          <p:cNvPr id="89" name="Shape 86"/>
          <p:cNvSpPr/>
          <p:nvPr/>
        </p:nvSpPr>
        <p:spPr>
          <a:xfrm>
            <a:off x="6675120" y="3017520"/>
            <a:ext cx="5102352" cy="2697480"/>
          </a:xfrm>
          <a:prstGeom prst="roundRect">
            <a:avLst>
              <a:gd name="adj" fmla="val 2034"/>
            </a:avLst>
          </a:prstGeom>
          <a:solidFill>
            <a:srgbClr val="F8F5FC"/>
          </a:solidFill>
          <a:ln w="9525">
            <a:solidFill>
              <a:srgbClr val="DDD3EC"/>
            </a:solidFill>
            <a:prstDash val="solid"/>
          </a:ln>
        </p:spPr>
      </p:sp>
      <p:sp>
        <p:nvSpPr>
          <p:cNvPr id="90" name="Text 87"/>
          <p:cNvSpPr/>
          <p:nvPr/>
        </p:nvSpPr>
        <p:spPr>
          <a:xfrm>
            <a:off x="6839712" y="3108960"/>
            <a:ext cx="47731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Conclusion and errors</a:t>
            </a:r>
            <a:endParaRPr lang="en-US" sz="1300" dirty="0"/>
          </a:p>
        </p:txBody>
      </p:sp>
      <p:sp>
        <p:nvSpPr>
          <p:cNvPr id="91" name="Text 88"/>
          <p:cNvSpPr/>
          <p:nvPr/>
        </p:nvSpPr>
        <p:spPr>
          <a:xfrm>
            <a:off x="6839712" y="3438144"/>
            <a:ext cx="4773168" cy="22037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mass of oxygen is </a:t>
            </a:r>
            <a:r>
              <a:rPr lang="en-US" sz="1100" b="1" dirty="0">
                <a:solidFill>
                  <a:srgbClr val="262B3A"/>
                </a:solidFill>
                <a:latin typeface="Calibri" pitchFamily="34" charset="0"/>
                <a:ea typeface="Calibri" pitchFamily="34" charset="-122"/>
                <a:cs typeface="Calibri" pitchFamily="34" charset="-120"/>
              </a:rPr>
              <a:t>directly proportional</a:t>
            </a:r>
            <a:r>
              <a:rPr lang="en-US" sz="1100" dirty="0">
                <a:solidFill>
                  <a:srgbClr val="262B3A"/>
                </a:solidFill>
                <a:latin typeface="Calibri" pitchFamily="34" charset="0"/>
                <a:ea typeface="Calibri" pitchFamily="34" charset="-122"/>
                <a:cs typeface="Calibri" pitchFamily="34" charset="-120"/>
              </a:rPr>
              <a:t> to the mass of Mg: a straight line through the origin.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Mass of Mg + mass of O = mass of MgO: </a:t>
            </a:r>
            <a:r>
              <a:rPr lang="en-US" sz="1100" b="1" dirty="0">
                <a:solidFill>
                  <a:srgbClr val="262B3A"/>
                </a:solidFill>
                <a:latin typeface="Calibri" pitchFamily="34" charset="0"/>
                <a:ea typeface="Calibri" pitchFamily="34" charset="-122"/>
                <a:cs typeface="Calibri" pitchFamily="34" charset="-120"/>
              </a:rPr>
              <a:t>mass is conserved</a:t>
            </a:r>
            <a:r>
              <a:rPr lang="en-US" sz="1100" dirty="0">
                <a:solidFill>
                  <a:srgbClr val="262B3A"/>
                </a:solidFill>
                <a:latin typeface="Calibri" pitchFamily="34" charset="0"/>
                <a:ea typeface="Calibri" pitchFamily="34" charset="-122"/>
                <a:cs typeface="Calibri" pitchFamily="34" charset="-120"/>
              </a:rPr>
              <a:t> once the oxygen is counted.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Errors</a:t>
            </a:r>
            <a:r>
              <a:rPr lang="en-US" sz="1100" dirty="0">
                <a:solidFill>
                  <a:srgbClr val="262B3A"/>
                </a:solidFill>
                <a:latin typeface="Calibri" pitchFamily="34" charset="0"/>
                <a:ea typeface="Calibri" pitchFamily="34" charset="-122"/>
                <a:cs typeface="Calibri" pitchFamily="34" charset="-120"/>
              </a:rPr>
              <a:t>: MgO smoke escapes (gain too low, as at </a:t>
            </a:r>
            <a:r>
              <a:rPr lang="en-US" sz="1100" b="1" dirty="0">
                <a:solidFill>
                  <a:srgbClr val="262B3A"/>
                </a:solidFill>
                <a:latin typeface="Calibri" pitchFamily="34" charset="0"/>
                <a:ea typeface="Calibri" pitchFamily="34" charset="-122"/>
                <a:cs typeface="Calibri" pitchFamily="34" charset="-120"/>
              </a:rPr>
              <a:t>0.48 g</a:t>
            </a:r>
            <a:r>
              <a:rPr lang="en-US" sz="1100" dirty="0">
                <a:solidFill>
                  <a:srgbClr val="262B3A"/>
                </a:solidFill>
                <a:latin typeface="Calibri" pitchFamily="34" charset="0"/>
                <a:ea typeface="Calibri" pitchFamily="34" charset="-122"/>
                <a:cs typeface="Calibri" pitchFamily="34" charset="-120"/>
              </a:rPr>
              <a:t>); Mg not all reacted; crucible weighed while hot.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Improve</a:t>
            </a:r>
            <a:r>
              <a:rPr lang="en-US" sz="1100" dirty="0">
                <a:solidFill>
                  <a:srgbClr val="262B3A"/>
                </a:solidFill>
                <a:latin typeface="Calibri" pitchFamily="34" charset="0"/>
                <a:ea typeface="Calibri" pitchFamily="34" charset="-122"/>
                <a:cs typeface="Calibri" pitchFamily="34" charset="-120"/>
              </a:rPr>
              <a:t>: heat to </a:t>
            </a:r>
            <a:r>
              <a:rPr lang="en-US" sz="1100" b="1" dirty="0">
                <a:solidFill>
                  <a:srgbClr val="262B3A"/>
                </a:solidFill>
                <a:latin typeface="Calibri" pitchFamily="34" charset="0"/>
                <a:ea typeface="Calibri" pitchFamily="34" charset="-122"/>
                <a:cs typeface="Calibri" pitchFamily="34" charset="-120"/>
              </a:rPr>
              <a:t>constant mass</a:t>
            </a:r>
            <a:r>
              <a:rPr lang="en-US" sz="1100" dirty="0">
                <a:solidFill>
                  <a:srgbClr val="262B3A"/>
                </a:solidFill>
                <a:latin typeface="Calibri" pitchFamily="34" charset="0"/>
                <a:ea typeface="Calibri" pitchFamily="34" charset="-122"/>
                <a:cs typeface="Calibri" pitchFamily="34" charset="-120"/>
              </a:rPr>
              <a:t>; repeat and find a </a:t>
            </a:r>
            <a:r>
              <a:rPr lang="en-US" sz="1100" b="1" dirty="0">
                <a:solidFill>
                  <a:srgbClr val="262B3A"/>
                </a:solidFill>
                <a:latin typeface="Calibri" pitchFamily="34" charset="0"/>
                <a:ea typeface="Calibri" pitchFamily="34" charset="-122"/>
                <a:cs typeface="Calibri" pitchFamily="34" charset="-120"/>
              </a:rPr>
              <a:t>mean</a:t>
            </a:r>
            <a:r>
              <a:rPr lang="en-US" sz="1100" dirty="0">
                <a:solidFill>
                  <a:srgbClr val="262B3A"/>
                </a:solidFill>
                <a:latin typeface="Calibri" pitchFamily="34" charset="0"/>
                <a:ea typeface="Calibri" pitchFamily="34" charset="-122"/>
                <a:cs typeface="Calibri" pitchFamily="34" charset="-120"/>
              </a:rPr>
              <a:t>; ignore the anomaly when drawing the line.</a:t>
            </a:r>
            <a:endParaRPr lang="en-US" sz="1100" dirty="0"/>
          </a:p>
        </p:txBody>
      </p:sp>
      <p:sp>
        <p:nvSpPr>
          <p:cNvPr id="92" name="Shape 89"/>
          <p:cNvSpPr/>
          <p:nvPr/>
        </p:nvSpPr>
        <p:spPr>
          <a:xfrm>
            <a:off x="411480" y="5833872"/>
            <a:ext cx="11368735" cy="530352"/>
          </a:xfrm>
          <a:prstGeom prst="rect">
            <a:avLst/>
          </a:prstGeom>
          <a:solidFill>
            <a:srgbClr val="FFF4E0"/>
          </a:solidFill>
          <a:ln w="6350">
            <a:solidFill>
              <a:srgbClr val="F1D9A8"/>
            </a:solidFill>
            <a:prstDash val="solid"/>
          </a:ln>
        </p:spPr>
      </p:sp>
      <p:sp>
        <p:nvSpPr>
          <p:cNvPr id="93" name="Shape 90"/>
          <p:cNvSpPr/>
          <p:nvPr/>
        </p:nvSpPr>
        <p:spPr>
          <a:xfrm>
            <a:off x="411480" y="5833872"/>
            <a:ext cx="82296" cy="530352"/>
          </a:xfrm>
          <a:prstGeom prst="rect">
            <a:avLst/>
          </a:prstGeom>
          <a:solidFill>
            <a:srgbClr val="E39A2F"/>
          </a:solidFill>
          <a:ln w="12700">
            <a:solidFill>
              <a:srgbClr val="E39A2F"/>
            </a:solidFill>
            <a:prstDash val="solid"/>
          </a:ln>
        </p:spPr>
      </p:sp>
      <p:sp>
        <p:nvSpPr>
          <p:cNvPr id="94" name="Text 9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what mass of oxygen reacts with </a:t>
            </a:r>
            <a:r>
              <a:rPr lang="en-US" sz="1150" b="1" dirty="0">
                <a:solidFill>
                  <a:srgbClr val="262B3A"/>
                </a:solidFill>
                <a:latin typeface="Calibri" pitchFamily="34" charset="0"/>
                <a:ea typeface="Calibri" pitchFamily="34" charset="-122"/>
                <a:cs typeface="Calibri" pitchFamily="34" charset="-120"/>
              </a:rPr>
              <a:t>0.30 g</a:t>
            </a:r>
            <a:r>
              <a:rPr lang="en-US" sz="1150" dirty="0">
                <a:solidFill>
                  <a:srgbClr val="262B3A"/>
                </a:solidFill>
                <a:latin typeface="Calibri" pitchFamily="34" charset="0"/>
                <a:ea typeface="Calibri" pitchFamily="34" charset="-122"/>
                <a:cs typeface="Calibri" pitchFamily="34" charset="-120"/>
              </a:rPr>
              <a:t> of magnesium? What mass of MgO should </a:t>
            </a:r>
            <a:r>
              <a:rPr lang="en-US" sz="1150" b="1" dirty="0">
                <a:solidFill>
                  <a:srgbClr val="262B3A"/>
                </a:solidFill>
                <a:latin typeface="Calibri" pitchFamily="34" charset="0"/>
                <a:ea typeface="Calibri" pitchFamily="34" charset="-122"/>
                <a:cs typeface="Calibri" pitchFamily="34" charset="-120"/>
              </a:rPr>
              <a:t>0.48 g</a:t>
            </a:r>
            <a:r>
              <a:rPr lang="en-US" sz="1150" dirty="0">
                <a:solidFill>
                  <a:srgbClr val="262B3A"/>
                </a:solidFill>
                <a:latin typeface="Calibri" pitchFamily="34" charset="0"/>
                <a:ea typeface="Calibri" pitchFamily="34" charset="-122"/>
                <a:cs typeface="Calibri" pitchFamily="34" charset="-120"/>
              </a:rPr>
              <a:t> of Mg have made? (MgO = 40.3)</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C5.2.8 and the practical • limiting reactants • burning magnesium</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20</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Shape 9"/>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2" name="Text 10"/>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3" name="Text 11"/>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meant by a </a:t>
            </a:r>
            <a:r>
              <a:rPr lang="en-US" sz="1250" b="1" dirty="0">
                <a:solidFill>
                  <a:srgbClr val="262B3A"/>
                </a:solidFill>
                <a:latin typeface="Calibri" pitchFamily="34" charset="0"/>
                <a:ea typeface="Calibri" pitchFamily="34" charset="-122"/>
                <a:cs typeface="Calibri" pitchFamily="34" charset="-120"/>
              </a:rPr>
              <a:t>limiting reactant</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4" name="Text 12"/>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6" name="Shape 14"/>
          <p:cNvSpPr/>
          <p:nvPr/>
        </p:nvSpPr>
        <p:spPr>
          <a:xfrm>
            <a:off x="411480" y="2512314"/>
            <a:ext cx="2103120" cy="292608"/>
          </a:xfrm>
          <a:prstGeom prst="rect">
            <a:avLst/>
          </a:prstGeom>
          <a:solidFill>
            <a:srgbClr val="F5A742"/>
          </a:solidFill>
          <a:ln w="12700">
            <a:solidFill>
              <a:srgbClr val="F5A742"/>
            </a:solidFill>
            <a:prstDash val="solid"/>
          </a:ln>
        </p:spPr>
      </p:sp>
      <p:sp>
        <p:nvSpPr>
          <p:cNvPr id="17" name="Text 15"/>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8" name="Shape 16"/>
          <p:cNvSpPr/>
          <p:nvPr/>
        </p:nvSpPr>
        <p:spPr>
          <a:xfrm>
            <a:off x="2606040" y="2521458"/>
            <a:ext cx="411480" cy="274320"/>
          </a:xfrm>
          <a:prstGeom prst="roundRect">
            <a:avLst>
              <a:gd name="adj" fmla="val 50000"/>
            </a:avLst>
          </a:prstGeom>
          <a:solidFill>
            <a:srgbClr val="C8414C"/>
          </a:solidFill>
          <a:ln w="12700">
            <a:solidFill>
              <a:srgbClr val="C8414C"/>
            </a:solidFill>
            <a:prstDash val="solid"/>
          </a:ln>
        </p:spPr>
      </p:sp>
      <p:sp>
        <p:nvSpPr>
          <p:cNvPr id="19" name="Text 17"/>
          <p:cNvSpPr/>
          <p:nvPr/>
        </p:nvSpPr>
        <p:spPr>
          <a:xfrm>
            <a:off x="2606040" y="252145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0" name="Text 18"/>
          <p:cNvSpPr/>
          <p:nvPr/>
        </p:nvSpPr>
        <p:spPr>
          <a:xfrm>
            <a:off x="640080" y="2878074"/>
            <a:ext cx="9539935" cy="720090"/>
          </a:xfrm>
          <a:prstGeom prst="rect">
            <a:avLst/>
          </a:prstGeom>
          <a:noFill/>
          <a:ln/>
        </p:spPr>
        <p:txBody>
          <a:bodyPr wrap="square" lIns="0" tIns="0" rIns="0" bIns="0" rtlCol="0" anchor="t"/>
          <a:lstStyle/>
          <a:p>
            <a:pPr indent="0" marL="0">
              <a:buNone/>
            </a:pPr>
            <a:r>
              <a:rPr lang="en-US" sz="1250" b="1" dirty="0">
                <a:solidFill>
                  <a:srgbClr val="262B3A"/>
                </a:solidFill>
                <a:latin typeface="Calibri" pitchFamily="34" charset="0"/>
                <a:ea typeface="Calibri" pitchFamily="34" charset="-122"/>
                <a:cs typeface="Calibri" pitchFamily="34" charset="-120"/>
              </a:rPr>
              <a:t>0.30 mol</a:t>
            </a:r>
            <a:r>
              <a:rPr lang="en-US" sz="1250" dirty="0">
                <a:solidFill>
                  <a:srgbClr val="262B3A"/>
                </a:solidFill>
                <a:latin typeface="Calibri" pitchFamily="34" charset="0"/>
                <a:ea typeface="Calibri" pitchFamily="34" charset="-122"/>
                <a:cs typeface="Calibri" pitchFamily="34" charset="-120"/>
              </a:rPr>
              <a:t> of Mg is heated with </a:t>
            </a:r>
            <a:r>
              <a:rPr lang="en-US" sz="1250" b="1" dirty="0">
                <a:solidFill>
                  <a:srgbClr val="262B3A"/>
                </a:solidFill>
                <a:latin typeface="Calibri" pitchFamily="34" charset="0"/>
                <a:ea typeface="Calibri" pitchFamily="34" charset="-122"/>
                <a:cs typeface="Calibri" pitchFamily="34" charset="-120"/>
              </a:rPr>
              <a:t>0.10 mol</a:t>
            </a:r>
            <a:r>
              <a:rPr lang="en-US" sz="1250" dirty="0">
                <a:solidFill>
                  <a:srgbClr val="262B3A"/>
                </a:solidFill>
                <a:latin typeface="Calibri" pitchFamily="34" charset="0"/>
                <a:ea typeface="Calibri" pitchFamily="34" charset="-122"/>
                <a:cs typeface="Calibri" pitchFamily="34" charset="-120"/>
              </a:rPr>
              <a:t> of O₂: 2Mg + O₂ → 2MgO. Which is limiting? How many moles of MgO form?</a:t>
            </a:r>
            <a:endParaRPr lang="en-US" sz="1250" dirty="0"/>
          </a:p>
        </p:txBody>
      </p:sp>
      <p:sp>
        <p:nvSpPr>
          <p:cNvPr id="21" name="Text 19"/>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2" name="Shape 20"/>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23" name="Shape 21"/>
          <p:cNvSpPr/>
          <p:nvPr/>
        </p:nvSpPr>
        <p:spPr>
          <a:xfrm>
            <a:off x="411480" y="3817620"/>
            <a:ext cx="2103120" cy="292608"/>
          </a:xfrm>
          <a:prstGeom prst="rect">
            <a:avLst/>
          </a:prstGeom>
          <a:solidFill>
            <a:srgbClr val="F5A742"/>
          </a:solidFill>
          <a:ln w="12700">
            <a:solidFill>
              <a:srgbClr val="F5A742"/>
            </a:solidFill>
            <a:prstDash val="solid"/>
          </a:ln>
        </p:spPr>
      </p:sp>
      <p:sp>
        <p:nvSpPr>
          <p:cNvPr id="24" name="Text 22"/>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5" name="Text 23"/>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lid of the crucible is </a:t>
            </a:r>
            <a:r>
              <a:rPr lang="en-US" sz="1250" b="1" dirty="0">
                <a:solidFill>
                  <a:srgbClr val="262B3A"/>
                </a:solidFill>
                <a:latin typeface="Calibri" pitchFamily="34" charset="0"/>
                <a:ea typeface="Calibri" pitchFamily="34" charset="-122"/>
                <a:cs typeface="Calibri" pitchFamily="34" charset="-120"/>
              </a:rPr>
              <a:t>lifted slightly</a:t>
            </a:r>
            <a:r>
              <a:rPr lang="en-US" sz="1250" dirty="0">
                <a:solidFill>
                  <a:srgbClr val="262B3A"/>
                </a:solidFill>
                <a:latin typeface="Calibri" pitchFamily="34" charset="0"/>
                <a:ea typeface="Calibri" pitchFamily="34" charset="-122"/>
                <a:cs typeface="Calibri" pitchFamily="34" charset="-120"/>
              </a:rPr>
              <a:t> during the magnesium practical.</a:t>
            </a:r>
            <a:endParaRPr lang="en-US" sz="1250" dirty="0"/>
          </a:p>
        </p:txBody>
      </p:sp>
      <p:sp>
        <p:nvSpPr>
          <p:cNvPr id="26" name="Text 24"/>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8" name="Shape 26"/>
          <p:cNvSpPr/>
          <p:nvPr/>
        </p:nvSpPr>
        <p:spPr>
          <a:xfrm>
            <a:off x="411480" y="5122926"/>
            <a:ext cx="2103120" cy="292608"/>
          </a:xfrm>
          <a:prstGeom prst="rect">
            <a:avLst/>
          </a:prstGeom>
          <a:solidFill>
            <a:srgbClr val="F5A742"/>
          </a:solidFill>
          <a:ln w="12700">
            <a:solidFill>
              <a:srgbClr val="F5A742"/>
            </a:solidFill>
            <a:prstDash val="solid"/>
          </a:ln>
        </p:spPr>
      </p:sp>
      <p:sp>
        <p:nvSpPr>
          <p:cNvPr id="29" name="Text 27"/>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30" name="Text 28"/>
          <p:cNvSpPr/>
          <p:nvPr/>
        </p:nvSpPr>
        <p:spPr>
          <a:xfrm>
            <a:off x="640080" y="5488686"/>
            <a:ext cx="9539935" cy="720090"/>
          </a:xfrm>
          <a:prstGeom prst="rect">
            <a:avLst/>
          </a:prstGeom>
          <a:noFill/>
          <a:ln/>
        </p:spPr>
        <p:txBody>
          <a:bodyPr wrap="square" lIns="0" tIns="0" rIns="0" bIns="0" rtlCol="0" anchor="t"/>
          <a:lstStyle/>
          <a:p>
            <a:pPr indent="0" marL="0">
              <a:buNone/>
            </a:pPr>
            <a:r>
              <a:rPr lang="en-US" sz="1250" b="1" dirty="0">
                <a:solidFill>
                  <a:srgbClr val="262B3A"/>
                </a:solidFill>
                <a:latin typeface="Calibri" pitchFamily="34" charset="0"/>
                <a:ea typeface="Calibri" pitchFamily="34" charset="-122"/>
                <a:cs typeface="Calibri" pitchFamily="34" charset="-120"/>
              </a:rPr>
              <a:t>0.36 g</a:t>
            </a:r>
            <a:r>
              <a:rPr lang="en-US" sz="1250" dirty="0">
                <a:solidFill>
                  <a:srgbClr val="262B3A"/>
                </a:solidFill>
                <a:latin typeface="Calibri" pitchFamily="34" charset="0"/>
                <a:ea typeface="Calibri" pitchFamily="34" charset="-122"/>
                <a:cs typeface="Calibri" pitchFamily="34" charset="-120"/>
              </a:rPr>
              <a:t> of Mg made </a:t>
            </a:r>
            <a:r>
              <a:rPr lang="en-US" sz="1250" b="1" dirty="0">
                <a:solidFill>
                  <a:srgbClr val="262B3A"/>
                </a:solidFill>
                <a:latin typeface="Calibri" pitchFamily="34" charset="0"/>
                <a:ea typeface="Calibri" pitchFamily="34" charset="-122"/>
                <a:cs typeface="Calibri" pitchFamily="34" charset="-120"/>
              </a:rPr>
              <a:t>0.59 g</a:t>
            </a:r>
            <a:r>
              <a:rPr lang="en-US" sz="1250" dirty="0">
                <a:solidFill>
                  <a:srgbClr val="262B3A"/>
                </a:solidFill>
                <a:latin typeface="Calibri" pitchFamily="34" charset="0"/>
                <a:ea typeface="Calibri" pitchFamily="34" charset="-122"/>
                <a:cs typeface="Calibri" pitchFamily="34" charset="-120"/>
              </a:rPr>
              <a:t> of MgO. Calculate the mass of oxygen that reacted, and suggest why it is </a:t>
            </a:r>
            <a:r>
              <a:rPr lang="en-US" sz="1250" b="1" dirty="0">
                <a:solidFill>
                  <a:srgbClr val="262B3A"/>
                </a:solidFill>
                <a:latin typeface="Calibri" pitchFamily="34" charset="0"/>
                <a:ea typeface="Calibri" pitchFamily="34" charset="-122"/>
                <a:cs typeface="Calibri" pitchFamily="34" charset="-120"/>
              </a:rPr>
              <a:t>less</a:t>
            </a:r>
            <a:r>
              <a:rPr lang="en-US" sz="1250" dirty="0">
                <a:solidFill>
                  <a:srgbClr val="262B3A"/>
                </a:solidFill>
                <a:latin typeface="Calibri" pitchFamily="34" charset="0"/>
                <a:ea typeface="Calibri" pitchFamily="34" charset="-122"/>
                <a:cs typeface="Calibri" pitchFamily="34" charset="-120"/>
              </a:rPr>
              <a:t> than the expected 0.24 g.</a:t>
            </a:r>
            <a:endParaRPr lang="en-US" sz="1250" dirty="0"/>
          </a:p>
        </p:txBody>
      </p:sp>
      <p:sp>
        <p:nvSpPr>
          <p:cNvPr id="31" name="Text 29"/>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equations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C5.2 • learn these relationships • the HT rows are Higher tier only</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Equations  |  21</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11480" y="1234440"/>
          <a:ext cx="11368735" cy="914400"/>
        </p:xfrm>
        <a:graphic>
          <a:graphicData uri="http://schemas.openxmlformats.org/drawingml/2006/table">
            <a:tbl>
              <a:tblPr/>
              <a:tblGrid>
                <a:gridCol w="2377440"/>
                <a:gridCol w="6172200"/>
                <a:gridCol w="1463040"/>
                <a:gridCol w="1356055"/>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Equation</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 words (units)</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Recall or given?</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Spec</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566928">
                <a:tc>
                  <a:txBody>
                    <a:bodyPr/>
                    <a:lstStyle/>
                    <a:p>
                      <a:pPr indent="0" marL="0">
                        <a:buNone/>
                      </a:pPr>
                      <a:r>
                        <a:rPr lang="en-US" sz="1400" b="1" dirty="0">
                          <a:solidFill>
                            <a:srgbClr val="2A1F3D"/>
                          </a:solidFill>
                          <a:latin typeface="Georgia" pitchFamily="34" charset="0"/>
                          <a:ea typeface="Georgia" pitchFamily="34" charset="-122"/>
                          <a:cs typeface="Georgia" pitchFamily="34" charset="-120"/>
                        </a:rPr>
                        <a:t>mass reactants = mass products</a:t>
                      </a:r>
                      <a:endParaRPr lang="en-US" sz="1400" dirty="0">
                        <a:latin typeface="Georgia" charset="0"/>
                        <a:ea typeface="Georgia" charset="0"/>
                        <a:cs typeface="Georgia"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law of conservation of mass: total mass before = total mass after (closed system)</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00" b="1" dirty="0">
                          <a:solidFill>
                            <a:srgbClr val="6A3FA0"/>
                          </a:solidFill>
                          <a:latin typeface="Calibri" pitchFamily="34" charset="0"/>
                          <a:ea typeface="Calibri" pitchFamily="34" charset="-122"/>
                          <a:cs typeface="Calibri" pitchFamily="34" charset="-120"/>
                        </a:rPr>
                        <a:t>C5.2.1</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566928">
                <a:tc>
                  <a:txBody>
                    <a:bodyPr/>
                    <a:lstStyle/>
                    <a:p>
                      <a:pPr indent="0" marL="0">
                        <a:buNone/>
                      </a:pPr>
                      <a:r>
                        <a:rPr lang="en-US" sz="1400" b="1" dirty="0">
                          <a:solidFill>
                            <a:srgbClr val="2A1F3D"/>
                          </a:solidFill>
                          <a:latin typeface="Georgia" pitchFamily="34" charset="0"/>
                          <a:ea typeface="Georgia" pitchFamily="34" charset="-122"/>
                          <a:cs typeface="Georgia" pitchFamily="34" charset="-120"/>
                        </a:rPr>
                        <a:t>Mr = Σ Ar</a:t>
                      </a:r>
                      <a:endParaRPr lang="en-US" sz="1400" dirty="0">
                        <a:latin typeface="Georgia" charset="0"/>
                        <a:ea typeface="Georgia" charset="0"/>
                        <a:cs typeface="Georgia"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relative formula mass = sum of the relative atomic masses of all the atoms in the formula (no units)</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00" b="1" dirty="0">
                          <a:solidFill>
                            <a:srgbClr val="6A3FA0"/>
                          </a:solidFill>
                          <a:latin typeface="Calibri" pitchFamily="34" charset="0"/>
                          <a:ea typeface="Calibri" pitchFamily="34" charset="-122"/>
                          <a:cs typeface="Calibri" pitchFamily="34" charset="-120"/>
                        </a:rPr>
                        <a:t>C5.2.3</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2A1F3D"/>
                          </a:solidFill>
                          <a:latin typeface="Georgia" pitchFamily="34" charset="0"/>
                          <a:ea typeface="Georgia" pitchFamily="34" charset="-122"/>
                          <a:cs typeface="Georgia" pitchFamily="34" charset="-120"/>
                        </a:rPr>
                        <a:t>n = m ÷ Mr</a:t>
                      </a:r>
                      <a:endParaRPr lang="en-US" sz="1400" dirty="0">
                        <a:latin typeface="Georgia" charset="0"/>
                        <a:ea typeface="Georgia" charset="0"/>
                        <a:cs typeface="Georgia"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HT: amount (mol) = mass (g) ÷ relative formula mass</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200" b="1" dirty="0">
                          <a:solidFill>
                            <a:srgbClr val="6A3FA0"/>
                          </a:solidFill>
                          <a:latin typeface="Calibri" pitchFamily="34" charset="0"/>
                          <a:ea typeface="Calibri" pitchFamily="34" charset="-122"/>
                          <a:cs typeface="Calibri" pitchFamily="34" charset="-120"/>
                        </a:rPr>
                        <a:t>C5.2.5 HT</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566928">
                <a:tc>
                  <a:txBody>
                    <a:bodyPr/>
                    <a:lstStyle/>
                    <a:p>
                      <a:pPr indent="0" marL="0">
                        <a:buNone/>
                      </a:pPr>
                      <a:r>
                        <a:rPr lang="en-US" sz="1400" b="1" dirty="0">
                          <a:solidFill>
                            <a:srgbClr val="2A1F3D"/>
                          </a:solidFill>
                          <a:latin typeface="Georgia" pitchFamily="34" charset="0"/>
                          <a:ea typeface="Georgia" pitchFamily="34" charset="-122"/>
                          <a:cs typeface="Georgia" pitchFamily="34" charset="-120"/>
                        </a:rPr>
                        <a:t>N = n × 6.02 × 10²³</a:t>
                      </a:r>
                      <a:endParaRPr lang="en-US" sz="1400" dirty="0">
                        <a:latin typeface="Georgia" charset="0"/>
                        <a:ea typeface="Georgia" charset="0"/>
                        <a:cs typeface="Georgia"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00" dirty="0">
                          <a:solidFill>
                            <a:srgbClr val="262B3A"/>
                          </a:solidFill>
                          <a:latin typeface="Calibri" pitchFamily="34" charset="0"/>
                          <a:ea typeface="Calibri" pitchFamily="34" charset="-122"/>
                          <a:cs typeface="Calibri" pitchFamily="34" charset="-120"/>
                        </a:rPr>
                        <a:t>HT: number of particles = amount (mol) × Avogadro constant</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00" b="1" dirty="0">
                          <a:solidFill>
                            <a:srgbClr val="C8414C"/>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200" b="1" dirty="0">
                          <a:solidFill>
                            <a:srgbClr val="6A3FA0"/>
                          </a:solidFill>
                          <a:latin typeface="Calibri" pitchFamily="34" charset="0"/>
                          <a:ea typeface="Calibri" pitchFamily="34" charset="-122"/>
                          <a:cs typeface="Calibri" pitchFamily="34" charset="-120"/>
                        </a:rPr>
                        <a:t>C5.2.4 HT</a:t>
                      </a:r>
                      <a:endParaRPr lang="en-US" sz="120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bl>
          </a:graphicData>
        </a:graphic>
      </p:graphicFrame>
      <p:sp>
        <p:nvSpPr>
          <p:cNvPr id="9" name="Shape 6"/>
          <p:cNvSpPr/>
          <p:nvPr/>
        </p:nvSpPr>
        <p:spPr>
          <a:xfrm>
            <a:off x="411480" y="5833872"/>
            <a:ext cx="11368735" cy="530352"/>
          </a:xfrm>
          <a:prstGeom prst="rect">
            <a:avLst/>
          </a:prstGeom>
          <a:solidFill>
            <a:srgbClr val="FFF4E0"/>
          </a:solidFill>
          <a:ln w="6350">
            <a:solidFill>
              <a:srgbClr val="F1D9A8"/>
            </a:solidFill>
            <a:prstDash val="solid"/>
          </a:ln>
        </p:spPr>
      </p:sp>
      <p:sp>
        <p:nvSpPr>
          <p:cNvPr id="10" name="Shape 7"/>
          <p:cNvSpPr/>
          <p:nvPr/>
        </p:nvSpPr>
        <p:spPr>
          <a:xfrm>
            <a:off x="411480" y="5833872"/>
            <a:ext cx="82296" cy="530352"/>
          </a:xfrm>
          <a:prstGeom prst="rect">
            <a:avLst/>
          </a:prstGeom>
          <a:solidFill>
            <a:srgbClr val="E39A2F"/>
          </a:solidFill>
          <a:ln w="12700">
            <a:solidFill>
              <a:srgbClr val="E39A2F"/>
            </a:solidFill>
            <a:prstDash val="solid"/>
          </a:ln>
        </p:spPr>
      </p:sp>
      <p:sp>
        <p:nvSpPr>
          <p:cNvPr id="11" name="Text 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Rearrange </a:t>
            </a:r>
            <a:r>
              <a:rPr lang="en-US" sz="1150" b="1" dirty="0">
                <a:solidFill>
                  <a:srgbClr val="262B3A"/>
                </a:solidFill>
                <a:latin typeface="Calibri" pitchFamily="34" charset="0"/>
                <a:ea typeface="Calibri" pitchFamily="34" charset="-122"/>
                <a:cs typeface="Calibri" pitchFamily="34" charset="-120"/>
              </a:rPr>
              <a:t>n = m ÷ Mr</a:t>
            </a:r>
            <a:r>
              <a:rPr lang="en-US" sz="1150" dirty="0">
                <a:solidFill>
                  <a:srgbClr val="262B3A"/>
                </a:solidFill>
                <a:latin typeface="Calibri" pitchFamily="34" charset="0"/>
                <a:ea typeface="Calibri" pitchFamily="34" charset="-122"/>
                <a:cs typeface="Calibri" pitchFamily="34" charset="-120"/>
              </a:rPr>
              <a:t> to make </a:t>
            </a:r>
            <a:r>
              <a:rPr lang="en-US" sz="1150" b="1" dirty="0">
                <a:solidFill>
                  <a:srgbClr val="262B3A"/>
                </a:solidFill>
                <a:latin typeface="Calibri" pitchFamily="34" charset="0"/>
                <a:ea typeface="Calibri" pitchFamily="34" charset="-122"/>
                <a:cs typeface="Calibri" pitchFamily="34" charset="-120"/>
              </a:rPr>
              <a:t>m</a:t>
            </a:r>
            <a:r>
              <a:rPr lang="en-US" sz="1150" dirty="0">
                <a:solidFill>
                  <a:srgbClr val="262B3A"/>
                </a:solidFill>
                <a:latin typeface="Calibri" pitchFamily="34" charset="0"/>
                <a:ea typeface="Calibri" pitchFamily="34" charset="-122"/>
                <a:cs typeface="Calibri" pitchFamily="34" charset="-120"/>
              </a:rPr>
              <a:t> the subject. How many particles are in </a:t>
            </a:r>
            <a:r>
              <a:rPr lang="en-US" sz="1150" b="1" dirty="0">
                <a:solidFill>
                  <a:srgbClr val="262B3A"/>
                </a:solidFill>
                <a:latin typeface="Calibri" pitchFamily="34" charset="0"/>
                <a:ea typeface="Calibri" pitchFamily="34" charset="-122"/>
                <a:cs typeface="Calibri" pitchFamily="34" charset="-120"/>
              </a:rPr>
              <a:t>0.10 mol</a:t>
            </a:r>
            <a:r>
              <a:rPr lang="en-US" sz="1150" dirty="0">
                <a:solidFill>
                  <a:srgbClr val="262B3A"/>
                </a:solidFill>
                <a:latin typeface="Calibri" pitchFamily="34" charset="0"/>
                <a:ea typeface="Calibri" pitchFamily="34" charset="-122"/>
                <a:cs typeface="Calibri" pitchFamily="34" charset="-120"/>
              </a:rPr>
              <a:t> of any substance?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C5.2 How are the amounts of substances in reactions calculated? • learn these definitions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22</a:t>
            </a:r>
            <a:endParaRPr lang="en-US" sz="1000" dirty="0"/>
          </a:p>
        </p:txBody>
      </p:sp>
      <p:sp>
        <p:nvSpPr>
          <p:cNvPr id="8" name="Shape 6"/>
          <p:cNvSpPr/>
          <p:nvPr/>
        </p:nvSpPr>
        <p:spPr>
          <a:xfrm>
            <a:off x="411480" y="1188720"/>
            <a:ext cx="2739314" cy="1143000"/>
          </a:xfrm>
          <a:prstGeom prst="rect">
            <a:avLst/>
          </a:prstGeom>
          <a:solidFill>
            <a:srgbClr val="F8F5FC"/>
          </a:solidFill>
          <a:ln w="9525">
            <a:solidFill>
              <a:srgbClr val="DDD3EC"/>
            </a:solidFill>
            <a:prstDash val="solid"/>
          </a:ln>
        </p:spPr>
      </p:sp>
      <p:sp>
        <p:nvSpPr>
          <p:cNvPr id="9" name="Shape 7"/>
          <p:cNvSpPr/>
          <p:nvPr/>
        </p:nvSpPr>
        <p:spPr>
          <a:xfrm>
            <a:off x="411480" y="1188720"/>
            <a:ext cx="73152" cy="1143000"/>
          </a:xfrm>
          <a:prstGeom prst="rect">
            <a:avLst/>
          </a:prstGeom>
          <a:solidFill>
            <a:srgbClr val="6A3FA0"/>
          </a:solidFill>
          <a:ln w="12700">
            <a:solidFill>
              <a:srgbClr val="6A3FA0"/>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Conservation of mass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Atoms are not made or destroyed in a reaction, so total mass stays the same.</a:t>
            </a:r>
            <a:endParaRPr lang="en-US" sz="1200" dirty="0"/>
          </a:p>
        </p:txBody>
      </p:sp>
      <p:sp>
        <p:nvSpPr>
          <p:cNvPr id="11" name="Shape 9"/>
          <p:cNvSpPr/>
          <p:nvPr/>
        </p:nvSpPr>
        <p:spPr>
          <a:xfrm>
            <a:off x="3287954" y="1188720"/>
            <a:ext cx="2739314" cy="1143000"/>
          </a:xfrm>
          <a:prstGeom prst="rect">
            <a:avLst/>
          </a:prstGeom>
          <a:solidFill>
            <a:srgbClr val="F8F5FC"/>
          </a:solidFill>
          <a:ln w="9525">
            <a:solidFill>
              <a:srgbClr val="DDD3EC"/>
            </a:solidFill>
            <a:prstDash val="solid"/>
          </a:ln>
        </p:spPr>
      </p:sp>
      <p:sp>
        <p:nvSpPr>
          <p:cNvPr id="12" name="Shape 10"/>
          <p:cNvSpPr/>
          <p:nvPr/>
        </p:nvSpPr>
        <p:spPr>
          <a:xfrm>
            <a:off x="3287954" y="1188720"/>
            <a:ext cx="73152" cy="1143000"/>
          </a:xfrm>
          <a:prstGeom prst="rect">
            <a:avLst/>
          </a:prstGeom>
          <a:solidFill>
            <a:srgbClr val="6A3FA0"/>
          </a:solidFill>
          <a:ln w="12700">
            <a:solidFill>
              <a:srgbClr val="6A3FA0"/>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Closed system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Nothing can enter or leave, e.g. a sealed flask: the mass does not change.</a:t>
            </a:r>
            <a:endParaRPr lang="en-US" sz="1200" dirty="0"/>
          </a:p>
        </p:txBody>
      </p:sp>
      <p:sp>
        <p:nvSpPr>
          <p:cNvPr id="14" name="Shape 12"/>
          <p:cNvSpPr/>
          <p:nvPr/>
        </p:nvSpPr>
        <p:spPr>
          <a:xfrm>
            <a:off x="6164428" y="1188720"/>
            <a:ext cx="2739314" cy="1143000"/>
          </a:xfrm>
          <a:prstGeom prst="rect">
            <a:avLst/>
          </a:prstGeom>
          <a:solidFill>
            <a:srgbClr val="F8F5FC"/>
          </a:solidFill>
          <a:ln w="9525">
            <a:solidFill>
              <a:srgbClr val="DDD3EC"/>
            </a:solidFill>
            <a:prstDash val="solid"/>
          </a:ln>
        </p:spPr>
      </p:sp>
      <p:sp>
        <p:nvSpPr>
          <p:cNvPr id="15" name="Shape 13"/>
          <p:cNvSpPr/>
          <p:nvPr/>
        </p:nvSpPr>
        <p:spPr>
          <a:xfrm>
            <a:off x="6164428" y="1188720"/>
            <a:ext cx="73152" cy="1143000"/>
          </a:xfrm>
          <a:prstGeom prst="rect">
            <a:avLst/>
          </a:prstGeom>
          <a:solidFill>
            <a:srgbClr val="6A3FA0"/>
          </a:solidFill>
          <a:ln w="12700">
            <a:solidFill>
              <a:srgbClr val="6A3FA0"/>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Non-enclosed system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Open to the air: gases can enter or escape, so the measured mass changes.</a:t>
            </a:r>
            <a:endParaRPr lang="en-US" sz="1200" dirty="0"/>
          </a:p>
        </p:txBody>
      </p:sp>
      <p:sp>
        <p:nvSpPr>
          <p:cNvPr id="17" name="Shape 15"/>
          <p:cNvSpPr/>
          <p:nvPr/>
        </p:nvSpPr>
        <p:spPr>
          <a:xfrm>
            <a:off x="9040901" y="1188720"/>
            <a:ext cx="2739314" cy="1143000"/>
          </a:xfrm>
          <a:prstGeom prst="rect">
            <a:avLst/>
          </a:prstGeom>
          <a:solidFill>
            <a:srgbClr val="F8F5FC"/>
          </a:solidFill>
          <a:ln w="9525">
            <a:solidFill>
              <a:srgbClr val="DDD3EC"/>
            </a:solidFill>
            <a:prstDash val="solid"/>
          </a:ln>
        </p:spPr>
      </p:sp>
      <p:sp>
        <p:nvSpPr>
          <p:cNvPr id="18" name="Shape 16"/>
          <p:cNvSpPr/>
          <p:nvPr/>
        </p:nvSpPr>
        <p:spPr>
          <a:xfrm>
            <a:off x="9040901" y="1188720"/>
            <a:ext cx="73152" cy="1143000"/>
          </a:xfrm>
          <a:prstGeom prst="rect">
            <a:avLst/>
          </a:prstGeom>
          <a:solidFill>
            <a:srgbClr val="6A3FA0"/>
          </a:solidFill>
          <a:ln w="12700">
            <a:solidFill>
              <a:srgbClr val="6A3FA0"/>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Balanced equation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Same number of each type of atom on both sides of the equation.</a:t>
            </a:r>
            <a:endParaRPr lang="en-US" sz="1200" dirty="0"/>
          </a:p>
        </p:txBody>
      </p:sp>
      <p:sp>
        <p:nvSpPr>
          <p:cNvPr id="20" name="Shape 18"/>
          <p:cNvSpPr/>
          <p:nvPr/>
        </p:nvSpPr>
        <p:spPr>
          <a:xfrm>
            <a:off x="411480" y="2441448"/>
            <a:ext cx="2739314" cy="1143000"/>
          </a:xfrm>
          <a:prstGeom prst="rect">
            <a:avLst/>
          </a:prstGeom>
          <a:solidFill>
            <a:srgbClr val="F8F5FC"/>
          </a:solidFill>
          <a:ln w="9525">
            <a:solidFill>
              <a:srgbClr val="DDD3EC"/>
            </a:solidFill>
            <a:prstDash val="solid"/>
          </a:ln>
        </p:spPr>
      </p:sp>
      <p:sp>
        <p:nvSpPr>
          <p:cNvPr id="21" name="Shape 19"/>
          <p:cNvSpPr/>
          <p:nvPr/>
        </p:nvSpPr>
        <p:spPr>
          <a:xfrm>
            <a:off x="411480" y="2441448"/>
            <a:ext cx="73152" cy="1143000"/>
          </a:xfrm>
          <a:prstGeom prst="rect">
            <a:avLst/>
          </a:prstGeom>
          <a:solidFill>
            <a:srgbClr val="6A3FA0"/>
          </a:solidFill>
          <a:ln w="12700">
            <a:solidFill>
              <a:srgbClr val="6A3FA0"/>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Relative atomic mass, Ar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Mean mass of an atom of an element compared with ¹/₁₂ of a carbon-12 atom.</a:t>
            </a:r>
            <a:endParaRPr lang="en-US" sz="1200" dirty="0"/>
          </a:p>
        </p:txBody>
      </p:sp>
      <p:sp>
        <p:nvSpPr>
          <p:cNvPr id="23" name="Shape 21"/>
          <p:cNvSpPr/>
          <p:nvPr/>
        </p:nvSpPr>
        <p:spPr>
          <a:xfrm>
            <a:off x="3287954" y="2441448"/>
            <a:ext cx="2739314" cy="1143000"/>
          </a:xfrm>
          <a:prstGeom prst="rect">
            <a:avLst/>
          </a:prstGeom>
          <a:solidFill>
            <a:srgbClr val="F8F5FC"/>
          </a:solidFill>
          <a:ln w="9525">
            <a:solidFill>
              <a:srgbClr val="DDD3EC"/>
            </a:solidFill>
            <a:prstDash val="solid"/>
          </a:ln>
        </p:spPr>
      </p:sp>
      <p:sp>
        <p:nvSpPr>
          <p:cNvPr id="24" name="Shape 22"/>
          <p:cNvSpPr/>
          <p:nvPr/>
        </p:nvSpPr>
        <p:spPr>
          <a:xfrm>
            <a:off x="3287954" y="2441448"/>
            <a:ext cx="73152" cy="1143000"/>
          </a:xfrm>
          <a:prstGeom prst="rect">
            <a:avLst/>
          </a:prstGeom>
          <a:solidFill>
            <a:srgbClr val="6A3FA0"/>
          </a:solidFill>
          <a:ln w="12700">
            <a:solidFill>
              <a:srgbClr val="6A3FA0"/>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Relative formula mass, Mr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Sum of the Ar values of all the atoms in a formula; no units.</a:t>
            </a:r>
            <a:endParaRPr lang="en-US" sz="1200" dirty="0"/>
          </a:p>
        </p:txBody>
      </p:sp>
      <p:sp>
        <p:nvSpPr>
          <p:cNvPr id="26" name="Shape 24"/>
          <p:cNvSpPr/>
          <p:nvPr/>
        </p:nvSpPr>
        <p:spPr>
          <a:xfrm>
            <a:off x="6164428" y="2441448"/>
            <a:ext cx="2739314" cy="1143000"/>
          </a:xfrm>
          <a:prstGeom prst="rect">
            <a:avLst/>
          </a:prstGeom>
          <a:solidFill>
            <a:srgbClr val="F8F5FC"/>
          </a:solidFill>
          <a:ln w="9525">
            <a:solidFill>
              <a:srgbClr val="DDD3EC"/>
            </a:solidFill>
            <a:prstDash val="solid"/>
          </a:ln>
        </p:spPr>
      </p:sp>
      <p:sp>
        <p:nvSpPr>
          <p:cNvPr id="27" name="Shape 25"/>
          <p:cNvSpPr/>
          <p:nvPr/>
        </p:nvSpPr>
        <p:spPr>
          <a:xfrm>
            <a:off x="6164428" y="2441448"/>
            <a:ext cx="73152" cy="1143000"/>
          </a:xfrm>
          <a:prstGeom prst="rect">
            <a:avLst/>
          </a:prstGeom>
          <a:solidFill>
            <a:srgbClr val="6A3FA0"/>
          </a:solidFill>
          <a:ln w="12700">
            <a:solidFill>
              <a:srgbClr val="6A3FA0"/>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Mole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amount of substance that contains 6.02 × 10²³ particles.</a:t>
            </a:r>
            <a:endParaRPr lang="en-US" sz="1200" dirty="0"/>
          </a:p>
        </p:txBody>
      </p:sp>
      <p:sp>
        <p:nvSpPr>
          <p:cNvPr id="29" name="Shape 27"/>
          <p:cNvSpPr/>
          <p:nvPr/>
        </p:nvSpPr>
        <p:spPr>
          <a:xfrm>
            <a:off x="9040901" y="2441448"/>
            <a:ext cx="2739314" cy="1143000"/>
          </a:xfrm>
          <a:prstGeom prst="rect">
            <a:avLst/>
          </a:prstGeom>
          <a:solidFill>
            <a:srgbClr val="F8F5FC"/>
          </a:solidFill>
          <a:ln w="9525">
            <a:solidFill>
              <a:srgbClr val="DDD3EC"/>
            </a:solidFill>
            <a:prstDash val="solid"/>
          </a:ln>
        </p:spPr>
      </p:sp>
      <p:sp>
        <p:nvSpPr>
          <p:cNvPr id="30" name="Shape 28"/>
          <p:cNvSpPr/>
          <p:nvPr/>
        </p:nvSpPr>
        <p:spPr>
          <a:xfrm>
            <a:off x="9040901" y="2441448"/>
            <a:ext cx="73152" cy="1143000"/>
          </a:xfrm>
          <a:prstGeom prst="rect">
            <a:avLst/>
          </a:prstGeom>
          <a:solidFill>
            <a:srgbClr val="6A3FA0"/>
          </a:solidFill>
          <a:ln w="12700">
            <a:solidFill>
              <a:srgbClr val="6A3FA0"/>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Avogadro constant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6.02 × 10²³: the number of particles in one mole.</a:t>
            </a:r>
            <a:endParaRPr lang="en-US" sz="1200" dirty="0"/>
          </a:p>
        </p:txBody>
      </p:sp>
      <p:sp>
        <p:nvSpPr>
          <p:cNvPr id="32" name="Shape 30"/>
          <p:cNvSpPr/>
          <p:nvPr/>
        </p:nvSpPr>
        <p:spPr>
          <a:xfrm>
            <a:off x="411480" y="3694176"/>
            <a:ext cx="2739314" cy="1143000"/>
          </a:xfrm>
          <a:prstGeom prst="rect">
            <a:avLst/>
          </a:prstGeom>
          <a:solidFill>
            <a:srgbClr val="F8F5FC"/>
          </a:solidFill>
          <a:ln w="9525">
            <a:solidFill>
              <a:srgbClr val="DDD3EC"/>
            </a:solidFill>
            <a:prstDash val="solid"/>
          </a:ln>
        </p:spPr>
      </p:sp>
      <p:sp>
        <p:nvSpPr>
          <p:cNvPr id="33" name="Shape 31"/>
          <p:cNvSpPr/>
          <p:nvPr/>
        </p:nvSpPr>
        <p:spPr>
          <a:xfrm>
            <a:off x="411480" y="3694176"/>
            <a:ext cx="73152" cy="1143000"/>
          </a:xfrm>
          <a:prstGeom prst="rect">
            <a:avLst/>
          </a:prstGeom>
          <a:solidFill>
            <a:srgbClr val="6A3FA0"/>
          </a:solidFill>
          <a:ln w="12700">
            <a:solidFill>
              <a:srgbClr val="6A3FA0"/>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Molar mass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Mass of 1 mol: the Ar or Mr in grams (g/mol).</a:t>
            </a:r>
            <a:endParaRPr lang="en-US" sz="1200" dirty="0"/>
          </a:p>
        </p:txBody>
      </p:sp>
      <p:sp>
        <p:nvSpPr>
          <p:cNvPr id="35" name="Shape 33"/>
          <p:cNvSpPr/>
          <p:nvPr/>
        </p:nvSpPr>
        <p:spPr>
          <a:xfrm>
            <a:off x="3287954" y="3694176"/>
            <a:ext cx="2739314" cy="1143000"/>
          </a:xfrm>
          <a:prstGeom prst="rect">
            <a:avLst/>
          </a:prstGeom>
          <a:solidFill>
            <a:srgbClr val="F8F5FC"/>
          </a:solidFill>
          <a:ln w="9525">
            <a:solidFill>
              <a:srgbClr val="DDD3EC"/>
            </a:solidFill>
            <a:prstDash val="solid"/>
          </a:ln>
        </p:spPr>
      </p:sp>
      <p:sp>
        <p:nvSpPr>
          <p:cNvPr id="36" name="Shape 34"/>
          <p:cNvSpPr/>
          <p:nvPr/>
        </p:nvSpPr>
        <p:spPr>
          <a:xfrm>
            <a:off x="3287954" y="3694176"/>
            <a:ext cx="73152" cy="1143000"/>
          </a:xfrm>
          <a:prstGeom prst="rect">
            <a:avLst/>
          </a:prstGeom>
          <a:solidFill>
            <a:srgbClr val="6A3FA0"/>
          </a:solidFill>
          <a:ln w="12700">
            <a:solidFill>
              <a:srgbClr val="6A3FA0"/>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Amount of substance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Measured in moles: n = m ÷ Mr.</a:t>
            </a:r>
            <a:endParaRPr lang="en-US" sz="1200" dirty="0"/>
          </a:p>
        </p:txBody>
      </p:sp>
      <p:sp>
        <p:nvSpPr>
          <p:cNvPr id="38" name="Shape 36"/>
          <p:cNvSpPr/>
          <p:nvPr/>
        </p:nvSpPr>
        <p:spPr>
          <a:xfrm>
            <a:off x="6164428" y="3694176"/>
            <a:ext cx="2739314" cy="1143000"/>
          </a:xfrm>
          <a:prstGeom prst="rect">
            <a:avLst/>
          </a:prstGeom>
          <a:solidFill>
            <a:srgbClr val="F8F5FC"/>
          </a:solidFill>
          <a:ln w="9525">
            <a:solidFill>
              <a:srgbClr val="DDD3EC"/>
            </a:solidFill>
            <a:prstDash val="solid"/>
          </a:ln>
        </p:spPr>
      </p:sp>
      <p:sp>
        <p:nvSpPr>
          <p:cNvPr id="39" name="Shape 37"/>
          <p:cNvSpPr/>
          <p:nvPr/>
        </p:nvSpPr>
        <p:spPr>
          <a:xfrm>
            <a:off x="6164428" y="3694176"/>
            <a:ext cx="73152" cy="1143000"/>
          </a:xfrm>
          <a:prstGeom prst="rect">
            <a:avLst/>
          </a:prstGeom>
          <a:solidFill>
            <a:srgbClr val="6A3FA0"/>
          </a:solidFill>
          <a:ln w="12700">
            <a:solidFill>
              <a:srgbClr val="6A3FA0"/>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Stoichiometry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mole ratio of reactants and products in a balanced equation.</a:t>
            </a:r>
            <a:endParaRPr lang="en-US" sz="1200" dirty="0"/>
          </a:p>
        </p:txBody>
      </p:sp>
      <p:sp>
        <p:nvSpPr>
          <p:cNvPr id="41" name="Shape 39"/>
          <p:cNvSpPr/>
          <p:nvPr/>
        </p:nvSpPr>
        <p:spPr>
          <a:xfrm>
            <a:off x="9040901" y="3694176"/>
            <a:ext cx="2739314" cy="1143000"/>
          </a:xfrm>
          <a:prstGeom prst="rect">
            <a:avLst/>
          </a:prstGeom>
          <a:solidFill>
            <a:srgbClr val="F8F5FC"/>
          </a:solidFill>
          <a:ln w="9525">
            <a:solidFill>
              <a:srgbClr val="DDD3EC"/>
            </a:solidFill>
            <a:prstDash val="solid"/>
          </a:ln>
        </p:spPr>
      </p:sp>
      <p:sp>
        <p:nvSpPr>
          <p:cNvPr id="42" name="Shape 40"/>
          <p:cNvSpPr/>
          <p:nvPr/>
        </p:nvSpPr>
        <p:spPr>
          <a:xfrm>
            <a:off x="9040901" y="3694176"/>
            <a:ext cx="73152" cy="1143000"/>
          </a:xfrm>
          <a:prstGeom prst="rect">
            <a:avLst/>
          </a:prstGeom>
          <a:solidFill>
            <a:srgbClr val="6A3FA0"/>
          </a:solidFill>
          <a:ln w="12700">
            <a:solidFill>
              <a:srgbClr val="6A3FA0"/>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Reacting masses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masses of substances that react together, in a fixed ratio.</a:t>
            </a:r>
            <a:endParaRPr lang="en-US" sz="1200" dirty="0"/>
          </a:p>
        </p:txBody>
      </p:sp>
      <p:sp>
        <p:nvSpPr>
          <p:cNvPr id="44" name="Shape 42"/>
          <p:cNvSpPr/>
          <p:nvPr/>
        </p:nvSpPr>
        <p:spPr>
          <a:xfrm>
            <a:off x="411480" y="4946904"/>
            <a:ext cx="2739314" cy="1143000"/>
          </a:xfrm>
          <a:prstGeom prst="rect">
            <a:avLst/>
          </a:prstGeom>
          <a:solidFill>
            <a:srgbClr val="F8F5FC"/>
          </a:solidFill>
          <a:ln w="9525">
            <a:solidFill>
              <a:srgbClr val="DDD3EC"/>
            </a:solidFill>
            <a:prstDash val="solid"/>
          </a:ln>
        </p:spPr>
      </p:sp>
      <p:sp>
        <p:nvSpPr>
          <p:cNvPr id="45" name="Shape 43"/>
          <p:cNvSpPr/>
          <p:nvPr/>
        </p:nvSpPr>
        <p:spPr>
          <a:xfrm>
            <a:off x="411480" y="4946904"/>
            <a:ext cx="73152" cy="1143000"/>
          </a:xfrm>
          <a:prstGeom prst="rect">
            <a:avLst/>
          </a:prstGeom>
          <a:solidFill>
            <a:srgbClr val="6A3FA0"/>
          </a:solidFill>
          <a:ln w="12700">
            <a:solidFill>
              <a:srgbClr val="6A3FA0"/>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Limiting reactant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reactant that is used up first and limits the amount of product.</a:t>
            </a:r>
            <a:endParaRPr lang="en-US" sz="1200" dirty="0"/>
          </a:p>
        </p:txBody>
      </p:sp>
      <p:sp>
        <p:nvSpPr>
          <p:cNvPr id="47" name="Shape 45"/>
          <p:cNvSpPr/>
          <p:nvPr/>
        </p:nvSpPr>
        <p:spPr>
          <a:xfrm>
            <a:off x="3287954" y="4946904"/>
            <a:ext cx="2739314" cy="1143000"/>
          </a:xfrm>
          <a:prstGeom prst="rect">
            <a:avLst/>
          </a:prstGeom>
          <a:solidFill>
            <a:srgbClr val="F8F5FC"/>
          </a:solidFill>
          <a:ln w="9525">
            <a:solidFill>
              <a:srgbClr val="DDD3EC"/>
            </a:solidFill>
            <a:prstDash val="solid"/>
          </a:ln>
        </p:spPr>
      </p:sp>
      <p:sp>
        <p:nvSpPr>
          <p:cNvPr id="48" name="Shape 46"/>
          <p:cNvSpPr/>
          <p:nvPr/>
        </p:nvSpPr>
        <p:spPr>
          <a:xfrm>
            <a:off x="3287954" y="4946904"/>
            <a:ext cx="73152" cy="1143000"/>
          </a:xfrm>
          <a:prstGeom prst="rect">
            <a:avLst/>
          </a:prstGeom>
          <a:solidFill>
            <a:srgbClr val="6A3FA0"/>
          </a:solidFill>
          <a:ln w="12700">
            <a:solidFill>
              <a:srgbClr val="6A3FA0"/>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In excess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More than is needed: some is left over when the reaction stops.</a:t>
            </a:r>
            <a:endParaRPr lang="en-US" sz="1200" dirty="0"/>
          </a:p>
        </p:txBody>
      </p:sp>
      <p:sp>
        <p:nvSpPr>
          <p:cNvPr id="50" name="Shape 48"/>
          <p:cNvSpPr/>
          <p:nvPr/>
        </p:nvSpPr>
        <p:spPr>
          <a:xfrm>
            <a:off x="6164428" y="4946904"/>
            <a:ext cx="2739314" cy="1143000"/>
          </a:xfrm>
          <a:prstGeom prst="rect">
            <a:avLst/>
          </a:prstGeom>
          <a:solidFill>
            <a:srgbClr val="F8F5FC"/>
          </a:solidFill>
          <a:ln w="9525">
            <a:solidFill>
              <a:srgbClr val="DDD3EC"/>
            </a:solidFill>
            <a:prstDash val="solid"/>
          </a:ln>
        </p:spPr>
      </p:sp>
      <p:sp>
        <p:nvSpPr>
          <p:cNvPr id="51" name="Shape 49"/>
          <p:cNvSpPr/>
          <p:nvPr/>
        </p:nvSpPr>
        <p:spPr>
          <a:xfrm>
            <a:off x="6164428" y="4946904"/>
            <a:ext cx="73152" cy="1143000"/>
          </a:xfrm>
          <a:prstGeom prst="rect">
            <a:avLst/>
          </a:prstGeom>
          <a:solidFill>
            <a:srgbClr val="6A3FA0"/>
          </a:solidFill>
          <a:ln w="12700">
            <a:solidFill>
              <a:srgbClr val="6A3FA0"/>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Constant mass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Heating, cooling and weighing until the mass stops changing.</a:t>
            </a:r>
            <a:endParaRPr lang="en-US" sz="1200" dirty="0"/>
          </a:p>
        </p:txBody>
      </p:sp>
      <p:sp>
        <p:nvSpPr>
          <p:cNvPr id="53" name="Shape 51"/>
          <p:cNvSpPr/>
          <p:nvPr/>
        </p:nvSpPr>
        <p:spPr>
          <a:xfrm>
            <a:off x="9040901" y="4946904"/>
            <a:ext cx="2739314" cy="1143000"/>
          </a:xfrm>
          <a:prstGeom prst="rect">
            <a:avLst/>
          </a:prstGeom>
          <a:solidFill>
            <a:srgbClr val="F8F5FC"/>
          </a:solidFill>
          <a:ln w="9525">
            <a:solidFill>
              <a:srgbClr val="DDD3EC"/>
            </a:solidFill>
            <a:prstDash val="solid"/>
          </a:ln>
        </p:spPr>
      </p:sp>
      <p:sp>
        <p:nvSpPr>
          <p:cNvPr id="54" name="Shape 52"/>
          <p:cNvSpPr/>
          <p:nvPr/>
        </p:nvSpPr>
        <p:spPr>
          <a:xfrm>
            <a:off x="9040901" y="4946904"/>
            <a:ext cx="73152" cy="1143000"/>
          </a:xfrm>
          <a:prstGeom prst="rect">
            <a:avLst/>
          </a:prstGeom>
          <a:solidFill>
            <a:srgbClr val="6A3FA0"/>
          </a:solidFill>
          <a:ln w="12700">
            <a:solidFill>
              <a:srgbClr val="6A3FA0"/>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Standard form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number written as A × 10ⁿ, e.g. 6.02 × 10²³.</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C5.2.1–C5.2.8 • answer every part • 13 marks • (e) is HT</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23</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student heats </a:t>
            </a:r>
            <a:r>
              <a:rPr lang="en-US" sz="1200" b="1" i="1" dirty="0">
                <a:solidFill>
                  <a:srgbClr val="262B3A"/>
                </a:solidFill>
                <a:latin typeface="Calibri" pitchFamily="34" charset="0"/>
                <a:ea typeface="Calibri" pitchFamily="34" charset="-122"/>
                <a:cs typeface="Calibri" pitchFamily="34" charset="-120"/>
              </a:rPr>
              <a:t>12.35 g</a:t>
            </a:r>
            <a:r>
              <a:rPr lang="en-US" sz="1200" i="1" dirty="0">
                <a:solidFill>
                  <a:srgbClr val="262B3A"/>
                </a:solidFill>
                <a:latin typeface="Calibri" pitchFamily="34" charset="0"/>
                <a:ea typeface="Calibri" pitchFamily="34" charset="-122"/>
                <a:cs typeface="Calibri" pitchFamily="34" charset="-120"/>
              </a:rPr>
              <a:t> of green copper carbonate, CuCO₃, in an </a:t>
            </a:r>
            <a:r>
              <a:rPr lang="en-US" sz="1200" b="1" i="1" dirty="0">
                <a:solidFill>
                  <a:srgbClr val="262B3A"/>
                </a:solidFill>
                <a:latin typeface="Calibri" pitchFamily="34" charset="0"/>
                <a:ea typeface="Calibri" pitchFamily="34" charset="-122"/>
                <a:cs typeface="Calibri" pitchFamily="34" charset="-120"/>
              </a:rPr>
              <a:t>open</a:t>
            </a:r>
            <a:r>
              <a:rPr lang="en-US" sz="1200" i="1" dirty="0">
                <a:solidFill>
                  <a:srgbClr val="262B3A"/>
                </a:solidFill>
                <a:latin typeface="Calibri" pitchFamily="34" charset="0"/>
                <a:ea typeface="Calibri" pitchFamily="34" charset="-122"/>
                <a:cs typeface="Calibri" pitchFamily="34" charset="-120"/>
              </a:rPr>
              <a:t> crucible. It decomposes: </a:t>
            </a:r>
            <a:r>
              <a:rPr lang="en-US" sz="1200" b="1" i="1" dirty="0">
                <a:solidFill>
                  <a:srgbClr val="262B3A"/>
                </a:solidFill>
                <a:latin typeface="Calibri" pitchFamily="34" charset="0"/>
                <a:ea typeface="Calibri" pitchFamily="34" charset="-122"/>
                <a:cs typeface="Calibri" pitchFamily="34" charset="-120"/>
              </a:rPr>
              <a:t>CuCO₃(s) → CuO(s) + CO₂(g)</a:t>
            </a:r>
            <a:r>
              <a:rPr lang="en-US" sz="1200" i="1" dirty="0">
                <a:solidFill>
                  <a:srgbClr val="262B3A"/>
                </a:solidFill>
                <a:latin typeface="Calibri" pitchFamily="34" charset="0"/>
                <a:ea typeface="Calibri" pitchFamily="34" charset="-122"/>
                <a:cs typeface="Calibri" pitchFamily="34" charset="-120"/>
              </a:rPr>
              <a:t>. The black solid left has a mass of </a:t>
            </a:r>
            <a:r>
              <a:rPr lang="en-US" sz="1200" b="1" i="1" dirty="0">
                <a:solidFill>
                  <a:srgbClr val="262B3A"/>
                </a:solidFill>
                <a:latin typeface="Calibri" pitchFamily="34" charset="0"/>
                <a:ea typeface="Calibri" pitchFamily="34" charset="-122"/>
                <a:cs typeface="Calibri" pitchFamily="34" charset="-120"/>
              </a:rPr>
              <a:t>7.95 g</a:t>
            </a:r>
            <a:r>
              <a:rPr lang="en-US" sz="1200" i="1" dirty="0">
                <a:solidFill>
                  <a:srgbClr val="262B3A"/>
                </a:solidFill>
                <a:latin typeface="Calibri" pitchFamily="34" charset="0"/>
                <a:ea typeface="Calibri" pitchFamily="34" charset="-122"/>
                <a:cs typeface="Calibri" pitchFamily="34" charset="-120"/>
              </a:rPr>
              <a:t>. (Ar: C = 12.0, O = 16.0, Cu = 63.5)</a:t>
            </a:r>
            <a:endParaRPr lang="en-US" sz="1200" dirty="0"/>
          </a:p>
        </p:txBody>
      </p:sp>
      <p:sp>
        <p:nvSpPr>
          <p:cNvPr id="9" name="Shape 7"/>
          <p:cNvSpPr/>
          <p:nvPr/>
        </p:nvSpPr>
        <p:spPr>
          <a:xfrm>
            <a:off x="411480" y="1719072"/>
            <a:ext cx="5570068" cy="1395197"/>
          </a:xfrm>
          <a:prstGeom prst="roundRect">
            <a:avLst>
              <a:gd name="adj" fmla="val 3277"/>
            </a:avLst>
          </a:prstGeom>
          <a:solidFill>
            <a:srgbClr val="F8F5FC"/>
          </a:solidFill>
          <a:ln w="9525">
            <a:solidFill>
              <a:srgbClr val="DDD3EC"/>
            </a:solidFill>
            <a:prstDash val="solid"/>
          </a:ln>
        </p:spPr>
      </p:sp>
      <p:sp>
        <p:nvSpPr>
          <p:cNvPr id="10" name="Text 8"/>
          <p:cNvSpPr/>
          <p:nvPr/>
        </p:nvSpPr>
        <p:spPr>
          <a:xfrm>
            <a:off x="548640" y="1792224"/>
            <a:ext cx="5295748" cy="102943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The mass of the solid </a:t>
            </a:r>
            <a:r>
              <a:rPr lang="en-US" sz="1200" b="1" dirty="0">
                <a:solidFill>
                  <a:srgbClr val="262B3A"/>
                </a:solidFill>
                <a:latin typeface="Calibri" pitchFamily="34" charset="0"/>
                <a:ea typeface="Calibri" pitchFamily="34" charset="-122"/>
                <a:cs typeface="Calibri" pitchFamily="34" charset="-120"/>
              </a:rPr>
              <a:t>decreases</a:t>
            </a:r>
            <a:r>
              <a:rPr lang="en-US" sz="1200" dirty="0">
                <a:solidFill>
                  <a:srgbClr val="262B3A"/>
                </a:solidFill>
                <a:latin typeface="Calibri" pitchFamily="34" charset="0"/>
                <a:ea typeface="Calibri" pitchFamily="34" charset="-122"/>
                <a:cs typeface="Calibri" pitchFamily="34" charset="-120"/>
              </a:rPr>
              <a:t>. Explain why, using the </a:t>
            </a:r>
            <a:r>
              <a:rPr lang="en-US" sz="1200" b="1" dirty="0">
                <a:solidFill>
                  <a:srgbClr val="262B3A"/>
                </a:solidFill>
                <a:latin typeface="Calibri" pitchFamily="34" charset="0"/>
                <a:ea typeface="Calibri" pitchFamily="34" charset="-122"/>
                <a:cs typeface="Calibri" pitchFamily="34" charset="-120"/>
              </a:rPr>
              <a:t>particle model</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4518508" y="280337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223997"/>
            <a:ext cx="5570068" cy="1395197"/>
          </a:xfrm>
          <a:prstGeom prst="roundRect">
            <a:avLst>
              <a:gd name="adj" fmla="val 3277"/>
            </a:avLst>
          </a:prstGeom>
          <a:solidFill>
            <a:srgbClr val="FFFFFF"/>
          </a:solidFill>
          <a:ln w="9525">
            <a:solidFill>
              <a:srgbClr val="DDD3EC"/>
            </a:solidFill>
            <a:prstDash val="solid"/>
          </a:ln>
        </p:spPr>
      </p:sp>
      <p:sp>
        <p:nvSpPr>
          <p:cNvPr id="13" name="Text 11"/>
          <p:cNvSpPr/>
          <p:nvPr/>
        </p:nvSpPr>
        <p:spPr>
          <a:xfrm>
            <a:off x="548640" y="3297149"/>
            <a:ext cx="5295748" cy="102943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Calculate the relative formula mass, </a:t>
            </a:r>
            <a:r>
              <a:rPr lang="en-US" sz="1200" b="1" dirty="0">
                <a:solidFill>
                  <a:srgbClr val="262B3A"/>
                </a:solidFill>
                <a:latin typeface="Calibri" pitchFamily="34" charset="0"/>
                <a:ea typeface="Calibri" pitchFamily="34" charset="-122"/>
                <a:cs typeface="Calibri" pitchFamily="34" charset="-120"/>
              </a:rPr>
              <a:t>Mr</a:t>
            </a:r>
            <a:r>
              <a:rPr lang="en-US" sz="1200" dirty="0">
                <a:solidFill>
                  <a:srgbClr val="262B3A"/>
                </a:solidFill>
                <a:latin typeface="Calibri" pitchFamily="34" charset="0"/>
                <a:ea typeface="Calibri" pitchFamily="34" charset="-122"/>
                <a:cs typeface="Calibri" pitchFamily="34" charset="-120"/>
              </a:rPr>
              <a:t>, of copper carbonate, CuCO₃.</a:t>
            </a:r>
            <a:endParaRPr lang="en-US" sz="1200" dirty="0"/>
          </a:p>
        </p:txBody>
      </p:sp>
      <p:sp>
        <p:nvSpPr>
          <p:cNvPr id="14" name="Text 12"/>
          <p:cNvSpPr/>
          <p:nvPr/>
        </p:nvSpPr>
        <p:spPr>
          <a:xfrm>
            <a:off x="4518508" y="4308299"/>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728923"/>
            <a:ext cx="5570068" cy="1534717"/>
          </a:xfrm>
          <a:prstGeom prst="roundRect">
            <a:avLst>
              <a:gd name="adj" fmla="val 2979"/>
            </a:avLst>
          </a:prstGeom>
          <a:solidFill>
            <a:srgbClr val="F8F5FC"/>
          </a:solidFill>
          <a:ln w="9525">
            <a:solidFill>
              <a:srgbClr val="DDD3EC"/>
            </a:solidFill>
            <a:prstDash val="solid"/>
          </a:ln>
        </p:spPr>
      </p:sp>
      <p:sp>
        <p:nvSpPr>
          <p:cNvPr id="16" name="Text 14"/>
          <p:cNvSpPr/>
          <p:nvPr/>
        </p:nvSpPr>
        <p:spPr>
          <a:xfrm>
            <a:off x="548640" y="4802075"/>
            <a:ext cx="5295748" cy="116895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Show that the total </a:t>
            </a:r>
            <a:r>
              <a:rPr lang="en-US" sz="1200" b="1" dirty="0">
                <a:solidFill>
                  <a:srgbClr val="262B3A"/>
                </a:solidFill>
                <a:latin typeface="Calibri" pitchFamily="34" charset="0"/>
                <a:ea typeface="Calibri" pitchFamily="34" charset="-122"/>
                <a:cs typeface="Calibri" pitchFamily="34" charset="-120"/>
              </a:rPr>
              <a:t>Mr</a:t>
            </a:r>
            <a:r>
              <a:rPr lang="en-US" sz="1200" dirty="0">
                <a:solidFill>
                  <a:srgbClr val="262B3A"/>
                </a:solidFill>
                <a:latin typeface="Calibri" pitchFamily="34" charset="0"/>
                <a:ea typeface="Calibri" pitchFamily="34" charset="-122"/>
                <a:cs typeface="Calibri" pitchFamily="34" charset="-120"/>
              </a:rPr>
              <a:t> of the products equals the Mr of CuCO₃. What law does this show?</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988597"/>
          </a:xfrm>
          <a:prstGeom prst="roundRect">
            <a:avLst>
              <a:gd name="adj" fmla="val 4625"/>
            </a:avLst>
          </a:prstGeom>
          <a:solidFill>
            <a:srgbClr val="F8F5FC"/>
          </a:solidFill>
          <a:ln w="9525">
            <a:solidFill>
              <a:srgbClr val="DDD3EC"/>
            </a:solidFill>
            <a:prstDash val="solid"/>
          </a:ln>
        </p:spPr>
      </p:sp>
      <p:sp>
        <p:nvSpPr>
          <p:cNvPr id="19" name="Text 17"/>
          <p:cNvSpPr/>
          <p:nvPr/>
        </p:nvSpPr>
        <p:spPr>
          <a:xfrm>
            <a:off x="6347308" y="1792224"/>
            <a:ext cx="5295748" cy="62283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Calculate the mass of </a:t>
            </a:r>
            <a:r>
              <a:rPr lang="en-US" sz="1200" b="1" dirty="0">
                <a:solidFill>
                  <a:srgbClr val="262B3A"/>
                </a:solidFill>
                <a:latin typeface="Calibri" pitchFamily="34" charset="0"/>
                <a:ea typeface="Calibri" pitchFamily="34" charset="-122"/>
                <a:cs typeface="Calibri" pitchFamily="34" charset="-120"/>
              </a:rPr>
              <a:t>carbon dioxide</a:t>
            </a:r>
            <a:r>
              <a:rPr lang="en-US" sz="1200" dirty="0">
                <a:solidFill>
                  <a:srgbClr val="262B3A"/>
                </a:solidFill>
                <a:latin typeface="Calibri" pitchFamily="34" charset="0"/>
                <a:ea typeface="Calibri" pitchFamily="34" charset="-122"/>
                <a:cs typeface="Calibri" pitchFamily="34" charset="-120"/>
              </a:rPr>
              <a:t> given off.</a:t>
            </a:r>
            <a:endParaRPr lang="en-US" sz="1200" dirty="0"/>
          </a:p>
        </p:txBody>
      </p:sp>
      <p:sp>
        <p:nvSpPr>
          <p:cNvPr id="20" name="Text 18"/>
          <p:cNvSpPr/>
          <p:nvPr/>
        </p:nvSpPr>
        <p:spPr>
          <a:xfrm>
            <a:off x="10317175" y="239677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21" name="Shape 19"/>
          <p:cNvSpPr/>
          <p:nvPr/>
        </p:nvSpPr>
        <p:spPr>
          <a:xfrm>
            <a:off x="6210148" y="2817397"/>
            <a:ext cx="5570068" cy="1482896"/>
          </a:xfrm>
          <a:prstGeom prst="roundRect">
            <a:avLst>
              <a:gd name="adj" fmla="val 3083"/>
            </a:avLst>
          </a:prstGeom>
          <a:solidFill>
            <a:srgbClr val="FFFFFF"/>
          </a:solidFill>
          <a:ln w="9525">
            <a:solidFill>
              <a:srgbClr val="DDD3EC"/>
            </a:solidFill>
            <a:prstDash val="solid"/>
          </a:ln>
        </p:spPr>
      </p:sp>
      <p:sp>
        <p:nvSpPr>
          <p:cNvPr id="22" name="Text 20"/>
          <p:cNvSpPr/>
          <p:nvPr/>
        </p:nvSpPr>
        <p:spPr>
          <a:xfrm>
            <a:off x="6347308" y="2890549"/>
            <a:ext cx="4792828" cy="1117136"/>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Calculate the </a:t>
            </a:r>
            <a:r>
              <a:rPr lang="en-US" sz="1200" b="1" dirty="0">
                <a:solidFill>
                  <a:srgbClr val="262B3A"/>
                </a:solidFill>
                <a:latin typeface="Calibri" pitchFamily="34" charset="0"/>
                <a:ea typeface="Calibri" pitchFamily="34" charset="-122"/>
                <a:cs typeface="Calibri" pitchFamily="34" charset="-120"/>
              </a:rPr>
              <a:t>amount in moles</a:t>
            </a:r>
            <a:r>
              <a:rPr lang="en-US" sz="1200" dirty="0">
                <a:solidFill>
                  <a:srgbClr val="262B3A"/>
                </a:solidFill>
                <a:latin typeface="Calibri" pitchFamily="34" charset="0"/>
                <a:ea typeface="Calibri" pitchFamily="34" charset="-122"/>
                <a:cs typeface="Calibri" pitchFamily="34" charset="-120"/>
              </a:rPr>
              <a:t> of CuCO₃ used, and the </a:t>
            </a:r>
            <a:r>
              <a:rPr lang="en-US" sz="1200" b="1" dirty="0">
                <a:solidFill>
                  <a:srgbClr val="262B3A"/>
                </a:solidFill>
                <a:latin typeface="Calibri" pitchFamily="34" charset="0"/>
                <a:ea typeface="Calibri" pitchFamily="34" charset="-122"/>
                <a:cs typeface="Calibri" pitchFamily="34" charset="-120"/>
              </a:rPr>
              <a:t>mass of CuO</a:t>
            </a:r>
            <a:r>
              <a:rPr lang="en-US" sz="1200" dirty="0">
                <a:solidFill>
                  <a:srgbClr val="262B3A"/>
                </a:solidFill>
                <a:latin typeface="Calibri" pitchFamily="34" charset="0"/>
                <a:ea typeface="Calibri" pitchFamily="34" charset="-122"/>
                <a:cs typeface="Calibri" pitchFamily="34" charset="-120"/>
              </a:rPr>
              <a:t> expected.</a:t>
            </a:r>
            <a:endParaRPr lang="en-US" sz="1200" dirty="0"/>
          </a:p>
        </p:txBody>
      </p:sp>
      <p:sp>
        <p:nvSpPr>
          <p:cNvPr id="23" name="Shape 21"/>
          <p:cNvSpPr/>
          <p:nvPr/>
        </p:nvSpPr>
        <p:spPr>
          <a:xfrm>
            <a:off x="11231575" y="2890549"/>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2890549"/>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3989397"/>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6" name="Shape 24"/>
          <p:cNvSpPr/>
          <p:nvPr/>
        </p:nvSpPr>
        <p:spPr>
          <a:xfrm>
            <a:off x="6210148" y="4410021"/>
            <a:ext cx="5570068" cy="1853619"/>
          </a:xfrm>
          <a:prstGeom prst="roundRect">
            <a:avLst>
              <a:gd name="adj" fmla="val 2467"/>
            </a:avLst>
          </a:prstGeom>
          <a:solidFill>
            <a:srgbClr val="F8F5FC"/>
          </a:solidFill>
          <a:ln w="9525">
            <a:solidFill>
              <a:srgbClr val="DDD3EC"/>
            </a:solidFill>
            <a:prstDash val="solid"/>
          </a:ln>
        </p:spPr>
      </p:sp>
      <p:sp>
        <p:nvSpPr>
          <p:cNvPr id="27" name="Text 25"/>
          <p:cNvSpPr/>
          <p:nvPr/>
        </p:nvSpPr>
        <p:spPr>
          <a:xfrm>
            <a:off x="6347308" y="4483173"/>
            <a:ext cx="5295748" cy="1487859"/>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In a repeat, 12.35 g gave </a:t>
            </a:r>
            <a:r>
              <a:rPr lang="en-US" sz="1200" b="1" dirty="0">
                <a:solidFill>
                  <a:srgbClr val="262B3A"/>
                </a:solidFill>
                <a:latin typeface="Calibri" pitchFamily="34" charset="0"/>
                <a:ea typeface="Calibri" pitchFamily="34" charset="-122"/>
                <a:cs typeface="Calibri" pitchFamily="34" charset="-120"/>
              </a:rPr>
              <a:t>8.30 g</a:t>
            </a:r>
            <a:r>
              <a:rPr lang="en-US" sz="1200" dirty="0">
                <a:solidFill>
                  <a:srgbClr val="262B3A"/>
                </a:solidFill>
                <a:latin typeface="Calibri" pitchFamily="34" charset="0"/>
                <a:ea typeface="Calibri" pitchFamily="34" charset="-122"/>
                <a:cs typeface="Calibri" pitchFamily="34" charset="-120"/>
              </a:rPr>
              <a:t> of solid. Suggest </a:t>
            </a:r>
            <a:r>
              <a:rPr lang="en-US" sz="1200" b="1" dirty="0">
                <a:solidFill>
                  <a:srgbClr val="262B3A"/>
                </a:solidFill>
                <a:latin typeface="Calibri" pitchFamily="34" charset="0"/>
                <a:ea typeface="Calibri" pitchFamily="34" charset="-122"/>
                <a:cs typeface="Calibri" pitchFamily="34" charset="-120"/>
              </a:rPr>
              <a:t>why</a:t>
            </a:r>
            <a:r>
              <a:rPr lang="en-US" sz="1200" dirty="0">
                <a:solidFill>
                  <a:srgbClr val="262B3A"/>
                </a:solidFill>
                <a:latin typeface="Calibri" pitchFamily="34" charset="0"/>
                <a:ea typeface="Calibri" pitchFamily="34" charset="-122"/>
                <a:cs typeface="Calibri" pitchFamily="34" charset="-120"/>
              </a:rPr>
              <a:t>, explain the effect on the calculated mass of CO₂, and suggest an </a:t>
            </a:r>
            <a:r>
              <a:rPr lang="en-US" sz="1200" b="1" dirty="0">
                <a:solidFill>
                  <a:srgbClr val="262B3A"/>
                </a:solidFill>
                <a:latin typeface="Calibri" pitchFamily="34" charset="0"/>
                <a:ea typeface="Calibri" pitchFamily="34" charset="-122"/>
                <a:cs typeface="Calibri" pitchFamily="34" charset="-120"/>
              </a:rPr>
              <a:t>improvement</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9" name="Text 27"/>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5A3590"/>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5B3A8C"/>
          </a:solidFill>
          <a:ln w="12700">
            <a:solidFill>
              <a:srgbClr val="5B3A8C"/>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5A3590"/>
          </a:solidFill>
          <a:ln w="12700">
            <a:solidFill>
              <a:srgbClr val="5A3590"/>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DE6F8"/>
                </a:solidFill>
                <a:latin typeface="Calibri" pitchFamily="34" charset="0"/>
                <a:ea typeface="Calibri" pitchFamily="34" charset="-122"/>
                <a:cs typeface="Calibri" pitchFamily="34" charset="-120"/>
              </a:rPr>
              <a:t>C5.2 Amounts in reactions • 17 marks • about 30 minutes</a:t>
            </a:r>
            <a:endParaRPr lang="en-US" sz="1800" dirty="0"/>
          </a:p>
        </p:txBody>
      </p:sp>
      <p:sp>
        <p:nvSpPr>
          <p:cNvPr id="9" name="Text 7"/>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DDD0F2"/>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DDD0F2"/>
                </a:solidFill>
                <a:latin typeface="Calibri" pitchFamily="34" charset="0"/>
                <a:ea typeface="Calibri" pitchFamily="34" charset="-122"/>
                <a:cs typeface="Calibri" pitchFamily="34" charset="-120"/>
              </a:rPr>
              <a:t>Homework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C5.2 How are the amounts of substances in reactions calculated?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25</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 Q4 and Q5 are Higher tier.</a:t>
            </a:r>
            <a:endParaRPr lang="en-US" sz="1150" dirty="0"/>
          </a:p>
        </p:txBody>
      </p:sp>
      <p:sp>
        <p:nvSpPr>
          <p:cNvPr id="9" name="Shape 7"/>
          <p:cNvSpPr/>
          <p:nvPr/>
        </p:nvSpPr>
        <p:spPr>
          <a:xfrm>
            <a:off x="411480" y="1517904"/>
            <a:ext cx="5570068" cy="1092820"/>
          </a:xfrm>
          <a:prstGeom prst="roundRect">
            <a:avLst>
              <a:gd name="adj" fmla="val 4184"/>
            </a:avLst>
          </a:prstGeom>
          <a:solidFill>
            <a:srgbClr val="F8F5FC"/>
          </a:solidFill>
          <a:ln w="9525">
            <a:solidFill>
              <a:srgbClr val="DDD3EC"/>
            </a:solidFill>
            <a:prstDash val="solid"/>
          </a:ln>
        </p:spPr>
      </p:sp>
      <p:sp>
        <p:nvSpPr>
          <p:cNvPr id="10" name="Text 8"/>
          <p:cNvSpPr/>
          <p:nvPr/>
        </p:nvSpPr>
        <p:spPr>
          <a:xfrm>
            <a:off x="548640" y="1591056"/>
            <a:ext cx="5295748" cy="74534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State the </a:t>
            </a:r>
            <a:r>
              <a:rPr lang="en-US" sz="1150" b="1" dirty="0">
                <a:solidFill>
                  <a:srgbClr val="262B3A"/>
                </a:solidFill>
                <a:latin typeface="Calibri" pitchFamily="34" charset="0"/>
                <a:ea typeface="Calibri" pitchFamily="34" charset="-122"/>
                <a:cs typeface="Calibri" pitchFamily="34" charset="-120"/>
              </a:rPr>
              <a:t>law of conservation of mass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1" name="Text 9"/>
          <p:cNvSpPr/>
          <p:nvPr/>
        </p:nvSpPr>
        <p:spPr>
          <a:xfrm>
            <a:off x="4518508" y="231811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20452"/>
            <a:ext cx="5570068" cy="1092820"/>
          </a:xfrm>
          <a:prstGeom prst="roundRect">
            <a:avLst>
              <a:gd name="adj" fmla="val 4184"/>
            </a:avLst>
          </a:prstGeom>
          <a:solidFill>
            <a:srgbClr val="F8F5FC"/>
          </a:solidFill>
          <a:ln w="9525">
            <a:solidFill>
              <a:srgbClr val="DDD3EC"/>
            </a:solidFill>
            <a:prstDash val="solid"/>
          </a:ln>
        </p:spPr>
      </p:sp>
      <p:sp>
        <p:nvSpPr>
          <p:cNvPr id="13" name="Text 11"/>
          <p:cNvSpPr/>
          <p:nvPr/>
        </p:nvSpPr>
        <p:spPr>
          <a:xfrm>
            <a:off x="548640" y="2793604"/>
            <a:ext cx="5295748" cy="74534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Calculate the relative formula mass of </a:t>
            </a:r>
            <a:r>
              <a:rPr lang="en-US" sz="1150" b="1" dirty="0">
                <a:solidFill>
                  <a:srgbClr val="262B3A"/>
                </a:solidFill>
                <a:latin typeface="Calibri" pitchFamily="34" charset="0"/>
                <a:ea typeface="Calibri" pitchFamily="34" charset="-122"/>
                <a:cs typeface="Calibri" pitchFamily="34" charset="-120"/>
              </a:rPr>
              <a:t>magnesium hydroxide, Mg(OH)₂</a:t>
            </a:r>
            <a:r>
              <a:rPr lang="en-US" sz="1150" dirty="0">
                <a:solidFill>
                  <a:srgbClr val="262B3A"/>
                </a:solidFill>
                <a:latin typeface="Calibri" pitchFamily="34" charset="0"/>
                <a:ea typeface="Calibri" pitchFamily="34" charset="-122"/>
                <a:cs typeface="Calibri" pitchFamily="34" charset="-120"/>
              </a:rPr>
              <a:t>. (Ar: H 1.0, O 16.0, Mg 24.3)</a:t>
            </a:r>
            <a:endParaRPr lang="en-US" sz="1150" dirty="0"/>
          </a:p>
        </p:txBody>
      </p:sp>
      <p:sp>
        <p:nvSpPr>
          <p:cNvPr id="14" name="Text 12"/>
          <p:cNvSpPr/>
          <p:nvPr/>
        </p:nvSpPr>
        <p:spPr>
          <a:xfrm>
            <a:off x="4518508" y="3520663"/>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22999"/>
            <a:ext cx="5570068" cy="1092820"/>
          </a:xfrm>
          <a:prstGeom prst="roundRect">
            <a:avLst>
              <a:gd name="adj" fmla="val 4184"/>
            </a:avLst>
          </a:prstGeom>
          <a:solidFill>
            <a:srgbClr val="F8F5FC"/>
          </a:solidFill>
          <a:ln w="9525">
            <a:solidFill>
              <a:srgbClr val="DDD3EC"/>
            </a:solidFill>
            <a:prstDash val="solid"/>
          </a:ln>
        </p:spPr>
      </p:sp>
      <p:sp>
        <p:nvSpPr>
          <p:cNvPr id="16" name="Text 14"/>
          <p:cNvSpPr/>
          <p:nvPr/>
        </p:nvSpPr>
        <p:spPr>
          <a:xfrm>
            <a:off x="548640" y="3996151"/>
            <a:ext cx="5295748" cy="74534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Zinc reacts with hydrochloric acid in an </a:t>
            </a:r>
            <a:r>
              <a:rPr lang="en-US" sz="1150" b="1" dirty="0">
                <a:solidFill>
                  <a:srgbClr val="262B3A"/>
                </a:solidFill>
                <a:latin typeface="Calibri" pitchFamily="34" charset="0"/>
                <a:ea typeface="Calibri" pitchFamily="34" charset="-122"/>
                <a:cs typeface="Calibri" pitchFamily="34" charset="-120"/>
              </a:rPr>
              <a:t>open</a:t>
            </a:r>
            <a:r>
              <a:rPr lang="en-US" sz="1150" dirty="0">
                <a:solidFill>
                  <a:srgbClr val="262B3A"/>
                </a:solidFill>
                <a:latin typeface="Calibri" pitchFamily="34" charset="0"/>
                <a:ea typeface="Calibri" pitchFamily="34" charset="-122"/>
                <a:cs typeface="Calibri" pitchFamily="34" charset="-120"/>
              </a:rPr>
              <a:t> beaker on a balance. Explain why the reading </a:t>
            </a:r>
            <a:r>
              <a:rPr lang="en-US" sz="1150" b="1" dirty="0">
                <a:solidFill>
                  <a:srgbClr val="262B3A"/>
                </a:solidFill>
                <a:latin typeface="Calibri" pitchFamily="34" charset="0"/>
                <a:ea typeface="Calibri" pitchFamily="34" charset="-122"/>
                <a:cs typeface="Calibri" pitchFamily="34" charset="-120"/>
              </a:rPr>
              <a:t>falls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7" name="Text 15"/>
          <p:cNvSpPr/>
          <p:nvPr/>
        </p:nvSpPr>
        <p:spPr>
          <a:xfrm>
            <a:off x="4518508" y="472321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125547"/>
            <a:ext cx="5570068" cy="1202101"/>
          </a:xfrm>
          <a:prstGeom prst="roundRect">
            <a:avLst>
              <a:gd name="adj" fmla="val 3803"/>
            </a:avLst>
          </a:prstGeom>
          <a:solidFill>
            <a:srgbClr val="F8F5FC"/>
          </a:solidFill>
          <a:ln w="9525">
            <a:solidFill>
              <a:srgbClr val="DDD3EC"/>
            </a:solidFill>
            <a:prstDash val="solid"/>
          </a:ln>
        </p:spPr>
      </p:sp>
      <p:sp>
        <p:nvSpPr>
          <p:cNvPr id="19" name="Text 17"/>
          <p:cNvSpPr/>
          <p:nvPr/>
        </p:nvSpPr>
        <p:spPr>
          <a:xfrm>
            <a:off x="548640" y="5198699"/>
            <a:ext cx="4792828" cy="854629"/>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Calculate the amount in moles in </a:t>
            </a:r>
            <a:r>
              <a:rPr lang="en-US" sz="1150" b="1" dirty="0">
                <a:solidFill>
                  <a:srgbClr val="262B3A"/>
                </a:solidFill>
                <a:latin typeface="Calibri" pitchFamily="34" charset="0"/>
                <a:ea typeface="Calibri" pitchFamily="34" charset="-122"/>
                <a:cs typeface="Calibri" pitchFamily="34" charset="-120"/>
              </a:rPr>
              <a:t>22.0 g</a:t>
            </a:r>
            <a:r>
              <a:rPr lang="en-US" sz="1150" dirty="0">
                <a:solidFill>
                  <a:srgbClr val="262B3A"/>
                </a:solidFill>
                <a:latin typeface="Calibri" pitchFamily="34" charset="0"/>
                <a:ea typeface="Calibri" pitchFamily="34" charset="-122"/>
                <a:cs typeface="Calibri" pitchFamily="34" charset="-120"/>
              </a:rPr>
              <a:t> of CO₂ (Mr 44.0), and the number of </a:t>
            </a:r>
            <a:r>
              <a:rPr lang="en-US" sz="1150" b="1" dirty="0">
                <a:solidFill>
                  <a:srgbClr val="262B3A"/>
                </a:solidFill>
                <a:latin typeface="Calibri" pitchFamily="34" charset="0"/>
                <a:ea typeface="Calibri" pitchFamily="34" charset="-122"/>
                <a:cs typeface="Calibri" pitchFamily="34" charset="-120"/>
              </a:rPr>
              <a:t>molecules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0" name="Shape 18"/>
          <p:cNvSpPr/>
          <p:nvPr/>
        </p:nvSpPr>
        <p:spPr>
          <a:xfrm>
            <a:off x="5432908" y="5198699"/>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5432908" y="5198699"/>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Text 20"/>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6210148" y="1517904"/>
            <a:ext cx="5570068" cy="1074323"/>
          </a:xfrm>
          <a:prstGeom prst="roundRect">
            <a:avLst>
              <a:gd name="adj" fmla="val 4256"/>
            </a:avLst>
          </a:prstGeom>
          <a:solidFill>
            <a:srgbClr val="F8F5FC"/>
          </a:solidFill>
          <a:ln w="9525">
            <a:solidFill>
              <a:srgbClr val="DDD3EC"/>
            </a:solidFill>
            <a:prstDash val="solid"/>
          </a:ln>
        </p:spPr>
      </p:sp>
      <p:sp>
        <p:nvSpPr>
          <p:cNvPr id="24" name="Text 22"/>
          <p:cNvSpPr/>
          <p:nvPr/>
        </p:nvSpPr>
        <p:spPr>
          <a:xfrm>
            <a:off x="6347308" y="1591056"/>
            <a:ext cx="4792828" cy="726851"/>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5  </a:t>
            </a:r>
            <a:r>
              <a:rPr lang="en-US" sz="1150" b="1" dirty="0">
                <a:solidFill>
                  <a:srgbClr val="262B3A"/>
                </a:solidFill>
                <a:latin typeface="Calibri" pitchFamily="34" charset="0"/>
                <a:ea typeface="Calibri" pitchFamily="34" charset="-122"/>
                <a:cs typeface="Calibri" pitchFamily="34" charset="-120"/>
              </a:rPr>
              <a:t>0.20 mol</a:t>
            </a:r>
            <a:r>
              <a:rPr lang="en-US" sz="1150" dirty="0">
                <a:solidFill>
                  <a:srgbClr val="262B3A"/>
                </a:solidFill>
                <a:latin typeface="Calibri" pitchFamily="34" charset="0"/>
                <a:ea typeface="Calibri" pitchFamily="34" charset="-122"/>
                <a:cs typeface="Calibri" pitchFamily="34" charset="-120"/>
              </a:rPr>
              <a:t> H₂ is mixed with </a:t>
            </a:r>
            <a:r>
              <a:rPr lang="en-US" sz="1150" b="1" dirty="0">
                <a:solidFill>
                  <a:srgbClr val="262B3A"/>
                </a:solidFill>
                <a:latin typeface="Calibri" pitchFamily="34" charset="0"/>
                <a:ea typeface="Calibri" pitchFamily="34" charset="-122"/>
                <a:cs typeface="Calibri" pitchFamily="34" charset="-120"/>
              </a:rPr>
              <a:t>0.15 mol</a:t>
            </a:r>
            <a:r>
              <a:rPr lang="en-US" sz="1150" dirty="0">
                <a:solidFill>
                  <a:srgbClr val="262B3A"/>
                </a:solidFill>
                <a:latin typeface="Calibri" pitchFamily="34" charset="0"/>
                <a:ea typeface="Calibri" pitchFamily="34" charset="-122"/>
                <a:cs typeface="Calibri" pitchFamily="34" charset="-120"/>
              </a:rPr>
              <a:t> Cl₂: H₂ + Cl₂ → 2HCl. Which reactant is </a:t>
            </a:r>
            <a:r>
              <a:rPr lang="en-US" sz="1150" b="1" dirty="0">
                <a:solidFill>
                  <a:srgbClr val="262B3A"/>
                </a:solidFill>
                <a:latin typeface="Calibri" pitchFamily="34" charset="0"/>
                <a:ea typeface="Calibri" pitchFamily="34" charset="-122"/>
                <a:cs typeface="Calibri" pitchFamily="34" charset="-120"/>
              </a:rPr>
              <a:t>limiting</a:t>
            </a:r>
            <a:r>
              <a:rPr lang="en-US" sz="1150" dirty="0">
                <a:solidFill>
                  <a:srgbClr val="262B3A"/>
                </a:solidFill>
                <a:latin typeface="Calibri" pitchFamily="34" charset="0"/>
                <a:ea typeface="Calibri" pitchFamily="34" charset="-122"/>
                <a:cs typeface="Calibri" pitchFamily="34" charset="-120"/>
              </a:rPr>
              <a:t>? How many moles of HCl form?</a:t>
            </a:r>
            <a:endParaRPr lang="en-US" sz="1150" dirty="0"/>
          </a:p>
        </p:txBody>
      </p:sp>
      <p:sp>
        <p:nvSpPr>
          <p:cNvPr id="25" name="Shape 23"/>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6" name="Text 24"/>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7" name="Text 25"/>
          <p:cNvSpPr/>
          <p:nvPr/>
        </p:nvSpPr>
        <p:spPr>
          <a:xfrm>
            <a:off x="10317175" y="2299619"/>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8" name="Shape 26"/>
          <p:cNvSpPr/>
          <p:nvPr/>
        </p:nvSpPr>
        <p:spPr>
          <a:xfrm>
            <a:off x="6210148" y="2701955"/>
            <a:ext cx="5570068" cy="976657"/>
          </a:xfrm>
          <a:prstGeom prst="roundRect">
            <a:avLst>
              <a:gd name="adj" fmla="val 4681"/>
            </a:avLst>
          </a:prstGeom>
          <a:solidFill>
            <a:srgbClr val="F8F5FC"/>
          </a:solidFill>
          <a:ln w="9525">
            <a:solidFill>
              <a:srgbClr val="DDD3EC"/>
            </a:solidFill>
            <a:prstDash val="solid"/>
          </a:ln>
        </p:spPr>
      </p:sp>
      <p:sp>
        <p:nvSpPr>
          <p:cNvPr id="29" name="Text 27"/>
          <p:cNvSpPr/>
          <p:nvPr/>
        </p:nvSpPr>
        <p:spPr>
          <a:xfrm>
            <a:off x="6347308" y="2775107"/>
            <a:ext cx="5295748" cy="629185"/>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16.0 g of methane burns to make </a:t>
            </a:r>
            <a:r>
              <a:rPr lang="en-US" sz="1150" b="1" dirty="0">
                <a:solidFill>
                  <a:srgbClr val="262B3A"/>
                </a:solidFill>
                <a:latin typeface="Calibri" pitchFamily="34" charset="0"/>
                <a:ea typeface="Calibri" pitchFamily="34" charset="-122"/>
                <a:cs typeface="Calibri" pitchFamily="34" charset="-120"/>
              </a:rPr>
              <a:t>36.0 g</a:t>
            </a:r>
            <a:r>
              <a:rPr lang="en-US" sz="1150" dirty="0">
                <a:solidFill>
                  <a:srgbClr val="262B3A"/>
                </a:solidFill>
                <a:latin typeface="Calibri" pitchFamily="34" charset="0"/>
                <a:ea typeface="Calibri" pitchFamily="34" charset="-122"/>
                <a:cs typeface="Calibri" pitchFamily="34" charset="-120"/>
              </a:rPr>
              <a:t> of water. What mass of water forms from </a:t>
            </a:r>
            <a:r>
              <a:rPr lang="en-US" sz="1150" b="1" dirty="0">
                <a:solidFill>
                  <a:srgbClr val="262B3A"/>
                </a:solidFill>
                <a:latin typeface="Calibri" pitchFamily="34" charset="0"/>
                <a:ea typeface="Calibri" pitchFamily="34" charset="-122"/>
                <a:cs typeface="Calibri" pitchFamily="34" charset="-120"/>
              </a:rPr>
              <a:t>4.0 g</a:t>
            </a:r>
            <a:r>
              <a:rPr lang="en-US" sz="1150" dirty="0">
                <a:solidFill>
                  <a:srgbClr val="262B3A"/>
                </a:solidFill>
                <a:latin typeface="Calibri" pitchFamily="34" charset="0"/>
                <a:ea typeface="Calibri" pitchFamily="34" charset="-122"/>
                <a:cs typeface="Calibri" pitchFamily="34" charset="-120"/>
              </a:rPr>
              <a:t> of methane?</a:t>
            </a:r>
            <a:endParaRPr lang="en-US" sz="1150" dirty="0"/>
          </a:p>
        </p:txBody>
      </p:sp>
      <p:sp>
        <p:nvSpPr>
          <p:cNvPr id="30" name="Text 28"/>
          <p:cNvSpPr/>
          <p:nvPr/>
        </p:nvSpPr>
        <p:spPr>
          <a:xfrm>
            <a:off x="10317175" y="33860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6210148" y="3788340"/>
            <a:ext cx="5570068" cy="2539308"/>
          </a:xfrm>
          <a:prstGeom prst="roundRect">
            <a:avLst>
              <a:gd name="adj" fmla="val 1800"/>
            </a:avLst>
          </a:prstGeom>
          <a:solidFill>
            <a:srgbClr val="FFF4E0"/>
          </a:solidFill>
          <a:ln w="9525">
            <a:solidFill>
              <a:srgbClr val="F1D9A8"/>
            </a:solidFill>
            <a:prstDash val="solid"/>
          </a:ln>
        </p:spPr>
      </p:sp>
      <p:sp>
        <p:nvSpPr>
          <p:cNvPr id="32" name="Text 30"/>
          <p:cNvSpPr/>
          <p:nvPr/>
        </p:nvSpPr>
        <p:spPr>
          <a:xfrm>
            <a:off x="6347308" y="3861492"/>
            <a:ext cx="5295748" cy="2191836"/>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Describe how a student could find the </a:t>
            </a:r>
            <a:r>
              <a:rPr lang="en-US" sz="1150" b="1" dirty="0">
                <a:solidFill>
                  <a:srgbClr val="262B3A"/>
                </a:solidFill>
                <a:latin typeface="Calibri" pitchFamily="34" charset="0"/>
                <a:ea typeface="Calibri" pitchFamily="34" charset="-122"/>
                <a:cs typeface="Calibri" pitchFamily="34" charset="-120"/>
              </a:rPr>
              <a:t>mass of oxygen</a:t>
            </a:r>
            <a:r>
              <a:rPr lang="en-US" sz="1150" dirty="0">
                <a:solidFill>
                  <a:srgbClr val="262B3A"/>
                </a:solidFill>
                <a:latin typeface="Calibri" pitchFamily="34" charset="0"/>
                <a:ea typeface="Calibri" pitchFamily="34" charset="-122"/>
                <a:cs typeface="Calibri" pitchFamily="34" charset="-120"/>
              </a:rPr>
              <a:t> that reacts with magnesium ribbon, and </a:t>
            </a:r>
            <a:r>
              <a:rPr lang="en-US" sz="1150" b="1" dirty="0">
                <a:solidFill>
                  <a:srgbClr val="262B3A"/>
                </a:solidFill>
                <a:latin typeface="Calibri" pitchFamily="34" charset="0"/>
                <a:ea typeface="Calibri" pitchFamily="34" charset="-122"/>
                <a:cs typeface="Calibri" pitchFamily="34" charset="-120"/>
              </a:rPr>
              <a:t>explain</a:t>
            </a:r>
            <a:r>
              <a:rPr lang="en-US" sz="1150" dirty="0">
                <a:solidFill>
                  <a:srgbClr val="262B3A"/>
                </a:solidFill>
                <a:latin typeface="Calibri" pitchFamily="34" charset="0"/>
                <a:ea typeface="Calibri" pitchFamily="34" charset="-122"/>
                <a:cs typeface="Calibri" pitchFamily="34" charset="-120"/>
              </a:rPr>
              <a:t> why the mass of the solid increases even though mass is </a:t>
            </a:r>
            <a:r>
              <a:rPr lang="en-US" sz="1150" b="1" dirty="0">
                <a:solidFill>
                  <a:srgbClr val="262B3A"/>
                </a:solidFill>
                <a:latin typeface="Calibri" pitchFamily="34" charset="0"/>
                <a:ea typeface="Calibri" pitchFamily="34" charset="-122"/>
                <a:cs typeface="Calibri" pitchFamily="34" charset="-120"/>
              </a:rPr>
              <a:t>conserved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33" name="Text 31"/>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C5.2 How are the amounts of substances in reactions calculated?</dc:title>
  <dc:subject>PptxGenJS Presentation</dc:subject>
  <dc:creator>GCSE Chemistry</dc:creator>
  <cp:lastModifiedBy>GCSE Chemistry</cp:lastModifiedBy>
  <cp:revision>1</cp:revision>
  <dcterms:created xsi:type="dcterms:W3CDTF">2026-10-31T15:53:09Z</dcterms:created>
  <dcterms:modified xsi:type="dcterms:W3CDTF">2026-10-31T15:53:09Z</dcterms:modified>
</cp:coreProperties>
</file>