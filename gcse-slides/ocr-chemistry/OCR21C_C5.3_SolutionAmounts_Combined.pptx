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C5.3 How are the amounts of chemicals in solution measured? is Part 3 of 3 in J260 Chapter C5 Chemical analysis (C5.1 separation and purity; C5.2 amounts of substances in reactions; C5.3 amounts of chemicals in solution). It is the LAST C5 deck; Chapter C6 Making useful chemicals follows.
Numbering: in J258 (Chemistry B, separate science) this sub-topic is C5.4, because J258 C5.2 "How do chemists find the composition of unknown samples?" is separate-science only (OCR C5 scheme of work: 6 h separate / 0 h combined). Evidence: docbrown.info combined page (2016ocr21chemB2c.htm) lists "Chapter C5.3 How are the amounts of chemicals in solution measured?"; RSC resource pages quote Combined Science B codes C5.3.1, C5.3.2, C5.3.6 and C5.3.7 for this content. See SPEC_C5_3.md.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(J258 C5.4 wording from search extracts, renumbered for J260 C5.3; see SPEC_C5_3.md for confidence):
C5.3.1 explain how the mass of a solute and the volume of the solution is related to the concentration of the solution and calculate concentration using the formula: concentration (g/dm³) = mass of solute (g) / volume (dm³) [code and wording seen in an RSC listing]
C5.3.2 (HT) explain how the concentration of a solution in mol/dm³ is related to the mass of the solute and the volume of the solution and calculate the molar concentration using the formula: concentration (mol/dm³) = number of moles of solute / volume (dm³) [code and wording seen; HT per docbrown]
C5.3.3–C5.3.5: exact wording NOT found in any reachable source. The deck teaches the content all sources agree is in this sub-topic (making a standard solution; titration with an indicator; calculating an unknown concentration from titration results). Codes are inferred from position: UNVERIFIED.
C5.3.6 describe and explain the procedure for a titration to give precise, accurate, valid and repeatable results [code and wording seen]
C5.3.7 evaluate the quality of data from titrations [code and wording seen]
HT: mol/dm³ (C5.3.2) and titration calculations in mol/dm³ (C5.3.5) are marked HT; the mole is Higher-only in J260 (C5.2). One docbrown extract marks C5.3.1 as HT too; most sources treat g/dm³ as both tiers, so it is taught to all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C5 has three sub-topics. J258 C5.2 "How do chemists find the composition of unknown samples?" (flame tests, ion tests, instrumental methods) is separate-science only (OCR scheme of work: 6 h separate / 0 h combined), so the later sub-topics are renumbered down by one: J258 C5.3 → J260 C5.2, J258 C5.4 → J260 C5.3. SPEC_C5_1.md reached the same list independently.
Overlap control: chromatography, distillation, crystallisation and purity are C5.1 (recap only: starter Q5). Relative formula mass, moles and reacting masses are C5.2 (recap only: starter Q6, and used as a tool on the HT slides). Acids, alkalis, pH and salts in detail are C6 (only the neutralisation needed for a titration is taught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Salt (sodium chloride) is the solute; water is the solvent; the mixture is a solution (C1 / KS3).
2. sodium + water → sodium hydroxide + hydrogen. Universal indicator turns purple / blue: the solution is alkaline (C2 group 1).
3. 2Na(s) + 2H₂O(l) → 2NaOH(aq) + H₂(g) (atom-balanced in node). (aq) = aqueous: dissolved in water (C3).
4. In solution the ions are free to move and carry charge; in the solid the ions are held in fixed positions in the lattice (C4.2).
5. A pure substance melts at a sharp, fixed temperature (matching the data book value); impurities lower the melting point and make it melt over a range. A formulation is a mixture designed as a useful product, with each component in a measured quantity (C5.1; recap only).
6. Mr = 23 + 16 + 1 = 40. Moles = 4.0 ÷ 40 = 0.10 mol (C5.2, HT;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400 cm³ = 0.400 dm³; 12 ÷ 0.400 = 30 g/dm³. 1.5 dm³ = 1500 cm³.
Common errors: dividing by the volume in cm³ (gives 0.03); using the volume of water added rather than the final volume of solution. The particle pictures show that concentration depends on both amount and volume (beakers 1 and 2 have the same concentration). All values asserted in node. Copper(II) sulfate solid: CLEAPSS HARMFUL if swallowed, IRRITANT to eyes and skin, hazardous to the aquatic environment (teacher note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50 cm³ = 0.050 dm³; 2.5 ÷ 0.050 = 50 g/dm³. 35 × 2.0 = 70 g.
The three flasks: 10 ÷ 0.250 = 20 ÷ 0.500 = 40 ÷ 1.000 = 40 g/dm³ (asserted). This proportional reasoning is the key idea in "explain how the mass of a solute and the volume of the solution is related to the concentration". Recovering salt by evaporation is C5.1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The mass / amount of solute dissolved in a given / unit volume of solution (1); g/dm³ (accept mol/dm³) (1).
Q2 [2]: 0.25 dm³ (1); 2500 cm³ (1).
Q3 [2]: 200 cm³ = 0.200 dm³ and 8.0 ÷ 0.200 (1); = 40 g/dm³ (1). Correct answer alone scores 2.
Q4 [2]: mass = concentration × volume = 120 × 0.50 (1); = 60 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0.050 ÷ 0.200 = 0.25 mol/dm³.
Diagram: 1 dot = 0.10 mol, so 1.0 mol/dm³ = 10 dots per dm³ and 0.40 mol/dm³ in 0.25 dm³ = 1 dot (dot density in proportion). moles = 0.100 × 0.0250 = 0.00250 mol (2.50 × 10⁻³ mol).
HT: C5.3.2 is Higher tier (the mole is Higher-only in J260). Mr and moles from mass are C5.2 (recap only). All values asserted in node; Mr values computed from the formulae with Ar Na 23, O 16, 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20 ÷ 40 = 0.50 mol/dm³. 0.20 × 56 = 11.2 g/dm³ (accept 11 g/dm³).
Mr values are calculated in node from the formulae (Ar: H 1, C 12, N 14, O 16, Na 23, S 32, Cl 35.5, K 39) and asserted: NaOH 40, KOH 56, HCl 36.5, HNO₃ 63, H₂SO₄ 98, Na₂CO₃ 106. HT: part of C5.3.2.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10 ÷ 40 (1); = 0.25 mol (1).
Q2 [2]: 0.020 ÷ 0.250 (1); = 0.080 mol/dm³ (1).
Q3 [2]: 0.50 × (20.0 ÷ 1000) (1); = 0.010 mol (1).
Q4 [2]: 0.20 × 36.5 (1); = 7.3 g/dm³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 that all of the weighed solute ends up in the flask; otherwise the concentration would be lower than calculated. 20 × 0.100 = 2.0 g.
Code C5.3.3 inferred (UNVERIFIED wording); docbrown says this topic covers "how to make a standard solution". Sodium carbonate (anhydrous) is used because it is pure and stable; sodium hydroxide absorbs water and CO₂ from the air, so its solutions are standardised by titration instead (GRADE 7–9 STRETCH). HT line asserted: 10.6 ÷ 106 = 0.100 mol/dm³; 0.100 × 0.250 = 0.0250 mol; × 106 = 2.65 g.
CLEAPSS: sodium carbonate (anhydrous solid) IRRITANT, causes serious eye irritation; its 0.1 mol/dm³ solution is low hazard. Wear eye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 the colour change at the end point is easy to see. Universal indicator changes gradually through many colours, so there is no sharp end point.
Code C5.3.4 inferred (UNVERIFIED wording, along the lines of "explain how the volumes of acid and alkali solutions that react with each other can be measured by titration using a suitable indicator"). Neutralisation equations atom- and charge-balanced in node. Acids, alkalis and pH in detail are C6 (recap later); only the neutralisation reaction needed here is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A solution of accurately known concentration (1); volumetric flask (1).
Q2 [2]: Some solute was left in the beaker / not all the solute reached the flask (1); so the concentration is lower than calculated (1).
Q3 [2]: (i) (volumetric) pipette (with a pipette filler) (1); (ii) burette (1).
Q4 [2]: Pink to colourless (1); so the end point is not overshot / to find the exact volume at which the colour changes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Water left in the burette would dilute the acid, so a larger volume would be needed (titre too big). Swirling mixes the acid and alkali so all the alkali reacts and the colour change is seen at the true end point.
PRACTICAL STATUS: OCR's combined-science chemistry PAGs are C1 electrolysis, C2 distillation, C3 separation, C4 salts and C5 rates (see SPEC_C5_1.md); titration is PAG 6 in separate chemistry (J258) only. The titration procedure is still a C5.3 statement (C5.3.6), so it is taught here as a SUGGESTED PRACTICAL.
CLEAPSS-style hazards: sodium hydroxide solution 0.1 mol/dm³ IRRITANT (causes skin and serious eye irritation; it is corrosive at 0.5 mol/dm³ and above); hydrochloric acid 0.1 mol/dm³ low hazard; phenolphthalein indicator (in ethanol) HIGHLY FLAMMABLE, keep away from flames. Wear eye protection; use a pipette filler (never mouth-pipette); fill the burette below eye level with a funnel, then remove the funnel; clamp the burette vertically.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23.85, 23.90 and 23.80 are concordant (range 0.10 cm³); mean = 71.55 ÷ 3 = 23.85 cm³.
Illustrative data (asserted in node): titres = final − initial = 23.10, 22.45, 22.55, 22.50; concordant range 0.10; mean 22.5 cm³. The pH curve is CALCULATED (not sketched) for 25.0 cm³ of 0.100 mol/dm³ NaOH with HCl of 0.111 mol/dm³: start pH 13.0, pH 7 at 22.50 cm³, pH 1.52 at 40 cm³. Plotted crosses are the readings at 0, 5, 10 … 40 cm³. Phenolphthalein colour range (pH 8.3–10) is shaded: it lies on the vertical part, so the colour change is within one drop of the end point.
RESULTS-TABLE RULES: readings and titres to 2 d.p. (ending in 0 or 5); units in the column headings.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moles HCl = 0.150 × 0.0200 = 0.00300 mol; ratio 1 : 1 so NaOH = 0.00300 mol; c = 0.00300 ÷ 0.0250 = 0.120 mol/dm³.
Practical result: c(HCl) = 0.00250 ÷ 0.02250 = 0.111111 → 0.111 mol/dm³ (3 s.f., matching the data); in g/dm³: × 36.5 = 4.06 g/dm³. All asserted in node; equations atom-balanced.
HT: code C5.3.5 inferred (UNVERIFIED wording). Foundation students should be able to calculate a titre and a mean titre and say the more acid needed, the more concentrated the alkali.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23.15 − 0.40 (1); = 22.75 cm³ (1).
Q2 [2]: Use the concordant titres 23.85, 23.90, 23.80 / ignore the rough (1); mean = 23.85 cm³ (1).
Q3 [2]: moles NaOH = 0.100 × 0.0250 = 0.00250 mol = moles HCl (1); 0.00250 ÷ 0.02000 = 0.125 mol/dm³ (1).
Q4 [2]: moles H₂SO₄ = 0.050 × 0.0200 = 0.0010 mol (1); × 2 = 0.0020 mol NaOH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0.10 ÷ 12.50 × 100 = 0.80%. The uncertainty (±0.10 cm³) is fixed, so a larger titre gives a smaller percentage uncertainty.
C5.3.6 "describe and explain the procedure for a titration to give precise, accurate, valid and repeatable results" (code and wording seen in an RSC listing). Percentages asserted in node: 0.44%, 0.24%, 2.0%. Class B 25 cm³ pipette tolerance ±0.06 cm³ (class A ±0.03 cm³). Burette scale divisions are 0.1 cm³; readings are estimated to the nearest 0.05 cm³.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23.10 cm³ is anomalous (more than 0.10 cm³ from the others). Mean = (22.40 + 22.35 + 22.45) ÷ 3 = 22.40 cm³.
C5.3.7 "evaluate the quality of data from titrations" (code and wording seen in a search extract). Data illustrative and asserted: A mean 22.50, range 0.10; B mean 22.37 (2 d.p.), range 1.10; C mean 23.40, range 0.10. Crosses plotted to scale (2.4 in per cm³). Language follows the AQA/OCR shared practical-skills vocabulary: precision, accuracy, repeatable, reproducible, random and systematic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Precise: repeat results are close together / small spread (1); accurate: close to the true value (1).
Q2 [2]: Titre uncertainty ±0.10 cm³ (two readings) and 0.10 ÷ 25.00 × 100 (1); = 0.40% (1). Accept 0.20% for 1 mark if one reading only is used.
Q3 [2]: The acid is diluted, so a larger titre is needed (1); so the calculated concentration of the alkali is too high (1).
Q4 [2]: A pipette has a much smaller (percentage) uncertainty / is more accurate (1); e.g. ±0.06 cm³ compared with ±0.5 cm³ for 25 cm³ / 0.24% compared with 2%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Molar concentration is HT. Mr and the mole are C5.2 terms (recap only); acid, alkali and pH in detail are C6.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[1]: (Volumetric) pipette (with a pipette filler) (1). Do not accept measuring cylinder.
(b) [2]: Pink to colourless (1); so the colour change / end point is easier to see (1).
(c) [2]: 20.05, 20.15, 20.10 / ignore the rough (1); mean = 20.10 cm³ (1).
(d) [2]: mass = 3.65 × (20.10 ÷ 1000) (1); = 0.0734 g (1).
(e) [3]: moles HCl = 0.100 × 0.02010 = 0.00201 mol (1); ratio 1 : 1 so moles NaOH = 0.00201 mol (1); c = 0.00201 ÷ 0.0250 = 0.0804 mol/dm³ (1).
(f) [3]: Any three, each with a reason (1 each): rinse burette with acid / pipette with alkali (so not diluted); add acid dropwise near the end point (so not overshot); swirl the flask (to mix); read the bottom of the meniscus at eye level (avoid parallax); repeat until concordant within 0.10 cm³ and find a mean (reduce effect of random error); fill the jet / remove the funnel (correct volume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g/dm³ AND mol/dm³ (both for 1 mark).
2 [2]: 150 cm³ = 0.150 dm³ and 6.0 ÷ 0.150 (1); = 40 g/dm³ (1).
3 [2]: Use the concordant titres / ignore the rough (1); (18.20 + 18.25 + 18.15) ÷ 3 = 18.20 cm³ (1).
4 [2]: Dropwise: so the end point is not overshot / the exact volume is found (1); swirl: to mix so all the alkali reacts / the colour change is seen at the true end point (1).
5 [2]: moles = 2.0 ÷ 40 = 0.050 mol (1); 0.050 ÷ 0.500 = 0.10 mol/dm³ (1).
6 [2]: 0.25 × 40 (1); = 10 g/dm³ (1).
7 [6]: OCR level-of-response mark scheme (6 marks). Read the whole answer, decide the level from the content descriptor, then the mark within the level from the quality of the line of reasoning. Use the indicative scientific points below.
Level 3 (5–6 marks): Describes a full, logically ordered titration method AND explains how at least two steps make the results precise or accurate. There is a well-developed line of reasoning which is clear and logically structured. The information presented is relevant and substantiated.
Level 2 (3–4 marks): Describes most steps of a titration method in a sensible order, with some reference to precision or accuracy. There is a line of reasoning presented with some structure. The information presented is relevant and supported by some evidence.
Level 1 (1–2 marks): Simple statements about using a burette, an indicator or adding acid to alkali; may be out of order. There is an attempt at a logical structure with a line of reasoning. The information is in the most part relevant.
0 marks: no response or no response worthy of credit.
Indicative scientific points may include:
 • Rinse the pipette with sodium hydroxide solution and the burette with the hydrochloric acid, so neither solution is diluted by water.
 • Use a pipette and filler to transfer 25.0 cm³ of the standard NaOH into a conical flask; add a few drops of indicator (phenolphthalein or methyl orange); place on a white tile.
 • Fill the burette with acid using a funnel, below eye level; remove the funnel; fill the jet; record the initial reading at eye level, bottom of the meniscus, to 0.05 cm³.
 • Do a rough titration first; then add acid quickly to about 1 cm³ before the rough value, then dropwise, swirling, until the indicator just changes colour (end point).
 • Record the final reading; titre = final − initial; repeat until at least two (three) titres are concordant within 0.10 cm³; calculate the mean of the concordant titres.
 • Precision from repeats and concordant results; accuracy from pipette / burette (low uncertainty), standard solution of known concentration, avoiding parallax. Safety: eye protection; NaOH irritant.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C5.3  Concentration</a:t>
            </a:r>
            <a:endParaRPr lang="en-US" sz="4000" dirty="0"/>
          </a:p>
        </p:txBody>
      </p:sp>
      <p:sp>
        <p:nvSpPr>
          <p:cNvPr id="7" name="Text 5"/>
          <p:cNvSpPr/>
          <p:nvPr/>
        </p:nvSpPr>
        <p:spPr>
          <a:xfrm>
            <a:off x="731520" y="2331720"/>
            <a:ext cx="6675120" cy="603504"/>
          </a:xfrm>
          <a:prstGeom prst="rect">
            <a:avLst/>
          </a:prstGeom>
          <a:noFill/>
          <a:ln/>
        </p:spPr>
        <p:txBody>
          <a:bodyPr wrap="square" lIns="0" tIns="0" rIns="0" bIns="0" rtlCol="0" anchor="t"/>
          <a:lstStyle/>
          <a:p>
            <a:pPr indent="0" marL="0">
              <a:buNone/>
            </a:pPr>
            <a:r>
              <a:rPr lang="en-US" sz="1500" i="1" dirty="0">
                <a:solidFill>
                  <a:srgbClr val="DCCDF3"/>
                </a:solidFill>
                <a:latin typeface="Georgia" pitchFamily="34" charset="0"/>
                <a:ea typeface="Georgia" pitchFamily="34" charset="-122"/>
                <a:cs typeface="Georgia" pitchFamily="34" charset="-120"/>
              </a:rPr>
              <a:t>How are the amounts of chemicals in solution measured?</a:t>
            </a:r>
            <a:endParaRPr lang="en-US" sz="15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Concentration  •  Standard solution  •  Titration  •  Concordant titres  •  Uncertainty</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C5.3.1–C5.3.7 • concentration in g/dm³ and mol/dm³, standard solutions, titration</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mol/dm³ and titration calculations marked HT</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Suggested practical: acid–alkali titration • precision, accuracy and uncertainty</a:t>
            </a:r>
            <a:endParaRPr lang="en-US" sz="1400" dirty="0"/>
          </a:p>
        </p:txBody>
      </p:sp>
      <p:sp>
        <p:nvSpPr>
          <p:cNvPr id="19" name="Shape 17"/>
          <p:cNvSpPr/>
          <p:nvPr/>
        </p:nvSpPr>
        <p:spPr>
          <a:xfrm>
            <a:off x="731520" y="5769864"/>
            <a:ext cx="4279392"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279392"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3 of 3 in Chapter C5: Chemical analysis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C5.3 how are the amounts of chemicals in solution measured?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C5.3.1–C5.3.7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C5.3.1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mass of solute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volume of solution</a:t>
            </a:r>
            <a:r>
              <a:rPr lang="en-US" sz="1200" dirty="0">
                <a:solidFill>
                  <a:srgbClr val="262B3A"/>
                </a:solidFill>
                <a:latin typeface="Calibri" pitchFamily="34" charset="0"/>
                <a:ea typeface="Calibri" pitchFamily="34" charset="-122"/>
                <a:cs typeface="Calibri" pitchFamily="34" charset="-120"/>
              </a:rPr>
              <a:t> give </a:t>
            </a:r>
            <a:r>
              <a:rPr lang="en-US" sz="1200" b="1" dirty="0">
                <a:solidFill>
                  <a:srgbClr val="262B3A"/>
                </a:solidFill>
                <a:latin typeface="Calibri" pitchFamily="34" charset="0"/>
                <a:ea typeface="Calibri" pitchFamily="34" charset="-122"/>
                <a:cs typeface="Calibri" pitchFamily="34" charset="-120"/>
              </a:rPr>
              <a:t>concentration in g/dm³</a:t>
            </a:r>
            <a:r>
              <a:rPr lang="en-US" sz="1200" dirty="0">
                <a:solidFill>
                  <a:srgbClr val="262B3A"/>
                </a:solidFill>
                <a:latin typeface="Calibri" pitchFamily="34" charset="0"/>
                <a:ea typeface="Calibri" pitchFamily="34" charset="-122"/>
                <a:cs typeface="Calibri" pitchFamily="34" charset="-120"/>
              </a:rPr>
              <a:t>; calculate it.</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C5.3.2   </a:t>
            </a:r>
            <a:r>
              <a:rPr lang="en-US" sz="1200" dirty="0">
                <a:solidFill>
                  <a:srgbClr val="262B3A"/>
                </a:solidFill>
                <a:latin typeface="Calibri" pitchFamily="34" charset="0"/>
                <a:ea typeface="Calibri" pitchFamily="34" charset="-122"/>
                <a:cs typeface="Calibri" pitchFamily="34" charset="-120"/>
              </a:rPr>
              <a:t>Calculate </a:t>
            </a:r>
            <a:r>
              <a:rPr lang="en-US" sz="1200" b="1" dirty="0">
                <a:solidFill>
                  <a:srgbClr val="262B3A"/>
                </a:solidFill>
                <a:latin typeface="Calibri" pitchFamily="34" charset="0"/>
                <a:ea typeface="Calibri" pitchFamily="34" charset="-122"/>
                <a:cs typeface="Calibri" pitchFamily="34" charset="-120"/>
              </a:rPr>
              <a:t>concentration in mol/dm³</a:t>
            </a:r>
            <a:r>
              <a:rPr lang="en-US" sz="1200" dirty="0">
                <a:solidFill>
                  <a:srgbClr val="262B3A"/>
                </a:solidFill>
                <a:latin typeface="Calibri" pitchFamily="34" charset="0"/>
                <a:ea typeface="Calibri" pitchFamily="34" charset="-122"/>
                <a:cs typeface="Calibri" pitchFamily="34" charset="-120"/>
              </a:rPr>
              <a:t> from moles (or mass) and volume; convert g/dm³ ⇄ mol/dm³.</a:t>
            </a:r>
            <a:endParaRPr lang="en-US" sz="1100" dirty="0"/>
          </a:p>
        </p:txBody>
      </p:sp>
      <p:sp>
        <p:nvSpPr>
          <p:cNvPr id="14" name="Shape 12"/>
          <p:cNvSpPr/>
          <p:nvPr/>
        </p:nvSpPr>
        <p:spPr>
          <a:xfrm>
            <a:off x="5257800" y="2633472"/>
            <a:ext cx="411480" cy="274320"/>
          </a:xfrm>
          <a:prstGeom prst="roundRect">
            <a:avLst>
              <a:gd name="adj" fmla="val 50000"/>
            </a:avLst>
          </a:prstGeom>
          <a:solidFill>
            <a:srgbClr val="C8414C"/>
          </a:solidFill>
          <a:ln w="12700">
            <a:solidFill>
              <a:srgbClr val="C8414C"/>
            </a:solidFill>
            <a:prstDash val="solid"/>
          </a:ln>
        </p:spPr>
      </p:sp>
      <p:sp>
        <p:nvSpPr>
          <p:cNvPr id="15" name="Text 13"/>
          <p:cNvSpPr/>
          <p:nvPr/>
        </p:nvSpPr>
        <p:spPr>
          <a:xfrm>
            <a:off x="525780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6" name="Shape 14"/>
          <p:cNvSpPr/>
          <p:nvPr/>
        </p:nvSpPr>
        <p:spPr>
          <a:xfrm>
            <a:off x="502920" y="3063240"/>
            <a:ext cx="457200" cy="457200"/>
          </a:xfrm>
          <a:prstGeom prst="ellipse">
            <a:avLst/>
          </a:prstGeom>
          <a:solidFill>
            <a:srgbClr val="6A3FA0"/>
          </a:solidFill>
          <a:ln w="12700">
            <a:solidFill>
              <a:srgbClr val="6A3FA0"/>
            </a:solidFill>
            <a:prstDash val="solid"/>
          </a:ln>
        </p:spPr>
      </p:sp>
      <p:sp>
        <p:nvSpPr>
          <p:cNvPr id="17" name="Text 15"/>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8" name="Text 16"/>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C5.3.3   </a:t>
            </a:r>
            <a:r>
              <a:rPr lang="en-US" sz="1200" dirty="0">
                <a:solidFill>
                  <a:srgbClr val="262B3A"/>
                </a:solidFill>
                <a:latin typeface="Calibri" pitchFamily="34" charset="0"/>
                <a:ea typeface="Calibri" pitchFamily="34" charset="-122"/>
                <a:cs typeface="Calibri" pitchFamily="34" charset="-120"/>
              </a:rPr>
              <a:t>Describe how to make a </a:t>
            </a:r>
            <a:r>
              <a:rPr lang="en-US" sz="1200" b="1" dirty="0">
                <a:solidFill>
                  <a:srgbClr val="262B3A"/>
                </a:solidFill>
                <a:latin typeface="Calibri" pitchFamily="34" charset="0"/>
                <a:ea typeface="Calibri" pitchFamily="34" charset="-122"/>
                <a:cs typeface="Calibri" pitchFamily="34" charset="-120"/>
              </a:rPr>
              <a:t>standard solution</a:t>
            </a:r>
            <a:r>
              <a:rPr lang="en-US" sz="1200" dirty="0">
                <a:solidFill>
                  <a:srgbClr val="262B3A"/>
                </a:solidFill>
                <a:latin typeface="Calibri" pitchFamily="34" charset="0"/>
                <a:ea typeface="Calibri" pitchFamily="34" charset="-122"/>
                <a:cs typeface="Calibri" pitchFamily="34" charset="-120"/>
              </a:rPr>
              <a:t> of accurately known concentration.</a:t>
            </a:r>
            <a:endParaRPr lang="en-US" sz="1100" dirty="0"/>
          </a:p>
        </p:txBody>
      </p:sp>
      <p:sp>
        <p:nvSpPr>
          <p:cNvPr id="19" name="Shape 17"/>
          <p:cNvSpPr/>
          <p:nvPr/>
        </p:nvSpPr>
        <p:spPr>
          <a:xfrm>
            <a:off x="502920" y="3931920"/>
            <a:ext cx="457200" cy="457200"/>
          </a:xfrm>
          <a:prstGeom prst="ellipse">
            <a:avLst/>
          </a:prstGeom>
          <a:solidFill>
            <a:srgbClr val="6A3FA0"/>
          </a:solidFill>
          <a:ln w="12700">
            <a:solidFill>
              <a:srgbClr val="6A3FA0"/>
            </a:solidFill>
            <a:prstDash val="solid"/>
          </a:ln>
        </p:spPr>
      </p:sp>
      <p:sp>
        <p:nvSpPr>
          <p:cNvPr id="20" name="Text 18"/>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1" name="Text 19"/>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C5.3.4   </a:t>
            </a:r>
            <a:r>
              <a:rPr lang="en-US" sz="1200" dirty="0">
                <a:solidFill>
                  <a:srgbClr val="262B3A"/>
                </a:solidFill>
                <a:latin typeface="Calibri" pitchFamily="34" charset="0"/>
                <a:ea typeface="Calibri" pitchFamily="34" charset="-122"/>
                <a:cs typeface="Calibri" pitchFamily="34" charset="-120"/>
              </a:rPr>
              <a:t>Describe how a </a:t>
            </a:r>
            <a:r>
              <a:rPr lang="en-US" sz="1200" b="1" dirty="0">
                <a:solidFill>
                  <a:srgbClr val="262B3A"/>
                </a:solidFill>
                <a:latin typeface="Calibri" pitchFamily="34" charset="0"/>
                <a:ea typeface="Calibri" pitchFamily="34" charset="-122"/>
                <a:cs typeface="Calibri" pitchFamily="34" charset="-120"/>
              </a:rPr>
              <a:t>titration</a:t>
            </a:r>
            <a:r>
              <a:rPr lang="en-US" sz="1200" dirty="0">
                <a:solidFill>
                  <a:srgbClr val="262B3A"/>
                </a:solidFill>
                <a:latin typeface="Calibri" pitchFamily="34" charset="0"/>
                <a:ea typeface="Calibri" pitchFamily="34" charset="-122"/>
                <a:cs typeface="Calibri" pitchFamily="34" charset="-120"/>
              </a:rPr>
              <a:t> with an </a:t>
            </a:r>
            <a:r>
              <a:rPr lang="en-US" sz="1200" b="1" dirty="0">
                <a:solidFill>
                  <a:srgbClr val="262B3A"/>
                </a:solidFill>
                <a:latin typeface="Calibri" pitchFamily="34" charset="0"/>
                <a:ea typeface="Calibri" pitchFamily="34" charset="-122"/>
                <a:cs typeface="Calibri" pitchFamily="34" charset="-120"/>
              </a:rPr>
              <a:t>indicator</a:t>
            </a:r>
            <a:r>
              <a:rPr lang="en-US" sz="1200" dirty="0">
                <a:solidFill>
                  <a:srgbClr val="262B3A"/>
                </a:solidFill>
                <a:latin typeface="Calibri" pitchFamily="34" charset="0"/>
                <a:ea typeface="Calibri" pitchFamily="34" charset="-122"/>
                <a:cs typeface="Calibri" pitchFamily="34" charset="-120"/>
              </a:rPr>
              <a:t> measures the volumes of acid and alkali that react.</a:t>
            </a:r>
            <a:endParaRPr lang="en-US" sz="1100" dirty="0"/>
          </a:p>
        </p:txBody>
      </p:sp>
      <p:sp>
        <p:nvSpPr>
          <p:cNvPr id="22" name="Shape 20"/>
          <p:cNvSpPr/>
          <p:nvPr/>
        </p:nvSpPr>
        <p:spPr>
          <a:xfrm>
            <a:off x="6263640" y="1325880"/>
            <a:ext cx="457200" cy="457200"/>
          </a:xfrm>
          <a:prstGeom prst="ellipse">
            <a:avLst/>
          </a:prstGeom>
          <a:solidFill>
            <a:srgbClr val="6A3FA0"/>
          </a:solidFill>
          <a:ln w="12700">
            <a:solidFill>
              <a:srgbClr val="6A3FA0"/>
            </a:solidFill>
            <a:prstDash val="solid"/>
          </a:ln>
        </p:spPr>
      </p:sp>
      <p:sp>
        <p:nvSpPr>
          <p:cNvPr id="23" name="Text 21"/>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4" name="Text 22"/>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C5.3.5   </a:t>
            </a:r>
            <a:r>
              <a:rPr lang="en-US" sz="1200" dirty="0">
                <a:solidFill>
                  <a:srgbClr val="262B3A"/>
                </a:solidFill>
                <a:latin typeface="Calibri" pitchFamily="34" charset="0"/>
                <a:ea typeface="Calibri" pitchFamily="34" charset="-122"/>
                <a:cs typeface="Calibri" pitchFamily="34" charset="-120"/>
              </a:rPr>
              <a:t>Calculate an </a:t>
            </a:r>
            <a:r>
              <a:rPr lang="en-US" sz="1200" b="1" dirty="0">
                <a:solidFill>
                  <a:srgbClr val="262B3A"/>
                </a:solidFill>
                <a:latin typeface="Calibri" pitchFamily="34" charset="0"/>
                <a:ea typeface="Calibri" pitchFamily="34" charset="-122"/>
                <a:cs typeface="Calibri" pitchFamily="34" charset="-120"/>
              </a:rPr>
              <a:t>unknown concentration</a:t>
            </a:r>
            <a:r>
              <a:rPr lang="en-US" sz="1200" dirty="0">
                <a:solidFill>
                  <a:srgbClr val="262B3A"/>
                </a:solidFill>
                <a:latin typeface="Calibri" pitchFamily="34" charset="0"/>
                <a:ea typeface="Calibri" pitchFamily="34" charset="-122"/>
                <a:cs typeface="Calibri" pitchFamily="34" charset="-120"/>
              </a:rPr>
              <a:t> from titration results and the balanced equation.</a:t>
            </a:r>
            <a:endParaRPr lang="en-US" sz="1100" dirty="0"/>
          </a:p>
        </p:txBody>
      </p:sp>
      <p:sp>
        <p:nvSpPr>
          <p:cNvPr id="25" name="Shape 23"/>
          <p:cNvSpPr/>
          <p:nvPr/>
        </p:nvSpPr>
        <p:spPr>
          <a:xfrm>
            <a:off x="11018520" y="1764792"/>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018520" y="176479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Shape 25"/>
          <p:cNvSpPr/>
          <p:nvPr/>
        </p:nvSpPr>
        <p:spPr>
          <a:xfrm>
            <a:off x="6263640" y="2194560"/>
            <a:ext cx="457200" cy="457200"/>
          </a:xfrm>
          <a:prstGeom prst="ellipse">
            <a:avLst/>
          </a:prstGeom>
          <a:solidFill>
            <a:srgbClr val="6A3FA0"/>
          </a:solidFill>
          <a:ln w="12700">
            <a:solidFill>
              <a:srgbClr val="6A3FA0"/>
            </a:solidFill>
            <a:prstDash val="solid"/>
          </a:ln>
        </p:spPr>
      </p:sp>
      <p:sp>
        <p:nvSpPr>
          <p:cNvPr id="28" name="Text 26"/>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9" name="Text 27"/>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C5.3.6   </a:t>
            </a:r>
            <a:r>
              <a:rPr lang="en-US" sz="1200" dirty="0">
                <a:solidFill>
                  <a:srgbClr val="262B3A"/>
                </a:solidFill>
                <a:latin typeface="Calibri" pitchFamily="34" charset="0"/>
                <a:ea typeface="Calibri" pitchFamily="34" charset="-122"/>
                <a:cs typeface="Calibri" pitchFamily="34" charset="-120"/>
              </a:rPr>
              <a:t>Describe and explain a titration procedure that gives </a:t>
            </a:r>
            <a:r>
              <a:rPr lang="en-US" sz="1200" b="1" dirty="0">
                <a:solidFill>
                  <a:srgbClr val="262B3A"/>
                </a:solidFill>
                <a:latin typeface="Calibri" pitchFamily="34" charset="0"/>
                <a:ea typeface="Calibri" pitchFamily="34" charset="-122"/>
                <a:cs typeface="Calibri" pitchFamily="34" charset="-120"/>
              </a:rPr>
              <a:t>precise, accurate, valid, repeatable</a:t>
            </a:r>
            <a:r>
              <a:rPr lang="en-US" sz="1200" dirty="0">
                <a:solidFill>
                  <a:srgbClr val="262B3A"/>
                </a:solidFill>
                <a:latin typeface="Calibri" pitchFamily="34" charset="0"/>
                <a:ea typeface="Calibri" pitchFamily="34" charset="-122"/>
                <a:cs typeface="Calibri" pitchFamily="34" charset="-120"/>
              </a:rPr>
              <a:t> results.</a:t>
            </a:r>
            <a:endParaRPr lang="en-US" sz="1100" dirty="0"/>
          </a:p>
        </p:txBody>
      </p:sp>
      <p:sp>
        <p:nvSpPr>
          <p:cNvPr id="30" name="Shape 28"/>
          <p:cNvSpPr/>
          <p:nvPr/>
        </p:nvSpPr>
        <p:spPr>
          <a:xfrm>
            <a:off x="6263640" y="3063240"/>
            <a:ext cx="457200" cy="457200"/>
          </a:xfrm>
          <a:prstGeom prst="ellipse">
            <a:avLst/>
          </a:prstGeom>
          <a:solidFill>
            <a:srgbClr val="6A3FA0"/>
          </a:solidFill>
          <a:ln w="12700">
            <a:solidFill>
              <a:srgbClr val="6A3FA0"/>
            </a:solidFill>
            <a:prstDash val="solid"/>
          </a:ln>
        </p:spPr>
      </p:sp>
      <p:sp>
        <p:nvSpPr>
          <p:cNvPr id="31" name="Text 29"/>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2" name="Text 30"/>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C5.3.7   </a:t>
            </a:r>
            <a:r>
              <a:rPr lang="en-US" sz="1200" b="1" dirty="0">
                <a:solidFill>
                  <a:srgbClr val="262B3A"/>
                </a:solidFill>
                <a:latin typeface="Calibri" pitchFamily="34" charset="0"/>
                <a:ea typeface="Calibri" pitchFamily="34" charset="-122"/>
                <a:cs typeface="Calibri" pitchFamily="34" charset="-120"/>
              </a:rPr>
              <a:t>Evaluate the quality of data</a:t>
            </a:r>
            <a:r>
              <a:rPr lang="en-US" sz="1200" dirty="0">
                <a:solidFill>
                  <a:srgbClr val="262B3A"/>
                </a:solidFill>
                <a:latin typeface="Calibri" pitchFamily="34" charset="0"/>
                <a:ea typeface="Calibri" pitchFamily="34" charset="-122"/>
                <a:cs typeface="Calibri" pitchFamily="34" charset="-120"/>
              </a:rPr>
              <a:t> from titrations: concordant titres, uncertainty, errors.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C5 Chemical analysis • C5.3 is Part 3 of 3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188720"/>
            <a:ext cx="2103120" cy="640080"/>
          </a:xfrm>
          <a:prstGeom prst="roundRect">
            <a:avLst>
              <a:gd name="adj" fmla="val 8571"/>
            </a:avLst>
          </a:prstGeom>
          <a:solidFill>
            <a:srgbClr val="2A1F3D"/>
          </a:solidFill>
          <a:ln/>
        </p:spPr>
      </p:sp>
      <p:sp>
        <p:nvSpPr>
          <p:cNvPr id="9" name="Text 7"/>
          <p:cNvSpPr/>
          <p:nvPr/>
        </p:nvSpPr>
        <p:spPr>
          <a:xfrm>
            <a:off x="411480" y="1188720"/>
            <a:ext cx="210312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C5.3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Amounts in solution</a:t>
            </a:r>
            <a:endParaRPr lang="en-US" sz="1100" dirty="0"/>
          </a:p>
        </p:txBody>
      </p:sp>
      <p:sp>
        <p:nvSpPr>
          <p:cNvPr id="10" name="Shape 8"/>
          <p:cNvSpPr/>
          <p:nvPr/>
        </p:nvSpPr>
        <p:spPr>
          <a:xfrm>
            <a:off x="914400" y="1828800"/>
            <a:ext cx="91" cy="3904488"/>
          </a:xfrm>
          <a:prstGeom prst="line">
            <a:avLst/>
          </a:prstGeom>
          <a:noFill/>
          <a:ln w="19050">
            <a:solidFill>
              <a:srgbClr val="6A3FA0"/>
            </a:solidFill>
            <a:prstDash val="solid"/>
          </a:ln>
        </p:spPr>
      </p:sp>
      <p:sp>
        <p:nvSpPr>
          <p:cNvPr id="11" name="Shape 9"/>
          <p:cNvSpPr/>
          <p:nvPr/>
        </p:nvSpPr>
        <p:spPr>
          <a:xfrm>
            <a:off x="914400" y="2221992"/>
            <a:ext cx="411480" cy="91"/>
          </a:xfrm>
          <a:prstGeom prst="line">
            <a:avLst/>
          </a:prstGeom>
          <a:noFill/>
          <a:ln w="19050">
            <a:solidFill>
              <a:srgbClr val="6A3FA0"/>
            </a:solidFill>
            <a:prstDash val="solid"/>
          </a:ln>
        </p:spPr>
      </p:sp>
      <p:sp>
        <p:nvSpPr>
          <p:cNvPr id="12" name="Shape 10"/>
          <p:cNvSpPr/>
          <p:nvPr/>
        </p:nvSpPr>
        <p:spPr>
          <a:xfrm>
            <a:off x="1325880" y="1965960"/>
            <a:ext cx="5120640" cy="512064"/>
          </a:xfrm>
          <a:prstGeom prst="roundRect">
            <a:avLst>
              <a:gd name="adj" fmla="val 8929"/>
            </a:avLst>
          </a:prstGeom>
          <a:solidFill>
            <a:srgbClr val="F8F5FC"/>
          </a:solidFill>
          <a:ln w="12700">
            <a:solidFill>
              <a:srgbClr val="DDD3EC"/>
            </a:solidFill>
            <a:prstDash val="solid"/>
          </a:ln>
        </p:spPr>
      </p:sp>
      <p:sp>
        <p:nvSpPr>
          <p:cNvPr id="13" name="Text 11"/>
          <p:cNvSpPr/>
          <p:nvPr/>
        </p:nvSpPr>
        <p:spPr>
          <a:xfrm>
            <a:off x="1463040" y="1965960"/>
            <a:ext cx="3749040" cy="512064"/>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C5.3.1   </a:t>
            </a:r>
            <a:r>
              <a:rPr lang="en-US" sz="1100" dirty="0">
                <a:solidFill>
                  <a:srgbClr val="262B3A"/>
                </a:solidFill>
                <a:latin typeface="Calibri" pitchFamily="34" charset="0"/>
                <a:ea typeface="Calibri" pitchFamily="34" charset="-122"/>
                <a:cs typeface="Calibri" pitchFamily="34" charset="-120"/>
              </a:rPr>
              <a:t>Concentration in g/dm³</a:t>
            </a:r>
            <a:endParaRPr lang="en-US" sz="1100" dirty="0"/>
          </a:p>
        </p:txBody>
      </p:sp>
      <p:sp>
        <p:nvSpPr>
          <p:cNvPr id="14" name="Shape 12"/>
          <p:cNvSpPr/>
          <p:nvPr/>
        </p:nvSpPr>
        <p:spPr>
          <a:xfrm>
            <a:off x="5257800" y="2084832"/>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08483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2807208"/>
            <a:ext cx="411480" cy="91"/>
          </a:xfrm>
          <a:prstGeom prst="line">
            <a:avLst/>
          </a:prstGeom>
          <a:noFill/>
          <a:ln w="19050">
            <a:solidFill>
              <a:srgbClr val="6A3FA0"/>
            </a:solidFill>
            <a:prstDash val="solid"/>
          </a:ln>
        </p:spPr>
      </p:sp>
      <p:sp>
        <p:nvSpPr>
          <p:cNvPr id="17" name="Shape 15"/>
          <p:cNvSpPr/>
          <p:nvPr/>
        </p:nvSpPr>
        <p:spPr>
          <a:xfrm>
            <a:off x="1325880" y="2551176"/>
            <a:ext cx="5120640" cy="512064"/>
          </a:xfrm>
          <a:prstGeom prst="roundRect">
            <a:avLst>
              <a:gd name="adj" fmla="val 8929"/>
            </a:avLst>
          </a:prstGeom>
          <a:solidFill>
            <a:srgbClr val="F8F5FC"/>
          </a:solidFill>
          <a:ln w="12700">
            <a:solidFill>
              <a:srgbClr val="DDD3EC"/>
            </a:solidFill>
            <a:prstDash val="solid"/>
          </a:ln>
        </p:spPr>
      </p:sp>
      <p:sp>
        <p:nvSpPr>
          <p:cNvPr id="18" name="Text 16"/>
          <p:cNvSpPr/>
          <p:nvPr/>
        </p:nvSpPr>
        <p:spPr>
          <a:xfrm>
            <a:off x="1463040" y="2551176"/>
            <a:ext cx="3749040" cy="512064"/>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C5.3.2   </a:t>
            </a:r>
            <a:r>
              <a:rPr lang="en-US" sz="1100" dirty="0">
                <a:solidFill>
                  <a:srgbClr val="262B3A"/>
                </a:solidFill>
                <a:latin typeface="Calibri" pitchFamily="34" charset="0"/>
                <a:ea typeface="Calibri" pitchFamily="34" charset="-122"/>
                <a:cs typeface="Calibri" pitchFamily="34" charset="-120"/>
              </a:rPr>
              <a:t>Concentration in mol/dm³; converting</a:t>
            </a:r>
            <a:endParaRPr lang="en-US" sz="1100" dirty="0"/>
          </a:p>
        </p:txBody>
      </p:sp>
      <p:sp>
        <p:nvSpPr>
          <p:cNvPr id="19" name="Shape 17"/>
          <p:cNvSpPr/>
          <p:nvPr/>
        </p:nvSpPr>
        <p:spPr>
          <a:xfrm>
            <a:off x="5257800" y="2670048"/>
            <a:ext cx="1097280" cy="274320"/>
          </a:xfrm>
          <a:prstGeom prst="roundRect">
            <a:avLst>
              <a:gd name="adj" fmla="val 50000"/>
            </a:avLst>
          </a:prstGeom>
          <a:solidFill>
            <a:srgbClr val="C8414C"/>
          </a:solidFill>
          <a:ln w="12700">
            <a:solidFill>
              <a:srgbClr val="C8414C"/>
            </a:solidFill>
            <a:prstDash val="solid"/>
          </a:ln>
        </p:spPr>
      </p:sp>
      <p:sp>
        <p:nvSpPr>
          <p:cNvPr id="20" name="Text 18"/>
          <p:cNvSpPr/>
          <p:nvPr/>
        </p:nvSpPr>
        <p:spPr>
          <a:xfrm>
            <a:off x="5257800" y="267004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1" name="Shape 19"/>
          <p:cNvSpPr/>
          <p:nvPr/>
        </p:nvSpPr>
        <p:spPr>
          <a:xfrm>
            <a:off x="914400" y="3392424"/>
            <a:ext cx="411480" cy="91"/>
          </a:xfrm>
          <a:prstGeom prst="line">
            <a:avLst/>
          </a:prstGeom>
          <a:noFill/>
          <a:ln w="19050">
            <a:solidFill>
              <a:srgbClr val="6A3FA0"/>
            </a:solidFill>
            <a:prstDash val="solid"/>
          </a:ln>
        </p:spPr>
      </p:sp>
      <p:sp>
        <p:nvSpPr>
          <p:cNvPr id="22" name="Shape 20"/>
          <p:cNvSpPr/>
          <p:nvPr/>
        </p:nvSpPr>
        <p:spPr>
          <a:xfrm>
            <a:off x="1325880" y="3136392"/>
            <a:ext cx="5120640" cy="512064"/>
          </a:xfrm>
          <a:prstGeom prst="roundRect">
            <a:avLst>
              <a:gd name="adj" fmla="val 8929"/>
            </a:avLst>
          </a:prstGeom>
          <a:solidFill>
            <a:srgbClr val="F8F5FC"/>
          </a:solidFill>
          <a:ln w="12700">
            <a:solidFill>
              <a:srgbClr val="DDD3EC"/>
            </a:solidFill>
            <a:prstDash val="solid"/>
          </a:ln>
        </p:spPr>
      </p:sp>
      <p:sp>
        <p:nvSpPr>
          <p:cNvPr id="23" name="Text 21"/>
          <p:cNvSpPr/>
          <p:nvPr/>
        </p:nvSpPr>
        <p:spPr>
          <a:xfrm>
            <a:off x="1463040" y="3136392"/>
            <a:ext cx="3749040" cy="512064"/>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C5.3.3   </a:t>
            </a:r>
            <a:r>
              <a:rPr lang="en-US" sz="1100" dirty="0">
                <a:solidFill>
                  <a:srgbClr val="262B3A"/>
                </a:solidFill>
                <a:latin typeface="Calibri" pitchFamily="34" charset="0"/>
                <a:ea typeface="Calibri" pitchFamily="34" charset="-122"/>
                <a:cs typeface="Calibri" pitchFamily="34" charset="-120"/>
              </a:rPr>
              <a:t>Making a standard solution</a:t>
            </a:r>
            <a:endParaRPr lang="en-US" sz="1100" dirty="0"/>
          </a:p>
        </p:txBody>
      </p:sp>
      <p:sp>
        <p:nvSpPr>
          <p:cNvPr id="24" name="Shape 22"/>
          <p:cNvSpPr/>
          <p:nvPr/>
        </p:nvSpPr>
        <p:spPr>
          <a:xfrm>
            <a:off x="5257800" y="3255264"/>
            <a:ext cx="1097280"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5780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3977640"/>
            <a:ext cx="411480" cy="91"/>
          </a:xfrm>
          <a:prstGeom prst="line">
            <a:avLst/>
          </a:prstGeom>
          <a:noFill/>
          <a:ln w="19050">
            <a:solidFill>
              <a:srgbClr val="6A3FA0"/>
            </a:solidFill>
            <a:prstDash val="solid"/>
          </a:ln>
        </p:spPr>
      </p:sp>
      <p:sp>
        <p:nvSpPr>
          <p:cNvPr id="27" name="Shape 25"/>
          <p:cNvSpPr/>
          <p:nvPr/>
        </p:nvSpPr>
        <p:spPr>
          <a:xfrm>
            <a:off x="1325880" y="3721608"/>
            <a:ext cx="5120640" cy="512064"/>
          </a:xfrm>
          <a:prstGeom prst="roundRect">
            <a:avLst>
              <a:gd name="adj" fmla="val 8929"/>
            </a:avLst>
          </a:prstGeom>
          <a:solidFill>
            <a:srgbClr val="F8F5FC"/>
          </a:solidFill>
          <a:ln w="12700">
            <a:solidFill>
              <a:srgbClr val="DDD3EC"/>
            </a:solidFill>
            <a:prstDash val="solid"/>
          </a:ln>
        </p:spPr>
      </p:sp>
      <p:sp>
        <p:nvSpPr>
          <p:cNvPr id="28" name="Text 26"/>
          <p:cNvSpPr/>
          <p:nvPr/>
        </p:nvSpPr>
        <p:spPr>
          <a:xfrm>
            <a:off x="1463040" y="3721608"/>
            <a:ext cx="3749040" cy="512064"/>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C5.3.4   </a:t>
            </a:r>
            <a:r>
              <a:rPr lang="en-US" sz="1100" dirty="0">
                <a:solidFill>
                  <a:srgbClr val="262B3A"/>
                </a:solidFill>
                <a:latin typeface="Calibri" pitchFamily="34" charset="0"/>
                <a:ea typeface="Calibri" pitchFamily="34" charset="-122"/>
                <a:cs typeface="Calibri" pitchFamily="34" charset="-120"/>
              </a:rPr>
              <a:t>Titration: apparatus and indicators</a:t>
            </a:r>
            <a:endParaRPr lang="en-US" sz="1100" dirty="0"/>
          </a:p>
        </p:txBody>
      </p:sp>
      <p:sp>
        <p:nvSpPr>
          <p:cNvPr id="29" name="Shape 27"/>
          <p:cNvSpPr/>
          <p:nvPr/>
        </p:nvSpPr>
        <p:spPr>
          <a:xfrm>
            <a:off x="5257800" y="3840480"/>
            <a:ext cx="1097280" cy="274320"/>
          </a:xfrm>
          <a:prstGeom prst="roundRect">
            <a:avLst>
              <a:gd name="adj" fmla="val 50000"/>
            </a:avLst>
          </a:prstGeom>
          <a:solidFill>
            <a:srgbClr val="6A3FA0"/>
          </a:solidFill>
          <a:ln w="12700">
            <a:solidFill>
              <a:srgbClr val="6A3FA0"/>
            </a:solidFill>
            <a:prstDash val="solid"/>
          </a:ln>
        </p:spPr>
      </p:sp>
      <p:sp>
        <p:nvSpPr>
          <p:cNvPr id="30" name="Text 28"/>
          <p:cNvSpPr/>
          <p:nvPr/>
        </p:nvSpPr>
        <p:spPr>
          <a:xfrm>
            <a:off x="5257800" y="384048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4562856"/>
            <a:ext cx="411480" cy="91"/>
          </a:xfrm>
          <a:prstGeom prst="line">
            <a:avLst/>
          </a:prstGeom>
          <a:noFill/>
          <a:ln w="19050">
            <a:solidFill>
              <a:srgbClr val="6A3FA0"/>
            </a:solidFill>
            <a:prstDash val="solid"/>
          </a:ln>
        </p:spPr>
      </p:sp>
      <p:sp>
        <p:nvSpPr>
          <p:cNvPr id="32" name="Shape 30"/>
          <p:cNvSpPr/>
          <p:nvPr/>
        </p:nvSpPr>
        <p:spPr>
          <a:xfrm>
            <a:off x="1325880" y="4306824"/>
            <a:ext cx="5120640" cy="512064"/>
          </a:xfrm>
          <a:prstGeom prst="roundRect">
            <a:avLst>
              <a:gd name="adj" fmla="val 8929"/>
            </a:avLst>
          </a:prstGeom>
          <a:solidFill>
            <a:srgbClr val="F8F5FC"/>
          </a:solidFill>
          <a:ln w="12700">
            <a:solidFill>
              <a:srgbClr val="DDD3EC"/>
            </a:solidFill>
            <a:prstDash val="solid"/>
          </a:ln>
        </p:spPr>
      </p:sp>
      <p:sp>
        <p:nvSpPr>
          <p:cNvPr id="33" name="Text 31"/>
          <p:cNvSpPr/>
          <p:nvPr/>
        </p:nvSpPr>
        <p:spPr>
          <a:xfrm>
            <a:off x="1463040" y="4306824"/>
            <a:ext cx="3749040" cy="512064"/>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Acid–alkali titration</a:t>
            </a:r>
            <a:endParaRPr lang="en-US" sz="1100" dirty="0"/>
          </a:p>
        </p:txBody>
      </p:sp>
      <p:sp>
        <p:nvSpPr>
          <p:cNvPr id="34" name="Shape 32"/>
          <p:cNvSpPr/>
          <p:nvPr/>
        </p:nvSpPr>
        <p:spPr>
          <a:xfrm>
            <a:off x="5257800" y="4425696"/>
            <a:ext cx="109728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257800" y="44256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6" name="Shape 34"/>
          <p:cNvSpPr/>
          <p:nvPr/>
        </p:nvSpPr>
        <p:spPr>
          <a:xfrm>
            <a:off x="914400" y="5148072"/>
            <a:ext cx="411480" cy="91"/>
          </a:xfrm>
          <a:prstGeom prst="line">
            <a:avLst/>
          </a:prstGeom>
          <a:noFill/>
          <a:ln w="19050">
            <a:solidFill>
              <a:srgbClr val="6A3FA0"/>
            </a:solidFill>
            <a:prstDash val="solid"/>
          </a:ln>
        </p:spPr>
      </p:sp>
      <p:sp>
        <p:nvSpPr>
          <p:cNvPr id="37" name="Shape 35"/>
          <p:cNvSpPr/>
          <p:nvPr/>
        </p:nvSpPr>
        <p:spPr>
          <a:xfrm>
            <a:off x="1325880" y="4892040"/>
            <a:ext cx="5120640" cy="512064"/>
          </a:xfrm>
          <a:prstGeom prst="roundRect">
            <a:avLst>
              <a:gd name="adj" fmla="val 8929"/>
            </a:avLst>
          </a:prstGeom>
          <a:solidFill>
            <a:srgbClr val="F8F5FC"/>
          </a:solidFill>
          <a:ln w="12700">
            <a:solidFill>
              <a:srgbClr val="DDD3EC"/>
            </a:solidFill>
            <a:prstDash val="solid"/>
          </a:ln>
        </p:spPr>
      </p:sp>
      <p:sp>
        <p:nvSpPr>
          <p:cNvPr id="38" name="Text 36"/>
          <p:cNvSpPr/>
          <p:nvPr/>
        </p:nvSpPr>
        <p:spPr>
          <a:xfrm>
            <a:off x="1463040" y="4892040"/>
            <a:ext cx="3749040" cy="512064"/>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C5.3.5   </a:t>
            </a:r>
            <a:r>
              <a:rPr lang="en-US" sz="1100" dirty="0">
                <a:solidFill>
                  <a:srgbClr val="262B3A"/>
                </a:solidFill>
                <a:latin typeface="Calibri" pitchFamily="34" charset="0"/>
                <a:ea typeface="Calibri" pitchFamily="34" charset="-122"/>
                <a:cs typeface="Calibri" pitchFamily="34" charset="-120"/>
              </a:rPr>
              <a:t>Titration calculations</a:t>
            </a:r>
            <a:endParaRPr lang="en-US" sz="1100" dirty="0"/>
          </a:p>
        </p:txBody>
      </p:sp>
      <p:sp>
        <p:nvSpPr>
          <p:cNvPr id="39" name="Shape 37"/>
          <p:cNvSpPr/>
          <p:nvPr/>
        </p:nvSpPr>
        <p:spPr>
          <a:xfrm>
            <a:off x="5257800" y="5010912"/>
            <a:ext cx="1097280" cy="274320"/>
          </a:xfrm>
          <a:prstGeom prst="roundRect">
            <a:avLst>
              <a:gd name="adj" fmla="val 50000"/>
            </a:avLst>
          </a:prstGeom>
          <a:solidFill>
            <a:srgbClr val="C8414C"/>
          </a:solidFill>
          <a:ln w="12700">
            <a:solidFill>
              <a:srgbClr val="C8414C"/>
            </a:solidFill>
            <a:prstDash val="solid"/>
          </a:ln>
        </p:spPr>
      </p:sp>
      <p:sp>
        <p:nvSpPr>
          <p:cNvPr id="40" name="Text 38"/>
          <p:cNvSpPr/>
          <p:nvPr/>
        </p:nvSpPr>
        <p:spPr>
          <a:xfrm>
            <a:off x="5257800" y="501091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41" name="Shape 39"/>
          <p:cNvSpPr/>
          <p:nvPr/>
        </p:nvSpPr>
        <p:spPr>
          <a:xfrm>
            <a:off x="914400" y="5733288"/>
            <a:ext cx="411480" cy="91"/>
          </a:xfrm>
          <a:prstGeom prst="line">
            <a:avLst/>
          </a:prstGeom>
          <a:noFill/>
          <a:ln w="19050">
            <a:solidFill>
              <a:srgbClr val="6A3FA0"/>
            </a:solidFill>
            <a:prstDash val="solid"/>
          </a:ln>
        </p:spPr>
      </p:sp>
      <p:sp>
        <p:nvSpPr>
          <p:cNvPr id="42" name="Shape 40"/>
          <p:cNvSpPr/>
          <p:nvPr/>
        </p:nvSpPr>
        <p:spPr>
          <a:xfrm>
            <a:off x="1325880" y="5477256"/>
            <a:ext cx="5120640" cy="512064"/>
          </a:xfrm>
          <a:prstGeom prst="roundRect">
            <a:avLst>
              <a:gd name="adj" fmla="val 8929"/>
            </a:avLst>
          </a:prstGeom>
          <a:solidFill>
            <a:srgbClr val="F8F5FC"/>
          </a:solidFill>
          <a:ln w="12700">
            <a:solidFill>
              <a:srgbClr val="DDD3EC"/>
            </a:solidFill>
            <a:prstDash val="solid"/>
          </a:ln>
        </p:spPr>
      </p:sp>
      <p:sp>
        <p:nvSpPr>
          <p:cNvPr id="43" name="Text 41"/>
          <p:cNvSpPr/>
          <p:nvPr/>
        </p:nvSpPr>
        <p:spPr>
          <a:xfrm>
            <a:off x="1463040" y="5477256"/>
            <a:ext cx="3749040" cy="512064"/>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C5.3.6–7   </a:t>
            </a:r>
            <a:r>
              <a:rPr lang="en-US" sz="1100" dirty="0">
                <a:solidFill>
                  <a:srgbClr val="262B3A"/>
                </a:solidFill>
                <a:latin typeface="Calibri" pitchFamily="34" charset="0"/>
                <a:ea typeface="Calibri" pitchFamily="34" charset="-122"/>
                <a:cs typeface="Calibri" pitchFamily="34" charset="-120"/>
              </a:rPr>
              <a:t>Precision, accuracy, quality of data</a:t>
            </a:r>
            <a:endParaRPr lang="en-US" sz="1100" dirty="0"/>
          </a:p>
        </p:txBody>
      </p:sp>
      <p:sp>
        <p:nvSpPr>
          <p:cNvPr id="44" name="Shape 42"/>
          <p:cNvSpPr/>
          <p:nvPr/>
        </p:nvSpPr>
        <p:spPr>
          <a:xfrm>
            <a:off x="5257800" y="5596128"/>
            <a:ext cx="1097280" cy="274320"/>
          </a:xfrm>
          <a:prstGeom prst="roundRect">
            <a:avLst>
              <a:gd name="adj" fmla="val 50000"/>
            </a:avLst>
          </a:prstGeom>
          <a:solidFill>
            <a:srgbClr val="6A3FA0"/>
          </a:solidFill>
          <a:ln w="12700">
            <a:solidFill>
              <a:srgbClr val="6A3FA0"/>
            </a:solidFill>
            <a:prstDash val="solid"/>
          </a:ln>
        </p:spPr>
      </p:sp>
      <p:sp>
        <p:nvSpPr>
          <p:cNvPr id="45" name="Text 43"/>
          <p:cNvSpPr/>
          <p:nvPr/>
        </p:nvSpPr>
        <p:spPr>
          <a:xfrm>
            <a:off x="5257800" y="55961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6" name="Text 44"/>
          <p:cNvSpPr/>
          <p:nvPr/>
        </p:nvSpPr>
        <p:spPr>
          <a:xfrm>
            <a:off x="411480" y="6108192"/>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C2 group 1 hydroxides • C3 balanced equations • C5.1 purity • C5.2 moles and Mr (HT)</a:t>
            </a:r>
            <a:endParaRPr lang="en-US" sz="1050" dirty="0"/>
          </a:p>
        </p:txBody>
      </p:sp>
      <p:sp>
        <p:nvSpPr>
          <p:cNvPr id="47" name="Shape 45"/>
          <p:cNvSpPr/>
          <p:nvPr/>
        </p:nvSpPr>
        <p:spPr>
          <a:xfrm>
            <a:off x="6720840" y="1188720"/>
            <a:ext cx="5056632" cy="2560320"/>
          </a:xfrm>
          <a:prstGeom prst="roundRect">
            <a:avLst>
              <a:gd name="adj" fmla="val 2143"/>
            </a:avLst>
          </a:prstGeom>
          <a:solidFill>
            <a:srgbClr val="2E1A47"/>
          </a:solidFill>
          <a:ln/>
        </p:spPr>
      </p:sp>
      <p:sp>
        <p:nvSpPr>
          <p:cNvPr id="48" name="Text 46"/>
          <p:cNvSpPr/>
          <p:nvPr/>
        </p:nvSpPr>
        <p:spPr>
          <a:xfrm>
            <a:off x="6903720" y="1280160"/>
            <a:ext cx="4709160" cy="237744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C5 in J260</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C5.1 How are chemicals separated and tested for purity?</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C5.2 How are the amounts of substances in reactions calculated?</a:t>
            </a:r>
            <a:endParaRPr lang="en-US" sz="1500" dirty="0"/>
          </a:p>
          <a:p>
            <a:pPr marL="152400" indent="-152400">
              <a:spcAft>
                <a:spcPts val="200"/>
              </a:spcAft>
              <a:buSzPct val="100000"/>
              <a:buChar char="▪"/>
            </a:pPr>
            <a:r>
              <a:rPr lang="en-US" sz="1100" b="1" dirty="0">
                <a:solidFill>
                  <a:srgbClr val="E9E0F7"/>
                </a:solidFill>
                <a:latin typeface="Calibri" pitchFamily="34" charset="0"/>
                <a:ea typeface="Calibri" pitchFamily="34" charset="-122"/>
                <a:cs typeface="Calibri" pitchFamily="34" charset="-120"/>
              </a:rPr>
              <a:t>C5.3 How are the amounts of chemicals in solution measured?</a:t>
            </a:r>
            <a:r>
              <a:rPr lang="en-US" sz="1100" dirty="0">
                <a:solidFill>
                  <a:srgbClr val="E9E0F7"/>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J258 (separate) has an extra sub-topic on identifying unknown samples, so this is </a:t>
            </a:r>
            <a:r>
              <a:rPr lang="en-US" sz="1100" b="1" dirty="0">
                <a:solidFill>
                  <a:srgbClr val="E9E0F7"/>
                </a:solidFill>
                <a:latin typeface="Calibri" pitchFamily="34" charset="0"/>
                <a:ea typeface="Calibri" pitchFamily="34" charset="-122"/>
                <a:cs typeface="Calibri" pitchFamily="34" charset="-120"/>
              </a:rPr>
              <a:t>C5.4</a:t>
            </a:r>
            <a:r>
              <a:rPr lang="en-US" sz="1100" dirty="0">
                <a:solidFill>
                  <a:srgbClr val="E9E0F7"/>
                </a:solidFill>
                <a:latin typeface="Calibri" pitchFamily="34" charset="0"/>
                <a:ea typeface="Calibri" pitchFamily="34" charset="-122"/>
                <a:cs typeface="Calibri" pitchFamily="34" charset="-120"/>
              </a:rPr>
              <a:t> there.</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C5.3 is the </a:t>
            </a:r>
            <a:r>
              <a:rPr lang="en-US" sz="1100" b="1" dirty="0">
                <a:solidFill>
                  <a:srgbClr val="E9E0F7"/>
                </a:solidFill>
                <a:latin typeface="Calibri" pitchFamily="34" charset="0"/>
                <a:ea typeface="Calibri" pitchFamily="34" charset="-122"/>
                <a:cs typeface="Calibri" pitchFamily="34" charset="-120"/>
              </a:rPr>
              <a:t>last</a:t>
            </a:r>
            <a:r>
              <a:rPr lang="en-US" sz="1100" dirty="0">
                <a:solidFill>
                  <a:srgbClr val="E9E0F7"/>
                </a:solidFill>
                <a:latin typeface="Calibri" pitchFamily="34" charset="0"/>
                <a:ea typeface="Calibri" pitchFamily="34" charset="-122"/>
                <a:cs typeface="Calibri" pitchFamily="34" charset="-120"/>
              </a:rPr>
              <a:t> C5 deck; </a:t>
            </a:r>
            <a:r>
              <a:rPr lang="en-US" sz="1100" b="1" dirty="0">
                <a:solidFill>
                  <a:srgbClr val="E9E0F7"/>
                </a:solidFill>
                <a:latin typeface="Calibri" pitchFamily="34" charset="0"/>
                <a:ea typeface="Calibri" pitchFamily="34" charset="-122"/>
                <a:cs typeface="Calibri" pitchFamily="34" charset="-120"/>
              </a:rPr>
              <a:t>C6 Making useful chemicals</a:t>
            </a:r>
            <a:r>
              <a:rPr lang="en-US" sz="1100" dirty="0">
                <a:solidFill>
                  <a:srgbClr val="E9E0F7"/>
                </a:solidFill>
                <a:latin typeface="Calibri" pitchFamily="34" charset="0"/>
                <a:ea typeface="Calibri" pitchFamily="34" charset="-122"/>
                <a:cs typeface="Calibri" pitchFamily="34" charset="-120"/>
              </a:rPr>
              <a:t> follows.</a:t>
            </a:r>
            <a:endParaRPr lang="en-US" sz="1500" dirty="0"/>
          </a:p>
        </p:txBody>
      </p:sp>
      <p:sp>
        <p:nvSpPr>
          <p:cNvPr id="49" name="Shape 47"/>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50" name="Text 48"/>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with the red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pill (moles, mol/dm³, titration calculations) are for Higher tier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Practical skills: reading a </a:t>
            </a:r>
            <a:r>
              <a:rPr lang="en-US" sz="1100" b="1" dirty="0">
                <a:solidFill>
                  <a:srgbClr val="262B3A"/>
                </a:solidFill>
                <a:latin typeface="Calibri" pitchFamily="34" charset="0"/>
                <a:ea typeface="Calibri" pitchFamily="34" charset="-122"/>
                <a:cs typeface="Calibri" pitchFamily="34" charset="-120"/>
              </a:rPr>
              <a:t>burette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pipette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concordant</a:t>
            </a:r>
            <a:r>
              <a:rPr lang="en-US" sz="1100" dirty="0">
                <a:solidFill>
                  <a:srgbClr val="262B3A"/>
                </a:solidFill>
                <a:latin typeface="Calibri" pitchFamily="34" charset="0"/>
                <a:ea typeface="Calibri" pitchFamily="34" charset="-122"/>
                <a:cs typeface="Calibri" pitchFamily="34" charset="-120"/>
              </a:rPr>
              <a:t> results, </a:t>
            </a:r>
            <a:r>
              <a:rPr lang="en-US" sz="1100" b="1" dirty="0">
                <a:solidFill>
                  <a:srgbClr val="262B3A"/>
                </a:solidFill>
                <a:latin typeface="Calibri" pitchFamily="34" charset="0"/>
                <a:ea typeface="Calibri" pitchFamily="34" charset="-122"/>
                <a:cs typeface="Calibri" pitchFamily="34" charset="-120"/>
              </a:rPr>
              <a:t>uncertainty</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unit conversion</a:t>
            </a:r>
            <a:r>
              <a:rPr lang="en-US" sz="1100" dirty="0">
                <a:solidFill>
                  <a:srgbClr val="262B3A"/>
                </a:solidFill>
                <a:latin typeface="Calibri" pitchFamily="34" charset="0"/>
                <a:ea typeface="Calibri" pitchFamily="34" charset="-122"/>
                <a:cs typeface="Calibri" pitchFamily="34" charset="-120"/>
              </a:rPr>
              <a:t> (cm³ → dm³), rearranging, </a:t>
            </a:r>
            <a:r>
              <a:rPr lang="en-US" sz="1100" b="1" dirty="0">
                <a:solidFill>
                  <a:srgbClr val="262B3A"/>
                </a:solidFill>
                <a:latin typeface="Calibri" pitchFamily="34" charset="0"/>
                <a:ea typeface="Calibri" pitchFamily="34" charset="-122"/>
                <a:cs typeface="Calibri" pitchFamily="34" charset="-120"/>
              </a:rPr>
              <a:t>means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ratios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significant figures</a:t>
            </a:r>
            <a:r>
              <a:rPr lang="en-US" sz="110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C1–C4, C5.1 and C5.2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water</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salt water, which substance is the </a:t>
            </a:r>
            <a:r>
              <a:rPr lang="en-US" sz="1250" b="1" dirty="0">
                <a:solidFill>
                  <a:srgbClr val="262B3A"/>
                </a:solidFill>
                <a:latin typeface="Calibri" pitchFamily="34" charset="0"/>
                <a:ea typeface="Calibri" pitchFamily="34" charset="-122"/>
                <a:cs typeface="Calibri" pitchFamily="34" charset="-120"/>
              </a:rPr>
              <a:t>solute</a:t>
            </a:r>
            <a:r>
              <a:rPr lang="en-US" sz="1250" dirty="0">
                <a:solidFill>
                  <a:srgbClr val="262B3A"/>
                </a:solidFill>
                <a:latin typeface="Calibri" pitchFamily="34" charset="0"/>
                <a:ea typeface="Calibri" pitchFamily="34" charset="-122"/>
                <a:cs typeface="Calibri" pitchFamily="34" charset="-120"/>
              </a:rPr>
              <a:t> and which is the </a:t>
            </a:r>
            <a:r>
              <a:rPr lang="en-US" sz="1250" b="1" dirty="0">
                <a:solidFill>
                  <a:srgbClr val="262B3A"/>
                </a:solidFill>
                <a:latin typeface="Calibri" pitchFamily="34" charset="0"/>
                <a:ea typeface="Calibri" pitchFamily="34" charset="-122"/>
                <a:cs typeface="Calibri" pitchFamily="34" charset="-120"/>
              </a:rPr>
              <a:t>solvent</a:t>
            </a:r>
            <a:r>
              <a:rPr lang="en-US" sz="1250" dirty="0">
                <a:solidFill>
                  <a:srgbClr val="262B3A"/>
                </a:solidFill>
                <a:latin typeface="Calibri" pitchFamily="34" charset="0"/>
                <a:ea typeface="Calibri" pitchFamily="34" charset="-122"/>
                <a:cs typeface="Calibri" pitchFamily="34" charset="-120"/>
              </a:rPr>
              <a:t>? What is the mixture called?</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group 1</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word equation for </a:t>
            </a:r>
            <a:r>
              <a:rPr lang="en-US" sz="1250" b="1" dirty="0">
                <a:solidFill>
                  <a:srgbClr val="262B3A"/>
                </a:solidFill>
                <a:latin typeface="Calibri" pitchFamily="34" charset="0"/>
                <a:ea typeface="Calibri" pitchFamily="34" charset="-122"/>
                <a:cs typeface="Calibri" pitchFamily="34" charset="-120"/>
              </a:rPr>
              <a:t>sodium + water</a:t>
            </a:r>
            <a:r>
              <a:rPr lang="en-US" sz="1250" dirty="0">
                <a:solidFill>
                  <a:srgbClr val="262B3A"/>
                </a:solidFill>
                <a:latin typeface="Calibri" pitchFamily="34" charset="0"/>
                <a:ea typeface="Calibri" pitchFamily="34" charset="-122"/>
                <a:cs typeface="Calibri" pitchFamily="34" charset="-120"/>
              </a:rPr>
              <a:t>. What colour does universal indicator turn in the solution?</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 • equations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Balance: (…) Na(s) + (…) H₂O(l) → (…) NaOH(aq) + H₂(g). What does </a:t>
            </a:r>
            <a:r>
              <a:rPr lang="en-US" sz="1250" b="1" dirty="0">
                <a:solidFill>
                  <a:srgbClr val="262B3A"/>
                </a:solidFill>
                <a:latin typeface="Calibri" pitchFamily="34" charset="0"/>
                <a:ea typeface="Calibri" pitchFamily="34" charset="-122"/>
                <a:cs typeface="Calibri" pitchFamily="34" charset="-120"/>
              </a:rPr>
              <a:t>(aq)</a:t>
            </a:r>
            <a:r>
              <a:rPr lang="en-US" sz="1250" dirty="0">
                <a:solidFill>
                  <a:srgbClr val="262B3A"/>
                </a:solidFill>
                <a:latin typeface="Calibri" pitchFamily="34" charset="0"/>
                <a:ea typeface="Calibri" pitchFamily="34" charset="-122"/>
                <a:cs typeface="Calibri" pitchFamily="34" charset="-120"/>
              </a:rPr>
              <a:t> mean?</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C4.2 • bonding</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does a solution of sodium chloride </a:t>
            </a:r>
            <a:r>
              <a:rPr lang="en-US" sz="1250" b="1" dirty="0">
                <a:solidFill>
                  <a:srgbClr val="262B3A"/>
                </a:solidFill>
                <a:latin typeface="Calibri" pitchFamily="34" charset="0"/>
                <a:ea typeface="Calibri" pitchFamily="34" charset="-122"/>
                <a:cs typeface="Calibri" pitchFamily="34" charset="-120"/>
              </a:rPr>
              <a:t>conduct electricity</a:t>
            </a:r>
            <a:r>
              <a:rPr lang="en-US" sz="1250" dirty="0">
                <a:solidFill>
                  <a:srgbClr val="262B3A"/>
                </a:solidFill>
                <a:latin typeface="Calibri" pitchFamily="34" charset="0"/>
                <a:ea typeface="Calibri" pitchFamily="34" charset="-122"/>
                <a:cs typeface="Calibri" pitchFamily="34" charset="-120"/>
              </a:rPr>
              <a:t> but solid sodium chloride does not?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C5.1 • purity</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How does a </a:t>
            </a:r>
            <a:r>
              <a:rPr lang="en-US" sz="1250" b="1" dirty="0">
                <a:solidFill>
                  <a:srgbClr val="262B3A"/>
                </a:solidFill>
                <a:latin typeface="Calibri" pitchFamily="34" charset="0"/>
                <a:ea typeface="Calibri" pitchFamily="34" charset="-122"/>
                <a:cs typeface="Calibri" pitchFamily="34" charset="-120"/>
              </a:rPr>
              <a:t>melting point</a:t>
            </a:r>
            <a:r>
              <a:rPr lang="en-US" sz="1250" dirty="0">
                <a:solidFill>
                  <a:srgbClr val="262B3A"/>
                </a:solidFill>
                <a:latin typeface="Calibri" pitchFamily="34" charset="0"/>
                <a:ea typeface="Calibri" pitchFamily="34" charset="-122"/>
                <a:cs typeface="Calibri" pitchFamily="34" charset="-120"/>
              </a:rPr>
              <a:t> show whether a sample is </a:t>
            </a:r>
            <a:r>
              <a:rPr lang="en-US" sz="1250" b="1" dirty="0">
                <a:solidFill>
                  <a:srgbClr val="262B3A"/>
                </a:solidFill>
                <a:latin typeface="Calibri" pitchFamily="34" charset="0"/>
                <a:ea typeface="Calibri" pitchFamily="34" charset="-122"/>
                <a:cs typeface="Calibri" pitchFamily="34" charset="-120"/>
              </a:rPr>
              <a:t>pure</a:t>
            </a:r>
            <a:r>
              <a:rPr lang="en-US" sz="1250" dirty="0">
                <a:solidFill>
                  <a:srgbClr val="262B3A"/>
                </a:solidFill>
                <a:latin typeface="Calibri" pitchFamily="34" charset="0"/>
                <a:ea typeface="Calibri" pitchFamily="34" charset="-122"/>
                <a:cs typeface="Calibri" pitchFamily="34" charset="-120"/>
              </a:rPr>
              <a:t>? What is a </a:t>
            </a:r>
            <a:r>
              <a:rPr lang="en-US" sz="1250" b="1" dirty="0">
                <a:solidFill>
                  <a:srgbClr val="262B3A"/>
                </a:solidFill>
                <a:latin typeface="Calibri" pitchFamily="34" charset="0"/>
                <a:ea typeface="Calibri" pitchFamily="34" charset="-122"/>
                <a:cs typeface="Calibri" pitchFamily="34" charset="-120"/>
              </a:rPr>
              <a:t>formulation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C5.2 • moles (HT)</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a:t>
            </a:r>
            <a:r>
              <a:rPr lang="en-US" sz="1250" b="1" dirty="0">
                <a:solidFill>
                  <a:srgbClr val="262B3A"/>
                </a:solidFill>
                <a:latin typeface="Calibri" pitchFamily="34" charset="0"/>
                <a:ea typeface="Calibri" pitchFamily="34" charset="-122"/>
                <a:cs typeface="Calibri" pitchFamily="34" charset="-120"/>
              </a:rPr>
              <a:t>Mr</a:t>
            </a:r>
            <a:r>
              <a:rPr lang="en-US" sz="1250" dirty="0">
                <a:solidFill>
                  <a:srgbClr val="262B3A"/>
                </a:solidFill>
                <a:latin typeface="Calibri" pitchFamily="34" charset="0"/>
                <a:ea typeface="Calibri" pitchFamily="34" charset="-122"/>
                <a:cs typeface="Calibri" pitchFamily="34" charset="-120"/>
              </a:rPr>
              <a:t> of NaOH (Na = 23, O = 16, H = 1). How many </a:t>
            </a:r>
            <a:r>
              <a:rPr lang="en-US" sz="1250" b="1" dirty="0">
                <a:solidFill>
                  <a:srgbClr val="262B3A"/>
                </a:solidFill>
                <a:latin typeface="Calibri" pitchFamily="34" charset="0"/>
                <a:ea typeface="Calibri" pitchFamily="34" charset="-122"/>
                <a:cs typeface="Calibri" pitchFamily="34" charset="-120"/>
              </a:rPr>
              <a:t>moles</a:t>
            </a:r>
            <a:r>
              <a:rPr lang="en-US" sz="1250" dirty="0">
                <a:solidFill>
                  <a:srgbClr val="262B3A"/>
                </a:solidFill>
                <a:latin typeface="Calibri" pitchFamily="34" charset="0"/>
                <a:ea typeface="Calibri" pitchFamily="34" charset="-122"/>
                <a:cs typeface="Calibri" pitchFamily="34" charset="-120"/>
              </a:rPr>
              <a:t> are in </a:t>
            </a:r>
            <a:r>
              <a:rPr lang="en-US" sz="1250" b="1" dirty="0">
                <a:solidFill>
                  <a:srgbClr val="262B3A"/>
                </a:solidFill>
                <a:latin typeface="Calibri" pitchFamily="34" charset="0"/>
                <a:ea typeface="Calibri" pitchFamily="34" charset="-122"/>
                <a:cs typeface="Calibri" pitchFamily="34" charset="-120"/>
              </a:rPr>
              <a:t>4.0 g</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What concentration means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C5.3.1 • mass of solute, volume of solution and concentration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C5.3.1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solute particles shown as dots; not to scale</a:t>
            </a:r>
            <a:endParaRPr lang="en-US" sz="1000" dirty="0"/>
          </a:p>
        </p:txBody>
      </p:sp>
      <p:sp>
        <p:nvSpPr>
          <p:cNvPr id="10" name="Shape 8"/>
          <p:cNvSpPr/>
          <p:nvPr/>
        </p:nvSpPr>
        <p:spPr>
          <a:xfrm>
            <a:off x="731520" y="1508760"/>
            <a:ext cx="1188720" cy="1737360"/>
          </a:xfrm>
          <a:prstGeom prst="rect">
            <a:avLst/>
          </a:prstGeom>
          <a:solidFill>
            <a:srgbClr val="EEF5FB"/>
          </a:solidFill>
          <a:ln/>
        </p:spPr>
      </p:sp>
      <p:sp>
        <p:nvSpPr>
          <p:cNvPr id="11" name="Shape 9"/>
          <p:cNvSpPr/>
          <p:nvPr/>
        </p:nvSpPr>
        <p:spPr>
          <a:xfrm>
            <a:off x="731520" y="2516429"/>
            <a:ext cx="1188720" cy="729691"/>
          </a:xfrm>
          <a:prstGeom prst="rect">
            <a:avLst/>
          </a:prstGeom>
          <a:solidFill>
            <a:srgbClr val="CFE4F7"/>
          </a:solidFill>
          <a:ln/>
        </p:spPr>
      </p:sp>
      <p:sp>
        <p:nvSpPr>
          <p:cNvPr id="12" name="Shape 10"/>
          <p:cNvSpPr/>
          <p:nvPr/>
        </p:nvSpPr>
        <p:spPr>
          <a:xfrm>
            <a:off x="731520" y="1508760"/>
            <a:ext cx="91" cy="1737360"/>
          </a:xfrm>
          <a:prstGeom prst="line">
            <a:avLst/>
          </a:prstGeom>
          <a:noFill/>
          <a:ln w="15875">
            <a:solidFill>
              <a:srgbClr val="2A1F3D"/>
            </a:solidFill>
            <a:prstDash val="solid"/>
          </a:ln>
        </p:spPr>
      </p:sp>
      <p:sp>
        <p:nvSpPr>
          <p:cNvPr id="13" name="Shape 11"/>
          <p:cNvSpPr/>
          <p:nvPr/>
        </p:nvSpPr>
        <p:spPr>
          <a:xfrm>
            <a:off x="1920240" y="1508760"/>
            <a:ext cx="91" cy="1737360"/>
          </a:xfrm>
          <a:prstGeom prst="line">
            <a:avLst/>
          </a:prstGeom>
          <a:noFill/>
          <a:ln w="15875">
            <a:solidFill>
              <a:srgbClr val="2A1F3D"/>
            </a:solidFill>
            <a:prstDash val="solid"/>
          </a:ln>
        </p:spPr>
      </p:sp>
      <p:sp>
        <p:nvSpPr>
          <p:cNvPr id="14" name="Shape 12"/>
          <p:cNvSpPr/>
          <p:nvPr/>
        </p:nvSpPr>
        <p:spPr>
          <a:xfrm>
            <a:off x="731520" y="3246120"/>
            <a:ext cx="1188720" cy="91"/>
          </a:xfrm>
          <a:prstGeom prst="line">
            <a:avLst/>
          </a:prstGeom>
          <a:noFill/>
          <a:ln w="15875">
            <a:solidFill>
              <a:srgbClr val="2A1F3D"/>
            </a:solidFill>
            <a:prstDash val="solid"/>
          </a:ln>
        </p:spPr>
      </p:sp>
      <p:sp>
        <p:nvSpPr>
          <p:cNvPr id="15" name="Shape 13"/>
          <p:cNvSpPr/>
          <p:nvPr/>
        </p:nvSpPr>
        <p:spPr>
          <a:xfrm>
            <a:off x="676656" y="1508760"/>
            <a:ext cx="54864" cy="91"/>
          </a:xfrm>
          <a:prstGeom prst="line">
            <a:avLst/>
          </a:prstGeom>
          <a:noFill/>
          <a:ln w="15875">
            <a:solidFill>
              <a:srgbClr val="2A1F3D"/>
            </a:solidFill>
            <a:prstDash val="solid"/>
          </a:ln>
        </p:spPr>
      </p:sp>
      <p:sp>
        <p:nvSpPr>
          <p:cNvPr id="16" name="Shape 14"/>
          <p:cNvSpPr/>
          <p:nvPr/>
        </p:nvSpPr>
        <p:spPr>
          <a:xfrm>
            <a:off x="1920240" y="1508760"/>
            <a:ext cx="54864" cy="91"/>
          </a:xfrm>
          <a:prstGeom prst="line">
            <a:avLst/>
          </a:prstGeom>
          <a:noFill/>
          <a:ln w="15875">
            <a:solidFill>
              <a:srgbClr val="2A1F3D"/>
            </a:solidFill>
            <a:prstDash val="solid"/>
          </a:ln>
        </p:spPr>
      </p:sp>
      <p:sp>
        <p:nvSpPr>
          <p:cNvPr id="17" name="Shape 15"/>
          <p:cNvSpPr/>
          <p:nvPr/>
        </p:nvSpPr>
        <p:spPr>
          <a:xfrm>
            <a:off x="918972" y="2685044"/>
            <a:ext cx="100584" cy="100584"/>
          </a:xfrm>
          <a:prstGeom prst="ellipse">
            <a:avLst/>
          </a:prstGeom>
          <a:solidFill>
            <a:srgbClr val="6A3FA0"/>
          </a:solidFill>
          <a:ln w="6350">
            <a:solidFill>
              <a:srgbClr val="4A2A75"/>
            </a:solidFill>
            <a:prstDash val="solid"/>
          </a:ln>
        </p:spPr>
      </p:sp>
      <p:sp>
        <p:nvSpPr>
          <p:cNvPr id="18" name="Shape 16"/>
          <p:cNvSpPr/>
          <p:nvPr/>
        </p:nvSpPr>
        <p:spPr>
          <a:xfrm>
            <a:off x="1275588" y="2867467"/>
            <a:ext cx="100584" cy="100584"/>
          </a:xfrm>
          <a:prstGeom prst="ellipse">
            <a:avLst/>
          </a:prstGeom>
          <a:solidFill>
            <a:srgbClr val="6A3FA0"/>
          </a:solidFill>
          <a:ln w="6350">
            <a:solidFill>
              <a:srgbClr val="4A2A75"/>
            </a:solidFill>
            <a:prstDash val="solid"/>
          </a:ln>
        </p:spPr>
      </p:sp>
      <p:sp>
        <p:nvSpPr>
          <p:cNvPr id="19" name="Shape 17"/>
          <p:cNvSpPr/>
          <p:nvPr/>
        </p:nvSpPr>
        <p:spPr>
          <a:xfrm>
            <a:off x="1608430" y="2648560"/>
            <a:ext cx="100584" cy="100584"/>
          </a:xfrm>
          <a:prstGeom prst="ellipse">
            <a:avLst/>
          </a:prstGeom>
          <a:solidFill>
            <a:srgbClr val="6A3FA0"/>
          </a:solidFill>
          <a:ln w="6350">
            <a:solidFill>
              <a:srgbClr val="4A2A75"/>
            </a:solidFill>
            <a:prstDash val="solid"/>
          </a:ln>
        </p:spPr>
      </p:sp>
      <p:sp>
        <p:nvSpPr>
          <p:cNvPr id="20" name="Shape 18"/>
          <p:cNvSpPr/>
          <p:nvPr/>
        </p:nvSpPr>
        <p:spPr>
          <a:xfrm>
            <a:off x="1061618" y="3013405"/>
            <a:ext cx="100584" cy="100584"/>
          </a:xfrm>
          <a:prstGeom prst="ellipse">
            <a:avLst/>
          </a:prstGeom>
          <a:solidFill>
            <a:srgbClr val="6A3FA0"/>
          </a:solidFill>
          <a:ln w="6350">
            <a:solidFill>
              <a:srgbClr val="4A2A75"/>
            </a:solidFill>
            <a:prstDash val="solid"/>
          </a:ln>
        </p:spPr>
      </p:sp>
      <p:sp>
        <p:nvSpPr>
          <p:cNvPr id="21" name="Shape 19"/>
          <p:cNvSpPr/>
          <p:nvPr/>
        </p:nvSpPr>
        <p:spPr>
          <a:xfrm>
            <a:off x="1489558" y="3049890"/>
            <a:ext cx="100584" cy="100584"/>
          </a:xfrm>
          <a:prstGeom prst="ellipse">
            <a:avLst/>
          </a:prstGeom>
          <a:solidFill>
            <a:srgbClr val="6A3FA0"/>
          </a:solidFill>
          <a:ln w="6350">
            <a:solidFill>
              <a:srgbClr val="4A2A75"/>
            </a:solidFill>
            <a:prstDash val="solid"/>
          </a:ln>
        </p:spPr>
      </p:sp>
      <p:sp>
        <p:nvSpPr>
          <p:cNvPr id="22" name="Text 20"/>
          <p:cNvSpPr/>
          <p:nvPr/>
        </p:nvSpPr>
        <p:spPr>
          <a:xfrm>
            <a:off x="548640" y="3310128"/>
            <a:ext cx="155448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5 g in </a:t>
            </a:r>
            <a:r>
              <a:rPr lang="en-US" sz="1050" b="1" dirty="0">
                <a:solidFill>
                  <a:srgbClr val="262B3A"/>
                </a:solidFill>
                <a:latin typeface="Calibri" pitchFamily="34" charset="0"/>
                <a:ea typeface="Calibri" pitchFamily="34" charset="-122"/>
                <a:cs typeface="Calibri" pitchFamily="34" charset="-120"/>
              </a:rPr>
              <a:t>0.5 dm³</a:t>
            </a:r>
            <a:endParaRPr lang="en-US" sz="1050" dirty="0"/>
          </a:p>
        </p:txBody>
      </p:sp>
      <p:sp>
        <p:nvSpPr>
          <p:cNvPr id="23" name="Shape 21"/>
          <p:cNvSpPr/>
          <p:nvPr/>
        </p:nvSpPr>
        <p:spPr>
          <a:xfrm>
            <a:off x="777240" y="3611880"/>
            <a:ext cx="1097280" cy="310896"/>
          </a:xfrm>
          <a:prstGeom prst="roundRect">
            <a:avLst>
              <a:gd name="adj" fmla="val 17647"/>
            </a:avLst>
          </a:prstGeom>
          <a:solidFill>
            <a:srgbClr val="E3F0FB"/>
          </a:solidFill>
          <a:ln w="9525">
            <a:solidFill>
              <a:srgbClr val="5B9BD5"/>
            </a:solidFill>
            <a:prstDash val="solid"/>
          </a:ln>
        </p:spPr>
      </p:sp>
      <p:sp>
        <p:nvSpPr>
          <p:cNvPr id="24" name="Text 22"/>
          <p:cNvSpPr/>
          <p:nvPr/>
        </p:nvSpPr>
        <p:spPr>
          <a:xfrm>
            <a:off x="832104" y="3611880"/>
            <a:ext cx="987552" cy="310896"/>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10 g/dm³</a:t>
            </a:r>
            <a:endParaRPr lang="en-US" sz="1100" dirty="0"/>
          </a:p>
        </p:txBody>
      </p:sp>
      <p:sp>
        <p:nvSpPr>
          <p:cNvPr id="25" name="Shape 23"/>
          <p:cNvSpPr/>
          <p:nvPr/>
        </p:nvSpPr>
        <p:spPr>
          <a:xfrm>
            <a:off x="2514600" y="1508760"/>
            <a:ext cx="1188720" cy="1737360"/>
          </a:xfrm>
          <a:prstGeom prst="rect">
            <a:avLst/>
          </a:prstGeom>
          <a:solidFill>
            <a:srgbClr val="EEF5FB"/>
          </a:solidFill>
          <a:ln/>
        </p:spPr>
      </p:sp>
      <p:sp>
        <p:nvSpPr>
          <p:cNvPr id="26" name="Shape 24"/>
          <p:cNvSpPr/>
          <p:nvPr/>
        </p:nvSpPr>
        <p:spPr>
          <a:xfrm>
            <a:off x="2514600" y="1786738"/>
            <a:ext cx="1188720" cy="1459382"/>
          </a:xfrm>
          <a:prstGeom prst="rect">
            <a:avLst/>
          </a:prstGeom>
          <a:solidFill>
            <a:srgbClr val="CFE4F7"/>
          </a:solidFill>
          <a:ln/>
        </p:spPr>
      </p:sp>
      <p:sp>
        <p:nvSpPr>
          <p:cNvPr id="27" name="Shape 25"/>
          <p:cNvSpPr/>
          <p:nvPr/>
        </p:nvSpPr>
        <p:spPr>
          <a:xfrm>
            <a:off x="2514600" y="1508760"/>
            <a:ext cx="91" cy="1737360"/>
          </a:xfrm>
          <a:prstGeom prst="line">
            <a:avLst/>
          </a:prstGeom>
          <a:noFill/>
          <a:ln w="15875">
            <a:solidFill>
              <a:srgbClr val="2A1F3D"/>
            </a:solidFill>
            <a:prstDash val="solid"/>
          </a:ln>
        </p:spPr>
      </p:sp>
      <p:sp>
        <p:nvSpPr>
          <p:cNvPr id="28" name="Shape 26"/>
          <p:cNvSpPr/>
          <p:nvPr/>
        </p:nvSpPr>
        <p:spPr>
          <a:xfrm>
            <a:off x="3703320" y="1508760"/>
            <a:ext cx="91" cy="1737360"/>
          </a:xfrm>
          <a:prstGeom prst="line">
            <a:avLst/>
          </a:prstGeom>
          <a:noFill/>
          <a:ln w="15875">
            <a:solidFill>
              <a:srgbClr val="2A1F3D"/>
            </a:solidFill>
            <a:prstDash val="solid"/>
          </a:ln>
        </p:spPr>
      </p:sp>
      <p:sp>
        <p:nvSpPr>
          <p:cNvPr id="29" name="Shape 27"/>
          <p:cNvSpPr/>
          <p:nvPr/>
        </p:nvSpPr>
        <p:spPr>
          <a:xfrm>
            <a:off x="2514600" y="3246120"/>
            <a:ext cx="1188720" cy="91"/>
          </a:xfrm>
          <a:prstGeom prst="line">
            <a:avLst/>
          </a:prstGeom>
          <a:noFill/>
          <a:ln w="15875">
            <a:solidFill>
              <a:srgbClr val="2A1F3D"/>
            </a:solidFill>
            <a:prstDash val="solid"/>
          </a:ln>
        </p:spPr>
      </p:sp>
      <p:sp>
        <p:nvSpPr>
          <p:cNvPr id="30" name="Shape 28"/>
          <p:cNvSpPr/>
          <p:nvPr/>
        </p:nvSpPr>
        <p:spPr>
          <a:xfrm>
            <a:off x="2459736" y="1508760"/>
            <a:ext cx="54864" cy="91"/>
          </a:xfrm>
          <a:prstGeom prst="line">
            <a:avLst/>
          </a:prstGeom>
          <a:noFill/>
          <a:ln w="15875">
            <a:solidFill>
              <a:srgbClr val="2A1F3D"/>
            </a:solidFill>
            <a:prstDash val="solid"/>
          </a:ln>
        </p:spPr>
      </p:sp>
      <p:sp>
        <p:nvSpPr>
          <p:cNvPr id="31" name="Shape 29"/>
          <p:cNvSpPr/>
          <p:nvPr/>
        </p:nvSpPr>
        <p:spPr>
          <a:xfrm>
            <a:off x="3703320" y="1508760"/>
            <a:ext cx="54864" cy="91"/>
          </a:xfrm>
          <a:prstGeom prst="line">
            <a:avLst/>
          </a:prstGeom>
          <a:noFill/>
          <a:ln w="15875">
            <a:solidFill>
              <a:srgbClr val="2A1F3D"/>
            </a:solidFill>
            <a:prstDash val="solid"/>
          </a:ln>
        </p:spPr>
      </p:sp>
      <p:sp>
        <p:nvSpPr>
          <p:cNvPr id="32" name="Shape 30"/>
          <p:cNvSpPr/>
          <p:nvPr/>
        </p:nvSpPr>
        <p:spPr>
          <a:xfrm>
            <a:off x="2702052" y="2174260"/>
            <a:ext cx="100584" cy="100584"/>
          </a:xfrm>
          <a:prstGeom prst="ellipse">
            <a:avLst/>
          </a:prstGeom>
          <a:solidFill>
            <a:srgbClr val="6A3FA0"/>
          </a:solidFill>
          <a:ln w="6350">
            <a:solidFill>
              <a:srgbClr val="4A2A75"/>
            </a:solidFill>
            <a:prstDash val="solid"/>
          </a:ln>
        </p:spPr>
      </p:sp>
      <p:sp>
        <p:nvSpPr>
          <p:cNvPr id="33" name="Shape 31"/>
          <p:cNvSpPr/>
          <p:nvPr/>
        </p:nvSpPr>
        <p:spPr>
          <a:xfrm>
            <a:off x="3058668" y="2539106"/>
            <a:ext cx="100584" cy="100584"/>
          </a:xfrm>
          <a:prstGeom prst="ellipse">
            <a:avLst/>
          </a:prstGeom>
          <a:solidFill>
            <a:srgbClr val="6A3FA0"/>
          </a:solidFill>
          <a:ln w="6350">
            <a:solidFill>
              <a:srgbClr val="4A2A75"/>
            </a:solidFill>
            <a:prstDash val="solid"/>
          </a:ln>
        </p:spPr>
      </p:sp>
      <p:sp>
        <p:nvSpPr>
          <p:cNvPr id="34" name="Shape 32"/>
          <p:cNvSpPr/>
          <p:nvPr/>
        </p:nvSpPr>
        <p:spPr>
          <a:xfrm>
            <a:off x="3391510" y="2101291"/>
            <a:ext cx="100584" cy="100584"/>
          </a:xfrm>
          <a:prstGeom prst="ellipse">
            <a:avLst/>
          </a:prstGeom>
          <a:solidFill>
            <a:srgbClr val="6A3FA0"/>
          </a:solidFill>
          <a:ln w="6350">
            <a:solidFill>
              <a:srgbClr val="4A2A75"/>
            </a:solidFill>
            <a:prstDash val="solid"/>
          </a:ln>
        </p:spPr>
      </p:sp>
      <p:sp>
        <p:nvSpPr>
          <p:cNvPr id="35" name="Shape 33"/>
          <p:cNvSpPr/>
          <p:nvPr/>
        </p:nvSpPr>
        <p:spPr>
          <a:xfrm>
            <a:off x="2844698" y="2830982"/>
            <a:ext cx="100584" cy="100584"/>
          </a:xfrm>
          <a:prstGeom prst="ellipse">
            <a:avLst/>
          </a:prstGeom>
          <a:solidFill>
            <a:srgbClr val="6A3FA0"/>
          </a:solidFill>
          <a:ln w="6350">
            <a:solidFill>
              <a:srgbClr val="4A2A75"/>
            </a:solidFill>
            <a:prstDash val="solid"/>
          </a:ln>
        </p:spPr>
      </p:sp>
      <p:sp>
        <p:nvSpPr>
          <p:cNvPr id="36" name="Shape 34"/>
          <p:cNvSpPr/>
          <p:nvPr/>
        </p:nvSpPr>
        <p:spPr>
          <a:xfrm>
            <a:off x="3272638" y="2903952"/>
            <a:ext cx="100584" cy="100584"/>
          </a:xfrm>
          <a:prstGeom prst="ellipse">
            <a:avLst/>
          </a:prstGeom>
          <a:solidFill>
            <a:srgbClr val="6A3FA0"/>
          </a:solidFill>
          <a:ln w="6350">
            <a:solidFill>
              <a:srgbClr val="4A2A75"/>
            </a:solidFill>
            <a:prstDash val="solid"/>
          </a:ln>
        </p:spPr>
      </p:sp>
      <p:sp>
        <p:nvSpPr>
          <p:cNvPr id="37" name="Shape 35"/>
          <p:cNvSpPr/>
          <p:nvPr/>
        </p:nvSpPr>
        <p:spPr>
          <a:xfrm>
            <a:off x="2642616" y="2641263"/>
            <a:ext cx="100584" cy="100584"/>
          </a:xfrm>
          <a:prstGeom prst="ellipse">
            <a:avLst/>
          </a:prstGeom>
          <a:solidFill>
            <a:srgbClr val="6A3FA0"/>
          </a:solidFill>
          <a:ln w="6350">
            <a:solidFill>
              <a:srgbClr val="4A2A75"/>
            </a:solidFill>
            <a:prstDash val="solid"/>
          </a:ln>
        </p:spPr>
      </p:sp>
      <p:sp>
        <p:nvSpPr>
          <p:cNvPr id="38" name="Shape 36"/>
          <p:cNvSpPr/>
          <p:nvPr/>
        </p:nvSpPr>
        <p:spPr>
          <a:xfrm>
            <a:off x="3510382" y="2582887"/>
            <a:ext cx="100584" cy="100584"/>
          </a:xfrm>
          <a:prstGeom prst="ellipse">
            <a:avLst/>
          </a:prstGeom>
          <a:solidFill>
            <a:srgbClr val="6A3FA0"/>
          </a:solidFill>
          <a:ln w="6350">
            <a:solidFill>
              <a:srgbClr val="4A2A75"/>
            </a:solidFill>
            <a:prstDash val="solid"/>
          </a:ln>
        </p:spPr>
      </p:sp>
      <p:sp>
        <p:nvSpPr>
          <p:cNvPr id="39" name="Shape 37"/>
          <p:cNvSpPr/>
          <p:nvPr/>
        </p:nvSpPr>
        <p:spPr>
          <a:xfrm>
            <a:off x="2999232" y="1999134"/>
            <a:ext cx="100584" cy="100584"/>
          </a:xfrm>
          <a:prstGeom prst="ellipse">
            <a:avLst/>
          </a:prstGeom>
          <a:solidFill>
            <a:srgbClr val="6A3FA0"/>
          </a:solidFill>
          <a:ln w="6350">
            <a:solidFill>
              <a:srgbClr val="4A2A75"/>
            </a:solidFill>
            <a:prstDash val="solid"/>
          </a:ln>
        </p:spPr>
      </p:sp>
      <p:sp>
        <p:nvSpPr>
          <p:cNvPr id="40" name="Shape 38"/>
          <p:cNvSpPr/>
          <p:nvPr/>
        </p:nvSpPr>
        <p:spPr>
          <a:xfrm>
            <a:off x="3153766" y="2320199"/>
            <a:ext cx="100584" cy="100584"/>
          </a:xfrm>
          <a:prstGeom prst="ellipse">
            <a:avLst/>
          </a:prstGeom>
          <a:solidFill>
            <a:srgbClr val="6A3FA0"/>
          </a:solidFill>
          <a:ln w="6350">
            <a:solidFill>
              <a:srgbClr val="4A2A75"/>
            </a:solidFill>
            <a:prstDash val="solid"/>
          </a:ln>
        </p:spPr>
      </p:sp>
      <p:sp>
        <p:nvSpPr>
          <p:cNvPr id="41" name="Shape 39"/>
          <p:cNvSpPr/>
          <p:nvPr/>
        </p:nvSpPr>
        <p:spPr>
          <a:xfrm>
            <a:off x="2820924" y="2393168"/>
            <a:ext cx="100584" cy="100584"/>
          </a:xfrm>
          <a:prstGeom prst="ellipse">
            <a:avLst/>
          </a:prstGeom>
          <a:solidFill>
            <a:srgbClr val="6A3FA0"/>
          </a:solidFill>
          <a:ln w="6350">
            <a:solidFill>
              <a:srgbClr val="4A2A75"/>
            </a:solidFill>
            <a:prstDash val="solid"/>
          </a:ln>
        </p:spPr>
      </p:sp>
      <p:sp>
        <p:nvSpPr>
          <p:cNvPr id="42" name="Text 40"/>
          <p:cNvSpPr/>
          <p:nvPr/>
        </p:nvSpPr>
        <p:spPr>
          <a:xfrm>
            <a:off x="2331720" y="3310128"/>
            <a:ext cx="155448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10 g in </a:t>
            </a:r>
            <a:r>
              <a:rPr lang="en-US" sz="1050" b="1" dirty="0">
                <a:solidFill>
                  <a:srgbClr val="262B3A"/>
                </a:solidFill>
                <a:latin typeface="Calibri" pitchFamily="34" charset="0"/>
                <a:ea typeface="Calibri" pitchFamily="34" charset="-122"/>
                <a:cs typeface="Calibri" pitchFamily="34" charset="-120"/>
              </a:rPr>
              <a:t>1.0 dm³</a:t>
            </a:r>
            <a:endParaRPr lang="en-US" sz="1050" dirty="0"/>
          </a:p>
        </p:txBody>
      </p:sp>
      <p:sp>
        <p:nvSpPr>
          <p:cNvPr id="43" name="Shape 41"/>
          <p:cNvSpPr/>
          <p:nvPr/>
        </p:nvSpPr>
        <p:spPr>
          <a:xfrm>
            <a:off x="2560320" y="3611880"/>
            <a:ext cx="1097280" cy="310896"/>
          </a:xfrm>
          <a:prstGeom prst="roundRect">
            <a:avLst>
              <a:gd name="adj" fmla="val 17647"/>
            </a:avLst>
          </a:prstGeom>
          <a:solidFill>
            <a:srgbClr val="E3F0FB"/>
          </a:solidFill>
          <a:ln w="9525">
            <a:solidFill>
              <a:srgbClr val="5B9BD5"/>
            </a:solidFill>
            <a:prstDash val="solid"/>
          </a:ln>
        </p:spPr>
      </p:sp>
      <p:sp>
        <p:nvSpPr>
          <p:cNvPr id="44" name="Text 42"/>
          <p:cNvSpPr/>
          <p:nvPr/>
        </p:nvSpPr>
        <p:spPr>
          <a:xfrm>
            <a:off x="2615184" y="3611880"/>
            <a:ext cx="987552" cy="310896"/>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10 g/dm³</a:t>
            </a:r>
            <a:endParaRPr lang="en-US" sz="1100" dirty="0"/>
          </a:p>
        </p:txBody>
      </p:sp>
      <p:sp>
        <p:nvSpPr>
          <p:cNvPr id="45" name="Shape 43"/>
          <p:cNvSpPr/>
          <p:nvPr/>
        </p:nvSpPr>
        <p:spPr>
          <a:xfrm>
            <a:off x="4297680" y="1508760"/>
            <a:ext cx="1188720" cy="1737360"/>
          </a:xfrm>
          <a:prstGeom prst="rect">
            <a:avLst/>
          </a:prstGeom>
          <a:solidFill>
            <a:srgbClr val="EEF5FB"/>
          </a:solidFill>
          <a:ln/>
        </p:spPr>
      </p:sp>
      <p:sp>
        <p:nvSpPr>
          <p:cNvPr id="46" name="Shape 44"/>
          <p:cNvSpPr/>
          <p:nvPr/>
        </p:nvSpPr>
        <p:spPr>
          <a:xfrm>
            <a:off x="4297680" y="2516429"/>
            <a:ext cx="1188720" cy="729691"/>
          </a:xfrm>
          <a:prstGeom prst="rect">
            <a:avLst/>
          </a:prstGeom>
          <a:solidFill>
            <a:srgbClr val="CFE4F7"/>
          </a:solidFill>
          <a:ln/>
        </p:spPr>
      </p:sp>
      <p:sp>
        <p:nvSpPr>
          <p:cNvPr id="47" name="Shape 45"/>
          <p:cNvSpPr/>
          <p:nvPr/>
        </p:nvSpPr>
        <p:spPr>
          <a:xfrm>
            <a:off x="4297680" y="1508760"/>
            <a:ext cx="91" cy="1737360"/>
          </a:xfrm>
          <a:prstGeom prst="line">
            <a:avLst/>
          </a:prstGeom>
          <a:noFill/>
          <a:ln w="15875">
            <a:solidFill>
              <a:srgbClr val="2A1F3D"/>
            </a:solidFill>
            <a:prstDash val="solid"/>
          </a:ln>
        </p:spPr>
      </p:sp>
      <p:sp>
        <p:nvSpPr>
          <p:cNvPr id="48" name="Shape 46"/>
          <p:cNvSpPr/>
          <p:nvPr/>
        </p:nvSpPr>
        <p:spPr>
          <a:xfrm>
            <a:off x="5486400" y="1508760"/>
            <a:ext cx="91" cy="1737360"/>
          </a:xfrm>
          <a:prstGeom prst="line">
            <a:avLst/>
          </a:prstGeom>
          <a:noFill/>
          <a:ln w="15875">
            <a:solidFill>
              <a:srgbClr val="2A1F3D"/>
            </a:solidFill>
            <a:prstDash val="solid"/>
          </a:ln>
        </p:spPr>
      </p:sp>
      <p:sp>
        <p:nvSpPr>
          <p:cNvPr id="49" name="Shape 47"/>
          <p:cNvSpPr/>
          <p:nvPr/>
        </p:nvSpPr>
        <p:spPr>
          <a:xfrm>
            <a:off x="4297680" y="3246120"/>
            <a:ext cx="1188720" cy="91"/>
          </a:xfrm>
          <a:prstGeom prst="line">
            <a:avLst/>
          </a:prstGeom>
          <a:noFill/>
          <a:ln w="15875">
            <a:solidFill>
              <a:srgbClr val="2A1F3D"/>
            </a:solidFill>
            <a:prstDash val="solid"/>
          </a:ln>
        </p:spPr>
      </p:sp>
      <p:sp>
        <p:nvSpPr>
          <p:cNvPr id="50" name="Shape 48"/>
          <p:cNvSpPr/>
          <p:nvPr/>
        </p:nvSpPr>
        <p:spPr>
          <a:xfrm>
            <a:off x="4242816" y="1508760"/>
            <a:ext cx="54864" cy="91"/>
          </a:xfrm>
          <a:prstGeom prst="line">
            <a:avLst/>
          </a:prstGeom>
          <a:noFill/>
          <a:ln w="15875">
            <a:solidFill>
              <a:srgbClr val="2A1F3D"/>
            </a:solidFill>
            <a:prstDash val="solid"/>
          </a:ln>
        </p:spPr>
      </p:sp>
      <p:sp>
        <p:nvSpPr>
          <p:cNvPr id="51" name="Shape 49"/>
          <p:cNvSpPr/>
          <p:nvPr/>
        </p:nvSpPr>
        <p:spPr>
          <a:xfrm>
            <a:off x="5486400" y="1508760"/>
            <a:ext cx="54864" cy="91"/>
          </a:xfrm>
          <a:prstGeom prst="line">
            <a:avLst/>
          </a:prstGeom>
          <a:noFill/>
          <a:ln w="15875">
            <a:solidFill>
              <a:srgbClr val="2A1F3D"/>
            </a:solidFill>
            <a:prstDash val="solid"/>
          </a:ln>
        </p:spPr>
      </p:sp>
      <p:sp>
        <p:nvSpPr>
          <p:cNvPr id="52" name="Shape 50"/>
          <p:cNvSpPr/>
          <p:nvPr/>
        </p:nvSpPr>
        <p:spPr>
          <a:xfrm>
            <a:off x="4485132" y="2685044"/>
            <a:ext cx="100584" cy="100584"/>
          </a:xfrm>
          <a:prstGeom prst="ellipse">
            <a:avLst/>
          </a:prstGeom>
          <a:solidFill>
            <a:srgbClr val="6A3FA0"/>
          </a:solidFill>
          <a:ln w="6350">
            <a:solidFill>
              <a:srgbClr val="4A2A75"/>
            </a:solidFill>
            <a:prstDash val="solid"/>
          </a:ln>
        </p:spPr>
      </p:sp>
      <p:sp>
        <p:nvSpPr>
          <p:cNvPr id="53" name="Shape 51"/>
          <p:cNvSpPr/>
          <p:nvPr/>
        </p:nvSpPr>
        <p:spPr>
          <a:xfrm>
            <a:off x="4841748" y="2867467"/>
            <a:ext cx="100584" cy="100584"/>
          </a:xfrm>
          <a:prstGeom prst="ellipse">
            <a:avLst/>
          </a:prstGeom>
          <a:solidFill>
            <a:srgbClr val="6A3FA0"/>
          </a:solidFill>
          <a:ln w="6350">
            <a:solidFill>
              <a:srgbClr val="4A2A75"/>
            </a:solidFill>
            <a:prstDash val="solid"/>
          </a:ln>
        </p:spPr>
      </p:sp>
      <p:sp>
        <p:nvSpPr>
          <p:cNvPr id="54" name="Shape 52"/>
          <p:cNvSpPr/>
          <p:nvPr/>
        </p:nvSpPr>
        <p:spPr>
          <a:xfrm>
            <a:off x="5174590" y="2648560"/>
            <a:ext cx="100584" cy="100584"/>
          </a:xfrm>
          <a:prstGeom prst="ellipse">
            <a:avLst/>
          </a:prstGeom>
          <a:solidFill>
            <a:srgbClr val="6A3FA0"/>
          </a:solidFill>
          <a:ln w="6350">
            <a:solidFill>
              <a:srgbClr val="4A2A75"/>
            </a:solidFill>
            <a:prstDash val="solid"/>
          </a:ln>
        </p:spPr>
      </p:sp>
      <p:sp>
        <p:nvSpPr>
          <p:cNvPr id="55" name="Shape 53"/>
          <p:cNvSpPr/>
          <p:nvPr/>
        </p:nvSpPr>
        <p:spPr>
          <a:xfrm>
            <a:off x="4627778" y="3013405"/>
            <a:ext cx="100584" cy="100584"/>
          </a:xfrm>
          <a:prstGeom prst="ellipse">
            <a:avLst/>
          </a:prstGeom>
          <a:solidFill>
            <a:srgbClr val="6A3FA0"/>
          </a:solidFill>
          <a:ln w="6350">
            <a:solidFill>
              <a:srgbClr val="4A2A75"/>
            </a:solidFill>
            <a:prstDash val="solid"/>
          </a:ln>
        </p:spPr>
      </p:sp>
      <p:sp>
        <p:nvSpPr>
          <p:cNvPr id="56" name="Shape 54"/>
          <p:cNvSpPr/>
          <p:nvPr/>
        </p:nvSpPr>
        <p:spPr>
          <a:xfrm>
            <a:off x="5055718" y="3049890"/>
            <a:ext cx="100584" cy="100584"/>
          </a:xfrm>
          <a:prstGeom prst="ellipse">
            <a:avLst/>
          </a:prstGeom>
          <a:solidFill>
            <a:srgbClr val="6A3FA0"/>
          </a:solidFill>
          <a:ln w="6350">
            <a:solidFill>
              <a:srgbClr val="4A2A75"/>
            </a:solidFill>
            <a:prstDash val="solid"/>
          </a:ln>
        </p:spPr>
      </p:sp>
      <p:sp>
        <p:nvSpPr>
          <p:cNvPr id="57" name="Shape 55"/>
          <p:cNvSpPr/>
          <p:nvPr/>
        </p:nvSpPr>
        <p:spPr>
          <a:xfrm>
            <a:off x="4425696" y="2918545"/>
            <a:ext cx="100584" cy="100584"/>
          </a:xfrm>
          <a:prstGeom prst="ellipse">
            <a:avLst/>
          </a:prstGeom>
          <a:solidFill>
            <a:srgbClr val="6A3FA0"/>
          </a:solidFill>
          <a:ln w="6350">
            <a:solidFill>
              <a:srgbClr val="4A2A75"/>
            </a:solidFill>
            <a:prstDash val="solid"/>
          </a:ln>
        </p:spPr>
      </p:sp>
      <p:sp>
        <p:nvSpPr>
          <p:cNvPr id="58" name="Shape 56"/>
          <p:cNvSpPr/>
          <p:nvPr/>
        </p:nvSpPr>
        <p:spPr>
          <a:xfrm>
            <a:off x="5293462" y="2889358"/>
            <a:ext cx="100584" cy="100584"/>
          </a:xfrm>
          <a:prstGeom prst="ellipse">
            <a:avLst/>
          </a:prstGeom>
          <a:solidFill>
            <a:srgbClr val="6A3FA0"/>
          </a:solidFill>
          <a:ln w="6350">
            <a:solidFill>
              <a:srgbClr val="4A2A75"/>
            </a:solidFill>
            <a:prstDash val="solid"/>
          </a:ln>
        </p:spPr>
      </p:sp>
      <p:sp>
        <p:nvSpPr>
          <p:cNvPr id="59" name="Shape 57"/>
          <p:cNvSpPr/>
          <p:nvPr/>
        </p:nvSpPr>
        <p:spPr>
          <a:xfrm>
            <a:off x="4782312" y="2597481"/>
            <a:ext cx="100584" cy="100584"/>
          </a:xfrm>
          <a:prstGeom prst="ellipse">
            <a:avLst/>
          </a:prstGeom>
          <a:solidFill>
            <a:srgbClr val="6A3FA0"/>
          </a:solidFill>
          <a:ln w="6350">
            <a:solidFill>
              <a:srgbClr val="4A2A75"/>
            </a:solidFill>
            <a:prstDash val="solid"/>
          </a:ln>
        </p:spPr>
      </p:sp>
      <p:sp>
        <p:nvSpPr>
          <p:cNvPr id="60" name="Shape 58"/>
          <p:cNvSpPr/>
          <p:nvPr/>
        </p:nvSpPr>
        <p:spPr>
          <a:xfrm>
            <a:off x="4936846" y="2758013"/>
            <a:ext cx="100584" cy="100584"/>
          </a:xfrm>
          <a:prstGeom prst="ellipse">
            <a:avLst/>
          </a:prstGeom>
          <a:solidFill>
            <a:srgbClr val="6A3FA0"/>
          </a:solidFill>
          <a:ln w="6350">
            <a:solidFill>
              <a:srgbClr val="4A2A75"/>
            </a:solidFill>
            <a:prstDash val="solid"/>
          </a:ln>
        </p:spPr>
      </p:sp>
      <p:sp>
        <p:nvSpPr>
          <p:cNvPr id="61" name="Shape 59"/>
          <p:cNvSpPr/>
          <p:nvPr/>
        </p:nvSpPr>
        <p:spPr>
          <a:xfrm>
            <a:off x="4604004" y="2794498"/>
            <a:ext cx="100584" cy="100584"/>
          </a:xfrm>
          <a:prstGeom prst="ellipse">
            <a:avLst/>
          </a:prstGeom>
          <a:solidFill>
            <a:srgbClr val="6A3FA0"/>
          </a:solidFill>
          <a:ln w="6350">
            <a:solidFill>
              <a:srgbClr val="4A2A75"/>
            </a:solidFill>
            <a:prstDash val="solid"/>
          </a:ln>
        </p:spPr>
      </p:sp>
      <p:sp>
        <p:nvSpPr>
          <p:cNvPr id="62" name="Text 60"/>
          <p:cNvSpPr/>
          <p:nvPr/>
        </p:nvSpPr>
        <p:spPr>
          <a:xfrm>
            <a:off x="4114800" y="3310128"/>
            <a:ext cx="155448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10 g in </a:t>
            </a:r>
            <a:r>
              <a:rPr lang="en-US" sz="1050" b="1" dirty="0">
                <a:solidFill>
                  <a:srgbClr val="262B3A"/>
                </a:solidFill>
                <a:latin typeface="Calibri" pitchFamily="34" charset="0"/>
                <a:ea typeface="Calibri" pitchFamily="34" charset="-122"/>
                <a:cs typeface="Calibri" pitchFamily="34" charset="-120"/>
              </a:rPr>
              <a:t>0.5 dm³</a:t>
            </a:r>
            <a:endParaRPr lang="en-US" sz="1050" dirty="0"/>
          </a:p>
        </p:txBody>
      </p:sp>
      <p:sp>
        <p:nvSpPr>
          <p:cNvPr id="63" name="Shape 61"/>
          <p:cNvSpPr/>
          <p:nvPr/>
        </p:nvSpPr>
        <p:spPr>
          <a:xfrm>
            <a:off x="4343400" y="3611880"/>
            <a:ext cx="1097280" cy="310896"/>
          </a:xfrm>
          <a:prstGeom prst="roundRect">
            <a:avLst>
              <a:gd name="adj" fmla="val 17647"/>
            </a:avLst>
          </a:prstGeom>
          <a:solidFill>
            <a:srgbClr val="F6DCCB"/>
          </a:solidFill>
          <a:ln w="9525">
            <a:solidFill>
              <a:srgbClr val="B8730A"/>
            </a:solidFill>
            <a:prstDash val="solid"/>
          </a:ln>
        </p:spPr>
      </p:sp>
      <p:sp>
        <p:nvSpPr>
          <p:cNvPr id="64" name="Text 62"/>
          <p:cNvSpPr/>
          <p:nvPr/>
        </p:nvSpPr>
        <p:spPr>
          <a:xfrm>
            <a:off x="4398264" y="3611880"/>
            <a:ext cx="987552" cy="310896"/>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20 g/dm³</a:t>
            </a:r>
            <a:endParaRPr lang="en-US" sz="1100" dirty="0"/>
          </a:p>
        </p:txBody>
      </p:sp>
      <p:sp>
        <p:nvSpPr>
          <p:cNvPr id="65" name="Text 63"/>
          <p:cNvSpPr/>
          <p:nvPr/>
        </p:nvSpPr>
        <p:spPr>
          <a:xfrm>
            <a:off x="640080" y="1234440"/>
            <a:ext cx="3017520" cy="228600"/>
          </a:xfrm>
          <a:prstGeom prst="rect">
            <a:avLst/>
          </a:prstGeom>
          <a:noFill/>
          <a:ln/>
        </p:spPr>
        <p:txBody>
          <a:bodyPr wrap="square" lIns="0" tIns="0" rIns="0" bIns="0" rtlCol="0" anchor="ctr"/>
          <a:lstStyle/>
          <a:p>
            <a:pPr algn="ctr" indent="0" marL="0">
              <a:buNone/>
            </a:pPr>
            <a:r>
              <a:rPr lang="en-US" sz="1050" b="1" dirty="0">
                <a:solidFill>
                  <a:srgbClr val="5B9BD5"/>
                </a:solidFill>
                <a:latin typeface="Calibri" pitchFamily="34" charset="0"/>
                <a:ea typeface="Calibri" pitchFamily="34" charset="-122"/>
                <a:cs typeface="Calibri" pitchFamily="34" charset="-120"/>
              </a:rPr>
              <a:t>Same concentration</a:t>
            </a:r>
            <a:endParaRPr lang="en-US" sz="1050" dirty="0"/>
          </a:p>
        </p:txBody>
      </p:sp>
      <p:sp>
        <p:nvSpPr>
          <p:cNvPr id="66" name="Text 64"/>
          <p:cNvSpPr/>
          <p:nvPr/>
        </p:nvSpPr>
        <p:spPr>
          <a:xfrm>
            <a:off x="3931920" y="1234440"/>
            <a:ext cx="1920240" cy="228600"/>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More concentrated</a:t>
            </a:r>
            <a:endParaRPr lang="en-US" sz="1050" dirty="0"/>
          </a:p>
        </p:txBody>
      </p:sp>
      <p:sp>
        <p:nvSpPr>
          <p:cNvPr id="67" name="Shape 65"/>
          <p:cNvSpPr/>
          <p:nvPr/>
        </p:nvSpPr>
        <p:spPr>
          <a:xfrm>
            <a:off x="822960" y="4160520"/>
            <a:ext cx="777240" cy="777240"/>
          </a:xfrm>
          <a:prstGeom prst="rect">
            <a:avLst/>
          </a:prstGeom>
          <a:solidFill>
            <a:srgbClr val="E9E0F7"/>
          </a:solidFill>
          <a:ln w="15875">
            <a:solidFill>
              <a:srgbClr val="6A3FA0"/>
            </a:solidFill>
            <a:prstDash val="solid"/>
          </a:ln>
        </p:spPr>
      </p:sp>
      <p:sp>
        <p:nvSpPr>
          <p:cNvPr id="68" name="Shape 66"/>
          <p:cNvSpPr/>
          <p:nvPr/>
        </p:nvSpPr>
        <p:spPr>
          <a:xfrm>
            <a:off x="822960" y="3977640"/>
            <a:ext cx="1005840" cy="182880"/>
          </a:xfrm>
          <a:custGeom>
            <a:avLst/>
            <a:gdLst/>
            <a:ahLst/>
            <a:cxnLst/>
            <a:rect l="l" t="t" r="r" b="b"/>
            <a:pathLst>
              <a:path w="1005840" h="182880">
                <a:moveTo>
                  <a:pt x="0" y="182880"/>
                </a:moveTo>
                <a:lnTo>
                  <a:pt x="228600" y="0"/>
                </a:lnTo>
                <a:lnTo>
                  <a:pt x="1005840" y="0"/>
                </a:lnTo>
                <a:lnTo>
                  <a:pt x="777240" y="182880"/>
                </a:lnTo>
                <a:close/>
              </a:path>
            </a:pathLst>
          </a:custGeom>
          <a:solidFill>
            <a:srgbClr val="D8CBEE"/>
          </a:solidFill>
          <a:ln w="12700">
            <a:solidFill>
              <a:srgbClr val="6A3FA0"/>
            </a:solidFill>
            <a:prstDash val="solid"/>
          </a:ln>
        </p:spPr>
      </p:sp>
      <p:sp>
        <p:nvSpPr>
          <p:cNvPr id="69" name="Shape 67"/>
          <p:cNvSpPr/>
          <p:nvPr/>
        </p:nvSpPr>
        <p:spPr>
          <a:xfrm>
            <a:off x="1600200" y="3977640"/>
            <a:ext cx="228600" cy="960120"/>
          </a:xfrm>
          <a:custGeom>
            <a:avLst/>
            <a:gdLst/>
            <a:ahLst/>
            <a:cxnLst/>
            <a:rect l="l" t="t" r="r" b="b"/>
            <a:pathLst>
              <a:path w="228600" h="960120">
                <a:moveTo>
                  <a:pt x="0" y="182880"/>
                </a:moveTo>
                <a:lnTo>
                  <a:pt x="228600" y="0"/>
                </a:lnTo>
                <a:lnTo>
                  <a:pt x="228600" y="777240"/>
                </a:lnTo>
                <a:lnTo>
                  <a:pt x="0" y="960120"/>
                </a:lnTo>
                <a:close/>
              </a:path>
            </a:pathLst>
          </a:custGeom>
          <a:solidFill>
            <a:srgbClr val="C9B6E4"/>
          </a:solidFill>
          <a:ln w="12700">
            <a:solidFill>
              <a:srgbClr val="6A3FA0"/>
            </a:solidFill>
            <a:prstDash val="solid"/>
          </a:ln>
        </p:spPr>
      </p:sp>
      <p:sp>
        <p:nvSpPr>
          <p:cNvPr id="70" name="Text 68"/>
          <p:cNvSpPr/>
          <p:nvPr/>
        </p:nvSpPr>
        <p:spPr>
          <a:xfrm>
            <a:off x="822960" y="4956048"/>
            <a:ext cx="7772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 cm</a:t>
            </a:r>
            <a:endParaRPr lang="en-US" sz="1000" dirty="0"/>
          </a:p>
        </p:txBody>
      </p:sp>
      <p:sp>
        <p:nvSpPr>
          <p:cNvPr id="71" name="Text 69"/>
          <p:cNvSpPr/>
          <p:nvPr/>
        </p:nvSpPr>
        <p:spPr>
          <a:xfrm>
            <a:off x="1920240" y="4069080"/>
            <a:ext cx="3931920" cy="27432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1 dm³</a:t>
            </a:r>
            <a:r>
              <a:rPr lang="en-US" sz="1050" dirty="0">
                <a:solidFill>
                  <a:srgbClr val="262B3A"/>
                </a:solidFill>
                <a:latin typeface="Calibri" pitchFamily="34" charset="0"/>
                <a:ea typeface="Calibri" pitchFamily="34" charset="-122"/>
                <a:cs typeface="Calibri" pitchFamily="34" charset="-120"/>
              </a:rPr>
              <a:t> = 10 cm × 10 cm × 10 cm = </a:t>
            </a:r>
            <a:r>
              <a:rPr lang="en-US" sz="1050" b="1" dirty="0">
                <a:solidFill>
                  <a:srgbClr val="262B3A"/>
                </a:solidFill>
                <a:latin typeface="Calibri" pitchFamily="34" charset="0"/>
                <a:ea typeface="Calibri" pitchFamily="34" charset="-122"/>
                <a:cs typeface="Calibri" pitchFamily="34" charset="-120"/>
              </a:rPr>
              <a:t>1000 cm³</a:t>
            </a:r>
            <a:r>
              <a:rPr lang="en-US" sz="1050" dirty="0">
                <a:solidFill>
                  <a:srgbClr val="262B3A"/>
                </a:solidFill>
                <a:latin typeface="Calibri" pitchFamily="34" charset="0"/>
                <a:ea typeface="Calibri" pitchFamily="34" charset="-122"/>
                <a:cs typeface="Calibri" pitchFamily="34" charset="-120"/>
              </a:rPr>
              <a:t> (= 1 litre)</a:t>
            </a:r>
            <a:endParaRPr lang="en-US" sz="1050" dirty="0"/>
          </a:p>
        </p:txBody>
      </p:sp>
      <p:sp>
        <p:nvSpPr>
          <p:cNvPr id="72" name="Shape 70"/>
          <p:cNvSpPr/>
          <p:nvPr/>
        </p:nvSpPr>
        <p:spPr>
          <a:xfrm>
            <a:off x="1965960" y="4480560"/>
            <a:ext cx="1600200" cy="384048"/>
          </a:xfrm>
          <a:prstGeom prst="roundRect">
            <a:avLst>
              <a:gd name="adj" fmla="val 14286"/>
            </a:avLst>
          </a:prstGeom>
          <a:solidFill>
            <a:srgbClr val="FFFFFF"/>
          </a:solidFill>
          <a:ln w="12700">
            <a:solidFill>
              <a:srgbClr val="6A3FA0"/>
            </a:solidFill>
            <a:prstDash val="solid"/>
          </a:ln>
        </p:spPr>
      </p:sp>
      <p:sp>
        <p:nvSpPr>
          <p:cNvPr id="73" name="Text 71"/>
          <p:cNvSpPr/>
          <p:nvPr/>
        </p:nvSpPr>
        <p:spPr>
          <a:xfrm>
            <a:off x="2020824" y="4480560"/>
            <a:ext cx="1490472" cy="38404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cm³  </a:t>
            </a:r>
            <a:r>
              <a:rPr lang="en-US" sz="1050" b="1" dirty="0">
                <a:solidFill>
                  <a:srgbClr val="262B3A"/>
                </a:solidFill>
                <a:latin typeface="Calibri" pitchFamily="34" charset="0"/>
                <a:ea typeface="Calibri" pitchFamily="34" charset="-122"/>
                <a:cs typeface="Calibri" pitchFamily="34" charset="-120"/>
              </a:rPr>
              <a:t>÷ 1000</a:t>
            </a:r>
            <a:r>
              <a:rPr lang="en-US" sz="1050" dirty="0">
                <a:solidFill>
                  <a:srgbClr val="262B3A"/>
                </a:solidFill>
                <a:latin typeface="Calibri" pitchFamily="34" charset="0"/>
                <a:ea typeface="Calibri" pitchFamily="34" charset="-122"/>
                <a:cs typeface="Calibri" pitchFamily="34" charset="-120"/>
              </a:rPr>
              <a:t> →  dm³</a:t>
            </a:r>
            <a:endParaRPr lang="en-US" sz="1050" dirty="0"/>
          </a:p>
        </p:txBody>
      </p:sp>
      <p:sp>
        <p:nvSpPr>
          <p:cNvPr id="74" name="Shape 72"/>
          <p:cNvSpPr/>
          <p:nvPr/>
        </p:nvSpPr>
        <p:spPr>
          <a:xfrm>
            <a:off x="3749040" y="4480560"/>
            <a:ext cx="1600200" cy="384048"/>
          </a:xfrm>
          <a:prstGeom prst="roundRect">
            <a:avLst>
              <a:gd name="adj" fmla="val 14286"/>
            </a:avLst>
          </a:prstGeom>
          <a:solidFill>
            <a:srgbClr val="FFFFFF"/>
          </a:solidFill>
          <a:ln w="12700">
            <a:solidFill>
              <a:srgbClr val="6A3FA0"/>
            </a:solidFill>
            <a:prstDash val="solid"/>
          </a:ln>
        </p:spPr>
      </p:sp>
      <p:sp>
        <p:nvSpPr>
          <p:cNvPr id="75" name="Text 73"/>
          <p:cNvSpPr/>
          <p:nvPr/>
        </p:nvSpPr>
        <p:spPr>
          <a:xfrm>
            <a:off x="3803904" y="4480560"/>
            <a:ext cx="1490472" cy="38404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dm³  </a:t>
            </a:r>
            <a:r>
              <a:rPr lang="en-US" sz="1050" b="1" dirty="0">
                <a:solidFill>
                  <a:srgbClr val="262B3A"/>
                </a:solidFill>
                <a:latin typeface="Calibri" pitchFamily="34" charset="0"/>
                <a:ea typeface="Calibri" pitchFamily="34" charset="-122"/>
                <a:cs typeface="Calibri" pitchFamily="34" charset="-120"/>
              </a:rPr>
              <a:t>× 1000</a:t>
            </a:r>
            <a:r>
              <a:rPr lang="en-US" sz="1050" dirty="0">
                <a:solidFill>
                  <a:srgbClr val="262B3A"/>
                </a:solidFill>
                <a:latin typeface="Calibri" pitchFamily="34" charset="0"/>
                <a:ea typeface="Calibri" pitchFamily="34" charset="-122"/>
                <a:cs typeface="Calibri" pitchFamily="34" charset="-120"/>
              </a:rPr>
              <a:t> →  cm³</a:t>
            </a:r>
            <a:endParaRPr lang="en-US" sz="1050" dirty="0"/>
          </a:p>
        </p:txBody>
      </p:sp>
      <p:sp>
        <p:nvSpPr>
          <p:cNvPr id="76" name="Shape 74"/>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77" name="Text 7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Concentration</a:t>
            </a:r>
            <a:endParaRPr lang="en-US" sz="1300" dirty="0"/>
          </a:p>
        </p:txBody>
      </p:sp>
      <p:sp>
        <p:nvSpPr>
          <p:cNvPr id="78" name="Text 76"/>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solution</a:t>
            </a:r>
            <a:r>
              <a:rPr lang="en-US" sz="1150" dirty="0">
                <a:solidFill>
                  <a:srgbClr val="262B3A"/>
                </a:solidFill>
                <a:latin typeface="Calibri" pitchFamily="34" charset="0"/>
                <a:ea typeface="Calibri" pitchFamily="34" charset="-122"/>
                <a:cs typeface="Calibri" pitchFamily="34" charset="-120"/>
              </a:rPr>
              <a:t> is a </a:t>
            </a:r>
            <a:r>
              <a:rPr lang="en-US" sz="1150" b="1" dirty="0">
                <a:solidFill>
                  <a:srgbClr val="262B3A"/>
                </a:solidFill>
                <a:latin typeface="Calibri" pitchFamily="34" charset="0"/>
                <a:ea typeface="Calibri" pitchFamily="34" charset="-122"/>
                <a:cs typeface="Calibri" pitchFamily="34" charset="-120"/>
              </a:rPr>
              <a:t>solute</a:t>
            </a:r>
            <a:r>
              <a:rPr lang="en-US" sz="1150" dirty="0">
                <a:solidFill>
                  <a:srgbClr val="262B3A"/>
                </a:solidFill>
                <a:latin typeface="Calibri" pitchFamily="34" charset="0"/>
                <a:ea typeface="Calibri" pitchFamily="34" charset="-122"/>
                <a:cs typeface="Calibri" pitchFamily="34" charset="-120"/>
              </a:rPr>
              <a:t> dissolved in a </a:t>
            </a:r>
            <a:r>
              <a:rPr lang="en-US" sz="1150" b="1" dirty="0">
                <a:solidFill>
                  <a:srgbClr val="262B3A"/>
                </a:solidFill>
                <a:latin typeface="Calibri" pitchFamily="34" charset="0"/>
                <a:ea typeface="Calibri" pitchFamily="34" charset="-122"/>
                <a:cs typeface="Calibri" pitchFamily="34" charset="-120"/>
              </a:rPr>
              <a:t>solvent</a:t>
            </a:r>
            <a:r>
              <a:rPr lang="en-US" sz="1150" dirty="0">
                <a:solidFill>
                  <a:srgbClr val="262B3A"/>
                </a:solidFill>
                <a:latin typeface="Calibri" pitchFamily="34" charset="0"/>
                <a:ea typeface="Calibri" pitchFamily="34" charset="-122"/>
                <a:cs typeface="Calibri" pitchFamily="34" charset="-120"/>
              </a:rPr>
              <a:t> (often water: an </a:t>
            </a:r>
            <a:r>
              <a:rPr lang="en-US" sz="1150" b="1" dirty="0">
                <a:solidFill>
                  <a:srgbClr val="262B3A"/>
                </a:solidFill>
                <a:latin typeface="Calibri" pitchFamily="34" charset="0"/>
                <a:ea typeface="Calibri" pitchFamily="34" charset="-122"/>
                <a:cs typeface="Calibri" pitchFamily="34" charset="-120"/>
              </a:rPr>
              <a:t>aqueous</a:t>
            </a:r>
            <a:r>
              <a:rPr lang="en-US" sz="1150" dirty="0">
                <a:solidFill>
                  <a:srgbClr val="262B3A"/>
                </a:solidFill>
                <a:latin typeface="Calibri" pitchFamily="34" charset="0"/>
                <a:ea typeface="Calibri" pitchFamily="34" charset="-122"/>
                <a:cs typeface="Calibri" pitchFamily="34" charset="-120"/>
              </a:rPr>
              <a:t> solution).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Concentration</a:t>
            </a:r>
            <a:r>
              <a:rPr lang="en-US" sz="1150" dirty="0">
                <a:solidFill>
                  <a:srgbClr val="262B3A"/>
                </a:solidFill>
                <a:latin typeface="Calibri" pitchFamily="34" charset="0"/>
                <a:ea typeface="Calibri" pitchFamily="34" charset="-122"/>
                <a:cs typeface="Calibri" pitchFamily="34" charset="-120"/>
              </a:rPr>
              <a:t> = how much solute is dissolved in a </a:t>
            </a:r>
            <a:r>
              <a:rPr lang="en-US" sz="1150" b="1" dirty="0">
                <a:solidFill>
                  <a:srgbClr val="262B3A"/>
                </a:solidFill>
                <a:latin typeface="Calibri" pitchFamily="34" charset="0"/>
                <a:ea typeface="Calibri" pitchFamily="34" charset="-122"/>
                <a:cs typeface="Calibri" pitchFamily="34" charset="-120"/>
              </a:rPr>
              <a:t>unit volume</a:t>
            </a:r>
            <a:r>
              <a:rPr lang="en-US" sz="1150" dirty="0">
                <a:solidFill>
                  <a:srgbClr val="262B3A"/>
                </a:solidFill>
                <a:latin typeface="Calibri" pitchFamily="34" charset="0"/>
                <a:ea typeface="Calibri" pitchFamily="34" charset="-122"/>
                <a:cs typeface="Calibri" pitchFamily="34" charset="-120"/>
              </a:rPr>
              <a:t> of solution.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More solute in the same volume, or the same solute in less volume, gives a </a:t>
            </a:r>
            <a:r>
              <a:rPr lang="en-US" sz="1150" b="1" dirty="0">
                <a:solidFill>
                  <a:srgbClr val="262B3A"/>
                </a:solidFill>
                <a:latin typeface="Calibri" pitchFamily="34" charset="0"/>
                <a:ea typeface="Calibri" pitchFamily="34" charset="-122"/>
                <a:cs typeface="Calibri" pitchFamily="34" charset="-120"/>
              </a:rPr>
              <a:t>higher</a:t>
            </a:r>
            <a:r>
              <a:rPr lang="en-US" sz="1150" dirty="0">
                <a:solidFill>
                  <a:srgbClr val="262B3A"/>
                </a:solidFill>
                <a:latin typeface="Calibri" pitchFamily="34" charset="0"/>
                <a:ea typeface="Calibri" pitchFamily="34" charset="-122"/>
                <a:cs typeface="Calibri" pitchFamily="34" charset="-120"/>
              </a:rPr>
              <a:t> concentration.</a:t>
            </a:r>
            <a:endParaRPr lang="en-US" sz="1150" dirty="0"/>
          </a:p>
          <a:p>
            <a:pPr indent="0" marL="0">
              <a:spcAft>
                <a:spcPts val="300"/>
              </a:spcAft>
              <a:buNone/>
            </a:pPr>
            <a:r>
              <a:rPr lang="en-US" sz="1150" b="1" dirty="0">
                <a:solidFill>
                  <a:srgbClr val="6A3FA0"/>
                </a:solidFill>
                <a:latin typeface="Calibri" pitchFamily="34" charset="0"/>
                <a:ea typeface="Calibri" pitchFamily="34" charset="-122"/>
                <a:cs typeface="Calibri" pitchFamily="34" charset="-120"/>
              </a:rPr>
              <a:t>concentration (g/dm³) = mass of solute (g) ÷ volume of solution (dm³)</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Volumes must be in </a:t>
            </a:r>
            <a:r>
              <a:rPr lang="en-US" sz="1150" b="1" dirty="0">
                <a:solidFill>
                  <a:srgbClr val="262B3A"/>
                </a:solidFill>
                <a:latin typeface="Calibri" pitchFamily="34" charset="0"/>
                <a:ea typeface="Calibri" pitchFamily="34" charset="-122"/>
                <a:cs typeface="Calibri" pitchFamily="34" charset="-120"/>
              </a:rPr>
              <a:t>dm³</a:t>
            </a:r>
            <a:r>
              <a:rPr lang="en-US" sz="1150" dirty="0">
                <a:solidFill>
                  <a:srgbClr val="262B3A"/>
                </a:solidFill>
                <a:latin typeface="Calibri" pitchFamily="34" charset="0"/>
                <a:ea typeface="Calibri" pitchFamily="34" charset="-122"/>
                <a:cs typeface="Calibri" pitchFamily="34" charset="-120"/>
              </a:rPr>
              <a:t>: divide cm³ by </a:t>
            </a:r>
            <a:r>
              <a:rPr lang="en-US" sz="1150" b="1" dirty="0">
                <a:solidFill>
                  <a:srgbClr val="262B3A"/>
                </a:solidFill>
                <a:latin typeface="Calibri" pitchFamily="34" charset="0"/>
                <a:ea typeface="Calibri" pitchFamily="34" charset="-122"/>
                <a:cs typeface="Calibri" pitchFamily="34" charset="-120"/>
              </a:rPr>
              <a:t>1000</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79" name="Shape 77"/>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80" name="Text 78"/>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g/dm³</a:t>
            </a:r>
            <a:endParaRPr lang="en-US" sz="1300" dirty="0"/>
          </a:p>
        </p:txBody>
      </p:sp>
      <p:sp>
        <p:nvSpPr>
          <p:cNvPr id="81" name="Text 79"/>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5.0 g of copper sulfate is dissolved to make 250 cm³ of solution.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Volume   </a:t>
            </a:r>
            <a:r>
              <a:rPr lang="en-US" sz="1050" dirty="0">
                <a:solidFill>
                  <a:srgbClr val="262B3A"/>
                </a:solidFill>
                <a:latin typeface="Calibri" pitchFamily="34" charset="0"/>
                <a:ea typeface="Calibri" pitchFamily="34" charset="-122"/>
                <a:cs typeface="Calibri" pitchFamily="34" charset="-120"/>
              </a:rPr>
              <a:t>250 ÷ 1000 = 0.250 dm³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5.0 ÷ 0.250 = </a:t>
            </a:r>
            <a:r>
              <a:rPr lang="en-US" sz="1050" b="1" dirty="0">
                <a:solidFill>
                  <a:srgbClr val="C8414C"/>
                </a:solidFill>
                <a:latin typeface="Calibri" pitchFamily="34" charset="0"/>
                <a:ea typeface="Calibri" pitchFamily="34" charset="-122"/>
                <a:cs typeface="Calibri" pitchFamily="34" charset="-120"/>
              </a:rPr>
              <a:t>20 g/dm³</a:t>
            </a:r>
            <a:endParaRPr lang="en-US" sz="1050" dirty="0"/>
          </a:p>
        </p:txBody>
      </p:sp>
      <p:sp>
        <p:nvSpPr>
          <p:cNvPr id="82" name="Shape 80"/>
          <p:cNvSpPr/>
          <p:nvPr/>
        </p:nvSpPr>
        <p:spPr>
          <a:xfrm>
            <a:off x="411480" y="5833872"/>
            <a:ext cx="11368735" cy="530352"/>
          </a:xfrm>
          <a:prstGeom prst="rect">
            <a:avLst/>
          </a:prstGeom>
          <a:solidFill>
            <a:srgbClr val="FFF4E0"/>
          </a:solidFill>
          <a:ln w="6350">
            <a:solidFill>
              <a:srgbClr val="F1D9A8"/>
            </a:solidFill>
            <a:prstDash val="solid"/>
          </a:ln>
        </p:spPr>
      </p:sp>
      <p:sp>
        <p:nvSpPr>
          <p:cNvPr id="83" name="Shape 81"/>
          <p:cNvSpPr/>
          <p:nvPr/>
        </p:nvSpPr>
        <p:spPr>
          <a:xfrm>
            <a:off x="411480" y="5833872"/>
            <a:ext cx="82296" cy="530352"/>
          </a:xfrm>
          <a:prstGeom prst="rect">
            <a:avLst/>
          </a:prstGeom>
          <a:solidFill>
            <a:srgbClr val="E39A2F"/>
          </a:solidFill>
          <a:ln w="12700">
            <a:solidFill>
              <a:srgbClr val="E39A2F"/>
            </a:solidFill>
            <a:prstDash val="solid"/>
          </a:ln>
        </p:spPr>
      </p:sp>
      <p:sp>
        <p:nvSpPr>
          <p:cNvPr id="84" name="Text 8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concentration when </a:t>
            </a:r>
            <a:r>
              <a:rPr lang="en-US" sz="1150" b="1" dirty="0">
                <a:solidFill>
                  <a:srgbClr val="262B3A"/>
                </a:solidFill>
                <a:latin typeface="Calibri" pitchFamily="34" charset="0"/>
                <a:ea typeface="Calibri" pitchFamily="34" charset="-122"/>
                <a:cs typeface="Calibri" pitchFamily="34" charset="-120"/>
              </a:rPr>
              <a:t>12 g</a:t>
            </a:r>
            <a:r>
              <a:rPr lang="en-US" sz="1150" dirty="0">
                <a:solidFill>
                  <a:srgbClr val="262B3A"/>
                </a:solidFill>
                <a:latin typeface="Calibri" pitchFamily="34" charset="0"/>
                <a:ea typeface="Calibri" pitchFamily="34" charset="-122"/>
                <a:cs typeface="Calibri" pitchFamily="34" charset="-120"/>
              </a:rPr>
              <a:t> of salt is dissolved to make </a:t>
            </a:r>
            <a:r>
              <a:rPr lang="en-US" sz="1150" b="1" dirty="0">
                <a:solidFill>
                  <a:srgbClr val="262B3A"/>
                </a:solidFill>
                <a:latin typeface="Calibri" pitchFamily="34" charset="0"/>
                <a:ea typeface="Calibri" pitchFamily="34" charset="-122"/>
                <a:cs typeface="Calibri" pitchFamily="34" charset="-120"/>
              </a:rPr>
              <a:t>400 cm³</a:t>
            </a:r>
            <a:r>
              <a:rPr lang="en-US" sz="1150" dirty="0">
                <a:solidFill>
                  <a:srgbClr val="262B3A"/>
                </a:solidFill>
                <a:latin typeface="Calibri" pitchFamily="34" charset="0"/>
                <a:ea typeface="Calibri" pitchFamily="34" charset="-122"/>
                <a:cs typeface="Calibri" pitchFamily="34" charset="-120"/>
              </a:rPr>
              <a:t> of solution. Convert </a:t>
            </a:r>
            <a:r>
              <a:rPr lang="en-US" sz="1150" b="1" dirty="0">
                <a:solidFill>
                  <a:srgbClr val="262B3A"/>
                </a:solidFill>
                <a:latin typeface="Calibri" pitchFamily="34" charset="0"/>
                <a:ea typeface="Calibri" pitchFamily="34" charset="-122"/>
                <a:cs typeface="Calibri" pitchFamily="34" charset="-120"/>
              </a:rPr>
              <a:t>1.5 dm³</a:t>
            </a:r>
            <a:r>
              <a:rPr lang="en-US" sz="1150" dirty="0">
                <a:solidFill>
                  <a:srgbClr val="262B3A"/>
                </a:solidFill>
                <a:latin typeface="Calibri" pitchFamily="34" charset="0"/>
                <a:ea typeface="Calibri" pitchFamily="34" charset="-122"/>
                <a:cs typeface="Calibri" pitchFamily="34" charset="-120"/>
              </a:rPr>
              <a:t> to cm³.</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Calculating with concentration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C5.3.1 • rearranging: concentration, mass of solute, volume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C5.3.1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three solutions with the same concentration, 40 g/dm³</a:t>
            </a:r>
            <a:endParaRPr lang="en-US" sz="1000" dirty="0"/>
          </a:p>
        </p:txBody>
      </p:sp>
      <p:sp>
        <p:nvSpPr>
          <p:cNvPr id="10" name="Shape 8"/>
          <p:cNvSpPr/>
          <p:nvPr/>
        </p:nvSpPr>
        <p:spPr>
          <a:xfrm>
            <a:off x="548640" y="1417320"/>
            <a:ext cx="2286000" cy="1828800"/>
          </a:xfrm>
          <a:custGeom>
            <a:avLst/>
            <a:gdLst/>
            <a:ahLst/>
            <a:cxnLst/>
            <a:rect l="l" t="t" r="r" b="b"/>
            <a:pathLst>
              <a:path w="2286000" h="1828800">
                <a:moveTo>
                  <a:pt x="1143000" y="0"/>
                </a:moveTo>
                <a:lnTo>
                  <a:pt x="2286000" y="1828800"/>
                </a:lnTo>
                <a:lnTo>
                  <a:pt x="0" y="1828800"/>
                </a:lnTo>
                <a:close/>
              </a:path>
            </a:pathLst>
          </a:custGeom>
          <a:solidFill>
            <a:srgbClr val="F1ECF8"/>
          </a:solidFill>
          <a:ln w="19050">
            <a:solidFill>
              <a:srgbClr val="6A3FA0"/>
            </a:solidFill>
            <a:prstDash val="solid"/>
          </a:ln>
        </p:spPr>
      </p:sp>
      <p:sp>
        <p:nvSpPr>
          <p:cNvPr id="11" name="Shape 9"/>
          <p:cNvSpPr/>
          <p:nvPr/>
        </p:nvSpPr>
        <p:spPr>
          <a:xfrm>
            <a:off x="1120140" y="2350008"/>
            <a:ext cx="1143000" cy="91"/>
          </a:xfrm>
          <a:prstGeom prst="line">
            <a:avLst/>
          </a:prstGeom>
          <a:noFill/>
          <a:ln w="15875">
            <a:solidFill>
              <a:srgbClr val="6A3FA0"/>
            </a:solidFill>
            <a:prstDash val="solid"/>
          </a:ln>
        </p:spPr>
      </p:sp>
      <p:sp>
        <p:nvSpPr>
          <p:cNvPr id="12" name="Shape 10"/>
          <p:cNvSpPr/>
          <p:nvPr/>
        </p:nvSpPr>
        <p:spPr>
          <a:xfrm>
            <a:off x="1691640" y="2350008"/>
            <a:ext cx="91" cy="896112"/>
          </a:xfrm>
          <a:prstGeom prst="line">
            <a:avLst/>
          </a:prstGeom>
          <a:noFill/>
          <a:ln w="15875">
            <a:solidFill>
              <a:srgbClr val="6A3FA0"/>
            </a:solidFill>
            <a:prstDash val="solid"/>
          </a:ln>
        </p:spPr>
      </p:sp>
      <p:sp>
        <p:nvSpPr>
          <p:cNvPr id="13" name="Text 11"/>
          <p:cNvSpPr/>
          <p:nvPr/>
        </p:nvSpPr>
        <p:spPr>
          <a:xfrm>
            <a:off x="1143000" y="1920240"/>
            <a:ext cx="1097280" cy="45720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mass</a:t>
            </a:r>
            <a:endParaRPr lang="en-US" sz="1100" dirty="0"/>
          </a:p>
          <a:p>
            <a:pPr algn="ctr" indent="0" marL="0">
              <a:buNone/>
            </a:pPr>
            <a:r>
              <a:rPr lang="en-US" sz="1100" dirty="0">
                <a:solidFill>
                  <a:srgbClr val="262B3A"/>
                </a:solidFill>
                <a:latin typeface="Calibri" pitchFamily="34" charset="0"/>
                <a:ea typeface="Calibri" pitchFamily="34" charset="-122"/>
                <a:cs typeface="Calibri" pitchFamily="34" charset="-120"/>
              </a:rPr>
              <a:t>(g)</a:t>
            </a:r>
            <a:endParaRPr lang="en-US" sz="1100" dirty="0"/>
          </a:p>
        </p:txBody>
      </p:sp>
      <p:sp>
        <p:nvSpPr>
          <p:cNvPr id="14" name="Text 12"/>
          <p:cNvSpPr/>
          <p:nvPr/>
        </p:nvSpPr>
        <p:spPr>
          <a:xfrm>
            <a:off x="731520" y="2514600"/>
            <a:ext cx="914400"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conc.</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(g/dm³)</a:t>
            </a:r>
            <a:endParaRPr lang="en-US" sz="1050" dirty="0"/>
          </a:p>
        </p:txBody>
      </p:sp>
      <p:sp>
        <p:nvSpPr>
          <p:cNvPr id="15" name="Text 13"/>
          <p:cNvSpPr/>
          <p:nvPr/>
        </p:nvSpPr>
        <p:spPr>
          <a:xfrm>
            <a:off x="1737360" y="2514600"/>
            <a:ext cx="914400"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(dm³)</a:t>
            </a:r>
            <a:endParaRPr lang="en-US" sz="1050" dirty="0"/>
          </a:p>
        </p:txBody>
      </p:sp>
      <p:sp>
        <p:nvSpPr>
          <p:cNvPr id="16" name="Shape 14"/>
          <p:cNvSpPr/>
          <p:nvPr/>
        </p:nvSpPr>
        <p:spPr>
          <a:xfrm>
            <a:off x="3246120" y="1508760"/>
            <a:ext cx="2560320" cy="438912"/>
          </a:xfrm>
          <a:prstGeom prst="roundRect">
            <a:avLst>
              <a:gd name="adj" fmla="val 12500"/>
            </a:avLst>
          </a:prstGeom>
          <a:solidFill>
            <a:srgbClr val="FFFFFF"/>
          </a:solidFill>
          <a:ln w="9525">
            <a:solidFill>
              <a:srgbClr val="6A3FA0"/>
            </a:solidFill>
            <a:prstDash val="solid"/>
          </a:ln>
        </p:spPr>
      </p:sp>
      <p:sp>
        <p:nvSpPr>
          <p:cNvPr id="17" name="Text 15"/>
          <p:cNvSpPr/>
          <p:nvPr/>
        </p:nvSpPr>
        <p:spPr>
          <a:xfrm>
            <a:off x="3300984" y="1508760"/>
            <a:ext cx="2450592" cy="43891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mass = conc. × volume</a:t>
            </a:r>
            <a:endParaRPr lang="en-US" sz="1100" dirty="0"/>
          </a:p>
        </p:txBody>
      </p:sp>
      <p:sp>
        <p:nvSpPr>
          <p:cNvPr id="18" name="Shape 16"/>
          <p:cNvSpPr/>
          <p:nvPr/>
        </p:nvSpPr>
        <p:spPr>
          <a:xfrm>
            <a:off x="3246120" y="2057400"/>
            <a:ext cx="2560320" cy="438912"/>
          </a:xfrm>
          <a:prstGeom prst="roundRect">
            <a:avLst>
              <a:gd name="adj" fmla="val 12500"/>
            </a:avLst>
          </a:prstGeom>
          <a:solidFill>
            <a:srgbClr val="E3F0FB"/>
          </a:solidFill>
          <a:ln w="9525">
            <a:solidFill>
              <a:srgbClr val="6A3FA0"/>
            </a:solidFill>
            <a:prstDash val="solid"/>
          </a:ln>
        </p:spPr>
      </p:sp>
      <p:sp>
        <p:nvSpPr>
          <p:cNvPr id="19" name="Text 17"/>
          <p:cNvSpPr/>
          <p:nvPr/>
        </p:nvSpPr>
        <p:spPr>
          <a:xfrm>
            <a:off x="3300984" y="2057400"/>
            <a:ext cx="2450592" cy="43891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conc. = mass ÷ volume</a:t>
            </a:r>
            <a:endParaRPr lang="en-US" sz="1100" dirty="0"/>
          </a:p>
        </p:txBody>
      </p:sp>
      <p:sp>
        <p:nvSpPr>
          <p:cNvPr id="20" name="Shape 18"/>
          <p:cNvSpPr/>
          <p:nvPr/>
        </p:nvSpPr>
        <p:spPr>
          <a:xfrm>
            <a:off x="3246120" y="2606040"/>
            <a:ext cx="2560320" cy="438912"/>
          </a:xfrm>
          <a:prstGeom prst="roundRect">
            <a:avLst>
              <a:gd name="adj" fmla="val 12500"/>
            </a:avLst>
          </a:prstGeom>
          <a:solidFill>
            <a:srgbClr val="FFFFFF"/>
          </a:solidFill>
          <a:ln w="9525">
            <a:solidFill>
              <a:srgbClr val="6A3FA0"/>
            </a:solidFill>
            <a:prstDash val="solid"/>
          </a:ln>
        </p:spPr>
      </p:sp>
      <p:sp>
        <p:nvSpPr>
          <p:cNvPr id="21" name="Text 19"/>
          <p:cNvSpPr/>
          <p:nvPr/>
        </p:nvSpPr>
        <p:spPr>
          <a:xfrm>
            <a:off x="3300984" y="2606040"/>
            <a:ext cx="2450592" cy="43891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volume = mass ÷ conc.</a:t>
            </a:r>
            <a:endParaRPr lang="en-US" sz="1100" dirty="0"/>
          </a:p>
        </p:txBody>
      </p:sp>
      <p:sp>
        <p:nvSpPr>
          <p:cNvPr id="22" name="Shape 20"/>
          <p:cNvSpPr/>
          <p:nvPr/>
        </p:nvSpPr>
        <p:spPr>
          <a:xfrm>
            <a:off x="870966" y="4439412"/>
            <a:ext cx="544068" cy="544068"/>
          </a:xfrm>
          <a:prstGeom prst="ellipse">
            <a:avLst/>
          </a:prstGeom>
          <a:solidFill>
            <a:srgbClr val="D8CBEE"/>
          </a:solidFill>
          <a:ln w="15875">
            <a:solidFill>
              <a:srgbClr val="2A1F3D"/>
            </a:solidFill>
            <a:prstDash val="solid"/>
          </a:ln>
        </p:spPr>
      </p:sp>
      <p:sp>
        <p:nvSpPr>
          <p:cNvPr id="23" name="Shape 21"/>
          <p:cNvSpPr/>
          <p:nvPr/>
        </p:nvSpPr>
        <p:spPr>
          <a:xfrm>
            <a:off x="1069848" y="4114800"/>
            <a:ext cx="146304" cy="434340"/>
          </a:xfrm>
          <a:prstGeom prst="rect">
            <a:avLst/>
          </a:prstGeom>
          <a:solidFill>
            <a:srgbClr val="EEF5FB"/>
          </a:solidFill>
          <a:ln/>
        </p:spPr>
      </p:sp>
      <p:sp>
        <p:nvSpPr>
          <p:cNvPr id="24" name="Shape 22"/>
          <p:cNvSpPr/>
          <p:nvPr/>
        </p:nvSpPr>
        <p:spPr>
          <a:xfrm>
            <a:off x="1069848" y="4247617"/>
            <a:ext cx="146304" cy="301523"/>
          </a:xfrm>
          <a:prstGeom prst="rect">
            <a:avLst/>
          </a:prstGeom>
          <a:solidFill>
            <a:srgbClr val="D8CBEE"/>
          </a:solidFill>
          <a:ln/>
        </p:spPr>
      </p:sp>
      <p:sp>
        <p:nvSpPr>
          <p:cNvPr id="25" name="Shape 23"/>
          <p:cNvSpPr/>
          <p:nvPr/>
        </p:nvSpPr>
        <p:spPr>
          <a:xfrm>
            <a:off x="1069848" y="4114800"/>
            <a:ext cx="91" cy="406908"/>
          </a:xfrm>
          <a:prstGeom prst="line">
            <a:avLst/>
          </a:prstGeom>
          <a:noFill/>
          <a:ln w="15875">
            <a:solidFill>
              <a:srgbClr val="2A1F3D"/>
            </a:solidFill>
            <a:prstDash val="solid"/>
          </a:ln>
        </p:spPr>
      </p:sp>
      <p:sp>
        <p:nvSpPr>
          <p:cNvPr id="26" name="Shape 24"/>
          <p:cNvSpPr/>
          <p:nvPr/>
        </p:nvSpPr>
        <p:spPr>
          <a:xfrm>
            <a:off x="1216152" y="4114800"/>
            <a:ext cx="91" cy="406908"/>
          </a:xfrm>
          <a:prstGeom prst="line">
            <a:avLst/>
          </a:prstGeom>
          <a:noFill/>
          <a:ln w="15875">
            <a:solidFill>
              <a:srgbClr val="2A1F3D"/>
            </a:solidFill>
            <a:prstDash val="solid"/>
          </a:ln>
        </p:spPr>
      </p:sp>
      <p:sp>
        <p:nvSpPr>
          <p:cNvPr id="27" name="Shape 25"/>
          <p:cNvSpPr/>
          <p:nvPr/>
        </p:nvSpPr>
        <p:spPr>
          <a:xfrm>
            <a:off x="1024128" y="4247617"/>
            <a:ext cx="237744" cy="91"/>
          </a:xfrm>
          <a:prstGeom prst="line">
            <a:avLst/>
          </a:prstGeom>
          <a:noFill/>
          <a:ln w="19050">
            <a:solidFill>
              <a:srgbClr val="C8414C"/>
            </a:solidFill>
            <a:prstDash val="solid"/>
          </a:ln>
        </p:spPr>
      </p:sp>
      <p:sp>
        <p:nvSpPr>
          <p:cNvPr id="28" name="Shape 26"/>
          <p:cNvSpPr/>
          <p:nvPr/>
        </p:nvSpPr>
        <p:spPr>
          <a:xfrm>
            <a:off x="979780" y="4946904"/>
            <a:ext cx="326441" cy="36576"/>
          </a:xfrm>
          <a:prstGeom prst="rect">
            <a:avLst/>
          </a:prstGeom>
          <a:solidFill>
            <a:srgbClr val="2A1F3D"/>
          </a:solidFill>
          <a:ln/>
        </p:spPr>
      </p:sp>
      <p:sp>
        <p:nvSpPr>
          <p:cNvPr id="29" name="Shape 27"/>
          <p:cNvSpPr/>
          <p:nvPr/>
        </p:nvSpPr>
        <p:spPr>
          <a:xfrm>
            <a:off x="1042416" y="3986784"/>
            <a:ext cx="201168" cy="146304"/>
          </a:xfrm>
          <a:prstGeom prst="rect">
            <a:avLst/>
          </a:prstGeom>
          <a:solidFill>
            <a:srgbClr val="C9CDD3"/>
          </a:solidFill>
          <a:ln w="9525">
            <a:solidFill>
              <a:srgbClr val="6B7385"/>
            </a:solidFill>
            <a:prstDash val="solid"/>
          </a:ln>
        </p:spPr>
      </p:sp>
      <p:sp>
        <p:nvSpPr>
          <p:cNvPr id="30" name="Text 28"/>
          <p:cNvSpPr/>
          <p:nvPr/>
        </p:nvSpPr>
        <p:spPr>
          <a:xfrm>
            <a:off x="365760" y="5029200"/>
            <a:ext cx="1554480" cy="21945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10 g in 250 cm³</a:t>
            </a:r>
            <a:endParaRPr lang="en-US" sz="1050" dirty="0"/>
          </a:p>
        </p:txBody>
      </p:sp>
      <p:sp>
        <p:nvSpPr>
          <p:cNvPr id="31" name="Shape 29"/>
          <p:cNvSpPr/>
          <p:nvPr/>
        </p:nvSpPr>
        <p:spPr>
          <a:xfrm>
            <a:off x="2595753" y="4322826"/>
            <a:ext cx="660654" cy="660654"/>
          </a:xfrm>
          <a:prstGeom prst="ellipse">
            <a:avLst/>
          </a:prstGeom>
          <a:solidFill>
            <a:srgbClr val="D8CBEE"/>
          </a:solidFill>
          <a:ln w="15875">
            <a:solidFill>
              <a:srgbClr val="2A1F3D"/>
            </a:solidFill>
            <a:prstDash val="solid"/>
          </a:ln>
        </p:spPr>
      </p:sp>
      <p:sp>
        <p:nvSpPr>
          <p:cNvPr id="32" name="Shape 30"/>
          <p:cNvSpPr/>
          <p:nvPr/>
        </p:nvSpPr>
        <p:spPr>
          <a:xfrm>
            <a:off x="2852928" y="3936492"/>
            <a:ext cx="146304" cy="496062"/>
          </a:xfrm>
          <a:prstGeom prst="rect">
            <a:avLst/>
          </a:prstGeom>
          <a:solidFill>
            <a:srgbClr val="EEF5FB"/>
          </a:solidFill>
          <a:ln/>
        </p:spPr>
      </p:sp>
      <p:sp>
        <p:nvSpPr>
          <p:cNvPr id="33" name="Shape 31"/>
          <p:cNvSpPr/>
          <p:nvPr/>
        </p:nvSpPr>
        <p:spPr>
          <a:xfrm>
            <a:off x="2852928" y="4090911"/>
            <a:ext cx="146304" cy="341643"/>
          </a:xfrm>
          <a:prstGeom prst="rect">
            <a:avLst/>
          </a:prstGeom>
          <a:solidFill>
            <a:srgbClr val="D8CBEE"/>
          </a:solidFill>
          <a:ln/>
        </p:spPr>
      </p:sp>
      <p:sp>
        <p:nvSpPr>
          <p:cNvPr id="34" name="Shape 32"/>
          <p:cNvSpPr/>
          <p:nvPr/>
        </p:nvSpPr>
        <p:spPr>
          <a:xfrm>
            <a:off x="2852928" y="3936492"/>
            <a:ext cx="91" cy="468630"/>
          </a:xfrm>
          <a:prstGeom prst="line">
            <a:avLst/>
          </a:prstGeom>
          <a:noFill/>
          <a:ln w="15875">
            <a:solidFill>
              <a:srgbClr val="2A1F3D"/>
            </a:solidFill>
            <a:prstDash val="solid"/>
          </a:ln>
        </p:spPr>
      </p:sp>
      <p:sp>
        <p:nvSpPr>
          <p:cNvPr id="35" name="Shape 33"/>
          <p:cNvSpPr/>
          <p:nvPr/>
        </p:nvSpPr>
        <p:spPr>
          <a:xfrm>
            <a:off x="2999232" y="3936492"/>
            <a:ext cx="91" cy="468630"/>
          </a:xfrm>
          <a:prstGeom prst="line">
            <a:avLst/>
          </a:prstGeom>
          <a:noFill/>
          <a:ln w="15875">
            <a:solidFill>
              <a:srgbClr val="2A1F3D"/>
            </a:solidFill>
            <a:prstDash val="solid"/>
          </a:ln>
        </p:spPr>
      </p:sp>
      <p:sp>
        <p:nvSpPr>
          <p:cNvPr id="36" name="Shape 34"/>
          <p:cNvSpPr/>
          <p:nvPr/>
        </p:nvSpPr>
        <p:spPr>
          <a:xfrm>
            <a:off x="2807208" y="4090911"/>
            <a:ext cx="237744" cy="91"/>
          </a:xfrm>
          <a:prstGeom prst="line">
            <a:avLst/>
          </a:prstGeom>
          <a:noFill/>
          <a:ln w="19050">
            <a:solidFill>
              <a:srgbClr val="C8414C"/>
            </a:solidFill>
            <a:prstDash val="solid"/>
          </a:ln>
        </p:spPr>
      </p:sp>
      <p:sp>
        <p:nvSpPr>
          <p:cNvPr id="37" name="Shape 35"/>
          <p:cNvSpPr/>
          <p:nvPr/>
        </p:nvSpPr>
        <p:spPr>
          <a:xfrm>
            <a:off x="2727884" y="4946904"/>
            <a:ext cx="396392" cy="36576"/>
          </a:xfrm>
          <a:prstGeom prst="rect">
            <a:avLst/>
          </a:prstGeom>
          <a:solidFill>
            <a:srgbClr val="2A1F3D"/>
          </a:solidFill>
          <a:ln/>
        </p:spPr>
      </p:sp>
      <p:sp>
        <p:nvSpPr>
          <p:cNvPr id="38" name="Shape 36"/>
          <p:cNvSpPr/>
          <p:nvPr/>
        </p:nvSpPr>
        <p:spPr>
          <a:xfrm>
            <a:off x="2825496" y="3808476"/>
            <a:ext cx="201168" cy="146304"/>
          </a:xfrm>
          <a:prstGeom prst="rect">
            <a:avLst/>
          </a:prstGeom>
          <a:solidFill>
            <a:srgbClr val="C9CDD3"/>
          </a:solidFill>
          <a:ln w="9525">
            <a:solidFill>
              <a:srgbClr val="6B7385"/>
            </a:solidFill>
            <a:prstDash val="solid"/>
          </a:ln>
        </p:spPr>
      </p:sp>
      <p:sp>
        <p:nvSpPr>
          <p:cNvPr id="39" name="Text 37"/>
          <p:cNvSpPr/>
          <p:nvPr/>
        </p:nvSpPr>
        <p:spPr>
          <a:xfrm>
            <a:off x="2148840" y="5029200"/>
            <a:ext cx="1554480" cy="21945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20 g in 500 cm³</a:t>
            </a:r>
            <a:endParaRPr lang="en-US" sz="1050" dirty="0"/>
          </a:p>
        </p:txBody>
      </p:sp>
      <p:sp>
        <p:nvSpPr>
          <p:cNvPr id="40" name="Shape 38"/>
          <p:cNvSpPr/>
          <p:nvPr/>
        </p:nvSpPr>
        <p:spPr>
          <a:xfrm>
            <a:off x="4320540" y="4206240"/>
            <a:ext cx="777240" cy="777240"/>
          </a:xfrm>
          <a:prstGeom prst="ellipse">
            <a:avLst/>
          </a:prstGeom>
          <a:solidFill>
            <a:srgbClr val="D8CBEE"/>
          </a:solidFill>
          <a:ln w="15875">
            <a:solidFill>
              <a:srgbClr val="2A1F3D"/>
            </a:solidFill>
            <a:prstDash val="solid"/>
          </a:ln>
        </p:spPr>
      </p:sp>
      <p:sp>
        <p:nvSpPr>
          <p:cNvPr id="41" name="Shape 39"/>
          <p:cNvSpPr/>
          <p:nvPr/>
        </p:nvSpPr>
        <p:spPr>
          <a:xfrm>
            <a:off x="4636008" y="3758184"/>
            <a:ext cx="146304" cy="557784"/>
          </a:xfrm>
          <a:prstGeom prst="rect">
            <a:avLst/>
          </a:prstGeom>
          <a:solidFill>
            <a:srgbClr val="EEF5FB"/>
          </a:solidFill>
          <a:ln/>
        </p:spPr>
      </p:sp>
      <p:sp>
        <p:nvSpPr>
          <p:cNvPr id="42" name="Shape 40"/>
          <p:cNvSpPr/>
          <p:nvPr/>
        </p:nvSpPr>
        <p:spPr>
          <a:xfrm>
            <a:off x="4636008" y="3934206"/>
            <a:ext cx="146304" cy="381762"/>
          </a:xfrm>
          <a:prstGeom prst="rect">
            <a:avLst/>
          </a:prstGeom>
          <a:solidFill>
            <a:srgbClr val="D8CBEE"/>
          </a:solidFill>
          <a:ln/>
        </p:spPr>
      </p:sp>
      <p:sp>
        <p:nvSpPr>
          <p:cNvPr id="43" name="Shape 41"/>
          <p:cNvSpPr/>
          <p:nvPr/>
        </p:nvSpPr>
        <p:spPr>
          <a:xfrm>
            <a:off x="4636008" y="3758184"/>
            <a:ext cx="91" cy="530352"/>
          </a:xfrm>
          <a:prstGeom prst="line">
            <a:avLst/>
          </a:prstGeom>
          <a:noFill/>
          <a:ln w="15875">
            <a:solidFill>
              <a:srgbClr val="2A1F3D"/>
            </a:solidFill>
            <a:prstDash val="solid"/>
          </a:ln>
        </p:spPr>
      </p:sp>
      <p:sp>
        <p:nvSpPr>
          <p:cNvPr id="44" name="Shape 42"/>
          <p:cNvSpPr/>
          <p:nvPr/>
        </p:nvSpPr>
        <p:spPr>
          <a:xfrm>
            <a:off x="4782312" y="3758184"/>
            <a:ext cx="91" cy="530352"/>
          </a:xfrm>
          <a:prstGeom prst="line">
            <a:avLst/>
          </a:prstGeom>
          <a:noFill/>
          <a:ln w="15875">
            <a:solidFill>
              <a:srgbClr val="2A1F3D"/>
            </a:solidFill>
            <a:prstDash val="solid"/>
          </a:ln>
        </p:spPr>
      </p:sp>
      <p:sp>
        <p:nvSpPr>
          <p:cNvPr id="45" name="Shape 43"/>
          <p:cNvSpPr/>
          <p:nvPr/>
        </p:nvSpPr>
        <p:spPr>
          <a:xfrm>
            <a:off x="4590288" y="3934206"/>
            <a:ext cx="237744" cy="91"/>
          </a:xfrm>
          <a:prstGeom prst="line">
            <a:avLst/>
          </a:prstGeom>
          <a:noFill/>
          <a:ln w="19050">
            <a:solidFill>
              <a:srgbClr val="C8414C"/>
            </a:solidFill>
            <a:prstDash val="solid"/>
          </a:ln>
        </p:spPr>
      </p:sp>
      <p:sp>
        <p:nvSpPr>
          <p:cNvPr id="46" name="Shape 44"/>
          <p:cNvSpPr/>
          <p:nvPr/>
        </p:nvSpPr>
        <p:spPr>
          <a:xfrm>
            <a:off x="4475988" y="4946904"/>
            <a:ext cx="466344" cy="36576"/>
          </a:xfrm>
          <a:prstGeom prst="rect">
            <a:avLst/>
          </a:prstGeom>
          <a:solidFill>
            <a:srgbClr val="2A1F3D"/>
          </a:solidFill>
          <a:ln/>
        </p:spPr>
      </p:sp>
      <p:sp>
        <p:nvSpPr>
          <p:cNvPr id="47" name="Shape 45"/>
          <p:cNvSpPr/>
          <p:nvPr/>
        </p:nvSpPr>
        <p:spPr>
          <a:xfrm>
            <a:off x="4608576" y="3630168"/>
            <a:ext cx="201168" cy="146304"/>
          </a:xfrm>
          <a:prstGeom prst="rect">
            <a:avLst/>
          </a:prstGeom>
          <a:solidFill>
            <a:srgbClr val="C9CDD3"/>
          </a:solidFill>
          <a:ln w="9525">
            <a:solidFill>
              <a:srgbClr val="6B7385"/>
            </a:solidFill>
            <a:prstDash val="solid"/>
          </a:ln>
        </p:spPr>
      </p:sp>
      <p:sp>
        <p:nvSpPr>
          <p:cNvPr id="48" name="Text 46"/>
          <p:cNvSpPr/>
          <p:nvPr/>
        </p:nvSpPr>
        <p:spPr>
          <a:xfrm>
            <a:off x="3931920" y="5029200"/>
            <a:ext cx="1554480" cy="21945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40 g in 1000 cm³</a:t>
            </a:r>
            <a:endParaRPr lang="en-US" sz="1050" dirty="0"/>
          </a:p>
        </p:txBody>
      </p:sp>
      <p:sp>
        <p:nvSpPr>
          <p:cNvPr id="49" name="Text 47"/>
          <p:cNvSpPr/>
          <p:nvPr/>
        </p:nvSpPr>
        <p:spPr>
          <a:xfrm>
            <a:off x="640080" y="3346704"/>
            <a:ext cx="5120640" cy="256032"/>
          </a:xfrm>
          <a:prstGeom prst="rect">
            <a:avLst/>
          </a:prstGeom>
          <a:noFill/>
          <a:ln/>
        </p:spPr>
        <p:txBody>
          <a:bodyPr wrap="square" lIns="0" tIns="0" rIns="0" bIns="0" rtlCol="0" anchor="ctr"/>
          <a:lstStyle/>
          <a:p>
            <a:pPr algn="ctr" indent="0" marL="0">
              <a:buNone/>
            </a:pPr>
            <a:r>
              <a:rPr lang="en-US" sz="1050" dirty="0">
                <a:solidFill>
                  <a:srgbClr val="2A1F3D"/>
                </a:solidFill>
                <a:latin typeface="Calibri" pitchFamily="34" charset="0"/>
                <a:ea typeface="Calibri" pitchFamily="34" charset="-122"/>
                <a:cs typeface="Calibri" pitchFamily="34" charset="-120"/>
              </a:rPr>
              <a:t>Double the mass </a:t>
            </a:r>
            <a:r>
              <a:rPr lang="en-US" sz="1050" b="1" dirty="0">
                <a:solidFill>
                  <a:srgbClr val="2A1F3D"/>
                </a:solidFill>
                <a:latin typeface="Calibri" pitchFamily="34" charset="0"/>
                <a:ea typeface="Calibri" pitchFamily="34" charset="-122"/>
                <a:cs typeface="Calibri" pitchFamily="34" charset="-120"/>
              </a:rPr>
              <a:t>and</a:t>
            </a:r>
            <a:r>
              <a:rPr lang="en-US" sz="1050" dirty="0">
                <a:solidFill>
                  <a:srgbClr val="2A1F3D"/>
                </a:solidFill>
                <a:latin typeface="Calibri" pitchFamily="34" charset="0"/>
                <a:ea typeface="Calibri" pitchFamily="34" charset="-122"/>
                <a:cs typeface="Calibri" pitchFamily="34" charset="-120"/>
              </a:rPr>
              <a:t> double the volume: concentration is </a:t>
            </a:r>
            <a:r>
              <a:rPr lang="en-US" sz="1050" b="1" dirty="0">
                <a:solidFill>
                  <a:srgbClr val="2A1F3D"/>
                </a:solidFill>
                <a:latin typeface="Calibri" pitchFamily="34" charset="0"/>
                <a:ea typeface="Calibri" pitchFamily="34" charset="-122"/>
                <a:cs typeface="Calibri" pitchFamily="34" charset="-120"/>
              </a:rPr>
              <a:t>unchanged</a:t>
            </a:r>
            <a:endParaRPr lang="en-US" sz="1050" dirty="0"/>
          </a:p>
        </p:txBody>
      </p:sp>
      <p:sp>
        <p:nvSpPr>
          <p:cNvPr id="50" name="Shape 48"/>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51" name="Text 4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Rearranging the equation</a:t>
            </a:r>
            <a:endParaRPr lang="en-US" sz="1300" dirty="0"/>
          </a:p>
        </p:txBody>
      </p:sp>
      <p:sp>
        <p:nvSpPr>
          <p:cNvPr id="52" name="Text 50"/>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Cover the quantity you want in the triangle to see how to find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To find the </a:t>
            </a:r>
            <a:r>
              <a:rPr lang="en-US" sz="1150" b="1" dirty="0">
                <a:solidFill>
                  <a:srgbClr val="262B3A"/>
                </a:solidFill>
                <a:latin typeface="Calibri" pitchFamily="34" charset="0"/>
                <a:ea typeface="Calibri" pitchFamily="34" charset="-122"/>
                <a:cs typeface="Calibri" pitchFamily="34" charset="-120"/>
              </a:rPr>
              <a:t>mass of solute</a:t>
            </a:r>
            <a:r>
              <a:rPr lang="en-US" sz="1150" dirty="0">
                <a:solidFill>
                  <a:srgbClr val="262B3A"/>
                </a:solidFill>
                <a:latin typeface="Calibri" pitchFamily="34" charset="0"/>
                <a:ea typeface="Calibri" pitchFamily="34" charset="-122"/>
                <a:cs typeface="Calibri" pitchFamily="34" charset="-120"/>
              </a:rPr>
              <a:t> in a sample: mass = concentration × volume.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To find the </a:t>
            </a:r>
            <a:r>
              <a:rPr lang="en-US" sz="1150" b="1" dirty="0">
                <a:solidFill>
                  <a:srgbClr val="262B3A"/>
                </a:solidFill>
                <a:latin typeface="Calibri" pitchFamily="34" charset="0"/>
                <a:ea typeface="Calibri" pitchFamily="34" charset="-122"/>
                <a:cs typeface="Calibri" pitchFamily="34" charset="-120"/>
              </a:rPr>
              <a:t>volume</a:t>
            </a:r>
            <a:r>
              <a:rPr lang="en-US" sz="1150" dirty="0">
                <a:solidFill>
                  <a:srgbClr val="262B3A"/>
                </a:solidFill>
                <a:latin typeface="Calibri" pitchFamily="34" charset="0"/>
                <a:ea typeface="Calibri" pitchFamily="34" charset="-122"/>
                <a:cs typeface="Calibri" pitchFamily="34" charset="-120"/>
              </a:rPr>
              <a:t> that contains a given mass: volume = mass ÷ concentration.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Always convert </a:t>
            </a:r>
            <a:r>
              <a:rPr lang="en-US" sz="1150" b="1" dirty="0">
                <a:solidFill>
                  <a:srgbClr val="262B3A"/>
                </a:solidFill>
                <a:latin typeface="Calibri" pitchFamily="34" charset="0"/>
                <a:ea typeface="Calibri" pitchFamily="34" charset="-122"/>
                <a:cs typeface="Calibri" pitchFamily="34" charset="-120"/>
              </a:rPr>
              <a:t>cm³ to dm³</a:t>
            </a:r>
            <a:r>
              <a:rPr lang="en-US" sz="1150" dirty="0">
                <a:solidFill>
                  <a:srgbClr val="262B3A"/>
                </a:solidFill>
                <a:latin typeface="Calibri" pitchFamily="34" charset="0"/>
                <a:ea typeface="Calibri" pitchFamily="34" charset="-122"/>
                <a:cs typeface="Calibri" pitchFamily="34" charset="-120"/>
              </a:rPr>
              <a:t> first, and give the </a:t>
            </a:r>
            <a:r>
              <a:rPr lang="en-US" sz="1150" b="1" dirty="0">
                <a:solidFill>
                  <a:srgbClr val="262B3A"/>
                </a:solidFill>
                <a:latin typeface="Calibri" pitchFamily="34" charset="0"/>
                <a:ea typeface="Calibri" pitchFamily="34" charset="-122"/>
                <a:cs typeface="Calibri" pitchFamily="34" charset="-120"/>
              </a:rPr>
              <a:t>unit</a:t>
            </a:r>
            <a:r>
              <a:rPr lang="en-US" sz="1150" dirty="0">
                <a:solidFill>
                  <a:srgbClr val="262B3A"/>
                </a:solidFill>
                <a:latin typeface="Calibri" pitchFamily="34" charset="0"/>
                <a:ea typeface="Calibri" pitchFamily="34" charset="-122"/>
                <a:cs typeface="Calibri" pitchFamily="34" charset="-120"/>
              </a:rPr>
              <a:t> with your answer.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Give answers to a sensible number of </a:t>
            </a:r>
            <a:r>
              <a:rPr lang="en-US" sz="1150" b="1" dirty="0">
                <a:solidFill>
                  <a:srgbClr val="262B3A"/>
                </a:solidFill>
                <a:latin typeface="Calibri" pitchFamily="34" charset="0"/>
                <a:ea typeface="Calibri" pitchFamily="34" charset="-122"/>
                <a:cs typeface="Calibri" pitchFamily="34" charset="-120"/>
              </a:rPr>
              <a:t>significant figures</a:t>
            </a:r>
            <a:r>
              <a:rPr lang="en-US" sz="1150" dirty="0">
                <a:solidFill>
                  <a:srgbClr val="262B3A"/>
                </a:solidFill>
                <a:latin typeface="Calibri" pitchFamily="34" charset="0"/>
                <a:ea typeface="Calibri" pitchFamily="34" charset="-122"/>
                <a:cs typeface="Calibri" pitchFamily="34" charset="-120"/>
              </a:rPr>
              <a:t> (the same as the data).</a:t>
            </a:r>
            <a:endParaRPr lang="en-US" sz="1150" dirty="0"/>
          </a:p>
        </p:txBody>
      </p:sp>
      <p:sp>
        <p:nvSpPr>
          <p:cNvPr id="53" name="Shape 51"/>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54" name="Text 52"/>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and volume</a:t>
            </a:r>
            <a:endParaRPr lang="en-US" sz="1300" dirty="0"/>
          </a:p>
        </p:txBody>
      </p:sp>
      <p:sp>
        <p:nvSpPr>
          <p:cNvPr id="55" name="Text 53"/>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Mass of solute in 25.0 cm³ of a 40 g/dm³ solution? (b) Volume of a 30 g/dm³ solution that contains 6.0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(a)   </a:t>
            </a:r>
            <a:r>
              <a:rPr lang="en-US" sz="1050" dirty="0">
                <a:solidFill>
                  <a:srgbClr val="262B3A"/>
                </a:solidFill>
                <a:latin typeface="Calibri" pitchFamily="34" charset="0"/>
                <a:ea typeface="Calibri" pitchFamily="34" charset="-122"/>
                <a:cs typeface="Calibri" pitchFamily="34" charset="-120"/>
              </a:rPr>
              <a:t>40 × (25.0 ÷ 1000) = 40 × 0.0250 = </a:t>
            </a:r>
            <a:r>
              <a:rPr lang="en-US" sz="1050" b="1" dirty="0">
                <a:solidFill>
                  <a:srgbClr val="262B3A"/>
                </a:solidFill>
                <a:latin typeface="Calibri" pitchFamily="34" charset="0"/>
                <a:ea typeface="Calibri" pitchFamily="34" charset="-122"/>
                <a:cs typeface="Calibri" pitchFamily="34" charset="-120"/>
              </a:rPr>
              <a:t>1.0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(b)   </a:t>
            </a:r>
            <a:r>
              <a:rPr lang="en-US" sz="1050" b="1" dirty="0">
                <a:solidFill>
                  <a:srgbClr val="C8414C"/>
                </a:solidFill>
                <a:latin typeface="Calibri" pitchFamily="34" charset="0"/>
                <a:ea typeface="Calibri" pitchFamily="34" charset="-122"/>
                <a:cs typeface="Calibri" pitchFamily="34" charset="-120"/>
              </a:rPr>
              <a:t>6.0 ÷ 30 = </a:t>
            </a:r>
            <a:r>
              <a:rPr lang="en-US" sz="1050" b="1" dirty="0">
                <a:solidFill>
                  <a:srgbClr val="C8414C"/>
                </a:solidFill>
                <a:latin typeface="Calibri" pitchFamily="34" charset="0"/>
                <a:ea typeface="Calibri" pitchFamily="34" charset="-122"/>
                <a:cs typeface="Calibri" pitchFamily="34" charset="-120"/>
              </a:rPr>
              <a:t>0.20 dm³</a:t>
            </a:r>
            <a:r>
              <a:rPr lang="en-US" sz="1050" b="1" dirty="0">
                <a:solidFill>
                  <a:srgbClr val="C8414C"/>
                </a:solidFill>
                <a:latin typeface="Calibri" pitchFamily="34" charset="0"/>
                <a:ea typeface="Calibri" pitchFamily="34" charset="-122"/>
                <a:cs typeface="Calibri" pitchFamily="34" charset="-120"/>
              </a:rPr>
              <a:t> (= 200 cm³)</a:t>
            </a:r>
            <a:endParaRPr lang="en-US" sz="1050" dirty="0"/>
          </a:p>
        </p:txBody>
      </p:sp>
      <p:sp>
        <p:nvSpPr>
          <p:cNvPr id="56" name="Shape 54"/>
          <p:cNvSpPr/>
          <p:nvPr/>
        </p:nvSpPr>
        <p:spPr>
          <a:xfrm>
            <a:off x="411480" y="5833872"/>
            <a:ext cx="11368735" cy="530352"/>
          </a:xfrm>
          <a:prstGeom prst="rect">
            <a:avLst/>
          </a:prstGeom>
          <a:solidFill>
            <a:srgbClr val="FFF4E0"/>
          </a:solidFill>
          <a:ln w="6350">
            <a:solidFill>
              <a:srgbClr val="F1D9A8"/>
            </a:solidFill>
            <a:prstDash val="solid"/>
          </a:ln>
        </p:spPr>
      </p:sp>
      <p:sp>
        <p:nvSpPr>
          <p:cNvPr id="57" name="Shape 55"/>
          <p:cNvSpPr/>
          <p:nvPr/>
        </p:nvSpPr>
        <p:spPr>
          <a:xfrm>
            <a:off x="411480" y="5833872"/>
            <a:ext cx="82296" cy="530352"/>
          </a:xfrm>
          <a:prstGeom prst="rect">
            <a:avLst/>
          </a:prstGeom>
          <a:solidFill>
            <a:srgbClr val="E39A2F"/>
          </a:solidFill>
          <a:ln w="12700">
            <a:solidFill>
              <a:srgbClr val="E39A2F"/>
            </a:solidFill>
            <a:prstDash val="solid"/>
          </a:ln>
        </p:spPr>
      </p:sp>
      <p:sp>
        <p:nvSpPr>
          <p:cNvPr id="58" name="Text 5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concentration of </a:t>
            </a:r>
            <a:r>
              <a:rPr lang="en-US" sz="1150" b="1" dirty="0">
                <a:solidFill>
                  <a:srgbClr val="262B3A"/>
                </a:solidFill>
                <a:latin typeface="Calibri" pitchFamily="34" charset="0"/>
                <a:ea typeface="Calibri" pitchFamily="34" charset="-122"/>
                <a:cs typeface="Calibri" pitchFamily="34" charset="-120"/>
              </a:rPr>
              <a:t>2.5 g</a:t>
            </a:r>
            <a:r>
              <a:rPr lang="en-US" sz="1150" dirty="0">
                <a:solidFill>
                  <a:srgbClr val="262B3A"/>
                </a:solidFill>
                <a:latin typeface="Calibri" pitchFamily="34" charset="0"/>
                <a:ea typeface="Calibri" pitchFamily="34" charset="-122"/>
                <a:cs typeface="Calibri" pitchFamily="34" charset="-120"/>
              </a:rPr>
              <a:t> in </a:t>
            </a:r>
            <a:r>
              <a:rPr lang="en-US" sz="1150" b="1" dirty="0">
                <a:solidFill>
                  <a:srgbClr val="262B3A"/>
                </a:solidFill>
                <a:latin typeface="Calibri" pitchFamily="34" charset="0"/>
                <a:ea typeface="Calibri" pitchFamily="34" charset="-122"/>
                <a:cs typeface="Calibri" pitchFamily="34" charset="-120"/>
              </a:rPr>
              <a:t>50 cm³</a:t>
            </a:r>
            <a:r>
              <a:rPr lang="en-US" sz="1150" dirty="0">
                <a:solidFill>
                  <a:srgbClr val="262B3A"/>
                </a:solidFill>
                <a:latin typeface="Calibri" pitchFamily="34" charset="0"/>
                <a:ea typeface="Calibri" pitchFamily="34" charset="-122"/>
                <a:cs typeface="Calibri" pitchFamily="34" charset="-120"/>
              </a:rPr>
              <a:t>. Sea water is about </a:t>
            </a:r>
            <a:r>
              <a:rPr lang="en-US" sz="1150" b="1" dirty="0">
                <a:solidFill>
                  <a:srgbClr val="262B3A"/>
                </a:solidFill>
                <a:latin typeface="Calibri" pitchFamily="34" charset="0"/>
                <a:ea typeface="Calibri" pitchFamily="34" charset="-122"/>
                <a:cs typeface="Calibri" pitchFamily="34" charset="-120"/>
              </a:rPr>
              <a:t>35 g/dm³</a:t>
            </a:r>
            <a:r>
              <a:rPr lang="en-US" sz="1150" dirty="0">
                <a:solidFill>
                  <a:srgbClr val="262B3A"/>
                </a:solidFill>
                <a:latin typeface="Calibri" pitchFamily="34" charset="0"/>
                <a:ea typeface="Calibri" pitchFamily="34" charset="-122"/>
                <a:cs typeface="Calibri" pitchFamily="34" charset="-120"/>
              </a:rPr>
              <a:t> salt: what mass of salt is in </a:t>
            </a:r>
            <a:r>
              <a:rPr lang="en-US" sz="1150" b="1" dirty="0">
                <a:solidFill>
                  <a:srgbClr val="262B3A"/>
                </a:solidFill>
                <a:latin typeface="Calibri" pitchFamily="34" charset="0"/>
                <a:ea typeface="Calibri" pitchFamily="34" charset="-122"/>
                <a:cs typeface="Calibri" pitchFamily="34" charset="-120"/>
              </a:rPr>
              <a:t>2.0 dm³</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C5.3.1 • concentration in g/dm³</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what is meant by the </a:t>
            </a:r>
            <a:r>
              <a:rPr lang="en-US" sz="1250" b="1" dirty="0">
                <a:solidFill>
                  <a:srgbClr val="262B3A"/>
                </a:solidFill>
                <a:latin typeface="Calibri" pitchFamily="34" charset="0"/>
                <a:ea typeface="Calibri" pitchFamily="34" charset="-122"/>
                <a:cs typeface="Calibri" pitchFamily="34" charset="-120"/>
              </a:rPr>
              <a:t>concentration</a:t>
            </a:r>
            <a:r>
              <a:rPr lang="en-US" sz="1250" dirty="0">
                <a:solidFill>
                  <a:srgbClr val="262B3A"/>
                </a:solidFill>
                <a:latin typeface="Calibri" pitchFamily="34" charset="0"/>
                <a:ea typeface="Calibri" pitchFamily="34" charset="-122"/>
                <a:cs typeface="Calibri" pitchFamily="34" charset="-120"/>
              </a:rPr>
              <a:t> of a solution, and give a unit.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250 cm³</a:t>
            </a:r>
            <a:r>
              <a:rPr lang="en-US" sz="1250" dirty="0">
                <a:solidFill>
                  <a:srgbClr val="262B3A"/>
                </a:solidFill>
                <a:latin typeface="Calibri" pitchFamily="34" charset="0"/>
                <a:ea typeface="Calibri" pitchFamily="34" charset="-122"/>
                <a:cs typeface="Calibri" pitchFamily="34" charset="-120"/>
              </a:rPr>
              <a:t> into dm³, and </a:t>
            </a:r>
            <a:r>
              <a:rPr lang="en-US" sz="1250" b="1" dirty="0">
                <a:solidFill>
                  <a:srgbClr val="262B3A"/>
                </a:solidFill>
                <a:latin typeface="Calibri" pitchFamily="34" charset="0"/>
                <a:ea typeface="Calibri" pitchFamily="34" charset="-122"/>
                <a:cs typeface="Calibri" pitchFamily="34" charset="-120"/>
              </a:rPr>
              <a:t>2.5 dm³</a:t>
            </a:r>
            <a:r>
              <a:rPr lang="en-US" sz="1250" dirty="0">
                <a:solidFill>
                  <a:srgbClr val="262B3A"/>
                </a:solidFill>
                <a:latin typeface="Calibri" pitchFamily="34" charset="0"/>
                <a:ea typeface="Calibri" pitchFamily="34" charset="-122"/>
                <a:cs typeface="Calibri" pitchFamily="34" charset="-120"/>
              </a:rPr>
              <a:t> into cm³.</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dissolves </a:t>
            </a:r>
            <a:r>
              <a:rPr lang="en-US" sz="1250" b="1" dirty="0">
                <a:solidFill>
                  <a:srgbClr val="262B3A"/>
                </a:solidFill>
                <a:latin typeface="Calibri" pitchFamily="34" charset="0"/>
                <a:ea typeface="Calibri" pitchFamily="34" charset="-122"/>
                <a:cs typeface="Calibri" pitchFamily="34" charset="-120"/>
              </a:rPr>
              <a:t>8.0 g</a:t>
            </a:r>
            <a:r>
              <a:rPr lang="en-US" sz="1250" dirty="0">
                <a:solidFill>
                  <a:srgbClr val="262B3A"/>
                </a:solidFill>
                <a:latin typeface="Calibri" pitchFamily="34" charset="0"/>
                <a:ea typeface="Calibri" pitchFamily="34" charset="-122"/>
                <a:cs typeface="Calibri" pitchFamily="34" charset="-120"/>
              </a:rPr>
              <a:t> of sodium hydroxide to make </a:t>
            </a:r>
            <a:r>
              <a:rPr lang="en-US" sz="1250" b="1" dirty="0">
                <a:solidFill>
                  <a:srgbClr val="262B3A"/>
                </a:solidFill>
                <a:latin typeface="Calibri" pitchFamily="34" charset="0"/>
                <a:ea typeface="Calibri" pitchFamily="34" charset="-122"/>
                <a:cs typeface="Calibri" pitchFamily="34" charset="-120"/>
              </a:rPr>
              <a:t>200 cm³</a:t>
            </a:r>
            <a:r>
              <a:rPr lang="en-US" sz="1250" dirty="0">
                <a:solidFill>
                  <a:srgbClr val="262B3A"/>
                </a:solidFill>
                <a:latin typeface="Calibri" pitchFamily="34" charset="0"/>
                <a:ea typeface="Calibri" pitchFamily="34" charset="-122"/>
                <a:cs typeface="Calibri" pitchFamily="34" charset="-120"/>
              </a:rPr>
              <a:t> of solution. Calculate the concentration in g/dm³.</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drink contains </a:t>
            </a:r>
            <a:r>
              <a:rPr lang="en-US" sz="1250" b="1" dirty="0">
                <a:solidFill>
                  <a:srgbClr val="262B3A"/>
                </a:solidFill>
                <a:latin typeface="Calibri" pitchFamily="34" charset="0"/>
                <a:ea typeface="Calibri" pitchFamily="34" charset="-122"/>
                <a:cs typeface="Calibri" pitchFamily="34" charset="-120"/>
              </a:rPr>
              <a:t>120 g/dm³</a:t>
            </a:r>
            <a:r>
              <a:rPr lang="en-US" sz="1250" dirty="0">
                <a:solidFill>
                  <a:srgbClr val="262B3A"/>
                </a:solidFill>
                <a:latin typeface="Calibri" pitchFamily="34" charset="0"/>
                <a:ea typeface="Calibri" pitchFamily="34" charset="-122"/>
                <a:cs typeface="Calibri" pitchFamily="34" charset="-120"/>
              </a:rPr>
              <a:t> of sugar. Calculate the mass of sugar in a </a:t>
            </a:r>
            <a:r>
              <a:rPr lang="en-US" sz="1250" b="1" dirty="0">
                <a:solidFill>
                  <a:srgbClr val="262B3A"/>
                </a:solidFill>
                <a:latin typeface="Calibri" pitchFamily="34" charset="0"/>
                <a:ea typeface="Calibri" pitchFamily="34" charset="-122"/>
                <a:cs typeface="Calibri" pitchFamily="34" charset="-120"/>
              </a:rPr>
              <a:t>0.50 dm³</a:t>
            </a:r>
            <a:r>
              <a:rPr lang="en-US" sz="1250" dirty="0">
                <a:solidFill>
                  <a:srgbClr val="262B3A"/>
                </a:solidFill>
                <a:latin typeface="Calibri" pitchFamily="34" charset="0"/>
                <a:ea typeface="Calibri" pitchFamily="34" charset="-122"/>
                <a:cs typeface="Calibri" pitchFamily="34" charset="-120"/>
              </a:rPr>
              <a:t> bottle.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Concentration in mol/dm³</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C5.3.2 • molar concentration from moles, or mass, and volume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C5.3.2  |  8</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sodium hydroxide solutions; particles not to scale</a:t>
            </a:r>
            <a:endParaRPr lang="en-US" sz="1000" dirty="0"/>
          </a:p>
        </p:txBody>
      </p:sp>
      <p:sp>
        <p:nvSpPr>
          <p:cNvPr id="12" name="Shape 10"/>
          <p:cNvSpPr/>
          <p:nvPr/>
        </p:nvSpPr>
        <p:spPr>
          <a:xfrm>
            <a:off x="640080" y="1463040"/>
            <a:ext cx="1371600" cy="640080"/>
          </a:xfrm>
          <a:prstGeom prst="roundRect">
            <a:avLst>
              <a:gd name="adj" fmla="val 8571"/>
            </a:avLst>
          </a:prstGeom>
          <a:solidFill>
            <a:srgbClr val="FFFFFF"/>
          </a:solidFill>
          <a:ln w="15875">
            <a:solidFill>
              <a:srgbClr val="6A3FA0"/>
            </a:solidFill>
            <a:prstDash val="solid"/>
          </a:ln>
        </p:spPr>
      </p:sp>
      <p:sp>
        <p:nvSpPr>
          <p:cNvPr id="13" name="Text 11"/>
          <p:cNvSpPr/>
          <p:nvPr/>
        </p:nvSpPr>
        <p:spPr>
          <a:xfrm>
            <a:off x="694944" y="1463040"/>
            <a:ext cx="1261872" cy="6400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mass</a:t>
            </a:r>
            <a:endParaRPr lang="en-US" sz="1100" dirty="0"/>
          </a:p>
          <a:p>
            <a:pPr algn="ctr" indent="0" marL="0">
              <a:buNone/>
            </a:pPr>
            <a:r>
              <a:rPr lang="en-US" sz="1100" dirty="0">
                <a:solidFill>
                  <a:srgbClr val="262B3A"/>
                </a:solidFill>
                <a:latin typeface="Calibri" pitchFamily="34" charset="0"/>
                <a:ea typeface="Calibri" pitchFamily="34" charset="-122"/>
                <a:cs typeface="Calibri" pitchFamily="34" charset="-120"/>
              </a:rPr>
              <a:t>(g)</a:t>
            </a:r>
            <a:endParaRPr lang="en-US" sz="1100" dirty="0"/>
          </a:p>
        </p:txBody>
      </p:sp>
      <p:sp>
        <p:nvSpPr>
          <p:cNvPr id="14" name="Shape 12"/>
          <p:cNvSpPr/>
          <p:nvPr/>
        </p:nvSpPr>
        <p:spPr>
          <a:xfrm>
            <a:off x="2331720" y="1463040"/>
            <a:ext cx="1371600" cy="640080"/>
          </a:xfrm>
          <a:prstGeom prst="roundRect">
            <a:avLst>
              <a:gd name="adj" fmla="val 8571"/>
            </a:avLst>
          </a:prstGeom>
          <a:solidFill>
            <a:srgbClr val="FFFFFF"/>
          </a:solidFill>
          <a:ln w="15875">
            <a:solidFill>
              <a:srgbClr val="6A3FA0"/>
            </a:solidFill>
            <a:prstDash val="solid"/>
          </a:ln>
        </p:spPr>
      </p:sp>
      <p:sp>
        <p:nvSpPr>
          <p:cNvPr id="15" name="Text 13"/>
          <p:cNvSpPr/>
          <p:nvPr/>
        </p:nvSpPr>
        <p:spPr>
          <a:xfrm>
            <a:off x="2386584" y="1463040"/>
            <a:ext cx="1261872" cy="6400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moles</a:t>
            </a:r>
            <a:endParaRPr lang="en-US" sz="1100" dirty="0"/>
          </a:p>
          <a:p>
            <a:pPr algn="ctr" indent="0" marL="0">
              <a:buNone/>
            </a:pPr>
            <a:r>
              <a:rPr lang="en-US" sz="1100" dirty="0">
                <a:solidFill>
                  <a:srgbClr val="262B3A"/>
                </a:solidFill>
                <a:latin typeface="Calibri" pitchFamily="34" charset="0"/>
                <a:ea typeface="Calibri" pitchFamily="34" charset="-122"/>
                <a:cs typeface="Calibri" pitchFamily="34" charset="-120"/>
              </a:rPr>
              <a:t>(mol)</a:t>
            </a:r>
            <a:endParaRPr lang="en-US" sz="1100" dirty="0"/>
          </a:p>
        </p:txBody>
      </p:sp>
      <p:sp>
        <p:nvSpPr>
          <p:cNvPr id="16" name="Shape 14"/>
          <p:cNvSpPr/>
          <p:nvPr/>
        </p:nvSpPr>
        <p:spPr>
          <a:xfrm>
            <a:off x="4023360" y="1463040"/>
            <a:ext cx="1371600" cy="640080"/>
          </a:xfrm>
          <a:prstGeom prst="roundRect">
            <a:avLst>
              <a:gd name="adj" fmla="val 8571"/>
            </a:avLst>
          </a:prstGeom>
          <a:solidFill>
            <a:srgbClr val="E9E0F7"/>
          </a:solidFill>
          <a:ln w="15875">
            <a:solidFill>
              <a:srgbClr val="6A3FA0"/>
            </a:solidFill>
            <a:prstDash val="solid"/>
          </a:ln>
        </p:spPr>
      </p:sp>
      <p:sp>
        <p:nvSpPr>
          <p:cNvPr id="17" name="Text 15"/>
          <p:cNvSpPr/>
          <p:nvPr/>
        </p:nvSpPr>
        <p:spPr>
          <a:xfrm>
            <a:off x="4078224" y="1463040"/>
            <a:ext cx="1261872" cy="6400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concentration</a:t>
            </a:r>
            <a:endParaRPr lang="en-US" sz="1100" dirty="0"/>
          </a:p>
          <a:p>
            <a:pPr algn="ctr" indent="0" marL="0">
              <a:buNone/>
            </a:pPr>
            <a:r>
              <a:rPr lang="en-US" sz="1100" dirty="0">
                <a:solidFill>
                  <a:srgbClr val="262B3A"/>
                </a:solidFill>
                <a:latin typeface="Calibri" pitchFamily="34" charset="0"/>
                <a:ea typeface="Calibri" pitchFamily="34" charset="-122"/>
                <a:cs typeface="Calibri" pitchFamily="34" charset="-120"/>
              </a:rPr>
              <a:t>(mol/dm³)</a:t>
            </a:r>
            <a:endParaRPr lang="en-US" sz="1100" dirty="0"/>
          </a:p>
        </p:txBody>
      </p:sp>
      <p:sp>
        <p:nvSpPr>
          <p:cNvPr id="18" name="Shape 16"/>
          <p:cNvSpPr/>
          <p:nvPr/>
        </p:nvSpPr>
        <p:spPr>
          <a:xfrm>
            <a:off x="2029968" y="1664208"/>
            <a:ext cx="283464" cy="91"/>
          </a:xfrm>
          <a:prstGeom prst="line">
            <a:avLst/>
          </a:prstGeom>
          <a:noFill/>
          <a:ln w="25400">
            <a:solidFill>
              <a:srgbClr val="6A3FA0"/>
            </a:solidFill>
            <a:prstDash val="solid"/>
            <a:tailEnd type="triangle"/>
          </a:ln>
        </p:spPr>
      </p:sp>
      <p:sp>
        <p:nvSpPr>
          <p:cNvPr id="19" name="Shape 17"/>
          <p:cNvSpPr/>
          <p:nvPr/>
        </p:nvSpPr>
        <p:spPr>
          <a:xfrm>
            <a:off x="3721608" y="1664208"/>
            <a:ext cx="283464" cy="91"/>
          </a:xfrm>
          <a:prstGeom prst="line">
            <a:avLst/>
          </a:prstGeom>
          <a:noFill/>
          <a:ln w="25400">
            <a:solidFill>
              <a:srgbClr val="6A3FA0"/>
            </a:solidFill>
            <a:prstDash val="solid"/>
            <a:tailEnd type="triangle"/>
          </a:ln>
        </p:spPr>
      </p:sp>
      <p:sp>
        <p:nvSpPr>
          <p:cNvPr id="20" name="Shape 18"/>
          <p:cNvSpPr/>
          <p:nvPr/>
        </p:nvSpPr>
        <p:spPr>
          <a:xfrm flipH="1">
            <a:off x="2029968" y="1938528"/>
            <a:ext cx="283464" cy="91"/>
          </a:xfrm>
          <a:prstGeom prst="line">
            <a:avLst/>
          </a:prstGeom>
          <a:noFill/>
          <a:ln w="25400">
            <a:solidFill>
              <a:srgbClr val="B8730A"/>
            </a:solidFill>
            <a:prstDash val="solid"/>
            <a:tailEnd type="triangle"/>
          </a:ln>
        </p:spPr>
      </p:sp>
      <p:sp>
        <p:nvSpPr>
          <p:cNvPr id="21" name="Shape 19"/>
          <p:cNvSpPr/>
          <p:nvPr/>
        </p:nvSpPr>
        <p:spPr>
          <a:xfrm flipH="1">
            <a:off x="3721608" y="1938528"/>
            <a:ext cx="283464" cy="91"/>
          </a:xfrm>
          <a:prstGeom prst="line">
            <a:avLst/>
          </a:prstGeom>
          <a:noFill/>
          <a:ln w="25400">
            <a:solidFill>
              <a:srgbClr val="B8730A"/>
            </a:solidFill>
            <a:prstDash val="solid"/>
            <a:tailEnd type="triangle"/>
          </a:ln>
        </p:spPr>
      </p:sp>
      <p:sp>
        <p:nvSpPr>
          <p:cNvPr id="22" name="Text 20"/>
          <p:cNvSpPr/>
          <p:nvPr/>
        </p:nvSpPr>
        <p:spPr>
          <a:xfrm>
            <a:off x="1691640" y="2176272"/>
            <a:ext cx="1005840" cy="201168"/>
          </a:xfrm>
          <a:prstGeom prst="rect">
            <a:avLst/>
          </a:prstGeom>
          <a:noFill/>
          <a:ln/>
        </p:spPr>
        <p:txBody>
          <a:bodyPr wrap="square" lIns="0" tIns="0" rIns="0" bIns="0" rtlCol="0" anchor="ctr"/>
          <a:lstStyle/>
          <a:p>
            <a:pPr algn="ctr" indent="0" marL="0">
              <a:buNone/>
            </a:pPr>
            <a:r>
              <a:rPr lang="en-US" sz="1050" b="1" dirty="0">
                <a:solidFill>
                  <a:srgbClr val="6A3FA0"/>
                </a:solidFill>
                <a:latin typeface="Calibri" pitchFamily="34" charset="0"/>
                <a:ea typeface="Calibri" pitchFamily="34" charset="-122"/>
                <a:cs typeface="Calibri" pitchFamily="34" charset="-120"/>
              </a:rPr>
              <a:t>÷ Mr</a:t>
            </a:r>
            <a:endParaRPr lang="en-US" sz="1050" dirty="0"/>
          </a:p>
        </p:txBody>
      </p:sp>
      <p:sp>
        <p:nvSpPr>
          <p:cNvPr id="23" name="Text 21"/>
          <p:cNvSpPr/>
          <p:nvPr/>
        </p:nvSpPr>
        <p:spPr>
          <a:xfrm>
            <a:off x="3337560" y="2176272"/>
            <a:ext cx="1097280" cy="201168"/>
          </a:xfrm>
          <a:prstGeom prst="rect">
            <a:avLst/>
          </a:prstGeom>
          <a:noFill/>
          <a:ln/>
        </p:spPr>
        <p:txBody>
          <a:bodyPr wrap="square" lIns="0" tIns="0" rIns="0" bIns="0" rtlCol="0" anchor="ctr"/>
          <a:lstStyle/>
          <a:p>
            <a:pPr algn="ctr" indent="0" marL="0">
              <a:buNone/>
            </a:pPr>
            <a:r>
              <a:rPr lang="en-US" sz="1050" b="1" dirty="0">
                <a:solidFill>
                  <a:srgbClr val="6A3FA0"/>
                </a:solidFill>
                <a:latin typeface="Calibri" pitchFamily="34" charset="0"/>
                <a:ea typeface="Calibri" pitchFamily="34" charset="-122"/>
                <a:cs typeface="Calibri" pitchFamily="34" charset="-120"/>
              </a:rPr>
              <a:t>÷ volume (dm³)</a:t>
            </a:r>
            <a:endParaRPr lang="en-US" sz="1050" dirty="0"/>
          </a:p>
        </p:txBody>
      </p:sp>
      <p:sp>
        <p:nvSpPr>
          <p:cNvPr id="24" name="Text 22"/>
          <p:cNvSpPr/>
          <p:nvPr/>
        </p:nvSpPr>
        <p:spPr>
          <a:xfrm>
            <a:off x="640080" y="2432304"/>
            <a:ext cx="4754880" cy="219456"/>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 reverse: </a:t>
            </a:r>
            <a:r>
              <a:rPr lang="en-US" sz="1050" b="1" dirty="0">
                <a:solidFill>
                  <a:srgbClr val="B8730A"/>
                </a:solidFill>
                <a:latin typeface="Calibri" pitchFamily="34" charset="0"/>
                <a:ea typeface="Calibri" pitchFamily="34" charset="-122"/>
                <a:cs typeface="Calibri" pitchFamily="34" charset="-120"/>
              </a:rPr>
              <a:t>× volume</a:t>
            </a:r>
            <a:r>
              <a:rPr lang="en-US" sz="1050" b="1" dirty="0">
                <a:solidFill>
                  <a:srgbClr val="B8730A"/>
                </a:solidFill>
                <a:latin typeface="Calibri" pitchFamily="34" charset="0"/>
                <a:ea typeface="Calibri" pitchFamily="34" charset="-122"/>
                <a:cs typeface="Calibri" pitchFamily="34" charset="-120"/>
              </a:rPr>
              <a:t>, then </a:t>
            </a:r>
            <a:r>
              <a:rPr lang="en-US" sz="1050" b="1" dirty="0">
                <a:solidFill>
                  <a:srgbClr val="B8730A"/>
                </a:solidFill>
                <a:latin typeface="Calibri" pitchFamily="34" charset="0"/>
                <a:ea typeface="Calibri" pitchFamily="34" charset="-122"/>
                <a:cs typeface="Calibri" pitchFamily="34" charset="-120"/>
              </a:rPr>
              <a:t>× Mr</a:t>
            </a:r>
            <a:endParaRPr lang="en-US" sz="1050" dirty="0"/>
          </a:p>
        </p:txBody>
      </p:sp>
      <p:sp>
        <p:nvSpPr>
          <p:cNvPr id="25" name="Shape 23"/>
          <p:cNvSpPr/>
          <p:nvPr/>
        </p:nvSpPr>
        <p:spPr>
          <a:xfrm>
            <a:off x="914400" y="2926080"/>
            <a:ext cx="1325880" cy="1645920"/>
          </a:xfrm>
          <a:prstGeom prst="rect">
            <a:avLst/>
          </a:prstGeom>
          <a:solidFill>
            <a:srgbClr val="EEF5FB"/>
          </a:solidFill>
          <a:ln/>
        </p:spPr>
      </p:sp>
      <p:sp>
        <p:nvSpPr>
          <p:cNvPr id="26" name="Shape 24"/>
          <p:cNvSpPr/>
          <p:nvPr/>
        </p:nvSpPr>
        <p:spPr>
          <a:xfrm>
            <a:off x="914400" y="3189427"/>
            <a:ext cx="1325880" cy="1382573"/>
          </a:xfrm>
          <a:prstGeom prst="rect">
            <a:avLst/>
          </a:prstGeom>
          <a:solidFill>
            <a:srgbClr val="CFE4F7"/>
          </a:solidFill>
          <a:ln/>
        </p:spPr>
      </p:sp>
      <p:sp>
        <p:nvSpPr>
          <p:cNvPr id="27" name="Shape 25"/>
          <p:cNvSpPr/>
          <p:nvPr/>
        </p:nvSpPr>
        <p:spPr>
          <a:xfrm>
            <a:off x="914400" y="2926080"/>
            <a:ext cx="91" cy="1645920"/>
          </a:xfrm>
          <a:prstGeom prst="line">
            <a:avLst/>
          </a:prstGeom>
          <a:noFill/>
          <a:ln w="15875">
            <a:solidFill>
              <a:srgbClr val="2A1F3D"/>
            </a:solidFill>
            <a:prstDash val="solid"/>
          </a:ln>
        </p:spPr>
      </p:sp>
      <p:sp>
        <p:nvSpPr>
          <p:cNvPr id="28" name="Shape 26"/>
          <p:cNvSpPr/>
          <p:nvPr/>
        </p:nvSpPr>
        <p:spPr>
          <a:xfrm>
            <a:off x="2240280" y="2926080"/>
            <a:ext cx="91" cy="1645920"/>
          </a:xfrm>
          <a:prstGeom prst="line">
            <a:avLst/>
          </a:prstGeom>
          <a:noFill/>
          <a:ln w="15875">
            <a:solidFill>
              <a:srgbClr val="2A1F3D"/>
            </a:solidFill>
            <a:prstDash val="solid"/>
          </a:ln>
        </p:spPr>
      </p:sp>
      <p:sp>
        <p:nvSpPr>
          <p:cNvPr id="29" name="Shape 27"/>
          <p:cNvSpPr/>
          <p:nvPr/>
        </p:nvSpPr>
        <p:spPr>
          <a:xfrm>
            <a:off x="914400" y="4572000"/>
            <a:ext cx="1325880" cy="91"/>
          </a:xfrm>
          <a:prstGeom prst="line">
            <a:avLst/>
          </a:prstGeom>
          <a:noFill/>
          <a:ln w="15875">
            <a:solidFill>
              <a:srgbClr val="2A1F3D"/>
            </a:solidFill>
            <a:prstDash val="solid"/>
          </a:ln>
        </p:spPr>
      </p:sp>
      <p:sp>
        <p:nvSpPr>
          <p:cNvPr id="30" name="Shape 28"/>
          <p:cNvSpPr/>
          <p:nvPr/>
        </p:nvSpPr>
        <p:spPr>
          <a:xfrm>
            <a:off x="859536" y="2926080"/>
            <a:ext cx="54864" cy="91"/>
          </a:xfrm>
          <a:prstGeom prst="line">
            <a:avLst/>
          </a:prstGeom>
          <a:noFill/>
          <a:ln w="15875">
            <a:solidFill>
              <a:srgbClr val="2A1F3D"/>
            </a:solidFill>
            <a:prstDash val="solid"/>
          </a:ln>
        </p:spPr>
      </p:sp>
      <p:sp>
        <p:nvSpPr>
          <p:cNvPr id="31" name="Shape 29"/>
          <p:cNvSpPr/>
          <p:nvPr/>
        </p:nvSpPr>
        <p:spPr>
          <a:xfrm>
            <a:off x="2240280" y="2926080"/>
            <a:ext cx="54864" cy="91"/>
          </a:xfrm>
          <a:prstGeom prst="line">
            <a:avLst/>
          </a:prstGeom>
          <a:noFill/>
          <a:ln w="15875">
            <a:solidFill>
              <a:srgbClr val="2A1F3D"/>
            </a:solidFill>
            <a:prstDash val="solid"/>
          </a:ln>
        </p:spPr>
      </p:sp>
      <p:sp>
        <p:nvSpPr>
          <p:cNvPr id="32" name="Shape 30"/>
          <p:cNvSpPr/>
          <p:nvPr/>
        </p:nvSpPr>
        <p:spPr>
          <a:xfrm>
            <a:off x="1129284" y="3553907"/>
            <a:ext cx="100584" cy="100584"/>
          </a:xfrm>
          <a:prstGeom prst="ellipse">
            <a:avLst/>
          </a:prstGeom>
          <a:solidFill>
            <a:srgbClr val="6A3FA0"/>
          </a:solidFill>
          <a:ln w="6350">
            <a:solidFill>
              <a:srgbClr val="4A2A75"/>
            </a:solidFill>
            <a:prstDash val="solid"/>
          </a:ln>
        </p:spPr>
      </p:sp>
      <p:sp>
        <p:nvSpPr>
          <p:cNvPr id="33" name="Shape 31"/>
          <p:cNvSpPr/>
          <p:nvPr/>
        </p:nvSpPr>
        <p:spPr>
          <a:xfrm>
            <a:off x="1527048" y="3899550"/>
            <a:ext cx="100584" cy="100584"/>
          </a:xfrm>
          <a:prstGeom prst="ellipse">
            <a:avLst/>
          </a:prstGeom>
          <a:solidFill>
            <a:srgbClr val="6A3FA0"/>
          </a:solidFill>
          <a:ln w="6350">
            <a:solidFill>
              <a:srgbClr val="4A2A75"/>
            </a:solidFill>
            <a:prstDash val="solid"/>
          </a:ln>
        </p:spPr>
      </p:sp>
      <p:sp>
        <p:nvSpPr>
          <p:cNvPr id="34" name="Shape 32"/>
          <p:cNvSpPr/>
          <p:nvPr/>
        </p:nvSpPr>
        <p:spPr>
          <a:xfrm>
            <a:off x="1898294" y="3484778"/>
            <a:ext cx="100584" cy="100584"/>
          </a:xfrm>
          <a:prstGeom prst="ellipse">
            <a:avLst/>
          </a:prstGeom>
          <a:solidFill>
            <a:srgbClr val="6A3FA0"/>
          </a:solidFill>
          <a:ln w="6350">
            <a:solidFill>
              <a:srgbClr val="4A2A75"/>
            </a:solidFill>
            <a:prstDash val="solid"/>
          </a:ln>
        </p:spPr>
      </p:sp>
      <p:sp>
        <p:nvSpPr>
          <p:cNvPr id="35" name="Shape 33"/>
          <p:cNvSpPr/>
          <p:nvPr/>
        </p:nvSpPr>
        <p:spPr>
          <a:xfrm>
            <a:off x="1288390" y="4176065"/>
            <a:ext cx="100584" cy="100584"/>
          </a:xfrm>
          <a:prstGeom prst="ellipse">
            <a:avLst/>
          </a:prstGeom>
          <a:solidFill>
            <a:srgbClr val="6A3FA0"/>
          </a:solidFill>
          <a:ln w="6350">
            <a:solidFill>
              <a:srgbClr val="4A2A75"/>
            </a:solidFill>
            <a:prstDash val="solid"/>
          </a:ln>
        </p:spPr>
      </p:sp>
      <p:sp>
        <p:nvSpPr>
          <p:cNvPr id="36" name="Shape 34"/>
          <p:cNvSpPr/>
          <p:nvPr/>
        </p:nvSpPr>
        <p:spPr>
          <a:xfrm>
            <a:off x="1765706" y="4245193"/>
            <a:ext cx="100584" cy="100584"/>
          </a:xfrm>
          <a:prstGeom prst="ellipse">
            <a:avLst/>
          </a:prstGeom>
          <a:solidFill>
            <a:srgbClr val="6A3FA0"/>
          </a:solidFill>
          <a:ln w="6350">
            <a:solidFill>
              <a:srgbClr val="4A2A75"/>
            </a:solidFill>
            <a:prstDash val="solid"/>
          </a:ln>
        </p:spPr>
      </p:sp>
      <p:sp>
        <p:nvSpPr>
          <p:cNvPr id="37" name="Shape 35"/>
          <p:cNvSpPr/>
          <p:nvPr/>
        </p:nvSpPr>
        <p:spPr>
          <a:xfrm>
            <a:off x="1062990" y="3996330"/>
            <a:ext cx="100584" cy="100584"/>
          </a:xfrm>
          <a:prstGeom prst="ellipse">
            <a:avLst/>
          </a:prstGeom>
          <a:solidFill>
            <a:srgbClr val="6A3FA0"/>
          </a:solidFill>
          <a:ln w="6350">
            <a:solidFill>
              <a:srgbClr val="4A2A75"/>
            </a:solidFill>
            <a:prstDash val="solid"/>
          </a:ln>
        </p:spPr>
      </p:sp>
      <p:sp>
        <p:nvSpPr>
          <p:cNvPr id="38" name="Shape 36"/>
          <p:cNvSpPr/>
          <p:nvPr/>
        </p:nvSpPr>
        <p:spPr>
          <a:xfrm>
            <a:off x="2030882" y="3941027"/>
            <a:ext cx="100584" cy="100584"/>
          </a:xfrm>
          <a:prstGeom prst="ellipse">
            <a:avLst/>
          </a:prstGeom>
          <a:solidFill>
            <a:srgbClr val="6A3FA0"/>
          </a:solidFill>
          <a:ln w="6350">
            <a:solidFill>
              <a:srgbClr val="4A2A75"/>
            </a:solidFill>
            <a:prstDash val="solid"/>
          </a:ln>
        </p:spPr>
      </p:sp>
      <p:sp>
        <p:nvSpPr>
          <p:cNvPr id="39" name="Shape 37"/>
          <p:cNvSpPr/>
          <p:nvPr/>
        </p:nvSpPr>
        <p:spPr>
          <a:xfrm>
            <a:off x="1460754" y="3387998"/>
            <a:ext cx="100584" cy="100584"/>
          </a:xfrm>
          <a:prstGeom prst="ellipse">
            <a:avLst/>
          </a:prstGeom>
          <a:solidFill>
            <a:srgbClr val="6A3FA0"/>
          </a:solidFill>
          <a:ln w="6350">
            <a:solidFill>
              <a:srgbClr val="4A2A75"/>
            </a:solidFill>
            <a:prstDash val="solid"/>
          </a:ln>
        </p:spPr>
      </p:sp>
      <p:sp>
        <p:nvSpPr>
          <p:cNvPr id="40" name="Shape 38"/>
          <p:cNvSpPr/>
          <p:nvPr/>
        </p:nvSpPr>
        <p:spPr>
          <a:xfrm>
            <a:off x="1659636" y="3623036"/>
            <a:ext cx="100584" cy="100584"/>
          </a:xfrm>
          <a:prstGeom prst="ellipse">
            <a:avLst/>
          </a:prstGeom>
          <a:solidFill>
            <a:srgbClr val="6A3FA0"/>
          </a:solidFill>
          <a:ln w="6350">
            <a:solidFill>
              <a:srgbClr val="4A2A75"/>
            </a:solidFill>
            <a:prstDash val="solid"/>
          </a:ln>
        </p:spPr>
      </p:sp>
      <p:sp>
        <p:nvSpPr>
          <p:cNvPr id="41" name="Shape 39"/>
          <p:cNvSpPr/>
          <p:nvPr/>
        </p:nvSpPr>
        <p:spPr>
          <a:xfrm>
            <a:off x="1394460" y="4383451"/>
            <a:ext cx="100584" cy="100584"/>
          </a:xfrm>
          <a:prstGeom prst="ellipse">
            <a:avLst/>
          </a:prstGeom>
          <a:solidFill>
            <a:srgbClr val="6A3FA0"/>
          </a:solidFill>
          <a:ln w="6350">
            <a:solidFill>
              <a:srgbClr val="4A2A75"/>
            </a:solidFill>
            <a:prstDash val="solid"/>
          </a:ln>
        </p:spPr>
      </p:sp>
      <p:sp>
        <p:nvSpPr>
          <p:cNvPr id="42" name="Text 40"/>
          <p:cNvSpPr/>
          <p:nvPr/>
        </p:nvSpPr>
        <p:spPr>
          <a:xfrm>
            <a:off x="2331720" y="3017520"/>
            <a:ext cx="1188720" cy="365760"/>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each dot = 0.10 mol</a:t>
            </a:r>
            <a:endParaRPr lang="en-US" sz="1000" dirty="0"/>
          </a:p>
        </p:txBody>
      </p:sp>
      <p:sp>
        <p:nvSpPr>
          <p:cNvPr id="43" name="Text 41"/>
          <p:cNvSpPr/>
          <p:nvPr/>
        </p:nvSpPr>
        <p:spPr>
          <a:xfrm>
            <a:off x="457200" y="4617720"/>
            <a:ext cx="2240280" cy="21945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40 g NaOH = </a:t>
            </a:r>
            <a:r>
              <a:rPr lang="en-US" sz="1050" b="1" dirty="0">
                <a:solidFill>
                  <a:srgbClr val="262B3A"/>
                </a:solidFill>
                <a:latin typeface="Calibri" pitchFamily="34" charset="0"/>
                <a:ea typeface="Calibri" pitchFamily="34" charset="-122"/>
                <a:cs typeface="Calibri" pitchFamily="34" charset="-120"/>
              </a:rPr>
              <a:t>1 mol</a:t>
            </a:r>
            <a:r>
              <a:rPr lang="en-US" sz="1050" dirty="0">
                <a:solidFill>
                  <a:srgbClr val="262B3A"/>
                </a:solidFill>
                <a:latin typeface="Calibri" pitchFamily="34" charset="0"/>
                <a:ea typeface="Calibri" pitchFamily="34" charset="-122"/>
                <a:cs typeface="Calibri" pitchFamily="34" charset="-120"/>
              </a:rPr>
              <a:t> in </a:t>
            </a:r>
            <a:r>
              <a:rPr lang="en-US" sz="1050" b="1" dirty="0">
                <a:solidFill>
                  <a:srgbClr val="262B3A"/>
                </a:solidFill>
                <a:latin typeface="Calibri" pitchFamily="34" charset="0"/>
                <a:ea typeface="Calibri" pitchFamily="34" charset="-122"/>
                <a:cs typeface="Calibri" pitchFamily="34" charset="-120"/>
              </a:rPr>
              <a:t>1 dm³</a:t>
            </a:r>
            <a:endParaRPr lang="en-US" sz="1050" dirty="0"/>
          </a:p>
        </p:txBody>
      </p:sp>
      <p:sp>
        <p:nvSpPr>
          <p:cNvPr id="44" name="Shape 42"/>
          <p:cNvSpPr/>
          <p:nvPr/>
        </p:nvSpPr>
        <p:spPr>
          <a:xfrm>
            <a:off x="960120" y="4892040"/>
            <a:ext cx="1234440" cy="310896"/>
          </a:xfrm>
          <a:prstGeom prst="roundRect">
            <a:avLst>
              <a:gd name="adj" fmla="val 17647"/>
            </a:avLst>
          </a:prstGeom>
          <a:solidFill>
            <a:srgbClr val="E3F0FB"/>
          </a:solidFill>
          <a:ln w="9525">
            <a:solidFill>
              <a:srgbClr val="5B9BD5"/>
            </a:solidFill>
            <a:prstDash val="solid"/>
          </a:ln>
        </p:spPr>
      </p:sp>
      <p:sp>
        <p:nvSpPr>
          <p:cNvPr id="45" name="Text 43"/>
          <p:cNvSpPr/>
          <p:nvPr/>
        </p:nvSpPr>
        <p:spPr>
          <a:xfrm>
            <a:off x="1014984" y="4892040"/>
            <a:ext cx="1124712" cy="310896"/>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1.0 mol/dm³</a:t>
            </a:r>
            <a:endParaRPr lang="en-US" sz="1100" dirty="0"/>
          </a:p>
        </p:txBody>
      </p:sp>
      <p:sp>
        <p:nvSpPr>
          <p:cNvPr id="46" name="Shape 44"/>
          <p:cNvSpPr/>
          <p:nvPr/>
        </p:nvSpPr>
        <p:spPr>
          <a:xfrm>
            <a:off x="3703320" y="3749040"/>
            <a:ext cx="1325880" cy="822960"/>
          </a:xfrm>
          <a:prstGeom prst="rect">
            <a:avLst/>
          </a:prstGeom>
          <a:solidFill>
            <a:srgbClr val="EEF5FB"/>
          </a:solidFill>
          <a:ln/>
        </p:spPr>
      </p:sp>
      <p:sp>
        <p:nvSpPr>
          <p:cNvPr id="47" name="Shape 45"/>
          <p:cNvSpPr/>
          <p:nvPr/>
        </p:nvSpPr>
        <p:spPr>
          <a:xfrm>
            <a:off x="3703320" y="4226357"/>
            <a:ext cx="1325880" cy="345643"/>
          </a:xfrm>
          <a:prstGeom prst="rect">
            <a:avLst/>
          </a:prstGeom>
          <a:solidFill>
            <a:srgbClr val="CFE4F7"/>
          </a:solidFill>
          <a:ln/>
        </p:spPr>
      </p:sp>
      <p:sp>
        <p:nvSpPr>
          <p:cNvPr id="48" name="Shape 46"/>
          <p:cNvSpPr/>
          <p:nvPr/>
        </p:nvSpPr>
        <p:spPr>
          <a:xfrm>
            <a:off x="3703320" y="3749040"/>
            <a:ext cx="91" cy="822960"/>
          </a:xfrm>
          <a:prstGeom prst="line">
            <a:avLst/>
          </a:prstGeom>
          <a:noFill/>
          <a:ln w="15875">
            <a:solidFill>
              <a:srgbClr val="2A1F3D"/>
            </a:solidFill>
            <a:prstDash val="solid"/>
          </a:ln>
        </p:spPr>
      </p:sp>
      <p:sp>
        <p:nvSpPr>
          <p:cNvPr id="49" name="Shape 47"/>
          <p:cNvSpPr/>
          <p:nvPr/>
        </p:nvSpPr>
        <p:spPr>
          <a:xfrm>
            <a:off x="5029200" y="3749040"/>
            <a:ext cx="91" cy="822960"/>
          </a:xfrm>
          <a:prstGeom prst="line">
            <a:avLst/>
          </a:prstGeom>
          <a:noFill/>
          <a:ln w="15875">
            <a:solidFill>
              <a:srgbClr val="2A1F3D"/>
            </a:solidFill>
            <a:prstDash val="solid"/>
          </a:ln>
        </p:spPr>
      </p:sp>
      <p:sp>
        <p:nvSpPr>
          <p:cNvPr id="50" name="Shape 48"/>
          <p:cNvSpPr/>
          <p:nvPr/>
        </p:nvSpPr>
        <p:spPr>
          <a:xfrm>
            <a:off x="3703320" y="4572000"/>
            <a:ext cx="1325880" cy="91"/>
          </a:xfrm>
          <a:prstGeom prst="line">
            <a:avLst/>
          </a:prstGeom>
          <a:noFill/>
          <a:ln w="15875">
            <a:solidFill>
              <a:srgbClr val="2A1F3D"/>
            </a:solidFill>
            <a:prstDash val="solid"/>
          </a:ln>
        </p:spPr>
      </p:sp>
      <p:sp>
        <p:nvSpPr>
          <p:cNvPr id="51" name="Shape 49"/>
          <p:cNvSpPr/>
          <p:nvPr/>
        </p:nvSpPr>
        <p:spPr>
          <a:xfrm>
            <a:off x="3648456" y="3749040"/>
            <a:ext cx="54864" cy="91"/>
          </a:xfrm>
          <a:prstGeom prst="line">
            <a:avLst/>
          </a:prstGeom>
          <a:noFill/>
          <a:ln w="15875">
            <a:solidFill>
              <a:srgbClr val="2A1F3D"/>
            </a:solidFill>
            <a:prstDash val="solid"/>
          </a:ln>
        </p:spPr>
      </p:sp>
      <p:sp>
        <p:nvSpPr>
          <p:cNvPr id="52" name="Shape 50"/>
          <p:cNvSpPr/>
          <p:nvPr/>
        </p:nvSpPr>
        <p:spPr>
          <a:xfrm>
            <a:off x="5029200" y="3749040"/>
            <a:ext cx="54864" cy="91"/>
          </a:xfrm>
          <a:prstGeom prst="line">
            <a:avLst/>
          </a:prstGeom>
          <a:noFill/>
          <a:ln w="15875">
            <a:solidFill>
              <a:srgbClr val="2A1F3D"/>
            </a:solidFill>
            <a:prstDash val="solid"/>
          </a:ln>
        </p:spPr>
      </p:sp>
      <p:sp>
        <p:nvSpPr>
          <p:cNvPr id="53" name="Shape 51"/>
          <p:cNvSpPr/>
          <p:nvPr/>
        </p:nvSpPr>
        <p:spPr>
          <a:xfrm>
            <a:off x="4315968" y="4348886"/>
            <a:ext cx="100584" cy="100584"/>
          </a:xfrm>
          <a:prstGeom prst="ellipse">
            <a:avLst/>
          </a:prstGeom>
          <a:solidFill>
            <a:srgbClr val="6A3FA0"/>
          </a:solidFill>
          <a:ln w="6350">
            <a:solidFill>
              <a:srgbClr val="4A2A75"/>
            </a:solidFill>
            <a:prstDash val="solid"/>
          </a:ln>
        </p:spPr>
      </p:sp>
      <p:sp>
        <p:nvSpPr>
          <p:cNvPr id="54" name="Text 52"/>
          <p:cNvSpPr/>
          <p:nvPr/>
        </p:nvSpPr>
        <p:spPr>
          <a:xfrm>
            <a:off x="3200400" y="4617720"/>
            <a:ext cx="2377440" cy="21945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4.0 g = </a:t>
            </a:r>
            <a:r>
              <a:rPr lang="en-US" sz="1050" b="1" dirty="0">
                <a:solidFill>
                  <a:srgbClr val="262B3A"/>
                </a:solidFill>
                <a:latin typeface="Calibri" pitchFamily="34" charset="0"/>
                <a:ea typeface="Calibri" pitchFamily="34" charset="-122"/>
                <a:cs typeface="Calibri" pitchFamily="34" charset="-120"/>
              </a:rPr>
              <a:t>0.10 mol</a:t>
            </a:r>
            <a:r>
              <a:rPr lang="en-US" sz="1050" dirty="0">
                <a:solidFill>
                  <a:srgbClr val="262B3A"/>
                </a:solidFill>
                <a:latin typeface="Calibri" pitchFamily="34" charset="0"/>
                <a:ea typeface="Calibri" pitchFamily="34" charset="-122"/>
                <a:cs typeface="Calibri" pitchFamily="34" charset="-120"/>
              </a:rPr>
              <a:t> in </a:t>
            </a:r>
            <a:r>
              <a:rPr lang="en-US" sz="1050" b="1" dirty="0">
                <a:solidFill>
                  <a:srgbClr val="262B3A"/>
                </a:solidFill>
                <a:latin typeface="Calibri" pitchFamily="34" charset="0"/>
                <a:ea typeface="Calibri" pitchFamily="34" charset="-122"/>
                <a:cs typeface="Calibri" pitchFamily="34" charset="-120"/>
              </a:rPr>
              <a:t>0.25 dm³</a:t>
            </a:r>
            <a:endParaRPr lang="en-US" sz="1050" dirty="0"/>
          </a:p>
        </p:txBody>
      </p:sp>
      <p:sp>
        <p:nvSpPr>
          <p:cNvPr id="55" name="Shape 53"/>
          <p:cNvSpPr/>
          <p:nvPr/>
        </p:nvSpPr>
        <p:spPr>
          <a:xfrm>
            <a:off x="3749040" y="4892040"/>
            <a:ext cx="1234440" cy="310896"/>
          </a:xfrm>
          <a:prstGeom prst="roundRect">
            <a:avLst>
              <a:gd name="adj" fmla="val 17647"/>
            </a:avLst>
          </a:prstGeom>
          <a:solidFill>
            <a:srgbClr val="F6DCCB"/>
          </a:solidFill>
          <a:ln w="9525">
            <a:solidFill>
              <a:srgbClr val="B8730A"/>
            </a:solidFill>
            <a:prstDash val="solid"/>
          </a:ln>
        </p:spPr>
      </p:sp>
      <p:sp>
        <p:nvSpPr>
          <p:cNvPr id="56" name="Text 54"/>
          <p:cNvSpPr/>
          <p:nvPr/>
        </p:nvSpPr>
        <p:spPr>
          <a:xfrm>
            <a:off x="3803904" y="4892040"/>
            <a:ext cx="1124712" cy="310896"/>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0.40 mol/dm³</a:t>
            </a:r>
            <a:endParaRPr lang="en-US" sz="1100" dirty="0"/>
          </a:p>
        </p:txBody>
      </p:sp>
      <p:sp>
        <p:nvSpPr>
          <p:cNvPr id="57" name="Shape 55"/>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58" name="Text 5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Molar concentration</a:t>
            </a:r>
            <a:endParaRPr lang="en-US" sz="1300" dirty="0"/>
          </a:p>
        </p:txBody>
      </p:sp>
      <p:sp>
        <p:nvSpPr>
          <p:cNvPr id="59" name="Text 57"/>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Chemists count particles in </a:t>
            </a:r>
            <a:r>
              <a:rPr lang="en-US" sz="1150" b="1" dirty="0">
                <a:solidFill>
                  <a:srgbClr val="262B3A"/>
                </a:solidFill>
                <a:latin typeface="Calibri" pitchFamily="34" charset="0"/>
                <a:ea typeface="Calibri" pitchFamily="34" charset="-122"/>
                <a:cs typeface="Calibri" pitchFamily="34" charset="-120"/>
              </a:rPr>
              <a:t>moles</a:t>
            </a:r>
            <a:r>
              <a:rPr lang="en-US" sz="1150" dirty="0">
                <a:solidFill>
                  <a:srgbClr val="262B3A"/>
                </a:solidFill>
                <a:latin typeface="Calibri" pitchFamily="34" charset="0"/>
                <a:ea typeface="Calibri" pitchFamily="34" charset="-122"/>
                <a:cs typeface="Calibri" pitchFamily="34" charset="-120"/>
              </a:rPr>
              <a:t>, so concentration is often given in </a:t>
            </a:r>
            <a:r>
              <a:rPr lang="en-US" sz="1150" b="1" dirty="0">
                <a:solidFill>
                  <a:srgbClr val="262B3A"/>
                </a:solidFill>
                <a:latin typeface="Calibri" pitchFamily="34" charset="0"/>
                <a:ea typeface="Calibri" pitchFamily="34" charset="-122"/>
                <a:cs typeface="Calibri" pitchFamily="34" charset="-120"/>
              </a:rPr>
              <a:t>mol/dm³</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150" b="1" dirty="0">
                <a:solidFill>
                  <a:srgbClr val="6A3FA0"/>
                </a:solidFill>
                <a:latin typeface="Calibri" pitchFamily="34" charset="0"/>
                <a:ea typeface="Calibri" pitchFamily="34" charset="-122"/>
                <a:cs typeface="Calibri" pitchFamily="34" charset="-120"/>
              </a:rPr>
              <a:t>concentration (mol/dm³) = moles of solute (mol) ÷ volume (dm³)</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you are given a </a:t>
            </a: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 first find the moles: moles = mass ÷ </a:t>
            </a:r>
            <a:r>
              <a:rPr lang="en-US" sz="1150" b="1" dirty="0">
                <a:solidFill>
                  <a:srgbClr val="262B3A"/>
                </a:solidFill>
                <a:latin typeface="Calibri" pitchFamily="34" charset="0"/>
                <a:ea typeface="Calibri" pitchFamily="34" charset="-122"/>
                <a:cs typeface="Calibri" pitchFamily="34" charset="-120"/>
              </a:rPr>
              <a:t>Mr</a:t>
            </a:r>
            <a:r>
              <a:rPr lang="en-US" sz="1150" dirty="0">
                <a:solidFill>
                  <a:srgbClr val="262B3A"/>
                </a:solidFill>
                <a:latin typeface="Calibri" pitchFamily="34" charset="0"/>
                <a:ea typeface="Calibri" pitchFamily="34" charset="-122"/>
                <a:cs typeface="Calibri" pitchFamily="34" charset="-120"/>
              </a:rPr>
              <a:t> (C5.2).</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Rearranged: </a:t>
            </a:r>
            <a:r>
              <a:rPr lang="en-US" sz="1150" b="1" dirty="0">
                <a:solidFill>
                  <a:srgbClr val="262B3A"/>
                </a:solidFill>
                <a:latin typeface="Calibri" pitchFamily="34" charset="0"/>
                <a:ea typeface="Calibri" pitchFamily="34" charset="-122"/>
                <a:cs typeface="Calibri" pitchFamily="34" charset="-120"/>
              </a:rPr>
              <a:t>moles = concentration × volume</a:t>
            </a:r>
            <a:r>
              <a:rPr lang="en-US" sz="1150" dirty="0">
                <a:solidFill>
                  <a:srgbClr val="262B3A"/>
                </a:solidFill>
                <a:latin typeface="Calibri" pitchFamily="34" charset="0"/>
                <a:ea typeface="Calibri" pitchFamily="34" charset="-122"/>
                <a:cs typeface="Calibri" pitchFamily="34" charset="-120"/>
              </a:rPr>
              <a:t>. You will use this in titration calculations.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Square brackets mean concentration: </a:t>
            </a:r>
            <a:r>
              <a:rPr lang="en-US" sz="1150" b="1" dirty="0">
                <a:solidFill>
                  <a:srgbClr val="262B3A"/>
                </a:solidFill>
                <a:latin typeface="Calibri" pitchFamily="34" charset="0"/>
                <a:ea typeface="Calibri" pitchFamily="34" charset="-122"/>
                <a:cs typeface="Calibri" pitchFamily="34" charset="-120"/>
              </a:rPr>
              <a:t>[NaOH]</a:t>
            </a:r>
            <a:r>
              <a:rPr lang="en-US" sz="1150" dirty="0">
                <a:solidFill>
                  <a:srgbClr val="262B3A"/>
                </a:solidFill>
                <a:latin typeface="Calibri" pitchFamily="34" charset="0"/>
                <a:ea typeface="Calibri" pitchFamily="34" charset="-122"/>
                <a:cs typeface="Calibri" pitchFamily="34" charset="-120"/>
              </a:rPr>
              <a:t> = concentration of sodium hydroxide.</a:t>
            </a:r>
            <a:endParaRPr lang="en-US" sz="1150" dirty="0"/>
          </a:p>
        </p:txBody>
      </p:sp>
      <p:sp>
        <p:nvSpPr>
          <p:cNvPr id="60" name="Shape 58"/>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61" name="Text 59"/>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mol/dm³</a:t>
            </a:r>
            <a:endParaRPr lang="en-US" sz="1300" dirty="0"/>
          </a:p>
        </p:txBody>
      </p:sp>
      <p:sp>
        <p:nvSpPr>
          <p:cNvPr id="62" name="Text 60"/>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4.0 g of NaOH (Mr 40) is dissolved to make 250 cm³ of solution.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Moles   </a:t>
            </a:r>
            <a:r>
              <a:rPr lang="en-US" sz="1050" dirty="0">
                <a:solidFill>
                  <a:srgbClr val="262B3A"/>
                </a:solidFill>
                <a:latin typeface="Calibri" pitchFamily="34" charset="0"/>
                <a:ea typeface="Calibri" pitchFamily="34" charset="-122"/>
                <a:cs typeface="Calibri" pitchFamily="34" charset="-120"/>
              </a:rPr>
              <a:t>4.0 ÷ 40 = 0.10 mol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Volume   </a:t>
            </a:r>
            <a:r>
              <a:rPr lang="en-US" sz="1050" dirty="0">
                <a:solidFill>
                  <a:srgbClr val="262B3A"/>
                </a:solidFill>
                <a:latin typeface="Calibri" pitchFamily="34" charset="0"/>
                <a:ea typeface="Calibri" pitchFamily="34" charset="-122"/>
                <a:cs typeface="Calibri" pitchFamily="34" charset="-120"/>
              </a:rPr>
              <a:t>250 ÷ 1000 = 0.250 dm³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0.10 ÷ 0.250 = </a:t>
            </a:r>
            <a:r>
              <a:rPr lang="en-US" sz="1050" b="1" dirty="0">
                <a:solidFill>
                  <a:srgbClr val="C8414C"/>
                </a:solidFill>
                <a:latin typeface="Calibri" pitchFamily="34" charset="0"/>
                <a:ea typeface="Calibri" pitchFamily="34" charset="-122"/>
                <a:cs typeface="Calibri" pitchFamily="34" charset="-120"/>
              </a:rPr>
              <a:t>0.40 mol/dm³</a:t>
            </a:r>
            <a:endParaRPr lang="en-US" sz="1050" dirty="0"/>
          </a:p>
        </p:txBody>
      </p:sp>
      <p:sp>
        <p:nvSpPr>
          <p:cNvPr id="63" name="Shape 61"/>
          <p:cNvSpPr/>
          <p:nvPr/>
        </p:nvSpPr>
        <p:spPr>
          <a:xfrm>
            <a:off x="411480" y="5833872"/>
            <a:ext cx="11368735" cy="530352"/>
          </a:xfrm>
          <a:prstGeom prst="rect">
            <a:avLst/>
          </a:prstGeom>
          <a:solidFill>
            <a:srgbClr val="FFF4E0"/>
          </a:solidFill>
          <a:ln w="6350">
            <a:solidFill>
              <a:srgbClr val="F1D9A8"/>
            </a:solidFill>
            <a:prstDash val="solid"/>
          </a:ln>
        </p:spPr>
      </p:sp>
      <p:sp>
        <p:nvSpPr>
          <p:cNvPr id="64" name="Shape 62"/>
          <p:cNvSpPr/>
          <p:nvPr/>
        </p:nvSpPr>
        <p:spPr>
          <a:xfrm>
            <a:off x="411480" y="5833872"/>
            <a:ext cx="82296" cy="530352"/>
          </a:xfrm>
          <a:prstGeom prst="rect">
            <a:avLst/>
          </a:prstGeom>
          <a:solidFill>
            <a:srgbClr val="E39A2F"/>
          </a:solidFill>
          <a:ln w="12700">
            <a:solidFill>
              <a:srgbClr val="E39A2F"/>
            </a:solidFill>
            <a:prstDash val="solid"/>
          </a:ln>
        </p:spPr>
      </p:sp>
      <p:sp>
        <p:nvSpPr>
          <p:cNvPr id="65" name="Text 6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concentration of </a:t>
            </a:r>
            <a:r>
              <a:rPr lang="en-US" sz="1150" b="1" dirty="0">
                <a:solidFill>
                  <a:srgbClr val="262B3A"/>
                </a:solidFill>
                <a:latin typeface="Calibri" pitchFamily="34" charset="0"/>
                <a:ea typeface="Calibri" pitchFamily="34" charset="-122"/>
                <a:cs typeface="Calibri" pitchFamily="34" charset="-120"/>
              </a:rPr>
              <a:t>0.050 mol</a:t>
            </a:r>
            <a:r>
              <a:rPr lang="en-US" sz="1150" dirty="0">
                <a:solidFill>
                  <a:srgbClr val="262B3A"/>
                </a:solidFill>
                <a:latin typeface="Calibri" pitchFamily="34" charset="0"/>
                <a:ea typeface="Calibri" pitchFamily="34" charset="-122"/>
                <a:cs typeface="Calibri" pitchFamily="34" charset="-120"/>
              </a:rPr>
              <a:t> in </a:t>
            </a:r>
            <a:r>
              <a:rPr lang="en-US" sz="1150" b="1" dirty="0">
                <a:solidFill>
                  <a:srgbClr val="262B3A"/>
                </a:solidFill>
                <a:latin typeface="Calibri" pitchFamily="34" charset="0"/>
                <a:ea typeface="Calibri" pitchFamily="34" charset="-122"/>
                <a:cs typeface="Calibri" pitchFamily="34" charset="-120"/>
              </a:rPr>
              <a:t>200 cm³</a:t>
            </a:r>
            <a:r>
              <a:rPr lang="en-US" sz="1150" dirty="0">
                <a:solidFill>
                  <a:srgbClr val="262B3A"/>
                </a:solidFill>
                <a:latin typeface="Calibri" pitchFamily="34" charset="0"/>
                <a:ea typeface="Calibri" pitchFamily="34" charset="-122"/>
                <a:cs typeface="Calibri" pitchFamily="34" charset="-120"/>
              </a:rPr>
              <a:t>. How many moles of NaOH are in </a:t>
            </a:r>
            <a:r>
              <a:rPr lang="en-US" sz="1150" b="1" dirty="0">
                <a:solidFill>
                  <a:srgbClr val="262B3A"/>
                </a:solidFill>
                <a:latin typeface="Calibri" pitchFamily="34" charset="0"/>
                <a:ea typeface="Calibri" pitchFamily="34" charset="-122"/>
                <a:cs typeface="Calibri" pitchFamily="34" charset="-120"/>
              </a:rPr>
              <a:t>25.0 cm³</a:t>
            </a:r>
            <a:r>
              <a:rPr lang="en-US" sz="1150" dirty="0">
                <a:solidFill>
                  <a:srgbClr val="262B3A"/>
                </a:solidFill>
                <a:latin typeface="Calibri" pitchFamily="34" charset="0"/>
                <a:ea typeface="Calibri" pitchFamily="34" charset="-122"/>
                <a:cs typeface="Calibri" pitchFamily="34" charset="-120"/>
              </a:rPr>
              <a:t> of a </a:t>
            </a:r>
            <a:r>
              <a:rPr lang="en-US" sz="1150" b="1" dirty="0">
                <a:solidFill>
                  <a:srgbClr val="262B3A"/>
                </a:solidFill>
                <a:latin typeface="Calibri" pitchFamily="34" charset="0"/>
                <a:ea typeface="Calibri" pitchFamily="34" charset="-122"/>
                <a:cs typeface="Calibri" pitchFamily="34" charset="-120"/>
              </a:rPr>
              <a:t>0.100 mol/dm³</a:t>
            </a:r>
            <a:r>
              <a:rPr lang="en-US" sz="1150" dirty="0">
                <a:solidFill>
                  <a:srgbClr val="262B3A"/>
                </a:solidFill>
                <a:latin typeface="Calibri" pitchFamily="34" charset="0"/>
                <a:ea typeface="Calibri" pitchFamily="34" charset="-122"/>
                <a:cs typeface="Calibri" pitchFamily="34" charset="-120"/>
              </a:rPr>
              <a:t> solution?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Converting g/dm³ and mol/dm³</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C5.3.2 • using relative formula mass, Mr</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C5.3.2  |  9</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one dm³ of each solution; Mr from Ar values on the data sheet</a:t>
            </a:r>
            <a:endParaRPr lang="en-US" sz="1000" dirty="0"/>
          </a:p>
        </p:txBody>
      </p:sp>
      <p:sp>
        <p:nvSpPr>
          <p:cNvPr id="12" name="Shape 10"/>
          <p:cNvSpPr/>
          <p:nvPr/>
        </p:nvSpPr>
        <p:spPr>
          <a:xfrm>
            <a:off x="777240" y="1508760"/>
            <a:ext cx="1828800" cy="777240"/>
          </a:xfrm>
          <a:prstGeom prst="roundRect">
            <a:avLst>
              <a:gd name="adj" fmla="val 7059"/>
            </a:avLst>
          </a:prstGeom>
          <a:solidFill>
            <a:srgbClr val="FFFFFF"/>
          </a:solidFill>
          <a:ln w="15875">
            <a:solidFill>
              <a:srgbClr val="6A3FA0"/>
            </a:solidFill>
            <a:prstDash val="solid"/>
          </a:ln>
        </p:spPr>
      </p:sp>
      <p:sp>
        <p:nvSpPr>
          <p:cNvPr id="13" name="Text 11"/>
          <p:cNvSpPr/>
          <p:nvPr/>
        </p:nvSpPr>
        <p:spPr>
          <a:xfrm>
            <a:off x="832104" y="1508760"/>
            <a:ext cx="1719072" cy="777240"/>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g/dm³</a:t>
            </a:r>
            <a:endParaRPr lang="en-US" sz="1200" dirty="0"/>
          </a:p>
          <a:p>
            <a:pPr algn="ctr" indent="0" marL="0">
              <a:buNone/>
            </a:pPr>
            <a:r>
              <a:rPr lang="en-US" sz="1200" dirty="0">
                <a:solidFill>
                  <a:srgbClr val="262B3A"/>
                </a:solidFill>
                <a:latin typeface="Calibri" pitchFamily="34" charset="0"/>
                <a:ea typeface="Calibri" pitchFamily="34" charset="-122"/>
                <a:cs typeface="Calibri" pitchFamily="34" charset="-120"/>
              </a:rPr>
              <a:t>mass in 1 dm³</a:t>
            </a:r>
            <a:endParaRPr lang="en-US" sz="1200" dirty="0"/>
          </a:p>
        </p:txBody>
      </p:sp>
      <p:sp>
        <p:nvSpPr>
          <p:cNvPr id="14" name="Shape 12"/>
          <p:cNvSpPr/>
          <p:nvPr/>
        </p:nvSpPr>
        <p:spPr>
          <a:xfrm>
            <a:off x="3794760" y="1508760"/>
            <a:ext cx="1828800" cy="777240"/>
          </a:xfrm>
          <a:prstGeom prst="roundRect">
            <a:avLst>
              <a:gd name="adj" fmla="val 7059"/>
            </a:avLst>
          </a:prstGeom>
          <a:solidFill>
            <a:srgbClr val="E9E0F7"/>
          </a:solidFill>
          <a:ln w="15875">
            <a:solidFill>
              <a:srgbClr val="6A3FA0"/>
            </a:solidFill>
            <a:prstDash val="solid"/>
          </a:ln>
        </p:spPr>
      </p:sp>
      <p:sp>
        <p:nvSpPr>
          <p:cNvPr id="15" name="Text 13"/>
          <p:cNvSpPr/>
          <p:nvPr/>
        </p:nvSpPr>
        <p:spPr>
          <a:xfrm>
            <a:off x="3849624" y="1508760"/>
            <a:ext cx="1719072" cy="777240"/>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mol/dm³</a:t>
            </a:r>
            <a:endParaRPr lang="en-US" sz="1200" dirty="0"/>
          </a:p>
          <a:p>
            <a:pPr algn="ctr" indent="0" marL="0">
              <a:buNone/>
            </a:pPr>
            <a:r>
              <a:rPr lang="en-US" sz="1200" dirty="0">
                <a:solidFill>
                  <a:srgbClr val="262B3A"/>
                </a:solidFill>
                <a:latin typeface="Calibri" pitchFamily="34" charset="0"/>
                <a:ea typeface="Calibri" pitchFamily="34" charset="-122"/>
                <a:cs typeface="Calibri" pitchFamily="34" charset="-120"/>
              </a:rPr>
              <a:t>moles in 1 dm³</a:t>
            </a:r>
            <a:endParaRPr lang="en-US" sz="1200" dirty="0"/>
          </a:p>
        </p:txBody>
      </p:sp>
      <p:sp>
        <p:nvSpPr>
          <p:cNvPr id="16" name="Shape 14"/>
          <p:cNvSpPr/>
          <p:nvPr/>
        </p:nvSpPr>
        <p:spPr>
          <a:xfrm>
            <a:off x="2697480" y="1719072"/>
            <a:ext cx="1005840" cy="91"/>
          </a:xfrm>
          <a:prstGeom prst="line">
            <a:avLst/>
          </a:prstGeom>
          <a:noFill/>
          <a:ln w="31750">
            <a:solidFill>
              <a:srgbClr val="6A3FA0"/>
            </a:solidFill>
            <a:prstDash val="solid"/>
            <a:tailEnd type="triangle"/>
          </a:ln>
        </p:spPr>
      </p:sp>
      <p:sp>
        <p:nvSpPr>
          <p:cNvPr id="17" name="Shape 15"/>
          <p:cNvSpPr/>
          <p:nvPr/>
        </p:nvSpPr>
        <p:spPr>
          <a:xfrm flipH="1">
            <a:off x="2697480" y="2084832"/>
            <a:ext cx="1005840" cy="91"/>
          </a:xfrm>
          <a:prstGeom prst="line">
            <a:avLst/>
          </a:prstGeom>
          <a:noFill/>
          <a:ln w="31750">
            <a:solidFill>
              <a:srgbClr val="B8730A"/>
            </a:solidFill>
            <a:prstDash val="solid"/>
            <a:tailEnd type="triangle"/>
          </a:ln>
        </p:spPr>
      </p:sp>
      <p:sp>
        <p:nvSpPr>
          <p:cNvPr id="18" name="Text 16"/>
          <p:cNvSpPr/>
          <p:nvPr/>
        </p:nvSpPr>
        <p:spPr>
          <a:xfrm>
            <a:off x="2651760" y="1417320"/>
            <a:ext cx="1097280" cy="237744"/>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 Mr</a:t>
            </a:r>
            <a:endParaRPr lang="en-US" sz="1200" dirty="0"/>
          </a:p>
        </p:txBody>
      </p:sp>
      <p:sp>
        <p:nvSpPr>
          <p:cNvPr id="19" name="Text 17"/>
          <p:cNvSpPr/>
          <p:nvPr/>
        </p:nvSpPr>
        <p:spPr>
          <a:xfrm>
            <a:off x="2651760" y="2157984"/>
            <a:ext cx="1097280" cy="237744"/>
          </a:xfrm>
          <a:prstGeom prst="rect">
            <a:avLst/>
          </a:prstGeom>
          <a:noFill/>
          <a:ln/>
        </p:spPr>
        <p:txBody>
          <a:bodyPr wrap="square" lIns="0" tIns="0" rIns="0" bIns="0" rtlCol="0" anchor="ctr"/>
          <a:lstStyle/>
          <a:p>
            <a:pPr algn="ctr" indent="0" marL="0">
              <a:buNone/>
            </a:pPr>
            <a:r>
              <a:rPr lang="en-US" sz="1200" b="1" dirty="0">
                <a:solidFill>
                  <a:srgbClr val="B8730A"/>
                </a:solidFill>
                <a:latin typeface="Calibri" pitchFamily="34" charset="0"/>
                <a:ea typeface="Calibri" pitchFamily="34" charset="-122"/>
                <a:cs typeface="Calibri" pitchFamily="34" charset="-120"/>
              </a:rPr>
              <a:t>× Mr</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2606040"/>
          <a:ext cx="5029200" cy="914400"/>
        </p:xfrm>
        <a:graphic>
          <a:graphicData uri="http://schemas.openxmlformats.org/drawingml/2006/table">
            <a:tbl>
              <a:tblPr/>
              <a:tblGrid>
                <a:gridCol w="1600200"/>
                <a:gridCol w="960120"/>
                <a:gridCol w="822960"/>
                <a:gridCol w="164592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Solute</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Formula</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Mr</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1.00 mol/dm³ is</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sodium hydroxide</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NaOH</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40 g/dm³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potassium hydroxide</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KOH</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56 g/dm³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hydrochloric acid</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HCl</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36.5 g/dm³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nitric acid</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HNO₃</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63 g/dm³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sulfuric acid</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H₂SO₄</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98 g/dm³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sodium carbonate</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Na₂CO₃</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106</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106 g/dm³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21" name="Shape 18"/>
          <p:cNvSpPr/>
          <p:nvPr/>
        </p:nvSpPr>
        <p:spPr>
          <a:xfrm>
            <a:off x="6217920" y="1188720"/>
            <a:ext cx="5559552" cy="2240280"/>
          </a:xfrm>
          <a:prstGeom prst="roundRect">
            <a:avLst>
              <a:gd name="adj" fmla="val 2449"/>
            </a:avLst>
          </a:prstGeom>
          <a:solidFill>
            <a:srgbClr val="F8F5FC"/>
          </a:solidFill>
          <a:ln w="9525">
            <a:solidFill>
              <a:srgbClr val="DDD3EC"/>
            </a:solidFill>
            <a:prstDash val="solid"/>
          </a:ln>
        </p:spPr>
      </p:sp>
      <p:sp>
        <p:nvSpPr>
          <p:cNvPr id="22" name="Text 19"/>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Why convert?</a:t>
            </a:r>
            <a:endParaRPr lang="en-US" sz="1300" dirty="0"/>
          </a:p>
        </p:txBody>
      </p:sp>
      <p:sp>
        <p:nvSpPr>
          <p:cNvPr id="23" name="Text 20"/>
          <p:cNvSpPr/>
          <p:nvPr/>
        </p:nvSpPr>
        <p:spPr>
          <a:xfrm>
            <a:off x="6382512" y="1609344"/>
            <a:ext cx="5230368" cy="17465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balance</a:t>
            </a:r>
            <a:r>
              <a:rPr lang="en-US" sz="1100" dirty="0">
                <a:solidFill>
                  <a:srgbClr val="262B3A"/>
                </a:solidFill>
                <a:latin typeface="Calibri" pitchFamily="34" charset="0"/>
                <a:ea typeface="Calibri" pitchFamily="34" charset="-122"/>
                <a:cs typeface="Calibri" pitchFamily="34" charset="-120"/>
              </a:rPr>
              <a:t> measures </a:t>
            </a:r>
            <a:r>
              <a:rPr lang="en-US" sz="1100" b="1" dirty="0">
                <a:solidFill>
                  <a:srgbClr val="262B3A"/>
                </a:solidFill>
                <a:latin typeface="Calibri" pitchFamily="34" charset="0"/>
                <a:ea typeface="Calibri" pitchFamily="34" charset="-122"/>
                <a:cs typeface="Calibri" pitchFamily="34" charset="-120"/>
              </a:rPr>
              <a:t>mass</a:t>
            </a:r>
            <a:r>
              <a:rPr lang="en-US" sz="1100" dirty="0">
                <a:solidFill>
                  <a:srgbClr val="262B3A"/>
                </a:solidFill>
                <a:latin typeface="Calibri" pitchFamily="34" charset="0"/>
                <a:ea typeface="Calibri" pitchFamily="34" charset="-122"/>
                <a:cs typeface="Calibri" pitchFamily="34" charset="-120"/>
              </a:rPr>
              <a:t>, so we make up solutions in </a:t>
            </a:r>
            <a:r>
              <a:rPr lang="en-US" sz="1100" b="1" dirty="0">
                <a:solidFill>
                  <a:srgbClr val="262B3A"/>
                </a:solidFill>
                <a:latin typeface="Calibri" pitchFamily="34" charset="0"/>
                <a:ea typeface="Calibri" pitchFamily="34" charset="-122"/>
                <a:cs typeface="Calibri" pitchFamily="34" charset="-120"/>
              </a:rPr>
              <a:t>g/dm³</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Reactions happen </a:t>
            </a:r>
            <a:r>
              <a:rPr lang="en-US" sz="1100" b="1" dirty="0">
                <a:solidFill>
                  <a:srgbClr val="262B3A"/>
                </a:solidFill>
                <a:latin typeface="Calibri" pitchFamily="34" charset="0"/>
                <a:ea typeface="Calibri" pitchFamily="34" charset="-122"/>
                <a:cs typeface="Calibri" pitchFamily="34" charset="-120"/>
              </a:rPr>
              <a:t>particle by particle</a:t>
            </a:r>
            <a:r>
              <a:rPr lang="en-US" sz="1100" dirty="0">
                <a:solidFill>
                  <a:srgbClr val="262B3A"/>
                </a:solidFill>
                <a:latin typeface="Calibri" pitchFamily="34" charset="0"/>
                <a:ea typeface="Calibri" pitchFamily="34" charset="-122"/>
                <a:cs typeface="Calibri" pitchFamily="34" charset="-120"/>
              </a:rPr>
              <a:t>, so calculations from equations need </a:t>
            </a:r>
            <a:r>
              <a:rPr lang="en-US" sz="1100" b="1" dirty="0">
                <a:solidFill>
                  <a:srgbClr val="262B3A"/>
                </a:solidFill>
                <a:latin typeface="Calibri" pitchFamily="34" charset="0"/>
                <a:ea typeface="Calibri" pitchFamily="34" charset="-122"/>
                <a:cs typeface="Calibri" pitchFamily="34" charset="-120"/>
              </a:rPr>
              <a:t>mol/dm³</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g/dm³ </a:t>
            </a:r>
            <a:r>
              <a:rPr lang="en-US" sz="1100" b="1" dirty="0">
                <a:solidFill>
                  <a:srgbClr val="262B3A"/>
                </a:solidFill>
                <a:latin typeface="Calibri" pitchFamily="34" charset="0"/>
                <a:ea typeface="Calibri" pitchFamily="34" charset="-122"/>
                <a:cs typeface="Calibri" pitchFamily="34" charset="-120"/>
              </a:rPr>
              <a:t>÷ Mr</a:t>
            </a:r>
            <a:r>
              <a:rPr lang="en-US" sz="1100" dirty="0">
                <a:solidFill>
                  <a:srgbClr val="262B3A"/>
                </a:solidFill>
                <a:latin typeface="Calibri" pitchFamily="34" charset="0"/>
                <a:ea typeface="Calibri" pitchFamily="34" charset="-122"/>
                <a:cs typeface="Calibri" pitchFamily="34" charset="-120"/>
              </a:rPr>
              <a:t> = mol/dm³.   mol/dm³ </a:t>
            </a:r>
            <a:r>
              <a:rPr lang="en-US" sz="1100" b="1" dirty="0">
                <a:solidFill>
                  <a:srgbClr val="262B3A"/>
                </a:solidFill>
                <a:latin typeface="Calibri" pitchFamily="34" charset="0"/>
                <a:ea typeface="Calibri" pitchFamily="34" charset="-122"/>
                <a:cs typeface="Calibri" pitchFamily="34" charset="-120"/>
              </a:rPr>
              <a:t>× Mr</a:t>
            </a:r>
            <a:r>
              <a:rPr lang="en-US" sz="1100" dirty="0">
                <a:solidFill>
                  <a:srgbClr val="262B3A"/>
                </a:solidFill>
                <a:latin typeface="Calibri" pitchFamily="34" charset="0"/>
                <a:ea typeface="Calibri" pitchFamily="34" charset="-122"/>
                <a:cs typeface="Calibri" pitchFamily="34" charset="-120"/>
              </a:rPr>
              <a:t> = g/dm³.</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Mr = sum of the relative atomic masses in the formula, e.g. H₂SO₄ = 2 + 32 + 64 = </a:t>
            </a:r>
            <a:r>
              <a:rPr lang="en-US" sz="1100" b="1" dirty="0">
                <a:solidFill>
                  <a:srgbClr val="262B3A"/>
                </a:solidFill>
                <a:latin typeface="Calibri" pitchFamily="34" charset="0"/>
                <a:ea typeface="Calibri" pitchFamily="34" charset="-122"/>
                <a:cs typeface="Calibri" pitchFamily="34" charset="-120"/>
              </a:rPr>
              <a:t>98</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24" name="Shape 21"/>
          <p:cNvSpPr/>
          <p:nvPr/>
        </p:nvSpPr>
        <p:spPr>
          <a:xfrm>
            <a:off x="6217920" y="3566160"/>
            <a:ext cx="5559552" cy="2148840"/>
          </a:xfrm>
          <a:prstGeom prst="roundRect">
            <a:avLst>
              <a:gd name="adj" fmla="val 2553"/>
            </a:avLst>
          </a:prstGeom>
          <a:solidFill>
            <a:srgbClr val="FFF4E0"/>
          </a:solidFill>
          <a:ln w="9525">
            <a:solidFill>
              <a:srgbClr val="F1D9A8"/>
            </a:solidFill>
            <a:prstDash val="solid"/>
          </a:ln>
        </p:spPr>
      </p:sp>
      <p:sp>
        <p:nvSpPr>
          <p:cNvPr id="25" name="Text 22"/>
          <p:cNvSpPr/>
          <p:nvPr/>
        </p:nvSpPr>
        <p:spPr>
          <a:xfrm>
            <a:off x="6382512" y="36393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converting</a:t>
            </a:r>
            <a:endParaRPr lang="en-US" sz="1300" dirty="0"/>
          </a:p>
        </p:txBody>
      </p:sp>
      <p:sp>
        <p:nvSpPr>
          <p:cNvPr id="26" name="Text 23"/>
          <p:cNvSpPr/>
          <p:nvPr/>
        </p:nvSpPr>
        <p:spPr>
          <a:xfrm>
            <a:off x="6382512" y="3950208"/>
            <a:ext cx="5230368" cy="169164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Hydrochloric acid is 0.100 mol/dm³. Sulfuric acid is 9.8 g/dm³.</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1 HCl   </a:t>
            </a:r>
            <a:r>
              <a:rPr lang="en-US" sz="1100" dirty="0">
                <a:solidFill>
                  <a:srgbClr val="262B3A"/>
                </a:solidFill>
                <a:latin typeface="Calibri" pitchFamily="34" charset="0"/>
                <a:ea typeface="Calibri" pitchFamily="34" charset="-122"/>
                <a:cs typeface="Calibri" pitchFamily="34" charset="-120"/>
              </a:rPr>
              <a:t>Mr = 1 + 35.5 = 36.5;  0.100 × 36.5 = </a:t>
            </a:r>
            <a:r>
              <a:rPr lang="en-US" sz="1100" b="1" dirty="0">
                <a:solidFill>
                  <a:srgbClr val="262B3A"/>
                </a:solidFill>
                <a:latin typeface="Calibri" pitchFamily="34" charset="0"/>
                <a:ea typeface="Calibri" pitchFamily="34" charset="-122"/>
                <a:cs typeface="Calibri" pitchFamily="34" charset="-120"/>
              </a:rPr>
              <a:t>3.65 g/dm³</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2 H₂SO₄   </a:t>
            </a:r>
            <a:r>
              <a:rPr lang="en-US" sz="1100" dirty="0">
                <a:solidFill>
                  <a:srgbClr val="262B3A"/>
                </a:solidFill>
                <a:latin typeface="Calibri" pitchFamily="34" charset="0"/>
                <a:ea typeface="Calibri" pitchFamily="34" charset="-122"/>
                <a:cs typeface="Calibri" pitchFamily="34" charset="-120"/>
              </a:rPr>
              <a:t>Mr = 98;  9.8 ÷ 98 = 0.10 mol/dm³</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HCl </a:t>
            </a:r>
            <a:r>
              <a:rPr lang="en-US" sz="1100" b="1" dirty="0">
                <a:solidFill>
                  <a:srgbClr val="C8414C"/>
                </a:solidFill>
                <a:latin typeface="Calibri" pitchFamily="34" charset="0"/>
                <a:ea typeface="Calibri" pitchFamily="34" charset="-122"/>
                <a:cs typeface="Calibri" pitchFamily="34" charset="-120"/>
              </a:rPr>
              <a:t>3.65 g/dm³</a:t>
            </a:r>
            <a:r>
              <a:rPr lang="en-US" sz="1100" b="1" dirty="0">
                <a:solidFill>
                  <a:srgbClr val="C8414C"/>
                </a:solidFill>
                <a:latin typeface="Calibri" pitchFamily="34" charset="0"/>
                <a:ea typeface="Calibri" pitchFamily="34" charset="-122"/>
                <a:cs typeface="Calibri" pitchFamily="34" charset="-120"/>
              </a:rPr>
              <a:t>; H₂SO₄ </a:t>
            </a:r>
            <a:r>
              <a:rPr lang="en-US" sz="1100" b="1" dirty="0">
                <a:solidFill>
                  <a:srgbClr val="C8414C"/>
                </a:solidFill>
                <a:latin typeface="Calibri" pitchFamily="34" charset="0"/>
                <a:ea typeface="Calibri" pitchFamily="34" charset="-122"/>
                <a:cs typeface="Calibri" pitchFamily="34" charset="-120"/>
              </a:rPr>
              <a:t>0.10 mol/dm³</a:t>
            </a:r>
            <a:endParaRPr lang="en-US" sz="1100" dirty="0"/>
          </a:p>
        </p:txBody>
      </p:sp>
      <p:sp>
        <p:nvSpPr>
          <p:cNvPr id="27" name="Shape 24"/>
          <p:cNvSpPr/>
          <p:nvPr/>
        </p:nvSpPr>
        <p:spPr>
          <a:xfrm>
            <a:off x="411480" y="5833872"/>
            <a:ext cx="11368735" cy="530352"/>
          </a:xfrm>
          <a:prstGeom prst="rect">
            <a:avLst/>
          </a:prstGeom>
          <a:solidFill>
            <a:srgbClr val="FFF4E0"/>
          </a:solidFill>
          <a:ln w="6350">
            <a:solidFill>
              <a:srgbClr val="F1D9A8"/>
            </a:solidFill>
            <a:prstDash val="solid"/>
          </a:ln>
        </p:spPr>
      </p:sp>
      <p:sp>
        <p:nvSpPr>
          <p:cNvPr id="28" name="Shape 25"/>
          <p:cNvSpPr/>
          <p:nvPr/>
        </p:nvSpPr>
        <p:spPr>
          <a:xfrm>
            <a:off x="411480" y="5833872"/>
            <a:ext cx="82296" cy="530352"/>
          </a:xfrm>
          <a:prstGeom prst="rect">
            <a:avLst/>
          </a:prstGeom>
          <a:solidFill>
            <a:srgbClr val="E39A2F"/>
          </a:solidFill>
          <a:ln w="12700">
            <a:solidFill>
              <a:srgbClr val="E39A2F"/>
            </a:solidFill>
            <a:prstDash val="solid"/>
          </a:ln>
        </p:spPr>
      </p:sp>
      <p:sp>
        <p:nvSpPr>
          <p:cNvPr id="29" name="Text 2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Convert </a:t>
            </a:r>
            <a:r>
              <a:rPr lang="en-US" sz="1150" b="1" dirty="0">
                <a:solidFill>
                  <a:srgbClr val="262B3A"/>
                </a:solidFill>
                <a:latin typeface="Calibri" pitchFamily="34" charset="0"/>
                <a:ea typeface="Calibri" pitchFamily="34" charset="-122"/>
                <a:cs typeface="Calibri" pitchFamily="34" charset="-120"/>
              </a:rPr>
              <a:t>20 g/dm³</a:t>
            </a:r>
            <a:r>
              <a:rPr lang="en-US" sz="1150" dirty="0">
                <a:solidFill>
                  <a:srgbClr val="262B3A"/>
                </a:solidFill>
                <a:latin typeface="Calibri" pitchFamily="34" charset="0"/>
                <a:ea typeface="Calibri" pitchFamily="34" charset="-122"/>
                <a:cs typeface="Calibri" pitchFamily="34" charset="-120"/>
              </a:rPr>
              <a:t> sodium hydroxide into mol/dm³. Convert </a:t>
            </a:r>
            <a:r>
              <a:rPr lang="en-US" sz="1150" b="1" dirty="0">
                <a:solidFill>
                  <a:srgbClr val="262B3A"/>
                </a:solidFill>
                <a:latin typeface="Calibri" pitchFamily="34" charset="0"/>
                <a:ea typeface="Calibri" pitchFamily="34" charset="-122"/>
                <a:cs typeface="Calibri" pitchFamily="34" charset="-120"/>
              </a:rPr>
              <a:t>0.20 mol/dm³</a:t>
            </a:r>
            <a:r>
              <a:rPr lang="en-US" sz="1150" dirty="0">
                <a:solidFill>
                  <a:srgbClr val="262B3A"/>
                </a:solidFill>
                <a:latin typeface="Calibri" pitchFamily="34" charset="0"/>
                <a:ea typeface="Calibri" pitchFamily="34" charset="-122"/>
                <a:cs typeface="Calibri" pitchFamily="34" charset="-120"/>
              </a:rPr>
              <a:t> potassium hydroxide into g/dm³.</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C5.3.2 • concentration in mol/dm³ (Higher tier)</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Shape 11"/>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4" name="Text 12"/>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5" name="Text 13"/>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number of moles in </a:t>
            </a:r>
            <a:r>
              <a:rPr lang="en-US" sz="1250" b="1" dirty="0">
                <a:solidFill>
                  <a:srgbClr val="262B3A"/>
                </a:solidFill>
                <a:latin typeface="Calibri" pitchFamily="34" charset="0"/>
                <a:ea typeface="Calibri" pitchFamily="34" charset="-122"/>
                <a:cs typeface="Calibri" pitchFamily="34" charset="-120"/>
              </a:rPr>
              <a:t>10 g</a:t>
            </a:r>
            <a:r>
              <a:rPr lang="en-US" sz="1250" dirty="0">
                <a:solidFill>
                  <a:srgbClr val="262B3A"/>
                </a:solidFill>
                <a:latin typeface="Calibri" pitchFamily="34" charset="0"/>
                <a:ea typeface="Calibri" pitchFamily="34" charset="-122"/>
                <a:cs typeface="Calibri" pitchFamily="34" charset="-120"/>
              </a:rPr>
              <a:t> of sodium hydroxide, NaOH (Mr = 40).</a:t>
            </a:r>
            <a:endParaRPr lang="en-US" sz="1250" dirty="0"/>
          </a:p>
        </p:txBody>
      </p:sp>
      <p:sp>
        <p:nvSpPr>
          <p:cNvPr id="16" name="Text 14"/>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8" name="Shape 16"/>
          <p:cNvSpPr/>
          <p:nvPr/>
        </p:nvSpPr>
        <p:spPr>
          <a:xfrm>
            <a:off x="411480" y="2512314"/>
            <a:ext cx="2103120" cy="292608"/>
          </a:xfrm>
          <a:prstGeom prst="rect">
            <a:avLst/>
          </a:prstGeom>
          <a:solidFill>
            <a:srgbClr val="F5A742"/>
          </a:solidFill>
          <a:ln w="12700">
            <a:solidFill>
              <a:srgbClr val="F5A742"/>
            </a:solidFill>
            <a:prstDash val="solid"/>
          </a:ln>
        </p:spPr>
      </p:sp>
      <p:sp>
        <p:nvSpPr>
          <p:cNvPr id="19" name="Text 17"/>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0" name="Shape 18"/>
          <p:cNvSpPr/>
          <p:nvPr/>
        </p:nvSpPr>
        <p:spPr>
          <a:xfrm>
            <a:off x="2606040" y="2521458"/>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2606040" y="252145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640080" y="2878074"/>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0.020 mol</a:t>
            </a:r>
            <a:r>
              <a:rPr lang="en-US" sz="1250" dirty="0">
                <a:solidFill>
                  <a:srgbClr val="262B3A"/>
                </a:solidFill>
                <a:latin typeface="Calibri" pitchFamily="34" charset="0"/>
                <a:ea typeface="Calibri" pitchFamily="34" charset="-122"/>
                <a:cs typeface="Calibri" pitchFamily="34" charset="-120"/>
              </a:rPr>
              <a:t> of solute is dissolved to make </a:t>
            </a:r>
            <a:r>
              <a:rPr lang="en-US" sz="1250" b="1" dirty="0">
                <a:solidFill>
                  <a:srgbClr val="262B3A"/>
                </a:solidFill>
                <a:latin typeface="Calibri" pitchFamily="34" charset="0"/>
                <a:ea typeface="Calibri" pitchFamily="34" charset="-122"/>
                <a:cs typeface="Calibri" pitchFamily="34" charset="-120"/>
              </a:rPr>
              <a:t>250 cm³</a:t>
            </a:r>
            <a:r>
              <a:rPr lang="en-US" sz="1250" dirty="0">
                <a:solidFill>
                  <a:srgbClr val="262B3A"/>
                </a:solidFill>
                <a:latin typeface="Calibri" pitchFamily="34" charset="0"/>
                <a:ea typeface="Calibri" pitchFamily="34" charset="-122"/>
                <a:cs typeface="Calibri" pitchFamily="34" charset="-120"/>
              </a:rPr>
              <a:t> of solution. Calculate the concentration in mol/dm³.</a:t>
            </a:r>
            <a:endParaRPr lang="en-US" sz="1250" dirty="0"/>
          </a:p>
        </p:txBody>
      </p:sp>
      <p:sp>
        <p:nvSpPr>
          <p:cNvPr id="23" name="Text 21"/>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25" name="Shape 23"/>
          <p:cNvSpPr/>
          <p:nvPr/>
        </p:nvSpPr>
        <p:spPr>
          <a:xfrm>
            <a:off x="411480" y="3817620"/>
            <a:ext cx="2103120" cy="292608"/>
          </a:xfrm>
          <a:prstGeom prst="rect">
            <a:avLst/>
          </a:prstGeom>
          <a:solidFill>
            <a:srgbClr val="F5A742"/>
          </a:solidFill>
          <a:ln w="12700">
            <a:solidFill>
              <a:srgbClr val="F5A742"/>
            </a:solidFill>
            <a:prstDash val="solid"/>
          </a:ln>
        </p:spPr>
      </p:sp>
      <p:sp>
        <p:nvSpPr>
          <p:cNvPr id="26" name="Text 24"/>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7" name="Shape 25"/>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8" name="Text 26"/>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9" name="Text 27"/>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number of moles of acid in </a:t>
            </a:r>
            <a:r>
              <a:rPr lang="en-US" sz="1250" b="1" dirty="0">
                <a:solidFill>
                  <a:srgbClr val="262B3A"/>
                </a:solidFill>
                <a:latin typeface="Calibri" pitchFamily="34" charset="0"/>
                <a:ea typeface="Calibri" pitchFamily="34" charset="-122"/>
                <a:cs typeface="Calibri" pitchFamily="34" charset="-120"/>
              </a:rPr>
              <a:t>20.0 cm³</a:t>
            </a:r>
            <a:r>
              <a:rPr lang="en-US" sz="1250" dirty="0">
                <a:solidFill>
                  <a:srgbClr val="262B3A"/>
                </a:solidFill>
                <a:latin typeface="Calibri" pitchFamily="34" charset="0"/>
                <a:ea typeface="Calibri" pitchFamily="34" charset="-122"/>
                <a:cs typeface="Calibri" pitchFamily="34" charset="-120"/>
              </a:rPr>
              <a:t> of </a:t>
            </a:r>
            <a:r>
              <a:rPr lang="en-US" sz="1250" b="1" dirty="0">
                <a:solidFill>
                  <a:srgbClr val="262B3A"/>
                </a:solidFill>
                <a:latin typeface="Calibri" pitchFamily="34" charset="0"/>
                <a:ea typeface="Calibri" pitchFamily="34" charset="-122"/>
                <a:cs typeface="Calibri" pitchFamily="34" charset="-120"/>
              </a:rPr>
              <a:t>0.50 mol/dm³</a:t>
            </a:r>
            <a:r>
              <a:rPr lang="en-US" sz="1250" dirty="0">
                <a:solidFill>
                  <a:srgbClr val="262B3A"/>
                </a:solidFill>
                <a:latin typeface="Calibri" pitchFamily="34" charset="0"/>
                <a:ea typeface="Calibri" pitchFamily="34" charset="-122"/>
                <a:cs typeface="Calibri" pitchFamily="34" charset="-120"/>
              </a:rPr>
              <a:t> hydrochloric acid.</a:t>
            </a:r>
            <a:endParaRPr lang="en-US" sz="1250" dirty="0"/>
          </a:p>
        </p:txBody>
      </p:sp>
      <p:sp>
        <p:nvSpPr>
          <p:cNvPr id="30" name="Text 28"/>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32" name="Shape 30"/>
          <p:cNvSpPr/>
          <p:nvPr/>
        </p:nvSpPr>
        <p:spPr>
          <a:xfrm>
            <a:off x="411480" y="5122926"/>
            <a:ext cx="2103120" cy="292608"/>
          </a:xfrm>
          <a:prstGeom prst="rect">
            <a:avLst/>
          </a:prstGeom>
          <a:solidFill>
            <a:srgbClr val="F5A742"/>
          </a:solidFill>
          <a:ln w="12700">
            <a:solidFill>
              <a:srgbClr val="F5A742"/>
            </a:solidFill>
            <a:prstDash val="solid"/>
          </a:ln>
        </p:spPr>
      </p:sp>
      <p:sp>
        <p:nvSpPr>
          <p:cNvPr id="33" name="Text 31"/>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4" name="Shape 32"/>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Text 3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Hydrochloric acid has a concentration of </a:t>
            </a:r>
            <a:r>
              <a:rPr lang="en-US" sz="1250" b="1" dirty="0">
                <a:solidFill>
                  <a:srgbClr val="262B3A"/>
                </a:solidFill>
                <a:latin typeface="Calibri" pitchFamily="34" charset="0"/>
                <a:ea typeface="Calibri" pitchFamily="34" charset="-122"/>
                <a:cs typeface="Calibri" pitchFamily="34" charset="-120"/>
              </a:rPr>
              <a:t>0.20 mol/dm³</a:t>
            </a:r>
            <a:r>
              <a:rPr lang="en-US" sz="1250" dirty="0">
                <a:solidFill>
                  <a:srgbClr val="262B3A"/>
                </a:solidFill>
                <a:latin typeface="Calibri" pitchFamily="34" charset="0"/>
                <a:ea typeface="Calibri" pitchFamily="34" charset="-122"/>
                <a:cs typeface="Calibri" pitchFamily="34" charset="-120"/>
              </a:rPr>
              <a:t>. Calculate its concentration in g/dm³ (Mr HCl = 36.5).</a:t>
            </a:r>
            <a:endParaRPr lang="en-US" sz="1250" dirty="0"/>
          </a:p>
        </p:txBody>
      </p:sp>
      <p:sp>
        <p:nvSpPr>
          <p:cNvPr id="37" name="Text 3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Making a standard solution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C5.3.3 • a solution whose concentration is known accurately</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C5.3.3  |  11</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making 250 cm³ of sodium carbonate solution; apparatus not to scale</a:t>
            </a:r>
            <a:endParaRPr lang="en-US" sz="1000" dirty="0"/>
          </a:p>
        </p:txBody>
      </p:sp>
      <p:sp>
        <p:nvSpPr>
          <p:cNvPr id="10" name="Text 8"/>
          <p:cNvSpPr/>
          <p:nvPr/>
        </p:nvSpPr>
        <p:spPr>
          <a:xfrm>
            <a:off x="502920" y="1280160"/>
            <a:ext cx="1325880" cy="237744"/>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1 Weigh</a:t>
            </a:r>
            <a:endParaRPr lang="en-US" sz="1100" dirty="0"/>
          </a:p>
        </p:txBody>
      </p:sp>
      <p:sp>
        <p:nvSpPr>
          <p:cNvPr id="11" name="Text 9"/>
          <p:cNvSpPr/>
          <p:nvPr/>
        </p:nvSpPr>
        <p:spPr>
          <a:xfrm>
            <a:off x="1874520" y="1280160"/>
            <a:ext cx="1325880" cy="237744"/>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2 Dissolve</a:t>
            </a:r>
            <a:endParaRPr lang="en-US" sz="1100" dirty="0"/>
          </a:p>
        </p:txBody>
      </p:sp>
      <p:sp>
        <p:nvSpPr>
          <p:cNvPr id="12" name="Text 10"/>
          <p:cNvSpPr/>
          <p:nvPr/>
        </p:nvSpPr>
        <p:spPr>
          <a:xfrm>
            <a:off x="3246120" y="1280160"/>
            <a:ext cx="1325880" cy="237744"/>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3 Transfer</a:t>
            </a:r>
            <a:endParaRPr lang="en-US" sz="1100" dirty="0"/>
          </a:p>
        </p:txBody>
      </p:sp>
      <p:sp>
        <p:nvSpPr>
          <p:cNvPr id="13" name="Text 11"/>
          <p:cNvSpPr/>
          <p:nvPr/>
        </p:nvSpPr>
        <p:spPr>
          <a:xfrm>
            <a:off x="4617720" y="1280160"/>
            <a:ext cx="1325880" cy="237744"/>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4 Make up</a:t>
            </a:r>
            <a:endParaRPr lang="en-US" sz="1100" dirty="0"/>
          </a:p>
        </p:txBody>
      </p:sp>
      <p:sp>
        <p:nvSpPr>
          <p:cNvPr id="14" name="Shape 12"/>
          <p:cNvSpPr/>
          <p:nvPr/>
        </p:nvSpPr>
        <p:spPr>
          <a:xfrm>
            <a:off x="594360" y="3291840"/>
            <a:ext cx="1143000" cy="502920"/>
          </a:xfrm>
          <a:prstGeom prst="roundRect">
            <a:avLst>
              <a:gd name="adj" fmla="val 10909"/>
            </a:avLst>
          </a:prstGeom>
          <a:solidFill>
            <a:srgbClr val="E8EBF0"/>
          </a:solidFill>
          <a:ln w="15875">
            <a:solidFill>
              <a:srgbClr val="4A5568"/>
            </a:solidFill>
            <a:prstDash val="solid"/>
          </a:ln>
        </p:spPr>
      </p:sp>
      <p:sp>
        <p:nvSpPr>
          <p:cNvPr id="15" name="Shape 13"/>
          <p:cNvSpPr/>
          <p:nvPr/>
        </p:nvSpPr>
        <p:spPr>
          <a:xfrm>
            <a:off x="685800" y="3410712"/>
            <a:ext cx="960120" cy="256032"/>
          </a:xfrm>
          <a:prstGeom prst="rect">
            <a:avLst/>
          </a:prstGeom>
          <a:solidFill>
            <a:srgbClr val="1F2A3A"/>
          </a:solidFill>
          <a:ln/>
        </p:spPr>
      </p:sp>
      <p:sp>
        <p:nvSpPr>
          <p:cNvPr id="16" name="Text 14"/>
          <p:cNvSpPr/>
          <p:nvPr/>
        </p:nvSpPr>
        <p:spPr>
          <a:xfrm>
            <a:off x="685800" y="3410712"/>
            <a:ext cx="960120" cy="256032"/>
          </a:xfrm>
          <a:prstGeom prst="rect">
            <a:avLst/>
          </a:prstGeom>
          <a:noFill/>
          <a:ln/>
        </p:spPr>
        <p:txBody>
          <a:bodyPr wrap="square" lIns="0" tIns="0" rIns="0" bIns="0" rtlCol="0" anchor="ctr"/>
          <a:lstStyle/>
          <a:p>
            <a:pPr algn="ctr" indent="0" marL="0">
              <a:buNone/>
            </a:pPr>
            <a:r>
              <a:rPr lang="en-US" sz="1050" b="1" dirty="0">
                <a:solidFill>
                  <a:srgbClr val="7CFC9A"/>
                </a:solidFill>
                <a:latin typeface="Calibri" pitchFamily="34" charset="0"/>
                <a:ea typeface="Calibri" pitchFamily="34" charset="-122"/>
                <a:cs typeface="Calibri" pitchFamily="34" charset="-120"/>
              </a:rPr>
              <a:t>2.650 g</a:t>
            </a:r>
            <a:endParaRPr lang="en-US" sz="1050" dirty="0"/>
          </a:p>
        </p:txBody>
      </p:sp>
      <p:sp>
        <p:nvSpPr>
          <p:cNvPr id="17" name="Shape 15"/>
          <p:cNvSpPr/>
          <p:nvPr/>
        </p:nvSpPr>
        <p:spPr>
          <a:xfrm>
            <a:off x="731520" y="3172968"/>
            <a:ext cx="868680" cy="109728"/>
          </a:xfrm>
          <a:prstGeom prst="rect">
            <a:avLst/>
          </a:prstGeom>
          <a:solidFill>
            <a:srgbClr val="9AA3B0"/>
          </a:solidFill>
          <a:ln w="9525">
            <a:solidFill>
              <a:srgbClr val="4A5568"/>
            </a:solidFill>
            <a:prstDash val="solid"/>
          </a:ln>
        </p:spPr>
      </p:sp>
      <p:sp>
        <p:nvSpPr>
          <p:cNvPr id="18" name="Shape 16"/>
          <p:cNvSpPr/>
          <p:nvPr/>
        </p:nvSpPr>
        <p:spPr>
          <a:xfrm>
            <a:off x="777240" y="3035808"/>
            <a:ext cx="822960" cy="128016"/>
          </a:xfrm>
          <a:custGeom>
            <a:avLst/>
            <a:gdLst/>
            <a:ahLst/>
            <a:cxnLst/>
            <a:rect l="l" t="t" r="r" b="b"/>
            <a:pathLst>
              <a:path w="822960" h="128016">
                <a:moveTo>
                  <a:pt x="0" y="0"/>
                </a:moveTo>
                <a:lnTo>
                  <a:pt x="822960" y="0"/>
                </a:lnTo>
                <a:lnTo>
                  <a:pt x="704088" y="128016"/>
                </a:lnTo>
                <a:lnTo>
                  <a:pt x="118872" y="128016"/>
                </a:lnTo>
                <a:close/>
              </a:path>
            </a:pathLst>
          </a:custGeom>
          <a:solidFill>
            <a:srgbClr val="F7F7F7"/>
          </a:solidFill>
          <a:ln w="12700">
            <a:solidFill>
              <a:srgbClr val="6B7385"/>
            </a:solidFill>
            <a:prstDash val="solid"/>
          </a:ln>
        </p:spPr>
      </p:sp>
      <p:sp>
        <p:nvSpPr>
          <p:cNvPr id="19" name="Shape 17"/>
          <p:cNvSpPr/>
          <p:nvPr/>
        </p:nvSpPr>
        <p:spPr>
          <a:xfrm>
            <a:off x="923544" y="2953512"/>
            <a:ext cx="73152" cy="73152"/>
          </a:xfrm>
          <a:prstGeom prst="ellipse">
            <a:avLst/>
          </a:prstGeom>
          <a:solidFill>
            <a:srgbClr val="FFFFFF"/>
          </a:solidFill>
          <a:ln w="6350">
            <a:solidFill>
              <a:srgbClr val="9AA3B0"/>
            </a:solidFill>
            <a:prstDash val="solid"/>
          </a:ln>
        </p:spPr>
      </p:sp>
      <p:sp>
        <p:nvSpPr>
          <p:cNvPr id="20" name="Shape 18"/>
          <p:cNvSpPr/>
          <p:nvPr/>
        </p:nvSpPr>
        <p:spPr>
          <a:xfrm>
            <a:off x="1014984" y="2953512"/>
            <a:ext cx="73152" cy="73152"/>
          </a:xfrm>
          <a:prstGeom prst="ellipse">
            <a:avLst/>
          </a:prstGeom>
          <a:solidFill>
            <a:srgbClr val="FFFFFF"/>
          </a:solidFill>
          <a:ln w="6350">
            <a:solidFill>
              <a:srgbClr val="9AA3B0"/>
            </a:solidFill>
            <a:prstDash val="solid"/>
          </a:ln>
        </p:spPr>
      </p:sp>
      <p:sp>
        <p:nvSpPr>
          <p:cNvPr id="21" name="Shape 19"/>
          <p:cNvSpPr/>
          <p:nvPr/>
        </p:nvSpPr>
        <p:spPr>
          <a:xfrm>
            <a:off x="1106424" y="2953512"/>
            <a:ext cx="73152" cy="73152"/>
          </a:xfrm>
          <a:prstGeom prst="ellipse">
            <a:avLst/>
          </a:prstGeom>
          <a:solidFill>
            <a:srgbClr val="FFFFFF"/>
          </a:solidFill>
          <a:ln w="6350">
            <a:solidFill>
              <a:srgbClr val="9AA3B0"/>
            </a:solidFill>
            <a:prstDash val="solid"/>
          </a:ln>
        </p:spPr>
      </p:sp>
      <p:sp>
        <p:nvSpPr>
          <p:cNvPr id="22" name="Shape 20"/>
          <p:cNvSpPr/>
          <p:nvPr/>
        </p:nvSpPr>
        <p:spPr>
          <a:xfrm>
            <a:off x="1197864" y="2953512"/>
            <a:ext cx="73152" cy="73152"/>
          </a:xfrm>
          <a:prstGeom prst="ellipse">
            <a:avLst/>
          </a:prstGeom>
          <a:solidFill>
            <a:srgbClr val="FFFFFF"/>
          </a:solidFill>
          <a:ln w="6350">
            <a:solidFill>
              <a:srgbClr val="9AA3B0"/>
            </a:solidFill>
            <a:prstDash val="solid"/>
          </a:ln>
        </p:spPr>
      </p:sp>
      <p:sp>
        <p:nvSpPr>
          <p:cNvPr id="23" name="Shape 21"/>
          <p:cNvSpPr/>
          <p:nvPr/>
        </p:nvSpPr>
        <p:spPr>
          <a:xfrm>
            <a:off x="1289304" y="2953512"/>
            <a:ext cx="73152" cy="73152"/>
          </a:xfrm>
          <a:prstGeom prst="ellipse">
            <a:avLst/>
          </a:prstGeom>
          <a:solidFill>
            <a:srgbClr val="FFFFFF"/>
          </a:solidFill>
          <a:ln w="6350">
            <a:solidFill>
              <a:srgbClr val="9AA3B0"/>
            </a:solidFill>
            <a:prstDash val="solid"/>
          </a:ln>
        </p:spPr>
      </p:sp>
      <p:sp>
        <p:nvSpPr>
          <p:cNvPr id="24" name="Shape 22"/>
          <p:cNvSpPr/>
          <p:nvPr/>
        </p:nvSpPr>
        <p:spPr>
          <a:xfrm>
            <a:off x="1380744" y="2953512"/>
            <a:ext cx="73152" cy="73152"/>
          </a:xfrm>
          <a:prstGeom prst="ellipse">
            <a:avLst/>
          </a:prstGeom>
          <a:solidFill>
            <a:srgbClr val="FFFFFF"/>
          </a:solidFill>
          <a:ln w="6350">
            <a:solidFill>
              <a:srgbClr val="9AA3B0"/>
            </a:solidFill>
            <a:prstDash val="solid"/>
          </a:ln>
        </p:spPr>
      </p:sp>
      <p:sp>
        <p:nvSpPr>
          <p:cNvPr id="25" name="Text 23"/>
          <p:cNvSpPr/>
          <p:nvPr/>
        </p:nvSpPr>
        <p:spPr>
          <a:xfrm>
            <a:off x="502920" y="3886200"/>
            <a:ext cx="128016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solid in a weighing boat</a:t>
            </a:r>
            <a:endParaRPr lang="en-US" sz="1000" dirty="0"/>
          </a:p>
        </p:txBody>
      </p:sp>
      <p:sp>
        <p:nvSpPr>
          <p:cNvPr id="26" name="Shape 24"/>
          <p:cNvSpPr/>
          <p:nvPr/>
        </p:nvSpPr>
        <p:spPr>
          <a:xfrm>
            <a:off x="2103120" y="2514600"/>
            <a:ext cx="868680" cy="1097280"/>
          </a:xfrm>
          <a:prstGeom prst="rect">
            <a:avLst/>
          </a:prstGeom>
          <a:solidFill>
            <a:srgbClr val="EEF5FB"/>
          </a:solidFill>
          <a:ln/>
        </p:spPr>
      </p:sp>
      <p:sp>
        <p:nvSpPr>
          <p:cNvPr id="27" name="Shape 25"/>
          <p:cNvSpPr/>
          <p:nvPr/>
        </p:nvSpPr>
        <p:spPr>
          <a:xfrm>
            <a:off x="2103120" y="3063240"/>
            <a:ext cx="868680" cy="548640"/>
          </a:xfrm>
          <a:prstGeom prst="rect">
            <a:avLst/>
          </a:prstGeom>
          <a:solidFill>
            <a:srgbClr val="CFE4F7"/>
          </a:solidFill>
          <a:ln/>
        </p:spPr>
      </p:sp>
      <p:sp>
        <p:nvSpPr>
          <p:cNvPr id="28" name="Shape 26"/>
          <p:cNvSpPr/>
          <p:nvPr/>
        </p:nvSpPr>
        <p:spPr>
          <a:xfrm>
            <a:off x="2103120" y="2514600"/>
            <a:ext cx="91" cy="1097280"/>
          </a:xfrm>
          <a:prstGeom prst="line">
            <a:avLst/>
          </a:prstGeom>
          <a:noFill/>
          <a:ln w="15875">
            <a:solidFill>
              <a:srgbClr val="2A1F3D"/>
            </a:solidFill>
            <a:prstDash val="solid"/>
          </a:ln>
        </p:spPr>
      </p:sp>
      <p:sp>
        <p:nvSpPr>
          <p:cNvPr id="29" name="Shape 27"/>
          <p:cNvSpPr/>
          <p:nvPr/>
        </p:nvSpPr>
        <p:spPr>
          <a:xfrm>
            <a:off x="2971800" y="2514600"/>
            <a:ext cx="91" cy="1097280"/>
          </a:xfrm>
          <a:prstGeom prst="line">
            <a:avLst/>
          </a:prstGeom>
          <a:noFill/>
          <a:ln w="15875">
            <a:solidFill>
              <a:srgbClr val="2A1F3D"/>
            </a:solidFill>
            <a:prstDash val="solid"/>
          </a:ln>
        </p:spPr>
      </p:sp>
      <p:sp>
        <p:nvSpPr>
          <p:cNvPr id="30" name="Shape 28"/>
          <p:cNvSpPr/>
          <p:nvPr/>
        </p:nvSpPr>
        <p:spPr>
          <a:xfrm>
            <a:off x="2103120" y="3611880"/>
            <a:ext cx="868680" cy="91"/>
          </a:xfrm>
          <a:prstGeom prst="line">
            <a:avLst/>
          </a:prstGeom>
          <a:noFill/>
          <a:ln w="15875">
            <a:solidFill>
              <a:srgbClr val="2A1F3D"/>
            </a:solidFill>
            <a:prstDash val="solid"/>
          </a:ln>
        </p:spPr>
      </p:sp>
      <p:sp>
        <p:nvSpPr>
          <p:cNvPr id="31" name="Shape 29"/>
          <p:cNvSpPr/>
          <p:nvPr/>
        </p:nvSpPr>
        <p:spPr>
          <a:xfrm>
            <a:off x="2048256" y="2514600"/>
            <a:ext cx="54864" cy="91"/>
          </a:xfrm>
          <a:prstGeom prst="line">
            <a:avLst/>
          </a:prstGeom>
          <a:noFill/>
          <a:ln w="15875">
            <a:solidFill>
              <a:srgbClr val="2A1F3D"/>
            </a:solidFill>
            <a:prstDash val="solid"/>
          </a:ln>
        </p:spPr>
      </p:sp>
      <p:sp>
        <p:nvSpPr>
          <p:cNvPr id="32" name="Shape 30"/>
          <p:cNvSpPr/>
          <p:nvPr/>
        </p:nvSpPr>
        <p:spPr>
          <a:xfrm>
            <a:off x="2971800" y="2514600"/>
            <a:ext cx="54864" cy="91"/>
          </a:xfrm>
          <a:prstGeom prst="line">
            <a:avLst/>
          </a:prstGeom>
          <a:noFill/>
          <a:ln w="15875">
            <a:solidFill>
              <a:srgbClr val="2A1F3D"/>
            </a:solidFill>
            <a:prstDash val="solid"/>
          </a:ln>
        </p:spPr>
      </p:sp>
      <p:sp>
        <p:nvSpPr>
          <p:cNvPr id="33" name="Shape 31"/>
          <p:cNvSpPr/>
          <p:nvPr/>
        </p:nvSpPr>
        <p:spPr>
          <a:xfrm>
            <a:off x="2331720" y="2194560"/>
            <a:ext cx="411480" cy="1325880"/>
          </a:xfrm>
          <a:prstGeom prst="line">
            <a:avLst/>
          </a:prstGeom>
          <a:noFill/>
          <a:ln w="38100">
            <a:solidFill>
              <a:srgbClr val="9AA3B0"/>
            </a:solidFill>
            <a:prstDash val="solid"/>
          </a:ln>
        </p:spPr>
      </p:sp>
      <p:sp>
        <p:nvSpPr>
          <p:cNvPr id="34" name="Text 32"/>
          <p:cNvSpPr/>
          <p:nvPr/>
        </p:nvSpPr>
        <p:spPr>
          <a:xfrm>
            <a:off x="1874520" y="3703320"/>
            <a:ext cx="128016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dissolve in distilled water; stir</a:t>
            </a:r>
            <a:endParaRPr lang="en-US" sz="1000" dirty="0"/>
          </a:p>
        </p:txBody>
      </p:sp>
      <p:sp>
        <p:nvSpPr>
          <p:cNvPr id="35" name="Shape 33"/>
          <p:cNvSpPr/>
          <p:nvPr/>
        </p:nvSpPr>
        <p:spPr>
          <a:xfrm>
            <a:off x="3451860" y="2788920"/>
            <a:ext cx="868680" cy="868680"/>
          </a:xfrm>
          <a:prstGeom prst="ellipse">
            <a:avLst/>
          </a:prstGeom>
          <a:solidFill>
            <a:srgbClr val="EEF5FB"/>
          </a:solidFill>
          <a:ln w="15875">
            <a:solidFill>
              <a:srgbClr val="2A1F3D"/>
            </a:solidFill>
            <a:prstDash val="solid"/>
          </a:ln>
        </p:spPr>
      </p:sp>
      <p:sp>
        <p:nvSpPr>
          <p:cNvPr id="36" name="Shape 34"/>
          <p:cNvSpPr/>
          <p:nvPr/>
        </p:nvSpPr>
        <p:spPr>
          <a:xfrm>
            <a:off x="3454037" y="3266694"/>
            <a:ext cx="864326" cy="390906"/>
          </a:xfrm>
          <a:custGeom>
            <a:avLst/>
            <a:gdLst/>
            <a:ahLst/>
            <a:cxnLst/>
            <a:rect l="l" t="t" r="r" b="b"/>
            <a:pathLst>
              <a:path w="864326" h="390906">
                <a:moveTo>
                  <a:pt x="0" y="0"/>
                </a:moveTo>
                <a:lnTo>
                  <a:pt x="864326" y="0"/>
                </a:lnTo>
                <a:lnTo>
                  <a:pt x="828312" y="134659"/>
                </a:lnTo>
                <a:lnTo>
                  <a:pt x="792299" y="199369"/>
                </a:lnTo>
                <a:lnTo>
                  <a:pt x="756285" y="245696"/>
                </a:lnTo>
                <a:lnTo>
                  <a:pt x="720271" y="281596"/>
                </a:lnTo>
                <a:lnTo>
                  <a:pt x="684258" y="310260"/>
                </a:lnTo>
                <a:lnTo>
                  <a:pt x="648244" y="333342"/>
                </a:lnTo>
                <a:lnTo>
                  <a:pt x="612231" y="351821"/>
                </a:lnTo>
                <a:lnTo>
                  <a:pt x="576217" y="366322"/>
                </a:lnTo>
                <a:lnTo>
                  <a:pt x="540204" y="377254"/>
                </a:lnTo>
                <a:lnTo>
                  <a:pt x="504190" y="384892"/>
                </a:lnTo>
                <a:lnTo>
                  <a:pt x="468176" y="389410"/>
                </a:lnTo>
                <a:lnTo>
                  <a:pt x="432163" y="390906"/>
                </a:lnTo>
                <a:lnTo>
                  <a:pt x="396149" y="389410"/>
                </a:lnTo>
                <a:lnTo>
                  <a:pt x="360136" y="384892"/>
                </a:lnTo>
                <a:lnTo>
                  <a:pt x="324122" y="377254"/>
                </a:lnTo>
                <a:lnTo>
                  <a:pt x="288109" y="366322"/>
                </a:lnTo>
                <a:lnTo>
                  <a:pt x="252095" y="351821"/>
                </a:lnTo>
                <a:lnTo>
                  <a:pt x="216081" y="333342"/>
                </a:lnTo>
                <a:lnTo>
                  <a:pt x="180068" y="310260"/>
                </a:lnTo>
                <a:lnTo>
                  <a:pt x="144054" y="281596"/>
                </a:lnTo>
                <a:lnTo>
                  <a:pt x="108041" y="245696"/>
                </a:lnTo>
                <a:lnTo>
                  <a:pt x="72027" y="199369"/>
                </a:lnTo>
                <a:lnTo>
                  <a:pt x="36014" y="134659"/>
                </a:lnTo>
                <a:close/>
              </a:path>
            </a:pathLst>
          </a:custGeom>
          <a:solidFill>
            <a:srgbClr val="CFE4F7"/>
          </a:solidFill>
          <a:ln/>
        </p:spPr>
      </p:sp>
      <p:sp>
        <p:nvSpPr>
          <p:cNvPr id="37" name="Shape 35"/>
          <p:cNvSpPr/>
          <p:nvPr/>
        </p:nvSpPr>
        <p:spPr>
          <a:xfrm>
            <a:off x="3451860" y="2788920"/>
            <a:ext cx="868680" cy="868680"/>
          </a:xfrm>
          <a:prstGeom prst="ellipse">
            <a:avLst/>
          </a:prstGeom>
          <a:ln w="15875">
            <a:solidFill>
              <a:srgbClr val="2A1F3D"/>
            </a:solidFill>
            <a:prstDash val="solid"/>
          </a:ln>
        </p:spPr>
      </p:sp>
      <p:sp>
        <p:nvSpPr>
          <p:cNvPr id="38" name="Shape 36"/>
          <p:cNvSpPr/>
          <p:nvPr/>
        </p:nvSpPr>
        <p:spPr>
          <a:xfrm>
            <a:off x="3813048" y="2066544"/>
            <a:ext cx="146304" cy="832104"/>
          </a:xfrm>
          <a:prstGeom prst="rect">
            <a:avLst/>
          </a:prstGeom>
          <a:solidFill>
            <a:srgbClr val="EEF5FB"/>
          </a:solidFill>
          <a:ln/>
        </p:spPr>
      </p:sp>
      <p:sp>
        <p:nvSpPr>
          <p:cNvPr id="39" name="Shape 37"/>
          <p:cNvSpPr/>
          <p:nvPr/>
        </p:nvSpPr>
        <p:spPr>
          <a:xfrm>
            <a:off x="3813048" y="2066544"/>
            <a:ext cx="91" cy="804672"/>
          </a:xfrm>
          <a:prstGeom prst="line">
            <a:avLst/>
          </a:prstGeom>
          <a:noFill/>
          <a:ln w="15875">
            <a:solidFill>
              <a:srgbClr val="2A1F3D"/>
            </a:solidFill>
            <a:prstDash val="solid"/>
          </a:ln>
        </p:spPr>
      </p:sp>
      <p:sp>
        <p:nvSpPr>
          <p:cNvPr id="40" name="Shape 38"/>
          <p:cNvSpPr/>
          <p:nvPr/>
        </p:nvSpPr>
        <p:spPr>
          <a:xfrm>
            <a:off x="3959352" y="2066544"/>
            <a:ext cx="91" cy="804672"/>
          </a:xfrm>
          <a:prstGeom prst="line">
            <a:avLst/>
          </a:prstGeom>
          <a:noFill/>
          <a:ln w="15875">
            <a:solidFill>
              <a:srgbClr val="2A1F3D"/>
            </a:solidFill>
            <a:prstDash val="solid"/>
          </a:ln>
        </p:spPr>
      </p:sp>
      <p:sp>
        <p:nvSpPr>
          <p:cNvPr id="41" name="Shape 39"/>
          <p:cNvSpPr/>
          <p:nvPr/>
        </p:nvSpPr>
        <p:spPr>
          <a:xfrm>
            <a:off x="3767328" y="2338578"/>
            <a:ext cx="237744" cy="91"/>
          </a:xfrm>
          <a:prstGeom prst="line">
            <a:avLst/>
          </a:prstGeom>
          <a:noFill/>
          <a:ln w="19050">
            <a:solidFill>
              <a:srgbClr val="C8414C"/>
            </a:solidFill>
            <a:prstDash val="solid"/>
          </a:ln>
        </p:spPr>
      </p:sp>
      <p:sp>
        <p:nvSpPr>
          <p:cNvPr id="42" name="Shape 40"/>
          <p:cNvSpPr/>
          <p:nvPr/>
        </p:nvSpPr>
        <p:spPr>
          <a:xfrm>
            <a:off x="3625596" y="3621024"/>
            <a:ext cx="521208" cy="36576"/>
          </a:xfrm>
          <a:prstGeom prst="rect">
            <a:avLst/>
          </a:prstGeom>
          <a:solidFill>
            <a:srgbClr val="2A1F3D"/>
          </a:solidFill>
          <a:ln/>
        </p:spPr>
      </p:sp>
      <p:sp>
        <p:nvSpPr>
          <p:cNvPr id="43" name="Shape 41"/>
          <p:cNvSpPr/>
          <p:nvPr/>
        </p:nvSpPr>
        <p:spPr>
          <a:xfrm>
            <a:off x="3657600" y="1691640"/>
            <a:ext cx="457200" cy="594360"/>
          </a:xfrm>
          <a:custGeom>
            <a:avLst/>
            <a:gdLst/>
            <a:ahLst/>
            <a:cxnLst/>
            <a:rect l="l" t="t" r="r" b="b"/>
            <a:pathLst>
              <a:path w="457200" h="594360">
                <a:moveTo>
                  <a:pt x="0" y="0"/>
                </a:moveTo>
                <a:lnTo>
                  <a:pt x="457200" y="0"/>
                </a:lnTo>
                <a:lnTo>
                  <a:pt x="265176" y="274320"/>
                </a:lnTo>
                <a:lnTo>
                  <a:pt x="265176" y="594360"/>
                </a:lnTo>
                <a:lnTo>
                  <a:pt x="192024" y="594360"/>
                </a:lnTo>
                <a:lnTo>
                  <a:pt x="192024" y="274320"/>
                </a:lnTo>
                <a:close/>
              </a:path>
            </a:pathLst>
          </a:custGeom>
          <a:solidFill>
            <a:srgbClr val="EEF5FB"/>
          </a:solidFill>
          <a:ln w="12700">
            <a:solidFill>
              <a:srgbClr val="2A1F3D"/>
            </a:solidFill>
            <a:prstDash val="solid"/>
          </a:ln>
        </p:spPr>
      </p:sp>
      <p:sp>
        <p:nvSpPr>
          <p:cNvPr id="44" name="Text 42"/>
          <p:cNvSpPr/>
          <p:nvPr/>
        </p:nvSpPr>
        <p:spPr>
          <a:xfrm>
            <a:off x="3246120" y="3703320"/>
            <a:ext cx="128016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rinse beaker and rod into flask</a:t>
            </a:r>
            <a:endParaRPr lang="en-US" sz="1000" dirty="0"/>
          </a:p>
        </p:txBody>
      </p:sp>
      <p:sp>
        <p:nvSpPr>
          <p:cNvPr id="45" name="Shape 43"/>
          <p:cNvSpPr/>
          <p:nvPr/>
        </p:nvSpPr>
        <p:spPr>
          <a:xfrm>
            <a:off x="4823460" y="2788920"/>
            <a:ext cx="868680" cy="868680"/>
          </a:xfrm>
          <a:prstGeom prst="ellipse">
            <a:avLst/>
          </a:prstGeom>
          <a:solidFill>
            <a:srgbClr val="CFE4F7"/>
          </a:solidFill>
          <a:ln w="15875">
            <a:solidFill>
              <a:srgbClr val="2A1F3D"/>
            </a:solidFill>
            <a:prstDash val="solid"/>
          </a:ln>
        </p:spPr>
      </p:sp>
      <p:sp>
        <p:nvSpPr>
          <p:cNvPr id="46" name="Shape 44"/>
          <p:cNvSpPr/>
          <p:nvPr/>
        </p:nvSpPr>
        <p:spPr>
          <a:xfrm>
            <a:off x="5184648" y="2066544"/>
            <a:ext cx="146304" cy="832104"/>
          </a:xfrm>
          <a:prstGeom prst="rect">
            <a:avLst/>
          </a:prstGeom>
          <a:solidFill>
            <a:srgbClr val="EEF5FB"/>
          </a:solidFill>
          <a:ln/>
        </p:spPr>
      </p:sp>
      <p:sp>
        <p:nvSpPr>
          <p:cNvPr id="47" name="Shape 45"/>
          <p:cNvSpPr/>
          <p:nvPr/>
        </p:nvSpPr>
        <p:spPr>
          <a:xfrm>
            <a:off x="5184648" y="2338578"/>
            <a:ext cx="146304" cy="560070"/>
          </a:xfrm>
          <a:prstGeom prst="rect">
            <a:avLst/>
          </a:prstGeom>
          <a:solidFill>
            <a:srgbClr val="CFE4F7"/>
          </a:solidFill>
          <a:ln/>
        </p:spPr>
      </p:sp>
      <p:sp>
        <p:nvSpPr>
          <p:cNvPr id="48" name="Shape 46"/>
          <p:cNvSpPr/>
          <p:nvPr/>
        </p:nvSpPr>
        <p:spPr>
          <a:xfrm>
            <a:off x="5184648" y="2066544"/>
            <a:ext cx="91" cy="804672"/>
          </a:xfrm>
          <a:prstGeom prst="line">
            <a:avLst/>
          </a:prstGeom>
          <a:noFill/>
          <a:ln w="15875">
            <a:solidFill>
              <a:srgbClr val="2A1F3D"/>
            </a:solidFill>
            <a:prstDash val="solid"/>
          </a:ln>
        </p:spPr>
      </p:sp>
      <p:sp>
        <p:nvSpPr>
          <p:cNvPr id="49" name="Shape 47"/>
          <p:cNvSpPr/>
          <p:nvPr/>
        </p:nvSpPr>
        <p:spPr>
          <a:xfrm>
            <a:off x="5330952" y="2066544"/>
            <a:ext cx="91" cy="804672"/>
          </a:xfrm>
          <a:prstGeom prst="line">
            <a:avLst/>
          </a:prstGeom>
          <a:noFill/>
          <a:ln w="15875">
            <a:solidFill>
              <a:srgbClr val="2A1F3D"/>
            </a:solidFill>
            <a:prstDash val="solid"/>
          </a:ln>
        </p:spPr>
      </p:sp>
      <p:sp>
        <p:nvSpPr>
          <p:cNvPr id="50" name="Shape 48"/>
          <p:cNvSpPr/>
          <p:nvPr/>
        </p:nvSpPr>
        <p:spPr>
          <a:xfrm>
            <a:off x="5138928" y="2338578"/>
            <a:ext cx="237744" cy="91"/>
          </a:xfrm>
          <a:prstGeom prst="line">
            <a:avLst/>
          </a:prstGeom>
          <a:noFill/>
          <a:ln w="19050">
            <a:solidFill>
              <a:srgbClr val="C8414C"/>
            </a:solidFill>
            <a:prstDash val="solid"/>
          </a:ln>
        </p:spPr>
      </p:sp>
      <p:sp>
        <p:nvSpPr>
          <p:cNvPr id="51" name="Shape 49"/>
          <p:cNvSpPr/>
          <p:nvPr/>
        </p:nvSpPr>
        <p:spPr>
          <a:xfrm>
            <a:off x="4997196" y="3621024"/>
            <a:ext cx="521208" cy="36576"/>
          </a:xfrm>
          <a:prstGeom prst="rect">
            <a:avLst/>
          </a:prstGeom>
          <a:solidFill>
            <a:srgbClr val="2A1F3D"/>
          </a:solidFill>
          <a:ln/>
        </p:spPr>
      </p:sp>
      <p:sp>
        <p:nvSpPr>
          <p:cNvPr id="52" name="Shape 50"/>
          <p:cNvSpPr/>
          <p:nvPr/>
        </p:nvSpPr>
        <p:spPr>
          <a:xfrm>
            <a:off x="5157216" y="1938528"/>
            <a:ext cx="201168" cy="146304"/>
          </a:xfrm>
          <a:prstGeom prst="rect">
            <a:avLst/>
          </a:prstGeom>
          <a:solidFill>
            <a:srgbClr val="C9CDD3"/>
          </a:solidFill>
          <a:ln w="9525">
            <a:solidFill>
              <a:srgbClr val="6B7385"/>
            </a:solidFill>
            <a:prstDash val="solid"/>
          </a:ln>
        </p:spPr>
      </p:sp>
      <p:sp>
        <p:nvSpPr>
          <p:cNvPr id="53" name="Shape 51"/>
          <p:cNvSpPr/>
          <p:nvPr/>
        </p:nvSpPr>
        <p:spPr>
          <a:xfrm>
            <a:off x="4690872" y="2011680"/>
            <a:ext cx="219456" cy="128016"/>
          </a:xfrm>
          <a:prstGeom prst="ellipse">
            <a:avLst/>
          </a:prstGeom>
          <a:solidFill>
            <a:srgbClr val="FFFFFF"/>
          </a:solidFill>
          <a:ln w="9525">
            <a:solidFill>
              <a:srgbClr val="2A1F3D"/>
            </a:solidFill>
            <a:prstDash val="solid"/>
          </a:ln>
        </p:spPr>
      </p:sp>
      <p:sp>
        <p:nvSpPr>
          <p:cNvPr id="54" name="Shape 52"/>
          <p:cNvSpPr/>
          <p:nvPr/>
        </p:nvSpPr>
        <p:spPr>
          <a:xfrm>
            <a:off x="4764024" y="2039112"/>
            <a:ext cx="73152" cy="73152"/>
          </a:xfrm>
          <a:prstGeom prst="ellipse">
            <a:avLst/>
          </a:prstGeom>
          <a:solidFill>
            <a:srgbClr val="2A1F3D"/>
          </a:solidFill>
          <a:ln w="9525">
            <a:solidFill>
              <a:srgbClr val="2A1F3D"/>
            </a:solidFill>
            <a:prstDash val="solid"/>
          </a:ln>
        </p:spPr>
      </p:sp>
      <p:sp>
        <p:nvSpPr>
          <p:cNvPr id="55" name="Shape 53"/>
          <p:cNvSpPr/>
          <p:nvPr/>
        </p:nvSpPr>
        <p:spPr>
          <a:xfrm>
            <a:off x="4919472" y="2075688"/>
            <a:ext cx="265176" cy="91"/>
          </a:xfrm>
          <a:prstGeom prst="line">
            <a:avLst/>
          </a:prstGeom>
          <a:noFill/>
          <a:ln w="15875">
            <a:solidFill>
              <a:srgbClr val="2E8B57"/>
            </a:solidFill>
            <a:prstDash val="dash"/>
          </a:ln>
        </p:spPr>
      </p:sp>
      <p:sp>
        <p:nvSpPr>
          <p:cNvPr id="56" name="Text 54"/>
          <p:cNvSpPr/>
          <p:nvPr/>
        </p:nvSpPr>
        <p:spPr>
          <a:xfrm>
            <a:off x="4617720" y="3703320"/>
            <a:ext cx="128016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to the mark; stopper; invert</a:t>
            </a:r>
            <a:endParaRPr lang="en-US" sz="1000" dirty="0"/>
          </a:p>
        </p:txBody>
      </p:sp>
      <p:sp>
        <p:nvSpPr>
          <p:cNvPr id="57" name="Text 55"/>
          <p:cNvSpPr/>
          <p:nvPr/>
        </p:nvSpPr>
        <p:spPr>
          <a:xfrm>
            <a:off x="640080" y="4343400"/>
            <a:ext cx="5120640" cy="256032"/>
          </a:xfrm>
          <a:prstGeom prst="rect">
            <a:avLst/>
          </a:prstGeom>
          <a:noFill/>
          <a:ln/>
        </p:spPr>
        <p:txBody>
          <a:bodyPr wrap="square" lIns="0" tIns="0" rIns="0" bIns="0" rtlCol="0" anchor="ctr"/>
          <a:lstStyle/>
          <a:p>
            <a:pPr algn="ctr" indent="0" marL="0">
              <a:buNone/>
            </a:pPr>
            <a:r>
              <a:rPr lang="en-US" sz="1050" dirty="0">
                <a:solidFill>
                  <a:srgbClr val="C8414C"/>
                </a:solidFill>
                <a:latin typeface="Calibri" pitchFamily="34" charset="0"/>
                <a:ea typeface="Calibri" pitchFamily="34" charset="-122"/>
                <a:cs typeface="Calibri" pitchFamily="34" charset="-120"/>
              </a:rPr>
              <a:t>Graduation mark: bottom of the </a:t>
            </a:r>
            <a:r>
              <a:rPr lang="en-US" sz="1050" b="1" dirty="0">
                <a:solidFill>
                  <a:srgbClr val="C8414C"/>
                </a:solidFill>
                <a:latin typeface="Calibri" pitchFamily="34" charset="0"/>
                <a:ea typeface="Calibri" pitchFamily="34" charset="-122"/>
                <a:cs typeface="Calibri" pitchFamily="34" charset="-120"/>
              </a:rPr>
              <a:t>meniscus</a:t>
            </a:r>
            <a:r>
              <a:rPr lang="en-US" sz="1050" dirty="0">
                <a:solidFill>
                  <a:srgbClr val="C8414C"/>
                </a:solidFill>
                <a:latin typeface="Calibri" pitchFamily="34" charset="0"/>
                <a:ea typeface="Calibri" pitchFamily="34" charset="-122"/>
                <a:cs typeface="Calibri" pitchFamily="34" charset="-120"/>
              </a:rPr>
              <a:t> on the line, read at </a:t>
            </a:r>
            <a:r>
              <a:rPr lang="en-US" sz="1050" b="1" dirty="0">
                <a:solidFill>
                  <a:srgbClr val="C8414C"/>
                </a:solidFill>
                <a:latin typeface="Calibri" pitchFamily="34" charset="0"/>
                <a:ea typeface="Calibri" pitchFamily="34" charset="-122"/>
                <a:cs typeface="Calibri" pitchFamily="34" charset="-120"/>
              </a:rPr>
              <a:t>eye level</a:t>
            </a:r>
            <a:endParaRPr lang="en-US" sz="1050" dirty="0"/>
          </a:p>
        </p:txBody>
      </p:sp>
      <p:sp>
        <p:nvSpPr>
          <p:cNvPr id="58" name="Text 56"/>
          <p:cNvSpPr/>
          <p:nvPr/>
        </p:nvSpPr>
        <p:spPr>
          <a:xfrm>
            <a:off x="640080" y="4663440"/>
            <a:ext cx="5120640" cy="256032"/>
          </a:xfrm>
          <a:prstGeom prst="rect">
            <a:avLst/>
          </a:prstGeom>
          <a:noFill/>
          <a:ln/>
        </p:spPr>
        <p:txBody>
          <a:bodyPr wrap="square" lIns="0" tIns="0" rIns="0" bIns="0" rtlCol="0" anchor="ctr"/>
          <a:lstStyle/>
          <a:p>
            <a:pPr algn="ctr" indent="0" marL="0">
              <a:buNone/>
            </a:pPr>
            <a:r>
              <a:rPr lang="en-US" sz="1050" dirty="0">
                <a:solidFill>
                  <a:srgbClr val="2A1F3D"/>
                </a:solidFill>
                <a:latin typeface="Calibri" pitchFamily="34" charset="0"/>
                <a:ea typeface="Calibri" pitchFamily="34" charset="-122"/>
                <a:cs typeface="Calibri" pitchFamily="34" charset="-120"/>
              </a:rPr>
              <a:t>Volumetric flask: one accurate volume, e.g. </a:t>
            </a:r>
            <a:r>
              <a:rPr lang="en-US" sz="1050" b="1" dirty="0">
                <a:solidFill>
                  <a:srgbClr val="2A1F3D"/>
                </a:solidFill>
                <a:latin typeface="Calibri" pitchFamily="34" charset="0"/>
                <a:ea typeface="Calibri" pitchFamily="34" charset="-122"/>
                <a:cs typeface="Calibri" pitchFamily="34" charset="-120"/>
              </a:rPr>
              <a:t>250.0 cm³</a:t>
            </a:r>
            <a:endParaRPr lang="en-US" sz="1050" dirty="0"/>
          </a:p>
        </p:txBody>
      </p:sp>
      <p:sp>
        <p:nvSpPr>
          <p:cNvPr id="59" name="Shape 57"/>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61" name="Text 59"/>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standard solution</a:t>
            </a:r>
            <a:r>
              <a:rPr lang="en-US" sz="1100" dirty="0">
                <a:solidFill>
                  <a:srgbClr val="262B3A"/>
                </a:solidFill>
                <a:latin typeface="Calibri" pitchFamily="34" charset="0"/>
                <a:ea typeface="Calibri" pitchFamily="34" charset="-122"/>
                <a:cs typeface="Calibri" pitchFamily="34" charset="-120"/>
              </a:rPr>
              <a:t> has an </a:t>
            </a:r>
            <a:r>
              <a:rPr lang="en-US" sz="1100" b="1" dirty="0">
                <a:solidFill>
                  <a:srgbClr val="262B3A"/>
                </a:solidFill>
                <a:latin typeface="Calibri" pitchFamily="34" charset="0"/>
                <a:ea typeface="Calibri" pitchFamily="34" charset="-122"/>
                <a:cs typeface="Calibri" pitchFamily="34" charset="-120"/>
              </a:rPr>
              <a:t>accurately known</a:t>
            </a:r>
            <a:r>
              <a:rPr lang="en-US" sz="1100" dirty="0">
                <a:solidFill>
                  <a:srgbClr val="262B3A"/>
                </a:solidFill>
                <a:latin typeface="Calibri" pitchFamily="34" charset="0"/>
                <a:ea typeface="Calibri" pitchFamily="34" charset="-122"/>
                <a:cs typeface="Calibri" pitchFamily="34" charset="-120"/>
              </a:rPr>
              <a:t> concentration.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Weigh</a:t>
            </a:r>
            <a:r>
              <a:rPr lang="en-US" sz="1100" dirty="0">
                <a:solidFill>
                  <a:srgbClr val="262B3A"/>
                </a:solidFill>
                <a:latin typeface="Calibri" pitchFamily="34" charset="0"/>
                <a:ea typeface="Calibri" pitchFamily="34" charset="-122"/>
                <a:cs typeface="Calibri" pitchFamily="34" charset="-120"/>
              </a:rPr>
              <a:t> the solid accurately on a 2 or 3 d.p. balance; reweigh the boat to find the mass </a:t>
            </a:r>
            <a:r>
              <a:rPr lang="en-US" sz="1100" b="1" dirty="0">
                <a:solidFill>
                  <a:srgbClr val="262B3A"/>
                </a:solidFill>
                <a:latin typeface="Calibri" pitchFamily="34" charset="0"/>
                <a:ea typeface="Calibri" pitchFamily="34" charset="-122"/>
                <a:cs typeface="Calibri" pitchFamily="34" charset="-120"/>
              </a:rPr>
              <a:t>transferred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Dissolve</a:t>
            </a:r>
            <a:r>
              <a:rPr lang="en-US" sz="1100" dirty="0">
                <a:solidFill>
                  <a:srgbClr val="262B3A"/>
                </a:solidFill>
                <a:latin typeface="Calibri" pitchFamily="34" charset="0"/>
                <a:ea typeface="Calibri" pitchFamily="34" charset="-122"/>
                <a:cs typeface="Calibri" pitchFamily="34" charset="-120"/>
              </a:rPr>
              <a:t> in a little distilled water in a beaker; stir.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Pour into a </a:t>
            </a:r>
            <a:r>
              <a:rPr lang="en-US" sz="1100" b="1" dirty="0">
                <a:solidFill>
                  <a:srgbClr val="262B3A"/>
                </a:solidFill>
                <a:latin typeface="Calibri" pitchFamily="34" charset="0"/>
                <a:ea typeface="Calibri" pitchFamily="34" charset="-122"/>
                <a:cs typeface="Calibri" pitchFamily="34" charset="-120"/>
              </a:rPr>
              <a:t>volumetric flask</a:t>
            </a:r>
            <a:r>
              <a:rPr lang="en-US" sz="1100" dirty="0">
                <a:solidFill>
                  <a:srgbClr val="262B3A"/>
                </a:solidFill>
                <a:latin typeface="Calibri" pitchFamily="34" charset="0"/>
                <a:ea typeface="Calibri" pitchFamily="34" charset="-122"/>
                <a:cs typeface="Calibri" pitchFamily="34" charset="-120"/>
              </a:rPr>
              <a:t> with a funnel; </a:t>
            </a:r>
            <a:r>
              <a:rPr lang="en-US" sz="1100" b="1" dirty="0">
                <a:solidFill>
                  <a:srgbClr val="262B3A"/>
                </a:solidFill>
                <a:latin typeface="Calibri" pitchFamily="34" charset="0"/>
                <a:ea typeface="Calibri" pitchFamily="34" charset="-122"/>
                <a:cs typeface="Calibri" pitchFamily="34" charset="-120"/>
              </a:rPr>
              <a:t>rinse</a:t>
            </a:r>
            <a:r>
              <a:rPr lang="en-US" sz="1100" dirty="0">
                <a:solidFill>
                  <a:srgbClr val="262B3A"/>
                </a:solidFill>
                <a:latin typeface="Calibri" pitchFamily="34" charset="0"/>
                <a:ea typeface="Calibri" pitchFamily="34" charset="-122"/>
                <a:cs typeface="Calibri" pitchFamily="34" charset="-120"/>
              </a:rPr>
              <a:t> the beaker, rod and funnel into the flask so </a:t>
            </a:r>
            <a:r>
              <a:rPr lang="en-US" sz="1100" b="1" dirty="0">
                <a:solidFill>
                  <a:srgbClr val="262B3A"/>
                </a:solidFill>
                <a:latin typeface="Calibri" pitchFamily="34" charset="0"/>
                <a:ea typeface="Calibri" pitchFamily="34" charset="-122"/>
                <a:cs typeface="Calibri" pitchFamily="34" charset="-120"/>
              </a:rPr>
              <a:t>no solute is lost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Add distilled water </a:t>
            </a:r>
            <a:r>
              <a:rPr lang="en-US" sz="1100" b="1" dirty="0">
                <a:solidFill>
                  <a:srgbClr val="262B3A"/>
                </a:solidFill>
                <a:latin typeface="Calibri" pitchFamily="34" charset="0"/>
                <a:ea typeface="Calibri" pitchFamily="34" charset="-122"/>
                <a:cs typeface="Calibri" pitchFamily="34" charset="-120"/>
              </a:rPr>
              <a:t>dropwise</a:t>
            </a:r>
            <a:r>
              <a:rPr lang="en-US" sz="1100" dirty="0">
                <a:solidFill>
                  <a:srgbClr val="262B3A"/>
                </a:solidFill>
                <a:latin typeface="Calibri" pitchFamily="34" charset="0"/>
                <a:ea typeface="Calibri" pitchFamily="34" charset="-122"/>
                <a:cs typeface="Calibri" pitchFamily="34" charset="-120"/>
              </a:rPr>
              <a:t> to the </a:t>
            </a:r>
            <a:r>
              <a:rPr lang="en-US" sz="1100" b="1" dirty="0">
                <a:solidFill>
                  <a:srgbClr val="262B3A"/>
                </a:solidFill>
                <a:latin typeface="Calibri" pitchFamily="34" charset="0"/>
                <a:ea typeface="Calibri" pitchFamily="34" charset="-122"/>
                <a:cs typeface="Calibri" pitchFamily="34" charset="-120"/>
              </a:rPr>
              <a:t>graduation mark</a:t>
            </a:r>
            <a:r>
              <a:rPr lang="en-US" sz="1100" dirty="0">
                <a:solidFill>
                  <a:srgbClr val="262B3A"/>
                </a:solidFill>
                <a:latin typeface="Calibri" pitchFamily="34" charset="0"/>
                <a:ea typeface="Calibri" pitchFamily="34" charset="-122"/>
                <a:cs typeface="Calibri" pitchFamily="34" charset="-120"/>
              </a:rPr>
              <a:t>; stopper and </a:t>
            </a:r>
            <a:r>
              <a:rPr lang="en-US" sz="1100" b="1" dirty="0">
                <a:solidFill>
                  <a:srgbClr val="262B3A"/>
                </a:solidFill>
                <a:latin typeface="Calibri" pitchFamily="34" charset="0"/>
                <a:ea typeface="Calibri" pitchFamily="34" charset="-122"/>
                <a:cs typeface="Calibri" pitchFamily="34" charset="-120"/>
              </a:rPr>
              <a:t>invert</a:t>
            </a:r>
            <a:r>
              <a:rPr lang="en-US" sz="1100" dirty="0">
                <a:solidFill>
                  <a:srgbClr val="262B3A"/>
                </a:solidFill>
                <a:latin typeface="Calibri" pitchFamily="34" charset="0"/>
                <a:ea typeface="Calibri" pitchFamily="34" charset="-122"/>
                <a:cs typeface="Calibri" pitchFamily="34" charset="-120"/>
              </a:rPr>
              <a:t> to mix.</a:t>
            </a:r>
            <a:endParaRPr lang="en-US" sz="1100" dirty="0"/>
          </a:p>
        </p:txBody>
      </p:sp>
      <p:sp>
        <p:nvSpPr>
          <p:cNvPr id="62" name="Shape 60"/>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63" name="Text 61"/>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to weigh out</a:t>
            </a:r>
            <a:endParaRPr lang="en-US" sz="1300" dirty="0"/>
          </a:p>
        </p:txBody>
      </p:sp>
      <p:sp>
        <p:nvSpPr>
          <p:cNvPr id="64" name="Text 62"/>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Make 250 cm³ of 10.6 g/dm³ sodium carbonate.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Mass   </a:t>
            </a:r>
            <a:r>
              <a:rPr lang="en-US" sz="1050" dirty="0">
                <a:solidFill>
                  <a:srgbClr val="262B3A"/>
                </a:solidFill>
                <a:latin typeface="Calibri" pitchFamily="34" charset="0"/>
                <a:ea typeface="Calibri" pitchFamily="34" charset="-122"/>
                <a:cs typeface="Calibri" pitchFamily="34" charset="-120"/>
              </a:rPr>
              <a:t>10.6 × (250 ÷ 1000) = </a:t>
            </a:r>
            <a:r>
              <a:rPr lang="en-US" sz="1050" b="1" dirty="0">
                <a:solidFill>
                  <a:srgbClr val="262B3A"/>
                </a:solidFill>
                <a:latin typeface="Calibri" pitchFamily="34" charset="0"/>
                <a:ea typeface="Calibri" pitchFamily="34" charset="-122"/>
                <a:cs typeface="Calibri" pitchFamily="34" charset="-120"/>
              </a:rPr>
              <a:t>2.65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HT   </a:t>
            </a:r>
            <a:r>
              <a:rPr lang="en-US" sz="1050" b="1" dirty="0">
                <a:solidFill>
                  <a:srgbClr val="C8414C"/>
                </a:solidFill>
                <a:latin typeface="Calibri" pitchFamily="34" charset="0"/>
                <a:ea typeface="Calibri" pitchFamily="34" charset="-122"/>
                <a:cs typeface="Calibri" pitchFamily="34" charset="-120"/>
              </a:rPr>
              <a:t>Mr 106: 10.6 g/dm³ = </a:t>
            </a:r>
            <a:r>
              <a:rPr lang="en-US" sz="1050" b="1" dirty="0">
                <a:solidFill>
                  <a:srgbClr val="C8414C"/>
                </a:solidFill>
                <a:latin typeface="Calibri" pitchFamily="34" charset="0"/>
                <a:ea typeface="Calibri" pitchFamily="34" charset="-122"/>
                <a:cs typeface="Calibri" pitchFamily="34" charset="-120"/>
              </a:rPr>
              <a:t>0.100 mol/dm³</a:t>
            </a:r>
            <a:r>
              <a:rPr lang="en-US" sz="1050" b="1" dirty="0">
                <a:solidFill>
                  <a:srgbClr val="C8414C"/>
                </a:solidFill>
                <a:latin typeface="Calibri" pitchFamily="34" charset="0"/>
                <a:ea typeface="Calibri" pitchFamily="34" charset="-122"/>
                <a:cs typeface="Calibri" pitchFamily="34" charset="-120"/>
              </a:rPr>
              <a:t> (0.0250 mol)</a:t>
            </a:r>
            <a:endParaRPr lang="en-US" sz="105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beaker </a:t>
            </a:r>
            <a:r>
              <a:rPr lang="en-US" sz="1150" b="1" dirty="0">
                <a:solidFill>
                  <a:srgbClr val="262B3A"/>
                </a:solidFill>
                <a:latin typeface="Calibri" pitchFamily="34" charset="0"/>
                <a:ea typeface="Calibri" pitchFamily="34" charset="-122"/>
                <a:cs typeface="Calibri" pitchFamily="34" charset="-120"/>
              </a:rPr>
              <a:t>rinsed</a:t>
            </a:r>
            <a:r>
              <a:rPr lang="en-US" sz="1150" dirty="0">
                <a:solidFill>
                  <a:srgbClr val="262B3A"/>
                </a:solidFill>
                <a:latin typeface="Calibri" pitchFamily="34" charset="0"/>
                <a:ea typeface="Calibri" pitchFamily="34" charset="-122"/>
                <a:cs typeface="Calibri" pitchFamily="34" charset="-120"/>
              </a:rPr>
              <a:t> into the flask? What mass of sodium chloride is needed for </a:t>
            </a:r>
            <a:r>
              <a:rPr lang="en-US" sz="1150" b="1" dirty="0">
                <a:solidFill>
                  <a:srgbClr val="262B3A"/>
                </a:solidFill>
                <a:latin typeface="Calibri" pitchFamily="34" charset="0"/>
                <a:ea typeface="Calibri" pitchFamily="34" charset="-122"/>
                <a:cs typeface="Calibri" pitchFamily="34" charset="-120"/>
              </a:rPr>
              <a:t>100 cm³</a:t>
            </a:r>
            <a:r>
              <a:rPr lang="en-US" sz="1150" dirty="0">
                <a:solidFill>
                  <a:srgbClr val="262B3A"/>
                </a:solidFill>
                <a:latin typeface="Calibri" pitchFamily="34" charset="0"/>
                <a:ea typeface="Calibri" pitchFamily="34" charset="-122"/>
                <a:cs typeface="Calibri" pitchFamily="34" charset="-120"/>
              </a:rPr>
              <a:t> of a </a:t>
            </a:r>
            <a:r>
              <a:rPr lang="en-US" sz="1150" b="1" dirty="0">
                <a:solidFill>
                  <a:srgbClr val="262B3A"/>
                </a:solidFill>
                <a:latin typeface="Calibri" pitchFamily="34" charset="0"/>
                <a:ea typeface="Calibri" pitchFamily="34" charset="-122"/>
                <a:cs typeface="Calibri" pitchFamily="34" charset="-120"/>
              </a:rPr>
              <a:t>20 g/dm³</a:t>
            </a:r>
            <a:r>
              <a:rPr lang="en-US" sz="1150" dirty="0">
                <a:solidFill>
                  <a:srgbClr val="262B3A"/>
                </a:solidFill>
                <a:latin typeface="Calibri" pitchFamily="34" charset="0"/>
                <a:ea typeface="Calibri" pitchFamily="34" charset="-122"/>
                <a:cs typeface="Calibri" pitchFamily="34" charset="-120"/>
              </a:rPr>
              <a:t> solution?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Titration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C5.3.4 • measuring the volumes of acid and alkali that react, using an indicator</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C5.3.4  |  12</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burette clamped over a conical flask on a white tile; not to scale</a:t>
            </a:r>
            <a:endParaRPr lang="en-US" sz="1000" dirty="0"/>
          </a:p>
        </p:txBody>
      </p:sp>
      <p:sp>
        <p:nvSpPr>
          <p:cNvPr id="10" name="Shape 8"/>
          <p:cNvSpPr/>
          <p:nvPr/>
        </p:nvSpPr>
        <p:spPr>
          <a:xfrm>
            <a:off x="548640" y="5239512"/>
            <a:ext cx="1600200" cy="109728"/>
          </a:xfrm>
          <a:prstGeom prst="rect">
            <a:avLst/>
          </a:prstGeom>
          <a:solidFill>
            <a:srgbClr val="5A6275"/>
          </a:solidFill>
          <a:ln w="12700">
            <a:solidFill>
              <a:srgbClr val="4A5262"/>
            </a:solidFill>
            <a:prstDash val="solid"/>
          </a:ln>
        </p:spPr>
      </p:sp>
      <p:sp>
        <p:nvSpPr>
          <p:cNvPr id="11" name="Shape 9"/>
          <p:cNvSpPr/>
          <p:nvPr/>
        </p:nvSpPr>
        <p:spPr>
          <a:xfrm>
            <a:off x="832104" y="1280160"/>
            <a:ext cx="73152" cy="3959352"/>
          </a:xfrm>
          <a:prstGeom prst="rect">
            <a:avLst/>
          </a:prstGeom>
          <a:solidFill>
            <a:srgbClr val="8C96A8"/>
          </a:solidFill>
          <a:ln w="12700">
            <a:solidFill>
              <a:srgbClr val="6B7385"/>
            </a:solidFill>
            <a:prstDash val="solid"/>
          </a:ln>
        </p:spPr>
      </p:sp>
      <p:sp>
        <p:nvSpPr>
          <p:cNvPr id="12" name="Shape 10"/>
          <p:cNvSpPr/>
          <p:nvPr/>
        </p:nvSpPr>
        <p:spPr>
          <a:xfrm>
            <a:off x="868680" y="1828800"/>
            <a:ext cx="960120" cy="54864"/>
          </a:xfrm>
          <a:prstGeom prst="rect">
            <a:avLst/>
          </a:prstGeom>
          <a:solidFill>
            <a:srgbClr val="8C96A8"/>
          </a:solidFill>
          <a:ln w="12700">
            <a:solidFill>
              <a:srgbClr val="6B7385"/>
            </a:solidFill>
            <a:prstDash val="solid"/>
          </a:ln>
        </p:spPr>
      </p:sp>
      <p:sp>
        <p:nvSpPr>
          <p:cNvPr id="13" name="Shape 11"/>
          <p:cNvSpPr/>
          <p:nvPr/>
        </p:nvSpPr>
        <p:spPr>
          <a:xfrm>
            <a:off x="1773936" y="1764792"/>
            <a:ext cx="292608" cy="182880"/>
          </a:xfrm>
          <a:prstGeom prst="roundRect">
            <a:avLst>
              <a:gd name="adj" fmla="val 20000"/>
            </a:avLst>
          </a:prstGeom>
          <a:solidFill>
            <a:srgbClr val="4A5262"/>
          </a:solidFill>
          <a:ln w="12700">
            <a:solidFill>
              <a:srgbClr val="4A5262"/>
            </a:solidFill>
            <a:prstDash val="solid"/>
          </a:ln>
        </p:spPr>
      </p:sp>
      <p:sp>
        <p:nvSpPr>
          <p:cNvPr id="14" name="Shape 12"/>
          <p:cNvSpPr/>
          <p:nvPr/>
        </p:nvSpPr>
        <p:spPr>
          <a:xfrm>
            <a:off x="1828800" y="1417320"/>
            <a:ext cx="182880" cy="2514600"/>
          </a:xfrm>
          <a:prstGeom prst="rect">
            <a:avLst/>
          </a:prstGeom>
          <a:solidFill>
            <a:srgbClr val="EEF5FB"/>
          </a:solidFill>
          <a:ln/>
        </p:spPr>
      </p:sp>
      <p:sp>
        <p:nvSpPr>
          <p:cNvPr id="15" name="Shape 13"/>
          <p:cNvSpPr/>
          <p:nvPr/>
        </p:nvSpPr>
        <p:spPr>
          <a:xfrm>
            <a:off x="1828800" y="1554480"/>
            <a:ext cx="182880" cy="2377440"/>
          </a:xfrm>
          <a:prstGeom prst="rect">
            <a:avLst/>
          </a:prstGeom>
          <a:solidFill>
            <a:srgbClr val="DDEFF7"/>
          </a:solidFill>
          <a:ln/>
        </p:spPr>
      </p:sp>
      <p:sp>
        <p:nvSpPr>
          <p:cNvPr id="16" name="Shape 14"/>
          <p:cNvSpPr/>
          <p:nvPr/>
        </p:nvSpPr>
        <p:spPr>
          <a:xfrm>
            <a:off x="1828800" y="1554480"/>
            <a:ext cx="91440" cy="91"/>
          </a:xfrm>
          <a:prstGeom prst="line">
            <a:avLst/>
          </a:prstGeom>
          <a:noFill/>
          <a:ln w="7620">
            <a:solidFill>
              <a:srgbClr val="2A1F3D"/>
            </a:solidFill>
            <a:prstDash val="solid"/>
          </a:ln>
        </p:spPr>
      </p:sp>
      <p:sp>
        <p:nvSpPr>
          <p:cNvPr id="17" name="Text 15"/>
          <p:cNvSpPr/>
          <p:nvPr/>
        </p:nvSpPr>
        <p:spPr>
          <a:xfrm>
            <a:off x="1499616" y="1463040"/>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a:t>
            </a:r>
            <a:endParaRPr lang="en-US" sz="1000" dirty="0"/>
          </a:p>
        </p:txBody>
      </p:sp>
      <p:sp>
        <p:nvSpPr>
          <p:cNvPr id="18" name="Shape 16"/>
          <p:cNvSpPr/>
          <p:nvPr/>
        </p:nvSpPr>
        <p:spPr>
          <a:xfrm>
            <a:off x="1828800" y="1773936"/>
            <a:ext cx="54864" cy="91"/>
          </a:xfrm>
          <a:prstGeom prst="line">
            <a:avLst/>
          </a:prstGeom>
          <a:noFill/>
          <a:ln w="7620">
            <a:solidFill>
              <a:srgbClr val="2A1F3D"/>
            </a:solidFill>
            <a:prstDash val="solid"/>
          </a:ln>
        </p:spPr>
      </p:sp>
      <p:sp>
        <p:nvSpPr>
          <p:cNvPr id="19" name="Shape 17"/>
          <p:cNvSpPr/>
          <p:nvPr/>
        </p:nvSpPr>
        <p:spPr>
          <a:xfrm>
            <a:off x="1828800" y="1993392"/>
            <a:ext cx="91440" cy="91"/>
          </a:xfrm>
          <a:prstGeom prst="line">
            <a:avLst/>
          </a:prstGeom>
          <a:noFill/>
          <a:ln w="7620">
            <a:solidFill>
              <a:srgbClr val="2A1F3D"/>
            </a:solidFill>
            <a:prstDash val="solid"/>
          </a:ln>
        </p:spPr>
      </p:sp>
      <p:sp>
        <p:nvSpPr>
          <p:cNvPr id="20" name="Text 18"/>
          <p:cNvSpPr/>
          <p:nvPr/>
        </p:nvSpPr>
        <p:spPr>
          <a:xfrm>
            <a:off x="1499616" y="1901952"/>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a:t>
            </a:r>
            <a:endParaRPr lang="en-US" sz="1000" dirty="0"/>
          </a:p>
        </p:txBody>
      </p:sp>
      <p:sp>
        <p:nvSpPr>
          <p:cNvPr id="21" name="Shape 19"/>
          <p:cNvSpPr/>
          <p:nvPr/>
        </p:nvSpPr>
        <p:spPr>
          <a:xfrm>
            <a:off x="1828800" y="2212848"/>
            <a:ext cx="54864" cy="91"/>
          </a:xfrm>
          <a:prstGeom prst="line">
            <a:avLst/>
          </a:prstGeom>
          <a:noFill/>
          <a:ln w="7620">
            <a:solidFill>
              <a:srgbClr val="2A1F3D"/>
            </a:solidFill>
            <a:prstDash val="solid"/>
          </a:ln>
        </p:spPr>
      </p:sp>
      <p:sp>
        <p:nvSpPr>
          <p:cNvPr id="22" name="Shape 20"/>
          <p:cNvSpPr/>
          <p:nvPr/>
        </p:nvSpPr>
        <p:spPr>
          <a:xfrm>
            <a:off x="1828800" y="2432304"/>
            <a:ext cx="91440" cy="91"/>
          </a:xfrm>
          <a:prstGeom prst="line">
            <a:avLst/>
          </a:prstGeom>
          <a:noFill/>
          <a:ln w="7620">
            <a:solidFill>
              <a:srgbClr val="2A1F3D"/>
            </a:solidFill>
            <a:prstDash val="solid"/>
          </a:ln>
        </p:spPr>
      </p:sp>
      <p:sp>
        <p:nvSpPr>
          <p:cNvPr id="23" name="Text 21"/>
          <p:cNvSpPr/>
          <p:nvPr/>
        </p:nvSpPr>
        <p:spPr>
          <a:xfrm>
            <a:off x="1499616" y="2340864"/>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20</a:t>
            </a:r>
            <a:endParaRPr lang="en-US" sz="1000" dirty="0"/>
          </a:p>
        </p:txBody>
      </p:sp>
      <p:sp>
        <p:nvSpPr>
          <p:cNvPr id="24" name="Shape 22"/>
          <p:cNvSpPr/>
          <p:nvPr/>
        </p:nvSpPr>
        <p:spPr>
          <a:xfrm>
            <a:off x="1828800" y="2651760"/>
            <a:ext cx="54864" cy="91"/>
          </a:xfrm>
          <a:prstGeom prst="line">
            <a:avLst/>
          </a:prstGeom>
          <a:noFill/>
          <a:ln w="7620">
            <a:solidFill>
              <a:srgbClr val="2A1F3D"/>
            </a:solidFill>
            <a:prstDash val="solid"/>
          </a:ln>
        </p:spPr>
      </p:sp>
      <p:sp>
        <p:nvSpPr>
          <p:cNvPr id="25" name="Shape 23"/>
          <p:cNvSpPr/>
          <p:nvPr/>
        </p:nvSpPr>
        <p:spPr>
          <a:xfrm>
            <a:off x="1828800" y="2871216"/>
            <a:ext cx="91440" cy="91"/>
          </a:xfrm>
          <a:prstGeom prst="line">
            <a:avLst/>
          </a:prstGeom>
          <a:noFill/>
          <a:ln w="7620">
            <a:solidFill>
              <a:srgbClr val="2A1F3D"/>
            </a:solidFill>
            <a:prstDash val="solid"/>
          </a:ln>
        </p:spPr>
      </p:sp>
      <p:sp>
        <p:nvSpPr>
          <p:cNvPr id="26" name="Text 24"/>
          <p:cNvSpPr/>
          <p:nvPr/>
        </p:nvSpPr>
        <p:spPr>
          <a:xfrm>
            <a:off x="1499616" y="2779776"/>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30</a:t>
            </a:r>
            <a:endParaRPr lang="en-US" sz="1000" dirty="0"/>
          </a:p>
        </p:txBody>
      </p:sp>
      <p:sp>
        <p:nvSpPr>
          <p:cNvPr id="27" name="Shape 25"/>
          <p:cNvSpPr/>
          <p:nvPr/>
        </p:nvSpPr>
        <p:spPr>
          <a:xfrm>
            <a:off x="1828800" y="3090672"/>
            <a:ext cx="54864" cy="91"/>
          </a:xfrm>
          <a:prstGeom prst="line">
            <a:avLst/>
          </a:prstGeom>
          <a:noFill/>
          <a:ln w="7620">
            <a:solidFill>
              <a:srgbClr val="2A1F3D"/>
            </a:solidFill>
            <a:prstDash val="solid"/>
          </a:ln>
        </p:spPr>
      </p:sp>
      <p:sp>
        <p:nvSpPr>
          <p:cNvPr id="28" name="Shape 26"/>
          <p:cNvSpPr/>
          <p:nvPr/>
        </p:nvSpPr>
        <p:spPr>
          <a:xfrm>
            <a:off x="1828800" y="3310128"/>
            <a:ext cx="91440" cy="91"/>
          </a:xfrm>
          <a:prstGeom prst="line">
            <a:avLst/>
          </a:prstGeom>
          <a:noFill/>
          <a:ln w="7620">
            <a:solidFill>
              <a:srgbClr val="2A1F3D"/>
            </a:solidFill>
            <a:prstDash val="solid"/>
          </a:ln>
        </p:spPr>
      </p:sp>
      <p:sp>
        <p:nvSpPr>
          <p:cNvPr id="29" name="Text 27"/>
          <p:cNvSpPr/>
          <p:nvPr/>
        </p:nvSpPr>
        <p:spPr>
          <a:xfrm>
            <a:off x="1499616" y="3218688"/>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40</a:t>
            </a:r>
            <a:endParaRPr lang="en-US" sz="1000" dirty="0"/>
          </a:p>
        </p:txBody>
      </p:sp>
      <p:sp>
        <p:nvSpPr>
          <p:cNvPr id="30" name="Shape 28"/>
          <p:cNvSpPr/>
          <p:nvPr/>
        </p:nvSpPr>
        <p:spPr>
          <a:xfrm>
            <a:off x="1828800" y="3529584"/>
            <a:ext cx="54864" cy="91"/>
          </a:xfrm>
          <a:prstGeom prst="line">
            <a:avLst/>
          </a:prstGeom>
          <a:noFill/>
          <a:ln w="7620">
            <a:solidFill>
              <a:srgbClr val="2A1F3D"/>
            </a:solidFill>
            <a:prstDash val="solid"/>
          </a:ln>
        </p:spPr>
      </p:sp>
      <p:sp>
        <p:nvSpPr>
          <p:cNvPr id="31" name="Shape 29"/>
          <p:cNvSpPr/>
          <p:nvPr/>
        </p:nvSpPr>
        <p:spPr>
          <a:xfrm>
            <a:off x="1828800" y="3749040"/>
            <a:ext cx="91440" cy="91"/>
          </a:xfrm>
          <a:prstGeom prst="line">
            <a:avLst/>
          </a:prstGeom>
          <a:noFill/>
          <a:ln w="7620">
            <a:solidFill>
              <a:srgbClr val="2A1F3D"/>
            </a:solidFill>
            <a:prstDash val="solid"/>
          </a:ln>
        </p:spPr>
      </p:sp>
      <p:sp>
        <p:nvSpPr>
          <p:cNvPr id="32" name="Text 30"/>
          <p:cNvSpPr/>
          <p:nvPr/>
        </p:nvSpPr>
        <p:spPr>
          <a:xfrm>
            <a:off x="1499616" y="3657600"/>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50</a:t>
            </a:r>
            <a:endParaRPr lang="en-US" sz="1000" dirty="0"/>
          </a:p>
        </p:txBody>
      </p:sp>
      <p:sp>
        <p:nvSpPr>
          <p:cNvPr id="33" name="Shape 31"/>
          <p:cNvSpPr/>
          <p:nvPr/>
        </p:nvSpPr>
        <p:spPr>
          <a:xfrm>
            <a:off x="1828800" y="1417320"/>
            <a:ext cx="91" cy="2514600"/>
          </a:xfrm>
          <a:prstGeom prst="line">
            <a:avLst/>
          </a:prstGeom>
          <a:noFill/>
          <a:ln w="15875">
            <a:solidFill>
              <a:srgbClr val="2A1F3D"/>
            </a:solidFill>
            <a:prstDash val="solid"/>
          </a:ln>
        </p:spPr>
      </p:sp>
      <p:sp>
        <p:nvSpPr>
          <p:cNvPr id="34" name="Shape 32"/>
          <p:cNvSpPr/>
          <p:nvPr/>
        </p:nvSpPr>
        <p:spPr>
          <a:xfrm>
            <a:off x="2011680" y="1417320"/>
            <a:ext cx="91" cy="2514600"/>
          </a:xfrm>
          <a:prstGeom prst="line">
            <a:avLst/>
          </a:prstGeom>
          <a:noFill/>
          <a:ln w="15875">
            <a:solidFill>
              <a:srgbClr val="2A1F3D"/>
            </a:solidFill>
            <a:prstDash val="solid"/>
          </a:ln>
        </p:spPr>
      </p:sp>
      <p:sp>
        <p:nvSpPr>
          <p:cNvPr id="35" name="Shape 33"/>
          <p:cNvSpPr/>
          <p:nvPr/>
        </p:nvSpPr>
        <p:spPr>
          <a:xfrm>
            <a:off x="1874520" y="3931920"/>
            <a:ext cx="91440" cy="146304"/>
          </a:xfrm>
          <a:prstGeom prst="rect">
            <a:avLst/>
          </a:prstGeom>
          <a:solidFill>
            <a:srgbClr val="DDEFF7"/>
          </a:solidFill>
          <a:ln w="12700">
            <a:solidFill>
              <a:srgbClr val="2A1F3D"/>
            </a:solidFill>
            <a:prstDash val="solid"/>
          </a:ln>
        </p:spPr>
      </p:sp>
      <p:sp>
        <p:nvSpPr>
          <p:cNvPr id="36" name="Shape 34"/>
          <p:cNvSpPr/>
          <p:nvPr/>
        </p:nvSpPr>
        <p:spPr>
          <a:xfrm>
            <a:off x="1764792" y="3968496"/>
            <a:ext cx="310896" cy="73152"/>
          </a:xfrm>
          <a:prstGeom prst="rect">
            <a:avLst/>
          </a:prstGeom>
          <a:solidFill>
            <a:srgbClr val="4A5568"/>
          </a:solidFill>
          <a:ln w="9525">
            <a:solidFill>
              <a:srgbClr val="2A2F3A"/>
            </a:solidFill>
            <a:prstDash val="solid"/>
          </a:ln>
        </p:spPr>
      </p:sp>
      <p:sp>
        <p:nvSpPr>
          <p:cNvPr id="37" name="Shape 35"/>
          <p:cNvSpPr/>
          <p:nvPr/>
        </p:nvSpPr>
        <p:spPr>
          <a:xfrm>
            <a:off x="1874520" y="4078224"/>
            <a:ext cx="91440" cy="201168"/>
          </a:xfrm>
          <a:custGeom>
            <a:avLst/>
            <a:gdLst/>
            <a:ahLst/>
            <a:cxnLst/>
            <a:rect l="l" t="t" r="r" b="b"/>
            <a:pathLst>
              <a:path w="91440" h="201168">
                <a:moveTo>
                  <a:pt x="0" y="0"/>
                </a:moveTo>
                <a:lnTo>
                  <a:pt x="91440" y="0"/>
                </a:lnTo>
                <a:lnTo>
                  <a:pt x="64008" y="201168"/>
                </a:lnTo>
                <a:lnTo>
                  <a:pt x="27432" y="201168"/>
                </a:lnTo>
                <a:close/>
              </a:path>
            </a:pathLst>
          </a:custGeom>
          <a:solidFill>
            <a:srgbClr val="DDEFF7"/>
          </a:solidFill>
          <a:ln w="12700">
            <a:solidFill>
              <a:srgbClr val="2A1F3D"/>
            </a:solidFill>
            <a:prstDash val="solid"/>
          </a:ln>
        </p:spPr>
      </p:sp>
      <p:sp>
        <p:nvSpPr>
          <p:cNvPr id="38" name="Shape 36"/>
          <p:cNvSpPr/>
          <p:nvPr/>
        </p:nvSpPr>
        <p:spPr>
          <a:xfrm>
            <a:off x="1325880" y="5148072"/>
            <a:ext cx="1188720" cy="91440"/>
          </a:xfrm>
          <a:prstGeom prst="rect">
            <a:avLst/>
          </a:prstGeom>
          <a:solidFill>
            <a:srgbClr val="FFFFFF"/>
          </a:solidFill>
          <a:ln w="12700">
            <a:solidFill>
              <a:srgbClr val="9AA3B0"/>
            </a:solidFill>
            <a:prstDash val="solid"/>
          </a:ln>
        </p:spPr>
      </p:sp>
      <p:sp>
        <p:nvSpPr>
          <p:cNvPr id="39" name="Shape 37"/>
          <p:cNvSpPr/>
          <p:nvPr/>
        </p:nvSpPr>
        <p:spPr>
          <a:xfrm>
            <a:off x="1463040" y="4187952"/>
            <a:ext cx="914400" cy="960120"/>
          </a:xfrm>
          <a:custGeom>
            <a:avLst/>
            <a:gdLst/>
            <a:ahLst/>
            <a:cxnLst/>
            <a:rect l="l" t="t" r="r" b="b"/>
            <a:pathLst>
              <a:path w="914400" h="960120">
                <a:moveTo>
                  <a:pt x="320040" y="0"/>
                </a:moveTo>
                <a:lnTo>
                  <a:pt x="320040" y="288036"/>
                </a:lnTo>
                <a:lnTo>
                  <a:pt x="0" y="960120"/>
                </a:lnTo>
                <a:lnTo>
                  <a:pt x="914400" y="960120"/>
                </a:lnTo>
                <a:lnTo>
                  <a:pt x="594360" y="288036"/>
                </a:lnTo>
                <a:lnTo>
                  <a:pt x="594360" y="0"/>
                </a:lnTo>
                <a:close/>
              </a:path>
            </a:pathLst>
          </a:custGeom>
          <a:solidFill>
            <a:srgbClr val="EEF5FB"/>
          </a:solidFill>
          <a:ln/>
        </p:spPr>
      </p:sp>
      <p:sp>
        <p:nvSpPr>
          <p:cNvPr id="40" name="Shape 38"/>
          <p:cNvSpPr/>
          <p:nvPr/>
        </p:nvSpPr>
        <p:spPr>
          <a:xfrm>
            <a:off x="1463040" y="4865797"/>
            <a:ext cx="914400" cy="282275"/>
          </a:xfrm>
          <a:custGeom>
            <a:avLst/>
            <a:gdLst/>
            <a:ahLst/>
            <a:cxnLst/>
            <a:rect l="l" t="t" r="r" b="b"/>
            <a:pathLst>
              <a:path w="914400" h="282275">
                <a:moveTo>
                  <a:pt x="134417" y="0"/>
                </a:moveTo>
                <a:lnTo>
                  <a:pt x="0" y="282275"/>
                </a:lnTo>
                <a:lnTo>
                  <a:pt x="914400" y="282275"/>
                </a:lnTo>
                <a:lnTo>
                  <a:pt x="779983" y="0"/>
                </a:lnTo>
                <a:close/>
              </a:path>
            </a:pathLst>
          </a:custGeom>
          <a:solidFill>
            <a:srgbClr val="F4B6D2"/>
          </a:solidFill>
          <a:ln/>
        </p:spPr>
      </p:sp>
      <p:sp>
        <p:nvSpPr>
          <p:cNvPr id="41" name="Shape 39"/>
          <p:cNvSpPr/>
          <p:nvPr/>
        </p:nvSpPr>
        <p:spPr>
          <a:xfrm>
            <a:off x="1463040" y="4187952"/>
            <a:ext cx="914400" cy="960120"/>
          </a:xfrm>
          <a:custGeom>
            <a:avLst/>
            <a:gdLst/>
            <a:ahLst/>
            <a:cxnLst/>
            <a:rect l="l" t="t" r="r" b="b"/>
            <a:pathLst>
              <a:path w="914400" h="960120">
                <a:moveTo>
                  <a:pt x="320040" y="0"/>
                </a:moveTo>
                <a:lnTo>
                  <a:pt x="320040" y="288036"/>
                </a:lnTo>
                <a:lnTo>
                  <a:pt x="0" y="960120"/>
                </a:lnTo>
                <a:lnTo>
                  <a:pt x="914400" y="960120"/>
                </a:lnTo>
                <a:lnTo>
                  <a:pt x="594360" y="288036"/>
                </a:lnTo>
                <a:lnTo>
                  <a:pt x="594360" y="0"/>
                </a:lnTo>
              </a:path>
            </a:pathLst>
          </a:custGeom>
          <a:ln w="15875">
            <a:solidFill>
              <a:srgbClr val="2A1F3D"/>
            </a:solidFill>
            <a:prstDash val="solid"/>
          </a:ln>
        </p:spPr>
      </p:sp>
      <p:sp>
        <p:nvSpPr>
          <p:cNvPr id="42" name="Shape 40"/>
          <p:cNvSpPr/>
          <p:nvPr/>
        </p:nvSpPr>
        <p:spPr>
          <a:xfrm>
            <a:off x="1463040" y="5148072"/>
            <a:ext cx="914400" cy="91"/>
          </a:xfrm>
          <a:prstGeom prst="line">
            <a:avLst/>
          </a:prstGeom>
          <a:noFill/>
          <a:ln w="15875">
            <a:solidFill>
              <a:srgbClr val="2A1F3D"/>
            </a:solidFill>
            <a:prstDash val="solid"/>
          </a:ln>
        </p:spPr>
      </p:sp>
      <p:sp>
        <p:nvSpPr>
          <p:cNvPr id="43" name="Shape 41"/>
          <p:cNvSpPr/>
          <p:nvPr/>
        </p:nvSpPr>
        <p:spPr>
          <a:xfrm>
            <a:off x="2103120" y="2240280"/>
            <a:ext cx="822960" cy="91"/>
          </a:xfrm>
          <a:prstGeom prst="line">
            <a:avLst/>
          </a:prstGeom>
          <a:noFill/>
          <a:ln w="9525">
            <a:solidFill>
              <a:srgbClr val="6B7385"/>
            </a:solidFill>
            <a:prstDash val="solid"/>
          </a:ln>
        </p:spPr>
      </p:sp>
      <p:sp>
        <p:nvSpPr>
          <p:cNvPr id="44" name="Text 42"/>
          <p:cNvSpPr/>
          <p:nvPr/>
        </p:nvSpPr>
        <p:spPr>
          <a:xfrm>
            <a:off x="2971800" y="2121408"/>
            <a:ext cx="146304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burette</a:t>
            </a:r>
            <a:r>
              <a:rPr lang="en-US" sz="1050" dirty="0">
                <a:solidFill>
                  <a:srgbClr val="262B3A"/>
                </a:solidFill>
                <a:latin typeface="Calibri" pitchFamily="34" charset="0"/>
                <a:ea typeface="Calibri" pitchFamily="34" charset="-122"/>
                <a:cs typeface="Calibri" pitchFamily="34" charset="-120"/>
              </a:rPr>
              <a:t>: acid</a:t>
            </a:r>
            <a:endParaRPr lang="en-US" sz="1050" dirty="0"/>
          </a:p>
        </p:txBody>
      </p:sp>
      <p:sp>
        <p:nvSpPr>
          <p:cNvPr id="45" name="Shape 43"/>
          <p:cNvSpPr/>
          <p:nvPr/>
        </p:nvSpPr>
        <p:spPr>
          <a:xfrm>
            <a:off x="2103120" y="4005072"/>
            <a:ext cx="822960" cy="91"/>
          </a:xfrm>
          <a:prstGeom prst="line">
            <a:avLst/>
          </a:prstGeom>
          <a:noFill/>
          <a:ln w="9525">
            <a:solidFill>
              <a:srgbClr val="6B7385"/>
            </a:solidFill>
            <a:prstDash val="solid"/>
          </a:ln>
        </p:spPr>
      </p:sp>
      <p:sp>
        <p:nvSpPr>
          <p:cNvPr id="46" name="Text 44"/>
          <p:cNvSpPr/>
          <p:nvPr/>
        </p:nvSpPr>
        <p:spPr>
          <a:xfrm>
            <a:off x="2971800" y="3886200"/>
            <a:ext cx="146304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tap</a:t>
            </a:r>
            <a:endParaRPr lang="en-US" sz="1050" dirty="0"/>
          </a:p>
        </p:txBody>
      </p:sp>
      <p:sp>
        <p:nvSpPr>
          <p:cNvPr id="47" name="Shape 45"/>
          <p:cNvSpPr/>
          <p:nvPr/>
        </p:nvSpPr>
        <p:spPr>
          <a:xfrm flipV="1">
            <a:off x="2103120" y="4572000"/>
            <a:ext cx="822960" cy="137160"/>
          </a:xfrm>
          <a:prstGeom prst="line">
            <a:avLst/>
          </a:prstGeom>
          <a:noFill/>
          <a:ln w="9525">
            <a:solidFill>
              <a:srgbClr val="6B7385"/>
            </a:solidFill>
            <a:prstDash val="solid"/>
          </a:ln>
        </p:spPr>
      </p:sp>
      <p:sp>
        <p:nvSpPr>
          <p:cNvPr id="48" name="Text 46"/>
          <p:cNvSpPr/>
          <p:nvPr/>
        </p:nvSpPr>
        <p:spPr>
          <a:xfrm>
            <a:off x="2971800" y="4453128"/>
            <a:ext cx="146304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conical flask</a:t>
            </a:r>
            <a:r>
              <a:rPr lang="en-US" sz="1050" dirty="0">
                <a:solidFill>
                  <a:srgbClr val="262B3A"/>
                </a:solidFill>
                <a:latin typeface="Calibri" pitchFamily="34" charset="0"/>
                <a:ea typeface="Calibri" pitchFamily="34" charset="-122"/>
                <a:cs typeface="Calibri" pitchFamily="34" charset="-120"/>
              </a:rPr>
              <a:t>: alkali + indicator</a:t>
            </a:r>
            <a:endParaRPr lang="en-US" sz="1050" dirty="0"/>
          </a:p>
        </p:txBody>
      </p:sp>
      <p:sp>
        <p:nvSpPr>
          <p:cNvPr id="49" name="Shape 47"/>
          <p:cNvSpPr/>
          <p:nvPr/>
        </p:nvSpPr>
        <p:spPr>
          <a:xfrm flipV="1">
            <a:off x="2103120" y="5138928"/>
            <a:ext cx="822960" cy="54864"/>
          </a:xfrm>
          <a:prstGeom prst="line">
            <a:avLst/>
          </a:prstGeom>
          <a:noFill/>
          <a:ln w="9525">
            <a:solidFill>
              <a:srgbClr val="6B7385"/>
            </a:solidFill>
            <a:prstDash val="solid"/>
          </a:ln>
        </p:spPr>
      </p:sp>
      <p:sp>
        <p:nvSpPr>
          <p:cNvPr id="50" name="Text 48"/>
          <p:cNvSpPr/>
          <p:nvPr/>
        </p:nvSpPr>
        <p:spPr>
          <a:xfrm>
            <a:off x="2971800" y="5020056"/>
            <a:ext cx="146304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white tile</a:t>
            </a:r>
            <a:endParaRPr lang="en-US" sz="1050" dirty="0"/>
          </a:p>
        </p:txBody>
      </p:sp>
      <p:sp>
        <p:nvSpPr>
          <p:cNvPr id="51" name="Shape 49"/>
          <p:cNvSpPr/>
          <p:nvPr/>
        </p:nvSpPr>
        <p:spPr>
          <a:xfrm>
            <a:off x="5088636" y="1691640"/>
            <a:ext cx="64008" cy="791870"/>
          </a:xfrm>
          <a:prstGeom prst="rect">
            <a:avLst/>
          </a:prstGeom>
          <a:solidFill>
            <a:srgbClr val="CFE4F7"/>
          </a:solidFill>
          <a:ln w="12700">
            <a:solidFill>
              <a:srgbClr val="2A1F3D"/>
            </a:solidFill>
            <a:prstDash val="solid"/>
          </a:ln>
        </p:spPr>
      </p:sp>
      <p:sp>
        <p:nvSpPr>
          <p:cNvPr id="52" name="Shape 50"/>
          <p:cNvSpPr/>
          <p:nvPr/>
        </p:nvSpPr>
        <p:spPr>
          <a:xfrm>
            <a:off x="5088636" y="1973275"/>
            <a:ext cx="64008" cy="510235"/>
          </a:xfrm>
          <a:prstGeom prst="rect">
            <a:avLst/>
          </a:prstGeom>
          <a:solidFill>
            <a:srgbClr val="CFE4F7"/>
          </a:solidFill>
          <a:ln w="12700">
            <a:solidFill>
              <a:srgbClr val="2A1F3D"/>
            </a:solidFill>
            <a:prstDash val="solid"/>
          </a:ln>
        </p:spPr>
      </p:sp>
      <p:sp>
        <p:nvSpPr>
          <p:cNvPr id="53" name="Shape 51"/>
          <p:cNvSpPr/>
          <p:nvPr/>
        </p:nvSpPr>
        <p:spPr>
          <a:xfrm>
            <a:off x="5088636" y="1691640"/>
            <a:ext cx="64008" cy="281635"/>
          </a:xfrm>
          <a:prstGeom prst="rect">
            <a:avLst/>
          </a:prstGeom>
          <a:solidFill>
            <a:srgbClr val="EEF5FB"/>
          </a:solidFill>
          <a:ln w="12700">
            <a:solidFill>
              <a:srgbClr val="2A1F3D"/>
            </a:solidFill>
            <a:prstDash val="solid"/>
          </a:ln>
        </p:spPr>
      </p:sp>
      <p:sp>
        <p:nvSpPr>
          <p:cNvPr id="54" name="Shape 52"/>
          <p:cNvSpPr/>
          <p:nvPr/>
        </p:nvSpPr>
        <p:spPr>
          <a:xfrm>
            <a:off x="4983480" y="2456078"/>
            <a:ext cx="274320" cy="563270"/>
          </a:xfrm>
          <a:prstGeom prst="ellipse">
            <a:avLst/>
          </a:prstGeom>
          <a:solidFill>
            <a:srgbClr val="CFE4F7"/>
          </a:solidFill>
          <a:ln w="15875">
            <a:solidFill>
              <a:srgbClr val="2A1F3D"/>
            </a:solidFill>
            <a:prstDash val="solid"/>
          </a:ln>
        </p:spPr>
      </p:sp>
      <p:sp>
        <p:nvSpPr>
          <p:cNvPr id="55" name="Shape 53"/>
          <p:cNvSpPr/>
          <p:nvPr/>
        </p:nvSpPr>
        <p:spPr>
          <a:xfrm>
            <a:off x="5088636" y="2991917"/>
            <a:ext cx="64008" cy="711403"/>
          </a:xfrm>
          <a:custGeom>
            <a:avLst/>
            <a:gdLst/>
            <a:ahLst/>
            <a:cxnLst/>
            <a:rect l="l" t="t" r="r" b="b"/>
            <a:pathLst>
              <a:path w="64008" h="711403">
                <a:moveTo>
                  <a:pt x="0" y="0"/>
                </a:moveTo>
                <a:lnTo>
                  <a:pt x="64008" y="0"/>
                </a:lnTo>
                <a:lnTo>
                  <a:pt x="45720" y="711403"/>
                </a:lnTo>
                <a:lnTo>
                  <a:pt x="18288" y="711403"/>
                </a:lnTo>
                <a:close/>
              </a:path>
            </a:pathLst>
          </a:custGeom>
          <a:solidFill>
            <a:srgbClr val="CFE4F7"/>
          </a:solidFill>
          <a:ln w="12700">
            <a:solidFill>
              <a:srgbClr val="2A1F3D"/>
            </a:solidFill>
            <a:prstDash val="solid"/>
          </a:ln>
        </p:spPr>
      </p:sp>
      <p:sp>
        <p:nvSpPr>
          <p:cNvPr id="56" name="Shape 54"/>
          <p:cNvSpPr/>
          <p:nvPr/>
        </p:nvSpPr>
        <p:spPr>
          <a:xfrm>
            <a:off x="5038344" y="1973275"/>
            <a:ext cx="164592" cy="91"/>
          </a:xfrm>
          <a:prstGeom prst="line">
            <a:avLst/>
          </a:prstGeom>
          <a:noFill/>
          <a:ln w="19050">
            <a:solidFill>
              <a:srgbClr val="C8414C"/>
            </a:solidFill>
            <a:prstDash val="solid"/>
          </a:ln>
        </p:spPr>
      </p:sp>
      <p:sp>
        <p:nvSpPr>
          <p:cNvPr id="57" name="Shape 55"/>
          <p:cNvSpPr/>
          <p:nvPr/>
        </p:nvSpPr>
        <p:spPr>
          <a:xfrm>
            <a:off x="4974336" y="1344168"/>
            <a:ext cx="292608" cy="329184"/>
          </a:xfrm>
          <a:prstGeom prst="ellipse">
            <a:avLst/>
          </a:prstGeom>
          <a:solidFill>
            <a:srgbClr val="D14B4B"/>
          </a:solidFill>
          <a:ln w="12700">
            <a:solidFill>
              <a:srgbClr val="8E2A2A"/>
            </a:solidFill>
            <a:prstDash val="solid"/>
          </a:ln>
        </p:spPr>
      </p:sp>
      <p:sp>
        <p:nvSpPr>
          <p:cNvPr id="58" name="Shape 56"/>
          <p:cNvSpPr/>
          <p:nvPr/>
        </p:nvSpPr>
        <p:spPr>
          <a:xfrm>
            <a:off x="5065776" y="1645920"/>
            <a:ext cx="109728" cy="109728"/>
          </a:xfrm>
          <a:prstGeom prst="rect">
            <a:avLst/>
          </a:prstGeom>
          <a:solidFill>
            <a:srgbClr val="8E2A2A"/>
          </a:solidFill>
          <a:ln w="12700">
            <a:solidFill>
              <a:srgbClr val="8E2A2A"/>
            </a:solidFill>
            <a:prstDash val="solid"/>
          </a:ln>
        </p:spPr>
      </p:sp>
      <p:sp>
        <p:nvSpPr>
          <p:cNvPr id="59" name="Text 57"/>
          <p:cNvSpPr/>
          <p:nvPr/>
        </p:nvSpPr>
        <p:spPr>
          <a:xfrm>
            <a:off x="4526280" y="3767328"/>
            <a:ext cx="1188720" cy="41148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pipette</a:t>
            </a:r>
            <a:r>
              <a:rPr lang="en-US" sz="1050" dirty="0">
                <a:solidFill>
                  <a:srgbClr val="262B3A"/>
                </a:solidFill>
                <a:latin typeface="Calibri" pitchFamily="34" charset="0"/>
                <a:ea typeface="Calibri" pitchFamily="34" charset="-122"/>
                <a:cs typeface="Calibri" pitchFamily="34" charset="-120"/>
              </a:rPr>
              <a:t> + filler: 25.0 cm³ alkali</a:t>
            </a:r>
            <a:endParaRPr lang="en-US" sz="1050" dirty="0"/>
          </a:p>
        </p:txBody>
      </p:sp>
      <p:sp>
        <p:nvSpPr>
          <p:cNvPr id="60" name="Shape 58"/>
          <p:cNvSpPr/>
          <p:nvPr/>
        </p:nvSpPr>
        <p:spPr>
          <a:xfrm>
            <a:off x="4183380" y="4709160"/>
            <a:ext cx="502920" cy="548640"/>
          </a:xfrm>
          <a:custGeom>
            <a:avLst/>
            <a:gdLst/>
            <a:ahLst/>
            <a:cxnLst/>
            <a:rect l="l" t="t" r="r" b="b"/>
            <a:pathLst>
              <a:path w="502920" h="548640">
                <a:moveTo>
                  <a:pt x="176022" y="0"/>
                </a:moveTo>
                <a:lnTo>
                  <a:pt x="176022" y="164592"/>
                </a:lnTo>
                <a:lnTo>
                  <a:pt x="0" y="548640"/>
                </a:lnTo>
                <a:lnTo>
                  <a:pt x="502920" y="548640"/>
                </a:lnTo>
                <a:lnTo>
                  <a:pt x="326898" y="164592"/>
                </a:lnTo>
                <a:lnTo>
                  <a:pt x="326898" y="0"/>
                </a:lnTo>
                <a:close/>
              </a:path>
            </a:pathLst>
          </a:custGeom>
          <a:solidFill>
            <a:srgbClr val="EEF5FB"/>
          </a:solidFill>
          <a:ln/>
        </p:spPr>
      </p:sp>
      <p:sp>
        <p:nvSpPr>
          <p:cNvPr id="61" name="Shape 59"/>
          <p:cNvSpPr/>
          <p:nvPr/>
        </p:nvSpPr>
        <p:spPr>
          <a:xfrm>
            <a:off x="4183380" y="5084978"/>
            <a:ext cx="502920" cy="172822"/>
          </a:xfrm>
          <a:custGeom>
            <a:avLst/>
            <a:gdLst/>
            <a:ahLst/>
            <a:cxnLst/>
            <a:rect l="l" t="t" r="r" b="b"/>
            <a:pathLst>
              <a:path w="502920" h="172822">
                <a:moveTo>
                  <a:pt x="79210" y="0"/>
                </a:moveTo>
                <a:lnTo>
                  <a:pt x="0" y="172822"/>
                </a:lnTo>
                <a:lnTo>
                  <a:pt x="502920" y="172822"/>
                </a:lnTo>
                <a:lnTo>
                  <a:pt x="423710" y="0"/>
                </a:lnTo>
                <a:close/>
              </a:path>
            </a:pathLst>
          </a:custGeom>
          <a:solidFill>
            <a:srgbClr val="F4B6D2"/>
          </a:solidFill>
          <a:ln/>
        </p:spPr>
      </p:sp>
      <p:sp>
        <p:nvSpPr>
          <p:cNvPr id="62" name="Shape 60"/>
          <p:cNvSpPr/>
          <p:nvPr/>
        </p:nvSpPr>
        <p:spPr>
          <a:xfrm>
            <a:off x="4183380" y="4709160"/>
            <a:ext cx="502920" cy="548640"/>
          </a:xfrm>
          <a:custGeom>
            <a:avLst/>
            <a:gdLst/>
            <a:ahLst/>
            <a:cxnLst/>
            <a:rect l="l" t="t" r="r" b="b"/>
            <a:pathLst>
              <a:path w="502920" h="548640">
                <a:moveTo>
                  <a:pt x="176022" y="0"/>
                </a:moveTo>
                <a:lnTo>
                  <a:pt x="176022" y="164592"/>
                </a:lnTo>
                <a:lnTo>
                  <a:pt x="0" y="548640"/>
                </a:lnTo>
                <a:lnTo>
                  <a:pt x="502920" y="548640"/>
                </a:lnTo>
                <a:lnTo>
                  <a:pt x="326898" y="164592"/>
                </a:lnTo>
                <a:lnTo>
                  <a:pt x="326898" y="0"/>
                </a:lnTo>
              </a:path>
            </a:pathLst>
          </a:custGeom>
          <a:ln w="15875">
            <a:solidFill>
              <a:srgbClr val="2A1F3D"/>
            </a:solidFill>
            <a:prstDash val="solid"/>
          </a:ln>
        </p:spPr>
      </p:sp>
      <p:sp>
        <p:nvSpPr>
          <p:cNvPr id="63" name="Shape 61"/>
          <p:cNvSpPr/>
          <p:nvPr/>
        </p:nvSpPr>
        <p:spPr>
          <a:xfrm>
            <a:off x="4183380" y="5257800"/>
            <a:ext cx="502920" cy="91"/>
          </a:xfrm>
          <a:prstGeom prst="line">
            <a:avLst/>
          </a:prstGeom>
          <a:noFill/>
          <a:ln w="15875">
            <a:solidFill>
              <a:srgbClr val="2A1F3D"/>
            </a:solidFill>
            <a:prstDash val="solid"/>
          </a:ln>
        </p:spPr>
      </p:sp>
      <p:sp>
        <p:nvSpPr>
          <p:cNvPr id="64" name="Shape 62"/>
          <p:cNvSpPr/>
          <p:nvPr/>
        </p:nvSpPr>
        <p:spPr>
          <a:xfrm>
            <a:off x="5189220" y="4709160"/>
            <a:ext cx="502920" cy="548640"/>
          </a:xfrm>
          <a:custGeom>
            <a:avLst/>
            <a:gdLst/>
            <a:ahLst/>
            <a:cxnLst/>
            <a:rect l="l" t="t" r="r" b="b"/>
            <a:pathLst>
              <a:path w="502920" h="548640">
                <a:moveTo>
                  <a:pt x="176022" y="0"/>
                </a:moveTo>
                <a:lnTo>
                  <a:pt x="176022" y="164592"/>
                </a:lnTo>
                <a:lnTo>
                  <a:pt x="0" y="548640"/>
                </a:lnTo>
                <a:lnTo>
                  <a:pt x="502920" y="548640"/>
                </a:lnTo>
                <a:lnTo>
                  <a:pt x="326898" y="164592"/>
                </a:lnTo>
                <a:lnTo>
                  <a:pt x="326898" y="0"/>
                </a:lnTo>
                <a:close/>
              </a:path>
            </a:pathLst>
          </a:custGeom>
          <a:solidFill>
            <a:srgbClr val="EEF5FB"/>
          </a:solidFill>
          <a:ln/>
        </p:spPr>
      </p:sp>
      <p:sp>
        <p:nvSpPr>
          <p:cNvPr id="65" name="Shape 63"/>
          <p:cNvSpPr/>
          <p:nvPr/>
        </p:nvSpPr>
        <p:spPr>
          <a:xfrm>
            <a:off x="5189220" y="5084978"/>
            <a:ext cx="502920" cy="172822"/>
          </a:xfrm>
          <a:custGeom>
            <a:avLst/>
            <a:gdLst/>
            <a:ahLst/>
            <a:cxnLst/>
            <a:rect l="l" t="t" r="r" b="b"/>
            <a:pathLst>
              <a:path w="502920" h="172822">
                <a:moveTo>
                  <a:pt x="79210" y="0"/>
                </a:moveTo>
                <a:lnTo>
                  <a:pt x="0" y="172822"/>
                </a:lnTo>
                <a:lnTo>
                  <a:pt x="502920" y="172822"/>
                </a:lnTo>
                <a:lnTo>
                  <a:pt x="423710" y="0"/>
                </a:lnTo>
                <a:close/>
              </a:path>
            </a:pathLst>
          </a:custGeom>
          <a:solidFill>
            <a:srgbClr val="F7F7F7"/>
          </a:solidFill>
          <a:ln/>
        </p:spPr>
      </p:sp>
      <p:sp>
        <p:nvSpPr>
          <p:cNvPr id="66" name="Shape 64"/>
          <p:cNvSpPr/>
          <p:nvPr/>
        </p:nvSpPr>
        <p:spPr>
          <a:xfrm>
            <a:off x="5189220" y="4709160"/>
            <a:ext cx="502920" cy="548640"/>
          </a:xfrm>
          <a:custGeom>
            <a:avLst/>
            <a:gdLst/>
            <a:ahLst/>
            <a:cxnLst/>
            <a:rect l="l" t="t" r="r" b="b"/>
            <a:pathLst>
              <a:path w="502920" h="548640">
                <a:moveTo>
                  <a:pt x="176022" y="0"/>
                </a:moveTo>
                <a:lnTo>
                  <a:pt x="176022" y="164592"/>
                </a:lnTo>
                <a:lnTo>
                  <a:pt x="0" y="548640"/>
                </a:lnTo>
                <a:lnTo>
                  <a:pt x="502920" y="548640"/>
                </a:lnTo>
                <a:lnTo>
                  <a:pt x="326898" y="164592"/>
                </a:lnTo>
                <a:lnTo>
                  <a:pt x="326898" y="0"/>
                </a:lnTo>
              </a:path>
            </a:pathLst>
          </a:custGeom>
          <a:ln w="15875">
            <a:solidFill>
              <a:srgbClr val="2A1F3D"/>
            </a:solidFill>
            <a:prstDash val="solid"/>
          </a:ln>
        </p:spPr>
      </p:sp>
      <p:sp>
        <p:nvSpPr>
          <p:cNvPr id="67" name="Shape 65"/>
          <p:cNvSpPr/>
          <p:nvPr/>
        </p:nvSpPr>
        <p:spPr>
          <a:xfrm>
            <a:off x="5189220" y="5257800"/>
            <a:ext cx="502920" cy="91"/>
          </a:xfrm>
          <a:prstGeom prst="line">
            <a:avLst/>
          </a:prstGeom>
          <a:noFill/>
          <a:ln w="15875">
            <a:solidFill>
              <a:srgbClr val="2A1F3D"/>
            </a:solidFill>
            <a:prstDash val="solid"/>
          </a:ln>
        </p:spPr>
      </p:sp>
      <p:sp>
        <p:nvSpPr>
          <p:cNvPr id="68" name="Shape 66"/>
          <p:cNvSpPr/>
          <p:nvPr/>
        </p:nvSpPr>
        <p:spPr>
          <a:xfrm>
            <a:off x="4754880" y="5029200"/>
            <a:ext cx="365760" cy="91"/>
          </a:xfrm>
          <a:prstGeom prst="line">
            <a:avLst/>
          </a:prstGeom>
          <a:noFill/>
          <a:ln w="19050">
            <a:solidFill>
              <a:srgbClr val="2A1F3D"/>
            </a:solidFill>
            <a:prstDash val="solid"/>
            <a:tailEnd type="triangle"/>
          </a:ln>
        </p:spPr>
      </p:sp>
      <p:sp>
        <p:nvSpPr>
          <p:cNvPr id="69" name="Text 67"/>
          <p:cNvSpPr/>
          <p:nvPr/>
        </p:nvSpPr>
        <p:spPr>
          <a:xfrm>
            <a:off x="4069080" y="4224528"/>
            <a:ext cx="182880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phenolphthalein: </a:t>
            </a:r>
            <a:r>
              <a:rPr lang="en-US" sz="1000" b="1" dirty="0">
                <a:solidFill>
                  <a:srgbClr val="262B3A"/>
                </a:solidFill>
                <a:latin typeface="Calibri" pitchFamily="34" charset="0"/>
                <a:ea typeface="Calibri" pitchFamily="34" charset="-122"/>
                <a:cs typeface="Calibri" pitchFamily="34" charset="-120"/>
              </a:rPr>
              <a:t>pink → colourless</a:t>
            </a:r>
            <a:endParaRPr lang="en-US" sz="1000" dirty="0"/>
          </a:p>
        </p:txBody>
      </p:sp>
      <p:sp>
        <p:nvSpPr>
          <p:cNvPr id="70" name="Shape 68"/>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71" name="Text 6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How a titration works</a:t>
            </a:r>
            <a:endParaRPr lang="en-US" sz="1300" dirty="0"/>
          </a:p>
        </p:txBody>
      </p:sp>
      <p:sp>
        <p:nvSpPr>
          <p:cNvPr id="72" name="Text 70"/>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titration</a:t>
            </a:r>
            <a:r>
              <a:rPr lang="en-US" sz="1100" dirty="0">
                <a:solidFill>
                  <a:srgbClr val="262B3A"/>
                </a:solidFill>
                <a:latin typeface="Calibri" pitchFamily="34" charset="0"/>
                <a:ea typeface="Calibri" pitchFamily="34" charset="-122"/>
                <a:cs typeface="Calibri" pitchFamily="34" charset="-120"/>
              </a:rPr>
              <a:t> measures exactly what volume of one solution reacts with a fixed volume of another.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pipette</a:t>
            </a:r>
            <a:r>
              <a:rPr lang="en-US" sz="1100" dirty="0">
                <a:solidFill>
                  <a:srgbClr val="262B3A"/>
                </a:solidFill>
                <a:latin typeface="Calibri" pitchFamily="34" charset="0"/>
                <a:ea typeface="Calibri" pitchFamily="34" charset="-122"/>
                <a:cs typeface="Calibri" pitchFamily="34" charset="-120"/>
              </a:rPr>
              <a:t> delivers an accurate volume (e.g. </a:t>
            </a:r>
            <a:r>
              <a:rPr lang="en-US" sz="1100" b="1" dirty="0">
                <a:solidFill>
                  <a:srgbClr val="262B3A"/>
                </a:solidFill>
                <a:latin typeface="Calibri" pitchFamily="34" charset="0"/>
                <a:ea typeface="Calibri" pitchFamily="34" charset="-122"/>
                <a:cs typeface="Calibri" pitchFamily="34" charset="-120"/>
              </a:rPr>
              <a:t>25.0 cm³</a:t>
            </a:r>
            <a:r>
              <a:rPr lang="en-US" sz="1100" dirty="0">
                <a:solidFill>
                  <a:srgbClr val="262B3A"/>
                </a:solidFill>
                <a:latin typeface="Calibri" pitchFamily="34" charset="0"/>
                <a:ea typeface="Calibri" pitchFamily="34" charset="-122"/>
                <a:cs typeface="Calibri" pitchFamily="34" charset="-120"/>
              </a:rPr>
              <a:t>) of alkali into a </a:t>
            </a:r>
            <a:r>
              <a:rPr lang="en-US" sz="1100" b="1" dirty="0">
                <a:solidFill>
                  <a:srgbClr val="262B3A"/>
                </a:solidFill>
                <a:latin typeface="Calibri" pitchFamily="34" charset="0"/>
                <a:ea typeface="Calibri" pitchFamily="34" charset="-122"/>
                <a:cs typeface="Calibri" pitchFamily="34" charset="-120"/>
              </a:rPr>
              <a:t>conical flask</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Acid is added from a </a:t>
            </a:r>
            <a:r>
              <a:rPr lang="en-US" sz="1100" b="1" dirty="0">
                <a:solidFill>
                  <a:srgbClr val="262B3A"/>
                </a:solidFill>
                <a:latin typeface="Calibri" pitchFamily="34" charset="0"/>
                <a:ea typeface="Calibri" pitchFamily="34" charset="-122"/>
                <a:cs typeface="Calibri" pitchFamily="34" charset="-120"/>
              </a:rPr>
              <a:t>burette</a:t>
            </a:r>
            <a:r>
              <a:rPr lang="en-US" sz="1100" dirty="0">
                <a:solidFill>
                  <a:srgbClr val="262B3A"/>
                </a:solidFill>
                <a:latin typeface="Calibri" pitchFamily="34" charset="0"/>
                <a:ea typeface="Calibri" pitchFamily="34" charset="-122"/>
                <a:cs typeface="Calibri" pitchFamily="34" charset="-120"/>
              </a:rPr>
              <a:t>, which measures the volume added to </a:t>
            </a:r>
            <a:r>
              <a:rPr lang="en-US" sz="1100" b="1" dirty="0">
                <a:solidFill>
                  <a:srgbClr val="262B3A"/>
                </a:solidFill>
                <a:latin typeface="Calibri" pitchFamily="34" charset="0"/>
                <a:ea typeface="Calibri" pitchFamily="34" charset="-122"/>
                <a:cs typeface="Calibri" pitchFamily="34" charset="-120"/>
              </a:rPr>
              <a:t>±0.05 cm³</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 </a:t>
            </a:r>
            <a:r>
              <a:rPr lang="en-US" sz="1100" b="1" dirty="0">
                <a:solidFill>
                  <a:srgbClr val="262B3A"/>
                </a:solidFill>
                <a:latin typeface="Calibri" pitchFamily="34" charset="0"/>
                <a:ea typeface="Calibri" pitchFamily="34" charset="-122"/>
                <a:cs typeface="Calibri" pitchFamily="34" charset="-120"/>
              </a:rPr>
              <a:t>indicator</a:t>
            </a:r>
            <a:r>
              <a:rPr lang="en-US" sz="1100" dirty="0">
                <a:solidFill>
                  <a:srgbClr val="262B3A"/>
                </a:solidFill>
                <a:latin typeface="Calibri" pitchFamily="34" charset="0"/>
                <a:ea typeface="Calibri" pitchFamily="34" charset="-122"/>
                <a:cs typeface="Calibri" pitchFamily="34" charset="-120"/>
              </a:rPr>
              <a:t> changes colour at the </a:t>
            </a:r>
            <a:r>
              <a:rPr lang="en-US" sz="1100" b="1" dirty="0">
                <a:solidFill>
                  <a:srgbClr val="262B3A"/>
                </a:solidFill>
                <a:latin typeface="Calibri" pitchFamily="34" charset="0"/>
                <a:ea typeface="Calibri" pitchFamily="34" charset="-122"/>
                <a:cs typeface="Calibri" pitchFamily="34" charset="-120"/>
              </a:rPr>
              <a:t>end point</a:t>
            </a:r>
            <a:r>
              <a:rPr lang="en-US" sz="1100" dirty="0">
                <a:solidFill>
                  <a:srgbClr val="262B3A"/>
                </a:solidFill>
                <a:latin typeface="Calibri" pitchFamily="34" charset="0"/>
                <a:ea typeface="Calibri" pitchFamily="34" charset="-122"/>
                <a:cs typeface="Calibri" pitchFamily="34" charset="-120"/>
              </a:rPr>
              <a:t>, when the alkali is just </a:t>
            </a:r>
            <a:r>
              <a:rPr lang="en-US" sz="1100" b="1" dirty="0">
                <a:solidFill>
                  <a:srgbClr val="262B3A"/>
                </a:solidFill>
                <a:latin typeface="Calibri" pitchFamily="34" charset="0"/>
                <a:ea typeface="Calibri" pitchFamily="34" charset="-122"/>
                <a:cs typeface="Calibri" pitchFamily="34" charset="-120"/>
              </a:rPr>
              <a:t>neutralised</a:t>
            </a:r>
            <a:r>
              <a:rPr lang="en-US" sz="1100" dirty="0">
                <a:solidFill>
                  <a:srgbClr val="262B3A"/>
                </a:solidFill>
                <a:latin typeface="Calibri" pitchFamily="34" charset="0"/>
                <a:ea typeface="Calibri" pitchFamily="34" charset="-122"/>
                <a:cs typeface="Calibri" pitchFamily="34" charset="-120"/>
              </a:rPr>
              <a:t>.</a:t>
            </a:r>
            <a:endParaRPr lang="en-US" sz="1100" dirty="0"/>
          </a:p>
          <a:p>
            <a:pPr indent="0" marL="0">
              <a:spcAft>
                <a:spcPts val="300"/>
              </a:spcAft>
              <a:buNone/>
            </a:pPr>
            <a:r>
              <a:rPr lang="en-US" sz="1100" b="1" dirty="0">
                <a:solidFill>
                  <a:srgbClr val="6A3FA0"/>
                </a:solidFill>
                <a:latin typeface="Calibri" pitchFamily="34" charset="0"/>
                <a:ea typeface="Calibri" pitchFamily="34" charset="-122"/>
                <a:cs typeface="Calibri" pitchFamily="34" charset="-120"/>
              </a:rPr>
              <a:t>NaOH(aq) + HCl(aq) → NaCl(aq) + H₂O(l)</a:t>
            </a:r>
            <a:endParaRPr lang="en-US" sz="1100" dirty="0"/>
          </a:p>
          <a:p>
            <a:pPr indent="0" marL="0">
              <a:spcAft>
                <a:spcPts val="300"/>
              </a:spcAft>
              <a:buNone/>
            </a:pPr>
            <a:r>
              <a:rPr lang="en-US" sz="1100" dirty="0">
                <a:solidFill>
                  <a:srgbClr val="6A3FA0"/>
                </a:solidFill>
                <a:latin typeface="Calibri" pitchFamily="34" charset="0"/>
                <a:ea typeface="Calibri" pitchFamily="34" charset="-122"/>
                <a:cs typeface="Calibri" pitchFamily="34" charset="-120"/>
              </a:rPr>
              <a:t>ionic: H⁺(aq) + OH⁻(aq) → H₂O(l)</a:t>
            </a:r>
            <a:endParaRPr lang="en-US" sz="1100" dirty="0"/>
          </a:p>
        </p:txBody>
      </p:sp>
      <p:sp>
        <p:nvSpPr>
          <p:cNvPr id="73" name="Shape 71"/>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74" name="Text 72"/>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Choosing an indicator</a:t>
            </a:r>
            <a:endParaRPr lang="en-US" sz="1300" dirty="0"/>
          </a:p>
        </p:txBody>
      </p:sp>
      <p:sp>
        <p:nvSpPr>
          <p:cNvPr id="75" name="Text 73"/>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Strong acid with strong alkali: use a single-colour-change indicator.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Phenol.   </a:t>
            </a:r>
            <a:r>
              <a:rPr lang="en-US" sz="1050" dirty="0">
                <a:solidFill>
                  <a:srgbClr val="262B3A"/>
                </a:solidFill>
                <a:latin typeface="Calibri" pitchFamily="34" charset="0"/>
                <a:ea typeface="Calibri" pitchFamily="34" charset="-122"/>
                <a:cs typeface="Calibri" pitchFamily="34" charset="-120"/>
              </a:rPr>
              <a:t>pink in alkali → </a:t>
            </a:r>
            <a:r>
              <a:rPr lang="en-US" sz="1050" b="1" dirty="0">
                <a:solidFill>
                  <a:srgbClr val="262B3A"/>
                </a:solidFill>
                <a:latin typeface="Calibri" pitchFamily="34" charset="0"/>
                <a:ea typeface="Calibri" pitchFamily="34" charset="-122"/>
                <a:cs typeface="Calibri" pitchFamily="34" charset="-120"/>
              </a:rPr>
              <a:t>colourless</a:t>
            </a:r>
            <a:r>
              <a:rPr lang="en-US" sz="1050" dirty="0">
                <a:solidFill>
                  <a:srgbClr val="262B3A"/>
                </a:solidFill>
                <a:latin typeface="Calibri" pitchFamily="34" charset="0"/>
                <a:ea typeface="Calibri" pitchFamily="34" charset="-122"/>
                <a:cs typeface="Calibri" pitchFamily="34" charset="-120"/>
              </a:rPr>
              <a:t> at the end point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Methyl or.   </a:t>
            </a:r>
            <a:r>
              <a:rPr lang="en-US" sz="1050" b="1" dirty="0">
                <a:solidFill>
                  <a:srgbClr val="C8414C"/>
                </a:solidFill>
                <a:latin typeface="Calibri" pitchFamily="34" charset="0"/>
                <a:ea typeface="Calibri" pitchFamily="34" charset="-122"/>
                <a:cs typeface="Calibri" pitchFamily="34" charset="-120"/>
              </a:rPr>
              <a:t>yellow in alkali → </a:t>
            </a:r>
            <a:r>
              <a:rPr lang="en-US" sz="1050" b="1" dirty="0">
                <a:solidFill>
                  <a:srgbClr val="C8414C"/>
                </a:solidFill>
                <a:latin typeface="Calibri" pitchFamily="34" charset="0"/>
                <a:ea typeface="Calibri" pitchFamily="34" charset="-122"/>
                <a:cs typeface="Calibri" pitchFamily="34" charset="-120"/>
              </a:rPr>
              <a:t>orange</a:t>
            </a:r>
            <a:r>
              <a:rPr lang="en-US" sz="1050" b="1" dirty="0">
                <a:solidFill>
                  <a:srgbClr val="C8414C"/>
                </a:solidFill>
                <a:latin typeface="Calibri" pitchFamily="34" charset="0"/>
                <a:ea typeface="Calibri" pitchFamily="34" charset="-122"/>
                <a:cs typeface="Calibri" pitchFamily="34" charset="-120"/>
              </a:rPr>
              <a:t> at the end point (red in acid)</a:t>
            </a:r>
            <a:endParaRPr lang="en-US" sz="1050" dirty="0"/>
          </a:p>
        </p:txBody>
      </p:sp>
      <p:sp>
        <p:nvSpPr>
          <p:cNvPr id="76" name="Shape 74"/>
          <p:cNvSpPr/>
          <p:nvPr/>
        </p:nvSpPr>
        <p:spPr>
          <a:xfrm>
            <a:off x="411480" y="5833872"/>
            <a:ext cx="11368735" cy="530352"/>
          </a:xfrm>
          <a:prstGeom prst="rect">
            <a:avLst/>
          </a:prstGeom>
          <a:solidFill>
            <a:srgbClr val="FFF4E0"/>
          </a:solidFill>
          <a:ln w="6350">
            <a:solidFill>
              <a:srgbClr val="F1D9A8"/>
            </a:solidFill>
            <a:prstDash val="solid"/>
          </a:ln>
        </p:spPr>
      </p:sp>
      <p:sp>
        <p:nvSpPr>
          <p:cNvPr id="77" name="Shape 75"/>
          <p:cNvSpPr/>
          <p:nvPr/>
        </p:nvSpPr>
        <p:spPr>
          <a:xfrm>
            <a:off x="411480" y="5833872"/>
            <a:ext cx="82296" cy="530352"/>
          </a:xfrm>
          <a:prstGeom prst="rect">
            <a:avLst/>
          </a:prstGeom>
          <a:solidFill>
            <a:srgbClr val="E39A2F"/>
          </a:solidFill>
          <a:ln w="12700">
            <a:solidFill>
              <a:srgbClr val="E39A2F"/>
            </a:solidFill>
            <a:prstDash val="solid"/>
          </a:ln>
        </p:spPr>
      </p:sp>
      <p:sp>
        <p:nvSpPr>
          <p:cNvPr id="78" name="Text 7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 </a:t>
            </a:r>
            <a:r>
              <a:rPr lang="en-US" sz="1150" b="1" dirty="0">
                <a:solidFill>
                  <a:srgbClr val="262B3A"/>
                </a:solidFill>
                <a:latin typeface="Calibri" pitchFamily="34" charset="0"/>
                <a:ea typeface="Calibri" pitchFamily="34" charset="-122"/>
                <a:cs typeface="Calibri" pitchFamily="34" charset="-120"/>
              </a:rPr>
              <a:t>white tile</a:t>
            </a:r>
            <a:r>
              <a:rPr lang="en-US" sz="1150" dirty="0">
                <a:solidFill>
                  <a:srgbClr val="262B3A"/>
                </a:solidFill>
                <a:latin typeface="Calibri" pitchFamily="34" charset="0"/>
                <a:ea typeface="Calibri" pitchFamily="34" charset="-122"/>
                <a:cs typeface="Calibri" pitchFamily="34" charset="-120"/>
              </a:rPr>
              <a:t> placed under the flask? Why is </a:t>
            </a:r>
            <a:r>
              <a:rPr lang="en-US" sz="1150" b="1" dirty="0">
                <a:solidFill>
                  <a:srgbClr val="262B3A"/>
                </a:solidFill>
                <a:latin typeface="Calibri" pitchFamily="34" charset="0"/>
                <a:ea typeface="Calibri" pitchFamily="34" charset="-122"/>
                <a:cs typeface="Calibri" pitchFamily="34" charset="-120"/>
              </a:rPr>
              <a:t>universal indicator</a:t>
            </a:r>
            <a:r>
              <a:rPr lang="en-US" sz="1150" dirty="0">
                <a:solidFill>
                  <a:srgbClr val="262B3A"/>
                </a:solidFill>
                <a:latin typeface="Calibri" pitchFamily="34" charset="0"/>
                <a:ea typeface="Calibri" pitchFamily="34" charset="-122"/>
                <a:cs typeface="Calibri" pitchFamily="34" charset="-120"/>
              </a:rPr>
              <a:t> not used for a titration?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C5.3.3, C5.3.4 • standard solutions and titration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13</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standard solution</a:t>
            </a:r>
            <a:r>
              <a:rPr lang="en-US" sz="1250" dirty="0">
                <a:solidFill>
                  <a:srgbClr val="262B3A"/>
                </a:solidFill>
                <a:latin typeface="Calibri" pitchFamily="34" charset="0"/>
                <a:ea typeface="Calibri" pitchFamily="34" charset="-122"/>
                <a:cs typeface="Calibri" pitchFamily="34" charset="-120"/>
              </a:rPr>
              <a:t>? Name the piece of glassware it is made up in.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When making a standard solution, a student did not rinse the beaker into the flask. Explain the effect on the concentration.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apparatus used to (i) measure </a:t>
            </a:r>
            <a:r>
              <a:rPr lang="en-US" sz="1250" b="1" dirty="0">
                <a:solidFill>
                  <a:srgbClr val="262B3A"/>
                </a:solidFill>
                <a:latin typeface="Calibri" pitchFamily="34" charset="0"/>
                <a:ea typeface="Calibri" pitchFamily="34" charset="-122"/>
                <a:cs typeface="Calibri" pitchFamily="34" charset="-120"/>
              </a:rPr>
              <a:t>25.0 cm³</a:t>
            </a:r>
            <a:r>
              <a:rPr lang="en-US" sz="1250" dirty="0">
                <a:solidFill>
                  <a:srgbClr val="262B3A"/>
                </a:solidFill>
                <a:latin typeface="Calibri" pitchFamily="34" charset="0"/>
                <a:ea typeface="Calibri" pitchFamily="34" charset="-122"/>
                <a:cs typeface="Calibri" pitchFamily="34" charset="-120"/>
              </a:rPr>
              <a:t> of alkali accurately, and (ii) add the acid and measure its volume.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Phenolphthalein is added to sodium hydroxide in a flask. State the colour change at the end point as acid is added, and why acid is added </a:t>
            </a:r>
            <a:r>
              <a:rPr lang="en-US" sz="1250" b="1" dirty="0">
                <a:solidFill>
                  <a:srgbClr val="262B3A"/>
                </a:solidFill>
                <a:latin typeface="Calibri" pitchFamily="34" charset="0"/>
                <a:ea typeface="Calibri" pitchFamily="34" charset="-122"/>
                <a:cs typeface="Calibri" pitchFamily="34" charset="-120"/>
              </a:rPr>
              <a:t>dropwise</a:t>
            </a:r>
            <a:r>
              <a:rPr lang="en-US" sz="1250" dirty="0">
                <a:solidFill>
                  <a:srgbClr val="262B3A"/>
                </a:solidFill>
                <a:latin typeface="Calibri" pitchFamily="34" charset="0"/>
                <a:ea typeface="Calibri" pitchFamily="34" charset="-122"/>
                <a:cs typeface="Calibri" pitchFamily="34" charset="-120"/>
              </a:rPr>
              <a:t> near the end point.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an acid–alkali titration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C5.3.6 • suggested practical: find the concentration of hydrochloric acid</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14</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reading the burette before and after; scale numbers increase downwards</a:t>
            </a:r>
            <a:endParaRPr lang="en-US" sz="1000" dirty="0"/>
          </a:p>
        </p:txBody>
      </p:sp>
      <p:sp>
        <p:nvSpPr>
          <p:cNvPr id="12" name="Shape 10"/>
          <p:cNvSpPr/>
          <p:nvPr/>
        </p:nvSpPr>
        <p:spPr>
          <a:xfrm>
            <a:off x="548640" y="5239512"/>
            <a:ext cx="1600200" cy="109728"/>
          </a:xfrm>
          <a:prstGeom prst="rect">
            <a:avLst/>
          </a:prstGeom>
          <a:solidFill>
            <a:srgbClr val="5A6275"/>
          </a:solidFill>
          <a:ln w="12700">
            <a:solidFill>
              <a:srgbClr val="4A5262"/>
            </a:solidFill>
            <a:prstDash val="solid"/>
          </a:ln>
        </p:spPr>
      </p:sp>
      <p:sp>
        <p:nvSpPr>
          <p:cNvPr id="13" name="Shape 11"/>
          <p:cNvSpPr/>
          <p:nvPr/>
        </p:nvSpPr>
        <p:spPr>
          <a:xfrm>
            <a:off x="832104" y="1280160"/>
            <a:ext cx="73152" cy="3959352"/>
          </a:xfrm>
          <a:prstGeom prst="rect">
            <a:avLst/>
          </a:prstGeom>
          <a:solidFill>
            <a:srgbClr val="8C96A8"/>
          </a:solidFill>
          <a:ln w="12700">
            <a:solidFill>
              <a:srgbClr val="6B7385"/>
            </a:solidFill>
            <a:prstDash val="solid"/>
          </a:ln>
        </p:spPr>
      </p:sp>
      <p:sp>
        <p:nvSpPr>
          <p:cNvPr id="14" name="Shape 12"/>
          <p:cNvSpPr/>
          <p:nvPr/>
        </p:nvSpPr>
        <p:spPr>
          <a:xfrm>
            <a:off x="868680" y="1828800"/>
            <a:ext cx="960120" cy="54864"/>
          </a:xfrm>
          <a:prstGeom prst="rect">
            <a:avLst/>
          </a:prstGeom>
          <a:solidFill>
            <a:srgbClr val="8C96A8"/>
          </a:solidFill>
          <a:ln w="12700">
            <a:solidFill>
              <a:srgbClr val="6B7385"/>
            </a:solidFill>
            <a:prstDash val="solid"/>
          </a:ln>
        </p:spPr>
      </p:sp>
      <p:sp>
        <p:nvSpPr>
          <p:cNvPr id="15" name="Shape 13"/>
          <p:cNvSpPr/>
          <p:nvPr/>
        </p:nvSpPr>
        <p:spPr>
          <a:xfrm>
            <a:off x="1773936" y="1764792"/>
            <a:ext cx="292608" cy="182880"/>
          </a:xfrm>
          <a:prstGeom prst="roundRect">
            <a:avLst>
              <a:gd name="adj" fmla="val 20000"/>
            </a:avLst>
          </a:prstGeom>
          <a:solidFill>
            <a:srgbClr val="4A5262"/>
          </a:solidFill>
          <a:ln w="12700">
            <a:solidFill>
              <a:srgbClr val="4A5262"/>
            </a:solidFill>
            <a:prstDash val="solid"/>
          </a:ln>
        </p:spPr>
      </p:sp>
      <p:sp>
        <p:nvSpPr>
          <p:cNvPr id="16" name="Shape 14"/>
          <p:cNvSpPr/>
          <p:nvPr/>
        </p:nvSpPr>
        <p:spPr>
          <a:xfrm>
            <a:off x="1828800" y="1417320"/>
            <a:ext cx="182880" cy="2514600"/>
          </a:xfrm>
          <a:prstGeom prst="rect">
            <a:avLst/>
          </a:prstGeom>
          <a:solidFill>
            <a:srgbClr val="EEF5FB"/>
          </a:solidFill>
          <a:ln/>
        </p:spPr>
      </p:sp>
      <p:sp>
        <p:nvSpPr>
          <p:cNvPr id="17" name="Shape 15"/>
          <p:cNvSpPr/>
          <p:nvPr/>
        </p:nvSpPr>
        <p:spPr>
          <a:xfrm>
            <a:off x="1828800" y="1563258"/>
            <a:ext cx="182880" cy="2368662"/>
          </a:xfrm>
          <a:prstGeom prst="rect">
            <a:avLst/>
          </a:prstGeom>
          <a:solidFill>
            <a:srgbClr val="DDEFF7"/>
          </a:solidFill>
          <a:ln/>
        </p:spPr>
      </p:sp>
      <p:sp>
        <p:nvSpPr>
          <p:cNvPr id="18" name="Shape 16"/>
          <p:cNvSpPr/>
          <p:nvPr/>
        </p:nvSpPr>
        <p:spPr>
          <a:xfrm>
            <a:off x="1828800" y="1554480"/>
            <a:ext cx="91440" cy="91"/>
          </a:xfrm>
          <a:prstGeom prst="line">
            <a:avLst/>
          </a:prstGeom>
          <a:noFill/>
          <a:ln w="7620">
            <a:solidFill>
              <a:srgbClr val="2A1F3D"/>
            </a:solidFill>
            <a:prstDash val="solid"/>
          </a:ln>
        </p:spPr>
      </p:sp>
      <p:sp>
        <p:nvSpPr>
          <p:cNvPr id="19" name="Text 17"/>
          <p:cNvSpPr/>
          <p:nvPr/>
        </p:nvSpPr>
        <p:spPr>
          <a:xfrm>
            <a:off x="1499616" y="1463040"/>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a:t>
            </a:r>
            <a:endParaRPr lang="en-US" sz="1000" dirty="0"/>
          </a:p>
        </p:txBody>
      </p:sp>
      <p:sp>
        <p:nvSpPr>
          <p:cNvPr id="20" name="Shape 18"/>
          <p:cNvSpPr/>
          <p:nvPr/>
        </p:nvSpPr>
        <p:spPr>
          <a:xfrm>
            <a:off x="1828800" y="1773936"/>
            <a:ext cx="54864" cy="91"/>
          </a:xfrm>
          <a:prstGeom prst="line">
            <a:avLst/>
          </a:prstGeom>
          <a:noFill/>
          <a:ln w="7620">
            <a:solidFill>
              <a:srgbClr val="2A1F3D"/>
            </a:solidFill>
            <a:prstDash val="solid"/>
          </a:ln>
        </p:spPr>
      </p:sp>
      <p:sp>
        <p:nvSpPr>
          <p:cNvPr id="21" name="Shape 19"/>
          <p:cNvSpPr/>
          <p:nvPr/>
        </p:nvSpPr>
        <p:spPr>
          <a:xfrm>
            <a:off x="1828800" y="1993392"/>
            <a:ext cx="91440" cy="91"/>
          </a:xfrm>
          <a:prstGeom prst="line">
            <a:avLst/>
          </a:prstGeom>
          <a:noFill/>
          <a:ln w="7620">
            <a:solidFill>
              <a:srgbClr val="2A1F3D"/>
            </a:solidFill>
            <a:prstDash val="solid"/>
          </a:ln>
        </p:spPr>
      </p:sp>
      <p:sp>
        <p:nvSpPr>
          <p:cNvPr id="22" name="Text 20"/>
          <p:cNvSpPr/>
          <p:nvPr/>
        </p:nvSpPr>
        <p:spPr>
          <a:xfrm>
            <a:off x="1499616" y="1901952"/>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a:t>
            </a:r>
            <a:endParaRPr lang="en-US" sz="1000" dirty="0"/>
          </a:p>
        </p:txBody>
      </p:sp>
      <p:sp>
        <p:nvSpPr>
          <p:cNvPr id="23" name="Shape 21"/>
          <p:cNvSpPr/>
          <p:nvPr/>
        </p:nvSpPr>
        <p:spPr>
          <a:xfrm>
            <a:off x="1828800" y="2212848"/>
            <a:ext cx="54864" cy="91"/>
          </a:xfrm>
          <a:prstGeom prst="line">
            <a:avLst/>
          </a:prstGeom>
          <a:noFill/>
          <a:ln w="7620">
            <a:solidFill>
              <a:srgbClr val="2A1F3D"/>
            </a:solidFill>
            <a:prstDash val="solid"/>
          </a:ln>
        </p:spPr>
      </p:sp>
      <p:sp>
        <p:nvSpPr>
          <p:cNvPr id="24" name="Shape 22"/>
          <p:cNvSpPr/>
          <p:nvPr/>
        </p:nvSpPr>
        <p:spPr>
          <a:xfrm>
            <a:off x="1828800" y="2432304"/>
            <a:ext cx="91440" cy="91"/>
          </a:xfrm>
          <a:prstGeom prst="line">
            <a:avLst/>
          </a:prstGeom>
          <a:noFill/>
          <a:ln w="7620">
            <a:solidFill>
              <a:srgbClr val="2A1F3D"/>
            </a:solidFill>
            <a:prstDash val="solid"/>
          </a:ln>
        </p:spPr>
      </p:sp>
      <p:sp>
        <p:nvSpPr>
          <p:cNvPr id="25" name="Text 23"/>
          <p:cNvSpPr/>
          <p:nvPr/>
        </p:nvSpPr>
        <p:spPr>
          <a:xfrm>
            <a:off x="1499616" y="2340864"/>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20</a:t>
            </a:r>
            <a:endParaRPr lang="en-US" sz="1000" dirty="0"/>
          </a:p>
        </p:txBody>
      </p:sp>
      <p:sp>
        <p:nvSpPr>
          <p:cNvPr id="26" name="Shape 24"/>
          <p:cNvSpPr/>
          <p:nvPr/>
        </p:nvSpPr>
        <p:spPr>
          <a:xfrm>
            <a:off x="1828800" y="2651760"/>
            <a:ext cx="54864" cy="91"/>
          </a:xfrm>
          <a:prstGeom prst="line">
            <a:avLst/>
          </a:prstGeom>
          <a:noFill/>
          <a:ln w="7620">
            <a:solidFill>
              <a:srgbClr val="2A1F3D"/>
            </a:solidFill>
            <a:prstDash val="solid"/>
          </a:ln>
        </p:spPr>
      </p:sp>
      <p:sp>
        <p:nvSpPr>
          <p:cNvPr id="27" name="Shape 25"/>
          <p:cNvSpPr/>
          <p:nvPr/>
        </p:nvSpPr>
        <p:spPr>
          <a:xfrm>
            <a:off x="1828800" y="2871216"/>
            <a:ext cx="91440" cy="91"/>
          </a:xfrm>
          <a:prstGeom prst="line">
            <a:avLst/>
          </a:prstGeom>
          <a:noFill/>
          <a:ln w="7620">
            <a:solidFill>
              <a:srgbClr val="2A1F3D"/>
            </a:solidFill>
            <a:prstDash val="solid"/>
          </a:ln>
        </p:spPr>
      </p:sp>
      <p:sp>
        <p:nvSpPr>
          <p:cNvPr id="28" name="Text 26"/>
          <p:cNvSpPr/>
          <p:nvPr/>
        </p:nvSpPr>
        <p:spPr>
          <a:xfrm>
            <a:off x="1499616" y="2779776"/>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30</a:t>
            </a:r>
            <a:endParaRPr lang="en-US" sz="1000" dirty="0"/>
          </a:p>
        </p:txBody>
      </p:sp>
      <p:sp>
        <p:nvSpPr>
          <p:cNvPr id="29" name="Shape 27"/>
          <p:cNvSpPr/>
          <p:nvPr/>
        </p:nvSpPr>
        <p:spPr>
          <a:xfrm>
            <a:off x="1828800" y="3090672"/>
            <a:ext cx="54864" cy="91"/>
          </a:xfrm>
          <a:prstGeom prst="line">
            <a:avLst/>
          </a:prstGeom>
          <a:noFill/>
          <a:ln w="7620">
            <a:solidFill>
              <a:srgbClr val="2A1F3D"/>
            </a:solidFill>
            <a:prstDash val="solid"/>
          </a:ln>
        </p:spPr>
      </p:sp>
      <p:sp>
        <p:nvSpPr>
          <p:cNvPr id="30" name="Shape 28"/>
          <p:cNvSpPr/>
          <p:nvPr/>
        </p:nvSpPr>
        <p:spPr>
          <a:xfrm>
            <a:off x="1828800" y="3310128"/>
            <a:ext cx="91440" cy="91"/>
          </a:xfrm>
          <a:prstGeom prst="line">
            <a:avLst/>
          </a:prstGeom>
          <a:noFill/>
          <a:ln w="7620">
            <a:solidFill>
              <a:srgbClr val="2A1F3D"/>
            </a:solidFill>
            <a:prstDash val="solid"/>
          </a:ln>
        </p:spPr>
      </p:sp>
      <p:sp>
        <p:nvSpPr>
          <p:cNvPr id="31" name="Text 29"/>
          <p:cNvSpPr/>
          <p:nvPr/>
        </p:nvSpPr>
        <p:spPr>
          <a:xfrm>
            <a:off x="1499616" y="3218688"/>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40</a:t>
            </a:r>
            <a:endParaRPr lang="en-US" sz="1000" dirty="0"/>
          </a:p>
        </p:txBody>
      </p:sp>
      <p:sp>
        <p:nvSpPr>
          <p:cNvPr id="32" name="Shape 30"/>
          <p:cNvSpPr/>
          <p:nvPr/>
        </p:nvSpPr>
        <p:spPr>
          <a:xfrm>
            <a:off x="1828800" y="3529584"/>
            <a:ext cx="54864" cy="91"/>
          </a:xfrm>
          <a:prstGeom prst="line">
            <a:avLst/>
          </a:prstGeom>
          <a:noFill/>
          <a:ln w="7620">
            <a:solidFill>
              <a:srgbClr val="2A1F3D"/>
            </a:solidFill>
            <a:prstDash val="solid"/>
          </a:ln>
        </p:spPr>
      </p:sp>
      <p:sp>
        <p:nvSpPr>
          <p:cNvPr id="33" name="Shape 31"/>
          <p:cNvSpPr/>
          <p:nvPr/>
        </p:nvSpPr>
        <p:spPr>
          <a:xfrm>
            <a:off x="1828800" y="3749040"/>
            <a:ext cx="91440" cy="91"/>
          </a:xfrm>
          <a:prstGeom prst="line">
            <a:avLst/>
          </a:prstGeom>
          <a:noFill/>
          <a:ln w="7620">
            <a:solidFill>
              <a:srgbClr val="2A1F3D"/>
            </a:solidFill>
            <a:prstDash val="solid"/>
          </a:ln>
        </p:spPr>
      </p:sp>
      <p:sp>
        <p:nvSpPr>
          <p:cNvPr id="34" name="Text 32"/>
          <p:cNvSpPr/>
          <p:nvPr/>
        </p:nvSpPr>
        <p:spPr>
          <a:xfrm>
            <a:off x="1499616" y="3657600"/>
            <a:ext cx="292608"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50</a:t>
            </a:r>
            <a:endParaRPr lang="en-US" sz="1000" dirty="0"/>
          </a:p>
        </p:txBody>
      </p:sp>
      <p:sp>
        <p:nvSpPr>
          <p:cNvPr id="35" name="Shape 33"/>
          <p:cNvSpPr/>
          <p:nvPr/>
        </p:nvSpPr>
        <p:spPr>
          <a:xfrm>
            <a:off x="1828800" y="1417320"/>
            <a:ext cx="91" cy="2514600"/>
          </a:xfrm>
          <a:prstGeom prst="line">
            <a:avLst/>
          </a:prstGeom>
          <a:noFill/>
          <a:ln w="15875">
            <a:solidFill>
              <a:srgbClr val="2A1F3D"/>
            </a:solidFill>
            <a:prstDash val="solid"/>
          </a:ln>
        </p:spPr>
      </p:sp>
      <p:sp>
        <p:nvSpPr>
          <p:cNvPr id="36" name="Shape 34"/>
          <p:cNvSpPr/>
          <p:nvPr/>
        </p:nvSpPr>
        <p:spPr>
          <a:xfrm>
            <a:off x="2011680" y="1417320"/>
            <a:ext cx="91" cy="2514600"/>
          </a:xfrm>
          <a:prstGeom prst="line">
            <a:avLst/>
          </a:prstGeom>
          <a:noFill/>
          <a:ln w="15875">
            <a:solidFill>
              <a:srgbClr val="2A1F3D"/>
            </a:solidFill>
            <a:prstDash val="solid"/>
          </a:ln>
        </p:spPr>
      </p:sp>
      <p:sp>
        <p:nvSpPr>
          <p:cNvPr id="37" name="Shape 35"/>
          <p:cNvSpPr/>
          <p:nvPr/>
        </p:nvSpPr>
        <p:spPr>
          <a:xfrm>
            <a:off x="1874520" y="3931920"/>
            <a:ext cx="91440" cy="146304"/>
          </a:xfrm>
          <a:prstGeom prst="rect">
            <a:avLst/>
          </a:prstGeom>
          <a:solidFill>
            <a:srgbClr val="DDEFF7"/>
          </a:solidFill>
          <a:ln w="12700">
            <a:solidFill>
              <a:srgbClr val="2A1F3D"/>
            </a:solidFill>
            <a:prstDash val="solid"/>
          </a:ln>
        </p:spPr>
      </p:sp>
      <p:sp>
        <p:nvSpPr>
          <p:cNvPr id="38" name="Shape 36"/>
          <p:cNvSpPr/>
          <p:nvPr/>
        </p:nvSpPr>
        <p:spPr>
          <a:xfrm>
            <a:off x="1764792" y="3968496"/>
            <a:ext cx="310896" cy="73152"/>
          </a:xfrm>
          <a:prstGeom prst="rect">
            <a:avLst/>
          </a:prstGeom>
          <a:solidFill>
            <a:srgbClr val="4A5568"/>
          </a:solidFill>
          <a:ln w="9525">
            <a:solidFill>
              <a:srgbClr val="2A2F3A"/>
            </a:solidFill>
            <a:prstDash val="solid"/>
          </a:ln>
        </p:spPr>
      </p:sp>
      <p:sp>
        <p:nvSpPr>
          <p:cNvPr id="39" name="Shape 37"/>
          <p:cNvSpPr/>
          <p:nvPr/>
        </p:nvSpPr>
        <p:spPr>
          <a:xfrm>
            <a:off x="1874520" y="4078224"/>
            <a:ext cx="91440" cy="201168"/>
          </a:xfrm>
          <a:custGeom>
            <a:avLst/>
            <a:gdLst/>
            <a:ahLst/>
            <a:cxnLst/>
            <a:rect l="l" t="t" r="r" b="b"/>
            <a:pathLst>
              <a:path w="91440" h="201168">
                <a:moveTo>
                  <a:pt x="0" y="0"/>
                </a:moveTo>
                <a:lnTo>
                  <a:pt x="91440" y="0"/>
                </a:lnTo>
                <a:lnTo>
                  <a:pt x="64008" y="201168"/>
                </a:lnTo>
                <a:lnTo>
                  <a:pt x="27432" y="201168"/>
                </a:lnTo>
                <a:close/>
              </a:path>
            </a:pathLst>
          </a:custGeom>
          <a:solidFill>
            <a:srgbClr val="DDEFF7"/>
          </a:solidFill>
          <a:ln w="12700">
            <a:solidFill>
              <a:srgbClr val="2A1F3D"/>
            </a:solidFill>
            <a:prstDash val="solid"/>
          </a:ln>
        </p:spPr>
      </p:sp>
      <p:sp>
        <p:nvSpPr>
          <p:cNvPr id="40" name="Shape 38"/>
          <p:cNvSpPr/>
          <p:nvPr/>
        </p:nvSpPr>
        <p:spPr>
          <a:xfrm>
            <a:off x="1325880" y="5148072"/>
            <a:ext cx="1188720" cy="91440"/>
          </a:xfrm>
          <a:prstGeom prst="rect">
            <a:avLst/>
          </a:prstGeom>
          <a:solidFill>
            <a:srgbClr val="FFFFFF"/>
          </a:solidFill>
          <a:ln w="12700">
            <a:solidFill>
              <a:srgbClr val="9AA3B0"/>
            </a:solidFill>
            <a:prstDash val="solid"/>
          </a:ln>
        </p:spPr>
      </p:sp>
      <p:sp>
        <p:nvSpPr>
          <p:cNvPr id="41" name="Shape 39"/>
          <p:cNvSpPr/>
          <p:nvPr/>
        </p:nvSpPr>
        <p:spPr>
          <a:xfrm>
            <a:off x="1463040" y="4187952"/>
            <a:ext cx="914400" cy="960120"/>
          </a:xfrm>
          <a:custGeom>
            <a:avLst/>
            <a:gdLst/>
            <a:ahLst/>
            <a:cxnLst/>
            <a:rect l="l" t="t" r="r" b="b"/>
            <a:pathLst>
              <a:path w="914400" h="960120">
                <a:moveTo>
                  <a:pt x="320040" y="0"/>
                </a:moveTo>
                <a:lnTo>
                  <a:pt x="320040" y="288036"/>
                </a:lnTo>
                <a:lnTo>
                  <a:pt x="0" y="960120"/>
                </a:lnTo>
                <a:lnTo>
                  <a:pt x="914400" y="960120"/>
                </a:lnTo>
                <a:lnTo>
                  <a:pt x="594360" y="288036"/>
                </a:lnTo>
                <a:lnTo>
                  <a:pt x="594360" y="0"/>
                </a:lnTo>
                <a:close/>
              </a:path>
            </a:pathLst>
          </a:custGeom>
          <a:solidFill>
            <a:srgbClr val="EEF5FB"/>
          </a:solidFill>
          <a:ln/>
        </p:spPr>
      </p:sp>
      <p:sp>
        <p:nvSpPr>
          <p:cNvPr id="42" name="Shape 40"/>
          <p:cNvSpPr/>
          <p:nvPr/>
        </p:nvSpPr>
        <p:spPr>
          <a:xfrm>
            <a:off x="1463040" y="4865797"/>
            <a:ext cx="914400" cy="282275"/>
          </a:xfrm>
          <a:custGeom>
            <a:avLst/>
            <a:gdLst/>
            <a:ahLst/>
            <a:cxnLst/>
            <a:rect l="l" t="t" r="r" b="b"/>
            <a:pathLst>
              <a:path w="914400" h="282275">
                <a:moveTo>
                  <a:pt x="134417" y="0"/>
                </a:moveTo>
                <a:lnTo>
                  <a:pt x="0" y="282275"/>
                </a:lnTo>
                <a:lnTo>
                  <a:pt x="914400" y="282275"/>
                </a:lnTo>
                <a:lnTo>
                  <a:pt x="779983" y="0"/>
                </a:lnTo>
                <a:close/>
              </a:path>
            </a:pathLst>
          </a:custGeom>
          <a:solidFill>
            <a:srgbClr val="F4B6D2"/>
          </a:solidFill>
          <a:ln/>
        </p:spPr>
      </p:sp>
      <p:sp>
        <p:nvSpPr>
          <p:cNvPr id="43" name="Shape 41"/>
          <p:cNvSpPr/>
          <p:nvPr/>
        </p:nvSpPr>
        <p:spPr>
          <a:xfrm>
            <a:off x="1463040" y="4187952"/>
            <a:ext cx="914400" cy="960120"/>
          </a:xfrm>
          <a:custGeom>
            <a:avLst/>
            <a:gdLst/>
            <a:ahLst/>
            <a:cxnLst/>
            <a:rect l="l" t="t" r="r" b="b"/>
            <a:pathLst>
              <a:path w="914400" h="960120">
                <a:moveTo>
                  <a:pt x="320040" y="0"/>
                </a:moveTo>
                <a:lnTo>
                  <a:pt x="320040" y="288036"/>
                </a:lnTo>
                <a:lnTo>
                  <a:pt x="0" y="960120"/>
                </a:lnTo>
                <a:lnTo>
                  <a:pt x="914400" y="960120"/>
                </a:lnTo>
                <a:lnTo>
                  <a:pt x="594360" y="288036"/>
                </a:lnTo>
                <a:lnTo>
                  <a:pt x="594360" y="0"/>
                </a:lnTo>
              </a:path>
            </a:pathLst>
          </a:custGeom>
          <a:ln w="15875">
            <a:solidFill>
              <a:srgbClr val="2A1F3D"/>
            </a:solidFill>
            <a:prstDash val="solid"/>
          </a:ln>
        </p:spPr>
      </p:sp>
      <p:sp>
        <p:nvSpPr>
          <p:cNvPr id="44" name="Shape 42"/>
          <p:cNvSpPr/>
          <p:nvPr/>
        </p:nvSpPr>
        <p:spPr>
          <a:xfrm>
            <a:off x="1463040" y="5148072"/>
            <a:ext cx="914400" cy="91"/>
          </a:xfrm>
          <a:prstGeom prst="line">
            <a:avLst/>
          </a:prstGeom>
          <a:noFill/>
          <a:ln w="15875">
            <a:solidFill>
              <a:srgbClr val="2A1F3D"/>
            </a:solidFill>
            <a:prstDash val="solid"/>
          </a:ln>
        </p:spPr>
      </p:sp>
      <p:sp>
        <p:nvSpPr>
          <p:cNvPr id="45" name="Text 43"/>
          <p:cNvSpPr/>
          <p:nvPr/>
        </p:nvSpPr>
        <p:spPr>
          <a:xfrm>
            <a:off x="1691640" y="1143000"/>
            <a:ext cx="1737360" cy="219456"/>
          </a:xfrm>
          <a:prstGeom prst="rect">
            <a:avLst/>
          </a:prstGeom>
          <a:noFill/>
          <a:ln/>
        </p:spPr>
        <p:txBody>
          <a:bodyPr wrap="square" lIns="0" tIns="0" rIns="0" bIns="0" rtlCol="0" anchor="ctr"/>
          <a:lstStyle/>
          <a:p>
            <a:pPr algn="l" indent="0" marL="0">
              <a:buNone/>
            </a:pPr>
            <a:r>
              <a:rPr lang="en-US" sz="1000" i="1" dirty="0">
                <a:solidFill>
                  <a:srgbClr val="C8414C"/>
                </a:solidFill>
                <a:latin typeface="Calibri" pitchFamily="34" charset="0"/>
                <a:ea typeface="Calibri" pitchFamily="34" charset="-122"/>
                <a:cs typeface="Calibri" pitchFamily="34" charset="-120"/>
              </a:rPr>
              <a:t>remove the funnel before reading</a:t>
            </a:r>
            <a:endParaRPr lang="en-US" sz="1000" dirty="0"/>
          </a:p>
        </p:txBody>
      </p:sp>
      <p:sp>
        <p:nvSpPr>
          <p:cNvPr id="46" name="Shape 44"/>
          <p:cNvSpPr/>
          <p:nvPr/>
        </p:nvSpPr>
        <p:spPr>
          <a:xfrm>
            <a:off x="3246120" y="1691640"/>
            <a:ext cx="548640" cy="2011680"/>
          </a:xfrm>
          <a:prstGeom prst="rect">
            <a:avLst/>
          </a:prstGeom>
          <a:solidFill>
            <a:srgbClr val="EEF5FB"/>
          </a:solidFill>
          <a:ln/>
        </p:spPr>
      </p:sp>
      <p:sp>
        <p:nvSpPr>
          <p:cNvPr id="47" name="Shape 45"/>
          <p:cNvSpPr/>
          <p:nvPr/>
        </p:nvSpPr>
        <p:spPr>
          <a:xfrm>
            <a:off x="3246120" y="2414016"/>
            <a:ext cx="548640" cy="1289304"/>
          </a:xfrm>
          <a:custGeom>
            <a:avLst/>
            <a:gdLst/>
            <a:ahLst/>
            <a:cxnLst/>
            <a:rect l="l" t="t" r="r" b="b"/>
            <a:pathLst>
              <a:path w="548640" h="1289304">
                <a:moveTo>
                  <a:pt x="0" y="0"/>
                </a:moveTo>
                <a:lnTo>
                  <a:pt x="34290" y="25718"/>
                </a:lnTo>
                <a:lnTo>
                  <a:pt x="68580" y="48006"/>
                </a:lnTo>
                <a:lnTo>
                  <a:pt x="102870" y="66866"/>
                </a:lnTo>
                <a:lnTo>
                  <a:pt x="137160" y="82296"/>
                </a:lnTo>
                <a:lnTo>
                  <a:pt x="171450" y="94297"/>
                </a:lnTo>
                <a:lnTo>
                  <a:pt x="205740" y="102870"/>
                </a:lnTo>
                <a:lnTo>
                  <a:pt x="240030" y="108014"/>
                </a:lnTo>
                <a:lnTo>
                  <a:pt x="274320" y="109728"/>
                </a:lnTo>
                <a:lnTo>
                  <a:pt x="308610" y="108014"/>
                </a:lnTo>
                <a:lnTo>
                  <a:pt x="342900" y="102870"/>
                </a:lnTo>
                <a:lnTo>
                  <a:pt x="377190" y="94297"/>
                </a:lnTo>
                <a:lnTo>
                  <a:pt x="411480" y="82296"/>
                </a:lnTo>
                <a:lnTo>
                  <a:pt x="445770" y="66866"/>
                </a:lnTo>
                <a:lnTo>
                  <a:pt x="480060" y="48006"/>
                </a:lnTo>
                <a:lnTo>
                  <a:pt x="514350" y="25718"/>
                </a:lnTo>
                <a:lnTo>
                  <a:pt x="548640" y="0"/>
                </a:lnTo>
                <a:lnTo>
                  <a:pt x="548640" y="1289304"/>
                </a:lnTo>
                <a:lnTo>
                  <a:pt x="0" y="1289304"/>
                </a:lnTo>
                <a:close/>
              </a:path>
            </a:pathLst>
          </a:custGeom>
          <a:solidFill>
            <a:srgbClr val="DDEFF7"/>
          </a:solidFill>
          <a:ln/>
        </p:spPr>
      </p:sp>
      <p:sp>
        <p:nvSpPr>
          <p:cNvPr id="48" name="Shape 46"/>
          <p:cNvSpPr/>
          <p:nvPr/>
        </p:nvSpPr>
        <p:spPr>
          <a:xfrm>
            <a:off x="3246120" y="2414016"/>
            <a:ext cx="548640" cy="109728"/>
          </a:xfrm>
          <a:custGeom>
            <a:avLst/>
            <a:gdLst/>
            <a:ahLst/>
            <a:cxnLst/>
            <a:rect l="l" t="t" r="r" b="b"/>
            <a:pathLst>
              <a:path w="548640" h="109728">
                <a:moveTo>
                  <a:pt x="0" y="0"/>
                </a:moveTo>
                <a:lnTo>
                  <a:pt x="34290" y="25718"/>
                </a:lnTo>
                <a:lnTo>
                  <a:pt x="68580" y="48006"/>
                </a:lnTo>
                <a:lnTo>
                  <a:pt x="102870" y="66866"/>
                </a:lnTo>
                <a:lnTo>
                  <a:pt x="137160" y="82296"/>
                </a:lnTo>
                <a:lnTo>
                  <a:pt x="171450" y="94297"/>
                </a:lnTo>
                <a:lnTo>
                  <a:pt x="205740" y="102870"/>
                </a:lnTo>
                <a:lnTo>
                  <a:pt x="240030" y="108014"/>
                </a:lnTo>
                <a:lnTo>
                  <a:pt x="274320" y="109728"/>
                </a:lnTo>
                <a:lnTo>
                  <a:pt x="308610" y="108014"/>
                </a:lnTo>
                <a:lnTo>
                  <a:pt x="342900" y="102870"/>
                </a:lnTo>
                <a:lnTo>
                  <a:pt x="377190" y="94297"/>
                </a:lnTo>
                <a:lnTo>
                  <a:pt x="411480" y="82296"/>
                </a:lnTo>
                <a:lnTo>
                  <a:pt x="445770" y="66866"/>
                </a:lnTo>
                <a:lnTo>
                  <a:pt x="480060" y="48006"/>
                </a:lnTo>
                <a:lnTo>
                  <a:pt x="514350" y="25718"/>
                </a:lnTo>
                <a:lnTo>
                  <a:pt x="548640" y="0"/>
                </a:lnTo>
              </a:path>
            </a:pathLst>
          </a:custGeom>
          <a:ln w="19050">
            <a:solidFill>
              <a:srgbClr val="3A6EA5"/>
            </a:solidFill>
            <a:prstDash val="solid"/>
          </a:ln>
        </p:spPr>
      </p:sp>
      <p:sp>
        <p:nvSpPr>
          <p:cNvPr id="49" name="Shape 47"/>
          <p:cNvSpPr/>
          <p:nvPr/>
        </p:nvSpPr>
        <p:spPr>
          <a:xfrm>
            <a:off x="3246120" y="1828800"/>
            <a:ext cx="274320" cy="91"/>
          </a:xfrm>
          <a:prstGeom prst="line">
            <a:avLst/>
          </a:prstGeom>
          <a:noFill/>
          <a:ln w="9525">
            <a:solidFill>
              <a:srgbClr val="2A1F3D"/>
            </a:solidFill>
            <a:prstDash val="solid"/>
          </a:ln>
        </p:spPr>
      </p:sp>
      <p:sp>
        <p:nvSpPr>
          <p:cNvPr id="50" name="Text 48"/>
          <p:cNvSpPr/>
          <p:nvPr/>
        </p:nvSpPr>
        <p:spPr>
          <a:xfrm>
            <a:off x="2788920" y="1746504"/>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0.0</a:t>
            </a:r>
            <a:endParaRPr lang="en-US" sz="1000" dirty="0"/>
          </a:p>
        </p:txBody>
      </p:sp>
      <p:sp>
        <p:nvSpPr>
          <p:cNvPr id="51" name="Shape 49"/>
          <p:cNvSpPr/>
          <p:nvPr/>
        </p:nvSpPr>
        <p:spPr>
          <a:xfrm>
            <a:off x="3246120" y="2176272"/>
            <a:ext cx="164592" cy="91"/>
          </a:xfrm>
          <a:prstGeom prst="line">
            <a:avLst/>
          </a:prstGeom>
          <a:noFill/>
          <a:ln w="9525">
            <a:solidFill>
              <a:srgbClr val="2A1F3D"/>
            </a:solidFill>
            <a:prstDash val="solid"/>
          </a:ln>
        </p:spPr>
      </p:sp>
      <p:sp>
        <p:nvSpPr>
          <p:cNvPr id="52" name="Text 50"/>
          <p:cNvSpPr/>
          <p:nvPr/>
        </p:nvSpPr>
        <p:spPr>
          <a:xfrm>
            <a:off x="2788920" y="2093976"/>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0.1</a:t>
            </a:r>
            <a:endParaRPr lang="en-US" sz="1000" dirty="0"/>
          </a:p>
        </p:txBody>
      </p:sp>
      <p:sp>
        <p:nvSpPr>
          <p:cNvPr id="53" name="Shape 51"/>
          <p:cNvSpPr/>
          <p:nvPr/>
        </p:nvSpPr>
        <p:spPr>
          <a:xfrm>
            <a:off x="3246120" y="2523744"/>
            <a:ext cx="164592" cy="91"/>
          </a:xfrm>
          <a:prstGeom prst="line">
            <a:avLst/>
          </a:prstGeom>
          <a:noFill/>
          <a:ln w="9525">
            <a:solidFill>
              <a:srgbClr val="2A1F3D"/>
            </a:solidFill>
            <a:prstDash val="solid"/>
          </a:ln>
        </p:spPr>
      </p:sp>
      <p:sp>
        <p:nvSpPr>
          <p:cNvPr id="54" name="Text 52"/>
          <p:cNvSpPr/>
          <p:nvPr/>
        </p:nvSpPr>
        <p:spPr>
          <a:xfrm>
            <a:off x="2788920" y="2441448"/>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0.2</a:t>
            </a:r>
            <a:endParaRPr lang="en-US" sz="1000" dirty="0"/>
          </a:p>
        </p:txBody>
      </p:sp>
      <p:sp>
        <p:nvSpPr>
          <p:cNvPr id="55" name="Shape 53"/>
          <p:cNvSpPr/>
          <p:nvPr/>
        </p:nvSpPr>
        <p:spPr>
          <a:xfrm>
            <a:off x="3246120" y="2871216"/>
            <a:ext cx="164592" cy="91"/>
          </a:xfrm>
          <a:prstGeom prst="line">
            <a:avLst/>
          </a:prstGeom>
          <a:noFill/>
          <a:ln w="9525">
            <a:solidFill>
              <a:srgbClr val="2A1F3D"/>
            </a:solidFill>
            <a:prstDash val="solid"/>
          </a:ln>
        </p:spPr>
      </p:sp>
      <p:sp>
        <p:nvSpPr>
          <p:cNvPr id="56" name="Text 54"/>
          <p:cNvSpPr/>
          <p:nvPr/>
        </p:nvSpPr>
        <p:spPr>
          <a:xfrm>
            <a:off x="2788920" y="2788920"/>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0.3</a:t>
            </a:r>
            <a:endParaRPr lang="en-US" sz="1000" dirty="0"/>
          </a:p>
        </p:txBody>
      </p:sp>
      <p:sp>
        <p:nvSpPr>
          <p:cNvPr id="57" name="Shape 55"/>
          <p:cNvSpPr/>
          <p:nvPr/>
        </p:nvSpPr>
        <p:spPr>
          <a:xfrm>
            <a:off x="3246120" y="3218688"/>
            <a:ext cx="164592" cy="91"/>
          </a:xfrm>
          <a:prstGeom prst="line">
            <a:avLst/>
          </a:prstGeom>
          <a:noFill/>
          <a:ln w="9525">
            <a:solidFill>
              <a:srgbClr val="2A1F3D"/>
            </a:solidFill>
            <a:prstDash val="solid"/>
          </a:ln>
        </p:spPr>
      </p:sp>
      <p:sp>
        <p:nvSpPr>
          <p:cNvPr id="58" name="Text 56"/>
          <p:cNvSpPr/>
          <p:nvPr/>
        </p:nvSpPr>
        <p:spPr>
          <a:xfrm>
            <a:off x="2788920" y="3136392"/>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0.4</a:t>
            </a:r>
            <a:endParaRPr lang="en-US" sz="1000" dirty="0"/>
          </a:p>
        </p:txBody>
      </p:sp>
      <p:sp>
        <p:nvSpPr>
          <p:cNvPr id="59" name="Shape 57"/>
          <p:cNvSpPr/>
          <p:nvPr/>
        </p:nvSpPr>
        <p:spPr>
          <a:xfrm>
            <a:off x="3246120" y="3566160"/>
            <a:ext cx="274320" cy="91"/>
          </a:xfrm>
          <a:prstGeom prst="line">
            <a:avLst/>
          </a:prstGeom>
          <a:noFill/>
          <a:ln w="9525">
            <a:solidFill>
              <a:srgbClr val="2A1F3D"/>
            </a:solidFill>
            <a:prstDash val="solid"/>
          </a:ln>
        </p:spPr>
      </p:sp>
      <p:sp>
        <p:nvSpPr>
          <p:cNvPr id="60" name="Text 58"/>
          <p:cNvSpPr/>
          <p:nvPr/>
        </p:nvSpPr>
        <p:spPr>
          <a:xfrm>
            <a:off x="2788920" y="3483864"/>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0.5</a:t>
            </a:r>
            <a:endParaRPr lang="en-US" sz="1000" dirty="0"/>
          </a:p>
        </p:txBody>
      </p:sp>
      <p:sp>
        <p:nvSpPr>
          <p:cNvPr id="61" name="Shape 59"/>
          <p:cNvSpPr/>
          <p:nvPr/>
        </p:nvSpPr>
        <p:spPr>
          <a:xfrm>
            <a:off x="3246120" y="1691640"/>
            <a:ext cx="91" cy="2011680"/>
          </a:xfrm>
          <a:prstGeom prst="line">
            <a:avLst/>
          </a:prstGeom>
          <a:noFill/>
          <a:ln w="15875">
            <a:solidFill>
              <a:srgbClr val="2A1F3D"/>
            </a:solidFill>
            <a:prstDash val="solid"/>
          </a:ln>
        </p:spPr>
      </p:sp>
      <p:sp>
        <p:nvSpPr>
          <p:cNvPr id="62" name="Shape 60"/>
          <p:cNvSpPr/>
          <p:nvPr/>
        </p:nvSpPr>
        <p:spPr>
          <a:xfrm>
            <a:off x="3794760" y="1691640"/>
            <a:ext cx="91" cy="2011680"/>
          </a:xfrm>
          <a:prstGeom prst="line">
            <a:avLst/>
          </a:prstGeom>
          <a:noFill/>
          <a:ln w="15875">
            <a:solidFill>
              <a:srgbClr val="2A1F3D"/>
            </a:solidFill>
            <a:prstDash val="solid"/>
          </a:ln>
        </p:spPr>
      </p:sp>
      <p:sp>
        <p:nvSpPr>
          <p:cNvPr id="63" name="Shape 61"/>
          <p:cNvSpPr/>
          <p:nvPr/>
        </p:nvSpPr>
        <p:spPr>
          <a:xfrm>
            <a:off x="3813048" y="2523744"/>
            <a:ext cx="256032" cy="91"/>
          </a:xfrm>
          <a:prstGeom prst="line">
            <a:avLst/>
          </a:prstGeom>
          <a:noFill/>
          <a:ln w="15875">
            <a:solidFill>
              <a:srgbClr val="2E8B57"/>
            </a:solidFill>
            <a:prstDash val="solid"/>
          </a:ln>
        </p:spPr>
      </p:sp>
      <p:sp>
        <p:nvSpPr>
          <p:cNvPr id="64" name="Text 62"/>
          <p:cNvSpPr/>
          <p:nvPr/>
        </p:nvSpPr>
        <p:spPr>
          <a:xfrm>
            <a:off x="2971800" y="3776472"/>
            <a:ext cx="118872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initial: </a:t>
            </a:r>
            <a:r>
              <a:rPr lang="en-US" sz="1050" b="1" dirty="0">
                <a:solidFill>
                  <a:srgbClr val="262B3A"/>
                </a:solidFill>
                <a:latin typeface="Calibri" pitchFamily="34" charset="0"/>
                <a:ea typeface="Calibri" pitchFamily="34" charset="-122"/>
                <a:cs typeface="Calibri" pitchFamily="34" charset="-120"/>
              </a:rPr>
              <a:t>0.20 cm³</a:t>
            </a:r>
            <a:endParaRPr lang="en-US" sz="1050" dirty="0"/>
          </a:p>
        </p:txBody>
      </p:sp>
      <p:sp>
        <p:nvSpPr>
          <p:cNvPr id="65" name="Shape 63"/>
          <p:cNvSpPr/>
          <p:nvPr/>
        </p:nvSpPr>
        <p:spPr>
          <a:xfrm>
            <a:off x="4709160" y="1691640"/>
            <a:ext cx="548640" cy="2011680"/>
          </a:xfrm>
          <a:prstGeom prst="rect">
            <a:avLst/>
          </a:prstGeom>
          <a:solidFill>
            <a:srgbClr val="EEF5FB"/>
          </a:solidFill>
          <a:ln/>
        </p:spPr>
      </p:sp>
      <p:sp>
        <p:nvSpPr>
          <p:cNvPr id="66" name="Shape 64"/>
          <p:cNvSpPr/>
          <p:nvPr/>
        </p:nvSpPr>
        <p:spPr>
          <a:xfrm>
            <a:off x="4709160" y="2587752"/>
            <a:ext cx="548640" cy="1115568"/>
          </a:xfrm>
          <a:custGeom>
            <a:avLst/>
            <a:gdLst/>
            <a:ahLst/>
            <a:cxnLst/>
            <a:rect l="l" t="t" r="r" b="b"/>
            <a:pathLst>
              <a:path w="548640" h="1115568">
                <a:moveTo>
                  <a:pt x="0" y="0"/>
                </a:moveTo>
                <a:lnTo>
                  <a:pt x="34290" y="25718"/>
                </a:lnTo>
                <a:lnTo>
                  <a:pt x="68580" y="48006"/>
                </a:lnTo>
                <a:lnTo>
                  <a:pt x="102870" y="66866"/>
                </a:lnTo>
                <a:lnTo>
                  <a:pt x="137160" y="82296"/>
                </a:lnTo>
                <a:lnTo>
                  <a:pt x="171450" y="94297"/>
                </a:lnTo>
                <a:lnTo>
                  <a:pt x="205740" y="102870"/>
                </a:lnTo>
                <a:lnTo>
                  <a:pt x="240030" y="108014"/>
                </a:lnTo>
                <a:lnTo>
                  <a:pt x="274320" y="109728"/>
                </a:lnTo>
                <a:lnTo>
                  <a:pt x="308610" y="108014"/>
                </a:lnTo>
                <a:lnTo>
                  <a:pt x="342900" y="102870"/>
                </a:lnTo>
                <a:lnTo>
                  <a:pt x="377190" y="94297"/>
                </a:lnTo>
                <a:lnTo>
                  <a:pt x="411480" y="82296"/>
                </a:lnTo>
                <a:lnTo>
                  <a:pt x="445770" y="66866"/>
                </a:lnTo>
                <a:lnTo>
                  <a:pt x="480060" y="48006"/>
                </a:lnTo>
                <a:lnTo>
                  <a:pt x="514350" y="25718"/>
                </a:lnTo>
                <a:lnTo>
                  <a:pt x="548640" y="0"/>
                </a:lnTo>
                <a:lnTo>
                  <a:pt x="548640" y="1115568"/>
                </a:lnTo>
                <a:lnTo>
                  <a:pt x="0" y="1115568"/>
                </a:lnTo>
                <a:close/>
              </a:path>
            </a:pathLst>
          </a:custGeom>
          <a:solidFill>
            <a:srgbClr val="DDEFF7"/>
          </a:solidFill>
          <a:ln/>
        </p:spPr>
      </p:sp>
      <p:sp>
        <p:nvSpPr>
          <p:cNvPr id="67" name="Shape 65"/>
          <p:cNvSpPr/>
          <p:nvPr/>
        </p:nvSpPr>
        <p:spPr>
          <a:xfrm>
            <a:off x="4709160" y="2587752"/>
            <a:ext cx="548640" cy="109728"/>
          </a:xfrm>
          <a:custGeom>
            <a:avLst/>
            <a:gdLst/>
            <a:ahLst/>
            <a:cxnLst/>
            <a:rect l="l" t="t" r="r" b="b"/>
            <a:pathLst>
              <a:path w="548640" h="109728">
                <a:moveTo>
                  <a:pt x="0" y="0"/>
                </a:moveTo>
                <a:lnTo>
                  <a:pt x="34290" y="25718"/>
                </a:lnTo>
                <a:lnTo>
                  <a:pt x="68580" y="48006"/>
                </a:lnTo>
                <a:lnTo>
                  <a:pt x="102870" y="66866"/>
                </a:lnTo>
                <a:lnTo>
                  <a:pt x="137160" y="82296"/>
                </a:lnTo>
                <a:lnTo>
                  <a:pt x="171450" y="94297"/>
                </a:lnTo>
                <a:lnTo>
                  <a:pt x="205740" y="102870"/>
                </a:lnTo>
                <a:lnTo>
                  <a:pt x="240030" y="108014"/>
                </a:lnTo>
                <a:lnTo>
                  <a:pt x="274320" y="109728"/>
                </a:lnTo>
                <a:lnTo>
                  <a:pt x="308610" y="108014"/>
                </a:lnTo>
                <a:lnTo>
                  <a:pt x="342900" y="102870"/>
                </a:lnTo>
                <a:lnTo>
                  <a:pt x="377190" y="94297"/>
                </a:lnTo>
                <a:lnTo>
                  <a:pt x="411480" y="82296"/>
                </a:lnTo>
                <a:lnTo>
                  <a:pt x="445770" y="66866"/>
                </a:lnTo>
                <a:lnTo>
                  <a:pt x="480060" y="48006"/>
                </a:lnTo>
                <a:lnTo>
                  <a:pt x="514350" y="25718"/>
                </a:lnTo>
                <a:lnTo>
                  <a:pt x="548640" y="0"/>
                </a:lnTo>
              </a:path>
            </a:pathLst>
          </a:custGeom>
          <a:ln w="19050">
            <a:solidFill>
              <a:srgbClr val="3A6EA5"/>
            </a:solidFill>
            <a:prstDash val="solid"/>
          </a:ln>
        </p:spPr>
      </p:sp>
      <p:sp>
        <p:nvSpPr>
          <p:cNvPr id="68" name="Shape 66"/>
          <p:cNvSpPr/>
          <p:nvPr/>
        </p:nvSpPr>
        <p:spPr>
          <a:xfrm>
            <a:off x="4709160" y="1828800"/>
            <a:ext cx="274320" cy="91"/>
          </a:xfrm>
          <a:prstGeom prst="line">
            <a:avLst/>
          </a:prstGeom>
          <a:noFill/>
          <a:ln w="9525">
            <a:solidFill>
              <a:srgbClr val="2A1F3D"/>
            </a:solidFill>
            <a:prstDash val="solid"/>
          </a:ln>
        </p:spPr>
      </p:sp>
      <p:sp>
        <p:nvSpPr>
          <p:cNvPr id="69" name="Text 67"/>
          <p:cNvSpPr/>
          <p:nvPr/>
        </p:nvSpPr>
        <p:spPr>
          <a:xfrm>
            <a:off x="4251960" y="1746504"/>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22.4</a:t>
            </a:r>
            <a:endParaRPr lang="en-US" sz="1000" dirty="0"/>
          </a:p>
        </p:txBody>
      </p:sp>
      <p:sp>
        <p:nvSpPr>
          <p:cNvPr id="70" name="Shape 68"/>
          <p:cNvSpPr/>
          <p:nvPr/>
        </p:nvSpPr>
        <p:spPr>
          <a:xfrm>
            <a:off x="4709160" y="2176272"/>
            <a:ext cx="164592" cy="91"/>
          </a:xfrm>
          <a:prstGeom prst="line">
            <a:avLst/>
          </a:prstGeom>
          <a:noFill/>
          <a:ln w="9525">
            <a:solidFill>
              <a:srgbClr val="2A1F3D"/>
            </a:solidFill>
            <a:prstDash val="solid"/>
          </a:ln>
        </p:spPr>
      </p:sp>
      <p:sp>
        <p:nvSpPr>
          <p:cNvPr id="71" name="Text 69"/>
          <p:cNvSpPr/>
          <p:nvPr/>
        </p:nvSpPr>
        <p:spPr>
          <a:xfrm>
            <a:off x="4251960" y="2093976"/>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22.5</a:t>
            </a:r>
            <a:endParaRPr lang="en-US" sz="1000" dirty="0"/>
          </a:p>
        </p:txBody>
      </p:sp>
      <p:sp>
        <p:nvSpPr>
          <p:cNvPr id="72" name="Shape 70"/>
          <p:cNvSpPr/>
          <p:nvPr/>
        </p:nvSpPr>
        <p:spPr>
          <a:xfrm>
            <a:off x="4709160" y="2523744"/>
            <a:ext cx="164592" cy="91"/>
          </a:xfrm>
          <a:prstGeom prst="line">
            <a:avLst/>
          </a:prstGeom>
          <a:noFill/>
          <a:ln w="9525">
            <a:solidFill>
              <a:srgbClr val="2A1F3D"/>
            </a:solidFill>
            <a:prstDash val="solid"/>
          </a:ln>
        </p:spPr>
      </p:sp>
      <p:sp>
        <p:nvSpPr>
          <p:cNvPr id="73" name="Text 71"/>
          <p:cNvSpPr/>
          <p:nvPr/>
        </p:nvSpPr>
        <p:spPr>
          <a:xfrm>
            <a:off x="4251960" y="2441448"/>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22.6</a:t>
            </a:r>
            <a:endParaRPr lang="en-US" sz="1000" dirty="0"/>
          </a:p>
        </p:txBody>
      </p:sp>
      <p:sp>
        <p:nvSpPr>
          <p:cNvPr id="74" name="Shape 72"/>
          <p:cNvSpPr/>
          <p:nvPr/>
        </p:nvSpPr>
        <p:spPr>
          <a:xfrm>
            <a:off x="4709160" y="2871216"/>
            <a:ext cx="164592" cy="91"/>
          </a:xfrm>
          <a:prstGeom prst="line">
            <a:avLst/>
          </a:prstGeom>
          <a:noFill/>
          <a:ln w="9525">
            <a:solidFill>
              <a:srgbClr val="2A1F3D"/>
            </a:solidFill>
            <a:prstDash val="solid"/>
          </a:ln>
        </p:spPr>
      </p:sp>
      <p:sp>
        <p:nvSpPr>
          <p:cNvPr id="75" name="Text 73"/>
          <p:cNvSpPr/>
          <p:nvPr/>
        </p:nvSpPr>
        <p:spPr>
          <a:xfrm>
            <a:off x="4251960" y="2788920"/>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22.7</a:t>
            </a:r>
            <a:endParaRPr lang="en-US" sz="1000" dirty="0"/>
          </a:p>
        </p:txBody>
      </p:sp>
      <p:sp>
        <p:nvSpPr>
          <p:cNvPr id="76" name="Shape 74"/>
          <p:cNvSpPr/>
          <p:nvPr/>
        </p:nvSpPr>
        <p:spPr>
          <a:xfrm>
            <a:off x="4709160" y="3218688"/>
            <a:ext cx="164592" cy="91"/>
          </a:xfrm>
          <a:prstGeom prst="line">
            <a:avLst/>
          </a:prstGeom>
          <a:noFill/>
          <a:ln w="9525">
            <a:solidFill>
              <a:srgbClr val="2A1F3D"/>
            </a:solidFill>
            <a:prstDash val="solid"/>
          </a:ln>
        </p:spPr>
      </p:sp>
      <p:sp>
        <p:nvSpPr>
          <p:cNvPr id="77" name="Text 75"/>
          <p:cNvSpPr/>
          <p:nvPr/>
        </p:nvSpPr>
        <p:spPr>
          <a:xfrm>
            <a:off x="4251960" y="3136392"/>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22.8</a:t>
            </a:r>
            <a:endParaRPr lang="en-US" sz="1000" dirty="0"/>
          </a:p>
        </p:txBody>
      </p:sp>
      <p:sp>
        <p:nvSpPr>
          <p:cNvPr id="78" name="Shape 76"/>
          <p:cNvSpPr/>
          <p:nvPr/>
        </p:nvSpPr>
        <p:spPr>
          <a:xfrm>
            <a:off x="4709160" y="3566160"/>
            <a:ext cx="274320" cy="91"/>
          </a:xfrm>
          <a:prstGeom prst="line">
            <a:avLst/>
          </a:prstGeom>
          <a:noFill/>
          <a:ln w="9525">
            <a:solidFill>
              <a:srgbClr val="2A1F3D"/>
            </a:solidFill>
            <a:prstDash val="solid"/>
          </a:ln>
        </p:spPr>
      </p:sp>
      <p:sp>
        <p:nvSpPr>
          <p:cNvPr id="79" name="Text 77"/>
          <p:cNvSpPr/>
          <p:nvPr/>
        </p:nvSpPr>
        <p:spPr>
          <a:xfrm>
            <a:off x="4251960" y="3483864"/>
            <a:ext cx="420624" cy="16459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22.9</a:t>
            </a:r>
            <a:endParaRPr lang="en-US" sz="1000" dirty="0"/>
          </a:p>
        </p:txBody>
      </p:sp>
      <p:sp>
        <p:nvSpPr>
          <p:cNvPr id="80" name="Shape 78"/>
          <p:cNvSpPr/>
          <p:nvPr/>
        </p:nvSpPr>
        <p:spPr>
          <a:xfrm>
            <a:off x="4709160" y="1691640"/>
            <a:ext cx="91" cy="2011680"/>
          </a:xfrm>
          <a:prstGeom prst="line">
            <a:avLst/>
          </a:prstGeom>
          <a:noFill/>
          <a:ln w="15875">
            <a:solidFill>
              <a:srgbClr val="2A1F3D"/>
            </a:solidFill>
            <a:prstDash val="solid"/>
          </a:ln>
        </p:spPr>
      </p:sp>
      <p:sp>
        <p:nvSpPr>
          <p:cNvPr id="81" name="Shape 79"/>
          <p:cNvSpPr/>
          <p:nvPr/>
        </p:nvSpPr>
        <p:spPr>
          <a:xfrm>
            <a:off x="5257800" y="1691640"/>
            <a:ext cx="91" cy="2011680"/>
          </a:xfrm>
          <a:prstGeom prst="line">
            <a:avLst/>
          </a:prstGeom>
          <a:noFill/>
          <a:ln w="15875">
            <a:solidFill>
              <a:srgbClr val="2A1F3D"/>
            </a:solidFill>
            <a:prstDash val="solid"/>
          </a:ln>
        </p:spPr>
      </p:sp>
      <p:sp>
        <p:nvSpPr>
          <p:cNvPr id="82" name="Shape 80"/>
          <p:cNvSpPr/>
          <p:nvPr/>
        </p:nvSpPr>
        <p:spPr>
          <a:xfrm>
            <a:off x="5276088" y="2697480"/>
            <a:ext cx="256032" cy="91"/>
          </a:xfrm>
          <a:prstGeom prst="line">
            <a:avLst/>
          </a:prstGeom>
          <a:noFill/>
          <a:ln w="15875">
            <a:solidFill>
              <a:srgbClr val="2E8B57"/>
            </a:solidFill>
            <a:prstDash val="solid"/>
          </a:ln>
        </p:spPr>
      </p:sp>
      <p:sp>
        <p:nvSpPr>
          <p:cNvPr id="83" name="Text 81"/>
          <p:cNvSpPr/>
          <p:nvPr/>
        </p:nvSpPr>
        <p:spPr>
          <a:xfrm>
            <a:off x="4434840" y="3776472"/>
            <a:ext cx="118872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final: </a:t>
            </a:r>
            <a:r>
              <a:rPr lang="en-US" sz="1050" b="1" dirty="0">
                <a:solidFill>
                  <a:srgbClr val="262B3A"/>
                </a:solidFill>
                <a:latin typeface="Calibri" pitchFamily="34" charset="0"/>
                <a:ea typeface="Calibri" pitchFamily="34" charset="-122"/>
                <a:cs typeface="Calibri" pitchFamily="34" charset="-120"/>
              </a:rPr>
              <a:t>22.65 cm³</a:t>
            </a:r>
            <a:endParaRPr lang="en-US" sz="1050" dirty="0"/>
          </a:p>
        </p:txBody>
      </p:sp>
      <p:sp>
        <p:nvSpPr>
          <p:cNvPr id="84" name="Shape 82"/>
          <p:cNvSpPr/>
          <p:nvPr/>
        </p:nvSpPr>
        <p:spPr>
          <a:xfrm>
            <a:off x="3063240" y="4251960"/>
            <a:ext cx="2743200" cy="384048"/>
          </a:xfrm>
          <a:prstGeom prst="roundRect">
            <a:avLst>
              <a:gd name="adj" fmla="val 14286"/>
            </a:avLst>
          </a:prstGeom>
          <a:solidFill>
            <a:srgbClr val="E3F0FB"/>
          </a:solidFill>
          <a:ln w="12700">
            <a:solidFill>
              <a:srgbClr val="6A3FA0"/>
            </a:solidFill>
            <a:prstDash val="solid"/>
          </a:ln>
        </p:spPr>
      </p:sp>
      <p:sp>
        <p:nvSpPr>
          <p:cNvPr id="85" name="Text 83"/>
          <p:cNvSpPr/>
          <p:nvPr/>
        </p:nvSpPr>
        <p:spPr>
          <a:xfrm>
            <a:off x="3118104" y="4251960"/>
            <a:ext cx="2633472" cy="384048"/>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titre = 22.65 − 0.20 = </a:t>
            </a:r>
            <a:r>
              <a:rPr lang="en-US" sz="1100" b="1" dirty="0">
                <a:solidFill>
                  <a:srgbClr val="262B3A"/>
                </a:solidFill>
                <a:latin typeface="Calibri" pitchFamily="34" charset="0"/>
                <a:ea typeface="Calibri" pitchFamily="34" charset="-122"/>
                <a:cs typeface="Calibri" pitchFamily="34" charset="-120"/>
              </a:rPr>
              <a:t>22.45 cm³</a:t>
            </a:r>
            <a:endParaRPr lang="en-US" sz="1100" dirty="0"/>
          </a:p>
        </p:txBody>
      </p:sp>
      <p:sp>
        <p:nvSpPr>
          <p:cNvPr id="86" name="Text 84"/>
          <p:cNvSpPr/>
          <p:nvPr/>
        </p:nvSpPr>
        <p:spPr>
          <a:xfrm>
            <a:off x="3017520" y="4709160"/>
            <a:ext cx="283464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read the </a:t>
            </a:r>
            <a:r>
              <a:rPr lang="en-US" sz="1000" b="1" dirty="0">
                <a:solidFill>
                  <a:srgbClr val="262B3A"/>
                </a:solidFill>
                <a:latin typeface="Calibri" pitchFamily="34" charset="0"/>
                <a:ea typeface="Calibri" pitchFamily="34" charset="-122"/>
                <a:cs typeface="Calibri" pitchFamily="34" charset="-120"/>
              </a:rPr>
              <a:t>bottom of the meniscus</a:t>
            </a:r>
            <a:r>
              <a:rPr lang="en-US" sz="1000" dirty="0">
                <a:solidFill>
                  <a:srgbClr val="262B3A"/>
                </a:solidFill>
                <a:latin typeface="Calibri" pitchFamily="34" charset="0"/>
                <a:ea typeface="Calibri" pitchFamily="34" charset="-122"/>
                <a:cs typeface="Calibri" pitchFamily="34" charset="-120"/>
              </a:rPr>
              <a:t> at eye level, to </a:t>
            </a:r>
            <a:r>
              <a:rPr lang="en-US" sz="1000" b="1" dirty="0">
                <a:solidFill>
                  <a:srgbClr val="262B3A"/>
                </a:solidFill>
                <a:latin typeface="Calibri" pitchFamily="34" charset="0"/>
                <a:ea typeface="Calibri" pitchFamily="34" charset="-122"/>
                <a:cs typeface="Calibri" pitchFamily="34" charset="-120"/>
              </a:rPr>
              <a:t>0.05 cm³</a:t>
            </a:r>
            <a:endParaRPr lang="en-US" sz="1000" dirty="0"/>
          </a:p>
        </p:txBody>
      </p:sp>
      <p:sp>
        <p:nvSpPr>
          <p:cNvPr id="87" name="Shape 85"/>
          <p:cNvSpPr/>
          <p:nvPr/>
        </p:nvSpPr>
        <p:spPr>
          <a:xfrm>
            <a:off x="6217920" y="1188720"/>
            <a:ext cx="5562295" cy="3246120"/>
          </a:xfrm>
          <a:prstGeom prst="roundRect">
            <a:avLst>
              <a:gd name="adj" fmla="val 1690"/>
            </a:avLst>
          </a:prstGeom>
          <a:solidFill>
            <a:srgbClr val="F8F5FC"/>
          </a:solidFill>
          <a:ln w="9525">
            <a:solidFill>
              <a:srgbClr val="DDD3EC"/>
            </a:solidFill>
            <a:prstDash val="solid"/>
          </a:ln>
        </p:spPr>
      </p:sp>
      <p:sp>
        <p:nvSpPr>
          <p:cNvPr id="88" name="Text 8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89" name="Text 87"/>
          <p:cNvSpPr/>
          <p:nvPr/>
        </p:nvSpPr>
        <p:spPr>
          <a:xfrm>
            <a:off x="6382512" y="1609344"/>
            <a:ext cx="5233111" cy="27523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Rinse the pipette with alkali and the burette with </a:t>
            </a:r>
            <a:r>
              <a:rPr lang="en-US" sz="1050" b="1" dirty="0">
                <a:solidFill>
                  <a:srgbClr val="262B3A"/>
                </a:solidFill>
                <a:latin typeface="Calibri" pitchFamily="34" charset="0"/>
                <a:ea typeface="Calibri" pitchFamily="34" charset="-122"/>
                <a:cs typeface="Calibri" pitchFamily="34" charset="-120"/>
              </a:rPr>
              <a:t>acid</a:t>
            </a:r>
            <a:r>
              <a:rPr lang="en-US" sz="1050" dirty="0">
                <a:solidFill>
                  <a:srgbClr val="262B3A"/>
                </a:solidFill>
                <a:latin typeface="Calibri" pitchFamily="34" charset="0"/>
                <a:ea typeface="Calibri" pitchFamily="34" charset="-122"/>
                <a:cs typeface="Calibri" pitchFamily="34" charset="-120"/>
              </a:rPr>
              <a:t>. Fill the burette; run some acid through the </a:t>
            </a:r>
            <a:r>
              <a:rPr lang="en-US" sz="1050" b="1" dirty="0">
                <a:solidFill>
                  <a:srgbClr val="262B3A"/>
                </a:solidFill>
                <a:latin typeface="Calibri" pitchFamily="34" charset="0"/>
                <a:ea typeface="Calibri" pitchFamily="34" charset="-122"/>
                <a:cs typeface="Calibri" pitchFamily="34" charset="-120"/>
              </a:rPr>
              <a:t>jet</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Pipette </a:t>
            </a:r>
            <a:r>
              <a:rPr lang="en-US" sz="1050" b="1" dirty="0">
                <a:solidFill>
                  <a:srgbClr val="262B3A"/>
                </a:solidFill>
                <a:latin typeface="Calibri" pitchFamily="34" charset="0"/>
                <a:ea typeface="Calibri" pitchFamily="34" charset="-122"/>
                <a:cs typeface="Calibri" pitchFamily="34" charset="-120"/>
              </a:rPr>
              <a:t>25.0 cm³</a:t>
            </a:r>
            <a:r>
              <a:rPr lang="en-US" sz="1050" dirty="0">
                <a:solidFill>
                  <a:srgbClr val="262B3A"/>
                </a:solidFill>
                <a:latin typeface="Calibri" pitchFamily="34" charset="0"/>
                <a:ea typeface="Calibri" pitchFamily="34" charset="-122"/>
                <a:cs typeface="Calibri" pitchFamily="34" charset="-120"/>
              </a:rPr>
              <a:t> of 0.100 mol/dm³ NaOH into a conical flask; add 3 drops of </a:t>
            </a:r>
            <a:r>
              <a:rPr lang="en-US" sz="1050" b="1" dirty="0">
                <a:solidFill>
                  <a:srgbClr val="262B3A"/>
                </a:solidFill>
                <a:latin typeface="Calibri" pitchFamily="34" charset="0"/>
                <a:ea typeface="Calibri" pitchFamily="34" charset="-122"/>
                <a:cs typeface="Calibri" pitchFamily="34" charset="-120"/>
              </a:rPr>
              <a:t>phenolphthalein</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Rough</a:t>
            </a:r>
            <a:r>
              <a:rPr lang="en-US" sz="1050" dirty="0">
                <a:solidFill>
                  <a:srgbClr val="262B3A"/>
                </a:solidFill>
                <a:latin typeface="Calibri" pitchFamily="34" charset="0"/>
                <a:ea typeface="Calibri" pitchFamily="34" charset="-122"/>
                <a:cs typeface="Calibri" pitchFamily="34" charset="-120"/>
              </a:rPr>
              <a:t> titration: add acid quickly, swirling, until colourless. Then repeat, adding acid </a:t>
            </a:r>
            <a:r>
              <a:rPr lang="en-US" sz="1050" b="1" dirty="0">
                <a:solidFill>
                  <a:srgbClr val="262B3A"/>
                </a:solidFill>
                <a:latin typeface="Calibri" pitchFamily="34" charset="0"/>
                <a:ea typeface="Calibri" pitchFamily="34" charset="-122"/>
                <a:cs typeface="Calibri" pitchFamily="34" charset="-120"/>
              </a:rPr>
              <a:t>dropwise</a:t>
            </a:r>
            <a:r>
              <a:rPr lang="en-US" sz="1050" dirty="0">
                <a:solidFill>
                  <a:srgbClr val="262B3A"/>
                </a:solidFill>
                <a:latin typeface="Calibri" pitchFamily="34" charset="0"/>
                <a:ea typeface="Calibri" pitchFamily="34" charset="-122"/>
                <a:cs typeface="Calibri" pitchFamily="34" charset="-120"/>
              </a:rPr>
              <a:t> near the end point.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Record </a:t>
            </a:r>
            <a:r>
              <a:rPr lang="en-US" sz="1050" b="1" dirty="0">
                <a:solidFill>
                  <a:srgbClr val="262B3A"/>
                </a:solidFill>
                <a:latin typeface="Calibri" pitchFamily="34" charset="0"/>
                <a:ea typeface="Calibri" pitchFamily="34" charset="-122"/>
                <a:cs typeface="Calibri" pitchFamily="34" charset="-120"/>
              </a:rPr>
              <a:t>initial</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final</a:t>
            </a:r>
            <a:r>
              <a:rPr lang="en-US" sz="1050" dirty="0">
                <a:solidFill>
                  <a:srgbClr val="262B3A"/>
                </a:solidFill>
                <a:latin typeface="Calibri" pitchFamily="34" charset="0"/>
                <a:ea typeface="Calibri" pitchFamily="34" charset="-122"/>
                <a:cs typeface="Calibri" pitchFamily="34" charset="-120"/>
              </a:rPr>
              <a:t> readings to 0.05 cm³. Repeat until </a:t>
            </a:r>
            <a:r>
              <a:rPr lang="en-US" sz="1050" b="1" dirty="0">
                <a:solidFill>
                  <a:srgbClr val="262B3A"/>
                </a:solidFill>
                <a:latin typeface="Calibri" pitchFamily="34" charset="0"/>
                <a:ea typeface="Calibri" pitchFamily="34" charset="-122"/>
                <a:cs typeface="Calibri" pitchFamily="34" charset="-120"/>
              </a:rPr>
              <a:t>concordant</a:t>
            </a:r>
            <a:r>
              <a:rPr lang="en-US" sz="1050" dirty="0">
                <a:solidFill>
                  <a:srgbClr val="262B3A"/>
                </a:solidFill>
                <a:latin typeface="Calibri" pitchFamily="34" charset="0"/>
                <a:ea typeface="Calibri" pitchFamily="34" charset="-122"/>
                <a:cs typeface="Calibri" pitchFamily="34" charset="-120"/>
              </a:rPr>
              <a:t> (within </a:t>
            </a:r>
            <a:r>
              <a:rPr lang="en-US" sz="1050" b="1" dirty="0">
                <a:solidFill>
                  <a:srgbClr val="262B3A"/>
                </a:solidFill>
                <a:latin typeface="Calibri" pitchFamily="34" charset="0"/>
                <a:ea typeface="Calibri" pitchFamily="34" charset="-122"/>
                <a:cs typeface="Calibri" pitchFamily="34" charset="-120"/>
              </a:rPr>
              <a:t>0.10 cm³</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Measured</a:t>
            </a:r>
            <a:r>
              <a:rPr lang="en-US" sz="1050" dirty="0">
                <a:solidFill>
                  <a:srgbClr val="262B3A"/>
                </a:solidFill>
                <a:latin typeface="Calibri" pitchFamily="34" charset="0"/>
                <a:ea typeface="Calibri" pitchFamily="34" charset="-122"/>
                <a:cs typeface="Calibri" pitchFamily="34" charset="-120"/>
              </a:rPr>
              <a:t>: the titre. </a:t>
            </a:r>
            <a:r>
              <a:rPr lang="en-US" sz="1050" b="1" dirty="0">
                <a:solidFill>
                  <a:srgbClr val="262B3A"/>
                </a:solidFill>
                <a:latin typeface="Calibri" pitchFamily="34" charset="0"/>
                <a:ea typeface="Calibri" pitchFamily="34" charset="-122"/>
                <a:cs typeface="Calibri" pitchFamily="34" charset="-120"/>
              </a:rPr>
              <a:t>Control</a:t>
            </a:r>
            <a:r>
              <a:rPr lang="en-US" sz="1050" dirty="0">
                <a:solidFill>
                  <a:srgbClr val="262B3A"/>
                </a:solidFill>
                <a:latin typeface="Calibri" pitchFamily="34" charset="0"/>
                <a:ea typeface="Calibri" pitchFamily="34" charset="-122"/>
                <a:cs typeface="Calibri" pitchFamily="34" charset="-120"/>
              </a:rPr>
              <a:t>: same pipette volume, same indicator and number of drops, swirl each time.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eye protection; NaOH 0.1 mol/dm³ </a:t>
            </a:r>
            <a:r>
              <a:rPr lang="en-US" sz="1050" b="1" dirty="0">
                <a:solidFill>
                  <a:srgbClr val="262B3A"/>
                </a:solidFill>
                <a:latin typeface="Calibri" pitchFamily="34" charset="0"/>
                <a:ea typeface="Calibri" pitchFamily="34" charset="-122"/>
                <a:cs typeface="Calibri" pitchFamily="34" charset="-120"/>
              </a:rPr>
              <a:t>IRRITANT</a:t>
            </a:r>
            <a:r>
              <a:rPr lang="en-US" sz="1050" dirty="0">
                <a:solidFill>
                  <a:srgbClr val="262B3A"/>
                </a:solidFill>
                <a:latin typeface="Calibri" pitchFamily="34" charset="0"/>
                <a:ea typeface="Calibri" pitchFamily="34" charset="-122"/>
                <a:cs typeface="Calibri" pitchFamily="34" charset="-120"/>
              </a:rPr>
              <a:t>; fill burette below eye level.</a:t>
            </a:r>
            <a:endParaRPr lang="en-US" sz="1050" dirty="0"/>
          </a:p>
        </p:txBody>
      </p:sp>
      <p:sp>
        <p:nvSpPr>
          <p:cNvPr id="90" name="Shape 88"/>
          <p:cNvSpPr/>
          <p:nvPr/>
        </p:nvSpPr>
        <p:spPr>
          <a:xfrm>
            <a:off x="6217920" y="4572000"/>
            <a:ext cx="5562295" cy="1143000"/>
          </a:xfrm>
          <a:prstGeom prst="roundRect">
            <a:avLst>
              <a:gd name="adj" fmla="val 4800"/>
            </a:avLst>
          </a:prstGeom>
          <a:solidFill>
            <a:srgbClr val="FFF4E0"/>
          </a:solidFill>
          <a:ln w="9525">
            <a:solidFill>
              <a:srgbClr val="F1D9A8"/>
            </a:solidFill>
            <a:prstDash val="solid"/>
          </a:ln>
        </p:spPr>
      </p:sp>
      <p:sp>
        <p:nvSpPr>
          <p:cNvPr id="91" name="Text 89"/>
          <p:cNvSpPr/>
          <p:nvPr/>
        </p:nvSpPr>
        <p:spPr>
          <a:xfrm>
            <a:off x="6382512" y="4645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 titre</a:t>
            </a:r>
            <a:endParaRPr lang="en-US" sz="1300" dirty="0"/>
          </a:p>
        </p:txBody>
      </p:sp>
      <p:sp>
        <p:nvSpPr>
          <p:cNvPr id="92" name="Text 90"/>
          <p:cNvSpPr/>
          <p:nvPr/>
        </p:nvSpPr>
        <p:spPr>
          <a:xfrm>
            <a:off x="6382512" y="4956048"/>
            <a:ext cx="5233111" cy="6858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Initial reading 0.20 cm³; final reading 22.65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Titre   </a:t>
            </a:r>
            <a:r>
              <a:rPr lang="en-US" sz="1050" dirty="0">
                <a:solidFill>
                  <a:srgbClr val="262B3A"/>
                </a:solidFill>
                <a:latin typeface="Calibri" pitchFamily="34" charset="0"/>
                <a:ea typeface="Calibri" pitchFamily="34" charset="-122"/>
                <a:cs typeface="Calibri" pitchFamily="34" charset="-120"/>
              </a:rPr>
              <a:t>final − initial = 22.65 − 0.20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22.45 cm³</a:t>
            </a:r>
            <a:r>
              <a:rPr lang="en-US" sz="1050" b="1" dirty="0">
                <a:solidFill>
                  <a:srgbClr val="C8414C"/>
                </a:solidFill>
                <a:latin typeface="Calibri" pitchFamily="34" charset="0"/>
                <a:ea typeface="Calibri" pitchFamily="34" charset="-122"/>
                <a:cs typeface="Calibri" pitchFamily="34" charset="-120"/>
              </a:rPr>
              <a:t> (to 2 d.p.)</a:t>
            </a:r>
            <a:endParaRPr lang="en-US" sz="1050" dirty="0"/>
          </a:p>
        </p:txBody>
      </p:sp>
      <p:sp>
        <p:nvSpPr>
          <p:cNvPr id="93" name="Shape 91"/>
          <p:cNvSpPr/>
          <p:nvPr/>
        </p:nvSpPr>
        <p:spPr>
          <a:xfrm>
            <a:off x="411480" y="5833872"/>
            <a:ext cx="11368735" cy="530352"/>
          </a:xfrm>
          <a:prstGeom prst="rect">
            <a:avLst/>
          </a:prstGeom>
          <a:solidFill>
            <a:srgbClr val="FFF4E0"/>
          </a:solidFill>
          <a:ln w="6350">
            <a:solidFill>
              <a:srgbClr val="F1D9A8"/>
            </a:solidFill>
            <a:prstDash val="solid"/>
          </a:ln>
        </p:spPr>
      </p:sp>
      <p:sp>
        <p:nvSpPr>
          <p:cNvPr id="94" name="Shape 92"/>
          <p:cNvSpPr/>
          <p:nvPr/>
        </p:nvSpPr>
        <p:spPr>
          <a:xfrm>
            <a:off x="411480" y="5833872"/>
            <a:ext cx="82296" cy="530352"/>
          </a:xfrm>
          <a:prstGeom prst="rect">
            <a:avLst/>
          </a:prstGeom>
          <a:solidFill>
            <a:srgbClr val="E39A2F"/>
          </a:solidFill>
          <a:ln w="12700">
            <a:solidFill>
              <a:srgbClr val="E39A2F"/>
            </a:solidFill>
            <a:prstDash val="solid"/>
          </a:ln>
        </p:spPr>
      </p:sp>
      <p:sp>
        <p:nvSpPr>
          <p:cNvPr id="95" name="Text 9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burette rinsed with </a:t>
            </a:r>
            <a:r>
              <a:rPr lang="en-US" sz="1150" b="1" dirty="0">
                <a:solidFill>
                  <a:srgbClr val="262B3A"/>
                </a:solidFill>
                <a:latin typeface="Calibri" pitchFamily="34" charset="0"/>
                <a:ea typeface="Calibri" pitchFamily="34" charset="-122"/>
                <a:cs typeface="Calibri" pitchFamily="34" charset="-120"/>
              </a:rPr>
              <a:t>acid</a:t>
            </a:r>
            <a:r>
              <a:rPr lang="en-US" sz="1150" dirty="0">
                <a:solidFill>
                  <a:srgbClr val="262B3A"/>
                </a:solidFill>
                <a:latin typeface="Calibri" pitchFamily="34" charset="0"/>
                <a:ea typeface="Calibri" pitchFamily="34" charset="-122"/>
                <a:cs typeface="Calibri" pitchFamily="34" charset="-120"/>
              </a:rPr>
              <a:t> and not water? Why is the conical flask </a:t>
            </a:r>
            <a:r>
              <a:rPr lang="en-US" sz="1150" b="1" dirty="0">
                <a:solidFill>
                  <a:srgbClr val="262B3A"/>
                </a:solidFill>
                <a:latin typeface="Calibri" pitchFamily="34" charset="0"/>
                <a:ea typeface="Calibri" pitchFamily="34" charset="-122"/>
                <a:cs typeface="Calibri" pitchFamily="34" charset="-120"/>
              </a:rPr>
              <a:t>swirled</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C5.3.6 • results table, concordant titres, mean titre</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pH curve plotted to scale from pH-probe readings (illustrative data)</a:t>
            </a:r>
            <a:endParaRPr lang="en-US" sz="1000" dirty="0"/>
          </a:p>
        </p:txBody>
      </p:sp>
      <p:sp>
        <p:nvSpPr>
          <p:cNvPr id="12" name="Shape 10"/>
          <p:cNvSpPr/>
          <p:nvPr/>
        </p:nvSpPr>
        <p:spPr>
          <a:xfrm>
            <a:off x="1188720" y="2312126"/>
            <a:ext cx="4526280" cy="399723"/>
          </a:xfrm>
          <a:prstGeom prst="rect">
            <a:avLst/>
          </a:prstGeom>
          <a:solidFill>
            <a:srgbClr val="FBE3EE"/>
          </a:solidFill>
          <a:ln/>
        </p:spPr>
      </p:sp>
      <p:sp>
        <p:nvSpPr>
          <p:cNvPr id="13" name="Shape 11"/>
          <p:cNvSpPr/>
          <p:nvPr/>
        </p:nvSpPr>
        <p:spPr>
          <a:xfrm>
            <a:off x="1188720" y="1371600"/>
            <a:ext cx="4526280" cy="3291840"/>
          </a:xfrm>
          <a:prstGeom prst="rect">
            <a:avLst/>
          </a:prstGeom>
          <a:solidFill>
            <a:srgbClr val="FFFFFF"/>
          </a:solidFill>
          <a:ln/>
        </p:spPr>
      </p:sp>
      <p:sp>
        <p:nvSpPr>
          <p:cNvPr id="14" name="Shape 12"/>
          <p:cNvSpPr/>
          <p:nvPr/>
        </p:nvSpPr>
        <p:spPr>
          <a:xfrm>
            <a:off x="1188720" y="1371600"/>
            <a:ext cx="91" cy="3291840"/>
          </a:xfrm>
          <a:prstGeom prst="line">
            <a:avLst/>
          </a:prstGeom>
          <a:noFill/>
          <a:ln w="6350">
            <a:solidFill>
              <a:srgbClr val="D6CBE8"/>
            </a:solidFill>
            <a:prstDash val="solid"/>
          </a:ln>
        </p:spPr>
      </p:sp>
      <p:sp>
        <p:nvSpPr>
          <p:cNvPr id="15" name="Shape 13"/>
          <p:cNvSpPr/>
          <p:nvPr/>
        </p:nvSpPr>
        <p:spPr>
          <a:xfrm>
            <a:off x="1754505" y="1371600"/>
            <a:ext cx="91" cy="3291840"/>
          </a:xfrm>
          <a:prstGeom prst="line">
            <a:avLst/>
          </a:prstGeom>
          <a:noFill/>
          <a:ln w="6350">
            <a:solidFill>
              <a:srgbClr val="D6CBE8"/>
            </a:solidFill>
            <a:prstDash val="solid"/>
          </a:ln>
        </p:spPr>
      </p:sp>
      <p:sp>
        <p:nvSpPr>
          <p:cNvPr id="16" name="Shape 14"/>
          <p:cNvSpPr/>
          <p:nvPr/>
        </p:nvSpPr>
        <p:spPr>
          <a:xfrm>
            <a:off x="2320290" y="1371600"/>
            <a:ext cx="91" cy="3291840"/>
          </a:xfrm>
          <a:prstGeom prst="line">
            <a:avLst/>
          </a:prstGeom>
          <a:noFill/>
          <a:ln w="6350">
            <a:solidFill>
              <a:srgbClr val="D6CBE8"/>
            </a:solidFill>
            <a:prstDash val="solid"/>
          </a:ln>
        </p:spPr>
      </p:sp>
      <p:sp>
        <p:nvSpPr>
          <p:cNvPr id="17" name="Shape 15"/>
          <p:cNvSpPr/>
          <p:nvPr/>
        </p:nvSpPr>
        <p:spPr>
          <a:xfrm>
            <a:off x="2886075" y="1371600"/>
            <a:ext cx="91" cy="3291840"/>
          </a:xfrm>
          <a:prstGeom prst="line">
            <a:avLst/>
          </a:prstGeom>
          <a:noFill/>
          <a:ln w="6350">
            <a:solidFill>
              <a:srgbClr val="D6CBE8"/>
            </a:solidFill>
            <a:prstDash val="solid"/>
          </a:ln>
        </p:spPr>
      </p:sp>
      <p:sp>
        <p:nvSpPr>
          <p:cNvPr id="18" name="Shape 16"/>
          <p:cNvSpPr/>
          <p:nvPr/>
        </p:nvSpPr>
        <p:spPr>
          <a:xfrm>
            <a:off x="3451860" y="1371600"/>
            <a:ext cx="91" cy="3291840"/>
          </a:xfrm>
          <a:prstGeom prst="line">
            <a:avLst/>
          </a:prstGeom>
          <a:noFill/>
          <a:ln w="6350">
            <a:solidFill>
              <a:srgbClr val="D6CBE8"/>
            </a:solidFill>
            <a:prstDash val="solid"/>
          </a:ln>
        </p:spPr>
      </p:sp>
      <p:sp>
        <p:nvSpPr>
          <p:cNvPr id="19" name="Shape 17"/>
          <p:cNvSpPr/>
          <p:nvPr/>
        </p:nvSpPr>
        <p:spPr>
          <a:xfrm>
            <a:off x="4017645" y="1371600"/>
            <a:ext cx="91" cy="3291840"/>
          </a:xfrm>
          <a:prstGeom prst="line">
            <a:avLst/>
          </a:prstGeom>
          <a:noFill/>
          <a:ln w="6350">
            <a:solidFill>
              <a:srgbClr val="D6CBE8"/>
            </a:solidFill>
            <a:prstDash val="solid"/>
          </a:ln>
        </p:spPr>
      </p:sp>
      <p:sp>
        <p:nvSpPr>
          <p:cNvPr id="20" name="Shape 18"/>
          <p:cNvSpPr/>
          <p:nvPr/>
        </p:nvSpPr>
        <p:spPr>
          <a:xfrm>
            <a:off x="4583430" y="1371600"/>
            <a:ext cx="91" cy="3291840"/>
          </a:xfrm>
          <a:prstGeom prst="line">
            <a:avLst/>
          </a:prstGeom>
          <a:noFill/>
          <a:ln w="6350">
            <a:solidFill>
              <a:srgbClr val="D6CBE8"/>
            </a:solidFill>
            <a:prstDash val="solid"/>
          </a:ln>
        </p:spPr>
      </p:sp>
      <p:sp>
        <p:nvSpPr>
          <p:cNvPr id="21" name="Shape 19"/>
          <p:cNvSpPr/>
          <p:nvPr/>
        </p:nvSpPr>
        <p:spPr>
          <a:xfrm>
            <a:off x="5149215" y="1371600"/>
            <a:ext cx="91" cy="3291840"/>
          </a:xfrm>
          <a:prstGeom prst="line">
            <a:avLst/>
          </a:prstGeom>
          <a:noFill/>
          <a:ln w="6350">
            <a:solidFill>
              <a:srgbClr val="D6CBE8"/>
            </a:solidFill>
            <a:prstDash val="solid"/>
          </a:ln>
        </p:spPr>
      </p:sp>
      <p:sp>
        <p:nvSpPr>
          <p:cNvPr id="22" name="Shape 20"/>
          <p:cNvSpPr/>
          <p:nvPr/>
        </p:nvSpPr>
        <p:spPr>
          <a:xfrm>
            <a:off x="5715000" y="1371600"/>
            <a:ext cx="91" cy="3291840"/>
          </a:xfrm>
          <a:prstGeom prst="line">
            <a:avLst/>
          </a:prstGeom>
          <a:noFill/>
          <a:ln w="6350">
            <a:solidFill>
              <a:srgbClr val="D6CBE8"/>
            </a:solidFill>
            <a:prstDash val="solid"/>
          </a:ln>
        </p:spPr>
      </p:sp>
      <p:sp>
        <p:nvSpPr>
          <p:cNvPr id="23" name="Shape 21"/>
          <p:cNvSpPr/>
          <p:nvPr/>
        </p:nvSpPr>
        <p:spPr>
          <a:xfrm>
            <a:off x="1188720" y="4663440"/>
            <a:ext cx="4526280" cy="91"/>
          </a:xfrm>
          <a:prstGeom prst="line">
            <a:avLst/>
          </a:prstGeom>
          <a:noFill/>
          <a:ln w="6350">
            <a:solidFill>
              <a:srgbClr val="D6CBE8"/>
            </a:solidFill>
            <a:prstDash val="solid"/>
          </a:ln>
        </p:spPr>
      </p:sp>
      <p:sp>
        <p:nvSpPr>
          <p:cNvPr id="24" name="Shape 22"/>
          <p:cNvSpPr/>
          <p:nvPr/>
        </p:nvSpPr>
        <p:spPr>
          <a:xfrm>
            <a:off x="1188720" y="4193177"/>
            <a:ext cx="4526280" cy="91"/>
          </a:xfrm>
          <a:prstGeom prst="line">
            <a:avLst/>
          </a:prstGeom>
          <a:noFill/>
          <a:ln w="6350">
            <a:solidFill>
              <a:srgbClr val="D6CBE8"/>
            </a:solidFill>
            <a:prstDash val="solid"/>
          </a:ln>
        </p:spPr>
      </p:sp>
      <p:sp>
        <p:nvSpPr>
          <p:cNvPr id="25" name="Shape 23"/>
          <p:cNvSpPr/>
          <p:nvPr/>
        </p:nvSpPr>
        <p:spPr>
          <a:xfrm>
            <a:off x="1188720" y="3722914"/>
            <a:ext cx="4526280" cy="91"/>
          </a:xfrm>
          <a:prstGeom prst="line">
            <a:avLst/>
          </a:prstGeom>
          <a:noFill/>
          <a:ln w="6350">
            <a:solidFill>
              <a:srgbClr val="D6CBE8"/>
            </a:solidFill>
            <a:prstDash val="solid"/>
          </a:ln>
        </p:spPr>
      </p:sp>
      <p:sp>
        <p:nvSpPr>
          <p:cNvPr id="26" name="Shape 24"/>
          <p:cNvSpPr/>
          <p:nvPr/>
        </p:nvSpPr>
        <p:spPr>
          <a:xfrm>
            <a:off x="1188720" y="3252651"/>
            <a:ext cx="4526280" cy="91"/>
          </a:xfrm>
          <a:prstGeom prst="line">
            <a:avLst/>
          </a:prstGeom>
          <a:noFill/>
          <a:ln w="6350">
            <a:solidFill>
              <a:srgbClr val="D6CBE8"/>
            </a:solidFill>
            <a:prstDash val="solid"/>
          </a:ln>
        </p:spPr>
      </p:sp>
      <p:sp>
        <p:nvSpPr>
          <p:cNvPr id="27" name="Shape 25"/>
          <p:cNvSpPr/>
          <p:nvPr/>
        </p:nvSpPr>
        <p:spPr>
          <a:xfrm>
            <a:off x="1188720" y="2782389"/>
            <a:ext cx="4526280" cy="91"/>
          </a:xfrm>
          <a:prstGeom prst="line">
            <a:avLst/>
          </a:prstGeom>
          <a:noFill/>
          <a:ln w="6350">
            <a:solidFill>
              <a:srgbClr val="D6CBE8"/>
            </a:solidFill>
            <a:prstDash val="solid"/>
          </a:ln>
        </p:spPr>
      </p:sp>
      <p:sp>
        <p:nvSpPr>
          <p:cNvPr id="28" name="Shape 26"/>
          <p:cNvSpPr/>
          <p:nvPr/>
        </p:nvSpPr>
        <p:spPr>
          <a:xfrm>
            <a:off x="1188720" y="2312126"/>
            <a:ext cx="4526280" cy="91"/>
          </a:xfrm>
          <a:prstGeom prst="line">
            <a:avLst/>
          </a:prstGeom>
          <a:noFill/>
          <a:ln w="6350">
            <a:solidFill>
              <a:srgbClr val="D6CBE8"/>
            </a:solidFill>
            <a:prstDash val="solid"/>
          </a:ln>
        </p:spPr>
      </p:sp>
      <p:sp>
        <p:nvSpPr>
          <p:cNvPr id="29" name="Shape 27"/>
          <p:cNvSpPr/>
          <p:nvPr/>
        </p:nvSpPr>
        <p:spPr>
          <a:xfrm>
            <a:off x="1188720" y="1841863"/>
            <a:ext cx="4526280" cy="91"/>
          </a:xfrm>
          <a:prstGeom prst="line">
            <a:avLst/>
          </a:prstGeom>
          <a:noFill/>
          <a:ln w="6350">
            <a:solidFill>
              <a:srgbClr val="D6CBE8"/>
            </a:solidFill>
            <a:prstDash val="solid"/>
          </a:ln>
        </p:spPr>
      </p:sp>
      <p:sp>
        <p:nvSpPr>
          <p:cNvPr id="30" name="Shape 28"/>
          <p:cNvSpPr/>
          <p:nvPr/>
        </p:nvSpPr>
        <p:spPr>
          <a:xfrm>
            <a:off x="1188720" y="1371600"/>
            <a:ext cx="4526280" cy="91"/>
          </a:xfrm>
          <a:prstGeom prst="line">
            <a:avLst/>
          </a:prstGeom>
          <a:noFill/>
          <a:ln w="6350">
            <a:solidFill>
              <a:srgbClr val="D6CBE8"/>
            </a:solidFill>
            <a:prstDash val="solid"/>
          </a:ln>
        </p:spPr>
      </p:sp>
      <p:sp>
        <p:nvSpPr>
          <p:cNvPr id="31" name="Shape 29"/>
          <p:cNvSpPr/>
          <p:nvPr/>
        </p:nvSpPr>
        <p:spPr>
          <a:xfrm>
            <a:off x="1188720" y="4663440"/>
            <a:ext cx="4526280" cy="91"/>
          </a:xfrm>
          <a:prstGeom prst="line">
            <a:avLst/>
          </a:prstGeom>
          <a:noFill/>
          <a:ln w="19050">
            <a:solidFill>
              <a:srgbClr val="2A1F3D"/>
            </a:solidFill>
            <a:prstDash val="solid"/>
          </a:ln>
        </p:spPr>
      </p:sp>
      <p:sp>
        <p:nvSpPr>
          <p:cNvPr id="32" name="Shape 30"/>
          <p:cNvSpPr/>
          <p:nvPr/>
        </p:nvSpPr>
        <p:spPr>
          <a:xfrm flipV="1">
            <a:off x="1188720" y="1371600"/>
            <a:ext cx="91" cy="3291840"/>
          </a:xfrm>
          <a:prstGeom prst="line">
            <a:avLst/>
          </a:prstGeom>
          <a:noFill/>
          <a:ln w="19050">
            <a:solidFill>
              <a:srgbClr val="2A1F3D"/>
            </a:solidFill>
            <a:prstDash val="solid"/>
          </a:ln>
        </p:spPr>
      </p:sp>
      <p:sp>
        <p:nvSpPr>
          <p:cNvPr id="33" name="Shape 31"/>
          <p:cNvSpPr/>
          <p:nvPr/>
        </p:nvSpPr>
        <p:spPr>
          <a:xfrm>
            <a:off x="1188720" y="4663440"/>
            <a:ext cx="91" cy="54864"/>
          </a:xfrm>
          <a:prstGeom prst="line">
            <a:avLst/>
          </a:prstGeom>
          <a:noFill/>
          <a:ln w="12700">
            <a:solidFill>
              <a:srgbClr val="2A1F3D"/>
            </a:solidFill>
            <a:prstDash val="solid"/>
          </a:ln>
        </p:spPr>
      </p:sp>
      <p:sp>
        <p:nvSpPr>
          <p:cNvPr id="34" name="Text 32"/>
          <p:cNvSpPr/>
          <p:nvPr/>
        </p:nvSpPr>
        <p:spPr>
          <a:xfrm>
            <a:off x="91440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5" name="Shape 33"/>
          <p:cNvSpPr/>
          <p:nvPr/>
        </p:nvSpPr>
        <p:spPr>
          <a:xfrm>
            <a:off x="1754505" y="4663440"/>
            <a:ext cx="91" cy="54864"/>
          </a:xfrm>
          <a:prstGeom prst="line">
            <a:avLst/>
          </a:prstGeom>
          <a:noFill/>
          <a:ln w="12700">
            <a:solidFill>
              <a:srgbClr val="2A1F3D"/>
            </a:solidFill>
            <a:prstDash val="solid"/>
          </a:ln>
        </p:spPr>
      </p:sp>
      <p:sp>
        <p:nvSpPr>
          <p:cNvPr id="36" name="Text 34"/>
          <p:cNvSpPr/>
          <p:nvPr/>
        </p:nvSpPr>
        <p:spPr>
          <a:xfrm>
            <a:off x="1480185"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37" name="Shape 35"/>
          <p:cNvSpPr/>
          <p:nvPr/>
        </p:nvSpPr>
        <p:spPr>
          <a:xfrm>
            <a:off x="2320290" y="4663440"/>
            <a:ext cx="91" cy="54864"/>
          </a:xfrm>
          <a:prstGeom prst="line">
            <a:avLst/>
          </a:prstGeom>
          <a:noFill/>
          <a:ln w="12700">
            <a:solidFill>
              <a:srgbClr val="2A1F3D"/>
            </a:solidFill>
            <a:prstDash val="solid"/>
          </a:ln>
        </p:spPr>
      </p:sp>
      <p:sp>
        <p:nvSpPr>
          <p:cNvPr id="38" name="Text 36"/>
          <p:cNvSpPr/>
          <p:nvPr/>
        </p:nvSpPr>
        <p:spPr>
          <a:xfrm>
            <a:off x="204597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39" name="Shape 37"/>
          <p:cNvSpPr/>
          <p:nvPr/>
        </p:nvSpPr>
        <p:spPr>
          <a:xfrm>
            <a:off x="2886075" y="4663440"/>
            <a:ext cx="91" cy="54864"/>
          </a:xfrm>
          <a:prstGeom prst="line">
            <a:avLst/>
          </a:prstGeom>
          <a:noFill/>
          <a:ln w="12700">
            <a:solidFill>
              <a:srgbClr val="2A1F3D"/>
            </a:solidFill>
            <a:prstDash val="solid"/>
          </a:ln>
        </p:spPr>
      </p:sp>
      <p:sp>
        <p:nvSpPr>
          <p:cNvPr id="40" name="Text 38"/>
          <p:cNvSpPr/>
          <p:nvPr/>
        </p:nvSpPr>
        <p:spPr>
          <a:xfrm>
            <a:off x="2611755"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1" name="Shape 39"/>
          <p:cNvSpPr/>
          <p:nvPr/>
        </p:nvSpPr>
        <p:spPr>
          <a:xfrm>
            <a:off x="3451860" y="4663440"/>
            <a:ext cx="91" cy="54864"/>
          </a:xfrm>
          <a:prstGeom prst="line">
            <a:avLst/>
          </a:prstGeom>
          <a:noFill/>
          <a:ln w="12700">
            <a:solidFill>
              <a:srgbClr val="2A1F3D"/>
            </a:solidFill>
            <a:prstDash val="solid"/>
          </a:ln>
        </p:spPr>
      </p:sp>
      <p:sp>
        <p:nvSpPr>
          <p:cNvPr id="42" name="Text 40"/>
          <p:cNvSpPr/>
          <p:nvPr/>
        </p:nvSpPr>
        <p:spPr>
          <a:xfrm>
            <a:off x="317754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3" name="Shape 41"/>
          <p:cNvSpPr/>
          <p:nvPr/>
        </p:nvSpPr>
        <p:spPr>
          <a:xfrm>
            <a:off x="4017645" y="4663440"/>
            <a:ext cx="91" cy="54864"/>
          </a:xfrm>
          <a:prstGeom prst="line">
            <a:avLst/>
          </a:prstGeom>
          <a:noFill/>
          <a:ln w="12700">
            <a:solidFill>
              <a:srgbClr val="2A1F3D"/>
            </a:solidFill>
            <a:prstDash val="solid"/>
          </a:ln>
        </p:spPr>
      </p:sp>
      <p:sp>
        <p:nvSpPr>
          <p:cNvPr id="44" name="Text 42"/>
          <p:cNvSpPr/>
          <p:nvPr/>
        </p:nvSpPr>
        <p:spPr>
          <a:xfrm>
            <a:off x="3743325"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5" name="Shape 43"/>
          <p:cNvSpPr/>
          <p:nvPr/>
        </p:nvSpPr>
        <p:spPr>
          <a:xfrm>
            <a:off x="4583430" y="4663440"/>
            <a:ext cx="91" cy="54864"/>
          </a:xfrm>
          <a:prstGeom prst="line">
            <a:avLst/>
          </a:prstGeom>
          <a:noFill/>
          <a:ln w="12700">
            <a:solidFill>
              <a:srgbClr val="2A1F3D"/>
            </a:solidFill>
            <a:prstDash val="solid"/>
          </a:ln>
        </p:spPr>
      </p:sp>
      <p:sp>
        <p:nvSpPr>
          <p:cNvPr id="46" name="Text 44"/>
          <p:cNvSpPr/>
          <p:nvPr/>
        </p:nvSpPr>
        <p:spPr>
          <a:xfrm>
            <a:off x="430911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7" name="Shape 45"/>
          <p:cNvSpPr/>
          <p:nvPr/>
        </p:nvSpPr>
        <p:spPr>
          <a:xfrm>
            <a:off x="5149215" y="4663440"/>
            <a:ext cx="91" cy="54864"/>
          </a:xfrm>
          <a:prstGeom prst="line">
            <a:avLst/>
          </a:prstGeom>
          <a:noFill/>
          <a:ln w="12700">
            <a:solidFill>
              <a:srgbClr val="2A1F3D"/>
            </a:solidFill>
            <a:prstDash val="solid"/>
          </a:ln>
        </p:spPr>
      </p:sp>
      <p:sp>
        <p:nvSpPr>
          <p:cNvPr id="48" name="Text 46"/>
          <p:cNvSpPr/>
          <p:nvPr/>
        </p:nvSpPr>
        <p:spPr>
          <a:xfrm>
            <a:off x="4874895"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p>
        </p:txBody>
      </p:sp>
      <p:sp>
        <p:nvSpPr>
          <p:cNvPr id="49" name="Shape 47"/>
          <p:cNvSpPr/>
          <p:nvPr/>
        </p:nvSpPr>
        <p:spPr>
          <a:xfrm>
            <a:off x="5715000" y="4663440"/>
            <a:ext cx="91" cy="54864"/>
          </a:xfrm>
          <a:prstGeom prst="line">
            <a:avLst/>
          </a:prstGeom>
          <a:noFill/>
          <a:ln w="12700">
            <a:solidFill>
              <a:srgbClr val="2A1F3D"/>
            </a:solidFill>
            <a:prstDash val="solid"/>
          </a:ln>
        </p:spPr>
      </p:sp>
      <p:sp>
        <p:nvSpPr>
          <p:cNvPr id="50" name="Text 48"/>
          <p:cNvSpPr/>
          <p:nvPr/>
        </p:nvSpPr>
        <p:spPr>
          <a:xfrm>
            <a:off x="54406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1" name="Shape 49"/>
          <p:cNvSpPr/>
          <p:nvPr/>
        </p:nvSpPr>
        <p:spPr>
          <a:xfrm>
            <a:off x="1133856" y="4663440"/>
            <a:ext cx="54864" cy="91"/>
          </a:xfrm>
          <a:prstGeom prst="line">
            <a:avLst/>
          </a:prstGeom>
          <a:noFill/>
          <a:ln w="12700">
            <a:solidFill>
              <a:srgbClr val="2A1F3D"/>
            </a:solidFill>
            <a:prstDash val="solid"/>
          </a:ln>
        </p:spPr>
      </p:sp>
      <p:sp>
        <p:nvSpPr>
          <p:cNvPr id="52" name="Text 50"/>
          <p:cNvSpPr/>
          <p:nvPr/>
        </p:nvSpPr>
        <p:spPr>
          <a:xfrm>
            <a:off x="749808"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3" name="Shape 51"/>
          <p:cNvSpPr/>
          <p:nvPr/>
        </p:nvSpPr>
        <p:spPr>
          <a:xfrm>
            <a:off x="1133856" y="4193177"/>
            <a:ext cx="54864" cy="91"/>
          </a:xfrm>
          <a:prstGeom prst="line">
            <a:avLst/>
          </a:prstGeom>
          <a:noFill/>
          <a:ln w="12700">
            <a:solidFill>
              <a:srgbClr val="2A1F3D"/>
            </a:solidFill>
            <a:prstDash val="solid"/>
          </a:ln>
        </p:spPr>
      </p:sp>
      <p:sp>
        <p:nvSpPr>
          <p:cNvPr id="54" name="Text 52"/>
          <p:cNvSpPr/>
          <p:nvPr/>
        </p:nvSpPr>
        <p:spPr>
          <a:xfrm>
            <a:off x="749808" y="410173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5" name="Shape 53"/>
          <p:cNvSpPr/>
          <p:nvPr/>
        </p:nvSpPr>
        <p:spPr>
          <a:xfrm>
            <a:off x="1133856" y="3722914"/>
            <a:ext cx="54864" cy="91"/>
          </a:xfrm>
          <a:prstGeom prst="line">
            <a:avLst/>
          </a:prstGeom>
          <a:noFill/>
          <a:ln w="12700">
            <a:solidFill>
              <a:srgbClr val="2A1F3D"/>
            </a:solidFill>
            <a:prstDash val="solid"/>
          </a:ln>
        </p:spPr>
      </p:sp>
      <p:sp>
        <p:nvSpPr>
          <p:cNvPr id="56" name="Text 54"/>
          <p:cNvSpPr/>
          <p:nvPr/>
        </p:nvSpPr>
        <p:spPr>
          <a:xfrm>
            <a:off x="749808" y="363147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7" name="Shape 55"/>
          <p:cNvSpPr/>
          <p:nvPr/>
        </p:nvSpPr>
        <p:spPr>
          <a:xfrm>
            <a:off x="1133856" y="3252651"/>
            <a:ext cx="54864" cy="91"/>
          </a:xfrm>
          <a:prstGeom prst="line">
            <a:avLst/>
          </a:prstGeom>
          <a:noFill/>
          <a:ln w="12700">
            <a:solidFill>
              <a:srgbClr val="2A1F3D"/>
            </a:solidFill>
            <a:prstDash val="solid"/>
          </a:ln>
        </p:spPr>
      </p:sp>
      <p:sp>
        <p:nvSpPr>
          <p:cNvPr id="58" name="Text 56"/>
          <p:cNvSpPr/>
          <p:nvPr/>
        </p:nvSpPr>
        <p:spPr>
          <a:xfrm>
            <a:off x="749808" y="316121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9" name="Shape 57"/>
          <p:cNvSpPr/>
          <p:nvPr/>
        </p:nvSpPr>
        <p:spPr>
          <a:xfrm>
            <a:off x="1133856" y="2782389"/>
            <a:ext cx="54864" cy="91"/>
          </a:xfrm>
          <a:prstGeom prst="line">
            <a:avLst/>
          </a:prstGeom>
          <a:noFill/>
          <a:ln w="12700">
            <a:solidFill>
              <a:srgbClr val="2A1F3D"/>
            </a:solidFill>
            <a:prstDash val="solid"/>
          </a:ln>
        </p:spPr>
      </p:sp>
      <p:sp>
        <p:nvSpPr>
          <p:cNvPr id="60" name="Text 58"/>
          <p:cNvSpPr/>
          <p:nvPr/>
        </p:nvSpPr>
        <p:spPr>
          <a:xfrm>
            <a:off x="749808" y="269094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1" name="Shape 59"/>
          <p:cNvSpPr/>
          <p:nvPr/>
        </p:nvSpPr>
        <p:spPr>
          <a:xfrm>
            <a:off x="1133856" y="2312126"/>
            <a:ext cx="54864" cy="91"/>
          </a:xfrm>
          <a:prstGeom prst="line">
            <a:avLst/>
          </a:prstGeom>
          <a:noFill/>
          <a:ln w="12700">
            <a:solidFill>
              <a:srgbClr val="2A1F3D"/>
            </a:solidFill>
            <a:prstDash val="solid"/>
          </a:ln>
        </p:spPr>
      </p:sp>
      <p:sp>
        <p:nvSpPr>
          <p:cNvPr id="62" name="Text 60"/>
          <p:cNvSpPr/>
          <p:nvPr/>
        </p:nvSpPr>
        <p:spPr>
          <a:xfrm>
            <a:off x="749808" y="222068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3" name="Shape 61"/>
          <p:cNvSpPr/>
          <p:nvPr/>
        </p:nvSpPr>
        <p:spPr>
          <a:xfrm>
            <a:off x="1133856" y="1841863"/>
            <a:ext cx="54864" cy="91"/>
          </a:xfrm>
          <a:prstGeom prst="line">
            <a:avLst/>
          </a:prstGeom>
          <a:noFill/>
          <a:ln w="12700">
            <a:solidFill>
              <a:srgbClr val="2A1F3D"/>
            </a:solidFill>
            <a:prstDash val="solid"/>
          </a:ln>
        </p:spPr>
      </p:sp>
      <p:sp>
        <p:nvSpPr>
          <p:cNvPr id="64" name="Text 62"/>
          <p:cNvSpPr/>
          <p:nvPr/>
        </p:nvSpPr>
        <p:spPr>
          <a:xfrm>
            <a:off x="749808" y="175042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65" name="Shape 63"/>
          <p:cNvSpPr/>
          <p:nvPr/>
        </p:nvSpPr>
        <p:spPr>
          <a:xfrm>
            <a:off x="1133856" y="1371600"/>
            <a:ext cx="54864" cy="91"/>
          </a:xfrm>
          <a:prstGeom prst="line">
            <a:avLst/>
          </a:prstGeom>
          <a:noFill/>
          <a:ln w="12700">
            <a:solidFill>
              <a:srgbClr val="2A1F3D"/>
            </a:solidFill>
            <a:prstDash val="solid"/>
          </a:ln>
        </p:spPr>
      </p:sp>
      <p:sp>
        <p:nvSpPr>
          <p:cNvPr id="66" name="Text 64"/>
          <p:cNvSpPr/>
          <p:nvPr/>
        </p:nvSpPr>
        <p:spPr>
          <a:xfrm>
            <a:off x="74980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67" name="Text 65"/>
          <p:cNvSpPr/>
          <p:nvPr/>
        </p:nvSpPr>
        <p:spPr>
          <a:xfrm>
            <a:off x="1188720" y="4910328"/>
            <a:ext cx="4526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of hydrochloric acid added / cm³</a:t>
            </a:r>
            <a:endParaRPr lang="en-US" sz="1050" dirty="0"/>
          </a:p>
        </p:txBody>
      </p:sp>
      <p:sp>
        <p:nvSpPr>
          <p:cNvPr id="68" name="Text 66"/>
          <p:cNvSpPr/>
          <p:nvPr/>
        </p:nvSpPr>
        <p:spPr>
          <a:xfrm rot="16200000">
            <a:off x="-1024128" y="288950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pH</a:t>
            </a:r>
            <a:endParaRPr lang="en-US" sz="1050" dirty="0"/>
          </a:p>
        </p:txBody>
      </p:sp>
      <p:sp>
        <p:nvSpPr>
          <p:cNvPr id="69" name="Shape 67"/>
          <p:cNvSpPr/>
          <p:nvPr/>
        </p:nvSpPr>
        <p:spPr>
          <a:xfrm>
            <a:off x="1207008" y="2312126"/>
            <a:ext cx="4489704" cy="399723"/>
          </a:xfrm>
          <a:prstGeom prst="rect">
            <a:avLst/>
          </a:prstGeom>
          <a:solidFill>
            <a:srgbClr val="F4B6D2">
              <a:alpha val="45000"/>
            </a:srgbClr>
          </a:solidFill>
          <a:ln/>
        </p:spPr>
      </p:sp>
      <p:sp>
        <p:nvSpPr>
          <p:cNvPr id="70" name="Shape 68"/>
          <p:cNvSpPr/>
          <p:nvPr/>
        </p:nvSpPr>
        <p:spPr>
          <a:xfrm>
            <a:off x="1188720" y="1606731"/>
            <a:ext cx="28289" cy="2157"/>
          </a:xfrm>
          <a:prstGeom prst="line">
            <a:avLst/>
          </a:prstGeom>
          <a:noFill/>
          <a:ln w="25400">
            <a:solidFill>
              <a:srgbClr val="6A3FA0"/>
            </a:solidFill>
            <a:prstDash val="solid"/>
          </a:ln>
        </p:spPr>
      </p:sp>
      <p:sp>
        <p:nvSpPr>
          <p:cNvPr id="71" name="Shape 69"/>
          <p:cNvSpPr/>
          <p:nvPr/>
        </p:nvSpPr>
        <p:spPr>
          <a:xfrm>
            <a:off x="1217009" y="1608888"/>
            <a:ext cx="28289" cy="2160"/>
          </a:xfrm>
          <a:prstGeom prst="line">
            <a:avLst/>
          </a:prstGeom>
          <a:noFill/>
          <a:ln w="25400">
            <a:solidFill>
              <a:srgbClr val="6A3FA0"/>
            </a:solidFill>
            <a:prstDash val="solid"/>
          </a:ln>
        </p:spPr>
      </p:sp>
      <p:sp>
        <p:nvSpPr>
          <p:cNvPr id="72" name="Shape 70"/>
          <p:cNvSpPr/>
          <p:nvPr/>
        </p:nvSpPr>
        <p:spPr>
          <a:xfrm>
            <a:off x="1245299" y="1611048"/>
            <a:ext cx="28289" cy="2163"/>
          </a:xfrm>
          <a:prstGeom prst="line">
            <a:avLst/>
          </a:prstGeom>
          <a:noFill/>
          <a:ln w="25400">
            <a:solidFill>
              <a:srgbClr val="6A3FA0"/>
            </a:solidFill>
            <a:prstDash val="solid"/>
          </a:ln>
        </p:spPr>
      </p:sp>
      <p:sp>
        <p:nvSpPr>
          <p:cNvPr id="73" name="Shape 71"/>
          <p:cNvSpPr/>
          <p:nvPr/>
        </p:nvSpPr>
        <p:spPr>
          <a:xfrm>
            <a:off x="1273588" y="1613212"/>
            <a:ext cx="28289" cy="2167"/>
          </a:xfrm>
          <a:prstGeom prst="line">
            <a:avLst/>
          </a:prstGeom>
          <a:noFill/>
          <a:ln w="25400">
            <a:solidFill>
              <a:srgbClr val="6A3FA0"/>
            </a:solidFill>
            <a:prstDash val="solid"/>
          </a:ln>
        </p:spPr>
      </p:sp>
      <p:sp>
        <p:nvSpPr>
          <p:cNvPr id="74" name="Shape 72"/>
          <p:cNvSpPr/>
          <p:nvPr/>
        </p:nvSpPr>
        <p:spPr>
          <a:xfrm>
            <a:off x="1301877" y="1615379"/>
            <a:ext cx="28289" cy="2172"/>
          </a:xfrm>
          <a:prstGeom prst="line">
            <a:avLst/>
          </a:prstGeom>
          <a:noFill/>
          <a:ln w="25400">
            <a:solidFill>
              <a:srgbClr val="6A3FA0"/>
            </a:solidFill>
            <a:prstDash val="solid"/>
          </a:ln>
        </p:spPr>
      </p:sp>
      <p:sp>
        <p:nvSpPr>
          <p:cNvPr id="75" name="Shape 73"/>
          <p:cNvSpPr/>
          <p:nvPr/>
        </p:nvSpPr>
        <p:spPr>
          <a:xfrm>
            <a:off x="1330166" y="1617551"/>
            <a:ext cx="28289" cy="2176"/>
          </a:xfrm>
          <a:prstGeom prst="line">
            <a:avLst/>
          </a:prstGeom>
          <a:noFill/>
          <a:ln w="25400">
            <a:solidFill>
              <a:srgbClr val="6A3FA0"/>
            </a:solidFill>
            <a:prstDash val="solid"/>
          </a:ln>
        </p:spPr>
      </p:sp>
      <p:sp>
        <p:nvSpPr>
          <p:cNvPr id="76" name="Shape 74"/>
          <p:cNvSpPr/>
          <p:nvPr/>
        </p:nvSpPr>
        <p:spPr>
          <a:xfrm>
            <a:off x="1358456" y="1619727"/>
            <a:ext cx="28289" cy="2182"/>
          </a:xfrm>
          <a:prstGeom prst="line">
            <a:avLst/>
          </a:prstGeom>
          <a:noFill/>
          <a:ln w="25400">
            <a:solidFill>
              <a:srgbClr val="6A3FA0"/>
            </a:solidFill>
            <a:prstDash val="solid"/>
          </a:ln>
        </p:spPr>
      </p:sp>
      <p:sp>
        <p:nvSpPr>
          <p:cNvPr id="77" name="Shape 75"/>
          <p:cNvSpPr/>
          <p:nvPr/>
        </p:nvSpPr>
        <p:spPr>
          <a:xfrm>
            <a:off x="1386745" y="1621909"/>
            <a:ext cx="28289" cy="2188"/>
          </a:xfrm>
          <a:prstGeom prst="line">
            <a:avLst/>
          </a:prstGeom>
          <a:noFill/>
          <a:ln w="25400">
            <a:solidFill>
              <a:srgbClr val="6A3FA0"/>
            </a:solidFill>
            <a:prstDash val="solid"/>
          </a:ln>
        </p:spPr>
      </p:sp>
      <p:sp>
        <p:nvSpPr>
          <p:cNvPr id="78" name="Shape 76"/>
          <p:cNvSpPr/>
          <p:nvPr/>
        </p:nvSpPr>
        <p:spPr>
          <a:xfrm>
            <a:off x="1415034" y="1624096"/>
            <a:ext cx="28289" cy="2194"/>
          </a:xfrm>
          <a:prstGeom prst="line">
            <a:avLst/>
          </a:prstGeom>
          <a:noFill/>
          <a:ln w="25400">
            <a:solidFill>
              <a:srgbClr val="6A3FA0"/>
            </a:solidFill>
            <a:prstDash val="solid"/>
          </a:ln>
        </p:spPr>
      </p:sp>
      <p:sp>
        <p:nvSpPr>
          <p:cNvPr id="79" name="Shape 77"/>
          <p:cNvSpPr/>
          <p:nvPr/>
        </p:nvSpPr>
        <p:spPr>
          <a:xfrm>
            <a:off x="1443323" y="1626291"/>
            <a:ext cx="28289" cy="2201"/>
          </a:xfrm>
          <a:prstGeom prst="line">
            <a:avLst/>
          </a:prstGeom>
          <a:noFill/>
          <a:ln w="25400">
            <a:solidFill>
              <a:srgbClr val="6A3FA0"/>
            </a:solidFill>
            <a:prstDash val="solid"/>
          </a:ln>
        </p:spPr>
      </p:sp>
      <p:sp>
        <p:nvSpPr>
          <p:cNvPr id="80" name="Shape 78"/>
          <p:cNvSpPr/>
          <p:nvPr/>
        </p:nvSpPr>
        <p:spPr>
          <a:xfrm>
            <a:off x="1471613" y="1628492"/>
            <a:ext cx="28289" cy="2209"/>
          </a:xfrm>
          <a:prstGeom prst="line">
            <a:avLst/>
          </a:prstGeom>
          <a:noFill/>
          <a:ln w="25400">
            <a:solidFill>
              <a:srgbClr val="6A3FA0"/>
            </a:solidFill>
            <a:prstDash val="solid"/>
          </a:ln>
        </p:spPr>
      </p:sp>
      <p:sp>
        <p:nvSpPr>
          <p:cNvPr id="81" name="Shape 79"/>
          <p:cNvSpPr/>
          <p:nvPr/>
        </p:nvSpPr>
        <p:spPr>
          <a:xfrm>
            <a:off x="1499902" y="1630700"/>
            <a:ext cx="28289" cy="2217"/>
          </a:xfrm>
          <a:prstGeom prst="line">
            <a:avLst/>
          </a:prstGeom>
          <a:noFill/>
          <a:ln w="25400">
            <a:solidFill>
              <a:srgbClr val="6A3FA0"/>
            </a:solidFill>
            <a:prstDash val="solid"/>
          </a:ln>
        </p:spPr>
      </p:sp>
      <p:sp>
        <p:nvSpPr>
          <p:cNvPr id="82" name="Shape 80"/>
          <p:cNvSpPr/>
          <p:nvPr/>
        </p:nvSpPr>
        <p:spPr>
          <a:xfrm>
            <a:off x="1528191" y="1632917"/>
            <a:ext cx="28289" cy="2225"/>
          </a:xfrm>
          <a:prstGeom prst="line">
            <a:avLst/>
          </a:prstGeom>
          <a:noFill/>
          <a:ln w="25400">
            <a:solidFill>
              <a:srgbClr val="6A3FA0"/>
            </a:solidFill>
            <a:prstDash val="solid"/>
          </a:ln>
        </p:spPr>
      </p:sp>
      <p:sp>
        <p:nvSpPr>
          <p:cNvPr id="83" name="Shape 81"/>
          <p:cNvSpPr/>
          <p:nvPr/>
        </p:nvSpPr>
        <p:spPr>
          <a:xfrm>
            <a:off x="1556480" y="1635142"/>
            <a:ext cx="28289" cy="2235"/>
          </a:xfrm>
          <a:prstGeom prst="line">
            <a:avLst/>
          </a:prstGeom>
          <a:noFill/>
          <a:ln w="25400">
            <a:solidFill>
              <a:srgbClr val="6A3FA0"/>
            </a:solidFill>
            <a:prstDash val="solid"/>
          </a:ln>
        </p:spPr>
      </p:sp>
      <p:sp>
        <p:nvSpPr>
          <p:cNvPr id="84" name="Shape 82"/>
          <p:cNvSpPr/>
          <p:nvPr/>
        </p:nvSpPr>
        <p:spPr>
          <a:xfrm>
            <a:off x="1584770" y="1637377"/>
            <a:ext cx="28289" cy="2244"/>
          </a:xfrm>
          <a:prstGeom prst="line">
            <a:avLst/>
          </a:prstGeom>
          <a:noFill/>
          <a:ln w="25400">
            <a:solidFill>
              <a:srgbClr val="6A3FA0"/>
            </a:solidFill>
            <a:prstDash val="solid"/>
          </a:ln>
        </p:spPr>
      </p:sp>
      <p:sp>
        <p:nvSpPr>
          <p:cNvPr id="85" name="Shape 83"/>
          <p:cNvSpPr/>
          <p:nvPr/>
        </p:nvSpPr>
        <p:spPr>
          <a:xfrm>
            <a:off x="1613059" y="1639621"/>
            <a:ext cx="28289" cy="2255"/>
          </a:xfrm>
          <a:prstGeom prst="line">
            <a:avLst/>
          </a:prstGeom>
          <a:noFill/>
          <a:ln w="25400">
            <a:solidFill>
              <a:srgbClr val="6A3FA0"/>
            </a:solidFill>
            <a:prstDash val="solid"/>
          </a:ln>
        </p:spPr>
      </p:sp>
      <p:sp>
        <p:nvSpPr>
          <p:cNvPr id="86" name="Shape 84"/>
          <p:cNvSpPr/>
          <p:nvPr/>
        </p:nvSpPr>
        <p:spPr>
          <a:xfrm>
            <a:off x="1641348" y="1641876"/>
            <a:ext cx="28289" cy="2266"/>
          </a:xfrm>
          <a:prstGeom prst="line">
            <a:avLst/>
          </a:prstGeom>
          <a:noFill/>
          <a:ln w="25400">
            <a:solidFill>
              <a:srgbClr val="6A3FA0"/>
            </a:solidFill>
            <a:prstDash val="solid"/>
          </a:ln>
        </p:spPr>
      </p:sp>
      <p:sp>
        <p:nvSpPr>
          <p:cNvPr id="87" name="Shape 85"/>
          <p:cNvSpPr/>
          <p:nvPr/>
        </p:nvSpPr>
        <p:spPr>
          <a:xfrm>
            <a:off x="1669637" y="1644142"/>
            <a:ext cx="28289" cy="2278"/>
          </a:xfrm>
          <a:prstGeom prst="line">
            <a:avLst/>
          </a:prstGeom>
          <a:noFill/>
          <a:ln w="25400">
            <a:solidFill>
              <a:srgbClr val="6A3FA0"/>
            </a:solidFill>
            <a:prstDash val="solid"/>
          </a:ln>
        </p:spPr>
      </p:sp>
      <p:sp>
        <p:nvSpPr>
          <p:cNvPr id="88" name="Shape 86"/>
          <p:cNvSpPr/>
          <p:nvPr/>
        </p:nvSpPr>
        <p:spPr>
          <a:xfrm>
            <a:off x="1697927" y="1646420"/>
            <a:ext cx="28289" cy="2290"/>
          </a:xfrm>
          <a:prstGeom prst="line">
            <a:avLst/>
          </a:prstGeom>
          <a:noFill/>
          <a:ln w="25400">
            <a:solidFill>
              <a:srgbClr val="6A3FA0"/>
            </a:solidFill>
            <a:prstDash val="solid"/>
          </a:ln>
        </p:spPr>
      </p:sp>
      <p:sp>
        <p:nvSpPr>
          <p:cNvPr id="89" name="Shape 87"/>
          <p:cNvSpPr/>
          <p:nvPr/>
        </p:nvSpPr>
        <p:spPr>
          <a:xfrm>
            <a:off x="1726216" y="1648710"/>
            <a:ext cx="28289" cy="2303"/>
          </a:xfrm>
          <a:prstGeom prst="line">
            <a:avLst/>
          </a:prstGeom>
          <a:noFill/>
          <a:ln w="25400">
            <a:solidFill>
              <a:srgbClr val="6A3FA0"/>
            </a:solidFill>
            <a:prstDash val="solid"/>
          </a:ln>
        </p:spPr>
      </p:sp>
      <p:sp>
        <p:nvSpPr>
          <p:cNvPr id="90" name="Shape 88"/>
          <p:cNvSpPr/>
          <p:nvPr/>
        </p:nvSpPr>
        <p:spPr>
          <a:xfrm>
            <a:off x="1754505" y="1651013"/>
            <a:ext cx="28289" cy="2317"/>
          </a:xfrm>
          <a:prstGeom prst="line">
            <a:avLst/>
          </a:prstGeom>
          <a:noFill/>
          <a:ln w="25400">
            <a:solidFill>
              <a:srgbClr val="6A3FA0"/>
            </a:solidFill>
            <a:prstDash val="solid"/>
          </a:ln>
        </p:spPr>
      </p:sp>
      <p:sp>
        <p:nvSpPr>
          <p:cNvPr id="91" name="Shape 89"/>
          <p:cNvSpPr/>
          <p:nvPr/>
        </p:nvSpPr>
        <p:spPr>
          <a:xfrm>
            <a:off x="1782794" y="1653329"/>
            <a:ext cx="28289" cy="2331"/>
          </a:xfrm>
          <a:prstGeom prst="line">
            <a:avLst/>
          </a:prstGeom>
          <a:noFill/>
          <a:ln w="25400">
            <a:solidFill>
              <a:srgbClr val="6A3FA0"/>
            </a:solidFill>
            <a:prstDash val="solid"/>
          </a:ln>
        </p:spPr>
      </p:sp>
      <p:sp>
        <p:nvSpPr>
          <p:cNvPr id="92" name="Shape 90"/>
          <p:cNvSpPr/>
          <p:nvPr/>
        </p:nvSpPr>
        <p:spPr>
          <a:xfrm>
            <a:off x="1811084" y="1655661"/>
            <a:ext cx="28289" cy="2346"/>
          </a:xfrm>
          <a:prstGeom prst="line">
            <a:avLst/>
          </a:prstGeom>
          <a:noFill/>
          <a:ln w="25400">
            <a:solidFill>
              <a:srgbClr val="6A3FA0"/>
            </a:solidFill>
            <a:prstDash val="solid"/>
          </a:ln>
        </p:spPr>
      </p:sp>
      <p:sp>
        <p:nvSpPr>
          <p:cNvPr id="93" name="Shape 91"/>
          <p:cNvSpPr/>
          <p:nvPr/>
        </p:nvSpPr>
        <p:spPr>
          <a:xfrm>
            <a:off x="1839373" y="1658007"/>
            <a:ext cx="28289" cy="2362"/>
          </a:xfrm>
          <a:prstGeom prst="line">
            <a:avLst/>
          </a:prstGeom>
          <a:noFill/>
          <a:ln w="25400">
            <a:solidFill>
              <a:srgbClr val="6A3FA0"/>
            </a:solidFill>
            <a:prstDash val="solid"/>
          </a:ln>
        </p:spPr>
      </p:sp>
      <p:sp>
        <p:nvSpPr>
          <p:cNvPr id="94" name="Shape 92"/>
          <p:cNvSpPr/>
          <p:nvPr/>
        </p:nvSpPr>
        <p:spPr>
          <a:xfrm>
            <a:off x="1867662" y="1660370"/>
            <a:ext cx="28289" cy="2379"/>
          </a:xfrm>
          <a:prstGeom prst="line">
            <a:avLst/>
          </a:prstGeom>
          <a:noFill/>
          <a:ln w="25400">
            <a:solidFill>
              <a:srgbClr val="6A3FA0"/>
            </a:solidFill>
            <a:prstDash val="solid"/>
          </a:ln>
        </p:spPr>
      </p:sp>
      <p:sp>
        <p:nvSpPr>
          <p:cNvPr id="95" name="Shape 93"/>
          <p:cNvSpPr/>
          <p:nvPr/>
        </p:nvSpPr>
        <p:spPr>
          <a:xfrm>
            <a:off x="1895951" y="1662749"/>
            <a:ext cx="28289" cy="2397"/>
          </a:xfrm>
          <a:prstGeom prst="line">
            <a:avLst/>
          </a:prstGeom>
          <a:noFill/>
          <a:ln w="25400">
            <a:solidFill>
              <a:srgbClr val="6A3FA0"/>
            </a:solidFill>
            <a:prstDash val="solid"/>
          </a:ln>
        </p:spPr>
      </p:sp>
      <p:sp>
        <p:nvSpPr>
          <p:cNvPr id="96" name="Shape 94"/>
          <p:cNvSpPr/>
          <p:nvPr/>
        </p:nvSpPr>
        <p:spPr>
          <a:xfrm>
            <a:off x="1924241" y="1665146"/>
            <a:ext cx="28289" cy="2415"/>
          </a:xfrm>
          <a:prstGeom prst="line">
            <a:avLst/>
          </a:prstGeom>
          <a:noFill/>
          <a:ln w="25400">
            <a:solidFill>
              <a:srgbClr val="6A3FA0"/>
            </a:solidFill>
            <a:prstDash val="solid"/>
          </a:ln>
        </p:spPr>
      </p:sp>
      <p:sp>
        <p:nvSpPr>
          <p:cNvPr id="97" name="Shape 95"/>
          <p:cNvSpPr/>
          <p:nvPr/>
        </p:nvSpPr>
        <p:spPr>
          <a:xfrm>
            <a:off x="1952530" y="1667561"/>
            <a:ext cx="28289" cy="2435"/>
          </a:xfrm>
          <a:prstGeom prst="line">
            <a:avLst/>
          </a:prstGeom>
          <a:noFill/>
          <a:ln w="25400">
            <a:solidFill>
              <a:srgbClr val="6A3FA0"/>
            </a:solidFill>
            <a:prstDash val="solid"/>
          </a:ln>
        </p:spPr>
      </p:sp>
      <p:sp>
        <p:nvSpPr>
          <p:cNvPr id="98" name="Shape 96"/>
          <p:cNvSpPr/>
          <p:nvPr/>
        </p:nvSpPr>
        <p:spPr>
          <a:xfrm>
            <a:off x="1980819" y="1669996"/>
            <a:ext cx="28289" cy="2455"/>
          </a:xfrm>
          <a:prstGeom prst="line">
            <a:avLst/>
          </a:prstGeom>
          <a:noFill/>
          <a:ln w="25400">
            <a:solidFill>
              <a:srgbClr val="6A3FA0"/>
            </a:solidFill>
            <a:prstDash val="solid"/>
          </a:ln>
        </p:spPr>
      </p:sp>
      <p:sp>
        <p:nvSpPr>
          <p:cNvPr id="99" name="Shape 97"/>
          <p:cNvSpPr/>
          <p:nvPr/>
        </p:nvSpPr>
        <p:spPr>
          <a:xfrm>
            <a:off x="2009108" y="1672451"/>
            <a:ext cx="28289" cy="2476"/>
          </a:xfrm>
          <a:prstGeom prst="line">
            <a:avLst/>
          </a:prstGeom>
          <a:noFill/>
          <a:ln w="25400">
            <a:solidFill>
              <a:srgbClr val="6A3FA0"/>
            </a:solidFill>
            <a:prstDash val="solid"/>
          </a:ln>
        </p:spPr>
      </p:sp>
      <p:sp>
        <p:nvSpPr>
          <p:cNvPr id="100" name="Shape 98"/>
          <p:cNvSpPr/>
          <p:nvPr/>
        </p:nvSpPr>
        <p:spPr>
          <a:xfrm>
            <a:off x="2037398" y="1674928"/>
            <a:ext cx="28289" cy="2499"/>
          </a:xfrm>
          <a:prstGeom prst="line">
            <a:avLst/>
          </a:prstGeom>
          <a:noFill/>
          <a:ln w="25400">
            <a:solidFill>
              <a:srgbClr val="6A3FA0"/>
            </a:solidFill>
            <a:prstDash val="solid"/>
          </a:ln>
        </p:spPr>
      </p:sp>
      <p:sp>
        <p:nvSpPr>
          <p:cNvPr id="101" name="Shape 99"/>
          <p:cNvSpPr/>
          <p:nvPr/>
        </p:nvSpPr>
        <p:spPr>
          <a:xfrm>
            <a:off x="2065687" y="1677426"/>
            <a:ext cx="28289" cy="2522"/>
          </a:xfrm>
          <a:prstGeom prst="line">
            <a:avLst/>
          </a:prstGeom>
          <a:noFill/>
          <a:ln w="25400">
            <a:solidFill>
              <a:srgbClr val="6A3FA0"/>
            </a:solidFill>
            <a:prstDash val="solid"/>
          </a:ln>
        </p:spPr>
      </p:sp>
      <p:sp>
        <p:nvSpPr>
          <p:cNvPr id="102" name="Shape 100"/>
          <p:cNvSpPr/>
          <p:nvPr/>
        </p:nvSpPr>
        <p:spPr>
          <a:xfrm>
            <a:off x="2093976" y="1679949"/>
            <a:ext cx="28289" cy="2547"/>
          </a:xfrm>
          <a:prstGeom prst="line">
            <a:avLst/>
          </a:prstGeom>
          <a:noFill/>
          <a:ln w="25400">
            <a:solidFill>
              <a:srgbClr val="6A3FA0"/>
            </a:solidFill>
            <a:prstDash val="solid"/>
          </a:ln>
        </p:spPr>
      </p:sp>
      <p:sp>
        <p:nvSpPr>
          <p:cNvPr id="103" name="Shape 101"/>
          <p:cNvSpPr/>
          <p:nvPr/>
        </p:nvSpPr>
        <p:spPr>
          <a:xfrm>
            <a:off x="2122265" y="1682495"/>
            <a:ext cx="28289" cy="2572"/>
          </a:xfrm>
          <a:prstGeom prst="line">
            <a:avLst/>
          </a:prstGeom>
          <a:noFill/>
          <a:ln w="25400">
            <a:solidFill>
              <a:srgbClr val="6A3FA0"/>
            </a:solidFill>
            <a:prstDash val="solid"/>
          </a:ln>
        </p:spPr>
      </p:sp>
      <p:sp>
        <p:nvSpPr>
          <p:cNvPr id="104" name="Shape 102"/>
          <p:cNvSpPr/>
          <p:nvPr/>
        </p:nvSpPr>
        <p:spPr>
          <a:xfrm>
            <a:off x="2150555" y="1685068"/>
            <a:ext cx="28289" cy="2599"/>
          </a:xfrm>
          <a:prstGeom prst="line">
            <a:avLst/>
          </a:prstGeom>
          <a:noFill/>
          <a:ln w="25400">
            <a:solidFill>
              <a:srgbClr val="6A3FA0"/>
            </a:solidFill>
            <a:prstDash val="solid"/>
          </a:ln>
        </p:spPr>
      </p:sp>
      <p:sp>
        <p:nvSpPr>
          <p:cNvPr id="105" name="Shape 103"/>
          <p:cNvSpPr/>
          <p:nvPr/>
        </p:nvSpPr>
        <p:spPr>
          <a:xfrm>
            <a:off x="2178844" y="1687667"/>
            <a:ext cx="28289" cy="2627"/>
          </a:xfrm>
          <a:prstGeom prst="line">
            <a:avLst/>
          </a:prstGeom>
          <a:noFill/>
          <a:ln w="25400">
            <a:solidFill>
              <a:srgbClr val="6A3FA0"/>
            </a:solidFill>
            <a:prstDash val="solid"/>
          </a:ln>
        </p:spPr>
      </p:sp>
      <p:sp>
        <p:nvSpPr>
          <p:cNvPr id="106" name="Shape 104"/>
          <p:cNvSpPr/>
          <p:nvPr/>
        </p:nvSpPr>
        <p:spPr>
          <a:xfrm>
            <a:off x="2207133" y="1690294"/>
            <a:ext cx="28289" cy="2657"/>
          </a:xfrm>
          <a:prstGeom prst="line">
            <a:avLst/>
          </a:prstGeom>
          <a:noFill/>
          <a:ln w="25400">
            <a:solidFill>
              <a:srgbClr val="6A3FA0"/>
            </a:solidFill>
            <a:prstDash val="solid"/>
          </a:ln>
        </p:spPr>
      </p:sp>
      <p:sp>
        <p:nvSpPr>
          <p:cNvPr id="107" name="Shape 105"/>
          <p:cNvSpPr/>
          <p:nvPr/>
        </p:nvSpPr>
        <p:spPr>
          <a:xfrm>
            <a:off x="2235422" y="1692951"/>
            <a:ext cx="28289" cy="2688"/>
          </a:xfrm>
          <a:prstGeom prst="line">
            <a:avLst/>
          </a:prstGeom>
          <a:noFill/>
          <a:ln w="25400">
            <a:solidFill>
              <a:srgbClr val="6A3FA0"/>
            </a:solidFill>
            <a:prstDash val="solid"/>
          </a:ln>
        </p:spPr>
      </p:sp>
      <p:sp>
        <p:nvSpPr>
          <p:cNvPr id="108" name="Shape 106"/>
          <p:cNvSpPr/>
          <p:nvPr/>
        </p:nvSpPr>
        <p:spPr>
          <a:xfrm>
            <a:off x="2263712" y="1695639"/>
            <a:ext cx="28289" cy="2720"/>
          </a:xfrm>
          <a:prstGeom prst="line">
            <a:avLst/>
          </a:prstGeom>
          <a:noFill/>
          <a:ln w="25400">
            <a:solidFill>
              <a:srgbClr val="6A3FA0"/>
            </a:solidFill>
            <a:prstDash val="solid"/>
          </a:ln>
        </p:spPr>
      </p:sp>
      <p:sp>
        <p:nvSpPr>
          <p:cNvPr id="109" name="Shape 107"/>
          <p:cNvSpPr/>
          <p:nvPr/>
        </p:nvSpPr>
        <p:spPr>
          <a:xfrm>
            <a:off x="2292001" y="1698359"/>
            <a:ext cx="28289" cy="2754"/>
          </a:xfrm>
          <a:prstGeom prst="line">
            <a:avLst/>
          </a:prstGeom>
          <a:noFill/>
          <a:ln w="25400">
            <a:solidFill>
              <a:srgbClr val="6A3FA0"/>
            </a:solidFill>
            <a:prstDash val="solid"/>
          </a:ln>
        </p:spPr>
      </p:sp>
      <p:sp>
        <p:nvSpPr>
          <p:cNvPr id="110" name="Shape 108"/>
          <p:cNvSpPr/>
          <p:nvPr/>
        </p:nvSpPr>
        <p:spPr>
          <a:xfrm>
            <a:off x="2320290" y="1701113"/>
            <a:ext cx="28289" cy="2790"/>
          </a:xfrm>
          <a:prstGeom prst="line">
            <a:avLst/>
          </a:prstGeom>
          <a:noFill/>
          <a:ln w="25400">
            <a:solidFill>
              <a:srgbClr val="6A3FA0"/>
            </a:solidFill>
            <a:prstDash val="solid"/>
          </a:ln>
        </p:spPr>
      </p:sp>
      <p:sp>
        <p:nvSpPr>
          <p:cNvPr id="111" name="Shape 109"/>
          <p:cNvSpPr/>
          <p:nvPr/>
        </p:nvSpPr>
        <p:spPr>
          <a:xfrm>
            <a:off x="2348579" y="1703903"/>
            <a:ext cx="28289" cy="2827"/>
          </a:xfrm>
          <a:prstGeom prst="line">
            <a:avLst/>
          </a:prstGeom>
          <a:noFill/>
          <a:ln w="25400">
            <a:solidFill>
              <a:srgbClr val="6A3FA0"/>
            </a:solidFill>
            <a:prstDash val="solid"/>
          </a:ln>
        </p:spPr>
      </p:sp>
      <p:sp>
        <p:nvSpPr>
          <p:cNvPr id="112" name="Shape 110"/>
          <p:cNvSpPr/>
          <p:nvPr/>
        </p:nvSpPr>
        <p:spPr>
          <a:xfrm>
            <a:off x="2376869" y="1706730"/>
            <a:ext cx="28289" cy="2867"/>
          </a:xfrm>
          <a:prstGeom prst="line">
            <a:avLst/>
          </a:prstGeom>
          <a:noFill/>
          <a:ln w="25400">
            <a:solidFill>
              <a:srgbClr val="6A3FA0"/>
            </a:solidFill>
            <a:prstDash val="solid"/>
          </a:ln>
        </p:spPr>
      </p:sp>
      <p:sp>
        <p:nvSpPr>
          <p:cNvPr id="113" name="Shape 111"/>
          <p:cNvSpPr/>
          <p:nvPr/>
        </p:nvSpPr>
        <p:spPr>
          <a:xfrm>
            <a:off x="2405158" y="1709597"/>
            <a:ext cx="28289" cy="2908"/>
          </a:xfrm>
          <a:prstGeom prst="line">
            <a:avLst/>
          </a:prstGeom>
          <a:noFill/>
          <a:ln w="25400">
            <a:solidFill>
              <a:srgbClr val="6A3FA0"/>
            </a:solidFill>
            <a:prstDash val="solid"/>
          </a:ln>
        </p:spPr>
      </p:sp>
      <p:sp>
        <p:nvSpPr>
          <p:cNvPr id="114" name="Shape 112"/>
          <p:cNvSpPr/>
          <p:nvPr/>
        </p:nvSpPr>
        <p:spPr>
          <a:xfrm>
            <a:off x="2433447" y="1712505"/>
            <a:ext cx="28289" cy="2951"/>
          </a:xfrm>
          <a:prstGeom prst="line">
            <a:avLst/>
          </a:prstGeom>
          <a:noFill/>
          <a:ln w="25400">
            <a:solidFill>
              <a:srgbClr val="6A3FA0"/>
            </a:solidFill>
            <a:prstDash val="solid"/>
          </a:ln>
        </p:spPr>
      </p:sp>
      <p:sp>
        <p:nvSpPr>
          <p:cNvPr id="115" name="Shape 113"/>
          <p:cNvSpPr/>
          <p:nvPr/>
        </p:nvSpPr>
        <p:spPr>
          <a:xfrm>
            <a:off x="2461736" y="1715456"/>
            <a:ext cx="28289" cy="2997"/>
          </a:xfrm>
          <a:prstGeom prst="line">
            <a:avLst/>
          </a:prstGeom>
          <a:noFill/>
          <a:ln w="25400">
            <a:solidFill>
              <a:srgbClr val="6A3FA0"/>
            </a:solidFill>
            <a:prstDash val="solid"/>
          </a:ln>
        </p:spPr>
      </p:sp>
      <p:sp>
        <p:nvSpPr>
          <p:cNvPr id="116" name="Shape 114"/>
          <p:cNvSpPr/>
          <p:nvPr/>
        </p:nvSpPr>
        <p:spPr>
          <a:xfrm>
            <a:off x="2490026" y="1718452"/>
            <a:ext cx="28289" cy="3045"/>
          </a:xfrm>
          <a:prstGeom prst="line">
            <a:avLst/>
          </a:prstGeom>
          <a:noFill/>
          <a:ln w="25400">
            <a:solidFill>
              <a:srgbClr val="6A3FA0"/>
            </a:solidFill>
            <a:prstDash val="solid"/>
          </a:ln>
        </p:spPr>
      </p:sp>
      <p:sp>
        <p:nvSpPr>
          <p:cNvPr id="117" name="Shape 115"/>
          <p:cNvSpPr/>
          <p:nvPr/>
        </p:nvSpPr>
        <p:spPr>
          <a:xfrm>
            <a:off x="2518315" y="1721497"/>
            <a:ext cx="28289" cy="3095"/>
          </a:xfrm>
          <a:prstGeom prst="line">
            <a:avLst/>
          </a:prstGeom>
          <a:noFill/>
          <a:ln w="25400">
            <a:solidFill>
              <a:srgbClr val="6A3FA0"/>
            </a:solidFill>
            <a:prstDash val="solid"/>
          </a:ln>
        </p:spPr>
      </p:sp>
      <p:sp>
        <p:nvSpPr>
          <p:cNvPr id="118" name="Shape 116"/>
          <p:cNvSpPr/>
          <p:nvPr/>
        </p:nvSpPr>
        <p:spPr>
          <a:xfrm>
            <a:off x="2546604" y="1724592"/>
            <a:ext cx="28289" cy="3148"/>
          </a:xfrm>
          <a:prstGeom prst="line">
            <a:avLst/>
          </a:prstGeom>
          <a:noFill/>
          <a:ln w="25400">
            <a:solidFill>
              <a:srgbClr val="6A3FA0"/>
            </a:solidFill>
            <a:prstDash val="solid"/>
          </a:ln>
        </p:spPr>
      </p:sp>
      <p:sp>
        <p:nvSpPr>
          <p:cNvPr id="119" name="Shape 117"/>
          <p:cNvSpPr/>
          <p:nvPr/>
        </p:nvSpPr>
        <p:spPr>
          <a:xfrm>
            <a:off x="2574893" y="1727741"/>
            <a:ext cx="28289" cy="3205"/>
          </a:xfrm>
          <a:prstGeom prst="line">
            <a:avLst/>
          </a:prstGeom>
          <a:noFill/>
          <a:ln w="25400">
            <a:solidFill>
              <a:srgbClr val="6A3FA0"/>
            </a:solidFill>
            <a:prstDash val="solid"/>
          </a:ln>
        </p:spPr>
      </p:sp>
      <p:sp>
        <p:nvSpPr>
          <p:cNvPr id="120" name="Shape 118"/>
          <p:cNvSpPr/>
          <p:nvPr/>
        </p:nvSpPr>
        <p:spPr>
          <a:xfrm>
            <a:off x="2603183" y="1730945"/>
            <a:ext cx="28289" cy="3264"/>
          </a:xfrm>
          <a:prstGeom prst="line">
            <a:avLst/>
          </a:prstGeom>
          <a:noFill/>
          <a:ln w="25400">
            <a:solidFill>
              <a:srgbClr val="6A3FA0"/>
            </a:solidFill>
            <a:prstDash val="solid"/>
          </a:ln>
        </p:spPr>
      </p:sp>
      <p:sp>
        <p:nvSpPr>
          <p:cNvPr id="121" name="Shape 119"/>
          <p:cNvSpPr/>
          <p:nvPr/>
        </p:nvSpPr>
        <p:spPr>
          <a:xfrm>
            <a:off x="2631472" y="1734209"/>
            <a:ext cx="28289" cy="3327"/>
          </a:xfrm>
          <a:prstGeom prst="line">
            <a:avLst/>
          </a:prstGeom>
          <a:noFill/>
          <a:ln w="25400">
            <a:solidFill>
              <a:srgbClr val="6A3FA0"/>
            </a:solidFill>
            <a:prstDash val="solid"/>
          </a:ln>
        </p:spPr>
      </p:sp>
      <p:sp>
        <p:nvSpPr>
          <p:cNvPr id="122" name="Shape 120"/>
          <p:cNvSpPr/>
          <p:nvPr/>
        </p:nvSpPr>
        <p:spPr>
          <a:xfrm>
            <a:off x="2659761" y="1737536"/>
            <a:ext cx="28289" cy="3393"/>
          </a:xfrm>
          <a:prstGeom prst="line">
            <a:avLst/>
          </a:prstGeom>
          <a:noFill/>
          <a:ln w="25400">
            <a:solidFill>
              <a:srgbClr val="6A3FA0"/>
            </a:solidFill>
            <a:prstDash val="solid"/>
          </a:ln>
        </p:spPr>
      </p:sp>
      <p:sp>
        <p:nvSpPr>
          <p:cNvPr id="123" name="Shape 121"/>
          <p:cNvSpPr/>
          <p:nvPr/>
        </p:nvSpPr>
        <p:spPr>
          <a:xfrm>
            <a:off x="2688050" y="1740929"/>
            <a:ext cx="28289" cy="3463"/>
          </a:xfrm>
          <a:prstGeom prst="line">
            <a:avLst/>
          </a:prstGeom>
          <a:noFill/>
          <a:ln w="25400">
            <a:solidFill>
              <a:srgbClr val="6A3FA0"/>
            </a:solidFill>
            <a:prstDash val="solid"/>
          </a:ln>
        </p:spPr>
      </p:sp>
      <p:sp>
        <p:nvSpPr>
          <p:cNvPr id="124" name="Shape 122"/>
          <p:cNvSpPr/>
          <p:nvPr/>
        </p:nvSpPr>
        <p:spPr>
          <a:xfrm>
            <a:off x="2716340" y="1744392"/>
            <a:ext cx="28289" cy="3538"/>
          </a:xfrm>
          <a:prstGeom prst="line">
            <a:avLst/>
          </a:prstGeom>
          <a:noFill/>
          <a:ln w="25400">
            <a:solidFill>
              <a:srgbClr val="6A3FA0"/>
            </a:solidFill>
            <a:prstDash val="solid"/>
          </a:ln>
        </p:spPr>
      </p:sp>
      <p:sp>
        <p:nvSpPr>
          <p:cNvPr id="125" name="Shape 123"/>
          <p:cNvSpPr/>
          <p:nvPr/>
        </p:nvSpPr>
        <p:spPr>
          <a:xfrm>
            <a:off x="2744629" y="1747929"/>
            <a:ext cx="28289" cy="3617"/>
          </a:xfrm>
          <a:prstGeom prst="line">
            <a:avLst/>
          </a:prstGeom>
          <a:noFill/>
          <a:ln w="25400">
            <a:solidFill>
              <a:srgbClr val="6A3FA0"/>
            </a:solidFill>
            <a:prstDash val="solid"/>
          </a:ln>
        </p:spPr>
      </p:sp>
      <p:sp>
        <p:nvSpPr>
          <p:cNvPr id="126" name="Shape 124"/>
          <p:cNvSpPr/>
          <p:nvPr/>
        </p:nvSpPr>
        <p:spPr>
          <a:xfrm>
            <a:off x="2772918" y="1751546"/>
            <a:ext cx="28289" cy="3701"/>
          </a:xfrm>
          <a:prstGeom prst="line">
            <a:avLst/>
          </a:prstGeom>
          <a:noFill/>
          <a:ln w="25400">
            <a:solidFill>
              <a:srgbClr val="6A3FA0"/>
            </a:solidFill>
            <a:prstDash val="solid"/>
          </a:ln>
        </p:spPr>
      </p:sp>
      <p:sp>
        <p:nvSpPr>
          <p:cNvPr id="127" name="Shape 125"/>
          <p:cNvSpPr/>
          <p:nvPr/>
        </p:nvSpPr>
        <p:spPr>
          <a:xfrm>
            <a:off x="2801207" y="1755247"/>
            <a:ext cx="28289" cy="3791"/>
          </a:xfrm>
          <a:prstGeom prst="line">
            <a:avLst/>
          </a:prstGeom>
          <a:noFill/>
          <a:ln w="25400">
            <a:solidFill>
              <a:srgbClr val="6A3FA0"/>
            </a:solidFill>
            <a:prstDash val="solid"/>
          </a:ln>
        </p:spPr>
      </p:sp>
      <p:sp>
        <p:nvSpPr>
          <p:cNvPr id="128" name="Shape 126"/>
          <p:cNvSpPr/>
          <p:nvPr/>
        </p:nvSpPr>
        <p:spPr>
          <a:xfrm>
            <a:off x="2829497" y="1759038"/>
            <a:ext cx="28289" cy="3886"/>
          </a:xfrm>
          <a:prstGeom prst="line">
            <a:avLst/>
          </a:prstGeom>
          <a:noFill/>
          <a:ln w="25400">
            <a:solidFill>
              <a:srgbClr val="6A3FA0"/>
            </a:solidFill>
            <a:prstDash val="solid"/>
          </a:ln>
        </p:spPr>
      </p:sp>
      <p:sp>
        <p:nvSpPr>
          <p:cNvPr id="129" name="Shape 127"/>
          <p:cNvSpPr/>
          <p:nvPr/>
        </p:nvSpPr>
        <p:spPr>
          <a:xfrm>
            <a:off x="2857786" y="1762924"/>
            <a:ext cx="28289" cy="3989"/>
          </a:xfrm>
          <a:prstGeom prst="line">
            <a:avLst/>
          </a:prstGeom>
          <a:noFill/>
          <a:ln w="25400">
            <a:solidFill>
              <a:srgbClr val="6A3FA0"/>
            </a:solidFill>
            <a:prstDash val="solid"/>
          </a:ln>
        </p:spPr>
      </p:sp>
      <p:sp>
        <p:nvSpPr>
          <p:cNvPr id="130" name="Shape 128"/>
          <p:cNvSpPr/>
          <p:nvPr/>
        </p:nvSpPr>
        <p:spPr>
          <a:xfrm>
            <a:off x="2886075" y="1766913"/>
            <a:ext cx="28289" cy="4098"/>
          </a:xfrm>
          <a:prstGeom prst="line">
            <a:avLst/>
          </a:prstGeom>
          <a:noFill/>
          <a:ln w="25400">
            <a:solidFill>
              <a:srgbClr val="6A3FA0"/>
            </a:solidFill>
            <a:prstDash val="solid"/>
          </a:ln>
        </p:spPr>
      </p:sp>
      <p:sp>
        <p:nvSpPr>
          <p:cNvPr id="131" name="Shape 129"/>
          <p:cNvSpPr/>
          <p:nvPr/>
        </p:nvSpPr>
        <p:spPr>
          <a:xfrm>
            <a:off x="2914364" y="1771011"/>
            <a:ext cx="28289" cy="4216"/>
          </a:xfrm>
          <a:prstGeom prst="line">
            <a:avLst/>
          </a:prstGeom>
          <a:noFill/>
          <a:ln w="25400">
            <a:solidFill>
              <a:srgbClr val="6A3FA0"/>
            </a:solidFill>
            <a:prstDash val="solid"/>
          </a:ln>
        </p:spPr>
      </p:sp>
      <p:sp>
        <p:nvSpPr>
          <p:cNvPr id="132" name="Shape 130"/>
          <p:cNvSpPr/>
          <p:nvPr/>
        </p:nvSpPr>
        <p:spPr>
          <a:xfrm>
            <a:off x="2942654" y="1775226"/>
            <a:ext cx="28289" cy="4342"/>
          </a:xfrm>
          <a:prstGeom prst="line">
            <a:avLst/>
          </a:prstGeom>
          <a:noFill/>
          <a:ln w="25400">
            <a:solidFill>
              <a:srgbClr val="6A3FA0"/>
            </a:solidFill>
            <a:prstDash val="solid"/>
          </a:ln>
        </p:spPr>
      </p:sp>
      <p:sp>
        <p:nvSpPr>
          <p:cNvPr id="133" name="Shape 131"/>
          <p:cNvSpPr/>
          <p:nvPr/>
        </p:nvSpPr>
        <p:spPr>
          <a:xfrm>
            <a:off x="2970943" y="1779569"/>
            <a:ext cx="28289" cy="4478"/>
          </a:xfrm>
          <a:prstGeom prst="line">
            <a:avLst/>
          </a:prstGeom>
          <a:noFill/>
          <a:ln w="25400">
            <a:solidFill>
              <a:srgbClr val="6A3FA0"/>
            </a:solidFill>
            <a:prstDash val="solid"/>
          </a:ln>
        </p:spPr>
      </p:sp>
      <p:sp>
        <p:nvSpPr>
          <p:cNvPr id="134" name="Shape 132"/>
          <p:cNvSpPr/>
          <p:nvPr/>
        </p:nvSpPr>
        <p:spPr>
          <a:xfrm>
            <a:off x="2999232" y="1784047"/>
            <a:ext cx="28289" cy="4626"/>
          </a:xfrm>
          <a:prstGeom prst="line">
            <a:avLst/>
          </a:prstGeom>
          <a:noFill/>
          <a:ln w="25400">
            <a:solidFill>
              <a:srgbClr val="6A3FA0"/>
            </a:solidFill>
            <a:prstDash val="solid"/>
          </a:ln>
        </p:spPr>
      </p:sp>
      <p:sp>
        <p:nvSpPr>
          <p:cNvPr id="135" name="Shape 133"/>
          <p:cNvSpPr/>
          <p:nvPr/>
        </p:nvSpPr>
        <p:spPr>
          <a:xfrm>
            <a:off x="3027521" y="1788673"/>
            <a:ext cx="28289" cy="4786"/>
          </a:xfrm>
          <a:prstGeom prst="line">
            <a:avLst/>
          </a:prstGeom>
          <a:noFill/>
          <a:ln w="25400">
            <a:solidFill>
              <a:srgbClr val="6A3FA0"/>
            </a:solidFill>
            <a:prstDash val="solid"/>
          </a:ln>
        </p:spPr>
      </p:sp>
      <p:sp>
        <p:nvSpPr>
          <p:cNvPr id="136" name="Shape 134"/>
          <p:cNvSpPr/>
          <p:nvPr/>
        </p:nvSpPr>
        <p:spPr>
          <a:xfrm>
            <a:off x="3055811" y="1793459"/>
            <a:ext cx="28289" cy="4959"/>
          </a:xfrm>
          <a:prstGeom prst="line">
            <a:avLst/>
          </a:prstGeom>
          <a:noFill/>
          <a:ln w="25400">
            <a:solidFill>
              <a:srgbClr val="6A3FA0"/>
            </a:solidFill>
            <a:prstDash val="solid"/>
          </a:ln>
        </p:spPr>
      </p:sp>
      <p:sp>
        <p:nvSpPr>
          <p:cNvPr id="137" name="Shape 135"/>
          <p:cNvSpPr/>
          <p:nvPr/>
        </p:nvSpPr>
        <p:spPr>
          <a:xfrm>
            <a:off x="3084100" y="1798418"/>
            <a:ext cx="28289" cy="5149"/>
          </a:xfrm>
          <a:prstGeom prst="line">
            <a:avLst/>
          </a:prstGeom>
          <a:noFill/>
          <a:ln w="25400">
            <a:solidFill>
              <a:srgbClr val="6A3FA0"/>
            </a:solidFill>
            <a:prstDash val="solid"/>
          </a:ln>
        </p:spPr>
      </p:sp>
      <p:sp>
        <p:nvSpPr>
          <p:cNvPr id="138" name="Shape 136"/>
          <p:cNvSpPr/>
          <p:nvPr/>
        </p:nvSpPr>
        <p:spPr>
          <a:xfrm>
            <a:off x="3112389" y="1803567"/>
            <a:ext cx="28289" cy="5356"/>
          </a:xfrm>
          <a:prstGeom prst="line">
            <a:avLst/>
          </a:prstGeom>
          <a:noFill/>
          <a:ln w="25400">
            <a:solidFill>
              <a:srgbClr val="6A3FA0"/>
            </a:solidFill>
            <a:prstDash val="solid"/>
          </a:ln>
        </p:spPr>
      </p:sp>
      <p:sp>
        <p:nvSpPr>
          <p:cNvPr id="139" name="Shape 137"/>
          <p:cNvSpPr/>
          <p:nvPr/>
        </p:nvSpPr>
        <p:spPr>
          <a:xfrm>
            <a:off x="3140678" y="1808923"/>
            <a:ext cx="28289" cy="5585"/>
          </a:xfrm>
          <a:prstGeom prst="line">
            <a:avLst/>
          </a:prstGeom>
          <a:noFill/>
          <a:ln w="25400">
            <a:solidFill>
              <a:srgbClr val="6A3FA0"/>
            </a:solidFill>
            <a:prstDash val="solid"/>
          </a:ln>
        </p:spPr>
      </p:sp>
      <p:sp>
        <p:nvSpPr>
          <p:cNvPr id="140" name="Shape 138"/>
          <p:cNvSpPr/>
          <p:nvPr/>
        </p:nvSpPr>
        <p:spPr>
          <a:xfrm>
            <a:off x="3168968" y="1814508"/>
            <a:ext cx="28289" cy="5837"/>
          </a:xfrm>
          <a:prstGeom prst="line">
            <a:avLst/>
          </a:prstGeom>
          <a:noFill/>
          <a:ln w="25400">
            <a:solidFill>
              <a:srgbClr val="6A3FA0"/>
            </a:solidFill>
            <a:prstDash val="solid"/>
          </a:ln>
        </p:spPr>
      </p:sp>
      <p:sp>
        <p:nvSpPr>
          <p:cNvPr id="141" name="Shape 139"/>
          <p:cNvSpPr/>
          <p:nvPr/>
        </p:nvSpPr>
        <p:spPr>
          <a:xfrm>
            <a:off x="3197257" y="1820345"/>
            <a:ext cx="28289" cy="6117"/>
          </a:xfrm>
          <a:prstGeom prst="line">
            <a:avLst/>
          </a:prstGeom>
          <a:noFill/>
          <a:ln w="25400">
            <a:solidFill>
              <a:srgbClr val="6A3FA0"/>
            </a:solidFill>
            <a:prstDash val="solid"/>
          </a:ln>
        </p:spPr>
      </p:sp>
      <p:sp>
        <p:nvSpPr>
          <p:cNvPr id="142" name="Shape 140"/>
          <p:cNvSpPr/>
          <p:nvPr/>
        </p:nvSpPr>
        <p:spPr>
          <a:xfrm>
            <a:off x="3225546" y="1826461"/>
            <a:ext cx="28289" cy="6429"/>
          </a:xfrm>
          <a:prstGeom prst="line">
            <a:avLst/>
          </a:prstGeom>
          <a:noFill/>
          <a:ln w="25400">
            <a:solidFill>
              <a:srgbClr val="6A3FA0"/>
            </a:solidFill>
            <a:prstDash val="solid"/>
          </a:ln>
        </p:spPr>
      </p:sp>
      <p:sp>
        <p:nvSpPr>
          <p:cNvPr id="143" name="Shape 141"/>
          <p:cNvSpPr/>
          <p:nvPr/>
        </p:nvSpPr>
        <p:spPr>
          <a:xfrm>
            <a:off x="3253835" y="1832890"/>
            <a:ext cx="28289" cy="6779"/>
          </a:xfrm>
          <a:prstGeom prst="line">
            <a:avLst/>
          </a:prstGeom>
          <a:noFill/>
          <a:ln w="25400">
            <a:solidFill>
              <a:srgbClr val="6A3FA0"/>
            </a:solidFill>
            <a:prstDash val="solid"/>
          </a:ln>
        </p:spPr>
      </p:sp>
      <p:sp>
        <p:nvSpPr>
          <p:cNvPr id="144" name="Shape 142"/>
          <p:cNvSpPr/>
          <p:nvPr/>
        </p:nvSpPr>
        <p:spPr>
          <a:xfrm>
            <a:off x="3282125" y="1839669"/>
            <a:ext cx="28289" cy="7176"/>
          </a:xfrm>
          <a:prstGeom prst="line">
            <a:avLst/>
          </a:prstGeom>
          <a:noFill/>
          <a:ln w="25400">
            <a:solidFill>
              <a:srgbClr val="6A3FA0"/>
            </a:solidFill>
            <a:prstDash val="solid"/>
          </a:ln>
        </p:spPr>
      </p:sp>
      <p:sp>
        <p:nvSpPr>
          <p:cNvPr id="145" name="Shape 143"/>
          <p:cNvSpPr/>
          <p:nvPr/>
        </p:nvSpPr>
        <p:spPr>
          <a:xfrm>
            <a:off x="3310414" y="1846845"/>
            <a:ext cx="28289" cy="7627"/>
          </a:xfrm>
          <a:prstGeom prst="line">
            <a:avLst/>
          </a:prstGeom>
          <a:noFill/>
          <a:ln w="25400">
            <a:solidFill>
              <a:srgbClr val="6A3FA0"/>
            </a:solidFill>
            <a:prstDash val="solid"/>
          </a:ln>
        </p:spPr>
      </p:sp>
      <p:sp>
        <p:nvSpPr>
          <p:cNvPr id="146" name="Shape 144"/>
          <p:cNvSpPr/>
          <p:nvPr/>
        </p:nvSpPr>
        <p:spPr>
          <a:xfrm>
            <a:off x="3338703" y="1854472"/>
            <a:ext cx="28289" cy="8146"/>
          </a:xfrm>
          <a:prstGeom prst="line">
            <a:avLst/>
          </a:prstGeom>
          <a:noFill/>
          <a:ln w="25400">
            <a:solidFill>
              <a:srgbClr val="6A3FA0"/>
            </a:solidFill>
            <a:prstDash val="solid"/>
          </a:ln>
        </p:spPr>
      </p:sp>
      <p:sp>
        <p:nvSpPr>
          <p:cNvPr id="147" name="Shape 145"/>
          <p:cNvSpPr/>
          <p:nvPr/>
        </p:nvSpPr>
        <p:spPr>
          <a:xfrm>
            <a:off x="3366992" y="1862618"/>
            <a:ext cx="28289" cy="8749"/>
          </a:xfrm>
          <a:prstGeom prst="line">
            <a:avLst/>
          </a:prstGeom>
          <a:noFill/>
          <a:ln w="25400">
            <a:solidFill>
              <a:srgbClr val="6A3FA0"/>
            </a:solidFill>
            <a:prstDash val="solid"/>
          </a:ln>
        </p:spPr>
      </p:sp>
      <p:sp>
        <p:nvSpPr>
          <p:cNvPr id="148" name="Shape 146"/>
          <p:cNvSpPr/>
          <p:nvPr/>
        </p:nvSpPr>
        <p:spPr>
          <a:xfrm>
            <a:off x="3395282" y="1871367"/>
            <a:ext cx="28289" cy="9457"/>
          </a:xfrm>
          <a:prstGeom prst="line">
            <a:avLst/>
          </a:prstGeom>
          <a:noFill/>
          <a:ln w="25400">
            <a:solidFill>
              <a:srgbClr val="6A3FA0"/>
            </a:solidFill>
            <a:prstDash val="solid"/>
          </a:ln>
        </p:spPr>
      </p:sp>
      <p:sp>
        <p:nvSpPr>
          <p:cNvPr id="149" name="Shape 147"/>
          <p:cNvSpPr/>
          <p:nvPr/>
        </p:nvSpPr>
        <p:spPr>
          <a:xfrm>
            <a:off x="3423571" y="1880825"/>
            <a:ext cx="28289" cy="10302"/>
          </a:xfrm>
          <a:prstGeom prst="line">
            <a:avLst/>
          </a:prstGeom>
          <a:noFill/>
          <a:ln w="25400">
            <a:solidFill>
              <a:srgbClr val="6A3FA0"/>
            </a:solidFill>
            <a:prstDash val="solid"/>
          </a:ln>
        </p:spPr>
      </p:sp>
      <p:sp>
        <p:nvSpPr>
          <p:cNvPr id="150" name="Shape 148"/>
          <p:cNvSpPr/>
          <p:nvPr/>
        </p:nvSpPr>
        <p:spPr>
          <a:xfrm>
            <a:off x="3451860" y="1891126"/>
            <a:ext cx="28289" cy="11325"/>
          </a:xfrm>
          <a:prstGeom prst="line">
            <a:avLst/>
          </a:prstGeom>
          <a:noFill/>
          <a:ln w="25400">
            <a:solidFill>
              <a:srgbClr val="6A3FA0"/>
            </a:solidFill>
            <a:prstDash val="solid"/>
          </a:ln>
        </p:spPr>
      </p:sp>
      <p:sp>
        <p:nvSpPr>
          <p:cNvPr id="151" name="Shape 149"/>
          <p:cNvSpPr/>
          <p:nvPr/>
        </p:nvSpPr>
        <p:spPr>
          <a:xfrm>
            <a:off x="3480149" y="1902451"/>
            <a:ext cx="28289" cy="12590"/>
          </a:xfrm>
          <a:prstGeom prst="line">
            <a:avLst/>
          </a:prstGeom>
          <a:noFill/>
          <a:ln w="25400">
            <a:solidFill>
              <a:srgbClr val="6A3FA0"/>
            </a:solidFill>
            <a:prstDash val="solid"/>
          </a:ln>
        </p:spPr>
      </p:sp>
      <p:sp>
        <p:nvSpPr>
          <p:cNvPr id="152" name="Shape 150"/>
          <p:cNvSpPr/>
          <p:nvPr/>
        </p:nvSpPr>
        <p:spPr>
          <a:xfrm>
            <a:off x="3508439" y="1915041"/>
            <a:ext cx="28289" cy="14195"/>
          </a:xfrm>
          <a:prstGeom prst="line">
            <a:avLst/>
          </a:prstGeom>
          <a:noFill/>
          <a:ln w="25400">
            <a:solidFill>
              <a:srgbClr val="6A3FA0"/>
            </a:solidFill>
            <a:prstDash val="solid"/>
          </a:ln>
        </p:spPr>
      </p:sp>
      <p:sp>
        <p:nvSpPr>
          <p:cNvPr id="153" name="Shape 151"/>
          <p:cNvSpPr/>
          <p:nvPr/>
        </p:nvSpPr>
        <p:spPr>
          <a:xfrm>
            <a:off x="3536728" y="1929237"/>
            <a:ext cx="28289" cy="16298"/>
          </a:xfrm>
          <a:prstGeom prst="line">
            <a:avLst/>
          </a:prstGeom>
          <a:noFill/>
          <a:ln w="25400">
            <a:solidFill>
              <a:srgbClr val="6A3FA0"/>
            </a:solidFill>
            <a:prstDash val="solid"/>
          </a:ln>
        </p:spPr>
      </p:sp>
      <p:sp>
        <p:nvSpPr>
          <p:cNvPr id="154" name="Shape 152"/>
          <p:cNvSpPr/>
          <p:nvPr/>
        </p:nvSpPr>
        <p:spPr>
          <a:xfrm>
            <a:off x="3565017" y="1945534"/>
            <a:ext cx="28289" cy="19171"/>
          </a:xfrm>
          <a:prstGeom prst="line">
            <a:avLst/>
          </a:prstGeom>
          <a:noFill/>
          <a:ln w="25400">
            <a:solidFill>
              <a:srgbClr val="6A3FA0"/>
            </a:solidFill>
            <a:prstDash val="solid"/>
          </a:ln>
        </p:spPr>
      </p:sp>
      <p:sp>
        <p:nvSpPr>
          <p:cNvPr id="155" name="Shape 153"/>
          <p:cNvSpPr/>
          <p:nvPr/>
        </p:nvSpPr>
        <p:spPr>
          <a:xfrm>
            <a:off x="3593306" y="1964706"/>
            <a:ext cx="28289" cy="23337"/>
          </a:xfrm>
          <a:prstGeom prst="line">
            <a:avLst/>
          </a:prstGeom>
          <a:noFill/>
          <a:ln w="25400">
            <a:solidFill>
              <a:srgbClr val="6A3FA0"/>
            </a:solidFill>
            <a:prstDash val="solid"/>
          </a:ln>
        </p:spPr>
      </p:sp>
      <p:sp>
        <p:nvSpPr>
          <p:cNvPr id="156" name="Shape 154"/>
          <p:cNvSpPr/>
          <p:nvPr/>
        </p:nvSpPr>
        <p:spPr>
          <a:xfrm>
            <a:off x="3621596" y="1988043"/>
            <a:ext cx="28289" cy="29925"/>
          </a:xfrm>
          <a:prstGeom prst="line">
            <a:avLst/>
          </a:prstGeom>
          <a:noFill/>
          <a:ln w="25400">
            <a:solidFill>
              <a:srgbClr val="6A3FA0"/>
            </a:solidFill>
            <a:prstDash val="solid"/>
          </a:ln>
        </p:spPr>
      </p:sp>
      <p:sp>
        <p:nvSpPr>
          <p:cNvPr id="157" name="Shape 155"/>
          <p:cNvSpPr/>
          <p:nvPr/>
        </p:nvSpPr>
        <p:spPr>
          <a:xfrm>
            <a:off x="3649885" y="2017968"/>
            <a:ext cx="28289" cy="41949"/>
          </a:xfrm>
          <a:prstGeom prst="line">
            <a:avLst/>
          </a:prstGeom>
          <a:noFill/>
          <a:ln w="25400">
            <a:solidFill>
              <a:srgbClr val="6A3FA0"/>
            </a:solidFill>
            <a:prstDash val="solid"/>
          </a:ln>
        </p:spPr>
      </p:sp>
      <p:sp>
        <p:nvSpPr>
          <p:cNvPr id="158" name="Shape 156"/>
          <p:cNvSpPr/>
          <p:nvPr/>
        </p:nvSpPr>
        <p:spPr>
          <a:xfrm>
            <a:off x="3678174" y="2059917"/>
            <a:ext cx="28289" cy="71323"/>
          </a:xfrm>
          <a:prstGeom prst="line">
            <a:avLst/>
          </a:prstGeom>
          <a:noFill/>
          <a:ln w="25400">
            <a:solidFill>
              <a:srgbClr val="6A3FA0"/>
            </a:solidFill>
            <a:prstDash val="solid"/>
          </a:ln>
        </p:spPr>
      </p:sp>
      <p:sp>
        <p:nvSpPr>
          <p:cNvPr id="159" name="Shape 157"/>
          <p:cNvSpPr/>
          <p:nvPr/>
        </p:nvSpPr>
        <p:spPr>
          <a:xfrm>
            <a:off x="3706463" y="2131240"/>
            <a:ext cx="28289" cy="886280"/>
          </a:xfrm>
          <a:prstGeom prst="line">
            <a:avLst/>
          </a:prstGeom>
          <a:noFill/>
          <a:ln w="25400">
            <a:solidFill>
              <a:srgbClr val="6A3FA0"/>
            </a:solidFill>
            <a:prstDash val="solid"/>
          </a:ln>
        </p:spPr>
      </p:sp>
      <p:sp>
        <p:nvSpPr>
          <p:cNvPr id="160" name="Shape 158"/>
          <p:cNvSpPr/>
          <p:nvPr/>
        </p:nvSpPr>
        <p:spPr>
          <a:xfrm>
            <a:off x="3734753" y="3017520"/>
            <a:ext cx="28289" cy="885205"/>
          </a:xfrm>
          <a:prstGeom prst="line">
            <a:avLst/>
          </a:prstGeom>
          <a:noFill/>
          <a:ln w="25400">
            <a:solidFill>
              <a:srgbClr val="6A3FA0"/>
            </a:solidFill>
            <a:prstDash val="solid"/>
          </a:ln>
        </p:spPr>
      </p:sp>
      <p:sp>
        <p:nvSpPr>
          <p:cNvPr id="161" name="Shape 159"/>
          <p:cNvSpPr/>
          <p:nvPr/>
        </p:nvSpPr>
        <p:spPr>
          <a:xfrm>
            <a:off x="3763042" y="3902725"/>
            <a:ext cx="28289" cy="70248"/>
          </a:xfrm>
          <a:prstGeom prst="line">
            <a:avLst/>
          </a:prstGeom>
          <a:noFill/>
          <a:ln w="25400">
            <a:solidFill>
              <a:srgbClr val="6A3FA0"/>
            </a:solidFill>
            <a:prstDash val="solid"/>
          </a:ln>
        </p:spPr>
      </p:sp>
      <p:sp>
        <p:nvSpPr>
          <p:cNvPr id="162" name="Shape 160"/>
          <p:cNvSpPr/>
          <p:nvPr/>
        </p:nvSpPr>
        <p:spPr>
          <a:xfrm>
            <a:off x="3791331" y="3972973"/>
            <a:ext cx="28289" cy="40874"/>
          </a:xfrm>
          <a:prstGeom prst="line">
            <a:avLst/>
          </a:prstGeom>
          <a:noFill/>
          <a:ln w="25400">
            <a:solidFill>
              <a:srgbClr val="6A3FA0"/>
            </a:solidFill>
            <a:prstDash val="solid"/>
          </a:ln>
        </p:spPr>
      </p:sp>
      <p:sp>
        <p:nvSpPr>
          <p:cNvPr id="163" name="Shape 161"/>
          <p:cNvSpPr/>
          <p:nvPr/>
        </p:nvSpPr>
        <p:spPr>
          <a:xfrm>
            <a:off x="3819620" y="4013847"/>
            <a:ext cx="28289" cy="28849"/>
          </a:xfrm>
          <a:prstGeom prst="line">
            <a:avLst/>
          </a:prstGeom>
          <a:noFill/>
          <a:ln w="25400">
            <a:solidFill>
              <a:srgbClr val="6A3FA0"/>
            </a:solidFill>
            <a:prstDash val="solid"/>
          </a:ln>
        </p:spPr>
      </p:sp>
      <p:sp>
        <p:nvSpPr>
          <p:cNvPr id="164" name="Shape 162"/>
          <p:cNvSpPr/>
          <p:nvPr/>
        </p:nvSpPr>
        <p:spPr>
          <a:xfrm>
            <a:off x="3847910" y="4042697"/>
            <a:ext cx="28289" cy="22262"/>
          </a:xfrm>
          <a:prstGeom prst="line">
            <a:avLst/>
          </a:prstGeom>
          <a:noFill/>
          <a:ln w="25400">
            <a:solidFill>
              <a:srgbClr val="6A3FA0"/>
            </a:solidFill>
            <a:prstDash val="solid"/>
          </a:ln>
        </p:spPr>
      </p:sp>
      <p:sp>
        <p:nvSpPr>
          <p:cNvPr id="165" name="Shape 163"/>
          <p:cNvSpPr/>
          <p:nvPr/>
        </p:nvSpPr>
        <p:spPr>
          <a:xfrm>
            <a:off x="3876199" y="4064958"/>
            <a:ext cx="28289" cy="18096"/>
          </a:xfrm>
          <a:prstGeom prst="line">
            <a:avLst/>
          </a:prstGeom>
          <a:noFill/>
          <a:ln w="25400">
            <a:solidFill>
              <a:srgbClr val="6A3FA0"/>
            </a:solidFill>
            <a:prstDash val="solid"/>
          </a:ln>
        </p:spPr>
      </p:sp>
      <p:sp>
        <p:nvSpPr>
          <p:cNvPr id="166" name="Shape 164"/>
          <p:cNvSpPr/>
          <p:nvPr/>
        </p:nvSpPr>
        <p:spPr>
          <a:xfrm>
            <a:off x="3904488" y="4083054"/>
            <a:ext cx="28289" cy="15222"/>
          </a:xfrm>
          <a:prstGeom prst="line">
            <a:avLst/>
          </a:prstGeom>
          <a:noFill/>
          <a:ln w="25400">
            <a:solidFill>
              <a:srgbClr val="6A3FA0"/>
            </a:solidFill>
            <a:prstDash val="solid"/>
          </a:ln>
        </p:spPr>
      </p:sp>
      <p:sp>
        <p:nvSpPr>
          <p:cNvPr id="167" name="Shape 165"/>
          <p:cNvSpPr/>
          <p:nvPr/>
        </p:nvSpPr>
        <p:spPr>
          <a:xfrm>
            <a:off x="3932777" y="4098276"/>
            <a:ext cx="28289" cy="13119"/>
          </a:xfrm>
          <a:prstGeom prst="line">
            <a:avLst/>
          </a:prstGeom>
          <a:noFill/>
          <a:ln w="25400">
            <a:solidFill>
              <a:srgbClr val="6A3FA0"/>
            </a:solidFill>
            <a:prstDash val="solid"/>
          </a:ln>
        </p:spPr>
      </p:sp>
      <p:sp>
        <p:nvSpPr>
          <p:cNvPr id="168" name="Shape 166"/>
          <p:cNvSpPr/>
          <p:nvPr/>
        </p:nvSpPr>
        <p:spPr>
          <a:xfrm>
            <a:off x="3961067" y="4111394"/>
            <a:ext cx="28289" cy="11513"/>
          </a:xfrm>
          <a:prstGeom prst="line">
            <a:avLst/>
          </a:prstGeom>
          <a:noFill/>
          <a:ln w="25400">
            <a:solidFill>
              <a:srgbClr val="6A3FA0"/>
            </a:solidFill>
            <a:prstDash val="solid"/>
          </a:ln>
        </p:spPr>
      </p:sp>
      <p:sp>
        <p:nvSpPr>
          <p:cNvPr id="169" name="Shape 167"/>
          <p:cNvSpPr/>
          <p:nvPr/>
        </p:nvSpPr>
        <p:spPr>
          <a:xfrm>
            <a:off x="3989356" y="4122907"/>
            <a:ext cx="28289" cy="10247"/>
          </a:xfrm>
          <a:prstGeom prst="line">
            <a:avLst/>
          </a:prstGeom>
          <a:noFill/>
          <a:ln w="25400">
            <a:solidFill>
              <a:srgbClr val="6A3FA0"/>
            </a:solidFill>
            <a:prstDash val="solid"/>
          </a:ln>
        </p:spPr>
      </p:sp>
      <p:sp>
        <p:nvSpPr>
          <p:cNvPr id="170" name="Shape 168"/>
          <p:cNvSpPr/>
          <p:nvPr/>
        </p:nvSpPr>
        <p:spPr>
          <a:xfrm>
            <a:off x="4017645" y="4133155"/>
            <a:ext cx="28289" cy="9223"/>
          </a:xfrm>
          <a:prstGeom prst="line">
            <a:avLst/>
          </a:prstGeom>
          <a:noFill/>
          <a:ln w="25400">
            <a:solidFill>
              <a:srgbClr val="6A3FA0"/>
            </a:solidFill>
            <a:prstDash val="solid"/>
          </a:ln>
        </p:spPr>
      </p:sp>
      <p:sp>
        <p:nvSpPr>
          <p:cNvPr id="171" name="Shape 169"/>
          <p:cNvSpPr/>
          <p:nvPr/>
        </p:nvSpPr>
        <p:spPr>
          <a:xfrm>
            <a:off x="4045934" y="4142378"/>
            <a:ext cx="28289" cy="8378"/>
          </a:xfrm>
          <a:prstGeom prst="line">
            <a:avLst/>
          </a:prstGeom>
          <a:noFill/>
          <a:ln w="25400">
            <a:solidFill>
              <a:srgbClr val="6A3FA0"/>
            </a:solidFill>
            <a:prstDash val="solid"/>
          </a:ln>
        </p:spPr>
      </p:sp>
      <p:sp>
        <p:nvSpPr>
          <p:cNvPr id="172" name="Shape 170"/>
          <p:cNvSpPr/>
          <p:nvPr/>
        </p:nvSpPr>
        <p:spPr>
          <a:xfrm>
            <a:off x="4074223" y="4150756"/>
            <a:ext cx="28289" cy="7669"/>
          </a:xfrm>
          <a:prstGeom prst="line">
            <a:avLst/>
          </a:prstGeom>
          <a:noFill/>
          <a:ln w="25400">
            <a:solidFill>
              <a:srgbClr val="6A3FA0"/>
            </a:solidFill>
            <a:prstDash val="solid"/>
          </a:ln>
        </p:spPr>
      </p:sp>
      <p:sp>
        <p:nvSpPr>
          <p:cNvPr id="173" name="Shape 171"/>
          <p:cNvSpPr/>
          <p:nvPr/>
        </p:nvSpPr>
        <p:spPr>
          <a:xfrm>
            <a:off x="4102513" y="4158426"/>
            <a:ext cx="28289" cy="7066"/>
          </a:xfrm>
          <a:prstGeom prst="line">
            <a:avLst/>
          </a:prstGeom>
          <a:noFill/>
          <a:ln w="25400">
            <a:solidFill>
              <a:srgbClr val="6A3FA0"/>
            </a:solidFill>
            <a:prstDash val="solid"/>
          </a:ln>
        </p:spPr>
      </p:sp>
      <p:sp>
        <p:nvSpPr>
          <p:cNvPr id="174" name="Shape 172"/>
          <p:cNvSpPr/>
          <p:nvPr/>
        </p:nvSpPr>
        <p:spPr>
          <a:xfrm>
            <a:off x="4130802" y="4165492"/>
            <a:ext cx="28289" cy="6546"/>
          </a:xfrm>
          <a:prstGeom prst="line">
            <a:avLst/>
          </a:prstGeom>
          <a:noFill/>
          <a:ln w="25400">
            <a:solidFill>
              <a:srgbClr val="6A3FA0"/>
            </a:solidFill>
            <a:prstDash val="solid"/>
          </a:ln>
        </p:spPr>
      </p:sp>
      <p:sp>
        <p:nvSpPr>
          <p:cNvPr id="175" name="Shape 173"/>
          <p:cNvSpPr/>
          <p:nvPr/>
        </p:nvSpPr>
        <p:spPr>
          <a:xfrm>
            <a:off x="4159091" y="4172038"/>
            <a:ext cx="28289" cy="6094"/>
          </a:xfrm>
          <a:prstGeom prst="line">
            <a:avLst/>
          </a:prstGeom>
          <a:noFill/>
          <a:ln w="25400">
            <a:solidFill>
              <a:srgbClr val="6A3FA0"/>
            </a:solidFill>
            <a:prstDash val="solid"/>
          </a:ln>
        </p:spPr>
      </p:sp>
      <p:sp>
        <p:nvSpPr>
          <p:cNvPr id="176" name="Shape 174"/>
          <p:cNvSpPr/>
          <p:nvPr/>
        </p:nvSpPr>
        <p:spPr>
          <a:xfrm>
            <a:off x="4187381" y="4178131"/>
            <a:ext cx="28289" cy="5696"/>
          </a:xfrm>
          <a:prstGeom prst="line">
            <a:avLst/>
          </a:prstGeom>
          <a:noFill/>
          <a:ln w="25400">
            <a:solidFill>
              <a:srgbClr val="6A3FA0"/>
            </a:solidFill>
            <a:prstDash val="solid"/>
          </a:ln>
        </p:spPr>
      </p:sp>
      <p:sp>
        <p:nvSpPr>
          <p:cNvPr id="177" name="Shape 175"/>
          <p:cNvSpPr/>
          <p:nvPr/>
        </p:nvSpPr>
        <p:spPr>
          <a:xfrm>
            <a:off x="4215670" y="4183827"/>
            <a:ext cx="28289" cy="5345"/>
          </a:xfrm>
          <a:prstGeom prst="line">
            <a:avLst/>
          </a:prstGeom>
          <a:noFill/>
          <a:ln w="25400">
            <a:solidFill>
              <a:srgbClr val="6A3FA0"/>
            </a:solidFill>
            <a:prstDash val="solid"/>
          </a:ln>
        </p:spPr>
      </p:sp>
      <p:sp>
        <p:nvSpPr>
          <p:cNvPr id="178" name="Shape 176"/>
          <p:cNvSpPr/>
          <p:nvPr/>
        </p:nvSpPr>
        <p:spPr>
          <a:xfrm>
            <a:off x="4243959" y="4189172"/>
            <a:ext cx="28289" cy="5031"/>
          </a:xfrm>
          <a:prstGeom prst="line">
            <a:avLst/>
          </a:prstGeom>
          <a:noFill/>
          <a:ln w="25400">
            <a:solidFill>
              <a:srgbClr val="6A3FA0"/>
            </a:solidFill>
            <a:prstDash val="solid"/>
          </a:ln>
        </p:spPr>
      </p:sp>
      <p:sp>
        <p:nvSpPr>
          <p:cNvPr id="179" name="Shape 177"/>
          <p:cNvSpPr/>
          <p:nvPr/>
        </p:nvSpPr>
        <p:spPr>
          <a:xfrm>
            <a:off x="4272248" y="4194203"/>
            <a:ext cx="28289" cy="4750"/>
          </a:xfrm>
          <a:prstGeom prst="line">
            <a:avLst/>
          </a:prstGeom>
          <a:noFill/>
          <a:ln w="25400">
            <a:solidFill>
              <a:srgbClr val="6A3FA0"/>
            </a:solidFill>
            <a:prstDash val="solid"/>
          </a:ln>
        </p:spPr>
      </p:sp>
      <p:sp>
        <p:nvSpPr>
          <p:cNvPr id="180" name="Shape 178"/>
          <p:cNvSpPr/>
          <p:nvPr/>
        </p:nvSpPr>
        <p:spPr>
          <a:xfrm>
            <a:off x="4300538" y="4198954"/>
            <a:ext cx="28289" cy="4497"/>
          </a:xfrm>
          <a:prstGeom prst="line">
            <a:avLst/>
          </a:prstGeom>
          <a:noFill/>
          <a:ln w="25400">
            <a:solidFill>
              <a:srgbClr val="6A3FA0"/>
            </a:solidFill>
            <a:prstDash val="solid"/>
          </a:ln>
        </p:spPr>
      </p:sp>
      <p:sp>
        <p:nvSpPr>
          <p:cNvPr id="181" name="Shape 179"/>
          <p:cNvSpPr/>
          <p:nvPr/>
        </p:nvSpPr>
        <p:spPr>
          <a:xfrm>
            <a:off x="4328827" y="4203451"/>
            <a:ext cx="28289" cy="4268"/>
          </a:xfrm>
          <a:prstGeom prst="line">
            <a:avLst/>
          </a:prstGeom>
          <a:noFill/>
          <a:ln w="25400">
            <a:solidFill>
              <a:srgbClr val="6A3FA0"/>
            </a:solidFill>
            <a:prstDash val="solid"/>
          </a:ln>
        </p:spPr>
      </p:sp>
      <p:sp>
        <p:nvSpPr>
          <p:cNvPr id="182" name="Shape 180"/>
          <p:cNvSpPr/>
          <p:nvPr/>
        </p:nvSpPr>
        <p:spPr>
          <a:xfrm>
            <a:off x="4357116" y="4207719"/>
            <a:ext cx="28289" cy="4059"/>
          </a:xfrm>
          <a:prstGeom prst="line">
            <a:avLst/>
          </a:prstGeom>
          <a:noFill/>
          <a:ln w="25400">
            <a:solidFill>
              <a:srgbClr val="6A3FA0"/>
            </a:solidFill>
            <a:prstDash val="solid"/>
          </a:ln>
        </p:spPr>
      </p:sp>
      <p:sp>
        <p:nvSpPr>
          <p:cNvPr id="183" name="Shape 181"/>
          <p:cNvSpPr/>
          <p:nvPr/>
        </p:nvSpPr>
        <p:spPr>
          <a:xfrm>
            <a:off x="4385405" y="4211777"/>
            <a:ext cx="28289" cy="3868"/>
          </a:xfrm>
          <a:prstGeom prst="line">
            <a:avLst/>
          </a:prstGeom>
          <a:noFill/>
          <a:ln w="25400">
            <a:solidFill>
              <a:srgbClr val="6A3FA0"/>
            </a:solidFill>
            <a:prstDash val="solid"/>
          </a:ln>
        </p:spPr>
      </p:sp>
      <p:sp>
        <p:nvSpPr>
          <p:cNvPr id="184" name="Shape 182"/>
          <p:cNvSpPr/>
          <p:nvPr/>
        </p:nvSpPr>
        <p:spPr>
          <a:xfrm>
            <a:off x="4413695" y="4215645"/>
            <a:ext cx="28289" cy="3693"/>
          </a:xfrm>
          <a:prstGeom prst="line">
            <a:avLst/>
          </a:prstGeom>
          <a:noFill/>
          <a:ln w="25400">
            <a:solidFill>
              <a:srgbClr val="6A3FA0"/>
            </a:solidFill>
            <a:prstDash val="solid"/>
          </a:ln>
        </p:spPr>
      </p:sp>
      <p:sp>
        <p:nvSpPr>
          <p:cNvPr id="185" name="Shape 183"/>
          <p:cNvSpPr/>
          <p:nvPr/>
        </p:nvSpPr>
        <p:spPr>
          <a:xfrm>
            <a:off x="4441984" y="4219338"/>
            <a:ext cx="28289" cy="3531"/>
          </a:xfrm>
          <a:prstGeom prst="line">
            <a:avLst/>
          </a:prstGeom>
          <a:noFill/>
          <a:ln w="25400">
            <a:solidFill>
              <a:srgbClr val="6A3FA0"/>
            </a:solidFill>
            <a:prstDash val="solid"/>
          </a:ln>
        </p:spPr>
      </p:sp>
      <p:sp>
        <p:nvSpPr>
          <p:cNvPr id="186" name="Shape 184"/>
          <p:cNvSpPr/>
          <p:nvPr/>
        </p:nvSpPr>
        <p:spPr>
          <a:xfrm>
            <a:off x="4470273" y="4222869"/>
            <a:ext cx="28289" cy="3382"/>
          </a:xfrm>
          <a:prstGeom prst="line">
            <a:avLst/>
          </a:prstGeom>
          <a:noFill/>
          <a:ln w="25400">
            <a:solidFill>
              <a:srgbClr val="6A3FA0"/>
            </a:solidFill>
            <a:prstDash val="solid"/>
          </a:ln>
        </p:spPr>
      </p:sp>
      <p:sp>
        <p:nvSpPr>
          <p:cNvPr id="187" name="Shape 185"/>
          <p:cNvSpPr/>
          <p:nvPr/>
        </p:nvSpPr>
        <p:spPr>
          <a:xfrm>
            <a:off x="4498562" y="4226251"/>
            <a:ext cx="28289" cy="3244"/>
          </a:xfrm>
          <a:prstGeom prst="line">
            <a:avLst/>
          </a:prstGeom>
          <a:noFill/>
          <a:ln w="25400">
            <a:solidFill>
              <a:srgbClr val="6A3FA0"/>
            </a:solidFill>
            <a:prstDash val="solid"/>
          </a:ln>
        </p:spPr>
      </p:sp>
      <p:sp>
        <p:nvSpPr>
          <p:cNvPr id="188" name="Shape 186"/>
          <p:cNvSpPr/>
          <p:nvPr/>
        </p:nvSpPr>
        <p:spPr>
          <a:xfrm>
            <a:off x="4526852" y="4229495"/>
            <a:ext cx="28289" cy="3116"/>
          </a:xfrm>
          <a:prstGeom prst="line">
            <a:avLst/>
          </a:prstGeom>
          <a:noFill/>
          <a:ln w="25400">
            <a:solidFill>
              <a:srgbClr val="6A3FA0"/>
            </a:solidFill>
            <a:prstDash val="solid"/>
          </a:ln>
        </p:spPr>
      </p:sp>
      <p:sp>
        <p:nvSpPr>
          <p:cNvPr id="189" name="Shape 187"/>
          <p:cNvSpPr/>
          <p:nvPr/>
        </p:nvSpPr>
        <p:spPr>
          <a:xfrm>
            <a:off x="4555141" y="4232611"/>
            <a:ext cx="28289" cy="2997"/>
          </a:xfrm>
          <a:prstGeom prst="line">
            <a:avLst/>
          </a:prstGeom>
          <a:noFill/>
          <a:ln w="25400">
            <a:solidFill>
              <a:srgbClr val="6A3FA0"/>
            </a:solidFill>
            <a:prstDash val="solid"/>
          </a:ln>
        </p:spPr>
      </p:sp>
      <p:sp>
        <p:nvSpPr>
          <p:cNvPr id="190" name="Shape 188"/>
          <p:cNvSpPr/>
          <p:nvPr/>
        </p:nvSpPr>
        <p:spPr>
          <a:xfrm>
            <a:off x="4583430" y="4235608"/>
            <a:ext cx="28289" cy="2885"/>
          </a:xfrm>
          <a:prstGeom prst="line">
            <a:avLst/>
          </a:prstGeom>
          <a:noFill/>
          <a:ln w="25400">
            <a:solidFill>
              <a:srgbClr val="6A3FA0"/>
            </a:solidFill>
            <a:prstDash val="solid"/>
          </a:ln>
        </p:spPr>
      </p:sp>
      <p:sp>
        <p:nvSpPr>
          <p:cNvPr id="191" name="Shape 189"/>
          <p:cNvSpPr/>
          <p:nvPr/>
        </p:nvSpPr>
        <p:spPr>
          <a:xfrm>
            <a:off x="4611719" y="4238493"/>
            <a:ext cx="28289" cy="2781"/>
          </a:xfrm>
          <a:prstGeom prst="line">
            <a:avLst/>
          </a:prstGeom>
          <a:noFill/>
          <a:ln w="25400">
            <a:solidFill>
              <a:srgbClr val="6A3FA0"/>
            </a:solidFill>
            <a:prstDash val="solid"/>
          </a:ln>
        </p:spPr>
      </p:sp>
      <p:sp>
        <p:nvSpPr>
          <p:cNvPr id="192" name="Shape 190"/>
          <p:cNvSpPr/>
          <p:nvPr/>
        </p:nvSpPr>
        <p:spPr>
          <a:xfrm>
            <a:off x="4640009" y="4241274"/>
            <a:ext cx="28289" cy="2683"/>
          </a:xfrm>
          <a:prstGeom prst="line">
            <a:avLst/>
          </a:prstGeom>
          <a:noFill/>
          <a:ln w="25400">
            <a:solidFill>
              <a:srgbClr val="6A3FA0"/>
            </a:solidFill>
            <a:prstDash val="solid"/>
          </a:ln>
        </p:spPr>
      </p:sp>
      <p:sp>
        <p:nvSpPr>
          <p:cNvPr id="193" name="Shape 191"/>
          <p:cNvSpPr/>
          <p:nvPr/>
        </p:nvSpPr>
        <p:spPr>
          <a:xfrm>
            <a:off x="4668298" y="4243958"/>
            <a:ext cx="28289" cy="2592"/>
          </a:xfrm>
          <a:prstGeom prst="line">
            <a:avLst/>
          </a:prstGeom>
          <a:noFill/>
          <a:ln w="25400">
            <a:solidFill>
              <a:srgbClr val="6A3FA0"/>
            </a:solidFill>
            <a:prstDash val="solid"/>
          </a:ln>
        </p:spPr>
      </p:sp>
      <p:sp>
        <p:nvSpPr>
          <p:cNvPr id="194" name="Shape 192"/>
          <p:cNvSpPr/>
          <p:nvPr/>
        </p:nvSpPr>
        <p:spPr>
          <a:xfrm>
            <a:off x="4696587" y="4246549"/>
            <a:ext cx="28289" cy="2505"/>
          </a:xfrm>
          <a:prstGeom prst="line">
            <a:avLst/>
          </a:prstGeom>
          <a:noFill/>
          <a:ln w="25400">
            <a:solidFill>
              <a:srgbClr val="6A3FA0"/>
            </a:solidFill>
            <a:prstDash val="solid"/>
          </a:ln>
        </p:spPr>
      </p:sp>
      <p:sp>
        <p:nvSpPr>
          <p:cNvPr id="195" name="Shape 193"/>
          <p:cNvSpPr/>
          <p:nvPr/>
        </p:nvSpPr>
        <p:spPr>
          <a:xfrm>
            <a:off x="4724876" y="4249054"/>
            <a:ext cx="28289" cy="2424"/>
          </a:xfrm>
          <a:prstGeom prst="line">
            <a:avLst/>
          </a:prstGeom>
          <a:noFill/>
          <a:ln w="25400">
            <a:solidFill>
              <a:srgbClr val="6A3FA0"/>
            </a:solidFill>
            <a:prstDash val="solid"/>
          </a:ln>
        </p:spPr>
      </p:sp>
      <p:sp>
        <p:nvSpPr>
          <p:cNvPr id="196" name="Shape 194"/>
          <p:cNvSpPr/>
          <p:nvPr/>
        </p:nvSpPr>
        <p:spPr>
          <a:xfrm>
            <a:off x="4753166" y="4251478"/>
            <a:ext cx="28289" cy="2347"/>
          </a:xfrm>
          <a:prstGeom prst="line">
            <a:avLst/>
          </a:prstGeom>
          <a:noFill/>
          <a:ln w="25400">
            <a:solidFill>
              <a:srgbClr val="6A3FA0"/>
            </a:solidFill>
            <a:prstDash val="solid"/>
          </a:ln>
        </p:spPr>
      </p:sp>
      <p:sp>
        <p:nvSpPr>
          <p:cNvPr id="197" name="Shape 195"/>
          <p:cNvSpPr/>
          <p:nvPr/>
        </p:nvSpPr>
        <p:spPr>
          <a:xfrm>
            <a:off x="4781455" y="4253825"/>
            <a:ext cx="28289" cy="2274"/>
          </a:xfrm>
          <a:prstGeom prst="line">
            <a:avLst/>
          </a:prstGeom>
          <a:noFill/>
          <a:ln w="25400">
            <a:solidFill>
              <a:srgbClr val="6A3FA0"/>
            </a:solidFill>
            <a:prstDash val="solid"/>
          </a:ln>
        </p:spPr>
      </p:sp>
      <p:sp>
        <p:nvSpPr>
          <p:cNvPr id="198" name="Shape 196"/>
          <p:cNvSpPr/>
          <p:nvPr/>
        </p:nvSpPr>
        <p:spPr>
          <a:xfrm>
            <a:off x="4809744" y="4256100"/>
            <a:ext cx="28289" cy="2206"/>
          </a:xfrm>
          <a:prstGeom prst="line">
            <a:avLst/>
          </a:prstGeom>
          <a:noFill/>
          <a:ln w="25400">
            <a:solidFill>
              <a:srgbClr val="6A3FA0"/>
            </a:solidFill>
            <a:prstDash val="solid"/>
          </a:ln>
        </p:spPr>
      </p:sp>
      <p:sp>
        <p:nvSpPr>
          <p:cNvPr id="199" name="Shape 197"/>
          <p:cNvSpPr/>
          <p:nvPr/>
        </p:nvSpPr>
        <p:spPr>
          <a:xfrm>
            <a:off x="4838033" y="4258305"/>
            <a:ext cx="28289" cy="2140"/>
          </a:xfrm>
          <a:prstGeom prst="line">
            <a:avLst/>
          </a:prstGeom>
          <a:noFill/>
          <a:ln w="25400">
            <a:solidFill>
              <a:srgbClr val="6A3FA0"/>
            </a:solidFill>
            <a:prstDash val="solid"/>
          </a:ln>
        </p:spPr>
      </p:sp>
      <p:sp>
        <p:nvSpPr>
          <p:cNvPr id="200" name="Shape 198"/>
          <p:cNvSpPr/>
          <p:nvPr/>
        </p:nvSpPr>
        <p:spPr>
          <a:xfrm>
            <a:off x="4866323" y="4260446"/>
            <a:ext cx="28289" cy="2078"/>
          </a:xfrm>
          <a:prstGeom prst="line">
            <a:avLst/>
          </a:prstGeom>
          <a:noFill/>
          <a:ln w="25400">
            <a:solidFill>
              <a:srgbClr val="6A3FA0"/>
            </a:solidFill>
            <a:prstDash val="solid"/>
          </a:ln>
        </p:spPr>
      </p:sp>
      <p:sp>
        <p:nvSpPr>
          <p:cNvPr id="201" name="Shape 199"/>
          <p:cNvSpPr/>
          <p:nvPr/>
        </p:nvSpPr>
        <p:spPr>
          <a:xfrm>
            <a:off x="4894612" y="4262524"/>
            <a:ext cx="28289" cy="2020"/>
          </a:xfrm>
          <a:prstGeom prst="line">
            <a:avLst/>
          </a:prstGeom>
          <a:noFill/>
          <a:ln w="25400">
            <a:solidFill>
              <a:srgbClr val="6A3FA0"/>
            </a:solidFill>
            <a:prstDash val="solid"/>
          </a:ln>
        </p:spPr>
      </p:sp>
      <p:sp>
        <p:nvSpPr>
          <p:cNvPr id="202" name="Shape 200"/>
          <p:cNvSpPr/>
          <p:nvPr/>
        </p:nvSpPr>
        <p:spPr>
          <a:xfrm>
            <a:off x="4922901" y="4264544"/>
            <a:ext cx="28289" cy="1964"/>
          </a:xfrm>
          <a:prstGeom prst="line">
            <a:avLst/>
          </a:prstGeom>
          <a:noFill/>
          <a:ln w="25400">
            <a:solidFill>
              <a:srgbClr val="6A3FA0"/>
            </a:solidFill>
            <a:prstDash val="solid"/>
          </a:ln>
        </p:spPr>
      </p:sp>
      <p:sp>
        <p:nvSpPr>
          <p:cNvPr id="203" name="Shape 201"/>
          <p:cNvSpPr/>
          <p:nvPr/>
        </p:nvSpPr>
        <p:spPr>
          <a:xfrm>
            <a:off x="4951190" y="4266508"/>
            <a:ext cx="28289" cy="1910"/>
          </a:xfrm>
          <a:prstGeom prst="line">
            <a:avLst/>
          </a:prstGeom>
          <a:noFill/>
          <a:ln w="25400">
            <a:solidFill>
              <a:srgbClr val="6A3FA0"/>
            </a:solidFill>
            <a:prstDash val="solid"/>
          </a:ln>
        </p:spPr>
      </p:sp>
      <p:sp>
        <p:nvSpPr>
          <p:cNvPr id="204" name="Shape 202"/>
          <p:cNvSpPr/>
          <p:nvPr/>
        </p:nvSpPr>
        <p:spPr>
          <a:xfrm>
            <a:off x="4979480" y="4268418"/>
            <a:ext cx="28289" cy="1859"/>
          </a:xfrm>
          <a:prstGeom prst="line">
            <a:avLst/>
          </a:prstGeom>
          <a:noFill/>
          <a:ln w="25400">
            <a:solidFill>
              <a:srgbClr val="6A3FA0"/>
            </a:solidFill>
            <a:prstDash val="solid"/>
          </a:ln>
        </p:spPr>
      </p:sp>
      <p:sp>
        <p:nvSpPr>
          <p:cNvPr id="205" name="Shape 203"/>
          <p:cNvSpPr/>
          <p:nvPr/>
        </p:nvSpPr>
        <p:spPr>
          <a:xfrm>
            <a:off x="5007769" y="4270277"/>
            <a:ext cx="28289" cy="1811"/>
          </a:xfrm>
          <a:prstGeom prst="line">
            <a:avLst/>
          </a:prstGeom>
          <a:noFill/>
          <a:ln w="25400">
            <a:solidFill>
              <a:srgbClr val="6A3FA0"/>
            </a:solidFill>
            <a:prstDash val="solid"/>
          </a:ln>
        </p:spPr>
      </p:sp>
      <p:sp>
        <p:nvSpPr>
          <p:cNvPr id="206" name="Shape 204"/>
          <p:cNvSpPr/>
          <p:nvPr/>
        </p:nvSpPr>
        <p:spPr>
          <a:xfrm>
            <a:off x="5036058" y="4272088"/>
            <a:ext cx="28289" cy="1764"/>
          </a:xfrm>
          <a:prstGeom prst="line">
            <a:avLst/>
          </a:prstGeom>
          <a:noFill/>
          <a:ln w="25400">
            <a:solidFill>
              <a:srgbClr val="6A3FA0"/>
            </a:solidFill>
            <a:prstDash val="solid"/>
          </a:ln>
        </p:spPr>
      </p:sp>
      <p:sp>
        <p:nvSpPr>
          <p:cNvPr id="207" name="Shape 205"/>
          <p:cNvSpPr/>
          <p:nvPr/>
        </p:nvSpPr>
        <p:spPr>
          <a:xfrm>
            <a:off x="5064347" y="4273852"/>
            <a:ext cx="28289" cy="1720"/>
          </a:xfrm>
          <a:prstGeom prst="line">
            <a:avLst/>
          </a:prstGeom>
          <a:noFill/>
          <a:ln w="25400">
            <a:solidFill>
              <a:srgbClr val="6A3FA0"/>
            </a:solidFill>
            <a:prstDash val="solid"/>
          </a:ln>
        </p:spPr>
      </p:sp>
      <p:sp>
        <p:nvSpPr>
          <p:cNvPr id="208" name="Shape 206"/>
          <p:cNvSpPr/>
          <p:nvPr/>
        </p:nvSpPr>
        <p:spPr>
          <a:xfrm>
            <a:off x="5092637" y="4275572"/>
            <a:ext cx="28289" cy="1677"/>
          </a:xfrm>
          <a:prstGeom prst="line">
            <a:avLst/>
          </a:prstGeom>
          <a:noFill/>
          <a:ln w="25400">
            <a:solidFill>
              <a:srgbClr val="6A3FA0"/>
            </a:solidFill>
            <a:prstDash val="solid"/>
          </a:ln>
        </p:spPr>
      </p:sp>
      <p:sp>
        <p:nvSpPr>
          <p:cNvPr id="209" name="Shape 207"/>
          <p:cNvSpPr/>
          <p:nvPr/>
        </p:nvSpPr>
        <p:spPr>
          <a:xfrm>
            <a:off x="5120926" y="4277250"/>
            <a:ext cx="28289" cy="1637"/>
          </a:xfrm>
          <a:prstGeom prst="line">
            <a:avLst/>
          </a:prstGeom>
          <a:noFill/>
          <a:ln w="25400">
            <a:solidFill>
              <a:srgbClr val="6A3FA0"/>
            </a:solidFill>
            <a:prstDash val="solid"/>
          </a:ln>
        </p:spPr>
      </p:sp>
      <p:sp>
        <p:nvSpPr>
          <p:cNvPr id="210" name="Shape 208"/>
          <p:cNvSpPr/>
          <p:nvPr/>
        </p:nvSpPr>
        <p:spPr>
          <a:xfrm>
            <a:off x="5149215" y="4278886"/>
            <a:ext cx="28289" cy="1598"/>
          </a:xfrm>
          <a:prstGeom prst="line">
            <a:avLst/>
          </a:prstGeom>
          <a:noFill/>
          <a:ln w="25400">
            <a:solidFill>
              <a:srgbClr val="6A3FA0"/>
            </a:solidFill>
            <a:prstDash val="solid"/>
          </a:ln>
        </p:spPr>
      </p:sp>
      <p:sp>
        <p:nvSpPr>
          <p:cNvPr id="211" name="Shape 209"/>
          <p:cNvSpPr/>
          <p:nvPr/>
        </p:nvSpPr>
        <p:spPr>
          <a:xfrm>
            <a:off x="5177504" y="4280484"/>
            <a:ext cx="28289" cy="1560"/>
          </a:xfrm>
          <a:prstGeom prst="line">
            <a:avLst/>
          </a:prstGeom>
          <a:noFill/>
          <a:ln w="25400">
            <a:solidFill>
              <a:srgbClr val="6A3FA0"/>
            </a:solidFill>
            <a:prstDash val="solid"/>
          </a:ln>
        </p:spPr>
      </p:sp>
      <p:sp>
        <p:nvSpPr>
          <p:cNvPr id="212" name="Shape 210"/>
          <p:cNvSpPr/>
          <p:nvPr/>
        </p:nvSpPr>
        <p:spPr>
          <a:xfrm>
            <a:off x="5205793" y="4282044"/>
            <a:ext cx="28289" cy="1524"/>
          </a:xfrm>
          <a:prstGeom prst="line">
            <a:avLst/>
          </a:prstGeom>
          <a:noFill/>
          <a:ln w="25400">
            <a:solidFill>
              <a:srgbClr val="6A3FA0"/>
            </a:solidFill>
            <a:prstDash val="solid"/>
          </a:ln>
        </p:spPr>
      </p:sp>
      <p:sp>
        <p:nvSpPr>
          <p:cNvPr id="213" name="Shape 211"/>
          <p:cNvSpPr/>
          <p:nvPr/>
        </p:nvSpPr>
        <p:spPr>
          <a:xfrm>
            <a:off x="5234083" y="4283568"/>
            <a:ext cx="28289" cy="1489"/>
          </a:xfrm>
          <a:prstGeom prst="line">
            <a:avLst/>
          </a:prstGeom>
          <a:noFill/>
          <a:ln w="25400">
            <a:solidFill>
              <a:srgbClr val="6A3FA0"/>
            </a:solidFill>
            <a:prstDash val="solid"/>
          </a:ln>
        </p:spPr>
      </p:sp>
      <p:sp>
        <p:nvSpPr>
          <p:cNvPr id="214" name="Shape 212"/>
          <p:cNvSpPr/>
          <p:nvPr/>
        </p:nvSpPr>
        <p:spPr>
          <a:xfrm>
            <a:off x="5262372" y="4285057"/>
            <a:ext cx="28289" cy="1456"/>
          </a:xfrm>
          <a:prstGeom prst="line">
            <a:avLst/>
          </a:prstGeom>
          <a:noFill/>
          <a:ln w="25400">
            <a:solidFill>
              <a:srgbClr val="6A3FA0"/>
            </a:solidFill>
            <a:prstDash val="solid"/>
          </a:ln>
        </p:spPr>
      </p:sp>
      <p:sp>
        <p:nvSpPr>
          <p:cNvPr id="215" name="Shape 213"/>
          <p:cNvSpPr/>
          <p:nvPr/>
        </p:nvSpPr>
        <p:spPr>
          <a:xfrm>
            <a:off x="5290661" y="4286514"/>
            <a:ext cx="28289" cy="1424"/>
          </a:xfrm>
          <a:prstGeom prst="line">
            <a:avLst/>
          </a:prstGeom>
          <a:noFill/>
          <a:ln w="25400">
            <a:solidFill>
              <a:srgbClr val="6A3FA0"/>
            </a:solidFill>
            <a:prstDash val="solid"/>
          </a:ln>
        </p:spPr>
      </p:sp>
      <p:sp>
        <p:nvSpPr>
          <p:cNvPr id="216" name="Shape 214"/>
          <p:cNvSpPr/>
          <p:nvPr/>
        </p:nvSpPr>
        <p:spPr>
          <a:xfrm>
            <a:off x="5318951" y="4287938"/>
            <a:ext cx="28289" cy="1393"/>
          </a:xfrm>
          <a:prstGeom prst="line">
            <a:avLst/>
          </a:prstGeom>
          <a:noFill/>
          <a:ln w="25400">
            <a:solidFill>
              <a:srgbClr val="6A3FA0"/>
            </a:solidFill>
            <a:prstDash val="solid"/>
          </a:ln>
        </p:spPr>
      </p:sp>
      <p:sp>
        <p:nvSpPr>
          <p:cNvPr id="217" name="Shape 215"/>
          <p:cNvSpPr/>
          <p:nvPr/>
        </p:nvSpPr>
        <p:spPr>
          <a:xfrm>
            <a:off x="5347240" y="4289331"/>
            <a:ext cx="28289" cy="1363"/>
          </a:xfrm>
          <a:prstGeom prst="line">
            <a:avLst/>
          </a:prstGeom>
          <a:noFill/>
          <a:ln w="25400">
            <a:solidFill>
              <a:srgbClr val="6A3FA0"/>
            </a:solidFill>
            <a:prstDash val="solid"/>
          </a:ln>
        </p:spPr>
      </p:sp>
      <p:sp>
        <p:nvSpPr>
          <p:cNvPr id="218" name="Shape 216"/>
          <p:cNvSpPr/>
          <p:nvPr/>
        </p:nvSpPr>
        <p:spPr>
          <a:xfrm>
            <a:off x="5375529" y="4290694"/>
            <a:ext cx="28289" cy="1335"/>
          </a:xfrm>
          <a:prstGeom prst="line">
            <a:avLst/>
          </a:prstGeom>
          <a:noFill/>
          <a:ln w="25400">
            <a:solidFill>
              <a:srgbClr val="6A3FA0"/>
            </a:solidFill>
            <a:prstDash val="solid"/>
          </a:ln>
        </p:spPr>
      </p:sp>
      <p:sp>
        <p:nvSpPr>
          <p:cNvPr id="219" name="Shape 217"/>
          <p:cNvSpPr/>
          <p:nvPr/>
        </p:nvSpPr>
        <p:spPr>
          <a:xfrm>
            <a:off x="5403818" y="4292029"/>
            <a:ext cx="28289" cy="1307"/>
          </a:xfrm>
          <a:prstGeom prst="line">
            <a:avLst/>
          </a:prstGeom>
          <a:noFill/>
          <a:ln w="25400">
            <a:solidFill>
              <a:srgbClr val="6A3FA0"/>
            </a:solidFill>
            <a:prstDash val="solid"/>
          </a:ln>
        </p:spPr>
      </p:sp>
      <p:sp>
        <p:nvSpPr>
          <p:cNvPr id="220" name="Shape 218"/>
          <p:cNvSpPr/>
          <p:nvPr/>
        </p:nvSpPr>
        <p:spPr>
          <a:xfrm>
            <a:off x="5432108" y="4293336"/>
            <a:ext cx="28289" cy="1280"/>
          </a:xfrm>
          <a:prstGeom prst="line">
            <a:avLst/>
          </a:prstGeom>
          <a:noFill/>
          <a:ln w="25400">
            <a:solidFill>
              <a:srgbClr val="6A3FA0"/>
            </a:solidFill>
            <a:prstDash val="solid"/>
          </a:ln>
        </p:spPr>
      </p:sp>
      <p:sp>
        <p:nvSpPr>
          <p:cNvPr id="221" name="Shape 219"/>
          <p:cNvSpPr/>
          <p:nvPr/>
        </p:nvSpPr>
        <p:spPr>
          <a:xfrm>
            <a:off x="5460397" y="4294616"/>
            <a:ext cx="28289" cy="1254"/>
          </a:xfrm>
          <a:prstGeom prst="line">
            <a:avLst/>
          </a:prstGeom>
          <a:noFill/>
          <a:ln w="25400">
            <a:solidFill>
              <a:srgbClr val="6A3FA0"/>
            </a:solidFill>
            <a:prstDash val="solid"/>
          </a:ln>
        </p:spPr>
      </p:sp>
      <p:sp>
        <p:nvSpPr>
          <p:cNvPr id="222" name="Shape 220"/>
          <p:cNvSpPr/>
          <p:nvPr/>
        </p:nvSpPr>
        <p:spPr>
          <a:xfrm>
            <a:off x="5488686" y="4295870"/>
            <a:ext cx="28289" cy="1229"/>
          </a:xfrm>
          <a:prstGeom prst="line">
            <a:avLst/>
          </a:prstGeom>
          <a:noFill/>
          <a:ln w="25400">
            <a:solidFill>
              <a:srgbClr val="6A3FA0"/>
            </a:solidFill>
            <a:prstDash val="solid"/>
          </a:ln>
        </p:spPr>
      </p:sp>
      <p:sp>
        <p:nvSpPr>
          <p:cNvPr id="223" name="Shape 221"/>
          <p:cNvSpPr/>
          <p:nvPr/>
        </p:nvSpPr>
        <p:spPr>
          <a:xfrm>
            <a:off x="5516975" y="4297100"/>
            <a:ext cx="28289" cy="1205"/>
          </a:xfrm>
          <a:prstGeom prst="line">
            <a:avLst/>
          </a:prstGeom>
          <a:noFill/>
          <a:ln w="25400">
            <a:solidFill>
              <a:srgbClr val="6A3FA0"/>
            </a:solidFill>
            <a:prstDash val="solid"/>
          </a:ln>
        </p:spPr>
      </p:sp>
      <p:sp>
        <p:nvSpPr>
          <p:cNvPr id="224" name="Shape 222"/>
          <p:cNvSpPr/>
          <p:nvPr/>
        </p:nvSpPr>
        <p:spPr>
          <a:xfrm>
            <a:off x="5545265" y="4298305"/>
            <a:ext cx="28289" cy="1182"/>
          </a:xfrm>
          <a:prstGeom prst="line">
            <a:avLst/>
          </a:prstGeom>
          <a:noFill/>
          <a:ln w="25400">
            <a:solidFill>
              <a:srgbClr val="6A3FA0"/>
            </a:solidFill>
            <a:prstDash val="solid"/>
          </a:ln>
        </p:spPr>
      </p:sp>
      <p:sp>
        <p:nvSpPr>
          <p:cNvPr id="225" name="Shape 223"/>
          <p:cNvSpPr/>
          <p:nvPr/>
        </p:nvSpPr>
        <p:spPr>
          <a:xfrm>
            <a:off x="5573554" y="4299487"/>
            <a:ext cx="28289" cy="1159"/>
          </a:xfrm>
          <a:prstGeom prst="line">
            <a:avLst/>
          </a:prstGeom>
          <a:noFill/>
          <a:ln w="25400">
            <a:solidFill>
              <a:srgbClr val="6A3FA0"/>
            </a:solidFill>
            <a:prstDash val="solid"/>
          </a:ln>
        </p:spPr>
      </p:sp>
      <p:sp>
        <p:nvSpPr>
          <p:cNvPr id="226" name="Shape 224"/>
          <p:cNvSpPr/>
          <p:nvPr/>
        </p:nvSpPr>
        <p:spPr>
          <a:xfrm>
            <a:off x="5601843" y="4300647"/>
            <a:ext cx="28289" cy="1137"/>
          </a:xfrm>
          <a:prstGeom prst="line">
            <a:avLst/>
          </a:prstGeom>
          <a:noFill/>
          <a:ln w="25400">
            <a:solidFill>
              <a:srgbClr val="6A3FA0"/>
            </a:solidFill>
            <a:prstDash val="solid"/>
          </a:ln>
        </p:spPr>
      </p:sp>
      <p:sp>
        <p:nvSpPr>
          <p:cNvPr id="227" name="Shape 225"/>
          <p:cNvSpPr/>
          <p:nvPr/>
        </p:nvSpPr>
        <p:spPr>
          <a:xfrm>
            <a:off x="5630132" y="4301784"/>
            <a:ext cx="28289" cy="1116"/>
          </a:xfrm>
          <a:prstGeom prst="line">
            <a:avLst/>
          </a:prstGeom>
          <a:noFill/>
          <a:ln w="25400">
            <a:solidFill>
              <a:srgbClr val="6A3FA0"/>
            </a:solidFill>
            <a:prstDash val="solid"/>
          </a:ln>
        </p:spPr>
      </p:sp>
      <p:sp>
        <p:nvSpPr>
          <p:cNvPr id="228" name="Shape 226"/>
          <p:cNvSpPr/>
          <p:nvPr/>
        </p:nvSpPr>
        <p:spPr>
          <a:xfrm>
            <a:off x="5658422" y="4302900"/>
            <a:ext cx="28289" cy="1096"/>
          </a:xfrm>
          <a:prstGeom prst="line">
            <a:avLst/>
          </a:prstGeom>
          <a:noFill/>
          <a:ln w="25400">
            <a:solidFill>
              <a:srgbClr val="6A3FA0"/>
            </a:solidFill>
            <a:prstDash val="solid"/>
          </a:ln>
        </p:spPr>
      </p:sp>
      <p:sp>
        <p:nvSpPr>
          <p:cNvPr id="229" name="Shape 227"/>
          <p:cNvSpPr/>
          <p:nvPr/>
        </p:nvSpPr>
        <p:spPr>
          <a:xfrm>
            <a:off x="5686711" y="4303996"/>
            <a:ext cx="28289" cy="1076"/>
          </a:xfrm>
          <a:prstGeom prst="line">
            <a:avLst/>
          </a:prstGeom>
          <a:noFill/>
          <a:ln w="25400">
            <a:solidFill>
              <a:srgbClr val="6A3FA0"/>
            </a:solidFill>
            <a:prstDash val="solid"/>
          </a:ln>
        </p:spPr>
      </p:sp>
      <p:sp>
        <p:nvSpPr>
          <p:cNvPr id="230" name="Shape 228"/>
          <p:cNvSpPr/>
          <p:nvPr/>
        </p:nvSpPr>
        <p:spPr>
          <a:xfrm>
            <a:off x="1143000" y="1561011"/>
            <a:ext cx="91440" cy="91440"/>
          </a:xfrm>
          <a:prstGeom prst="line">
            <a:avLst/>
          </a:prstGeom>
          <a:noFill/>
          <a:ln w="15875">
            <a:solidFill>
              <a:srgbClr val="2A1F3D"/>
            </a:solidFill>
            <a:prstDash val="solid"/>
          </a:ln>
        </p:spPr>
      </p:sp>
      <p:sp>
        <p:nvSpPr>
          <p:cNvPr id="231" name="Shape 229"/>
          <p:cNvSpPr/>
          <p:nvPr/>
        </p:nvSpPr>
        <p:spPr>
          <a:xfrm flipV="1">
            <a:off x="1143000" y="1561011"/>
            <a:ext cx="91440" cy="91440"/>
          </a:xfrm>
          <a:prstGeom prst="line">
            <a:avLst/>
          </a:prstGeom>
          <a:noFill/>
          <a:ln w="15875">
            <a:solidFill>
              <a:srgbClr val="2A1F3D"/>
            </a:solidFill>
            <a:prstDash val="solid"/>
          </a:ln>
        </p:spPr>
      </p:sp>
      <p:sp>
        <p:nvSpPr>
          <p:cNvPr id="232" name="Shape 230"/>
          <p:cNvSpPr/>
          <p:nvPr/>
        </p:nvSpPr>
        <p:spPr>
          <a:xfrm>
            <a:off x="1708785" y="1605293"/>
            <a:ext cx="91440" cy="91440"/>
          </a:xfrm>
          <a:prstGeom prst="line">
            <a:avLst/>
          </a:prstGeom>
          <a:noFill/>
          <a:ln w="15875">
            <a:solidFill>
              <a:srgbClr val="2A1F3D"/>
            </a:solidFill>
            <a:prstDash val="solid"/>
          </a:ln>
        </p:spPr>
      </p:sp>
      <p:sp>
        <p:nvSpPr>
          <p:cNvPr id="233" name="Shape 231"/>
          <p:cNvSpPr/>
          <p:nvPr/>
        </p:nvSpPr>
        <p:spPr>
          <a:xfrm flipV="1">
            <a:off x="1708785" y="1605293"/>
            <a:ext cx="91440" cy="91440"/>
          </a:xfrm>
          <a:prstGeom prst="line">
            <a:avLst/>
          </a:prstGeom>
          <a:noFill/>
          <a:ln w="15875">
            <a:solidFill>
              <a:srgbClr val="2A1F3D"/>
            </a:solidFill>
            <a:prstDash val="solid"/>
          </a:ln>
        </p:spPr>
      </p:sp>
      <p:sp>
        <p:nvSpPr>
          <p:cNvPr id="234" name="Shape 232"/>
          <p:cNvSpPr/>
          <p:nvPr/>
        </p:nvSpPr>
        <p:spPr>
          <a:xfrm>
            <a:off x="2274570" y="1655393"/>
            <a:ext cx="91440" cy="91440"/>
          </a:xfrm>
          <a:prstGeom prst="line">
            <a:avLst/>
          </a:prstGeom>
          <a:noFill/>
          <a:ln w="15875">
            <a:solidFill>
              <a:srgbClr val="2A1F3D"/>
            </a:solidFill>
            <a:prstDash val="solid"/>
          </a:ln>
        </p:spPr>
      </p:sp>
      <p:sp>
        <p:nvSpPr>
          <p:cNvPr id="235" name="Shape 233"/>
          <p:cNvSpPr/>
          <p:nvPr/>
        </p:nvSpPr>
        <p:spPr>
          <a:xfrm flipV="1">
            <a:off x="2274570" y="1655393"/>
            <a:ext cx="91440" cy="91440"/>
          </a:xfrm>
          <a:prstGeom prst="line">
            <a:avLst/>
          </a:prstGeom>
          <a:noFill/>
          <a:ln w="15875">
            <a:solidFill>
              <a:srgbClr val="2A1F3D"/>
            </a:solidFill>
            <a:prstDash val="solid"/>
          </a:ln>
        </p:spPr>
      </p:sp>
      <p:sp>
        <p:nvSpPr>
          <p:cNvPr id="236" name="Shape 234"/>
          <p:cNvSpPr/>
          <p:nvPr/>
        </p:nvSpPr>
        <p:spPr>
          <a:xfrm>
            <a:off x="2840355" y="1721193"/>
            <a:ext cx="91440" cy="91440"/>
          </a:xfrm>
          <a:prstGeom prst="line">
            <a:avLst/>
          </a:prstGeom>
          <a:noFill/>
          <a:ln w="15875">
            <a:solidFill>
              <a:srgbClr val="2A1F3D"/>
            </a:solidFill>
            <a:prstDash val="solid"/>
          </a:ln>
        </p:spPr>
      </p:sp>
      <p:sp>
        <p:nvSpPr>
          <p:cNvPr id="237" name="Shape 235"/>
          <p:cNvSpPr/>
          <p:nvPr/>
        </p:nvSpPr>
        <p:spPr>
          <a:xfrm flipV="1">
            <a:off x="2840355" y="1721193"/>
            <a:ext cx="91440" cy="91440"/>
          </a:xfrm>
          <a:prstGeom prst="line">
            <a:avLst/>
          </a:prstGeom>
          <a:noFill/>
          <a:ln w="15875">
            <a:solidFill>
              <a:srgbClr val="2A1F3D"/>
            </a:solidFill>
            <a:prstDash val="solid"/>
          </a:ln>
        </p:spPr>
      </p:sp>
      <p:sp>
        <p:nvSpPr>
          <p:cNvPr id="238" name="Shape 236"/>
          <p:cNvSpPr/>
          <p:nvPr/>
        </p:nvSpPr>
        <p:spPr>
          <a:xfrm>
            <a:off x="3406140" y="1845406"/>
            <a:ext cx="91440" cy="91440"/>
          </a:xfrm>
          <a:prstGeom prst="line">
            <a:avLst/>
          </a:prstGeom>
          <a:noFill/>
          <a:ln w="15875">
            <a:solidFill>
              <a:srgbClr val="2A1F3D"/>
            </a:solidFill>
            <a:prstDash val="solid"/>
          </a:ln>
        </p:spPr>
      </p:sp>
      <p:sp>
        <p:nvSpPr>
          <p:cNvPr id="239" name="Shape 237"/>
          <p:cNvSpPr/>
          <p:nvPr/>
        </p:nvSpPr>
        <p:spPr>
          <a:xfrm flipV="1">
            <a:off x="3406140" y="1845406"/>
            <a:ext cx="91440" cy="91440"/>
          </a:xfrm>
          <a:prstGeom prst="line">
            <a:avLst/>
          </a:prstGeom>
          <a:noFill/>
          <a:ln w="15875">
            <a:solidFill>
              <a:srgbClr val="2A1F3D"/>
            </a:solidFill>
            <a:prstDash val="solid"/>
          </a:ln>
        </p:spPr>
      </p:sp>
      <p:sp>
        <p:nvSpPr>
          <p:cNvPr id="240" name="Shape 238"/>
          <p:cNvSpPr/>
          <p:nvPr/>
        </p:nvSpPr>
        <p:spPr>
          <a:xfrm>
            <a:off x="3632454" y="2014197"/>
            <a:ext cx="91440" cy="91440"/>
          </a:xfrm>
          <a:prstGeom prst="line">
            <a:avLst/>
          </a:prstGeom>
          <a:noFill/>
          <a:ln w="15875">
            <a:solidFill>
              <a:srgbClr val="2A1F3D"/>
            </a:solidFill>
            <a:prstDash val="solid"/>
          </a:ln>
        </p:spPr>
      </p:sp>
      <p:sp>
        <p:nvSpPr>
          <p:cNvPr id="241" name="Shape 239"/>
          <p:cNvSpPr/>
          <p:nvPr/>
        </p:nvSpPr>
        <p:spPr>
          <a:xfrm flipV="1">
            <a:off x="3632454" y="2014197"/>
            <a:ext cx="91440" cy="91440"/>
          </a:xfrm>
          <a:prstGeom prst="line">
            <a:avLst/>
          </a:prstGeom>
          <a:noFill/>
          <a:ln w="15875">
            <a:solidFill>
              <a:srgbClr val="2A1F3D"/>
            </a:solidFill>
            <a:prstDash val="solid"/>
          </a:ln>
        </p:spPr>
      </p:sp>
      <p:sp>
        <p:nvSpPr>
          <p:cNvPr id="242" name="Shape 240"/>
          <p:cNvSpPr/>
          <p:nvPr/>
        </p:nvSpPr>
        <p:spPr>
          <a:xfrm>
            <a:off x="3745611" y="3927253"/>
            <a:ext cx="91440" cy="91440"/>
          </a:xfrm>
          <a:prstGeom prst="line">
            <a:avLst/>
          </a:prstGeom>
          <a:noFill/>
          <a:ln w="15875">
            <a:solidFill>
              <a:srgbClr val="2A1F3D"/>
            </a:solidFill>
            <a:prstDash val="solid"/>
          </a:ln>
        </p:spPr>
      </p:sp>
      <p:sp>
        <p:nvSpPr>
          <p:cNvPr id="243" name="Shape 241"/>
          <p:cNvSpPr/>
          <p:nvPr/>
        </p:nvSpPr>
        <p:spPr>
          <a:xfrm flipV="1">
            <a:off x="3745611" y="3927253"/>
            <a:ext cx="91440" cy="91440"/>
          </a:xfrm>
          <a:prstGeom prst="line">
            <a:avLst/>
          </a:prstGeom>
          <a:noFill/>
          <a:ln w="15875">
            <a:solidFill>
              <a:srgbClr val="2A1F3D"/>
            </a:solidFill>
            <a:prstDash val="solid"/>
          </a:ln>
        </p:spPr>
      </p:sp>
      <p:sp>
        <p:nvSpPr>
          <p:cNvPr id="244" name="Shape 242"/>
          <p:cNvSpPr/>
          <p:nvPr/>
        </p:nvSpPr>
        <p:spPr>
          <a:xfrm>
            <a:off x="3971925" y="4087435"/>
            <a:ext cx="91440" cy="91440"/>
          </a:xfrm>
          <a:prstGeom prst="line">
            <a:avLst/>
          </a:prstGeom>
          <a:noFill/>
          <a:ln w="15875">
            <a:solidFill>
              <a:srgbClr val="2A1F3D"/>
            </a:solidFill>
            <a:prstDash val="solid"/>
          </a:ln>
        </p:spPr>
      </p:sp>
      <p:sp>
        <p:nvSpPr>
          <p:cNvPr id="245" name="Shape 243"/>
          <p:cNvSpPr/>
          <p:nvPr/>
        </p:nvSpPr>
        <p:spPr>
          <a:xfrm flipV="1">
            <a:off x="3971925" y="4087435"/>
            <a:ext cx="91440" cy="91440"/>
          </a:xfrm>
          <a:prstGeom prst="line">
            <a:avLst/>
          </a:prstGeom>
          <a:noFill/>
          <a:ln w="15875">
            <a:solidFill>
              <a:srgbClr val="2A1F3D"/>
            </a:solidFill>
            <a:prstDash val="solid"/>
          </a:ln>
        </p:spPr>
      </p:sp>
      <p:sp>
        <p:nvSpPr>
          <p:cNvPr id="246" name="Shape 244"/>
          <p:cNvSpPr/>
          <p:nvPr/>
        </p:nvSpPr>
        <p:spPr>
          <a:xfrm>
            <a:off x="4537710" y="4189888"/>
            <a:ext cx="91440" cy="91440"/>
          </a:xfrm>
          <a:prstGeom prst="line">
            <a:avLst/>
          </a:prstGeom>
          <a:noFill/>
          <a:ln w="15875">
            <a:solidFill>
              <a:srgbClr val="2A1F3D"/>
            </a:solidFill>
            <a:prstDash val="solid"/>
          </a:ln>
        </p:spPr>
      </p:sp>
      <p:sp>
        <p:nvSpPr>
          <p:cNvPr id="247" name="Shape 245"/>
          <p:cNvSpPr/>
          <p:nvPr/>
        </p:nvSpPr>
        <p:spPr>
          <a:xfrm flipV="1">
            <a:off x="4537710" y="4189888"/>
            <a:ext cx="91440" cy="91440"/>
          </a:xfrm>
          <a:prstGeom prst="line">
            <a:avLst/>
          </a:prstGeom>
          <a:noFill/>
          <a:ln w="15875">
            <a:solidFill>
              <a:srgbClr val="2A1F3D"/>
            </a:solidFill>
            <a:prstDash val="solid"/>
          </a:ln>
        </p:spPr>
      </p:sp>
      <p:sp>
        <p:nvSpPr>
          <p:cNvPr id="248" name="Shape 246"/>
          <p:cNvSpPr/>
          <p:nvPr/>
        </p:nvSpPr>
        <p:spPr>
          <a:xfrm>
            <a:off x="5103495" y="4233166"/>
            <a:ext cx="91440" cy="91440"/>
          </a:xfrm>
          <a:prstGeom prst="line">
            <a:avLst/>
          </a:prstGeom>
          <a:noFill/>
          <a:ln w="15875">
            <a:solidFill>
              <a:srgbClr val="2A1F3D"/>
            </a:solidFill>
            <a:prstDash val="solid"/>
          </a:ln>
        </p:spPr>
      </p:sp>
      <p:sp>
        <p:nvSpPr>
          <p:cNvPr id="249" name="Shape 247"/>
          <p:cNvSpPr/>
          <p:nvPr/>
        </p:nvSpPr>
        <p:spPr>
          <a:xfrm flipV="1">
            <a:off x="5103495" y="4233166"/>
            <a:ext cx="91440" cy="91440"/>
          </a:xfrm>
          <a:prstGeom prst="line">
            <a:avLst/>
          </a:prstGeom>
          <a:noFill/>
          <a:ln w="15875">
            <a:solidFill>
              <a:srgbClr val="2A1F3D"/>
            </a:solidFill>
            <a:prstDash val="solid"/>
          </a:ln>
        </p:spPr>
      </p:sp>
      <p:sp>
        <p:nvSpPr>
          <p:cNvPr id="250" name="Shape 248"/>
          <p:cNvSpPr/>
          <p:nvPr/>
        </p:nvSpPr>
        <p:spPr>
          <a:xfrm>
            <a:off x="5669280" y="4259352"/>
            <a:ext cx="91440" cy="91440"/>
          </a:xfrm>
          <a:prstGeom prst="line">
            <a:avLst/>
          </a:prstGeom>
          <a:noFill/>
          <a:ln w="15875">
            <a:solidFill>
              <a:srgbClr val="2A1F3D"/>
            </a:solidFill>
            <a:prstDash val="solid"/>
          </a:ln>
        </p:spPr>
      </p:sp>
      <p:sp>
        <p:nvSpPr>
          <p:cNvPr id="251" name="Shape 249"/>
          <p:cNvSpPr/>
          <p:nvPr/>
        </p:nvSpPr>
        <p:spPr>
          <a:xfrm flipV="1">
            <a:off x="5669280" y="4259352"/>
            <a:ext cx="91440" cy="91440"/>
          </a:xfrm>
          <a:prstGeom prst="line">
            <a:avLst/>
          </a:prstGeom>
          <a:noFill/>
          <a:ln w="15875">
            <a:solidFill>
              <a:srgbClr val="2A1F3D"/>
            </a:solidFill>
            <a:prstDash val="solid"/>
          </a:ln>
        </p:spPr>
      </p:sp>
      <p:sp>
        <p:nvSpPr>
          <p:cNvPr id="252" name="Shape 250"/>
          <p:cNvSpPr/>
          <p:nvPr/>
        </p:nvSpPr>
        <p:spPr>
          <a:xfrm flipV="1">
            <a:off x="3734753" y="3017520"/>
            <a:ext cx="91" cy="1645920"/>
          </a:xfrm>
          <a:prstGeom prst="line">
            <a:avLst/>
          </a:prstGeom>
          <a:noFill/>
          <a:ln w="15875">
            <a:solidFill>
              <a:srgbClr val="C8414C"/>
            </a:solidFill>
            <a:prstDash val="dash"/>
          </a:ln>
        </p:spPr>
      </p:sp>
      <p:sp>
        <p:nvSpPr>
          <p:cNvPr id="253" name="Text 251"/>
          <p:cNvSpPr/>
          <p:nvPr/>
        </p:nvSpPr>
        <p:spPr>
          <a:xfrm>
            <a:off x="3780473" y="4287230"/>
            <a:ext cx="137160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end point 22.50 cm³</a:t>
            </a:r>
            <a:endParaRPr lang="en-US" sz="1000" dirty="0"/>
          </a:p>
        </p:txBody>
      </p:sp>
      <p:sp>
        <p:nvSpPr>
          <p:cNvPr id="254" name="Text 252"/>
          <p:cNvSpPr/>
          <p:nvPr/>
        </p:nvSpPr>
        <p:spPr>
          <a:xfrm>
            <a:off x="4130802" y="2241586"/>
            <a:ext cx="1828800" cy="201168"/>
          </a:xfrm>
          <a:prstGeom prst="rect">
            <a:avLst/>
          </a:prstGeom>
          <a:noFill/>
          <a:ln/>
        </p:spPr>
        <p:txBody>
          <a:bodyPr wrap="square" lIns="0" tIns="0" rIns="0" bIns="0" rtlCol="0" anchor="ctr"/>
          <a:lstStyle/>
          <a:p>
            <a:pPr algn="l" indent="0" marL="0">
              <a:buNone/>
            </a:pPr>
            <a:r>
              <a:rPr lang="en-US" sz="1000" b="1" dirty="0">
                <a:solidFill>
                  <a:srgbClr val="C2185B"/>
                </a:solidFill>
                <a:latin typeface="Calibri" pitchFamily="34" charset="0"/>
                <a:ea typeface="Calibri" pitchFamily="34" charset="-122"/>
                <a:cs typeface="Calibri" pitchFamily="34" charset="-120"/>
              </a:rPr>
              <a:t>phenolphthalein changes</a:t>
            </a:r>
            <a:endParaRPr lang="en-US" sz="1000" dirty="0"/>
          </a:p>
        </p:txBody>
      </p:sp>
      <p:sp>
        <p:nvSpPr>
          <p:cNvPr id="255" name="Text 253"/>
          <p:cNvSpPr/>
          <p:nvPr/>
        </p:nvSpPr>
        <p:spPr>
          <a:xfrm>
            <a:off x="4130802" y="2923467"/>
            <a:ext cx="18288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pH 7: neutral</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353312"/>
                <a:gridCol w="1051560"/>
                <a:gridCol w="1051560"/>
                <a:gridCol w="1051560"/>
                <a:gridCol w="1051560"/>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Titration</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Rough</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Final / cm³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23.10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22.65</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22.65</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22.85</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Initial / cm³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Titre / cm³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i="1" dirty="0">
                          <a:solidFill>
                            <a:srgbClr val="262B3A"/>
                          </a:solidFill>
                          <a:latin typeface="Calibri" pitchFamily="34" charset="0"/>
                          <a:ea typeface="Calibri" pitchFamily="34" charset="-122"/>
                          <a:cs typeface="Calibri" pitchFamily="34" charset="-120"/>
                        </a:rPr>
                        <a:t>23.10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6A3FA0"/>
                          </a:solidFill>
                          <a:latin typeface="Calibri" pitchFamily="34" charset="0"/>
                          <a:ea typeface="Calibri" pitchFamily="34" charset="-122"/>
                          <a:cs typeface="Calibri" pitchFamily="34" charset="-120"/>
                        </a:rPr>
                        <a:t>22.45</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6A3FA0"/>
                          </a:solidFill>
                          <a:latin typeface="Calibri" pitchFamily="34" charset="0"/>
                          <a:ea typeface="Calibri" pitchFamily="34" charset="-122"/>
                          <a:cs typeface="Calibri" pitchFamily="34" charset="-120"/>
                        </a:rPr>
                        <a:t>22.55</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6A3FA0"/>
                          </a:solidFill>
                          <a:latin typeface="Calibri" pitchFamily="34" charset="0"/>
                          <a:ea typeface="Calibri" pitchFamily="34" charset="-122"/>
                          <a:cs typeface="Calibri" pitchFamily="34" charset="-120"/>
                        </a:rPr>
                        <a:t>22.50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257" name="Shape 254"/>
          <p:cNvSpPr/>
          <p:nvPr/>
        </p:nvSpPr>
        <p:spPr>
          <a:xfrm>
            <a:off x="6217920" y="2377440"/>
            <a:ext cx="5559552" cy="1508760"/>
          </a:xfrm>
          <a:prstGeom prst="roundRect">
            <a:avLst>
              <a:gd name="adj" fmla="val 3636"/>
            </a:avLst>
          </a:prstGeom>
          <a:solidFill>
            <a:srgbClr val="FFF4E0"/>
          </a:solidFill>
          <a:ln w="9525">
            <a:solidFill>
              <a:srgbClr val="F1D9A8"/>
            </a:solidFill>
            <a:prstDash val="solid"/>
          </a:ln>
        </p:spPr>
      </p:sp>
      <p:sp>
        <p:nvSpPr>
          <p:cNvPr id="258" name="Text 255"/>
          <p:cNvSpPr/>
          <p:nvPr/>
        </p:nvSpPr>
        <p:spPr>
          <a:xfrm>
            <a:off x="6382512" y="245059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mean titre</a:t>
            </a:r>
            <a:endParaRPr lang="en-US" sz="1300" dirty="0"/>
          </a:p>
        </p:txBody>
      </p:sp>
      <p:sp>
        <p:nvSpPr>
          <p:cNvPr id="259" name="Text 256"/>
          <p:cNvSpPr/>
          <p:nvPr/>
        </p:nvSpPr>
        <p:spPr>
          <a:xfrm>
            <a:off x="6382512" y="2761488"/>
            <a:ext cx="5230368" cy="10515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Ignore the rough. Titres 1–3 are within 0.10 cm³: concordant.</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1 Add   </a:t>
            </a:r>
            <a:r>
              <a:rPr lang="en-US" sz="1100" dirty="0">
                <a:solidFill>
                  <a:srgbClr val="262B3A"/>
                </a:solidFill>
                <a:latin typeface="Calibri" pitchFamily="34" charset="0"/>
                <a:ea typeface="Calibri" pitchFamily="34" charset="-122"/>
                <a:cs typeface="Calibri" pitchFamily="34" charset="-120"/>
              </a:rPr>
              <a:t>22.45 + 22.55 + 22.50 = 67.50 cm³</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2 Answer   </a:t>
            </a:r>
            <a:r>
              <a:rPr lang="en-US" sz="1100" b="1" dirty="0">
                <a:solidFill>
                  <a:srgbClr val="C8414C"/>
                </a:solidFill>
                <a:latin typeface="Calibri" pitchFamily="34" charset="0"/>
                <a:ea typeface="Calibri" pitchFamily="34" charset="-122"/>
                <a:cs typeface="Calibri" pitchFamily="34" charset="-120"/>
              </a:rPr>
              <a:t>67.50 ÷ 3 = </a:t>
            </a:r>
            <a:r>
              <a:rPr lang="en-US" sz="1100" b="1" dirty="0">
                <a:solidFill>
                  <a:srgbClr val="C8414C"/>
                </a:solidFill>
                <a:latin typeface="Calibri" pitchFamily="34" charset="0"/>
                <a:ea typeface="Calibri" pitchFamily="34" charset="-122"/>
                <a:cs typeface="Calibri" pitchFamily="34" charset="-120"/>
              </a:rPr>
              <a:t>22.50 cm³</a:t>
            </a:r>
            <a:endParaRPr lang="en-US" sz="1100" dirty="0"/>
          </a:p>
        </p:txBody>
      </p:sp>
      <p:sp>
        <p:nvSpPr>
          <p:cNvPr id="260" name="Shape 257"/>
          <p:cNvSpPr/>
          <p:nvPr/>
        </p:nvSpPr>
        <p:spPr>
          <a:xfrm>
            <a:off x="6217920" y="4023360"/>
            <a:ext cx="5559552" cy="1691640"/>
          </a:xfrm>
          <a:prstGeom prst="roundRect">
            <a:avLst>
              <a:gd name="adj" fmla="val 3243"/>
            </a:avLst>
          </a:prstGeom>
          <a:solidFill>
            <a:srgbClr val="F8F5FC"/>
          </a:solidFill>
          <a:ln w="9525">
            <a:solidFill>
              <a:srgbClr val="DDD3EC"/>
            </a:solidFill>
            <a:prstDash val="solid"/>
          </a:ln>
        </p:spPr>
      </p:sp>
      <p:sp>
        <p:nvSpPr>
          <p:cNvPr id="261" name="Text 258"/>
          <p:cNvSpPr/>
          <p:nvPr/>
        </p:nvSpPr>
        <p:spPr>
          <a:xfrm>
            <a:off x="6382512" y="411480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Analysis</a:t>
            </a:r>
            <a:endParaRPr lang="en-US" sz="1300" dirty="0"/>
          </a:p>
        </p:txBody>
      </p:sp>
      <p:sp>
        <p:nvSpPr>
          <p:cNvPr id="262" name="Text 259"/>
          <p:cNvSpPr/>
          <p:nvPr/>
        </p:nvSpPr>
        <p:spPr>
          <a:xfrm>
            <a:off x="6382512" y="4443984"/>
            <a:ext cx="5230368" cy="11978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rough</a:t>
            </a:r>
            <a:r>
              <a:rPr lang="en-US" sz="1100" dirty="0">
                <a:solidFill>
                  <a:srgbClr val="262B3A"/>
                </a:solidFill>
                <a:latin typeface="Calibri" pitchFamily="34" charset="0"/>
                <a:ea typeface="Calibri" pitchFamily="34" charset="-122"/>
                <a:cs typeface="Calibri" pitchFamily="34" charset="-120"/>
              </a:rPr>
              <a:t> titre overshoots the end point, so it is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 used in the mean.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Concordant</a:t>
            </a:r>
            <a:r>
              <a:rPr lang="en-US" sz="1100" dirty="0">
                <a:solidFill>
                  <a:srgbClr val="262B3A"/>
                </a:solidFill>
                <a:latin typeface="Calibri" pitchFamily="34" charset="0"/>
                <a:ea typeface="Calibri" pitchFamily="34" charset="-122"/>
                <a:cs typeface="Calibri" pitchFamily="34" charset="-120"/>
              </a:rPr>
              <a:t> titres agree within </a:t>
            </a:r>
            <a:r>
              <a:rPr lang="en-US" sz="1100" b="1" dirty="0">
                <a:solidFill>
                  <a:srgbClr val="262B3A"/>
                </a:solidFill>
                <a:latin typeface="Calibri" pitchFamily="34" charset="0"/>
                <a:ea typeface="Calibri" pitchFamily="34" charset="-122"/>
                <a:cs typeface="Calibri" pitchFamily="34" charset="-120"/>
              </a:rPr>
              <a:t>0.10 cm³</a:t>
            </a:r>
            <a:r>
              <a:rPr lang="en-US" sz="1100" dirty="0">
                <a:solidFill>
                  <a:srgbClr val="262B3A"/>
                </a:solidFill>
                <a:latin typeface="Calibri" pitchFamily="34" charset="0"/>
                <a:ea typeface="Calibri" pitchFamily="34" charset="-122"/>
                <a:cs typeface="Calibri" pitchFamily="34" charset="-120"/>
              </a:rPr>
              <a:t>: the results are </a:t>
            </a:r>
            <a:r>
              <a:rPr lang="en-US" sz="1100" b="1" dirty="0">
                <a:solidFill>
                  <a:srgbClr val="262B3A"/>
                </a:solidFill>
                <a:latin typeface="Calibri" pitchFamily="34" charset="0"/>
                <a:ea typeface="Calibri" pitchFamily="34" charset="-122"/>
                <a:cs typeface="Calibri" pitchFamily="34" charset="-120"/>
              </a:rPr>
              <a:t>precise</a:t>
            </a:r>
            <a:r>
              <a:rPr lang="en-US" sz="1100" dirty="0">
                <a:solidFill>
                  <a:srgbClr val="262B3A"/>
                </a:solidFill>
                <a:latin typeface="Calibri" pitchFamily="34" charset="0"/>
                <a:ea typeface="Calibri" pitchFamily="34" charset="-122"/>
                <a:cs typeface="Calibri" pitchFamily="34" charset="-120"/>
              </a:rPr>
              <a:t> (repeatable).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pH falls </a:t>
            </a:r>
            <a:r>
              <a:rPr lang="en-US" sz="1100" b="1" dirty="0">
                <a:solidFill>
                  <a:srgbClr val="262B3A"/>
                </a:solidFill>
                <a:latin typeface="Calibri" pitchFamily="34" charset="0"/>
                <a:ea typeface="Calibri" pitchFamily="34" charset="-122"/>
                <a:cs typeface="Calibri" pitchFamily="34" charset="-120"/>
              </a:rPr>
              <a:t>steeply</a:t>
            </a:r>
            <a:r>
              <a:rPr lang="en-US" sz="1100" dirty="0">
                <a:solidFill>
                  <a:srgbClr val="262B3A"/>
                </a:solidFill>
                <a:latin typeface="Calibri" pitchFamily="34" charset="0"/>
                <a:ea typeface="Calibri" pitchFamily="34" charset="-122"/>
                <a:cs typeface="Calibri" pitchFamily="34" charset="-120"/>
              </a:rPr>
              <a:t> near 22.5 cm³: one drop changes the indicator colour.</a:t>
            </a:r>
            <a:endParaRPr lang="en-US" sz="1100" dirty="0"/>
          </a:p>
        </p:txBody>
      </p:sp>
      <p:sp>
        <p:nvSpPr>
          <p:cNvPr id="263" name="Shape 260"/>
          <p:cNvSpPr/>
          <p:nvPr/>
        </p:nvSpPr>
        <p:spPr>
          <a:xfrm>
            <a:off x="411480" y="5833872"/>
            <a:ext cx="11368735" cy="530352"/>
          </a:xfrm>
          <a:prstGeom prst="rect">
            <a:avLst/>
          </a:prstGeom>
          <a:solidFill>
            <a:srgbClr val="FFF4E0"/>
          </a:solidFill>
          <a:ln w="6350">
            <a:solidFill>
              <a:srgbClr val="F1D9A8"/>
            </a:solidFill>
            <a:prstDash val="solid"/>
          </a:ln>
        </p:spPr>
      </p:sp>
      <p:sp>
        <p:nvSpPr>
          <p:cNvPr id="264" name="Shape 261"/>
          <p:cNvSpPr/>
          <p:nvPr/>
        </p:nvSpPr>
        <p:spPr>
          <a:xfrm>
            <a:off x="411480" y="5833872"/>
            <a:ext cx="82296" cy="530352"/>
          </a:xfrm>
          <a:prstGeom prst="rect">
            <a:avLst/>
          </a:prstGeom>
          <a:solidFill>
            <a:srgbClr val="E39A2F"/>
          </a:solidFill>
          <a:ln w="12700">
            <a:solidFill>
              <a:srgbClr val="E39A2F"/>
            </a:solidFill>
            <a:prstDash val="solid"/>
          </a:ln>
        </p:spPr>
      </p:sp>
      <p:sp>
        <p:nvSpPr>
          <p:cNvPr id="265" name="Text 26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Titres: </a:t>
            </a:r>
            <a:r>
              <a:rPr lang="en-US" sz="1150" b="1" dirty="0">
                <a:solidFill>
                  <a:srgbClr val="262B3A"/>
                </a:solidFill>
                <a:latin typeface="Calibri" pitchFamily="34" charset="0"/>
                <a:ea typeface="Calibri" pitchFamily="34" charset="-122"/>
                <a:cs typeface="Calibri" pitchFamily="34" charset="-120"/>
              </a:rPr>
              <a:t>24.30</a:t>
            </a:r>
            <a:r>
              <a:rPr lang="en-US" sz="1150" dirty="0">
                <a:solidFill>
                  <a:srgbClr val="262B3A"/>
                </a:solidFill>
                <a:latin typeface="Calibri" pitchFamily="34" charset="0"/>
                <a:ea typeface="Calibri" pitchFamily="34" charset="-122"/>
                <a:cs typeface="Calibri" pitchFamily="34" charset="-120"/>
              </a:rPr>
              <a:t> (rough), </a:t>
            </a:r>
            <a:r>
              <a:rPr lang="en-US" sz="1150" b="1" dirty="0">
                <a:solidFill>
                  <a:srgbClr val="262B3A"/>
                </a:solidFill>
                <a:latin typeface="Calibri" pitchFamily="34" charset="0"/>
                <a:ea typeface="Calibri" pitchFamily="34" charset="-122"/>
                <a:cs typeface="Calibri" pitchFamily="34" charset="-120"/>
              </a:rPr>
              <a:t>23.85</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23.90</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23.80</a:t>
            </a:r>
            <a:r>
              <a:rPr lang="en-US" sz="1150" dirty="0">
                <a:solidFill>
                  <a:srgbClr val="262B3A"/>
                </a:solidFill>
                <a:latin typeface="Calibri" pitchFamily="34" charset="0"/>
                <a:ea typeface="Calibri" pitchFamily="34" charset="-122"/>
                <a:cs typeface="Calibri" pitchFamily="34" charset="-120"/>
              </a:rPr>
              <a:t> cm³. Which are concordant? Calculate the mean titre.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Titration calculations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C5.3.5 • calculating an unknown concentration from titration results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C5.3.5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three steps: known solution → ratio → unknown solution</a:t>
            </a:r>
            <a:endParaRPr lang="en-US" sz="1000" dirty="0"/>
          </a:p>
        </p:txBody>
      </p:sp>
      <p:sp>
        <p:nvSpPr>
          <p:cNvPr id="12" name="Shape 10"/>
          <p:cNvSpPr/>
          <p:nvPr/>
        </p:nvSpPr>
        <p:spPr>
          <a:xfrm>
            <a:off x="685800" y="1417320"/>
            <a:ext cx="5029200" cy="896112"/>
          </a:xfrm>
          <a:prstGeom prst="roundRect">
            <a:avLst>
              <a:gd name="adj" fmla="val 6122"/>
            </a:avLst>
          </a:prstGeom>
          <a:solidFill>
            <a:srgbClr val="E3F0FB"/>
          </a:solidFill>
          <a:ln w="15875">
            <a:solidFill>
              <a:srgbClr val="5B9BD5"/>
            </a:solidFill>
            <a:prstDash val="solid"/>
          </a:ln>
        </p:spPr>
      </p:sp>
      <p:sp>
        <p:nvSpPr>
          <p:cNvPr id="13" name="Text 11"/>
          <p:cNvSpPr/>
          <p:nvPr/>
        </p:nvSpPr>
        <p:spPr>
          <a:xfrm>
            <a:off x="822960" y="1472184"/>
            <a:ext cx="2377440" cy="274320"/>
          </a:xfrm>
          <a:prstGeom prst="rect">
            <a:avLst/>
          </a:prstGeom>
          <a:noFill/>
          <a:ln/>
        </p:spPr>
        <p:txBody>
          <a:bodyPr wrap="square" lIns="0" tIns="0" rIns="0" bIns="0" rtlCol="0" anchor="ctr"/>
          <a:lstStyle/>
          <a:p>
            <a:pPr algn="l" indent="0" marL="0">
              <a:buNone/>
            </a:pPr>
            <a:r>
              <a:rPr lang="en-US" sz="1150" b="1" dirty="0">
                <a:solidFill>
                  <a:srgbClr val="2A1F3D"/>
                </a:solidFill>
                <a:latin typeface="Calibri" pitchFamily="34" charset="0"/>
                <a:ea typeface="Calibri" pitchFamily="34" charset="-122"/>
                <a:cs typeface="Calibri" pitchFamily="34" charset="-120"/>
              </a:rPr>
              <a:t>1  Known solution</a:t>
            </a:r>
            <a:endParaRPr lang="en-US" sz="1150" dirty="0"/>
          </a:p>
        </p:txBody>
      </p:sp>
      <p:sp>
        <p:nvSpPr>
          <p:cNvPr id="14" name="Text 12"/>
          <p:cNvSpPr/>
          <p:nvPr/>
        </p:nvSpPr>
        <p:spPr>
          <a:xfrm>
            <a:off x="822960" y="1801368"/>
            <a:ext cx="2377440" cy="365760"/>
          </a:xfrm>
          <a:prstGeom prst="rect">
            <a:avLst/>
          </a:prstGeom>
          <a:noFill/>
          <a:ln/>
        </p:spPr>
        <p:txBody>
          <a:bodyPr wrap="square" lIns="0" tIns="0" rIns="0" bIns="0" rtlCol="0" anchor="ctr"/>
          <a:lstStyle/>
          <a:p>
            <a:pPr algn="l" indent="0" marL="0">
              <a:buNone/>
            </a:pPr>
            <a:r>
              <a:rPr lang="en-US" sz="1100" b="1" dirty="0">
                <a:solidFill>
                  <a:srgbClr val="5B9BD5"/>
                </a:solidFill>
                <a:latin typeface="Calibri" pitchFamily="34" charset="0"/>
                <a:ea typeface="Calibri" pitchFamily="34" charset="-122"/>
                <a:cs typeface="Calibri" pitchFamily="34" charset="-120"/>
              </a:rPr>
              <a:t>moles = c × V</a:t>
            </a:r>
            <a:endParaRPr lang="en-US" sz="1100" dirty="0"/>
          </a:p>
        </p:txBody>
      </p:sp>
      <p:sp>
        <p:nvSpPr>
          <p:cNvPr id="15" name="Text 13"/>
          <p:cNvSpPr/>
          <p:nvPr/>
        </p:nvSpPr>
        <p:spPr>
          <a:xfrm>
            <a:off x="3154680" y="1490472"/>
            <a:ext cx="2468880" cy="749808"/>
          </a:xfrm>
          <a:prstGeom prst="rect">
            <a:avLst/>
          </a:prstGeom>
          <a:noFill/>
          <a:ln/>
        </p:spPr>
        <p:txBody>
          <a:bodyPr wrap="square" lIns="0" tIns="0" rIns="0" bIns="0" rtlCol="0" anchor="ctr"/>
          <a:lstStyle/>
          <a:p>
            <a:pPr algn="l" indent="0" marL="0">
              <a:buNone/>
            </a:pPr>
            <a:r>
              <a:rPr lang="en-US" sz="1100" dirty="0">
                <a:solidFill>
                  <a:srgbClr val="262B3A"/>
                </a:solidFill>
                <a:latin typeface="Calibri" pitchFamily="34" charset="0"/>
                <a:ea typeface="Calibri" pitchFamily="34" charset="-122"/>
                <a:cs typeface="Calibri" pitchFamily="34" charset="-120"/>
              </a:rPr>
              <a:t>NaOH: 0.100 × 0.0250</a:t>
            </a:r>
            <a:endParaRPr lang="en-US" sz="1100" dirty="0"/>
          </a:p>
          <a:p>
            <a:pPr algn="l" indent="0" marL="0">
              <a:buNone/>
            </a:pPr>
            <a:r>
              <a:rPr lang="en-US" sz="1100" dirty="0">
                <a:solidFill>
                  <a:srgbClr val="262B3A"/>
                </a:solidFill>
                <a:latin typeface="Calibri" pitchFamily="34" charset="0"/>
                <a:ea typeface="Calibri" pitchFamily="34" charset="-122"/>
                <a:cs typeface="Calibri" pitchFamily="34" charset="-120"/>
              </a:rPr>
              <a:t>= 0.00250 mol</a:t>
            </a:r>
            <a:endParaRPr lang="en-US" sz="1100" dirty="0"/>
          </a:p>
        </p:txBody>
      </p:sp>
      <p:sp>
        <p:nvSpPr>
          <p:cNvPr id="16" name="Shape 14"/>
          <p:cNvSpPr/>
          <p:nvPr/>
        </p:nvSpPr>
        <p:spPr>
          <a:xfrm>
            <a:off x="3200400" y="2313432"/>
            <a:ext cx="91" cy="201168"/>
          </a:xfrm>
          <a:prstGeom prst="line">
            <a:avLst/>
          </a:prstGeom>
          <a:noFill/>
          <a:ln w="25400">
            <a:solidFill>
              <a:srgbClr val="2A1F3D"/>
            </a:solidFill>
            <a:prstDash val="solid"/>
            <a:tailEnd type="triangle"/>
          </a:ln>
        </p:spPr>
      </p:sp>
      <p:sp>
        <p:nvSpPr>
          <p:cNvPr id="17" name="Shape 15"/>
          <p:cNvSpPr/>
          <p:nvPr/>
        </p:nvSpPr>
        <p:spPr>
          <a:xfrm>
            <a:off x="685800" y="2514600"/>
            <a:ext cx="5029200" cy="896112"/>
          </a:xfrm>
          <a:prstGeom prst="roundRect">
            <a:avLst>
              <a:gd name="adj" fmla="val 6122"/>
            </a:avLst>
          </a:prstGeom>
          <a:solidFill>
            <a:srgbClr val="E9E0F7"/>
          </a:solidFill>
          <a:ln w="15875">
            <a:solidFill>
              <a:srgbClr val="6A3FA0"/>
            </a:solidFill>
            <a:prstDash val="solid"/>
          </a:ln>
        </p:spPr>
      </p:sp>
      <p:sp>
        <p:nvSpPr>
          <p:cNvPr id="18" name="Text 16"/>
          <p:cNvSpPr/>
          <p:nvPr/>
        </p:nvSpPr>
        <p:spPr>
          <a:xfrm>
            <a:off x="822960" y="2569464"/>
            <a:ext cx="2377440" cy="274320"/>
          </a:xfrm>
          <a:prstGeom prst="rect">
            <a:avLst/>
          </a:prstGeom>
          <a:noFill/>
          <a:ln/>
        </p:spPr>
        <p:txBody>
          <a:bodyPr wrap="square" lIns="0" tIns="0" rIns="0" bIns="0" rtlCol="0" anchor="ctr"/>
          <a:lstStyle/>
          <a:p>
            <a:pPr algn="l" indent="0" marL="0">
              <a:buNone/>
            </a:pPr>
            <a:r>
              <a:rPr lang="en-US" sz="1150" b="1" dirty="0">
                <a:solidFill>
                  <a:srgbClr val="2A1F3D"/>
                </a:solidFill>
                <a:latin typeface="Calibri" pitchFamily="34" charset="0"/>
                <a:ea typeface="Calibri" pitchFamily="34" charset="-122"/>
                <a:cs typeface="Calibri" pitchFamily="34" charset="-120"/>
              </a:rPr>
              <a:t>2  Ratio from equation</a:t>
            </a:r>
            <a:endParaRPr lang="en-US" sz="1150" dirty="0"/>
          </a:p>
        </p:txBody>
      </p:sp>
      <p:sp>
        <p:nvSpPr>
          <p:cNvPr id="19" name="Text 17"/>
          <p:cNvSpPr/>
          <p:nvPr/>
        </p:nvSpPr>
        <p:spPr>
          <a:xfrm>
            <a:off x="822960" y="2898648"/>
            <a:ext cx="2377440" cy="365760"/>
          </a:xfrm>
          <a:prstGeom prst="rect">
            <a:avLst/>
          </a:prstGeom>
          <a:noFill/>
          <a:ln/>
        </p:spPr>
        <p:txBody>
          <a:bodyPr wrap="square" lIns="0" tIns="0" rIns="0" bIns="0" rtlCol="0" anchor="ctr"/>
          <a:lstStyle/>
          <a:p>
            <a:pPr algn="l" indent="0" marL="0">
              <a:buNone/>
            </a:pPr>
            <a:r>
              <a:rPr lang="en-US" sz="1100" b="1" dirty="0">
                <a:solidFill>
                  <a:srgbClr val="6A3FA0"/>
                </a:solidFill>
                <a:latin typeface="Calibri" pitchFamily="34" charset="0"/>
                <a:ea typeface="Calibri" pitchFamily="34" charset="-122"/>
                <a:cs typeface="Calibri" pitchFamily="34" charset="-120"/>
              </a:rPr>
              <a:t>NaOH : HCl = 1 : 1</a:t>
            </a:r>
            <a:endParaRPr lang="en-US" sz="1100" dirty="0"/>
          </a:p>
        </p:txBody>
      </p:sp>
      <p:sp>
        <p:nvSpPr>
          <p:cNvPr id="20" name="Text 18"/>
          <p:cNvSpPr/>
          <p:nvPr/>
        </p:nvSpPr>
        <p:spPr>
          <a:xfrm>
            <a:off x="3154680" y="2587752"/>
            <a:ext cx="2468880" cy="749808"/>
          </a:xfrm>
          <a:prstGeom prst="rect">
            <a:avLst/>
          </a:prstGeom>
          <a:noFill/>
          <a:ln/>
        </p:spPr>
        <p:txBody>
          <a:bodyPr wrap="square" lIns="0" tIns="0" rIns="0" bIns="0" rtlCol="0" anchor="ctr"/>
          <a:lstStyle/>
          <a:p>
            <a:pPr algn="l" indent="0" marL="0">
              <a:buNone/>
            </a:pPr>
            <a:r>
              <a:rPr lang="en-US" sz="1100" dirty="0">
                <a:solidFill>
                  <a:srgbClr val="262B3A"/>
                </a:solidFill>
                <a:latin typeface="Calibri" pitchFamily="34" charset="0"/>
                <a:ea typeface="Calibri" pitchFamily="34" charset="-122"/>
                <a:cs typeface="Calibri" pitchFamily="34" charset="-120"/>
              </a:rPr>
              <a:t>HCl = 0.00250 mol</a:t>
            </a:r>
            <a:endParaRPr lang="en-US" sz="1100" dirty="0"/>
          </a:p>
        </p:txBody>
      </p:sp>
      <p:sp>
        <p:nvSpPr>
          <p:cNvPr id="21" name="Shape 19"/>
          <p:cNvSpPr/>
          <p:nvPr/>
        </p:nvSpPr>
        <p:spPr>
          <a:xfrm>
            <a:off x="3200400" y="3410712"/>
            <a:ext cx="91" cy="201168"/>
          </a:xfrm>
          <a:prstGeom prst="line">
            <a:avLst/>
          </a:prstGeom>
          <a:noFill/>
          <a:ln w="25400">
            <a:solidFill>
              <a:srgbClr val="2A1F3D"/>
            </a:solidFill>
            <a:prstDash val="solid"/>
            <a:tailEnd type="triangle"/>
          </a:ln>
        </p:spPr>
      </p:sp>
      <p:sp>
        <p:nvSpPr>
          <p:cNvPr id="22" name="Shape 20"/>
          <p:cNvSpPr/>
          <p:nvPr/>
        </p:nvSpPr>
        <p:spPr>
          <a:xfrm>
            <a:off x="685800" y="3611880"/>
            <a:ext cx="5029200" cy="896112"/>
          </a:xfrm>
          <a:prstGeom prst="roundRect">
            <a:avLst>
              <a:gd name="adj" fmla="val 6122"/>
            </a:avLst>
          </a:prstGeom>
          <a:solidFill>
            <a:srgbClr val="F6DCCB"/>
          </a:solidFill>
          <a:ln w="15875">
            <a:solidFill>
              <a:srgbClr val="B8730A"/>
            </a:solidFill>
            <a:prstDash val="solid"/>
          </a:ln>
        </p:spPr>
      </p:sp>
      <p:sp>
        <p:nvSpPr>
          <p:cNvPr id="23" name="Text 21"/>
          <p:cNvSpPr/>
          <p:nvPr/>
        </p:nvSpPr>
        <p:spPr>
          <a:xfrm>
            <a:off x="822960" y="3666744"/>
            <a:ext cx="2377440" cy="274320"/>
          </a:xfrm>
          <a:prstGeom prst="rect">
            <a:avLst/>
          </a:prstGeom>
          <a:noFill/>
          <a:ln/>
        </p:spPr>
        <p:txBody>
          <a:bodyPr wrap="square" lIns="0" tIns="0" rIns="0" bIns="0" rtlCol="0" anchor="ctr"/>
          <a:lstStyle/>
          <a:p>
            <a:pPr algn="l" indent="0" marL="0">
              <a:buNone/>
            </a:pPr>
            <a:r>
              <a:rPr lang="en-US" sz="1150" b="1" dirty="0">
                <a:solidFill>
                  <a:srgbClr val="2A1F3D"/>
                </a:solidFill>
                <a:latin typeface="Calibri" pitchFamily="34" charset="0"/>
                <a:ea typeface="Calibri" pitchFamily="34" charset="-122"/>
                <a:cs typeface="Calibri" pitchFamily="34" charset="-120"/>
              </a:rPr>
              <a:t>3  Unknown solution</a:t>
            </a:r>
            <a:endParaRPr lang="en-US" sz="1150" dirty="0"/>
          </a:p>
        </p:txBody>
      </p:sp>
      <p:sp>
        <p:nvSpPr>
          <p:cNvPr id="24" name="Text 22"/>
          <p:cNvSpPr/>
          <p:nvPr/>
        </p:nvSpPr>
        <p:spPr>
          <a:xfrm>
            <a:off x="822960" y="3995928"/>
            <a:ext cx="2377440" cy="365760"/>
          </a:xfrm>
          <a:prstGeom prst="rect">
            <a:avLst/>
          </a:prstGeom>
          <a:noFill/>
          <a:ln/>
        </p:spPr>
        <p:txBody>
          <a:bodyPr wrap="square" lIns="0" tIns="0" rIns="0" bIns="0" rtlCol="0" anchor="ctr"/>
          <a:lstStyle/>
          <a:p>
            <a:pPr algn="l" indent="0" marL="0">
              <a:buNone/>
            </a:pPr>
            <a:r>
              <a:rPr lang="en-US" sz="1100" b="1" dirty="0">
                <a:solidFill>
                  <a:srgbClr val="B8730A"/>
                </a:solidFill>
                <a:latin typeface="Calibri" pitchFamily="34" charset="0"/>
                <a:ea typeface="Calibri" pitchFamily="34" charset="-122"/>
                <a:cs typeface="Calibri" pitchFamily="34" charset="-120"/>
              </a:rPr>
              <a:t>c = moles ÷ V</a:t>
            </a:r>
            <a:endParaRPr lang="en-US" sz="1100" dirty="0"/>
          </a:p>
        </p:txBody>
      </p:sp>
      <p:sp>
        <p:nvSpPr>
          <p:cNvPr id="25" name="Text 23"/>
          <p:cNvSpPr/>
          <p:nvPr/>
        </p:nvSpPr>
        <p:spPr>
          <a:xfrm>
            <a:off x="3154680" y="3685032"/>
            <a:ext cx="2468880" cy="749808"/>
          </a:xfrm>
          <a:prstGeom prst="rect">
            <a:avLst/>
          </a:prstGeom>
          <a:noFill/>
          <a:ln/>
        </p:spPr>
        <p:txBody>
          <a:bodyPr wrap="square" lIns="0" tIns="0" rIns="0" bIns="0" rtlCol="0" anchor="ctr"/>
          <a:lstStyle/>
          <a:p>
            <a:pPr algn="l" indent="0" marL="0">
              <a:buNone/>
            </a:pPr>
            <a:r>
              <a:rPr lang="en-US" sz="1100" dirty="0">
                <a:solidFill>
                  <a:srgbClr val="262B3A"/>
                </a:solidFill>
                <a:latin typeface="Calibri" pitchFamily="34" charset="0"/>
                <a:ea typeface="Calibri" pitchFamily="34" charset="-122"/>
                <a:cs typeface="Calibri" pitchFamily="34" charset="-120"/>
              </a:rPr>
              <a:t>HCl: 0.00250 ÷ 0.02250</a:t>
            </a:r>
            <a:endParaRPr lang="en-US" sz="1100" dirty="0"/>
          </a:p>
          <a:p>
            <a:pPr algn="l" indent="0" marL="0">
              <a:buNone/>
            </a:pPr>
            <a:r>
              <a:rPr lang="en-US" sz="1100" dirty="0">
                <a:solidFill>
                  <a:srgbClr val="262B3A"/>
                </a:solidFill>
                <a:latin typeface="Calibri" pitchFamily="34" charset="0"/>
                <a:ea typeface="Calibri" pitchFamily="34" charset="-122"/>
                <a:cs typeface="Calibri" pitchFamily="34" charset="-120"/>
              </a:rPr>
              <a:t>= 0.111 mol/dm³</a:t>
            </a:r>
            <a:endParaRPr lang="en-US" sz="1100" dirty="0"/>
          </a:p>
        </p:txBody>
      </p:sp>
      <p:sp>
        <p:nvSpPr>
          <p:cNvPr id="26" name="Shape 24"/>
          <p:cNvSpPr/>
          <p:nvPr/>
        </p:nvSpPr>
        <p:spPr>
          <a:xfrm>
            <a:off x="685800" y="4709160"/>
            <a:ext cx="5029200" cy="365760"/>
          </a:xfrm>
          <a:prstGeom prst="roundRect">
            <a:avLst>
              <a:gd name="adj" fmla="val 12500"/>
            </a:avLst>
          </a:prstGeom>
          <a:solidFill>
            <a:srgbClr val="FFFFFF"/>
          </a:solidFill>
          <a:ln w="12700">
            <a:solidFill>
              <a:srgbClr val="DDD3EC"/>
            </a:solidFill>
            <a:prstDash val="solid"/>
          </a:ln>
        </p:spPr>
      </p:sp>
      <p:sp>
        <p:nvSpPr>
          <p:cNvPr id="27" name="Text 25"/>
          <p:cNvSpPr/>
          <p:nvPr/>
        </p:nvSpPr>
        <p:spPr>
          <a:xfrm>
            <a:off x="758952" y="4709160"/>
            <a:ext cx="4882896" cy="365760"/>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NaOH(aq) + HCl(aq) → NaCl(aq) + H₂O(l)</a:t>
            </a:r>
            <a:endParaRPr lang="en-US" sz="1150" dirty="0"/>
          </a:p>
        </p:txBody>
      </p:sp>
      <p:sp>
        <p:nvSpPr>
          <p:cNvPr id="28" name="Text 26"/>
          <p:cNvSpPr/>
          <p:nvPr/>
        </p:nvSpPr>
        <p:spPr>
          <a:xfrm>
            <a:off x="685800" y="5120640"/>
            <a:ext cx="5029200" cy="21945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Volumes: 25.0 cm³ = 0.0250 dm³; 22.50 cm³ = 0.02250 dm³</a:t>
            </a:r>
            <a:endParaRPr lang="en-US" sz="1050" dirty="0"/>
          </a:p>
        </p:txBody>
      </p:sp>
      <p:sp>
        <p:nvSpPr>
          <p:cNvPr id="29" name="Shape 27"/>
          <p:cNvSpPr/>
          <p:nvPr/>
        </p:nvSpPr>
        <p:spPr>
          <a:xfrm>
            <a:off x="6217920" y="1188720"/>
            <a:ext cx="5559552" cy="2011680"/>
          </a:xfrm>
          <a:prstGeom prst="roundRect">
            <a:avLst>
              <a:gd name="adj" fmla="val 2727"/>
            </a:avLst>
          </a:prstGeom>
          <a:solidFill>
            <a:srgbClr val="F8F5FC"/>
          </a:solidFill>
          <a:ln w="9525">
            <a:solidFill>
              <a:srgbClr val="DDD3EC"/>
            </a:solidFill>
            <a:prstDash val="solid"/>
          </a:ln>
        </p:spPr>
      </p:sp>
      <p:sp>
        <p:nvSpPr>
          <p:cNvPr id="30" name="Text 28"/>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31" name="Text 29"/>
          <p:cNvSpPr/>
          <p:nvPr/>
        </p:nvSpPr>
        <p:spPr>
          <a:xfrm>
            <a:off x="6382512" y="1609344"/>
            <a:ext cx="5230368" cy="15179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Write the </a:t>
            </a:r>
            <a:r>
              <a:rPr lang="en-US" sz="1100" b="1" dirty="0">
                <a:solidFill>
                  <a:srgbClr val="262B3A"/>
                </a:solidFill>
                <a:latin typeface="Calibri" pitchFamily="34" charset="0"/>
                <a:ea typeface="Calibri" pitchFamily="34" charset="-122"/>
                <a:cs typeface="Calibri" pitchFamily="34" charset="-120"/>
              </a:rPr>
              <a:t>balanced equation</a:t>
            </a:r>
            <a:r>
              <a:rPr lang="en-US" sz="1100" dirty="0">
                <a:solidFill>
                  <a:srgbClr val="262B3A"/>
                </a:solidFill>
                <a:latin typeface="Calibri" pitchFamily="34" charset="0"/>
                <a:ea typeface="Calibri" pitchFamily="34" charset="-122"/>
                <a:cs typeface="Calibri" pitchFamily="34" charset="-120"/>
              </a:rPr>
              <a:t> and find the </a:t>
            </a:r>
            <a:r>
              <a:rPr lang="en-US" sz="1100" b="1" dirty="0">
                <a:solidFill>
                  <a:srgbClr val="262B3A"/>
                </a:solidFill>
                <a:latin typeface="Calibri" pitchFamily="34" charset="0"/>
                <a:ea typeface="Calibri" pitchFamily="34" charset="-122"/>
                <a:cs typeface="Calibri" pitchFamily="34" charset="-120"/>
              </a:rPr>
              <a:t>mole ratio</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Use the solution where you know </a:t>
            </a:r>
            <a:r>
              <a:rPr lang="en-US" sz="1100" b="1" dirty="0">
                <a:solidFill>
                  <a:srgbClr val="262B3A"/>
                </a:solidFill>
                <a:latin typeface="Calibri" pitchFamily="34" charset="0"/>
                <a:ea typeface="Calibri" pitchFamily="34" charset="-122"/>
                <a:cs typeface="Calibri" pitchFamily="34" charset="-120"/>
              </a:rPr>
              <a:t>both</a:t>
            </a:r>
            <a:r>
              <a:rPr lang="en-US" sz="1100" dirty="0">
                <a:solidFill>
                  <a:srgbClr val="262B3A"/>
                </a:solidFill>
                <a:latin typeface="Calibri" pitchFamily="34" charset="0"/>
                <a:ea typeface="Calibri" pitchFamily="34" charset="-122"/>
                <a:cs typeface="Calibri" pitchFamily="34" charset="-120"/>
              </a:rPr>
              <a:t> c and V: </a:t>
            </a:r>
            <a:r>
              <a:rPr lang="en-US" sz="1100" b="1" dirty="0">
                <a:solidFill>
                  <a:srgbClr val="262B3A"/>
                </a:solidFill>
                <a:latin typeface="Calibri" pitchFamily="34" charset="0"/>
                <a:ea typeface="Calibri" pitchFamily="34" charset="-122"/>
                <a:cs typeface="Calibri" pitchFamily="34" charset="-120"/>
              </a:rPr>
              <a:t>moles = c × V</a:t>
            </a:r>
            <a:r>
              <a:rPr lang="en-US" sz="1100" dirty="0">
                <a:solidFill>
                  <a:srgbClr val="262B3A"/>
                </a:solidFill>
                <a:latin typeface="Calibri" pitchFamily="34" charset="0"/>
                <a:ea typeface="Calibri" pitchFamily="34" charset="-122"/>
                <a:cs typeface="Calibri" pitchFamily="34" charset="-120"/>
              </a:rPr>
              <a:t> (V in dm³).</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Use the ratio to find moles of the other substance, then </a:t>
            </a:r>
            <a:r>
              <a:rPr lang="en-US" sz="1100" b="1" dirty="0">
                <a:solidFill>
                  <a:srgbClr val="262B3A"/>
                </a:solidFill>
                <a:latin typeface="Calibri" pitchFamily="34" charset="0"/>
                <a:ea typeface="Calibri" pitchFamily="34" charset="-122"/>
                <a:cs typeface="Calibri" pitchFamily="34" charset="-120"/>
              </a:rPr>
              <a:t>c = moles ÷ V</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Check: a 1 : 2 ratio (e.g. H₂SO₄ with NaOH) halves or doubles the moles.</a:t>
            </a:r>
            <a:endParaRPr lang="en-US" sz="1100" dirty="0"/>
          </a:p>
        </p:txBody>
      </p:sp>
      <p:sp>
        <p:nvSpPr>
          <p:cNvPr id="32" name="Shape 30"/>
          <p:cNvSpPr/>
          <p:nvPr/>
        </p:nvSpPr>
        <p:spPr>
          <a:xfrm>
            <a:off x="6217920" y="3337560"/>
            <a:ext cx="5559552" cy="2377440"/>
          </a:xfrm>
          <a:prstGeom prst="roundRect">
            <a:avLst>
              <a:gd name="adj" fmla="val 2308"/>
            </a:avLst>
          </a:prstGeom>
          <a:solidFill>
            <a:srgbClr val="FFF4E0"/>
          </a:solidFill>
          <a:ln w="9525">
            <a:solidFill>
              <a:srgbClr val="F1D9A8"/>
            </a:solidFill>
            <a:prstDash val="solid"/>
          </a:ln>
        </p:spPr>
      </p:sp>
      <p:sp>
        <p:nvSpPr>
          <p:cNvPr id="33" name="Text 31"/>
          <p:cNvSpPr/>
          <p:nvPr/>
        </p:nvSpPr>
        <p:spPr>
          <a:xfrm>
            <a:off x="6382512" y="34107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 1 : 2 reaction</a:t>
            </a:r>
            <a:endParaRPr lang="en-US" sz="1300" dirty="0"/>
          </a:p>
        </p:txBody>
      </p:sp>
      <p:sp>
        <p:nvSpPr>
          <p:cNvPr id="34" name="Text 32"/>
          <p:cNvSpPr/>
          <p:nvPr/>
        </p:nvSpPr>
        <p:spPr>
          <a:xfrm>
            <a:off x="6382512" y="3721608"/>
            <a:ext cx="5230368" cy="192024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25.0 cm³ of 0.200 mol/dm³ NaOH is neutralised by 20.0 cm³ of sulfuric acid.  H₂SO₄ + 2NaOH → Na₂SO₄ + 2H₂O</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1 NaOH   </a:t>
            </a:r>
            <a:r>
              <a:rPr lang="en-US" sz="1100" dirty="0">
                <a:solidFill>
                  <a:srgbClr val="262B3A"/>
                </a:solidFill>
                <a:latin typeface="Calibri" pitchFamily="34" charset="0"/>
                <a:ea typeface="Calibri" pitchFamily="34" charset="-122"/>
                <a:cs typeface="Calibri" pitchFamily="34" charset="-120"/>
              </a:rPr>
              <a:t>0.200 × 0.0250 = 0.00500 mol</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2 Ratio   </a:t>
            </a:r>
            <a:r>
              <a:rPr lang="en-US" sz="1100" dirty="0">
                <a:solidFill>
                  <a:srgbClr val="262B3A"/>
                </a:solidFill>
                <a:latin typeface="Calibri" pitchFamily="34" charset="0"/>
                <a:ea typeface="Calibri" pitchFamily="34" charset="-122"/>
                <a:cs typeface="Calibri" pitchFamily="34" charset="-120"/>
              </a:rPr>
              <a:t>H₂SO₄ : NaOH = 1 : 2, so 0.00500 ÷ 2 = 0.00250 mol</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0.00250 ÷ 0.0200 = </a:t>
            </a:r>
            <a:r>
              <a:rPr lang="en-US" sz="1100" b="1" dirty="0">
                <a:solidFill>
                  <a:srgbClr val="C8414C"/>
                </a:solidFill>
                <a:latin typeface="Calibri" pitchFamily="34" charset="0"/>
                <a:ea typeface="Calibri" pitchFamily="34" charset="-122"/>
                <a:cs typeface="Calibri" pitchFamily="34" charset="-120"/>
              </a:rPr>
              <a:t>0.125 mol/dm³</a:t>
            </a:r>
            <a:endParaRPr lang="en-US" sz="1100" dirty="0"/>
          </a:p>
        </p:txBody>
      </p:sp>
      <p:sp>
        <p:nvSpPr>
          <p:cNvPr id="35" name="Shape 33"/>
          <p:cNvSpPr/>
          <p:nvPr/>
        </p:nvSpPr>
        <p:spPr>
          <a:xfrm>
            <a:off x="411480" y="5833872"/>
            <a:ext cx="11368735" cy="530352"/>
          </a:xfrm>
          <a:prstGeom prst="rect">
            <a:avLst/>
          </a:prstGeom>
          <a:solidFill>
            <a:srgbClr val="FFF4E0"/>
          </a:solidFill>
          <a:ln w="6350">
            <a:solidFill>
              <a:srgbClr val="F1D9A8"/>
            </a:solidFill>
            <a:prstDash val="solid"/>
          </a:ln>
        </p:spPr>
      </p:sp>
      <p:sp>
        <p:nvSpPr>
          <p:cNvPr id="36" name="Shape 34"/>
          <p:cNvSpPr/>
          <p:nvPr/>
        </p:nvSpPr>
        <p:spPr>
          <a:xfrm>
            <a:off x="411480" y="5833872"/>
            <a:ext cx="82296" cy="530352"/>
          </a:xfrm>
          <a:prstGeom prst="rect">
            <a:avLst/>
          </a:prstGeom>
          <a:solidFill>
            <a:srgbClr val="E39A2F"/>
          </a:solidFill>
          <a:ln w="12700">
            <a:solidFill>
              <a:srgbClr val="E39A2F"/>
            </a:solidFill>
            <a:prstDash val="solid"/>
          </a:ln>
        </p:spPr>
      </p:sp>
      <p:sp>
        <p:nvSpPr>
          <p:cNvPr id="37" name="Text 3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b="1" dirty="0">
                <a:solidFill>
                  <a:srgbClr val="262B3A"/>
                </a:solidFill>
                <a:latin typeface="Calibri" pitchFamily="34" charset="0"/>
                <a:ea typeface="Calibri" pitchFamily="34" charset="-122"/>
                <a:cs typeface="Calibri" pitchFamily="34" charset="-120"/>
              </a:rPr>
              <a:t>20.0 cm³</a:t>
            </a:r>
            <a:r>
              <a:rPr lang="en-US" sz="1150" dirty="0">
                <a:solidFill>
                  <a:srgbClr val="262B3A"/>
                </a:solidFill>
                <a:latin typeface="Calibri" pitchFamily="34" charset="0"/>
                <a:ea typeface="Calibri" pitchFamily="34" charset="-122"/>
                <a:cs typeface="Calibri" pitchFamily="34" charset="-120"/>
              </a:rPr>
              <a:t> of </a:t>
            </a:r>
            <a:r>
              <a:rPr lang="en-US" sz="1150" b="1" dirty="0">
                <a:solidFill>
                  <a:srgbClr val="262B3A"/>
                </a:solidFill>
                <a:latin typeface="Calibri" pitchFamily="34" charset="0"/>
                <a:ea typeface="Calibri" pitchFamily="34" charset="-122"/>
                <a:cs typeface="Calibri" pitchFamily="34" charset="-120"/>
              </a:rPr>
              <a:t>0.150 mol/dm³</a:t>
            </a:r>
            <a:r>
              <a:rPr lang="en-US" sz="1150" dirty="0">
                <a:solidFill>
                  <a:srgbClr val="262B3A"/>
                </a:solidFill>
                <a:latin typeface="Calibri" pitchFamily="34" charset="0"/>
                <a:ea typeface="Calibri" pitchFamily="34" charset="-122"/>
                <a:cs typeface="Calibri" pitchFamily="34" charset="-120"/>
              </a:rPr>
              <a:t> HCl neutralises </a:t>
            </a:r>
            <a:r>
              <a:rPr lang="en-US" sz="1150" b="1" dirty="0">
                <a:solidFill>
                  <a:srgbClr val="262B3A"/>
                </a:solidFill>
                <a:latin typeface="Calibri" pitchFamily="34" charset="0"/>
                <a:ea typeface="Calibri" pitchFamily="34" charset="-122"/>
                <a:cs typeface="Calibri" pitchFamily="34" charset="-120"/>
              </a:rPr>
              <a:t>25.0 cm³</a:t>
            </a:r>
            <a:r>
              <a:rPr lang="en-US" sz="1150" dirty="0">
                <a:solidFill>
                  <a:srgbClr val="262B3A"/>
                </a:solidFill>
                <a:latin typeface="Calibri" pitchFamily="34" charset="0"/>
                <a:ea typeface="Calibri" pitchFamily="34" charset="-122"/>
                <a:cs typeface="Calibri" pitchFamily="34" charset="-120"/>
              </a:rPr>
              <a:t> of NaOH. Calculate the concentration of the NaOH in mol/dm³.</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C5.3.5, C5.3.6 • titration results and calculations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burette reads </a:t>
            </a:r>
            <a:r>
              <a:rPr lang="en-US" sz="1250" b="1" dirty="0">
                <a:solidFill>
                  <a:srgbClr val="262B3A"/>
                </a:solidFill>
                <a:latin typeface="Calibri" pitchFamily="34" charset="0"/>
                <a:ea typeface="Calibri" pitchFamily="34" charset="-122"/>
                <a:cs typeface="Calibri" pitchFamily="34" charset="-120"/>
              </a:rPr>
              <a:t>0.40 cm³</a:t>
            </a:r>
            <a:r>
              <a:rPr lang="en-US" sz="1250" dirty="0">
                <a:solidFill>
                  <a:srgbClr val="262B3A"/>
                </a:solidFill>
                <a:latin typeface="Calibri" pitchFamily="34" charset="0"/>
                <a:ea typeface="Calibri" pitchFamily="34" charset="-122"/>
                <a:cs typeface="Calibri" pitchFamily="34" charset="-120"/>
              </a:rPr>
              <a:t> at the start and </a:t>
            </a:r>
            <a:r>
              <a:rPr lang="en-US" sz="1250" b="1" dirty="0">
                <a:solidFill>
                  <a:srgbClr val="262B3A"/>
                </a:solidFill>
                <a:latin typeface="Calibri" pitchFamily="34" charset="0"/>
                <a:ea typeface="Calibri" pitchFamily="34" charset="-122"/>
                <a:cs typeface="Calibri" pitchFamily="34" charset="-120"/>
              </a:rPr>
              <a:t>23.15 cm³</a:t>
            </a:r>
            <a:r>
              <a:rPr lang="en-US" sz="1250" dirty="0">
                <a:solidFill>
                  <a:srgbClr val="262B3A"/>
                </a:solidFill>
                <a:latin typeface="Calibri" pitchFamily="34" charset="0"/>
                <a:ea typeface="Calibri" pitchFamily="34" charset="-122"/>
                <a:cs typeface="Calibri" pitchFamily="34" charset="-120"/>
              </a:rPr>
              <a:t> at the end point. Calculate the titre.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Titres: </a:t>
            </a:r>
            <a:r>
              <a:rPr lang="en-US" sz="1250" b="1" dirty="0">
                <a:solidFill>
                  <a:srgbClr val="262B3A"/>
                </a:solidFill>
                <a:latin typeface="Calibri" pitchFamily="34" charset="0"/>
                <a:ea typeface="Calibri" pitchFamily="34" charset="-122"/>
                <a:cs typeface="Calibri" pitchFamily="34" charset="-120"/>
              </a:rPr>
              <a:t>24.30</a:t>
            </a:r>
            <a:r>
              <a:rPr lang="en-US" sz="1250" dirty="0">
                <a:solidFill>
                  <a:srgbClr val="262B3A"/>
                </a:solidFill>
                <a:latin typeface="Calibri" pitchFamily="34" charset="0"/>
                <a:ea typeface="Calibri" pitchFamily="34" charset="-122"/>
                <a:cs typeface="Calibri" pitchFamily="34" charset="-120"/>
              </a:rPr>
              <a:t> (rough), </a:t>
            </a:r>
            <a:r>
              <a:rPr lang="en-US" sz="1250" b="1" dirty="0">
                <a:solidFill>
                  <a:srgbClr val="262B3A"/>
                </a:solidFill>
                <a:latin typeface="Calibri" pitchFamily="34" charset="0"/>
                <a:ea typeface="Calibri" pitchFamily="34" charset="-122"/>
                <a:cs typeface="Calibri" pitchFamily="34" charset="-120"/>
              </a:rPr>
              <a:t>23.85</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23.90</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23.80</a:t>
            </a:r>
            <a:r>
              <a:rPr lang="en-US" sz="1250" dirty="0">
                <a:solidFill>
                  <a:srgbClr val="262B3A"/>
                </a:solidFill>
                <a:latin typeface="Calibri" pitchFamily="34" charset="0"/>
                <a:ea typeface="Calibri" pitchFamily="34" charset="-122"/>
                <a:cs typeface="Calibri" pitchFamily="34" charset="-120"/>
              </a:rPr>
              <a:t> cm³. Calculate the mean titre, explaining which results you use.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4183380"/>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25.0 cm³</a:t>
            </a:r>
            <a:r>
              <a:rPr lang="en-US" sz="1250" dirty="0">
                <a:solidFill>
                  <a:srgbClr val="262B3A"/>
                </a:solidFill>
                <a:latin typeface="Calibri" pitchFamily="34" charset="0"/>
                <a:ea typeface="Calibri" pitchFamily="34" charset="-122"/>
                <a:cs typeface="Calibri" pitchFamily="34" charset="-120"/>
              </a:rPr>
              <a:t> of </a:t>
            </a:r>
            <a:r>
              <a:rPr lang="en-US" sz="1250" b="1" dirty="0">
                <a:solidFill>
                  <a:srgbClr val="262B3A"/>
                </a:solidFill>
                <a:latin typeface="Calibri" pitchFamily="34" charset="0"/>
                <a:ea typeface="Calibri" pitchFamily="34" charset="-122"/>
                <a:cs typeface="Calibri" pitchFamily="34" charset="-120"/>
              </a:rPr>
              <a:t>0.100 mol/dm³</a:t>
            </a:r>
            <a:r>
              <a:rPr lang="en-US" sz="1250" dirty="0">
                <a:solidFill>
                  <a:srgbClr val="262B3A"/>
                </a:solidFill>
                <a:latin typeface="Calibri" pitchFamily="34" charset="0"/>
                <a:ea typeface="Calibri" pitchFamily="34" charset="-122"/>
                <a:cs typeface="Calibri" pitchFamily="34" charset="-120"/>
              </a:rPr>
              <a:t> NaOH is neutralised by </a:t>
            </a:r>
            <a:r>
              <a:rPr lang="en-US" sz="1250" b="1" dirty="0">
                <a:solidFill>
                  <a:srgbClr val="262B3A"/>
                </a:solidFill>
                <a:latin typeface="Calibri" pitchFamily="34" charset="0"/>
                <a:ea typeface="Calibri" pitchFamily="34" charset="-122"/>
                <a:cs typeface="Calibri" pitchFamily="34" charset="-120"/>
              </a:rPr>
              <a:t>20.00 cm³</a:t>
            </a:r>
            <a:r>
              <a:rPr lang="en-US" sz="1250" dirty="0">
                <a:solidFill>
                  <a:srgbClr val="262B3A"/>
                </a:solidFill>
                <a:latin typeface="Calibri" pitchFamily="34" charset="0"/>
                <a:ea typeface="Calibri" pitchFamily="34" charset="-122"/>
                <a:cs typeface="Calibri" pitchFamily="34" charset="-120"/>
              </a:rPr>
              <a:t> of HCl. Calculate the concentration of the HCl.</a:t>
            </a:r>
            <a:endParaRPr lang="en-US" sz="1250" dirty="0"/>
          </a:p>
        </p:txBody>
      </p:sp>
      <p:sp>
        <p:nvSpPr>
          <p:cNvPr id="24" name="Text 22"/>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6" name="Shape 24"/>
          <p:cNvSpPr/>
          <p:nvPr/>
        </p:nvSpPr>
        <p:spPr>
          <a:xfrm>
            <a:off x="411480" y="5122926"/>
            <a:ext cx="2103120" cy="292608"/>
          </a:xfrm>
          <a:prstGeom prst="rect">
            <a:avLst/>
          </a:prstGeom>
          <a:solidFill>
            <a:srgbClr val="F5A742"/>
          </a:solidFill>
          <a:ln w="12700">
            <a:solidFill>
              <a:srgbClr val="F5A742"/>
            </a:solidFill>
            <a:prstDash val="solid"/>
          </a:ln>
        </p:spPr>
      </p:sp>
      <p:sp>
        <p:nvSpPr>
          <p:cNvPr id="27" name="Text 25"/>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Shape 26"/>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640080" y="5488686"/>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20.0 cm³</a:t>
            </a:r>
            <a:r>
              <a:rPr lang="en-US" sz="1250" dirty="0">
                <a:solidFill>
                  <a:srgbClr val="262B3A"/>
                </a:solidFill>
                <a:latin typeface="Calibri" pitchFamily="34" charset="0"/>
                <a:ea typeface="Calibri" pitchFamily="34" charset="-122"/>
                <a:cs typeface="Calibri" pitchFamily="34" charset="-120"/>
              </a:rPr>
              <a:t> of </a:t>
            </a:r>
            <a:r>
              <a:rPr lang="en-US" sz="1250" b="1" dirty="0">
                <a:solidFill>
                  <a:srgbClr val="262B3A"/>
                </a:solidFill>
                <a:latin typeface="Calibri" pitchFamily="34" charset="0"/>
                <a:ea typeface="Calibri" pitchFamily="34" charset="-122"/>
                <a:cs typeface="Calibri" pitchFamily="34" charset="-120"/>
              </a:rPr>
              <a:t>0.050 mol/dm³</a:t>
            </a:r>
            <a:r>
              <a:rPr lang="en-US" sz="1250" dirty="0">
                <a:solidFill>
                  <a:srgbClr val="262B3A"/>
                </a:solidFill>
                <a:latin typeface="Calibri" pitchFamily="34" charset="0"/>
                <a:ea typeface="Calibri" pitchFamily="34" charset="-122"/>
                <a:cs typeface="Calibri" pitchFamily="34" charset="-120"/>
              </a:rPr>
              <a:t> H₂SO₄ reacts with sodium hydroxide: H₂SO₄ + 2NaOH → Na₂SO₄ + 2H₂O. Calculate the moles of NaOH that react.</a:t>
            </a:r>
            <a:endParaRPr lang="en-US" sz="1250" dirty="0"/>
          </a:p>
        </p:txBody>
      </p:sp>
      <p:sp>
        <p:nvSpPr>
          <p:cNvPr id="31" name="Text 29"/>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Precise and accurate titrations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C5.3.6 • a procedure that gives precise, accurate, valid and repeatable results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C5.3.6  |  18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magnified burette scale; eye positions exaggerated</a:t>
            </a:r>
            <a:endParaRPr lang="en-US" sz="1000" dirty="0"/>
          </a:p>
        </p:txBody>
      </p:sp>
      <p:sp>
        <p:nvSpPr>
          <p:cNvPr id="10" name="Shape 8"/>
          <p:cNvSpPr/>
          <p:nvPr/>
        </p:nvSpPr>
        <p:spPr>
          <a:xfrm>
            <a:off x="2194560" y="1371600"/>
            <a:ext cx="685800" cy="2514600"/>
          </a:xfrm>
          <a:prstGeom prst="rect">
            <a:avLst/>
          </a:prstGeom>
          <a:solidFill>
            <a:srgbClr val="EEF5FB"/>
          </a:solidFill>
          <a:ln/>
        </p:spPr>
      </p:sp>
      <p:sp>
        <p:nvSpPr>
          <p:cNvPr id="11" name="Shape 9"/>
          <p:cNvSpPr/>
          <p:nvPr/>
        </p:nvSpPr>
        <p:spPr>
          <a:xfrm>
            <a:off x="2194560" y="2482596"/>
            <a:ext cx="685800" cy="1403604"/>
          </a:xfrm>
          <a:custGeom>
            <a:avLst/>
            <a:gdLst/>
            <a:ahLst/>
            <a:cxnLst/>
            <a:rect l="l" t="t" r="r" b="b"/>
            <a:pathLst>
              <a:path w="685800" h="1403604">
                <a:moveTo>
                  <a:pt x="0" y="0"/>
                </a:moveTo>
                <a:lnTo>
                  <a:pt x="42863" y="34290"/>
                </a:lnTo>
                <a:lnTo>
                  <a:pt x="85725" y="64008"/>
                </a:lnTo>
                <a:lnTo>
                  <a:pt x="128588" y="89154"/>
                </a:lnTo>
                <a:lnTo>
                  <a:pt x="171450" y="109728"/>
                </a:lnTo>
                <a:lnTo>
                  <a:pt x="214313" y="125730"/>
                </a:lnTo>
                <a:lnTo>
                  <a:pt x="257175" y="137160"/>
                </a:lnTo>
                <a:lnTo>
                  <a:pt x="300038" y="144018"/>
                </a:lnTo>
                <a:lnTo>
                  <a:pt x="342900" y="146304"/>
                </a:lnTo>
                <a:lnTo>
                  <a:pt x="385763" y="144018"/>
                </a:lnTo>
                <a:lnTo>
                  <a:pt x="428625" y="137160"/>
                </a:lnTo>
                <a:lnTo>
                  <a:pt x="471488" y="125730"/>
                </a:lnTo>
                <a:lnTo>
                  <a:pt x="514350" y="109728"/>
                </a:lnTo>
                <a:lnTo>
                  <a:pt x="557213" y="89154"/>
                </a:lnTo>
                <a:lnTo>
                  <a:pt x="600075" y="64008"/>
                </a:lnTo>
                <a:lnTo>
                  <a:pt x="642938" y="34290"/>
                </a:lnTo>
                <a:lnTo>
                  <a:pt x="685800" y="0"/>
                </a:lnTo>
                <a:lnTo>
                  <a:pt x="685800" y="1403604"/>
                </a:lnTo>
                <a:lnTo>
                  <a:pt x="0" y="1403604"/>
                </a:lnTo>
                <a:close/>
              </a:path>
            </a:pathLst>
          </a:custGeom>
          <a:solidFill>
            <a:srgbClr val="DDEFF7"/>
          </a:solidFill>
          <a:ln/>
        </p:spPr>
      </p:sp>
      <p:sp>
        <p:nvSpPr>
          <p:cNvPr id="12" name="Shape 10"/>
          <p:cNvSpPr/>
          <p:nvPr/>
        </p:nvSpPr>
        <p:spPr>
          <a:xfrm>
            <a:off x="2194560" y="2482596"/>
            <a:ext cx="685800" cy="146304"/>
          </a:xfrm>
          <a:custGeom>
            <a:avLst/>
            <a:gdLst/>
            <a:ahLst/>
            <a:cxnLst/>
            <a:rect l="l" t="t" r="r" b="b"/>
            <a:pathLst>
              <a:path w="685800" h="146304">
                <a:moveTo>
                  <a:pt x="0" y="0"/>
                </a:moveTo>
                <a:lnTo>
                  <a:pt x="42863" y="34290"/>
                </a:lnTo>
                <a:lnTo>
                  <a:pt x="85725" y="64008"/>
                </a:lnTo>
                <a:lnTo>
                  <a:pt x="128588" y="89154"/>
                </a:lnTo>
                <a:lnTo>
                  <a:pt x="171450" y="109728"/>
                </a:lnTo>
                <a:lnTo>
                  <a:pt x="214313" y="125730"/>
                </a:lnTo>
                <a:lnTo>
                  <a:pt x="257175" y="137160"/>
                </a:lnTo>
                <a:lnTo>
                  <a:pt x="300038" y="144018"/>
                </a:lnTo>
                <a:lnTo>
                  <a:pt x="342900" y="146304"/>
                </a:lnTo>
                <a:lnTo>
                  <a:pt x="385763" y="144018"/>
                </a:lnTo>
                <a:lnTo>
                  <a:pt x="428625" y="137160"/>
                </a:lnTo>
                <a:lnTo>
                  <a:pt x="471488" y="125730"/>
                </a:lnTo>
                <a:lnTo>
                  <a:pt x="514350" y="109728"/>
                </a:lnTo>
                <a:lnTo>
                  <a:pt x="557213" y="89154"/>
                </a:lnTo>
                <a:lnTo>
                  <a:pt x="600075" y="64008"/>
                </a:lnTo>
                <a:lnTo>
                  <a:pt x="642938" y="34290"/>
                </a:lnTo>
                <a:lnTo>
                  <a:pt x="685800" y="0"/>
                </a:lnTo>
              </a:path>
            </a:pathLst>
          </a:custGeom>
          <a:ln w="19050">
            <a:solidFill>
              <a:srgbClr val="3A6EA5"/>
            </a:solidFill>
            <a:prstDash val="solid"/>
          </a:ln>
        </p:spPr>
      </p:sp>
      <p:sp>
        <p:nvSpPr>
          <p:cNvPr id="13" name="Shape 11"/>
          <p:cNvSpPr/>
          <p:nvPr/>
        </p:nvSpPr>
        <p:spPr>
          <a:xfrm>
            <a:off x="2194560" y="1508760"/>
            <a:ext cx="320040" cy="91"/>
          </a:xfrm>
          <a:prstGeom prst="line">
            <a:avLst/>
          </a:prstGeom>
          <a:noFill/>
          <a:ln w="9525">
            <a:solidFill>
              <a:srgbClr val="2A1F3D"/>
            </a:solidFill>
            <a:prstDash val="solid"/>
          </a:ln>
        </p:spPr>
      </p:sp>
      <p:sp>
        <p:nvSpPr>
          <p:cNvPr id="14" name="Text 12"/>
          <p:cNvSpPr/>
          <p:nvPr/>
        </p:nvSpPr>
        <p:spPr>
          <a:xfrm>
            <a:off x="1691640" y="1417320"/>
            <a:ext cx="457200"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22.3</a:t>
            </a:r>
            <a:endParaRPr lang="en-US" sz="1000" dirty="0"/>
          </a:p>
        </p:txBody>
      </p:sp>
      <p:sp>
        <p:nvSpPr>
          <p:cNvPr id="15" name="Shape 13"/>
          <p:cNvSpPr/>
          <p:nvPr/>
        </p:nvSpPr>
        <p:spPr>
          <a:xfrm>
            <a:off x="2194560" y="1732788"/>
            <a:ext cx="164592" cy="91"/>
          </a:xfrm>
          <a:prstGeom prst="line">
            <a:avLst/>
          </a:prstGeom>
          <a:noFill/>
          <a:ln w="6350">
            <a:solidFill>
              <a:srgbClr val="2A1F3D"/>
            </a:solidFill>
            <a:prstDash val="solid"/>
          </a:ln>
        </p:spPr>
      </p:sp>
      <p:sp>
        <p:nvSpPr>
          <p:cNvPr id="16" name="Shape 14"/>
          <p:cNvSpPr/>
          <p:nvPr/>
        </p:nvSpPr>
        <p:spPr>
          <a:xfrm>
            <a:off x="2194560" y="1956816"/>
            <a:ext cx="320040" cy="91"/>
          </a:xfrm>
          <a:prstGeom prst="line">
            <a:avLst/>
          </a:prstGeom>
          <a:noFill/>
          <a:ln w="9525">
            <a:solidFill>
              <a:srgbClr val="2A1F3D"/>
            </a:solidFill>
            <a:prstDash val="solid"/>
          </a:ln>
        </p:spPr>
      </p:sp>
      <p:sp>
        <p:nvSpPr>
          <p:cNvPr id="17" name="Text 15"/>
          <p:cNvSpPr/>
          <p:nvPr/>
        </p:nvSpPr>
        <p:spPr>
          <a:xfrm>
            <a:off x="1691640" y="1865376"/>
            <a:ext cx="457200"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22.4</a:t>
            </a:r>
            <a:endParaRPr lang="en-US" sz="1000" dirty="0"/>
          </a:p>
        </p:txBody>
      </p:sp>
      <p:sp>
        <p:nvSpPr>
          <p:cNvPr id="18" name="Shape 16"/>
          <p:cNvSpPr/>
          <p:nvPr/>
        </p:nvSpPr>
        <p:spPr>
          <a:xfrm>
            <a:off x="2194560" y="2180844"/>
            <a:ext cx="164592" cy="91"/>
          </a:xfrm>
          <a:prstGeom prst="line">
            <a:avLst/>
          </a:prstGeom>
          <a:noFill/>
          <a:ln w="6350">
            <a:solidFill>
              <a:srgbClr val="2A1F3D"/>
            </a:solidFill>
            <a:prstDash val="solid"/>
          </a:ln>
        </p:spPr>
      </p:sp>
      <p:sp>
        <p:nvSpPr>
          <p:cNvPr id="19" name="Shape 17"/>
          <p:cNvSpPr/>
          <p:nvPr/>
        </p:nvSpPr>
        <p:spPr>
          <a:xfrm>
            <a:off x="2194560" y="2404872"/>
            <a:ext cx="320040" cy="91"/>
          </a:xfrm>
          <a:prstGeom prst="line">
            <a:avLst/>
          </a:prstGeom>
          <a:noFill/>
          <a:ln w="9525">
            <a:solidFill>
              <a:srgbClr val="2A1F3D"/>
            </a:solidFill>
            <a:prstDash val="solid"/>
          </a:ln>
        </p:spPr>
      </p:sp>
      <p:sp>
        <p:nvSpPr>
          <p:cNvPr id="20" name="Text 18"/>
          <p:cNvSpPr/>
          <p:nvPr/>
        </p:nvSpPr>
        <p:spPr>
          <a:xfrm>
            <a:off x="1691640" y="2313432"/>
            <a:ext cx="457200"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22.5</a:t>
            </a:r>
            <a:endParaRPr lang="en-US" sz="1000" dirty="0"/>
          </a:p>
        </p:txBody>
      </p:sp>
      <p:sp>
        <p:nvSpPr>
          <p:cNvPr id="21" name="Shape 19"/>
          <p:cNvSpPr/>
          <p:nvPr/>
        </p:nvSpPr>
        <p:spPr>
          <a:xfrm>
            <a:off x="2194560" y="2628900"/>
            <a:ext cx="164592" cy="91"/>
          </a:xfrm>
          <a:prstGeom prst="line">
            <a:avLst/>
          </a:prstGeom>
          <a:noFill/>
          <a:ln w="6350">
            <a:solidFill>
              <a:srgbClr val="2A1F3D"/>
            </a:solidFill>
            <a:prstDash val="solid"/>
          </a:ln>
        </p:spPr>
      </p:sp>
      <p:sp>
        <p:nvSpPr>
          <p:cNvPr id="22" name="Shape 20"/>
          <p:cNvSpPr/>
          <p:nvPr/>
        </p:nvSpPr>
        <p:spPr>
          <a:xfrm>
            <a:off x="2194560" y="2852928"/>
            <a:ext cx="320040" cy="91"/>
          </a:xfrm>
          <a:prstGeom prst="line">
            <a:avLst/>
          </a:prstGeom>
          <a:noFill/>
          <a:ln w="9525">
            <a:solidFill>
              <a:srgbClr val="2A1F3D"/>
            </a:solidFill>
            <a:prstDash val="solid"/>
          </a:ln>
        </p:spPr>
      </p:sp>
      <p:sp>
        <p:nvSpPr>
          <p:cNvPr id="23" name="Text 21"/>
          <p:cNvSpPr/>
          <p:nvPr/>
        </p:nvSpPr>
        <p:spPr>
          <a:xfrm>
            <a:off x="1691640" y="2761488"/>
            <a:ext cx="457200"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22.6</a:t>
            </a:r>
            <a:endParaRPr lang="en-US" sz="1000" dirty="0"/>
          </a:p>
        </p:txBody>
      </p:sp>
      <p:sp>
        <p:nvSpPr>
          <p:cNvPr id="24" name="Shape 22"/>
          <p:cNvSpPr/>
          <p:nvPr/>
        </p:nvSpPr>
        <p:spPr>
          <a:xfrm>
            <a:off x="2194560" y="3076956"/>
            <a:ext cx="164592" cy="91"/>
          </a:xfrm>
          <a:prstGeom prst="line">
            <a:avLst/>
          </a:prstGeom>
          <a:noFill/>
          <a:ln w="6350">
            <a:solidFill>
              <a:srgbClr val="2A1F3D"/>
            </a:solidFill>
            <a:prstDash val="solid"/>
          </a:ln>
        </p:spPr>
      </p:sp>
      <p:sp>
        <p:nvSpPr>
          <p:cNvPr id="25" name="Shape 23"/>
          <p:cNvSpPr/>
          <p:nvPr/>
        </p:nvSpPr>
        <p:spPr>
          <a:xfrm>
            <a:off x="2194560" y="3300984"/>
            <a:ext cx="320040" cy="91"/>
          </a:xfrm>
          <a:prstGeom prst="line">
            <a:avLst/>
          </a:prstGeom>
          <a:noFill/>
          <a:ln w="9525">
            <a:solidFill>
              <a:srgbClr val="2A1F3D"/>
            </a:solidFill>
            <a:prstDash val="solid"/>
          </a:ln>
        </p:spPr>
      </p:sp>
      <p:sp>
        <p:nvSpPr>
          <p:cNvPr id="26" name="Text 24"/>
          <p:cNvSpPr/>
          <p:nvPr/>
        </p:nvSpPr>
        <p:spPr>
          <a:xfrm>
            <a:off x="1691640" y="3209544"/>
            <a:ext cx="457200"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22.7</a:t>
            </a:r>
            <a:endParaRPr lang="en-US" sz="1000" dirty="0"/>
          </a:p>
        </p:txBody>
      </p:sp>
      <p:sp>
        <p:nvSpPr>
          <p:cNvPr id="27" name="Shape 25"/>
          <p:cNvSpPr/>
          <p:nvPr/>
        </p:nvSpPr>
        <p:spPr>
          <a:xfrm>
            <a:off x="2194560" y="3525012"/>
            <a:ext cx="164592" cy="91"/>
          </a:xfrm>
          <a:prstGeom prst="line">
            <a:avLst/>
          </a:prstGeom>
          <a:noFill/>
          <a:ln w="6350">
            <a:solidFill>
              <a:srgbClr val="2A1F3D"/>
            </a:solidFill>
            <a:prstDash val="solid"/>
          </a:ln>
        </p:spPr>
      </p:sp>
      <p:sp>
        <p:nvSpPr>
          <p:cNvPr id="28" name="Shape 26"/>
          <p:cNvSpPr/>
          <p:nvPr/>
        </p:nvSpPr>
        <p:spPr>
          <a:xfrm>
            <a:off x="2194560" y="3749040"/>
            <a:ext cx="320040" cy="91"/>
          </a:xfrm>
          <a:prstGeom prst="line">
            <a:avLst/>
          </a:prstGeom>
          <a:noFill/>
          <a:ln w="9525">
            <a:solidFill>
              <a:srgbClr val="2A1F3D"/>
            </a:solidFill>
            <a:prstDash val="solid"/>
          </a:ln>
        </p:spPr>
      </p:sp>
      <p:sp>
        <p:nvSpPr>
          <p:cNvPr id="29" name="Text 27"/>
          <p:cNvSpPr/>
          <p:nvPr/>
        </p:nvSpPr>
        <p:spPr>
          <a:xfrm>
            <a:off x="1691640" y="3657600"/>
            <a:ext cx="457200"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22.8</a:t>
            </a:r>
            <a:endParaRPr lang="en-US" sz="1000" dirty="0"/>
          </a:p>
        </p:txBody>
      </p:sp>
      <p:sp>
        <p:nvSpPr>
          <p:cNvPr id="30" name="Shape 28"/>
          <p:cNvSpPr/>
          <p:nvPr/>
        </p:nvSpPr>
        <p:spPr>
          <a:xfrm>
            <a:off x="2194560" y="1371600"/>
            <a:ext cx="91" cy="2514600"/>
          </a:xfrm>
          <a:prstGeom prst="line">
            <a:avLst/>
          </a:prstGeom>
          <a:noFill/>
          <a:ln w="15875">
            <a:solidFill>
              <a:srgbClr val="2A1F3D"/>
            </a:solidFill>
            <a:prstDash val="solid"/>
          </a:ln>
        </p:spPr>
      </p:sp>
      <p:sp>
        <p:nvSpPr>
          <p:cNvPr id="31" name="Shape 29"/>
          <p:cNvSpPr/>
          <p:nvPr/>
        </p:nvSpPr>
        <p:spPr>
          <a:xfrm>
            <a:off x="2880360" y="1371600"/>
            <a:ext cx="91" cy="2514600"/>
          </a:xfrm>
          <a:prstGeom prst="line">
            <a:avLst/>
          </a:prstGeom>
          <a:noFill/>
          <a:ln w="15875">
            <a:solidFill>
              <a:srgbClr val="2A1F3D"/>
            </a:solidFill>
            <a:prstDash val="solid"/>
          </a:ln>
        </p:spPr>
      </p:sp>
      <p:sp>
        <p:nvSpPr>
          <p:cNvPr id="32" name="Shape 30"/>
          <p:cNvSpPr/>
          <p:nvPr/>
        </p:nvSpPr>
        <p:spPr>
          <a:xfrm>
            <a:off x="4059936" y="2546604"/>
            <a:ext cx="292608" cy="164592"/>
          </a:xfrm>
          <a:prstGeom prst="ellipse">
            <a:avLst/>
          </a:prstGeom>
          <a:solidFill>
            <a:srgbClr val="FFFFFF"/>
          </a:solidFill>
          <a:ln w="9525">
            <a:solidFill>
              <a:srgbClr val="2A1F3D"/>
            </a:solidFill>
            <a:prstDash val="solid"/>
          </a:ln>
        </p:spPr>
      </p:sp>
      <p:sp>
        <p:nvSpPr>
          <p:cNvPr id="33" name="Shape 31"/>
          <p:cNvSpPr/>
          <p:nvPr/>
        </p:nvSpPr>
        <p:spPr>
          <a:xfrm>
            <a:off x="4160520" y="2583180"/>
            <a:ext cx="91440" cy="91440"/>
          </a:xfrm>
          <a:prstGeom prst="ellipse">
            <a:avLst/>
          </a:prstGeom>
          <a:solidFill>
            <a:srgbClr val="2A1F3D"/>
          </a:solidFill>
          <a:ln w="9525">
            <a:solidFill>
              <a:srgbClr val="2A1F3D"/>
            </a:solidFill>
            <a:prstDash val="solid"/>
          </a:ln>
        </p:spPr>
      </p:sp>
      <p:sp>
        <p:nvSpPr>
          <p:cNvPr id="34" name="Shape 32"/>
          <p:cNvSpPr/>
          <p:nvPr/>
        </p:nvSpPr>
        <p:spPr>
          <a:xfrm>
            <a:off x="2926080" y="2628900"/>
            <a:ext cx="1115568" cy="91"/>
          </a:xfrm>
          <a:prstGeom prst="line">
            <a:avLst/>
          </a:prstGeom>
          <a:noFill/>
          <a:ln w="19050">
            <a:solidFill>
              <a:srgbClr val="2E8B57"/>
            </a:solidFill>
            <a:prstDash val="solid"/>
          </a:ln>
        </p:spPr>
      </p:sp>
      <p:sp>
        <p:nvSpPr>
          <p:cNvPr id="35" name="Text 33"/>
          <p:cNvSpPr/>
          <p:nvPr/>
        </p:nvSpPr>
        <p:spPr>
          <a:xfrm>
            <a:off x="3977640" y="2738628"/>
            <a:ext cx="1737360" cy="219456"/>
          </a:xfrm>
          <a:prstGeom prst="rect">
            <a:avLst/>
          </a:prstGeom>
          <a:noFill/>
          <a:ln/>
        </p:spPr>
        <p:txBody>
          <a:bodyPr wrap="square" lIns="0" tIns="0" rIns="0" bIns="0" rtlCol="0" anchor="ctr"/>
          <a:lstStyle/>
          <a:p>
            <a:pPr algn="l" indent="0" marL="0">
              <a:buNone/>
            </a:pPr>
            <a:r>
              <a:rPr lang="en-US" sz="1050" dirty="0">
                <a:solidFill>
                  <a:srgbClr val="2E8B57"/>
                </a:solidFill>
                <a:latin typeface="Calibri" pitchFamily="34" charset="0"/>
                <a:ea typeface="Calibri" pitchFamily="34" charset="-122"/>
                <a:cs typeface="Calibri" pitchFamily="34" charset="-120"/>
              </a:rPr>
              <a:t>eye level: </a:t>
            </a:r>
            <a:r>
              <a:rPr lang="en-US" sz="1050" b="1" dirty="0">
                <a:solidFill>
                  <a:srgbClr val="2E8B57"/>
                </a:solidFill>
                <a:latin typeface="Calibri" pitchFamily="34" charset="0"/>
                <a:ea typeface="Calibri" pitchFamily="34" charset="-122"/>
                <a:cs typeface="Calibri" pitchFamily="34" charset="-120"/>
              </a:rPr>
              <a:t>22.55 cm³</a:t>
            </a:r>
            <a:r>
              <a:rPr lang="en-US" sz="1050" dirty="0">
                <a:solidFill>
                  <a:srgbClr val="2E8B57"/>
                </a:solidFill>
                <a:latin typeface="Calibri" pitchFamily="34" charset="0"/>
                <a:ea typeface="Calibri" pitchFamily="34" charset="-122"/>
                <a:cs typeface="Calibri" pitchFamily="34" charset="-120"/>
              </a:rPr>
              <a:t> ✓</a:t>
            </a:r>
            <a:endParaRPr lang="en-US" sz="1050" dirty="0"/>
          </a:p>
        </p:txBody>
      </p:sp>
      <p:sp>
        <p:nvSpPr>
          <p:cNvPr id="36" name="Shape 34"/>
          <p:cNvSpPr/>
          <p:nvPr/>
        </p:nvSpPr>
        <p:spPr>
          <a:xfrm>
            <a:off x="4059936" y="1426464"/>
            <a:ext cx="292608" cy="164592"/>
          </a:xfrm>
          <a:prstGeom prst="ellipse">
            <a:avLst/>
          </a:prstGeom>
          <a:solidFill>
            <a:srgbClr val="FFFFFF"/>
          </a:solidFill>
          <a:ln w="9525">
            <a:solidFill>
              <a:srgbClr val="2A1F3D"/>
            </a:solidFill>
            <a:prstDash val="solid"/>
          </a:ln>
        </p:spPr>
      </p:sp>
      <p:sp>
        <p:nvSpPr>
          <p:cNvPr id="37" name="Shape 35"/>
          <p:cNvSpPr/>
          <p:nvPr/>
        </p:nvSpPr>
        <p:spPr>
          <a:xfrm>
            <a:off x="4160520" y="1463040"/>
            <a:ext cx="91440" cy="91440"/>
          </a:xfrm>
          <a:prstGeom prst="ellipse">
            <a:avLst/>
          </a:prstGeom>
          <a:solidFill>
            <a:srgbClr val="2A1F3D"/>
          </a:solidFill>
          <a:ln w="9525">
            <a:solidFill>
              <a:srgbClr val="2A1F3D"/>
            </a:solidFill>
            <a:prstDash val="solid"/>
          </a:ln>
        </p:spPr>
      </p:sp>
      <p:sp>
        <p:nvSpPr>
          <p:cNvPr id="38" name="Shape 36"/>
          <p:cNvSpPr/>
          <p:nvPr/>
        </p:nvSpPr>
        <p:spPr>
          <a:xfrm flipV="1">
            <a:off x="2926080" y="1554480"/>
            <a:ext cx="1115568" cy="1074420"/>
          </a:xfrm>
          <a:prstGeom prst="line">
            <a:avLst/>
          </a:prstGeom>
          <a:noFill/>
          <a:ln w="12700">
            <a:solidFill>
              <a:srgbClr val="C8414C"/>
            </a:solidFill>
            <a:prstDash val="dash"/>
          </a:ln>
        </p:spPr>
      </p:sp>
      <p:sp>
        <p:nvSpPr>
          <p:cNvPr id="39" name="Text 37"/>
          <p:cNvSpPr/>
          <p:nvPr/>
        </p:nvSpPr>
        <p:spPr>
          <a:xfrm>
            <a:off x="3977640" y="1627632"/>
            <a:ext cx="1828800" cy="201168"/>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too high: parallax error</a:t>
            </a:r>
            <a:endParaRPr lang="en-US" sz="1000" dirty="0"/>
          </a:p>
        </p:txBody>
      </p:sp>
      <p:sp>
        <p:nvSpPr>
          <p:cNvPr id="40" name="Text 38"/>
          <p:cNvSpPr/>
          <p:nvPr/>
        </p:nvSpPr>
        <p:spPr>
          <a:xfrm>
            <a:off x="502920" y="2171700"/>
            <a:ext cx="1143000" cy="365760"/>
          </a:xfrm>
          <a:prstGeom prst="rect">
            <a:avLst/>
          </a:prstGeom>
          <a:noFill/>
          <a:ln/>
        </p:spPr>
        <p:txBody>
          <a:bodyPr wrap="square" lIns="0" tIns="0" rIns="0" bIns="0" rtlCol="0" anchor="b"/>
          <a:lstStyle/>
          <a:p>
            <a:pPr algn="ctr" indent="0" marL="0">
              <a:buNone/>
            </a:pPr>
            <a:r>
              <a:rPr lang="en-US" sz="1000" b="1" dirty="0">
                <a:solidFill>
                  <a:srgbClr val="3A6EA5"/>
                </a:solidFill>
                <a:latin typeface="Calibri" pitchFamily="34" charset="0"/>
                <a:ea typeface="Calibri" pitchFamily="34" charset="-122"/>
                <a:cs typeface="Calibri" pitchFamily="34" charset="-120"/>
              </a:rPr>
              <a:t>bottom of the meniscus</a:t>
            </a:r>
            <a:endParaRPr lang="en-US" sz="1000" dirty="0"/>
          </a:p>
        </p:txBody>
      </p:sp>
      <p:sp>
        <p:nvSpPr>
          <p:cNvPr id="41" name="Shape 39"/>
          <p:cNvSpPr/>
          <p:nvPr/>
        </p:nvSpPr>
        <p:spPr>
          <a:xfrm>
            <a:off x="594360" y="2628900"/>
            <a:ext cx="1906524" cy="91"/>
          </a:xfrm>
          <a:prstGeom prst="line">
            <a:avLst/>
          </a:prstGeom>
          <a:noFill/>
          <a:ln w="15875">
            <a:solidFill>
              <a:srgbClr val="3A6EA5"/>
            </a:solidFill>
            <a:prstDash val="solid"/>
            <a:tailEnd type="triangle"/>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4114800"/>
          <a:ext cx="5120640" cy="914400"/>
        </p:xfrm>
        <a:graphic>
          <a:graphicData uri="http://schemas.openxmlformats.org/drawingml/2006/table">
            <a:tbl>
              <a:tblPr/>
              <a:tblGrid>
                <a:gridCol w="1600200"/>
                <a:gridCol w="1097280"/>
                <a:gridCol w="1051560"/>
                <a:gridCol w="1371600"/>
              </a:tblGrid>
              <a:tr h="256032">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Apparatus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Uncertainty</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Volume</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 uncertainty</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56032">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burette (2 readings)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±0.10 cm³</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22.50 cm³</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56032">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pipette (class B)</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±0.06 cm³</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25.0 cm³</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56032">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measuring cylinder</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±0.5 cm³</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25 cm³</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43" name="Shape 40"/>
          <p:cNvSpPr/>
          <p:nvPr/>
        </p:nvSpPr>
        <p:spPr>
          <a:xfrm>
            <a:off x="6217920" y="1188720"/>
            <a:ext cx="5562295" cy="3246120"/>
          </a:xfrm>
          <a:prstGeom prst="roundRect">
            <a:avLst>
              <a:gd name="adj" fmla="val 1690"/>
            </a:avLst>
          </a:prstGeom>
          <a:solidFill>
            <a:srgbClr val="F8F5FC"/>
          </a:solidFill>
          <a:ln w="9525">
            <a:solidFill>
              <a:srgbClr val="DDD3EC"/>
            </a:solidFill>
            <a:prstDash val="solid"/>
          </a:ln>
        </p:spPr>
      </p:sp>
      <p:sp>
        <p:nvSpPr>
          <p:cNvPr id="44" name="Text 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Getting good data</a:t>
            </a:r>
            <a:endParaRPr lang="en-US" sz="1300" dirty="0"/>
          </a:p>
        </p:txBody>
      </p:sp>
      <p:sp>
        <p:nvSpPr>
          <p:cNvPr id="45" name="Text 42"/>
          <p:cNvSpPr/>
          <p:nvPr/>
        </p:nvSpPr>
        <p:spPr>
          <a:xfrm>
            <a:off x="6382512" y="1609344"/>
            <a:ext cx="5233111" cy="275234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Precise</a:t>
            </a:r>
            <a:r>
              <a:rPr lang="en-US" sz="1100" dirty="0">
                <a:solidFill>
                  <a:srgbClr val="262B3A"/>
                </a:solidFill>
                <a:latin typeface="Calibri" pitchFamily="34" charset="0"/>
                <a:ea typeface="Calibri" pitchFamily="34" charset="-122"/>
                <a:cs typeface="Calibri" pitchFamily="34" charset="-120"/>
              </a:rPr>
              <a:t>: repeat results are </a:t>
            </a:r>
            <a:r>
              <a:rPr lang="en-US" sz="1100" b="1" dirty="0">
                <a:solidFill>
                  <a:srgbClr val="262B3A"/>
                </a:solidFill>
                <a:latin typeface="Calibri" pitchFamily="34" charset="0"/>
                <a:ea typeface="Calibri" pitchFamily="34" charset="-122"/>
                <a:cs typeface="Calibri" pitchFamily="34" charset="-120"/>
              </a:rPr>
              <a:t>close together</a:t>
            </a:r>
            <a:r>
              <a:rPr lang="en-US" sz="1100" dirty="0">
                <a:solidFill>
                  <a:srgbClr val="262B3A"/>
                </a:solidFill>
                <a:latin typeface="Calibri" pitchFamily="34" charset="0"/>
                <a:ea typeface="Calibri" pitchFamily="34" charset="-122"/>
                <a:cs typeface="Calibri" pitchFamily="34" charset="-120"/>
              </a:rPr>
              <a:t> (concordant). </a:t>
            </a:r>
            <a:r>
              <a:rPr lang="en-US" sz="1100" b="1" dirty="0">
                <a:solidFill>
                  <a:srgbClr val="262B3A"/>
                </a:solidFill>
                <a:latin typeface="Calibri" pitchFamily="34" charset="0"/>
                <a:ea typeface="Calibri" pitchFamily="34" charset="-122"/>
                <a:cs typeface="Calibri" pitchFamily="34" charset="-120"/>
              </a:rPr>
              <a:t>Accurate</a:t>
            </a:r>
            <a:r>
              <a:rPr lang="en-US" sz="1100" dirty="0">
                <a:solidFill>
                  <a:srgbClr val="262B3A"/>
                </a:solidFill>
                <a:latin typeface="Calibri" pitchFamily="34" charset="0"/>
                <a:ea typeface="Calibri" pitchFamily="34" charset="-122"/>
                <a:cs typeface="Calibri" pitchFamily="34" charset="-120"/>
              </a:rPr>
              <a:t>: close to the </a:t>
            </a:r>
            <a:r>
              <a:rPr lang="en-US" sz="1100" b="1" dirty="0">
                <a:solidFill>
                  <a:srgbClr val="262B3A"/>
                </a:solidFill>
                <a:latin typeface="Calibri" pitchFamily="34" charset="0"/>
                <a:ea typeface="Calibri" pitchFamily="34" charset="-122"/>
                <a:cs typeface="Calibri" pitchFamily="34" charset="-120"/>
              </a:rPr>
              <a:t>true value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Repeatable</a:t>
            </a:r>
            <a:r>
              <a:rPr lang="en-US" sz="1100" dirty="0">
                <a:solidFill>
                  <a:srgbClr val="262B3A"/>
                </a:solidFill>
                <a:latin typeface="Calibri" pitchFamily="34" charset="0"/>
                <a:ea typeface="Calibri" pitchFamily="34" charset="-122"/>
                <a:cs typeface="Calibri" pitchFamily="34" charset="-120"/>
              </a:rPr>
              <a:t>: the same person gets the same results again. </a:t>
            </a:r>
            <a:r>
              <a:rPr lang="en-US" sz="1100" b="1" dirty="0">
                <a:solidFill>
                  <a:srgbClr val="262B3A"/>
                </a:solidFill>
                <a:latin typeface="Calibri" pitchFamily="34" charset="0"/>
                <a:ea typeface="Calibri" pitchFamily="34" charset="-122"/>
                <a:cs typeface="Calibri" pitchFamily="34" charset="-120"/>
              </a:rPr>
              <a:t>Valid</a:t>
            </a:r>
            <a:r>
              <a:rPr lang="en-US" sz="1100" dirty="0">
                <a:solidFill>
                  <a:srgbClr val="262B3A"/>
                </a:solidFill>
                <a:latin typeface="Calibri" pitchFamily="34" charset="0"/>
                <a:ea typeface="Calibri" pitchFamily="34" charset="-122"/>
                <a:cs typeface="Calibri" pitchFamily="34" charset="-120"/>
              </a:rPr>
              <a:t>: it measures what it should.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Use a </a:t>
            </a:r>
            <a:r>
              <a:rPr lang="en-US" sz="1100" b="1" dirty="0">
                <a:solidFill>
                  <a:srgbClr val="262B3A"/>
                </a:solidFill>
                <a:latin typeface="Calibri" pitchFamily="34" charset="0"/>
                <a:ea typeface="Calibri" pitchFamily="34" charset="-122"/>
                <a:cs typeface="Calibri" pitchFamily="34" charset="-120"/>
              </a:rPr>
              <a:t>pipette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burette</a:t>
            </a:r>
            <a:r>
              <a:rPr lang="en-US" sz="1100" dirty="0">
                <a:solidFill>
                  <a:srgbClr val="262B3A"/>
                </a:solidFill>
                <a:latin typeface="Calibri" pitchFamily="34" charset="0"/>
                <a:ea typeface="Calibri" pitchFamily="34" charset="-122"/>
                <a:cs typeface="Calibri" pitchFamily="34" charset="-120"/>
              </a:rPr>
              <a:t>, not a measuring cylinder: lower </a:t>
            </a:r>
            <a:r>
              <a:rPr lang="en-US" sz="1100" b="1" dirty="0">
                <a:solidFill>
                  <a:srgbClr val="262B3A"/>
                </a:solidFill>
                <a:latin typeface="Calibri" pitchFamily="34" charset="0"/>
                <a:ea typeface="Calibri" pitchFamily="34" charset="-122"/>
                <a:cs typeface="Calibri" pitchFamily="34" charset="-120"/>
              </a:rPr>
              <a:t>% uncertainty</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Read the </a:t>
            </a:r>
            <a:r>
              <a:rPr lang="en-US" sz="1100" b="1" dirty="0">
                <a:solidFill>
                  <a:srgbClr val="262B3A"/>
                </a:solidFill>
                <a:latin typeface="Calibri" pitchFamily="34" charset="0"/>
                <a:ea typeface="Calibri" pitchFamily="34" charset="-122"/>
                <a:cs typeface="Calibri" pitchFamily="34" charset="-120"/>
              </a:rPr>
              <a:t>bottom of the meniscus</a:t>
            </a:r>
            <a:r>
              <a:rPr lang="en-US" sz="1100" dirty="0">
                <a:solidFill>
                  <a:srgbClr val="262B3A"/>
                </a:solidFill>
                <a:latin typeface="Calibri" pitchFamily="34" charset="0"/>
                <a:ea typeface="Calibri" pitchFamily="34" charset="-122"/>
                <a:cs typeface="Calibri" pitchFamily="34" charset="-120"/>
              </a:rPr>
              <a:t> at </a:t>
            </a:r>
            <a:r>
              <a:rPr lang="en-US" sz="1100" b="1" dirty="0">
                <a:solidFill>
                  <a:srgbClr val="262B3A"/>
                </a:solidFill>
                <a:latin typeface="Calibri" pitchFamily="34" charset="0"/>
                <a:ea typeface="Calibri" pitchFamily="34" charset="-122"/>
                <a:cs typeface="Calibri" pitchFamily="34" charset="-120"/>
              </a:rPr>
              <a:t>eye level</a:t>
            </a:r>
            <a:r>
              <a:rPr lang="en-US" sz="1100" dirty="0">
                <a:solidFill>
                  <a:srgbClr val="262B3A"/>
                </a:solidFill>
                <a:latin typeface="Calibri" pitchFamily="34" charset="0"/>
                <a:ea typeface="Calibri" pitchFamily="34" charset="-122"/>
                <a:cs typeface="Calibri" pitchFamily="34" charset="-120"/>
              </a:rPr>
              <a:t>; swirl; add </a:t>
            </a:r>
            <a:r>
              <a:rPr lang="en-US" sz="1100" b="1" dirty="0">
                <a:solidFill>
                  <a:srgbClr val="262B3A"/>
                </a:solidFill>
                <a:latin typeface="Calibri" pitchFamily="34" charset="0"/>
                <a:ea typeface="Calibri" pitchFamily="34" charset="-122"/>
                <a:cs typeface="Calibri" pitchFamily="34" charset="-120"/>
              </a:rPr>
              <a:t>dropwise</a:t>
            </a:r>
            <a:r>
              <a:rPr lang="en-US" sz="1100" dirty="0">
                <a:solidFill>
                  <a:srgbClr val="262B3A"/>
                </a:solidFill>
                <a:latin typeface="Calibri" pitchFamily="34" charset="0"/>
                <a:ea typeface="Calibri" pitchFamily="34" charset="-122"/>
                <a:cs typeface="Calibri" pitchFamily="34" charset="-120"/>
              </a:rPr>
              <a:t>; use a </a:t>
            </a:r>
            <a:r>
              <a:rPr lang="en-US" sz="1100" b="1" dirty="0">
                <a:solidFill>
                  <a:srgbClr val="262B3A"/>
                </a:solidFill>
                <a:latin typeface="Calibri" pitchFamily="34" charset="0"/>
                <a:ea typeface="Calibri" pitchFamily="34" charset="-122"/>
                <a:cs typeface="Calibri" pitchFamily="34" charset="-120"/>
              </a:rPr>
              <a:t>white tile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Rinse apparatus with the solution it will hold; fill the burette </a:t>
            </a:r>
            <a:r>
              <a:rPr lang="en-US" sz="1100" b="1" dirty="0">
                <a:solidFill>
                  <a:srgbClr val="262B3A"/>
                </a:solidFill>
                <a:latin typeface="Calibri" pitchFamily="34" charset="0"/>
                <a:ea typeface="Calibri" pitchFamily="34" charset="-122"/>
                <a:cs typeface="Calibri" pitchFamily="34" charset="-120"/>
              </a:rPr>
              <a:t>jet</a:t>
            </a:r>
            <a:r>
              <a:rPr lang="en-US" sz="1100" dirty="0">
                <a:solidFill>
                  <a:srgbClr val="262B3A"/>
                </a:solidFill>
                <a:latin typeface="Calibri" pitchFamily="34" charset="0"/>
                <a:ea typeface="Calibri" pitchFamily="34" charset="-122"/>
                <a:cs typeface="Calibri" pitchFamily="34" charset="-120"/>
              </a:rPr>
              <a:t>; remove the </a:t>
            </a:r>
            <a:r>
              <a:rPr lang="en-US" sz="1100" b="1" dirty="0">
                <a:solidFill>
                  <a:srgbClr val="262B3A"/>
                </a:solidFill>
                <a:latin typeface="Calibri" pitchFamily="34" charset="0"/>
                <a:ea typeface="Calibri" pitchFamily="34" charset="-122"/>
                <a:cs typeface="Calibri" pitchFamily="34" charset="-120"/>
              </a:rPr>
              <a:t>funnel</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46" name="Shape 43"/>
          <p:cNvSpPr/>
          <p:nvPr/>
        </p:nvSpPr>
        <p:spPr>
          <a:xfrm>
            <a:off x="6217920" y="4572000"/>
            <a:ext cx="5562295" cy="1143000"/>
          </a:xfrm>
          <a:prstGeom prst="roundRect">
            <a:avLst>
              <a:gd name="adj" fmla="val 4800"/>
            </a:avLst>
          </a:prstGeom>
          <a:solidFill>
            <a:srgbClr val="FFF4E0"/>
          </a:solidFill>
          <a:ln w="9525">
            <a:solidFill>
              <a:srgbClr val="F1D9A8"/>
            </a:solidFill>
            <a:prstDash val="solid"/>
          </a:ln>
        </p:spPr>
      </p:sp>
      <p:sp>
        <p:nvSpPr>
          <p:cNvPr id="47" name="Text 44"/>
          <p:cNvSpPr/>
          <p:nvPr/>
        </p:nvSpPr>
        <p:spPr>
          <a:xfrm>
            <a:off x="6382512" y="4645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 uncertainty</a:t>
            </a:r>
            <a:endParaRPr lang="en-US" sz="1300" dirty="0"/>
          </a:p>
        </p:txBody>
      </p:sp>
      <p:sp>
        <p:nvSpPr>
          <p:cNvPr id="48" name="Text 45"/>
          <p:cNvSpPr/>
          <p:nvPr/>
        </p:nvSpPr>
        <p:spPr>
          <a:xfrm>
            <a:off x="6382512" y="4956048"/>
            <a:ext cx="5233111" cy="6858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Each burette reading is ±0.05 cm³, so a titre is ±0.10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Titre   </a:t>
            </a:r>
            <a:r>
              <a:rPr lang="en-US" sz="1050" dirty="0">
                <a:solidFill>
                  <a:srgbClr val="262B3A"/>
                </a:solidFill>
                <a:latin typeface="Calibri" pitchFamily="34" charset="0"/>
                <a:ea typeface="Calibri" pitchFamily="34" charset="-122"/>
                <a:cs typeface="Calibri" pitchFamily="34" charset="-120"/>
              </a:rPr>
              <a:t>0.10 ÷ 22.50 × 100 = 0.444…</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0.44%</a:t>
            </a:r>
            <a:r>
              <a:rPr lang="en-US" sz="1050" b="1" dirty="0">
                <a:solidFill>
                  <a:srgbClr val="C8414C"/>
                </a:solidFill>
                <a:latin typeface="Calibri" pitchFamily="34" charset="0"/>
                <a:ea typeface="Calibri" pitchFamily="34" charset="-122"/>
                <a:cs typeface="Calibri" pitchFamily="34" charset="-120"/>
              </a:rPr>
              <a:t> (2 s.f.)</a:t>
            </a:r>
            <a:endParaRPr lang="en-US" sz="1050" dirty="0"/>
          </a:p>
        </p:txBody>
      </p:sp>
      <p:sp>
        <p:nvSpPr>
          <p:cNvPr id="49"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50"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1"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 uncertainty in a titre of </a:t>
            </a:r>
            <a:r>
              <a:rPr lang="en-US" sz="1150" b="1" dirty="0">
                <a:solidFill>
                  <a:srgbClr val="262B3A"/>
                </a:solidFill>
                <a:latin typeface="Calibri" pitchFamily="34" charset="0"/>
                <a:ea typeface="Calibri" pitchFamily="34" charset="-122"/>
                <a:cs typeface="Calibri" pitchFamily="34" charset="-120"/>
              </a:rPr>
              <a:t>12.50 cm³</a:t>
            </a:r>
            <a:r>
              <a:rPr lang="en-US" sz="1150" dirty="0">
                <a:solidFill>
                  <a:srgbClr val="262B3A"/>
                </a:solidFill>
                <a:latin typeface="Calibri" pitchFamily="34" charset="0"/>
                <a:ea typeface="Calibri" pitchFamily="34" charset="-122"/>
                <a:cs typeface="Calibri" pitchFamily="34" charset="-120"/>
              </a:rPr>
              <a:t> (±0.10 cm³). Why is a </a:t>
            </a:r>
            <a:r>
              <a:rPr lang="en-US" sz="1150" b="1" dirty="0">
                <a:solidFill>
                  <a:srgbClr val="262B3A"/>
                </a:solidFill>
                <a:latin typeface="Calibri" pitchFamily="34" charset="0"/>
                <a:ea typeface="Calibri" pitchFamily="34" charset="-122"/>
                <a:cs typeface="Calibri" pitchFamily="34" charset="-120"/>
              </a:rPr>
              <a:t>larger</a:t>
            </a:r>
            <a:r>
              <a:rPr lang="en-US" sz="1150" dirty="0">
                <a:solidFill>
                  <a:srgbClr val="262B3A"/>
                </a:solidFill>
                <a:latin typeface="Calibri" pitchFamily="34" charset="0"/>
                <a:ea typeface="Calibri" pitchFamily="34" charset="-122"/>
                <a:cs typeface="Calibri" pitchFamily="34" charset="-120"/>
              </a:rPr>
              <a:t> titre better?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Evaluating titration data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C5.3.7 • the quality of data from titrations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C5.3.7  |  19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cross is one titre, plotted to scale; true value 22.50 cm³</a:t>
            </a:r>
            <a:endParaRPr lang="en-US" sz="1000" dirty="0"/>
          </a:p>
        </p:txBody>
      </p:sp>
      <p:sp>
        <p:nvSpPr>
          <p:cNvPr id="10" name="Shape 8"/>
          <p:cNvSpPr/>
          <p:nvPr/>
        </p:nvSpPr>
        <p:spPr>
          <a:xfrm>
            <a:off x="1188720" y="4343400"/>
            <a:ext cx="4389120" cy="91"/>
          </a:xfrm>
          <a:prstGeom prst="line">
            <a:avLst/>
          </a:prstGeom>
          <a:noFill/>
          <a:ln w="19050">
            <a:solidFill>
              <a:srgbClr val="2A1F3D"/>
            </a:solidFill>
            <a:prstDash val="solid"/>
          </a:ln>
        </p:spPr>
      </p:sp>
      <p:sp>
        <p:nvSpPr>
          <p:cNvPr id="11" name="Shape 9"/>
          <p:cNvSpPr/>
          <p:nvPr/>
        </p:nvSpPr>
        <p:spPr>
          <a:xfrm>
            <a:off x="1188720" y="4343400"/>
            <a:ext cx="91" cy="64008"/>
          </a:xfrm>
          <a:prstGeom prst="line">
            <a:avLst/>
          </a:prstGeom>
          <a:noFill/>
          <a:ln w="12700">
            <a:solidFill>
              <a:srgbClr val="2A1F3D"/>
            </a:solidFill>
            <a:prstDash val="solid"/>
          </a:ln>
        </p:spPr>
      </p:sp>
      <p:sp>
        <p:nvSpPr>
          <p:cNvPr id="12" name="Text 10"/>
          <p:cNvSpPr/>
          <p:nvPr/>
        </p:nvSpPr>
        <p:spPr>
          <a:xfrm>
            <a:off x="914400"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21.6</a:t>
            </a:r>
            <a:endParaRPr lang="en-US" sz="1000" dirty="0"/>
          </a:p>
        </p:txBody>
      </p:sp>
      <p:sp>
        <p:nvSpPr>
          <p:cNvPr id="13" name="Shape 11"/>
          <p:cNvSpPr/>
          <p:nvPr/>
        </p:nvSpPr>
        <p:spPr>
          <a:xfrm>
            <a:off x="1627632" y="4343400"/>
            <a:ext cx="91" cy="64008"/>
          </a:xfrm>
          <a:prstGeom prst="line">
            <a:avLst/>
          </a:prstGeom>
          <a:noFill/>
          <a:ln w="12700">
            <a:solidFill>
              <a:srgbClr val="2A1F3D"/>
            </a:solidFill>
            <a:prstDash val="solid"/>
          </a:ln>
        </p:spPr>
      </p:sp>
      <p:sp>
        <p:nvSpPr>
          <p:cNvPr id="14" name="Text 12"/>
          <p:cNvSpPr/>
          <p:nvPr/>
        </p:nvSpPr>
        <p:spPr>
          <a:xfrm>
            <a:off x="1353312"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21.8</a:t>
            </a:r>
            <a:endParaRPr lang="en-US" sz="1000" dirty="0"/>
          </a:p>
        </p:txBody>
      </p:sp>
      <p:sp>
        <p:nvSpPr>
          <p:cNvPr id="15" name="Shape 13"/>
          <p:cNvSpPr/>
          <p:nvPr/>
        </p:nvSpPr>
        <p:spPr>
          <a:xfrm>
            <a:off x="2066544" y="4343400"/>
            <a:ext cx="91" cy="64008"/>
          </a:xfrm>
          <a:prstGeom prst="line">
            <a:avLst/>
          </a:prstGeom>
          <a:noFill/>
          <a:ln w="12700">
            <a:solidFill>
              <a:srgbClr val="2A1F3D"/>
            </a:solidFill>
            <a:prstDash val="solid"/>
          </a:ln>
        </p:spPr>
      </p:sp>
      <p:sp>
        <p:nvSpPr>
          <p:cNvPr id="16" name="Text 14"/>
          <p:cNvSpPr/>
          <p:nvPr/>
        </p:nvSpPr>
        <p:spPr>
          <a:xfrm>
            <a:off x="1792224"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22.0</a:t>
            </a:r>
            <a:endParaRPr lang="en-US" sz="1000" dirty="0"/>
          </a:p>
        </p:txBody>
      </p:sp>
      <p:sp>
        <p:nvSpPr>
          <p:cNvPr id="17" name="Shape 15"/>
          <p:cNvSpPr/>
          <p:nvPr/>
        </p:nvSpPr>
        <p:spPr>
          <a:xfrm>
            <a:off x="2505456" y="4343400"/>
            <a:ext cx="91" cy="64008"/>
          </a:xfrm>
          <a:prstGeom prst="line">
            <a:avLst/>
          </a:prstGeom>
          <a:noFill/>
          <a:ln w="12700">
            <a:solidFill>
              <a:srgbClr val="2A1F3D"/>
            </a:solidFill>
            <a:prstDash val="solid"/>
          </a:ln>
        </p:spPr>
      </p:sp>
      <p:sp>
        <p:nvSpPr>
          <p:cNvPr id="18" name="Text 16"/>
          <p:cNvSpPr/>
          <p:nvPr/>
        </p:nvSpPr>
        <p:spPr>
          <a:xfrm>
            <a:off x="2231136"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22.2</a:t>
            </a:r>
            <a:endParaRPr lang="en-US" sz="1000" dirty="0"/>
          </a:p>
        </p:txBody>
      </p:sp>
      <p:sp>
        <p:nvSpPr>
          <p:cNvPr id="19" name="Shape 17"/>
          <p:cNvSpPr/>
          <p:nvPr/>
        </p:nvSpPr>
        <p:spPr>
          <a:xfrm>
            <a:off x="2944368" y="4343400"/>
            <a:ext cx="91" cy="64008"/>
          </a:xfrm>
          <a:prstGeom prst="line">
            <a:avLst/>
          </a:prstGeom>
          <a:noFill/>
          <a:ln w="12700">
            <a:solidFill>
              <a:srgbClr val="2A1F3D"/>
            </a:solidFill>
            <a:prstDash val="solid"/>
          </a:ln>
        </p:spPr>
      </p:sp>
      <p:sp>
        <p:nvSpPr>
          <p:cNvPr id="20" name="Text 18"/>
          <p:cNvSpPr/>
          <p:nvPr/>
        </p:nvSpPr>
        <p:spPr>
          <a:xfrm>
            <a:off x="2670048"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22.4</a:t>
            </a:r>
            <a:endParaRPr lang="en-US" sz="1000" dirty="0"/>
          </a:p>
        </p:txBody>
      </p:sp>
      <p:sp>
        <p:nvSpPr>
          <p:cNvPr id="21" name="Shape 19"/>
          <p:cNvSpPr/>
          <p:nvPr/>
        </p:nvSpPr>
        <p:spPr>
          <a:xfrm>
            <a:off x="3383280" y="4343400"/>
            <a:ext cx="91" cy="64008"/>
          </a:xfrm>
          <a:prstGeom prst="line">
            <a:avLst/>
          </a:prstGeom>
          <a:noFill/>
          <a:ln w="12700">
            <a:solidFill>
              <a:srgbClr val="2A1F3D"/>
            </a:solidFill>
            <a:prstDash val="solid"/>
          </a:ln>
        </p:spPr>
      </p:sp>
      <p:sp>
        <p:nvSpPr>
          <p:cNvPr id="22" name="Text 20"/>
          <p:cNvSpPr/>
          <p:nvPr/>
        </p:nvSpPr>
        <p:spPr>
          <a:xfrm>
            <a:off x="3108960"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22.6</a:t>
            </a:r>
            <a:endParaRPr lang="en-US" sz="1000" dirty="0"/>
          </a:p>
        </p:txBody>
      </p:sp>
      <p:sp>
        <p:nvSpPr>
          <p:cNvPr id="23" name="Shape 21"/>
          <p:cNvSpPr/>
          <p:nvPr/>
        </p:nvSpPr>
        <p:spPr>
          <a:xfrm>
            <a:off x="3822192" y="4343400"/>
            <a:ext cx="91" cy="64008"/>
          </a:xfrm>
          <a:prstGeom prst="line">
            <a:avLst/>
          </a:prstGeom>
          <a:noFill/>
          <a:ln w="12700">
            <a:solidFill>
              <a:srgbClr val="2A1F3D"/>
            </a:solidFill>
            <a:prstDash val="solid"/>
          </a:ln>
        </p:spPr>
      </p:sp>
      <p:sp>
        <p:nvSpPr>
          <p:cNvPr id="24" name="Text 22"/>
          <p:cNvSpPr/>
          <p:nvPr/>
        </p:nvSpPr>
        <p:spPr>
          <a:xfrm>
            <a:off x="3547872"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22.8</a:t>
            </a:r>
            <a:endParaRPr lang="en-US" sz="1000" dirty="0"/>
          </a:p>
        </p:txBody>
      </p:sp>
      <p:sp>
        <p:nvSpPr>
          <p:cNvPr id="25" name="Shape 23"/>
          <p:cNvSpPr/>
          <p:nvPr/>
        </p:nvSpPr>
        <p:spPr>
          <a:xfrm>
            <a:off x="4261104" y="4343400"/>
            <a:ext cx="91" cy="64008"/>
          </a:xfrm>
          <a:prstGeom prst="line">
            <a:avLst/>
          </a:prstGeom>
          <a:noFill/>
          <a:ln w="12700">
            <a:solidFill>
              <a:srgbClr val="2A1F3D"/>
            </a:solidFill>
            <a:prstDash val="solid"/>
          </a:ln>
        </p:spPr>
      </p:sp>
      <p:sp>
        <p:nvSpPr>
          <p:cNvPr id="26" name="Text 24"/>
          <p:cNvSpPr/>
          <p:nvPr/>
        </p:nvSpPr>
        <p:spPr>
          <a:xfrm>
            <a:off x="3986784"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23.0</a:t>
            </a:r>
            <a:endParaRPr lang="en-US" sz="1000" dirty="0"/>
          </a:p>
        </p:txBody>
      </p:sp>
      <p:sp>
        <p:nvSpPr>
          <p:cNvPr id="27" name="Shape 25"/>
          <p:cNvSpPr/>
          <p:nvPr/>
        </p:nvSpPr>
        <p:spPr>
          <a:xfrm>
            <a:off x="4700016" y="4343400"/>
            <a:ext cx="91" cy="64008"/>
          </a:xfrm>
          <a:prstGeom prst="line">
            <a:avLst/>
          </a:prstGeom>
          <a:noFill/>
          <a:ln w="12700">
            <a:solidFill>
              <a:srgbClr val="2A1F3D"/>
            </a:solidFill>
            <a:prstDash val="solid"/>
          </a:ln>
        </p:spPr>
      </p:sp>
      <p:sp>
        <p:nvSpPr>
          <p:cNvPr id="28" name="Text 26"/>
          <p:cNvSpPr/>
          <p:nvPr/>
        </p:nvSpPr>
        <p:spPr>
          <a:xfrm>
            <a:off x="4425696"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23.2</a:t>
            </a:r>
            <a:endParaRPr lang="en-US" sz="1000" dirty="0"/>
          </a:p>
        </p:txBody>
      </p:sp>
      <p:sp>
        <p:nvSpPr>
          <p:cNvPr id="29" name="Shape 27"/>
          <p:cNvSpPr/>
          <p:nvPr/>
        </p:nvSpPr>
        <p:spPr>
          <a:xfrm>
            <a:off x="5138928" y="4343400"/>
            <a:ext cx="91" cy="64008"/>
          </a:xfrm>
          <a:prstGeom prst="line">
            <a:avLst/>
          </a:prstGeom>
          <a:noFill/>
          <a:ln w="12700">
            <a:solidFill>
              <a:srgbClr val="2A1F3D"/>
            </a:solidFill>
            <a:prstDash val="solid"/>
          </a:ln>
        </p:spPr>
      </p:sp>
      <p:sp>
        <p:nvSpPr>
          <p:cNvPr id="30" name="Text 28"/>
          <p:cNvSpPr/>
          <p:nvPr/>
        </p:nvSpPr>
        <p:spPr>
          <a:xfrm>
            <a:off x="4864608"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23.4</a:t>
            </a:r>
            <a:endParaRPr lang="en-US" sz="1000" dirty="0"/>
          </a:p>
        </p:txBody>
      </p:sp>
      <p:sp>
        <p:nvSpPr>
          <p:cNvPr id="31" name="Shape 29"/>
          <p:cNvSpPr/>
          <p:nvPr/>
        </p:nvSpPr>
        <p:spPr>
          <a:xfrm>
            <a:off x="5577840" y="4343400"/>
            <a:ext cx="91" cy="64008"/>
          </a:xfrm>
          <a:prstGeom prst="line">
            <a:avLst/>
          </a:prstGeom>
          <a:noFill/>
          <a:ln w="12700">
            <a:solidFill>
              <a:srgbClr val="2A1F3D"/>
            </a:solidFill>
            <a:prstDash val="solid"/>
          </a:ln>
        </p:spPr>
      </p:sp>
      <p:sp>
        <p:nvSpPr>
          <p:cNvPr id="32" name="Text 30"/>
          <p:cNvSpPr/>
          <p:nvPr/>
        </p:nvSpPr>
        <p:spPr>
          <a:xfrm>
            <a:off x="5303520" y="44165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23.6</a:t>
            </a:r>
            <a:endParaRPr lang="en-US" sz="1000" dirty="0"/>
          </a:p>
        </p:txBody>
      </p:sp>
      <p:sp>
        <p:nvSpPr>
          <p:cNvPr id="33" name="Text 31"/>
          <p:cNvSpPr/>
          <p:nvPr/>
        </p:nvSpPr>
        <p:spPr>
          <a:xfrm>
            <a:off x="1188720" y="4636008"/>
            <a:ext cx="438912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Titre / cm³</a:t>
            </a:r>
            <a:endParaRPr lang="en-US" sz="1050" dirty="0"/>
          </a:p>
        </p:txBody>
      </p:sp>
      <p:sp>
        <p:nvSpPr>
          <p:cNvPr id="34" name="Shape 32"/>
          <p:cNvSpPr/>
          <p:nvPr/>
        </p:nvSpPr>
        <p:spPr>
          <a:xfrm>
            <a:off x="3163824" y="1417320"/>
            <a:ext cx="91" cy="2926080"/>
          </a:xfrm>
          <a:prstGeom prst="line">
            <a:avLst/>
          </a:prstGeom>
          <a:noFill/>
          <a:ln w="19050">
            <a:solidFill>
              <a:srgbClr val="2E8B57"/>
            </a:solidFill>
            <a:prstDash val="dash"/>
          </a:ln>
        </p:spPr>
      </p:sp>
      <p:sp>
        <p:nvSpPr>
          <p:cNvPr id="35" name="Text 33"/>
          <p:cNvSpPr/>
          <p:nvPr/>
        </p:nvSpPr>
        <p:spPr>
          <a:xfrm>
            <a:off x="2432304" y="1298448"/>
            <a:ext cx="146304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true value</a:t>
            </a:r>
            <a:endParaRPr lang="en-US" sz="1000" dirty="0"/>
          </a:p>
        </p:txBody>
      </p:sp>
      <p:sp>
        <p:nvSpPr>
          <p:cNvPr id="36" name="Text 34"/>
          <p:cNvSpPr/>
          <p:nvPr/>
        </p:nvSpPr>
        <p:spPr>
          <a:xfrm>
            <a:off x="502920" y="1746504"/>
            <a:ext cx="640080" cy="256032"/>
          </a:xfrm>
          <a:prstGeom prst="rect">
            <a:avLst/>
          </a:prstGeom>
          <a:noFill/>
          <a:ln/>
        </p:spPr>
        <p:txBody>
          <a:bodyPr wrap="square" lIns="0" tIns="0" rIns="0" bIns="0" rtlCol="0" anchor="ctr"/>
          <a:lstStyle/>
          <a:p>
            <a:pPr algn="ctr" indent="0" marL="0">
              <a:buNone/>
            </a:pPr>
            <a:r>
              <a:rPr lang="en-US" sz="1300" b="1" dirty="0">
                <a:solidFill>
                  <a:srgbClr val="6A3FA0"/>
                </a:solidFill>
                <a:latin typeface="Calibri" pitchFamily="34" charset="0"/>
                <a:ea typeface="Calibri" pitchFamily="34" charset="-122"/>
                <a:cs typeface="Calibri" pitchFamily="34" charset="-120"/>
              </a:rPr>
              <a:t>A</a:t>
            </a:r>
            <a:endParaRPr lang="en-US" sz="1300" dirty="0"/>
          </a:p>
        </p:txBody>
      </p:sp>
      <p:sp>
        <p:nvSpPr>
          <p:cNvPr id="37" name="Shape 35"/>
          <p:cNvSpPr/>
          <p:nvPr/>
        </p:nvSpPr>
        <p:spPr>
          <a:xfrm>
            <a:off x="1188720" y="1874520"/>
            <a:ext cx="4389120" cy="91"/>
          </a:xfrm>
          <a:prstGeom prst="line">
            <a:avLst/>
          </a:prstGeom>
          <a:noFill/>
          <a:ln w="9525">
            <a:solidFill>
              <a:srgbClr val="E3DCEF"/>
            </a:solidFill>
            <a:prstDash val="solid"/>
          </a:ln>
        </p:spPr>
      </p:sp>
      <p:sp>
        <p:nvSpPr>
          <p:cNvPr id="38" name="Shape 36"/>
          <p:cNvSpPr/>
          <p:nvPr/>
        </p:nvSpPr>
        <p:spPr>
          <a:xfrm>
            <a:off x="2990088" y="1810512"/>
            <a:ext cx="128016" cy="128016"/>
          </a:xfrm>
          <a:prstGeom prst="line">
            <a:avLst/>
          </a:prstGeom>
          <a:noFill/>
          <a:ln w="25400">
            <a:solidFill>
              <a:srgbClr val="6A3FA0"/>
            </a:solidFill>
            <a:prstDash val="solid"/>
          </a:ln>
        </p:spPr>
      </p:sp>
      <p:sp>
        <p:nvSpPr>
          <p:cNvPr id="39" name="Shape 37"/>
          <p:cNvSpPr/>
          <p:nvPr/>
        </p:nvSpPr>
        <p:spPr>
          <a:xfrm flipV="1">
            <a:off x="2990088" y="1810512"/>
            <a:ext cx="128016" cy="128016"/>
          </a:xfrm>
          <a:prstGeom prst="line">
            <a:avLst/>
          </a:prstGeom>
          <a:noFill/>
          <a:ln w="25400">
            <a:solidFill>
              <a:srgbClr val="6A3FA0"/>
            </a:solidFill>
            <a:prstDash val="solid"/>
          </a:ln>
        </p:spPr>
      </p:sp>
      <p:sp>
        <p:nvSpPr>
          <p:cNvPr id="40" name="Shape 38"/>
          <p:cNvSpPr/>
          <p:nvPr/>
        </p:nvSpPr>
        <p:spPr>
          <a:xfrm>
            <a:off x="3099816" y="1810512"/>
            <a:ext cx="128016" cy="128016"/>
          </a:xfrm>
          <a:prstGeom prst="line">
            <a:avLst/>
          </a:prstGeom>
          <a:noFill/>
          <a:ln w="25400">
            <a:solidFill>
              <a:srgbClr val="6A3FA0"/>
            </a:solidFill>
            <a:prstDash val="solid"/>
          </a:ln>
        </p:spPr>
      </p:sp>
      <p:sp>
        <p:nvSpPr>
          <p:cNvPr id="41" name="Shape 39"/>
          <p:cNvSpPr/>
          <p:nvPr/>
        </p:nvSpPr>
        <p:spPr>
          <a:xfrm flipV="1">
            <a:off x="3099816" y="1810512"/>
            <a:ext cx="128016" cy="128016"/>
          </a:xfrm>
          <a:prstGeom prst="line">
            <a:avLst/>
          </a:prstGeom>
          <a:noFill/>
          <a:ln w="25400">
            <a:solidFill>
              <a:srgbClr val="6A3FA0"/>
            </a:solidFill>
            <a:prstDash val="solid"/>
          </a:ln>
        </p:spPr>
      </p:sp>
      <p:sp>
        <p:nvSpPr>
          <p:cNvPr id="42" name="Shape 40"/>
          <p:cNvSpPr/>
          <p:nvPr/>
        </p:nvSpPr>
        <p:spPr>
          <a:xfrm>
            <a:off x="3209544" y="1810512"/>
            <a:ext cx="128016" cy="128016"/>
          </a:xfrm>
          <a:prstGeom prst="line">
            <a:avLst/>
          </a:prstGeom>
          <a:noFill/>
          <a:ln w="25400">
            <a:solidFill>
              <a:srgbClr val="6A3FA0"/>
            </a:solidFill>
            <a:prstDash val="solid"/>
          </a:ln>
        </p:spPr>
      </p:sp>
      <p:sp>
        <p:nvSpPr>
          <p:cNvPr id="43" name="Shape 41"/>
          <p:cNvSpPr/>
          <p:nvPr/>
        </p:nvSpPr>
        <p:spPr>
          <a:xfrm flipV="1">
            <a:off x="3209544" y="1810512"/>
            <a:ext cx="128016" cy="128016"/>
          </a:xfrm>
          <a:prstGeom prst="line">
            <a:avLst/>
          </a:prstGeom>
          <a:noFill/>
          <a:ln w="25400">
            <a:solidFill>
              <a:srgbClr val="6A3FA0"/>
            </a:solidFill>
            <a:prstDash val="solid"/>
          </a:ln>
        </p:spPr>
      </p:sp>
      <p:sp>
        <p:nvSpPr>
          <p:cNvPr id="44" name="Shape 42"/>
          <p:cNvSpPr/>
          <p:nvPr/>
        </p:nvSpPr>
        <p:spPr>
          <a:xfrm>
            <a:off x="3163824" y="1691640"/>
            <a:ext cx="91" cy="365760"/>
          </a:xfrm>
          <a:prstGeom prst="line">
            <a:avLst/>
          </a:prstGeom>
          <a:noFill/>
          <a:ln w="15875">
            <a:solidFill>
              <a:srgbClr val="6A3FA0"/>
            </a:solidFill>
            <a:prstDash val="solid"/>
          </a:ln>
        </p:spPr>
      </p:sp>
      <p:sp>
        <p:nvSpPr>
          <p:cNvPr id="45" name="Text 43"/>
          <p:cNvSpPr/>
          <p:nvPr/>
        </p:nvSpPr>
        <p:spPr>
          <a:xfrm>
            <a:off x="1188720" y="2002536"/>
            <a:ext cx="4389120" cy="201168"/>
          </a:xfrm>
          <a:prstGeom prst="rect">
            <a:avLst/>
          </a:prstGeom>
          <a:noFill/>
          <a:ln/>
        </p:spPr>
        <p:txBody>
          <a:bodyPr wrap="square" lIns="0" tIns="0" rIns="0" bIns="0" rtlCol="0" anchor="ctr"/>
          <a:lstStyle/>
          <a:p>
            <a:pPr algn="r" indent="0" marL="0">
              <a:buNone/>
            </a:pPr>
            <a:r>
              <a:rPr lang="en-US" sz="1000" i="1" dirty="0">
                <a:solidFill>
                  <a:srgbClr val="6A3FA0"/>
                </a:solidFill>
                <a:latin typeface="Calibri" pitchFamily="34" charset="0"/>
                <a:ea typeface="Calibri" pitchFamily="34" charset="-122"/>
                <a:cs typeface="Calibri" pitchFamily="34" charset="-120"/>
              </a:rPr>
              <a:t>precise and accurate</a:t>
            </a:r>
            <a:endParaRPr lang="en-US" sz="1000" dirty="0"/>
          </a:p>
        </p:txBody>
      </p:sp>
      <p:sp>
        <p:nvSpPr>
          <p:cNvPr id="46" name="Text 44"/>
          <p:cNvSpPr/>
          <p:nvPr/>
        </p:nvSpPr>
        <p:spPr>
          <a:xfrm>
            <a:off x="502920" y="2523744"/>
            <a:ext cx="640080" cy="256032"/>
          </a:xfrm>
          <a:prstGeom prst="rect">
            <a:avLst/>
          </a:prstGeom>
          <a:noFill/>
          <a:ln/>
        </p:spPr>
        <p:txBody>
          <a:bodyPr wrap="square" lIns="0" tIns="0" rIns="0" bIns="0" rtlCol="0" anchor="ctr"/>
          <a:lstStyle/>
          <a:p>
            <a:pPr algn="ctr" indent="0" marL="0">
              <a:buNone/>
            </a:pPr>
            <a:r>
              <a:rPr lang="en-US" sz="1300" b="1" dirty="0">
                <a:solidFill>
                  <a:srgbClr val="B8730A"/>
                </a:solidFill>
                <a:latin typeface="Calibri" pitchFamily="34" charset="0"/>
                <a:ea typeface="Calibri" pitchFamily="34" charset="-122"/>
                <a:cs typeface="Calibri" pitchFamily="34" charset="-120"/>
              </a:rPr>
              <a:t>B</a:t>
            </a:r>
            <a:endParaRPr lang="en-US" sz="1300" dirty="0"/>
          </a:p>
        </p:txBody>
      </p:sp>
      <p:sp>
        <p:nvSpPr>
          <p:cNvPr id="47" name="Shape 45"/>
          <p:cNvSpPr/>
          <p:nvPr/>
        </p:nvSpPr>
        <p:spPr>
          <a:xfrm>
            <a:off x="1188720" y="2651760"/>
            <a:ext cx="4389120" cy="91"/>
          </a:xfrm>
          <a:prstGeom prst="line">
            <a:avLst/>
          </a:prstGeom>
          <a:noFill/>
          <a:ln w="9525">
            <a:solidFill>
              <a:srgbClr val="E3DCEF"/>
            </a:solidFill>
            <a:prstDash val="solid"/>
          </a:ln>
        </p:spPr>
      </p:sp>
      <p:sp>
        <p:nvSpPr>
          <p:cNvPr id="48" name="Shape 46"/>
          <p:cNvSpPr/>
          <p:nvPr/>
        </p:nvSpPr>
        <p:spPr>
          <a:xfrm>
            <a:off x="1563624" y="2587752"/>
            <a:ext cx="128016" cy="128016"/>
          </a:xfrm>
          <a:prstGeom prst="line">
            <a:avLst/>
          </a:prstGeom>
          <a:noFill/>
          <a:ln w="25400">
            <a:solidFill>
              <a:srgbClr val="B8730A"/>
            </a:solidFill>
            <a:prstDash val="solid"/>
          </a:ln>
        </p:spPr>
      </p:sp>
      <p:sp>
        <p:nvSpPr>
          <p:cNvPr id="49" name="Shape 47"/>
          <p:cNvSpPr/>
          <p:nvPr/>
        </p:nvSpPr>
        <p:spPr>
          <a:xfrm flipV="1">
            <a:off x="1563624" y="2587752"/>
            <a:ext cx="128016" cy="128016"/>
          </a:xfrm>
          <a:prstGeom prst="line">
            <a:avLst/>
          </a:prstGeom>
          <a:noFill/>
          <a:ln w="25400">
            <a:solidFill>
              <a:srgbClr val="B8730A"/>
            </a:solidFill>
            <a:prstDash val="solid"/>
          </a:ln>
        </p:spPr>
      </p:sp>
      <p:sp>
        <p:nvSpPr>
          <p:cNvPr id="50" name="Shape 48"/>
          <p:cNvSpPr/>
          <p:nvPr/>
        </p:nvSpPr>
        <p:spPr>
          <a:xfrm>
            <a:off x="2880360" y="2587752"/>
            <a:ext cx="128016" cy="128016"/>
          </a:xfrm>
          <a:prstGeom prst="line">
            <a:avLst/>
          </a:prstGeom>
          <a:noFill/>
          <a:ln w="25400">
            <a:solidFill>
              <a:srgbClr val="B8730A"/>
            </a:solidFill>
            <a:prstDash val="solid"/>
          </a:ln>
        </p:spPr>
      </p:sp>
      <p:sp>
        <p:nvSpPr>
          <p:cNvPr id="51" name="Shape 49"/>
          <p:cNvSpPr/>
          <p:nvPr/>
        </p:nvSpPr>
        <p:spPr>
          <a:xfrm flipV="1">
            <a:off x="2880360" y="2587752"/>
            <a:ext cx="128016" cy="128016"/>
          </a:xfrm>
          <a:prstGeom prst="line">
            <a:avLst/>
          </a:prstGeom>
          <a:noFill/>
          <a:ln w="25400">
            <a:solidFill>
              <a:srgbClr val="B8730A"/>
            </a:solidFill>
            <a:prstDash val="solid"/>
          </a:ln>
        </p:spPr>
      </p:sp>
      <p:sp>
        <p:nvSpPr>
          <p:cNvPr id="52" name="Shape 50"/>
          <p:cNvSpPr/>
          <p:nvPr/>
        </p:nvSpPr>
        <p:spPr>
          <a:xfrm>
            <a:off x="3977640" y="2587752"/>
            <a:ext cx="128016" cy="128016"/>
          </a:xfrm>
          <a:prstGeom prst="line">
            <a:avLst/>
          </a:prstGeom>
          <a:noFill/>
          <a:ln w="25400">
            <a:solidFill>
              <a:srgbClr val="B8730A"/>
            </a:solidFill>
            <a:prstDash val="solid"/>
          </a:ln>
        </p:spPr>
      </p:sp>
      <p:sp>
        <p:nvSpPr>
          <p:cNvPr id="53" name="Shape 51"/>
          <p:cNvSpPr/>
          <p:nvPr/>
        </p:nvSpPr>
        <p:spPr>
          <a:xfrm flipV="1">
            <a:off x="3977640" y="2587752"/>
            <a:ext cx="128016" cy="128016"/>
          </a:xfrm>
          <a:prstGeom prst="line">
            <a:avLst/>
          </a:prstGeom>
          <a:noFill/>
          <a:ln w="25400">
            <a:solidFill>
              <a:srgbClr val="B8730A"/>
            </a:solidFill>
            <a:prstDash val="solid"/>
          </a:ln>
        </p:spPr>
      </p:sp>
      <p:sp>
        <p:nvSpPr>
          <p:cNvPr id="54" name="Shape 52"/>
          <p:cNvSpPr/>
          <p:nvPr/>
        </p:nvSpPr>
        <p:spPr>
          <a:xfrm>
            <a:off x="2871216" y="2468880"/>
            <a:ext cx="91" cy="365760"/>
          </a:xfrm>
          <a:prstGeom prst="line">
            <a:avLst/>
          </a:prstGeom>
          <a:noFill/>
          <a:ln w="15875">
            <a:solidFill>
              <a:srgbClr val="B8730A"/>
            </a:solidFill>
            <a:prstDash val="solid"/>
          </a:ln>
        </p:spPr>
      </p:sp>
      <p:sp>
        <p:nvSpPr>
          <p:cNvPr id="55" name="Text 53"/>
          <p:cNvSpPr/>
          <p:nvPr/>
        </p:nvSpPr>
        <p:spPr>
          <a:xfrm>
            <a:off x="1188720" y="2779776"/>
            <a:ext cx="4389120" cy="201168"/>
          </a:xfrm>
          <a:prstGeom prst="rect">
            <a:avLst/>
          </a:prstGeom>
          <a:noFill/>
          <a:ln/>
        </p:spPr>
        <p:txBody>
          <a:bodyPr wrap="square" lIns="0" tIns="0" rIns="0" bIns="0" rtlCol="0" anchor="ctr"/>
          <a:lstStyle/>
          <a:p>
            <a:pPr algn="r" indent="0" marL="0">
              <a:buNone/>
            </a:pPr>
            <a:r>
              <a:rPr lang="en-US" sz="1000" i="1" dirty="0">
                <a:solidFill>
                  <a:srgbClr val="B8730A"/>
                </a:solidFill>
                <a:latin typeface="Calibri" pitchFamily="34" charset="0"/>
                <a:ea typeface="Calibri" pitchFamily="34" charset="-122"/>
                <a:cs typeface="Calibri" pitchFamily="34" charset="-120"/>
              </a:rPr>
              <a:t>not precise (spread out)</a:t>
            </a:r>
            <a:endParaRPr lang="en-US" sz="1000" dirty="0"/>
          </a:p>
        </p:txBody>
      </p:sp>
      <p:sp>
        <p:nvSpPr>
          <p:cNvPr id="56" name="Text 54"/>
          <p:cNvSpPr/>
          <p:nvPr/>
        </p:nvSpPr>
        <p:spPr>
          <a:xfrm>
            <a:off x="502920" y="3300984"/>
            <a:ext cx="640080" cy="256032"/>
          </a:xfrm>
          <a:prstGeom prst="rect">
            <a:avLst/>
          </a:prstGeom>
          <a:noFill/>
          <a:ln/>
        </p:spPr>
        <p:txBody>
          <a:bodyPr wrap="square" lIns="0" tIns="0" rIns="0" bIns="0" rtlCol="0" anchor="ctr"/>
          <a:lstStyle/>
          <a:p>
            <a:pPr algn="ctr" indent="0" marL="0">
              <a:buNone/>
            </a:pPr>
            <a:r>
              <a:rPr lang="en-US" sz="1300" b="1" dirty="0">
                <a:solidFill>
                  <a:srgbClr val="C8414C"/>
                </a:solidFill>
                <a:latin typeface="Calibri" pitchFamily="34" charset="0"/>
                <a:ea typeface="Calibri" pitchFamily="34" charset="-122"/>
                <a:cs typeface="Calibri" pitchFamily="34" charset="-120"/>
              </a:rPr>
              <a:t>C</a:t>
            </a:r>
            <a:endParaRPr lang="en-US" sz="1300" dirty="0"/>
          </a:p>
        </p:txBody>
      </p:sp>
      <p:sp>
        <p:nvSpPr>
          <p:cNvPr id="57" name="Shape 55"/>
          <p:cNvSpPr/>
          <p:nvPr/>
        </p:nvSpPr>
        <p:spPr>
          <a:xfrm>
            <a:off x="1188720" y="3429000"/>
            <a:ext cx="4389120" cy="91"/>
          </a:xfrm>
          <a:prstGeom prst="line">
            <a:avLst/>
          </a:prstGeom>
          <a:noFill/>
          <a:ln w="9525">
            <a:solidFill>
              <a:srgbClr val="E3DCEF"/>
            </a:solidFill>
            <a:prstDash val="solid"/>
          </a:ln>
        </p:spPr>
      </p:sp>
      <p:sp>
        <p:nvSpPr>
          <p:cNvPr id="58" name="Shape 56"/>
          <p:cNvSpPr/>
          <p:nvPr/>
        </p:nvSpPr>
        <p:spPr>
          <a:xfrm>
            <a:off x="4965192" y="3364992"/>
            <a:ext cx="128016" cy="128016"/>
          </a:xfrm>
          <a:prstGeom prst="line">
            <a:avLst/>
          </a:prstGeom>
          <a:noFill/>
          <a:ln w="25400">
            <a:solidFill>
              <a:srgbClr val="C8414C"/>
            </a:solidFill>
            <a:prstDash val="solid"/>
          </a:ln>
        </p:spPr>
      </p:sp>
      <p:sp>
        <p:nvSpPr>
          <p:cNvPr id="59" name="Shape 57"/>
          <p:cNvSpPr/>
          <p:nvPr/>
        </p:nvSpPr>
        <p:spPr>
          <a:xfrm flipV="1">
            <a:off x="4965192" y="3364992"/>
            <a:ext cx="128016" cy="128016"/>
          </a:xfrm>
          <a:prstGeom prst="line">
            <a:avLst/>
          </a:prstGeom>
          <a:noFill/>
          <a:ln w="25400">
            <a:solidFill>
              <a:srgbClr val="C8414C"/>
            </a:solidFill>
            <a:prstDash val="solid"/>
          </a:ln>
        </p:spPr>
      </p:sp>
      <p:sp>
        <p:nvSpPr>
          <p:cNvPr id="60" name="Shape 58"/>
          <p:cNvSpPr/>
          <p:nvPr/>
        </p:nvSpPr>
        <p:spPr>
          <a:xfrm>
            <a:off x="5074920" y="3364992"/>
            <a:ext cx="128016" cy="128016"/>
          </a:xfrm>
          <a:prstGeom prst="line">
            <a:avLst/>
          </a:prstGeom>
          <a:noFill/>
          <a:ln w="25400">
            <a:solidFill>
              <a:srgbClr val="C8414C"/>
            </a:solidFill>
            <a:prstDash val="solid"/>
          </a:ln>
        </p:spPr>
      </p:sp>
      <p:sp>
        <p:nvSpPr>
          <p:cNvPr id="61" name="Shape 59"/>
          <p:cNvSpPr/>
          <p:nvPr/>
        </p:nvSpPr>
        <p:spPr>
          <a:xfrm flipV="1">
            <a:off x="5074920" y="3364992"/>
            <a:ext cx="128016" cy="128016"/>
          </a:xfrm>
          <a:prstGeom prst="line">
            <a:avLst/>
          </a:prstGeom>
          <a:noFill/>
          <a:ln w="25400">
            <a:solidFill>
              <a:srgbClr val="C8414C"/>
            </a:solidFill>
            <a:prstDash val="solid"/>
          </a:ln>
        </p:spPr>
      </p:sp>
      <p:sp>
        <p:nvSpPr>
          <p:cNvPr id="62" name="Shape 60"/>
          <p:cNvSpPr/>
          <p:nvPr/>
        </p:nvSpPr>
        <p:spPr>
          <a:xfrm>
            <a:off x="5184648" y="3364992"/>
            <a:ext cx="128016" cy="128016"/>
          </a:xfrm>
          <a:prstGeom prst="line">
            <a:avLst/>
          </a:prstGeom>
          <a:noFill/>
          <a:ln w="25400">
            <a:solidFill>
              <a:srgbClr val="C8414C"/>
            </a:solidFill>
            <a:prstDash val="solid"/>
          </a:ln>
        </p:spPr>
      </p:sp>
      <p:sp>
        <p:nvSpPr>
          <p:cNvPr id="63" name="Shape 61"/>
          <p:cNvSpPr/>
          <p:nvPr/>
        </p:nvSpPr>
        <p:spPr>
          <a:xfrm flipV="1">
            <a:off x="5184648" y="3364992"/>
            <a:ext cx="128016" cy="128016"/>
          </a:xfrm>
          <a:prstGeom prst="line">
            <a:avLst/>
          </a:prstGeom>
          <a:noFill/>
          <a:ln w="25400">
            <a:solidFill>
              <a:srgbClr val="C8414C"/>
            </a:solidFill>
            <a:prstDash val="solid"/>
          </a:ln>
        </p:spPr>
      </p:sp>
      <p:sp>
        <p:nvSpPr>
          <p:cNvPr id="64" name="Shape 62"/>
          <p:cNvSpPr/>
          <p:nvPr/>
        </p:nvSpPr>
        <p:spPr>
          <a:xfrm>
            <a:off x="5138928" y="3246120"/>
            <a:ext cx="91" cy="365760"/>
          </a:xfrm>
          <a:prstGeom prst="line">
            <a:avLst/>
          </a:prstGeom>
          <a:noFill/>
          <a:ln w="15875">
            <a:solidFill>
              <a:srgbClr val="C8414C"/>
            </a:solidFill>
            <a:prstDash val="solid"/>
          </a:ln>
        </p:spPr>
      </p:sp>
      <p:sp>
        <p:nvSpPr>
          <p:cNvPr id="65" name="Text 63"/>
          <p:cNvSpPr/>
          <p:nvPr/>
        </p:nvSpPr>
        <p:spPr>
          <a:xfrm>
            <a:off x="1188720" y="3557016"/>
            <a:ext cx="4389120" cy="201168"/>
          </a:xfrm>
          <a:prstGeom prst="rect">
            <a:avLst/>
          </a:prstGeom>
          <a:noFill/>
          <a:ln/>
        </p:spPr>
        <p:txBody>
          <a:bodyPr wrap="square" lIns="0" tIns="0" rIns="0" bIns="0" rtlCol="0" anchor="ctr"/>
          <a:lstStyle/>
          <a:p>
            <a:pPr algn="l" indent="0" marL="0">
              <a:buNone/>
            </a:pPr>
            <a:r>
              <a:rPr lang="en-US" sz="1000" i="1" dirty="0">
                <a:solidFill>
                  <a:srgbClr val="C8414C"/>
                </a:solidFill>
                <a:latin typeface="Calibri" pitchFamily="34" charset="0"/>
                <a:ea typeface="Calibri" pitchFamily="34" charset="-122"/>
                <a:cs typeface="Calibri" pitchFamily="34" charset="-120"/>
              </a:rPr>
              <a:t>precise, not accurate</a:t>
            </a:r>
            <a:endParaRPr lang="en-US" sz="1000" dirty="0"/>
          </a:p>
        </p:txBody>
      </p:sp>
      <p:sp>
        <p:nvSpPr>
          <p:cNvPr id="66" name="Text 64"/>
          <p:cNvSpPr/>
          <p:nvPr/>
        </p:nvSpPr>
        <p:spPr>
          <a:xfrm>
            <a:off x="548640" y="4892040"/>
            <a:ext cx="530352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Short vertical line = mean of the three titres</a:t>
            </a:r>
            <a:endParaRPr lang="en-US" sz="1000" dirty="0"/>
          </a:p>
        </p:txBody>
      </p:sp>
      <p:sp>
        <p:nvSpPr>
          <p:cNvPr id="67" name="Shape 65"/>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68" name="Text 66"/>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the data tell you</a:t>
            </a:r>
            <a:endParaRPr lang="en-US" sz="1300" dirty="0"/>
          </a:p>
        </p:txBody>
      </p:sp>
      <p:sp>
        <p:nvSpPr>
          <p:cNvPr id="69" name="Text 67"/>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Range</a:t>
            </a:r>
            <a:r>
              <a:rPr lang="en-US" sz="1050" dirty="0">
                <a:solidFill>
                  <a:srgbClr val="262B3A"/>
                </a:solidFill>
                <a:latin typeface="Calibri" pitchFamily="34" charset="0"/>
                <a:ea typeface="Calibri" pitchFamily="34" charset="-122"/>
                <a:cs typeface="Calibri" pitchFamily="34" charset="-120"/>
              </a:rPr>
              <a:t> (spread) shows </a:t>
            </a:r>
            <a:r>
              <a:rPr lang="en-US" sz="1050" b="1" dirty="0">
                <a:solidFill>
                  <a:srgbClr val="262B3A"/>
                </a:solidFill>
                <a:latin typeface="Calibri" pitchFamily="34" charset="0"/>
                <a:ea typeface="Calibri" pitchFamily="34" charset="-122"/>
                <a:cs typeface="Calibri" pitchFamily="34" charset="-120"/>
              </a:rPr>
              <a:t>precision</a:t>
            </a:r>
            <a:r>
              <a:rPr lang="en-US" sz="1050" dirty="0">
                <a:solidFill>
                  <a:srgbClr val="262B3A"/>
                </a:solidFill>
                <a:latin typeface="Calibri" pitchFamily="34" charset="0"/>
                <a:ea typeface="Calibri" pitchFamily="34" charset="-122"/>
                <a:cs typeface="Calibri" pitchFamily="34" charset="-120"/>
              </a:rPr>
              <a:t>: A and C range 0.10 cm³; B ranges 1.10 cm³.</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Random errors</a:t>
            </a:r>
            <a:r>
              <a:rPr lang="en-US" sz="1050" dirty="0">
                <a:solidFill>
                  <a:srgbClr val="262B3A"/>
                </a:solidFill>
                <a:latin typeface="Calibri" pitchFamily="34" charset="0"/>
                <a:ea typeface="Calibri" pitchFamily="34" charset="-122"/>
                <a:cs typeface="Calibri" pitchFamily="34" charset="-120"/>
              </a:rPr>
              <a:t> scatter results (B): e.g. misjudging the end point, reading errors. Repeats and a mean reduce their effect.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Systematic errors</a:t>
            </a:r>
            <a:r>
              <a:rPr lang="en-US" sz="1050" dirty="0">
                <a:solidFill>
                  <a:srgbClr val="262B3A"/>
                </a:solidFill>
                <a:latin typeface="Calibri" pitchFamily="34" charset="0"/>
                <a:ea typeface="Calibri" pitchFamily="34" charset="-122"/>
                <a:cs typeface="Calibri" pitchFamily="34" charset="-120"/>
              </a:rPr>
              <a:t> shift every result the same way (C): e.g. burette rinsed with </a:t>
            </a:r>
            <a:r>
              <a:rPr lang="en-US" sz="1050" b="1" dirty="0">
                <a:solidFill>
                  <a:srgbClr val="262B3A"/>
                </a:solidFill>
                <a:latin typeface="Calibri" pitchFamily="34" charset="0"/>
                <a:ea typeface="Calibri" pitchFamily="34" charset="-122"/>
                <a:cs typeface="Calibri" pitchFamily="34" charset="-120"/>
              </a:rPr>
              <a:t>water</a:t>
            </a:r>
            <a:r>
              <a:rPr lang="en-US" sz="1050" dirty="0">
                <a:solidFill>
                  <a:srgbClr val="262B3A"/>
                </a:solidFill>
                <a:latin typeface="Calibri" pitchFamily="34" charset="0"/>
                <a:ea typeface="Calibri" pitchFamily="34" charset="-122"/>
                <a:cs typeface="Calibri" pitchFamily="34" charset="-120"/>
              </a:rPr>
              <a:t>, so the acid is diluted and every titre is too </a:t>
            </a:r>
            <a:r>
              <a:rPr lang="en-US" sz="1050" b="1" dirty="0">
                <a:solidFill>
                  <a:srgbClr val="262B3A"/>
                </a:solidFill>
                <a:latin typeface="Calibri" pitchFamily="34" charset="0"/>
                <a:ea typeface="Calibri" pitchFamily="34" charset="-122"/>
                <a:cs typeface="Calibri" pitchFamily="34" charset="-120"/>
              </a:rPr>
              <a:t>large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An </a:t>
            </a:r>
            <a:r>
              <a:rPr lang="en-US" sz="1050" b="1" dirty="0">
                <a:solidFill>
                  <a:srgbClr val="262B3A"/>
                </a:solidFill>
                <a:latin typeface="Calibri" pitchFamily="34" charset="0"/>
                <a:ea typeface="Calibri" pitchFamily="34" charset="-122"/>
                <a:cs typeface="Calibri" pitchFamily="34" charset="-120"/>
              </a:rPr>
              <a:t>anomalous</a:t>
            </a:r>
            <a:r>
              <a:rPr lang="en-US" sz="1050" dirty="0">
                <a:solidFill>
                  <a:srgbClr val="262B3A"/>
                </a:solidFill>
                <a:latin typeface="Calibri" pitchFamily="34" charset="0"/>
                <a:ea typeface="Calibri" pitchFamily="34" charset="-122"/>
                <a:cs typeface="Calibri" pitchFamily="34" charset="-120"/>
              </a:rPr>
              <a:t> result is far from the others: repeat it, do not include it in the mean.</a:t>
            </a:r>
            <a:endParaRPr lang="en-US" sz="1050" dirty="0"/>
          </a:p>
        </p:txBody>
      </p:sp>
      <p:sp>
        <p:nvSpPr>
          <p:cNvPr id="70" name="Shape 68"/>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71" name="Text 69"/>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student B</a:t>
            </a:r>
            <a:endParaRPr lang="en-US" sz="1300" dirty="0"/>
          </a:p>
        </p:txBody>
      </p:sp>
      <p:sp>
        <p:nvSpPr>
          <p:cNvPr id="72" name="Text 70"/>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Titres 21.80, 22.40, 22.90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Range   </a:t>
            </a:r>
            <a:r>
              <a:rPr lang="en-US" sz="1050" dirty="0">
                <a:solidFill>
                  <a:srgbClr val="262B3A"/>
                </a:solidFill>
                <a:latin typeface="Calibri" pitchFamily="34" charset="0"/>
                <a:ea typeface="Calibri" pitchFamily="34" charset="-122"/>
                <a:cs typeface="Calibri" pitchFamily="34" charset="-120"/>
              </a:rPr>
              <a:t>22.90 − 21.80 = 1.10 cm³: </a:t>
            </a:r>
            <a:r>
              <a:rPr lang="en-US" sz="1050" b="1" dirty="0">
                <a:solidFill>
                  <a:srgbClr val="262B3A"/>
                </a:solidFill>
                <a:latin typeface="Calibri" pitchFamily="34" charset="0"/>
                <a:ea typeface="Calibri" pitchFamily="34" charset="-122"/>
                <a:cs typeface="Calibri" pitchFamily="34" charset="-120"/>
              </a:rPr>
              <a:t>not concordant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Mean   </a:t>
            </a:r>
            <a:r>
              <a:rPr lang="en-US" sz="1050" dirty="0">
                <a:solidFill>
                  <a:srgbClr val="262B3A"/>
                </a:solidFill>
                <a:latin typeface="Calibri" pitchFamily="34" charset="0"/>
                <a:ea typeface="Calibri" pitchFamily="34" charset="-122"/>
                <a:cs typeface="Calibri" pitchFamily="34" charset="-120"/>
              </a:rPr>
              <a:t>67.10 ÷ 3 = 22.37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close to 22.50 by chance, but </a:t>
            </a:r>
            <a:r>
              <a:rPr lang="en-US" sz="1050" b="1" dirty="0">
                <a:solidFill>
                  <a:srgbClr val="C8414C"/>
                </a:solidFill>
                <a:latin typeface="Calibri" pitchFamily="34" charset="0"/>
                <a:ea typeface="Calibri" pitchFamily="34" charset="-122"/>
                <a:cs typeface="Calibri" pitchFamily="34" charset="-120"/>
              </a:rPr>
              <a:t>not precise</a:t>
            </a:r>
            <a:r>
              <a:rPr lang="en-US" sz="1050" b="1" dirty="0">
                <a:solidFill>
                  <a:srgbClr val="C8414C"/>
                </a:solidFill>
                <a:latin typeface="Calibri" pitchFamily="34" charset="0"/>
                <a:ea typeface="Calibri" pitchFamily="34" charset="-122"/>
                <a:cs typeface="Calibri" pitchFamily="34" charset="-120"/>
              </a:rPr>
              <a:t>: more repeats needed</a:t>
            </a:r>
            <a:endParaRPr lang="en-US" sz="1050" dirty="0"/>
          </a:p>
        </p:txBody>
      </p:sp>
      <p:sp>
        <p:nvSpPr>
          <p:cNvPr id="73" name="Shape 71"/>
          <p:cNvSpPr/>
          <p:nvPr/>
        </p:nvSpPr>
        <p:spPr>
          <a:xfrm>
            <a:off x="411480" y="5833872"/>
            <a:ext cx="11368735" cy="530352"/>
          </a:xfrm>
          <a:prstGeom prst="rect">
            <a:avLst/>
          </a:prstGeom>
          <a:solidFill>
            <a:srgbClr val="FFF4E0"/>
          </a:solidFill>
          <a:ln w="6350">
            <a:solidFill>
              <a:srgbClr val="F1D9A8"/>
            </a:solidFill>
            <a:prstDash val="solid"/>
          </a:ln>
        </p:spPr>
      </p:sp>
      <p:sp>
        <p:nvSpPr>
          <p:cNvPr id="74" name="Shape 72"/>
          <p:cNvSpPr/>
          <p:nvPr/>
        </p:nvSpPr>
        <p:spPr>
          <a:xfrm>
            <a:off x="411480" y="5833872"/>
            <a:ext cx="82296" cy="530352"/>
          </a:xfrm>
          <a:prstGeom prst="rect">
            <a:avLst/>
          </a:prstGeom>
          <a:solidFill>
            <a:srgbClr val="E39A2F"/>
          </a:solidFill>
          <a:ln w="12700">
            <a:solidFill>
              <a:srgbClr val="E39A2F"/>
            </a:solidFill>
            <a:prstDash val="solid"/>
          </a:ln>
        </p:spPr>
      </p:sp>
      <p:sp>
        <p:nvSpPr>
          <p:cNvPr id="75" name="Text 7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Titres: </a:t>
            </a:r>
            <a:r>
              <a:rPr lang="en-US" sz="1150" b="1" dirty="0">
                <a:solidFill>
                  <a:srgbClr val="262B3A"/>
                </a:solidFill>
                <a:latin typeface="Calibri" pitchFamily="34" charset="0"/>
                <a:ea typeface="Calibri" pitchFamily="34" charset="-122"/>
                <a:cs typeface="Calibri" pitchFamily="34" charset="-120"/>
              </a:rPr>
              <a:t>22.40</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22.35</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23.10</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22.45</a:t>
            </a:r>
            <a:r>
              <a:rPr lang="en-US" sz="1150" dirty="0">
                <a:solidFill>
                  <a:srgbClr val="262B3A"/>
                </a:solidFill>
                <a:latin typeface="Calibri" pitchFamily="34" charset="0"/>
                <a:ea typeface="Calibri" pitchFamily="34" charset="-122"/>
                <a:cs typeface="Calibri" pitchFamily="34" charset="-120"/>
              </a:rPr>
              <a:t> cm³. Identify the anomalous result and calculate the mean of the others.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C5.3.6, C5.3.7 • quality of titration data</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results that are </a:t>
            </a:r>
            <a:r>
              <a:rPr lang="en-US" sz="1250" b="1" dirty="0">
                <a:solidFill>
                  <a:srgbClr val="262B3A"/>
                </a:solidFill>
                <a:latin typeface="Calibri" pitchFamily="34" charset="0"/>
                <a:ea typeface="Calibri" pitchFamily="34" charset="-122"/>
                <a:cs typeface="Calibri" pitchFamily="34" charset="-120"/>
              </a:rPr>
              <a:t>precise</a:t>
            </a:r>
            <a:r>
              <a:rPr lang="en-US" sz="1250" dirty="0">
                <a:solidFill>
                  <a:srgbClr val="262B3A"/>
                </a:solidFill>
                <a:latin typeface="Calibri" pitchFamily="34" charset="0"/>
                <a:ea typeface="Calibri" pitchFamily="34" charset="-122"/>
                <a:cs typeface="Calibri" pitchFamily="34" charset="-120"/>
              </a:rPr>
              <a:t> and results that are </a:t>
            </a:r>
            <a:r>
              <a:rPr lang="en-US" sz="1250" b="1" dirty="0">
                <a:solidFill>
                  <a:srgbClr val="262B3A"/>
                </a:solidFill>
                <a:latin typeface="Calibri" pitchFamily="34" charset="0"/>
                <a:ea typeface="Calibri" pitchFamily="34" charset="-122"/>
                <a:cs typeface="Calibri" pitchFamily="34" charset="-120"/>
              </a:rPr>
              <a:t>accurate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burette reading has an uncertainty of ±0.05 cm³. Calculate the percentage uncertainty in a titre of </a:t>
            </a:r>
            <a:r>
              <a:rPr lang="en-US" sz="1250" b="1" dirty="0">
                <a:solidFill>
                  <a:srgbClr val="262B3A"/>
                </a:solidFill>
                <a:latin typeface="Calibri" pitchFamily="34" charset="0"/>
                <a:ea typeface="Calibri" pitchFamily="34" charset="-122"/>
                <a:cs typeface="Calibri" pitchFamily="34" charset="-120"/>
              </a:rPr>
              <a:t>25.00 cm³</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rinsed the burette with </a:t>
            </a:r>
            <a:r>
              <a:rPr lang="en-US" sz="1250" b="1" dirty="0">
                <a:solidFill>
                  <a:srgbClr val="262B3A"/>
                </a:solidFill>
                <a:latin typeface="Calibri" pitchFamily="34" charset="0"/>
                <a:ea typeface="Calibri" pitchFamily="34" charset="-122"/>
                <a:cs typeface="Calibri" pitchFamily="34" charset="-120"/>
              </a:rPr>
              <a:t>water</a:t>
            </a:r>
            <a:r>
              <a:rPr lang="en-US" sz="1250" dirty="0">
                <a:solidFill>
                  <a:srgbClr val="262B3A"/>
                </a:solidFill>
                <a:latin typeface="Calibri" pitchFamily="34" charset="0"/>
                <a:ea typeface="Calibri" pitchFamily="34" charset="-122"/>
                <a:cs typeface="Calibri" pitchFamily="34" charset="-120"/>
              </a:rPr>
              <a:t> before filling it with acid. Explain the effect on the titre and the calculated concentration of the alkali.</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a:t>
            </a:r>
            <a:r>
              <a:rPr lang="en-US" sz="1250" b="1" dirty="0">
                <a:solidFill>
                  <a:srgbClr val="262B3A"/>
                </a:solidFill>
                <a:latin typeface="Calibri" pitchFamily="34" charset="0"/>
                <a:ea typeface="Calibri" pitchFamily="34" charset="-122"/>
                <a:cs typeface="Calibri" pitchFamily="34" charset="-120"/>
              </a:rPr>
              <a:t>pipette</a:t>
            </a:r>
            <a:r>
              <a:rPr lang="en-US" sz="1250" dirty="0">
                <a:solidFill>
                  <a:srgbClr val="262B3A"/>
                </a:solidFill>
                <a:latin typeface="Calibri" pitchFamily="34" charset="0"/>
                <a:ea typeface="Calibri" pitchFamily="34" charset="-122"/>
                <a:cs typeface="Calibri" pitchFamily="34" charset="-120"/>
              </a:rPr>
              <a:t> is used to measure the alkali rather than a measuring cylinder.</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C5.3 How are the amounts of chemicals in solution measured?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21</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Solute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substance that dissolves in a solvent to make a solution.</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Solvent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liquid that a solute dissolves in, e.g. water.</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Concentration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amount of solute in a unit volume of solution: g/dm³ or mol/dm³.</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dm³ (cubic decimetre)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1 dm³ = 1000 cm³ = 1 litre. cm³ ÷ 1000 = dm³.</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Molar concentration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Moles of solute per dm³: mol/dm³ = mol ÷ dm³.</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Standard solution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solution whose concentration is known accurately.</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Volumetric flask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Glassware with one mark, holding one accurate volume, e.g. 250.0 cm³.</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Pipette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Delivers one accurate volume of liquid, e.g. 25.0 cm³; use a filler.</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Burette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Graduated tube with a tap; measures the volume of solution added, to 0.05 cm³.</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Titration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Finding the volume of one solution that exactly reacts with a known volume of another.</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Indicator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dye that changes colour at the end point, e.g. phenolphthalein.</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End point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point where the indicator changes colour: the reaction is just complete.</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Titre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volume added from the burette: final reading − initial reading.</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Concordant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Titres that agree closely, within 0.10 cm³ of each other.</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Precise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Repeat measurements are close together.</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Accurate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measurement close to the true value.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C5.3.1–C5.3.7 • answer every part • 13 marks • (e) is HT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22</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finds the concentration of a </a:t>
            </a:r>
            <a:r>
              <a:rPr lang="en-US" sz="1200" b="1" i="1" dirty="0">
                <a:solidFill>
                  <a:srgbClr val="262B3A"/>
                </a:solidFill>
                <a:latin typeface="Calibri" pitchFamily="34" charset="0"/>
                <a:ea typeface="Calibri" pitchFamily="34" charset="-122"/>
                <a:cs typeface="Calibri" pitchFamily="34" charset="-120"/>
              </a:rPr>
              <a:t>sodium hydroxide</a:t>
            </a:r>
            <a:r>
              <a:rPr lang="en-US" sz="1200" i="1" dirty="0">
                <a:solidFill>
                  <a:srgbClr val="262B3A"/>
                </a:solidFill>
                <a:latin typeface="Calibri" pitchFamily="34" charset="0"/>
                <a:ea typeface="Calibri" pitchFamily="34" charset="-122"/>
                <a:cs typeface="Calibri" pitchFamily="34" charset="-120"/>
              </a:rPr>
              <a:t> solution by titration with </a:t>
            </a:r>
            <a:r>
              <a:rPr lang="en-US" sz="1200" b="1" i="1" dirty="0">
                <a:solidFill>
                  <a:srgbClr val="262B3A"/>
                </a:solidFill>
                <a:latin typeface="Calibri" pitchFamily="34" charset="0"/>
                <a:ea typeface="Calibri" pitchFamily="34" charset="-122"/>
                <a:cs typeface="Calibri" pitchFamily="34" charset="-120"/>
              </a:rPr>
              <a:t>0.100 mol/dm³ hydrochloric acid</a:t>
            </a:r>
            <a:r>
              <a:rPr lang="en-US" sz="1200" i="1" dirty="0">
                <a:solidFill>
                  <a:srgbClr val="262B3A"/>
                </a:solidFill>
                <a:latin typeface="Calibri" pitchFamily="34" charset="0"/>
                <a:ea typeface="Calibri" pitchFamily="34" charset="-122"/>
                <a:cs typeface="Calibri" pitchFamily="34" charset="-120"/>
              </a:rPr>
              <a:t> (3.65 g/dm³). She uses </a:t>
            </a:r>
            <a:r>
              <a:rPr lang="en-US" sz="1200" b="1" i="1" dirty="0">
                <a:solidFill>
                  <a:srgbClr val="262B3A"/>
                </a:solidFill>
                <a:latin typeface="Calibri" pitchFamily="34" charset="0"/>
                <a:ea typeface="Calibri" pitchFamily="34" charset="-122"/>
                <a:cs typeface="Calibri" pitchFamily="34" charset="-120"/>
              </a:rPr>
              <a:t>25.0 cm³</a:t>
            </a:r>
            <a:r>
              <a:rPr lang="en-US" sz="1200" i="1" dirty="0">
                <a:solidFill>
                  <a:srgbClr val="262B3A"/>
                </a:solidFill>
                <a:latin typeface="Calibri" pitchFamily="34" charset="0"/>
                <a:ea typeface="Calibri" pitchFamily="34" charset="-122"/>
                <a:cs typeface="Calibri" pitchFamily="34" charset="-120"/>
              </a:rPr>
              <a:t> portions of the alkali. Her titres: </a:t>
            </a:r>
            <a:r>
              <a:rPr lang="en-US" sz="1200" b="1" i="1" dirty="0">
                <a:solidFill>
                  <a:srgbClr val="262B3A"/>
                </a:solidFill>
                <a:latin typeface="Calibri" pitchFamily="34" charset="0"/>
                <a:ea typeface="Calibri" pitchFamily="34" charset="-122"/>
                <a:cs typeface="Calibri" pitchFamily="34" charset="-120"/>
              </a:rPr>
              <a:t>20.60</a:t>
            </a:r>
            <a:r>
              <a:rPr lang="en-US" sz="1200" i="1" dirty="0">
                <a:solidFill>
                  <a:srgbClr val="262B3A"/>
                </a:solidFill>
                <a:latin typeface="Calibri" pitchFamily="34" charset="0"/>
                <a:ea typeface="Calibri" pitchFamily="34" charset="-122"/>
                <a:cs typeface="Calibri" pitchFamily="34" charset="-120"/>
              </a:rPr>
              <a:t> (rough), </a:t>
            </a:r>
            <a:r>
              <a:rPr lang="en-US" sz="1200" b="1" i="1" dirty="0">
                <a:solidFill>
                  <a:srgbClr val="262B3A"/>
                </a:solidFill>
                <a:latin typeface="Calibri" pitchFamily="34" charset="0"/>
                <a:ea typeface="Calibri" pitchFamily="34" charset="-122"/>
                <a:cs typeface="Calibri" pitchFamily="34" charset="-120"/>
              </a:rPr>
              <a:t>20.05</a:t>
            </a:r>
            <a:r>
              <a:rPr lang="en-US" sz="1200" i="1" dirty="0">
                <a:solidFill>
                  <a:srgbClr val="262B3A"/>
                </a:solidFill>
                <a:latin typeface="Calibri" pitchFamily="34" charset="0"/>
                <a:ea typeface="Calibri" pitchFamily="34" charset="-122"/>
                <a:cs typeface="Calibri" pitchFamily="34" charset="-120"/>
              </a:rPr>
              <a:t>, </a:t>
            </a:r>
            <a:r>
              <a:rPr lang="en-US" sz="1200" b="1" i="1" dirty="0">
                <a:solidFill>
                  <a:srgbClr val="262B3A"/>
                </a:solidFill>
                <a:latin typeface="Calibri" pitchFamily="34" charset="0"/>
                <a:ea typeface="Calibri" pitchFamily="34" charset="-122"/>
                <a:cs typeface="Calibri" pitchFamily="34" charset="-120"/>
              </a:rPr>
              <a:t>20.15</a:t>
            </a:r>
            <a:r>
              <a:rPr lang="en-US" sz="1200" i="1" dirty="0">
                <a:solidFill>
                  <a:srgbClr val="262B3A"/>
                </a:solidFill>
                <a:latin typeface="Calibri" pitchFamily="34" charset="0"/>
                <a:ea typeface="Calibri" pitchFamily="34" charset="-122"/>
                <a:cs typeface="Calibri" pitchFamily="34" charset="-120"/>
              </a:rPr>
              <a:t>, </a:t>
            </a:r>
            <a:r>
              <a:rPr lang="en-US" sz="1200" b="1" i="1" dirty="0">
                <a:solidFill>
                  <a:srgbClr val="262B3A"/>
                </a:solidFill>
                <a:latin typeface="Calibri" pitchFamily="34" charset="0"/>
                <a:ea typeface="Calibri" pitchFamily="34" charset="-122"/>
                <a:cs typeface="Calibri" pitchFamily="34" charset="-120"/>
              </a:rPr>
              <a:t>20.10</a:t>
            </a:r>
            <a:r>
              <a:rPr lang="en-US" sz="1200" i="1" dirty="0">
                <a:solidFill>
                  <a:srgbClr val="262B3A"/>
                </a:solidFill>
                <a:latin typeface="Calibri" pitchFamily="34" charset="0"/>
                <a:ea typeface="Calibri" pitchFamily="34" charset="-122"/>
                <a:cs typeface="Calibri" pitchFamily="34" charset="-120"/>
              </a:rPr>
              <a:t> cm³.</a:t>
            </a:r>
            <a:endParaRPr lang="en-US" sz="1200" dirty="0"/>
          </a:p>
        </p:txBody>
      </p:sp>
      <p:sp>
        <p:nvSpPr>
          <p:cNvPr id="9" name="Shape 7"/>
          <p:cNvSpPr/>
          <p:nvPr/>
        </p:nvSpPr>
        <p:spPr>
          <a:xfrm>
            <a:off x="411480" y="1719072"/>
            <a:ext cx="5570068" cy="1441704"/>
          </a:xfrm>
          <a:prstGeom prst="roundRect">
            <a:avLst>
              <a:gd name="adj" fmla="val 3171"/>
            </a:avLst>
          </a:prstGeom>
          <a:solidFill>
            <a:srgbClr val="F8F5FC"/>
          </a:solidFill>
          <a:ln w="9525">
            <a:solidFill>
              <a:srgbClr val="DDD3EC"/>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apparatus she should use to measure </a:t>
            </a:r>
            <a:r>
              <a:rPr lang="en-US" sz="1200" b="1" dirty="0">
                <a:solidFill>
                  <a:srgbClr val="262B3A"/>
                </a:solidFill>
                <a:latin typeface="Calibri" pitchFamily="34" charset="0"/>
                <a:ea typeface="Calibri" pitchFamily="34" charset="-122"/>
                <a:cs typeface="Calibri" pitchFamily="34" charset="-120"/>
              </a:rPr>
              <a:t>25.0 cm³</a:t>
            </a:r>
            <a:r>
              <a:rPr lang="en-US" sz="1200" dirty="0">
                <a:solidFill>
                  <a:srgbClr val="262B3A"/>
                </a:solidFill>
                <a:latin typeface="Calibri" pitchFamily="34" charset="0"/>
                <a:ea typeface="Calibri" pitchFamily="34" charset="-122"/>
                <a:cs typeface="Calibri" pitchFamily="34" charset="-120"/>
              </a:rPr>
              <a:t> of sodium hydroxide accurately.</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DDD3EC"/>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Phenolphthalein indicator is added. State the colour change at the end point and why a </a:t>
            </a:r>
            <a:r>
              <a:rPr lang="en-US" sz="1200" b="1" dirty="0">
                <a:solidFill>
                  <a:srgbClr val="262B3A"/>
                </a:solidFill>
                <a:latin typeface="Calibri" pitchFamily="34" charset="0"/>
                <a:ea typeface="Calibri" pitchFamily="34" charset="-122"/>
                <a:cs typeface="Calibri" pitchFamily="34" charset="-120"/>
              </a:rPr>
              <a:t>white tile</a:t>
            </a:r>
            <a:r>
              <a:rPr lang="en-US" sz="1200" dirty="0">
                <a:solidFill>
                  <a:srgbClr val="262B3A"/>
                </a:solidFill>
                <a:latin typeface="Calibri" pitchFamily="34" charset="0"/>
                <a:ea typeface="Calibri" pitchFamily="34" charset="-122"/>
                <a:cs typeface="Calibri" pitchFamily="34" charset="-120"/>
              </a:rPr>
              <a:t> is used.</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8F5FC"/>
          </a:solidFill>
          <a:ln w="9525">
            <a:solidFill>
              <a:srgbClr val="DDD3EC"/>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Identify the concordant titres and calculate the </a:t>
            </a:r>
            <a:r>
              <a:rPr lang="en-US" sz="1200" b="1" dirty="0">
                <a:solidFill>
                  <a:srgbClr val="262B3A"/>
                </a:solidFill>
                <a:latin typeface="Calibri" pitchFamily="34" charset="0"/>
                <a:ea typeface="Calibri" pitchFamily="34" charset="-122"/>
                <a:cs typeface="Calibri" pitchFamily="34" charset="-120"/>
              </a:rPr>
              <a:t>mean titre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285844"/>
          </a:xfrm>
          <a:prstGeom prst="roundRect">
            <a:avLst>
              <a:gd name="adj" fmla="val 3556"/>
            </a:avLst>
          </a:prstGeom>
          <a:solidFill>
            <a:srgbClr val="F8F5FC"/>
          </a:solidFill>
          <a:ln w="9525">
            <a:solidFill>
              <a:srgbClr val="DDD3EC"/>
            </a:solidFill>
            <a:prstDash val="solid"/>
          </a:ln>
        </p:spPr>
      </p:sp>
      <p:sp>
        <p:nvSpPr>
          <p:cNvPr id="19" name="Text 17"/>
          <p:cNvSpPr/>
          <p:nvPr/>
        </p:nvSpPr>
        <p:spPr>
          <a:xfrm>
            <a:off x="6347308" y="1792224"/>
            <a:ext cx="5295748" cy="92008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Calculate the </a:t>
            </a:r>
            <a:r>
              <a:rPr lang="en-US" sz="1200" b="1" dirty="0">
                <a:solidFill>
                  <a:srgbClr val="262B3A"/>
                </a:solidFill>
                <a:latin typeface="Calibri" pitchFamily="34" charset="0"/>
                <a:ea typeface="Calibri" pitchFamily="34" charset="-122"/>
                <a:cs typeface="Calibri" pitchFamily="34" charset="-120"/>
              </a:rPr>
              <a:t>mass</a:t>
            </a:r>
            <a:r>
              <a:rPr lang="en-US" sz="1200" dirty="0">
                <a:solidFill>
                  <a:srgbClr val="262B3A"/>
                </a:solidFill>
                <a:latin typeface="Calibri" pitchFamily="34" charset="0"/>
                <a:ea typeface="Calibri" pitchFamily="34" charset="-122"/>
                <a:cs typeface="Calibri" pitchFamily="34" charset="-120"/>
              </a:rPr>
              <a:t> of HCl in the mean titre of acid. Give your answer to 3 significant figures.</a:t>
            </a:r>
            <a:endParaRPr lang="en-US" sz="1200" dirty="0"/>
          </a:p>
        </p:txBody>
      </p:sp>
      <p:sp>
        <p:nvSpPr>
          <p:cNvPr id="20" name="Text 18"/>
          <p:cNvSpPr/>
          <p:nvPr/>
        </p:nvSpPr>
        <p:spPr>
          <a:xfrm>
            <a:off x="10317175" y="269402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14644"/>
            <a:ext cx="5570068" cy="1519634"/>
          </a:xfrm>
          <a:prstGeom prst="roundRect">
            <a:avLst>
              <a:gd name="adj" fmla="val 3009"/>
            </a:avLst>
          </a:prstGeom>
          <a:solidFill>
            <a:srgbClr val="FFFFFF"/>
          </a:solidFill>
          <a:ln w="9525">
            <a:solidFill>
              <a:srgbClr val="DDD3EC"/>
            </a:solidFill>
            <a:prstDash val="solid"/>
          </a:ln>
        </p:spPr>
      </p:sp>
      <p:sp>
        <p:nvSpPr>
          <p:cNvPr id="22" name="Text 20"/>
          <p:cNvSpPr/>
          <p:nvPr/>
        </p:nvSpPr>
        <p:spPr>
          <a:xfrm>
            <a:off x="6347308" y="3187796"/>
            <a:ext cx="4792828" cy="115387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Calculate the concentration of the sodium hydroxide in </a:t>
            </a:r>
            <a:r>
              <a:rPr lang="en-US" sz="1200" b="1" dirty="0">
                <a:solidFill>
                  <a:srgbClr val="262B3A"/>
                </a:solidFill>
                <a:latin typeface="Calibri" pitchFamily="34" charset="0"/>
                <a:ea typeface="Calibri" pitchFamily="34" charset="-122"/>
                <a:cs typeface="Calibri" pitchFamily="34" charset="-120"/>
              </a:rPr>
              <a:t>mol/dm³</a:t>
            </a:r>
            <a:r>
              <a:rPr lang="en-US" sz="1200" dirty="0">
                <a:solidFill>
                  <a:srgbClr val="262B3A"/>
                </a:solidFill>
                <a:latin typeface="Calibri" pitchFamily="34" charset="0"/>
                <a:ea typeface="Calibri" pitchFamily="34" charset="-122"/>
                <a:cs typeface="Calibri" pitchFamily="34" charset="-120"/>
              </a:rPr>
              <a:t>. NaOH + HCl → NaCl + H₂O</a:t>
            </a:r>
            <a:endParaRPr lang="en-US" sz="1200" dirty="0"/>
          </a:p>
        </p:txBody>
      </p:sp>
      <p:sp>
        <p:nvSpPr>
          <p:cNvPr id="23" name="Shape 21"/>
          <p:cNvSpPr/>
          <p:nvPr/>
        </p:nvSpPr>
        <p:spPr>
          <a:xfrm>
            <a:off x="11231575" y="318779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318779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432338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6" name="Shape 24"/>
          <p:cNvSpPr/>
          <p:nvPr/>
        </p:nvSpPr>
        <p:spPr>
          <a:xfrm>
            <a:off x="6210148" y="4744006"/>
            <a:ext cx="5570068" cy="1519634"/>
          </a:xfrm>
          <a:prstGeom prst="roundRect">
            <a:avLst>
              <a:gd name="adj" fmla="val 3009"/>
            </a:avLst>
          </a:prstGeom>
          <a:solidFill>
            <a:srgbClr val="F8F5FC"/>
          </a:solidFill>
          <a:ln w="9525">
            <a:solidFill>
              <a:srgbClr val="DDD3EC"/>
            </a:solidFill>
            <a:prstDash val="solid"/>
          </a:ln>
        </p:spPr>
      </p:sp>
      <p:sp>
        <p:nvSpPr>
          <p:cNvPr id="27" name="Text 25"/>
          <p:cNvSpPr/>
          <p:nvPr/>
        </p:nvSpPr>
        <p:spPr>
          <a:xfrm>
            <a:off x="6347308" y="4817158"/>
            <a:ext cx="5295748" cy="115387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Describe and explain </a:t>
            </a:r>
            <a:r>
              <a:rPr lang="en-US" sz="1200" b="1" dirty="0">
                <a:solidFill>
                  <a:srgbClr val="262B3A"/>
                </a:solidFill>
                <a:latin typeface="Calibri" pitchFamily="34" charset="0"/>
                <a:ea typeface="Calibri" pitchFamily="34" charset="-122"/>
                <a:cs typeface="Calibri" pitchFamily="34" charset="-120"/>
              </a:rPr>
              <a:t>three</a:t>
            </a:r>
            <a:r>
              <a:rPr lang="en-US" sz="1200" dirty="0">
                <a:solidFill>
                  <a:srgbClr val="262B3A"/>
                </a:solidFill>
                <a:latin typeface="Calibri" pitchFamily="34" charset="0"/>
                <a:ea typeface="Calibri" pitchFamily="34" charset="-122"/>
                <a:cs typeface="Calibri" pitchFamily="34" charset="-120"/>
              </a:rPr>
              <a:t> things she should do to make her results </a:t>
            </a:r>
            <a:r>
              <a:rPr lang="en-US" sz="1200" b="1" dirty="0">
                <a:solidFill>
                  <a:srgbClr val="262B3A"/>
                </a:solidFill>
                <a:latin typeface="Calibri" pitchFamily="34" charset="0"/>
                <a:ea typeface="Calibri" pitchFamily="34" charset="-122"/>
                <a:cs typeface="Calibri" pitchFamily="34" charset="-120"/>
              </a:rPr>
              <a:t>precise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accurate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C5.3 Amounts in solution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C5.3 How are the amounts of chemicals in solution measured?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24</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Q5 and Q6 are Higher tier.</a:t>
            </a:r>
            <a:endParaRPr lang="en-US" sz="1150" dirty="0"/>
          </a:p>
        </p:txBody>
      </p:sp>
      <p:sp>
        <p:nvSpPr>
          <p:cNvPr id="9" name="Shape 7"/>
          <p:cNvSpPr/>
          <p:nvPr/>
        </p:nvSpPr>
        <p:spPr>
          <a:xfrm>
            <a:off x="411480" y="1517904"/>
            <a:ext cx="5570068" cy="1120140"/>
          </a:xfrm>
          <a:prstGeom prst="roundRect">
            <a:avLst>
              <a:gd name="adj" fmla="val 4082"/>
            </a:avLst>
          </a:prstGeom>
          <a:solidFill>
            <a:srgbClr val="F8F5FC"/>
          </a:solidFill>
          <a:ln w="9525">
            <a:solidFill>
              <a:srgbClr val="DDD3EC"/>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State the units of concentration when the amount of solute is measured (i) as a mass and (ii) in moles.</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8F5FC"/>
          </a:solidFill>
          <a:ln w="9525">
            <a:solidFill>
              <a:srgbClr val="DDD3EC"/>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b="1" dirty="0">
                <a:solidFill>
                  <a:srgbClr val="262B3A"/>
                </a:solidFill>
                <a:latin typeface="Calibri" pitchFamily="34" charset="0"/>
                <a:ea typeface="Calibri" pitchFamily="34" charset="-122"/>
                <a:cs typeface="Calibri" pitchFamily="34" charset="-120"/>
              </a:rPr>
              <a:t>6.0 g</a:t>
            </a:r>
            <a:r>
              <a:rPr lang="en-US" sz="1150" dirty="0">
                <a:solidFill>
                  <a:srgbClr val="262B3A"/>
                </a:solidFill>
                <a:latin typeface="Calibri" pitchFamily="34" charset="0"/>
                <a:ea typeface="Calibri" pitchFamily="34" charset="-122"/>
                <a:cs typeface="Calibri" pitchFamily="34" charset="-120"/>
              </a:rPr>
              <a:t> of potassium nitrate is dissolved to make </a:t>
            </a:r>
            <a:r>
              <a:rPr lang="en-US" sz="1150" b="1" dirty="0">
                <a:solidFill>
                  <a:srgbClr val="262B3A"/>
                </a:solidFill>
                <a:latin typeface="Calibri" pitchFamily="34" charset="0"/>
                <a:ea typeface="Calibri" pitchFamily="34" charset="-122"/>
                <a:cs typeface="Calibri" pitchFamily="34" charset="-120"/>
              </a:rPr>
              <a:t>150 cm³</a:t>
            </a:r>
            <a:r>
              <a:rPr lang="en-US" sz="1150" dirty="0">
                <a:solidFill>
                  <a:srgbClr val="262B3A"/>
                </a:solidFill>
                <a:latin typeface="Calibri" pitchFamily="34" charset="0"/>
                <a:ea typeface="Calibri" pitchFamily="34" charset="-122"/>
                <a:cs typeface="Calibri" pitchFamily="34" charset="-120"/>
              </a:rPr>
              <a:t> of solution. Calculate the concentration in g/dm³.</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8F5FC"/>
          </a:solidFill>
          <a:ln w="9525">
            <a:solidFill>
              <a:srgbClr val="DDD3EC"/>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Titres: </a:t>
            </a:r>
            <a:r>
              <a:rPr lang="en-US" sz="1150" b="1" dirty="0">
                <a:solidFill>
                  <a:srgbClr val="262B3A"/>
                </a:solidFill>
                <a:latin typeface="Calibri" pitchFamily="34" charset="0"/>
                <a:ea typeface="Calibri" pitchFamily="34" charset="-122"/>
                <a:cs typeface="Calibri" pitchFamily="34" charset="-120"/>
              </a:rPr>
              <a:t>18.65</a:t>
            </a:r>
            <a:r>
              <a:rPr lang="en-US" sz="1150" dirty="0">
                <a:solidFill>
                  <a:srgbClr val="262B3A"/>
                </a:solidFill>
                <a:latin typeface="Calibri" pitchFamily="34" charset="0"/>
                <a:ea typeface="Calibri" pitchFamily="34" charset="-122"/>
                <a:cs typeface="Calibri" pitchFamily="34" charset="-120"/>
              </a:rPr>
              <a:t> (rough), </a:t>
            </a:r>
            <a:r>
              <a:rPr lang="en-US" sz="1150" b="1" dirty="0">
                <a:solidFill>
                  <a:srgbClr val="262B3A"/>
                </a:solidFill>
                <a:latin typeface="Calibri" pitchFamily="34" charset="0"/>
                <a:ea typeface="Calibri" pitchFamily="34" charset="-122"/>
                <a:cs typeface="Calibri" pitchFamily="34" charset="-120"/>
              </a:rPr>
              <a:t>18.20</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18.25</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18.15</a:t>
            </a:r>
            <a:r>
              <a:rPr lang="en-US" sz="1150" dirty="0">
                <a:solidFill>
                  <a:srgbClr val="262B3A"/>
                </a:solidFill>
                <a:latin typeface="Calibri" pitchFamily="34" charset="0"/>
                <a:ea typeface="Calibri" pitchFamily="34" charset="-122"/>
                <a:cs typeface="Calibri" pitchFamily="34" charset="-120"/>
              </a:rPr>
              <a:t> cm³. Calculate the mean titre and explain your choice of results.</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8F5FC"/>
          </a:solidFill>
          <a:ln w="9525">
            <a:solidFill>
              <a:srgbClr val="DDD3EC"/>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Explain why a student should add the acid </a:t>
            </a:r>
            <a:r>
              <a:rPr lang="en-US" sz="1150" b="1" dirty="0">
                <a:solidFill>
                  <a:srgbClr val="262B3A"/>
                </a:solidFill>
                <a:latin typeface="Calibri" pitchFamily="34" charset="0"/>
                <a:ea typeface="Calibri" pitchFamily="34" charset="-122"/>
                <a:cs typeface="Calibri" pitchFamily="34" charset="-120"/>
              </a:rPr>
              <a:t>drop by drop</a:t>
            </a:r>
            <a:r>
              <a:rPr lang="en-US" sz="1150" dirty="0">
                <a:solidFill>
                  <a:srgbClr val="262B3A"/>
                </a:solidFill>
                <a:latin typeface="Calibri" pitchFamily="34" charset="0"/>
                <a:ea typeface="Calibri" pitchFamily="34" charset="-122"/>
                <a:cs typeface="Calibri" pitchFamily="34" charset="-120"/>
              </a:rPr>
              <a:t> near the end point and </a:t>
            </a:r>
            <a:r>
              <a:rPr lang="en-US" sz="1150" b="1" dirty="0">
                <a:solidFill>
                  <a:srgbClr val="262B3A"/>
                </a:solidFill>
                <a:latin typeface="Calibri" pitchFamily="34" charset="0"/>
                <a:ea typeface="Calibri" pitchFamily="34" charset="-122"/>
                <a:cs typeface="Calibri" pitchFamily="34" charset="-120"/>
              </a:rPr>
              <a:t>swirl</a:t>
            </a:r>
            <a:r>
              <a:rPr lang="en-US" sz="1150" dirty="0">
                <a:solidFill>
                  <a:srgbClr val="262B3A"/>
                </a:solidFill>
                <a:latin typeface="Calibri" pitchFamily="34" charset="0"/>
                <a:ea typeface="Calibri" pitchFamily="34" charset="-122"/>
                <a:cs typeface="Calibri" pitchFamily="34" charset="-120"/>
              </a:rPr>
              <a:t> the flask.</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74323"/>
          </a:xfrm>
          <a:prstGeom prst="roundRect">
            <a:avLst>
              <a:gd name="adj" fmla="val 4256"/>
            </a:avLst>
          </a:prstGeom>
          <a:solidFill>
            <a:srgbClr val="F8F5FC"/>
          </a:solidFill>
          <a:ln w="9525">
            <a:solidFill>
              <a:srgbClr val="DDD3EC"/>
            </a:solidFill>
            <a:prstDash val="solid"/>
          </a:ln>
        </p:spPr>
      </p:sp>
      <p:sp>
        <p:nvSpPr>
          <p:cNvPr id="22" name="Text 20"/>
          <p:cNvSpPr/>
          <p:nvPr/>
        </p:nvSpPr>
        <p:spPr>
          <a:xfrm>
            <a:off x="6347308" y="1591056"/>
            <a:ext cx="4792828" cy="726851"/>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b="1" dirty="0">
                <a:solidFill>
                  <a:srgbClr val="262B3A"/>
                </a:solidFill>
                <a:latin typeface="Calibri" pitchFamily="34" charset="0"/>
                <a:ea typeface="Calibri" pitchFamily="34" charset="-122"/>
                <a:cs typeface="Calibri" pitchFamily="34" charset="-120"/>
              </a:rPr>
              <a:t>2.0 g</a:t>
            </a:r>
            <a:r>
              <a:rPr lang="en-US" sz="1150" dirty="0">
                <a:solidFill>
                  <a:srgbClr val="262B3A"/>
                </a:solidFill>
                <a:latin typeface="Calibri" pitchFamily="34" charset="0"/>
                <a:ea typeface="Calibri" pitchFamily="34" charset="-122"/>
                <a:cs typeface="Calibri" pitchFamily="34" charset="-120"/>
              </a:rPr>
              <a:t> of NaOH (Mr = 40) is dissolved to make </a:t>
            </a:r>
            <a:r>
              <a:rPr lang="en-US" sz="1150" b="1" dirty="0">
                <a:solidFill>
                  <a:srgbClr val="262B3A"/>
                </a:solidFill>
                <a:latin typeface="Calibri" pitchFamily="34" charset="0"/>
                <a:ea typeface="Calibri" pitchFamily="34" charset="-122"/>
                <a:cs typeface="Calibri" pitchFamily="34" charset="-120"/>
              </a:rPr>
              <a:t>500 cm³</a:t>
            </a:r>
            <a:r>
              <a:rPr lang="en-US" sz="1150" dirty="0">
                <a:solidFill>
                  <a:srgbClr val="262B3A"/>
                </a:solidFill>
                <a:latin typeface="Calibri" pitchFamily="34" charset="0"/>
                <a:ea typeface="Calibri" pitchFamily="34" charset="-122"/>
                <a:cs typeface="Calibri" pitchFamily="34" charset="-120"/>
              </a:rPr>
              <a:t> of solution. Calculate the concentration in mol/dm³.</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29961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701955"/>
            <a:ext cx="5570068" cy="976657"/>
          </a:xfrm>
          <a:prstGeom prst="roundRect">
            <a:avLst>
              <a:gd name="adj" fmla="val 4681"/>
            </a:avLst>
          </a:prstGeom>
          <a:solidFill>
            <a:srgbClr val="F8F5FC"/>
          </a:solidFill>
          <a:ln w="9525">
            <a:solidFill>
              <a:srgbClr val="DDD3EC"/>
            </a:solidFill>
            <a:prstDash val="solid"/>
          </a:ln>
        </p:spPr>
      </p:sp>
      <p:sp>
        <p:nvSpPr>
          <p:cNvPr id="27" name="Text 25"/>
          <p:cNvSpPr/>
          <p:nvPr/>
        </p:nvSpPr>
        <p:spPr>
          <a:xfrm>
            <a:off x="6347308" y="2775107"/>
            <a:ext cx="4792828" cy="629185"/>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Convert </a:t>
            </a:r>
            <a:r>
              <a:rPr lang="en-US" sz="1150" b="1" dirty="0">
                <a:solidFill>
                  <a:srgbClr val="262B3A"/>
                </a:solidFill>
                <a:latin typeface="Calibri" pitchFamily="34" charset="0"/>
                <a:ea typeface="Calibri" pitchFamily="34" charset="-122"/>
                <a:cs typeface="Calibri" pitchFamily="34" charset="-120"/>
              </a:rPr>
              <a:t>0.25 mol/dm³</a:t>
            </a:r>
            <a:r>
              <a:rPr lang="en-US" sz="1150" dirty="0">
                <a:solidFill>
                  <a:srgbClr val="262B3A"/>
                </a:solidFill>
                <a:latin typeface="Calibri" pitchFamily="34" charset="0"/>
                <a:ea typeface="Calibri" pitchFamily="34" charset="-122"/>
                <a:cs typeface="Calibri" pitchFamily="34" charset="-120"/>
              </a:rPr>
              <a:t> sodium hydroxide into g/dm³ (Mr = 40).</a:t>
            </a:r>
            <a:endParaRPr lang="en-US" sz="1150" dirty="0"/>
          </a:p>
        </p:txBody>
      </p:sp>
      <p:sp>
        <p:nvSpPr>
          <p:cNvPr id="28" name="Shape 26"/>
          <p:cNvSpPr/>
          <p:nvPr/>
        </p:nvSpPr>
        <p:spPr>
          <a:xfrm>
            <a:off x="11231575" y="2775107"/>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2775107"/>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33860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788340"/>
            <a:ext cx="5570068" cy="2539308"/>
          </a:xfrm>
          <a:prstGeom prst="roundRect">
            <a:avLst>
              <a:gd name="adj" fmla="val 1800"/>
            </a:avLst>
          </a:prstGeom>
          <a:solidFill>
            <a:srgbClr val="FFF4E0"/>
          </a:solidFill>
          <a:ln w="9525">
            <a:solidFill>
              <a:srgbClr val="F1D9A8"/>
            </a:solidFill>
            <a:prstDash val="solid"/>
          </a:ln>
        </p:spPr>
      </p:sp>
      <p:sp>
        <p:nvSpPr>
          <p:cNvPr id="32" name="Text 30"/>
          <p:cNvSpPr/>
          <p:nvPr/>
        </p:nvSpPr>
        <p:spPr>
          <a:xfrm>
            <a:off x="6347308" y="3861492"/>
            <a:ext cx="5295748" cy="2191836"/>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a student should carry out a </a:t>
            </a:r>
            <a:r>
              <a:rPr lang="en-US" sz="1150" b="1" dirty="0">
                <a:solidFill>
                  <a:srgbClr val="262B3A"/>
                </a:solidFill>
                <a:latin typeface="Calibri" pitchFamily="34" charset="0"/>
                <a:ea typeface="Calibri" pitchFamily="34" charset="-122"/>
                <a:cs typeface="Calibri" pitchFamily="34" charset="-120"/>
              </a:rPr>
              <a:t>titration</a:t>
            </a:r>
            <a:r>
              <a:rPr lang="en-US" sz="1150" dirty="0">
                <a:solidFill>
                  <a:srgbClr val="262B3A"/>
                </a:solidFill>
                <a:latin typeface="Calibri" pitchFamily="34" charset="0"/>
                <a:ea typeface="Calibri" pitchFamily="34" charset="-122"/>
                <a:cs typeface="Calibri" pitchFamily="34" charset="-120"/>
              </a:rPr>
              <a:t> to find the concentration of hydrochloric acid using a standard solution of sodium hydroxide. Explain how she makes her results </a:t>
            </a:r>
            <a:r>
              <a:rPr lang="en-US" sz="1150" b="1" dirty="0">
                <a:solidFill>
                  <a:srgbClr val="262B3A"/>
                </a:solidFill>
                <a:latin typeface="Calibri" pitchFamily="34" charset="0"/>
                <a:ea typeface="Calibri" pitchFamily="34" charset="-122"/>
                <a:cs typeface="Calibri" pitchFamily="34" charset="-120"/>
              </a:rPr>
              <a:t>precise and accurate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C5.3 How are the amounts of chemicals in solution measured?</dc:title>
  <dc:subject>PptxGenJS Presentation</dc:subject>
  <dc:creator>GCSE Chemistry</dc:creator>
  <cp:lastModifiedBy>GCSE Chemistry</cp:lastModifiedBy>
  <cp:revision>1</cp:revision>
  <dcterms:created xsi:type="dcterms:W3CDTF">2026-10-31T15:53:07Z</dcterms:created>
  <dcterms:modified xsi:type="dcterms:W3CDTF">2026-10-31T15:53:07Z</dcterms:modified>
</cp:coreProperties>
</file>