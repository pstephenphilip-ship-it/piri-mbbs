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C6.1 What useful products can be made from acids? is Part 1 of 3 in J260 Chapter C6 Making useful chemicals (C6.1 this deck; C6.2 How do chemists control the rate of reactions?; C6.3 What factors affect the yield of chemical reactions?). J258 (separate) has a fourth sub-topic, C6.4 How are chemicals made on an industrial scale?, which the OCR C6 scheme of work marks "separate science only". OCR scheme-of-work hours for C6.1: 7.5 h separate / 7.5 h combined. See SPEC_C6_1.md for the evidence and the confidence of each statement code.
Relative atomic masses are used to 1 decimal place (Mg 24.3, S 32.1, Cl 35.5, Ca 40.1), as on the OCR data sheet.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Statement codes and wording (see SPEC_C6_1.md for sources and confidence):
C6.1.1 recall that acids react with some metals and with carbonates and write equations predicting products from given reactants (wording and combined code HIGH: RSC Education quotes "Combined Science B C6.1.1").
C6.1.2 neutralisation by alkalis and bases to make salts, naming and formulae of salts (code UNVERIFIED; one RSC extract gives C6.1.2 as a salt-making procedure statement instead).
C6.1.3 acids form H⁺(aq) in water; alkalis contain OH⁻(aq); aqueous neutralisation is H⁺ + OH⁻ → H₂O (code UNVERIFIED; wording from OCR B revision extracts).
C6.1.4 recall that relative acidity and alkalinity are measured by pH including the use of universal indicator and pH meters (wording and combined code HIGH: RSC "Combined Science B C6.1.4").
C6.1.5 use and explain the terms dilute and concentrated (amount of substance) and weak and strong (degree of ionisation) in relation to acids, including differences in reactivity with metals and carbonates (wording HIGH: OCR PAG document; code medium).
C6.1.6 use the idea that as hydrogen ion concentration increases by a factor of ten the pH value of a solution decreases by one (wording HIGH: OCR PAG document; code medium).
C6.1.7 describe neutrality and relative acidity and alkalinity in terms of the effect of the concentration of hydrogen ions on the numerical value of pH (whole numbers only) (wording HIGH: RSC; code CONFLICT: RSC tags it Combined Science B C6.1.6 in one resource and Suite B C6.1.7 in another).
C6.1.8 safe procedure for a pure, dry soluble salt from an insoluble oxide or carbonate (code and wording UNVERIFIED; PAG C4 production of salts is confirmed in OCR's combined PAG list).
HT: C6.1.5–C6.1.7 are Higher-tier only in the DfE subject content and in every other board; the bold markers in the J260 document could not be seen (UNVERIFIED). The HT redox box on the metals slide is DfE Higher content; where OCR places it (C6.1 or C3) is UNVERIFIED.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J260 Chapter C6 has three sub-topics: C6.1 acids (this deck), C6.2 rates, C6.3 yield. Evidence: the docbrown.info Combined Science B page lists C6.1, C6.2 and C6.3 revision summaries; the OCR C6 outline scheme of work marks C6.4 "How are chemicals made on an industrial scale?" as separate science only. Chapter total 28.5 h separate / 18.5 h combined; C6.1 is 7.5 h / 7.5 h.
Overlap control: rates of reaction are C6.2 (only "bubbles faster / slower" is used here when comparing acids). Yield and percentage yield are C6.3: no yield is calculated in the practical. Titration and concentration were taught in C5.3 and are recap only. The copper sulfate crystallisation practical was done in C5.1, so this deck uses magnesium sulfate.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ANSWERS
1. Mg²⁺ and Cl⁻; MgCl₂ (two chloride ions balance one 2+ charge) (C2).
2. Magnesium &gt; zinc &gt; iron &gt; copper (C3).
3. In the solid the ions are fixed in a lattice and cannot move; in solution the ions are free to move and carry charge (C4.2).
4. Filtration; crystallisation (or evaporation) (C5.1).
5. 24.3 + 12.0 + 3 × 16.0 = 84.3 (C5.2; asserted in node).
6. The end point, when the acid has just neutralised the alkali (colour change); a burette (C5.3).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It is a base but not an alkali: it neutralises acids (base), but it is insoluble in water, so it cannot form a solution of OH⁻ ions (an alkali is a soluble base).
All ionisation equations are atom- and charge-balanced in node. Teacher note: H⁺(aq) is really H₃O⁺, but GCSE uses H⁺(aq). Ion drawings show only the dissolved ions; real solutions are mostly water molecules.
CLEAPSS-style hazards: hydrochloric acid below 2 mol/dm³ LOW HAZARD (IRRITANT at 2 mol/dm³ and above); sodium hydroxide solution 0.05–0.5 mol/dm³ IRRITANT, CORROSIVE at 0.5 mol/dm³ and above. Wear eye protection.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A (red is about pH 0–2; yellow about pH 5). A pH meter gives a numerical reading / is more precise (finer resolution); it is not subjective (no colour judgement); it works with coloured solutions; readings can be logged.
UI colours are approximate (brands differ slightly). Example pH values are typical: stomach acid about 1–2, vinegar about 3, sea water about 8, household ammonia about 11, oven cleaner about 13.
CLEAPSS: universal indicator solution is made up in ethanol: HIGHLY FLAMMABLE; keep away from flames. Calibrate a pH meter with buffer solutions (pH 4 and 7) and rinse the probe between readings.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Recap 1 (total 8 marks)
Q1 [2]: Hydrogen ion, H⁺ (1); hydroxide ion, OH⁻ (1).
Q2 [2]: pH 3–4 (accept 2–5) (1); acidic (1).
Q3 [2]: Any two: more precise / gives a number (to 0.1); no colour judgement (more objective); works in coloured solutions; can record data continuously (1 each).
Q4 [2]: HCl → H⁺ + Cl⁻ (1); state symbols (g) → (aq) + (aq)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Potassium sulfate. 2KOH(aq) + H₂SO₄(aq) → K₂SO₄(aq) + 2H₂O(l) (atom balance asserted in node).
The particle diagram counts are consistent: 3 H⁺ + 3 OH⁻ → 3 H₂O; 3 Na⁺ and 3 Cl⁻ unchanged on both sides. The ionic equation H⁺ + OH⁻ → H₂O was used in C5.3 for titrations; here it is explained. Neutralisation is exothermic (the temperature rises), which can be shown with a thermometer.
Copper(II) oxide: HARMFUL if swallowed, very toxic to aquatic life. Sulfuric acid 0.5–1.5 mol/dm³ IRRITANT.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2Al(s) + 6HCl(aq) → 2AlCl₃(aq) + 3H₂(g). (HT) Zn(s) + 2H⁺(aq) → Zn²⁺(aq) + H₂(g); zinc is oxidised (it loses two electrons; Zn → Zn²⁺ + 2e⁻) and the hydrogen ions are reduced. All equations atom- and charge-balanced in node.
Bubble counts are illustrative of the reactivity order from C3 (Mg &gt; Zn &gt; Fe &gt; Cu). Comparing how fast the bubbles form is qualitative only here: measuring rates is C6.2. Aluminium reacts slowly at first because of its oxide layer.
HT redox in terms of electron transfer is DfE Higher-only content for acids + metals; whether OCR places it in C6.1 or in C3 is UNVERIFIED, so it is kept to this box.
CLEAPSS-style hazards: magnesium ribbon FLAMMABLE; zinc granules LOW HAZARD (powder is flammable); hydrogen EXTREMELY FLAMMABLE gas, so test only small amounts, no naked flames near larger volumes; hydrochloric acid below 2 mol/dm³ LOW HAZARD. Eye protection.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Copper(II) nitrate, water and carbon dioxide (CuCO₃ + 2HNO₃ → Cu(NO₃)₂ + H₂O + CO₂, balanced in node). The carbonate gives off a gas (CO₂); a metal oxide makes only a salt and water, so there is no gas.
All equations atom-balanced in node. CLEAPSS-style hazards: limewater (saturated calcium hydroxide solution) is an eye IRRITANT; calcium carbonate LOW HAZARD; hydrochloric acid below 2 mol/dm³ LOW HAZARD; never let limewater suck back into the hot or reacting flask (remove the delivery tube from the limewater before the reaction stops). Eye protection.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Recap 2 (total 8 marks)
Q1 [2]: Sodium sulfate (1); water (1).
Q2 [2]: H⁺ + OH⁻ → H₂O (1); (aq) + (aq) → (l) (1).
Q3 [2]: Hold a lighted splint at the mouth of the tube (1); squeaky pop (1).
Q4 [2]: Magnesium (atoms) are oxidised (1); each Mg atom loses two electrons (Mg → Mg²⁺ + 2e⁻)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Zn(NO₃)₂ (Zn²⁺ needs two NO₃⁻); (NH₄)₂SO₄ (two NH₄⁺ balance one SO₄²⁻); zinc chloride and water: ZnO(s) + 2HCl(aq) → ZnCl₂(aq) + H₂O(l).
The table is generated in node from the ion charges (lowest common multiple; brackets for polyatomic ions) and checked: Al₂(SO₄)₃, MgCl₂, (NH₄)₂SO₄, Ca(NO₃)₂, Na₂SO₄, ZnCl₂, KNO₃ asserted. Ion formulae come from C2 (recap). All equations atom-balanced in node (34 so far).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Nitric acid and potassium hydroxide (an alkali): KOH(aq) + HNO₃(aq) → KNO₃(aq) + H₂O(l) (balanced in node). Potassium carbonate would also work (with CO₂ given off).
Equations atom-balanced in node: NH₃ + HNO₃ → NH₄NO₃; 2NH₃ + H₂SO₄ → (NH₄)₂SO₄; Mg(OH)₂ + 2HCl → MgCl₂ + 2H₂O; 3NH₃ + H₃PO₄ → (NH₄)₃PO₄ (ammonium phosphate, extension).
Overlap control: making fertilisers on an industrial scale (the Haber process, contact process, batch vs continuous) is J258 C6.4, which is separate science only. Here fertilisers are used only as an example of a useful salt. A docbrown Combined Science B quiz lists "ammonium salts" as Higher tier, so the ammonia + acid reaction is not examined on Foundation papers (UNVERIFIED).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Recap 3 (total 8 marks)
Q1 [2]: Two Al³⁺ (+6) balance three SO₄²⁻ (−6) (1); Al₂(SO₄)₃ (1).
Q2 [2]: Na₂CO₃ + 2HCl → 2NaCl + H₂O + CO₂ (1); (aq) + (aq) → (aq) + (l) + (g) (1).
Q3 [2]: Ammonium nitrate (1); fertiliser (provides nitrogen for plants) (1).
Q4 [2]: Correct formulae Mg(OH)₂ + HCl → MgCl₂ + H₂O (1); balanced 1 : 2 → 1 : 2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Both fizz (hydrogen), but the hydrochloric acid fizzes much more vigorously / the magnesium disappears faster, because HCl is a strong acid, fully ionised, so its concentration of H⁺ ions is higher than in the weak ethanoic acid at the same acid concentration. (With enough time both make the same amount of hydrogen, because the same amount of acid is present.)
HT ONLY (C6.1.5; code medium, HT marker from DfE content, UNVERIFIED for J260). Values calculated in node with Ka(ethanoic acid) = 1.74 × 10⁻⁵ mol/dm³ (data-book value): [H⁺] = 0.0013 mol/dm³, pH 2.9, about 1.3% ionised (about 1 in 75 molecules); HCl [H⁺] = 0.10 mol/dm³, pH 1.0; about 76 times more H⁺. The beaker drawing (8 whole molecules, 1 ionised) is schematic, not to scale. Teach the reactivity difference qualitatively only: measuring rates is C6.2.
CLEAPSS: ethanoic acid below 1.7 mol/dm³ LOW HAZARD; glacial ethanoic acid is CORROSIVE and FLAMMABLE (not 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6.0 ÷ 60.0 = 0.10 mol; 0.10 ÷ 0.500 = 0.20 mol/dm³. Ethanoic acid is weak (only partly ionised), whatever its concentration.
HT ONLY (C6.1.5; marker UNVERIFIED for J260). Foundation students meet "concentrated" and "dilute" in everyday terms and in g/dm³ (C5.3.1). Values asserted: 7.3 g/dm³ = 0.20 mol/dm³; 73 g/dm³ = 2.0 mol/dm³ (Mr HCl 36.5); ethanoic 0.20 mol/dm³ (Mr CH₃COOH 60.0). The grid is schematic: 12 vs 4 particles shows 3× concentration; the weak beakers show 1 ionised particle in each, only to show "mostly un-ionised" (not to scale).
CLEAPSS: hydrochloric acid at 2.0 mol/dm³ is IRRITANT (CORROSIVE at 6.5 mol/dm³ and above).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Volume × 100, so [H⁺] ÷ 100 (from 0.01 to 0.0001 mol/dm³); each factor of ten raises the pH by 1, so the pH rises by 2: pH 4.
HT ONLY (C6.1.6 and C6.1.7; wording from OCR PAG and RSC extracts; HT marker UNVERIFIED). Whole-number pH only: students do not use pH = −log[H⁺], but the ladder values are computed in node from it and each step is asserted as a factor of 10. Dilution examples asserted: 0.1 → 0.01 mol/dm³ (pH 1 → 2); pH 2 → pH 4 after ×100. Bar lengths are proportional to log₁₀[H⁺] + 8 (a logarithmic scale), so equal steps mean equal factors of ten.
GRADE 7–9 STRETCH: dilution of a strong acid by × 10 raises pH by exactly 1; for a weak acid the rise is smaller (about 0.5), because more molecules ionise on dilution.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Recap 4 (total 8 marks)
Q1 [2]: An acid that is completely / fully ionised (1); in (aqueous) solution, into H⁺ ions (1).
Q2 [2]: Dilute: a small amount of acid in a given volume (of water) / low concentration (1); weak: only partially ionised (1).
Q3 [2]: It has increased (1); by a factor of 100 (1).
Q4 [2]: Hydrochloric acid is strong / fully ionised; ethanoic acid is weak / partially ionised (1); so HCl has a higher concentration of H⁺ ions (100 times higher)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The fizzing stops and solid magnesium carbonate stays undissolved (in excess). An insoluble carbonate can be added in excess and the excess removed by filtering, so no acid or base is left in the salt; with a soluble alkali you would need a titration (indicator, then repeat without it: C5.3) to add exactly the right amount.
PAG C4 Production of salts (OCR Combined Science PAG list; C6.1.8 code UNVERIFIED). C5.1 already used copper sulfate crystals (CuO + H₂SO₄) to teach filtration and crystallisation, so this deck uses magnesium sulfate (Epsom salts), which is low hazard and gives an end point you can see (fizzing stops).
Variables (preparation, not an investigation): the dependent observation is the end point; control the volume and concentration of acid, temperature (warm, not boiling) and stirring.
CLEAPSS-style hazards: sulfuric acid 0.5–1.5 mol/dm³ IRRITANT (skin and eye irritation); magnesium carbonate LOW HAZARD; magnesium sulfate LOW HAZARD; hot water bath: take care with scalds. Do not evaporate to dryness (crystals spit, and the hydrated crystals would lose water).
Equations balanced in node: MgCO₃ + H₂SO₄ → MgSO₄ + H₂O + CO₂; MgSO₄ + 7H₂O → MgSO₄·7H₂O. No percentage yield is calculated here: yield is C6.3.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CHECK ANSWER: About pH 0.4 (still very acidic: acid remains). Magnesium carbonate is insoluble, so the excess stays as solid and only makes the solution very slightly alkaline (dissolved CO₂ also keeps it near 7).
Illustrative pH-meter data. Model (asserted in node): before the end point, [H⁺] = 2 × (0.0125 − m ÷ 84.3) ÷ 0.0250 dm³, treating sulfuric acid as fully ionised; readings rounded to 1 d.p. (0.0, 0.1, 0.2, 0.4, 0.6, 1.3). End point at 0.0125 × 84.3 = 1.054 g. After the end point, readings of 6.9 and 7.6 are illustrative (excess insoluble carbonate and dissolved CO₂). The curve before the end point is computed, not sketched. Expected mass of MgSO₄ in solution: 0.0125 × 120.4 = 1.51 g (anhydrous; not used: yield is C6.3). Worked F example: 2.50 − 1.43 = 1.07 g reacted (close to 1.05 g).
Link: C6.1.4 pH meter; C5.3 concentration (HT moles).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Recap 5 (total 8 marks)
Q1 [2]: To make sure all the (sulfuric) acid has reacted / is used up (1); so the salt solution / crystals contain no acid (1).
Q2 [2]: Magnesium carbonate is insoluble, so it stays on the filter paper (1); water bath heats gently / stops the solution spitting / boiling dry (1).
Q3 [2]: About 1.05 g (accept 1.0–1.1 g) (1); this is where the pH rises sharply (to about 7) (1).
Q4 [2]: Zinc chloride (1); ZnCl₂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Use as a cover-and-recall activity. Terms marked (HT) are Higher tier only for the strong/weak and concentrated/dilute statements (C6.1.5); dilute and concentrated are also everyday words for Foundation. Rate and yield words belong to C6.2 and C6.3 and are not included.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full question (total 13 marks)
(a) [2]: Calcium chloride (1); carbon dioxide: turns limewater milky / cloudy (1).
(b) [2]: CaCO₃ + 2HCl → CaCl₂ + H₂O + CO₂ correctly balanced (1); (s), (aq), (aq), (l), (g) (1).
(c) [1]: Any one: more precise / numerical value; not a matter of colour judgement; works with coloured solutions (1).
(d) [3]: To make sure all the acid reacts / is neutralised (1); excess calcium carbonate is insoluble (1); filter it off; the filtrate is the salt solution (1).
(e) [2]: pH 3 (1); [H⁺] decreases by a factor of 100 / two factors of ten, and each factor of ten raises the pH by 1 (1).
(f) [3]: Ethanoic acid is a weak acid; hydrochloric acid is strong (1); ethanoic acid is only partially ionised / HCl fully ionised (1); so ethanoic acid has a lower concentration of H⁺ ions (to react with the carbonate)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MARK SCHEME — homework (total 17 marks)
1 [1]: Salt, water and carbon dioxide (all three for 1).
2 [2]: (a) magnesium sulfate (1); (b) potassium nitrate (1).
3 [2]: pH 12–14 (accept 11–14) (1); strongly alkaline: contains (many more) hydroxide ions, OH⁻, than H⁺ (1).
4 [2]: Zn + 2HCl → ZnCl₂ + H₂ (1); (s), (aq), (aq), (g) (1).
5 [2]: 100 times (1); each decrease of 1 pH unit means ten times more H⁺ (two units: 10 × 10) (1).
6 [2]: Concentrated weak: lots of acid in the volume but only partly ionised (1); dilute strong: little acid in the volume but fully ionised (1).
7 [6]: OCR level-of-response mark scheme (6 marks). Read the whole answer, decide the level from the content descriptor, then the mark within the level from the quality of the line of reasoning. Use the indicative scientific points below.
Level 3 (5–6 marks): Describes a clear, logically ordered method to make pure, dry crystals (excess carbonate, filtering, crystallising and drying) AND explains the purpose of most steps. There is a well-developed line of reasoning which is clear and logically structured. The information presented is relevant and substantiated.
Level 2 (3–4 marks): Describes the main steps of the method (reacting with excess, filtering, evaporating or crystallising) with some explanation. There is a line of reasoning presented with some structure. The information presented is relevant and supported by some evidence.
Level 1 (1–2 marks): Simple statements, e.g. "mix them and filter" or "heat to get crystals". There is an attempt at a logical structure with a line of reasoning. The information is in the most part relevant.
0 marks: no response or no response worthy of credit.
Indicative scientific points may include:
 • Measure a volume of dilute sulfuric acid (e.g. 25 cm³ with a measuring cylinder) into a beaker; warm gently.
 • Add magnesium carbonate a little at a time with stirring until no more fizzing / some solid remains (excess), so that all the acid has reacted and none is left in the product.
 • Filter to remove the excess (insoluble) magnesium carbonate; collect the filtrate (magnesium sulfate solution).
 • Heat the filtrate in an evaporating basin (on a water bath) to the crystallisation point (crystals form on a cold glass rod); do not evaporate to dryness.
 • Leave to cool so crystals form (solubility falls); filter off the crystals; dry between filter papers or in a warm oven / desiccator.
 • Equation: MgCO₃(s) + H₂SO₄(aq) → MgSO₄(aq) + H₂O(l) + CO₂(g); the fizzing is carbon dioxide.
 • Safety: eye protection; sulfuric acid is an irritant; add the carbonate slowly to stop frothing over; take care with hot apparatus.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E1A47"/>
        </a:solidFill>
      </p:bgPr>
    </p:bg>
    <p:spTree>
      <p:nvGrpSpPr>
        <p:cNvPr id="1" name=""/>
        <p:cNvGrpSpPr/>
        <p:nvPr/>
      </p:nvGrpSpPr>
      <p:grpSpPr>
        <a:xfrm>
          <a:off x="0" y="0"/>
          <a:ext cx="0" cy="0"/>
          <a:chOff x="0" y="0"/>
          <a:chExt cx="0" cy="0"/>
        </a:xfrm>
      </p:grpSpPr>
      <p:sp>
        <p:nvSpPr>
          <p:cNvPr id="2" name="Shape 0"/>
          <p:cNvSpPr/>
          <p:nvPr/>
        </p:nvSpPr>
        <p:spPr>
          <a:xfrm>
            <a:off x="7589520" y="-1463040"/>
            <a:ext cx="6035040" cy="6035040"/>
          </a:xfrm>
          <a:prstGeom prst="ellipse">
            <a:avLst/>
          </a:prstGeom>
          <a:solidFill>
            <a:srgbClr val="5B3A8C"/>
          </a:solidFill>
          <a:ln w="12700">
            <a:solidFill>
              <a:srgbClr val="5B3A8C"/>
            </a:solidFill>
            <a:prstDash val="solid"/>
          </a:ln>
        </p:spPr>
      </p:sp>
      <p:sp>
        <p:nvSpPr>
          <p:cNvPr id="3" name="Shape 1"/>
          <p:cNvSpPr/>
          <p:nvPr/>
        </p:nvSpPr>
        <p:spPr>
          <a:xfrm>
            <a:off x="9326880" y="2377440"/>
            <a:ext cx="4937760" cy="4937760"/>
          </a:xfrm>
          <a:prstGeom prst="ellipse">
            <a:avLst/>
          </a:prstGeom>
          <a:solidFill>
            <a:srgbClr val="7A52B3">
              <a:alpha val="85000"/>
            </a:srgbClr>
          </a:solidFill>
          <a:ln w="12700">
            <a:solidFill>
              <a:srgbClr val="7A52B3"/>
            </a:solidFill>
            <a:prstDash val="solid"/>
          </a:ln>
        </p:spPr>
      </p:sp>
      <p:sp>
        <p:nvSpPr>
          <p:cNvPr id="4" name="Shape 2"/>
          <p:cNvSpPr/>
          <p:nvPr/>
        </p:nvSpPr>
        <p:spPr>
          <a:xfrm>
            <a:off x="0" y="0"/>
            <a:ext cx="164592" cy="6858000"/>
          </a:xfrm>
          <a:prstGeom prst="rect">
            <a:avLst/>
          </a:prstGeom>
          <a:solidFill>
            <a:srgbClr val="7A52B3"/>
          </a:solidFill>
          <a:ln w="12700">
            <a:solidFill>
              <a:srgbClr val="7A52B3"/>
            </a:solidFill>
            <a:prstDash val="solid"/>
          </a:ln>
        </p:spPr>
      </p:sp>
      <p:sp>
        <p:nvSpPr>
          <p:cNvPr id="5" name="Text 3"/>
          <p:cNvSpPr/>
          <p:nvPr/>
        </p:nvSpPr>
        <p:spPr>
          <a:xfrm>
            <a:off x="731520" y="822960"/>
            <a:ext cx="8686800" cy="320040"/>
          </a:xfrm>
          <a:prstGeom prst="rect">
            <a:avLst/>
          </a:prstGeom>
          <a:noFill/>
          <a:ln/>
        </p:spPr>
        <p:txBody>
          <a:bodyPr wrap="square" lIns="0" tIns="0" rIns="0" bIns="0" rtlCol="0" anchor="ctr"/>
          <a:lstStyle/>
          <a:p>
            <a:pPr indent="0" marL="0">
              <a:buNone/>
            </a:pPr>
            <a:r>
              <a:rPr lang="en-US" sz="1300" b="1" spc="400" kern="0" dirty="0">
                <a:solidFill>
                  <a:srgbClr val="CDB8F0"/>
                </a:solidFill>
                <a:latin typeface="Calibri" pitchFamily="34" charset="0"/>
                <a:ea typeface="Calibri" pitchFamily="34" charset="-122"/>
                <a:cs typeface="Calibri" pitchFamily="34" charset="-120"/>
              </a:rPr>
              <a:t>OCR GCSE COMBINED SCIENCE B (TWENTY FIRST CENTURY)</a:t>
            </a:r>
            <a:endParaRPr lang="en-US" sz="1300" dirty="0"/>
          </a:p>
        </p:txBody>
      </p:sp>
      <p:sp>
        <p:nvSpPr>
          <p:cNvPr id="6" name="Text 4"/>
          <p:cNvSpPr/>
          <p:nvPr/>
        </p:nvSpPr>
        <p:spPr>
          <a:xfrm>
            <a:off x="731520" y="1325880"/>
            <a:ext cx="9601200" cy="1005840"/>
          </a:xfrm>
          <a:prstGeom prst="rect">
            <a:avLst/>
          </a:prstGeom>
          <a:noFill/>
          <a:ln/>
        </p:spPr>
        <p:txBody>
          <a:bodyPr wrap="square" lIns="0" tIns="0" rIns="0" bIns="0" rtlCol="0" anchor="ctr"/>
          <a:lstStyle/>
          <a:p>
            <a:pPr indent="0" marL="0">
              <a:buNone/>
            </a:pPr>
            <a:r>
              <a:rPr lang="en-US" sz="4000" b="1" dirty="0">
                <a:solidFill>
                  <a:srgbClr val="FFFFFF"/>
                </a:solidFill>
                <a:latin typeface="Georgia" pitchFamily="34" charset="0"/>
                <a:ea typeface="Georgia" pitchFamily="34" charset="-122"/>
                <a:cs typeface="Georgia" pitchFamily="34" charset="-120"/>
              </a:rPr>
              <a:t>C6.1  Acids and salts</a:t>
            </a:r>
            <a:endParaRPr lang="en-US" sz="4000" dirty="0"/>
          </a:p>
        </p:txBody>
      </p:sp>
      <p:sp>
        <p:nvSpPr>
          <p:cNvPr id="7" name="Text 5"/>
          <p:cNvSpPr/>
          <p:nvPr/>
        </p:nvSpPr>
        <p:spPr>
          <a:xfrm>
            <a:off x="731520" y="2377440"/>
            <a:ext cx="7863840" cy="457200"/>
          </a:xfrm>
          <a:prstGeom prst="rect">
            <a:avLst/>
          </a:prstGeom>
          <a:noFill/>
          <a:ln/>
        </p:spPr>
        <p:txBody>
          <a:bodyPr wrap="square" lIns="0" tIns="0" rIns="0" bIns="0" rtlCol="0" anchor="ctr"/>
          <a:lstStyle/>
          <a:p>
            <a:pPr indent="0" marL="0">
              <a:buNone/>
            </a:pPr>
            <a:r>
              <a:rPr lang="en-US" sz="1800" i="1" dirty="0">
                <a:solidFill>
                  <a:srgbClr val="DCCDF3"/>
                </a:solidFill>
                <a:latin typeface="Georgia" pitchFamily="34" charset="0"/>
                <a:ea typeface="Georgia" pitchFamily="34" charset="-122"/>
                <a:cs typeface="Georgia" pitchFamily="34" charset="-120"/>
              </a:rPr>
              <a:t>What useful products can be made from acids?</a:t>
            </a:r>
            <a:endParaRPr lang="en-US" sz="1800" dirty="0"/>
          </a:p>
        </p:txBody>
      </p:sp>
      <p:sp>
        <p:nvSpPr>
          <p:cNvPr id="8" name="Shape 6"/>
          <p:cNvSpPr/>
          <p:nvPr/>
        </p:nvSpPr>
        <p:spPr>
          <a:xfrm>
            <a:off x="731520" y="3017520"/>
            <a:ext cx="2011680" cy="0"/>
          </a:xfrm>
          <a:prstGeom prst="line">
            <a:avLst/>
          </a:prstGeom>
          <a:noFill/>
          <a:ln w="31750">
            <a:solidFill>
              <a:srgbClr val="F5A742"/>
            </a:solidFill>
            <a:prstDash val="solid"/>
          </a:ln>
        </p:spPr>
      </p:sp>
      <p:sp>
        <p:nvSpPr>
          <p:cNvPr id="9" name="Text 7"/>
          <p:cNvSpPr/>
          <p:nvPr/>
        </p:nvSpPr>
        <p:spPr>
          <a:xfrm>
            <a:off x="731520" y="3154680"/>
            <a:ext cx="8046720" cy="365760"/>
          </a:xfrm>
          <a:prstGeom prst="rect">
            <a:avLst/>
          </a:prstGeom>
          <a:noFill/>
          <a:ln/>
        </p:spPr>
        <p:txBody>
          <a:bodyPr wrap="square" lIns="0" tIns="0" rIns="0" bIns="0" rtlCol="0" anchor="ctr"/>
          <a:lstStyle/>
          <a:p>
            <a:pPr indent="0" marL="0">
              <a:buNone/>
            </a:pPr>
            <a:r>
              <a:rPr lang="en-US" sz="1300" dirty="0">
                <a:solidFill>
                  <a:srgbClr val="E4DAF5"/>
                </a:solidFill>
                <a:latin typeface="Calibri" pitchFamily="34" charset="0"/>
                <a:ea typeface="Calibri" pitchFamily="34" charset="-122"/>
                <a:cs typeface="Calibri" pitchFamily="34" charset="-120"/>
              </a:rPr>
              <a:t>Acid  •  Alkali  •  Salt  •  Neutralisation  •  pH  •  Strong and weak acids</a:t>
            </a:r>
            <a:endParaRPr lang="en-US" sz="1300" dirty="0"/>
          </a:p>
        </p:txBody>
      </p:sp>
      <p:sp>
        <p:nvSpPr>
          <p:cNvPr id="10" name="Shape 8"/>
          <p:cNvSpPr/>
          <p:nvPr/>
        </p:nvSpPr>
        <p:spPr>
          <a:xfrm>
            <a:off x="731520" y="3886200"/>
            <a:ext cx="457200" cy="457200"/>
          </a:xfrm>
          <a:prstGeom prst="ellipse">
            <a:avLst/>
          </a:prstGeom>
          <a:solidFill>
            <a:srgbClr val="7A52B3"/>
          </a:solidFill>
          <a:ln w="12700">
            <a:solidFill>
              <a:srgbClr val="CDB8F0"/>
            </a:solidFill>
            <a:prstDash val="solid"/>
          </a:ln>
        </p:spPr>
      </p:sp>
      <p:sp>
        <p:nvSpPr>
          <p:cNvPr id="11" name="Text 9"/>
          <p:cNvSpPr/>
          <p:nvPr/>
        </p:nvSpPr>
        <p:spPr>
          <a:xfrm>
            <a:off x="731520" y="388620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12" name="Text 10"/>
          <p:cNvSpPr/>
          <p:nvPr/>
        </p:nvSpPr>
        <p:spPr>
          <a:xfrm>
            <a:off x="1371600" y="3886200"/>
            <a:ext cx="6949440" cy="45720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Specification C6.1.1–C6.1.8 • reactions of acids, pH, neutralisation, salts and their uses</a:t>
            </a:r>
            <a:endParaRPr lang="en-US" sz="1400" dirty="0"/>
          </a:p>
        </p:txBody>
      </p:sp>
      <p:sp>
        <p:nvSpPr>
          <p:cNvPr id="13" name="Shape 11"/>
          <p:cNvSpPr/>
          <p:nvPr/>
        </p:nvSpPr>
        <p:spPr>
          <a:xfrm>
            <a:off x="731520" y="4507992"/>
            <a:ext cx="457200" cy="457200"/>
          </a:xfrm>
          <a:prstGeom prst="ellipse">
            <a:avLst/>
          </a:prstGeom>
          <a:solidFill>
            <a:srgbClr val="7A52B3"/>
          </a:solidFill>
          <a:ln w="12700">
            <a:solidFill>
              <a:srgbClr val="CDB8F0"/>
            </a:solidFill>
            <a:prstDash val="solid"/>
          </a:ln>
        </p:spPr>
      </p:sp>
      <p:sp>
        <p:nvSpPr>
          <p:cNvPr id="14" name="Text 12"/>
          <p:cNvSpPr/>
          <p:nvPr/>
        </p:nvSpPr>
        <p:spPr>
          <a:xfrm>
            <a:off x="731520" y="4507992"/>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H</a:t>
            </a:r>
            <a:endParaRPr lang="en-US" sz="1500" dirty="0"/>
          </a:p>
        </p:txBody>
      </p:sp>
      <p:sp>
        <p:nvSpPr>
          <p:cNvPr id="15" name="Text 13"/>
          <p:cNvSpPr/>
          <p:nvPr/>
        </p:nvSpPr>
        <p:spPr>
          <a:xfrm>
            <a:off x="1371600" y="4507992"/>
            <a:ext cx="6949440" cy="45720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Higher &amp; Foundation in one deck • redox, strong and weak acids and the pH factor of ten marked HT</a:t>
            </a:r>
            <a:endParaRPr lang="en-US" sz="1400" dirty="0"/>
          </a:p>
        </p:txBody>
      </p:sp>
      <p:sp>
        <p:nvSpPr>
          <p:cNvPr id="16" name="Shape 14"/>
          <p:cNvSpPr/>
          <p:nvPr/>
        </p:nvSpPr>
        <p:spPr>
          <a:xfrm>
            <a:off x="731520" y="5129784"/>
            <a:ext cx="457200" cy="457200"/>
          </a:xfrm>
          <a:prstGeom prst="ellipse">
            <a:avLst/>
          </a:prstGeom>
          <a:solidFill>
            <a:srgbClr val="7A52B3"/>
          </a:solidFill>
          <a:ln w="12700">
            <a:solidFill>
              <a:srgbClr val="CDB8F0"/>
            </a:solidFill>
            <a:prstDash val="solid"/>
          </a:ln>
        </p:spPr>
      </p:sp>
      <p:sp>
        <p:nvSpPr>
          <p:cNvPr id="17" name="Text 15"/>
          <p:cNvSpPr/>
          <p:nvPr/>
        </p:nvSpPr>
        <p:spPr>
          <a:xfrm>
            <a:off x="731520" y="5129784"/>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alibri" pitchFamily="34" charset="0"/>
                <a:ea typeface="Calibri" pitchFamily="34" charset="-122"/>
                <a:cs typeface="Calibri" pitchFamily="34" charset="-120"/>
              </a:rPr>
              <a:t>▲</a:t>
            </a:r>
            <a:endParaRPr lang="en-US" sz="1500" dirty="0"/>
          </a:p>
        </p:txBody>
      </p:sp>
      <p:sp>
        <p:nvSpPr>
          <p:cNvPr id="18" name="Text 16"/>
          <p:cNvSpPr/>
          <p:nvPr/>
        </p:nvSpPr>
        <p:spPr>
          <a:xfrm>
            <a:off x="1371600" y="5129784"/>
            <a:ext cx="6949440" cy="457200"/>
          </a:xfrm>
          <a:prstGeom prst="rect">
            <a:avLst/>
          </a:prstGeom>
          <a:noFill/>
          <a:ln/>
        </p:spPr>
        <p:txBody>
          <a:bodyPr wrap="square" lIns="0" tIns="0" rIns="0" bIns="0" rtlCol="0" anchor="ctr"/>
          <a:lstStyle/>
          <a:p>
            <a:pPr indent="0" marL="0">
              <a:buNone/>
            </a:pPr>
            <a:r>
              <a:rPr lang="en-US" sz="1400" dirty="0">
                <a:solidFill>
                  <a:srgbClr val="FFFFFF"/>
                </a:solidFill>
                <a:latin typeface="Calibri" pitchFamily="34" charset="0"/>
                <a:ea typeface="Calibri" pitchFamily="34" charset="-122"/>
                <a:cs typeface="Calibri" pitchFamily="34" charset="-120"/>
              </a:rPr>
              <a:t>PAG C4 production of salts: magnesium sulfate (Epsom salts) • every equation balance-checked</a:t>
            </a:r>
            <a:endParaRPr lang="en-US" sz="1400" dirty="0"/>
          </a:p>
        </p:txBody>
      </p:sp>
      <p:sp>
        <p:nvSpPr>
          <p:cNvPr id="19" name="Shape 17"/>
          <p:cNvSpPr/>
          <p:nvPr/>
        </p:nvSpPr>
        <p:spPr>
          <a:xfrm>
            <a:off x="731520" y="5769864"/>
            <a:ext cx="4800600" cy="365760"/>
          </a:xfrm>
          <a:prstGeom prst="roundRect">
            <a:avLst>
              <a:gd name="adj" fmla="val 50000"/>
            </a:avLst>
          </a:prstGeom>
          <a:solidFill>
            <a:srgbClr val="22133A"/>
          </a:solidFill>
          <a:ln w="15875">
            <a:solidFill>
              <a:srgbClr val="F5A742"/>
            </a:solidFill>
            <a:prstDash val="solid"/>
          </a:ln>
        </p:spPr>
      </p:sp>
      <p:sp>
        <p:nvSpPr>
          <p:cNvPr id="20" name="Text 18"/>
          <p:cNvSpPr/>
          <p:nvPr/>
        </p:nvSpPr>
        <p:spPr>
          <a:xfrm>
            <a:off x="731520" y="5769864"/>
            <a:ext cx="4800600" cy="365760"/>
          </a:xfrm>
          <a:prstGeom prst="rect">
            <a:avLst/>
          </a:prstGeom>
          <a:noFill/>
          <a:ln/>
        </p:spPr>
        <p:txBody>
          <a:bodyPr wrap="square" lIns="0" tIns="0" rIns="0" bIns="0" rtlCol="0" anchor="ctr"/>
          <a:lstStyle/>
          <a:p>
            <a:pPr algn="ctr" indent="0" marL="0">
              <a:buNone/>
            </a:pPr>
            <a:r>
              <a:rPr lang="en-US" sz="1200" b="1" dirty="0">
                <a:solidFill>
                  <a:srgbClr val="F5A742"/>
                </a:solidFill>
                <a:latin typeface="Calibri" pitchFamily="34" charset="0"/>
                <a:ea typeface="Calibri" pitchFamily="34" charset="-122"/>
                <a:cs typeface="Calibri" pitchFamily="34" charset="-120"/>
              </a:rPr>
              <a:t>Part 1 of 3 in Chapter C6: Making useful chemicals</a:t>
            </a:r>
            <a:endParaRPr lang="en-US" sz="1200" dirty="0"/>
          </a:p>
        </p:txBody>
      </p:sp>
      <p:sp>
        <p:nvSpPr>
          <p:cNvPr id="21" name="Text 19"/>
          <p:cNvSpPr/>
          <p:nvPr/>
        </p:nvSpPr>
        <p:spPr>
          <a:xfrm>
            <a:off x="731520" y="6172200"/>
            <a:ext cx="8229600" cy="274320"/>
          </a:xfrm>
          <a:prstGeom prst="rect">
            <a:avLst/>
          </a:prstGeom>
          <a:noFill/>
          <a:ln/>
        </p:spPr>
        <p:txBody>
          <a:bodyPr wrap="square" lIns="0" tIns="0" rIns="0" bIns="0" rtlCol="0" anchor="ctr"/>
          <a:lstStyle/>
          <a:p>
            <a:pPr indent="0" marL="0">
              <a:buNone/>
            </a:pPr>
            <a:r>
              <a:rPr lang="en-US" sz="1000" i="1" dirty="0">
                <a:solidFill>
                  <a:srgbClr val="DDD0F2"/>
                </a:solidFill>
                <a:latin typeface="Calibri" pitchFamily="34" charset="0"/>
                <a:ea typeface="Calibri" pitchFamily="34" charset="-122"/>
                <a:cs typeface="Calibri" pitchFamily="34" charset="-120"/>
              </a:rPr>
              <a:t>OCR J260 Combined Science B • C6.1 what useful products can be made from acids • teacher deck • mark schemes in the notes</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Learning objectives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Specification C6.1.1–C6.1.8 • by the end of this sub-topic you can…</a:t>
            </a:r>
            <a:endParaRPr lang="en-US" sz="1100" dirty="0"/>
          </a:p>
        </p:txBody>
      </p:sp>
      <p:sp>
        <p:nvSpPr>
          <p:cNvPr id="6" name="Text 4"/>
          <p:cNvSpPr/>
          <p:nvPr/>
        </p:nvSpPr>
        <p:spPr>
          <a:xfrm>
            <a:off x="411480" y="6473952"/>
            <a:ext cx="1014984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C6.1 What useful products can be made from acids?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Objectives  |  2</a:t>
            </a:r>
            <a:endParaRPr lang="en-US" sz="1000" dirty="0"/>
          </a:p>
        </p:txBody>
      </p:sp>
      <p:sp>
        <p:nvSpPr>
          <p:cNvPr id="8" name="Shape 6"/>
          <p:cNvSpPr/>
          <p:nvPr/>
        </p:nvSpPr>
        <p:spPr>
          <a:xfrm>
            <a:off x="502920" y="1325880"/>
            <a:ext cx="457200" cy="457200"/>
          </a:xfrm>
          <a:prstGeom prst="ellipse">
            <a:avLst/>
          </a:prstGeom>
          <a:solidFill>
            <a:srgbClr val="6A3FA0"/>
          </a:solidFill>
          <a:ln w="12700">
            <a:solidFill>
              <a:srgbClr val="6A3FA0"/>
            </a:solidFill>
            <a:prstDash val="solid"/>
          </a:ln>
        </p:spPr>
      </p:sp>
      <p:sp>
        <p:nvSpPr>
          <p:cNvPr id="9" name="Text 7"/>
          <p:cNvSpPr/>
          <p:nvPr/>
        </p:nvSpPr>
        <p:spPr>
          <a:xfrm>
            <a:off x="502920" y="13258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1</a:t>
            </a:r>
            <a:endParaRPr lang="en-US" sz="1600" dirty="0"/>
          </a:p>
        </p:txBody>
      </p:sp>
      <p:sp>
        <p:nvSpPr>
          <p:cNvPr id="10" name="Text 8"/>
          <p:cNvSpPr/>
          <p:nvPr/>
        </p:nvSpPr>
        <p:spPr>
          <a:xfrm>
            <a:off x="1097280" y="1280160"/>
            <a:ext cx="4572000" cy="777240"/>
          </a:xfrm>
          <a:prstGeom prst="rect">
            <a:avLst/>
          </a:prstGeom>
          <a:noFill/>
          <a:ln/>
        </p:spPr>
        <p:txBody>
          <a:bodyPr wrap="square" lIns="0" tIns="0" rIns="0" bIns="0" rtlCol="0" anchor="t"/>
          <a:lstStyle/>
          <a:p>
            <a:pPr indent="0" marL="0">
              <a:buNone/>
            </a:pPr>
            <a:r>
              <a:rPr lang="en-US" sz="1100" b="1" dirty="0">
                <a:solidFill>
                  <a:srgbClr val="6A3FA0"/>
                </a:solidFill>
                <a:latin typeface="Calibri" pitchFamily="34" charset="0"/>
                <a:ea typeface="Calibri" pitchFamily="34" charset="-122"/>
                <a:cs typeface="Calibri" pitchFamily="34" charset="-120"/>
              </a:rPr>
              <a:t>C6.1.1   </a:t>
            </a:r>
            <a:r>
              <a:rPr lang="en-US" sz="1200" dirty="0">
                <a:solidFill>
                  <a:srgbClr val="262B3A"/>
                </a:solidFill>
                <a:latin typeface="Calibri" pitchFamily="34" charset="0"/>
                <a:ea typeface="Calibri" pitchFamily="34" charset="-122"/>
                <a:cs typeface="Calibri" pitchFamily="34" charset="-120"/>
              </a:rPr>
              <a:t>Recall that acids react with some </a:t>
            </a:r>
            <a:r>
              <a:rPr lang="en-US" sz="1200" b="1" dirty="0">
                <a:solidFill>
                  <a:srgbClr val="262B3A"/>
                </a:solidFill>
                <a:latin typeface="Calibri" pitchFamily="34" charset="0"/>
                <a:ea typeface="Calibri" pitchFamily="34" charset="-122"/>
                <a:cs typeface="Calibri" pitchFamily="34" charset="-120"/>
              </a:rPr>
              <a:t>metals</a:t>
            </a:r>
            <a:r>
              <a:rPr lang="en-US" sz="1200" dirty="0">
                <a:solidFill>
                  <a:srgbClr val="262B3A"/>
                </a:solidFill>
                <a:latin typeface="Calibri" pitchFamily="34" charset="0"/>
                <a:ea typeface="Calibri" pitchFamily="34" charset="-122"/>
                <a:cs typeface="Calibri" pitchFamily="34" charset="-120"/>
              </a:rPr>
              <a:t> and with </a:t>
            </a:r>
            <a:r>
              <a:rPr lang="en-US" sz="1200" b="1" dirty="0">
                <a:solidFill>
                  <a:srgbClr val="262B3A"/>
                </a:solidFill>
                <a:latin typeface="Calibri" pitchFamily="34" charset="0"/>
                <a:ea typeface="Calibri" pitchFamily="34" charset="-122"/>
                <a:cs typeface="Calibri" pitchFamily="34" charset="-120"/>
              </a:rPr>
              <a:t>carbonates</a:t>
            </a:r>
            <a:r>
              <a:rPr lang="en-US" sz="1200" dirty="0">
                <a:solidFill>
                  <a:srgbClr val="262B3A"/>
                </a:solidFill>
                <a:latin typeface="Calibri" pitchFamily="34" charset="0"/>
                <a:ea typeface="Calibri" pitchFamily="34" charset="-122"/>
                <a:cs typeface="Calibri" pitchFamily="34" charset="-120"/>
              </a:rPr>
              <a:t>; write equations to </a:t>
            </a:r>
            <a:r>
              <a:rPr lang="en-US" sz="1200" b="1" dirty="0">
                <a:solidFill>
                  <a:srgbClr val="262B3A"/>
                </a:solidFill>
                <a:latin typeface="Calibri" pitchFamily="34" charset="0"/>
                <a:ea typeface="Calibri" pitchFamily="34" charset="-122"/>
                <a:cs typeface="Calibri" pitchFamily="34" charset="-120"/>
              </a:rPr>
              <a:t>predict the products</a:t>
            </a:r>
            <a:r>
              <a:rPr lang="en-US" sz="1200" dirty="0">
                <a:solidFill>
                  <a:srgbClr val="262B3A"/>
                </a:solidFill>
                <a:latin typeface="Calibri" pitchFamily="34" charset="0"/>
                <a:ea typeface="Calibri" pitchFamily="34" charset="-122"/>
                <a:cs typeface="Calibri" pitchFamily="34" charset="-120"/>
              </a:rPr>
              <a:t>.</a:t>
            </a:r>
            <a:endParaRPr lang="en-US" sz="1100" dirty="0"/>
          </a:p>
        </p:txBody>
      </p:sp>
      <p:sp>
        <p:nvSpPr>
          <p:cNvPr id="11" name="Shape 9"/>
          <p:cNvSpPr/>
          <p:nvPr/>
        </p:nvSpPr>
        <p:spPr>
          <a:xfrm>
            <a:off x="502920" y="2194560"/>
            <a:ext cx="457200" cy="457200"/>
          </a:xfrm>
          <a:prstGeom prst="ellipse">
            <a:avLst/>
          </a:prstGeom>
          <a:solidFill>
            <a:srgbClr val="6A3FA0"/>
          </a:solidFill>
          <a:ln w="12700">
            <a:solidFill>
              <a:srgbClr val="6A3FA0"/>
            </a:solidFill>
            <a:prstDash val="solid"/>
          </a:ln>
        </p:spPr>
      </p:sp>
      <p:sp>
        <p:nvSpPr>
          <p:cNvPr id="12" name="Text 10"/>
          <p:cNvSpPr/>
          <p:nvPr/>
        </p:nvSpPr>
        <p:spPr>
          <a:xfrm>
            <a:off x="502920" y="21945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2</a:t>
            </a:r>
            <a:endParaRPr lang="en-US" sz="1600" dirty="0"/>
          </a:p>
        </p:txBody>
      </p:sp>
      <p:sp>
        <p:nvSpPr>
          <p:cNvPr id="13" name="Text 11"/>
          <p:cNvSpPr/>
          <p:nvPr/>
        </p:nvSpPr>
        <p:spPr>
          <a:xfrm>
            <a:off x="1097280" y="2148840"/>
            <a:ext cx="4572000" cy="777240"/>
          </a:xfrm>
          <a:prstGeom prst="rect">
            <a:avLst/>
          </a:prstGeom>
          <a:noFill/>
          <a:ln/>
        </p:spPr>
        <p:txBody>
          <a:bodyPr wrap="square" lIns="0" tIns="0" rIns="0" bIns="0" rtlCol="0" anchor="t"/>
          <a:lstStyle/>
          <a:p>
            <a:pPr indent="0" marL="0">
              <a:buNone/>
            </a:pPr>
            <a:r>
              <a:rPr lang="en-US" sz="1100" b="1" dirty="0">
                <a:solidFill>
                  <a:srgbClr val="6A3FA0"/>
                </a:solidFill>
                <a:latin typeface="Calibri" pitchFamily="34" charset="0"/>
                <a:ea typeface="Calibri" pitchFamily="34" charset="-122"/>
                <a:cs typeface="Calibri" pitchFamily="34" charset="-120"/>
              </a:rPr>
              <a:t>C6.1.2   </a:t>
            </a:r>
            <a:r>
              <a:rPr lang="en-US" sz="1200" dirty="0">
                <a:solidFill>
                  <a:srgbClr val="262B3A"/>
                </a:solidFill>
                <a:latin typeface="Calibri" pitchFamily="34" charset="0"/>
                <a:ea typeface="Calibri" pitchFamily="34" charset="-122"/>
                <a:cs typeface="Calibri" pitchFamily="34" charset="-120"/>
              </a:rPr>
              <a:t>Describe </a:t>
            </a:r>
            <a:r>
              <a:rPr lang="en-US" sz="1200" b="1" dirty="0">
                <a:solidFill>
                  <a:srgbClr val="262B3A"/>
                </a:solidFill>
                <a:latin typeface="Calibri" pitchFamily="34" charset="0"/>
                <a:ea typeface="Calibri" pitchFamily="34" charset="-122"/>
                <a:cs typeface="Calibri" pitchFamily="34" charset="-120"/>
              </a:rPr>
              <a:t>neutralisation</a:t>
            </a:r>
            <a:r>
              <a:rPr lang="en-US" sz="1200" dirty="0">
                <a:solidFill>
                  <a:srgbClr val="262B3A"/>
                </a:solidFill>
                <a:latin typeface="Calibri" pitchFamily="34" charset="0"/>
                <a:ea typeface="Calibri" pitchFamily="34" charset="-122"/>
                <a:cs typeface="Calibri" pitchFamily="34" charset="-120"/>
              </a:rPr>
              <a:t>: acid + alkali or base → </a:t>
            </a:r>
            <a:r>
              <a:rPr lang="en-US" sz="1200" b="1" dirty="0">
                <a:solidFill>
                  <a:srgbClr val="262B3A"/>
                </a:solidFill>
                <a:latin typeface="Calibri" pitchFamily="34" charset="0"/>
                <a:ea typeface="Calibri" pitchFamily="34" charset="-122"/>
                <a:cs typeface="Calibri" pitchFamily="34" charset="-120"/>
              </a:rPr>
              <a:t>salt + water</a:t>
            </a:r>
            <a:r>
              <a:rPr lang="en-US" sz="1200" dirty="0">
                <a:solidFill>
                  <a:srgbClr val="262B3A"/>
                </a:solidFill>
                <a:latin typeface="Calibri" pitchFamily="34" charset="0"/>
                <a:ea typeface="Calibri" pitchFamily="34" charset="-122"/>
                <a:cs typeface="Calibri" pitchFamily="34" charset="-120"/>
              </a:rPr>
              <a:t>; name salts and work out their </a:t>
            </a:r>
            <a:r>
              <a:rPr lang="en-US" sz="1200" b="1" dirty="0">
                <a:solidFill>
                  <a:srgbClr val="262B3A"/>
                </a:solidFill>
                <a:latin typeface="Calibri" pitchFamily="34" charset="0"/>
                <a:ea typeface="Calibri" pitchFamily="34" charset="-122"/>
                <a:cs typeface="Calibri" pitchFamily="34" charset="-120"/>
              </a:rPr>
              <a:t>formulae</a:t>
            </a:r>
            <a:r>
              <a:rPr lang="en-US" sz="1200" dirty="0">
                <a:solidFill>
                  <a:srgbClr val="262B3A"/>
                </a:solidFill>
                <a:latin typeface="Calibri" pitchFamily="34" charset="0"/>
                <a:ea typeface="Calibri" pitchFamily="34" charset="-122"/>
                <a:cs typeface="Calibri" pitchFamily="34" charset="-120"/>
              </a:rPr>
              <a:t>.</a:t>
            </a:r>
            <a:endParaRPr lang="en-US" sz="1100" dirty="0"/>
          </a:p>
        </p:txBody>
      </p:sp>
      <p:sp>
        <p:nvSpPr>
          <p:cNvPr id="14" name="Shape 12"/>
          <p:cNvSpPr/>
          <p:nvPr/>
        </p:nvSpPr>
        <p:spPr>
          <a:xfrm>
            <a:off x="502920" y="3063240"/>
            <a:ext cx="457200" cy="457200"/>
          </a:xfrm>
          <a:prstGeom prst="ellipse">
            <a:avLst/>
          </a:prstGeom>
          <a:solidFill>
            <a:srgbClr val="6A3FA0"/>
          </a:solidFill>
          <a:ln w="12700">
            <a:solidFill>
              <a:srgbClr val="6A3FA0"/>
            </a:solidFill>
            <a:prstDash val="solid"/>
          </a:ln>
        </p:spPr>
      </p:sp>
      <p:sp>
        <p:nvSpPr>
          <p:cNvPr id="15" name="Text 13"/>
          <p:cNvSpPr/>
          <p:nvPr/>
        </p:nvSpPr>
        <p:spPr>
          <a:xfrm>
            <a:off x="502920" y="30632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3</a:t>
            </a:r>
            <a:endParaRPr lang="en-US" sz="1600" dirty="0"/>
          </a:p>
        </p:txBody>
      </p:sp>
      <p:sp>
        <p:nvSpPr>
          <p:cNvPr id="16" name="Text 14"/>
          <p:cNvSpPr/>
          <p:nvPr/>
        </p:nvSpPr>
        <p:spPr>
          <a:xfrm>
            <a:off x="1097280" y="3017520"/>
            <a:ext cx="4572000" cy="777240"/>
          </a:xfrm>
          <a:prstGeom prst="rect">
            <a:avLst/>
          </a:prstGeom>
          <a:noFill/>
          <a:ln/>
        </p:spPr>
        <p:txBody>
          <a:bodyPr wrap="square" lIns="0" tIns="0" rIns="0" bIns="0" rtlCol="0" anchor="t"/>
          <a:lstStyle/>
          <a:p>
            <a:pPr indent="0" marL="0">
              <a:buNone/>
            </a:pPr>
            <a:r>
              <a:rPr lang="en-US" sz="1100" b="1" dirty="0">
                <a:solidFill>
                  <a:srgbClr val="6A3FA0"/>
                </a:solidFill>
                <a:latin typeface="Calibri" pitchFamily="34" charset="0"/>
                <a:ea typeface="Calibri" pitchFamily="34" charset="-122"/>
                <a:cs typeface="Calibri" pitchFamily="34" charset="-120"/>
              </a:rPr>
              <a:t>C6.1.3   </a:t>
            </a:r>
            <a:r>
              <a:rPr lang="en-US" sz="1200" dirty="0">
                <a:solidFill>
                  <a:srgbClr val="262B3A"/>
                </a:solidFill>
                <a:latin typeface="Calibri" pitchFamily="34" charset="0"/>
                <a:ea typeface="Calibri" pitchFamily="34" charset="-122"/>
                <a:cs typeface="Calibri" pitchFamily="34" charset="-120"/>
              </a:rPr>
              <a:t>Recall that acids form </a:t>
            </a:r>
            <a:r>
              <a:rPr lang="en-US" sz="1200" b="1" dirty="0">
                <a:solidFill>
                  <a:srgbClr val="262B3A"/>
                </a:solidFill>
                <a:latin typeface="Calibri" pitchFamily="34" charset="0"/>
                <a:ea typeface="Calibri" pitchFamily="34" charset="-122"/>
                <a:cs typeface="Calibri" pitchFamily="34" charset="-120"/>
              </a:rPr>
              <a:t>H⁺ ions</a:t>
            </a:r>
            <a:r>
              <a:rPr lang="en-US" sz="1200" dirty="0">
                <a:solidFill>
                  <a:srgbClr val="262B3A"/>
                </a:solidFill>
                <a:latin typeface="Calibri" pitchFamily="34" charset="0"/>
                <a:ea typeface="Calibri" pitchFamily="34" charset="-122"/>
                <a:cs typeface="Calibri" pitchFamily="34" charset="-120"/>
              </a:rPr>
              <a:t> in water and alkalis form </a:t>
            </a:r>
            <a:r>
              <a:rPr lang="en-US" sz="1200" b="1" dirty="0">
                <a:solidFill>
                  <a:srgbClr val="262B3A"/>
                </a:solidFill>
                <a:latin typeface="Calibri" pitchFamily="34" charset="0"/>
                <a:ea typeface="Calibri" pitchFamily="34" charset="-122"/>
                <a:cs typeface="Calibri" pitchFamily="34" charset="-120"/>
              </a:rPr>
              <a:t>OH⁻ ions</a:t>
            </a:r>
            <a:r>
              <a:rPr lang="en-US" sz="1200" dirty="0">
                <a:solidFill>
                  <a:srgbClr val="262B3A"/>
                </a:solidFill>
                <a:latin typeface="Calibri" pitchFamily="34" charset="0"/>
                <a:ea typeface="Calibri" pitchFamily="34" charset="-122"/>
                <a:cs typeface="Calibri" pitchFamily="34" charset="-120"/>
              </a:rPr>
              <a:t>; </a:t>
            </a:r>
            <a:r>
              <a:rPr lang="en-US" sz="1200" b="1" dirty="0">
                <a:solidFill>
                  <a:srgbClr val="262B3A"/>
                </a:solidFill>
                <a:latin typeface="Calibri" pitchFamily="34" charset="0"/>
                <a:ea typeface="Calibri" pitchFamily="34" charset="-122"/>
                <a:cs typeface="Calibri" pitchFamily="34" charset="-120"/>
              </a:rPr>
              <a:t>H⁺ + OH⁻ → H₂O</a:t>
            </a:r>
            <a:r>
              <a:rPr lang="en-US" sz="1200" dirty="0">
                <a:solidFill>
                  <a:srgbClr val="262B3A"/>
                </a:solidFill>
                <a:latin typeface="Calibri" pitchFamily="34" charset="0"/>
                <a:ea typeface="Calibri" pitchFamily="34" charset="-122"/>
                <a:cs typeface="Calibri" pitchFamily="34" charset="-120"/>
              </a:rPr>
              <a:t>.</a:t>
            </a:r>
            <a:endParaRPr lang="en-US" sz="1100" dirty="0"/>
          </a:p>
        </p:txBody>
      </p:sp>
      <p:sp>
        <p:nvSpPr>
          <p:cNvPr id="17" name="Shape 15"/>
          <p:cNvSpPr/>
          <p:nvPr/>
        </p:nvSpPr>
        <p:spPr>
          <a:xfrm>
            <a:off x="502920" y="3931920"/>
            <a:ext cx="457200" cy="457200"/>
          </a:xfrm>
          <a:prstGeom prst="ellipse">
            <a:avLst/>
          </a:prstGeom>
          <a:solidFill>
            <a:srgbClr val="6A3FA0"/>
          </a:solidFill>
          <a:ln w="12700">
            <a:solidFill>
              <a:srgbClr val="6A3FA0"/>
            </a:solidFill>
            <a:prstDash val="solid"/>
          </a:ln>
        </p:spPr>
      </p:sp>
      <p:sp>
        <p:nvSpPr>
          <p:cNvPr id="18" name="Text 16"/>
          <p:cNvSpPr/>
          <p:nvPr/>
        </p:nvSpPr>
        <p:spPr>
          <a:xfrm>
            <a:off x="502920" y="39319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4</a:t>
            </a:r>
            <a:endParaRPr lang="en-US" sz="1600" dirty="0"/>
          </a:p>
        </p:txBody>
      </p:sp>
      <p:sp>
        <p:nvSpPr>
          <p:cNvPr id="19" name="Text 17"/>
          <p:cNvSpPr/>
          <p:nvPr/>
        </p:nvSpPr>
        <p:spPr>
          <a:xfrm>
            <a:off x="1097280" y="3886200"/>
            <a:ext cx="4572000" cy="777240"/>
          </a:xfrm>
          <a:prstGeom prst="rect">
            <a:avLst/>
          </a:prstGeom>
          <a:noFill/>
          <a:ln/>
        </p:spPr>
        <p:txBody>
          <a:bodyPr wrap="square" lIns="0" tIns="0" rIns="0" bIns="0" rtlCol="0" anchor="t"/>
          <a:lstStyle/>
          <a:p>
            <a:pPr indent="0" marL="0">
              <a:buNone/>
            </a:pPr>
            <a:r>
              <a:rPr lang="en-US" sz="1100" b="1" dirty="0">
                <a:solidFill>
                  <a:srgbClr val="6A3FA0"/>
                </a:solidFill>
                <a:latin typeface="Calibri" pitchFamily="34" charset="0"/>
                <a:ea typeface="Calibri" pitchFamily="34" charset="-122"/>
                <a:cs typeface="Calibri" pitchFamily="34" charset="-120"/>
              </a:rPr>
              <a:t>C6.1.4   </a:t>
            </a:r>
            <a:r>
              <a:rPr lang="en-US" sz="1200" dirty="0">
                <a:solidFill>
                  <a:srgbClr val="262B3A"/>
                </a:solidFill>
                <a:latin typeface="Calibri" pitchFamily="34" charset="0"/>
                <a:ea typeface="Calibri" pitchFamily="34" charset="-122"/>
                <a:cs typeface="Calibri" pitchFamily="34" charset="-120"/>
              </a:rPr>
              <a:t>Recall that acidity and alkalinity are measured by </a:t>
            </a:r>
            <a:r>
              <a:rPr lang="en-US" sz="1200" b="1" dirty="0">
                <a:solidFill>
                  <a:srgbClr val="262B3A"/>
                </a:solidFill>
                <a:latin typeface="Calibri" pitchFamily="34" charset="0"/>
                <a:ea typeface="Calibri" pitchFamily="34" charset="-122"/>
                <a:cs typeface="Calibri" pitchFamily="34" charset="-120"/>
              </a:rPr>
              <a:t>pH</a:t>
            </a:r>
            <a:r>
              <a:rPr lang="en-US" sz="1200" dirty="0">
                <a:solidFill>
                  <a:srgbClr val="262B3A"/>
                </a:solidFill>
                <a:latin typeface="Calibri" pitchFamily="34" charset="0"/>
                <a:ea typeface="Calibri" pitchFamily="34" charset="-122"/>
                <a:cs typeface="Calibri" pitchFamily="34" charset="-120"/>
              </a:rPr>
              <a:t>, using </a:t>
            </a:r>
            <a:r>
              <a:rPr lang="en-US" sz="1200" b="1" dirty="0">
                <a:solidFill>
                  <a:srgbClr val="262B3A"/>
                </a:solidFill>
                <a:latin typeface="Calibri" pitchFamily="34" charset="0"/>
                <a:ea typeface="Calibri" pitchFamily="34" charset="-122"/>
                <a:cs typeface="Calibri" pitchFamily="34" charset="-120"/>
              </a:rPr>
              <a:t>universal indicator</a:t>
            </a:r>
            <a:r>
              <a:rPr lang="en-US" sz="1200" dirty="0">
                <a:solidFill>
                  <a:srgbClr val="262B3A"/>
                </a:solidFill>
                <a:latin typeface="Calibri" pitchFamily="34" charset="0"/>
                <a:ea typeface="Calibri" pitchFamily="34" charset="-122"/>
                <a:cs typeface="Calibri" pitchFamily="34" charset="-120"/>
              </a:rPr>
              <a:t> and </a:t>
            </a:r>
            <a:r>
              <a:rPr lang="en-US" sz="1200" b="1" dirty="0">
                <a:solidFill>
                  <a:srgbClr val="262B3A"/>
                </a:solidFill>
                <a:latin typeface="Calibri" pitchFamily="34" charset="0"/>
                <a:ea typeface="Calibri" pitchFamily="34" charset="-122"/>
                <a:cs typeface="Calibri" pitchFamily="34" charset="-120"/>
              </a:rPr>
              <a:t>pH meters</a:t>
            </a:r>
            <a:r>
              <a:rPr lang="en-US" sz="1200" dirty="0">
                <a:solidFill>
                  <a:srgbClr val="262B3A"/>
                </a:solidFill>
                <a:latin typeface="Calibri" pitchFamily="34" charset="0"/>
                <a:ea typeface="Calibri" pitchFamily="34" charset="-122"/>
                <a:cs typeface="Calibri" pitchFamily="34" charset="-120"/>
              </a:rPr>
              <a:t>.</a:t>
            </a:r>
            <a:endParaRPr lang="en-US" sz="1100" dirty="0"/>
          </a:p>
        </p:txBody>
      </p:sp>
      <p:sp>
        <p:nvSpPr>
          <p:cNvPr id="20" name="Shape 18"/>
          <p:cNvSpPr/>
          <p:nvPr/>
        </p:nvSpPr>
        <p:spPr>
          <a:xfrm>
            <a:off x="6263640" y="1325880"/>
            <a:ext cx="457200" cy="457200"/>
          </a:xfrm>
          <a:prstGeom prst="ellipse">
            <a:avLst/>
          </a:prstGeom>
          <a:solidFill>
            <a:srgbClr val="6A3FA0"/>
          </a:solidFill>
          <a:ln w="12700">
            <a:solidFill>
              <a:srgbClr val="6A3FA0"/>
            </a:solidFill>
            <a:prstDash val="solid"/>
          </a:ln>
        </p:spPr>
      </p:sp>
      <p:sp>
        <p:nvSpPr>
          <p:cNvPr id="21" name="Text 19"/>
          <p:cNvSpPr/>
          <p:nvPr/>
        </p:nvSpPr>
        <p:spPr>
          <a:xfrm>
            <a:off x="6263640" y="132588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5</a:t>
            </a:r>
            <a:endParaRPr lang="en-US" sz="1600" dirty="0"/>
          </a:p>
        </p:txBody>
      </p:sp>
      <p:sp>
        <p:nvSpPr>
          <p:cNvPr id="22" name="Text 20"/>
          <p:cNvSpPr/>
          <p:nvPr/>
        </p:nvSpPr>
        <p:spPr>
          <a:xfrm>
            <a:off x="6858000" y="1280160"/>
            <a:ext cx="4572000" cy="777240"/>
          </a:xfrm>
          <a:prstGeom prst="rect">
            <a:avLst/>
          </a:prstGeom>
          <a:noFill/>
          <a:ln/>
        </p:spPr>
        <p:txBody>
          <a:bodyPr wrap="square" lIns="0" tIns="0" rIns="0" bIns="0" rtlCol="0" anchor="t"/>
          <a:lstStyle/>
          <a:p>
            <a:pPr indent="0" marL="0">
              <a:buNone/>
            </a:pPr>
            <a:r>
              <a:rPr lang="en-US" sz="1100" b="1" dirty="0">
                <a:solidFill>
                  <a:srgbClr val="6A3FA0"/>
                </a:solidFill>
                <a:latin typeface="Calibri" pitchFamily="34" charset="0"/>
                <a:ea typeface="Calibri" pitchFamily="34" charset="-122"/>
                <a:cs typeface="Calibri" pitchFamily="34" charset="-120"/>
              </a:rPr>
              <a:t>C6.1.5   </a:t>
            </a:r>
            <a:r>
              <a:rPr lang="en-US" sz="1200" dirty="0">
                <a:solidFill>
                  <a:srgbClr val="262B3A"/>
                </a:solidFill>
                <a:latin typeface="Calibri" pitchFamily="34" charset="0"/>
                <a:ea typeface="Calibri" pitchFamily="34" charset="-122"/>
                <a:cs typeface="Calibri" pitchFamily="34" charset="-120"/>
              </a:rPr>
              <a:t>Use the terms </a:t>
            </a:r>
            <a:r>
              <a:rPr lang="en-US" sz="1200" b="1" dirty="0">
                <a:solidFill>
                  <a:srgbClr val="262B3A"/>
                </a:solidFill>
                <a:latin typeface="Calibri" pitchFamily="34" charset="0"/>
                <a:ea typeface="Calibri" pitchFamily="34" charset="-122"/>
                <a:cs typeface="Calibri" pitchFamily="34" charset="-120"/>
              </a:rPr>
              <a:t>dilute / concentrated</a:t>
            </a:r>
            <a:r>
              <a:rPr lang="en-US" sz="1200" dirty="0">
                <a:solidFill>
                  <a:srgbClr val="262B3A"/>
                </a:solidFill>
                <a:latin typeface="Calibri" pitchFamily="34" charset="0"/>
                <a:ea typeface="Calibri" pitchFamily="34" charset="-122"/>
                <a:cs typeface="Calibri" pitchFamily="34" charset="-120"/>
              </a:rPr>
              <a:t> and </a:t>
            </a:r>
            <a:r>
              <a:rPr lang="en-US" sz="1200" b="1" dirty="0">
                <a:solidFill>
                  <a:srgbClr val="262B3A"/>
                </a:solidFill>
                <a:latin typeface="Calibri" pitchFamily="34" charset="0"/>
                <a:ea typeface="Calibri" pitchFamily="34" charset="-122"/>
                <a:cs typeface="Calibri" pitchFamily="34" charset="-120"/>
              </a:rPr>
              <a:t>weak / strong</a:t>
            </a:r>
            <a:r>
              <a:rPr lang="en-US" sz="1200" dirty="0">
                <a:solidFill>
                  <a:srgbClr val="262B3A"/>
                </a:solidFill>
                <a:latin typeface="Calibri" pitchFamily="34" charset="0"/>
                <a:ea typeface="Calibri" pitchFamily="34" charset="-122"/>
                <a:cs typeface="Calibri" pitchFamily="34" charset="-120"/>
              </a:rPr>
              <a:t> for acids, including reactivity.</a:t>
            </a:r>
            <a:endParaRPr lang="en-US" sz="1100" dirty="0"/>
          </a:p>
        </p:txBody>
      </p:sp>
      <p:sp>
        <p:nvSpPr>
          <p:cNvPr id="23" name="Shape 21"/>
          <p:cNvSpPr/>
          <p:nvPr/>
        </p:nvSpPr>
        <p:spPr>
          <a:xfrm>
            <a:off x="11018520" y="1764792"/>
            <a:ext cx="411480" cy="274320"/>
          </a:xfrm>
          <a:prstGeom prst="roundRect">
            <a:avLst>
              <a:gd name="adj" fmla="val 50000"/>
            </a:avLst>
          </a:prstGeom>
          <a:solidFill>
            <a:srgbClr val="C8414C"/>
          </a:solidFill>
          <a:ln w="12700">
            <a:solidFill>
              <a:srgbClr val="C8414C"/>
            </a:solidFill>
            <a:prstDash val="solid"/>
          </a:ln>
        </p:spPr>
      </p:sp>
      <p:sp>
        <p:nvSpPr>
          <p:cNvPr id="24" name="Text 22"/>
          <p:cNvSpPr/>
          <p:nvPr/>
        </p:nvSpPr>
        <p:spPr>
          <a:xfrm>
            <a:off x="11018520" y="1764792"/>
            <a:ext cx="4114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25" name="Shape 23"/>
          <p:cNvSpPr/>
          <p:nvPr/>
        </p:nvSpPr>
        <p:spPr>
          <a:xfrm>
            <a:off x="6263640" y="2194560"/>
            <a:ext cx="457200" cy="457200"/>
          </a:xfrm>
          <a:prstGeom prst="ellipse">
            <a:avLst/>
          </a:prstGeom>
          <a:solidFill>
            <a:srgbClr val="6A3FA0"/>
          </a:solidFill>
          <a:ln w="12700">
            <a:solidFill>
              <a:srgbClr val="6A3FA0"/>
            </a:solidFill>
            <a:prstDash val="solid"/>
          </a:ln>
        </p:spPr>
      </p:sp>
      <p:sp>
        <p:nvSpPr>
          <p:cNvPr id="26" name="Text 24"/>
          <p:cNvSpPr/>
          <p:nvPr/>
        </p:nvSpPr>
        <p:spPr>
          <a:xfrm>
            <a:off x="6263640" y="219456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6</a:t>
            </a:r>
            <a:endParaRPr lang="en-US" sz="1600" dirty="0"/>
          </a:p>
        </p:txBody>
      </p:sp>
      <p:sp>
        <p:nvSpPr>
          <p:cNvPr id="27" name="Text 25"/>
          <p:cNvSpPr/>
          <p:nvPr/>
        </p:nvSpPr>
        <p:spPr>
          <a:xfrm>
            <a:off x="6858000" y="2148840"/>
            <a:ext cx="4572000" cy="777240"/>
          </a:xfrm>
          <a:prstGeom prst="rect">
            <a:avLst/>
          </a:prstGeom>
          <a:noFill/>
          <a:ln/>
        </p:spPr>
        <p:txBody>
          <a:bodyPr wrap="square" lIns="0" tIns="0" rIns="0" bIns="0" rtlCol="0" anchor="t"/>
          <a:lstStyle/>
          <a:p>
            <a:pPr indent="0" marL="0">
              <a:buNone/>
            </a:pPr>
            <a:r>
              <a:rPr lang="en-US" sz="1100" b="1" dirty="0">
                <a:solidFill>
                  <a:srgbClr val="6A3FA0"/>
                </a:solidFill>
                <a:latin typeface="Calibri" pitchFamily="34" charset="0"/>
                <a:ea typeface="Calibri" pitchFamily="34" charset="-122"/>
                <a:cs typeface="Calibri" pitchFamily="34" charset="-120"/>
              </a:rPr>
              <a:t>C6.1.6   </a:t>
            </a:r>
            <a:r>
              <a:rPr lang="en-US" sz="1200" dirty="0">
                <a:solidFill>
                  <a:srgbClr val="262B3A"/>
                </a:solidFill>
                <a:latin typeface="Calibri" pitchFamily="34" charset="0"/>
                <a:ea typeface="Calibri" pitchFamily="34" charset="-122"/>
                <a:cs typeface="Calibri" pitchFamily="34" charset="-120"/>
              </a:rPr>
              <a:t>Use the idea that when [H⁺] rises by a </a:t>
            </a:r>
            <a:r>
              <a:rPr lang="en-US" sz="1200" b="1" dirty="0">
                <a:solidFill>
                  <a:srgbClr val="262B3A"/>
                </a:solidFill>
                <a:latin typeface="Calibri" pitchFamily="34" charset="0"/>
                <a:ea typeface="Calibri" pitchFamily="34" charset="-122"/>
                <a:cs typeface="Calibri" pitchFamily="34" charset="-120"/>
              </a:rPr>
              <a:t>factor of ten</a:t>
            </a:r>
            <a:r>
              <a:rPr lang="en-US" sz="1200" dirty="0">
                <a:solidFill>
                  <a:srgbClr val="262B3A"/>
                </a:solidFill>
                <a:latin typeface="Calibri" pitchFamily="34" charset="0"/>
                <a:ea typeface="Calibri" pitchFamily="34" charset="-122"/>
                <a:cs typeface="Calibri" pitchFamily="34" charset="-120"/>
              </a:rPr>
              <a:t>, the </a:t>
            </a:r>
            <a:r>
              <a:rPr lang="en-US" sz="1200" b="1" dirty="0">
                <a:solidFill>
                  <a:srgbClr val="262B3A"/>
                </a:solidFill>
                <a:latin typeface="Calibri" pitchFamily="34" charset="0"/>
                <a:ea typeface="Calibri" pitchFamily="34" charset="-122"/>
                <a:cs typeface="Calibri" pitchFamily="34" charset="-120"/>
              </a:rPr>
              <a:t>pH falls by one</a:t>
            </a:r>
            <a:r>
              <a:rPr lang="en-US" sz="1200" dirty="0">
                <a:solidFill>
                  <a:srgbClr val="262B3A"/>
                </a:solidFill>
                <a:latin typeface="Calibri" pitchFamily="34" charset="0"/>
                <a:ea typeface="Calibri" pitchFamily="34" charset="-122"/>
                <a:cs typeface="Calibri" pitchFamily="34" charset="-120"/>
              </a:rPr>
              <a:t>.</a:t>
            </a:r>
            <a:endParaRPr lang="en-US" sz="1100" dirty="0"/>
          </a:p>
        </p:txBody>
      </p:sp>
      <p:sp>
        <p:nvSpPr>
          <p:cNvPr id="28" name="Shape 26"/>
          <p:cNvSpPr/>
          <p:nvPr/>
        </p:nvSpPr>
        <p:spPr>
          <a:xfrm>
            <a:off x="11018520" y="2633472"/>
            <a:ext cx="411480" cy="274320"/>
          </a:xfrm>
          <a:prstGeom prst="roundRect">
            <a:avLst>
              <a:gd name="adj" fmla="val 50000"/>
            </a:avLst>
          </a:prstGeom>
          <a:solidFill>
            <a:srgbClr val="C8414C"/>
          </a:solidFill>
          <a:ln w="12700">
            <a:solidFill>
              <a:srgbClr val="C8414C"/>
            </a:solidFill>
            <a:prstDash val="solid"/>
          </a:ln>
        </p:spPr>
      </p:sp>
      <p:sp>
        <p:nvSpPr>
          <p:cNvPr id="29" name="Text 27"/>
          <p:cNvSpPr/>
          <p:nvPr/>
        </p:nvSpPr>
        <p:spPr>
          <a:xfrm>
            <a:off x="11018520" y="2633472"/>
            <a:ext cx="4114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30" name="Shape 28"/>
          <p:cNvSpPr/>
          <p:nvPr/>
        </p:nvSpPr>
        <p:spPr>
          <a:xfrm>
            <a:off x="6263640" y="3063240"/>
            <a:ext cx="457200" cy="457200"/>
          </a:xfrm>
          <a:prstGeom prst="ellipse">
            <a:avLst/>
          </a:prstGeom>
          <a:solidFill>
            <a:srgbClr val="6A3FA0"/>
          </a:solidFill>
          <a:ln w="12700">
            <a:solidFill>
              <a:srgbClr val="6A3FA0"/>
            </a:solidFill>
            <a:prstDash val="solid"/>
          </a:ln>
        </p:spPr>
      </p:sp>
      <p:sp>
        <p:nvSpPr>
          <p:cNvPr id="31" name="Text 29"/>
          <p:cNvSpPr/>
          <p:nvPr/>
        </p:nvSpPr>
        <p:spPr>
          <a:xfrm>
            <a:off x="6263640" y="306324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7</a:t>
            </a:r>
            <a:endParaRPr lang="en-US" sz="1600" dirty="0"/>
          </a:p>
        </p:txBody>
      </p:sp>
      <p:sp>
        <p:nvSpPr>
          <p:cNvPr id="32" name="Text 30"/>
          <p:cNvSpPr/>
          <p:nvPr/>
        </p:nvSpPr>
        <p:spPr>
          <a:xfrm>
            <a:off x="6858000" y="3017520"/>
            <a:ext cx="4572000" cy="777240"/>
          </a:xfrm>
          <a:prstGeom prst="rect">
            <a:avLst/>
          </a:prstGeom>
          <a:noFill/>
          <a:ln/>
        </p:spPr>
        <p:txBody>
          <a:bodyPr wrap="square" lIns="0" tIns="0" rIns="0" bIns="0" rtlCol="0" anchor="t"/>
          <a:lstStyle/>
          <a:p>
            <a:pPr indent="0" marL="0">
              <a:buNone/>
            </a:pPr>
            <a:r>
              <a:rPr lang="en-US" sz="1100" b="1" dirty="0">
                <a:solidFill>
                  <a:srgbClr val="6A3FA0"/>
                </a:solidFill>
                <a:latin typeface="Calibri" pitchFamily="34" charset="0"/>
                <a:ea typeface="Calibri" pitchFamily="34" charset="-122"/>
                <a:cs typeface="Calibri" pitchFamily="34" charset="-120"/>
              </a:rPr>
              <a:t>C6.1.7   </a:t>
            </a:r>
            <a:r>
              <a:rPr lang="en-US" sz="1200" dirty="0">
                <a:solidFill>
                  <a:srgbClr val="262B3A"/>
                </a:solidFill>
                <a:latin typeface="Calibri" pitchFamily="34" charset="0"/>
                <a:ea typeface="Calibri" pitchFamily="34" charset="-122"/>
                <a:cs typeface="Calibri" pitchFamily="34" charset="-120"/>
              </a:rPr>
              <a:t>Describe </a:t>
            </a:r>
            <a:r>
              <a:rPr lang="en-US" sz="1200" b="1" dirty="0">
                <a:solidFill>
                  <a:srgbClr val="262B3A"/>
                </a:solidFill>
                <a:latin typeface="Calibri" pitchFamily="34" charset="0"/>
                <a:ea typeface="Calibri" pitchFamily="34" charset="-122"/>
                <a:cs typeface="Calibri" pitchFamily="34" charset="-120"/>
              </a:rPr>
              <a:t>neutrality</a:t>
            </a:r>
            <a:r>
              <a:rPr lang="en-US" sz="1200" dirty="0">
                <a:solidFill>
                  <a:srgbClr val="262B3A"/>
                </a:solidFill>
                <a:latin typeface="Calibri" pitchFamily="34" charset="0"/>
                <a:ea typeface="Calibri" pitchFamily="34" charset="-122"/>
                <a:cs typeface="Calibri" pitchFamily="34" charset="-120"/>
              </a:rPr>
              <a:t> and relative </a:t>
            </a:r>
            <a:r>
              <a:rPr lang="en-US" sz="1200" b="1" dirty="0">
                <a:solidFill>
                  <a:srgbClr val="262B3A"/>
                </a:solidFill>
                <a:latin typeface="Calibri" pitchFamily="34" charset="0"/>
                <a:ea typeface="Calibri" pitchFamily="34" charset="-122"/>
                <a:cs typeface="Calibri" pitchFamily="34" charset="-120"/>
              </a:rPr>
              <a:t>acidity</a:t>
            </a:r>
            <a:r>
              <a:rPr lang="en-US" sz="1200" dirty="0">
                <a:solidFill>
                  <a:srgbClr val="262B3A"/>
                </a:solidFill>
                <a:latin typeface="Calibri" pitchFamily="34" charset="0"/>
                <a:ea typeface="Calibri" pitchFamily="34" charset="-122"/>
                <a:cs typeface="Calibri" pitchFamily="34" charset="-120"/>
              </a:rPr>
              <a:t> and </a:t>
            </a:r>
            <a:r>
              <a:rPr lang="en-US" sz="1200" b="1" dirty="0">
                <a:solidFill>
                  <a:srgbClr val="262B3A"/>
                </a:solidFill>
                <a:latin typeface="Calibri" pitchFamily="34" charset="0"/>
                <a:ea typeface="Calibri" pitchFamily="34" charset="-122"/>
                <a:cs typeface="Calibri" pitchFamily="34" charset="-120"/>
              </a:rPr>
              <a:t>alkalinity</a:t>
            </a:r>
            <a:r>
              <a:rPr lang="en-US" sz="1200" dirty="0">
                <a:solidFill>
                  <a:srgbClr val="262B3A"/>
                </a:solidFill>
                <a:latin typeface="Calibri" pitchFamily="34" charset="0"/>
                <a:ea typeface="Calibri" pitchFamily="34" charset="-122"/>
                <a:cs typeface="Calibri" pitchFamily="34" charset="-120"/>
              </a:rPr>
              <a:t> in terms of H⁺ concentration and pH.</a:t>
            </a:r>
            <a:endParaRPr lang="en-US" sz="1100" dirty="0"/>
          </a:p>
        </p:txBody>
      </p:sp>
      <p:sp>
        <p:nvSpPr>
          <p:cNvPr id="33" name="Shape 31"/>
          <p:cNvSpPr/>
          <p:nvPr/>
        </p:nvSpPr>
        <p:spPr>
          <a:xfrm>
            <a:off x="11018520" y="3502152"/>
            <a:ext cx="411480" cy="274320"/>
          </a:xfrm>
          <a:prstGeom prst="roundRect">
            <a:avLst>
              <a:gd name="adj" fmla="val 50000"/>
            </a:avLst>
          </a:prstGeom>
          <a:solidFill>
            <a:srgbClr val="C8414C"/>
          </a:solidFill>
          <a:ln w="12700">
            <a:solidFill>
              <a:srgbClr val="C8414C"/>
            </a:solidFill>
            <a:prstDash val="solid"/>
          </a:ln>
        </p:spPr>
      </p:sp>
      <p:sp>
        <p:nvSpPr>
          <p:cNvPr id="34" name="Text 32"/>
          <p:cNvSpPr/>
          <p:nvPr/>
        </p:nvSpPr>
        <p:spPr>
          <a:xfrm>
            <a:off x="11018520" y="3502152"/>
            <a:ext cx="4114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35" name="Shape 33"/>
          <p:cNvSpPr/>
          <p:nvPr/>
        </p:nvSpPr>
        <p:spPr>
          <a:xfrm>
            <a:off x="6263640" y="3931920"/>
            <a:ext cx="457200" cy="457200"/>
          </a:xfrm>
          <a:prstGeom prst="ellipse">
            <a:avLst/>
          </a:prstGeom>
          <a:solidFill>
            <a:srgbClr val="6A3FA0"/>
          </a:solidFill>
          <a:ln w="12700">
            <a:solidFill>
              <a:srgbClr val="6A3FA0"/>
            </a:solidFill>
            <a:prstDash val="solid"/>
          </a:ln>
        </p:spPr>
      </p:sp>
      <p:sp>
        <p:nvSpPr>
          <p:cNvPr id="36" name="Text 34"/>
          <p:cNvSpPr/>
          <p:nvPr/>
        </p:nvSpPr>
        <p:spPr>
          <a:xfrm>
            <a:off x="6263640" y="39319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Georgia" pitchFamily="34" charset="0"/>
                <a:ea typeface="Georgia" pitchFamily="34" charset="-122"/>
                <a:cs typeface="Georgia" pitchFamily="34" charset="-120"/>
              </a:rPr>
              <a:t>8</a:t>
            </a:r>
            <a:endParaRPr lang="en-US" sz="1600" dirty="0"/>
          </a:p>
        </p:txBody>
      </p:sp>
      <p:sp>
        <p:nvSpPr>
          <p:cNvPr id="37" name="Text 35"/>
          <p:cNvSpPr/>
          <p:nvPr/>
        </p:nvSpPr>
        <p:spPr>
          <a:xfrm>
            <a:off x="6858000" y="3886200"/>
            <a:ext cx="4572000" cy="777240"/>
          </a:xfrm>
          <a:prstGeom prst="rect">
            <a:avLst/>
          </a:prstGeom>
          <a:noFill/>
          <a:ln/>
        </p:spPr>
        <p:txBody>
          <a:bodyPr wrap="square" lIns="0" tIns="0" rIns="0" bIns="0" rtlCol="0" anchor="t"/>
          <a:lstStyle/>
          <a:p>
            <a:pPr indent="0" marL="0">
              <a:buNone/>
            </a:pPr>
            <a:r>
              <a:rPr lang="en-US" sz="1100" b="1" dirty="0">
                <a:solidFill>
                  <a:srgbClr val="6A3FA0"/>
                </a:solidFill>
                <a:latin typeface="Calibri" pitchFamily="34" charset="0"/>
                <a:ea typeface="Calibri" pitchFamily="34" charset="-122"/>
                <a:cs typeface="Calibri" pitchFamily="34" charset="-120"/>
              </a:rPr>
              <a:t>C6.1.8   </a:t>
            </a:r>
            <a:r>
              <a:rPr lang="en-US" sz="1200" dirty="0">
                <a:solidFill>
                  <a:srgbClr val="262B3A"/>
                </a:solidFill>
                <a:latin typeface="Calibri" pitchFamily="34" charset="0"/>
                <a:ea typeface="Calibri" pitchFamily="34" charset="-122"/>
                <a:cs typeface="Calibri" pitchFamily="34" charset="-120"/>
              </a:rPr>
              <a:t>Describe a safe method to make a </a:t>
            </a:r>
            <a:r>
              <a:rPr lang="en-US" sz="1200" b="1" dirty="0">
                <a:solidFill>
                  <a:srgbClr val="262B3A"/>
                </a:solidFill>
                <a:latin typeface="Calibri" pitchFamily="34" charset="0"/>
                <a:ea typeface="Calibri" pitchFamily="34" charset="-122"/>
                <a:cs typeface="Calibri" pitchFamily="34" charset="-120"/>
              </a:rPr>
              <a:t>pure, dry salt</a:t>
            </a:r>
            <a:r>
              <a:rPr lang="en-US" sz="1200" dirty="0">
                <a:solidFill>
                  <a:srgbClr val="262B3A"/>
                </a:solidFill>
                <a:latin typeface="Calibri" pitchFamily="34" charset="0"/>
                <a:ea typeface="Calibri" pitchFamily="34" charset="-122"/>
                <a:cs typeface="Calibri" pitchFamily="34" charset="-120"/>
              </a:rPr>
              <a:t> from an insoluble base or carbonate (</a:t>
            </a:r>
            <a:r>
              <a:rPr lang="en-US" sz="1200" b="1" dirty="0">
                <a:solidFill>
                  <a:srgbClr val="262B3A"/>
                </a:solidFill>
                <a:latin typeface="Calibri" pitchFamily="34" charset="0"/>
                <a:ea typeface="Calibri" pitchFamily="34" charset="-122"/>
                <a:cs typeface="Calibri" pitchFamily="34" charset="-120"/>
              </a:rPr>
              <a:t>PAG C4</a:t>
            </a:r>
            <a:r>
              <a:rPr lang="en-US" sz="1200" dirty="0">
                <a:solidFill>
                  <a:srgbClr val="262B3A"/>
                </a:solidFill>
                <a:latin typeface="Calibri" pitchFamily="34" charset="0"/>
                <a:ea typeface="Calibri" pitchFamily="34" charset="-122"/>
                <a:cs typeface="Calibri" pitchFamily="34" charset="-120"/>
              </a:rPr>
              <a:t>).</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Where this fits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Chapter C6 Making useful chemicals • C6.1 is Part 1 of 3 in Combined Science B</a:t>
            </a:r>
            <a:endParaRPr lang="en-US" sz="1100" dirty="0"/>
          </a:p>
        </p:txBody>
      </p:sp>
      <p:sp>
        <p:nvSpPr>
          <p:cNvPr id="6" name="Text 4"/>
          <p:cNvSpPr/>
          <p:nvPr/>
        </p:nvSpPr>
        <p:spPr>
          <a:xfrm>
            <a:off x="411480" y="6473952"/>
            <a:ext cx="1014984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C6.1 What useful products can be made from acids?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Context  |  3</a:t>
            </a:r>
            <a:endParaRPr lang="en-US" sz="1000" dirty="0"/>
          </a:p>
        </p:txBody>
      </p:sp>
      <p:sp>
        <p:nvSpPr>
          <p:cNvPr id="8" name="Shape 6"/>
          <p:cNvSpPr/>
          <p:nvPr/>
        </p:nvSpPr>
        <p:spPr>
          <a:xfrm>
            <a:off x="411480" y="1234440"/>
            <a:ext cx="2103120" cy="685800"/>
          </a:xfrm>
          <a:prstGeom prst="roundRect">
            <a:avLst>
              <a:gd name="adj" fmla="val 8000"/>
            </a:avLst>
          </a:prstGeom>
          <a:solidFill>
            <a:srgbClr val="2A1F3D"/>
          </a:solidFill>
          <a:ln/>
        </p:spPr>
      </p:sp>
      <p:sp>
        <p:nvSpPr>
          <p:cNvPr id="9" name="Text 7"/>
          <p:cNvSpPr/>
          <p:nvPr/>
        </p:nvSpPr>
        <p:spPr>
          <a:xfrm>
            <a:off x="411480" y="1234440"/>
            <a:ext cx="2103120" cy="685800"/>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C6.1</a:t>
            </a:r>
            <a:endParaRPr lang="en-US" sz="1100" dirty="0"/>
          </a:p>
          <a:p>
            <a:pPr algn="ctr" indent="0" marL="0">
              <a:buNone/>
            </a:pPr>
            <a:r>
              <a:rPr lang="en-US" sz="1100" b="1" dirty="0">
                <a:solidFill>
                  <a:srgbClr val="FFFFFF"/>
                </a:solidFill>
                <a:latin typeface="Calibri" pitchFamily="34" charset="0"/>
                <a:ea typeface="Calibri" pitchFamily="34" charset="-122"/>
                <a:cs typeface="Calibri" pitchFamily="34" charset="-120"/>
              </a:rPr>
              <a:t>Acids and salts</a:t>
            </a:r>
            <a:endParaRPr lang="en-US" sz="1100" dirty="0"/>
          </a:p>
        </p:txBody>
      </p:sp>
      <p:sp>
        <p:nvSpPr>
          <p:cNvPr id="10" name="Shape 8"/>
          <p:cNvSpPr/>
          <p:nvPr/>
        </p:nvSpPr>
        <p:spPr>
          <a:xfrm>
            <a:off x="914400" y="1920240"/>
            <a:ext cx="91" cy="3758184"/>
          </a:xfrm>
          <a:prstGeom prst="line">
            <a:avLst/>
          </a:prstGeom>
          <a:noFill/>
          <a:ln w="19050">
            <a:solidFill>
              <a:srgbClr val="6A3FA0"/>
            </a:solidFill>
            <a:prstDash val="solid"/>
          </a:ln>
        </p:spPr>
      </p:sp>
      <p:sp>
        <p:nvSpPr>
          <p:cNvPr id="11" name="Shape 9"/>
          <p:cNvSpPr/>
          <p:nvPr/>
        </p:nvSpPr>
        <p:spPr>
          <a:xfrm>
            <a:off x="914400" y="2386584"/>
            <a:ext cx="411480" cy="91"/>
          </a:xfrm>
          <a:prstGeom prst="line">
            <a:avLst/>
          </a:prstGeom>
          <a:noFill/>
          <a:ln w="19050">
            <a:solidFill>
              <a:srgbClr val="6A3FA0"/>
            </a:solidFill>
            <a:prstDash val="solid"/>
          </a:ln>
        </p:spPr>
      </p:sp>
      <p:sp>
        <p:nvSpPr>
          <p:cNvPr id="12" name="Shape 10"/>
          <p:cNvSpPr/>
          <p:nvPr/>
        </p:nvSpPr>
        <p:spPr>
          <a:xfrm>
            <a:off x="1325880" y="2103120"/>
            <a:ext cx="5120640" cy="566928"/>
          </a:xfrm>
          <a:prstGeom prst="roundRect">
            <a:avLst>
              <a:gd name="adj" fmla="val 8065"/>
            </a:avLst>
          </a:prstGeom>
          <a:solidFill>
            <a:srgbClr val="F8F5FC"/>
          </a:solidFill>
          <a:ln w="12700">
            <a:solidFill>
              <a:srgbClr val="DDD3EC"/>
            </a:solidFill>
            <a:prstDash val="solid"/>
          </a:ln>
        </p:spPr>
      </p:sp>
      <p:sp>
        <p:nvSpPr>
          <p:cNvPr id="13" name="Text 11"/>
          <p:cNvSpPr/>
          <p:nvPr/>
        </p:nvSpPr>
        <p:spPr>
          <a:xfrm>
            <a:off x="1463040" y="2103120"/>
            <a:ext cx="3749040" cy="566928"/>
          </a:xfrm>
          <a:prstGeom prst="rect">
            <a:avLst/>
          </a:prstGeom>
          <a:noFill/>
          <a:ln/>
        </p:spPr>
        <p:txBody>
          <a:bodyPr wrap="square" lIns="0" tIns="0" rIns="0" bIns="0" rtlCol="0" anchor="ctr"/>
          <a:lstStyle/>
          <a:p>
            <a:pPr indent="0" marL="0">
              <a:buNone/>
            </a:pPr>
            <a:r>
              <a:rPr lang="en-US" sz="1100" b="1" dirty="0">
                <a:solidFill>
                  <a:srgbClr val="6A3FA0"/>
                </a:solidFill>
                <a:latin typeface="Calibri" pitchFamily="34" charset="0"/>
                <a:ea typeface="Calibri" pitchFamily="34" charset="-122"/>
                <a:cs typeface="Calibri" pitchFamily="34" charset="-120"/>
              </a:rPr>
              <a:t>C6.1.3–4   </a:t>
            </a:r>
            <a:r>
              <a:rPr lang="en-US" sz="1100" dirty="0">
                <a:solidFill>
                  <a:srgbClr val="262B3A"/>
                </a:solidFill>
                <a:latin typeface="Calibri" pitchFamily="34" charset="0"/>
                <a:ea typeface="Calibri" pitchFamily="34" charset="-122"/>
                <a:cs typeface="Calibri" pitchFamily="34" charset="-120"/>
              </a:rPr>
              <a:t>Acids, alkalis, ions and the pH scale</a:t>
            </a:r>
            <a:endParaRPr lang="en-US" sz="1100" dirty="0"/>
          </a:p>
        </p:txBody>
      </p:sp>
      <p:sp>
        <p:nvSpPr>
          <p:cNvPr id="14" name="Shape 12"/>
          <p:cNvSpPr/>
          <p:nvPr/>
        </p:nvSpPr>
        <p:spPr>
          <a:xfrm>
            <a:off x="5257800" y="2249424"/>
            <a:ext cx="1097280" cy="274320"/>
          </a:xfrm>
          <a:prstGeom prst="roundRect">
            <a:avLst>
              <a:gd name="adj" fmla="val 50000"/>
            </a:avLst>
          </a:prstGeom>
          <a:solidFill>
            <a:srgbClr val="6A3FA0"/>
          </a:solidFill>
          <a:ln w="12700">
            <a:solidFill>
              <a:srgbClr val="6A3FA0"/>
            </a:solidFill>
            <a:prstDash val="solid"/>
          </a:ln>
        </p:spPr>
      </p:sp>
      <p:sp>
        <p:nvSpPr>
          <p:cNvPr id="15" name="Text 13"/>
          <p:cNvSpPr/>
          <p:nvPr/>
        </p:nvSpPr>
        <p:spPr>
          <a:xfrm>
            <a:off x="5257800" y="2249424"/>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BOTH TIERS</a:t>
            </a:r>
            <a:endParaRPr lang="en-US" sz="1000" dirty="0"/>
          </a:p>
        </p:txBody>
      </p:sp>
      <p:sp>
        <p:nvSpPr>
          <p:cNvPr id="16" name="Shape 14"/>
          <p:cNvSpPr/>
          <p:nvPr/>
        </p:nvSpPr>
        <p:spPr>
          <a:xfrm>
            <a:off x="914400" y="3044952"/>
            <a:ext cx="411480" cy="91"/>
          </a:xfrm>
          <a:prstGeom prst="line">
            <a:avLst/>
          </a:prstGeom>
          <a:noFill/>
          <a:ln w="19050">
            <a:solidFill>
              <a:srgbClr val="6A3FA0"/>
            </a:solidFill>
            <a:prstDash val="solid"/>
          </a:ln>
        </p:spPr>
      </p:sp>
      <p:sp>
        <p:nvSpPr>
          <p:cNvPr id="17" name="Shape 15"/>
          <p:cNvSpPr/>
          <p:nvPr/>
        </p:nvSpPr>
        <p:spPr>
          <a:xfrm>
            <a:off x="1325880" y="2761488"/>
            <a:ext cx="5120640" cy="566928"/>
          </a:xfrm>
          <a:prstGeom prst="roundRect">
            <a:avLst>
              <a:gd name="adj" fmla="val 8065"/>
            </a:avLst>
          </a:prstGeom>
          <a:solidFill>
            <a:srgbClr val="F8F5FC"/>
          </a:solidFill>
          <a:ln w="12700">
            <a:solidFill>
              <a:srgbClr val="DDD3EC"/>
            </a:solidFill>
            <a:prstDash val="solid"/>
          </a:ln>
        </p:spPr>
      </p:sp>
      <p:sp>
        <p:nvSpPr>
          <p:cNvPr id="18" name="Text 16"/>
          <p:cNvSpPr/>
          <p:nvPr/>
        </p:nvSpPr>
        <p:spPr>
          <a:xfrm>
            <a:off x="1463040" y="2761488"/>
            <a:ext cx="3749040" cy="566928"/>
          </a:xfrm>
          <a:prstGeom prst="rect">
            <a:avLst/>
          </a:prstGeom>
          <a:noFill/>
          <a:ln/>
        </p:spPr>
        <p:txBody>
          <a:bodyPr wrap="square" lIns="0" tIns="0" rIns="0" bIns="0" rtlCol="0" anchor="ctr"/>
          <a:lstStyle/>
          <a:p>
            <a:pPr indent="0" marL="0">
              <a:buNone/>
            </a:pPr>
            <a:r>
              <a:rPr lang="en-US" sz="1100" b="1" dirty="0">
                <a:solidFill>
                  <a:srgbClr val="6A3FA0"/>
                </a:solidFill>
                <a:latin typeface="Calibri" pitchFamily="34" charset="0"/>
                <a:ea typeface="Calibri" pitchFamily="34" charset="-122"/>
                <a:cs typeface="Calibri" pitchFamily="34" charset="-120"/>
              </a:rPr>
              <a:t>C6.1.1–2   </a:t>
            </a:r>
            <a:r>
              <a:rPr lang="en-US" sz="1100" dirty="0">
                <a:solidFill>
                  <a:srgbClr val="262B3A"/>
                </a:solidFill>
                <a:latin typeface="Calibri" pitchFamily="34" charset="0"/>
                <a:ea typeface="Calibri" pitchFamily="34" charset="-122"/>
                <a:cs typeface="Calibri" pitchFamily="34" charset="-120"/>
              </a:rPr>
              <a:t>Neutralisation; acids with metals and carbonates</a:t>
            </a:r>
            <a:endParaRPr lang="en-US" sz="1100" dirty="0"/>
          </a:p>
        </p:txBody>
      </p:sp>
      <p:sp>
        <p:nvSpPr>
          <p:cNvPr id="19" name="Shape 17"/>
          <p:cNvSpPr/>
          <p:nvPr/>
        </p:nvSpPr>
        <p:spPr>
          <a:xfrm>
            <a:off x="5257800" y="2907792"/>
            <a:ext cx="1097280" cy="274320"/>
          </a:xfrm>
          <a:prstGeom prst="roundRect">
            <a:avLst>
              <a:gd name="adj" fmla="val 50000"/>
            </a:avLst>
          </a:prstGeom>
          <a:solidFill>
            <a:srgbClr val="6A3FA0"/>
          </a:solidFill>
          <a:ln w="12700">
            <a:solidFill>
              <a:srgbClr val="6A3FA0"/>
            </a:solidFill>
            <a:prstDash val="solid"/>
          </a:ln>
        </p:spPr>
      </p:sp>
      <p:sp>
        <p:nvSpPr>
          <p:cNvPr id="20" name="Text 18"/>
          <p:cNvSpPr/>
          <p:nvPr/>
        </p:nvSpPr>
        <p:spPr>
          <a:xfrm>
            <a:off x="5257800" y="2907792"/>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BOTH TIERS</a:t>
            </a:r>
            <a:endParaRPr lang="en-US" sz="1000" dirty="0"/>
          </a:p>
        </p:txBody>
      </p:sp>
      <p:sp>
        <p:nvSpPr>
          <p:cNvPr id="21" name="Shape 19"/>
          <p:cNvSpPr/>
          <p:nvPr/>
        </p:nvSpPr>
        <p:spPr>
          <a:xfrm>
            <a:off x="914400" y="3703320"/>
            <a:ext cx="411480" cy="91"/>
          </a:xfrm>
          <a:prstGeom prst="line">
            <a:avLst/>
          </a:prstGeom>
          <a:noFill/>
          <a:ln w="19050">
            <a:solidFill>
              <a:srgbClr val="6A3FA0"/>
            </a:solidFill>
            <a:prstDash val="solid"/>
          </a:ln>
        </p:spPr>
      </p:sp>
      <p:sp>
        <p:nvSpPr>
          <p:cNvPr id="22" name="Shape 20"/>
          <p:cNvSpPr/>
          <p:nvPr/>
        </p:nvSpPr>
        <p:spPr>
          <a:xfrm>
            <a:off x="1325880" y="3419856"/>
            <a:ext cx="5120640" cy="566928"/>
          </a:xfrm>
          <a:prstGeom prst="roundRect">
            <a:avLst>
              <a:gd name="adj" fmla="val 8065"/>
            </a:avLst>
          </a:prstGeom>
          <a:solidFill>
            <a:srgbClr val="F8F5FC"/>
          </a:solidFill>
          <a:ln w="12700">
            <a:solidFill>
              <a:srgbClr val="DDD3EC"/>
            </a:solidFill>
            <a:prstDash val="solid"/>
          </a:ln>
        </p:spPr>
      </p:sp>
      <p:sp>
        <p:nvSpPr>
          <p:cNvPr id="23" name="Text 21"/>
          <p:cNvSpPr/>
          <p:nvPr/>
        </p:nvSpPr>
        <p:spPr>
          <a:xfrm>
            <a:off x="1463040" y="3419856"/>
            <a:ext cx="3749040" cy="566928"/>
          </a:xfrm>
          <a:prstGeom prst="rect">
            <a:avLst/>
          </a:prstGeom>
          <a:noFill/>
          <a:ln/>
        </p:spPr>
        <p:txBody>
          <a:bodyPr wrap="square" lIns="0" tIns="0" rIns="0" bIns="0" rtlCol="0" anchor="ctr"/>
          <a:lstStyle/>
          <a:p>
            <a:pPr indent="0" marL="0">
              <a:buNone/>
            </a:pPr>
            <a:r>
              <a:rPr lang="en-US" sz="1100" b="1" dirty="0">
                <a:solidFill>
                  <a:srgbClr val="6A3FA0"/>
                </a:solidFill>
                <a:latin typeface="Calibri" pitchFamily="34" charset="0"/>
                <a:ea typeface="Calibri" pitchFamily="34" charset="-122"/>
                <a:cs typeface="Calibri" pitchFamily="34" charset="-120"/>
              </a:rPr>
              <a:t>C6.1.1–2   </a:t>
            </a:r>
            <a:r>
              <a:rPr lang="en-US" sz="1100" dirty="0">
                <a:solidFill>
                  <a:srgbClr val="262B3A"/>
                </a:solidFill>
                <a:latin typeface="Calibri" pitchFamily="34" charset="0"/>
                <a:ea typeface="Calibri" pitchFamily="34" charset="-122"/>
                <a:cs typeface="Calibri" pitchFamily="34" charset="-120"/>
              </a:rPr>
              <a:t>Predicting salts, formulae and useful products</a:t>
            </a:r>
            <a:endParaRPr lang="en-US" sz="1100" dirty="0"/>
          </a:p>
        </p:txBody>
      </p:sp>
      <p:sp>
        <p:nvSpPr>
          <p:cNvPr id="24" name="Shape 22"/>
          <p:cNvSpPr/>
          <p:nvPr/>
        </p:nvSpPr>
        <p:spPr>
          <a:xfrm>
            <a:off x="5257800" y="3566160"/>
            <a:ext cx="1097280" cy="274320"/>
          </a:xfrm>
          <a:prstGeom prst="roundRect">
            <a:avLst>
              <a:gd name="adj" fmla="val 50000"/>
            </a:avLst>
          </a:prstGeom>
          <a:solidFill>
            <a:srgbClr val="6A3FA0"/>
          </a:solidFill>
          <a:ln w="12700">
            <a:solidFill>
              <a:srgbClr val="6A3FA0"/>
            </a:solidFill>
            <a:prstDash val="solid"/>
          </a:ln>
        </p:spPr>
      </p:sp>
      <p:sp>
        <p:nvSpPr>
          <p:cNvPr id="25" name="Text 23"/>
          <p:cNvSpPr/>
          <p:nvPr/>
        </p:nvSpPr>
        <p:spPr>
          <a:xfrm>
            <a:off x="5257800" y="3566160"/>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BOTH TIERS</a:t>
            </a:r>
            <a:endParaRPr lang="en-US" sz="1000" dirty="0"/>
          </a:p>
        </p:txBody>
      </p:sp>
      <p:sp>
        <p:nvSpPr>
          <p:cNvPr id="26" name="Shape 24"/>
          <p:cNvSpPr/>
          <p:nvPr/>
        </p:nvSpPr>
        <p:spPr>
          <a:xfrm>
            <a:off x="914400" y="4361688"/>
            <a:ext cx="411480" cy="91"/>
          </a:xfrm>
          <a:prstGeom prst="line">
            <a:avLst/>
          </a:prstGeom>
          <a:noFill/>
          <a:ln w="19050">
            <a:solidFill>
              <a:srgbClr val="6A3FA0"/>
            </a:solidFill>
            <a:prstDash val="solid"/>
          </a:ln>
        </p:spPr>
      </p:sp>
      <p:sp>
        <p:nvSpPr>
          <p:cNvPr id="27" name="Shape 25"/>
          <p:cNvSpPr/>
          <p:nvPr/>
        </p:nvSpPr>
        <p:spPr>
          <a:xfrm>
            <a:off x="1325880" y="4078224"/>
            <a:ext cx="5120640" cy="566928"/>
          </a:xfrm>
          <a:prstGeom prst="roundRect">
            <a:avLst>
              <a:gd name="adj" fmla="val 8065"/>
            </a:avLst>
          </a:prstGeom>
          <a:solidFill>
            <a:srgbClr val="F8F5FC"/>
          </a:solidFill>
          <a:ln w="12700">
            <a:solidFill>
              <a:srgbClr val="DDD3EC"/>
            </a:solidFill>
            <a:prstDash val="solid"/>
          </a:ln>
        </p:spPr>
      </p:sp>
      <p:sp>
        <p:nvSpPr>
          <p:cNvPr id="28" name="Text 26"/>
          <p:cNvSpPr/>
          <p:nvPr/>
        </p:nvSpPr>
        <p:spPr>
          <a:xfrm>
            <a:off x="1463040" y="4078224"/>
            <a:ext cx="3749040" cy="566928"/>
          </a:xfrm>
          <a:prstGeom prst="rect">
            <a:avLst/>
          </a:prstGeom>
          <a:noFill/>
          <a:ln/>
        </p:spPr>
        <p:txBody>
          <a:bodyPr wrap="square" lIns="0" tIns="0" rIns="0" bIns="0" rtlCol="0" anchor="ctr"/>
          <a:lstStyle/>
          <a:p>
            <a:pPr indent="0" marL="0">
              <a:buNone/>
            </a:pPr>
            <a:r>
              <a:rPr lang="en-US" sz="1100" b="1" dirty="0">
                <a:solidFill>
                  <a:srgbClr val="6A3FA0"/>
                </a:solidFill>
                <a:latin typeface="Calibri" pitchFamily="34" charset="0"/>
                <a:ea typeface="Calibri" pitchFamily="34" charset="-122"/>
                <a:cs typeface="Calibri" pitchFamily="34" charset="-120"/>
              </a:rPr>
              <a:t>C6.1.5   </a:t>
            </a:r>
            <a:r>
              <a:rPr lang="en-US" sz="1100" dirty="0">
                <a:solidFill>
                  <a:srgbClr val="262B3A"/>
                </a:solidFill>
                <a:latin typeface="Calibri" pitchFamily="34" charset="0"/>
                <a:ea typeface="Calibri" pitchFamily="34" charset="-122"/>
                <a:cs typeface="Calibri" pitchFamily="34" charset="-120"/>
              </a:rPr>
              <a:t>Strong / weak and concentrated / dilute acids</a:t>
            </a:r>
            <a:endParaRPr lang="en-US" sz="1100" dirty="0"/>
          </a:p>
        </p:txBody>
      </p:sp>
      <p:sp>
        <p:nvSpPr>
          <p:cNvPr id="29" name="Shape 27"/>
          <p:cNvSpPr/>
          <p:nvPr/>
        </p:nvSpPr>
        <p:spPr>
          <a:xfrm>
            <a:off x="5257800" y="4224528"/>
            <a:ext cx="1097280" cy="274320"/>
          </a:xfrm>
          <a:prstGeom prst="roundRect">
            <a:avLst>
              <a:gd name="adj" fmla="val 50000"/>
            </a:avLst>
          </a:prstGeom>
          <a:solidFill>
            <a:srgbClr val="C8414C"/>
          </a:solidFill>
          <a:ln w="12700">
            <a:solidFill>
              <a:srgbClr val="C8414C"/>
            </a:solidFill>
            <a:prstDash val="solid"/>
          </a:ln>
        </p:spPr>
      </p:sp>
      <p:sp>
        <p:nvSpPr>
          <p:cNvPr id="30" name="Text 28"/>
          <p:cNvSpPr/>
          <p:nvPr/>
        </p:nvSpPr>
        <p:spPr>
          <a:xfrm>
            <a:off x="5257800" y="4224528"/>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31" name="Shape 29"/>
          <p:cNvSpPr/>
          <p:nvPr/>
        </p:nvSpPr>
        <p:spPr>
          <a:xfrm>
            <a:off x="914400" y="5020056"/>
            <a:ext cx="411480" cy="91"/>
          </a:xfrm>
          <a:prstGeom prst="line">
            <a:avLst/>
          </a:prstGeom>
          <a:noFill/>
          <a:ln w="19050">
            <a:solidFill>
              <a:srgbClr val="6A3FA0"/>
            </a:solidFill>
            <a:prstDash val="solid"/>
          </a:ln>
        </p:spPr>
      </p:sp>
      <p:sp>
        <p:nvSpPr>
          <p:cNvPr id="32" name="Shape 30"/>
          <p:cNvSpPr/>
          <p:nvPr/>
        </p:nvSpPr>
        <p:spPr>
          <a:xfrm>
            <a:off x="1325880" y="4736592"/>
            <a:ext cx="5120640" cy="566928"/>
          </a:xfrm>
          <a:prstGeom prst="roundRect">
            <a:avLst>
              <a:gd name="adj" fmla="val 8065"/>
            </a:avLst>
          </a:prstGeom>
          <a:solidFill>
            <a:srgbClr val="F8F5FC"/>
          </a:solidFill>
          <a:ln w="12700">
            <a:solidFill>
              <a:srgbClr val="DDD3EC"/>
            </a:solidFill>
            <a:prstDash val="solid"/>
          </a:ln>
        </p:spPr>
      </p:sp>
      <p:sp>
        <p:nvSpPr>
          <p:cNvPr id="33" name="Text 31"/>
          <p:cNvSpPr/>
          <p:nvPr/>
        </p:nvSpPr>
        <p:spPr>
          <a:xfrm>
            <a:off x="1463040" y="4736592"/>
            <a:ext cx="3749040" cy="566928"/>
          </a:xfrm>
          <a:prstGeom prst="rect">
            <a:avLst/>
          </a:prstGeom>
          <a:noFill/>
          <a:ln/>
        </p:spPr>
        <p:txBody>
          <a:bodyPr wrap="square" lIns="0" tIns="0" rIns="0" bIns="0" rtlCol="0" anchor="ctr"/>
          <a:lstStyle/>
          <a:p>
            <a:pPr indent="0" marL="0">
              <a:buNone/>
            </a:pPr>
            <a:r>
              <a:rPr lang="en-US" sz="1100" b="1" dirty="0">
                <a:solidFill>
                  <a:srgbClr val="6A3FA0"/>
                </a:solidFill>
                <a:latin typeface="Calibri" pitchFamily="34" charset="0"/>
                <a:ea typeface="Calibri" pitchFamily="34" charset="-122"/>
                <a:cs typeface="Calibri" pitchFamily="34" charset="-120"/>
              </a:rPr>
              <a:t>C6.1.6–7   </a:t>
            </a:r>
            <a:r>
              <a:rPr lang="en-US" sz="1100" dirty="0">
                <a:solidFill>
                  <a:srgbClr val="262B3A"/>
                </a:solidFill>
                <a:latin typeface="Calibri" pitchFamily="34" charset="0"/>
                <a:ea typeface="Calibri" pitchFamily="34" charset="-122"/>
                <a:cs typeface="Calibri" pitchFamily="34" charset="-120"/>
              </a:rPr>
              <a:t>pH and hydrogen ion concentration</a:t>
            </a:r>
            <a:endParaRPr lang="en-US" sz="1100" dirty="0"/>
          </a:p>
        </p:txBody>
      </p:sp>
      <p:sp>
        <p:nvSpPr>
          <p:cNvPr id="34" name="Shape 32"/>
          <p:cNvSpPr/>
          <p:nvPr/>
        </p:nvSpPr>
        <p:spPr>
          <a:xfrm>
            <a:off x="5257800" y="4882896"/>
            <a:ext cx="1097280" cy="274320"/>
          </a:xfrm>
          <a:prstGeom prst="roundRect">
            <a:avLst>
              <a:gd name="adj" fmla="val 50000"/>
            </a:avLst>
          </a:prstGeom>
          <a:solidFill>
            <a:srgbClr val="C8414C"/>
          </a:solidFill>
          <a:ln w="12700">
            <a:solidFill>
              <a:srgbClr val="C8414C"/>
            </a:solidFill>
            <a:prstDash val="solid"/>
          </a:ln>
        </p:spPr>
      </p:sp>
      <p:sp>
        <p:nvSpPr>
          <p:cNvPr id="35" name="Text 33"/>
          <p:cNvSpPr/>
          <p:nvPr/>
        </p:nvSpPr>
        <p:spPr>
          <a:xfrm>
            <a:off x="5257800" y="4882896"/>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36" name="Shape 34"/>
          <p:cNvSpPr/>
          <p:nvPr/>
        </p:nvSpPr>
        <p:spPr>
          <a:xfrm>
            <a:off x="914400" y="5678424"/>
            <a:ext cx="411480" cy="91"/>
          </a:xfrm>
          <a:prstGeom prst="line">
            <a:avLst/>
          </a:prstGeom>
          <a:noFill/>
          <a:ln w="19050">
            <a:solidFill>
              <a:srgbClr val="6A3FA0"/>
            </a:solidFill>
            <a:prstDash val="solid"/>
          </a:ln>
        </p:spPr>
      </p:sp>
      <p:sp>
        <p:nvSpPr>
          <p:cNvPr id="37" name="Shape 35"/>
          <p:cNvSpPr/>
          <p:nvPr/>
        </p:nvSpPr>
        <p:spPr>
          <a:xfrm>
            <a:off x="1325880" y="5394960"/>
            <a:ext cx="5120640" cy="566928"/>
          </a:xfrm>
          <a:prstGeom prst="roundRect">
            <a:avLst>
              <a:gd name="adj" fmla="val 8065"/>
            </a:avLst>
          </a:prstGeom>
          <a:solidFill>
            <a:srgbClr val="F8F5FC"/>
          </a:solidFill>
          <a:ln w="12700">
            <a:solidFill>
              <a:srgbClr val="DDD3EC"/>
            </a:solidFill>
            <a:prstDash val="solid"/>
          </a:ln>
        </p:spPr>
      </p:sp>
      <p:sp>
        <p:nvSpPr>
          <p:cNvPr id="38" name="Text 36"/>
          <p:cNvSpPr/>
          <p:nvPr/>
        </p:nvSpPr>
        <p:spPr>
          <a:xfrm>
            <a:off x="1463040" y="5394960"/>
            <a:ext cx="3749040" cy="566928"/>
          </a:xfrm>
          <a:prstGeom prst="rect">
            <a:avLst/>
          </a:prstGeom>
          <a:noFill/>
          <a:ln/>
        </p:spPr>
        <p:txBody>
          <a:bodyPr wrap="square" lIns="0" tIns="0" rIns="0" bIns="0" rtlCol="0" anchor="ctr"/>
          <a:lstStyle/>
          <a:p>
            <a:pPr indent="0" marL="0">
              <a:buNone/>
            </a:pPr>
            <a:r>
              <a:rPr lang="en-US" sz="1100" b="1" dirty="0">
                <a:solidFill>
                  <a:srgbClr val="6A3FA0"/>
                </a:solidFill>
                <a:latin typeface="Calibri" pitchFamily="34" charset="0"/>
                <a:ea typeface="Calibri" pitchFamily="34" charset="-122"/>
                <a:cs typeface="Calibri" pitchFamily="34" charset="-120"/>
              </a:rPr>
              <a:t>C6.1.8   </a:t>
            </a:r>
            <a:r>
              <a:rPr lang="en-US" sz="1100" dirty="0">
                <a:solidFill>
                  <a:srgbClr val="262B3A"/>
                </a:solidFill>
                <a:latin typeface="Calibri" pitchFamily="34" charset="0"/>
                <a:ea typeface="Calibri" pitchFamily="34" charset="-122"/>
                <a:cs typeface="Calibri" pitchFamily="34" charset="-120"/>
              </a:rPr>
              <a:t>Making magnesium sulfate crystals</a:t>
            </a:r>
            <a:endParaRPr lang="en-US" sz="1100" dirty="0"/>
          </a:p>
        </p:txBody>
      </p:sp>
      <p:sp>
        <p:nvSpPr>
          <p:cNvPr id="39" name="Shape 37"/>
          <p:cNvSpPr/>
          <p:nvPr/>
        </p:nvSpPr>
        <p:spPr>
          <a:xfrm>
            <a:off x="5257800" y="5541264"/>
            <a:ext cx="1097280" cy="274320"/>
          </a:xfrm>
          <a:prstGeom prst="roundRect">
            <a:avLst>
              <a:gd name="adj" fmla="val 50000"/>
            </a:avLst>
          </a:prstGeom>
          <a:solidFill>
            <a:srgbClr val="B8730A"/>
          </a:solidFill>
          <a:ln w="12700">
            <a:solidFill>
              <a:srgbClr val="B8730A"/>
            </a:solidFill>
            <a:prstDash val="solid"/>
          </a:ln>
        </p:spPr>
      </p:sp>
      <p:sp>
        <p:nvSpPr>
          <p:cNvPr id="40" name="Text 38"/>
          <p:cNvSpPr/>
          <p:nvPr/>
        </p:nvSpPr>
        <p:spPr>
          <a:xfrm>
            <a:off x="5257800" y="5541264"/>
            <a:ext cx="10972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PAG C4</a:t>
            </a:r>
            <a:endParaRPr lang="en-US" sz="1000" dirty="0"/>
          </a:p>
        </p:txBody>
      </p:sp>
      <p:sp>
        <p:nvSpPr>
          <p:cNvPr id="41" name="Text 39"/>
          <p:cNvSpPr/>
          <p:nvPr/>
        </p:nvSpPr>
        <p:spPr>
          <a:xfrm>
            <a:off x="411480" y="6053328"/>
            <a:ext cx="6035040" cy="256032"/>
          </a:xfrm>
          <a:prstGeom prst="rect">
            <a:avLst/>
          </a:prstGeom>
          <a:noFill/>
          <a:ln/>
        </p:spPr>
        <p:txBody>
          <a:bodyPr wrap="square" lIns="0" tIns="0" rIns="0" bIns="0" rtlCol="0" anchor="ctr"/>
          <a:lstStyle/>
          <a:p>
            <a:pPr algn="ctr" indent="0" marL="0">
              <a:buNone/>
            </a:pPr>
            <a:r>
              <a:rPr lang="en-US" sz="1050" i="1" dirty="0">
                <a:solidFill>
                  <a:srgbClr val="6B7385"/>
                </a:solidFill>
                <a:latin typeface="Calibri" pitchFamily="34" charset="0"/>
                <a:ea typeface="Calibri" pitchFamily="34" charset="-122"/>
                <a:cs typeface="Calibri" pitchFamily="34" charset="-120"/>
              </a:rPr>
              <a:t>Earlier links: C2 ions and formulae • C3 reactivity • C5.1 filtration, crystallisation • C5.3 titration</a:t>
            </a:r>
            <a:endParaRPr lang="en-US" sz="1050" dirty="0"/>
          </a:p>
        </p:txBody>
      </p:sp>
      <p:sp>
        <p:nvSpPr>
          <p:cNvPr id="42" name="Shape 40"/>
          <p:cNvSpPr/>
          <p:nvPr/>
        </p:nvSpPr>
        <p:spPr>
          <a:xfrm>
            <a:off x="6720840" y="1234440"/>
            <a:ext cx="5056632" cy="2514600"/>
          </a:xfrm>
          <a:prstGeom prst="roundRect">
            <a:avLst>
              <a:gd name="adj" fmla="val 2182"/>
            </a:avLst>
          </a:prstGeom>
          <a:solidFill>
            <a:srgbClr val="2E1A47"/>
          </a:solidFill>
          <a:ln/>
        </p:spPr>
      </p:sp>
      <p:sp>
        <p:nvSpPr>
          <p:cNvPr id="43" name="Text 41"/>
          <p:cNvSpPr/>
          <p:nvPr/>
        </p:nvSpPr>
        <p:spPr>
          <a:xfrm>
            <a:off x="6903720" y="1325880"/>
            <a:ext cx="4709160" cy="2331720"/>
          </a:xfrm>
          <a:prstGeom prst="rect">
            <a:avLst/>
          </a:prstGeom>
          <a:noFill/>
          <a:ln/>
        </p:spPr>
        <p:txBody>
          <a:bodyPr wrap="square" lIns="0" tIns="0" rIns="0" bIns="0" rtlCol="0" anchor="t"/>
          <a:lstStyle/>
          <a:p>
            <a:pPr indent="0" marL="0">
              <a:buNone/>
            </a:pPr>
            <a:r>
              <a:rPr lang="en-US" sz="1500" b="1" dirty="0">
                <a:solidFill>
                  <a:srgbClr val="FFFFFF"/>
                </a:solidFill>
                <a:latin typeface="Georgia" pitchFamily="34" charset="0"/>
                <a:ea typeface="Georgia" pitchFamily="34" charset="-122"/>
                <a:cs typeface="Georgia" pitchFamily="34" charset="-120"/>
              </a:rPr>
              <a:t>Chapter C6 in J260</a:t>
            </a:r>
            <a:endParaRPr lang="en-US" sz="1500" dirty="0"/>
          </a:p>
          <a:p>
            <a:pPr marL="152400" indent="-152400">
              <a:spcAft>
                <a:spcPts val="200"/>
              </a:spcAft>
              <a:buSzPct val="100000"/>
              <a:buChar char="▪"/>
            </a:pPr>
            <a:r>
              <a:rPr lang="en-US" sz="1100" b="1" dirty="0">
                <a:solidFill>
                  <a:srgbClr val="E9E0F7"/>
                </a:solidFill>
                <a:latin typeface="Calibri" pitchFamily="34" charset="0"/>
                <a:ea typeface="Calibri" pitchFamily="34" charset="-122"/>
                <a:cs typeface="Calibri" pitchFamily="34" charset="-120"/>
              </a:rPr>
              <a:t>C6.1 What useful products can be made from acids?</a:t>
            </a:r>
            <a:r>
              <a:rPr lang="en-US" sz="1100" dirty="0">
                <a:solidFill>
                  <a:srgbClr val="E9E0F7"/>
                </a:solidFill>
                <a:latin typeface="Calibri" pitchFamily="34" charset="0"/>
                <a:ea typeface="Calibri" pitchFamily="34" charset="-122"/>
                <a:cs typeface="Calibri" pitchFamily="34" charset="-120"/>
              </a:rPr>
              <a:t> (this deck)</a:t>
            </a:r>
            <a:endParaRPr lang="en-US" sz="1500" dirty="0"/>
          </a:p>
          <a:p>
            <a:pPr marL="152400" indent="-152400">
              <a:spcAft>
                <a:spcPts val="200"/>
              </a:spcAft>
              <a:buSzPct val="100000"/>
              <a:buChar char="▪"/>
            </a:pPr>
            <a:r>
              <a:rPr lang="en-US" sz="1100" dirty="0">
                <a:solidFill>
                  <a:srgbClr val="E9E0F7"/>
                </a:solidFill>
                <a:latin typeface="Calibri" pitchFamily="34" charset="0"/>
                <a:ea typeface="Calibri" pitchFamily="34" charset="-122"/>
                <a:cs typeface="Calibri" pitchFamily="34" charset="-120"/>
              </a:rPr>
              <a:t>C6.2 How do chemists control the rate of reactions?</a:t>
            </a:r>
            <a:endParaRPr lang="en-US" sz="1500" dirty="0"/>
          </a:p>
          <a:p>
            <a:pPr marL="152400" indent="-152400">
              <a:spcAft>
                <a:spcPts val="200"/>
              </a:spcAft>
              <a:buSzPct val="100000"/>
              <a:buChar char="▪"/>
            </a:pPr>
            <a:r>
              <a:rPr lang="en-US" sz="1100" dirty="0">
                <a:solidFill>
                  <a:srgbClr val="E9E0F7"/>
                </a:solidFill>
                <a:latin typeface="Calibri" pitchFamily="34" charset="0"/>
                <a:ea typeface="Calibri" pitchFamily="34" charset="-122"/>
                <a:cs typeface="Calibri" pitchFamily="34" charset="-120"/>
              </a:rPr>
              <a:t>C6.3 What factors affect the yield of chemical reactions?</a:t>
            </a:r>
            <a:endParaRPr lang="en-US" sz="1500" dirty="0"/>
          </a:p>
          <a:p>
            <a:pPr marL="152400" indent="-152400">
              <a:spcAft>
                <a:spcPts val="200"/>
              </a:spcAft>
              <a:buSzPct val="100000"/>
              <a:buChar char="▪"/>
            </a:pPr>
            <a:r>
              <a:rPr lang="en-US" sz="1100" dirty="0">
                <a:solidFill>
                  <a:srgbClr val="E9E0F7"/>
                </a:solidFill>
                <a:latin typeface="Calibri" pitchFamily="34" charset="0"/>
                <a:ea typeface="Calibri" pitchFamily="34" charset="-122"/>
                <a:cs typeface="Calibri" pitchFamily="34" charset="-120"/>
              </a:rPr>
              <a:t>J258 (separate) adds </a:t>
            </a:r>
            <a:r>
              <a:rPr lang="en-US" sz="1100" b="1" dirty="0">
                <a:solidFill>
                  <a:srgbClr val="E9E0F7"/>
                </a:solidFill>
                <a:latin typeface="Calibri" pitchFamily="34" charset="0"/>
                <a:ea typeface="Calibri" pitchFamily="34" charset="-122"/>
                <a:cs typeface="Calibri" pitchFamily="34" charset="-120"/>
              </a:rPr>
              <a:t>C6.4</a:t>
            </a:r>
            <a:r>
              <a:rPr lang="en-US" sz="1100" dirty="0">
                <a:solidFill>
                  <a:srgbClr val="E9E0F7"/>
                </a:solidFill>
                <a:latin typeface="Calibri" pitchFamily="34" charset="0"/>
                <a:ea typeface="Calibri" pitchFamily="34" charset="-122"/>
                <a:cs typeface="Calibri" pitchFamily="34" charset="-120"/>
              </a:rPr>
              <a:t> on making chemicals on an industrial scale.</a:t>
            </a:r>
            <a:endParaRPr lang="en-US" sz="1500" dirty="0"/>
          </a:p>
          <a:p>
            <a:pPr marL="152400" indent="-152400">
              <a:spcAft>
                <a:spcPts val="200"/>
              </a:spcAft>
              <a:buSzPct val="100000"/>
              <a:buChar char="▪"/>
            </a:pPr>
            <a:r>
              <a:rPr lang="en-US" sz="1100" dirty="0">
                <a:solidFill>
                  <a:srgbClr val="E9E0F7"/>
                </a:solidFill>
                <a:latin typeface="Calibri" pitchFamily="34" charset="0"/>
                <a:ea typeface="Calibri" pitchFamily="34" charset="-122"/>
                <a:cs typeface="Calibri" pitchFamily="34" charset="-120"/>
              </a:rPr>
              <a:t>Rates and yield come next, in </a:t>
            </a:r>
            <a:r>
              <a:rPr lang="en-US" sz="1100" b="1" dirty="0">
                <a:solidFill>
                  <a:srgbClr val="E9E0F7"/>
                </a:solidFill>
                <a:latin typeface="Calibri" pitchFamily="34" charset="0"/>
                <a:ea typeface="Calibri" pitchFamily="34" charset="-122"/>
                <a:cs typeface="Calibri" pitchFamily="34" charset="-120"/>
              </a:rPr>
              <a:t>C6.2</a:t>
            </a:r>
            <a:r>
              <a:rPr lang="en-US" sz="1100" dirty="0">
                <a:solidFill>
                  <a:srgbClr val="E9E0F7"/>
                </a:solidFill>
                <a:latin typeface="Calibri" pitchFamily="34" charset="0"/>
                <a:ea typeface="Calibri" pitchFamily="34" charset="-122"/>
                <a:cs typeface="Calibri" pitchFamily="34" charset="-120"/>
              </a:rPr>
              <a:t> and </a:t>
            </a:r>
            <a:r>
              <a:rPr lang="en-US" sz="1100" b="1" dirty="0">
                <a:solidFill>
                  <a:srgbClr val="E9E0F7"/>
                </a:solidFill>
                <a:latin typeface="Calibri" pitchFamily="34" charset="0"/>
                <a:ea typeface="Calibri" pitchFamily="34" charset="-122"/>
                <a:cs typeface="Calibri" pitchFamily="34" charset="-120"/>
              </a:rPr>
              <a:t>C6.3</a:t>
            </a:r>
            <a:r>
              <a:rPr lang="en-US" sz="1100" dirty="0">
                <a:solidFill>
                  <a:srgbClr val="E9E0F7"/>
                </a:solidFill>
                <a:latin typeface="Calibri" pitchFamily="34" charset="0"/>
                <a:ea typeface="Calibri" pitchFamily="34" charset="-122"/>
                <a:cs typeface="Calibri" pitchFamily="34" charset="-120"/>
              </a:rPr>
              <a:t>.</a:t>
            </a:r>
            <a:endParaRPr lang="en-US" sz="1500" dirty="0"/>
          </a:p>
        </p:txBody>
      </p:sp>
      <p:sp>
        <p:nvSpPr>
          <p:cNvPr id="44" name="Shape 42"/>
          <p:cNvSpPr/>
          <p:nvPr/>
        </p:nvSpPr>
        <p:spPr>
          <a:xfrm>
            <a:off x="6720840" y="3886200"/>
            <a:ext cx="5056632" cy="2377440"/>
          </a:xfrm>
          <a:prstGeom prst="roundRect">
            <a:avLst>
              <a:gd name="adj" fmla="val 2308"/>
            </a:avLst>
          </a:prstGeom>
          <a:solidFill>
            <a:srgbClr val="FFF4E0"/>
          </a:solidFill>
          <a:ln w="12700">
            <a:solidFill>
              <a:srgbClr val="F1D9A8"/>
            </a:solidFill>
            <a:prstDash val="solid"/>
          </a:ln>
        </p:spPr>
      </p:sp>
      <p:sp>
        <p:nvSpPr>
          <p:cNvPr id="45" name="Text 43"/>
          <p:cNvSpPr/>
          <p:nvPr/>
        </p:nvSpPr>
        <p:spPr>
          <a:xfrm>
            <a:off x="6903720" y="3977640"/>
            <a:ext cx="4709160" cy="2194560"/>
          </a:xfrm>
          <a:prstGeom prst="rect">
            <a:avLst/>
          </a:prstGeom>
          <a:noFill/>
          <a:ln/>
        </p:spPr>
        <p:txBody>
          <a:bodyPr wrap="square" lIns="0" tIns="0" rIns="0" bIns="0" rtlCol="0" anchor="t"/>
          <a:lstStyle/>
          <a:p>
            <a:pPr indent="0" marL="0">
              <a:buNone/>
            </a:pPr>
            <a:r>
              <a:rPr lang="en-US" sz="1500" b="1" dirty="0">
                <a:solidFill>
                  <a:srgbClr val="B8730A"/>
                </a:solidFill>
                <a:latin typeface="Georgia" pitchFamily="34" charset="0"/>
                <a:ea typeface="Georgia" pitchFamily="34" charset="-122"/>
                <a:cs typeface="Georgia" pitchFamily="34" charset="-120"/>
              </a:rPr>
              <a:t>One deck for both tiers</a:t>
            </a:r>
            <a:endParaRPr lang="en-US" sz="15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Slides with the red </a:t>
            </a:r>
            <a:r>
              <a:rPr lang="en-US" sz="1100" b="1" dirty="0">
                <a:solidFill>
                  <a:srgbClr val="262B3A"/>
                </a:solidFill>
                <a:latin typeface="Calibri" pitchFamily="34" charset="0"/>
                <a:ea typeface="Calibri" pitchFamily="34" charset="-122"/>
                <a:cs typeface="Calibri" pitchFamily="34" charset="-120"/>
              </a:rPr>
              <a:t>HT</a:t>
            </a:r>
            <a:r>
              <a:rPr lang="en-US" sz="1100" dirty="0">
                <a:solidFill>
                  <a:srgbClr val="262B3A"/>
                </a:solidFill>
                <a:latin typeface="Calibri" pitchFamily="34" charset="0"/>
                <a:ea typeface="Calibri" pitchFamily="34" charset="-122"/>
                <a:cs typeface="Calibri" pitchFamily="34" charset="-120"/>
              </a:rPr>
              <a:t> pill (strong and weak acids, pH and [H⁺]) are for Higher tier only.</a:t>
            </a:r>
            <a:endParaRPr lang="en-US" sz="15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Foundation: reactions of acids, </a:t>
            </a:r>
            <a:r>
              <a:rPr lang="en-US" sz="1100" b="1" dirty="0">
                <a:solidFill>
                  <a:srgbClr val="262B3A"/>
                </a:solidFill>
                <a:latin typeface="Calibri" pitchFamily="34" charset="0"/>
                <a:ea typeface="Calibri" pitchFamily="34" charset="-122"/>
                <a:cs typeface="Calibri" pitchFamily="34" charset="-120"/>
              </a:rPr>
              <a:t>pH</a:t>
            </a:r>
            <a:r>
              <a:rPr lang="en-US" sz="1100" dirty="0">
                <a:solidFill>
                  <a:srgbClr val="262B3A"/>
                </a:solidFill>
                <a:latin typeface="Calibri" pitchFamily="34" charset="0"/>
                <a:ea typeface="Calibri" pitchFamily="34" charset="-122"/>
                <a:cs typeface="Calibri" pitchFamily="34" charset="-120"/>
              </a:rPr>
              <a:t>, </a:t>
            </a:r>
            <a:r>
              <a:rPr lang="en-US" sz="1100" b="1" dirty="0">
                <a:solidFill>
                  <a:srgbClr val="262B3A"/>
                </a:solidFill>
                <a:latin typeface="Calibri" pitchFamily="34" charset="0"/>
                <a:ea typeface="Calibri" pitchFamily="34" charset="-122"/>
                <a:cs typeface="Calibri" pitchFamily="34" charset="-120"/>
              </a:rPr>
              <a:t>neutralisation</a:t>
            </a:r>
            <a:r>
              <a:rPr lang="en-US" sz="1100" dirty="0">
                <a:solidFill>
                  <a:srgbClr val="262B3A"/>
                </a:solidFill>
                <a:latin typeface="Calibri" pitchFamily="34" charset="0"/>
                <a:ea typeface="Calibri" pitchFamily="34" charset="-122"/>
                <a:cs typeface="Calibri" pitchFamily="34" charset="-120"/>
              </a:rPr>
              <a:t>, naming salts, making a salt.</a:t>
            </a:r>
            <a:endParaRPr lang="en-US" sz="15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Maths: </a:t>
            </a:r>
            <a:r>
              <a:rPr lang="en-US" sz="1100" b="1" dirty="0">
                <a:solidFill>
                  <a:srgbClr val="262B3A"/>
                </a:solidFill>
                <a:latin typeface="Calibri" pitchFamily="34" charset="0"/>
                <a:ea typeface="Calibri" pitchFamily="34" charset="-122"/>
                <a:cs typeface="Calibri" pitchFamily="34" charset="-120"/>
              </a:rPr>
              <a:t>ratio</a:t>
            </a:r>
            <a:r>
              <a:rPr lang="en-US" sz="1100" dirty="0">
                <a:solidFill>
                  <a:srgbClr val="262B3A"/>
                </a:solidFill>
                <a:latin typeface="Calibri" pitchFamily="34" charset="0"/>
                <a:ea typeface="Calibri" pitchFamily="34" charset="-122"/>
                <a:cs typeface="Calibri" pitchFamily="34" charset="-120"/>
              </a:rPr>
              <a:t>, </a:t>
            </a:r>
            <a:r>
              <a:rPr lang="en-US" sz="1100" b="1" dirty="0">
                <a:solidFill>
                  <a:srgbClr val="262B3A"/>
                </a:solidFill>
                <a:latin typeface="Calibri" pitchFamily="34" charset="0"/>
                <a:ea typeface="Calibri" pitchFamily="34" charset="-122"/>
                <a:cs typeface="Calibri" pitchFamily="34" charset="-120"/>
              </a:rPr>
              <a:t>powers of ten</a:t>
            </a:r>
            <a:r>
              <a:rPr lang="en-US" sz="1100" dirty="0">
                <a:solidFill>
                  <a:srgbClr val="262B3A"/>
                </a:solidFill>
                <a:latin typeface="Calibri" pitchFamily="34" charset="0"/>
                <a:ea typeface="Calibri" pitchFamily="34" charset="-122"/>
                <a:cs typeface="Calibri" pitchFamily="34" charset="-120"/>
              </a:rPr>
              <a:t>, reading and plotting a </a:t>
            </a:r>
            <a:r>
              <a:rPr lang="en-US" sz="1100" b="1" dirty="0">
                <a:solidFill>
                  <a:srgbClr val="262B3A"/>
                </a:solidFill>
                <a:latin typeface="Calibri" pitchFamily="34" charset="0"/>
                <a:ea typeface="Calibri" pitchFamily="34" charset="-122"/>
                <a:cs typeface="Calibri" pitchFamily="34" charset="-120"/>
              </a:rPr>
              <a:t>graph</a:t>
            </a:r>
            <a:r>
              <a:rPr lang="en-US" sz="1100" dirty="0">
                <a:solidFill>
                  <a:srgbClr val="262B3A"/>
                </a:solidFill>
                <a:latin typeface="Calibri" pitchFamily="34" charset="0"/>
                <a:ea typeface="Calibri" pitchFamily="34" charset="-122"/>
                <a:cs typeface="Calibri" pitchFamily="34" charset="-120"/>
              </a:rPr>
              <a:t>, balancing </a:t>
            </a:r>
            <a:r>
              <a:rPr lang="en-US" sz="1100" b="1" dirty="0">
                <a:solidFill>
                  <a:srgbClr val="262B3A"/>
                </a:solidFill>
                <a:latin typeface="Calibri" pitchFamily="34" charset="0"/>
                <a:ea typeface="Calibri" pitchFamily="34" charset="-122"/>
                <a:cs typeface="Calibri" pitchFamily="34" charset="-120"/>
              </a:rPr>
              <a:t>charges</a:t>
            </a:r>
            <a:r>
              <a:rPr lang="en-US" sz="1100" dirty="0">
                <a:solidFill>
                  <a:srgbClr val="262B3A"/>
                </a:solidFill>
                <a:latin typeface="Calibri" pitchFamily="34" charset="0"/>
                <a:ea typeface="Calibri" pitchFamily="34" charset="-122"/>
                <a:cs typeface="Calibri" pitchFamily="34" charset="-120"/>
              </a:rPr>
              <a:t>.</a:t>
            </a:r>
            <a:endParaRPr lang="en-US" sz="15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Every equation here has </a:t>
            </a:r>
            <a:r>
              <a:rPr lang="en-US" sz="1100" b="1" dirty="0">
                <a:solidFill>
                  <a:srgbClr val="262B3A"/>
                </a:solidFill>
                <a:latin typeface="Calibri" pitchFamily="34" charset="0"/>
                <a:ea typeface="Calibri" pitchFamily="34" charset="-122"/>
                <a:cs typeface="Calibri" pitchFamily="34" charset="-120"/>
              </a:rPr>
              <a:t>state symbols</a:t>
            </a:r>
            <a:r>
              <a:rPr lang="en-US" sz="1100" dirty="0">
                <a:solidFill>
                  <a:srgbClr val="262B3A"/>
                </a:solidFill>
                <a:latin typeface="Calibri" pitchFamily="34" charset="0"/>
                <a:ea typeface="Calibri" pitchFamily="34" charset="-122"/>
                <a:cs typeface="Calibri" pitchFamily="34" charset="-120"/>
              </a:rPr>
              <a:t>: (s), (l), (g), (aq).</a:t>
            </a:r>
            <a:endParaRPr lang="en-US"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Retrieval starter</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Recall from C2–C5 • 6 minutes • no notes</a:t>
            </a:r>
            <a:endParaRPr lang="en-US" sz="1100" dirty="0"/>
          </a:p>
        </p:txBody>
      </p:sp>
      <p:sp>
        <p:nvSpPr>
          <p:cNvPr id="6" name="Text 4"/>
          <p:cNvSpPr/>
          <p:nvPr/>
        </p:nvSpPr>
        <p:spPr>
          <a:xfrm>
            <a:off x="411480" y="6473952"/>
            <a:ext cx="1014984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C6.1 What useful products can be made from acids?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Starter  |  4</a:t>
            </a:r>
            <a:endParaRPr lang="en-US" sz="1000" dirty="0"/>
          </a:p>
        </p:txBody>
      </p:sp>
      <p:sp>
        <p:nvSpPr>
          <p:cNvPr id="8" name="Shape 6"/>
          <p:cNvSpPr/>
          <p:nvPr/>
        </p:nvSpPr>
        <p:spPr>
          <a:xfrm>
            <a:off x="411480" y="1234440"/>
            <a:ext cx="3657600" cy="2011680"/>
          </a:xfrm>
          <a:prstGeom prst="roundRect">
            <a:avLst>
              <a:gd name="adj" fmla="val 2727"/>
            </a:avLst>
          </a:prstGeom>
          <a:solidFill>
            <a:srgbClr val="F8F5FC"/>
          </a:solidFill>
          <a:ln w="9525">
            <a:solidFill>
              <a:srgbClr val="DDD3EC"/>
            </a:solidFill>
            <a:prstDash val="solid"/>
          </a:ln>
        </p:spPr>
      </p:sp>
      <p:sp>
        <p:nvSpPr>
          <p:cNvPr id="9" name="Shape 7"/>
          <p:cNvSpPr/>
          <p:nvPr/>
        </p:nvSpPr>
        <p:spPr>
          <a:xfrm>
            <a:off x="548640" y="1371600"/>
            <a:ext cx="438912" cy="438912"/>
          </a:xfrm>
          <a:prstGeom prst="ellipse">
            <a:avLst/>
          </a:prstGeom>
          <a:solidFill>
            <a:srgbClr val="6A3FA0"/>
          </a:solidFill>
          <a:ln w="12700">
            <a:solidFill>
              <a:srgbClr val="6A3FA0"/>
            </a:solidFill>
            <a:prstDash val="solid"/>
          </a:ln>
        </p:spPr>
      </p:sp>
      <p:sp>
        <p:nvSpPr>
          <p:cNvPr id="10" name="Text 8"/>
          <p:cNvSpPr/>
          <p:nvPr/>
        </p:nvSpPr>
        <p:spPr>
          <a:xfrm>
            <a:off x="548640" y="137160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1</a:t>
            </a:r>
            <a:endParaRPr lang="en-US" sz="1500" dirty="0"/>
          </a:p>
        </p:txBody>
      </p:sp>
      <p:sp>
        <p:nvSpPr>
          <p:cNvPr id="11" name="Text 9"/>
          <p:cNvSpPr/>
          <p:nvPr/>
        </p:nvSpPr>
        <p:spPr>
          <a:xfrm>
            <a:off x="1097280" y="1417320"/>
            <a:ext cx="2834640" cy="347472"/>
          </a:xfrm>
          <a:prstGeom prst="rect">
            <a:avLst/>
          </a:prstGeom>
          <a:noFill/>
          <a:ln/>
        </p:spPr>
        <p:txBody>
          <a:bodyPr wrap="square" lIns="0" tIns="0" rIns="0" bIns="0" rtlCol="0" anchor="ctr"/>
          <a:lstStyle/>
          <a:p>
            <a:pPr indent="0" marL="0">
              <a:buNone/>
            </a:pPr>
            <a:r>
              <a:rPr lang="en-US" sz="1050" i="1" dirty="0">
                <a:solidFill>
                  <a:srgbClr val="6A3FA0"/>
                </a:solidFill>
                <a:latin typeface="Calibri" pitchFamily="34" charset="0"/>
                <a:ea typeface="Calibri" pitchFamily="34" charset="-122"/>
                <a:cs typeface="Calibri" pitchFamily="34" charset="-120"/>
              </a:rPr>
              <a:t>C2 • ions</a:t>
            </a:r>
            <a:endParaRPr lang="en-US" sz="1050" dirty="0"/>
          </a:p>
        </p:txBody>
      </p:sp>
      <p:sp>
        <p:nvSpPr>
          <p:cNvPr id="12" name="Text 10"/>
          <p:cNvSpPr/>
          <p:nvPr/>
        </p:nvSpPr>
        <p:spPr>
          <a:xfrm>
            <a:off x="594360" y="1920240"/>
            <a:ext cx="3291840" cy="118872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Give the </a:t>
            </a:r>
            <a:r>
              <a:rPr lang="en-US" sz="1250" b="1" dirty="0">
                <a:solidFill>
                  <a:srgbClr val="262B3A"/>
                </a:solidFill>
                <a:latin typeface="Calibri" pitchFamily="34" charset="0"/>
                <a:ea typeface="Calibri" pitchFamily="34" charset="-122"/>
                <a:cs typeface="Calibri" pitchFamily="34" charset="-120"/>
              </a:rPr>
              <a:t>charge</a:t>
            </a:r>
            <a:r>
              <a:rPr lang="en-US" sz="1250" dirty="0">
                <a:solidFill>
                  <a:srgbClr val="262B3A"/>
                </a:solidFill>
                <a:latin typeface="Calibri" pitchFamily="34" charset="0"/>
                <a:ea typeface="Calibri" pitchFamily="34" charset="-122"/>
                <a:cs typeface="Calibri" pitchFamily="34" charset="-120"/>
              </a:rPr>
              <a:t> on a magnesium ion and on a chloride ion. Write the formula of </a:t>
            </a:r>
            <a:r>
              <a:rPr lang="en-US" sz="1250" b="1" dirty="0">
                <a:solidFill>
                  <a:srgbClr val="262B3A"/>
                </a:solidFill>
                <a:latin typeface="Calibri" pitchFamily="34" charset="0"/>
                <a:ea typeface="Calibri" pitchFamily="34" charset="-122"/>
                <a:cs typeface="Calibri" pitchFamily="34" charset="-120"/>
              </a:rPr>
              <a:t>magnesium chloride</a:t>
            </a:r>
            <a:r>
              <a:rPr lang="en-US" sz="1250" dirty="0">
                <a:solidFill>
                  <a:srgbClr val="262B3A"/>
                </a:solidFill>
                <a:latin typeface="Calibri" pitchFamily="34" charset="0"/>
                <a:ea typeface="Calibri" pitchFamily="34" charset="-122"/>
                <a:cs typeface="Calibri" pitchFamily="34" charset="-120"/>
              </a:rPr>
              <a:t>.</a:t>
            </a:r>
            <a:endParaRPr lang="en-US" sz="1250" dirty="0"/>
          </a:p>
        </p:txBody>
      </p:sp>
      <p:sp>
        <p:nvSpPr>
          <p:cNvPr id="13" name="Shape 11"/>
          <p:cNvSpPr/>
          <p:nvPr/>
        </p:nvSpPr>
        <p:spPr>
          <a:xfrm>
            <a:off x="4251960" y="1234440"/>
            <a:ext cx="3657600" cy="2011680"/>
          </a:xfrm>
          <a:prstGeom prst="roundRect">
            <a:avLst>
              <a:gd name="adj" fmla="val 2727"/>
            </a:avLst>
          </a:prstGeom>
          <a:solidFill>
            <a:srgbClr val="F8F5FC"/>
          </a:solidFill>
          <a:ln w="9525">
            <a:solidFill>
              <a:srgbClr val="DDD3EC"/>
            </a:solidFill>
            <a:prstDash val="solid"/>
          </a:ln>
        </p:spPr>
      </p:sp>
      <p:sp>
        <p:nvSpPr>
          <p:cNvPr id="14" name="Shape 12"/>
          <p:cNvSpPr/>
          <p:nvPr/>
        </p:nvSpPr>
        <p:spPr>
          <a:xfrm>
            <a:off x="4389120" y="1371600"/>
            <a:ext cx="438912" cy="438912"/>
          </a:xfrm>
          <a:prstGeom prst="ellipse">
            <a:avLst/>
          </a:prstGeom>
          <a:solidFill>
            <a:srgbClr val="6A3FA0"/>
          </a:solidFill>
          <a:ln w="12700">
            <a:solidFill>
              <a:srgbClr val="6A3FA0"/>
            </a:solidFill>
            <a:prstDash val="solid"/>
          </a:ln>
        </p:spPr>
      </p:sp>
      <p:sp>
        <p:nvSpPr>
          <p:cNvPr id="15" name="Text 13"/>
          <p:cNvSpPr/>
          <p:nvPr/>
        </p:nvSpPr>
        <p:spPr>
          <a:xfrm>
            <a:off x="4389120" y="137160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2</a:t>
            </a:r>
            <a:endParaRPr lang="en-US" sz="1500" dirty="0"/>
          </a:p>
        </p:txBody>
      </p:sp>
      <p:sp>
        <p:nvSpPr>
          <p:cNvPr id="16" name="Text 14"/>
          <p:cNvSpPr/>
          <p:nvPr/>
        </p:nvSpPr>
        <p:spPr>
          <a:xfrm>
            <a:off x="4937760" y="1417320"/>
            <a:ext cx="2834640" cy="347472"/>
          </a:xfrm>
          <a:prstGeom prst="rect">
            <a:avLst/>
          </a:prstGeom>
          <a:noFill/>
          <a:ln/>
        </p:spPr>
        <p:txBody>
          <a:bodyPr wrap="square" lIns="0" tIns="0" rIns="0" bIns="0" rtlCol="0" anchor="ctr"/>
          <a:lstStyle/>
          <a:p>
            <a:pPr indent="0" marL="0">
              <a:buNone/>
            </a:pPr>
            <a:r>
              <a:rPr lang="en-US" sz="1050" i="1" dirty="0">
                <a:solidFill>
                  <a:srgbClr val="6A3FA0"/>
                </a:solidFill>
                <a:latin typeface="Calibri" pitchFamily="34" charset="0"/>
                <a:ea typeface="Calibri" pitchFamily="34" charset="-122"/>
                <a:cs typeface="Calibri" pitchFamily="34" charset="-120"/>
              </a:rPr>
              <a:t>C3 • reactivity</a:t>
            </a:r>
            <a:endParaRPr lang="en-US" sz="1050" dirty="0"/>
          </a:p>
        </p:txBody>
      </p:sp>
      <p:sp>
        <p:nvSpPr>
          <p:cNvPr id="17" name="Text 15"/>
          <p:cNvSpPr/>
          <p:nvPr/>
        </p:nvSpPr>
        <p:spPr>
          <a:xfrm>
            <a:off x="4434840" y="1920240"/>
            <a:ext cx="3291840" cy="118872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Put these metals in order of </a:t>
            </a:r>
            <a:r>
              <a:rPr lang="en-US" sz="1250" b="1" dirty="0">
                <a:solidFill>
                  <a:srgbClr val="262B3A"/>
                </a:solidFill>
                <a:latin typeface="Calibri" pitchFamily="34" charset="0"/>
                <a:ea typeface="Calibri" pitchFamily="34" charset="-122"/>
                <a:cs typeface="Calibri" pitchFamily="34" charset="-120"/>
              </a:rPr>
              <a:t>reactivity</a:t>
            </a:r>
            <a:r>
              <a:rPr lang="en-US" sz="1250" dirty="0">
                <a:solidFill>
                  <a:srgbClr val="262B3A"/>
                </a:solidFill>
                <a:latin typeface="Calibri" pitchFamily="34" charset="0"/>
                <a:ea typeface="Calibri" pitchFamily="34" charset="-122"/>
                <a:cs typeface="Calibri" pitchFamily="34" charset="-120"/>
              </a:rPr>
              <a:t>, most reactive first: </a:t>
            </a:r>
            <a:r>
              <a:rPr lang="en-US" sz="1250" b="1" dirty="0">
                <a:solidFill>
                  <a:srgbClr val="262B3A"/>
                </a:solidFill>
                <a:latin typeface="Calibri" pitchFamily="34" charset="0"/>
                <a:ea typeface="Calibri" pitchFamily="34" charset="-122"/>
                <a:cs typeface="Calibri" pitchFamily="34" charset="-120"/>
              </a:rPr>
              <a:t>copper, magnesium, zinc, iron</a:t>
            </a:r>
            <a:r>
              <a:rPr lang="en-US" sz="1250" dirty="0">
                <a:solidFill>
                  <a:srgbClr val="262B3A"/>
                </a:solidFill>
                <a:latin typeface="Calibri" pitchFamily="34" charset="0"/>
                <a:ea typeface="Calibri" pitchFamily="34" charset="-122"/>
                <a:cs typeface="Calibri" pitchFamily="34" charset="-120"/>
              </a:rPr>
              <a:t>.</a:t>
            </a:r>
            <a:endParaRPr lang="en-US" sz="1250" dirty="0"/>
          </a:p>
        </p:txBody>
      </p:sp>
      <p:sp>
        <p:nvSpPr>
          <p:cNvPr id="18" name="Shape 16"/>
          <p:cNvSpPr/>
          <p:nvPr/>
        </p:nvSpPr>
        <p:spPr>
          <a:xfrm>
            <a:off x="8092440" y="1234440"/>
            <a:ext cx="3657600" cy="2011680"/>
          </a:xfrm>
          <a:prstGeom prst="roundRect">
            <a:avLst>
              <a:gd name="adj" fmla="val 2727"/>
            </a:avLst>
          </a:prstGeom>
          <a:solidFill>
            <a:srgbClr val="F8F5FC"/>
          </a:solidFill>
          <a:ln w="9525">
            <a:solidFill>
              <a:srgbClr val="DDD3EC"/>
            </a:solidFill>
            <a:prstDash val="solid"/>
          </a:ln>
        </p:spPr>
      </p:sp>
      <p:sp>
        <p:nvSpPr>
          <p:cNvPr id="19" name="Shape 17"/>
          <p:cNvSpPr/>
          <p:nvPr/>
        </p:nvSpPr>
        <p:spPr>
          <a:xfrm>
            <a:off x="8229600" y="1371600"/>
            <a:ext cx="438912" cy="438912"/>
          </a:xfrm>
          <a:prstGeom prst="ellipse">
            <a:avLst/>
          </a:prstGeom>
          <a:solidFill>
            <a:srgbClr val="6A3FA0"/>
          </a:solidFill>
          <a:ln w="12700">
            <a:solidFill>
              <a:srgbClr val="6A3FA0"/>
            </a:solidFill>
            <a:prstDash val="solid"/>
          </a:ln>
        </p:spPr>
      </p:sp>
      <p:sp>
        <p:nvSpPr>
          <p:cNvPr id="20" name="Text 18"/>
          <p:cNvSpPr/>
          <p:nvPr/>
        </p:nvSpPr>
        <p:spPr>
          <a:xfrm>
            <a:off x="8229600" y="137160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3</a:t>
            </a:r>
            <a:endParaRPr lang="en-US" sz="1500" dirty="0"/>
          </a:p>
        </p:txBody>
      </p:sp>
      <p:sp>
        <p:nvSpPr>
          <p:cNvPr id="21" name="Text 19"/>
          <p:cNvSpPr/>
          <p:nvPr/>
        </p:nvSpPr>
        <p:spPr>
          <a:xfrm>
            <a:off x="8778240" y="1417320"/>
            <a:ext cx="2834640" cy="347472"/>
          </a:xfrm>
          <a:prstGeom prst="rect">
            <a:avLst/>
          </a:prstGeom>
          <a:noFill/>
          <a:ln/>
        </p:spPr>
        <p:txBody>
          <a:bodyPr wrap="square" lIns="0" tIns="0" rIns="0" bIns="0" rtlCol="0" anchor="ctr"/>
          <a:lstStyle/>
          <a:p>
            <a:pPr indent="0" marL="0">
              <a:buNone/>
            </a:pPr>
            <a:r>
              <a:rPr lang="en-US" sz="1050" i="1" dirty="0">
                <a:solidFill>
                  <a:srgbClr val="6A3FA0"/>
                </a:solidFill>
                <a:latin typeface="Calibri" pitchFamily="34" charset="0"/>
                <a:ea typeface="Calibri" pitchFamily="34" charset="-122"/>
                <a:cs typeface="Calibri" pitchFamily="34" charset="-120"/>
              </a:rPr>
              <a:t>C4.2 • bonding</a:t>
            </a:r>
            <a:endParaRPr lang="en-US" sz="1050" dirty="0"/>
          </a:p>
        </p:txBody>
      </p:sp>
      <p:sp>
        <p:nvSpPr>
          <p:cNvPr id="22" name="Text 20"/>
          <p:cNvSpPr/>
          <p:nvPr/>
        </p:nvSpPr>
        <p:spPr>
          <a:xfrm>
            <a:off x="8275320" y="1920240"/>
            <a:ext cx="3291840" cy="118872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Why does solid </a:t>
            </a:r>
            <a:r>
              <a:rPr lang="en-US" sz="1250" b="1" dirty="0">
                <a:solidFill>
                  <a:srgbClr val="262B3A"/>
                </a:solidFill>
                <a:latin typeface="Calibri" pitchFamily="34" charset="0"/>
                <a:ea typeface="Calibri" pitchFamily="34" charset="-122"/>
                <a:cs typeface="Calibri" pitchFamily="34" charset="-120"/>
              </a:rPr>
              <a:t>sodium chloride</a:t>
            </a:r>
            <a:r>
              <a:rPr lang="en-US" sz="1250" dirty="0">
                <a:solidFill>
                  <a:srgbClr val="262B3A"/>
                </a:solidFill>
                <a:latin typeface="Calibri" pitchFamily="34" charset="0"/>
                <a:ea typeface="Calibri" pitchFamily="34" charset="-122"/>
                <a:cs typeface="Calibri" pitchFamily="34" charset="-120"/>
              </a:rPr>
              <a:t> not conduct electricity, but its </a:t>
            </a:r>
            <a:r>
              <a:rPr lang="en-US" sz="1250" b="1" dirty="0">
                <a:solidFill>
                  <a:srgbClr val="262B3A"/>
                </a:solidFill>
                <a:latin typeface="Calibri" pitchFamily="34" charset="0"/>
                <a:ea typeface="Calibri" pitchFamily="34" charset="-122"/>
                <a:cs typeface="Calibri" pitchFamily="34" charset="-120"/>
              </a:rPr>
              <a:t>solution</a:t>
            </a:r>
            <a:r>
              <a:rPr lang="en-US" sz="1250" dirty="0">
                <a:solidFill>
                  <a:srgbClr val="262B3A"/>
                </a:solidFill>
                <a:latin typeface="Calibri" pitchFamily="34" charset="0"/>
                <a:ea typeface="Calibri" pitchFamily="34" charset="-122"/>
                <a:cs typeface="Calibri" pitchFamily="34" charset="-120"/>
              </a:rPr>
              <a:t> does?</a:t>
            </a:r>
            <a:endParaRPr lang="en-US" sz="1250" dirty="0"/>
          </a:p>
        </p:txBody>
      </p:sp>
      <p:sp>
        <p:nvSpPr>
          <p:cNvPr id="23" name="Shape 21"/>
          <p:cNvSpPr/>
          <p:nvPr/>
        </p:nvSpPr>
        <p:spPr>
          <a:xfrm>
            <a:off x="411480" y="3429000"/>
            <a:ext cx="3657600" cy="2011680"/>
          </a:xfrm>
          <a:prstGeom prst="roundRect">
            <a:avLst>
              <a:gd name="adj" fmla="val 2727"/>
            </a:avLst>
          </a:prstGeom>
          <a:solidFill>
            <a:srgbClr val="F8F5FC"/>
          </a:solidFill>
          <a:ln w="9525">
            <a:solidFill>
              <a:srgbClr val="DDD3EC"/>
            </a:solidFill>
            <a:prstDash val="solid"/>
          </a:ln>
        </p:spPr>
      </p:sp>
      <p:sp>
        <p:nvSpPr>
          <p:cNvPr id="24" name="Shape 22"/>
          <p:cNvSpPr/>
          <p:nvPr/>
        </p:nvSpPr>
        <p:spPr>
          <a:xfrm>
            <a:off x="548640" y="3566160"/>
            <a:ext cx="438912" cy="438912"/>
          </a:xfrm>
          <a:prstGeom prst="ellipse">
            <a:avLst/>
          </a:prstGeom>
          <a:solidFill>
            <a:srgbClr val="6A3FA0"/>
          </a:solidFill>
          <a:ln w="12700">
            <a:solidFill>
              <a:srgbClr val="6A3FA0"/>
            </a:solidFill>
            <a:prstDash val="solid"/>
          </a:ln>
        </p:spPr>
      </p:sp>
      <p:sp>
        <p:nvSpPr>
          <p:cNvPr id="25" name="Text 23"/>
          <p:cNvSpPr/>
          <p:nvPr/>
        </p:nvSpPr>
        <p:spPr>
          <a:xfrm>
            <a:off x="548640" y="356616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4</a:t>
            </a:r>
            <a:endParaRPr lang="en-US" sz="1500" dirty="0"/>
          </a:p>
        </p:txBody>
      </p:sp>
      <p:sp>
        <p:nvSpPr>
          <p:cNvPr id="26" name="Text 24"/>
          <p:cNvSpPr/>
          <p:nvPr/>
        </p:nvSpPr>
        <p:spPr>
          <a:xfrm>
            <a:off x="1097280" y="3611880"/>
            <a:ext cx="2834640" cy="347472"/>
          </a:xfrm>
          <a:prstGeom prst="rect">
            <a:avLst/>
          </a:prstGeom>
          <a:noFill/>
          <a:ln/>
        </p:spPr>
        <p:txBody>
          <a:bodyPr wrap="square" lIns="0" tIns="0" rIns="0" bIns="0" rtlCol="0" anchor="ctr"/>
          <a:lstStyle/>
          <a:p>
            <a:pPr indent="0" marL="0">
              <a:buNone/>
            </a:pPr>
            <a:r>
              <a:rPr lang="en-US" sz="1050" i="1" dirty="0">
                <a:solidFill>
                  <a:srgbClr val="6A3FA0"/>
                </a:solidFill>
                <a:latin typeface="Calibri" pitchFamily="34" charset="0"/>
                <a:ea typeface="Calibri" pitchFamily="34" charset="-122"/>
                <a:cs typeface="Calibri" pitchFamily="34" charset="-120"/>
              </a:rPr>
              <a:t>C5.1 • separation</a:t>
            </a:r>
            <a:endParaRPr lang="en-US" sz="1050" dirty="0"/>
          </a:p>
        </p:txBody>
      </p:sp>
      <p:sp>
        <p:nvSpPr>
          <p:cNvPr id="27" name="Text 25"/>
          <p:cNvSpPr/>
          <p:nvPr/>
        </p:nvSpPr>
        <p:spPr>
          <a:xfrm>
            <a:off x="594360" y="4114800"/>
            <a:ext cx="3291840" cy="118872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Name the method to remove an </a:t>
            </a:r>
            <a:r>
              <a:rPr lang="en-US" sz="1250" b="1" dirty="0">
                <a:solidFill>
                  <a:srgbClr val="262B3A"/>
                </a:solidFill>
                <a:latin typeface="Calibri" pitchFamily="34" charset="0"/>
                <a:ea typeface="Calibri" pitchFamily="34" charset="-122"/>
                <a:cs typeface="Calibri" pitchFamily="34" charset="-120"/>
              </a:rPr>
              <a:t>insoluble</a:t>
            </a:r>
            <a:r>
              <a:rPr lang="en-US" sz="1250" dirty="0">
                <a:solidFill>
                  <a:srgbClr val="262B3A"/>
                </a:solidFill>
                <a:latin typeface="Calibri" pitchFamily="34" charset="0"/>
                <a:ea typeface="Calibri" pitchFamily="34" charset="-122"/>
                <a:cs typeface="Calibri" pitchFamily="34" charset="-120"/>
              </a:rPr>
              <a:t> solid from a liquid, and the method to get a </a:t>
            </a:r>
            <a:r>
              <a:rPr lang="en-US" sz="1250" b="1" dirty="0">
                <a:solidFill>
                  <a:srgbClr val="262B3A"/>
                </a:solidFill>
                <a:latin typeface="Calibri" pitchFamily="34" charset="0"/>
                <a:ea typeface="Calibri" pitchFamily="34" charset="-122"/>
                <a:cs typeface="Calibri" pitchFamily="34" charset="-120"/>
              </a:rPr>
              <a:t>dissolved</a:t>
            </a:r>
            <a:r>
              <a:rPr lang="en-US" sz="1250" dirty="0">
                <a:solidFill>
                  <a:srgbClr val="262B3A"/>
                </a:solidFill>
                <a:latin typeface="Calibri" pitchFamily="34" charset="0"/>
                <a:ea typeface="Calibri" pitchFamily="34" charset="-122"/>
                <a:cs typeface="Calibri" pitchFamily="34" charset="-120"/>
              </a:rPr>
              <a:t> solid back.</a:t>
            </a:r>
            <a:endParaRPr lang="en-US" sz="1250" dirty="0"/>
          </a:p>
        </p:txBody>
      </p:sp>
      <p:sp>
        <p:nvSpPr>
          <p:cNvPr id="28" name="Shape 26"/>
          <p:cNvSpPr/>
          <p:nvPr/>
        </p:nvSpPr>
        <p:spPr>
          <a:xfrm>
            <a:off x="4251960" y="3429000"/>
            <a:ext cx="3657600" cy="2011680"/>
          </a:xfrm>
          <a:prstGeom prst="roundRect">
            <a:avLst>
              <a:gd name="adj" fmla="val 2727"/>
            </a:avLst>
          </a:prstGeom>
          <a:solidFill>
            <a:srgbClr val="F8F5FC"/>
          </a:solidFill>
          <a:ln w="9525">
            <a:solidFill>
              <a:srgbClr val="DDD3EC"/>
            </a:solidFill>
            <a:prstDash val="solid"/>
          </a:ln>
        </p:spPr>
      </p:sp>
      <p:sp>
        <p:nvSpPr>
          <p:cNvPr id="29" name="Shape 27"/>
          <p:cNvSpPr/>
          <p:nvPr/>
        </p:nvSpPr>
        <p:spPr>
          <a:xfrm>
            <a:off x="4389120" y="3566160"/>
            <a:ext cx="438912" cy="438912"/>
          </a:xfrm>
          <a:prstGeom prst="ellipse">
            <a:avLst/>
          </a:prstGeom>
          <a:solidFill>
            <a:srgbClr val="6A3FA0"/>
          </a:solidFill>
          <a:ln w="12700">
            <a:solidFill>
              <a:srgbClr val="6A3FA0"/>
            </a:solidFill>
            <a:prstDash val="solid"/>
          </a:ln>
        </p:spPr>
      </p:sp>
      <p:sp>
        <p:nvSpPr>
          <p:cNvPr id="30" name="Text 28"/>
          <p:cNvSpPr/>
          <p:nvPr/>
        </p:nvSpPr>
        <p:spPr>
          <a:xfrm>
            <a:off x="4389120" y="356616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5</a:t>
            </a:r>
            <a:endParaRPr lang="en-US" sz="1500" dirty="0"/>
          </a:p>
        </p:txBody>
      </p:sp>
      <p:sp>
        <p:nvSpPr>
          <p:cNvPr id="31" name="Text 29"/>
          <p:cNvSpPr/>
          <p:nvPr/>
        </p:nvSpPr>
        <p:spPr>
          <a:xfrm>
            <a:off x="4937760" y="3611880"/>
            <a:ext cx="2834640" cy="347472"/>
          </a:xfrm>
          <a:prstGeom prst="rect">
            <a:avLst/>
          </a:prstGeom>
          <a:noFill/>
          <a:ln/>
        </p:spPr>
        <p:txBody>
          <a:bodyPr wrap="square" lIns="0" tIns="0" rIns="0" bIns="0" rtlCol="0" anchor="ctr"/>
          <a:lstStyle/>
          <a:p>
            <a:pPr indent="0" marL="0">
              <a:buNone/>
            </a:pPr>
            <a:r>
              <a:rPr lang="en-US" sz="1050" i="1" dirty="0">
                <a:solidFill>
                  <a:srgbClr val="6A3FA0"/>
                </a:solidFill>
                <a:latin typeface="Calibri" pitchFamily="34" charset="0"/>
                <a:ea typeface="Calibri" pitchFamily="34" charset="-122"/>
                <a:cs typeface="Calibri" pitchFamily="34" charset="-120"/>
              </a:rPr>
              <a:t>C5.2 • Mr</a:t>
            </a:r>
            <a:endParaRPr lang="en-US" sz="1050" dirty="0"/>
          </a:p>
        </p:txBody>
      </p:sp>
      <p:sp>
        <p:nvSpPr>
          <p:cNvPr id="32" name="Text 30"/>
          <p:cNvSpPr/>
          <p:nvPr/>
        </p:nvSpPr>
        <p:spPr>
          <a:xfrm>
            <a:off x="4434840" y="4114800"/>
            <a:ext cx="3291840" cy="118872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Calculate the relative formula mass of </a:t>
            </a:r>
            <a:r>
              <a:rPr lang="en-US" sz="1250" b="1" dirty="0">
                <a:solidFill>
                  <a:srgbClr val="262B3A"/>
                </a:solidFill>
                <a:latin typeface="Calibri" pitchFamily="34" charset="0"/>
                <a:ea typeface="Calibri" pitchFamily="34" charset="-122"/>
                <a:cs typeface="Calibri" pitchFamily="34" charset="-120"/>
              </a:rPr>
              <a:t>magnesium carbonate, MgCO₃</a:t>
            </a:r>
            <a:r>
              <a:rPr lang="en-US" sz="1250" dirty="0">
                <a:solidFill>
                  <a:srgbClr val="262B3A"/>
                </a:solidFill>
                <a:latin typeface="Calibri" pitchFamily="34" charset="0"/>
                <a:ea typeface="Calibri" pitchFamily="34" charset="-122"/>
                <a:cs typeface="Calibri" pitchFamily="34" charset="-120"/>
              </a:rPr>
              <a:t>. (Mg 24.3, C 12.0, O 16.0)</a:t>
            </a:r>
            <a:endParaRPr lang="en-US" sz="1250" dirty="0"/>
          </a:p>
        </p:txBody>
      </p:sp>
      <p:sp>
        <p:nvSpPr>
          <p:cNvPr id="33" name="Shape 31"/>
          <p:cNvSpPr/>
          <p:nvPr/>
        </p:nvSpPr>
        <p:spPr>
          <a:xfrm>
            <a:off x="8092440" y="3429000"/>
            <a:ext cx="3657600" cy="2011680"/>
          </a:xfrm>
          <a:prstGeom prst="roundRect">
            <a:avLst>
              <a:gd name="adj" fmla="val 2727"/>
            </a:avLst>
          </a:prstGeom>
          <a:solidFill>
            <a:srgbClr val="F8F5FC"/>
          </a:solidFill>
          <a:ln w="9525">
            <a:solidFill>
              <a:srgbClr val="DDD3EC"/>
            </a:solidFill>
            <a:prstDash val="solid"/>
          </a:ln>
        </p:spPr>
      </p:sp>
      <p:sp>
        <p:nvSpPr>
          <p:cNvPr id="34" name="Shape 32"/>
          <p:cNvSpPr/>
          <p:nvPr/>
        </p:nvSpPr>
        <p:spPr>
          <a:xfrm>
            <a:off x="8229600" y="3566160"/>
            <a:ext cx="438912" cy="438912"/>
          </a:xfrm>
          <a:prstGeom prst="ellipse">
            <a:avLst/>
          </a:prstGeom>
          <a:solidFill>
            <a:srgbClr val="6A3FA0"/>
          </a:solidFill>
          <a:ln w="12700">
            <a:solidFill>
              <a:srgbClr val="6A3FA0"/>
            </a:solidFill>
            <a:prstDash val="solid"/>
          </a:ln>
        </p:spPr>
      </p:sp>
      <p:sp>
        <p:nvSpPr>
          <p:cNvPr id="35" name="Text 33"/>
          <p:cNvSpPr/>
          <p:nvPr/>
        </p:nvSpPr>
        <p:spPr>
          <a:xfrm>
            <a:off x="8229600" y="3566160"/>
            <a:ext cx="438912" cy="438912"/>
          </a:xfrm>
          <a:prstGeom prst="rect">
            <a:avLst/>
          </a:prstGeom>
          <a:noFill/>
          <a:ln/>
        </p:spPr>
        <p:txBody>
          <a:bodyPr wrap="square" lIns="0" tIns="0" rIns="0" bIns="0" rtlCol="0" anchor="ctr"/>
          <a:lstStyle/>
          <a:p>
            <a:pPr algn="ctr" indent="0" marL="0">
              <a:buNone/>
            </a:pPr>
            <a:r>
              <a:rPr lang="en-US" sz="1500" b="1" dirty="0">
                <a:solidFill>
                  <a:srgbClr val="FFFFFF"/>
                </a:solidFill>
                <a:latin typeface="Georgia" pitchFamily="34" charset="0"/>
                <a:ea typeface="Georgia" pitchFamily="34" charset="-122"/>
                <a:cs typeface="Georgia" pitchFamily="34" charset="-120"/>
              </a:rPr>
              <a:t>6</a:t>
            </a:r>
            <a:endParaRPr lang="en-US" sz="1500" dirty="0"/>
          </a:p>
        </p:txBody>
      </p:sp>
      <p:sp>
        <p:nvSpPr>
          <p:cNvPr id="36" name="Text 34"/>
          <p:cNvSpPr/>
          <p:nvPr/>
        </p:nvSpPr>
        <p:spPr>
          <a:xfrm>
            <a:off x="8778240" y="3611880"/>
            <a:ext cx="2834640" cy="347472"/>
          </a:xfrm>
          <a:prstGeom prst="rect">
            <a:avLst/>
          </a:prstGeom>
          <a:noFill/>
          <a:ln/>
        </p:spPr>
        <p:txBody>
          <a:bodyPr wrap="square" lIns="0" tIns="0" rIns="0" bIns="0" rtlCol="0" anchor="ctr"/>
          <a:lstStyle/>
          <a:p>
            <a:pPr indent="0" marL="0">
              <a:buNone/>
            </a:pPr>
            <a:r>
              <a:rPr lang="en-US" sz="1050" i="1" dirty="0">
                <a:solidFill>
                  <a:srgbClr val="6A3FA0"/>
                </a:solidFill>
                <a:latin typeface="Calibri" pitchFamily="34" charset="0"/>
                <a:ea typeface="Calibri" pitchFamily="34" charset="-122"/>
                <a:cs typeface="Calibri" pitchFamily="34" charset="-120"/>
              </a:rPr>
              <a:t>C5.3 • titration</a:t>
            </a:r>
            <a:endParaRPr lang="en-US" sz="1050" dirty="0"/>
          </a:p>
        </p:txBody>
      </p:sp>
      <p:sp>
        <p:nvSpPr>
          <p:cNvPr id="37" name="Text 35"/>
          <p:cNvSpPr/>
          <p:nvPr/>
        </p:nvSpPr>
        <p:spPr>
          <a:xfrm>
            <a:off x="8275320" y="4114800"/>
            <a:ext cx="3291840" cy="118872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In a titration, what does the </a:t>
            </a:r>
            <a:r>
              <a:rPr lang="en-US" sz="1250" b="1" dirty="0">
                <a:solidFill>
                  <a:srgbClr val="262B3A"/>
                </a:solidFill>
                <a:latin typeface="Calibri" pitchFamily="34" charset="0"/>
                <a:ea typeface="Calibri" pitchFamily="34" charset="-122"/>
                <a:cs typeface="Calibri" pitchFamily="34" charset="-120"/>
              </a:rPr>
              <a:t>indicator</a:t>
            </a:r>
            <a:r>
              <a:rPr lang="en-US" sz="1250" dirty="0">
                <a:solidFill>
                  <a:srgbClr val="262B3A"/>
                </a:solidFill>
                <a:latin typeface="Calibri" pitchFamily="34" charset="0"/>
                <a:ea typeface="Calibri" pitchFamily="34" charset="-122"/>
                <a:cs typeface="Calibri" pitchFamily="34" charset="-120"/>
              </a:rPr>
              <a:t> show? Name the apparatus that adds the acid </a:t>
            </a:r>
            <a:r>
              <a:rPr lang="en-US" sz="1250" b="1" dirty="0">
                <a:solidFill>
                  <a:srgbClr val="262B3A"/>
                </a:solidFill>
                <a:latin typeface="Calibri" pitchFamily="34" charset="0"/>
                <a:ea typeface="Calibri" pitchFamily="34" charset="-122"/>
                <a:cs typeface="Calibri" pitchFamily="34" charset="-120"/>
              </a:rPr>
              <a:t>drop by drop</a:t>
            </a:r>
            <a:r>
              <a:rPr lang="en-US" sz="1250" dirty="0">
                <a:solidFill>
                  <a:srgbClr val="262B3A"/>
                </a:solidFill>
                <a:latin typeface="Calibri" pitchFamily="34" charset="0"/>
                <a:ea typeface="Calibri" pitchFamily="34" charset="-122"/>
                <a:cs typeface="Calibri" pitchFamily="34" charset="-120"/>
              </a:rPr>
              <a:t>.</a:t>
            </a:r>
            <a:endParaRPr lang="en-US" sz="1250" dirty="0"/>
          </a:p>
        </p:txBody>
      </p:sp>
      <p:sp>
        <p:nvSpPr>
          <p:cNvPr id="38" name="Shape 36"/>
          <p:cNvSpPr/>
          <p:nvPr/>
        </p:nvSpPr>
        <p:spPr>
          <a:xfrm>
            <a:off x="411480" y="5715000"/>
            <a:ext cx="11368735" cy="548640"/>
          </a:xfrm>
          <a:prstGeom prst="rect">
            <a:avLst/>
          </a:prstGeom>
          <a:solidFill>
            <a:srgbClr val="F1ECF8"/>
          </a:solidFill>
          <a:ln w="12700">
            <a:solidFill>
              <a:srgbClr val="DDD3EC"/>
            </a:solidFill>
            <a:prstDash val="solid"/>
          </a:ln>
        </p:spPr>
      </p:sp>
      <p:sp>
        <p:nvSpPr>
          <p:cNvPr id="39" name="Text 37"/>
          <p:cNvSpPr/>
          <p:nvPr/>
        </p:nvSpPr>
        <p:spPr>
          <a:xfrm>
            <a:off x="640080" y="5715000"/>
            <a:ext cx="10911535" cy="548640"/>
          </a:xfrm>
          <a:prstGeom prst="rect">
            <a:avLst/>
          </a:prstGeom>
          <a:noFill/>
          <a:ln/>
        </p:spPr>
        <p:txBody>
          <a:bodyPr wrap="square" lIns="0" tIns="0" rIns="0" bIns="0" rtlCol="0" anchor="ctr"/>
          <a:lstStyle/>
          <a:p>
            <a:pPr indent="0" marL="0">
              <a:buNone/>
            </a:pPr>
            <a:r>
              <a:rPr lang="en-US" sz="1200" b="1" dirty="0">
                <a:solidFill>
                  <a:srgbClr val="6A3FA0"/>
                </a:solidFill>
                <a:latin typeface="Calibri" pitchFamily="34" charset="0"/>
                <a:ea typeface="Calibri" pitchFamily="34" charset="-122"/>
                <a:cs typeface="Calibri" pitchFamily="34" charset="-120"/>
              </a:rPr>
              <a:t>Self-mark   </a:t>
            </a:r>
            <a:r>
              <a:rPr lang="en-US" sz="1200" dirty="0">
                <a:solidFill>
                  <a:srgbClr val="262B3A"/>
                </a:solidFill>
                <a:latin typeface="Calibri" pitchFamily="34" charset="0"/>
                <a:ea typeface="Calibri" pitchFamily="34" charset="-122"/>
                <a:cs typeface="Calibri" pitchFamily="34" charset="-120"/>
              </a:rPr>
              <a:t>Swap and mark from the answers.  6/6 secure  •  4–5 nearly there  •  0–3 revisit the topic notes</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Acids and alkalis in water</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Specification C6.1.3 • acids form hydrogen ions in water; alkalis form hydroxide ions</a:t>
            </a:r>
            <a:endParaRPr lang="en-US" sz="1100" dirty="0"/>
          </a:p>
        </p:txBody>
      </p:sp>
      <p:sp>
        <p:nvSpPr>
          <p:cNvPr id="6" name="Text 4"/>
          <p:cNvSpPr/>
          <p:nvPr/>
        </p:nvSpPr>
        <p:spPr>
          <a:xfrm>
            <a:off x="411480" y="6473952"/>
            <a:ext cx="1014984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C6.1 What useful products can be made from acids?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C6.1.3  |  5</a:t>
            </a:r>
            <a:endParaRPr lang="en-US" sz="1000" dirty="0"/>
          </a:p>
        </p:txBody>
      </p:sp>
      <p:sp>
        <p:nvSpPr>
          <p:cNvPr id="8" name="Shape 6"/>
          <p:cNvSpPr/>
          <p:nvPr/>
        </p:nvSpPr>
        <p:spPr>
          <a:xfrm>
            <a:off x="411480" y="1188720"/>
            <a:ext cx="5577840" cy="4526280"/>
          </a:xfrm>
          <a:prstGeom prst="roundRect">
            <a:avLst>
              <a:gd name="adj" fmla="val 1616"/>
            </a:avLst>
          </a:prstGeom>
          <a:solidFill>
            <a:srgbClr val="F4F0FA"/>
          </a:solidFill>
          <a:ln w="9525">
            <a:solidFill>
              <a:srgbClr val="DED4EE"/>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ions in solution; water molecules not drawn; not to scale</a:t>
            </a:r>
            <a:endParaRPr lang="en-US" sz="1000" dirty="0"/>
          </a:p>
        </p:txBody>
      </p:sp>
      <p:sp>
        <p:nvSpPr>
          <p:cNvPr id="10" name="Text 8"/>
          <p:cNvSpPr/>
          <p:nvPr/>
        </p:nvSpPr>
        <p:spPr>
          <a:xfrm>
            <a:off x="594360" y="1325880"/>
            <a:ext cx="2560320" cy="237744"/>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Hydrochloric acid, HCl(aq)</a:t>
            </a:r>
            <a:endParaRPr lang="en-US" sz="1050" dirty="0"/>
          </a:p>
        </p:txBody>
      </p:sp>
      <p:sp>
        <p:nvSpPr>
          <p:cNvPr id="11" name="Shape 9"/>
          <p:cNvSpPr/>
          <p:nvPr/>
        </p:nvSpPr>
        <p:spPr>
          <a:xfrm>
            <a:off x="685800" y="1691640"/>
            <a:ext cx="2194560" cy="1920240"/>
          </a:xfrm>
          <a:prstGeom prst="rect">
            <a:avLst/>
          </a:prstGeom>
          <a:solidFill>
            <a:srgbClr val="EEF5FB"/>
          </a:solidFill>
          <a:ln/>
        </p:spPr>
      </p:sp>
      <p:sp>
        <p:nvSpPr>
          <p:cNvPr id="12" name="Shape 10"/>
          <p:cNvSpPr/>
          <p:nvPr/>
        </p:nvSpPr>
        <p:spPr>
          <a:xfrm>
            <a:off x="685800" y="1979676"/>
            <a:ext cx="2194560" cy="1632204"/>
          </a:xfrm>
          <a:prstGeom prst="rect">
            <a:avLst/>
          </a:prstGeom>
          <a:solidFill>
            <a:srgbClr val="F9D9D2"/>
          </a:solidFill>
          <a:ln/>
        </p:spPr>
      </p:sp>
      <p:sp>
        <p:nvSpPr>
          <p:cNvPr id="13" name="Shape 11"/>
          <p:cNvSpPr/>
          <p:nvPr/>
        </p:nvSpPr>
        <p:spPr>
          <a:xfrm>
            <a:off x="685800" y="1979676"/>
            <a:ext cx="2194560" cy="91"/>
          </a:xfrm>
          <a:prstGeom prst="line">
            <a:avLst/>
          </a:prstGeom>
          <a:noFill/>
          <a:ln w="12700">
            <a:solidFill>
              <a:srgbClr val="5B9BD5"/>
            </a:solidFill>
            <a:prstDash val="solid"/>
          </a:ln>
        </p:spPr>
      </p:sp>
      <p:sp>
        <p:nvSpPr>
          <p:cNvPr id="14" name="Shape 12"/>
          <p:cNvSpPr/>
          <p:nvPr/>
        </p:nvSpPr>
        <p:spPr>
          <a:xfrm>
            <a:off x="685800" y="1691640"/>
            <a:ext cx="91" cy="1920240"/>
          </a:xfrm>
          <a:prstGeom prst="line">
            <a:avLst/>
          </a:prstGeom>
          <a:noFill/>
          <a:ln w="19050">
            <a:solidFill>
              <a:srgbClr val="2A1F3D"/>
            </a:solidFill>
            <a:prstDash val="solid"/>
          </a:ln>
        </p:spPr>
      </p:sp>
      <p:sp>
        <p:nvSpPr>
          <p:cNvPr id="15" name="Shape 13"/>
          <p:cNvSpPr/>
          <p:nvPr/>
        </p:nvSpPr>
        <p:spPr>
          <a:xfrm>
            <a:off x="2880360" y="1691640"/>
            <a:ext cx="91" cy="1920240"/>
          </a:xfrm>
          <a:prstGeom prst="line">
            <a:avLst/>
          </a:prstGeom>
          <a:noFill/>
          <a:ln w="19050">
            <a:solidFill>
              <a:srgbClr val="2A1F3D"/>
            </a:solidFill>
            <a:prstDash val="solid"/>
          </a:ln>
        </p:spPr>
      </p:sp>
      <p:sp>
        <p:nvSpPr>
          <p:cNvPr id="16" name="Shape 14"/>
          <p:cNvSpPr/>
          <p:nvPr/>
        </p:nvSpPr>
        <p:spPr>
          <a:xfrm>
            <a:off x="685800" y="3611880"/>
            <a:ext cx="2194560" cy="91"/>
          </a:xfrm>
          <a:prstGeom prst="line">
            <a:avLst/>
          </a:prstGeom>
          <a:noFill/>
          <a:ln w="19050">
            <a:solidFill>
              <a:srgbClr val="2A1F3D"/>
            </a:solidFill>
            <a:prstDash val="solid"/>
          </a:ln>
        </p:spPr>
      </p:sp>
      <p:sp>
        <p:nvSpPr>
          <p:cNvPr id="17" name="Shape 15"/>
          <p:cNvSpPr/>
          <p:nvPr/>
        </p:nvSpPr>
        <p:spPr>
          <a:xfrm>
            <a:off x="630936" y="1691640"/>
            <a:ext cx="54864" cy="91"/>
          </a:xfrm>
          <a:prstGeom prst="line">
            <a:avLst/>
          </a:prstGeom>
          <a:noFill/>
          <a:ln w="19050">
            <a:solidFill>
              <a:srgbClr val="2A1F3D"/>
            </a:solidFill>
            <a:prstDash val="solid"/>
          </a:ln>
        </p:spPr>
      </p:sp>
      <p:sp>
        <p:nvSpPr>
          <p:cNvPr id="18" name="Shape 16"/>
          <p:cNvSpPr/>
          <p:nvPr/>
        </p:nvSpPr>
        <p:spPr>
          <a:xfrm>
            <a:off x="2880360" y="1691640"/>
            <a:ext cx="54864" cy="91"/>
          </a:xfrm>
          <a:prstGeom prst="line">
            <a:avLst/>
          </a:prstGeom>
          <a:noFill/>
          <a:ln w="19050">
            <a:solidFill>
              <a:srgbClr val="2A1F3D"/>
            </a:solidFill>
            <a:prstDash val="solid"/>
          </a:ln>
        </p:spPr>
      </p:sp>
      <p:sp>
        <p:nvSpPr>
          <p:cNvPr id="19" name="Shape 17"/>
          <p:cNvSpPr/>
          <p:nvPr/>
        </p:nvSpPr>
        <p:spPr>
          <a:xfrm>
            <a:off x="850392" y="1993392"/>
            <a:ext cx="310896" cy="310896"/>
          </a:xfrm>
          <a:prstGeom prst="ellipse">
            <a:avLst/>
          </a:prstGeom>
          <a:solidFill>
            <a:srgbClr val="F6B0A8"/>
          </a:solidFill>
          <a:ln w="12700">
            <a:solidFill>
              <a:srgbClr val="B7372B"/>
            </a:solidFill>
            <a:prstDash val="solid"/>
          </a:ln>
        </p:spPr>
      </p:sp>
      <p:sp>
        <p:nvSpPr>
          <p:cNvPr id="20" name="Text 18"/>
          <p:cNvSpPr/>
          <p:nvPr/>
        </p:nvSpPr>
        <p:spPr>
          <a:xfrm>
            <a:off x="758952" y="1993392"/>
            <a:ext cx="493776" cy="310896"/>
          </a:xfrm>
          <a:prstGeom prst="rect">
            <a:avLst/>
          </a:prstGeom>
          <a:noFill/>
          <a:ln/>
        </p:spPr>
        <p:txBody>
          <a:bodyPr wrap="square" lIns="0" tIns="0" rIns="0" bIns="0" rtlCol="0" anchor="ctr"/>
          <a:lstStyle/>
          <a:p>
            <a:pPr algn="ctr" indent="0" marL="0">
              <a:buNone/>
            </a:pPr>
            <a:r>
              <a:rPr lang="en-US" sz="950" b="1" dirty="0">
                <a:solidFill>
                  <a:srgbClr val="2A1F3D"/>
                </a:solidFill>
                <a:latin typeface="Calibri" pitchFamily="34" charset="0"/>
                <a:ea typeface="Calibri" pitchFamily="34" charset="-122"/>
                <a:cs typeface="Calibri" pitchFamily="34" charset="-120"/>
              </a:rPr>
              <a:t>H⁺</a:t>
            </a:r>
            <a:endParaRPr lang="en-US" sz="950" dirty="0"/>
          </a:p>
        </p:txBody>
      </p:sp>
      <p:sp>
        <p:nvSpPr>
          <p:cNvPr id="21" name="Shape 19"/>
          <p:cNvSpPr/>
          <p:nvPr/>
        </p:nvSpPr>
        <p:spPr>
          <a:xfrm>
            <a:off x="1490472" y="1901952"/>
            <a:ext cx="310896" cy="310896"/>
          </a:xfrm>
          <a:prstGeom prst="ellipse">
            <a:avLst/>
          </a:prstGeom>
          <a:solidFill>
            <a:srgbClr val="B9E0A8"/>
          </a:solidFill>
          <a:ln w="12700">
            <a:solidFill>
              <a:srgbClr val="3E7F2E"/>
            </a:solidFill>
            <a:prstDash val="solid"/>
          </a:ln>
        </p:spPr>
      </p:sp>
      <p:sp>
        <p:nvSpPr>
          <p:cNvPr id="22" name="Text 20"/>
          <p:cNvSpPr/>
          <p:nvPr/>
        </p:nvSpPr>
        <p:spPr>
          <a:xfrm>
            <a:off x="1399032" y="1901952"/>
            <a:ext cx="493776" cy="310896"/>
          </a:xfrm>
          <a:prstGeom prst="rect">
            <a:avLst/>
          </a:prstGeom>
          <a:noFill/>
          <a:ln/>
        </p:spPr>
        <p:txBody>
          <a:bodyPr wrap="square" lIns="0" tIns="0" rIns="0" bIns="0" rtlCol="0" anchor="ctr"/>
          <a:lstStyle/>
          <a:p>
            <a:pPr algn="ctr" indent="0" marL="0">
              <a:buNone/>
            </a:pPr>
            <a:r>
              <a:rPr lang="en-US" sz="950" b="1" dirty="0">
                <a:solidFill>
                  <a:srgbClr val="2A1F3D"/>
                </a:solidFill>
                <a:latin typeface="Calibri" pitchFamily="34" charset="0"/>
                <a:ea typeface="Calibri" pitchFamily="34" charset="-122"/>
                <a:cs typeface="Calibri" pitchFamily="34" charset="-120"/>
              </a:rPr>
              <a:t>Cl⁻</a:t>
            </a:r>
            <a:endParaRPr lang="en-US" sz="950" dirty="0"/>
          </a:p>
        </p:txBody>
      </p:sp>
      <p:sp>
        <p:nvSpPr>
          <p:cNvPr id="23" name="Shape 21"/>
          <p:cNvSpPr/>
          <p:nvPr/>
        </p:nvSpPr>
        <p:spPr>
          <a:xfrm>
            <a:off x="2176272" y="2039112"/>
            <a:ext cx="310896" cy="310896"/>
          </a:xfrm>
          <a:prstGeom prst="ellipse">
            <a:avLst/>
          </a:prstGeom>
          <a:solidFill>
            <a:srgbClr val="F6B0A8"/>
          </a:solidFill>
          <a:ln w="12700">
            <a:solidFill>
              <a:srgbClr val="B7372B"/>
            </a:solidFill>
            <a:prstDash val="solid"/>
          </a:ln>
        </p:spPr>
      </p:sp>
      <p:sp>
        <p:nvSpPr>
          <p:cNvPr id="24" name="Text 22"/>
          <p:cNvSpPr/>
          <p:nvPr/>
        </p:nvSpPr>
        <p:spPr>
          <a:xfrm>
            <a:off x="2084832" y="2039112"/>
            <a:ext cx="493776" cy="310896"/>
          </a:xfrm>
          <a:prstGeom prst="rect">
            <a:avLst/>
          </a:prstGeom>
          <a:noFill/>
          <a:ln/>
        </p:spPr>
        <p:txBody>
          <a:bodyPr wrap="square" lIns="0" tIns="0" rIns="0" bIns="0" rtlCol="0" anchor="ctr"/>
          <a:lstStyle/>
          <a:p>
            <a:pPr algn="ctr" indent="0" marL="0">
              <a:buNone/>
            </a:pPr>
            <a:r>
              <a:rPr lang="en-US" sz="950" b="1" dirty="0">
                <a:solidFill>
                  <a:srgbClr val="2A1F3D"/>
                </a:solidFill>
                <a:latin typeface="Calibri" pitchFamily="34" charset="0"/>
                <a:ea typeface="Calibri" pitchFamily="34" charset="-122"/>
                <a:cs typeface="Calibri" pitchFamily="34" charset="-120"/>
              </a:rPr>
              <a:t>H⁺</a:t>
            </a:r>
            <a:endParaRPr lang="en-US" sz="950" dirty="0"/>
          </a:p>
        </p:txBody>
      </p:sp>
      <p:sp>
        <p:nvSpPr>
          <p:cNvPr id="25" name="Shape 23"/>
          <p:cNvSpPr/>
          <p:nvPr/>
        </p:nvSpPr>
        <p:spPr>
          <a:xfrm>
            <a:off x="1078992" y="2542032"/>
            <a:ext cx="310896" cy="310896"/>
          </a:xfrm>
          <a:prstGeom prst="ellipse">
            <a:avLst/>
          </a:prstGeom>
          <a:solidFill>
            <a:srgbClr val="B9E0A8"/>
          </a:solidFill>
          <a:ln w="12700">
            <a:solidFill>
              <a:srgbClr val="3E7F2E"/>
            </a:solidFill>
            <a:prstDash val="solid"/>
          </a:ln>
        </p:spPr>
      </p:sp>
      <p:sp>
        <p:nvSpPr>
          <p:cNvPr id="26" name="Text 24"/>
          <p:cNvSpPr/>
          <p:nvPr/>
        </p:nvSpPr>
        <p:spPr>
          <a:xfrm>
            <a:off x="987552" y="2542032"/>
            <a:ext cx="493776" cy="310896"/>
          </a:xfrm>
          <a:prstGeom prst="rect">
            <a:avLst/>
          </a:prstGeom>
          <a:noFill/>
          <a:ln/>
        </p:spPr>
        <p:txBody>
          <a:bodyPr wrap="square" lIns="0" tIns="0" rIns="0" bIns="0" rtlCol="0" anchor="ctr"/>
          <a:lstStyle/>
          <a:p>
            <a:pPr algn="ctr" indent="0" marL="0">
              <a:buNone/>
            </a:pPr>
            <a:r>
              <a:rPr lang="en-US" sz="950" b="1" dirty="0">
                <a:solidFill>
                  <a:srgbClr val="2A1F3D"/>
                </a:solidFill>
                <a:latin typeface="Calibri" pitchFamily="34" charset="0"/>
                <a:ea typeface="Calibri" pitchFamily="34" charset="-122"/>
                <a:cs typeface="Calibri" pitchFamily="34" charset="-120"/>
              </a:rPr>
              <a:t>Cl⁻</a:t>
            </a:r>
            <a:endParaRPr lang="en-US" sz="950" dirty="0"/>
          </a:p>
        </p:txBody>
      </p:sp>
      <p:sp>
        <p:nvSpPr>
          <p:cNvPr id="27" name="Shape 25"/>
          <p:cNvSpPr/>
          <p:nvPr/>
        </p:nvSpPr>
        <p:spPr>
          <a:xfrm>
            <a:off x="1810512" y="2587752"/>
            <a:ext cx="310896" cy="310896"/>
          </a:xfrm>
          <a:prstGeom prst="ellipse">
            <a:avLst/>
          </a:prstGeom>
          <a:solidFill>
            <a:srgbClr val="F6B0A8"/>
          </a:solidFill>
          <a:ln w="12700">
            <a:solidFill>
              <a:srgbClr val="B7372B"/>
            </a:solidFill>
            <a:prstDash val="solid"/>
          </a:ln>
        </p:spPr>
      </p:sp>
      <p:sp>
        <p:nvSpPr>
          <p:cNvPr id="28" name="Text 26"/>
          <p:cNvSpPr/>
          <p:nvPr/>
        </p:nvSpPr>
        <p:spPr>
          <a:xfrm>
            <a:off x="1719072" y="2587752"/>
            <a:ext cx="493776" cy="310896"/>
          </a:xfrm>
          <a:prstGeom prst="rect">
            <a:avLst/>
          </a:prstGeom>
          <a:noFill/>
          <a:ln/>
        </p:spPr>
        <p:txBody>
          <a:bodyPr wrap="square" lIns="0" tIns="0" rIns="0" bIns="0" rtlCol="0" anchor="ctr"/>
          <a:lstStyle/>
          <a:p>
            <a:pPr algn="ctr" indent="0" marL="0">
              <a:buNone/>
            </a:pPr>
            <a:r>
              <a:rPr lang="en-US" sz="950" b="1" dirty="0">
                <a:solidFill>
                  <a:srgbClr val="2A1F3D"/>
                </a:solidFill>
                <a:latin typeface="Calibri" pitchFamily="34" charset="0"/>
                <a:ea typeface="Calibri" pitchFamily="34" charset="-122"/>
                <a:cs typeface="Calibri" pitchFamily="34" charset="-120"/>
              </a:rPr>
              <a:t>H⁺</a:t>
            </a:r>
            <a:endParaRPr lang="en-US" sz="950" dirty="0"/>
          </a:p>
        </p:txBody>
      </p:sp>
      <p:sp>
        <p:nvSpPr>
          <p:cNvPr id="29" name="Shape 27"/>
          <p:cNvSpPr/>
          <p:nvPr/>
        </p:nvSpPr>
        <p:spPr>
          <a:xfrm>
            <a:off x="2404872" y="2633472"/>
            <a:ext cx="310896" cy="310896"/>
          </a:xfrm>
          <a:prstGeom prst="ellipse">
            <a:avLst/>
          </a:prstGeom>
          <a:solidFill>
            <a:srgbClr val="B9E0A8"/>
          </a:solidFill>
          <a:ln w="12700">
            <a:solidFill>
              <a:srgbClr val="3E7F2E"/>
            </a:solidFill>
            <a:prstDash val="solid"/>
          </a:ln>
        </p:spPr>
      </p:sp>
      <p:sp>
        <p:nvSpPr>
          <p:cNvPr id="30" name="Text 28"/>
          <p:cNvSpPr/>
          <p:nvPr/>
        </p:nvSpPr>
        <p:spPr>
          <a:xfrm>
            <a:off x="2313432" y="2633472"/>
            <a:ext cx="493776" cy="310896"/>
          </a:xfrm>
          <a:prstGeom prst="rect">
            <a:avLst/>
          </a:prstGeom>
          <a:noFill/>
          <a:ln/>
        </p:spPr>
        <p:txBody>
          <a:bodyPr wrap="square" lIns="0" tIns="0" rIns="0" bIns="0" rtlCol="0" anchor="ctr"/>
          <a:lstStyle/>
          <a:p>
            <a:pPr algn="ctr" indent="0" marL="0">
              <a:buNone/>
            </a:pPr>
            <a:r>
              <a:rPr lang="en-US" sz="950" b="1" dirty="0">
                <a:solidFill>
                  <a:srgbClr val="2A1F3D"/>
                </a:solidFill>
                <a:latin typeface="Calibri" pitchFamily="34" charset="0"/>
                <a:ea typeface="Calibri" pitchFamily="34" charset="-122"/>
                <a:cs typeface="Calibri" pitchFamily="34" charset="-120"/>
              </a:rPr>
              <a:t>Cl⁻</a:t>
            </a:r>
            <a:endParaRPr lang="en-US" sz="950" dirty="0"/>
          </a:p>
        </p:txBody>
      </p:sp>
      <p:sp>
        <p:nvSpPr>
          <p:cNvPr id="31" name="Shape 29"/>
          <p:cNvSpPr/>
          <p:nvPr/>
        </p:nvSpPr>
        <p:spPr>
          <a:xfrm>
            <a:off x="850392" y="3090672"/>
            <a:ext cx="310896" cy="310896"/>
          </a:xfrm>
          <a:prstGeom prst="ellipse">
            <a:avLst/>
          </a:prstGeom>
          <a:solidFill>
            <a:srgbClr val="F6B0A8"/>
          </a:solidFill>
          <a:ln w="12700">
            <a:solidFill>
              <a:srgbClr val="B7372B"/>
            </a:solidFill>
            <a:prstDash val="solid"/>
          </a:ln>
        </p:spPr>
      </p:sp>
      <p:sp>
        <p:nvSpPr>
          <p:cNvPr id="32" name="Text 30"/>
          <p:cNvSpPr/>
          <p:nvPr/>
        </p:nvSpPr>
        <p:spPr>
          <a:xfrm>
            <a:off x="758952" y="3090672"/>
            <a:ext cx="493776" cy="310896"/>
          </a:xfrm>
          <a:prstGeom prst="rect">
            <a:avLst/>
          </a:prstGeom>
          <a:noFill/>
          <a:ln/>
        </p:spPr>
        <p:txBody>
          <a:bodyPr wrap="square" lIns="0" tIns="0" rIns="0" bIns="0" rtlCol="0" anchor="ctr"/>
          <a:lstStyle/>
          <a:p>
            <a:pPr algn="ctr" indent="0" marL="0">
              <a:buNone/>
            </a:pPr>
            <a:r>
              <a:rPr lang="en-US" sz="950" b="1" dirty="0">
                <a:solidFill>
                  <a:srgbClr val="2A1F3D"/>
                </a:solidFill>
                <a:latin typeface="Calibri" pitchFamily="34" charset="0"/>
                <a:ea typeface="Calibri" pitchFamily="34" charset="-122"/>
                <a:cs typeface="Calibri" pitchFamily="34" charset="-120"/>
              </a:rPr>
              <a:t>H⁺</a:t>
            </a:r>
            <a:endParaRPr lang="en-US" sz="950" dirty="0"/>
          </a:p>
        </p:txBody>
      </p:sp>
      <p:sp>
        <p:nvSpPr>
          <p:cNvPr id="33" name="Shape 31"/>
          <p:cNvSpPr/>
          <p:nvPr/>
        </p:nvSpPr>
        <p:spPr>
          <a:xfrm>
            <a:off x="1490472" y="3136392"/>
            <a:ext cx="310896" cy="310896"/>
          </a:xfrm>
          <a:prstGeom prst="ellipse">
            <a:avLst/>
          </a:prstGeom>
          <a:solidFill>
            <a:srgbClr val="B9E0A8"/>
          </a:solidFill>
          <a:ln w="12700">
            <a:solidFill>
              <a:srgbClr val="3E7F2E"/>
            </a:solidFill>
            <a:prstDash val="solid"/>
          </a:ln>
        </p:spPr>
      </p:sp>
      <p:sp>
        <p:nvSpPr>
          <p:cNvPr id="34" name="Text 32"/>
          <p:cNvSpPr/>
          <p:nvPr/>
        </p:nvSpPr>
        <p:spPr>
          <a:xfrm>
            <a:off x="1399032" y="3136392"/>
            <a:ext cx="493776" cy="310896"/>
          </a:xfrm>
          <a:prstGeom prst="rect">
            <a:avLst/>
          </a:prstGeom>
          <a:noFill/>
          <a:ln/>
        </p:spPr>
        <p:txBody>
          <a:bodyPr wrap="square" lIns="0" tIns="0" rIns="0" bIns="0" rtlCol="0" anchor="ctr"/>
          <a:lstStyle/>
          <a:p>
            <a:pPr algn="ctr" indent="0" marL="0">
              <a:buNone/>
            </a:pPr>
            <a:r>
              <a:rPr lang="en-US" sz="950" b="1" dirty="0">
                <a:solidFill>
                  <a:srgbClr val="2A1F3D"/>
                </a:solidFill>
                <a:latin typeface="Calibri" pitchFamily="34" charset="0"/>
                <a:ea typeface="Calibri" pitchFamily="34" charset="-122"/>
                <a:cs typeface="Calibri" pitchFamily="34" charset="-120"/>
              </a:rPr>
              <a:t>Cl⁻</a:t>
            </a:r>
            <a:endParaRPr lang="en-US" sz="950" dirty="0"/>
          </a:p>
        </p:txBody>
      </p:sp>
      <p:sp>
        <p:nvSpPr>
          <p:cNvPr id="35" name="Shape 33"/>
          <p:cNvSpPr/>
          <p:nvPr/>
        </p:nvSpPr>
        <p:spPr>
          <a:xfrm>
            <a:off x="2130552" y="3136392"/>
            <a:ext cx="310896" cy="310896"/>
          </a:xfrm>
          <a:prstGeom prst="ellipse">
            <a:avLst/>
          </a:prstGeom>
          <a:solidFill>
            <a:srgbClr val="F6B0A8"/>
          </a:solidFill>
          <a:ln w="12700">
            <a:solidFill>
              <a:srgbClr val="B7372B"/>
            </a:solidFill>
            <a:prstDash val="solid"/>
          </a:ln>
        </p:spPr>
      </p:sp>
      <p:sp>
        <p:nvSpPr>
          <p:cNvPr id="36" name="Text 34"/>
          <p:cNvSpPr/>
          <p:nvPr/>
        </p:nvSpPr>
        <p:spPr>
          <a:xfrm>
            <a:off x="2039112" y="3136392"/>
            <a:ext cx="493776" cy="310896"/>
          </a:xfrm>
          <a:prstGeom prst="rect">
            <a:avLst/>
          </a:prstGeom>
          <a:noFill/>
          <a:ln/>
        </p:spPr>
        <p:txBody>
          <a:bodyPr wrap="square" lIns="0" tIns="0" rIns="0" bIns="0" rtlCol="0" anchor="ctr"/>
          <a:lstStyle/>
          <a:p>
            <a:pPr algn="ctr" indent="0" marL="0">
              <a:buNone/>
            </a:pPr>
            <a:r>
              <a:rPr lang="en-US" sz="950" b="1" dirty="0">
                <a:solidFill>
                  <a:srgbClr val="2A1F3D"/>
                </a:solidFill>
                <a:latin typeface="Calibri" pitchFamily="34" charset="0"/>
                <a:ea typeface="Calibri" pitchFamily="34" charset="-122"/>
                <a:cs typeface="Calibri" pitchFamily="34" charset="-120"/>
              </a:rPr>
              <a:t>H⁺</a:t>
            </a:r>
            <a:endParaRPr lang="en-US" sz="950" dirty="0"/>
          </a:p>
        </p:txBody>
      </p:sp>
      <p:sp>
        <p:nvSpPr>
          <p:cNvPr id="37" name="Text 35"/>
          <p:cNvSpPr/>
          <p:nvPr/>
        </p:nvSpPr>
        <p:spPr>
          <a:xfrm>
            <a:off x="685800" y="3675888"/>
            <a:ext cx="2194560" cy="237744"/>
          </a:xfrm>
          <a:prstGeom prst="rect">
            <a:avLst/>
          </a:prstGeom>
          <a:noFill/>
          <a:ln/>
        </p:spPr>
        <p:txBody>
          <a:bodyPr wrap="square" lIns="0" tIns="0" rIns="0" bIns="0" rtlCol="0" anchor="ctr"/>
          <a:lstStyle/>
          <a:p>
            <a:pPr algn="ctr" indent="0" marL="0">
              <a:buNone/>
            </a:pPr>
            <a:r>
              <a:rPr lang="en-US" sz="1050" b="1" dirty="0">
                <a:solidFill>
                  <a:srgbClr val="B7372B"/>
                </a:solidFill>
                <a:latin typeface="Calibri" pitchFamily="34" charset="0"/>
                <a:ea typeface="Calibri" pitchFamily="34" charset="-122"/>
                <a:cs typeface="Calibri" pitchFamily="34" charset="-120"/>
              </a:rPr>
              <a:t>acidic: H⁺ ions</a:t>
            </a:r>
            <a:endParaRPr lang="en-US" sz="1050" dirty="0"/>
          </a:p>
        </p:txBody>
      </p:sp>
      <p:sp>
        <p:nvSpPr>
          <p:cNvPr id="38" name="Text 36"/>
          <p:cNvSpPr/>
          <p:nvPr/>
        </p:nvSpPr>
        <p:spPr>
          <a:xfrm>
            <a:off x="3246120" y="1325880"/>
            <a:ext cx="2560320" cy="237744"/>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Sodium hydroxide, NaOH(aq)</a:t>
            </a:r>
            <a:endParaRPr lang="en-US" sz="1050" dirty="0"/>
          </a:p>
        </p:txBody>
      </p:sp>
      <p:sp>
        <p:nvSpPr>
          <p:cNvPr id="39" name="Shape 37"/>
          <p:cNvSpPr/>
          <p:nvPr/>
        </p:nvSpPr>
        <p:spPr>
          <a:xfrm>
            <a:off x="3337560" y="1691640"/>
            <a:ext cx="2194560" cy="1920240"/>
          </a:xfrm>
          <a:prstGeom prst="rect">
            <a:avLst/>
          </a:prstGeom>
          <a:solidFill>
            <a:srgbClr val="EEF5FB"/>
          </a:solidFill>
          <a:ln/>
        </p:spPr>
      </p:sp>
      <p:sp>
        <p:nvSpPr>
          <p:cNvPr id="40" name="Shape 38"/>
          <p:cNvSpPr/>
          <p:nvPr/>
        </p:nvSpPr>
        <p:spPr>
          <a:xfrm>
            <a:off x="3337560" y="1979676"/>
            <a:ext cx="2194560" cy="1632204"/>
          </a:xfrm>
          <a:prstGeom prst="rect">
            <a:avLst/>
          </a:prstGeom>
          <a:solidFill>
            <a:srgbClr val="D6E4F7"/>
          </a:solidFill>
          <a:ln/>
        </p:spPr>
      </p:sp>
      <p:sp>
        <p:nvSpPr>
          <p:cNvPr id="41" name="Shape 39"/>
          <p:cNvSpPr/>
          <p:nvPr/>
        </p:nvSpPr>
        <p:spPr>
          <a:xfrm>
            <a:off x="3337560" y="1979676"/>
            <a:ext cx="2194560" cy="91"/>
          </a:xfrm>
          <a:prstGeom prst="line">
            <a:avLst/>
          </a:prstGeom>
          <a:noFill/>
          <a:ln w="12700">
            <a:solidFill>
              <a:srgbClr val="5B9BD5"/>
            </a:solidFill>
            <a:prstDash val="solid"/>
          </a:ln>
        </p:spPr>
      </p:sp>
      <p:sp>
        <p:nvSpPr>
          <p:cNvPr id="42" name="Shape 40"/>
          <p:cNvSpPr/>
          <p:nvPr/>
        </p:nvSpPr>
        <p:spPr>
          <a:xfrm>
            <a:off x="3337560" y="1691640"/>
            <a:ext cx="91" cy="1920240"/>
          </a:xfrm>
          <a:prstGeom prst="line">
            <a:avLst/>
          </a:prstGeom>
          <a:noFill/>
          <a:ln w="19050">
            <a:solidFill>
              <a:srgbClr val="2A1F3D"/>
            </a:solidFill>
            <a:prstDash val="solid"/>
          </a:ln>
        </p:spPr>
      </p:sp>
      <p:sp>
        <p:nvSpPr>
          <p:cNvPr id="43" name="Shape 41"/>
          <p:cNvSpPr/>
          <p:nvPr/>
        </p:nvSpPr>
        <p:spPr>
          <a:xfrm>
            <a:off x="5532120" y="1691640"/>
            <a:ext cx="91" cy="1920240"/>
          </a:xfrm>
          <a:prstGeom prst="line">
            <a:avLst/>
          </a:prstGeom>
          <a:noFill/>
          <a:ln w="19050">
            <a:solidFill>
              <a:srgbClr val="2A1F3D"/>
            </a:solidFill>
            <a:prstDash val="solid"/>
          </a:ln>
        </p:spPr>
      </p:sp>
      <p:sp>
        <p:nvSpPr>
          <p:cNvPr id="44" name="Shape 42"/>
          <p:cNvSpPr/>
          <p:nvPr/>
        </p:nvSpPr>
        <p:spPr>
          <a:xfrm>
            <a:off x="3337560" y="3611880"/>
            <a:ext cx="2194560" cy="91"/>
          </a:xfrm>
          <a:prstGeom prst="line">
            <a:avLst/>
          </a:prstGeom>
          <a:noFill/>
          <a:ln w="19050">
            <a:solidFill>
              <a:srgbClr val="2A1F3D"/>
            </a:solidFill>
            <a:prstDash val="solid"/>
          </a:ln>
        </p:spPr>
      </p:sp>
      <p:sp>
        <p:nvSpPr>
          <p:cNvPr id="45" name="Shape 43"/>
          <p:cNvSpPr/>
          <p:nvPr/>
        </p:nvSpPr>
        <p:spPr>
          <a:xfrm>
            <a:off x="3282696" y="1691640"/>
            <a:ext cx="54864" cy="91"/>
          </a:xfrm>
          <a:prstGeom prst="line">
            <a:avLst/>
          </a:prstGeom>
          <a:noFill/>
          <a:ln w="19050">
            <a:solidFill>
              <a:srgbClr val="2A1F3D"/>
            </a:solidFill>
            <a:prstDash val="solid"/>
          </a:ln>
        </p:spPr>
      </p:sp>
      <p:sp>
        <p:nvSpPr>
          <p:cNvPr id="46" name="Shape 44"/>
          <p:cNvSpPr/>
          <p:nvPr/>
        </p:nvSpPr>
        <p:spPr>
          <a:xfrm>
            <a:off x="5532120" y="1691640"/>
            <a:ext cx="54864" cy="91"/>
          </a:xfrm>
          <a:prstGeom prst="line">
            <a:avLst/>
          </a:prstGeom>
          <a:noFill/>
          <a:ln w="19050">
            <a:solidFill>
              <a:srgbClr val="2A1F3D"/>
            </a:solidFill>
            <a:prstDash val="solid"/>
          </a:ln>
        </p:spPr>
      </p:sp>
      <p:sp>
        <p:nvSpPr>
          <p:cNvPr id="47" name="Shape 45"/>
          <p:cNvSpPr/>
          <p:nvPr/>
        </p:nvSpPr>
        <p:spPr>
          <a:xfrm>
            <a:off x="3502152" y="1993392"/>
            <a:ext cx="310896" cy="310896"/>
          </a:xfrm>
          <a:prstGeom prst="ellipse">
            <a:avLst/>
          </a:prstGeom>
          <a:solidFill>
            <a:srgbClr val="F7E08A"/>
          </a:solidFill>
          <a:ln w="12700">
            <a:solidFill>
              <a:srgbClr val="9A7A1A"/>
            </a:solidFill>
            <a:prstDash val="solid"/>
          </a:ln>
        </p:spPr>
      </p:sp>
      <p:sp>
        <p:nvSpPr>
          <p:cNvPr id="48" name="Text 46"/>
          <p:cNvSpPr/>
          <p:nvPr/>
        </p:nvSpPr>
        <p:spPr>
          <a:xfrm>
            <a:off x="3410712" y="1993392"/>
            <a:ext cx="493776" cy="310896"/>
          </a:xfrm>
          <a:prstGeom prst="rect">
            <a:avLst/>
          </a:prstGeom>
          <a:noFill/>
          <a:ln/>
        </p:spPr>
        <p:txBody>
          <a:bodyPr wrap="square" lIns="0" tIns="0" rIns="0" bIns="0" rtlCol="0" anchor="ctr"/>
          <a:lstStyle/>
          <a:p>
            <a:pPr algn="ctr" indent="0" marL="0">
              <a:buNone/>
            </a:pPr>
            <a:r>
              <a:rPr lang="en-US" sz="950" b="1" dirty="0">
                <a:solidFill>
                  <a:srgbClr val="2A1F3D"/>
                </a:solidFill>
                <a:latin typeface="Calibri" pitchFamily="34" charset="0"/>
                <a:ea typeface="Calibri" pitchFamily="34" charset="-122"/>
                <a:cs typeface="Calibri" pitchFamily="34" charset="-120"/>
              </a:rPr>
              <a:t>Na⁺</a:t>
            </a:r>
            <a:endParaRPr lang="en-US" sz="950" dirty="0"/>
          </a:p>
        </p:txBody>
      </p:sp>
      <p:sp>
        <p:nvSpPr>
          <p:cNvPr id="49" name="Shape 47"/>
          <p:cNvSpPr/>
          <p:nvPr/>
        </p:nvSpPr>
        <p:spPr>
          <a:xfrm>
            <a:off x="4142232" y="1901952"/>
            <a:ext cx="310896" cy="310896"/>
          </a:xfrm>
          <a:prstGeom prst="ellipse">
            <a:avLst/>
          </a:prstGeom>
          <a:solidFill>
            <a:srgbClr val="A9C8F0"/>
          </a:solidFill>
          <a:ln w="12700">
            <a:solidFill>
              <a:srgbClr val="2F5FA8"/>
            </a:solidFill>
            <a:prstDash val="solid"/>
          </a:ln>
        </p:spPr>
      </p:sp>
      <p:sp>
        <p:nvSpPr>
          <p:cNvPr id="50" name="Text 48"/>
          <p:cNvSpPr/>
          <p:nvPr/>
        </p:nvSpPr>
        <p:spPr>
          <a:xfrm>
            <a:off x="4050792" y="1901952"/>
            <a:ext cx="493776" cy="310896"/>
          </a:xfrm>
          <a:prstGeom prst="rect">
            <a:avLst/>
          </a:prstGeom>
          <a:noFill/>
          <a:ln/>
        </p:spPr>
        <p:txBody>
          <a:bodyPr wrap="square" lIns="0" tIns="0" rIns="0" bIns="0" rtlCol="0" anchor="ctr"/>
          <a:lstStyle/>
          <a:p>
            <a:pPr algn="ctr" indent="0" marL="0">
              <a:buNone/>
            </a:pPr>
            <a:r>
              <a:rPr lang="en-US" sz="950" b="1" dirty="0">
                <a:solidFill>
                  <a:srgbClr val="2A1F3D"/>
                </a:solidFill>
                <a:latin typeface="Calibri" pitchFamily="34" charset="0"/>
                <a:ea typeface="Calibri" pitchFamily="34" charset="-122"/>
                <a:cs typeface="Calibri" pitchFamily="34" charset="-120"/>
              </a:rPr>
              <a:t>OH⁻</a:t>
            </a:r>
            <a:endParaRPr lang="en-US" sz="950" dirty="0"/>
          </a:p>
        </p:txBody>
      </p:sp>
      <p:sp>
        <p:nvSpPr>
          <p:cNvPr id="51" name="Shape 49"/>
          <p:cNvSpPr/>
          <p:nvPr/>
        </p:nvSpPr>
        <p:spPr>
          <a:xfrm>
            <a:off x="4828032" y="2039112"/>
            <a:ext cx="310896" cy="310896"/>
          </a:xfrm>
          <a:prstGeom prst="ellipse">
            <a:avLst/>
          </a:prstGeom>
          <a:solidFill>
            <a:srgbClr val="F7E08A"/>
          </a:solidFill>
          <a:ln w="12700">
            <a:solidFill>
              <a:srgbClr val="9A7A1A"/>
            </a:solidFill>
            <a:prstDash val="solid"/>
          </a:ln>
        </p:spPr>
      </p:sp>
      <p:sp>
        <p:nvSpPr>
          <p:cNvPr id="52" name="Text 50"/>
          <p:cNvSpPr/>
          <p:nvPr/>
        </p:nvSpPr>
        <p:spPr>
          <a:xfrm>
            <a:off x="4736592" y="2039112"/>
            <a:ext cx="493776" cy="310896"/>
          </a:xfrm>
          <a:prstGeom prst="rect">
            <a:avLst/>
          </a:prstGeom>
          <a:noFill/>
          <a:ln/>
        </p:spPr>
        <p:txBody>
          <a:bodyPr wrap="square" lIns="0" tIns="0" rIns="0" bIns="0" rtlCol="0" anchor="ctr"/>
          <a:lstStyle/>
          <a:p>
            <a:pPr algn="ctr" indent="0" marL="0">
              <a:buNone/>
            </a:pPr>
            <a:r>
              <a:rPr lang="en-US" sz="950" b="1" dirty="0">
                <a:solidFill>
                  <a:srgbClr val="2A1F3D"/>
                </a:solidFill>
                <a:latin typeface="Calibri" pitchFamily="34" charset="0"/>
                <a:ea typeface="Calibri" pitchFamily="34" charset="-122"/>
                <a:cs typeface="Calibri" pitchFamily="34" charset="-120"/>
              </a:rPr>
              <a:t>Na⁺</a:t>
            </a:r>
            <a:endParaRPr lang="en-US" sz="950" dirty="0"/>
          </a:p>
        </p:txBody>
      </p:sp>
      <p:sp>
        <p:nvSpPr>
          <p:cNvPr id="53" name="Shape 51"/>
          <p:cNvSpPr/>
          <p:nvPr/>
        </p:nvSpPr>
        <p:spPr>
          <a:xfrm>
            <a:off x="3730752" y="2542032"/>
            <a:ext cx="310896" cy="310896"/>
          </a:xfrm>
          <a:prstGeom prst="ellipse">
            <a:avLst/>
          </a:prstGeom>
          <a:solidFill>
            <a:srgbClr val="A9C8F0"/>
          </a:solidFill>
          <a:ln w="12700">
            <a:solidFill>
              <a:srgbClr val="2F5FA8"/>
            </a:solidFill>
            <a:prstDash val="solid"/>
          </a:ln>
        </p:spPr>
      </p:sp>
      <p:sp>
        <p:nvSpPr>
          <p:cNvPr id="54" name="Text 52"/>
          <p:cNvSpPr/>
          <p:nvPr/>
        </p:nvSpPr>
        <p:spPr>
          <a:xfrm>
            <a:off x="3639312" y="2542032"/>
            <a:ext cx="493776" cy="310896"/>
          </a:xfrm>
          <a:prstGeom prst="rect">
            <a:avLst/>
          </a:prstGeom>
          <a:noFill/>
          <a:ln/>
        </p:spPr>
        <p:txBody>
          <a:bodyPr wrap="square" lIns="0" tIns="0" rIns="0" bIns="0" rtlCol="0" anchor="ctr"/>
          <a:lstStyle/>
          <a:p>
            <a:pPr algn="ctr" indent="0" marL="0">
              <a:buNone/>
            </a:pPr>
            <a:r>
              <a:rPr lang="en-US" sz="950" b="1" dirty="0">
                <a:solidFill>
                  <a:srgbClr val="2A1F3D"/>
                </a:solidFill>
                <a:latin typeface="Calibri" pitchFamily="34" charset="0"/>
                <a:ea typeface="Calibri" pitchFamily="34" charset="-122"/>
                <a:cs typeface="Calibri" pitchFamily="34" charset="-120"/>
              </a:rPr>
              <a:t>OH⁻</a:t>
            </a:r>
            <a:endParaRPr lang="en-US" sz="950" dirty="0"/>
          </a:p>
        </p:txBody>
      </p:sp>
      <p:sp>
        <p:nvSpPr>
          <p:cNvPr id="55" name="Shape 53"/>
          <p:cNvSpPr/>
          <p:nvPr/>
        </p:nvSpPr>
        <p:spPr>
          <a:xfrm>
            <a:off x="4462272" y="2587752"/>
            <a:ext cx="310896" cy="310896"/>
          </a:xfrm>
          <a:prstGeom prst="ellipse">
            <a:avLst/>
          </a:prstGeom>
          <a:solidFill>
            <a:srgbClr val="F7E08A"/>
          </a:solidFill>
          <a:ln w="12700">
            <a:solidFill>
              <a:srgbClr val="9A7A1A"/>
            </a:solidFill>
            <a:prstDash val="solid"/>
          </a:ln>
        </p:spPr>
      </p:sp>
      <p:sp>
        <p:nvSpPr>
          <p:cNvPr id="56" name="Text 54"/>
          <p:cNvSpPr/>
          <p:nvPr/>
        </p:nvSpPr>
        <p:spPr>
          <a:xfrm>
            <a:off x="4370832" y="2587752"/>
            <a:ext cx="493776" cy="310896"/>
          </a:xfrm>
          <a:prstGeom prst="rect">
            <a:avLst/>
          </a:prstGeom>
          <a:noFill/>
          <a:ln/>
        </p:spPr>
        <p:txBody>
          <a:bodyPr wrap="square" lIns="0" tIns="0" rIns="0" bIns="0" rtlCol="0" anchor="ctr"/>
          <a:lstStyle/>
          <a:p>
            <a:pPr algn="ctr" indent="0" marL="0">
              <a:buNone/>
            </a:pPr>
            <a:r>
              <a:rPr lang="en-US" sz="950" b="1" dirty="0">
                <a:solidFill>
                  <a:srgbClr val="2A1F3D"/>
                </a:solidFill>
                <a:latin typeface="Calibri" pitchFamily="34" charset="0"/>
                <a:ea typeface="Calibri" pitchFamily="34" charset="-122"/>
                <a:cs typeface="Calibri" pitchFamily="34" charset="-120"/>
              </a:rPr>
              <a:t>Na⁺</a:t>
            </a:r>
            <a:endParaRPr lang="en-US" sz="950" dirty="0"/>
          </a:p>
        </p:txBody>
      </p:sp>
      <p:sp>
        <p:nvSpPr>
          <p:cNvPr id="57" name="Shape 55"/>
          <p:cNvSpPr/>
          <p:nvPr/>
        </p:nvSpPr>
        <p:spPr>
          <a:xfrm>
            <a:off x="5056632" y="2633472"/>
            <a:ext cx="310896" cy="310896"/>
          </a:xfrm>
          <a:prstGeom prst="ellipse">
            <a:avLst/>
          </a:prstGeom>
          <a:solidFill>
            <a:srgbClr val="A9C8F0"/>
          </a:solidFill>
          <a:ln w="12700">
            <a:solidFill>
              <a:srgbClr val="2F5FA8"/>
            </a:solidFill>
            <a:prstDash val="solid"/>
          </a:ln>
        </p:spPr>
      </p:sp>
      <p:sp>
        <p:nvSpPr>
          <p:cNvPr id="58" name="Text 56"/>
          <p:cNvSpPr/>
          <p:nvPr/>
        </p:nvSpPr>
        <p:spPr>
          <a:xfrm>
            <a:off x="4965192" y="2633472"/>
            <a:ext cx="493776" cy="310896"/>
          </a:xfrm>
          <a:prstGeom prst="rect">
            <a:avLst/>
          </a:prstGeom>
          <a:noFill/>
          <a:ln/>
        </p:spPr>
        <p:txBody>
          <a:bodyPr wrap="square" lIns="0" tIns="0" rIns="0" bIns="0" rtlCol="0" anchor="ctr"/>
          <a:lstStyle/>
          <a:p>
            <a:pPr algn="ctr" indent="0" marL="0">
              <a:buNone/>
            </a:pPr>
            <a:r>
              <a:rPr lang="en-US" sz="950" b="1" dirty="0">
                <a:solidFill>
                  <a:srgbClr val="2A1F3D"/>
                </a:solidFill>
                <a:latin typeface="Calibri" pitchFamily="34" charset="0"/>
                <a:ea typeface="Calibri" pitchFamily="34" charset="-122"/>
                <a:cs typeface="Calibri" pitchFamily="34" charset="-120"/>
              </a:rPr>
              <a:t>OH⁻</a:t>
            </a:r>
            <a:endParaRPr lang="en-US" sz="950" dirty="0"/>
          </a:p>
        </p:txBody>
      </p:sp>
      <p:sp>
        <p:nvSpPr>
          <p:cNvPr id="59" name="Shape 57"/>
          <p:cNvSpPr/>
          <p:nvPr/>
        </p:nvSpPr>
        <p:spPr>
          <a:xfrm>
            <a:off x="3502152" y="3090672"/>
            <a:ext cx="310896" cy="310896"/>
          </a:xfrm>
          <a:prstGeom prst="ellipse">
            <a:avLst/>
          </a:prstGeom>
          <a:solidFill>
            <a:srgbClr val="F7E08A"/>
          </a:solidFill>
          <a:ln w="12700">
            <a:solidFill>
              <a:srgbClr val="9A7A1A"/>
            </a:solidFill>
            <a:prstDash val="solid"/>
          </a:ln>
        </p:spPr>
      </p:sp>
      <p:sp>
        <p:nvSpPr>
          <p:cNvPr id="60" name="Text 58"/>
          <p:cNvSpPr/>
          <p:nvPr/>
        </p:nvSpPr>
        <p:spPr>
          <a:xfrm>
            <a:off x="3410712" y="3090672"/>
            <a:ext cx="493776" cy="310896"/>
          </a:xfrm>
          <a:prstGeom prst="rect">
            <a:avLst/>
          </a:prstGeom>
          <a:noFill/>
          <a:ln/>
        </p:spPr>
        <p:txBody>
          <a:bodyPr wrap="square" lIns="0" tIns="0" rIns="0" bIns="0" rtlCol="0" anchor="ctr"/>
          <a:lstStyle/>
          <a:p>
            <a:pPr algn="ctr" indent="0" marL="0">
              <a:buNone/>
            </a:pPr>
            <a:r>
              <a:rPr lang="en-US" sz="950" b="1" dirty="0">
                <a:solidFill>
                  <a:srgbClr val="2A1F3D"/>
                </a:solidFill>
                <a:latin typeface="Calibri" pitchFamily="34" charset="0"/>
                <a:ea typeface="Calibri" pitchFamily="34" charset="-122"/>
                <a:cs typeface="Calibri" pitchFamily="34" charset="-120"/>
              </a:rPr>
              <a:t>Na⁺</a:t>
            </a:r>
            <a:endParaRPr lang="en-US" sz="950" dirty="0"/>
          </a:p>
        </p:txBody>
      </p:sp>
      <p:sp>
        <p:nvSpPr>
          <p:cNvPr id="61" name="Shape 59"/>
          <p:cNvSpPr/>
          <p:nvPr/>
        </p:nvSpPr>
        <p:spPr>
          <a:xfrm>
            <a:off x="4142232" y="3136392"/>
            <a:ext cx="310896" cy="310896"/>
          </a:xfrm>
          <a:prstGeom prst="ellipse">
            <a:avLst/>
          </a:prstGeom>
          <a:solidFill>
            <a:srgbClr val="A9C8F0"/>
          </a:solidFill>
          <a:ln w="12700">
            <a:solidFill>
              <a:srgbClr val="2F5FA8"/>
            </a:solidFill>
            <a:prstDash val="solid"/>
          </a:ln>
        </p:spPr>
      </p:sp>
      <p:sp>
        <p:nvSpPr>
          <p:cNvPr id="62" name="Text 60"/>
          <p:cNvSpPr/>
          <p:nvPr/>
        </p:nvSpPr>
        <p:spPr>
          <a:xfrm>
            <a:off x="4050792" y="3136392"/>
            <a:ext cx="493776" cy="310896"/>
          </a:xfrm>
          <a:prstGeom prst="rect">
            <a:avLst/>
          </a:prstGeom>
          <a:noFill/>
          <a:ln/>
        </p:spPr>
        <p:txBody>
          <a:bodyPr wrap="square" lIns="0" tIns="0" rIns="0" bIns="0" rtlCol="0" anchor="ctr"/>
          <a:lstStyle/>
          <a:p>
            <a:pPr algn="ctr" indent="0" marL="0">
              <a:buNone/>
            </a:pPr>
            <a:r>
              <a:rPr lang="en-US" sz="950" b="1" dirty="0">
                <a:solidFill>
                  <a:srgbClr val="2A1F3D"/>
                </a:solidFill>
                <a:latin typeface="Calibri" pitchFamily="34" charset="0"/>
                <a:ea typeface="Calibri" pitchFamily="34" charset="-122"/>
                <a:cs typeface="Calibri" pitchFamily="34" charset="-120"/>
              </a:rPr>
              <a:t>OH⁻</a:t>
            </a:r>
            <a:endParaRPr lang="en-US" sz="950" dirty="0"/>
          </a:p>
        </p:txBody>
      </p:sp>
      <p:sp>
        <p:nvSpPr>
          <p:cNvPr id="63" name="Shape 61"/>
          <p:cNvSpPr/>
          <p:nvPr/>
        </p:nvSpPr>
        <p:spPr>
          <a:xfrm>
            <a:off x="4782312" y="3136392"/>
            <a:ext cx="310896" cy="310896"/>
          </a:xfrm>
          <a:prstGeom prst="ellipse">
            <a:avLst/>
          </a:prstGeom>
          <a:solidFill>
            <a:srgbClr val="F7E08A"/>
          </a:solidFill>
          <a:ln w="12700">
            <a:solidFill>
              <a:srgbClr val="9A7A1A"/>
            </a:solidFill>
            <a:prstDash val="solid"/>
          </a:ln>
        </p:spPr>
      </p:sp>
      <p:sp>
        <p:nvSpPr>
          <p:cNvPr id="64" name="Text 62"/>
          <p:cNvSpPr/>
          <p:nvPr/>
        </p:nvSpPr>
        <p:spPr>
          <a:xfrm>
            <a:off x="4690872" y="3136392"/>
            <a:ext cx="493776" cy="310896"/>
          </a:xfrm>
          <a:prstGeom prst="rect">
            <a:avLst/>
          </a:prstGeom>
          <a:noFill/>
          <a:ln/>
        </p:spPr>
        <p:txBody>
          <a:bodyPr wrap="square" lIns="0" tIns="0" rIns="0" bIns="0" rtlCol="0" anchor="ctr"/>
          <a:lstStyle/>
          <a:p>
            <a:pPr algn="ctr" indent="0" marL="0">
              <a:buNone/>
            </a:pPr>
            <a:r>
              <a:rPr lang="en-US" sz="950" b="1" dirty="0">
                <a:solidFill>
                  <a:srgbClr val="2A1F3D"/>
                </a:solidFill>
                <a:latin typeface="Calibri" pitchFamily="34" charset="0"/>
                <a:ea typeface="Calibri" pitchFamily="34" charset="-122"/>
                <a:cs typeface="Calibri" pitchFamily="34" charset="-120"/>
              </a:rPr>
              <a:t>Na⁺</a:t>
            </a:r>
            <a:endParaRPr lang="en-US" sz="950" dirty="0"/>
          </a:p>
        </p:txBody>
      </p:sp>
      <p:sp>
        <p:nvSpPr>
          <p:cNvPr id="65" name="Text 63"/>
          <p:cNvSpPr/>
          <p:nvPr/>
        </p:nvSpPr>
        <p:spPr>
          <a:xfrm>
            <a:off x="3337560" y="3675888"/>
            <a:ext cx="2194560" cy="237744"/>
          </a:xfrm>
          <a:prstGeom prst="rect">
            <a:avLst/>
          </a:prstGeom>
          <a:noFill/>
          <a:ln/>
        </p:spPr>
        <p:txBody>
          <a:bodyPr wrap="square" lIns="0" tIns="0" rIns="0" bIns="0" rtlCol="0" anchor="ctr"/>
          <a:lstStyle/>
          <a:p>
            <a:pPr algn="ctr" indent="0" marL="0">
              <a:buNone/>
            </a:pPr>
            <a:r>
              <a:rPr lang="en-US" sz="1050" b="1" dirty="0">
                <a:solidFill>
                  <a:srgbClr val="2F5FA8"/>
                </a:solidFill>
                <a:latin typeface="Calibri" pitchFamily="34" charset="0"/>
                <a:ea typeface="Calibri" pitchFamily="34" charset="-122"/>
                <a:cs typeface="Calibri" pitchFamily="34" charset="-120"/>
              </a:rPr>
              <a:t>alkaline: OH⁻ ions</a:t>
            </a:r>
            <a:endParaRPr lang="en-US" sz="1050" dirty="0"/>
          </a:p>
        </p:txBody>
      </p:sp>
      <p:sp>
        <p:nvSpPr>
          <p:cNvPr id="66" name="Shape 64"/>
          <p:cNvSpPr/>
          <p:nvPr/>
        </p:nvSpPr>
        <p:spPr>
          <a:xfrm>
            <a:off x="640080" y="4069080"/>
            <a:ext cx="5120640" cy="347472"/>
          </a:xfrm>
          <a:prstGeom prst="roundRect">
            <a:avLst>
              <a:gd name="adj" fmla="val 13158"/>
            </a:avLst>
          </a:prstGeom>
          <a:solidFill>
            <a:srgbClr val="FFFFFF"/>
          </a:solidFill>
          <a:ln w="12700">
            <a:solidFill>
              <a:srgbClr val="DDD3EC"/>
            </a:solidFill>
            <a:prstDash val="solid"/>
          </a:ln>
        </p:spPr>
      </p:sp>
      <p:sp>
        <p:nvSpPr>
          <p:cNvPr id="67" name="Text 65"/>
          <p:cNvSpPr/>
          <p:nvPr/>
        </p:nvSpPr>
        <p:spPr>
          <a:xfrm>
            <a:off x="713232" y="4069080"/>
            <a:ext cx="4974336" cy="347472"/>
          </a:xfrm>
          <a:prstGeom prst="rect">
            <a:avLst/>
          </a:prstGeom>
          <a:noFill/>
          <a:ln/>
        </p:spPr>
        <p:txBody>
          <a:bodyPr wrap="square" lIns="0" tIns="0" rIns="0" bIns="0" rtlCol="0" anchor="ctr"/>
          <a:lstStyle/>
          <a:p>
            <a:pPr algn="ctr" indent="0" marL="0">
              <a:buNone/>
            </a:pPr>
            <a:r>
              <a:rPr lang="en-US" sz="1200" b="1" dirty="0">
                <a:solidFill>
                  <a:srgbClr val="2A1F3D"/>
                </a:solidFill>
                <a:latin typeface="Calibri" pitchFamily="34" charset="0"/>
                <a:ea typeface="Calibri" pitchFamily="34" charset="-122"/>
                <a:cs typeface="Calibri" pitchFamily="34" charset="-120"/>
              </a:rPr>
              <a:t>HCl(g) → H⁺(aq) + Cl⁻(aq)</a:t>
            </a:r>
            <a:endParaRPr lang="en-US" sz="1200" dirty="0"/>
          </a:p>
        </p:txBody>
      </p:sp>
      <p:sp>
        <p:nvSpPr>
          <p:cNvPr id="68" name="Shape 66"/>
          <p:cNvSpPr/>
          <p:nvPr/>
        </p:nvSpPr>
        <p:spPr>
          <a:xfrm>
            <a:off x="640080" y="4498848"/>
            <a:ext cx="5120640" cy="347472"/>
          </a:xfrm>
          <a:prstGeom prst="roundRect">
            <a:avLst>
              <a:gd name="adj" fmla="val 13158"/>
            </a:avLst>
          </a:prstGeom>
          <a:solidFill>
            <a:srgbClr val="FFFFFF"/>
          </a:solidFill>
          <a:ln w="12700">
            <a:solidFill>
              <a:srgbClr val="DDD3EC"/>
            </a:solidFill>
            <a:prstDash val="solid"/>
          </a:ln>
        </p:spPr>
      </p:sp>
      <p:sp>
        <p:nvSpPr>
          <p:cNvPr id="69" name="Text 67"/>
          <p:cNvSpPr/>
          <p:nvPr/>
        </p:nvSpPr>
        <p:spPr>
          <a:xfrm>
            <a:off x="713232" y="4498848"/>
            <a:ext cx="4974336" cy="347472"/>
          </a:xfrm>
          <a:prstGeom prst="rect">
            <a:avLst/>
          </a:prstGeom>
          <a:noFill/>
          <a:ln/>
        </p:spPr>
        <p:txBody>
          <a:bodyPr wrap="square" lIns="0" tIns="0" rIns="0" bIns="0" rtlCol="0" anchor="ctr"/>
          <a:lstStyle/>
          <a:p>
            <a:pPr algn="ctr" indent="0" marL="0">
              <a:buNone/>
            </a:pPr>
            <a:r>
              <a:rPr lang="en-US" sz="1200" b="1" dirty="0">
                <a:solidFill>
                  <a:srgbClr val="2A1F3D"/>
                </a:solidFill>
                <a:latin typeface="Calibri" pitchFamily="34" charset="0"/>
                <a:ea typeface="Calibri" pitchFamily="34" charset="-122"/>
                <a:cs typeface="Calibri" pitchFamily="34" charset="-120"/>
              </a:rPr>
              <a:t>NaOH(s) → Na⁺(aq) + OH⁻(aq)</a:t>
            </a:r>
            <a:endParaRPr lang="en-US" sz="1200" dirty="0"/>
          </a:p>
        </p:txBody>
      </p:sp>
      <p:sp>
        <p:nvSpPr>
          <p:cNvPr id="70" name="Text 68"/>
          <p:cNvSpPr/>
          <p:nvPr/>
        </p:nvSpPr>
        <p:spPr>
          <a:xfrm>
            <a:off x="640080" y="4919472"/>
            <a:ext cx="5120640" cy="274320"/>
          </a:xfrm>
          <a:prstGeom prst="rect">
            <a:avLst/>
          </a:prstGeom>
          <a:noFill/>
          <a:ln/>
        </p:spPr>
        <p:txBody>
          <a:bodyPr wrap="square" lIns="0" tIns="0" rIns="0" bIns="0" rtlCol="0" anchor="ctr"/>
          <a:lstStyle/>
          <a:p>
            <a:pPr algn="ctr" indent="0" marL="0">
              <a:buNone/>
            </a:pPr>
            <a:r>
              <a:rPr lang="en-US" sz="1050" i="1" dirty="0">
                <a:solidFill>
                  <a:srgbClr val="6B7385"/>
                </a:solidFill>
                <a:latin typeface="Calibri" pitchFamily="34" charset="0"/>
                <a:ea typeface="Calibri" pitchFamily="34" charset="-122"/>
                <a:cs typeface="Calibri" pitchFamily="34" charset="-120"/>
              </a:rPr>
              <a:t>(aq) = dissolved in water. The ions are free to move.</a:t>
            </a:r>
            <a:endParaRPr lang="en-US" sz="1050" dirty="0"/>
          </a:p>
        </p:txBody>
      </p:sp>
      <p:sp>
        <p:nvSpPr>
          <p:cNvPr id="71" name="Shape 69"/>
          <p:cNvSpPr/>
          <p:nvPr/>
        </p:nvSpPr>
        <p:spPr>
          <a:xfrm>
            <a:off x="6217920" y="1188720"/>
            <a:ext cx="5562295" cy="3200400"/>
          </a:xfrm>
          <a:prstGeom prst="roundRect">
            <a:avLst>
              <a:gd name="adj" fmla="val 1714"/>
            </a:avLst>
          </a:prstGeom>
          <a:solidFill>
            <a:srgbClr val="F8F5FC"/>
          </a:solidFill>
          <a:ln w="9525">
            <a:solidFill>
              <a:srgbClr val="DDD3EC"/>
            </a:solidFill>
            <a:prstDash val="solid"/>
          </a:ln>
        </p:spPr>
      </p:sp>
      <p:sp>
        <p:nvSpPr>
          <p:cNvPr id="72" name="Text 70"/>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2A1F3D"/>
                </a:solidFill>
                <a:latin typeface="Calibri" pitchFamily="34" charset="0"/>
                <a:ea typeface="Calibri" pitchFamily="34" charset="-122"/>
                <a:cs typeface="Calibri" pitchFamily="34" charset="-120"/>
              </a:rPr>
              <a:t>What makes a solution acidic or alkaline?</a:t>
            </a:r>
            <a:endParaRPr lang="en-US" sz="1300" dirty="0"/>
          </a:p>
        </p:txBody>
      </p:sp>
      <p:sp>
        <p:nvSpPr>
          <p:cNvPr id="73" name="Text 71"/>
          <p:cNvSpPr/>
          <p:nvPr/>
        </p:nvSpPr>
        <p:spPr>
          <a:xfrm>
            <a:off x="6382512" y="1609344"/>
            <a:ext cx="5233111" cy="2706624"/>
          </a:xfrm>
          <a:prstGeom prst="rect">
            <a:avLst/>
          </a:prstGeom>
          <a:noFill/>
          <a:ln/>
        </p:spPr>
        <p:txBody>
          <a:bodyPr wrap="square" lIns="0" tIns="0" rIns="0" bIns="0" rtlCol="0" anchor="t"/>
          <a:lstStyle/>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An </a:t>
            </a:r>
            <a:r>
              <a:rPr lang="en-US" sz="1100" b="1" dirty="0">
                <a:solidFill>
                  <a:srgbClr val="262B3A"/>
                </a:solidFill>
                <a:latin typeface="Calibri" pitchFamily="34" charset="0"/>
                <a:ea typeface="Calibri" pitchFamily="34" charset="-122"/>
                <a:cs typeface="Calibri" pitchFamily="34" charset="-120"/>
              </a:rPr>
              <a:t>acid</a:t>
            </a:r>
            <a:r>
              <a:rPr lang="en-US" sz="1100" dirty="0">
                <a:solidFill>
                  <a:srgbClr val="262B3A"/>
                </a:solidFill>
                <a:latin typeface="Calibri" pitchFamily="34" charset="0"/>
                <a:ea typeface="Calibri" pitchFamily="34" charset="-122"/>
                <a:cs typeface="Calibri" pitchFamily="34" charset="-120"/>
              </a:rPr>
              <a:t> is a substance that forms </a:t>
            </a:r>
            <a:r>
              <a:rPr lang="en-US" sz="1100" b="1" dirty="0">
                <a:solidFill>
                  <a:srgbClr val="262B3A"/>
                </a:solidFill>
                <a:latin typeface="Calibri" pitchFamily="34" charset="0"/>
                <a:ea typeface="Calibri" pitchFamily="34" charset="-122"/>
                <a:cs typeface="Calibri" pitchFamily="34" charset="-120"/>
              </a:rPr>
              <a:t>hydrogen ions, H⁺(aq)</a:t>
            </a:r>
            <a:r>
              <a:rPr lang="en-US" sz="1100" dirty="0">
                <a:solidFill>
                  <a:srgbClr val="262B3A"/>
                </a:solidFill>
                <a:latin typeface="Calibri" pitchFamily="34" charset="0"/>
                <a:ea typeface="Calibri" pitchFamily="34" charset="-122"/>
                <a:cs typeface="Calibri" pitchFamily="34" charset="-120"/>
              </a:rPr>
              <a:t>, when it dissolves in water.</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A </a:t>
            </a:r>
            <a:r>
              <a:rPr lang="en-US" sz="1100" b="1" dirty="0">
                <a:solidFill>
                  <a:srgbClr val="262B3A"/>
                </a:solidFill>
                <a:latin typeface="Calibri" pitchFamily="34" charset="0"/>
                <a:ea typeface="Calibri" pitchFamily="34" charset="-122"/>
                <a:cs typeface="Calibri" pitchFamily="34" charset="-120"/>
              </a:rPr>
              <a:t>base</a:t>
            </a:r>
            <a:r>
              <a:rPr lang="en-US" sz="1100" dirty="0">
                <a:solidFill>
                  <a:srgbClr val="262B3A"/>
                </a:solidFill>
                <a:latin typeface="Calibri" pitchFamily="34" charset="0"/>
                <a:ea typeface="Calibri" pitchFamily="34" charset="-122"/>
                <a:cs typeface="Calibri" pitchFamily="34" charset="-120"/>
              </a:rPr>
              <a:t> neutralises an acid. Metal </a:t>
            </a:r>
            <a:r>
              <a:rPr lang="en-US" sz="1100" b="1" dirty="0">
                <a:solidFill>
                  <a:srgbClr val="262B3A"/>
                </a:solidFill>
                <a:latin typeface="Calibri" pitchFamily="34" charset="0"/>
                <a:ea typeface="Calibri" pitchFamily="34" charset="-122"/>
                <a:cs typeface="Calibri" pitchFamily="34" charset="-120"/>
              </a:rPr>
              <a:t>oxides</a:t>
            </a:r>
            <a:r>
              <a:rPr lang="en-US" sz="1100" dirty="0">
                <a:solidFill>
                  <a:srgbClr val="262B3A"/>
                </a:solidFill>
                <a:latin typeface="Calibri" pitchFamily="34" charset="0"/>
                <a:ea typeface="Calibri" pitchFamily="34" charset="-122"/>
                <a:cs typeface="Calibri" pitchFamily="34" charset="-120"/>
              </a:rPr>
              <a:t>, </a:t>
            </a:r>
            <a:r>
              <a:rPr lang="en-US" sz="1100" b="1" dirty="0">
                <a:solidFill>
                  <a:srgbClr val="262B3A"/>
                </a:solidFill>
                <a:latin typeface="Calibri" pitchFamily="34" charset="0"/>
                <a:ea typeface="Calibri" pitchFamily="34" charset="-122"/>
                <a:cs typeface="Calibri" pitchFamily="34" charset="-120"/>
              </a:rPr>
              <a:t>hydroxides</a:t>
            </a:r>
            <a:r>
              <a:rPr lang="en-US" sz="1100" dirty="0">
                <a:solidFill>
                  <a:srgbClr val="262B3A"/>
                </a:solidFill>
                <a:latin typeface="Calibri" pitchFamily="34" charset="0"/>
                <a:ea typeface="Calibri" pitchFamily="34" charset="-122"/>
                <a:cs typeface="Calibri" pitchFamily="34" charset="-120"/>
              </a:rPr>
              <a:t> and </a:t>
            </a:r>
            <a:r>
              <a:rPr lang="en-US" sz="1100" b="1" dirty="0">
                <a:solidFill>
                  <a:srgbClr val="262B3A"/>
                </a:solidFill>
                <a:latin typeface="Calibri" pitchFamily="34" charset="0"/>
                <a:ea typeface="Calibri" pitchFamily="34" charset="-122"/>
                <a:cs typeface="Calibri" pitchFamily="34" charset="-120"/>
              </a:rPr>
              <a:t>carbonates</a:t>
            </a:r>
            <a:r>
              <a:rPr lang="en-US" sz="1100" dirty="0">
                <a:solidFill>
                  <a:srgbClr val="262B3A"/>
                </a:solidFill>
                <a:latin typeface="Calibri" pitchFamily="34" charset="0"/>
                <a:ea typeface="Calibri" pitchFamily="34" charset="-122"/>
                <a:cs typeface="Calibri" pitchFamily="34" charset="-120"/>
              </a:rPr>
              <a:t> are bases.</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An </a:t>
            </a:r>
            <a:r>
              <a:rPr lang="en-US" sz="1100" b="1" dirty="0">
                <a:solidFill>
                  <a:srgbClr val="262B3A"/>
                </a:solidFill>
                <a:latin typeface="Calibri" pitchFamily="34" charset="0"/>
                <a:ea typeface="Calibri" pitchFamily="34" charset="-122"/>
                <a:cs typeface="Calibri" pitchFamily="34" charset="-120"/>
              </a:rPr>
              <a:t>alkali</a:t>
            </a:r>
            <a:r>
              <a:rPr lang="en-US" sz="1100" dirty="0">
                <a:solidFill>
                  <a:srgbClr val="262B3A"/>
                </a:solidFill>
                <a:latin typeface="Calibri" pitchFamily="34" charset="0"/>
                <a:ea typeface="Calibri" pitchFamily="34" charset="-122"/>
                <a:cs typeface="Calibri" pitchFamily="34" charset="-120"/>
              </a:rPr>
              <a:t> is a base that </a:t>
            </a:r>
            <a:r>
              <a:rPr lang="en-US" sz="1100" b="1" dirty="0">
                <a:solidFill>
                  <a:srgbClr val="262B3A"/>
                </a:solidFill>
                <a:latin typeface="Calibri" pitchFamily="34" charset="0"/>
                <a:ea typeface="Calibri" pitchFamily="34" charset="-122"/>
                <a:cs typeface="Calibri" pitchFamily="34" charset="-120"/>
              </a:rPr>
              <a:t>dissolves in water</a:t>
            </a:r>
            <a:r>
              <a:rPr lang="en-US" sz="1100" dirty="0">
                <a:solidFill>
                  <a:srgbClr val="262B3A"/>
                </a:solidFill>
                <a:latin typeface="Calibri" pitchFamily="34" charset="0"/>
                <a:ea typeface="Calibri" pitchFamily="34" charset="-122"/>
                <a:cs typeface="Calibri" pitchFamily="34" charset="-120"/>
              </a:rPr>
              <a:t>. Its solution contains </a:t>
            </a:r>
            <a:r>
              <a:rPr lang="en-US" sz="1100" b="1" dirty="0">
                <a:solidFill>
                  <a:srgbClr val="262B3A"/>
                </a:solidFill>
                <a:latin typeface="Calibri" pitchFamily="34" charset="0"/>
                <a:ea typeface="Calibri" pitchFamily="34" charset="-122"/>
                <a:cs typeface="Calibri" pitchFamily="34" charset="-120"/>
              </a:rPr>
              <a:t>hydroxide ions, OH⁻(aq)</a:t>
            </a:r>
            <a:r>
              <a:rPr lang="en-US" sz="1100" dirty="0">
                <a:solidFill>
                  <a:srgbClr val="262B3A"/>
                </a:solidFill>
                <a:latin typeface="Calibri" pitchFamily="34" charset="0"/>
                <a:ea typeface="Calibri" pitchFamily="34" charset="-122"/>
                <a:cs typeface="Calibri" pitchFamily="34" charset="-120"/>
              </a:rPr>
              <a:t>.</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Common lab acids: </a:t>
            </a:r>
            <a:r>
              <a:rPr lang="en-US" sz="1100" b="1" dirty="0">
                <a:solidFill>
                  <a:srgbClr val="262B3A"/>
                </a:solidFill>
                <a:latin typeface="Calibri" pitchFamily="34" charset="0"/>
                <a:ea typeface="Calibri" pitchFamily="34" charset="-122"/>
                <a:cs typeface="Calibri" pitchFamily="34" charset="-120"/>
              </a:rPr>
              <a:t>hydrochloric</a:t>
            </a:r>
            <a:r>
              <a:rPr lang="en-US" sz="1100" dirty="0">
                <a:solidFill>
                  <a:srgbClr val="262B3A"/>
                </a:solidFill>
                <a:latin typeface="Calibri" pitchFamily="34" charset="0"/>
                <a:ea typeface="Calibri" pitchFamily="34" charset="-122"/>
                <a:cs typeface="Calibri" pitchFamily="34" charset="-120"/>
              </a:rPr>
              <a:t> HCl, </a:t>
            </a:r>
            <a:r>
              <a:rPr lang="en-US" sz="1100" b="1" dirty="0">
                <a:solidFill>
                  <a:srgbClr val="262B3A"/>
                </a:solidFill>
                <a:latin typeface="Calibri" pitchFamily="34" charset="0"/>
                <a:ea typeface="Calibri" pitchFamily="34" charset="-122"/>
                <a:cs typeface="Calibri" pitchFamily="34" charset="-120"/>
              </a:rPr>
              <a:t>sulfuric</a:t>
            </a:r>
            <a:r>
              <a:rPr lang="en-US" sz="1100" dirty="0">
                <a:solidFill>
                  <a:srgbClr val="262B3A"/>
                </a:solidFill>
                <a:latin typeface="Calibri" pitchFamily="34" charset="0"/>
                <a:ea typeface="Calibri" pitchFamily="34" charset="-122"/>
                <a:cs typeface="Calibri" pitchFamily="34" charset="-120"/>
              </a:rPr>
              <a:t> H₂SO₄, </a:t>
            </a:r>
            <a:r>
              <a:rPr lang="en-US" sz="1100" b="1" dirty="0">
                <a:solidFill>
                  <a:srgbClr val="262B3A"/>
                </a:solidFill>
                <a:latin typeface="Calibri" pitchFamily="34" charset="0"/>
                <a:ea typeface="Calibri" pitchFamily="34" charset="-122"/>
                <a:cs typeface="Calibri" pitchFamily="34" charset="-120"/>
              </a:rPr>
              <a:t>nitric</a:t>
            </a:r>
            <a:r>
              <a:rPr lang="en-US" sz="1100" dirty="0">
                <a:solidFill>
                  <a:srgbClr val="262B3A"/>
                </a:solidFill>
                <a:latin typeface="Calibri" pitchFamily="34" charset="0"/>
                <a:ea typeface="Calibri" pitchFamily="34" charset="-122"/>
                <a:cs typeface="Calibri" pitchFamily="34" charset="-120"/>
              </a:rPr>
              <a:t> HNO₃. Common alkalis: NaOH, KOH, Ca(OH)₂.</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Dilute acids and alkalis can still be </a:t>
            </a:r>
            <a:r>
              <a:rPr lang="en-US" sz="1100" b="1" dirty="0">
                <a:solidFill>
                  <a:srgbClr val="262B3A"/>
                </a:solidFill>
                <a:latin typeface="Calibri" pitchFamily="34" charset="0"/>
                <a:ea typeface="Calibri" pitchFamily="34" charset="-122"/>
                <a:cs typeface="Calibri" pitchFamily="34" charset="-120"/>
              </a:rPr>
              <a:t>irritant</a:t>
            </a:r>
            <a:r>
              <a:rPr lang="en-US" sz="1100" dirty="0">
                <a:solidFill>
                  <a:srgbClr val="262B3A"/>
                </a:solidFill>
                <a:latin typeface="Calibri" pitchFamily="34" charset="0"/>
                <a:ea typeface="Calibri" pitchFamily="34" charset="-122"/>
                <a:cs typeface="Calibri" pitchFamily="34" charset="-120"/>
              </a:rPr>
              <a:t>; concentrated ones are </a:t>
            </a:r>
            <a:r>
              <a:rPr lang="en-US" sz="1100" b="1" dirty="0">
                <a:solidFill>
                  <a:srgbClr val="262B3A"/>
                </a:solidFill>
                <a:latin typeface="Calibri" pitchFamily="34" charset="0"/>
                <a:ea typeface="Calibri" pitchFamily="34" charset="-122"/>
                <a:cs typeface="Calibri" pitchFamily="34" charset="-120"/>
              </a:rPr>
              <a:t>corrosive</a:t>
            </a:r>
            <a:r>
              <a:rPr lang="en-US" sz="1100" dirty="0">
                <a:solidFill>
                  <a:srgbClr val="262B3A"/>
                </a:solidFill>
                <a:latin typeface="Calibri" pitchFamily="34" charset="0"/>
                <a:ea typeface="Calibri" pitchFamily="34" charset="-122"/>
                <a:cs typeface="Calibri" pitchFamily="34" charset="-120"/>
              </a:rPr>
              <a:t>. Wear eye protection.</a:t>
            </a:r>
            <a:endParaRPr lang="en-US" sz="1100" dirty="0"/>
          </a:p>
        </p:txBody>
      </p:sp>
      <p:sp>
        <p:nvSpPr>
          <p:cNvPr id="74" name="Shape 72"/>
          <p:cNvSpPr/>
          <p:nvPr/>
        </p:nvSpPr>
        <p:spPr>
          <a:xfrm>
            <a:off x="6217920" y="4526280"/>
            <a:ext cx="5562295" cy="1188720"/>
          </a:xfrm>
          <a:prstGeom prst="roundRect">
            <a:avLst>
              <a:gd name="adj" fmla="val 4615"/>
            </a:avLst>
          </a:prstGeom>
          <a:solidFill>
            <a:srgbClr val="FFF4E0"/>
          </a:solidFill>
          <a:ln w="9525">
            <a:solidFill>
              <a:srgbClr val="F1D9A8"/>
            </a:solidFill>
            <a:prstDash val="solid"/>
          </a:ln>
        </p:spPr>
      </p:sp>
      <p:sp>
        <p:nvSpPr>
          <p:cNvPr id="75" name="Text 73"/>
          <p:cNvSpPr/>
          <p:nvPr/>
        </p:nvSpPr>
        <p:spPr>
          <a:xfrm>
            <a:off x="6382512" y="459943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 ions from an acid</a:t>
            </a:r>
            <a:endParaRPr lang="en-US" sz="1300" dirty="0"/>
          </a:p>
        </p:txBody>
      </p:sp>
      <p:sp>
        <p:nvSpPr>
          <p:cNvPr id="76" name="Text 74"/>
          <p:cNvSpPr/>
          <p:nvPr/>
        </p:nvSpPr>
        <p:spPr>
          <a:xfrm>
            <a:off x="6382512" y="4910328"/>
            <a:ext cx="5233111" cy="73152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Which ions are in dilute nitric acid, HNO₃(aq)?</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1 Split   </a:t>
            </a:r>
            <a:r>
              <a:rPr lang="en-US" sz="1050" dirty="0">
                <a:solidFill>
                  <a:srgbClr val="262B3A"/>
                </a:solidFill>
                <a:latin typeface="Calibri" pitchFamily="34" charset="0"/>
                <a:ea typeface="Calibri" pitchFamily="34" charset="-122"/>
                <a:cs typeface="Calibri" pitchFamily="34" charset="-120"/>
              </a:rPr>
              <a:t>HNO₃(aq) → H⁺(aq) + NO₃⁻(aq)</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2 Answer   </a:t>
            </a:r>
            <a:r>
              <a:rPr lang="en-US" sz="1050" b="1" dirty="0">
                <a:solidFill>
                  <a:srgbClr val="C8414C"/>
                </a:solidFill>
                <a:latin typeface="Calibri" pitchFamily="34" charset="0"/>
                <a:ea typeface="Calibri" pitchFamily="34" charset="-122"/>
                <a:cs typeface="Calibri" pitchFamily="34" charset="-120"/>
              </a:rPr>
              <a:t>H⁺</a:t>
            </a:r>
            <a:r>
              <a:rPr lang="en-US" sz="1050" b="1" dirty="0">
                <a:solidFill>
                  <a:srgbClr val="C8414C"/>
                </a:solidFill>
                <a:latin typeface="Calibri" pitchFamily="34" charset="0"/>
                <a:ea typeface="Calibri" pitchFamily="34" charset="-122"/>
                <a:cs typeface="Calibri" pitchFamily="34" charset="-120"/>
              </a:rPr>
              <a:t> (makes it acidic) and </a:t>
            </a:r>
            <a:r>
              <a:rPr lang="en-US" sz="1050" b="1" dirty="0">
                <a:solidFill>
                  <a:srgbClr val="C8414C"/>
                </a:solidFill>
                <a:latin typeface="Calibri" pitchFamily="34" charset="0"/>
                <a:ea typeface="Calibri" pitchFamily="34" charset="-122"/>
                <a:cs typeface="Calibri" pitchFamily="34" charset="-120"/>
              </a:rPr>
              <a:t>NO₃⁻</a:t>
            </a:r>
            <a:r>
              <a:rPr lang="en-US" sz="1050" b="1" dirty="0">
                <a:solidFill>
                  <a:srgbClr val="C8414C"/>
                </a:solidFill>
                <a:latin typeface="Calibri" pitchFamily="34" charset="0"/>
                <a:ea typeface="Calibri" pitchFamily="34" charset="-122"/>
                <a:cs typeface="Calibri" pitchFamily="34" charset="-120"/>
              </a:rPr>
              <a:t> (nitrate) ions</a:t>
            </a:r>
            <a:endParaRPr lang="en-US" sz="1050" dirty="0"/>
          </a:p>
        </p:txBody>
      </p:sp>
      <p:sp>
        <p:nvSpPr>
          <p:cNvPr id="77" name="Shape 75"/>
          <p:cNvSpPr/>
          <p:nvPr/>
        </p:nvSpPr>
        <p:spPr>
          <a:xfrm>
            <a:off x="411480" y="5833872"/>
            <a:ext cx="11368735" cy="530352"/>
          </a:xfrm>
          <a:prstGeom prst="rect">
            <a:avLst/>
          </a:prstGeom>
          <a:solidFill>
            <a:srgbClr val="FFF4E0"/>
          </a:solidFill>
          <a:ln w="6350">
            <a:solidFill>
              <a:srgbClr val="F1D9A8"/>
            </a:solidFill>
            <a:prstDash val="solid"/>
          </a:ln>
        </p:spPr>
      </p:sp>
      <p:sp>
        <p:nvSpPr>
          <p:cNvPr id="78" name="Shape 76"/>
          <p:cNvSpPr/>
          <p:nvPr/>
        </p:nvSpPr>
        <p:spPr>
          <a:xfrm>
            <a:off x="411480" y="5833872"/>
            <a:ext cx="82296" cy="530352"/>
          </a:xfrm>
          <a:prstGeom prst="rect">
            <a:avLst/>
          </a:prstGeom>
          <a:solidFill>
            <a:srgbClr val="E39A2F"/>
          </a:solidFill>
          <a:ln w="12700">
            <a:solidFill>
              <a:srgbClr val="E39A2F"/>
            </a:solidFill>
            <a:prstDash val="solid"/>
          </a:ln>
        </p:spPr>
      </p:sp>
      <p:sp>
        <p:nvSpPr>
          <p:cNvPr id="79" name="Text 77"/>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Copper(II) oxide neutralises acids but does </a:t>
            </a:r>
            <a:r>
              <a:rPr lang="en-US" sz="1150" b="1" dirty="0">
                <a:solidFill>
                  <a:srgbClr val="262B3A"/>
                </a:solidFill>
                <a:latin typeface="Calibri" pitchFamily="34" charset="0"/>
                <a:ea typeface="Calibri" pitchFamily="34" charset="-122"/>
                <a:cs typeface="Calibri" pitchFamily="34" charset="-120"/>
              </a:rPr>
              <a:t>not</a:t>
            </a:r>
            <a:r>
              <a:rPr lang="en-US" sz="1150" dirty="0">
                <a:solidFill>
                  <a:srgbClr val="262B3A"/>
                </a:solidFill>
                <a:latin typeface="Calibri" pitchFamily="34" charset="0"/>
                <a:ea typeface="Calibri" pitchFamily="34" charset="-122"/>
                <a:cs typeface="Calibri" pitchFamily="34" charset="-120"/>
              </a:rPr>
              <a:t> dissolve in water. Is it a </a:t>
            </a:r>
            <a:r>
              <a:rPr lang="en-US" sz="1150" b="1" dirty="0">
                <a:solidFill>
                  <a:srgbClr val="262B3A"/>
                </a:solidFill>
                <a:latin typeface="Calibri" pitchFamily="34" charset="0"/>
                <a:ea typeface="Calibri" pitchFamily="34" charset="-122"/>
                <a:cs typeface="Calibri" pitchFamily="34" charset="-120"/>
              </a:rPr>
              <a:t>base</a:t>
            </a:r>
            <a:r>
              <a:rPr lang="en-US" sz="1150" dirty="0">
                <a:solidFill>
                  <a:srgbClr val="262B3A"/>
                </a:solidFill>
                <a:latin typeface="Calibri" pitchFamily="34" charset="0"/>
                <a:ea typeface="Calibri" pitchFamily="34" charset="-122"/>
                <a:cs typeface="Calibri" pitchFamily="34" charset="-120"/>
              </a:rPr>
              <a:t>, an </a:t>
            </a:r>
            <a:r>
              <a:rPr lang="en-US" sz="1150" b="1" dirty="0">
                <a:solidFill>
                  <a:srgbClr val="262B3A"/>
                </a:solidFill>
                <a:latin typeface="Calibri" pitchFamily="34" charset="0"/>
                <a:ea typeface="Calibri" pitchFamily="34" charset="-122"/>
                <a:cs typeface="Calibri" pitchFamily="34" charset="-120"/>
              </a:rPr>
              <a:t>alkali</a:t>
            </a:r>
            <a:r>
              <a:rPr lang="en-US" sz="1150" dirty="0">
                <a:solidFill>
                  <a:srgbClr val="262B3A"/>
                </a:solidFill>
                <a:latin typeface="Calibri" pitchFamily="34" charset="0"/>
                <a:ea typeface="Calibri" pitchFamily="34" charset="-122"/>
                <a:cs typeface="Calibri" pitchFamily="34" charset="-120"/>
              </a:rPr>
              <a:t>, or both? Explain.</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Measuring acidity: the pH scale</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Specification C6.1.4 • relative acidity and alkalinity are measured by pH, with universal indicator or a pH meter</a:t>
            </a:r>
            <a:endParaRPr lang="en-US" sz="1100" dirty="0"/>
          </a:p>
        </p:txBody>
      </p:sp>
      <p:sp>
        <p:nvSpPr>
          <p:cNvPr id="6" name="Text 4"/>
          <p:cNvSpPr/>
          <p:nvPr/>
        </p:nvSpPr>
        <p:spPr>
          <a:xfrm>
            <a:off x="411480" y="6473952"/>
            <a:ext cx="1014984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C6.1 What useful products can be made from acids?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C6.1.4  |  6</a:t>
            </a:r>
            <a:endParaRPr lang="en-US" sz="1000" dirty="0"/>
          </a:p>
        </p:txBody>
      </p:sp>
      <p:sp>
        <p:nvSpPr>
          <p:cNvPr id="8" name="Shape 6"/>
          <p:cNvSpPr/>
          <p:nvPr/>
        </p:nvSpPr>
        <p:spPr>
          <a:xfrm>
            <a:off x="411480" y="1188720"/>
            <a:ext cx="5577840" cy="4526280"/>
          </a:xfrm>
          <a:prstGeom prst="roundRect">
            <a:avLst>
              <a:gd name="adj" fmla="val 1616"/>
            </a:avLst>
          </a:prstGeom>
          <a:solidFill>
            <a:srgbClr val="F4F0FA"/>
          </a:solidFill>
          <a:ln w="9525">
            <a:solidFill>
              <a:srgbClr val="DED4EE"/>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universal indicator colours (approximate) and a pH meter</a:t>
            </a:r>
            <a:endParaRPr lang="en-US" sz="1000" dirty="0"/>
          </a:p>
        </p:txBody>
      </p:sp>
      <p:sp>
        <p:nvSpPr>
          <p:cNvPr id="10" name="Text 8"/>
          <p:cNvSpPr/>
          <p:nvPr/>
        </p:nvSpPr>
        <p:spPr>
          <a:xfrm>
            <a:off x="594360" y="1298448"/>
            <a:ext cx="5303520" cy="237744"/>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Universal indicator colours</a:t>
            </a:r>
            <a:endParaRPr lang="en-US" sz="1050" dirty="0"/>
          </a:p>
        </p:txBody>
      </p:sp>
      <p:sp>
        <p:nvSpPr>
          <p:cNvPr id="11" name="Shape 9"/>
          <p:cNvSpPr/>
          <p:nvPr/>
        </p:nvSpPr>
        <p:spPr>
          <a:xfrm>
            <a:off x="640080" y="1600200"/>
            <a:ext cx="341376" cy="384048"/>
          </a:xfrm>
          <a:prstGeom prst="rect">
            <a:avLst/>
          </a:prstGeom>
          <a:solidFill>
            <a:srgbClr val="D7191C"/>
          </a:solidFill>
          <a:ln w="6350">
            <a:solidFill>
              <a:srgbClr val="FFFFFF"/>
            </a:solidFill>
            <a:prstDash val="solid"/>
          </a:ln>
        </p:spPr>
      </p:sp>
      <p:sp>
        <p:nvSpPr>
          <p:cNvPr id="12" name="Text 10"/>
          <p:cNvSpPr/>
          <p:nvPr/>
        </p:nvSpPr>
        <p:spPr>
          <a:xfrm>
            <a:off x="640080" y="1600200"/>
            <a:ext cx="341376"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0</a:t>
            </a:r>
            <a:endParaRPr lang="en-US" sz="1000" dirty="0"/>
          </a:p>
        </p:txBody>
      </p:sp>
      <p:sp>
        <p:nvSpPr>
          <p:cNvPr id="13" name="Shape 11"/>
          <p:cNvSpPr/>
          <p:nvPr/>
        </p:nvSpPr>
        <p:spPr>
          <a:xfrm>
            <a:off x="981456" y="1600200"/>
            <a:ext cx="341376" cy="384048"/>
          </a:xfrm>
          <a:prstGeom prst="rect">
            <a:avLst/>
          </a:prstGeom>
          <a:solidFill>
            <a:srgbClr val="E8402A"/>
          </a:solidFill>
          <a:ln w="6350">
            <a:solidFill>
              <a:srgbClr val="FFFFFF"/>
            </a:solidFill>
            <a:prstDash val="solid"/>
          </a:ln>
        </p:spPr>
      </p:sp>
      <p:sp>
        <p:nvSpPr>
          <p:cNvPr id="14" name="Text 12"/>
          <p:cNvSpPr/>
          <p:nvPr/>
        </p:nvSpPr>
        <p:spPr>
          <a:xfrm>
            <a:off x="981456" y="1600200"/>
            <a:ext cx="341376"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a:t>
            </a:r>
            <a:endParaRPr lang="en-US" sz="1000" dirty="0"/>
          </a:p>
        </p:txBody>
      </p:sp>
      <p:sp>
        <p:nvSpPr>
          <p:cNvPr id="15" name="Shape 13"/>
          <p:cNvSpPr/>
          <p:nvPr/>
        </p:nvSpPr>
        <p:spPr>
          <a:xfrm>
            <a:off x="1322832" y="1600200"/>
            <a:ext cx="341376" cy="384048"/>
          </a:xfrm>
          <a:prstGeom prst="rect">
            <a:avLst/>
          </a:prstGeom>
          <a:solidFill>
            <a:srgbClr val="F26B22"/>
          </a:solidFill>
          <a:ln w="6350">
            <a:solidFill>
              <a:srgbClr val="FFFFFF"/>
            </a:solidFill>
            <a:prstDash val="solid"/>
          </a:ln>
        </p:spPr>
      </p:sp>
      <p:sp>
        <p:nvSpPr>
          <p:cNvPr id="16" name="Text 14"/>
          <p:cNvSpPr/>
          <p:nvPr/>
        </p:nvSpPr>
        <p:spPr>
          <a:xfrm>
            <a:off x="1322832" y="1600200"/>
            <a:ext cx="341376" cy="384048"/>
          </a:xfrm>
          <a:prstGeom prst="rect">
            <a:avLst/>
          </a:prstGeom>
          <a:noFill/>
          <a:ln/>
        </p:spPr>
        <p:txBody>
          <a:bodyPr wrap="square" lIns="0" tIns="0" rIns="0" bIns="0" rtlCol="0" anchor="ctr"/>
          <a:lstStyle/>
          <a:p>
            <a:pPr algn="ctr" indent="0" marL="0">
              <a:buNone/>
            </a:pPr>
            <a:r>
              <a:rPr lang="en-US" sz="1000" b="1" dirty="0">
                <a:solidFill>
                  <a:srgbClr val="2A1F3D"/>
                </a:solidFill>
                <a:latin typeface="Calibri" pitchFamily="34" charset="0"/>
                <a:ea typeface="Calibri" pitchFamily="34" charset="-122"/>
                <a:cs typeface="Calibri" pitchFamily="34" charset="-120"/>
              </a:rPr>
              <a:t>2</a:t>
            </a:r>
            <a:endParaRPr lang="en-US" sz="1000" dirty="0"/>
          </a:p>
        </p:txBody>
      </p:sp>
      <p:sp>
        <p:nvSpPr>
          <p:cNvPr id="17" name="Shape 15"/>
          <p:cNvSpPr/>
          <p:nvPr/>
        </p:nvSpPr>
        <p:spPr>
          <a:xfrm>
            <a:off x="1664208" y="1600200"/>
            <a:ext cx="341376" cy="384048"/>
          </a:xfrm>
          <a:prstGeom prst="rect">
            <a:avLst/>
          </a:prstGeom>
          <a:solidFill>
            <a:srgbClr val="F7941D"/>
          </a:solidFill>
          <a:ln w="6350">
            <a:solidFill>
              <a:srgbClr val="FFFFFF"/>
            </a:solidFill>
            <a:prstDash val="solid"/>
          </a:ln>
        </p:spPr>
      </p:sp>
      <p:sp>
        <p:nvSpPr>
          <p:cNvPr id="18" name="Text 16"/>
          <p:cNvSpPr/>
          <p:nvPr/>
        </p:nvSpPr>
        <p:spPr>
          <a:xfrm>
            <a:off x="1664208" y="1600200"/>
            <a:ext cx="341376" cy="384048"/>
          </a:xfrm>
          <a:prstGeom prst="rect">
            <a:avLst/>
          </a:prstGeom>
          <a:noFill/>
          <a:ln/>
        </p:spPr>
        <p:txBody>
          <a:bodyPr wrap="square" lIns="0" tIns="0" rIns="0" bIns="0" rtlCol="0" anchor="ctr"/>
          <a:lstStyle/>
          <a:p>
            <a:pPr algn="ctr" indent="0" marL="0">
              <a:buNone/>
            </a:pPr>
            <a:r>
              <a:rPr lang="en-US" sz="1000" b="1" dirty="0">
                <a:solidFill>
                  <a:srgbClr val="2A1F3D"/>
                </a:solidFill>
                <a:latin typeface="Calibri" pitchFamily="34" charset="0"/>
                <a:ea typeface="Calibri" pitchFamily="34" charset="-122"/>
                <a:cs typeface="Calibri" pitchFamily="34" charset="-120"/>
              </a:rPr>
              <a:t>3</a:t>
            </a:r>
            <a:endParaRPr lang="en-US" sz="1000" dirty="0"/>
          </a:p>
        </p:txBody>
      </p:sp>
      <p:sp>
        <p:nvSpPr>
          <p:cNvPr id="19" name="Shape 17"/>
          <p:cNvSpPr/>
          <p:nvPr/>
        </p:nvSpPr>
        <p:spPr>
          <a:xfrm>
            <a:off x="2005584" y="1600200"/>
            <a:ext cx="341376" cy="384048"/>
          </a:xfrm>
          <a:prstGeom prst="rect">
            <a:avLst/>
          </a:prstGeom>
          <a:solidFill>
            <a:srgbClr val="FDB813"/>
          </a:solidFill>
          <a:ln w="6350">
            <a:solidFill>
              <a:srgbClr val="FFFFFF"/>
            </a:solidFill>
            <a:prstDash val="solid"/>
          </a:ln>
        </p:spPr>
      </p:sp>
      <p:sp>
        <p:nvSpPr>
          <p:cNvPr id="20" name="Text 18"/>
          <p:cNvSpPr/>
          <p:nvPr/>
        </p:nvSpPr>
        <p:spPr>
          <a:xfrm>
            <a:off x="2005584" y="1600200"/>
            <a:ext cx="341376" cy="384048"/>
          </a:xfrm>
          <a:prstGeom prst="rect">
            <a:avLst/>
          </a:prstGeom>
          <a:noFill/>
          <a:ln/>
        </p:spPr>
        <p:txBody>
          <a:bodyPr wrap="square" lIns="0" tIns="0" rIns="0" bIns="0" rtlCol="0" anchor="ctr"/>
          <a:lstStyle/>
          <a:p>
            <a:pPr algn="ctr" indent="0" marL="0">
              <a:buNone/>
            </a:pPr>
            <a:r>
              <a:rPr lang="en-US" sz="1000" b="1" dirty="0">
                <a:solidFill>
                  <a:srgbClr val="2A1F3D"/>
                </a:solidFill>
                <a:latin typeface="Calibri" pitchFamily="34" charset="0"/>
                <a:ea typeface="Calibri" pitchFamily="34" charset="-122"/>
                <a:cs typeface="Calibri" pitchFamily="34" charset="-120"/>
              </a:rPr>
              <a:t>4</a:t>
            </a:r>
            <a:endParaRPr lang="en-US" sz="1000" dirty="0"/>
          </a:p>
        </p:txBody>
      </p:sp>
      <p:sp>
        <p:nvSpPr>
          <p:cNvPr id="21" name="Shape 19"/>
          <p:cNvSpPr/>
          <p:nvPr/>
        </p:nvSpPr>
        <p:spPr>
          <a:xfrm>
            <a:off x="2346960" y="1600200"/>
            <a:ext cx="341376" cy="384048"/>
          </a:xfrm>
          <a:prstGeom prst="rect">
            <a:avLst/>
          </a:prstGeom>
          <a:solidFill>
            <a:srgbClr val="FFDE17"/>
          </a:solidFill>
          <a:ln w="6350">
            <a:solidFill>
              <a:srgbClr val="FFFFFF"/>
            </a:solidFill>
            <a:prstDash val="solid"/>
          </a:ln>
        </p:spPr>
      </p:sp>
      <p:sp>
        <p:nvSpPr>
          <p:cNvPr id="22" name="Text 20"/>
          <p:cNvSpPr/>
          <p:nvPr/>
        </p:nvSpPr>
        <p:spPr>
          <a:xfrm>
            <a:off x="2346960" y="1600200"/>
            <a:ext cx="341376" cy="384048"/>
          </a:xfrm>
          <a:prstGeom prst="rect">
            <a:avLst/>
          </a:prstGeom>
          <a:noFill/>
          <a:ln/>
        </p:spPr>
        <p:txBody>
          <a:bodyPr wrap="square" lIns="0" tIns="0" rIns="0" bIns="0" rtlCol="0" anchor="ctr"/>
          <a:lstStyle/>
          <a:p>
            <a:pPr algn="ctr" indent="0" marL="0">
              <a:buNone/>
            </a:pPr>
            <a:r>
              <a:rPr lang="en-US" sz="1000" b="1" dirty="0">
                <a:solidFill>
                  <a:srgbClr val="2A1F3D"/>
                </a:solidFill>
                <a:latin typeface="Calibri" pitchFamily="34" charset="0"/>
                <a:ea typeface="Calibri" pitchFamily="34" charset="-122"/>
                <a:cs typeface="Calibri" pitchFamily="34" charset="-120"/>
              </a:rPr>
              <a:t>5</a:t>
            </a:r>
            <a:endParaRPr lang="en-US" sz="1000" dirty="0"/>
          </a:p>
        </p:txBody>
      </p:sp>
      <p:sp>
        <p:nvSpPr>
          <p:cNvPr id="23" name="Shape 21"/>
          <p:cNvSpPr/>
          <p:nvPr/>
        </p:nvSpPr>
        <p:spPr>
          <a:xfrm>
            <a:off x="2688336" y="1600200"/>
            <a:ext cx="341376" cy="384048"/>
          </a:xfrm>
          <a:prstGeom prst="rect">
            <a:avLst/>
          </a:prstGeom>
          <a:solidFill>
            <a:srgbClr val="C8D82B"/>
          </a:solidFill>
          <a:ln w="6350">
            <a:solidFill>
              <a:srgbClr val="FFFFFF"/>
            </a:solidFill>
            <a:prstDash val="solid"/>
          </a:ln>
        </p:spPr>
      </p:sp>
      <p:sp>
        <p:nvSpPr>
          <p:cNvPr id="24" name="Text 22"/>
          <p:cNvSpPr/>
          <p:nvPr/>
        </p:nvSpPr>
        <p:spPr>
          <a:xfrm>
            <a:off x="2688336" y="1600200"/>
            <a:ext cx="341376" cy="384048"/>
          </a:xfrm>
          <a:prstGeom prst="rect">
            <a:avLst/>
          </a:prstGeom>
          <a:noFill/>
          <a:ln/>
        </p:spPr>
        <p:txBody>
          <a:bodyPr wrap="square" lIns="0" tIns="0" rIns="0" bIns="0" rtlCol="0" anchor="ctr"/>
          <a:lstStyle/>
          <a:p>
            <a:pPr algn="ctr" indent="0" marL="0">
              <a:buNone/>
            </a:pPr>
            <a:r>
              <a:rPr lang="en-US" sz="1000" b="1" dirty="0">
                <a:solidFill>
                  <a:srgbClr val="2A1F3D"/>
                </a:solidFill>
                <a:latin typeface="Calibri" pitchFamily="34" charset="0"/>
                <a:ea typeface="Calibri" pitchFamily="34" charset="-122"/>
                <a:cs typeface="Calibri" pitchFamily="34" charset="-120"/>
              </a:rPr>
              <a:t>6</a:t>
            </a:r>
            <a:endParaRPr lang="en-US" sz="1000" dirty="0"/>
          </a:p>
        </p:txBody>
      </p:sp>
      <p:sp>
        <p:nvSpPr>
          <p:cNvPr id="25" name="Shape 23"/>
          <p:cNvSpPr/>
          <p:nvPr/>
        </p:nvSpPr>
        <p:spPr>
          <a:xfrm>
            <a:off x="3029712" y="1600200"/>
            <a:ext cx="341376" cy="384048"/>
          </a:xfrm>
          <a:prstGeom prst="rect">
            <a:avLst/>
          </a:prstGeom>
          <a:solidFill>
            <a:srgbClr val="7DC242"/>
          </a:solidFill>
          <a:ln w="6350">
            <a:solidFill>
              <a:srgbClr val="FFFFFF"/>
            </a:solidFill>
            <a:prstDash val="solid"/>
          </a:ln>
        </p:spPr>
      </p:sp>
      <p:sp>
        <p:nvSpPr>
          <p:cNvPr id="26" name="Text 24"/>
          <p:cNvSpPr/>
          <p:nvPr/>
        </p:nvSpPr>
        <p:spPr>
          <a:xfrm>
            <a:off x="3029712" y="1600200"/>
            <a:ext cx="341376" cy="384048"/>
          </a:xfrm>
          <a:prstGeom prst="rect">
            <a:avLst/>
          </a:prstGeom>
          <a:noFill/>
          <a:ln/>
        </p:spPr>
        <p:txBody>
          <a:bodyPr wrap="square" lIns="0" tIns="0" rIns="0" bIns="0" rtlCol="0" anchor="ctr"/>
          <a:lstStyle/>
          <a:p>
            <a:pPr algn="ctr" indent="0" marL="0">
              <a:buNone/>
            </a:pPr>
            <a:r>
              <a:rPr lang="en-US" sz="1000" b="1" dirty="0">
                <a:solidFill>
                  <a:srgbClr val="2A1F3D"/>
                </a:solidFill>
                <a:latin typeface="Calibri" pitchFamily="34" charset="0"/>
                <a:ea typeface="Calibri" pitchFamily="34" charset="-122"/>
                <a:cs typeface="Calibri" pitchFamily="34" charset="-120"/>
              </a:rPr>
              <a:t>7</a:t>
            </a:r>
            <a:endParaRPr lang="en-US" sz="1000" dirty="0"/>
          </a:p>
        </p:txBody>
      </p:sp>
      <p:sp>
        <p:nvSpPr>
          <p:cNvPr id="27" name="Shape 25"/>
          <p:cNvSpPr/>
          <p:nvPr/>
        </p:nvSpPr>
        <p:spPr>
          <a:xfrm>
            <a:off x="3371088" y="1600200"/>
            <a:ext cx="341376" cy="384048"/>
          </a:xfrm>
          <a:prstGeom prst="rect">
            <a:avLst/>
          </a:prstGeom>
          <a:solidFill>
            <a:srgbClr val="2FA84F"/>
          </a:solidFill>
          <a:ln w="6350">
            <a:solidFill>
              <a:srgbClr val="FFFFFF"/>
            </a:solidFill>
            <a:prstDash val="solid"/>
          </a:ln>
        </p:spPr>
      </p:sp>
      <p:sp>
        <p:nvSpPr>
          <p:cNvPr id="28" name="Text 26"/>
          <p:cNvSpPr/>
          <p:nvPr/>
        </p:nvSpPr>
        <p:spPr>
          <a:xfrm>
            <a:off x="3371088" y="1600200"/>
            <a:ext cx="341376" cy="384048"/>
          </a:xfrm>
          <a:prstGeom prst="rect">
            <a:avLst/>
          </a:prstGeom>
          <a:noFill/>
          <a:ln/>
        </p:spPr>
        <p:txBody>
          <a:bodyPr wrap="square" lIns="0" tIns="0" rIns="0" bIns="0" rtlCol="0" anchor="ctr"/>
          <a:lstStyle/>
          <a:p>
            <a:pPr algn="ctr" indent="0" marL="0">
              <a:buNone/>
            </a:pPr>
            <a:r>
              <a:rPr lang="en-US" sz="1000" b="1" dirty="0">
                <a:solidFill>
                  <a:srgbClr val="2A1F3D"/>
                </a:solidFill>
                <a:latin typeface="Calibri" pitchFamily="34" charset="0"/>
                <a:ea typeface="Calibri" pitchFamily="34" charset="-122"/>
                <a:cs typeface="Calibri" pitchFamily="34" charset="-120"/>
              </a:rPr>
              <a:t>8</a:t>
            </a:r>
            <a:endParaRPr lang="en-US" sz="1000" dirty="0"/>
          </a:p>
        </p:txBody>
      </p:sp>
      <p:sp>
        <p:nvSpPr>
          <p:cNvPr id="29" name="Shape 27"/>
          <p:cNvSpPr/>
          <p:nvPr/>
        </p:nvSpPr>
        <p:spPr>
          <a:xfrm>
            <a:off x="3712464" y="1600200"/>
            <a:ext cx="341376" cy="384048"/>
          </a:xfrm>
          <a:prstGeom prst="rect">
            <a:avLst/>
          </a:prstGeom>
          <a:solidFill>
            <a:srgbClr val="00A88F"/>
          </a:solidFill>
          <a:ln w="6350">
            <a:solidFill>
              <a:srgbClr val="FFFFFF"/>
            </a:solidFill>
            <a:prstDash val="solid"/>
          </a:ln>
        </p:spPr>
      </p:sp>
      <p:sp>
        <p:nvSpPr>
          <p:cNvPr id="30" name="Text 28"/>
          <p:cNvSpPr/>
          <p:nvPr/>
        </p:nvSpPr>
        <p:spPr>
          <a:xfrm>
            <a:off x="3712464" y="1600200"/>
            <a:ext cx="341376" cy="384048"/>
          </a:xfrm>
          <a:prstGeom prst="rect">
            <a:avLst/>
          </a:prstGeom>
          <a:noFill/>
          <a:ln/>
        </p:spPr>
        <p:txBody>
          <a:bodyPr wrap="square" lIns="0" tIns="0" rIns="0" bIns="0" rtlCol="0" anchor="ctr"/>
          <a:lstStyle/>
          <a:p>
            <a:pPr algn="ctr" indent="0" marL="0">
              <a:buNone/>
            </a:pPr>
            <a:r>
              <a:rPr lang="en-US" sz="1000" b="1" dirty="0">
                <a:solidFill>
                  <a:srgbClr val="2A1F3D"/>
                </a:solidFill>
                <a:latin typeface="Calibri" pitchFamily="34" charset="0"/>
                <a:ea typeface="Calibri" pitchFamily="34" charset="-122"/>
                <a:cs typeface="Calibri" pitchFamily="34" charset="-120"/>
              </a:rPr>
              <a:t>9</a:t>
            </a:r>
            <a:endParaRPr lang="en-US" sz="1000" dirty="0"/>
          </a:p>
        </p:txBody>
      </p:sp>
      <p:sp>
        <p:nvSpPr>
          <p:cNvPr id="31" name="Shape 29"/>
          <p:cNvSpPr/>
          <p:nvPr/>
        </p:nvSpPr>
        <p:spPr>
          <a:xfrm>
            <a:off x="4053840" y="1600200"/>
            <a:ext cx="341376" cy="384048"/>
          </a:xfrm>
          <a:prstGeom prst="rect">
            <a:avLst/>
          </a:prstGeom>
          <a:solidFill>
            <a:srgbClr val="00A4D6"/>
          </a:solidFill>
          <a:ln w="6350">
            <a:solidFill>
              <a:srgbClr val="FFFFFF"/>
            </a:solidFill>
            <a:prstDash val="solid"/>
          </a:ln>
        </p:spPr>
      </p:sp>
      <p:sp>
        <p:nvSpPr>
          <p:cNvPr id="32" name="Text 30"/>
          <p:cNvSpPr/>
          <p:nvPr/>
        </p:nvSpPr>
        <p:spPr>
          <a:xfrm>
            <a:off x="4053840" y="1600200"/>
            <a:ext cx="341376" cy="384048"/>
          </a:xfrm>
          <a:prstGeom prst="rect">
            <a:avLst/>
          </a:prstGeom>
          <a:noFill/>
          <a:ln/>
        </p:spPr>
        <p:txBody>
          <a:bodyPr wrap="square" lIns="0" tIns="0" rIns="0" bIns="0" rtlCol="0" anchor="ctr"/>
          <a:lstStyle/>
          <a:p>
            <a:pPr algn="ctr" indent="0" marL="0">
              <a:buNone/>
            </a:pPr>
            <a:r>
              <a:rPr lang="en-US" sz="1000" b="1" dirty="0">
                <a:solidFill>
                  <a:srgbClr val="2A1F3D"/>
                </a:solidFill>
                <a:latin typeface="Calibri" pitchFamily="34" charset="0"/>
                <a:ea typeface="Calibri" pitchFamily="34" charset="-122"/>
                <a:cs typeface="Calibri" pitchFamily="34" charset="-120"/>
              </a:rPr>
              <a:t>10</a:t>
            </a:r>
            <a:endParaRPr lang="en-US" sz="1000" dirty="0"/>
          </a:p>
        </p:txBody>
      </p:sp>
      <p:sp>
        <p:nvSpPr>
          <p:cNvPr id="33" name="Shape 31"/>
          <p:cNvSpPr/>
          <p:nvPr/>
        </p:nvSpPr>
        <p:spPr>
          <a:xfrm>
            <a:off x="4395216" y="1600200"/>
            <a:ext cx="341376" cy="384048"/>
          </a:xfrm>
          <a:prstGeom prst="rect">
            <a:avLst/>
          </a:prstGeom>
          <a:solidFill>
            <a:srgbClr val="0072BC"/>
          </a:solidFill>
          <a:ln w="6350">
            <a:solidFill>
              <a:srgbClr val="FFFFFF"/>
            </a:solidFill>
            <a:prstDash val="solid"/>
          </a:ln>
        </p:spPr>
      </p:sp>
      <p:sp>
        <p:nvSpPr>
          <p:cNvPr id="34" name="Text 32"/>
          <p:cNvSpPr/>
          <p:nvPr/>
        </p:nvSpPr>
        <p:spPr>
          <a:xfrm>
            <a:off x="4395216" y="1600200"/>
            <a:ext cx="341376"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11</a:t>
            </a:r>
            <a:endParaRPr lang="en-US" sz="1000" dirty="0"/>
          </a:p>
        </p:txBody>
      </p:sp>
      <p:sp>
        <p:nvSpPr>
          <p:cNvPr id="35" name="Shape 33"/>
          <p:cNvSpPr/>
          <p:nvPr/>
        </p:nvSpPr>
        <p:spPr>
          <a:xfrm>
            <a:off x="4736592" y="1600200"/>
            <a:ext cx="341376" cy="384048"/>
          </a:xfrm>
          <a:prstGeom prst="rect">
            <a:avLst/>
          </a:prstGeom>
          <a:solidFill>
            <a:srgbClr val="2E3192"/>
          </a:solidFill>
          <a:ln w="6350">
            <a:solidFill>
              <a:srgbClr val="FFFFFF"/>
            </a:solidFill>
            <a:prstDash val="solid"/>
          </a:ln>
        </p:spPr>
      </p:sp>
      <p:sp>
        <p:nvSpPr>
          <p:cNvPr id="36" name="Text 34"/>
          <p:cNvSpPr/>
          <p:nvPr/>
        </p:nvSpPr>
        <p:spPr>
          <a:xfrm>
            <a:off x="4736592" y="1600200"/>
            <a:ext cx="341376"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12</a:t>
            </a:r>
            <a:endParaRPr lang="en-US" sz="1000" dirty="0"/>
          </a:p>
        </p:txBody>
      </p:sp>
      <p:sp>
        <p:nvSpPr>
          <p:cNvPr id="37" name="Shape 35"/>
          <p:cNvSpPr/>
          <p:nvPr/>
        </p:nvSpPr>
        <p:spPr>
          <a:xfrm>
            <a:off x="5077968" y="1600200"/>
            <a:ext cx="341376" cy="384048"/>
          </a:xfrm>
          <a:prstGeom prst="rect">
            <a:avLst/>
          </a:prstGeom>
          <a:solidFill>
            <a:srgbClr val="5B2C8F"/>
          </a:solidFill>
          <a:ln w="6350">
            <a:solidFill>
              <a:srgbClr val="FFFFFF"/>
            </a:solidFill>
            <a:prstDash val="solid"/>
          </a:ln>
        </p:spPr>
      </p:sp>
      <p:sp>
        <p:nvSpPr>
          <p:cNvPr id="38" name="Text 36"/>
          <p:cNvSpPr/>
          <p:nvPr/>
        </p:nvSpPr>
        <p:spPr>
          <a:xfrm>
            <a:off x="5077968" y="1600200"/>
            <a:ext cx="341376"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13</a:t>
            </a:r>
            <a:endParaRPr lang="en-US" sz="1000" dirty="0"/>
          </a:p>
        </p:txBody>
      </p:sp>
      <p:sp>
        <p:nvSpPr>
          <p:cNvPr id="39" name="Shape 37"/>
          <p:cNvSpPr/>
          <p:nvPr/>
        </p:nvSpPr>
        <p:spPr>
          <a:xfrm>
            <a:off x="5419344" y="1600200"/>
            <a:ext cx="341376" cy="384048"/>
          </a:xfrm>
          <a:prstGeom prst="rect">
            <a:avLst/>
          </a:prstGeom>
          <a:solidFill>
            <a:srgbClr val="4B1E6E"/>
          </a:solidFill>
          <a:ln w="6350">
            <a:solidFill>
              <a:srgbClr val="FFFFFF"/>
            </a:solidFill>
            <a:prstDash val="solid"/>
          </a:ln>
        </p:spPr>
      </p:sp>
      <p:sp>
        <p:nvSpPr>
          <p:cNvPr id="40" name="Text 38"/>
          <p:cNvSpPr/>
          <p:nvPr/>
        </p:nvSpPr>
        <p:spPr>
          <a:xfrm>
            <a:off x="5419344" y="1600200"/>
            <a:ext cx="341376" cy="38404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14</a:t>
            </a:r>
            <a:endParaRPr lang="en-US" sz="1000" dirty="0"/>
          </a:p>
        </p:txBody>
      </p:sp>
      <p:sp>
        <p:nvSpPr>
          <p:cNvPr id="41" name="Shape 39"/>
          <p:cNvSpPr/>
          <p:nvPr/>
        </p:nvSpPr>
        <p:spPr>
          <a:xfrm>
            <a:off x="1152144" y="1984248"/>
            <a:ext cx="91" cy="118872"/>
          </a:xfrm>
          <a:prstGeom prst="line">
            <a:avLst/>
          </a:prstGeom>
          <a:noFill/>
          <a:ln w="9525">
            <a:solidFill>
              <a:srgbClr val="9AA3B0"/>
            </a:solidFill>
            <a:prstDash val="dash"/>
          </a:ln>
        </p:spPr>
      </p:sp>
      <p:sp>
        <p:nvSpPr>
          <p:cNvPr id="42" name="Text 40"/>
          <p:cNvSpPr/>
          <p:nvPr/>
        </p:nvSpPr>
        <p:spPr>
          <a:xfrm>
            <a:off x="603504" y="2103120"/>
            <a:ext cx="1097280" cy="201168"/>
          </a:xfrm>
          <a:prstGeom prst="rect">
            <a:avLst/>
          </a:prstGeom>
          <a:noFill/>
          <a:ln/>
        </p:spPr>
        <p:txBody>
          <a:bodyPr wrap="square" lIns="0" tIns="0" rIns="0" bIns="0" rtlCol="0" anchor="ctr"/>
          <a:lstStyle/>
          <a:p>
            <a:pPr algn="ctr" indent="0" marL="0">
              <a:buNone/>
            </a:pPr>
            <a:r>
              <a:rPr lang="en-US" sz="950" dirty="0">
                <a:solidFill>
                  <a:srgbClr val="262B3A"/>
                </a:solidFill>
                <a:latin typeface="Calibri" pitchFamily="34" charset="0"/>
                <a:ea typeface="Calibri" pitchFamily="34" charset="-122"/>
                <a:cs typeface="Calibri" pitchFamily="34" charset="-120"/>
              </a:rPr>
              <a:t>stomach acid</a:t>
            </a:r>
            <a:endParaRPr lang="en-US" sz="950" dirty="0"/>
          </a:p>
        </p:txBody>
      </p:sp>
      <p:sp>
        <p:nvSpPr>
          <p:cNvPr id="43" name="Shape 41"/>
          <p:cNvSpPr/>
          <p:nvPr/>
        </p:nvSpPr>
        <p:spPr>
          <a:xfrm>
            <a:off x="1834896" y="1984248"/>
            <a:ext cx="91" cy="393192"/>
          </a:xfrm>
          <a:prstGeom prst="line">
            <a:avLst/>
          </a:prstGeom>
          <a:noFill/>
          <a:ln w="9525">
            <a:solidFill>
              <a:srgbClr val="9AA3B0"/>
            </a:solidFill>
            <a:prstDash val="dash"/>
          </a:ln>
        </p:spPr>
      </p:sp>
      <p:sp>
        <p:nvSpPr>
          <p:cNvPr id="44" name="Text 42"/>
          <p:cNvSpPr/>
          <p:nvPr/>
        </p:nvSpPr>
        <p:spPr>
          <a:xfrm>
            <a:off x="1286256" y="2377440"/>
            <a:ext cx="1097280" cy="201168"/>
          </a:xfrm>
          <a:prstGeom prst="rect">
            <a:avLst/>
          </a:prstGeom>
          <a:noFill/>
          <a:ln/>
        </p:spPr>
        <p:txBody>
          <a:bodyPr wrap="square" lIns="0" tIns="0" rIns="0" bIns="0" rtlCol="0" anchor="ctr"/>
          <a:lstStyle/>
          <a:p>
            <a:pPr algn="ctr" indent="0" marL="0">
              <a:buNone/>
            </a:pPr>
            <a:r>
              <a:rPr lang="en-US" sz="950" dirty="0">
                <a:solidFill>
                  <a:srgbClr val="262B3A"/>
                </a:solidFill>
                <a:latin typeface="Calibri" pitchFamily="34" charset="0"/>
                <a:ea typeface="Calibri" pitchFamily="34" charset="-122"/>
                <a:cs typeface="Calibri" pitchFamily="34" charset="-120"/>
              </a:rPr>
              <a:t>vinegar</a:t>
            </a:r>
            <a:endParaRPr lang="en-US" sz="950" dirty="0"/>
          </a:p>
        </p:txBody>
      </p:sp>
      <p:sp>
        <p:nvSpPr>
          <p:cNvPr id="45" name="Shape 43"/>
          <p:cNvSpPr/>
          <p:nvPr/>
        </p:nvSpPr>
        <p:spPr>
          <a:xfrm>
            <a:off x="3200400" y="1984248"/>
            <a:ext cx="91" cy="118872"/>
          </a:xfrm>
          <a:prstGeom prst="line">
            <a:avLst/>
          </a:prstGeom>
          <a:noFill/>
          <a:ln w="9525">
            <a:solidFill>
              <a:srgbClr val="9AA3B0"/>
            </a:solidFill>
            <a:prstDash val="dash"/>
          </a:ln>
        </p:spPr>
      </p:sp>
      <p:sp>
        <p:nvSpPr>
          <p:cNvPr id="46" name="Text 44"/>
          <p:cNvSpPr/>
          <p:nvPr/>
        </p:nvSpPr>
        <p:spPr>
          <a:xfrm>
            <a:off x="2651760" y="2103120"/>
            <a:ext cx="1097280" cy="201168"/>
          </a:xfrm>
          <a:prstGeom prst="rect">
            <a:avLst/>
          </a:prstGeom>
          <a:noFill/>
          <a:ln/>
        </p:spPr>
        <p:txBody>
          <a:bodyPr wrap="square" lIns="0" tIns="0" rIns="0" bIns="0" rtlCol="0" anchor="ctr"/>
          <a:lstStyle/>
          <a:p>
            <a:pPr algn="ctr" indent="0" marL="0">
              <a:buNone/>
            </a:pPr>
            <a:r>
              <a:rPr lang="en-US" sz="950" dirty="0">
                <a:solidFill>
                  <a:srgbClr val="262B3A"/>
                </a:solidFill>
                <a:latin typeface="Calibri" pitchFamily="34" charset="0"/>
                <a:ea typeface="Calibri" pitchFamily="34" charset="-122"/>
                <a:cs typeface="Calibri" pitchFamily="34" charset="-120"/>
              </a:rPr>
              <a:t>pure water</a:t>
            </a:r>
            <a:endParaRPr lang="en-US" sz="950" dirty="0"/>
          </a:p>
        </p:txBody>
      </p:sp>
      <p:sp>
        <p:nvSpPr>
          <p:cNvPr id="47" name="Shape 45"/>
          <p:cNvSpPr/>
          <p:nvPr/>
        </p:nvSpPr>
        <p:spPr>
          <a:xfrm>
            <a:off x="3541776" y="1984248"/>
            <a:ext cx="91" cy="393192"/>
          </a:xfrm>
          <a:prstGeom prst="line">
            <a:avLst/>
          </a:prstGeom>
          <a:noFill/>
          <a:ln w="9525">
            <a:solidFill>
              <a:srgbClr val="9AA3B0"/>
            </a:solidFill>
            <a:prstDash val="dash"/>
          </a:ln>
        </p:spPr>
      </p:sp>
      <p:sp>
        <p:nvSpPr>
          <p:cNvPr id="48" name="Text 46"/>
          <p:cNvSpPr/>
          <p:nvPr/>
        </p:nvSpPr>
        <p:spPr>
          <a:xfrm>
            <a:off x="2993136" y="2377440"/>
            <a:ext cx="1097280" cy="201168"/>
          </a:xfrm>
          <a:prstGeom prst="rect">
            <a:avLst/>
          </a:prstGeom>
          <a:noFill/>
          <a:ln/>
        </p:spPr>
        <p:txBody>
          <a:bodyPr wrap="square" lIns="0" tIns="0" rIns="0" bIns="0" rtlCol="0" anchor="ctr"/>
          <a:lstStyle/>
          <a:p>
            <a:pPr algn="ctr" indent="0" marL="0">
              <a:buNone/>
            </a:pPr>
            <a:r>
              <a:rPr lang="en-US" sz="950" dirty="0">
                <a:solidFill>
                  <a:srgbClr val="262B3A"/>
                </a:solidFill>
                <a:latin typeface="Calibri" pitchFamily="34" charset="0"/>
                <a:ea typeface="Calibri" pitchFamily="34" charset="-122"/>
                <a:cs typeface="Calibri" pitchFamily="34" charset="-120"/>
              </a:rPr>
              <a:t>sea water</a:t>
            </a:r>
            <a:endParaRPr lang="en-US" sz="950" dirty="0"/>
          </a:p>
        </p:txBody>
      </p:sp>
      <p:sp>
        <p:nvSpPr>
          <p:cNvPr id="49" name="Shape 47"/>
          <p:cNvSpPr/>
          <p:nvPr/>
        </p:nvSpPr>
        <p:spPr>
          <a:xfrm>
            <a:off x="4565904" y="1984248"/>
            <a:ext cx="91" cy="118872"/>
          </a:xfrm>
          <a:prstGeom prst="line">
            <a:avLst/>
          </a:prstGeom>
          <a:noFill/>
          <a:ln w="9525">
            <a:solidFill>
              <a:srgbClr val="9AA3B0"/>
            </a:solidFill>
            <a:prstDash val="dash"/>
          </a:ln>
        </p:spPr>
      </p:sp>
      <p:sp>
        <p:nvSpPr>
          <p:cNvPr id="50" name="Text 48"/>
          <p:cNvSpPr/>
          <p:nvPr/>
        </p:nvSpPr>
        <p:spPr>
          <a:xfrm>
            <a:off x="4017264" y="2103120"/>
            <a:ext cx="1097280" cy="201168"/>
          </a:xfrm>
          <a:prstGeom prst="rect">
            <a:avLst/>
          </a:prstGeom>
          <a:noFill/>
          <a:ln/>
        </p:spPr>
        <p:txBody>
          <a:bodyPr wrap="square" lIns="0" tIns="0" rIns="0" bIns="0" rtlCol="0" anchor="ctr"/>
          <a:lstStyle/>
          <a:p>
            <a:pPr algn="ctr" indent="0" marL="0">
              <a:buNone/>
            </a:pPr>
            <a:r>
              <a:rPr lang="en-US" sz="950" dirty="0">
                <a:solidFill>
                  <a:srgbClr val="262B3A"/>
                </a:solidFill>
                <a:latin typeface="Calibri" pitchFamily="34" charset="0"/>
                <a:ea typeface="Calibri" pitchFamily="34" charset="-122"/>
                <a:cs typeface="Calibri" pitchFamily="34" charset="-120"/>
              </a:rPr>
              <a:t>ammonia</a:t>
            </a:r>
            <a:endParaRPr lang="en-US" sz="950" dirty="0"/>
          </a:p>
        </p:txBody>
      </p:sp>
      <p:sp>
        <p:nvSpPr>
          <p:cNvPr id="51" name="Shape 49"/>
          <p:cNvSpPr/>
          <p:nvPr/>
        </p:nvSpPr>
        <p:spPr>
          <a:xfrm>
            <a:off x="5248656" y="1984248"/>
            <a:ext cx="91" cy="393192"/>
          </a:xfrm>
          <a:prstGeom prst="line">
            <a:avLst/>
          </a:prstGeom>
          <a:noFill/>
          <a:ln w="9525">
            <a:solidFill>
              <a:srgbClr val="9AA3B0"/>
            </a:solidFill>
            <a:prstDash val="dash"/>
          </a:ln>
        </p:spPr>
      </p:sp>
      <p:sp>
        <p:nvSpPr>
          <p:cNvPr id="52" name="Text 50"/>
          <p:cNvSpPr/>
          <p:nvPr/>
        </p:nvSpPr>
        <p:spPr>
          <a:xfrm>
            <a:off x="4700016" y="2377440"/>
            <a:ext cx="1097280" cy="201168"/>
          </a:xfrm>
          <a:prstGeom prst="rect">
            <a:avLst/>
          </a:prstGeom>
          <a:noFill/>
          <a:ln/>
        </p:spPr>
        <p:txBody>
          <a:bodyPr wrap="square" lIns="0" tIns="0" rIns="0" bIns="0" rtlCol="0" anchor="ctr"/>
          <a:lstStyle/>
          <a:p>
            <a:pPr algn="ctr" indent="0" marL="0">
              <a:buNone/>
            </a:pPr>
            <a:r>
              <a:rPr lang="en-US" sz="950" dirty="0">
                <a:solidFill>
                  <a:srgbClr val="262B3A"/>
                </a:solidFill>
                <a:latin typeface="Calibri" pitchFamily="34" charset="0"/>
                <a:ea typeface="Calibri" pitchFamily="34" charset="-122"/>
                <a:cs typeface="Calibri" pitchFamily="34" charset="-120"/>
              </a:rPr>
              <a:t>oven cleaner</a:t>
            </a:r>
            <a:endParaRPr lang="en-US" sz="950" dirty="0"/>
          </a:p>
        </p:txBody>
      </p:sp>
      <p:sp>
        <p:nvSpPr>
          <p:cNvPr id="53" name="Shape 51"/>
          <p:cNvSpPr/>
          <p:nvPr/>
        </p:nvSpPr>
        <p:spPr>
          <a:xfrm flipH="1">
            <a:off x="731520" y="2743200"/>
            <a:ext cx="2252472" cy="91"/>
          </a:xfrm>
          <a:prstGeom prst="line">
            <a:avLst/>
          </a:prstGeom>
          <a:noFill/>
          <a:ln w="25400">
            <a:solidFill>
              <a:srgbClr val="B7372B"/>
            </a:solidFill>
            <a:prstDash val="solid"/>
            <a:tailEnd type="triangle"/>
          </a:ln>
        </p:spPr>
      </p:sp>
      <p:sp>
        <p:nvSpPr>
          <p:cNvPr id="54" name="Text 52"/>
          <p:cNvSpPr/>
          <p:nvPr/>
        </p:nvSpPr>
        <p:spPr>
          <a:xfrm>
            <a:off x="731520" y="2788920"/>
            <a:ext cx="2377440" cy="201168"/>
          </a:xfrm>
          <a:prstGeom prst="rect">
            <a:avLst/>
          </a:prstGeom>
          <a:noFill/>
          <a:ln/>
        </p:spPr>
        <p:txBody>
          <a:bodyPr wrap="square" lIns="0" tIns="0" rIns="0" bIns="0" rtlCol="0" anchor="ctr"/>
          <a:lstStyle/>
          <a:p>
            <a:pPr algn="ctr" indent="0" marL="0">
              <a:buNone/>
            </a:pPr>
            <a:r>
              <a:rPr lang="en-US" sz="1000" b="1" dirty="0">
                <a:solidFill>
                  <a:srgbClr val="B7372B"/>
                </a:solidFill>
                <a:latin typeface="Calibri" pitchFamily="34" charset="0"/>
                <a:ea typeface="Calibri" pitchFamily="34" charset="-122"/>
                <a:cs typeface="Calibri" pitchFamily="34" charset="-120"/>
              </a:rPr>
              <a:t>more acidic</a:t>
            </a:r>
            <a:endParaRPr lang="en-US" sz="1000" dirty="0"/>
          </a:p>
        </p:txBody>
      </p:sp>
      <p:sp>
        <p:nvSpPr>
          <p:cNvPr id="55" name="Shape 53"/>
          <p:cNvSpPr/>
          <p:nvPr/>
        </p:nvSpPr>
        <p:spPr>
          <a:xfrm>
            <a:off x="3416808" y="2743200"/>
            <a:ext cx="2252472" cy="91"/>
          </a:xfrm>
          <a:prstGeom prst="line">
            <a:avLst/>
          </a:prstGeom>
          <a:noFill/>
          <a:ln w="25400">
            <a:solidFill>
              <a:srgbClr val="2E3192"/>
            </a:solidFill>
            <a:prstDash val="solid"/>
            <a:tailEnd type="triangle"/>
          </a:ln>
        </p:spPr>
      </p:sp>
      <p:sp>
        <p:nvSpPr>
          <p:cNvPr id="56" name="Text 54"/>
          <p:cNvSpPr/>
          <p:nvPr/>
        </p:nvSpPr>
        <p:spPr>
          <a:xfrm>
            <a:off x="3383280" y="2788920"/>
            <a:ext cx="2286000" cy="201168"/>
          </a:xfrm>
          <a:prstGeom prst="rect">
            <a:avLst/>
          </a:prstGeom>
          <a:noFill/>
          <a:ln/>
        </p:spPr>
        <p:txBody>
          <a:bodyPr wrap="square" lIns="0" tIns="0" rIns="0" bIns="0" rtlCol="0" anchor="ctr"/>
          <a:lstStyle/>
          <a:p>
            <a:pPr algn="ctr" indent="0" marL="0">
              <a:buNone/>
            </a:pPr>
            <a:r>
              <a:rPr lang="en-US" sz="1000" b="1" dirty="0">
                <a:solidFill>
                  <a:srgbClr val="2E3192"/>
                </a:solidFill>
                <a:latin typeface="Calibri" pitchFamily="34" charset="0"/>
                <a:ea typeface="Calibri" pitchFamily="34" charset="-122"/>
                <a:cs typeface="Calibri" pitchFamily="34" charset="-120"/>
              </a:rPr>
              <a:t>more alkaline</a:t>
            </a:r>
            <a:endParaRPr lang="en-US" sz="1000" dirty="0"/>
          </a:p>
        </p:txBody>
      </p:sp>
      <p:sp>
        <p:nvSpPr>
          <p:cNvPr id="57" name="Shape 55"/>
          <p:cNvSpPr/>
          <p:nvPr/>
        </p:nvSpPr>
        <p:spPr>
          <a:xfrm>
            <a:off x="3200400" y="2651760"/>
            <a:ext cx="91" cy="182880"/>
          </a:xfrm>
          <a:prstGeom prst="line">
            <a:avLst/>
          </a:prstGeom>
          <a:noFill/>
          <a:ln w="19050">
            <a:solidFill>
              <a:srgbClr val="2FA84F"/>
            </a:solidFill>
            <a:prstDash val="solid"/>
          </a:ln>
        </p:spPr>
      </p:sp>
      <p:sp>
        <p:nvSpPr>
          <p:cNvPr id="58" name="Text 56"/>
          <p:cNvSpPr/>
          <p:nvPr/>
        </p:nvSpPr>
        <p:spPr>
          <a:xfrm>
            <a:off x="2572512" y="3017520"/>
            <a:ext cx="1255776" cy="201168"/>
          </a:xfrm>
          <a:prstGeom prst="rect">
            <a:avLst/>
          </a:prstGeom>
          <a:noFill/>
          <a:ln/>
        </p:spPr>
        <p:txBody>
          <a:bodyPr wrap="square" lIns="0" tIns="0" rIns="0" bIns="0" rtlCol="0" anchor="ctr"/>
          <a:lstStyle/>
          <a:p>
            <a:pPr algn="ctr" indent="0" marL="0">
              <a:buNone/>
            </a:pPr>
            <a:r>
              <a:rPr lang="en-US" sz="1000" b="1" dirty="0">
                <a:solidFill>
                  <a:srgbClr val="2FA84F"/>
                </a:solidFill>
                <a:latin typeface="Calibri" pitchFamily="34" charset="0"/>
                <a:ea typeface="Calibri" pitchFamily="34" charset="-122"/>
                <a:cs typeface="Calibri" pitchFamily="34" charset="-120"/>
              </a:rPr>
              <a:t>pH 7 neutral</a:t>
            </a:r>
            <a:endParaRPr lang="en-US" sz="1000" dirty="0"/>
          </a:p>
        </p:txBody>
      </p:sp>
      <p:sp>
        <p:nvSpPr>
          <p:cNvPr id="59" name="Shape 57"/>
          <p:cNvSpPr/>
          <p:nvPr/>
        </p:nvSpPr>
        <p:spPr>
          <a:xfrm>
            <a:off x="3291840" y="3886200"/>
            <a:ext cx="1188720" cy="1097280"/>
          </a:xfrm>
          <a:prstGeom prst="rect">
            <a:avLst/>
          </a:prstGeom>
          <a:solidFill>
            <a:srgbClr val="EEF5FB"/>
          </a:solidFill>
          <a:ln/>
        </p:spPr>
      </p:sp>
      <p:sp>
        <p:nvSpPr>
          <p:cNvPr id="60" name="Shape 58"/>
          <p:cNvSpPr/>
          <p:nvPr/>
        </p:nvSpPr>
        <p:spPr>
          <a:xfrm>
            <a:off x="3291840" y="4270248"/>
            <a:ext cx="1188720" cy="713232"/>
          </a:xfrm>
          <a:prstGeom prst="rect">
            <a:avLst/>
          </a:prstGeom>
          <a:solidFill>
            <a:srgbClr val="F6E7C8"/>
          </a:solidFill>
          <a:ln/>
        </p:spPr>
      </p:sp>
      <p:sp>
        <p:nvSpPr>
          <p:cNvPr id="61" name="Shape 59"/>
          <p:cNvSpPr/>
          <p:nvPr/>
        </p:nvSpPr>
        <p:spPr>
          <a:xfrm>
            <a:off x="3291840" y="4270248"/>
            <a:ext cx="1188720" cy="91"/>
          </a:xfrm>
          <a:prstGeom prst="line">
            <a:avLst/>
          </a:prstGeom>
          <a:noFill/>
          <a:ln w="12700">
            <a:solidFill>
              <a:srgbClr val="5B9BD5"/>
            </a:solidFill>
            <a:prstDash val="solid"/>
          </a:ln>
        </p:spPr>
      </p:sp>
      <p:sp>
        <p:nvSpPr>
          <p:cNvPr id="62" name="Shape 60"/>
          <p:cNvSpPr/>
          <p:nvPr/>
        </p:nvSpPr>
        <p:spPr>
          <a:xfrm>
            <a:off x="3291840" y="3886200"/>
            <a:ext cx="91" cy="1097280"/>
          </a:xfrm>
          <a:prstGeom prst="line">
            <a:avLst/>
          </a:prstGeom>
          <a:noFill/>
          <a:ln w="19050">
            <a:solidFill>
              <a:srgbClr val="2A1F3D"/>
            </a:solidFill>
            <a:prstDash val="solid"/>
          </a:ln>
        </p:spPr>
      </p:sp>
      <p:sp>
        <p:nvSpPr>
          <p:cNvPr id="63" name="Shape 61"/>
          <p:cNvSpPr/>
          <p:nvPr/>
        </p:nvSpPr>
        <p:spPr>
          <a:xfrm>
            <a:off x="4480560" y="3886200"/>
            <a:ext cx="91" cy="1097280"/>
          </a:xfrm>
          <a:prstGeom prst="line">
            <a:avLst/>
          </a:prstGeom>
          <a:noFill/>
          <a:ln w="19050">
            <a:solidFill>
              <a:srgbClr val="2A1F3D"/>
            </a:solidFill>
            <a:prstDash val="solid"/>
          </a:ln>
        </p:spPr>
      </p:sp>
      <p:sp>
        <p:nvSpPr>
          <p:cNvPr id="64" name="Shape 62"/>
          <p:cNvSpPr/>
          <p:nvPr/>
        </p:nvSpPr>
        <p:spPr>
          <a:xfrm>
            <a:off x="3291840" y="4983480"/>
            <a:ext cx="1188720" cy="91"/>
          </a:xfrm>
          <a:prstGeom prst="line">
            <a:avLst/>
          </a:prstGeom>
          <a:noFill/>
          <a:ln w="19050">
            <a:solidFill>
              <a:srgbClr val="2A1F3D"/>
            </a:solidFill>
            <a:prstDash val="solid"/>
          </a:ln>
        </p:spPr>
      </p:sp>
      <p:sp>
        <p:nvSpPr>
          <p:cNvPr id="65" name="Shape 63"/>
          <p:cNvSpPr/>
          <p:nvPr/>
        </p:nvSpPr>
        <p:spPr>
          <a:xfrm>
            <a:off x="3236976" y="3886200"/>
            <a:ext cx="54864" cy="91"/>
          </a:xfrm>
          <a:prstGeom prst="line">
            <a:avLst/>
          </a:prstGeom>
          <a:noFill/>
          <a:ln w="19050">
            <a:solidFill>
              <a:srgbClr val="2A1F3D"/>
            </a:solidFill>
            <a:prstDash val="solid"/>
          </a:ln>
        </p:spPr>
      </p:sp>
      <p:sp>
        <p:nvSpPr>
          <p:cNvPr id="66" name="Shape 64"/>
          <p:cNvSpPr/>
          <p:nvPr/>
        </p:nvSpPr>
        <p:spPr>
          <a:xfrm>
            <a:off x="4480560" y="3886200"/>
            <a:ext cx="54864" cy="91"/>
          </a:xfrm>
          <a:prstGeom prst="line">
            <a:avLst/>
          </a:prstGeom>
          <a:noFill/>
          <a:ln w="19050">
            <a:solidFill>
              <a:srgbClr val="2A1F3D"/>
            </a:solidFill>
            <a:prstDash val="solid"/>
          </a:ln>
        </p:spPr>
      </p:sp>
      <p:sp>
        <p:nvSpPr>
          <p:cNvPr id="67" name="Shape 65"/>
          <p:cNvSpPr/>
          <p:nvPr/>
        </p:nvSpPr>
        <p:spPr>
          <a:xfrm>
            <a:off x="914400" y="3749040"/>
            <a:ext cx="1371600" cy="685800"/>
          </a:xfrm>
          <a:prstGeom prst="roundRect">
            <a:avLst>
              <a:gd name="adj" fmla="val 8000"/>
            </a:avLst>
          </a:prstGeom>
          <a:solidFill>
            <a:srgbClr val="E8EBF0"/>
          </a:solidFill>
          <a:ln w="15875">
            <a:solidFill>
              <a:srgbClr val="4A5568"/>
            </a:solidFill>
            <a:prstDash val="solid"/>
          </a:ln>
        </p:spPr>
      </p:sp>
      <p:sp>
        <p:nvSpPr>
          <p:cNvPr id="68" name="Shape 66"/>
          <p:cNvSpPr/>
          <p:nvPr/>
        </p:nvSpPr>
        <p:spPr>
          <a:xfrm>
            <a:off x="1024128" y="3840480"/>
            <a:ext cx="1152144" cy="347472"/>
          </a:xfrm>
          <a:prstGeom prst="rect">
            <a:avLst/>
          </a:prstGeom>
          <a:solidFill>
            <a:srgbClr val="1F2A3A"/>
          </a:solidFill>
          <a:ln/>
        </p:spPr>
      </p:sp>
      <p:sp>
        <p:nvSpPr>
          <p:cNvPr id="69" name="Text 67"/>
          <p:cNvSpPr/>
          <p:nvPr/>
        </p:nvSpPr>
        <p:spPr>
          <a:xfrm>
            <a:off x="1024128" y="3840480"/>
            <a:ext cx="1152144" cy="347472"/>
          </a:xfrm>
          <a:prstGeom prst="rect">
            <a:avLst/>
          </a:prstGeom>
          <a:noFill/>
          <a:ln/>
        </p:spPr>
        <p:txBody>
          <a:bodyPr wrap="square" lIns="0" tIns="0" rIns="0" bIns="0" rtlCol="0" anchor="ctr"/>
          <a:lstStyle/>
          <a:p>
            <a:pPr algn="ctr" indent="0" marL="0">
              <a:buNone/>
            </a:pPr>
            <a:r>
              <a:rPr lang="en-US" sz="1300" b="1" dirty="0">
                <a:solidFill>
                  <a:srgbClr val="7CFC9A"/>
                </a:solidFill>
                <a:latin typeface="Calibri" pitchFamily="34" charset="0"/>
                <a:ea typeface="Calibri" pitchFamily="34" charset="-122"/>
                <a:cs typeface="Calibri" pitchFamily="34" charset="-120"/>
              </a:rPr>
              <a:t>3.0</a:t>
            </a:r>
            <a:endParaRPr lang="en-US" sz="1300" dirty="0"/>
          </a:p>
        </p:txBody>
      </p:sp>
      <p:sp>
        <p:nvSpPr>
          <p:cNvPr id="70" name="Text 68"/>
          <p:cNvSpPr/>
          <p:nvPr/>
        </p:nvSpPr>
        <p:spPr>
          <a:xfrm>
            <a:off x="914400" y="4206240"/>
            <a:ext cx="1371600" cy="182880"/>
          </a:xfrm>
          <a:prstGeom prst="rect">
            <a:avLst/>
          </a:prstGeom>
          <a:noFill/>
          <a:ln/>
        </p:spPr>
        <p:txBody>
          <a:bodyPr wrap="square" lIns="0" tIns="0" rIns="0" bIns="0" rtlCol="0" anchor="ctr"/>
          <a:lstStyle/>
          <a:p>
            <a:pPr algn="ctr" indent="0" marL="0">
              <a:buNone/>
            </a:pPr>
            <a:r>
              <a:rPr lang="en-US" sz="950" dirty="0">
                <a:solidFill>
                  <a:srgbClr val="6B7385"/>
                </a:solidFill>
                <a:latin typeface="Calibri" pitchFamily="34" charset="0"/>
                <a:ea typeface="Calibri" pitchFamily="34" charset="-122"/>
                <a:cs typeface="Calibri" pitchFamily="34" charset="-120"/>
              </a:rPr>
              <a:t>pH meter</a:t>
            </a:r>
            <a:endParaRPr lang="en-US" sz="950" dirty="0"/>
          </a:p>
        </p:txBody>
      </p:sp>
      <p:sp>
        <p:nvSpPr>
          <p:cNvPr id="71" name="Shape 69"/>
          <p:cNvSpPr/>
          <p:nvPr/>
        </p:nvSpPr>
        <p:spPr>
          <a:xfrm flipV="1">
            <a:off x="2286000" y="3611880"/>
            <a:ext cx="1600200" cy="502920"/>
          </a:xfrm>
          <a:prstGeom prst="line">
            <a:avLst/>
          </a:prstGeom>
          <a:noFill/>
          <a:ln w="15875">
            <a:solidFill>
              <a:srgbClr val="4A5568"/>
            </a:solidFill>
            <a:prstDash val="solid"/>
          </a:ln>
        </p:spPr>
      </p:sp>
      <p:sp>
        <p:nvSpPr>
          <p:cNvPr id="72" name="Shape 70"/>
          <p:cNvSpPr/>
          <p:nvPr/>
        </p:nvSpPr>
        <p:spPr>
          <a:xfrm>
            <a:off x="3840480" y="3611880"/>
            <a:ext cx="91440" cy="1143000"/>
          </a:xfrm>
          <a:prstGeom prst="rect">
            <a:avLst/>
          </a:prstGeom>
          <a:solidFill>
            <a:srgbClr val="D9DEE6"/>
          </a:solidFill>
          <a:ln w="12700">
            <a:solidFill>
              <a:srgbClr val="4A5568"/>
            </a:solidFill>
            <a:prstDash val="solid"/>
          </a:ln>
        </p:spPr>
      </p:sp>
      <p:sp>
        <p:nvSpPr>
          <p:cNvPr id="73" name="Shape 71"/>
          <p:cNvSpPr/>
          <p:nvPr/>
        </p:nvSpPr>
        <p:spPr>
          <a:xfrm>
            <a:off x="3822192" y="4690872"/>
            <a:ext cx="128016" cy="128016"/>
          </a:xfrm>
          <a:prstGeom prst="ellipse">
            <a:avLst/>
          </a:prstGeom>
          <a:solidFill>
            <a:srgbClr val="F2F2F2"/>
          </a:solidFill>
          <a:ln w="12700">
            <a:solidFill>
              <a:srgbClr val="4A5568"/>
            </a:solidFill>
            <a:prstDash val="solid"/>
          </a:ln>
        </p:spPr>
      </p:sp>
      <p:sp>
        <p:nvSpPr>
          <p:cNvPr id="74" name="Text 72"/>
          <p:cNvSpPr/>
          <p:nvPr/>
        </p:nvSpPr>
        <p:spPr>
          <a:xfrm>
            <a:off x="3154680" y="5010912"/>
            <a:ext cx="1463040" cy="201168"/>
          </a:xfrm>
          <a:prstGeom prst="rect">
            <a:avLst/>
          </a:prstGeom>
          <a:noFill/>
          <a:ln/>
        </p:spPr>
        <p:txBody>
          <a:bodyPr wrap="square" lIns="0" tIns="0" rIns="0" bIns="0" rtlCol="0" anchor="ctr"/>
          <a:lstStyle/>
          <a:p>
            <a:pPr algn="ctr" indent="0" marL="0">
              <a:buNone/>
            </a:pPr>
            <a:r>
              <a:rPr lang="en-US" sz="1000" i="1" dirty="0">
                <a:solidFill>
                  <a:srgbClr val="262B3A"/>
                </a:solidFill>
                <a:latin typeface="Calibri" pitchFamily="34" charset="0"/>
                <a:ea typeface="Calibri" pitchFamily="34" charset="-122"/>
                <a:cs typeface="Calibri" pitchFamily="34" charset="-120"/>
              </a:rPr>
              <a:t>vinegar</a:t>
            </a:r>
            <a:endParaRPr lang="en-US" sz="1000" dirty="0"/>
          </a:p>
        </p:txBody>
      </p:sp>
      <p:sp>
        <p:nvSpPr>
          <p:cNvPr id="75" name="Shape 73"/>
          <p:cNvSpPr/>
          <p:nvPr/>
        </p:nvSpPr>
        <p:spPr>
          <a:xfrm>
            <a:off x="5074920" y="3657600"/>
            <a:ext cx="292608" cy="1234440"/>
          </a:xfrm>
          <a:custGeom>
            <a:avLst/>
            <a:gdLst/>
            <a:ahLst/>
            <a:cxnLst/>
            <a:rect l="l" t="t" r="r" b="b"/>
            <a:pathLst>
              <a:path w="292608" h="1234440">
                <a:moveTo>
                  <a:pt x="0" y="0"/>
                </a:moveTo>
                <a:lnTo>
                  <a:pt x="292608" y="0"/>
                </a:lnTo>
                <a:lnTo>
                  <a:pt x="292608" y="1088136"/>
                </a:lnTo>
                <a:lnTo>
                  <a:pt x="289797" y="1116678"/>
                </a:lnTo>
                <a:lnTo>
                  <a:pt x="281471" y="1144124"/>
                </a:lnTo>
                <a:lnTo>
                  <a:pt x="267951" y="1169418"/>
                </a:lnTo>
                <a:lnTo>
                  <a:pt x="249757" y="1191589"/>
                </a:lnTo>
                <a:lnTo>
                  <a:pt x="227586" y="1209783"/>
                </a:lnTo>
                <a:lnTo>
                  <a:pt x="202292" y="1223303"/>
                </a:lnTo>
                <a:lnTo>
                  <a:pt x="174846" y="1231629"/>
                </a:lnTo>
                <a:lnTo>
                  <a:pt x="146304" y="1234440"/>
                </a:lnTo>
                <a:lnTo>
                  <a:pt x="117762" y="1231629"/>
                </a:lnTo>
                <a:lnTo>
                  <a:pt x="90316" y="1223303"/>
                </a:lnTo>
                <a:lnTo>
                  <a:pt x="65022" y="1209783"/>
                </a:lnTo>
                <a:lnTo>
                  <a:pt x="42851" y="1191589"/>
                </a:lnTo>
                <a:lnTo>
                  <a:pt x="24657" y="1169418"/>
                </a:lnTo>
                <a:lnTo>
                  <a:pt x="11137" y="1144124"/>
                </a:lnTo>
                <a:lnTo>
                  <a:pt x="2811" y="1116678"/>
                </a:lnTo>
                <a:lnTo>
                  <a:pt x="0" y="1088136"/>
                </a:lnTo>
                <a:close/>
              </a:path>
            </a:pathLst>
          </a:custGeom>
          <a:solidFill>
            <a:srgbClr val="EEF5FB"/>
          </a:solidFill>
          <a:ln/>
        </p:spPr>
      </p:sp>
      <p:sp>
        <p:nvSpPr>
          <p:cNvPr id="76" name="Shape 74"/>
          <p:cNvSpPr/>
          <p:nvPr/>
        </p:nvSpPr>
        <p:spPr>
          <a:xfrm>
            <a:off x="5074920" y="4213098"/>
            <a:ext cx="292608" cy="678942"/>
          </a:xfrm>
          <a:custGeom>
            <a:avLst/>
            <a:gdLst/>
            <a:ahLst/>
            <a:cxnLst/>
            <a:rect l="l" t="t" r="r" b="b"/>
            <a:pathLst>
              <a:path w="292608" h="678942">
                <a:moveTo>
                  <a:pt x="0" y="0"/>
                </a:moveTo>
                <a:lnTo>
                  <a:pt x="292608" y="0"/>
                </a:lnTo>
                <a:lnTo>
                  <a:pt x="292608" y="532638"/>
                </a:lnTo>
                <a:lnTo>
                  <a:pt x="289797" y="561180"/>
                </a:lnTo>
                <a:lnTo>
                  <a:pt x="281471" y="588626"/>
                </a:lnTo>
                <a:lnTo>
                  <a:pt x="267951" y="613920"/>
                </a:lnTo>
                <a:lnTo>
                  <a:pt x="249757" y="636091"/>
                </a:lnTo>
                <a:lnTo>
                  <a:pt x="227586" y="654285"/>
                </a:lnTo>
                <a:lnTo>
                  <a:pt x="202292" y="667805"/>
                </a:lnTo>
                <a:lnTo>
                  <a:pt x="174846" y="676131"/>
                </a:lnTo>
                <a:lnTo>
                  <a:pt x="146304" y="678942"/>
                </a:lnTo>
                <a:lnTo>
                  <a:pt x="117762" y="676131"/>
                </a:lnTo>
                <a:lnTo>
                  <a:pt x="90316" y="667805"/>
                </a:lnTo>
                <a:lnTo>
                  <a:pt x="65022" y="654285"/>
                </a:lnTo>
                <a:lnTo>
                  <a:pt x="42851" y="636091"/>
                </a:lnTo>
                <a:lnTo>
                  <a:pt x="24657" y="613920"/>
                </a:lnTo>
                <a:lnTo>
                  <a:pt x="11137" y="588626"/>
                </a:lnTo>
                <a:lnTo>
                  <a:pt x="2811" y="561180"/>
                </a:lnTo>
                <a:lnTo>
                  <a:pt x="0" y="532638"/>
                </a:lnTo>
                <a:close/>
              </a:path>
            </a:pathLst>
          </a:custGeom>
          <a:solidFill>
            <a:srgbClr val="F7941D"/>
          </a:solidFill>
          <a:ln/>
        </p:spPr>
      </p:sp>
      <p:sp>
        <p:nvSpPr>
          <p:cNvPr id="77" name="Shape 75"/>
          <p:cNvSpPr/>
          <p:nvPr/>
        </p:nvSpPr>
        <p:spPr>
          <a:xfrm>
            <a:off x="5074920" y="3657600"/>
            <a:ext cx="91" cy="1088136"/>
          </a:xfrm>
          <a:prstGeom prst="line">
            <a:avLst/>
          </a:prstGeom>
          <a:noFill/>
          <a:ln w="19050">
            <a:solidFill>
              <a:srgbClr val="2A1F3D"/>
            </a:solidFill>
            <a:prstDash val="solid"/>
          </a:ln>
        </p:spPr>
      </p:sp>
      <p:sp>
        <p:nvSpPr>
          <p:cNvPr id="78" name="Shape 76"/>
          <p:cNvSpPr/>
          <p:nvPr/>
        </p:nvSpPr>
        <p:spPr>
          <a:xfrm>
            <a:off x="5367528" y="3657600"/>
            <a:ext cx="91" cy="1088136"/>
          </a:xfrm>
          <a:prstGeom prst="line">
            <a:avLst/>
          </a:prstGeom>
          <a:noFill/>
          <a:ln w="19050">
            <a:solidFill>
              <a:srgbClr val="2A1F3D"/>
            </a:solidFill>
            <a:prstDash val="solid"/>
          </a:ln>
        </p:spPr>
      </p:sp>
      <p:sp>
        <p:nvSpPr>
          <p:cNvPr id="79" name="Shape 77"/>
          <p:cNvSpPr/>
          <p:nvPr/>
        </p:nvSpPr>
        <p:spPr>
          <a:xfrm>
            <a:off x="5074920" y="4745736"/>
            <a:ext cx="292608" cy="146304"/>
          </a:xfrm>
          <a:custGeom>
            <a:avLst/>
            <a:gdLst/>
            <a:ahLst/>
            <a:cxnLst/>
            <a:rect l="l" t="t" r="r" b="b"/>
            <a:pathLst>
              <a:path w="292608" h="146304">
                <a:moveTo>
                  <a:pt x="292608" y="0"/>
                </a:moveTo>
                <a:lnTo>
                  <a:pt x="289797" y="28542"/>
                </a:lnTo>
                <a:lnTo>
                  <a:pt x="281471" y="55988"/>
                </a:lnTo>
                <a:lnTo>
                  <a:pt x="267951" y="81282"/>
                </a:lnTo>
                <a:lnTo>
                  <a:pt x="249757" y="103453"/>
                </a:lnTo>
                <a:lnTo>
                  <a:pt x="227586" y="121647"/>
                </a:lnTo>
                <a:lnTo>
                  <a:pt x="202292" y="135167"/>
                </a:lnTo>
                <a:lnTo>
                  <a:pt x="174846" y="143493"/>
                </a:lnTo>
                <a:lnTo>
                  <a:pt x="146304" y="146304"/>
                </a:lnTo>
                <a:lnTo>
                  <a:pt x="117762" y="143493"/>
                </a:lnTo>
                <a:lnTo>
                  <a:pt x="90316" y="135167"/>
                </a:lnTo>
                <a:lnTo>
                  <a:pt x="65022" y="121647"/>
                </a:lnTo>
                <a:lnTo>
                  <a:pt x="42851" y="103453"/>
                </a:lnTo>
                <a:lnTo>
                  <a:pt x="24657" y="81282"/>
                </a:lnTo>
                <a:lnTo>
                  <a:pt x="11137" y="55988"/>
                </a:lnTo>
                <a:lnTo>
                  <a:pt x="2811" y="28542"/>
                </a:lnTo>
                <a:lnTo>
                  <a:pt x="0" y="0"/>
                </a:lnTo>
              </a:path>
            </a:pathLst>
          </a:custGeom>
          <a:ln w="19050">
            <a:solidFill>
              <a:srgbClr val="2A1F3D"/>
            </a:solidFill>
            <a:prstDash val="solid"/>
          </a:ln>
        </p:spPr>
      </p:sp>
      <p:sp>
        <p:nvSpPr>
          <p:cNvPr id="80" name="Shape 78"/>
          <p:cNvSpPr/>
          <p:nvPr/>
        </p:nvSpPr>
        <p:spPr>
          <a:xfrm>
            <a:off x="5038344" y="3657600"/>
            <a:ext cx="36576" cy="91"/>
          </a:xfrm>
          <a:prstGeom prst="line">
            <a:avLst/>
          </a:prstGeom>
          <a:noFill/>
          <a:ln w="19050">
            <a:solidFill>
              <a:srgbClr val="2A1F3D"/>
            </a:solidFill>
            <a:prstDash val="solid"/>
          </a:ln>
        </p:spPr>
      </p:sp>
      <p:sp>
        <p:nvSpPr>
          <p:cNvPr id="81" name="Shape 79"/>
          <p:cNvSpPr/>
          <p:nvPr/>
        </p:nvSpPr>
        <p:spPr>
          <a:xfrm>
            <a:off x="5367528" y="3657600"/>
            <a:ext cx="36576" cy="91"/>
          </a:xfrm>
          <a:prstGeom prst="line">
            <a:avLst/>
          </a:prstGeom>
          <a:noFill/>
          <a:ln w="19050">
            <a:solidFill>
              <a:srgbClr val="2A1F3D"/>
            </a:solidFill>
            <a:prstDash val="solid"/>
          </a:ln>
        </p:spPr>
      </p:sp>
      <p:sp>
        <p:nvSpPr>
          <p:cNvPr id="82" name="Text 80"/>
          <p:cNvSpPr/>
          <p:nvPr/>
        </p:nvSpPr>
        <p:spPr>
          <a:xfrm>
            <a:off x="4572000" y="4956048"/>
            <a:ext cx="1280160" cy="201168"/>
          </a:xfrm>
          <a:prstGeom prst="rect">
            <a:avLst/>
          </a:prstGeom>
          <a:noFill/>
          <a:ln/>
        </p:spPr>
        <p:txBody>
          <a:bodyPr wrap="square" lIns="0" tIns="0" rIns="0" bIns="0" rtlCol="0" anchor="ctr"/>
          <a:lstStyle/>
          <a:p>
            <a:pPr algn="ctr" indent="0" marL="0">
              <a:buNone/>
            </a:pPr>
            <a:r>
              <a:rPr lang="en-US" sz="1000" i="1" dirty="0">
                <a:solidFill>
                  <a:srgbClr val="262B3A"/>
                </a:solidFill>
                <a:latin typeface="Calibri" pitchFamily="34" charset="0"/>
                <a:ea typeface="Calibri" pitchFamily="34" charset="-122"/>
                <a:cs typeface="Calibri" pitchFamily="34" charset="-120"/>
              </a:rPr>
              <a:t>UI: orange</a:t>
            </a:r>
            <a:endParaRPr lang="en-US" sz="1000" dirty="0"/>
          </a:p>
        </p:txBody>
      </p:sp>
      <p:sp>
        <p:nvSpPr>
          <p:cNvPr id="83" name="Shape 81"/>
          <p:cNvSpPr/>
          <p:nvPr/>
        </p:nvSpPr>
        <p:spPr>
          <a:xfrm>
            <a:off x="6217920" y="1188720"/>
            <a:ext cx="5562295" cy="3200400"/>
          </a:xfrm>
          <a:prstGeom prst="roundRect">
            <a:avLst>
              <a:gd name="adj" fmla="val 1714"/>
            </a:avLst>
          </a:prstGeom>
          <a:solidFill>
            <a:srgbClr val="F8F5FC"/>
          </a:solidFill>
          <a:ln w="9525">
            <a:solidFill>
              <a:srgbClr val="DDD3EC"/>
            </a:solidFill>
            <a:prstDash val="solid"/>
          </a:ln>
        </p:spPr>
      </p:sp>
      <p:sp>
        <p:nvSpPr>
          <p:cNvPr id="84" name="Text 82"/>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2A1F3D"/>
                </a:solidFill>
                <a:latin typeface="Calibri" pitchFamily="34" charset="0"/>
                <a:ea typeface="Calibri" pitchFamily="34" charset="-122"/>
                <a:cs typeface="Calibri" pitchFamily="34" charset="-120"/>
              </a:rPr>
              <a:t>pH numbers</a:t>
            </a:r>
            <a:endParaRPr lang="en-US" sz="1300" dirty="0"/>
          </a:p>
        </p:txBody>
      </p:sp>
      <p:sp>
        <p:nvSpPr>
          <p:cNvPr id="85" name="Text 83"/>
          <p:cNvSpPr/>
          <p:nvPr/>
        </p:nvSpPr>
        <p:spPr>
          <a:xfrm>
            <a:off x="6382512" y="1609344"/>
            <a:ext cx="5233111" cy="2706624"/>
          </a:xfrm>
          <a:prstGeom prst="rect">
            <a:avLst/>
          </a:prstGeom>
          <a:noFill/>
          <a:ln/>
        </p:spPr>
        <p:txBody>
          <a:bodyPr wrap="square" lIns="0" tIns="0" rIns="0" bIns="0" rtlCol="0" anchor="t"/>
          <a:lstStyle/>
          <a:p>
            <a:pPr marL="152400" indent="-152400">
              <a:spcAft>
                <a:spcPts val="300"/>
              </a:spcAft>
              <a:buSzPct val="100000"/>
              <a:buChar char="▪"/>
            </a:pPr>
            <a:r>
              <a:rPr lang="en-US" sz="1100" b="1" dirty="0">
                <a:solidFill>
                  <a:srgbClr val="262B3A"/>
                </a:solidFill>
                <a:latin typeface="Calibri" pitchFamily="34" charset="0"/>
                <a:ea typeface="Calibri" pitchFamily="34" charset="-122"/>
                <a:cs typeface="Calibri" pitchFamily="34" charset="-120"/>
              </a:rPr>
              <a:t>pH</a:t>
            </a:r>
            <a:r>
              <a:rPr lang="en-US" sz="1100" dirty="0">
                <a:solidFill>
                  <a:srgbClr val="262B3A"/>
                </a:solidFill>
                <a:latin typeface="Calibri" pitchFamily="34" charset="0"/>
                <a:ea typeface="Calibri" pitchFamily="34" charset="-122"/>
                <a:cs typeface="Calibri" pitchFamily="34" charset="-120"/>
              </a:rPr>
              <a:t> is a number that shows </a:t>
            </a:r>
            <a:r>
              <a:rPr lang="en-US" sz="1100" b="1" dirty="0">
                <a:solidFill>
                  <a:srgbClr val="262B3A"/>
                </a:solidFill>
                <a:latin typeface="Calibri" pitchFamily="34" charset="0"/>
                <a:ea typeface="Calibri" pitchFamily="34" charset="-122"/>
                <a:cs typeface="Calibri" pitchFamily="34" charset="-120"/>
              </a:rPr>
              <a:t>how acidic or alkaline</a:t>
            </a:r>
            <a:r>
              <a:rPr lang="en-US" sz="1100" dirty="0">
                <a:solidFill>
                  <a:srgbClr val="262B3A"/>
                </a:solidFill>
                <a:latin typeface="Calibri" pitchFamily="34" charset="0"/>
                <a:ea typeface="Calibri" pitchFamily="34" charset="-122"/>
                <a:cs typeface="Calibri" pitchFamily="34" charset="-120"/>
              </a:rPr>
              <a:t> a solution is, usually from </a:t>
            </a:r>
            <a:r>
              <a:rPr lang="en-US" sz="1100" b="1" dirty="0">
                <a:solidFill>
                  <a:srgbClr val="262B3A"/>
                </a:solidFill>
                <a:latin typeface="Calibri" pitchFamily="34" charset="0"/>
                <a:ea typeface="Calibri" pitchFamily="34" charset="-122"/>
                <a:cs typeface="Calibri" pitchFamily="34" charset="-120"/>
              </a:rPr>
              <a:t>0 to 14</a:t>
            </a:r>
            <a:r>
              <a:rPr lang="en-US" sz="1100" dirty="0">
                <a:solidFill>
                  <a:srgbClr val="262B3A"/>
                </a:solidFill>
                <a:latin typeface="Calibri" pitchFamily="34" charset="0"/>
                <a:ea typeface="Calibri" pitchFamily="34" charset="-122"/>
                <a:cs typeface="Calibri" pitchFamily="34" charset="-120"/>
              </a:rPr>
              <a:t>.</a:t>
            </a:r>
            <a:endParaRPr lang="en-US" sz="1100" dirty="0"/>
          </a:p>
          <a:p>
            <a:pPr marL="152400" indent="-152400">
              <a:spcAft>
                <a:spcPts val="300"/>
              </a:spcAft>
              <a:buSzPct val="100000"/>
              <a:buChar char="▪"/>
            </a:pPr>
            <a:r>
              <a:rPr lang="en-US" sz="1100" b="1" dirty="0">
                <a:solidFill>
                  <a:srgbClr val="262B3A"/>
                </a:solidFill>
                <a:latin typeface="Calibri" pitchFamily="34" charset="0"/>
                <a:ea typeface="Calibri" pitchFamily="34" charset="-122"/>
                <a:cs typeface="Calibri" pitchFamily="34" charset="-120"/>
              </a:rPr>
              <a:t>pH &lt; 7: acidic</a:t>
            </a:r>
            <a:r>
              <a:rPr lang="en-US" sz="1100" dirty="0">
                <a:solidFill>
                  <a:srgbClr val="262B3A"/>
                </a:solidFill>
                <a:latin typeface="Calibri" pitchFamily="34" charset="0"/>
                <a:ea typeface="Calibri" pitchFamily="34" charset="-122"/>
                <a:cs typeface="Calibri" pitchFamily="34" charset="-120"/>
              </a:rPr>
              <a:t>. The </a:t>
            </a:r>
            <a:r>
              <a:rPr lang="en-US" sz="1100" b="1" dirty="0">
                <a:solidFill>
                  <a:srgbClr val="262B3A"/>
                </a:solidFill>
                <a:latin typeface="Calibri" pitchFamily="34" charset="0"/>
                <a:ea typeface="Calibri" pitchFamily="34" charset="-122"/>
                <a:cs typeface="Calibri" pitchFamily="34" charset="-120"/>
              </a:rPr>
              <a:t>lower</a:t>
            </a:r>
            <a:r>
              <a:rPr lang="en-US" sz="1100" dirty="0">
                <a:solidFill>
                  <a:srgbClr val="262B3A"/>
                </a:solidFill>
                <a:latin typeface="Calibri" pitchFamily="34" charset="0"/>
                <a:ea typeface="Calibri" pitchFamily="34" charset="-122"/>
                <a:cs typeface="Calibri" pitchFamily="34" charset="-120"/>
              </a:rPr>
              <a:t> the pH, the </a:t>
            </a:r>
            <a:r>
              <a:rPr lang="en-US" sz="1100" b="1" dirty="0">
                <a:solidFill>
                  <a:srgbClr val="262B3A"/>
                </a:solidFill>
                <a:latin typeface="Calibri" pitchFamily="34" charset="0"/>
                <a:ea typeface="Calibri" pitchFamily="34" charset="-122"/>
                <a:cs typeface="Calibri" pitchFamily="34" charset="-120"/>
              </a:rPr>
              <a:t>more acidic</a:t>
            </a:r>
            <a:r>
              <a:rPr lang="en-US" sz="1100" dirty="0">
                <a:solidFill>
                  <a:srgbClr val="262B3A"/>
                </a:solidFill>
                <a:latin typeface="Calibri" pitchFamily="34" charset="0"/>
                <a:ea typeface="Calibri" pitchFamily="34" charset="-122"/>
                <a:cs typeface="Calibri" pitchFamily="34" charset="-120"/>
              </a:rPr>
              <a:t>.</a:t>
            </a:r>
            <a:endParaRPr lang="en-US" sz="1100" dirty="0"/>
          </a:p>
          <a:p>
            <a:pPr marL="152400" indent="-152400">
              <a:spcAft>
                <a:spcPts val="300"/>
              </a:spcAft>
              <a:buSzPct val="100000"/>
              <a:buChar char="▪"/>
            </a:pPr>
            <a:r>
              <a:rPr lang="en-US" sz="1100" b="1" dirty="0">
                <a:solidFill>
                  <a:srgbClr val="262B3A"/>
                </a:solidFill>
                <a:latin typeface="Calibri" pitchFamily="34" charset="0"/>
                <a:ea typeface="Calibri" pitchFamily="34" charset="-122"/>
                <a:cs typeface="Calibri" pitchFamily="34" charset="-120"/>
              </a:rPr>
              <a:t>pH 7: neutral</a:t>
            </a:r>
            <a:r>
              <a:rPr lang="en-US" sz="1100" dirty="0">
                <a:solidFill>
                  <a:srgbClr val="262B3A"/>
                </a:solidFill>
                <a:latin typeface="Calibri" pitchFamily="34" charset="0"/>
                <a:ea typeface="Calibri" pitchFamily="34" charset="-122"/>
                <a:cs typeface="Calibri" pitchFamily="34" charset="-120"/>
              </a:rPr>
              <a:t> (e.g. pure water). </a:t>
            </a:r>
            <a:r>
              <a:rPr lang="en-US" sz="1100" b="1" dirty="0">
                <a:solidFill>
                  <a:srgbClr val="262B3A"/>
                </a:solidFill>
                <a:latin typeface="Calibri" pitchFamily="34" charset="0"/>
                <a:ea typeface="Calibri" pitchFamily="34" charset="-122"/>
                <a:cs typeface="Calibri" pitchFamily="34" charset="-120"/>
              </a:rPr>
              <a:t>pH &gt; 7: alkaline</a:t>
            </a:r>
            <a:r>
              <a:rPr lang="en-US" sz="1100" dirty="0">
                <a:solidFill>
                  <a:srgbClr val="262B3A"/>
                </a:solidFill>
                <a:latin typeface="Calibri" pitchFamily="34" charset="0"/>
                <a:ea typeface="Calibri" pitchFamily="34" charset="-122"/>
                <a:cs typeface="Calibri" pitchFamily="34" charset="-120"/>
              </a:rPr>
              <a:t>; higher pH, more alkaline.</a:t>
            </a:r>
            <a:endParaRPr lang="en-US" sz="1100" dirty="0"/>
          </a:p>
          <a:p>
            <a:pPr marL="152400" indent="-152400">
              <a:spcAft>
                <a:spcPts val="300"/>
              </a:spcAft>
              <a:buSzPct val="100000"/>
              <a:buChar char="▪"/>
            </a:pPr>
            <a:r>
              <a:rPr lang="en-US" sz="1100" b="1" dirty="0">
                <a:solidFill>
                  <a:srgbClr val="262B3A"/>
                </a:solidFill>
                <a:latin typeface="Calibri" pitchFamily="34" charset="0"/>
                <a:ea typeface="Calibri" pitchFamily="34" charset="-122"/>
                <a:cs typeface="Calibri" pitchFamily="34" charset="-120"/>
              </a:rPr>
              <a:t>Universal indicator</a:t>
            </a:r>
            <a:r>
              <a:rPr lang="en-US" sz="1100" dirty="0">
                <a:solidFill>
                  <a:srgbClr val="262B3A"/>
                </a:solidFill>
                <a:latin typeface="Calibri" pitchFamily="34" charset="0"/>
                <a:ea typeface="Calibri" pitchFamily="34" charset="-122"/>
                <a:cs typeface="Calibri" pitchFamily="34" charset="-120"/>
              </a:rPr>
              <a:t> (UI) is a mixture of dyes: compare its colour with a </a:t>
            </a:r>
            <a:r>
              <a:rPr lang="en-US" sz="1100" b="1" dirty="0">
                <a:solidFill>
                  <a:srgbClr val="262B3A"/>
                </a:solidFill>
                <a:latin typeface="Calibri" pitchFamily="34" charset="0"/>
                <a:ea typeface="Calibri" pitchFamily="34" charset="-122"/>
                <a:cs typeface="Calibri" pitchFamily="34" charset="-120"/>
              </a:rPr>
              <a:t>colour chart</a:t>
            </a:r>
            <a:r>
              <a:rPr lang="en-US" sz="1100" dirty="0">
                <a:solidFill>
                  <a:srgbClr val="262B3A"/>
                </a:solidFill>
                <a:latin typeface="Calibri" pitchFamily="34" charset="0"/>
                <a:ea typeface="Calibri" pitchFamily="34" charset="-122"/>
                <a:cs typeface="Calibri" pitchFamily="34" charset="-120"/>
              </a:rPr>
              <a:t>.</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A </a:t>
            </a:r>
            <a:r>
              <a:rPr lang="en-US" sz="1100" b="1" dirty="0">
                <a:solidFill>
                  <a:srgbClr val="262B3A"/>
                </a:solidFill>
                <a:latin typeface="Calibri" pitchFamily="34" charset="0"/>
                <a:ea typeface="Calibri" pitchFamily="34" charset="-122"/>
                <a:cs typeface="Calibri" pitchFamily="34" charset="-120"/>
              </a:rPr>
              <a:t>pH meter</a:t>
            </a:r>
            <a:r>
              <a:rPr lang="en-US" sz="1100" dirty="0">
                <a:solidFill>
                  <a:srgbClr val="262B3A"/>
                </a:solidFill>
                <a:latin typeface="Calibri" pitchFamily="34" charset="0"/>
                <a:ea typeface="Calibri" pitchFamily="34" charset="-122"/>
                <a:cs typeface="Calibri" pitchFamily="34" charset="-120"/>
              </a:rPr>
              <a:t> gives a </a:t>
            </a:r>
            <a:r>
              <a:rPr lang="en-US" sz="1100" b="1" dirty="0">
                <a:solidFill>
                  <a:srgbClr val="262B3A"/>
                </a:solidFill>
                <a:latin typeface="Calibri" pitchFamily="34" charset="0"/>
                <a:ea typeface="Calibri" pitchFamily="34" charset="-122"/>
                <a:cs typeface="Calibri" pitchFamily="34" charset="-120"/>
              </a:rPr>
              <a:t>number</a:t>
            </a:r>
            <a:r>
              <a:rPr lang="en-US" sz="1100" dirty="0">
                <a:solidFill>
                  <a:srgbClr val="262B3A"/>
                </a:solidFill>
                <a:latin typeface="Calibri" pitchFamily="34" charset="0"/>
                <a:ea typeface="Calibri" pitchFamily="34" charset="-122"/>
                <a:cs typeface="Calibri" pitchFamily="34" charset="-120"/>
              </a:rPr>
              <a:t> (often to 0.1 or 0.01). It is more </a:t>
            </a:r>
            <a:r>
              <a:rPr lang="en-US" sz="1100" b="1" dirty="0">
                <a:solidFill>
                  <a:srgbClr val="262B3A"/>
                </a:solidFill>
                <a:latin typeface="Calibri" pitchFamily="34" charset="0"/>
                <a:ea typeface="Calibri" pitchFamily="34" charset="-122"/>
                <a:cs typeface="Calibri" pitchFamily="34" charset="-120"/>
              </a:rPr>
              <a:t>precise</a:t>
            </a:r>
            <a:r>
              <a:rPr lang="en-US" sz="1100" dirty="0">
                <a:solidFill>
                  <a:srgbClr val="262B3A"/>
                </a:solidFill>
                <a:latin typeface="Calibri" pitchFamily="34" charset="0"/>
                <a:ea typeface="Calibri" pitchFamily="34" charset="-122"/>
                <a:cs typeface="Calibri" pitchFamily="34" charset="-120"/>
              </a:rPr>
              <a:t> and not affected by the colour of the solution. Calibrate it first.</a:t>
            </a:r>
            <a:endParaRPr lang="en-US" sz="1100" dirty="0"/>
          </a:p>
        </p:txBody>
      </p:sp>
      <p:sp>
        <p:nvSpPr>
          <p:cNvPr id="86" name="Shape 84"/>
          <p:cNvSpPr/>
          <p:nvPr/>
        </p:nvSpPr>
        <p:spPr>
          <a:xfrm>
            <a:off x="6217920" y="4526280"/>
            <a:ext cx="5562295" cy="1188720"/>
          </a:xfrm>
          <a:prstGeom prst="roundRect">
            <a:avLst>
              <a:gd name="adj" fmla="val 4615"/>
            </a:avLst>
          </a:prstGeom>
          <a:solidFill>
            <a:srgbClr val="FFF4E0"/>
          </a:solidFill>
          <a:ln w="9525">
            <a:solidFill>
              <a:srgbClr val="F1D9A8"/>
            </a:solidFill>
            <a:prstDash val="solid"/>
          </a:ln>
        </p:spPr>
      </p:sp>
      <p:sp>
        <p:nvSpPr>
          <p:cNvPr id="87" name="Text 85"/>
          <p:cNvSpPr/>
          <p:nvPr/>
        </p:nvSpPr>
        <p:spPr>
          <a:xfrm>
            <a:off x="6382512" y="459943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 reading UI</a:t>
            </a:r>
            <a:endParaRPr lang="en-US" sz="1300" dirty="0"/>
          </a:p>
        </p:txBody>
      </p:sp>
      <p:sp>
        <p:nvSpPr>
          <p:cNvPr id="88" name="Text 86"/>
          <p:cNvSpPr/>
          <p:nvPr/>
        </p:nvSpPr>
        <p:spPr>
          <a:xfrm>
            <a:off x="6382512" y="4910328"/>
            <a:ext cx="5233111" cy="73152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UI turns green-blue in a solution.</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1 Chart   </a:t>
            </a:r>
            <a:r>
              <a:rPr lang="en-US" sz="1050" dirty="0">
                <a:solidFill>
                  <a:srgbClr val="262B3A"/>
                </a:solidFill>
                <a:latin typeface="Calibri" pitchFamily="34" charset="0"/>
                <a:ea typeface="Calibri" pitchFamily="34" charset="-122"/>
                <a:cs typeface="Calibri" pitchFamily="34" charset="-120"/>
              </a:rPr>
              <a:t>green-blue ≈ pH 9</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2 Answer   </a:t>
            </a:r>
            <a:r>
              <a:rPr lang="en-US" sz="1050" b="1" dirty="0">
                <a:solidFill>
                  <a:srgbClr val="C8414C"/>
                </a:solidFill>
                <a:latin typeface="Calibri" pitchFamily="34" charset="0"/>
                <a:ea typeface="Calibri" pitchFamily="34" charset="-122"/>
                <a:cs typeface="Calibri" pitchFamily="34" charset="-120"/>
              </a:rPr>
              <a:t>pH about </a:t>
            </a:r>
            <a:r>
              <a:rPr lang="en-US" sz="1050" b="1" dirty="0">
                <a:solidFill>
                  <a:srgbClr val="C8414C"/>
                </a:solidFill>
                <a:latin typeface="Calibri" pitchFamily="34" charset="0"/>
                <a:ea typeface="Calibri" pitchFamily="34" charset="-122"/>
                <a:cs typeface="Calibri" pitchFamily="34" charset="-120"/>
              </a:rPr>
              <a:t>9</a:t>
            </a:r>
            <a:r>
              <a:rPr lang="en-US" sz="1050" b="1" dirty="0">
                <a:solidFill>
                  <a:srgbClr val="C8414C"/>
                </a:solidFill>
                <a:latin typeface="Calibri" pitchFamily="34" charset="0"/>
                <a:ea typeface="Calibri" pitchFamily="34" charset="-122"/>
                <a:cs typeface="Calibri" pitchFamily="34" charset="-120"/>
              </a:rPr>
              <a:t>: </a:t>
            </a:r>
            <a:r>
              <a:rPr lang="en-US" sz="1050" b="1" dirty="0">
                <a:solidFill>
                  <a:srgbClr val="C8414C"/>
                </a:solidFill>
                <a:latin typeface="Calibri" pitchFamily="34" charset="0"/>
                <a:ea typeface="Calibri" pitchFamily="34" charset="-122"/>
                <a:cs typeface="Calibri" pitchFamily="34" charset="-120"/>
              </a:rPr>
              <a:t>weakly alkaline</a:t>
            </a:r>
            <a:endParaRPr lang="en-US" sz="1050" dirty="0"/>
          </a:p>
        </p:txBody>
      </p:sp>
      <p:sp>
        <p:nvSpPr>
          <p:cNvPr id="89" name="Shape 87"/>
          <p:cNvSpPr/>
          <p:nvPr/>
        </p:nvSpPr>
        <p:spPr>
          <a:xfrm>
            <a:off x="411480" y="5833872"/>
            <a:ext cx="11368735" cy="530352"/>
          </a:xfrm>
          <a:prstGeom prst="rect">
            <a:avLst/>
          </a:prstGeom>
          <a:solidFill>
            <a:srgbClr val="FFF4E0"/>
          </a:solidFill>
          <a:ln w="6350">
            <a:solidFill>
              <a:srgbClr val="F1D9A8"/>
            </a:solidFill>
            <a:prstDash val="solid"/>
          </a:ln>
        </p:spPr>
      </p:sp>
      <p:sp>
        <p:nvSpPr>
          <p:cNvPr id="90" name="Shape 88"/>
          <p:cNvSpPr/>
          <p:nvPr/>
        </p:nvSpPr>
        <p:spPr>
          <a:xfrm>
            <a:off x="411480" y="5833872"/>
            <a:ext cx="82296" cy="530352"/>
          </a:xfrm>
          <a:prstGeom prst="rect">
            <a:avLst/>
          </a:prstGeom>
          <a:solidFill>
            <a:srgbClr val="E39A2F"/>
          </a:solidFill>
          <a:ln w="12700">
            <a:solidFill>
              <a:srgbClr val="E39A2F"/>
            </a:solidFill>
            <a:prstDash val="solid"/>
          </a:ln>
        </p:spPr>
      </p:sp>
      <p:sp>
        <p:nvSpPr>
          <p:cNvPr id="91" name="Text 89"/>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Solution A turns UI </a:t>
            </a:r>
            <a:r>
              <a:rPr lang="en-US" sz="1150" b="1" dirty="0">
                <a:solidFill>
                  <a:srgbClr val="262B3A"/>
                </a:solidFill>
                <a:latin typeface="Calibri" pitchFamily="34" charset="0"/>
                <a:ea typeface="Calibri" pitchFamily="34" charset="-122"/>
                <a:cs typeface="Calibri" pitchFamily="34" charset="-120"/>
              </a:rPr>
              <a:t>red</a:t>
            </a:r>
            <a:r>
              <a:rPr lang="en-US" sz="1150" dirty="0">
                <a:solidFill>
                  <a:srgbClr val="262B3A"/>
                </a:solidFill>
                <a:latin typeface="Calibri" pitchFamily="34" charset="0"/>
                <a:ea typeface="Calibri" pitchFamily="34" charset="-122"/>
                <a:cs typeface="Calibri" pitchFamily="34" charset="-120"/>
              </a:rPr>
              <a:t>; solution B turns it </a:t>
            </a:r>
            <a:r>
              <a:rPr lang="en-US" sz="1150" b="1" dirty="0">
                <a:solidFill>
                  <a:srgbClr val="262B3A"/>
                </a:solidFill>
                <a:latin typeface="Calibri" pitchFamily="34" charset="0"/>
                <a:ea typeface="Calibri" pitchFamily="34" charset="-122"/>
                <a:cs typeface="Calibri" pitchFamily="34" charset="-120"/>
              </a:rPr>
              <a:t>yellow</a:t>
            </a:r>
            <a:r>
              <a:rPr lang="en-US" sz="1150" dirty="0">
                <a:solidFill>
                  <a:srgbClr val="262B3A"/>
                </a:solidFill>
                <a:latin typeface="Calibri" pitchFamily="34" charset="0"/>
                <a:ea typeface="Calibri" pitchFamily="34" charset="-122"/>
                <a:cs typeface="Calibri" pitchFamily="34" charset="-120"/>
              </a:rPr>
              <a:t>. Which is </a:t>
            </a:r>
            <a:r>
              <a:rPr lang="en-US" sz="1150" b="1" dirty="0">
                <a:solidFill>
                  <a:srgbClr val="262B3A"/>
                </a:solidFill>
                <a:latin typeface="Calibri" pitchFamily="34" charset="0"/>
                <a:ea typeface="Calibri" pitchFamily="34" charset="-122"/>
                <a:cs typeface="Calibri" pitchFamily="34" charset="-120"/>
              </a:rPr>
              <a:t>more acidic</a:t>
            </a:r>
            <a:r>
              <a:rPr lang="en-US" sz="1150" dirty="0">
                <a:solidFill>
                  <a:srgbClr val="262B3A"/>
                </a:solidFill>
                <a:latin typeface="Calibri" pitchFamily="34" charset="0"/>
                <a:ea typeface="Calibri" pitchFamily="34" charset="-122"/>
                <a:cs typeface="Calibri" pitchFamily="34" charset="-120"/>
              </a:rPr>
              <a:t>? Give </a:t>
            </a:r>
            <a:r>
              <a:rPr lang="en-US" sz="1150" b="1" dirty="0">
                <a:solidFill>
                  <a:srgbClr val="262B3A"/>
                </a:solidFill>
                <a:latin typeface="Calibri" pitchFamily="34" charset="0"/>
                <a:ea typeface="Calibri" pitchFamily="34" charset="-122"/>
                <a:cs typeface="Calibri" pitchFamily="34" charset="-120"/>
              </a:rPr>
              <a:t>two</a:t>
            </a:r>
            <a:r>
              <a:rPr lang="en-US" sz="1150" dirty="0">
                <a:solidFill>
                  <a:srgbClr val="262B3A"/>
                </a:solidFill>
                <a:latin typeface="Calibri" pitchFamily="34" charset="0"/>
                <a:ea typeface="Calibri" pitchFamily="34" charset="-122"/>
                <a:cs typeface="Calibri" pitchFamily="34" charset="-120"/>
              </a:rPr>
              <a:t> reasons to use a pH meter instead.</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Exam practice: recap 1</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Specification C6.1.3, C6.1.4 • ions in acids and alkalis • pH</a:t>
            </a:r>
            <a:endParaRPr lang="en-US" sz="1100" dirty="0"/>
          </a:p>
        </p:txBody>
      </p:sp>
      <p:sp>
        <p:nvSpPr>
          <p:cNvPr id="6" name="Text 4"/>
          <p:cNvSpPr/>
          <p:nvPr/>
        </p:nvSpPr>
        <p:spPr>
          <a:xfrm>
            <a:off x="411480" y="6473952"/>
            <a:ext cx="1014984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C6.1 What useful products can be made from acids?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Recap 1  |  7</a:t>
            </a:r>
            <a:endParaRPr lang="en-US" sz="1000" dirty="0"/>
          </a:p>
        </p:txBody>
      </p:sp>
      <p:sp>
        <p:nvSpPr>
          <p:cNvPr id="8" name="Shape 6"/>
          <p:cNvSpPr/>
          <p:nvPr/>
        </p:nvSpPr>
        <p:spPr>
          <a:xfrm>
            <a:off x="411480" y="1207008"/>
            <a:ext cx="11368735" cy="1159002"/>
          </a:xfrm>
          <a:prstGeom prst="roundRect">
            <a:avLst>
              <a:gd name="adj" fmla="val 3945"/>
            </a:avLst>
          </a:prstGeom>
          <a:solidFill>
            <a:srgbClr val="FFFFFF"/>
          </a:solidFill>
          <a:ln w="12700">
            <a:solidFill>
              <a:srgbClr val="DDD3EC"/>
            </a:solidFill>
            <a:prstDash val="solid"/>
          </a:ln>
        </p:spPr>
      </p:sp>
      <p:sp>
        <p:nvSpPr>
          <p:cNvPr id="9" name="Shape 7"/>
          <p:cNvSpPr/>
          <p:nvPr/>
        </p:nvSpPr>
        <p:spPr>
          <a:xfrm>
            <a:off x="411480" y="1207008"/>
            <a:ext cx="2103120" cy="292608"/>
          </a:xfrm>
          <a:prstGeom prst="rect">
            <a:avLst/>
          </a:prstGeom>
          <a:solidFill>
            <a:srgbClr val="F5A742"/>
          </a:solidFill>
          <a:ln w="12700">
            <a:solidFill>
              <a:srgbClr val="F5A742"/>
            </a:solidFill>
            <a:prstDash val="solid"/>
          </a:ln>
        </p:spPr>
      </p:sp>
      <p:sp>
        <p:nvSpPr>
          <p:cNvPr id="10" name="Text 8"/>
          <p:cNvSpPr/>
          <p:nvPr/>
        </p:nvSpPr>
        <p:spPr>
          <a:xfrm>
            <a:off x="411480" y="1207008"/>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1" name="Text 9"/>
          <p:cNvSpPr/>
          <p:nvPr/>
        </p:nvSpPr>
        <p:spPr>
          <a:xfrm>
            <a:off x="640080" y="1572768"/>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Name the ion that all </a:t>
            </a:r>
            <a:r>
              <a:rPr lang="en-US" sz="1250" b="1" dirty="0">
                <a:solidFill>
                  <a:srgbClr val="262B3A"/>
                </a:solidFill>
                <a:latin typeface="Calibri" pitchFamily="34" charset="0"/>
                <a:ea typeface="Calibri" pitchFamily="34" charset="-122"/>
                <a:cs typeface="Calibri" pitchFamily="34" charset="-120"/>
              </a:rPr>
              <a:t>acids</a:t>
            </a:r>
            <a:r>
              <a:rPr lang="en-US" sz="1250" dirty="0">
                <a:solidFill>
                  <a:srgbClr val="262B3A"/>
                </a:solidFill>
                <a:latin typeface="Calibri" pitchFamily="34" charset="0"/>
                <a:ea typeface="Calibri" pitchFamily="34" charset="-122"/>
                <a:cs typeface="Calibri" pitchFamily="34" charset="-120"/>
              </a:rPr>
              <a:t> form in water, and the ion that all </a:t>
            </a:r>
            <a:r>
              <a:rPr lang="en-US" sz="1250" b="1" dirty="0">
                <a:solidFill>
                  <a:srgbClr val="262B3A"/>
                </a:solidFill>
                <a:latin typeface="Calibri" pitchFamily="34" charset="0"/>
                <a:ea typeface="Calibri" pitchFamily="34" charset="-122"/>
                <a:cs typeface="Calibri" pitchFamily="34" charset="-120"/>
              </a:rPr>
              <a:t>alkalis</a:t>
            </a:r>
            <a:r>
              <a:rPr lang="en-US" sz="1250" dirty="0">
                <a:solidFill>
                  <a:srgbClr val="262B3A"/>
                </a:solidFill>
                <a:latin typeface="Calibri" pitchFamily="34" charset="0"/>
                <a:ea typeface="Calibri" pitchFamily="34" charset="-122"/>
                <a:cs typeface="Calibri" pitchFamily="34" charset="-120"/>
              </a:rPr>
              <a:t> form in water.</a:t>
            </a:r>
            <a:endParaRPr lang="en-US" sz="1250" dirty="0"/>
          </a:p>
        </p:txBody>
      </p:sp>
      <p:sp>
        <p:nvSpPr>
          <p:cNvPr id="12" name="Text 10"/>
          <p:cNvSpPr/>
          <p:nvPr/>
        </p:nvSpPr>
        <p:spPr>
          <a:xfrm>
            <a:off x="10317175" y="1981962"/>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3" name="Shape 11"/>
          <p:cNvSpPr/>
          <p:nvPr/>
        </p:nvSpPr>
        <p:spPr>
          <a:xfrm>
            <a:off x="411480" y="2512314"/>
            <a:ext cx="11368735" cy="1159002"/>
          </a:xfrm>
          <a:prstGeom prst="roundRect">
            <a:avLst>
              <a:gd name="adj" fmla="val 3945"/>
            </a:avLst>
          </a:prstGeom>
          <a:solidFill>
            <a:srgbClr val="FFFFFF"/>
          </a:solidFill>
          <a:ln w="12700">
            <a:solidFill>
              <a:srgbClr val="DDD3EC"/>
            </a:solidFill>
            <a:prstDash val="solid"/>
          </a:ln>
        </p:spPr>
      </p:sp>
      <p:sp>
        <p:nvSpPr>
          <p:cNvPr id="14" name="Shape 12"/>
          <p:cNvSpPr/>
          <p:nvPr/>
        </p:nvSpPr>
        <p:spPr>
          <a:xfrm>
            <a:off x="411480" y="2512314"/>
            <a:ext cx="2103120" cy="292608"/>
          </a:xfrm>
          <a:prstGeom prst="rect">
            <a:avLst/>
          </a:prstGeom>
          <a:solidFill>
            <a:srgbClr val="F5A742"/>
          </a:solidFill>
          <a:ln w="12700">
            <a:solidFill>
              <a:srgbClr val="F5A742"/>
            </a:solidFill>
            <a:prstDash val="solid"/>
          </a:ln>
        </p:spPr>
      </p:sp>
      <p:sp>
        <p:nvSpPr>
          <p:cNvPr id="15" name="Text 13"/>
          <p:cNvSpPr/>
          <p:nvPr/>
        </p:nvSpPr>
        <p:spPr>
          <a:xfrm>
            <a:off x="411480" y="2512314"/>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6" name="Text 14"/>
          <p:cNvSpPr/>
          <p:nvPr/>
        </p:nvSpPr>
        <p:spPr>
          <a:xfrm>
            <a:off x="640080" y="2878074"/>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Universal indicator turns </a:t>
            </a:r>
            <a:r>
              <a:rPr lang="en-US" sz="1250" b="1" dirty="0">
                <a:solidFill>
                  <a:srgbClr val="262B3A"/>
                </a:solidFill>
                <a:latin typeface="Calibri" pitchFamily="34" charset="0"/>
                <a:ea typeface="Calibri" pitchFamily="34" charset="-122"/>
                <a:cs typeface="Calibri" pitchFamily="34" charset="-120"/>
              </a:rPr>
              <a:t>orange</a:t>
            </a:r>
            <a:r>
              <a:rPr lang="en-US" sz="1250" dirty="0">
                <a:solidFill>
                  <a:srgbClr val="262B3A"/>
                </a:solidFill>
                <a:latin typeface="Calibri" pitchFamily="34" charset="0"/>
                <a:ea typeface="Calibri" pitchFamily="34" charset="-122"/>
                <a:cs typeface="Calibri" pitchFamily="34" charset="-120"/>
              </a:rPr>
              <a:t> in lemon juice. Estimate the </a:t>
            </a:r>
            <a:r>
              <a:rPr lang="en-US" sz="1250" b="1" dirty="0">
                <a:solidFill>
                  <a:srgbClr val="262B3A"/>
                </a:solidFill>
                <a:latin typeface="Calibri" pitchFamily="34" charset="0"/>
                <a:ea typeface="Calibri" pitchFamily="34" charset="-122"/>
                <a:cs typeface="Calibri" pitchFamily="34" charset="-120"/>
              </a:rPr>
              <a:t>pH</a:t>
            </a:r>
            <a:r>
              <a:rPr lang="en-US" sz="1250" dirty="0">
                <a:solidFill>
                  <a:srgbClr val="262B3A"/>
                </a:solidFill>
                <a:latin typeface="Calibri" pitchFamily="34" charset="0"/>
                <a:ea typeface="Calibri" pitchFamily="34" charset="-122"/>
                <a:cs typeface="Calibri" pitchFamily="34" charset="-120"/>
              </a:rPr>
              <a:t> and state whether lemon juice is acidic, neutral or alkaline.</a:t>
            </a:r>
            <a:endParaRPr lang="en-US" sz="1250" dirty="0"/>
          </a:p>
        </p:txBody>
      </p:sp>
      <p:sp>
        <p:nvSpPr>
          <p:cNvPr id="17" name="Text 15"/>
          <p:cNvSpPr/>
          <p:nvPr/>
        </p:nvSpPr>
        <p:spPr>
          <a:xfrm>
            <a:off x="10317175" y="3287268"/>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8" name="Shape 16"/>
          <p:cNvSpPr/>
          <p:nvPr/>
        </p:nvSpPr>
        <p:spPr>
          <a:xfrm>
            <a:off x="411480" y="3817620"/>
            <a:ext cx="11368735" cy="1159002"/>
          </a:xfrm>
          <a:prstGeom prst="roundRect">
            <a:avLst>
              <a:gd name="adj" fmla="val 3945"/>
            </a:avLst>
          </a:prstGeom>
          <a:solidFill>
            <a:srgbClr val="FFFFFF"/>
          </a:solidFill>
          <a:ln w="12700">
            <a:solidFill>
              <a:srgbClr val="DDD3EC"/>
            </a:solidFill>
            <a:prstDash val="solid"/>
          </a:ln>
        </p:spPr>
      </p:sp>
      <p:sp>
        <p:nvSpPr>
          <p:cNvPr id="19" name="Shape 17"/>
          <p:cNvSpPr/>
          <p:nvPr/>
        </p:nvSpPr>
        <p:spPr>
          <a:xfrm>
            <a:off x="411480" y="3817620"/>
            <a:ext cx="2103120" cy="292608"/>
          </a:xfrm>
          <a:prstGeom prst="rect">
            <a:avLst/>
          </a:prstGeom>
          <a:solidFill>
            <a:srgbClr val="F5A742"/>
          </a:solidFill>
          <a:ln w="12700">
            <a:solidFill>
              <a:srgbClr val="F5A742"/>
            </a:solidFill>
            <a:prstDash val="solid"/>
          </a:ln>
        </p:spPr>
      </p:sp>
      <p:sp>
        <p:nvSpPr>
          <p:cNvPr id="20" name="Text 18"/>
          <p:cNvSpPr/>
          <p:nvPr/>
        </p:nvSpPr>
        <p:spPr>
          <a:xfrm>
            <a:off x="411480" y="3817620"/>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1" name="Text 19"/>
          <p:cNvSpPr/>
          <p:nvPr/>
        </p:nvSpPr>
        <p:spPr>
          <a:xfrm>
            <a:off x="640080" y="4183380"/>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Give </a:t>
            </a:r>
            <a:r>
              <a:rPr lang="en-US" sz="1250" b="1" dirty="0">
                <a:solidFill>
                  <a:srgbClr val="262B3A"/>
                </a:solidFill>
                <a:latin typeface="Calibri" pitchFamily="34" charset="0"/>
                <a:ea typeface="Calibri" pitchFamily="34" charset="-122"/>
                <a:cs typeface="Calibri" pitchFamily="34" charset="-120"/>
              </a:rPr>
              <a:t>two</a:t>
            </a:r>
            <a:r>
              <a:rPr lang="en-US" sz="1250" dirty="0">
                <a:solidFill>
                  <a:srgbClr val="262B3A"/>
                </a:solidFill>
                <a:latin typeface="Calibri" pitchFamily="34" charset="0"/>
                <a:ea typeface="Calibri" pitchFamily="34" charset="-122"/>
                <a:cs typeface="Calibri" pitchFamily="34" charset="-120"/>
              </a:rPr>
              <a:t> advantages of using a </a:t>
            </a:r>
            <a:r>
              <a:rPr lang="en-US" sz="1250" b="1" dirty="0">
                <a:solidFill>
                  <a:srgbClr val="262B3A"/>
                </a:solidFill>
                <a:latin typeface="Calibri" pitchFamily="34" charset="0"/>
                <a:ea typeface="Calibri" pitchFamily="34" charset="-122"/>
                <a:cs typeface="Calibri" pitchFamily="34" charset="-120"/>
              </a:rPr>
              <a:t>pH meter</a:t>
            </a:r>
            <a:r>
              <a:rPr lang="en-US" sz="1250" dirty="0">
                <a:solidFill>
                  <a:srgbClr val="262B3A"/>
                </a:solidFill>
                <a:latin typeface="Calibri" pitchFamily="34" charset="0"/>
                <a:ea typeface="Calibri" pitchFamily="34" charset="-122"/>
                <a:cs typeface="Calibri" pitchFamily="34" charset="-120"/>
              </a:rPr>
              <a:t> rather than universal indicator.</a:t>
            </a:r>
            <a:endParaRPr lang="en-US" sz="1250" dirty="0"/>
          </a:p>
        </p:txBody>
      </p:sp>
      <p:sp>
        <p:nvSpPr>
          <p:cNvPr id="22" name="Text 20"/>
          <p:cNvSpPr/>
          <p:nvPr/>
        </p:nvSpPr>
        <p:spPr>
          <a:xfrm>
            <a:off x="10317175" y="4592574"/>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3" name="Shape 21"/>
          <p:cNvSpPr/>
          <p:nvPr/>
        </p:nvSpPr>
        <p:spPr>
          <a:xfrm>
            <a:off x="411480" y="5122926"/>
            <a:ext cx="11368735" cy="1159002"/>
          </a:xfrm>
          <a:prstGeom prst="roundRect">
            <a:avLst>
              <a:gd name="adj" fmla="val 3945"/>
            </a:avLst>
          </a:prstGeom>
          <a:solidFill>
            <a:srgbClr val="FFFFFF"/>
          </a:solidFill>
          <a:ln w="12700">
            <a:solidFill>
              <a:srgbClr val="DDD3EC"/>
            </a:solidFill>
            <a:prstDash val="solid"/>
          </a:ln>
        </p:spPr>
      </p:sp>
      <p:sp>
        <p:nvSpPr>
          <p:cNvPr id="24" name="Shape 22"/>
          <p:cNvSpPr/>
          <p:nvPr/>
        </p:nvSpPr>
        <p:spPr>
          <a:xfrm>
            <a:off x="411480" y="5122926"/>
            <a:ext cx="2103120" cy="292608"/>
          </a:xfrm>
          <a:prstGeom prst="rect">
            <a:avLst/>
          </a:prstGeom>
          <a:solidFill>
            <a:srgbClr val="F5A742"/>
          </a:solidFill>
          <a:ln w="12700">
            <a:solidFill>
              <a:srgbClr val="F5A742"/>
            </a:solidFill>
            <a:prstDash val="solid"/>
          </a:ln>
        </p:spPr>
      </p:sp>
      <p:sp>
        <p:nvSpPr>
          <p:cNvPr id="25" name="Text 23"/>
          <p:cNvSpPr/>
          <p:nvPr/>
        </p:nvSpPr>
        <p:spPr>
          <a:xfrm>
            <a:off x="411480" y="5122926"/>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6" name="Text 24"/>
          <p:cNvSpPr/>
          <p:nvPr/>
        </p:nvSpPr>
        <p:spPr>
          <a:xfrm>
            <a:off x="640080" y="5488686"/>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Hydrogen chloride gas dissolves in water. Write an equation, with </a:t>
            </a:r>
            <a:r>
              <a:rPr lang="en-US" sz="1250" b="1" dirty="0">
                <a:solidFill>
                  <a:srgbClr val="262B3A"/>
                </a:solidFill>
                <a:latin typeface="Calibri" pitchFamily="34" charset="0"/>
                <a:ea typeface="Calibri" pitchFamily="34" charset="-122"/>
                <a:cs typeface="Calibri" pitchFamily="34" charset="-120"/>
              </a:rPr>
              <a:t>state symbols</a:t>
            </a:r>
            <a:r>
              <a:rPr lang="en-US" sz="1250" dirty="0">
                <a:solidFill>
                  <a:srgbClr val="262B3A"/>
                </a:solidFill>
                <a:latin typeface="Calibri" pitchFamily="34" charset="0"/>
                <a:ea typeface="Calibri" pitchFamily="34" charset="-122"/>
                <a:cs typeface="Calibri" pitchFamily="34" charset="-120"/>
              </a:rPr>
              <a:t>, for the ions it forms.</a:t>
            </a:r>
            <a:endParaRPr lang="en-US" sz="1250" dirty="0"/>
          </a:p>
        </p:txBody>
      </p:sp>
      <p:sp>
        <p:nvSpPr>
          <p:cNvPr id="27" name="Text 25"/>
          <p:cNvSpPr/>
          <p:nvPr/>
        </p:nvSpPr>
        <p:spPr>
          <a:xfrm>
            <a:off x="10317175" y="5897880"/>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Neutralisation makes a salt</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Specification C6.1.2, C6.1.3 • acid + alkali or base → salt + water; H⁺ + OH⁻ → H₂O</a:t>
            </a:r>
            <a:endParaRPr lang="en-US" sz="1100" dirty="0"/>
          </a:p>
        </p:txBody>
      </p:sp>
      <p:sp>
        <p:nvSpPr>
          <p:cNvPr id="6" name="Text 4"/>
          <p:cNvSpPr/>
          <p:nvPr/>
        </p:nvSpPr>
        <p:spPr>
          <a:xfrm>
            <a:off x="411480" y="6473952"/>
            <a:ext cx="1014984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C6.1 What useful products can be made from acids?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C6.1.2  |  8</a:t>
            </a:r>
            <a:endParaRPr lang="en-US" sz="1000" dirty="0"/>
          </a:p>
        </p:txBody>
      </p:sp>
      <p:sp>
        <p:nvSpPr>
          <p:cNvPr id="8" name="Shape 6"/>
          <p:cNvSpPr/>
          <p:nvPr/>
        </p:nvSpPr>
        <p:spPr>
          <a:xfrm>
            <a:off x="411480" y="1188720"/>
            <a:ext cx="5577840" cy="4526280"/>
          </a:xfrm>
          <a:prstGeom prst="roundRect">
            <a:avLst>
              <a:gd name="adj" fmla="val 1616"/>
            </a:avLst>
          </a:prstGeom>
          <a:solidFill>
            <a:srgbClr val="F4F0FA"/>
          </a:solidFill>
          <a:ln w="9525">
            <a:solidFill>
              <a:srgbClr val="DED4EE"/>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particle model: Na⁺ and Cl⁻ do not change (spectator ions)</a:t>
            </a:r>
            <a:endParaRPr lang="en-US" sz="1000" dirty="0"/>
          </a:p>
        </p:txBody>
      </p:sp>
      <p:sp>
        <p:nvSpPr>
          <p:cNvPr id="10" name="Shape 8"/>
          <p:cNvSpPr/>
          <p:nvPr/>
        </p:nvSpPr>
        <p:spPr>
          <a:xfrm>
            <a:off x="640080" y="1600200"/>
            <a:ext cx="2423160" cy="1691640"/>
          </a:xfrm>
          <a:prstGeom prst="rect">
            <a:avLst/>
          </a:prstGeom>
          <a:solidFill>
            <a:srgbClr val="FFFFFF"/>
          </a:solidFill>
          <a:ln w="15875">
            <a:solidFill>
              <a:srgbClr val="2A1F3D"/>
            </a:solidFill>
            <a:prstDash val="solid"/>
          </a:ln>
        </p:spPr>
      </p:sp>
      <p:sp>
        <p:nvSpPr>
          <p:cNvPr id="11" name="Text 9"/>
          <p:cNvSpPr/>
          <p:nvPr/>
        </p:nvSpPr>
        <p:spPr>
          <a:xfrm>
            <a:off x="640080" y="1325880"/>
            <a:ext cx="2423160" cy="237744"/>
          </a:xfrm>
          <a:prstGeom prst="rect">
            <a:avLst/>
          </a:prstGeom>
          <a:noFill/>
          <a:ln/>
        </p:spPr>
        <p:txBody>
          <a:bodyPr wrap="square" lIns="0" tIns="0" rIns="0" bIns="0" rtlCol="0" anchor="ctr"/>
          <a:lstStyle/>
          <a:p>
            <a:pPr algn="ctr" indent="0" marL="0">
              <a:buNone/>
            </a:pPr>
            <a:r>
              <a:rPr lang="en-US" sz="1000" b="1" dirty="0">
                <a:solidFill>
                  <a:srgbClr val="262B3A"/>
                </a:solidFill>
                <a:latin typeface="Calibri" pitchFamily="34" charset="0"/>
                <a:ea typeface="Calibri" pitchFamily="34" charset="-122"/>
                <a:cs typeface="Calibri" pitchFamily="34" charset="-120"/>
              </a:rPr>
              <a:t>Before mixing: H⁺ Cl⁻ + Na⁺ OH⁻</a:t>
            </a:r>
            <a:endParaRPr lang="en-US" sz="1000" dirty="0"/>
          </a:p>
        </p:txBody>
      </p:sp>
      <p:sp>
        <p:nvSpPr>
          <p:cNvPr id="12" name="Shape 10"/>
          <p:cNvSpPr/>
          <p:nvPr/>
        </p:nvSpPr>
        <p:spPr>
          <a:xfrm>
            <a:off x="3337560" y="1600200"/>
            <a:ext cx="2423160" cy="1691640"/>
          </a:xfrm>
          <a:prstGeom prst="rect">
            <a:avLst/>
          </a:prstGeom>
          <a:solidFill>
            <a:srgbClr val="FFFFFF"/>
          </a:solidFill>
          <a:ln w="15875">
            <a:solidFill>
              <a:srgbClr val="2A1F3D"/>
            </a:solidFill>
            <a:prstDash val="solid"/>
          </a:ln>
        </p:spPr>
      </p:sp>
      <p:sp>
        <p:nvSpPr>
          <p:cNvPr id="13" name="Text 11"/>
          <p:cNvSpPr/>
          <p:nvPr/>
        </p:nvSpPr>
        <p:spPr>
          <a:xfrm>
            <a:off x="3337560" y="1325880"/>
            <a:ext cx="2423160" cy="237744"/>
          </a:xfrm>
          <a:prstGeom prst="rect">
            <a:avLst/>
          </a:prstGeom>
          <a:noFill/>
          <a:ln/>
        </p:spPr>
        <p:txBody>
          <a:bodyPr wrap="square" lIns="0" tIns="0" rIns="0" bIns="0" rtlCol="0" anchor="ctr"/>
          <a:lstStyle/>
          <a:p>
            <a:pPr algn="ctr" indent="0" marL="0">
              <a:buNone/>
            </a:pPr>
            <a:r>
              <a:rPr lang="en-US" sz="1000" b="1" dirty="0">
                <a:solidFill>
                  <a:srgbClr val="262B3A"/>
                </a:solidFill>
                <a:latin typeface="Calibri" pitchFamily="34" charset="0"/>
                <a:ea typeface="Calibri" pitchFamily="34" charset="-122"/>
                <a:cs typeface="Calibri" pitchFamily="34" charset="-120"/>
              </a:rPr>
              <a:t>After: Na⁺ Cl⁻ + H₂O</a:t>
            </a:r>
            <a:endParaRPr lang="en-US" sz="1000" dirty="0"/>
          </a:p>
        </p:txBody>
      </p:sp>
      <p:sp>
        <p:nvSpPr>
          <p:cNvPr id="14" name="Shape 12"/>
          <p:cNvSpPr/>
          <p:nvPr/>
        </p:nvSpPr>
        <p:spPr>
          <a:xfrm>
            <a:off x="3090672" y="2450592"/>
            <a:ext cx="219456" cy="91"/>
          </a:xfrm>
          <a:prstGeom prst="line">
            <a:avLst/>
          </a:prstGeom>
          <a:noFill/>
          <a:ln w="25400">
            <a:solidFill>
              <a:srgbClr val="2A1F3D"/>
            </a:solidFill>
            <a:prstDash val="solid"/>
            <a:tailEnd type="triangle"/>
          </a:ln>
        </p:spPr>
      </p:sp>
      <p:sp>
        <p:nvSpPr>
          <p:cNvPr id="15" name="Shape 13"/>
          <p:cNvSpPr/>
          <p:nvPr/>
        </p:nvSpPr>
        <p:spPr>
          <a:xfrm>
            <a:off x="813816" y="1728216"/>
            <a:ext cx="292608" cy="292608"/>
          </a:xfrm>
          <a:prstGeom prst="ellipse">
            <a:avLst/>
          </a:prstGeom>
          <a:solidFill>
            <a:srgbClr val="F6B0A8"/>
          </a:solidFill>
          <a:ln w="12700">
            <a:solidFill>
              <a:srgbClr val="B7372B"/>
            </a:solidFill>
            <a:prstDash val="solid"/>
          </a:ln>
        </p:spPr>
      </p:sp>
      <p:sp>
        <p:nvSpPr>
          <p:cNvPr id="16" name="Text 14"/>
          <p:cNvSpPr/>
          <p:nvPr/>
        </p:nvSpPr>
        <p:spPr>
          <a:xfrm>
            <a:off x="722376" y="1728216"/>
            <a:ext cx="475488" cy="292608"/>
          </a:xfrm>
          <a:prstGeom prst="rect">
            <a:avLst/>
          </a:prstGeom>
          <a:noFill/>
          <a:ln/>
        </p:spPr>
        <p:txBody>
          <a:bodyPr wrap="square" lIns="0" tIns="0" rIns="0" bIns="0" rtlCol="0" anchor="ctr"/>
          <a:lstStyle/>
          <a:p>
            <a:pPr algn="ctr" indent="0" marL="0">
              <a:buNone/>
            </a:pPr>
            <a:r>
              <a:rPr lang="en-US" sz="900" b="1" dirty="0">
                <a:solidFill>
                  <a:srgbClr val="2A1F3D"/>
                </a:solidFill>
                <a:latin typeface="Calibri" pitchFamily="34" charset="0"/>
                <a:ea typeface="Calibri" pitchFamily="34" charset="-122"/>
                <a:cs typeface="Calibri" pitchFamily="34" charset="-120"/>
              </a:rPr>
              <a:t>H⁺</a:t>
            </a:r>
            <a:endParaRPr lang="en-US" sz="900" dirty="0"/>
          </a:p>
        </p:txBody>
      </p:sp>
      <p:sp>
        <p:nvSpPr>
          <p:cNvPr id="17" name="Shape 15"/>
          <p:cNvSpPr/>
          <p:nvPr/>
        </p:nvSpPr>
        <p:spPr>
          <a:xfrm>
            <a:off x="1453896" y="1773936"/>
            <a:ext cx="292608" cy="292608"/>
          </a:xfrm>
          <a:prstGeom prst="ellipse">
            <a:avLst/>
          </a:prstGeom>
          <a:solidFill>
            <a:srgbClr val="B9E0A8"/>
          </a:solidFill>
          <a:ln w="12700">
            <a:solidFill>
              <a:srgbClr val="3E7F2E"/>
            </a:solidFill>
            <a:prstDash val="solid"/>
          </a:ln>
        </p:spPr>
      </p:sp>
      <p:sp>
        <p:nvSpPr>
          <p:cNvPr id="18" name="Text 16"/>
          <p:cNvSpPr/>
          <p:nvPr/>
        </p:nvSpPr>
        <p:spPr>
          <a:xfrm>
            <a:off x="1362456" y="1773936"/>
            <a:ext cx="475488" cy="292608"/>
          </a:xfrm>
          <a:prstGeom prst="rect">
            <a:avLst/>
          </a:prstGeom>
          <a:noFill/>
          <a:ln/>
        </p:spPr>
        <p:txBody>
          <a:bodyPr wrap="square" lIns="0" tIns="0" rIns="0" bIns="0" rtlCol="0" anchor="ctr"/>
          <a:lstStyle/>
          <a:p>
            <a:pPr algn="ctr" indent="0" marL="0">
              <a:buNone/>
            </a:pPr>
            <a:r>
              <a:rPr lang="en-US" sz="900" b="1" dirty="0">
                <a:solidFill>
                  <a:srgbClr val="2A1F3D"/>
                </a:solidFill>
                <a:latin typeface="Calibri" pitchFamily="34" charset="0"/>
                <a:ea typeface="Calibri" pitchFamily="34" charset="-122"/>
                <a:cs typeface="Calibri" pitchFamily="34" charset="-120"/>
              </a:rPr>
              <a:t>Cl⁻</a:t>
            </a:r>
            <a:endParaRPr lang="en-US" sz="900" dirty="0"/>
          </a:p>
        </p:txBody>
      </p:sp>
      <p:sp>
        <p:nvSpPr>
          <p:cNvPr id="19" name="Shape 17"/>
          <p:cNvSpPr/>
          <p:nvPr/>
        </p:nvSpPr>
        <p:spPr>
          <a:xfrm>
            <a:off x="2231136" y="1682496"/>
            <a:ext cx="292608" cy="292608"/>
          </a:xfrm>
          <a:prstGeom prst="ellipse">
            <a:avLst/>
          </a:prstGeom>
          <a:solidFill>
            <a:srgbClr val="F6B0A8"/>
          </a:solidFill>
          <a:ln w="12700">
            <a:solidFill>
              <a:srgbClr val="B7372B"/>
            </a:solidFill>
            <a:prstDash val="solid"/>
          </a:ln>
        </p:spPr>
      </p:sp>
      <p:sp>
        <p:nvSpPr>
          <p:cNvPr id="20" name="Text 18"/>
          <p:cNvSpPr/>
          <p:nvPr/>
        </p:nvSpPr>
        <p:spPr>
          <a:xfrm>
            <a:off x="2139696" y="1682496"/>
            <a:ext cx="475488" cy="292608"/>
          </a:xfrm>
          <a:prstGeom prst="rect">
            <a:avLst/>
          </a:prstGeom>
          <a:noFill/>
          <a:ln/>
        </p:spPr>
        <p:txBody>
          <a:bodyPr wrap="square" lIns="0" tIns="0" rIns="0" bIns="0" rtlCol="0" anchor="ctr"/>
          <a:lstStyle/>
          <a:p>
            <a:pPr algn="ctr" indent="0" marL="0">
              <a:buNone/>
            </a:pPr>
            <a:r>
              <a:rPr lang="en-US" sz="900" b="1" dirty="0">
                <a:solidFill>
                  <a:srgbClr val="2A1F3D"/>
                </a:solidFill>
                <a:latin typeface="Calibri" pitchFamily="34" charset="0"/>
                <a:ea typeface="Calibri" pitchFamily="34" charset="-122"/>
                <a:cs typeface="Calibri" pitchFamily="34" charset="-120"/>
              </a:rPr>
              <a:t>H⁺</a:t>
            </a:r>
            <a:endParaRPr lang="en-US" sz="900" dirty="0"/>
          </a:p>
        </p:txBody>
      </p:sp>
      <p:sp>
        <p:nvSpPr>
          <p:cNvPr id="21" name="Shape 19"/>
          <p:cNvSpPr/>
          <p:nvPr/>
        </p:nvSpPr>
        <p:spPr>
          <a:xfrm>
            <a:off x="813816" y="2276856"/>
            <a:ext cx="292608" cy="292608"/>
          </a:xfrm>
          <a:prstGeom prst="ellipse">
            <a:avLst/>
          </a:prstGeom>
          <a:solidFill>
            <a:srgbClr val="B9E0A8"/>
          </a:solidFill>
          <a:ln w="12700">
            <a:solidFill>
              <a:srgbClr val="3E7F2E"/>
            </a:solidFill>
            <a:prstDash val="solid"/>
          </a:ln>
        </p:spPr>
      </p:sp>
      <p:sp>
        <p:nvSpPr>
          <p:cNvPr id="22" name="Text 20"/>
          <p:cNvSpPr/>
          <p:nvPr/>
        </p:nvSpPr>
        <p:spPr>
          <a:xfrm>
            <a:off x="722376" y="2276856"/>
            <a:ext cx="475488" cy="292608"/>
          </a:xfrm>
          <a:prstGeom prst="rect">
            <a:avLst/>
          </a:prstGeom>
          <a:noFill/>
          <a:ln/>
        </p:spPr>
        <p:txBody>
          <a:bodyPr wrap="square" lIns="0" tIns="0" rIns="0" bIns="0" rtlCol="0" anchor="ctr"/>
          <a:lstStyle/>
          <a:p>
            <a:pPr algn="ctr" indent="0" marL="0">
              <a:buNone/>
            </a:pPr>
            <a:r>
              <a:rPr lang="en-US" sz="900" b="1" dirty="0">
                <a:solidFill>
                  <a:srgbClr val="2A1F3D"/>
                </a:solidFill>
                <a:latin typeface="Calibri" pitchFamily="34" charset="0"/>
                <a:ea typeface="Calibri" pitchFamily="34" charset="-122"/>
                <a:cs typeface="Calibri" pitchFamily="34" charset="-120"/>
              </a:rPr>
              <a:t>Cl⁻</a:t>
            </a:r>
            <a:endParaRPr lang="en-US" sz="900" dirty="0"/>
          </a:p>
        </p:txBody>
      </p:sp>
      <p:sp>
        <p:nvSpPr>
          <p:cNvPr id="23" name="Shape 21"/>
          <p:cNvSpPr/>
          <p:nvPr/>
        </p:nvSpPr>
        <p:spPr>
          <a:xfrm>
            <a:off x="1499616" y="2322576"/>
            <a:ext cx="292608" cy="292608"/>
          </a:xfrm>
          <a:prstGeom prst="ellipse">
            <a:avLst/>
          </a:prstGeom>
          <a:solidFill>
            <a:srgbClr val="A9C8F0"/>
          </a:solidFill>
          <a:ln w="12700">
            <a:solidFill>
              <a:srgbClr val="2F5FA8"/>
            </a:solidFill>
            <a:prstDash val="solid"/>
          </a:ln>
        </p:spPr>
      </p:sp>
      <p:sp>
        <p:nvSpPr>
          <p:cNvPr id="24" name="Text 22"/>
          <p:cNvSpPr/>
          <p:nvPr/>
        </p:nvSpPr>
        <p:spPr>
          <a:xfrm>
            <a:off x="1408176" y="2322576"/>
            <a:ext cx="475488" cy="292608"/>
          </a:xfrm>
          <a:prstGeom prst="rect">
            <a:avLst/>
          </a:prstGeom>
          <a:noFill/>
          <a:ln/>
        </p:spPr>
        <p:txBody>
          <a:bodyPr wrap="square" lIns="0" tIns="0" rIns="0" bIns="0" rtlCol="0" anchor="ctr"/>
          <a:lstStyle/>
          <a:p>
            <a:pPr algn="ctr" indent="0" marL="0">
              <a:buNone/>
            </a:pPr>
            <a:r>
              <a:rPr lang="en-US" sz="900" b="1" dirty="0">
                <a:solidFill>
                  <a:srgbClr val="2A1F3D"/>
                </a:solidFill>
                <a:latin typeface="Calibri" pitchFamily="34" charset="0"/>
                <a:ea typeface="Calibri" pitchFamily="34" charset="-122"/>
                <a:cs typeface="Calibri" pitchFamily="34" charset="-120"/>
              </a:rPr>
              <a:t>OH⁻</a:t>
            </a:r>
            <a:endParaRPr lang="en-US" sz="900" dirty="0"/>
          </a:p>
        </p:txBody>
      </p:sp>
      <p:sp>
        <p:nvSpPr>
          <p:cNvPr id="25" name="Shape 23"/>
          <p:cNvSpPr/>
          <p:nvPr/>
        </p:nvSpPr>
        <p:spPr>
          <a:xfrm>
            <a:off x="2276856" y="2231136"/>
            <a:ext cx="292608" cy="292608"/>
          </a:xfrm>
          <a:prstGeom prst="ellipse">
            <a:avLst/>
          </a:prstGeom>
          <a:solidFill>
            <a:srgbClr val="F7E08A"/>
          </a:solidFill>
          <a:ln w="12700">
            <a:solidFill>
              <a:srgbClr val="9A7A1A"/>
            </a:solidFill>
            <a:prstDash val="solid"/>
          </a:ln>
        </p:spPr>
      </p:sp>
      <p:sp>
        <p:nvSpPr>
          <p:cNvPr id="26" name="Text 24"/>
          <p:cNvSpPr/>
          <p:nvPr/>
        </p:nvSpPr>
        <p:spPr>
          <a:xfrm>
            <a:off x="2185416" y="2231136"/>
            <a:ext cx="475488" cy="292608"/>
          </a:xfrm>
          <a:prstGeom prst="rect">
            <a:avLst/>
          </a:prstGeom>
          <a:noFill/>
          <a:ln/>
        </p:spPr>
        <p:txBody>
          <a:bodyPr wrap="square" lIns="0" tIns="0" rIns="0" bIns="0" rtlCol="0" anchor="ctr"/>
          <a:lstStyle/>
          <a:p>
            <a:pPr algn="ctr" indent="0" marL="0">
              <a:buNone/>
            </a:pPr>
            <a:r>
              <a:rPr lang="en-US" sz="900" b="1" dirty="0">
                <a:solidFill>
                  <a:srgbClr val="2A1F3D"/>
                </a:solidFill>
                <a:latin typeface="Calibri" pitchFamily="34" charset="0"/>
                <a:ea typeface="Calibri" pitchFamily="34" charset="-122"/>
                <a:cs typeface="Calibri" pitchFamily="34" charset="-120"/>
              </a:rPr>
              <a:t>Na⁺</a:t>
            </a:r>
            <a:endParaRPr lang="en-US" sz="900" dirty="0"/>
          </a:p>
        </p:txBody>
      </p:sp>
      <p:sp>
        <p:nvSpPr>
          <p:cNvPr id="27" name="Shape 25"/>
          <p:cNvSpPr/>
          <p:nvPr/>
        </p:nvSpPr>
        <p:spPr>
          <a:xfrm>
            <a:off x="768096" y="2825496"/>
            <a:ext cx="292608" cy="292608"/>
          </a:xfrm>
          <a:prstGeom prst="ellipse">
            <a:avLst/>
          </a:prstGeom>
          <a:solidFill>
            <a:srgbClr val="F7E08A"/>
          </a:solidFill>
          <a:ln w="12700">
            <a:solidFill>
              <a:srgbClr val="9A7A1A"/>
            </a:solidFill>
            <a:prstDash val="solid"/>
          </a:ln>
        </p:spPr>
      </p:sp>
      <p:sp>
        <p:nvSpPr>
          <p:cNvPr id="28" name="Text 26"/>
          <p:cNvSpPr/>
          <p:nvPr/>
        </p:nvSpPr>
        <p:spPr>
          <a:xfrm>
            <a:off x="676656" y="2825496"/>
            <a:ext cx="475488" cy="292608"/>
          </a:xfrm>
          <a:prstGeom prst="rect">
            <a:avLst/>
          </a:prstGeom>
          <a:noFill/>
          <a:ln/>
        </p:spPr>
        <p:txBody>
          <a:bodyPr wrap="square" lIns="0" tIns="0" rIns="0" bIns="0" rtlCol="0" anchor="ctr"/>
          <a:lstStyle/>
          <a:p>
            <a:pPr algn="ctr" indent="0" marL="0">
              <a:buNone/>
            </a:pPr>
            <a:r>
              <a:rPr lang="en-US" sz="900" b="1" dirty="0">
                <a:solidFill>
                  <a:srgbClr val="2A1F3D"/>
                </a:solidFill>
                <a:latin typeface="Calibri" pitchFamily="34" charset="0"/>
                <a:ea typeface="Calibri" pitchFamily="34" charset="-122"/>
                <a:cs typeface="Calibri" pitchFamily="34" charset="-120"/>
              </a:rPr>
              <a:t>Na⁺</a:t>
            </a:r>
            <a:endParaRPr lang="en-US" sz="900" dirty="0"/>
          </a:p>
        </p:txBody>
      </p:sp>
      <p:sp>
        <p:nvSpPr>
          <p:cNvPr id="29" name="Shape 27"/>
          <p:cNvSpPr/>
          <p:nvPr/>
        </p:nvSpPr>
        <p:spPr>
          <a:xfrm>
            <a:off x="1545336" y="2871216"/>
            <a:ext cx="292608" cy="292608"/>
          </a:xfrm>
          <a:prstGeom prst="ellipse">
            <a:avLst/>
          </a:prstGeom>
          <a:solidFill>
            <a:srgbClr val="A9C8F0"/>
          </a:solidFill>
          <a:ln w="12700">
            <a:solidFill>
              <a:srgbClr val="2F5FA8"/>
            </a:solidFill>
            <a:prstDash val="solid"/>
          </a:ln>
        </p:spPr>
      </p:sp>
      <p:sp>
        <p:nvSpPr>
          <p:cNvPr id="30" name="Text 28"/>
          <p:cNvSpPr/>
          <p:nvPr/>
        </p:nvSpPr>
        <p:spPr>
          <a:xfrm>
            <a:off x="1453896" y="2871216"/>
            <a:ext cx="475488" cy="292608"/>
          </a:xfrm>
          <a:prstGeom prst="rect">
            <a:avLst/>
          </a:prstGeom>
          <a:noFill/>
          <a:ln/>
        </p:spPr>
        <p:txBody>
          <a:bodyPr wrap="square" lIns="0" tIns="0" rIns="0" bIns="0" rtlCol="0" anchor="ctr"/>
          <a:lstStyle/>
          <a:p>
            <a:pPr algn="ctr" indent="0" marL="0">
              <a:buNone/>
            </a:pPr>
            <a:r>
              <a:rPr lang="en-US" sz="900" b="1" dirty="0">
                <a:solidFill>
                  <a:srgbClr val="2A1F3D"/>
                </a:solidFill>
                <a:latin typeface="Calibri" pitchFamily="34" charset="0"/>
                <a:ea typeface="Calibri" pitchFamily="34" charset="-122"/>
                <a:cs typeface="Calibri" pitchFamily="34" charset="-120"/>
              </a:rPr>
              <a:t>OH⁻</a:t>
            </a:r>
            <a:endParaRPr lang="en-US" sz="900" dirty="0"/>
          </a:p>
        </p:txBody>
      </p:sp>
      <p:sp>
        <p:nvSpPr>
          <p:cNvPr id="31" name="Shape 29"/>
          <p:cNvSpPr/>
          <p:nvPr/>
        </p:nvSpPr>
        <p:spPr>
          <a:xfrm>
            <a:off x="2368296" y="2825496"/>
            <a:ext cx="292608" cy="292608"/>
          </a:xfrm>
          <a:prstGeom prst="ellipse">
            <a:avLst/>
          </a:prstGeom>
          <a:solidFill>
            <a:srgbClr val="F7E08A"/>
          </a:solidFill>
          <a:ln w="12700">
            <a:solidFill>
              <a:srgbClr val="9A7A1A"/>
            </a:solidFill>
            <a:prstDash val="solid"/>
          </a:ln>
        </p:spPr>
      </p:sp>
      <p:sp>
        <p:nvSpPr>
          <p:cNvPr id="32" name="Text 30"/>
          <p:cNvSpPr/>
          <p:nvPr/>
        </p:nvSpPr>
        <p:spPr>
          <a:xfrm>
            <a:off x="2276856" y="2825496"/>
            <a:ext cx="475488" cy="292608"/>
          </a:xfrm>
          <a:prstGeom prst="rect">
            <a:avLst/>
          </a:prstGeom>
          <a:noFill/>
          <a:ln/>
        </p:spPr>
        <p:txBody>
          <a:bodyPr wrap="square" lIns="0" tIns="0" rIns="0" bIns="0" rtlCol="0" anchor="ctr"/>
          <a:lstStyle/>
          <a:p>
            <a:pPr algn="ctr" indent="0" marL="0">
              <a:buNone/>
            </a:pPr>
            <a:r>
              <a:rPr lang="en-US" sz="900" b="1" dirty="0">
                <a:solidFill>
                  <a:srgbClr val="2A1F3D"/>
                </a:solidFill>
                <a:latin typeface="Calibri" pitchFamily="34" charset="0"/>
                <a:ea typeface="Calibri" pitchFamily="34" charset="-122"/>
                <a:cs typeface="Calibri" pitchFamily="34" charset="-120"/>
              </a:rPr>
              <a:t>Na⁺</a:t>
            </a:r>
            <a:endParaRPr lang="en-US" sz="900" dirty="0"/>
          </a:p>
        </p:txBody>
      </p:sp>
      <p:sp>
        <p:nvSpPr>
          <p:cNvPr id="33" name="Shape 31"/>
          <p:cNvSpPr/>
          <p:nvPr/>
        </p:nvSpPr>
        <p:spPr>
          <a:xfrm>
            <a:off x="1133856" y="2551176"/>
            <a:ext cx="292608" cy="292608"/>
          </a:xfrm>
          <a:prstGeom prst="ellipse">
            <a:avLst/>
          </a:prstGeom>
          <a:solidFill>
            <a:srgbClr val="F6B0A8"/>
          </a:solidFill>
          <a:ln w="12700">
            <a:solidFill>
              <a:srgbClr val="B7372B"/>
            </a:solidFill>
            <a:prstDash val="solid"/>
          </a:ln>
        </p:spPr>
      </p:sp>
      <p:sp>
        <p:nvSpPr>
          <p:cNvPr id="34" name="Text 32"/>
          <p:cNvSpPr/>
          <p:nvPr/>
        </p:nvSpPr>
        <p:spPr>
          <a:xfrm>
            <a:off x="1042416" y="2551176"/>
            <a:ext cx="475488" cy="292608"/>
          </a:xfrm>
          <a:prstGeom prst="rect">
            <a:avLst/>
          </a:prstGeom>
          <a:noFill/>
          <a:ln/>
        </p:spPr>
        <p:txBody>
          <a:bodyPr wrap="square" lIns="0" tIns="0" rIns="0" bIns="0" rtlCol="0" anchor="ctr"/>
          <a:lstStyle/>
          <a:p>
            <a:pPr algn="ctr" indent="0" marL="0">
              <a:buNone/>
            </a:pPr>
            <a:r>
              <a:rPr lang="en-US" sz="900" b="1" dirty="0">
                <a:solidFill>
                  <a:srgbClr val="2A1F3D"/>
                </a:solidFill>
                <a:latin typeface="Calibri" pitchFamily="34" charset="0"/>
                <a:ea typeface="Calibri" pitchFamily="34" charset="-122"/>
                <a:cs typeface="Calibri" pitchFamily="34" charset="-120"/>
              </a:rPr>
              <a:t>H⁺</a:t>
            </a:r>
            <a:endParaRPr lang="en-US" sz="900" dirty="0"/>
          </a:p>
        </p:txBody>
      </p:sp>
      <p:sp>
        <p:nvSpPr>
          <p:cNvPr id="35" name="Shape 33"/>
          <p:cNvSpPr/>
          <p:nvPr/>
        </p:nvSpPr>
        <p:spPr>
          <a:xfrm>
            <a:off x="1911096" y="2596896"/>
            <a:ext cx="292608" cy="292608"/>
          </a:xfrm>
          <a:prstGeom prst="ellipse">
            <a:avLst/>
          </a:prstGeom>
          <a:solidFill>
            <a:srgbClr val="B9E0A8"/>
          </a:solidFill>
          <a:ln w="12700">
            <a:solidFill>
              <a:srgbClr val="3E7F2E"/>
            </a:solidFill>
            <a:prstDash val="solid"/>
          </a:ln>
        </p:spPr>
      </p:sp>
      <p:sp>
        <p:nvSpPr>
          <p:cNvPr id="36" name="Text 34"/>
          <p:cNvSpPr/>
          <p:nvPr/>
        </p:nvSpPr>
        <p:spPr>
          <a:xfrm>
            <a:off x="1819656" y="2596896"/>
            <a:ext cx="475488" cy="292608"/>
          </a:xfrm>
          <a:prstGeom prst="rect">
            <a:avLst/>
          </a:prstGeom>
          <a:noFill/>
          <a:ln/>
        </p:spPr>
        <p:txBody>
          <a:bodyPr wrap="square" lIns="0" tIns="0" rIns="0" bIns="0" rtlCol="0" anchor="ctr"/>
          <a:lstStyle/>
          <a:p>
            <a:pPr algn="ctr" indent="0" marL="0">
              <a:buNone/>
            </a:pPr>
            <a:r>
              <a:rPr lang="en-US" sz="900" b="1" dirty="0">
                <a:solidFill>
                  <a:srgbClr val="2A1F3D"/>
                </a:solidFill>
                <a:latin typeface="Calibri" pitchFamily="34" charset="0"/>
                <a:ea typeface="Calibri" pitchFamily="34" charset="-122"/>
                <a:cs typeface="Calibri" pitchFamily="34" charset="-120"/>
              </a:rPr>
              <a:t>Cl⁻</a:t>
            </a:r>
            <a:endParaRPr lang="en-US" sz="900" dirty="0"/>
          </a:p>
        </p:txBody>
      </p:sp>
      <p:sp>
        <p:nvSpPr>
          <p:cNvPr id="37" name="Shape 35"/>
          <p:cNvSpPr/>
          <p:nvPr/>
        </p:nvSpPr>
        <p:spPr>
          <a:xfrm>
            <a:off x="1956816" y="2029968"/>
            <a:ext cx="292608" cy="292608"/>
          </a:xfrm>
          <a:prstGeom prst="ellipse">
            <a:avLst/>
          </a:prstGeom>
          <a:solidFill>
            <a:srgbClr val="A9C8F0"/>
          </a:solidFill>
          <a:ln w="12700">
            <a:solidFill>
              <a:srgbClr val="2F5FA8"/>
            </a:solidFill>
            <a:prstDash val="solid"/>
          </a:ln>
        </p:spPr>
      </p:sp>
      <p:sp>
        <p:nvSpPr>
          <p:cNvPr id="38" name="Text 36"/>
          <p:cNvSpPr/>
          <p:nvPr/>
        </p:nvSpPr>
        <p:spPr>
          <a:xfrm>
            <a:off x="1865376" y="2029968"/>
            <a:ext cx="475488" cy="292608"/>
          </a:xfrm>
          <a:prstGeom prst="rect">
            <a:avLst/>
          </a:prstGeom>
          <a:noFill/>
          <a:ln/>
        </p:spPr>
        <p:txBody>
          <a:bodyPr wrap="square" lIns="0" tIns="0" rIns="0" bIns="0" rtlCol="0" anchor="ctr"/>
          <a:lstStyle/>
          <a:p>
            <a:pPr algn="ctr" indent="0" marL="0">
              <a:buNone/>
            </a:pPr>
            <a:r>
              <a:rPr lang="en-US" sz="900" b="1" dirty="0">
                <a:solidFill>
                  <a:srgbClr val="2A1F3D"/>
                </a:solidFill>
                <a:latin typeface="Calibri" pitchFamily="34" charset="0"/>
                <a:ea typeface="Calibri" pitchFamily="34" charset="-122"/>
                <a:cs typeface="Calibri" pitchFamily="34" charset="-120"/>
              </a:rPr>
              <a:t>OH⁻</a:t>
            </a:r>
            <a:endParaRPr lang="en-US" sz="900" dirty="0"/>
          </a:p>
        </p:txBody>
      </p:sp>
      <p:sp>
        <p:nvSpPr>
          <p:cNvPr id="39" name="Shape 37"/>
          <p:cNvSpPr/>
          <p:nvPr/>
        </p:nvSpPr>
        <p:spPr>
          <a:xfrm>
            <a:off x="3557016" y="1728216"/>
            <a:ext cx="292608" cy="292608"/>
          </a:xfrm>
          <a:prstGeom prst="ellipse">
            <a:avLst/>
          </a:prstGeom>
          <a:solidFill>
            <a:srgbClr val="F7E08A"/>
          </a:solidFill>
          <a:ln w="12700">
            <a:solidFill>
              <a:srgbClr val="9A7A1A"/>
            </a:solidFill>
            <a:prstDash val="solid"/>
          </a:ln>
        </p:spPr>
      </p:sp>
      <p:sp>
        <p:nvSpPr>
          <p:cNvPr id="40" name="Text 38"/>
          <p:cNvSpPr/>
          <p:nvPr/>
        </p:nvSpPr>
        <p:spPr>
          <a:xfrm>
            <a:off x="3465576" y="1728216"/>
            <a:ext cx="475488" cy="292608"/>
          </a:xfrm>
          <a:prstGeom prst="rect">
            <a:avLst/>
          </a:prstGeom>
          <a:noFill/>
          <a:ln/>
        </p:spPr>
        <p:txBody>
          <a:bodyPr wrap="square" lIns="0" tIns="0" rIns="0" bIns="0" rtlCol="0" anchor="ctr"/>
          <a:lstStyle/>
          <a:p>
            <a:pPr algn="ctr" indent="0" marL="0">
              <a:buNone/>
            </a:pPr>
            <a:r>
              <a:rPr lang="en-US" sz="900" b="1" dirty="0">
                <a:solidFill>
                  <a:srgbClr val="2A1F3D"/>
                </a:solidFill>
                <a:latin typeface="Calibri" pitchFamily="34" charset="0"/>
                <a:ea typeface="Calibri" pitchFamily="34" charset="-122"/>
                <a:cs typeface="Calibri" pitchFamily="34" charset="-120"/>
              </a:rPr>
              <a:t>Na⁺</a:t>
            </a:r>
            <a:endParaRPr lang="en-US" sz="900" dirty="0"/>
          </a:p>
        </p:txBody>
      </p:sp>
      <p:sp>
        <p:nvSpPr>
          <p:cNvPr id="41" name="Shape 39"/>
          <p:cNvSpPr/>
          <p:nvPr/>
        </p:nvSpPr>
        <p:spPr>
          <a:xfrm>
            <a:off x="4288536" y="1728216"/>
            <a:ext cx="292608" cy="292608"/>
          </a:xfrm>
          <a:prstGeom prst="ellipse">
            <a:avLst/>
          </a:prstGeom>
          <a:solidFill>
            <a:srgbClr val="B9E0A8"/>
          </a:solidFill>
          <a:ln w="12700">
            <a:solidFill>
              <a:srgbClr val="3E7F2E"/>
            </a:solidFill>
            <a:prstDash val="solid"/>
          </a:ln>
        </p:spPr>
      </p:sp>
      <p:sp>
        <p:nvSpPr>
          <p:cNvPr id="42" name="Text 40"/>
          <p:cNvSpPr/>
          <p:nvPr/>
        </p:nvSpPr>
        <p:spPr>
          <a:xfrm>
            <a:off x="4197096" y="1728216"/>
            <a:ext cx="475488" cy="292608"/>
          </a:xfrm>
          <a:prstGeom prst="rect">
            <a:avLst/>
          </a:prstGeom>
          <a:noFill/>
          <a:ln/>
        </p:spPr>
        <p:txBody>
          <a:bodyPr wrap="square" lIns="0" tIns="0" rIns="0" bIns="0" rtlCol="0" anchor="ctr"/>
          <a:lstStyle/>
          <a:p>
            <a:pPr algn="ctr" indent="0" marL="0">
              <a:buNone/>
            </a:pPr>
            <a:r>
              <a:rPr lang="en-US" sz="900" b="1" dirty="0">
                <a:solidFill>
                  <a:srgbClr val="2A1F3D"/>
                </a:solidFill>
                <a:latin typeface="Calibri" pitchFamily="34" charset="0"/>
                <a:ea typeface="Calibri" pitchFamily="34" charset="-122"/>
                <a:cs typeface="Calibri" pitchFamily="34" charset="-120"/>
              </a:rPr>
              <a:t>Cl⁻</a:t>
            </a:r>
            <a:endParaRPr lang="en-US" sz="900" dirty="0"/>
          </a:p>
        </p:txBody>
      </p:sp>
      <p:sp>
        <p:nvSpPr>
          <p:cNvPr id="43" name="Shape 41"/>
          <p:cNvSpPr/>
          <p:nvPr/>
        </p:nvSpPr>
        <p:spPr>
          <a:xfrm>
            <a:off x="5111496" y="1773936"/>
            <a:ext cx="292608" cy="292608"/>
          </a:xfrm>
          <a:prstGeom prst="ellipse">
            <a:avLst/>
          </a:prstGeom>
          <a:solidFill>
            <a:srgbClr val="F7E08A"/>
          </a:solidFill>
          <a:ln w="12700">
            <a:solidFill>
              <a:srgbClr val="9A7A1A"/>
            </a:solidFill>
            <a:prstDash val="solid"/>
          </a:ln>
        </p:spPr>
      </p:sp>
      <p:sp>
        <p:nvSpPr>
          <p:cNvPr id="44" name="Text 42"/>
          <p:cNvSpPr/>
          <p:nvPr/>
        </p:nvSpPr>
        <p:spPr>
          <a:xfrm>
            <a:off x="5020056" y="1773936"/>
            <a:ext cx="475488" cy="292608"/>
          </a:xfrm>
          <a:prstGeom prst="rect">
            <a:avLst/>
          </a:prstGeom>
          <a:noFill/>
          <a:ln/>
        </p:spPr>
        <p:txBody>
          <a:bodyPr wrap="square" lIns="0" tIns="0" rIns="0" bIns="0" rtlCol="0" anchor="ctr"/>
          <a:lstStyle/>
          <a:p>
            <a:pPr algn="ctr" indent="0" marL="0">
              <a:buNone/>
            </a:pPr>
            <a:r>
              <a:rPr lang="en-US" sz="900" b="1" dirty="0">
                <a:solidFill>
                  <a:srgbClr val="2A1F3D"/>
                </a:solidFill>
                <a:latin typeface="Calibri" pitchFamily="34" charset="0"/>
                <a:ea typeface="Calibri" pitchFamily="34" charset="-122"/>
                <a:cs typeface="Calibri" pitchFamily="34" charset="-120"/>
              </a:rPr>
              <a:t>Na⁺</a:t>
            </a:r>
            <a:endParaRPr lang="en-US" sz="900" dirty="0"/>
          </a:p>
        </p:txBody>
      </p:sp>
      <p:sp>
        <p:nvSpPr>
          <p:cNvPr id="45" name="Shape 43"/>
          <p:cNvSpPr/>
          <p:nvPr/>
        </p:nvSpPr>
        <p:spPr>
          <a:xfrm>
            <a:off x="3511296" y="2843784"/>
            <a:ext cx="292608" cy="292608"/>
          </a:xfrm>
          <a:prstGeom prst="ellipse">
            <a:avLst/>
          </a:prstGeom>
          <a:solidFill>
            <a:srgbClr val="B9E0A8"/>
          </a:solidFill>
          <a:ln w="12700">
            <a:solidFill>
              <a:srgbClr val="3E7F2E"/>
            </a:solidFill>
            <a:prstDash val="solid"/>
          </a:ln>
        </p:spPr>
      </p:sp>
      <p:sp>
        <p:nvSpPr>
          <p:cNvPr id="46" name="Text 44"/>
          <p:cNvSpPr/>
          <p:nvPr/>
        </p:nvSpPr>
        <p:spPr>
          <a:xfrm>
            <a:off x="3419856" y="2843784"/>
            <a:ext cx="475488" cy="292608"/>
          </a:xfrm>
          <a:prstGeom prst="rect">
            <a:avLst/>
          </a:prstGeom>
          <a:noFill/>
          <a:ln/>
        </p:spPr>
        <p:txBody>
          <a:bodyPr wrap="square" lIns="0" tIns="0" rIns="0" bIns="0" rtlCol="0" anchor="ctr"/>
          <a:lstStyle/>
          <a:p>
            <a:pPr algn="ctr" indent="0" marL="0">
              <a:buNone/>
            </a:pPr>
            <a:r>
              <a:rPr lang="en-US" sz="900" b="1" dirty="0">
                <a:solidFill>
                  <a:srgbClr val="2A1F3D"/>
                </a:solidFill>
                <a:latin typeface="Calibri" pitchFamily="34" charset="0"/>
                <a:ea typeface="Calibri" pitchFamily="34" charset="-122"/>
                <a:cs typeface="Calibri" pitchFamily="34" charset="-120"/>
              </a:rPr>
              <a:t>Cl⁻</a:t>
            </a:r>
            <a:endParaRPr lang="en-US" sz="900" dirty="0"/>
          </a:p>
        </p:txBody>
      </p:sp>
      <p:sp>
        <p:nvSpPr>
          <p:cNvPr id="47" name="Shape 45"/>
          <p:cNvSpPr/>
          <p:nvPr/>
        </p:nvSpPr>
        <p:spPr>
          <a:xfrm>
            <a:off x="4288536" y="2843784"/>
            <a:ext cx="292608" cy="292608"/>
          </a:xfrm>
          <a:prstGeom prst="ellipse">
            <a:avLst/>
          </a:prstGeom>
          <a:solidFill>
            <a:srgbClr val="F7E08A"/>
          </a:solidFill>
          <a:ln w="12700">
            <a:solidFill>
              <a:srgbClr val="9A7A1A"/>
            </a:solidFill>
            <a:prstDash val="solid"/>
          </a:ln>
        </p:spPr>
      </p:sp>
      <p:sp>
        <p:nvSpPr>
          <p:cNvPr id="48" name="Text 46"/>
          <p:cNvSpPr/>
          <p:nvPr/>
        </p:nvSpPr>
        <p:spPr>
          <a:xfrm>
            <a:off x="4197096" y="2843784"/>
            <a:ext cx="475488" cy="292608"/>
          </a:xfrm>
          <a:prstGeom prst="rect">
            <a:avLst/>
          </a:prstGeom>
          <a:noFill/>
          <a:ln/>
        </p:spPr>
        <p:txBody>
          <a:bodyPr wrap="square" lIns="0" tIns="0" rIns="0" bIns="0" rtlCol="0" anchor="ctr"/>
          <a:lstStyle/>
          <a:p>
            <a:pPr algn="ctr" indent="0" marL="0">
              <a:buNone/>
            </a:pPr>
            <a:r>
              <a:rPr lang="en-US" sz="900" b="1" dirty="0">
                <a:solidFill>
                  <a:srgbClr val="2A1F3D"/>
                </a:solidFill>
                <a:latin typeface="Calibri" pitchFamily="34" charset="0"/>
                <a:ea typeface="Calibri" pitchFamily="34" charset="-122"/>
                <a:cs typeface="Calibri" pitchFamily="34" charset="-120"/>
              </a:rPr>
              <a:t>Na⁺</a:t>
            </a:r>
            <a:endParaRPr lang="en-US" sz="900" dirty="0"/>
          </a:p>
        </p:txBody>
      </p:sp>
      <p:sp>
        <p:nvSpPr>
          <p:cNvPr id="49" name="Shape 47"/>
          <p:cNvSpPr/>
          <p:nvPr/>
        </p:nvSpPr>
        <p:spPr>
          <a:xfrm>
            <a:off x="5157216" y="2843784"/>
            <a:ext cx="292608" cy="292608"/>
          </a:xfrm>
          <a:prstGeom prst="ellipse">
            <a:avLst/>
          </a:prstGeom>
          <a:solidFill>
            <a:srgbClr val="B9E0A8"/>
          </a:solidFill>
          <a:ln w="12700">
            <a:solidFill>
              <a:srgbClr val="3E7F2E"/>
            </a:solidFill>
            <a:prstDash val="solid"/>
          </a:ln>
        </p:spPr>
      </p:sp>
      <p:sp>
        <p:nvSpPr>
          <p:cNvPr id="50" name="Text 48"/>
          <p:cNvSpPr/>
          <p:nvPr/>
        </p:nvSpPr>
        <p:spPr>
          <a:xfrm>
            <a:off x="5065776" y="2843784"/>
            <a:ext cx="475488" cy="292608"/>
          </a:xfrm>
          <a:prstGeom prst="rect">
            <a:avLst/>
          </a:prstGeom>
          <a:noFill/>
          <a:ln/>
        </p:spPr>
        <p:txBody>
          <a:bodyPr wrap="square" lIns="0" tIns="0" rIns="0" bIns="0" rtlCol="0" anchor="ctr"/>
          <a:lstStyle/>
          <a:p>
            <a:pPr algn="ctr" indent="0" marL="0">
              <a:buNone/>
            </a:pPr>
            <a:r>
              <a:rPr lang="en-US" sz="900" b="1" dirty="0">
                <a:solidFill>
                  <a:srgbClr val="2A1F3D"/>
                </a:solidFill>
                <a:latin typeface="Calibri" pitchFamily="34" charset="0"/>
                <a:ea typeface="Calibri" pitchFamily="34" charset="-122"/>
                <a:cs typeface="Calibri" pitchFamily="34" charset="-120"/>
              </a:rPr>
              <a:t>Cl⁻</a:t>
            </a:r>
            <a:endParaRPr lang="en-US" sz="900" dirty="0"/>
          </a:p>
        </p:txBody>
      </p:sp>
      <p:sp>
        <p:nvSpPr>
          <p:cNvPr id="51" name="Shape 49"/>
          <p:cNvSpPr/>
          <p:nvPr/>
        </p:nvSpPr>
        <p:spPr>
          <a:xfrm>
            <a:off x="3718225" y="2390516"/>
            <a:ext cx="124724" cy="124724"/>
          </a:xfrm>
          <a:prstGeom prst="ellipse">
            <a:avLst/>
          </a:prstGeom>
          <a:solidFill>
            <a:srgbClr val="FFFFFF"/>
          </a:solidFill>
          <a:ln w="9525">
            <a:solidFill>
              <a:srgbClr val="8A8F99"/>
            </a:solidFill>
            <a:prstDash val="solid"/>
          </a:ln>
        </p:spPr>
      </p:sp>
      <p:sp>
        <p:nvSpPr>
          <p:cNvPr id="52" name="Shape 50"/>
          <p:cNvSpPr/>
          <p:nvPr/>
        </p:nvSpPr>
        <p:spPr>
          <a:xfrm>
            <a:off x="3929451" y="2390516"/>
            <a:ext cx="124724" cy="124724"/>
          </a:xfrm>
          <a:prstGeom prst="ellipse">
            <a:avLst/>
          </a:prstGeom>
          <a:solidFill>
            <a:srgbClr val="FFFFFF"/>
          </a:solidFill>
          <a:ln w="9525">
            <a:solidFill>
              <a:srgbClr val="8A8F99"/>
            </a:solidFill>
            <a:prstDash val="solid"/>
          </a:ln>
        </p:spPr>
      </p:sp>
      <p:sp>
        <p:nvSpPr>
          <p:cNvPr id="53" name="Shape 51"/>
          <p:cNvSpPr/>
          <p:nvPr/>
        </p:nvSpPr>
        <p:spPr>
          <a:xfrm>
            <a:off x="3785616" y="2276856"/>
            <a:ext cx="201168" cy="201168"/>
          </a:xfrm>
          <a:prstGeom prst="ellipse">
            <a:avLst/>
          </a:prstGeom>
          <a:solidFill>
            <a:srgbClr val="E06666"/>
          </a:solidFill>
          <a:ln w="9525">
            <a:solidFill>
              <a:srgbClr val="9E2A2A"/>
            </a:solidFill>
            <a:prstDash val="solid"/>
          </a:ln>
        </p:spPr>
      </p:sp>
      <p:sp>
        <p:nvSpPr>
          <p:cNvPr id="54" name="Shape 52"/>
          <p:cNvSpPr/>
          <p:nvPr/>
        </p:nvSpPr>
        <p:spPr>
          <a:xfrm>
            <a:off x="4404025" y="2436236"/>
            <a:ext cx="124724" cy="124724"/>
          </a:xfrm>
          <a:prstGeom prst="ellipse">
            <a:avLst/>
          </a:prstGeom>
          <a:solidFill>
            <a:srgbClr val="FFFFFF"/>
          </a:solidFill>
          <a:ln w="9525">
            <a:solidFill>
              <a:srgbClr val="8A8F99"/>
            </a:solidFill>
            <a:prstDash val="solid"/>
          </a:ln>
        </p:spPr>
      </p:sp>
      <p:sp>
        <p:nvSpPr>
          <p:cNvPr id="55" name="Shape 53"/>
          <p:cNvSpPr/>
          <p:nvPr/>
        </p:nvSpPr>
        <p:spPr>
          <a:xfrm>
            <a:off x="4615251" y="2436236"/>
            <a:ext cx="124724" cy="124724"/>
          </a:xfrm>
          <a:prstGeom prst="ellipse">
            <a:avLst/>
          </a:prstGeom>
          <a:solidFill>
            <a:srgbClr val="FFFFFF"/>
          </a:solidFill>
          <a:ln w="9525">
            <a:solidFill>
              <a:srgbClr val="8A8F99"/>
            </a:solidFill>
            <a:prstDash val="solid"/>
          </a:ln>
        </p:spPr>
      </p:sp>
      <p:sp>
        <p:nvSpPr>
          <p:cNvPr id="56" name="Shape 54"/>
          <p:cNvSpPr/>
          <p:nvPr/>
        </p:nvSpPr>
        <p:spPr>
          <a:xfrm>
            <a:off x="4471416" y="2322576"/>
            <a:ext cx="201168" cy="201168"/>
          </a:xfrm>
          <a:prstGeom prst="ellipse">
            <a:avLst/>
          </a:prstGeom>
          <a:solidFill>
            <a:srgbClr val="E06666"/>
          </a:solidFill>
          <a:ln w="9525">
            <a:solidFill>
              <a:srgbClr val="9E2A2A"/>
            </a:solidFill>
            <a:prstDash val="solid"/>
          </a:ln>
        </p:spPr>
      </p:sp>
      <p:sp>
        <p:nvSpPr>
          <p:cNvPr id="57" name="Shape 55"/>
          <p:cNvSpPr/>
          <p:nvPr/>
        </p:nvSpPr>
        <p:spPr>
          <a:xfrm>
            <a:off x="5089825" y="2436236"/>
            <a:ext cx="124724" cy="124724"/>
          </a:xfrm>
          <a:prstGeom prst="ellipse">
            <a:avLst/>
          </a:prstGeom>
          <a:solidFill>
            <a:srgbClr val="FFFFFF"/>
          </a:solidFill>
          <a:ln w="9525">
            <a:solidFill>
              <a:srgbClr val="8A8F99"/>
            </a:solidFill>
            <a:prstDash val="solid"/>
          </a:ln>
        </p:spPr>
      </p:sp>
      <p:sp>
        <p:nvSpPr>
          <p:cNvPr id="58" name="Shape 56"/>
          <p:cNvSpPr/>
          <p:nvPr/>
        </p:nvSpPr>
        <p:spPr>
          <a:xfrm>
            <a:off x="5301051" y="2436236"/>
            <a:ext cx="124724" cy="124724"/>
          </a:xfrm>
          <a:prstGeom prst="ellipse">
            <a:avLst/>
          </a:prstGeom>
          <a:solidFill>
            <a:srgbClr val="FFFFFF"/>
          </a:solidFill>
          <a:ln w="9525">
            <a:solidFill>
              <a:srgbClr val="8A8F99"/>
            </a:solidFill>
            <a:prstDash val="solid"/>
          </a:ln>
        </p:spPr>
      </p:sp>
      <p:sp>
        <p:nvSpPr>
          <p:cNvPr id="59" name="Shape 57"/>
          <p:cNvSpPr/>
          <p:nvPr/>
        </p:nvSpPr>
        <p:spPr>
          <a:xfrm>
            <a:off x="5157216" y="2322576"/>
            <a:ext cx="201168" cy="201168"/>
          </a:xfrm>
          <a:prstGeom prst="ellipse">
            <a:avLst/>
          </a:prstGeom>
          <a:solidFill>
            <a:srgbClr val="E06666"/>
          </a:solidFill>
          <a:ln w="9525">
            <a:solidFill>
              <a:srgbClr val="9E2A2A"/>
            </a:solidFill>
            <a:prstDash val="solid"/>
          </a:ln>
        </p:spPr>
      </p:sp>
      <p:sp>
        <p:nvSpPr>
          <p:cNvPr id="60" name="Shape 58"/>
          <p:cNvSpPr/>
          <p:nvPr/>
        </p:nvSpPr>
        <p:spPr>
          <a:xfrm>
            <a:off x="640080" y="3401568"/>
            <a:ext cx="5120640" cy="347472"/>
          </a:xfrm>
          <a:prstGeom prst="roundRect">
            <a:avLst>
              <a:gd name="adj" fmla="val 13158"/>
            </a:avLst>
          </a:prstGeom>
          <a:solidFill>
            <a:srgbClr val="FFFFFF"/>
          </a:solidFill>
          <a:ln w="12700">
            <a:solidFill>
              <a:srgbClr val="DDD3EC"/>
            </a:solidFill>
            <a:prstDash val="solid"/>
          </a:ln>
        </p:spPr>
      </p:sp>
      <p:sp>
        <p:nvSpPr>
          <p:cNvPr id="61" name="Text 59"/>
          <p:cNvSpPr/>
          <p:nvPr/>
        </p:nvSpPr>
        <p:spPr>
          <a:xfrm>
            <a:off x="713232" y="3401568"/>
            <a:ext cx="4974336" cy="347472"/>
          </a:xfrm>
          <a:prstGeom prst="rect">
            <a:avLst/>
          </a:prstGeom>
          <a:noFill/>
          <a:ln/>
        </p:spPr>
        <p:txBody>
          <a:bodyPr wrap="square" lIns="0" tIns="0" rIns="0" bIns="0" rtlCol="0" anchor="ctr"/>
          <a:lstStyle/>
          <a:p>
            <a:pPr algn="ctr" indent="0" marL="0">
              <a:buNone/>
            </a:pPr>
            <a:r>
              <a:rPr lang="en-US" sz="1200" b="1" dirty="0">
                <a:solidFill>
                  <a:srgbClr val="2A1F3D"/>
                </a:solidFill>
                <a:latin typeface="Calibri" pitchFamily="34" charset="0"/>
                <a:ea typeface="Calibri" pitchFamily="34" charset="-122"/>
                <a:cs typeface="Calibri" pitchFamily="34" charset="-120"/>
              </a:rPr>
              <a:t>HCl(aq) + NaOH(aq) → NaCl(aq) + H₂O(l)</a:t>
            </a:r>
            <a:endParaRPr lang="en-US" sz="1200" dirty="0"/>
          </a:p>
        </p:txBody>
      </p:sp>
      <p:sp>
        <p:nvSpPr>
          <p:cNvPr id="62" name="Shape 60"/>
          <p:cNvSpPr/>
          <p:nvPr/>
        </p:nvSpPr>
        <p:spPr>
          <a:xfrm>
            <a:off x="640080" y="3813048"/>
            <a:ext cx="5120640" cy="347472"/>
          </a:xfrm>
          <a:prstGeom prst="roundRect">
            <a:avLst>
              <a:gd name="adj" fmla="val 13158"/>
            </a:avLst>
          </a:prstGeom>
          <a:solidFill>
            <a:srgbClr val="E8F4EC"/>
          </a:solidFill>
          <a:ln w="12700">
            <a:solidFill>
              <a:srgbClr val="2E8B57"/>
            </a:solidFill>
            <a:prstDash val="solid"/>
          </a:ln>
        </p:spPr>
      </p:sp>
      <p:sp>
        <p:nvSpPr>
          <p:cNvPr id="63" name="Text 61"/>
          <p:cNvSpPr/>
          <p:nvPr/>
        </p:nvSpPr>
        <p:spPr>
          <a:xfrm>
            <a:off x="713232" y="3813048"/>
            <a:ext cx="4974336" cy="347472"/>
          </a:xfrm>
          <a:prstGeom prst="rect">
            <a:avLst/>
          </a:prstGeom>
          <a:noFill/>
          <a:ln/>
        </p:spPr>
        <p:txBody>
          <a:bodyPr wrap="square" lIns="0" tIns="0" rIns="0" bIns="0" rtlCol="0" anchor="ctr"/>
          <a:lstStyle/>
          <a:p>
            <a:pPr algn="ctr" indent="0" marL="0">
              <a:buNone/>
            </a:pPr>
            <a:r>
              <a:rPr lang="en-US" sz="1200" b="1" dirty="0">
                <a:solidFill>
                  <a:srgbClr val="2A1F3D"/>
                </a:solidFill>
                <a:latin typeface="Calibri" pitchFamily="34" charset="0"/>
                <a:ea typeface="Calibri" pitchFamily="34" charset="-122"/>
                <a:cs typeface="Calibri" pitchFamily="34" charset="-120"/>
              </a:rPr>
              <a:t>Ionic: H⁺(aq) + OH⁻(aq) → H₂O(l)</a:t>
            </a:r>
            <a:endParaRPr lang="en-US" sz="12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40080" y="4251960"/>
          <a:ext cx="5120640" cy="914400"/>
        </p:xfrm>
        <a:graphic>
          <a:graphicData uri="http://schemas.openxmlformats.org/drawingml/2006/table">
            <a:tbl>
              <a:tblPr/>
              <a:tblGrid>
                <a:gridCol w="1463040"/>
                <a:gridCol w="1645920"/>
                <a:gridCol w="2011680"/>
              </a:tblGrid>
              <a:tr h="219456">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Acid</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2A1F3D"/>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Salt name ends</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2A1F3D"/>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Example salt</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2A1F3D"/>
                    </a:solidFill>
                  </a:tcPr>
                </a:tc>
              </a:tr>
              <a:tr h="219456">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hydrochloric</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000" b="1" dirty="0">
                          <a:solidFill>
                            <a:srgbClr val="262B3A"/>
                          </a:solidFill>
                          <a:latin typeface="Calibri" pitchFamily="34" charset="0"/>
                          <a:ea typeface="Calibri" pitchFamily="34" charset="-122"/>
                          <a:cs typeface="Calibri" pitchFamily="34" charset="-120"/>
                        </a:rPr>
                        <a:t>…chloride</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sodium chloride</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8F5FC"/>
                    </a:solidFill>
                  </a:tcPr>
                </a:tc>
              </a:tr>
              <a:tr h="219456">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sulfuric</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262B3A"/>
                          </a:solidFill>
                          <a:latin typeface="Calibri" pitchFamily="34" charset="0"/>
                          <a:ea typeface="Calibri" pitchFamily="34" charset="-122"/>
                          <a:cs typeface="Calibri" pitchFamily="34" charset="-120"/>
                        </a:rPr>
                        <a:t>…sulfate</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FFFFF"/>
                    </a:solidFill>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copper sulfate</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FFFFF"/>
                    </a:solidFill>
                  </a:tcPr>
                </a:tc>
              </a:tr>
              <a:tr h="219456">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nitric</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000" b="1" dirty="0">
                          <a:solidFill>
                            <a:srgbClr val="262B3A"/>
                          </a:solidFill>
                          <a:latin typeface="Calibri" pitchFamily="34" charset="0"/>
                          <a:ea typeface="Calibri" pitchFamily="34" charset="-122"/>
                          <a:cs typeface="Calibri" pitchFamily="34" charset="-120"/>
                        </a:rPr>
                        <a:t>…nitrate</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potassium nitrate</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8F5FC"/>
                    </a:solidFill>
                  </a:tcPr>
                </a:tc>
              </a:tr>
            </a:tbl>
          </a:graphicData>
        </a:graphic>
      </p:graphicFrame>
      <p:sp>
        <p:nvSpPr>
          <p:cNvPr id="65" name="Shape 62"/>
          <p:cNvSpPr/>
          <p:nvPr/>
        </p:nvSpPr>
        <p:spPr>
          <a:xfrm>
            <a:off x="6217920" y="1188720"/>
            <a:ext cx="5562295" cy="3200400"/>
          </a:xfrm>
          <a:prstGeom prst="roundRect">
            <a:avLst>
              <a:gd name="adj" fmla="val 1714"/>
            </a:avLst>
          </a:prstGeom>
          <a:solidFill>
            <a:srgbClr val="F8F5FC"/>
          </a:solidFill>
          <a:ln w="9525">
            <a:solidFill>
              <a:srgbClr val="DDD3EC"/>
            </a:solidFill>
            <a:prstDash val="solid"/>
          </a:ln>
        </p:spPr>
      </p:sp>
      <p:sp>
        <p:nvSpPr>
          <p:cNvPr id="66" name="Text 63"/>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2A1F3D"/>
                </a:solidFill>
                <a:latin typeface="Calibri" pitchFamily="34" charset="0"/>
                <a:ea typeface="Calibri" pitchFamily="34" charset="-122"/>
                <a:cs typeface="Calibri" pitchFamily="34" charset="-120"/>
              </a:rPr>
              <a:t>Acid + base → salt + water</a:t>
            </a:r>
            <a:endParaRPr lang="en-US" sz="1300" dirty="0"/>
          </a:p>
        </p:txBody>
      </p:sp>
      <p:sp>
        <p:nvSpPr>
          <p:cNvPr id="67" name="Text 64"/>
          <p:cNvSpPr/>
          <p:nvPr/>
        </p:nvSpPr>
        <p:spPr>
          <a:xfrm>
            <a:off x="6382512" y="1609344"/>
            <a:ext cx="5233111" cy="2706624"/>
          </a:xfrm>
          <a:prstGeom prst="rect">
            <a:avLst/>
          </a:prstGeom>
          <a:noFill/>
          <a:ln/>
        </p:spPr>
        <p:txBody>
          <a:bodyPr wrap="square" lIns="0" tIns="0" rIns="0" bIns="0" rtlCol="0" anchor="t"/>
          <a:lstStyle/>
          <a:p>
            <a:pPr marL="152400" indent="-152400">
              <a:spcAft>
                <a:spcPts val="300"/>
              </a:spcAft>
              <a:buSzPct val="100000"/>
              <a:buChar char="▪"/>
            </a:pPr>
            <a:r>
              <a:rPr lang="en-US" sz="1100" b="1" dirty="0">
                <a:solidFill>
                  <a:srgbClr val="262B3A"/>
                </a:solidFill>
                <a:latin typeface="Calibri" pitchFamily="34" charset="0"/>
                <a:ea typeface="Calibri" pitchFamily="34" charset="-122"/>
                <a:cs typeface="Calibri" pitchFamily="34" charset="-120"/>
              </a:rPr>
              <a:t>Neutralisation</a:t>
            </a:r>
            <a:r>
              <a:rPr lang="en-US" sz="1100" dirty="0">
                <a:solidFill>
                  <a:srgbClr val="262B3A"/>
                </a:solidFill>
                <a:latin typeface="Calibri" pitchFamily="34" charset="0"/>
                <a:ea typeface="Calibri" pitchFamily="34" charset="-122"/>
                <a:cs typeface="Calibri" pitchFamily="34" charset="-120"/>
              </a:rPr>
              <a:t>: an acid reacts with an </a:t>
            </a:r>
            <a:r>
              <a:rPr lang="en-US" sz="1100" b="1" dirty="0">
                <a:solidFill>
                  <a:srgbClr val="262B3A"/>
                </a:solidFill>
                <a:latin typeface="Calibri" pitchFamily="34" charset="0"/>
                <a:ea typeface="Calibri" pitchFamily="34" charset="-122"/>
                <a:cs typeface="Calibri" pitchFamily="34" charset="-120"/>
              </a:rPr>
              <a:t>alkali</a:t>
            </a:r>
            <a:r>
              <a:rPr lang="en-US" sz="1100" dirty="0">
                <a:solidFill>
                  <a:srgbClr val="262B3A"/>
                </a:solidFill>
                <a:latin typeface="Calibri" pitchFamily="34" charset="0"/>
                <a:ea typeface="Calibri" pitchFamily="34" charset="-122"/>
                <a:cs typeface="Calibri" pitchFamily="34" charset="-120"/>
              </a:rPr>
              <a:t> or a </a:t>
            </a:r>
            <a:r>
              <a:rPr lang="en-US" sz="1100" b="1" dirty="0">
                <a:solidFill>
                  <a:srgbClr val="262B3A"/>
                </a:solidFill>
                <a:latin typeface="Calibri" pitchFamily="34" charset="0"/>
                <a:ea typeface="Calibri" pitchFamily="34" charset="-122"/>
                <a:cs typeface="Calibri" pitchFamily="34" charset="-120"/>
              </a:rPr>
              <a:t>base</a:t>
            </a:r>
            <a:r>
              <a:rPr lang="en-US" sz="1100" dirty="0">
                <a:solidFill>
                  <a:srgbClr val="262B3A"/>
                </a:solidFill>
                <a:latin typeface="Calibri" pitchFamily="34" charset="0"/>
                <a:ea typeface="Calibri" pitchFamily="34" charset="-122"/>
                <a:cs typeface="Calibri" pitchFamily="34" charset="-120"/>
              </a:rPr>
              <a:t> to make a </a:t>
            </a:r>
            <a:r>
              <a:rPr lang="en-US" sz="1100" b="1" dirty="0">
                <a:solidFill>
                  <a:srgbClr val="262B3A"/>
                </a:solidFill>
                <a:latin typeface="Calibri" pitchFamily="34" charset="0"/>
                <a:ea typeface="Calibri" pitchFamily="34" charset="-122"/>
                <a:cs typeface="Calibri" pitchFamily="34" charset="-120"/>
              </a:rPr>
              <a:t>salt</a:t>
            </a:r>
            <a:r>
              <a:rPr lang="en-US" sz="1100" dirty="0">
                <a:solidFill>
                  <a:srgbClr val="262B3A"/>
                </a:solidFill>
                <a:latin typeface="Calibri" pitchFamily="34" charset="0"/>
                <a:ea typeface="Calibri" pitchFamily="34" charset="-122"/>
                <a:cs typeface="Calibri" pitchFamily="34" charset="-120"/>
              </a:rPr>
              <a:t> and </a:t>
            </a:r>
            <a:r>
              <a:rPr lang="en-US" sz="1100" b="1" dirty="0">
                <a:solidFill>
                  <a:srgbClr val="262B3A"/>
                </a:solidFill>
                <a:latin typeface="Calibri" pitchFamily="34" charset="0"/>
                <a:ea typeface="Calibri" pitchFamily="34" charset="-122"/>
                <a:cs typeface="Calibri" pitchFamily="34" charset="-120"/>
              </a:rPr>
              <a:t>water</a:t>
            </a:r>
            <a:r>
              <a:rPr lang="en-US" sz="1100" dirty="0">
                <a:solidFill>
                  <a:srgbClr val="262B3A"/>
                </a:solidFill>
                <a:latin typeface="Calibri" pitchFamily="34" charset="0"/>
                <a:ea typeface="Calibri" pitchFamily="34" charset="-122"/>
                <a:cs typeface="Calibri" pitchFamily="34" charset="-120"/>
              </a:rPr>
              <a:t>.</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acid + </a:t>
            </a:r>
            <a:r>
              <a:rPr lang="en-US" sz="1100" b="1" dirty="0">
                <a:solidFill>
                  <a:srgbClr val="262B3A"/>
                </a:solidFill>
                <a:latin typeface="Calibri" pitchFamily="34" charset="0"/>
                <a:ea typeface="Calibri" pitchFamily="34" charset="-122"/>
                <a:cs typeface="Calibri" pitchFamily="34" charset="-120"/>
              </a:rPr>
              <a:t>metal hydroxide</a:t>
            </a:r>
            <a:r>
              <a:rPr lang="en-US" sz="1100" dirty="0">
                <a:solidFill>
                  <a:srgbClr val="262B3A"/>
                </a:solidFill>
                <a:latin typeface="Calibri" pitchFamily="34" charset="0"/>
                <a:ea typeface="Calibri" pitchFamily="34" charset="-122"/>
                <a:cs typeface="Calibri" pitchFamily="34" charset="-120"/>
              </a:rPr>
              <a:t> → salt + water.  acid + </a:t>
            </a:r>
            <a:r>
              <a:rPr lang="en-US" sz="1100" b="1" dirty="0">
                <a:solidFill>
                  <a:srgbClr val="262B3A"/>
                </a:solidFill>
                <a:latin typeface="Calibri" pitchFamily="34" charset="0"/>
                <a:ea typeface="Calibri" pitchFamily="34" charset="-122"/>
                <a:cs typeface="Calibri" pitchFamily="34" charset="-120"/>
              </a:rPr>
              <a:t>metal oxide</a:t>
            </a:r>
            <a:r>
              <a:rPr lang="en-US" sz="1100" dirty="0">
                <a:solidFill>
                  <a:srgbClr val="262B3A"/>
                </a:solidFill>
                <a:latin typeface="Calibri" pitchFamily="34" charset="0"/>
                <a:ea typeface="Calibri" pitchFamily="34" charset="-122"/>
                <a:cs typeface="Calibri" pitchFamily="34" charset="-120"/>
              </a:rPr>
              <a:t> → salt + water.</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In solution, the </a:t>
            </a:r>
            <a:r>
              <a:rPr lang="en-US" sz="1100" b="1" dirty="0">
                <a:solidFill>
                  <a:srgbClr val="262B3A"/>
                </a:solidFill>
                <a:latin typeface="Calibri" pitchFamily="34" charset="0"/>
                <a:ea typeface="Calibri" pitchFamily="34" charset="-122"/>
                <a:cs typeface="Calibri" pitchFamily="34" charset="-120"/>
              </a:rPr>
              <a:t>H⁺</a:t>
            </a:r>
            <a:r>
              <a:rPr lang="en-US" sz="1100" dirty="0">
                <a:solidFill>
                  <a:srgbClr val="262B3A"/>
                </a:solidFill>
                <a:latin typeface="Calibri" pitchFamily="34" charset="0"/>
                <a:ea typeface="Calibri" pitchFamily="34" charset="-122"/>
                <a:cs typeface="Calibri" pitchFamily="34" charset="-120"/>
              </a:rPr>
              <a:t> from the acid and the </a:t>
            </a:r>
            <a:r>
              <a:rPr lang="en-US" sz="1100" b="1" dirty="0">
                <a:solidFill>
                  <a:srgbClr val="262B3A"/>
                </a:solidFill>
                <a:latin typeface="Calibri" pitchFamily="34" charset="0"/>
                <a:ea typeface="Calibri" pitchFamily="34" charset="-122"/>
                <a:cs typeface="Calibri" pitchFamily="34" charset="-120"/>
              </a:rPr>
              <a:t>OH⁻</a:t>
            </a:r>
            <a:r>
              <a:rPr lang="en-US" sz="1100" dirty="0">
                <a:solidFill>
                  <a:srgbClr val="262B3A"/>
                </a:solidFill>
                <a:latin typeface="Calibri" pitchFamily="34" charset="0"/>
                <a:ea typeface="Calibri" pitchFamily="34" charset="-122"/>
                <a:cs typeface="Calibri" pitchFamily="34" charset="-120"/>
              </a:rPr>
              <a:t> from the alkali join to make </a:t>
            </a:r>
            <a:r>
              <a:rPr lang="en-US" sz="1100" b="1" dirty="0">
                <a:solidFill>
                  <a:srgbClr val="262B3A"/>
                </a:solidFill>
                <a:latin typeface="Calibri" pitchFamily="34" charset="0"/>
                <a:ea typeface="Calibri" pitchFamily="34" charset="-122"/>
                <a:cs typeface="Calibri" pitchFamily="34" charset="-120"/>
              </a:rPr>
              <a:t>water</a:t>
            </a:r>
            <a:r>
              <a:rPr lang="en-US" sz="1100" dirty="0">
                <a:solidFill>
                  <a:srgbClr val="262B3A"/>
                </a:solidFill>
                <a:latin typeface="Calibri" pitchFamily="34" charset="0"/>
                <a:ea typeface="Calibri" pitchFamily="34" charset="-122"/>
                <a:cs typeface="Calibri" pitchFamily="34" charset="-120"/>
              </a:rPr>
              <a:t>: </a:t>
            </a:r>
            <a:r>
              <a:rPr lang="en-US" sz="1100" b="1" dirty="0">
                <a:solidFill>
                  <a:srgbClr val="262B3A"/>
                </a:solidFill>
                <a:latin typeface="Calibri" pitchFamily="34" charset="0"/>
                <a:ea typeface="Calibri" pitchFamily="34" charset="-122"/>
                <a:cs typeface="Calibri" pitchFamily="34" charset="-120"/>
              </a:rPr>
              <a:t>H⁺ + OH⁻ → H₂O</a:t>
            </a:r>
            <a:r>
              <a:rPr lang="en-US" sz="1100" dirty="0">
                <a:solidFill>
                  <a:srgbClr val="262B3A"/>
                </a:solidFill>
                <a:latin typeface="Calibri" pitchFamily="34" charset="0"/>
                <a:ea typeface="Calibri" pitchFamily="34" charset="-122"/>
                <a:cs typeface="Calibri" pitchFamily="34" charset="-120"/>
              </a:rPr>
              <a:t>.</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The other ions (here Na⁺ and Cl⁻) are </a:t>
            </a:r>
            <a:r>
              <a:rPr lang="en-US" sz="1100" b="1" dirty="0">
                <a:solidFill>
                  <a:srgbClr val="262B3A"/>
                </a:solidFill>
                <a:latin typeface="Calibri" pitchFamily="34" charset="0"/>
                <a:ea typeface="Calibri" pitchFamily="34" charset="-122"/>
                <a:cs typeface="Calibri" pitchFamily="34" charset="-120"/>
              </a:rPr>
              <a:t>spectator ions</a:t>
            </a:r>
            <a:r>
              <a:rPr lang="en-US" sz="1100" dirty="0">
                <a:solidFill>
                  <a:srgbClr val="262B3A"/>
                </a:solidFill>
                <a:latin typeface="Calibri" pitchFamily="34" charset="0"/>
                <a:ea typeface="Calibri" pitchFamily="34" charset="-122"/>
                <a:cs typeface="Calibri" pitchFamily="34" charset="-120"/>
              </a:rPr>
              <a:t>: they make up the </a:t>
            </a:r>
            <a:r>
              <a:rPr lang="en-US" sz="1100" b="1" dirty="0">
                <a:solidFill>
                  <a:srgbClr val="262B3A"/>
                </a:solidFill>
                <a:latin typeface="Calibri" pitchFamily="34" charset="0"/>
                <a:ea typeface="Calibri" pitchFamily="34" charset="-122"/>
                <a:cs typeface="Calibri" pitchFamily="34" charset="-120"/>
              </a:rPr>
              <a:t>salt</a:t>
            </a:r>
            <a:r>
              <a:rPr lang="en-US" sz="1100" dirty="0">
                <a:solidFill>
                  <a:srgbClr val="262B3A"/>
                </a:solidFill>
                <a:latin typeface="Calibri" pitchFamily="34" charset="0"/>
                <a:ea typeface="Calibri" pitchFamily="34" charset="-122"/>
                <a:cs typeface="Calibri" pitchFamily="34" charset="-120"/>
              </a:rPr>
              <a:t>.</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A </a:t>
            </a:r>
            <a:r>
              <a:rPr lang="en-US" sz="1100" b="1" dirty="0">
                <a:solidFill>
                  <a:srgbClr val="262B3A"/>
                </a:solidFill>
                <a:latin typeface="Calibri" pitchFamily="34" charset="0"/>
                <a:ea typeface="Calibri" pitchFamily="34" charset="-122"/>
                <a:cs typeface="Calibri" pitchFamily="34" charset="-120"/>
              </a:rPr>
              <a:t>salt</a:t>
            </a:r>
            <a:r>
              <a:rPr lang="en-US" sz="1100" dirty="0">
                <a:solidFill>
                  <a:srgbClr val="262B3A"/>
                </a:solidFill>
                <a:latin typeface="Calibri" pitchFamily="34" charset="0"/>
                <a:ea typeface="Calibri" pitchFamily="34" charset="-122"/>
                <a:cs typeface="Calibri" pitchFamily="34" charset="-120"/>
              </a:rPr>
              <a:t> forms when the </a:t>
            </a:r>
            <a:r>
              <a:rPr lang="en-US" sz="1100" b="1" dirty="0">
                <a:solidFill>
                  <a:srgbClr val="262B3A"/>
                </a:solidFill>
                <a:latin typeface="Calibri" pitchFamily="34" charset="0"/>
                <a:ea typeface="Calibri" pitchFamily="34" charset="-122"/>
                <a:cs typeface="Calibri" pitchFamily="34" charset="-120"/>
              </a:rPr>
              <a:t>H</a:t>
            </a:r>
            <a:r>
              <a:rPr lang="en-US" sz="1100" dirty="0">
                <a:solidFill>
                  <a:srgbClr val="262B3A"/>
                </a:solidFill>
                <a:latin typeface="Calibri" pitchFamily="34" charset="0"/>
                <a:ea typeface="Calibri" pitchFamily="34" charset="-122"/>
                <a:cs typeface="Calibri" pitchFamily="34" charset="-120"/>
              </a:rPr>
              <a:t> of an acid is replaced by a </a:t>
            </a:r>
            <a:r>
              <a:rPr lang="en-US" sz="1100" b="1" dirty="0">
                <a:solidFill>
                  <a:srgbClr val="262B3A"/>
                </a:solidFill>
                <a:latin typeface="Calibri" pitchFamily="34" charset="0"/>
                <a:ea typeface="Calibri" pitchFamily="34" charset="-122"/>
                <a:cs typeface="Calibri" pitchFamily="34" charset="-120"/>
              </a:rPr>
              <a:t>metal</a:t>
            </a:r>
            <a:r>
              <a:rPr lang="en-US" sz="1100" dirty="0">
                <a:solidFill>
                  <a:srgbClr val="262B3A"/>
                </a:solidFill>
                <a:latin typeface="Calibri" pitchFamily="34" charset="0"/>
                <a:ea typeface="Calibri" pitchFamily="34" charset="-122"/>
                <a:cs typeface="Calibri" pitchFamily="34" charset="-120"/>
              </a:rPr>
              <a:t> (or </a:t>
            </a:r>
            <a:r>
              <a:rPr lang="en-US" sz="1100" b="1" dirty="0">
                <a:solidFill>
                  <a:srgbClr val="262B3A"/>
                </a:solidFill>
                <a:latin typeface="Calibri" pitchFamily="34" charset="0"/>
                <a:ea typeface="Calibri" pitchFamily="34" charset="-122"/>
                <a:cs typeface="Calibri" pitchFamily="34" charset="-120"/>
              </a:rPr>
              <a:t>ammonium</a:t>
            </a:r>
            <a:r>
              <a:rPr lang="en-US" sz="1100" dirty="0">
                <a:solidFill>
                  <a:srgbClr val="262B3A"/>
                </a:solidFill>
                <a:latin typeface="Calibri" pitchFamily="34" charset="0"/>
                <a:ea typeface="Calibri" pitchFamily="34" charset="-122"/>
                <a:cs typeface="Calibri" pitchFamily="34" charset="-120"/>
              </a:rPr>
              <a:t>) ion. Name: </a:t>
            </a:r>
            <a:r>
              <a:rPr lang="en-US" sz="1100" b="1" dirty="0">
                <a:solidFill>
                  <a:srgbClr val="262B3A"/>
                </a:solidFill>
                <a:latin typeface="Calibri" pitchFamily="34" charset="0"/>
                <a:ea typeface="Calibri" pitchFamily="34" charset="-122"/>
                <a:cs typeface="Calibri" pitchFamily="34" charset="-120"/>
              </a:rPr>
              <a:t>metal first</a:t>
            </a:r>
            <a:r>
              <a:rPr lang="en-US" sz="1100" dirty="0">
                <a:solidFill>
                  <a:srgbClr val="262B3A"/>
                </a:solidFill>
                <a:latin typeface="Calibri" pitchFamily="34" charset="0"/>
                <a:ea typeface="Calibri" pitchFamily="34" charset="-122"/>
                <a:cs typeface="Calibri" pitchFamily="34" charset="-120"/>
              </a:rPr>
              <a:t>, then from the </a:t>
            </a:r>
            <a:r>
              <a:rPr lang="en-US" sz="1100" b="1" dirty="0">
                <a:solidFill>
                  <a:srgbClr val="262B3A"/>
                </a:solidFill>
                <a:latin typeface="Calibri" pitchFamily="34" charset="0"/>
                <a:ea typeface="Calibri" pitchFamily="34" charset="-122"/>
                <a:cs typeface="Calibri" pitchFamily="34" charset="-120"/>
              </a:rPr>
              <a:t>acid</a:t>
            </a:r>
            <a:r>
              <a:rPr lang="en-US" sz="1100" dirty="0">
                <a:solidFill>
                  <a:srgbClr val="262B3A"/>
                </a:solidFill>
                <a:latin typeface="Calibri" pitchFamily="34" charset="0"/>
                <a:ea typeface="Calibri" pitchFamily="34" charset="-122"/>
                <a:cs typeface="Calibri" pitchFamily="34" charset="-120"/>
              </a:rPr>
              <a:t>.</a:t>
            </a:r>
            <a:endParaRPr lang="en-US" sz="1100" dirty="0"/>
          </a:p>
        </p:txBody>
      </p:sp>
      <p:sp>
        <p:nvSpPr>
          <p:cNvPr id="68" name="Shape 65"/>
          <p:cNvSpPr/>
          <p:nvPr/>
        </p:nvSpPr>
        <p:spPr>
          <a:xfrm>
            <a:off x="6217920" y="4526280"/>
            <a:ext cx="5562295" cy="1188720"/>
          </a:xfrm>
          <a:prstGeom prst="roundRect">
            <a:avLst>
              <a:gd name="adj" fmla="val 4615"/>
            </a:avLst>
          </a:prstGeom>
          <a:solidFill>
            <a:srgbClr val="FFF4E0"/>
          </a:solidFill>
          <a:ln w="9525">
            <a:solidFill>
              <a:srgbClr val="F1D9A8"/>
            </a:solidFill>
            <a:prstDash val="solid"/>
          </a:ln>
        </p:spPr>
      </p:sp>
      <p:sp>
        <p:nvSpPr>
          <p:cNvPr id="69" name="Text 66"/>
          <p:cNvSpPr/>
          <p:nvPr/>
        </p:nvSpPr>
        <p:spPr>
          <a:xfrm>
            <a:off x="6382512" y="459943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 predict the salt</a:t>
            </a:r>
            <a:endParaRPr lang="en-US" sz="1300" dirty="0"/>
          </a:p>
        </p:txBody>
      </p:sp>
      <p:sp>
        <p:nvSpPr>
          <p:cNvPr id="70" name="Text 67"/>
          <p:cNvSpPr/>
          <p:nvPr/>
        </p:nvSpPr>
        <p:spPr>
          <a:xfrm>
            <a:off x="6382512" y="4910328"/>
            <a:ext cx="5233111" cy="73152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Copper(II) oxide reacts with sulfuric acid.</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1 Name   </a:t>
            </a:r>
            <a:r>
              <a:rPr lang="en-US" sz="1050" dirty="0">
                <a:solidFill>
                  <a:srgbClr val="262B3A"/>
                </a:solidFill>
                <a:latin typeface="Calibri" pitchFamily="34" charset="0"/>
                <a:ea typeface="Calibri" pitchFamily="34" charset="-122"/>
                <a:cs typeface="Calibri" pitchFamily="34" charset="-120"/>
              </a:rPr>
              <a:t>copper + sulfate → </a:t>
            </a:r>
            <a:r>
              <a:rPr lang="en-US" sz="1050" b="1" dirty="0">
                <a:solidFill>
                  <a:srgbClr val="262B3A"/>
                </a:solidFill>
                <a:latin typeface="Calibri" pitchFamily="34" charset="0"/>
                <a:ea typeface="Calibri" pitchFamily="34" charset="-122"/>
                <a:cs typeface="Calibri" pitchFamily="34" charset="-120"/>
              </a:rPr>
              <a:t>copper sulfate</a:t>
            </a:r>
            <a:r>
              <a:rPr lang="en-US" sz="1050" dirty="0">
                <a:solidFill>
                  <a:srgbClr val="262B3A"/>
                </a:solidFill>
                <a:latin typeface="Calibri" pitchFamily="34" charset="0"/>
                <a:ea typeface="Calibri" pitchFamily="34" charset="-122"/>
                <a:cs typeface="Calibri" pitchFamily="34" charset="-120"/>
              </a:rPr>
              <a:t> + water</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2 Answer   </a:t>
            </a:r>
            <a:r>
              <a:rPr lang="en-US" sz="1050" b="1" dirty="0">
                <a:solidFill>
                  <a:srgbClr val="C8414C"/>
                </a:solidFill>
                <a:latin typeface="Calibri" pitchFamily="34" charset="0"/>
                <a:ea typeface="Calibri" pitchFamily="34" charset="-122"/>
                <a:cs typeface="Calibri" pitchFamily="34" charset="-120"/>
              </a:rPr>
              <a:t>CuO(s) + H₂SO₄(aq) → CuSO₄(aq) + H₂O(l)</a:t>
            </a:r>
            <a:endParaRPr lang="en-US" sz="1050" dirty="0"/>
          </a:p>
        </p:txBody>
      </p:sp>
      <p:sp>
        <p:nvSpPr>
          <p:cNvPr id="71" name="Shape 68"/>
          <p:cNvSpPr/>
          <p:nvPr/>
        </p:nvSpPr>
        <p:spPr>
          <a:xfrm>
            <a:off x="411480" y="5833872"/>
            <a:ext cx="11368735" cy="530352"/>
          </a:xfrm>
          <a:prstGeom prst="rect">
            <a:avLst/>
          </a:prstGeom>
          <a:solidFill>
            <a:srgbClr val="FFF4E0"/>
          </a:solidFill>
          <a:ln w="6350">
            <a:solidFill>
              <a:srgbClr val="F1D9A8"/>
            </a:solidFill>
            <a:prstDash val="solid"/>
          </a:ln>
        </p:spPr>
      </p:sp>
      <p:sp>
        <p:nvSpPr>
          <p:cNvPr id="72" name="Shape 69"/>
          <p:cNvSpPr/>
          <p:nvPr/>
        </p:nvSpPr>
        <p:spPr>
          <a:xfrm>
            <a:off x="411480" y="5833872"/>
            <a:ext cx="82296" cy="530352"/>
          </a:xfrm>
          <a:prstGeom prst="rect">
            <a:avLst/>
          </a:prstGeom>
          <a:solidFill>
            <a:srgbClr val="E39A2F"/>
          </a:solidFill>
          <a:ln w="12700">
            <a:solidFill>
              <a:srgbClr val="E39A2F"/>
            </a:solidFill>
            <a:prstDash val="solid"/>
          </a:ln>
        </p:spPr>
      </p:sp>
      <p:sp>
        <p:nvSpPr>
          <p:cNvPr id="73" name="Text 70"/>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Name the salt made from </a:t>
            </a:r>
            <a:r>
              <a:rPr lang="en-US" sz="1150" b="1" dirty="0">
                <a:solidFill>
                  <a:srgbClr val="262B3A"/>
                </a:solidFill>
                <a:latin typeface="Calibri" pitchFamily="34" charset="0"/>
                <a:ea typeface="Calibri" pitchFamily="34" charset="-122"/>
                <a:cs typeface="Calibri" pitchFamily="34" charset="-120"/>
              </a:rPr>
              <a:t>potassium hydroxide + sulfuric acid</a:t>
            </a:r>
            <a:r>
              <a:rPr lang="en-US" sz="1150" dirty="0">
                <a:solidFill>
                  <a:srgbClr val="262B3A"/>
                </a:solidFill>
                <a:latin typeface="Calibri" pitchFamily="34" charset="0"/>
                <a:ea typeface="Calibri" pitchFamily="34" charset="-122"/>
                <a:cs typeface="Calibri" pitchFamily="34" charset="-120"/>
              </a:rPr>
              <a:t>. Balance: </a:t>
            </a:r>
            <a:r>
              <a:rPr lang="en-US" sz="1150" b="1" dirty="0">
                <a:solidFill>
                  <a:srgbClr val="262B3A"/>
                </a:solidFill>
                <a:latin typeface="Calibri" pitchFamily="34" charset="0"/>
                <a:ea typeface="Calibri" pitchFamily="34" charset="-122"/>
                <a:cs typeface="Calibri" pitchFamily="34" charset="-120"/>
              </a:rPr>
              <a:t>KOH + H₂SO₄ → K₂SO₄ + H₂O</a:t>
            </a:r>
            <a:r>
              <a:rPr lang="en-US" sz="1150" dirty="0">
                <a:solidFill>
                  <a:srgbClr val="262B3A"/>
                </a:solidFill>
                <a:latin typeface="Calibri" pitchFamily="34" charset="0"/>
                <a:ea typeface="Calibri" pitchFamily="34" charset="-122"/>
                <a:cs typeface="Calibri" pitchFamily="34" charset="-120"/>
              </a:rPr>
              <a:t>.</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Acids with metals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Specification C6.1.1 • acids react with some metals to make a salt and hydrogen</a:t>
            </a:r>
            <a:endParaRPr lang="en-US" sz="1100" dirty="0"/>
          </a:p>
        </p:txBody>
      </p:sp>
      <p:sp>
        <p:nvSpPr>
          <p:cNvPr id="6" name="Text 4"/>
          <p:cNvSpPr/>
          <p:nvPr/>
        </p:nvSpPr>
        <p:spPr>
          <a:xfrm>
            <a:off x="411480" y="6473952"/>
            <a:ext cx="1014984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C6.1 What useful products can be made from acids?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C6.1.1  |  9</a:t>
            </a:r>
            <a:endParaRPr lang="en-US" sz="1000" dirty="0"/>
          </a:p>
        </p:txBody>
      </p:sp>
      <p:sp>
        <p:nvSpPr>
          <p:cNvPr id="8" name="Shape 6"/>
          <p:cNvSpPr/>
          <p:nvPr/>
        </p:nvSpPr>
        <p:spPr>
          <a:xfrm>
            <a:off x="411480" y="1188720"/>
            <a:ext cx="5577840" cy="4526280"/>
          </a:xfrm>
          <a:prstGeom prst="roundRect">
            <a:avLst>
              <a:gd name="adj" fmla="val 1616"/>
            </a:avLst>
          </a:prstGeom>
          <a:solidFill>
            <a:srgbClr val="F4F0FA"/>
          </a:solidFill>
          <a:ln w="9525">
            <a:solidFill>
              <a:srgbClr val="DED4EE"/>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same acid and same size of metal; more bubbles = faster reaction</a:t>
            </a:r>
            <a:endParaRPr lang="en-US" sz="1000" dirty="0"/>
          </a:p>
        </p:txBody>
      </p:sp>
      <p:sp>
        <p:nvSpPr>
          <p:cNvPr id="10" name="Text 8"/>
          <p:cNvSpPr/>
          <p:nvPr/>
        </p:nvSpPr>
        <p:spPr>
          <a:xfrm>
            <a:off x="594360" y="1298448"/>
            <a:ext cx="5303520" cy="237744"/>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Four metals in dilute hydrochloric acid</a:t>
            </a:r>
            <a:endParaRPr lang="en-US" sz="1050" dirty="0"/>
          </a:p>
        </p:txBody>
      </p:sp>
      <p:sp>
        <p:nvSpPr>
          <p:cNvPr id="11" name="Shape 9"/>
          <p:cNvSpPr/>
          <p:nvPr/>
        </p:nvSpPr>
        <p:spPr>
          <a:xfrm>
            <a:off x="868680" y="1691640"/>
            <a:ext cx="384048" cy="1600200"/>
          </a:xfrm>
          <a:custGeom>
            <a:avLst/>
            <a:gdLst/>
            <a:ahLst/>
            <a:cxnLst/>
            <a:rect l="l" t="t" r="r" b="b"/>
            <a:pathLst>
              <a:path w="384048" h="1600200">
                <a:moveTo>
                  <a:pt x="0" y="0"/>
                </a:moveTo>
                <a:lnTo>
                  <a:pt x="384048" y="0"/>
                </a:lnTo>
                <a:lnTo>
                  <a:pt x="384048" y="1408176"/>
                </a:lnTo>
                <a:lnTo>
                  <a:pt x="380358" y="1445638"/>
                </a:lnTo>
                <a:lnTo>
                  <a:pt x="369431" y="1481660"/>
                </a:lnTo>
                <a:lnTo>
                  <a:pt x="351686" y="1514859"/>
                </a:lnTo>
                <a:lnTo>
                  <a:pt x="327805" y="1543957"/>
                </a:lnTo>
                <a:lnTo>
                  <a:pt x="298707" y="1567838"/>
                </a:lnTo>
                <a:lnTo>
                  <a:pt x="265508" y="1585583"/>
                </a:lnTo>
                <a:lnTo>
                  <a:pt x="229486" y="1596510"/>
                </a:lnTo>
                <a:lnTo>
                  <a:pt x="192024" y="1600200"/>
                </a:lnTo>
                <a:lnTo>
                  <a:pt x="154562" y="1596510"/>
                </a:lnTo>
                <a:lnTo>
                  <a:pt x="118540" y="1585583"/>
                </a:lnTo>
                <a:lnTo>
                  <a:pt x="85341" y="1567838"/>
                </a:lnTo>
                <a:lnTo>
                  <a:pt x="56243" y="1543957"/>
                </a:lnTo>
                <a:lnTo>
                  <a:pt x="32362" y="1514859"/>
                </a:lnTo>
                <a:lnTo>
                  <a:pt x="14617" y="1481660"/>
                </a:lnTo>
                <a:lnTo>
                  <a:pt x="3690" y="1445638"/>
                </a:lnTo>
                <a:lnTo>
                  <a:pt x="0" y="1408176"/>
                </a:lnTo>
                <a:close/>
              </a:path>
            </a:pathLst>
          </a:custGeom>
          <a:solidFill>
            <a:srgbClr val="EEF5FB"/>
          </a:solidFill>
          <a:ln/>
        </p:spPr>
      </p:sp>
      <p:sp>
        <p:nvSpPr>
          <p:cNvPr id="12" name="Shape 10"/>
          <p:cNvSpPr/>
          <p:nvPr/>
        </p:nvSpPr>
        <p:spPr>
          <a:xfrm>
            <a:off x="868680" y="2299716"/>
            <a:ext cx="384048" cy="992124"/>
          </a:xfrm>
          <a:custGeom>
            <a:avLst/>
            <a:gdLst/>
            <a:ahLst/>
            <a:cxnLst/>
            <a:rect l="l" t="t" r="r" b="b"/>
            <a:pathLst>
              <a:path w="384048" h="992124">
                <a:moveTo>
                  <a:pt x="0" y="0"/>
                </a:moveTo>
                <a:lnTo>
                  <a:pt x="384048" y="0"/>
                </a:lnTo>
                <a:lnTo>
                  <a:pt x="384048" y="800100"/>
                </a:lnTo>
                <a:lnTo>
                  <a:pt x="380358" y="837562"/>
                </a:lnTo>
                <a:lnTo>
                  <a:pt x="369431" y="873584"/>
                </a:lnTo>
                <a:lnTo>
                  <a:pt x="351686" y="906783"/>
                </a:lnTo>
                <a:lnTo>
                  <a:pt x="327805" y="935881"/>
                </a:lnTo>
                <a:lnTo>
                  <a:pt x="298707" y="959762"/>
                </a:lnTo>
                <a:lnTo>
                  <a:pt x="265508" y="977507"/>
                </a:lnTo>
                <a:lnTo>
                  <a:pt x="229486" y="988434"/>
                </a:lnTo>
                <a:lnTo>
                  <a:pt x="192024" y="992124"/>
                </a:lnTo>
                <a:lnTo>
                  <a:pt x="154562" y="988434"/>
                </a:lnTo>
                <a:lnTo>
                  <a:pt x="118540" y="977507"/>
                </a:lnTo>
                <a:lnTo>
                  <a:pt x="85341" y="959762"/>
                </a:lnTo>
                <a:lnTo>
                  <a:pt x="56243" y="935881"/>
                </a:lnTo>
                <a:lnTo>
                  <a:pt x="32362" y="906783"/>
                </a:lnTo>
                <a:lnTo>
                  <a:pt x="14617" y="873584"/>
                </a:lnTo>
                <a:lnTo>
                  <a:pt x="3690" y="837562"/>
                </a:lnTo>
                <a:lnTo>
                  <a:pt x="0" y="800100"/>
                </a:lnTo>
                <a:close/>
              </a:path>
            </a:pathLst>
          </a:custGeom>
          <a:solidFill>
            <a:srgbClr val="CFE4F7"/>
          </a:solidFill>
          <a:ln/>
        </p:spPr>
      </p:sp>
      <p:sp>
        <p:nvSpPr>
          <p:cNvPr id="13" name="Shape 11"/>
          <p:cNvSpPr/>
          <p:nvPr/>
        </p:nvSpPr>
        <p:spPr>
          <a:xfrm>
            <a:off x="868680" y="1691640"/>
            <a:ext cx="91" cy="1408176"/>
          </a:xfrm>
          <a:prstGeom prst="line">
            <a:avLst/>
          </a:prstGeom>
          <a:noFill/>
          <a:ln w="19050">
            <a:solidFill>
              <a:srgbClr val="2A1F3D"/>
            </a:solidFill>
            <a:prstDash val="solid"/>
          </a:ln>
        </p:spPr>
      </p:sp>
      <p:sp>
        <p:nvSpPr>
          <p:cNvPr id="14" name="Shape 12"/>
          <p:cNvSpPr/>
          <p:nvPr/>
        </p:nvSpPr>
        <p:spPr>
          <a:xfrm>
            <a:off x="1252728" y="1691640"/>
            <a:ext cx="91" cy="1408176"/>
          </a:xfrm>
          <a:prstGeom prst="line">
            <a:avLst/>
          </a:prstGeom>
          <a:noFill/>
          <a:ln w="19050">
            <a:solidFill>
              <a:srgbClr val="2A1F3D"/>
            </a:solidFill>
            <a:prstDash val="solid"/>
          </a:ln>
        </p:spPr>
      </p:sp>
      <p:sp>
        <p:nvSpPr>
          <p:cNvPr id="15" name="Shape 13"/>
          <p:cNvSpPr/>
          <p:nvPr/>
        </p:nvSpPr>
        <p:spPr>
          <a:xfrm>
            <a:off x="868680" y="3099816"/>
            <a:ext cx="384048" cy="192024"/>
          </a:xfrm>
          <a:custGeom>
            <a:avLst/>
            <a:gdLst/>
            <a:ahLst/>
            <a:cxnLst/>
            <a:rect l="l" t="t" r="r" b="b"/>
            <a:pathLst>
              <a:path w="384048" h="192024">
                <a:moveTo>
                  <a:pt x="384048" y="0"/>
                </a:moveTo>
                <a:lnTo>
                  <a:pt x="380358" y="37462"/>
                </a:lnTo>
                <a:lnTo>
                  <a:pt x="369431" y="73484"/>
                </a:lnTo>
                <a:lnTo>
                  <a:pt x="351686" y="106683"/>
                </a:lnTo>
                <a:lnTo>
                  <a:pt x="327805" y="135781"/>
                </a:lnTo>
                <a:lnTo>
                  <a:pt x="298707" y="159662"/>
                </a:lnTo>
                <a:lnTo>
                  <a:pt x="265508" y="177407"/>
                </a:lnTo>
                <a:lnTo>
                  <a:pt x="229486" y="188334"/>
                </a:lnTo>
                <a:lnTo>
                  <a:pt x="192024" y="192024"/>
                </a:lnTo>
                <a:lnTo>
                  <a:pt x="154562" y="188334"/>
                </a:lnTo>
                <a:lnTo>
                  <a:pt x="118540" y="177407"/>
                </a:lnTo>
                <a:lnTo>
                  <a:pt x="85341" y="159662"/>
                </a:lnTo>
                <a:lnTo>
                  <a:pt x="56243" y="135781"/>
                </a:lnTo>
                <a:lnTo>
                  <a:pt x="32362" y="106683"/>
                </a:lnTo>
                <a:lnTo>
                  <a:pt x="14617" y="73484"/>
                </a:lnTo>
                <a:lnTo>
                  <a:pt x="3690" y="37462"/>
                </a:lnTo>
                <a:lnTo>
                  <a:pt x="0" y="0"/>
                </a:lnTo>
              </a:path>
            </a:pathLst>
          </a:custGeom>
          <a:ln w="19050">
            <a:solidFill>
              <a:srgbClr val="2A1F3D"/>
            </a:solidFill>
            <a:prstDash val="solid"/>
          </a:ln>
        </p:spPr>
      </p:sp>
      <p:sp>
        <p:nvSpPr>
          <p:cNvPr id="16" name="Shape 14"/>
          <p:cNvSpPr/>
          <p:nvPr/>
        </p:nvSpPr>
        <p:spPr>
          <a:xfrm>
            <a:off x="832104" y="1691640"/>
            <a:ext cx="36576" cy="91"/>
          </a:xfrm>
          <a:prstGeom prst="line">
            <a:avLst/>
          </a:prstGeom>
          <a:noFill/>
          <a:ln w="19050">
            <a:solidFill>
              <a:srgbClr val="2A1F3D"/>
            </a:solidFill>
            <a:prstDash val="solid"/>
          </a:ln>
        </p:spPr>
      </p:sp>
      <p:sp>
        <p:nvSpPr>
          <p:cNvPr id="17" name="Shape 15"/>
          <p:cNvSpPr/>
          <p:nvPr/>
        </p:nvSpPr>
        <p:spPr>
          <a:xfrm>
            <a:off x="1252728" y="1691640"/>
            <a:ext cx="36576" cy="91"/>
          </a:xfrm>
          <a:prstGeom prst="line">
            <a:avLst/>
          </a:prstGeom>
          <a:noFill/>
          <a:ln w="19050">
            <a:solidFill>
              <a:srgbClr val="2A1F3D"/>
            </a:solidFill>
            <a:prstDash val="solid"/>
          </a:ln>
        </p:spPr>
      </p:sp>
      <p:sp>
        <p:nvSpPr>
          <p:cNvPr id="18" name="Shape 16"/>
          <p:cNvSpPr/>
          <p:nvPr/>
        </p:nvSpPr>
        <p:spPr>
          <a:xfrm>
            <a:off x="978408" y="2788920"/>
            <a:ext cx="164592" cy="347472"/>
          </a:xfrm>
          <a:prstGeom prst="rect">
            <a:avLst/>
          </a:prstGeom>
          <a:solidFill>
            <a:srgbClr val="D9894A"/>
          </a:solidFill>
          <a:ln w="9525">
            <a:solidFill>
              <a:srgbClr val="4A5568"/>
            </a:solidFill>
            <a:prstDash val="solid"/>
          </a:ln>
        </p:spPr>
      </p:sp>
      <p:sp>
        <p:nvSpPr>
          <p:cNvPr id="19" name="Text 17"/>
          <p:cNvSpPr/>
          <p:nvPr/>
        </p:nvSpPr>
        <p:spPr>
          <a:xfrm>
            <a:off x="594360" y="3364992"/>
            <a:ext cx="932688" cy="201168"/>
          </a:xfrm>
          <a:prstGeom prst="rect">
            <a:avLst/>
          </a:prstGeom>
          <a:noFill/>
          <a:ln/>
        </p:spPr>
        <p:txBody>
          <a:bodyPr wrap="square" lIns="0" tIns="0" rIns="0" bIns="0" rtlCol="0" anchor="ctr"/>
          <a:lstStyle/>
          <a:p>
            <a:pPr algn="ctr" indent="0" marL="0">
              <a:buNone/>
            </a:pPr>
            <a:r>
              <a:rPr lang="en-US" sz="1000" b="1" dirty="0">
                <a:solidFill>
                  <a:srgbClr val="262B3A"/>
                </a:solidFill>
                <a:latin typeface="Calibri" pitchFamily="34" charset="0"/>
                <a:ea typeface="Calibri" pitchFamily="34" charset="-122"/>
                <a:cs typeface="Calibri" pitchFamily="34" charset="-120"/>
              </a:rPr>
              <a:t>copper</a:t>
            </a:r>
            <a:endParaRPr lang="en-US" sz="1000" dirty="0"/>
          </a:p>
        </p:txBody>
      </p:sp>
      <p:sp>
        <p:nvSpPr>
          <p:cNvPr id="20" name="Text 18"/>
          <p:cNvSpPr/>
          <p:nvPr/>
        </p:nvSpPr>
        <p:spPr>
          <a:xfrm>
            <a:off x="594360" y="3566160"/>
            <a:ext cx="932688" cy="201168"/>
          </a:xfrm>
          <a:prstGeom prst="rect">
            <a:avLst/>
          </a:prstGeom>
          <a:noFill/>
          <a:ln/>
        </p:spPr>
        <p:txBody>
          <a:bodyPr wrap="square" lIns="0" tIns="0" rIns="0" bIns="0" rtlCol="0" anchor="ctr"/>
          <a:lstStyle/>
          <a:p>
            <a:pPr algn="ctr" indent="0" marL="0">
              <a:buNone/>
            </a:pPr>
            <a:r>
              <a:rPr lang="en-US" sz="950" dirty="0">
                <a:solidFill>
                  <a:srgbClr val="6B7385"/>
                </a:solidFill>
                <a:latin typeface="Calibri" pitchFamily="34" charset="0"/>
                <a:ea typeface="Calibri" pitchFamily="34" charset="-122"/>
                <a:cs typeface="Calibri" pitchFamily="34" charset="-120"/>
              </a:rPr>
              <a:t>no reaction</a:t>
            </a:r>
            <a:endParaRPr lang="en-US" sz="950" dirty="0"/>
          </a:p>
        </p:txBody>
      </p:sp>
      <p:sp>
        <p:nvSpPr>
          <p:cNvPr id="21" name="Shape 19"/>
          <p:cNvSpPr/>
          <p:nvPr/>
        </p:nvSpPr>
        <p:spPr>
          <a:xfrm>
            <a:off x="1965960" y="1691640"/>
            <a:ext cx="384048" cy="1600200"/>
          </a:xfrm>
          <a:custGeom>
            <a:avLst/>
            <a:gdLst/>
            <a:ahLst/>
            <a:cxnLst/>
            <a:rect l="l" t="t" r="r" b="b"/>
            <a:pathLst>
              <a:path w="384048" h="1600200">
                <a:moveTo>
                  <a:pt x="0" y="0"/>
                </a:moveTo>
                <a:lnTo>
                  <a:pt x="384048" y="0"/>
                </a:lnTo>
                <a:lnTo>
                  <a:pt x="384048" y="1408176"/>
                </a:lnTo>
                <a:lnTo>
                  <a:pt x="380358" y="1445638"/>
                </a:lnTo>
                <a:lnTo>
                  <a:pt x="369431" y="1481660"/>
                </a:lnTo>
                <a:lnTo>
                  <a:pt x="351686" y="1514859"/>
                </a:lnTo>
                <a:lnTo>
                  <a:pt x="327805" y="1543957"/>
                </a:lnTo>
                <a:lnTo>
                  <a:pt x="298707" y="1567838"/>
                </a:lnTo>
                <a:lnTo>
                  <a:pt x="265508" y="1585583"/>
                </a:lnTo>
                <a:lnTo>
                  <a:pt x="229486" y="1596510"/>
                </a:lnTo>
                <a:lnTo>
                  <a:pt x="192024" y="1600200"/>
                </a:lnTo>
                <a:lnTo>
                  <a:pt x="154562" y="1596510"/>
                </a:lnTo>
                <a:lnTo>
                  <a:pt x="118540" y="1585583"/>
                </a:lnTo>
                <a:lnTo>
                  <a:pt x="85341" y="1567838"/>
                </a:lnTo>
                <a:lnTo>
                  <a:pt x="56243" y="1543957"/>
                </a:lnTo>
                <a:lnTo>
                  <a:pt x="32362" y="1514859"/>
                </a:lnTo>
                <a:lnTo>
                  <a:pt x="14617" y="1481660"/>
                </a:lnTo>
                <a:lnTo>
                  <a:pt x="3690" y="1445638"/>
                </a:lnTo>
                <a:lnTo>
                  <a:pt x="0" y="1408176"/>
                </a:lnTo>
                <a:close/>
              </a:path>
            </a:pathLst>
          </a:custGeom>
          <a:solidFill>
            <a:srgbClr val="EEF5FB"/>
          </a:solidFill>
          <a:ln/>
        </p:spPr>
      </p:sp>
      <p:sp>
        <p:nvSpPr>
          <p:cNvPr id="22" name="Shape 20"/>
          <p:cNvSpPr/>
          <p:nvPr/>
        </p:nvSpPr>
        <p:spPr>
          <a:xfrm>
            <a:off x="1965960" y="2299716"/>
            <a:ext cx="384048" cy="992124"/>
          </a:xfrm>
          <a:custGeom>
            <a:avLst/>
            <a:gdLst/>
            <a:ahLst/>
            <a:cxnLst/>
            <a:rect l="l" t="t" r="r" b="b"/>
            <a:pathLst>
              <a:path w="384048" h="992124">
                <a:moveTo>
                  <a:pt x="0" y="0"/>
                </a:moveTo>
                <a:lnTo>
                  <a:pt x="384048" y="0"/>
                </a:lnTo>
                <a:lnTo>
                  <a:pt x="384048" y="800100"/>
                </a:lnTo>
                <a:lnTo>
                  <a:pt x="380358" y="837562"/>
                </a:lnTo>
                <a:lnTo>
                  <a:pt x="369431" y="873584"/>
                </a:lnTo>
                <a:lnTo>
                  <a:pt x="351686" y="906783"/>
                </a:lnTo>
                <a:lnTo>
                  <a:pt x="327805" y="935881"/>
                </a:lnTo>
                <a:lnTo>
                  <a:pt x="298707" y="959762"/>
                </a:lnTo>
                <a:lnTo>
                  <a:pt x="265508" y="977507"/>
                </a:lnTo>
                <a:lnTo>
                  <a:pt x="229486" y="988434"/>
                </a:lnTo>
                <a:lnTo>
                  <a:pt x="192024" y="992124"/>
                </a:lnTo>
                <a:lnTo>
                  <a:pt x="154562" y="988434"/>
                </a:lnTo>
                <a:lnTo>
                  <a:pt x="118540" y="977507"/>
                </a:lnTo>
                <a:lnTo>
                  <a:pt x="85341" y="959762"/>
                </a:lnTo>
                <a:lnTo>
                  <a:pt x="56243" y="935881"/>
                </a:lnTo>
                <a:lnTo>
                  <a:pt x="32362" y="906783"/>
                </a:lnTo>
                <a:lnTo>
                  <a:pt x="14617" y="873584"/>
                </a:lnTo>
                <a:lnTo>
                  <a:pt x="3690" y="837562"/>
                </a:lnTo>
                <a:lnTo>
                  <a:pt x="0" y="800100"/>
                </a:lnTo>
                <a:close/>
              </a:path>
            </a:pathLst>
          </a:custGeom>
          <a:solidFill>
            <a:srgbClr val="CFE4F7"/>
          </a:solidFill>
          <a:ln/>
        </p:spPr>
      </p:sp>
      <p:sp>
        <p:nvSpPr>
          <p:cNvPr id="23" name="Shape 21"/>
          <p:cNvSpPr/>
          <p:nvPr/>
        </p:nvSpPr>
        <p:spPr>
          <a:xfrm>
            <a:off x="1965960" y="1691640"/>
            <a:ext cx="91" cy="1408176"/>
          </a:xfrm>
          <a:prstGeom prst="line">
            <a:avLst/>
          </a:prstGeom>
          <a:noFill/>
          <a:ln w="19050">
            <a:solidFill>
              <a:srgbClr val="2A1F3D"/>
            </a:solidFill>
            <a:prstDash val="solid"/>
          </a:ln>
        </p:spPr>
      </p:sp>
      <p:sp>
        <p:nvSpPr>
          <p:cNvPr id="24" name="Shape 22"/>
          <p:cNvSpPr/>
          <p:nvPr/>
        </p:nvSpPr>
        <p:spPr>
          <a:xfrm>
            <a:off x="2350008" y="1691640"/>
            <a:ext cx="91" cy="1408176"/>
          </a:xfrm>
          <a:prstGeom prst="line">
            <a:avLst/>
          </a:prstGeom>
          <a:noFill/>
          <a:ln w="19050">
            <a:solidFill>
              <a:srgbClr val="2A1F3D"/>
            </a:solidFill>
            <a:prstDash val="solid"/>
          </a:ln>
        </p:spPr>
      </p:sp>
      <p:sp>
        <p:nvSpPr>
          <p:cNvPr id="25" name="Shape 23"/>
          <p:cNvSpPr/>
          <p:nvPr/>
        </p:nvSpPr>
        <p:spPr>
          <a:xfrm>
            <a:off x="1965960" y="3099816"/>
            <a:ext cx="384048" cy="192024"/>
          </a:xfrm>
          <a:custGeom>
            <a:avLst/>
            <a:gdLst/>
            <a:ahLst/>
            <a:cxnLst/>
            <a:rect l="l" t="t" r="r" b="b"/>
            <a:pathLst>
              <a:path w="384048" h="192024">
                <a:moveTo>
                  <a:pt x="384048" y="0"/>
                </a:moveTo>
                <a:lnTo>
                  <a:pt x="380358" y="37462"/>
                </a:lnTo>
                <a:lnTo>
                  <a:pt x="369431" y="73484"/>
                </a:lnTo>
                <a:lnTo>
                  <a:pt x="351686" y="106683"/>
                </a:lnTo>
                <a:lnTo>
                  <a:pt x="327805" y="135781"/>
                </a:lnTo>
                <a:lnTo>
                  <a:pt x="298707" y="159662"/>
                </a:lnTo>
                <a:lnTo>
                  <a:pt x="265508" y="177407"/>
                </a:lnTo>
                <a:lnTo>
                  <a:pt x="229486" y="188334"/>
                </a:lnTo>
                <a:lnTo>
                  <a:pt x="192024" y="192024"/>
                </a:lnTo>
                <a:lnTo>
                  <a:pt x="154562" y="188334"/>
                </a:lnTo>
                <a:lnTo>
                  <a:pt x="118540" y="177407"/>
                </a:lnTo>
                <a:lnTo>
                  <a:pt x="85341" y="159662"/>
                </a:lnTo>
                <a:lnTo>
                  <a:pt x="56243" y="135781"/>
                </a:lnTo>
                <a:lnTo>
                  <a:pt x="32362" y="106683"/>
                </a:lnTo>
                <a:lnTo>
                  <a:pt x="14617" y="73484"/>
                </a:lnTo>
                <a:lnTo>
                  <a:pt x="3690" y="37462"/>
                </a:lnTo>
                <a:lnTo>
                  <a:pt x="0" y="0"/>
                </a:lnTo>
              </a:path>
            </a:pathLst>
          </a:custGeom>
          <a:ln w="19050">
            <a:solidFill>
              <a:srgbClr val="2A1F3D"/>
            </a:solidFill>
            <a:prstDash val="solid"/>
          </a:ln>
        </p:spPr>
      </p:sp>
      <p:sp>
        <p:nvSpPr>
          <p:cNvPr id="26" name="Shape 24"/>
          <p:cNvSpPr/>
          <p:nvPr/>
        </p:nvSpPr>
        <p:spPr>
          <a:xfrm>
            <a:off x="1929384" y="1691640"/>
            <a:ext cx="36576" cy="91"/>
          </a:xfrm>
          <a:prstGeom prst="line">
            <a:avLst/>
          </a:prstGeom>
          <a:noFill/>
          <a:ln w="19050">
            <a:solidFill>
              <a:srgbClr val="2A1F3D"/>
            </a:solidFill>
            <a:prstDash val="solid"/>
          </a:ln>
        </p:spPr>
      </p:sp>
      <p:sp>
        <p:nvSpPr>
          <p:cNvPr id="27" name="Shape 25"/>
          <p:cNvSpPr/>
          <p:nvPr/>
        </p:nvSpPr>
        <p:spPr>
          <a:xfrm>
            <a:off x="2350008" y="1691640"/>
            <a:ext cx="36576" cy="91"/>
          </a:xfrm>
          <a:prstGeom prst="line">
            <a:avLst/>
          </a:prstGeom>
          <a:noFill/>
          <a:ln w="19050">
            <a:solidFill>
              <a:srgbClr val="2A1F3D"/>
            </a:solidFill>
            <a:prstDash val="solid"/>
          </a:ln>
        </p:spPr>
      </p:sp>
      <p:sp>
        <p:nvSpPr>
          <p:cNvPr id="28" name="Shape 26"/>
          <p:cNvSpPr/>
          <p:nvPr/>
        </p:nvSpPr>
        <p:spPr>
          <a:xfrm>
            <a:off x="2075688" y="2788920"/>
            <a:ext cx="164592" cy="347472"/>
          </a:xfrm>
          <a:prstGeom prst="rect">
            <a:avLst/>
          </a:prstGeom>
          <a:solidFill>
            <a:srgbClr val="8C8C8C"/>
          </a:solidFill>
          <a:ln w="9525">
            <a:solidFill>
              <a:srgbClr val="4A5568"/>
            </a:solidFill>
            <a:prstDash val="solid"/>
          </a:ln>
        </p:spPr>
      </p:sp>
      <p:sp>
        <p:nvSpPr>
          <p:cNvPr id="29" name="Shape 27"/>
          <p:cNvSpPr/>
          <p:nvPr/>
        </p:nvSpPr>
        <p:spPr>
          <a:xfrm>
            <a:off x="2011680" y="2624328"/>
            <a:ext cx="54864" cy="54864"/>
          </a:xfrm>
          <a:prstGeom prst="ellipse">
            <a:avLst/>
          </a:prstGeom>
          <a:solidFill>
            <a:srgbClr val="FFFFFF"/>
          </a:solidFill>
          <a:ln w="7620">
            <a:solidFill>
              <a:srgbClr val="5B9BD5"/>
            </a:solidFill>
            <a:prstDash val="solid"/>
          </a:ln>
        </p:spPr>
      </p:sp>
      <p:sp>
        <p:nvSpPr>
          <p:cNvPr id="30" name="Shape 28"/>
          <p:cNvSpPr/>
          <p:nvPr/>
        </p:nvSpPr>
        <p:spPr>
          <a:xfrm>
            <a:off x="2112264" y="2333549"/>
            <a:ext cx="54864" cy="54864"/>
          </a:xfrm>
          <a:prstGeom prst="ellipse">
            <a:avLst/>
          </a:prstGeom>
          <a:solidFill>
            <a:srgbClr val="FFFFFF"/>
          </a:solidFill>
          <a:ln w="7620">
            <a:solidFill>
              <a:srgbClr val="5B9BD5"/>
            </a:solidFill>
            <a:prstDash val="solid"/>
          </a:ln>
        </p:spPr>
      </p:sp>
      <p:sp>
        <p:nvSpPr>
          <p:cNvPr id="31" name="Shape 29"/>
          <p:cNvSpPr/>
          <p:nvPr/>
        </p:nvSpPr>
        <p:spPr>
          <a:xfrm>
            <a:off x="2212848" y="2426818"/>
            <a:ext cx="54864" cy="54864"/>
          </a:xfrm>
          <a:prstGeom prst="ellipse">
            <a:avLst/>
          </a:prstGeom>
          <a:solidFill>
            <a:srgbClr val="FFFFFF"/>
          </a:solidFill>
          <a:ln w="7620">
            <a:solidFill>
              <a:srgbClr val="5B9BD5"/>
            </a:solidFill>
            <a:prstDash val="solid"/>
          </a:ln>
        </p:spPr>
      </p:sp>
      <p:sp>
        <p:nvSpPr>
          <p:cNvPr id="32" name="Text 30"/>
          <p:cNvSpPr/>
          <p:nvPr/>
        </p:nvSpPr>
        <p:spPr>
          <a:xfrm>
            <a:off x="1691640" y="3364992"/>
            <a:ext cx="932688" cy="201168"/>
          </a:xfrm>
          <a:prstGeom prst="rect">
            <a:avLst/>
          </a:prstGeom>
          <a:noFill/>
          <a:ln/>
        </p:spPr>
        <p:txBody>
          <a:bodyPr wrap="square" lIns="0" tIns="0" rIns="0" bIns="0" rtlCol="0" anchor="ctr"/>
          <a:lstStyle/>
          <a:p>
            <a:pPr algn="ctr" indent="0" marL="0">
              <a:buNone/>
            </a:pPr>
            <a:r>
              <a:rPr lang="en-US" sz="1000" b="1" dirty="0">
                <a:solidFill>
                  <a:srgbClr val="262B3A"/>
                </a:solidFill>
                <a:latin typeface="Calibri" pitchFamily="34" charset="0"/>
                <a:ea typeface="Calibri" pitchFamily="34" charset="-122"/>
                <a:cs typeface="Calibri" pitchFamily="34" charset="-120"/>
              </a:rPr>
              <a:t>iron</a:t>
            </a:r>
            <a:endParaRPr lang="en-US" sz="1000" dirty="0"/>
          </a:p>
        </p:txBody>
      </p:sp>
      <p:sp>
        <p:nvSpPr>
          <p:cNvPr id="33" name="Text 31"/>
          <p:cNvSpPr/>
          <p:nvPr/>
        </p:nvSpPr>
        <p:spPr>
          <a:xfrm>
            <a:off x="1691640" y="3566160"/>
            <a:ext cx="932688" cy="201168"/>
          </a:xfrm>
          <a:prstGeom prst="rect">
            <a:avLst/>
          </a:prstGeom>
          <a:noFill/>
          <a:ln/>
        </p:spPr>
        <p:txBody>
          <a:bodyPr wrap="square" lIns="0" tIns="0" rIns="0" bIns="0" rtlCol="0" anchor="ctr"/>
          <a:lstStyle/>
          <a:p>
            <a:pPr algn="ctr" indent="0" marL="0">
              <a:buNone/>
            </a:pPr>
            <a:r>
              <a:rPr lang="en-US" sz="950" dirty="0">
                <a:solidFill>
                  <a:srgbClr val="6B7385"/>
                </a:solidFill>
                <a:latin typeface="Calibri" pitchFamily="34" charset="0"/>
                <a:ea typeface="Calibri" pitchFamily="34" charset="-122"/>
                <a:cs typeface="Calibri" pitchFamily="34" charset="-120"/>
              </a:rPr>
              <a:t>slow</a:t>
            </a:r>
            <a:endParaRPr lang="en-US" sz="950" dirty="0"/>
          </a:p>
        </p:txBody>
      </p:sp>
      <p:sp>
        <p:nvSpPr>
          <p:cNvPr id="34" name="Shape 32"/>
          <p:cNvSpPr/>
          <p:nvPr/>
        </p:nvSpPr>
        <p:spPr>
          <a:xfrm>
            <a:off x="3063240" y="1691640"/>
            <a:ext cx="384048" cy="1600200"/>
          </a:xfrm>
          <a:custGeom>
            <a:avLst/>
            <a:gdLst/>
            <a:ahLst/>
            <a:cxnLst/>
            <a:rect l="l" t="t" r="r" b="b"/>
            <a:pathLst>
              <a:path w="384048" h="1600200">
                <a:moveTo>
                  <a:pt x="0" y="0"/>
                </a:moveTo>
                <a:lnTo>
                  <a:pt x="384048" y="0"/>
                </a:lnTo>
                <a:lnTo>
                  <a:pt x="384048" y="1408176"/>
                </a:lnTo>
                <a:lnTo>
                  <a:pt x="380358" y="1445638"/>
                </a:lnTo>
                <a:lnTo>
                  <a:pt x="369431" y="1481660"/>
                </a:lnTo>
                <a:lnTo>
                  <a:pt x="351686" y="1514859"/>
                </a:lnTo>
                <a:lnTo>
                  <a:pt x="327805" y="1543957"/>
                </a:lnTo>
                <a:lnTo>
                  <a:pt x="298707" y="1567838"/>
                </a:lnTo>
                <a:lnTo>
                  <a:pt x="265508" y="1585583"/>
                </a:lnTo>
                <a:lnTo>
                  <a:pt x="229486" y="1596510"/>
                </a:lnTo>
                <a:lnTo>
                  <a:pt x="192024" y="1600200"/>
                </a:lnTo>
                <a:lnTo>
                  <a:pt x="154562" y="1596510"/>
                </a:lnTo>
                <a:lnTo>
                  <a:pt x="118540" y="1585583"/>
                </a:lnTo>
                <a:lnTo>
                  <a:pt x="85341" y="1567838"/>
                </a:lnTo>
                <a:lnTo>
                  <a:pt x="56243" y="1543957"/>
                </a:lnTo>
                <a:lnTo>
                  <a:pt x="32362" y="1514859"/>
                </a:lnTo>
                <a:lnTo>
                  <a:pt x="14617" y="1481660"/>
                </a:lnTo>
                <a:lnTo>
                  <a:pt x="3690" y="1445638"/>
                </a:lnTo>
                <a:lnTo>
                  <a:pt x="0" y="1408176"/>
                </a:lnTo>
                <a:close/>
              </a:path>
            </a:pathLst>
          </a:custGeom>
          <a:solidFill>
            <a:srgbClr val="EEF5FB"/>
          </a:solidFill>
          <a:ln/>
        </p:spPr>
      </p:sp>
      <p:sp>
        <p:nvSpPr>
          <p:cNvPr id="35" name="Shape 33"/>
          <p:cNvSpPr/>
          <p:nvPr/>
        </p:nvSpPr>
        <p:spPr>
          <a:xfrm>
            <a:off x="3063240" y="2299716"/>
            <a:ext cx="384048" cy="992124"/>
          </a:xfrm>
          <a:custGeom>
            <a:avLst/>
            <a:gdLst/>
            <a:ahLst/>
            <a:cxnLst/>
            <a:rect l="l" t="t" r="r" b="b"/>
            <a:pathLst>
              <a:path w="384048" h="992124">
                <a:moveTo>
                  <a:pt x="0" y="0"/>
                </a:moveTo>
                <a:lnTo>
                  <a:pt x="384048" y="0"/>
                </a:lnTo>
                <a:lnTo>
                  <a:pt x="384048" y="800100"/>
                </a:lnTo>
                <a:lnTo>
                  <a:pt x="380358" y="837562"/>
                </a:lnTo>
                <a:lnTo>
                  <a:pt x="369431" y="873584"/>
                </a:lnTo>
                <a:lnTo>
                  <a:pt x="351686" y="906783"/>
                </a:lnTo>
                <a:lnTo>
                  <a:pt x="327805" y="935881"/>
                </a:lnTo>
                <a:lnTo>
                  <a:pt x="298707" y="959762"/>
                </a:lnTo>
                <a:lnTo>
                  <a:pt x="265508" y="977507"/>
                </a:lnTo>
                <a:lnTo>
                  <a:pt x="229486" y="988434"/>
                </a:lnTo>
                <a:lnTo>
                  <a:pt x="192024" y="992124"/>
                </a:lnTo>
                <a:lnTo>
                  <a:pt x="154562" y="988434"/>
                </a:lnTo>
                <a:lnTo>
                  <a:pt x="118540" y="977507"/>
                </a:lnTo>
                <a:lnTo>
                  <a:pt x="85341" y="959762"/>
                </a:lnTo>
                <a:lnTo>
                  <a:pt x="56243" y="935881"/>
                </a:lnTo>
                <a:lnTo>
                  <a:pt x="32362" y="906783"/>
                </a:lnTo>
                <a:lnTo>
                  <a:pt x="14617" y="873584"/>
                </a:lnTo>
                <a:lnTo>
                  <a:pt x="3690" y="837562"/>
                </a:lnTo>
                <a:lnTo>
                  <a:pt x="0" y="800100"/>
                </a:lnTo>
                <a:close/>
              </a:path>
            </a:pathLst>
          </a:custGeom>
          <a:solidFill>
            <a:srgbClr val="CFE4F7"/>
          </a:solidFill>
          <a:ln/>
        </p:spPr>
      </p:sp>
      <p:sp>
        <p:nvSpPr>
          <p:cNvPr id="36" name="Shape 34"/>
          <p:cNvSpPr/>
          <p:nvPr/>
        </p:nvSpPr>
        <p:spPr>
          <a:xfrm>
            <a:off x="3063240" y="1691640"/>
            <a:ext cx="91" cy="1408176"/>
          </a:xfrm>
          <a:prstGeom prst="line">
            <a:avLst/>
          </a:prstGeom>
          <a:noFill/>
          <a:ln w="19050">
            <a:solidFill>
              <a:srgbClr val="2A1F3D"/>
            </a:solidFill>
            <a:prstDash val="solid"/>
          </a:ln>
        </p:spPr>
      </p:sp>
      <p:sp>
        <p:nvSpPr>
          <p:cNvPr id="37" name="Shape 35"/>
          <p:cNvSpPr/>
          <p:nvPr/>
        </p:nvSpPr>
        <p:spPr>
          <a:xfrm>
            <a:off x="3447288" y="1691640"/>
            <a:ext cx="91" cy="1408176"/>
          </a:xfrm>
          <a:prstGeom prst="line">
            <a:avLst/>
          </a:prstGeom>
          <a:noFill/>
          <a:ln w="19050">
            <a:solidFill>
              <a:srgbClr val="2A1F3D"/>
            </a:solidFill>
            <a:prstDash val="solid"/>
          </a:ln>
        </p:spPr>
      </p:sp>
      <p:sp>
        <p:nvSpPr>
          <p:cNvPr id="38" name="Shape 36"/>
          <p:cNvSpPr/>
          <p:nvPr/>
        </p:nvSpPr>
        <p:spPr>
          <a:xfrm>
            <a:off x="3063240" y="3099816"/>
            <a:ext cx="384048" cy="192024"/>
          </a:xfrm>
          <a:custGeom>
            <a:avLst/>
            <a:gdLst/>
            <a:ahLst/>
            <a:cxnLst/>
            <a:rect l="l" t="t" r="r" b="b"/>
            <a:pathLst>
              <a:path w="384048" h="192024">
                <a:moveTo>
                  <a:pt x="384048" y="0"/>
                </a:moveTo>
                <a:lnTo>
                  <a:pt x="380358" y="37462"/>
                </a:lnTo>
                <a:lnTo>
                  <a:pt x="369431" y="73484"/>
                </a:lnTo>
                <a:lnTo>
                  <a:pt x="351686" y="106683"/>
                </a:lnTo>
                <a:lnTo>
                  <a:pt x="327805" y="135781"/>
                </a:lnTo>
                <a:lnTo>
                  <a:pt x="298707" y="159662"/>
                </a:lnTo>
                <a:lnTo>
                  <a:pt x="265508" y="177407"/>
                </a:lnTo>
                <a:lnTo>
                  <a:pt x="229486" y="188334"/>
                </a:lnTo>
                <a:lnTo>
                  <a:pt x="192024" y="192024"/>
                </a:lnTo>
                <a:lnTo>
                  <a:pt x="154562" y="188334"/>
                </a:lnTo>
                <a:lnTo>
                  <a:pt x="118540" y="177407"/>
                </a:lnTo>
                <a:lnTo>
                  <a:pt x="85341" y="159662"/>
                </a:lnTo>
                <a:lnTo>
                  <a:pt x="56243" y="135781"/>
                </a:lnTo>
                <a:lnTo>
                  <a:pt x="32362" y="106683"/>
                </a:lnTo>
                <a:lnTo>
                  <a:pt x="14617" y="73484"/>
                </a:lnTo>
                <a:lnTo>
                  <a:pt x="3690" y="37462"/>
                </a:lnTo>
                <a:lnTo>
                  <a:pt x="0" y="0"/>
                </a:lnTo>
              </a:path>
            </a:pathLst>
          </a:custGeom>
          <a:ln w="19050">
            <a:solidFill>
              <a:srgbClr val="2A1F3D"/>
            </a:solidFill>
            <a:prstDash val="solid"/>
          </a:ln>
        </p:spPr>
      </p:sp>
      <p:sp>
        <p:nvSpPr>
          <p:cNvPr id="39" name="Shape 37"/>
          <p:cNvSpPr/>
          <p:nvPr/>
        </p:nvSpPr>
        <p:spPr>
          <a:xfrm>
            <a:off x="3026664" y="1691640"/>
            <a:ext cx="36576" cy="91"/>
          </a:xfrm>
          <a:prstGeom prst="line">
            <a:avLst/>
          </a:prstGeom>
          <a:noFill/>
          <a:ln w="19050">
            <a:solidFill>
              <a:srgbClr val="2A1F3D"/>
            </a:solidFill>
            <a:prstDash val="solid"/>
          </a:ln>
        </p:spPr>
      </p:sp>
      <p:sp>
        <p:nvSpPr>
          <p:cNvPr id="40" name="Shape 38"/>
          <p:cNvSpPr/>
          <p:nvPr/>
        </p:nvSpPr>
        <p:spPr>
          <a:xfrm>
            <a:off x="3447288" y="1691640"/>
            <a:ext cx="36576" cy="91"/>
          </a:xfrm>
          <a:prstGeom prst="line">
            <a:avLst/>
          </a:prstGeom>
          <a:noFill/>
          <a:ln w="19050">
            <a:solidFill>
              <a:srgbClr val="2A1F3D"/>
            </a:solidFill>
            <a:prstDash val="solid"/>
          </a:ln>
        </p:spPr>
      </p:sp>
      <p:sp>
        <p:nvSpPr>
          <p:cNvPr id="41" name="Shape 39"/>
          <p:cNvSpPr/>
          <p:nvPr/>
        </p:nvSpPr>
        <p:spPr>
          <a:xfrm>
            <a:off x="3172968" y="2788920"/>
            <a:ext cx="164592" cy="347472"/>
          </a:xfrm>
          <a:prstGeom prst="rect">
            <a:avLst/>
          </a:prstGeom>
          <a:solidFill>
            <a:srgbClr val="B8C0CC"/>
          </a:solidFill>
          <a:ln w="9525">
            <a:solidFill>
              <a:srgbClr val="4A5568"/>
            </a:solidFill>
            <a:prstDash val="solid"/>
          </a:ln>
        </p:spPr>
      </p:sp>
      <p:sp>
        <p:nvSpPr>
          <p:cNvPr id="42" name="Shape 40"/>
          <p:cNvSpPr/>
          <p:nvPr/>
        </p:nvSpPr>
        <p:spPr>
          <a:xfrm>
            <a:off x="3108960" y="2624328"/>
            <a:ext cx="54864" cy="54864"/>
          </a:xfrm>
          <a:prstGeom prst="ellipse">
            <a:avLst/>
          </a:prstGeom>
          <a:solidFill>
            <a:srgbClr val="FFFFFF"/>
          </a:solidFill>
          <a:ln w="7620">
            <a:solidFill>
              <a:srgbClr val="5B9BD5"/>
            </a:solidFill>
            <a:prstDash val="solid"/>
          </a:ln>
        </p:spPr>
      </p:sp>
      <p:sp>
        <p:nvSpPr>
          <p:cNvPr id="43" name="Shape 41"/>
          <p:cNvSpPr/>
          <p:nvPr/>
        </p:nvSpPr>
        <p:spPr>
          <a:xfrm>
            <a:off x="3209544" y="2333549"/>
            <a:ext cx="54864" cy="54864"/>
          </a:xfrm>
          <a:prstGeom prst="ellipse">
            <a:avLst/>
          </a:prstGeom>
          <a:solidFill>
            <a:srgbClr val="FFFFFF"/>
          </a:solidFill>
          <a:ln w="7620">
            <a:solidFill>
              <a:srgbClr val="5B9BD5"/>
            </a:solidFill>
            <a:prstDash val="solid"/>
          </a:ln>
        </p:spPr>
      </p:sp>
      <p:sp>
        <p:nvSpPr>
          <p:cNvPr id="44" name="Shape 42"/>
          <p:cNvSpPr/>
          <p:nvPr/>
        </p:nvSpPr>
        <p:spPr>
          <a:xfrm>
            <a:off x="3310128" y="2426818"/>
            <a:ext cx="54864" cy="54864"/>
          </a:xfrm>
          <a:prstGeom prst="ellipse">
            <a:avLst/>
          </a:prstGeom>
          <a:solidFill>
            <a:srgbClr val="FFFFFF"/>
          </a:solidFill>
          <a:ln w="7620">
            <a:solidFill>
              <a:srgbClr val="5B9BD5"/>
            </a:solidFill>
            <a:prstDash val="solid"/>
          </a:ln>
        </p:spPr>
      </p:sp>
      <p:sp>
        <p:nvSpPr>
          <p:cNvPr id="45" name="Shape 43"/>
          <p:cNvSpPr/>
          <p:nvPr/>
        </p:nvSpPr>
        <p:spPr>
          <a:xfrm>
            <a:off x="3172968" y="2520086"/>
            <a:ext cx="54864" cy="54864"/>
          </a:xfrm>
          <a:prstGeom prst="ellipse">
            <a:avLst/>
          </a:prstGeom>
          <a:solidFill>
            <a:srgbClr val="FFFFFF"/>
          </a:solidFill>
          <a:ln w="7620">
            <a:solidFill>
              <a:srgbClr val="5B9BD5"/>
            </a:solidFill>
            <a:prstDash val="solid"/>
          </a:ln>
        </p:spPr>
      </p:sp>
      <p:sp>
        <p:nvSpPr>
          <p:cNvPr id="46" name="Shape 44"/>
          <p:cNvSpPr/>
          <p:nvPr/>
        </p:nvSpPr>
        <p:spPr>
          <a:xfrm>
            <a:off x="3273552" y="2613355"/>
            <a:ext cx="54864" cy="54864"/>
          </a:xfrm>
          <a:prstGeom prst="ellipse">
            <a:avLst/>
          </a:prstGeom>
          <a:solidFill>
            <a:srgbClr val="FFFFFF"/>
          </a:solidFill>
          <a:ln w="7620">
            <a:solidFill>
              <a:srgbClr val="5B9BD5"/>
            </a:solidFill>
            <a:prstDash val="solid"/>
          </a:ln>
        </p:spPr>
      </p:sp>
      <p:sp>
        <p:nvSpPr>
          <p:cNvPr id="47" name="Shape 45"/>
          <p:cNvSpPr/>
          <p:nvPr/>
        </p:nvSpPr>
        <p:spPr>
          <a:xfrm>
            <a:off x="3136392" y="2322576"/>
            <a:ext cx="54864" cy="54864"/>
          </a:xfrm>
          <a:prstGeom prst="ellipse">
            <a:avLst/>
          </a:prstGeom>
          <a:solidFill>
            <a:srgbClr val="FFFFFF"/>
          </a:solidFill>
          <a:ln w="7620">
            <a:solidFill>
              <a:srgbClr val="5B9BD5"/>
            </a:solidFill>
            <a:prstDash val="solid"/>
          </a:ln>
        </p:spPr>
      </p:sp>
      <p:sp>
        <p:nvSpPr>
          <p:cNvPr id="48" name="Shape 46"/>
          <p:cNvSpPr/>
          <p:nvPr/>
        </p:nvSpPr>
        <p:spPr>
          <a:xfrm>
            <a:off x="3236976" y="2415845"/>
            <a:ext cx="54864" cy="54864"/>
          </a:xfrm>
          <a:prstGeom prst="ellipse">
            <a:avLst/>
          </a:prstGeom>
          <a:solidFill>
            <a:srgbClr val="FFFFFF"/>
          </a:solidFill>
          <a:ln w="7620">
            <a:solidFill>
              <a:srgbClr val="5B9BD5"/>
            </a:solidFill>
            <a:prstDash val="solid"/>
          </a:ln>
        </p:spPr>
      </p:sp>
      <p:sp>
        <p:nvSpPr>
          <p:cNvPr id="49" name="Text 47"/>
          <p:cNvSpPr/>
          <p:nvPr/>
        </p:nvSpPr>
        <p:spPr>
          <a:xfrm>
            <a:off x="2788920" y="3364992"/>
            <a:ext cx="932688" cy="201168"/>
          </a:xfrm>
          <a:prstGeom prst="rect">
            <a:avLst/>
          </a:prstGeom>
          <a:noFill/>
          <a:ln/>
        </p:spPr>
        <p:txBody>
          <a:bodyPr wrap="square" lIns="0" tIns="0" rIns="0" bIns="0" rtlCol="0" anchor="ctr"/>
          <a:lstStyle/>
          <a:p>
            <a:pPr algn="ctr" indent="0" marL="0">
              <a:buNone/>
            </a:pPr>
            <a:r>
              <a:rPr lang="en-US" sz="1000" b="1" dirty="0">
                <a:solidFill>
                  <a:srgbClr val="262B3A"/>
                </a:solidFill>
                <a:latin typeface="Calibri" pitchFamily="34" charset="0"/>
                <a:ea typeface="Calibri" pitchFamily="34" charset="-122"/>
                <a:cs typeface="Calibri" pitchFamily="34" charset="-120"/>
              </a:rPr>
              <a:t>zinc</a:t>
            </a:r>
            <a:endParaRPr lang="en-US" sz="1000" dirty="0"/>
          </a:p>
        </p:txBody>
      </p:sp>
      <p:sp>
        <p:nvSpPr>
          <p:cNvPr id="50" name="Text 48"/>
          <p:cNvSpPr/>
          <p:nvPr/>
        </p:nvSpPr>
        <p:spPr>
          <a:xfrm>
            <a:off x="2788920" y="3566160"/>
            <a:ext cx="932688" cy="201168"/>
          </a:xfrm>
          <a:prstGeom prst="rect">
            <a:avLst/>
          </a:prstGeom>
          <a:noFill/>
          <a:ln/>
        </p:spPr>
        <p:txBody>
          <a:bodyPr wrap="square" lIns="0" tIns="0" rIns="0" bIns="0" rtlCol="0" anchor="ctr"/>
          <a:lstStyle/>
          <a:p>
            <a:pPr algn="ctr" indent="0" marL="0">
              <a:buNone/>
            </a:pPr>
            <a:r>
              <a:rPr lang="en-US" sz="950" dirty="0">
                <a:solidFill>
                  <a:srgbClr val="6B7385"/>
                </a:solidFill>
                <a:latin typeface="Calibri" pitchFamily="34" charset="0"/>
                <a:ea typeface="Calibri" pitchFamily="34" charset="-122"/>
                <a:cs typeface="Calibri" pitchFamily="34" charset="-120"/>
              </a:rPr>
              <a:t>steady</a:t>
            </a:r>
            <a:endParaRPr lang="en-US" sz="950" dirty="0"/>
          </a:p>
        </p:txBody>
      </p:sp>
      <p:sp>
        <p:nvSpPr>
          <p:cNvPr id="51" name="Shape 49"/>
          <p:cNvSpPr/>
          <p:nvPr/>
        </p:nvSpPr>
        <p:spPr>
          <a:xfrm>
            <a:off x="4160520" y="1691640"/>
            <a:ext cx="384048" cy="1600200"/>
          </a:xfrm>
          <a:custGeom>
            <a:avLst/>
            <a:gdLst/>
            <a:ahLst/>
            <a:cxnLst/>
            <a:rect l="l" t="t" r="r" b="b"/>
            <a:pathLst>
              <a:path w="384048" h="1600200">
                <a:moveTo>
                  <a:pt x="0" y="0"/>
                </a:moveTo>
                <a:lnTo>
                  <a:pt x="384048" y="0"/>
                </a:lnTo>
                <a:lnTo>
                  <a:pt x="384048" y="1408176"/>
                </a:lnTo>
                <a:lnTo>
                  <a:pt x="380358" y="1445638"/>
                </a:lnTo>
                <a:lnTo>
                  <a:pt x="369431" y="1481660"/>
                </a:lnTo>
                <a:lnTo>
                  <a:pt x="351686" y="1514859"/>
                </a:lnTo>
                <a:lnTo>
                  <a:pt x="327805" y="1543957"/>
                </a:lnTo>
                <a:lnTo>
                  <a:pt x="298707" y="1567838"/>
                </a:lnTo>
                <a:lnTo>
                  <a:pt x="265508" y="1585583"/>
                </a:lnTo>
                <a:lnTo>
                  <a:pt x="229486" y="1596510"/>
                </a:lnTo>
                <a:lnTo>
                  <a:pt x="192024" y="1600200"/>
                </a:lnTo>
                <a:lnTo>
                  <a:pt x="154562" y="1596510"/>
                </a:lnTo>
                <a:lnTo>
                  <a:pt x="118540" y="1585583"/>
                </a:lnTo>
                <a:lnTo>
                  <a:pt x="85341" y="1567838"/>
                </a:lnTo>
                <a:lnTo>
                  <a:pt x="56243" y="1543957"/>
                </a:lnTo>
                <a:lnTo>
                  <a:pt x="32362" y="1514859"/>
                </a:lnTo>
                <a:lnTo>
                  <a:pt x="14617" y="1481660"/>
                </a:lnTo>
                <a:lnTo>
                  <a:pt x="3690" y="1445638"/>
                </a:lnTo>
                <a:lnTo>
                  <a:pt x="0" y="1408176"/>
                </a:lnTo>
                <a:close/>
              </a:path>
            </a:pathLst>
          </a:custGeom>
          <a:solidFill>
            <a:srgbClr val="EEF5FB"/>
          </a:solidFill>
          <a:ln/>
        </p:spPr>
      </p:sp>
      <p:sp>
        <p:nvSpPr>
          <p:cNvPr id="52" name="Shape 50"/>
          <p:cNvSpPr/>
          <p:nvPr/>
        </p:nvSpPr>
        <p:spPr>
          <a:xfrm>
            <a:off x="4160520" y="2299716"/>
            <a:ext cx="384048" cy="992124"/>
          </a:xfrm>
          <a:custGeom>
            <a:avLst/>
            <a:gdLst/>
            <a:ahLst/>
            <a:cxnLst/>
            <a:rect l="l" t="t" r="r" b="b"/>
            <a:pathLst>
              <a:path w="384048" h="992124">
                <a:moveTo>
                  <a:pt x="0" y="0"/>
                </a:moveTo>
                <a:lnTo>
                  <a:pt x="384048" y="0"/>
                </a:lnTo>
                <a:lnTo>
                  <a:pt x="384048" y="800100"/>
                </a:lnTo>
                <a:lnTo>
                  <a:pt x="380358" y="837562"/>
                </a:lnTo>
                <a:lnTo>
                  <a:pt x="369431" y="873584"/>
                </a:lnTo>
                <a:lnTo>
                  <a:pt x="351686" y="906783"/>
                </a:lnTo>
                <a:lnTo>
                  <a:pt x="327805" y="935881"/>
                </a:lnTo>
                <a:lnTo>
                  <a:pt x="298707" y="959762"/>
                </a:lnTo>
                <a:lnTo>
                  <a:pt x="265508" y="977507"/>
                </a:lnTo>
                <a:lnTo>
                  <a:pt x="229486" y="988434"/>
                </a:lnTo>
                <a:lnTo>
                  <a:pt x="192024" y="992124"/>
                </a:lnTo>
                <a:lnTo>
                  <a:pt x="154562" y="988434"/>
                </a:lnTo>
                <a:lnTo>
                  <a:pt x="118540" y="977507"/>
                </a:lnTo>
                <a:lnTo>
                  <a:pt x="85341" y="959762"/>
                </a:lnTo>
                <a:lnTo>
                  <a:pt x="56243" y="935881"/>
                </a:lnTo>
                <a:lnTo>
                  <a:pt x="32362" y="906783"/>
                </a:lnTo>
                <a:lnTo>
                  <a:pt x="14617" y="873584"/>
                </a:lnTo>
                <a:lnTo>
                  <a:pt x="3690" y="837562"/>
                </a:lnTo>
                <a:lnTo>
                  <a:pt x="0" y="800100"/>
                </a:lnTo>
                <a:close/>
              </a:path>
            </a:pathLst>
          </a:custGeom>
          <a:solidFill>
            <a:srgbClr val="CFE4F7"/>
          </a:solidFill>
          <a:ln/>
        </p:spPr>
      </p:sp>
      <p:sp>
        <p:nvSpPr>
          <p:cNvPr id="53" name="Shape 51"/>
          <p:cNvSpPr/>
          <p:nvPr/>
        </p:nvSpPr>
        <p:spPr>
          <a:xfrm>
            <a:off x="4160520" y="1691640"/>
            <a:ext cx="91" cy="1408176"/>
          </a:xfrm>
          <a:prstGeom prst="line">
            <a:avLst/>
          </a:prstGeom>
          <a:noFill/>
          <a:ln w="19050">
            <a:solidFill>
              <a:srgbClr val="2A1F3D"/>
            </a:solidFill>
            <a:prstDash val="solid"/>
          </a:ln>
        </p:spPr>
      </p:sp>
      <p:sp>
        <p:nvSpPr>
          <p:cNvPr id="54" name="Shape 52"/>
          <p:cNvSpPr/>
          <p:nvPr/>
        </p:nvSpPr>
        <p:spPr>
          <a:xfrm>
            <a:off x="4544568" y="1691640"/>
            <a:ext cx="91" cy="1408176"/>
          </a:xfrm>
          <a:prstGeom prst="line">
            <a:avLst/>
          </a:prstGeom>
          <a:noFill/>
          <a:ln w="19050">
            <a:solidFill>
              <a:srgbClr val="2A1F3D"/>
            </a:solidFill>
            <a:prstDash val="solid"/>
          </a:ln>
        </p:spPr>
      </p:sp>
      <p:sp>
        <p:nvSpPr>
          <p:cNvPr id="55" name="Shape 53"/>
          <p:cNvSpPr/>
          <p:nvPr/>
        </p:nvSpPr>
        <p:spPr>
          <a:xfrm>
            <a:off x="4160520" y="3099816"/>
            <a:ext cx="384048" cy="192024"/>
          </a:xfrm>
          <a:custGeom>
            <a:avLst/>
            <a:gdLst/>
            <a:ahLst/>
            <a:cxnLst/>
            <a:rect l="l" t="t" r="r" b="b"/>
            <a:pathLst>
              <a:path w="384048" h="192024">
                <a:moveTo>
                  <a:pt x="384048" y="0"/>
                </a:moveTo>
                <a:lnTo>
                  <a:pt x="380358" y="37462"/>
                </a:lnTo>
                <a:lnTo>
                  <a:pt x="369431" y="73484"/>
                </a:lnTo>
                <a:lnTo>
                  <a:pt x="351686" y="106683"/>
                </a:lnTo>
                <a:lnTo>
                  <a:pt x="327805" y="135781"/>
                </a:lnTo>
                <a:lnTo>
                  <a:pt x="298707" y="159662"/>
                </a:lnTo>
                <a:lnTo>
                  <a:pt x="265508" y="177407"/>
                </a:lnTo>
                <a:lnTo>
                  <a:pt x="229486" y="188334"/>
                </a:lnTo>
                <a:lnTo>
                  <a:pt x="192024" y="192024"/>
                </a:lnTo>
                <a:lnTo>
                  <a:pt x="154562" y="188334"/>
                </a:lnTo>
                <a:lnTo>
                  <a:pt x="118540" y="177407"/>
                </a:lnTo>
                <a:lnTo>
                  <a:pt x="85341" y="159662"/>
                </a:lnTo>
                <a:lnTo>
                  <a:pt x="56243" y="135781"/>
                </a:lnTo>
                <a:lnTo>
                  <a:pt x="32362" y="106683"/>
                </a:lnTo>
                <a:lnTo>
                  <a:pt x="14617" y="73484"/>
                </a:lnTo>
                <a:lnTo>
                  <a:pt x="3690" y="37462"/>
                </a:lnTo>
                <a:lnTo>
                  <a:pt x="0" y="0"/>
                </a:lnTo>
              </a:path>
            </a:pathLst>
          </a:custGeom>
          <a:ln w="19050">
            <a:solidFill>
              <a:srgbClr val="2A1F3D"/>
            </a:solidFill>
            <a:prstDash val="solid"/>
          </a:ln>
        </p:spPr>
      </p:sp>
      <p:sp>
        <p:nvSpPr>
          <p:cNvPr id="56" name="Shape 54"/>
          <p:cNvSpPr/>
          <p:nvPr/>
        </p:nvSpPr>
        <p:spPr>
          <a:xfrm>
            <a:off x="4123944" y="1691640"/>
            <a:ext cx="36576" cy="91"/>
          </a:xfrm>
          <a:prstGeom prst="line">
            <a:avLst/>
          </a:prstGeom>
          <a:noFill/>
          <a:ln w="19050">
            <a:solidFill>
              <a:srgbClr val="2A1F3D"/>
            </a:solidFill>
            <a:prstDash val="solid"/>
          </a:ln>
        </p:spPr>
      </p:sp>
      <p:sp>
        <p:nvSpPr>
          <p:cNvPr id="57" name="Shape 55"/>
          <p:cNvSpPr/>
          <p:nvPr/>
        </p:nvSpPr>
        <p:spPr>
          <a:xfrm>
            <a:off x="4544568" y="1691640"/>
            <a:ext cx="36576" cy="91"/>
          </a:xfrm>
          <a:prstGeom prst="line">
            <a:avLst/>
          </a:prstGeom>
          <a:noFill/>
          <a:ln w="19050">
            <a:solidFill>
              <a:srgbClr val="2A1F3D"/>
            </a:solidFill>
            <a:prstDash val="solid"/>
          </a:ln>
        </p:spPr>
      </p:sp>
      <p:sp>
        <p:nvSpPr>
          <p:cNvPr id="58" name="Shape 56"/>
          <p:cNvSpPr/>
          <p:nvPr/>
        </p:nvSpPr>
        <p:spPr>
          <a:xfrm>
            <a:off x="4270248" y="2788920"/>
            <a:ext cx="164592" cy="347472"/>
          </a:xfrm>
          <a:prstGeom prst="rect">
            <a:avLst/>
          </a:prstGeom>
          <a:solidFill>
            <a:srgbClr val="D9DEE6"/>
          </a:solidFill>
          <a:ln w="9525">
            <a:solidFill>
              <a:srgbClr val="4A5568"/>
            </a:solidFill>
            <a:prstDash val="solid"/>
          </a:ln>
        </p:spPr>
      </p:sp>
      <p:sp>
        <p:nvSpPr>
          <p:cNvPr id="59" name="Shape 57"/>
          <p:cNvSpPr/>
          <p:nvPr/>
        </p:nvSpPr>
        <p:spPr>
          <a:xfrm>
            <a:off x="4206240" y="2624328"/>
            <a:ext cx="54864" cy="54864"/>
          </a:xfrm>
          <a:prstGeom prst="ellipse">
            <a:avLst/>
          </a:prstGeom>
          <a:solidFill>
            <a:srgbClr val="FFFFFF"/>
          </a:solidFill>
          <a:ln w="7620">
            <a:solidFill>
              <a:srgbClr val="5B9BD5"/>
            </a:solidFill>
            <a:prstDash val="solid"/>
          </a:ln>
        </p:spPr>
      </p:sp>
      <p:sp>
        <p:nvSpPr>
          <p:cNvPr id="60" name="Shape 58"/>
          <p:cNvSpPr/>
          <p:nvPr/>
        </p:nvSpPr>
        <p:spPr>
          <a:xfrm>
            <a:off x="4306824" y="2333549"/>
            <a:ext cx="54864" cy="54864"/>
          </a:xfrm>
          <a:prstGeom prst="ellipse">
            <a:avLst/>
          </a:prstGeom>
          <a:solidFill>
            <a:srgbClr val="FFFFFF"/>
          </a:solidFill>
          <a:ln w="7620">
            <a:solidFill>
              <a:srgbClr val="5B9BD5"/>
            </a:solidFill>
            <a:prstDash val="solid"/>
          </a:ln>
        </p:spPr>
      </p:sp>
      <p:sp>
        <p:nvSpPr>
          <p:cNvPr id="61" name="Shape 59"/>
          <p:cNvSpPr/>
          <p:nvPr/>
        </p:nvSpPr>
        <p:spPr>
          <a:xfrm>
            <a:off x="4407408" y="2426818"/>
            <a:ext cx="54864" cy="54864"/>
          </a:xfrm>
          <a:prstGeom prst="ellipse">
            <a:avLst/>
          </a:prstGeom>
          <a:solidFill>
            <a:srgbClr val="FFFFFF"/>
          </a:solidFill>
          <a:ln w="7620">
            <a:solidFill>
              <a:srgbClr val="5B9BD5"/>
            </a:solidFill>
            <a:prstDash val="solid"/>
          </a:ln>
        </p:spPr>
      </p:sp>
      <p:sp>
        <p:nvSpPr>
          <p:cNvPr id="62" name="Shape 60"/>
          <p:cNvSpPr/>
          <p:nvPr/>
        </p:nvSpPr>
        <p:spPr>
          <a:xfrm>
            <a:off x="4270248" y="2520086"/>
            <a:ext cx="54864" cy="54864"/>
          </a:xfrm>
          <a:prstGeom prst="ellipse">
            <a:avLst/>
          </a:prstGeom>
          <a:solidFill>
            <a:srgbClr val="FFFFFF"/>
          </a:solidFill>
          <a:ln w="7620">
            <a:solidFill>
              <a:srgbClr val="5B9BD5"/>
            </a:solidFill>
            <a:prstDash val="solid"/>
          </a:ln>
        </p:spPr>
      </p:sp>
      <p:sp>
        <p:nvSpPr>
          <p:cNvPr id="63" name="Shape 61"/>
          <p:cNvSpPr/>
          <p:nvPr/>
        </p:nvSpPr>
        <p:spPr>
          <a:xfrm>
            <a:off x="4370832" y="2613355"/>
            <a:ext cx="54864" cy="54864"/>
          </a:xfrm>
          <a:prstGeom prst="ellipse">
            <a:avLst/>
          </a:prstGeom>
          <a:solidFill>
            <a:srgbClr val="FFFFFF"/>
          </a:solidFill>
          <a:ln w="7620">
            <a:solidFill>
              <a:srgbClr val="5B9BD5"/>
            </a:solidFill>
            <a:prstDash val="solid"/>
          </a:ln>
        </p:spPr>
      </p:sp>
      <p:sp>
        <p:nvSpPr>
          <p:cNvPr id="64" name="Shape 62"/>
          <p:cNvSpPr/>
          <p:nvPr/>
        </p:nvSpPr>
        <p:spPr>
          <a:xfrm>
            <a:off x="4233672" y="2322576"/>
            <a:ext cx="54864" cy="54864"/>
          </a:xfrm>
          <a:prstGeom prst="ellipse">
            <a:avLst/>
          </a:prstGeom>
          <a:solidFill>
            <a:srgbClr val="FFFFFF"/>
          </a:solidFill>
          <a:ln w="7620">
            <a:solidFill>
              <a:srgbClr val="5B9BD5"/>
            </a:solidFill>
            <a:prstDash val="solid"/>
          </a:ln>
        </p:spPr>
      </p:sp>
      <p:sp>
        <p:nvSpPr>
          <p:cNvPr id="65" name="Shape 63"/>
          <p:cNvSpPr/>
          <p:nvPr/>
        </p:nvSpPr>
        <p:spPr>
          <a:xfrm>
            <a:off x="4334256" y="2415845"/>
            <a:ext cx="54864" cy="54864"/>
          </a:xfrm>
          <a:prstGeom prst="ellipse">
            <a:avLst/>
          </a:prstGeom>
          <a:solidFill>
            <a:srgbClr val="FFFFFF"/>
          </a:solidFill>
          <a:ln w="7620">
            <a:solidFill>
              <a:srgbClr val="5B9BD5"/>
            </a:solidFill>
            <a:prstDash val="solid"/>
          </a:ln>
        </p:spPr>
      </p:sp>
      <p:sp>
        <p:nvSpPr>
          <p:cNvPr id="66" name="Shape 64"/>
          <p:cNvSpPr/>
          <p:nvPr/>
        </p:nvSpPr>
        <p:spPr>
          <a:xfrm>
            <a:off x="4434840" y="2509114"/>
            <a:ext cx="54864" cy="54864"/>
          </a:xfrm>
          <a:prstGeom prst="ellipse">
            <a:avLst/>
          </a:prstGeom>
          <a:solidFill>
            <a:srgbClr val="FFFFFF"/>
          </a:solidFill>
          <a:ln w="7620">
            <a:solidFill>
              <a:srgbClr val="5B9BD5"/>
            </a:solidFill>
            <a:prstDash val="solid"/>
          </a:ln>
        </p:spPr>
      </p:sp>
      <p:sp>
        <p:nvSpPr>
          <p:cNvPr id="67" name="Shape 65"/>
          <p:cNvSpPr/>
          <p:nvPr/>
        </p:nvSpPr>
        <p:spPr>
          <a:xfrm>
            <a:off x="4297680" y="2602382"/>
            <a:ext cx="54864" cy="54864"/>
          </a:xfrm>
          <a:prstGeom prst="ellipse">
            <a:avLst/>
          </a:prstGeom>
          <a:solidFill>
            <a:srgbClr val="FFFFFF"/>
          </a:solidFill>
          <a:ln w="7620">
            <a:solidFill>
              <a:srgbClr val="5B9BD5"/>
            </a:solidFill>
            <a:prstDash val="solid"/>
          </a:ln>
        </p:spPr>
      </p:sp>
      <p:sp>
        <p:nvSpPr>
          <p:cNvPr id="68" name="Shape 66"/>
          <p:cNvSpPr/>
          <p:nvPr/>
        </p:nvSpPr>
        <p:spPr>
          <a:xfrm>
            <a:off x="4398264" y="2220163"/>
            <a:ext cx="54864" cy="54864"/>
          </a:xfrm>
          <a:prstGeom prst="ellipse">
            <a:avLst/>
          </a:prstGeom>
          <a:solidFill>
            <a:srgbClr val="FFFFFF"/>
          </a:solidFill>
          <a:ln w="7620">
            <a:solidFill>
              <a:srgbClr val="5B9BD5"/>
            </a:solidFill>
            <a:prstDash val="solid"/>
          </a:ln>
        </p:spPr>
      </p:sp>
      <p:sp>
        <p:nvSpPr>
          <p:cNvPr id="69" name="Shape 67"/>
          <p:cNvSpPr/>
          <p:nvPr/>
        </p:nvSpPr>
        <p:spPr>
          <a:xfrm>
            <a:off x="4261104" y="2313432"/>
            <a:ext cx="54864" cy="54864"/>
          </a:xfrm>
          <a:prstGeom prst="ellipse">
            <a:avLst/>
          </a:prstGeom>
          <a:solidFill>
            <a:srgbClr val="FFFFFF"/>
          </a:solidFill>
          <a:ln w="7620">
            <a:solidFill>
              <a:srgbClr val="5B9BD5"/>
            </a:solidFill>
            <a:prstDash val="solid"/>
          </a:ln>
        </p:spPr>
      </p:sp>
      <p:sp>
        <p:nvSpPr>
          <p:cNvPr id="70" name="Shape 68"/>
          <p:cNvSpPr/>
          <p:nvPr/>
        </p:nvSpPr>
        <p:spPr>
          <a:xfrm>
            <a:off x="4361688" y="2406701"/>
            <a:ext cx="54864" cy="54864"/>
          </a:xfrm>
          <a:prstGeom prst="ellipse">
            <a:avLst/>
          </a:prstGeom>
          <a:solidFill>
            <a:srgbClr val="FFFFFF"/>
          </a:solidFill>
          <a:ln w="7620">
            <a:solidFill>
              <a:srgbClr val="5B9BD5"/>
            </a:solidFill>
            <a:prstDash val="solid"/>
          </a:ln>
        </p:spPr>
      </p:sp>
      <p:sp>
        <p:nvSpPr>
          <p:cNvPr id="71" name="Shape 69"/>
          <p:cNvSpPr/>
          <p:nvPr/>
        </p:nvSpPr>
        <p:spPr>
          <a:xfrm>
            <a:off x="4224528" y="2499970"/>
            <a:ext cx="54864" cy="54864"/>
          </a:xfrm>
          <a:prstGeom prst="ellipse">
            <a:avLst/>
          </a:prstGeom>
          <a:solidFill>
            <a:srgbClr val="FFFFFF"/>
          </a:solidFill>
          <a:ln w="7620">
            <a:solidFill>
              <a:srgbClr val="5B9BD5"/>
            </a:solidFill>
            <a:prstDash val="solid"/>
          </a:ln>
        </p:spPr>
      </p:sp>
      <p:sp>
        <p:nvSpPr>
          <p:cNvPr id="72" name="Shape 70"/>
          <p:cNvSpPr/>
          <p:nvPr/>
        </p:nvSpPr>
        <p:spPr>
          <a:xfrm>
            <a:off x="4325112" y="2209190"/>
            <a:ext cx="54864" cy="54864"/>
          </a:xfrm>
          <a:prstGeom prst="ellipse">
            <a:avLst/>
          </a:prstGeom>
          <a:solidFill>
            <a:srgbClr val="FFFFFF"/>
          </a:solidFill>
          <a:ln w="7620">
            <a:solidFill>
              <a:srgbClr val="5B9BD5"/>
            </a:solidFill>
            <a:prstDash val="solid"/>
          </a:ln>
        </p:spPr>
      </p:sp>
      <p:sp>
        <p:nvSpPr>
          <p:cNvPr id="73" name="Text 71"/>
          <p:cNvSpPr/>
          <p:nvPr/>
        </p:nvSpPr>
        <p:spPr>
          <a:xfrm>
            <a:off x="3886200" y="3364992"/>
            <a:ext cx="932688" cy="201168"/>
          </a:xfrm>
          <a:prstGeom prst="rect">
            <a:avLst/>
          </a:prstGeom>
          <a:noFill/>
          <a:ln/>
        </p:spPr>
        <p:txBody>
          <a:bodyPr wrap="square" lIns="0" tIns="0" rIns="0" bIns="0" rtlCol="0" anchor="ctr"/>
          <a:lstStyle/>
          <a:p>
            <a:pPr algn="ctr" indent="0" marL="0">
              <a:buNone/>
            </a:pPr>
            <a:r>
              <a:rPr lang="en-US" sz="1000" b="1" dirty="0">
                <a:solidFill>
                  <a:srgbClr val="262B3A"/>
                </a:solidFill>
                <a:latin typeface="Calibri" pitchFamily="34" charset="0"/>
                <a:ea typeface="Calibri" pitchFamily="34" charset="-122"/>
                <a:cs typeface="Calibri" pitchFamily="34" charset="-120"/>
              </a:rPr>
              <a:t>magnesium</a:t>
            </a:r>
            <a:endParaRPr lang="en-US" sz="1000" dirty="0"/>
          </a:p>
        </p:txBody>
      </p:sp>
      <p:sp>
        <p:nvSpPr>
          <p:cNvPr id="74" name="Text 72"/>
          <p:cNvSpPr/>
          <p:nvPr/>
        </p:nvSpPr>
        <p:spPr>
          <a:xfrm>
            <a:off x="3886200" y="3566160"/>
            <a:ext cx="932688" cy="201168"/>
          </a:xfrm>
          <a:prstGeom prst="rect">
            <a:avLst/>
          </a:prstGeom>
          <a:noFill/>
          <a:ln/>
        </p:spPr>
        <p:txBody>
          <a:bodyPr wrap="square" lIns="0" tIns="0" rIns="0" bIns="0" rtlCol="0" anchor="ctr"/>
          <a:lstStyle/>
          <a:p>
            <a:pPr algn="ctr" indent="0" marL="0">
              <a:buNone/>
            </a:pPr>
            <a:r>
              <a:rPr lang="en-US" sz="950" dirty="0">
                <a:solidFill>
                  <a:srgbClr val="6B7385"/>
                </a:solidFill>
                <a:latin typeface="Calibri" pitchFamily="34" charset="0"/>
                <a:ea typeface="Calibri" pitchFamily="34" charset="-122"/>
                <a:cs typeface="Calibri" pitchFamily="34" charset="-120"/>
              </a:rPr>
              <a:t>fast, fizzes</a:t>
            </a:r>
            <a:endParaRPr lang="en-US" sz="950" dirty="0"/>
          </a:p>
        </p:txBody>
      </p:sp>
      <p:sp>
        <p:nvSpPr>
          <p:cNvPr id="75" name="Shape 73"/>
          <p:cNvSpPr/>
          <p:nvPr/>
        </p:nvSpPr>
        <p:spPr>
          <a:xfrm>
            <a:off x="640080" y="3858768"/>
            <a:ext cx="2377440" cy="566928"/>
          </a:xfrm>
          <a:prstGeom prst="roundRect">
            <a:avLst>
              <a:gd name="adj" fmla="val 9677"/>
            </a:avLst>
          </a:prstGeom>
          <a:solidFill>
            <a:srgbClr val="E8F4EC"/>
          </a:solidFill>
          <a:ln w="12700">
            <a:solidFill>
              <a:srgbClr val="2E8B57"/>
            </a:solidFill>
            <a:prstDash val="solid"/>
          </a:ln>
        </p:spPr>
      </p:sp>
      <p:sp>
        <p:nvSpPr>
          <p:cNvPr id="76" name="Text 74"/>
          <p:cNvSpPr/>
          <p:nvPr/>
        </p:nvSpPr>
        <p:spPr>
          <a:xfrm>
            <a:off x="694944" y="3858768"/>
            <a:ext cx="2267712" cy="566928"/>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Test for hydrogen</a:t>
            </a:r>
            <a:r>
              <a:rPr lang="en-US" sz="1050" dirty="0">
                <a:solidFill>
                  <a:srgbClr val="262B3A"/>
                </a:solidFill>
                <a:latin typeface="Calibri" pitchFamily="34" charset="0"/>
                <a:ea typeface="Calibri" pitchFamily="34" charset="-122"/>
                <a:cs typeface="Calibri" pitchFamily="34" charset="-120"/>
              </a:rPr>
              <a:t>: lighted splint → </a:t>
            </a:r>
            <a:r>
              <a:rPr lang="en-US" sz="1050" b="1" dirty="0">
                <a:solidFill>
                  <a:srgbClr val="262B3A"/>
                </a:solidFill>
                <a:latin typeface="Calibri" pitchFamily="34" charset="0"/>
                <a:ea typeface="Calibri" pitchFamily="34" charset="-122"/>
                <a:cs typeface="Calibri" pitchFamily="34" charset="-120"/>
              </a:rPr>
              <a:t>squeaky pop</a:t>
            </a:r>
            <a:endParaRPr lang="en-US" sz="1050" dirty="0"/>
          </a:p>
        </p:txBody>
      </p:sp>
      <p:sp>
        <p:nvSpPr>
          <p:cNvPr id="77" name="Shape 75"/>
          <p:cNvSpPr/>
          <p:nvPr/>
        </p:nvSpPr>
        <p:spPr>
          <a:xfrm>
            <a:off x="3154680" y="3858768"/>
            <a:ext cx="2606040" cy="566928"/>
          </a:xfrm>
          <a:prstGeom prst="roundRect">
            <a:avLst>
              <a:gd name="adj" fmla="val 8065"/>
            </a:avLst>
          </a:prstGeom>
          <a:solidFill>
            <a:srgbClr val="FFFFFF"/>
          </a:solidFill>
          <a:ln w="12700">
            <a:solidFill>
              <a:srgbClr val="DDD3EC"/>
            </a:solidFill>
            <a:prstDash val="solid"/>
          </a:ln>
        </p:spPr>
      </p:sp>
      <p:sp>
        <p:nvSpPr>
          <p:cNvPr id="78" name="Text 76"/>
          <p:cNvSpPr/>
          <p:nvPr/>
        </p:nvSpPr>
        <p:spPr>
          <a:xfrm>
            <a:off x="3227832" y="3858768"/>
            <a:ext cx="2459736" cy="566928"/>
          </a:xfrm>
          <a:prstGeom prst="rect">
            <a:avLst/>
          </a:prstGeom>
          <a:noFill/>
          <a:ln/>
        </p:spPr>
        <p:txBody>
          <a:bodyPr wrap="square" lIns="0" tIns="0" rIns="0" bIns="0" rtlCol="0" anchor="ctr"/>
          <a:lstStyle/>
          <a:p>
            <a:pPr algn="ctr" indent="0" marL="0">
              <a:buNone/>
            </a:pPr>
            <a:r>
              <a:rPr lang="en-US" sz="1050" b="1" dirty="0">
                <a:solidFill>
                  <a:srgbClr val="2A1F3D"/>
                </a:solidFill>
                <a:latin typeface="Calibri" pitchFamily="34" charset="0"/>
                <a:ea typeface="Calibri" pitchFamily="34" charset="-122"/>
                <a:cs typeface="Calibri" pitchFamily="34" charset="-120"/>
              </a:rPr>
              <a:t>Mg(s) + 2HCl(aq) → MgCl₂(aq) + H₂(g)</a:t>
            </a:r>
            <a:endParaRPr lang="en-US" sz="1050" dirty="0"/>
          </a:p>
        </p:txBody>
      </p:sp>
      <p:sp>
        <p:nvSpPr>
          <p:cNvPr id="79" name="Shape 77"/>
          <p:cNvSpPr/>
          <p:nvPr/>
        </p:nvSpPr>
        <p:spPr>
          <a:xfrm>
            <a:off x="640080" y="4572000"/>
            <a:ext cx="5120640" cy="777240"/>
          </a:xfrm>
          <a:prstGeom prst="roundRect">
            <a:avLst>
              <a:gd name="adj" fmla="val 5882"/>
            </a:avLst>
          </a:prstGeom>
          <a:solidFill>
            <a:srgbClr val="FBE3E4"/>
          </a:solidFill>
          <a:ln w="12700">
            <a:solidFill>
              <a:srgbClr val="C8414C"/>
            </a:solidFill>
            <a:prstDash val="solid"/>
          </a:ln>
        </p:spPr>
      </p:sp>
      <p:sp>
        <p:nvSpPr>
          <p:cNvPr id="80" name="Shape 78"/>
          <p:cNvSpPr/>
          <p:nvPr/>
        </p:nvSpPr>
        <p:spPr>
          <a:xfrm>
            <a:off x="731520" y="4645152"/>
            <a:ext cx="411480" cy="274320"/>
          </a:xfrm>
          <a:prstGeom prst="roundRect">
            <a:avLst>
              <a:gd name="adj" fmla="val 50000"/>
            </a:avLst>
          </a:prstGeom>
          <a:solidFill>
            <a:srgbClr val="C8414C"/>
          </a:solidFill>
          <a:ln w="12700">
            <a:solidFill>
              <a:srgbClr val="C8414C"/>
            </a:solidFill>
            <a:prstDash val="solid"/>
          </a:ln>
        </p:spPr>
      </p:sp>
      <p:sp>
        <p:nvSpPr>
          <p:cNvPr id="81" name="Text 79"/>
          <p:cNvSpPr/>
          <p:nvPr/>
        </p:nvSpPr>
        <p:spPr>
          <a:xfrm>
            <a:off x="731520" y="4645152"/>
            <a:ext cx="4114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82" name="Text 80"/>
          <p:cNvSpPr/>
          <p:nvPr/>
        </p:nvSpPr>
        <p:spPr>
          <a:xfrm>
            <a:off x="1234440" y="4590288"/>
            <a:ext cx="4480560" cy="731520"/>
          </a:xfrm>
          <a:prstGeom prst="rect">
            <a:avLst/>
          </a:prstGeom>
          <a:noFill/>
          <a:ln/>
        </p:spPr>
        <p:txBody>
          <a:bodyPr wrap="square" lIns="0" tIns="0" rIns="0" bIns="0" rtlCol="0" anchor="ctr"/>
          <a:lstStyle/>
          <a:p>
            <a:pPr indent="0" marL="0">
              <a:buNone/>
            </a:pPr>
            <a:r>
              <a:rPr lang="en-US" sz="1050" b="1" dirty="0">
                <a:solidFill>
                  <a:srgbClr val="C8414C"/>
                </a:solidFill>
                <a:latin typeface="Calibri" pitchFamily="34" charset="0"/>
                <a:ea typeface="Calibri" pitchFamily="34" charset="-122"/>
                <a:cs typeface="Calibri" pitchFamily="34" charset="-120"/>
              </a:rPr>
              <a:t>Redox: </a:t>
            </a:r>
            <a:r>
              <a:rPr lang="en-US" sz="1050" dirty="0">
                <a:solidFill>
                  <a:srgbClr val="262B3A"/>
                </a:solidFill>
                <a:latin typeface="Calibri" pitchFamily="34" charset="0"/>
                <a:ea typeface="Calibri" pitchFamily="34" charset="-122"/>
                <a:cs typeface="Calibri" pitchFamily="34" charset="-120"/>
              </a:rPr>
              <a:t>Mg → Mg²⁺ + 2e⁻  (</a:t>
            </a:r>
            <a:r>
              <a:rPr lang="en-US" sz="1050" b="1" dirty="0">
                <a:solidFill>
                  <a:srgbClr val="262B3A"/>
                </a:solidFill>
                <a:latin typeface="Calibri" pitchFamily="34" charset="0"/>
                <a:ea typeface="Calibri" pitchFamily="34" charset="-122"/>
                <a:cs typeface="Calibri" pitchFamily="34" charset="-120"/>
              </a:rPr>
              <a:t>oxidation</a:t>
            </a:r>
            <a:r>
              <a:rPr lang="en-US" sz="1050" dirty="0">
                <a:solidFill>
                  <a:srgbClr val="262B3A"/>
                </a:solidFill>
                <a:latin typeface="Calibri" pitchFamily="34" charset="0"/>
                <a:ea typeface="Calibri" pitchFamily="34" charset="-122"/>
                <a:cs typeface="Calibri" pitchFamily="34" charset="-120"/>
              </a:rPr>
              <a:t>: loses electrons)</a:t>
            </a:r>
            <a:endParaRPr lang="en-US" sz="1050" dirty="0"/>
          </a:p>
          <a:p>
            <a:pPr indent="0" marL="0">
              <a:buNone/>
            </a:pPr>
            <a:r>
              <a:rPr lang="en-US" sz="1050" dirty="0">
                <a:solidFill>
                  <a:srgbClr val="262B3A"/>
                </a:solidFill>
                <a:latin typeface="Calibri" pitchFamily="34" charset="0"/>
                <a:ea typeface="Calibri" pitchFamily="34" charset="-122"/>
                <a:cs typeface="Calibri" pitchFamily="34" charset="-120"/>
              </a:rPr>
              <a:t>2H⁺ + 2e⁻ → H₂  (</a:t>
            </a:r>
            <a:r>
              <a:rPr lang="en-US" sz="1050" b="1" dirty="0">
                <a:solidFill>
                  <a:srgbClr val="262B3A"/>
                </a:solidFill>
                <a:latin typeface="Calibri" pitchFamily="34" charset="0"/>
                <a:ea typeface="Calibri" pitchFamily="34" charset="-122"/>
                <a:cs typeface="Calibri" pitchFamily="34" charset="-120"/>
              </a:rPr>
              <a:t>reduction</a:t>
            </a:r>
            <a:r>
              <a:rPr lang="en-US" sz="1050" dirty="0">
                <a:solidFill>
                  <a:srgbClr val="262B3A"/>
                </a:solidFill>
                <a:latin typeface="Calibri" pitchFamily="34" charset="0"/>
                <a:ea typeface="Calibri" pitchFamily="34" charset="-122"/>
                <a:cs typeface="Calibri" pitchFamily="34" charset="-120"/>
              </a:rPr>
              <a:t>: gains electrons)</a:t>
            </a:r>
            <a:endParaRPr lang="en-US" sz="1050" dirty="0"/>
          </a:p>
        </p:txBody>
      </p:sp>
      <p:sp>
        <p:nvSpPr>
          <p:cNvPr id="83" name="Shape 81"/>
          <p:cNvSpPr/>
          <p:nvPr/>
        </p:nvSpPr>
        <p:spPr>
          <a:xfrm>
            <a:off x="6217920" y="1188720"/>
            <a:ext cx="5559552" cy="2697480"/>
          </a:xfrm>
          <a:prstGeom prst="roundRect">
            <a:avLst>
              <a:gd name="adj" fmla="val 2034"/>
            </a:avLst>
          </a:prstGeom>
          <a:solidFill>
            <a:srgbClr val="F8F5FC"/>
          </a:solidFill>
          <a:ln w="9525">
            <a:solidFill>
              <a:srgbClr val="DDD3EC"/>
            </a:solidFill>
            <a:prstDash val="solid"/>
          </a:ln>
        </p:spPr>
      </p:sp>
      <p:sp>
        <p:nvSpPr>
          <p:cNvPr id="84" name="Text 82"/>
          <p:cNvSpPr/>
          <p:nvPr/>
        </p:nvSpPr>
        <p:spPr>
          <a:xfrm>
            <a:off x="6382512" y="1280160"/>
            <a:ext cx="5230368" cy="292608"/>
          </a:xfrm>
          <a:prstGeom prst="rect">
            <a:avLst/>
          </a:prstGeom>
          <a:noFill/>
          <a:ln/>
        </p:spPr>
        <p:txBody>
          <a:bodyPr wrap="square" lIns="0" tIns="0" rIns="0" bIns="0" rtlCol="0" anchor="ctr"/>
          <a:lstStyle/>
          <a:p>
            <a:pPr indent="0" marL="0">
              <a:buNone/>
            </a:pPr>
            <a:r>
              <a:rPr lang="en-US" sz="1300" b="1" dirty="0">
                <a:solidFill>
                  <a:srgbClr val="2A1F3D"/>
                </a:solidFill>
                <a:latin typeface="Calibri" pitchFamily="34" charset="0"/>
                <a:ea typeface="Calibri" pitchFamily="34" charset="-122"/>
                <a:cs typeface="Calibri" pitchFamily="34" charset="-120"/>
              </a:rPr>
              <a:t>Acid + metal → salt + hydrogen</a:t>
            </a:r>
            <a:endParaRPr lang="en-US" sz="1300" dirty="0"/>
          </a:p>
        </p:txBody>
      </p:sp>
      <p:sp>
        <p:nvSpPr>
          <p:cNvPr id="85" name="Text 83"/>
          <p:cNvSpPr/>
          <p:nvPr/>
        </p:nvSpPr>
        <p:spPr>
          <a:xfrm>
            <a:off x="6382512" y="1609344"/>
            <a:ext cx="5230368" cy="2203704"/>
          </a:xfrm>
          <a:prstGeom prst="rect">
            <a:avLst/>
          </a:prstGeom>
          <a:noFill/>
          <a:ln/>
        </p:spPr>
        <p:txBody>
          <a:bodyPr wrap="square" lIns="0" tIns="0" rIns="0" bIns="0" rtlCol="0" anchor="t"/>
          <a:lstStyle/>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Metals </a:t>
            </a:r>
            <a:r>
              <a:rPr lang="en-US" sz="1100" b="1" dirty="0">
                <a:solidFill>
                  <a:srgbClr val="262B3A"/>
                </a:solidFill>
                <a:latin typeface="Calibri" pitchFamily="34" charset="0"/>
                <a:ea typeface="Calibri" pitchFamily="34" charset="-122"/>
                <a:cs typeface="Calibri" pitchFamily="34" charset="-120"/>
              </a:rPr>
              <a:t>above hydrogen</a:t>
            </a:r>
            <a:r>
              <a:rPr lang="en-US" sz="1100" dirty="0">
                <a:solidFill>
                  <a:srgbClr val="262B3A"/>
                </a:solidFill>
                <a:latin typeface="Calibri" pitchFamily="34" charset="0"/>
                <a:ea typeface="Calibri" pitchFamily="34" charset="-122"/>
                <a:cs typeface="Calibri" pitchFamily="34" charset="-120"/>
              </a:rPr>
              <a:t> in the reactivity series react with dilute acids; </a:t>
            </a:r>
            <a:r>
              <a:rPr lang="en-US" sz="1100" b="1" dirty="0">
                <a:solidFill>
                  <a:srgbClr val="262B3A"/>
                </a:solidFill>
                <a:latin typeface="Calibri" pitchFamily="34" charset="0"/>
                <a:ea typeface="Calibri" pitchFamily="34" charset="-122"/>
                <a:cs typeface="Calibri" pitchFamily="34" charset="-120"/>
              </a:rPr>
              <a:t>copper</a:t>
            </a:r>
            <a:r>
              <a:rPr lang="en-US" sz="1100" dirty="0">
                <a:solidFill>
                  <a:srgbClr val="262B3A"/>
                </a:solidFill>
                <a:latin typeface="Calibri" pitchFamily="34" charset="0"/>
                <a:ea typeface="Calibri" pitchFamily="34" charset="-122"/>
                <a:cs typeface="Calibri" pitchFamily="34" charset="-120"/>
              </a:rPr>
              <a:t>, silver and gold do </a:t>
            </a:r>
            <a:r>
              <a:rPr lang="en-US" sz="1100" b="1" dirty="0">
                <a:solidFill>
                  <a:srgbClr val="262B3A"/>
                </a:solidFill>
                <a:latin typeface="Calibri" pitchFamily="34" charset="0"/>
                <a:ea typeface="Calibri" pitchFamily="34" charset="-122"/>
                <a:cs typeface="Calibri" pitchFamily="34" charset="-120"/>
              </a:rPr>
              <a:t>not</a:t>
            </a:r>
            <a:r>
              <a:rPr lang="en-US" sz="1100" dirty="0">
                <a:solidFill>
                  <a:srgbClr val="262B3A"/>
                </a:solidFill>
                <a:latin typeface="Calibri" pitchFamily="34" charset="0"/>
                <a:ea typeface="Calibri" pitchFamily="34" charset="-122"/>
                <a:cs typeface="Calibri" pitchFamily="34" charset="-120"/>
              </a:rPr>
              <a:t>.</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The more </a:t>
            </a:r>
            <a:r>
              <a:rPr lang="en-US" sz="1100" b="1" dirty="0">
                <a:solidFill>
                  <a:srgbClr val="262B3A"/>
                </a:solidFill>
                <a:latin typeface="Calibri" pitchFamily="34" charset="0"/>
                <a:ea typeface="Calibri" pitchFamily="34" charset="-122"/>
                <a:cs typeface="Calibri" pitchFamily="34" charset="-120"/>
              </a:rPr>
              <a:t>reactive</a:t>
            </a:r>
            <a:r>
              <a:rPr lang="en-US" sz="1100" dirty="0">
                <a:solidFill>
                  <a:srgbClr val="262B3A"/>
                </a:solidFill>
                <a:latin typeface="Calibri" pitchFamily="34" charset="0"/>
                <a:ea typeface="Calibri" pitchFamily="34" charset="-122"/>
                <a:cs typeface="Calibri" pitchFamily="34" charset="-120"/>
              </a:rPr>
              <a:t> the metal, the more </a:t>
            </a:r>
            <a:r>
              <a:rPr lang="en-US" sz="1100" b="1" dirty="0">
                <a:solidFill>
                  <a:srgbClr val="262B3A"/>
                </a:solidFill>
                <a:latin typeface="Calibri" pitchFamily="34" charset="0"/>
                <a:ea typeface="Calibri" pitchFamily="34" charset="-122"/>
                <a:cs typeface="Calibri" pitchFamily="34" charset="-120"/>
              </a:rPr>
              <a:t>vigorous</a:t>
            </a:r>
            <a:r>
              <a:rPr lang="en-US" sz="1100" dirty="0">
                <a:solidFill>
                  <a:srgbClr val="262B3A"/>
                </a:solidFill>
                <a:latin typeface="Calibri" pitchFamily="34" charset="0"/>
                <a:ea typeface="Calibri" pitchFamily="34" charset="-122"/>
                <a:cs typeface="Calibri" pitchFamily="34" charset="-120"/>
              </a:rPr>
              <a:t> the fizzing (very reactive metals such as sodium are too dangerous).</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The gas is </a:t>
            </a:r>
            <a:r>
              <a:rPr lang="en-US" sz="1100" b="1" dirty="0">
                <a:solidFill>
                  <a:srgbClr val="262B3A"/>
                </a:solidFill>
                <a:latin typeface="Calibri" pitchFamily="34" charset="0"/>
                <a:ea typeface="Calibri" pitchFamily="34" charset="-122"/>
                <a:cs typeface="Calibri" pitchFamily="34" charset="-120"/>
              </a:rPr>
              <a:t>hydrogen</a:t>
            </a:r>
            <a:r>
              <a:rPr lang="en-US" sz="1100" dirty="0">
                <a:solidFill>
                  <a:srgbClr val="262B3A"/>
                </a:solidFill>
                <a:latin typeface="Calibri" pitchFamily="34" charset="0"/>
                <a:ea typeface="Calibri" pitchFamily="34" charset="-122"/>
                <a:cs typeface="Calibri" pitchFamily="34" charset="-120"/>
              </a:rPr>
              <a:t>. The salt is named from the metal and the acid: zinc + sulfuric acid → </a:t>
            </a:r>
            <a:r>
              <a:rPr lang="en-US" sz="1100" b="1" dirty="0">
                <a:solidFill>
                  <a:srgbClr val="262B3A"/>
                </a:solidFill>
                <a:latin typeface="Calibri" pitchFamily="34" charset="0"/>
                <a:ea typeface="Calibri" pitchFamily="34" charset="-122"/>
                <a:cs typeface="Calibri" pitchFamily="34" charset="-120"/>
              </a:rPr>
              <a:t>zinc sulfate</a:t>
            </a:r>
            <a:r>
              <a:rPr lang="en-US" sz="1100" dirty="0">
                <a:solidFill>
                  <a:srgbClr val="262B3A"/>
                </a:solidFill>
                <a:latin typeface="Calibri" pitchFamily="34" charset="0"/>
                <a:ea typeface="Calibri" pitchFamily="34" charset="-122"/>
                <a:cs typeface="Calibri" pitchFamily="34" charset="-120"/>
              </a:rPr>
              <a:t> + hydrogen.</a:t>
            </a:r>
            <a:endParaRPr lang="en-US" sz="1100" dirty="0"/>
          </a:p>
          <a:p>
            <a:pPr marL="152400" indent="-152400">
              <a:spcAft>
                <a:spcPts val="300"/>
              </a:spcAft>
              <a:buSzPct val="100000"/>
              <a:buChar char="▪"/>
            </a:pPr>
            <a:r>
              <a:rPr lang="en-US" sz="1100" b="1" dirty="0">
                <a:solidFill>
                  <a:srgbClr val="C8414C"/>
                </a:solidFill>
                <a:latin typeface="Calibri" pitchFamily="34" charset="0"/>
                <a:ea typeface="Calibri" pitchFamily="34" charset="-122"/>
                <a:cs typeface="Calibri" pitchFamily="34" charset="-120"/>
              </a:rPr>
              <a:t>HT</a:t>
            </a:r>
            <a:r>
              <a:rPr lang="en-US" sz="1100" dirty="0">
                <a:solidFill>
                  <a:srgbClr val="262B3A"/>
                </a:solidFill>
                <a:latin typeface="Calibri" pitchFamily="34" charset="0"/>
                <a:ea typeface="Calibri" pitchFamily="34" charset="-122"/>
                <a:cs typeface="Calibri" pitchFamily="34" charset="-120"/>
              </a:rPr>
              <a:t> The metal atoms </a:t>
            </a:r>
            <a:r>
              <a:rPr lang="en-US" sz="1100" b="1" dirty="0">
                <a:solidFill>
                  <a:srgbClr val="262B3A"/>
                </a:solidFill>
                <a:latin typeface="Calibri" pitchFamily="34" charset="0"/>
                <a:ea typeface="Calibri" pitchFamily="34" charset="-122"/>
                <a:cs typeface="Calibri" pitchFamily="34" charset="-120"/>
              </a:rPr>
              <a:t>lose electrons</a:t>
            </a:r>
            <a:r>
              <a:rPr lang="en-US" sz="1100" dirty="0">
                <a:solidFill>
                  <a:srgbClr val="262B3A"/>
                </a:solidFill>
                <a:latin typeface="Calibri" pitchFamily="34" charset="0"/>
                <a:ea typeface="Calibri" pitchFamily="34" charset="-122"/>
                <a:cs typeface="Calibri" pitchFamily="34" charset="-120"/>
              </a:rPr>
              <a:t> (oxidised); the H⁺ ions </a:t>
            </a:r>
            <a:r>
              <a:rPr lang="en-US" sz="1100" b="1" dirty="0">
                <a:solidFill>
                  <a:srgbClr val="262B3A"/>
                </a:solidFill>
                <a:latin typeface="Calibri" pitchFamily="34" charset="0"/>
                <a:ea typeface="Calibri" pitchFamily="34" charset="-122"/>
                <a:cs typeface="Calibri" pitchFamily="34" charset="-120"/>
              </a:rPr>
              <a:t>gain electrons</a:t>
            </a:r>
            <a:r>
              <a:rPr lang="en-US" sz="1100" dirty="0">
                <a:solidFill>
                  <a:srgbClr val="262B3A"/>
                </a:solidFill>
                <a:latin typeface="Calibri" pitchFamily="34" charset="0"/>
                <a:ea typeface="Calibri" pitchFamily="34" charset="-122"/>
                <a:cs typeface="Calibri" pitchFamily="34" charset="-120"/>
              </a:rPr>
              <a:t> (reduced): a </a:t>
            </a:r>
            <a:r>
              <a:rPr lang="en-US" sz="1100" b="1" dirty="0">
                <a:solidFill>
                  <a:srgbClr val="262B3A"/>
                </a:solidFill>
                <a:latin typeface="Calibri" pitchFamily="34" charset="0"/>
                <a:ea typeface="Calibri" pitchFamily="34" charset="-122"/>
                <a:cs typeface="Calibri" pitchFamily="34" charset="-120"/>
              </a:rPr>
              <a:t>redox</a:t>
            </a:r>
            <a:r>
              <a:rPr lang="en-US" sz="1100" dirty="0">
                <a:solidFill>
                  <a:srgbClr val="262B3A"/>
                </a:solidFill>
                <a:latin typeface="Calibri" pitchFamily="34" charset="0"/>
                <a:ea typeface="Calibri" pitchFamily="34" charset="-122"/>
                <a:cs typeface="Calibri" pitchFamily="34" charset="-120"/>
              </a:rPr>
              <a:t> reaction.</a:t>
            </a:r>
            <a:endParaRPr lang="en-US" sz="1100" dirty="0"/>
          </a:p>
        </p:txBody>
      </p:sp>
      <p:sp>
        <p:nvSpPr>
          <p:cNvPr id="86" name="Shape 84"/>
          <p:cNvSpPr/>
          <p:nvPr/>
        </p:nvSpPr>
        <p:spPr>
          <a:xfrm>
            <a:off x="6217920" y="4023360"/>
            <a:ext cx="5559552" cy="1691640"/>
          </a:xfrm>
          <a:prstGeom prst="roundRect">
            <a:avLst>
              <a:gd name="adj" fmla="val 3243"/>
            </a:avLst>
          </a:prstGeom>
          <a:solidFill>
            <a:srgbClr val="FFF4E0"/>
          </a:solidFill>
          <a:ln w="9525">
            <a:solidFill>
              <a:srgbClr val="F1D9A8"/>
            </a:solidFill>
            <a:prstDash val="solid"/>
          </a:ln>
        </p:spPr>
      </p:sp>
      <p:sp>
        <p:nvSpPr>
          <p:cNvPr id="87" name="Text 85"/>
          <p:cNvSpPr/>
          <p:nvPr/>
        </p:nvSpPr>
        <p:spPr>
          <a:xfrm>
            <a:off x="6382512" y="4096512"/>
            <a:ext cx="5230368"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 write the equation</a:t>
            </a:r>
            <a:endParaRPr lang="en-US" sz="1300" dirty="0"/>
          </a:p>
        </p:txBody>
      </p:sp>
      <p:sp>
        <p:nvSpPr>
          <p:cNvPr id="88" name="Text 86"/>
          <p:cNvSpPr/>
          <p:nvPr/>
        </p:nvSpPr>
        <p:spPr>
          <a:xfrm>
            <a:off x="6382512" y="4407408"/>
            <a:ext cx="5230368" cy="123444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Zinc reacts with dilute sulfuric acid.</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1 Words   </a:t>
            </a:r>
            <a:r>
              <a:rPr lang="en-US" sz="1050" dirty="0">
                <a:solidFill>
                  <a:srgbClr val="262B3A"/>
                </a:solidFill>
                <a:latin typeface="Calibri" pitchFamily="34" charset="0"/>
                <a:ea typeface="Calibri" pitchFamily="34" charset="-122"/>
                <a:cs typeface="Calibri" pitchFamily="34" charset="-120"/>
              </a:rPr>
              <a:t>zinc + sulfuric acid → zinc sulfate + hydrogen</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2 Formulae   </a:t>
            </a:r>
            <a:r>
              <a:rPr lang="en-US" sz="1050" dirty="0">
                <a:solidFill>
                  <a:srgbClr val="262B3A"/>
                </a:solidFill>
                <a:latin typeface="Calibri" pitchFamily="34" charset="0"/>
                <a:ea typeface="Calibri" pitchFamily="34" charset="-122"/>
                <a:cs typeface="Calibri" pitchFamily="34" charset="-120"/>
              </a:rPr>
              <a:t>Zn + H₂SO₄ → ZnSO₄ + H₂ (already balanced)</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3 Answer   </a:t>
            </a:r>
            <a:r>
              <a:rPr lang="en-US" sz="1050" b="1" dirty="0">
                <a:solidFill>
                  <a:srgbClr val="C8414C"/>
                </a:solidFill>
                <a:latin typeface="Calibri" pitchFamily="34" charset="0"/>
                <a:ea typeface="Calibri" pitchFamily="34" charset="-122"/>
                <a:cs typeface="Calibri" pitchFamily="34" charset="-120"/>
              </a:rPr>
              <a:t>Zn(s) + H₂SO₄(aq) → ZnSO₄(aq) + H₂(g)</a:t>
            </a:r>
            <a:endParaRPr lang="en-US" sz="1050" dirty="0"/>
          </a:p>
        </p:txBody>
      </p:sp>
      <p:sp>
        <p:nvSpPr>
          <p:cNvPr id="89" name="Shape 87"/>
          <p:cNvSpPr/>
          <p:nvPr/>
        </p:nvSpPr>
        <p:spPr>
          <a:xfrm>
            <a:off x="411480" y="5833872"/>
            <a:ext cx="11368735" cy="530352"/>
          </a:xfrm>
          <a:prstGeom prst="rect">
            <a:avLst/>
          </a:prstGeom>
          <a:solidFill>
            <a:srgbClr val="FFF4E0"/>
          </a:solidFill>
          <a:ln w="6350">
            <a:solidFill>
              <a:srgbClr val="F1D9A8"/>
            </a:solidFill>
            <a:prstDash val="solid"/>
          </a:ln>
        </p:spPr>
      </p:sp>
      <p:sp>
        <p:nvSpPr>
          <p:cNvPr id="90" name="Shape 88"/>
          <p:cNvSpPr/>
          <p:nvPr/>
        </p:nvSpPr>
        <p:spPr>
          <a:xfrm>
            <a:off x="411480" y="5833872"/>
            <a:ext cx="82296" cy="530352"/>
          </a:xfrm>
          <a:prstGeom prst="rect">
            <a:avLst/>
          </a:prstGeom>
          <a:solidFill>
            <a:srgbClr val="E39A2F"/>
          </a:solidFill>
          <a:ln w="12700">
            <a:solidFill>
              <a:srgbClr val="E39A2F"/>
            </a:solidFill>
            <a:prstDash val="solid"/>
          </a:ln>
        </p:spPr>
      </p:sp>
      <p:sp>
        <p:nvSpPr>
          <p:cNvPr id="91" name="Text 89"/>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Balance: </a:t>
            </a:r>
            <a:r>
              <a:rPr lang="en-US" sz="1150" b="1" dirty="0">
                <a:solidFill>
                  <a:srgbClr val="262B3A"/>
                </a:solidFill>
                <a:latin typeface="Calibri" pitchFamily="34" charset="0"/>
                <a:ea typeface="Calibri" pitchFamily="34" charset="-122"/>
                <a:cs typeface="Calibri" pitchFamily="34" charset="-120"/>
              </a:rPr>
              <a:t>Al + HCl → AlCl₃ + H₂</a:t>
            </a:r>
            <a:r>
              <a:rPr lang="en-US" sz="1150" dirty="0">
                <a:solidFill>
                  <a:srgbClr val="262B3A"/>
                </a:solidFill>
                <a:latin typeface="Calibri" pitchFamily="34" charset="0"/>
                <a:ea typeface="Calibri" pitchFamily="34" charset="-122"/>
                <a:cs typeface="Calibri" pitchFamily="34" charset="-120"/>
              </a:rPr>
              <a:t>. </a:t>
            </a:r>
            <a:r>
              <a:rPr lang="en-US" sz="1150" b="1" dirty="0">
                <a:solidFill>
                  <a:srgbClr val="262B3A"/>
                </a:solidFill>
                <a:latin typeface="Calibri" pitchFamily="34" charset="0"/>
                <a:ea typeface="Calibri" pitchFamily="34" charset="-122"/>
                <a:cs typeface="Calibri" pitchFamily="34" charset="-120"/>
              </a:rPr>
              <a:t>(HT)</a:t>
            </a:r>
            <a:r>
              <a:rPr lang="en-US" sz="1150" dirty="0">
                <a:solidFill>
                  <a:srgbClr val="262B3A"/>
                </a:solidFill>
                <a:latin typeface="Calibri" pitchFamily="34" charset="0"/>
                <a:ea typeface="Calibri" pitchFamily="34" charset="-122"/>
                <a:cs typeface="Calibri" pitchFamily="34" charset="-120"/>
              </a:rPr>
              <a:t> Write the ionic equation for zinc + acid and say which species is </a:t>
            </a:r>
            <a:r>
              <a:rPr lang="en-US" sz="1150" b="1" dirty="0">
                <a:solidFill>
                  <a:srgbClr val="262B3A"/>
                </a:solidFill>
                <a:latin typeface="Calibri" pitchFamily="34" charset="0"/>
                <a:ea typeface="Calibri" pitchFamily="34" charset="-122"/>
                <a:cs typeface="Calibri" pitchFamily="34" charset="-120"/>
              </a:rPr>
              <a:t>oxidised</a:t>
            </a:r>
            <a:r>
              <a:rPr lang="en-US" sz="1150" dirty="0">
                <a:solidFill>
                  <a:srgbClr val="262B3A"/>
                </a:solidFill>
                <a:latin typeface="Calibri" pitchFamily="34" charset="0"/>
                <a:ea typeface="Calibri" pitchFamily="34" charset="-122"/>
                <a:cs typeface="Calibri" pitchFamily="34" charset="-120"/>
              </a:rPr>
              <a:t>.</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Acids with carbonates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Specification C6.1.1 • acid + metal carbonate → salt + water + carbon dioxide</a:t>
            </a:r>
            <a:endParaRPr lang="en-US" sz="1100" dirty="0"/>
          </a:p>
        </p:txBody>
      </p:sp>
      <p:sp>
        <p:nvSpPr>
          <p:cNvPr id="6" name="Text 4"/>
          <p:cNvSpPr/>
          <p:nvPr/>
        </p:nvSpPr>
        <p:spPr>
          <a:xfrm>
            <a:off x="411480" y="6473952"/>
            <a:ext cx="1014984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C6.1 What useful products can be made from acids?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C6.1.1  |  10</a:t>
            </a:r>
            <a:endParaRPr lang="en-US" sz="1000" dirty="0"/>
          </a:p>
        </p:txBody>
      </p:sp>
      <p:sp>
        <p:nvSpPr>
          <p:cNvPr id="8" name="Shape 6"/>
          <p:cNvSpPr/>
          <p:nvPr/>
        </p:nvSpPr>
        <p:spPr>
          <a:xfrm>
            <a:off x="411480" y="1188720"/>
            <a:ext cx="5577840" cy="4526280"/>
          </a:xfrm>
          <a:prstGeom prst="roundRect">
            <a:avLst>
              <a:gd name="adj" fmla="val 1616"/>
            </a:avLst>
          </a:prstGeom>
          <a:solidFill>
            <a:srgbClr val="F4F0FA"/>
          </a:solidFill>
          <a:ln w="9525">
            <a:solidFill>
              <a:srgbClr val="DED4EE"/>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carbon dioxide bubbled through limewater; not to scale</a:t>
            </a:r>
            <a:endParaRPr lang="en-US" sz="1000" dirty="0"/>
          </a:p>
        </p:txBody>
      </p:sp>
      <p:sp>
        <p:nvSpPr>
          <p:cNvPr id="10" name="Shape 8"/>
          <p:cNvSpPr/>
          <p:nvPr/>
        </p:nvSpPr>
        <p:spPr>
          <a:xfrm>
            <a:off x="1051560" y="1737360"/>
            <a:ext cx="1554480" cy="1920240"/>
          </a:xfrm>
          <a:custGeom>
            <a:avLst/>
            <a:gdLst/>
            <a:ahLst/>
            <a:cxnLst/>
            <a:rect l="l" t="t" r="r" b="b"/>
            <a:pathLst>
              <a:path w="1554480" h="1920240">
                <a:moveTo>
                  <a:pt x="630936" y="0"/>
                </a:moveTo>
                <a:lnTo>
                  <a:pt x="630936" y="576072"/>
                </a:lnTo>
                <a:lnTo>
                  <a:pt x="0" y="1920240"/>
                </a:lnTo>
                <a:lnTo>
                  <a:pt x="1554480" y="1920240"/>
                </a:lnTo>
                <a:lnTo>
                  <a:pt x="923544" y="576072"/>
                </a:lnTo>
                <a:lnTo>
                  <a:pt x="923544" y="0"/>
                </a:lnTo>
                <a:close/>
              </a:path>
            </a:pathLst>
          </a:custGeom>
          <a:solidFill>
            <a:srgbClr val="EEF5FB"/>
          </a:solidFill>
          <a:ln/>
        </p:spPr>
      </p:sp>
      <p:sp>
        <p:nvSpPr>
          <p:cNvPr id="11" name="Shape 9"/>
          <p:cNvSpPr/>
          <p:nvPr/>
        </p:nvSpPr>
        <p:spPr>
          <a:xfrm>
            <a:off x="1051560" y="3052724"/>
            <a:ext cx="1554480" cy="604876"/>
          </a:xfrm>
          <a:custGeom>
            <a:avLst/>
            <a:gdLst/>
            <a:ahLst/>
            <a:cxnLst/>
            <a:rect l="l" t="t" r="r" b="b"/>
            <a:pathLst>
              <a:path w="1554480" h="604876">
                <a:moveTo>
                  <a:pt x="283921" y="0"/>
                </a:moveTo>
                <a:lnTo>
                  <a:pt x="0" y="604876"/>
                </a:lnTo>
                <a:lnTo>
                  <a:pt x="1554480" y="604876"/>
                </a:lnTo>
                <a:lnTo>
                  <a:pt x="1270559" y="0"/>
                </a:lnTo>
                <a:close/>
              </a:path>
            </a:pathLst>
          </a:custGeom>
          <a:solidFill>
            <a:srgbClr val="CFE4F7"/>
          </a:solidFill>
          <a:ln/>
        </p:spPr>
      </p:sp>
      <p:sp>
        <p:nvSpPr>
          <p:cNvPr id="12" name="Shape 10"/>
          <p:cNvSpPr/>
          <p:nvPr/>
        </p:nvSpPr>
        <p:spPr>
          <a:xfrm>
            <a:off x="1335481" y="3052724"/>
            <a:ext cx="986638" cy="91"/>
          </a:xfrm>
          <a:prstGeom prst="line">
            <a:avLst/>
          </a:prstGeom>
          <a:noFill/>
          <a:ln w="12700">
            <a:solidFill>
              <a:srgbClr val="5B9BD5"/>
            </a:solidFill>
            <a:prstDash val="solid"/>
          </a:ln>
        </p:spPr>
      </p:sp>
      <p:sp>
        <p:nvSpPr>
          <p:cNvPr id="13" name="Shape 11"/>
          <p:cNvSpPr/>
          <p:nvPr/>
        </p:nvSpPr>
        <p:spPr>
          <a:xfrm>
            <a:off x="1051560" y="1737360"/>
            <a:ext cx="1554480" cy="1920240"/>
          </a:xfrm>
          <a:custGeom>
            <a:avLst/>
            <a:gdLst/>
            <a:ahLst/>
            <a:cxnLst/>
            <a:rect l="l" t="t" r="r" b="b"/>
            <a:pathLst>
              <a:path w="1554480" h="1920240">
                <a:moveTo>
                  <a:pt x="630936" y="0"/>
                </a:moveTo>
                <a:lnTo>
                  <a:pt x="630936" y="576072"/>
                </a:lnTo>
                <a:lnTo>
                  <a:pt x="0" y="1920240"/>
                </a:lnTo>
                <a:lnTo>
                  <a:pt x="1554480" y="1920240"/>
                </a:lnTo>
                <a:lnTo>
                  <a:pt x="923544" y="576072"/>
                </a:lnTo>
                <a:lnTo>
                  <a:pt x="923544" y="0"/>
                </a:lnTo>
              </a:path>
            </a:pathLst>
          </a:custGeom>
          <a:ln w="19050">
            <a:solidFill>
              <a:srgbClr val="2A1F3D"/>
            </a:solidFill>
            <a:prstDash val="solid"/>
          </a:ln>
        </p:spPr>
      </p:sp>
      <p:sp>
        <p:nvSpPr>
          <p:cNvPr id="14" name="Shape 12"/>
          <p:cNvSpPr/>
          <p:nvPr/>
        </p:nvSpPr>
        <p:spPr>
          <a:xfrm>
            <a:off x="1664208" y="1572768"/>
            <a:ext cx="329184" cy="274320"/>
          </a:xfrm>
          <a:prstGeom prst="rect">
            <a:avLst/>
          </a:prstGeom>
          <a:solidFill>
            <a:srgbClr val="8C6A4A"/>
          </a:solidFill>
          <a:ln w="9525">
            <a:solidFill>
              <a:srgbClr val="5A4030"/>
            </a:solidFill>
            <a:prstDash val="solid"/>
          </a:ln>
        </p:spPr>
      </p:sp>
      <p:sp>
        <p:nvSpPr>
          <p:cNvPr id="15" name="Shape 13"/>
          <p:cNvSpPr/>
          <p:nvPr/>
        </p:nvSpPr>
        <p:spPr>
          <a:xfrm>
            <a:off x="1389888" y="3447288"/>
            <a:ext cx="146304" cy="146304"/>
          </a:xfrm>
          <a:prstGeom prst="ellipse">
            <a:avLst/>
          </a:prstGeom>
          <a:solidFill>
            <a:srgbClr val="EDEDED"/>
          </a:solidFill>
          <a:ln w="9525">
            <a:solidFill>
              <a:srgbClr val="8A8F99"/>
            </a:solidFill>
            <a:prstDash val="solid"/>
          </a:ln>
        </p:spPr>
      </p:sp>
      <p:sp>
        <p:nvSpPr>
          <p:cNvPr id="16" name="Shape 14"/>
          <p:cNvSpPr/>
          <p:nvPr/>
        </p:nvSpPr>
        <p:spPr>
          <a:xfrm>
            <a:off x="1618488" y="3474720"/>
            <a:ext cx="146304" cy="146304"/>
          </a:xfrm>
          <a:prstGeom prst="ellipse">
            <a:avLst/>
          </a:prstGeom>
          <a:solidFill>
            <a:srgbClr val="EDEDED"/>
          </a:solidFill>
          <a:ln w="9525">
            <a:solidFill>
              <a:srgbClr val="8A8F99"/>
            </a:solidFill>
            <a:prstDash val="solid"/>
          </a:ln>
        </p:spPr>
      </p:sp>
      <p:sp>
        <p:nvSpPr>
          <p:cNvPr id="17" name="Shape 15"/>
          <p:cNvSpPr/>
          <p:nvPr/>
        </p:nvSpPr>
        <p:spPr>
          <a:xfrm>
            <a:off x="1847088" y="3456432"/>
            <a:ext cx="146304" cy="146304"/>
          </a:xfrm>
          <a:prstGeom prst="ellipse">
            <a:avLst/>
          </a:prstGeom>
          <a:solidFill>
            <a:srgbClr val="EDEDED"/>
          </a:solidFill>
          <a:ln w="9525">
            <a:solidFill>
              <a:srgbClr val="8A8F99"/>
            </a:solidFill>
            <a:prstDash val="solid"/>
          </a:ln>
        </p:spPr>
      </p:sp>
      <p:sp>
        <p:nvSpPr>
          <p:cNvPr id="18" name="Shape 16"/>
          <p:cNvSpPr/>
          <p:nvPr/>
        </p:nvSpPr>
        <p:spPr>
          <a:xfrm>
            <a:off x="2075688" y="3474720"/>
            <a:ext cx="146304" cy="146304"/>
          </a:xfrm>
          <a:prstGeom prst="ellipse">
            <a:avLst/>
          </a:prstGeom>
          <a:solidFill>
            <a:srgbClr val="EDEDED"/>
          </a:solidFill>
          <a:ln w="9525">
            <a:solidFill>
              <a:srgbClr val="8A8F99"/>
            </a:solidFill>
            <a:prstDash val="solid"/>
          </a:ln>
        </p:spPr>
      </p:sp>
      <p:sp>
        <p:nvSpPr>
          <p:cNvPr id="19" name="Shape 17"/>
          <p:cNvSpPr/>
          <p:nvPr/>
        </p:nvSpPr>
        <p:spPr>
          <a:xfrm>
            <a:off x="1527048" y="3337560"/>
            <a:ext cx="146304" cy="146304"/>
          </a:xfrm>
          <a:prstGeom prst="ellipse">
            <a:avLst/>
          </a:prstGeom>
          <a:solidFill>
            <a:srgbClr val="EDEDED"/>
          </a:solidFill>
          <a:ln w="9525">
            <a:solidFill>
              <a:srgbClr val="8A8F99"/>
            </a:solidFill>
            <a:prstDash val="solid"/>
          </a:ln>
        </p:spPr>
      </p:sp>
      <p:sp>
        <p:nvSpPr>
          <p:cNvPr id="20" name="Shape 18"/>
          <p:cNvSpPr/>
          <p:nvPr/>
        </p:nvSpPr>
        <p:spPr>
          <a:xfrm>
            <a:off x="1938528" y="3346704"/>
            <a:ext cx="146304" cy="146304"/>
          </a:xfrm>
          <a:prstGeom prst="ellipse">
            <a:avLst/>
          </a:prstGeom>
          <a:solidFill>
            <a:srgbClr val="EDEDED"/>
          </a:solidFill>
          <a:ln w="9525">
            <a:solidFill>
              <a:srgbClr val="8A8F99"/>
            </a:solidFill>
            <a:prstDash val="solid"/>
          </a:ln>
        </p:spPr>
      </p:sp>
      <p:sp>
        <p:nvSpPr>
          <p:cNvPr id="21" name="Shape 19"/>
          <p:cNvSpPr/>
          <p:nvPr/>
        </p:nvSpPr>
        <p:spPr>
          <a:xfrm>
            <a:off x="1737360" y="3328416"/>
            <a:ext cx="146304" cy="146304"/>
          </a:xfrm>
          <a:prstGeom prst="ellipse">
            <a:avLst/>
          </a:prstGeom>
          <a:solidFill>
            <a:srgbClr val="EDEDED"/>
          </a:solidFill>
          <a:ln w="9525">
            <a:solidFill>
              <a:srgbClr val="8A8F99"/>
            </a:solidFill>
            <a:prstDash val="solid"/>
          </a:ln>
        </p:spPr>
      </p:sp>
      <p:sp>
        <p:nvSpPr>
          <p:cNvPr id="22" name="Shape 20"/>
          <p:cNvSpPr/>
          <p:nvPr/>
        </p:nvSpPr>
        <p:spPr>
          <a:xfrm>
            <a:off x="1522476" y="3168396"/>
            <a:ext cx="64008" cy="64008"/>
          </a:xfrm>
          <a:prstGeom prst="ellipse">
            <a:avLst/>
          </a:prstGeom>
          <a:solidFill>
            <a:srgbClr val="FFFFFF"/>
          </a:solidFill>
          <a:ln w="7620">
            <a:solidFill>
              <a:srgbClr val="5B9BD5"/>
            </a:solidFill>
            <a:prstDash val="solid"/>
          </a:ln>
        </p:spPr>
      </p:sp>
      <p:sp>
        <p:nvSpPr>
          <p:cNvPr id="23" name="Shape 21"/>
          <p:cNvSpPr/>
          <p:nvPr/>
        </p:nvSpPr>
        <p:spPr>
          <a:xfrm>
            <a:off x="1751076" y="3076956"/>
            <a:ext cx="64008" cy="64008"/>
          </a:xfrm>
          <a:prstGeom prst="ellipse">
            <a:avLst/>
          </a:prstGeom>
          <a:solidFill>
            <a:srgbClr val="FFFFFF"/>
          </a:solidFill>
          <a:ln w="7620">
            <a:solidFill>
              <a:srgbClr val="5B9BD5"/>
            </a:solidFill>
            <a:prstDash val="solid"/>
          </a:ln>
        </p:spPr>
      </p:sp>
      <p:sp>
        <p:nvSpPr>
          <p:cNvPr id="24" name="Shape 22"/>
          <p:cNvSpPr/>
          <p:nvPr/>
        </p:nvSpPr>
        <p:spPr>
          <a:xfrm>
            <a:off x="2025396" y="3186684"/>
            <a:ext cx="64008" cy="64008"/>
          </a:xfrm>
          <a:prstGeom prst="ellipse">
            <a:avLst/>
          </a:prstGeom>
          <a:solidFill>
            <a:srgbClr val="FFFFFF"/>
          </a:solidFill>
          <a:ln w="7620">
            <a:solidFill>
              <a:srgbClr val="5B9BD5"/>
            </a:solidFill>
            <a:prstDash val="solid"/>
          </a:ln>
        </p:spPr>
      </p:sp>
      <p:sp>
        <p:nvSpPr>
          <p:cNvPr id="25" name="Shape 23"/>
          <p:cNvSpPr/>
          <p:nvPr/>
        </p:nvSpPr>
        <p:spPr>
          <a:xfrm>
            <a:off x="1842516" y="2985516"/>
            <a:ext cx="64008" cy="64008"/>
          </a:xfrm>
          <a:prstGeom prst="ellipse">
            <a:avLst/>
          </a:prstGeom>
          <a:solidFill>
            <a:srgbClr val="FFFFFF"/>
          </a:solidFill>
          <a:ln w="7620">
            <a:solidFill>
              <a:srgbClr val="5B9BD5"/>
            </a:solidFill>
            <a:prstDash val="solid"/>
          </a:ln>
        </p:spPr>
      </p:sp>
      <p:sp>
        <p:nvSpPr>
          <p:cNvPr id="26" name="Shape 24"/>
          <p:cNvSpPr/>
          <p:nvPr/>
        </p:nvSpPr>
        <p:spPr>
          <a:xfrm>
            <a:off x="1659636" y="3259836"/>
            <a:ext cx="64008" cy="64008"/>
          </a:xfrm>
          <a:prstGeom prst="ellipse">
            <a:avLst/>
          </a:prstGeom>
          <a:solidFill>
            <a:srgbClr val="FFFFFF"/>
          </a:solidFill>
          <a:ln w="7620">
            <a:solidFill>
              <a:srgbClr val="5B9BD5"/>
            </a:solidFill>
            <a:prstDash val="solid"/>
          </a:ln>
        </p:spPr>
      </p:sp>
      <p:sp>
        <p:nvSpPr>
          <p:cNvPr id="27" name="Shape 25"/>
          <p:cNvSpPr/>
          <p:nvPr/>
        </p:nvSpPr>
        <p:spPr>
          <a:xfrm flipV="1">
            <a:off x="1828800" y="1417320"/>
            <a:ext cx="91" cy="155448"/>
          </a:xfrm>
          <a:prstGeom prst="line">
            <a:avLst/>
          </a:prstGeom>
          <a:noFill/>
          <a:ln w="38100">
            <a:solidFill>
              <a:srgbClr val="7D8794"/>
            </a:solidFill>
            <a:prstDash val="solid"/>
          </a:ln>
        </p:spPr>
      </p:sp>
      <p:sp>
        <p:nvSpPr>
          <p:cNvPr id="28" name="Shape 26"/>
          <p:cNvSpPr/>
          <p:nvPr/>
        </p:nvSpPr>
        <p:spPr>
          <a:xfrm>
            <a:off x="1828800" y="1417320"/>
            <a:ext cx="2331720" cy="91"/>
          </a:xfrm>
          <a:prstGeom prst="line">
            <a:avLst/>
          </a:prstGeom>
          <a:noFill/>
          <a:ln w="38100">
            <a:solidFill>
              <a:srgbClr val="7D8794"/>
            </a:solidFill>
            <a:prstDash val="solid"/>
          </a:ln>
        </p:spPr>
      </p:sp>
      <p:sp>
        <p:nvSpPr>
          <p:cNvPr id="29" name="Shape 27"/>
          <p:cNvSpPr/>
          <p:nvPr/>
        </p:nvSpPr>
        <p:spPr>
          <a:xfrm>
            <a:off x="4160520" y="1417320"/>
            <a:ext cx="91" cy="1783080"/>
          </a:xfrm>
          <a:prstGeom prst="line">
            <a:avLst/>
          </a:prstGeom>
          <a:noFill/>
          <a:ln w="38100">
            <a:solidFill>
              <a:srgbClr val="7D8794"/>
            </a:solidFill>
            <a:prstDash val="solid"/>
          </a:ln>
        </p:spPr>
      </p:sp>
      <p:sp>
        <p:nvSpPr>
          <p:cNvPr id="30" name="Shape 28"/>
          <p:cNvSpPr/>
          <p:nvPr/>
        </p:nvSpPr>
        <p:spPr>
          <a:xfrm>
            <a:off x="3931920" y="1920240"/>
            <a:ext cx="457200" cy="1600200"/>
          </a:xfrm>
          <a:custGeom>
            <a:avLst/>
            <a:gdLst/>
            <a:ahLst/>
            <a:cxnLst/>
            <a:rect l="l" t="t" r="r" b="b"/>
            <a:pathLst>
              <a:path w="457200" h="1600200">
                <a:moveTo>
                  <a:pt x="0" y="0"/>
                </a:moveTo>
                <a:lnTo>
                  <a:pt x="457200" y="0"/>
                </a:lnTo>
                <a:lnTo>
                  <a:pt x="457200" y="1371600"/>
                </a:lnTo>
                <a:lnTo>
                  <a:pt x="452808" y="1416198"/>
                </a:lnTo>
                <a:lnTo>
                  <a:pt x="439799" y="1459081"/>
                </a:lnTo>
                <a:lnTo>
                  <a:pt x="418674" y="1498603"/>
                </a:lnTo>
                <a:lnTo>
                  <a:pt x="390245" y="1533245"/>
                </a:lnTo>
                <a:lnTo>
                  <a:pt x="355603" y="1561674"/>
                </a:lnTo>
                <a:lnTo>
                  <a:pt x="316081" y="1582799"/>
                </a:lnTo>
                <a:lnTo>
                  <a:pt x="273198" y="1595808"/>
                </a:lnTo>
                <a:lnTo>
                  <a:pt x="228600" y="1600200"/>
                </a:lnTo>
                <a:lnTo>
                  <a:pt x="184002" y="1595808"/>
                </a:lnTo>
                <a:lnTo>
                  <a:pt x="141119" y="1582799"/>
                </a:lnTo>
                <a:lnTo>
                  <a:pt x="101597" y="1561674"/>
                </a:lnTo>
                <a:lnTo>
                  <a:pt x="66955" y="1533245"/>
                </a:lnTo>
                <a:lnTo>
                  <a:pt x="38526" y="1498603"/>
                </a:lnTo>
                <a:lnTo>
                  <a:pt x="17401" y="1459081"/>
                </a:lnTo>
                <a:lnTo>
                  <a:pt x="4392" y="1416198"/>
                </a:lnTo>
                <a:lnTo>
                  <a:pt x="0" y="1371600"/>
                </a:lnTo>
                <a:close/>
              </a:path>
            </a:pathLst>
          </a:custGeom>
          <a:solidFill>
            <a:srgbClr val="EEF5FB"/>
          </a:solidFill>
          <a:ln/>
        </p:spPr>
      </p:sp>
      <p:sp>
        <p:nvSpPr>
          <p:cNvPr id="31" name="Shape 29"/>
          <p:cNvSpPr/>
          <p:nvPr/>
        </p:nvSpPr>
        <p:spPr>
          <a:xfrm>
            <a:off x="3931920" y="2560320"/>
            <a:ext cx="457200" cy="960120"/>
          </a:xfrm>
          <a:custGeom>
            <a:avLst/>
            <a:gdLst/>
            <a:ahLst/>
            <a:cxnLst/>
            <a:rect l="l" t="t" r="r" b="b"/>
            <a:pathLst>
              <a:path w="457200" h="960120">
                <a:moveTo>
                  <a:pt x="0" y="0"/>
                </a:moveTo>
                <a:lnTo>
                  <a:pt x="457200" y="0"/>
                </a:lnTo>
                <a:lnTo>
                  <a:pt x="457200" y="731520"/>
                </a:lnTo>
                <a:lnTo>
                  <a:pt x="452808" y="776118"/>
                </a:lnTo>
                <a:lnTo>
                  <a:pt x="439799" y="819001"/>
                </a:lnTo>
                <a:lnTo>
                  <a:pt x="418674" y="858523"/>
                </a:lnTo>
                <a:lnTo>
                  <a:pt x="390245" y="893165"/>
                </a:lnTo>
                <a:lnTo>
                  <a:pt x="355603" y="921594"/>
                </a:lnTo>
                <a:lnTo>
                  <a:pt x="316081" y="942719"/>
                </a:lnTo>
                <a:lnTo>
                  <a:pt x="273198" y="955728"/>
                </a:lnTo>
                <a:lnTo>
                  <a:pt x="228600" y="960120"/>
                </a:lnTo>
                <a:lnTo>
                  <a:pt x="184002" y="955728"/>
                </a:lnTo>
                <a:lnTo>
                  <a:pt x="141119" y="942719"/>
                </a:lnTo>
                <a:lnTo>
                  <a:pt x="101597" y="921594"/>
                </a:lnTo>
                <a:lnTo>
                  <a:pt x="66955" y="893165"/>
                </a:lnTo>
                <a:lnTo>
                  <a:pt x="38526" y="858523"/>
                </a:lnTo>
                <a:lnTo>
                  <a:pt x="17401" y="819001"/>
                </a:lnTo>
                <a:lnTo>
                  <a:pt x="4392" y="776118"/>
                </a:lnTo>
                <a:lnTo>
                  <a:pt x="0" y="731520"/>
                </a:lnTo>
                <a:close/>
              </a:path>
            </a:pathLst>
          </a:custGeom>
          <a:solidFill>
            <a:srgbClr val="F2F2F2"/>
          </a:solidFill>
          <a:ln/>
        </p:spPr>
      </p:sp>
      <p:sp>
        <p:nvSpPr>
          <p:cNvPr id="32" name="Shape 30"/>
          <p:cNvSpPr/>
          <p:nvPr/>
        </p:nvSpPr>
        <p:spPr>
          <a:xfrm>
            <a:off x="3931920" y="1920240"/>
            <a:ext cx="91" cy="1371600"/>
          </a:xfrm>
          <a:prstGeom prst="line">
            <a:avLst/>
          </a:prstGeom>
          <a:noFill/>
          <a:ln w="19050">
            <a:solidFill>
              <a:srgbClr val="2A1F3D"/>
            </a:solidFill>
            <a:prstDash val="solid"/>
          </a:ln>
        </p:spPr>
      </p:sp>
      <p:sp>
        <p:nvSpPr>
          <p:cNvPr id="33" name="Shape 31"/>
          <p:cNvSpPr/>
          <p:nvPr/>
        </p:nvSpPr>
        <p:spPr>
          <a:xfrm>
            <a:off x="4389120" y="1920240"/>
            <a:ext cx="91" cy="1371600"/>
          </a:xfrm>
          <a:prstGeom prst="line">
            <a:avLst/>
          </a:prstGeom>
          <a:noFill/>
          <a:ln w="19050">
            <a:solidFill>
              <a:srgbClr val="2A1F3D"/>
            </a:solidFill>
            <a:prstDash val="solid"/>
          </a:ln>
        </p:spPr>
      </p:sp>
      <p:sp>
        <p:nvSpPr>
          <p:cNvPr id="34" name="Shape 32"/>
          <p:cNvSpPr/>
          <p:nvPr/>
        </p:nvSpPr>
        <p:spPr>
          <a:xfrm>
            <a:off x="3931920" y="3291840"/>
            <a:ext cx="457200" cy="228600"/>
          </a:xfrm>
          <a:custGeom>
            <a:avLst/>
            <a:gdLst/>
            <a:ahLst/>
            <a:cxnLst/>
            <a:rect l="l" t="t" r="r" b="b"/>
            <a:pathLst>
              <a:path w="457200" h="228600">
                <a:moveTo>
                  <a:pt x="457200" y="0"/>
                </a:moveTo>
                <a:lnTo>
                  <a:pt x="452808" y="44598"/>
                </a:lnTo>
                <a:lnTo>
                  <a:pt x="439799" y="87481"/>
                </a:lnTo>
                <a:lnTo>
                  <a:pt x="418674" y="127003"/>
                </a:lnTo>
                <a:lnTo>
                  <a:pt x="390245" y="161645"/>
                </a:lnTo>
                <a:lnTo>
                  <a:pt x="355603" y="190074"/>
                </a:lnTo>
                <a:lnTo>
                  <a:pt x="316081" y="211199"/>
                </a:lnTo>
                <a:lnTo>
                  <a:pt x="273198" y="224208"/>
                </a:lnTo>
                <a:lnTo>
                  <a:pt x="228600" y="228600"/>
                </a:lnTo>
                <a:lnTo>
                  <a:pt x="184002" y="224208"/>
                </a:lnTo>
                <a:lnTo>
                  <a:pt x="141119" y="211199"/>
                </a:lnTo>
                <a:lnTo>
                  <a:pt x="101597" y="190074"/>
                </a:lnTo>
                <a:lnTo>
                  <a:pt x="66955" y="161645"/>
                </a:lnTo>
                <a:lnTo>
                  <a:pt x="38526" y="127003"/>
                </a:lnTo>
                <a:lnTo>
                  <a:pt x="17401" y="87481"/>
                </a:lnTo>
                <a:lnTo>
                  <a:pt x="4392" y="44598"/>
                </a:lnTo>
                <a:lnTo>
                  <a:pt x="0" y="0"/>
                </a:lnTo>
              </a:path>
            </a:pathLst>
          </a:custGeom>
          <a:ln w="19050">
            <a:solidFill>
              <a:srgbClr val="2A1F3D"/>
            </a:solidFill>
            <a:prstDash val="solid"/>
          </a:ln>
        </p:spPr>
      </p:sp>
      <p:sp>
        <p:nvSpPr>
          <p:cNvPr id="35" name="Shape 33"/>
          <p:cNvSpPr/>
          <p:nvPr/>
        </p:nvSpPr>
        <p:spPr>
          <a:xfrm>
            <a:off x="3895344" y="1920240"/>
            <a:ext cx="36576" cy="91"/>
          </a:xfrm>
          <a:prstGeom prst="line">
            <a:avLst/>
          </a:prstGeom>
          <a:noFill/>
          <a:ln w="19050">
            <a:solidFill>
              <a:srgbClr val="2A1F3D"/>
            </a:solidFill>
            <a:prstDash val="solid"/>
          </a:ln>
        </p:spPr>
      </p:sp>
      <p:sp>
        <p:nvSpPr>
          <p:cNvPr id="36" name="Shape 34"/>
          <p:cNvSpPr/>
          <p:nvPr/>
        </p:nvSpPr>
        <p:spPr>
          <a:xfrm>
            <a:off x="4389120" y="1920240"/>
            <a:ext cx="36576" cy="91"/>
          </a:xfrm>
          <a:prstGeom prst="line">
            <a:avLst/>
          </a:prstGeom>
          <a:noFill/>
          <a:ln w="19050">
            <a:solidFill>
              <a:srgbClr val="2A1F3D"/>
            </a:solidFill>
            <a:prstDash val="solid"/>
          </a:ln>
        </p:spPr>
      </p:sp>
      <p:sp>
        <p:nvSpPr>
          <p:cNvPr id="37" name="Shape 35"/>
          <p:cNvSpPr/>
          <p:nvPr/>
        </p:nvSpPr>
        <p:spPr>
          <a:xfrm>
            <a:off x="4082796" y="2985516"/>
            <a:ext cx="64008" cy="64008"/>
          </a:xfrm>
          <a:prstGeom prst="ellipse">
            <a:avLst/>
          </a:prstGeom>
          <a:solidFill>
            <a:srgbClr val="FFFFFF"/>
          </a:solidFill>
          <a:ln w="7620">
            <a:solidFill>
              <a:srgbClr val="5B9BD5"/>
            </a:solidFill>
            <a:prstDash val="solid"/>
          </a:ln>
        </p:spPr>
      </p:sp>
      <p:sp>
        <p:nvSpPr>
          <p:cNvPr id="38" name="Shape 36"/>
          <p:cNvSpPr/>
          <p:nvPr/>
        </p:nvSpPr>
        <p:spPr>
          <a:xfrm>
            <a:off x="4174236" y="2756916"/>
            <a:ext cx="64008" cy="64008"/>
          </a:xfrm>
          <a:prstGeom prst="ellipse">
            <a:avLst/>
          </a:prstGeom>
          <a:solidFill>
            <a:srgbClr val="FFFFFF"/>
          </a:solidFill>
          <a:ln w="7620">
            <a:solidFill>
              <a:srgbClr val="5B9BD5"/>
            </a:solidFill>
            <a:prstDash val="solid"/>
          </a:ln>
        </p:spPr>
      </p:sp>
      <p:sp>
        <p:nvSpPr>
          <p:cNvPr id="39" name="Shape 37"/>
          <p:cNvSpPr/>
          <p:nvPr/>
        </p:nvSpPr>
        <p:spPr>
          <a:xfrm>
            <a:off x="4082796" y="2574036"/>
            <a:ext cx="64008" cy="64008"/>
          </a:xfrm>
          <a:prstGeom prst="ellipse">
            <a:avLst/>
          </a:prstGeom>
          <a:solidFill>
            <a:srgbClr val="FFFFFF"/>
          </a:solidFill>
          <a:ln w="7620">
            <a:solidFill>
              <a:srgbClr val="5B9BD5"/>
            </a:solidFill>
            <a:prstDash val="solid"/>
          </a:ln>
        </p:spPr>
      </p:sp>
      <p:sp>
        <p:nvSpPr>
          <p:cNvPr id="40" name="Shape 38"/>
          <p:cNvSpPr/>
          <p:nvPr/>
        </p:nvSpPr>
        <p:spPr>
          <a:xfrm>
            <a:off x="4003243" y="3043123"/>
            <a:ext cx="40234" cy="40234"/>
          </a:xfrm>
          <a:prstGeom prst="ellipse">
            <a:avLst/>
          </a:prstGeom>
          <a:solidFill>
            <a:srgbClr val="FFFFFF"/>
          </a:solidFill>
          <a:ln w="5080">
            <a:solidFill>
              <a:srgbClr val="C7C7C7"/>
            </a:solidFill>
            <a:prstDash val="solid"/>
          </a:ln>
        </p:spPr>
      </p:sp>
      <p:sp>
        <p:nvSpPr>
          <p:cNvPr id="41" name="Shape 39"/>
          <p:cNvSpPr/>
          <p:nvPr/>
        </p:nvSpPr>
        <p:spPr>
          <a:xfrm>
            <a:off x="4094683" y="3043123"/>
            <a:ext cx="40234" cy="40234"/>
          </a:xfrm>
          <a:prstGeom prst="ellipse">
            <a:avLst/>
          </a:prstGeom>
          <a:solidFill>
            <a:srgbClr val="FFFFFF"/>
          </a:solidFill>
          <a:ln w="5080">
            <a:solidFill>
              <a:srgbClr val="C7C7C7"/>
            </a:solidFill>
            <a:prstDash val="solid"/>
          </a:ln>
        </p:spPr>
      </p:sp>
      <p:sp>
        <p:nvSpPr>
          <p:cNvPr id="42" name="Shape 40"/>
          <p:cNvSpPr/>
          <p:nvPr/>
        </p:nvSpPr>
        <p:spPr>
          <a:xfrm>
            <a:off x="4186123" y="3043123"/>
            <a:ext cx="40234" cy="40234"/>
          </a:xfrm>
          <a:prstGeom prst="ellipse">
            <a:avLst/>
          </a:prstGeom>
          <a:solidFill>
            <a:srgbClr val="FFFFFF"/>
          </a:solidFill>
          <a:ln w="5080">
            <a:solidFill>
              <a:srgbClr val="C7C7C7"/>
            </a:solidFill>
            <a:prstDash val="solid"/>
          </a:ln>
        </p:spPr>
      </p:sp>
      <p:sp>
        <p:nvSpPr>
          <p:cNvPr id="43" name="Shape 41"/>
          <p:cNvSpPr/>
          <p:nvPr/>
        </p:nvSpPr>
        <p:spPr>
          <a:xfrm>
            <a:off x="4277563" y="3043123"/>
            <a:ext cx="40234" cy="40234"/>
          </a:xfrm>
          <a:prstGeom prst="ellipse">
            <a:avLst/>
          </a:prstGeom>
          <a:solidFill>
            <a:srgbClr val="FFFFFF"/>
          </a:solidFill>
          <a:ln w="5080">
            <a:solidFill>
              <a:srgbClr val="C7C7C7"/>
            </a:solidFill>
            <a:prstDash val="solid"/>
          </a:ln>
        </p:spPr>
      </p:sp>
      <p:sp>
        <p:nvSpPr>
          <p:cNvPr id="44" name="Shape 42"/>
          <p:cNvSpPr/>
          <p:nvPr/>
        </p:nvSpPr>
        <p:spPr>
          <a:xfrm>
            <a:off x="4003243" y="3152851"/>
            <a:ext cx="40234" cy="40234"/>
          </a:xfrm>
          <a:prstGeom prst="ellipse">
            <a:avLst/>
          </a:prstGeom>
          <a:solidFill>
            <a:srgbClr val="FFFFFF"/>
          </a:solidFill>
          <a:ln w="5080">
            <a:solidFill>
              <a:srgbClr val="C7C7C7"/>
            </a:solidFill>
            <a:prstDash val="solid"/>
          </a:ln>
        </p:spPr>
      </p:sp>
      <p:sp>
        <p:nvSpPr>
          <p:cNvPr id="45" name="Shape 43"/>
          <p:cNvSpPr/>
          <p:nvPr/>
        </p:nvSpPr>
        <p:spPr>
          <a:xfrm>
            <a:off x="4094683" y="3152851"/>
            <a:ext cx="40234" cy="40234"/>
          </a:xfrm>
          <a:prstGeom prst="ellipse">
            <a:avLst/>
          </a:prstGeom>
          <a:solidFill>
            <a:srgbClr val="FFFFFF"/>
          </a:solidFill>
          <a:ln w="5080">
            <a:solidFill>
              <a:srgbClr val="C7C7C7"/>
            </a:solidFill>
            <a:prstDash val="solid"/>
          </a:ln>
        </p:spPr>
      </p:sp>
      <p:sp>
        <p:nvSpPr>
          <p:cNvPr id="46" name="Shape 44"/>
          <p:cNvSpPr/>
          <p:nvPr/>
        </p:nvSpPr>
        <p:spPr>
          <a:xfrm>
            <a:off x="4186123" y="3152851"/>
            <a:ext cx="40234" cy="40234"/>
          </a:xfrm>
          <a:prstGeom prst="ellipse">
            <a:avLst/>
          </a:prstGeom>
          <a:solidFill>
            <a:srgbClr val="FFFFFF"/>
          </a:solidFill>
          <a:ln w="5080">
            <a:solidFill>
              <a:srgbClr val="C7C7C7"/>
            </a:solidFill>
            <a:prstDash val="solid"/>
          </a:ln>
        </p:spPr>
      </p:sp>
      <p:sp>
        <p:nvSpPr>
          <p:cNvPr id="47" name="Shape 45"/>
          <p:cNvSpPr/>
          <p:nvPr/>
        </p:nvSpPr>
        <p:spPr>
          <a:xfrm>
            <a:off x="4277563" y="3152851"/>
            <a:ext cx="40234" cy="40234"/>
          </a:xfrm>
          <a:prstGeom prst="ellipse">
            <a:avLst/>
          </a:prstGeom>
          <a:solidFill>
            <a:srgbClr val="FFFFFF"/>
          </a:solidFill>
          <a:ln w="5080">
            <a:solidFill>
              <a:srgbClr val="C7C7C7"/>
            </a:solidFill>
            <a:prstDash val="solid"/>
          </a:ln>
        </p:spPr>
      </p:sp>
      <p:sp>
        <p:nvSpPr>
          <p:cNvPr id="48" name="Shape 46"/>
          <p:cNvSpPr/>
          <p:nvPr/>
        </p:nvSpPr>
        <p:spPr>
          <a:xfrm>
            <a:off x="4003243" y="3262579"/>
            <a:ext cx="40234" cy="40234"/>
          </a:xfrm>
          <a:prstGeom prst="ellipse">
            <a:avLst/>
          </a:prstGeom>
          <a:solidFill>
            <a:srgbClr val="FFFFFF"/>
          </a:solidFill>
          <a:ln w="5080">
            <a:solidFill>
              <a:srgbClr val="C7C7C7"/>
            </a:solidFill>
            <a:prstDash val="solid"/>
          </a:ln>
        </p:spPr>
      </p:sp>
      <p:sp>
        <p:nvSpPr>
          <p:cNvPr id="49" name="Shape 47"/>
          <p:cNvSpPr/>
          <p:nvPr/>
        </p:nvSpPr>
        <p:spPr>
          <a:xfrm>
            <a:off x="4094683" y="3262579"/>
            <a:ext cx="40234" cy="40234"/>
          </a:xfrm>
          <a:prstGeom prst="ellipse">
            <a:avLst/>
          </a:prstGeom>
          <a:solidFill>
            <a:srgbClr val="FFFFFF"/>
          </a:solidFill>
          <a:ln w="5080">
            <a:solidFill>
              <a:srgbClr val="C7C7C7"/>
            </a:solidFill>
            <a:prstDash val="solid"/>
          </a:ln>
        </p:spPr>
      </p:sp>
      <p:sp>
        <p:nvSpPr>
          <p:cNvPr id="50" name="Shape 48"/>
          <p:cNvSpPr/>
          <p:nvPr/>
        </p:nvSpPr>
        <p:spPr>
          <a:xfrm>
            <a:off x="4186123" y="3262579"/>
            <a:ext cx="40234" cy="40234"/>
          </a:xfrm>
          <a:prstGeom prst="ellipse">
            <a:avLst/>
          </a:prstGeom>
          <a:solidFill>
            <a:srgbClr val="FFFFFF"/>
          </a:solidFill>
          <a:ln w="5080">
            <a:solidFill>
              <a:srgbClr val="C7C7C7"/>
            </a:solidFill>
            <a:prstDash val="solid"/>
          </a:ln>
        </p:spPr>
      </p:sp>
      <p:sp>
        <p:nvSpPr>
          <p:cNvPr id="51" name="Shape 49"/>
          <p:cNvSpPr/>
          <p:nvPr/>
        </p:nvSpPr>
        <p:spPr>
          <a:xfrm>
            <a:off x="4277563" y="3262579"/>
            <a:ext cx="40234" cy="40234"/>
          </a:xfrm>
          <a:prstGeom prst="ellipse">
            <a:avLst/>
          </a:prstGeom>
          <a:solidFill>
            <a:srgbClr val="FFFFFF"/>
          </a:solidFill>
          <a:ln w="5080">
            <a:solidFill>
              <a:srgbClr val="C7C7C7"/>
            </a:solidFill>
            <a:prstDash val="solid"/>
          </a:ln>
        </p:spPr>
      </p:sp>
      <p:sp>
        <p:nvSpPr>
          <p:cNvPr id="52" name="Text 50"/>
          <p:cNvSpPr/>
          <p:nvPr/>
        </p:nvSpPr>
        <p:spPr>
          <a:xfrm>
            <a:off x="4526280" y="2377440"/>
            <a:ext cx="1280160" cy="411480"/>
          </a:xfrm>
          <a:prstGeom prst="rect">
            <a:avLst/>
          </a:prstGeom>
          <a:noFill/>
          <a:ln/>
        </p:spPr>
        <p:txBody>
          <a:bodyPr wrap="square" lIns="0" tIns="0" rIns="0" bIns="0" rtlCol="0" anchor="ctr"/>
          <a:lstStyle/>
          <a:p>
            <a:pPr algn="l" indent="0" marL="0">
              <a:buNone/>
            </a:pPr>
            <a:r>
              <a:rPr lang="en-US" sz="1000" dirty="0">
                <a:solidFill>
                  <a:srgbClr val="262B3A"/>
                </a:solidFill>
                <a:latin typeface="Calibri" pitchFamily="34" charset="0"/>
                <a:ea typeface="Calibri" pitchFamily="34" charset="-122"/>
                <a:cs typeface="Calibri" pitchFamily="34" charset="-120"/>
              </a:rPr>
              <a:t>limewater turns </a:t>
            </a:r>
            <a:r>
              <a:rPr lang="en-US" sz="1000" b="1" dirty="0">
                <a:solidFill>
                  <a:srgbClr val="262B3A"/>
                </a:solidFill>
                <a:latin typeface="Calibri" pitchFamily="34" charset="0"/>
                <a:ea typeface="Calibri" pitchFamily="34" charset="-122"/>
                <a:cs typeface="Calibri" pitchFamily="34" charset="-120"/>
              </a:rPr>
              <a:t>milky</a:t>
            </a:r>
            <a:endParaRPr lang="en-US" sz="1000" dirty="0"/>
          </a:p>
        </p:txBody>
      </p:sp>
      <p:sp>
        <p:nvSpPr>
          <p:cNvPr id="53" name="Shape 51"/>
          <p:cNvSpPr/>
          <p:nvPr/>
        </p:nvSpPr>
        <p:spPr>
          <a:xfrm flipH="1">
            <a:off x="4343400" y="2583180"/>
            <a:ext cx="155448" cy="160020"/>
          </a:xfrm>
          <a:prstGeom prst="line">
            <a:avLst/>
          </a:prstGeom>
          <a:noFill/>
          <a:ln w="9525">
            <a:solidFill>
              <a:srgbClr val="8A8F99"/>
            </a:solidFill>
            <a:prstDash val="solid"/>
          </a:ln>
        </p:spPr>
      </p:sp>
      <p:sp>
        <p:nvSpPr>
          <p:cNvPr id="54" name="Text 52"/>
          <p:cNvSpPr/>
          <p:nvPr/>
        </p:nvSpPr>
        <p:spPr>
          <a:xfrm>
            <a:off x="502920" y="2377440"/>
            <a:ext cx="822960" cy="219456"/>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dilute HCl</a:t>
            </a:r>
            <a:endParaRPr lang="en-US" sz="1000" dirty="0"/>
          </a:p>
        </p:txBody>
      </p:sp>
      <p:sp>
        <p:nvSpPr>
          <p:cNvPr id="55" name="Shape 53"/>
          <p:cNvSpPr/>
          <p:nvPr/>
        </p:nvSpPr>
        <p:spPr>
          <a:xfrm>
            <a:off x="1353312" y="2487168"/>
            <a:ext cx="18288" cy="621792"/>
          </a:xfrm>
          <a:prstGeom prst="line">
            <a:avLst/>
          </a:prstGeom>
          <a:noFill/>
          <a:ln w="9525">
            <a:solidFill>
              <a:srgbClr val="8A8F99"/>
            </a:solidFill>
            <a:prstDash val="solid"/>
          </a:ln>
        </p:spPr>
      </p:sp>
      <p:sp>
        <p:nvSpPr>
          <p:cNvPr id="56" name="Text 54"/>
          <p:cNvSpPr/>
          <p:nvPr/>
        </p:nvSpPr>
        <p:spPr>
          <a:xfrm>
            <a:off x="2697480" y="3730752"/>
            <a:ext cx="1737360" cy="219456"/>
          </a:xfrm>
          <a:prstGeom prst="rect">
            <a:avLst/>
          </a:prstGeom>
          <a:noFill/>
          <a:ln/>
        </p:spPr>
        <p:txBody>
          <a:bodyPr wrap="square" lIns="0" tIns="0" rIns="0" bIns="0" rtlCol="0" anchor="ctr"/>
          <a:lstStyle/>
          <a:p>
            <a:pPr algn="l" indent="0" marL="0">
              <a:buNone/>
            </a:pPr>
            <a:r>
              <a:rPr lang="en-US" sz="1000" b="1" dirty="0">
                <a:solidFill>
                  <a:srgbClr val="262B3A"/>
                </a:solidFill>
                <a:latin typeface="Calibri" pitchFamily="34" charset="0"/>
                <a:ea typeface="Calibri" pitchFamily="34" charset="-122"/>
                <a:cs typeface="Calibri" pitchFamily="34" charset="-120"/>
              </a:rPr>
              <a:t>marble chips</a:t>
            </a:r>
            <a:r>
              <a:rPr lang="en-US" sz="1000" dirty="0">
                <a:solidFill>
                  <a:srgbClr val="262B3A"/>
                </a:solidFill>
                <a:latin typeface="Calibri" pitchFamily="34" charset="0"/>
                <a:ea typeface="Calibri" pitchFamily="34" charset="-122"/>
                <a:cs typeface="Calibri" pitchFamily="34" charset="-120"/>
              </a:rPr>
              <a:t>, CaCO₃</a:t>
            </a:r>
            <a:endParaRPr lang="en-US" sz="1000" dirty="0"/>
          </a:p>
        </p:txBody>
      </p:sp>
      <p:sp>
        <p:nvSpPr>
          <p:cNvPr id="57" name="Shape 55"/>
          <p:cNvSpPr/>
          <p:nvPr/>
        </p:nvSpPr>
        <p:spPr>
          <a:xfrm flipH="1" flipV="1">
            <a:off x="2194560" y="3547872"/>
            <a:ext cx="475488" cy="292608"/>
          </a:xfrm>
          <a:prstGeom prst="line">
            <a:avLst/>
          </a:prstGeom>
          <a:noFill/>
          <a:ln w="9525">
            <a:solidFill>
              <a:srgbClr val="8A8F99"/>
            </a:solidFill>
            <a:prstDash val="solid"/>
          </a:ln>
        </p:spPr>
      </p:sp>
      <p:sp>
        <p:nvSpPr>
          <p:cNvPr id="58" name="Text 56"/>
          <p:cNvSpPr/>
          <p:nvPr/>
        </p:nvSpPr>
        <p:spPr>
          <a:xfrm>
            <a:off x="2377440" y="1481328"/>
            <a:ext cx="1463040" cy="219456"/>
          </a:xfrm>
          <a:prstGeom prst="rect">
            <a:avLst/>
          </a:prstGeom>
          <a:noFill/>
          <a:ln/>
        </p:spPr>
        <p:txBody>
          <a:bodyPr wrap="square" lIns="0" tIns="0" rIns="0" bIns="0" rtlCol="0" anchor="ctr"/>
          <a:lstStyle/>
          <a:p>
            <a:pPr algn="ctr" indent="0" marL="0">
              <a:buNone/>
            </a:pPr>
            <a:r>
              <a:rPr lang="en-US" sz="1000" b="1" dirty="0">
                <a:solidFill>
                  <a:srgbClr val="6B7385"/>
                </a:solidFill>
                <a:latin typeface="Calibri" pitchFamily="34" charset="0"/>
                <a:ea typeface="Calibri" pitchFamily="34" charset="-122"/>
                <a:cs typeface="Calibri" pitchFamily="34" charset="-120"/>
              </a:rPr>
              <a:t>CO₂ gas →</a:t>
            </a:r>
            <a:endParaRPr lang="en-US" sz="1000" dirty="0"/>
          </a:p>
        </p:txBody>
      </p:sp>
      <p:sp>
        <p:nvSpPr>
          <p:cNvPr id="59" name="Shape 57"/>
          <p:cNvSpPr/>
          <p:nvPr/>
        </p:nvSpPr>
        <p:spPr>
          <a:xfrm>
            <a:off x="640080" y="4160520"/>
            <a:ext cx="5120640" cy="365760"/>
          </a:xfrm>
          <a:prstGeom prst="roundRect">
            <a:avLst>
              <a:gd name="adj" fmla="val 12500"/>
            </a:avLst>
          </a:prstGeom>
          <a:solidFill>
            <a:srgbClr val="FFFFFF"/>
          </a:solidFill>
          <a:ln w="12700">
            <a:solidFill>
              <a:srgbClr val="DDD3EC"/>
            </a:solidFill>
            <a:prstDash val="solid"/>
          </a:ln>
        </p:spPr>
      </p:sp>
      <p:sp>
        <p:nvSpPr>
          <p:cNvPr id="60" name="Text 58"/>
          <p:cNvSpPr/>
          <p:nvPr/>
        </p:nvSpPr>
        <p:spPr>
          <a:xfrm>
            <a:off x="713232" y="4160520"/>
            <a:ext cx="4974336" cy="365760"/>
          </a:xfrm>
          <a:prstGeom prst="rect">
            <a:avLst/>
          </a:prstGeom>
          <a:noFill/>
          <a:ln/>
        </p:spPr>
        <p:txBody>
          <a:bodyPr wrap="square" lIns="0" tIns="0" rIns="0" bIns="0" rtlCol="0" anchor="ctr"/>
          <a:lstStyle/>
          <a:p>
            <a:pPr algn="ctr" indent="0" marL="0">
              <a:buNone/>
            </a:pPr>
            <a:r>
              <a:rPr lang="en-US" sz="1150" b="1" dirty="0">
                <a:solidFill>
                  <a:srgbClr val="2A1F3D"/>
                </a:solidFill>
                <a:latin typeface="Calibri" pitchFamily="34" charset="0"/>
                <a:ea typeface="Calibri" pitchFamily="34" charset="-122"/>
                <a:cs typeface="Calibri" pitchFamily="34" charset="-120"/>
              </a:rPr>
              <a:t>CaCO₃(s) + 2HCl(aq) → CaCl₂(aq) + H₂O(l) + CO₂(g)</a:t>
            </a:r>
            <a:endParaRPr lang="en-US" sz="1150" dirty="0"/>
          </a:p>
        </p:txBody>
      </p:sp>
      <p:sp>
        <p:nvSpPr>
          <p:cNvPr id="61" name="Shape 59"/>
          <p:cNvSpPr/>
          <p:nvPr/>
        </p:nvSpPr>
        <p:spPr>
          <a:xfrm>
            <a:off x="640080" y="4599432"/>
            <a:ext cx="5120640" cy="347472"/>
          </a:xfrm>
          <a:prstGeom prst="roundRect">
            <a:avLst>
              <a:gd name="adj" fmla="val 13158"/>
            </a:avLst>
          </a:prstGeom>
          <a:solidFill>
            <a:srgbClr val="E8F4EC"/>
          </a:solidFill>
          <a:ln w="12700">
            <a:solidFill>
              <a:srgbClr val="2E8B57"/>
            </a:solidFill>
            <a:prstDash val="solid"/>
          </a:ln>
        </p:spPr>
      </p:sp>
      <p:sp>
        <p:nvSpPr>
          <p:cNvPr id="62" name="Text 60"/>
          <p:cNvSpPr/>
          <p:nvPr/>
        </p:nvSpPr>
        <p:spPr>
          <a:xfrm>
            <a:off x="713232" y="4599432"/>
            <a:ext cx="4974336" cy="347472"/>
          </a:xfrm>
          <a:prstGeom prst="rect">
            <a:avLst/>
          </a:prstGeom>
          <a:noFill/>
          <a:ln/>
        </p:spPr>
        <p:txBody>
          <a:bodyPr wrap="square" lIns="0" tIns="0" rIns="0" bIns="0" rtlCol="0" anchor="ctr"/>
          <a:lstStyle/>
          <a:p>
            <a:pPr algn="ctr" indent="0" marL="0">
              <a:buNone/>
            </a:pPr>
            <a:r>
              <a:rPr lang="en-US" sz="1100" b="1" dirty="0">
                <a:solidFill>
                  <a:srgbClr val="2A1F3D"/>
                </a:solidFill>
                <a:latin typeface="Calibri" pitchFamily="34" charset="0"/>
                <a:ea typeface="Calibri" pitchFamily="34" charset="-122"/>
                <a:cs typeface="Calibri" pitchFamily="34" charset="-120"/>
              </a:rPr>
              <a:t>Limewater: Ca(OH)₂(aq) + CO₂(g) → CaCO₃(s) + H₂O(l)</a:t>
            </a:r>
            <a:endParaRPr lang="en-US" sz="1100" dirty="0"/>
          </a:p>
        </p:txBody>
      </p:sp>
      <p:sp>
        <p:nvSpPr>
          <p:cNvPr id="63" name="Shape 61"/>
          <p:cNvSpPr/>
          <p:nvPr/>
        </p:nvSpPr>
        <p:spPr>
          <a:xfrm>
            <a:off x="6217920" y="1188720"/>
            <a:ext cx="5562295" cy="3200400"/>
          </a:xfrm>
          <a:prstGeom prst="roundRect">
            <a:avLst>
              <a:gd name="adj" fmla="val 1714"/>
            </a:avLst>
          </a:prstGeom>
          <a:solidFill>
            <a:srgbClr val="F8F5FC"/>
          </a:solidFill>
          <a:ln w="9525">
            <a:solidFill>
              <a:srgbClr val="DDD3EC"/>
            </a:solidFill>
            <a:prstDash val="solid"/>
          </a:ln>
        </p:spPr>
      </p:sp>
      <p:sp>
        <p:nvSpPr>
          <p:cNvPr id="64" name="Text 62"/>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2A1F3D"/>
                </a:solidFill>
                <a:latin typeface="Calibri" pitchFamily="34" charset="0"/>
                <a:ea typeface="Calibri" pitchFamily="34" charset="-122"/>
                <a:cs typeface="Calibri" pitchFamily="34" charset="-120"/>
              </a:rPr>
              <a:t>Fizzing with carbonates</a:t>
            </a:r>
            <a:endParaRPr lang="en-US" sz="1300" dirty="0"/>
          </a:p>
        </p:txBody>
      </p:sp>
      <p:sp>
        <p:nvSpPr>
          <p:cNvPr id="65" name="Text 63"/>
          <p:cNvSpPr/>
          <p:nvPr/>
        </p:nvSpPr>
        <p:spPr>
          <a:xfrm>
            <a:off x="6382512" y="1609344"/>
            <a:ext cx="5233111" cy="2706624"/>
          </a:xfrm>
          <a:prstGeom prst="rect">
            <a:avLst/>
          </a:prstGeom>
          <a:noFill/>
          <a:ln/>
        </p:spPr>
        <p:txBody>
          <a:bodyPr wrap="square" lIns="0" tIns="0" rIns="0" bIns="0" rtlCol="0" anchor="t"/>
          <a:lstStyle/>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acid + metal </a:t>
            </a:r>
            <a:r>
              <a:rPr lang="en-US" sz="1100" b="1" dirty="0">
                <a:solidFill>
                  <a:srgbClr val="262B3A"/>
                </a:solidFill>
                <a:latin typeface="Calibri" pitchFamily="34" charset="0"/>
                <a:ea typeface="Calibri" pitchFamily="34" charset="-122"/>
                <a:cs typeface="Calibri" pitchFamily="34" charset="-120"/>
              </a:rPr>
              <a:t>carbonate</a:t>
            </a:r>
            <a:r>
              <a:rPr lang="en-US" sz="1100" dirty="0">
                <a:solidFill>
                  <a:srgbClr val="262B3A"/>
                </a:solidFill>
                <a:latin typeface="Calibri" pitchFamily="34" charset="0"/>
                <a:ea typeface="Calibri" pitchFamily="34" charset="-122"/>
                <a:cs typeface="Calibri" pitchFamily="34" charset="-120"/>
              </a:rPr>
              <a:t> → </a:t>
            </a:r>
            <a:r>
              <a:rPr lang="en-US" sz="1100" b="1" dirty="0">
                <a:solidFill>
                  <a:srgbClr val="262B3A"/>
                </a:solidFill>
                <a:latin typeface="Calibri" pitchFamily="34" charset="0"/>
                <a:ea typeface="Calibri" pitchFamily="34" charset="-122"/>
                <a:cs typeface="Calibri" pitchFamily="34" charset="-120"/>
              </a:rPr>
              <a:t>salt + water + carbon dioxide</a:t>
            </a:r>
            <a:r>
              <a:rPr lang="en-US" sz="1100" dirty="0">
                <a:solidFill>
                  <a:srgbClr val="262B3A"/>
                </a:solidFill>
                <a:latin typeface="Calibri" pitchFamily="34" charset="0"/>
                <a:ea typeface="Calibri" pitchFamily="34" charset="-122"/>
                <a:cs typeface="Calibri" pitchFamily="34" charset="-120"/>
              </a:rPr>
              <a:t>.</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You see </a:t>
            </a:r>
            <a:r>
              <a:rPr lang="en-US" sz="1100" b="1" dirty="0">
                <a:solidFill>
                  <a:srgbClr val="262B3A"/>
                </a:solidFill>
                <a:latin typeface="Calibri" pitchFamily="34" charset="0"/>
                <a:ea typeface="Calibri" pitchFamily="34" charset="-122"/>
                <a:cs typeface="Calibri" pitchFamily="34" charset="-120"/>
              </a:rPr>
              <a:t>fizzing</a:t>
            </a:r>
            <a:r>
              <a:rPr lang="en-US" sz="1100" dirty="0">
                <a:solidFill>
                  <a:srgbClr val="262B3A"/>
                </a:solidFill>
                <a:latin typeface="Calibri" pitchFamily="34" charset="0"/>
                <a:ea typeface="Calibri" pitchFamily="34" charset="-122"/>
                <a:cs typeface="Calibri" pitchFamily="34" charset="-120"/>
              </a:rPr>
              <a:t>; a solid carbonate </a:t>
            </a:r>
            <a:r>
              <a:rPr lang="en-US" sz="1100" b="1" dirty="0">
                <a:solidFill>
                  <a:srgbClr val="262B3A"/>
                </a:solidFill>
                <a:latin typeface="Calibri" pitchFamily="34" charset="0"/>
                <a:ea typeface="Calibri" pitchFamily="34" charset="-122"/>
                <a:cs typeface="Calibri" pitchFamily="34" charset="-120"/>
              </a:rPr>
              <a:t>disappears</a:t>
            </a:r>
            <a:r>
              <a:rPr lang="en-US" sz="1100" dirty="0">
                <a:solidFill>
                  <a:srgbClr val="262B3A"/>
                </a:solidFill>
                <a:latin typeface="Calibri" pitchFamily="34" charset="0"/>
                <a:ea typeface="Calibri" pitchFamily="34" charset="-122"/>
                <a:cs typeface="Calibri" pitchFamily="34" charset="-120"/>
              </a:rPr>
              <a:t> as it reacts.</a:t>
            </a:r>
            <a:endParaRPr lang="en-US" sz="1100" dirty="0"/>
          </a:p>
          <a:p>
            <a:pPr marL="152400" indent="-152400">
              <a:spcAft>
                <a:spcPts val="300"/>
              </a:spcAft>
              <a:buSzPct val="100000"/>
              <a:buChar char="▪"/>
            </a:pPr>
            <a:r>
              <a:rPr lang="en-US" sz="1100" b="1" dirty="0">
                <a:solidFill>
                  <a:srgbClr val="262B3A"/>
                </a:solidFill>
                <a:latin typeface="Calibri" pitchFamily="34" charset="0"/>
                <a:ea typeface="Calibri" pitchFamily="34" charset="-122"/>
                <a:cs typeface="Calibri" pitchFamily="34" charset="-120"/>
              </a:rPr>
              <a:t>Test for CO₂</a:t>
            </a:r>
            <a:r>
              <a:rPr lang="en-US" sz="1100" dirty="0">
                <a:solidFill>
                  <a:srgbClr val="262B3A"/>
                </a:solidFill>
                <a:latin typeface="Calibri" pitchFamily="34" charset="0"/>
                <a:ea typeface="Calibri" pitchFamily="34" charset="-122"/>
                <a:cs typeface="Calibri" pitchFamily="34" charset="-120"/>
              </a:rPr>
              <a:t>: bubble the gas through </a:t>
            </a:r>
            <a:r>
              <a:rPr lang="en-US" sz="1100" b="1" dirty="0">
                <a:solidFill>
                  <a:srgbClr val="262B3A"/>
                </a:solidFill>
                <a:latin typeface="Calibri" pitchFamily="34" charset="0"/>
                <a:ea typeface="Calibri" pitchFamily="34" charset="-122"/>
                <a:cs typeface="Calibri" pitchFamily="34" charset="-120"/>
              </a:rPr>
              <a:t>limewater</a:t>
            </a:r>
            <a:r>
              <a:rPr lang="en-US" sz="1100" dirty="0">
                <a:solidFill>
                  <a:srgbClr val="262B3A"/>
                </a:solidFill>
                <a:latin typeface="Calibri" pitchFamily="34" charset="0"/>
                <a:ea typeface="Calibri" pitchFamily="34" charset="-122"/>
                <a:cs typeface="Calibri" pitchFamily="34" charset="-120"/>
              </a:rPr>
              <a:t>; it turns </a:t>
            </a:r>
            <a:r>
              <a:rPr lang="en-US" sz="1100" b="1" dirty="0">
                <a:solidFill>
                  <a:srgbClr val="262B3A"/>
                </a:solidFill>
                <a:latin typeface="Calibri" pitchFamily="34" charset="0"/>
                <a:ea typeface="Calibri" pitchFamily="34" charset="-122"/>
                <a:cs typeface="Calibri" pitchFamily="34" charset="-120"/>
              </a:rPr>
              <a:t>milky</a:t>
            </a:r>
            <a:r>
              <a:rPr lang="en-US" sz="1100" dirty="0">
                <a:solidFill>
                  <a:srgbClr val="262B3A"/>
                </a:solidFill>
                <a:latin typeface="Calibri" pitchFamily="34" charset="0"/>
                <a:ea typeface="Calibri" pitchFamily="34" charset="-122"/>
                <a:cs typeface="Calibri" pitchFamily="34" charset="-120"/>
              </a:rPr>
              <a:t> (cloudy).</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Hydrogencarbonates react the same way, e.g. </a:t>
            </a:r>
            <a:r>
              <a:rPr lang="en-US" sz="1100" b="1" dirty="0">
                <a:solidFill>
                  <a:srgbClr val="262B3A"/>
                </a:solidFill>
                <a:latin typeface="Calibri" pitchFamily="34" charset="0"/>
                <a:ea typeface="Calibri" pitchFamily="34" charset="-122"/>
                <a:cs typeface="Calibri" pitchFamily="34" charset="-120"/>
              </a:rPr>
              <a:t>baking powder</a:t>
            </a:r>
            <a:r>
              <a:rPr lang="en-US" sz="1100" dirty="0">
                <a:solidFill>
                  <a:srgbClr val="262B3A"/>
                </a:solidFill>
                <a:latin typeface="Calibri" pitchFamily="34" charset="0"/>
                <a:ea typeface="Calibri" pitchFamily="34" charset="-122"/>
                <a:cs typeface="Calibri" pitchFamily="34" charset="-120"/>
              </a:rPr>
              <a:t> in cooking and </a:t>
            </a:r>
            <a:r>
              <a:rPr lang="en-US" sz="1100" b="1" dirty="0">
                <a:solidFill>
                  <a:srgbClr val="262B3A"/>
                </a:solidFill>
                <a:latin typeface="Calibri" pitchFamily="34" charset="0"/>
                <a:ea typeface="Calibri" pitchFamily="34" charset="-122"/>
                <a:cs typeface="Calibri" pitchFamily="34" charset="-120"/>
              </a:rPr>
              <a:t>antacid</a:t>
            </a:r>
            <a:r>
              <a:rPr lang="en-US" sz="1100" dirty="0">
                <a:solidFill>
                  <a:srgbClr val="262B3A"/>
                </a:solidFill>
                <a:latin typeface="Calibri" pitchFamily="34" charset="0"/>
                <a:ea typeface="Calibri" pitchFamily="34" charset="-122"/>
                <a:cs typeface="Calibri" pitchFamily="34" charset="-120"/>
              </a:rPr>
              <a:t> tablets.</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Carbonates react with acids </a:t>
            </a:r>
            <a:r>
              <a:rPr lang="en-US" sz="1100" b="1" dirty="0">
                <a:solidFill>
                  <a:srgbClr val="262B3A"/>
                </a:solidFill>
                <a:latin typeface="Calibri" pitchFamily="34" charset="0"/>
                <a:ea typeface="Calibri" pitchFamily="34" charset="-122"/>
                <a:cs typeface="Calibri" pitchFamily="34" charset="-120"/>
              </a:rPr>
              <a:t>whatever</a:t>
            </a:r>
            <a:r>
              <a:rPr lang="en-US" sz="1100" dirty="0">
                <a:solidFill>
                  <a:srgbClr val="262B3A"/>
                </a:solidFill>
                <a:latin typeface="Calibri" pitchFamily="34" charset="0"/>
                <a:ea typeface="Calibri" pitchFamily="34" charset="-122"/>
                <a:cs typeface="Calibri" pitchFamily="34" charset="-120"/>
              </a:rPr>
              <a:t> the metal, even copper carbonate.</a:t>
            </a:r>
            <a:endParaRPr lang="en-US" sz="1100" dirty="0"/>
          </a:p>
        </p:txBody>
      </p:sp>
      <p:sp>
        <p:nvSpPr>
          <p:cNvPr id="66" name="Shape 64"/>
          <p:cNvSpPr/>
          <p:nvPr/>
        </p:nvSpPr>
        <p:spPr>
          <a:xfrm>
            <a:off x="6217920" y="4526280"/>
            <a:ext cx="5562295" cy="1188720"/>
          </a:xfrm>
          <a:prstGeom prst="roundRect">
            <a:avLst>
              <a:gd name="adj" fmla="val 4615"/>
            </a:avLst>
          </a:prstGeom>
          <a:solidFill>
            <a:srgbClr val="FFF4E0"/>
          </a:solidFill>
          <a:ln w="9525">
            <a:solidFill>
              <a:srgbClr val="F1D9A8"/>
            </a:solidFill>
            <a:prstDash val="solid"/>
          </a:ln>
        </p:spPr>
      </p:sp>
      <p:sp>
        <p:nvSpPr>
          <p:cNvPr id="67" name="Text 65"/>
          <p:cNvSpPr/>
          <p:nvPr/>
        </p:nvSpPr>
        <p:spPr>
          <a:xfrm>
            <a:off x="6382512" y="459943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 sodium carbonate</a:t>
            </a:r>
            <a:endParaRPr lang="en-US" sz="1300" dirty="0"/>
          </a:p>
        </p:txBody>
      </p:sp>
      <p:sp>
        <p:nvSpPr>
          <p:cNvPr id="68" name="Text 66"/>
          <p:cNvSpPr/>
          <p:nvPr/>
        </p:nvSpPr>
        <p:spPr>
          <a:xfrm>
            <a:off x="6382512" y="4910328"/>
            <a:ext cx="5233111" cy="73152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Sodium carbonate solution reacts with hydrochloric acid.</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1 Formulae   </a:t>
            </a:r>
            <a:r>
              <a:rPr lang="en-US" sz="1050" dirty="0">
                <a:solidFill>
                  <a:srgbClr val="262B3A"/>
                </a:solidFill>
                <a:latin typeface="Calibri" pitchFamily="34" charset="0"/>
                <a:ea typeface="Calibri" pitchFamily="34" charset="-122"/>
                <a:cs typeface="Calibri" pitchFamily="34" charset="-120"/>
              </a:rPr>
              <a:t>Na₂CO₃ + HCl → NaCl + H₂O + CO₂</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2 Answer   </a:t>
            </a:r>
            <a:r>
              <a:rPr lang="en-US" sz="1050" b="1" dirty="0">
                <a:solidFill>
                  <a:srgbClr val="C8414C"/>
                </a:solidFill>
                <a:latin typeface="Calibri" pitchFamily="34" charset="0"/>
                <a:ea typeface="Calibri" pitchFamily="34" charset="-122"/>
                <a:cs typeface="Calibri" pitchFamily="34" charset="-120"/>
              </a:rPr>
              <a:t>Na₂CO₃(aq) + 2HCl(aq) → 2NaCl(aq) + H₂O(l) + CO₂(g)</a:t>
            </a:r>
            <a:endParaRPr lang="en-US" sz="1050" dirty="0"/>
          </a:p>
        </p:txBody>
      </p:sp>
      <p:sp>
        <p:nvSpPr>
          <p:cNvPr id="69" name="Shape 67"/>
          <p:cNvSpPr/>
          <p:nvPr/>
        </p:nvSpPr>
        <p:spPr>
          <a:xfrm>
            <a:off x="411480" y="5833872"/>
            <a:ext cx="11368735" cy="530352"/>
          </a:xfrm>
          <a:prstGeom prst="rect">
            <a:avLst/>
          </a:prstGeom>
          <a:solidFill>
            <a:srgbClr val="FFF4E0"/>
          </a:solidFill>
          <a:ln w="6350">
            <a:solidFill>
              <a:srgbClr val="F1D9A8"/>
            </a:solidFill>
            <a:prstDash val="solid"/>
          </a:ln>
        </p:spPr>
      </p:sp>
      <p:sp>
        <p:nvSpPr>
          <p:cNvPr id="70" name="Shape 68"/>
          <p:cNvSpPr/>
          <p:nvPr/>
        </p:nvSpPr>
        <p:spPr>
          <a:xfrm>
            <a:off x="411480" y="5833872"/>
            <a:ext cx="82296" cy="530352"/>
          </a:xfrm>
          <a:prstGeom prst="rect">
            <a:avLst/>
          </a:prstGeom>
          <a:solidFill>
            <a:srgbClr val="E39A2F"/>
          </a:solidFill>
          <a:ln w="12700">
            <a:solidFill>
              <a:srgbClr val="E39A2F"/>
            </a:solidFill>
            <a:prstDash val="solid"/>
          </a:ln>
        </p:spPr>
      </p:sp>
      <p:sp>
        <p:nvSpPr>
          <p:cNvPr id="71" name="Text 69"/>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Name the </a:t>
            </a:r>
            <a:r>
              <a:rPr lang="en-US" sz="1150" b="1" dirty="0">
                <a:solidFill>
                  <a:srgbClr val="262B3A"/>
                </a:solidFill>
                <a:latin typeface="Calibri" pitchFamily="34" charset="0"/>
                <a:ea typeface="Calibri" pitchFamily="34" charset="-122"/>
                <a:cs typeface="Calibri" pitchFamily="34" charset="-120"/>
              </a:rPr>
              <a:t>three</a:t>
            </a:r>
            <a:r>
              <a:rPr lang="en-US" sz="1150" dirty="0">
                <a:solidFill>
                  <a:srgbClr val="262B3A"/>
                </a:solidFill>
                <a:latin typeface="Calibri" pitchFamily="34" charset="0"/>
                <a:ea typeface="Calibri" pitchFamily="34" charset="-122"/>
                <a:cs typeface="Calibri" pitchFamily="34" charset="-120"/>
              </a:rPr>
              <a:t> products when copper(II) carbonate reacts with </a:t>
            </a:r>
            <a:r>
              <a:rPr lang="en-US" sz="1150" b="1" dirty="0">
                <a:solidFill>
                  <a:srgbClr val="262B3A"/>
                </a:solidFill>
                <a:latin typeface="Calibri" pitchFamily="34" charset="0"/>
                <a:ea typeface="Calibri" pitchFamily="34" charset="-122"/>
                <a:cs typeface="Calibri" pitchFamily="34" charset="-120"/>
              </a:rPr>
              <a:t>nitric acid</a:t>
            </a:r>
            <a:r>
              <a:rPr lang="en-US" sz="1150" dirty="0">
                <a:solidFill>
                  <a:srgbClr val="262B3A"/>
                </a:solidFill>
                <a:latin typeface="Calibri" pitchFamily="34" charset="0"/>
                <a:ea typeface="Calibri" pitchFamily="34" charset="-122"/>
                <a:cs typeface="Calibri" pitchFamily="34" charset="-120"/>
              </a:rPr>
              <a:t>. Why does a carbonate </a:t>
            </a:r>
            <a:r>
              <a:rPr lang="en-US" sz="1150" b="1" dirty="0">
                <a:solidFill>
                  <a:srgbClr val="262B3A"/>
                </a:solidFill>
                <a:latin typeface="Calibri" pitchFamily="34" charset="0"/>
                <a:ea typeface="Calibri" pitchFamily="34" charset="-122"/>
                <a:cs typeface="Calibri" pitchFamily="34" charset="-120"/>
              </a:rPr>
              <a:t>fizz</a:t>
            </a:r>
            <a:r>
              <a:rPr lang="en-US" sz="1150" dirty="0">
                <a:solidFill>
                  <a:srgbClr val="262B3A"/>
                </a:solidFill>
                <a:latin typeface="Calibri" pitchFamily="34" charset="0"/>
                <a:ea typeface="Calibri" pitchFamily="34" charset="-122"/>
                <a:cs typeface="Calibri" pitchFamily="34" charset="-120"/>
              </a:rPr>
              <a:t> but a metal oxide does not?</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Exam practice: recap 2</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Specification C6.1.1, C6.1.2 • neutralisation • metals • carbonates</a:t>
            </a:r>
            <a:endParaRPr lang="en-US" sz="1100" dirty="0"/>
          </a:p>
        </p:txBody>
      </p:sp>
      <p:sp>
        <p:nvSpPr>
          <p:cNvPr id="6" name="Text 4"/>
          <p:cNvSpPr/>
          <p:nvPr/>
        </p:nvSpPr>
        <p:spPr>
          <a:xfrm>
            <a:off x="411480" y="6473952"/>
            <a:ext cx="1014984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C6.1 What useful products can be made from acids?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Recap 2  |  11</a:t>
            </a:r>
            <a:endParaRPr lang="en-US" sz="1000" dirty="0"/>
          </a:p>
        </p:txBody>
      </p:sp>
      <p:sp>
        <p:nvSpPr>
          <p:cNvPr id="8" name="Shape 6"/>
          <p:cNvSpPr/>
          <p:nvPr/>
        </p:nvSpPr>
        <p:spPr>
          <a:xfrm>
            <a:off x="411480" y="1207008"/>
            <a:ext cx="11368735" cy="1159002"/>
          </a:xfrm>
          <a:prstGeom prst="roundRect">
            <a:avLst>
              <a:gd name="adj" fmla="val 3945"/>
            </a:avLst>
          </a:prstGeom>
          <a:solidFill>
            <a:srgbClr val="FFFFFF"/>
          </a:solidFill>
          <a:ln w="12700">
            <a:solidFill>
              <a:srgbClr val="DDD3EC"/>
            </a:solidFill>
            <a:prstDash val="solid"/>
          </a:ln>
        </p:spPr>
      </p:sp>
      <p:sp>
        <p:nvSpPr>
          <p:cNvPr id="9" name="Shape 7"/>
          <p:cNvSpPr/>
          <p:nvPr/>
        </p:nvSpPr>
        <p:spPr>
          <a:xfrm>
            <a:off x="411480" y="1207008"/>
            <a:ext cx="2103120" cy="292608"/>
          </a:xfrm>
          <a:prstGeom prst="rect">
            <a:avLst/>
          </a:prstGeom>
          <a:solidFill>
            <a:srgbClr val="F5A742"/>
          </a:solidFill>
          <a:ln w="12700">
            <a:solidFill>
              <a:srgbClr val="F5A742"/>
            </a:solidFill>
            <a:prstDash val="solid"/>
          </a:ln>
        </p:spPr>
      </p:sp>
      <p:sp>
        <p:nvSpPr>
          <p:cNvPr id="10" name="Text 8"/>
          <p:cNvSpPr/>
          <p:nvPr/>
        </p:nvSpPr>
        <p:spPr>
          <a:xfrm>
            <a:off x="411480" y="1207008"/>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1" name="Text 9"/>
          <p:cNvSpPr/>
          <p:nvPr/>
        </p:nvSpPr>
        <p:spPr>
          <a:xfrm>
            <a:off x="640080" y="1572768"/>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Complete the word equation: </a:t>
            </a:r>
            <a:r>
              <a:rPr lang="en-US" sz="1250" b="1" dirty="0">
                <a:solidFill>
                  <a:srgbClr val="262B3A"/>
                </a:solidFill>
                <a:latin typeface="Calibri" pitchFamily="34" charset="0"/>
                <a:ea typeface="Calibri" pitchFamily="34" charset="-122"/>
                <a:cs typeface="Calibri" pitchFamily="34" charset="-120"/>
              </a:rPr>
              <a:t>sulfuric acid + sodium hydroxide →</a:t>
            </a:r>
            <a:r>
              <a:rPr lang="en-US" sz="1250" dirty="0">
                <a:solidFill>
                  <a:srgbClr val="262B3A"/>
                </a:solidFill>
                <a:latin typeface="Calibri" pitchFamily="34" charset="0"/>
                <a:ea typeface="Calibri" pitchFamily="34" charset="-122"/>
                <a:cs typeface="Calibri" pitchFamily="34" charset="-120"/>
              </a:rPr>
              <a:t> ……… + ………</a:t>
            </a:r>
            <a:endParaRPr lang="en-US" sz="1250" dirty="0"/>
          </a:p>
        </p:txBody>
      </p:sp>
      <p:sp>
        <p:nvSpPr>
          <p:cNvPr id="12" name="Text 10"/>
          <p:cNvSpPr/>
          <p:nvPr/>
        </p:nvSpPr>
        <p:spPr>
          <a:xfrm>
            <a:off x="10317175" y="1981962"/>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3" name="Shape 11"/>
          <p:cNvSpPr/>
          <p:nvPr/>
        </p:nvSpPr>
        <p:spPr>
          <a:xfrm>
            <a:off x="411480" y="2512314"/>
            <a:ext cx="11368735" cy="1159002"/>
          </a:xfrm>
          <a:prstGeom prst="roundRect">
            <a:avLst>
              <a:gd name="adj" fmla="val 3945"/>
            </a:avLst>
          </a:prstGeom>
          <a:solidFill>
            <a:srgbClr val="FFFFFF"/>
          </a:solidFill>
          <a:ln w="12700">
            <a:solidFill>
              <a:srgbClr val="DDD3EC"/>
            </a:solidFill>
            <a:prstDash val="solid"/>
          </a:ln>
        </p:spPr>
      </p:sp>
      <p:sp>
        <p:nvSpPr>
          <p:cNvPr id="14" name="Shape 12"/>
          <p:cNvSpPr/>
          <p:nvPr/>
        </p:nvSpPr>
        <p:spPr>
          <a:xfrm>
            <a:off x="411480" y="2512314"/>
            <a:ext cx="2103120" cy="292608"/>
          </a:xfrm>
          <a:prstGeom prst="rect">
            <a:avLst/>
          </a:prstGeom>
          <a:solidFill>
            <a:srgbClr val="F5A742"/>
          </a:solidFill>
          <a:ln w="12700">
            <a:solidFill>
              <a:srgbClr val="F5A742"/>
            </a:solidFill>
            <a:prstDash val="solid"/>
          </a:ln>
        </p:spPr>
      </p:sp>
      <p:sp>
        <p:nvSpPr>
          <p:cNvPr id="15" name="Text 13"/>
          <p:cNvSpPr/>
          <p:nvPr/>
        </p:nvSpPr>
        <p:spPr>
          <a:xfrm>
            <a:off x="411480" y="2512314"/>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6" name="Text 14"/>
          <p:cNvSpPr/>
          <p:nvPr/>
        </p:nvSpPr>
        <p:spPr>
          <a:xfrm>
            <a:off x="640080" y="2878074"/>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Write the </a:t>
            </a:r>
            <a:r>
              <a:rPr lang="en-US" sz="1250" b="1" dirty="0">
                <a:solidFill>
                  <a:srgbClr val="262B3A"/>
                </a:solidFill>
                <a:latin typeface="Calibri" pitchFamily="34" charset="0"/>
                <a:ea typeface="Calibri" pitchFamily="34" charset="-122"/>
                <a:cs typeface="Calibri" pitchFamily="34" charset="-120"/>
              </a:rPr>
              <a:t>ionic equation</a:t>
            </a:r>
            <a:r>
              <a:rPr lang="en-US" sz="1250" dirty="0">
                <a:solidFill>
                  <a:srgbClr val="262B3A"/>
                </a:solidFill>
                <a:latin typeface="Calibri" pitchFamily="34" charset="0"/>
                <a:ea typeface="Calibri" pitchFamily="34" charset="-122"/>
                <a:cs typeface="Calibri" pitchFamily="34" charset="-120"/>
              </a:rPr>
              <a:t>, with state symbols, for every neutralisation of an acid by an alkali in solution.</a:t>
            </a:r>
            <a:endParaRPr lang="en-US" sz="1250" dirty="0"/>
          </a:p>
        </p:txBody>
      </p:sp>
      <p:sp>
        <p:nvSpPr>
          <p:cNvPr id="17" name="Text 15"/>
          <p:cNvSpPr/>
          <p:nvPr/>
        </p:nvSpPr>
        <p:spPr>
          <a:xfrm>
            <a:off x="10317175" y="3287268"/>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8" name="Shape 16"/>
          <p:cNvSpPr/>
          <p:nvPr/>
        </p:nvSpPr>
        <p:spPr>
          <a:xfrm>
            <a:off x="411480" y="3817620"/>
            <a:ext cx="11368735" cy="1159002"/>
          </a:xfrm>
          <a:prstGeom prst="roundRect">
            <a:avLst>
              <a:gd name="adj" fmla="val 3945"/>
            </a:avLst>
          </a:prstGeom>
          <a:solidFill>
            <a:srgbClr val="FFFFFF"/>
          </a:solidFill>
          <a:ln w="12700">
            <a:solidFill>
              <a:srgbClr val="DDD3EC"/>
            </a:solidFill>
            <a:prstDash val="solid"/>
          </a:ln>
        </p:spPr>
      </p:sp>
      <p:sp>
        <p:nvSpPr>
          <p:cNvPr id="19" name="Shape 17"/>
          <p:cNvSpPr/>
          <p:nvPr/>
        </p:nvSpPr>
        <p:spPr>
          <a:xfrm>
            <a:off x="411480" y="3817620"/>
            <a:ext cx="2103120" cy="292608"/>
          </a:xfrm>
          <a:prstGeom prst="rect">
            <a:avLst/>
          </a:prstGeom>
          <a:solidFill>
            <a:srgbClr val="F5A742"/>
          </a:solidFill>
          <a:ln w="12700">
            <a:solidFill>
              <a:srgbClr val="F5A742"/>
            </a:solidFill>
            <a:prstDash val="solid"/>
          </a:ln>
        </p:spPr>
      </p:sp>
      <p:sp>
        <p:nvSpPr>
          <p:cNvPr id="20" name="Text 18"/>
          <p:cNvSpPr/>
          <p:nvPr/>
        </p:nvSpPr>
        <p:spPr>
          <a:xfrm>
            <a:off x="411480" y="3817620"/>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1" name="Text 19"/>
          <p:cNvSpPr/>
          <p:nvPr/>
        </p:nvSpPr>
        <p:spPr>
          <a:xfrm>
            <a:off x="640080" y="4183380"/>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Describe the test for </a:t>
            </a:r>
            <a:r>
              <a:rPr lang="en-US" sz="1250" b="1" dirty="0">
                <a:solidFill>
                  <a:srgbClr val="262B3A"/>
                </a:solidFill>
                <a:latin typeface="Calibri" pitchFamily="34" charset="0"/>
                <a:ea typeface="Calibri" pitchFamily="34" charset="-122"/>
                <a:cs typeface="Calibri" pitchFamily="34" charset="-120"/>
              </a:rPr>
              <a:t>hydrogen</a:t>
            </a:r>
            <a:r>
              <a:rPr lang="en-US" sz="1250" dirty="0">
                <a:solidFill>
                  <a:srgbClr val="262B3A"/>
                </a:solidFill>
                <a:latin typeface="Calibri" pitchFamily="34" charset="0"/>
                <a:ea typeface="Calibri" pitchFamily="34" charset="-122"/>
                <a:cs typeface="Calibri" pitchFamily="34" charset="-120"/>
              </a:rPr>
              <a:t> and its result.</a:t>
            </a:r>
            <a:endParaRPr lang="en-US" sz="1250" dirty="0"/>
          </a:p>
        </p:txBody>
      </p:sp>
      <p:sp>
        <p:nvSpPr>
          <p:cNvPr id="22" name="Text 20"/>
          <p:cNvSpPr/>
          <p:nvPr/>
        </p:nvSpPr>
        <p:spPr>
          <a:xfrm>
            <a:off x="10317175" y="4592574"/>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3" name="Shape 21"/>
          <p:cNvSpPr/>
          <p:nvPr/>
        </p:nvSpPr>
        <p:spPr>
          <a:xfrm>
            <a:off x="411480" y="5122926"/>
            <a:ext cx="11368735" cy="1159002"/>
          </a:xfrm>
          <a:prstGeom prst="roundRect">
            <a:avLst>
              <a:gd name="adj" fmla="val 3945"/>
            </a:avLst>
          </a:prstGeom>
          <a:solidFill>
            <a:srgbClr val="FFFFFF"/>
          </a:solidFill>
          <a:ln w="12700">
            <a:solidFill>
              <a:srgbClr val="DDD3EC"/>
            </a:solidFill>
            <a:prstDash val="solid"/>
          </a:ln>
        </p:spPr>
      </p:sp>
      <p:sp>
        <p:nvSpPr>
          <p:cNvPr id="24" name="Shape 22"/>
          <p:cNvSpPr/>
          <p:nvPr/>
        </p:nvSpPr>
        <p:spPr>
          <a:xfrm>
            <a:off x="411480" y="5122926"/>
            <a:ext cx="2103120" cy="292608"/>
          </a:xfrm>
          <a:prstGeom prst="rect">
            <a:avLst/>
          </a:prstGeom>
          <a:solidFill>
            <a:srgbClr val="F5A742"/>
          </a:solidFill>
          <a:ln w="12700">
            <a:solidFill>
              <a:srgbClr val="F5A742"/>
            </a:solidFill>
            <a:prstDash val="solid"/>
          </a:ln>
        </p:spPr>
      </p:sp>
      <p:sp>
        <p:nvSpPr>
          <p:cNvPr id="25" name="Text 23"/>
          <p:cNvSpPr/>
          <p:nvPr/>
        </p:nvSpPr>
        <p:spPr>
          <a:xfrm>
            <a:off x="411480" y="5122926"/>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6" name="Shape 24"/>
          <p:cNvSpPr/>
          <p:nvPr/>
        </p:nvSpPr>
        <p:spPr>
          <a:xfrm>
            <a:off x="2606040" y="5132070"/>
            <a:ext cx="411480" cy="274320"/>
          </a:xfrm>
          <a:prstGeom prst="roundRect">
            <a:avLst>
              <a:gd name="adj" fmla="val 50000"/>
            </a:avLst>
          </a:prstGeom>
          <a:solidFill>
            <a:srgbClr val="C8414C"/>
          </a:solidFill>
          <a:ln w="12700">
            <a:solidFill>
              <a:srgbClr val="C8414C"/>
            </a:solidFill>
            <a:prstDash val="solid"/>
          </a:ln>
        </p:spPr>
      </p:sp>
      <p:sp>
        <p:nvSpPr>
          <p:cNvPr id="27" name="Text 25"/>
          <p:cNvSpPr/>
          <p:nvPr/>
        </p:nvSpPr>
        <p:spPr>
          <a:xfrm>
            <a:off x="2606040" y="5132070"/>
            <a:ext cx="4114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28" name="Text 26"/>
          <p:cNvSpPr/>
          <p:nvPr/>
        </p:nvSpPr>
        <p:spPr>
          <a:xfrm>
            <a:off x="640080" y="5488686"/>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Mg + 2H⁺ → Mg²⁺ + H₂. Which species is </a:t>
            </a:r>
            <a:r>
              <a:rPr lang="en-US" sz="1250" b="1" dirty="0">
                <a:solidFill>
                  <a:srgbClr val="262B3A"/>
                </a:solidFill>
                <a:latin typeface="Calibri" pitchFamily="34" charset="0"/>
                <a:ea typeface="Calibri" pitchFamily="34" charset="-122"/>
                <a:cs typeface="Calibri" pitchFamily="34" charset="-120"/>
              </a:rPr>
              <a:t>oxidised</a:t>
            </a:r>
            <a:r>
              <a:rPr lang="en-US" sz="1250" dirty="0">
                <a:solidFill>
                  <a:srgbClr val="262B3A"/>
                </a:solidFill>
                <a:latin typeface="Calibri" pitchFamily="34" charset="0"/>
                <a:ea typeface="Calibri" pitchFamily="34" charset="-122"/>
                <a:cs typeface="Calibri" pitchFamily="34" charset="-120"/>
              </a:rPr>
              <a:t>? Explain in terms of </a:t>
            </a:r>
            <a:r>
              <a:rPr lang="en-US" sz="1250" b="1" dirty="0">
                <a:solidFill>
                  <a:srgbClr val="262B3A"/>
                </a:solidFill>
                <a:latin typeface="Calibri" pitchFamily="34" charset="0"/>
                <a:ea typeface="Calibri" pitchFamily="34" charset="-122"/>
                <a:cs typeface="Calibri" pitchFamily="34" charset="-120"/>
              </a:rPr>
              <a:t>electrons</a:t>
            </a:r>
            <a:r>
              <a:rPr lang="en-US" sz="1250" dirty="0">
                <a:solidFill>
                  <a:srgbClr val="262B3A"/>
                </a:solidFill>
                <a:latin typeface="Calibri" pitchFamily="34" charset="0"/>
                <a:ea typeface="Calibri" pitchFamily="34" charset="-122"/>
                <a:cs typeface="Calibri" pitchFamily="34" charset="-120"/>
              </a:rPr>
              <a:t>.</a:t>
            </a:r>
            <a:endParaRPr lang="en-US" sz="1250" dirty="0"/>
          </a:p>
        </p:txBody>
      </p:sp>
      <p:sp>
        <p:nvSpPr>
          <p:cNvPr id="29" name="Text 27"/>
          <p:cNvSpPr/>
          <p:nvPr/>
        </p:nvSpPr>
        <p:spPr>
          <a:xfrm>
            <a:off x="10317175" y="5897880"/>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Predicting salts and their formulae</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Specification C6.1.1, C6.1.2 • predict products from given reactants; formulae from ion charges</a:t>
            </a:r>
            <a:endParaRPr lang="en-US" sz="1100" dirty="0"/>
          </a:p>
        </p:txBody>
      </p:sp>
      <p:sp>
        <p:nvSpPr>
          <p:cNvPr id="6" name="Text 4"/>
          <p:cNvSpPr/>
          <p:nvPr/>
        </p:nvSpPr>
        <p:spPr>
          <a:xfrm>
            <a:off x="411480" y="6473952"/>
            <a:ext cx="1014984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C6.1 What useful products can be made from acids?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C6.1.2  |  12</a:t>
            </a:r>
            <a:endParaRPr lang="en-US" sz="1000" dirty="0"/>
          </a:p>
        </p:txBody>
      </p:sp>
      <p:sp>
        <p:nvSpPr>
          <p:cNvPr id="8" name="Shape 6"/>
          <p:cNvSpPr/>
          <p:nvPr/>
        </p:nvSpPr>
        <p:spPr>
          <a:xfrm>
            <a:off x="411480" y="1188720"/>
            <a:ext cx="5577840" cy="4526280"/>
          </a:xfrm>
          <a:prstGeom prst="roundRect">
            <a:avLst>
              <a:gd name="adj" fmla="val 1616"/>
            </a:avLst>
          </a:prstGeom>
          <a:solidFill>
            <a:srgbClr val="F4F0FA"/>
          </a:solidFill>
          <a:ln w="9525">
            <a:solidFill>
              <a:srgbClr val="DED4EE"/>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every formula below is worked out from the ion charges</a:t>
            </a:r>
            <a:endParaRPr lang="en-US" sz="10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640080" y="1371600"/>
          <a:ext cx="5120640" cy="914400"/>
        </p:xfrm>
        <a:graphic>
          <a:graphicData uri="http://schemas.openxmlformats.org/drawingml/2006/table">
            <a:tbl>
              <a:tblPr/>
              <a:tblGrid>
                <a:gridCol w="1005840"/>
                <a:gridCol w="1280160"/>
                <a:gridCol w="1371600"/>
                <a:gridCol w="1463040"/>
              </a:tblGrid>
              <a:tr h="274320">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Ions</a:t>
                      </a:r>
                      <a:endParaRPr lang="en-US" sz="11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2A1F3D"/>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Cl⁻ (chloride)</a:t>
                      </a:r>
                      <a:endParaRPr lang="en-US" sz="11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2A1F3D"/>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NO₃⁻ (nitrate)</a:t>
                      </a:r>
                      <a:endParaRPr lang="en-US" sz="11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2A1F3D"/>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SO₄²⁻ (sulfate)</a:t>
                      </a:r>
                      <a:endParaRPr lang="en-US" sz="11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2A1F3D"/>
                    </a:solidFill>
                  </a:tcPr>
                </a:tc>
              </a:tr>
              <a:tr h="274320">
                <a:tc>
                  <a:txBody>
                    <a:bodyPr/>
                    <a:lstStyle/>
                    <a:p>
                      <a:pPr algn="ctr" indent="0" marL="0">
                        <a:buNone/>
                      </a:pPr>
                      <a:r>
                        <a:rPr lang="en-US" sz="1100" b="1" dirty="0">
                          <a:solidFill>
                            <a:srgbClr val="262B3A"/>
                          </a:solidFill>
                          <a:latin typeface="Calibri" pitchFamily="34" charset="0"/>
                          <a:ea typeface="Calibri" pitchFamily="34" charset="-122"/>
                          <a:cs typeface="Calibri" pitchFamily="34" charset="-120"/>
                        </a:rPr>
                        <a:t>Na⁺</a:t>
                      </a:r>
                      <a:endParaRPr lang="en-US" sz="11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100" dirty="0">
                          <a:solidFill>
                            <a:srgbClr val="262B3A"/>
                          </a:solidFill>
                          <a:latin typeface="Calibri" pitchFamily="34" charset="0"/>
                          <a:ea typeface="Calibri" pitchFamily="34" charset="-122"/>
                          <a:cs typeface="Calibri" pitchFamily="34" charset="-120"/>
                        </a:rPr>
                        <a:t>NaCl</a:t>
                      </a:r>
                      <a:endParaRPr lang="en-US" sz="11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100" dirty="0">
                          <a:solidFill>
                            <a:srgbClr val="262B3A"/>
                          </a:solidFill>
                          <a:latin typeface="Calibri" pitchFamily="34" charset="0"/>
                          <a:ea typeface="Calibri" pitchFamily="34" charset="-122"/>
                          <a:cs typeface="Calibri" pitchFamily="34" charset="-120"/>
                        </a:rPr>
                        <a:t>NaNO₃</a:t>
                      </a:r>
                      <a:endParaRPr lang="en-US" sz="11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100" dirty="0">
                          <a:solidFill>
                            <a:srgbClr val="262B3A"/>
                          </a:solidFill>
                          <a:latin typeface="Calibri" pitchFamily="34" charset="0"/>
                          <a:ea typeface="Calibri" pitchFamily="34" charset="-122"/>
                          <a:cs typeface="Calibri" pitchFamily="34" charset="-120"/>
                        </a:rPr>
                        <a:t>Na₂SO₄</a:t>
                      </a:r>
                      <a:endParaRPr lang="en-US" sz="11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8F5FC"/>
                    </a:solidFill>
                  </a:tcPr>
                </a:tc>
              </a:tr>
              <a:tr h="274320">
                <a:tc>
                  <a:txBody>
                    <a:bodyPr/>
                    <a:lstStyle/>
                    <a:p>
                      <a:pPr algn="ctr" indent="0" marL="0">
                        <a:buNone/>
                      </a:pPr>
                      <a:r>
                        <a:rPr lang="en-US" sz="1100" b="1" dirty="0">
                          <a:solidFill>
                            <a:srgbClr val="262B3A"/>
                          </a:solidFill>
                          <a:latin typeface="Calibri" pitchFamily="34" charset="0"/>
                          <a:ea typeface="Calibri" pitchFamily="34" charset="-122"/>
                          <a:cs typeface="Calibri" pitchFamily="34" charset="-120"/>
                        </a:rPr>
                        <a:t>NH₄⁺</a:t>
                      </a:r>
                      <a:endParaRPr lang="en-US" sz="11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62B3A"/>
                          </a:solidFill>
                          <a:latin typeface="Calibri" pitchFamily="34" charset="0"/>
                          <a:ea typeface="Calibri" pitchFamily="34" charset="-122"/>
                          <a:cs typeface="Calibri" pitchFamily="34" charset="-120"/>
                        </a:rPr>
                        <a:t>NH₄Cl</a:t>
                      </a:r>
                      <a:endParaRPr lang="en-US" sz="11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62B3A"/>
                          </a:solidFill>
                          <a:latin typeface="Calibri" pitchFamily="34" charset="0"/>
                          <a:ea typeface="Calibri" pitchFamily="34" charset="-122"/>
                          <a:cs typeface="Calibri" pitchFamily="34" charset="-120"/>
                        </a:rPr>
                        <a:t>NH₄NO₃</a:t>
                      </a:r>
                      <a:endParaRPr lang="en-US" sz="11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62B3A"/>
                          </a:solidFill>
                          <a:latin typeface="Calibri" pitchFamily="34" charset="0"/>
                          <a:ea typeface="Calibri" pitchFamily="34" charset="-122"/>
                          <a:cs typeface="Calibri" pitchFamily="34" charset="-120"/>
                        </a:rPr>
                        <a:t>(NH₄)₂SO₄</a:t>
                      </a:r>
                      <a:endParaRPr lang="en-US" sz="11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FFFFF"/>
                    </a:solidFill>
                  </a:tcPr>
                </a:tc>
              </a:tr>
              <a:tr h="274320">
                <a:tc>
                  <a:txBody>
                    <a:bodyPr/>
                    <a:lstStyle/>
                    <a:p>
                      <a:pPr algn="ctr" indent="0" marL="0">
                        <a:buNone/>
                      </a:pPr>
                      <a:r>
                        <a:rPr lang="en-US" sz="1100" b="1" dirty="0">
                          <a:solidFill>
                            <a:srgbClr val="262B3A"/>
                          </a:solidFill>
                          <a:latin typeface="Calibri" pitchFamily="34" charset="0"/>
                          <a:ea typeface="Calibri" pitchFamily="34" charset="-122"/>
                          <a:cs typeface="Calibri" pitchFamily="34" charset="-120"/>
                        </a:rPr>
                        <a:t>Mg²⁺</a:t>
                      </a:r>
                      <a:endParaRPr lang="en-US" sz="11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100" dirty="0">
                          <a:solidFill>
                            <a:srgbClr val="262B3A"/>
                          </a:solidFill>
                          <a:latin typeface="Calibri" pitchFamily="34" charset="0"/>
                          <a:ea typeface="Calibri" pitchFamily="34" charset="-122"/>
                          <a:cs typeface="Calibri" pitchFamily="34" charset="-120"/>
                        </a:rPr>
                        <a:t>MgCl₂</a:t>
                      </a:r>
                      <a:endParaRPr lang="en-US" sz="11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100" dirty="0">
                          <a:solidFill>
                            <a:srgbClr val="262B3A"/>
                          </a:solidFill>
                          <a:latin typeface="Calibri" pitchFamily="34" charset="0"/>
                          <a:ea typeface="Calibri" pitchFamily="34" charset="-122"/>
                          <a:cs typeface="Calibri" pitchFamily="34" charset="-120"/>
                        </a:rPr>
                        <a:t>Mg(NO₃)₂</a:t>
                      </a:r>
                      <a:endParaRPr lang="en-US" sz="11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100" dirty="0">
                          <a:solidFill>
                            <a:srgbClr val="262B3A"/>
                          </a:solidFill>
                          <a:latin typeface="Calibri" pitchFamily="34" charset="0"/>
                          <a:ea typeface="Calibri" pitchFamily="34" charset="-122"/>
                          <a:cs typeface="Calibri" pitchFamily="34" charset="-120"/>
                        </a:rPr>
                        <a:t>MgSO₄</a:t>
                      </a:r>
                      <a:endParaRPr lang="en-US" sz="11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8F5FC"/>
                    </a:solidFill>
                  </a:tcPr>
                </a:tc>
              </a:tr>
              <a:tr h="274320">
                <a:tc>
                  <a:txBody>
                    <a:bodyPr/>
                    <a:lstStyle/>
                    <a:p>
                      <a:pPr algn="ctr" indent="0" marL="0">
                        <a:buNone/>
                      </a:pPr>
                      <a:r>
                        <a:rPr lang="en-US" sz="1100" b="1" dirty="0">
                          <a:solidFill>
                            <a:srgbClr val="262B3A"/>
                          </a:solidFill>
                          <a:latin typeface="Calibri" pitchFamily="34" charset="0"/>
                          <a:ea typeface="Calibri" pitchFamily="34" charset="-122"/>
                          <a:cs typeface="Calibri" pitchFamily="34" charset="-120"/>
                        </a:rPr>
                        <a:t>Zn²⁺</a:t>
                      </a:r>
                      <a:endParaRPr lang="en-US" sz="11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62B3A"/>
                          </a:solidFill>
                          <a:latin typeface="Calibri" pitchFamily="34" charset="0"/>
                          <a:ea typeface="Calibri" pitchFamily="34" charset="-122"/>
                          <a:cs typeface="Calibri" pitchFamily="34" charset="-120"/>
                        </a:rPr>
                        <a:t>ZnCl₂</a:t>
                      </a:r>
                      <a:endParaRPr lang="en-US" sz="11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62B3A"/>
                          </a:solidFill>
                          <a:latin typeface="Calibri" pitchFamily="34" charset="0"/>
                          <a:ea typeface="Calibri" pitchFamily="34" charset="-122"/>
                          <a:cs typeface="Calibri" pitchFamily="34" charset="-120"/>
                        </a:rPr>
                        <a:t>Zn(NO₃)₂</a:t>
                      </a:r>
                      <a:endParaRPr lang="en-US" sz="11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FFFFF"/>
                    </a:solidFill>
                  </a:tcPr>
                </a:tc>
                <a:tc>
                  <a:txBody>
                    <a:bodyPr/>
                    <a:lstStyle/>
                    <a:p>
                      <a:pPr algn="ctr" indent="0" marL="0">
                        <a:buNone/>
                      </a:pPr>
                      <a:r>
                        <a:rPr lang="en-US" sz="1100" dirty="0">
                          <a:solidFill>
                            <a:srgbClr val="262B3A"/>
                          </a:solidFill>
                          <a:latin typeface="Calibri" pitchFamily="34" charset="0"/>
                          <a:ea typeface="Calibri" pitchFamily="34" charset="-122"/>
                          <a:cs typeface="Calibri" pitchFamily="34" charset="-120"/>
                        </a:rPr>
                        <a:t>ZnSO₄</a:t>
                      </a:r>
                      <a:endParaRPr lang="en-US" sz="11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FFFFF"/>
                    </a:solidFill>
                  </a:tcPr>
                </a:tc>
              </a:tr>
              <a:tr h="274320">
                <a:tc>
                  <a:txBody>
                    <a:bodyPr/>
                    <a:lstStyle/>
                    <a:p>
                      <a:pPr algn="ctr" indent="0" marL="0">
                        <a:buNone/>
                      </a:pPr>
                      <a:r>
                        <a:rPr lang="en-US" sz="1100" b="1" dirty="0">
                          <a:solidFill>
                            <a:srgbClr val="262B3A"/>
                          </a:solidFill>
                          <a:latin typeface="Calibri" pitchFamily="34" charset="0"/>
                          <a:ea typeface="Calibri" pitchFamily="34" charset="-122"/>
                          <a:cs typeface="Calibri" pitchFamily="34" charset="-120"/>
                        </a:rPr>
                        <a:t>Al³⁺</a:t>
                      </a:r>
                      <a:endParaRPr lang="en-US" sz="11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100" dirty="0">
                          <a:solidFill>
                            <a:srgbClr val="262B3A"/>
                          </a:solidFill>
                          <a:latin typeface="Calibri" pitchFamily="34" charset="0"/>
                          <a:ea typeface="Calibri" pitchFamily="34" charset="-122"/>
                          <a:cs typeface="Calibri" pitchFamily="34" charset="-120"/>
                        </a:rPr>
                        <a:t>AlCl₃</a:t>
                      </a:r>
                      <a:endParaRPr lang="en-US" sz="11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100" dirty="0">
                          <a:solidFill>
                            <a:srgbClr val="262B3A"/>
                          </a:solidFill>
                          <a:latin typeface="Calibri" pitchFamily="34" charset="0"/>
                          <a:ea typeface="Calibri" pitchFamily="34" charset="-122"/>
                          <a:cs typeface="Calibri" pitchFamily="34" charset="-120"/>
                        </a:rPr>
                        <a:t>Al(NO₃)₃</a:t>
                      </a:r>
                      <a:endParaRPr lang="en-US" sz="11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100" dirty="0">
                          <a:solidFill>
                            <a:srgbClr val="262B3A"/>
                          </a:solidFill>
                          <a:latin typeface="Calibri" pitchFamily="34" charset="0"/>
                          <a:ea typeface="Calibri" pitchFamily="34" charset="-122"/>
                          <a:cs typeface="Calibri" pitchFamily="34" charset="-120"/>
                        </a:rPr>
                        <a:t>Al₂(SO₄)₃</a:t>
                      </a:r>
                      <a:endParaRPr lang="en-US" sz="11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8F5FC"/>
                    </a:solidFill>
                  </a:tcPr>
                </a:tc>
              </a:tr>
            </a:tbl>
          </a:graphicData>
        </a:graphic>
      </p:graphicFrame>
      <p:sp>
        <p:nvSpPr>
          <p:cNvPr id="11" name="Text 8"/>
          <p:cNvSpPr/>
          <p:nvPr/>
        </p:nvSpPr>
        <p:spPr>
          <a:xfrm>
            <a:off x="640080" y="3154680"/>
            <a:ext cx="5120640" cy="237744"/>
          </a:xfrm>
          <a:prstGeom prst="rect">
            <a:avLst/>
          </a:prstGeom>
          <a:noFill/>
          <a:ln/>
        </p:spPr>
        <p:txBody>
          <a:bodyPr wrap="square" lIns="0" tIns="0" rIns="0" bIns="0" rtlCol="0" anchor="ctr"/>
          <a:lstStyle/>
          <a:p>
            <a:pPr algn="ctr" indent="0" marL="0">
              <a:buNone/>
            </a:pPr>
            <a:r>
              <a:rPr lang="en-US" sz="1050" b="1" dirty="0">
                <a:solidFill>
                  <a:srgbClr val="2A1F3D"/>
                </a:solidFill>
                <a:latin typeface="Calibri" pitchFamily="34" charset="0"/>
                <a:ea typeface="Calibri" pitchFamily="34" charset="-122"/>
                <a:cs typeface="Calibri" pitchFamily="34" charset="-120"/>
              </a:rPr>
              <a:t>Aluminium sulfate</a:t>
            </a:r>
            <a:r>
              <a:rPr lang="en-US" sz="1050" dirty="0">
                <a:solidFill>
                  <a:srgbClr val="2A1F3D"/>
                </a:solidFill>
                <a:latin typeface="Calibri" pitchFamily="34" charset="0"/>
                <a:ea typeface="Calibri" pitchFamily="34" charset="-122"/>
                <a:cs typeface="Calibri" pitchFamily="34" charset="-120"/>
              </a:rPr>
              <a:t>: make the total charge </a:t>
            </a:r>
            <a:r>
              <a:rPr lang="en-US" sz="1050" b="1" dirty="0">
                <a:solidFill>
                  <a:srgbClr val="2A1F3D"/>
                </a:solidFill>
                <a:latin typeface="Calibri" pitchFamily="34" charset="0"/>
                <a:ea typeface="Calibri" pitchFamily="34" charset="-122"/>
                <a:cs typeface="Calibri" pitchFamily="34" charset="-120"/>
              </a:rPr>
              <a:t>zero</a:t>
            </a:r>
            <a:endParaRPr lang="en-US" sz="1050" dirty="0"/>
          </a:p>
        </p:txBody>
      </p:sp>
      <p:sp>
        <p:nvSpPr>
          <p:cNvPr id="12" name="Shape 9"/>
          <p:cNvSpPr/>
          <p:nvPr/>
        </p:nvSpPr>
        <p:spPr>
          <a:xfrm>
            <a:off x="731520" y="3520440"/>
            <a:ext cx="685800" cy="411480"/>
          </a:xfrm>
          <a:prstGeom prst="roundRect">
            <a:avLst>
              <a:gd name="adj" fmla="val 13333"/>
            </a:avLst>
          </a:prstGeom>
          <a:solidFill>
            <a:srgbClr val="D9DEE6"/>
          </a:solidFill>
          <a:ln w="12700">
            <a:solidFill>
              <a:srgbClr val="6B7385"/>
            </a:solidFill>
            <a:prstDash val="solid"/>
          </a:ln>
        </p:spPr>
      </p:sp>
      <p:sp>
        <p:nvSpPr>
          <p:cNvPr id="13" name="Text 10"/>
          <p:cNvSpPr/>
          <p:nvPr/>
        </p:nvSpPr>
        <p:spPr>
          <a:xfrm>
            <a:off x="786384" y="3520440"/>
            <a:ext cx="576072" cy="411480"/>
          </a:xfrm>
          <a:prstGeom prst="rect">
            <a:avLst/>
          </a:prstGeom>
          <a:noFill/>
          <a:ln/>
        </p:spPr>
        <p:txBody>
          <a:bodyPr wrap="square" lIns="0" tIns="0" rIns="0" bIns="0" rtlCol="0" anchor="ctr"/>
          <a:lstStyle/>
          <a:p>
            <a:pPr algn="ctr" indent="0" marL="0">
              <a:buNone/>
            </a:pPr>
            <a:r>
              <a:rPr lang="en-US" sz="1100" b="1" dirty="0">
                <a:solidFill>
                  <a:srgbClr val="262B3A"/>
                </a:solidFill>
                <a:latin typeface="Calibri" pitchFamily="34" charset="0"/>
                <a:ea typeface="Calibri" pitchFamily="34" charset="-122"/>
                <a:cs typeface="Calibri" pitchFamily="34" charset="-120"/>
              </a:rPr>
              <a:t>Al³⁺</a:t>
            </a:r>
            <a:endParaRPr lang="en-US" sz="1100" dirty="0"/>
          </a:p>
        </p:txBody>
      </p:sp>
      <p:sp>
        <p:nvSpPr>
          <p:cNvPr id="14" name="Shape 11"/>
          <p:cNvSpPr/>
          <p:nvPr/>
        </p:nvSpPr>
        <p:spPr>
          <a:xfrm>
            <a:off x="1508760" y="3520440"/>
            <a:ext cx="685800" cy="411480"/>
          </a:xfrm>
          <a:prstGeom prst="roundRect">
            <a:avLst>
              <a:gd name="adj" fmla="val 13333"/>
            </a:avLst>
          </a:prstGeom>
          <a:solidFill>
            <a:srgbClr val="D9DEE6"/>
          </a:solidFill>
          <a:ln w="12700">
            <a:solidFill>
              <a:srgbClr val="6B7385"/>
            </a:solidFill>
            <a:prstDash val="solid"/>
          </a:ln>
        </p:spPr>
      </p:sp>
      <p:sp>
        <p:nvSpPr>
          <p:cNvPr id="15" name="Text 12"/>
          <p:cNvSpPr/>
          <p:nvPr/>
        </p:nvSpPr>
        <p:spPr>
          <a:xfrm>
            <a:off x="1563624" y="3520440"/>
            <a:ext cx="576072" cy="411480"/>
          </a:xfrm>
          <a:prstGeom prst="rect">
            <a:avLst/>
          </a:prstGeom>
          <a:noFill/>
          <a:ln/>
        </p:spPr>
        <p:txBody>
          <a:bodyPr wrap="square" lIns="0" tIns="0" rIns="0" bIns="0" rtlCol="0" anchor="ctr"/>
          <a:lstStyle/>
          <a:p>
            <a:pPr algn="ctr" indent="0" marL="0">
              <a:buNone/>
            </a:pPr>
            <a:r>
              <a:rPr lang="en-US" sz="1100" b="1" dirty="0">
                <a:solidFill>
                  <a:srgbClr val="262B3A"/>
                </a:solidFill>
                <a:latin typeface="Calibri" pitchFamily="34" charset="0"/>
                <a:ea typeface="Calibri" pitchFamily="34" charset="-122"/>
                <a:cs typeface="Calibri" pitchFamily="34" charset="-120"/>
              </a:rPr>
              <a:t>Al³⁺</a:t>
            </a:r>
            <a:endParaRPr lang="en-US" sz="1100" dirty="0"/>
          </a:p>
        </p:txBody>
      </p:sp>
      <p:sp>
        <p:nvSpPr>
          <p:cNvPr id="16" name="Shape 13"/>
          <p:cNvSpPr/>
          <p:nvPr/>
        </p:nvSpPr>
        <p:spPr>
          <a:xfrm>
            <a:off x="2514600" y="3520440"/>
            <a:ext cx="685800" cy="411480"/>
          </a:xfrm>
          <a:prstGeom prst="roundRect">
            <a:avLst>
              <a:gd name="adj" fmla="val 13333"/>
            </a:avLst>
          </a:prstGeom>
          <a:solidFill>
            <a:srgbClr val="F5D1A0"/>
          </a:solidFill>
          <a:ln w="12700">
            <a:solidFill>
              <a:srgbClr val="A86A12"/>
            </a:solidFill>
            <a:prstDash val="solid"/>
          </a:ln>
        </p:spPr>
      </p:sp>
      <p:sp>
        <p:nvSpPr>
          <p:cNvPr id="17" name="Text 14"/>
          <p:cNvSpPr/>
          <p:nvPr/>
        </p:nvSpPr>
        <p:spPr>
          <a:xfrm>
            <a:off x="2569464" y="3520440"/>
            <a:ext cx="576072" cy="411480"/>
          </a:xfrm>
          <a:prstGeom prst="rect">
            <a:avLst/>
          </a:prstGeom>
          <a:noFill/>
          <a:ln/>
        </p:spPr>
        <p:txBody>
          <a:bodyPr wrap="square" lIns="0" tIns="0" rIns="0" bIns="0" rtlCol="0" anchor="ctr"/>
          <a:lstStyle/>
          <a:p>
            <a:pPr algn="ctr" indent="0" marL="0">
              <a:buNone/>
            </a:pPr>
            <a:r>
              <a:rPr lang="en-US" sz="1100" b="1" dirty="0">
                <a:solidFill>
                  <a:srgbClr val="262B3A"/>
                </a:solidFill>
                <a:latin typeface="Calibri" pitchFamily="34" charset="0"/>
                <a:ea typeface="Calibri" pitchFamily="34" charset="-122"/>
                <a:cs typeface="Calibri" pitchFamily="34" charset="-120"/>
              </a:rPr>
              <a:t>SO₄²⁻</a:t>
            </a:r>
            <a:endParaRPr lang="en-US" sz="1100" dirty="0"/>
          </a:p>
        </p:txBody>
      </p:sp>
      <p:sp>
        <p:nvSpPr>
          <p:cNvPr id="18" name="Shape 15"/>
          <p:cNvSpPr/>
          <p:nvPr/>
        </p:nvSpPr>
        <p:spPr>
          <a:xfrm>
            <a:off x="3291840" y="3520440"/>
            <a:ext cx="685800" cy="411480"/>
          </a:xfrm>
          <a:prstGeom prst="roundRect">
            <a:avLst>
              <a:gd name="adj" fmla="val 13333"/>
            </a:avLst>
          </a:prstGeom>
          <a:solidFill>
            <a:srgbClr val="F5D1A0"/>
          </a:solidFill>
          <a:ln w="12700">
            <a:solidFill>
              <a:srgbClr val="A86A12"/>
            </a:solidFill>
            <a:prstDash val="solid"/>
          </a:ln>
        </p:spPr>
      </p:sp>
      <p:sp>
        <p:nvSpPr>
          <p:cNvPr id="19" name="Text 16"/>
          <p:cNvSpPr/>
          <p:nvPr/>
        </p:nvSpPr>
        <p:spPr>
          <a:xfrm>
            <a:off x="3346704" y="3520440"/>
            <a:ext cx="576072" cy="411480"/>
          </a:xfrm>
          <a:prstGeom prst="rect">
            <a:avLst/>
          </a:prstGeom>
          <a:noFill/>
          <a:ln/>
        </p:spPr>
        <p:txBody>
          <a:bodyPr wrap="square" lIns="0" tIns="0" rIns="0" bIns="0" rtlCol="0" anchor="ctr"/>
          <a:lstStyle/>
          <a:p>
            <a:pPr algn="ctr" indent="0" marL="0">
              <a:buNone/>
            </a:pPr>
            <a:r>
              <a:rPr lang="en-US" sz="1100" b="1" dirty="0">
                <a:solidFill>
                  <a:srgbClr val="262B3A"/>
                </a:solidFill>
                <a:latin typeface="Calibri" pitchFamily="34" charset="0"/>
                <a:ea typeface="Calibri" pitchFamily="34" charset="-122"/>
                <a:cs typeface="Calibri" pitchFamily="34" charset="-120"/>
              </a:rPr>
              <a:t>SO₄²⁻</a:t>
            </a:r>
            <a:endParaRPr lang="en-US" sz="1100" dirty="0"/>
          </a:p>
        </p:txBody>
      </p:sp>
      <p:sp>
        <p:nvSpPr>
          <p:cNvPr id="20" name="Shape 17"/>
          <p:cNvSpPr/>
          <p:nvPr/>
        </p:nvSpPr>
        <p:spPr>
          <a:xfrm>
            <a:off x="4069080" y="3520440"/>
            <a:ext cx="685800" cy="411480"/>
          </a:xfrm>
          <a:prstGeom prst="roundRect">
            <a:avLst>
              <a:gd name="adj" fmla="val 13333"/>
            </a:avLst>
          </a:prstGeom>
          <a:solidFill>
            <a:srgbClr val="F5D1A0"/>
          </a:solidFill>
          <a:ln w="12700">
            <a:solidFill>
              <a:srgbClr val="A86A12"/>
            </a:solidFill>
            <a:prstDash val="solid"/>
          </a:ln>
        </p:spPr>
      </p:sp>
      <p:sp>
        <p:nvSpPr>
          <p:cNvPr id="21" name="Text 18"/>
          <p:cNvSpPr/>
          <p:nvPr/>
        </p:nvSpPr>
        <p:spPr>
          <a:xfrm>
            <a:off x="4123944" y="3520440"/>
            <a:ext cx="576072" cy="411480"/>
          </a:xfrm>
          <a:prstGeom prst="rect">
            <a:avLst/>
          </a:prstGeom>
          <a:noFill/>
          <a:ln/>
        </p:spPr>
        <p:txBody>
          <a:bodyPr wrap="square" lIns="0" tIns="0" rIns="0" bIns="0" rtlCol="0" anchor="ctr"/>
          <a:lstStyle/>
          <a:p>
            <a:pPr algn="ctr" indent="0" marL="0">
              <a:buNone/>
            </a:pPr>
            <a:r>
              <a:rPr lang="en-US" sz="1100" b="1" dirty="0">
                <a:solidFill>
                  <a:srgbClr val="262B3A"/>
                </a:solidFill>
                <a:latin typeface="Calibri" pitchFamily="34" charset="0"/>
                <a:ea typeface="Calibri" pitchFamily="34" charset="-122"/>
                <a:cs typeface="Calibri" pitchFamily="34" charset="-120"/>
              </a:rPr>
              <a:t>SO₄²⁻</a:t>
            </a:r>
            <a:endParaRPr lang="en-US" sz="1100" dirty="0"/>
          </a:p>
        </p:txBody>
      </p:sp>
      <p:sp>
        <p:nvSpPr>
          <p:cNvPr id="22" name="Text 19"/>
          <p:cNvSpPr/>
          <p:nvPr/>
        </p:nvSpPr>
        <p:spPr>
          <a:xfrm>
            <a:off x="731520" y="3977640"/>
            <a:ext cx="1463040" cy="237744"/>
          </a:xfrm>
          <a:prstGeom prst="rect">
            <a:avLst/>
          </a:prstGeom>
          <a:noFill/>
          <a:ln/>
        </p:spPr>
        <p:txBody>
          <a:bodyPr wrap="square" lIns="0" tIns="0" rIns="0" bIns="0" rtlCol="0" anchor="ctr"/>
          <a:lstStyle/>
          <a:p>
            <a:pPr algn="ctr" indent="0" marL="0">
              <a:buNone/>
            </a:pPr>
            <a:r>
              <a:rPr lang="en-US" sz="1050" dirty="0">
                <a:solidFill>
                  <a:srgbClr val="262B3A"/>
                </a:solidFill>
                <a:latin typeface="Calibri" pitchFamily="34" charset="0"/>
                <a:ea typeface="Calibri" pitchFamily="34" charset="-122"/>
                <a:cs typeface="Calibri" pitchFamily="34" charset="-120"/>
              </a:rPr>
              <a:t>2 × (+3) = </a:t>
            </a:r>
            <a:r>
              <a:rPr lang="en-US" sz="1050" b="1" dirty="0">
                <a:solidFill>
                  <a:srgbClr val="262B3A"/>
                </a:solidFill>
                <a:latin typeface="Calibri" pitchFamily="34" charset="0"/>
                <a:ea typeface="Calibri" pitchFamily="34" charset="-122"/>
                <a:cs typeface="Calibri" pitchFamily="34" charset="-120"/>
              </a:rPr>
              <a:t>+6</a:t>
            </a:r>
            <a:endParaRPr lang="en-US" sz="1050" dirty="0"/>
          </a:p>
        </p:txBody>
      </p:sp>
      <p:sp>
        <p:nvSpPr>
          <p:cNvPr id="23" name="Text 20"/>
          <p:cNvSpPr/>
          <p:nvPr/>
        </p:nvSpPr>
        <p:spPr>
          <a:xfrm>
            <a:off x="2514600" y="3977640"/>
            <a:ext cx="2286000" cy="237744"/>
          </a:xfrm>
          <a:prstGeom prst="rect">
            <a:avLst/>
          </a:prstGeom>
          <a:noFill/>
          <a:ln/>
        </p:spPr>
        <p:txBody>
          <a:bodyPr wrap="square" lIns="0" tIns="0" rIns="0" bIns="0" rtlCol="0" anchor="ctr"/>
          <a:lstStyle/>
          <a:p>
            <a:pPr algn="ctr" indent="0" marL="0">
              <a:buNone/>
            </a:pPr>
            <a:r>
              <a:rPr lang="en-US" sz="1050" dirty="0">
                <a:solidFill>
                  <a:srgbClr val="262B3A"/>
                </a:solidFill>
                <a:latin typeface="Calibri" pitchFamily="34" charset="0"/>
                <a:ea typeface="Calibri" pitchFamily="34" charset="-122"/>
                <a:cs typeface="Calibri" pitchFamily="34" charset="-120"/>
              </a:rPr>
              <a:t>3 × (−2) = </a:t>
            </a:r>
            <a:r>
              <a:rPr lang="en-US" sz="1050" b="1" dirty="0">
                <a:solidFill>
                  <a:srgbClr val="262B3A"/>
                </a:solidFill>
                <a:latin typeface="Calibri" pitchFamily="34" charset="0"/>
                <a:ea typeface="Calibri" pitchFamily="34" charset="-122"/>
                <a:cs typeface="Calibri" pitchFamily="34" charset="-120"/>
              </a:rPr>
              <a:t>−6</a:t>
            </a:r>
            <a:endParaRPr lang="en-US" sz="1050" dirty="0"/>
          </a:p>
        </p:txBody>
      </p:sp>
      <p:sp>
        <p:nvSpPr>
          <p:cNvPr id="24" name="Shape 21"/>
          <p:cNvSpPr/>
          <p:nvPr/>
        </p:nvSpPr>
        <p:spPr>
          <a:xfrm>
            <a:off x="4937760" y="3520440"/>
            <a:ext cx="777240" cy="411480"/>
          </a:xfrm>
          <a:prstGeom prst="roundRect">
            <a:avLst>
              <a:gd name="adj" fmla="val 13333"/>
            </a:avLst>
          </a:prstGeom>
          <a:solidFill>
            <a:srgbClr val="E8F4EC"/>
          </a:solidFill>
          <a:ln w="12700">
            <a:solidFill>
              <a:srgbClr val="2E8B57"/>
            </a:solidFill>
            <a:prstDash val="solid"/>
          </a:ln>
        </p:spPr>
      </p:sp>
      <p:sp>
        <p:nvSpPr>
          <p:cNvPr id="25" name="Text 22"/>
          <p:cNvSpPr/>
          <p:nvPr/>
        </p:nvSpPr>
        <p:spPr>
          <a:xfrm>
            <a:off x="4992624" y="3520440"/>
            <a:ext cx="667512" cy="411480"/>
          </a:xfrm>
          <a:prstGeom prst="rect">
            <a:avLst/>
          </a:prstGeom>
          <a:noFill/>
          <a:ln/>
        </p:spPr>
        <p:txBody>
          <a:bodyPr wrap="square" lIns="0" tIns="0" rIns="0" bIns="0" rtlCol="0" anchor="ctr"/>
          <a:lstStyle/>
          <a:p>
            <a:pPr algn="ctr" indent="0" marL="0">
              <a:buNone/>
            </a:pPr>
            <a:r>
              <a:rPr lang="en-US" sz="1100" b="1" dirty="0">
                <a:solidFill>
                  <a:srgbClr val="262B3A"/>
                </a:solidFill>
                <a:latin typeface="Calibri" pitchFamily="34" charset="0"/>
                <a:ea typeface="Calibri" pitchFamily="34" charset="-122"/>
                <a:cs typeface="Calibri" pitchFamily="34" charset="-120"/>
              </a:rPr>
              <a:t>= 0</a:t>
            </a:r>
            <a:endParaRPr lang="en-US" sz="1100" dirty="0"/>
          </a:p>
        </p:txBody>
      </p:sp>
      <p:sp>
        <p:nvSpPr>
          <p:cNvPr id="26" name="Shape 23"/>
          <p:cNvSpPr/>
          <p:nvPr/>
        </p:nvSpPr>
        <p:spPr>
          <a:xfrm>
            <a:off x="640080" y="4434840"/>
            <a:ext cx="5120640" cy="365760"/>
          </a:xfrm>
          <a:prstGeom prst="roundRect">
            <a:avLst>
              <a:gd name="adj" fmla="val 12500"/>
            </a:avLst>
          </a:prstGeom>
          <a:solidFill>
            <a:srgbClr val="FFFFFF"/>
          </a:solidFill>
          <a:ln w="12700">
            <a:solidFill>
              <a:srgbClr val="DDD3EC"/>
            </a:solidFill>
            <a:prstDash val="solid"/>
          </a:ln>
        </p:spPr>
      </p:sp>
      <p:sp>
        <p:nvSpPr>
          <p:cNvPr id="27" name="Text 24"/>
          <p:cNvSpPr/>
          <p:nvPr/>
        </p:nvSpPr>
        <p:spPr>
          <a:xfrm>
            <a:off x="713232" y="4434840"/>
            <a:ext cx="4974336" cy="365760"/>
          </a:xfrm>
          <a:prstGeom prst="rect">
            <a:avLst/>
          </a:prstGeom>
          <a:noFill/>
          <a:ln/>
        </p:spPr>
        <p:txBody>
          <a:bodyPr wrap="square" lIns="0" tIns="0" rIns="0" bIns="0" rtlCol="0" anchor="ctr"/>
          <a:lstStyle/>
          <a:p>
            <a:pPr algn="ctr" indent="0" marL="0">
              <a:buNone/>
            </a:pPr>
            <a:r>
              <a:rPr lang="en-US" sz="1250" b="1" dirty="0">
                <a:solidFill>
                  <a:srgbClr val="2A1F3D"/>
                </a:solidFill>
                <a:latin typeface="Calibri" pitchFamily="34" charset="0"/>
                <a:ea typeface="Calibri" pitchFamily="34" charset="-122"/>
                <a:cs typeface="Calibri" pitchFamily="34" charset="-120"/>
              </a:rPr>
              <a:t>Formula: Al₂(SO₄)₃</a:t>
            </a:r>
            <a:endParaRPr lang="en-US" sz="1250" dirty="0"/>
          </a:p>
        </p:txBody>
      </p:sp>
      <p:sp>
        <p:nvSpPr>
          <p:cNvPr id="28" name="Text 25"/>
          <p:cNvSpPr/>
          <p:nvPr/>
        </p:nvSpPr>
        <p:spPr>
          <a:xfrm>
            <a:off x="640080" y="4846320"/>
            <a:ext cx="5120640" cy="237744"/>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Use </a:t>
            </a:r>
            <a:r>
              <a:rPr lang="en-US" sz="1000" b="1" i="1" dirty="0">
                <a:solidFill>
                  <a:srgbClr val="6B7385"/>
                </a:solidFill>
                <a:latin typeface="Calibri" pitchFamily="34" charset="0"/>
                <a:ea typeface="Calibri" pitchFamily="34" charset="-122"/>
                <a:cs typeface="Calibri" pitchFamily="34" charset="-120"/>
              </a:rPr>
              <a:t>brackets</a:t>
            </a:r>
            <a:r>
              <a:rPr lang="en-US" sz="1000" i="1" dirty="0">
                <a:solidFill>
                  <a:srgbClr val="6B7385"/>
                </a:solidFill>
                <a:latin typeface="Calibri" pitchFamily="34" charset="0"/>
                <a:ea typeface="Calibri" pitchFamily="34" charset="-122"/>
                <a:cs typeface="Calibri" pitchFamily="34" charset="-120"/>
              </a:rPr>
              <a:t> when more than one polyatomic ion is needed</a:t>
            </a:r>
            <a:endParaRPr lang="en-US" sz="1000" dirty="0"/>
          </a:p>
        </p:txBody>
      </p:sp>
      <p:sp>
        <p:nvSpPr>
          <p:cNvPr id="29" name="Shape 26"/>
          <p:cNvSpPr/>
          <p:nvPr/>
        </p:nvSpPr>
        <p:spPr>
          <a:xfrm>
            <a:off x="6217920" y="1188720"/>
            <a:ext cx="5559552" cy="2697480"/>
          </a:xfrm>
          <a:prstGeom prst="roundRect">
            <a:avLst>
              <a:gd name="adj" fmla="val 2034"/>
            </a:avLst>
          </a:prstGeom>
          <a:solidFill>
            <a:srgbClr val="F8F5FC"/>
          </a:solidFill>
          <a:ln w="9525">
            <a:solidFill>
              <a:srgbClr val="DDD3EC"/>
            </a:solidFill>
            <a:prstDash val="solid"/>
          </a:ln>
        </p:spPr>
      </p:sp>
      <p:sp>
        <p:nvSpPr>
          <p:cNvPr id="30" name="Text 27"/>
          <p:cNvSpPr/>
          <p:nvPr/>
        </p:nvSpPr>
        <p:spPr>
          <a:xfrm>
            <a:off x="6382512" y="1280160"/>
            <a:ext cx="5230368" cy="292608"/>
          </a:xfrm>
          <a:prstGeom prst="rect">
            <a:avLst/>
          </a:prstGeom>
          <a:noFill/>
          <a:ln/>
        </p:spPr>
        <p:txBody>
          <a:bodyPr wrap="square" lIns="0" tIns="0" rIns="0" bIns="0" rtlCol="0" anchor="ctr"/>
          <a:lstStyle/>
          <a:p>
            <a:pPr indent="0" marL="0">
              <a:buNone/>
            </a:pPr>
            <a:r>
              <a:rPr lang="en-US" sz="1300" b="1" dirty="0">
                <a:solidFill>
                  <a:srgbClr val="2A1F3D"/>
                </a:solidFill>
                <a:latin typeface="Calibri" pitchFamily="34" charset="0"/>
                <a:ea typeface="Calibri" pitchFamily="34" charset="-122"/>
                <a:cs typeface="Calibri" pitchFamily="34" charset="-120"/>
              </a:rPr>
              <a:t>Four steps to predict the products</a:t>
            </a:r>
            <a:endParaRPr lang="en-US" sz="1300" dirty="0"/>
          </a:p>
        </p:txBody>
      </p:sp>
      <p:sp>
        <p:nvSpPr>
          <p:cNvPr id="31" name="Text 28"/>
          <p:cNvSpPr/>
          <p:nvPr/>
        </p:nvSpPr>
        <p:spPr>
          <a:xfrm>
            <a:off x="6382512" y="1609344"/>
            <a:ext cx="5230368" cy="2203704"/>
          </a:xfrm>
          <a:prstGeom prst="rect">
            <a:avLst/>
          </a:prstGeom>
          <a:noFill/>
          <a:ln/>
        </p:spPr>
        <p:txBody>
          <a:bodyPr wrap="square" lIns="0" tIns="0" rIns="0" bIns="0" rtlCol="0" anchor="t"/>
          <a:lstStyle/>
          <a:p>
            <a:pPr marL="152400" indent="-152400">
              <a:spcAft>
                <a:spcPts val="300"/>
              </a:spcAft>
              <a:buSzPct val="100000"/>
              <a:buChar char="▪"/>
            </a:pPr>
            <a:r>
              <a:rPr lang="en-US" sz="1100" b="1" dirty="0">
                <a:solidFill>
                  <a:srgbClr val="262B3A"/>
                </a:solidFill>
                <a:latin typeface="Calibri" pitchFamily="34" charset="0"/>
                <a:ea typeface="Calibri" pitchFamily="34" charset="-122"/>
                <a:cs typeface="Calibri" pitchFamily="34" charset="-120"/>
              </a:rPr>
              <a:t>1</a:t>
            </a:r>
            <a:r>
              <a:rPr lang="en-US" sz="1100" dirty="0">
                <a:solidFill>
                  <a:srgbClr val="262B3A"/>
                </a:solidFill>
                <a:latin typeface="Calibri" pitchFamily="34" charset="0"/>
                <a:ea typeface="Calibri" pitchFamily="34" charset="-122"/>
                <a:cs typeface="Calibri" pitchFamily="34" charset="-120"/>
              </a:rPr>
              <a:t> Which type? metal → salt + </a:t>
            </a:r>
            <a:r>
              <a:rPr lang="en-US" sz="1100" b="1" dirty="0">
                <a:solidFill>
                  <a:srgbClr val="262B3A"/>
                </a:solidFill>
                <a:latin typeface="Calibri" pitchFamily="34" charset="0"/>
                <a:ea typeface="Calibri" pitchFamily="34" charset="-122"/>
                <a:cs typeface="Calibri" pitchFamily="34" charset="-120"/>
              </a:rPr>
              <a:t>hydrogen</a:t>
            </a:r>
            <a:r>
              <a:rPr lang="en-US" sz="1100" dirty="0">
                <a:solidFill>
                  <a:srgbClr val="262B3A"/>
                </a:solidFill>
                <a:latin typeface="Calibri" pitchFamily="34" charset="0"/>
                <a:ea typeface="Calibri" pitchFamily="34" charset="-122"/>
                <a:cs typeface="Calibri" pitchFamily="34" charset="-120"/>
              </a:rPr>
              <a:t>; oxide or hydroxide → salt + </a:t>
            </a:r>
            <a:r>
              <a:rPr lang="en-US" sz="1100" b="1" dirty="0">
                <a:solidFill>
                  <a:srgbClr val="262B3A"/>
                </a:solidFill>
                <a:latin typeface="Calibri" pitchFamily="34" charset="0"/>
                <a:ea typeface="Calibri" pitchFamily="34" charset="-122"/>
                <a:cs typeface="Calibri" pitchFamily="34" charset="-120"/>
              </a:rPr>
              <a:t>water</a:t>
            </a:r>
            <a:r>
              <a:rPr lang="en-US" sz="1100" dirty="0">
                <a:solidFill>
                  <a:srgbClr val="262B3A"/>
                </a:solidFill>
                <a:latin typeface="Calibri" pitchFamily="34" charset="0"/>
                <a:ea typeface="Calibri" pitchFamily="34" charset="-122"/>
                <a:cs typeface="Calibri" pitchFamily="34" charset="-120"/>
              </a:rPr>
              <a:t>; carbonate → salt + water + </a:t>
            </a:r>
            <a:r>
              <a:rPr lang="en-US" sz="1100" b="1" dirty="0">
                <a:solidFill>
                  <a:srgbClr val="262B3A"/>
                </a:solidFill>
                <a:latin typeface="Calibri" pitchFamily="34" charset="0"/>
                <a:ea typeface="Calibri" pitchFamily="34" charset="-122"/>
                <a:cs typeface="Calibri" pitchFamily="34" charset="-120"/>
              </a:rPr>
              <a:t>CO₂</a:t>
            </a:r>
            <a:r>
              <a:rPr lang="en-US" sz="1100" dirty="0">
                <a:solidFill>
                  <a:srgbClr val="262B3A"/>
                </a:solidFill>
                <a:latin typeface="Calibri" pitchFamily="34" charset="0"/>
                <a:ea typeface="Calibri" pitchFamily="34" charset="-122"/>
                <a:cs typeface="Calibri" pitchFamily="34" charset="-120"/>
              </a:rPr>
              <a:t>.</a:t>
            </a:r>
            <a:endParaRPr lang="en-US" sz="1100" dirty="0"/>
          </a:p>
          <a:p>
            <a:pPr marL="152400" indent="-152400">
              <a:spcAft>
                <a:spcPts val="300"/>
              </a:spcAft>
              <a:buSzPct val="100000"/>
              <a:buChar char="▪"/>
            </a:pPr>
            <a:r>
              <a:rPr lang="en-US" sz="1100" b="1" dirty="0">
                <a:solidFill>
                  <a:srgbClr val="262B3A"/>
                </a:solidFill>
                <a:latin typeface="Calibri" pitchFamily="34" charset="0"/>
                <a:ea typeface="Calibri" pitchFamily="34" charset="-122"/>
                <a:cs typeface="Calibri" pitchFamily="34" charset="-120"/>
              </a:rPr>
              <a:t>2</a:t>
            </a:r>
            <a:r>
              <a:rPr lang="en-US" sz="1100" dirty="0">
                <a:solidFill>
                  <a:srgbClr val="262B3A"/>
                </a:solidFill>
                <a:latin typeface="Calibri" pitchFamily="34" charset="0"/>
                <a:ea typeface="Calibri" pitchFamily="34" charset="-122"/>
                <a:cs typeface="Calibri" pitchFamily="34" charset="-120"/>
              </a:rPr>
              <a:t> Name the salt: </a:t>
            </a:r>
            <a:r>
              <a:rPr lang="en-US" sz="1100" b="1" dirty="0">
                <a:solidFill>
                  <a:srgbClr val="262B3A"/>
                </a:solidFill>
                <a:latin typeface="Calibri" pitchFamily="34" charset="0"/>
                <a:ea typeface="Calibri" pitchFamily="34" charset="-122"/>
                <a:cs typeface="Calibri" pitchFamily="34" charset="-120"/>
              </a:rPr>
              <a:t>metal</a:t>
            </a:r>
            <a:r>
              <a:rPr lang="en-US" sz="1100" dirty="0">
                <a:solidFill>
                  <a:srgbClr val="262B3A"/>
                </a:solidFill>
                <a:latin typeface="Calibri" pitchFamily="34" charset="0"/>
                <a:ea typeface="Calibri" pitchFamily="34" charset="-122"/>
                <a:cs typeface="Calibri" pitchFamily="34" charset="-120"/>
              </a:rPr>
              <a:t> (or ammonium) + </a:t>
            </a:r>
            <a:r>
              <a:rPr lang="en-US" sz="1100" b="1" dirty="0">
                <a:solidFill>
                  <a:srgbClr val="262B3A"/>
                </a:solidFill>
                <a:latin typeface="Calibri" pitchFamily="34" charset="0"/>
                <a:ea typeface="Calibri" pitchFamily="34" charset="-122"/>
                <a:cs typeface="Calibri" pitchFamily="34" charset="-120"/>
              </a:rPr>
              <a:t>chloride / sulfate / nitrate</a:t>
            </a:r>
            <a:r>
              <a:rPr lang="en-US" sz="1100" dirty="0">
                <a:solidFill>
                  <a:srgbClr val="262B3A"/>
                </a:solidFill>
                <a:latin typeface="Calibri" pitchFamily="34" charset="0"/>
                <a:ea typeface="Calibri" pitchFamily="34" charset="-122"/>
                <a:cs typeface="Calibri" pitchFamily="34" charset="-120"/>
              </a:rPr>
              <a:t>.</a:t>
            </a:r>
            <a:endParaRPr lang="en-US" sz="1100" dirty="0"/>
          </a:p>
          <a:p>
            <a:pPr marL="152400" indent="-152400">
              <a:spcAft>
                <a:spcPts val="300"/>
              </a:spcAft>
              <a:buSzPct val="100000"/>
              <a:buChar char="▪"/>
            </a:pPr>
            <a:r>
              <a:rPr lang="en-US" sz="1100" b="1" dirty="0">
                <a:solidFill>
                  <a:srgbClr val="262B3A"/>
                </a:solidFill>
                <a:latin typeface="Calibri" pitchFamily="34" charset="0"/>
                <a:ea typeface="Calibri" pitchFamily="34" charset="-122"/>
                <a:cs typeface="Calibri" pitchFamily="34" charset="-120"/>
              </a:rPr>
              <a:t>3</a:t>
            </a:r>
            <a:r>
              <a:rPr lang="en-US" sz="1100" dirty="0">
                <a:solidFill>
                  <a:srgbClr val="262B3A"/>
                </a:solidFill>
                <a:latin typeface="Calibri" pitchFamily="34" charset="0"/>
                <a:ea typeface="Calibri" pitchFamily="34" charset="-122"/>
                <a:cs typeface="Calibri" pitchFamily="34" charset="-120"/>
              </a:rPr>
              <a:t> Write each formula: balance the </a:t>
            </a:r>
            <a:r>
              <a:rPr lang="en-US" sz="1100" b="1" dirty="0">
                <a:solidFill>
                  <a:srgbClr val="262B3A"/>
                </a:solidFill>
                <a:latin typeface="Calibri" pitchFamily="34" charset="0"/>
                <a:ea typeface="Calibri" pitchFamily="34" charset="-122"/>
                <a:cs typeface="Calibri" pitchFamily="34" charset="-120"/>
              </a:rPr>
              <a:t>ion charges</a:t>
            </a:r>
            <a:r>
              <a:rPr lang="en-US" sz="1100" dirty="0">
                <a:solidFill>
                  <a:srgbClr val="262B3A"/>
                </a:solidFill>
                <a:latin typeface="Calibri" pitchFamily="34" charset="0"/>
                <a:ea typeface="Calibri" pitchFamily="34" charset="-122"/>
                <a:cs typeface="Calibri" pitchFamily="34" charset="-120"/>
              </a:rPr>
              <a:t> so they add up to </a:t>
            </a:r>
            <a:r>
              <a:rPr lang="en-US" sz="1100" b="1" dirty="0">
                <a:solidFill>
                  <a:srgbClr val="262B3A"/>
                </a:solidFill>
                <a:latin typeface="Calibri" pitchFamily="34" charset="0"/>
                <a:ea typeface="Calibri" pitchFamily="34" charset="-122"/>
                <a:cs typeface="Calibri" pitchFamily="34" charset="-120"/>
              </a:rPr>
              <a:t>zero</a:t>
            </a:r>
            <a:r>
              <a:rPr lang="en-US" sz="1100" dirty="0">
                <a:solidFill>
                  <a:srgbClr val="262B3A"/>
                </a:solidFill>
                <a:latin typeface="Calibri" pitchFamily="34" charset="0"/>
                <a:ea typeface="Calibri" pitchFamily="34" charset="-122"/>
                <a:cs typeface="Calibri" pitchFamily="34" charset="-120"/>
              </a:rPr>
              <a:t>.</a:t>
            </a:r>
            <a:endParaRPr lang="en-US" sz="1100" dirty="0"/>
          </a:p>
          <a:p>
            <a:pPr marL="152400" indent="-152400">
              <a:spcAft>
                <a:spcPts val="300"/>
              </a:spcAft>
              <a:buSzPct val="100000"/>
              <a:buChar char="▪"/>
            </a:pPr>
            <a:r>
              <a:rPr lang="en-US" sz="1100" b="1" dirty="0">
                <a:solidFill>
                  <a:srgbClr val="262B3A"/>
                </a:solidFill>
                <a:latin typeface="Calibri" pitchFamily="34" charset="0"/>
                <a:ea typeface="Calibri" pitchFamily="34" charset="-122"/>
                <a:cs typeface="Calibri" pitchFamily="34" charset="-120"/>
              </a:rPr>
              <a:t>4</a:t>
            </a:r>
            <a:r>
              <a:rPr lang="en-US" sz="1100" dirty="0">
                <a:solidFill>
                  <a:srgbClr val="262B3A"/>
                </a:solidFill>
                <a:latin typeface="Calibri" pitchFamily="34" charset="0"/>
                <a:ea typeface="Calibri" pitchFamily="34" charset="-122"/>
                <a:cs typeface="Calibri" pitchFamily="34" charset="-120"/>
              </a:rPr>
              <a:t> </a:t>
            </a:r>
            <a:r>
              <a:rPr lang="en-US" sz="1100" b="1" dirty="0">
                <a:solidFill>
                  <a:srgbClr val="262B3A"/>
                </a:solidFill>
                <a:latin typeface="Calibri" pitchFamily="34" charset="0"/>
                <a:ea typeface="Calibri" pitchFamily="34" charset="-122"/>
                <a:cs typeface="Calibri" pitchFamily="34" charset="-120"/>
              </a:rPr>
              <a:t>Balance</a:t>
            </a:r>
            <a:r>
              <a:rPr lang="en-US" sz="1100" dirty="0">
                <a:solidFill>
                  <a:srgbClr val="262B3A"/>
                </a:solidFill>
                <a:latin typeface="Calibri" pitchFamily="34" charset="0"/>
                <a:ea typeface="Calibri" pitchFamily="34" charset="-122"/>
                <a:cs typeface="Calibri" pitchFamily="34" charset="-120"/>
              </a:rPr>
              <a:t> the equation and add </a:t>
            </a:r>
            <a:r>
              <a:rPr lang="en-US" sz="1100" b="1" dirty="0">
                <a:solidFill>
                  <a:srgbClr val="262B3A"/>
                </a:solidFill>
                <a:latin typeface="Calibri" pitchFamily="34" charset="0"/>
                <a:ea typeface="Calibri" pitchFamily="34" charset="-122"/>
                <a:cs typeface="Calibri" pitchFamily="34" charset="-120"/>
              </a:rPr>
              <a:t>state symbols</a:t>
            </a:r>
            <a:r>
              <a:rPr lang="en-US" sz="1100" dirty="0">
                <a:solidFill>
                  <a:srgbClr val="262B3A"/>
                </a:solidFill>
                <a:latin typeface="Calibri" pitchFamily="34" charset="0"/>
                <a:ea typeface="Calibri" pitchFamily="34" charset="-122"/>
                <a:cs typeface="Calibri" pitchFamily="34" charset="-120"/>
              </a:rPr>
              <a:t>: salts in solution are (aq), water (l), gases (g).</a:t>
            </a:r>
            <a:endParaRPr lang="en-US" sz="1100" dirty="0"/>
          </a:p>
        </p:txBody>
      </p:sp>
      <p:sp>
        <p:nvSpPr>
          <p:cNvPr id="32" name="Shape 29"/>
          <p:cNvSpPr/>
          <p:nvPr/>
        </p:nvSpPr>
        <p:spPr>
          <a:xfrm>
            <a:off x="6217920" y="4023360"/>
            <a:ext cx="5559552" cy="1691640"/>
          </a:xfrm>
          <a:prstGeom prst="roundRect">
            <a:avLst>
              <a:gd name="adj" fmla="val 3243"/>
            </a:avLst>
          </a:prstGeom>
          <a:solidFill>
            <a:srgbClr val="FFF4E0"/>
          </a:solidFill>
          <a:ln w="9525">
            <a:solidFill>
              <a:srgbClr val="F1D9A8"/>
            </a:solidFill>
            <a:prstDash val="solid"/>
          </a:ln>
        </p:spPr>
      </p:sp>
      <p:sp>
        <p:nvSpPr>
          <p:cNvPr id="33" name="Text 30"/>
          <p:cNvSpPr/>
          <p:nvPr/>
        </p:nvSpPr>
        <p:spPr>
          <a:xfrm>
            <a:off x="6382512" y="4096512"/>
            <a:ext cx="5230368"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 calcium carbonate + nitric acid</a:t>
            </a:r>
            <a:endParaRPr lang="en-US" sz="1300" dirty="0"/>
          </a:p>
        </p:txBody>
      </p:sp>
      <p:sp>
        <p:nvSpPr>
          <p:cNvPr id="34" name="Text 31"/>
          <p:cNvSpPr/>
          <p:nvPr/>
        </p:nvSpPr>
        <p:spPr>
          <a:xfrm>
            <a:off x="6382512" y="4407408"/>
            <a:ext cx="5230368" cy="123444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Predict the products and write the equation.</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1 Salt   </a:t>
            </a:r>
            <a:r>
              <a:rPr lang="en-US" sz="1050" dirty="0">
                <a:solidFill>
                  <a:srgbClr val="262B3A"/>
                </a:solidFill>
                <a:latin typeface="Calibri" pitchFamily="34" charset="0"/>
                <a:ea typeface="Calibri" pitchFamily="34" charset="-122"/>
                <a:cs typeface="Calibri" pitchFamily="34" charset="-120"/>
              </a:rPr>
              <a:t>Ca²⁺ + 2NO₃⁻ → calcium nitrate, </a:t>
            </a:r>
            <a:r>
              <a:rPr lang="en-US" sz="1050" b="1" dirty="0">
                <a:solidFill>
                  <a:srgbClr val="262B3A"/>
                </a:solidFill>
                <a:latin typeface="Calibri" pitchFamily="34" charset="0"/>
                <a:ea typeface="Calibri" pitchFamily="34" charset="-122"/>
                <a:cs typeface="Calibri" pitchFamily="34" charset="-120"/>
              </a:rPr>
              <a:t>Ca(NO₃)₂</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2 Balance   </a:t>
            </a:r>
            <a:r>
              <a:rPr lang="en-US" sz="1050" dirty="0">
                <a:solidFill>
                  <a:srgbClr val="262B3A"/>
                </a:solidFill>
                <a:latin typeface="Calibri" pitchFamily="34" charset="0"/>
                <a:ea typeface="Calibri" pitchFamily="34" charset="-122"/>
                <a:cs typeface="Calibri" pitchFamily="34" charset="-120"/>
              </a:rPr>
              <a:t>two HNO₃ give the two NO₃⁻ ions</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3 Answer   </a:t>
            </a:r>
            <a:r>
              <a:rPr lang="en-US" sz="1050" b="1" dirty="0">
                <a:solidFill>
                  <a:srgbClr val="C8414C"/>
                </a:solidFill>
                <a:latin typeface="Calibri" pitchFamily="34" charset="0"/>
                <a:ea typeface="Calibri" pitchFamily="34" charset="-122"/>
                <a:cs typeface="Calibri" pitchFamily="34" charset="-120"/>
              </a:rPr>
              <a:t>CaCO₃(s) + 2HNO₃(aq) → Ca(NO₃)₂(aq) + H₂O(l) + CO₂(g)</a:t>
            </a:r>
            <a:endParaRPr lang="en-US" sz="1050" dirty="0"/>
          </a:p>
        </p:txBody>
      </p:sp>
      <p:sp>
        <p:nvSpPr>
          <p:cNvPr id="35" name="Shape 32"/>
          <p:cNvSpPr/>
          <p:nvPr/>
        </p:nvSpPr>
        <p:spPr>
          <a:xfrm>
            <a:off x="411480" y="5833872"/>
            <a:ext cx="11368735" cy="530352"/>
          </a:xfrm>
          <a:prstGeom prst="rect">
            <a:avLst/>
          </a:prstGeom>
          <a:solidFill>
            <a:srgbClr val="FFF4E0"/>
          </a:solidFill>
          <a:ln w="6350">
            <a:solidFill>
              <a:srgbClr val="F1D9A8"/>
            </a:solidFill>
            <a:prstDash val="solid"/>
          </a:ln>
        </p:spPr>
      </p:sp>
      <p:sp>
        <p:nvSpPr>
          <p:cNvPr id="36" name="Shape 33"/>
          <p:cNvSpPr/>
          <p:nvPr/>
        </p:nvSpPr>
        <p:spPr>
          <a:xfrm>
            <a:off x="411480" y="5833872"/>
            <a:ext cx="82296" cy="530352"/>
          </a:xfrm>
          <a:prstGeom prst="rect">
            <a:avLst/>
          </a:prstGeom>
          <a:solidFill>
            <a:srgbClr val="E39A2F"/>
          </a:solidFill>
          <a:ln w="12700">
            <a:solidFill>
              <a:srgbClr val="E39A2F"/>
            </a:solidFill>
            <a:prstDash val="solid"/>
          </a:ln>
        </p:spPr>
      </p:sp>
      <p:sp>
        <p:nvSpPr>
          <p:cNvPr id="37" name="Text 34"/>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Write the formula of </a:t>
            </a:r>
            <a:r>
              <a:rPr lang="en-US" sz="1150" b="1" dirty="0">
                <a:solidFill>
                  <a:srgbClr val="262B3A"/>
                </a:solidFill>
                <a:latin typeface="Calibri" pitchFamily="34" charset="0"/>
                <a:ea typeface="Calibri" pitchFamily="34" charset="-122"/>
                <a:cs typeface="Calibri" pitchFamily="34" charset="-120"/>
              </a:rPr>
              <a:t>zinc nitrate</a:t>
            </a:r>
            <a:r>
              <a:rPr lang="en-US" sz="1150" dirty="0">
                <a:solidFill>
                  <a:srgbClr val="262B3A"/>
                </a:solidFill>
                <a:latin typeface="Calibri" pitchFamily="34" charset="0"/>
                <a:ea typeface="Calibri" pitchFamily="34" charset="-122"/>
                <a:cs typeface="Calibri" pitchFamily="34" charset="-120"/>
              </a:rPr>
              <a:t> and of </a:t>
            </a:r>
            <a:r>
              <a:rPr lang="en-US" sz="1150" b="1" dirty="0">
                <a:solidFill>
                  <a:srgbClr val="262B3A"/>
                </a:solidFill>
                <a:latin typeface="Calibri" pitchFamily="34" charset="0"/>
                <a:ea typeface="Calibri" pitchFamily="34" charset="-122"/>
                <a:cs typeface="Calibri" pitchFamily="34" charset="-120"/>
              </a:rPr>
              <a:t>ammonium sulfate</a:t>
            </a:r>
            <a:r>
              <a:rPr lang="en-US" sz="1150" dirty="0">
                <a:solidFill>
                  <a:srgbClr val="262B3A"/>
                </a:solidFill>
                <a:latin typeface="Calibri" pitchFamily="34" charset="0"/>
                <a:ea typeface="Calibri" pitchFamily="34" charset="-122"/>
                <a:cs typeface="Calibri" pitchFamily="34" charset="-120"/>
              </a:rPr>
              <a:t>. Predict the products of </a:t>
            </a:r>
            <a:r>
              <a:rPr lang="en-US" sz="1150" b="1" dirty="0">
                <a:solidFill>
                  <a:srgbClr val="262B3A"/>
                </a:solidFill>
                <a:latin typeface="Calibri" pitchFamily="34" charset="0"/>
                <a:ea typeface="Calibri" pitchFamily="34" charset="-122"/>
                <a:cs typeface="Calibri" pitchFamily="34" charset="-120"/>
              </a:rPr>
              <a:t>zinc oxide + hydrochloric acid</a:t>
            </a:r>
            <a:r>
              <a:rPr lang="en-US" sz="1150" dirty="0">
                <a:solidFill>
                  <a:srgbClr val="262B3A"/>
                </a:solidFill>
                <a:latin typeface="Calibri" pitchFamily="34" charset="0"/>
                <a:ea typeface="Calibri" pitchFamily="34" charset="-122"/>
                <a:cs typeface="Calibri" pitchFamily="34" charset="-120"/>
              </a:rPr>
              <a:t>.</a:t>
            </a:r>
            <a:endParaRPr lang="en-US" sz="1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Useful products made from acids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Specification C6.1.1, C6.1.2 • salts made by acid reactions are in fertilisers, food, medicines and cleaners</a:t>
            </a:r>
            <a:endParaRPr lang="en-US" sz="1100" dirty="0"/>
          </a:p>
        </p:txBody>
      </p:sp>
      <p:sp>
        <p:nvSpPr>
          <p:cNvPr id="6" name="Text 4"/>
          <p:cNvSpPr/>
          <p:nvPr/>
        </p:nvSpPr>
        <p:spPr>
          <a:xfrm>
            <a:off x="411480" y="6473952"/>
            <a:ext cx="1014984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C6.1 What useful products can be made from acids?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C6.1.2  |  13</a:t>
            </a:r>
            <a:endParaRPr lang="en-US" sz="1000" dirty="0"/>
          </a:p>
        </p:txBody>
      </p:sp>
      <p:sp>
        <p:nvSpPr>
          <p:cNvPr id="8" name="Shape 6"/>
          <p:cNvSpPr/>
          <p:nvPr/>
        </p:nvSpPr>
        <p:spPr>
          <a:xfrm>
            <a:off x="411480" y="1188720"/>
            <a:ext cx="5577840" cy="4526280"/>
          </a:xfrm>
          <a:prstGeom prst="roundRect">
            <a:avLst>
              <a:gd name="adj" fmla="val 1616"/>
            </a:avLst>
          </a:prstGeom>
          <a:solidFill>
            <a:srgbClr val="F4F0FA"/>
          </a:solidFill>
          <a:ln w="9525">
            <a:solidFill>
              <a:srgbClr val="DED4EE"/>
            </a:solidFill>
            <a:prstDash val="solid"/>
          </a:ln>
        </p:spPr>
      </p:sp>
      <p:sp>
        <p:nvSpPr>
          <p:cNvPr id="9" name="Text 7"/>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examples of salts and acid reactions in everyday products</a:t>
            </a:r>
            <a:endParaRPr lang="en-US" sz="1000" dirty="0"/>
          </a:p>
        </p:txBody>
      </p:sp>
      <p:sp>
        <p:nvSpPr>
          <p:cNvPr id="10" name="Shape 8"/>
          <p:cNvSpPr/>
          <p:nvPr/>
        </p:nvSpPr>
        <p:spPr>
          <a:xfrm>
            <a:off x="2057400" y="2743200"/>
            <a:ext cx="2286000" cy="822960"/>
          </a:xfrm>
          <a:prstGeom prst="roundRect">
            <a:avLst>
              <a:gd name="adj" fmla="val 6667"/>
            </a:avLst>
          </a:prstGeom>
          <a:solidFill>
            <a:srgbClr val="2A1F3D"/>
          </a:solidFill>
          <a:ln w="15875">
            <a:solidFill>
              <a:srgbClr val="2A1F3D"/>
            </a:solidFill>
            <a:prstDash val="solid"/>
          </a:ln>
        </p:spPr>
      </p:sp>
      <p:sp>
        <p:nvSpPr>
          <p:cNvPr id="11" name="Text 9"/>
          <p:cNvSpPr/>
          <p:nvPr/>
        </p:nvSpPr>
        <p:spPr>
          <a:xfrm>
            <a:off x="2112264" y="2743200"/>
            <a:ext cx="2176272" cy="822960"/>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acid +</a:t>
            </a:r>
            <a:endParaRPr lang="en-US" sz="1050" dirty="0"/>
          </a:p>
          <a:p>
            <a:pPr algn="ctr" indent="0" marL="0">
              <a:buNone/>
            </a:pPr>
            <a:r>
              <a:rPr lang="en-US" sz="1050" b="1" dirty="0">
                <a:solidFill>
                  <a:srgbClr val="FFFFFF"/>
                </a:solidFill>
                <a:latin typeface="Calibri" pitchFamily="34" charset="0"/>
                <a:ea typeface="Calibri" pitchFamily="34" charset="-122"/>
                <a:cs typeface="Calibri" pitchFamily="34" charset="-120"/>
              </a:rPr>
              <a:t>base / alkali / carbonate / metal</a:t>
            </a:r>
            <a:endParaRPr lang="en-US" sz="1050" dirty="0"/>
          </a:p>
          <a:p>
            <a:pPr algn="ctr" indent="0" marL="0">
              <a:buNone/>
            </a:pPr>
            <a:r>
              <a:rPr lang="en-US" sz="1050" b="1" dirty="0">
                <a:solidFill>
                  <a:srgbClr val="FFFFFF"/>
                </a:solidFill>
                <a:latin typeface="Calibri" pitchFamily="34" charset="0"/>
                <a:ea typeface="Calibri" pitchFamily="34" charset="-122"/>
                <a:cs typeface="Calibri" pitchFamily="34" charset="-120"/>
              </a:rPr>
              <a:t>→ salt</a:t>
            </a:r>
            <a:endParaRPr lang="en-US" sz="1050" dirty="0"/>
          </a:p>
        </p:txBody>
      </p:sp>
      <p:sp>
        <p:nvSpPr>
          <p:cNvPr id="12" name="Shape 10"/>
          <p:cNvSpPr/>
          <p:nvPr/>
        </p:nvSpPr>
        <p:spPr>
          <a:xfrm>
            <a:off x="594360" y="1325880"/>
            <a:ext cx="2468880" cy="1143000"/>
          </a:xfrm>
          <a:prstGeom prst="roundRect">
            <a:avLst>
              <a:gd name="adj" fmla="val 4800"/>
            </a:avLst>
          </a:prstGeom>
          <a:solidFill>
            <a:srgbClr val="E8F4EC"/>
          </a:solidFill>
          <a:ln w="15875">
            <a:solidFill>
              <a:srgbClr val="2E8B57"/>
            </a:solidFill>
            <a:prstDash val="solid"/>
          </a:ln>
        </p:spPr>
      </p:sp>
      <p:sp>
        <p:nvSpPr>
          <p:cNvPr id="13" name="Text 11"/>
          <p:cNvSpPr/>
          <p:nvPr/>
        </p:nvSpPr>
        <p:spPr>
          <a:xfrm>
            <a:off x="685800" y="1371600"/>
            <a:ext cx="2286000" cy="274320"/>
          </a:xfrm>
          <a:prstGeom prst="rect">
            <a:avLst/>
          </a:prstGeom>
          <a:noFill/>
          <a:ln/>
        </p:spPr>
        <p:txBody>
          <a:bodyPr wrap="square" lIns="0" tIns="0" rIns="0" bIns="0" rtlCol="0" anchor="ctr"/>
          <a:lstStyle/>
          <a:p>
            <a:pPr algn="ctr" indent="0" marL="0">
              <a:buNone/>
            </a:pPr>
            <a:r>
              <a:rPr lang="en-US" sz="1150" b="1" dirty="0">
                <a:solidFill>
                  <a:srgbClr val="2E8B57"/>
                </a:solidFill>
                <a:latin typeface="Calibri" pitchFamily="34" charset="0"/>
                <a:ea typeface="Calibri" pitchFamily="34" charset="-122"/>
                <a:cs typeface="Calibri" pitchFamily="34" charset="-120"/>
              </a:rPr>
              <a:t>Fertilisers</a:t>
            </a:r>
            <a:endParaRPr lang="en-US" sz="1150" dirty="0"/>
          </a:p>
        </p:txBody>
      </p:sp>
      <p:sp>
        <p:nvSpPr>
          <p:cNvPr id="14" name="Text 12"/>
          <p:cNvSpPr/>
          <p:nvPr/>
        </p:nvSpPr>
        <p:spPr>
          <a:xfrm>
            <a:off x="685800" y="1655064"/>
            <a:ext cx="2286000" cy="749808"/>
          </a:xfrm>
          <a:prstGeom prst="rect">
            <a:avLst/>
          </a:prstGeom>
          <a:noFill/>
          <a:ln/>
        </p:spPr>
        <p:txBody>
          <a:bodyPr wrap="square" lIns="0" tIns="0" rIns="0" bIns="0" rtlCol="0" anchor="t"/>
          <a:lstStyle/>
          <a:p>
            <a:pPr algn="ctr" indent="0" marL="0">
              <a:buNone/>
            </a:pPr>
            <a:r>
              <a:rPr lang="en-US" sz="1000" dirty="0">
                <a:solidFill>
                  <a:srgbClr val="262B3A"/>
                </a:solidFill>
                <a:latin typeface="Calibri" pitchFamily="34" charset="0"/>
                <a:ea typeface="Calibri" pitchFamily="34" charset="-122"/>
                <a:cs typeface="Calibri" pitchFamily="34" charset="-120"/>
              </a:rPr>
              <a:t>ammonia + nitric acid → </a:t>
            </a:r>
            <a:r>
              <a:rPr lang="en-US" sz="1000" b="1" dirty="0">
                <a:solidFill>
                  <a:srgbClr val="262B3A"/>
                </a:solidFill>
                <a:latin typeface="Calibri" pitchFamily="34" charset="0"/>
                <a:ea typeface="Calibri" pitchFamily="34" charset="-122"/>
                <a:cs typeface="Calibri" pitchFamily="34" charset="-120"/>
              </a:rPr>
              <a:t>ammonium nitrate</a:t>
            </a:r>
            <a:r>
              <a:rPr lang="en-US" sz="1000" dirty="0">
                <a:solidFill>
                  <a:srgbClr val="262B3A"/>
                </a:solidFill>
                <a:latin typeface="Calibri" pitchFamily="34" charset="0"/>
                <a:ea typeface="Calibri" pitchFamily="34" charset="-122"/>
                <a:cs typeface="Calibri" pitchFamily="34" charset="-120"/>
              </a:rPr>
              <a:t>, NH₄NO₃</a:t>
            </a:r>
            <a:endParaRPr lang="en-US" sz="1000" dirty="0"/>
          </a:p>
        </p:txBody>
      </p:sp>
      <p:sp>
        <p:nvSpPr>
          <p:cNvPr id="15" name="Shape 13"/>
          <p:cNvSpPr/>
          <p:nvPr/>
        </p:nvSpPr>
        <p:spPr>
          <a:xfrm>
            <a:off x="3337560" y="1325880"/>
            <a:ext cx="2468880" cy="1143000"/>
          </a:xfrm>
          <a:prstGeom prst="roundRect">
            <a:avLst>
              <a:gd name="adj" fmla="val 4800"/>
            </a:avLst>
          </a:prstGeom>
          <a:solidFill>
            <a:srgbClr val="FDECEC"/>
          </a:solidFill>
          <a:ln w="15875">
            <a:solidFill>
              <a:srgbClr val="C8414C"/>
            </a:solidFill>
            <a:prstDash val="solid"/>
          </a:ln>
        </p:spPr>
      </p:sp>
      <p:sp>
        <p:nvSpPr>
          <p:cNvPr id="16" name="Text 14"/>
          <p:cNvSpPr/>
          <p:nvPr/>
        </p:nvSpPr>
        <p:spPr>
          <a:xfrm>
            <a:off x="3429000" y="1371600"/>
            <a:ext cx="2286000" cy="274320"/>
          </a:xfrm>
          <a:prstGeom prst="rect">
            <a:avLst/>
          </a:prstGeom>
          <a:noFill/>
          <a:ln/>
        </p:spPr>
        <p:txBody>
          <a:bodyPr wrap="square" lIns="0" tIns="0" rIns="0" bIns="0" rtlCol="0" anchor="ctr"/>
          <a:lstStyle/>
          <a:p>
            <a:pPr algn="ctr" indent="0" marL="0">
              <a:buNone/>
            </a:pPr>
            <a:r>
              <a:rPr lang="en-US" sz="1150" b="1" dirty="0">
                <a:solidFill>
                  <a:srgbClr val="C8414C"/>
                </a:solidFill>
                <a:latin typeface="Calibri" pitchFamily="34" charset="0"/>
                <a:ea typeface="Calibri" pitchFamily="34" charset="-122"/>
                <a:cs typeface="Calibri" pitchFamily="34" charset="-120"/>
              </a:rPr>
              <a:t>Medicines</a:t>
            </a:r>
            <a:endParaRPr lang="en-US" sz="1150" dirty="0"/>
          </a:p>
        </p:txBody>
      </p:sp>
      <p:sp>
        <p:nvSpPr>
          <p:cNvPr id="17" name="Text 15"/>
          <p:cNvSpPr/>
          <p:nvPr/>
        </p:nvSpPr>
        <p:spPr>
          <a:xfrm>
            <a:off x="3429000" y="1655064"/>
            <a:ext cx="2286000" cy="749808"/>
          </a:xfrm>
          <a:prstGeom prst="rect">
            <a:avLst/>
          </a:prstGeom>
          <a:noFill/>
          <a:ln/>
        </p:spPr>
        <p:txBody>
          <a:bodyPr wrap="square" lIns="0" tIns="0" rIns="0" bIns="0" rtlCol="0" anchor="t"/>
          <a:lstStyle/>
          <a:p>
            <a:pPr algn="ctr" indent="0" marL="0">
              <a:buNone/>
            </a:pPr>
            <a:r>
              <a:rPr lang="en-US" sz="1000" dirty="0">
                <a:solidFill>
                  <a:srgbClr val="262B3A"/>
                </a:solidFill>
                <a:latin typeface="Calibri" pitchFamily="34" charset="0"/>
                <a:ea typeface="Calibri" pitchFamily="34" charset="-122"/>
                <a:cs typeface="Calibri" pitchFamily="34" charset="-120"/>
              </a:rPr>
              <a:t>antacids: Mg(OH)₂ + 2HCl → </a:t>
            </a:r>
            <a:r>
              <a:rPr lang="en-US" sz="1000" b="1" dirty="0">
                <a:solidFill>
                  <a:srgbClr val="262B3A"/>
                </a:solidFill>
                <a:latin typeface="Calibri" pitchFamily="34" charset="0"/>
                <a:ea typeface="Calibri" pitchFamily="34" charset="-122"/>
                <a:cs typeface="Calibri" pitchFamily="34" charset="-120"/>
              </a:rPr>
              <a:t>MgCl₂</a:t>
            </a:r>
            <a:r>
              <a:rPr lang="en-US" sz="1000" dirty="0">
                <a:solidFill>
                  <a:srgbClr val="262B3A"/>
                </a:solidFill>
                <a:latin typeface="Calibri" pitchFamily="34" charset="0"/>
                <a:ea typeface="Calibri" pitchFamily="34" charset="-122"/>
                <a:cs typeface="Calibri" pitchFamily="34" charset="-120"/>
              </a:rPr>
              <a:t> + 2H₂O</a:t>
            </a:r>
            <a:endParaRPr lang="en-US" sz="1000" dirty="0"/>
          </a:p>
        </p:txBody>
      </p:sp>
      <p:sp>
        <p:nvSpPr>
          <p:cNvPr id="18" name="Shape 16"/>
          <p:cNvSpPr/>
          <p:nvPr/>
        </p:nvSpPr>
        <p:spPr>
          <a:xfrm>
            <a:off x="594360" y="3886200"/>
            <a:ext cx="2468880" cy="1143000"/>
          </a:xfrm>
          <a:prstGeom prst="roundRect">
            <a:avLst>
              <a:gd name="adj" fmla="val 4800"/>
            </a:avLst>
          </a:prstGeom>
          <a:solidFill>
            <a:srgbClr val="FFF4E0"/>
          </a:solidFill>
          <a:ln w="15875">
            <a:solidFill>
              <a:srgbClr val="B8730A"/>
            </a:solidFill>
            <a:prstDash val="solid"/>
          </a:ln>
        </p:spPr>
      </p:sp>
      <p:sp>
        <p:nvSpPr>
          <p:cNvPr id="19" name="Text 17"/>
          <p:cNvSpPr/>
          <p:nvPr/>
        </p:nvSpPr>
        <p:spPr>
          <a:xfrm>
            <a:off x="685800" y="3931920"/>
            <a:ext cx="2286000" cy="274320"/>
          </a:xfrm>
          <a:prstGeom prst="rect">
            <a:avLst/>
          </a:prstGeom>
          <a:noFill/>
          <a:ln/>
        </p:spPr>
        <p:txBody>
          <a:bodyPr wrap="square" lIns="0" tIns="0" rIns="0" bIns="0" rtlCol="0" anchor="ctr"/>
          <a:lstStyle/>
          <a:p>
            <a:pPr algn="ctr" indent="0" marL="0">
              <a:buNone/>
            </a:pPr>
            <a:r>
              <a:rPr lang="en-US" sz="1150" b="1" dirty="0">
                <a:solidFill>
                  <a:srgbClr val="B8730A"/>
                </a:solidFill>
                <a:latin typeface="Calibri" pitchFamily="34" charset="0"/>
                <a:ea typeface="Calibri" pitchFamily="34" charset="-122"/>
                <a:cs typeface="Calibri" pitchFamily="34" charset="-120"/>
              </a:rPr>
              <a:t>Food</a:t>
            </a:r>
            <a:endParaRPr lang="en-US" sz="1150" dirty="0"/>
          </a:p>
        </p:txBody>
      </p:sp>
      <p:sp>
        <p:nvSpPr>
          <p:cNvPr id="20" name="Text 18"/>
          <p:cNvSpPr/>
          <p:nvPr/>
        </p:nvSpPr>
        <p:spPr>
          <a:xfrm>
            <a:off x="685800" y="4215384"/>
            <a:ext cx="2286000" cy="749808"/>
          </a:xfrm>
          <a:prstGeom prst="rect">
            <a:avLst/>
          </a:prstGeom>
          <a:noFill/>
          <a:ln/>
        </p:spPr>
        <p:txBody>
          <a:bodyPr wrap="square" lIns="0" tIns="0" rIns="0" bIns="0" rtlCol="0" anchor="t"/>
          <a:lstStyle/>
          <a:p>
            <a:pPr algn="ctr" indent="0" marL="0">
              <a:buNone/>
            </a:pPr>
            <a:r>
              <a:rPr lang="en-US" sz="1000" dirty="0">
                <a:solidFill>
                  <a:srgbClr val="262B3A"/>
                </a:solidFill>
                <a:latin typeface="Calibri" pitchFamily="34" charset="0"/>
                <a:ea typeface="Calibri" pitchFamily="34" charset="-122"/>
                <a:cs typeface="Calibri" pitchFamily="34" charset="-120"/>
              </a:rPr>
              <a:t>baking powder: hydrogencarbonate + acid → </a:t>
            </a:r>
            <a:r>
              <a:rPr lang="en-US" sz="1000" b="1" dirty="0">
                <a:solidFill>
                  <a:srgbClr val="262B3A"/>
                </a:solidFill>
                <a:latin typeface="Calibri" pitchFamily="34" charset="0"/>
                <a:ea typeface="Calibri" pitchFamily="34" charset="-122"/>
                <a:cs typeface="Calibri" pitchFamily="34" charset="-120"/>
              </a:rPr>
              <a:t>CO₂</a:t>
            </a:r>
            <a:r>
              <a:rPr lang="en-US" sz="1000" dirty="0">
                <a:solidFill>
                  <a:srgbClr val="262B3A"/>
                </a:solidFill>
                <a:latin typeface="Calibri" pitchFamily="34" charset="0"/>
                <a:ea typeface="Calibri" pitchFamily="34" charset="-122"/>
                <a:cs typeface="Calibri" pitchFamily="34" charset="-120"/>
              </a:rPr>
              <a:t> makes cakes rise</a:t>
            </a:r>
            <a:endParaRPr lang="en-US" sz="1000" dirty="0"/>
          </a:p>
        </p:txBody>
      </p:sp>
      <p:sp>
        <p:nvSpPr>
          <p:cNvPr id="21" name="Shape 19"/>
          <p:cNvSpPr/>
          <p:nvPr/>
        </p:nvSpPr>
        <p:spPr>
          <a:xfrm>
            <a:off x="3337560" y="3886200"/>
            <a:ext cx="2468880" cy="1143000"/>
          </a:xfrm>
          <a:prstGeom prst="roundRect">
            <a:avLst>
              <a:gd name="adj" fmla="val 4800"/>
            </a:avLst>
          </a:prstGeom>
          <a:solidFill>
            <a:srgbClr val="EAF2FB"/>
          </a:solidFill>
          <a:ln w="15875">
            <a:solidFill>
              <a:srgbClr val="2F5FA8"/>
            </a:solidFill>
            <a:prstDash val="solid"/>
          </a:ln>
        </p:spPr>
      </p:sp>
      <p:sp>
        <p:nvSpPr>
          <p:cNvPr id="22" name="Text 20"/>
          <p:cNvSpPr/>
          <p:nvPr/>
        </p:nvSpPr>
        <p:spPr>
          <a:xfrm>
            <a:off x="3429000" y="3931920"/>
            <a:ext cx="2286000" cy="274320"/>
          </a:xfrm>
          <a:prstGeom prst="rect">
            <a:avLst/>
          </a:prstGeom>
          <a:noFill/>
          <a:ln/>
        </p:spPr>
        <p:txBody>
          <a:bodyPr wrap="square" lIns="0" tIns="0" rIns="0" bIns="0" rtlCol="0" anchor="ctr"/>
          <a:lstStyle/>
          <a:p>
            <a:pPr algn="ctr" indent="0" marL="0">
              <a:buNone/>
            </a:pPr>
            <a:r>
              <a:rPr lang="en-US" sz="1150" b="1" dirty="0">
                <a:solidFill>
                  <a:srgbClr val="2F5FA8"/>
                </a:solidFill>
                <a:latin typeface="Calibri" pitchFamily="34" charset="0"/>
                <a:ea typeface="Calibri" pitchFamily="34" charset="-122"/>
                <a:cs typeface="Calibri" pitchFamily="34" charset="-120"/>
              </a:rPr>
              <a:t>Cleaning</a:t>
            </a:r>
            <a:endParaRPr lang="en-US" sz="1150" dirty="0"/>
          </a:p>
        </p:txBody>
      </p:sp>
      <p:sp>
        <p:nvSpPr>
          <p:cNvPr id="23" name="Text 21"/>
          <p:cNvSpPr/>
          <p:nvPr/>
        </p:nvSpPr>
        <p:spPr>
          <a:xfrm>
            <a:off x="3429000" y="4215384"/>
            <a:ext cx="2286000" cy="749808"/>
          </a:xfrm>
          <a:prstGeom prst="rect">
            <a:avLst/>
          </a:prstGeom>
          <a:noFill/>
          <a:ln/>
        </p:spPr>
        <p:txBody>
          <a:bodyPr wrap="square" lIns="0" tIns="0" rIns="0" bIns="0" rtlCol="0" anchor="t"/>
          <a:lstStyle/>
          <a:p>
            <a:pPr algn="ctr" indent="0" marL="0">
              <a:buNone/>
            </a:pPr>
            <a:r>
              <a:rPr lang="en-US" sz="1000" dirty="0">
                <a:solidFill>
                  <a:srgbClr val="262B3A"/>
                </a:solidFill>
                <a:latin typeface="Calibri" pitchFamily="34" charset="0"/>
                <a:ea typeface="Calibri" pitchFamily="34" charset="-122"/>
                <a:cs typeface="Calibri" pitchFamily="34" charset="-120"/>
              </a:rPr>
              <a:t>descalers: acid + </a:t>
            </a:r>
            <a:r>
              <a:rPr lang="en-US" sz="1000" b="1" dirty="0">
                <a:solidFill>
                  <a:srgbClr val="262B3A"/>
                </a:solidFill>
                <a:latin typeface="Calibri" pitchFamily="34" charset="0"/>
                <a:ea typeface="Calibri" pitchFamily="34" charset="-122"/>
                <a:cs typeface="Calibri" pitchFamily="34" charset="-120"/>
              </a:rPr>
              <a:t>limescale</a:t>
            </a:r>
            <a:r>
              <a:rPr lang="en-US" sz="1000" dirty="0">
                <a:solidFill>
                  <a:srgbClr val="262B3A"/>
                </a:solidFill>
                <a:latin typeface="Calibri" pitchFamily="34" charset="0"/>
                <a:ea typeface="Calibri" pitchFamily="34" charset="-122"/>
                <a:cs typeface="Calibri" pitchFamily="34" charset="-120"/>
              </a:rPr>
              <a:t> (CaCO₃) → soluble salt + CO₂</a:t>
            </a:r>
            <a:endParaRPr lang="en-US" sz="1000" dirty="0"/>
          </a:p>
        </p:txBody>
      </p:sp>
      <p:sp>
        <p:nvSpPr>
          <p:cNvPr id="24" name="Shape 22"/>
          <p:cNvSpPr/>
          <p:nvPr/>
        </p:nvSpPr>
        <p:spPr>
          <a:xfrm flipH="1" flipV="1">
            <a:off x="1828800" y="2468880"/>
            <a:ext cx="502920" cy="274320"/>
          </a:xfrm>
          <a:prstGeom prst="line">
            <a:avLst/>
          </a:prstGeom>
          <a:noFill/>
          <a:ln w="19050">
            <a:solidFill>
              <a:srgbClr val="6A3FA0"/>
            </a:solidFill>
            <a:prstDash val="solid"/>
            <a:tailEnd type="triangle"/>
          </a:ln>
        </p:spPr>
      </p:sp>
      <p:sp>
        <p:nvSpPr>
          <p:cNvPr id="25" name="Shape 23"/>
          <p:cNvSpPr/>
          <p:nvPr/>
        </p:nvSpPr>
        <p:spPr>
          <a:xfrm flipH="1" flipV="1">
            <a:off x="3977640" y="2468880"/>
            <a:ext cx="91440" cy="274320"/>
          </a:xfrm>
          <a:prstGeom prst="line">
            <a:avLst/>
          </a:prstGeom>
          <a:noFill/>
          <a:ln w="19050">
            <a:solidFill>
              <a:srgbClr val="6A3FA0"/>
            </a:solidFill>
            <a:prstDash val="solid"/>
            <a:tailEnd type="triangle"/>
          </a:ln>
        </p:spPr>
      </p:sp>
      <p:sp>
        <p:nvSpPr>
          <p:cNvPr id="26" name="Shape 24"/>
          <p:cNvSpPr/>
          <p:nvPr/>
        </p:nvSpPr>
        <p:spPr>
          <a:xfrm flipH="1">
            <a:off x="1828800" y="3566160"/>
            <a:ext cx="502920" cy="320040"/>
          </a:xfrm>
          <a:prstGeom prst="line">
            <a:avLst/>
          </a:prstGeom>
          <a:noFill/>
          <a:ln w="19050">
            <a:solidFill>
              <a:srgbClr val="6A3FA0"/>
            </a:solidFill>
            <a:prstDash val="solid"/>
            <a:tailEnd type="triangle"/>
          </a:ln>
        </p:spPr>
      </p:sp>
      <p:sp>
        <p:nvSpPr>
          <p:cNvPr id="27" name="Shape 25"/>
          <p:cNvSpPr/>
          <p:nvPr/>
        </p:nvSpPr>
        <p:spPr>
          <a:xfrm flipH="1">
            <a:off x="3977640" y="3566160"/>
            <a:ext cx="91440" cy="320040"/>
          </a:xfrm>
          <a:prstGeom prst="line">
            <a:avLst/>
          </a:prstGeom>
          <a:noFill/>
          <a:ln w="19050">
            <a:solidFill>
              <a:srgbClr val="6A3FA0"/>
            </a:solidFill>
            <a:prstDash val="solid"/>
            <a:tailEnd type="triangle"/>
          </a:ln>
        </p:spPr>
      </p:sp>
      <p:sp>
        <p:nvSpPr>
          <p:cNvPr id="28" name="Text 26"/>
          <p:cNvSpPr/>
          <p:nvPr/>
        </p:nvSpPr>
        <p:spPr>
          <a:xfrm>
            <a:off x="594360" y="5120640"/>
            <a:ext cx="512064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Also: Epsom salts (MgSO₄), plaster (CaSO₄), food additives (e.g. calcium chloride)</a:t>
            </a:r>
            <a:endParaRPr lang="en-US" sz="1000" dirty="0"/>
          </a:p>
        </p:txBody>
      </p:sp>
      <p:sp>
        <p:nvSpPr>
          <p:cNvPr id="29" name="Shape 27"/>
          <p:cNvSpPr/>
          <p:nvPr/>
        </p:nvSpPr>
        <p:spPr>
          <a:xfrm>
            <a:off x="6217920" y="1188720"/>
            <a:ext cx="5562295" cy="3200400"/>
          </a:xfrm>
          <a:prstGeom prst="roundRect">
            <a:avLst>
              <a:gd name="adj" fmla="val 1714"/>
            </a:avLst>
          </a:prstGeom>
          <a:solidFill>
            <a:srgbClr val="F8F5FC"/>
          </a:solidFill>
          <a:ln w="9525">
            <a:solidFill>
              <a:srgbClr val="DDD3EC"/>
            </a:solidFill>
            <a:prstDash val="solid"/>
          </a:ln>
        </p:spPr>
      </p:sp>
      <p:sp>
        <p:nvSpPr>
          <p:cNvPr id="30" name="Text 28"/>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2A1F3D"/>
                </a:solidFill>
                <a:latin typeface="Calibri" pitchFamily="34" charset="0"/>
                <a:ea typeface="Calibri" pitchFamily="34" charset="-122"/>
                <a:cs typeface="Calibri" pitchFamily="34" charset="-120"/>
              </a:rPr>
              <a:t>Why make salts?</a:t>
            </a:r>
            <a:endParaRPr lang="en-US" sz="1300" dirty="0"/>
          </a:p>
        </p:txBody>
      </p:sp>
      <p:sp>
        <p:nvSpPr>
          <p:cNvPr id="31" name="Text 29"/>
          <p:cNvSpPr/>
          <p:nvPr/>
        </p:nvSpPr>
        <p:spPr>
          <a:xfrm>
            <a:off x="6382512" y="1609344"/>
            <a:ext cx="5233111" cy="2706624"/>
          </a:xfrm>
          <a:prstGeom prst="rect">
            <a:avLst/>
          </a:prstGeom>
          <a:noFill/>
          <a:ln/>
        </p:spPr>
        <p:txBody>
          <a:bodyPr wrap="square" lIns="0" tIns="0" rIns="0" bIns="0" rtlCol="0" anchor="t"/>
          <a:lstStyle/>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Many products need </a:t>
            </a:r>
            <a:r>
              <a:rPr lang="en-US" sz="1100" b="1" dirty="0">
                <a:solidFill>
                  <a:srgbClr val="262B3A"/>
                </a:solidFill>
                <a:latin typeface="Calibri" pitchFamily="34" charset="0"/>
                <a:ea typeface="Calibri" pitchFamily="34" charset="-122"/>
                <a:cs typeface="Calibri" pitchFamily="34" charset="-120"/>
              </a:rPr>
              <a:t>ingredients made by reacting acids</a:t>
            </a:r>
            <a:r>
              <a:rPr lang="en-US" sz="1100" dirty="0">
                <a:solidFill>
                  <a:srgbClr val="262B3A"/>
                </a:solidFill>
                <a:latin typeface="Calibri" pitchFamily="34" charset="0"/>
                <a:ea typeface="Calibri" pitchFamily="34" charset="-122"/>
                <a:cs typeface="Calibri" pitchFamily="34" charset="-120"/>
              </a:rPr>
              <a:t>: cleaning products, food additives, medicines and dyes.</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Acids are used on an </a:t>
            </a:r>
            <a:r>
              <a:rPr lang="en-US" sz="1100" b="1" dirty="0">
                <a:solidFill>
                  <a:srgbClr val="262B3A"/>
                </a:solidFill>
                <a:latin typeface="Calibri" pitchFamily="34" charset="0"/>
                <a:ea typeface="Calibri" pitchFamily="34" charset="-122"/>
                <a:cs typeface="Calibri" pitchFamily="34" charset="-120"/>
              </a:rPr>
              <a:t>industrial scale</a:t>
            </a:r>
            <a:r>
              <a:rPr lang="en-US" sz="1100" dirty="0">
                <a:solidFill>
                  <a:srgbClr val="262B3A"/>
                </a:solidFill>
                <a:latin typeface="Calibri" pitchFamily="34" charset="0"/>
                <a:ea typeface="Calibri" pitchFamily="34" charset="-122"/>
                <a:cs typeface="Calibri" pitchFamily="34" charset="-120"/>
              </a:rPr>
              <a:t> to make chemicals such as </a:t>
            </a:r>
            <a:r>
              <a:rPr lang="en-US" sz="1100" b="1" dirty="0">
                <a:solidFill>
                  <a:srgbClr val="262B3A"/>
                </a:solidFill>
                <a:latin typeface="Calibri" pitchFamily="34" charset="0"/>
                <a:ea typeface="Calibri" pitchFamily="34" charset="-122"/>
                <a:cs typeface="Calibri" pitchFamily="34" charset="-120"/>
              </a:rPr>
              <a:t>fertilisers</a:t>
            </a:r>
            <a:r>
              <a:rPr lang="en-US" sz="1100" dirty="0">
                <a:solidFill>
                  <a:srgbClr val="262B3A"/>
                </a:solidFill>
                <a:latin typeface="Calibri" pitchFamily="34" charset="0"/>
                <a:ea typeface="Calibri" pitchFamily="34" charset="-122"/>
                <a:cs typeface="Calibri" pitchFamily="34" charset="-120"/>
              </a:rPr>
              <a:t>.</a:t>
            </a:r>
            <a:endParaRPr lang="en-US" sz="1100" dirty="0"/>
          </a:p>
          <a:p>
            <a:pPr marL="152400" indent="-152400">
              <a:spcAft>
                <a:spcPts val="300"/>
              </a:spcAft>
              <a:buSzPct val="100000"/>
              <a:buChar char="▪"/>
            </a:pPr>
            <a:r>
              <a:rPr lang="en-US" sz="1100" b="1" dirty="0">
                <a:solidFill>
                  <a:srgbClr val="262B3A"/>
                </a:solidFill>
                <a:latin typeface="Calibri" pitchFamily="34" charset="0"/>
                <a:ea typeface="Calibri" pitchFamily="34" charset="-122"/>
                <a:cs typeface="Calibri" pitchFamily="34" charset="-120"/>
              </a:rPr>
              <a:t>Ammonium salts</a:t>
            </a:r>
            <a:r>
              <a:rPr lang="en-US" sz="1100" dirty="0">
                <a:solidFill>
                  <a:srgbClr val="262B3A"/>
                </a:solidFill>
                <a:latin typeface="Calibri" pitchFamily="34" charset="0"/>
                <a:ea typeface="Calibri" pitchFamily="34" charset="-122"/>
                <a:cs typeface="Calibri" pitchFamily="34" charset="-120"/>
              </a:rPr>
              <a:t> are made from </a:t>
            </a:r>
            <a:r>
              <a:rPr lang="en-US" sz="1100" b="1" dirty="0">
                <a:solidFill>
                  <a:srgbClr val="262B3A"/>
                </a:solidFill>
                <a:latin typeface="Calibri" pitchFamily="34" charset="0"/>
                <a:ea typeface="Calibri" pitchFamily="34" charset="-122"/>
                <a:cs typeface="Calibri" pitchFamily="34" charset="-120"/>
              </a:rPr>
              <a:t>ammonia</a:t>
            </a:r>
            <a:r>
              <a:rPr lang="en-US" sz="1100" dirty="0">
                <a:solidFill>
                  <a:srgbClr val="262B3A"/>
                </a:solidFill>
                <a:latin typeface="Calibri" pitchFamily="34" charset="0"/>
                <a:ea typeface="Calibri" pitchFamily="34" charset="-122"/>
                <a:cs typeface="Calibri" pitchFamily="34" charset="-120"/>
              </a:rPr>
              <a:t> (an alkali) and an acid. They supply </a:t>
            </a:r>
            <a:r>
              <a:rPr lang="en-US" sz="1100" b="1" dirty="0">
                <a:solidFill>
                  <a:srgbClr val="262B3A"/>
                </a:solidFill>
                <a:latin typeface="Calibri" pitchFamily="34" charset="0"/>
                <a:ea typeface="Calibri" pitchFamily="34" charset="-122"/>
                <a:cs typeface="Calibri" pitchFamily="34" charset="-120"/>
              </a:rPr>
              <a:t>nitrogen</a:t>
            </a:r>
            <a:r>
              <a:rPr lang="en-US" sz="1100" dirty="0">
                <a:solidFill>
                  <a:srgbClr val="262B3A"/>
                </a:solidFill>
                <a:latin typeface="Calibri" pitchFamily="34" charset="0"/>
                <a:ea typeface="Calibri" pitchFamily="34" charset="-122"/>
                <a:cs typeface="Calibri" pitchFamily="34" charset="-120"/>
              </a:rPr>
              <a:t> to plants.</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Antacids are </a:t>
            </a:r>
            <a:r>
              <a:rPr lang="en-US" sz="1100" b="1" dirty="0">
                <a:solidFill>
                  <a:srgbClr val="262B3A"/>
                </a:solidFill>
                <a:latin typeface="Calibri" pitchFamily="34" charset="0"/>
                <a:ea typeface="Calibri" pitchFamily="34" charset="-122"/>
                <a:cs typeface="Calibri" pitchFamily="34" charset="-120"/>
              </a:rPr>
              <a:t>bases</a:t>
            </a:r>
            <a:r>
              <a:rPr lang="en-US" sz="1100" dirty="0">
                <a:solidFill>
                  <a:srgbClr val="262B3A"/>
                </a:solidFill>
                <a:latin typeface="Calibri" pitchFamily="34" charset="0"/>
                <a:ea typeface="Calibri" pitchFamily="34" charset="-122"/>
                <a:cs typeface="Calibri" pitchFamily="34" charset="-120"/>
              </a:rPr>
              <a:t>: they neutralise excess stomach acid (HCl) to relieve indigestion.</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Choosing the reactants: pick the </a:t>
            </a:r>
            <a:r>
              <a:rPr lang="en-US" sz="1100" b="1" dirty="0">
                <a:solidFill>
                  <a:srgbClr val="262B3A"/>
                </a:solidFill>
                <a:latin typeface="Calibri" pitchFamily="34" charset="0"/>
                <a:ea typeface="Calibri" pitchFamily="34" charset="-122"/>
                <a:cs typeface="Calibri" pitchFamily="34" charset="-120"/>
              </a:rPr>
              <a:t>acid</a:t>
            </a:r>
            <a:r>
              <a:rPr lang="en-US" sz="1100" dirty="0">
                <a:solidFill>
                  <a:srgbClr val="262B3A"/>
                </a:solidFill>
                <a:latin typeface="Calibri" pitchFamily="34" charset="0"/>
                <a:ea typeface="Calibri" pitchFamily="34" charset="-122"/>
                <a:cs typeface="Calibri" pitchFamily="34" charset="-120"/>
              </a:rPr>
              <a:t> that gives the right negative ion and the </a:t>
            </a:r>
            <a:r>
              <a:rPr lang="en-US" sz="1100" b="1" dirty="0">
                <a:solidFill>
                  <a:srgbClr val="262B3A"/>
                </a:solidFill>
                <a:latin typeface="Calibri" pitchFamily="34" charset="0"/>
                <a:ea typeface="Calibri" pitchFamily="34" charset="-122"/>
                <a:cs typeface="Calibri" pitchFamily="34" charset="-120"/>
              </a:rPr>
              <a:t>base or carbonate</a:t>
            </a:r>
            <a:r>
              <a:rPr lang="en-US" sz="1100" dirty="0">
                <a:solidFill>
                  <a:srgbClr val="262B3A"/>
                </a:solidFill>
                <a:latin typeface="Calibri" pitchFamily="34" charset="0"/>
                <a:ea typeface="Calibri" pitchFamily="34" charset="-122"/>
                <a:cs typeface="Calibri" pitchFamily="34" charset="-120"/>
              </a:rPr>
              <a:t> that gives the right positive ion.</a:t>
            </a:r>
            <a:endParaRPr lang="en-US" sz="1100" dirty="0"/>
          </a:p>
        </p:txBody>
      </p:sp>
      <p:sp>
        <p:nvSpPr>
          <p:cNvPr id="32" name="Shape 30"/>
          <p:cNvSpPr/>
          <p:nvPr/>
        </p:nvSpPr>
        <p:spPr>
          <a:xfrm>
            <a:off x="6217920" y="4526280"/>
            <a:ext cx="5562295" cy="1188720"/>
          </a:xfrm>
          <a:prstGeom prst="roundRect">
            <a:avLst>
              <a:gd name="adj" fmla="val 4615"/>
            </a:avLst>
          </a:prstGeom>
          <a:solidFill>
            <a:srgbClr val="FFF4E0"/>
          </a:solidFill>
          <a:ln w="9525">
            <a:solidFill>
              <a:srgbClr val="F1D9A8"/>
            </a:solidFill>
            <a:prstDash val="solid"/>
          </a:ln>
        </p:spPr>
      </p:sp>
      <p:sp>
        <p:nvSpPr>
          <p:cNvPr id="33" name="Text 31"/>
          <p:cNvSpPr/>
          <p:nvPr/>
        </p:nvSpPr>
        <p:spPr>
          <a:xfrm>
            <a:off x="6382512" y="459943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 a fertiliser</a:t>
            </a:r>
            <a:endParaRPr lang="en-US" sz="1300" dirty="0"/>
          </a:p>
        </p:txBody>
      </p:sp>
      <p:sp>
        <p:nvSpPr>
          <p:cNvPr id="34" name="Text 32"/>
          <p:cNvSpPr/>
          <p:nvPr/>
        </p:nvSpPr>
        <p:spPr>
          <a:xfrm>
            <a:off x="6382512" y="4910328"/>
            <a:ext cx="5233111" cy="73152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Which reactants make ammonium sulfate, (NH₄)₂SO₄?</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1 Choose   </a:t>
            </a:r>
            <a:r>
              <a:rPr lang="en-US" sz="1050" dirty="0">
                <a:solidFill>
                  <a:srgbClr val="262B3A"/>
                </a:solidFill>
                <a:latin typeface="Calibri" pitchFamily="34" charset="0"/>
                <a:ea typeface="Calibri" pitchFamily="34" charset="-122"/>
                <a:cs typeface="Calibri" pitchFamily="34" charset="-120"/>
              </a:rPr>
              <a:t>ammonia (gives NH₄⁺) + sulfuric acid (gives SO₄²⁻)</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2 Answer   </a:t>
            </a:r>
            <a:r>
              <a:rPr lang="en-US" sz="1050" b="1" dirty="0">
                <a:solidFill>
                  <a:srgbClr val="C8414C"/>
                </a:solidFill>
                <a:latin typeface="Calibri" pitchFamily="34" charset="0"/>
                <a:ea typeface="Calibri" pitchFamily="34" charset="-122"/>
                <a:cs typeface="Calibri" pitchFamily="34" charset="-120"/>
              </a:rPr>
              <a:t>2NH₃(aq) + H₂SO₄(aq) → (NH₄)₂SO₄(aq)</a:t>
            </a:r>
            <a:endParaRPr lang="en-US" sz="1050" dirty="0"/>
          </a:p>
        </p:txBody>
      </p:sp>
      <p:sp>
        <p:nvSpPr>
          <p:cNvPr id="35" name="Shape 33"/>
          <p:cNvSpPr/>
          <p:nvPr/>
        </p:nvSpPr>
        <p:spPr>
          <a:xfrm>
            <a:off x="411480" y="5833872"/>
            <a:ext cx="11368735" cy="530352"/>
          </a:xfrm>
          <a:prstGeom prst="rect">
            <a:avLst/>
          </a:prstGeom>
          <a:solidFill>
            <a:srgbClr val="FFF4E0"/>
          </a:solidFill>
          <a:ln w="6350">
            <a:solidFill>
              <a:srgbClr val="F1D9A8"/>
            </a:solidFill>
            <a:prstDash val="solid"/>
          </a:ln>
        </p:spPr>
      </p:sp>
      <p:sp>
        <p:nvSpPr>
          <p:cNvPr id="36" name="Shape 34"/>
          <p:cNvSpPr/>
          <p:nvPr/>
        </p:nvSpPr>
        <p:spPr>
          <a:xfrm>
            <a:off x="411480" y="5833872"/>
            <a:ext cx="82296" cy="530352"/>
          </a:xfrm>
          <a:prstGeom prst="rect">
            <a:avLst/>
          </a:prstGeom>
          <a:solidFill>
            <a:srgbClr val="E39A2F"/>
          </a:solidFill>
          <a:ln w="12700">
            <a:solidFill>
              <a:srgbClr val="E39A2F"/>
            </a:solidFill>
            <a:prstDash val="solid"/>
          </a:ln>
        </p:spPr>
      </p:sp>
      <p:sp>
        <p:nvSpPr>
          <p:cNvPr id="37" name="Text 35"/>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Name the acid and the base you would use to make </a:t>
            </a:r>
            <a:r>
              <a:rPr lang="en-US" sz="1150" b="1" dirty="0">
                <a:solidFill>
                  <a:srgbClr val="262B3A"/>
                </a:solidFill>
                <a:latin typeface="Calibri" pitchFamily="34" charset="0"/>
                <a:ea typeface="Calibri" pitchFamily="34" charset="-122"/>
                <a:cs typeface="Calibri" pitchFamily="34" charset="-120"/>
              </a:rPr>
              <a:t>potassium nitrate</a:t>
            </a:r>
            <a:r>
              <a:rPr lang="en-US" sz="1150" dirty="0">
                <a:solidFill>
                  <a:srgbClr val="262B3A"/>
                </a:solidFill>
                <a:latin typeface="Calibri" pitchFamily="34" charset="0"/>
                <a:ea typeface="Calibri" pitchFamily="34" charset="-122"/>
                <a:cs typeface="Calibri" pitchFamily="34" charset="-120"/>
              </a:rPr>
              <a:t> (a fertiliser). Write the balanced equation.</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Exam practice: recap 3</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Specification C6.1.1, C6.1.2 • predicting products • formulae • useful salts</a:t>
            </a:r>
            <a:endParaRPr lang="en-US" sz="1100" dirty="0"/>
          </a:p>
        </p:txBody>
      </p:sp>
      <p:sp>
        <p:nvSpPr>
          <p:cNvPr id="6" name="Text 4"/>
          <p:cNvSpPr/>
          <p:nvPr/>
        </p:nvSpPr>
        <p:spPr>
          <a:xfrm>
            <a:off x="411480" y="6473952"/>
            <a:ext cx="1014984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C6.1 What useful products can be made from acids?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Recap 3  |  14</a:t>
            </a:r>
            <a:endParaRPr lang="en-US" sz="1000" dirty="0"/>
          </a:p>
        </p:txBody>
      </p:sp>
      <p:sp>
        <p:nvSpPr>
          <p:cNvPr id="8" name="Shape 6"/>
          <p:cNvSpPr/>
          <p:nvPr/>
        </p:nvSpPr>
        <p:spPr>
          <a:xfrm>
            <a:off x="411480" y="1207008"/>
            <a:ext cx="11368735" cy="1159002"/>
          </a:xfrm>
          <a:prstGeom prst="roundRect">
            <a:avLst>
              <a:gd name="adj" fmla="val 3945"/>
            </a:avLst>
          </a:prstGeom>
          <a:solidFill>
            <a:srgbClr val="FFFFFF"/>
          </a:solidFill>
          <a:ln w="12700">
            <a:solidFill>
              <a:srgbClr val="DDD3EC"/>
            </a:solidFill>
            <a:prstDash val="solid"/>
          </a:ln>
        </p:spPr>
      </p:sp>
      <p:sp>
        <p:nvSpPr>
          <p:cNvPr id="9" name="Shape 7"/>
          <p:cNvSpPr/>
          <p:nvPr/>
        </p:nvSpPr>
        <p:spPr>
          <a:xfrm>
            <a:off x="411480" y="1207008"/>
            <a:ext cx="2103120" cy="292608"/>
          </a:xfrm>
          <a:prstGeom prst="rect">
            <a:avLst/>
          </a:prstGeom>
          <a:solidFill>
            <a:srgbClr val="F5A742"/>
          </a:solidFill>
          <a:ln w="12700">
            <a:solidFill>
              <a:srgbClr val="F5A742"/>
            </a:solidFill>
            <a:prstDash val="solid"/>
          </a:ln>
        </p:spPr>
      </p:sp>
      <p:sp>
        <p:nvSpPr>
          <p:cNvPr id="10" name="Text 8"/>
          <p:cNvSpPr/>
          <p:nvPr/>
        </p:nvSpPr>
        <p:spPr>
          <a:xfrm>
            <a:off x="411480" y="1207008"/>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1" name="Text 9"/>
          <p:cNvSpPr/>
          <p:nvPr/>
        </p:nvSpPr>
        <p:spPr>
          <a:xfrm>
            <a:off x="640080" y="1572768"/>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Use the ions </a:t>
            </a:r>
            <a:r>
              <a:rPr lang="en-US" sz="1250" b="1" dirty="0">
                <a:solidFill>
                  <a:srgbClr val="262B3A"/>
                </a:solidFill>
                <a:latin typeface="Calibri" pitchFamily="34" charset="0"/>
                <a:ea typeface="Calibri" pitchFamily="34" charset="-122"/>
                <a:cs typeface="Calibri" pitchFamily="34" charset="-120"/>
              </a:rPr>
              <a:t>Al³⁺</a:t>
            </a:r>
            <a:r>
              <a:rPr lang="en-US" sz="1250" dirty="0">
                <a:solidFill>
                  <a:srgbClr val="262B3A"/>
                </a:solidFill>
                <a:latin typeface="Calibri" pitchFamily="34" charset="0"/>
                <a:ea typeface="Calibri" pitchFamily="34" charset="-122"/>
                <a:cs typeface="Calibri" pitchFamily="34" charset="-120"/>
              </a:rPr>
              <a:t> and </a:t>
            </a:r>
            <a:r>
              <a:rPr lang="en-US" sz="1250" b="1" dirty="0">
                <a:solidFill>
                  <a:srgbClr val="262B3A"/>
                </a:solidFill>
                <a:latin typeface="Calibri" pitchFamily="34" charset="0"/>
                <a:ea typeface="Calibri" pitchFamily="34" charset="-122"/>
                <a:cs typeface="Calibri" pitchFamily="34" charset="-120"/>
              </a:rPr>
              <a:t>SO₄²⁻</a:t>
            </a:r>
            <a:r>
              <a:rPr lang="en-US" sz="1250" dirty="0">
                <a:solidFill>
                  <a:srgbClr val="262B3A"/>
                </a:solidFill>
                <a:latin typeface="Calibri" pitchFamily="34" charset="0"/>
                <a:ea typeface="Calibri" pitchFamily="34" charset="-122"/>
                <a:cs typeface="Calibri" pitchFamily="34" charset="-120"/>
              </a:rPr>
              <a:t> to work out the formula of </a:t>
            </a:r>
            <a:r>
              <a:rPr lang="en-US" sz="1250" b="1" dirty="0">
                <a:solidFill>
                  <a:srgbClr val="262B3A"/>
                </a:solidFill>
                <a:latin typeface="Calibri" pitchFamily="34" charset="0"/>
                <a:ea typeface="Calibri" pitchFamily="34" charset="-122"/>
                <a:cs typeface="Calibri" pitchFamily="34" charset="-120"/>
              </a:rPr>
              <a:t>aluminium sulfate</a:t>
            </a:r>
            <a:r>
              <a:rPr lang="en-US" sz="1250" dirty="0">
                <a:solidFill>
                  <a:srgbClr val="262B3A"/>
                </a:solidFill>
                <a:latin typeface="Calibri" pitchFamily="34" charset="0"/>
                <a:ea typeface="Calibri" pitchFamily="34" charset="-122"/>
                <a:cs typeface="Calibri" pitchFamily="34" charset="-120"/>
              </a:rPr>
              <a:t>. Show your reasoning.</a:t>
            </a:r>
            <a:endParaRPr lang="en-US" sz="1250" dirty="0"/>
          </a:p>
        </p:txBody>
      </p:sp>
      <p:sp>
        <p:nvSpPr>
          <p:cNvPr id="12" name="Text 10"/>
          <p:cNvSpPr/>
          <p:nvPr/>
        </p:nvSpPr>
        <p:spPr>
          <a:xfrm>
            <a:off x="10317175" y="1981962"/>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3" name="Shape 11"/>
          <p:cNvSpPr/>
          <p:nvPr/>
        </p:nvSpPr>
        <p:spPr>
          <a:xfrm>
            <a:off x="411480" y="2512314"/>
            <a:ext cx="11368735" cy="1159002"/>
          </a:xfrm>
          <a:prstGeom prst="roundRect">
            <a:avLst>
              <a:gd name="adj" fmla="val 3945"/>
            </a:avLst>
          </a:prstGeom>
          <a:solidFill>
            <a:srgbClr val="FFFFFF"/>
          </a:solidFill>
          <a:ln w="12700">
            <a:solidFill>
              <a:srgbClr val="DDD3EC"/>
            </a:solidFill>
            <a:prstDash val="solid"/>
          </a:ln>
        </p:spPr>
      </p:sp>
      <p:sp>
        <p:nvSpPr>
          <p:cNvPr id="14" name="Shape 12"/>
          <p:cNvSpPr/>
          <p:nvPr/>
        </p:nvSpPr>
        <p:spPr>
          <a:xfrm>
            <a:off x="411480" y="2512314"/>
            <a:ext cx="2103120" cy="292608"/>
          </a:xfrm>
          <a:prstGeom prst="rect">
            <a:avLst/>
          </a:prstGeom>
          <a:solidFill>
            <a:srgbClr val="F5A742"/>
          </a:solidFill>
          <a:ln w="12700">
            <a:solidFill>
              <a:srgbClr val="F5A742"/>
            </a:solidFill>
            <a:prstDash val="solid"/>
          </a:ln>
        </p:spPr>
      </p:sp>
      <p:sp>
        <p:nvSpPr>
          <p:cNvPr id="15" name="Text 13"/>
          <p:cNvSpPr/>
          <p:nvPr/>
        </p:nvSpPr>
        <p:spPr>
          <a:xfrm>
            <a:off x="411480" y="2512314"/>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6" name="Text 14"/>
          <p:cNvSpPr/>
          <p:nvPr/>
        </p:nvSpPr>
        <p:spPr>
          <a:xfrm>
            <a:off x="640080" y="2878074"/>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Balance and add state symbols: </a:t>
            </a:r>
            <a:r>
              <a:rPr lang="en-US" sz="1250" b="1" dirty="0">
                <a:solidFill>
                  <a:srgbClr val="262B3A"/>
                </a:solidFill>
                <a:latin typeface="Calibri" pitchFamily="34" charset="0"/>
                <a:ea typeface="Calibri" pitchFamily="34" charset="-122"/>
                <a:cs typeface="Calibri" pitchFamily="34" charset="-120"/>
              </a:rPr>
              <a:t>Na₂CO₃ + HCl → NaCl + H₂O + CO₂</a:t>
            </a:r>
            <a:endParaRPr lang="en-US" sz="1250" dirty="0"/>
          </a:p>
        </p:txBody>
      </p:sp>
      <p:sp>
        <p:nvSpPr>
          <p:cNvPr id="17" name="Text 15"/>
          <p:cNvSpPr/>
          <p:nvPr/>
        </p:nvSpPr>
        <p:spPr>
          <a:xfrm>
            <a:off x="10317175" y="3287268"/>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8" name="Shape 16"/>
          <p:cNvSpPr/>
          <p:nvPr/>
        </p:nvSpPr>
        <p:spPr>
          <a:xfrm>
            <a:off x="411480" y="3817620"/>
            <a:ext cx="11368735" cy="1159002"/>
          </a:xfrm>
          <a:prstGeom prst="roundRect">
            <a:avLst>
              <a:gd name="adj" fmla="val 3945"/>
            </a:avLst>
          </a:prstGeom>
          <a:solidFill>
            <a:srgbClr val="FFFFFF"/>
          </a:solidFill>
          <a:ln w="12700">
            <a:solidFill>
              <a:srgbClr val="DDD3EC"/>
            </a:solidFill>
            <a:prstDash val="solid"/>
          </a:ln>
        </p:spPr>
      </p:sp>
      <p:sp>
        <p:nvSpPr>
          <p:cNvPr id="19" name="Shape 17"/>
          <p:cNvSpPr/>
          <p:nvPr/>
        </p:nvSpPr>
        <p:spPr>
          <a:xfrm>
            <a:off x="411480" y="3817620"/>
            <a:ext cx="2103120" cy="292608"/>
          </a:xfrm>
          <a:prstGeom prst="rect">
            <a:avLst/>
          </a:prstGeom>
          <a:solidFill>
            <a:srgbClr val="F5A742"/>
          </a:solidFill>
          <a:ln w="12700">
            <a:solidFill>
              <a:srgbClr val="F5A742"/>
            </a:solidFill>
            <a:prstDash val="solid"/>
          </a:ln>
        </p:spPr>
      </p:sp>
      <p:sp>
        <p:nvSpPr>
          <p:cNvPr id="20" name="Text 18"/>
          <p:cNvSpPr/>
          <p:nvPr/>
        </p:nvSpPr>
        <p:spPr>
          <a:xfrm>
            <a:off x="411480" y="3817620"/>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1" name="Text 19"/>
          <p:cNvSpPr/>
          <p:nvPr/>
        </p:nvSpPr>
        <p:spPr>
          <a:xfrm>
            <a:off x="640080" y="4183380"/>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Ammonia reacts with </a:t>
            </a:r>
            <a:r>
              <a:rPr lang="en-US" sz="1250" b="1" dirty="0">
                <a:solidFill>
                  <a:srgbClr val="262B3A"/>
                </a:solidFill>
                <a:latin typeface="Calibri" pitchFamily="34" charset="0"/>
                <a:ea typeface="Calibri" pitchFamily="34" charset="-122"/>
                <a:cs typeface="Calibri" pitchFamily="34" charset="-120"/>
              </a:rPr>
              <a:t>nitric acid</a:t>
            </a:r>
            <a:r>
              <a:rPr lang="en-US" sz="1250" dirty="0">
                <a:solidFill>
                  <a:srgbClr val="262B3A"/>
                </a:solidFill>
                <a:latin typeface="Calibri" pitchFamily="34" charset="0"/>
                <a:ea typeface="Calibri" pitchFamily="34" charset="-122"/>
                <a:cs typeface="Calibri" pitchFamily="34" charset="-120"/>
              </a:rPr>
              <a:t>. Name the product and give </a:t>
            </a:r>
            <a:r>
              <a:rPr lang="en-US" sz="1250" b="1" dirty="0">
                <a:solidFill>
                  <a:srgbClr val="262B3A"/>
                </a:solidFill>
                <a:latin typeface="Calibri" pitchFamily="34" charset="0"/>
                <a:ea typeface="Calibri" pitchFamily="34" charset="-122"/>
                <a:cs typeface="Calibri" pitchFamily="34" charset="-120"/>
              </a:rPr>
              <a:t>one</a:t>
            </a:r>
            <a:r>
              <a:rPr lang="en-US" sz="1250" dirty="0">
                <a:solidFill>
                  <a:srgbClr val="262B3A"/>
                </a:solidFill>
                <a:latin typeface="Calibri" pitchFamily="34" charset="0"/>
                <a:ea typeface="Calibri" pitchFamily="34" charset="-122"/>
                <a:cs typeface="Calibri" pitchFamily="34" charset="-120"/>
              </a:rPr>
              <a:t> use of it.</a:t>
            </a:r>
            <a:endParaRPr lang="en-US" sz="1250" dirty="0"/>
          </a:p>
        </p:txBody>
      </p:sp>
      <p:sp>
        <p:nvSpPr>
          <p:cNvPr id="22" name="Text 20"/>
          <p:cNvSpPr/>
          <p:nvPr/>
        </p:nvSpPr>
        <p:spPr>
          <a:xfrm>
            <a:off x="10317175" y="4592574"/>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3" name="Shape 21"/>
          <p:cNvSpPr/>
          <p:nvPr/>
        </p:nvSpPr>
        <p:spPr>
          <a:xfrm>
            <a:off x="411480" y="5122926"/>
            <a:ext cx="11368735" cy="1159002"/>
          </a:xfrm>
          <a:prstGeom prst="roundRect">
            <a:avLst>
              <a:gd name="adj" fmla="val 3945"/>
            </a:avLst>
          </a:prstGeom>
          <a:solidFill>
            <a:srgbClr val="FFFFFF"/>
          </a:solidFill>
          <a:ln w="12700">
            <a:solidFill>
              <a:srgbClr val="DDD3EC"/>
            </a:solidFill>
            <a:prstDash val="solid"/>
          </a:ln>
        </p:spPr>
      </p:sp>
      <p:sp>
        <p:nvSpPr>
          <p:cNvPr id="24" name="Shape 22"/>
          <p:cNvSpPr/>
          <p:nvPr/>
        </p:nvSpPr>
        <p:spPr>
          <a:xfrm>
            <a:off x="411480" y="5122926"/>
            <a:ext cx="2103120" cy="292608"/>
          </a:xfrm>
          <a:prstGeom prst="rect">
            <a:avLst/>
          </a:prstGeom>
          <a:solidFill>
            <a:srgbClr val="F5A742"/>
          </a:solidFill>
          <a:ln w="12700">
            <a:solidFill>
              <a:srgbClr val="F5A742"/>
            </a:solidFill>
            <a:prstDash val="solid"/>
          </a:ln>
        </p:spPr>
      </p:sp>
      <p:sp>
        <p:nvSpPr>
          <p:cNvPr id="25" name="Text 23"/>
          <p:cNvSpPr/>
          <p:nvPr/>
        </p:nvSpPr>
        <p:spPr>
          <a:xfrm>
            <a:off x="411480" y="5122926"/>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6" name="Text 24"/>
          <p:cNvSpPr/>
          <p:nvPr/>
        </p:nvSpPr>
        <p:spPr>
          <a:xfrm>
            <a:off x="640080" y="5488686"/>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An antacid tablet contains </a:t>
            </a:r>
            <a:r>
              <a:rPr lang="en-US" sz="1250" b="1" dirty="0">
                <a:solidFill>
                  <a:srgbClr val="262B3A"/>
                </a:solidFill>
                <a:latin typeface="Calibri" pitchFamily="34" charset="0"/>
                <a:ea typeface="Calibri" pitchFamily="34" charset="-122"/>
                <a:cs typeface="Calibri" pitchFamily="34" charset="-120"/>
              </a:rPr>
              <a:t>magnesium hydroxide</a:t>
            </a:r>
            <a:r>
              <a:rPr lang="en-US" sz="1250" dirty="0">
                <a:solidFill>
                  <a:srgbClr val="262B3A"/>
                </a:solidFill>
                <a:latin typeface="Calibri" pitchFamily="34" charset="0"/>
                <a:ea typeface="Calibri" pitchFamily="34" charset="-122"/>
                <a:cs typeface="Calibri" pitchFamily="34" charset="-120"/>
              </a:rPr>
              <a:t>. Write a balanced equation for its reaction with stomach acid (HCl).</a:t>
            </a:r>
            <a:endParaRPr lang="en-US" sz="1250" dirty="0"/>
          </a:p>
        </p:txBody>
      </p:sp>
      <p:sp>
        <p:nvSpPr>
          <p:cNvPr id="27" name="Text 25"/>
          <p:cNvSpPr/>
          <p:nvPr/>
        </p:nvSpPr>
        <p:spPr>
          <a:xfrm>
            <a:off x="10317175" y="5897880"/>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Strong and weak acids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Specification C6.1.5 • strong and weak describe the degree of ionisation of an acid</a:t>
            </a:r>
            <a:endParaRPr lang="en-US" sz="1100" dirty="0"/>
          </a:p>
        </p:txBody>
      </p:sp>
      <p:sp>
        <p:nvSpPr>
          <p:cNvPr id="6" name="Shape 4"/>
          <p:cNvSpPr/>
          <p:nvPr/>
        </p:nvSpPr>
        <p:spPr>
          <a:xfrm>
            <a:off x="11323015" y="292608"/>
            <a:ext cx="457200" cy="274320"/>
          </a:xfrm>
          <a:prstGeom prst="roundRect">
            <a:avLst>
              <a:gd name="adj" fmla="val 50000"/>
            </a:avLst>
          </a:prstGeom>
          <a:solidFill>
            <a:srgbClr val="C8414C"/>
          </a:solidFill>
          <a:ln w="12700">
            <a:solidFill>
              <a:srgbClr val="C8414C"/>
            </a:solidFill>
            <a:prstDash val="solid"/>
          </a:ln>
        </p:spPr>
      </p:sp>
      <p:sp>
        <p:nvSpPr>
          <p:cNvPr id="7" name="Text 5"/>
          <p:cNvSpPr/>
          <p:nvPr/>
        </p:nvSpPr>
        <p:spPr>
          <a:xfrm>
            <a:off x="11323015" y="292608"/>
            <a:ext cx="45720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8" name="Text 6"/>
          <p:cNvSpPr/>
          <p:nvPr/>
        </p:nvSpPr>
        <p:spPr>
          <a:xfrm>
            <a:off x="411480" y="6473952"/>
            <a:ext cx="1014984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C6.1 What useful products can be made from acids? | Higher &amp; Foundation</a:t>
            </a:r>
            <a:endParaRPr lang="en-US" sz="1000" dirty="0"/>
          </a:p>
        </p:txBody>
      </p:sp>
      <p:sp>
        <p:nvSpPr>
          <p:cNvPr id="9" name="Text 7"/>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C6.1.5  |  15</a:t>
            </a:r>
            <a:endParaRPr lang="en-US" sz="1000" dirty="0"/>
          </a:p>
        </p:txBody>
      </p:sp>
      <p:sp>
        <p:nvSpPr>
          <p:cNvPr id="10" name="Shape 8"/>
          <p:cNvSpPr/>
          <p:nvPr/>
        </p:nvSpPr>
        <p:spPr>
          <a:xfrm>
            <a:off x="411480" y="1188720"/>
            <a:ext cx="5577840" cy="4526280"/>
          </a:xfrm>
          <a:prstGeom prst="roundRect">
            <a:avLst>
              <a:gd name="adj" fmla="val 1616"/>
            </a:avLst>
          </a:prstGeom>
          <a:solidFill>
            <a:srgbClr val="F4F0FA"/>
          </a:solidFill>
          <a:ln w="9525">
            <a:solidFill>
              <a:srgbClr val="DED4EE"/>
            </a:solidFill>
            <a:prstDash val="solid"/>
          </a:ln>
        </p:spPr>
      </p:sp>
      <p:sp>
        <p:nvSpPr>
          <p:cNvPr id="11" name="Text 9"/>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same concentration (0.10 mol/dm³); water molecules not drawn</a:t>
            </a:r>
            <a:endParaRPr lang="en-US" sz="1000" dirty="0"/>
          </a:p>
        </p:txBody>
      </p:sp>
      <p:sp>
        <p:nvSpPr>
          <p:cNvPr id="12" name="Text 10"/>
          <p:cNvSpPr/>
          <p:nvPr/>
        </p:nvSpPr>
        <p:spPr>
          <a:xfrm>
            <a:off x="594360" y="1325880"/>
            <a:ext cx="2560320" cy="237744"/>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Strong: hydrochloric acid</a:t>
            </a:r>
            <a:endParaRPr lang="en-US" sz="1050" dirty="0"/>
          </a:p>
        </p:txBody>
      </p:sp>
      <p:sp>
        <p:nvSpPr>
          <p:cNvPr id="13" name="Shape 11"/>
          <p:cNvSpPr/>
          <p:nvPr/>
        </p:nvSpPr>
        <p:spPr>
          <a:xfrm>
            <a:off x="685800" y="1691640"/>
            <a:ext cx="2194560" cy="1920240"/>
          </a:xfrm>
          <a:prstGeom prst="rect">
            <a:avLst/>
          </a:prstGeom>
          <a:solidFill>
            <a:srgbClr val="EEF5FB"/>
          </a:solidFill>
          <a:ln/>
        </p:spPr>
      </p:sp>
      <p:sp>
        <p:nvSpPr>
          <p:cNvPr id="14" name="Shape 12"/>
          <p:cNvSpPr/>
          <p:nvPr/>
        </p:nvSpPr>
        <p:spPr>
          <a:xfrm>
            <a:off x="685800" y="1979676"/>
            <a:ext cx="2194560" cy="1632204"/>
          </a:xfrm>
          <a:prstGeom prst="rect">
            <a:avLst/>
          </a:prstGeom>
          <a:solidFill>
            <a:srgbClr val="F9D9D2"/>
          </a:solidFill>
          <a:ln/>
        </p:spPr>
      </p:sp>
      <p:sp>
        <p:nvSpPr>
          <p:cNvPr id="15" name="Shape 13"/>
          <p:cNvSpPr/>
          <p:nvPr/>
        </p:nvSpPr>
        <p:spPr>
          <a:xfrm>
            <a:off x="685800" y="1979676"/>
            <a:ext cx="2194560" cy="91"/>
          </a:xfrm>
          <a:prstGeom prst="line">
            <a:avLst/>
          </a:prstGeom>
          <a:noFill/>
          <a:ln w="12700">
            <a:solidFill>
              <a:srgbClr val="5B9BD5"/>
            </a:solidFill>
            <a:prstDash val="solid"/>
          </a:ln>
        </p:spPr>
      </p:sp>
      <p:sp>
        <p:nvSpPr>
          <p:cNvPr id="16" name="Shape 14"/>
          <p:cNvSpPr/>
          <p:nvPr/>
        </p:nvSpPr>
        <p:spPr>
          <a:xfrm>
            <a:off x="685800" y="1691640"/>
            <a:ext cx="91" cy="1920240"/>
          </a:xfrm>
          <a:prstGeom prst="line">
            <a:avLst/>
          </a:prstGeom>
          <a:noFill/>
          <a:ln w="19050">
            <a:solidFill>
              <a:srgbClr val="2A1F3D"/>
            </a:solidFill>
            <a:prstDash val="solid"/>
          </a:ln>
        </p:spPr>
      </p:sp>
      <p:sp>
        <p:nvSpPr>
          <p:cNvPr id="17" name="Shape 15"/>
          <p:cNvSpPr/>
          <p:nvPr/>
        </p:nvSpPr>
        <p:spPr>
          <a:xfrm>
            <a:off x="2880360" y="1691640"/>
            <a:ext cx="91" cy="1920240"/>
          </a:xfrm>
          <a:prstGeom prst="line">
            <a:avLst/>
          </a:prstGeom>
          <a:noFill/>
          <a:ln w="19050">
            <a:solidFill>
              <a:srgbClr val="2A1F3D"/>
            </a:solidFill>
            <a:prstDash val="solid"/>
          </a:ln>
        </p:spPr>
      </p:sp>
      <p:sp>
        <p:nvSpPr>
          <p:cNvPr id="18" name="Shape 16"/>
          <p:cNvSpPr/>
          <p:nvPr/>
        </p:nvSpPr>
        <p:spPr>
          <a:xfrm>
            <a:off x="685800" y="3611880"/>
            <a:ext cx="2194560" cy="91"/>
          </a:xfrm>
          <a:prstGeom prst="line">
            <a:avLst/>
          </a:prstGeom>
          <a:noFill/>
          <a:ln w="19050">
            <a:solidFill>
              <a:srgbClr val="2A1F3D"/>
            </a:solidFill>
            <a:prstDash val="solid"/>
          </a:ln>
        </p:spPr>
      </p:sp>
      <p:sp>
        <p:nvSpPr>
          <p:cNvPr id="19" name="Shape 17"/>
          <p:cNvSpPr/>
          <p:nvPr/>
        </p:nvSpPr>
        <p:spPr>
          <a:xfrm>
            <a:off x="630936" y="1691640"/>
            <a:ext cx="54864" cy="91"/>
          </a:xfrm>
          <a:prstGeom prst="line">
            <a:avLst/>
          </a:prstGeom>
          <a:noFill/>
          <a:ln w="19050">
            <a:solidFill>
              <a:srgbClr val="2A1F3D"/>
            </a:solidFill>
            <a:prstDash val="solid"/>
          </a:ln>
        </p:spPr>
      </p:sp>
      <p:sp>
        <p:nvSpPr>
          <p:cNvPr id="20" name="Shape 18"/>
          <p:cNvSpPr/>
          <p:nvPr/>
        </p:nvSpPr>
        <p:spPr>
          <a:xfrm>
            <a:off x="2880360" y="1691640"/>
            <a:ext cx="54864" cy="91"/>
          </a:xfrm>
          <a:prstGeom prst="line">
            <a:avLst/>
          </a:prstGeom>
          <a:noFill/>
          <a:ln w="19050">
            <a:solidFill>
              <a:srgbClr val="2A1F3D"/>
            </a:solidFill>
            <a:prstDash val="solid"/>
          </a:ln>
        </p:spPr>
      </p:sp>
      <p:sp>
        <p:nvSpPr>
          <p:cNvPr id="21" name="Text 19"/>
          <p:cNvSpPr/>
          <p:nvPr/>
        </p:nvSpPr>
        <p:spPr>
          <a:xfrm>
            <a:off x="3246120" y="1325880"/>
            <a:ext cx="2560320" cy="237744"/>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Weak: ethanoic acid</a:t>
            </a:r>
            <a:endParaRPr lang="en-US" sz="1050" dirty="0"/>
          </a:p>
        </p:txBody>
      </p:sp>
      <p:sp>
        <p:nvSpPr>
          <p:cNvPr id="22" name="Shape 20"/>
          <p:cNvSpPr/>
          <p:nvPr/>
        </p:nvSpPr>
        <p:spPr>
          <a:xfrm>
            <a:off x="3337560" y="1691640"/>
            <a:ext cx="2194560" cy="1920240"/>
          </a:xfrm>
          <a:prstGeom prst="rect">
            <a:avLst/>
          </a:prstGeom>
          <a:solidFill>
            <a:srgbClr val="EEF5FB"/>
          </a:solidFill>
          <a:ln/>
        </p:spPr>
      </p:sp>
      <p:sp>
        <p:nvSpPr>
          <p:cNvPr id="23" name="Shape 21"/>
          <p:cNvSpPr/>
          <p:nvPr/>
        </p:nvSpPr>
        <p:spPr>
          <a:xfrm>
            <a:off x="3337560" y="1979676"/>
            <a:ext cx="2194560" cy="1632204"/>
          </a:xfrm>
          <a:prstGeom prst="rect">
            <a:avLst/>
          </a:prstGeom>
          <a:solidFill>
            <a:srgbClr val="F9D9D2"/>
          </a:solidFill>
          <a:ln/>
        </p:spPr>
      </p:sp>
      <p:sp>
        <p:nvSpPr>
          <p:cNvPr id="24" name="Shape 22"/>
          <p:cNvSpPr/>
          <p:nvPr/>
        </p:nvSpPr>
        <p:spPr>
          <a:xfrm>
            <a:off x="3337560" y="1979676"/>
            <a:ext cx="2194560" cy="91"/>
          </a:xfrm>
          <a:prstGeom prst="line">
            <a:avLst/>
          </a:prstGeom>
          <a:noFill/>
          <a:ln w="12700">
            <a:solidFill>
              <a:srgbClr val="5B9BD5"/>
            </a:solidFill>
            <a:prstDash val="solid"/>
          </a:ln>
        </p:spPr>
      </p:sp>
      <p:sp>
        <p:nvSpPr>
          <p:cNvPr id="25" name="Shape 23"/>
          <p:cNvSpPr/>
          <p:nvPr/>
        </p:nvSpPr>
        <p:spPr>
          <a:xfrm>
            <a:off x="3337560" y="1691640"/>
            <a:ext cx="91" cy="1920240"/>
          </a:xfrm>
          <a:prstGeom prst="line">
            <a:avLst/>
          </a:prstGeom>
          <a:noFill/>
          <a:ln w="19050">
            <a:solidFill>
              <a:srgbClr val="2A1F3D"/>
            </a:solidFill>
            <a:prstDash val="solid"/>
          </a:ln>
        </p:spPr>
      </p:sp>
      <p:sp>
        <p:nvSpPr>
          <p:cNvPr id="26" name="Shape 24"/>
          <p:cNvSpPr/>
          <p:nvPr/>
        </p:nvSpPr>
        <p:spPr>
          <a:xfrm>
            <a:off x="5532120" y="1691640"/>
            <a:ext cx="91" cy="1920240"/>
          </a:xfrm>
          <a:prstGeom prst="line">
            <a:avLst/>
          </a:prstGeom>
          <a:noFill/>
          <a:ln w="19050">
            <a:solidFill>
              <a:srgbClr val="2A1F3D"/>
            </a:solidFill>
            <a:prstDash val="solid"/>
          </a:ln>
        </p:spPr>
      </p:sp>
      <p:sp>
        <p:nvSpPr>
          <p:cNvPr id="27" name="Shape 25"/>
          <p:cNvSpPr/>
          <p:nvPr/>
        </p:nvSpPr>
        <p:spPr>
          <a:xfrm>
            <a:off x="3337560" y="3611880"/>
            <a:ext cx="2194560" cy="91"/>
          </a:xfrm>
          <a:prstGeom prst="line">
            <a:avLst/>
          </a:prstGeom>
          <a:noFill/>
          <a:ln w="19050">
            <a:solidFill>
              <a:srgbClr val="2A1F3D"/>
            </a:solidFill>
            <a:prstDash val="solid"/>
          </a:ln>
        </p:spPr>
      </p:sp>
      <p:sp>
        <p:nvSpPr>
          <p:cNvPr id="28" name="Shape 26"/>
          <p:cNvSpPr/>
          <p:nvPr/>
        </p:nvSpPr>
        <p:spPr>
          <a:xfrm>
            <a:off x="3282696" y="1691640"/>
            <a:ext cx="54864" cy="91"/>
          </a:xfrm>
          <a:prstGeom prst="line">
            <a:avLst/>
          </a:prstGeom>
          <a:noFill/>
          <a:ln w="19050">
            <a:solidFill>
              <a:srgbClr val="2A1F3D"/>
            </a:solidFill>
            <a:prstDash val="solid"/>
          </a:ln>
        </p:spPr>
      </p:sp>
      <p:sp>
        <p:nvSpPr>
          <p:cNvPr id="29" name="Shape 27"/>
          <p:cNvSpPr/>
          <p:nvPr/>
        </p:nvSpPr>
        <p:spPr>
          <a:xfrm>
            <a:off x="5532120" y="1691640"/>
            <a:ext cx="54864" cy="91"/>
          </a:xfrm>
          <a:prstGeom prst="line">
            <a:avLst/>
          </a:prstGeom>
          <a:noFill/>
          <a:ln w="19050">
            <a:solidFill>
              <a:srgbClr val="2A1F3D"/>
            </a:solidFill>
            <a:prstDash val="solid"/>
          </a:ln>
        </p:spPr>
      </p:sp>
      <p:sp>
        <p:nvSpPr>
          <p:cNvPr id="30" name="Shape 28"/>
          <p:cNvSpPr/>
          <p:nvPr/>
        </p:nvSpPr>
        <p:spPr>
          <a:xfrm>
            <a:off x="859536" y="2002536"/>
            <a:ext cx="292608" cy="292608"/>
          </a:xfrm>
          <a:prstGeom prst="ellipse">
            <a:avLst/>
          </a:prstGeom>
          <a:solidFill>
            <a:srgbClr val="F6B0A8"/>
          </a:solidFill>
          <a:ln w="12700">
            <a:solidFill>
              <a:srgbClr val="B7372B"/>
            </a:solidFill>
            <a:prstDash val="solid"/>
          </a:ln>
        </p:spPr>
      </p:sp>
      <p:sp>
        <p:nvSpPr>
          <p:cNvPr id="31" name="Text 29"/>
          <p:cNvSpPr/>
          <p:nvPr/>
        </p:nvSpPr>
        <p:spPr>
          <a:xfrm>
            <a:off x="768096" y="2002536"/>
            <a:ext cx="475488" cy="292608"/>
          </a:xfrm>
          <a:prstGeom prst="rect">
            <a:avLst/>
          </a:prstGeom>
          <a:noFill/>
          <a:ln/>
        </p:spPr>
        <p:txBody>
          <a:bodyPr wrap="square" lIns="0" tIns="0" rIns="0" bIns="0" rtlCol="0" anchor="ctr"/>
          <a:lstStyle/>
          <a:p>
            <a:pPr algn="ctr" indent="0" marL="0">
              <a:buNone/>
            </a:pPr>
            <a:r>
              <a:rPr lang="en-US" sz="900" b="1" dirty="0">
                <a:solidFill>
                  <a:srgbClr val="2A1F3D"/>
                </a:solidFill>
                <a:latin typeface="Calibri" pitchFamily="34" charset="0"/>
                <a:ea typeface="Calibri" pitchFamily="34" charset="-122"/>
                <a:cs typeface="Calibri" pitchFamily="34" charset="-120"/>
              </a:rPr>
              <a:t>H⁺</a:t>
            </a:r>
            <a:endParaRPr lang="en-US" sz="900" dirty="0"/>
          </a:p>
        </p:txBody>
      </p:sp>
      <p:sp>
        <p:nvSpPr>
          <p:cNvPr id="32" name="Shape 30"/>
          <p:cNvSpPr/>
          <p:nvPr/>
        </p:nvSpPr>
        <p:spPr>
          <a:xfrm>
            <a:off x="1499616" y="1911096"/>
            <a:ext cx="292608" cy="292608"/>
          </a:xfrm>
          <a:prstGeom prst="ellipse">
            <a:avLst/>
          </a:prstGeom>
          <a:solidFill>
            <a:srgbClr val="B9E0A8"/>
          </a:solidFill>
          <a:ln w="12700">
            <a:solidFill>
              <a:srgbClr val="3E7F2E"/>
            </a:solidFill>
            <a:prstDash val="solid"/>
          </a:ln>
        </p:spPr>
      </p:sp>
      <p:sp>
        <p:nvSpPr>
          <p:cNvPr id="33" name="Text 31"/>
          <p:cNvSpPr/>
          <p:nvPr/>
        </p:nvSpPr>
        <p:spPr>
          <a:xfrm>
            <a:off x="1408176" y="1911096"/>
            <a:ext cx="475488" cy="292608"/>
          </a:xfrm>
          <a:prstGeom prst="rect">
            <a:avLst/>
          </a:prstGeom>
          <a:noFill/>
          <a:ln/>
        </p:spPr>
        <p:txBody>
          <a:bodyPr wrap="square" lIns="0" tIns="0" rIns="0" bIns="0" rtlCol="0" anchor="ctr"/>
          <a:lstStyle/>
          <a:p>
            <a:pPr algn="ctr" indent="0" marL="0">
              <a:buNone/>
            </a:pPr>
            <a:r>
              <a:rPr lang="en-US" sz="900" b="1" dirty="0">
                <a:solidFill>
                  <a:srgbClr val="2A1F3D"/>
                </a:solidFill>
                <a:latin typeface="Calibri" pitchFamily="34" charset="0"/>
                <a:ea typeface="Calibri" pitchFamily="34" charset="-122"/>
                <a:cs typeface="Calibri" pitchFamily="34" charset="-120"/>
              </a:rPr>
              <a:t>Cl⁻</a:t>
            </a:r>
            <a:endParaRPr lang="en-US" sz="900" dirty="0"/>
          </a:p>
        </p:txBody>
      </p:sp>
      <p:sp>
        <p:nvSpPr>
          <p:cNvPr id="34" name="Shape 32"/>
          <p:cNvSpPr/>
          <p:nvPr/>
        </p:nvSpPr>
        <p:spPr>
          <a:xfrm>
            <a:off x="2185416" y="2048256"/>
            <a:ext cx="292608" cy="292608"/>
          </a:xfrm>
          <a:prstGeom prst="ellipse">
            <a:avLst/>
          </a:prstGeom>
          <a:solidFill>
            <a:srgbClr val="F6B0A8"/>
          </a:solidFill>
          <a:ln w="12700">
            <a:solidFill>
              <a:srgbClr val="B7372B"/>
            </a:solidFill>
            <a:prstDash val="solid"/>
          </a:ln>
        </p:spPr>
      </p:sp>
      <p:sp>
        <p:nvSpPr>
          <p:cNvPr id="35" name="Text 33"/>
          <p:cNvSpPr/>
          <p:nvPr/>
        </p:nvSpPr>
        <p:spPr>
          <a:xfrm>
            <a:off x="2093976" y="2048256"/>
            <a:ext cx="475488" cy="292608"/>
          </a:xfrm>
          <a:prstGeom prst="rect">
            <a:avLst/>
          </a:prstGeom>
          <a:noFill/>
          <a:ln/>
        </p:spPr>
        <p:txBody>
          <a:bodyPr wrap="square" lIns="0" tIns="0" rIns="0" bIns="0" rtlCol="0" anchor="ctr"/>
          <a:lstStyle/>
          <a:p>
            <a:pPr algn="ctr" indent="0" marL="0">
              <a:buNone/>
            </a:pPr>
            <a:r>
              <a:rPr lang="en-US" sz="900" b="1" dirty="0">
                <a:solidFill>
                  <a:srgbClr val="2A1F3D"/>
                </a:solidFill>
                <a:latin typeface="Calibri" pitchFamily="34" charset="0"/>
                <a:ea typeface="Calibri" pitchFamily="34" charset="-122"/>
                <a:cs typeface="Calibri" pitchFamily="34" charset="-120"/>
              </a:rPr>
              <a:t>H⁺</a:t>
            </a:r>
            <a:endParaRPr lang="en-US" sz="900" dirty="0"/>
          </a:p>
        </p:txBody>
      </p:sp>
      <p:sp>
        <p:nvSpPr>
          <p:cNvPr id="36" name="Shape 34"/>
          <p:cNvSpPr/>
          <p:nvPr/>
        </p:nvSpPr>
        <p:spPr>
          <a:xfrm>
            <a:off x="1088136" y="2551176"/>
            <a:ext cx="292608" cy="292608"/>
          </a:xfrm>
          <a:prstGeom prst="ellipse">
            <a:avLst/>
          </a:prstGeom>
          <a:solidFill>
            <a:srgbClr val="B9E0A8"/>
          </a:solidFill>
          <a:ln w="12700">
            <a:solidFill>
              <a:srgbClr val="3E7F2E"/>
            </a:solidFill>
            <a:prstDash val="solid"/>
          </a:ln>
        </p:spPr>
      </p:sp>
      <p:sp>
        <p:nvSpPr>
          <p:cNvPr id="37" name="Text 35"/>
          <p:cNvSpPr/>
          <p:nvPr/>
        </p:nvSpPr>
        <p:spPr>
          <a:xfrm>
            <a:off x="996696" y="2551176"/>
            <a:ext cx="475488" cy="292608"/>
          </a:xfrm>
          <a:prstGeom prst="rect">
            <a:avLst/>
          </a:prstGeom>
          <a:noFill/>
          <a:ln/>
        </p:spPr>
        <p:txBody>
          <a:bodyPr wrap="square" lIns="0" tIns="0" rIns="0" bIns="0" rtlCol="0" anchor="ctr"/>
          <a:lstStyle/>
          <a:p>
            <a:pPr algn="ctr" indent="0" marL="0">
              <a:buNone/>
            </a:pPr>
            <a:r>
              <a:rPr lang="en-US" sz="900" b="1" dirty="0">
                <a:solidFill>
                  <a:srgbClr val="2A1F3D"/>
                </a:solidFill>
                <a:latin typeface="Calibri" pitchFamily="34" charset="0"/>
                <a:ea typeface="Calibri" pitchFamily="34" charset="-122"/>
                <a:cs typeface="Calibri" pitchFamily="34" charset="-120"/>
              </a:rPr>
              <a:t>Cl⁻</a:t>
            </a:r>
            <a:endParaRPr lang="en-US" sz="900" dirty="0"/>
          </a:p>
        </p:txBody>
      </p:sp>
      <p:sp>
        <p:nvSpPr>
          <p:cNvPr id="38" name="Shape 36"/>
          <p:cNvSpPr/>
          <p:nvPr/>
        </p:nvSpPr>
        <p:spPr>
          <a:xfrm>
            <a:off x="1819656" y="2596896"/>
            <a:ext cx="292608" cy="292608"/>
          </a:xfrm>
          <a:prstGeom prst="ellipse">
            <a:avLst/>
          </a:prstGeom>
          <a:solidFill>
            <a:srgbClr val="F6B0A8"/>
          </a:solidFill>
          <a:ln w="12700">
            <a:solidFill>
              <a:srgbClr val="B7372B"/>
            </a:solidFill>
            <a:prstDash val="solid"/>
          </a:ln>
        </p:spPr>
      </p:sp>
      <p:sp>
        <p:nvSpPr>
          <p:cNvPr id="39" name="Text 37"/>
          <p:cNvSpPr/>
          <p:nvPr/>
        </p:nvSpPr>
        <p:spPr>
          <a:xfrm>
            <a:off x="1728216" y="2596896"/>
            <a:ext cx="475488" cy="292608"/>
          </a:xfrm>
          <a:prstGeom prst="rect">
            <a:avLst/>
          </a:prstGeom>
          <a:noFill/>
          <a:ln/>
        </p:spPr>
        <p:txBody>
          <a:bodyPr wrap="square" lIns="0" tIns="0" rIns="0" bIns="0" rtlCol="0" anchor="ctr"/>
          <a:lstStyle/>
          <a:p>
            <a:pPr algn="ctr" indent="0" marL="0">
              <a:buNone/>
            </a:pPr>
            <a:r>
              <a:rPr lang="en-US" sz="900" b="1" dirty="0">
                <a:solidFill>
                  <a:srgbClr val="2A1F3D"/>
                </a:solidFill>
                <a:latin typeface="Calibri" pitchFamily="34" charset="0"/>
                <a:ea typeface="Calibri" pitchFamily="34" charset="-122"/>
                <a:cs typeface="Calibri" pitchFamily="34" charset="-120"/>
              </a:rPr>
              <a:t>H⁺</a:t>
            </a:r>
            <a:endParaRPr lang="en-US" sz="900" dirty="0"/>
          </a:p>
        </p:txBody>
      </p:sp>
      <p:sp>
        <p:nvSpPr>
          <p:cNvPr id="40" name="Shape 38"/>
          <p:cNvSpPr/>
          <p:nvPr/>
        </p:nvSpPr>
        <p:spPr>
          <a:xfrm>
            <a:off x="2414016" y="2642616"/>
            <a:ext cx="292608" cy="292608"/>
          </a:xfrm>
          <a:prstGeom prst="ellipse">
            <a:avLst/>
          </a:prstGeom>
          <a:solidFill>
            <a:srgbClr val="B9E0A8"/>
          </a:solidFill>
          <a:ln w="12700">
            <a:solidFill>
              <a:srgbClr val="3E7F2E"/>
            </a:solidFill>
            <a:prstDash val="solid"/>
          </a:ln>
        </p:spPr>
      </p:sp>
      <p:sp>
        <p:nvSpPr>
          <p:cNvPr id="41" name="Text 39"/>
          <p:cNvSpPr/>
          <p:nvPr/>
        </p:nvSpPr>
        <p:spPr>
          <a:xfrm>
            <a:off x="2322576" y="2642616"/>
            <a:ext cx="475488" cy="292608"/>
          </a:xfrm>
          <a:prstGeom prst="rect">
            <a:avLst/>
          </a:prstGeom>
          <a:noFill/>
          <a:ln/>
        </p:spPr>
        <p:txBody>
          <a:bodyPr wrap="square" lIns="0" tIns="0" rIns="0" bIns="0" rtlCol="0" anchor="ctr"/>
          <a:lstStyle/>
          <a:p>
            <a:pPr algn="ctr" indent="0" marL="0">
              <a:buNone/>
            </a:pPr>
            <a:r>
              <a:rPr lang="en-US" sz="900" b="1" dirty="0">
                <a:solidFill>
                  <a:srgbClr val="2A1F3D"/>
                </a:solidFill>
                <a:latin typeface="Calibri" pitchFamily="34" charset="0"/>
                <a:ea typeface="Calibri" pitchFamily="34" charset="-122"/>
                <a:cs typeface="Calibri" pitchFamily="34" charset="-120"/>
              </a:rPr>
              <a:t>Cl⁻</a:t>
            </a:r>
            <a:endParaRPr lang="en-US" sz="900" dirty="0"/>
          </a:p>
        </p:txBody>
      </p:sp>
      <p:sp>
        <p:nvSpPr>
          <p:cNvPr id="42" name="Shape 40"/>
          <p:cNvSpPr/>
          <p:nvPr/>
        </p:nvSpPr>
        <p:spPr>
          <a:xfrm>
            <a:off x="859536" y="3099816"/>
            <a:ext cx="292608" cy="292608"/>
          </a:xfrm>
          <a:prstGeom prst="ellipse">
            <a:avLst/>
          </a:prstGeom>
          <a:solidFill>
            <a:srgbClr val="F6B0A8"/>
          </a:solidFill>
          <a:ln w="12700">
            <a:solidFill>
              <a:srgbClr val="B7372B"/>
            </a:solidFill>
            <a:prstDash val="solid"/>
          </a:ln>
        </p:spPr>
      </p:sp>
      <p:sp>
        <p:nvSpPr>
          <p:cNvPr id="43" name="Text 41"/>
          <p:cNvSpPr/>
          <p:nvPr/>
        </p:nvSpPr>
        <p:spPr>
          <a:xfrm>
            <a:off x="768096" y="3099816"/>
            <a:ext cx="475488" cy="292608"/>
          </a:xfrm>
          <a:prstGeom prst="rect">
            <a:avLst/>
          </a:prstGeom>
          <a:noFill/>
          <a:ln/>
        </p:spPr>
        <p:txBody>
          <a:bodyPr wrap="square" lIns="0" tIns="0" rIns="0" bIns="0" rtlCol="0" anchor="ctr"/>
          <a:lstStyle/>
          <a:p>
            <a:pPr algn="ctr" indent="0" marL="0">
              <a:buNone/>
            </a:pPr>
            <a:r>
              <a:rPr lang="en-US" sz="900" b="1" dirty="0">
                <a:solidFill>
                  <a:srgbClr val="2A1F3D"/>
                </a:solidFill>
                <a:latin typeface="Calibri" pitchFamily="34" charset="0"/>
                <a:ea typeface="Calibri" pitchFamily="34" charset="-122"/>
                <a:cs typeface="Calibri" pitchFamily="34" charset="-120"/>
              </a:rPr>
              <a:t>H⁺</a:t>
            </a:r>
            <a:endParaRPr lang="en-US" sz="900" dirty="0"/>
          </a:p>
        </p:txBody>
      </p:sp>
      <p:sp>
        <p:nvSpPr>
          <p:cNvPr id="44" name="Shape 42"/>
          <p:cNvSpPr/>
          <p:nvPr/>
        </p:nvSpPr>
        <p:spPr>
          <a:xfrm>
            <a:off x="1499616" y="3145536"/>
            <a:ext cx="292608" cy="292608"/>
          </a:xfrm>
          <a:prstGeom prst="ellipse">
            <a:avLst/>
          </a:prstGeom>
          <a:solidFill>
            <a:srgbClr val="B9E0A8"/>
          </a:solidFill>
          <a:ln w="12700">
            <a:solidFill>
              <a:srgbClr val="3E7F2E"/>
            </a:solidFill>
            <a:prstDash val="solid"/>
          </a:ln>
        </p:spPr>
      </p:sp>
      <p:sp>
        <p:nvSpPr>
          <p:cNvPr id="45" name="Text 43"/>
          <p:cNvSpPr/>
          <p:nvPr/>
        </p:nvSpPr>
        <p:spPr>
          <a:xfrm>
            <a:off x="1408176" y="3145536"/>
            <a:ext cx="475488" cy="292608"/>
          </a:xfrm>
          <a:prstGeom prst="rect">
            <a:avLst/>
          </a:prstGeom>
          <a:noFill/>
          <a:ln/>
        </p:spPr>
        <p:txBody>
          <a:bodyPr wrap="square" lIns="0" tIns="0" rIns="0" bIns="0" rtlCol="0" anchor="ctr"/>
          <a:lstStyle/>
          <a:p>
            <a:pPr algn="ctr" indent="0" marL="0">
              <a:buNone/>
            </a:pPr>
            <a:r>
              <a:rPr lang="en-US" sz="900" b="1" dirty="0">
                <a:solidFill>
                  <a:srgbClr val="2A1F3D"/>
                </a:solidFill>
                <a:latin typeface="Calibri" pitchFamily="34" charset="0"/>
                <a:ea typeface="Calibri" pitchFamily="34" charset="-122"/>
                <a:cs typeface="Calibri" pitchFamily="34" charset="-120"/>
              </a:rPr>
              <a:t>Cl⁻</a:t>
            </a:r>
            <a:endParaRPr lang="en-US" sz="900" dirty="0"/>
          </a:p>
        </p:txBody>
      </p:sp>
      <p:sp>
        <p:nvSpPr>
          <p:cNvPr id="46" name="Shape 44"/>
          <p:cNvSpPr/>
          <p:nvPr/>
        </p:nvSpPr>
        <p:spPr>
          <a:xfrm>
            <a:off x="2139696" y="3145536"/>
            <a:ext cx="292608" cy="292608"/>
          </a:xfrm>
          <a:prstGeom prst="ellipse">
            <a:avLst/>
          </a:prstGeom>
          <a:solidFill>
            <a:srgbClr val="F6B0A8"/>
          </a:solidFill>
          <a:ln w="12700">
            <a:solidFill>
              <a:srgbClr val="B7372B"/>
            </a:solidFill>
            <a:prstDash val="solid"/>
          </a:ln>
        </p:spPr>
      </p:sp>
      <p:sp>
        <p:nvSpPr>
          <p:cNvPr id="47" name="Text 45"/>
          <p:cNvSpPr/>
          <p:nvPr/>
        </p:nvSpPr>
        <p:spPr>
          <a:xfrm>
            <a:off x="2048256" y="3145536"/>
            <a:ext cx="475488" cy="292608"/>
          </a:xfrm>
          <a:prstGeom prst="rect">
            <a:avLst/>
          </a:prstGeom>
          <a:noFill/>
          <a:ln/>
        </p:spPr>
        <p:txBody>
          <a:bodyPr wrap="square" lIns="0" tIns="0" rIns="0" bIns="0" rtlCol="0" anchor="ctr"/>
          <a:lstStyle/>
          <a:p>
            <a:pPr algn="ctr" indent="0" marL="0">
              <a:buNone/>
            </a:pPr>
            <a:r>
              <a:rPr lang="en-US" sz="900" b="1" dirty="0">
                <a:solidFill>
                  <a:srgbClr val="2A1F3D"/>
                </a:solidFill>
                <a:latin typeface="Calibri" pitchFamily="34" charset="0"/>
                <a:ea typeface="Calibri" pitchFamily="34" charset="-122"/>
                <a:cs typeface="Calibri" pitchFamily="34" charset="-120"/>
              </a:rPr>
              <a:t>H⁺</a:t>
            </a:r>
            <a:endParaRPr lang="en-US" sz="900" dirty="0"/>
          </a:p>
        </p:txBody>
      </p:sp>
      <p:sp>
        <p:nvSpPr>
          <p:cNvPr id="48" name="Shape 46"/>
          <p:cNvSpPr/>
          <p:nvPr/>
        </p:nvSpPr>
        <p:spPr>
          <a:xfrm>
            <a:off x="2459736" y="1865376"/>
            <a:ext cx="292608" cy="292608"/>
          </a:xfrm>
          <a:prstGeom prst="ellipse">
            <a:avLst/>
          </a:prstGeom>
          <a:solidFill>
            <a:srgbClr val="B9E0A8"/>
          </a:solidFill>
          <a:ln w="12700">
            <a:solidFill>
              <a:srgbClr val="3E7F2E"/>
            </a:solidFill>
            <a:prstDash val="solid"/>
          </a:ln>
        </p:spPr>
      </p:sp>
      <p:sp>
        <p:nvSpPr>
          <p:cNvPr id="49" name="Text 47"/>
          <p:cNvSpPr/>
          <p:nvPr/>
        </p:nvSpPr>
        <p:spPr>
          <a:xfrm>
            <a:off x="2368296" y="1865376"/>
            <a:ext cx="475488" cy="292608"/>
          </a:xfrm>
          <a:prstGeom prst="rect">
            <a:avLst/>
          </a:prstGeom>
          <a:noFill/>
          <a:ln/>
        </p:spPr>
        <p:txBody>
          <a:bodyPr wrap="square" lIns="0" tIns="0" rIns="0" bIns="0" rtlCol="0" anchor="ctr"/>
          <a:lstStyle/>
          <a:p>
            <a:pPr algn="ctr" indent="0" marL="0">
              <a:buNone/>
            </a:pPr>
            <a:r>
              <a:rPr lang="en-US" sz="900" b="1" dirty="0">
                <a:solidFill>
                  <a:srgbClr val="2A1F3D"/>
                </a:solidFill>
                <a:latin typeface="Calibri" pitchFamily="34" charset="0"/>
                <a:ea typeface="Calibri" pitchFamily="34" charset="-122"/>
                <a:cs typeface="Calibri" pitchFamily="34" charset="-120"/>
              </a:rPr>
              <a:t>Cl⁻</a:t>
            </a:r>
            <a:endParaRPr lang="en-US" sz="900" dirty="0"/>
          </a:p>
        </p:txBody>
      </p:sp>
      <p:sp>
        <p:nvSpPr>
          <p:cNvPr id="50" name="Shape 48"/>
          <p:cNvSpPr/>
          <p:nvPr/>
        </p:nvSpPr>
        <p:spPr>
          <a:xfrm>
            <a:off x="3511296" y="2011680"/>
            <a:ext cx="566928" cy="274320"/>
          </a:xfrm>
          <a:prstGeom prst="ellipse">
            <a:avLst/>
          </a:prstGeom>
          <a:solidFill>
            <a:srgbClr val="E5DED0"/>
          </a:solidFill>
          <a:ln w="12700">
            <a:solidFill>
              <a:srgbClr val="8A7A50"/>
            </a:solidFill>
            <a:prstDash val="solid"/>
          </a:ln>
        </p:spPr>
      </p:sp>
      <p:sp>
        <p:nvSpPr>
          <p:cNvPr id="51" name="Text 49"/>
          <p:cNvSpPr/>
          <p:nvPr/>
        </p:nvSpPr>
        <p:spPr>
          <a:xfrm>
            <a:off x="3474720" y="2011680"/>
            <a:ext cx="640080" cy="274320"/>
          </a:xfrm>
          <a:prstGeom prst="rect">
            <a:avLst/>
          </a:prstGeom>
          <a:noFill/>
          <a:ln/>
        </p:spPr>
        <p:txBody>
          <a:bodyPr wrap="square" lIns="0" tIns="0" rIns="0" bIns="0" rtlCol="0" anchor="ctr"/>
          <a:lstStyle/>
          <a:p>
            <a:pPr algn="ctr" indent="0" marL="0">
              <a:buNone/>
            </a:pPr>
            <a:r>
              <a:rPr lang="en-US" sz="800" b="1" dirty="0">
                <a:solidFill>
                  <a:srgbClr val="2A1F3D"/>
                </a:solidFill>
                <a:latin typeface="Calibri" pitchFamily="34" charset="0"/>
                <a:ea typeface="Calibri" pitchFamily="34" charset="-122"/>
                <a:cs typeface="Calibri" pitchFamily="34" charset="-120"/>
              </a:rPr>
              <a:t>CH₃COOH</a:t>
            </a:r>
            <a:endParaRPr lang="en-US" sz="800" dirty="0"/>
          </a:p>
        </p:txBody>
      </p:sp>
      <p:sp>
        <p:nvSpPr>
          <p:cNvPr id="52" name="Shape 50"/>
          <p:cNvSpPr/>
          <p:nvPr/>
        </p:nvSpPr>
        <p:spPr>
          <a:xfrm>
            <a:off x="4242816" y="1965960"/>
            <a:ext cx="566928" cy="274320"/>
          </a:xfrm>
          <a:prstGeom prst="ellipse">
            <a:avLst/>
          </a:prstGeom>
          <a:solidFill>
            <a:srgbClr val="E5DED0"/>
          </a:solidFill>
          <a:ln w="12700">
            <a:solidFill>
              <a:srgbClr val="8A7A50"/>
            </a:solidFill>
            <a:prstDash val="solid"/>
          </a:ln>
        </p:spPr>
      </p:sp>
      <p:sp>
        <p:nvSpPr>
          <p:cNvPr id="53" name="Text 51"/>
          <p:cNvSpPr/>
          <p:nvPr/>
        </p:nvSpPr>
        <p:spPr>
          <a:xfrm>
            <a:off x="4206240" y="1965960"/>
            <a:ext cx="640080" cy="274320"/>
          </a:xfrm>
          <a:prstGeom prst="rect">
            <a:avLst/>
          </a:prstGeom>
          <a:noFill/>
          <a:ln/>
        </p:spPr>
        <p:txBody>
          <a:bodyPr wrap="square" lIns="0" tIns="0" rIns="0" bIns="0" rtlCol="0" anchor="ctr"/>
          <a:lstStyle/>
          <a:p>
            <a:pPr algn="ctr" indent="0" marL="0">
              <a:buNone/>
            </a:pPr>
            <a:r>
              <a:rPr lang="en-US" sz="800" b="1" dirty="0">
                <a:solidFill>
                  <a:srgbClr val="2A1F3D"/>
                </a:solidFill>
                <a:latin typeface="Calibri" pitchFamily="34" charset="0"/>
                <a:ea typeface="Calibri" pitchFamily="34" charset="-122"/>
                <a:cs typeface="Calibri" pitchFamily="34" charset="-120"/>
              </a:rPr>
              <a:t>CH₃COOH</a:t>
            </a:r>
            <a:endParaRPr lang="en-US" sz="800" dirty="0"/>
          </a:p>
        </p:txBody>
      </p:sp>
      <p:sp>
        <p:nvSpPr>
          <p:cNvPr id="54" name="Shape 52"/>
          <p:cNvSpPr/>
          <p:nvPr/>
        </p:nvSpPr>
        <p:spPr>
          <a:xfrm>
            <a:off x="4882896" y="2103120"/>
            <a:ext cx="566928" cy="274320"/>
          </a:xfrm>
          <a:prstGeom prst="ellipse">
            <a:avLst/>
          </a:prstGeom>
          <a:solidFill>
            <a:srgbClr val="E5DED0"/>
          </a:solidFill>
          <a:ln w="12700">
            <a:solidFill>
              <a:srgbClr val="8A7A50"/>
            </a:solidFill>
            <a:prstDash val="solid"/>
          </a:ln>
        </p:spPr>
      </p:sp>
      <p:sp>
        <p:nvSpPr>
          <p:cNvPr id="55" name="Text 53"/>
          <p:cNvSpPr/>
          <p:nvPr/>
        </p:nvSpPr>
        <p:spPr>
          <a:xfrm>
            <a:off x="4846320" y="2103120"/>
            <a:ext cx="640080" cy="274320"/>
          </a:xfrm>
          <a:prstGeom prst="rect">
            <a:avLst/>
          </a:prstGeom>
          <a:noFill/>
          <a:ln/>
        </p:spPr>
        <p:txBody>
          <a:bodyPr wrap="square" lIns="0" tIns="0" rIns="0" bIns="0" rtlCol="0" anchor="ctr"/>
          <a:lstStyle/>
          <a:p>
            <a:pPr algn="ctr" indent="0" marL="0">
              <a:buNone/>
            </a:pPr>
            <a:r>
              <a:rPr lang="en-US" sz="800" b="1" dirty="0">
                <a:solidFill>
                  <a:srgbClr val="2A1F3D"/>
                </a:solidFill>
                <a:latin typeface="Calibri" pitchFamily="34" charset="0"/>
                <a:ea typeface="Calibri" pitchFamily="34" charset="-122"/>
                <a:cs typeface="Calibri" pitchFamily="34" charset="-120"/>
              </a:rPr>
              <a:t>CH₃COOH</a:t>
            </a:r>
            <a:endParaRPr lang="en-US" sz="800" dirty="0"/>
          </a:p>
        </p:txBody>
      </p:sp>
      <p:sp>
        <p:nvSpPr>
          <p:cNvPr id="56" name="Shape 54"/>
          <p:cNvSpPr/>
          <p:nvPr/>
        </p:nvSpPr>
        <p:spPr>
          <a:xfrm>
            <a:off x="3557016" y="2606040"/>
            <a:ext cx="566928" cy="274320"/>
          </a:xfrm>
          <a:prstGeom prst="ellipse">
            <a:avLst/>
          </a:prstGeom>
          <a:solidFill>
            <a:srgbClr val="E5DED0"/>
          </a:solidFill>
          <a:ln w="12700">
            <a:solidFill>
              <a:srgbClr val="8A7A50"/>
            </a:solidFill>
            <a:prstDash val="solid"/>
          </a:ln>
        </p:spPr>
      </p:sp>
      <p:sp>
        <p:nvSpPr>
          <p:cNvPr id="57" name="Text 55"/>
          <p:cNvSpPr/>
          <p:nvPr/>
        </p:nvSpPr>
        <p:spPr>
          <a:xfrm>
            <a:off x="3520440" y="2606040"/>
            <a:ext cx="640080" cy="274320"/>
          </a:xfrm>
          <a:prstGeom prst="rect">
            <a:avLst/>
          </a:prstGeom>
          <a:noFill/>
          <a:ln/>
        </p:spPr>
        <p:txBody>
          <a:bodyPr wrap="square" lIns="0" tIns="0" rIns="0" bIns="0" rtlCol="0" anchor="ctr"/>
          <a:lstStyle/>
          <a:p>
            <a:pPr algn="ctr" indent="0" marL="0">
              <a:buNone/>
            </a:pPr>
            <a:r>
              <a:rPr lang="en-US" sz="800" b="1" dirty="0">
                <a:solidFill>
                  <a:srgbClr val="2A1F3D"/>
                </a:solidFill>
                <a:latin typeface="Calibri" pitchFamily="34" charset="0"/>
                <a:ea typeface="Calibri" pitchFamily="34" charset="-122"/>
                <a:cs typeface="Calibri" pitchFamily="34" charset="-120"/>
              </a:rPr>
              <a:t>CH₃COOH</a:t>
            </a:r>
            <a:endParaRPr lang="en-US" sz="800" dirty="0"/>
          </a:p>
        </p:txBody>
      </p:sp>
      <p:sp>
        <p:nvSpPr>
          <p:cNvPr id="58" name="Shape 56"/>
          <p:cNvSpPr/>
          <p:nvPr/>
        </p:nvSpPr>
        <p:spPr>
          <a:xfrm>
            <a:off x="4242816" y="2651760"/>
            <a:ext cx="566928" cy="274320"/>
          </a:xfrm>
          <a:prstGeom prst="ellipse">
            <a:avLst/>
          </a:prstGeom>
          <a:solidFill>
            <a:srgbClr val="E5DED0"/>
          </a:solidFill>
          <a:ln w="12700">
            <a:solidFill>
              <a:srgbClr val="8A7A50"/>
            </a:solidFill>
            <a:prstDash val="solid"/>
          </a:ln>
        </p:spPr>
      </p:sp>
      <p:sp>
        <p:nvSpPr>
          <p:cNvPr id="59" name="Text 57"/>
          <p:cNvSpPr/>
          <p:nvPr/>
        </p:nvSpPr>
        <p:spPr>
          <a:xfrm>
            <a:off x="4206240" y="2651760"/>
            <a:ext cx="640080" cy="274320"/>
          </a:xfrm>
          <a:prstGeom prst="rect">
            <a:avLst/>
          </a:prstGeom>
          <a:noFill/>
          <a:ln/>
        </p:spPr>
        <p:txBody>
          <a:bodyPr wrap="square" lIns="0" tIns="0" rIns="0" bIns="0" rtlCol="0" anchor="ctr"/>
          <a:lstStyle/>
          <a:p>
            <a:pPr algn="ctr" indent="0" marL="0">
              <a:buNone/>
            </a:pPr>
            <a:r>
              <a:rPr lang="en-US" sz="800" b="1" dirty="0">
                <a:solidFill>
                  <a:srgbClr val="2A1F3D"/>
                </a:solidFill>
                <a:latin typeface="Calibri" pitchFamily="34" charset="0"/>
                <a:ea typeface="Calibri" pitchFamily="34" charset="-122"/>
                <a:cs typeface="Calibri" pitchFamily="34" charset="-120"/>
              </a:rPr>
              <a:t>CH₃COOH</a:t>
            </a:r>
            <a:endParaRPr lang="en-US" sz="800" dirty="0"/>
          </a:p>
        </p:txBody>
      </p:sp>
      <p:sp>
        <p:nvSpPr>
          <p:cNvPr id="60" name="Shape 58"/>
          <p:cNvSpPr/>
          <p:nvPr/>
        </p:nvSpPr>
        <p:spPr>
          <a:xfrm>
            <a:off x="3511296" y="3154680"/>
            <a:ext cx="566928" cy="274320"/>
          </a:xfrm>
          <a:prstGeom prst="ellipse">
            <a:avLst/>
          </a:prstGeom>
          <a:solidFill>
            <a:srgbClr val="E5DED0"/>
          </a:solidFill>
          <a:ln w="12700">
            <a:solidFill>
              <a:srgbClr val="8A7A50"/>
            </a:solidFill>
            <a:prstDash val="solid"/>
          </a:ln>
        </p:spPr>
      </p:sp>
      <p:sp>
        <p:nvSpPr>
          <p:cNvPr id="61" name="Text 59"/>
          <p:cNvSpPr/>
          <p:nvPr/>
        </p:nvSpPr>
        <p:spPr>
          <a:xfrm>
            <a:off x="3474720" y="3154680"/>
            <a:ext cx="640080" cy="274320"/>
          </a:xfrm>
          <a:prstGeom prst="rect">
            <a:avLst/>
          </a:prstGeom>
          <a:noFill/>
          <a:ln/>
        </p:spPr>
        <p:txBody>
          <a:bodyPr wrap="square" lIns="0" tIns="0" rIns="0" bIns="0" rtlCol="0" anchor="ctr"/>
          <a:lstStyle/>
          <a:p>
            <a:pPr algn="ctr" indent="0" marL="0">
              <a:buNone/>
            </a:pPr>
            <a:r>
              <a:rPr lang="en-US" sz="800" b="1" dirty="0">
                <a:solidFill>
                  <a:srgbClr val="2A1F3D"/>
                </a:solidFill>
                <a:latin typeface="Calibri" pitchFamily="34" charset="0"/>
                <a:ea typeface="Calibri" pitchFamily="34" charset="-122"/>
                <a:cs typeface="Calibri" pitchFamily="34" charset="-120"/>
              </a:rPr>
              <a:t>CH₃COOH</a:t>
            </a:r>
            <a:endParaRPr lang="en-US" sz="800" dirty="0"/>
          </a:p>
        </p:txBody>
      </p:sp>
      <p:sp>
        <p:nvSpPr>
          <p:cNvPr id="62" name="Shape 60"/>
          <p:cNvSpPr/>
          <p:nvPr/>
        </p:nvSpPr>
        <p:spPr>
          <a:xfrm>
            <a:off x="4242816" y="3172968"/>
            <a:ext cx="566928" cy="274320"/>
          </a:xfrm>
          <a:prstGeom prst="ellipse">
            <a:avLst/>
          </a:prstGeom>
          <a:solidFill>
            <a:srgbClr val="E5DED0"/>
          </a:solidFill>
          <a:ln w="12700">
            <a:solidFill>
              <a:srgbClr val="8A7A50"/>
            </a:solidFill>
            <a:prstDash val="solid"/>
          </a:ln>
        </p:spPr>
      </p:sp>
      <p:sp>
        <p:nvSpPr>
          <p:cNvPr id="63" name="Text 61"/>
          <p:cNvSpPr/>
          <p:nvPr/>
        </p:nvSpPr>
        <p:spPr>
          <a:xfrm>
            <a:off x="4206240" y="3172968"/>
            <a:ext cx="640080" cy="274320"/>
          </a:xfrm>
          <a:prstGeom prst="rect">
            <a:avLst/>
          </a:prstGeom>
          <a:noFill/>
          <a:ln/>
        </p:spPr>
        <p:txBody>
          <a:bodyPr wrap="square" lIns="0" tIns="0" rIns="0" bIns="0" rtlCol="0" anchor="ctr"/>
          <a:lstStyle/>
          <a:p>
            <a:pPr algn="ctr" indent="0" marL="0">
              <a:buNone/>
            </a:pPr>
            <a:r>
              <a:rPr lang="en-US" sz="800" b="1" dirty="0">
                <a:solidFill>
                  <a:srgbClr val="2A1F3D"/>
                </a:solidFill>
                <a:latin typeface="Calibri" pitchFamily="34" charset="0"/>
                <a:ea typeface="Calibri" pitchFamily="34" charset="-122"/>
                <a:cs typeface="Calibri" pitchFamily="34" charset="-120"/>
              </a:rPr>
              <a:t>CH₃COOH</a:t>
            </a:r>
            <a:endParaRPr lang="en-US" sz="800" dirty="0"/>
          </a:p>
        </p:txBody>
      </p:sp>
      <p:sp>
        <p:nvSpPr>
          <p:cNvPr id="64" name="Shape 62"/>
          <p:cNvSpPr/>
          <p:nvPr/>
        </p:nvSpPr>
        <p:spPr>
          <a:xfrm>
            <a:off x="4882896" y="3108960"/>
            <a:ext cx="566928" cy="274320"/>
          </a:xfrm>
          <a:prstGeom prst="ellipse">
            <a:avLst/>
          </a:prstGeom>
          <a:solidFill>
            <a:srgbClr val="E5DED0"/>
          </a:solidFill>
          <a:ln w="12700">
            <a:solidFill>
              <a:srgbClr val="8A7A50"/>
            </a:solidFill>
            <a:prstDash val="solid"/>
          </a:ln>
        </p:spPr>
      </p:sp>
      <p:sp>
        <p:nvSpPr>
          <p:cNvPr id="65" name="Text 63"/>
          <p:cNvSpPr/>
          <p:nvPr/>
        </p:nvSpPr>
        <p:spPr>
          <a:xfrm>
            <a:off x="4846320" y="3108960"/>
            <a:ext cx="640080" cy="274320"/>
          </a:xfrm>
          <a:prstGeom prst="rect">
            <a:avLst/>
          </a:prstGeom>
          <a:noFill/>
          <a:ln/>
        </p:spPr>
        <p:txBody>
          <a:bodyPr wrap="square" lIns="0" tIns="0" rIns="0" bIns="0" rtlCol="0" anchor="ctr"/>
          <a:lstStyle/>
          <a:p>
            <a:pPr algn="ctr" indent="0" marL="0">
              <a:buNone/>
            </a:pPr>
            <a:r>
              <a:rPr lang="en-US" sz="800" b="1" dirty="0">
                <a:solidFill>
                  <a:srgbClr val="2A1F3D"/>
                </a:solidFill>
                <a:latin typeface="Calibri" pitchFamily="34" charset="0"/>
                <a:ea typeface="Calibri" pitchFamily="34" charset="-122"/>
                <a:cs typeface="Calibri" pitchFamily="34" charset="-120"/>
              </a:rPr>
              <a:t>CH₃COOH</a:t>
            </a:r>
            <a:endParaRPr lang="en-US" sz="800" dirty="0"/>
          </a:p>
        </p:txBody>
      </p:sp>
      <p:sp>
        <p:nvSpPr>
          <p:cNvPr id="66" name="Shape 64"/>
          <p:cNvSpPr/>
          <p:nvPr/>
        </p:nvSpPr>
        <p:spPr>
          <a:xfrm>
            <a:off x="4974336" y="2578608"/>
            <a:ext cx="292608" cy="292608"/>
          </a:xfrm>
          <a:prstGeom prst="ellipse">
            <a:avLst/>
          </a:prstGeom>
          <a:solidFill>
            <a:srgbClr val="F6B0A8"/>
          </a:solidFill>
          <a:ln w="12700">
            <a:solidFill>
              <a:srgbClr val="B7372B"/>
            </a:solidFill>
            <a:prstDash val="solid"/>
          </a:ln>
        </p:spPr>
      </p:sp>
      <p:sp>
        <p:nvSpPr>
          <p:cNvPr id="67" name="Text 65"/>
          <p:cNvSpPr/>
          <p:nvPr/>
        </p:nvSpPr>
        <p:spPr>
          <a:xfrm>
            <a:off x="4882896" y="2578608"/>
            <a:ext cx="475488" cy="292608"/>
          </a:xfrm>
          <a:prstGeom prst="rect">
            <a:avLst/>
          </a:prstGeom>
          <a:noFill/>
          <a:ln/>
        </p:spPr>
        <p:txBody>
          <a:bodyPr wrap="square" lIns="0" tIns="0" rIns="0" bIns="0" rtlCol="0" anchor="ctr"/>
          <a:lstStyle/>
          <a:p>
            <a:pPr algn="ctr" indent="0" marL="0">
              <a:buNone/>
            </a:pPr>
            <a:r>
              <a:rPr lang="en-US" sz="900" b="1" dirty="0">
                <a:solidFill>
                  <a:srgbClr val="2A1F3D"/>
                </a:solidFill>
                <a:latin typeface="Calibri" pitchFamily="34" charset="0"/>
                <a:ea typeface="Calibri" pitchFamily="34" charset="-122"/>
                <a:cs typeface="Calibri" pitchFamily="34" charset="-120"/>
              </a:rPr>
              <a:t>H⁺</a:t>
            </a:r>
            <a:endParaRPr lang="en-US" sz="900" dirty="0"/>
          </a:p>
        </p:txBody>
      </p:sp>
      <p:sp>
        <p:nvSpPr>
          <p:cNvPr id="68" name="Text 66"/>
          <p:cNvSpPr/>
          <p:nvPr/>
        </p:nvSpPr>
        <p:spPr>
          <a:xfrm>
            <a:off x="685800" y="3675888"/>
            <a:ext cx="2194560" cy="237744"/>
          </a:xfrm>
          <a:prstGeom prst="rect">
            <a:avLst/>
          </a:prstGeom>
          <a:noFill/>
          <a:ln/>
        </p:spPr>
        <p:txBody>
          <a:bodyPr wrap="square" lIns="0" tIns="0" rIns="0" bIns="0" rtlCol="0" anchor="ctr"/>
          <a:lstStyle/>
          <a:p>
            <a:pPr algn="ctr" indent="0" marL="0">
              <a:buNone/>
            </a:pPr>
            <a:r>
              <a:rPr lang="en-US" sz="1050" dirty="0">
                <a:solidFill>
                  <a:srgbClr val="B7372B"/>
                </a:solidFill>
                <a:latin typeface="Calibri" pitchFamily="34" charset="0"/>
                <a:ea typeface="Calibri" pitchFamily="34" charset="-122"/>
                <a:cs typeface="Calibri" pitchFamily="34" charset="-120"/>
              </a:rPr>
              <a:t>all molecules </a:t>
            </a:r>
            <a:r>
              <a:rPr lang="en-US" sz="1050" b="1" dirty="0">
                <a:solidFill>
                  <a:srgbClr val="B7372B"/>
                </a:solidFill>
                <a:latin typeface="Calibri" pitchFamily="34" charset="0"/>
                <a:ea typeface="Calibri" pitchFamily="34" charset="-122"/>
                <a:cs typeface="Calibri" pitchFamily="34" charset="-120"/>
              </a:rPr>
              <a:t>ionised</a:t>
            </a:r>
            <a:endParaRPr lang="en-US" sz="1050" dirty="0"/>
          </a:p>
        </p:txBody>
      </p:sp>
      <p:sp>
        <p:nvSpPr>
          <p:cNvPr id="69" name="Text 67"/>
          <p:cNvSpPr/>
          <p:nvPr/>
        </p:nvSpPr>
        <p:spPr>
          <a:xfrm>
            <a:off x="3337560" y="3675888"/>
            <a:ext cx="2194560" cy="237744"/>
          </a:xfrm>
          <a:prstGeom prst="rect">
            <a:avLst/>
          </a:prstGeom>
          <a:noFill/>
          <a:ln/>
        </p:spPr>
        <p:txBody>
          <a:bodyPr wrap="square" lIns="0" tIns="0" rIns="0" bIns="0" rtlCol="0" anchor="ctr"/>
          <a:lstStyle/>
          <a:p>
            <a:pPr algn="ctr" indent="0" marL="0">
              <a:buNone/>
            </a:pPr>
            <a:r>
              <a:rPr lang="en-US" sz="1050" dirty="0">
                <a:solidFill>
                  <a:srgbClr val="8A7A50"/>
                </a:solidFill>
                <a:latin typeface="Calibri" pitchFamily="34" charset="0"/>
                <a:ea typeface="Calibri" pitchFamily="34" charset="-122"/>
                <a:cs typeface="Calibri" pitchFamily="34" charset="-120"/>
              </a:rPr>
              <a:t>only about </a:t>
            </a:r>
            <a:r>
              <a:rPr lang="en-US" sz="1050" b="1" dirty="0">
                <a:solidFill>
                  <a:srgbClr val="8A7A50"/>
                </a:solidFill>
                <a:latin typeface="Calibri" pitchFamily="34" charset="0"/>
                <a:ea typeface="Calibri" pitchFamily="34" charset="-122"/>
                <a:cs typeface="Calibri" pitchFamily="34" charset="-120"/>
              </a:rPr>
              <a:t>1 in 75</a:t>
            </a:r>
            <a:r>
              <a:rPr lang="en-US" sz="1050" dirty="0">
                <a:solidFill>
                  <a:srgbClr val="8A7A50"/>
                </a:solidFill>
                <a:latin typeface="Calibri" pitchFamily="34" charset="0"/>
                <a:ea typeface="Calibri" pitchFamily="34" charset="-122"/>
                <a:cs typeface="Calibri" pitchFamily="34" charset="-120"/>
              </a:rPr>
              <a:t> ionised</a:t>
            </a:r>
            <a:endParaRPr lang="en-US" sz="1050" dirty="0"/>
          </a:p>
        </p:txBody>
      </p:sp>
      <p:sp>
        <p:nvSpPr>
          <p:cNvPr id="70" name="Shape 68"/>
          <p:cNvSpPr/>
          <p:nvPr/>
        </p:nvSpPr>
        <p:spPr>
          <a:xfrm>
            <a:off x="640080" y="4069080"/>
            <a:ext cx="5120640" cy="347472"/>
          </a:xfrm>
          <a:prstGeom prst="roundRect">
            <a:avLst>
              <a:gd name="adj" fmla="val 13158"/>
            </a:avLst>
          </a:prstGeom>
          <a:solidFill>
            <a:srgbClr val="FFFFFF"/>
          </a:solidFill>
          <a:ln w="12700">
            <a:solidFill>
              <a:srgbClr val="DDD3EC"/>
            </a:solidFill>
            <a:prstDash val="solid"/>
          </a:ln>
        </p:spPr>
      </p:sp>
      <p:sp>
        <p:nvSpPr>
          <p:cNvPr id="71" name="Text 69"/>
          <p:cNvSpPr/>
          <p:nvPr/>
        </p:nvSpPr>
        <p:spPr>
          <a:xfrm>
            <a:off x="713232" y="4069080"/>
            <a:ext cx="4974336" cy="347472"/>
          </a:xfrm>
          <a:prstGeom prst="rect">
            <a:avLst/>
          </a:prstGeom>
          <a:noFill/>
          <a:ln/>
        </p:spPr>
        <p:txBody>
          <a:bodyPr wrap="square" lIns="0" tIns="0" rIns="0" bIns="0" rtlCol="0" anchor="ctr"/>
          <a:lstStyle/>
          <a:p>
            <a:pPr algn="ctr" indent="0" marL="0">
              <a:buNone/>
            </a:pPr>
            <a:r>
              <a:rPr lang="en-US" sz="1150" b="1" dirty="0">
                <a:solidFill>
                  <a:srgbClr val="2A1F3D"/>
                </a:solidFill>
                <a:latin typeface="Calibri" pitchFamily="34" charset="0"/>
                <a:ea typeface="Calibri" pitchFamily="34" charset="-122"/>
                <a:cs typeface="Calibri" pitchFamily="34" charset="-120"/>
              </a:rPr>
              <a:t>Strong:  HCl(aq) → H⁺(aq) + Cl⁻(aq)</a:t>
            </a:r>
            <a:endParaRPr lang="en-US" sz="1150" dirty="0"/>
          </a:p>
        </p:txBody>
      </p:sp>
      <p:sp>
        <p:nvSpPr>
          <p:cNvPr id="72" name="Shape 70"/>
          <p:cNvSpPr/>
          <p:nvPr/>
        </p:nvSpPr>
        <p:spPr>
          <a:xfrm>
            <a:off x="640080" y="4498848"/>
            <a:ext cx="5120640" cy="347472"/>
          </a:xfrm>
          <a:prstGeom prst="roundRect">
            <a:avLst>
              <a:gd name="adj" fmla="val 13158"/>
            </a:avLst>
          </a:prstGeom>
          <a:solidFill>
            <a:srgbClr val="FFFFFF"/>
          </a:solidFill>
          <a:ln w="12700">
            <a:solidFill>
              <a:srgbClr val="DDD3EC"/>
            </a:solidFill>
            <a:prstDash val="solid"/>
          </a:ln>
        </p:spPr>
      </p:sp>
      <p:sp>
        <p:nvSpPr>
          <p:cNvPr id="73" name="Text 71"/>
          <p:cNvSpPr/>
          <p:nvPr/>
        </p:nvSpPr>
        <p:spPr>
          <a:xfrm>
            <a:off x="713232" y="4498848"/>
            <a:ext cx="4974336" cy="347472"/>
          </a:xfrm>
          <a:prstGeom prst="rect">
            <a:avLst/>
          </a:prstGeom>
          <a:noFill/>
          <a:ln/>
        </p:spPr>
        <p:txBody>
          <a:bodyPr wrap="square" lIns="0" tIns="0" rIns="0" bIns="0" rtlCol="0" anchor="ctr"/>
          <a:lstStyle/>
          <a:p>
            <a:pPr algn="ctr" indent="0" marL="0">
              <a:buNone/>
            </a:pPr>
            <a:r>
              <a:rPr lang="en-US" sz="1150" b="1" dirty="0">
                <a:solidFill>
                  <a:srgbClr val="2A1F3D"/>
                </a:solidFill>
                <a:latin typeface="Calibri" pitchFamily="34" charset="0"/>
                <a:ea typeface="Calibri" pitchFamily="34" charset="-122"/>
                <a:cs typeface="Calibri" pitchFamily="34" charset="-120"/>
              </a:rPr>
              <a:t>Weak:  CH₃COOH(aq) ⇌ H⁺(aq) + CH₃COO⁻(aq)</a:t>
            </a:r>
            <a:endParaRPr lang="en-US" sz="1150" dirty="0"/>
          </a:p>
        </p:txBody>
      </p:sp>
      <p:sp>
        <p:nvSpPr>
          <p:cNvPr id="74" name="Text 72"/>
          <p:cNvSpPr/>
          <p:nvPr/>
        </p:nvSpPr>
        <p:spPr>
          <a:xfrm>
            <a:off x="640080" y="4919472"/>
            <a:ext cx="5120640" cy="274320"/>
          </a:xfrm>
          <a:prstGeom prst="rect">
            <a:avLst/>
          </a:prstGeom>
          <a:noFill/>
          <a:ln/>
        </p:spPr>
        <p:txBody>
          <a:bodyPr wrap="square" lIns="0" tIns="0" rIns="0" bIns="0" rtlCol="0" anchor="ctr"/>
          <a:lstStyle/>
          <a:p>
            <a:pPr algn="ctr" indent="0" marL="0">
              <a:buNone/>
            </a:pPr>
            <a:r>
              <a:rPr lang="en-US" sz="1050" i="1" dirty="0">
                <a:solidFill>
                  <a:srgbClr val="6B7385"/>
                </a:solidFill>
                <a:latin typeface="Calibri" pitchFamily="34" charset="0"/>
                <a:ea typeface="Calibri" pitchFamily="34" charset="-122"/>
                <a:cs typeface="Calibri" pitchFamily="34" charset="-120"/>
              </a:rPr>
              <a:t>⇌ means the reaction is </a:t>
            </a:r>
            <a:r>
              <a:rPr lang="en-US" sz="1050" b="1" i="1" dirty="0">
                <a:solidFill>
                  <a:srgbClr val="6B7385"/>
                </a:solidFill>
                <a:latin typeface="Calibri" pitchFamily="34" charset="0"/>
                <a:ea typeface="Calibri" pitchFamily="34" charset="-122"/>
                <a:cs typeface="Calibri" pitchFamily="34" charset="-120"/>
              </a:rPr>
              <a:t>reversible</a:t>
            </a:r>
            <a:r>
              <a:rPr lang="en-US" sz="1050" i="1" dirty="0">
                <a:solidFill>
                  <a:srgbClr val="6B7385"/>
                </a:solidFill>
                <a:latin typeface="Calibri" pitchFamily="34" charset="0"/>
                <a:ea typeface="Calibri" pitchFamily="34" charset="-122"/>
                <a:cs typeface="Calibri" pitchFamily="34" charset="-120"/>
              </a:rPr>
              <a:t>: most molecules stay whole</a:t>
            </a:r>
            <a:endParaRPr lang="en-US" sz="1050" dirty="0"/>
          </a:p>
        </p:txBody>
      </p:sp>
      <p:sp>
        <p:nvSpPr>
          <p:cNvPr id="75" name="Shape 73"/>
          <p:cNvSpPr/>
          <p:nvPr/>
        </p:nvSpPr>
        <p:spPr>
          <a:xfrm>
            <a:off x="6217920" y="1188720"/>
            <a:ext cx="5562295" cy="3200400"/>
          </a:xfrm>
          <a:prstGeom prst="roundRect">
            <a:avLst>
              <a:gd name="adj" fmla="val 1714"/>
            </a:avLst>
          </a:prstGeom>
          <a:solidFill>
            <a:srgbClr val="F8F5FC"/>
          </a:solidFill>
          <a:ln w="9525">
            <a:solidFill>
              <a:srgbClr val="DDD3EC"/>
            </a:solidFill>
            <a:prstDash val="solid"/>
          </a:ln>
        </p:spPr>
      </p:sp>
      <p:sp>
        <p:nvSpPr>
          <p:cNvPr id="76" name="Text 74"/>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2A1F3D"/>
                </a:solidFill>
                <a:latin typeface="Calibri" pitchFamily="34" charset="0"/>
                <a:ea typeface="Calibri" pitchFamily="34" charset="-122"/>
                <a:cs typeface="Calibri" pitchFamily="34" charset="-120"/>
              </a:rPr>
              <a:t>Degree of ionisation</a:t>
            </a:r>
            <a:endParaRPr lang="en-US" sz="1300" dirty="0"/>
          </a:p>
        </p:txBody>
      </p:sp>
      <p:sp>
        <p:nvSpPr>
          <p:cNvPr id="77" name="Text 75"/>
          <p:cNvSpPr/>
          <p:nvPr/>
        </p:nvSpPr>
        <p:spPr>
          <a:xfrm>
            <a:off x="6382512" y="1609344"/>
            <a:ext cx="5233111" cy="2706624"/>
          </a:xfrm>
          <a:prstGeom prst="rect">
            <a:avLst/>
          </a:prstGeom>
          <a:noFill/>
          <a:ln/>
        </p:spPr>
        <p:txBody>
          <a:bodyPr wrap="square" lIns="0" tIns="0" rIns="0" bIns="0" rtlCol="0" anchor="t"/>
          <a:lstStyle/>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A </a:t>
            </a:r>
            <a:r>
              <a:rPr lang="en-US" sz="1100" b="1" dirty="0">
                <a:solidFill>
                  <a:srgbClr val="262B3A"/>
                </a:solidFill>
                <a:latin typeface="Calibri" pitchFamily="34" charset="0"/>
                <a:ea typeface="Calibri" pitchFamily="34" charset="-122"/>
                <a:cs typeface="Calibri" pitchFamily="34" charset="-120"/>
              </a:rPr>
              <a:t>strong acid</a:t>
            </a:r>
            <a:r>
              <a:rPr lang="en-US" sz="1100" dirty="0">
                <a:solidFill>
                  <a:srgbClr val="262B3A"/>
                </a:solidFill>
                <a:latin typeface="Calibri" pitchFamily="34" charset="0"/>
                <a:ea typeface="Calibri" pitchFamily="34" charset="-122"/>
                <a:cs typeface="Calibri" pitchFamily="34" charset="-120"/>
              </a:rPr>
              <a:t> is </a:t>
            </a:r>
            <a:r>
              <a:rPr lang="en-US" sz="1100" b="1" dirty="0">
                <a:solidFill>
                  <a:srgbClr val="262B3A"/>
                </a:solidFill>
                <a:latin typeface="Calibri" pitchFamily="34" charset="0"/>
                <a:ea typeface="Calibri" pitchFamily="34" charset="-122"/>
                <a:cs typeface="Calibri" pitchFamily="34" charset="-120"/>
              </a:rPr>
              <a:t>completely ionised</a:t>
            </a:r>
            <a:r>
              <a:rPr lang="en-US" sz="1100" dirty="0">
                <a:solidFill>
                  <a:srgbClr val="262B3A"/>
                </a:solidFill>
                <a:latin typeface="Calibri" pitchFamily="34" charset="0"/>
                <a:ea typeface="Calibri" pitchFamily="34" charset="-122"/>
                <a:cs typeface="Calibri" pitchFamily="34" charset="-120"/>
              </a:rPr>
              <a:t> in water: every molecule forms H⁺ ions. Examples: </a:t>
            </a:r>
            <a:r>
              <a:rPr lang="en-US" sz="1100" b="1" dirty="0">
                <a:solidFill>
                  <a:srgbClr val="262B3A"/>
                </a:solidFill>
                <a:latin typeface="Calibri" pitchFamily="34" charset="0"/>
                <a:ea typeface="Calibri" pitchFamily="34" charset="-122"/>
                <a:cs typeface="Calibri" pitchFamily="34" charset="-120"/>
              </a:rPr>
              <a:t>hydrochloric, sulfuric, nitric</a:t>
            </a:r>
            <a:r>
              <a:rPr lang="en-US" sz="1100" dirty="0">
                <a:solidFill>
                  <a:srgbClr val="262B3A"/>
                </a:solidFill>
                <a:latin typeface="Calibri" pitchFamily="34" charset="0"/>
                <a:ea typeface="Calibri" pitchFamily="34" charset="-122"/>
                <a:cs typeface="Calibri" pitchFamily="34" charset="-120"/>
              </a:rPr>
              <a:t>.</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A </a:t>
            </a:r>
            <a:r>
              <a:rPr lang="en-US" sz="1100" b="1" dirty="0">
                <a:solidFill>
                  <a:srgbClr val="262B3A"/>
                </a:solidFill>
                <a:latin typeface="Calibri" pitchFamily="34" charset="0"/>
                <a:ea typeface="Calibri" pitchFamily="34" charset="-122"/>
                <a:cs typeface="Calibri" pitchFamily="34" charset="-120"/>
              </a:rPr>
              <a:t>weak acid</a:t>
            </a:r>
            <a:r>
              <a:rPr lang="en-US" sz="1100" dirty="0">
                <a:solidFill>
                  <a:srgbClr val="262B3A"/>
                </a:solidFill>
                <a:latin typeface="Calibri" pitchFamily="34" charset="0"/>
                <a:ea typeface="Calibri" pitchFamily="34" charset="-122"/>
                <a:cs typeface="Calibri" pitchFamily="34" charset="-120"/>
              </a:rPr>
              <a:t> is only </a:t>
            </a:r>
            <a:r>
              <a:rPr lang="en-US" sz="1100" b="1" dirty="0">
                <a:solidFill>
                  <a:srgbClr val="262B3A"/>
                </a:solidFill>
                <a:latin typeface="Calibri" pitchFamily="34" charset="0"/>
                <a:ea typeface="Calibri" pitchFamily="34" charset="-122"/>
                <a:cs typeface="Calibri" pitchFamily="34" charset="-120"/>
              </a:rPr>
              <a:t>partially ionised</a:t>
            </a:r>
            <a:r>
              <a:rPr lang="en-US" sz="1100" dirty="0">
                <a:solidFill>
                  <a:srgbClr val="262B3A"/>
                </a:solidFill>
                <a:latin typeface="Calibri" pitchFamily="34" charset="0"/>
                <a:ea typeface="Calibri" pitchFamily="34" charset="-122"/>
                <a:cs typeface="Calibri" pitchFamily="34" charset="-120"/>
              </a:rPr>
              <a:t>: most molecules stay whole. Examples: </a:t>
            </a:r>
            <a:r>
              <a:rPr lang="en-US" sz="1100" b="1" dirty="0">
                <a:solidFill>
                  <a:srgbClr val="262B3A"/>
                </a:solidFill>
                <a:latin typeface="Calibri" pitchFamily="34" charset="0"/>
                <a:ea typeface="Calibri" pitchFamily="34" charset="-122"/>
                <a:cs typeface="Calibri" pitchFamily="34" charset="-120"/>
              </a:rPr>
              <a:t>ethanoic</a:t>
            </a:r>
            <a:r>
              <a:rPr lang="en-US" sz="1100" dirty="0">
                <a:solidFill>
                  <a:srgbClr val="262B3A"/>
                </a:solidFill>
                <a:latin typeface="Calibri" pitchFamily="34" charset="0"/>
                <a:ea typeface="Calibri" pitchFamily="34" charset="-122"/>
                <a:cs typeface="Calibri" pitchFamily="34" charset="-120"/>
              </a:rPr>
              <a:t> (vinegar), </a:t>
            </a:r>
            <a:r>
              <a:rPr lang="en-US" sz="1100" b="1" dirty="0">
                <a:solidFill>
                  <a:srgbClr val="262B3A"/>
                </a:solidFill>
                <a:latin typeface="Calibri" pitchFamily="34" charset="0"/>
                <a:ea typeface="Calibri" pitchFamily="34" charset="-122"/>
                <a:cs typeface="Calibri" pitchFamily="34" charset="-120"/>
              </a:rPr>
              <a:t>citric</a:t>
            </a:r>
            <a:r>
              <a:rPr lang="en-US" sz="1100" dirty="0">
                <a:solidFill>
                  <a:srgbClr val="262B3A"/>
                </a:solidFill>
                <a:latin typeface="Calibri" pitchFamily="34" charset="0"/>
                <a:ea typeface="Calibri" pitchFamily="34" charset="-122"/>
                <a:cs typeface="Calibri" pitchFamily="34" charset="-120"/>
              </a:rPr>
              <a:t>, </a:t>
            </a:r>
            <a:r>
              <a:rPr lang="en-US" sz="1100" b="1" dirty="0">
                <a:solidFill>
                  <a:srgbClr val="262B3A"/>
                </a:solidFill>
                <a:latin typeface="Calibri" pitchFamily="34" charset="0"/>
                <a:ea typeface="Calibri" pitchFamily="34" charset="-122"/>
                <a:cs typeface="Calibri" pitchFamily="34" charset="-120"/>
              </a:rPr>
              <a:t>carbonic</a:t>
            </a:r>
            <a:r>
              <a:rPr lang="en-US" sz="1100" dirty="0">
                <a:solidFill>
                  <a:srgbClr val="262B3A"/>
                </a:solidFill>
                <a:latin typeface="Calibri" pitchFamily="34" charset="0"/>
                <a:ea typeface="Calibri" pitchFamily="34" charset="-122"/>
                <a:cs typeface="Calibri" pitchFamily="34" charset="-120"/>
              </a:rPr>
              <a:t>.</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At the </a:t>
            </a:r>
            <a:r>
              <a:rPr lang="en-US" sz="1100" b="1" dirty="0">
                <a:solidFill>
                  <a:srgbClr val="262B3A"/>
                </a:solidFill>
                <a:latin typeface="Calibri" pitchFamily="34" charset="0"/>
                <a:ea typeface="Calibri" pitchFamily="34" charset="-122"/>
                <a:cs typeface="Calibri" pitchFamily="34" charset="-120"/>
              </a:rPr>
              <a:t>same concentration</a:t>
            </a:r>
            <a:r>
              <a:rPr lang="en-US" sz="1100" dirty="0">
                <a:solidFill>
                  <a:srgbClr val="262B3A"/>
                </a:solidFill>
                <a:latin typeface="Calibri" pitchFamily="34" charset="0"/>
                <a:ea typeface="Calibri" pitchFamily="34" charset="-122"/>
                <a:cs typeface="Calibri" pitchFamily="34" charset="-120"/>
              </a:rPr>
              <a:t>, a strong acid has a </a:t>
            </a:r>
            <a:r>
              <a:rPr lang="en-US" sz="1100" b="1" dirty="0">
                <a:solidFill>
                  <a:srgbClr val="262B3A"/>
                </a:solidFill>
                <a:latin typeface="Calibri" pitchFamily="34" charset="0"/>
                <a:ea typeface="Calibri" pitchFamily="34" charset="-122"/>
                <a:cs typeface="Calibri" pitchFamily="34" charset="-120"/>
              </a:rPr>
              <a:t>higher [H⁺]</a:t>
            </a:r>
            <a:r>
              <a:rPr lang="en-US" sz="1100" dirty="0">
                <a:solidFill>
                  <a:srgbClr val="262B3A"/>
                </a:solidFill>
                <a:latin typeface="Calibri" pitchFamily="34" charset="0"/>
                <a:ea typeface="Calibri" pitchFamily="34" charset="-122"/>
                <a:cs typeface="Calibri" pitchFamily="34" charset="-120"/>
              </a:rPr>
              <a:t>, so a </a:t>
            </a:r>
            <a:r>
              <a:rPr lang="en-US" sz="1100" b="1" dirty="0">
                <a:solidFill>
                  <a:srgbClr val="262B3A"/>
                </a:solidFill>
                <a:latin typeface="Calibri" pitchFamily="34" charset="0"/>
                <a:ea typeface="Calibri" pitchFamily="34" charset="-122"/>
                <a:cs typeface="Calibri" pitchFamily="34" charset="-120"/>
              </a:rPr>
              <a:t>lower pH</a:t>
            </a:r>
            <a:r>
              <a:rPr lang="en-US" sz="1100" dirty="0">
                <a:solidFill>
                  <a:srgbClr val="262B3A"/>
                </a:solidFill>
                <a:latin typeface="Calibri" pitchFamily="34" charset="0"/>
                <a:ea typeface="Calibri" pitchFamily="34" charset="-122"/>
                <a:cs typeface="Calibri" pitchFamily="34" charset="-120"/>
              </a:rPr>
              <a:t>.</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It also reacts </a:t>
            </a:r>
            <a:r>
              <a:rPr lang="en-US" sz="1100" b="1" dirty="0">
                <a:solidFill>
                  <a:srgbClr val="262B3A"/>
                </a:solidFill>
                <a:latin typeface="Calibri" pitchFamily="34" charset="0"/>
                <a:ea typeface="Calibri" pitchFamily="34" charset="-122"/>
                <a:cs typeface="Calibri" pitchFamily="34" charset="-120"/>
              </a:rPr>
              <a:t>more vigorously</a:t>
            </a:r>
            <a:r>
              <a:rPr lang="en-US" sz="1100" dirty="0">
                <a:solidFill>
                  <a:srgbClr val="262B3A"/>
                </a:solidFill>
                <a:latin typeface="Calibri" pitchFamily="34" charset="0"/>
                <a:ea typeface="Calibri" pitchFamily="34" charset="-122"/>
                <a:cs typeface="Calibri" pitchFamily="34" charset="-120"/>
              </a:rPr>
              <a:t> with metals and carbonates (more H⁺ ions to react).</a:t>
            </a:r>
            <a:endParaRPr lang="en-US" sz="1100" dirty="0"/>
          </a:p>
          <a:p>
            <a:pPr marL="152400" indent="-152400">
              <a:spcAft>
                <a:spcPts val="300"/>
              </a:spcAft>
              <a:buSzPct val="100000"/>
              <a:buChar char="▪"/>
            </a:pPr>
            <a:r>
              <a:rPr lang="en-US" sz="1100" b="1" dirty="0">
                <a:solidFill>
                  <a:srgbClr val="262B3A"/>
                </a:solidFill>
                <a:latin typeface="Calibri" pitchFamily="34" charset="0"/>
                <a:ea typeface="Calibri" pitchFamily="34" charset="-122"/>
                <a:cs typeface="Calibri" pitchFamily="34" charset="-120"/>
              </a:rPr>
              <a:t>Strong / weak</a:t>
            </a:r>
            <a:r>
              <a:rPr lang="en-US" sz="1100" dirty="0">
                <a:solidFill>
                  <a:srgbClr val="262B3A"/>
                </a:solidFill>
                <a:latin typeface="Calibri" pitchFamily="34" charset="0"/>
                <a:ea typeface="Calibri" pitchFamily="34" charset="-122"/>
                <a:cs typeface="Calibri" pitchFamily="34" charset="-120"/>
              </a:rPr>
              <a:t> is about the </a:t>
            </a:r>
            <a:r>
              <a:rPr lang="en-US" sz="1100" b="1" dirty="0">
                <a:solidFill>
                  <a:srgbClr val="262B3A"/>
                </a:solidFill>
                <a:latin typeface="Calibri" pitchFamily="34" charset="0"/>
                <a:ea typeface="Calibri" pitchFamily="34" charset="-122"/>
                <a:cs typeface="Calibri" pitchFamily="34" charset="-120"/>
              </a:rPr>
              <a:t>type</a:t>
            </a:r>
            <a:r>
              <a:rPr lang="en-US" sz="1100" dirty="0">
                <a:solidFill>
                  <a:srgbClr val="262B3A"/>
                </a:solidFill>
                <a:latin typeface="Calibri" pitchFamily="34" charset="0"/>
                <a:ea typeface="Calibri" pitchFamily="34" charset="-122"/>
                <a:cs typeface="Calibri" pitchFamily="34" charset="-120"/>
              </a:rPr>
              <a:t> of acid. It is </a:t>
            </a:r>
            <a:r>
              <a:rPr lang="en-US" sz="1100" b="1" dirty="0">
                <a:solidFill>
                  <a:srgbClr val="262B3A"/>
                </a:solidFill>
                <a:latin typeface="Calibri" pitchFamily="34" charset="0"/>
                <a:ea typeface="Calibri" pitchFamily="34" charset="-122"/>
                <a:cs typeface="Calibri" pitchFamily="34" charset="-120"/>
              </a:rPr>
              <a:t>not</a:t>
            </a:r>
            <a:r>
              <a:rPr lang="en-US" sz="1100" dirty="0">
                <a:solidFill>
                  <a:srgbClr val="262B3A"/>
                </a:solidFill>
                <a:latin typeface="Calibri" pitchFamily="34" charset="0"/>
                <a:ea typeface="Calibri" pitchFamily="34" charset="-122"/>
                <a:cs typeface="Calibri" pitchFamily="34" charset="-120"/>
              </a:rPr>
              <a:t> the same as concentrated / dilute.</a:t>
            </a:r>
            <a:endParaRPr lang="en-US" sz="1100" dirty="0"/>
          </a:p>
        </p:txBody>
      </p:sp>
      <p:sp>
        <p:nvSpPr>
          <p:cNvPr id="78" name="Shape 76"/>
          <p:cNvSpPr/>
          <p:nvPr/>
        </p:nvSpPr>
        <p:spPr>
          <a:xfrm>
            <a:off x="6217920" y="4526280"/>
            <a:ext cx="5562295" cy="1188720"/>
          </a:xfrm>
          <a:prstGeom prst="roundRect">
            <a:avLst>
              <a:gd name="adj" fmla="val 4615"/>
            </a:avLst>
          </a:prstGeom>
          <a:solidFill>
            <a:srgbClr val="FFF4E0"/>
          </a:solidFill>
          <a:ln w="9525">
            <a:solidFill>
              <a:srgbClr val="F1D9A8"/>
            </a:solidFill>
            <a:prstDash val="solid"/>
          </a:ln>
        </p:spPr>
      </p:sp>
      <p:sp>
        <p:nvSpPr>
          <p:cNvPr id="79" name="Text 77"/>
          <p:cNvSpPr/>
          <p:nvPr/>
        </p:nvSpPr>
        <p:spPr>
          <a:xfrm>
            <a:off x="6382512" y="459943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 compare the pH</a:t>
            </a:r>
            <a:endParaRPr lang="en-US" sz="1300" dirty="0"/>
          </a:p>
        </p:txBody>
      </p:sp>
      <p:sp>
        <p:nvSpPr>
          <p:cNvPr id="80" name="Text 78"/>
          <p:cNvSpPr/>
          <p:nvPr/>
        </p:nvSpPr>
        <p:spPr>
          <a:xfrm>
            <a:off x="6382512" y="4910328"/>
            <a:ext cx="5233111" cy="73152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0.10 mol/dm³ HCl has pH 1.0; 0.10 mol/dm³ ethanoic acid has pH 2.9.</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1 Explain   </a:t>
            </a:r>
            <a:r>
              <a:rPr lang="en-US" sz="1050" dirty="0">
                <a:solidFill>
                  <a:srgbClr val="262B3A"/>
                </a:solidFill>
                <a:latin typeface="Calibri" pitchFamily="34" charset="0"/>
                <a:ea typeface="Calibri" pitchFamily="34" charset="-122"/>
                <a:cs typeface="Calibri" pitchFamily="34" charset="-120"/>
              </a:rPr>
              <a:t>HCl fully ionised: more H⁺ at the same concentration</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2 Answer   </a:t>
            </a:r>
            <a:r>
              <a:rPr lang="en-US" sz="1050" b="1" dirty="0">
                <a:solidFill>
                  <a:srgbClr val="C8414C"/>
                </a:solidFill>
                <a:latin typeface="Calibri" pitchFamily="34" charset="0"/>
                <a:ea typeface="Calibri" pitchFamily="34" charset="-122"/>
                <a:cs typeface="Calibri" pitchFamily="34" charset="-120"/>
              </a:rPr>
              <a:t>HCl</a:t>
            </a:r>
            <a:r>
              <a:rPr lang="en-US" sz="1050" b="1" dirty="0">
                <a:solidFill>
                  <a:srgbClr val="C8414C"/>
                </a:solidFill>
                <a:latin typeface="Calibri" pitchFamily="34" charset="0"/>
                <a:ea typeface="Calibri" pitchFamily="34" charset="-122"/>
                <a:cs typeface="Calibri" pitchFamily="34" charset="-120"/>
              </a:rPr>
              <a:t> is the </a:t>
            </a:r>
            <a:r>
              <a:rPr lang="en-US" sz="1050" b="1" dirty="0">
                <a:solidFill>
                  <a:srgbClr val="C8414C"/>
                </a:solidFill>
                <a:latin typeface="Calibri" pitchFamily="34" charset="0"/>
                <a:ea typeface="Calibri" pitchFamily="34" charset="-122"/>
                <a:cs typeface="Calibri" pitchFamily="34" charset="-120"/>
              </a:rPr>
              <a:t>strong</a:t>
            </a:r>
            <a:r>
              <a:rPr lang="en-US" sz="1050" b="1" dirty="0">
                <a:solidFill>
                  <a:srgbClr val="C8414C"/>
                </a:solidFill>
                <a:latin typeface="Calibri" pitchFamily="34" charset="0"/>
                <a:ea typeface="Calibri" pitchFamily="34" charset="-122"/>
                <a:cs typeface="Calibri" pitchFamily="34" charset="-120"/>
              </a:rPr>
              <a:t> acid: lower pH</a:t>
            </a:r>
            <a:endParaRPr lang="en-US" sz="1050" dirty="0"/>
          </a:p>
        </p:txBody>
      </p:sp>
      <p:sp>
        <p:nvSpPr>
          <p:cNvPr id="81" name="Shape 79"/>
          <p:cNvSpPr/>
          <p:nvPr/>
        </p:nvSpPr>
        <p:spPr>
          <a:xfrm>
            <a:off x="411480" y="5833872"/>
            <a:ext cx="11368735" cy="530352"/>
          </a:xfrm>
          <a:prstGeom prst="rect">
            <a:avLst/>
          </a:prstGeom>
          <a:solidFill>
            <a:srgbClr val="FFF4E0"/>
          </a:solidFill>
          <a:ln w="6350">
            <a:solidFill>
              <a:srgbClr val="F1D9A8"/>
            </a:solidFill>
            <a:prstDash val="solid"/>
          </a:ln>
        </p:spPr>
      </p:sp>
      <p:sp>
        <p:nvSpPr>
          <p:cNvPr id="82" name="Shape 80"/>
          <p:cNvSpPr/>
          <p:nvPr/>
        </p:nvSpPr>
        <p:spPr>
          <a:xfrm>
            <a:off x="411480" y="5833872"/>
            <a:ext cx="82296" cy="530352"/>
          </a:xfrm>
          <a:prstGeom prst="rect">
            <a:avLst/>
          </a:prstGeom>
          <a:solidFill>
            <a:srgbClr val="E39A2F"/>
          </a:solidFill>
          <a:ln w="12700">
            <a:solidFill>
              <a:srgbClr val="E39A2F"/>
            </a:solidFill>
            <a:prstDash val="solid"/>
          </a:ln>
        </p:spPr>
      </p:sp>
      <p:sp>
        <p:nvSpPr>
          <p:cNvPr id="83" name="Text 81"/>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Magnesium is added to 0.10 mol/dm³ HCl and to 0.10 mol/dm³ ethanoic acid. Predict and explain the </a:t>
            </a:r>
            <a:r>
              <a:rPr lang="en-US" sz="1150" b="1" dirty="0">
                <a:solidFill>
                  <a:srgbClr val="262B3A"/>
                </a:solidFill>
                <a:latin typeface="Calibri" pitchFamily="34" charset="0"/>
                <a:ea typeface="Calibri" pitchFamily="34" charset="-122"/>
                <a:cs typeface="Calibri" pitchFamily="34" charset="-120"/>
              </a:rPr>
              <a:t>difference</a:t>
            </a:r>
            <a:r>
              <a:rPr lang="en-US" sz="1150" dirty="0">
                <a:solidFill>
                  <a:srgbClr val="262B3A"/>
                </a:solidFill>
                <a:latin typeface="Calibri" pitchFamily="34" charset="0"/>
                <a:ea typeface="Calibri" pitchFamily="34" charset="-122"/>
                <a:cs typeface="Calibri" pitchFamily="34" charset="-120"/>
              </a:rPr>
              <a:t> you would see.</a:t>
            </a:r>
            <a:endParaRPr lang="en-US" sz="12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Concentrated and dilute acids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Specification C6.1.5 • concentrated and dilute describe the amount of acid in a volume of solution</a:t>
            </a:r>
            <a:endParaRPr lang="en-US" sz="1100" dirty="0"/>
          </a:p>
        </p:txBody>
      </p:sp>
      <p:sp>
        <p:nvSpPr>
          <p:cNvPr id="6" name="Shape 4"/>
          <p:cNvSpPr/>
          <p:nvPr/>
        </p:nvSpPr>
        <p:spPr>
          <a:xfrm>
            <a:off x="11323015" y="292608"/>
            <a:ext cx="457200" cy="274320"/>
          </a:xfrm>
          <a:prstGeom prst="roundRect">
            <a:avLst>
              <a:gd name="adj" fmla="val 50000"/>
            </a:avLst>
          </a:prstGeom>
          <a:solidFill>
            <a:srgbClr val="C8414C"/>
          </a:solidFill>
          <a:ln w="12700">
            <a:solidFill>
              <a:srgbClr val="C8414C"/>
            </a:solidFill>
            <a:prstDash val="solid"/>
          </a:ln>
        </p:spPr>
      </p:sp>
      <p:sp>
        <p:nvSpPr>
          <p:cNvPr id="7" name="Text 5"/>
          <p:cNvSpPr/>
          <p:nvPr/>
        </p:nvSpPr>
        <p:spPr>
          <a:xfrm>
            <a:off x="11323015" y="292608"/>
            <a:ext cx="45720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8" name="Text 6"/>
          <p:cNvSpPr/>
          <p:nvPr/>
        </p:nvSpPr>
        <p:spPr>
          <a:xfrm>
            <a:off x="411480" y="6473952"/>
            <a:ext cx="1014984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C6.1 What useful products can be made from acids? | Higher &amp; Foundation</a:t>
            </a:r>
            <a:endParaRPr lang="en-US" sz="1000" dirty="0"/>
          </a:p>
        </p:txBody>
      </p:sp>
      <p:sp>
        <p:nvSpPr>
          <p:cNvPr id="9" name="Text 7"/>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C6.1.5  |  16</a:t>
            </a:r>
            <a:endParaRPr lang="en-US" sz="1000" dirty="0"/>
          </a:p>
        </p:txBody>
      </p:sp>
      <p:sp>
        <p:nvSpPr>
          <p:cNvPr id="10" name="Shape 8"/>
          <p:cNvSpPr/>
          <p:nvPr/>
        </p:nvSpPr>
        <p:spPr>
          <a:xfrm>
            <a:off x="411480" y="1188720"/>
            <a:ext cx="5577840" cy="4526280"/>
          </a:xfrm>
          <a:prstGeom prst="roundRect">
            <a:avLst>
              <a:gd name="adj" fmla="val 1616"/>
            </a:avLst>
          </a:prstGeom>
          <a:solidFill>
            <a:srgbClr val="F4F0FA"/>
          </a:solidFill>
          <a:ln w="9525">
            <a:solidFill>
              <a:srgbClr val="DED4EE"/>
            </a:solidFill>
            <a:prstDash val="solid"/>
          </a:ln>
        </p:spPr>
      </p:sp>
      <p:sp>
        <p:nvSpPr>
          <p:cNvPr id="11" name="Text 9"/>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each beaker holds the same volume; ● = acid particle (ionised or not)</a:t>
            </a:r>
            <a:endParaRPr lang="en-US" sz="1000" dirty="0"/>
          </a:p>
        </p:txBody>
      </p:sp>
      <p:sp>
        <p:nvSpPr>
          <p:cNvPr id="12" name="Text 10"/>
          <p:cNvSpPr/>
          <p:nvPr/>
        </p:nvSpPr>
        <p:spPr>
          <a:xfrm>
            <a:off x="1828800" y="1298448"/>
            <a:ext cx="1828800" cy="237744"/>
          </a:xfrm>
          <a:prstGeom prst="rect">
            <a:avLst/>
          </a:prstGeom>
          <a:noFill/>
          <a:ln/>
        </p:spPr>
        <p:txBody>
          <a:bodyPr wrap="square" lIns="0" tIns="0" rIns="0" bIns="0" rtlCol="0" anchor="ctr"/>
          <a:lstStyle/>
          <a:p>
            <a:pPr algn="ctr" indent="0" marL="0">
              <a:buNone/>
            </a:pPr>
            <a:r>
              <a:rPr lang="en-US" sz="1100" b="1" dirty="0">
                <a:solidFill>
                  <a:srgbClr val="262B3A"/>
                </a:solidFill>
                <a:latin typeface="Calibri" pitchFamily="34" charset="0"/>
                <a:ea typeface="Calibri" pitchFamily="34" charset="-122"/>
                <a:cs typeface="Calibri" pitchFamily="34" charset="-120"/>
              </a:rPr>
              <a:t>Concentrated</a:t>
            </a:r>
            <a:endParaRPr lang="en-US" sz="1100" dirty="0"/>
          </a:p>
        </p:txBody>
      </p:sp>
      <p:sp>
        <p:nvSpPr>
          <p:cNvPr id="13" name="Text 11"/>
          <p:cNvSpPr/>
          <p:nvPr/>
        </p:nvSpPr>
        <p:spPr>
          <a:xfrm>
            <a:off x="3886200" y="1298448"/>
            <a:ext cx="1828800" cy="237744"/>
          </a:xfrm>
          <a:prstGeom prst="rect">
            <a:avLst/>
          </a:prstGeom>
          <a:noFill/>
          <a:ln/>
        </p:spPr>
        <p:txBody>
          <a:bodyPr wrap="square" lIns="0" tIns="0" rIns="0" bIns="0" rtlCol="0" anchor="ctr"/>
          <a:lstStyle/>
          <a:p>
            <a:pPr algn="ctr" indent="0" marL="0">
              <a:buNone/>
            </a:pPr>
            <a:r>
              <a:rPr lang="en-US" sz="1100" b="1" dirty="0">
                <a:solidFill>
                  <a:srgbClr val="262B3A"/>
                </a:solidFill>
                <a:latin typeface="Calibri" pitchFamily="34" charset="0"/>
                <a:ea typeface="Calibri" pitchFamily="34" charset="-122"/>
                <a:cs typeface="Calibri" pitchFamily="34" charset="-120"/>
              </a:rPr>
              <a:t>Dilute</a:t>
            </a:r>
            <a:endParaRPr lang="en-US" sz="1100" dirty="0"/>
          </a:p>
        </p:txBody>
      </p:sp>
      <p:sp>
        <p:nvSpPr>
          <p:cNvPr id="14" name="Text 12"/>
          <p:cNvSpPr/>
          <p:nvPr/>
        </p:nvSpPr>
        <p:spPr>
          <a:xfrm>
            <a:off x="502920" y="2103120"/>
            <a:ext cx="914400" cy="237744"/>
          </a:xfrm>
          <a:prstGeom prst="rect">
            <a:avLst/>
          </a:prstGeom>
          <a:noFill/>
          <a:ln/>
        </p:spPr>
        <p:txBody>
          <a:bodyPr wrap="square" lIns="0" tIns="0" rIns="0" bIns="0" rtlCol="0" anchor="ctr"/>
          <a:lstStyle/>
          <a:p>
            <a:pPr algn="ctr" indent="0" marL="0">
              <a:buNone/>
            </a:pPr>
            <a:r>
              <a:rPr lang="en-US" sz="1100" b="1" dirty="0">
                <a:solidFill>
                  <a:srgbClr val="262B3A"/>
                </a:solidFill>
                <a:latin typeface="Calibri" pitchFamily="34" charset="0"/>
                <a:ea typeface="Calibri" pitchFamily="34" charset="-122"/>
                <a:cs typeface="Calibri" pitchFamily="34" charset="-120"/>
              </a:rPr>
              <a:t>Strong</a:t>
            </a:r>
            <a:endParaRPr lang="en-US" sz="1100" dirty="0"/>
          </a:p>
        </p:txBody>
      </p:sp>
      <p:sp>
        <p:nvSpPr>
          <p:cNvPr id="15" name="Text 13"/>
          <p:cNvSpPr/>
          <p:nvPr/>
        </p:nvSpPr>
        <p:spPr>
          <a:xfrm>
            <a:off x="502920" y="3749040"/>
            <a:ext cx="914400" cy="237744"/>
          </a:xfrm>
          <a:prstGeom prst="rect">
            <a:avLst/>
          </a:prstGeom>
          <a:noFill/>
          <a:ln/>
        </p:spPr>
        <p:txBody>
          <a:bodyPr wrap="square" lIns="0" tIns="0" rIns="0" bIns="0" rtlCol="0" anchor="ctr"/>
          <a:lstStyle/>
          <a:p>
            <a:pPr algn="ctr" indent="0" marL="0">
              <a:buNone/>
            </a:pPr>
            <a:r>
              <a:rPr lang="en-US" sz="1100" b="1" dirty="0">
                <a:solidFill>
                  <a:srgbClr val="262B3A"/>
                </a:solidFill>
                <a:latin typeface="Calibri" pitchFamily="34" charset="0"/>
                <a:ea typeface="Calibri" pitchFamily="34" charset="-122"/>
                <a:cs typeface="Calibri" pitchFamily="34" charset="-120"/>
              </a:rPr>
              <a:t>Weak</a:t>
            </a:r>
            <a:endParaRPr lang="en-US" sz="1100" dirty="0"/>
          </a:p>
        </p:txBody>
      </p:sp>
      <p:sp>
        <p:nvSpPr>
          <p:cNvPr id="16" name="Shape 14"/>
          <p:cNvSpPr/>
          <p:nvPr/>
        </p:nvSpPr>
        <p:spPr>
          <a:xfrm>
            <a:off x="2011680" y="1600200"/>
            <a:ext cx="1463040" cy="1325880"/>
          </a:xfrm>
          <a:prstGeom prst="rect">
            <a:avLst/>
          </a:prstGeom>
          <a:solidFill>
            <a:srgbClr val="EEF5FB"/>
          </a:solidFill>
          <a:ln/>
        </p:spPr>
      </p:sp>
      <p:sp>
        <p:nvSpPr>
          <p:cNvPr id="17" name="Shape 15"/>
          <p:cNvSpPr/>
          <p:nvPr/>
        </p:nvSpPr>
        <p:spPr>
          <a:xfrm>
            <a:off x="2011680" y="1799082"/>
            <a:ext cx="1463040" cy="1126998"/>
          </a:xfrm>
          <a:prstGeom prst="rect">
            <a:avLst/>
          </a:prstGeom>
          <a:solidFill>
            <a:srgbClr val="F9D9D2"/>
          </a:solidFill>
          <a:ln/>
        </p:spPr>
      </p:sp>
      <p:sp>
        <p:nvSpPr>
          <p:cNvPr id="18" name="Shape 16"/>
          <p:cNvSpPr/>
          <p:nvPr/>
        </p:nvSpPr>
        <p:spPr>
          <a:xfrm>
            <a:off x="2011680" y="1799082"/>
            <a:ext cx="1463040" cy="91"/>
          </a:xfrm>
          <a:prstGeom prst="line">
            <a:avLst/>
          </a:prstGeom>
          <a:noFill/>
          <a:ln w="12700">
            <a:solidFill>
              <a:srgbClr val="5B9BD5"/>
            </a:solidFill>
            <a:prstDash val="solid"/>
          </a:ln>
        </p:spPr>
      </p:sp>
      <p:sp>
        <p:nvSpPr>
          <p:cNvPr id="19" name="Shape 17"/>
          <p:cNvSpPr/>
          <p:nvPr/>
        </p:nvSpPr>
        <p:spPr>
          <a:xfrm>
            <a:off x="2011680" y="1600200"/>
            <a:ext cx="91" cy="1325880"/>
          </a:xfrm>
          <a:prstGeom prst="line">
            <a:avLst/>
          </a:prstGeom>
          <a:noFill/>
          <a:ln w="19050">
            <a:solidFill>
              <a:srgbClr val="2A1F3D"/>
            </a:solidFill>
            <a:prstDash val="solid"/>
          </a:ln>
        </p:spPr>
      </p:sp>
      <p:sp>
        <p:nvSpPr>
          <p:cNvPr id="20" name="Shape 18"/>
          <p:cNvSpPr/>
          <p:nvPr/>
        </p:nvSpPr>
        <p:spPr>
          <a:xfrm>
            <a:off x="3474720" y="1600200"/>
            <a:ext cx="91" cy="1325880"/>
          </a:xfrm>
          <a:prstGeom prst="line">
            <a:avLst/>
          </a:prstGeom>
          <a:noFill/>
          <a:ln w="19050">
            <a:solidFill>
              <a:srgbClr val="2A1F3D"/>
            </a:solidFill>
            <a:prstDash val="solid"/>
          </a:ln>
        </p:spPr>
      </p:sp>
      <p:sp>
        <p:nvSpPr>
          <p:cNvPr id="21" name="Shape 19"/>
          <p:cNvSpPr/>
          <p:nvPr/>
        </p:nvSpPr>
        <p:spPr>
          <a:xfrm>
            <a:off x="2011680" y="2926080"/>
            <a:ext cx="1463040" cy="91"/>
          </a:xfrm>
          <a:prstGeom prst="line">
            <a:avLst/>
          </a:prstGeom>
          <a:noFill/>
          <a:ln w="19050">
            <a:solidFill>
              <a:srgbClr val="2A1F3D"/>
            </a:solidFill>
            <a:prstDash val="solid"/>
          </a:ln>
        </p:spPr>
      </p:sp>
      <p:sp>
        <p:nvSpPr>
          <p:cNvPr id="22" name="Shape 20"/>
          <p:cNvSpPr/>
          <p:nvPr/>
        </p:nvSpPr>
        <p:spPr>
          <a:xfrm>
            <a:off x="1956816" y="1600200"/>
            <a:ext cx="54864" cy="91"/>
          </a:xfrm>
          <a:prstGeom prst="line">
            <a:avLst/>
          </a:prstGeom>
          <a:noFill/>
          <a:ln w="19050">
            <a:solidFill>
              <a:srgbClr val="2A1F3D"/>
            </a:solidFill>
            <a:prstDash val="solid"/>
          </a:ln>
        </p:spPr>
      </p:sp>
      <p:sp>
        <p:nvSpPr>
          <p:cNvPr id="23" name="Shape 21"/>
          <p:cNvSpPr/>
          <p:nvPr/>
        </p:nvSpPr>
        <p:spPr>
          <a:xfrm>
            <a:off x="3474720" y="1600200"/>
            <a:ext cx="54864" cy="91"/>
          </a:xfrm>
          <a:prstGeom prst="line">
            <a:avLst/>
          </a:prstGeom>
          <a:noFill/>
          <a:ln w="19050">
            <a:solidFill>
              <a:srgbClr val="2A1F3D"/>
            </a:solidFill>
            <a:prstDash val="solid"/>
          </a:ln>
        </p:spPr>
      </p:sp>
      <p:sp>
        <p:nvSpPr>
          <p:cNvPr id="24" name="Shape 22"/>
          <p:cNvSpPr/>
          <p:nvPr/>
        </p:nvSpPr>
        <p:spPr>
          <a:xfrm>
            <a:off x="2103120" y="1956816"/>
            <a:ext cx="109728" cy="109728"/>
          </a:xfrm>
          <a:prstGeom prst="ellipse">
            <a:avLst/>
          </a:prstGeom>
          <a:solidFill>
            <a:srgbClr val="F6B0A8"/>
          </a:solidFill>
          <a:ln w="9525">
            <a:solidFill>
              <a:srgbClr val="B7372B"/>
            </a:solidFill>
            <a:prstDash val="solid"/>
          </a:ln>
        </p:spPr>
      </p:sp>
      <p:sp>
        <p:nvSpPr>
          <p:cNvPr id="25" name="Shape 23"/>
          <p:cNvSpPr/>
          <p:nvPr/>
        </p:nvSpPr>
        <p:spPr>
          <a:xfrm>
            <a:off x="2231136" y="1975104"/>
            <a:ext cx="109728" cy="109728"/>
          </a:xfrm>
          <a:prstGeom prst="ellipse">
            <a:avLst/>
          </a:prstGeom>
          <a:solidFill>
            <a:srgbClr val="B9E0A8"/>
          </a:solidFill>
          <a:ln w="9525">
            <a:solidFill>
              <a:srgbClr val="3E7F2E"/>
            </a:solidFill>
            <a:prstDash val="solid"/>
          </a:ln>
        </p:spPr>
      </p:sp>
      <p:sp>
        <p:nvSpPr>
          <p:cNvPr id="26" name="Shape 24"/>
          <p:cNvSpPr/>
          <p:nvPr/>
        </p:nvSpPr>
        <p:spPr>
          <a:xfrm>
            <a:off x="2450592" y="1956816"/>
            <a:ext cx="109728" cy="109728"/>
          </a:xfrm>
          <a:prstGeom prst="ellipse">
            <a:avLst/>
          </a:prstGeom>
          <a:solidFill>
            <a:srgbClr val="F6B0A8"/>
          </a:solidFill>
          <a:ln w="9525">
            <a:solidFill>
              <a:srgbClr val="B7372B"/>
            </a:solidFill>
            <a:prstDash val="solid"/>
          </a:ln>
        </p:spPr>
      </p:sp>
      <p:sp>
        <p:nvSpPr>
          <p:cNvPr id="27" name="Shape 25"/>
          <p:cNvSpPr/>
          <p:nvPr/>
        </p:nvSpPr>
        <p:spPr>
          <a:xfrm>
            <a:off x="2578608" y="1975104"/>
            <a:ext cx="109728" cy="109728"/>
          </a:xfrm>
          <a:prstGeom prst="ellipse">
            <a:avLst/>
          </a:prstGeom>
          <a:solidFill>
            <a:srgbClr val="B9E0A8"/>
          </a:solidFill>
          <a:ln w="9525">
            <a:solidFill>
              <a:srgbClr val="3E7F2E"/>
            </a:solidFill>
            <a:prstDash val="solid"/>
          </a:ln>
        </p:spPr>
      </p:sp>
      <p:sp>
        <p:nvSpPr>
          <p:cNvPr id="28" name="Shape 26"/>
          <p:cNvSpPr/>
          <p:nvPr/>
        </p:nvSpPr>
        <p:spPr>
          <a:xfrm>
            <a:off x="2798064" y="1956816"/>
            <a:ext cx="109728" cy="109728"/>
          </a:xfrm>
          <a:prstGeom prst="ellipse">
            <a:avLst/>
          </a:prstGeom>
          <a:solidFill>
            <a:srgbClr val="F6B0A8"/>
          </a:solidFill>
          <a:ln w="9525">
            <a:solidFill>
              <a:srgbClr val="B7372B"/>
            </a:solidFill>
            <a:prstDash val="solid"/>
          </a:ln>
        </p:spPr>
      </p:sp>
      <p:sp>
        <p:nvSpPr>
          <p:cNvPr id="29" name="Shape 27"/>
          <p:cNvSpPr/>
          <p:nvPr/>
        </p:nvSpPr>
        <p:spPr>
          <a:xfrm>
            <a:off x="2926080" y="1975104"/>
            <a:ext cx="109728" cy="109728"/>
          </a:xfrm>
          <a:prstGeom prst="ellipse">
            <a:avLst/>
          </a:prstGeom>
          <a:solidFill>
            <a:srgbClr val="B9E0A8"/>
          </a:solidFill>
          <a:ln w="9525">
            <a:solidFill>
              <a:srgbClr val="3E7F2E"/>
            </a:solidFill>
            <a:prstDash val="solid"/>
          </a:ln>
        </p:spPr>
      </p:sp>
      <p:sp>
        <p:nvSpPr>
          <p:cNvPr id="30" name="Shape 28"/>
          <p:cNvSpPr/>
          <p:nvPr/>
        </p:nvSpPr>
        <p:spPr>
          <a:xfrm>
            <a:off x="3145536" y="1956816"/>
            <a:ext cx="109728" cy="109728"/>
          </a:xfrm>
          <a:prstGeom prst="ellipse">
            <a:avLst/>
          </a:prstGeom>
          <a:solidFill>
            <a:srgbClr val="F6B0A8"/>
          </a:solidFill>
          <a:ln w="9525">
            <a:solidFill>
              <a:srgbClr val="B7372B"/>
            </a:solidFill>
            <a:prstDash val="solid"/>
          </a:ln>
        </p:spPr>
      </p:sp>
      <p:sp>
        <p:nvSpPr>
          <p:cNvPr id="31" name="Shape 29"/>
          <p:cNvSpPr/>
          <p:nvPr/>
        </p:nvSpPr>
        <p:spPr>
          <a:xfrm>
            <a:off x="3273552" y="1975104"/>
            <a:ext cx="109728" cy="109728"/>
          </a:xfrm>
          <a:prstGeom prst="ellipse">
            <a:avLst/>
          </a:prstGeom>
          <a:solidFill>
            <a:srgbClr val="B9E0A8"/>
          </a:solidFill>
          <a:ln w="9525">
            <a:solidFill>
              <a:srgbClr val="3E7F2E"/>
            </a:solidFill>
            <a:prstDash val="solid"/>
          </a:ln>
        </p:spPr>
      </p:sp>
      <p:sp>
        <p:nvSpPr>
          <p:cNvPr id="32" name="Shape 30"/>
          <p:cNvSpPr/>
          <p:nvPr/>
        </p:nvSpPr>
        <p:spPr>
          <a:xfrm>
            <a:off x="2103120" y="2276856"/>
            <a:ext cx="109728" cy="109728"/>
          </a:xfrm>
          <a:prstGeom prst="ellipse">
            <a:avLst/>
          </a:prstGeom>
          <a:solidFill>
            <a:srgbClr val="F6B0A8"/>
          </a:solidFill>
          <a:ln w="9525">
            <a:solidFill>
              <a:srgbClr val="B7372B"/>
            </a:solidFill>
            <a:prstDash val="solid"/>
          </a:ln>
        </p:spPr>
      </p:sp>
      <p:sp>
        <p:nvSpPr>
          <p:cNvPr id="33" name="Shape 31"/>
          <p:cNvSpPr/>
          <p:nvPr/>
        </p:nvSpPr>
        <p:spPr>
          <a:xfrm>
            <a:off x="2231136" y="2295144"/>
            <a:ext cx="109728" cy="109728"/>
          </a:xfrm>
          <a:prstGeom prst="ellipse">
            <a:avLst/>
          </a:prstGeom>
          <a:solidFill>
            <a:srgbClr val="B9E0A8"/>
          </a:solidFill>
          <a:ln w="9525">
            <a:solidFill>
              <a:srgbClr val="3E7F2E"/>
            </a:solidFill>
            <a:prstDash val="solid"/>
          </a:ln>
        </p:spPr>
      </p:sp>
      <p:sp>
        <p:nvSpPr>
          <p:cNvPr id="34" name="Shape 32"/>
          <p:cNvSpPr/>
          <p:nvPr/>
        </p:nvSpPr>
        <p:spPr>
          <a:xfrm>
            <a:off x="2450592" y="2276856"/>
            <a:ext cx="109728" cy="109728"/>
          </a:xfrm>
          <a:prstGeom prst="ellipse">
            <a:avLst/>
          </a:prstGeom>
          <a:solidFill>
            <a:srgbClr val="F6B0A8"/>
          </a:solidFill>
          <a:ln w="9525">
            <a:solidFill>
              <a:srgbClr val="B7372B"/>
            </a:solidFill>
            <a:prstDash val="solid"/>
          </a:ln>
        </p:spPr>
      </p:sp>
      <p:sp>
        <p:nvSpPr>
          <p:cNvPr id="35" name="Shape 33"/>
          <p:cNvSpPr/>
          <p:nvPr/>
        </p:nvSpPr>
        <p:spPr>
          <a:xfrm>
            <a:off x="2578608" y="2295144"/>
            <a:ext cx="109728" cy="109728"/>
          </a:xfrm>
          <a:prstGeom prst="ellipse">
            <a:avLst/>
          </a:prstGeom>
          <a:solidFill>
            <a:srgbClr val="B9E0A8"/>
          </a:solidFill>
          <a:ln w="9525">
            <a:solidFill>
              <a:srgbClr val="3E7F2E"/>
            </a:solidFill>
            <a:prstDash val="solid"/>
          </a:ln>
        </p:spPr>
      </p:sp>
      <p:sp>
        <p:nvSpPr>
          <p:cNvPr id="36" name="Shape 34"/>
          <p:cNvSpPr/>
          <p:nvPr/>
        </p:nvSpPr>
        <p:spPr>
          <a:xfrm>
            <a:off x="2798064" y="2276856"/>
            <a:ext cx="109728" cy="109728"/>
          </a:xfrm>
          <a:prstGeom prst="ellipse">
            <a:avLst/>
          </a:prstGeom>
          <a:solidFill>
            <a:srgbClr val="F6B0A8"/>
          </a:solidFill>
          <a:ln w="9525">
            <a:solidFill>
              <a:srgbClr val="B7372B"/>
            </a:solidFill>
            <a:prstDash val="solid"/>
          </a:ln>
        </p:spPr>
      </p:sp>
      <p:sp>
        <p:nvSpPr>
          <p:cNvPr id="37" name="Shape 35"/>
          <p:cNvSpPr/>
          <p:nvPr/>
        </p:nvSpPr>
        <p:spPr>
          <a:xfrm>
            <a:off x="2926080" y="2295144"/>
            <a:ext cx="109728" cy="109728"/>
          </a:xfrm>
          <a:prstGeom prst="ellipse">
            <a:avLst/>
          </a:prstGeom>
          <a:solidFill>
            <a:srgbClr val="B9E0A8"/>
          </a:solidFill>
          <a:ln w="9525">
            <a:solidFill>
              <a:srgbClr val="3E7F2E"/>
            </a:solidFill>
            <a:prstDash val="solid"/>
          </a:ln>
        </p:spPr>
      </p:sp>
      <p:sp>
        <p:nvSpPr>
          <p:cNvPr id="38" name="Shape 36"/>
          <p:cNvSpPr/>
          <p:nvPr/>
        </p:nvSpPr>
        <p:spPr>
          <a:xfrm>
            <a:off x="3145536" y="2276856"/>
            <a:ext cx="109728" cy="109728"/>
          </a:xfrm>
          <a:prstGeom prst="ellipse">
            <a:avLst/>
          </a:prstGeom>
          <a:solidFill>
            <a:srgbClr val="F6B0A8"/>
          </a:solidFill>
          <a:ln w="9525">
            <a:solidFill>
              <a:srgbClr val="B7372B"/>
            </a:solidFill>
            <a:prstDash val="solid"/>
          </a:ln>
        </p:spPr>
      </p:sp>
      <p:sp>
        <p:nvSpPr>
          <p:cNvPr id="39" name="Shape 37"/>
          <p:cNvSpPr/>
          <p:nvPr/>
        </p:nvSpPr>
        <p:spPr>
          <a:xfrm>
            <a:off x="3273552" y="2295144"/>
            <a:ext cx="109728" cy="109728"/>
          </a:xfrm>
          <a:prstGeom prst="ellipse">
            <a:avLst/>
          </a:prstGeom>
          <a:solidFill>
            <a:srgbClr val="B9E0A8"/>
          </a:solidFill>
          <a:ln w="9525">
            <a:solidFill>
              <a:srgbClr val="3E7F2E"/>
            </a:solidFill>
            <a:prstDash val="solid"/>
          </a:ln>
        </p:spPr>
      </p:sp>
      <p:sp>
        <p:nvSpPr>
          <p:cNvPr id="40" name="Shape 38"/>
          <p:cNvSpPr/>
          <p:nvPr/>
        </p:nvSpPr>
        <p:spPr>
          <a:xfrm>
            <a:off x="2103120" y="2596896"/>
            <a:ext cx="109728" cy="109728"/>
          </a:xfrm>
          <a:prstGeom prst="ellipse">
            <a:avLst/>
          </a:prstGeom>
          <a:solidFill>
            <a:srgbClr val="F6B0A8"/>
          </a:solidFill>
          <a:ln w="9525">
            <a:solidFill>
              <a:srgbClr val="B7372B"/>
            </a:solidFill>
            <a:prstDash val="solid"/>
          </a:ln>
        </p:spPr>
      </p:sp>
      <p:sp>
        <p:nvSpPr>
          <p:cNvPr id="41" name="Shape 39"/>
          <p:cNvSpPr/>
          <p:nvPr/>
        </p:nvSpPr>
        <p:spPr>
          <a:xfrm>
            <a:off x="2231136" y="2615184"/>
            <a:ext cx="109728" cy="109728"/>
          </a:xfrm>
          <a:prstGeom prst="ellipse">
            <a:avLst/>
          </a:prstGeom>
          <a:solidFill>
            <a:srgbClr val="B9E0A8"/>
          </a:solidFill>
          <a:ln w="9525">
            <a:solidFill>
              <a:srgbClr val="3E7F2E"/>
            </a:solidFill>
            <a:prstDash val="solid"/>
          </a:ln>
        </p:spPr>
      </p:sp>
      <p:sp>
        <p:nvSpPr>
          <p:cNvPr id="42" name="Shape 40"/>
          <p:cNvSpPr/>
          <p:nvPr/>
        </p:nvSpPr>
        <p:spPr>
          <a:xfrm>
            <a:off x="2450592" y="2596896"/>
            <a:ext cx="109728" cy="109728"/>
          </a:xfrm>
          <a:prstGeom prst="ellipse">
            <a:avLst/>
          </a:prstGeom>
          <a:solidFill>
            <a:srgbClr val="F6B0A8"/>
          </a:solidFill>
          <a:ln w="9525">
            <a:solidFill>
              <a:srgbClr val="B7372B"/>
            </a:solidFill>
            <a:prstDash val="solid"/>
          </a:ln>
        </p:spPr>
      </p:sp>
      <p:sp>
        <p:nvSpPr>
          <p:cNvPr id="43" name="Shape 41"/>
          <p:cNvSpPr/>
          <p:nvPr/>
        </p:nvSpPr>
        <p:spPr>
          <a:xfrm>
            <a:off x="2578608" y="2615184"/>
            <a:ext cx="109728" cy="109728"/>
          </a:xfrm>
          <a:prstGeom prst="ellipse">
            <a:avLst/>
          </a:prstGeom>
          <a:solidFill>
            <a:srgbClr val="B9E0A8"/>
          </a:solidFill>
          <a:ln w="9525">
            <a:solidFill>
              <a:srgbClr val="3E7F2E"/>
            </a:solidFill>
            <a:prstDash val="solid"/>
          </a:ln>
        </p:spPr>
      </p:sp>
      <p:sp>
        <p:nvSpPr>
          <p:cNvPr id="44" name="Shape 42"/>
          <p:cNvSpPr/>
          <p:nvPr/>
        </p:nvSpPr>
        <p:spPr>
          <a:xfrm>
            <a:off x="2798064" y="2596896"/>
            <a:ext cx="109728" cy="109728"/>
          </a:xfrm>
          <a:prstGeom prst="ellipse">
            <a:avLst/>
          </a:prstGeom>
          <a:solidFill>
            <a:srgbClr val="F6B0A8"/>
          </a:solidFill>
          <a:ln w="9525">
            <a:solidFill>
              <a:srgbClr val="B7372B"/>
            </a:solidFill>
            <a:prstDash val="solid"/>
          </a:ln>
        </p:spPr>
      </p:sp>
      <p:sp>
        <p:nvSpPr>
          <p:cNvPr id="45" name="Shape 43"/>
          <p:cNvSpPr/>
          <p:nvPr/>
        </p:nvSpPr>
        <p:spPr>
          <a:xfrm>
            <a:off x="2926080" y="2615184"/>
            <a:ext cx="109728" cy="109728"/>
          </a:xfrm>
          <a:prstGeom prst="ellipse">
            <a:avLst/>
          </a:prstGeom>
          <a:solidFill>
            <a:srgbClr val="B9E0A8"/>
          </a:solidFill>
          <a:ln w="9525">
            <a:solidFill>
              <a:srgbClr val="3E7F2E"/>
            </a:solidFill>
            <a:prstDash val="solid"/>
          </a:ln>
        </p:spPr>
      </p:sp>
      <p:sp>
        <p:nvSpPr>
          <p:cNvPr id="46" name="Shape 44"/>
          <p:cNvSpPr/>
          <p:nvPr/>
        </p:nvSpPr>
        <p:spPr>
          <a:xfrm>
            <a:off x="3145536" y="2596896"/>
            <a:ext cx="109728" cy="109728"/>
          </a:xfrm>
          <a:prstGeom prst="ellipse">
            <a:avLst/>
          </a:prstGeom>
          <a:solidFill>
            <a:srgbClr val="F6B0A8"/>
          </a:solidFill>
          <a:ln w="9525">
            <a:solidFill>
              <a:srgbClr val="B7372B"/>
            </a:solidFill>
            <a:prstDash val="solid"/>
          </a:ln>
        </p:spPr>
      </p:sp>
      <p:sp>
        <p:nvSpPr>
          <p:cNvPr id="47" name="Shape 45"/>
          <p:cNvSpPr/>
          <p:nvPr/>
        </p:nvSpPr>
        <p:spPr>
          <a:xfrm>
            <a:off x="3273552" y="2615184"/>
            <a:ext cx="109728" cy="109728"/>
          </a:xfrm>
          <a:prstGeom prst="ellipse">
            <a:avLst/>
          </a:prstGeom>
          <a:solidFill>
            <a:srgbClr val="B9E0A8"/>
          </a:solidFill>
          <a:ln w="9525">
            <a:solidFill>
              <a:srgbClr val="3E7F2E"/>
            </a:solidFill>
            <a:prstDash val="solid"/>
          </a:ln>
        </p:spPr>
      </p:sp>
      <p:sp>
        <p:nvSpPr>
          <p:cNvPr id="48" name="Shape 46"/>
          <p:cNvSpPr/>
          <p:nvPr/>
        </p:nvSpPr>
        <p:spPr>
          <a:xfrm>
            <a:off x="4069080" y="1600200"/>
            <a:ext cx="1463040" cy="1325880"/>
          </a:xfrm>
          <a:prstGeom prst="rect">
            <a:avLst/>
          </a:prstGeom>
          <a:solidFill>
            <a:srgbClr val="EEF5FB"/>
          </a:solidFill>
          <a:ln/>
        </p:spPr>
      </p:sp>
      <p:sp>
        <p:nvSpPr>
          <p:cNvPr id="49" name="Shape 47"/>
          <p:cNvSpPr/>
          <p:nvPr/>
        </p:nvSpPr>
        <p:spPr>
          <a:xfrm>
            <a:off x="4069080" y="1799082"/>
            <a:ext cx="1463040" cy="1126998"/>
          </a:xfrm>
          <a:prstGeom prst="rect">
            <a:avLst/>
          </a:prstGeom>
          <a:solidFill>
            <a:srgbClr val="F9D9D2"/>
          </a:solidFill>
          <a:ln/>
        </p:spPr>
      </p:sp>
      <p:sp>
        <p:nvSpPr>
          <p:cNvPr id="50" name="Shape 48"/>
          <p:cNvSpPr/>
          <p:nvPr/>
        </p:nvSpPr>
        <p:spPr>
          <a:xfrm>
            <a:off x="4069080" y="1799082"/>
            <a:ext cx="1463040" cy="91"/>
          </a:xfrm>
          <a:prstGeom prst="line">
            <a:avLst/>
          </a:prstGeom>
          <a:noFill/>
          <a:ln w="12700">
            <a:solidFill>
              <a:srgbClr val="5B9BD5"/>
            </a:solidFill>
            <a:prstDash val="solid"/>
          </a:ln>
        </p:spPr>
      </p:sp>
      <p:sp>
        <p:nvSpPr>
          <p:cNvPr id="51" name="Shape 49"/>
          <p:cNvSpPr/>
          <p:nvPr/>
        </p:nvSpPr>
        <p:spPr>
          <a:xfrm>
            <a:off x="4069080" y="1600200"/>
            <a:ext cx="91" cy="1325880"/>
          </a:xfrm>
          <a:prstGeom prst="line">
            <a:avLst/>
          </a:prstGeom>
          <a:noFill/>
          <a:ln w="19050">
            <a:solidFill>
              <a:srgbClr val="2A1F3D"/>
            </a:solidFill>
            <a:prstDash val="solid"/>
          </a:ln>
        </p:spPr>
      </p:sp>
      <p:sp>
        <p:nvSpPr>
          <p:cNvPr id="52" name="Shape 50"/>
          <p:cNvSpPr/>
          <p:nvPr/>
        </p:nvSpPr>
        <p:spPr>
          <a:xfrm>
            <a:off x="5532120" y="1600200"/>
            <a:ext cx="91" cy="1325880"/>
          </a:xfrm>
          <a:prstGeom prst="line">
            <a:avLst/>
          </a:prstGeom>
          <a:noFill/>
          <a:ln w="19050">
            <a:solidFill>
              <a:srgbClr val="2A1F3D"/>
            </a:solidFill>
            <a:prstDash val="solid"/>
          </a:ln>
        </p:spPr>
      </p:sp>
      <p:sp>
        <p:nvSpPr>
          <p:cNvPr id="53" name="Shape 51"/>
          <p:cNvSpPr/>
          <p:nvPr/>
        </p:nvSpPr>
        <p:spPr>
          <a:xfrm>
            <a:off x="4069080" y="2926080"/>
            <a:ext cx="1463040" cy="91"/>
          </a:xfrm>
          <a:prstGeom prst="line">
            <a:avLst/>
          </a:prstGeom>
          <a:noFill/>
          <a:ln w="19050">
            <a:solidFill>
              <a:srgbClr val="2A1F3D"/>
            </a:solidFill>
            <a:prstDash val="solid"/>
          </a:ln>
        </p:spPr>
      </p:sp>
      <p:sp>
        <p:nvSpPr>
          <p:cNvPr id="54" name="Shape 52"/>
          <p:cNvSpPr/>
          <p:nvPr/>
        </p:nvSpPr>
        <p:spPr>
          <a:xfrm>
            <a:off x="4014216" y="1600200"/>
            <a:ext cx="54864" cy="91"/>
          </a:xfrm>
          <a:prstGeom prst="line">
            <a:avLst/>
          </a:prstGeom>
          <a:noFill/>
          <a:ln w="19050">
            <a:solidFill>
              <a:srgbClr val="2A1F3D"/>
            </a:solidFill>
            <a:prstDash val="solid"/>
          </a:ln>
        </p:spPr>
      </p:sp>
      <p:sp>
        <p:nvSpPr>
          <p:cNvPr id="55" name="Shape 53"/>
          <p:cNvSpPr/>
          <p:nvPr/>
        </p:nvSpPr>
        <p:spPr>
          <a:xfrm>
            <a:off x="5532120" y="1600200"/>
            <a:ext cx="54864" cy="91"/>
          </a:xfrm>
          <a:prstGeom prst="line">
            <a:avLst/>
          </a:prstGeom>
          <a:noFill/>
          <a:ln w="19050">
            <a:solidFill>
              <a:srgbClr val="2A1F3D"/>
            </a:solidFill>
            <a:prstDash val="solid"/>
          </a:ln>
        </p:spPr>
      </p:sp>
      <p:sp>
        <p:nvSpPr>
          <p:cNvPr id="56" name="Shape 54"/>
          <p:cNvSpPr/>
          <p:nvPr/>
        </p:nvSpPr>
        <p:spPr>
          <a:xfrm>
            <a:off x="4160520" y="1956816"/>
            <a:ext cx="109728" cy="109728"/>
          </a:xfrm>
          <a:prstGeom prst="ellipse">
            <a:avLst/>
          </a:prstGeom>
          <a:solidFill>
            <a:srgbClr val="F6B0A8"/>
          </a:solidFill>
          <a:ln w="9525">
            <a:solidFill>
              <a:srgbClr val="B7372B"/>
            </a:solidFill>
            <a:prstDash val="solid"/>
          </a:ln>
        </p:spPr>
      </p:sp>
      <p:sp>
        <p:nvSpPr>
          <p:cNvPr id="57" name="Shape 55"/>
          <p:cNvSpPr/>
          <p:nvPr/>
        </p:nvSpPr>
        <p:spPr>
          <a:xfrm>
            <a:off x="4288536" y="1975104"/>
            <a:ext cx="109728" cy="109728"/>
          </a:xfrm>
          <a:prstGeom prst="ellipse">
            <a:avLst/>
          </a:prstGeom>
          <a:solidFill>
            <a:srgbClr val="B9E0A8"/>
          </a:solidFill>
          <a:ln w="9525">
            <a:solidFill>
              <a:srgbClr val="3E7F2E"/>
            </a:solidFill>
            <a:prstDash val="solid"/>
          </a:ln>
        </p:spPr>
      </p:sp>
      <p:sp>
        <p:nvSpPr>
          <p:cNvPr id="58" name="Shape 56"/>
          <p:cNvSpPr/>
          <p:nvPr/>
        </p:nvSpPr>
        <p:spPr>
          <a:xfrm>
            <a:off x="4507992" y="1956816"/>
            <a:ext cx="109728" cy="109728"/>
          </a:xfrm>
          <a:prstGeom prst="ellipse">
            <a:avLst/>
          </a:prstGeom>
          <a:solidFill>
            <a:srgbClr val="F6B0A8"/>
          </a:solidFill>
          <a:ln w="9525">
            <a:solidFill>
              <a:srgbClr val="B7372B"/>
            </a:solidFill>
            <a:prstDash val="solid"/>
          </a:ln>
        </p:spPr>
      </p:sp>
      <p:sp>
        <p:nvSpPr>
          <p:cNvPr id="59" name="Shape 57"/>
          <p:cNvSpPr/>
          <p:nvPr/>
        </p:nvSpPr>
        <p:spPr>
          <a:xfrm>
            <a:off x="4636008" y="1975104"/>
            <a:ext cx="109728" cy="109728"/>
          </a:xfrm>
          <a:prstGeom prst="ellipse">
            <a:avLst/>
          </a:prstGeom>
          <a:solidFill>
            <a:srgbClr val="B9E0A8"/>
          </a:solidFill>
          <a:ln w="9525">
            <a:solidFill>
              <a:srgbClr val="3E7F2E"/>
            </a:solidFill>
            <a:prstDash val="solid"/>
          </a:ln>
        </p:spPr>
      </p:sp>
      <p:sp>
        <p:nvSpPr>
          <p:cNvPr id="60" name="Shape 58"/>
          <p:cNvSpPr/>
          <p:nvPr/>
        </p:nvSpPr>
        <p:spPr>
          <a:xfrm>
            <a:off x="4855464" y="1956816"/>
            <a:ext cx="109728" cy="109728"/>
          </a:xfrm>
          <a:prstGeom prst="ellipse">
            <a:avLst/>
          </a:prstGeom>
          <a:solidFill>
            <a:srgbClr val="F6B0A8"/>
          </a:solidFill>
          <a:ln w="9525">
            <a:solidFill>
              <a:srgbClr val="B7372B"/>
            </a:solidFill>
            <a:prstDash val="solid"/>
          </a:ln>
        </p:spPr>
      </p:sp>
      <p:sp>
        <p:nvSpPr>
          <p:cNvPr id="61" name="Shape 59"/>
          <p:cNvSpPr/>
          <p:nvPr/>
        </p:nvSpPr>
        <p:spPr>
          <a:xfrm>
            <a:off x="4983480" y="1975104"/>
            <a:ext cx="109728" cy="109728"/>
          </a:xfrm>
          <a:prstGeom prst="ellipse">
            <a:avLst/>
          </a:prstGeom>
          <a:solidFill>
            <a:srgbClr val="B9E0A8"/>
          </a:solidFill>
          <a:ln w="9525">
            <a:solidFill>
              <a:srgbClr val="3E7F2E"/>
            </a:solidFill>
            <a:prstDash val="solid"/>
          </a:ln>
        </p:spPr>
      </p:sp>
      <p:sp>
        <p:nvSpPr>
          <p:cNvPr id="62" name="Shape 60"/>
          <p:cNvSpPr/>
          <p:nvPr/>
        </p:nvSpPr>
        <p:spPr>
          <a:xfrm>
            <a:off x="5202936" y="1956816"/>
            <a:ext cx="109728" cy="109728"/>
          </a:xfrm>
          <a:prstGeom prst="ellipse">
            <a:avLst/>
          </a:prstGeom>
          <a:solidFill>
            <a:srgbClr val="F6B0A8"/>
          </a:solidFill>
          <a:ln w="9525">
            <a:solidFill>
              <a:srgbClr val="B7372B"/>
            </a:solidFill>
            <a:prstDash val="solid"/>
          </a:ln>
        </p:spPr>
      </p:sp>
      <p:sp>
        <p:nvSpPr>
          <p:cNvPr id="63" name="Shape 61"/>
          <p:cNvSpPr/>
          <p:nvPr/>
        </p:nvSpPr>
        <p:spPr>
          <a:xfrm>
            <a:off x="5330952" y="1975104"/>
            <a:ext cx="109728" cy="109728"/>
          </a:xfrm>
          <a:prstGeom prst="ellipse">
            <a:avLst/>
          </a:prstGeom>
          <a:solidFill>
            <a:srgbClr val="B9E0A8"/>
          </a:solidFill>
          <a:ln w="9525">
            <a:solidFill>
              <a:srgbClr val="3E7F2E"/>
            </a:solidFill>
            <a:prstDash val="solid"/>
          </a:ln>
        </p:spPr>
      </p:sp>
      <p:sp>
        <p:nvSpPr>
          <p:cNvPr id="64" name="Shape 62"/>
          <p:cNvSpPr/>
          <p:nvPr/>
        </p:nvSpPr>
        <p:spPr>
          <a:xfrm>
            <a:off x="2011680" y="3246120"/>
            <a:ext cx="1463040" cy="1325880"/>
          </a:xfrm>
          <a:prstGeom prst="rect">
            <a:avLst/>
          </a:prstGeom>
          <a:solidFill>
            <a:srgbClr val="EEF5FB"/>
          </a:solidFill>
          <a:ln/>
        </p:spPr>
      </p:sp>
      <p:sp>
        <p:nvSpPr>
          <p:cNvPr id="65" name="Shape 63"/>
          <p:cNvSpPr/>
          <p:nvPr/>
        </p:nvSpPr>
        <p:spPr>
          <a:xfrm>
            <a:off x="2011680" y="3445002"/>
            <a:ext cx="1463040" cy="1126998"/>
          </a:xfrm>
          <a:prstGeom prst="rect">
            <a:avLst/>
          </a:prstGeom>
          <a:solidFill>
            <a:srgbClr val="F9D9D2"/>
          </a:solidFill>
          <a:ln/>
        </p:spPr>
      </p:sp>
      <p:sp>
        <p:nvSpPr>
          <p:cNvPr id="66" name="Shape 64"/>
          <p:cNvSpPr/>
          <p:nvPr/>
        </p:nvSpPr>
        <p:spPr>
          <a:xfrm>
            <a:off x="2011680" y="3445002"/>
            <a:ext cx="1463040" cy="91"/>
          </a:xfrm>
          <a:prstGeom prst="line">
            <a:avLst/>
          </a:prstGeom>
          <a:noFill/>
          <a:ln w="12700">
            <a:solidFill>
              <a:srgbClr val="5B9BD5"/>
            </a:solidFill>
            <a:prstDash val="solid"/>
          </a:ln>
        </p:spPr>
      </p:sp>
      <p:sp>
        <p:nvSpPr>
          <p:cNvPr id="67" name="Shape 65"/>
          <p:cNvSpPr/>
          <p:nvPr/>
        </p:nvSpPr>
        <p:spPr>
          <a:xfrm>
            <a:off x="2011680" y="3246120"/>
            <a:ext cx="91" cy="1325880"/>
          </a:xfrm>
          <a:prstGeom prst="line">
            <a:avLst/>
          </a:prstGeom>
          <a:noFill/>
          <a:ln w="19050">
            <a:solidFill>
              <a:srgbClr val="2A1F3D"/>
            </a:solidFill>
            <a:prstDash val="solid"/>
          </a:ln>
        </p:spPr>
      </p:sp>
      <p:sp>
        <p:nvSpPr>
          <p:cNvPr id="68" name="Shape 66"/>
          <p:cNvSpPr/>
          <p:nvPr/>
        </p:nvSpPr>
        <p:spPr>
          <a:xfrm>
            <a:off x="3474720" y="3246120"/>
            <a:ext cx="91" cy="1325880"/>
          </a:xfrm>
          <a:prstGeom prst="line">
            <a:avLst/>
          </a:prstGeom>
          <a:noFill/>
          <a:ln w="19050">
            <a:solidFill>
              <a:srgbClr val="2A1F3D"/>
            </a:solidFill>
            <a:prstDash val="solid"/>
          </a:ln>
        </p:spPr>
      </p:sp>
      <p:sp>
        <p:nvSpPr>
          <p:cNvPr id="69" name="Shape 67"/>
          <p:cNvSpPr/>
          <p:nvPr/>
        </p:nvSpPr>
        <p:spPr>
          <a:xfrm>
            <a:off x="2011680" y="4572000"/>
            <a:ext cx="1463040" cy="91"/>
          </a:xfrm>
          <a:prstGeom prst="line">
            <a:avLst/>
          </a:prstGeom>
          <a:noFill/>
          <a:ln w="19050">
            <a:solidFill>
              <a:srgbClr val="2A1F3D"/>
            </a:solidFill>
            <a:prstDash val="solid"/>
          </a:ln>
        </p:spPr>
      </p:sp>
      <p:sp>
        <p:nvSpPr>
          <p:cNvPr id="70" name="Shape 68"/>
          <p:cNvSpPr/>
          <p:nvPr/>
        </p:nvSpPr>
        <p:spPr>
          <a:xfrm>
            <a:off x="1956816" y="3246120"/>
            <a:ext cx="54864" cy="91"/>
          </a:xfrm>
          <a:prstGeom prst="line">
            <a:avLst/>
          </a:prstGeom>
          <a:noFill/>
          <a:ln w="19050">
            <a:solidFill>
              <a:srgbClr val="2A1F3D"/>
            </a:solidFill>
            <a:prstDash val="solid"/>
          </a:ln>
        </p:spPr>
      </p:sp>
      <p:sp>
        <p:nvSpPr>
          <p:cNvPr id="71" name="Shape 69"/>
          <p:cNvSpPr/>
          <p:nvPr/>
        </p:nvSpPr>
        <p:spPr>
          <a:xfrm>
            <a:off x="3474720" y="3246120"/>
            <a:ext cx="54864" cy="91"/>
          </a:xfrm>
          <a:prstGeom prst="line">
            <a:avLst/>
          </a:prstGeom>
          <a:noFill/>
          <a:ln w="19050">
            <a:solidFill>
              <a:srgbClr val="2A1F3D"/>
            </a:solidFill>
            <a:prstDash val="solid"/>
          </a:ln>
        </p:spPr>
      </p:sp>
      <p:sp>
        <p:nvSpPr>
          <p:cNvPr id="72" name="Shape 70"/>
          <p:cNvSpPr/>
          <p:nvPr/>
        </p:nvSpPr>
        <p:spPr>
          <a:xfrm>
            <a:off x="2103120" y="3602736"/>
            <a:ext cx="109728" cy="109728"/>
          </a:xfrm>
          <a:prstGeom prst="ellipse">
            <a:avLst/>
          </a:prstGeom>
          <a:solidFill>
            <a:srgbClr val="F6B0A8"/>
          </a:solidFill>
          <a:ln w="9525">
            <a:solidFill>
              <a:srgbClr val="B7372B"/>
            </a:solidFill>
            <a:prstDash val="solid"/>
          </a:ln>
        </p:spPr>
      </p:sp>
      <p:sp>
        <p:nvSpPr>
          <p:cNvPr id="73" name="Shape 71"/>
          <p:cNvSpPr/>
          <p:nvPr/>
        </p:nvSpPr>
        <p:spPr>
          <a:xfrm>
            <a:off x="2231136" y="3621024"/>
            <a:ext cx="109728" cy="109728"/>
          </a:xfrm>
          <a:prstGeom prst="ellipse">
            <a:avLst/>
          </a:prstGeom>
          <a:solidFill>
            <a:srgbClr val="F2E3B3"/>
          </a:solidFill>
          <a:ln w="9525">
            <a:solidFill>
              <a:srgbClr val="8A7A50"/>
            </a:solidFill>
            <a:prstDash val="solid"/>
          </a:ln>
        </p:spPr>
      </p:sp>
      <p:sp>
        <p:nvSpPr>
          <p:cNvPr id="74" name="Shape 72"/>
          <p:cNvSpPr/>
          <p:nvPr/>
        </p:nvSpPr>
        <p:spPr>
          <a:xfrm>
            <a:off x="2450592" y="3598164"/>
            <a:ext cx="219456" cy="118872"/>
          </a:xfrm>
          <a:prstGeom prst="ellipse">
            <a:avLst/>
          </a:prstGeom>
          <a:solidFill>
            <a:srgbClr val="E5DED0"/>
          </a:solidFill>
          <a:ln w="9525">
            <a:solidFill>
              <a:srgbClr val="8A7A50"/>
            </a:solidFill>
            <a:prstDash val="solid"/>
          </a:ln>
        </p:spPr>
      </p:sp>
      <p:sp>
        <p:nvSpPr>
          <p:cNvPr id="75" name="Shape 73"/>
          <p:cNvSpPr/>
          <p:nvPr/>
        </p:nvSpPr>
        <p:spPr>
          <a:xfrm>
            <a:off x="2798064" y="3598164"/>
            <a:ext cx="219456" cy="118872"/>
          </a:xfrm>
          <a:prstGeom prst="ellipse">
            <a:avLst/>
          </a:prstGeom>
          <a:solidFill>
            <a:srgbClr val="E5DED0"/>
          </a:solidFill>
          <a:ln w="9525">
            <a:solidFill>
              <a:srgbClr val="8A7A50"/>
            </a:solidFill>
            <a:prstDash val="solid"/>
          </a:ln>
        </p:spPr>
      </p:sp>
      <p:sp>
        <p:nvSpPr>
          <p:cNvPr id="76" name="Shape 74"/>
          <p:cNvSpPr/>
          <p:nvPr/>
        </p:nvSpPr>
        <p:spPr>
          <a:xfrm>
            <a:off x="3145536" y="3598164"/>
            <a:ext cx="219456" cy="118872"/>
          </a:xfrm>
          <a:prstGeom prst="ellipse">
            <a:avLst/>
          </a:prstGeom>
          <a:solidFill>
            <a:srgbClr val="E5DED0"/>
          </a:solidFill>
          <a:ln w="9525">
            <a:solidFill>
              <a:srgbClr val="8A7A50"/>
            </a:solidFill>
            <a:prstDash val="solid"/>
          </a:ln>
        </p:spPr>
      </p:sp>
      <p:sp>
        <p:nvSpPr>
          <p:cNvPr id="77" name="Shape 75"/>
          <p:cNvSpPr/>
          <p:nvPr/>
        </p:nvSpPr>
        <p:spPr>
          <a:xfrm>
            <a:off x="2103120" y="3918204"/>
            <a:ext cx="219456" cy="118872"/>
          </a:xfrm>
          <a:prstGeom prst="ellipse">
            <a:avLst/>
          </a:prstGeom>
          <a:solidFill>
            <a:srgbClr val="E5DED0"/>
          </a:solidFill>
          <a:ln w="9525">
            <a:solidFill>
              <a:srgbClr val="8A7A50"/>
            </a:solidFill>
            <a:prstDash val="solid"/>
          </a:ln>
        </p:spPr>
      </p:sp>
      <p:sp>
        <p:nvSpPr>
          <p:cNvPr id="78" name="Shape 76"/>
          <p:cNvSpPr/>
          <p:nvPr/>
        </p:nvSpPr>
        <p:spPr>
          <a:xfrm>
            <a:off x="2450592" y="3918204"/>
            <a:ext cx="219456" cy="118872"/>
          </a:xfrm>
          <a:prstGeom prst="ellipse">
            <a:avLst/>
          </a:prstGeom>
          <a:solidFill>
            <a:srgbClr val="E5DED0"/>
          </a:solidFill>
          <a:ln w="9525">
            <a:solidFill>
              <a:srgbClr val="8A7A50"/>
            </a:solidFill>
            <a:prstDash val="solid"/>
          </a:ln>
        </p:spPr>
      </p:sp>
      <p:sp>
        <p:nvSpPr>
          <p:cNvPr id="79" name="Shape 77"/>
          <p:cNvSpPr/>
          <p:nvPr/>
        </p:nvSpPr>
        <p:spPr>
          <a:xfrm>
            <a:off x="2798064" y="3918204"/>
            <a:ext cx="219456" cy="118872"/>
          </a:xfrm>
          <a:prstGeom prst="ellipse">
            <a:avLst/>
          </a:prstGeom>
          <a:solidFill>
            <a:srgbClr val="E5DED0"/>
          </a:solidFill>
          <a:ln w="9525">
            <a:solidFill>
              <a:srgbClr val="8A7A50"/>
            </a:solidFill>
            <a:prstDash val="solid"/>
          </a:ln>
        </p:spPr>
      </p:sp>
      <p:sp>
        <p:nvSpPr>
          <p:cNvPr id="80" name="Shape 78"/>
          <p:cNvSpPr/>
          <p:nvPr/>
        </p:nvSpPr>
        <p:spPr>
          <a:xfrm>
            <a:off x="3145536" y="3918204"/>
            <a:ext cx="219456" cy="118872"/>
          </a:xfrm>
          <a:prstGeom prst="ellipse">
            <a:avLst/>
          </a:prstGeom>
          <a:solidFill>
            <a:srgbClr val="E5DED0"/>
          </a:solidFill>
          <a:ln w="9525">
            <a:solidFill>
              <a:srgbClr val="8A7A50"/>
            </a:solidFill>
            <a:prstDash val="solid"/>
          </a:ln>
        </p:spPr>
      </p:sp>
      <p:sp>
        <p:nvSpPr>
          <p:cNvPr id="81" name="Shape 79"/>
          <p:cNvSpPr/>
          <p:nvPr/>
        </p:nvSpPr>
        <p:spPr>
          <a:xfrm>
            <a:off x="2103120" y="4238244"/>
            <a:ext cx="219456" cy="118872"/>
          </a:xfrm>
          <a:prstGeom prst="ellipse">
            <a:avLst/>
          </a:prstGeom>
          <a:solidFill>
            <a:srgbClr val="E5DED0"/>
          </a:solidFill>
          <a:ln w="9525">
            <a:solidFill>
              <a:srgbClr val="8A7A50"/>
            </a:solidFill>
            <a:prstDash val="solid"/>
          </a:ln>
        </p:spPr>
      </p:sp>
      <p:sp>
        <p:nvSpPr>
          <p:cNvPr id="82" name="Shape 80"/>
          <p:cNvSpPr/>
          <p:nvPr/>
        </p:nvSpPr>
        <p:spPr>
          <a:xfrm>
            <a:off x="2450592" y="4238244"/>
            <a:ext cx="219456" cy="118872"/>
          </a:xfrm>
          <a:prstGeom prst="ellipse">
            <a:avLst/>
          </a:prstGeom>
          <a:solidFill>
            <a:srgbClr val="E5DED0"/>
          </a:solidFill>
          <a:ln w="9525">
            <a:solidFill>
              <a:srgbClr val="8A7A50"/>
            </a:solidFill>
            <a:prstDash val="solid"/>
          </a:ln>
        </p:spPr>
      </p:sp>
      <p:sp>
        <p:nvSpPr>
          <p:cNvPr id="83" name="Shape 81"/>
          <p:cNvSpPr/>
          <p:nvPr/>
        </p:nvSpPr>
        <p:spPr>
          <a:xfrm>
            <a:off x="2798064" y="4238244"/>
            <a:ext cx="219456" cy="118872"/>
          </a:xfrm>
          <a:prstGeom prst="ellipse">
            <a:avLst/>
          </a:prstGeom>
          <a:solidFill>
            <a:srgbClr val="E5DED0"/>
          </a:solidFill>
          <a:ln w="9525">
            <a:solidFill>
              <a:srgbClr val="8A7A50"/>
            </a:solidFill>
            <a:prstDash val="solid"/>
          </a:ln>
        </p:spPr>
      </p:sp>
      <p:sp>
        <p:nvSpPr>
          <p:cNvPr id="84" name="Shape 82"/>
          <p:cNvSpPr/>
          <p:nvPr/>
        </p:nvSpPr>
        <p:spPr>
          <a:xfrm>
            <a:off x="3145536" y="4238244"/>
            <a:ext cx="219456" cy="118872"/>
          </a:xfrm>
          <a:prstGeom prst="ellipse">
            <a:avLst/>
          </a:prstGeom>
          <a:solidFill>
            <a:srgbClr val="E5DED0"/>
          </a:solidFill>
          <a:ln w="9525">
            <a:solidFill>
              <a:srgbClr val="8A7A50"/>
            </a:solidFill>
            <a:prstDash val="solid"/>
          </a:ln>
        </p:spPr>
      </p:sp>
      <p:sp>
        <p:nvSpPr>
          <p:cNvPr id="85" name="Shape 83"/>
          <p:cNvSpPr/>
          <p:nvPr/>
        </p:nvSpPr>
        <p:spPr>
          <a:xfrm>
            <a:off x="4069080" y="3246120"/>
            <a:ext cx="1463040" cy="1325880"/>
          </a:xfrm>
          <a:prstGeom prst="rect">
            <a:avLst/>
          </a:prstGeom>
          <a:solidFill>
            <a:srgbClr val="EEF5FB"/>
          </a:solidFill>
          <a:ln/>
        </p:spPr>
      </p:sp>
      <p:sp>
        <p:nvSpPr>
          <p:cNvPr id="86" name="Shape 84"/>
          <p:cNvSpPr/>
          <p:nvPr/>
        </p:nvSpPr>
        <p:spPr>
          <a:xfrm>
            <a:off x="4069080" y="3445002"/>
            <a:ext cx="1463040" cy="1126998"/>
          </a:xfrm>
          <a:prstGeom prst="rect">
            <a:avLst/>
          </a:prstGeom>
          <a:solidFill>
            <a:srgbClr val="F9D9D2"/>
          </a:solidFill>
          <a:ln/>
        </p:spPr>
      </p:sp>
      <p:sp>
        <p:nvSpPr>
          <p:cNvPr id="87" name="Shape 85"/>
          <p:cNvSpPr/>
          <p:nvPr/>
        </p:nvSpPr>
        <p:spPr>
          <a:xfrm>
            <a:off x="4069080" y="3445002"/>
            <a:ext cx="1463040" cy="91"/>
          </a:xfrm>
          <a:prstGeom prst="line">
            <a:avLst/>
          </a:prstGeom>
          <a:noFill/>
          <a:ln w="12700">
            <a:solidFill>
              <a:srgbClr val="5B9BD5"/>
            </a:solidFill>
            <a:prstDash val="solid"/>
          </a:ln>
        </p:spPr>
      </p:sp>
      <p:sp>
        <p:nvSpPr>
          <p:cNvPr id="88" name="Shape 86"/>
          <p:cNvSpPr/>
          <p:nvPr/>
        </p:nvSpPr>
        <p:spPr>
          <a:xfrm>
            <a:off x="4069080" y="3246120"/>
            <a:ext cx="91" cy="1325880"/>
          </a:xfrm>
          <a:prstGeom prst="line">
            <a:avLst/>
          </a:prstGeom>
          <a:noFill/>
          <a:ln w="19050">
            <a:solidFill>
              <a:srgbClr val="2A1F3D"/>
            </a:solidFill>
            <a:prstDash val="solid"/>
          </a:ln>
        </p:spPr>
      </p:sp>
      <p:sp>
        <p:nvSpPr>
          <p:cNvPr id="89" name="Shape 87"/>
          <p:cNvSpPr/>
          <p:nvPr/>
        </p:nvSpPr>
        <p:spPr>
          <a:xfrm>
            <a:off x="5532120" y="3246120"/>
            <a:ext cx="91" cy="1325880"/>
          </a:xfrm>
          <a:prstGeom prst="line">
            <a:avLst/>
          </a:prstGeom>
          <a:noFill/>
          <a:ln w="19050">
            <a:solidFill>
              <a:srgbClr val="2A1F3D"/>
            </a:solidFill>
            <a:prstDash val="solid"/>
          </a:ln>
        </p:spPr>
      </p:sp>
      <p:sp>
        <p:nvSpPr>
          <p:cNvPr id="90" name="Shape 88"/>
          <p:cNvSpPr/>
          <p:nvPr/>
        </p:nvSpPr>
        <p:spPr>
          <a:xfrm>
            <a:off x="4069080" y="4572000"/>
            <a:ext cx="1463040" cy="91"/>
          </a:xfrm>
          <a:prstGeom prst="line">
            <a:avLst/>
          </a:prstGeom>
          <a:noFill/>
          <a:ln w="19050">
            <a:solidFill>
              <a:srgbClr val="2A1F3D"/>
            </a:solidFill>
            <a:prstDash val="solid"/>
          </a:ln>
        </p:spPr>
      </p:sp>
      <p:sp>
        <p:nvSpPr>
          <p:cNvPr id="91" name="Shape 89"/>
          <p:cNvSpPr/>
          <p:nvPr/>
        </p:nvSpPr>
        <p:spPr>
          <a:xfrm>
            <a:off x="4014216" y="3246120"/>
            <a:ext cx="54864" cy="91"/>
          </a:xfrm>
          <a:prstGeom prst="line">
            <a:avLst/>
          </a:prstGeom>
          <a:noFill/>
          <a:ln w="19050">
            <a:solidFill>
              <a:srgbClr val="2A1F3D"/>
            </a:solidFill>
            <a:prstDash val="solid"/>
          </a:ln>
        </p:spPr>
      </p:sp>
      <p:sp>
        <p:nvSpPr>
          <p:cNvPr id="92" name="Shape 90"/>
          <p:cNvSpPr/>
          <p:nvPr/>
        </p:nvSpPr>
        <p:spPr>
          <a:xfrm>
            <a:off x="5532120" y="3246120"/>
            <a:ext cx="54864" cy="91"/>
          </a:xfrm>
          <a:prstGeom prst="line">
            <a:avLst/>
          </a:prstGeom>
          <a:noFill/>
          <a:ln w="19050">
            <a:solidFill>
              <a:srgbClr val="2A1F3D"/>
            </a:solidFill>
            <a:prstDash val="solid"/>
          </a:ln>
        </p:spPr>
      </p:sp>
      <p:sp>
        <p:nvSpPr>
          <p:cNvPr id="93" name="Shape 91"/>
          <p:cNvSpPr/>
          <p:nvPr/>
        </p:nvSpPr>
        <p:spPr>
          <a:xfrm>
            <a:off x="4160520" y="3602736"/>
            <a:ext cx="109728" cy="109728"/>
          </a:xfrm>
          <a:prstGeom prst="ellipse">
            <a:avLst/>
          </a:prstGeom>
          <a:solidFill>
            <a:srgbClr val="F6B0A8"/>
          </a:solidFill>
          <a:ln w="9525">
            <a:solidFill>
              <a:srgbClr val="B7372B"/>
            </a:solidFill>
            <a:prstDash val="solid"/>
          </a:ln>
        </p:spPr>
      </p:sp>
      <p:sp>
        <p:nvSpPr>
          <p:cNvPr id="94" name="Shape 92"/>
          <p:cNvSpPr/>
          <p:nvPr/>
        </p:nvSpPr>
        <p:spPr>
          <a:xfrm>
            <a:off x="4288536" y="3621024"/>
            <a:ext cx="109728" cy="109728"/>
          </a:xfrm>
          <a:prstGeom prst="ellipse">
            <a:avLst/>
          </a:prstGeom>
          <a:solidFill>
            <a:srgbClr val="F2E3B3"/>
          </a:solidFill>
          <a:ln w="9525">
            <a:solidFill>
              <a:srgbClr val="8A7A50"/>
            </a:solidFill>
            <a:prstDash val="solid"/>
          </a:ln>
        </p:spPr>
      </p:sp>
      <p:sp>
        <p:nvSpPr>
          <p:cNvPr id="95" name="Shape 93"/>
          <p:cNvSpPr/>
          <p:nvPr/>
        </p:nvSpPr>
        <p:spPr>
          <a:xfrm>
            <a:off x="4507992" y="3598164"/>
            <a:ext cx="219456" cy="118872"/>
          </a:xfrm>
          <a:prstGeom prst="ellipse">
            <a:avLst/>
          </a:prstGeom>
          <a:solidFill>
            <a:srgbClr val="E5DED0"/>
          </a:solidFill>
          <a:ln w="9525">
            <a:solidFill>
              <a:srgbClr val="8A7A50"/>
            </a:solidFill>
            <a:prstDash val="solid"/>
          </a:ln>
        </p:spPr>
      </p:sp>
      <p:sp>
        <p:nvSpPr>
          <p:cNvPr id="96" name="Shape 94"/>
          <p:cNvSpPr/>
          <p:nvPr/>
        </p:nvSpPr>
        <p:spPr>
          <a:xfrm>
            <a:off x="4855464" y="3598164"/>
            <a:ext cx="219456" cy="118872"/>
          </a:xfrm>
          <a:prstGeom prst="ellipse">
            <a:avLst/>
          </a:prstGeom>
          <a:solidFill>
            <a:srgbClr val="E5DED0"/>
          </a:solidFill>
          <a:ln w="9525">
            <a:solidFill>
              <a:srgbClr val="8A7A50"/>
            </a:solidFill>
            <a:prstDash val="solid"/>
          </a:ln>
        </p:spPr>
      </p:sp>
      <p:sp>
        <p:nvSpPr>
          <p:cNvPr id="97" name="Shape 95"/>
          <p:cNvSpPr/>
          <p:nvPr/>
        </p:nvSpPr>
        <p:spPr>
          <a:xfrm>
            <a:off x="5202936" y="3598164"/>
            <a:ext cx="219456" cy="118872"/>
          </a:xfrm>
          <a:prstGeom prst="ellipse">
            <a:avLst/>
          </a:prstGeom>
          <a:solidFill>
            <a:srgbClr val="E5DED0"/>
          </a:solidFill>
          <a:ln w="9525">
            <a:solidFill>
              <a:srgbClr val="8A7A50"/>
            </a:solidFill>
            <a:prstDash val="solid"/>
          </a:ln>
        </p:spPr>
      </p:sp>
      <p:sp>
        <p:nvSpPr>
          <p:cNvPr id="98" name="Shape 96"/>
          <p:cNvSpPr/>
          <p:nvPr/>
        </p:nvSpPr>
        <p:spPr>
          <a:xfrm>
            <a:off x="640080" y="4983480"/>
            <a:ext cx="2423160" cy="365760"/>
          </a:xfrm>
          <a:prstGeom prst="roundRect">
            <a:avLst>
              <a:gd name="adj" fmla="val 15000"/>
            </a:avLst>
          </a:prstGeom>
          <a:solidFill>
            <a:srgbClr val="FFFFFF"/>
          </a:solidFill>
          <a:ln w="9525">
            <a:solidFill>
              <a:srgbClr val="DDD3EC"/>
            </a:solidFill>
            <a:prstDash val="solid"/>
          </a:ln>
        </p:spPr>
      </p:sp>
      <p:sp>
        <p:nvSpPr>
          <p:cNvPr id="99" name="Text 97"/>
          <p:cNvSpPr/>
          <p:nvPr/>
        </p:nvSpPr>
        <p:spPr>
          <a:xfrm>
            <a:off x="694944" y="4983480"/>
            <a:ext cx="2313432" cy="36576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 pairs = </a:t>
            </a:r>
            <a:r>
              <a:rPr lang="en-US" sz="1000" b="1" dirty="0">
                <a:solidFill>
                  <a:srgbClr val="262B3A"/>
                </a:solidFill>
                <a:latin typeface="Calibri" pitchFamily="34" charset="0"/>
                <a:ea typeface="Calibri" pitchFamily="34" charset="-122"/>
                <a:cs typeface="Calibri" pitchFamily="34" charset="-120"/>
              </a:rPr>
              <a:t>ions</a:t>
            </a:r>
            <a:r>
              <a:rPr lang="en-US" sz="1000" dirty="0">
                <a:solidFill>
                  <a:srgbClr val="262B3A"/>
                </a:solidFill>
                <a:latin typeface="Calibri" pitchFamily="34" charset="0"/>
                <a:ea typeface="Calibri" pitchFamily="34" charset="-122"/>
                <a:cs typeface="Calibri" pitchFamily="34" charset="-120"/>
              </a:rPr>
              <a:t> (H⁺ + anion)</a:t>
            </a:r>
            <a:endParaRPr lang="en-US" sz="1000" dirty="0"/>
          </a:p>
        </p:txBody>
      </p:sp>
      <p:sp>
        <p:nvSpPr>
          <p:cNvPr id="100" name="Shape 98"/>
          <p:cNvSpPr/>
          <p:nvPr/>
        </p:nvSpPr>
        <p:spPr>
          <a:xfrm>
            <a:off x="3246120" y="4983480"/>
            <a:ext cx="2514600" cy="365760"/>
          </a:xfrm>
          <a:prstGeom prst="roundRect">
            <a:avLst>
              <a:gd name="adj" fmla="val 15000"/>
            </a:avLst>
          </a:prstGeom>
          <a:solidFill>
            <a:srgbClr val="FFFFFF"/>
          </a:solidFill>
          <a:ln w="9525">
            <a:solidFill>
              <a:srgbClr val="DDD3EC"/>
            </a:solidFill>
            <a:prstDash val="solid"/>
          </a:ln>
        </p:spPr>
      </p:sp>
      <p:sp>
        <p:nvSpPr>
          <p:cNvPr id="101" name="Text 99"/>
          <p:cNvSpPr/>
          <p:nvPr/>
        </p:nvSpPr>
        <p:spPr>
          <a:xfrm>
            <a:off x="3300984" y="4983480"/>
            <a:ext cx="2404872" cy="36576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 = </a:t>
            </a:r>
            <a:r>
              <a:rPr lang="en-US" sz="1000" b="1" dirty="0">
                <a:solidFill>
                  <a:srgbClr val="262B3A"/>
                </a:solidFill>
                <a:latin typeface="Calibri" pitchFamily="34" charset="0"/>
                <a:ea typeface="Calibri" pitchFamily="34" charset="-122"/>
                <a:cs typeface="Calibri" pitchFamily="34" charset="-120"/>
              </a:rPr>
              <a:t>un-ionised</a:t>
            </a:r>
            <a:r>
              <a:rPr lang="en-US" sz="1000" dirty="0">
                <a:solidFill>
                  <a:srgbClr val="262B3A"/>
                </a:solidFill>
                <a:latin typeface="Calibri" pitchFamily="34" charset="0"/>
                <a:ea typeface="Calibri" pitchFamily="34" charset="-122"/>
                <a:cs typeface="Calibri" pitchFamily="34" charset="-120"/>
              </a:rPr>
              <a:t> molecule</a:t>
            </a:r>
            <a:endParaRPr lang="en-US" sz="1000" dirty="0"/>
          </a:p>
        </p:txBody>
      </p:sp>
      <p:sp>
        <p:nvSpPr>
          <p:cNvPr id="102" name="Shape 100"/>
          <p:cNvSpPr/>
          <p:nvPr/>
        </p:nvSpPr>
        <p:spPr>
          <a:xfrm>
            <a:off x="6217920" y="1188720"/>
            <a:ext cx="5559552" cy="2697480"/>
          </a:xfrm>
          <a:prstGeom prst="roundRect">
            <a:avLst>
              <a:gd name="adj" fmla="val 2034"/>
            </a:avLst>
          </a:prstGeom>
          <a:solidFill>
            <a:srgbClr val="F8F5FC"/>
          </a:solidFill>
          <a:ln w="9525">
            <a:solidFill>
              <a:srgbClr val="DDD3EC"/>
            </a:solidFill>
            <a:prstDash val="solid"/>
          </a:ln>
        </p:spPr>
      </p:sp>
      <p:sp>
        <p:nvSpPr>
          <p:cNvPr id="103" name="Text 101"/>
          <p:cNvSpPr/>
          <p:nvPr/>
        </p:nvSpPr>
        <p:spPr>
          <a:xfrm>
            <a:off x="6382512" y="1280160"/>
            <a:ext cx="5230368" cy="292608"/>
          </a:xfrm>
          <a:prstGeom prst="rect">
            <a:avLst/>
          </a:prstGeom>
          <a:noFill/>
          <a:ln/>
        </p:spPr>
        <p:txBody>
          <a:bodyPr wrap="square" lIns="0" tIns="0" rIns="0" bIns="0" rtlCol="0" anchor="ctr"/>
          <a:lstStyle/>
          <a:p>
            <a:pPr indent="0" marL="0">
              <a:buNone/>
            </a:pPr>
            <a:r>
              <a:rPr lang="en-US" sz="1300" b="1" dirty="0">
                <a:solidFill>
                  <a:srgbClr val="2A1F3D"/>
                </a:solidFill>
                <a:latin typeface="Calibri" pitchFamily="34" charset="0"/>
                <a:ea typeface="Calibri" pitchFamily="34" charset="-122"/>
                <a:cs typeface="Calibri" pitchFamily="34" charset="-120"/>
              </a:rPr>
              <a:t>Two different ideas</a:t>
            </a:r>
            <a:endParaRPr lang="en-US" sz="1300" dirty="0"/>
          </a:p>
        </p:txBody>
      </p:sp>
      <p:sp>
        <p:nvSpPr>
          <p:cNvPr id="104" name="Text 102"/>
          <p:cNvSpPr/>
          <p:nvPr/>
        </p:nvSpPr>
        <p:spPr>
          <a:xfrm>
            <a:off x="6382512" y="1609344"/>
            <a:ext cx="5230368" cy="2203704"/>
          </a:xfrm>
          <a:prstGeom prst="rect">
            <a:avLst/>
          </a:prstGeom>
          <a:noFill/>
          <a:ln/>
        </p:spPr>
        <p:txBody>
          <a:bodyPr wrap="square" lIns="0" tIns="0" rIns="0" bIns="0" rtlCol="0" anchor="t"/>
          <a:lstStyle/>
          <a:p>
            <a:pPr marL="152400" indent="-152400">
              <a:spcAft>
                <a:spcPts val="300"/>
              </a:spcAft>
              <a:buSzPct val="100000"/>
              <a:buChar char="▪"/>
            </a:pPr>
            <a:r>
              <a:rPr lang="en-US" sz="1100" b="1" dirty="0">
                <a:solidFill>
                  <a:srgbClr val="262B3A"/>
                </a:solidFill>
                <a:latin typeface="Calibri" pitchFamily="34" charset="0"/>
                <a:ea typeface="Calibri" pitchFamily="34" charset="-122"/>
                <a:cs typeface="Calibri" pitchFamily="34" charset="-120"/>
              </a:rPr>
              <a:t>Concentrated</a:t>
            </a:r>
            <a:r>
              <a:rPr lang="en-US" sz="1100" dirty="0">
                <a:solidFill>
                  <a:srgbClr val="262B3A"/>
                </a:solidFill>
                <a:latin typeface="Calibri" pitchFamily="34" charset="0"/>
                <a:ea typeface="Calibri" pitchFamily="34" charset="-122"/>
                <a:cs typeface="Calibri" pitchFamily="34" charset="-120"/>
              </a:rPr>
              <a:t>: a </a:t>
            </a:r>
            <a:r>
              <a:rPr lang="en-US" sz="1100" b="1" dirty="0">
                <a:solidFill>
                  <a:srgbClr val="262B3A"/>
                </a:solidFill>
                <a:latin typeface="Calibri" pitchFamily="34" charset="0"/>
                <a:ea typeface="Calibri" pitchFamily="34" charset="-122"/>
                <a:cs typeface="Calibri" pitchFamily="34" charset="-120"/>
              </a:rPr>
              <a:t>large amount</a:t>
            </a:r>
            <a:r>
              <a:rPr lang="en-US" sz="1100" dirty="0">
                <a:solidFill>
                  <a:srgbClr val="262B3A"/>
                </a:solidFill>
                <a:latin typeface="Calibri" pitchFamily="34" charset="0"/>
                <a:ea typeface="Calibri" pitchFamily="34" charset="-122"/>
                <a:cs typeface="Calibri" pitchFamily="34" charset="-120"/>
              </a:rPr>
              <a:t> of acid dissolved in a given volume. </a:t>
            </a:r>
            <a:r>
              <a:rPr lang="en-US" sz="1100" b="1" dirty="0">
                <a:solidFill>
                  <a:srgbClr val="262B3A"/>
                </a:solidFill>
                <a:latin typeface="Calibri" pitchFamily="34" charset="0"/>
                <a:ea typeface="Calibri" pitchFamily="34" charset="-122"/>
                <a:cs typeface="Calibri" pitchFamily="34" charset="-120"/>
              </a:rPr>
              <a:t>Dilute</a:t>
            </a:r>
            <a:r>
              <a:rPr lang="en-US" sz="1100" dirty="0">
                <a:solidFill>
                  <a:srgbClr val="262B3A"/>
                </a:solidFill>
                <a:latin typeface="Calibri" pitchFamily="34" charset="0"/>
                <a:ea typeface="Calibri" pitchFamily="34" charset="-122"/>
                <a:cs typeface="Calibri" pitchFamily="34" charset="-120"/>
              </a:rPr>
              <a:t>: a </a:t>
            </a:r>
            <a:r>
              <a:rPr lang="en-US" sz="1100" b="1" dirty="0">
                <a:solidFill>
                  <a:srgbClr val="262B3A"/>
                </a:solidFill>
                <a:latin typeface="Calibri" pitchFamily="34" charset="0"/>
                <a:ea typeface="Calibri" pitchFamily="34" charset="-122"/>
                <a:cs typeface="Calibri" pitchFamily="34" charset="-120"/>
              </a:rPr>
              <a:t>small amount</a:t>
            </a:r>
            <a:r>
              <a:rPr lang="en-US" sz="1100" dirty="0">
                <a:solidFill>
                  <a:srgbClr val="262B3A"/>
                </a:solidFill>
                <a:latin typeface="Calibri" pitchFamily="34" charset="0"/>
                <a:ea typeface="Calibri" pitchFamily="34" charset="-122"/>
                <a:cs typeface="Calibri" pitchFamily="34" charset="-120"/>
              </a:rPr>
              <a:t> in the same volume.</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Concentration is measured in </a:t>
            </a:r>
            <a:r>
              <a:rPr lang="en-US" sz="1100" b="1" dirty="0">
                <a:solidFill>
                  <a:srgbClr val="262B3A"/>
                </a:solidFill>
                <a:latin typeface="Calibri" pitchFamily="34" charset="0"/>
                <a:ea typeface="Calibri" pitchFamily="34" charset="-122"/>
                <a:cs typeface="Calibri" pitchFamily="34" charset="-120"/>
              </a:rPr>
              <a:t>g/dm³</a:t>
            </a:r>
            <a:r>
              <a:rPr lang="en-US" sz="1100" dirty="0">
                <a:solidFill>
                  <a:srgbClr val="262B3A"/>
                </a:solidFill>
                <a:latin typeface="Calibri" pitchFamily="34" charset="0"/>
                <a:ea typeface="Calibri" pitchFamily="34" charset="-122"/>
                <a:cs typeface="Calibri" pitchFamily="34" charset="-120"/>
              </a:rPr>
              <a:t> or </a:t>
            </a:r>
            <a:r>
              <a:rPr lang="en-US" sz="1100" b="1" dirty="0">
                <a:solidFill>
                  <a:srgbClr val="262B3A"/>
                </a:solidFill>
                <a:latin typeface="Calibri" pitchFamily="34" charset="0"/>
                <a:ea typeface="Calibri" pitchFamily="34" charset="-122"/>
                <a:cs typeface="Calibri" pitchFamily="34" charset="-120"/>
              </a:rPr>
              <a:t>mol/dm³</a:t>
            </a:r>
            <a:r>
              <a:rPr lang="en-US" sz="1100" dirty="0">
                <a:solidFill>
                  <a:srgbClr val="262B3A"/>
                </a:solidFill>
                <a:latin typeface="Calibri" pitchFamily="34" charset="0"/>
                <a:ea typeface="Calibri" pitchFamily="34" charset="-122"/>
                <a:cs typeface="Calibri" pitchFamily="34" charset="-120"/>
              </a:rPr>
              <a:t> (from C5.3). Adding water </a:t>
            </a:r>
            <a:r>
              <a:rPr lang="en-US" sz="1100" b="1" dirty="0">
                <a:solidFill>
                  <a:srgbClr val="262B3A"/>
                </a:solidFill>
                <a:latin typeface="Calibri" pitchFamily="34" charset="0"/>
                <a:ea typeface="Calibri" pitchFamily="34" charset="-122"/>
                <a:cs typeface="Calibri" pitchFamily="34" charset="-120"/>
              </a:rPr>
              <a:t>dilutes</a:t>
            </a:r>
            <a:r>
              <a:rPr lang="en-US" sz="1100" dirty="0">
                <a:solidFill>
                  <a:srgbClr val="262B3A"/>
                </a:solidFill>
                <a:latin typeface="Calibri" pitchFamily="34" charset="0"/>
                <a:ea typeface="Calibri" pitchFamily="34" charset="-122"/>
                <a:cs typeface="Calibri" pitchFamily="34" charset="-120"/>
              </a:rPr>
              <a:t> an acid.</a:t>
            </a:r>
            <a:endParaRPr lang="en-US" sz="1100" dirty="0"/>
          </a:p>
          <a:p>
            <a:pPr marL="152400" indent="-152400">
              <a:spcAft>
                <a:spcPts val="300"/>
              </a:spcAft>
              <a:buSzPct val="100000"/>
              <a:buChar char="▪"/>
            </a:pPr>
            <a:r>
              <a:rPr lang="en-US" sz="1100" b="1" dirty="0">
                <a:solidFill>
                  <a:srgbClr val="262B3A"/>
                </a:solidFill>
                <a:latin typeface="Calibri" pitchFamily="34" charset="0"/>
                <a:ea typeface="Calibri" pitchFamily="34" charset="-122"/>
                <a:cs typeface="Calibri" pitchFamily="34" charset="-120"/>
              </a:rPr>
              <a:t>Strong / weak</a:t>
            </a:r>
            <a:r>
              <a:rPr lang="en-US" sz="1100" dirty="0">
                <a:solidFill>
                  <a:srgbClr val="262B3A"/>
                </a:solidFill>
                <a:latin typeface="Calibri" pitchFamily="34" charset="0"/>
                <a:ea typeface="Calibri" pitchFamily="34" charset="-122"/>
                <a:cs typeface="Calibri" pitchFamily="34" charset="-120"/>
              </a:rPr>
              <a:t>: how much of the acid </a:t>
            </a:r>
            <a:r>
              <a:rPr lang="en-US" sz="1100" b="1" dirty="0">
                <a:solidFill>
                  <a:srgbClr val="262B3A"/>
                </a:solidFill>
                <a:latin typeface="Calibri" pitchFamily="34" charset="0"/>
                <a:ea typeface="Calibri" pitchFamily="34" charset="-122"/>
                <a:cs typeface="Calibri" pitchFamily="34" charset="-120"/>
              </a:rPr>
              <a:t>ionises</a:t>
            </a:r>
            <a:r>
              <a:rPr lang="en-US" sz="1100" dirty="0">
                <a:solidFill>
                  <a:srgbClr val="262B3A"/>
                </a:solidFill>
                <a:latin typeface="Calibri" pitchFamily="34" charset="0"/>
                <a:ea typeface="Calibri" pitchFamily="34" charset="-122"/>
                <a:cs typeface="Calibri" pitchFamily="34" charset="-120"/>
              </a:rPr>
              <a:t>. So you can have a </a:t>
            </a:r>
            <a:r>
              <a:rPr lang="en-US" sz="1100" b="1" dirty="0">
                <a:solidFill>
                  <a:srgbClr val="262B3A"/>
                </a:solidFill>
                <a:latin typeface="Calibri" pitchFamily="34" charset="0"/>
                <a:ea typeface="Calibri" pitchFamily="34" charset="-122"/>
                <a:cs typeface="Calibri" pitchFamily="34" charset="-120"/>
              </a:rPr>
              <a:t>dilute strong</a:t>
            </a:r>
            <a:r>
              <a:rPr lang="en-US" sz="1100" dirty="0">
                <a:solidFill>
                  <a:srgbClr val="262B3A"/>
                </a:solidFill>
                <a:latin typeface="Calibri" pitchFamily="34" charset="0"/>
                <a:ea typeface="Calibri" pitchFamily="34" charset="-122"/>
                <a:cs typeface="Calibri" pitchFamily="34" charset="-120"/>
              </a:rPr>
              <a:t> acid or a </a:t>
            </a:r>
            <a:r>
              <a:rPr lang="en-US" sz="1100" b="1" dirty="0">
                <a:solidFill>
                  <a:srgbClr val="262B3A"/>
                </a:solidFill>
                <a:latin typeface="Calibri" pitchFamily="34" charset="0"/>
                <a:ea typeface="Calibri" pitchFamily="34" charset="-122"/>
                <a:cs typeface="Calibri" pitchFamily="34" charset="-120"/>
              </a:rPr>
              <a:t>concentrated weak</a:t>
            </a:r>
            <a:r>
              <a:rPr lang="en-US" sz="1100" dirty="0">
                <a:solidFill>
                  <a:srgbClr val="262B3A"/>
                </a:solidFill>
                <a:latin typeface="Calibri" pitchFamily="34" charset="0"/>
                <a:ea typeface="Calibri" pitchFamily="34" charset="-122"/>
                <a:cs typeface="Calibri" pitchFamily="34" charset="-120"/>
              </a:rPr>
              <a:t> acid.</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More concentrated acid (same type) → </a:t>
            </a:r>
            <a:r>
              <a:rPr lang="en-US" sz="1100" b="1" dirty="0">
                <a:solidFill>
                  <a:srgbClr val="262B3A"/>
                </a:solidFill>
                <a:latin typeface="Calibri" pitchFamily="34" charset="0"/>
                <a:ea typeface="Calibri" pitchFamily="34" charset="-122"/>
                <a:cs typeface="Calibri" pitchFamily="34" charset="-120"/>
              </a:rPr>
              <a:t>more H⁺</a:t>
            </a:r>
            <a:r>
              <a:rPr lang="en-US" sz="1100" dirty="0">
                <a:solidFill>
                  <a:srgbClr val="262B3A"/>
                </a:solidFill>
                <a:latin typeface="Calibri" pitchFamily="34" charset="0"/>
                <a:ea typeface="Calibri" pitchFamily="34" charset="-122"/>
                <a:cs typeface="Calibri" pitchFamily="34" charset="-120"/>
              </a:rPr>
              <a:t> per dm³ → </a:t>
            </a:r>
            <a:r>
              <a:rPr lang="en-US" sz="1100" b="1" dirty="0">
                <a:solidFill>
                  <a:srgbClr val="262B3A"/>
                </a:solidFill>
                <a:latin typeface="Calibri" pitchFamily="34" charset="0"/>
                <a:ea typeface="Calibri" pitchFamily="34" charset="-122"/>
                <a:cs typeface="Calibri" pitchFamily="34" charset="-120"/>
              </a:rPr>
              <a:t>lower pH</a:t>
            </a:r>
            <a:r>
              <a:rPr lang="en-US" sz="1100" dirty="0">
                <a:solidFill>
                  <a:srgbClr val="262B3A"/>
                </a:solidFill>
                <a:latin typeface="Calibri" pitchFamily="34" charset="0"/>
                <a:ea typeface="Calibri" pitchFamily="34" charset="-122"/>
                <a:cs typeface="Calibri" pitchFamily="34" charset="-120"/>
              </a:rPr>
              <a:t>, reacts </a:t>
            </a:r>
            <a:r>
              <a:rPr lang="en-US" sz="1100" b="1" dirty="0">
                <a:solidFill>
                  <a:srgbClr val="262B3A"/>
                </a:solidFill>
                <a:latin typeface="Calibri" pitchFamily="34" charset="0"/>
                <a:ea typeface="Calibri" pitchFamily="34" charset="-122"/>
                <a:cs typeface="Calibri" pitchFamily="34" charset="-120"/>
              </a:rPr>
              <a:t>more vigorously</a:t>
            </a:r>
            <a:r>
              <a:rPr lang="en-US" sz="1100" dirty="0">
                <a:solidFill>
                  <a:srgbClr val="262B3A"/>
                </a:solidFill>
                <a:latin typeface="Calibri" pitchFamily="34" charset="0"/>
                <a:ea typeface="Calibri" pitchFamily="34" charset="-122"/>
                <a:cs typeface="Calibri" pitchFamily="34" charset="-120"/>
              </a:rPr>
              <a:t>.</a:t>
            </a:r>
            <a:endParaRPr lang="en-US" sz="1100" dirty="0"/>
          </a:p>
        </p:txBody>
      </p:sp>
      <p:sp>
        <p:nvSpPr>
          <p:cNvPr id="105" name="Shape 103"/>
          <p:cNvSpPr/>
          <p:nvPr/>
        </p:nvSpPr>
        <p:spPr>
          <a:xfrm>
            <a:off x="6217920" y="4023360"/>
            <a:ext cx="5559552" cy="1691640"/>
          </a:xfrm>
          <a:prstGeom prst="roundRect">
            <a:avLst>
              <a:gd name="adj" fmla="val 3243"/>
            </a:avLst>
          </a:prstGeom>
          <a:solidFill>
            <a:srgbClr val="FFF4E0"/>
          </a:solidFill>
          <a:ln w="9525">
            <a:solidFill>
              <a:srgbClr val="F1D9A8"/>
            </a:solidFill>
            <a:prstDash val="solid"/>
          </a:ln>
        </p:spPr>
      </p:sp>
      <p:sp>
        <p:nvSpPr>
          <p:cNvPr id="106" name="Text 104"/>
          <p:cNvSpPr/>
          <p:nvPr/>
        </p:nvSpPr>
        <p:spPr>
          <a:xfrm>
            <a:off x="6382512" y="4096512"/>
            <a:ext cx="5230368"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 concentrations of HCl</a:t>
            </a:r>
            <a:endParaRPr lang="en-US" sz="1300" dirty="0"/>
          </a:p>
        </p:txBody>
      </p:sp>
      <p:sp>
        <p:nvSpPr>
          <p:cNvPr id="107" name="Text 105"/>
          <p:cNvSpPr/>
          <p:nvPr/>
        </p:nvSpPr>
        <p:spPr>
          <a:xfrm>
            <a:off x="6382512" y="4407408"/>
            <a:ext cx="5230368" cy="123444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7.3 g of HCl in 1.0 dm³ and 73 g of HCl in 1.0 dm³.</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1 g/dm³   </a:t>
            </a:r>
            <a:r>
              <a:rPr lang="en-US" sz="1050" dirty="0">
                <a:solidFill>
                  <a:srgbClr val="262B3A"/>
                </a:solidFill>
                <a:latin typeface="Calibri" pitchFamily="34" charset="0"/>
                <a:ea typeface="Calibri" pitchFamily="34" charset="-122"/>
                <a:cs typeface="Calibri" pitchFamily="34" charset="-120"/>
              </a:rPr>
              <a:t>7.3 g/dm³ is </a:t>
            </a:r>
            <a:r>
              <a:rPr lang="en-US" sz="1050" b="1" dirty="0">
                <a:solidFill>
                  <a:srgbClr val="262B3A"/>
                </a:solidFill>
                <a:latin typeface="Calibri" pitchFamily="34" charset="0"/>
                <a:ea typeface="Calibri" pitchFamily="34" charset="-122"/>
                <a:cs typeface="Calibri" pitchFamily="34" charset="-120"/>
              </a:rPr>
              <a:t>dilute</a:t>
            </a:r>
            <a:r>
              <a:rPr lang="en-US" sz="1050" dirty="0">
                <a:solidFill>
                  <a:srgbClr val="262B3A"/>
                </a:solidFill>
                <a:latin typeface="Calibri" pitchFamily="34" charset="0"/>
                <a:ea typeface="Calibri" pitchFamily="34" charset="-122"/>
                <a:cs typeface="Calibri" pitchFamily="34" charset="-120"/>
              </a:rPr>
              <a:t>; 73 g/dm³ is </a:t>
            </a:r>
            <a:r>
              <a:rPr lang="en-US" sz="1050" b="1" dirty="0">
                <a:solidFill>
                  <a:srgbClr val="262B3A"/>
                </a:solidFill>
                <a:latin typeface="Calibri" pitchFamily="34" charset="0"/>
                <a:ea typeface="Calibri" pitchFamily="34" charset="-122"/>
                <a:cs typeface="Calibri" pitchFamily="34" charset="-120"/>
              </a:rPr>
              <a:t>concentrated</a:t>
            </a:r>
            <a:r>
              <a:rPr lang="en-US" sz="1050" dirty="0">
                <a:solidFill>
                  <a:srgbClr val="262B3A"/>
                </a:solidFill>
                <a:latin typeface="Calibri" pitchFamily="34" charset="0"/>
                <a:ea typeface="Calibri" pitchFamily="34" charset="-122"/>
                <a:cs typeface="Calibri" pitchFamily="34" charset="-120"/>
              </a:rPr>
              <a:t> (×10)</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2 mol/dm³   </a:t>
            </a:r>
            <a:r>
              <a:rPr lang="en-US" sz="1050" dirty="0">
                <a:solidFill>
                  <a:srgbClr val="262B3A"/>
                </a:solidFill>
                <a:latin typeface="Calibri" pitchFamily="34" charset="0"/>
                <a:ea typeface="Calibri" pitchFamily="34" charset="-122"/>
                <a:cs typeface="Calibri" pitchFamily="34" charset="-120"/>
              </a:rPr>
              <a:t>7.3 ÷ 36.5 = 0.20; 73 ÷ 36.5 = 2.0 mol/dm³</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3 Answer   </a:t>
            </a:r>
            <a:r>
              <a:rPr lang="en-US" sz="1050" b="1" dirty="0">
                <a:solidFill>
                  <a:srgbClr val="C8414C"/>
                </a:solidFill>
                <a:latin typeface="Calibri" pitchFamily="34" charset="0"/>
                <a:ea typeface="Calibri" pitchFamily="34" charset="-122"/>
                <a:cs typeface="Calibri" pitchFamily="34" charset="-120"/>
              </a:rPr>
              <a:t>Both are </a:t>
            </a:r>
            <a:r>
              <a:rPr lang="en-US" sz="1050" b="1" dirty="0">
                <a:solidFill>
                  <a:srgbClr val="C8414C"/>
                </a:solidFill>
                <a:latin typeface="Calibri" pitchFamily="34" charset="0"/>
                <a:ea typeface="Calibri" pitchFamily="34" charset="-122"/>
                <a:cs typeface="Calibri" pitchFamily="34" charset="-120"/>
              </a:rPr>
              <a:t>strong</a:t>
            </a:r>
            <a:r>
              <a:rPr lang="en-US" sz="1050" b="1" dirty="0">
                <a:solidFill>
                  <a:srgbClr val="C8414C"/>
                </a:solidFill>
                <a:latin typeface="Calibri" pitchFamily="34" charset="0"/>
                <a:ea typeface="Calibri" pitchFamily="34" charset="-122"/>
                <a:cs typeface="Calibri" pitchFamily="34" charset="-120"/>
              </a:rPr>
              <a:t>; the second is </a:t>
            </a:r>
            <a:r>
              <a:rPr lang="en-US" sz="1050" b="1" dirty="0">
                <a:solidFill>
                  <a:srgbClr val="C8414C"/>
                </a:solidFill>
                <a:latin typeface="Calibri" pitchFamily="34" charset="0"/>
                <a:ea typeface="Calibri" pitchFamily="34" charset="-122"/>
                <a:cs typeface="Calibri" pitchFamily="34" charset="-120"/>
              </a:rPr>
              <a:t>10×</a:t>
            </a:r>
            <a:r>
              <a:rPr lang="en-US" sz="1050" b="1" dirty="0">
                <a:solidFill>
                  <a:srgbClr val="C8414C"/>
                </a:solidFill>
                <a:latin typeface="Calibri" pitchFamily="34" charset="0"/>
                <a:ea typeface="Calibri" pitchFamily="34" charset="-122"/>
                <a:cs typeface="Calibri" pitchFamily="34" charset="-120"/>
              </a:rPr>
              <a:t> as concentrated</a:t>
            </a:r>
            <a:endParaRPr lang="en-US" sz="1050" dirty="0"/>
          </a:p>
        </p:txBody>
      </p:sp>
      <p:sp>
        <p:nvSpPr>
          <p:cNvPr id="108" name="Shape 106"/>
          <p:cNvSpPr/>
          <p:nvPr/>
        </p:nvSpPr>
        <p:spPr>
          <a:xfrm>
            <a:off x="411480" y="5833872"/>
            <a:ext cx="11368735" cy="530352"/>
          </a:xfrm>
          <a:prstGeom prst="rect">
            <a:avLst/>
          </a:prstGeom>
          <a:solidFill>
            <a:srgbClr val="FFF4E0"/>
          </a:solidFill>
          <a:ln w="6350">
            <a:solidFill>
              <a:srgbClr val="F1D9A8"/>
            </a:solidFill>
            <a:prstDash val="solid"/>
          </a:ln>
        </p:spPr>
      </p:sp>
      <p:sp>
        <p:nvSpPr>
          <p:cNvPr id="109" name="Shape 107"/>
          <p:cNvSpPr/>
          <p:nvPr/>
        </p:nvSpPr>
        <p:spPr>
          <a:xfrm>
            <a:off x="411480" y="5833872"/>
            <a:ext cx="82296" cy="530352"/>
          </a:xfrm>
          <a:prstGeom prst="rect">
            <a:avLst/>
          </a:prstGeom>
          <a:solidFill>
            <a:srgbClr val="E39A2F"/>
          </a:solidFill>
          <a:ln w="12700">
            <a:solidFill>
              <a:srgbClr val="E39A2F"/>
            </a:solidFill>
            <a:prstDash val="solid"/>
          </a:ln>
        </p:spPr>
      </p:sp>
      <p:sp>
        <p:nvSpPr>
          <p:cNvPr id="110" name="Text 108"/>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6.0 g of ethanoic acid (Mr 60.0) is dissolved to make </a:t>
            </a:r>
            <a:r>
              <a:rPr lang="en-US" sz="1150" b="1" dirty="0">
                <a:solidFill>
                  <a:srgbClr val="262B3A"/>
                </a:solidFill>
                <a:latin typeface="Calibri" pitchFamily="34" charset="0"/>
                <a:ea typeface="Calibri" pitchFamily="34" charset="-122"/>
                <a:cs typeface="Calibri" pitchFamily="34" charset="-120"/>
              </a:rPr>
              <a:t>0.500 dm³</a:t>
            </a:r>
            <a:r>
              <a:rPr lang="en-US" sz="1150" dirty="0">
                <a:solidFill>
                  <a:srgbClr val="262B3A"/>
                </a:solidFill>
                <a:latin typeface="Calibri" pitchFamily="34" charset="0"/>
                <a:ea typeface="Calibri" pitchFamily="34" charset="-122"/>
                <a:cs typeface="Calibri" pitchFamily="34" charset="-120"/>
              </a:rPr>
              <a:t>. Calculate the concentration in mol/dm³. Is this acid </a:t>
            </a:r>
            <a:r>
              <a:rPr lang="en-US" sz="1150" b="1" dirty="0">
                <a:solidFill>
                  <a:srgbClr val="262B3A"/>
                </a:solidFill>
                <a:latin typeface="Calibri" pitchFamily="34" charset="0"/>
                <a:ea typeface="Calibri" pitchFamily="34" charset="-122"/>
                <a:cs typeface="Calibri" pitchFamily="34" charset="-120"/>
              </a:rPr>
              <a:t>strong</a:t>
            </a:r>
            <a:r>
              <a:rPr lang="en-US" sz="1150" dirty="0">
                <a:solidFill>
                  <a:srgbClr val="262B3A"/>
                </a:solidFill>
                <a:latin typeface="Calibri" pitchFamily="34" charset="0"/>
                <a:ea typeface="Calibri" pitchFamily="34" charset="-122"/>
                <a:cs typeface="Calibri" pitchFamily="34" charset="-120"/>
              </a:rPr>
              <a:t> or </a:t>
            </a:r>
            <a:r>
              <a:rPr lang="en-US" sz="1150" b="1" dirty="0">
                <a:solidFill>
                  <a:srgbClr val="262B3A"/>
                </a:solidFill>
                <a:latin typeface="Calibri" pitchFamily="34" charset="0"/>
                <a:ea typeface="Calibri" pitchFamily="34" charset="-122"/>
                <a:cs typeface="Calibri" pitchFamily="34" charset="-120"/>
              </a:rPr>
              <a:t>weak</a:t>
            </a:r>
            <a:r>
              <a:rPr lang="en-US" sz="1150" dirty="0">
                <a:solidFill>
                  <a:srgbClr val="262B3A"/>
                </a:solidFill>
                <a:latin typeface="Calibri" pitchFamily="34" charset="0"/>
                <a:ea typeface="Calibri" pitchFamily="34" charset="-122"/>
                <a:cs typeface="Calibri" pitchFamily="34" charset="-120"/>
              </a:rPr>
              <a:t>?</a:t>
            </a:r>
            <a:endParaRPr lang="en-US" sz="12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pH and hydrogen ion concentration</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Specification C6.1.6, C6.1.7 • [H⁺] × 10 → pH − 1; neutrality and acidity in terms of [H⁺]</a:t>
            </a:r>
            <a:endParaRPr lang="en-US" sz="1100" dirty="0"/>
          </a:p>
        </p:txBody>
      </p:sp>
      <p:sp>
        <p:nvSpPr>
          <p:cNvPr id="6" name="Shape 4"/>
          <p:cNvSpPr/>
          <p:nvPr/>
        </p:nvSpPr>
        <p:spPr>
          <a:xfrm>
            <a:off x="11323015" y="292608"/>
            <a:ext cx="457200" cy="274320"/>
          </a:xfrm>
          <a:prstGeom prst="roundRect">
            <a:avLst>
              <a:gd name="adj" fmla="val 50000"/>
            </a:avLst>
          </a:prstGeom>
          <a:solidFill>
            <a:srgbClr val="C8414C"/>
          </a:solidFill>
          <a:ln w="12700">
            <a:solidFill>
              <a:srgbClr val="C8414C"/>
            </a:solidFill>
            <a:prstDash val="solid"/>
          </a:ln>
        </p:spPr>
      </p:sp>
      <p:sp>
        <p:nvSpPr>
          <p:cNvPr id="7" name="Text 5"/>
          <p:cNvSpPr/>
          <p:nvPr/>
        </p:nvSpPr>
        <p:spPr>
          <a:xfrm>
            <a:off x="11323015" y="292608"/>
            <a:ext cx="45720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8" name="Text 6"/>
          <p:cNvSpPr/>
          <p:nvPr/>
        </p:nvSpPr>
        <p:spPr>
          <a:xfrm>
            <a:off x="411480" y="6473952"/>
            <a:ext cx="1014984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C6.1 What useful products can be made from acids? | Higher &amp; Foundation</a:t>
            </a:r>
            <a:endParaRPr lang="en-US" sz="1000" dirty="0"/>
          </a:p>
        </p:txBody>
      </p:sp>
      <p:sp>
        <p:nvSpPr>
          <p:cNvPr id="9" name="Text 7"/>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C6.1.6  |  17</a:t>
            </a:r>
            <a:endParaRPr lang="en-US" sz="1000" dirty="0"/>
          </a:p>
        </p:txBody>
      </p:sp>
      <p:sp>
        <p:nvSpPr>
          <p:cNvPr id="10" name="Shape 8"/>
          <p:cNvSpPr/>
          <p:nvPr/>
        </p:nvSpPr>
        <p:spPr>
          <a:xfrm>
            <a:off x="411480" y="1188720"/>
            <a:ext cx="5577840" cy="4526280"/>
          </a:xfrm>
          <a:prstGeom prst="roundRect">
            <a:avLst>
              <a:gd name="adj" fmla="val 1616"/>
            </a:avLst>
          </a:prstGeom>
          <a:solidFill>
            <a:srgbClr val="F4F0FA"/>
          </a:solidFill>
          <a:ln w="9525">
            <a:solidFill>
              <a:srgbClr val="DED4EE"/>
            </a:solidFill>
            <a:prstDash val="solid"/>
          </a:ln>
        </p:spPr>
      </p:sp>
      <p:sp>
        <p:nvSpPr>
          <p:cNvPr id="11" name="Text 9"/>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each step is a factor of ten; bars on a logarithmic scale</a:t>
            </a:r>
            <a:endParaRPr lang="en-US" sz="1000" dirty="0"/>
          </a:p>
        </p:txBody>
      </p:sp>
      <p:sp>
        <p:nvSpPr>
          <p:cNvPr id="12" name="Text 10"/>
          <p:cNvSpPr/>
          <p:nvPr/>
        </p:nvSpPr>
        <p:spPr>
          <a:xfrm>
            <a:off x="640080" y="1298448"/>
            <a:ext cx="5120640" cy="237744"/>
          </a:xfrm>
          <a:prstGeom prst="rect">
            <a:avLst/>
          </a:prstGeom>
          <a:noFill/>
          <a:ln/>
        </p:spPr>
        <p:txBody>
          <a:bodyPr wrap="square" lIns="0" tIns="0" rIns="0" bIns="0" rtlCol="0" anchor="ctr"/>
          <a:lstStyle/>
          <a:p>
            <a:pPr algn="ctr" indent="0" marL="0">
              <a:buNone/>
            </a:pPr>
            <a:r>
              <a:rPr lang="en-US" sz="1050" b="1" dirty="0">
                <a:solidFill>
                  <a:srgbClr val="2A1F3D"/>
                </a:solidFill>
                <a:latin typeface="Calibri" pitchFamily="34" charset="0"/>
                <a:ea typeface="Calibri" pitchFamily="34" charset="-122"/>
                <a:cs typeface="Calibri" pitchFamily="34" charset="-120"/>
              </a:rPr>
              <a:t>[H⁺] / mol/dm³</a:t>
            </a:r>
            <a:r>
              <a:rPr lang="en-US" sz="1050" dirty="0">
                <a:solidFill>
                  <a:srgbClr val="2A1F3D"/>
                </a:solidFill>
                <a:latin typeface="Calibri" pitchFamily="34" charset="0"/>
                <a:ea typeface="Calibri" pitchFamily="34" charset="-122"/>
                <a:cs typeface="Calibri" pitchFamily="34" charset="-120"/>
              </a:rPr>
              <a:t> against </a:t>
            </a:r>
            <a:r>
              <a:rPr lang="en-US" sz="1050" b="1" dirty="0">
                <a:solidFill>
                  <a:srgbClr val="2A1F3D"/>
                </a:solidFill>
                <a:latin typeface="Calibri" pitchFamily="34" charset="0"/>
                <a:ea typeface="Calibri" pitchFamily="34" charset="-122"/>
                <a:cs typeface="Calibri" pitchFamily="34" charset="-120"/>
              </a:rPr>
              <a:t>pH</a:t>
            </a:r>
            <a:endParaRPr lang="en-US" sz="1050" dirty="0"/>
          </a:p>
        </p:txBody>
      </p:sp>
      <p:sp>
        <p:nvSpPr>
          <p:cNvPr id="13" name="Shape 11"/>
          <p:cNvSpPr/>
          <p:nvPr/>
        </p:nvSpPr>
        <p:spPr>
          <a:xfrm>
            <a:off x="685800" y="1691640"/>
            <a:ext cx="548640" cy="365760"/>
          </a:xfrm>
          <a:prstGeom prst="roundRect">
            <a:avLst>
              <a:gd name="adj" fmla="val 10000"/>
            </a:avLst>
          </a:prstGeom>
          <a:solidFill>
            <a:srgbClr val="E8402A"/>
          </a:solidFill>
          <a:ln/>
        </p:spPr>
      </p:sp>
      <p:sp>
        <p:nvSpPr>
          <p:cNvPr id="14" name="Text 12"/>
          <p:cNvSpPr/>
          <p:nvPr/>
        </p:nvSpPr>
        <p:spPr>
          <a:xfrm>
            <a:off x="685800" y="1691640"/>
            <a:ext cx="548640" cy="36576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pH 1</a:t>
            </a:r>
            <a:endParaRPr lang="en-US" sz="1000" dirty="0"/>
          </a:p>
        </p:txBody>
      </p:sp>
      <p:sp>
        <p:nvSpPr>
          <p:cNvPr id="15" name="Shape 13"/>
          <p:cNvSpPr/>
          <p:nvPr/>
        </p:nvSpPr>
        <p:spPr>
          <a:xfrm>
            <a:off x="1371600" y="1737360"/>
            <a:ext cx="2688336" cy="274320"/>
          </a:xfrm>
          <a:prstGeom prst="rect">
            <a:avLst/>
          </a:prstGeom>
          <a:solidFill>
            <a:srgbClr val="F6B0A8"/>
          </a:solidFill>
          <a:ln w="9525">
            <a:solidFill>
              <a:srgbClr val="B7372B"/>
            </a:solidFill>
            <a:prstDash val="solid"/>
          </a:ln>
        </p:spPr>
      </p:sp>
      <p:sp>
        <p:nvSpPr>
          <p:cNvPr id="16" name="Text 14"/>
          <p:cNvSpPr/>
          <p:nvPr/>
        </p:nvSpPr>
        <p:spPr>
          <a:xfrm>
            <a:off x="4105656" y="1691640"/>
            <a:ext cx="1828800" cy="365760"/>
          </a:xfrm>
          <a:prstGeom prst="rect">
            <a:avLst/>
          </a:prstGeom>
          <a:noFill/>
          <a:ln/>
        </p:spPr>
        <p:txBody>
          <a:bodyPr wrap="square" lIns="0" tIns="0" rIns="0" bIns="0" rtlCol="0" anchor="ctr"/>
          <a:lstStyle/>
          <a:p>
            <a:pPr algn="l" indent="0" marL="0">
              <a:buNone/>
            </a:pPr>
            <a:r>
              <a:rPr lang="en-US" sz="1000" dirty="0">
                <a:solidFill>
                  <a:srgbClr val="262B3A"/>
                </a:solidFill>
                <a:latin typeface="Calibri" pitchFamily="34" charset="0"/>
                <a:ea typeface="Calibri" pitchFamily="34" charset="-122"/>
                <a:cs typeface="Calibri" pitchFamily="34" charset="-120"/>
              </a:rPr>
              <a:t>0.1  (10⁻¹)</a:t>
            </a:r>
            <a:endParaRPr lang="en-US" sz="1000" dirty="0"/>
          </a:p>
        </p:txBody>
      </p:sp>
      <p:sp>
        <p:nvSpPr>
          <p:cNvPr id="17" name="Shape 15"/>
          <p:cNvSpPr/>
          <p:nvPr/>
        </p:nvSpPr>
        <p:spPr>
          <a:xfrm>
            <a:off x="685800" y="2148840"/>
            <a:ext cx="548640" cy="365760"/>
          </a:xfrm>
          <a:prstGeom prst="roundRect">
            <a:avLst>
              <a:gd name="adj" fmla="val 10000"/>
            </a:avLst>
          </a:prstGeom>
          <a:solidFill>
            <a:srgbClr val="F26B22"/>
          </a:solidFill>
          <a:ln/>
        </p:spPr>
      </p:sp>
      <p:sp>
        <p:nvSpPr>
          <p:cNvPr id="18" name="Text 16"/>
          <p:cNvSpPr/>
          <p:nvPr/>
        </p:nvSpPr>
        <p:spPr>
          <a:xfrm>
            <a:off x="685800" y="2148840"/>
            <a:ext cx="548640" cy="365760"/>
          </a:xfrm>
          <a:prstGeom prst="rect">
            <a:avLst/>
          </a:prstGeom>
          <a:noFill/>
          <a:ln/>
        </p:spPr>
        <p:txBody>
          <a:bodyPr wrap="square" lIns="0" tIns="0" rIns="0" bIns="0" rtlCol="0" anchor="ctr"/>
          <a:lstStyle/>
          <a:p>
            <a:pPr algn="ctr" indent="0" marL="0">
              <a:buNone/>
            </a:pPr>
            <a:r>
              <a:rPr lang="en-US" sz="1000" b="1" dirty="0">
                <a:solidFill>
                  <a:srgbClr val="2A1F3D"/>
                </a:solidFill>
                <a:latin typeface="Calibri" pitchFamily="34" charset="0"/>
                <a:ea typeface="Calibri" pitchFamily="34" charset="-122"/>
                <a:cs typeface="Calibri" pitchFamily="34" charset="-120"/>
              </a:rPr>
              <a:t>pH 2</a:t>
            </a:r>
            <a:endParaRPr lang="en-US" sz="1000" dirty="0"/>
          </a:p>
        </p:txBody>
      </p:sp>
      <p:sp>
        <p:nvSpPr>
          <p:cNvPr id="19" name="Shape 17"/>
          <p:cNvSpPr/>
          <p:nvPr/>
        </p:nvSpPr>
        <p:spPr>
          <a:xfrm>
            <a:off x="1371600" y="2194560"/>
            <a:ext cx="2304288" cy="274320"/>
          </a:xfrm>
          <a:prstGeom prst="rect">
            <a:avLst/>
          </a:prstGeom>
          <a:solidFill>
            <a:srgbClr val="F6B0A8"/>
          </a:solidFill>
          <a:ln w="9525">
            <a:solidFill>
              <a:srgbClr val="B7372B"/>
            </a:solidFill>
            <a:prstDash val="solid"/>
          </a:ln>
        </p:spPr>
      </p:sp>
      <p:sp>
        <p:nvSpPr>
          <p:cNvPr id="20" name="Text 18"/>
          <p:cNvSpPr/>
          <p:nvPr/>
        </p:nvSpPr>
        <p:spPr>
          <a:xfrm>
            <a:off x="3721608" y="2148840"/>
            <a:ext cx="1828800" cy="365760"/>
          </a:xfrm>
          <a:prstGeom prst="rect">
            <a:avLst/>
          </a:prstGeom>
          <a:noFill/>
          <a:ln/>
        </p:spPr>
        <p:txBody>
          <a:bodyPr wrap="square" lIns="0" tIns="0" rIns="0" bIns="0" rtlCol="0" anchor="ctr"/>
          <a:lstStyle/>
          <a:p>
            <a:pPr algn="l" indent="0" marL="0">
              <a:buNone/>
            </a:pPr>
            <a:r>
              <a:rPr lang="en-US" sz="1000" dirty="0">
                <a:solidFill>
                  <a:srgbClr val="262B3A"/>
                </a:solidFill>
                <a:latin typeface="Calibri" pitchFamily="34" charset="0"/>
                <a:ea typeface="Calibri" pitchFamily="34" charset="-122"/>
                <a:cs typeface="Calibri" pitchFamily="34" charset="-120"/>
              </a:rPr>
              <a:t>0.01  (10⁻²)</a:t>
            </a:r>
            <a:endParaRPr lang="en-US" sz="1000" dirty="0"/>
          </a:p>
        </p:txBody>
      </p:sp>
      <p:sp>
        <p:nvSpPr>
          <p:cNvPr id="21" name="Text 19"/>
          <p:cNvSpPr/>
          <p:nvPr/>
        </p:nvSpPr>
        <p:spPr>
          <a:xfrm>
            <a:off x="4754880" y="2029968"/>
            <a:ext cx="1005840" cy="201168"/>
          </a:xfrm>
          <a:prstGeom prst="rect">
            <a:avLst/>
          </a:prstGeom>
          <a:noFill/>
          <a:ln/>
        </p:spPr>
        <p:txBody>
          <a:bodyPr wrap="square" lIns="0" tIns="0" rIns="0" bIns="0" rtlCol="0" anchor="ctr"/>
          <a:lstStyle/>
          <a:p>
            <a:pPr algn="ctr" indent="0" marL="0">
              <a:buNone/>
            </a:pPr>
            <a:r>
              <a:rPr lang="en-US" sz="1000" b="1" dirty="0">
                <a:solidFill>
                  <a:srgbClr val="C8414C"/>
                </a:solidFill>
                <a:latin typeface="Calibri" pitchFamily="34" charset="0"/>
                <a:ea typeface="Calibri" pitchFamily="34" charset="-122"/>
                <a:cs typeface="Calibri" pitchFamily="34" charset="-120"/>
              </a:rPr>
              <a:t>÷ 10</a:t>
            </a:r>
            <a:endParaRPr lang="en-US" sz="1000" dirty="0"/>
          </a:p>
        </p:txBody>
      </p:sp>
      <p:sp>
        <p:nvSpPr>
          <p:cNvPr id="22" name="Shape 20"/>
          <p:cNvSpPr/>
          <p:nvPr/>
        </p:nvSpPr>
        <p:spPr>
          <a:xfrm>
            <a:off x="685800" y="2606040"/>
            <a:ext cx="548640" cy="365760"/>
          </a:xfrm>
          <a:prstGeom prst="roundRect">
            <a:avLst>
              <a:gd name="adj" fmla="val 10000"/>
            </a:avLst>
          </a:prstGeom>
          <a:solidFill>
            <a:srgbClr val="F7941D"/>
          </a:solidFill>
          <a:ln/>
        </p:spPr>
      </p:sp>
      <p:sp>
        <p:nvSpPr>
          <p:cNvPr id="23" name="Text 21"/>
          <p:cNvSpPr/>
          <p:nvPr/>
        </p:nvSpPr>
        <p:spPr>
          <a:xfrm>
            <a:off x="685800" y="2606040"/>
            <a:ext cx="548640" cy="365760"/>
          </a:xfrm>
          <a:prstGeom prst="rect">
            <a:avLst/>
          </a:prstGeom>
          <a:noFill/>
          <a:ln/>
        </p:spPr>
        <p:txBody>
          <a:bodyPr wrap="square" lIns="0" tIns="0" rIns="0" bIns="0" rtlCol="0" anchor="ctr"/>
          <a:lstStyle/>
          <a:p>
            <a:pPr algn="ctr" indent="0" marL="0">
              <a:buNone/>
            </a:pPr>
            <a:r>
              <a:rPr lang="en-US" sz="1000" b="1" dirty="0">
                <a:solidFill>
                  <a:srgbClr val="2A1F3D"/>
                </a:solidFill>
                <a:latin typeface="Calibri" pitchFamily="34" charset="0"/>
                <a:ea typeface="Calibri" pitchFamily="34" charset="-122"/>
                <a:cs typeface="Calibri" pitchFamily="34" charset="-120"/>
              </a:rPr>
              <a:t>pH 3</a:t>
            </a:r>
            <a:endParaRPr lang="en-US" sz="1000" dirty="0"/>
          </a:p>
        </p:txBody>
      </p:sp>
      <p:sp>
        <p:nvSpPr>
          <p:cNvPr id="24" name="Shape 22"/>
          <p:cNvSpPr/>
          <p:nvPr/>
        </p:nvSpPr>
        <p:spPr>
          <a:xfrm>
            <a:off x="1371600" y="2651760"/>
            <a:ext cx="1920240" cy="274320"/>
          </a:xfrm>
          <a:prstGeom prst="rect">
            <a:avLst/>
          </a:prstGeom>
          <a:solidFill>
            <a:srgbClr val="F6B0A8"/>
          </a:solidFill>
          <a:ln w="9525">
            <a:solidFill>
              <a:srgbClr val="B7372B"/>
            </a:solidFill>
            <a:prstDash val="solid"/>
          </a:ln>
        </p:spPr>
      </p:sp>
      <p:sp>
        <p:nvSpPr>
          <p:cNvPr id="25" name="Text 23"/>
          <p:cNvSpPr/>
          <p:nvPr/>
        </p:nvSpPr>
        <p:spPr>
          <a:xfrm>
            <a:off x="3337560" y="2606040"/>
            <a:ext cx="1828800" cy="365760"/>
          </a:xfrm>
          <a:prstGeom prst="rect">
            <a:avLst/>
          </a:prstGeom>
          <a:noFill/>
          <a:ln/>
        </p:spPr>
        <p:txBody>
          <a:bodyPr wrap="square" lIns="0" tIns="0" rIns="0" bIns="0" rtlCol="0" anchor="ctr"/>
          <a:lstStyle/>
          <a:p>
            <a:pPr algn="l" indent="0" marL="0">
              <a:buNone/>
            </a:pPr>
            <a:r>
              <a:rPr lang="en-US" sz="1000" dirty="0">
                <a:solidFill>
                  <a:srgbClr val="262B3A"/>
                </a:solidFill>
                <a:latin typeface="Calibri" pitchFamily="34" charset="0"/>
                <a:ea typeface="Calibri" pitchFamily="34" charset="-122"/>
                <a:cs typeface="Calibri" pitchFamily="34" charset="-120"/>
              </a:rPr>
              <a:t>0.001  (10⁻³)</a:t>
            </a:r>
            <a:endParaRPr lang="en-US" sz="1000" dirty="0"/>
          </a:p>
        </p:txBody>
      </p:sp>
      <p:sp>
        <p:nvSpPr>
          <p:cNvPr id="26" name="Text 24"/>
          <p:cNvSpPr/>
          <p:nvPr/>
        </p:nvSpPr>
        <p:spPr>
          <a:xfrm>
            <a:off x="4754880" y="2487168"/>
            <a:ext cx="1005840" cy="201168"/>
          </a:xfrm>
          <a:prstGeom prst="rect">
            <a:avLst/>
          </a:prstGeom>
          <a:noFill/>
          <a:ln/>
        </p:spPr>
        <p:txBody>
          <a:bodyPr wrap="square" lIns="0" tIns="0" rIns="0" bIns="0" rtlCol="0" anchor="ctr"/>
          <a:lstStyle/>
          <a:p>
            <a:pPr algn="ctr" indent="0" marL="0">
              <a:buNone/>
            </a:pPr>
            <a:r>
              <a:rPr lang="en-US" sz="1000" b="1" dirty="0">
                <a:solidFill>
                  <a:srgbClr val="C8414C"/>
                </a:solidFill>
                <a:latin typeface="Calibri" pitchFamily="34" charset="0"/>
                <a:ea typeface="Calibri" pitchFamily="34" charset="-122"/>
                <a:cs typeface="Calibri" pitchFamily="34" charset="-120"/>
              </a:rPr>
              <a:t>÷ 10</a:t>
            </a:r>
            <a:endParaRPr lang="en-US" sz="1000" dirty="0"/>
          </a:p>
        </p:txBody>
      </p:sp>
      <p:sp>
        <p:nvSpPr>
          <p:cNvPr id="27" name="Shape 25"/>
          <p:cNvSpPr/>
          <p:nvPr/>
        </p:nvSpPr>
        <p:spPr>
          <a:xfrm>
            <a:off x="685800" y="3063240"/>
            <a:ext cx="548640" cy="365760"/>
          </a:xfrm>
          <a:prstGeom prst="roundRect">
            <a:avLst>
              <a:gd name="adj" fmla="val 10000"/>
            </a:avLst>
          </a:prstGeom>
          <a:solidFill>
            <a:srgbClr val="FDB813"/>
          </a:solidFill>
          <a:ln/>
        </p:spPr>
      </p:sp>
      <p:sp>
        <p:nvSpPr>
          <p:cNvPr id="28" name="Text 26"/>
          <p:cNvSpPr/>
          <p:nvPr/>
        </p:nvSpPr>
        <p:spPr>
          <a:xfrm>
            <a:off x="685800" y="3063240"/>
            <a:ext cx="548640" cy="365760"/>
          </a:xfrm>
          <a:prstGeom prst="rect">
            <a:avLst/>
          </a:prstGeom>
          <a:noFill/>
          <a:ln/>
        </p:spPr>
        <p:txBody>
          <a:bodyPr wrap="square" lIns="0" tIns="0" rIns="0" bIns="0" rtlCol="0" anchor="ctr"/>
          <a:lstStyle/>
          <a:p>
            <a:pPr algn="ctr" indent="0" marL="0">
              <a:buNone/>
            </a:pPr>
            <a:r>
              <a:rPr lang="en-US" sz="1000" b="1" dirty="0">
                <a:solidFill>
                  <a:srgbClr val="2A1F3D"/>
                </a:solidFill>
                <a:latin typeface="Calibri" pitchFamily="34" charset="0"/>
                <a:ea typeface="Calibri" pitchFamily="34" charset="-122"/>
                <a:cs typeface="Calibri" pitchFamily="34" charset="-120"/>
              </a:rPr>
              <a:t>pH 4</a:t>
            </a:r>
            <a:endParaRPr lang="en-US" sz="1000" dirty="0"/>
          </a:p>
        </p:txBody>
      </p:sp>
      <p:sp>
        <p:nvSpPr>
          <p:cNvPr id="29" name="Shape 27"/>
          <p:cNvSpPr/>
          <p:nvPr/>
        </p:nvSpPr>
        <p:spPr>
          <a:xfrm>
            <a:off x="1371600" y="3108960"/>
            <a:ext cx="1536192" cy="274320"/>
          </a:xfrm>
          <a:prstGeom prst="rect">
            <a:avLst/>
          </a:prstGeom>
          <a:solidFill>
            <a:srgbClr val="F6B0A8"/>
          </a:solidFill>
          <a:ln w="9525">
            <a:solidFill>
              <a:srgbClr val="B7372B"/>
            </a:solidFill>
            <a:prstDash val="solid"/>
          </a:ln>
        </p:spPr>
      </p:sp>
      <p:sp>
        <p:nvSpPr>
          <p:cNvPr id="30" name="Text 28"/>
          <p:cNvSpPr/>
          <p:nvPr/>
        </p:nvSpPr>
        <p:spPr>
          <a:xfrm>
            <a:off x="2953512" y="3063240"/>
            <a:ext cx="1828800" cy="365760"/>
          </a:xfrm>
          <a:prstGeom prst="rect">
            <a:avLst/>
          </a:prstGeom>
          <a:noFill/>
          <a:ln/>
        </p:spPr>
        <p:txBody>
          <a:bodyPr wrap="square" lIns="0" tIns="0" rIns="0" bIns="0" rtlCol="0" anchor="ctr"/>
          <a:lstStyle/>
          <a:p>
            <a:pPr algn="l" indent="0" marL="0">
              <a:buNone/>
            </a:pPr>
            <a:r>
              <a:rPr lang="en-US" sz="1000" dirty="0">
                <a:solidFill>
                  <a:srgbClr val="262B3A"/>
                </a:solidFill>
                <a:latin typeface="Calibri" pitchFamily="34" charset="0"/>
                <a:ea typeface="Calibri" pitchFamily="34" charset="-122"/>
                <a:cs typeface="Calibri" pitchFamily="34" charset="-120"/>
              </a:rPr>
              <a:t>0.0001  (10⁻⁴)</a:t>
            </a:r>
            <a:endParaRPr lang="en-US" sz="1000" dirty="0"/>
          </a:p>
        </p:txBody>
      </p:sp>
      <p:sp>
        <p:nvSpPr>
          <p:cNvPr id="31" name="Text 29"/>
          <p:cNvSpPr/>
          <p:nvPr/>
        </p:nvSpPr>
        <p:spPr>
          <a:xfrm>
            <a:off x="4754880" y="2944368"/>
            <a:ext cx="1005840" cy="201168"/>
          </a:xfrm>
          <a:prstGeom prst="rect">
            <a:avLst/>
          </a:prstGeom>
          <a:noFill/>
          <a:ln/>
        </p:spPr>
        <p:txBody>
          <a:bodyPr wrap="square" lIns="0" tIns="0" rIns="0" bIns="0" rtlCol="0" anchor="ctr"/>
          <a:lstStyle/>
          <a:p>
            <a:pPr algn="ctr" indent="0" marL="0">
              <a:buNone/>
            </a:pPr>
            <a:r>
              <a:rPr lang="en-US" sz="1000" b="1" dirty="0">
                <a:solidFill>
                  <a:srgbClr val="C8414C"/>
                </a:solidFill>
                <a:latin typeface="Calibri" pitchFamily="34" charset="0"/>
                <a:ea typeface="Calibri" pitchFamily="34" charset="-122"/>
                <a:cs typeface="Calibri" pitchFamily="34" charset="-120"/>
              </a:rPr>
              <a:t>÷ 10</a:t>
            </a:r>
            <a:endParaRPr lang="en-US" sz="1000" dirty="0"/>
          </a:p>
        </p:txBody>
      </p:sp>
      <p:sp>
        <p:nvSpPr>
          <p:cNvPr id="32" name="Shape 30"/>
          <p:cNvSpPr/>
          <p:nvPr/>
        </p:nvSpPr>
        <p:spPr>
          <a:xfrm>
            <a:off x="685800" y="3520440"/>
            <a:ext cx="548640" cy="365760"/>
          </a:xfrm>
          <a:prstGeom prst="roundRect">
            <a:avLst>
              <a:gd name="adj" fmla="val 10000"/>
            </a:avLst>
          </a:prstGeom>
          <a:solidFill>
            <a:srgbClr val="FFDE17"/>
          </a:solidFill>
          <a:ln/>
        </p:spPr>
      </p:sp>
      <p:sp>
        <p:nvSpPr>
          <p:cNvPr id="33" name="Text 31"/>
          <p:cNvSpPr/>
          <p:nvPr/>
        </p:nvSpPr>
        <p:spPr>
          <a:xfrm>
            <a:off x="685800" y="3520440"/>
            <a:ext cx="548640" cy="365760"/>
          </a:xfrm>
          <a:prstGeom prst="rect">
            <a:avLst/>
          </a:prstGeom>
          <a:noFill/>
          <a:ln/>
        </p:spPr>
        <p:txBody>
          <a:bodyPr wrap="square" lIns="0" tIns="0" rIns="0" bIns="0" rtlCol="0" anchor="ctr"/>
          <a:lstStyle/>
          <a:p>
            <a:pPr algn="ctr" indent="0" marL="0">
              <a:buNone/>
            </a:pPr>
            <a:r>
              <a:rPr lang="en-US" sz="1000" b="1" dirty="0">
                <a:solidFill>
                  <a:srgbClr val="2A1F3D"/>
                </a:solidFill>
                <a:latin typeface="Calibri" pitchFamily="34" charset="0"/>
                <a:ea typeface="Calibri" pitchFamily="34" charset="-122"/>
                <a:cs typeface="Calibri" pitchFamily="34" charset="-120"/>
              </a:rPr>
              <a:t>pH 5</a:t>
            </a:r>
            <a:endParaRPr lang="en-US" sz="1000" dirty="0"/>
          </a:p>
        </p:txBody>
      </p:sp>
      <p:sp>
        <p:nvSpPr>
          <p:cNvPr id="34" name="Shape 32"/>
          <p:cNvSpPr/>
          <p:nvPr/>
        </p:nvSpPr>
        <p:spPr>
          <a:xfrm>
            <a:off x="1371600" y="3566160"/>
            <a:ext cx="1152144" cy="274320"/>
          </a:xfrm>
          <a:prstGeom prst="rect">
            <a:avLst/>
          </a:prstGeom>
          <a:solidFill>
            <a:srgbClr val="F6B0A8"/>
          </a:solidFill>
          <a:ln w="9525">
            <a:solidFill>
              <a:srgbClr val="B7372B"/>
            </a:solidFill>
            <a:prstDash val="solid"/>
          </a:ln>
        </p:spPr>
      </p:sp>
      <p:sp>
        <p:nvSpPr>
          <p:cNvPr id="35" name="Text 33"/>
          <p:cNvSpPr/>
          <p:nvPr/>
        </p:nvSpPr>
        <p:spPr>
          <a:xfrm>
            <a:off x="2569464" y="3520440"/>
            <a:ext cx="1828800" cy="365760"/>
          </a:xfrm>
          <a:prstGeom prst="rect">
            <a:avLst/>
          </a:prstGeom>
          <a:noFill/>
          <a:ln/>
        </p:spPr>
        <p:txBody>
          <a:bodyPr wrap="square" lIns="0" tIns="0" rIns="0" bIns="0" rtlCol="0" anchor="ctr"/>
          <a:lstStyle/>
          <a:p>
            <a:pPr algn="l" indent="0" marL="0">
              <a:buNone/>
            </a:pPr>
            <a:r>
              <a:rPr lang="en-US" sz="1000" dirty="0">
                <a:solidFill>
                  <a:srgbClr val="262B3A"/>
                </a:solidFill>
                <a:latin typeface="Calibri" pitchFamily="34" charset="0"/>
                <a:ea typeface="Calibri" pitchFamily="34" charset="-122"/>
                <a:cs typeface="Calibri" pitchFamily="34" charset="-120"/>
              </a:rPr>
              <a:t>0.00001  (10⁻⁵)</a:t>
            </a:r>
            <a:endParaRPr lang="en-US" sz="1000" dirty="0"/>
          </a:p>
        </p:txBody>
      </p:sp>
      <p:sp>
        <p:nvSpPr>
          <p:cNvPr id="36" name="Text 34"/>
          <p:cNvSpPr/>
          <p:nvPr/>
        </p:nvSpPr>
        <p:spPr>
          <a:xfrm>
            <a:off x="4754880" y="3401568"/>
            <a:ext cx="1005840" cy="201168"/>
          </a:xfrm>
          <a:prstGeom prst="rect">
            <a:avLst/>
          </a:prstGeom>
          <a:noFill/>
          <a:ln/>
        </p:spPr>
        <p:txBody>
          <a:bodyPr wrap="square" lIns="0" tIns="0" rIns="0" bIns="0" rtlCol="0" anchor="ctr"/>
          <a:lstStyle/>
          <a:p>
            <a:pPr algn="ctr" indent="0" marL="0">
              <a:buNone/>
            </a:pPr>
            <a:r>
              <a:rPr lang="en-US" sz="1000" b="1" dirty="0">
                <a:solidFill>
                  <a:srgbClr val="C8414C"/>
                </a:solidFill>
                <a:latin typeface="Calibri" pitchFamily="34" charset="0"/>
                <a:ea typeface="Calibri" pitchFamily="34" charset="-122"/>
                <a:cs typeface="Calibri" pitchFamily="34" charset="-120"/>
              </a:rPr>
              <a:t>÷ 10</a:t>
            </a:r>
            <a:endParaRPr lang="en-US" sz="1000" dirty="0"/>
          </a:p>
        </p:txBody>
      </p:sp>
      <p:sp>
        <p:nvSpPr>
          <p:cNvPr id="37" name="Shape 35"/>
          <p:cNvSpPr/>
          <p:nvPr/>
        </p:nvSpPr>
        <p:spPr>
          <a:xfrm>
            <a:off x="685800" y="3977640"/>
            <a:ext cx="548640" cy="365760"/>
          </a:xfrm>
          <a:prstGeom prst="roundRect">
            <a:avLst>
              <a:gd name="adj" fmla="val 10000"/>
            </a:avLst>
          </a:prstGeom>
          <a:solidFill>
            <a:srgbClr val="C8D82B"/>
          </a:solidFill>
          <a:ln/>
        </p:spPr>
      </p:sp>
      <p:sp>
        <p:nvSpPr>
          <p:cNvPr id="38" name="Text 36"/>
          <p:cNvSpPr/>
          <p:nvPr/>
        </p:nvSpPr>
        <p:spPr>
          <a:xfrm>
            <a:off x="685800" y="3977640"/>
            <a:ext cx="548640" cy="365760"/>
          </a:xfrm>
          <a:prstGeom prst="rect">
            <a:avLst/>
          </a:prstGeom>
          <a:noFill/>
          <a:ln/>
        </p:spPr>
        <p:txBody>
          <a:bodyPr wrap="square" lIns="0" tIns="0" rIns="0" bIns="0" rtlCol="0" anchor="ctr"/>
          <a:lstStyle/>
          <a:p>
            <a:pPr algn="ctr" indent="0" marL="0">
              <a:buNone/>
            </a:pPr>
            <a:r>
              <a:rPr lang="en-US" sz="1000" b="1" dirty="0">
                <a:solidFill>
                  <a:srgbClr val="2A1F3D"/>
                </a:solidFill>
                <a:latin typeface="Calibri" pitchFamily="34" charset="0"/>
                <a:ea typeface="Calibri" pitchFamily="34" charset="-122"/>
                <a:cs typeface="Calibri" pitchFamily="34" charset="-120"/>
              </a:rPr>
              <a:t>pH 6</a:t>
            </a:r>
            <a:endParaRPr lang="en-US" sz="1000" dirty="0"/>
          </a:p>
        </p:txBody>
      </p:sp>
      <p:sp>
        <p:nvSpPr>
          <p:cNvPr id="39" name="Shape 37"/>
          <p:cNvSpPr/>
          <p:nvPr/>
        </p:nvSpPr>
        <p:spPr>
          <a:xfrm>
            <a:off x="1371600" y="4023360"/>
            <a:ext cx="768096" cy="274320"/>
          </a:xfrm>
          <a:prstGeom prst="rect">
            <a:avLst/>
          </a:prstGeom>
          <a:solidFill>
            <a:srgbClr val="F6B0A8"/>
          </a:solidFill>
          <a:ln w="9525">
            <a:solidFill>
              <a:srgbClr val="B7372B"/>
            </a:solidFill>
            <a:prstDash val="solid"/>
          </a:ln>
        </p:spPr>
      </p:sp>
      <p:sp>
        <p:nvSpPr>
          <p:cNvPr id="40" name="Text 38"/>
          <p:cNvSpPr/>
          <p:nvPr/>
        </p:nvSpPr>
        <p:spPr>
          <a:xfrm>
            <a:off x="2185416" y="3977640"/>
            <a:ext cx="1828800" cy="365760"/>
          </a:xfrm>
          <a:prstGeom prst="rect">
            <a:avLst/>
          </a:prstGeom>
          <a:noFill/>
          <a:ln/>
        </p:spPr>
        <p:txBody>
          <a:bodyPr wrap="square" lIns="0" tIns="0" rIns="0" bIns="0" rtlCol="0" anchor="ctr"/>
          <a:lstStyle/>
          <a:p>
            <a:pPr algn="l" indent="0" marL="0">
              <a:buNone/>
            </a:pPr>
            <a:r>
              <a:rPr lang="en-US" sz="1000" dirty="0">
                <a:solidFill>
                  <a:srgbClr val="262B3A"/>
                </a:solidFill>
                <a:latin typeface="Calibri" pitchFamily="34" charset="0"/>
                <a:ea typeface="Calibri" pitchFamily="34" charset="-122"/>
                <a:cs typeface="Calibri" pitchFamily="34" charset="-120"/>
              </a:rPr>
              <a:t>0.000001  (10⁻⁶)</a:t>
            </a:r>
            <a:endParaRPr lang="en-US" sz="1000" dirty="0"/>
          </a:p>
        </p:txBody>
      </p:sp>
      <p:sp>
        <p:nvSpPr>
          <p:cNvPr id="41" name="Text 39"/>
          <p:cNvSpPr/>
          <p:nvPr/>
        </p:nvSpPr>
        <p:spPr>
          <a:xfrm>
            <a:off x="4754880" y="3858768"/>
            <a:ext cx="1005840" cy="201168"/>
          </a:xfrm>
          <a:prstGeom prst="rect">
            <a:avLst/>
          </a:prstGeom>
          <a:noFill/>
          <a:ln/>
        </p:spPr>
        <p:txBody>
          <a:bodyPr wrap="square" lIns="0" tIns="0" rIns="0" bIns="0" rtlCol="0" anchor="ctr"/>
          <a:lstStyle/>
          <a:p>
            <a:pPr algn="ctr" indent="0" marL="0">
              <a:buNone/>
            </a:pPr>
            <a:r>
              <a:rPr lang="en-US" sz="1000" b="1" dirty="0">
                <a:solidFill>
                  <a:srgbClr val="C8414C"/>
                </a:solidFill>
                <a:latin typeface="Calibri" pitchFamily="34" charset="0"/>
                <a:ea typeface="Calibri" pitchFamily="34" charset="-122"/>
                <a:cs typeface="Calibri" pitchFamily="34" charset="-120"/>
              </a:rPr>
              <a:t>÷ 10</a:t>
            </a:r>
            <a:endParaRPr lang="en-US" sz="1000" dirty="0"/>
          </a:p>
        </p:txBody>
      </p:sp>
      <p:sp>
        <p:nvSpPr>
          <p:cNvPr id="42" name="Shape 40"/>
          <p:cNvSpPr/>
          <p:nvPr/>
        </p:nvSpPr>
        <p:spPr>
          <a:xfrm>
            <a:off x="685800" y="4434840"/>
            <a:ext cx="548640" cy="365760"/>
          </a:xfrm>
          <a:prstGeom prst="roundRect">
            <a:avLst>
              <a:gd name="adj" fmla="val 10000"/>
            </a:avLst>
          </a:prstGeom>
          <a:solidFill>
            <a:srgbClr val="7DC242"/>
          </a:solidFill>
          <a:ln/>
        </p:spPr>
      </p:sp>
      <p:sp>
        <p:nvSpPr>
          <p:cNvPr id="43" name="Text 41"/>
          <p:cNvSpPr/>
          <p:nvPr/>
        </p:nvSpPr>
        <p:spPr>
          <a:xfrm>
            <a:off x="685800" y="4434840"/>
            <a:ext cx="548640" cy="365760"/>
          </a:xfrm>
          <a:prstGeom prst="rect">
            <a:avLst/>
          </a:prstGeom>
          <a:noFill/>
          <a:ln/>
        </p:spPr>
        <p:txBody>
          <a:bodyPr wrap="square" lIns="0" tIns="0" rIns="0" bIns="0" rtlCol="0" anchor="ctr"/>
          <a:lstStyle/>
          <a:p>
            <a:pPr algn="ctr" indent="0" marL="0">
              <a:buNone/>
            </a:pPr>
            <a:r>
              <a:rPr lang="en-US" sz="1000" b="1" dirty="0">
                <a:solidFill>
                  <a:srgbClr val="2A1F3D"/>
                </a:solidFill>
                <a:latin typeface="Calibri" pitchFamily="34" charset="0"/>
                <a:ea typeface="Calibri" pitchFamily="34" charset="-122"/>
                <a:cs typeface="Calibri" pitchFamily="34" charset="-120"/>
              </a:rPr>
              <a:t>pH 7</a:t>
            </a:r>
            <a:endParaRPr lang="en-US" sz="1000" dirty="0"/>
          </a:p>
        </p:txBody>
      </p:sp>
      <p:sp>
        <p:nvSpPr>
          <p:cNvPr id="44" name="Shape 42"/>
          <p:cNvSpPr/>
          <p:nvPr/>
        </p:nvSpPr>
        <p:spPr>
          <a:xfrm>
            <a:off x="1371600" y="4480560"/>
            <a:ext cx="384048" cy="274320"/>
          </a:xfrm>
          <a:prstGeom prst="rect">
            <a:avLst/>
          </a:prstGeom>
          <a:solidFill>
            <a:srgbClr val="F6B0A8"/>
          </a:solidFill>
          <a:ln w="9525">
            <a:solidFill>
              <a:srgbClr val="B7372B"/>
            </a:solidFill>
            <a:prstDash val="solid"/>
          </a:ln>
        </p:spPr>
      </p:sp>
      <p:sp>
        <p:nvSpPr>
          <p:cNvPr id="45" name="Text 43"/>
          <p:cNvSpPr/>
          <p:nvPr/>
        </p:nvSpPr>
        <p:spPr>
          <a:xfrm>
            <a:off x="1801368" y="4434840"/>
            <a:ext cx="1828800" cy="365760"/>
          </a:xfrm>
          <a:prstGeom prst="rect">
            <a:avLst/>
          </a:prstGeom>
          <a:noFill/>
          <a:ln/>
        </p:spPr>
        <p:txBody>
          <a:bodyPr wrap="square" lIns="0" tIns="0" rIns="0" bIns="0" rtlCol="0" anchor="ctr"/>
          <a:lstStyle/>
          <a:p>
            <a:pPr algn="l" indent="0" marL="0">
              <a:buNone/>
            </a:pPr>
            <a:r>
              <a:rPr lang="en-US" sz="1000" dirty="0">
                <a:solidFill>
                  <a:srgbClr val="262B3A"/>
                </a:solidFill>
                <a:latin typeface="Calibri" pitchFamily="34" charset="0"/>
                <a:ea typeface="Calibri" pitchFamily="34" charset="-122"/>
                <a:cs typeface="Calibri" pitchFamily="34" charset="-120"/>
              </a:rPr>
              <a:t>0.0000001  (10⁻⁷)</a:t>
            </a:r>
            <a:endParaRPr lang="en-US" sz="1000" dirty="0"/>
          </a:p>
        </p:txBody>
      </p:sp>
      <p:sp>
        <p:nvSpPr>
          <p:cNvPr id="46" name="Text 44"/>
          <p:cNvSpPr/>
          <p:nvPr/>
        </p:nvSpPr>
        <p:spPr>
          <a:xfrm>
            <a:off x="4754880" y="4315968"/>
            <a:ext cx="1005840" cy="201168"/>
          </a:xfrm>
          <a:prstGeom prst="rect">
            <a:avLst/>
          </a:prstGeom>
          <a:noFill/>
          <a:ln/>
        </p:spPr>
        <p:txBody>
          <a:bodyPr wrap="square" lIns="0" tIns="0" rIns="0" bIns="0" rtlCol="0" anchor="ctr"/>
          <a:lstStyle/>
          <a:p>
            <a:pPr algn="ctr" indent="0" marL="0">
              <a:buNone/>
            </a:pPr>
            <a:r>
              <a:rPr lang="en-US" sz="1000" b="1" dirty="0">
                <a:solidFill>
                  <a:srgbClr val="C8414C"/>
                </a:solidFill>
                <a:latin typeface="Calibri" pitchFamily="34" charset="0"/>
                <a:ea typeface="Calibri" pitchFamily="34" charset="-122"/>
                <a:cs typeface="Calibri" pitchFamily="34" charset="-120"/>
              </a:rPr>
              <a:t>÷ 10</a:t>
            </a:r>
            <a:endParaRPr lang="en-US" sz="1000" dirty="0"/>
          </a:p>
        </p:txBody>
      </p:sp>
      <p:sp>
        <p:nvSpPr>
          <p:cNvPr id="47" name="Text 45"/>
          <p:cNvSpPr/>
          <p:nvPr/>
        </p:nvSpPr>
        <p:spPr>
          <a:xfrm>
            <a:off x="640080" y="4864608"/>
            <a:ext cx="5120640" cy="274320"/>
          </a:xfrm>
          <a:prstGeom prst="rect">
            <a:avLst/>
          </a:prstGeom>
          <a:noFill/>
          <a:ln/>
        </p:spPr>
        <p:txBody>
          <a:bodyPr wrap="square" lIns="0" tIns="0" rIns="0" bIns="0" rtlCol="0" anchor="ctr"/>
          <a:lstStyle/>
          <a:p>
            <a:pPr algn="ctr" indent="0" marL="0">
              <a:buNone/>
            </a:pPr>
            <a:r>
              <a:rPr lang="en-US" sz="1050" b="1" dirty="0">
                <a:solidFill>
                  <a:srgbClr val="2FA84F"/>
                </a:solidFill>
                <a:latin typeface="Calibri" pitchFamily="34" charset="0"/>
                <a:ea typeface="Calibri" pitchFamily="34" charset="-122"/>
                <a:cs typeface="Calibri" pitchFamily="34" charset="-120"/>
              </a:rPr>
              <a:t>pH 7: </a:t>
            </a:r>
            <a:r>
              <a:rPr lang="en-US" sz="1050" b="1" dirty="0">
                <a:solidFill>
                  <a:srgbClr val="2FA84F"/>
                </a:solidFill>
                <a:latin typeface="Calibri" pitchFamily="34" charset="0"/>
                <a:ea typeface="Calibri" pitchFamily="34" charset="-122"/>
                <a:cs typeface="Calibri" pitchFamily="34" charset="-120"/>
              </a:rPr>
              <a:t>neutral</a:t>
            </a:r>
            <a:r>
              <a:rPr lang="en-US" sz="1050" b="1" dirty="0">
                <a:solidFill>
                  <a:srgbClr val="2FA84F"/>
                </a:solidFill>
                <a:latin typeface="Calibri" pitchFamily="34" charset="0"/>
                <a:ea typeface="Calibri" pitchFamily="34" charset="-122"/>
                <a:cs typeface="Calibri" pitchFamily="34" charset="-120"/>
              </a:rPr>
              <a:t>, [H⁺] = [OH⁻]. Above pH 7, [OH⁻] &gt; [H⁺]</a:t>
            </a:r>
            <a:endParaRPr lang="en-US" sz="1050" dirty="0"/>
          </a:p>
        </p:txBody>
      </p:sp>
      <p:sp>
        <p:nvSpPr>
          <p:cNvPr id="48" name="Shape 46"/>
          <p:cNvSpPr/>
          <p:nvPr/>
        </p:nvSpPr>
        <p:spPr>
          <a:xfrm>
            <a:off x="6217920" y="1188720"/>
            <a:ext cx="5559552" cy="2697480"/>
          </a:xfrm>
          <a:prstGeom prst="roundRect">
            <a:avLst>
              <a:gd name="adj" fmla="val 2034"/>
            </a:avLst>
          </a:prstGeom>
          <a:solidFill>
            <a:srgbClr val="F8F5FC"/>
          </a:solidFill>
          <a:ln w="9525">
            <a:solidFill>
              <a:srgbClr val="DDD3EC"/>
            </a:solidFill>
            <a:prstDash val="solid"/>
          </a:ln>
        </p:spPr>
      </p:sp>
      <p:sp>
        <p:nvSpPr>
          <p:cNvPr id="49" name="Text 47"/>
          <p:cNvSpPr/>
          <p:nvPr/>
        </p:nvSpPr>
        <p:spPr>
          <a:xfrm>
            <a:off x="6382512" y="1280160"/>
            <a:ext cx="5230368" cy="292608"/>
          </a:xfrm>
          <a:prstGeom prst="rect">
            <a:avLst/>
          </a:prstGeom>
          <a:noFill/>
          <a:ln/>
        </p:spPr>
        <p:txBody>
          <a:bodyPr wrap="square" lIns="0" tIns="0" rIns="0" bIns="0" rtlCol="0" anchor="ctr"/>
          <a:lstStyle/>
          <a:p>
            <a:pPr indent="0" marL="0">
              <a:buNone/>
            </a:pPr>
            <a:r>
              <a:rPr lang="en-US" sz="1300" b="1" dirty="0">
                <a:solidFill>
                  <a:srgbClr val="2A1F3D"/>
                </a:solidFill>
                <a:latin typeface="Calibri" pitchFamily="34" charset="0"/>
                <a:ea typeface="Calibri" pitchFamily="34" charset="-122"/>
                <a:cs typeface="Calibri" pitchFamily="34" charset="-120"/>
              </a:rPr>
              <a:t>The factor-of-ten rule</a:t>
            </a:r>
            <a:endParaRPr lang="en-US" sz="1300" dirty="0"/>
          </a:p>
        </p:txBody>
      </p:sp>
      <p:sp>
        <p:nvSpPr>
          <p:cNvPr id="50" name="Text 48"/>
          <p:cNvSpPr/>
          <p:nvPr/>
        </p:nvSpPr>
        <p:spPr>
          <a:xfrm>
            <a:off x="6382512" y="1609344"/>
            <a:ext cx="5230368" cy="2203704"/>
          </a:xfrm>
          <a:prstGeom prst="rect">
            <a:avLst/>
          </a:prstGeom>
          <a:noFill/>
          <a:ln/>
        </p:spPr>
        <p:txBody>
          <a:bodyPr wrap="square" lIns="0" tIns="0" rIns="0" bIns="0" rtlCol="0" anchor="t"/>
          <a:lstStyle/>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pH depends on the </a:t>
            </a:r>
            <a:r>
              <a:rPr lang="en-US" sz="1100" b="1" dirty="0">
                <a:solidFill>
                  <a:srgbClr val="262B3A"/>
                </a:solidFill>
                <a:latin typeface="Calibri" pitchFamily="34" charset="0"/>
                <a:ea typeface="Calibri" pitchFamily="34" charset="-122"/>
                <a:cs typeface="Calibri" pitchFamily="34" charset="-120"/>
              </a:rPr>
              <a:t>concentration of H⁺ ions</a:t>
            </a:r>
            <a:r>
              <a:rPr lang="en-US" sz="1100" dirty="0">
                <a:solidFill>
                  <a:srgbClr val="262B3A"/>
                </a:solidFill>
                <a:latin typeface="Calibri" pitchFamily="34" charset="0"/>
                <a:ea typeface="Calibri" pitchFamily="34" charset="-122"/>
                <a:cs typeface="Calibri" pitchFamily="34" charset="-120"/>
              </a:rPr>
              <a:t>, [H⁺]. The </a:t>
            </a:r>
            <a:r>
              <a:rPr lang="en-US" sz="1100" b="1" dirty="0">
                <a:solidFill>
                  <a:srgbClr val="262B3A"/>
                </a:solidFill>
                <a:latin typeface="Calibri" pitchFamily="34" charset="0"/>
                <a:ea typeface="Calibri" pitchFamily="34" charset="-122"/>
                <a:cs typeface="Calibri" pitchFamily="34" charset="-120"/>
              </a:rPr>
              <a:t>higher</a:t>
            </a:r>
            <a:r>
              <a:rPr lang="en-US" sz="1100" dirty="0">
                <a:solidFill>
                  <a:srgbClr val="262B3A"/>
                </a:solidFill>
                <a:latin typeface="Calibri" pitchFamily="34" charset="0"/>
                <a:ea typeface="Calibri" pitchFamily="34" charset="-122"/>
                <a:cs typeface="Calibri" pitchFamily="34" charset="-120"/>
              </a:rPr>
              <a:t> [H⁺], the </a:t>
            </a:r>
            <a:r>
              <a:rPr lang="en-US" sz="1100" b="1" dirty="0">
                <a:solidFill>
                  <a:srgbClr val="262B3A"/>
                </a:solidFill>
                <a:latin typeface="Calibri" pitchFamily="34" charset="0"/>
                <a:ea typeface="Calibri" pitchFamily="34" charset="-122"/>
                <a:cs typeface="Calibri" pitchFamily="34" charset="-120"/>
              </a:rPr>
              <a:t>lower</a:t>
            </a:r>
            <a:r>
              <a:rPr lang="en-US" sz="1100" dirty="0">
                <a:solidFill>
                  <a:srgbClr val="262B3A"/>
                </a:solidFill>
                <a:latin typeface="Calibri" pitchFamily="34" charset="0"/>
                <a:ea typeface="Calibri" pitchFamily="34" charset="-122"/>
                <a:cs typeface="Calibri" pitchFamily="34" charset="-120"/>
              </a:rPr>
              <a:t> the pH.</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If [H⁺] </a:t>
            </a:r>
            <a:r>
              <a:rPr lang="en-US" sz="1100" b="1" dirty="0">
                <a:solidFill>
                  <a:srgbClr val="262B3A"/>
                </a:solidFill>
                <a:latin typeface="Calibri" pitchFamily="34" charset="0"/>
                <a:ea typeface="Calibri" pitchFamily="34" charset="-122"/>
                <a:cs typeface="Calibri" pitchFamily="34" charset="-120"/>
              </a:rPr>
              <a:t>increases × 10</a:t>
            </a:r>
            <a:r>
              <a:rPr lang="en-US" sz="1100" dirty="0">
                <a:solidFill>
                  <a:srgbClr val="262B3A"/>
                </a:solidFill>
                <a:latin typeface="Calibri" pitchFamily="34" charset="0"/>
                <a:ea typeface="Calibri" pitchFamily="34" charset="-122"/>
                <a:cs typeface="Calibri" pitchFamily="34" charset="-120"/>
              </a:rPr>
              <a:t>, the pH </a:t>
            </a:r>
            <a:r>
              <a:rPr lang="en-US" sz="1100" b="1" dirty="0">
                <a:solidFill>
                  <a:srgbClr val="262B3A"/>
                </a:solidFill>
                <a:latin typeface="Calibri" pitchFamily="34" charset="0"/>
                <a:ea typeface="Calibri" pitchFamily="34" charset="-122"/>
                <a:cs typeface="Calibri" pitchFamily="34" charset="-120"/>
              </a:rPr>
              <a:t>decreases by 1</a:t>
            </a:r>
            <a:r>
              <a:rPr lang="en-US" sz="1100" dirty="0">
                <a:solidFill>
                  <a:srgbClr val="262B3A"/>
                </a:solidFill>
                <a:latin typeface="Calibri" pitchFamily="34" charset="0"/>
                <a:ea typeface="Calibri" pitchFamily="34" charset="-122"/>
                <a:cs typeface="Calibri" pitchFamily="34" charset="-120"/>
              </a:rPr>
              <a:t>. ×100 → pH falls by 2; ×1000 → by 3.</a:t>
            </a:r>
            <a:endParaRPr lang="en-US" sz="1100" dirty="0"/>
          </a:p>
          <a:p>
            <a:pPr marL="152400" indent="-152400">
              <a:spcAft>
                <a:spcPts val="300"/>
              </a:spcAft>
              <a:buSzPct val="100000"/>
              <a:buChar char="▪"/>
            </a:pPr>
            <a:r>
              <a:rPr lang="en-US" sz="1100" b="1" dirty="0">
                <a:solidFill>
                  <a:srgbClr val="262B3A"/>
                </a:solidFill>
                <a:latin typeface="Calibri" pitchFamily="34" charset="0"/>
                <a:ea typeface="Calibri" pitchFamily="34" charset="-122"/>
                <a:cs typeface="Calibri" pitchFamily="34" charset="-120"/>
              </a:rPr>
              <a:t>Neutral</a:t>
            </a:r>
            <a:r>
              <a:rPr lang="en-US" sz="1100" dirty="0">
                <a:solidFill>
                  <a:srgbClr val="262B3A"/>
                </a:solidFill>
                <a:latin typeface="Calibri" pitchFamily="34" charset="0"/>
                <a:ea typeface="Calibri" pitchFamily="34" charset="-122"/>
                <a:cs typeface="Calibri" pitchFamily="34" charset="-120"/>
              </a:rPr>
              <a:t> (pH 7): [H⁺] = [OH⁻]. </a:t>
            </a:r>
            <a:r>
              <a:rPr lang="en-US" sz="1100" b="1" dirty="0">
                <a:solidFill>
                  <a:srgbClr val="262B3A"/>
                </a:solidFill>
                <a:latin typeface="Calibri" pitchFamily="34" charset="0"/>
                <a:ea typeface="Calibri" pitchFamily="34" charset="-122"/>
                <a:cs typeface="Calibri" pitchFamily="34" charset="-120"/>
              </a:rPr>
              <a:t>Acidic</a:t>
            </a:r>
            <a:r>
              <a:rPr lang="en-US" sz="1100" dirty="0">
                <a:solidFill>
                  <a:srgbClr val="262B3A"/>
                </a:solidFill>
                <a:latin typeface="Calibri" pitchFamily="34" charset="0"/>
                <a:ea typeface="Calibri" pitchFamily="34" charset="-122"/>
                <a:cs typeface="Calibri" pitchFamily="34" charset="-120"/>
              </a:rPr>
              <a:t>: more H⁺ than OH⁻. </a:t>
            </a:r>
            <a:r>
              <a:rPr lang="en-US" sz="1100" b="1" dirty="0">
                <a:solidFill>
                  <a:srgbClr val="262B3A"/>
                </a:solidFill>
                <a:latin typeface="Calibri" pitchFamily="34" charset="0"/>
                <a:ea typeface="Calibri" pitchFamily="34" charset="-122"/>
                <a:cs typeface="Calibri" pitchFamily="34" charset="-120"/>
              </a:rPr>
              <a:t>Alkaline</a:t>
            </a:r>
            <a:r>
              <a:rPr lang="en-US" sz="1100" dirty="0">
                <a:solidFill>
                  <a:srgbClr val="262B3A"/>
                </a:solidFill>
                <a:latin typeface="Calibri" pitchFamily="34" charset="0"/>
                <a:ea typeface="Calibri" pitchFamily="34" charset="-122"/>
                <a:cs typeface="Calibri" pitchFamily="34" charset="-120"/>
              </a:rPr>
              <a:t>: more OH⁻ than H⁺.</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Diluting an acid </a:t>
            </a:r>
            <a:r>
              <a:rPr lang="en-US" sz="1100" b="1" dirty="0">
                <a:solidFill>
                  <a:srgbClr val="262B3A"/>
                </a:solidFill>
                <a:latin typeface="Calibri" pitchFamily="34" charset="0"/>
                <a:ea typeface="Calibri" pitchFamily="34" charset="-122"/>
                <a:cs typeface="Calibri" pitchFamily="34" charset="-120"/>
              </a:rPr>
              <a:t>× 10</a:t>
            </a:r>
            <a:r>
              <a:rPr lang="en-US" sz="1100" dirty="0">
                <a:solidFill>
                  <a:srgbClr val="262B3A"/>
                </a:solidFill>
                <a:latin typeface="Calibri" pitchFamily="34" charset="0"/>
                <a:ea typeface="Calibri" pitchFamily="34" charset="-122"/>
                <a:cs typeface="Calibri" pitchFamily="34" charset="-120"/>
              </a:rPr>
              <a:t> (e.g. 10 cm³ made up to 100 cm³) </a:t>
            </a:r>
            <a:r>
              <a:rPr lang="en-US" sz="1100" b="1" dirty="0">
                <a:solidFill>
                  <a:srgbClr val="262B3A"/>
                </a:solidFill>
                <a:latin typeface="Calibri" pitchFamily="34" charset="0"/>
                <a:ea typeface="Calibri" pitchFamily="34" charset="-122"/>
                <a:cs typeface="Calibri" pitchFamily="34" charset="-120"/>
              </a:rPr>
              <a:t>raises</a:t>
            </a:r>
            <a:r>
              <a:rPr lang="en-US" sz="1100" dirty="0">
                <a:solidFill>
                  <a:srgbClr val="262B3A"/>
                </a:solidFill>
                <a:latin typeface="Calibri" pitchFamily="34" charset="0"/>
                <a:ea typeface="Calibri" pitchFamily="34" charset="-122"/>
                <a:cs typeface="Calibri" pitchFamily="34" charset="-120"/>
              </a:rPr>
              <a:t> its pH by </a:t>
            </a:r>
            <a:r>
              <a:rPr lang="en-US" sz="1100" b="1" dirty="0">
                <a:solidFill>
                  <a:srgbClr val="262B3A"/>
                </a:solidFill>
                <a:latin typeface="Calibri" pitchFamily="34" charset="0"/>
                <a:ea typeface="Calibri" pitchFamily="34" charset="-122"/>
                <a:cs typeface="Calibri" pitchFamily="34" charset="-120"/>
              </a:rPr>
              <a:t>1</a:t>
            </a:r>
            <a:r>
              <a:rPr lang="en-US" sz="1100" dirty="0">
                <a:solidFill>
                  <a:srgbClr val="262B3A"/>
                </a:solidFill>
                <a:latin typeface="Calibri" pitchFamily="34" charset="0"/>
                <a:ea typeface="Calibri" pitchFamily="34" charset="-122"/>
                <a:cs typeface="Calibri" pitchFamily="34" charset="-120"/>
              </a:rPr>
              <a:t>.</a:t>
            </a:r>
            <a:endParaRPr lang="en-US" sz="1100" dirty="0"/>
          </a:p>
        </p:txBody>
      </p:sp>
      <p:sp>
        <p:nvSpPr>
          <p:cNvPr id="51" name="Shape 49"/>
          <p:cNvSpPr/>
          <p:nvPr/>
        </p:nvSpPr>
        <p:spPr>
          <a:xfrm>
            <a:off x="6217920" y="4023360"/>
            <a:ext cx="5559552" cy="1691640"/>
          </a:xfrm>
          <a:prstGeom prst="roundRect">
            <a:avLst>
              <a:gd name="adj" fmla="val 3243"/>
            </a:avLst>
          </a:prstGeom>
          <a:solidFill>
            <a:srgbClr val="FFF4E0"/>
          </a:solidFill>
          <a:ln w="9525">
            <a:solidFill>
              <a:srgbClr val="F1D9A8"/>
            </a:solidFill>
            <a:prstDash val="solid"/>
          </a:ln>
        </p:spPr>
      </p:sp>
      <p:sp>
        <p:nvSpPr>
          <p:cNvPr id="52" name="Text 50"/>
          <p:cNvSpPr/>
          <p:nvPr/>
        </p:nvSpPr>
        <p:spPr>
          <a:xfrm>
            <a:off x="6382512" y="4096512"/>
            <a:ext cx="5230368"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 comparing two acids</a:t>
            </a:r>
            <a:endParaRPr lang="en-US" sz="1300" dirty="0"/>
          </a:p>
        </p:txBody>
      </p:sp>
      <p:sp>
        <p:nvSpPr>
          <p:cNvPr id="53" name="Text 51"/>
          <p:cNvSpPr/>
          <p:nvPr/>
        </p:nvSpPr>
        <p:spPr>
          <a:xfrm>
            <a:off x="6382512" y="4407408"/>
            <a:ext cx="5230368" cy="123444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Acid A has pH 2. Acid B has pH 5. How many times greater is [H⁺] in A?</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1 Difference   </a:t>
            </a:r>
            <a:r>
              <a:rPr lang="en-US" sz="1050" dirty="0">
                <a:solidFill>
                  <a:srgbClr val="262B3A"/>
                </a:solidFill>
                <a:latin typeface="Calibri" pitchFamily="34" charset="0"/>
                <a:ea typeface="Calibri" pitchFamily="34" charset="-122"/>
                <a:cs typeface="Calibri" pitchFamily="34" charset="-120"/>
              </a:rPr>
              <a:t>5 − 2 = 3 pH units</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2 Factor   </a:t>
            </a:r>
            <a:r>
              <a:rPr lang="en-US" sz="1050" dirty="0">
                <a:solidFill>
                  <a:srgbClr val="262B3A"/>
                </a:solidFill>
                <a:latin typeface="Calibri" pitchFamily="34" charset="0"/>
                <a:ea typeface="Calibri" pitchFamily="34" charset="-122"/>
                <a:cs typeface="Calibri" pitchFamily="34" charset="-120"/>
              </a:rPr>
              <a:t>10 × 10 × 10 = 10³</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3 Answer   </a:t>
            </a:r>
            <a:r>
              <a:rPr lang="en-US" sz="1050" b="1" dirty="0">
                <a:solidFill>
                  <a:srgbClr val="C8414C"/>
                </a:solidFill>
                <a:latin typeface="Calibri" pitchFamily="34" charset="0"/>
                <a:ea typeface="Calibri" pitchFamily="34" charset="-122"/>
                <a:cs typeface="Calibri" pitchFamily="34" charset="-120"/>
              </a:rPr>
              <a:t>[H⁺] in A is </a:t>
            </a:r>
            <a:r>
              <a:rPr lang="en-US" sz="1050" b="1" dirty="0">
                <a:solidFill>
                  <a:srgbClr val="C8414C"/>
                </a:solidFill>
                <a:latin typeface="Calibri" pitchFamily="34" charset="0"/>
                <a:ea typeface="Calibri" pitchFamily="34" charset="-122"/>
                <a:cs typeface="Calibri" pitchFamily="34" charset="-120"/>
              </a:rPr>
              <a:t>1000 times</a:t>
            </a:r>
            <a:r>
              <a:rPr lang="en-US" sz="1050" b="1" dirty="0">
                <a:solidFill>
                  <a:srgbClr val="C8414C"/>
                </a:solidFill>
                <a:latin typeface="Calibri" pitchFamily="34" charset="0"/>
                <a:ea typeface="Calibri" pitchFamily="34" charset="-122"/>
                <a:cs typeface="Calibri" pitchFamily="34" charset="-120"/>
              </a:rPr>
              <a:t> greater</a:t>
            </a:r>
            <a:endParaRPr lang="en-US" sz="1050" dirty="0"/>
          </a:p>
        </p:txBody>
      </p:sp>
      <p:sp>
        <p:nvSpPr>
          <p:cNvPr id="54" name="Shape 52"/>
          <p:cNvSpPr/>
          <p:nvPr/>
        </p:nvSpPr>
        <p:spPr>
          <a:xfrm>
            <a:off x="411480" y="5833872"/>
            <a:ext cx="11368735" cy="530352"/>
          </a:xfrm>
          <a:prstGeom prst="rect">
            <a:avLst/>
          </a:prstGeom>
          <a:solidFill>
            <a:srgbClr val="FFF4E0"/>
          </a:solidFill>
          <a:ln w="6350">
            <a:solidFill>
              <a:srgbClr val="F1D9A8"/>
            </a:solidFill>
            <a:prstDash val="solid"/>
          </a:ln>
        </p:spPr>
      </p:sp>
      <p:sp>
        <p:nvSpPr>
          <p:cNvPr id="55" name="Shape 53"/>
          <p:cNvSpPr/>
          <p:nvPr/>
        </p:nvSpPr>
        <p:spPr>
          <a:xfrm>
            <a:off x="411480" y="5833872"/>
            <a:ext cx="82296" cy="530352"/>
          </a:xfrm>
          <a:prstGeom prst="rect">
            <a:avLst/>
          </a:prstGeom>
          <a:solidFill>
            <a:srgbClr val="E39A2F"/>
          </a:solidFill>
          <a:ln w="12700">
            <a:solidFill>
              <a:srgbClr val="E39A2F"/>
            </a:solidFill>
            <a:prstDash val="solid"/>
          </a:ln>
        </p:spPr>
      </p:sp>
      <p:sp>
        <p:nvSpPr>
          <p:cNvPr id="56" name="Text 54"/>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10 cm³ of an acid of </a:t>
            </a:r>
            <a:r>
              <a:rPr lang="en-US" sz="1150" b="1" dirty="0">
                <a:solidFill>
                  <a:srgbClr val="262B3A"/>
                </a:solidFill>
                <a:latin typeface="Calibri" pitchFamily="34" charset="0"/>
                <a:ea typeface="Calibri" pitchFamily="34" charset="-122"/>
                <a:cs typeface="Calibri" pitchFamily="34" charset="-120"/>
              </a:rPr>
              <a:t>pH 2</a:t>
            </a:r>
            <a:r>
              <a:rPr lang="en-US" sz="1150" dirty="0">
                <a:solidFill>
                  <a:srgbClr val="262B3A"/>
                </a:solidFill>
                <a:latin typeface="Calibri" pitchFamily="34" charset="0"/>
                <a:ea typeface="Calibri" pitchFamily="34" charset="-122"/>
                <a:cs typeface="Calibri" pitchFamily="34" charset="-120"/>
              </a:rPr>
              <a:t> is made up to </a:t>
            </a:r>
            <a:r>
              <a:rPr lang="en-US" sz="1150" b="1" dirty="0">
                <a:solidFill>
                  <a:srgbClr val="262B3A"/>
                </a:solidFill>
                <a:latin typeface="Calibri" pitchFamily="34" charset="0"/>
                <a:ea typeface="Calibri" pitchFamily="34" charset="-122"/>
                <a:cs typeface="Calibri" pitchFamily="34" charset="-120"/>
              </a:rPr>
              <a:t>1000 cm³</a:t>
            </a:r>
            <a:r>
              <a:rPr lang="en-US" sz="1150" dirty="0">
                <a:solidFill>
                  <a:srgbClr val="262B3A"/>
                </a:solidFill>
                <a:latin typeface="Calibri" pitchFamily="34" charset="0"/>
                <a:ea typeface="Calibri" pitchFamily="34" charset="-122"/>
                <a:cs typeface="Calibri" pitchFamily="34" charset="-120"/>
              </a:rPr>
              <a:t> with water. What is the new pH? Explain.</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Exam practice: recap 4</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Specification C6.1.5–C6.1.7 • strong / weak • concentrated / dilute • pH and [H⁺]</a:t>
            </a:r>
            <a:endParaRPr lang="en-US" sz="1100" dirty="0"/>
          </a:p>
        </p:txBody>
      </p:sp>
      <p:sp>
        <p:nvSpPr>
          <p:cNvPr id="6" name="Shape 4"/>
          <p:cNvSpPr/>
          <p:nvPr/>
        </p:nvSpPr>
        <p:spPr>
          <a:xfrm>
            <a:off x="11323015" y="292608"/>
            <a:ext cx="457200" cy="274320"/>
          </a:xfrm>
          <a:prstGeom prst="roundRect">
            <a:avLst>
              <a:gd name="adj" fmla="val 50000"/>
            </a:avLst>
          </a:prstGeom>
          <a:solidFill>
            <a:srgbClr val="C8414C"/>
          </a:solidFill>
          <a:ln w="12700">
            <a:solidFill>
              <a:srgbClr val="C8414C"/>
            </a:solidFill>
            <a:prstDash val="solid"/>
          </a:ln>
        </p:spPr>
      </p:sp>
      <p:sp>
        <p:nvSpPr>
          <p:cNvPr id="7" name="Text 5"/>
          <p:cNvSpPr/>
          <p:nvPr/>
        </p:nvSpPr>
        <p:spPr>
          <a:xfrm>
            <a:off x="11323015" y="292608"/>
            <a:ext cx="45720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8" name="Text 6"/>
          <p:cNvSpPr/>
          <p:nvPr/>
        </p:nvSpPr>
        <p:spPr>
          <a:xfrm>
            <a:off x="411480" y="6473952"/>
            <a:ext cx="1014984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C6.1 What useful products can be made from acids? | Higher &amp; Foundation</a:t>
            </a:r>
            <a:endParaRPr lang="en-US" sz="1000" dirty="0"/>
          </a:p>
        </p:txBody>
      </p:sp>
      <p:sp>
        <p:nvSpPr>
          <p:cNvPr id="9" name="Text 7"/>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Recap 4  |  18</a:t>
            </a:r>
            <a:endParaRPr lang="en-US" sz="1000" dirty="0"/>
          </a:p>
        </p:txBody>
      </p:sp>
      <p:sp>
        <p:nvSpPr>
          <p:cNvPr id="10" name="Shape 8"/>
          <p:cNvSpPr/>
          <p:nvPr/>
        </p:nvSpPr>
        <p:spPr>
          <a:xfrm>
            <a:off x="411480" y="1207008"/>
            <a:ext cx="11368735" cy="1159002"/>
          </a:xfrm>
          <a:prstGeom prst="roundRect">
            <a:avLst>
              <a:gd name="adj" fmla="val 3945"/>
            </a:avLst>
          </a:prstGeom>
          <a:solidFill>
            <a:srgbClr val="FFFFFF"/>
          </a:solidFill>
          <a:ln w="12700">
            <a:solidFill>
              <a:srgbClr val="DDD3EC"/>
            </a:solidFill>
            <a:prstDash val="solid"/>
          </a:ln>
        </p:spPr>
      </p:sp>
      <p:sp>
        <p:nvSpPr>
          <p:cNvPr id="11" name="Shape 9"/>
          <p:cNvSpPr/>
          <p:nvPr/>
        </p:nvSpPr>
        <p:spPr>
          <a:xfrm>
            <a:off x="411480" y="1207008"/>
            <a:ext cx="2103120" cy="292608"/>
          </a:xfrm>
          <a:prstGeom prst="rect">
            <a:avLst/>
          </a:prstGeom>
          <a:solidFill>
            <a:srgbClr val="F5A742"/>
          </a:solidFill>
          <a:ln w="12700">
            <a:solidFill>
              <a:srgbClr val="F5A742"/>
            </a:solidFill>
            <a:prstDash val="solid"/>
          </a:ln>
        </p:spPr>
      </p:sp>
      <p:sp>
        <p:nvSpPr>
          <p:cNvPr id="12" name="Text 10"/>
          <p:cNvSpPr/>
          <p:nvPr/>
        </p:nvSpPr>
        <p:spPr>
          <a:xfrm>
            <a:off x="411480" y="1207008"/>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3" name="Shape 11"/>
          <p:cNvSpPr/>
          <p:nvPr/>
        </p:nvSpPr>
        <p:spPr>
          <a:xfrm>
            <a:off x="2606040" y="1216152"/>
            <a:ext cx="411480" cy="274320"/>
          </a:xfrm>
          <a:prstGeom prst="roundRect">
            <a:avLst>
              <a:gd name="adj" fmla="val 50000"/>
            </a:avLst>
          </a:prstGeom>
          <a:solidFill>
            <a:srgbClr val="C8414C"/>
          </a:solidFill>
          <a:ln w="12700">
            <a:solidFill>
              <a:srgbClr val="C8414C"/>
            </a:solidFill>
            <a:prstDash val="solid"/>
          </a:ln>
        </p:spPr>
      </p:sp>
      <p:sp>
        <p:nvSpPr>
          <p:cNvPr id="14" name="Text 12"/>
          <p:cNvSpPr/>
          <p:nvPr/>
        </p:nvSpPr>
        <p:spPr>
          <a:xfrm>
            <a:off x="2606040" y="1216152"/>
            <a:ext cx="4114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15" name="Text 13"/>
          <p:cNvSpPr/>
          <p:nvPr/>
        </p:nvSpPr>
        <p:spPr>
          <a:xfrm>
            <a:off x="640080" y="1572768"/>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What is meant by a </a:t>
            </a:r>
            <a:r>
              <a:rPr lang="en-US" sz="1250" b="1" dirty="0">
                <a:solidFill>
                  <a:srgbClr val="262B3A"/>
                </a:solidFill>
                <a:latin typeface="Calibri" pitchFamily="34" charset="0"/>
                <a:ea typeface="Calibri" pitchFamily="34" charset="-122"/>
                <a:cs typeface="Calibri" pitchFamily="34" charset="-120"/>
              </a:rPr>
              <a:t>strong acid</a:t>
            </a:r>
            <a:r>
              <a:rPr lang="en-US" sz="1250" dirty="0">
                <a:solidFill>
                  <a:srgbClr val="262B3A"/>
                </a:solidFill>
                <a:latin typeface="Calibri" pitchFamily="34" charset="0"/>
                <a:ea typeface="Calibri" pitchFamily="34" charset="-122"/>
                <a:cs typeface="Calibri" pitchFamily="34" charset="-120"/>
              </a:rPr>
              <a:t>?</a:t>
            </a:r>
            <a:endParaRPr lang="en-US" sz="1250" dirty="0"/>
          </a:p>
        </p:txBody>
      </p:sp>
      <p:sp>
        <p:nvSpPr>
          <p:cNvPr id="16" name="Text 14"/>
          <p:cNvSpPr/>
          <p:nvPr/>
        </p:nvSpPr>
        <p:spPr>
          <a:xfrm>
            <a:off x="10317175" y="1981962"/>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7" name="Shape 15"/>
          <p:cNvSpPr/>
          <p:nvPr/>
        </p:nvSpPr>
        <p:spPr>
          <a:xfrm>
            <a:off x="411480" y="2512314"/>
            <a:ext cx="11368735" cy="1159002"/>
          </a:xfrm>
          <a:prstGeom prst="roundRect">
            <a:avLst>
              <a:gd name="adj" fmla="val 3945"/>
            </a:avLst>
          </a:prstGeom>
          <a:solidFill>
            <a:srgbClr val="FFFFFF"/>
          </a:solidFill>
          <a:ln w="12700">
            <a:solidFill>
              <a:srgbClr val="DDD3EC"/>
            </a:solidFill>
            <a:prstDash val="solid"/>
          </a:ln>
        </p:spPr>
      </p:sp>
      <p:sp>
        <p:nvSpPr>
          <p:cNvPr id="18" name="Shape 16"/>
          <p:cNvSpPr/>
          <p:nvPr/>
        </p:nvSpPr>
        <p:spPr>
          <a:xfrm>
            <a:off x="411480" y="2512314"/>
            <a:ext cx="2103120" cy="292608"/>
          </a:xfrm>
          <a:prstGeom prst="rect">
            <a:avLst/>
          </a:prstGeom>
          <a:solidFill>
            <a:srgbClr val="F5A742"/>
          </a:solidFill>
          <a:ln w="12700">
            <a:solidFill>
              <a:srgbClr val="F5A742"/>
            </a:solidFill>
            <a:prstDash val="solid"/>
          </a:ln>
        </p:spPr>
      </p:sp>
      <p:sp>
        <p:nvSpPr>
          <p:cNvPr id="19" name="Text 17"/>
          <p:cNvSpPr/>
          <p:nvPr/>
        </p:nvSpPr>
        <p:spPr>
          <a:xfrm>
            <a:off x="411480" y="2512314"/>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0" name="Shape 18"/>
          <p:cNvSpPr/>
          <p:nvPr/>
        </p:nvSpPr>
        <p:spPr>
          <a:xfrm>
            <a:off x="2606040" y="2521458"/>
            <a:ext cx="411480" cy="274320"/>
          </a:xfrm>
          <a:prstGeom prst="roundRect">
            <a:avLst>
              <a:gd name="adj" fmla="val 50000"/>
            </a:avLst>
          </a:prstGeom>
          <a:solidFill>
            <a:srgbClr val="C8414C"/>
          </a:solidFill>
          <a:ln w="12700">
            <a:solidFill>
              <a:srgbClr val="C8414C"/>
            </a:solidFill>
            <a:prstDash val="solid"/>
          </a:ln>
        </p:spPr>
      </p:sp>
      <p:sp>
        <p:nvSpPr>
          <p:cNvPr id="21" name="Text 19"/>
          <p:cNvSpPr/>
          <p:nvPr/>
        </p:nvSpPr>
        <p:spPr>
          <a:xfrm>
            <a:off x="2606040" y="2521458"/>
            <a:ext cx="4114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22" name="Text 20"/>
          <p:cNvSpPr/>
          <p:nvPr/>
        </p:nvSpPr>
        <p:spPr>
          <a:xfrm>
            <a:off x="640080" y="2878074"/>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Explain the difference between a </a:t>
            </a:r>
            <a:r>
              <a:rPr lang="en-US" sz="1250" b="1" dirty="0">
                <a:solidFill>
                  <a:srgbClr val="262B3A"/>
                </a:solidFill>
                <a:latin typeface="Calibri" pitchFamily="34" charset="0"/>
                <a:ea typeface="Calibri" pitchFamily="34" charset="-122"/>
                <a:cs typeface="Calibri" pitchFamily="34" charset="-120"/>
              </a:rPr>
              <a:t>dilute</a:t>
            </a:r>
            <a:r>
              <a:rPr lang="en-US" sz="1250" dirty="0">
                <a:solidFill>
                  <a:srgbClr val="262B3A"/>
                </a:solidFill>
                <a:latin typeface="Calibri" pitchFamily="34" charset="0"/>
                <a:ea typeface="Calibri" pitchFamily="34" charset="-122"/>
                <a:cs typeface="Calibri" pitchFamily="34" charset="-120"/>
              </a:rPr>
              <a:t> acid and a </a:t>
            </a:r>
            <a:r>
              <a:rPr lang="en-US" sz="1250" b="1" dirty="0">
                <a:solidFill>
                  <a:srgbClr val="262B3A"/>
                </a:solidFill>
                <a:latin typeface="Calibri" pitchFamily="34" charset="0"/>
                <a:ea typeface="Calibri" pitchFamily="34" charset="-122"/>
                <a:cs typeface="Calibri" pitchFamily="34" charset="-120"/>
              </a:rPr>
              <a:t>weak</a:t>
            </a:r>
            <a:r>
              <a:rPr lang="en-US" sz="1250" dirty="0">
                <a:solidFill>
                  <a:srgbClr val="262B3A"/>
                </a:solidFill>
                <a:latin typeface="Calibri" pitchFamily="34" charset="0"/>
                <a:ea typeface="Calibri" pitchFamily="34" charset="-122"/>
                <a:cs typeface="Calibri" pitchFamily="34" charset="-120"/>
              </a:rPr>
              <a:t> acid.</a:t>
            </a:r>
            <a:endParaRPr lang="en-US" sz="1250" dirty="0"/>
          </a:p>
        </p:txBody>
      </p:sp>
      <p:sp>
        <p:nvSpPr>
          <p:cNvPr id="23" name="Text 21"/>
          <p:cNvSpPr/>
          <p:nvPr/>
        </p:nvSpPr>
        <p:spPr>
          <a:xfrm>
            <a:off x="10317175" y="3287268"/>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4" name="Shape 22"/>
          <p:cNvSpPr/>
          <p:nvPr/>
        </p:nvSpPr>
        <p:spPr>
          <a:xfrm>
            <a:off x="411480" y="3817620"/>
            <a:ext cx="11368735" cy="1159002"/>
          </a:xfrm>
          <a:prstGeom prst="roundRect">
            <a:avLst>
              <a:gd name="adj" fmla="val 3945"/>
            </a:avLst>
          </a:prstGeom>
          <a:solidFill>
            <a:srgbClr val="FFFFFF"/>
          </a:solidFill>
          <a:ln w="12700">
            <a:solidFill>
              <a:srgbClr val="DDD3EC"/>
            </a:solidFill>
            <a:prstDash val="solid"/>
          </a:ln>
        </p:spPr>
      </p:sp>
      <p:sp>
        <p:nvSpPr>
          <p:cNvPr id="25" name="Shape 23"/>
          <p:cNvSpPr/>
          <p:nvPr/>
        </p:nvSpPr>
        <p:spPr>
          <a:xfrm>
            <a:off x="411480" y="3817620"/>
            <a:ext cx="2103120" cy="292608"/>
          </a:xfrm>
          <a:prstGeom prst="rect">
            <a:avLst/>
          </a:prstGeom>
          <a:solidFill>
            <a:srgbClr val="F5A742"/>
          </a:solidFill>
          <a:ln w="12700">
            <a:solidFill>
              <a:srgbClr val="F5A742"/>
            </a:solidFill>
            <a:prstDash val="solid"/>
          </a:ln>
        </p:spPr>
      </p:sp>
      <p:sp>
        <p:nvSpPr>
          <p:cNvPr id="26" name="Text 24"/>
          <p:cNvSpPr/>
          <p:nvPr/>
        </p:nvSpPr>
        <p:spPr>
          <a:xfrm>
            <a:off x="411480" y="3817620"/>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7" name="Shape 25"/>
          <p:cNvSpPr/>
          <p:nvPr/>
        </p:nvSpPr>
        <p:spPr>
          <a:xfrm>
            <a:off x="2606040" y="3826764"/>
            <a:ext cx="411480" cy="274320"/>
          </a:xfrm>
          <a:prstGeom prst="roundRect">
            <a:avLst>
              <a:gd name="adj" fmla="val 50000"/>
            </a:avLst>
          </a:prstGeom>
          <a:solidFill>
            <a:srgbClr val="C8414C"/>
          </a:solidFill>
          <a:ln w="12700">
            <a:solidFill>
              <a:srgbClr val="C8414C"/>
            </a:solidFill>
            <a:prstDash val="solid"/>
          </a:ln>
        </p:spPr>
      </p:sp>
      <p:sp>
        <p:nvSpPr>
          <p:cNvPr id="28" name="Text 26"/>
          <p:cNvSpPr/>
          <p:nvPr/>
        </p:nvSpPr>
        <p:spPr>
          <a:xfrm>
            <a:off x="2606040" y="3826764"/>
            <a:ext cx="4114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29" name="Text 27"/>
          <p:cNvSpPr/>
          <p:nvPr/>
        </p:nvSpPr>
        <p:spPr>
          <a:xfrm>
            <a:off x="640080" y="4183380"/>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The pH of a solution changes from </a:t>
            </a:r>
            <a:r>
              <a:rPr lang="en-US" sz="1250" b="1" dirty="0">
                <a:solidFill>
                  <a:srgbClr val="262B3A"/>
                </a:solidFill>
                <a:latin typeface="Calibri" pitchFamily="34" charset="0"/>
                <a:ea typeface="Calibri" pitchFamily="34" charset="-122"/>
                <a:cs typeface="Calibri" pitchFamily="34" charset="-120"/>
              </a:rPr>
              <a:t>pH 3</a:t>
            </a:r>
            <a:r>
              <a:rPr lang="en-US" sz="1250" dirty="0">
                <a:solidFill>
                  <a:srgbClr val="262B3A"/>
                </a:solidFill>
                <a:latin typeface="Calibri" pitchFamily="34" charset="0"/>
                <a:ea typeface="Calibri" pitchFamily="34" charset="-122"/>
                <a:cs typeface="Calibri" pitchFamily="34" charset="-120"/>
              </a:rPr>
              <a:t> to </a:t>
            </a:r>
            <a:r>
              <a:rPr lang="en-US" sz="1250" b="1" dirty="0">
                <a:solidFill>
                  <a:srgbClr val="262B3A"/>
                </a:solidFill>
                <a:latin typeface="Calibri" pitchFamily="34" charset="0"/>
                <a:ea typeface="Calibri" pitchFamily="34" charset="-122"/>
                <a:cs typeface="Calibri" pitchFamily="34" charset="-120"/>
              </a:rPr>
              <a:t>pH 1</a:t>
            </a:r>
            <a:r>
              <a:rPr lang="en-US" sz="1250" dirty="0">
                <a:solidFill>
                  <a:srgbClr val="262B3A"/>
                </a:solidFill>
                <a:latin typeface="Calibri" pitchFamily="34" charset="0"/>
                <a:ea typeface="Calibri" pitchFamily="34" charset="-122"/>
                <a:cs typeface="Calibri" pitchFamily="34" charset="-120"/>
              </a:rPr>
              <a:t>. How has the </a:t>
            </a:r>
            <a:r>
              <a:rPr lang="en-US" sz="1250" b="1" dirty="0">
                <a:solidFill>
                  <a:srgbClr val="262B3A"/>
                </a:solidFill>
                <a:latin typeface="Calibri" pitchFamily="34" charset="0"/>
                <a:ea typeface="Calibri" pitchFamily="34" charset="-122"/>
                <a:cs typeface="Calibri" pitchFamily="34" charset="-120"/>
              </a:rPr>
              <a:t>hydrogen ion concentration</a:t>
            </a:r>
            <a:r>
              <a:rPr lang="en-US" sz="1250" dirty="0">
                <a:solidFill>
                  <a:srgbClr val="262B3A"/>
                </a:solidFill>
                <a:latin typeface="Calibri" pitchFamily="34" charset="0"/>
                <a:ea typeface="Calibri" pitchFamily="34" charset="-122"/>
                <a:cs typeface="Calibri" pitchFamily="34" charset="-120"/>
              </a:rPr>
              <a:t> changed?</a:t>
            </a:r>
            <a:endParaRPr lang="en-US" sz="1250" dirty="0"/>
          </a:p>
        </p:txBody>
      </p:sp>
      <p:sp>
        <p:nvSpPr>
          <p:cNvPr id="30" name="Text 28"/>
          <p:cNvSpPr/>
          <p:nvPr/>
        </p:nvSpPr>
        <p:spPr>
          <a:xfrm>
            <a:off x="10317175" y="4592574"/>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31" name="Shape 29"/>
          <p:cNvSpPr/>
          <p:nvPr/>
        </p:nvSpPr>
        <p:spPr>
          <a:xfrm>
            <a:off x="411480" y="5122926"/>
            <a:ext cx="11368735" cy="1159002"/>
          </a:xfrm>
          <a:prstGeom prst="roundRect">
            <a:avLst>
              <a:gd name="adj" fmla="val 3945"/>
            </a:avLst>
          </a:prstGeom>
          <a:solidFill>
            <a:srgbClr val="FFFFFF"/>
          </a:solidFill>
          <a:ln w="12700">
            <a:solidFill>
              <a:srgbClr val="DDD3EC"/>
            </a:solidFill>
            <a:prstDash val="solid"/>
          </a:ln>
        </p:spPr>
      </p:sp>
      <p:sp>
        <p:nvSpPr>
          <p:cNvPr id="32" name="Shape 30"/>
          <p:cNvSpPr/>
          <p:nvPr/>
        </p:nvSpPr>
        <p:spPr>
          <a:xfrm>
            <a:off x="411480" y="5122926"/>
            <a:ext cx="2103120" cy="292608"/>
          </a:xfrm>
          <a:prstGeom prst="rect">
            <a:avLst/>
          </a:prstGeom>
          <a:solidFill>
            <a:srgbClr val="F5A742"/>
          </a:solidFill>
          <a:ln w="12700">
            <a:solidFill>
              <a:srgbClr val="F5A742"/>
            </a:solidFill>
            <a:prstDash val="solid"/>
          </a:ln>
        </p:spPr>
      </p:sp>
      <p:sp>
        <p:nvSpPr>
          <p:cNvPr id="33" name="Text 31"/>
          <p:cNvSpPr/>
          <p:nvPr/>
        </p:nvSpPr>
        <p:spPr>
          <a:xfrm>
            <a:off x="411480" y="5122926"/>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34" name="Shape 32"/>
          <p:cNvSpPr/>
          <p:nvPr/>
        </p:nvSpPr>
        <p:spPr>
          <a:xfrm>
            <a:off x="2606040" y="5132070"/>
            <a:ext cx="411480" cy="274320"/>
          </a:xfrm>
          <a:prstGeom prst="roundRect">
            <a:avLst>
              <a:gd name="adj" fmla="val 50000"/>
            </a:avLst>
          </a:prstGeom>
          <a:solidFill>
            <a:srgbClr val="C8414C"/>
          </a:solidFill>
          <a:ln w="12700">
            <a:solidFill>
              <a:srgbClr val="C8414C"/>
            </a:solidFill>
            <a:prstDash val="solid"/>
          </a:ln>
        </p:spPr>
      </p:sp>
      <p:sp>
        <p:nvSpPr>
          <p:cNvPr id="35" name="Text 33"/>
          <p:cNvSpPr/>
          <p:nvPr/>
        </p:nvSpPr>
        <p:spPr>
          <a:xfrm>
            <a:off x="2606040" y="5132070"/>
            <a:ext cx="4114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36" name="Text 34"/>
          <p:cNvSpPr/>
          <p:nvPr/>
        </p:nvSpPr>
        <p:spPr>
          <a:xfrm>
            <a:off x="640080" y="5488686"/>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0.1 mol/dm³ hydrochloric acid has pH 1; 0.1 mol/dm³ ethanoic acid has pH 3. Explain the difference.</a:t>
            </a:r>
            <a:endParaRPr lang="en-US" sz="1250" dirty="0"/>
          </a:p>
        </p:txBody>
      </p:sp>
      <p:sp>
        <p:nvSpPr>
          <p:cNvPr id="37" name="Text 35"/>
          <p:cNvSpPr/>
          <p:nvPr/>
        </p:nvSpPr>
        <p:spPr>
          <a:xfrm>
            <a:off x="10317175" y="5897880"/>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Practical: making Epsom salts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Specification C6.1.8 • PAG C4 production of salts: magnesium sulfate from magnesium carbonate</a:t>
            </a:r>
            <a:endParaRPr lang="en-US" sz="1100" dirty="0"/>
          </a:p>
        </p:txBody>
      </p:sp>
      <p:sp>
        <p:nvSpPr>
          <p:cNvPr id="6" name="Shape 4"/>
          <p:cNvSpPr/>
          <p:nvPr/>
        </p:nvSpPr>
        <p:spPr>
          <a:xfrm>
            <a:off x="11012119" y="292608"/>
            <a:ext cx="768096" cy="274320"/>
          </a:xfrm>
          <a:prstGeom prst="roundRect">
            <a:avLst>
              <a:gd name="adj" fmla="val 50000"/>
            </a:avLst>
          </a:prstGeom>
          <a:solidFill>
            <a:srgbClr val="B8730A"/>
          </a:solidFill>
          <a:ln w="12700">
            <a:solidFill>
              <a:srgbClr val="B8730A"/>
            </a:solidFill>
            <a:prstDash val="solid"/>
          </a:ln>
        </p:spPr>
      </p:sp>
      <p:sp>
        <p:nvSpPr>
          <p:cNvPr id="7" name="Text 5"/>
          <p:cNvSpPr/>
          <p:nvPr/>
        </p:nvSpPr>
        <p:spPr>
          <a:xfrm>
            <a:off x="11012119" y="292608"/>
            <a:ext cx="768096"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PAG C4</a:t>
            </a:r>
            <a:endParaRPr lang="en-US" sz="1000" dirty="0"/>
          </a:p>
        </p:txBody>
      </p:sp>
      <p:sp>
        <p:nvSpPr>
          <p:cNvPr id="8" name="Text 6"/>
          <p:cNvSpPr/>
          <p:nvPr/>
        </p:nvSpPr>
        <p:spPr>
          <a:xfrm>
            <a:off x="411480" y="6473952"/>
            <a:ext cx="1014984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C6.1 What useful products can be made from acids? | Higher &amp; Foundation</a:t>
            </a:r>
            <a:endParaRPr lang="en-US" sz="1000" dirty="0"/>
          </a:p>
        </p:txBody>
      </p:sp>
      <p:sp>
        <p:nvSpPr>
          <p:cNvPr id="9" name="Text 7"/>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PAG C4  |  19</a:t>
            </a:r>
            <a:endParaRPr lang="en-US" sz="1000" dirty="0"/>
          </a:p>
        </p:txBody>
      </p:sp>
      <p:sp>
        <p:nvSpPr>
          <p:cNvPr id="10" name="Shape 8"/>
          <p:cNvSpPr/>
          <p:nvPr/>
        </p:nvSpPr>
        <p:spPr>
          <a:xfrm>
            <a:off x="411480" y="1188720"/>
            <a:ext cx="5577840" cy="4526280"/>
          </a:xfrm>
          <a:prstGeom prst="roundRect">
            <a:avLst>
              <a:gd name="adj" fmla="val 1616"/>
            </a:avLst>
          </a:prstGeom>
          <a:solidFill>
            <a:srgbClr val="F4F0FA"/>
          </a:solidFill>
          <a:ln w="9525">
            <a:solidFill>
              <a:srgbClr val="DED4EE"/>
            </a:solidFill>
            <a:prstDash val="solid"/>
          </a:ln>
        </p:spPr>
      </p:sp>
      <p:sp>
        <p:nvSpPr>
          <p:cNvPr id="11" name="Text 9"/>
          <p:cNvSpPr/>
          <p:nvPr/>
        </p:nvSpPr>
        <p:spPr>
          <a:xfrm>
            <a:off x="548640" y="5404104"/>
            <a:ext cx="53035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the four stages; apparatus not to scale</a:t>
            </a:r>
            <a:endParaRPr lang="en-US" sz="1000" dirty="0"/>
          </a:p>
        </p:txBody>
      </p:sp>
      <p:sp>
        <p:nvSpPr>
          <p:cNvPr id="12" name="Shape 10"/>
          <p:cNvSpPr/>
          <p:nvPr/>
        </p:nvSpPr>
        <p:spPr>
          <a:xfrm>
            <a:off x="594360" y="1325880"/>
            <a:ext cx="2560320" cy="1691640"/>
          </a:xfrm>
          <a:prstGeom prst="roundRect">
            <a:avLst>
              <a:gd name="adj" fmla="val 2703"/>
            </a:avLst>
          </a:prstGeom>
          <a:solidFill>
            <a:srgbClr val="FFFFFF"/>
          </a:solidFill>
          <a:ln w="12700">
            <a:solidFill>
              <a:srgbClr val="DDD3EC"/>
            </a:solidFill>
            <a:prstDash val="solid"/>
          </a:ln>
        </p:spPr>
      </p:sp>
      <p:sp>
        <p:nvSpPr>
          <p:cNvPr id="13" name="Text 11"/>
          <p:cNvSpPr/>
          <p:nvPr/>
        </p:nvSpPr>
        <p:spPr>
          <a:xfrm>
            <a:off x="667512" y="1371600"/>
            <a:ext cx="320040" cy="256032"/>
          </a:xfrm>
          <a:prstGeom prst="rect">
            <a:avLst/>
          </a:prstGeom>
          <a:noFill/>
          <a:ln/>
        </p:spPr>
        <p:txBody>
          <a:bodyPr wrap="square" lIns="0" tIns="0" rIns="0" bIns="0" rtlCol="0" anchor="ctr"/>
          <a:lstStyle/>
          <a:p>
            <a:pPr algn="ctr" indent="0" marL="0">
              <a:buNone/>
            </a:pPr>
            <a:r>
              <a:rPr lang="en-US" sz="1200" b="1" dirty="0">
                <a:solidFill>
                  <a:srgbClr val="6A3FA0"/>
                </a:solidFill>
                <a:latin typeface="Calibri" pitchFamily="34" charset="0"/>
                <a:ea typeface="Calibri" pitchFamily="34" charset="-122"/>
                <a:cs typeface="Calibri" pitchFamily="34" charset="-120"/>
              </a:rPr>
              <a:t>1</a:t>
            </a:r>
            <a:endParaRPr lang="en-US" sz="1200" dirty="0"/>
          </a:p>
        </p:txBody>
      </p:sp>
      <p:sp>
        <p:nvSpPr>
          <p:cNvPr id="14" name="Shape 12"/>
          <p:cNvSpPr/>
          <p:nvPr/>
        </p:nvSpPr>
        <p:spPr>
          <a:xfrm>
            <a:off x="3246120" y="1325880"/>
            <a:ext cx="2560320" cy="1691640"/>
          </a:xfrm>
          <a:prstGeom prst="roundRect">
            <a:avLst>
              <a:gd name="adj" fmla="val 2703"/>
            </a:avLst>
          </a:prstGeom>
          <a:solidFill>
            <a:srgbClr val="FFFFFF"/>
          </a:solidFill>
          <a:ln w="12700">
            <a:solidFill>
              <a:srgbClr val="DDD3EC"/>
            </a:solidFill>
            <a:prstDash val="solid"/>
          </a:ln>
        </p:spPr>
      </p:sp>
      <p:sp>
        <p:nvSpPr>
          <p:cNvPr id="15" name="Text 13"/>
          <p:cNvSpPr/>
          <p:nvPr/>
        </p:nvSpPr>
        <p:spPr>
          <a:xfrm>
            <a:off x="3319272" y="1371600"/>
            <a:ext cx="320040" cy="256032"/>
          </a:xfrm>
          <a:prstGeom prst="rect">
            <a:avLst/>
          </a:prstGeom>
          <a:noFill/>
          <a:ln/>
        </p:spPr>
        <p:txBody>
          <a:bodyPr wrap="square" lIns="0" tIns="0" rIns="0" bIns="0" rtlCol="0" anchor="ctr"/>
          <a:lstStyle/>
          <a:p>
            <a:pPr algn="ctr" indent="0" marL="0">
              <a:buNone/>
            </a:pPr>
            <a:r>
              <a:rPr lang="en-US" sz="1200" b="1" dirty="0">
                <a:solidFill>
                  <a:srgbClr val="6A3FA0"/>
                </a:solidFill>
                <a:latin typeface="Calibri" pitchFamily="34" charset="0"/>
                <a:ea typeface="Calibri" pitchFamily="34" charset="-122"/>
                <a:cs typeface="Calibri" pitchFamily="34" charset="-120"/>
              </a:rPr>
              <a:t>2</a:t>
            </a:r>
            <a:endParaRPr lang="en-US" sz="1200" dirty="0"/>
          </a:p>
        </p:txBody>
      </p:sp>
      <p:sp>
        <p:nvSpPr>
          <p:cNvPr id="16" name="Shape 14"/>
          <p:cNvSpPr/>
          <p:nvPr/>
        </p:nvSpPr>
        <p:spPr>
          <a:xfrm>
            <a:off x="594360" y="3108960"/>
            <a:ext cx="2560320" cy="1691640"/>
          </a:xfrm>
          <a:prstGeom prst="roundRect">
            <a:avLst>
              <a:gd name="adj" fmla="val 2703"/>
            </a:avLst>
          </a:prstGeom>
          <a:solidFill>
            <a:srgbClr val="FFFFFF"/>
          </a:solidFill>
          <a:ln w="12700">
            <a:solidFill>
              <a:srgbClr val="DDD3EC"/>
            </a:solidFill>
            <a:prstDash val="solid"/>
          </a:ln>
        </p:spPr>
      </p:sp>
      <p:sp>
        <p:nvSpPr>
          <p:cNvPr id="17" name="Text 15"/>
          <p:cNvSpPr/>
          <p:nvPr/>
        </p:nvSpPr>
        <p:spPr>
          <a:xfrm>
            <a:off x="667512" y="3154680"/>
            <a:ext cx="320040" cy="256032"/>
          </a:xfrm>
          <a:prstGeom prst="rect">
            <a:avLst/>
          </a:prstGeom>
          <a:noFill/>
          <a:ln/>
        </p:spPr>
        <p:txBody>
          <a:bodyPr wrap="square" lIns="0" tIns="0" rIns="0" bIns="0" rtlCol="0" anchor="ctr"/>
          <a:lstStyle/>
          <a:p>
            <a:pPr algn="ctr" indent="0" marL="0">
              <a:buNone/>
            </a:pPr>
            <a:r>
              <a:rPr lang="en-US" sz="1200" b="1" dirty="0">
                <a:solidFill>
                  <a:srgbClr val="6A3FA0"/>
                </a:solidFill>
                <a:latin typeface="Calibri" pitchFamily="34" charset="0"/>
                <a:ea typeface="Calibri" pitchFamily="34" charset="-122"/>
                <a:cs typeface="Calibri" pitchFamily="34" charset="-120"/>
              </a:rPr>
              <a:t>3</a:t>
            </a:r>
            <a:endParaRPr lang="en-US" sz="1200" dirty="0"/>
          </a:p>
        </p:txBody>
      </p:sp>
      <p:sp>
        <p:nvSpPr>
          <p:cNvPr id="18" name="Shape 16"/>
          <p:cNvSpPr/>
          <p:nvPr/>
        </p:nvSpPr>
        <p:spPr>
          <a:xfrm>
            <a:off x="3246120" y="3108960"/>
            <a:ext cx="2560320" cy="1691640"/>
          </a:xfrm>
          <a:prstGeom prst="roundRect">
            <a:avLst>
              <a:gd name="adj" fmla="val 2703"/>
            </a:avLst>
          </a:prstGeom>
          <a:solidFill>
            <a:srgbClr val="FFFFFF"/>
          </a:solidFill>
          <a:ln w="12700">
            <a:solidFill>
              <a:srgbClr val="DDD3EC"/>
            </a:solidFill>
            <a:prstDash val="solid"/>
          </a:ln>
        </p:spPr>
      </p:sp>
      <p:sp>
        <p:nvSpPr>
          <p:cNvPr id="19" name="Text 17"/>
          <p:cNvSpPr/>
          <p:nvPr/>
        </p:nvSpPr>
        <p:spPr>
          <a:xfrm>
            <a:off x="3319272" y="3154680"/>
            <a:ext cx="320040" cy="256032"/>
          </a:xfrm>
          <a:prstGeom prst="rect">
            <a:avLst/>
          </a:prstGeom>
          <a:noFill/>
          <a:ln/>
        </p:spPr>
        <p:txBody>
          <a:bodyPr wrap="square" lIns="0" tIns="0" rIns="0" bIns="0" rtlCol="0" anchor="ctr"/>
          <a:lstStyle/>
          <a:p>
            <a:pPr algn="ctr" indent="0" marL="0">
              <a:buNone/>
            </a:pPr>
            <a:r>
              <a:rPr lang="en-US" sz="1200" b="1" dirty="0">
                <a:solidFill>
                  <a:srgbClr val="6A3FA0"/>
                </a:solidFill>
                <a:latin typeface="Calibri" pitchFamily="34" charset="0"/>
                <a:ea typeface="Calibri" pitchFamily="34" charset="-122"/>
                <a:cs typeface="Calibri" pitchFamily="34" charset="-120"/>
              </a:rPr>
              <a:t>4</a:t>
            </a:r>
            <a:endParaRPr lang="en-US" sz="1200" dirty="0"/>
          </a:p>
        </p:txBody>
      </p:sp>
      <p:sp>
        <p:nvSpPr>
          <p:cNvPr id="20" name="Shape 18"/>
          <p:cNvSpPr/>
          <p:nvPr/>
        </p:nvSpPr>
        <p:spPr>
          <a:xfrm>
            <a:off x="960120" y="1783080"/>
            <a:ext cx="914400" cy="960120"/>
          </a:xfrm>
          <a:prstGeom prst="rect">
            <a:avLst/>
          </a:prstGeom>
          <a:solidFill>
            <a:srgbClr val="EEF5FB"/>
          </a:solidFill>
          <a:ln/>
        </p:spPr>
      </p:sp>
      <p:sp>
        <p:nvSpPr>
          <p:cNvPr id="21" name="Shape 19"/>
          <p:cNvSpPr/>
          <p:nvPr/>
        </p:nvSpPr>
        <p:spPr>
          <a:xfrm>
            <a:off x="960120" y="2167128"/>
            <a:ext cx="914400" cy="576072"/>
          </a:xfrm>
          <a:prstGeom prst="rect">
            <a:avLst/>
          </a:prstGeom>
          <a:solidFill>
            <a:srgbClr val="F9D9D2"/>
          </a:solidFill>
          <a:ln/>
        </p:spPr>
      </p:sp>
      <p:sp>
        <p:nvSpPr>
          <p:cNvPr id="22" name="Shape 20"/>
          <p:cNvSpPr/>
          <p:nvPr/>
        </p:nvSpPr>
        <p:spPr>
          <a:xfrm>
            <a:off x="960120" y="2167128"/>
            <a:ext cx="914400" cy="91"/>
          </a:xfrm>
          <a:prstGeom prst="line">
            <a:avLst/>
          </a:prstGeom>
          <a:noFill/>
          <a:ln w="12700">
            <a:solidFill>
              <a:srgbClr val="5B9BD5"/>
            </a:solidFill>
            <a:prstDash val="solid"/>
          </a:ln>
        </p:spPr>
      </p:sp>
      <p:sp>
        <p:nvSpPr>
          <p:cNvPr id="23" name="Shape 21"/>
          <p:cNvSpPr/>
          <p:nvPr/>
        </p:nvSpPr>
        <p:spPr>
          <a:xfrm>
            <a:off x="960120" y="1783080"/>
            <a:ext cx="91" cy="960120"/>
          </a:xfrm>
          <a:prstGeom prst="line">
            <a:avLst/>
          </a:prstGeom>
          <a:noFill/>
          <a:ln w="19050">
            <a:solidFill>
              <a:srgbClr val="2A1F3D"/>
            </a:solidFill>
            <a:prstDash val="solid"/>
          </a:ln>
        </p:spPr>
      </p:sp>
      <p:sp>
        <p:nvSpPr>
          <p:cNvPr id="24" name="Shape 22"/>
          <p:cNvSpPr/>
          <p:nvPr/>
        </p:nvSpPr>
        <p:spPr>
          <a:xfrm>
            <a:off x="1874520" y="1783080"/>
            <a:ext cx="91" cy="960120"/>
          </a:xfrm>
          <a:prstGeom prst="line">
            <a:avLst/>
          </a:prstGeom>
          <a:noFill/>
          <a:ln w="19050">
            <a:solidFill>
              <a:srgbClr val="2A1F3D"/>
            </a:solidFill>
            <a:prstDash val="solid"/>
          </a:ln>
        </p:spPr>
      </p:sp>
      <p:sp>
        <p:nvSpPr>
          <p:cNvPr id="25" name="Shape 23"/>
          <p:cNvSpPr/>
          <p:nvPr/>
        </p:nvSpPr>
        <p:spPr>
          <a:xfrm>
            <a:off x="960120" y="2743200"/>
            <a:ext cx="914400" cy="91"/>
          </a:xfrm>
          <a:prstGeom prst="line">
            <a:avLst/>
          </a:prstGeom>
          <a:noFill/>
          <a:ln w="19050">
            <a:solidFill>
              <a:srgbClr val="2A1F3D"/>
            </a:solidFill>
            <a:prstDash val="solid"/>
          </a:ln>
        </p:spPr>
      </p:sp>
      <p:sp>
        <p:nvSpPr>
          <p:cNvPr id="26" name="Shape 24"/>
          <p:cNvSpPr/>
          <p:nvPr/>
        </p:nvSpPr>
        <p:spPr>
          <a:xfrm>
            <a:off x="905256" y="1783080"/>
            <a:ext cx="54864" cy="91"/>
          </a:xfrm>
          <a:prstGeom prst="line">
            <a:avLst/>
          </a:prstGeom>
          <a:noFill/>
          <a:ln w="19050">
            <a:solidFill>
              <a:srgbClr val="2A1F3D"/>
            </a:solidFill>
            <a:prstDash val="solid"/>
          </a:ln>
        </p:spPr>
      </p:sp>
      <p:sp>
        <p:nvSpPr>
          <p:cNvPr id="27" name="Shape 25"/>
          <p:cNvSpPr/>
          <p:nvPr/>
        </p:nvSpPr>
        <p:spPr>
          <a:xfrm>
            <a:off x="1874520" y="1783080"/>
            <a:ext cx="54864" cy="91"/>
          </a:xfrm>
          <a:prstGeom prst="line">
            <a:avLst/>
          </a:prstGeom>
          <a:noFill/>
          <a:ln w="19050">
            <a:solidFill>
              <a:srgbClr val="2A1F3D"/>
            </a:solidFill>
            <a:prstDash val="solid"/>
          </a:ln>
        </p:spPr>
      </p:sp>
      <p:sp>
        <p:nvSpPr>
          <p:cNvPr id="28" name="Shape 26"/>
          <p:cNvSpPr/>
          <p:nvPr/>
        </p:nvSpPr>
        <p:spPr>
          <a:xfrm>
            <a:off x="1014984" y="2642616"/>
            <a:ext cx="73152" cy="73152"/>
          </a:xfrm>
          <a:prstGeom prst="ellipse">
            <a:avLst/>
          </a:prstGeom>
          <a:solidFill>
            <a:srgbClr val="FFFFFF"/>
          </a:solidFill>
          <a:ln w="6350">
            <a:solidFill>
              <a:srgbClr val="8A8F99"/>
            </a:solidFill>
            <a:prstDash val="solid"/>
          </a:ln>
        </p:spPr>
      </p:sp>
      <p:sp>
        <p:nvSpPr>
          <p:cNvPr id="29" name="Shape 27"/>
          <p:cNvSpPr/>
          <p:nvPr/>
        </p:nvSpPr>
        <p:spPr>
          <a:xfrm>
            <a:off x="1115568" y="2606040"/>
            <a:ext cx="73152" cy="73152"/>
          </a:xfrm>
          <a:prstGeom prst="ellipse">
            <a:avLst/>
          </a:prstGeom>
          <a:solidFill>
            <a:srgbClr val="FFFFFF"/>
          </a:solidFill>
          <a:ln w="6350">
            <a:solidFill>
              <a:srgbClr val="8A8F99"/>
            </a:solidFill>
            <a:prstDash val="solid"/>
          </a:ln>
        </p:spPr>
      </p:sp>
      <p:sp>
        <p:nvSpPr>
          <p:cNvPr id="30" name="Shape 28"/>
          <p:cNvSpPr/>
          <p:nvPr/>
        </p:nvSpPr>
        <p:spPr>
          <a:xfrm>
            <a:off x="1216152" y="2642616"/>
            <a:ext cx="73152" cy="73152"/>
          </a:xfrm>
          <a:prstGeom prst="ellipse">
            <a:avLst/>
          </a:prstGeom>
          <a:solidFill>
            <a:srgbClr val="FFFFFF"/>
          </a:solidFill>
          <a:ln w="6350">
            <a:solidFill>
              <a:srgbClr val="8A8F99"/>
            </a:solidFill>
            <a:prstDash val="solid"/>
          </a:ln>
        </p:spPr>
      </p:sp>
      <p:sp>
        <p:nvSpPr>
          <p:cNvPr id="31" name="Shape 29"/>
          <p:cNvSpPr/>
          <p:nvPr/>
        </p:nvSpPr>
        <p:spPr>
          <a:xfrm>
            <a:off x="1316736" y="2606040"/>
            <a:ext cx="73152" cy="73152"/>
          </a:xfrm>
          <a:prstGeom prst="ellipse">
            <a:avLst/>
          </a:prstGeom>
          <a:solidFill>
            <a:srgbClr val="FFFFFF"/>
          </a:solidFill>
          <a:ln w="6350">
            <a:solidFill>
              <a:srgbClr val="8A8F99"/>
            </a:solidFill>
            <a:prstDash val="solid"/>
          </a:ln>
        </p:spPr>
      </p:sp>
      <p:sp>
        <p:nvSpPr>
          <p:cNvPr id="32" name="Shape 30"/>
          <p:cNvSpPr/>
          <p:nvPr/>
        </p:nvSpPr>
        <p:spPr>
          <a:xfrm>
            <a:off x="1417320" y="2642616"/>
            <a:ext cx="73152" cy="73152"/>
          </a:xfrm>
          <a:prstGeom prst="ellipse">
            <a:avLst/>
          </a:prstGeom>
          <a:solidFill>
            <a:srgbClr val="FFFFFF"/>
          </a:solidFill>
          <a:ln w="6350">
            <a:solidFill>
              <a:srgbClr val="8A8F99"/>
            </a:solidFill>
            <a:prstDash val="solid"/>
          </a:ln>
        </p:spPr>
      </p:sp>
      <p:sp>
        <p:nvSpPr>
          <p:cNvPr id="33" name="Shape 31"/>
          <p:cNvSpPr/>
          <p:nvPr/>
        </p:nvSpPr>
        <p:spPr>
          <a:xfrm>
            <a:off x="1517904" y="2606040"/>
            <a:ext cx="73152" cy="73152"/>
          </a:xfrm>
          <a:prstGeom prst="ellipse">
            <a:avLst/>
          </a:prstGeom>
          <a:solidFill>
            <a:srgbClr val="FFFFFF"/>
          </a:solidFill>
          <a:ln w="6350">
            <a:solidFill>
              <a:srgbClr val="8A8F99"/>
            </a:solidFill>
            <a:prstDash val="solid"/>
          </a:ln>
        </p:spPr>
      </p:sp>
      <p:sp>
        <p:nvSpPr>
          <p:cNvPr id="34" name="Shape 32"/>
          <p:cNvSpPr/>
          <p:nvPr/>
        </p:nvSpPr>
        <p:spPr>
          <a:xfrm>
            <a:off x="1618488" y="2642616"/>
            <a:ext cx="73152" cy="73152"/>
          </a:xfrm>
          <a:prstGeom prst="ellipse">
            <a:avLst/>
          </a:prstGeom>
          <a:solidFill>
            <a:srgbClr val="FFFFFF"/>
          </a:solidFill>
          <a:ln w="6350">
            <a:solidFill>
              <a:srgbClr val="8A8F99"/>
            </a:solidFill>
            <a:prstDash val="solid"/>
          </a:ln>
        </p:spPr>
      </p:sp>
      <p:sp>
        <p:nvSpPr>
          <p:cNvPr id="35" name="Shape 33"/>
          <p:cNvSpPr/>
          <p:nvPr/>
        </p:nvSpPr>
        <p:spPr>
          <a:xfrm>
            <a:off x="1719072" y="2606040"/>
            <a:ext cx="73152" cy="73152"/>
          </a:xfrm>
          <a:prstGeom prst="ellipse">
            <a:avLst/>
          </a:prstGeom>
          <a:solidFill>
            <a:srgbClr val="FFFFFF"/>
          </a:solidFill>
          <a:ln w="6350">
            <a:solidFill>
              <a:srgbClr val="8A8F99"/>
            </a:solidFill>
            <a:prstDash val="solid"/>
          </a:ln>
        </p:spPr>
      </p:sp>
      <p:sp>
        <p:nvSpPr>
          <p:cNvPr id="36" name="Shape 34"/>
          <p:cNvSpPr/>
          <p:nvPr/>
        </p:nvSpPr>
        <p:spPr>
          <a:xfrm>
            <a:off x="1161288" y="2441448"/>
            <a:ext cx="54864" cy="54864"/>
          </a:xfrm>
          <a:prstGeom prst="ellipse">
            <a:avLst/>
          </a:prstGeom>
          <a:solidFill>
            <a:srgbClr val="FFFFFF"/>
          </a:solidFill>
          <a:ln w="7620">
            <a:solidFill>
              <a:srgbClr val="5B9BD5"/>
            </a:solidFill>
            <a:prstDash val="solid"/>
          </a:ln>
        </p:spPr>
      </p:sp>
      <p:sp>
        <p:nvSpPr>
          <p:cNvPr id="37" name="Shape 35"/>
          <p:cNvSpPr/>
          <p:nvPr/>
        </p:nvSpPr>
        <p:spPr>
          <a:xfrm>
            <a:off x="1389888" y="2350008"/>
            <a:ext cx="54864" cy="54864"/>
          </a:xfrm>
          <a:prstGeom prst="ellipse">
            <a:avLst/>
          </a:prstGeom>
          <a:solidFill>
            <a:srgbClr val="FFFFFF"/>
          </a:solidFill>
          <a:ln w="7620">
            <a:solidFill>
              <a:srgbClr val="5B9BD5"/>
            </a:solidFill>
            <a:prstDash val="solid"/>
          </a:ln>
        </p:spPr>
      </p:sp>
      <p:sp>
        <p:nvSpPr>
          <p:cNvPr id="38" name="Shape 36"/>
          <p:cNvSpPr/>
          <p:nvPr/>
        </p:nvSpPr>
        <p:spPr>
          <a:xfrm>
            <a:off x="1618488" y="2459736"/>
            <a:ext cx="54864" cy="54864"/>
          </a:xfrm>
          <a:prstGeom prst="ellipse">
            <a:avLst/>
          </a:prstGeom>
          <a:solidFill>
            <a:srgbClr val="FFFFFF"/>
          </a:solidFill>
          <a:ln w="7620">
            <a:solidFill>
              <a:srgbClr val="5B9BD5"/>
            </a:solidFill>
            <a:prstDash val="solid"/>
          </a:ln>
        </p:spPr>
      </p:sp>
      <p:sp>
        <p:nvSpPr>
          <p:cNvPr id="39" name="Shape 37"/>
          <p:cNvSpPr/>
          <p:nvPr/>
        </p:nvSpPr>
        <p:spPr>
          <a:xfrm>
            <a:off x="1298448" y="2258568"/>
            <a:ext cx="54864" cy="54864"/>
          </a:xfrm>
          <a:prstGeom prst="ellipse">
            <a:avLst/>
          </a:prstGeom>
          <a:solidFill>
            <a:srgbClr val="FFFFFF"/>
          </a:solidFill>
          <a:ln w="7620">
            <a:solidFill>
              <a:srgbClr val="5B9BD5"/>
            </a:solidFill>
            <a:prstDash val="solid"/>
          </a:ln>
        </p:spPr>
      </p:sp>
      <p:sp>
        <p:nvSpPr>
          <p:cNvPr id="40" name="Shape 38"/>
          <p:cNvSpPr/>
          <p:nvPr/>
        </p:nvSpPr>
        <p:spPr>
          <a:xfrm flipH="1">
            <a:off x="1508760" y="1554480"/>
            <a:ext cx="457200" cy="320040"/>
          </a:xfrm>
          <a:prstGeom prst="line">
            <a:avLst/>
          </a:prstGeom>
          <a:noFill/>
          <a:ln w="31750">
            <a:solidFill>
              <a:srgbClr val="9AA3B0"/>
            </a:solidFill>
            <a:prstDash val="solid"/>
          </a:ln>
        </p:spPr>
      </p:sp>
      <p:sp>
        <p:nvSpPr>
          <p:cNvPr id="41" name="Text 39"/>
          <p:cNvSpPr/>
          <p:nvPr/>
        </p:nvSpPr>
        <p:spPr>
          <a:xfrm>
            <a:off x="2011680" y="1600200"/>
            <a:ext cx="1097280" cy="777240"/>
          </a:xfrm>
          <a:prstGeom prst="rect">
            <a:avLst/>
          </a:prstGeom>
          <a:noFill/>
          <a:ln/>
        </p:spPr>
        <p:txBody>
          <a:bodyPr wrap="square" lIns="0" tIns="0" rIns="0" bIns="0" rtlCol="0" anchor="t"/>
          <a:lstStyle/>
          <a:p>
            <a:pPr algn="l" indent="0" marL="0">
              <a:buNone/>
            </a:pPr>
            <a:r>
              <a:rPr lang="en-US" sz="1000" dirty="0">
                <a:solidFill>
                  <a:srgbClr val="262B3A"/>
                </a:solidFill>
                <a:latin typeface="Calibri" pitchFamily="34" charset="0"/>
                <a:ea typeface="Calibri" pitchFamily="34" charset="-122"/>
                <a:cs typeface="Calibri" pitchFamily="34" charset="-120"/>
              </a:rPr>
              <a:t>add </a:t>
            </a:r>
            <a:r>
              <a:rPr lang="en-US" sz="1000" b="1" dirty="0">
                <a:solidFill>
                  <a:srgbClr val="262B3A"/>
                </a:solidFill>
                <a:latin typeface="Calibri" pitchFamily="34" charset="0"/>
                <a:ea typeface="Calibri" pitchFamily="34" charset="-122"/>
                <a:cs typeface="Calibri" pitchFamily="34" charset="-120"/>
              </a:rPr>
              <a:t>MgCO₃</a:t>
            </a:r>
            <a:r>
              <a:rPr lang="en-US" sz="1000" dirty="0">
                <a:solidFill>
                  <a:srgbClr val="262B3A"/>
                </a:solidFill>
                <a:latin typeface="Calibri" pitchFamily="34" charset="0"/>
                <a:ea typeface="Calibri" pitchFamily="34" charset="-122"/>
                <a:cs typeface="Calibri" pitchFamily="34" charset="-120"/>
              </a:rPr>
              <a:t> until </a:t>
            </a:r>
            <a:r>
              <a:rPr lang="en-US" sz="1000" b="1" dirty="0">
                <a:solidFill>
                  <a:srgbClr val="262B3A"/>
                </a:solidFill>
                <a:latin typeface="Calibri" pitchFamily="34" charset="0"/>
                <a:ea typeface="Calibri" pitchFamily="34" charset="-122"/>
                <a:cs typeface="Calibri" pitchFamily="34" charset="-120"/>
              </a:rPr>
              <a:t>no more fizzing</a:t>
            </a:r>
            <a:r>
              <a:rPr lang="en-US" sz="1000" dirty="0">
                <a:solidFill>
                  <a:srgbClr val="262B3A"/>
                </a:solidFill>
                <a:latin typeface="Calibri" pitchFamily="34" charset="0"/>
                <a:ea typeface="Calibri" pitchFamily="34" charset="-122"/>
                <a:cs typeface="Calibri" pitchFamily="34" charset="-120"/>
              </a:rPr>
              <a:t> and some is left</a:t>
            </a:r>
            <a:endParaRPr lang="en-US" sz="1000" dirty="0"/>
          </a:p>
        </p:txBody>
      </p:sp>
      <p:sp>
        <p:nvSpPr>
          <p:cNvPr id="42" name="Text 40"/>
          <p:cNvSpPr/>
          <p:nvPr/>
        </p:nvSpPr>
        <p:spPr>
          <a:xfrm>
            <a:off x="685800" y="2761488"/>
            <a:ext cx="2377440" cy="228600"/>
          </a:xfrm>
          <a:prstGeom prst="rect">
            <a:avLst/>
          </a:prstGeom>
          <a:noFill/>
          <a:ln/>
        </p:spPr>
        <p:txBody>
          <a:bodyPr wrap="square" lIns="0" tIns="0" rIns="0" bIns="0" rtlCol="0" anchor="ctr"/>
          <a:lstStyle/>
          <a:p>
            <a:pPr algn="ctr" indent="0" marL="0">
              <a:buNone/>
            </a:pPr>
            <a:r>
              <a:rPr lang="en-US" sz="1000" i="1" dirty="0">
                <a:solidFill>
                  <a:srgbClr val="262B3A"/>
                </a:solidFill>
                <a:latin typeface="Calibri" pitchFamily="34" charset="0"/>
                <a:ea typeface="Calibri" pitchFamily="34" charset="-122"/>
                <a:cs typeface="Calibri" pitchFamily="34" charset="-120"/>
              </a:rPr>
              <a:t>25 cm³ dilute sulfuric acid</a:t>
            </a:r>
            <a:endParaRPr lang="en-US" sz="1000" dirty="0"/>
          </a:p>
        </p:txBody>
      </p:sp>
      <p:sp>
        <p:nvSpPr>
          <p:cNvPr id="43" name="Shape 41"/>
          <p:cNvSpPr/>
          <p:nvPr/>
        </p:nvSpPr>
        <p:spPr>
          <a:xfrm>
            <a:off x="3611880" y="1645920"/>
            <a:ext cx="822960" cy="457200"/>
          </a:xfrm>
          <a:custGeom>
            <a:avLst/>
            <a:gdLst/>
            <a:ahLst/>
            <a:cxnLst/>
            <a:rect l="l" t="t" r="r" b="b"/>
            <a:pathLst>
              <a:path w="822960" h="457200">
                <a:moveTo>
                  <a:pt x="0" y="0"/>
                </a:moveTo>
                <a:lnTo>
                  <a:pt x="822960" y="0"/>
                </a:lnTo>
                <a:lnTo>
                  <a:pt x="457200" y="457200"/>
                </a:lnTo>
                <a:lnTo>
                  <a:pt x="365760" y="457200"/>
                </a:lnTo>
                <a:close/>
              </a:path>
            </a:pathLst>
          </a:custGeom>
          <a:solidFill>
            <a:srgbClr val="EEF5FB"/>
          </a:solidFill>
          <a:ln w="19050">
            <a:solidFill>
              <a:srgbClr val="2A1F3D"/>
            </a:solidFill>
            <a:prstDash val="solid"/>
          </a:ln>
        </p:spPr>
      </p:sp>
      <p:sp>
        <p:nvSpPr>
          <p:cNvPr id="44" name="Shape 42"/>
          <p:cNvSpPr/>
          <p:nvPr/>
        </p:nvSpPr>
        <p:spPr>
          <a:xfrm>
            <a:off x="3977640" y="2103120"/>
            <a:ext cx="91440" cy="228600"/>
          </a:xfrm>
          <a:prstGeom prst="rect">
            <a:avLst/>
          </a:prstGeom>
          <a:solidFill>
            <a:srgbClr val="EEF5FB"/>
          </a:solidFill>
          <a:ln w="15875">
            <a:solidFill>
              <a:srgbClr val="2A1F3D"/>
            </a:solidFill>
            <a:prstDash val="solid"/>
          </a:ln>
        </p:spPr>
      </p:sp>
      <p:sp>
        <p:nvSpPr>
          <p:cNvPr id="45" name="Shape 43"/>
          <p:cNvSpPr/>
          <p:nvPr/>
        </p:nvSpPr>
        <p:spPr>
          <a:xfrm>
            <a:off x="3675888" y="1673352"/>
            <a:ext cx="694944" cy="448056"/>
          </a:xfrm>
          <a:custGeom>
            <a:avLst/>
            <a:gdLst/>
            <a:ahLst/>
            <a:cxnLst/>
            <a:rect l="l" t="t" r="r" b="b"/>
            <a:pathLst>
              <a:path w="694944" h="448056">
                <a:moveTo>
                  <a:pt x="0" y="0"/>
                </a:moveTo>
                <a:lnTo>
                  <a:pt x="694944" y="0"/>
                </a:lnTo>
                <a:lnTo>
                  <a:pt x="347472" y="448056"/>
                </a:lnTo>
                <a:close/>
              </a:path>
            </a:pathLst>
          </a:custGeom>
          <a:solidFill>
            <a:srgbClr val="FFFFFF"/>
          </a:solidFill>
          <a:ln w="9525">
            <a:solidFill>
              <a:srgbClr val="9AA3B0"/>
            </a:solidFill>
            <a:prstDash val="solid"/>
          </a:ln>
        </p:spPr>
      </p:sp>
      <p:sp>
        <p:nvSpPr>
          <p:cNvPr id="46" name="Shape 44"/>
          <p:cNvSpPr/>
          <p:nvPr/>
        </p:nvSpPr>
        <p:spPr>
          <a:xfrm>
            <a:off x="3877422" y="1911096"/>
            <a:ext cx="291876" cy="192024"/>
          </a:xfrm>
          <a:custGeom>
            <a:avLst/>
            <a:gdLst/>
            <a:ahLst/>
            <a:cxnLst/>
            <a:rect l="l" t="t" r="r" b="b"/>
            <a:pathLst>
              <a:path w="291876" h="192024">
                <a:moveTo>
                  <a:pt x="0" y="0"/>
                </a:moveTo>
                <a:lnTo>
                  <a:pt x="291876" y="0"/>
                </a:lnTo>
                <a:lnTo>
                  <a:pt x="145938" y="192024"/>
                </a:lnTo>
                <a:close/>
              </a:path>
            </a:pathLst>
          </a:custGeom>
          <a:solidFill>
            <a:srgbClr val="FFFFFF"/>
          </a:solidFill>
          <a:ln w="6350">
            <a:solidFill>
              <a:srgbClr val="8A8F99"/>
            </a:solidFill>
            <a:prstDash val="solid"/>
          </a:ln>
        </p:spPr>
      </p:sp>
      <p:sp>
        <p:nvSpPr>
          <p:cNvPr id="47" name="Shape 45"/>
          <p:cNvSpPr/>
          <p:nvPr/>
        </p:nvSpPr>
        <p:spPr>
          <a:xfrm>
            <a:off x="3991356" y="2363724"/>
            <a:ext cx="64008" cy="64008"/>
          </a:xfrm>
          <a:prstGeom prst="ellipse">
            <a:avLst/>
          </a:prstGeom>
          <a:solidFill>
            <a:srgbClr val="CFE4F7"/>
          </a:solidFill>
          <a:ln w="9525">
            <a:solidFill>
              <a:srgbClr val="CFE4F7"/>
            </a:solidFill>
            <a:prstDash val="solid"/>
          </a:ln>
        </p:spPr>
      </p:sp>
      <p:sp>
        <p:nvSpPr>
          <p:cNvPr id="48" name="Shape 46"/>
          <p:cNvSpPr/>
          <p:nvPr/>
        </p:nvSpPr>
        <p:spPr>
          <a:xfrm>
            <a:off x="3611880" y="2240280"/>
            <a:ext cx="822960" cy="457200"/>
          </a:xfrm>
          <a:custGeom>
            <a:avLst/>
            <a:gdLst/>
            <a:ahLst/>
            <a:cxnLst/>
            <a:rect l="l" t="t" r="r" b="b"/>
            <a:pathLst>
              <a:path w="822960" h="457200">
                <a:moveTo>
                  <a:pt x="288036" y="0"/>
                </a:moveTo>
                <a:lnTo>
                  <a:pt x="288036" y="137160"/>
                </a:lnTo>
                <a:lnTo>
                  <a:pt x="0" y="457200"/>
                </a:lnTo>
                <a:lnTo>
                  <a:pt x="822960" y="457200"/>
                </a:lnTo>
                <a:lnTo>
                  <a:pt x="534924" y="137160"/>
                </a:lnTo>
                <a:lnTo>
                  <a:pt x="534924" y="0"/>
                </a:lnTo>
                <a:close/>
              </a:path>
            </a:pathLst>
          </a:custGeom>
          <a:solidFill>
            <a:srgbClr val="EEF5FB"/>
          </a:solidFill>
          <a:ln/>
        </p:spPr>
      </p:sp>
      <p:sp>
        <p:nvSpPr>
          <p:cNvPr id="49" name="Shape 47"/>
          <p:cNvSpPr/>
          <p:nvPr/>
        </p:nvSpPr>
        <p:spPr>
          <a:xfrm>
            <a:off x="3611880" y="2569464"/>
            <a:ext cx="822960" cy="128016"/>
          </a:xfrm>
          <a:custGeom>
            <a:avLst/>
            <a:gdLst/>
            <a:ahLst/>
            <a:cxnLst/>
            <a:rect l="l" t="t" r="r" b="b"/>
            <a:pathLst>
              <a:path w="822960" h="128016">
                <a:moveTo>
                  <a:pt x="115214" y="0"/>
                </a:moveTo>
                <a:lnTo>
                  <a:pt x="0" y="128016"/>
                </a:lnTo>
                <a:lnTo>
                  <a:pt x="822960" y="128016"/>
                </a:lnTo>
                <a:lnTo>
                  <a:pt x="707746" y="0"/>
                </a:lnTo>
                <a:close/>
              </a:path>
            </a:pathLst>
          </a:custGeom>
          <a:solidFill>
            <a:srgbClr val="CFE4F7"/>
          </a:solidFill>
          <a:ln/>
        </p:spPr>
      </p:sp>
      <p:sp>
        <p:nvSpPr>
          <p:cNvPr id="50" name="Shape 48"/>
          <p:cNvSpPr/>
          <p:nvPr/>
        </p:nvSpPr>
        <p:spPr>
          <a:xfrm>
            <a:off x="3727094" y="2569464"/>
            <a:ext cx="592531" cy="91"/>
          </a:xfrm>
          <a:prstGeom prst="line">
            <a:avLst/>
          </a:prstGeom>
          <a:noFill/>
          <a:ln w="12700">
            <a:solidFill>
              <a:srgbClr val="5B9BD5"/>
            </a:solidFill>
            <a:prstDash val="solid"/>
          </a:ln>
        </p:spPr>
      </p:sp>
      <p:sp>
        <p:nvSpPr>
          <p:cNvPr id="51" name="Shape 49"/>
          <p:cNvSpPr/>
          <p:nvPr/>
        </p:nvSpPr>
        <p:spPr>
          <a:xfrm>
            <a:off x="3611880" y="2240280"/>
            <a:ext cx="822960" cy="457200"/>
          </a:xfrm>
          <a:custGeom>
            <a:avLst/>
            <a:gdLst/>
            <a:ahLst/>
            <a:cxnLst/>
            <a:rect l="l" t="t" r="r" b="b"/>
            <a:pathLst>
              <a:path w="822960" h="457200">
                <a:moveTo>
                  <a:pt x="288036" y="0"/>
                </a:moveTo>
                <a:lnTo>
                  <a:pt x="288036" y="137160"/>
                </a:lnTo>
                <a:lnTo>
                  <a:pt x="0" y="457200"/>
                </a:lnTo>
                <a:lnTo>
                  <a:pt x="822960" y="457200"/>
                </a:lnTo>
                <a:lnTo>
                  <a:pt x="534924" y="137160"/>
                </a:lnTo>
                <a:lnTo>
                  <a:pt x="534924" y="0"/>
                </a:lnTo>
              </a:path>
            </a:pathLst>
          </a:custGeom>
          <a:ln w="19050">
            <a:solidFill>
              <a:srgbClr val="2A1F3D"/>
            </a:solidFill>
            <a:prstDash val="solid"/>
          </a:ln>
        </p:spPr>
      </p:sp>
      <p:sp>
        <p:nvSpPr>
          <p:cNvPr id="52" name="Text 50"/>
          <p:cNvSpPr/>
          <p:nvPr/>
        </p:nvSpPr>
        <p:spPr>
          <a:xfrm>
            <a:off x="4572000" y="1600200"/>
            <a:ext cx="1234440" cy="411480"/>
          </a:xfrm>
          <a:prstGeom prst="rect">
            <a:avLst/>
          </a:prstGeom>
          <a:noFill/>
          <a:ln/>
        </p:spPr>
        <p:txBody>
          <a:bodyPr wrap="square" lIns="0" tIns="0" rIns="0" bIns="0" rtlCol="0" anchor="t"/>
          <a:lstStyle/>
          <a:p>
            <a:pPr algn="l" indent="0" marL="0">
              <a:buNone/>
            </a:pPr>
            <a:r>
              <a:rPr lang="en-US" sz="1000" b="1" dirty="0">
                <a:solidFill>
                  <a:srgbClr val="262B3A"/>
                </a:solidFill>
                <a:latin typeface="Calibri" pitchFamily="34" charset="0"/>
                <a:ea typeface="Calibri" pitchFamily="34" charset="-122"/>
                <a:cs typeface="Calibri" pitchFamily="34" charset="-120"/>
              </a:rPr>
              <a:t>filter</a:t>
            </a:r>
            <a:r>
              <a:rPr lang="en-US" sz="1000" dirty="0">
                <a:solidFill>
                  <a:srgbClr val="262B3A"/>
                </a:solidFill>
                <a:latin typeface="Calibri" pitchFamily="34" charset="0"/>
                <a:ea typeface="Calibri" pitchFamily="34" charset="-122"/>
                <a:cs typeface="Calibri" pitchFamily="34" charset="-120"/>
              </a:rPr>
              <a:t> off the excess MgCO₃</a:t>
            </a:r>
            <a:endParaRPr lang="en-US" sz="1000" dirty="0"/>
          </a:p>
        </p:txBody>
      </p:sp>
      <p:sp>
        <p:nvSpPr>
          <p:cNvPr id="53" name="Text 51"/>
          <p:cNvSpPr/>
          <p:nvPr/>
        </p:nvSpPr>
        <p:spPr>
          <a:xfrm>
            <a:off x="3337560" y="2761488"/>
            <a:ext cx="2377440" cy="228600"/>
          </a:xfrm>
          <a:prstGeom prst="rect">
            <a:avLst/>
          </a:prstGeom>
          <a:noFill/>
          <a:ln/>
        </p:spPr>
        <p:txBody>
          <a:bodyPr wrap="square" lIns="0" tIns="0" rIns="0" bIns="0" rtlCol="0" anchor="ctr"/>
          <a:lstStyle/>
          <a:p>
            <a:pPr algn="ctr" indent="0" marL="0">
              <a:buNone/>
            </a:pPr>
            <a:r>
              <a:rPr lang="en-US" sz="1000" i="1" dirty="0">
                <a:solidFill>
                  <a:srgbClr val="262B3A"/>
                </a:solidFill>
                <a:latin typeface="Calibri" pitchFamily="34" charset="0"/>
                <a:ea typeface="Calibri" pitchFamily="34" charset="-122"/>
                <a:cs typeface="Calibri" pitchFamily="34" charset="-120"/>
              </a:rPr>
              <a:t>filtrate: magnesium sulfate solution</a:t>
            </a:r>
            <a:endParaRPr lang="en-US" sz="1000" dirty="0"/>
          </a:p>
        </p:txBody>
      </p:sp>
      <p:sp>
        <p:nvSpPr>
          <p:cNvPr id="54" name="Shape 52"/>
          <p:cNvSpPr/>
          <p:nvPr/>
        </p:nvSpPr>
        <p:spPr>
          <a:xfrm>
            <a:off x="1188720" y="3977640"/>
            <a:ext cx="822960" cy="502920"/>
          </a:xfrm>
          <a:prstGeom prst="rect">
            <a:avLst/>
          </a:prstGeom>
          <a:solidFill>
            <a:srgbClr val="EEF5FB"/>
          </a:solidFill>
          <a:ln/>
        </p:spPr>
      </p:sp>
      <p:sp>
        <p:nvSpPr>
          <p:cNvPr id="55" name="Shape 53"/>
          <p:cNvSpPr/>
          <p:nvPr/>
        </p:nvSpPr>
        <p:spPr>
          <a:xfrm>
            <a:off x="1188720" y="4103370"/>
            <a:ext cx="822960" cy="377190"/>
          </a:xfrm>
          <a:prstGeom prst="rect">
            <a:avLst/>
          </a:prstGeom>
          <a:solidFill>
            <a:srgbClr val="CFE4F7"/>
          </a:solidFill>
          <a:ln/>
        </p:spPr>
      </p:sp>
      <p:sp>
        <p:nvSpPr>
          <p:cNvPr id="56" name="Shape 54"/>
          <p:cNvSpPr/>
          <p:nvPr/>
        </p:nvSpPr>
        <p:spPr>
          <a:xfrm>
            <a:off x="1188720" y="4103370"/>
            <a:ext cx="822960" cy="91"/>
          </a:xfrm>
          <a:prstGeom prst="line">
            <a:avLst/>
          </a:prstGeom>
          <a:noFill/>
          <a:ln w="12700">
            <a:solidFill>
              <a:srgbClr val="5B9BD5"/>
            </a:solidFill>
            <a:prstDash val="solid"/>
          </a:ln>
        </p:spPr>
      </p:sp>
      <p:sp>
        <p:nvSpPr>
          <p:cNvPr id="57" name="Shape 55"/>
          <p:cNvSpPr/>
          <p:nvPr/>
        </p:nvSpPr>
        <p:spPr>
          <a:xfrm>
            <a:off x="1188720" y="3977640"/>
            <a:ext cx="91" cy="502920"/>
          </a:xfrm>
          <a:prstGeom prst="line">
            <a:avLst/>
          </a:prstGeom>
          <a:noFill/>
          <a:ln w="19050">
            <a:solidFill>
              <a:srgbClr val="2A1F3D"/>
            </a:solidFill>
            <a:prstDash val="solid"/>
          </a:ln>
        </p:spPr>
      </p:sp>
      <p:sp>
        <p:nvSpPr>
          <p:cNvPr id="58" name="Shape 56"/>
          <p:cNvSpPr/>
          <p:nvPr/>
        </p:nvSpPr>
        <p:spPr>
          <a:xfrm>
            <a:off x="2011680" y="3977640"/>
            <a:ext cx="91" cy="502920"/>
          </a:xfrm>
          <a:prstGeom prst="line">
            <a:avLst/>
          </a:prstGeom>
          <a:noFill/>
          <a:ln w="19050">
            <a:solidFill>
              <a:srgbClr val="2A1F3D"/>
            </a:solidFill>
            <a:prstDash val="solid"/>
          </a:ln>
        </p:spPr>
      </p:sp>
      <p:sp>
        <p:nvSpPr>
          <p:cNvPr id="59" name="Shape 57"/>
          <p:cNvSpPr/>
          <p:nvPr/>
        </p:nvSpPr>
        <p:spPr>
          <a:xfrm>
            <a:off x="1188720" y="4480560"/>
            <a:ext cx="822960" cy="91"/>
          </a:xfrm>
          <a:prstGeom prst="line">
            <a:avLst/>
          </a:prstGeom>
          <a:noFill/>
          <a:ln w="19050">
            <a:solidFill>
              <a:srgbClr val="2A1F3D"/>
            </a:solidFill>
            <a:prstDash val="solid"/>
          </a:ln>
        </p:spPr>
      </p:sp>
      <p:sp>
        <p:nvSpPr>
          <p:cNvPr id="60" name="Shape 58"/>
          <p:cNvSpPr/>
          <p:nvPr/>
        </p:nvSpPr>
        <p:spPr>
          <a:xfrm>
            <a:off x="1133856" y="3977640"/>
            <a:ext cx="54864" cy="91"/>
          </a:xfrm>
          <a:prstGeom prst="line">
            <a:avLst/>
          </a:prstGeom>
          <a:noFill/>
          <a:ln w="19050">
            <a:solidFill>
              <a:srgbClr val="2A1F3D"/>
            </a:solidFill>
            <a:prstDash val="solid"/>
          </a:ln>
        </p:spPr>
      </p:sp>
      <p:sp>
        <p:nvSpPr>
          <p:cNvPr id="61" name="Shape 59"/>
          <p:cNvSpPr/>
          <p:nvPr/>
        </p:nvSpPr>
        <p:spPr>
          <a:xfrm>
            <a:off x="2011680" y="3977640"/>
            <a:ext cx="54864" cy="91"/>
          </a:xfrm>
          <a:prstGeom prst="line">
            <a:avLst/>
          </a:prstGeom>
          <a:noFill/>
          <a:ln w="19050">
            <a:solidFill>
              <a:srgbClr val="2A1F3D"/>
            </a:solidFill>
            <a:prstDash val="solid"/>
          </a:ln>
        </p:spPr>
      </p:sp>
      <p:sp>
        <p:nvSpPr>
          <p:cNvPr id="62" name="Shape 60"/>
          <p:cNvSpPr/>
          <p:nvPr/>
        </p:nvSpPr>
        <p:spPr>
          <a:xfrm>
            <a:off x="1097280" y="3794760"/>
            <a:ext cx="1005840" cy="274320"/>
          </a:xfrm>
          <a:custGeom>
            <a:avLst/>
            <a:gdLst/>
            <a:ahLst/>
            <a:cxnLst/>
            <a:rect l="l" t="t" r="r" b="b"/>
            <a:pathLst>
              <a:path w="1005840" h="274320">
                <a:moveTo>
                  <a:pt x="1005840" y="0"/>
                </a:moveTo>
                <a:lnTo>
                  <a:pt x="1001537" y="35806"/>
                </a:lnTo>
                <a:lnTo>
                  <a:pt x="988703" y="70999"/>
                </a:lnTo>
                <a:lnTo>
                  <a:pt x="967557" y="104978"/>
                </a:lnTo>
                <a:lnTo>
                  <a:pt x="938461" y="137160"/>
                </a:lnTo>
                <a:lnTo>
                  <a:pt x="901913" y="166995"/>
                </a:lnTo>
                <a:lnTo>
                  <a:pt x="858538" y="193974"/>
                </a:lnTo>
                <a:lnTo>
                  <a:pt x="809078" y="217633"/>
                </a:lnTo>
                <a:lnTo>
                  <a:pt x="754380" y="237568"/>
                </a:lnTo>
                <a:lnTo>
                  <a:pt x="695379" y="253439"/>
                </a:lnTo>
                <a:lnTo>
                  <a:pt x="633085" y="264973"/>
                </a:lnTo>
                <a:lnTo>
                  <a:pt x="568564" y="271973"/>
                </a:lnTo>
                <a:lnTo>
                  <a:pt x="502920" y="274320"/>
                </a:lnTo>
                <a:lnTo>
                  <a:pt x="437276" y="271973"/>
                </a:lnTo>
                <a:lnTo>
                  <a:pt x="372755" y="264973"/>
                </a:lnTo>
                <a:lnTo>
                  <a:pt x="310461" y="253439"/>
                </a:lnTo>
                <a:lnTo>
                  <a:pt x="251460" y="237568"/>
                </a:lnTo>
                <a:lnTo>
                  <a:pt x="196762" y="217633"/>
                </a:lnTo>
                <a:lnTo>
                  <a:pt x="147302" y="193974"/>
                </a:lnTo>
                <a:lnTo>
                  <a:pt x="103927" y="166995"/>
                </a:lnTo>
                <a:lnTo>
                  <a:pt x="67379" y="137160"/>
                </a:lnTo>
                <a:lnTo>
                  <a:pt x="38283" y="104978"/>
                </a:lnTo>
                <a:lnTo>
                  <a:pt x="17137" y="70999"/>
                </a:lnTo>
                <a:lnTo>
                  <a:pt x="4303" y="35806"/>
                </a:lnTo>
                <a:lnTo>
                  <a:pt x="0" y="0"/>
                </a:lnTo>
                <a:close/>
              </a:path>
            </a:pathLst>
          </a:custGeom>
          <a:solidFill>
            <a:srgbClr val="F4F4F4"/>
          </a:solidFill>
          <a:ln/>
        </p:spPr>
      </p:sp>
      <p:sp>
        <p:nvSpPr>
          <p:cNvPr id="63" name="Shape 61"/>
          <p:cNvSpPr/>
          <p:nvPr/>
        </p:nvSpPr>
        <p:spPr>
          <a:xfrm>
            <a:off x="1127771" y="3888824"/>
            <a:ext cx="944859" cy="180256"/>
          </a:xfrm>
          <a:custGeom>
            <a:avLst/>
            <a:gdLst/>
            <a:ahLst/>
            <a:cxnLst/>
            <a:rect l="l" t="t" r="r" b="b"/>
            <a:pathLst>
              <a:path w="944859" h="180256">
                <a:moveTo>
                  <a:pt x="944859" y="0"/>
                </a:moveTo>
                <a:lnTo>
                  <a:pt x="924902" y="25684"/>
                </a:lnTo>
                <a:lnTo>
                  <a:pt x="900267" y="50130"/>
                </a:lnTo>
                <a:lnTo>
                  <a:pt x="871208" y="73084"/>
                </a:lnTo>
                <a:lnTo>
                  <a:pt x="838025" y="94310"/>
                </a:lnTo>
                <a:lnTo>
                  <a:pt x="801062" y="113589"/>
                </a:lnTo>
                <a:lnTo>
                  <a:pt x="760700" y="130720"/>
                </a:lnTo>
                <a:lnTo>
                  <a:pt x="717357" y="145526"/>
                </a:lnTo>
                <a:lnTo>
                  <a:pt x="671482" y="157855"/>
                </a:lnTo>
                <a:lnTo>
                  <a:pt x="623548" y="167579"/>
                </a:lnTo>
                <a:lnTo>
                  <a:pt x="574052" y="174598"/>
                </a:lnTo>
                <a:lnTo>
                  <a:pt x="523505" y="178838"/>
                </a:lnTo>
                <a:lnTo>
                  <a:pt x="472429" y="180256"/>
                </a:lnTo>
                <a:lnTo>
                  <a:pt x="421354" y="178838"/>
                </a:lnTo>
                <a:lnTo>
                  <a:pt x="370807" y="174598"/>
                </a:lnTo>
                <a:lnTo>
                  <a:pt x="321310" y="167579"/>
                </a:lnTo>
                <a:lnTo>
                  <a:pt x="273377" y="157855"/>
                </a:lnTo>
                <a:lnTo>
                  <a:pt x="227501" y="145526"/>
                </a:lnTo>
                <a:lnTo>
                  <a:pt x="184159" y="130720"/>
                </a:lnTo>
                <a:lnTo>
                  <a:pt x="143797" y="113589"/>
                </a:lnTo>
                <a:lnTo>
                  <a:pt x="106834" y="94310"/>
                </a:lnTo>
                <a:lnTo>
                  <a:pt x="73651" y="73084"/>
                </a:lnTo>
                <a:lnTo>
                  <a:pt x="44591" y="50130"/>
                </a:lnTo>
                <a:lnTo>
                  <a:pt x="19956" y="25684"/>
                </a:lnTo>
                <a:lnTo>
                  <a:pt x="0" y="0"/>
                </a:lnTo>
                <a:close/>
              </a:path>
            </a:pathLst>
          </a:custGeom>
          <a:solidFill>
            <a:srgbClr val="CFE4F7"/>
          </a:solidFill>
          <a:ln/>
        </p:spPr>
      </p:sp>
      <p:sp>
        <p:nvSpPr>
          <p:cNvPr id="64" name="Shape 62"/>
          <p:cNvSpPr/>
          <p:nvPr/>
        </p:nvSpPr>
        <p:spPr>
          <a:xfrm>
            <a:off x="1097280" y="3794760"/>
            <a:ext cx="1005840" cy="274320"/>
          </a:xfrm>
          <a:custGeom>
            <a:avLst/>
            <a:gdLst/>
            <a:ahLst/>
            <a:cxnLst/>
            <a:rect l="l" t="t" r="r" b="b"/>
            <a:pathLst>
              <a:path w="1005840" h="274320">
                <a:moveTo>
                  <a:pt x="1005840" y="0"/>
                </a:moveTo>
                <a:lnTo>
                  <a:pt x="1001537" y="35806"/>
                </a:lnTo>
                <a:lnTo>
                  <a:pt x="988703" y="70999"/>
                </a:lnTo>
                <a:lnTo>
                  <a:pt x="967557" y="104978"/>
                </a:lnTo>
                <a:lnTo>
                  <a:pt x="938461" y="137160"/>
                </a:lnTo>
                <a:lnTo>
                  <a:pt x="901913" y="166995"/>
                </a:lnTo>
                <a:lnTo>
                  <a:pt x="858538" y="193974"/>
                </a:lnTo>
                <a:lnTo>
                  <a:pt x="809078" y="217633"/>
                </a:lnTo>
                <a:lnTo>
                  <a:pt x="754380" y="237568"/>
                </a:lnTo>
                <a:lnTo>
                  <a:pt x="695379" y="253439"/>
                </a:lnTo>
                <a:lnTo>
                  <a:pt x="633085" y="264973"/>
                </a:lnTo>
                <a:lnTo>
                  <a:pt x="568564" y="271973"/>
                </a:lnTo>
                <a:lnTo>
                  <a:pt x="502920" y="274320"/>
                </a:lnTo>
                <a:lnTo>
                  <a:pt x="437276" y="271973"/>
                </a:lnTo>
                <a:lnTo>
                  <a:pt x="372755" y="264973"/>
                </a:lnTo>
                <a:lnTo>
                  <a:pt x="310461" y="253439"/>
                </a:lnTo>
                <a:lnTo>
                  <a:pt x="251460" y="237568"/>
                </a:lnTo>
                <a:lnTo>
                  <a:pt x="196762" y="217633"/>
                </a:lnTo>
                <a:lnTo>
                  <a:pt x="147302" y="193974"/>
                </a:lnTo>
                <a:lnTo>
                  <a:pt x="103927" y="166995"/>
                </a:lnTo>
                <a:lnTo>
                  <a:pt x="67379" y="137160"/>
                </a:lnTo>
                <a:lnTo>
                  <a:pt x="38283" y="104978"/>
                </a:lnTo>
                <a:lnTo>
                  <a:pt x="17137" y="70999"/>
                </a:lnTo>
                <a:lnTo>
                  <a:pt x="4303" y="35806"/>
                </a:lnTo>
                <a:lnTo>
                  <a:pt x="0" y="0"/>
                </a:lnTo>
              </a:path>
            </a:pathLst>
          </a:custGeom>
          <a:ln w="19050">
            <a:solidFill>
              <a:srgbClr val="2A1F3D"/>
            </a:solidFill>
            <a:prstDash val="solid"/>
          </a:ln>
        </p:spPr>
      </p:sp>
      <p:sp>
        <p:nvSpPr>
          <p:cNvPr id="65" name="Shape 63"/>
          <p:cNvSpPr/>
          <p:nvPr/>
        </p:nvSpPr>
        <p:spPr>
          <a:xfrm>
            <a:off x="1097280" y="3794760"/>
            <a:ext cx="1005840" cy="91"/>
          </a:xfrm>
          <a:prstGeom prst="line">
            <a:avLst/>
          </a:prstGeom>
          <a:noFill/>
          <a:ln w="19050">
            <a:solidFill>
              <a:srgbClr val="2A1F3D"/>
            </a:solidFill>
            <a:prstDash val="solid"/>
          </a:ln>
        </p:spPr>
      </p:sp>
      <p:sp>
        <p:nvSpPr>
          <p:cNvPr id="66" name="Shape 64"/>
          <p:cNvSpPr/>
          <p:nvPr/>
        </p:nvSpPr>
        <p:spPr>
          <a:xfrm flipV="1">
            <a:off x="1417320" y="3456432"/>
            <a:ext cx="45720" cy="246888"/>
          </a:xfrm>
          <a:prstGeom prst="line">
            <a:avLst/>
          </a:prstGeom>
          <a:noFill/>
          <a:ln w="15875">
            <a:solidFill>
              <a:srgbClr val="B0B8C4"/>
            </a:solidFill>
            <a:prstDash val="sysDot"/>
          </a:ln>
        </p:spPr>
      </p:sp>
      <p:sp>
        <p:nvSpPr>
          <p:cNvPr id="67" name="Shape 65"/>
          <p:cNvSpPr/>
          <p:nvPr/>
        </p:nvSpPr>
        <p:spPr>
          <a:xfrm flipV="1">
            <a:off x="1600200" y="3456432"/>
            <a:ext cx="45720" cy="246888"/>
          </a:xfrm>
          <a:prstGeom prst="line">
            <a:avLst/>
          </a:prstGeom>
          <a:noFill/>
          <a:ln w="15875">
            <a:solidFill>
              <a:srgbClr val="B0B8C4"/>
            </a:solidFill>
            <a:prstDash val="sysDot"/>
          </a:ln>
        </p:spPr>
      </p:sp>
      <p:sp>
        <p:nvSpPr>
          <p:cNvPr id="68" name="Shape 66"/>
          <p:cNvSpPr/>
          <p:nvPr/>
        </p:nvSpPr>
        <p:spPr>
          <a:xfrm flipV="1">
            <a:off x="1783080" y="3456432"/>
            <a:ext cx="45720" cy="246888"/>
          </a:xfrm>
          <a:prstGeom prst="line">
            <a:avLst/>
          </a:prstGeom>
          <a:noFill/>
          <a:ln w="15875">
            <a:solidFill>
              <a:srgbClr val="B0B8C4"/>
            </a:solidFill>
            <a:prstDash val="sysDot"/>
          </a:ln>
        </p:spPr>
      </p:sp>
      <p:sp>
        <p:nvSpPr>
          <p:cNvPr id="69" name="Text 67"/>
          <p:cNvSpPr/>
          <p:nvPr/>
        </p:nvSpPr>
        <p:spPr>
          <a:xfrm>
            <a:off x="2148840" y="3429000"/>
            <a:ext cx="960120" cy="548640"/>
          </a:xfrm>
          <a:prstGeom prst="rect">
            <a:avLst/>
          </a:prstGeom>
          <a:noFill/>
          <a:ln/>
        </p:spPr>
        <p:txBody>
          <a:bodyPr wrap="square" lIns="0" tIns="0" rIns="0" bIns="0" rtlCol="0" anchor="t"/>
          <a:lstStyle/>
          <a:p>
            <a:pPr algn="l" indent="0" marL="0">
              <a:buNone/>
            </a:pPr>
            <a:r>
              <a:rPr lang="en-US" sz="1000" dirty="0">
                <a:solidFill>
                  <a:srgbClr val="262B3A"/>
                </a:solidFill>
                <a:latin typeface="Calibri" pitchFamily="34" charset="0"/>
                <a:ea typeface="Calibri" pitchFamily="34" charset="-122"/>
                <a:cs typeface="Calibri" pitchFamily="34" charset="-120"/>
              </a:rPr>
              <a:t>heat to the </a:t>
            </a:r>
            <a:r>
              <a:rPr lang="en-US" sz="1000" b="1" dirty="0">
                <a:solidFill>
                  <a:srgbClr val="262B3A"/>
                </a:solidFill>
                <a:latin typeface="Calibri" pitchFamily="34" charset="0"/>
                <a:ea typeface="Calibri" pitchFamily="34" charset="-122"/>
                <a:cs typeface="Calibri" pitchFamily="34" charset="-120"/>
              </a:rPr>
              <a:t>crystallisation point</a:t>
            </a:r>
            <a:endParaRPr lang="en-US" sz="1000" dirty="0"/>
          </a:p>
        </p:txBody>
      </p:sp>
      <p:sp>
        <p:nvSpPr>
          <p:cNvPr id="70" name="Text 68"/>
          <p:cNvSpPr/>
          <p:nvPr/>
        </p:nvSpPr>
        <p:spPr>
          <a:xfrm>
            <a:off x="685800" y="4544568"/>
            <a:ext cx="2377440" cy="228600"/>
          </a:xfrm>
          <a:prstGeom prst="rect">
            <a:avLst/>
          </a:prstGeom>
          <a:noFill/>
          <a:ln/>
        </p:spPr>
        <p:txBody>
          <a:bodyPr wrap="square" lIns="0" tIns="0" rIns="0" bIns="0" rtlCol="0" anchor="ctr"/>
          <a:lstStyle/>
          <a:p>
            <a:pPr algn="ctr" indent="0" marL="0">
              <a:buNone/>
            </a:pPr>
            <a:r>
              <a:rPr lang="en-US" sz="1000" i="1" dirty="0">
                <a:solidFill>
                  <a:srgbClr val="262B3A"/>
                </a:solidFill>
                <a:latin typeface="Calibri" pitchFamily="34" charset="0"/>
                <a:ea typeface="Calibri" pitchFamily="34" charset="-122"/>
                <a:cs typeface="Calibri" pitchFamily="34" charset="-120"/>
              </a:rPr>
              <a:t>on a water bath</a:t>
            </a:r>
            <a:endParaRPr lang="en-US" sz="1000" dirty="0"/>
          </a:p>
        </p:txBody>
      </p:sp>
      <p:sp>
        <p:nvSpPr>
          <p:cNvPr id="71" name="Shape 69"/>
          <p:cNvSpPr/>
          <p:nvPr/>
        </p:nvSpPr>
        <p:spPr>
          <a:xfrm>
            <a:off x="3429000" y="3977640"/>
            <a:ext cx="1188720" cy="274320"/>
          </a:xfrm>
          <a:prstGeom prst="ellipse">
            <a:avLst/>
          </a:prstGeom>
          <a:solidFill>
            <a:srgbClr val="F4F4F4"/>
          </a:solidFill>
          <a:ln w="12700">
            <a:solidFill>
              <a:srgbClr val="7D8794"/>
            </a:solidFill>
            <a:prstDash val="solid"/>
          </a:ln>
        </p:spPr>
      </p:sp>
      <p:sp>
        <p:nvSpPr>
          <p:cNvPr id="72" name="Shape 70"/>
          <p:cNvSpPr/>
          <p:nvPr/>
        </p:nvSpPr>
        <p:spPr>
          <a:xfrm>
            <a:off x="3565839" y="3989757"/>
            <a:ext cx="274962" cy="158646"/>
          </a:xfrm>
          <a:custGeom>
            <a:avLst/>
            <a:gdLst/>
            <a:ahLst/>
            <a:cxnLst/>
            <a:rect l="l" t="t" r="r" b="b"/>
            <a:pathLst>
              <a:path w="274962" h="158646">
                <a:moveTo>
                  <a:pt x="39851" y="0"/>
                </a:moveTo>
                <a:lnTo>
                  <a:pt x="263257" y="81313"/>
                </a:lnTo>
                <a:lnTo>
                  <a:pt x="274962" y="129362"/>
                </a:lnTo>
                <a:lnTo>
                  <a:pt x="235110" y="158646"/>
                </a:lnTo>
                <a:lnTo>
                  <a:pt x="11704" y="77333"/>
                </a:lnTo>
                <a:lnTo>
                  <a:pt x="0" y="29284"/>
                </a:lnTo>
                <a:close/>
              </a:path>
            </a:pathLst>
          </a:custGeom>
          <a:solidFill>
            <a:srgbClr val="E9EEF5"/>
          </a:solidFill>
          <a:ln w="9525">
            <a:solidFill>
              <a:srgbClr val="8A97AB"/>
            </a:solidFill>
            <a:prstDash val="solid"/>
          </a:ln>
        </p:spPr>
      </p:sp>
      <p:sp>
        <p:nvSpPr>
          <p:cNvPr id="73" name="Shape 71"/>
          <p:cNvSpPr/>
          <p:nvPr/>
        </p:nvSpPr>
        <p:spPr>
          <a:xfrm>
            <a:off x="3805217" y="3946577"/>
            <a:ext cx="253406" cy="190142"/>
          </a:xfrm>
          <a:custGeom>
            <a:avLst/>
            <a:gdLst/>
            <a:ahLst/>
            <a:cxnLst/>
            <a:rect l="l" t="t" r="r" b="b"/>
            <a:pathLst>
              <a:path w="253406" h="190142">
                <a:moveTo>
                  <a:pt x="3183" y="118872"/>
                </a:moveTo>
                <a:lnTo>
                  <a:pt x="209075" y="0"/>
                </a:lnTo>
                <a:lnTo>
                  <a:pt x="253406" y="21919"/>
                </a:lnTo>
                <a:lnTo>
                  <a:pt x="250223" y="71270"/>
                </a:lnTo>
                <a:lnTo>
                  <a:pt x="44331" y="190142"/>
                </a:lnTo>
                <a:lnTo>
                  <a:pt x="0" y="168223"/>
                </a:lnTo>
                <a:close/>
              </a:path>
            </a:pathLst>
          </a:custGeom>
          <a:solidFill>
            <a:srgbClr val="E9EEF5"/>
          </a:solidFill>
          <a:ln w="9525">
            <a:solidFill>
              <a:srgbClr val="8A97AB"/>
            </a:solidFill>
            <a:prstDash val="solid"/>
          </a:ln>
        </p:spPr>
      </p:sp>
      <p:sp>
        <p:nvSpPr>
          <p:cNvPr id="74" name="Shape 72"/>
          <p:cNvSpPr/>
          <p:nvPr/>
        </p:nvSpPr>
        <p:spPr>
          <a:xfrm>
            <a:off x="4016439" y="4026203"/>
            <a:ext cx="288163" cy="122330"/>
          </a:xfrm>
          <a:custGeom>
            <a:avLst/>
            <a:gdLst/>
            <a:ahLst/>
            <a:cxnLst/>
            <a:rect l="l" t="t" r="r" b="b"/>
            <a:pathLst>
              <a:path w="288163" h="122330">
                <a:moveTo>
                  <a:pt x="34161" y="0"/>
                </a:moveTo>
                <a:lnTo>
                  <a:pt x="268293" y="41284"/>
                </a:lnTo>
                <a:lnTo>
                  <a:pt x="288163" y="86570"/>
                </a:lnTo>
                <a:lnTo>
                  <a:pt x="254002" y="122330"/>
                </a:lnTo>
                <a:lnTo>
                  <a:pt x="19870" y="81046"/>
                </a:lnTo>
                <a:lnTo>
                  <a:pt x="0" y="35759"/>
                </a:lnTo>
                <a:close/>
              </a:path>
            </a:pathLst>
          </a:custGeom>
          <a:solidFill>
            <a:srgbClr val="E9EEF5"/>
          </a:solidFill>
          <a:ln w="9525">
            <a:solidFill>
              <a:srgbClr val="8A97AB"/>
            </a:solidFill>
            <a:prstDash val="solid"/>
          </a:ln>
        </p:spPr>
      </p:sp>
      <p:sp>
        <p:nvSpPr>
          <p:cNvPr id="75" name="Shape 73"/>
          <p:cNvSpPr/>
          <p:nvPr/>
        </p:nvSpPr>
        <p:spPr>
          <a:xfrm>
            <a:off x="4229513" y="3980280"/>
            <a:ext cx="282638" cy="141025"/>
          </a:xfrm>
          <a:custGeom>
            <a:avLst/>
            <a:gdLst/>
            <a:ahLst/>
            <a:cxnLst/>
            <a:rect l="l" t="t" r="r" b="b"/>
            <a:pathLst>
              <a:path w="282638" h="141025">
                <a:moveTo>
                  <a:pt x="15847" y="61533"/>
                </a:moveTo>
                <a:lnTo>
                  <a:pt x="245490" y="0"/>
                </a:lnTo>
                <a:lnTo>
                  <a:pt x="282638" y="32646"/>
                </a:lnTo>
                <a:lnTo>
                  <a:pt x="266790" y="79492"/>
                </a:lnTo>
                <a:lnTo>
                  <a:pt x="37147" y="141025"/>
                </a:lnTo>
                <a:lnTo>
                  <a:pt x="0" y="108379"/>
                </a:lnTo>
                <a:close/>
              </a:path>
            </a:pathLst>
          </a:custGeom>
          <a:solidFill>
            <a:srgbClr val="E9EEF5"/>
          </a:solidFill>
          <a:ln w="9525">
            <a:solidFill>
              <a:srgbClr val="8A97AB"/>
            </a:solidFill>
            <a:prstDash val="solid"/>
          </a:ln>
        </p:spPr>
      </p:sp>
      <p:sp>
        <p:nvSpPr>
          <p:cNvPr id="76" name="Shape 74"/>
          <p:cNvSpPr/>
          <p:nvPr/>
        </p:nvSpPr>
        <p:spPr>
          <a:xfrm>
            <a:off x="3745409" y="4033817"/>
            <a:ext cx="190142" cy="253406"/>
          </a:xfrm>
          <a:custGeom>
            <a:avLst/>
            <a:gdLst/>
            <a:ahLst/>
            <a:cxnLst/>
            <a:rect l="l" t="t" r="r" b="b"/>
            <a:pathLst>
              <a:path w="190142" h="253406">
                <a:moveTo>
                  <a:pt x="71270" y="3183"/>
                </a:moveTo>
                <a:lnTo>
                  <a:pt x="190142" y="209075"/>
                </a:lnTo>
                <a:lnTo>
                  <a:pt x="168223" y="253406"/>
                </a:lnTo>
                <a:lnTo>
                  <a:pt x="118872" y="250223"/>
                </a:lnTo>
                <a:lnTo>
                  <a:pt x="0" y="44331"/>
                </a:lnTo>
                <a:lnTo>
                  <a:pt x="21919" y="0"/>
                </a:lnTo>
                <a:close/>
              </a:path>
            </a:pathLst>
          </a:custGeom>
          <a:solidFill>
            <a:srgbClr val="E9EEF5"/>
          </a:solidFill>
          <a:ln w="9525">
            <a:solidFill>
              <a:srgbClr val="8A97AB"/>
            </a:solidFill>
            <a:prstDash val="solid"/>
          </a:ln>
        </p:spPr>
      </p:sp>
      <p:sp>
        <p:nvSpPr>
          <p:cNvPr id="77" name="Shape 75"/>
          <p:cNvSpPr/>
          <p:nvPr/>
        </p:nvSpPr>
        <p:spPr>
          <a:xfrm>
            <a:off x="4129457" y="4033817"/>
            <a:ext cx="190142" cy="253406"/>
          </a:xfrm>
          <a:custGeom>
            <a:avLst/>
            <a:gdLst/>
            <a:ahLst/>
            <a:cxnLst/>
            <a:rect l="l" t="t" r="r" b="b"/>
            <a:pathLst>
              <a:path w="190142" h="253406">
                <a:moveTo>
                  <a:pt x="0" y="209075"/>
                </a:moveTo>
                <a:lnTo>
                  <a:pt x="118872" y="3183"/>
                </a:lnTo>
                <a:lnTo>
                  <a:pt x="168223" y="0"/>
                </a:lnTo>
                <a:lnTo>
                  <a:pt x="190142" y="44331"/>
                </a:lnTo>
                <a:lnTo>
                  <a:pt x="71270" y="250223"/>
                </a:lnTo>
                <a:lnTo>
                  <a:pt x="21919" y="253406"/>
                </a:lnTo>
                <a:close/>
              </a:path>
            </a:pathLst>
          </a:custGeom>
          <a:solidFill>
            <a:srgbClr val="E9EEF5"/>
          </a:solidFill>
          <a:ln w="9525">
            <a:solidFill>
              <a:srgbClr val="8A97AB"/>
            </a:solidFill>
            <a:prstDash val="solid"/>
          </a:ln>
        </p:spPr>
      </p:sp>
      <p:sp>
        <p:nvSpPr>
          <p:cNvPr id="78" name="Text 76"/>
          <p:cNvSpPr/>
          <p:nvPr/>
        </p:nvSpPr>
        <p:spPr>
          <a:xfrm>
            <a:off x="4709160" y="3429000"/>
            <a:ext cx="1097280" cy="685800"/>
          </a:xfrm>
          <a:prstGeom prst="rect">
            <a:avLst/>
          </a:prstGeom>
          <a:noFill/>
          <a:ln/>
        </p:spPr>
        <p:txBody>
          <a:bodyPr wrap="square" lIns="0" tIns="0" rIns="0" bIns="0" rtlCol="0" anchor="t"/>
          <a:lstStyle/>
          <a:p>
            <a:pPr algn="l" indent="0" marL="0">
              <a:buNone/>
            </a:pPr>
            <a:r>
              <a:rPr lang="en-US" sz="1000" dirty="0">
                <a:solidFill>
                  <a:srgbClr val="262B3A"/>
                </a:solidFill>
                <a:latin typeface="Calibri" pitchFamily="34" charset="0"/>
                <a:ea typeface="Calibri" pitchFamily="34" charset="-122"/>
                <a:cs typeface="Calibri" pitchFamily="34" charset="-120"/>
              </a:rPr>
              <a:t>cool, </a:t>
            </a:r>
            <a:r>
              <a:rPr lang="en-US" sz="1000" b="1" dirty="0">
                <a:solidFill>
                  <a:srgbClr val="262B3A"/>
                </a:solidFill>
                <a:latin typeface="Calibri" pitchFamily="34" charset="0"/>
                <a:ea typeface="Calibri" pitchFamily="34" charset="-122"/>
                <a:cs typeface="Calibri" pitchFamily="34" charset="-120"/>
              </a:rPr>
              <a:t>filter</a:t>
            </a:r>
            <a:r>
              <a:rPr lang="en-US" sz="1000" dirty="0">
                <a:solidFill>
                  <a:srgbClr val="262B3A"/>
                </a:solidFill>
                <a:latin typeface="Calibri" pitchFamily="34" charset="0"/>
                <a:ea typeface="Calibri" pitchFamily="34" charset="-122"/>
                <a:cs typeface="Calibri" pitchFamily="34" charset="-120"/>
              </a:rPr>
              <a:t>, dry between filter papers</a:t>
            </a:r>
            <a:endParaRPr lang="en-US" sz="1000" dirty="0"/>
          </a:p>
        </p:txBody>
      </p:sp>
      <p:sp>
        <p:nvSpPr>
          <p:cNvPr id="79" name="Text 77"/>
          <p:cNvSpPr/>
          <p:nvPr/>
        </p:nvSpPr>
        <p:spPr>
          <a:xfrm>
            <a:off x="3337560" y="4544568"/>
            <a:ext cx="2377440" cy="228600"/>
          </a:xfrm>
          <a:prstGeom prst="rect">
            <a:avLst/>
          </a:prstGeom>
          <a:noFill/>
          <a:ln/>
        </p:spPr>
        <p:txBody>
          <a:bodyPr wrap="square" lIns="0" tIns="0" rIns="0" bIns="0" rtlCol="0" anchor="ctr"/>
          <a:lstStyle/>
          <a:p>
            <a:pPr algn="ctr" indent="0" marL="0">
              <a:buNone/>
            </a:pPr>
            <a:r>
              <a:rPr lang="en-US" sz="1000" i="1" dirty="0">
                <a:solidFill>
                  <a:srgbClr val="262B3A"/>
                </a:solidFill>
                <a:latin typeface="Calibri" pitchFamily="34" charset="0"/>
                <a:ea typeface="Calibri" pitchFamily="34" charset="-122"/>
                <a:cs typeface="Calibri" pitchFamily="34" charset="-120"/>
              </a:rPr>
              <a:t>colourless crystals of MgSO₄·7H₂O</a:t>
            </a:r>
            <a:endParaRPr lang="en-US" sz="1000" dirty="0"/>
          </a:p>
        </p:txBody>
      </p:sp>
      <p:sp>
        <p:nvSpPr>
          <p:cNvPr id="80" name="Shape 78"/>
          <p:cNvSpPr/>
          <p:nvPr/>
        </p:nvSpPr>
        <p:spPr>
          <a:xfrm>
            <a:off x="594360" y="4937760"/>
            <a:ext cx="5212080" cy="384048"/>
          </a:xfrm>
          <a:prstGeom prst="roundRect">
            <a:avLst>
              <a:gd name="adj" fmla="val 11905"/>
            </a:avLst>
          </a:prstGeom>
          <a:solidFill>
            <a:srgbClr val="FFFFFF"/>
          </a:solidFill>
          <a:ln w="12700">
            <a:solidFill>
              <a:srgbClr val="DDD3EC"/>
            </a:solidFill>
            <a:prstDash val="solid"/>
          </a:ln>
        </p:spPr>
      </p:sp>
      <p:sp>
        <p:nvSpPr>
          <p:cNvPr id="81" name="Text 79"/>
          <p:cNvSpPr/>
          <p:nvPr/>
        </p:nvSpPr>
        <p:spPr>
          <a:xfrm>
            <a:off x="667512" y="4937760"/>
            <a:ext cx="5065776" cy="384048"/>
          </a:xfrm>
          <a:prstGeom prst="rect">
            <a:avLst/>
          </a:prstGeom>
          <a:noFill/>
          <a:ln/>
        </p:spPr>
        <p:txBody>
          <a:bodyPr wrap="square" lIns="0" tIns="0" rIns="0" bIns="0" rtlCol="0" anchor="ctr"/>
          <a:lstStyle/>
          <a:p>
            <a:pPr algn="ctr" indent="0" marL="0">
              <a:buNone/>
            </a:pPr>
            <a:r>
              <a:rPr lang="en-US" sz="1150" b="1" dirty="0">
                <a:solidFill>
                  <a:srgbClr val="2A1F3D"/>
                </a:solidFill>
                <a:latin typeface="Calibri" pitchFamily="34" charset="0"/>
                <a:ea typeface="Calibri" pitchFamily="34" charset="-122"/>
                <a:cs typeface="Calibri" pitchFamily="34" charset="-120"/>
              </a:rPr>
              <a:t>MgCO₃(s) + H₂SO₄(aq) → MgSO₄(aq) + H₂O(l) + CO₂(g)</a:t>
            </a:r>
            <a:endParaRPr lang="en-US" sz="1150" dirty="0"/>
          </a:p>
        </p:txBody>
      </p:sp>
      <p:sp>
        <p:nvSpPr>
          <p:cNvPr id="82" name="Shape 80"/>
          <p:cNvSpPr/>
          <p:nvPr/>
        </p:nvSpPr>
        <p:spPr>
          <a:xfrm>
            <a:off x="6217920" y="1188720"/>
            <a:ext cx="5562295" cy="3200400"/>
          </a:xfrm>
          <a:prstGeom prst="roundRect">
            <a:avLst>
              <a:gd name="adj" fmla="val 1714"/>
            </a:avLst>
          </a:prstGeom>
          <a:solidFill>
            <a:srgbClr val="F8F5FC"/>
          </a:solidFill>
          <a:ln w="9525">
            <a:solidFill>
              <a:srgbClr val="DDD3EC"/>
            </a:solidFill>
            <a:prstDash val="solid"/>
          </a:ln>
        </p:spPr>
      </p:sp>
      <p:sp>
        <p:nvSpPr>
          <p:cNvPr id="83" name="Text 81"/>
          <p:cNvSpPr/>
          <p:nvPr/>
        </p:nvSpPr>
        <p:spPr>
          <a:xfrm>
            <a:off x="6382512" y="1280160"/>
            <a:ext cx="5233111" cy="292608"/>
          </a:xfrm>
          <a:prstGeom prst="rect">
            <a:avLst/>
          </a:prstGeom>
          <a:noFill/>
          <a:ln/>
        </p:spPr>
        <p:txBody>
          <a:bodyPr wrap="square" lIns="0" tIns="0" rIns="0" bIns="0" rtlCol="0" anchor="ctr"/>
          <a:lstStyle/>
          <a:p>
            <a:pPr indent="0" marL="0">
              <a:buNone/>
            </a:pPr>
            <a:r>
              <a:rPr lang="en-US" sz="1300" b="1" dirty="0">
                <a:solidFill>
                  <a:srgbClr val="2A1F3D"/>
                </a:solidFill>
                <a:latin typeface="Calibri" pitchFamily="34" charset="0"/>
                <a:ea typeface="Calibri" pitchFamily="34" charset="-122"/>
                <a:cs typeface="Calibri" pitchFamily="34" charset="-120"/>
              </a:rPr>
              <a:t>Method: a pure, dry salt from an insoluble carbonate</a:t>
            </a:r>
            <a:endParaRPr lang="en-US" sz="1300" dirty="0"/>
          </a:p>
        </p:txBody>
      </p:sp>
      <p:sp>
        <p:nvSpPr>
          <p:cNvPr id="84" name="Text 82"/>
          <p:cNvSpPr/>
          <p:nvPr/>
        </p:nvSpPr>
        <p:spPr>
          <a:xfrm>
            <a:off x="6382512" y="1609344"/>
            <a:ext cx="5233111" cy="2706624"/>
          </a:xfrm>
          <a:prstGeom prst="rect">
            <a:avLst/>
          </a:prstGeom>
          <a:noFill/>
          <a:ln/>
        </p:spPr>
        <p:txBody>
          <a:bodyPr wrap="square" lIns="0" tIns="0" rIns="0" bIns="0" rtlCol="0" anchor="t"/>
          <a:lstStyle/>
          <a:p>
            <a:pPr marL="152400" indent="-152400">
              <a:spcAft>
                <a:spcPts val="300"/>
              </a:spcAft>
              <a:buSzPct val="100000"/>
              <a:buChar char="▪"/>
            </a:pPr>
            <a:r>
              <a:rPr lang="en-US" sz="1050" dirty="0">
                <a:solidFill>
                  <a:srgbClr val="262B3A"/>
                </a:solidFill>
                <a:latin typeface="Calibri" pitchFamily="34" charset="0"/>
                <a:ea typeface="Calibri" pitchFamily="34" charset="-122"/>
                <a:cs typeface="Calibri" pitchFamily="34" charset="-120"/>
              </a:rPr>
              <a:t>Measure </a:t>
            </a:r>
            <a:r>
              <a:rPr lang="en-US" sz="1050" b="1" dirty="0">
                <a:solidFill>
                  <a:srgbClr val="262B3A"/>
                </a:solidFill>
                <a:latin typeface="Calibri" pitchFamily="34" charset="0"/>
                <a:ea typeface="Calibri" pitchFamily="34" charset="-122"/>
                <a:cs typeface="Calibri" pitchFamily="34" charset="-120"/>
              </a:rPr>
              <a:t>25 cm³</a:t>
            </a:r>
            <a:r>
              <a:rPr lang="en-US" sz="1050" dirty="0">
                <a:solidFill>
                  <a:srgbClr val="262B3A"/>
                </a:solidFill>
                <a:latin typeface="Calibri" pitchFamily="34" charset="0"/>
                <a:ea typeface="Calibri" pitchFamily="34" charset="-122"/>
                <a:cs typeface="Calibri" pitchFamily="34" charset="-120"/>
              </a:rPr>
              <a:t> of dilute sulfuric acid (0.50 mol/dm³) into a beaker; warm gently (do </a:t>
            </a:r>
            <a:r>
              <a:rPr lang="en-US" sz="1050" b="1" dirty="0">
                <a:solidFill>
                  <a:srgbClr val="262B3A"/>
                </a:solidFill>
                <a:latin typeface="Calibri" pitchFamily="34" charset="0"/>
                <a:ea typeface="Calibri" pitchFamily="34" charset="-122"/>
                <a:cs typeface="Calibri" pitchFamily="34" charset="-120"/>
              </a:rPr>
              <a:t>not</a:t>
            </a:r>
            <a:r>
              <a:rPr lang="en-US" sz="1050" dirty="0">
                <a:solidFill>
                  <a:srgbClr val="262B3A"/>
                </a:solidFill>
                <a:latin typeface="Calibri" pitchFamily="34" charset="0"/>
                <a:ea typeface="Calibri" pitchFamily="34" charset="-122"/>
                <a:cs typeface="Calibri" pitchFamily="34" charset="-120"/>
              </a:rPr>
              <a:t> boil).</a:t>
            </a:r>
            <a:endParaRPr lang="en-US" sz="1050" dirty="0"/>
          </a:p>
          <a:p>
            <a:pPr marL="152400" indent="-152400">
              <a:spcAft>
                <a:spcPts val="300"/>
              </a:spcAft>
              <a:buSzPct val="100000"/>
              <a:buChar char="▪"/>
            </a:pPr>
            <a:r>
              <a:rPr lang="en-US" sz="1050" dirty="0">
                <a:solidFill>
                  <a:srgbClr val="262B3A"/>
                </a:solidFill>
                <a:latin typeface="Calibri" pitchFamily="34" charset="0"/>
                <a:ea typeface="Calibri" pitchFamily="34" charset="-122"/>
                <a:cs typeface="Calibri" pitchFamily="34" charset="-120"/>
              </a:rPr>
              <a:t>Add </a:t>
            </a:r>
            <a:r>
              <a:rPr lang="en-US" sz="1050" b="1" dirty="0">
                <a:solidFill>
                  <a:srgbClr val="262B3A"/>
                </a:solidFill>
                <a:latin typeface="Calibri" pitchFamily="34" charset="0"/>
                <a:ea typeface="Calibri" pitchFamily="34" charset="-122"/>
                <a:cs typeface="Calibri" pitchFamily="34" charset="-120"/>
              </a:rPr>
              <a:t>magnesium carbonate</a:t>
            </a:r>
            <a:r>
              <a:rPr lang="en-US" sz="1050" dirty="0">
                <a:solidFill>
                  <a:srgbClr val="262B3A"/>
                </a:solidFill>
                <a:latin typeface="Calibri" pitchFamily="34" charset="0"/>
                <a:ea typeface="Calibri" pitchFamily="34" charset="-122"/>
                <a:cs typeface="Calibri" pitchFamily="34" charset="-120"/>
              </a:rPr>
              <a:t> a spatula at a time, stirring, until it </a:t>
            </a:r>
            <a:r>
              <a:rPr lang="en-US" sz="1050" b="1" dirty="0">
                <a:solidFill>
                  <a:srgbClr val="262B3A"/>
                </a:solidFill>
                <a:latin typeface="Calibri" pitchFamily="34" charset="0"/>
                <a:ea typeface="Calibri" pitchFamily="34" charset="-122"/>
                <a:cs typeface="Calibri" pitchFamily="34" charset="-120"/>
              </a:rPr>
              <a:t>stops fizzing</a:t>
            </a:r>
            <a:r>
              <a:rPr lang="en-US" sz="1050" dirty="0">
                <a:solidFill>
                  <a:srgbClr val="262B3A"/>
                </a:solidFill>
                <a:latin typeface="Calibri" pitchFamily="34" charset="0"/>
                <a:ea typeface="Calibri" pitchFamily="34" charset="-122"/>
                <a:cs typeface="Calibri" pitchFamily="34" charset="-120"/>
              </a:rPr>
              <a:t> and some solid is </a:t>
            </a:r>
            <a:r>
              <a:rPr lang="en-US" sz="1050" b="1" dirty="0">
                <a:solidFill>
                  <a:srgbClr val="262B3A"/>
                </a:solidFill>
                <a:latin typeface="Calibri" pitchFamily="34" charset="0"/>
                <a:ea typeface="Calibri" pitchFamily="34" charset="-122"/>
                <a:cs typeface="Calibri" pitchFamily="34" charset="-120"/>
              </a:rPr>
              <a:t>left over</a:t>
            </a:r>
            <a:r>
              <a:rPr lang="en-US" sz="1050" dirty="0">
                <a:solidFill>
                  <a:srgbClr val="262B3A"/>
                </a:solidFill>
                <a:latin typeface="Calibri" pitchFamily="34" charset="0"/>
                <a:ea typeface="Calibri" pitchFamily="34" charset="-122"/>
                <a:cs typeface="Calibri" pitchFamily="34" charset="-120"/>
              </a:rPr>
              <a:t>: the acid is all used up.</a:t>
            </a:r>
            <a:endParaRPr lang="en-US" sz="1050" dirty="0"/>
          </a:p>
          <a:p>
            <a:pPr marL="152400" indent="-152400">
              <a:spcAft>
                <a:spcPts val="300"/>
              </a:spcAft>
              <a:buSzPct val="100000"/>
              <a:buChar char="▪"/>
            </a:pPr>
            <a:r>
              <a:rPr lang="en-US" sz="1050" b="1" dirty="0">
                <a:solidFill>
                  <a:srgbClr val="262B3A"/>
                </a:solidFill>
                <a:latin typeface="Calibri" pitchFamily="34" charset="0"/>
                <a:ea typeface="Calibri" pitchFamily="34" charset="-122"/>
                <a:cs typeface="Calibri" pitchFamily="34" charset="-120"/>
              </a:rPr>
              <a:t>Filter</a:t>
            </a:r>
            <a:r>
              <a:rPr lang="en-US" sz="1050" dirty="0">
                <a:solidFill>
                  <a:srgbClr val="262B3A"/>
                </a:solidFill>
                <a:latin typeface="Calibri" pitchFamily="34" charset="0"/>
                <a:ea typeface="Calibri" pitchFamily="34" charset="-122"/>
                <a:cs typeface="Calibri" pitchFamily="34" charset="-120"/>
              </a:rPr>
              <a:t> to remove the excess carbonate. The </a:t>
            </a:r>
            <a:r>
              <a:rPr lang="en-US" sz="1050" b="1" dirty="0">
                <a:solidFill>
                  <a:srgbClr val="262B3A"/>
                </a:solidFill>
                <a:latin typeface="Calibri" pitchFamily="34" charset="0"/>
                <a:ea typeface="Calibri" pitchFamily="34" charset="-122"/>
                <a:cs typeface="Calibri" pitchFamily="34" charset="-120"/>
              </a:rPr>
              <a:t>filtrate</a:t>
            </a:r>
            <a:r>
              <a:rPr lang="en-US" sz="1050" dirty="0">
                <a:solidFill>
                  <a:srgbClr val="262B3A"/>
                </a:solidFill>
                <a:latin typeface="Calibri" pitchFamily="34" charset="0"/>
                <a:ea typeface="Calibri" pitchFamily="34" charset="-122"/>
                <a:cs typeface="Calibri" pitchFamily="34" charset="-120"/>
              </a:rPr>
              <a:t> is magnesium sulfate solution.</a:t>
            </a:r>
            <a:endParaRPr lang="en-US" sz="1050" dirty="0"/>
          </a:p>
          <a:p>
            <a:pPr marL="152400" indent="-152400">
              <a:spcAft>
                <a:spcPts val="300"/>
              </a:spcAft>
              <a:buSzPct val="100000"/>
              <a:buChar char="▪"/>
            </a:pPr>
            <a:r>
              <a:rPr lang="en-US" sz="1050" dirty="0">
                <a:solidFill>
                  <a:srgbClr val="262B3A"/>
                </a:solidFill>
                <a:latin typeface="Calibri" pitchFamily="34" charset="0"/>
                <a:ea typeface="Calibri" pitchFamily="34" charset="-122"/>
                <a:cs typeface="Calibri" pitchFamily="34" charset="-120"/>
              </a:rPr>
              <a:t>Evaporate on a </a:t>
            </a:r>
            <a:r>
              <a:rPr lang="en-US" sz="1050" b="1" dirty="0">
                <a:solidFill>
                  <a:srgbClr val="262B3A"/>
                </a:solidFill>
                <a:latin typeface="Calibri" pitchFamily="34" charset="0"/>
                <a:ea typeface="Calibri" pitchFamily="34" charset="-122"/>
                <a:cs typeface="Calibri" pitchFamily="34" charset="-120"/>
              </a:rPr>
              <a:t>water bath</a:t>
            </a:r>
            <a:r>
              <a:rPr lang="en-US" sz="1050" dirty="0">
                <a:solidFill>
                  <a:srgbClr val="262B3A"/>
                </a:solidFill>
                <a:latin typeface="Calibri" pitchFamily="34" charset="0"/>
                <a:ea typeface="Calibri" pitchFamily="34" charset="-122"/>
                <a:cs typeface="Calibri" pitchFamily="34" charset="-120"/>
              </a:rPr>
              <a:t> to the crystallisation point; leave to cool; </a:t>
            </a:r>
            <a:r>
              <a:rPr lang="en-US" sz="1050" b="1" dirty="0">
                <a:solidFill>
                  <a:srgbClr val="262B3A"/>
                </a:solidFill>
                <a:latin typeface="Calibri" pitchFamily="34" charset="0"/>
                <a:ea typeface="Calibri" pitchFamily="34" charset="-122"/>
                <a:cs typeface="Calibri" pitchFamily="34" charset="-120"/>
              </a:rPr>
              <a:t>filter</a:t>
            </a:r>
            <a:r>
              <a:rPr lang="en-US" sz="1050" dirty="0">
                <a:solidFill>
                  <a:srgbClr val="262B3A"/>
                </a:solidFill>
                <a:latin typeface="Calibri" pitchFamily="34" charset="0"/>
                <a:ea typeface="Calibri" pitchFamily="34" charset="-122"/>
                <a:cs typeface="Calibri" pitchFamily="34" charset="-120"/>
              </a:rPr>
              <a:t> off the crystals and </a:t>
            </a:r>
            <a:r>
              <a:rPr lang="en-US" sz="1050" b="1" dirty="0">
                <a:solidFill>
                  <a:srgbClr val="262B3A"/>
                </a:solidFill>
                <a:latin typeface="Calibri" pitchFamily="34" charset="0"/>
                <a:ea typeface="Calibri" pitchFamily="34" charset="-122"/>
                <a:cs typeface="Calibri" pitchFamily="34" charset="-120"/>
              </a:rPr>
              <a:t>dry</a:t>
            </a:r>
            <a:r>
              <a:rPr lang="en-US" sz="1050" dirty="0">
                <a:solidFill>
                  <a:srgbClr val="262B3A"/>
                </a:solidFill>
                <a:latin typeface="Calibri" pitchFamily="34" charset="0"/>
                <a:ea typeface="Calibri" pitchFamily="34" charset="-122"/>
                <a:cs typeface="Calibri" pitchFamily="34" charset="-120"/>
              </a:rPr>
              <a:t> them.</a:t>
            </a:r>
            <a:endParaRPr lang="en-US" sz="1050" dirty="0"/>
          </a:p>
          <a:p>
            <a:pPr marL="152400" indent="-152400">
              <a:spcAft>
                <a:spcPts val="300"/>
              </a:spcAft>
              <a:buSzPct val="100000"/>
              <a:buChar char="▪"/>
            </a:pPr>
            <a:r>
              <a:rPr lang="en-US" sz="1050" b="1" dirty="0">
                <a:solidFill>
                  <a:srgbClr val="262B3A"/>
                </a:solidFill>
                <a:latin typeface="Calibri" pitchFamily="34" charset="0"/>
                <a:ea typeface="Calibri" pitchFamily="34" charset="-122"/>
                <a:cs typeface="Calibri" pitchFamily="34" charset="-120"/>
              </a:rPr>
              <a:t>Variables</a:t>
            </a:r>
            <a:r>
              <a:rPr lang="en-US" sz="1050" dirty="0">
                <a:solidFill>
                  <a:srgbClr val="262B3A"/>
                </a:solidFill>
                <a:latin typeface="Calibri" pitchFamily="34" charset="0"/>
                <a:ea typeface="Calibri" pitchFamily="34" charset="-122"/>
                <a:cs typeface="Calibri" pitchFamily="34" charset="-120"/>
              </a:rPr>
              <a:t>: control the </a:t>
            </a:r>
            <a:r>
              <a:rPr lang="en-US" sz="1050" b="1" dirty="0">
                <a:solidFill>
                  <a:srgbClr val="262B3A"/>
                </a:solidFill>
                <a:latin typeface="Calibri" pitchFamily="34" charset="0"/>
                <a:ea typeface="Calibri" pitchFamily="34" charset="-122"/>
                <a:cs typeface="Calibri" pitchFamily="34" charset="-120"/>
              </a:rPr>
              <a:t>volume</a:t>
            </a:r>
            <a:r>
              <a:rPr lang="en-US" sz="1050" dirty="0">
                <a:solidFill>
                  <a:srgbClr val="262B3A"/>
                </a:solidFill>
                <a:latin typeface="Calibri" pitchFamily="34" charset="0"/>
                <a:ea typeface="Calibri" pitchFamily="34" charset="-122"/>
                <a:cs typeface="Calibri" pitchFamily="34" charset="-120"/>
              </a:rPr>
              <a:t> and </a:t>
            </a:r>
            <a:r>
              <a:rPr lang="en-US" sz="1050" b="1" dirty="0">
                <a:solidFill>
                  <a:srgbClr val="262B3A"/>
                </a:solidFill>
                <a:latin typeface="Calibri" pitchFamily="34" charset="0"/>
                <a:ea typeface="Calibri" pitchFamily="34" charset="-122"/>
                <a:cs typeface="Calibri" pitchFamily="34" charset="-120"/>
              </a:rPr>
              <a:t>concentration</a:t>
            </a:r>
            <a:r>
              <a:rPr lang="en-US" sz="1050" dirty="0">
                <a:solidFill>
                  <a:srgbClr val="262B3A"/>
                </a:solidFill>
                <a:latin typeface="Calibri" pitchFamily="34" charset="0"/>
                <a:ea typeface="Calibri" pitchFamily="34" charset="-122"/>
                <a:cs typeface="Calibri" pitchFamily="34" charset="-120"/>
              </a:rPr>
              <a:t> of acid and the </a:t>
            </a:r>
            <a:r>
              <a:rPr lang="en-US" sz="1050" b="1" dirty="0">
                <a:solidFill>
                  <a:srgbClr val="262B3A"/>
                </a:solidFill>
                <a:latin typeface="Calibri" pitchFamily="34" charset="0"/>
                <a:ea typeface="Calibri" pitchFamily="34" charset="-122"/>
                <a:cs typeface="Calibri" pitchFamily="34" charset="-120"/>
              </a:rPr>
              <a:t>temperature</a:t>
            </a:r>
            <a:r>
              <a:rPr lang="en-US" sz="1050" dirty="0">
                <a:solidFill>
                  <a:srgbClr val="262B3A"/>
                </a:solidFill>
                <a:latin typeface="Calibri" pitchFamily="34" charset="0"/>
                <a:ea typeface="Calibri" pitchFamily="34" charset="-122"/>
                <a:cs typeface="Calibri" pitchFamily="34" charset="-120"/>
              </a:rPr>
              <a:t>; the end point is seen when fizzing stops (or by pH, next slide).</a:t>
            </a:r>
            <a:endParaRPr lang="en-US" sz="1050" dirty="0"/>
          </a:p>
          <a:p>
            <a:pPr marL="152400" indent="-152400">
              <a:spcAft>
                <a:spcPts val="300"/>
              </a:spcAft>
              <a:buSzPct val="100000"/>
              <a:buChar char="▪"/>
            </a:pPr>
            <a:r>
              <a:rPr lang="en-US" sz="1050" b="1" dirty="0">
                <a:solidFill>
                  <a:srgbClr val="262B3A"/>
                </a:solidFill>
                <a:latin typeface="Calibri" pitchFamily="34" charset="0"/>
                <a:ea typeface="Calibri" pitchFamily="34" charset="-122"/>
                <a:cs typeface="Calibri" pitchFamily="34" charset="-120"/>
              </a:rPr>
              <a:t>Safety</a:t>
            </a:r>
            <a:r>
              <a:rPr lang="en-US" sz="1050" dirty="0">
                <a:solidFill>
                  <a:srgbClr val="262B3A"/>
                </a:solidFill>
                <a:latin typeface="Calibri" pitchFamily="34" charset="0"/>
                <a:ea typeface="Calibri" pitchFamily="34" charset="-122"/>
                <a:cs typeface="Calibri" pitchFamily="34" charset="-120"/>
              </a:rPr>
              <a:t>: eye protection. Sulfuric acid 0.50 mol/dm³ </a:t>
            </a:r>
            <a:r>
              <a:rPr lang="en-US" sz="1050" b="1" dirty="0">
                <a:solidFill>
                  <a:srgbClr val="262B3A"/>
                </a:solidFill>
                <a:latin typeface="Calibri" pitchFamily="34" charset="0"/>
                <a:ea typeface="Calibri" pitchFamily="34" charset="-122"/>
                <a:cs typeface="Calibri" pitchFamily="34" charset="-120"/>
              </a:rPr>
              <a:t>IRRITANT</a:t>
            </a:r>
            <a:r>
              <a:rPr lang="en-US" sz="1050" dirty="0">
                <a:solidFill>
                  <a:srgbClr val="262B3A"/>
                </a:solidFill>
                <a:latin typeface="Calibri" pitchFamily="34" charset="0"/>
                <a:ea typeface="Calibri" pitchFamily="34" charset="-122"/>
                <a:cs typeface="Calibri" pitchFamily="34" charset="-120"/>
              </a:rPr>
              <a:t>. MgCO₃ and MgSO₄ </a:t>
            </a:r>
            <a:r>
              <a:rPr lang="en-US" sz="1050" b="1" dirty="0">
                <a:solidFill>
                  <a:srgbClr val="262B3A"/>
                </a:solidFill>
                <a:latin typeface="Calibri" pitchFamily="34" charset="0"/>
                <a:ea typeface="Calibri" pitchFamily="34" charset="-122"/>
                <a:cs typeface="Calibri" pitchFamily="34" charset="-120"/>
              </a:rPr>
              <a:t>low hazard</a:t>
            </a:r>
            <a:r>
              <a:rPr lang="en-US" sz="1050" dirty="0">
                <a:solidFill>
                  <a:srgbClr val="262B3A"/>
                </a:solidFill>
                <a:latin typeface="Calibri" pitchFamily="34" charset="0"/>
                <a:ea typeface="Calibri" pitchFamily="34" charset="-122"/>
                <a:cs typeface="Calibri" pitchFamily="34" charset="-120"/>
              </a:rPr>
              <a:t>. Add the carbonate slowly: froth can overflow.</a:t>
            </a:r>
            <a:endParaRPr lang="en-US" sz="1050" dirty="0"/>
          </a:p>
        </p:txBody>
      </p:sp>
      <p:sp>
        <p:nvSpPr>
          <p:cNvPr id="85" name="Shape 83"/>
          <p:cNvSpPr/>
          <p:nvPr/>
        </p:nvSpPr>
        <p:spPr>
          <a:xfrm>
            <a:off x="6217920" y="4526280"/>
            <a:ext cx="5562295" cy="1188720"/>
          </a:xfrm>
          <a:prstGeom prst="roundRect">
            <a:avLst>
              <a:gd name="adj" fmla="val 4615"/>
            </a:avLst>
          </a:prstGeom>
          <a:solidFill>
            <a:srgbClr val="FFF4E0"/>
          </a:solidFill>
          <a:ln w="9525">
            <a:solidFill>
              <a:srgbClr val="F1D9A8"/>
            </a:solidFill>
            <a:prstDash val="solid"/>
          </a:ln>
        </p:spPr>
      </p:sp>
      <p:sp>
        <p:nvSpPr>
          <p:cNvPr id="86" name="Text 84"/>
          <p:cNvSpPr/>
          <p:nvPr/>
        </p:nvSpPr>
        <p:spPr>
          <a:xfrm>
            <a:off x="6382512" y="4599432"/>
            <a:ext cx="5233111"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 mass of carbonate reacted</a:t>
            </a:r>
            <a:endParaRPr lang="en-US" sz="1300" dirty="0"/>
          </a:p>
        </p:txBody>
      </p:sp>
      <p:sp>
        <p:nvSpPr>
          <p:cNvPr id="87" name="Text 85"/>
          <p:cNvSpPr/>
          <p:nvPr/>
        </p:nvSpPr>
        <p:spPr>
          <a:xfrm>
            <a:off x="6382512" y="4910328"/>
            <a:ext cx="5233111" cy="73152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2.50 g of MgCO₃ was weighed out. The dried excess had a mass of 1.43 g.</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1 Subtract   </a:t>
            </a:r>
            <a:r>
              <a:rPr lang="en-US" sz="1050" dirty="0">
                <a:solidFill>
                  <a:srgbClr val="262B3A"/>
                </a:solidFill>
                <a:latin typeface="Calibri" pitchFamily="34" charset="0"/>
                <a:ea typeface="Calibri" pitchFamily="34" charset="-122"/>
                <a:cs typeface="Calibri" pitchFamily="34" charset="-120"/>
              </a:rPr>
              <a:t>2.50 − 1.43</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2 Answer   </a:t>
            </a:r>
            <a:r>
              <a:rPr lang="en-US" sz="1050" b="1" dirty="0">
                <a:solidFill>
                  <a:srgbClr val="C8414C"/>
                </a:solidFill>
                <a:latin typeface="Calibri" pitchFamily="34" charset="0"/>
                <a:ea typeface="Calibri" pitchFamily="34" charset="-122"/>
                <a:cs typeface="Calibri" pitchFamily="34" charset="-120"/>
              </a:rPr>
              <a:t>1.07 g</a:t>
            </a:r>
            <a:r>
              <a:rPr lang="en-US" sz="1050" b="1" dirty="0">
                <a:solidFill>
                  <a:srgbClr val="C8414C"/>
                </a:solidFill>
                <a:latin typeface="Calibri" pitchFamily="34" charset="0"/>
                <a:ea typeface="Calibri" pitchFamily="34" charset="-122"/>
                <a:cs typeface="Calibri" pitchFamily="34" charset="-120"/>
              </a:rPr>
              <a:t> of magnesium carbonate reacted</a:t>
            </a:r>
            <a:endParaRPr lang="en-US" sz="1050" dirty="0"/>
          </a:p>
        </p:txBody>
      </p:sp>
      <p:sp>
        <p:nvSpPr>
          <p:cNvPr id="88" name="Shape 86"/>
          <p:cNvSpPr/>
          <p:nvPr/>
        </p:nvSpPr>
        <p:spPr>
          <a:xfrm>
            <a:off x="411480" y="5833872"/>
            <a:ext cx="11368735" cy="530352"/>
          </a:xfrm>
          <a:prstGeom prst="rect">
            <a:avLst/>
          </a:prstGeom>
          <a:solidFill>
            <a:srgbClr val="FFF4E0"/>
          </a:solidFill>
          <a:ln w="6350">
            <a:solidFill>
              <a:srgbClr val="F1D9A8"/>
            </a:solidFill>
            <a:prstDash val="solid"/>
          </a:ln>
        </p:spPr>
      </p:sp>
      <p:sp>
        <p:nvSpPr>
          <p:cNvPr id="89" name="Shape 87"/>
          <p:cNvSpPr/>
          <p:nvPr/>
        </p:nvSpPr>
        <p:spPr>
          <a:xfrm>
            <a:off x="411480" y="5833872"/>
            <a:ext cx="82296" cy="530352"/>
          </a:xfrm>
          <a:prstGeom prst="rect">
            <a:avLst/>
          </a:prstGeom>
          <a:solidFill>
            <a:srgbClr val="E39A2F"/>
          </a:solidFill>
          <a:ln w="12700">
            <a:solidFill>
              <a:srgbClr val="E39A2F"/>
            </a:solidFill>
            <a:prstDash val="solid"/>
          </a:ln>
        </p:spPr>
      </p:sp>
      <p:sp>
        <p:nvSpPr>
          <p:cNvPr id="90" name="Text 88"/>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How do you know when </a:t>
            </a:r>
            <a:r>
              <a:rPr lang="en-US" sz="1150" b="1" dirty="0">
                <a:solidFill>
                  <a:srgbClr val="262B3A"/>
                </a:solidFill>
                <a:latin typeface="Calibri" pitchFamily="34" charset="0"/>
                <a:ea typeface="Calibri" pitchFamily="34" charset="-122"/>
                <a:cs typeface="Calibri" pitchFamily="34" charset="-120"/>
              </a:rPr>
              <a:t>all the acid</a:t>
            </a:r>
            <a:r>
              <a:rPr lang="en-US" sz="1150" dirty="0">
                <a:solidFill>
                  <a:srgbClr val="262B3A"/>
                </a:solidFill>
                <a:latin typeface="Calibri" pitchFamily="34" charset="0"/>
                <a:ea typeface="Calibri" pitchFamily="34" charset="-122"/>
                <a:cs typeface="Calibri" pitchFamily="34" charset="-120"/>
              </a:rPr>
              <a:t> has reacted? Why use an </a:t>
            </a:r>
            <a:r>
              <a:rPr lang="en-US" sz="1150" b="1" dirty="0">
                <a:solidFill>
                  <a:srgbClr val="262B3A"/>
                </a:solidFill>
                <a:latin typeface="Calibri" pitchFamily="34" charset="0"/>
                <a:ea typeface="Calibri" pitchFamily="34" charset="-122"/>
                <a:cs typeface="Calibri" pitchFamily="34" charset="-120"/>
              </a:rPr>
              <a:t>insoluble</a:t>
            </a:r>
            <a:r>
              <a:rPr lang="en-US" sz="1150" dirty="0">
                <a:solidFill>
                  <a:srgbClr val="262B3A"/>
                </a:solidFill>
                <a:latin typeface="Calibri" pitchFamily="34" charset="0"/>
                <a:ea typeface="Calibri" pitchFamily="34" charset="-122"/>
                <a:cs typeface="Calibri" pitchFamily="34" charset="-120"/>
              </a:rPr>
              <a:t> carbonate rather than an alkali for this method?</a:t>
            </a:r>
            <a:endParaRPr lang="en-US" sz="12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Practical: following the reaction with pH</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Specification C6.1.4, C6.1.8 • PAG C4: pH as magnesium carbonate is added; graph, calculation and errors</a:t>
            </a:r>
            <a:endParaRPr lang="en-US" sz="1100" dirty="0"/>
          </a:p>
        </p:txBody>
      </p:sp>
      <p:sp>
        <p:nvSpPr>
          <p:cNvPr id="6" name="Shape 4"/>
          <p:cNvSpPr/>
          <p:nvPr/>
        </p:nvSpPr>
        <p:spPr>
          <a:xfrm>
            <a:off x="11012119" y="292608"/>
            <a:ext cx="768096" cy="274320"/>
          </a:xfrm>
          <a:prstGeom prst="roundRect">
            <a:avLst>
              <a:gd name="adj" fmla="val 50000"/>
            </a:avLst>
          </a:prstGeom>
          <a:solidFill>
            <a:srgbClr val="B8730A"/>
          </a:solidFill>
          <a:ln w="12700">
            <a:solidFill>
              <a:srgbClr val="B8730A"/>
            </a:solidFill>
            <a:prstDash val="solid"/>
          </a:ln>
        </p:spPr>
      </p:sp>
      <p:sp>
        <p:nvSpPr>
          <p:cNvPr id="7" name="Text 5"/>
          <p:cNvSpPr/>
          <p:nvPr/>
        </p:nvSpPr>
        <p:spPr>
          <a:xfrm>
            <a:off x="11012119" y="292608"/>
            <a:ext cx="768096"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PAG C4</a:t>
            </a:r>
            <a:endParaRPr lang="en-US" sz="1000" dirty="0"/>
          </a:p>
        </p:txBody>
      </p:sp>
      <p:sp>
        <p:nvSpPr>
          <p:cNvPr id="8" name="Text 6"/>
          <p:cNvSpPr/>
          <p:nvPr/>
        </p:nvSpPr>
        <p:spPr>
          <a:xfrm>
            <a:off x="411480" y="6473952"/>
            <a:ext cx="1014984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C6.1 What useful products can be made from acids? | Higher &amp; Foundation</a:t>
            </a:r>
            <a:endParaRPr lang="en-US" sz="1000" dirty="0"/>
          </a:p>
        </p:txBody>
      </p:sp>
      <p:sp>
        <p:nvSpPr>
          <p:cNvPr id="9" name="Text 7"/>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PAG C4  |  20</a:t>
            </a:r>
            <a:endParaRPr lang="en-US" sz="1000" dirty="0"/>
          </a:p>
        </p:txBody>
      </p:sp>
      <p:sp>
        <p:nvSpPr>
          <p:cNvPr id="10" name="Shape 8"/>
          <p:cNvSpPr/>
          <p:nvPr/>
        </p:nvSpPr>
        <p:spPr>
          <a:xfrm>
            <a:off x="411480" y="1188720"/>
            <a:ext cx="6035040" cy="4526280"/>
          </a:xfrm>
          <a:prstGeom prst="roundRect">
            <a:avLst>
              <a:gd name="adj" fmla="val 1616"/>
            </a:avLst>
          </a:prstGeom>
          <a:solidFill>
            <a:srgbClr val="F4F0FA"/>
          </a:solidFill>
          <a:ln w="9525">
            <a:solidFill>
              <a:srgbClr val="DED4EE"/>
            </a:solidFill>
            <a:prstDash val="solid"/>
          </a:ln>
        </p:spPr>
      </p:sp>
      <p:sp>
        <p:nvSpPr>
          <p:cNvPr id="11" name="Text 9"/>
          <p:cNvSpPr/>
          <p:nvPr/>
        </p:nvSpPr>
        <p:spPr>
          <a:xfrm>
            <a:off x="548640" y="5404104"/>
            <a:ext cx="5760720" cy="256032"/>
          </a:xfrm>
          <a:prstGeom prst="rect">
            <a:avLst/>
          </a:prstGeom>
          <a:noFill/>
          <a:ln/>
        </p:spPr>
        <p:txBody>
          <a:bodyPr wrap="square" lIns="0" tIns="0" rIns="0" bIns="0" rtlCol="0" anchor="ctr"/>
          <a:lstStyle/>
          <a:p>
            <a:pPr algn="ctr" indent="0" marL="0">
              <a:buNone/>
            </a:pPr>
            <a:r>
              <a:rPr lang="en-US" sz="1000" i="1" dirty="0">
                <a:solidFill>
                  <a:srgbClr val="6B7385"/>
                </a:solidFill>
                <a:latin typeface="Calibri" pitchFamily="34" charset="0"/>
                <a:ea typeface="Calibri" pitchFamily="34" charset="-122"/>
                <a:cs typeface="Calibri" pitchFamily="34" charset="-120"/>
              </a:rPr>
              <a:t>Illustrative diagram — graph plotted to scale (illustrative pH-meter readings)</a:t>
            </a:r>
            <a:endParaRPr lang="en-US" sz="1000" dirty="0"/>
          </a:p>
        </p:txBody>
      </p:sp>
      <p:sp>
        <p:nvSpPr>
          <p:cNvPr id="12" name="Shape 10"/>
          <p:cNvSpPr/>
          <p:nvPr/>
        </p:nvSpPr>
        <p:spPr>
          <a:xfrm>
            <a:off x="1325880" y="1417320"/>
            <a:ext cx="4846320" cy="2606040"/>
          </a:xfrm>
          <a:prstGeom prst="rect">
            <a:avLst/>
          </a:prstGeom>
          <a:solidFill>
            <a:srgbClr val="FFFFFF"/>
          </a:solidFill>
          <a:ln/>
        </p:spPr>
      </p:sp>
      <p:sp>
        <p:nvSpPr>
          <p:cNvPr id="13" name="Shape 11"/>
          <p:cNvSpPr/>
          <p:nvPr/>
        </p:nvSpPr>
        <p:spPr>
          <a:xfrm>
            <a:off x="1325880" y="1417320"/>
            <a:ext cx="91" cy="2606040"/>
          </a:xfrm>
          <a:prstGeom prst="line">
            <a:avLst/>
          </a:prstGeom>
          <a:noFill/>
          <a:ln w="6350">
            <a:solidFill>
              <a:srgbClr val="D6CBE8"/>
            </a:solidFill>
            <a:prstDash val="solid"/>
          </a:ln>
        </p:spPr>
      </p:sp>
      <p:sp>
        <p:nvSpPr>
          <p:cNvPr id="14" name="Shape 12"/>
          <p:cNvSpPr/>
          <p:nvPr/>
        </p:nvSpPr>
        <p:spPr>
          <a:xfrm>
            <a:off x="1628775" y="1417320"/>
            <a:ext cx="91" cy="2606040"/>
          </a:xfrm>
          <a:prstGeom prst="line">
            <a:avLst/>
          </a:prstGeom>
          <a:noFill/>
          <a:ln w="6350">
            <a:solidFill>
              <a:srgbClr val="EEE9F6"/>
            </a:solidFill>
            <a:prstDash val="solid"/>
          </a:ln>
        </p:spPr>
      </p:sp>
      <p:sp>
        <p:nvSpPr>
          <p:cNvPr id="15" name="Shape 13"/>
          <p:cNvSpPr/>
          <p:nvPr/>
        </p:nvSpPr>
        <p:spPr>
          <a:xfrm>
            <a:off x="1931670" y="1417320"/>
            <a:ext cx="91" cy="2606040"/>
          </a:xfrm>
          <a:prstGeom prst="line">
            <a:avLst/>
          </a:prstGeom>
          <a:noFill/>
          <a:ln w="6350">
            <a:solidFill>
              <a:srgbClr val="D6CBE8"/>
            </a:solidFill>
            <a:prstDash val="solid"/>
          </a:ln>
        </p:spPr>
      </p:sp>
      <p:sp>
        <p:nvSpPr>
          <p:cNvPr id="16" name="Shape 14"/>
          <p:cNvSpPr/>
          <p:nvPr/>
        </p:nvSpPr>
        <p:spPr>
          <a:xfrm>
            <a:off x="2234565" y="1417320"/>
            <a:ext cx="91" cy="2606040"/>
          </a:xfrm>
          <a:prstGeom prst="line">
            <a:avLst/>
          </a:prstGeom>
          <a:noFill/>
          <a:ln w="6350">
            <a:solidFill>
              <a:srgbClr val="EEE9F6"/>
            </a:solidFill>
            <a:prstDash val="solid"/>
          </a:ln>
        </p:spPr>
      </p:sp>
      <p:sp>
        <p:nvSpPr>
          <p:cNvPr id="17" name="Shape 15"/>
          <p:cNvSpPr/>
          <p:nvPr/>
        </p:nvSpPr>
        <p:spPr>
          <a:xfrm>
            <a:off x="2537460" y="1417320"/>
            <a:ext cx="91" cy="2606040"/>
          </a:xfrm>
          <a:prstGeom prst="line">
            <a:avLst/>
          </a:prstGeom>
          <a:noFill/>
          <a:ln w="6350">
            <a:solidFill>
              <a:srgbClr val="D6CBE8"/>
            </a:solidFill>
            <a:prstDash val="solid"/>
          </a:ln>
        </p:spPr>
      </p:sp>
      <p:sp>
        <p:nvSpPr>
          <p:cNvPr id="18" name="Shape 16"/>
          <p:cNvSpPr/>
          <p:nvPr/>
        </p:nvSpPr>
        <p:spPr>
          <a:xfrm>
            <a:off x="2840355" y="1417320"/>
            <a:ext cx="91" cy="2606040"/>
          </a:xfrm>
          <a:prstGeom prst="line">
            <a:avLst/>
          </a:prstGeom>
          <a:noFill/>
          <a:ln w="6350">
            <a:solidFill>
              <a:srgbClr val="EEE9F6"/>
            </a:solidFill>
            <a:prstDash val="solid"/>
          </a:ln>
        </p:spPr>
      </p:sp>
      <p:sp>
        <p:nvSpPr>
          <p:cNvPr id="19" name="Shape 17"/>
          <p:cNvSpPr/>
          <p:nvPr/>
        </p:nvSpPr>
        <p:spPr>
          <a:xfrm>
            <a:off x="3143250" y="1417320"/>
            <a:ext cx="91" cy="2606040"/>
          </a:xfrm>
          <a:prstGeom prst="line">
            <a:avLst/>
          </a:prstGeom>
          <a:noFill/>
          <a:ln w="6350">
            <a:solidFill>
              <a:srgbClr val="D6CBE8"/>
            </a:solidFill>
            <a:prstDash val="solid"/>
          </a:ln>
        </p:spPr>
      </p:sp>
      <p:sp>
        <p:nvSpPr>
          <p:cNvPr id="20" name="Shape 18"/>
          <p:cNvSpPr/>
          <p:nvPr/>
        </p:nvSpPr>
        <p:spPr>
          <a:xfrm>
            <a:off x="3446145" y="1417320"/>
            <a:ext cx="91" cy="2606040"/>
          </a:xfrm>
          <a:prstGeom prst="line">
            <a:avLst/>
          </a:prstGeom>
          <a:noFill/>
          <a:ln w="6350">
            <a:solidFill>
              <a:srgbClr val="EEE9F6"/>
            </a:solidFill>
            <a:prstDash val="solid"/>
          </a:ln>
        </p:spPr>
      </p:sp>
      <p:sp>
        <p:nvSpPr>
          <p:cNvPr id="21" name="Shape 19"/>
          <p:cNvSpPr/>
          <p:nvPr/>
        </p:nvSpPr>
        <p:spPr>
          <a:xfrm>
            <a:off x="3749040" y="1417320"/>
            <a:ext cx="91" cy="2606040"/>
          </a:xfrm>
          <a:prstGeom prst="line">
            <a:avLst/>
          </a:prstGeom>
          <a:noFill/>
          <a:ln w="6350">
            <a:solidFill>
              <a:srgbClr val="D6CBE8"/>
            </a:solidFill>
            <a:prstDash val="solid"/>
          </a:ln>
        </p:spPr>
      </p:sp>
      <p:sp>
        <p:nvSpPr>
          <p:cNvPr id="22" name="Shape 20"/>
          <p:cNvSpPr/>
          <p:nvPr/>
        </p:nvSpPr>
        <p:spPr>
          <a:xfrm>
            <a:off x="4051935" y="1417320"/>
            <a:ext cx="91" cy="2606040"/>
          </a:xfrm>
          <a:prstGeom prst="line">
            <a:avLst/>
          </a:prstGeom>
          <a:noFill/>
          <a:ln w="6350">
            <a:solidFill>
              <a:srgbClr val="EEE9F6"/>
            </a:solidFill>
            <a:prstDash val="solid"/>
          </a:ln>
        </p:spPr>
      </p:sp>
      <p:sp>
        <p:nvSpPr>
          <p:cNvPr id="23" name="Shape 21"/>
          <p:cNvSpPr/>
          <p:nvPr/>
        </p:nvSpPr>
        <p:spPr>
          <a:xfrm>
            <a:off x="4354830" y="1417320"/>
            <a:ext cx="91" cy="2606040"/>
          </a:xfrm>
          <a:prstGeom prst="line">
            <a:avLst/>
          </a:prstGeom>
          <a:noFill/>
          <a:ln w="6350">
            <a:solidFill>
              <a:srgbClr val="D6CBE8"/>
            </a:solidFill>
            <a:prstDash val="solid"/>
          </a:ln>
        </p:spPr>
      </p:sp>
      <p:sp>
        <p:nvSpPr>
          <p:cNvPr id="24" name="Shape 22"/>
          <p:cNvSpPr/>
          <p:nvPr/>
        </p:nvSpPr>
        <p:spPr>
          <a:xfrm>
            <a:off x="4657725" y="1417320"/>
            <a:ext cx="91" cy="2606040"/>
          </a:xfrm>
          <a:prstGeom prst="line">
            <a:avLst/>
          </a:prstGeom>
          <a:noFill/>
          <a:ln w="6350">
            <a:solidFill>
              <a:srgbClr val="EEE9F6"/>
            </a:solidFill>
            <a:prstDash val="solid"/>
          </a:ln>
        </p:spPr>
      </p:sp>
      <p:sp>
        <p:nvSpPr>
          <p:cNvPr id="25" name="Shape 23"/>
          <p:cNvSpPr/>
          <p:nvPr/>
        </p:nvSpPr>
        <p:spPr>
          <a:xfrm>
            <a:off x="4960620" y="1417320"/>
            <a:ext cx="91" cy="2606040"/>
          </a:xfrm>
          <a:prstGeom prst="line">
            <a:avLst/>
          </a:prstGeom>
          <a:noFill/>
          <a:ln w="6350">
            <a:solidFill>
              <a:srgbClr val="D6CBE8"/>
            </a:solidFill>
            <a:prstDash val="solid"/>
          </a:ln>
        </p:spPr>
      </p:sp>
      <p:sp>
        <p:nvSpPr>
          <p:cNvPr id="26" name="Shape 24"/>
          <p:cNvSpPr/>
          <p:nvPr/>
        </p:nvSpPr>
        <p:spPr>
          <a:xfrm>
            <a:off x="5263515" y="1417320"/>
            <a:ext cx="91" cy="2606040"/>
          </a:xfrm>
          <a:prstGeom prst="line">
            <a:avLst/>
          </a:prstGeom>
          <a:noFill/>
          <a:ln w="6350">
            <a:solidFill>
              <a:srgbClr val="EEE9F6"/>
            </a:solidFill>
            <a:prstDash val="solid"/>
          </a:ln>
        </p:spPr>
      </p:sp>
      <p:sp>
        <p:nvSpPr>
          <p:cNvPr id="27" name="Shape 25"/>
          <p:cNvSpPr/>
          <p:nvPr/>
        </p:nvSpPr>
        <p:spPr>
          <a:xfrm>
            <a:off x="5566410" y="1417320"/>
            <a:ext cx="91" cy="2606040"/>
          </a:xfrm>
          <a:prstGeom prst="line">
            <a:avLst/>
          </a:prstGeom>
          <a:noFill/>
          <a:ln w="6350">
            <a:solidFill>
              <a:srgbClr val="D6CBE8"/>
            </a:solidFill>
            <a:prstDash val="solid"/>
          </a:ln>
        </p:spPr>
      </p:sp>
      <p:sp>
        <p:nvSpPr>
          <p:cNvPr id="28" name="Shape 26"/>
          <p:cNvSpPr/>
          <p:nvPr/>
        </p:nvSpPr>
        <p:spPr>
          <a:xfrm>
            <a:off x="5869305" y="1417320"/>
            <a:ext cx="91" cy="2606040"/>
          </a:xfrm>
          <a:prstGeom prst="line">
            <a:avLst/>
          </a:prstGeom>
          <a:noFill/>
          <a:ln w="6350">
            <a:solidFill>
              <a:srgbClr val="EEE9F6"/>
            </a:solidFill>
            <a:prstDash val="solid"/>
          </a:ln>
        </p:spPr>
      </p:sp>
      <p:sp>
        <p:nvSpPr>
          <p:cNvPr id="29" name="Shape 27"/>
          <p:cNvSpPr/>
          <p:nvPr/>
        </p:nvSpPr>
        <p:spPr>
          <a:xfrm>
            <a:off x="6172200" y="1417320"/>
            <a:ext cx="91" cy="2606040"/>
          </a:xfrm>
          <a:prstGeom prst="line">
            <a:avLst/>
          </a:prstGeom>
          <a:noFill/>
          <a:ln w="6350">
            <a:solidFill>
              <a:srgbClr val="D6CBE8"/>
            </a:solidFill>
            <a:prstDash val="solid"/>
          </a:ln>
        </p:spPr>
      </p:sp>
      <p:sp>
        <p:nvSpPr>
          <p:cNvPr id="30" name="Shape 28"/>
          <p:cNvSpPr/>
          <p:nvPr/>
        </p:nvSpPr>
        <p:spPr>
          <a:xfrm>
            <a:off x="1325880" y="4023360"/>
            <a:ext cx="4846320" cy="91"/>
          </a:xfrm>
          <a:prstGeom prst="line">
            <a:avLst/>
          </a:prstGeom>
          <a:noFill/>
          <a:ln w="6350">
            <a:solidFill>
              <a:srgbClr val="D6CBE8"/>
            </a:solidFill>
            <a:prstDash val="solid"/>
          </a:ln>
        </p:spPr>
      </p:sp>
      <p:sp>
        <p:nvSpPr>
          <p:cNvPr id="31" name="Shape 29"/>
          <p:cNvSpPr/>
          <p:nvPr/>
        </p:nvSpPr>
        <p:spPr>
          <a:xfrm>
            <a:off x="1325880" y="3860483"/>
            <a:ext cx="4846320" cy="91"/>
          </a:xfrm>
          <a:prstGeom prst="line">
            <a:avLst/>
          </a:prstGeom>
          <a:noFill/>
          <a:ln w="6350">
            <a:solidFill>
              <a:srgbClr val="EEE9F6"/>
            </a:solidFill>
            <a:prstDash val="solid"/>
          </a:ln>
        </p:spPr>
      </p:sp>
      <p:sp>
        <p:nvSpPr>
          <p:cNvPr id="32" name="Shape 30"/>
          <p:cNvSpPr/>
          <p:nvPr/>
        </p:nvSpPr>
        <p:spPr>
          <a:xfrm>
            <a:off x="1325880" y="3697605"/>
            <a:ext cx="4846320" cy="91"/>
          </a:xfrm>
          <a:prstGeom prst="line">
            <a:avLst/>
          </a:prstGeom>
          <a:noFill/>
          <a:ln w="6350">
            <a:solidFill>
              <a:srgbClr val="D6CBE8"/>
            </a:solidFill>
            <a:prstDash val="solid"/>
          </a:ln>
        </p:spPr>
      </p:sp>
      <p:sp>
        <p:nvSpPr>
          <p:cNvPr id="33" name="Shape 31"/>
          <p:cNvSpPr/>
          <p:nvPr/>
        </p:nvSpPr>
        <p:spPr>
          <a:xfrm>
            <a:off x="1325880" y="3534728"/>
            <a:ext cx="4846320" cy="91"/>
          </a:xfrm>
          <a:prstGeom prst="line">
            <a:avLst/>
          </a:prstGeom>
          <a:noFill/>
          <a:ln w="6350">
            <a:solidFill>
              <a:srgbClr val="EEE9F6"/>
            </a:solidFill>
            <a:prstDash val="solid"/>
          </a:ln>
        </p:spPr>
      </p:sp>
      <p:sp>
        <p:nvSpPr>
          <p:cNvPr id="34" name="Shape 32"/>
          <p:cNvSpPr/>
          <p:nvPr/>
        </p:nvSpPr>
        <p:spPr>
          <a:xfrm>
            <a:off x="1325880" y="3371850"/>
            <a:ext cx="4846320" cy="91"/>
          </a:xfrm>
          <a:prstGeom prst="line">
            <a:avLst/>
          </a:prstGeom>
          <a:noFill/>
          <a:ln w="6350">
            <a:solidFill>
              <a:srgbClr val="D6CBE8"/>
            </a:solidFill>
            <a:prstDash val="solid"/>
          </a:ln>
        </p:spPr>
      </p:sp>
      <p:sp>
        <p:nvSpPr>
          <p:cNvPr id="35" name="Shape 33"/>
          <p:cNvSpPr/>
          <p:nvPr/>
        </p:nvSpPr>
        <p:spPr>
          <a:xfrm>
            <a:off x="1325880" y="3208973"/>
            <a:ext cx="4846320" cy="91"/>
          </a:xfrm>
          <a:prstGeom prst="line">
            <a:avLst/>
          </a:prstGeom>
          <a:noFill/>
          <a:ln w="6350">
            <a:solidFill>
              <a:srgbClr val="EEE9F6"/>
            </a:solidFill>
            <a:prstDash val="solid"/>
          </a:ln>
        </p:spPr>
      </p:sp>
      <p:sp>
        <p:nvSpPr>
          <p:cNvPr id="36" name="Shape 34"/>
          <p:cNvSpPr/>
          <p:nvPr/>
        </p:nvSpPr>
        <p:spPr>
          <a:xfrm>
            <a:off x="1325880" y="3046095"/>
            <a:ext cx="4846320" cy="91"/>
          </a:xfrm>
          <a:prstGeom prst="line">
            <a:avLst/>
          </a:prstGeom>
          <a:noFill/>
          <a:ln w="6350">
            <a:solidFill>
              <a:srgbClr val="D6CBE8"/>
            </a:solidFill>
            <a:prstDash val="solid"/>
          </a:ln>
        </p:spPr>
      </p:sp>
      <p:sp>
        <p:nvSpPr>
          <p:cNvPr id="37" name="Shape 35"/>
          <p:cNvSpPr/>
          <p:nvPr/>
        </p:nvSpPr>
        <p:spPr>
          <a:xfrm>
            <a:off x="1325880" y="2883218"/>
            <a:ext cx="4846320" cy="91"/>
          </a:xfrm>
          <a:prstGeom prst="line">
            <a:avLst/>
          </a:prstGeom>
          <a:noFill/>
          <a:ln w="6350">
            <a:solidFill>
              <a:srgbClr val="EEE9F6"/>
            </a:solidFill>
            <a:prstDash val="solid"/>
          </a:ln>
        </p:spPr>
      </p:sp>
      <p:sp>
        <p:nvSpPr>
          <p:cNvPr id="38" name="Shape 36"/>
          <p:cNvSpPr/>
          <p:nvPr/>
        </p:nvSpPr>
        <p:spPr>
          <a:xfrm>
            <a:off x="1325880" y="2720340"/>
            <a:ext cx="4846320" cy="91"/>
          </a:xfrm>
          <a:prstGeom prst="line">
            <a:avLst/>
          </a:prstGeom>
          <a:noFill/>
          <a:ln w="6350">
            <a:solidFill>
              <a:srgbClr val="D6CBE8"/>
            </a:solidFill>
            <a:prstDash val="solid"/>
          </a:ln>
        </p:spPr>
      </p:sp>
      <p:sp>
        <p:nvSpPr>
          <p:cNvPr id="39" name="Shape 37"/>
          <p:cNvSpPr/>
          <p:nvPr/>
        </p:nvSpPr>
        <p:spPr>
          <a:xfrm>
            <a:off x="1325880" y="2557463"/>
            <a:ext cx="4846320" cy="91"/>
          </a:xfrm>
          <a:prstGeom prst="line">
            <a:avLst/>
          </a:prstGeom>
          <a:noFill/>
          <a:ln w="6350">
            <a:solidFill>
              <a:srgbClr val="EEE9F6"/>
            </a:solidFill>
            <a:prstDash val="solid"/>
          </a:ln>
        </p:spPr>
      </p:sp>
      <p:sp>
        <p:nvSpPr>
          <p:cNvPr id="40" name="Shape 38"/>
          <p:cNvSpPr/>
          <p:nvPr/>
        </p:nvSpPr>
        <p:spPr>
          <a:xfrm>
            <a:off x="1325880" y="2394585"/>
            <a:ext cx="4846320" cy="91"/>
          </a:xfrm>
          <a:prstGeom prst="line">
            <a:avLst/>
          </a:prstGeom>
          <a:noFill/>
          <a:ln w="6350">
            <a:solidFill>
              <a:srgbClr val="D6CBE8"/>
            </a:solidFill>
            <a:prstDash val="solid"/>
          </a:ln>
        </p:spPr>
      </p:sp>
      <p:sp>
        <p:nvSpPr>
          <p:cNvPr id="41" name="Shape 39"/>
          <p:cNvSpPr/>
          <p:nvPr/>
        </p:nvSpPr>
        <p:spPr>
          <a:xfrm>
            <a:off x="1325880" y="2231708"/>
            <a:ext cx="4846320" cy="91"/>
          </a:xfrm>
          <a:prstGeom prst="line">
            <a:avLst/>
          </a:prstGeom>
          <a:noFill/>
          <a:ln w="6350">
            <a:solidFill>
              <a:srgbClr val="EEE9F6"/>
            </a:solidFill>
            <a:prstDash val="solid"/>
          </a:ln>
        </p:spPr>
      </p:sp>
      <p:sp>
        <p:nvSpPr>
          <p:cNvPr id="42" name="Shape 40"/>
          <p:cNvSpPr/>
          <p:nvPr/>
        </p:nvSpPr>
        <p:spPr>
          <a:xfrm>
            <a:off x="1325880" y="2068830"/>
            <a:ext cx="4846320" cy="91"/>
          </a:xfrm>
          <a:prstGeom prst="line">
            <a:avLst/>
          </a:prstGeom>
          <a:noFill/>
          <a:ln w="6350">
            <a:solidFill>
              <a:srgbClr val="D6CBE8"/>
            </a:solidFill>
            <a:prstDash val="solid"/>
          </a:ln>
        </p:spPr>
      </p:sp>
      <p:sp>
        <p:nvSpPr>
          <p:cNvPr id="43" name="Shape 41"/>
          <p:cNvSpPr/>
          <p:nvPr/>
        </p:nvSpPr>
        <p:spPr>
          <a:xfrm>
            <a:off x="1325880" y="1905953"/>
            <a:ext cx="4846320" cy="91"/>
          </a:xfrm>
          <a:prstGeom prst="line">
            <a:avLst/>
          </a:prstGeom>
          <a:noFill/>
          <a:ln w="6350">
            <a:solidFill>
              <a:srgbClr val="EEE9F6"/>
            </a:solidFill>
            <a:prstDash val="solid"/>
          </a:ln>
        </p:spPr>
      </p:sp>
      <p:sp>
        <p:nvSpPr>
          <p:cNvPr id="44" name="Shape 42"/>
          <p:cNvSpPr/>
          <p:nvPr/>
        </p:nvSpPr>
        <p:spPr>
          <a:xfrm>
            <a:off x="1325880" y="1743075"/>
            <a:ext cx="4846320" cy="91"/>
          </a:xfrm>
          <a:prstGeom prst="line">
            <a:avLst/>
          </a:prstGeom>
          <a:noFill/>
          <a:ln w="6350">
            <a:solidFill>
              <a:srgbClr val="D6CBE8"/>
            </a:solidFill>
            <a:prstDash val="solid"/>
          </a:ln>
        </p:spPr>
      </p:sp>
      <p:sp>
        <p:nvSpPr>
          <p:cNvPr id="45" name="Shape 43"/>
          <p:cNvSpPr/>
          <p:nvPr/>
        </p:nvSpPr>
        <p:spPr>
          <a:xfrm>
            <a:off x="1325880" y="1580198"/>
            <a:ext cx="4846320" cy="91"/>
          </a:xfrm>
          <a:prstGeom prst="line">
            <a:avLst/>
          </a:prstGeom>
          <a:noFill/>
          <a:ln w="6350">
            <a:solidFill>
              <a:srgbClr val="EEE9F6"/>
            </a:solidFill>
            <a:prstDash val="solid"/>
          </a:ln>
        </p:spPr>
      </p:sp>
      <p:sp>
        <p:nvSpPr>
          <p:cNvPr id="46" name="Shape 44"/>
          <p:cNvSpPr/>
          <p:nvPr/>
        </p:nvSpPr>
        <p:spPr>
          <a:xfrm>
            <a:off x="1325880" y="1417320"/>
            <a:ext cx="4846320" cy="91"/>
          </a:xfrm>
          <a:prstGeom prst="line">
            <a:avLst/>
          </a:prstGeom>
          <a:noFill/>
          <a:ln w="6350">
            <a:solidFill>
              <a:srgbClr val="D6CBE8"/>
            </a:solidFill>
            <a:prstDash val="solid"/>
          </a:ln>
        </p:spPr>
      </p:sp>
      <p:sp>
        <p:nvSpPr>
          <p:cNvPr id="47" name="Shape 45"/>
          <p:cNvSpPr/>
          <p:nvPr/>
        </p:nvSpPr>
        <p:spPr>
          <a:xfrm>
            <a:off x="1325880" y="4023360"/>
            <a:ext cx="4846320" cy="91"/>
          </a:xfrm>
          <a:prstGeom prst="line">
            <a:avLst/>
          </a:prstGeom>
          <a:noFill/>
          <a:ln w="19050">
            <a:solidFill>
              <a:srgbClr val="2A1F3D"/>
            </a:solidFill>
            <a:prstDash val="solid"/>
          </a:ln>
        </p:spPr>
      </p:sp>
      <p:sp>
        <p:nvSpPr>
          <p:cNvPr id="48" name="Shape 46"/>
          <p:cNvSpPr/>
          <p:nvPr/>
        </p:nvSpPr>
        <p:spPr>
          <a:xfrm flipV="1">
            <a:off x="1325880" y="1417320"/>
            <a:ext cx="91" cy="2606040"/>
          </a:xfrm>
          <a:prstGeom prst="line">
            <a:avLst/>
          </a:prstGeom>
          <a:noFill/>
          <a:ln w="19050">
            <a:solidFill>
              <a:srgbClr val="2A1F3D"/>
            </a:solidFill>
            <a:prstDash val="solid"/>
          </a:ln>
        </p:spPr>
      </p:sp>
      <p:sp>
        <p:nvSpPr>
          <p:cNvPr id="49" name="Shape 47"/>
          <p:cNvSpPr/>
          <p:nvPr/>
        </p:nvSpPr>
        <p:spPr>
          <a:xfrm>
            <a:off x="1325880" y="4023360"/>
            <a:ext cx="91" cy="54864"/>
          </a:xfrm>
          <a:prstGeom prst="line">
            <a:avLst/>
          </a:prstGeom>
          <a:noFill/>
          <a:ln w="12700">
            <a:solidFill>
              <a:srgbClr val="2A1F3D"/>
            </a:solidFill>
            <a:prstDash val="solid"/>
          </a:ln>
        </p:spPr>
      </p:sp>
      <p:sp>
        <p:nvSpPr>
          <p:cNvPr id="50" name="Text 48"/>
          <p:cNvSpPr/>
          <p:nvPr/>
        </p:nvSpPr>
        <p:spPr>
          <a:xfrm>
            <a:off x="1051560" y="407822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0.0</a:t>
            </a:r>
            <a:endParaRPr lang="en-US" sz="1000" dirty="0"/>
          </a:p>
        </p:txBody>
      </p:sp>
      <p:sp>
        <p:nvSpPr>
          <p:cNvPr id="51" name="Shape 49"/>
          <p:cNvSpPr/>
          <p:nvPr/>
        </p:nvSpPr>
        <p:spPr>
          <a:xfrm>
            <a:off x="1931670" y="4023360"/>
            <a:ext cx="91" cy="54864"/>
          </a:xfrm>
          <a:prstGeom prst="line">
            <a:avLst/>
          </a:prstGeom>
          <a:noFill/>
          <a:ln w="12700">
            <a:solidFill>
              <a:srgbClr val="2A1F3D"/>
            </a:solidFill>
            <a:prstDash val="solid"/>
          </a:ln>
        </p:spPr>
      </p:sp>
      <p:sp>
        <p:nvSpPr>
          <p:cNvPr id="52" name="Text 50"/>
          <p:cNvSpPr/>
          <p:nvPr/>
        </p:nvSpPr>
        <p:spPr>
          <a:xfrm>
            <a:off x="1657350" y="407822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0.2</a:t>
            </a:r>
            <a:endParaRPr lang="en-US" sz="1000" dirty="0"/>
          </a:p>
        </p:txBody>
      </p:sp>
      <p:sp>
        <p:nvSpPr>
          <p:cNvPr id="53" name="Shape 51"/>
          <p:cNvSpPr/>
          <p:nvPr/>
        </p:nvSpPr>
        <p:spPr>
          <a:xfrm>
            <a:off x="2537460" y="4023360"/>
            <a:ext cx="91" cy="54864"/>
          </a:xfrm>
          <a:prstGeom prst="line">
            <a:avLst/>
          </a:prstGeom>
          <a:noFill/>
          <a:ln w="12700">
            <a:solidFill>
              <a:srgbClr val="2A1F3D"/>
            </a:solidFill>
            <a:prstDash val="solid"/>
          </a:ln>
        </p:spPr>
      </p:sp>
      <p:sp>
        <p:nvSpPr>
          <p:cNvPr id="54" name="Text 52"/>
          <p:cNvSpPr/>
          <p:nvPr/>
        </p:nvSpPr>
        <p:spPr>
          <a:xfrm>
            <a:off x="2263140" y="407822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0.4</a:t>
            </a:r>
            <a:endParaRPr lang="en-US" sz="1000" dirty="0"/>
          </a:p>
        </p:txBody>
      </p:sp>
      <p:sp>
        <p:nvSpPr>
          <p:cNvPr id="55" name="Shape 53"/>
          <p:cNvSpPr/>
          <p:nvPr/>
        </p:nvSpPr>
        <p:spPr>
          <a:xfrm>
            <a:off x="3143250" y="4023360"/>
            <a:ext cx="91" cy="54864"/>
          </a:xfrm>
          <a:prstGeom prst="line">
            <a:avLst/>
          </a:prstGeom>
          <a:noFill/>
          <a:ln w="12700">
            <a:solidFill>
              <a:srgbClr val="2A1F3D"/>
            </a:solidFill>
            <a:prstDash val="solid"/>
          </a:ln>
        </p:spPr>
      </p:sp>
      <p:sp>
        <p:nvSpPr>
          <p:cNvPr id="56" name="Text 54"/>
          <p:cNvSpPr/>
          <p:nvPr/>
        </p:nvSpPr>
        <p:spPr>
          <a:xfrm>
            <a:off x="2868930" y="407822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0.6</a:t>
            </a:r>
            <a:endParaRPr lang="en-US" sz="1000" dirty="0"/>
          </a:p>
        </p:txBody>
      </p:sp>
      <p:sp>
        <p:nvSpPr>
          <p:cNvPr id="57" name="Shape 55"/>
          <p:cNvSpPr/>
          <p:nvPr/>
        </p:nvSpPr>
        <p:spPr>
          <a:xfrm>
            <a:off x="3749040" y="4023360"/>
            <a:ext cx="91" cy="54864"/>
          </a:xfrm>
          <a:prstGeom prst="line">
            <a:avLst/>
          </a:prstGeom>
          <a:noFill/>
          <a:ln w="12700">
            <a:solidFill>
              <a:srgbClr val="2A1F3D"/>
            </a:solidFill>
            <a:prstDash val="solid"/>
          </a:ln>
        </p:spPr>
      </p:sp>
      <p:sp>
        <p:nvSpPr>
          <p:cNvPr id="58" name="Text 56"/>
          <p:cNvSpPr/>
          <p:nvPr/>
        </p:nvSpPr>
        <p:spPr>
          <a:xfrm>
            <a:off x="3474720" y="407822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0.8</a:t>
            </a:r>
            <a:endParaRPr lang="en-US" sz="1000" dirty="0"/>
          </a:p>
        </p:txBody>
      </p:sp>
      <p:sp>
        <p:nvSpPr>
          <p:cNvPr id="59" name="Shape 57"/>
          <p:cNvSpPr/>
          <p:nvPr/>
        </p:nvSpPr>
        <p:spPr>
          <a:xfrm>
            <a:off x="4354830" y="4023360"/>
            <a:ext cx="91" cy="54864"/>
          </a:xfrm>
          <a:prstGeom prst="line">
            <a:avLst/>
          </a:prstGeom>
          <a:noFill/>
          <a:ln w="12700">
            <a:solidFill>
              <a:srgbClr val="2A1F3D"/>
            </a:solidFill>
            <a:prstDash val="solid"/>
          </a:ln>
        </p:spPr>
      </p:sp>
      <p:sp>
        <p:nvSpPr>
          <p:cNvPr id="60" name="Text 58"/>
          <p:cNvSpPr/>
          <p:nvPr/>
        </p:nvSpPr>
        <p:spPr>
          <a:xfrm>
            <a:off x="4080510" y="407822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1.0</a:t>
            </a:r>
            <a:endParaRPr lang="en-US" sz="1000" dirty="0"/>
          </a:p>
        </p:txBody>
      </p:sp>
      <p:sp>
        <p:nvSpPr>
          <p:cNvPr id="61" name="Shape 59"/>
          <p:cNvSpPr/>
          <p:nvPr/>
        </p:nvSpPr>
        <p:spPr>
          <a:xfrm>
            <a:off x="4960620" y="4023360"/>
            <a:ext cx="91" cy="54864"/>
          </a:xfrm>
          <a:prstGeom prst="line">
            <a:avLst/>
          </a:prstGeom>
          <a:noFill/>
          <a:ln w="12700">
            <a:solidFill>
              <a:srgbClr val="2A1F3D"/>
            </a:solidFill>
            <a:prstDash val="solid"/>
          </a:ln>
        </p:spPr>
      </p:sp>
      <p:sp>
        <p:nvSpPr>
          <p:cNvPr id="62" name="Text 60"/>
          <p:cNvSpPr/>
          <p:nvPr/>
        </p:nvSpPr>
        <p:spPr>
          <a:xfrm>
            <a:off x="4686300" y="407822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1.2</a:t>
            </a:r>
            <a:endParaRPr lang="en-US" sz="1000" dirty="0"/>
          </a:p>
        </p:txBody>
      </p:sp>
      <p:sp>
        <p:nvSpPr>
          <p:cNvPr id="63" name="Shape 61"/>
          <p:cNvSpPr/>
          <p:nvPr/>
        </p:nvSpPr>
        <p:spPr>
          <a:xfrm>
            <a:off x="5566410" y="4023360"/>
            <a:ext cx="91" cy="54864"/>
          </a:xfrm>
          <a:prstGeom prst="line">
            <a:avLst/>
          </a:prstGeom>
          <a:noFill/>
          <a:ln w="12700">
            <a:solidFill>
              <a:srgbClr val="2A1F3D"/>
            </a:solidFill>
            <a:prstDash val="solid"/>
          </a:ln>
        </p:spPr>
      </p:sp>
      <p:sp>
        <p:nvSpPr>
          <p:cNvPr id="64" name="Text 62"/>
          <p:cNvSpPr/>
          <p:nvPr/>
        </p:nvSpPr>
        <p:spPr>
          <a:xfrm>
            <a:off x="5292090" y="407822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1.4</a:t>
            </a:r>
            <a:endParaRPr lang="en-US" sz="1000" dirty="0"/>
          </a:p>
        </p:txBody>
      </p:sp>
      <p:sp>
        <p:nvSpPr>
          <p:cNvPr id="65" name="Shape 63"/>
          <p:cNvSpPr/>
          <p:nvPr/>
        </p:nvSpPr>
        <p:spPr>
          <a:xfrm>
            <a:off x="6172200" y="4023360"/>
            <a:ext cx="91" cy="54864"/>
          </a:xfrm>
          <a:prstGeom prst="line">
            <a:avLst/>
          </a:prstGeom>
          <a:noFill/>
          <a:ln w="12700">
            <a:solidFill>
              <a:srgbClr val="2A1F3D"/>
            </a:solidFill>
            <a:prstDash val="solid"/>
          </a:ln>
        </p:spPr>
      </p:sp>
      <p:sp>
        <p:nvSpPr>
          <p:cNvPr id="66" name="Text 64"/>
          <p:cNvSpPr/>
          <p:nvPr/>
        </p:nvSpPr>
        <p:spPr>
          <a:xfrm>
            <a:off x="5897880" y="4078224"/>
            <a:ext cx="548640" cy="182880"/>
          </a:xfrm>
          <a:prstGeom prst="rect">
            <a:avLst/>
          </a:prstGeom>
          <a:noFill/>
          <a:ln/>
        </p:spPr>
        <p:txBody>
          <a:bodyPr wrap="square" lIns="0" tIns="0" rIns="0" bIns="0" rtlCol="0" anchor="ctr"/>
          <a:lstStyle/>
          <a:p>
            <a:pPr algn="ctr" indent="0" marL="0">
              <a:buNone/>
            </a:pPr>
            <a:r>
              <a:rPr lang="en-US" sz="1000" dirty="0">
                <a:solidFill>
                  <a:srgbClr val="262B3A"/>
                </a:solidFill>
                <a:latin typeface="Calibri" pitchFamily="34" charset="0"/>
                <a:ea typeface="Calibri" pitchFamily="34" charset="-122"/>
                <a:cs typeface="Calibri" pitchFamily="34" charset="-120"/>
              </a:rPr>
              <a:t>1.6</a:t>
            </a:r>
            <a:endParaRPr lang="en-US" sz="1000" dirty="0"/>
          </a:p>
        </p:txBody>
      </p:sp>
      <p:sp>
        <p:nvSpPr>
          <p:cNvPr id="67" name="Shape 65"/>
          <p:cNvSpPr/>
          <p:nvPr/>
        </p:nvSpPr>
        <p:spPr>
          <a:xfrm>
            <a:off x="1271016" y="4023360"/>
            <a:ext cx="54864" cy="91"/>
          </a:xfrm>
          <a:prstGeom prst="line">
            <a:avLst/>
          </a:prstGeom>
          <a:noFill/>
          <a:ln w="12700">
            <a:solidFill>
              <a:srgbClr val="2A1F3D"/>
            </a:solidFill>
            <a:prstDash val="solid"/>
          </a:ln>
        </p:spPr>
      </p:sp>
      <p:sp>
        <p:nvSpPr>
          <p:cNvPr id="68" name="Text 66"/>
          <p:cNvSpPr/>
          <p:nvPr/>
        </p:nvSpPr>
        <p:spPr>
          <a:xfrm>
            <a:off x="886968" y="393192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0</a:t>
            </a:r>
            <a:endParaRPr lang="en-US" sz="1000" dirty="0"/>
          </a:p>
        </p:txBody>
      </p:sp>
      <p:sp>
        <p:nvSpPr>
          <p:cNvPr id="69" name="Shape 67"/>
          <p:cNvSpPr/>
          <p:nvPr/>
        </p:nvSpPr>
        <p:spPr>
          <a:xfrm>
            <a:off x="1271016" y="3697605"/>
            <a:ext cx="54864" cy="91"/>
          </a:xfrm>
          <a:prstGeom prst="line">
            <a:avLst/>
          </a:prstGeom>
          <a:noFill/>
          <a:ln w="12700">
            <a:solidFill>
              <a:srgbClr val="2A1F3D"/>
            </a:solidFill>
            <a:prstDash val="solid"/>
          </a:ln>
        </p:spPr>
      </p:sp>
      <p:sp>
        <p:nvSpPr>
          <p:cNvPr id="70" name="Text 68"/>
          <p:cNvSpPr/>
          <p:nvPr/>
        </p:nvSpPr>
        <p:spPr>
          <a:xfrm>
            <a:off x="886968" y="3606165"/>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1</a:t>
            </a:r>
            <a:endParaRPr lang="en-US" sz="1000" dirty="0"/>
          </a:p>
        </p:txBody>
      </p:sp>
      <p:sp>
        <p:nvSpPr>
          <p:cNvPr id="71" name="Shape 69"/>
          <p:cNvSpPr/>
          <p:nvPr/>
        </p:nvSpPr>
        <p:spPr>
          <a:xfrm>
            <a:off x="1271016" y="3371850"/>
            <a:ext cx="54864" cy="91"/>
          </a:xfrm>
          <a:prstGeom prst="line">
            <a:avLst/>
          </a:prstGeom>
          <a:noFill/>
          <a:ln w="12700">
            <a:solidFill>
              <a:srgbClr val="2A1F3D"/>
            </a:solidFill>
            <a:prstDash val="solid"/>
          </a:ln>
        </p:spPr>
      </p:sp>
      <p:sp>
        <p:nvSpPr>
          <p:cNvPr id="72" name="Text 70"/>
          <p:cNvSpPr/>
          <p:nvPr/>
        </p:nvSpPr>
        <p:spPr>
          <a:xfrm>
            <a:off x="886968" y="328041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2</a:t>
            </a:r>
            <a:endParaRPr lang="en-US" sz="1000" dirty="0"/>
          </a:p>
        </p:txBody>
      </p:sp>
      <p:sp>
        <p:nvSpPr>
          <p:cNvPr id="73" name="Shape 71"/>
          <p:cNvSpPr/>
          <p:nvPr/>
        </p:nvSpPr>
        <p:spPr>
          <a:xfrm>
            <a:off x="1271016" y="3046095"/>
            <a:ext cx="54864" cy="91"/>
          </a:xfrm>
          <a:prstGeom prst="line">
            <a:avLst/>
          </a:prstGeom>
          <a:noFill/>
          <a:ln w="12700">
            <a:solidFill>
              <a:srgbClr val="2A1F3D"/>
            </a:solidFill>
            <a:prstDash val="solid"/>
          </a:ln>
        </p:spPr>
      </p:sp>
      <p:sp>
        <p:nvSpPr>
          <p:cNvPr id="74" name="Text 72"/>
          <p:cNvSpPr/>
          <p:nvPr/>
        </p:nvSpPr>
        <p:spPr>
          <a:xfrm>
            <a:off x="886968" y="2954655"/>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3</a:t>
            </a:r>
            <a:endParaRPr lang="en-US" sz="1000" dirty="0"/>
          </a:p>
        </p:txBody>
      </p:sp>
      <p:sp>
        <p:nvSpPr>
          <p:cNvPr id="75" name="Shape 73"/>
          <p:cNvSpPr/>
          <p:nvPr/>
        </p:nvSpPr>
        <p:spPr>
          <a:xfrm>
            <a:off x="1271016" y="2720340"/>
            <a:ext cx="54864" cy="91"/>
          </a:xfrm>
          <a:prstGeom prst="line">
            <a:avLst/>
          </a:prstGeom>
          <a:noFill/>
          <a:ln w="12700">
            <a:solidFill>
              <a:srgbClr val="2A1F3D"/>
            </a:solidFill>
            <a:prstDash val="solid"/>
          </a:ln>
        </p:spPr>
      </p:sp>
      <p:sp>
        <p:nvSpPr>
          <p:cNvPr id="76" name="Text 74"/>
          <p:cNvSpPr/>
          <p:nvPr/>
        </p:nvSpPr>
        <p:spPr>
          <a:xfrm>
            <a:off x="886968" y="262890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4</a:t>
            </a:r>
            <a:endParaRPr lang="en-US" sz="1000" dirty="0"/>
          </a:p>
        </p:txBody>
      </p:sp>
      <p:sp>
        <p:nvSpPr>
          <p:cNvPr id="77" name="Shape 75"/>
          <p:cNvSpPr/>
          <p:nvPr/>
        </p:nvSpPr>
        <p:spPr>
          <a:xfrm>
            <a:off x="1271016" y="2394585"/>
            <a:ext cx="54864" cy="91"/>
          </a:xfrm>
          <a:prstGeom prst="line">
            <a:avLst/>
          </a:prstGeom>
          <a:noFill/>
          <a:ln w="12700">
            <a:solidFill>
              <a:srgbClr val="2A1F3D"/>
            </a:solidFill>
            <a:prstDash val="solid"/>
          </a:ln>
        </p:spPr>
      </p:sp>
      <p:sp>
        <p:nvSpPr>
          <p:cNvPr id="78" name="Text 76"/>
          <p:cNvSpPr/>
          <p:nvPr/>
        </p:nvSpPr>
        <p:spPr>
          <a:xfrm>
            <a:off x="886968" y="2303145"/>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5</a:t>
            </a:r>
            <a:endParaRPr lang="en-US" sz="1000" dirty="0"/>
          </a:p>
        </p:txBody>
      </p:sp>
      <p:sp>
        <p:nvSpPr>
          <p:cNvPr id="79" name="Shape 77"/>
          <p:cNvSpPr/>
          <p:nvPr/>
        </p:nvSpPr>
        <p:spPr>
          <a:xfrm>
            <a:off x="1271016" y="2068830"/>
            <a:ext cx="54864" cy="91"/>
          </a:xfrm>
          <a:prstGeom prst="line">
            <a:avLst/>
          </a:prstGeom>
          <a:noFill/>
          <a:ln w="12700">
            <a:solidFill>
              <a:srgbClr val="2A1F3D"/>
            </a:solidFill>
            <a:prstDash val="solid"/>
          </a:ln>
        </p:spPr>
      </p:sp>
      <p:sp>
        <p:nvSpPr>
          <p:cNvPr id="80" name="Text 78"/>
          <p:cNvSpPr/>
          <p:nvPr/>
        </p:nvSpPr>
        <p:spPr>
          <a:xfrm>
            <a:off x="886968" y="197739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6</a:t>
            </a:r>
            <a:endParaRPr lang="en-US" sz="1000" dirty="0"/>
          </a:p>
        </p:txBody>
      </p:sp>
      <p:sp>
        <p:nvSpPr>
          <p:cNvPr id="81" name="Shape 79"/>
          <p:cNvSpPr/>
          <p:nvPr/>
        </p:nvSpPr>
        <p:spPr>
          <a:xfrm>
            <a:off x="1271016" y="1743075"/>
            <a:ext cx="54864" cy="91"/>
          </a:xfrm>
          <a:prstGeom prst="line">
            <a:avLst/>
          </a:prstGeom>
          <a:noFill/>
          <a:ln w="12700">
            <a:solidFill>
              <a:srgbClr val="2A1F3D"/>
            </a:solidFill>
            <a:prstDash val="solid"/>
          </a:ln>
        </p:spPr>
      </p:sp>
      <p:sp>
        <p:nvSpPr>
          <p:cNvPr id="82" name="Text 80"/>
          <p:cNvSpPr/>
          <p:nvPr/>
        </p:nvSpPr>
        <p:spPr>
          <a:xfrm>
            <a:off x="886968" y="1651635"/>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7</a:t>
            </a:r>
            <a:endParaRPr lang="en-US" sz="1000" dirty="0"/>
          </a:p>
        </p:txBody>
      </p:sp>
      <p:sp>
        <p:nvSpPr>
          <p:cNvPr id="83" name="Shape 81"/>
          <p:cNvSpPr/>
          <p:nvPr/>
        </p:nvSpPr>
        <p:spPr>
          <a:xfrm>
            <a:off x="1271016" y="1417320"/>
            <a:ext cx="54864" cy="91"/>
          </a:xfrm>
          <a:prstGeom prst="line">
            <a:avLst/>
          </a:prstGeom>
          <a:noFill/>
          <a:ln w="12700">
            <a:solidFill>
              <a:srgbClr val="2A1F3D"/>
            </a:solidFill>
            <a:prstDash val="solid"/>
          </a:ln>
        </p:spPr>
      </p:sp>
      <p:sp>
        <p:nvSpPr>
          <p:cNvPr id="84" name="Text 82"/>
          <p:cNvSpPr/>
          <p:nvPr/>
        </p:nvSpPr>
        <p:spPr>
          <a:xfrm>
            <a:off x="886968" y="1325880"/>
            <a:ext cx="365760" cy="182880"/>
          </a:xfrm>
          <a:prstGeom prst="rect">
            <a:avLst/>
          </a:prstGeom>
          <a:noFill/>
          <a:ln/>
        </p:spPr>
        <p:txBody>
          <a:bodyPr wrap="square" lIns="0" tIns="0" rIns="0" bIns="0" rtlCol="0" anchor="ctr"/>
          <a:lstStyle/>
          <a:p>
            <a:pPr algn="r" indent="0" marL="0">
              <a:buNone/>
            </a:pPr>
            <a:r>
              <a:rPr lang="en-US" sz="1000" dirty="0">
                <a:solidFill>
                  <a:srgbClr val="262B3A"/>
                </a:solidFill>
                <a:latin typeface="Calibri" pitchFamily="34" charset="0"/>
                <a:ea typeface="Calibri" pitchFamily="34" charset="-122"/>
                <a:cs typeface="Calibri" pitchFamily="34" charset="-120"/>
              </a:rPr>
              <a:t>8</a:t>
            </a:r>
            <a:endParaRPr lang="en-US" sz="1000" dirty="0"/>
          </a:p>
        </p:txBody>
      </p:sp>
      <p:sp>
        <p:nvSpPr>
          <p:cNvPr id="85" name="Text 83"/>
          <p:cNvSpPr/>
          <p:nvPr/>
        </p:nvSpPr>
        <p:spPr>
          <a:xfrm>
            <a:off x="1325880" y="4270248"/>
            <a:ext cx="484632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Mass of MgCO₃ added / g</a:t>
            </a:r>
            <a:endParaRPr lang="en-US" sz="1050" dirty="0"/>
          </a:p>
        </p:txBody>
      </p:sp>
      <p:sp>
        <p:nvSpPr>
          <p:cNvPr id="86" name="Text 84"/>
          <p:cNvSpPr/>
          <p:nvPr/>
        </p:nvSpPr>
        <p:spPr>
          <a:xfrm rot="16200000">
            <a:off x="-544068" y="2592324"/>
            <a:ext cx="2606040" cy="256032"/>
          </a:xfrm>
          <a:prstGeom prst="rect">
            <a:avLst/>
          </a:prstGeom>
          <a:noFill/>
          <a:ln/>
        </p:spPr>
        <p:txBody>
          <a:bodyPr wrap="square" lIns="0" tIns="0" rIns="0" bIns="0" rtlCol="0" anchor="ctr"/>
          <a:lstStyle/>
          <a:p>
            <a:pPr algn="ctr" indent="0" marL="0">
              <a:buNone/>
            </a:pPr>
            <a:r>
              <a:rPr lang="en-US" sz="1050" b="1" dirty="0">
                <a:solidFill>
                  <a:srgbClr val="262B3A"/>
                </a:solidFill>
                <a:latin typeface="Calibri" pitchFamily="34" charset="0"/>
                <a:ea typeface="Calibri" pitchFamily="34" charset="-122"/>
                <a:cs typeface="Calibri" pitchFamily="34" charset="-120"/>
              </a:rPr>
              <a:t>pH</a:t>
            </a:r>
            <a:endParaRPr lang="en-US" sz="1050" dirty="0"/>
          </a:p>
        </p:txBody>
      </p:sp>
      <p:sp>
        <p:nvSpPr>
          <p:cNvPr id="87" name="Shape 85"/>
          <p:cNvSpPr/>
          <p:nvPr/>
        </p:nvSpPr>
        <p:spPr>
          <a:xfrm flipV="1">
            <a:off x="1325880" y="4020649"/>
            <a:ext cx="60579" cy="2711"/>
          </a:xfrm>
          <a:prstGeom prst="line">
            <a:avLst/>
          </a:prstGeom>
          <a:noFill/>
          <a:ln w="25400">
            <a:solidFill>
              <a:srgbClr val="6A3FA0"/>
            </a:solidFill>
            <a:prstDash val="solid"/>
          </a:ln>
        </p:spPr>
      </p:sp>
      <p:sp>
        <p:nvSpPr>
          <p:cNvPr id="88" name="Shape 86"/>
          <p:cNvSpPr/>
          <p:nvPr/>
        </p:nvSpPr>
        <p:spPr>
          <a:xfrm flipV="1">
            <a:off x="1386459" y="4017885"/>
            <a:ext cx="60579" cy="2764"/>
          </a:xfrm>
          <a:prstGeom prst="line">
            <a:avLst/>
          </a:prstGeom>
          <a:noFill/>
          <a:ln w="25400">
            <a:solidFill>
              <a:srgbClr val="6A3FA0"/>
            </a:solidFill>
            <a:prstDash val="solid"/>
          </a:ln>
        </p:spPr>
      </p:sp>
      <p:sp>
        <p:nvSpPr>
          <p:cNvPr id="89" name="Shape 87"/>
          <p:cNvSpPr/>
          <p:nvPr/>
        </p:nvSpPr>
        <p:spPr>
          <a:xfrm flipV="1">
            <a:off x="1447038" y="4015066"/>
            <a:ext cx="60579" cy="2819"/>
          </a:xfrm>
          <a:prstGeom prst="line">
            <a:avLst/>
          </a:prstGeom>
          <a:noFill/>
          <a:ln w="25400">
            <a:solidFill>
              <a:srgbClr val="6A3FA0"/>
            </a:solidFill>
            <a:prstDash val="solid"/>
          </a:ln>
        </p:spPr>
      </p:sp>
      <p:sp>
        <p:nvSpPr>
          <p:cNvPr id="90" name="Shape 88"/>
          <p:cNvSpPr/>
          <p:nvPr/>
        </p:nvSpPr>
        <p:spPr>
          <a:xfrm flipV="1">
            <a:off x="1507617" y="4012190"/>
            <a:ext cx="60579" cy="2876"/>
          </a:xfrm>
          <a:prstGeom prst="line">
            <a:avLst/>
          </a:prstGeom>
          <a:noFill/>
          <a:ln w="25400">
            <a:solidFill>
              <a:srgbClr val="6A3FA0"/>
            </a:solidFill>
            <a:prstDash val="solid"/>
          </a:ln>
        </p:spPr>
      </p:sp>
      <p:sp>
        <p:nvSpPr>
          <p:cNvPr id="91" name="Shape 89"/>
          <p:cNvSpPr/>
          <p:nvPr/>
        </p:nvSpPr>
        <p:spPr>
          <a:xfrm flipV="1">
            <a:off x="1568196" y="4009254"/>
            <a:ext cx="60579" cy="2936"/>
          </a:xfrm>
          <a:prstGeom prst="line">
            <a:avLst/>
          </a:prstGeom>
          <a:noFill/>
          <a:ln w="25400">
            <a:solidFill>
              <a:srgbClr val="6A3FA0"/>
            </a:solidFill>
            <a:prstDash val="solid"/>
          </a:ln>
        </p:spPr>
      </p:sp>
      <p:sp>
        <p:nvSpPr>
          <p:cNvPr id="92" name="Shape 90"/>
          <p:cNvSpPr/>
          <p:nvPr/>
        </p:nvSpPr>
        <p:spPr>
          <a:xfrm flipV="1">
            <a:off x="1628775" y="4006256"/>
            <a:ext cx="60579" cy="2998"/>
          </a:xfrm>
          <a:prstGeom prst="line">
            <a:avLst/>
          </a:prstGeom>
          <a:noFill/>
          <a:ln w="25400">
            <a:solidFill>
              <a:srgbClr val="6A3FA0"/>
            </a:solidFill>
            <a:prstDash val="solid"/>
          </a:ln>
        </p:spPr>
      </p:sp>
      <p:sp>
        <p:nvSpPr>
          <p:cNvPr id="93" name="Shape 91"/>
          <p:cNvSpPr/>
          <p:nvPr/>
        </p:nvSpPr>
        <p:spPr>
          <a:xfrm flipV="1">
            <a:off x="1689354" y="4003192"/>
            <a:ext cx="60579" cy="3063"/>
          </a:xfrm>
          <a:prstGeom prst="line">
            <a:avLst/>
          </a:prstGeom>
          <a:noFill/>
          <a:ln w="25400">
            <a:solidFill>
              <a:srgbClr val="6A3FA0"/>
            </a:solidFill>
            <a:prstDash val="solid"/>
          </a:ln>
        </p:spPr>
      </p:sp>
      <p:sp>
        <p:nvSpPr>
          <p:cNvPr id="94" name="Shape 92"/>
          <p:cNvSpPr/>
          <p:nvPr/>
        </p:nvSpPr>
        <p:spPr>
          <a:xfrm flipV="1">
            <a:off x="1749933" y="4000062"/>
            <a:ext cx="60579" cy="3131"/>
          </a:xfrm>
          <a:prstGeom prst="line">
            <a:avLst/>
          </a:prstGeom>
          <a:noFill/>
          <a:ln w="25400">
            <a:solidFill>
              <a:srgbClr val="6A3FA0"/>
            </a:solidFill>
            <a:prstDash val="solid"/>
          </a:ln>
        </p:spPr>
      </p:sp>
      <p:sp>
        <p:nvSpPr>
          <p:cNvPr id="95" name="Shape 93"/>
          <p:cNvSpPr/>
          <p:nvPr/>
        </p:nvSpPr>
        <p:spPr>
          <a:xfrm flipV="1">
            <a:off x="1810512" y="3996860"/>
            <a:ext cx="60579" cy="3202"/>
          </a:xfrm>
          <a:prstGeom prst="line">
            <a:avLst/>
          </a:prstGeom>
          <a:noFill/>
          <a:ln w="25400">
            <a:solidFill>
              <a:srgbClr val="6A3FA0"/>
            </a:solidFill>
            <a:prstDash val="solid"/>
          </a:ln>
        </p:spPr>
      </p:sp>
      <p:sp>
        <p:nvSpPr>
          <p:cNvPr id="96" name="Shape 94"/>
          <p:cNvSpPr/>
          <p:nvPr/>
        </p:nvSpPr>
        <p:spPr>
          <a:xfrm flipV="1">
            <a:off x="1871091" y="3993584"/>
            <a:ext cx="60579" cy="3276"/>
          </a:xfrm>
          <a:prstGeom prst="line">
            <a:avLst/>
          </a:prstGeom>
          <a:noFill/>
          <a:ln w="25400">
            <a:solidFill>
              <a:srgbClr val="6A3FA0"/>
            </a:solidFill>
            <a:prstDash val="solid"/>
          </a:ln>
        </p:spPr>
      </p:sp>
      <p:sp>
        <p:nvSpPr>
          <p:cNvPr id="97" name="Shape 95"/>
          <p:cNvSpPr/>
          <p:nvPr/>
        </p:nvSpPr>
        <p:spPr>
          <a:xfrm flipV="1">
            <a:off x="1931670" y="3990230"/>
            <a:ext cx="60579" cy="3354"/>
          </a:xfrm>
          <a:prstGeom prst="line">
            <a:avLst/>
          </a:prstGeom>
          <a:noFill/>
          <a:ln w="25400">
            <a:solidFill>
              <a:srgbClr val="6A3FA0"/>
            </a:solidFill>
            <a:prstDash val="solid"/>
          </a:ln>
        </p:spPr>
      </p:sp>
      <p:sp>
        <p:nvSpPr>
          <p:cNvPr id="98" name="Shape 96"/>
          <p:cNvSpPr/>
          <p:nvPr/>
        </p:nvSpPr>
        <p:spPr>
          <a:xfrm flipV="1">
            <a:off x="1992249" y="3986795"/>
            <a:ext cx="60579" cy="3435"/>
          </a:xfrm>
          <a:prstGeom prst="line">
            <a:avLst/>
          </a:prstGeom>
          <a:noFill/>
          <a:ln w="25400">
            <a:solidFill>
              <a:srgbClr val="6A3FA0"/>
            </a:solidFill>
            <a:prstDash val="solid"/>
          </a:ln>
        </p:spPr>
      </p:sp>
      <p:sp>
        <p:nvSpPr>
          <p:cNvPr id="99" name="Shape 97"/>
          <p:cNvSpPr/>
          <p:nvPr/>
        </p:nvSpPr>
        <p:spPr>
          <a:xfrm flipV="1">
            <a:off x="2052828" y="3983275"/>
            <a:ext cx="60579" cy="3521"/>
          </a:xfrm>
          <a:prstGeom prst="line">
            <a:avLst/>
          </a:prstGeom>
          <a:noFill/>
          <a:ln w="25400">
            <a:solidFill>
              <a:srgbClr val="6A3FA0"/>
            </a:solidFill>
            <a:prstDash val="solid"/>
          </a:ln>
        </p:spPr>
      </p:sp>
      <p:sp>
        <p:nvSpPr>
          <p:cNvPr id="100" name="Shape 98"/>
          <p:cNvSpPr/>
          <p:nvPr/>
        </p:nvSpPr>
        <p:spPr>
          <a:xfrm flipV="1">
            <a:off x="2113407" y="3979664"/>
            <a:ext cx="60579" cy="3610"/>
          </a:xfrm>
          <a:prstGeom prst="line">
            <a:avLst/>
          </a:prstGeom>
          <a:noFill/>
          <a:ln w="25400">
            <a:solidFill>
              <a:srgbClr val="6A3FA0"/>
            </a:solidFill>
            <a:prstDash val="solid"/>
          </a:ln>
        </p:spPr>
      </p:sp>
      <p:sp>
        <p:nvSpPr>
          <p:cNvPr id="101" name="Shape 99"/>
          <p:cNvSpPr/>
          <p:nvPr/>
        </p:nvSpPr>
        <p:spPr>
          <a:xfrm flipV="1">
            <a:off x="2173986" y="3975959"/>
            <a:ext cx="60579" cy="3705"/>
          </a:xfrm>
          <a:prstGeom prst="line">
            <a:avLst/>
          </a:prstGeom>
          <a:noFill/>
          <a:ln w="25400">
            <a:solidFill>
              <a:srgbClr val="6A3FA0"/>
            </a:solidFill>
            <a:prstDash val="solid"/>
          </a:ln>
        </p:spPr>
      </p:sp>
      <p:sp>
        <p:nvSpPr>
          <p:cNvPr id="102" name="Shape 100"/>
          <p:cNvSpPr/>
          <p:nvPr/>
        </p:nvSpPr>
        <p:spPr>
          <a:xfrm flipV="1">
            <a:off x="2234565" y="3972155"/>
            <a:ext cx="60579" cy="3805"/>
          </a:xfrm>
          <a:prstGeom prst="line">
            <a:avLst/>
          </a:prstGeom>
          <a:noFill/>
          <a:ln w="25400">
            <a:solidFill>
              <a:srgbClr val="6A3FA0"/>
            </a:solidFill>
            <a:prstDash val="solid"/>
          </a:ln>
        </p:spPr>
      </p:sp>
      <p:sp>
        <p:nvSpPr>
          <p:cNvPr id="103" name="Shape 101"/>
          <p:cNvSpPr/>
          <p:nvPr/>
        </p:nvSpPr>
        <p:spPr>
          <a:xfrm flipV="1">
            <a:off x="2295144" y="3968245"/>
            <a:ext cx="60579" cy="3910"/>
          </a:xfrm>
          <a:prstGeom prst="line">
            <a:avLst/>
          </a:prstGeom>
          <a:noFill/>
          <a:ln w="25400">
            <a:solidFill>
              <a:srgbClr val="6A3FA0"/>
            </a:solidFill>
            <a:prstDash val="solid"/>
          </a:ln>
        </p:spPr>
      </p:sp>
      <p:sp>
        <p:nvSpPr>
          <p:cNvPr id="104" name="Shape 102"/>
          <p:cNvSpPr/>
          <p:nvPr/>
        </p:nvSpPr>
        <p:spPr>
          <a:xfrm flipV="1">
            <a:off x="2355723" y="3964224"/>
            <a:ext cx="60579" cy="4021"/>
          </a:xfrm>
          <a:prstGeom prst="line">
            <a:avLst/>
          </a:prstGeom>
          <a:noFill/>
          <a:ln w="25400">
            <a:solidFill>
              <a:srgbClr val="6A3FA0"/>
            </a:solidFill>
            <a:prstDash val="solid"/>
          </a:ln>
        </p:spPr>
      </p:sp>
      <p:sp>
        <p:nvSpPr>
          <p:cNvPr id="105" name="Shape 103"/>
          <p:cNvSpPr/>
          <p:nvPr/>
        </p:nvSpPr>
        <p:spPr>
          <a:xfrm flipV="1">
            <a:off x="2416302" y="3960086"/>
            <a:ext cx="60579" cy="4138"/>
          </a:xfrm>
          <a:prstGeom prst="line">
            <a:avLst/>
          </a:prstGeom>
          <a:noFill/>
          <a:ln w="25400">
            <a:solidFill>
              <a:srgbClr val="6A3FA0"/>
            </a:solidFill>
            <a:prstDash val="solid"/>
          </a:ln>
        </p:spPr>
      </p:sp>
      <p:sp>
        <p:nvSpPr>
          <p:cNvPr id="106" name="Shape 104"/>
          <p:cNvSpPr/>
          <p:nvPr/>
        </p:nvSpPr>
        <p:spPr>
          <a:xfrm flipV="1">
            <a:off x="2476881" y="3955823"/>
            <a:ext cx="60579" cy="4263"/>
          </a:xfrm>
          <a:prstGeom prst="line">
            <a:avLst/>
          </a:prstGeom>
          <a:noFill/>
          <a:ln w="25400">
            <a:solidFill>
              <a:srgbClr val="6A3FA0"/>
            </a:solidFill>
            <a:prstDash val="solid"/>
          </a:ln>
        </p:spPr>
      </p:sp>
      <p:sp>
        <p:nvSpPr>
          <p:cNvPr id="107" name="Shape 105"/>
          <p:cNvSpPr/>
          <p:nvPr/>
        </p:nvSpPr>
        <p:spPr>
          <a:xfrm flipV="1">
            <a:off x="2537460" y="3951427"/>
            <a:ext cx="60579" cy="4396"/>
          </a:xfrm>
          <a:prstGeom prst="line">
            <a:avLst/>
          </a:prstGeom>
          <a:noFill/>
          <a:ln w="25400">
            <a:solidFill>
              <a:srgbClr val="6A3FA0"/>
            </a:solidFill>
            <a:prstDash val="solid"/>
          </a:ln>
        </p:spPr>
      </p:sp>
      <p:sp>
        <p:nvSpPr>
          <p:cNvPr id="108" name="Shape 106"/>
          <p:cNvSpPr/>
          <p:nvPr/>
        </p:nvSpPr>
        <p:spPr>
          <a:xfrm flipV="1">
            <a:off x="2598039" y="3946890"/>
            <a:ext cx="60579" cy="4537"/>
          </a:xfrm>
          <a:prstGeom prst="line">
            <a:avLst/>
          </a:prstGeom>
          <a:noFill/>
          <a:ln w="25400">
            <a:solidFill>
              <a:srgbClr val="6A3FA0"/>
            </a:solidFill>
            <a:prstDash val="solid"/>
          </a:ln>
        </p:spPr>
      </p:sp>
      <p:sp>
        <p:nvSpPr>
          <p:cNvPr id="109" name="Shape 107"/>
          <p:cNvSpPr/>
          <p:nvPr/>
        </p:nvSpPr>
        <p:spPr>
          <a:xfrm flipV="1">
            <a:off x="2658618" y="3942203"/>
            <a:ext cx="60579" cy="4687"/>
          </a:xfrm>
          <a:prstGeom prst="line">
            <a:avLst/>
          </a:prstGeom>
          <a:noFill/>
          <a:ln w="25400">
            <a:solidFill>
              <a:srgbClr val="6A3FA0"/>
            </a:solidFill>
            <a:prstDash val="solid"/>
          </a:ln>
        </p:spPr>
      </p:sp>
      <p:sp>
        <p:nvSpPr>
          <p:cNvPr id="110" name="Shape 108"/>
          <p:cNvSpPr/>
          <p:nvPr/>
        </p:nvSpPr>
        <p:spPr>
          <a:xfrm flipV="1">
            <a:off x="2719197" y="3937356"/>
            <a:ext cx="60579" cy="4848"/>
          </a:xfrm>
          <a:prstGeom prst="line">
            <a:avLst/>
          </a:prstGeom>
          <a:noFill/>
          <a:ln w="25400">
            <a:solidFill>
              <a:srgbClr val="6A3FA0"/>
            </a:solidFill>
            <a:prstDash val="solid"/>
          </a:ln>
        </p:spPr>
      </p:sp>
      <p:sp>
        <p:nvSpPr>
          <p:cNvPr id="111" name="Shape 109"/>
          <p:cNvSpPr/>
          <p:nvPr/>
        </p:nvSpPr>
        <p:spPr>
          <a:xfrm flipV="1">
            <a:off x="2779776" y="3932336"/>
            <a:ext cx="60579" cy="5020"/>
          </a:xfrm>
          <a:prstGeom prst="line">
            <a:avLst/>
          </a:prstGeom>
          <a:noFill/>
          <a:ln w="25400">
            <a:solidFill>
              <a:srgbClr val="6A3FA0"/>
            </a:solidFill>
            <a:prstDash val="solid"/>
          </a:ln>
        </p:spPr>
      </p:sp>
      <p:sp>
        <p:nvSpPr>
          <p:cNvPr id="112" name="Shape 110"/>
          <p:cNvSpPr/>
          <p:nvPr/>
        </p:nvSpPr>
        <p:spPr>
          <a:xfrm flipV="1">
            <a:off x="2840355" y="3927132"/>
            <a:ext cx="60579" cy="5204"/>
          </a:xfrm>
          <a:prstGeom prst="line">
            <a:avLst/>
          </a:prstGeom>
          <a:noFill/>
          <a:ln w="25400">
            <a:solidFill>
              <a:srgbClr val="6A3FA0"/>
            </a:solidFill>
            <a:prstDash val="solid"/>
          </a:ln>
        </p:spPr>
      </p:sp>
      <p:sp>
        <p:nvSpPr>
          <p:cNvPr id="113" name="Shape 111"/>
          <p:cNvSpPr/>
          <p:nvPr/>
        </p:nvSpPr>
        <p:spPr>
          <a:xfrm flipV="1">
            <a:off x="2900934" y="3921729"/>
            <a:ext cx="60579" cy="5403"/>
          </a:xfrm>
          <a:prstGeom prst="line">
            <a:avLst/>
          </a:prstGeom>
          <a:noFill/>
          <a:ln w="25400">
            <a:solidFill>
              <a:srgbClr val="6A3FA0"/>
            </a:solidFill>
            <a:prstDash val="solid"/>
          </a:ln>
        </p:spPr>
      </p:sp>
      <p:sp>
        <p:nvSpPr>
          <p:cNvPr id="114" name="Shape 112"/>
          <p:cNvSpPr/>
          <p:nvPr/>
        </p:nvSpPr>
        <p:spPr>
          <a:xfrm flipV="1">
            <a:off x="2961513" y="3916112"/>
            <a:ext cx="60579" cy="5618"/>
          </a:xfrm>
          <a:prstGeom prst="line">
            <a:avLst/>
          </a:prstGeom>
          <a:noFill/>
          <a:ln w="25400">
            <a:solidFill>
              <a:srgbClr val="6A3FA0"/>
            </a:solidFill>
            <a:prstDash val="solid"/>
          </a:ln>
        </p:spPr>
      </p:sp>
      <p:sp>
        <p:nvSpPr>
          <p:cNvPr id="115" name="Shape 113"/>
          <p:cNvSpPr/>
          <p:nvPr/>
        </p:nvSpPr>
        <p:spPr>
          <a:xfrm flipV="1">
            <a:off x="3022092" y="3910262"/>
            <a:ext cx="60579" cy="5850"/>
          </a:xfrm>
          <a:prstGeom prst="line">
            <a:avLst/>
          </a:prstGeom>
          <a:noFill/>
          <a:ln w="25400">
            <a:solidFill>
              <a:srgbClr val="6A3FA0"/>
            </a:solidFill>
            <a:prstDash val="solid"/>
          </a:ln>
        </p:spPr>
      </p:sp>
      <p:sp>
        <p:nvSpPr>
          <p:cNvPr id="116" name="Shape 114"/>
          <p:cNvSpPr/>
          <p:nvPr/>
        </p:nvSpPr>
        <p:spPr>
          <a:xfrm flipV="1">
            <a:off x="3082671" y="3904159"/>
            <a:ext cx="60579" cy="6102"/>
          </a:xfrm>
          <a:prstGeom prst="line">
            <a:avLst/>
          </a:prstGeom>
          <a:noFill/>
          <a:ln w="25400">
            <a:solidFill>
              <a:srgbClr val="6A3FA0"/>
            </a:solidFill>
            <a:prstDash val="solid"/>
          </a:ln>
        </p:spPr>
      </p:sp>
      <p:sp>
        <p:nvSpPr>
          <p:cNvPr id="117" name="Shape 115"/>
          <p:cNvSpPr/>
          <p:nvPr/>
        </p:nvSpPr>
        <p:spPr>
          <a:xfrm flipV="1">
            <a:off x="3143250" y="3897782"/>
            <a:ext cx="60579" cy="6377"/>
          </a:xfrm>
          <a:prstGeom prst="line">
            <a:avLst/>
          </a:prstGeom>
          <a:noFill/>
          <a:ln w="25400">
            <a:solidFill>
              <a:srgbClr val="6A3FA0"/>
            </a:solidFill>
            <a:prstDash val="solid"/>
          </a:ln>
        </p:spPr>
      </p:sp>
      <p:sp>
        <p:nvSpPr>
          <p:cNvPr id="118" name="Shape 116"/>
          <p:cNvSpPr/>
          <p:nvPr/>
        </p:nvSpPr>
        <p:spPr>
          <a:xfrm flipV="1">
            <a:off x="3203829" y="3891104"/>
            <a:ext cx="60579" cy="6678"/>
          </a:xfrm>
          <a:prstGeom prst="line">
            <a:avLst/>
          </a:prstGeom>
          <a:noFill/>
          <a:ln w="25400">
            <a:solidFill>
              <a:srgbClr val="6A3FA0"/>
            </a:solidFill>
            <a:prstDash val="solid"/>
          </a:ln>
        </p:spPr>
      </p:sp>
      <p:sp>
        <p:nvSpPr>
          <p:cNvPr id="119" name="Shape 117"/>
          <p:cNvSpPr/>
          <p:nvPr/>
        </p:nvSpPr>
        <p:spPr>
          <a:xfrm flipV="1">
            <a:off x="3264408" y="3884094"/>
            <a:ext cx="60579" cy="7009"/>
          </a:xfrm>
          <a:prstGeom prst="line">
            <a:avLst/>
          </a:prstGeom>
          <a:noFill/>
          <a:ln w="25400">
            <a:solidFill>
              <a:srgbClr val="6A3FA0"/>
            </a:solidFill>
            <a:prstDash val="solid"/>
          </a:ln>
        </p:spPr>
      </p:sp>
      <p:sp>
        <p:nvSpPr>
          <p:cNvPr id="120" name="Shape 118"/>
          <p:cNvSpPr/>
          <p:nvPr/>
        </p:nvSpPr>
        <p:spPr>
          <a:xfrm flipV="1">
            <a:off x="3324987" y="3876719"/>
            <a:ext cx="60579" cy="7375"/>
          </a:xfrm>
          <a:prstGeom prst="line">
            <a:avLst/>
          </a:prstGeom>
          <a:noFill/>
          <a:ln w="25400">
            <a:solidFill>
              <a:srgbClr val="6A3FA0"/>
            </a:solidFill>
            <a:prstDash val="solid"/>
          </a:ln>
        </p:spPr>
      </p:sp>
      <p:sp>
        <p:nvSpPr>
          <p:cNvPr id="121" name="Shape 119"/>
          <p:cNvSpPr/>
          <p:nvPr/>
        </p:nvSpPr>
        <p:spPr>
          <a:xfrm flipV="1">
            <a:off x="3385566" y="3868939"/>
            <a:ext cx="60579" cy="7781"/>
          </a:xfrm>
          <a:prstGeom prst="line">
            <a:avLst/>
          </a:prstGeom>
          <a:noFill/>
          <a:ln w="25400">
            <a:solidFill>
              <a:srgbClr val="6A3FA0"/>
            </a:solidFill>
            <a:prstDash val="solid"/>
          </a:ln>
        </p:spPr>
      </p:sp>
      <p:sp>
        <p:nvSpPr>
          <p:cNvPr id="122" name="Shape 120"/>
          <p:cNvSpPr/>
          <p:nvPr/>
        </p:nvSpPr>
        <p:spPr>
          <a:xfrm flipV="1">
            <a:off x="3446145" y="3860705"/>
            <a:ext cx="60579" cy="8234"/>
          </a:xfrm>
          <a:prstGeom prst="line">
            <a:avLst/>
          </a:prstGeom>
          <a:noFill/>
          <a:ln w="25400">
            <a:solidFill>
              <a:srgbClr val="6A3FA0"/>
            </a:solidFill>
            <a:prstDash val="solid"/>
          </a:ln>
        </p:spPr>
      </p:sp>
      <p:sp>
        <p:nvSpPr>
          <p:cNvPr id="123" name="Shape 121"/>
          <p:cNvSpPr/>
          <p:nvPr/>
        </p:nvSpPr>
        <p:spPr>
          <a:xfrm flipV="1">
            <a:off x="3506724" y="3851963"/>
            <a:ext cx="60579" cy="8742"/>
          </a:xfrm>
          <a:prstGeom prst="line">
            <a:avLst/>
          </a:prstGeom>
          <a:noFill/>
          <a:ln w="25400">
            <a:solidFill>
              <a:srgbClr val="6A3FA0"/>
            </a:solidFill>
            <a:prstDash val="solid"/>
          </a:ln>
        </p:spPr>
      </p:sp>
      <p:sp>
        <p:nvSpPr>
          <p:cNvPr id="124" name="Shape 122"/>
          <p:cNvSpPr/>
          <p:nvPr/>
        </p:nvSpPr>
        <p:spPr>
          <a:xfrm flipV="1">
            <a:off x="3567303" y="3842644"/>
            <a:ext cx="60579" cy="9319"/>
          </a:xfrm>
          <a:prstGeom prst="line">
            <a:avLst/>
          </a:prstGeom>
          <a:noFill/>
          <a:ln w="25400">
            <a:solidFill>
              <a:srgbClr val="6A3FA0"/>
            </a:solidFill>
            <a:prstDash val="solid"/>
          </a:ln>
        </p:spPr>
      </p:sp>
      <p:sp>
        <p:nvSpPr>
          <p:cNvPr id="125" name="Shape 123"/>
          <p:cNvSpPr/>
          <p:nvPr/>
        </p:nvSpPr>
        <p:spPr>
          <a:xfrm flipV="1">
            <a:off x="3627882" y="3832668"/>
            <a:ext cx="60579" cy="9976"/>
          </a:xfrm>
          <a:prstGeom prst="line">
            <a:avLst/>
          </a:prstGeom>
          <a:noFill/>
          <a:ln w="25400">
            <a:solidFill>
              <a:srgbClr val="6A3FA0"/>
            </a:solidFill>
            <a:prstDash val="solid"/>
          </a:ln>
        </p:spPr>
      </p:sp>
      <p:sp>
        <p:nvSpPr>
          <p:cNvPr id="126" name="Shape 124"/>
          <p:cNvSpPr/>
          <p:nvPr/>
        </p:nvSpPr>
        <p:spPr>
          <a:xfrm flipV="1">
            <a:off x="3688461" y="3821935"/>
            <a:ext cx="60579" cy="10733"/>
          </a:xfrm>
          <a:prstGeom prst="line">
            <a:avLst/>
          </a:prstGeom>
          <a:noFill/>
          <a:ln w="25400">
            <a:solidFill>
              <a:srgbClr val="6A3FA0"/>
            </a:solidFill>
            <a:prstDash val="solid"/>
          </a:ln>
        </p:spPr>
      </p:sp>
      <p:sp>
        <p:nvSpPr>
          <p:cNvPr id="127" name="Shape 125"/>
          <p:cNvSpPr/>
          <p:nvPr/>
        </p:nvSpPr>
        <p:spPr>
          <a:xfrm flipV="1">
            <a:off x="3749040" y="3810321"/>
            <a:ext cx="60579" cy="11615"/>
          </a:xfrm>
          <a:prstGeom prst="line">
            <a:avLst/>
          </a:prstGeom>
          <a:noFill/>
          <a:ln w="25400">
            <a:solidFill>
              <a:srgbClr val="6A3FA0"/>
            </a:solidFill>
            <a:prstDash val="solid"/>
          </a:ln>
        </p:spPr>
      </p:sp>
      <p:sp>
        <p:nvSpPr>
          <p:cNvPr id="128" name="Shape 126"/>
          <p:cNvSpPr/>
          <p:nvPr/>
        </p:nvSpPr>
        <p:spPr>
          <a:xfrm flipV="1">
            <a:off x="3809619" y="3797667"/>
            <a:ext cx="60579" cy="12654"/>
          </a:xfrm>
          <a:prstGeom prst="line">
            <a:avLst/>
          </a:prstGeom>
          <a:noFill/>
          <a:ln w="25400">
            <a:solidFill>
              <a:srgbClr val="6A3FA0"/>
            </a:solidFill>
            <a:prstDash val="solid"/>
          </a:ln>
        </p:spPr>
      </p:sp>
      <p:sp>
        <p:nvSpPr>
          <p:cNvPr id="129" name="Shape 127"/>
          <p:cNvSpPr/>
          <p:nvPr/>
        </p:nvSpPr>
        <p:spPr>
          <a:xfrm flipV="1">
            <a:off x="3870198" y="3783769"/>
            <a:ext cx="60579" cy="13898"/>
          </a:xfrm>
          <a:prstGeom prst="line">
            <a:avLst/>
          </a:prstGeom>
          <a:noFill/>
          <a:ln w="25400">
            <a:solidFill>
              <a:srgbClr val="6A3FA0"/>
            </a:solidFill>
            <a:prstDash val="solid"/>
          </a:ln>
        </p:spPr>
      </p:sp>
      <p:sp>
        <p:nvSpPr>
          <p:cNvPr id="130" name="Shape 128"/>
          <p:cNvSpPr/>
          <p:nvPr/>
        </p:nvSpPr>
        <p:spPr>
          <a:xfrm flipV="1">
            <a:off x="3930777" y="3768355"/>
            <a:ext cx="60579" cy="15414"/>
          </a:xfrm>
          <a:prstGeom prst="line">
            <a:avLst/>
          </a:prstGeom>
          <a:noFill/>
          <a:ln w="25400">
            <a:solidFill>
              <a:srgbClr val="6A3FA0"/>
            </a:solidFill>
            <a:prstDash val="solid"/>
          </a:ln>
        </p:spPr>
      </p:sp>
      <p:sp>
        <p:nvSpPr>
          <p:cNvPr id="131" name="Shape 129"/>
          <p:cNvSpPr/>
          <p:nvPr/>
        </p:nvSpPr>
        <p:spPr>
          <a:xfrm flipV="1">
            <a:off x="3991356" y="3751054"/>
            <a:ext cx="60579" cy="17301"/>
          </a:xfrm>
          <a:prstGeom prst="line">
            <a:avLst/>
          </a:prstGeom>
          <a:noFill/>
          <a:ln w="25400">
            <a:solidFill>
              <a:srgbClr val="6A3FA0"/>
            </a:solidFill>
            <a:prstDash val="solid"/>
          </a:ln>
        </p:spPr>
      </p:sp>
      <p:sp>
        <p:nvSpPr>
          <p:cNvPr id="132" name="Shape 130"/>
          <p:cNvSpPr/>
          <p:nvPr/>
        </p:nvSpPr>
        <p:spPr>
          <a:xfrm flipV="1">
            <a:off x="4051935" y="3731339"/>
            <a:ext cx="60579" cy="19715"/>
          </a:xfrm>
          <a:prstGeom prst="line">
            <a:avLst/>
          </a:prstGeom>
          <a:noFill/>
          <a:ln w="25400">
            <a:solidFill>
              <a:srgbClr val="6A3FA0"/>
            </a:solidFill>
            <a:prstDash val="solid"/>
          </a:ln>
        </p:spPr>
      </p:sp>
      <p:sp>
        <p:nvSpPr>
          <p:cNvPr id="133" name="Shape 131"/>
          <p:cNvSpPr/>
          <p:nvPr/>
        </p:nvSpPr>
        <p:spPr>
          <a:xfrm flipV="1">
            <a:off x="4112514" y="3708425"/>
            <a:ext cx="60579" cy="22914"/>
          </a:xfrm>
          <a:prstGeom prst="line">
            <a:avLst/>
          </a:prstGeom>
          <a:noFill/>
          <a:ln w="25400">
            <a:solidFill>
              <a:srgbClr val="6A3FA0"/>
            </a:solidFill>
            <a:prstDash val="solid"/>
          </a:ln>
        </p:spPr>
      </p:sp>
      <p:sp>
        <p:nvSpPr>
          <p:cNvPr id="134" name="Shape 132"/>
          <p:cNvSpPr/>
          <p:nvPr/>
        </p:nvSpPr>
        <p:spPr>
          <a:xfrm flipV="1">
            <a:off x="4173093" y="3681068"/>
            <a:ext cx="60579" cy="27357"/>
          </a:xfrm>
          <a:prstGeom prst="line">
            <a:avLst/>
          </a:prstGeom>
          <a:noFill/>
          <a:ln w="25400">
            <a:solidFill>
              <a:srgbClr val="6A3FA0"/>
            </a:solidFill>
            <a:prstDash val="solid"/>
          </a:ln>
        </p:spPr>
      </p:sp>
      <p:sp>
        <p:nvSpPr>
          <p:cNvPr id="135" name="Shape 133"/>
          <p:cNvSpPr/>
          <p:nvPr/>
        </p:nvSpPr>
        <p:spPr>
          <a:xfrm flipV="1">
            <a:off x="4233672" y="3647121"/>
            <a:ext cx="60579" cy="33947"/>
          </a:xfrm>
          <a:prstGeom prst="line">
            <a:avLst/>
          </a:prstGeom>
          <a:noFill/>
          <a:ln w="25400">
            <a:solidFill>
              <a:srgbClr val="6A3FA0"/>
            </a:solidFill>
            <a:prstDash val="solid"/>
          </a:ln>
        </p:spPr>
      </p:sp>
      <p:sp>
        <p:nvSpPr>
          <p:cNvPr id="136" name="Shape 134"/>
          <p:cNvSpPr/>
          <p:nvPr/>
        </p:nvSpPr>
        <p:spPr>
          <a:xfrm flipV="1">
            <a:off x="4294251" y="3602368"/>
            <a:ext cx="60579" cy="44753"/>
          </a:xfrm>
          <a:prstGeom prst="line">
            <a:avLst/>
          </a:prstGeom>
          <a:noFill/>
          <a:ln w="25400">
            <a:solidFill>
              <a:srgbClr val="6A3FA0"/>
            </a:solidFill>
            <a:prstDash val="solid"/>
          </a:ln>
        </p:spPr>
      </p:sp>
      <p:sp>
        <p:nvSpPr>
          <p:cNvPr id="137" name="Shape 135"/>
          <p:cNvSpPr/>
          <p:nvPr/>
        </p:nvSpPr>
        <p:spPr>
          <a:xfrm flipV="1">
            <a:off x="4354830" y="3536531"/>
            <a:ext cx="60579" cy="65837"/>
          </a:xfrm>
          <a:prstGeom prst="line">
            <a:avLst/>
          </a:prstGeom>
          <a:noFill/>
          <a:ln w="25400">
            <a:solidFill>
              <a:srgbClr val="6A3FA0"/>
            </a:solidFill>
            <a:prstDash val="solid"/>
          </a:ln>
        </p:spPr>
      </p:sp>
      <p:sp>
        <p:nvSpPr>
          <p:cNvPr id="138" name="Shape 136"/>
          <p:cNvSpPr/>
          <p:nvPr/>
        </p:nvSpPr>
        <p:spPr>
          <a:xfrm flipV="1">
            <a:off x="4415409" y="3409496"/>
            <a:ext cx="60579" cy="127035"/>
          </a:xfrm>
          <a:prstGeom prst="line">
            <a:avLst/>
          </a:prstGeom>
          <a:noFill/>
          <a:ln w="25400">
            <a:solidFill>
              <a:srgbClr val="6A3FA0"/>
            </a:solidFill>
            <a:prstDash val="solid"/>
          </a:ln>
        </p:spPr>
      </p:sp>
      <p:sp>
        <p:nvSpPr>
          <p:cNvPr id="139" name="Shape 137"/>
          <p:cNvSpPr/>
          <p:nvPr/>
        </p:nvSpPr>
        <p:spPr>
          <a:xfrm flipV="1">
            <a:off x="4475988" y="1938528"/>
            <a:ext cx="60579" cy="1470968"/>
          </a:xfrm>
          <a:prstGeom prst="line">
            <a:avLst/>
          </a:prstGeom>
          <a:noFill/>
          <a:ln w="25400">
            <a:solidFill>
              <a:srgbClr val="6A3FA0"/>
            </a:solidFill>
            <a:prstDash val="solid"/>
          </a:ln>
        </p:spPr>
      </p:sp>
      <p:sp>
        <p:nvSpPr>
          <p:cNvPr id="140" name="Shape 138"/>
          <p:cNvSpPr/>
          <p:nvPr/>
        </p:nvSpPr>
        <p:spPr>
          <a:xfrm flipV="1">
            <a:off x="4536567" y="1547622"/>
            <a:ext cx="1029843" cy="390906"/>
          </a:xfrm>
          <a:prstGeom prst="line">
            <a:avLst/>
          </a:prstGeom>
          <a:noFill/>
          <a:ln w="25400">
            <a:solidFill>
              <a:srgbClr val="6A3FA0"/>
            </a:solidFill>
            <a:prstDash val="solid"/>
          </a:ln>
        </p:spPr>
      </p:sp>
      <p:sp>
        <p:nvSpPr>
          <p:cNvPr id="141" name="Shape 139"/>
          <p:cNvSpPr/>
          <p:nvPr/>
        </p:nvSpPr>
        <p:spPr>
          <a:xfrm>
            <a:off x="1280160" y="3977640"/>
            <a:ext cx="91440" cy="91440"/>
          </a:xfrm>
          <a:prstGeom prst="line">
            <a:avLst/>
          </a:prstGeom>
          <a:noFill/>
          <a:ln w="15875">
            <a:solidFill>
              <a:srgbClr val="2A1F3D"/>
            </a:solidFill>
            <a:prstDash val="solid"/>
          </a:ln>
        </p:spPr>
      </p:sp>
      <p:sp>
        <p:nvSpPr>
          <p:cNvPr id="142" name="Shape 140"/>
          <p:cNvSpPr/>
          <p:nvPr/>
        </p:nvSpPr>
        <p:spPr>
          <a:xfrm flipV="1">
            <a:off x="1280160" y="3977640"/>
            <a:ext cx="91440" cy="91440"/>
          </a:xfrm>
          <a:prstGeom prst="line">
            <a:avLst/>
          </a:prstGeom>
          <a:noFill/>
          <a:ln w="15875">
            <a:solidFill>
              <a:srgbClr val="2A1F3D"/>
            </a:solidFill>
            <a:prstDash val="solid"/>
          </a:ln>
        </p:spPr>
      </p:sp>
      <p:sp>
        <p:nvSpPr>
          <p:cNvPr id="143" name="Shape 141"/>
          <p:cNvSpPr/>
          <p:nvPr/>
        </p:nvSpPr>
        <p:spPr>
          <a:xfrm>
            <a:off x="1885950" y="3945065"/>
            <a:ext cx="91440" cy="91440"/>
          </a:xfrm>
          <a:prstGeom prst="line">
            <a:avLst/>
          </a:prstGeom>
          <a:noFill/>
          <a:ln w="15875">
            <a:solidFill>
              <a:srgbClr val="2A1F3D"/>
            </a:solidFill>
            <a:prstDash val="solid"/>
          </a:ln>
        </p:spPr>
      </p:sp>
      <p:sp>
        <p:nvSpPr>
          <p:cNvPr id="144" name="Shape 142"/>
          <p:cNvSpPr/>
          <p:nvPr/>
        </p:nvSpPr>
        <p:spPr>
          <a:xfrm flipV="1">
            <a:off x="1885950" y="3945065"/>
            <a:ext cx="91440" cy="91440"/>
          </a:xfrm>
          <a:prstGeom prst="line">
            <a:avLst/>
          </a:prstGeom>
          <a:noFill/>
          <a:ln w="15875">
            <a:solidFill>
              <a:srgbClr val="2A1F3D"/>
            </a:solidFill>
            <a:prstDash val="solid"/>
          </a:ln>
        </p:spPr>
      </p:sp>
      <p:sp>
        <p:nvSpPr>
          <p:cNvPr id="145" name="Shape 143"/>
          <p:cNvSpPr/>
          <p:nvPr/>
        </p:nvSpPr>
        <p:spPr>
          <a:xfrm>
            <a:off x="2491740" y="3912489"/>
            <a:ext cx="91440" cy="91440"/>
          </a:xfrm>
          <a:prstGeom prst="line">
            <a:avLst/>
          </a:prstGeom>
          <a:noFill/>
          <a:ln w="15875">
            <a:solidFill>
              <a:srgbClr val="2A1F3D"/>
            </a:solidFill>
            <a:prstDash val="solid"/>
          </a:ln>
        </p:spPr>
      </p:sp>
      <p:sp>
        <p:nvSpPr>
          <p:cNvPr id="146" name="Shape 144"/>
          <p:cNvSpPr/>
          <p:nvPr/>
        </p:nvSpPr>
        <p:spPr>
          <a:xfrm flipV="1">
            <a:off x="2491740" y="3912489"/>
            <a:ext cx="91440" cy="91440"/>
          </a:xfrm>
          <a:prstGeom prst="line">
            <a:avLst/>
          </a:prstGeom>
          <a:noFill/>
          <a:ln w="15875">
            <a:solidFill>
              <a:srgbClr val="2A1F3D"/>
            </a:solidFill>
            <a:prstDash val="solid"/>
          </a:ln>
        </p:spPr>
      </p:sp>
      <p:sp>
        <p:nvSpPr>
          <p:cNvPr id="147" name="Shape 145"/>
          <p:cNvSpPr/>
          <p:nvPr/>
        </p:nvSpPr>
        <p:spPr>
          <a:xfrm>
            <a:off x="3097530" y="3847338"/>
            <a:ext cx="91440" cy="91440"/>
          </a:xfrm>
          <a:prstGeom prst="line">
            <a:avLst/>
          </a:prstGeom>
          <a:noFill/>
          <a:ln w="15875">
            <a:solidFill>
              <a:srgbClr val="2A1F3D"/>
            </a:solidFill>
            <a:prstDash val="solid"/>
          </a:ln>
        </p:spPr>
      </p:sp>
      <p:sp>
        <p:nvSpPr>
          <p:cNvPr id="148" name="Shape 146"/>
          <p:cNvSpPr/>
          <p:nvPr/>
        </p:nvSpPr>
        <p:spPr>
          <a:xfrm flipV="1">
            <a:off x="3097530" y="3847338"/>
            <a:ext cx="91440" cy="91440"/>
          </a:xfrm>
          <a:prstGeom prst="line">
            <a:avLst/>
          </a:prstGeom>
          <a:noFill/>
          <a:ln w="15875">
            <a:solidFill>
              <a:srgbClr val="2A1F3D"/>
            </a:solidFill>
            <a:prstDash val="solid"/>
          </a:ln>
        </p:spPr>
      </p:sp>
      <p:sp>
        <p:nvSpPr>
          <p:cNvPr id="149" name="Shape 147"/>
          <p:cNvSpPr/>
          <p:nvPr/>
        </p:nvSpPr>
        <p:spPr>
          <a:xfrm>
            <a:off x="3703320" y="3782187"/>
            <a:ext cx="91440" cy="91440"/>
          </a:xfrm>
          <a:prstGeom prst="line">
            <a:avLst/>
          </a:prstGeom>
          <a:noFill/>
          <a:ln w="15875">
            <a:solidFill>
              <a:srgbClr val="2A1F3D"/>
            </a:solidFill>
            <a:prstDash val="solid"/>
          </a:ln>
        </p:spPr>
      </p:sp>
      <p:sp>
        <p:nvSpPr>
          <p:cNvPr id="150" name="Shape 148"/>
          <p:cNvSpPr/>
          <p:nvPr/>
        </p:nvSpPr>
        <p:spPr>
          <a:xfrm flipV="1">
            <a:off x="3703320" y="3782187"/>
            <a:ext cx="91440" cy="91440"/>
          </a:xfrm>
          <a:prstGeom prst="line">
            <a:avLst/>
          </a:prstGeom>
          <a:noFill/>
          <a:ln w="15875">
            <a:solidFill>
              <a:srgbClr val="2A1F3D"/>
            </a:solidFill>
            <a:prstDash val="solid"/>
          </a:ln>
        </p:spPr>
      </p:sp>
      <p:sp>
        <p:nvSpPr>
          <p:cNvPr id="151" name="Shape 149"/>
          <p:cNvSpPr/>
          <p:nvPr/>
        </p:nvSpPr>
        <p:spPr>
          <a:xfrm>
            <a:off x="4309110" y="3554159"/>
            <a:ext cx="91440" cy="91440"/>
          </a:xfrm>
          <a:prstGeom prst="line">
            <a:avLst/>
          </a:prstGeom>
          <a:noFill/>
          <a:ln w="15875">
            <a:solidFill>
              <a:srgbClr val="2A1F3D"/>
            </a:solidFill>
            <a:prstDash val="solid"/>
          </a:ln>
        </p:spPr>
      </p:sp>
      <p:sp>
        <p:nvSpPr>
          <p:cNvPr id="152" name="Shape 150"/>
          <p:cNvSpPr/>
          <p:nvPr/>
        </p:nvSpPr>
        <p:spPr>
          <a:xfrm flipV="1">
            <a:off x="4309110" y="3554159"/>
            <a:ext cx="91440" cy="91440"/>
          </a:xfrm>
          <a:prstGeom prst="line">
            <a:avLst/>
          </a:prstGeom>
          <a:noFill/>
          <a:ln w="15875">
            <a:solidFill>
              <a:srgbClr val="2A1F3D"/>
            </a:solidFill>
            <a:prstDash val="solid"/>
          </a:ln>
        </p:spPr>
      </p:sp>
      <p:sp>
        <p:nvSpPr>
          <p:cNvPr id="153" name="Shape 151"/>
          <p:cNvSpPr/>
          <p:nvPr/>
        </p:nvSpPr>
        <p:spPr>
          <a:xfrm>
            <a:off x="4914900" y="1729931"/>
            <a:ext cx="91440" cy="91440"/>
          </a:xfrm>
          <a:prstGeom prst="line">
            <a:avLst/>
          </a:prstGeom>
          <a:noFill/>
          <a:ln w="15875">
            <a:solidFill>
              <a:srgbClr val="2A1F3D"/>
            </a:solidFill>
            <a:prstDash val="solid"/>
          </a:ln>
        </p:spPr>
      </p:sp>
      <p:sp>
        <p:nvSpPr>
          <p:cNvPr id="154" name="Shape 152"/>
          <p:cNvSpPr/>
          <p:nvPr/>
        </p:nvSpPr>
        <p:spPr>
          <a:xfrm flipV="1">
            <a:off x="4914900" y="1729931"/>
            <a:ext cx="91440" cy="91440"/>
          </a:xfrm>
          <a:prstGeom prst="line">
            <a:avLst/>
          </a:prstGeom>
          <a:noFill/>
          <a:ln w="15875">
            <a:solidFill>
              <a:srgbClr val="2A1F3D"/>
            </a:solidFill>
            <a:prstDash val="solid"/>
          </a:ln>
        </p:spPr>
      </p:sp>
      <p:sp>
        <p:nvSpPr>
          <p:cNvPr id="155" name="Shape 153"/>
          <p:cNvSpPr/>
          <p:nvPr/>
        </p:nvSpPr>
        <p:spPr>
          <a:xfrm>
            <a:off x="5520690" y="1501902"/>
            <a:ext cx="91440" cy="91440"/>
          </a:xfrm>
          <a:prstGeom prst="line">
            <a:avLst/>
          </a:prstGeom>
          <a:noFill/>
          <a:ln w="15875">
            <a:solidFill>
              <a:srgbClr val="2A1F3D"/>
            </a:solidFill>
            <a:prstDash val="solid"/>
          </a:ln>
        </p:spPr>
      </p:sp>
      <p:sp>
        <p:nvSpPr>
          <p:cNvPr id="156" name="Shape 154"/>
          <p:cNvSpPr/>
          <p:nvPr/>
        </p:nvSpPr>
        <p:spPr>
          <a:xfrm flipV="1">
            <a:off x="5520690" y="1501902"/>
            <a:ext cx="91440" cy="91440"/>
          </a:xfrm>
          <a:prstGeom prst="line">
            <a:avLst/>
          </a:prstGeom>
          <a:noFill/>
          <a:ln w="15875">
            <a:solidFill>
              <a:srgbClr val="2A1F3D"/>
            </a:solidFill>
            <a:prstDash val="solid"/>
          </a:ln>
        </p:spPr>
      </p:sp>
      <p:sp>
        <p:nvSpPr>
          <p:cNvPr id="157" name="Shape 155"/>
          <p:cNvSpPr/>
          <p:nvPr/>
        </p:nvSpPr>
        <p:spPr>
          <a:xfrm flipV="1">
            <a:off x="4517636" y="2557463"/>
            <a:ext cx="91" cy="1465898"/>
          </a:xfrm>
          <a:prstGeom prst="line">
            <a:avLst/>
          </a:prstGeom>
          <a:noFill/>
          <a:ln w="15875">
            <a:solidFill>
              <a:srgbClr val="C8414C"/>
            </a:solidFill>
            <a:prstDash val="dash"/>
          </a:ln>
        </p:spPr>
      </p:sp>
      <p:sp>
        <p:nvSpPr>
          <p:cNvPr id="158" name="Text 156"/>
          <p:cNvSpPr/>
          <p:nvPr/>
        </p:nvSpPr>
        <p:spPr>
          <a:xfrm>
            <a:off x="2825996" y="2427161"/>
            <a:ext cx="1554480" cy="219456"/>
          </a:xfrm>
          <a:prstGeom prst="rect">
            <a:avLst/>
          </a:prstGeom>
          <a:noFill/>
          <a:ln/>
        </p:spPr>
        <p:txBody>
          <a:bodyPr wrap="square" lIns="0" tIns="0" rIns="0" bIns="0" rtlCol="0" anchor="ctr"/>
          <a:lstStyle/>
          <a:p>
            <a:pPr algn="r" indent="0" marL="0">
              <a:buNone/>
            </a:pPr>
            <a:r>
              <a:rPr lang="en-US" sz="1000" b="1" dirty="0">
                <a:solidFill>
                  <a:srgbClr val="C8414C"/>
                </a:solidFill>
                <a:latin typeface="Calibri" pitchFamily="34" charset="0"/>
                <a:ea typeface="Calibri" pitchFamily="34" charset="-122"/>
                <a:cs typeface="Calibri" pitchFamily="34" charset="-120"/>
              </a:rPr>
              <a:t>end point ≈ 1.05 g</a:t>
            </a:r>
            <a:endParaRPr lang="en-US" sz="1000" dirty="0"/>
          </a:p>
        </p:txBody>
      </p:sp>
      <p:sp>
        <p:nvSpPr>
          <p:cNvPr id="159" name="Text 157"/>
          <p:cNvSpPr/>
          <p:nvPr/>
        </p:nvSpPr>
        <p:spPr>
          <a:xfrm>
            <a:off x="1628775" y="3241548"/>
            <a:ext cx="1828800" cy="219456"/>
          </a:xfrm>
          <a:prstGeom prst="rect">
            <a:avLst/>
          </a:prstGeom>
          <a:noFill/>
          <a:ln/>
        </p:spPr>
        <p:txBody>
          <a:bodyPr wrap="square" lIns="0" tIns="0" rIns="0" bIns="0" rtlCol="0" anchor="ctr"/>
          <a:lstStyle/>
          <a:p>
            <a:pPr algn="l" indent="0" marL="0">
              <a:buNone/>
            </a:pPr>
            <a:r>
              <a:rPr lang="en-US" sz="1000" b="1" dirty="0">
                <a:solidFill>
                  <a:srgbClr val="6A3FA0"/>
                </a:solidFill>
                <a:latin typeface="Calibri" pitchFamily="34" charset="0"/>
                <a:ea typeface="Calibri" pitchFamily="34" charset="-122"/>
                <a:cs typeface="Calibri" pitchFamily="34" charset="-120"/>
              </a:rPr>
              <a:t>acid left: pH low</a:t>
            </a:r>
            <a:endParaRPr lang="en-US" sz="1000" dirty="0"/>
          </a:p>
        </p:txBody>
      </p:sp>
      <p:sp>
        <p:nvSpPr>
          <p:cNvPr id="160" name="Text 158"/>
          <p:cNvSpPr/>
          <p:nvPr/>
        </p:nvSpPr>
        <p:spPr>
          <a:xfrm>
            <a:off x="4657725" y="2199132"/>
            <a:ext cx="1280160" cy="219456"/>
          </a:xfrm>
          <a:prstGeom prst="rect">
            <a:avLst/>
          </a:prstGeom>
          <a:noFill/>
          <a:ln/>
        </p:spPr>
        <p:txBody>
          <a:bodyPr wrap="square" lIns="0" tIns="0" rIns="0" bIns="0" rtlCol="0" anchor="ctr"/>
          <a:lstStyle/>
          <a:p>
            <a:pPr algn="l" indent="0" marL="0">
              <a:buNone/>
            </a:pPr>
            <a:r>
              <a:rPr lang="en-US" sz="1000" b="1" dirty="0">
                <a:solidFill>
                  <a:srgbClr val="6A3FA0"/>
                </a:solidFill>
                <a:latin typeface="Calibri" pitchFamily="34" charset="0"/>
                <a:ea typeface="Calibri" pitchFamily="34" charset="-122"/>
                <a:cs typeface="Calibri" pitchFamily="34" charset="-120"/>
              </a:rPr>
              <a:t>MgCO₃ in excess</a:t>
            </a:r>
            <a:endParaRPr lang="en-US" sz="10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640080" y="4645152"/>
          <a:ext cx="5577840" cy="914400"/>
        </p:xfrm>
        <a:graphic>
          <a:graphicData uri="http://schemas.openxmlformats.org/drawingml/2006/table">
            <a:tbl>
              <a:tblPr/>
              <a:tblGrid>
                <a:gridCol w="1005840"/>
                <a:gridCol w="571500"/>
                <a:gridCol w="571500"/>
                <a:gridCol w="571500"/>
                <a:gridCol w="571500"/>
                <a:gridCol w="571500"/>
                <a:gridCol w="571500"/>
                <a:gridCol w="571500"/>
                <a:gridCol w="571500"/>
              </a:tblGrid>
              <a:tr h="219456">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MgCO₃ / g</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2A1F3D"/>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0.00</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2A1F3D"/>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0.20</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2A1F3D"/>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0.40</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2A1F3D"/>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0.60</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2A1F3D"/>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0.80</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2A1F3D"/>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1.00</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2A1F3D"/>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1.20</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2A1F3D"/>
                    </a:solidFill>
                  </a:tcPr>
                </a:tc>
                <a:tc>
                  <a:txBody>
                    <a:bodyPr/>
                    <a:lstStyle/>
                    <a:p>
                      <a:pPr algn="ctr" indent="0" marL="0">
                        <a:buNone/>
                      </a:pPr>
                      <a:r>
                        <a:rPr lang="en-US" sz="1000" b="1" dirty="0">
                          <a:solidFill>
                            <a:srgbClr val="FFFFFF"/>
                          </a:solidFill>
                          <a:latin typeface="Calibri" pitchFamily="34" charset="0"/>
                          <a:ea typeface="Calibri" pitchFamily="34" charset="-122"/>
                          <a:cs typeface="Calibri" pitchFamily="34" charset="-120"/>
                        </a:rPr>
                        <a:t>1.40</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2A1F3D"/>
                    </a:solidFill>
                  </a:tcPr>
                </a:tc>
              </a:tr>
              <a:tr h="219456">
                <a:tc>
                  <a:txBody>
                    <a:bodyPr/>
                    <a:lstStyle/>
                    <a:p>
                      <a:pPr algn="ctr" indent="0" marL="0">
                        <a:buNone/>
                      </a:pPr>
                      <a:r>
                        <a:rPr lang="en-US" sz="1000" b="1" dirty="0">
                          <a:solidFill>
                            <a:srgbClr val="262B3A"/>
                          </a:solidFill>
                          <a:latin typeface="Calibri" pitchFamily="34" charset="0"/>
                          <a:ea typeface="Calibri" pitchFamily="34" charset="-122"/>
                          <a:cs typeface="Calibri" pitchFamily="34" charset="-120"/>
                        </a:rPr>
                        <a:t>pH</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0.0</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0.1</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0.2</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0.4</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0.6</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1.3</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6.9</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8F5FC"/>
                    </a:solidFill>
                  </a:tcPr>
                </a:tc>
                <a:tc>
                  <a:txBody>
                    <a:bodyPr/>
                    <a:lstStyle/>
                    <a:p>
                      <a:pPr algn="ctr" indent="0" marL="0">
                        <a:buNone/>
                      </a:pPr>
                      <a:r>
                        <a:rPr lang="en-US" sz="1000" dirty="0">
                          <a:solidFill>
                            <a:srgbClr val="262B3A"/>
                          </a:solidFill>
                          <a:latin typeface="Calibri" pitchFamily="34" charset="0"/>
                          <a:ea typeface="Calibri" pitchFamily="34" charset="-122"/>
                          <a:cs typeface="Calibri" pitchFamily="34" charset="-120"/>
                        </a:rPr>
                        <a:t>7.6</a:t>
                      </a:r>
                      <a:endParaRPr lang="en-US" sz="1000" dirty="0">
                        <a:latin typeface="Calibri" charset="0"/>
                        <a:ea typeface="Calibri" charset="0"/>
                        <a:cs typeface="Calibri" charset="0"/>
                      </a:endParaRPr>
                    </a:p>
                  </a:txBody>
                  <a:tcPr marL="91440" marR="91440" marT="45720" marB="45720" anchor="ctr">
                    <a:lnL w="6350" cap="flat" cmpd="sng" algn="ctr">
                      <a:solidFill>
                        <a:srgbClr val="DDD3EC"/>
                      </a:solidFill>
                      <a:prstDash val="solid"/>
                      <a:round/>
                      <a:headEnd type="none" w="med" len="med"/>
                      <a:tailEnd type="none" w="med" len="med"/>
                    </a:lnL>
                    <a:lnR w="6350" cap="flat" cmpd="sng" algn="ctr">
                      <a:solidFill>
                        <a:srgbClr val="DDD3EC"/>
                      </a:solidFill>
                      <a:prstDash val="solid"/>
                      <a:round/>
                      <a:headEnd type="none" w="med" len="med"/>
                      <a:tailEnd type="none" w="med" len="med"/>
                    </a:lnR>
                    <a:lnT w="6350" cap="flat" cmpd="sng" algn="ctr">
                      <a:solidFill>
                        <a:srgbClr val="DDD3EC"/>
                      </a:solidFill>
                      <a:prstDash val="solid"/>
                      <a:round/>
                      <a:headEnd type="none" w="med" len="med"/>
                      <a:tailEnd type="none" w="med" len="med"/>
                    </a:lnT>
                    <a:lnB w="6350" cap="flat" cmpd="sng" algn="ctr">
                      <a:solidFill>
                        <a:srgbClr val="DDD3EC"/>
                      </a:solidFill>
                      <a:prstDash val="solid"/>
                      <a:round/>
                      <a:headEnd type="none" w="med" len="med"/>
                      <a:tailEnd type="none" w="med" len="med"/>
                    </a:lnB>
                    <a:solidFill>
                      <a:srgbClr val="F8F5FC"/>
                    </a:solidFill>
                  </a:tcPr>
                </a:tc>
              </a:tr>
            </a:tbl>
          </a:graphicData>
        </a:graphic>
      </p:graphicFrame>
      <p:sp>
        <p:nvSpPr>
          <p:cNvPr id="162" name="Shape 159"/>
          <p:cNvSpPr/>
          <p:nvPr/>
        </p:nvSpPr>
        <p:spPr>
          <a:xfrm>
            <a:off x="6675120" y="1188720"/>
            <a:ext cx="5102352" cy="1325880"/>
          </a:xfrm>
          <a:prstGeom prst="roundRect">
            <a:avLst>
              <a:gd name="adj" fmla="val 4138"/>
            </a:avLst>
          </a:prstGeom>
          <a:solidFill>
            <a:srgbClr val="FFF4E0"/>
          </a:solidFill>
          <a:ln w="9525">
            <a:solidFill>
              <a:srgbClr val="F1D9A8"/>
            </a:solidFill>
            <a:prstDash val="solid"/>
          </a:ln>
        </p:spPr>
      </p:sp>
      <p:sp>
        <p:nvSpPr>
          <p:cNvPr id="163" name="Text 160"/>
          <p:cNvSpPr/>
          <p:nvPr/>
        </p:nvSpPr>
        <p:spPr>
          <a:xfrm>
            <a:off x="6839712" y="1261872"/>
            <a:ext cx="4773168" cy="274320"/>
          </a:xfrm>
          <a:prstGeom prst="rect">
            <a:avLst/>
          </a:prstGeom>
          <a:noFill/>
          <a:ln/>
        </p:spPr>
        <p:txBody>
          <a:bodyPr wrap="square" lIns="0" tIns="0" rIns="0" bIns="0" rtlCol="0" anchor="ctr"/>
          <a:lstStyle/>
          <a:p>
            <a:pPr indent="0" marL="0">
              <a:buNone/>
            </a:pPr>
            <a:r>
              <a:rPr lang="en-US" sz="1300" b="1" dirty="0">
                <a:solidFill>
                  <a:srgbClr val="B8730A"/>
                </a:solidFill>
                <a:latin typeface="Calibri" pitchFamily="34" charset="0"/>
                <a:ea typeface="Calibri" pitchFamily="34" charset="-122"/>
                <a:cs typeface="Calibri" pitchFamily="34" charset="-120"/>
              </a:rPr>
              <a:t>Worked example (HT): carbonate needed</a:t>
            </a:r>
            <a:endParaRPr lang="en-US" sz="1300" dirty="0"/>
          </a:p>
        </p:txBody>
      </p:sp>
      <p:sp>
        <p:nvSpPr>
          <p:cNvPr id="164" name="Text 161"/>
          <p:cNvSpPr/>
          <p:nvPr/>
        </p:nvSpPr>
        <p:spPr>
          <a:xfrm>
            <a:off x="6839712" y="1572768"/>
            <a:ext cx="4773168" cy="868680"/>
          </a:xfrm>
          <a:prstGeom prst="rect">
            <a:avLst/>
          </a:prstGeom>
          <a:noFill/>
          <a:ln/>
        </p:spPr>
        <p:txBody>
          <a:bodyPr wrap="square" lIns="0" tIns="0" rIns="0" bIns="0" rtlCol="0" anchor="t"/>
          <a:lstStyle/>
          <a:p>
            <a:pPr indent="0" marL="0">
              <a:buNone/>
            </a:pPr>
            <a:r>
              <a:rPr lang="en-US" sz="1050" i="1" dirty="0">
                <a:solidFill>
                  <a:srgbClr val="262B3A"/>
                </a:solidFill>
                <a:latin typeface="Calibri" pitchFamily="34" charset="0"/>
                <a:ea typeface="Calibri" pitchFamily="34" charset="-122"/>
                <a:cs typeface="Calibri" pitchFamily="34" charset="-120"/>
              </a:rPr>
              <a:t>25.0 cm³ of 0.50 mol/dm³ H₂SO₄; MgCO₃ : H₂SO₄ = 1 : 1 (Mr MgCO₃ 84.3).</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1 Moles   </a:t>
            </a:r>
            <a:r>
              <a:rPr lang="en-US" sz="1050" dirty="0">
                <a:solidFill>
                  <a:srgbClr val="262B3A"/>
                </a:solidFill>
                <a:latin typeface="Calibri" pitchFamily="34" charset="0"/>
                <a:ea typeface="Calibri" pitchFamily="34" charset="-122"/>
                <a:cs typeface="Calibri" pitchFamily="34" charset="-120"/>
              </a:rPr>
              <a:t>0.50 × 25.0 ÷ 1000 = 0.0125 mol</a:t>
            </a:r>
            <a:endParaRPr lang="en-US" sz="1050" dirty="0"/>
          </a:p>
          <a:p>
            <a:pPr indent="0" marL="0">
              <a:spcBef>
                <a:spcPts val="200"/>
              </a:spcBef>
              <a:buNone/>
            </a:pPr>
            <a:r>
              <a:rPr lang="en-US" sz="1050" b="1" dirty="0">
                <a:solidFill>
                  <a:srgbClr val="6A3FA0"/>
                </a:solidFill>
                <a:latin typeface="Calibri" pitchFamily="34" charset="0"/>
                <a:ea typeface="Calibri" pitchFamily="34" charset="-122"/>
                <a:cs typeface="Calibri" pitchFamily="34" charset="-120"/>
              </a:rPr>
              <a:t>2 Answer   </a:t>
            </a:r>
            <a:r>
              <a:rPr lang="en-US" sz="1050" b="1" dirty="0">
                <a:solidFill>
                  <a:srgbClr val="C8414C"/>
                </a:solidFill>
                <a:latin typeface="Calibri" pitchFamily="34" charset="0"/>
                <a:ea typeface="Calibri" pitchFamily="34" charset="-122"/>
                <a:cs typeface="Calibri" pitchFamily="34" charset="-120"/>
              </a:rPr>
              <a:t>0.0125 × 84.3 = </a:t>
            </a:r>
            <a:r>
              <a:rPr lang="en-US" sz="1050" b="1" dirty="0">
                <a:solidFill>
                  <a:srgbClr val="C8414C"/>
                </a:solidFill>
                <a:latin typeface="Calibri" pitchFamily="34" charset="0"/>
                <a:ea typeface="Calibri" pitchFamily="34" charset="-122"/>
                <a:cs typeface="Calibri" pitchFamily="34" charset="-120"/>
              </a:rPr>
              <a:t>1.05 g</a:t>
            </a:r>
            <a:r>
              <a:rPr lang="en-US" sz="1050" b="1" dirty="0">
                <a:solidFill>
                  <a:srgbClr val="C8414C"/>
                </a:solidFill>
                <a:latin typeface="Calibri" pitchFamily="34" charset="0"/>
                <a:ea typeface="Calibri" pitchFamily="34" charset="-122"/>
                <a:cs typeface="Calibri" pitchFamily="34" charset="-120"/>
              </a:rPr>
              <a:t>: matches the graph</a:t>
            </a:r>
            <a:endParaRPr lang="en-US" sz="1050" dirty="0"/>
          </a:p>
        </p:txBody>
      </p:sp>
      <p:sp>
        <p:nvSpPr>
          <p:cNvPr id="165" name="Shape 162"/>
          <p:cNvSpPr/>
          <p:nvPr/>
        </p:nvSpPr>
        <p:spPr>
          <a:xfrm>
            <a:off x="6675120" y="2651760"/>
            <a:ext cx="5102352" cy="3063240"/>
          </a:xfrm>
          <a:prstGeom prst="roundRect">
            <a:avLst>
              <a:gd name="adj" fmla="val 1791"/>
            </a:avLst>
          </a:prstGeom>
          <a:solidFill>
            <a:srgbClr val="F8F5FC"/>
          </a:solidFill>
          <a:ln w="9525">
            <a:solidFill>
              <a:srgbClr val="DDD3EC"/>
            </a:solidFill>
            <a:prstDash val="solid"/>
          </a:ln>
        </p:spPr>
      </p:sp>
      <p:sp>
        <p:nvSpPr>
          <p:cNvPr id="166" name="Text 163"/>
          <p:cNvSpPr/>
          <p:nvPr/>
        </p:nvSpPr>
        <p:spPr>
          <a:xfrm>
            <a:off x="6839712" y="2743200"/>
            <a:ext cx="4773168" cy="292608"/>
          </a:xfrm>
          <a:prstGeom prst="rect">
            <a:avLst/>
          </a:prstGeom>
          <a:noFill/>
          <a:ln/>
        </p:spPr>
        <p:txBody>
          <a:bodyPr wrap="square" lIns="0" tIns="0" rIns="0" bIns="0" rtlCol="0" anchor="ctr"/>
          <a:lstStyle/>
          <a:p>
            <a:pPr indent="0" marL="0">
              <a:buNone/>
            </a:pPr>
            <a:r>
              <a:rPr lang="en-US" sz="1300" b="1" dirty="0">
                <a:solidFill>
                  <a:srgbClr val="2A1F3D"/>
                </a:solidFill>
                <a:latin typeface="Calibri" pitchFamily="34" charset="0"/>
                <a:ea typeface="Calibri" pitchFamily="34" charset="-122"/>
                <a:cs typeface="Calibri" pitchFamily="34" charset="-120"/>
              </a:rPr>
              <a:t>Conclusion and errors</a:t>
            </a:r>
            <a:endParaRPr lang="en-US" sz="1300" dirty="0"/>
          </a:p>
        </p:txBody>
      </p:sp>
      <p:sp>
        <p:nvSpPr>
          <p:cNvPr id="167" name="Text 164"/>
          <p:cNvSpPr/>
          <p:nvPr/>
        </p:nvSpPr>
        <p:spPr>
          <a:xfrm>
            <a:off x="6839712" y="3072384"/>
            <a:ext cx="4773168" cy="2569464"/>
          </a:xfrm>
          <a:prstGeom prst="rect">
            <a:avLst/>
          </a:prstGeom>
          <a:noFill/>
          <a:ln/>
        </p:spPr>
        <p:txBody>
          <a:bodyPr wrap="square" lIns="0" tIns="0" rIns="0" bIns="0" rtlCol="0" anchor="t"/>
          <a:lstStyle/>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The pH stays </a:t>
            </a:r>
            <a:r>
              <a:rPr lang="en-US" sz="1100" b="1" dirty="0">
                <a:solidFill>
                  <a:srgbClr val="262B3A"/>
                </a:solidFill>
                <a:latin typeface="Calibri" pitchFamily="34" charset="0"/>
                <a:ea typeface="Calibri" pitchFamily="34" charset="-122"/>
                <a:cs typeface="Calibri" pitchFamily="34" charset="-120"/>
              </a:rPr>
              <a:t>low</a:t>
            </a:r>
            <a:r>
              <a:rPr lang="en-US" sz="1100" dirty="0">
                <a:solidFill>
                  <a:srgbClr val="262B3A"/>
                </a:solidFill>
                <a:latin typeface="Calibri" pitchFamily="34" charset="0"/>
                <a:ea typeface="Calibri" pitchFamily="34" charset="-122"/>
                <a:cs typeface="Calibri" pitchFamily="34" charset="-120"/>
              </a:rPr>
              <a:t> while acid is left, then </a:t>
            </a:r>
            <a:r>
              <a:rPr lang="en-US" sz="1100" b="1" dirty="0">
                <a:solidFill>
                  <a:srgbClr val="262B3A"/>
                </a:solidFill>
                <a:latin typeface="Calibri" pitchFamily="34" charset="0"/>
                <a:ea typeface="Calibri" pitchFamily="34" charset="-122"/>
                <a:cs typeface="Calibri" pitchFamily="34" charset="-120"/>
              </a:rPr>
              <a:t>jumps</a:t>
            </a:r>
            <a:r>
              <a:rPr lang="en-US" sz="1100" dirty="0">
                <a:solidFill>
                  <a:srgbClr val="262B3A"/>
                </a:solidFill>
                <a:latin typeface="Calibri" pitchFamily="34" charset="0"/>
                <a:ea typeface="Calibri" pitchFamily="34" charset="-122"/>
                <a:cs typeface="Calibri" pitchFamily="34" charset="-120"/>
              </a:rPr>
              <a:t> to about 7 when all the acid has reacted.</a:t>
            </a:r>
            <a:endParaRPr lang="en-US" sz="1100" dirty="0"/>
          </a:p>
          <a:p>
            <a:pPr marL="152400" indent="-152400">
              <a:spcAft>
                <a:spcPts val="300"/>
              </a:spcAft>
              <a:buSzPct val="100000"/>
              <a:buChar char="▪"/>
            </a:pPr>
            <a:r>
              <a:rPr lang="en-US" sz="1100" dirty="0">
                <a:solidFill>
                  <a:srgbClr val="262B3A"/>
                </a:solidFill>
                <a:latin typeface="Calibri" pitchFamily="34" charset="0"/>
                <a:ea typeface="Calibri" pitchFamily="34" charset="-122"/>
                <a:cs typeface="Calibri" pitchFamily="34" charset="-120"/>
              </a:rPr>
              <a:t>Extra carbonate does </a:t>
            </a:r>
            <a:r>
              <a:rPr lang="en-US" sz="1100" b="1" dirty="0">
                <a:solidFill>
                  <a:srgbClr val="262B3A"/>
                </a:solidFill>
                <a:latin typeface="Calibri" pitchFamily="34" charset="0"/>
                <a:ea typeface="Calibri" pitchFamily="34" charset="-122"/>
                <a:cs typeface="Calibri" pitchFamily="34" charset="-120"/>
              </a:rPr>
              <a:t>not</a:t>
            </a:r>
            <a:r>
              <a:rPr lang="en-US" sz="1100" dirty="0">
                <a:solidFill>
                  <a:srgbClr val="262B3A"/>
                </a:solidFill>
                <a:latin typeface="Calibri" pitchFamily="34" charset="0"/>
                <a:ea typeface="Calibri" pitchFamily="34" charset="-122"/>
                <a:cs typeface="Calibri" pitchFamily="34" charset="-120"/>
              </a:rPr>
              <a:t> react: it stays as solid (</a:t>
            </a:r>
            <a:r>
              <a:rPr lang="en-US" sz="1100" b="1" dirty="0">
                <a:solidFill>
                  <a:srgbClr val="262B3A"/>
                </a:solidFill>
                <a:latin typeface="Calibri" pitchFamily="34" charset="0"/>
                <a:ea typeface="Calibri" pitchFamily="34" charset="-122"/>
                <a:cs typeface="Calibri" pitchFamily="34" charset="-120"/>
              </a:rPr>
              <a:t>excess</a:t>
            </a:r>
            <a:r>
              <a:rPr lang="en-US" sz="1100" dirty="0">
                <a:solidFill>
                  <a:srgbClr val="262B3A"/>
                </a:solidFill>
                <a:latin typeface="Calibri" pitchFamily="34" charset="0"/>
                <a:ea typeface="Calibri" pitchFamily="34" charset="-122"/>
                <a:cs typeface="Calibri" pitchFamily="34" charset="-120"/>
              </a:rPr>
              <a:t>), so the salt solution is </a:t>
            </a:r>
            <a:r>
              <a:rPr lang="en-US" sz="1100" b="1" dirty="0">
                <a:solidFill>
                  <a:srgbClr val="262B3A"/>
                </a:solidFill>
                <a:latin typeface="Calibri" pitchFamily="34" charset="0"/>
                <a:ea typeface="Calibri" pitchFamily="34" charset="-122"/>
                <a:cs typeface="Calibri" pitchFamily="34" charset="-120"/>
              </a:rPr>
              <a:t>not acidic</a:t>
            </a:r>
            <a:r>
              <a:rPr lang="en-US" sz="1100" dirty="0">
                <a:solidFill>
                  <a:srgbClr val="262B3A"/>
                </a:solidFill>
                <a:latin typeface="Calibri" pitchFamily="34" charset="0"/>
                <a:ea typeface="Calibri" pitchFamily="34" charset="-122"/>
                <a:cs typeface="Calibri" pitchFamily="34" charset="-120"/>
              </a:rPr>
              <a:t>.</a:t>
            </a:r>
            <a:endParaRPr lang="en-US" sz="1100" dirty="0"/>
          </a:p>
          <a:p>
            <a:pPr marL="152400" indent="-152400">
              <a:spcAft>
                <a:spcPts val="300"/>
              </a:spcAft>
              <a:buSzPct val="100000"/>
              <a:buChar char="▪"/>
            </a:pPr>
            <a:r>
              <a:rPr lang="en-US" sz="1100" b="1" dirty="0">
                <a:solidFill>
                  <a:srgbClr val="262B3A"/>
                </a:solidFill>
                <a:latin typeface="Calibri" pitchFamily="34" charset="0"/>
                <a:ea typeface="Calibri" pitchFamily="34" charset="-122"/>
                <a:cs typeface="Calibri" pitchFamily="34" charset="-120"/>
              </a:rPr>
              <a:t>Errors</a:t>
            </a:r>
            <a:r>
              <a:rPr lang="en-US" sz="1100" dirty="0">
                <a:solidFill>
                  <a:srgbClr val="262B3A"/>
                </a:solidFill>
                <a:latin typeface="Calibri" pitchFamily="34" charset="0"/>
                <a:ea typeface="Calibri" pitchFamily="34" charset="-122"/>
                <a:cs typeface="Calibri" pitchFamily="34" charset="-120"/>
              </a:rPr>
              <a:t>: carbonate stuck to the spatula or beaker; crystals still </a:t>
            </a:r>
            <a:r>
              <a:rPr lang="en-US" sz="1100" b="1" dirty="0">
                <a:solidFill>
                  <a:srgbClr val="262B3A"/>
                </a:solidFill>
                <a:latin typeface="Calibri" pitchFamily="34" charset="0"/>
                <a:ea typeface="Calibri" pitchFamily="34" charset="-122"/>
                <a:cs typeface="Calibri" pitchFamily="34" charset="-120"/>
              </a:rPr>
              <a:t>wet</a:t>
            </a:r>
            <a:r>
              <a:rPr lang="en-US" sz="1100" dirty="0">
                <a:solidFill>
                  <a:srgbClr val="262B3A"/>
                </a:solidFill>
                <a:latin typeface="Calibri" pitchFamily="34" charset="0"/>
                <a:ea typeface="Calibri" pitchFamily="34" charset="-122"/>
                <a:cs typeface="Calibri" pitchFamily="34" charset="-120"/>
              </a:rPr>
              <a:t> (mass too high); some salt </a:t>
            </a:r>
            <a:r>
              <a:rPr lang="en-US" sz="1100" b="1" dirty="0">
                <a:solidFill>
                  <a:srgbClr val="262B3A"/>
                </a:solidFill>
                <a:latin typeface="Calibri" pitchFamily="34" charset="0"/>
                <a:ea typeface="Calibri" pitchFamily="34" charset="-122"/>
                <a:cs typeface="Calibri" pitchFamily="34" charset="-120"/>
              </a:rPr>
              <a:t>stays dissolved</a:t>
            </a:r>
            <a:r>
              <a:rPr lang="en-US" sz="1100" dirty="0">
                <a:solidFill>
                  <a:srgbClr val="262B3A"/>
                </a:solidFill>
                <a:latin typeface="Calibri" pitchFamily="34" charset="0"/>
                <a:ea typeface="Calibri" pitchFamily="34" charset="-122"/>
                <a:cs typeface="Calibri" pitchFamily="34" charset="-120"/>
              </a:rPr>
              <a:t>.</a:t>
            </a:r>
            <a:endParaRPr lang="en-US" sz="1100" dirty="0"/>
          </a:p>
          <a:p>
            <a:pPr marL="152400" indent="-152400">
              <a:spcAft>
                <a:spcPts val="300"/>
              </a:spcAft>
              <a:buSzPct val="100000"/>
              <a:buChar char="▪"/>
            </a:pPr>
            <a:r>
              <a:rPr lang="en-US" sz="1100" b="1" dirty="0">
                <a:solidFill>
                  <a:srgbClr val="262B3A"/>
                </a:solidFill>
                <a:latin typeface="Calibri" pitchFamily="34" charset="0"/>
                <a:ea typeface="Calibri" pitchFamily="34" charset="-122"/>
                <a:cs typeface="Calibri" pitchFamily="34" charset="-120"/>
              </a:rPr>
              <a:t>Improve</a:t>
            </a:r>
            <a:r>
              <a:rPr lang="en-US" sz="1100" dirty="0">
                <a:solidFill>
                  <a:srgbClr val="262B3A"/>
                </a:solidFill>
                <a:latin typeface="Calibri" pitchFamily="34" charset="0"/>
                <a:ea typeface="Calibri" pitchFamily="34" charset="-122"/>
                <a:cs typeface="Calibri" pitchFamily="34" charset="-120"/>
              </a:rPr>
              <a:t>: calibrate the pH meter; add smaller amounts near the end point; dry crystals to </a:t>
            </a:r>
            <a:r>
              <a:rPr lang="en-US" sz="1100" b="1" dirty="0">
                <a:solidFill>
                  <a:srgbClr val="262B3A"/>
                </a:solidFill>
                <a:latin typeface="Calibri" pitchFamily="34" charset="0"/>
                <a:ea typeface="Calibri" pitchFamily="34" charset="-122"/>
                <a:cs typeface="Calibri" pitchFamily="34" charset="-120"/>
              </a:rPr>
              <a:t>constant mass</a:t>
            </a:r>
            <a:r>
              <a:rPr lang="en-US" sz="1100" dirty="0">
                <a:solidFill>
                  <a:srgbClr val="262B3A"/>
                </a:solidFill>
                <a:latin typeface="Calibri" pitchFamily="34" charset="0"/>
                <a:ea typeface="Calibri" pitchFamily="34" charset="-122"/>
                <a:cs typeface="Calibri" pitchFamily="34" charset="-120"/>
              </a:rPr>
              <a:t>.</a:t>
            </a:r>
            <a:endParaRPr lang="en-US" sz="1100" dirty="0"/>
          </a:p>
        </p:txBody>
      </p:sp>
      <p:sp>
        <p:nvSpPr>
          <p:cNvPr id="168" name="Shape 165"/>
          <p:cNvSpPr/>
          <p:nvPr/>
        </p:nvSpPr>
        <p:spPr>
          <a:xfrm>
            <a:off x="411480" y="5833872"/>
            <a:ext cx="11368735" cy="530352"/>
          </a:xfrm>
          <a:prstGeom prst="rect">
            <a:avLst/>
          </a:prstGeom>
          <a:solidFill>
            <a:srgbClr val="FFF4E0"/>
          </a:solidFill>
          <a:ln w="6350">
            <a:solidFill>
              <a:srgbClr val="F1D9A8"/>
            </a:solidFill>
            <a:prstDash val="solid"/>
          </a:ln>
        </p:spPr>
      </p:sp>
      <p:sp>
        <p:nvSpPr>
          <p:cNvPr id="169" name="Shape 166"/>
          <p:cNvSpPr/>
          <p:nvPr/>
        </p:nvSpPr>
        <p:spPr>
          <a:xfrm>
            <a:off x="411480" y="5833872"/>
            <a:ext cx="82296" cy="530352"/>
          </a:xfrm>
          <a:prstGeom prst="rect">
            <a:avLst/>
          </a:prstGeom>
          <a:solidFill>
            <a:srgbClr val="E39A2F"/>
          </a:solidFill>
          <a:ln w="12700">
            <a:solidFill>
              <a:srgbClr val="E39A2F"/>
            </a:solidFill>
            <a:prstDash val="solid"/>
          </a:ln>
        </p:spPr>
      </p:sp>
      <p:sp>
        <p:nvSpPr>
          <p:cNvPr id="170" name="Text 167"/>
          <p:cNvSpPr/>
          <p:nvPr/>
        </p:nvSpPr>
        <p:spPr>
          <a:xfrm>
            <a:off x="640080" y="5833872"/>
            <a:ext cx="11002975" cy="530352"/>
          </a:xfrm>
          <a:prstGeom prst="rect">
            <a:avLst/>
          </a:prstGeom>
          <a:noFill/>
          <a:ln/>
        </p:spPr>
        <p:txBody>
          <a:bodyPr wrap="square" lIns="0" tIns="0" rIns="0" bIns="0" rtlCol="0" anchor="ctr"/>
          <a:lstStyle/>
          <a:p>
            <a:pPr indent="0" marL="0">
              <a:buNone/>
            </a:pPr>
            <a:r>
              <a:rPr lang="en-US" sz="1200" b="1" dirty="0">
                <a:solidFill>
                  <a:srgbClr val="B8730A"/>
                </a:solidFill>
                <a:latin typeface="Calibri" pitchFamily="34" charset="0"/>
                <a:ea typeface="Calibri" pitchFamily="34" charset="-122"/>
                <a:cs typeface="Calibri" pitchFamily="34" charset="-120"/>
              </a:rPr>
              <a:t>Quick check   </a:t>
            </a:r>
            <a:r>
              <a:rPr lang="en-US" sz="1150" dirty="0">
                <a:solidFill>
                  <a:srgbClr val="262B3A"/>
                </a:solidFill>
                <a:latin typeface="Calibri" pitchFamily="34" charset="0"/>
                <a:ea typeface="Calibri" pitchFamily="34" charset="-122"/>
                <a:cs typeface="Calibri" pitchFamily="34" charset="-120"/>
              </a:rPr>
              <a:t>Use the graph: what is the pH after </a:t>
            </a:r>
            <a:r>
              <a:rPr lang="en-US" sz="1150" b="1" dirty="0">
                <a:solidFill>
                  <a:srgbClr val="262B3A"/>
                </a:solidFill>
                <a:latin typeface="Calibri" pitchFamily="34" charset="0"/>
                <a:ea typeface="Calibri" pitchFamily="34" charset="-122"/>
                <a:cs typeface="Calibri" pitchFamily="34" charset="-120"/>
              </a:rPr>
              <a:t>0.60 g</a:t>
            </a:r>
            <a:r>
              <a:rPr lang="en-US" sz="1150" dirty="0">
                <a:solidFill>
                  <a:srgbClr val="262B3A"/>
                </a:solidFill>
                <a:latin typeface="Calibri" pitchFamily="34" charset="0"/>
                <a:ea typeface="Calibri" pitchFamily="34" charset="-122"/>
                <a:cs typeface="Calibri" pitchFamily="34" charset="-120"/>
              </a:rPr>
              <a:t> has been added? Why is the pH </a:t>
            </a:r>
            <a:r>
              <a:rPr lang="en-US" sz="1150" b="1" dirty="0">
                <a:solidFill>
                  <a:srgbClr val="262B3A"/>
                </a:solidFill>
                <a:latin typeface="Calibri" pitchFamily="34" charset="0"/>
                <a:ea typeface="Calibri" pitchFamily="34" charset="-122"/>
                <a:cs typeface="Calibri" pitchFamily="34" charset="-120"/>
              </a:rPr>
              <a:t>not</a:t>
            </a:r>
            <a:r>
              <a:rPr lang="en-US" sz="1150" dirty="0">
                <a:solidFill>
                  <a:srgbClr val="262B3A"/>
                </a:solidFill>
                <a:latin typeface="Calibri" pitchFamily="34" charset="0"/>
                <a:ea typeface="Calibri" pitchFamily="34" charset="-122"/>
                <a:cs typeface="Calibri" pitchFamily="34" charset="-120"/>
              </a:rPr>
              <a:t> much higher than 7 when excess carbonate is added?</a:t>
            </a:r>
            <a:endParaRPr lang="en-US" sz="12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Exam practice: recap 5</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Specification C6.1.8 and PAG C4 • making a pure, dry salt</a:t>
            </a:r>
            <a:endParaRPr lang="en-US" sz="1100" dirty="0"/>
          </a:p>
        </p:txBody>
      </p:sp>
      <p:sp>
        <p:nvSpPr>
          <p:cNvPr id="6" name="Text 4"/>
          <p:cNvSpPr/>
          <p:nvPr/>
        </p:nvSpPr>
        <p:spPr>
          <a:xfrm>
            <a:off x="411480" y="6473952"/>
            <a:ext cx="1014984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C6.1 What useful products can be made from acids?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Recap 5  |  21</a:t>
            </a:r>
            <a:endParaRPr lang="en-US" sz="1000" dirty="0"/>
          </a:p>
        </p:txBody>
      </p:sp>
      <p:sp>
        <p:nvSpPr>
          <p:cNvPr id="8" name="Shape 6"/>
          <p:cNvSpPr/>
          <p:nvPr/>
        </p:nvSpPr>
        <p:spPr>
          <a:xfrm>
            <a:off x="411480" y="1207008"/>
            <a:ext cx="11368735" cy="1159002"/>
          </a:xfrm>
          <a:prstGeom prst="roundRect">
            <a:avLst>
              <a:gd name="adj" fmla="val 3945"/>
            </a:avLst>
          </a:prstGeom>
          <a:solidFill>
            <a:srgbClr val="FFFFFF"/>
          </a:solidFill>
          <a:ln w="12700">
            <a:solidFill>
              <a:srgbClr val="DDD3EC"/>
            </a:solidFill>
            <a:prstDash val="solid"/>
          </a:ln>
        </p:spPr>
      </p:sp>
      <p:sp>
        <p:nvSpPr>
          <p:cNvPr id="9" name="Shape 7"/>
          <p:cNvSpPr/>
          <p:nvPr/>
        </p:nvSpPr>
        <p:spPr>
          <a:xfrm>
            <a:off x="411480" y="1207008"/>
            <a:ext cx="2103120" cy="292608"/>
          </a:xfrm>
          <a:prstGeom prst="rect">
            <a:avLst/>
          </a:prstGeom>
          <a:solidFill>
            <a:srgbClr val="F5A742"/>
          </a:solidFill>
          <a:ln w="12700">
            <a:solidFill>
              <a:srgbClr val="F5A742"/>
            </a:solidFill>
            <a:prstDash val="solid"/>
          </a:ln>
        </p:spPr>
      </p:sp>
      <p:sp>
        <p:nvSpPr>
          <p:cNvPr id="10" name="Text 8"/>
          <p:cNvSpPr/>
          <p:nvPr/>
        </p:nvSpPr>
        <p:spPr>
          <a:xfrm>
            <a:off x="411480" y="1207008"/>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1" name="Text 9"/>
          <p:cNvSpPr/>
          <p:nvPr/>
        </p:nvSpPr>
        <p:spPr>
          <a:xfrm>
            <a:off x="640080" y="1572768"/>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Why is magnesium carbonate added until </a:t>
            </a:r>
            <a:r>
              <a:rPr lang="en-US" sz="1250" b="1" dirty="0">
                <a:solidFill>
                  <a:srgbClr val="262B3A"/>
                </a:solidFill>
                <a:latin typeface="Calibri" pitchFamily="34" charset="0"/>
                <a:ea typeface="Calibri" pitchFamily="34" charset="-122"/>
                <a:cs typeface="Calibri" pitchFamily="34" charset="-120"/>
              </a:rPr>
              <a:t>no more fizzing</a:t>
            </a:r>
            <a:r>
              <a:rPr lang="en-US" sz="1250" dirty="0">
                <a:solidFill>
                  <a:srgbClr val="262B3A"/>
                </a:solidFill>
                <a:latin typeface="Calibri" pitchFamily="34" charset="0"/>
                <a:ea typeface="Calibri" pitchFamily="34" charset="-122"/>
                <a:cs typeface="Calibri" pitchFamily="34" charset="-120"/>
              </a:rPr>
              <a:t> happens and some solid is </a:t>
            </a:r>
            <a:r>
              <a:rPr lang="en-US" sz="1250" b="1" dirty="0">
                <a:solidFill>
                  <a:srgbClr val="262B3A"/>
                </a:solidFill>
                <a:latin typeface="Calibri" pitchFamily="34" charset="0"/>
                <a:ea typeface="Calibri" pitchFamily="34" charset="-122"/>
                <a:cs typeface="Calibri" pitchFamily="34" charset="-120"/>
              </a:rPr>
              <a:t>left over</a:t>
            </a:r>
            <a:r>
              <a:rPr lang="en-US" sz="1250" dirty="0">
                <a:solidFill>
                  <a:srgbClr val="262B3A"/>
                </a:solidFill>
                <a:latin typeface="Calibri" pitchFamily="34" charset="0"/>
                <a:ea typeface="Calibri" pitchFamily="34" charset="-122"/>
                <a:cs typeface="Calibri" pitchFamily="34" charset="-120"/>
              </a:rPr>
              <a:t>?</a:t>
            </a:r>
            <a:endParaRPr lang="en-US" sz="1250" dirty="0"/>
          </a:p>
        </p:txBody>
      </p:sp>
      <p:sp>
        <p:nvSpPr>
          <p:cNvPr id="12" name="Text 10"/>
          <p:cNvSpPr/>
          <p:nvPr/>
        </p:nvSpPr>
        <p:spPr>
          <a:xfrm>
            <a:off x="10317175" y="1981962"/>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3" name="Shape 11"/>
          <p:cNvSpPr/>
          <p:nvPr/>
        </p:nvSpPr>
        <p:spPr>
          <a:xfrm>
            <a:off x="411480" y="2512314"/>
            <a:ext cx="11368735" cy="1159002"/>
          </a:xfrm>
          <a:prstGeom prst="roundRect">
            <a:avLst>
              <a:gd name="adj" fmla="val 3945"/>
            </a:avLst>
          </a:prstGeom>
          <a:solidFill>
            <a:srgbClr val="FFFFFF"/>
          </a:solidFill>
          <a:ln w="12700">
            <a:solidFill>
              <a:srgbClr val="DDD3EC"/>
            </a:solidFill>
            <a:prstDash val="solid"/>
          </a:ln>
        </p:spPr>
      </p:sp>
      <p:sp>
        <p:nvSpPr>
          <p:cNvPr id="14" name="Shape 12"/>
          <p:cNvSpPr/>
          <p:nvPr/>
        </p:nvSpPr>
        <p:spPr>
          <a:xfrm>
            <a:off x="411480" y="2512314"/>
            <a:ext cx="2103120" cy="292608"/>
          </a:xfrm>
          <a:prstGeom prst="rect">
            <a:avLst/>
          </a:prstGeom>
          <a:solidFill>
            <a:srgbClr val="F5A742"/>
          </a:solidFill>
          <a:ln w="12700">
            <a:solidFill>
              <a:srgbClr val="F5A742"/>
            </a:solidFill>
            <a:prstDash val="solid"/>
          </a:ln>
        </p:spPr>
      </p:sp>
      <p:sp>
        <p:nvSpPr>
          <p:cNvPr id="15" name="Text 13"/>
          <p:cNvSpPr/>
          <p:nvPr/>
        </p:nvSpPr>
        <p:spPr>
          <a:xfrm>
            <a:off x="411480" y="2512314"/>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16" name="Text 14"/>
          <p:cNvSpPr/>
          <p:nvPr/>
        </p:nvSpPr>
        <p:spPr>
          <a:xfrm>
            <a:off x="640080" y="2878074"/>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Explain why the excess magnesium carbonate is removed by </a:t>
            </a:r>
            <a:r>
              <a:rPr lang="en-US" sz="1250" b="1" dirty="0">
                <a:solidFill>
                  <a:srgbClr val="262B3A"/>
                </a:solidFill>
                <a:latin typeface="Calibri" pitchFamily="34" charset="0"/>
                <a:ea typeface="Calibri" pitchFamily="34" charset="-122"/>
                <a:cs typeface="Calibri" pitchFamily="34" charset="-120"/>
              </a:rPr>
              <a:t>filtration</a:t>
            </a:r>
            <a:r>
              <a:rPr lang="en-US" sz="1250" dirty="0">
                <a:solidFill>
                  <a:srgbClr val="262B3A"/>
                </a:solidFill>
                <a:latin typeface="Calibri" pitchFamily="34" charset="0"/>
                <a:ea typeface="Calibri" pitchFamily="34" charset="-122"/>
                <a:cs typeface="Calibri" pitchFamily="34" charset="-120"/>
              </a:rPr>
              <a:t>, and why the filtrate is heated on a </a:t>
            </a:r>
            <a:r>
              <a:rPr lang="en-US" sz="1250" b="1" dirty="0">
                <a:solidFill>
                  <a:srgbClr val="262B3A"/>
                </a:solidFill>
                <a:latin typeface="Calibri" pitchFamily="34" charset="0"/>
                <a:ea typeface="Calibri" pitchFamily="34" charset="-122"/>
                <a:cs typeface="Calibri" pitchFamily="34" charset="-120"/>
              </a:rPr>
              <a:t>water bath</a:t>
            </a:r>
            <a:r>
              <a:rPr lang="en-US" sz="1250" dirty="0">
                <a:solidFill>
                  <a:srgbClr val="262B3A"/>
                </a:solidFill>
                <a:latin typeface="Calibri" pitchFamily="34" charset="0"/>
                <a:ea typeface="Calibri" pitchFamily="34" charset="-122"/>
                <a:cs typeface="Calibri" pitchFamily="34" charset="-120"/>
              </a:rPr>
              <a:t>.</a:t>
            </a:r>
            <a:endParaRPr lang="en-US" sz="1250" dirty="0"/>
          </a:p>
        </p:txBody>
      </p:sp>
      <p:sp>
        <p:nvSpPr>
          <p:cNvPr id="17" name="Text 15"/>
          <p:cNvSpPr/>
          <p:nvPr/>
        </p:nvSpPr>
        <p:spPr>
          <a:xfrm>
            <a:off x="10317175" y="3287268"/>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8" name="Shape 16"/>
          <p:cNvSpPr/>
          <p:nvPr/>
        </p:nvSpPr>
        <p:spPr>
          <a:xfrm>
            <a:off x="411480" y="3817620"/>
            <a:ext cx="11368735" cy="1159002"/>
          </a:xfrm>
          <a:prstGeom prst="roundRect">
            <a:avLst>
              <a:gd name="adj" fmla="val 3945"/>
            </a:avLst>
          </a:prstGeom>
          <a:solidFill>
            <a:srgbClr val="FFFFFF"/>
          </a:solidFill>
          <a:ln w="12700">
            <a:solidFill>
              <a:srgbClr val="DDD3EC"/>
            </a:solidFill>
            <a:prstDash val="solid"/>
          </a:ln>
        </p:spPr>
      </p:sp>
      <p:sp>
        <p:nvSpPr>
          <p:cNvPr id="19" name="Shape 17"/>
          <p:cNvSpPr/>
          <p:nvPr/>
        </p:nvSpPr>
        <p:spPr>
          <a:xfrm>
            <a:off x="411480" y="3817620"/>
            <a:ext cx="2103120" cy="292608"/>
          </a:xfrm>
          <a:prstGeom prst="rect">
            <a:avLst/>
          </a:prstGeom>
          <a:solidFill>
            <a:srgbClr val="F5A742"/>
          </a:solidFill>
          <a:ln w="12700">
            <a:solidFill>
              <a:srgbClr val="F5A742"/>
            </a:solidFill>
            <a:prstDash val="solid"/>
          </a:ln>
        </p:spPr>
      </p:sp>
      <p:sp>
        <p:nvSpPr>
          <p:cNvPr id="20" name="Text 18"/>
          <p:cNvSpPr/>
          <p:nvPr/>
        </p:nvSpPr>
        <p:spPr>
          <a:xfrm>
            <a:off x="411480" y="3817620"/>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1" name="Text 19"/>
          <p:cNvSpPr/>
          <p:nvPr/>
        </p:nvSpPr>
        <p:spPr>
          <a:xfrm>
            <a:off x="640080" y="4183380"/>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Use the graph on the previous slide. What mass of magnesium carbonate reacted with all the acid? Explain how you can tell.</a:t>
            </a:r>
            <a:endParaRPr lang="en-US" sz="1250" dirty="0"/>
          </a:p>
        </p:txBody>
      </p:sp>
      <p:sp>
        <p:nvSpPr>
          <p:cNvPr id="22" name="Text 20"/>
          <p:cNvSpPr/>
          <p:nvPr/>
        </p:nvSpPr>
        <p:spPr>
          <a:xfrm>
            <a:off x="10317175" y="4592574"/>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3" name="Shape 21"/>
          <p:cNvSpPr/>
          <p:nvPr/>
        </p:nvSpPr>
        <p:spPr>
          <a:xfrm>
            <a:off x="411480" y="5122926"/>
            <a:ext cx="11368735" cy="1159002"/>
          </a:xfrm>
          <a:prstGeom prst="roundRect">
            <a:avLst>
              <a:gd name="adj" fmla="val 3945"/>
            </a:avLst>
          </a:prstGeom>
          <a:solidFill>
            <a:srgbClr val="FFFFFF"/>
          </a:solidFill>
          <a:ln w="12700">
            <a:solidFill>
              <a:srgbClr val="DDD3EC"/>
            </a:solidFill>
            <a:prstDash val="solid"/>
          </a:ln>
        </p:spPr>
      </p:sp>
      <p:sp>
        <p:nvSpPr>
          <p:cNvPr id="24" name="Shape 22"/>
          <p:cNvSpPr/>
          <p:nvPr/>
        </p:nvSpPr>
        <p:spPr>
          <a:xfrm>
            <a:off x="411480" y="5122926"/>
            <a:ext cx="2103120" cy="292608"/>
          </a:xfrm>
          <a:prstGeom prst="rect">
            <a:avLst/>
          </a:prstGeom>
          <a:solidFill>
            <a:srgbClr val="F5A742"/>
          </a:solidFill>
          <a:ln w="12700">
            <a:solidFill>
              <a:srgbClr val="F5A742"/>
            </a:solidFill>
            <a:prstDash val="solid"/>
          </a:ln>
        </p:spPr>
      </p:sp>
      <p:sp>
        <p:nvSpPr>
          <p:cNvPr id="25" name="Text 23"/>
          <p:cNvSpPr/>
          <p:nvPr/>
        </p:nvSpPr>
        <p:spPr>
          <a:xfrm>
            <a:off x="411480" y="5122926"/>
            <a:ext cx="2103120" cy="292608"/>
          </a:xfrm>
          <a:prstGeom prst="rect">
            <a:avLst/>
          </a:prstGeom>
          <a:noFill/>
          <a:ln/>
        </p:spPr>
        <p:txBody>
          <a:bodyPr wrap="square" lIns="0" tIns="0" rIns="0" bIns="0" rtlCol="0" anchor="ctr"/>
          <a:lstStyle/>
          <a:p>
            <a:pPr algn="ctr" indent="0" marL="0">
              <a:buNone/>
            </a:pPr>
            <a:r>
              <a:rPr lang="en-US" sz="1050" b="1" spc="100" kern="0" dirty="0">
                <a:solidFill>
                  <a:srgbClr val="FFFFFF"/>
                </a:solidFill>
                <a:latin typeface="Calibri" pitchFamily="34" charset="0"/>
                <a:ea typeface="Calibri" pitchFamily="34" charset="-122"/>
                <a:cs typeface="Calibri" pitchFamily="34" charset="-120"/>
              </a:rPr>
              <a:t>EXAM-STYLE QUESTION</a:t>
            </a:r>
            <a:endParaRPr lang="en-US" sz="1050" dirty="0"/>
          </a:p>
        </p:txBody>
      </p:sp>
      <p:sp>
        <p:nvSpPr>
          <p:cNvPr id="26" name="Text 24"/>
          <p:cNvSpPr/>
          <p:nvPr/>
        </p:nvSpPr>
        <p:spPr>
          <a:xfrm>
            <a:off x="640080" y="5488686"/>
            <a:ext cx="9539935" cy="720090"/>
          </a:xfrm>
          <a:prstGeom prst="rect">
            <a:avLst/>
          </a:prstGeom>
          <a:noFill/>
          <a:ln/>
        </p:spPr>
        <p:txBody>
          <a:bodyPr wrap="square" lIns="0" tIns="0" rIns="0" bIns="0" rtlCol="0" anchor="t"/>
          <a:lstStyle/>
          <a:p>
            <a:pPr indent="0" marL="0">
              <a:buNone/>
            </a:pPr>
            <a:r>
              <a:rPr lang="en-US" sz="1250" dirty="0">
                <a:solidFill>
                  <a:srgbClr val="262B3A"/>
                </a:solidFill>
                <a:latin typeface="Calibri" pitchFamily="34" charset="0"/>
                <a:ea typeface="Calibri" pitchFamily="34" charset="-122"/>
                <a:cs typeface="Calibri" pitchFamily="34" charset="-120"/>
              </a:rPr>
              <a:t>Name the salt made from </a:t>
            </a:r>
            <a:r>
              <a:rPr lang="en-US" sz="1250" b="1" dirty="0">
                <a:solidFill>
                  <a:srgbClr val="262B3A"/>
                </a:solidFill>
                <a:latin typeface="Calibri" pitchFamily="34" charset="0"/>
                <a:ea typeface="Calibri" pitchFamily="34" charset="-122"/>
                <a:cs typeface="Calibri" pitchFamily="34" charset="-120"/>
              </a:rPr>
              <a:t>zinc oxide</a:t>
            </a:r>
            <a:r>
              <a:rPr lang="en-US" sz="1250" dirty="0">
                <a:solidFill>
                  <a:srgbClr val="262B3A"/>
                </a:solidFill>
                <a:latin typeface="Calibri" pitchFamily="34" charset="0"/>
                <a:ea typeface="Calibri" pitchFamily="34" charset="-122"/>
                <a:cs typeface="Calibri" pitchFamily="34" charset="-120"/>
              </a:rPr>
              <a:t> and </a:t>
            </a:r>
            <a:r>
              <a:rPr lang="en-US" sz="1250" b="1" dirty="0">
                <a:solidFill>
                  <a:srgbClr val="262B3A"/>
                </a:solidFill>
                <a:latin typeface="Calibri" pitchFamily="34" charset="0"/>
                <a:ea typeface="Calibri" pitchFamily="34" charset="-122"/>
                <a:cs typeface="Calibri" pitchFamily="34" charset="-120"/>
              </a:rPr>
              <a:t>hydrochloric acid</a:t>
            </a:r>
            <a:r>
              <a:rPr lang="en-US" sz="1250" dirty="0">
                <a:solidFill>
                  <a:srgbClr val="262B3A"/>
                </a:solidFill>
                <a:latin typeface="Calibri" pitchFamily="34" charset="0"/>
                <a:ea typeface="Calibri" pitchFamily="34" charset="-122"/>
                <a:cs typeface="Calibri" pitchFamily="34" charset="-120"/>
              </a:rPr>
              <a:t>, and write its formula.</a:t>
            </a:r>
            <a:endParaRPr lang="en-US" sz="1250" dirty="0"/>
          </a:p>
        </p:txBody>
      </p:sp>
      <p:sp>
        <p:nvSpPr>
          <p:cNvPr id="27" name="Text 25"/>
          <p:cNvSpPr/>
          <p:nvPr/>
        </p:nvSpPr>
        <p:spPr>
          <a:xfrm>
            <a:off x="10317175" y="5897880"/>
            <a:ext cx="1325880" cy="292608"/>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Summary: key words</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C6.1 What useful products can be made from acids? • learn these definitions</a:t>
            </a:r>
            <a:endParaRPr lang="en-US" sz="1100" dirty="0"/>
          </a:p>
        </p:txBody>
      </p:sp>
      <p:sp>
        <p:nvSpPr>
          <p:cNvPr id="6" name="Text 4"/>
          <p:cNvSpPr/>
          <p:nvPr/>
        </p:nvSpPr>
        <p:spPr>
          <a:xfrm>
            <a:off x="411480" y="6473952"/>
            <a:ext cx="1014984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C6.1 What useful products can be made from acids?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Key words  |  22</a:t>
            </a:r>
            <a:endParaRPr lang="en-US" sz="1000" dirty="0"/>
          </a:p>
        </p:txBody>
      </p:sp>
      <p:sp>
        <p:nvSpPr>
          <p:cNvPr id="8" name="Shape 6"/>
          <p:cNvSpPr/>
          <p:nvPr/>
        </p:nvSpPr>
        <p:spPr>
          <a:xfrm>
            <a:off x="411480" y="1188720"/>
            <a:ext cx="2739314" cy="1143000"/>
          </a:xfrm>
          <a:prstGeom prst="rect">
            <a:avLst/>
          </a:prstGeom>
          <a:solidFill>
            <a:srgbClr val="F8F5FC"/>
          </a:solidFill>
          <a:ln w="9525">
            <a:solidFill>
              <a:srgbClr val="DDD3EC"/>
            </a:solidFill>
            <a:prstDash val="solid"/>
          </a:ln>
        </p:spPr>
      </p:sp>
      <p:sp>
        <p:nvSpPr>
          <p:cNvPr id="9" name="Shape 7"/>
          <p:cNvSpPr/>
          <p:nvPr/>
        </p:nvSpPr>
        <p:spPr>
          <a:xfrm>
            <a:off x="411480" y="1188720"/>
            <a:ext cx="73152" cy="1143000"/>
          </a:xfrm>
          <a:prstGeom prst="rect">
            <a:avLst/>
          </a:prstGeom>
          <a:solidFill>
            <a:srgbClr val="6A3FA0"/>
          </a:solidFill>
          <a:ln w="12700">
            <a:solidFill>
              <a:srgbClr val="6A3FA0"/>
            </a:solidFill>
            <a:prstDash val="solid"/>
          </a:ln>
        </p:spPr>
      </p:sp>
      <p:sp>
        <p:nvSpPr>
          <p:cNvPr id="10" name="Text 8"/>
          <p:cNvSpPr/>
          <p:nvPr/>
        </p:nvSpPr>
        <p:spPr>
          <a:xfrm>
            <a:off x="576072" y="1243584"/>
            <a:ext cx="2501570" cy="1033272"/>
          </a:xfrm>
          <a:prstGeom prst="rect">
            <a:avLst/>
          </a:prstGeom>
          <a:noFill/>
          <a:ln/>
        </p:spPr>
        <p:txBody>
          <a:bodyPr wrap="square" lIns="0" tIns="0" rIns="0" bIns="0" rtlCol="0" anchor="t"/>
          <a:lstStyle/>
          <a:p>
            <a:pPr indent="0" marL="0">
              <a:buNone/>
            </a:pPr>
            <a:r>
              <a:rPr lang="en-US" sz="1200" b="1" dirty="0">
                <a:solidFill>
                  <a:srgbClr val="2A1F3D"/>
                </a:solidFill>
                <a:latin typeface="Calibri" pitchFamily="34" charset="0"/>
                <a:ea typeface="Calibri" pitchFamily="34" charset="-122"/>
                <a:cs typeface="Calibri" pitchFamily="34" charset="-120"/>
              </a:rPr>
              <a:t>Acid</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A substance that forms hydrogen ions, H⁺(aq), when it dissolves in water.</a:t>
            </a:r>
            <a:endParaRPr lang="en-US" sz="1200" dirty="0"/>
          </a:p>
        </p:txBody>
      </p:sp>
      <p:sp>
        <p:nvSpPr>
          <p:cNvPr id="11" name="Shape 9"/>
          <p:cNvSpPr/>
          <p:nvPr/>
        </p:nvSpPr>
        <p:spPr>
          <a:xfrm>
            <a:off x="3287954" y="1188720"/>
            <a:ext cx="2739314" cy="1143000"/>
          </a:xfrm>
          <a:prstGeom prst="rect">
            <a:avLst/>
          </a:prstGeom>
          <a:solidFill>
            <a:srgbClr val="F8F5FC"/>
          </a:solidFill>
          <a:ln w="9525">
            <a:solidFill>
              <a:srgbClr val="DDD3EC"/>
            </a:solidFill>
            <a:prstDash val="solid"/>
          </a:ln>
        </p:spPr>
      </p:sp>
      <p:sp>
        <p:nvSpPr>
          <p:cNvPr id="12" name="Shape 10"/>
          <p:cNvSpPr/>
          <p:nvPr/>
        </p:nvSpPr>
        <p:spPr>
          <a:xfrm>
            <a:off x="3287954" y="1188720"/>
            <a:ext cx="73152" cy="1143000"/>
          </a:xfrm>
          <a:prstGeom prst="rect">
            <a:avLst/>
          </a:prstGeom>
          <a:solidFill>
            <a:srgbClr val="6A3FA0"/>
          </a:solidFill>
          <a:ln w="12700">
            <a:solidFill>
              <a:srgbClr val="6A3FA0"/>
            </a:solidFill>
            <a:prstDash val="solid"/>
          </a:ln>
        </p:spPr>
      </p:sp>
      <p:sp>
        <p:nvSpPr>
          <p:cNvPr id="13" name="Text 11"/>
          <p:cNvSpPr/>
          <p:nvPr/>
        </p:nvSpPr>
        <p:spPr>
          <a:xfrm>
            <a:off x="3452546" y="1243584"/>
            <a:ext cx="2501570" cy="1033272"/>
          </a:xfrm>
          <a:prstGeom prst="rect">
            <a:avLst/>
          </a:prstGeom>
          <a:noFill/>
          <a:ln/>
        </p:spPr>
        <p:txBody>
          <a:bodyPr wrap="square" lIns="0" tIns="0" rIns="0" bIns="0" rtlCol="0" anchor="t"/>
          <a:lstStyle/>
          <a:p>
            <a:pPr indent="0" marL="0">
              <a:buNone/>
            </a:pPr>
            <a:r>
              <a:rPr lang="en-US" sz="1200" b="1" dirty="0">
                <a:solidFill>
                  <a:srgbClr val="2A1F3D"/>
                </a:solidFill>
                <a:latin typeface="Calibri" pitchFamily="34" charset="0"/>
                <a:ea typeface="Calibri" pitchFamily="34" charset="-122"/>
                <a:cs typeface="Calibri" pitchFamily="34" charset="-120"/>
              </a:rPr>
              <a:t>Base</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A substance that neutralises an acid, e.g. metal oxides, hydroxides, carbonates.</a:t>
            </a:r>
            <a:endParaRPr lang="en-US" sz="1200" dirty="0"/>
          </a:p>
        </p:txBody>
      </p:sp>
      <p:sp>
        <p:nvSpPr>
          <p:cNvPr id="14" name="Shape 12"/>
          <p:cNvSpPr/>
          <p:nvPr/>
        </p:nvSpPr>
        <p:spPr>
          <a:xfrm>
            <a:off x="6164428" y="1188720"/>
            <a:ext cx="2739314" cy="1143000"/>
          </a:xfrm>
          <a:prstGeom prst="rect">
            <a:avLst/>
          </a:prstGeom>
          <a:solidFill>
            <a:srgbClr val="F8F5FC"/>
          </a:solidFill>
          <a:ln w="9525">
            <a:solidFill>
              <a:srgbClr val="DDD3EC"/>
            </a:solidFill>
            <a:prstDash val="solid"/>
          </a:ln>
        </p:spPr>
      </p:sp>
      <p:sp>
        <p:nvSpPr>
          <p:cNvPr id="15" name="Shape 13"/>
          <p:cNvSpPr/>
          <p:nvPr/>
        </p:nvSpPr>
        <p:spPr>
          <a:xfrm>
            <a:off x="6164428" y="1188720"/>
            <a:ext cx="73152" cy="1143000"/>
          </a:xfrm>
          <a:prstGeom prst="rect">
            <a:avLst/>
          </a:prstGeom>
          <a:solidFill>
            <a:srgbClr val="6A3FA0"/>
          </a:solidFill>
          <a:ln w="12700">
            <a:solidFill>
              <a:srgbClr val="6A3FA0"/>
            </a:solidFill>
            <a:prstDash val="solid"/>
          </a:ln>
        </p:spPr>
      </p:sp>
      <p:sp>
        <p:nvSpPr>
          <p:cNvPr id="16" name="Text 14"/>
          <p:cNvSpPr/>
          <p:nvPr/>
        </p:nvSpPr>
        <p:spPr>
          <a:xfrm>
            <a:off x="6329020" y="1243584"/>
            <a:ext cx="2501570" cy="1033272"/>
          </a:xfrm>
          <a:prstGeom prst="rect">
            <a:avLst/>
          </a:prstGeom>
          <a:noFill/>
          <a:ln/>
        </p:spPr>
        <p:txBody>
          <a:bodyPr wrap="square" lIns="0" tIns="0" rIns="0" bIns="0" rtlCol="0" anchor="t"/>
          <a:lstStyle/>
          <a:p>
            <a:pPr indent="0" marL="0">
              <a:buNone/>
            </a:pPr>
            <a:r>
              <a:rPr lang="en-US" sz="1200" b="1" dirty="0">
                <a:solidFill>
                  <a:srgbClr val="2A1F3D"/>
                </a:solidFill>
                <a:latin typeface="Calibri" pitchFamily="34" charset="0"/>
                <a:ea typeface="Calibri" pitchFamily="34" charset="-122"/>
                <a:cs typeface="Calibri" pitchFamily="34" charset="-120"/>
              </a:rPr>
              <a:t>Alkali</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A base that dissolves in water, forming hydroxide ions, OH⁻(aq).</a:t>
            </a:r>
            <a:endParaRPr lang="en-US" sz="1200" dirty="0"/>
          </a:p>
        </p:txBody>
      </p:sp>
      <p:sp>
        <p:nvSpPr>
          <p:cNvPr id="17" name="Shape 15"/>
          <p:cNvSpPr/>
          <p:nvPr/>
        </p:nvSpPr>
        <p:spPr>
          <a:xfrm>
            <a:off x="9040901" y="1188720"/>
            <a:ext cx="2739314" cy="1143000"/>
          </a:xfrm>
          <a:prstGeom prst="rect">
            <a:avLst/>
          </a:prstGeom>
          <a:solidFill>
            <a:srgbClr val="F8F5FC"/>
          </a:solidFill>
          <a:ln w="9525">
            <a:solidFill>
              <a:srgbClr val="DDD3EC"/>
            </a:solidFill>
            <a:prstDash val="solid"/>
          </a:ln>
        </p:spPr>
      </p:sp>
      <p:sp>
        <p:nvSpPr>
          <p:cNvPr id="18" name="Shape 16"/>
          <p:cNvSpPr/>
          <p:nvPr/>
        </p:nvSpPr>
        <p:spPr>
          <a:xfrm>
            <a:off x="9040901" y="1188720"/>
            <a:ext cx="73152" cy="1143000"/>
          </a:xfrm>
          <a:prstGeom prst="rect">
            <a:avLst/>
          </a:prstGeom>
          <a:solidFill>
            <a:srgbClr val="6A3FA0"/>
          </a:solidFill>
          <a:ln w="12700">
            <a:solidFill>
              <a:srgbClr val="6A3FA0"/>
            </a:solidFill>
            <a:prstDash val="solid"/>
          </a:ln>
        </p:spPr>
      </p:sp>
      <p:sp>
        <p:nvSpPr>
          <p:cNvPr id="19" name="Text 17"/>
          <p:cNvSpPr/>
          <p:nvPr/>
        </p:nvSpPr>
        <p:spPr>
          <a:xfrm>
            <a:off x="9205493" y="1243584"/>
            <a:ext cx="2501570" cy="1033272"/>
          </a:xfrm>
          <a:prstGeom prst="rect">
            <a:avLst/>
          </a:prstGeom>
          <a:noFill/>
          <a:ln/>
        </p:spPr>
        <p:txBody>
          <a:bodyPr wrap="square" lIns="0" tIns="0" rIns="0" bIns="0" rtlCol="0" anchor="t"/>
          <a:lstStyle/>
          <a:p>
            <a:pPr indent="0" marL="0">
              <a:buNone/>
            </a:pPr>
            <a:r>
              <a:rPr lang="en-US" sz="1200" b="1" dirty="0">
                <a:solidFill>
                  <a:srgbClr val="2A1F3D"/>
                </a:solidFill>
                <a:latin typeface="Calibri" pitchFamily="34" charset="0"/>
                <a:ea typeface="Calibri" pitchFamily="34" charset="-122"/>
                <a:cs typeface="Calibri" pitchFamily="34" charset="-120"/>
              </a:rPr>
              <a:t>pH</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Scale (0–14) of acidity and alkalinity; below 7 acidic, 7 neutral, above 7 alkaline.</a:t>
            </a:r>
            <a:endParaRPr lang="en-US" sz="1200" dirty="0"/>
          </a:p>
        </p:txBody>
      </p:sp>
      <p:sp>
        <p:nvSpPr>
          <p:cNvPr id="20" name="Shape 18"/>
          <p:cNvSpPr/>
          <p:nvPr/>
        </p:nvSpPr>
        <p:spPr>
          <a:xfrm>
            <a:off x="411480" y="2441448"/>
            <a:ext cx="2739314" cy="1143000"/>
          </a:xfrm>
          <a:prstGeom prst="rect">
            <a:avLst/>
          </a:prstGeom>
          <a:solidFill>
            <a:srgbClr val="F8F5FC"/>
          </a:solidFill>
          <a:ln w="9525">
            <a:solidFill>
              <a:srgbClr val="DDD3EC"/>
            </a:solidFill>
            <a:prstDash val="solid"/>
          </a:ln>
        </p:spPr>
      </p:sp>
      <p:sp>
        <p:nvSpPr>
          <p:cNvPr id="21" name="Shape 19"/>
          <p:cNvSpPr/>
          <p:nvPr/>
        </p:nvSpPr>
        <p:spPr>
          <a:xfrm>
            <a:off x="411480" y="2441448"/>
            <a:ext cx="73152" cy="1143000"/>
          </a:xfrm>
          <a:prstGeom prst="rect">
            <a:avLst/>
          </a:prstGeom>
          <a:solidFill>
            <a:srgbClr val="6A3FA0"/>
          </a:solidFill>
          <a:ln w="12700">
            <a:solidFill>
              <a:srgbClr val="6A3FA0"/>
            </a:solidFill>
            <a:prstDash val="solid"/>
          </a:ln>
        </p:spPr>
      </p:sp>
      <p:sp>
        <p:nvSpPr>
          <p:cNvPr id="22" name="Text 20"/>
          <p:cNvSpPr/>
          <p:nvPr/>
        </p:nvSpPr>
        <p:spPr>
          <a:xfrm>
            <a:off x="576072" y="2496312"/>
            <a:ext cx="2501570" cy="1033272"/>
          </a:xfrm>
          <a:prstGeom prst="rect">
            <a:avLst/>
          </a:prstGeom>
          <a:noFill/>
          <a:ln/>
        </p:spPr>
        <p:txBody>
          <a:bodyPr wrap="square" lIns="0" tIns="0" rIns="0" bIns="0" rtlCol="0" anchor="t"/>
          <a:lstStyle/>
          <a:p>
            <a:pPr indent="0" marL="0">
              <a:buNone/>
            </a:pPr>
            <a:r>
              <a:rPr lang="en-US" sz="1200" b="1" dirty="0">
                <a:solidFill>
                  <a:srgbClr val="2A1F3D"/>
                </a:solidFill>
                <a:latin typeface="Calibri" pitchFamily="34" charset="0"/>
                <a:ea typeface="Calibri" pitchFamily="34" charset="-122"/>
                <a:cs typeface="Calibri" pitchFamily="34" charset="-120"/>
              </a:rPr>
              <a:t>Universal indicator</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Mixture of dyes that shows the pH of a solution by its colour.</a:t>
            </a:r>
            <a:endParaRPr lang="en-US" sz="1200" dirty="0"/>
          </a:p>
        </p:txBody>
      </p:sp>
      <p:sp>
        <p:nvSpPr>
          <p:cNvPr id="23" name="Shape 21"/>
          <p:cNvSpPr/>
          <p:nvPr/>
        </p:nvSpPr>
        <p:spPr>
          <a:xfrm>
            <a:off x="3287954" y="2441448"/>
            <a:ext cx="2739314" cy="1143000"/>
          </a:xfrm>
          <a:prstGeom prst="rect">
            <a:avLst/>
          </a:prstGeom>
          <a:solidFill>
            <a:srgbClr val="F8F5FC"/>
          </a:solidFill>
          <a:ln w="9525">
            <a:solidFill>
              <a:srgbClr val="DDD3EC"/>
            </a:solidFill>
            <a:prstDash val="solid"/>
          </a:ln>
        </p:spPr>
      </p:sp>
      <p:sp>
        <p:nvSpPr>
          <p:cNvPr id="24" name="Shape 22"/>
          <p:cNvSpPr/>
          <p:nvPr/>
        </p:nvSpPr>
        <p:spPr>
          <a:xfrm>
            <a:off x="3287954" y="2441448"/>
            <a:ext cx="73152" cy="1143000"/>
          </a:xfrm>
          <a:prstGeom prst="rect">
            <a:avLst/>
          </a:prstGeom>
          <a:solidFill>
            <a:srgbClr val="6A3FA0"/>
          </a:solidFill>
          <a:ln w="12700">
            <a:solidFill>
              <a:srgbClr val="6A3FA0"/>
            </a:solidFill>
            <a:prstDash val="solid"/>
          </a:ln>
        </p:spPr>
      </p:sp>
      <p:sp>
        <p:nvSpPr>
          <p:cNvPr id="25" name="Text 23"/>
          <p:cNvSpPr/>
          <p:nvPr/>
        </p:nvSpPr>
        <p:spPr>
          <a:xfrm>
            <a:off x="3452546" y="2496312"/>
            <a:ext cx="2501570" cy="1033272"/>
          </a:xfrm>
          <a:prstGeom prst="rect">
            <a:avLst/>
          </a:prstGeom>
          <a:noFill/>
          <a:ln/>
        </p:spPr>
        <p:txBody>
          <a:bodyPr wrap="square" lIns="0" tIns="0" rIns="0" bIns="0" rtlCol="0" anchor="t"/>
          <a:lstStyle/>
          <a:p>
            <a:pPr indent="0" marL="0">
              <a:buNone/>
            </a:pPr>
            <a:r>
              <a:rPr lang="en-US" sz="1200" b="1" dirty="0">
                <a:solidFill>
                  <a:srgbClr val="2A1F3D"/>
                </a:solidFill>
                <a:latin typeface="Calibri" pitchFamily="34" charset="0"/>
                <a:ea typeface="Calibri" pitchFamily="34" charset="-122"/>
                <a:cs typeface="Calibri" pitchFamily="34" charset="-120"/>
              </a:rPr>
              <a:t>pH meter</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Electronic meter with a probe; gives a numerical pH reading.</a:t>
            </a:r>
            <a:endParaRPr lang="en-US" sz="1200" dirty="0"/>
          </a:p>
        </p:txBody>
      </p:sp>
      <p:sp>
        <p:nvSpPr>
          <p:cNvPr id="26" name="Shape 24"/>
          <p:cNvSpPr/>
          <p:nvPr/>
        </p:nvSpPr>
        <p:spPr>
          <a:xfrm>
            <a:off x="6164428" y="2441448"/>
            <a:ext cx="2739314" cy="1143000"/>
          </a:xfrm>
          <a:prstGeom prst="rect">
            <a:avLst/>
          </a:prstGeom>
          <a:solidFill>
            <a:srgbClr val="F8F5FC"/>
          </a:solidFill>
          <a:ln w="9525">
            <a:solidFill>
              <a:srgbClr val="DDD3EC"/>
            </a:solidFill>
            <a:prstDash val="solid"/>
          </a:ln>
        </p:spPr>
      </p:sp>
      <p:sp>
        <p:nvSpPr>
          <p:cNvPr id="27" name="Shape 25"/>
          <p:cNvSpPr/>
          <p:nvPr/>
        </p:nvSpPr>
        <p:spPr>
          <a:xfrm>
            <a:off x="6164428" y="2441448"/>
            <a:ext cx="73152" cy="1143000"/>
          </a:xfrm>
          <a:prstGeom prst="rect">
            <a:avLst/>
          </a:prstGeom>
          <a:solidFill>
            <a:srgbClr val="6A3FA0"/>
          </a:solidFill>
          <a:ln w="12700">
            <a:solidFill>
              <a:srgbClr val="6A3FA0"/>
            </a:solidFill>
            <a:prstDash val="solid"/>
          </a:ln>
        </p:spPr>
      </p:sp>
      <p:sp>
        <p:nvSpPr>
          <p:cNvPr id="28" name="Text 26"/>
          <p:cNvSpPr/>
          <p:nvPr/>
        </p:nvSpPr>
        <p:spPr>
          <a:xfrm>
            <a:off x="6329020" y="2496312"/>
            <a:ext cx="2501570" cy="1033272"/>
          </a:xfrm>
          <a:prstGeom prst="rect">
            <a:avLst/>
          </a:prstGeom>
          <a:noFill/>
          <a:ln/>
        </p:spPr>
        <p:txBody>
          <a:bodyPr wrap="square" lIns="0" tIns="0" rIns="0" bIns="0" rtlCol="0" anchor="t"/>
          <a:lstStyle/>
          <a:p>
            <a:pPr indent="0" marL="0">
              <a:buNone/>
            </a:pPr>
            <a:r>
              <a:rPr lang="en-US" sz="1200" b="1" dirty="0">
                <a:solidFill>
                  <a:srgbClr val="2A1F3D"/>
                </a:solidFill>
                <a:latin typeface="Calibri" pitchFamily="34" charset="0"/>
                <a:ea typeface="Calibri" pitchFamily="34" charset="-122"/>
                <a:cs typeface="Calibri" pitchFamily="34" charset="-120"/>
              </a:rPr>
              <a:t>Neutralisation</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Acid + base → salt + water; in solution H⁺ + OH⁻ → H₂O.</a:t>
            </a:r>
            <a:endParaRPr lang="en-US" sz="1200" dirty="0"/>
          </a:p>
        </p:txBody>
      </p:sp>
      <p:sp>
        <p:nvSpPr>
          <p:cNvPr id="29" name="Shape 27"/>
          <p:cNvSpPr/>
          <p:nvPr/>
        </p:nvSpPr>
        <p:spPr>
          <a:xfrm>
            <a:off x="9040901" y="2441448"/>
            <a:ext cx="2739314" cy="1143000"/>
          </a:xfrm>
          <a:prstGeom prst="rect">
            <a:avLst/>
          </a:prstGeom>
          <a:solidFill>
            <a:srgbClr val="F8F5FC"/>
          </a:solidFill>
          <a:ln w="9525">
            <a:solidFill>
              <a:srgbClr val="DDD3EC"/>
            </a:solidFill>
            <a:prstDash val="solid"/>
          </a:ln>
        </p:spPr>
      </p:sp>
      <p:sp>
        <p:nvSpPr>
          <p:cNvPr id="30" name="Shape 28"/>
          <p:cNvSpPr/>
          <p:nvPr/>
        </p:nvSpPr>
        <p:spPr>
          <a:xfrm>
            <a:off x="9040901" y="2441448"/>
            <a:ext cx="73152" cy="1143000"/>
          </a:xfrm>
          <a:prstGeom prst="rect">
            <a:avLst/>
          </a:prstGeom>
          <a:solidFill>
            <a:srgbClr val="6A3FA0"/>
          </a:solidFill>
          <a:ln w="12700">
            <a:solidFill>
              <a:srgbClr val="6A3FA0"/>
            </a:solidFill>
            <a:prstDash val="solid"/>
          </a:ln>
        </p:spPr>
      </p:sp>
      <p:sp>
        <p:nvSpPr>
          <p:cNvPr id="31" name="Text 29"/>
          <p:cNvSpPr/>
          <p:nvPr/>
        </p:nvSpPr>
        <p:spPr>
          <a:xfrm>
            <a:off x="9205493" y="2496312"/>
            <a:ext cx="2501570" cy="1033272"/>
          </a:xfrm>
          <a:prstGeom prst="rect">
            <a:avLst/>
          </a:prstGeom>
          <a:noFill/>
          <a:ln/>
        </p:spPr>
        <p:txBody>
          <a:bodyPr wrap="square" lIns="0" tIns="0" rIns="0" bIns="0" rtlCol="0" anchor="t"/>
          <a:lstStyle/>
          <a:p>
            <a:pPr indent="0" marL="0">
              <a:buNone/>
            </a:pPr>
            <a:r>
              <a:rPr lang="en-US" sz="1200" b="1" dirty="0">
                <a:solidFill>
                  <a:srgbClr val="2A1F3D"/>
                </a:solidFill>
                <a:latin typeface="Calibri" pitchFamily="34" charset="0"/>
                <a:ea typeface="Calibri" pitchFamily="34" charset="-122"/>
                <a:cs typeface="Calibri" pitchFamily="34" charset="-120"/>
              </a:rPr>
              <a:t>Salt</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Compound made when the hydrogen of an acid is replaced by a metal or ammonium ion.</a:t>
            </a:r>
            <a:endParaRPr lang="en-US" sz="1200" dirty="0"/>
          </a:p>
        </p:txBody>
      </p:sp>
      <p:sp>
        <p:nvSpPr>
          <p:cNvPr id="32" name="Shape 30"/>
          <p:cNvSpPr/>
          <p:nvPr/>
        </p:nvSpPr>
        <p:spPr>
          <a:xfrm>
            <a:off x="411480" y="3694176"/>
            <a:ext cx="2739314" cy="1143000"/>
          </a:xfrm>
          <a:prstGeom prst="rect">
            <a:avLst/>
          </a:prstGeom>
          <a:solidFill>
            <a:srgbClr val="F8F5FC"/>
          </a:solidFill>
          <a:ln w="9525">
            <a:solidFill>
              <a:srgbClr val="DDD3EC"/>
            </a:solidFill>
            <a:prstDash val="solid"/>
          </a:ln>
        </p:spPr>
      </p:sp>
      <p:sp>
        <p:nvSpPr>
          <p:cNvPr id="33" name="Shape 31"/>
          <p:cNvSpPr/>
          <p:nvPr/>
        </p:nvSpPr>
        <p:spPr>
          <a:xfrm>
            <a:off x="411480" y="3694176"/>
            <a:ext cx="73152" cy="1143000"/>
          </a:xfrm>
          <a:prstGeom prst="rect">
            <a:avLst/>
          </a:prstGeom>
          <a:solidFill>
            <a:srgbClr val="6A3FA0"/>
          </a:solidFill>
          <a:ln w="12700">
            <a:solidFill>
              <a:srgbClr val="6A3FA0"/>
            </a:solidFill>
            <a:prstDash val="solid"/>
          </a:ln>
        </p:spPr>
      </p:sp>
      <p:sp>
        <p:nvSpPr>
          <p:cNvPr id="34" name="Text 32"/>
          <p:cNvSpPr/>
          <p:nvPr/>
        </p:nvSpPr>
        <p:spPr>
          <a:xfrm>
            <a:off x="576072" y="3749040"/>
            <a:ext cx="2501570" cy="1033272"/>
          </a:xfrm>
          <a:prstGeom prst="rect">
            <a:avLst/>
          </a:prstGeom>
          <a:noFill/>
          <a:ln/>
        </p:spPr>
        <p:txBody>
          <a:bodyPr wrap="square" lIns="0" tIns="0" rIns="0" bIns="0" rtlCol="0" anchor="t"/>
          <a:lstStyle/>
          <a:p>
            <a:pPr indent="0" marL="0">
              <a:buNone/>
            </a:pPr>
            <a:r>
              <a:rPr lang="en-US" sz="1200" b="1" dirty="0">
                <a:solidFill>
                  <a:srgbClr val="2A1F3D"/>
                </a:solidFill>
                <a:latin typeface="Calibri" pitchFamily="34" charset="0"/>
                <a:ea typeface="Calibri" pitchFamily="34" charset="-122"/>
                <a:cs typeface="Calibri" pitchFamily="34" charset="-120"/>
              </a:rPr>
              <a:t>Spectator ion</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An ion that is present but does not change during the reaction.</a:t>
            </a:r>
            <a:endParaRPr lang="en-US" sz="1200" dirty="0"/>
          </a:p>
        </p:txBody>
      </p:sp>
      <p:sp>
        <p:nvSpPr>
          <p:cNvPr id="35" name="Shape 33"/>
          <p:cNvSpPr/>
          <p:nvPr/>
        </p:nvSpPr>
        <p:spPr>
          <a:xfrm>
            <a:off x="3287954" y="3694176"/>
            <a:ext cx="2739314" cy="1143000"/>
          </a:xfrm>
          <a:prstGeom prst="rect">
            <a:avLst/>
          </a:prstGeom>
          <a:solidFill>
            <a:srgbClr val="F8F5FC"/>
          </a:solidFill>
          <a:ln w="9525">
            <a:solidFill>
              <a:srgbClr val="DDD3EC"/>
            </a:solidFill>
            <a:prstDash val="solid"/>
          </a:ln>
        </p:spPr>
      </p:sp>
      <p:sp>
        <p:nvSpPr>
          <p:cNvPr id="36" name="Shape 34"/>
          <p:cNvSpPr/>
          <p:nvPr/>
        </p:nvSpPr>
        <p:spPr>
          <a:xfrm>
            <a:off x="3287954" y="3694176"/>
            <a:ext cx="73152" cy="1143000"/>
          </a:xfrm>
          <a:prstGeom prst="rect">
            <a:avLst/>
          </a:prstGeom>
          <a:solidFill>
            <a:srgbClr val="6A3FA0"/>
          </a:solidFill>
          <a:ln w="12700">
            <a:solidFill>
              <a:srgbClr val="6A3FA0"/>
            </a:solidFill>
            <a:prstDash val="solid"/>
          </a:ln>
        </p:spPr>
      </p:sp>
      <p:sp>
        <p:nvSpPr>
          <p:cNvPr id="37" name="Text 35"/>
          <p:cNvSpPr/>
          <p:nvPr/>
        </p:nvSpPr>
        <p:spPr>
          <a:xfrm>
            <a:off x="3452546" y="3749040"/>
            <a:ext cx="2501570" cy="1033272"/>
          </a:xfrm>
          <a:prstGeom prst="rect">
            <a:avLst/>
          </a:prstGeom>
          <a:noFill/>
          <a:ln/>
        </p:spPr>
        <p:txBody>
          <a:bodyPr wrap="square" lIns="0" tIns="0" rIns="0" bIns="0" rtlCol="0" anchor="t"/>
          <a:lstStyle/>
          <a:p>
            <a:pPr indent="0" marL="0">
              <a:buNone/>
            </a:pPr>
            <a:r>
              <a:rPr lang="en-US" sz="1200" b="1" dirty="0">
                <a:solidFill>
                  <a:srgbClr val="2A1F3D"/>
                </a:solidFill>
                <a:latin typeface="Calibri" pitchFamily="34" charset="0"/>
                <a:ea typeface="Calibri" pitchFamily="34" charset="-122"/>
                <a:cs typeface="Calibri" pitchFamily="34" charset="-120"/>
              </a:rPr>
              <a:t>Carbonate</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Reacts with acid to give a salt, water and carbon dioxide (fizzing).</a:t>
            </a:r>
            <a:endParaRPr lang="en-US" sz="1200" dirty="0"/>
          </a:p>
        </p:txBody>
      </p:sp>
      <p:sp>
        <p:nvSpPr>
          <p:cNvPr id="38" name="Shape 36"/>
          <p:cNvSpPr/>
          <p:nvPr/>
        </p:nvSpPr>
        <p:spPr>
          <a:xfrm>
            <a:off x="6164428" y="3694176"/>
            <a:ext cx="2739314" cy="1143000"/>
          </a:xfrm>
          <a:prstGeom prst="rect">
            <a:avLst/>
          </a:prstGeom>
          <a:solidFill>
            <a:srgbClr val="F8F5FC"/>
          </a:solidFill>
          <a:ln w="9525">
            <a:solidFill>
              <a:srgbClr val="DDD3EC"/>
            </a:solidFill>
            <a:prstDash val="solid"/>
          </a:ln>
        </p:spPr>
      </p:sp>
      <p:sp>
        <p:nvSpPr>
          <p:cNvPr id="39" name="Shape 37"/>
          <p:cNvSpPr/>
          <p:nvPr/>
        </p:nvSpPr>
        <p:spPr>
          <a:xfrm>
            <a:off x="6164428" y="3694176"/>
            <a:ext cx="73152" cy="1143000"/>
          </a:xfrm>
          <a:prstGeom prst="rect">
            <a:avLst/>
          </a:prstGeom>
          <a:solidFill>
            <a:srgbClr val="6A3FA0"/>
          </a:solidFill>
          <a:ln w="12700">
            <a:solidFill>
              <a:srgbClr val="6A3FA0"/>
            </a:solidFill>
            <a:prstDash val="solid"/>
          </a:ln>
        </p:spPr>
      </p:sp>
      <p:sp>
        <p:nvSpPr>
          <p:cNvPr id="40" name="Text 38"/>
          <p:cNvSpPr/>
          <p:nvPr/>
        </p:nvSpPr>
        <p:spPr>
          <a:xfrm>
            <a:off x="6329020" y="3749040"/>
            <a:ext cx="2501570" cy="1033272"/>
          </a:xfrm>
          <a:prstGeom prst="rect">
            <a:avLst/>
          </a:prstGeom>
          <a:noFill/>
          <a:ln/>
        </p:spPr>
        <p:txBody>
          <a:bodyPr wrap="square" lIns="0" tIns="0" rIns="0" bIns="0" rtlCol="0" anchor="t"/>
          <a:lstStyle/>
          <a:p>
            <a:pPr indent="0" marL="0">
              <a:buNone/>
            </a:pPr>
            <a:r>
              <a:rPr lang="en-US" sz="1200" b="1" dirty="0">
                <a:solidFill>
                  <a:srgbClr val="2A1F3D"/>
                </a:solidFill>
                <a:latin typeface="Calibri" pitchFamily="34" charset="0"/>
                <a:ea typeface="Calibri" pitchFamily="34" charset="-122"/>
                <a:cs typeface="Calibri" pitchFamily="34" charset="-120"/>
              </a:rPr>
              <a:t>Strong acid (HT)</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Completely ionised in water, e.g. hydrochloric, sulfuric, nitric acid.</a:t>
            </a:r>
            <a:endParaRPr lang="en-US" sz="1200" dirty="0"/>
          </a:p>
        </p:txBody>
      </p:sp>
      <p:sp>
        <p:nvSpPr>
          <p:cNvPr id="41" name="Shape 39"/>
          <p:cNvSpPr/>
          <p:nvPr/>
        </p:nvSpPr>
        <p:spPr>
          <a:xfrm>
            <a:off x="9040901" y="3694176"/>
            <a:ext cx="2739314" cy="1143000"/>
          </a:xfrm>
          <a:prstGeom prst="rect">
            <a:avLst/>
          </a:prstGeom>
          <a:solidFill>
            <a:srgbClr val="F8F5FC"/>
          </a:solidFill>
          <a:ln w="9525">
            <a:solidFill>
              <a:srgbClr val="DDD3EC"/>
            </a:solidFill>
            <a:prstDash val="solid"/>
          </a:ln>
        </p:spPr>
      </p:sp>
      <p:sp>
        <p:nvSpPr>
          <p:cNvPr id="42" name="Shape 40"/>
          <p:cNvSpPr/>
          <p:nvPr/>
        </p:nvSpPr>
        <p:spPr>
          <a:xfrm>
            <a:off x="9040901" y="3694176"/>
            <a:ext cx="73152" cy="1143000"/>
          </a:xfrm>
          <a:prstGeom prst="rect">
            <a:avLst/>
          </a:prstGeom>
          <a:solidFill>
            <a:srgbClr val="6A3FA0"/>
          </a:solidFill>
          <a:ln w="12700">
            <a:solidFill>
              <a:srgbClr val="6A3FA0"/>
            </a:solidFill>
            <a:prstDash val="solid"/>
          </a:ln>
        </p:spPr>
      </p:sp>
      <p:sp>
        <p:nvSpPr>
          <p:cNvPr id="43" name="Text 41"/>
          <p:cNvSpPr/>
          <p:nvPr/>
        </p:nvSpPr>
        <p:spPr>
          <a:xfrm>
            <a:off x="9205493" y="3749040"/>
            <a:ext cx="2501570" cy="1033272"/>
          </a:xfrm>
          <a:prstGeom prst="rect">
            <a:avLst/>
          </a:prstGeom>
          <a:noFill/>
          <a:ln/>
        </p:spPr>
        <p:txBody>
          <a:bodyPr wrap="square" lIns="0" tIns="0" rIns="0" bIns="0" rtlCol="0" anchor="t"/>
          <a:lstStyle/>
          <a:p>
            <a:pPr indent="0" marL="0">
              <a:buNone/>
            </a:pPr>
            <a:r>
              <a:rPr lang="en-US" sz="1200" b="1" dirty="0">
                <a:solidFill>
                  <a:srgbClr val="2A1F3D"/>
                </a:solidFill>
                <a:latin typeface="Calibri" pitchFamily="34" charset="0"/>
                <a:ea typeface="Calibri" pitchFamily="34" charset="-122"/>
                <a:cs typeface="Calibri" pitchFamily="34" charset="-120"/>
              </a:rPr>
              <a:t>Weak acid (HT)</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Only partially ionised in water, e.g. ethanoic, citric, carbonic acid.</a:t>
            </a:r>
            <a:endParaRPr lang="en-US" sz="1200" dirty="0"/>
          </a:p>
        </p:txBody>
      </p:sp>
      <p:sp>
        <p:nvSpPr>
          <p:cNvPr id="44" name="Shape 42"/>
          <p:cNvSpPr/>
          <p:nvPr/>
        </p:nvSpPr>
        <p:spPr>
          <a:xfrm>
            <a:off x="411480" y="4946904"/>
            <a:ext cx="2739314" cy="1143000"/>
          </a:xfrm>
          <a:prstGeom prst="rect">
            <a:avLst/>
          </a:prstGeom>
          <a:solidFill>
            <a:srgbClr val="F8F5FC"/>
          </a:solidFill>
          <a:ln w="9525">
            <a:solidFill>
              <a:srgbClr val="DDD3EC"/>
            </a:solidFill>
            <a:prstDash val="solid"/>
          </a:ln>
        </p:spPr>
      </p:sp>
      <p:sp>
        <p:nvSpPr>
          <p:cNvPr id="45" name="Shape 43"/>
          <p:cNvSpPr/>
          <p:nvPr/>
        </p:nvSpPr>
        <p:spPr>
          <a:xfrm>
            <a:off x="411480" y="4946904"/>
            <a:ext cx="73152" cy="1143000"/>
          </a:xfrm>
          <a:prstGeom prst="rect">
            <a:avLst/>
          </a:prstGeom>
          <a:solidFill>
            <a:srgbClr val="6A3FA0"/>
          </a:solidFill>
          <a:ln w="12700">
            <a:solidFill>
              <a:srgbClr val="6A3FA0"/>
            </a:solidFill>
            <a:prstDash val="solid"/>
          </a:ln>
        </p:spPr>
      </p:sp>
      <p:sp>
        <p:nvSpPr>
          <p:cNvPr id="46" name="Text 44"/>
          <p:cNvSpPr/>
          <p:nvPr/>
        </p:nvSpPr>
        <p:spPr>
          <a:xfrm>
            <a:off x="576072" y="5001768"/>
            <a:ext cx="2501570" cy="1033272"/>
          </a:xfrm>
          <a:prstGeom prst="rect">
            <a:avLst/>
          </a:prstGeom>
          <a:noFill/>
          <a:ln/>
        </p:spPr>
        <p:txBody>
          <a:bodyPr wrap="square" lIns="0" tIns="0" rIns="0" bIns="0" rtlCol="0" anchor="t"/>
          <a:lstStyle/>
          <a:p>
            <a:pPr indent="0" marL="0">
              <a:buNone/>
            </a:pPr>
            <a:r>
              <a:rPr lang="en-US" sz="1200" b="1" dirty="0">
                <a:solidFill>
                  <a:srgbClr val="2A1F3D"/>
                </a:solidFill>
                <a:latin typeface="Calibri" pitchFamily="34" charset="0"/>
                <a:ea typeface="Calibri" pitchFamily="34" charset="-122"/>
                <a:cs typeface="Calibri" pitchFamily="34" charset="-120"/>
              </a:rPr>
              <a:t>Concentrated (HT)</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A large amount of acid dissolved in a given volume of solution.</a:t>
            </a:r>
            <a:endParaRPr lang="en-US" sz="1200" dirty="0"/>
          </a:p>
        </p:txBody>
      </p:sp>
      <p:sp>
        <p:nvSpPr>
          <p:cNvPr id="47" name="Shape 45"/>
          <p:cNvSpPr/>
          <p:nvPr/>
        </p:nvSpPr>
        <p:spPr>
          <a:xfrm>
            <a:off x="3287954" y="4946904"/>
            <a:ext cx="2739314" cy="1143000"/>
          </a:xfrm>
          <a:prstGeom prst="rect">
            <a:avLst/>
          </a:prstGeom>
          <a:solidFill>
            <a:srgbClr val="F8F5FC"/>
          </a:solidFill>
          <a:ln w="9525">
            <a:solidFill>
              <a:srgbClr val="DDD3EC"/>
            </a:solidFill>
            <a:prstDash val="solid"/>
          </a:ln>
        </p:spPr>
      </p:sp>
      <p:sp>
        <p:nvSpPr>
          <p:cNvPr id="48" name="Shape 46"/>
          <p:cNvSpPr/>
          <p:nvPr/>
        </p:nvSpPr>
        <p:spPr>
          <a:xfrm>
            <a:off x="3287954" y="4946904"/>
            <a:ext cx="73152" cy="1143000"/>
          </a:xfrm>
          <a:prstGeom prst="rect">
            <a:avLst/>
          </a:prstGeom>
          <a:solidFill>
            <a:srgbClr val="6A3FA0"/>
          </a:solidFill>
          <a:ln w="12700">
            <a:solidFill>
              <a:srgbClr val="6A3FA0"/>
            </a:solidFill>
            <a:prstDash val="solid"/>
          </a:ln>
        </p:spPr>
      </p:sp>
      <p:sp>
        <p:nvSpPr>
          <p:cNvPr id="49" name="Text 47"/>
          <p:cNvSpPr/>
          <p:nvPr/>
        </p:nvSpPr>
        <p:spPr>
          <a:xfrm>
            <a:off x="3452546" y="5001768"/>
            <a:ext cx="2501570" cy="1033272"/>
          </a:xfrm>
          <a:prstGeom prst="rect">
            <a:avLst/>
          </a:prstGeom>
          <a:noFill/>
          <a:ln/>
        </p:spPr>
        <p:txBody>
          <a:bodyPr wrap="square" lIns="0" tIns="0" rIns="0" bIns="0" rtlCol="0" anchor="t"/>
          <a:lstStyle/>
          <a:p>
            <a:pPr indent="0" marL="0">
              <a:buNone/>
            </a:pPr>
            <a:r>
              <a:rPr lang="en-US" sz="1200" b="1" dirty="0">
                <a:solidFill>
                  <a:srgbClr val="2A1F3D"/>
                </a:solidFill>
                <a:latin typeface="Calibri" pitchFamily="34" charset="0"/>
                <a:ea typeface="Calibri" pitchFamily="34" charset="-122"/>
                <a:cs typeface="Calibri" pitchFamily="34" charset="-120"/>
              </a:rPr>
              <a:t>Dilute (HT)</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A small amount of acid dissolved in a given volume of solution.</a:t>
            </a:r>
            <a:endParaRPr lang="en-US" sz="1200" dirty="0"/>
          </a:p>
        </p:txBody>
      </p:sp>
      <p:sp>
        <p:nvSpPr>
          <p:cNvPr id="50" name="Shape 48"/>
          <p:cNvSpPr/>
          <p:nvPr/>
        </p:nvSpPr>
        <p:spPr>
          <a:xfrm>
            <a:off x="6164428" y="4946904"/>
            <a:ext cx="2739314" cy="1143000"/>
          </a:xfrm>
          <a:prstGeom prst="rect">
            <a:avLst/>
          </a:prstGeom>
          <a:solidFill>
            <a:srgbClr val="F8F5FC"/>
          </a:solidFill>
          <a:ln w="9525">
            <a:solidFill>
              <a:srgbClr val="DDD3EC"/>
            </a:solidFill>
            <a:prstDash val="solid"/>
          </a:ln>
        </p:spPr>
      </p:sp>
      <p:sp>
        <p:nvSpPr>
          <p:cNvPr id="51" name="Shape 49"/>
          <p:cNvSpPr/>
          <p:nvPr/>
        </p:nvSpPr>
        <p:spPr>
          <a:xfrm>
            <a:off x="6164428" y="4946904"/>
            <a:ext cx="73152" cy="1143000"/>
          </a:xfrm>
          <a:prstGeom prst="rect">
            <a:avLst/>
          </a:prstGeom>
          <a:solidFill>
            <a:srgbClr val="6A3FA0"/>
          </a:solidFill>
          <a:ln w="12700">
            <a:solidFill>
              <a:srgbClr val="6A3FA0"/>
            </a:solidFill>
            <a:prstDash val="solid"/>
          </a:ln>
        </p:spPr>
      </p:sp>
      <p:sp>
        <p:nvSpPr>
          <p:cNvPr id="52" name="Text 50"/>
          <p:cNvSpPr/>
          <p:nvPr/>
        </p:nvSpPr>
        <p:spPr>
          <a:xfrm>
            <a:off x="6329020" y="5001768"/>
            <a:ext cx="2501570" cy="1033272"/>
          </a:xfrm>
          <a:prstGeom prst="rect">
            <a:avLst/>
          </a:prstGeom>
          <a:noFill/>
          <a:ln/>
        </p:spPr>
        <p:txBody>
          <a:bodyPr wrap="square" lIns="0" tIns="0" rIns="0" bIns="0" rtlCol="0" anchor="t"/>
          <a:lstStyle/>
          <a:p>
            <a:pPr indent="0" marL="0">
              <a:buNone/>
            </a:pPr>
            <a:r>
              <a:rPr lang="en-US" sz="1200" b="1" dirty="0">
                <a:solidFill>
                  <a:srgbClr val="2A1F3D"/>
                </a:solidFill>
                <a:latin typeface="Calibri" pitchFamily="34" charset="0"/>
                <a:ea typeface="Calibri" pitchFamily="34" charset="-122"/>
                <a:cs typeface="Calibri" pitchFamily="34" charset="-120"/>
              </a:rPr>
              <a:t>Crystallisation</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Evaporating a solution to the crystallisation point, then cooling so crystals form.</a:t>
            </a:r>
            <a:endParaRPr lang="en-US" sz="1200" dirty="0"/>
          </a:p>
        </p:txBody>
      </p:sp>
      <p:sp>
        <p:nvSpPr>
          <p:cNvPr id="53" name="Shape 51"/>
          <p:cNvSpPr/>
          <p:nvPr/>
        </p:nvSpPr>
        <p:spPr>
          <a:xfrm>
            <a:off x="9040901" y="4946904"/>
            <a:ext cx="2739314" cy="1143000"/>
          </a:xfrm>
          <a:prstGeom prst="rect">
            <a:avLst/>
          </a:prstGeom>
          <a:solidFill>
            <a:srgbClr val="F8F5FC"/>
          </a:solidFill>
          <a:ln w="9525">
            <a:solidFill>
              <a:srgbClr val="DDD3EC"/>
            </a:solidFill>
            <a:prstDash val="solid"/>
          </a:ln>
        </p:spPr>
      </p:sp>
      <p:sp>
        <p:nvSpPr>
          <p:cNvPr id="54" name="Shape 52"/>
          <p:cNvSpPr/>
          <p:nvPr/>
        </p:nvSpPr>
        <p:spPr>
          <a:xfrm>
            <a:off x="9040901" y="4946904"/>
            <a:ext cx="73152" cy="1143000"/>
          </a:xfrm>
          <a:prstGeom prst="rect">
            <a:avLst/>
          </a:prstGeom>
          <a:solidFill>
            <a:srgbClr val="6A3FA0"/>
          </a:solidFill>
          <a:ln w="12700">
            <a:solidFill>
              <a:srgbClr val="6A3FA0"/>
            </a:solidFill>
            <a:prstDash val="solid"/>
          </a:ln>
        </p:spPr>
      </p:sp>
      <p:sp>
        <p:nvSpPr>
          <p:cNvPr id="55" name="Text 53"/>
          <p:cNvSpPr/>
          <p:nvPr/>
        </p:nvSpPr>
        <p:spPr>
          <a:xfrm>
            <a:off x="9205493" y="5001768"/>
            <a:ext cx="2501570" cy="1033272"/>
          </a:xfrm>
          <a:prstGeom prst="rect">
            <a:avLst/>
          </a:prstGeom>
          <a:noFill/>
          <a:ln/>
        </p:spPr>
        <p:txBody>
          <a:bodyPr wrap="square" lIns="0" tIns="0" rIns="0" bIns="0" rtlCol="0" anchor="t"/>
          <a:lstStyle/>
          <a:p>
            <a:pPr indent="0" marL="0">
              <a:buNone/>
            </a:pPr>
            <a:r>
              <a:rPr lang="en-US" sz="1200" b="1" dirty="0">
                <a:solidFill>
                  <a:srgbClr val="2A1F3D"/>
                </a:solidFill>
                <a:latin typeface="Calibri" pitchFamily="34" charset="0"/>
                <a:ea typeface="Calibri" pitchFamily="34" charset="-122"/>
                <a:cs typeface="Calibri" pitchFamily="34" charset="-120"/>
              </a:rPr>
              <a:t>Excess</a:t>
            </a:r>
            <a:endParaRPr lang="en-US" sz="1200" dirty="0"/>
          </a:p>
          <a:p>
            <a:pPr indent="0" marL="0">
              <a:buNone/>
            </a:pPr>
            <a:r>
              <a:rPr lang="en-US" sz="1000" dirty="0">
                <a:solidFill>
                  <a:srgbClr val="262B3A"/>
                </a:solidFill>
                <a:latin typeface="Calibri" pitchFamily="34" charset="0"/>
                <a:ea typeface="Calibri" pitchFamily="34" charset="-122"/>
                <a:cs typeface="Calibri" pitchFamily="34" charset="-120"/>
              </a:rPr>
              <a:t>More than is needed: some is left over when the reaction stops.</a:t>
            </a:r>
            <a:endParaRPr lang="en-US" sz="12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Full exam question</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Specification C6.1.1–C6.1.8 • answer every part • 13 marks • (e) and (f) are HT</a:t>
            </a:r>
            <a:endParaRPr lang="en-US" sz="1100" dirty="0"/>
          </a:p>
        </p:txBody>
      </p:sp>
      <p:sp>
        <p:nvSpPr>
          <p:cNvPr id="6" name="Text 4"/>
          <p:cNvSpPr/>
          <p:nvPr/>
        </p:nvSpPr>
        <p:spPr>
          <a:xfrm>
            <a:off x="411480" y="6473952"/>
            <a:ext cx="1014984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C6.1 What useful products can be made from acids?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Full question  |  23</a:t>
            </a:r>
            <a:endParaRPr lang="en-US" sz="1000" dirty="0"/>
          </a:p>
        </p:txBody>
      </p:sp>
      <p:sp>
        <p:nvSpPr>
          <p:cNvPr id="8" name="Text 6"/>
          <p:cNvSpPr/>
          <p:nvPr/>
        </p:nvSpPr>
        <p:spPr>
          <a:xfrm>
            <a:off x="411480" y="1143000"/>
            <a:ext cx="11368735" cy="502920"/>
          </a:xfrm>
          <a:prstGeom prst="rect">
            <a:avLst/>
          </a:prstGeom>
          <a:noFill/>
          <a:ln/>
        </p:spPr>
        <p:txBody>
          <a:bodyPr wrap="square" lIns="0" tIns="0" rIns="0" bIns="0" rtlCol="0" anchor="ctr"/>
          <a:lstStyle/>
          <a:p>
            <a:pPr indent="0" marL="0">
              <a:buNone/>
            </a:pPr>
            <a:r>
              <a:rPr lang="en-US" sz="1200" i="1" dirty="0">
                <a:solidFill>
                  <a:srgbClr val="262B3A"/>
                </a:solidFill>
                <a:latin typeface="Calibri" pitchFamily="34" charset="0"/>
                <a:ea typeface="Calibri" pitchFamily="34" charset="-122"/>
                <a:cs typeface="Calibri" pitchFamily="34" charset="-120"/>
              </a:rPr>
              <a:t>A student adds marble chips (</a:t>
            </a:r>
            <a:r>
              <a:rPr lang="en-US" sz="1200" b="1" i="1" dirty="0">
                <a:solidFill>
                  <a:srgbClr val="262B3A"/>
                </a:solidFill>
                <a:latin typeface="Calibri" pitchFamily="34" charset="0"/>
                <a:ea typeface="Calibri" pitchFamily="34" charset="-122"/>
                <a:cs typeface="Calibri" pitchFamily="34" charset="-120"/>
              </a:rPr>
              <a:t>calcium carbonate</a:t>
            </a:r>
            <a:r>
              <a:rPr lang="en-US" sz="1200" i="1" dirty="0">
                <a:solidFill>
                  <a:srgbClr val="262B3A"/>
                </a:solidFill>
                <a:latin typeface="Calibri" pitchFamily="34" charset="0"/>
                <a:ea typeface="Calibri" pitchFamily="34" charset="-122"/>
                <a:cs typeface="Calibri" pitchFamily="34" charset="-120"/>
              </a:rPr>
              <a:t>) to dilute </a:t>
            </a:r>
            <a:r>
              <a:rPr lang="en-US" sz="1200" b="1" i="1" dirty="0">
                <a:solidFill>
                  <a:srgbClr val="262B3A"/>
                </a:solidFill>
                <a:latin typeface="Calibri" pitchFamily="34" charset="0"/>
                <a:ea typeface="Calibri" pitchFamily="34" charset="-122"/>
                <a:cs typeface="Calibri" pitchFamily="34" charset="-120"/>
              </a:rPr>
              <a:t>hydrochloric acid</a:t>
            </a:r>
            <a:r>
              <a:rPr lang="en-US" sz="1200" i="1" dirty="0">
                <a:solidFill>
                  <a:srgbClr val="262B3A"/>
                </a:solidFill>
                <a:latin typeface="Calibri" pitchFamily="34" charset="0"/>
                <a:ea typeface="Calibri" pitchFamily="34" charset="-122"/>
                <a:cs typeface="Calibri" pitchFamily="34" charset="-120"/>
              </a:rPr>
              <a:t> until no more fizzing happens. Some marble chips are left over. The acid had a </a:t>
            </a:r>
            <a:r>
              <a:rPr lang="en-US" sz="1200" b="1" i="1" dirty="0">
                <a:solidFill>
                  <a:srgbClr val="262B3A"/>
                </a:solidFill>
                <a:latin typeface="Calibri" pitchFamily="34" charset="0"/>
                <a:ea typeface="Calibri" pitchFamily="34" charset="-122"/>
                <a:cs typeface="Calibri" pitchFamily="34" charset="-120"/>
              </a:rPr>
              <a:t>pH of 1</a:t>
            </a:r>
            <a:r>
              <a:rPr lang="en-US" sz="1200" i="1" dirty="0">
                <a:solidFill>
                  <a:srgbClr val="262B3A"/>
                </a:solidFill>
                <a:latin typeface="Calibri" pitchFamily="34" charset="0"/>
                <a:ea typeface="Calibri" pitchFamily="34" charset="-122"/>
                <a:cs typeface="Calibri" pitchFamily="34" charset="-120"/>
              </a:rPr>
              <a:t> before the reaction.</a:t>
            </a:r>
            <a:endParaRPr lang="en-US" sz="1200" dirty="0"/>
          </a:p>
        </p:txBody>
      </p:sp>
      <p:sp>
        <p:nvSpPr>
          <p:cNvPr id="9" name="Shape 7"/>
          <p:cNvSpPr/>
          <p:nvPr/>
        </p:nvSpPr>
        <p:spPr>
          <a:xfrm>
            <a:off x="411480" y="1719072"/>
            <a:ext cx="5570068" cy="1544683"/>
          </a:xfrm>
          <a:prstGeom prst="roundRect">
            <a:avLst>
              <a:gd name="adj" fmla="val 2960"/>
            </a:avLst>
          </a:prstGeom>
          <a:solidFill>
            <a:srgbClr val="F8F5FC"/>
          </a:solidFill>
          <a:ln w="9525">
            <a:solidFill>
              <a:srgbClr val="DDD3EC"/>
            </a:solidFill>
            <a:prstDash val="solid"/>
          </a:ln>
        </p:spPr>
      </p:sp>
      <p:sp>
        <p:nvSpPr>
          <p:cNvPr id="10" name="Text 8"/>
          <p:cNvSpPr/>
          <p:nvPr/>
        </p:nvSpPr>
        <p:spPr>
          <a:xfrm>
            <a:off x="548640" y="1792224"/>
            <a:ext cx="5295748" cy="1178923"/>
          </a:xfrm>
          <a:prstGeom prst="rect">
            <a:avLst/>
          </a:prstGeom>
          <a:noFill/>
          <a:ln/>
        </p:spPr>
        <p:txBody>
          <a:bodyPr wrap="square" lIns="0" tIns="0" rIns="0" bIns="0" rtlCol="0" anchor="t"/>
          <a:lstStyle/>
          <a:p>
            <a:pPr indent="0" marL="0">
              <a:buNone/>
            </a:pPr>
            <a:r>
              <a:rPr lang="en-US" sz="1200" b="1" dirty="0">
                <a:solidFill>
                  <a:srgbClr val="6A3FA0"/>
                </a:solidFill>
                <a:latin typeface="Calibri" pitchFamily="34" charset="0"/>
                <a:ea typeface="Calibri" pitchFamily="34" charset="-122"/>
                <a:cs typeface="Calibri" pitchFamily="34" charset="-120"/>
              </a:rPr>
              <a:t>(a)  </a:t>
            </a:r>
            <a:r>
              <a:rPr lang="en-US" sz="1200" dirty="0">
                <a:solidFill>
                  <a:srgbClr val="262B3A"/>
                </a:solidFill>
                <a:latin typeface="Calibri" pitchFamily="34" charset="0"/>
                <a:ea typeface="Calibri" pitchFamily="34" charset="-122"/>
                <a:cs typeface="Calibri" pitchFamily="34" charset="-120"/>
              </a:rPr>
              <a:t>Name the </a:t>
            </a:r>
            <a:r>
              <a:rPr lang="en-US" sz="1200" b="1" dirty="0">
                <a:solidFill>
                  <a:srgbClr val="262B3A"/>
                </a:solidFill>
                <a:latin typeface="Calibri" pitchFamily="34" charset="0"/>
                <a:ea typeface="Calibri" pitchFamily="34" charset="-122"/>
                <a:cs typeface="Calibri" pitchFamily="34" charset="-120"/>
              </a:rPr>
              <a:t>salt</a:t>
            </a:r>
            <a:r>
              <a:rPr lang="en-US" sz="1200" dirty="0">
                <a:solidFill>
                  <a:srgbClr val="262B3A"/>
                </a:solidFill>
                <a:latin typeface="Calibri" pitchFamily="34" charset="0"/>
                <a:ea typeface="Calibri" pitchFamily="34" charset="-122"/>
                <a:cs typeface="Calibri" pitchFamily="34" charset="-120"/>
              </a:rPr>
              <a:t> formed. Name the </a:t>
            </a:r>
            <a:r>
              <a:rPr lang="en-US" sz="1200" b="1" dirty="0">
                <a:solidFill>
                  <a:srgbClr val="262B3A"/>
                </a:solidFill>
                <a:latin typeface="Calibri" pitchFamily="34" charset="0"/>
                <a:ea typeface="Calibri" pitchFamily="34" charset="-122"/>
                <a:cs typeface="Calibri" pitchFamily="34" charset="-120"/>
              </a:rPr>
              <a:t>gas</a:t>
            </a:r>
            <a:r>
              <a:rPr lang="en-US" sz="1200" dirty="0">
                <a:solidFill>
                  <a:srgbClr val="262B3A"/>
                </a:solidFill>
                <a:latin typeface="Calibri" pitchFamily="34" charset="0"/>
                <a:ea typeface="Calibri" pitchFamily="34" charset="-122"/>
                <a:cs typeface="Calibri" pitchFamily="34" charset="-120"/>
              </a:rPr>
              <a:t> given off and describe a </a:t>
            </a:r>
            <a:r>
              <a:rPr lang="en-US" sz="1200" b="1" dirty="0">
                <a:solidFill>
                  <a:srgbClr val="262B3A"/>
                </a:solidFill>
                <a:latin typeface="Calibri" pitchFamily="34" charset="0"/>
                <a:ea typeface="Calibri" pitchFamily="34" charset="-122"/>
                <a:cs typeface="Calibri" pitchFamily="34" charset="-120"/>
              </a:rPr>
              <a:t>test</a:t>
            </a:r>
            <a:r>
              <a:rPr lang="en-US" sz="1200" dirty="0">
                <a:solidFill>
                  <a:srgbClr val="262B3A"/>
                </a:solidFill>
                <a:latin typeface="Calibri" pitchFamily="34" charset="0"/>
                <a:ea typeface="Calibri" pitchFamily="34" charset="-122"/>
                <a:cs typeface="Calibri" pitchFamily="34" charset="-120"/>
              </a:rPr>
              <a:t> for it.</a:t>
            </a:r>
            <a:endParaRPr lang="en-US" sz="1200" dirty="0"/>
          </a:p>
        </p:txBody>
      </p:sp>
      <p:sp>
        <p:nvSpPr>
          <p:cNvPr id="11" name="Text 9"/>
          <p:cNvSpPr/>
          <p:nvPr/>
        </p:nvSpPr>
        <p:spPr>
          <a:xfrm>
            <a:off x="4518508" y="2952859"/>
            <a:ext cx="1325880" cy="256032"/>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2" name="Shape 10"/>
          <p:cNvSpPr/>
          <p:nvPr/>
        </p:nvSpPr>
        <p:spPr>
          <a:xfrm>
            <a:off x="411480" y="3373483"/>
            <a:ext cx="5570068" cy="1544683"/>
          </a:xfrm>
          <a:prstGeom prst="roundRect">
            <a:avLst>
              <a:gd name="adj" fmla="val 2960"/>
            </a:avLst>
          </a:prstGeom>
          <a:solidFill>
            <a:srgbClr val="FFFFFF"/>
          </a:solidFill>
          <a:ln w="9525">
            <a:solidFill>
              <a:srgbClr val="DDD3EC"/>
            </a:solidFill>
            <a:prstDash val="solid"/>
          </a:ln>
        </p:spPr>
      </p:sp>
      <p:sp>
        <p:nvSpPr>
          <p:cNvPr id="13" name="Text 11"/>
          <p:cNvSpPr/>
          <p:nvPr/>
        </p:nvSpPr>
        <p:spPr>
          <a:xfrm>
            <a:off x="548640" y="3446635"/>
            <a:ext cx="5295748" cy="1178923"/>
          </a:xfrm>
          <a:prstGeom prst="rect">
            <a:avLst/>
          </a:prstGeom>
          <a:noFill/>
          <a:ln/>
        </p:spPr>
        <p:txBody>
          <a:bodyPr wrap="square" lIns="0" tIns="0" rIns="0" bIns="0" rtlCol="0" anchor="t"/>
          <a:lstStyle/>
          <a:p>
            <a:pPr indent="0" marL="0">
              <a:buNone/>
            </a:pPr>
            <a:r>
              <a:rPr lang="en-US" sz="1200" b="1" dirty="0">
                <a:solidFill>
                  <a:srgbClr val="6A3FA0"/>
                </a:solidFill>
                <a:latin typeface="Calibri" pitchFamily="34" charset="0"/>
                <a:ea typeface="Calibri" pitchFamily="34" charset="-122"/>
                <a:cs typeface="Calibri" pitchFamily="34" charset="-120"/>
              </a:rPr>
              <a:t>(b)  </a:t>
            </a:r>
            <a:r>
              <a:rPr lang="en-US" sz="1200" dirty="0">
                <a:solidFill>
                  <a:srgbClr val="262B3A"/>
                </a:solidFill>
                <a:latin typeface="Calibri" pitchFamily="34" charset="0"/>
                <a:ea typeface="Calibri" pitchFamily="34" charset="-122"/>
                <a:cs typeface="Calibri" pitchFamily="34" charset="-120"/>
              </a:rPr>
              <a:t>Write a balanced </a:t>
            </a:r>
            <a:r>
              <a:rPr lang="en-US" sz="1200" b="1" dirty="0">
                <a:solidFill>
                  <a:srgbClr val="262B3A"/>
                </a:solidFill>
                <a:latin typeface="Calibri" pitchFamily="34" charset="0"/>
                <a:ea typeface="Calibri" pitchFamily="34" charset="-122"/>
                <a:cs typeface="Calibri" pitchFamily="34" charset="-120"/>
              </a:rPr>
              <a:t>symbol equation</a:t>
            </a:r>
            <a:r>
              <a:rPr lang="en-US" sz="1200" dirty="0">
                <a:solidFill>
                  <a:srgbClr val="262B3A"/>
                </a:solidFill>
                <a:latin typeface="Calibri" pitchFamily="34" charset="0"/>
                <a:ea typeface="Calibri" pitchFamily="34" charset="-122"/>
                <a:cs typeface="Calibri" pitchFamily="34" charset="-120"/>
              </a:rPr>
              <a:t>, with </a:t>
            </a:r>
            <a:r>
              <a:rPr lang="en-US" sz="1200" b="1" dirty="0">
                <a:solidFill>
                  <a:srgbClr val="262B3A"/>
                </a:solidFill>
                <a:latin typeface="Calibri" pitchFamily="34" charset="0"/>
                <a:ea typeface="Calibri" pitchFamily="34" charset="-122"/>
                <a:cs typeface="Calibri" pitchFamily="34" charset="-120"/>
              </a:rPr>
              <a:t>state symbols</a:t>
            </a:r>
            <a:r>
              <a:rPr lang="en-US" sz="1200" dirty="0">
                <a:solidFill>
                  <a:srgbClr val="262B3A"/>
                </a:solidFill>
                <a:latin typeface="Calibri" pitchFamily="34" charset="0"/>
                <a:ea typeface="Calibri" pitchFamily="34" charset="-122"/>
                <a:cs typeface="Calibri" pitchFamily="34" charset="-120"/>
              </a:rPr>
              <a:t>, for the reaction.</a:t>
            </a:r>
            <a:endParaRPr lang="en-US" sz="1200" dirty="0"/>
          </a:p>
        </p:txBody>
      </p:sp>
      <p:sp>
        <p:nvSpPr>
          <p:cNvPr id="14" name="Text 12"/>
          <p:cNvSpPr/>
          <p:nvPr/>
        </p:nvSpPr>
        <p:spPr>
          <a:xfrm>
            <a:off x="4518508" y="4607270"/>
            <a:ext cx="1325880" cy="256032"/>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5" name="Shape 13"/>
          <p:cNvSpPr/>
          <p:nvPr/>
        </p:nvSpPr>
        <p:spPr>
          <a:xfrm>
            <a:off x="411480" y="5027894"/>
            <a:ext cx="5570068" cy="1235746"/>
          </a:xfrm>
          <a:prstGeom prst="roundRect">
            <a:avLst>
              <a:gd name="adj" fmla="val 3700"/>
            </a:avLst>
          </a:prstGeom>
          <a:solidFill>
            <a:srgbClr val="F8F5FC"/>
          </a:solidFill>
          <a:ln w="9525">
            <a:solidFill>
              <a:srgbClr val="DDD3EC"/>
            </a:solidFill>
            <a:prstDash val="solid"/>
          </a:ln>
        </p:spPr>
      </p:sp>
      <p:sp>
        <p:nvSpPr>
          <p:cNvPr id="16" name="Text 14"/>
          <p:cNvSpPr/>
          <p:nvPr/>
        </p:nvSpPr>
        <p:spPr>
          <a:xfrm>
            <a:off x="548640" y="5101046"/>
            <a:ext cx="5295748" cy="869986"/>
          </a:xfrm>
          <a:prstGeom prst="rect">
            <a:avLst/>
          </a:prstGeom>
          <a:noFill/>
          <a:ln/>
        </p:spPr>
        <p:txBody>
          <a:bodyPr wrap="square" lIns="0" tIns="0" rIns="0" bIns="0" rtlCol="0" anchor="t"/>
          <a:lstStyle/>
          <a:p>
            <a:pPr indent="0" marL="0">
              <a:buNone/>
            </a:pPr>
            <a:r>
              <a:rPr lang="en-US" sz="1200" b="1" dirty="0">
                <a:solidFill>
                  <a:srgbClr val="6A3FA0"/>
                </a:solidFill>
                <a:latin typeface="Calibri" pitchFamily="34" charset="0"/>
                <a:ea typeface="Calibri" pitchFamily="34" charset="-122"/>
                <a:cs typeface="Calibri" pitchFamily="34" charset="-120"/>
              </a:rPr>
              <a:t>(c)  </a:t>
            </a:r>
            <a:r>
              <a:rPr lang="en-US" sz="1200" dirty="0">
                <a:solidFill>
                  <a:srgbClr val="262B3A"/>
                </a:solidFill>
                <a:latin typeface="Calibri" pitchFamily="34" charset="0"/>
                <a:ea typeface="Calibri" pitchFamily="34" charset="-122"/>
                <a:cs typeface="Calibri" pitchFamily="34" charset="-120"/>
              </a:rPr>
              <a:t>Give </a:t>
            </a:r>
            <a:r>
              <a:rPr lang="en-US" sz="1200" b="1" dirty="0">
                <a:solidFill>
                  <a:srgbClr val="262B3A"/>
                </a:solidFill>
                <a:latin typeface="Calibri" pitchFamily="34" charset="0"/>
                <a:ea typeface="Calibri" pitchFamily="34" charset="-122"/>
                <a:cs typeface="Calibri" pitchFamily="34" charset="-120"/>
              </a:rPr>
              <a:t>one</a:t>
            </a:r>
            <a:r>
              <a:rPr lang="en-US" sz="1200" dirty="0">
                <a:solidFill>
                  <a:srgbClr val="262B3A"/>
                </a:solidFill>
                <a:latin typeface="Calibri" pitchFamily="34" charset="0"/>
                <a:ea typeface="Calibri" pitchFamily="34" charset="-122"/>
                <a:cs typeface="Calibri" pitchFamily="34" charset="-120"/>
              </a:rPr>
              <a:t> advantage of measuring the pH with a </a:t>
            </a:r>
            <a:r>
              <a:rPr lang="en-US" sz="1200" b="1" dirty="0">
                <a:solidFill>
                  <a:srgbClr val="262B3A"/>
                </a:solidFill>
                <a:latin typeface="Calibri" pitchFamily="34" charset="0"/>
                <a:ea typeface="Calibri" pitchFamily="34" charset="-122"/>
                <a:cs typeface="Calibri" pitchFamily="34" charset="-120"/>
              </a:rPr>
              <a:t>pH meter</a:t>
            </a:r>
            <a:r>
              <a:rPr lang="en-US" sz="1200" dirty="0">
                <a:solidFill>
                  <a:srgbClr val="262B3A"/>
                </a:solidFill>
                <a:latin typeface="Calibri" pitchFamily="34" charset="0"/>
                <a:ea typeface="Calibri" pitchFamily="34" charset="-122"/>
                <a:cs typeface="Calibri" pitchFamily="34" charset="-120"/>
              </a:rPr>
              <a:t> rather than universal indicator.</a:t>
            </a:r>
            <a:endParaRPr lang="en-US" sz="1200" dirty="0"/>
          </a:p>
        </p:txBody>
      </p:sp>
      <p:sp>
        <p:nvSpPr>
          <p:cNvPr id="17" name="Text 15"/>
          <p:cNvSpPr/>
          <p:nvPr/>
        </p:nvSpPr>
        <p:spPr>
          <a:xfrm>
            <a:off x="4518508" y="5952744"/>
            <a:ext cx="1325880" cy="256032"/>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[1 mark]</a:t>
            </a:r>
            <a:endParaRPr lang="en-US" sz="1200" dirty="0"/>
          </a:p>
        </p:txBody>
      </p:sp>
      <p:sp>
        <p:nvSpPr>
          <p:cNvPr id="18" name="Shape 16"/>
          <p:cNvSpPr/>
          <p:nvPr/>
        </p:nvSpPr>
        <p:spPr>
          <a:xfrm>
            <a:off x="6210148" y="1719072"/>
            <a:ext cx="5570068" cy="1482896"/>
          </a:xfrm>
          <a:prstGeom prst="roundRect">
            <a:avLst>
              <a:gd name="adj" fmla="val 3083"/>
            </a:avLst>
          </a:prstGeom>
          <a:solidFill>
            <a:srgbClr val="F8F5FC"/>
          </a:solidFill>
          <a:ln w="9525">
            <a:solidFill>
              <a:srgbClr val="DDD3EC"/>
            </a:solidFill>
            <a:prstDash val="solid"/>
          </a:ln>
        </p:spPr>
      </p:sp>
      <p:sp>
        <p:nvSpPr>
          <p:cNvPr id="19" name="Text 17"/>
          <p:cNvSpPr/>
          <p:nvPr/>
        </p:nvSpPr>
        <p:spPr>
          <a:xfrm>
            <a:off x="6347308" y="1792224"/>
            <a:ext cx="5295748" cy="1117136"/>
          </a:xfrm>
          <a:prstGeom prst="rect">
            <a:avLst/>
          </a:prstGeom>
          <a:noFill/>
          <a:ln/>
        </p:spPr>
        <p:txBody>
          <a:bodyPr wrap="square" lIns="0" tIns="0" rIns="0" bIns="0" rtlCol="0" anchor="t"/>
          <a:lstStyle/>
          <a:p>
            <a:pPr indent="0" marL="0">
              <a:buNone/>
            </a:pPr>
            <a:r>
              <a:rPr lang="en-US" sz="1200" b="1" dirty="0">
                <a:solidFill>
                  <a:srgbClr val="6A3FA0"/>
                </a:solidFill>
                <a:latin typeface="Calibri" pitchFamily="34" charset="0"/>
                <a:ea typeface="Calibri" pitchFamily="34" charset="-122"/>
                <a:cs typeface="Calibri" pitchFamily="34" charset="-120"/>
              </a:rPr>
              <a:t>(d)  </a:t>
            </a:r>
            <a:r>
              <a:rPr lang="en-US" sz="1200" dirty="0">
                <a:solidFill>
                  <a:srgbClr val="262B3A"/>
                </a:solidFill>
                <a:latin typeface="Calibri" pitchFamily="34" charset="0"/>
                <a:ea typeface="Calibri" pitchFamily="34" charset="-122"/>
                <a:cs typeface="Calibri" pitchFamily="34" charset="-120"/>
              </a:rPr>
              <a:t>Explain why </a:t>
            </a:r>
            <a:r>
              <a:rPr lang="en-US" sz="1200" b="1" dirty="0">
                <a:solidFill>
                  <a:srgbClr val="262B3A"/>
                </a:solidFill>
                <a:latin typeface="Calibri" pitchFamily="34" charset="0"/>
                <a:ea typeface="Calibri" pitchFamily="34" charset="-122"/>
                <a:cs typeface="Calibri" pitchFamily="34" charset="-120"/>
              </a:rPr>
              <a:t>excess</a:t>
            </a:r>
            <a:r>
              <a:rPr lang="en-US" sz="1200" dirty="0">
                <a:solidFill>
                  <a:srgbClr val="262B3A"/>
                </a:solidFill>
                <a:latin typeface="Calibri" pitchFamily="34" charset="0"/>
                <a:ea typeface="Calibri" pitchFamily="34" charset="-122"/>
                <a:cs typeface="Calibri" pitchFamily="34" charset="-120"/>
              </a:rPr>
              <a:t> calcium carbonate is used, and how the student gets a solution of the </a:t>
            </a:r>
            <a:r>
              <a:rPr lang="en-US" sz="1200" b="1" dirty="0">
                <a:solidFill>
                  <a:srgbClr val="262B3A"/>
                </a:solidFill>
                <a:latin typeface="Calibri" pitchFamily="34" charset="0"/>
                <a:ea typeface="Calibri" pitchFamily="34" charset="-122"/>
                <a:cs typeface="Calibri" pitchFamily="34" charset="-120"/>
              </a:rPr>
              <a:t>salt only</a:t>
            </a:r>
            <a:r>
              <a:rPr lang="en-US" sz="1200" dirty="0">
                <a:solidFill>
                  <a:srgbClr val="262B3A"/>
                </a:solidFill>
                <a:latin typeface="Calibri" pitchFamily="34" charset="0"/>
                <a:ea typeface="Calibri" pitchFamily="34" charset="-122"/>
                <a:cs typeface="Calibri" pitchFamily="34" charset="-120"/>
              </a:rPr>
              <a:t>.</a:t>
            </a:r>
            <a:endParaRPr lang="en-US" sz="1200" dirty="0"/>
          </a:p>
        </p:txBody>
      </p:sp>
      <p:sp>
        <p:nvSpPr>
          <p:cNvPr id="20" name="Text 18"/>
          <p:cNvSpPr/>
          <p:nvPr/>
        </p:nvSpPr>
        <p:spPr>
          <a:xfrm>
            <a:off x="10317175" y="2891072"/>
            <a:ext cx="1325880" cy="256032"/>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[3 marks]</a:t>
            </a:r>
            <a:endParaRPr lang="en-US" sz="1200" dirty="0"/>
          </a:p>
        </p:txBody>
      </p:sp>
      <p:sp>
        <p:nvSpPr>
          <p:cNvPr id="21" name="Shape 19"/>
          <p:cNvSpPr/>
          <p:nvPr/>
        </p:nvSpPr>
        <p:spPr>
          <a:xfrm>
            <a:off x="6210148" y="3311696"/>
            <a:ext cx="5570068" cy="1235746"/>
          </a:xfrm>
          <a:prstGeom prst="roundRect">
            <a:avLst>
              <a:gd name="adj" fmla="val 3700"/>
            </a:avLst>
          </a:prstGeom>
          <a:solidFill>
            <a:srgbClr val="FFFFFF"/>
          </a:solidFill>
          <a:ln w="9525">
            <a:solidFill>
              <a:srgbClr val="DDD3EC"/>
            </a:solidFill>
            <a:prstDash val="solid"/>
          </a:ln>
        </p:spPr>
      </p:sp>
      <p:sp>
        <p:nvSpPr>
          <p:cNvPr id="22" name="Text 20"/>
          <p:cNvSpPr/>
          <p:nvPr/>
        </p:nvSpPr>
        <p:spPr>
          <a:xfrm>
            <a:off x="6347308" y="3384848"/>
            <a:ext cx="4792828" cy="869986"/>
          </a:xfrm>
          <a:prstGeom prst="rect">
            <a:avLst/>
          </a:prstGeom>
          <a:noFill/>
          <a:ln/>
        </p:spPr>
        <p:txBody>
          <a:bodyPr wrap="square" lIns="0" tIns="0" rIns="0" bIns="0" rtlCol="0" anchor="t"/>
          <a:lstStyle/>
          <a:p>
            <a:pPr indent="0" marL="0">
              <a:buNone/>
            </a:pPr>
            <a:r>
              <a:rPr lang="en-US" sz="1200" b="1" dirty="0">
                <a:solidFill>
                  <a:srgbClr val="6A3FA0"/>
                </a:solidFill>
                <a:latin typeface="Calibri" pitchFamily="34" charset="0"/>
                <a:ea typeface="Calibri" pitchFamily="34" charset="-122"/>
                <a:cs typeface="Calibri" pitchFamily="34" charset="-120"/>
              </a:rPr>
              <a:t>(e)  </a:t>
            </a:r>
            <a:r>
              <a:rPr lang="en-US" sz="1200" dirty="0">
                <a:solidFill>
                  <a:srgbClr val="262B3A"/>
                </a:solidFill>
                <a:latin typeface="Calibri" pitchFamily="34" charset="0"/>
                <a:ea typeface="Calibri" pitchFamily="34" charset="-122"/>
                <a:cs typeface="Calibri" pitchFamily="34" charset="-120"/>
              </a:rPr>
              <a:t>10 cm³ of the pH 1 acid is diluted with water to </a:t>
            </a:r>
            <a:r>
              <a:rPr lang="en-US" sz="1200" b="1" dirty="0">
                <a:solidFill>
                  <a:srgbClr val="262B3A"/>
                </a:solidFill>
                <a:latin typeface="Calibri" pitchFamily="34" charset="0"/>
                <a:ea typeface="Calibri" pitchFamily="34" charset="-122"/>
                <a:cs typeface="Calibri" pitchFamily="34" charset="-120"/>
              </a:rPr>
              <a:t>1000 cm³</a:t>
            </a:r>
            <a:r>
              <a:rPr lang="en-US" sz="1200" dirty="0">
                <a:solidFill>
                  <a:srgbClr val="262B3A"/>
                </a:solidFill>
                <a:latin typeface="Calibri" pitchFamily="34" charset="0"/>
                <a:ea typeface="Calibri" pitchFamily="34" charset="-122"/>
                <a:cs typeface="Calibri" pitchFamily="34" charset="-120"/>
              </a:rPr>
              <a:t>. Predict the new </a:t>
            </a:r>
            <a:r>
              <a:rPr lang="en-US" sz="1200" b="1" dirty="0">
                <a:solidFill>
                  <a:srgbClr val="262B3A"/>
                </a:solidFill>
                <a:latin typeface="Calibri" pitchFamily="34" charset="0"/>
                <a:ea typeface="Calibri" pitchFamily="34" charset="-122"/>
                <a:cs typeface="Calibri" pitchFamily="34" charset="-120"/>
              </a:rPr>
              <a:t>pH</a:t>
            </a:r>
            <a:r>
              <a:rPr lang="en-US" sz="1200" dirty="0">
                <a:solidFill>
                  <a:srgbClr val="262B3A"/>
                </a:solidFill>
                <a:latin typeface="Calibri" pitchFamily="34" charset="0"/>
                <a:ea typeface="Calibri" pitchFamily="34" charset="-122"/>
                <a:cs typeface="Calibri" pitchFamily="34" charset="-120"/>
              </a:rPr>
              <a:t> and explain.</a:t>
            </a:r>
            <a:endParaRPr lang="en-US" sz="1200" dirty="0"/>
          </a:p>
        </p:txBody>
      </p:sp>
      <p:sp>
        <p:nvSpPr>
          <p:cNvPr id="23" name="Shape 21"/>
          <p:cNvSpPr/>
          <p:nvPr/>
        </p:nvSpPr>
        <p:spPr>
          <a:xfrm>
            <a:off x="11231575" y="3384848"/>
            <a:ext cx="411480" cy="274320"/>
          </a:xfrm>
          <a:prstGeom prst="roundRect">
            <a:avLst>
              <a:gd name="adj" fmla="val 50000"/>
            </a:avLst>
          </a:prstGeom>
          <a:solidFill>
            <a:srgbClr val="C8414C"/>
          </a:solidFill>
          <a:ln w="12700">
            <a:solidFill>
              <a:srgbClr val="C8414C"/>
            </a:solidFill>
            <a:prstDash val="solid"/>
          </a:ln>
        </p:spPr>
      </p:sp>
      <p:sp>
        <p:nvSpPr>
          <p:cNvPr id="24" name="Text 22"/>
          <p:cNvSpPr/>
          <p:nvPr/>
        </p:nvSpPr>
        <p:spPr>
          <a:xfrm>
            <a:off x="11231575" y="3384848"/>
            <a:ext cx="4114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25" name="Text 23"/>
          <p:cNvSpPr/>
          <p:nvPr/>
        </p:nvSpPr>
        <p:spPr>
          <a:xfrm>
            <a:off x="10317175" y="4236546"/>
            <a:ext cx="1325880" cy="256032"/>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6" name="Shape 24"/>
          <p:cNvSpPr/>
          <p:nvPr/>
        </p:nvSpPr>
        <p:spPr>
          <a:xfrm>
            <a:off x="6210148" y="4657170"/>
            <a:ext cx="5570068" cy="1606470"/>
          </a:xfrm>
          <a:prstGeom prst="roundRect">
            <a:avLst>
              <a:gd name="adj" fmla="val 2846"/>
            </a:avLst>
          </a:prstGeom>
          <a:solidFill>
            <a:srgbClr val="F8F5FC"/>
          </a:solidFill>
          <a:ln w="9525">
            <a:solidFill>
              <a:srgbClr val="DDD3EC"/>
            </a:solidFill>
            <a:prstDash val="solid"/>
          </a:ln>
        </p:spPr>
      </p:sp>
      <p:sp>
        <p:nvSpPr>
          <p:cNvPr id="27" name="Text 25"/>
          <p:cNvSpPr/>
          <p:nvPr/>
        </p:nvSpPr>
        <p:spPr>
          <a:xfrm>
            <a:off x="6347308" y="4730322"/>
            <a:ext cx="4792828" cy="1240710"/>
          </a:xfrm>
          <a:prstGeom prst="rect">
            <a:avLst/>
          </a:prstGeom>
          <a:noFill/>
          <a:ln/>
        </p:spPr>
        <p:txBody>
          <a:bodyPr wrap="square" lIns="0" tIns="0" rIns="0" bIns="0" rtlCol="0" anchor="t"/>
          <a:lstStyle/>
          <a:p>
            <a:pPr indent="0" marL="0">
              <a:buNone/>
            </a:pPr>
            <a:r>
              <a:rPr lang="en-US" sz="1200" b="1" dirty="0">
                <a:solidFill>
                  <a:srgbClr val="6A3FA0"/>
                </a:solidFill>
                <a:latin typeface="Calibri" pitchFamily="34" charset="0"/>
                <a:ea typeface="Calibri" pitchFamily="34" charset="-122"/>
                <a:cs typeface="Calibri" pitchFamily="34" charset="-120"/>
              </a:rPr>
              <a:t>(f)  </a:t>
            </a:r>
            <a:r>
              <a:rPr lang="en-US" sz="1200" dirty="0">
                <a:solidFill>
                  <a:srgbClr val="262B3A"/>
                </a:solidFill>
                <a:latin typeface="Calibri" pitchFamily="34" charset="0"/>
                <a:ea typeface="Calibri" pitchFamily="34" charset="-122"/>
                <a:cs typeface="Calibri" pitchFamily="34" charset="-120"/>
              </a:rPr>
              <a:t>Ethanoic acid of the </a:t>
            </a:r>
            <a:r>
              <a:rPr lang="en-US" sz="1200" b="1" dirty="0">
                <a:solidFill>
                  <a:srgbClr val="262B3A"/>
                </a:solidFill>
                <a:latin typeface="Calibri" pitchFamily="34" charset="0"/>
                <a:ea typeface="Calibri" pitchFamily="34" charset="-122"/>
                <a:cs typeface="Calibri" pitchFamily="34" charset="-120"/>
              </a:rPr>
              <a:t>same concentration</a:t>
            </a:r>
            <a:r>
              <a:rPr lang="en-US" sz="1200" dirty="0">
                <a:solidFill>
                  <a:srgbClr val="262B3A"/>
                </a:solidFill>
                <a:latin typeface="Calibri" pitchFamily="34" charset="0"/>
                <a:ea typeface="Calibri" pitchFamily="34" charset="-122"/>
                <a:cs typeface="Calibri" pitchFamily="34" charset="-120"/>
              </a:rPr>
              <a:t> reacts much </a:t>
            </a:r>
            <a:r>
              <a:rPr lang="en-US" sz="1200" b="1" dirty="0">
                <a:solidFill>
                  <a:srgbClr val="262B3A"/>
                </a:solidFill>
                <a:latin typeface="Calibri" pitchFamily="34" charset="0"/>
                <a:ea typeface="Calibri" pitchFamily="34" charset="-122"/>
                <a:cs typeface="Calibri" pitchFamily="34" charset="-120"/>
              </a:rPr>
              <a:t>less vigorously</a:t>
            </a:r>
            <a:r>
              <a:rPr lang="en-US" sz="1200" dirty="0">
                <a:solidFill>
                  <a:srgbClr val="262B3A"/>
                </a:solidFill>
                <a:latin typeface="Calibri" pitchFamily="34" charset="0"/>
                <a:ea typeface="Calibri" pitchFamily="34" charset="-122"/>
                <a:cs typeface="Calibri" pitchFamily="34" charset="-120"/>
              </a:rPr>
              <a:t> with marble. Explain why.</a:t>
            </a:r>
            <a:endParaRPr lang="en-US" sz="1200" dirty="0"/>
          </a:p>
        </p:txBody>
      </p:sp>
      <p:sp>
        <p:nvSpPr>
          <p:cNvPr id="28" name="Shape 26"/>
          <p:cNvSpPr/>
          <p:nvPr/>
        </p:nvSpPr>
        <p:spPr>
          <a:xfrm>
            <a:off x="11231575" y="4730322"/>
            <a:ext cx="411480" cy="274320"/>
          </a:xfrm>
          <a:prstGeom prst="roundRect">
            <a:avLst>
              <a:gd name="adj" fmla="val 50000"/>
            </a:avLst>
          </a:prstGeom>
          <a:solidFill>
            <a:srgbClr val="C8414C"/>
          </a:solidFill>
          <a:ln w="12700">
            <a:solidFill>
              <a:srgbClr val="C8414C"/>
            </a:solidFill>
            <a:prstDash val="solid"/>
          </a:ln>
        </p:spPr>
      </p:sp>
      <p:sp>
        <p:nvSpPr>
          <p:cNvPr id="29" name="Text 27"/>
          <p:cNvSpPr/>
          <p:nvPr/>
        </p:nvSpPr>
        <p:spPr>
          <a:xfrm>
            <a:off x="11231575" y="4730322"/>
            <a:ext cx="4114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30" name="Text 28"/>
          <p:cNvSpPr/>
          <p:nvPr/>
        </p:nvSpPr>
        <p:spPr>
          <a:xfrm>
            <a:off x="10317175" y="5952744"/>
            <a:ext cx="1325880" cy="256032"/>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[3 marks]</a:t>
            </a:r>
            <a:endParaRPr lang="en-US" sz="1200" dirty="0"/>
          </a:p>
        </p:txBody>
      </p:sp>
      <p:sp>
        <p:nvSpPr>
          <p:cNvPr id="31" name="Text 29"/>
          <p:cNvSpPr/>
          <p:nvPr/>
        </p:nvSpPr>
        <p:spPr>
          <a:xfrm>
            <a:off x="9448495" y="6236208"/>
            <a:ext cx="2331720" cy="219456"/>
          </a:xfrm>
          <a:prstGeom prst="rect">
            <a:avLst/>
          </a:prstGeom>
          <a:noFill/>
          <a:ln/>
        </p:spPr>
        <p:txBody>
          <a:bodyPr wrap="square" lIns="0" tIns="0" rIns="0" bIns="0" rtlCol="0" anchor="ctr"/>
          <a:lstStyle/>
          <a:p>
            <a:pPr algn="r" indent="0" marL="0">
              <a:buNone/>
            </a:pPr>
            <a:r>
              <a:rPr lang="en-US" sz="1100" b="1" dirty="0">
                <a:solidFill>
                  <a:srgbClr val="B8730A"/>
                </a:solidFill>
                <a:latin typeface="Calibri" pitchFamily="34" charset="0"/>
                <a:ea typeface="Calibri" pitchFamily="34" charset="-122"/>
                <a:cs typeface="Calibri" pitchFamily="34" charset="-120"/>
              </a:rPr>
              <a:t>Total: 13 marks</a:t>
            </a:r>
            <a:endParaRPr lang="en-US" sz="11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5A3590"/>
        </a:solidFill>
      </p:bgPr>
    </p:bg>
    <p:spTree>
      <p:nvGrpSpPr>
        <p:cNvPr id="1" name=""/>
        <p:cNvGrpSpPr/>
        <p:nvPr/>
      </p:nvGrpSpPr>
      <p:grpSpPr>
        <a:xfrm>
          <a:off x="0" y="0"/>
          <a:ext cx="0" cy="0"/>
          <a:chOff x="0" y="0"/>
          <a:chExt cx="0" cy="0"/>
        </a:xfrm>
      </p:grpSpPr>
      <p:sp>
        <p:nvSpPr>
          <p:cNvPr id="2" name="Shape 0"/>
          <p:cNvSpPr/>
          <p:nvPr/>
        </p:nvSpPr>
        <p:spPr>
          <a:xfrm>
            <a:off x="8503920" y="-1097280"/>
            <a:ext cx="5029200" cy="5029200"/>
          </a:xfrm>
          <a:prstGeom prst="ellipse">
            <a:avLst/>
          </a:prstGeom>
          <a:solidFill>
            <a:srgbClr val="5B3A8C"/>
          </a:solidFill>
          <a:ln w="12700">
            <a:solidFill>
              <a:srgbClr val="5B3A8C"/>
            </a:solidFill>
            <a:prstDash val="solid"/>
          </a:ln>
        </p:spPr>
      </p:sp>
      <p:sp>
        <p:nvSpPr>
          <p:cNvPr id="3" name="Shape 1"/>
          <p:cNvSpPr/>
          <p:nvPr/>
        </p:nvSpPr>
        <p:spPr>
          <a:xfrm>
            <a:off x="914400" y="2148840"/>
            <a:ext cx="1463040" cy="1463040"/>
          </a:xfrm>
          <a:prstGeom prst="ellipse">
            <a:avLst/>
          </a:prstGeom>
          <a:solidFill>
            <a:srgbClr val="FFFFFF"/>
          </a:solidFill>
          <a:ln w="12700">
            <a:solidFill>
              <a:srgbClr val="FFFFFF"/>
            </a:solidFill>
            <a:prstDash val="solid"/>
          </a:ln>
        </p:spPr>
      </p:sp>
      <p:sp>
        <p:nvSpPr>
          <p:cNvPr id="4" name="Shape 2"/>
          <p:cNvSpPr/>
          <p:nvPr/>
        </p:nvSpPr>
        <p:spPr>
          <a:xfrm rot="-2700000">
            <a:off x="1143000" y="2779776"/>
            <a:ext cx="914400" cy="201168"/>
          </a:xfrm>
          <a:prstGeom prst="rect">
            <a:avLst/>
          </a:prstGeom>
          <a:solidFill>
            <a:srgbClr val="5A3590"/>
          </a:solidFill>
          <a:ln w="12700">
            <a:solidFill>
              <a:srgbClr val="5A3590"/>
            </a:solidFill>
            <a:prstDash val="solid"/>
          </a:ln>
        </p:spPr>
      </p:sp>
      <p:sp>
        <p:nvSpPr>
          <p:cNvPr id="5" name="Shape 3"/>
          <p:cNvSpPr/>
          <p:nvPr/>
        </p:nvSpPr>
        <p:spPr>
          <a:xfrm rot="13500000">
            <a:off x="1161288" y="3044952"/>
            <a:ext cx="201168" cy="219456"/>
          </a:xfrm>
          <a:prstGeom prst="triangle">
            <a:avLst/>
          </a:prstGeom>
          <a:solidFill>
            <a:srgbClr val="F5A742"/>
          </a:solidFill>
          <a:ln w="12700">
            <a:solidFill>
              <a:srgbClr val="F5A742"/>
            </a:solidFill>
            <a:prstDash val="solid"/>
          </a:ln>
        </p:spPr>
      </p:sp>
      <p:sp>
        <p:nvSpPr>
          <p:cNvPr id="6" name="Shape 4"/>
          <p:cNvSpPr/>
          <p:nvPr/>
        </p:nvSpPr>
        <p:spPr>
          <a:xfrm rot="-2700000">
            <a:off x="1947672" y="2377440"/>
            <a:ext cx="182880" cy="201168"/>
          </a:xfrm>
          <a:prstGeom prst="rect">
            <a:avLst/>
          </a:prstGeom>
          <a:solidFill>
            <a:srgbClr val="C8414C"/>
          </a:solidFill>
          <a:ln w="12700">
            <a:solidFill>
              <a:srgbClr val="C8414C"/>
            </a:solidFill>
            <a:prstDash val="solid"/>
          </a:ln>
        </p:spPr>
      </p:sp>
      <p:sp>
        <p:nvSpPr>
          <p:cNvPr id="7" name="Text 5"/>
          <p:cNvSpPr/>
          <p:nvPr/>
        </p:nvSpPr>
        <p:spPr>
          <a:xfrm>
            <a:off x="2743200" y="2103120"/>
            <a:ext cx="6400800" cy="1005840"/>
          </a:xfrm>
          <a:prstGeom prst="rect">
            <a:avLst/>
          </a:prstGeom>
          <a:noFill/>
          <a:ln/>
        </p:spPr>
        <p:txBody>
          <a:bodyPr wrap="square" lIns="0" tIns="0" rIns="0" bIns="0" rtlCol="0" anchor="ctr"/>
          <a:lstStyle/>
          <a:p>
            <a:pPr indent="0" marL="0">
              <a:buNone/>
            </a:pPr>
            <a:r>
              <a:rPr lang="en-US" sz="5400" b="1" dirty="0">
                <a:solidFill>
                  <a:srgbClr val="FFFFFF"/>
                </a:solidFill>
                <a:latin typeface="Georgia" pitchFamily="34" charset="0"/>
                <a:ea typeface="Georgia" pitchFamily="34" charset="-122"/>
                <a:cs typeface="Georgia" pitchFamily="34" charset="-120"/>
              </a:rPr>
              <a:t>Homework</a:t>
            </a:r>
            <a:endParaRPr lang="en-US" sz="5400" dirty="0"/>
          </a:p>
        </p:txBody>
      </p:sp>
      <p:sp>
        <p:nvSpPr>
          <p:cNvPr id="8" name="Text 6"/>
          <p:cNvSpPr/>
          <p:nvPr/>
        </p:nvSpPr>
        <p:spPr>
          <a:xfrm>
            <a:off x="2743200" y="3108960"/>
            <a:ext cx="7315200" cy="457200"/>
          </a:xfrm>
          <a:prstGeom prst="rect">
            <a:avLst/>
          </a:prstGeom>
          <a:noFill/>
          <a:ln/>
        </p:spPr>
        <p:txBody>
          <a:bodyPr wrap="square" lIns="0" tIns="0" rIns="0" bIns="0" rtlCol="0" anchor="ctr"/>
          <a:lstStyle/>
          <a:p>
            <a:pPr indent="0" marL="0">
              <a:buNone/>
            </a:pPr>
            <a:r>
              <a:rPr lang="en-US" sz="1800" i="1" dirty="0">
                <a:solidFill>
                  <a:srgbClr val="EDE6F8"/>
                </a:solidFill>
                <a:latin typeface="Calibri" pitchFamily="34" charset="0"/>
                <a:ea typeface="Calibri" pitchFamily="34" charset="-122"/>
                <a:cs typeface="Calibri" pitchFamily="34" charset="-120"/>
              </a:rPr>
              <a:t>C6.1 Acids and salts • 17 marks • about 30 minutes</a:t>
            </a:r>
            <a:endParaRPr lang="en-US" sz="1800" dirty="0"/>
          </a:p>
        </p:txBody>
      </p:sp>
      <p:sp>
        <p:nvSpPr>
          <p:cNvPr id="9" name="Text 7"/>
          <p:cNvSpPr/>
          <p:nvPr/>
        </p:nvSpPr>
        <p:spPr>
          <a:xfrm>
            <a:off x="411480" y="6473952"/>
            <a:ext cx="10149840" cy="256032"/>
          </a:xfrm>
          <a:prstGeom prst="rect">
            <a:avLst/>
          </a:prstGeom>
          <a:noFill/>
          <a:ln/>
        </p:spPr>
        <p:txBody>
          <a:bodyPr wrap="square" lIns="0" tIns="0" rIns="0" bIns="0" rtlCol="0" anchor="ctr"/>
          <a:lstStyle/>
          <a:p>
            <a:pPr indent="0" marL="0">
              <a:buNone/>
            </a:pPr>
            <a:r>
              <a:rPr lang="en-US" sz="1000" dirty="0">
                <a:solidFill>
                  <a:srgbClr val="DDD0F2"/>
                </a:solidFill>
                <a:latin typeface="Calibri" pitchFamily="34" charset="0"/>
                <a:ea typeface="Calibri" pitchFamily="34" charset="-122"/>
                <a:cs typeface="Calibri" pitchFamily="34" charset="-120"/>
              </a:rPr>
              <a:t>OCR GCSE Twenty First Century Science — Combined Science B (J260) | C6.1 What useful products can be made from acids? | Higher &amp; Foundation</a:t>
            </a:r>
            <a:endParaRPr lang="en-US" sz="1000" dirty="0"/>
          </a:p>
        </p:txBody>
      </p:sp>
      <p:sp>
        <p:nvSpPr>
          <p:cNvPr id="10" name="Text 8"/>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DDD0F2"/>
                </a:solidFill>
                <a:latin typeface="Calibri" pitchFamily="34" charset="0"/>
                <a:ea typeface="Calibri" pitchFamily="34" charset="-122"/>
                <a:cs typeface="Calibri" pitchFamily="34" charset="-120"/>
              </a:rPr>
              <a:t>Homework  |  24</a:t>
            </a:r>
            <a:endParaRPr lang="en-US" sz="10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987552"/>
          </a:xfrm>
          <a:prstGeom prst="rect">
            <a:avLst/>
          </a:prstGeom>
          <a:solidFill>
            <a:srgbClr val="F1ECF8"/>
          </a:solidFill>
          <a:ln w="12700">
            <a:solidFill>
              <a:srgbClr val="F1ECF8"/>
            </a:solidFill>
            <a:prstDash val="solid"/>
          </a:ln>
        </p:spPr>
      </p:sp>
      <p:sp>
        <p:nvSpPr>
          <p:cNvPr id="3" name="Shape 1"/>
          <p:cNvSpPr/>
          <p:nvPr/>
        </p:nvSpPr>
        <p:spPr>
          <a:xfrm>
            <a:off x="0" y="987552"/>
            <a:ext cx="12191695" cy="27432"/>
          </a:xfrm>
          <a:prstGeom prst="rect">
            <a:avLst/>
          </a:prstGeom>
          <a:solidFill>
            <a:srgbClr val="DCCFEE"/>
          </a:solidFill>
          <a:ln w="12700">
            <a:solidFill>
              <a:srgbClr val="DCCFEE"/>
            </a:solidFill>
            <a:prstDash val="solid"/>
          </a:ln>
        </p:spPr>
      </p:sp>
      <p:sp>
        <p:nvSpPr>
          <p:cNvPr id="4" name="Text 2"/>
          <p:cNvSpPr/>
          <p:nvPr/>
        </p:nvSpPr>
        <p:spPr>
          <a:xfrm>
            <a:off x="411480" y="118872"/>
            <a:ext cx="8778240" cy="502920"/>
          </a:xfrm>
          <a:prstGeom prst="rect">
            <a:avLst/>
          </a:prstGeom>
          <a:noFill/>
          <a:ln/>
        </p:spPr>
        <p:txBody>
          <a:bodyPr wrap="square" lIns="0" tIns="0" rIns="0" bIns="0" rtlCol="0" anchor="ctr"/>
          <a:lstStyle/>
          <a:p>
            <a:pPr indent="0" marL="0">
              <a:buNone/>
            </a:pPr>
            <a:r>
              <a:rPr lang="en-US" sz="2400" b="1" dirty="0">
                <a:solidFill>
                  <a:srgbClr val="2A1F3D"/>
                </a:solidFill>
                <a:latin typeface="Georgia" pitchFamily="34" charset="0"/>
                <a:ea typeface="Georgia" pitchFamily="34" charset="-122"/>
                <a:cs typeface="Georgia" pitchFamily="34" charset="-120"/>
              </a:rPr>
              <a:t>Homework</a:t>
            </a:r>
            <a:endParaRPr lang="en-US" sz="2400" dirty="0"/>
          </a:p>
        </p:txBody>
      </p:sp>
      <p:sp>
        <p:nvSpPr>
          <p:cNvPr id="5" name="Text 3"/>
          <p:cNvSpPr/>
          <p:nvPr/>
        </p:nvSpPr>
        <p:spPr>
          <a:xfrm>
            <a:off x="411480" y="640080"/>
            <a:ext cx="9601200" cy="274320"/>
          </a:xfrm>
          <a:prstGeom prst="rect">
            <a:avLst/>
          </a:prstGeom>
          <a:noFill/>
          <a:ln/>
        </p:spPr>
        <p:txBody>
          <a:bodyPr wrap="square" lIns="0" tIns="0" rIns="0" bIns="0" rtlCol="0" anchor="ctr"/>
          <a:lstStyle/>
          <a:p>
            <a:pPr indent="0" marL="0">
              <a:buNone/>
            </a:pPr>
            <a:r>
              <a:rPr lang="en-US" sz="1100" i="1" dirty="0">
                <a:solidFill>
                  <a:srgbClr val="6A3FA0"/>
                </a:solidFill>
                <a:latin typeface="Calibri" pitchFamily="34" charset="0"/>
                <a:ea typeface="Calibri" pitchFamily="34" charset="-122"/>
                <a:cs typeface="Calibri" pitchFamily="34" charset="-120"/>
              </a:rPr>
              <a:t>Answer in full sentences • show all working • 17 marks</a:t>
            </a:r>
            <a:endParaRPr lang="en-US" sz="1100" dirty="0"/>
          </a:p>
        </p:txBody>
      </p:sp>
      <p:sp>
        <p:nvSpPr>
          <p:cNvPr id="6" name="Text 4"/>
          <p:cNvSpPr/>
          <p:nvPr/>
        </p:nvSpPr>
        <p:spPr>
          <a:xfrm>
            <a:off x="411480" y="6473952"/>
            <a:ext cx="10149840" cy="256032"/>
          </a:xfrm>
          <a:prstGeom prst="rect">
            <a:avLst/>
          </a:prstGeom>
          <a:noFill/>
          <a:ln/>
        </p:spPr>
        <p:txBody>
          <a:bodyPr wrap="square" lIns="0" tIns="0" rIns="0" bIns="0" rtlCol="0" anchor="ctr"/>
          <a:lstStyle/>
          <a:p>
            <a:pPr indent="0" marL="0">
              <a:buNone/>
            </a:pPr>
            <a:r>
              <a:rPr lang="en-US" sz="1000" dirty="0">
                <a:solidFill>
                  <a:srgbClr val="6B7385"/>
                </a:solidFill>
                <a:latin typeface="Calibri" pitchFamily="34" charset="0"/>
                <a:ea typeface="Calibri" pitchFamily="34" charset="-122"/>
                <a:cs typeface="Calibri" pitchFamily="34" charset="-120"/>
              </a:rPr>
              <a:t>OCR GCSE Twenty First Century Science — Combined Science B (J260) | C6.1 What useful products can be made from acids? | Higher &amp; Foundation</a:t>
            </a:r>
            <a:endParaRPr lang="en-US" sz="1000" dirty="0"/>
          </a:p>
        </p:txBody>
      </p:sp>
      <p:sp>
        <p:nvSpPr>
          <p:cNvPr id="7" name="Text 5"/>
          <p:cNvSpPr/>
          <p:nvPr/>
        </p:nvSpPr>
        <p:spPr>
          <a:xfrm>
            <a:off x="9784080" y="6473952"/>
            <a:ext cx="2011680" cy="256032"/>
          </a:xfrm>
          <a:prstGeom prst="rect">
            <a:avLst/>
          </a:prstGeom>
          <a:noFill/>
          <a:ln/>
        </p:spPr>
        <p:txBody>
          <a:bodyPr wrap="square" lIns="0" tIns="0" rIns="0" bIns="0" rtlCol="0" anchor="ctr"/>
          <a:lstStyle/>
          <a:p>
            <a:pPr algn="r" indent="0" marL="0">
              <a:buNone/>
            </a:pPr>
            <a:r>
              <a:rPr lang="en-US" sz="1000" dirty="0">
                <a:solidFill>
                  <a:srgbClr val="6B7385"/>
                </a:solidFill>
                <a:latin typeface="Calibri" pitchFamily="34" charset="0"/>
                <a:ea typeface="Calibri" pitchFamily="34" charset="-122"/>
                <a:cs typeface="Calibri" pitchFamily="34" charset="-120"/>
              </a:rPr>
              <a:t>Homework  |  25</a:t>
            </a:r>
            <a:endParaRPr lang="en-US" sz="1000" dirty="0"/>
          </a:p>
        </p:txBody>
      </p:sp>
      <p:sp>
        <p:nvSpPr>
          <p:cNvPr id="8" name="Text 6"/>
          <p:cNvSpPr/>
          <p:nvPr/>
        </p:nvSpPr>
        <p:spPr>
          <a:xfrm>
            <a:off x="411480" y="1115568"/>
            <a:ext cx="11368735" cy="347472"/>
          </a:xfrm>
          <a:prstGeom prst="rect">
            <a:avLst/>
          </a:prstGeom>
          <a:noFill/>
          <a:ln/>
        </p:spPr>
        <p:txBody>
          <a:bodyPr wrap="square" lIns="0" tIns="0" rIns="0" bIns="0" rtlCol="0" anchor="ctr"/>
          <a:lstStyle/>
          <a:p>
            <a:pPr indent="0" marL="0">
              <a:buNone/>
            </a:pPr>
            <a:r>
              <a:rPr lang="en-US" sz="1150" i="1" dirty="0">
                <a:solidFill>
                  <a:srgbClr val="262B3A"/>
                </a:solidFill>
                <a:latin typeface="Calibri" pitchFamily="34" charset="0"/>
                <a:ea typeface="Calibri" pitchFamily="34" charset="-122"/>
                <a:cs typeface="Calibri" pitchFamily="34" charset="-120"/>
              </a:rPr>
              <a:t>Answer all questions. Q7 is a 6-mark extended answer. Q5 and Q6 are Higher tier.</a:t>
            </a:r>
            <a:endParaRPr lang="en-US" sz="1150" dirty="0"/>
          </a:p>
        </p:txBody>
      </p:sp>
      <p:sp>
        <p:nvSpPr>
          <p:cNvPr id="9" name="Shape 7"/>
          <p:cNvSpPr/>
          <p:nvPr/>
        </p:nvSpPr>
        <p:spPr>
          <a:xfrm>
            <a:off x="411480" y="1517904"/>
            <a:ext cx="5570068" cy="1120140"/>
          </a:xfrm>
          <a:prstGeom prst="roundRect">
            <a:avLst>
              <a:gd name="adj" fmla="val 4082"/>
            </a:avLst>
          </a:prstGeom>
          <a:solidFill>
            <a:srgbClr val="F8F5FC"/>
          </a:solidFill>
          <a:ln w="9525">
            <a:solidFill>
              <a:srgbClr val="DDD3EC"/>
            </a:solidFill>
            <a:prstDash val="solid"/>
          </a:ln>
        </p:spPr>
      </p:sp>
      <p:sp>
        <p:nvSpPr>
          <p:cNvPr id="10" name="Text 8"/>
          <p:cNvSpPr/>
          <p:nvPr/>
        </p:nvSpPr>
        <p:spPr>
          <a:xfrm>
            <a:off x="548640" y="1591056"/>
            <a:ext cx="5295748" cy="772668"/>
          </a:xfrm>
          <a:prstGeom prst="rect">
            <a:avLst/>
          </a:prstGeom>
          <a:noFill/>
          <a:ln/>
        </p:spPr>
        <p:txBody>
          <a:bodyPr wrap="square" lIns="0" tIns="0" rIns="0" bIns="0" rtlCol="0" anchor="t"/>
          <a:lstStyle/>
          <a:p>
            <a:pPr indent="0" marL="0">
              <a:buNone/>
            </a:pPr>
            <a:r>
              <a:rPr lang="en-US" sz="1150" b="1" dirty="0">
                <a:solidFill>
                  <a:srgbClr val="6A3FA0"/>
                </a:solidFill>
                <a:latin typeface="Calibri" pitchFamily="34" charset="0"/>
                <a:ea typeface="Calibri" pitchFamily="34" charset="-122"/>
                <a:cs typeface="Calibri" pitchFamily="34" charset="-120"/>
              </a:rPr>
              <a:t>1  </a:t>
            </a:r>
            <a:r>
              <a:rPr lang="en-US" sz="1150" dirty="0">
                <a:solidFill>
                  <a:srgbClr val="262B3A"/>
                </a:solidFill>
                <a:latin typeface="Calibri" pitchFamily="34" charset="0"/>
                <a:ea typeface="Calibri" pitchFamily="34" charset="-122"/>
                <a:cs typeface="Calibri" pitchFamily="34" charset="-120"/>
              </a:rPr>
              <a:t>Name the </a:t>
            </a:r>
            <a:r>
              <a:rPr lang="en-US" sz="1150" b="1" dirty="0">
                <a:solidFill>
                  <a:srgbClr val="262B3A"/>
                </a:solidFill>
                <a:latin typeface="Calibri" pitchFamily="34" charset="0"/>
                <a:ea typeface="Calibri" pitchFamily="34" charset="-122"/>
                <a:cs typeface="Calibri" pitchFamily="34" charset="-120"/>
              </a:rPr>
              <a:t>three</a:t>
            </a:r>
            <a:r>
              <a:rPr lang="en-US" sz="1150" dirty="0">
                <a:solidFill>
                  <a:srgbClr val="262B3A"/>
                </a:solidFill>
                <a:latin typeface="Calibri" pitchFamily="34" charset="0"/>
                <a:ea typeface="Calibri" pitchFamily="34" charset="-122"/>
                <a:cs typeface="Calibri" pitchFamily="34" charset="-120"/>
              </a:rPr>
              <a:t> products when an acid reacts with a metal </a:t>
            </a:r>
            <a:r>
              <a:rPr lang="en-US" sz="1150" b="1" dirty="0">
                <a:solidFill>
                  <a:srgbClr val="262B3A"/>
                </a:solidFill>
                <a:latin typeface="Calibri" pitchFamily="34" charset="0"/>
                <a:ea typeface="Calibri" pitchFamily="34" charset="-122"/>
                <a:cs typeface="Calibri" pitchFamily="34" charset="-120"/>
              </a:rPr>
              <a:t>carbonate</a:t>
            </a:r>
            <a:r>
              <a:rPr lang="en-US" sz="1150" dirty="0">
                <a:solidFill>
                  <a:srgbClr val="262B3A"/>
                </a:solidFill>
                <a:latin typeface="Calibri" pitchFamily="34" charset="0"/>
                <a:ea typeface="Calibri" pitchFamily="34" charset="-122"/>
                <a:cs typeface="Calibri" pitchFamily="34" charset="-120"/>
              </a:rPr>
              <a:t>.</a:t>
            </a:r>
            <a:endParaRPr lang="en-US" sz="1150" dirty="0"/>
          </a:p>
        </p:txBody>
      </p:sp>
      <p:sp>
        <p:nvSpPr>
          <p:cNvPr id="11" name="Text 9"/>
          <p:cNvSpPr/>
          <p:nvPr/>
        </p:nvSpPr>
        <p:spPr>
          <a:xfrm>
            <a:off x="4518508" y="2345436"/>
            <a:ext cx="1325880" cy="237744"/>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[1 mark]</a:t>
            </a:r>
            <a:endParaRPr lang="en-US" sz="1200" dirty="0"/>
          </a:p>
        </p:txBody>
      </p:sp>
      <p:sp>
        <p:nvSpPr>
          <p:cNvPr id="12" name="Shape 10"/>
          <p:cNvSpPr/>
          <p:nvPr/>
        </p:nvSpPr>
        <p:spPr>
          <a:xfrm>
            <a:off x="411480" y="2747772"/>
            <a:ext cx="5570068" cy="1120140"/>
          </a:xfrm>
          <a:prstGeom prst="roundRect">
            <a:avLst>
              <a:gd name="adj" fmla="val 4082"/>
            </a:avLst>
          </a:prstGeom>
          <a:solidFill>
            <a:srgbClr val="F8F5FC"/>
          </a:solidFill>
          <a:ln w="9525">
            <a:solidFill>
              <a:srgbClr val="DDD3EC"/>
            </a:solidFill>
            <a:prstDash val="solid"/>
          </a:ln>
        </p:spPr>
      </p:sp>
      <p:sp>
        <p:nvSpPr>
          <p:cNvPr id="13" name="Text 11"/>
          <p:cNvSpPr/>
          <p:nvPr/>
        </p:nvSpPr>
        <p:spPr>
          <a:xfrm>
            <a:off x="548640" y="2820924"/>
            <a:ext cx="5295748" cy="772668"/>
          </a:xfrm>
          <a:prstGeom prst="rect">
            <a:avLst/>
          </a:prstGeom>
          <a:noFill/>
          <a:ln/>
        </p:spPr>
        <p:txBody>
          <a:bodyPr wrap="square" lIns="0" tIns="0" rIns="0" bIns="0" rtlCol="0" anchor="t"/>
          <a:lstStyle/>
          <a:p>
            <a:pPr indent="0" marL="0">
              <a:buNone/>
            </a:pPr>
            <a:r>
              <a:rPr lang="en-US" sz="1150" b="1" dirty="0">
                <a:solidFill>
                  <a:srgbClr val="6A3FA0"/>
                </a:solidFill>
                <a:latin typeface="Calibri" pitchFamily="34" charset="0"/>
                <a:ea typeface="Calibri" pitchFamily="34" charset="-122"/>
                <a:cs typeface="Calibri" pitchFamily="34" charset="-120"/>
              </a:rPr>
              <a:t>2  </a:t>
            </a:r>
            <a:r>
              <a:rPr lang="en-US" sz="1150" dirty="0">
                <a:solidFill>
                  <a:srgbClr val="262B3A"/>
                </a:solidFill>
                <a:latin typeface="Calibri" pitchFamily="34" charset="0"/>
                <a:ea typeface="Calibri" pitchFamily="34" charset="-122"/>
                <a:cs typeface="Calibri" pitchFamily="34" charset="-120"/>
              </a:rPr>
              <a:t>Name the salt made from: (a) </a:t>
            </a:r>
            <a:r>
              <a:rPr lang="en-US" sz="1150" b="1" dirty="0">
                <a:solidFill>
                  <a:srgbClr val="262B3A"/>
                </a:solidFill>
                <a:latin typeface="Calibri" pitchFamily="34" charset="0"/>
                <a:ea typeface="Calibri" pitchFamily="34" charset="-122"/>
                <a:cs typeface="Calibri" pitchFamily="34" charset="-120"/>
              </a:rPr>
              <a:t>magnesium + sulfuric acid</a:t>
            </a:r>
            <a:r>
              <a:rPr lang="en-US" sz="1150" dirty="0">
                <a:solidFill>
                  <a:srgbClr val="262B3A"/>
                </a:solidFill>
                <a:latin typeface="Calibri" pitchFamily="34" charset="0"/>
                <a:ea typeface="Calibri" pitchFamily="34" charset="-122"/>
                <a:cs typeface="Calibri" pitchFamily="34" charset="-120"/>
              </a:rPr>
              <a:t>; (b) </a:t>
            </a:r>
            <a:r>
              <a:rPr lang="en-US" sz="1150" b="1" dirty="0">
                <a:solidFill>
                  <a:srgbClr val="262B3A"/>
                </a:solidFill>
                <a:latin typeface="Calibri" pitchFamily="34" charset="0"/>
                <a:ea typeface="Calibri" pitchFamily="34" charset="-122"/>
                <a:cs typeface="Calibri" pitchFamily="34" charset="-120"/>
              </a:rPr>
              <a:t>potassium hydroxide + nitric acid</a:t>
            </a:r>
            <a:r>
              <a:rPr lang="en-US" sz="1150" dirty="0">
                <a:solidFill>
                  <a:srgbClr val="262B3A"/>
                </a:solidFill>
                <a:latin typeface="Calibri" pitchFamily="34" charset="0"/>
                <a:ea typeface="Calibri" pitchFamily="34" charset="-122"/>
                <a:cs typeface="Calibri" pitchFamily="34" charset="-120"/>
              </a:rPr>
              <a:t>.</a:t>
            </a:r>
            <a:endParaRPr lang="en-US" sz="1150" dirty="0"/>
          </a:p>
        </p:txBody>
      </p:sp>
      <p:sp>
        <p:nvSpPr>
          <p:cNvPr id="14" name="Text 12"/>
          <p:cNvSpPr/>
          <p:nvPr/>
        </p:nvSpPr>
        <p:spPr>
          <a:xfrm>
            <a:off x="4518508" y="3575304"/>
            <a:ext cx="1325880" cy="237744"/>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5" name="Shape 13"/>
          <p:cNvSpPr/>
          <p:nvPr/>
        </p:nvSpPr>
        <p:spPr>
          <a:xfrm>
            <a:off x="411480" y="3977640"/>
            <a:ext cx="5570068" cy="1120140"/>
          </a:xfrm>
          <a:prstGeom prst="roundRect">
            <a:avLst>
              <a:gd name="adj" fmla="val 4082"/>
            </a:avLst>
          </a:prstGeom>
          <a:solidFill>
            <a:srgbClr val="F8F5FC"/>
          </a:solidFill>
          <a:ln w="9525">
            <a:solidFill>
              <a:srgbClr val="DDD3EC"/>
            </a:solidFill>
            <a:prstDash val="solid"/>
          </a:ln>
        </p:spPr>
      </p:sp>
      <p:sp>
        <p:nvSpPr>
          <p:cNvPr id="16" name="Text 14"/>
          <p:cNvSpPr/>
          <p:nvPr/>
        </p:nvSpPr>
        <p:spPr>
          <a:xfrm>
            <a:off x="548640" y="4050792"/>
            <a:ext cx="5295748" cy="772668"/>
          </a:xfrm>
          <a:prstGeom prst="rect">
            <a:avLst/>
          </a:prstGeom>
          <a:noFill/>
          <a:ln/>
        </p:spPr>
        <p:txBody>
          <a:bodyPr wrap="square" lIns="0" tIns="0" rIns="0" bIns="0" rtlCol="0" anchor="t"/>
          <a:lstStyle/>
          <a:p>
            <a:pPr indent="0" marL="0">
              <a:buNone/>
            </a:pPr>
            <a:r>
              <a:rPr lang="en-US" sz="1150" b="1" dirty="0">
                <a:solidFill>
                  <a:srgbClr val="6A3FA0"/>
                </a:solidFill>
                <a:latin typeface="Calibri" pitchFamily="34" charset="0"/>
                <a:ea typeface="Calibri" pitchFamily="34" charset="-122"/>
                <a:cs typeface="Calibri" pitchFamily="34" charset="-120"/>
              </a:rPr>
              <a:t>3  </a:t>
            </a:r>
            <a:r>
              <a:rPr lang="en-US" sz="1150" dirty="0">
                <a:solidFill>
                  <a:srgbClr val="262B3A"/>
                </a:solidFill>
                <a:latin typeface="Calibri" pitchFamily="34" charset="0"/>
                <a:ea typeface="Calibri" pitchFamily="34" charset="-122"/>
                <a:cs typeface="Calibri" pitchFamily="34" charset="-120"/>
              </a:rPr>
              <a:t>Universal indicator turns </a:t>
            </a:r>
            <a:r>
              <a:rPr lang="en-US" sz="1150" b="1" dirty="0">
                <a:solidFill>
                  <a:srgbClr val="262B3A"/>
                </a:solidFill>
                <a:latin typeface="Calibri" pitchFamily="34" charset="0"/>
                <a:ea typeface="Calibri" pitchFamily="34" charset="-122"/>
                <a:cs typeface="Calibri" pitchFamily="34" charset="-120"/>
              </a:rPr>
              <a:t>purple</a:t>
            </a:r>
            <a:r>
              <a:rPr lang="en-US" sz="1150" dirty="0">
                <a:solidFill>
                  <a:srgbClr val="262B3A"/>
                </a:solidFill>
                <a:latin typeface="Calibri" pitchFamily="34" charset="0"/>
                <a:ea typeface="Calibri" pitchFamily="34" charset="-122"/>
                <a:cs typeface="Calibri" pitchFamily="34" charset="-120"/>
              </a:rPr>
              <a:t> in a solution. Estimate its </a:t>
            </a:r>
            <a:r>
              <a:rPr lang="en-US" sz="1150" b="1" dirty="0">
                <a:solidFill>
                  <a:srgbClr val="262B3A"/>
                </a:solidFill>
                <a:latin typeface="Calibri" pitchFamily="34" charset="0"/>
                <a:ea typeface="Calibri" pitchFamily="34" charset="-122"/>
                <a:cs typeface="Calibri" pitchFamily="34" charset="-120"/>
              </a:rPr>
              <a:t>pH</a:t>
            </a:r>
            <a:r>
              <a:rPr lang="en-US" sz="1150" dirty="0">
                <a:solidFill>
                  <a:srgbClr val="262B3A"/>
                </a:solidFill>
                <a:latin typeface="Calibri" pitchFamily="34" charset="0"/>
                <a:ea typeface="Calibri" pitchFamily="34" charset="-122"/>
                <a:cs typeface="Calibri" pitchFamily="34" charset="-120"/>
              </a:rPr>
              <a:t> and explain what this tells you about its </a:t>
            </a:r>
            <a:r>
              <a:rPr lang="en-US" sz="1150" b="1" dirty="0">
                <a:solidFill>
                  <a:srgbClr val="262B3A"/>
                </a:solidFill>
                <a:latin typeface="Calibri" pitchFamily="34" charset="0"/>
                <a:ea typeface="Calibri" pitchFamily="34" charset="-122"/>
                <a:cs typeface="Calibri" pitchFamily="34" charset="-120"/>
              </a:rPr>
              <a:t>ions</a:t>
            </a:r>
            <a:r>
              <a:rPr lang="en-US" sz="1150" dirty="0">
                <a:solidFill>
                  <a:srgbClr val="262B3A"/>
                </a:solidFill>
                <a:latin typeface="Calibri" pitchFamily="34" charset="0"/>
                <a:ea typeface="Calibri" pitchFamily="34" charset="-122"/>
                <a:cs typeface="Calibri" pitchFamily="34" charset="-120"/>
              </a:rPr>
              <a:t>.</a:t>
            </a:r>
            <a:endParaRPr lang="en-US" sz="1150" dirty="0"/>
          </a:p>
        </p:txBody>
      </p:sp>
      <p:sp>
        <p:nvSpPr>
          <p:cNvPr id="17" name="Text 15"/>
          <p:cNvSpPr/>
          <p:nvPr/>
        </p:nvSpPr>
        <p:spPr>
          <a:xfrm>
            <a:off x="4518508" y="4805172"/>
            <a:ext cx="1325880" cy="237744"/>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18" name="Shape 16"/>
          <p:cNvSpPr/>
          <p:nvPr/>
        </p:nvSpPr>
        <p:spPr>
          <a:xfrm>
            <a:off x="411480" y="5207508"/>
            <a:ext cx="5570068" cy="1120140"/>
          </a:xfrm>
          <a:prstGeom prst="roundRect">
            <a:avLst>
              <a:gd name="adj" fmla="val 4082"/>
            </a:avLst>
          </a:prstGeom>
          <a:solidFill>
            <a:srgbClr val="F8F5FC"/>
          </a:solidFill>
          <a:ln w="9525">
            <a:solidFill>
              <a:srgbClr val="DDD3EC"/>
            </a:solidFill>
            <a:prstDash val="solid"/>
          </a:ln>
        </p:spPr>
      </p:sp>
      <p:sp>
        <p:nvSpPr>
          <p:cNvPr id="19" name="Text 17"/>
          <p:cNvSpPr/>
          <p:nvPr/>
        </p:nvSpPr>
        <p:spPr>
          <a:xfrm>
            <a:off x="548640" y="5280660"/>
            <a:ext cx="5295748" cy="772668"/>
          </a:xfrm>
          <a:prstGeom prst="rect">
            <a:avLst/>
          </a:prstGeom>
          <a:noFill/>
          <a:ln/>
        </p:spPr>
        <p:txBody>
          <a:bodyPr wrap="square" lIns="0" tIns="0" rIns="0" bIns="0" rtlCol="0" anchor="t"/>
          <a:lstStyle/>
          <a:p>
            <a:pPr indent="0" marL="0">
              <a:buNone/>
            </a:pPr>
            <a:r>
              <a:rPr lang="en-US" sz="1150" b="1" dirty="0">
                <a:solidFill>
                  <a:srgbClr val="6A3FA0"/>
                </a:solidFill>
                <a:latin typeface="Calibri" pitchFamily="34" charset="0"/>
                <a:ea typeface="Calibri" pitchFamily="34" charset="-122"/>
                <a:cs typeface="Calibri" pitchFamily="34" charset="-120"/>
              </a:rPr>
              <a:t>4  </a:t>
            </a:r>
            <a:r>
              <a:rPr lang="en-US" sz="1150" dirty="0">
                <a:solidFill>
                  <a:srgbClr val="262B3A"/>
                </a:solidFill>
                <a:latin typeface="Calibri" pitchFamily="34" charset="0"/>
                <a:ea typeface="Calibri" pitchFamily="34" charset="-122"/>
                <a:cs typeface="Calibri" pitchFamily="34" charset="-120"/>
              </a:rPr>
              <a:t>Write a balanced equation, with </a:t>
            </a:r>
            <a:r>
              <a:rPr lang="en-US" sz="1150" b="1" dirty="0">
                <a:solidFill>
                  <a:srgbClr val="262B3A"/>
                </a:solidFill>
                <a:latin typeface="Calibri" pitchFamily="34" charset="0"/>
                <a:ea typeface="Calibri" pitchFamily="34" charset="-122"/>
                <a:cs typeface="Calibri" pitchFamily="34" charset="-120"/>
              </a:rPr>
              <a:t>state symbols</a:t>
            </a:r>
            <a:r>
              <a:rPr lang="en-US" sz="1150" dirty="0">
                <a:solidFill>
                  <a:srgbClr val="262B3A"/>
                </a:solidFill>
                <a:latin typeface="Calibri" pitchFamily="34" charset="0"/>
                <a:ea typeface="Calibri" pitchFamily="34" charset="-122"/>
                <a:cs typeface="Calibri" pitchFamily="34" charset="-120"/>
              </a:rPr>
              <a:t>, for </a:t>
            </a:r>
            <a:r>
              <a:rPr lang="en-US" sz="1150" b="1" dirty="0">
                <a:solidFill>
                  <a:srgbClr val="262B3A"/>
                </a:solidFill>
                <a:latin typeface="Calibri" pitchFamily="34" charset="0"/>
                <a:ea typeface="Calibri" pitchFamily="34" charset="-122"/>
                <a:cs typeface="Calibri" pitchFamily="34" charset="-120"/>
              </a:rPr>
              <a:t>zinc</a:t>
            </a:r>
            <a:r>
              <a:rPr lang="en-US" sz="1150" dirty="0">
                <a:solidFill>
                  <a:srgbClr val="262B3A"/>
                </a:solidFill>
                <a:latin typeface="Calibri" pitchFamily="34" charset="0"/>
                <a:ea typeface="Calibri" pitchFamily="34" charset="-122"/>
                <a:cs typeface="Calibri" pitchFamily="34" charset="-120"/>
              </a:rPr>
              <a:t> reacting with dilute </a:t>
            </a:r>
            <a:r>
              <a:rPr lang="en-US" sz="1150" b="1" dirty="0">
                <a:solidFill>
                  <a:srgbClr val="262B3A"/>
                </a:solidFill>
                <a:latin typeface="Calibri" pitchFamily="34" charset="0"/>
                <a:ea typeface="Calibri" pitchFamily="34" charset="-122"/>
                <a:cs typeface="Calibri" pitchFamily="34" charset="-120"/>
              </a:rPr>
              <a:t>hydrochloric acid</a:t>
            </a:r>
            <a:r>
              <a:rPr lang="en-US" sz="1150" dirty="0">
                <a:solidFill>
                  <a:srgbClr val="262B3A"/>
                </a:solidFill>
                <a:latin typeface="Calibri" pitchFamily="34" charset="0"/>
                <a:ea typeface="Calibri" pitchFamily="34" charset="-122"/>
                <a:cs typeface="Calibri" pitchFamily="34" charset="-120"/>
              </a:rPr>
              <a:t>.</a:t>
            </a:r>
            <a:endParaRPr lang="en-US" sz="1150" dirty="0"/>
          </a:p>
        </p:txBody>
      </p:sp>
      <p:sp>
        <p:nvSpPr>
          <p:cNvPr id="20" name="Text 18"/>
          <p:cNvSpPr/>
          <p:nvPr/>
        </p:nvSpPr>
        <p:spPr>
          <a:xfrm>
            <a:off x="4518508" y="6035040"/>
            <a:ext cx="1325880" cy="237744"/>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1" name="Shape 19"/>
          <p:cNvSpPr/>
          <p:nvPr/>
        </p:nvSpPr>
        <p:spPr>
          <a:xfrm>
            <a:off x="6210148" y="1517904"/>
            <a:ext cx="5570068" cy="1051941"/>
          </a:xfrm>
          <a:prstGeom prst="roundRect">
            <a:avLst>
              <a:gd name="adj" fmla="val 4346"/>
            </a:avLst>
          </a:prstGeom>
          <a:solidFill>
            <a:srgbClr val="F8F5FC"/>
          </a:solidFill>
          <a:ln w="9525">
            <a:solidFill>
              <a:srgbClr val="DDD3EC"/>
            </a:solidFill>
            <a:prstDash val="solid"/>
          </a:ln>
        </p:spPr>
      </p:sp>
      <p:sp>
        <p:nvSpPr>
          <p:cNvPr id="22" name="Text 20"/>
          <p:cNvSpPr/>
          <p:nvPr/>
        </p:nvSpPr>
        <p:spPr>
          <a:xfrm>
            <a:off x="6347308" y="1591056"/>
            <a:ext cx="4792828" cy="704469"/>
          </a:xfrm>
          <a:prstGeom prst="rect">
            <a:avLst/>
          </a:prstGeom>
          <a:noFill/>
          <a:ln/>
        </p:spPr>
        <p:txBody>
          <a:bodyPr wrap="square" lIns="0" tIns="0" rIns="0" bIns="0" rtlCol="0" anchor="t"/>
          <a:lstStyle/>
          <a:p>
            <a:pPr indent="0" marL="0">
              <a:buNone/>
            </a:pPr>
            <a:r>
              <a:rPr lang="en-US" sz="1150" b="1" dirty="0">
                <a:solidFill>
                  <a:srgbClr val="6A3FA0"/>
                </a:solidFill>
                <a:latin typeface="Calibri" pitchFamily="34" charset="0"/>
                <a:ea typeface="Calibri" pitchFamily="34" charset="-122"/>
                <a:cs typeface="Calibri" pitchFamily="34" charset="-120"/>
              </a:rPr>
              <a:t>5  </a:t>
            </a:r>
            <a:r>
              <a:rPr lang="en-US" sz="1150" dirty="0">
                <a:solidFill>
                  <a:srgbClr val="262B3A"/>
                </a:solidFill>
                <a:latin typeface="Calibri" pitchFamily="34" charset="0"/>
                <a:ea typeface="Calibri" pitchFamily="34" charset="-122"/>
                <a:cs typeface="Calibri" pitchFamily="34" charset="-120"/>
              </a:rPr>
              <a:t>Solution A has </a:t>
            </a:r>
            <a:r>
              <a:rPr lang="en-US" sz="1150" b="1" dirty="0">
                <a:solidFill>
                  <a:srgbClr val="262B3A"/>
                </a:solidFill>
                <a:latin typeface="Calibri" pitchFamily="34" charset="0"/>
                <a:ea typeface="Calibri" pitchFamily="34" charset="-122"/>
                <a:cs typeface="Calibri" pitchFamily="34" charset="-120"/>
              </a:rPr>
              <a:t>pH 2</a:t>
            </a:r>
            <a:r>
              <a:rPr lang="en-US" sz="1150" dirty="0">
                <a:solidFill>
                  <a:srgbClr val="262B3A"/>
                </a:solidFill>
                <a:latin typeface="Calibri" pitchFamily="34" charset="0"/>
                <a:ea typeface="Calibri" pitchFamily="34" charset="-122"/>
                <a:cs typeface="Calibri" pitchFamily="34" charset="-120"/>
              </a:rPr>
              <a:t>. Solution B has </a:t>
            </a:r>
            <a:r>
              <a:rPr lang="en-US" sz="1150" b="1" dirty="0">
                <a:solidFill>
                  <a:srgbClr val="262B3A"/>
                </a:solidFill>
                <a:latin typeface="Calibri" pitchFamily="34" charset="0"/>
                <a:ea typeface="Calibri" pitchFamily="34" charset="-122"/>
                <a:cs typeface="Calibri" pitchFamily="34" charset="-120"/>
              </a:rPr>
              <a:t>pH 4</a:t>
            </a:r>
            <a:r>
              <a:rPr lang="en-US" sz="1150" dirty="0">
                <a:solidFill>
                  <a:srgbClr val="262B3A"/>
                </a:solidFill>
                <a:latin typeface="Calibri" pitchFamily="34" charset="0"/>
                <a:ea typeface="Calibri" pitchFamily="34" charset="-122"/>
                <a:cs typeface="Calibri" pitchFamily="34" charset="-120"/>
              </a:rPr>
              <a:t>. How many times greater is the </a:t>
            </a:r>
            <a:r>
              <a:rPr lang="en-US" sz="1150" b="1" dirty="0">
                <a:solidFill>
                  <a:srgbClr val="262B3A"/>
                </a:solidFill>
                <a:latin typeface="Calibri" pitchFamily="34" charset="0"/>
                <a:ea typeface="Calibri" pitchFamily="34" charset="-122"/>
                <a:cs typeface="Calibri" pitchFamily="34" charset="-120"/>
              </a:rPr>
              <a:t>[H⁺]</a:t>
            </a:r>
            <a:r>
              <a:rPr lang="en-US" sz="1150" dirty="0">
                <a:solidFill>
                  <a:srgbClr val="262B3A"/>
                </a:solidFill>
                <a:latin typeface="Calibri" pitchFamily="34" charset="0"/>
                <a:ea typeface="Calibri" pitchFamily="34" charset="-122"/>
                <a:cs typeface="Calibri" pitchFamily="34" charset="-120"/>
              </a:rPr>
              <a:t> in A? Explain.</a:t>
            </a:r>
            <a:endParaRPr lang="en-US" sz="1150" dirty="0"/>
          </a:p>
        </p:txBody>
      </p:sp>
      <p:sp>
        <p:nvSpPr>
          <p:cNvPr id="23" name="Shape 21"/>
          <p:cNvSpPr/>
          <p:nvPr/>
        </p:nvSpPr>
        <p:spPr>
          <a:xfrm>
            <a:off x="11231575" y="1591056"/>
            <a:ext cx="411480" cy="274320"/>
          </a:xfrm>
          <a:prstGeom prst="roundRect">
            <a:avLst>
              <a:gd name="adj" fmla="val 50000"/>
            </a:avLst>
          </a:prstGeom>
          <a:solidFill>
            <a:srgbClr val="C8414C"/>
          </a:solidFill>
          <a:ln w="12700">
            <a:solidFill>
              <a:srgbClr val="C8414C"/>
            </a:solidFill>
            <a:prstDash val="solid"/>
          </a:ln>
        </p:spPr>
      </p:sp>
      <p:sp>
        <p:nvSpPr>
          <p:cNvPr id="24" name="Text 22"/>
          <p:cNvSpPr/>
          <p:nvPr/>
        </p:nvSpPr>
        <p:spPr>
          <a:xfrm>
            <a:off x="11231575" y="1591056"/>
            <a:ext cx="4114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25" name="Text 23"/>
          <p:cNvSpPr/>
          <p:nvPr/>
        </p:nvSpPr>
        <p:spPr>
          <a:xfrm>
            <a:off x="10317175" y="2277237"/>
            <a:ext cx="1325880" cy="237744"/>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26" name="Shape 24"/>
          <p:cNvSpPr/>
          <p:nvPr/>
        </p:nvSpPr>
        <p:spPr>
          <a:xfrm>
            <a:off x="6210148" y="2679573"/>
            <a:ext cx="5570068" cy="1051941"/>
          </a:xfrm>
          <a:prstGeom prst="roundRect">
            <a:avLst>
              <a:gd name="adj" fmla="val 4346"/>
            </a:avLst>
          </a:prstGeom>
          <a:solidFill>
            <a:srgbClr val="F8F5FC"/>
          </a:solidFill>
          <a:ln w="9525">
            <a:solidFill>
              <a:srgbClr val="DDD3EC"/>
            </a:solidFill>
            <a:prstDash val="solid"/>
          </a:ln>
        </p:spPr>
      </p:sp>
      <p:sp>
        <p:nvSpPr>
          <p:cNvPr id="27" name="Text 25"/>
          <p:cNvSpPr/>
          <p:nvPr/>
        </p:nvSpPr>
        <p:spPr>
          <a:xfrm>
            <a:off x="6347308" y="2752725"/>
            <a:ext cx="4792828" cy="704469"/>
          </a:xfrm>
          <a:prstGeom prst="rect">
            <a:avLst/>
          </a:prstGeom>
          <a:noFill/>
          <a:ln/>
        </p:spPr>
        <p:txBody>
          <a:bodyPr wrap="square" lIns="0" tIns="0" rIns="0" bIns="0" rtlCol="0" anchor="t"/>
          <a:lstStyle/>
          <a:p>
            <a:pPr indent="0" marL="0">
              <a:buNone/>
            </a:pPr>
            <a:r>
              <a:rPr lang="en-US" sz="1150" b="1" dirty="0">
                <a:solidFill>
                  <a:srgbClr val="6A3FA0"/>
                </a:solidFill>
                <a:latin typeface="Calibri" pitchFamily="34" charset="0"/>
                <a:ea typeface="Calibri" pitchFamily="34" charset="-122"/>
                <a:cs typeface="Calibri" pitchFamily="34" charset="-120"/>
              </a:rPr>
              <a:t>6  </a:t>
            </a:r>
            <a:r>
              <a:rPr lang="en-US" sz="1150" dirty="0">
                <a:solidFill>
                  <a:srgbClr val="262B3A"/>
                </a:solidFill>
                <a:latin typeface="Calibri" pitchFamily="34" charset="0"/>
                <a:ea typeface="Calibri" pitchFamily="34" charset="-122"/>
                <a:cs typeface="Calibri" pitchFamily="34" charset="-120"/>
              </a:rPr>
              <a:t>Explain the difference between a </a:t>
            </a:r>
            <a:r>
              <a:rPr lang="en-US" sz="1150" b="1" dirty="0">
                <a:solidFill>
                  <a:srgbClr val="262B3A"/>
                </a:solidFill>
                <a:latin typeface="Calibri" pitchFamily="34" charset="0"/>
                <a:ea typeface="Calibri" pitchFamily="34" charset="-122"/>
                <a:cs typeface="Calibri" pitchFamily="34" charset="-120"/>
              </a:rPr>
              <a:t>concentrated weak</a:t>
            </a:r>
            <a:r>
              <a:rPr lang="en-US" sz="1150" dirty="0">
                <a:solidFill>
                  <a:srgbClr val="262B3A"/>
                </a:solidFill>
                <a:latin typeface="Calibri" pitchFamily="34" charset="0"/>
                <a:ea typeface="Calibri" pitchFamily="34" charset="-122"/>
                <a:cs typeface="Calibri" pitchFamily="34" charset="-120"/>
              </a:rPr>
              <a:t> acid and a </a:t>
            </a:r>
            <a:r>
              <a:rPr lang="en-US" sz="1150" b="1" dirty="0">
                <a:solidFill>
                  <a:srgbClr val="262B3A"/>
                </a:solidFill>
                <a:latin typeface="Calibri" pitchFamily="34" charset="0"/>
                <a:ea typeface="Calibri" pitchFamily="34" charset="-122"/>
                <a:cs typeface="Calibri" pitchFamily="34" charset="-120"/>
              </a:rPr>
              <a:t>dilute strong</a:t>
            </a:r>
            <a:r>
              <a:rPr lang="en-US" sz="1150" dirty="0">
                <a:solidFill>
                  <a:srgbClr val="262B3A"/>
                </a:solidFill>
                <a:latin typeface="Calibri" pitchFamily="34" charset="0"/>
                <a:ea typeface="Calibri" pitchFamily="34" charset="-122"/>
                <a:cs typeface="Calibri" pitchFamily="34" charset="-120"/>
              </a:rPr>
              <a:t> acid.</a:t>
            </a:r>
            <a:endParaRPr lang="en-US" sz="1150" dirty="0"/>
          </a:p>
        </p:txBody>
      </p:sp>
      <p:sp>
        <p:nvSpPr>
          <p:cNvPr id="28" name="Shape 26"/>
          <p:cNvSpPr/>
          <p:nvPr/>
        </p:nvSpPr>
        <p:spPr>
          <a:xfrm>
            <a:off x="11231575" y="2752725"/>
            <a:ext cx="411480" cy="274320"/>
          </a:xfrm>
          <a:prstGeom prst="roundRect">
            <a:avLst>
              <a:gd name="adj" fmla="val 50000"/>
            </a:avLst>
          </a:prstGeom>
          <a:solidFill>
            <a:srgbClr val="C8414C"/>
          </a:solidFill>
          <a:ln w="12700">
            <a:solidFill>
              <a:srgbClr val="C8414C"/>
            </a:solidFill>
            <a:prstDash val="solid"/>
          </a:ln>
        </p:spPr>
      </p:sp>
      <p:sp>
        <p:nvSpPr>
          <p:cNvPr id="29" name="Text 27"/>
          <p:cNvSpPr/>
          <p:nvPr/>
        </p:nvSpPr>
        <p:spPr>
          <a:xfrm>
            <a:off x="11231575" y="2752725"/>
            <a:ext cx="41148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HT</a:t>
            </a:r>
            <a:endParaRPr lang="en-US" sz="1000" dirty="0"/>
          </a:p>
        </p:txBody>
      </p:sp>
      <p:sp>
        <p:nvSpPr>
          <p:cNvPr id="30" name="Text 28"/>
          <p:cNvSpPr/>
          <p:nvPr/>
        </p:nvSpPr>
        <p:spPr>
          <a:xfrm>
            <a:off x="10317175" y="3438906"/>
            <a:ext cx="1325880" cy="237744"/>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[2 marks]</a:t>
            </a:r>
            <a:endParaRPr lang="en-US" sz="1200" dirty="0"/>
          </a:p>
        </p:txBody>
      </p:sp>
      <p:sp>
        <p:nvSpPr>
          <p:cNvPr id="31" name="Shape 29"/>
          <p:cNvSpPr/>
          <p:nvPr/>
        </p:nvSpPr>
        <p:spPr>
          <a:xfrm>
            <a:off x="6210148" y="3841242"/>
            <a:ext cx="5570068" cy="2486406"/>
          </a:xfrm>
          <a:prstGeom prst="roundRect">
            <a:avLst>
              <a:gd name="adj" fmla="val 1839"/>
            </a:avLst>
          </a:prstGeom>
          <a:solidFill>
            <a:srgbClr val="FFF4E0"/>
          </a:solidFill>
          <a:ln w="9525">
            <a:solidFill>
              <a:srgbClr val="F1D9A8"/>
            </a:solidFill>
            <a:prstDash val="solid"/>
          </a:ln>
        </p:spPr>
      </p:sp>
      <p:sp>
        <p:nvSpPr>
          <p:cNvPr id="32" name="Text 30"/>
          <p:cNvSpPr/>
          <p:nvPr/>
        </p:nvSpPr>
        <p:spPr>
          <a:xfrm>
            <a:off x="6347308" y="3914394"/>
            <a:ext cx="5295748" cy="2138934"/>
          </a:xfrm>
          <a:prstGeom prst="rect">
            <a:avLst/>
          </a:prstGeom>
          <a:noFill/>
          <a:ln/>
        </p:spPr>
        <p:txBody>
          <a:bodyPr wrap="square" lIns="0" tIns="0" rIns="0" bIns="0" rtlCol="0" anchor="t"/>
          <a:lstStyle/>
          <a:p>
            <a:pPr indent="0" marL="0">
              <a:buNone/>
            </a:pPr>
            <a:r>
              <a:rPr lang="en-US" sz="1150" b="1" dirty="0">
                <a:solidFill>
                  <a:srgbClr val="6A3FA0"/>
                </a:solidFill>
                <a:latin typeface="Calibri" pitchFamily="34" charset="0"/>
                <a:ea typeface="Calibri" pitchFamily="34" charset="-122"/>
                <a:cs typeface="Calibri" pitchFamily="34" charset="-120"/>
              </a:rPr>
              <a:t>7  </a:t>
            </a:r>
            <a:r>
              <a:rPr lang="en-US" sz="1150" dirty="0">
                <a:solidFill>
                  <a:srgbClr val="262B3A"/>
                </a:solidFill>
                <a:latin typeface="Calibri" pitchFamily="34" charset="0"/>
                <a:ea typeface="Calibri" pitchFamily="34" charset="-122"/>
                <a:cs typeface="Calibri" pitchFamily="34" charset="-120"/>
              </a:rPr>
              <a:t>Describe how to make </a:t>
            </a:r>
            <a:r>
              <a:rPr lang="en-US" sz="1150" b="1" dirty="0">
                <a:solidFill>
                  <a:srgbClr val="262B3A"/>
                </a:solidFill>
                <a:latin typeface="Calibri" pitchFamily="34" charset="0"/>
                <a:ea typeface="Calibri" pitchFamily="34" charset="-122"/>
                <a:cs typeface="Calibri" pitchFamily="34" charset="-120"/>
              </a:rPr>
              <a:t>pure, dry crystals</a:t>
            </a:r>
            <a:r>
              <a:rPr lang="en-US" sz="1150" dirty="0">
                <a:solidFill>
                  <a:srgbClr val="262B3A"/>
                </a:solidFill>
                <a:latin typeface="Calibri" pitchFamily="34" charset="0"/>
                <a:ea typeface="Calibri" pitchFamily="34" charset="-122"/>
                <a:cs typeface="Calibri" pitchFamily="34" charset="-120"/>
              </a:rPr>
              <a:t> of magnesium sulfate from </a:t>
            </a:r>
            <a:r>
              <a:rPr lang="en-US" sz="1150" b="1" dirty="0">
                <a:solidFill>
                  <a:srgbClr val="262B3A"/>
                </a:solidFill>
                <a:latin typeface="Calibri" pitchFamily="34" charset="0"/>
                <a:ea typeface="Calibri" pitchFamily="34" charset="-122"/>
                <a:cs typeface="Calibri" pitchFamily="34" charset="-120"/>
              </a:rPr>
              <a:t>magnesium carbonate</a:t>
            </a:r>
            <a:r>
              <a:rPr lang="en-US" sz="1150" dirty="0">
                <a:solidFill>
                  <a:srgbClr val="262B3A"/>
                </a:solidFill>
                <a:latin typeface="Calibri" pitchFamily="34" charset="0"/>
                <a:ea typeface="Calibri" pitchFamily="34" charset="-122"/>
                <a:cs typeface="Calibri" pitchFamily="34" charset="-120"/>
              </a:rPr>
              <a:t> and dilute </a:t>
            </a:r>
            <a:r>
              <a:rPr lang="en-US" sz="1150" b="1" dirty="0">
                <a:solidFill>
                  <a:srgbClr val="262B3A"/>
                </a:solidFill>
                <a:latin typeface="Calibri" pitchFamily="34" charset="0"/>
                <a:ea typeface="Calibri" pitchFamily="34" charset="-122"/>
                <a:cs typeface="Calibri" pitchFamily="34" charset="-120"/>
              </a:rPr>
              <a:t>sulfuric acid</a:t>
            </a:r>
            <a:r>
              <a:rPr lang="en-US" sz="1150" dirty="0">
                <a:solidFill>
                  <a:srgbClr val="262B3A"/>
                </a:solidFill>
                <a:latin typeface="Calibri" pitchFamily="34" charset="0"/>
                <a:ea typeface="Calibri" pitchFamily="34" charset="-122"/>
                <a:cs typeface="Calibri" pitchFamily="34" charset="-120"/>
              </a:rPr>
              <a:t>. Explain the reason for each step.</a:t>
            </a:r>
            <a:endParaRPr lang="en-US" sz="1150" dirty="0"/>
          </a:p>
        </p:txBody>
      </p:sp>
      <p:sp>
        <p:nvSpPr>
          <p:cNvPr id="33" name="Text 31"/>
          <p:cNvSpPr/>
          <p:nvPr/>
        </p:nvSpPr>
        <p:spPr>
          <a:xfrm>
            <a:off x="10317175" y="6035040"/>
            <a:ext cx="1325880" cy="237744"/>
          </a:xfrm>
          <a:prstGeom prst="rect">
            <a:avLst/>
          </a:prstGeom>
          <a:noFill/>
          <a:ln/>
        </p:spPr>
        <p:txBody>
          <a:bodyPr wrap="square" lIns="0" tIns="0" rIns="0" bIns="0" rtlCol="0" anchor="ctr"/>
          <a:lstStyle/>
          <a:p>
            <a:pPr algn="r" indent="0" marL="0">
              <a:buNone/>
            </a:pPr>
            <a:r>
              <a:rPr lang="en-US" sz="1200" b="1" dirty="0">
                <a:solidFill>
                  <a:srgbClr val="F5A742"/>
                </a:solidFill>
                <a:latin typeface="Calibri" pitchFamily="34" charset="0"/>
                <a:ea typeface="Calibri" pitchFamily="34" charset="-122"/>
                <a:cs typeface="Calibri" pitchFamily="34" charset="-120"/>
              </a:rPr>
              <a:t>[6 marks]</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OCR J260 C6.1 What useful products can be made from acids?</dc:title>
  <dc:subject>PptxGenJS Presentation</dc:subject>
  <dc:creator>GCSE Chemistry</dc:creator>
  <cp:lastModifiedBy>GCSE Chemistry</cp:lastModifiedBy>
  <cp:revision>1</cp:revision>
  <dcterms:created xsi:type="dcterms:W3CDTF">2026-10-31T23:35:18Z</dcterms:created>
  <dcterms:modified xsi:type="dcterms:W3CDTF">2026-10-31T23:35:18Z</dcterms:modified>
</cp:coreProperties>
</file>