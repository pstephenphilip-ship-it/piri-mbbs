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C6.3 What factors affect the yield of chemical reactions? is Part 3 of 3 in J260 Chapter C6 Making useful chemicals (C6.1 What useful products can be made from acids?; C6.2 How do chemists control the rate of reactions?; C6.3 this deck).
J258 (Chemistry B, separate science) has a fourth sub-topic, C6.4 How are chemicals made on an industrial scale?, which the OCR Chapter C6 scheme of work marks "separate science only". It is NOT part of J260 and is not taught here (no atom economy, no percentage-yield calculations, no feedstock/process flow content).
Evidence for C6.3 in J260: the docbrown.info Combined Science B page (2016ocr21chemB2c.htm) lists "C6.3 What factors affect the yield of chemical reactions?"; thinka.ai has the same title under "Twenty First Century Science Combined Science B J260"; the OCR J260 specification-at-a-glance lists C6 as acids, rates and yield; RSC resources tag the equilibrium statements to OCR Combined Science B C6.3. See SPEC_C6_3.md.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Statements (J260 C6.3 = J258 C6.3; see SPEC_C6_3.md for wording sources and confidence):
C6.3.1 recall that some reactions may be reversed by altering the reaction conditions, including: reversible reactions are shown by the symbol ⇌; reversible reactions (in closed systems) do not reach 100% yield (wording from an OCR Combined Science B resource extract; high).
C6.3.2 recall that dynamic equilibrium occurs when the rates of forward and reverse reactions are equal (wording from an OCR B revision extract; high).
C6.3.3 HT predict the effect of changing reaction conditions (concentration, temperature and pressure) on equilibrium position and suggest appropriate conditions to produce as much of a particular product as possible (wording from an RSC teaching-notes extract tagged OCR Combined Science B C6.3; medium–high). Students use Le Chatelier's principle qualitatively.
HT marker: the bold type in the J260 document could not be seen. C6.3.3 is treated as Higher only, as in every GCSE board (AQA "HT only", OCR Gateway) and the J258 structure (UNVERIFIED for J260). C6.3.1 and C6.3.2 are taught to both 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C6 has three sub-topics: C6.1 acids, C6.2 rates, C6.3 yield (OCR specification at a glance via search; docbrown combined page; SPEC_C6_1.md reached the same list). J258 Chemistry B also has C6.4 How are chemicals made on an industrial scale?, marked "separate science only" in the OCR Chapter C6 scheme of work.
Overlap control: collision theory, rate graphs and how catalysts work are C6.2 (only one line here: a catalyst does not change the position of equilibrium). Acids, neutralisation and salts are C6.1 (starter question only). Atom economy, percentage yield calculations and the details of industrial processes are J258 C6.4 and are not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Nitrogen (about 78%). Carbon dioxide / water vapour / carbon monoxide / sulfur dioxide / nitrogen oxides (C1).
2. NH₃ and N₂; 4 atoms (1 N + 3 H) (C2).
3. 1.0 mol of HCl (1 : 2 ratio) (C5.2; equation atom-balanced in node).
4. Copper(II) sulfate (C6.1, recap only). Link: its hydrated crystals are used in today's practical.
5. Particles move faster and have more energy, so they collide more often and more collisions have enough energy to react (C6.2, recap only).
6. Exothermic: transfers energy to the surroundings (temperature rises). Endothermic: takes in energy from the surroundings (temperature falls). Needed for the HT temperature rule on slide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white powder turns blue; the tube gets warm/hot because the reverse (rehydration) reaction is exothermic.
C6.3.1 first part ("some reactions may be reversed by altering the reaction conditions; reversible reactions are shown by the symbol ⇌"). Equations atom-balanced in node (the hydrate is checked as CuSO₄ + 5H₂O units). The dot in CuSO₄·5H₂O shows water of crystallisation; this is not required by the J260 statement and is used only as notation.
NH₄Cl demonstration (teacher or careful student work): ammonium chloride is HARMFUL if swallowed and an eye IRRITANT; ammonia and hydrogen chloride gases are both irritant/corrosive: heat only a small amount (one spatula tip), in a well-ventilated room, with eye protection. The solid re-forms on the cooler upper part of the tube.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So that the temperature rise measured is caused by the reaction, not by a hot basin, and so that the water does not boil and spit. The reverse reaction (anhydrous + water → hydrated) is exothermic: it transfers the same amount of energy to the surroundings as the forward reaction took in.
SUGGESTED PRACTICAL: no OCR PAG covers C6.3. The Combined Science chemistry PAGs are C1 electrolysis, C2 distillation, C3 separation, C4 production of salts (C6.1) and C5 rates (C6.2), see SPEC_C6_1.md. This is a different practical from the C5.1 copper sulfate crystals (PAG C4): here the salt is dehydrated and rehydrated to show a reversible reaction.
CLEAPSS-style hazards (Hazcard 27C): copper(II) sulfate, hydrated or anhydrous, is HARMFUL if swallowed, causes serious eye irritation and skin irritation, and is very toxic to aquatic life: do not pour down the sink in quantity. Heat gently: above about 600 °C it decomposes, giving toxic sulfur oxides. Hot basin: use tongs, cool on a heat-resistant mat. Adding water to warm anhydrous solid can spit: add drop by drop. Eye protection throughout.
Worked example values asserted (2.50 g, 0.90 g). Temperature rise 20.5 → 31.0 °C = 10.5 °C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2.50 − 2.20 = 0.30 g. It levels off because all the water of crystallisation has been driven off, so no more mass can be lost (constant mass, 1.60 g). 5.00 g would give twice as much: 3.20 g (5.00 × 159.6 ÷ 249.6 = 3.197).
Illustrative data asserted in node: masses never increase; constant at 1.60 g from 10 min; theory 2.50 × 159.6 ÷ 249.6 = 1.599 → 1.60 g (Mr CuSO₄ = 159.6, CuSO₄·5H₂O = 249.6, Ar to 1 d.p.); water 0.90 g = 36.0% (theory 5 × 18.0 ÷ 249.6 = 36.1%). The curve is a smooth curve through the points (Catmull-Rom), axes to scale; the y-axis starts at 1.4 g (marked).
GRADE 7–9 STRETCH (HT, links C5.2): moles of water 0.90 ÷ 18.0 = 0.0500; moles of CuSO₄ 1.60 ÷ 159.6 = 0.0100; ratio 5.0 : 1, so the formula is CuSO₄·5H₂O.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[2]: The reaction is reversible (1); it can go in both directions / products can turn back into reactants (1).
Q2 [2]: Blue crystals turn to a white powder (and steam is given off) (1); with water the white powder turns blue again and gets hot (1).
Q3 [2]: The reverse reaction is exothermic / transfers the same amount of energy to the surroundings (1); the temperature rose (from 20.5 °C to 31.0 °C) when water was added (1).
Q4 [2]: Constant mass shows all the water has been removed / the reaction is complete (1); in moist air the reverse reaction happens: the powder takes in water and the mass rises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Maximum = 2.0 mol of HI (1 : 2). 1.56 ÷ 2.0 × 100 = 78%. The reaction is reversible, so some HI is always breaking down again.
C6.3.1 second part ("reversible reactions (in closed systems) do not reach 100% yield"). Values asserted in node: max 2.0 mol NH₃; 0.60 ÷ 2.0 = 30%; N₂ left 0.7 mol, H₂ left 2.1 mol (the particle picture is simplified, not to scale). Bars drawn to scale (2.0 and 0.60 mol). The ratio work is Foundation-friendly (from the balanced equation); moles calculations in C5.2 are HT. Percentage yield calculations from masses and atom economy are J258 C6.4 (separate only) and are not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 The reaction has not stopped: the forward and reverse reactions are both still happening, at the same rate (dynamic). (2) The amounts are constant, not necessarily equal (here 0.60 mol NH₃ and 0.70 mol N₂ and 2.10 mol H₂).
C6.3.2 "recall that dynamic equilibrium occurs when the rates of forward and reverse reactions are equal". Lower-graph data asserted in node (NH₃ 0, 0.36, 0.50, 0.57, 0.60, 0.60, 0.60 mol; N₂ = 1.0 − NH₃ ÷ 2), linked to slide 9. The rate curves are qualitative (no scale), drawn as forward 0.4 + 0.6e^(−t/2.2) and reverse 0.4(1 − e^(−t/2.2)); they become equal as equilibrium is reached.
Analogy for class: an up and a down escalator with people moving at the same rate: the number on each floor stays constant although people keep moving. Link to C6.2: "rate" here is how fast each reaction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As products form, they react to re-form the reactants / the reverse reaction happens (1); so not all reactants can be converted to products (equilibrium is reached with reactants still present) (1).
Q2 [2]: The forward and reverse reactions happen at the same rate (1); both reactions are still happening / the amounts of reactants and products stay constant (1).
Q3 [2]: 4.0 mol (1 : 2 ratio) (1); the reaction is reversible / reaches equilibrium, so some NH₃ breaks down again (1).
Q4 [2]: It is an open system / carbon dioxide gas escapes (1); so CO₂ cannot react with CaO to re-form CaCO₃ (no reverse reaction / no equilibrium)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The equilibrium shifts right to use up the extra oxygen, so more SO₃ forms. (b) It shifts right to replace the SO₃, so more SO₃ is made overall.
HT ONLY (C6.3.3; HT marker UNVERIFIED for J260, see SPEC). Equations atom- and charge-balanced in node (Fe³⁺ + SCN⁻: charge +3 − 1 = +2).
Demonstration (RSC-style "effect of concentration on equilibrium"): dilute iron(III) chloride and potassium thiocyanate solutions. CLEAPSS-style hazards: iron(III) chloride solution (dilute, about 0.1 mol/dm³) is an eye and skin IRRITANT; potassium thiocyanate (solid HARMFUL; contact with acids gives very toxic gas: keep away from acids); dilute solutions are LOW HAZARD; wear eye protection. Fe³⁺ can be removed by adding a little sodium fluoride or disodium hydrogenphosphate solution (teacher choice); the colour goes paler.
The name "Le Chatelier" is helpful but students can simply state that the equilibrium shifts to oppose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More hydrogen. Raising the temperature shifts the equilibrium in the endothermic direction, which is the forward direction here (to the right).
HT ONLY (C6.3.3). Equations atom-balanced in node. The tube colours are drawn as brown with decreasing transparency (ice palest, hot darkest).
DEMONSTRATION ONLY: nitrogen dioxide is VERY TOXIC by inhalation (CLEAPSS: fatal if inhaled). Use commercially sealed tubes or tubes prepared and sealed by a technician following CLEAPSS guidance; check for cracks before use; do not heat directly in a flame (use a beaker of hot water). Eye protection.
Common error: saying "heating shifts it right" without checking whether the forward reaction is exothermic or endothermic.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[2]: The position of equilibrium shifts / moves (1); in the direction that opposes / counteracts the change (1).
Q2 [2]: More ethanol / equilibrium shifts right (1); to use up the added steam (water) (1).
Q3 [2]: Heating shifts the equilibrium left / more NO₂ forms (1); heating favours the endothermic direction, so the reverse is endothermic and the forward is exothermic (1).
Q4 [2]: Lower temperature (1); a decrease in temperature favours the exothermic / forward direction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No effect: 2 gas molecules on each side. (b) More ethanol: 2 gas molecules on the left, 1 on the right, so higher pressure shifts the equilibrium right.
HT ONLY (C6.3.3). Molecule counts computed in node from the balanced equations (Haber 4 → 2; NO₂ 2 → 1; HI 2 → 2; ethanol 2 → 1; SO₃ 3 → 2; methanol 3 → 1). Syringe particle picture asserted: before 6 NO₂ + 2 N₂O₄ (N 10, O 20) = after 2 NO₂ + 4 N₂O₄ (N 10, O 20), so atoms are conserved while the number of molecules falls from 8 to 6.
Demonstration note: when the syringe is first compressed the colour darkens (same molecules in less space), then becomes paler as the equilibrium shifts right. Nitrogen dioxide VERY TOXIC: sealed apparatus, teacher demonstration only.
The catalyst line is a link to C6.2 only; how catalysts work is taught in C6.2.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350 °C and 400 atm (about 64%). At 550 °C and 400 atm: about 22%. There are 4 gas molecules on the left and 2 on the right, so a higher pressure shifts the equilibrium to the right (fewer molecules), giving more ammonia.
HT ONLY (C6.3.3 "suggest appropriate conditions to produce as much of a particular product as possible"). Graph data are ILLUSTRATIVE, rounded to whole percentages from the shape of commonly published Haber equilibrium curves, and asserted in node to rise with pressure and fall with temperature (350 °C: 25, 37, 50, 58, 64%; 450 °C: 9, 16, 28, 36, 42%; 550 °C: 4, 7, 13, 18, 22% at 50, 100, 200, 300, 400 atm). Plotted to scale with smooth curves through the points.
The rate–yield compromise (about 450 °C, about 200 atm, iron catalyst) belongs to J258 C6.4 (separate only), so it appears only as a GRADE 7–9 STRETCH line and is not examined here (UNVERIFIED whether J260 C6.3 expects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3 gas molecules on the left, 2 on the right (1); so the equilibrium shifts right / to fewer molecules, giving more SO₃ (1).
Q2 [2]: Same number of gas molecules on each side / 2 and 2 (1); so neither direction reduces the number of molecules / the position does not change (1).
Q3 [2]: No change to the yield / position of equilibrium (1); equilibrium is reached faster / sooner (1).
Q4 [2]: 36 − 16 = 20 (percentage points) (1); higher pressure favours the side with fewer gas molecules (4 → 2), the ammonia side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Terms marked (HT) are Higher tier only. Rate words (collision, activation energy) belong to C6.2; atom economy and percentage yield calculations belong to J258 C6.4 and are not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[1]: The reaction is reversible / can go in both directions (1).
(b) [2]: The reaction is reversible / SO₃ breaks down into SO₂ and O₂ (1); in a closed system equilibrium is reached with some reactants still present (1).
(c) [2]: Forward and reverse reactions both continue at the same rate (1); the amount of SO₃ stays constant (1).
(d) [3]: More SO₃ / equilibrium shifts right (1); there are 3 gas molecules on the left and 2 on the right (1); higher pressure favours the side with fewer gas molecules (1).
(e) [3]: Higher temperature gives less SO₃ (98% → 76%, a fall of 22 percentage points) (1); increasing temperature shifts the equilibrium in the endothermic direction (1); the reverse reaction is endothermic, so the equilibrium shifts left (1).
(f) [2]: No effect on the yield / position of equilibrium (1); equilibrium is reached faster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A reaction that can go in both directions / where the products can react to re-form the reactants (1).
2 [2]: Products react to re-form reactants / the reverse reaction happens (1); so equilibrium is reached with some reactants left (1).
3 [2]: Forward and reverse reactions happen at the same rate (1); amounts / concentrations of reactants and products stay constant (and it is in a closed system) (1).
4 [2]: More methanol / shifts right (1); 3 gas molecules on the left and 1 on the right, so it shifts to fewer molecules (1).
5 [2]: High temperature, because it favours the endothermic / forward direction (1); low pressure, because the right has more gas molecules (4 vs 2) (1).
6 [2]: No (1); a catalyst speeds up the forward and reverse reactions equally, so equilibrium is reached sooner but the position / yield is unchanged (1).
7 [6]: OCR level-of-response mark scheme (6 marks). Read the whole answer, decide the level from the content descriptor, then the mark within the level from the quality of the line of reasoning. Use the indicative scientific points below.
Level 3 (5–6 marks): Describes a clear, safe method for BOTH directions (heating to constant mass AND adding water with a temperature measurement) AND gives the observations AND explains how they show the reaction is reversible, including the energy changes. There is a well-developed line of reasoning which is clear and logically structured. The information presented is relevant and substantiated.
Level 2 (3–4 marks): Describes a method for both directions with some observations, OR one direction in detail with an explanation of reversibility. There is a line of reasoning presented with some structure. The information presented is relevant and supported by some evidence.
Level 1 (1–2 marks): Simple statements, e.g. "heat the crystals and they go white" or "add water and it goes blue". There is an attempt at a logical structure with a line of reasoning. The information is in the most part relevant.
0 marks: no response or no response worthy of credit.
Indicative scientific points may include:
 • Weigh an empty evaporating basin; add blue hydrated copper(II) sulfate and reweigh.
 • Heat gently (Bunsen, tripod, gauze), stirring; cool and reweigh every few minutes; repeat until constant mass.
 • Observations: blue crystals turn to a white powder; steam / water vapour is given off; the mass decreases.
 • Cool the white powder fully, add water drop by drop, measure the temperature with a thermometer.
 • Observations: the powder turns blue again; the temperature rises (it gets hot), so the reverse reaction is exothermic and the forward reaction is endothermic.
 • This shows the reaction is reversible: CuSO₄·5H₂O ⇌ CuSO₄ + 5H₂O; changing the conditions (heating or adding water) changes the direction.
 • Safety: eye protection; copper(II) sulfate is harmful if swallowed and an irritant; heat gently to avoid spitting and decomposition; hot basin, use tongs; add water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A47"/>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5B3A8C"/>
          </a:solidFill>
          <a:ln w="12700">
            <a:solidFill>
              <a:srgbClr val="5B3A8C"/>
            </a:solidFill>
            <a:prstDash val="solid"/>
          </a:ln>
        </p:spPr>
      </p:sp>
      <p:sp>
        <p:nvSpPr>
          <p:cNvPr id="3" name="Shape 1"/>
          <p:cNvSpPr/>
          <p:nvPr/>
        </p:nvSpPr>
        <p:spPr>
          <a:xfrm>
            <a:off x="9326880" y="2377440"/>
            <a:ext cx="4937760" cy="4937760"/>
          </a:xfrm>
          <a:prstGeom prst="ellipse">
            <a:avLst/>
          </a:prstGeom>
          <a:solidFill>
            <a:srgbClr val="7A52B3">
              <a:alpha val="85000"/>
            </a:srgbClr>
          </a:solidFill>
          <a:ln w="12700">
            <a:solidFill>
              <a:srgbClr val="7A52B3"/>
            </a:solidFill>
            <a:prstDash val="solid"/>
          </a:ln>
        </p:spPr>
      </p:sp>
      <p:sp>
        <p:nvSpPr>
          <p:cNvPr id="4" name="Shape 2"/>
          <p:cNvSpPr/>
          <p:nvPr/>
        </p:nvSpPr>
        <p:spPr>
          <a:xfrm>
            <a:off x="0" y="0"/>
            <a:ext cx="164592" cy="6858000"/>
          </a:xfrm>
          <a:prstGeom prst="rect">
            <a:avLst/>
          </a:prstGeom>
          <a:solidFill>
            <a:srgbClr val="7A52B3"/>
          </a:solidFill>
          <a:ln w="12700">
            <a:solidFill>
              <a:srgbClr val="7A52B3"/>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CDB8F0"/>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C6.3  Equilibrium and yield</a:t>
            </a:r>
            <a:endParaRPr lang="en-US" sz="4000" dirty="0"/>
          </a:p>
        </p:txBody>
      </p:sp>
      <p:sp>
        <p:nvSpPr>
          <p:cNvPr id="7" name="Text 5"/>
          <p:cNvSpPr/>
          <p:nvPr/>
        </p:nvSpPr>
        <p:spPr>
          <a:xfrm>
            <a:off x="731520" y="2377440"/>
            <a:ext cx="6766560" cy="457200"/>
          </a:xfrm>
          <a:prstGeom prst="rect">
            <a:avLst/>
          </a:prstGeom>
          <a:noFill/>
          <a:ln/>
        </p:spPr>
        <p:txBody>
          <a:bodyPr wrap="square" lIns="0" tIns="0" rIns="0" bIns="0" rtlCol="0" anchor="ctr"/>
          <a:lstStyle/>
          <a:p>
            <a:pPr indent="0" marL="0">
              <a:buNone/>
            </a:pPr>
            <a:r>
              <a:rPr lang="en-US" sz="1600" i="1" dirty="0">
                <a:solidFill>
                  <a:srgbClr val="DCCDF3"/>
                </a:solidFill>
                <a:latin typeface="Georgia" pitchFamily="34" charset="0"/>
                <a:ea typeface="Georgia" pitchFamily="34" charset="-122"/>
                <a:cs typeface="Georgia" pitchFamily="34" charset="-120"/>
              </a:rPr>
              <a:t>What factors affect the yield of chemical reactions?</a:t>
            </a:r>
            <a:endParaRPr lang="en-US" sz="16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E4DAF5"/>
                </a:solidFill>
                <a:latin typeface="Calibri" pitchFamily="34" charset="0"/>
                <a:ea typeface="Calibri" pitchFamily="34" charset="-122"/>
                <a:cs typeface="Calibri" pitchFamily="34" charset="-120"/>
              </a:rPr>
              <a:t>Reversible reaction  •  Closed system  •  Dynamic equilibrium  •  Position of equilibrium  •  Yield</a:t>
            </a:r>
            <a:endParaRPr lang="en-US" sz="1300" dirty="0"/>
          </a:p>
        </p:txBody>
      </p:sp>
      <p:sp>
        <p:nvSpPr>
          <p:cNvPr id="10" name="Shape 8"/>
          <p:cNvSpPr/>
          <p:nvPr/>
        </p:nvSpPr>
        <p:spPr>
          <a:xfrm>
            <a:off x="731520" y="3886200"/>
            <a:ext cx="457200" cy="457200"/>
          </a:xfrm>
          <a:prstGeom prst="ellipse">
            <a:avLst/>
          </a:prstGeom>
          <a:solidFill>
            <a:srgbClr val="7A52B3"/>
          </a:solidFill>
          <a:ln w="12700">
            <a:solidFill>
              <a:srgbClr val="CD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C6.3.1–C6.3.3 • reversible reactions, closed systems, dynamic equilibrium, changing conditions</a:t>
            </a:r>
            <a:endParaRPr lang="en-US" sz="1400" dirty="0"/>
          </a:p>
        </p:txBody>
      </p:sp>
      <p:sp>
        <p:nvSpPr>
          <p:cNvPr id="13" name="Shape 11"/>
          <p:cNvSpPr/>
          <p:nvPr/>
        </p:nvSpPr>
        <p:spPr>
          <a:xfrm>
            <a:off x="731520" y="4507992"/>
            <a:ext cx="457200" cy="457200"/>
          </a:xfrm>
          <a:prstGeom prst="ellipse">
            <a:avLst/>
          </a:prstGeom>
          <a:solidFill>
            <a:srgbClr val="7A52B3"/>
          </a:solidFill>
          <a:ln w="12700">
            <a:solidFill>
              <a:srgbClr val="CD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concentration, temperature and pressure effects marked HT</a:t>
            </a:r>
            <a:endParaRPr lang="en-US" sz="1400" dirty="0"/>
          </a:p>
        </p:txBody>
      </p:sp>
      <p:sp>
        <p:nvSpPr>
          <p:cNvPr id="16" name="Shape 14"/>
          <p:cNvSpPr/>
          <p:nvPr/>
        </p:nvSpPr>
        <p:spPr>
          <a:xfrm>
            <a:off x="731520" y="5129784"/>
            <a:ext cx="457200" cy="457200"/>
          </a:xfrm>
          <a:prstGeom prst="ellipse">
            <a:avLst/>
          </a:prstGeom>
          <a:solidFill>
            <a:srgbClr val="7A52B3"/>
          </a:solidFill>
          <a:ln w="12700">
            <a:solidFill>
              <a:srgbClr val="CD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Suggested practical: the reversible dehydration of hydrated copper(II) sulfate • data verified</a:t>
            </a:r>
            <a:endParaRPr lang="en-US" sz="1400" dirty="0"/>
          </a:p>
        </p:txBody>
      </p:sp>
      <p:sp>
        <p:nvSpPr>
          <p:cNvPr id="19" name="Shape 17"/>
          <p:cNvSpPr/>
          <p:nvPr/>
        </p:nvSpPr>
        <p:spPr>
          <a:xfrm>
            <a:off x="731520" y="5769864"/>
            <a:ext cx="4800600" cy="365760"/>
          </a:xfrm>
          <a:prstGeom prst="roundRect">
            <a:avLst>
              <a:gd name="adj" fmla="val 50000"/>
            </a:avLst>
          </a:prstGeom>
          <a:solidFill>
            <a:srgbClr val="22133A"/>
          </a:solidFill>
          <a:ln w="15875">
            <a:solidFill>
              <a:srgbClr val="F5A742"/>
            </a:solidFill>
            <a:prstDash val="solid"/>
          </a:ln>
        </p:spPr>
      </p:sp>
      <p:sp>
        <p:nvSpPr>
          <p:cNvPr id="20" name="Text 18"/>
          <p:cNvSpPr/>
          <p:nvPr/>
        </p:nvSpPr>
        <p:spPr>
          <a:xfrm>
            <a:off x="731520" y="5769864"/>
            <a:ext cx="4800600"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3 of 3 in Chapter C6: Making useful chemicals</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DDD0F2"/>
                </a:solidFill>
                <a:latin typeface="Calibri" pitchFamily="34" charset="0"/>
                <a:ea typeface="Calibri" pitchFamily="34" charset="-122"/>
                <a:cs typeface="Calibri" pitchFamily="34" charset="-120"/>
              </a:rPr>
              <a:t>OCR J260 Combined Science B • C6.3 what factors affect the yield of chemical reactions • teacher deck • mark schemes in the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C6.3.1–C6.3.3 • by the end of this sub-topic you can…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6A3FA0"/>
          </a:solidFill>
          <a:ln w="12700">
            <a:solidFill>
              <a:srgbClr val="6A3FA0"/>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C6.3.1   </a:t>
            </a:r>
            <a:r>
              <a:rPr lang="en-US" sz="1200" dirty="0">
                <a:solidFill>
                  <a:srgbClr val="262B3A"/>
                </a:solidFill>
                <a:latin typeface="Calibri" pitchFamily="34" charset="0"/>
                <a:ea typeface="Calibri" pitchFamily="34" charset="-122"/>
                <a:cs typeface="Calibri" pitchFamily="34" charset="-120"/>
              </a:rPr>
              <a:t>Recall that some reactions can be </a:t>
            </a:r>
            <a:r>
              <a:rPr lang="en-US" sz="1200" b="1" dirty="0">
                <a:solidFill>
                  <a:srgbClr val="262B3A"/>
                </a:solidFill>
                <a:latin typeface="Calibri" pitchFamily="34" charset="0"/>
                <a:ea typeface="Calibri" pitchFamily="34" charset="-122"/>
                <a:cs typeface="Calibri" pitchFamily="34" charset="-120"/>
              </a:rPr>
              <a:t>reversed</a:t>
            </a:r>
            <a:r>
              <a:rPr lang="en-US" sz="1200" dirty="0">
                <a:solidFill>
                  <a:srgbClr val="262B3A"/>
                </a:solidFill>
                <a:latin typeface="Calibri" pitchFamily="34" charset="0"/>
                <a:ea typeface="Calibri" pitchFamily="34" charset="-122"/>
                <a:cs typeface="Calibri" pitchFamily="34" charset="-120"/>
              </a:rPr>
              <a:t> by changing the </a:t>
            </a:r>
            <a:r>
              <a:rPr lang="en-US" sz="1200" b="1" dirty="0">
                <a:solidFill>
                  <a:srgbClr val="262B3A"/>
                </a:solidFill>
                <a:latin typeface="Calibri" pitchFamily="34" charset="0"/>
                <a:ea typeface="Calibri" pitchFamily="34" charset="-122"/>
                <a:cs typeface="Calibri" pitchFamily="34" charset="-120"/>
              </a:rPr>
              <a:t>conditions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1" name="Shape 9"/>
          <p:cNvSpPr/>
          <p:nvPr/>
        </p:nvSpPr>
        <p:spPr>
          <a:xfrm>
            <a:off x="502920" y="2194560"/>
            <a:ext cx="457200" cy="457200"/>
          </a:xfrm>
          <a:prstGeom prst="ellipse">
            <a:avLst/>
          </a:prstGeom>
          <a:solidFill>
            <a:srgbClr val="6A3FA0"/>
          </a:solidFill>
          <a:ln w="12700">
            <a:solidFill>
              <a:srgbClr val="6A3FA0"/>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C6.3.1   </a:t>
            </a:r>
            <a:r>
              <a:rPr lang="en-US" sz="1200" dirty="0">
                <a:solidFill>
                  <a:srgbClr val="262B3A"/>
                </a:solidFill>
                <a:latin typeface="Calibri" pitchFamily="34" charset="0"/>
                <a:ea typeface="Calibri" pitchFamily="34" charset="-122"/>
                <a:cs typeface="Calibri" pitchFamily="34" charset="-120"/>
              </a:rPr>
              <a:t>Use the </a:t>
            </a:r>
            <a:r>
              <a:rPr lang="en-US" sz="1200" b="1" dirty="0">
                <a:solidFill>
                  <a:srgbClr val="262B3A"/>
                </a:solidFill>
                <a:latin typeface="Calibri" pitchFamily="34" charset="0"/>
                <a:ea typeface="Calibri" pitchFamily="34" charset="-122"/>
                <a:cs typeface="Calibri" pitchFamily="34" charset="-120"/>
              </a:rPr>
              <a:t>⇌</a:t>
            </a:r>
            <a:r>
              <a:rPr lang="en-US" sz="1200" dirty="0">
                <a:solidFill>
                  <a:srgbClr val="262B3A"/>
                </a:solidFill>
                <a:latin typeface="Calibri" pitchFamily="34" charset="0"/>
                <a:ea typeface="Calibri" pitchFamily="34" charset="-122"/>
                <a:cs typeface="Calibri" pitchFamily="34" charset="-120"/>
              </a:rPr>
              <a:t> symbol for a </a:t>
            </a:r>
            <a:r>
              <a:rPr lang="en-US" sz="1200" b="1" dirty="0">
                <a:solidFill>
                  <a:srgbClr val="262B3A"/>
                </a:solidFill>
                <a:latin typeface="Calibri" pitchFamily="34" charset="0"/>
                <a:ea typeface="Calibri" pitchFamily="34" charset="-122"/>
                <a:cs typeface="Calibri" pitchFamily="34" charset="-120"/>
              </a:rPr>
              <a:t>reversible reaction</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02920" y="3063240"/>
            <a:ext cx="457200" cy="457200"/>
          </a:xfrm>
          <a:prstGeom prst="ellipse">
            <a:avLst/>
          </a:prstGeom>
          <a:solidFill>
            <a:srgbClr val="6A3FA0"/>
          </a:solidFill>
          <a:ln w="12700">
            <a:solidFill>
              <a:srgbClr val="6A3FA0"/>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C6.3.1   </a:t>
            </a:r>
            <a:r>
              <a:rPr lang="en-US" sz="1200" dirty="0">
                <a:solidFill>
                  <a:srgbClr val="262B3A"/>
                </a:solidFill>
                <a:latin typeface="Calibri" pitchFamily="34" charset="0"/>
                <a:ea typeface="Calibri" pitchFamily="34" charset="-122"/>
                <a:cs typeface="Calibri" pitchFamily="34" charset="-120"/>
              </a:rPr>
              <a:t>Explain why reversible reactions in </a:t>
            </a:r>
            <a:r>
              <a:rPr lang="en-US" sz="1200" b="1" dirty="0">
                <a:solidFill>
                  <a:srgbClr val="262B3A"/>
                </a:solidFill>
                <a:latin typeface="Calibri" pitchFamily="34" charset="0"/>
                <a:ea typeface="Calibri" pitchFamily="34" charset="-122"/>
                <a:cs typeface="Calibri" pitchFamily="34" charset="-120"/>
              </a:rPr>
              <a:t>closed systems</a:t>
            </a:r>
            <a:r>
              <a:rPr lang="en-US" sz="1200" dirty="0">
                <a:solidFill>
                  <a:srgbClr val="262B3A"/>
                </a:solidFill>
                <a:latin typeface="Calibri" pitchFamily="34" charset="0"/>
                <a:ea typeface="Calibri" pitchFamily="34" charset="-122"/>
                <a:cs typeface="Calibri" pitchFamily="34" charset="-120"/>
              </a:rPr>
              <a:t> do </a:t>
            </a:r>
            <a:r>
              <a:rPr lang="en-US" sz="1200" b="1" dirty="0">
                <a:solidFill>
                  <a:srgbClr val="262B3A"/>
                </a:solidFill>
                <a:latin typeface="Calibri" pitchFamily="34" charset="0"/>
                <a:ea typeface="Calibri" pitchFamily="34" charset="-122"/>
                <a:cs typeface="Calibri" pitchFamily="34" charset="-120"/>
              </a:rPr>
              <a:t>not</a:t>
            </a:r>
            <a:r>
              <a:rPr lang="en-US" sz="1200" dirty="0">
                <a:solidFill>
                  <a:srgbClr val="262B3A"/>
                </a:solidFill>
                <a:latin typeface="Calibri" pitchFamily="34" charset="0"/>
                <a:ea typeface="Calibri" pitchFamily="34" charset="-122"/>
                <a:cs typeface="Calibri" pitchFamily="34" charset="-120"/>
              </a:rPr>
              <a:t> reach </a:t>
            </a:r>
            <a:r>
              <a:rPr lang="en-US" sz="1200" b="1" dirty="0">
                <a:solidFill>
                  <a:srgbClr val="262B3A"/>
                </a:solidFill>
                <a:latin typeface="Calibri" pitchFamily="34" charset="0"/>
                <a:ea typeface="Calibri" pitchFamily="34" charset="-122"/>
                <a:cs typeface="Calibri" pitchFamily="34" charset="-120"/>
              </a:rPr>
              <a:t>100% yield</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6263640" y="1325880"/>
            <a:ext cx="457200" cy="457200"/>
          </a:xfrm>
          <a:prstGeom prst="ellipse">
            <a:avLst/>
          </a:prstGeom>
          <a:solidFill>
            <a:srgbClr val="6A3FA0"/>
          </a:solidFill>
          <a:ln w="12700">
            <a:solidFill>
              <a:srgbClr val="6A3FA0"/>
            </a:solidFill>
            <a:prstDash val="solid"/>
          </a:ln>
        </p:spPr>
      </p:sp>
      <p:sp>
        <p:nvSpPr>
          <p:cNvPr id="18" name="Text 16"/>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C6.3.2   </a:t>
            </a:r>
            <a:r>
              <a:rPr lang="en-US" sz="1200" dirty="0">
                <a:solidFill>
                  <a:srgbClr val="262B3A"/>
                </a:solidFill>
                <a:latin typeface="Calibri" pitchFamily="34" charset="0"/>
                <a:ea typeface="Calibri" pitchFamily="34" charset="-122"/>
                <a:cs typeface="Calibri" pitchFamily="34" charset="-120"/>
              </a:rPr>
              <a:t>Recall that </a:t>
            </a:r>
            <a:r>
              <a:rPr lang="en-US" sz="1200" b="1" dirty="0">
                <a:solidFill>
                  <a:srgbClr val="262B3A"/>
                </a:solidFill>
                <a:latin typeface="Calibri" pitchFamily="34" charset="0"/>
                <a:ea typeface="Calibri" pitchFamily="34" charset="-122"/>
                <a:cs typeface="Calibri" pitchFamily="34" charset="-120"/>
              </a:rPr>
              <a:t>dynamic equilibrium</a:t>
            </a:r>
            <a:r>
              <a:rPr lang="en-US" sz="1200" dirty="0">
                <a:solidFill>
                  <a:srgbClr val="262B3A"/>
                </a:solidFill>
                <a:latin typeface="Calibri" pitchFamily="34" charset="0"/>
                <a:ea typeface="Calibri" pitchFamily="34" charset="-122"/>
                <a:cs typeface="Calibri" pitchFamily="34" charset="-120"/>
              </a:rPr>
              <a:t> occurs when the </a:t>
            </a:r>
            <a:r>
              <a:rPr lang="en-US" sz="1200" b="1" dirty="0">
                <a:solidFill>
                  <a:srgbClr val="262B3A"/>
                </a:solidFill>
                <a:latin typeface="Calibri" pitchFamily="34" charset="0"/>
                <a:ea typeface="Calibri" pitchFamily="34" charset="-122"/>
                <a:cs typeface="Calibri" pitchFamily="34" charset="-120"/>
              </a:rPr>
              <a:t>rates</a:t>
            </a:r>
            <a:r>
              <a:rPr lang="en-US" sz="1200" dirty="0">
                <a:solidFill>
                  <a:srgbClr val="262B3A"/>
                </a:solidFill>
                <a:latin typeface="Calibri" pitchFamily="34" charset="0"/>
                <a:ea typeface="Calibri" pitchFamily="34" charset="-122"/>
                <a:cs typeface="Calibri" pitchFamily="34" charset="-120"/>
              </a:rPr>
              <a:t> of the forward and reverse reactions are </a:t>
            </a:r>
            <a:r>
              <a:rPr lang="en-US" sz="1200" b="1" dirty="0">
                <a:solidFill>
                  <a:srgbClr val="262B3A"/>
                </a:solidFill>
                <a:latin typeface="Calibri" pitchFamily="34" charset="0"/>
                <a:ea typeface="Calibri" pitchFamily="34" charset="-122"/>
                <a:cs typeface="Calibri" pitchFamily="34" charset="-120"/>
              </a:rPr>
              <a:t>equal</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6263640" y="2194560"/>
            <a:ext cx="457200" cy="457200"/>
          </a:xfrm>
          <a:prstGeom prst="ellipse">
            <a:avLst/>
          </a:prstGeom>
          <a:solidFill>
            <a:srgbClr val="6A3FA0"/>
          </a:solidFill>
          <a:ln w="12700">
            <a:solidFill>
              <a:srgbClr val="6A3FA0"/>
            </a:solidFill>
            <a:prstDash val="solid"/>
          </a:ln>
        </p:spPr>
      </p:sp>
      <p:sp>
        <p:nvSpPr>
          <p:cNvPr id="21" name="Text 19"/>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C6.3.3   </a:t>
            </a:r>
            <a:r>
              <a:rPr lang="en-US" sz="1200" dirty="0">
                <a:solidFill>
                  <a:srgbClr val="262B3A"/>
                </a:solidFill>
                <a:latin typeface="Calibri" pitchFamily="34" charset="0"/>
                <a:ea typeface="Calibri" pitchFamily="34" charset="-122"/>
                <a:cs typeface="Calibri" pitchFamily="34" charset="-120"/>
              </a:rPr>
              <a:t>Predict the effect of changing </a:t>
            </a:r>
            <a:r>
              <a:rPr lang="en-US" sz="1200" b="1" dirty="0">
                <a:solidFill>
                  <a:srgbClr val="262B3A"/>
                </a:solidFill>
                <a:latin typeface="Calibri" pitchFamily="34" charset="0"/>
                <a:ea typeface="Calibri" pitchFamily="34" charset="-122"/>
                <a:cs typeface="Calibri" pitchFamily="34" charset="-120"/>
              </a:rPr>
              <a:t>concentration</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temperature</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pressure</a:t>
            </a:r>
            <a:r>
              <a:rPr lang="en-US" sz="1200" dirty="0">
                <a:solidFill>
                  <a:srgbClr val="262B3A"/>
                </a:solidFill>
                <a:latin typeface="Calibri" pitchFamily="34" charset="0"/>
                <a:ea typeface="Calibri" pitchFamily="34" charset="-122"/>
                <a:cs typeface="Calibri" pitchFamily="34" charset="-120"/>
              </a:rPr>
              <a:t> on the </a:t>
            </a:r>
            <a:r>
              <a:rPr lang="en-US" sz="1200" b="1" dirty="0">
                <a:solidFill>
                  <a:srgbClr val="262B3A"/>
                </a:solidFill>
                <a:latin typeface="Calibri" pitchFamily="34" charset="0"/>
                <a:ea typeface="Calibri" pitchFamily="34" charset="-122"/>
                <a:cs typeface="Calibri" pitchFamily="34" charset="-120"/>
              </a:rPr>
              <a:t>position of equilibrium</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3" name="Shape 21"/>
          <p:cNvSpPr/>
          <p:nvPr/>
        </p:nvSpPr>
        <p:spPr>
          <a:xfrm>
            <a:off x="11018520" y="2633472"/>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018520" y="263347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Shape 23"/>
          <p:cNvSpPr/>
          <p:nvPr/>
        </p:nvSpPr>
        <p:spPr>
          <a:xfrm>
            <a:off x="6263640" y="3063240"/>
            <a:ext cx="457200" cy="457200"/>
          </a:xfrm>
          <a:prstGeom prst="ellipse">
            <a:avLst/>
          </a:prstGeom>
          <a:solidFill>
            <a:srgbClr val="6A3FA0"/>
          </a:solidFill>
          <a:ln w="12700">
            <a:solidFill>
              <a:srgbClr val="6A3FA0"/>
            </a:solidFill>
            <a:prstDash val="solid"/>
          </a:ln>
        </p:spPr>
      </p:sp>
      <p:sp>
        <p:nvSpPr>
          <p:cNvPr id="26" name="Text 24"/>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7" name="Text 25"/>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C6.3.3   </a:t>
            </a:r>
            <a:r>
              <a:rPr lang="en-US" sz="1200" dirty="0">
                <a:solidFill>
                  <a:srgbClr val="262B3A"/>
                </a:solidFill>
                <a:latin typeface="Calibri" pitchFamily="34" charset="0"/>
                <a:ea typeface="Calibri" pitchFamily="34" charset="-122"/>
                <a:cs typeface="Calibri" pitchFamily="34" charset="-120"/>
              </a:rPr>
              <a:t>Suggest </a:t>
            </a:r>
            <a:r>
              <a:rPr lang="en-US" sz="1200" b="1" dirty="0">
                <a:solidFill>
                  <a:srgbClr val="262B3A"/>
                </a:solidFill>
                <a:latin typeface="Calibri" pitchFamily="34" charset="0"/>
                <a:ea typeface="Calibri" pitchFamily="34" charset="-122"/>
                <a:cs typeface="Calibri" pitchFamily="34" charset="-120"/>
              </a:rPr>
              <a:t>conditions</a:t>
            </a:r>
            <a:r>
              <a:rPr lang="en-US" sz="1200" dirty="0">
                <a:solidFill>
                  <a:srgbClr val="262B3A"/>
                </a:solidFill>
                <a:latin typeface="Calibri" pitchFamily="34" charset="0"/>
                <a:ea typeface="Calibri" pitchFamily="34" charset="-122"/>
                <a:cs typeface="Calibri" pitchFamily="34" charset="-120"/>
              </a:rPr>
              <a:t> that produce </a:t>
            </a:r>
            <a:r>
              <a:rPr lang="en-US" sz="1200" b="1" dirty="0">
                <a:solidFill>
                  <a:srgbClr val="262B3A"/>
                </a:solidFill>
                <a:latin typeface="Calibri" pitchFamily="34" charset="0"/>
                <a:ea typeface="Calibri" pitchFamily="34" charset="-122"/>
                <a:cs typeface="Calibri" pitchFamily="34" charset="-120"/>
              </a:rPr>
              <a:t>as much product as possible</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8" name="Shape 26"/>
          <p:cNvSpPr/>
          <p:nvPr/>
        </p:nvSpPr>
        <p:spPr>
          <a:xfrm>
            <a:off x="11018520" y="3502152"/>
            <a:ext cx="411480" cy="274320"/>
          </a:xfrm>
          <a:prstGeom prst="roundRect">
            <a:avLst>
              <a:gd name="adj" fmla="val 50000"/>
            </a:avLst>
          </a:prstGeom>
          <a:solidFill>
            <a:srgbClr val="C8414C"/>
          </a:solidFill>
          <a:ln w="12700">
            <a:solidFill>
              <a:srgbClr val="C8414C"/>
            </a:solidFill>
            <a:prstDash val="solid"/>
          </a:ln>
        </p:spPr>
      </p:sp>
      <p:sp>
        <p:nvSpPr>
          <p:cNvPr id="29" name="Text 27"/>
          <p:cNvSpPr/>
          <p:nvPr/>
        </p:nvSpPr>
        <p:spPr>
          <a:xfrm>
            <a:off x="11018520" y="3502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Chapter C6 Making useful chemicals • C6.3 is Part 3 of 3 in Combined Science B</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2A1F3D"/>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C6.3</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Equilibrium and yield</a:t>
            </a:r>
            <a:endParaRPr lang="en-US" sz="1100" dirty="0"/>
          </a:p>
        </p:txBody>
      </p:sp>
      <p:sp>
        <p:nvSpPr>
          <p:cNvPr id="10" name="Shape 8"/>
          <p:cNvSpPr/>
          <p:nvPr/>
        </p:nvSpPr>
        <p:spPr>
          <a:xfrm>
            <a:off x="914400" y="1920240"/>
            <a:ext cx="91" cy="3758184"/>
          </a:xfrm>
          <a:prstGeom prst="line">
            <a:avLst/>
          </a:prstGeom>
          <a:noFill/>
          <a:ln w="19050">
            <a:solidFill>
              <a:srgbClr val="6A3FA0"/>
            </a:solidFill>
            <a:prstDash val="solid"/>
          </a:ln>
        </p:spPr>
      </p:sp>
      <p:sp>
        <p:nvSpPr>
          <p:cNvPr id="11" name="Shape 9"/>
          <p:cNvSpPr/>
          <p:nvPr/>
        </p:nvSpPr>
        <p:spPr>
          <a:xfrm>
            <a:off x="914400" y="2386584"/>
            <a:ext cx="411480" cy="91"/>
          </a:xfrm>
          <a:prstGeom prst="line">
            <a:avLst/>
          </a:prstGeom>
          <a:noFill/>
          <a:ln w="19050">
            <a:solidFill>
              <a:srgbClr val="6A3FA0"/>
            </a:solidFill>
            <a:prstDash val="solid"/>
          </a:ln>
        </p:spPr>
      </p:sp>
      <p:sp>
        <p:nvSpPr>
          <p:cNvPr id="12" name="Shape 10"/>
          <p:cNvSpPr/>
          <p:nvPr/>
        </p:nvSpPr>
        <p:spPr>
          <a:xfrm>
            <a:off x="1325880" y="2103120"/>
            <a:ext cx="5120640" cy="566928"/>
          </a:xfrm>
          <a:prstGeom prst="roundRect">
            <a:avLst>
              <a:gd name="adj" fmla="val 8065"/>
            </a:avLst>
          </a:prstGeom>
          <a:solidFill>
            <a:srgbClr val="F8F5FC"/>
          </a:solidFill>
          <a:ln w="12700">
            <a:solidFill>
              <a:srgbClr val="DDD3EC"/>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C6.3.1   </a:t>
            </a:r>
            <a:r>
              <a:rPr lang="en-US" sz="1100" dirty="0">
                <a:solidFill>
                  <a:srgbClr val="262B3A"/>
                </a:solidFill>
                <a:latin typeface="Calibri" pitchFamily="34" charset="0"/>
                <a:ea typeface="Calibri" pitchFamily="34" charset="-122"/>
                <a:cs typeface="Calibri" pitchFamily="34" charset="-120"/>
              </a:rPr>
              <a:t>Reversible reactions and the ⇌ symbol</a:t>
            </a:r>
            <a:endParaRPr lang="en-US" sz="1100" dirty="0"/>
          </a:p>
        </p:txBody>
      </p:sp>
      <p:sp>
        <p:nvSpPr>
          <p:cNvPr id="14" name="Shape 12"/>
          <p:cNvSpPr/>
          <p:nvPr/>
        </p:nvSpPr>
        <p:spPr>
          <a:xfrm>
            <a:off x="5257800" y="2249424"/>
            <a:ext cx="1097280" cy="274320"/>
          </a:xfrm>
          <a:prstGeom prst="roundRect">
            <a:avLst>
              <a:gd name="adj" fmla="val 50000"/>
            </a:avLst>
          </a:prstGeom>
          <a:solidFill>
            <a:srgbClr val="6A3FA0"/>
          </a:solidFill>
          <a:ln w="12700">
            <a:solidFill>
              <a:srgbClr val="6A3FA0"/>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6A3FA0"/>
            </a:solidFill>
            <a:prstDash val="solid"/>
          </a:ln>
        </p:spPr>
      </p:sp>
      <p:sp>
        <p:nvSpPr>
          <p:cNvPr id="17" name="Shape 15"/>
          <p:cNvSpPr/>
          <p:nvPr/>
        </p:nvSpPr>
        <p:spPr>
          <a:xfrm>
            <a:off x="1325880" y="2761488"/>
            <a:ext cx="5120640" cy="566928"/>
          </a:xfrm>
          <a:prstGeom prst="roundRect">
            <a:avLst>
              <a:gd name="adj" fmla="val 8065"/>
            </a:avLst>
          </a:prstGeom>
          <a:solidFill>
            <a:srgbClr val="F8F5FC"/>
          </a:solidFill>
          <a:ln w="12700">
            <a:solidFill>
              <a:srgbClr val="DDD3EC"/>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Practical   </a:t>
            </a:r>
            <a:r>
              <a:rPr lang="en-US" sz="1100" dirty="0">
                <a:solidFill>
                  <a:srgbClr val="262B3A"/>
                </a:solidFill>
                <a:latin typeface="Calibri" pitchFamily="34" charset="0"/>
                <a:ea typeface="Calibri" pitchFamily="34" charset="-122"/>
                <a:cs typeface="Calibri" pitchFamily="34" charset="-120"/>
              </a:rPr>
              <a:t>Dehydrating copper(II) sulfate, and back</a:t>
            </a:r>
            <a:endParaRPr lang="en-US" sz="1100" dirty="0"/>
          </a:p>
        </p:txBody>
      </p:sp>
      <p:sp>
        <p:nvSpPr>
          <p:cNvPr id="19" name="Shape 17"/>
          <p:cNvSpPr/>
          <p:nvPr/>
        </p:nvSpPr>
        <p:spPr>
          <a:xfrm>
            <a:off x="5257800" y="2907792"/>
            <a:ext cx="1097280" cy="274320"/>
          </a:xfrm>
          <a:prstGeom prst="roundRect">
            <a:avLst>
              <a:gd name="adj" fmla="val 50000"/>
            </a:avLst>
          </a:prstGeom>
          <a:solidFill>
            <a:srgbClr val="B8730A"/>
          </a:solidFill>
          <a:ln w="12700">
            <a:solidFill>
              <a:srgbClr val="B8730A"/>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21" name="Shape 19"/>
          <p:cNvSpPr/>
          <p:nvPr/>
        </p:nvSpPr>
        <p:spPr>
          <a:xfrm>
            <a:off x="914400" y="3703320"/>
            <a:ext cx="411480" cy="91"/>
          </a:xfrm>
          <a:prstGeom prst="line">
            <a:avLst/>
          </a:prstGeom>
          <a:noFill/>
          <a:ln w="19050">
            <a:solidFill>
              <a:srgbClr val="6A3FA0"/>
            </a:solidFill>
            <a:prstDash val="solid"/>
          </a:ln>
        </p:spPr>
      </p:sp>
      <p:sp>
        <p:nvSpPr>
          <p:cNvPr id="22" name="Shape 20"/>
          <p:cNvSpPr/>
          <p:nvPr/>
        </p:nvSpPr>
        <p:spPr>
          <a:xfrm>
            <a:off x="1325880" y="3419856"/>
            <a:ext cx="5120640" cy="566928"/>
          </a:xfrm>
          <a:prstGeom prst="roundRect">
            <a:avLst>
              <a:gd name="adj" fmla="val 8065"/>
            </a:avLst>
          </a:prstGeom>
          <a:solidFill>
            <a:srgbClr val="F8F5FC"/>
          </a:solidFill>
          <a:ln w="12700">
            <a:solidFill>
              <a:srgbClr val="DDD3EC"/>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C6.3.1   </a:t>
            </a:r>
            <a:r>
              <a:rPr lang="en-US" sz="1100" dirty="0">
                <a:solidFill>
                  <a:srgbClr val="262B3A"/>
                </a:solidFill>
                <a:latin typeface="Calibri" pitchFamily="34" charset="0"/>
                <a:ea typeface="Calibri" pitchFamily="34" charset="-122"/>
                <a:cs typeface="Calibri" pitchFamily="34" charset="-120"/>
              </a:rPr>
              <a:t>Closed systems: never 100% yield</a:t>
            </a:r>
            <a:endParaRPr lang="en-US" sz="1100" dirty="0"/>
          </a:p>
        </p:txBody>
      </p:sp>
      <p:sp>
        <p:nvSpPr>
          <p:cNvPr id="24" name="Shape 22"/>
          <p:cNvSpPr/>
          <p:nvPr/>
        </p:nvSpPr>
        <p:spPr>
          <a:xfrm>
            <a:off x="5257800" y="3566160"/>
            <a:ext cx="1097280" cy="274320"/>
          </a:xfrm>
          <a:prstGeom prst="roundRect">
            <a:avLst>
              <a:gd name="adj" fmla="val 50000"/>
            </a:avLst>
          </a:prstGeom>
          <a:solidFill>
            <a:srgbClr val="6A3FA0"/>
          </a:solidFill>
          <a:ln w="12700">
            <a:solidFill>
              <a:srgbClr val="6A3FA0"/>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361688"/>
            <a:ext cx="411480" cy="91"/>
          </a:xfrm>
          <a:prstGeom prst="line">
            <a:avLst/>
          </a:prstGeom>
          <a:noFill/>
          <a:ln w="19050">
            <a:solidFill>
              <a:srgbClr val="6A3FA0"/>
            </a:solidFill>
            <a:prstDash val="solid"/>
          </a:ln>
        </p:spPr>
      </p:sp>
      <p:sp>
        <p:nvSpPr>
          <p:cNvPr id="27" name="Shape 25"/>
          <p:cNvSpPr/>
          <p:nvPr/>
        </p:nvSpPr>
        <p:spPr>
          <a:xfrm>
            <a:off x="1325880" y="4078224"/>
            <a:ext cx="5120640" cy="566928"/>
          </a:xfrm>
          <a:prstGeom prst="roundRect">
            <a:avLst>
              <a:gd name="adj" fmla="val 8065"/>
            </a:avLst>
          </a:prstGeom>
          <a:solidFill>
            <a:srgbClr val="F8F5FC"/>
          </a:solidFill>
          <a:ln w="12700">
            <a:solidFill>
              <a:srgbClr val="DDD3EC"/>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C6.3.2   </a:t>
            </a:r>
            <a:r>
              <a:rPr lang="en-US" sz="1100" dirty="0">
                <a:solidFill>
                  <a:srgbClr val="262B3A"/>
                </a:solidFill>
                <a:latin typeface="Calibri" pitchFamily="34" charset="0"/>
                <a:ea typeface="Calibri" pitchFamily="34" charset="-122"/>
                <a:cs typeface="Calibri" pitchFamily="34" charset="-120"/>
              </a:rPr>
              <a:t>Dynamic equilibrium: equal rates</a:t>
            </a:r>
            <a:endParaRPr lang="en-US" sz="1100" dirty="0"/>
          </a:p>
        </p:txBody>
      </p:sp>
      <p:sp>
        <p:nvSpPr>
          <p:cNvPr id="29" name="Shape 27"/>
          <p:cNvSpPr/>
          <p:nvPr/>
        </p:nvSpPr>
        <p:spPr>
          <a:xfrm>
            <a:off x="5257800" y="4224528"/>
            <a:ext cx="1097280" cy="274320"/>
          </a:xfrm>
          <a:prstGeom prst="roundRect">
            <a:avLst>
              <a:gd name="adj" fmla="val 50000"/>
            </a:avLst>
          </a:prstGeom>
          <a:solidFill>
            <a:srgbClr val="6A3FA0"/>
          </a:solidFill>
          <a:ln w="12700">
            <a:solidFill>
              <a:srgbClr val="6A3FA0"/>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6A3FA0"/>
            </a:solidFill>
            <a:prstDash val="solid"/>
          </a:ln>
        </p:spPr>
      </p:sp>
      <p:sp>
        <p:nvSpPr>
          <p:cNvPr id="32" name="Shape 30"/>
          <p:cNvSpPr/>
          <p:nvPr/>
        </p:nvSpPr>
        <p:spPr>
          <a:xfrm>
            <a:off x="1325880" y="4736592"/>
            <a:ext cx="5120640" cy="566928"/>
          </a:xfrm>
          <a:prstGeom prst="roundRect">
            <a:avLst>
              <a:gd name="adj" fmla="val 8065"/>
            </a:avLst>
          </a:prstGeom>
          <a:solidFill>
            <a:srgbClr val="F8F5FC"/>
          </a:solidFill>
          <a:ln w="12700">
            <a:solidFill>
              <a:srgbClr val="DDD3EC"/>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C6.3.3   </a:t>
            </a:r>
            <a:r>
              <a:rPr lang="en-US" sz="1100" dirty="0">
                <a:solidFill>
                  <a:srgbClr val="262B3A"/>
                </a:solidFill>
                <a:latin typeface="Calibri" pitchFamily="34" charset="0"/>
                <a:ea typeface="Calibri" pitchFamily="34" charset="-122"/>
                <a:cs typeface="Calibri" pitchFamily="34" charset="-120"/>
              </a:rPr>
              <a:t>Concentration, temperature, pressure</a:t>
            </a:r>
            <a:endParaRPr lang="en-US" sz="1100" dirty="0"/>
          </a:p>
        </p:txBody>
      </p:sp>
      <p:sp>
        <p:nvSpPr>
          <p:cNvPr id="34" name="Shape 32"/>
          <p:cNvSpPr/>
          <p:nvPr/>
        </p:nvSpPr>
        <p:spPr>
          <a:xfrm>
            <a:off x="5257800" y="4882896"/>
            <a:ext cx="1097280" cy="274320"/>
          </a:xfrm>
          <a:prstGeom prst="roundRect">
            <a:avLst>
              <a:gd name="adj" fmla="val 50000"/>
            </a:avLst>
          </a:prstGeom>
          <a:solidFill>
            <a:srgbClr val="C8414C"/>
          </a:solidFill>
          <a:ln w="12700">
            <a:solidFill>
              <a:srgbClr val="C8414C"/>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6" name="Shape 34"/>
          <p:cNvSpPr/>
          <p:nvPr/>
        </p:nvSpPr>
        <p:spPr>
          <a:xfrm>
            <a:off x="914400" y="5678424"/>
            <a:ext cx="411480" cy="91"/>
          </a:xfrm>
          <a:prstGeom prst="line">
            <a:avLst/>
          </a:prstGeom>
          <a:noFill/>
          <a:ln w="19050">
            <a:solidFill>
              <a:srgbClr val="6A3FA0"/>
            </a:solidFill>
            <a:prstDash val="solid"/>
          </a:ln>
        </p:spPr>
      </p:sp>
      <p:sp>
        <p:nvSpPr>
          <p:cNvPr id="37" name="Shape 35"/>
          <p:cNvSpPr/>
          <p:nvPr/>
        </p:nvSpPr>
        <p:spPr>
          <a:xfrm>
            <a:off x="1325880" y="5394960"/>
            <a:ext cx="5120640" cy="566928"/>
          </a:xfrm>
          <a:prstGeom prst="roundRect">
            <a:avLst>
              <a:gd name="adj" fmla="val 8065"/>
            </a:avLst>
          </a:prstGeom>
          <a:solidFill>
            <a:srgbClr val="F8F5FC"/>
          </a:solidFill>
          <a:ln w="12700">
            <a:solidFill>
              <a:srgbClr val="DDD3EC"/>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C6.3.3   </a:t>
            </a:r>
            <a:r>
              <a:rPr lang="en-US" sz="1100" dirty="0">
                <a:solidFill>
                  <a:srgbClr val="262B3A"/>
                </a:solidFill>
                <a:latin typeface="Calibri" pitchFamily="34" charset="0"/>
                <a:ea typeface="Calibri" pitchFamily="34" charset="-122"/>
                <a:cs typeface="Calibri" pitchFamily="34" charset="-120"/>
              </a:rPr>
              <a:t>Choosing conditions for most product</a:t>
            </a:r>
            <a:endParaRPr lang="en-US" sz="1100" dirty="0"/>
          </a:p>
        </p:txBody>
      </p:sp>
      <p:sp>
        <p:nvSpPr>
          <p:cNvPr id="39" name="Shape 37"/>
          <p:cNvSpPr/>
          <p:nvPr/>
        </p:nvSpPr>
        <p:spPr>
          <a:xfrm>
            <a:off x="5257800" y="5541264"/>
            <a:ext cx="1097280" cy="274320"/>
          </a:xfrm>
          <a:prstGeom prst="roundRect">
            <a:avLst>
              <a:gd name="adj" fmla="val 50000"/>
            </a:avLst>
          </a:prstGeom>
          <a:solidFill>
            <a:srgbClr val="C8414C"/>
          </a:solidFill>
          <a:ln w="12700">
            <a:solidFill>
              <a:srgbClr val="C8414C"/>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C1 air (nitrogen) • C2 formulae • C5.2 moles and masses • C6.2 rates and collisions</a:t>
            </a:r>
            <a:endParaRPr lang="en-US" sz="1050" dirty="0"/>
          </a:p>
        </p:txBody>
      </p:sp>
      <p:sp>
        <p:nvSpPr>
          <p:cNvPr id="42" name="Shape 40"/>
          <p:cNvSpPr/>
          <p:nvPr/>
        </p:nvSpPr>
        <p:spPr>
          <a:xfrm>
            <a:off x="6720840" y="1234440"/>
            <a:ext cx="5056632" cy="2514600"/>
          </a:xfrm>
          <a:prstGeom prst="roundRect">
            <a:avLst>
              <a:gd name="adj" fmla="val 2182"/>
            </a:avLst>
          </a:prstGeom>
          <a:solidFill>
            <a:srgbClr val="2E1A47"/>
          </a:solidFill>
          <a:ln/>
        </p:spPr>
      </p:sp>
      <p:sp>
        <p:nvSpPr>
          <p:cNvPr id="43" name="Text 41"/>
          <p:cNvSpPr/>
          <p:nvPr/>
        </p:nvSpPr>
        <p:spPr>
          <a:xfrm>
            <a:off x="6903720" y="132588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C6 in J260</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C6.1 What useful products can be made from acids?</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C6.2 How do chemists control the rate of reactions?</a:t>
            </a:r>
            <a:endParaRPr lang="en-US" sz="1500" dirty="0"/>
          </a:p>
          <a:p>
            <a:pPr marL="152400" indent="-152400">
              <a:spcAft>
                <a:spcPts val="200"/>
              </a:spcAft>
              <a:buSzPct val="100000"/>
              <a:buChar char="▪"/>
            </a:pPr>
            <a:r>
              <a:rPr lang="en-US" sz="1100" b="1" dirty="0">
                <a:solidFill>
                  <a:srgbClr val="E9E0F7"/>
                </a:solidFill>
                <a:latin typeface="Calibri" pitchFamily="34" charset="0"/>
                <a:ea typeface="Calibri" pitchFamily="34" charset="-122"/>
                <a:cs typeface="Calibri" pitchFamily="34" charset="-120"/>
              </a:rPr>
              <a:t>C6.3 What factors affect the yield of chemical reactions?</a:t>
            </a:r>
            <a:r>
              <a:rPr lang="en-US" sz="1100" dirty="0">
                <a:solidFill>
                  <a:srgbClr val="E9E0F7"/>
                </a:solidFill>
                <a:latin typeface="Calibri" pitchFamily="34" charset="0"/>
                <a:ea typeface="Calibri" pitchFamily="34" charset="-122"/>
                <a:cs typeface="Calibri" pitchFamily="34" charset="-120"/>
              </a:rPr>
              <a:t> (this deck, the last in C6)</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J258 (separate) adds </a:t>
            </a:r>
            <a:r>
              <a:rPr lang="en-US" sz="1100" b="1" dirty="0">
                <a:solidFill>
                  <a:srgbClr val="E9E0F7"/>
                </a:solidFill>
                <a:latin typeface="Calibri" pitchFamily="34" charset="0"/>
                <a:ea typeface="Calibri" pitchFamily="34" charset="-122"/>
                <a:cs typeface="Calibri" pitchFamily="34" charset="-120"/>
              </a:rPr>
              <a:t>C6.4</a:t>
            </a:r>
            <a:r>
              <a:rPr lang="en-US" sz="1100" dirty="0">
                <a:solidFill>
                  <a:srgbClr val="E9E0F7"/>
                </a:solidFill>
                <a:latin typeface="Calibri" pitchFamily="34" charset="0"/>
                <a:ea typeface="Calibri" pitchFamily="34" charset="-122"/>
                <a:cs typeface="Calibri" pitchFamily="34" charset="-120"/>
              </a:rPr>
              <a:t> on making chemicals on an industrial scale: not in J260.</a:t>
            </a:r>
            <a:endParaRPr lang="en-US" sz="1500" dirty="0"/>
          </a:p>
        </p:txBody>
      </p:sp>
      <p:sp>
        <p:nvSpPr>
          <p:cNvPr id="44" name="Shape 42"/>
          <p:cNvSpPr/>
          <p:nvPr/>
        </p:nvSpPr>
        <p:spPr>
          <a:xfrm>
            <a:off x="6720840" y="3886200"/>
            <a:ext cx="5056632" cy="2377440"/>
          </a:xfrm>
          <a:prstGeom prst="roundRect">
            <a:avLst>
              <a:gd name="adj" fmla="val 2308"/>
            </a:avLst>
          </a:prstGeom>
          <a:solidFill>
            <a:srgbClr val="FFF4E0"/>
          </a:solidFill>
          <a:ln w="12700">
            <a:solidFill>
              <a:srgbClr val="F1D9A8"/>
            </a:solidFill>
            <a:prstDash val="solid"/>
          </a:ln>
        </p:spPr>
      </p:sp>
      <p:sp>
        <p:nvSpPr>
          <p:cNvPr id="45" name="Text 43"/>
          <p:cNvSpPr/>
          <p:nvPr/>
        </p:nvSpPr>
        <p:spPr>
          <a:xfrm>
            <a:off x="6903720" y="3977640"/>
            <a:ext cx="4709160" cy="21945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Foundation: </a:t>
            </a:r>
            <a:r>
              <a:rPr lang="en-US" sz="1100" b="1" dirty="0">
                <a:solidFill>
                  <a:srgbClr val="262B3A"/>
                </a:solidFill>
                <a:latin typeface="Calibri" pitchFamily="34" charset="0"/>
                <a:ea typeface="Calibri" pitchFamily="34" charset="-122"/>
                <a:cs typeface="Calibri" pitchFamily="34" charset="-120"/>
              </a:rPr>
              <a:t>reversible reactions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closed systems</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dynamic equilibrium</a:t>
            </a:r>
            <a:r>
              <a:rPr lang="en-US" sz="110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Slides with the red </a:t>
            </a:r>
            <a:r>
              <a:rPr lang="en-US" sz="1100" b="1" dirty="0">
                <a:solidFill>
                  <a:srgbClr val="262B3A"/>
                </a:solidFill>
                <a:latin typeface="Calibri" pitchFamily="34" charset="0"/>
                <a:ea typeface="Calibri" pitchFamily="34" charset="-122"/>
                <a:cs typeface="Calibri" pitchFamily="34" charset="-120"/>
              </a:rPr>
              <a:t>HT</a:t>
            </a:r>
            <a:r>
              <a:rPr lang="en-US" sz="1100" dirty="0">
                <a:solidFill>
                  <a:srgbClr val="262B3A"/>
                </a:solidFill>
                <a:latin typeface="Calibri" pitchFamily="34" charset="0"/>
                <a:ea typeface="Calibri" pitchFamily="34" charset="-122"/>
                <a:cs typeface="Calibri" pitchFamily="34" charset="-120"/>
              </a:rPr>
              <a:t> pill (changing </a:t>
            </a:r>
            <a:r>
              <a:rPr lang="en-US" sz="1100" b="1" dirty="0">
                <a:solidFill>
                  <a:srgbClr val="262B3A"/>
                </a:solidFill>
                <a:latin typeface="Calibri" pitchFamily="34" charset="0"/>
                <a:ea typeface="Calibri" pitchFamily="34" charset="-122"/>
                <a:cs typeface="Calibri" pitchFamily="34" charset="-120"/>
              </a:rPr>
              <a:t>concentration</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temperature</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pressure</a:t>
            </a:r>
            <a:r>
              <a:rPr lang="en-US" sz="1100" dirty="0">
                <a:solidFill>
                  <a:srgbClr val="262B3A"/>
                </a:solidFill>
                <a:latin typeface="Calibri" pitchFamily="34" charset="0"/>
                <a:ea typeface="Calibri" pitchFamily="34" charset="-122"/>
                <a:cs typeface="Calibri" pitchFamily="34" charset="-120"/>
              </a:rPr>
              <a:t>) are Higher only.</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Skills: reading </a:t>
            </a:r>
            <a:r>
              <a:rPr lang="en-US" sz="1100" b="1" dirty="0">
                <a:solidFill>
                  <a:srgbClr val="262B3A"/>
                </a:solidFill>
                <a:latin typeface="Calibri" pitchFamily="34" charset="0"/>
                <a:ea typeface="Calibri" pitchFamily="34" charset="-122"/>
                <a:cs typeface="Calibri" pitchFamily="34" charset="-120"/>
              </a:rPr>
              <a:t>graphs</a:t>
            </a:r>
            <a:r>
              <a:rPr lang="en-US" sz="1100" dirty="0">
                <a:solidFill>
                  <a:srgbClr val="262B3A"/>
                </a:solidFill>
                <a:latin typeface="Calibri" pitchFamily="34" charset="0"/>
                <a:ea typeface="Calibri" pitchFamily="34" charset="-122"/>
                <a:cs typeface="Calibri" pitchFamily="34" charset="-120"/>
              </a:rPr>
              <a:t>, counting </a:t>
            </a:r>
            <a:r>
              <a:rPr lang="en-US" sz="1100" b="1" dirty="0">
                <a:solidFill>
                  <a:srgbClr val="262B3A"/>
                </a:solidFill>
                <a:latin typeface="Calibri" pitchFamily="34" charset="0"/>
                <a:ea typeface="Calibri" pitchFamily="34" charset="-122"/>
                <a:cs typeface="Calibri" pitchFamily="34" charset="-120"/>
              </a:rPr>
              <a:t>gas molecules</a:t>
            </a:r>
            <a:r>
              <a:rPr lang="en-US" sz="1100" dirty="0">
                <a:solidFill>
                  <a:srgbClr val="262B3A"/>
                </a:solidFill>
                <a:latin typeface="Calibri" pitchFamily="34" charset="0"/>
                <a:ea typeface="Calibri" pitchFamily="34" charset="-122"/>
                <a:cs typeface="Calibri" pitchFamily="34" charset="-120"/>
              </a:rPr>
              <a:t>, explaining a </a:t>
            </a:r>
            <a:r>
              <a:rPr lang="en-US" sz="1100" b="1" dirty="0">
                <a:solidFill>
                  <a:srgbClr val="262B3A"/>
                </a:solidFill>
                <a:latin typeface="Calibri" pitchFamily="34" charset="0"/>
                <a:ea typeface="Calibri" pitchFamily="34" charset="-122"/>
                <a:cs typeface="Calibri" pitchFamily="34" charset="-120"/>
              </a:rPr>
              <a:t>prediction</a:t>
            </a:r>
            <a:r>
              <a:rPr lang="en-US" sz="110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Rates and catalysts were C6.2: here we only ask what they do to </a:t>
            </a:r>
            <a:r>
              <a:rPr lang="en-US" sz="1100" b="1" dirty="0">
                <a:solidFill>
                  <a:srgbClr val="262B3A"/>
                </a:solidFill>
                <a:latin typeface="Calibri" pitchFamily="34" charset="0"/>
                <a:ea typeface="Calibri" pitchFamily="34" charset="-122"/>
                <a:cs typeface="Calibri" pitchFamily="34" charset="-120"/>
              </a:rPr>
              <a:t>yield</a:t>
            </a:r>
            <a:r>
              <a:rPr lang="en-US" sz="1100" dirty="0">
                <a:solidFill>
                  <a:srgbClr val="262B3A"/>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Recall from C1–C6.2 • 6 minutes • no notes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8F5FC"/>
          </a:solidFill>
          <a:ln w="9525">
            <a:solidFill>
              <a:srgbClr val="DDD3EC"/>
            </a:solidFill>
            <a:prstDash val="solid"/>
          </a:ln>
        </p:spPr>
      </p:sp>
      <p:sp>
        <p:nvSpPr>
          <p:cNvPr id="9" name="Shape 7"/>
          <p:cNvSpPr/>
          <p:nvPr/>
        </p:nvSpPr>
        <p:spPr>
          <a:xfrm>
            <a:off x="548640" y="1371600"/>
            <a:ext cx="438912" cy="438912"/>
          </a:xfrm>
          <a:prstGeom prst="ellipse">
            <a:avLst/>
          </a:prstGeom>
          <a:solidFill>
            <a:srgbClr val="6A3FA0"/>
          </a:solidFill>
          <a:ln w="12700">
            <a:solidFill>
              <a:srgbClr val="6A3FA0"/>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C1 • air</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Which gas makes up about </a:t>
            </a:r>
            <a:r>
              <a:rPr lang="en-US" sz="1250" b="1" dirty="0">
                <a:solidFill>
                  <a:srgbClr val="262B3A"/>
                </a:solidFill>
                <a:latin typeface="Calibri" pitchFamily="34" charset="0"/>
                <a:ea typeface="Calibri" pitchFamily="34" charset="-122"/>
                <a:cs typeface="Calibri" pitchFamily="34" charset="-120"/>
              </a:rPr>
              <a:t>78%</a:t>
            </a:r>
            <a:r>
              <a:rPr lang="en-US" sz="1250" dirty="0">
                <a:solidFill>
                  <a:srgbClr val="262B3A"/>
                </a:solidFill>
                <a:latin typeface="Calibri" pitchFamily="34" charset="0"/>
                <a:ea typeface="Calibri" pitchFamily="34" charset="-122"/>
                <a:cs typeface="Calibri" pitchFamily="34" charset="-120"/>
              </a:rPr>
              <a:t> of dry air? Name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gas made by burning fuels.</a:t>
            </a:r>
            <a:endParaRPr lang="en-US" sz="1250" dirty="0"/>
          </a:p>
        </p:txBody>
      </p:sp>
      <p:sp>
        <p:nvSpPr>
          <p:cNvPr id="13" name="Shape 11"/>
          <p:cNvSpPr/>
          <p:nvPr/>
        </p:nvSpPr>
        <p:spPr>
          <a:xfrm>
            <a:off x="4251960" y="1234440"/>
            <a:ext cx="3657600" cy="2011680"/>
          </a:xfrm>
          <a:prstGeom prst="roundRect">
            <a:avLst>
              <a:gd name="adj" fmla="val 2727"/>
            </a:avLst>
          </a:prstGeom>
          <a:solidFill>
            <a:srgbClr val="F8F5FC"/>
          </a:solidFill>
          <a:ln w="9525">
            <a:solidFill>
              <a:srgbClr val="DDD3EC"/>
            </a:solidFill>
            <a:prstDash val="solid"/>
          </a:ln>
        </p:spPr>
      </p:sp>
      <p:sp>
        <p:nvSpPr>
          <p:cNvPr id="14" name="Shape 12"/>
          <p:cNvSpPr/>
          <p:nvPr/>
        </p:nvSpPr>
        <p:spPr>
          <a:xfrm>
            <a:off x="4389120" y="1371600"/>
            <a:ext cx="438912" cy="438912"/>
          </a:xfrm>
          <a:prstGeom prst="ellipse">
            <a:avLst/>
          </a:prstGeom>
          <a:solidFill>
            <a:srgbClr val="6A3FA0"/>
          </a:solidFill>
          <a:ln w="12700">
            <a:solidFill>
              <a:srgbClr val="6A3FA0"/>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C2 • formulae</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the formulae of </a:t>
            </a:r>
            <a:r>
              <a:rPr lang="en-US" sz="1250" b="1" dirty="0">
                <a:solidFill>
                  <a:srgbClr val="262B3A"/>
                </a:solidFill>
                <a:latin typeface="Calibri" pitchFamily="34" charset="0"/>
                <a:ea typeface="Calibri" pitchFamily="34" charset="-122"/>
                <a:cs typeface="Calibri" pitchFamily="34" charset="-120"/>
              </a:rPr>
              <a:t>ammonia</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nitrogen</a:t>
            </a:r>
            <a:r>
              <a:rPr lang="en-US" sz="1250" dirty="0">
                <a:solidFill>
                  <a:srgbClr val="262B3A"/>
                </a:solidFill>
                <a:latin typeface="Calibri" pitchFamily="34" charset="0"/>
                <a:ea typeface="Calibri" pitchFamily="34" charset="-122"/>
                <a:cs typeface="Calibri" pitchFamily="34" charset="-120"/>
              </a:rPr>
              <a:t>. How many </a:t>
            </a:r>
            <a:r>
              <a:rPr lang="en-US" sz="1250" b="1" dirty="0">
                <a:solidFill>
                  <a:srgbClr val="262B3A"/>
                </a:solidFill>
                <a:latin typeface="Calibri" pitchFamily="34" charset="0"/>
                <a:ea typeface="Calibri" pitchFamily="34" charset="-122"/>
                <a:cs typeface="Calibri" pitchFamily="34" charset="-120"/>
              </a:rPr>
              <a:t>atoms</a:t>
            </a:r>
            <a:r>
              <a:rPr lang="en-US" sz="1250" dirty="0">
                <a:solidFill>
                  <a:srgbClr val="262B3A"/>
                </a:solidFill>
                <a:latin typeface="Calibri" pitchFamily="34" charset="0"/>
                <a:ea typeface="Calibri" pitchFamily="34" charset="-122"/>
                <a:cs typeface="Calibri" pitchFamily="34" charset="-120"/>
              </a:rPr>
              <a:t> are in one ammonia molecule?</a:t>
            </a:r>
            <a:endParaRPr lang="en-US" sz="1250" dirty="0"/>
          </a:p>
        </p:txBody>
      </p:sp>
      <p:sp>
        <p:nvSpPr>
          <p:cNvPr id="18" name="Shape 16"/>
          <p:cNvSpPr/>
          <p:nvPr/>
        </p:nvSpPr>
        <p:spPr>
          <a:xfrm>
            <a:off x="8092440" y="1234440"/>
            <a:ext cx="3657600" cy="2011680"/>
          </a:xfrm>
          <a:prstGeom prst="roundRect">
            <a:avLst>
              <a:gd name="adj" fmla="val 2727"/>
            </a:avLst>
          </a:prstGeom>
          <a:solidFill>
            <a:srgbClr val="F8F5FC"/>
          </a:solidFill>
          <a:ln w="9525">
            <a:solidFill>
              <a:srgbClr val="DDD3EC"/>
            </a:solidFill>
            <a:prstDash val="solid"/>
          </a:ln>
        </p:spPr>
      </p:sp>
      <p:sp>
        <p:nvSpPr>
          <p:cNvPr id="19" name="Shape 17"/>
          <p:cNvSpPr/>
          <p:nvPr/>
        </p:nvSpPr>
        <p:spPr>
          <a:xfrm>
            <a:off x="8229600" y="1371600"/>
            <a:ext cx="438912" cy="438912"/>
          </a:xfrm>
          <a:prstGeom prst="ellipse">
            <a:avLst/>
          </a:prstGeom>
          <a:solidFill>
            <a:srgbClr val="6A3FA0"/>
          </a:solidFill>
          <a:ln w="12700">
            <a:solidFill>
              <a:srgbClr val="6A3FA0"/>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C5.2 • moles</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Mg + 2HCl → MgCl₂ + H₂. How many </a:t>
            </a:r>
            <a:r>
              <a:rPr lang="en-US" sz="1250" b="1" dirty="0">
                <a:solidFill>
                  <a:srgbClr val="262B3A"/>
                </a:solidFill>
                <a:latin typeface="Calibri" pitchFamily="34" charset="0"/>
                <a:ea typeface="Calibri" pitchFamily="34" charset="-122"/>
                <a:cs typeface="Calibri" pitchFamily="34" charset="-120"/>
              </a:rPr>
              <a:t>moles of HCl</a:t>
            </a:r>
            <a:r>
              <a:rPr lang="en-US" sz="1250" dirty="0">
                <a:solidFill>
                  <a:srgbClr val="262B3A"/>
                </a:solidFill>
                <a:latin typeface="Calibri" pitchFamily="34" charset="0"/>
                <a:ea typeface="Calibri" pitchFamily="34" charset="-122"/>
                <a:cs typeface="Calibri" pitchFamily="34" charset="-120"/>
              </a:rPr>
              <a:t> react with </a:t>
            </a:r>
            <a:r>
              <a:rPr lang="en-US" sz="1250" b="1" dirty="0">
                <a:solidFill>
                  <a:srgbClr val="262B3A"/>
                </a:solidFill>
                <a:latin typeface="Calibri" pitchFamily="34" charset="0"/>
                <a:ea typeface="Calibri" pitchFamily="34" charset="-122"/>
                <a:cs typeface="Calibri" pitchFamily="34" charset="-120"/>
              </a:rPr>
              <a:t>0.5 mol</a:t>
            </a:r>
            <a:r>
              <a:rPr lang="en-US" sz="1250" dirty="0">
                <a:solidFill>
                  <a:srgbClr val="262B3A"/>
                </a:solidFill>
                <a:latin typeface="Calibri" pitchFamily="34" charset="0"/>
                <a:ea typeface="Calibri" pitchFamily="34" charset="-122"/>
                <a:cs typeface="Calibri" pitchFamily="34" charset="-120"/>
              </a:rPr>
              <a:t> of Mg?</a:t>
            </a:r>
            <a:endParaRPr lang="en-US" sz="1250" dirty="0"/>
          </a:p>
        </p:txBody>
      </p:sp>
      <p:sp>
        <p:nvSpPr>
          <p:cNvPr id="23" name="Shape 21"/>
          <p:cNvSpPr/>
          <p:nvPr/>
        </p:nvSpPr>
        <p:spPr>
          <a:xfrm>
            <a:off x="411480" y="3429000"/>
            <a:ext cx="3657600" cy="2011680"/>
          </a:xfrm>
          <a:prstGeom prst="roundRect">
            <a:avLst>
              <a:gd name="adj" fmla="val 2727"/>
            </a:avLst>
          </a:prstGeom>
          <a:solidFill>
            <a:srgbClr val="F8F5FC"/>
          </a:solidFill>
          <a:ln w="9525">
            <a:solidFill>
              <a:srgbClr val="DDD3EC"/>
            </a:solidFill>
            <a:prstDash val="solid"/>
          </a:ln>
        </p:spPr>
      </p:sp>
      <p:sp>
        <p:nvSpPr>
          <p:cNvPr id="24" name="Shape 22"/>
          <p:cNvSpPr/>
          <p:nvPr/>
        </p:nvSpPr>
        <p:spPr>
          <a:xfrm>
            <a:off x="548640" y="3566160"/>
            <a:ext cx="438912" cy="438912"/>
          </a:xfrm>
          <a:prstGeom prst="ellipse">
            <a:avLst/>
          </a:prstGeom>
          <a:solidFill>
            <a:srgbClr val="6A3FA0"/>
          </a:solidFill>
          <a:ln w="12700">
            <a:solidFill>
              <a:srgbClr val="6A3FA0"/>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C6.1 • acids</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salt</a:t>
            </a:r>
            <a:r>
              <a:rPr lang="en-US" sz="1250" dirty="0">
                <a:solidFill>
                  <a:srgbClr val="262B3A"/>
                </a:solidFill>
                <a:latin typeface="Calibri" pitchFamily="34" charset="0"/>
                <a:ea typeface="Calibri" pitchFamily="34" charset="-122"/>
                <a:cs typeface="Calibri" pitchFamily="34" charset="-120"/>
              </a:rPr>
              <a:t> made when </a:t>
            </a:r>
            <a:r>
              <a:rPr lang="en-US" sz="1250" b="1" dirty="0">
                <a:solidFill>
                  <a:srgbClr val="262B3A"/>
                </a:solidFill>
                <a:latin typeface="Calibri" pitchFamily="34" charset="0"/>
                <a:ea typeface="Calibri" pitchFamily="34" charset="-122"/>
                <a:cs typeface="Calibri" pitchFamily="34" charset="-120"/>
              </a:rPr>
              <a:t>sulfuric acid</a:t>
            </a:r>
            <a:r>
              <a:rPr lang="en-US" sz="1250" dirty="0">
                <a:solidFill>
                  <a:srgbClr val="262B3A"/>
                </a:solidFill>
                <a:latin typeface="Calibri" pitchFamily="34" charset="0"/>
                <a:ea typeface="Calibri" pitchFamily="34" charset="-122"/>
                <a:cs typeface="Calibri" pitchFamily="34" charset="-120"/>
              </a:rPr>
              <a:t> neutralises </a:t>
            </a:r>
            <a:r>
              <a:rPr lang="en-US" sz="1250" b="1" dirty="0">
                <a:solidFill>
                  <a:srgbClr val="262B3A"/>
                </a:solidFill>
                <a:latin typeface="Calibri" pitchFamily="34" charset="0"/>
                <a:ea typeface="Calibri" pitchFamily="34" charset="-122"/>
                <a:cs typeface="Calibri" pitchFamily="34" charset="-120"/>
              </a:rPr>
              <a:t>copper(II) oxide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8" name="Shape 26"/>
          <p:cNvSpPr/>
          <p:nvPr/>
        </p:nvSpPr>
        <p:spPr>
          <a:xfrm>
            <a:off x="4251960" y="3429000"/>
            <a:ext cx="3657600" cy="2011680"/>
          </a:xfrm>
          <a:prstGeom prst="roundRect">
            <a:avLst>
              <a:gd name="adj" fmla="val 2727"/>
            </a:avLst>
          </a:prstGeom>
          <a:solidFill>
            <a:srgbClr val="F8F5FC"/>
          </a:solidFill>
          <a:ln w="9525">
            <a:solidFill>
              <a:srgbClr val="DDD3EC"/>
            </a:solidFill>
            <a:prstDash val="solid"/>
          </a:ln>
        </p:spPr>
      </p:sp>
      <p:sp>
        <p:nvSpPr>
          <p:cNvPr id="29" name="Shape 27"/>
          <p:cNvSpPr/>
          <p:nvPr/>
        </p:nvSpPr>
        <p:spPr>
          <a:xfrm>
            <a:off x="4389120" y="3566160"/>
            <a:ext cx="438912" cy="438912"/>
          </a:xfrm>
          <a:prstGeom prst="ellipse">
            <a:avLst/>
          </a:prstGeom>
          <a:solidFill>
            <a:srgbClr val="6A3FA0"/>
          </a:solidFill>
          <a:ln w="12700">
            <a:solidFill>
              <a:srgbClr val="6A3FA0"/>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C6.2 • rates</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a:t>
            </a:r>
            <a:r>
              <a:rPr lang="en-US" sz="1250" b="1" dirty="0">
                <a:solidFill>
                  <a:srgbClr val="262B3A"/>
                </a:solidFill>
                <a:latin typeface="Calibri" pitchFamily="34" charset="0"/>
                <a:ea typeface="Calibri" pitchFamily="34" charset="-122"/>
                <a:cs typeface="Calibri" pitchFamily="34" charset="-120"/>
              </a:rPr>
              <a:t>collision theory</a:t>
            </a:r>
            <a:r>
              <a:rPr lang="en-US" sz="1250" dirty="0">
                <a:solidFill>
                  <a:srgbClr val="262B3A"/>
                </a:solidFill>
                <a:latin typeface="Calibri" pitchFamily="34" charset="0"/>
                <a:ea typeface="Calibri" pitchFamily="34" charset="-122"/>
                <a:cs typeface="Calibri" pitchFamily="34" charset="-120"/>
              </a:rPr>
              <a:t> to explain why a reaction is </a:t>
            </a:r>
            <a:r>
              <a:rPr lang="en-US" sz="1250" b="1" dirty="0">
                <a:solidFill>
                  <a:srgbClr val="262B3A"/>
                </a:solidFill>
                <a:latin typeface="Calibri" pitchFamily="34" charset="0"/>
                <a:ea typeface="Calibri" pitchFamily="34" charset="-122"/>
                <a:cs typeface="Calibri" pitchFamily="34" charset="-120"/>
              </a:rPr>
              <a:t>faster</a:t>
            </a:r>
            <a:r>
              <a:rPr lang="en-US" sz="1250" dirty="0">
                <a:solidFill>
                  <a:srgbClr val="262B3A"/>
                </a:solidFill>
                <a:latin typeface="Calibri" pitchFamily="34" charset="0"/>
                <a:ea typeface="Calibri" pitchFamily="34" charset="-122"/>
                <a:cs typeface="Calibri" pitchFamily="34" charset="-120"/>
              </a:rPr>
              <a:t> at a higher </a:t>
            </a:r>
            <a:r>
              <a:rPr lang="en-US" sz="1250" b="1" dirty="0">
                <a:solidFill>
                  <a:srgbClr val="262B3A"/>
                </a:solidFill>
                <a:latin typeface="Calibri" pitchFamily="34" charset="0"/>
                <a:ea typeface="Calibri" pitchFamily="34" charset="-122"/>
                <a:cs typeface="Calibri" pitchFamily="34" charset="-120"/>
              </a:rPr>
              <a:t>temperature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3" name="Shape 31"/>
          <p:cNvSpPr/>
          <p:nvPr/>
        </p:nvSpPr>
        <p:spPr>
          <a:xfrm>
            <a:off x="8092440" y="3429000"/>
            <a:ext cx="3657600" cy="2011680"/>
          </a:xfrm>
          <a:prstGeom prst="roundRect">
            <a:avLst>
              <a:gd name="adj" fmla="val 2727"/>
            </a:avLst>
          </a:prstGeom>
          <a:solidFill>
            <a:srgbClr val="F8F5FC"/>
          </a:solidFill>
          <a:ln w="9525">
            <a:solidFill>
              <a:srgbClr val="DDD3EC"/>
            </a:solidFill>
            <a:prstDash val="solid"/>
          </a:ln>
        </p:spPr>
      </p:sp>
      <p:sp>
        <p:nvSpPr>
          <p:cNvPr id="34" name="Shape 32"/>
          <p:cNvSpPr/>
          <p:nvPr/>
        </p:nvSpPr>
        <p:spPr>
          <a:xfrm>
            <a:off x="8229600" y="3566160"/>
            <a:ext cx="438912" cy="438912"/>
          </a:xfrm>
          <a:prstGeom prst="ellipse">
            <a:avLst/>
          </a:prstGeom>
          <a:solidFill>
            <a:srgbClr val="6A3FA0"/>
          </a:solidFill>
          <a:ln w="12700">
            <a:solidFill>
              <a:srgbClr val="6A3FA0"/>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Energy changes</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the difference between an </a:t>
            </a:r>
            <a:r>
              <a:rPr lang="en-US" sz="1250" b="1" dirty="0">
                <a:solidFill>
                  <a:srgbClr val="262B3A"/>
                </a:solidFill>
                <a:latin typeface="Calibri" pitchFamily="34" charset="0"/>
                <a:ea typeface="Calibri" pitchFamily="34" charset="-122"/>
                <a:cs typeface="Calibri" pitchFamily="34" charset="-120"/>
              </a:rPr>
              <a:t>exothermic</a:t>
            </a:r>
            <a:r>
              <a:rPr lang="en-US" sz="1250" dirty="0">
                <a:solidFill>
                  <a:srgbClr val="262B3A"/>
                </a:solidFill>
                <a:latin typeface="Calibri" pitchFamily="34" charset="0"/>
                <a:ea typeface="Calibri" pitchFamily="34" charset="-122"/>
                <a:cs typeface="Calibri" pitchFamily="34" charset="-120"/>
              </a:rPr>
              <a:t> and an </a:t>
            </a:r>
            <a:r>
              <a:rPr lang="en-US" sz="1250" b="1" dirty="0">
                <a:solidFill>
                  <a:srgbClr val="262B3A"/>
                </a:solidFill>
                <a:latin typeface="Calibri" pitchFamily="34" charset="0"/>
                <a:ea typeface="Calibri" pitchFamily="34" charset="-122"/>
                <a:cs typeface="Calibri" pitchFamily="34" charset="-120"/>
              </a:rPr>
              <a:t>endothermic</a:t>
            </a:r>
            <a:r>
              <a:rPr lang="en-US" sz="1250" dirty="0">
                <a:solidFill>
                  <a:srgbClr val="262B3A"/>
                </a:solidFill>
                <a:latin typeface="Calibri" pitchFamily="34" charset="0"/>
                <a:ea typeface="Calibri" pitchFamily="34" charset="-122"/>
                <a:cs typeface="Calibri" pitchFamily="34" charset="-120"/>
              </a:rPr>
              <a:t> reaction?</a:t>
            </a:r>
            <a:endParaRPr lang="en-US" sz="1250" dirty="0"/>
          </a:p>
        </p:txBody>
      </p:sp>
      <p:sp>
        <p:nvSpPr>
          <p:cNvPr id="38" name="Shape 36"/>
          <p:cNvSpPr/>
          <p:nvPr/>
        </p:nvSpPr>
        <p:spPr>
          <a:xfrm>
            <a:off x="411480" y="5715000"/>
            <a:ext cx="11368735" cy="548640"/>
          </a:xfrm>
          <a:prstGeom prst="rect">
            <a:avLst/>
          </a:prstGeom>
          <a:solidFill>
            <a:srgbClr val="F1ECF8"/>
          </a:solidFill>
          <a:ln w="12700">
            <a:solidFill>
              <a:srgbClr val="DDD3EC"/>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6A3FA0"/>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Reversible reactions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C6.3.1 • some reactions can be reversed by changing the conditions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C6.3.1  |  5</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two reversible reactions; colours as seen in the lab</a:t>
            </a:r>
            <a:endParaRPr lang="en-US" sz="1000" dirty="0"/>
          </a:p>
        </p:txBody>
      </p:sp>
      <p:sp>
        <p:nvSpPr>
          <p:cNvPr id="10" name="Text 8"/>
          <p:cNvSpPr/>
          <p:nvPr/>
        </p:nvSpPr>
        <p:spPr>
          <a:xfrm>
            <a:off x="594360" y="1298448"/>
            <a:ext cx="5303520" cy="237744"/>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A</a:t>
            </a:r>
            <a:r>
              <a:rPr lang="en-US" sz="1100" dirty="0">
                <a:solidFill>
                  <a:srgbClr val="262B3A"/>
                </a:solidFill>
                <a:latin typeface="Calibri" pitchFamily="34" charset="0"/>
                <a:ea typeface="Calibri" pitchFamily="34" charset="-122"/>
                <a:cs typeface="Calibri" pitchFamily="34" charset="-120"/>
              </a:rPr>
              <a:t> Hydrated copper(II) sulfate</a:t>
            </a:r>
            <a:endParaRPr lang="en-US" sz="1100" dirty="0"/>
          </a:p>
        </p:txBody>
      </p:sp>
      <p:sp>
        <p:nvSpPr>
          <p:cNvPr id="11" name="Shape 9"/>
          <p:cNvSpPr/>
          <p:nvPr/>
        </p:nvSpPr>
        <p:spPr>
          <a:xfrm>
            <a:off x="777240" y="2057400"/>
            <a:ext cx="1280160" cy="548640"/>
          </a:xfrm>
          <a:custGeom>
            <a:avLst/>
            <a:gdLst/>
            <a:ahLst/>
            <a:cxnLst/>
            <a:rect l="l" t="t" r="r" b="b"/>
            <a:pathLst>
              <a:path w="1280160" h="548640">
                <a:moveTo>
                  <a:pt x="0" y="0"/>
                </a:moveTo>
                <a:lnTo>
                  <a:pt x="12299" y="107034"/>
                </a:lnTo>
                <a:lnTo>
                  <a:pt x="48723" y="209955"/>
                </a:lnTo>
                <a:lnTo>
                  <a:pt x="107873" y="304808"/>
                </a:lnTo>
                <a:lnTo>
                  <a:pt x="187475" y="387947"/>
                </a:lnTo>
                <a:lnTo>
                  <a:pt x="284471" y="456177"/>
                </a:lnTo>
                <a:lnTo>
                  <a:pt x="395132" y="506877"/>
                </a:lnTo>
                <a:lnTo>
                  <a:pt x="515207" y="538098"/>
                </a:lnTo>
                <a:lnTo>
                  <a:pt x="640080" y="548640"/>
                </a:lnTo>
                <a:lnTo>
                  <a:pt x="764953" y="538098"/>
                </a:lnTo>
                <a:lnTo>
                  <a:pt x="885028" y="506877"/>
                </a:lnTo>
                <a:lnTo>
                  <a:pt x="995689" y="456177"/>
                </a:lnTo>
                <a:lnTo>
                  <a:pt x="1092685" y="387947"/>
                </a:lnTo>
                <a:lnTo>
                  <a:pt x="1172287" y="304808"/>
                </a:lnTo>
                <a:lnTo>
                  <a:pt x="1231437" y="209955"/>
                </a:lnTo>
                <a:lnTo>
                  <a:pt x="1267861" y="107034"/>
                </a:lnTo>
                <a:lnTo>
                  <a:pt x="1280160" y="0"/>
                </a:lnTo>
                <a:close/>
              </a:path>
            </a:pathLst>
          </a:custGeom>
          <a:solidFill>
            <a:srgbClr val="F7F3EA"/>
          </a:solidFill>
          <a:ln/>
        </p:spPr>
      </p:sp>
      <p:sp>
        <p:nvSpPr>
          <p:cNvPr id="12" name="Shape 10"/>
          <p:cNvSpPr/>
          <p:nvPr/>
        </p:nvSpPr>
        <p:spPr>
          <a:xfrm>
            <a:off x="885113" y="2270768"/>
            <a:ext cx="1064414" cy="335272"/>
          </a:xfrm>
          <a:custGeom>
            <a:avLst/>
            <a:gdLst/>
            <a:ahLst/>
            <a:cxnLst/>
            <a:rect l="l" t="t" r="r" b="b"/>
            <a:pathLst>
              <a:path w="1064414" h="335272">
                <a:moveTo>
                  <a:pt x="0" y="91440"/>
                </a:moveTo>
                <a:lnTo>
                  <a:pt x="79602" y="174579"/>
                </a:lnTo>
                <a:lnTo>
                  <a:pt x="176598" y="242809"/>
                </a:lnTo>
                <a:lnTo>
                  <a:pt x="287259" y="293509"/>
                </a:lnTo>
                <a:lnTo>
                  <a:pt x="407334" y="324730"/>
                </a:lnTo>
                <a:lnTo>
                  <a:pt x="532207" y="335272"/>
                </a:lnTo>
                <a:lnTo>
                  <a:pt x="657080" y="324730"/>
                </a:lnTo>
                <a:lnTo>
                  <a:pt x="777155" y="293509"/>
                </a:lnTo>
                <a:lnTo>
                  <a:pt x="887816" y="242809"/>
                </a:lnTo>
                <a:lnTo>
                  <a:pt x="984812" y="174579"/>
                </a:lnTo>
                <a:lnTo>
                  <a:pt x="1064414" y="91440"/>
                </a:lnTo>
                <a:lnTo>
                  <a:pt x="851531" y="45720"/>
                </a:lnTo>
                <a:lnTo>
                  <a:pt x="532207" y="0"/>
                </a:lnTo>
                <a:lnTo>
                  <a:pt x="212883" y="45720"/>
                </a:lnTo>
                <a:close/>
              </a:path>
            </a:pathLst>
          </a:custGeom>
          <a:solidFill>
            <a:srgbClr val="3F7FD0"/>
          </a:solidFill>
          <a:ln w="12700">
            <a:solidFill>
              <a:srgbClr val="2A5FA8"/>
            </a:solidFill>
            <a:prstDash val="solid"/>
          </a:ln>
        </p:spPr>
      </p:sp>
      <p:sp>
        <p:nvSpPr>
          <p:cNvPr id="13" name="Shape 11"/>
          <p:cNvSpPr/>
          <p:nvPr/>
        </p:nvSpPr>
        <p:spPr>
          <a:xfrm>
            <a:off x="777240" y="2057400"/>
            <a:ext cx="1280160" cy="548640"/>
          </a:xfrm>
          <a:custGeom>
            <a:avLst/>
            <a:gdLst/>
            <a:ahLst/>
            <a:cxnLst/>
            <a:rect l="l" t="t" r="r" b="b"/>
            <a:pathLst>
              <a:path w="1280160" h="548640">
                <a:moveTo>
                  <a:pt x="0" y="0"/>
                </a:moveTo>
                <a:lnTo>
                  <a:pt x="12299" y="107034"/>
                </a:lnTo>
                <a:lnTo>
                  <a:pt x="48723" y="209955"/>
                </a:lnTo>
                <a:lnTo>
                  <a:pt x="107873" y="304808"/>
                </a:lnTo>
                <a:lnTo>
                  <a:pt x="187475" y="387947"/>
                </a:lnTo>
                <a:lnTo>
                  <a:pt x="284471" y="456177"/>
                </a:lnTo>
                <a:lnTo>
                  <a:pt x="395132" y="506877"/>
                </a:lnTo>
                <a:lnTo>
                  <a:pt x="515207" y="538098"/>
                </a:lnTo>
                <a:lnTo>
                  <a:pt x="640080" y="548640"/>
                </a:lnTo>
                <a:lnTo>
                  <a:pt x="764953" y="538098"/>
                </a:lnTo>
                <a:lnTo>
                  <a:pt x="885028" y="506877"/>
                </a:lnTo>
                <a:lnTo>
                  <a:pt x="995689" y="456177"/>
                </a:lnTo>
                <a:lnTo>
                  <a:pt x="1092685" y="387947"/>
                </a:lnTo>
                <a:lnTo>
                  <a:pt x="1172287" y="304808"/>
                </a:lnTo>
                <a:lnTo>
                  <a:pt x="1231437" y="209955"/>
                </a:lnTo>
                <a:lnTo>
                  <a:pt x="1267861" y="107034"/>
                </a:lnTo>
                <a:lnTo>
                  <a:pt x="1280160" y="0"/>
                </a:lnTo>
              </a:path>
            </a:pathLst>
          </a:custGeom>
          <a:ln w="19050">
            <a:solidFill>
              <a:srgbClr val="7A6E5A"/>
            </a:solidFill>
            <a:prstDash val="solid"/>
          </a:ln>
        </p:spPr>
      </p:sp>
      <p:sp>
        <p:nvSpPr>
          <p:cNvPr id="14" name="Shape 12"/>
          <p:cNvSpPr/>
          <p:nvPr/>
        </p:nvSpPr>
        <p:spPr>
          <a:xfrm>
            <a:off x="731520" y="2057400"/>
            <a:ext cx="1371600" cy="91"/>
          </a:xfrm>
          <a:prstGeom prst="line">
            <a:avLst/>
          </a:prstGeom>
          <a:noFill/>
          <a:ln w="19050">
            <a:solidFill>
              <a:srgbClr val="7A6E5A"/>
            </a:solidFill>
            <a:prstDash val="solid"/>
          </a:ln>
        </p:spPr>
      </p:sp>
      <p:sp>
        <p:nvSpPr>
          <p:cNvPr id="15" name="Shape 13"/>
          <p:cNvSpPr/>
          <p:nvPr/>
        </p:nvSpPr>
        <p:spPr>
          <a:xfrm>
            <a:off x="4251960" y="2057400"/>
            <a:ext cx="1280160" cy="548640"/>
          </a:xfrm>
          <a:custGeom>
            <a:avLst/>
            <a:gdLst/>
            <a:ahLst/>
            <a:cxnLst/>
            <a:rect l="l" t="t" r="r" b="b"/>
            <a:pathLst>
              <a:path w="1280160" h="548640">
                <a:moveTo>
                  <a:pt x="0" y="0"/>
                </a:moveTo>
                <a:lnTo>
                  <a:pt x="12299" y="107034"/>
                </a:lnTo>
                <a:lnTo>
                  <a:pt x="48723" y="209955"/>
                </a:lnTo>
                <a:lnTo>
                  <a:pt x="107873" y="304808"/>
                </a:lnTo>
                <a:lnTo>
                  <a:pt x="187475" y="387947"/>
                </a:lnTo>
                <a:lnTo>
                  <a:pt x="284471" y="456177"/>
                </a:lnTo>
                <a:lnTo>
                  <a:pt x="395132" y="506877"/>
                </a:lnTo>
                <a:lnTo>
                  <a:pt x="515207" y="538098"/>
                </a:lnTo>
                <a:lnTo>
                  <a:pt x="640080" y="548640"/>
                </a:lnTo>
                <a:lnTo>
                  <a:pt x="764953" y="538098"/>
                </a:lnTo>
                <a:lnTo>
                  <a:pt x="885028" y="506877"/>
                </a:lnTo>
                <a:lnTo>
                  <a:pt x="995689" y="456177"/>
                </a:lnTo>
                <a:lnTo>
                  <a:pt x="1092685" y="387947"/>
                </a:lnTo>
                <a:lnTo>
                  <a:pt x="1172287" y="304808"/>
                </a:lnTo>
                <a:lnTo>
                  <a:pt x="1231437" y="209955"/>
                </a:lnTo>
                <a:lnTo>
                  <a:pt x="1267861" y="107034"/>
                </a:lnTo>
                <a:lnTo>
                  <a:pt x="1280160" y="0"/>
                </a:lnTo>
                <a:close/>
              </a:path>
            </a:pathLst>
          </a:custGeom>
          <a:solidFill>
            <a:srgbClr val="F7F3EA"/>
          </a:solidFill>
          <a:ln/>
        </p:spPr>
      </p:sp>
      <p:sp>
        <p:nvSpPr>
          <p:cNvPr id="16" name="Shape 14"/>
          <p:cNvSpPr/>
          <p:nvPr/>
        </p:nvSpPr>
        <p:spPr>
          <a:xfrm>
            <a:off x="4359833" y="2270768"/>
            <a:ext cx="1064414" cy="335272"/>
          </a:xfrm>
          <a:custGeom>
            <a:avLst/>
            <a:gdLst/>
            <a:ahLst/>
            <a:cxnLst/>
            <a:rect l="l" t="t" r="r" b="b"/>
            <a:pathLst>
              <a:path w="1064414" h="335272">
                <a:moveTo>
                  <a:pt x="0" y="91440"/>
                </a:moveTo>
                <a:lnTo>
                  <a:pt x="79602" y="174579"/>
                </a:lnTo>
                <a:lnTo>
                  <a:pt x="176598" y="242809"/>
                </a:lnTo>
                <a:lnTo>
                  <a:pt x="287259" y="293509"/>
                </a:lnTo>
                <a:lnTo>
                  <a:pt x="407334" y="324730"/>
                </a:lnTo>
                <a:lnTo>
                  <a:pt x="532207" y="335272"/>
                </a:lnTo>
                <a:lnTo>
                  <a:pt x="657080" y="324730"/>
                </a:lnTo>
                <a:lnTo>
                  <a:pt x="777155" y="293509"/>
                </a:lnTo>
                <a:lnTo>
                  <a:pt x="887816" y="242809"/>
                </a:lnTo>
                <a:lnTo>
                  <a:pt x="984812" y="174579"/>
                </a:lnTo>
                <a:lnTo>
                  <a:pt x="1064414" y="91440"/>
                </a:lnTo>
                <a:lnTo>
                  <a:pt x="851531" y="45720"/>
                </a:lnTo>
                <a:lnTo>
                  <a:pt x="532207" y="0"/>
                </a:lnTo>
                <a:lnTo>
                  <a:pt x="212883" y="45720"/>
                </a:lnTo>
                <a:close/>
              </a:path>
            </a:pathLst>
          </a:custGeom>
          <a:solidFill>
            <a:srgbClr val="F4F4EE"/>
          </a:solidFill>
          <a:ln w="12700">
            <a:solidFill>
              <a:srgbClr val="B8B8A8"/>
            </a:solidFill>
            <a:prstDash val="solid"/>
          </a:ln>
        </p:spPr>
      </p:sp>
      <p:sp>
        <p:nvSpPr>
          <p:cNvPr id="17" name="Shape 15"/>
          <p:cNvSpPr/>
          <p:nvPr/>
        </p:nvSpPr>
        <p:spPr>
          <a:xfrm>
            <a:off x="4251960" y="2057400"/>
            <a:ext cx="1280160" cy="548640"/>
          </a:xfrm>
          <a:custGeom>
            <a:avLst/>
            <a:gdLst/>
            <a:ahLst/>
            <a:cxnLst/>
            <a:rect l="l" t="t" r="r" b="b"/>
            <a:pathLst>
              <a:path w="1280160" h="548640">
                <a:moveTo>
                  <a:pt x="0" y="0"/>
                </a:moveTo>
                <a:lnTo>
                  <a:pt x="12299" y="107034"/>
                </a:lnTo>
                <a:lnTo>
                  <a:pt x="48723" y="209955"/>
                </a:lnTo>
                <a:lnTo>
                  <a:pt x="107873" y="304808"/>
                </a:lnTo>
                <a:lnTo>
                  <a:pt x="187475" y="387947"/>
                </a:lnTo>
                <a:lnTo>
                  <a:pt x="284471" y="456177"/>
                </a:lnTo>
                <a:lnTo>
                  <a:pt x="395132" y="506877"/>
                </a:lnTo>
                <a:lnTo>
                  <a:pt x="515207" y="538098"/>
                </a:lnTo>
                <a:lnTo>
                  <a:pt x="640080" y="548640"/>
                </a:lnTo>
                <a:lnTo>
                  <a:pt x="764953" y="538098"/>
                </a:lnTo>
                <a:lnTo>
                  <a:pt x="885028" y="506877"/>
                </a:lnTo>
                <a:lnTo>
                  <a:pt x="995689" y="456177"/>
                </a:lnTo>
                <a:lnTo>
                  <a:pt x="1092685" y="387947"/>
                </a:lnTo>
                <a:lnTo>
                  <a:pt x="1172287" y="304808"/>
                </a:lnTo>
                <a:lnTo>
                  <a:pt x="1231437" y="209955"/>
                </a:lnTo>
                <a:lnTo>
                  <a:pt x="1267861" y="107034"/>
                </a:lnTo>
                <a:lnTo>
                  <a:pt x="1280160" y="0"/>
                </a:lnTo>
              </a:path>
            </a:pathLst>
          </a:custGeom>
          <a:ln w="19050">
            <a:solidFill>
              <a:srgbClr val="7A6E5A"/>
            </a:solidFill>
            <a:prstDash val="solid"/>
          </a:ln>
        </p:spPr>
      </p:sp>
      <p:sp>
        <p:nvSpPr>
          <p:cNvPr id="18" name="Shape 16"/>
          <p:cNvSpPr/>
          <p:nvPr/>
        </p:nvSpPr>
        <p:spPr>
          <a:xfrm>
            <a:off x="4206240" y="2057400"/>
            <a:ext cx="1371600" cy="91"/>
          </a:xfrm>
          <a:prstGeom prst="line">
            <a:avLst/>
          </a:prstGeom>
          <a:noFill/>
          <a:ln w="19050">
            <a:solidFill>
              <a:srgbClr val="7A6E5A"/>
            </a:solidFill>
            <a:prstDash val="solid"/>
          </a:ln>
        </p:spPr>
      </p:sp>
      <p:sp>
        <p:nvSpPr>
          <p:cNvPr id="19" name="Text 17"/>
          <p:cNvSpPr/>
          <p:nvPr/>
        </p:nvSpPr>
        <p:spPr>
          <a:xfrm>
            <a:off x="640080" y="2697480"/>
            <a:ext cx="1554480" cy="411480"/>
          </a:xfrm>
          <a:prstGeom prst="rect">
            <a:avLst/>
          </a:prstGeom>
          <a:noFill/>
          <a:ln/>
        </p:spPr>
        <p:txBody>
          <a:bodyPr wrap="square" lIns="0" tIns="0" rIns="0" bIns="0" rtlCol="0" anchor="ctr"/>
          <a:lstStyle/>
          <a:p>
            <a:pPr algn="ctr" indent="0" marL="0">
              <a:buNone/>
            </a:pPr>
            <a:r>
              <a:rPr lang="en-US" sz="1000" b="1" dirty="0">
                <a:solidFill>
                  <a:srgbClr val="3F7FD0"/>
                </a:solidFill>
                <a:latin typeface="Calibri" pitchFamily="34" charset="0"/>
                <a:ea typeface="Calibri" pitchFamily="34" charset="-122"/>
                <a:cs typeface="Calibri" pitchFamily="34" charset="-120"/>
              </a:rPr>
              <a:t>blue</a:t>
            </a:r>
            <a:r>
              <a:rPr lang="en-US" sz="1000" dirty="0">
                <a:solidFill>
                  <a:srgbClr val="3F7FD0"/>
                </a:solidFill>
                <a:latin typeface="Calibri" pitchFamily="34" charset="0"/>
                <a:ea typeface="Calibri" pitchFamily="34" charset="-122"/>
                <a:cs typeface="Calibri" pitchFamily="34" charset="-120"/>
              </a:rPr>
              <a:t> crystals</a:t>
            </a:r>
            <a:endParaRPr lang="en-US" sz="1000" dirty="0"/>
          </a:p>
          <a:p>
            <a:pPr algn="ctr" indent="0" marL="0">
              <a:buNone/>
            </a:pPr>
            <a:r>
              <a:rPr lang="en-US" sz="1000" dirty="0">
                <a:solidFill>
                  <a:srgbClr val="3F7FD0"/>
                </a:solidFill>
                <a:latin typeface="Calibri" pitchFamily="34" charset="0"/>
                <a:ea typeface="Calibri" pitchFamily="34" charset="-122"/>
                <a:cs typeface="Calibri" pitchFamily="34" charset="-120"/>
              </a:rPr>
              <a:t>(hydrated)</a:t>
            </a:r>
            <a:endParaRPr lang="en-US" sz="1000" dirty="0"/>
          </a:p>
        </p:txBody>
      </p:sp>
      <p:sp>
        <p:nvSpPr>
          <p:cNvPr id="20" name="Text 18"/>
          <p:cNvSpPr/>
          <p:nvPr/>
        </p:nvSpPr>
        <p:spPr>
          <a:xfrm>
            <a:off x="4114800" y="2697480"/>
            <a:ext cx="1554480" cy="411480"/>
          </a:xfrm>
          <a:prstGeom prst="rect">
            <a:avLst/>
          </a:prstGeom>
          <a:noFill/>
          <a:ln/>
        </p:spPr>
        <p:txBody>
          <a:bodyPr wrap="square" lIns="0" tIns="0" rIns="0" bIns="0" rtlCol="0" anchor="ctr"/>
          <a:lstStyle/>
          <a:p>
            <a:pPr algn="ctr" indent="0" marL="0">
              <a:buNone/>
            </a:pPr>
            <a:r>
              <a:rPr lang="en-US" sz="1000" b="1" dirty="0">
                <a:solidFill>
                  <a:srgbClr val="6B7385"/>
                </a:solidFill>
                <a:latin typeface="Calibri" pitchFamily="34" charset="0"/>
                <a:ea typeface="Calibri" pitchFamily="34" charset="-122"/>
                <a:cs typeface="Calibri" pitchFamily="34" charset="-120"/>
              </a:rPr>
              <a:t>white</a:t>
            </a:r>
            <a:r>
              <a:rPr lang="en-US" sz="1000" dirty="0">
                <a:solidFill>
                  <a:srgbClr val="6B7385"/>
                </a:solidFill>
                <a:latin typeface="Calibri" pitchFamily="34" charset="0"/>
                <a:ea typeface="Calibri" pitchFamily="34" charset="-122"/>
                <a:cs typeface="Calibri" pitchFamily="34" charset="-120"/>
              </a:rPr>
              <a:t> powder</a:t>
            </a:r>
            <a:endParaRPr lang="en-US" sz="1000" dirty="0"/>
          </a:p>
          <a:p>
            <a:pPr algn="ctr" indent="0" marL="0">
              <a:buNone/>
            </a:pPr>
            <a:r>
              <a:rPr lang="en-US" sz="1000" dirty="0">
                <a:solidFill>
                  <a:srgbClr val="6B7385"/>
                </a:solidFill>
                <a:latin typeface="Calibri" pitchFamily="34" charset="0"/>
                <a:ea typeface="Calibri" pitchFamily="34" charset="-122"/>
                <a:cs typeface="Calibri" pitchFamily="34" charset="-120"/>
              </a:rPr>
              <a:t>(anhydrous) + water</a:t>
            </a:r>
            <a:endParaRPr lang="en-US" sz="1000" dirty="0"/>
          </a:p>
        </p:txBody>
      </p:sp>
      <p:sp>
        <p:nvSpPr>
          <p:cNvPr id="21" name="Shape 19"/>
          <p:cNvSpPr/>
          <p:nvPr/>
        </p:nvSpPr>
        <p:spPr>
          <a:xfrm>
            <a:off x="2286000" y="1920240"/>
            <a:ext cx="1737360" cy="91"/>
          </a:xfrm>
          <a:prstGeom prst="line">
            <a:avLst/>
          </a:prstGeom>
          <a:noFill/>
          <a:ln w="25400">
            <a:solidFill>
              <a:srgbClr val="C8414C"/>
            </a:solidFill>
            <a:prstDash val="solid"/>
            <a:tailEnd type="triangle"/>
          </a:ln>
        </p:spPr>
      </p:sp>
      <p:sp>
        <p:nvSpPr>
          <p:cNvPr id="22" name="Text 20"/>
          <p:cNvSpPr/>
          <p:nvPr/>
        </p:nvSpPr>
        <p:spPr>
          <a:xfrm>
            <a:off x="2286000" y="1627632"/>
            <a:ext cx="1737360" cy="256032"/>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heat</a:t>
            </a:r>
            <a:r>
              <a:rPr lang="en-US" sz="1000" dirty="0">
                <a:solidFill>
                  <a:srgbClr val="C8414C"/>
                </a:solidFill>
                <a:latin typeface="Calibri" pitchFamily="34" charset="0"/>
                <a:ea typeface="Calibri" pitchFamily="34" charset="-122"/>
                <a:cs typeface="Calibri" pitchFamily="34" charset="-120"/>
              </a:rPr>
              <a:t>: water given off</a:t>
            </a:r>
            <a:endParaRPr lang="en-US" sz="1000" dirty="0"/>
          </a:p>
        </p:txBody>
      </p:sp>
      <p:sp>
        <p:nvSpPr>
          <p:cNvPr id="23" name="Shape 21"/>
          <p:cNvSpPr/>
          <p:nvPr/>
        </p:nvSpPr>
        <p:spPr>
          <a:xfrm flipH="1">
            <a:off x="2286000" y="2377440"/>
            <a:ext cx="1737360" cy="91"/>
          </a:xfrm>
          <a:prstGeom prst="line">
            <a:avLst/>
          </a:prstGeom>
          <a:noFill/>
          <a:ln w="25400">
            <a:solidFill>
              <a:srgbClr val="6A3FA0"/>
            </a:solidFill>
            <a:prstDash val="solid"/>
            <a:tailEnd type="triangle"/>
          </a:ln>
        </p:spPr>
      </p:sp>
      <p:sp>
        <p:nvSpPr>
          <p:cNvPr id="24" name="Text 22"/>
          <p:cNvSpPr/>
          <p:nvPr/>
        </p:nvSpPr>
        <p:spPr>
          <a:xfrm>
            <a:off x="2194560" y="2432304"/>
            <a:ext cx="1920240" cy="384048"/>
          </a:xfrm>
          <a:prstGeom prst="rect">
            <a:avLst/>
          </a:prstGeom>
          <a:noFill/>
          <a:ln/>
        </p:spPr>
        <p:txBody>
          <a:bodyPr wrap="square" lIns="0" tIns="0" rIns="0" bIns="0" rtlCol="0" anchor="ctr"/>
          <a:lstStyle/>
          <a:p>
            <a:pPr algn="ctr" indent="0" marL="0">
              <a:buNone/>
            </a:pPr>
            <a:r>
              <a:rPr lang="en-US" sz="1000" b="1" dirty="0">
                <a:solidFill>
                  <a:srgbClr val="6A3FA0"/>
                </a:solidFill>
                <a:latin typeface="Calibri" pitchFamily="34" charset="0"/>
                <a:ea typeface="Calibri" pitchFamily="34" charset="-122"/>
                <a:cs typeface="Calibri" pitchFamily="34" charset="-120"/>
              </a:rPr>
              <a:t>add water</a:t>
            </a:r>
            <a:r>
              <a:rPr lang="en-US" sz="1000" dirty="0">
                <a:solidFill>
                  <a:srgbClr val="6A3FA0"/>
                </a:solidFill>
                <a:latin typeface="Calibri" pitchFamily="34" charset="0"/>
                <a:ea typeface="Calibri" pitchFamily="34" charset="-122"/>
                <a:cs typeface="Calibri" pitchFamily="34" charset="-120"/>
              </a:rPr>
              <a:t>: turns blue, gets </a:t>
            </a:r>
            <a:r>
              <a:rPr lang="en-US" sz="1000" b="1" dirty="0">
                <a:solidFill>
                  <a:srgbClr val="6A3FA0"/>
                </a:solidFill>
                <a:latin typeface="Calibri" pitchFamily="34" charset="0"/>
                <a:ea typeface="Calibri" pitchFamily="34" charset="-122"/>
                <a:cs typeface="Calibri" pitchFamily="34" charset="-120"/>
              </a:rPr>
              <a:t>hot</a:t>
            </a:r>
            <a:endParaRPr lang="en-US" sz="1000" dirty="0"/>
          </a:p>
        </p:txBody>
      </p:sp>
      <p:sp>
        <p:nvSpPr>
          <p:cNvPr id="25" name="Shape 23"/>
          <p:cNvSpPr/>
          <p:nvPr/>
        </p:nvSpPr>
        <p:spPr>
          <a:xfrm>
            <a:off x="640080" y="3200400"/>
            <a:ext cx="5120640" cy="365760"/>
          </a:xfrm>
          <a:prstGeom prst="roundRect">
            <a:avLst>
              <a:gd name="adj" fmla="val 12500"/>
            </a:avLst>
          </a:prstGeom>
          <a:solidFill>
            <a:srgbClr val="FFFFFF"/>
          </a:solidFill>
          <a:ln w="12700">
            <a:solidFill>
              <a:srgbClr val="DDD3EC"/>
            </a:solidFill>
            <a:prstDash val="solid"/>
          </a:ln>
        </p:spPr>
      </p:sp>
      <p:sp>
        <p:nvSpPr>
          <p:cNvPr id="26" name="Text 24"/>
          <p:cNvSpPr/>
          <p:nvPr/>
        </p:nvSpPr>
        <p:spPr>
          <a:xfrm>
            <a:off x="713232" y="3200400"/>
            <a:ext cx="4974336" cy="365760"/>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CuSO₄·5H₂O(s) ⇌ CuSO₄(s) + 5H₂O(l)</a:t>
            </a:r>
            <a:endParaRPr lang="en-US" sz="1200" dirty="0"/>
          </a:p>
        </p:txBody>
      </p:sp>
      <p:sp>
        <p:nvSpPr>
          <p:cNvPr id="27" name="Text 25"/>
          <p:cNvSpPr/>
          <p:nvPr/>
        </p:nvSpPr>
        <p:spPr>
          <a:xfrm>
            <a:off x="594360" y="3703320"/>
            <a:ext cx="5303520" cy="237744"/>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B</a:t>
            </a:r>
            <a:r>
              <a:rPr lang="en-US" sz="1100" dirty="0">
                <a:solidFill>
                  <a:srgbClr val="262B3A"/>
                </a:solidFill>
                <a:latin typeface="Calibri" pitchFamily="34" charset="0"/>
                <a:ea typeface="Calibri" pitchFamily="34" charset="-122"/>
                <a:cs typeface="Calibri" pitchFamily="34" charset="-120"/>
              </a:rPr>
              <a:t> Ammonium chloride</a:t>
            </a:r>
            <a:endParaRPr lang="en-US" sz="1100" dirty="0"/>
          </a:p>
        </p:txBody>
      </p:sp>
      <p:sp>
        <p:nvSpPr>
          <p:cNvPr id="28" name="Shape 26"/>
          <p:cNvSpPr/>
          <p:nvPr/>
        </p:nvSpPr>
        <p:spPr>
          <a:xfrm>
            <a:off x="914400" y="4023360"/>
            <a:ext cx="292608" cy="1088136"/>
          </a:xfrm>
          <a:prstGeom prst="rect">
            <a:avLst/>
          </a:prstGeom>
          <a:solidFill>
            <a:srgbClr val="EEF5FB"/>
          </a:solidFill>
          <a:ln/>
        </p:spPr>
      </p:sp>
      <p:sp>
        <p:nvSpPr>
          <p:cNvPr id="29" name="Shape 27"/>
          <p:cNvSpPr/>
          <p:nvPr/>
        </p:nvSpPr>
        <p:spPr>
          <a:xfrm>
            <a:off x="914400" y="4965192"/>
            <a:ext cx="292608" cy="292608"/>
          </a:xfrm>
          <a:prstGeom prst="ellipse">
            <a:avLst/>
          </a:prstGeom>
          <a:solidFill>
            <a:srgbClr val="EEF5FB"/>
          </a:solidFill>
          <a:ln w="15875">
            <a:solidFill>
              <a:srgbClr val="2A1F3D"/>
            </a:solidFill>
            <a:prstDash val="solid"/>
          </a:ln>
        </p:spPr>
      </p:sp>
      <p:sp>
        <p:nvSpPr>
          <p:cNvPr id="30" name="Shape 28"/>
          <p:cNvSpPr/>
          <p:nvPr/>
        </p:nvSpPr>
        <p:spPr>
          <a:xfrm>
            <a:off x="932688" y="4983480"/>
            <a:ext cx="256032" cy="182880"/>
          </a:xfrm>
          <a:prstGeom prst="rect">
            <a:avLst/>
          </a:prstGeom>
          <a:solidFill>
            <a:srgbClr val="FFFFFF"/>
          </a:solidFill>
          <a:ln w="6350">
            <a:solidFill>
              <a:srgbClr val="B0B0B0"/>
            </a:solidFill>
            <a:prstDash val="solid"/>
          </a:ln>
        </p:spPr>
      </p:sp>
      <p:sp>
        <p:nvSpPr>
          <p:cNvPr id="31" name="Shape 29"/>
          <p:cNvSpPr/>
          <p:nvPr/>
        </p:nvSpPr>
        <p:spPr>
          <a:xfrm>
            <a:off x="932688" y="4187952"/>
            <a:ext cx="256032" cy="109728"/>
          </a:xfrm>
          <a:prstGeom prst="rect">
            <a:avLst/>
          </a:prstGeom>
          <a:solidFill>
            <a:srgbClr val="FFFFFF"/>
          </a:solidFill>
          <a:ln w="6350">
            <a:solidFill>
              <a:srgbClr val="B0B0B0"/>
            </a:solidFill>
            <a:prstDash val="solid"/>
          </a:ln>
        </p:spPr>
      </p:sp>
      <p:sp>
        <p:nvSpPr>
          <p:cNvPr id="32" name="Shape 30"/>
          <p:cNvSpPr/>
          <p:nvPr/>
        </p:nvSpPr>
        <p:spPr>
          <a:xfrm>
            <a:off x="914400" y="4023360"/>
            <a:ext cx="91" cy="1088136"/>
          </a:xfrm>
          <a:prstGeom prst="line">
            <a:avLst/>
          </a:prstGeom>
          <a:noFill/>
          <a:ln w="15875">
            <a:solidFill>
              <a:srgbClr val="2A1F3D"/>
            </a:solidFill>
            <a:prstDash val="solid"/>
          </a:ln>
        </p:spPr>
      </p:sp>
      <p:sp>
        <p:nvSpPr>
          <p:cNvPr id="33" name="Shape 31"/>
          <p:cNvSpPr/>
          <p:nvPr/>
        </p:nvSpPr>
        <p:spPr>
          <a:xfrm>
            <a:off x="1207008" y="4023360"/>
            <a:ext cx="91" cy="1088136"/>
          </a:xfrm>
          <a:prstGeom prst="line">
            <a:avLst/>
          </a:prstGeom>
          <a:noFill/>
          <a:ln w="15875">
            <a:solidFill>
              <a:srgbClr val="2A1F3D"/>
            </a:solidFill>
            <a:prstDash val="solid"/>
          </a:ln>
        </p:spPr>
      </p:sp>
      <p:sp>
        <p:nvSpPr>
          <p:cNvPr id="34" name="Text 32"/>
          <p:cNvSpPr/>
          <p:nvPr/>
        </p:nvSpPr>
        <p:spPr>
          <a:xfrm>
            <a:off x="1280160" y="4910328"/>
            <a:ext cx="1463040" cy="237744"/>
          </a:xfrm>
          <a:prstGeom prst="rect">
            <a:avLst/>
          </a:prstGeom>
          <a:noFill/>
          <a:ln/>
        </p:spPr>
        <p:txBody>
          <a:bodyPr wrap="square" lIns="0" tIns="0" rIns="0" bIns="0" rtlCol="0" anchor="ctr"/>
          <a:lstStyle/>
          <a:p>
            <a:pPr algn="l" indent="0" marL="0">
              <a:buNone/>
            </a:pPr>
            <a:r>
              <a:rPr lang="en-US" sz="1000" dirty="0">
                <a:solidFill>
                  <a:srgbClr val="C8414C"/>
                </a:solidFill>
                <a:latin typeface="Calibri" pitchFamily="34" charset="0"/>
                <a:ea typeface="Calibri" pitchFamily="34" charset="-122"/>
                <a:cs typeface="Calibri" pitchFamily="34" charset="-120"/>
              </a:rPr>
              <a:t>← heated: solid </a:t>
            </a:r>
            <a:r>
              <a:rPr lang="en-US" sz="1000" b="1" dirty="0">
                <a:solidFill>
                  <a:srgbClr val="C8414C"/>
                </a:solidFill>
                <a:latin typeface="Calibri" pitchFamily="34" charset="0"/>
                <a:ea typeface="Calibri" pitchFamily="34" charset="-122"/>
                <a:cs typeface="Calibri" pitchFamily="34" charset="-120"/>
              </a:rPr>
              <a:t>breaks up</a:t>
            </a:r>
            <a:endParaRPr lang="en-US" sz="1000" dirty="0"/>
          </a:p>
        </p:txBody>
      </p:sp>
      <p:sp>
        <p:nvSpPr>
          <p:cNvPr id="35" name="Text 33"/>
          <p:cNvSpPr/>
          <p:nvPr/>
        </p:nvSpPr>
        <p:spPr>
          <a:xfrm>
            <a:off x="1280160" y="4114800"/>
            <a:ext cx="1737360" cy="237744"/>
          </a:xfrm>
          <a:prstGeom prst="rect">
            <a:avLst/>
          </a:prstGeom>
          <a:noFill/>
          <a:ln/>
        </p:spPr>
        <p:txBody>
          <a:bodyPr wrap="square" lIns="0" tIns="0" rIns="0" bIns="0" rtlCol="0" anchor="ctr"/>
          <a:lstStyle/>
          <a:p>
            <a:pPr algn="l" indent="0" marL="0">
              <a:buNone/>
            </a:pPr>
            <a:r>
              <a:rPr lang="en-US" sz="1000" dirty="0">
                <a:solidFill>
                  <a:srgbClr val="6A3FA0"/>
                </a:solidFill>
                <a:latin typeface="Calibri" pitchFamily="34" charset="0"/>
                <a:ea typeface="Calibri" pitchFamily="34" charset="-122"/>
                <a:cs typeface="Calibri" pitchFamily="34" charset="-120"/>
              </a:rPr>
              <a:t>← cool top: white solid </a:t>
            </a:r>
            <a:r>
              <a:rPr lang="en-US" sz="1000" b="1" dirty="0">
                <a:solidFill>
                  <a:srgbClr val="6A3FA0"/>
                </a:solidFill>
                <a:latin typeface="Calibri" pitchFamily="34" charset="0"/>
                <a:ea typeface="Calibri" pitchFamily="34" charset="-122"/>
                <a:cs typeface="Calibri" pitchFamily="34" charset="-120"/>
              </a:rPr>
              <a:t>re-forms</a:t>
            </a:r>
            <a:endParaRPr lang="en-US" sz="1000" dirty="0"/>
          </a:p>
        </p:txBody>
      </p:sp>
      <p:sp>
        <p:nvSpPr>
          <p:cNvPr id="36" name="Shape 34"/>
          <p:cNvSpPr/>
          <p:nvPr/>
        </p:nvSpPr>
        <p:spPr>
          <a:xfrm>
            <a:off x="3063240" y="4251960"/>
            <a:ext cx="2697480" cy="365760"/>
          </a:xfrm>
          <a:prstGeom prst="roundRect">
            <a:avLst>
              <a:gd name="adj" fmla="val 12500"/>
            </a:avLst>
          </a:prstGeom>
          <a:solidFill>
            <a:srgbClr val="FFFFFF"/>
          </a:solidFill>
          <a:ln w="12700">
            <a:solidFill>
              <a:srgbClr val="DDD3EC"/>
            </a:solidFill>
            <a:prstDash val="solid"/>
          </a:ln>
        </p:spPr>
      </p:sp>
      <p:sp>
        <p:nvSpPr>
          <p:cNvPr id="37" name="Text 35"/>
          <p:cNvSpPr/>
          <p:nvPr/>
        </p:nvSpPr>
        <p:spPr>
          <a:xfrm>
            <a:off x="3136392" y="4251960"/>
            <a:ext cx="2551176" cy="36576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NH₄Cl(s) ⇌ NH₃(g) + HCl(g)</a:t>
            </a:r>
            <a:endParaRPr lang="en-US" sz="1100" dirty="0"/>
          </a:p>
        </p:txBody>
      </p:sp>
      <p:sp>
        <p:nvSpPr>
          <p:cNvPr id="38" name="Text 36"/>
          <p:cNvSpPr/>
          <p:nvPr/>
        </p:nvSpPr>
        <p:spPr>
          <a:xfrm>
            <a:off x="3063240" y="4681728"/>
            <a:ext cx="2697480" cy="411480"/>
          </a:xfrm>
          <a:prstGeom prst="rect">
            <a:avLst/>
          </a:prstGeom>
          <a:noFill/>
          <a:ln/>
        </p:spPr>
        <p:txBody>
          <a:bodyPr wrap="square" lIns="0" tIns="0" rIns="0" bIns="0" rtlCol="0" anchor="ctr"/>
          <a:lstStyle/>
          <a:p>
            <a:pPr algn="ctr" indent="0" marL="0">
              <a:buNone/>
            </a:pPr>
            <a:r>
              <a:rPr lang="en-US" sz="1000" dirty="0">
                <a:solidFill>
                  <a:srgbClr val="2A1F3D"/>
                </a:solidFill>
                <a:latin typeface="Calibri" pitchFamily="34" charset="0"/>
                <a:ea typeface="Calibri" pitchFamily="34" charset="-122"/>
                <a:cs typeface="Calibri" pitchFamily="34" charset="-120"/>
              </a:rPr>
              <a:t>forward ⟶ endothermic</a:t>
            </a:r>
            <a:endParaRPr lang="en-US" sz="1000" dirty="0"/>
          </a:p>
          <a:p>
            <a:pPr algn="ctr" indent="0" marL="0">
              <a:buNone/>
            </a:pPr>
            <a:r>
              <a:rPr lang="en-US" sz="1000" dirty="0">
                <a:solidFill>
                  <a:srgbClr val="2A1F3D"/>
                </a:solidFill>
                <a:latin typeface="Calibri" pitchFamily="34" charset="0"/>
                <a:ea typeface="Calibri" pitchFamily="34" charset="-122"/>
                <a:cs typeface="Calibri" pitchFamily="34" charset="-120"/>
              </a:rPr>
              <a:t>reverse ⟵ exothermic</a:t>
            </a:r>
            <a:endParaRPr lang="en-US" sz="1000" dirty="0"/>
          </a:p>
        </p:txBody>
      </p:sp>
      <p:sp>
        <p:nvSpPr>
          <p:cNvPr id="39" name="Shape 37"/>
          <p:cNvSpPr/>
          <p:nvPr/>
        </p:nvSpPr>
        <p:spPr>
          <a:xfrm>
            <a:off x="6217920" y="1188720"/>
            <a:ext cx="5562295" cy="3063240"/>
          </a:xfrm>
          <a:prstGeom prst="roundRect">
            <a:avLst>
              <a:gd name="adj" fmla="val 1791"/>
            </a:avLst>
          </a:prstGeom>
          <a:solidFill>
            <a:srgbClr val="F8F5FC"/>
          </a:solidFill>
          <a:ln w="9525">
            <a:solidFill>
              <a:srgbClr val="DDD3EC"/>
            </a:solidFill>
            <a:prstDash val="solid"/>
          </a:ln>
        </p:spPr>
      </p:sp>
      <p:sp>
        <p:nvSpPr>
          <p:cNvPr id="40" name="Text 3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Reactions that go both ways</a:t>
            </a:r>
            <a:endParaRPr lang="en-US" sz="1300" dirty="0"/>
          </a:p>
        </p:txBody>
      </p:sp>
      <p:sp>
        <p:nvSpPr>
          <p:cNvPr id="41" name="Text 39"/>
          <p:cNvSpPr/>
          <p:nvPr/>
        </p:nvSpPr>
        <p:spPr>
          <a:xfrm>
            <a:off x="6382512" y="1609344"/>
            <a:ext cx="5233111" cy="256946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reversible reaction</a:t>
            </a:r>
            <a:r>
              <a:rPr lang="en-US" sz="1150" dirty="0">
                <a:solidFill>
                  <a:srgbClr val="262B3A"/>
                </a:solidFill>
                <a:latin typeface="Calibri" pitchFamily="34" charset="0"/>
                <a:ea typeface="Calibri" pitchFamily="34" charset="-122"/>
                <a:cs typeface="Calibri" pitchFamily="34" charset="-120"/>
              </a:rPr>
              <a:t> can go </a:t>
            </a:r>
            <a:r>
              <a:rPr lang="en-US" sz="1150" b="1" dirty="0">
                <a:solidFill>
                  <a:srgbClr val="262B3A"/>
                </a:solidFill>
                <a:latin typeface="Calibri" pitchFamily="34" charset="0"/>
                <a:ea typeface="Calibri" pitchFamily="34" charset="-122"/>
                <a:cs typeface="Calibri" pitchFamily="34" charset="-120"/>
              </a:rPr>
              <a:t>forwards</a:t>
            </a:r>
            <a:r>
              <a:rPr lang="en-US" sz="1150" dirty="0">
                <a:solidFill>
                  <a:srgbClr val="262B3A"/>
                </a:solidFill>
                <a:latin typeface="Calibri" pitchFamily="34" charset="0"/>
                <a:ea typeface="Calibri" pitchFamily="34" charset="-122"/>
                <a:cs typeface="Calibri" pitchFamily="34" charset="-120"/>
              </a:rPr>
              <a:t> (reactants → products) and </a:t>
            </a:r>
            <a:r>
              <a:rPr lang="en-US" sz="1150" b="1" dirty="0">
                <a:solidFill>
                  <a:srgbClr val="262B3A"/>
                </a:solidFill>
                <a:latin typeface="Calibri" pitchFamily="34" charset="0"/>
                <a:ea typeface="Calibri" pitchFamily="34" charset="-122"/>
                <a:cs typeface="Calibri" pitchFamily="34" charset="-120"/>
              </a:rPr>
              <a:t>backwards</a:t>
            </a:r>
            <a:r>
              <a:rPr lang="en-US" sz="1150" dirty="0">
                <a:solidFill>
                  <a:srgbClr val="262B3A"/>
                </a:solidFill>
                <a:latin typeface="Calibri" pitchFamily="34" charset="0"/>
                <a:ea typeface="Calibri" pitchFamily="34" charset="-122"/>
                <a:cs typeface="Calibri" pitchFamily="34" charset="-120"/>
              </a:rPr>
              <a:t> (products → reactants).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symbol </a:t>
            </a:r>
            <a:r>
              <a:rPr lang="en-US" sz="1150" b="1" dirty="0">
                <a:solidFill>
                  <a:srgbClr val="262B3A"/>
                </a:solidFill>
                <a:latin typeface="Calibri" pitchFamily="34" charset="0"/>
                <a:ea typeface="Calibri" pitchFamily="34" charset="-122"/>
                <a:cs typeface="Calibri" pitchFamily="34" charset="-120"/>
              </a:rPr>
              <a:t>⇌</a:t>
            </a:r>
            <a:r>
              <a:rPr lang="en-US" sz="1150" dirty="0">
                <a:solidFill>
                  <a:srgbClr val="262B3A"/>
                </a:solidFill>
                <a:latin typeface="Calibri" pitchFamily="34" charset="0"/>
                <a:ea typeface="Calibri" pitchFamily="34" charset="-122"/>
                <a:cs typeface="Calibri" pitchFamily="34" charset="-120"/>
              </a:rPr>
              <a:t> means the reaction is reversible.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Changing the </a:t>
            </a:r>
            <a:r>
              <a:rPr lang="en-US" sz="1150" b="1" dirty="0">
                <a:solidFill>
                  <a:srgbClr val="262B3A"/>
                </a:solidFill>
                <a:latin typeface="Calibri" pitchFamily="34" charset="0"/>
                <a:ea typeface="Calibri" pitchFamily="34" charset="-122"/>
                <a:cs typeface="Calibri" pitchFamily="34" charset="-120"/>
              </a:rPr>
              <a:t>conditions</a:t>
            </a:r>
            <a:r>
              <a:rPr lang="en-US" sz="1150" dirty="0">
                <a:solidFill>
                  <a:srgbClr val="262B3A"/>
                </a:solidFill>
                <a:latin typeface="Calibri" pitchFamily="34" charset="0"/>
                <a:ea typeface="Calibri" pitchFamily="34" charset="-122"/>
                <a:cs typeface="Calibri" pitchFamily="34" charset="-120"/>
              </a:rPr>
              <a:t> (e.g. heating or cooling, adding or removing a substance) decides which way it goes.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If the forward reaction is </a:t>
            </a:r>
            <a:r>
              <a:rPr lang="en-US" sz="1150" b="1" dirty="0">
                <a:solidFill>
                  <a:srgbClr val="262B3A"/>
                </a:solidFill>
                <a:latin typeface="Calibri" pitchFamily="34" charset="0"/>
                <a:ea typeface="Calibri" pitchFamily="34" charset="-122"/>
                <a:cs typeface="Calibri" pitchFamily="34" charset="-120"/>
              </a:rPr>
              <a:t>endothermic</a:t>
            </a:r>
            <a:r>
              <a:rPr lang="en-US" sz="1150" dirty="0">
                <a:solidFill>
                  <a:srgbClr val="262B3A"/>
                </a:solidFill>
                <a:latin typeface="Calibri" pitchFamily="34" charset="0"/>
                <a:ea typeface="Calibri" pitchFamily="34" charset="-122"/>
                <a:cs typeface="Calibri" pitchFamily="34" charset="-120"/>
              </a:rPr>
              <a:t>, the reverse reaction is </a:t>
            </a:r>
            <a:r>
              <a:rPr lang="en-US" sz="1150" b="1" dirty="0">
                <a:solidFill>
                  <a:srgbClr val="262B3A"/>
                </a:solidFill>
                <a:latin typeface="Calibri" pitchFamily="34" charset="0"/>
                <a:ea typeface="Calibri" pitchFamily="34" charset="-122"/>
                <a:cs typeface="Calibri" pitchFamily="34" charset="-120"/>
              </a:rPr>
              <a:t>exothermic</a:t>
            </a:r>
            <a:r>
              <a:rPr lang="en-US" sz="1150" dirty="0">
                <a:solidFill>
                  <a:srgbClr val="262B3A"/>
                </a:solidFill>
                <a:latin typeface="Calibri" pitchFamily="34" charset="0"/>
                <a:ea typeface="Calibri" pitchFamily="34" charset="-122"/>
                <a:cs typeface="Calibri" pitchFamily="34" charset="-120"/>
              </a:rPr>
              <a:t>: the </a:t>
            </a:r>
            <a:r>
              <a:rPr lang="en-US" sz="1150" b="1" dirty="0">
                <a:solidFill>
                  <a:srgbClr val="262B3A"/>
                </a:solidFill>
                <a:latin typeface="Calibri" pitchFamily="34" charset="0"/>
                <a:ea typeface="Calibri" pitchFamily="34" charset="-122"/>
                <a:cs typeface="Calibri" pitchFamily="34" charset="-120"/>
              </a:rPr>
              <a:t>same amount</a:t>
            </a:r>
            <a:r>
              <a:rPr lang="en-US" sz="1150" dirty="0">
                <a:solidFill>
                  <a:srgbClr val="262B3A"/>
                </a:solidFill>
                <a:latin typeface="Calibri" pitchFamily="34" charset="0"/>
                <a:ea typeface="Calibri" pitchFamily="34" charset="-122"/>
                <a:cs typeface="Calibri" pitchFamily="34" charset="-120"/>
              </a:rPr>
              <a:t> of energy is transferred.</a:t>
            </a:r>
            <a:endParaRPr lang="en-US" sz="1150" dirty="0"/>
          </a:p>
        </p:txBody>
      </p:sp>
      <p:sp>
        <p:nvSpPr>
          <p:cNvPr id="42" name="Shape 40"/>
          <p:cNvSpPr/>
          <p:nvPr/>
        </p:nvSpPr>
        <p:spPr>
          <a:xfrm>
            <a:off x="6217920" y="4389120"/>
            <a:ext cx="5562295" cy="1325880"/>
          </a:xfrm>
          <a:prstGeom prst="roundRect">
            <a:avLst>
              <a:gd name="adj" fmla="val 4138"/>
            </a:avLst>
          </a:prstGeom>
          <a:solidFill>
            <a:srgbClr val="FFF4E0"/>
          </a:solidFill>
          <a:ln w="9525">
            <a:solidFill>
              <a:srgbClr val="F1D9A8"/>
            </a:solidFill>
            <a:prstDash val="solid"/>
          </a:ln>
        </p:spPr>
      </p:sp>
      <p:sp>
        <p:nvSpPr>
          <p:cNvPr id="43" name="Text 41"/>
          <p:cNvSpPr/>
          <p:nvPr/>
        </p:nvSpPr>
        <p:spPr>
          <a:xfrm>
            <a:off x="6382512" y="446227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reading ⇌</a:t>
            </a:r>
            <a:endParaRPr lang="en-US" sz="1300" dirty="0"/>
          </a:p>
        </p:txBody>
      </p:sp>
      <p:sp>
        <p:nvSpPr>
          <p:cNvPr id="44" name="Text 42"/>
          <p:cNvSpPr/>
          <p:nvPr/>
        </p:nvSpPr>
        <p:spPr>
          <a:xfrm>
            <a:off x="6382512" y="4773168"/>
            <a:ext cx="5233111" cy="8686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N₂(g) + 3H₂(g) ⇌ 2NH₃(g). What does the equation tell you?</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Forward   </a:t>
            </a:r>
            <a:r>
              <a:rPr lang="en-US" sz="1050" dirty="0">
                <a:solidFill>
                  <a:srgbClr val="262B3A"/>
                </a:solidFill>
                <a:latin typeface="Calibri" pitchFamily="34" charset="0"/>
                <a:ea typeface="Calibri" pitchFamily="34" charset="-122"/>
                <a:cs typeface="Calibri" pitchFamily="34" charset="-120"/>
              </a:rPr>
              <a:t>nitrogen and hydrogen react to make ammonia</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ammonia can also </a:t>
            </a:r>
            <a:r>
              <a:rPr lang="en-US" sz="1050" b="1" dirty="0">
                <a:solidFill>
                  <a:srgbClr val="C8414C"/>
                </a:solidFill>
                <a:latin typeface="Calibri" pitchFamily="34" charset="0"/>
                <a:ea typeface="Calibri" pitchFamily="34" charset="-122"/>
                <a:cs typeface="Calibri" pitchFamily="34" charset="-120"/>
              </a:rPr>
              <a:t>break down</a:t>
            </a:r>
            <a:r>
              <a:rPr lang="en-US" sz="1050" b="1" dirty="0">
                <a:solidFill>
                  <a:srgbClr val="C8414C"/>
                </a:solidFill>
                <a:latin typeface="Calibri" pitchFamily="34" charset="0"/>
                <a:ea typeface="Calibri" pitchFamily="34" charset="-122"/>
                <a:cs typeface="Calibri" pitchFamily="34" charset="-120"/>
              </a:rPr>
              <a:t> into N₂ and H₂: the reaction is </a:t>
            </a:r>
            <a:r>
              <a:rPr lang="en-US" sz="1050" b="1" dirty="0">
                <a:solidFill>
                  <a:srgbClr val="C8414C"/>
                </a:solidFill>
                <a:latin typeface="Calibri" pitchFamily="34" charset="0"/>
                <a:ea typeface="Calibri" pitchFamily="34" charset="-122"/>
                <a:cs typeface="Calibri" pitchFamily="34" charset="-120"/>
              </a:rPr>
              <a:t>reversible</a:t>
            </a:r>
            <a:endParaRPr lang="en-US" sz="1050" dirty="0"/>
          </a:p>
        </p:txBody>
      </p:sp>
      <p:sp>
        <p:nvSpPr>
          <p:cNvPr id="45" name="Shape 43"/>
          <p:cNvSpPr/>
          <p:nvPr/>
        </p:nvSpPr>
        <p:spPr>
          <a:xfrm>
            <a:off x="411480" y="5833872"/>
            <a:ext cx="11368735" cy="530352"/>
          </a:xfrm>
          <a:prstGeom prst="rect">
            <a:avLst/>
          </a:prstGeom>
          <a:solidFill>
            <a:srgbClr val="FFF4E0"/>
          </a:solidFill>
          <a:ln w="6350">
            <a:solidFill>
              <a:srgbClr val="F1D9A8"/>
            </a:solidFill>
            <a:prstDash val="solid"/>
          </a:ln>
        </p:spPr>
      </p:sp>
      <p:sp>
        <p:nvSpPr>
          <p:cNvPr id="46" name="Shape 44"/>
          <p:cNvSpPr/>
          <p:nvPr/>
        </p:nvSpPr>
        <p:spPr>
          <a:xfrm>
            <a:off x="411480" y="5833872"/>
            <a:ext cx="82296" cy="530352"/>
          </a:xfrm>
          <a:prstGeom prst="rect">
            <a:avLst/>
          </a:prstGeom>
          <a:solidFill>
            <a:srgbClr val="E39A2F"/>
          </a:solidFill>
          <a:ln w="12700">
            <a:solidFill>
              <a:srgbClr val="E39A2F"/>
            </a:solidFill>
            <a:prstDash val="solid"/>
          </a:ln>
        </p:spPr>
      </p:sp>
      <p:sp>
        <p:nvSpPr>
          <p:cNvPr id="47" name="Text 4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White anhydrous copper(II) sulfate is used to </a:t>
            </a:r>
            <a:r>
              <a:rPr lang="en-US" sz="1150" b="1" dirty="0">
                <a:solidFill>
                  <a:srgbClr val="262B3A"/>
                </a:solidFill>
                <a:latin typeface="Calibri" pitchFamily="34" charset="0"/>
                <a:ea typeface="Calibri" pitchFamily="34" charset="-122"/>
                <a:cs typeface="Calibri" pitchFamily="34" charset="-120"/>
              </a:rPr>
              <a:t>test for water</a:t>
            </a:r>
            <a:r>
              <a:rPr lang="en-US" sz="1150" dirty="0">
                <a:solidFill>
                  <a:srgbClr val="262B3A"/>
                </a:solidFill>
                <a:latin typeface="Calibri" pitchFamily="34" charset="0"/>
                <a:ea typeface="Calibri" pitchFamily="34" charset="-122"/>
                <a:cs typeface="Calibri" pitchFamily="34" charset="-120"/>
              </a:rPr>
              <a:t>. What would you </a:t>
            </a:r>
            <a:r>
              <a:rPr lang="en-US" sz="1150" b="1" dirty="0">
                <a:solidFill>
                  <a:srgbClr val="262B3A"/>
                </a:solidFill>
                <a:latin typeface="Calibri" pitchFamily="34" charset="0"/>
                <a:ea typeface="Calibri" pitchFamily="34" charset="-122"/>
                <a:cs typeface="Calibri" pitchFamily="34" charset="-120"/>
              </a:rPr>
              <a:t>see</a:t>
            </a:r>
            <a:r>
              <a:rPr lang="en-US" sz="1150" dirty="0">
                <a:solidFill>
                  <a:srgbClr val="262B3A"/>
                </a:solidFill>
                <a:latin typeface="Calibri" pitchFamily="34" charset="0"/>
                <a:ea typeface="Calibri" pitchFamily="34" charset="-122"/>
                <a:cs typeface="Calibri" pitchFamily="34" charset="-120"/>
              </a:rPr>
              <a:t>, and what would you </a:t>
            </a:r>
            <a:r>
              <a:rPr lang="en-US" sz="1150" b="1" dirty="0">
                <a:solidFill>
                  <a:srgbClr val="262B3A"/>
                </a:solidFill>
                <a:latin typeface="Calibri" pitchFamily="34" charset="0"/>
                <a:ea typeface="Calibri" pitchFamily="34" charset="-122"/>
                <a:cs typeface="Calibri" pitchFamily="34" charset="-120"/>
              </a:rPr>
              <a:t>feel</a:t>
            </a:r>
            <a:r>
              <a:rPr lang="en-US" sz="1150" dirty="0">
                <a:solidFill>
                  <a:srgbClr val="262B3A"/>
                </a:solidFill>
                <a:latin typeface="Calibri" pitchFamily="34" charset="0"/>
                <a:ea typeface="Calibri" pitchFamily="34" charset="-122"/>
                <a:cs typeface="Calibri" pitchFamily="34" charset="-120"/>
              </a:rPr>
              <a:t> on the side of the tube?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a reversible reaction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C6.3.1 • suggested practical: dehydrating copper(II) sulfate and adding the water back</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6</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step 1 heat to constant mass; step 2 cool, then add water dropwise</a:t>
            </a:r>
            <a:endParaRPr lang="en-US" sz="1000" dirty="0"/>
          </a:p>
        </p:txBody>
      </p:sp>
      <p:sp>
        <p:nvSpPr>
          <p:cNvPr id="12" name="Shape 10"/>
          <p:cNvSpPr/>
          <p:nvPr/>
        </p:nvSpPr>
        <p:spPr>
          <a:xfrm>
            <a:off x="548640" y="4846320"/>
            <a:ext cx="5303520" cy="73152"/>
          </a:xfrm>
          <a:prstGeom prst="rect">
            <a:avLst/>
          </a:prstGeom>
          <a:solidFill>
            <a:srgbClr val="C99A5B"/>
          </a:solidFill>
          <a:ln w="9525">
            <a:solidFill>
              <a:srgbClr val="8A5A2B"/>
            </a:solidFill>
            <a:prstDash val="solid"/>
          </a:ln>
        </p:spPr>
      </p:sp>
      <p:sp>
        <p:nvSpPr>
          <p:cNvPr id="13" name="Text 11"/>
          <p:cNvSpPr/>
          <p:nvPr/>
        </p:nvSpPr>
        <p:spPr>
          <a:xfrm>
            <a:off x="594360" y="1298448"/>
            <a:ext cx="2651760" cy="237744"/>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Step 1</a:t>
            </a:r>
            <a:r>
              <a:rPr lang="en-US" sz="1100" dirty="0">
                <a:solidFill>
                  <a:srgbClr val="262B3A"/>
                </a:solidFill>
                <a:latin typeface="Calibri" pitchFamily="34" charset="0"/>
                <a:ea typeface="Calibri" pitchFamily="34" charset="-122"/>
                <a:cs typeface="Calibri" pitchFamily="34" charset="-120"/>
              </a:rPr>
              <a:t> Heat gently</a:t>
            </a:r>
            <a:endParaRPr lang="en-US" sz="1100" dirty="0"/>
          </a:p>
        </p:txBody>
      </p:sp>
      <p:sp>
        <p:nvSpPr>
          <p:cNvPr id="14" name="Text 12"/>
          <p:cNvSpPr/>
          <p:nvPr/>
        </p:nvSpPr>
        <p:spPr>
          <a:xfrm>
            <a:off x="3246120" y="1298448"/>
            <a:ext cx="2651760" cy="237744"/>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Step 2</a:t>
            </a:r>
            <a:r>
              <a:rPr lang="en-US" sz="1100" dirty="0">
                <a:solidFill>
                  <a:srgbClr val="262B3A"/>
                </a:solidFill>
                <a:latin typeface="Calibri" pitchFamily="34" charset="0"/>
                <a:ea typeface="Calibri" pitchFamily="34" charset="-122"/>
                <a:cs typeface="Calibri" pitchFamily="34" charset="-120"/>
              </a:rPr>
              <a:t> Cool, then add water</a:t>
            </a:r>
            <a:endParaRPr lang="en-US" sz="1100" dirty="0"/>
          </a:p>
        </p:txBody>
      </p:sp>
      <p:sp>
        <p:nvSpPr>
          <p:cNvPr id="15" name="Shape 13"/>
          <p:cNvSpPr/>
          <p:nvPr/>
        </p:nvSpPr>
        <p:spPr>
          <a:xfrm>
            <a:off x="1234440" y="4736592"/>
            <a:ext cx="1828800" cy="109728"/>
          </a:xfrm>
          <a:prstGeom prst="rect">
            <a:avLst/>
          </a:prstGeom>
          <a:solidFill>
            <a:srgbClr val="E8E3D6"/>
          </a:solidFill>
          <a:ln w="9525">
            <a:solidFill>
              <a:srgbClr val="9A8F78"/>
            </a:solidFill>
            <a:prstDash val="solid"/>
          </a:ln>
        </p:spPr>
      </p:sp>
      <p:sp>
        <p:nvSpPr>
          <p:cNvPr id="16" name="Shape 14"/>
          <p:cNvSpPr/>
          <p:nvPr/>
        </p:nvSpPr>
        <p:spPr>
          <a:xfrm>
            <a:off x="1417320" y="3611880"/>
            <a:ext cx="1463040" cy="54864"/>
          </a:xfrm>
          <a:prstGeom prst="rect">
            <a:avLst/>
          </a:prstGeom>
          <a:solidFill>
            <a:srgbClr val="5A6275"/>
          </a:solidFill>
          <a:ln w="6350">
            <a:solidFill>
              <a:srgbClr val="2D3748"/>
            </a:solidFill>
            <a:prstDash val="solid"/>
          </a:ln>
        </p:spPr>
      </p:sp>
      <p:sp>
        <p:nvSpPr>
          <p:cNvPr id="17" name="Shape 15"/>
          <p:cNvSpPr/>
          <p:nvPr/>
        </p:nvSpPr>
        <p:spPr>
          <a:xfrm flipH="1">
            <a:off x="1280160" y="3666744"/>
            <a:ext cx="182880" cy="1069848"/>
          </a:xfrm>
          <a:prstGeom prst="line">
            <a:avLst/>
          </a:prstGeom>
          <a:noFill/>
          <a:ln w="31750">
            <a:solidFill>
              <a:srgbClr val="5A6275"/>
            </a:solidFill>
            <a:prstDash val="solid"/>
          </a:ln>
        </p:spPr>
      </p:sp>
      <p:sp>
        <p:nvSpPr>
          <p:cNvPr id="18" name="Shape 16"/>
          <p:cNvSpPr/>
          <p:nvPr/>
        </p:nvSpPr>
        <p:spPr>
          <a:xfrm>
            <a:off x="2834640" y="3666744"/>
            <a:ext cx="182880" cy="1069848"/>
          </a:xfrm>
          <a:prstGeom prst="line">
            <a:avLst/>
          </a:prstGeom>
          <a:noFill/>
          <a:ln w="31750">
            <a:solidFill>
              <a:srgbClr val="5A6275"/>
            </a:solidFill>
            <a:prstDash val="solid"/>
          </a:ln>
        </p:spPr>
      </p:sp>
      <p:sp>
        <p:nvSpPr>
          <p:cNvPr id="19" name="Shape 17"/>
          <p:cNvSpPr/>
          <p:nvPr/>
        </p:nvSpPr>
        <p:spPr>
          <a:xfrm>
            <a:off x="1325880" y="3566160"/>
            <a:ext cx="1645920" cy="45720"/>
          </a:xfrm>
          <a:prstGeom prst="rect">
            <a:avLst/>
          </a:prstGeom>
          <a:solidFill>
            <a:srgbClr val="B8BEC8"/>
          </a:solidFill>
          <a:ln w="6350">
            <a:solidFill>
              <a:srgbClr val="6B7385"/>
            </a:solidFill>
            <a:prstDash val="solid"/>
          </a:ln>
        </p:spPr>
      </p:sp>
      <p:sp>
        <p:nvSpPr>
          <p:cNvPr id="20" name="Shape 18"/>
          <p:cNvSpPr/>
          <p:nvPr/>
        </p:nvSpPr>
        <p:spPr>
          <a:xfrm>
            <a:off x="1786738" y="3566160"/>
            <a:ext cx="724205" cy="45720"/>
          </a:xfrm>
          <a:prstGeom prst="rect">
            <a:avLst/>
          </a:prstGeom>
          <a:solidFill>
            <a:srgbClr val="E8E3D6"/>
          </a:solidFill>
          <a:ln w="6350">
            <a:solidFill>
              <a:srgbClr val="9A8F78"/>
            </a:solidFill>
            <a:prstDash val="solid"/>
          </a:ln>
        </p:spPr>
      </p:sp>
      <p:sp>
        <p:nvSpPr>
          <p:cNvPr id="21" name="Shape 19"/>
          <p:cNvSpPr/>
          <p:nvPr/>
        </p:nvSpPr>
        <p:spPr>
          <a:xfrm>
            <a:off x="1874520" y="4645152"/>
            <a:ext cx="548640" cy="91440"/>
          </a:xfrm>
          <a:prstGeom prst="rect">
            <a:avLst/>
          </a:prstGeom>
          <a:solidFill>
            <a:srgbClr val="4A5568"/>
          </a:solidFill>
          <a:ln w="12700">
            <a:solidFill>
              <a:srgbClr val="2D3748"/>
            </a:solidFill>
            <a:prstDash val="solid"/>
          </a:ln>
        </p:spPr>
      </p:sp>
      <p:sp>
        <p:nvSpPr>
          <p:cNvPr id="22" name="Shape 20"/>
          <p:cNvSpPr/>
          <p:nvPr/>
        </p:nvSpPr>
        <p:spPr>
          <a:xfrm>
            <a:off x="2084832" y="4050792"/>
            <a:ext cx="128016" cy="594360"/>
          </a:xfrm>
          <a:prstGeom prst="rect">
            <a:avLst/>
          </a:prstGeom>
          <a:solidFill>
            <a:srgbClr val="9AA3B0"/>
          </a:solidFill>
          <a:ln w="9525">
            <a:solidFill>
              <a:srgbClr val="4A5568"/>
            </a:solidFill>
            <a:prstDash val="solid"/>
          </a:ln>
        </p:spPr>
      </p:sp>
      <p:sp>
        <p:nvSpPr>
          <p:cNvPr id="23" name="Shape 21"/>
          <p:cNvSpPr/>
          <p:nvPr/>
        </p:nvSpPr>
        <p:spPr>
          <a:xfrm>
            <a:off x="2057400" y="3685032"/>
            <a:ext cx="182880" cy="384048"/>
          </a:xfrm>
          <a:prstGeom prst="ellipse">
            <a:avLst/>
          </a:prstGeom>
          <a:solidFill>
            <a:srgbClr val="7FA8E8">
              <a:alpha val="80000"/>
            </a:srgbClr>
          </a:solidFill>
          <a:ln w="9525">
            <a:solidFill>
              <a:srgbClr val="3E6FC1"/>
            </a:solidFill>
            <a:prstDash val="solid"/>
          </a:ln>
        </p:spPr>
      </p:sp>
      <p:sp>
        <p:nvSpPr>
          <p:cNvPr id="24" name="Shape 22"/>
          <p:cNvSpPr/>
          <p:nvPr/>
        </p:nvSpPr>
        <p:spPr>
          <a:xfrm>
            <a:off x="2103120" y="3822192"/>
            <a:ext cx="91440" cy="219456"/>
          </a:xfrm>
          <a:prstGeom prst="ellipse">
            <a:avLst/>
          </a:prstGeom>
          <a:solidFill>
            <a:srgbClr val="2F5FB0">
              <a:alpha val="90000"/>
            </a:srgbClr>
          </a:solidFill>
          <a:ln/>
        </p:spPr>
      </p:sp>
      <p:sp>
        <p:nvSpPr>
          <p:cNvPr id="25" name="Shape 23"/>
          <p:cNvSpPr/>
          <p:nvPr/>
        </p:nvSpPr>
        <p:spPr>
          <a:xfrm>
            <a:off x="1554480" y="3017520"/>
            <a:ext cx="1188720" cy="548640"/>
          </a:xfrm>
          <a:custGeom>
            <a:avLst/>
            <a:gdLst/>
            <a:ahLst/>
            <a:cxnLst/>
            <a:rect l="l" t="t" r="r" b="b"/>
            <a:pathLst>
              <a:path w="1188720" h="548640">
                <a:moveTo>
                  <a:pt x="0" y="0"/>
                </a:moveTo>
                <a:lnTo>
                  <a:pt x="11420" y="107034"/>
                </a:lnTo>
                <a:lnTo>
                  <a:pt x="45243" y="209955"/>
                </a:lnTo>
                <a:lnTo>
                  <a:pt x="100168" y="304808"/>
                </a:lnTo>
                <a:lnTo>
                  <a:pt x="174084" y="387947"/>
                </a:lnTo>
                <a:lnTo>
                  <a:pt x="264151" y="456177"/>
                </a:lnTo>
                <a:lnTo>
                  <a:pt x="366908" y="506877"/>
                </a:lnTo>
                <a:lnTo>
                  <a:pt x="478406" y="538098"/>
                </a:lnTo>
                <a:lnTo>
                  <a:pt x="594360" y="548640"/>
                </a:lnTo>
                <a:lnTo>
                  <a:pt x="710314" y="538098"/>
                </a:lnTo>
                <a:lnTo>
                  <a:pt x="821812" y="506877"/>
                </a:lnTo>
                <a:lnTo>
                  <a:pt x="924569" y="456177"/>
                </a:lnTo>
                <a:lnTo>
                  <a:pt x="1014636" y="387947"/>
                </a:lnTo>
                <a:lnTo>
                  <a:pt x="1088552" y="304808"/>
                </a:lnTo>
                <a:lnTo>
                  <a:pt x="1143477" y="209955"/>
                </a:lnTo>
                <a:lnTo>
                  <a:pt x="1177300" y="107034"/>
                </a:lnTo>
                <a:lnTo>
                  <a:pt x="1188720" y="0"/>
                </a:lnTo>
                <a:close/>
              </a:path>
            </a:pathLst>
          </a:custGeom>
          <a:solidFill>
            <a:srgbClr val="F7F3EA"/>
          </a:solidFill>
          <a:ln/>
        </p:spPr>
      </p:sp>
      <p:sp>
        <p:nvSpPr>
          <p:cNvPr id="26" name="Shape 24"/>
          <p:cNvSpPr/>
          <p:nvPr/>
        </p:nvSpPr>
        <p:spPr>
          <a:xfrm>
            <a:off x="1654648" y="3230888"/>
            <a:ext cx="988385" cy="335272"/>
          </a:xfrm>
          <a:custGeom>
            <a:avLst/>
            <a:gdLst/>
            <a:ahLst/>
            <a:cxnLst/>
            <a:rect l="l" t="t" r="r" b="b"/>
            <a:pathLst>
              <a:path w="988385" h="335272">
                <a:moveTo>
                  <a:pt x="0" y="91440"/>
                </a:moveTo>
                <a:lnTo>
                  <a:pt x="73916" y="174579"/>
                </a:lnTo>
                <a:lnTo>
                  <a:pt x="163984" y="242809"/>
                </a:lnTo>
                <a:lnTo>
                  <a:pt x="266741" y="293509"/>
                </a:lnTo>
                <a:lnTo>
                  <a:pt x="378238" y="324730"/>
                </a:lnTo>
                <a:lnTo>
                  <a:pt x="494192" y="335272"/>
                </a:lnTo>
                <a:lnTo>
                  <a:pt x="610146" y="324730"/>
                </a:lnTo>
                <a:lnTo>
                  <a:pt x="721644" y="293509"/>
                </a:lnTo>
                <a:lnTo>
                  <a:pt x="824401" y="242809"/>
                </a:lnTo>
                <a:lnTo>
                  <a:pt x="914468" y="174579"/>
                </a:lnTo>
                <a:lnTo>
                  <a:pt x="988385" y="91440"/>
                </a:lnTo>
                <a:lnTo>
                  <a:pt x="790708" y="45720"/>
                </a:lnTo>
                <a:lnTo>
                  <a:pt x="494192" y="0"/>
                </a:lnTo>
                <a:lnTo>
                  <a:pt x="197677" y="45720"/>
                </a:lnTo>
                <a:close/>
              </a:path>
            </a:pathLst>
          </a:custGeom>
          <a:solidFill>
            <a:srgbClr val="3F7FD0"/>
          </a:solidFill>
          <a:ln w="12700">
            <a:solidFill>
              <a:srgbClr val="2A5FA8"/>
            </a:solidFill>
            <a:prstDash val="solid"/>
          </a:ln>
        </p:spPr>
      </p:sp>
      <p:sp>
        <p:nvSpPr>
          <p:cNvPr id="27" name="Shape 25"/>
          <p:cNvSpPr/>
          <p:nvPr/>
        </p:nvSpPr>
        <p:spPr>
          <a:xfrm>
            <a:off x="1554480" y="3017520"/>
            <a:ext cx="1188720" cy="548640"/>
          </a:xfrm>
          <a:custGeom>
            <a:avLst/>
            <a:gdLst/>
            <a:ahLst/>
            <a:cxnLst/>
            <a:rect l="l" t="t" r="r" b="b"/>
            <a:pathLst>
              <a:path w="1188720" h="548640">
                <a:moveTo>
                  <a:pt x="0" y="0"/>
                </a:moveTo>
                <a:lnTo>
                  <a:pt x="11420" y="107034"/>
                </a:lnTo>
                <a:lnTo>
                  <a:pt x="45243" y="209955"/>
                </a:lnTo>
                <a:lnTo>
                  <a:pt x="100168" y="304808"/>
                </a:lnTo>
                <a:lnTo>
                  <a:pt x="174084" y="387947"/>
                </a:lnTo>
                <a:lnTo>
                  <a:pt x="264151" y="456177"/>
                </a:lnTo>
                <a:lnTo>
                  <a:pt x="366908" y="506877"/>
                </a:lnTo>
                <a:lnTo>
                  <a:pt x="478406" y="538098"/>
                </a:lnTo>
                <a:lnTo>
                  <a:pt x="594360" y="548640"/>
                </a:lnTo>
                <a:lnTo>
                  <a:pt x="710314" y="538098"/>
                </a:lnTo>
                <a:lnTo>
                  <a:pt x="821812" y="506877"/>
                </a:lnTo>
                <a:lnTo>
                  <a:pt x="924569" y="456177"/>
                </a:lnTo>
                <a:lnTo>
                  <a:pt x="1014636" y="387947"/>
                </a:lnTo>
                <a:lnTo>
                  <a:pt x="1088552" y="304808"/>
                </a:lnTo>
                <a:lnTo>
                  <a:pt x="1143477" y="209955"/>
                </a:lnTo>
                <a:lnTo>
                  <a:pt x="1177300" y="107034"/>
                </a:lnTo>
                <a:lnTo>
                  <a:pt x="1188720" y="0"/>
                </a:lnTo>
              </a:path>
            </a:pathLst>
          </a:custGeom>
          <a:ln w="19050">
            <a:solidFill>
              <a:srgbClr val="7A6E5A"/>
            </a:solidFill>
            <a:prstDash val="solid"/>
          </a:ln>
        </p:spPr>
      </p:sp>
      <p:sp>
        <p:nvSpPr>
          <p:cNvPr id="28" name="Shape 26"/>
          <p:cNvSpPr/>
          <p:nvPr/>
        </p:nvSpPr>
        <p:spPr>
          <a:xfrm>
            <a:off x="1508760" y="3017520"/>
            <a:ext cx="1280160" cy="91"/>
          </a:xfrm>
          <a:prstGeom prst="line">
            <a:avLst/>
          </a:prstGeom>
          <a:noFill/>
          <a:ln w="19050">
            <a:solidFill>
              <a:srgbClr val="7A6E5A"/>
            </a:solidFill>
            <a:prstDash val="solid"/>
          </a:ln>
        </p:spPr>
      </p:sp>
      <p:sp>
        <p:nvSpPr>
          <p:cNvPr id="29" name="Shape 27"/>
          <p:cNvSpPr/>
          <p:nvPr/>
        </p:nvSpPr>
        <p:spPr>
          <a:xfrm>
            <a:off x="1847088" y="2606040"/>
            <a:ext cx="146304" cy="274320"/>
          </a:xfrm>
          <a:prstGeom prst="arc">
            <a:avLst>
              <a:gd name="adj1" fmla="val 16200000"/>
              <a:gd name="adj2" fmla="val 5400000"/>
            </a:avLst>
          </a:prstGeom>
          <a:ln w="15875">
            <a:solidFill>
              <a:srgbClr val="A0A8B8"/>
            </a:solidFill>
            <a:prstDash val="solid"/>
          </a:ln>
        </p:spPr>
      </p:sp>
      <p:sp>
        <p:nvSpPr>
          <p:cNvPr id="30" name="Shape 28"/>
          <p:cNvSpPr/>
          <p:nvPr/>
        </p:nvSpPr>
        <p:spPr>
          <a:xfrm>
            <a:off x="2121408" y="2423160"/>
            <a:ext cx="146304" cy="274320"/>
          </a:xfrm>
          <a:prstGeom prst="arc">
            <a:avLst>
              <a:gd name="adj1" fmla="val 16200000"/>
              <a:gd name="adj2" fmla="val 5400000"/>
            </a:avLst>
          </a:prstGeom>
          <a:ln w="15875">
            <a:solidFill>
              <a:srgbClr val="A0A8B8"/>
            </a:solidFill>
            <a:prstDash val="solid"/>
          </a:ln>
        </p:spPr>
      </p:sp>
      <p:sp>
        <p:nvSpPr>
          <p:cNvPr id="31" name="Shape 29"/>
          <p:cNvSpPr/>
          <p:nvPr/>
        </p:nvSpPr>
        <p:spPr>
          <a:xfrm>
            <a:off x="2350008" y="2651760"/>
            <a:ext cx="146304" cy="274320"/>
          </a:xfrm>
          <a:prstGeom prst="arc">
            <a:avLst>
              <a:gd name="adj1" fmla="val 16200000"/>
              <a:gd name="adj2" fmla="val 5400000"/>
            </a:avLst>
          </a:prstGeom>
          <a:ln w="15875">
            <a:solidFill>
              <a:srgbClr val="A0A8B8"/>
            </a:solidFill>
            <a:prstDash val="solid"/>
          </a:ln>
        </p:spPr>
      </p:sp>
      <p:sp>
        <p:nvSpPr>
          <p:cNvPr id="32" name="Text 30"/>
          <p:cNvSpPr/>
          <p:nvPr/>
        </p:nvSpPr>
        <p:spPr>
          <a:xfrm>
            <a:off x="548640" y="2331720"/>
            <a:ext cx="109728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steam</a:t>
            </a:r>
            <a:endParaRPr lang="en-US" sz="1000" dirty="0"/>
          </a:p>
        </p:txBody>
      </p:sp>
      <p:sp>
        <p:nvSpPr>
          <p:cNvPr id="33" name="Text 31"/>
          <p:cNvSpPr/>
          <p:nvPr/>
        </p:nvSpPr>
        <p:spPr>
          <a:xfrm>
            <a:off x="457200" y="3017520"/>
            <a:ext cx="868680" cy="201168"/>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basin</a:t>
            </a:r>
            <a:endParaRPr lang="en-US" sz="1000" dirty="0"/>
          </a:p>
        </p:txBody>
      </p:sp>
      <p:sp>
        <p:nvSpPr>
          <p:cNvPr id="34" name="Text 32"/>
          <p:cNvSpPr/>
          <p:nvPr/>
        </p:nvSpPr>
        <p:spPr>
          <a:xfrm>
            <a:off x="457200" y="3474720"/>
            <a:ext cx="777240" cy="201168"/>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gauze</a:t>
            </a:r>
            <a:endParaRPr lang="en-US" sz="1000" dirty="0"/>
          </a:p>
        </p:txBody>
      </p:sp>
      <p:sp>
        <p:nvSpPr>
          <p:cNvPr id="35" name="Text 33"/>
          <p:cNvSpPr/>
          <p:nvPr/>
        </p:nvSpPr>
        <p:spPr>
          <a:xfrm>
            <a:off x="457200" y="4069080"/>
            <a:ext cx="685800" cy="201168"/>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tripod</a:t>
            </a:r>
            <a:endParaRPr lang="en-US" sz="1000" dirty="0"/>
          </a:p>
        </p:txBody>
      </p:sp>
      <p:sp>
        <p:nvSpPr>
          <p:cNvPr id="36" name="Text 34"/>
          <p:cNvSpPr/>
          <p:nvPr/>
        </p:nvSpPr>
        <p:spPr>
          <a:xfrm>
            <a:off x="2286000" y="4224528"/>
            <a:ext cx="685800" cy="36576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Bunsen</a:t>
            </a:r>
            <a:endParaRPr lang="en-US" sz="1000" dirty="0"/>
          </a:p>
          <a:p>
            <a:pPr algn="l" indent="0" marL="0">
              <a:buNone/>
            </a:pPr>
            <a:r>
              <a:rPr lang="en-US" sz="1000" b="1" dirty="0">
                <a:solidFill>
                  <a:srgbClr val="262B3A"/>
                </a:solidFill>
                <a:latin typeface="Calibri" pitchFamily="34" charset="0"/>
                <a:ea typeface="Calibri" pitchFamily="34" charset="-122"/>
                <a:cs typeface="Calibri" pitchFamily="34" charset="-120"/>
              </a:rPr>
              <a:t>burner</a:t>
            </a:r>
            <a:endParaRPr lang="en-US" sz="1000" dirty="0"/>
          </a:p>
        </p:txBody>
      </p:sp>
      <p:sp>
        <p:nvSpPr>
          <p:cNvPr id="37" name="Shape 35"/>
          <p:cNvSpPr/>
          <p:nvPr/>
        </p:nvSpPr>
        <p:spPr>
          <a:xfrm>
            <a:off x="3566160" y="4736592"/>
            <a:ext cx="2103120" cy="109728"/>
          </a:xfrm>
          <a:prstGeom prst="rect">
            <a:avLst/>
          </a:prstGeom>
          <a:solidFill>
            <a:srgbClr val="E8E3D6"/>
          </a:solidFill>
          <a:ln w="9525">
            <a:solidFill>
              <a:srgbClr val="9A8F78"/>
            </a:solidFill>
            <a:prstDash val="solid"/>
          </a:ln>
        </p:spPr>
      </p:sp>
      <p:sp>
        <p:nvSpPr>
          <p:cNvPr id="38" name="Shape 36"/>
          <p:cNvSpPr/>
          <p:nvPr/>
        </p:nvSpPr>
        <p:spPr>
          <a:xfrm>
            <a:off x="3931920" y="4160520"/>
            <a:ext cx="1280160" cy="566928"/>
          </a:xfrm>
          <a:custGeom>
            <a:avLst/>
            <a:gdLst/>
            <a:ahLst/>
            <a:cxnLst/>
            <a:rect l="l" t="t" r="r" b="b"/>
            <a:pathLst>
              <a:path w="1280160" h="566928">
                <a:moveTo>
                  <a:pt x="0" y="0"/>
                </a:moveTo>
                <a:lnTo>
                  <a:pt x="12299" y="110602"/>
                </a:lnTo>
                <a:lnTo>
                  <a:pt x="48723" y="216954"/>
                </a:lnTo>
                <a:lnTo>
                  <a:pt x="107873" y="314968"/>
                </a:lnTo>
                <a:lnTo>
                  <a:pt x="187475" y="400879"/>
                </a:lnTo>
                <a:lnTo>
                  <a:pt x="284471" y="471383"/>
                </a:lnTo>
                <a:lnTo>
                  <a:pt x="395132" y="523773"/>
                </a:lnTo>
                <a:lnTo>
                  <a:pt x="515207" y="556035"/>
                </a:lnTo>
                <a:lnTo>
                  <a:pt x="640080" y="566928"/>
                </a:lnTo>
                <a:lnTo>
                  <a:pt x="764953" y="556035"/>
                </a:lnTo>
                <a:lnTo>
                  <a:pt x="885028" y="523773"/>
                </a:lnTo>
                <a:lnTo>
                  <a:pt x="995689" y="471383"/>
                </a:lnTo>
                <a:lnTo>
                  <a:pt x="1092685" y="400879"/>
                </a:lnTo>
                <a:lnTo>
                  <a:pt x="1172287" y="314968"/>
                </a:lnTo>
                <a:lnTo>
                  <a:pt x="1231437" y="216954"/>
                </a:lnTo>
                <a:lnTo>
                  <a:pt x="1267861" y="110602"/>
                </a:lnTo>
                <a:lnTo>
                  <a:pt x="1280160" y="0"/>
                </a:lnTo>
                <a:close/>
              </a:path>
            </a:pathLst>
          </a:custGeom>
          <a:solidFill>
            <a:srgbClr val="F7F3EA"/>
          </a:solidFill>
          <a:ln/>
        </p:spPr>
      </p:sp>
      <p:sp>
        <p:nvSpPr>
          <p:cNvPr id="39" name="Shape 37"/>
          <p:cNvSpPr/>
          <p:nvPr/>
        </p:nvSpPr>
        <p:spPr>
          <a:xfrm>
            <a:off x="4039793" y="4384048"/>
            <a:ext cx="1064414" cy="343400"/>
          </a:xfrm>
          <a:custGeom>
            <a:avLst/>
            <a:gdLst/>
            <a:ahLst/>
            <a:cxnLst/>
            <a:rect l="l" t="t" r="r" b="b"/>
            <a:pathLst>
              <a:path w="1064414" h="343400">
                <a:moveTo>
                  <a:pt x="0" y="91440"/>
                </a:moveTo>
                <a:lnTo>
                  <a:pt x="79602" y="177350"/>
                </a:lnTo>
                <a:lnTo>
                  <a:pt x="176598" y="247855"/>
                </a:lnTo>
                <a:lnTo>
                  <a:pt x="287259" y="300245"/>
                </a:lnTo>
                <a:lnTo>
                  <a:pt x="407334" y="332506"/>
                </a:lnTo>
                <a:lnTo>
                  <a:pt x="532207" y="343400"/>
                </a:lnTo>
                <a:lnTo>
                  <a:pt x="657080" y="332506"/>
                </a:lnTo>
                <a:lnTo>
                  <a:pt x="777155" y="300245"/>
                </a:lnTo>
                <a:lnTo>
                  <a:pt x="887816" y="247855"/>
                </a:lnTo>
                <a:lnTo>
                  <a:pt x="984812" y="177350"/>
                </a:lnTo>
                <a:lnTo>
                  <a:pt x="1064414" y="91440"/>
                </a:lnTo>
                <a:lnTo>
                  <a:pt x="851531" y="45720"/>
                </a:lnTo>
                <a:lnTo>
                  <a:pt x="532207" y="0"/>
                </a:lnTo>
                <a:lnTo>
                  <a:pt x="212883" y="45720"/>
                </a:lnTo>
                <a:close/>
              </a:path>
            </a:pathLst>
          </a:custGeom>
          <a:solidFill>
            <a:srgbClr val="F4F4EE"/>
          </a:solidFill>
          <a:ln w="12700">
            <a:solidFill>
              <a:srgbClr val="B8B8A8"/>
            </a:solidFill>
            <a:prstDash val="solid"/>
          </a:ln>
        </p:spPr>
      </p:sp>
      <p:sp>
        <p:nvSpPr>
          <p:cNvPr id="40" name="Shape 38"/>
          <p:cNvSpPr/>
          <p:nvPr/>
        </p:nvSpPr>
        <p:spPr>
          <a:xfrm>
            <a:off x="3931920" y="4160520"/>
            <a:ext cx="1280160" cy="566928"/>
          </a:xfrm>
          <a:custGeom>
            <a:avLst/>
            <a:gdLst/>
            <a:ahLst/>
            <a:cxnLst/>
            <a:rect l="l" t="t" r="r" b="b"/>
            <a:pathLst>
              <a:path w="1280160" h="566928">
                <a:moveTo>
                  <a:pt x="0" y="0"/>
                </a:moveTo>
                <a:lnTo>
                  <a:pt x="12299" y="110602"/>
                </a:lnTo>
                <a:lnTo>
                  <a:pt x="48723" y="216954"/>
                </a:lnTo>
                <a:lnTo>
                  <a:pt x="107873" y="314968"/>
                </a:lnTo>
                <a:lnTo>
                  <a:pt x="187475" y="400879"/>
                </a:lnTo>
                <a:lnTo>
                  <a:pt x="284471" y="471383"/>
                </a:lnTo>
                <a:lnTo>
                  <a:pt x="395132" y="523773"/>
                </a:lnTo>
                <a:lnTo>
                  <a:pt x="515207" y="556035"/>
                </a:lnTo>
                <a:lnTo>
                  <a:pt x="640080" y="566928"/>
                </a:lnTo>
                <a:lnTo>
                  <a:pt x="764953" y="556035"/>
                </a:lnTo>
                <a:lnTo>
                  <a:pt x="885028" y="523773"/>
                </a:lnTo>
                <a:lnTo>
                  <a:pt x="995689" y="471383"/>
                </a:lnTo>
                <a:lnTo>
                  <a:pt x="1092685" y="400879"/>
                </a:lnTo>
                <a:lnTo>
                  <a:pt x="1172287" y="314968"/>
                </a:lnTo>
                <a:lnTo>
                  <a:pt x="1231437" y="216954"/>
                </a:lnTo>
                <a:lnTo>
                  <a:pt x="1267861" y="110602"/>
                </a:lnTo>
                <a:lnTo>
                  <a:pt x="1280160" y="0"/>
                </a:lnTo>
              </a:path>
            </a:pathLst>
          </a:custGeom>
          <a:ln w="19050">
            <a:solidFill>
              <a:srgbClr val="7A6E5A"/>
            </a:solidFill>
            <a:prstDash val="solid"/>
          </a:ln>
        </p:spPr>
      </p:sp>
      <p:sp>
        <p:nvSpPr>
          <p:cNvPr id="41" name="Shape 39"/>
          <p:cNvSpPr/>
          <p:nvPr/>
        </p:nvSpPr>
        <p:spPr>
          <a:xfrm>
            <a:off x="3886200" y="4160520"/>
            <a:ext cx="1371600" cy="91"/>
          </a:xfrm>
          <a:prstGeom prst="line">
            <a:avLst/>
          </a:prstGeom>
          <a:noFill/>
          <a:ln w="19050">
            <a:solidFill>
              <a:srgbClr val="7A6E5A"/>
            </a:solidFill>
            <a:prstDash val="solid"/>
          </a:ln>
        </p:spPr>
      </p:sp>
      <p:sp>
        <p:nvSpPr>
          <p:cNvPr id="42" name="Shape 40"/>
          <p:cNvSpPr/>
          <p:nvPr/>
        </p:nvSpPr>
        <p:spPr>
          <a:xfrm>
            <a:off x="4197096" y="3566160"/>
            <a:ext cx="109728" cy="411480"/>
          </a:xfrm>
          <a:custGeom>
            <a:avLst/>
            <a:gdLst/>
            <a:ahLst/>
            <a:cxnLst/>
            <a:rect l="l" t="t" r="r" b="b"/>
            <a:pathLst>
              <a:path w="109728" h="411480">
                <a:moveTo>
                  <a:pt x="27432" y="411480"/>
                </a:moveTo>
                <a:lnTo>
                  <a:pt x="82296" y="411480"/>
                </a:lnTo>
                <a:lnTo>
                  <a:pt x="109728" y="0"/>
                </a:lnTo>
                <a:lnTo>
                  <a:pt x="0" y="0"/>
                </a:lnTo>
                <a:close/>
              </a:path>
            </a:pathLst>
          </a:custGeom>
          <a:solidFill>
            <a:srgbClr val="EEF5FB"/>
          </a:solidFill>
          <a:ln w="12700">
            <a:solidFill>
              <a:srgbClr val="2A1F3D"/>
            </a:solidFill>
            <a:prstDash val="solid"/>
          </a:ln>
        </p:spPr>
      </p:sp>
      <p:sp>
        <p:nvSpPr>
          <p:cNvPr id="43" name="Shape 41"/>
          <p:cNvSpPr/>
          <p:nvPr/>
        </p:nvSpPr>
        <p:spPr>
          <a:xfrm>
            <a:off x="4169664" y="3264408"/>
            <a:ext cx="164592" cy="310896"/>
          </a:xfrm>
          <a:prstGeom prst="roundRect">
            <a:avLst>
              <a:gd name="adj" fmla="val 33333"/>
            </a:avLst>
          </a:prstGeom>
          <a:solidFill>
            <a:srgbClr val="6B4E9B"/>
          </a:solidFill>
          <a:ln w="9525">
            <a:solidFill>
              <a:srgbClr val="3E2B5E"/>
            </a:solidFill>
            <a:prstDash val="solid"/>
          </a:ln>
        </p:spPr>
      </p:sp>
      <p:sp>
        <p:nvSpPr>
          <p:cNvPr id="44" name="Shape 42"/>
          <p:cNvSpPr/>
          <p:nvPr/>
        </p:nvSpPr>
        <p:spPr>
          <a:xfrm>
            <a:off x="4219956" y="4009644"/>
            <a:ext cx="64008" cy="64008"/>
          </a:xfrm>
          <a:prstGeom prst="ellipse">
            <a:avLst/>
          </a:prstGeom>
          <a:solidFill>
            <a:srgbClr val="CFE4F7"/>
          </a:solidFill>
          <a:ln w="6350">
            <a:solidFill>
              <a:srgbClr val="5B9BD5"/>
            </a:solidFill>
            <a:prstDash val="solid"/>
          </a:ln>
        </p:spPr>
      </p:sp>
      <p:sp>
        <p:nvSpPr>
          <p:cNvPr id="45" name="Text 43"/>
          <p:cNvSpPr/>
          <p:nvPr/>
        </p:nvSpPr>
        <p:spPr>
          <a:xfrm>
            <a:off x="3108960" y="3063240"/>
            <a:ext cx="1005840" cy="4114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water from a dropping pipette</a:t>
            </a:r>
            <a:endParaRPr lang="en-US" sz="1000" dirty="0"/>
          </a:p>
        </p:txBody>
      </p:sp>
      <p:sp>
        <p:nvSpPr>
          <p:cNvPr id="46" name="Shape 44"/>
          <p:cNvSpPr/>
          <p:nvPr/>
        </p:nvSpPr>
        <p:spPr>
          <a:xfrm>
            <a:off x="4942332" y="2103120"/>
            <a:ext cx="82296" cy="2322576"/>
          </a:xfrm>
          <a:prstGeom prst="roundRect">
            <a:avLst>
              <a:gd name="adj" fmla="val 44444"/>
            </a:avLst>
          </a:prstGeom>
          <a:solidFill>
            <a:srgbClr val="FFFFFF"/>
          </a:solidFill>
          <a:ln w="9525">
            <a:solidFill>
              <a:srgbClr val="6B7385"/>
            </a:solidFill>
            <a:prstDash val="solid"/>
          </a:ln>
        </p:spPr>
      </p:sp>
      <p:sp>
        <p:nvSpPr>
          <p:cNvPr id="47" name="Shape 45"/>
          <p:cNvSpPr/>
          <p:nvPr/>
        </p:nvSpPr>
        <p:spPr>
          <a:xfrm>
            <a:off x="4919472" y="4370832"/>
            <a:ext cx="128016" cy="128016"/>
          </a:xfrm>
          <a:prstGeom prst="ellipse">
            <a:avLst/>
          </a:prstGeom>
          <a:solidFill>
            <a:srgbClr val="D9534F"/>
          </a:solidFill>
          <a:ln w="9525">
            <a:solidFill>
              <a:srgbClr val="8A2A2A"/>
            </a:solidFill>
            <a:prstDash val="solid"/>
          </a:ln>
        </p:spPr>
      </p:sp>
      <p:sp>
        <p:nvSpPr>
          <p:cNvPr id="48" name="Shape 46"/>
          <p:cNvSpPr/>
          <p:nvPr/>
        </p:nvSpPr>
        <p:spPr>
          <a:xfrm>
            <a:off x="4967021" y="3017520"/>
            <a:ext cx="32918" cy="1389888"/>
          </a:xfrm>
          <a:prstGeom prst="rect">
            <a:avLst/>
          </a:prstGeom>
          <a:solidFill>
            <a:srgbClr val="D9534F"/>
          </a:solidFill>
          <a:ln/>
        </p:spPr>
      </p:sp>
      <p:sp>
        <p:nvSpPr>
          <p:cNvPr id="49" name="Text 47"/>
          <p:cNvSpPr/>
          <p:nvPr/>
        </p:nvSpPr>
        <p:spPr>
          <a:xfrm>
            <a:off x="5120640" y="2240280"/>
            <a:ext cx="822960" cy="365760"/>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20.5 → 31.0 °C</a:t>
            </a:r>
            <a:endParaRPr lang="en-US" sz="1000" dirty="0"/>
          </a:p>
        </p:txBody>
      </p:sp>
      <p:sp>
        <p:nvSpPr>
          <p:cNvPr id="50" name="Text 48"/>
          <p:cNvSpPr/>
          <p:nvPr/>
        </p:nvSpPr>
        <p:spPr>
          <a:xfrm>
            <a:off x="3566160" y="4937760"/>
            <a:ext cx="210312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heat-resistant mat</a:t>
            </a:r>
            <a:endParaRPr lang="en-US" sz="1000" dirty="0"/>
          </a:p>
        </p:txBody>
      </p:sp>
      <p:sp>
        <p:nvSpPr>
          <p:cNvPr id="51" name="Shape 49"/>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52" name="Text 5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53" name="Text 51"/>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Weigh an empty </a:t>
            </a:r>
            <a:r>
              <a:rPr lang="en-US" sz="1050" b="1" dirty="0">
                <a:solidFill>
                  <a:srgbClr val="262B3A"/>
                </a:solidFill>
                <a:latin typeface="Calibri" pitchFamily="34" charset="0"/>
                <a:ea typeface="Calibri" pitchFamily="34" charset="-122"/>
                <a:cs typeface="Calibri" pitchFamily="34" charset="-120"/>
              </a:rPr>
              <a:t>evaporating basin</a:t>
            </a:r>
            <a:r>
              <a:rPr lang="en-US" sz="1050" dirty="0">
                <a:solidFill>
                  <a:srgbClr val="262B3A"/>
                </a:solidFill>
                <a:latin typeface="Calibri" pitchFamily="34" charset="0"/>
                <a:ea typeface="Calibri" pitchFamily="34" charset="-122"/>
                <a:cs typeface="Calibri" pitchFamily="34" charset="-120"/>
              </a:rPr>
              <a:t>, add about </a:t>
            </a:r>
            <a:r>
              <a:rPr lang="en-US" sz="1050" b="1" dirty="0">
                <a:solidFill>
                  <a:srgbClr val="262B3A"/>
                </a:solidFill>
                <a:latin typeface="Calibri" pitchFamily="34" charset="0"/>
                <a:ea typeface="Calibri" pitchFamily="34" charset="-122"/>
                <a:cs typeface="Calibri" pitchFamily="34" charset="-120"/>
              </a:rPr>
              <a:t>2.50 g</a:t>
            </a:r>
            <a:r>
              <a:rPr lang="en-US" sz="1050" dirty="0">
                <a:solidFill>
                  <a:srgbClr val="262B3A"/>
                </a:solidFill>
                <a:latin typeface="Calibri" pitchFamily="34" charset="0"/>
                <a:ea typeface="Calibri" pitchFamily="34" charset="-122"/>
                <a:cs typeface="Calibri" pitchFamily="34" charset="-120"/>
              </a:rPr>
              <a:t> of blue hydrated copper(II) sulfate and weigh again.</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Heat gently</a:t>
            </a:r>
            <a:r>
              <a:rPr lang="en-US" sz="1050" dirty="0">
                <a:solidFill>
                  <a:srgbClr val="262B3A"/>
                </a:solidFill>
                <a:latin typeface="Calibri" pitchFamily="34" charset="0"/>
                <a:ea typeface="Calibri" pitchFamily="34" charset="-122"/>
                <a:cs typeface="Calibri" pitchFamily="34" charset="-120"/>
              </a:rPr>
              <a:t>, stirring. Every 2 minutes let it cool briefly and </a:t>
            </a:r>
            <a:r>
              <a:rPr lang="en-US" sz="1050" b="1" dirty="0">
                <a:solidFill>
                  <a:srgbClr val="262B3A"/>
                </a:solidFill>
                <a:latin typeface="Calibri" pitchFamily="34" charset="0"/>
                <a:ea typeface="Calibri" pitchFamily="34" charset="-122"/>
                <a:cs typeface="Calibri" pitchFamily="34" charset="-120"/>
              </a:rPr>
              <a:t>reweigh</a:t>
            </a:r>
            <a:r>
              <a:rPr lang="en-US" sz="1050" dirty="0">
                <a:solidFill>
                  <a:srgbClr val="262B3A"/>
                </a:solidFill>
                <a:latin typeface="Calibri" pitchFamily="34" charset="0"/>
                <a:ea typeface="Calibri" pitchFamily="34" charset="-122"/>
                <a:cs typeface="Calibri" pitchFamily="34" charset="-120"/>
              </a:rPr>
              <a:t>. Stop when the mass is </a:t>
            </a:r>
            <a:r>
              <a:rPr lang="en-US" sz="1050" b="1" dirty="0">
                <a:solidFill>
                  <a:srgbClr val="262B3A"/>
                </a:solidFill>
                <a:latin typeface="Calibri" pitchFamily="34" charset="0"/>
                <a:ea typeface="Calibri" pitchFamily="34" charset="-122"/>
                <a:cs typeface="Calibri" pitchFamily="34" charset="-120"/>
              </a:rPr>
              <a:t>constant</a:t>
            </a:r>
            <a:r>
              <a:rPr lang="en-US" sz="1050" dirty="0">
                <a:solidFill>
                  <a:srgbClr val="262B3A"/>
                </a:solidFill>
                <a:latin typeface="Calibri" pitchFamily="34" charset="0"/>
                <a:ea typeface="Calibri" pitchFamily="34" charset="-122"/>
                <a:cs typeface="Calibri" pitchFamily="34" charset="-120"/>
              </a:rPr>
              <a:t> (all white).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Let the white powder cool fully. Put in a </a:t>
            </a:r>
            <a:r>
              <a:rPr lang="en-US" sz="1050" b="1" dirty="0">
                <a:solidFill>
                  <a:srgbClr val="262B3A"/>
                </a:solidFill>
                <a:latin typeface="Calibri" pitchFamily="34" charset="0"/>
                <a:ea typeface="Calibri" pitchFamily="34" charset="-122"/>
                <a:cs typeface="Calibri" pitchFamily="34" charset="-120"/>
              </a:rPr>
              <a:t>thermometer</a:t>
            </a:r>
            <a:r>
              <a:rPr lang="en-US" sz="1050" dirty="0">
                <a:solidFill>
                  <a:srgbClr val="262B3A"/>
                </a:solidFill>
                <a:latin typeface="Calibri" pitchFamily="34" charset="0"/>
                <a:ea typeface="Calibri" pitchFamily="34" charset="-122"/>
                <a:cs typeface="Calibri" pitchFamily="34" charset="-120"/>
              </a:rPr>
              <a:t> and add water </a:t>
            </a:r>
            <a:r>
              <a:rPr lang="en-US" sz="1050" b="1" dirty="0">
                <a:solidFill>
                  <a:srgbClr val="262B3A"/>
                </a:solidFill>
                <a:latin typeface="Calibri" pitchFamily="34" charset="0"/>
                <a:ea typeface="Calibri" pitchFamily="34" charset="-122"/>
                <a:cs typeface="Calibri" pitchFamily="34" charset="-120"/>
              </a:rPr>
              <a:t>drop by drop</a:t>
            </a:r>
            <a:r>
              <a:rPr lang="en-US" sz="1050" dirty="0">
                <a:solidFill>
                  <a:srgbClr val="262B3A"/>
                </a:solidFill>
                <a:latin typeface="Calibri" pitchFamily="34" charset="0"/>
                <a:ea typeface="Calibri" pitchFamily="34" charset="-122"/>
                <a:cs typeface="Calibri" pitchFamily="34" charset="-120"/>
              </a:rPr>
              <a:t>. Record the colour and the </a:t>
            </a:r>
            <a:r>
              <a:rPr lang="en-US" sz="1050" b="1" dirty="0">
                <a:solidFill>
                  <a:srgbClr val="262B3A"/>
                </a:solidFill>
                <a:latin typeface="Calibri" pitchFamily="34" charset="0"/>
                <a:ea typeface="Calibri" pitchFamily="34" charset="-122"/>
                <a:cs typeface="Calibri" pitchFamily="34" charset="-120"/>
              </a:rPr>
              <a:t>temperature</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IV</a:t>
            </a:r>
            <a:r>
              <a:rPr lang="en-US" sz="1050" dirty="0">
                <a:solidFill>
                  <a:srgbClr val="262B3A"/>
                </a:solidFill>
                <a:latin typeface="Calibri" pitchFamily="34" charset="0"/>
                <a:ea typeface="Calibri" pitchFamily="34" charset="-122"/>
                <a:cs typeface="Calibri" pitchFamily="34" charset="-120"/>
              </a:rPr>
              <a:t>: time of heating. </a:t>
            </a:r>
            <a:r>
              <a:rPr lang="en-US" sz="1050" b="1" dirty="0">
                <a:solidFill>
                  <a:srgbClr val="262B3A"/>
                </a:solidFill>
                <a:latin typeface="Calibri" pitchFamily="34" charset="0"/>
                <a:ea typeface="Calibri" pitchFamily="34" charset="-122"/>
                <a:cs typeface="Calibri" pitchFamily="34" charset="-120"/>
              </a:rPr>
              <a:t>DV</a:t>
            </a:r>
            <a:r>
              <a:rPr lang="en-US" sz="1050" dirty="0">
                <a:solidFill>
                  <a:srgbClr val="262B3A"/>
                </a:solidFill>
                <a:latin typeface="Calibri" pitchFamily="34" charset="0"/>
                <a:ea typeface="Calibri" pitchFamily="34" charset="-122"/>
                <a:cs typeface="Calibri" pitchFamily="34" charset="-120"/>
              </a:rPr>
              <a:t>: mass of solid. </a:t>
            </a:r>
            <a:r>
              <a:rPr lang="en-US" sz="1050" b="1" dirty="0">
                <a:solidFill>
                  <a:srgbClr val="262B3A"/>
                </a:solidFill>
                <a:latin typeface="Calibri" pitchFamily="34" charset="0"/>
                <a:ea typeface="Calibri" pitchFamily="34" charset="-122"/>
                <a:cs typeface="Calibri" pitchFamily="34" charset="-120"/>
              </a:rPr>
              <a:t>Control</a:t>
            </a:r>
            <a:r>
              <a:rPr lang="en-US" sz="1050" dirty="0">
                <a:solidFill>
                  <a:srgbClr val="262B3A"/>
                </a:solidFill>
                <a:latin typeface="Calibri" pitchFamily="34" charset="0"/>
                <a:ea typeface="Calibri" pitchFamily="34" charset="-122"/>
                <a:cs typeface="Calibri" pitchFamily="34" charset="-120"/>
              </a:rPr>
              <a:t>: same mass of crystals, same Bunsen flame.</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Safety</a:t>
            </a:r>
            <a:r>
              <a:rPr lang="en-US" sz="1050" dirty="0">
                <a:solidFill>
                  <a:srgbClr val="262B3A"/>
                </a:solidFill>
                <a:latin typeface="Calibri" pitchFamily="34" charset="0"/>
                <a:ea typeface="Calibri" pitchFamily="34" charset="-122"/>
                <a:cs typeface="Calibri" pitchFamily="34" charset="-120"/>
              </a:rPr>
              <a:t>: eye protection; </a:t>
            </a:r>
            <a:r>
              <a:rPr lang="en-US" sz="1050" b="1" dirty="0">
                <a:solidFill>
                  <a:srgbClr val="262B3A"/>
                </a:solidFill>
                <a:latin typeface="Calibri" pitchFamily="34" charset="0"/>
                <a:ea typeface="Calibri" pitchFamily="34" charset="-122"/>
                <a:cs typeface="Calibri" pitchFamily="34" charset="-120"/>
              </a:rPr>
              <a:t>HARMFUL</a:t>
            </a:r>
            <a:r>
              <a:rPr lang="en-US" sz="1050" dirty="0">
                <a:solidFill>
                  <a:srgbClr val="262B3A"/>
                </a:solidFill>
                <a:latin typeface="Calibri" pitchFamily="34" charset="0"/>
                <a:ea typeface="Calibri" pitchFamily="34" charset="-122"/>
                <a:cs typeface="Calibri" pitchFamily="34" charset="-120"/>
              </a:rPr>
              <a:t> if swallowed, eye and skin </a:t>
            </a:r>
            <a:r>
              <a:rPr lang="en-US" sz="1050" b="1" dirty="0">
                <a:solidFill>
                  <a:srgbClr val="262B3A"/>
                </a:solidFill>
                <a:latin typeface="Calibri" pitchFamily="34" charset="0"/>
                <a:ea typeface="Calibri" pitchFamily="34" charset="-122"/>
                <a:cs typeface="Calibri" pitchFamily="34" charset="-120"/>
              </a:rPr>
              <a:t>IRRITANT</a:t>
            </a:r>
            <a:r>
              <a:rPr lang="en-US" sz="1050" dirty="0">
                <a:solidFill>
                  <a:srgbClr val="262B3A"/>
                </a:solidFill>
                <a:latin typeface="Calibri" pitchFamily="34" charset="0"/>
                <a:ea typeface="Calibri" pitchFamily="34" charset="-122"/>
                <a:cs typeface="Calibri" pitchFamily="34" charset="-120"/>
              </a:rPr>
              <a:t>; heat gently (strong heating gives toxic fumes); the basin is hot.</a:t>
            </a:r>
            <a:endParaRPr lang="en-US" sz="1050" dirty="0"/>
          </a:p>
        </p:txBody>
      </p:sp>
      <p:sp>
        <p:nvSpPr>
          <p:cNvPr id="54" name="Shape 52"/>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55" name="Text 53"/>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mass of water given off</a:t>
            </a:r>
            <a:endParaRPr lang="en-US" sz="1300" dirty="0"/>
          </a:p>
        </p:txBody>
      </p:sp>
      <p:sp>
        <p:nvSpPr>
          <p:cNvPr id="56" name="Text 54"/>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Basin 31.42 g; basin + crystals 33.92 g; basin + white solid 33.02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Crystals   </a:t>
            </a:r>
            <a:r>
              <a:rPr lang="en-US" sz="1050" dirty="0">
                <a:solidFill>
                  <a:srgbClr val="262B3A"/>
                </a:solidFill>
                <a:latin typeface="Calibri" pitchFamily="34" charset="0"/>
                <a:ea typeface="Calibri" pitchFamily="34" charset="-122"/>
                <a:cs typeface="Calibri" pitchFamily="34" charset="-120"/>
              </a:rPr>
              <a:t>33.92 − 31.42 = 2.50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water lost = 33.92 − 33.02 = </a:t>
            </a:r>
            <a:r>
              <a:rPr lang="en-US" sz="1050" b="1" dirty="0">
                <a:solidFill>
                  <a:srgbClr val="C8414C"/>
                </a:solidFill>
                <a:latin typeface="Calibri" pitchFamily="34" charset="0"/>
                <a:ea typeface="Calibri" pitchFamily="34" charset="-122"/>
                <a:cs typeface="Calibri" pitchFamily="34" charset="-120"/>
              </a:rPr>
              <a:t>0.90 g</a:t>
            </a:r>
            <a:endParaRPr lang="en-US" sz="1050" dirty="0"/>
          </a:p>
        </p:txBody>
      </p:sp>
      <p:sp>
        <p:nvSpPr>
          <p:cNvPr id="57" name="Shape 55"/>
          <p:cNvSpPr/>
          <p:nvPr/>
        </p:nvSpPr>
        <p:spPr>
          <a:xfrm>
            <a:off x="411480" y="5833872"/>
            <a:ext cx="11368735" cy="530352"/>
          </a:xfrm>
          <a:prstGeom prst="rect">
            <a:avLst/>
          </a:prstGeom>
          <a:solidFill>
            <a:srgbClr val="FFF4E0"/>
          </a:solidFill>
          <a:ln w="6350">
            <a:solidFill>
              <a:srgbClr val="F1D9A8"/>
            </a:solidFill>
            <a:prstDash val="solid"/>
          </a:ln>
        </p:spPr>
      </p:sp>
      <p:sp>
        <p:nvSpPr>
          <p:cNvPr id="58" name="Shape 56"/>
          <p:cNvSpPr/>
          <p:nvPr/>
        </p:nvSpPr>
        <p:spPr>
          <a:xfrm>
            <a:off x="411480" y="5833872"/>
            <a:ext cx="82296" cy="530352"/>
          </a:xfrm>
          <a:prstGeom prst="rect">
            <a:avLst/>
          </a:prstGeom>
          <a:solidFill>
            <a:srgbClr val="E39A2F"/>
          </a:solidFill>
          <a:ln w="12700">
            <a:solidFill>
              <a:srgbClr val="E39A2F"/>
            </a:solidFill>
            <a:prstDash val="solid"/>
          </a:ln>
        </p:spPr>
      </p:sp>
      <p:sp>
        <p:nvSpPr>
          <p:cNvPr id="59" name="Text 5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must the white powder </a:t>
            </a:r>
            <a:r>
              <a:rPr lang="en-US" sz="1150" b="1" dirty="0">
                <a:solidFill>
                  <a:srgbClr val="262B3A"/>
                </a:solidFill>
                <a:latin typeface="Calibri" pitchFamily="34" charset="0"/>
                <a:ea typeface="Calibri" pitchFamily="34" charset="-122"/>
                <a:cs typeface="Calibri" pitchFamily="34" charset="-120"/>
              </a:rPr>
              <a:t>cool</a:t>
            </a:r>
            <a:r>
              <a:rPr lang="en-US" sz="1150" dirty="0">
                <a:solidFill>
                  <a:srgbClr val="262B3A"/>
                </a:solidFill>
                <a:latin typeface="Calibri" pitchFamily="34" charset="0"/>
                <a:ea typeface="Calibri" pitchFamily="34" charset="-122"/>
                <a:cs typeface="Calibri" pitchFamily="34" charset="-120"/>
              </a:rPr>
              <a:t> before you add water? Why does the temperature </a:t>
            </a:r>
            <a:r>
              <a:rPr lang="en-US" sz="1150" b="1" dirty="0">
                <a:solidFill>
                  <a:srgbClr val="262B3A"/>
                </a:solidFill>
                <a:latin typeface="Calibri" pitchFamily="34" charset="0"/>
                <a:ea typeface="Calibri" pitchFamily="34" charset="-122"/>
                <a:cs typeface="Calibri" pitchFamily="34" charset="-120"/>
              </a:rPr>
              <a:t>rise</a:t>
            </a:r>
            <a:r>
              <a:rPr lang="en-US" sz="1150" dirty="0">
                <a:solidFill>
                  <a:srgbClr val="262B3A"/>
                </a:solidFill>
                <a:latin typeface="Calibri" pitchFamily="34" charset="0"/>
                <a:ea typeface="Calibri" pitchFamily="34" charset="-122"/>
                <a:cs typeface="Calibri" pitchFamily="34" charset="-120"/>
              </a:rPr>
              <a:t> when the water is added?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results and analysis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C6.3.1 • table, graph to scale, mass of water and sources of error</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7</a:t>
            </a:r>
            <a:endParaRPr lang="en-US" sz="1000" dirty="0"/>
          </a:p>
        </p:txBody>
      </p:sp>
      <p:sp>
        <p:nvSpPr>
          <p:cNvPr id="10" name="Shape 8"/>
          <p:cNvSpPr/>
          <p:nvPr/>
        </p:nvSpPr>
        <p:spPr>
          <a:xfrm>
            <a:off x="411480" y="1188720"/>
            <a:ext cx="60350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graph plotted to scale from the results (illustrative data)</a:t>
            </a:r>
            <a:endParaRPr lang="en-US" sz="1000" dirty="0"/>
          </a:p>
        </p:txBody>
      </p:sp>
      <p:sp>
        <p:nvSpPr>
          <p:cNvPr id="12" name="Shape 10"/>
          <p:cNvSpPr/>
          <p:nvPr/>
        </p:nvSpPr>
        <p:spPr>
          <a:xfrm>
            <a:off x="1325880" y="1417320"/>
            <a:ext cx="4846320" cy="2514600"/>
          </a:xfrm>
          <a:prstGeom prst="rect">
            <a:avLst/>
          </a:prstGeom>
          <a:solidFill>
            <a:srgbClr val="FFFFFF"/>
          </a:solidFill>
          <a:ln/>
        </p:spPr>
      </p:sp>
      <p:sp>
        <p:nvSpPr>
          <p:cNvPr id="13" name="Shape 11"/>
          <p:cNvSpPr/>
          <p:nvPr/>
        </p:nvSpPr>
        <p:spPr>
          <a:xfrm>
            <a:off x="1325880" y="1417320"/>
            <a:ext cx="91" cy="2514600"/>
          </a:xfrm>
          <a:prstGeom prst="line">
            <a:avLst/>
          </a:prstGeom>
          <a:noFill/>
          <a:ln w="6350">
            <a:solidFill>
              <a:srgbClr val="D6CBE8"/>
            </a:solidFill>
            <a:prstDash val="solid"/>
          </a:ln>
        </p:spPr>
      </p:sp>
      <p:sp>
        <p:nvSpPr>
          <p:cNvPr id="14" name="Shape 12"/>
          <p:cNvSpPr/>
          <p:nvPr/>
        </p:nvSpPr>
        <p:spPr>
          <a:xfrm>
            <a:off x="1672046" y="1417320"/>
            <a:ext cx="91" cy="2514600"/>
          </a:xfrm>
          <a:prstGeom prst="line">
            <a:avLst/>
          </a:prstGeom>
          <a:noFill/>
          <a:ln w="6350">
            <a:solidFill>
              <a:srgbClr val="EEE9F6"/>
            </a:solidFill>
            <a:prstDash val="solid"/>
          </a:ln>
        </p:spPr>
      </p:sp>
      <p:sp>
        <p:nvSpPr>
          <p:cNvPr id="15" name="Shape 13"/>
          <p:cNvSpPr/>
          <p:nvPr/>
        </p:nvSpPr>
        <p:spPr>
          <a:xfrm>
            <a:off x="2018211" y="1417320"/>
            <a:ext cx="91" cy="2514600"/>
          </a:xfrm>
          <a:prstGeom prst="line">
            <a:avLst/>
          </a:prstGeom>
          <a:noFill/>
          <a:ln w="6350">
            <a:solidFill>
              <a:srgbClr val="D6CBE8"/>
            </a:solidFill>
            <a:prstDash val="solid"/>
          </a:ln>
        </p:spPr>
      </p:sp>
      <p:sp>
        <p:nvSpPr>
          <p:cNvPr id="16" name="Shape 14"/>
          <p:cNvSpPr/>
          <p:nvPr/>
        </p:nvSpPr>
        <p:spPr>
          <a:xfrm>
            <a:off x="2364377" y="1417320"/>
            <a:ext cx="91" cy="2514600"/>
          </a:xfrm>
          <a:prstGeom prst="line">
            <a:avLst/>
          </a:prstGeom>
          <a:noFill/>
          <a:ln w="6350">
            <a:solidFill>
              <a:srgbClr val="EEE9F6"/>
            </a:solidFill>
            <a:prstDash val="solid"/>
          </a:ln>
        </p:spPr>
      </p:sp>
      <p:sp>
        <p:nvSpPr>
          <p:cNvPr id="17" name="Shape 15"/>
          <p:cNvSpPr/>
          <p:nvPr/>
        </p:nvSpPr>
        <p:spPr>
          <a:xfrm>
            <a:off x="2710543" y="1417320"/>
            <a:ext cx="91" cy="2514600"/>
          </a:xfrm>
          <a:prstGeom prst="line">
            <a:avLst/>
          </a:prstGeom>
          <a:noFill/>
          <a:ln w="6350">
            <a:solidFill>
              <a:srgbClr val="D6CBE8"/>
            </a:solidFill>
            <a:prstDash val="solid"/>
          </a:ln>
        </p:spPr>
      </p:sp>
      <p:sp>
        <p:nvSpPr>
          <p:cNvPr id="18" name="Shape 16"/>
          <p:cNvSpPr/>
          <p:nvPr/>
        </p:nvSpPr>
        <p:spPr>
          <a:xfrm>
            <a:off x="3056709" y="1417320"/>
            <a:ext cx="91" cy="2514600"/>
          </a:xfrm>
          <a:prstGeom prst="line">
            <a:avLst/>
          </a:prstGeom>
          <a:noFill/>
          <a:ln w="6350">
            <a:solidFill>
              <a:srgbClr val="EEE9F6"/>
            </a:solidFill>
            <a:prstDash val="solid"/>
          </a:ln>
        </p:spPr>
      </p:sp>
      <p:sp>
        <p:nvSpPr>
          <p:cNvPr id="19" name="Shape 17"/>
          <p:cNvSpPr/>
          <p:nvPr/>
        </p:nvSpPr>
        <p:spPr>
          <a:xfrm>
            <a:off x="3402874" y="1417320"/>
            <a:ext cx="91" cy="2514600"/>
          </a:xfrm>
          <a:prstGeom prst="line">
            <a:avLst/>
          </a:prstGeom>
          <a:noFill/>
          <a:ln w="6350">
            <a:solidFill>
              <a:srgbClr val="D6CBE8"/>
            </a:solidFill>
            <a:prstDash val="solid"/>
          </a:ln>
        </p:spPr>
      </p:sp>
      <p:sp>
        <p:nvSpPr>
          <p:cNvPr id="20" name="Shape 18"/>
          <p:cNvSpPr/>
          <p:nvPr/>
        </p:nvSpPr>
        <p:spPr>
          <a:xfrm>
            <a:off x="3749040" y="1417320"/>
            <a:ext cx="91" cy="2514600"/>
          </a:xfrm>
          <a:prstGeom prst="line">
            <a:avLst/>
          </a:prstGeom>
          <a:noFill/>
          <a:ln w="6350">
            <a:solidFill>
              <a:srgbClr val="EEE9F6"/>
            </a:solidFill>
            <a:prstDash val="solid"/>
          </a:ln>
        </p:spPr>
      </p:sp>
      <p:sp>
        <p:nvSpPr>
          <p:cNvPr id="21" name="Shape 19"/>
          <p:cNvSpPr/>
          <p:nvPr/>
        </p:nvSpPr>
        <p:spPr>
          <a:xfrm>
            <a:off x="4095206" y="1417320"/>
            <a:ext cx="91" cy="2514600"/>
          </a:xfrm>
          <a:prstGeom prst="line">
            <a:avLst/>
          </a:prstGeom>
          <a:noFill/>
          <a:ln w="6350">
            <a:solidFill>
              <a:srgbClr val="D6CBE8"/>
            </a:solidFill>
            <a:prstDash val="solid"/>
          </a:ln>
        </p:spPr>
      </p:sp>
      <p:sp>
        <p:nvSpPr>
          <p:cNvPr id="22" name="Shape 20"/>
          <p:cNvSpPr/>
          <p:nvPr/>
        </p:nvSpPr>
        <p:spPr>
          <a:xfrm>
            <a:off x="4441371" y="1417320"/>
            <a:ext cx="91" cy="2514600"/>
          </a:xfrm>
          <a:prstGeom prst="line">
            <a:avLst/>
          </a:prstGeom>
          <a:noFill/>
          <a:ln w="6350">
            <a:solidFill>
              <a:srgbClr val="EEE9F6"/>
            </a:solidFill>
            <a:prstDash val="solid"/>
          </a:ln>
        </p:spPr>
      </p:sp>
      <p:sp>
        <p:nvSpPr>
          <p:cNvPr id="23" name="Shape 21"/>
          <p:cNvSpPr/>
          <p:nvPr/>
        </p:nvSpPr>
        <p:spPr>
          <a:xfrm>
            <a:off x="4787537" y="1417320"/>
            <a:ext cx="91" cy="2514600"/>
          </a:xfrm>
          <a:prstGeom prst="line">
            <a:avLst/>
          </a:prstGeom>
          <a:noFill/>
          <a:ln w="6350">
            <a:solidFill>
              <a:srgbClr val="D6CBE8"/>
            </a:solidFill>
            <a:prstDash val="solid"/>
          </a:ln>
        </p:spPr>
      </p:sp>
      <p:sp>
        <p:nvSpPr>
          <p:cNvPr id="24" name="Shape 22"/>
          <p:cNvSpPr/>
          <p:nvPr/>
        </p:nvSpPr>
        <p:spPr>
          <a:xfrm>
            <a:off x="5133703" y="1417320"/>
            <a:ext cx="91" cy="2514600"/>
          </a:xfrm>
          <a:prstGeom prst="line">
            <a:avLst/>
          </a:prstGeom>
          <a:noFill/>
          <a:ln w="6350">
            <a:solidFill>
              <a:srgbClr val="EEE9F6"/>
            </a:solidFill>
            <a:prstDash val="solid"/>
          </a:ln>
        </p:spPr>
      </p:sp>
      <p:sp>
        <p:nvSpPr>
          <p:cNvPr id="25" name="Shape 23"/>
          <p:cNvSpPr/>
          <p:nvPr/>
        </p:nvSpPr>
        <p:spPr>
          <a:xfrm>
            <a:off x="5479869" y="1417320"/>
            <a:ext cx="91" cy="2514600"/>
          </a:xfrm>
          <a:prstGeom prst="line">
            <a:avLst/>
          </a:prstGeom>
          <a:noFill/>
          <a:ln w="6350">
            <a:solidFill>
              <a:srgbClr val="D6CBE8"/>
            </a:solidFill>
            <a:prstDash val="solid"/>
          </a:ln>
        </p:spPr>
      </p:sp>
      <p:sp>
        <p:nvSpPr>
          <p:cNvPr id="26" name="Shape 24"/>
          <p:cNvSpPr/>
          <p:nvPr/>
        </p:nvSpPr>
        <p:spPr>
          <a:xfrm>
            <a:off x="5826034" y="1417320"/>
            <a:ext cx="91" cy="2514600"/>
          </a:xfrm>
          <a:prstGeom prst="line">
            <a:avLst/>
          </a:prstGeom>
          <a:noFill/>
          <a:ln w="6350">
            <a:solidFill>
              <a:srgbClr val="EEE9F6"/>
            </a:solidFill>
            <a:prstDash val="solid"/>
          </a:ln>
        </p:spPr>
      </p:sp>
      <p:sp>
        <p:nvSpPr>
          <p:cNvPr id="27" name="Shape 25"/>
          <p:cNvSpPr/>
          <p:nvPr/>
        </p:nvSpPr>
        <p:spPr>
          <a:xfrm>
            <a:off x="6172200" y="1417320"/>
            <a:ext cx="91" cy="2514600"/>
          </a:xfrm>
          <a:prstGeom prst="line">
            <a:avLst/>
          </a:prstGeom>
          <a:noFill/>
          <a:ln w="6350">
            <a:solidFill>
              <a:srgbClr val="D6CBE8"/>
            </a:solidFill>
            <a:prstDash val="solid"/>
          </a:ln>
        </p:spPr>
      </p:sp>
      <p:sp>
        <p:nvSpPr>
          <p:cNvPr id="28" name="Shape 26"/>
          <p:cNvSpPr/>
          <p:nvPr/>
        </p:nvSpPr>
        <p:spPr>
          <a:xfrm>
            <a:off x="1325880" y="3931920"/>
            <a:ext cx="4846320" cy="91"/>
          </a:xfrm>
          <a:prstGeom prst="line">
            <a:avLst/>
          </a:prstGeom>
          <a:noFill/>
          <a:ln w="6350">
            <a:solidFill>
              <a:srgbClr val="D6CBE8"/>
            </a:solidFill>
            <a:prstDash val="solid"/>
          </a:ln>
        </p:spPr>
      </p:sp>
      <p:sp>
        <p:nvSpPr>
          <p:cNvPr id="29" name="Shape 27"/>
          <p:cNvSpPr/>
          <p:nvPr/>
        </p:nvSpPr>
        <p:spPr>
          <a:xfrm>
            <a:off x="1325880" y="3722370"/>
            <a:ext cx="4846320" cy="91"/>
          </a:xfrm>
          <a:prstGeom prst="line">
            <a:avLst/>
          </a:prstGeom>
          <a:noFill/>
          <a:ln w="6350">
            <a:solidFill>
              <a:srgbClr val="EEE9F6"/>
            </a:solidFill>
            <a:prstDash val="solid"/>
          </a:ln>
        </p:spPr>
      </p:sp>
      <p:sp>
        <p:nvSpPr>
          <p:cNvPr id="30" name="Shape 28"/>
          <p:cNvSpPr/>
          <p:nvPr/>
        </p:nvSpPr>
        <p:spPr>
          <a:xfrm>
            <a:off x="1325880" y="3512820"/>
            <a:ext cx="4846320" cy="91"/>
          </a:xfrm>
          <a:prstGeom prst="line">
            <a:avLst/>
          </a:prstGeom>
          <a:noFill/>
          <a:ln w="6350">
            <a:solidFill>
              <a:srgbClr val="D6CBE8"/>
            </a:solidFill>
            <a:prstDash val="solid"/>
          </a:ln>
        </p:spPr>
      </p:sp>
      <p:sp>
        <p:nvSpPr>
          <p:cNvPr id="31" name="Shape 29"/>
          <p:cNvSpPr/>
          <p:nvPr/>
        </p:nvSpPr>
        <p:spPr>
          <a:xfrm>
            <a:off x="1325880" y="3303270"/>
            <a:ext cx="4846320" cy="91"/>
          </a:xfrm>
          <a:prstGeom prst="line">
            <a:avLst/>
          </a:prstGeom>
          <a:noFill/>
          <a:ln w="6350">
            <a:solidFill>
              <a:srgbClr val="EEE9F6"/>
            </a:solidFill>
            <a:prstDash val="solid"/>
          </a:ln>
        </p:spPr>
      </p:sp>
      <p:sp>
        <p:nvSpPr>
          <p:cNvPr id="32" name="Shape 30"/>
          <p:cNvSpPr/>
          <p:nvPr/>
        </p:nvSpPr>
        <p:spPr>
          <a:xfrm>
            <a:off x="1325880" y="3093720"/>
            <a:ext cx="4846320" cy="91"/>
          </a:xfrm>
          <a:prstGeom prst="line">
            <a:avLst/>
          </a:prstGeom>
          <a:noFill/>
          <a:ln w="6350">
            <a:solidFill>
              <a:srgbClr val="D6CBE8"/>
            </a:solidFill>
            <a:prstDash val="solid"/>
          </a:ln>
        </p:spPr>
      </p:sp>
      <p:sp>
        <p:nvSpPr>
          <p:cNvPr id="33" name="Shape 31"/>
          <p:cNvSpPr/>
          <p:nvPr/>
        </p:nvSpPr>
        <p:spPr>
          <a:xfrm>
            <a:off x="1325880" y="2884170"/>
            <a:ext cx="4846320" cy="91"/>
          </a:xfrm>
          <a:prstGeom prst="line">
            <a:avLst/>
          </a:prstGeom>
          <a:noFill/>
          <a:ln w="6350">
            <a:solidFill>
              <a:srgbClr val="EEE9F6"/>
            </a:solidFill>
            <a:prstDash val="solid"/>
          </a:ln>
        </p:spPr>
      </p:sp>
      <p:sp>
        <p:nvSpPr>
          <p:cNvPr id="34" name="Shape 32"/>
          <p:cNvSpPr/>
          <p:nvPr/>
        </p:nvSpPr>
        <p:spPr>
          <a:xfrm>
            <a:off x="1325880" y="2674620"/>
            <a:ext cx="4846320" cy="91"/>
          </a:xfrm>
          <a:prstGeom prst="line">
            <a:avLst/>
          </a:prstGeom>
          <a:noFill/>
          <a:ln w="6350">
            <a:solidFill>
              <a:srgbClr val="D6CBE8"/>
            </a:solidFill>
            <a:prstDash val="solid"/>
          </a:ln>
        </p:spPr>
      </p:sp>
      <p:sp>
        <p:nvSpPr>
          <p:cNvPr id="35" name="Shape 33"/>
          <p:cNvSpPr/>
          <p:nvPr/>
        </p:nvSpPr>
        <p:spPr>
          <a:xfrm>
            <a:off x="1325880" y="2465070"/>
            <a:ext cx="4846320" cy="91"/>
          </a:xfrm>
          <a:prstGeom prst="line">
            <a:avLst/>
          </a:prstGeom>
          <a:noFill/>
          <a:ln w="6350">
            <a:solidFill>
              <a:srgbClr val="EEE9F6"/>
            </a:solidFill>
            <a:prstDash val="solid"/>
          </a:ln>
        </p:spPr>
      </p:sp>
      <p:sp>
        <p:nvSpPr>
          <p:cNvPr id="36" name="Shape 34"/>
          <p:cNvSpPr/>
          <p:nvPr/>
        </p:nvSpPr>
        <p:spPr>
          <a:xfrm>
            <a:off x="1325880" y="2255520"/>
            <a:ext cx="4846320" cy="91"/>
          </a:xfrm>
          <a:prstGeom prst="line">
            <a:avLst/>
          </a:prstGeom>
          <a:noFill/>
          <a:ln w="6350">
            <a:solidFill>
              <a:srgbClr val="D6CBE8"/>
            </a:solidFill>
            <a:prstDash val="solid"/>
          </a:ln>
        </p:spPr>
      </p:sp>
      <p:sp>
        <p:nvSpPr>
          <p:cNvPr id="37" name="Shape 35"/>
          <p:cNvSpPr/>
          <p:nvPr/>
        </p:nvSpPr>
        <p:spPr>
          <a:xfrm>
            <a:off x="1325880" y="2045970"/>
            <a:ext cx="4846320" cy="91"/>
          </a:xfrm>
          <a:prstGeom prst="line">
            <a:avLst/>
          </a:prstGeom>
          <a:noFill/>
          <a:ln w="6350">
            <a:solidFill>
              <a:srgbClr val="EEE9F6"/>
            </a:solidFill>
            <a:prstDash val="solid"/>
          </a:ln>
        </p:spPr>
      </p:sp>
      <p:sp>
        <p:nvSpPr>
          <p:cNvPr id="38" name="Shape 36"/>
          <p:cNvSpPr/>
          <p:nvPr/>
        </p:nvSpPr>
        <p:spPr>
          <a:xfrm>
            <a:off x="1325880" y="1836420"/>
            <a:ext cx="4846320" cy="91"/>
          </a:xfrm>
          <a:prstGeom prst="line">
            <a:avLst/>
          </a:prstGeom>
          <a:noFill/>
          <a:ln w="6350">
            <a:solidFill>
              <a:srgbClr val="D6CBE8"/>
            </a:solidFill>
            <a:prstDash val="solid"/>
          </a:ln>
        </p:spPr>
      </p:sp>
      <p:sp>
        <p:nvSpPr>
          <p:cNvPr id="39" name="Shape 37"/>
          <p:cNvSpPr/>
          <p:nvPr/>
        </p:nvSpPr>
        <p:spPr>
          <a:xfrm>
            <a:off x="1325880" y="1626870"/>
            <a:ext cx="4846320" cy="91"/>
          </a:xfrm>
          <a:prstGeom prst="line">
            <a:avLst/>
          </a:prstGeom>
          <a:noFill/>
          <a:ln w="6350">
            <a:solidFill>
              <a:srgbClr val="EEE9F6"/>
            </a:solidFill>
            <a:prstDash val="solid"/>
          </a:ln>
        </p:spPr>
      </p:sp>
      <p:sp>
        <p:nvSpPr>
          <p:cNvPr id="40" name="Shape 38"/>
          <p:cNvSpPr/>
          <p:nvPr/>
        </p:nvSpPr>
        <p:spPr>
          <a:xfrm>
            <a:off x="1325880" y="1417320"/>
            <a:ext cx="4846320" cy="91"/>
          </a:xfrm>
          <a:prstGeom prst="line">
            <a:avLst/>
          </a:prstGeom>
          <a:noFill/>
          <a:ln w="6350">
            <a:solidFill>
              <a:srgbClr val="D6CBE8"/>
            </a:solidFill>
            <a:prstDash val="solid"/>
          </a:ln>
        </p:spPr>
      </p:sp>
      <p:sp>
        <p:nvSpPr>
          <p:cNvPr id="41" name="Shape 39"/>
          <p:cNvSpPr/>
          <p:nvPr/>
        </p:nvSpPr>
        <p:spPr>
          <a:xfrm>
            <a:off x="1325880" y="3931920"/>
            <a:ext cx="4846320" cy="91"/>
          </a:xfrm>
          <a:prstGeom prst="line">
            <a:avLst/>
          </a:prstGeom>
          <a:noFill/>
          <a:ln w="19050">
            <a:solidFill>
              <a:srgbClr val="2A1F3D"/>
            </a:solidFill>
            <a:prstDash val="solid"/>
          </a:ln>
        </p:spPr>
      </p:sp>
      <p:sp>
        <p:nvSpPr>
          <p:cNvPr id="42" name="Shape 40"/>
          <p:cNvSpPr/>
          <p:nvPr/>
        </p:nvSpPr>
        <p:spPr>
          <a:xfrm flipV="1">
            <a:off x="1325880" y="1417320"/>
            <a:ext cx="91" cy="2514600"/>
          </a:xfrm>
          <a:prstGeom prst="line">
            <a:avLst/>
          </a:prstGeom>
          <a:noFill/>
          <a:ln w="19050">
            <a:solidFill>
              <a:srgbClr val="2A1F3D"/>
            </a:solidFill>
            <a:prstDash val="solid"/>
          </a:ln>
        </p:spPr>
      </p:sp>
      <p:sp>
        <p:nvSpPr>
          <p:cNvPr id="43" name="Shape 41"/>
          <p:cNvSpPr/>
          <p:nvPr/>
        </p:nvSpPr>
        <p:spPr>
          <a:xfrm>
            <a:off x="1325880" y="3931920"/>
            <a:ext cx="91" cy="54864"/>
          </a:xfrm>
          <a:prstGeom prst="line">
            <a:avLst/>
          </a:prstGeom>
          <a:noFill/>
          <a:ln w="12700">
            <a:solidFill>
              <a:srgbClr val="2A1F3D"/>
            </a:solidFill>
            <a:prstDash val="solid"/>
          </a:ln>
        </p:spPr>
      </p:sp>
      <p:sp>
        <p:nvSpPr>
          <p:cNvPr id="44" name="Text 42"/>
          <p:cNvSpPr/>
          <p:nvPr/>
        </p:nvSpPr>
        <p:spPr>
          <a:xfrm>
            <a:off x="1051560" y="39867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5" name="Shape 43"/>
          <p:cNvSpPr/>
          <p:nvPr/>
        </p:nvSpPr>
        <p:spPr>
          <a:xfrm>
            <a:off x="2018211" y="3931920"/>
            <a:ext cx="91" cy="54864"/>
          </a:xfrm>
          <a:prstGeom prst="line">
            <a:avLst/>
          </a:prstGeom>
          <a:noFill/>
          <a:ln w="12700">
            <a:solidFill>
              <a:srgbClr val="2A1F3D"/>
            </a:solidFill>
            <a:prstDash val="solid"/>
          </a:ln>
        </p:spPr>
      </p:sp>
      <p:sp>
        <p:nvSpPr>
          <p:cNvPr id="46" name="Text 44"/>
          <p:cNvSpPr/>
          <p:nvPr/>
        </p:nvSpPr>
        <p:spPr>
          <a:xfrm>
            <a:off x="1743891" y="39867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47" name="Shape 45"/>
          <p:cNvSpPr/>
          <p:nvPr/>
        </p:nvSpPr>
        <p:spPr>
          <a:xfrm>
            <a:off x="2710543" y="3931920"/>
            <a:ext cx="91" cy="54864"/>
          </a:xfrm>
          <a:prstGeom prst="line">
            <a:avLst/>
          </a:prstGeom>
          <a:noFill/>
          <a:ln w="12700">
            <a:solidFill>
              <a:srgbClr val="2A1F3D"/>
            </a:solidFill>
            <a:prstDash val="solid"/>
          </a:ln>
        </p:spPr>
      </p:sp>
      <p:sp>
        <p:nvSpPr>
          <p:cNvPr id="48" name="Text 46"/>
          <p:cNvSpPr/>
          <p:nvPr/>
        </p:nvSpPr>
        <p:spPr>
          <a:xfrm>
            <a:off x="2436223" y="39867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49" name="Shape 47"/>
          <p:cNvSpPr/>
          <p:nvPr/>
        </p:nvSpPr>
        <p:spPr>
          <a:xfrm>
            <a:off x="3402874" y="3931920"/>
            <a:ext cx="91" cy="54864"/>
          </a:xfrm>
          <a:prstGeom prst="line">
            <a:avLst/>
          </a:prstGeom>
          <a:noFill/>
          <a:ln w="12700">
            <a:solidFill>
              <a:srgbClr val="2A1F3D"/>
            </a:solidFill>
            <a:prstDash val="solid"/>
          </a:ln>
        </p:spPr>
      </p:sp>
      <p:sp>
        <p:nvSpPr>
          <p:cNvPr id="50" name="Text 48"/>
          <p:cNvSpPr/>
          <p:nvPr/>
        </p:nvSpPr>
        <p:spPr>
          <a:xfrm>
            <a:off x="3128554" y="39867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51" name="Shape 49"/>
          <p:cNvSpPr/>
          <p:nvPr/>
        </p:nvSpPr>
        <p:spPr>
          <a:xfrm>
            <a:off x="4095206" y="3931920"/>
            <a:ext cx="91" cy="54864"/>
          </a:xfrm>
          <a:prstGeom prst="line">
            <a:avLst/>
          </a:prstGeom>
          <a:noFill/>
          <a:ln w="12700">
            <a:solidFill>
              <a:srgbClr val="2A1F3D"/>
            </a:solidFill>
            <a:prstDash val="solid"/>
          </a:ln>
        </p:spPr>
      </p:sp>
      <p:sp>
        <p:nvSpPr>
          <p:cNvPr id="52" name="Text 50"/>
          <p:cNvSpPr/>
          <p:nvPr/>
        </p:nvSpPr>
        <p:spPr>
          <a:xfrm>
            <a:off x="3820886" y="39867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53" name="Shape 51"/>
          <p:cNvSpPr/>
          <p:nvPr/>
        </p:nvSpPr>
        <p:spPr>
          <a:xfrm>
            <a:off x="4787537" y="3931920"/>
            <a:ext cx="91" cy="54864"/>
          </a:xfrm>
          <a:prstGeom prst="line">
            <a:avLst/>
          </a:prstGeom>
          <a:noFill/>
          <a:ln w="12700">
            <a:solidFill>
              <a:srgbClr val="2A1F3D"/>
            </a:solidFill>
            <a:prstDash val="solid"/>
          </a:ln>
        </p:spPr>
      </p:sp>
      <p:sp>
        <p:nvSpPr>
          <p:cNvPr id="54" name="Text 52"/>
          <p:cNvSpPr/>
          <p:nvPr/>
        </p:nvSpPr>
        <p:spPr>
          <a:xfrm>
            <a:off x="4513217" y="39867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5" name="Shape 53"/>
          <p:cNvSpPr/>
          <p:nvPr/>
        </p:nvSpPr>
        <p:spPr>
          <a:xfrm>
            <a:off x="5479869" y="3931920"/>
            <a:ext cx="91" cy="54864"/>
          </a:xfrm>
          <a:prstGeom prst="line">
            <a:avLst/>
          </a:prstGeom>
          <a:noFill/>
          <a:ln w="12700">
            <a:solidFill>
              <a:srgbClr val="2A1F3D"/>
            </a:solidFill>
            <a:prstDash val="solid"/>
          </a:ln>
        </p:spPr>
      </p:sp>
      <p:sp>
        <p:nvSpPr>
          <p:cNvPr id="56" name="Text 54"/>
          <p:cNvSpPr/>
          <p:nvPr/>
        </p:nvSpPr>
        <p:spPr>
          <a:xfrm>
            <a:off x="5205549" y="39867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57" name="Shape 55"/>
          <p:cNvSpPr/>
          <p:nvPr/>
        </p:nvSpPr>
        <p:spPr>
          <a:xfrm>
            <a:off x="6172200" y="3931920"/>
            <a:ext cx="91" cy="54864"/>
          </a:xfrm>
          <a:prstGeom prst="line">
            <a:avLst/>
          </a:prstGeom>
          <a:noFill/>
          <a:ln w="12700">
            <a:solidFill>
              <a:srgbClr val="2A1F3D"/>
            </a:solidFill>
            <a:prstDash val="solid"/>
          </a:ln>
        </p:spPr>
      </p:sp>
      <p:sp>
        <p:nvSpPr>
          <p:cNvPr id="58" name="Text 56"/>
          <p:cNvSpPr/>
          <p:nvPr/>
        </p:nvSpPr>
        <p:spPr>
          <a:xfrm>
            <a:off x="5897880" y="39867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59" name="Shape 57"/>
          <p:cNvSpPr/>
          <p:nvPr/>
        </p:nvSpPr>
        <p:spPr>
          <a:xfrm>
            <a:off x="1271016" y="3931920"/>
            <a:ext cx="54864" cy="91"/>
          </a:xfrm>
          <a:prstGeom prst="line">
            <a:avLst/>
          </a:prstGeom>
          <a:noFill/>
          <a:ln w="12700">
            <a:solidFill>
              <a:srgbClr val="2A1F3D"/>
            </a:solidFill>
            <a:prstDash val="solid"/>
          </a:ln>
        </p:spPr>
      </p:sp>
      <p:sp>
        <p:nvSpPr>
          <p:cNvPr id="60" name="Text 58"/>
          <p:cNvSpPr/>
          <p:nvPr/>
        </p:nvSpPr>
        <p:spPr>
          <a:xfrm>
            <a:off x="886968" y="38404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61" name="Shape 59"/>
          <p:cNvSpPr/>
          <p:nvPr/>
        </p:nvSpPr>
        <p:spPr>
          <a:xfrm>
            <a:off x="1271016" y="3512820"/>
            <a:ext cx="54864" cy="91"/>
          </a:xfrm>
          <a:prstGeom prst="line">
            <a:avLst/>
          </a:prstGeom>
          <a:noFill/>
          <a:ln w="12700">
            <a:solidFill>
              <a:srgbClr val="2A1F3D"/>
            </a:solidFill>
            <a:prstDash val="solid"/>
          </a:ln>
        </p:spPr>
      </p:sp>
      <p:sp>
        <p:nvSpPr>
          <p:cNvPr id="62" name="Text 60"/>
          <p:cNvSpPr/>
          <p:nvPr/>
        </p:nvSpPr>
        <p:spPr>
          <a:xfrm>
            <a:off x="886968" y="34213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63" name="Shape 61"/>
          <p:cNvSpPr/>
          <p:nvPr/>
        </p:nvSpPr>
        <p:spPr>
          <a:xfrm>
            <a:off x="1271016" y="3093720"/>
            <a:ext cx="54864" cy="91"/>
          </a:xfrm>
          <a:prstGeom prst="line">
            <a:avLst/>
          </a:prstGeom>
          <a:noFill/>
          <a:ln w="12700">
            <a:solidFill>
              <a:srgbClr val="2A1F3D"/>
            </a:solidFill>
            <a:prstDash val="solid"/>
          </a:ln>
        </p:spPr>
      </p:sp>
      <p:sp>
        <p:nvSpPr>
          <p:cNvPr id="64" name="Text 62"/>
          <p:cNvSpPr/>
          <p:nvPr/>
        </p:nvSpPr>
        <p:spPr>
          <a:xfrm>
            <a:off x="886968" y="30022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1.8</a:t>
            </a:r>
            <a:endParaRPr lang="en-US" sz="1000" dirty="0"/>
          </a:p>
        </p:txBody>
      </p:sp>
      <p:sp>
        <p:nvSpPr>
          <p:cNvPr id="65" name="Shape 63"/>
          <p:cNvSpPr/>
          <p:nvPr/>
        </p:nvSpPr>
        <p:spPr>
          <a:xfrm>
            <a:off x="1271016" y="2674620"/>
            <a:ext cx="54864" cy="91"/>
          </a:xfrm>
          <a:prstGeom prst="line">
            <a:avLst/>
          </a:prstGeom>
          <a:noFill/>
          <a:ln w="12700">
            <a:solidFill>
              <a:srgbClr val="2A1F3D"/>
            </a:solidFill>
            <a:prstDash val="solid"/>
          </a:ln>
        </p:spPr>
      </p:sp>
      <p:sp>
        <p:nvSpPr>
          <p:cNvPr id="66" name="Text 64"/>
          <p:cNvSpPr/>
          <p:nvPr/>
        </p:nvSpPr>
        <p:spPr>
          <a:xfrm>
            <a:off x="886968" y="25831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67" name="Shape 65"/>
          <p:cNvSpPr/>
          <p:nvPr/>
        </p:nvSpPr>
        <p:spPr>
          <a:xfrm>
            <a:off x="1271016" y="2255520"/>
            <a:ext cx="54864" cy="91"/>
          </a:xfrm>
          <a:prstGeom prst="line">
            <a:avLst/>
          </a:prstGeom>
          <a:noFill/>
          <a:ln w="12700">
            <a:solidFill>
              <a:srgbClr val="2A1F3D"/>
            </a:solidFill>
            <a:prstDash val="solid"/>
          </a:ln>
        </p:spPr>
      </p:sp>
      <p:sp>
        <p:nvSpPr>
          <p:cNvPr id="68" name="Text 66"/>
          <p:cNvSpPr/>
          <p:nvPr/>
        </p:nvSpPr>
        <p:spPr>
          <a:xfrm>
            <a:off x="886968" y="21640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2.2</a:t>
            </a:r>
            <a:endParaRPr lang="en-US" sz="1000" dirty="0"/>
          </a:p>
        </p:txBody>
      </p:sp>
      <p:sp>
        <p:nvSpPr>
          <p:cNvPr id="69" name="Shape 67"/>
          <p:cNvSpPr/>
          <p:nvPr/>
        </p:nvSpPr>
        <p:spPr>
          <a:xfrm>
            <a:off x="1271016" y="1836420"/>
            <a:ext cx="54864" cy="91"/>
          </a:xfrm>
          <a:prstGeom prst="line">
            <a:avLst/>
          </a:prstGeom>
          <a:noFill/>
          <a:ln w="12700">
            <a:solidFill>
              <a:srgbClr val="2A1F3D"/>
            </a:solidFill>
            <a:prstDash val="solid"/>
          </a:ln>
        </p:spPr>
      </p:sp>
      <p:sp>
        <p:nvSpPr>
          <p:cNvPr id="70" name="Text 68"/>
          <p:cNvSpPr/>
          <p:nvPr/>
        </p:nvSpPr>
        <p:spPr>
          <a:xfrm>
            <a:off x="886968" y="17449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2.4</a:t>
            </a:r>
            <a:endParaRPr lang="en-US" sz="1000" dirty="0"/>
          </a:p>
        </p:txBody>
      </p:sp>
      <p:sp>
        <p:nvSpPr>
          <p:cNvPr id="71" name="Shape 69"/>
          <p:cNvSpPr/>
          <p:nvPr/>
        </p:nvSpPr>
        <p:spPr>
          <a:xfrm>
            <a:off x="1271016" y="1417320"/>
            <a:ext cx="54864" cy="91"/>
          </a:xfrm>
          <a:prstGeom prst="line">
            <a:avLst/>
          </a:prstGeom>
          <a:noFill/>
          <a:ln w="12700">
            <a:solidFill>
              <a:srgbClr val="2A1F3D"/>
            </a:solidFill>
            <a:prstDash val="solid"/>
          </a:ln>
        </p:spPr>
      </p:sp>
      <p:sp>
        <p:nvSpPr>
          <p:cNvPr id="72" name="Text 70"/>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2.6</a:t>
            </a:r>
            <a:endParaRPr lang="en-US" sz="1000" dirty="0"/>
          </a:p>
        </p:txBody>
      </p:sp>
      <p:sp>
        <p:nvSpPr>
          <p:cNvPr id="73" name="Text 71"/>
          <p:cNvSpPr/>
          <p:nvPr/>
        </p:nvSpPr>
        <p:spPr>
          <a:xfrm>
            <a:off x="1325880" y="4178808"/>
            <a:ext cx="48463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Heating time / min</a:t>
            </a:r>
            <a:endParaRPr lang="en-US" sz="1050" dirty="0"/>
          </a:p>
        </p:txBody>
      </p:sp>
      <p:sp>
        <p:nvSpPr>
          <p:cNvPr id="74" name="Text 72"/>
          <p:cNvSpPr/>
          <p:nvPr/>
        </p:nvSpPr>
        <p:spPr>
          <a:xfrm rot="16200000">
            <a:off x="-498348" y="2546604"/>
            <a:ext cx="25146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Mass of solid / g</a:t>
            </a:r>
            <a:endParaRPr lang="en-US" sz="1050" dirty="0"/>
          </a:p>
        </p:txBody>
      </p:sp>
      <p:sp>
        <p:nvSpPr>
          <p:cNvPr id="75" name="Shape 73"/>
          <p:cNvSpPr/>
          <p:nvPr/>
        </p:nvSpPr>
        <p:spPr>
          <a:xfrm>
            <a:off x="1325880" y="3512820"/>
            <a:ext cx="4846320" cy="91"/>
          </a:xfrm>
          <a:prstGeom prst="line">
            <a:avLst/>
          </a:prstGeom>
          <a:noFill/>
          <a:ln w="15875">
            <a:solidFill>
              <a:srgbClr val="2E8B57"/>
            </a:solidFill>
            <a:prstDash val="dash"/>
          </a:ln>
        </p:spPr>
      </p:sp>
      <p:sp>
        <p:nvSpPr>
          <p:cNvPr id="76" name="Text 74"/>
          <p:cNvSpPr/>
          <p:nvPr/>
        </p:nvSpPr>
        <p:spPr>
          <a:xfrm>
            <a:off x="1395113" y="3531108"/>
            <a:ext cx="2377440" cy="201168"/>
          </a:xfrm>
          <a:prstGeom prst="rect">
            <a:avLst/>
          </a:prstGeom>
          <a:noFill/>
          <a:ln/>
        </p:spPr>
        <p:txBody>
          <a:bodyPr wrap="square" lIns="0" tIns="0" rIns="0" bIns="0" rtlCol="0" anchor="ctr"/>
          <a:lstStyle/>
          <a:p>
            <a:pPr algn="l" indent="0" marL="0">
              <a:buNone/>
            </a:pPr>
            <a:r>
              <a:rPr lang="en-US" sz="1000" b="1" dirty="0">
                <a:solidFill>
                  <a:srgbClr val="2E8B57"/>
                </a:solidFill>
                <a:latin typeface="Calibri" pitchFamily="34" charset="0"/>
                <a:ea typeface="Calibri" pitchFamily="34" charset="-122"/>
                <a:cs typeface="Calibri" pitchFamily="34" charset="-120"/>
              </a:rPr>
              <a:t>constant mass 1.60 g (all anhydrous)</a:t>
            </a:r>
            <a:endParaRPr lang="en-US" sz="1000" dirty="0"/>
          </a:p>
        </p:txBody>
      </p:sp>
      <p:sp>
        <p:nvSpPr>
          <p:cNvPr id="77" name="Shape 75"/>
          <p:cNvSpPr/>
          <p:nvPr/>
        </p:nvSpPr>
        <p:spPr>
          <a:xfrm>
            <a:off x="1325880" y="1626870"/>
            <a:ext cx="53412" cy="49216"/>
          </a:xfrm>
          <a:prstGeom prst="line">
            <a:avLst/>
          </a:prstGeom>
          <a:noFill/>
          <a:ln w="25400">
            <a:solidFill>
              <a:srgbClr val="6A3FA0"/>
            </a:solidFill>
            <a:prstDash val="solid"/>
          </a:ln>
        </p:spPr>
      </p:sp>
      <p:sp>
        <p:nvSpPr>
          <p:cNvPr id="78" name="Shape 76"/>
          <p:cNvSpPr/>
          <p:nvPr/>
        </p:nvSpPr>
        <p:spPr>
          <a:xfrm>
            <a:off x="1379292" y="1676086"/>
            <a:ext cx="70991" cy="66201"/>
          </a:xfrm>
          <a:prstGeom prst="line">
            <a:avLst/>
          </a:prstGeom>
          <a:noFill/>
          <a:ln w="25400">
            <a:solidFill>
              <a:srgbClr val="6A3FA0"/>
            </a:solidFill>
            <a:prstDash val="solid"/>
          </a:ln>
        </p:spPr>
      </p:sp>
      <p:sp>
        <p:nvSpPr>
          <p:cNvPr id="79" name="Shape 77"/>
          <p:cNvSpPr/>
          <p:nvPr/>
        </p:nvSpPr>
        <p:spPr>
          <a:xfrm>
            <a:off x="1450283" y="1742286"/>
            <a:ext cx="84513" cy="78888"/>
          </a:xfrm>
          <a:prstGeom prst="line">
            <a:avLst/>
          </a:prstGeom>
          <a:noFill/>
          <a:ln w="25400">
            <a:solidFill>
              <a:srgbClr val="6A3FA0"/>
            </a:solidFill>
            <a:prstDash val="solid"/>
          </a:ln>
        </p:spPr>
      </p:sp>
      <p:sp>
        <p:nvSpPr>
          <p:cNvPr id="80" name="Shape 78"/>
          <p:cNvSpPr/>
          <p:nvPr/>
        </p:nvSpPr>
        <p:spPr>
          <a:xfrm>
            <a:off x="1534796" y="1821174"/>
            <a:ext cx="93979" cy="87278"/>
          </a:xfrm>
          <a:prstGeom prst="line">
            <a:avLst/>
          </a:prstGeom>
          <a:noFill/>
          <a:ln w="25400">
            <a:solidFill>
              <a:srgbClr val="6A3FA0"/>
            </a:solidFill>
            <a:prstDash val="solid"/>
          </a:ln>
        </p:spPr>
      </p:sp>
      <p:sp>
        <p:nvSpPr>
          <p:cNvPr id="81" name="Shape 79"/>
          <p:cNvSpPr/>
          <p:nvPr/>
        </p:nvSpPr>
        <p:spPr>
          <a:xfrm>
            <a:off x="1628775" y="1908453"/>
            <a:ext cx="99387" cy="91371"/>
          </a:xfrm>
          <a:prstGeom prst="line">
            <a:avLst/>
          </a:prstGeom>
          <a:noFill/>
          <a:ln w="25400">
            <a:solidFill>
              <a:srgbClr val="6A3FA0"/>
            </a:solidFill>
            <a:prstDash val="solid"/>
          </a:ln>
        </p:spPr>
      </p:sp>
      <p:sp>
        <p:nvSpPr>
          <p:cNvPr id="82" name="Shape 80"/>
          <p:cNvSpPr/>
          <p:nvPr/>
        </p:nvSpPr>
        <p:spPr>
          <a:xfrm>
            <a:off x="1728162" y="1999824"/>
            <a:ext cx="100740" cy="91167"/>
          </a:xfrm>
          <a:prstGeom prst="line">
            <a:avLst/>
          </a:prstGeom>
          <a:noFill/>
          <a:ln w="25400">
            <a:solidFill>
              <a:srgbClr val="6A3FA0"/>
            </a:solidFill>
            <a:prstDash val="solid"/>
          </a:ln>
        </p:spPr>
      </p:sp>
      <p:sp>
        <p:nvSpPr>
          <p:cNvPr id="83" name="Shape 81"/>
          <p:cNvSpPr/>
          <p:nvPr/>
        </p:nvSpPr>
        <p:spPr>
          <a:xfrm>
            <a:off x="1828902" y="2090991"/>
            <a:ext cx="98035" cy="86664"/>
          </a:xfrm>
          <a:prstGeom prst="line">
            <a:avLst/>
          </a:prstGeom>
          <a:noFill/>
          <a:ln w="25400">
            <a:solidFill>
              <a:srgbClr val="6A3FA0"/>
            </a:solidFill>
            <a:prstDash val="solid"/>
          </a:ln>
        </p:spPr>
      </p:sp>
      <p:sp>
        <p:nvSpPr>
          <p:cNvPr id="84" name="Shape 82"/>
          <p:cNvSpPr/>
          <p:nvPr/>
        </p:nvSpPr>
        <p:spPr>
          <a:xfrm>
            <a:off x="1926937" y="2177655"/>
            <a:ext cx="91274" cy="77865"/>
          </a:xfrm>
          <a:prstGeom prst="line">
            <a:avLst/>
          </a:prstGeom>
          <a:noFill/>
          <a:ln w="25400">
            <a:solidFill>
              <a:srgbClr val="6A3FA0"/>
            </a:solidFill>
            <a:prstDash val="solid"/>
          </a:ln>
        </p:spPr>
      </p:sp>
      <p:sp>
        <p:nvSpPr>
          <p:cNvPr id="85" name="Shape 83"/>
          <p:cNvSpPr/>
          <p:nvPr/>
        </p:nvSpPr>
        <p:spPr>
          <a:xfrm>
            <a:off x="2018211" y="2255520"/>
            <a:ext cx="86541" cy="71501"/>
          </a:xfrm>
          <a:prstGeom prst="line">
            <a:avLst/>
          </a:prstGeom>
          <a:noFill/>
          <a:ln w="25400">
            <a:solidFill>
              <a:srgbClr val="6A3FA0"/>
            </a:solidFill>
            <a:prstDash val="solid"/>
          </a:ln>
        </p:spPr>
      </p:sp>
      <p:sp>
        <p:nvSpPr>
          <p:cNvPr id="86" name="Shape 84"/>
          <p:cNvSpPr/>
          <p:nvPr/>
        </p:nvSpPr>
        <p:spPr>
          <a:xfrm>
            <a:off x="2104753" y="2327021"/>
            <a:ext cx="86541" cy="70273"/>
          </a:xfrm>
          <a:prstGeom prst="line">
            <a:avLst/>
          </a:prstGeom>
          <a:noFill/>
          <a:ln w="25400">
            <a:solidFill>
              <a:srgbClr val="6A3FA0"/>
            </a:solidFill>
            <a:prstDash val="solid"/>
          </a:ln>
        </p:spPr>
      </p:sp>
      <p:sp>
        <p:nvSpPr>
          <p:cNvPr id="87" name="Shape 85"/>
          <p:cNvSpPr/>
          <p:nvPr/>
        </p:nvSpPr>
        <p:spPr>
          <a:xfrm>
            <a:off x="2191294" y="2397294"/>
            <a:ext cx="86541" cy="68800"/>
          </a:xfrm>
          <a:prstGeom prst="line">
            <a:avLst/>
          </a:prstGeom>
          <a:noFill/>
          <a:ln w="25400">
            <a:solidFill>
              <a:srgbClr val="6A3FA0"/>
            </a:solidFill>
            <a:prstDash val="solid"/>
          </a:ln>
        </p:spPr>
      </p:sp>
      <p:sp>
        <p:nvSpPr>
          <p:cNvPr id="88" name="Shape 86"/>
          <p:cNvSpPr/>
          <p:nvPr/>
        </p:nvSpPr>
        <p:spPr>
          <a:xfrm>
            <a:off x="2277836" y="2466093"/>
            <a:ext cx="86541" cy="67081"/>
          </a:xfrm>
          <a:prstGeom prst="line">
            <a:avLst/>
          </a:prstGeom>
          <a:noFill/>
          <a:ln w="25400">
            <a:solidFill>
              <a:srgbClr val="6A3FA0"/>
            </a:solidFill>
            <a:prstDash val="solid"/>
          </a:ln>
        </p:spPr>
      </p:sp>
      <p:sp>
        <p:nvSpPr>
          <p:cNvPr id="89" name="Shape 87"/>
          <p:cNvSpPr/>
          <p:nvPr/>
        </p:nvSpPr>
        <p:spPr>
          <a:xfrm>
            <a:off x="2364377" y="2533174"/>
            <a:ext cx="86541" cy="65116"/>
          </a:xfrm>
          <a:prstGeom prst="line">
            <a:avLst/>
          </a:prstGeom>
          <a:noFill/>
          <a:ln w="25400">
            <a:solidFill>
              <a:srgbClr val="6A3FA0"/>
            </a:solidFill>
            <a:prstDash val="solid"/>
          </a:ln>
        </p:spPr>
      </p:sp>
      <p:sp>
        <p:nvSpPr>
          <p:cNvPr id="90" name="Shape 88"/>
          <p:cNvSpPr/>
          <p:nvPr/>
        </p:nvSpPr>
        <p:spPr>
          <a:xfrm>
            <a:off x="2450919" y="2598290"/>
            <a:ext cx="86541" cy="62906"/>
          </a:xfrm>
          <a:prstGeom prst="line">
            <a:avLst/>
          </a:prstGeom>
          <a:noFill/>
          <a:ln w="25400">
            <a:solidFill>
              <a:srgbClr val="6A3FA0"/>
            </a:solidFill>
            <a:prstDash val="solid"/>
          </a:ln>
        </p:spPr>
      </p:sp>
      <p:sp>
        <p:nvSpPr>
          <p:cNvPr id="91" name="Shape 89"/>
          <p:cNvSpPr/>
          <p:nvPr/>
        </p:nvSpPr>
        <p:spPr>
          <a:xfrm>
            <a:off x="2537460" y="2661196"/>
            <a:ext cx="86541" cy="60450"/>
          </a:xfrm>
          <a:prstGeom prst="line">
            <a:avLst/>
          </a:prstGeom>
          <a:noFill/>
          <a:ln w="25400">
            <a:solidFill>
              <a:srgbClr val="6A3FA0"/>
            </a:solidFill>
            <a:prstDash val="solid"/>
          </a:ln>
        </p:spPr>
      </p:sp>
      <p:sp>
        <p:nvSpPr>
          <p:cNvPr id="92" name="Shape 90"/>
          <p:cNvSpPr/>
          <p:nvPr/>
        </p:nvSpPr>
        <p:spPr>
          <a:xfrm>
            <a:off x="2624001" y="2721646"/>
            <a:ext cx="86541" cy="57749"/>
          </a:xfrm>
          <a:prstGeom prst="line">
            <a:avLst/>
          </a:prstGeom>
          <a:noFill/>
          <a:ln w="25400">
            <a:solidFill>
              <a:srgbClr val="6A3FA0"/>
            </a:solidFill>
            <a:prstDash val="solid"/>
          </a:ln>
        </p:spPr>
      </p:sp>
      <p:sp>
        <p:nvSpPr>
          <p:cNvPr id="93" name="Shape 91"/>
          <p:cNvSpPr/>
          <p:nvPr/>
        </p:nvSpPr>
        <p:spPr>
          <a:xfrm>
            <a:off x="2710543" y="2779395"/>
            <a:ext cx="86541" cy="55027"/>
          </a:xfrm>
          <a:prstGeom prst="line">
            <a:avLst/>
          </a:prstGeom>
          <a:noFill/>
          <a:ln w="25400">
            <a:solidFill>
              <a:srgbClr val="6A3FA0"/>
            </a:solidFill>
            <a:prstDash val="solid"/>
          </a:ln>
        </p:spPr>
      </p:sp>
      <p:sp>
        <p:nvSpPr>
          <p:cNvPr id="94" name="Shape 92"/>
          <p:cNvSpPr/>
          <p:nvPr/>
        </p:nvSpPr>
        <p:spPr>
          <a:xfrm>
            <a:off x="2797084" y="2834422"/>
            <a:ext cx="86541" cy="52531"/>
          </a:xfrm>
          <a:prstGeom prst="line">
            <a:avLst/>
          </a:prstGeom>
          <a:noFill/>
          <a:ln w="25400">
            <a:solidFill>
              <a:srgbClr val="6A3FA0"/>
            </a:solidFill>
            <a:prstDash val="solid"/>
          </a:ln>
        </p:spPr>
      </p:sp>
      <p:sp>
        <p:nvSpPr>
          <p:cNvPr id="95" name="Shape 93"/>
          <p:cNvSpPr/>
          <p:nvPr/>
        </p:nvSpPr>
        <p:spPr>
          <a:xfrm>
            <a:off x="2883626" y="2886953"/>
            <a:ext cx="86541" cy="50157"/>
          </a:xfrm>
          <a:prstGeom prst="line">
            <a:avLst/>
          </a:prstGeom>
          <a:noFill/>
          <a:ln w="25400">
            <a:solidFill>
              <a:srgbClr val="6A3FA0"/>
            </a:solidFill>
            <a:prstDash val="solid"/>
          </a:ln>
        </p:spPr>
      </p:sp>
      <p:sp>
        <p:nvSpPr>
          <p:cNvPr id="96" name="Shape 94"/>
          <p:cNvSpPr/>
          <p:nvPr/>
        </p:nvSpPr>
        <p:spPr>
          <a:xfrm>
            <a:off x="2970167" y="2937110"/>
            <a:ext cx="86541" cy="47906"/>
          </a:xfrm>
          <a:prstGeom prst="line">
            <a:avLst/>
          </a:prstGeom>
          <a:noFill/>
          <a:ln w="25400">
            <a:solidFill>
              <a:srgbClr val="6A3FA0"/>
            </a:solidFill>
            <a:prstDash val="solid"/>
          </a:ln>
        </p:spPr>
      </p:sp>
      <p:sp>
        <p:nvSpPr>
          <p:cNvPr id="97" name="Shape 95"/>
          <p:cNvSpPr/>
          <p:nvPr/>
        </p:nvSpPr>
        <p:spPr>
          <a:xfrm>
            <a:off x="3056709" y="2985016"/>
            <a:ext cx="86541" cy="45778"/>
          </a:xfrm>
          <a:prstGeom prst="line">
            <a:avLst/>
          </a:prstGeom>
          <a:noFill/>
          <a:ln w="25400">
            <a:solidFill>
              <a:srgbClr val="6A3FA0"/>
            </a:solidFill>
            <a:prstDash val="solid"/>
          </a:ln>
        </p:spPr>
      </p:sp>
      <p:sp>
        <p:nvSpPr>
          <p:cNvPr id="98" name="Shape 96"/>
          <p:cNvSpPr/>
          <p:nvPr/>
        </p:nvSpPr>
        <p:spPr>
          <a:xfrm>
            <a:off x="3143250" y="3030794"/>
            <a:ext cx="86541" cy="43772"/>
          </a:xfrm>
          <a:prstGeom prst="line">
            <a:avLst/>
          </a:prstGeom>
          <a:noFill/>
          <a:ln w="25400">
            <a:solidFill>
              <a:srgbClr val="6A3FA0"/>
            </a:solidFill>
            <a:prstDash val="solid"/>
          </a:ln>
        </p:spPr>
      </p:sp>
      <p:sp>
        <p:nvSpPr>
          <p:cNvPr id="99" name="Shape 97"/>
          <p:cNvSpPr/>
          <p:nvPr/>
        </p:nvSpPr>
        <p:spPr>
          <a:xfrm>
            <a:off x="3229791" y="3074566"/>
            <a:ext cx="86541" cy="41890"/>
          </a:xfrm>
          <a:prstGeom prst="line">
            <a:avLst/>
          </a:prstGeom>
          <a:noFill/>
          <a:ln w="25400">
            <a:solidFill>
              <a:srgbClr val="6A3FA0"/>
            </a:solidFill>
            <a:prstDash val="solid"/>
          </a:ln>
        </p:spPr>
      </p:sp>
      <p:sp>
        <p:nvSpPr>
          <p:cNvPr id="100" name="Shape 98"/>
          <p:cNvSpPr/>
          <p:nvPr/>
        </p:nvSpPr>
        <p:spPr>
          <a:xfrm>
            <a:off x="3316333" y="3116455"/>
            <a:ext cx="86541" cy="40130"/>
          </a:xfrm>
          <a:prstGeom prst="line">
            <a:avLst/>
          </a:prstGeom>
          <a:noFill/>
          <a:ln w="25400">
            <a:solidFill>
              <a:srgbClr val="6A3FA0"/>
            </a:solidFill>
            <a:prstDash val="solid"/>
          </a:ln>
        </p:spPr>
      </p:sp>
      <p:sp>
        <p:nvSpPr>
          <p:cNvPr id="101" name="Shape 99"/>
          <p:cNvSpPr/>
          <p:nvPr/>
        </p:nvSpPr>
        <p:spPr>
          <a:xfrm>
            <a:off x="3402874" y="3156585"/>
            <a:ext cx="86541" cy="38452"/>
          </a:xfrm>
          <a:prstGeom prst="line">
            <a:avLst/>
          </a:prstGeom>
          <a:noFill/>
          <a:ln w="25400">
            <a:solidFill>
              <a:srgbClr val="6A3FA0"/>
            </a:solidFill>
            <a:prstDash val="solid"/>
          </a:ln>
        </p:spPr>
      </p:sp>
      <p:sp>
        <p:nvSpPr>
          <p:cNvPr id="102" name="Shape 100"/>
          <p:cNvSpPr/>
          <p:nvPr/>
        </p:nvSpPr>
        <p:spPr>
          <a:xfrm>
            <a:off x="3489416" y="3195037"/>
            <a:ext cx="86541" cy="36692"/>
          </a:xfrm>
          <a:prstGeom prst="line">
            <a:avLst/>
          </a:prstGeom>
          <a:noFill/>
          <a:ln w="25400">
            <a:solidFill>
              <a:srgbClr val="6A3FA0"/>
            </a:solidFill>
            <a:prstDash val="solid"/>
          </a:ln>
        </p:spPr>
      </p:sp>
      <p:sp>
        <p:nvSpPr>
          <p:cNvPr id="103" name="Shape 101"/>
          <p:cNvSpPr/>
          <p:nvPr/>
        </p:nvSpPr>
        <p:spPr>
          <a:xfrm>
            <a:off x="3575957" y="3231728"/>
            <a:ext cx="86541" cy="34809"/>
          </a:xfrm>
          <a:prstGeom prst="line">
            <a:avLst/>
          </a:prstGeom>
          <a:noFill/>
          <a:ln w="25400">
            <a:solidFill>
              <a:srgbClr val="6A3FA0"/>
            </a:solidFill>
            <a:prstDash val="solid"/>
          </a:ln>
        </p:spPr>
      </p:sp>
      <p:sp>
        <p:nvSpPr>
          <p:cNvPr id="104" name="Shape 102"/>
          <p:cNvSpPr/>
          <p:nvPr/>
        </p:nvSpPr>
        <p:spPr>
          <a:xfrm>
            <a:off x="3662499" y="3266537"/>
            <a:ext cx="86541" cy="32804"/>
          </a:xfrm>
          <a:prstGeom prst="line">
            <a:avLst/>
          </a:prstGeom>
          <a:noFill/>
          <a:ln w="25400">
            <a:solidFill>
              <a:srgbClr val="6A3FA0"/>
            </a:solidFill>
            <a:prstDash val="solid"/>
          </a:ln>
        </p:spPr>
      </p:sp>
      <p:sp>
        <p:nvSpPr>
          <p:cNvPr id="105" name="Shape 103"/>
          <p:cNvSpPr/>
          <p:nvPr/>
        </p:nvSpPr>
        <p:spPr>
          <a:xfrm>
            <a:off x="3749040" y="3299341"/>
            <a:ext cx="86541" cy="30675"/>
          </a:xfrm>
          <a:prstGeom prst="line">
            <a:avLst/>
          </a:prstGeom>
          <a:noFill/>
          <a:ln w="25400">
            <a:solidFill>
              <a:srgbClr val="6A3FA0"/>
            </a:solidFill>
            <a:prstDash val="solid"/>
          </a:ln>
        </p:spPr>
      </p:sp>
      <p:sp>
        <p:nvSpPr>
          <p:cNvPr id="106" name="Shape 104"/>
          <p:cNvSpPr/>
          <p:nvPr/>
        </p:nvSpPr>
        <p:spPr>
          <a:xfrm>
            <a:off x="3835581" y="3330016"/>
            <a:ext cx="86541" cy="28424"/>
          </a:xfrm>
          <a:prstGeom prst="line">
            <a:avLst/>
          </a:prstGeom>
          <a:noFill/>
          <a:ln w="25400">
            <a:solidFill>
              <a:srgbClr val="6A3FA0"/>
            </a:solidFill>
            <a:prstDash val="solid"/>
          </a:ln>
        </p:spPr>
      </p:sp>
      <p:sp>
        <p:nvSpPr>
          <p:cNvPr id="107" name="Shape 105"/>
          <p:cNvSpPr/>
          <p:nvPr/>
        </p:nvSpPr>
        <p:spPr>
          <a:xfrm>
            <a:off x="3922123" y="3358441"/>
            <a:ext cx="86541" cy="26051"/>
          </a:xfrm>
          <a:prstGeom prst="line">
            <a:avLst/>
          </a:prstGeom>
          <a:noFill/>
          <a:ln w="25400">
            <a:solidFill>
              <a:srgbClr val="6A3FA0"/>
            </a:solidFill>
            <a:prstDash val="solid"/>
          </a:ln>
        </p:spPr>
      </p:sp>
      <p:sp>
        <p:nvSpPr>
          <p:cNvPr id="108" name="Shape 106"/>
          <p:cNvSpPr/>
          <p:nvPr/>
        </p:nvSpPr>
        <p:spPr>
          <a:xfrm>
            <a:off x="4008664" y="3384491"/>
            <a:ext cx="86541" cy="23554"/>
          </a:xfrm>
          <a:prstGeom prst="line">
            <a:avLst/>
          </a:prstGeom>
          <a:noFill/>
          <a:ln w="25400">
            <a:solidFill>
              <a:srgbClr val="6A3FA0"/>
            </a:solidFill>
            <a:prstDash val="solid"/>
          </a:ln>
        </p:spPr>
      </p:sp>
      <p:sp>
        <p:nvSpPr>
          <p:cNvPr id="109" name="Shape 107"/>
          <p:cNvSpPr/>
          <p:nvPr/>
        </p:nvSpPr>
        <p:spPr>
          <a:xfrm>
            <a:off x="4095206" y="3408045"/>
            <a:ext cx="86541" cy="20832"/>
          </a:xfrm>
          <a:prstGeom prst="line">
            <a:avLst/>
          </a:prstGeom>
          <a:noFill/>
          <a:ln w="25400">
            <a:solidFill>
              <a:srgbClr val="6A3FA0"/>
            </a:solidFill>
            <a:prstDash val="solid"/>
          </a:ln>
        </p:spPr>
      </p:sp>
      <p:sp>
        <p:nvSpPr>
          <p:cNvPr id="110" name="Shape 108"/>
          <p:cNvSpPr/>
          <p:nvPr/>
        </p:nvSpPr>
        <p:spPr>
          <a:xfrm>
            <a:off x="4181747" y="3428877"/>
            <a:ext cx="86541" cy="18131"/>
          </a:xfrm>
          <a:prstGeom prst="line">
            <a:avLst/>
          </a:prstGeom>
          <a:noFill/>
          <a:ln w="25400">
            <a:solidFill>
              <a:srgbClr val="6A3FA0"/>
            </a:solidFill>
            <a:prstDash val="solid"/>
          </a:ln>
        </p:spPr>
      </p:sp>
      <p:sp>
        <p:nvSpPr>
          <p:cNvPr id="111" name="Shape 109"/>
          <p:cNvSpPr/>
          <p:nvPr/>
        </p:nvSpPr>
        <p:spPr>
          <a:xfrm>
            <a:off x="4268289" y="3447008"/>
            <a:ext cx="86541" cy="15675"/>
          </a:xfrm>
          <a:prstGeom prst="line">
            <a:avLst/>
          </a:prstGeom>
          <a:noFill/>
          <a:ln w="25400">
            <a:solidFill>
              <a:srgbClr val="6A3FA0"/>
            </a:solidFill>
            <a:prstDash val="solid"/>
          </a:ln>
        </p:spPr>
      </p:sp>
      <p:sp>
        <p:nvSpPr>
          <p:cNvPr id="112" name="Shape 110"/>
          <p:cNvSpPr/>
          <p:nvPr/>
        </p:nvSpPr>
        <p:spPr>
          <a:xfrm>
            <a:off x="4354830" y="3462684"/>
            <a:ext cx="86541" cy="13465"/>
          </a:xfrm>
          <a:prstGeom prst="line">
            <a:avLst/>
          </a:prstGeom>
          <a:noFill/>
          <a:ln w="25400">
            <a:solidFill>
              <a:srgbClr val="6A3FA0"/>
            </a:solidFill>
            <a:prstDash val="solid"/>
          </a:ln>
        </p:spPr>
      </p:sp>
      <p:sp>
        <p:nvSpPr>
          <p:cNvPr id="113" name="Shape 111"/>
          <p:cNvSpPr/>
          <p:nvPr/>
        </p:nvSpPr>
        <p:spPr>
          <a:xfrm>
            <a:off x="4441371" y="3476149"/>
            <a:ext cx="86541" cy="11501"/>
          </a:xfrm>
          <a:prstGeom prst="line">
            <a:avLst/>
          </a:prstGeom>
          <a:noFill/>
          <a:ln w="25400">
            <a:solidFill>
              <a:srgbClr val="6A3FA0"/>
            </a:solidFill>
            <a:prstDash val="solid"/>
          </a:ln>
        </p:spPr>
      </p:sp>
      <p:sp>
        <p:nvSpPr>
          <p:cNvPr id="114" name="Shape 112"/>
          <p:cNvSpPr/>
          <p:nvPr/>
        </p:nvSpPr>
        <p:spPr>
          <a:xfrm>
            <a:off x="4527913" y="3487649"/>
            <a:ext cx="86541" cy="9782"/>
          </a:xfrm>
          <a:prstGeom prst="line">
            <a:avLst/>
          </a:prstGeom>
          <a:noFill/>
          <a:ln w="25400">
            <a:solidFill>
              <a:srgbClr val="6A3FA0"/>
            </a:solidFill>
            <a:prstDash val="solid"/>
          </a:ln>
        </p:spPr>
      </p:sp>
      <p:sp>
        <p:nvSpPr>
          <p:cNvPr id="115" name="Shape 113"/>
          <p:cNvSpPr/>
          <p:nvPr/>
        </p:nvSpPr>
        <p:spPr>
          <a:xfrm>
            <a:off x="4614454" y="3497431"/>
            <a:ext cx="86541" cy="8308"/>
          </a:xfrm>
          <a:prstGeom prst="line">
            <a:avLst/>
          </a:prstGeom>
          <a:noFill/>
          <a:ln w="25400">
            <a:solidFill>
              <a:srgbClr val="6A3FA0"/>
            </a:solidFill>
            <a:prstDash val="solid"/>
          </a:ln>
        </p:spPr>
      </p:sp>
      <p:sp>
        <p:nvSpPr>
          <p:cNvPr id="116" name="Shape 114"/>
          <p:cNvSpPr/>
          <p:nvPr/>
        </p:nvSpPr>
        <p:spPr>
          <a:xfrm>
            <a:off x="4700996" y="3505740"/>
            <a:ext cx="86541" cy="7080"/>
          </a:xfrm>
          <a:prstGeom prst="line">
            <a:avLst/>
          </a:prstGeom>
          <a:noFill/>
          <a:ln w="25400">
            <a:solidFill>
              <a:srgbClr val="6A3FA0"/>
            </a:solidFill>
            <a:prstDash val="solid"/>
          </a:ln>
        </p:spPr>
      </p:sp>
      <p:sp>
        <p:nvSpPr>
          <p:cNvPr id="117" name="Shape 115"/>
          <p:cNvSpPr/>
          <p:nvPr/>
        </p:nvSpPr>
        <p:spPr>
          <a:xfrm>
            <a:off x="4787537" y="3512820"/>
            <a:ext cx="86541" cy="5014"/>
          </a:xfrm>
          <a:prstGeom prst="line">
            <a:avLst/>
          </a:prstGeom>
          <a:noFill/>
          <a:ln w="25400">
            <a:solidFill>
              <a:srgbClr val="6A3FA0"/>
            </a:solidFill>
            <a:prstDash val="solid"/>
          </a:ln>
        </p:spPr>
      </p:sp>
      <p:sp>
        <p:nvSpPr>
          <p:cNvPr id="118" name="Shape 116"/>
          <p:cNvSpPr/>
          <p:nvPr/>
        </p:nvSpPr>
        <p:spPr>
          <a:xfrm>
            <a:off x="4874079" y="3517834"/>
            <a:ext cx="86541" cy="2353"/>
          </a:xfrm>
          <a:prstGeom prst="line">
            <a:avLst/>
          </a:prstGeom>
          <a:noFill/>
          <a:ln w="25400">
            <a:solidFill>
              <a:srgbClr val="6A3FA0"/>
            </a:solidFill>
            <a:prstDash val="solid"/>
          </a:ln>
        </p:spPr>
      </p:sp>
      <p:sp>
        <p:nvSpPr>
          <p:cNvPr id="119" name="Shape 117"/>
          <p:cNvSpPr/>
          <p:nvPr/>
        </p:nvSpPr>
        <p:spPr>
          <a:xfrm>
            <a:off x="4960620" y="3520187"/>
            <a:ext cx="86541" cy="307"/>
          </a:xfrm>
          <a:prstGeom prst="line">
            <a:avLst/>
          </a:prstGeom>
          <a:noFill/>
          <a:ln w="25400">
            <a:solidFill>
              <a:srgbClr val="6A3FA0"/>
            </a:solidFill>
            <a:prstDash val="solid"/>
          </a:ln>
        </p:spPr>
      </p:sp>
      <p:sp>
        <p:nvSpPr>
          <p:cNvPr id="120" name="Shape 118"/>
          <p:cNvSpPr/>
          <p:nvPr/>
        </p:nvSpPr>
        <p:spPr>
          <a:xfrm flipV="1">
            <a:off x="5047161" y="3519368"/>
            <a:ext cx="86541" cy="1126"/>
          </a:xfrm>
          <a:prstGeom prst="line">
            <a:avLst/>
          </a:prstGeom>
          <a:noFill/>
          <a:ln w="25400">
            <a:solidFill>
              <a:srgbClr val="6A3FA0"/>
            </a:solidFill>
            <a:prstDash val="solid"/>
          </a:ln>
        </p:spPr>
      </p:sp>
      <p:sp>
        <p:nvSpPr>
          <p:cNvPr id="121" name="Shape 119"/>
          <p:cNvSpPr/>
          <p:nvPr/>
        </p:nvSpPr>
        <p:spPr>
          <a:xfrm flipV="1">
            <a:off x="5133703" y="3517424"/>
            <a:ext cx="86541" cy="1944"/>
          </a:xfrm>
          <a:prstGeom prst="line">
            <a:avLst/>
          </a:prstGeom>
          <a:noFill/>
          <a:ln w="25400">
            <a:solidFill>
              <a:srgbClr val="6A3FA0"/>
            </a:solidFill>
            <a:prstDash val="solid"/>
          </a:ln>
        </p:spPr>
      </p:sp>
      <p:sp>
        <p:nvSpPr>
          <p:cNvPr id="122" name="Shape 120"/>
          <p:cNvSpPr/>
          <p:nvPr/>
        </p:nvSpPr>
        <p:spPr>
          <a:xfrm flipV="1">
            <a:off x="5220244" y="3515276"/>
            <a:ext cx="86541" cy="2149"/>
          </a:xfrm>
          <a:prstGeom prst="line">
            <a:avLst/>
          </a:prstGeom>
          <a:noFill/>
          <a:ln w="25400">
            <a:solidFill>
              <a:srgbClr val="6A3FA0"/>
            </a:solidFill>
            <a:prstDash val="solid"/>
          </a:ln>
        </p:spPr>
      </p:sp>
      <p:sp>
        <p:nvSpPr>
          <p:cNvPr id="123" name="Shape 121"/>
          <p:cNvSpPr/>
          <p:nvPr/>
        </p:nvSpPr>
        <p:spPr>
          <a:xfrm flipV="1">
            <a:off x="5306786" y="3513536"/>
            <a:ext cx="86541" cy="1739"/>
          </a:xfrm>
          <a:prstGeom prst="line">
            <a:avLst/>
          </a:prstGeom>
          <a:noFill/>
          <a:ln w="25400">
            <a:solidFill>
              <a:srgbClr val="6A3FA0"/>
            </a:solidFill>
            <a:prstDash val="solid"/>
          </a:ln>
        </p:spPr>
      </p:sp>
      <p:sp>
        <p:nvSpPr>
          <p:cNvPr id="124" name="Shape 122"/>
          <p:cNvSpPr/>
          <p:nvPr/>
        </p:nvSpPr>
        <p:spPr>
          <a:xfrm flipV="1">
            <a:off x="5393327" y="3512820"/>
            <a:ext cx="86541" cy="716"/>
          </a:xfrm>
          <a:prstGeom prst="line">
            <a:avLst/>
          </a:prstGeom>
          <a:noFill/>
          <a:ln w="25400">
            <a:solidFill>
              <a:srgbClr val="6A3FA0"/>
            </a:solidFill>
            <a:prstDash val="solid"/>
          </a:ln>
        </p:spPr>
      </p:sp>
      <p:sp>
        <p:nvSpPr>
          <p:cNvPr id="125" name="Shape 123"/>
          <p:cNvSpPr/>
          <p:nvPr/>
        </p:nvSpPr>
        <p:spPr>
          <a:xfrm>
            <a:off x="5479869" y="3512820"/>
            <a:ext cx="91274" cy="91"/>
          </a:xfrm>
          <a:prstGeom prst="line">
            <a:avLst/>
          </a:prstGeom>
          <a:noFill/>
          <a:ln w="25400">
            <a:solidFill>
              <a:srgbClr val="6A3FA0"/>
            </a:solidFill>
            <a:prstDash val="solid"/>
          </a:ln>
        </p:spPr>
      </p:sp>
      <p:sp>
        <p:nvSpPr>
          <p:cNvPr id="126" name="Shape 124"/>
          <p:cNvSpPr/>
          <p:nvPr/>
        </p:nvSpPr>
        <p:spPr>
          <a:xfrm>
            <a:off x="5571143" y="3512820"/>
            <a:ext cx="98035" cy="91"/>
          </a:xfrm>
          <a:prstGeom prst="line">
            <a:avLst/>
          </a:prstGeom>
          <a:noFill/>
          <a:ln w="25400">
            <a:solidFill>
              <a:srgbClr val="6A3FA0"/>
            </a:solidFill>
            <a:prstDash val="solid"/>
          </a:ln>
        </p:spPr>
      </p:sp>
      <p:sp>
        <p:nvSpPr>
          <p:cNvPr id="127" name="Shape 125"/>
          <p:cNvSpPr/>
          <p:nvPr/>
        </p:nvSpPr>
        <p:spPr>
          <a:xfrm>
            <a:off x="5669178" y="3512820"/>
            <a:ext cx="100740" cy="91"/>
          </a:xfrm>
          <a:prstGeom prst="line">
            <a:avLst/>
          </a:prstGeom>
          <a:noFill/>
          <a:ln w="25400">
            <a:solidFill>
              <a:srgbClr val="6A3FA0"/>
            </a:solidFill>
            <a:prstDash val="solid"/>
          </a:ln>
        </p:spPr>
      </p:sp>
      <p:sp>
        <p:nvSpPr>
          <p:cNvPr id="128" name="Shape 126"/>
          <p:cNvSpPr/>
          <p:nvPr/>
        </p:nvSpPr>
        <p:spPr>
          <a:xfrm>
            <a:off x="5769918" y="3512820"/>
            <a:ext cx="99387" cy="91"/>
          </a:xfrm>
          <a:prstGeom prst="line">
            <a:avLst/>
          </a:prstGeom>
          <a:noFill/>
          <a:ln w="25400">
            <a:solidFill>
              <a:srgbClr val="6A3FA0"/>
            </a:solidFill>
            <a:prstDash val="solid"/>
          </a:ln>
        </p:spPr>
      </p:sp>
      <p:sp>
        <p:nvSpPr>
          <p:cNvPr id="129" name="Shape 127"/>
          <p:cNvSpPr/>
          <p:nvPr/>
        </p:nvSpPr>
        <p:spPr>
          <a:xfrm>
            <a:off x="5869305" y="3512820"/>
            <a:ext cx="93979" cy="91"/>
          </a:xfrm>
          <a:prstGeom prst="line">
            <a:avLst/>
          </a:prstGeom>
          <a:noFill/>
          <a:ln w="25400">
            <a:solidFill>
              <a:srgbClr val="6A3FA0"/>
            </a:solidFill>
            <a:prstDash val="solid"/>
          </a:ln>
        </p:spPr>
      </p:sp>
      <p:sp>
        <p:nvSpPr>
          <p:cNvPr id="130" name="Shape 128"/>
          <p:cNvSpPr/>
          <p:nvPr/>
        </p:nvSpPr>
        <p:spPr>
          <a:xfrm>
            <a:off x="5963284" y="3512820"/>
            <a:ext cx="84513" cy="91"/>
          </a:xfrm>
          <a:prstGeom prst="line">
            <a:avLst/>
          </a:prstGeom>
          <a:noFill/>
          <a:ln w="25400">
            <a:solidFill>
              <a:srgbClr val="6A3FA0"/>
            </a:solidFill>
            <a:prstDash val="solid"/>
          </a:ln>
        </p:spPr>
      </p:sp>
      <p:sp>
        <p:nvSpPr>
          <p:cNvPr id="131" name="Shape 129"/>
          <p:cNvSpPr/>
          <p:nvPr/>
        </p:nvSpPr>
        <p:spPr>
          <a:xfrm>
            <a:off x="6047797" y="3512820"/>
            <a:ext cx="70991" cy="91"/>
          </a:xfrm>
          <a:prstGeom prst="line">
            <a:avLst/>
          </a:prstGeom>
          <a:noFill/>
          <a:ln w="25400">
            <a:solidFill>
              <a:srgbClr val="6A3FA0"/>
            </a:solidFill>
            <a:prstDash val="solid"/>
          </a:ln>
        </p:spPr>
      </p:sp>
      <p:sp>
        <p:nvSpPr>
          <p:cNvPr id="132" name="Shape 130"/>
          <p:cNvSpPr/>
          <p:nvPr/>
        </p:nvSpPr>
        <p:spPr>
          <a:xfrm>
            <a:off x="6118788" y="3512820"/>
            <a:ext cx="53412" cy="91"/>
          </a:xfrm>
          <a:prstGeom prst="line">
            <a:avLst/>
          </a:prstGeom>
          <a:noFill/>
          <a:ln w="25400">
            <a:solidFill>
              <a:srgbClr val="6A3FA0"/>
            </a:solidFill>
            <a:prstDash val="solid"/>
          </a:ln>
        </p:spPr>
      </p:sp>
      <p:sp>
        <p:nvSpPr>
          <p:cNvPr id="133" name="Shape 131"/>
          <p:cNvSpPr/>
          <p:nvPr/>
        </p:nvSpPr>
        <p:spPr>
          <a:xfrm>
            <a:off x="1280160" y="1581150"/>
            <a:ext cx="91440" cy="91440"/>
          </a:xfrm>
          <a:prstGeom prst="line">
            <a:avLst/>
          </a:prstGeom>
          <a:noFill/>
          <a:ln w="15875">
            <a:solidFill>
              <a:srgbClr val="2A1F3D"/>
            </a:solidFill>
            <a:prstDash val="solid"/>
          </a:ln>
        </p:spPr>
      </p:sp>
      <p:sp>
        <p:nvSpPr>
          <p:cNvPr id="134" name="Shape 132"/>
          <p:cNvSpPr/>
          <p:nvPr/>
        </p:nvSpPr>
        <p:spPr>
          <a:xfrm flipV="1">
            <a:off x="1280160" y="1581150"/>
            <a:ext cx="91440" cy="91440"/>
          </a:xfrm>
          <a:prstGeom prst="line">
            <a:avLst/>
          </a:prstGeom>
          <a:noFill/>
          <a:ln w="15875">
            <a:solidFill>
              <a:srgbClr val="2A1F3D"/>
            </a:solidFill>
            <a:prstDash val="solid"/>
          </a:ln>
        </p:spPr>
      </p:sp>
      <p:sp>
        <p:nvSpPr>
          <p:cNvPr id="135" name="Shape 133"/>
          <p:cNvSpPr/>
          <p:nvPr/>
        </p:nvSpPr>
        <p:spPr>
          <a:xfrm>
            <a:off x="1972491" y="2209800"/>
            <a:ext cx="91440" cy="91440"/>
          </a:xfrm>
          <a:prstGeom prst="line">
            <a:avLst/>
          </a:prstGeom>
          <a:noFill/>
          <a:ln w="15875">
            <a:solidFill>
              <a:srgbClr val="2A1F3D"/>
            </a:solidFill>
            <a:prstDash val="solid"/>
          </a:ln>
        </p:spPr>
      </p:sp>
      <p:sp>
        <p:nvSpPr>
          <p:cNvPr id="136" name="Shape 134"/>
          <p:cNvSpPr/>
          <p:nvPr/>
        </p:nvSpPr>
        <p:spPr>
          <a:xfrm flipV="1">
            <a:off x="1972491" y="2209800"/>
            <a:ext cx="91440" cy="91440"/>
          </a:xfrm>
          <a:prstGeom prst="line">
            <a:avLst/>
          </a:prstGeom>
          <a:noFill/>
          <a:ln w="15875">
            <a:solidFill>
              <a:srgbClr val="2A1F3D"/>
            </a:solidFill>
            <a:prstDash val="solid"/>
          </a:ln>
        </p:spPr>
      </p:sp>
      <p:sp>
        <p:nvSpPr>
          <p:cNvPr id="137" name="Shape 135"/>
          <p:cNvSpPr/>
          <p:nvPr/>
        </p:nvSpPr>
        <p:spPr>
          <a:xfrm>
            <a:off x="2664823" y="2733675"/>
            <a:ext cx="91440" cy="91440"/>
          </a:xfrm>
          <a:prstGeom prst="line">
            <a:avLst/>
          </a:prstGeom>
          <a:noFill/>
          <a:ln w="15875">
            <a:solidFill>
              <a:srgbClr val="2A1F3D"/>
            </a:solidFill>
            <a:prstDash val="solid"/>
          </a:ln>
        </p:spPr>
      </p:sp>
      <p:sp>
        <p:nvSpPr>
          <p:cNvPr id="138" name="Shape 136"/>
          <p:cNvSpPr/>
          <p:nvPr/>
        </p:nvSpPr>
        <p:spPr>
          <a:xfrm flipV="1">
            <a:off x="2664823" y="2733675"/>
            <a:ext cx="91440" cy="91440"/>
          </a:xfrm>
          <a:prstGeom prst="line">
            <a:avLst/>
          </a:prstGeom>
          <a:noFill/>
          <a:ln w="15875">
            <a:solidFill>
              <a:srgbClr val="2A1F3D"/>
            </a:solidFill>
            <a:prstDash val="solid"/>
          </a:ln>
        </p:spPr>
      </p:sp>
      <p:sp>
        <p:nvSpPr>
          <p:cNvPr id="139" name="Shape 137"/>
          <p:cNvSpPr/>
          <p:nvPr/>
        </p:nvSpPr>
        <p:spPr>
          <a:xfrm>
            <a:off x="3357154" y="3110865"/>
            <a:ext cx="91440" cy="91440"/>
          </a:xfrm>
          <a:prstGeom prst="line">
            <a:avLst/>
          </a:prstGeom>
          <a:noFill/>
          <a:ln w="15875">
            <a:solidFill>
              <a:srgbClr val="2A1F3D"/>
            </a:solidFill>
            <a:prstDash val="solid"/>
          </a:ln>
        </p:spPr>
      </p:sp>
      <p:sp>
        <p:nvSpPr>
          <p:cNvPr id="140" name="Shape 138"/>
          <p:cNvSpPr/>
          <p:nvPr/>
        </p:nvSpPr>
        <p:spPr>
          <a:xfrm flipV="1">
            <a:off x="3357154" y="3110865"/>
            <a:ext cx="91440" cy="91440"/>
          </a:xfrm>
          <a:prstGeom prst="line">
            <a:avLst/>
          </a:prstGeom>
          <a:noFill/>
          <a:ln w="15875">
            <a:solidFill>
              <a:srgbClr val="2A1F3D"/>
            </a:solidFill>
            <a:prstDash val="solid"/>
          </a:ln>
        </p:spPr>
      </p:sp>
      <p:sp>
        <p:nvSpPr>
          <p:cNvPr id="141" name="Shape 139"/>
          <p:cNvSpPr/>
          <p:nvPr/>
        </p:nvSpPr>
        <p:spPr>
          <a:xfrm>
            <a:off x="4049486" y="3362325"/>
            <a:ext cx="91440" cy="91440"/>
          </a:xfrm>
          <a:prstGeom prst="line">
            <a:avLst/>
          </a:prstGeom>
          <a:noFill/>
          <a:ln w="15875">
            <a:solidFill>
              <a:srgbClr val="2A1F3D"/>
            </a:solidFill>
            <a:prstDash val="solid"/>
          </a:ln>
        </p:spPr>
      </p:sp>
      <p:sp>
        <p:nvSpPr>
          <p:cNvPr id="142" name="Shape 140"/>
          <p:cNvSpPr/>
          <p:nvPr/>
        </p:nvSpPr>
        <p:spPr>
          <a:xfrm flipV="1">
            <a:off x="4049486" y="3362325"/>
            <a:ext cx="91440" cy="91440"/>
          </a:xfrm>
          <a:prstGeom prst="line">
            <a:avLst/>
          </a:prstGeom>
          <a:noFill/>
          <a:ln w="15875">
            <a:solidFill>
              <a:srgbClr val="2A1F3D"/>
            </a:solidFill>
            <a:prstDash val="solid"/>
          </a:ln>
        </p:spPr>
      </p:sp>
      <p:sp>
        <p:nvSpPr>
          <p:cNvPr id="143" name="Shape 141"/>
          <p:cNvSpPr/>
          <p:nvPr/>
        </p:nvSpPr>
        <p:spPr>
          <a:xfrm>
            <a:off x="4741817" y="3467100"/>
            <a:ext cx="91440" cy="91440"/>
          </a:xfrm>
          <a:prstGeom prst="line">
            <a:avLst/>
          </a:prstGeom>
          <a:noFill/>
          <a:ln w="15875">
            <a:solidFill>
              <a:srgbClr val="2A1F3D"/>
            </a:solidFill>
            <a:prstDash val="solid"/>
          </a:ln>
        </p:spPr>
      </p:sp>
      <p:sp>
        <p:nvSpPr>
          <p:cNvPr id="144" name="Shape 142"/>
          <p:cNvSpPr/>
          <p:nvPr/>
        </p:nvSpPr>
        <p:spPr>
          <a:xfrm flipV="1">
            <a:off x="4741817" y="3467100"/>
            <a:ext cx="91440" cy="91440"/>
          </a:xfrm>
          <a:prstGeom prst="line">
            <a:avLst/>
          </a:prstGeom>
          <a:noFill/>
          <a:ln w="15875">
            <a:solidFill>
              <a:srgbClr val="2A1F3D"/>
            </a:solidFill>
            <a:prstDash val="solid"/>
          </a:ln>
        </p:spPr>
      </p:sp>
      <p:sp>
        <p:nvSpPr>
          <p:cNvPr id="145" name="Shape 143"/>
          <p:cNvSpPr/>
          <p:nvPr/>
        </p:nvSpPr>
        <p:spPr>
          <a:xfrm>
            <a:off x="5434149" y="3467100"/>
            <a:ext cx="91440" cy="91440"/>
          </a:xfrm>
          <a:prstGeom prst="line">
            <a:avLst/>
          </a:prstGeom>
          <a:noFill/>
          <a:ln w="15875">
            <a:solidFill>
              <a:srgbClr val="2A1F3D"/>
            </a:solidFill>
            <a:prstDash val="solid"/>
          </a:ln>
        </p:spPr>
      </p:sp>
      <p:sp>
        <p:nvSpPr>
          <p:cNvPr id="146" name="Shape 144"/>
          <p:cNvSpPr/>
          <p:nvPr/>
        </p:nvSpPr>
        <p:spPr>
          <a:xfrm flipV="1">
            <a:off x="5434149" y="3467100"/>
            <a:ext cx="91440" cy="91440"/>
          </a:xfrm>
          <a:prstGeom prst="line">
            <a:avLst/>
          </a:prstGeom>
          <a:noFill/>
          <a:ln w="15875">
            <a:solidFill>
              <a:srgbClr val="2A1F3D"/>
            </a:solidFill>
            <a:prstDash val="solid"/>
          </a:ln>
        </p:spPr>
      </p:sp>
      <p:sp>
        <p:nvSpPr>
          <p:cNvPr id="147" name="Shape 145"/>
          <p:cNvSpPr/>
          <p:nvPr/>
        </p:nvSpPr>
        <p:spPr>
          <a:xfrm>
            <a:off x="6126480" y="3467100"/>
            <a:ext cx="91440" cy="91440"/>
          </a:xfrm>
          <a:prstGeom prst="line">
            <a:avLst/>
          </a:prstGeom>
          <a:noFill/>
          <a:ln w="15875">
            <a:solidFill>
              <a:srgbClr val="2A1F3D"/>
            </a:solidFill>
            <a:prstDash val="solid"/>
          </a:ln>
        </p:spPr>
      </p:sp>
      <p:sp>
        <p:nvSpPr>
          <p:cNvPr id="148" name="Shape 146"/>
          <p:cNvSpPr/>
          <p:nvPr/>
        </p:nvSpPr>
        <p:spPr>
          <a:xfrm flipV="1">
            <a:off x="6126480" y="3467100"/>
            <a:ext cx="91440" cy="91440"/>
          </a:xfrm>
          <a:prstGeom prst="line">
            <a:avLst/>
          </a:prstGeom>
          <a:noFill/>
          <a:ln w="15875">
            <a:solidFill>
              <a:srgbClr val="2A1F3D"/>
            </a:solidFill>
            <a:prstDash val="solid"/>
          </a:ln>
        </p:spPr>
      </p:sp>
      <p:sp>
        <p:nvSpPr>
          <p:cNvPr id="149" name="Text 147"/>
          <p:cNvSpPr/>
          <p:nvPr/>
        </p:nvSpPr>
        <p:spPr>
          <a:xfrm>
            <a:off x="2814393" y="2045970"/>
            <a:ext cx="2011680" cy="201168"/>
          </a:xfrm>
          <a:prstGeom prst="rect">
            <a:avLst/>
          </a:prstGeom>
          <a:noFill/>
          <a:ln/>
        </p:spPr>
        <p:txBody>
          <a:bodyPr wrap="square" lIns="0" tIns="0" rIns="0" bIns="0" rtlCol="0" anchor="ctr"/>
          <a:lstStyle/>
          <a:p>
            <a:pPr algn="l" indent="0" marL="0">
              <a:buNone/>
            </a:pPr>
            <a:r>
              <a:rPr lang="en-US" sz="1000" b="1" dirty="0">
                <a:solidFill>
                  <a:srgbClr val="6A3FA0"/>
                </a:solidFill>
                <a:latin typeface="Calibri" pitchFamily="34" charset="0"/>
                <a:ea typeface="Calibri" pitchFamily="34" charset="-122"/>
                <a:cs typeface="Calibri" pitchFamily="34" charset="-120"/>
              </a:rPr>
              <a:t>curve of best fit</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4663440"/>
          <a:ext cx="5577840" cy="914400"/>
        </p:xfrm>
        <a:graphic>
          <a:graphicData uri="http://schemas.openxmlformats.org/drawingml/2006/table">
            <a:tbl>
              <a:tblPr/>
              <a:tblGrid>
                <a:gridCol w="1188720"/>
                <a:gridCol w="548640"/>
                <a:gridCol w="548640"/>
                <a:gridCol w="548640"/>
                <a:gridCol w="548640"/>
                <a:gridCol w="548640"/>
                <a:gridCol w="548640"/>
                <a:gridCol w="548640"/>
                <a:gridCol w="548640"/>
              </a:tblGrid>
              <a:tr h="22860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Time / min</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28600">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Mass / g</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2.50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2.20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1.95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1.77</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1.65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1.60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1.60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1.60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bl>
          </a:graphicData>
        </a:graphic>
      </p:graphicFrame>
      <p:sp>
        <p:nvSpPr>
          <p:cNvPr id="151" name="Shape 148"/>
          <p:cNvSpPr/>
          <p:nvPr/>
        </p:nvSpPr>
        <p:spPr>
          <a:xfrm>
            <a:off x="6675120" y="1188720"/>
            <a:ext cx="5102352" cy="1783080"/>
          </a:xfrm>
          <a:prstGeom prst="roundRect">
            <a:avLst>
              <a:gd name="adj" fmla="val 3077"/>
            </a:avLst>
          </a:prstGeom>
          <a:solidFill>
            <a:srgbClr val="FFF4E0"/>
          </a:solidFill>
          <a:ln w="9525">
            <a:solidFill>
              <a:srgbClr val="F1D9A8"/>
            </a:solidFill>
            <a:prstDash val="solid"/>
          </a:ln>
        </p:spPr>
      </p:sp>
      <p:sp>
        <p:nvSpPr>
          <p:cNvPr id="152" name="Text 149"/>
          <p:cNvSpPr/>
          <p:nvPr/>
        </p:nvSpPr>
        <p:spPr>
          <a:xfrm>
            <a:off x="6839712" y="1261872"/>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water in the crystals</a:t>
            </a:r>
            <a:endParaRPr lang="en-US" sz="1300" dirty="0"/>
          </a:p>
        </p:txBody>
      </p:sp>
      <p:sp>
        <p:nvSpPr>
          <p:cNvPr id="153" name="Text 150"/>
          <p:cNvSpPr/>
          <p:nvPr/>
        </p:nvSpPr>
        <p:spPr>
          <a:xfrm>
            <a:off x="6839712" y="1572768"/>
            <a:ext cx="4773168"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Use the table: start 2.50 g, constant mass 1.60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Water lost   </a:t>
            </a:r>
            <a:r>
              <a:rPr lang="en-US" sz="1050" dirty="0">
                <a:solidFill>
                  <a:srgbClr val="262B3A"/>
                </a:solidFill>
                <a:latin typeface="Calibri" pitchFamily="34" charset="0"/>
                <a:ea typeface="Calibri" pitchFamily="34" charset="-122"/>
                <a:cs typeface="Calibri" pitchFamily="34" charset="-120"/>
              </a:rPr>
              <a:t>2.50 − 1.60 = 0.90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Percentage   </a:t>
            </a:r>
            <a:r>
              <a:rPr lang="en-US" sz="1050" dirty="0">
                <a:solidFill>
                  <a:srgbClr val="262B3A"/>
                </a:solidFill>
                <a:latin typeface="Calibri" pitchFamily="34" charset="0"/>
                <a:ea typeface="Calibri" pitchFamily="34" charset="-122"/>
                <a:cs typeface="Calibri" pitchFamily="34" charset="-120"/>
              </a:rPr>
              <a:t>0.90 ÷ 2.50 × 100 = 36%</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36%</a:t>
            </a:r>
            <a:r>
              <a:rPr lang="en-US" sz="1050" b="1" dirty="0">
                <a:solidFill>
                  <a:srgbClr val="C8414C"/>
                </a:solidFill>
                <a:latin typeface="Calibri" pitchFamily="34" charset="0"/>
                <a:ea typeface="Calibri" pitchFamily="34" charset="-122"/>
                <a:cs typeface="Calibri" pitchFamily="34" charset="-120"/>
              </a:rPr>
              <a:t> of the crystals’ mass is water (theory 36.1%)</a:t>
            </a:r>
            <a:endParaRPr lang="en-US" sz="1050" dirty="0"/>
          </a:p>
        </p:txBody>
      </p:sp>
      <p:sp>
        <p:nvSpPr>
          <p:cNvPr id="154" name="Shape 151"/>
          <p:cNvSpPr/>
          <p:nvPr/>
        </p:nvSpPr>
        <p:spPr>
          <a:xfrm>
            <a:off x="6675120" y="3108960"/>
            <a:ext cx="5102352" cy="2606040"/>
          </a:xfrm>
          <a:prstGeom prst="roundRect">
            <a:avLst>
              <a:gd name="adj" fmla="val 2105"/>
            </a:avLst>
          </a:prstGeom>
          <a:solidFill>
            <a:srgbClr val="F8F5FC"/>
          </a:solidFill>
          <a:ln w="9525">
            <a:solidFill>
              <a:srgbClr val="DDD3EC"/>
            </a:solidFill>
            <a:prstDash val="solid"/>
          </a:ln>
        </p:spPr>
      </p:sp>
      <p:sp>
        <p:nvSpPr>
          <p:cNvPr id="155" name="Text 152"/>
          <p:cNvSpPr/>
          <p:nvPr/>
        </p:nvSpPr>
        <p:spPr>
          <a:xfrm>
            <a:off x="6839712" y="3200400"/>
            <a:ext cx="47731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Conclusion and errors</a:t>
            </a:r>
            <a:endParaRPr lang="en-US" sz="1300" dirty="0"/>
          </a:p>
        </p:txBody>
      </p:sp>
      <p:sp>
        <p:nvSpPr>
          <p:cNvPr id="156" name="Text 153"/>
          <p:cNvSpPr/>
          <p:nvPr/>
        </p:nvSpPr>
        <p:spPr>
          <a:xfrm>
            <a:off x="6839712" y="3529584"/>
            <a:ext cx="4773168" cy="211226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Heating drives the </a:t>
            </a:r>
            <a:r>
              <a:rPr lang="en-US" sz="1050" b="1" dirty="0">
                <a:solidFill>
                  <a:srgbClr val="262B3A"/>
                </a:solidFill>
                <a:latin typeface="Calibri" pitchFamily="34" charset="0"/>
                <a:ea typeface="Calibri" pitchFamily="34" charset="-122"/>
                <a:cs typeface="Calibri" pitchFamily="34" charset="-120"/>
              </a:rPr>
              <a:t>forward</a:t>
            </a:r>
            <a:r>
              <a:rPr lang="en-US" sz="1050" dirty="0">
                <a:solidFill>
                  <a:srgbClr val="262B3A"/>
                </a:solidFill>
                <a:latin typeface="Calibri" pitchFamily="34" charset="0"/>
                <a:ea typeface="Calibri" pitchFamily="34" charset="-122"/>
                <a:cs typeface="Calibri" pitchFamily="34" charset="-120"/>
              </a:rPr>
              <a:t> reaction; water drives the </a:t>
            </a:r>
            <a:r>
              <a:rPr lang="en-US" sz="1050" b="1" dirty="0">
                <a:solidFill>
                  <a:srgbClr val="262B3A"/>
                </a:solidFill>
                <a:latin typeface="Calibri" pitchFamily="34" charset="0"/>
                <a:ea typeface="Calibri" pitchFamily="34" charset="-122"/>
                <a:cs typeface="Calibri" pitchFamily="34" charset="-120"/>
              </a:rPr>
              <a:t>reverse</a:t>
            </a:r>
            <a:r>
              <a:rPr lang="en-US" sz="1050" dirty="0">
                <a:solidFill>
                  <a:srgbClr val="262B3A"/>
                </a:solidFill>
                <a:latin typeface="Calibri" pitchFamily="34" charset="0"/>
                <a:ea typeface="Calibri" pitchFamily="34" charset="-122"/>
                <a:cs typeface="Calibri" pitchFamily="34" charset="-120"/>
              </a:rPr>
              <a:t> reaction: it is </a:t>
            </a:r>
            <a:r>
              <a:rPr lang="en-US" sz="1050" b="1" dirty="0">
                <a:solidFill>
                  <a:srgbClr val="262B3A"/>
                </a:solidFill>
                <a:latin typeface="Calibri" pitchFamily="34" charset="0"/>
                <a:ea typeface="Calibri" pitchFamily="34" charset="-122"/>
                <a:cs typeface="Calibri" pitchFamily="34" charset="-120"/>
              </a:rPr>
              <a:t>reversible</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mass stops falling when </a:t>
            </a:r>
            <a:r>
              <a:rPr lang="en-US" sz="1050" b="1" dirty="0">
                <a:solidFill>
                  <a:srgbClr val="262B3A"/>
                </a:solidFill>
                <a:latin typeface="Calibri" pitchFamily="34" charset="0"/>
                <a:ea typeface="Calibri" pitchFamily="34" charset="-122"/>
                <a:cs typeface="Calibri" pitchFamily="34" charset="-120"/>
              </a:rPr>
              <a:t>all</a:t>
            </a:r>
            <a:r>
              <a:rPr lang="en-US" sz="1050" dirty="0">
                <a:solidFill>
                  <a:srgbClr val="262B3A"/>
                </a:solidFill>
                <a:latin typeface="Calibri" pitchFamily="34" charset="0"/>
                <a:ea typeface="Calibri" pitchFamily="34" charset="-122"/>
                <a:cs typeface="Calibri" pitchFamily="34" charset="-120"/>
              </a:rPr>
              <a:t> the water has gone: heat to </a:t>
            </a:r>
            <a:r>
              <a:rPr lang="en-US" sz="1050" b="1" dirty="0">
                <a:solidFill>
                  <a:srgbClr val="262B3A"/>
                </a:solidFill>
                <a:latin typeface="Calibri" pitchFamily="34" charset="0"/>
                <a:ea typeface="Calibri" pitchFamily="34" charset="-122"/>
                <a:cs typeface="Calibri" pitchFamily="34" charset="-120"/>
              </a:rPr>
              <a:t>constant mass</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Errors</a:t>
            </a:r>
            <a:r>
              <a:rPr lang="en-US" sz="1050" dirty="0">
                <a:solidFill>
                  <a:srgbClr val="262B3A"/>
                </a:solidFill>
                <a:latin typeface="Calibri" pitchFamily="34" charset="0"/>
                <a:ea typeface="Calibri" pitchFamily="34" charset="-122"/>
                <a:cs typeface="Calibri" pitchFamily="34" charset="-120"/>
              </a:rPr>
              <a:t>: solid </a:t>
            </a:r>
            <a:r>
              <a:rPr lang="en-US" sz="1050" b="1" dirty="0">
                <a:solidFill>
                  <a:srgbClr val="262B3A"/>
                </a:solidFill>
                <a:latin typeface="Calibri" pitchFamily="34" charset="0"/>
                <a:ea typeface="Calibri" pitchFamily="34" charset="-122"/>
                <a:cs typeface="Calibri" pitchFamily="34" charset="-120"/>
              </a:rPr>
              <a:t>spits</a:t>
            </a:r>
            <a:r>
              <a:rPr lang="en-US" sz="1050" dirty="0">
                <a:solidFill>
                  <a:srgbClr val="262B3A"/>
                </a:solidFill>
                <a:latin typeface="Calibri" pitchFamily="34" charset="0"/>
                <a:ea typeface="Calibri" pitchFamily="34" charset="-122"/>
                <a:cs typeface="Calibri" pitchFamily="34" charset="-120"/>
              </a:rPr>
              <a:t> out (mass too low); not heated to constant mass (too high); powder takes in </a:t>
            </a:r>
            <a:r>
              <a:rPr lang="en-US" sz="1050" b="1" dirty="0">
                <a:solidFill>
                  <a:srgbClr val="262B3A"/>
                </a:solidFill>
                <a:latin typeface="Calibri" pitchFamily="34" charset="0"/>
                <a:ea typeface="Calibri" pitchFamily="34" charset="-122"/>
                <a:cs typeface="Calibri" pitchFamily="34" charset="-120"/>
              </a:rPr>
              <a:t>moisture</a:t>
            </a:r>
            <a:r>
              <a:rPr lang="en-US" sz="1050" dirty="0">
                <a:solidFill>
                  <a:srgbClr val="262B3A"/>
                </a:solidFill>
                <a:latin typeface="Calibri" pitchFamily="34" charset="0"/>
                <a:ea typeface="Calibri" pitchFamily="34" charset="-122"/>
                <a:cs typeface="Calibri" pitchFamily="34" charset="-120"/>
              </a:rPr>
              <a:t> from the air while cooling.</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Improve</a:t>
            </a:r>
            <a:r>
              <a:rPr lang="en-US" sz="1050" dirty="0">
                <a:solidFill>
                  <a:srgbClr val="262B3A"/>
                </a:solidFill>
                <a:latin typeface="Calibri" pitchFamily="34" charset="0"/>
                <a:ea typeface="Calibri" pitchFamily="34" charset="-122"/>
                <a:cs typeface="Calibri" pitchFamily="34" charset="-120"/>
              </a:rPr>
              <a:t>: heat gently with a lid; cool in a dry place; repeat and find a </a:t>
            </a:r>
            <a:r>
              <a:rPr lang="en-US" sz="1050" b="1" dirty="0">
                <a:solidFill>
                  <a:srgbClr val="262B3A"/>
                </a:solidFill>
                <a:latin typeface="Calibri" pitchFamily="34" charset="0"/>
                <a:ea typeface="Calibri" pitchFamily="34" charset="-122"/>
                <a:cs typeface="Calibri" pitchFamily="34" charset="-120"/>
              </a:rPr>
              <a:t>mean</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157" name="Shape 154"/>
          <p:cNvSpPr/>
          <p:nvPr/>
        </p:nvSpPr>
        <p:spPr>
          <a:xfrm>
            <a:off x="411480" y="5833872"/>
            <a:ext cx="11368735" cy="530352"/>
          </a:xfrm>
          <a:prstGeom prst="rect">
            <a:avLst/>
          </a:prstGeom>
          <a:solidFill>
            <a:srgbClr val="FFF4E0"/>
          </a:solidFill>
          <a:ln w="6350">
            <a:solidFill>
              <a:srgbClr val="F1D9A8"/>
            </a:solidFill>
            <a:prstDash val="solid"/>
          </a:ln>
        </p:spPr>
      </p:sp>
      <p:sp>
        <p:nvSpPr>
          <p:cNvPr id="158" name="Shape 155"/>
          <p:cNvSpPr/>
          <p:nvPr/>
        </p:nvSpPr>
        <p:spPr>
          <a:xfrm>
            <a:off x="411480" y="5833872"/>
            <a:ext cx="82296" cy="530352"/>
          </a:xfrm>
          <a:prstGeom prst="rect">
            <a:avLst/>
          </a:prstGeom>
          <a:solidFill>
            <a:srgbClr val="E39A2F"/>
          </a:solidFill>
          <a:ln w="12700">
            <a:solidFill>
              <a:srgbClr val="E39A2F"/>
            </a:solidFill>
            <a:prstDash val="solid"/>
          </a:ln>
        </p:spPr>
      </p:sp>
      <p:sp>
        <p:nvSpPr>
          <p:cNvPr id="159" name="Text 15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How much mass was lost in the </a:t>
            </a:r>
            <a:r>
              <a:rPr lang="en-US" sz="1150" b="1" dirty="0">
                <a:solidFill>
                  <a:srgbClr val="262B3A"/>
                </a:solidFill>
                <a:latin typeface="Calibri" pitchFamily="34" charset="0"/>
                <a:ea typeface="Calibri" pitchFamily="34" charset="-122"/>
                <a:cs typeface="Calibri" pitchFamily="34" charset="-120"/>
              </a:rPr>
              <a:t>first 2 minutes</a:t>
            </a:r>
            <a:r>
              <a:rPr lang="en-US" sz="1150" dirty="0">
                <a:solidFill>
                  <a:srgbClr val="262B3A"/>
                </a:solidFill>
                <a:latin typeface="Calibri" pitchFamily="34" charset="0"/>
                <a:ea typeface="Calibri" pitchFamily="34" charset="-122"/>
                <a:cs typeface="Calibri" pitchFamily="34" charset="-120"/>
              </a:rPr>
              <a:t>? Why does the curve </a:t>
            </a:r>
            <a:r>
              <a:rPr lang="en-US" sz="1150" b="1" dirty="0">
                <a:solidFill>
                  <a:srgbClr val="262B3A"/>
                </a:solidFill>
                <a:latin typeface="Calibri" pitchFamily="34" charset="0"/>
                <a:ea typeface="Calibri" pitchFamily="34" charset="-122"/>
                <a:cs typeface="Calibri" pitchFamily="34" charset="-120"/>
              </a:rPr>
              <a:t>level off</a:t>
            </a:r>
            <a:r>
              <a:rPr lang="en-US" sz="1150" dirty="0">
                <a:solidFill>
                  <a:srgbClr val="262B3A"/>
                </a:solidFill>
                <a:latin typeface="Calibri" pitchFamily="34" charset="0"/>
                <a:ea typeface="Calibri" pitchFamily="34" charset="-122"/>
                <a:cs typeface="Calibri" pitchFamily="34" charset="-120"/>
              </a:rPr>
              <a:t>? What mass of white solid would </a:t>
            </a:r>
            <a:r>
              <a:rPr lang="en-US" sz="1150" b="1" dirty="0">
                <a:solidFill>
                  <a:srgbClr val="262B3A"/>
                </a:solidFill>
                <a:latin typeface="Calibri" pitchFamily="34" charset="0"/>
                <a:ea typeface="Calibri" pitchFamily="34" charset="-122"/>
                <a:cs typeface="Calibri" pitchFamily="34" charset="-120"/>
              </a:rPr>
              <a:t>5.00 g</a:t>
            </a:r>
            <a:r>
              <a:rPr lang="en-US" sz="1150" dirty="0">
                <a:solidFill>
                  <a:srgbClr val="262B3A"/>
                </a:solidFill>
                <a:latin typeface="Calibri" pitchFamily="34" charset="0"/>
                <a:ea typeface="Calibri" pitchFamily="34" charset="-122"/>
                <a:cs typeface="Calibri" pitchFamily="34" charset="-120"/>
              </a:rPr>
              <a:t> of crystals give?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C6.3.1 and the practical • reversible reactions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8</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does the symbol </a:t>
            </a:r>
            <a:r>
              <a:rPr lang="en-US" sz="1250" b="1" dirty="0">
                <a:solidFill>
                  <a:srgbClr val="262B3A"/>
                </a:solidFill>
                <a:latin typeface="Calibri" pitchFamily="34" charset="0"/>
                <a:ea typeface="Calibri" pitchFamily="34" charset="-122"/>
                <a:cs typeface="Calibri" pitchFamily="34" charset="-120"/>
              </a:rPr>
              <a:t>⇌</a:t>
            </a:r>
            <a:r>
              <a:rPr lang="en-US" sz="1250" dirty="0">
                <a:solidFill>
                  <a:srgbClr val="262B3A"/>
                </a:solidFill>
                <a:latin typeface="Calibri" pitchFamily="34" charset="0"/>
                <a:ea typeface="Calibri" pitchFamily="34" charset="-122"/>
                <a:cs typeface="Calibri" pitchFamily="34" charset="-120"/>
              </a:rPr>
              <a:t> in an equation mean?</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Blue hydrated copper(II) sulfate is heated. Describe what you would </a:t>
            </a:r>
            <a:r>
              <a:rPr lang="en-US" sz="1250" b="1" dirty="0">
                <a:solidFill>
                  <a:srgbClr val="262B3A"/>
                </a:solidFill>
                <a:latin typeface="Calibri" pitchFamily="34" charset="0"/>
                <a:ea typeface="Calibri" pitchFamily="34" charset="-122"/>
                <a:cs typeface="Calibri" pitchFamily="34" charset="-120"/>
              </a:rPr>
              <a:t>see</a:t>
            </a:r>
            <a:r>
              <a:rPr lang="en-US" sz="1250" dirty="0">
                <a:solidFill>
                  <a:srgbClr val="262B3A"/>
                </a:solidFill>
                <a:latin typeface="Calibri" pitchFamily="34" charset="0"/>
                <a:ea typeface="Calibri" pitchFamily="34" charset="-122"/>
                <a:cs typeface="Calibri" pitchFamily="34" charset="-120"/>
              </a:rPr>
              <a:t>, and what happens when water is </a:t>
            </a:r>
            <a:r>
              <a:rPr lang="en-US" sz="1250" b="1" dirty="0">
                <a:solidFill>
                  <a:srgbClr val="262B3A"/>
                </a:solidFill>
                <a:latin typeface="Calibri" pitchFamily="34" charset="0"/>
                <a:ea typeface="Calibri" pitchFamily="34" charset="-122"/>
                <a:cs typeface="Calibri" pitchFamily="34" charset="-120"/>
              </a:rPr>
              <a:t>added</a:t>
            </a:r>
            <a:r>
              <a:rPr lang="en-US" sz="1250" dirty="0">
                <a:solidFill>
                  <a:srgbClr val="262B3A"/>
                </a:solidFill>
                <a:latin typeface="Calibri" pitchFamily="34" charset="0"/>
                <a:ea typeface="Calibri" pitchFamily="34" charset="-122"/>
                <a:cs typeface="Calibri" pitchFamily="34" charset="-120"/>
              </a:rPr>
              <a:t> to the product.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The forward reaction for dehydrating copper(II) sulfate is </a:t>
            </a:r>
            <a:r>
              <a:rPr lang="en-US" sz="1250" b="1" dirty="0">
                <a:solidFill>
                  <a:srgbClr val="262B3A"/>
                </a:solidFill>
                <a:latin typeface="Calibri" pitchFamily="34" charset="0"/>
                <a:ea typeface="Calibri" pitchFamily="34" charset="-122"/>
                <a:cs typeface="Calibri" pitchFamily="34" charset="-120"/>
              </a:rPr>
              <a:t>endothermic</a:t>
            </a:r>
            <a:r>
              <a:rPr lang="en-US" sz="1250" dirty="0">
                <a:solidFill>
                  <a:srgbClr val="262B3A"/>
                </a:solidFill>
                <a:latin typeface="Calibri" pitchFamily="34" charset="0"/>
                <a:ea typeface="Calibri" pitchFamily="34" charset="-122"/>
                <a:cs typeface="Calibri" pitchFamily="34" charset="-120"/>
              </a:rPr>
              <a:t>. What can you say about the </a:t>
            </a:r>
            <a:r>
              <a:rPr lang="en-US" sz="1250" b="1" dirty="0">
                <a:solidFill>
                  <a:srgbClr val="262B3A"/>
                </a:solidFill>
                <a:latin typeface="Calibri" pitchFamily="34" charset="0"/>
                <a:ea typeface="Calibri" pitchFamily="34" charset="-122"/>
                <a:cs typeface="Calibri" pitchFamily="34" charset="-120"/>
              </a:rPr>
              <a:t>reverse</a:t>
            </a:r>
            <a:r>
              <a:rPr lang="en-US" sz="1250" dirty="0">
                <a:solidFill>
                  <a:srgbClr val="262B3A"/>
                </a:solidFill>
                <a:latin typeface="Calibri" pitchFamily="34" charset="0"/>
                <a:ea typeface="Calibri" pitchFamily="34" charset="-122"/>
                <a:cs typeface="Calibri" pitchFamily="34" charset="-120"/>
              </a:rPr>
              <a:t> reaction? Give evidence from the practical.</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 heats crystals until the mass is </a:t>
            </a:r>
            <a:r>
              <a:rPr lang="en-US" sz="1250" b="1" dirty="0">
                <a:solidFill>
                  <a:srgbClr val="262B3A"/>
                </a:solidFill>
                <a:latin typeface="Calibri" pitchFamily="34" charset="0"/>
                <a:ea typeface="Calibri" pitchFamily="34" charset="-122"/>
                <a:cs typeface="Calibri" pitchFamily="34" charset="-120"/>
              </a:rPr>
              <a:t>constant</a:t>
            </a:r>
            <a:r>
              <a:rPr lang="en-US" sz="1250" dirty="0">
                <a:solidFill>
                  <a:srgbClr val="262B3A"/>
                </a:solidFill>
                <a:latin typeface="Calibri" pitchFamily="34" charset="0"/>
                <a:ea typeface="Calibri" pitchFamily="34" charset="-122"/>
                <a:cs typeface="Calibri" pitchFamily="34" charset="-120"/>
              </a:rPr>
              <a:t>. Explain why this is done, and why the white powder is cooled in a </a:t>
            </a:r>
            <a:r>
              <a:rPr lang="en-US" sz="1250" b="1" dirty="0">
                <a:solidFill>
                  <a:srgbClr val="262B3A"/>
                </a:solidFill>
                <a:latin typeface="Calibri" pitchFamily="34" charset="0"/>
                <a:ea typeface="Calibri" pitchFamily="34" charset="-122"/>
                <a:cs typeface="Calibri" pitchFamily="34" charset="-120"/>
              </a:rPr>
              <a:t>dry</a:t>
            </a:r>
            <a:r>
              <a:rPr lang="en-US" sz="1250" dirty="0">
                <a:solidFill>
                  <a:srgbClr val="262B3A"/>
                </a:solidFill>
                <a:latin typeface="Calibri" pitchFamily="34" charset="0"/>
                <a:ea typeface="Calibri" pitchFamily="34" charset="-122"/>
                <a:cs typeface="Calibri" pitchFamily="34" charset="-120"/>
              </a:rPr>
              <a:t> place.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Why the yield is never 100%</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C6.3.1 • reversible reactions in closed systems do not reach 100% yield</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C6.3.1  |  9</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particles in a sealed flask; bars drawn to scale</a:t>
            </a:r>
            <a:endParaRPr lang="en-US" sz="1000" dirty="0"/>
          </a:p>
        </p:txBody>
      </p:sp>
      <p:sp>
        <p:nvSpPr>
          <p:cNvPr id="10" name="Text 8"/>
          <p:cNvSpPr/>
          <p:nvPr/>
        </p:nvSpPr>
        <p:spPr>
          <a:xfrm>
            <a:off x="594360" y="1298448"/>
            <a:ext cx="256032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Closed system</a:t>
            </a:r>
            <a:r>
              <a:rPr lang="en-US" sz="1050" dirty="0">
                <a:solidFill>
                  <a:srgbClr val="262B3A"/>
                </a:solidFill>
                <a:latin typeface="Calibri" pitchFamily="34" charset="0"/>
                <a:ea typeface="Calibri" pitchFamily="34" charset="-122"/>
                <a:cs typeface="Calibri" pitchFamily="34" charset="-120"/>
              </a:rPr>
              <a:t>: sealed flask</a:t>
            </a:r>
            <a:endParaRPr lang="en-US" sz="1050" dirty="0"/>
          </a:p>
        </p:txBody>
      </p:sp>
      <p:sp>
        <p:nvSpPr>
          <p:cNvPr id="11" name="Shape 9"/>
          <p:cNvSpPr/>
          <p:nvPr/>
        </p:nvSpPr>
        <p:spPr>
          <a:xfrm>
            <a:off x="868680" y="1783080"/>
            <a:ext cx="1920240" cy="1737360"/>
          </a:xfrm>
          <a:custGeom>
            <a:avLst/>
            <a:gdLst/>
            <a:ahLst/>
            <a:cxnLst/>
            <a:rect l="l" t="t" r="r" b="b"/>
            <a:pathLst>
              <a:path w="1920240" h="1737360">
                <a:moveTo>
                  <a:pt x="710489" y="0"/>
                </a:moveTo>
                <a:lnTo>
                  <a:pt x="1209751" y="0"/>
                </a:lnTo>
                <a:lnTo>
                  <a:pt x="1209751" y="521208"/>
                </a:lnTo>
                <a:lnTo>
                  <a:pt x="1920240" y="1737360"/>
                </a:lnTo>
                <a:lnTo>
                  <a:pt x="0" y="1737360"/>
                </a:lnTo>
                <a:lnTo>
                  <a:pt x="710489" y="521208"/>
                </a:lnTo>
                <a:close/>
              </a:path>
            </a:pathLst>
          </a:custGeom>
          <a:solidFill>
            <a:srgbClr val="F4F8FC"/>
          </a:solidFill>
          <a:ln/>
        </p:spPr>
      </p:sp>
      <p:sp>
        <p:nvSpPr>
          <p:cNvPr id="12" name="Shape 10"/>
          <p:cNvSpPr/>
          <p:nvPr/>
        </p:nvSpPr>
        <p:spPr>
          <a:xfrm>
            <a:off x="868680" y="1783080"/>
            <a:ext cx="1920240" cy="1737360"/>
          </a:xfrm>
          <a:custGeom>
            <a:avLst/>
            <a:gdLst/>
            <a:ahLst/>
            <a:cxnLst/>
            <a:rect l="l" t="t" r="r" b="b"/>
            <a:pathLst>
              <a:path w="1920240" h="1737360">
                <a:moveTo>
                  <a:pt x="710489" y="0"/>
                </a:moveTo>
                <a:lnTo>
                  <a:pt x="1209751" y="0"/>
                </a:lnTo>
                <a:lnTo>
                  <a:pt x="1209751" y="521208"/>
                </a:lnTo>
                <a:lnTo>
                  <a:pt x="1920240" y="1737360"/>
                </a:lnTo>
                <a:lnTo>
                  <a:pt x="0" y="1737360"/>
                </a:lnTo>
                <a:lnTo>
                  <a:pt x="710489" y="521208"/>
                </a:lnTo>
                <a:close/>
              </a:path>
            </a:pathLst>
          </a:custGeom>
          <a:ln w="19050">
            <a:solidFill>
              <a:srgbClr val="2A1F3D"/>
            </a:solidFill>
            <a:prstDash val="solid"/>
          </a:ln>
        </p:spPr>
      </p:sp>
      <p:sp>
        <p:nvSpPr>
          <p:cNvPr id="13" name="Shape 11"/>
          <p:cNvSpPr/>
          <p:nvPr/>
        </p:nvSpPr>
        <p:spPr>
          <a:xfrm>
            <a:off x="1542593" y="1655064"/>
            <a:ext cx="572414" cy="201168"/>
          </a:xfrm>
          <a:prstGeom prst="rect">
            <a:avLst/>
          </a:prstGeom>
          <a:solidFill>
            <a:srgbClr val="8C6A4A"/>
          </a:solidFill>
          <a:ln w="9525">
            <a:solidFill>
              <a:srgbClr val="5A4030"/>
            </a:solidFill>
            <a:prstDash val="solid"/>
          </a:ln>
        </p:spPr>
      </p:sp>
      <p:sp>
        <p:nvSpPr>
          <p:cNvPr id="14" name="Shape 12"/>
          <p:cNvSpPr/>
          <p:nvPr/>
        </p:nvSpPr>
        <p:spPr>
          <a:xfrm>
            <a:off x="1368857" y="2711196"/>
            <a:ext cx="155448" cy="155448"/>
          </a:xfrm>
          <a:prstGeom prst="ellipse">
            <a:avLst/>
          </a:prstGeom>
          <a:solidFill>
            <a:srgbClr val="6D8FE0"/>
          </a:solidFill>
          <a:ln w="12700">
            <a:solidFill>
              <a:srgbClr val="2F4F9E"/>
            </a:solidFill>
            <a:prstDash val="solid"/>
          </a:ln>
        </p:spPr>
      </p:sp>
      <p:sp>
        <p:nvSpPr>
          <p:cNvPr id="15" name="Shape 13"/>
          <p:cNvSpPr/>
          <p:nvPr/>
        </p:nvSpPr>
        <p:spPr>
          <a:xfrm>
            <a:off x="1493215" y="2711196"/>
            <a:ext cx="155448" cy="155448"/>
          </a:xfrm>
          <a:prstGeom prst="ellipse">
            <a:avLst/>
          </a:prstGeom>
          <a:solidFill>
            <a:srgbClr val="6D8FE0"/>
          </a:solidFill>
          <a:ln w="12700">
            <a:solidFill>
              <a:srgbClr val="2F4F9E"/>
            </a:solidFill>
            <a:prstDash val="solid"/>
          </a:ln>
        </p:spPr>
      </p:sp>
      <p:sp>
        <p:nvSpPr>
          <p:cNvPr id="16" name="Shape 14"/>
          <p:cNvSpPr/>
          <p:nvPr/>
        </p:nvSpPr>
        <p:spPr>
          <a:xfrm>
            <a:off x="2054657" y="3168396"/>
            <a:ext cx="155448" cy="155448"/>
          </a:xfrm>
          <a:prstGeom prst="ellipse">
            <a:avLst/>
          </a:prstGeom>
          <a:solidFill>
            <a:srgbClr val="6D8FE0"/>
          </a:solidFill>
          <a:ln w="12700">
            <a:solidFill>
              <a:srgbClr val="2F4F9E"/>
            </a:solidFill>
            <a:prstDash val="solid"/>
          </a:ln>
        </p:spPr>
      </p:sp>
      <p:sp>
        <p:nvSpPr>
          <p:cNvPr id="17" name="Shape 15"/>
          <p:cNvSpPr/>
          <p:nvPr/>
        </p:nvSpPr>
        <p:spPr>
          <a:xfrm>
            <a:off x="2179015" y="3168396"/>
            <a:ext cx="155448" cy="155448"/>
          </a:xfrm>
          <a:prstGeom prst="ellipse">
            <a:avLst/>
          </a:prstGeom>
          <a:solidFill>
            <a:srgbClr val="6D8FE0"/>
          </a:solidFill>
          <a:ln w="12700">
            <a:solidFill>
              <a:srgbClr val="2F4F9E"/>
            </a:solidFill>
            <a:prstDash val="solid"/>
          </a:ln>
        </p:spPr>
      </p:sp>
      <p:sp>
        <p:nvSpPr>
          <p:cNvPr id="18" name="Shape 16"/>
          <p:cNvSpPr/>
          <p:nvPr/>
        </p:nvSpPr>
        <p:spPr>
          <a:xfrm>
            <a:off x="1135685" y="3236976"/>
            <a:ext cx="109728" cy="109728"/>
          </a:xfrm>
          <a:prstGeom prst="ellipse">
            <a:avLst/>
          </a:prstGeom>
          <a:solidFill>
            <a:srgbClr val="FFFFFF"/>
          </a:solidFill>
          <a:ln w="12700">
            <a:solidFill>
              <a:srgbClr val="8A8F99"/>
            </a:solidFill>
            <a:prstDash val="solid"/>
          </a:ln>
        </p:spPr>
      </p:sp>
      <p:sp>
        <p:nvSpPr>
          <p:cNvPr id="19" name="Shape 17"/>
          <p:cNvSpPr/>
          <p:nvPr/>
        </p:nvSpPr>
        <p:spPr>
          <a:xfrm>
            <a:off x="1223467" y="3236976"/>
            <a:ext cx="109728" cy="109728"/>
          </a:xfrm>
          <a:prstGeom prst="ellipse">
            <a:avLst/>
          </a:prstGeom>
          <a:solidFill>
            <a:srgbClr val="FFFFFF"/>
          </a:solidFill>
          <a:ln w="12700">
            <a:solidFill>
              <a:srgbClr val="8A8F99"/>
            </a:solidFill>
            <a:prstDash val="solid"/>
          </a:ln>
        </p:spPr>
      </p:sp>
      <p:sp>
        <p:nvSpPr>
          <p:cNvPr id="20" name="Shape 18"/>
          <p:cNvSpPr/>
          <p:nvPr/>
        </p:nvSpPr>
        <p:spPr>
          <a:xfrm>
            <a:off x="1775765" y="2916936"/>
            <a:ext cx="109728" cy="109728"/>
          </a:xfrm>
          <a:prstGeom prst="ellipse">
            <a:avLst/>
          </a:prstGeom>
          <a:solidFill>
            <a:srgbClr val="FFFFFF"/>
          </a:solidFill>
          <a:ln w="12700">
            <a:solidFill>
              <a:srgbClr val="8A8F99"/>
            </a:solidFill>
            <a:prstDash val="solid"/>
          </a:ln>
        </p:spPr>
      </p:sp>
      <p:sp>
        <p:nvSpPr>
          <p:cNvPr id="21" name="Shape 19"/>
          <p:cNvSpPr/>
          <p:nvPr/>
        </p:nvSpPr>
        <p:spPr>
          <a:xfrm>
            <a:off x="1863547" y="2916936"/>
            <a:ext cx="109728" cy="109728"/>
          </a:xfrm>
          <a:prstGeom prst="ellipse">
            <a:avLst/>
          </a:prstGeom>
          <a:solidFill>
            <a:srgbClr val="FFFFFF"/>
          </a:solidFill>
          <a:ln w="12700">
            <a:solidFill>
              <a:srgbClr val="8A8F99"/>
            </a:solidFill>
            <a:prstDash val="solid"/>
          </a:ln>
        </p:spPr>
      </p:sp>
      <p:sp>
        <p:nvSpPr>
          <p:cNvPr id="22" name="Shape 20"/>
          <p:cNvSpPr/>
          <p:nvPr/>
        </p:nvSpPr>
        <p:spPr>
          <a:xfrm>
            <a:off x="2324405" y="2779776"/>
            <a:ext cx="109728" cy="109728"/>
          </a:xfrm>
          <a:prstGeom prst="ellipse">
            <a:avLst/>
          </a:prstGeom>
          <a:solidFill>
            <a:srgbClr val="FFFFFF"/>
          </a:solidFill>
          <a:ln w="12700">
            <a:solidFill>
              <a:srgbClr val="8A8F99"/>
            </a:solidFill>
            <a:prstDash val="solid"/>
          </a:ln>
        </p:spPr>
      </p:sp>
      <p:sp>
        <p:nvSpPr>
          <p:cNvPr id="23" name="Shape 21"/>
          <p:cNvSpPr/>
          <p:nvPr/>
        </p:nvSpPr>
        <p:spPr>
          <a:xfrm>
            <a:off x="2412187" y="2779776"/>
            <a:ext cx="109728" cy="109728"/>
          </a:xfrm>
          <a:prstGeom prst="ellipse">
            <a:avLst/>
          </a:prstGeom>
          <a:solidFill>
            <a:srgbClr val="FFFFFF"/>
          </a:solidFill>
          <a:ln w="12700">
            <a:solidFill>
              <a:srgbClr val="8A8F99"/>
            </a:solidFill>
            <a:prstDash val="solid"/>
          </a:ln>
        </p:spPr>
      </p:sp>
      <p:sp>
        <p:nvSpPr>
          <p:cNvPr id="24" name="Shape 22"/>
          <p:cNvSpPr/>
          <p:nvPr/>
        </p:nvSpPr>
        <p:spPr>
          <a:xfrm>
            <a:off x="1501445" y="3236976"/>
            <a:ext cx="109728" cy="109728"/>
          </a:xfrm>
          <a:prstGeom prst="ellipse">
            <a:avLst/>
          </a:prstGeom>
          <a:solidFill>
            <a:srgbClr val="FFFFFF"/>
          </a:solidFill>
          <a:ln w="12700">
            <a:solidFill>
              <a:srgbClr val="8A8F99"/>
            </a:solidFill>
            <a:prstDash val="solid"/>
          </a:ln>
        </p:spPr>
      </p:sp>
      <p:sp>
        <p:nvSpPr>
          <p:cNvPr id="25" name="Shape 23"/>
          <p:cNvSpPr/>
          <p:nvPr/>
        </p:nvSpPr>
        <p:spPr>
          <a:xfrm>
            <a:off x="1589227" y="3236976"/>
            <a:ext cx="109728" cy="109728"/>
          </a:xfrm>
          <a:prstGeom prst="ellipse">
            <a:avLst/>
          </a:prstGeom>
          <a:solidFill>
            <a:srgbClr val="FFFFFF"/>
          </a:solidFill>
          <a:ln w="12700">
            <a:solidFill>
              <a:srgbClr val="8A8F99"/>
            </a:solidFill>
            <a:prstDash val="solid"/>
          </a:ln>
        </p:spPr>
      </p:sp>
      <p:sp>
        <p:nvSpPr>
          <p:cNvPr id="26" name="Shape 24"/>
          <p:cNvSpPr/>
          <p:nvPr/>
        </p:nvSpPr>
        <p:spPr>
          <a:xfrm>
            <a:off x="1821485" y="3282696"/>
            <a:ext cx="109728" cy="109728"/>
          </a:xfrm>
          <a:prstGeom prst="ellipse">
            <a:avLst/>
          </a:prstGeom>
          <a:solidFill>
            <a:srgbClr val="FFFFFF"/>
          </a:solidFill>
          <a:ln w="12700">
            <a:solidFill>
              <a:srgbClr val="8A8F99"/>
            </a:solidFill>
            <a:prstDash val="solid"/>
          </a:ln>
        </p:spPr>
      </p:sp>
      <p:sp>
        <p:nvSpPr>
          <p:cNvPr id="27" name="Shape 25"/>
          <p:cNvSpPr/>
          <p:nvPr/>
        </p:nvSpPr>
        <p:spPr>
          <a:xfrm>
            <a:off x="1909267" y="3282696"/>
            <a:ext cx="109728" cy="109728"/>
          </a:xfrm>
          <a:prstGeom prst="ellipse">
            <a:avLst/>
          </a:prstGeom>
          <a:solidFill>
            <a:srgbClr val="FFFFFF"/>
          </a:solidFill>
          <a:ln w="12700">
            <a:solidFill>
              <a:srgbClr val="8A8F99"/>
            </a:solidFill>
            <a:prstDash val="solid"/>
          </a:ln>
        </p:spPr>
      </p:sp>
      <p:sp>
        <p:nvSpPr>
          <p:cNvPr id="28" name="Shape 26"/>
          <p:cNvSpPr/>
          <p:nvPr/>
        </p:nvSpPr>
        <p:spPr>
          <a:xfrm>
            <a:off x="2415845" y="3282696"/>
            <a:ext cx="109728" cy="109728"/>
          </a:xfrm>
          <a:prstGeom prst="ellipse">
            <a:avLst/>
          </a:prstGeom>
          <a:solidFill>
            <a:srgbClr val="FFFFFF"/>
          </a:solidFill>
          <a:ln w="12700">
            <a:solidFill>
              <a:srgbClr val="8A8F99"/>
            </a:solidFill>
            <a:prstDash val="solid"/>
          </a:ln>
        </p:spPr>
      </p:sp>
      <p:sp>
        <p:nvSpPr>
          <p:cNvPr id="29" name="Shape 27"/>
          <p:cNvSpPr/>
          <p:nvPr/>
        </p:nvSpPr>
        <p:spPr>
          <a:xfrm>
            <a:off x="2503627" y="3282696"/>
            <a:ext cx="109728" cy="109728"/>
          </a:xfrm>
          <a:prstGeom prst="ellipse">
            <a:avLst/>
          </a:prstGeom>
          <a:solidFill>
            <a:srgbClr val="FFFFFF"/>
          </a:solidFill>
          <a:ln w="12700">
            <a:solidFill>
              <a:srgbClr val="8A8F99"/>
            </a:solidFill>
            <a:prstDash val="solid"/>
          </a:ln>
        </p:spPr>
      </p:sp>
      <p:sp>
        <p:nvSpPr>
          <p:cNvPr id="30" name="Shape 28"/>
          <p:cNvSpPr/>
          <p:nvPr/>
        </p:nvSpPr>
        <p:spPr>
          <a:xfrm>
            <a:off x="1164946" y="3017520"/>
            <a:ext cx="89611" cy="89611"/>
          </a:xfrm>
          <a:prstGeom prst="ellipse">
            <a:avLst/>
          </a:prstGeom>
          <a:solidFill>
            <a:srgbClr val="FFFFFF"/>
          </a:solidFill>
          <a:ln w="12700">
            <a:solidFill>
              <a:srgbClr val="8A8F99"/>
            </a:solidFill>
            <a:prstDash val="solid"/>
          </a:ln>
        </p:spPr>
      </p:sp>
      <p:sp>
        <p:nvSpPr>
          <p:cNvPr id="31" name="Shape 29"/>
          <p:cNvSpPr/>
          <p:nvPr/>
        </p:nvSpPr>
        <p:spPr>
          <a:xfrm>
            <a:off x="1305763" y="3017520"/>
            <a:ext cx="89611" cy="89611"/>
          </a:xfrm>
          <a:prstGeom prst="ellipse">
            <a:avLst/>
          </a:prstGeom>
          <a:solidFill>
            <a:srgbClr val="FFFFFF"/>
          </a:solidFill>
          <a:ln w="12700">
            <a:solidFill>
              <a:srgbClr val="8A8F99"/>
            </a:solidFill>
            <a:prstDash val="solid"/>
          </a:ln>
        </p:spPr>
      </p:sp>
      <p:sp>
        <p:nvSpPr>
          <p:cNvPr id="32" name="Shape 30"/>
          <p:cNvSpPr/>
          <p:nvPr/>
        </p:nvSpPr>
        <p:spPr>
          <a:xfrm>
            <a:off x="1235354" y="2902306"/>
            <a:ext cx="89611" cy="89611"/>
          </a:xfrm>
          <a:prstGeom prst="ellipse">
            <a:avLst/>
          </a:prstGeom>
          <a:solidFill>
            <a:srgbClr val="FFFFFF"/>
          </a:solidFill>
          <a:ln w="12700">
            <a:solidFill>
              <a:srgbClr val="8A8F99"/>
            </a:solidFill>
            <a:prstDash val="solid"/>
          </a:ln>
        </p:spPr>
      </p:sp>
      <p:sp>
        <p:nvSpPr>
          <p:cNvPr id="33" name="Shape 31"/>
          <p:cNvSpPr/>
          <p:nvPr/>
        </p:nvSpPr>
        <p:spPr>
          <a:xfrm>
            <a:off x="1216152" y="2953512"/>
            <a:ext cx="128016" cy="128016"/>
          </a:xfrm>
          <a:prstGeom prst="ellipse">
            <a:avLst/>
          </a:prstGeom>
          <a:solidFill>
            <a:srgbClr val="6D8FE0"/>
          </a:solidFill>
          <a:ln w="12700">
            <a:solidFill>
              <a:srgbClr val="2F4F9E"/>
            </a:solidFill>
            <a:prstDash val="solid"/>
          </a:ln>
        </p:spPr>
      </p:sp>
      <p:sp>
        <p:nvSpPr>
          <p:cNvPr id="34" name="Shape 32"/>
          <p:cNvSpPr/>
          <p:nvPr/>
        </p:nvSpPr>
        <p:spPr>
          <a:xfrm>
            <a:off x="2033626" y="2514600"/>
            <a:ext cx="89611" cy="89611"/>
          </a:xfrm>
          <a:prstGeom prst="ellipse">
            <a:avLst/>
          </a:prstGeom>
          <a:solidFill>
            <a:srgbClr val="FFFFFF"/>
          </a:solidFill>
          <a:ln w="12700">
            <a:solidFill>
              <a:srgbClr val="8A8F99"/>
            </a:solidFill>
            <a:prstDash val="solid"/>
          </a:ln>
        </p:spPr>
      </p:sp>
      <p:sp>
        <p:nvSpPr>
          <p:cNvPr id="35" name="Shape 33"/>
          <p:cNvSpPr/>
          <p:nvPr/>
        </p:nvSpPr>
        <p:spPr>
          <a:xfrm>
            <a:off x="2174443" y="2514600"/>
            <a:ext cx="89611" cy="89611"/>
          </a:xfrm>
          <a:prstGeom prst="ellipse">
            <a:avLst/>
          </a:prstGeom>
          <a:solidFill>
            <a:srgbClr val="FFFFFF"/>
          </a:solidFill>
          <a:ln w="12700">
            <a:solidFill>
              <a:srgbClr val="8A8F99"/>
            </a:solidFill>
            <a:prstDash val="solid"/>
          </a:ln>
        </p:spPr>
      </p:sp>
      <p:sp>
        <p:nvSpPr>
          <p:cNvPr id="36" name="Shape 34"/>
          <p:cNvSpPr/>
          <p:nvPr/>
        </p:nvSpPr>
        <p:spPr>
          <a:xfrm>
            <a:off x="2104034" y="2399386"/>
            <a:ext cx="89611" cy="89611"/>
          </a:xfrm>
          <a:prstGeom prst="ellipse">
            <a:avLst/>
          </a:prstGeom>
          <a:solidFill>
            <a:srgbClr val="FFFFFF"/>
          </a:solidFill>
          <a:ln w="12700">
            <a:solidFill>
              <a:srgbClr val="8A8F99"/>
            </a:solidFill>
            <a:prstDash val="solid"/>
          </a:ln>
        </p:spPr>
      </p:sp>
      <p:sp>
        <p:nvSpPr>
          <p:cNvPr id="37" name="Shape 35"/>
          <p:cNvSpPr/>
          <p:nvPr/>
        </p:nvSpPr>
        <p:spPr>
          <a:xfrm>
            <a:off x="2084832" y="2450592"/>
            <a:ext cx="128016" cy="128016"/>
          </a:xfrm>
          <a:prstGeom prst="ellipse">
            <a:avLst/>
          </a:prstGeom>
          <a:solidFill>
            <a:srgbClr val="6D8FE0"/>
          </a:solidFill>
          <a:ln w="12700">
            <a:solidFill>
              <a:srgbClr val="2F4F9E"/>
            </a:solidFill>
            <a:prstDash val="solid"/>
          </a:ln>
        </p:spPr>
      </p:sp>
      <p:sp>
        <p:nvSpPr>
          <p:cNvPr id="38" name="Text 36"/>
          <p:cNvSpPr/>
          <p:nvPr/>
        </p:nvSpPr>
        <p:spPr>
          <a:xfrm>
            <a:off x="594360" y="3611880"/>
            <a:ext cx="2560320" cy="237744"/>
          </a:xfrm>
          <a:prstGeom prst="rect">
            <a:avLst/>
          </a:prstGeom>
          <a:noFill/>
          <a:ln/>
        </p:spPr>
        <p:txBody>
          <a:bodyPr wrap="square" lIns="0" tIns="0" rIns="0" bIns="0" rtlCol="0" anchor="ctr"/>
          <a:lstStyle/>
          <a:p>
            <a:pPr algn="ctr" indent="0" marL="0">
              <a:buNone/>
            </a:pPr>
            <a:r>
              <a:rPr lang="en-US" sz="1000" dirty="0">
                <a:solidFill>
                  <a:srgbClr val="2A1F3D"/>
                </a:solidFill>
                <a:latin typeface="Calibri" pitchFamily="34" charset="0"/>
                <a:ea typeface="Calibri" pitchFamily="34" charset="-122"/>
                <a:cs typeface="Calibri" pitchFamily="34" charset="-120"/>
              </a:rPr>
              <a:t>N₂, H₂ and NH₃ are </a:t>
            </a:r>
            <a:r>
              <a:rPr lang="en-US" sz="1000" b="1" dirty="0">
                <a:solidFill>
                  <a:srgbClr val="2A1F3D"/>
                </a:solidFill>
                <a:latin typeface="Calibri" pitchFamily="34" charset="0"/>
                <a:ea typeface="Calibri" pitchFamily="34" charset="-122"/>
                <a:cs typeface="Calibri" pitchFamily="34" charset="-120"/>
              </a:rPr>
              <a:t>all</a:t>
            </a:r>
            <a:r>
              <a:rPr lang="en-US" sz="1000" dirty="0">
                <a:solidFill>
                  <a:srgbClr val="2A1F3D"/>
                </a:solidFill>
                <a:latin typeface="Calibri" pitchFamily="34" charset="0"/>
                <a:ea typeface="Calibri" pitchFamily="34" charset="-122"/>
                <a:cs typeface="Calibri" pitchFamily="34" charset="-120"/>
              </a:rPr>
              <a:t> present</a:t>
            </a:r>
            <a:endParaRPr lang="en-US" sz="1000" dirty="0"/>
          </a:p>
        </p:txBody>
      </p:sp>
      <p:sp>
        <p:nvSpPr>
          <p:cNvPr id="39" name="Shape 37"/>
          <p:cNvSpPr/>
          <p:nvPr/>
        </p:nvSpPr>
        <p:spPr>
          <a:xfrm>
            <a:off x="3289097" y="1705356"/>
            <a:ext cx="155448" cy="155448"/>
          </a:xfrm>
          <a:prstGeom prst="ellipse">
            <a:avLst/>
          </a:prstGeom>
          <a:solidFill>
            <a:srgbClr val="6D8FE0"/>
          </a:solidFill>
          <a:ln w="12700">
            <a:solidFill>
              <a:srgbClr val="2F4F9E"/>
            </a:solidFill>
            <a:prstDash val="solid"/>
          </a:ln>
        </p:spPr>
      </p:sp>
      <p:sp>
        <p:nvSpPr>
          <p:cNvPr id="40" name="Shape 38"/>
          <p:cNvSpPr/>
          <p:nvPr/>
        </p:nvSpPr>
        <p:spPr>
          <a:xfrm>
            <a:off x="3413455" y="1705356"/>
            <a:ext cx="155448" cy="155448"/>
          </a:xfrm>
          <a:prstGeom prst="ellipse">
            <a:avLst/>
          </a:prstGeom>
          <a:solidFill>
            <a:srgbClr val="6D8FE0"/>
          </a:solidFill>
          <a:ln w="12700">
            <a:solidFill>
              <a:srgbClr val="2F4F9E"/>
            </a:solidFill>
            <a:prstDash val="solid"/>
          </a:ln>
        </p:spPr>
      </p:sp>
      <p:sp>
        <p:nvSpPr>
          <p:cNvPr id="41" name="Text 39"/>
          <p:cNvSpPr/>
          <p:nvPr/>
        </p:nvSpPr>
        <p:spPr>
          <a:xfrm>
            <a:off x="3657600" y="1673352"/>
            <a:ext cx="54864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N₂</a:t>
            </a:r>
            <a:endParaRPr lang="en-US" sz="1000" dirty="0"/>
          </a:p>
        </p:txBody>
      </p:sp>
      <p:sp>
        <p:nvSpPr>
          <p:cNvPr id="42" name="Shape 40"/>
          <p:cNvSpPr/>
          <p:nvPr/>
        </p:nvSpPr>
        <p:spPr>
          <a:xfrm>
            <a:off x="3330245" y="2048256"/>
            <a:ext cx="109728" cy="109728"/>
          </a:xfrm>
          <a:prstGeom prst="ellipse">
            <a:avLst/>
          </a:prstGeom>
          <a:solidFill>
            <a:srgbClr val="FFFFFF"/>
          </a:solidFill>
          <a:ln w="12700">
            <a:solidFill>
              <a:srgbClr val="8A8F99"/>
            </a:solidFill>
            <a:prstDash val="solid"/>
          </a:ln>
        </p:spPr>
      </p:sp>
      <p:sp>
        <p:nvSpPr>
          <p:cNvPr id="43" name="Shape 41"/>
          <p:cNvSpPr/>
          <p:nvPr/>
        </p:nvSpPr>
        <p:spPr>
          <a:xfrm>
            <a:off x="3418027" y="2048256"/>
            <a:ext cx="109728" cy="109728"/>
          </a:xfrm>
          <a:prstGeom prst="ellipse">
            <a:avLst/>
          </a:prstGeom>
          <a:solidFill>
            <a:srgbClr val="FFFFFF"/>
          </a:solidFill>
          <a:ln w="12700">
            <a:solidFill>
              <a:srgbClr val="8A8F99"/>
            </a:solidFill>
            <a:prstDash val="solid"/>
          </a:ln>
        </p:spPr>
      </p:sp>
      <p:sp>
        <p:nvSpPr>
          <p:cNvPr id="44" name="Text 42"/>
          <p:cNvSpPr/>
          <p:nvPr/>
        </p:nvSpPr>
        <p:spPr>
          <a:xfrm>
            <a:off x="3657600" y="1993392"/>
            <a:ext cx="54864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H₂</a:t>
            </a:r>
            <a:endParaRPr lang="en-US" sz="1000" dirty="0"/>
          </a:p>
        </p:txBody>
      </p:sp>
      <p:sp>
        <p:nvSpPr>
          <p:cNvPr id="45" name="Shape 43"/>
          <p:cNvSpPr/>
          <p:nvPr/>
        </p:nvSpPr>
        <p:spPr>
          <a:xfrm>
            <a:off x="3313786" y="2450592"/>
            <a:ext cx="89611" cy="89611"/>
          </a:xfrm>
          <a:prstGeom prst="ellipse">
            <a:avLst/>
          </a:prstGeom>
          <a:solidFill>
            <a:srgbClr val="FFFFFF"/>
          </a:solidFill>
          <a:ln w="12700">
            <a:solidFill>
              <a:srgbClr val="8A8F99"/>
            </a:solidFill>
            <a:prstDash val="solid"/>
          </a:ln>
        </p:spPr>
      </p:sp>
      <p:sp>
        <p:nvSpPr>
          <p:cNvPr id="46" name="Shape 44"/>
          <p:cNvSpPr/>
          <p:nvPr/>
        </p:nvSpPr>
        <p:spPr>
          <a:xfrm>
            <a:off x="3454603" y="2450592"/>
            <a:ext cx="89611" cy="89611"/>
          </a:xfrm>
          <a:prstGeom prst="ellipse">
            <a:avLst/>
          </a:prstGeom>
          <a:solidFill>
            <a:srgbClr val="FFFFFF"/>
          </a:solidFill>
          <a:ln w="12700">
            <a:solidFill>
              <a:srgbClr val="8A8F99"/>
            </a:solidFill>
            <a:prstDash val="solid"/>
          </a:ln>
        </p:spPr>
      </p:sp>
      <p:sp>
        <p:nvSpPr>
          <p:cNvPr id="47" name="Shape 45"/>
          <p:cNvSpPr/>
          <p:nvPr/>
        </p:nvSpPr>
        <p:spPr>
          <a:xfrm>
            <a:off x="3384194" y="2335378"/>
            <a:ext cx="89611" cy="89611"/>
          </a:xfrm>
          <a:prstGeom prst="ellipse">
            <a:avLst/>
          </a:prstGeom>
          <a:solidFill>
            <a:srgbClr val="FFFFFF"/>
          </a:solidFill>
          <a:ln w="12700">
            <a:solidFill>
              <a:srgbClr val="8A8F99"/>
            </a:solidFill>
            <a:prstDash val="solid"/>
          </a:ln>
        </p:spPr>
      </p:sp>
      <p:sp>
        <p:nvSpPr>
          <p:cNvPr id="48" name="Shape 46"/>
          <p:cNvSpPr/>
          <p:nvPr/>
        </p:nvSpPr>
        <p:spPr>
          <a:xfrm>
            <a:off x="3364992" y="2386584"/>
            <a:ext cx="128016" cy="128016"/>
          </a:xfrm>
          <a:prstGeom prst="ellipse">
            <a:avLst/>
          </a:prstGeom>
          <a:solidFill>
            <a:srgbClr val="6D8FE0"/>
          </a:solidFill>
          <a:ln w="12700">
            <a:solidFill>
              <a:srgbClr val="2F4F9E"/>
            </a:solidFill>
            <a:prstDash val="solid"/>
          </a:ln>
        </p:spPr>
      </p:sp>
      <p:sp>
        <p:nvSpPr>
          <p:cNvPr id="49" name="Text 47"/>
          <p:cNvSpPr/>
          <p:nvPr/>
        </p:nvSpPr>
        <p:spPr>
          <a:xfrm>
            <a:off x="3657600" y="2340864"/>
            <a:ext cx="54864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NH₃</a:t>
            </a:r>
            <a:endParaRPr lang="en-US" sz="1000" dirty="0"/>
          </a:p>
        </p:txBody>
      </p:sp>
      <p:sp>
        <p:nvSpPr>
          <p:cNvPr id="50" name="Text 48"/>
          <p:cNvSpPr/>
          <p:nvPr/>
        </p:nvSpPr>
        <p:spPr>
          <a:xfrm>
            <a:off x="4206240" y="1691640"/>
            <a:ext cx="1691640" cy="64008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not all reactants turn into product</a:t>
            </a:r>
            <a:endParaRPr lang="en-US" sz="1000" dirty="0"/>
          </a:p>
        </p:txBody>
      </p:sp>
      <p:sp>
        <p:nvSpPr>
          <p:cNvPr id="51" name="Shape 49"/>
          <p:cNvSpPr/>
          <p:nvPr/>
        </p:nvSpPr>
        <p:spPr>
          <a:xfrm>
            <a:off x="1143000" y="4160520"/>
            <a:ext cx="4480560" cy="274320"/>
          </a:xfrm>
          <a:prstGeom prst="rect">
            <a:avLst/>
          </a:prstGeom>
          <a:solidFill>
            <a:srgbClr val="E9E0F7"/>
          </a:solidFill>
          <a:ln w="12700">
            <a:solidFill>
              <a:srgbClr val="6A3FA0"/>
            </a:solidFill>
            <a:prstDash val="solid"/>
          </a:ln>
        </p:spPr>
      </p:sp>
      <p:sp>
        <p:nvSpPr>
          <p:cNvPr id="52" name="Shape 50"/>
          <p:cNvSpPr/>
          <p:nvPr/>
        </p:nvSpPr>
        <p:spPr>
          <a:xfrm>
            <a:off x="1143000" y="4572000"/>
            <a:ext cx="1344168" cy="274320"/>
          </a:xfrm>
          <a:prstGeom prst="rect">
            <a:avLst/>
          </a:prstGeom>
          <a:solidFill>
            <a:srgbClr val="6D8FE0"/>
          </a:solidFill>
          <a:ln w="12700">
            <a:solidFill>
              <a:srgbClr val="2F4F9E"/>
            </a:solidFill>
            <a:prstDash val="solid"/>
          </a:ln>
        </p:spPr>
      </p:sp>
      <p:sp>
        <p:nvSpPr>
          <p:cNvPr id="53" name="Shape 51"/>
          <p:cNvSpPr/>
          <p:nvPr/>
        </p:nvSpPr>
        <p:spPr>
          <a:xfrm>
            <a:off x="1143000" y="4069080"/>
            <a:ext cx="91" cy="914400"/>
          </a:xfrm>
          <a:prstGeom prst="line">
            <a:avLst/>
          </a:prstGeom>
          <a:noFill/>
          <a:ln w="15875">
            <a:solidFill>
              <a:srgbClr val="2A1F3D"/>
            </a:solidFill>
            <a:prstDash val="solid"/>
          </a:ln>
        </p:spPr>
      </p:sp>
      <p:sp>
        <p:nvSpPr>
          <p:cNvPr id="54" name="Text 52"/>
          <p:cNvSpPr/>
          <p:nvPr/>
        </p:nvSpPr>
        <p:spPr>
          <a:xfrm>
            <a:off x="457200" y="4160520"/>
            <a:ext cx="658368" cy="274320"/>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max</a:t>
            </a:r>
            <a:endParaRPr lang="en-US" sz="1000" dirty="0"/>
          </a:p>
        </p:txBody>
      </p:sp>
      <p:sp>
        <p:nvSpPr>
          <p:cNvPr id="55" name="Text 53"/>
          <p:cNvSpPr/>
          <p:nvPr/>
        </p:nvSpPr>
        <p:spPr>
          <a:xfrm>
            <a:off x="457200" y="4572000"/>
            <a:ext cx="658368" cy="274320"/>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actual</a:t>
            </a:r>
            <a:endParaRPr lang="en-US" sz="1000" dirty="0"/>
          </a:p>
        </p:txBody>
      </p:sp>
      <p:sp>
        <p:nvSpPr>
          <p:cNvPr id="56" name="Text 54"/>
          <p:cNvSpPr/>
          <p:nvPr/>
        </p:nvSpPr>
        <p:spPr>
          <a:xfrm>
            <a:off x="4160520" y="4160520"/>
            <a:ext cx="1417320" cy="274320"/>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2.0 mol NH₃</a:t>
            </a:r>
            <a:endParaRPr lang="en-US" sz="1000" dirty="0"/>
          </a:p>
        </p:txBody>
      </p:sp>
      <p:sp>
        <p:nvSpPr>
          <p:cNvPr id="57" name="Text 55"/>
          <p:cNvSpPr/>
          <p:nvPr/>
        </p:nvSpPr>
        <p:spPr>
          <a:xfrm>
            <a:off x="2560320" y="4572000"/>
            <a:ext cx="2194560" cy="274320"/>
          </a:xfrm>
          <a:prstGeom prst="rect">
            <a:avLst/>
          </a:prstGeom>
          <a:noFill/>
          <a:ln/>
        </p:spPr>
        <p:txBody>
          <a:bodyPr wrap="square" lIns="0" tIns="0" rIns="0" bIns="0" rtlCol="0" anchor="ctr"/>
          <a:lstStyle/>
          <a:p>
            <a:pPr algn="l" indent="0" marL="0">
              <a:buNone/>
            </a:pPr>
            <a:r>
              <a:rPr lang="en-US" sz="1000" b="1" dirty="0">
                <a:solidFill>
                  <a:srgbClr val="2F4F9E"/>
                </a:solidFill>
                <a:latin typeface="Calibri" pitchFamily="34" charset="0"/>
                <a:ea typeface="Calibri" pitchFamily="34" charset="-122"/>
                <a:cs typeface="Calibri" pitchFamily="34" charset="-120"/>
              </a:rPr>
              <a:t>0.60 mol NH₃ (30%)</a:t>
            </a:r>
            <a:endParaRPr lang="en-US" sz="1000" dirty="0"/>
          </a:p>
        </p:txBody>
      </p:sp>
      <p:sp>
        <p:nvSpPr>
          <p:cNvPr id="58" name="Shape 56"/>
          <p:cNvSpPr/>
          <p:nvPr/>
        </p:nvSpPr>
        <p:spPr>
          <a:xfrm>
            <a:off x="6217920" y="1188720"/>
            <a:ext cx="5559552" cy="2606040"/>
          </a:xfrm>
          <a:prstGeom prst="roundRect">
            <a:avLst>
              <a:gd name="adj" fmla="val 2105"/>
            </a:avLst>
          </a:prstGeom>
          <a:solidFill>
            <a:srgbClr val="F8F5FC"/>
          </a:solidFill>
          <a:ln w="9525">
            <a:solidFill>
              <a:srgbClr val="DDD3EC"/>
            </a:solidFill>
            <a:prstDash val="solid"/>
          </a:ln>
        </p:spPr>
      </p:sp>
      <p:sp>
        <p:nvSpPr>
          <p:cNvPr id="59" name="Text 57"/>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Closed systems</a:t>
            </a:r>
            <a:endParaRPr lang="en-US" sz="1300" dirty="0"/>
          </a:p>
        </p:txBody>
      </p:sp>
      <p:sp>
        <p:nvSpPr>
          <p:cNvPr id="60" name="Text 58"/>
          <p:cNvSpPr/>
          <p:nvPr/>
        </p:nvSpPr>
        <p:spPr>
          <a:xfrm>
            <a:off x="6382512" y="1609344"/>
            <a:ext cx="5230368" cy="211226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 </a:t>
            </a:r>
            <a:r>
              <a:rPr lang="en-US" sz="1050" b="1" dirty="0">
                <a:solidFill>
                  <a:srgbClr val="262B3A"/>
                </a:solidFill>
                <a:latin typeface="Calibri" pitchFamily="34" charset="0"/>
                <a:ea typeface="Calibri" pitchFamily="34" charset="-122"/>
                <a:cs typeface="Calibri" pitchFamily="34" charset="-120"/>
              </a:rPr>
              <a:t>closed system</a:t>
            </a:r>
            <a:r>
              <a:rPr lang="en-US" sz="1050" dirty="0">
                <a:solidFill>
                  <a:srgbClr val="262B3A"/>
                </a:solidFill>
                <a:latin typeface="Calibri" pitchFamily="34" charset="0"/>
                <a:ea typeface="Calibri" pitchFamily="34" charset="-122"/>
                <a:cs typeface="Calibri" pitchFamily="34" charset="-120"/>
              </a:rPr>
              <a:t>: no substances can get </a:t>
            </a:r>
            <a:r>
              <a:rPr lang="en-US" sz="1050" b="1" dirty="0">
                <a:solidFill>
                  <a:srgbClr val="262B3A"/>
                </a:solidFill>
                <a:latin typeface="Calibri" pitchFamily="34" charset="0"/>
                <a:ea typeface="Calibri" pitchFamily="34" charset="-122"/>
                <a:cs typeface="Calibri" pitchFamily="34" charset="-120"/>
              </a:rPr>
              <a:t>in</a:t>
            </a:r>
            <a:r>
              <a:rPr lang="en-US" sz="1050" dirty="0">
                <a:solidFill>
                  <a:srgbClr val="262B3A"/>
                </a:solidFill>
                <a:latin typeface="Calibri" pitchFamily="34" charset="0"/>
                <a:ea typeface="Calibri" pitchFamily="34" charset="-122"/>
                <a:cs typeface="Calibri" pitchFamily="34" charset="-120"/>
              </a:rPr>
              <a:t> or </a:t>
            </a:r>
            <a:r>
              <a:rPr lang="en-US" sz="1050" b="1" dirty="0">
                <a:solidFill>
                  <a:srgbClr val="262B3A"/>
                </a:solidFill>
                <a:latin typeface="Calibri" pitchFamily="34" charset="0"/>
                <a:ea typeface="Calibri" pitchFamily="34" charset="-122"/>
                <a:cs typeface="Calibri" pitchFamily="34" charset="-120"/>
              </a:rPr>
              <a:t>out</a:t>
            </a:r>
            <a:r>
              <a:rPr lang="en-US" sz="1050" dirty="0">
                <a:solidFill>
                  <a:srgbClr val="262B3A"/>
                </a:solidFill>
                <a:latin typeface="Calibri" pitchFamily="34" charset="0"/>
                <a:ea typeface="Calibri" pitchFamily="34" charset="-122"/>
                <a:cs typeface="Calibri" pitchFamily="34" charset="-120"/>
              </a:rPr>
              <a:t> (e.g. a sealed container).</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As soon as some product forms, the </a:t>
            </a:r>
            <a:r>
              <a:rPr lang="en-US" sz="1050" b="1" dirty="0">
                <a:solidFill>
                  <a:srgbClr val="262B3A"/>
                </a:solidFill>
                <a:latin typeface="Calibri" pitchFamily="34" charset="0"/>
                <a:ea typeface="Calibri" pitchFamily="34" charset="-122"/>
                <a:cs typeface="Calibri" pitchFamily="34" charset="-120"/>
              </a:rPr>
              <a:t>reverse</a:t>
            </a:r>
            <a:r>
              <a:rPr lang="en-US" sz="1050" dirty="0">
                <a:solidFill>
                  <a:srgbClr val="262B3A"/>
                </a:solidFill>
                <a:latin typeface="Calibri" pitchFamily="34" charset="0"/>
                <a:ea typeface="Calibri" pitchFamily="34" charset="-122"/>
                <a:cs typeface="Calibri" pitchFamily="34" charset="-120"/>
              </a:rPr>
              <a:t> reaction starts turning it back into reactants.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So a reversible reaction in a closed system </a:t>
            </a:r>
            <a:r>
              <a:rPr lang="en-US" sz="1050" b="1" dirty="0">
                <a:solidFill>
                  <a:srgbClr val="262B3A"/>
                </a:solidFill>
                <a:latin typeface="Calibri" pitchFamily="34" charset="0"/>
                <a:ea typeface="Calibri" pitchFamily="34" charset="-122"/>
                <a:cs typeface="Calibri" pitchFamily="34" charset="-120"/>
              </a:rPr>
              <a:t>never</a:t>
            </a:r>
            <a:r>
              <a:rPr lang="en-US" sz="1050" dirty="0">
                <a:solidFill>
                  <a:srgbClr val="262B3A"/>
                </a:solidFill>
                <a:latin typeface="Calibri" pitchFamily="34" charset="0"/>
                <a:ea typeface="Calibri" pitchFamily="34" charset="-122"/>
                <a:cs typeface="Calibri" pitchFamily="34" charset="-120"/>
              </a:rPr>
              <a:t> turns all the reactants into products: the </a:t>
            </a:r>
            <a:r>
              <a:rPr lang="en-US" sz="1050" b="1" dirty="0">
                <a:solidFill>
                  <a:srgbClr val="262B3A"/>
                </a:solidFill>
                <a:latin typeface="Calibri" pitchFamily="34" charset="0"/>
                <a:ea typeface="Calibri" pitchFamily="34" charset="-122"/>
                <a:cs typeface="Calibri" pitchFamily="34" charset="-120"/>
              </a:rPr>
              <a:t>yield</a:t>
            </a:r>
            <a:r>
              <a:rPr lang="en-US" sz="1050" dirty="0">
                <a:solidFill>
                  <a:srgbClr val="262B3A"/>
                </a:solidFill>
                <a:latin typeface="Calibri" pitchFamily="34" charset="0"/>
                <a:ea typeface="Calibri" pitchFamily="34" charset="-122"/>
                <a:cs typeface="Calibri" pitchFamily="34" charset="-120"/>
              </a:rPr>
              <a:t> is </a:t>
            </a:r>
            <a:r>
              <a:rPr lang="en-US" sz="1050" b="1" dirty="0">
                <a:solidFill>
                  <a:srgbClr val="262B3A"/>
                </a:solidFill>
                <a:latin typeface="Calibri" pitchFamily="34" charset="0"/>
                <a:ea typeface="Calibri" pitchFamily="34" charset="-122"/>
                <a:cs typeface="Calibri" pitchFamily="34" charset="-120"/>
              </a:rPr>
              <a:t>less than 100%</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Yield</a:t>
            </a:r>
            <a:r>
              <a:rPr lang="en-US" sz="1050" dirty="0">
                <a:solidFill>
                  <a:srgbClr val="262B3A"/>
                </a:solidFill>
                <a:latin typeface="Calibri" pitchFamily="34" charset="0"/>
                <a:ea typeface="Calibri" pitchFamily="34" charset="-122"/>
                <a:cs typeface="Calibri" pitchFamily="34" charset="-120"/>
              </a:rPr>
              <a:t>: the amount of product made. In an </a:t>
            </a:r>
            <a:r>
              <a:rPr lang="en-US" sz="1050" b="1" dirty="0">
                <a:solidFill>
                  <a:srgbClr val="262B3A"/>
                </a:solidFill>
                <a:latin typeface="Calibri" pitchFamily="34" charset="0"/>
                <a:ea typeface="Calibri" pitchFamily="34" charset="-122"/>
                <a:cs typeface="Calibri" pitchFamily="34" charset="-120"/>
              </a:rPr>
              <a:t>open</a:t>
            </a:r>
            <a:r>
              <a:rPr lang="en-US" sz="1050" dirty="0">
                <a:solidFill>
                  <a:srgbClr val="262B3A"/>
                </a:solidFill>
                <a:latin typeface="Calibri" pitchFamily="34" charset="0"/>
                <a:ea typeface="Calibri" pitchFamily="34" charset="-122"/>
                <a:cs typeface="Calibri" pitchFamily="34" charset="-120"/>
              </a:rPr>
              <a:t> system a gas can escape, so a reaction such as CaCO₃ → CaO + CO₂ can go to completion.</a:t>
            </a:r>
            <a:endParaRPr lang="en-US" sz="1050" dirty="0"/>
          </a:p>
        </p:txBody>
      </p:sp>
      <p:sp>
        <p:nvSpPr>
          <p:cNvPr id="61" name="Shape 59"/>
          <p:cNvSpPr/>
          <p:nvPr/>
        </p:nvSpPr>
        <p:spPr>
          <a:xfrm>
            <a:off x="6217920" y="3931920"/>
            <a:ext cx="5559552" cy="1783080"/>
          </a:xfrm>
          <a:prstGeom prst="roundRect">
            <a:avLst>
              <a:gd name="adj" fmla="val 3077"/>
            </a:avLst>
          </a:prstGeom>
          <a:solidFill>
            <a:srgbClr val="FFF4E0"/>
          </a:solidFill>
          <a:ln w="9525">
            <a:solidFill>
              <a:srgbClr val="F1D9A8"/>
            </a:solidFill>
            <a:prstDash val="solid"/>
          </a:ln>
        </p:spPr>
      </p:sp>
      <p:sp>
        <p:nvSpPr>
          <p:cNvPr id="62" name="Text 60"/>
          <p:cNvSpPr/>
          <p:nvPr/>
        </p:nvSpPr>
        <p:spPr>
          <a:xfrm>
            <a:off x="6382512" y="400507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how far did it go?</a:t>
            </a:r>
            <a:endParaRPr lang="en-US" sz="1300" dirty="0"/>
          </a:p>
        </p:txBody>
      </p:sp>
      <p:sp>
        <p:nvSpPr>
          <p:cNvPr id="63" name="Text 61"/>
          <p:cNvSpPr/>
          <p:nvPr/>
        </p:nvSpPr>
        <p:spPr>
          <a:xfrm>
            <a:off x="6382512" y="4315968"/>
            <a:ext cx="5230368"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1.0 mol of N₂ and 3.0 mol of H₂ are sealed in a flask. At the end there is 0.60 mol of NH₃.</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Maximum   </a:t>
            </a:r>
            <a:r>
              <a:rPr lang="en-US" sz="1050" dirty="0">
                <a:solidFill>
                  <a:srgbClr val="262B3A"/>
                </a:solidFill>
                <a:latin typeface="Calibri" pitchFamily="34" charset="0"/>
                <a:ea typeface="Calibri" pitchFamily="34" charset="-122"/>
                <a:cs typeface="Calibri" pitchFamily="34" charset="-120"/>
              </a:rPr>
              <a:t>N₂ : NH₃ = 1 : 2, so at most 2.0 mol of NH₃</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0.60 ÷ 2.0 × 100 = </a:t>
            </a:r>
            <a:r>
              <a:rPr lang="en-US" sz="1050" b="1" dirty="0">
                <a:solidFill>
                  <a:srgbClr val="C8414C"/>
                </a:solidFill>
                <a:latin typeface="Calibri" pitchFamily="34" charset="0"/>
                <a:ea typeface="Calibri" pitchFamily="34" charset="-122"/>
                <a:cs typeface="Calibri" pitchFamily="34" charset="-120"/>
              </a:rPr>
              <a:t>30%</a:t>
            </a:r>
            <a:r>
              <a:rPr lang="en-US" sz="1050" b="1" dirty="0">
                <a:solidFill>
                  <a:srgbClr val="C8414C"/>
                </a:solidFill>
                <a:latin typeface="Calibri" pitchFamily="34" charset="0"/>
                <a:ea typeface="Calibri" pitchFamily="34" charset="-122"/>
                <a:cs typeface="Calibri" pitchFamily="34" charset="-120"/>
              </a:rPr>
              <a:t> of the maximum</a:t>
            </a:r>
            <a:endParaRPr lang="en-US" sz="1050" dirty="0"/>
          </a:p>
        </p:txBody>
      </p:sp>
      <p:sp>
        <p:nvSpPr>
          <p:cNvPr id="64" name="Shape 62"/>
          <p:cNvSpPr/>
          <p:nvPr/>
        </p:nvSpPr>
        <p:spPr>
          <a:xfrm>
            <a:off x="411480" y="5833872"/>
            <a:ext cx="11368735" cy="530352"/>
          </a:xfrm>
          <a:prstGeom prst="rect">
            <a:avLst/>
          </a:prstGeom>
          <a:solidFill>
            <a:srgbClr val="FFF4E0"/>
          </a:solidFill>
          <a:ln w="6350">
            <a:solidFill>
              <a:srgbClr val="F1D9A8"/>
            </a:solidFill>
            <a:prstDash val="solid"/>
          </a:ln>
        </p:spPr>
      </p:sp>
      <p:sp>
        <p:nvSpPr>
          <p:cNvPr id="65" name="Shape 63"/>
          <p:cNvSpPr/>
          <p:nvPr/>
        </p:nvSpPr>
        <p:spPr>
          <a:xfrm>
            <a:off x="411480" y="5833872"/>
            <a:ext cx="82296" cy="530352"/>
          </a:xfrm>
          <a:prstGeom prst="rect">
            <a:avLst/>
          </a:prstGeom>
          <a:solidFill>
            <a:srgbClr val="E39A2F"/>
          </a:solidFill>
          <a:ln w="12700">
            <a:solidFill>
              <a:srgbClr val="E39A2F"/>
            </a:solidFill>
            <a:prstDash val="solid"/>
          </a:ln>
        </p:spPr>
      </p:sp>
      <p:sp>
        <p:nvSpPr>
          <p:cNvPr id="66" name="Text 6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H₂(g) + I₂(g) ⇌ 2HI(g). 1.0 mol of H₂ and 1.0 mol of I₂ are sealed in a flask and </a:t>
            </a:r>
            <a:r>
              <a:rPr lang="en-US" sz="1150" b="1" dirty="0">
                <a:solidFill>
                  <a:srgbClr val="262B3A"/>
                </a:solidFill>
                <a:latin typeface="Calibri" pitchFamily="34" charset="0"/>
                <a:ea typeface="Calibri" pitchFamily="34" charset="-122"/>
                <a:cs typeface="Calibri" pitchFamily="34" charset="-120"/>
              </a:rPr>
              <a:t>1.56 mol</a:t>
            </a:r>
            <a:r>
              <a:rPr lang="en-US" sz="1150" dirty="0">
                <a:solidFill>
                  <a:srgbClr val="262B3A"/>
                </a:solidFill>
                <a:latin typeface="Calibri" pitchFamily="34" charset="0"/>
                <a:ea typeface="Calibri" pitchFamily="34" charset="-122"/>
                <a:cs typeface="Calibri" pitchFamily="34" charset="-120"/>
              </a:rPr>
              <a:t> of HI forms. What is the </a:t>
            </a:r>
            <a:r>
              <a:rPr lang="en-US" sz="1150" b="1" dirty="0">
                <a:solidFill>
                  <a:srgbClr val="262B3A"/>
                </a:solidFill>
                <a:latin typeface="Calibri" pitchFamily="34" charset="0"/>
                <a:ea typeface="Calibri" pitchFamily="34" charset="-122"/>
                <a:cs typeface="Calibri" pitchFamily="34" charset="-120"/>
              </a:rPr>
              <a:t>maximum</a:t>
            </a:r>
            <a:r>
              <a:rPr lang="en-US" sz="1150" dirty="0">
                <a:solidFill>
                  <a:srgbClr val="262B3A"/>
                </a:solidFill>
                <a:latin typeface="Calibri" pitchFamily="34" charset="0"/>
                <a:ea typeface="Calibri" pitchFamily="34" charset="-122"/>
                <a:cs typeface="Calibri" pitchFamily="34" charset="-120"/>
              </a:rPr>
              <a:t>? What </a:t>
            </a:r>
            <a:r>
              <a:rPr lang="en-US" sz="1150" b="1" dirty="0">
                <a:solidFill>
                  <a:srgbClr val="262B3A"/>
                </a:solidFill>
                <a:latin typeface="Calibri" pitchFamily="34" charset="0"/>
                <a:ea typeface="Calibri" pitchFamily="34" charset="-122"/>
                <a:cs typeface="Calibri" pitchFamily="34" charset="-120"/>
              </a:rPr>
              <a:t>percentage</a:t>
            </a:r>
            <a:r>
              <a:rPr lang="en-US" sz="1150" dirty="0">
                <a:solidFill>
                  <a:srgbClr val="262B3A"/>
                </a:solidFill>
                <a:latin typeface="Calibri" pitchFamily="34" charset="0"/>
                <a:ea typeface="Calibri" pitchFamily="34" charset="-122"/>
                <a:cs typeface="Calibri" pitchFamily="34" charset="-120"/>
              </a:rPr>
              <a:t> of it formed?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Dynamic equilibrium</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C6.3.2 • dynamic equilibrium occurs when the rates of the forward and reverse reactions are equal</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C6.3.2  |  10</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N₂ + 3H₂ ⇌ 2NH₃ in a sealed flask; shapes of the curves are illustrative</a:t>
            </a:r>
            <a:endParaRPr lang="en-US" sz="1000" dirty="0"/>
          </a:p>
        </p:txBody>
      </p:sp>
      <p:sp>
        <p:nvSpPr>
          <p:cNvPr id="10" name="Shape 8"/>
          <p:cNvSpPr/>
          <p:nvPr/>
        </p:nvSpPr>
        <p:spPr>
          <a:xfrm>
            <a:off x="1143000" y="1417320"/>
            <a:ext cx="4526280" cy="1417320"/>
          </a:xfrm>
          <a:prstGeom prst="rect">
            <a:avLst/>
          </a:prstGeom>
          <a:solidFill>
            <a:srgbClr val="FFFFFF"/>
          </a:solidFill>
          <a:ln/>
        </p:spPr>
      </p:sp>
      <p:sp>
        <p:nvSpPr>
          <p:cNvPr id="11" name="Shape 9"/>
          <p:cNvSpPr/>
          <p:nvPr/>
        </p:nvSpPr>
        <p:spPr>
          <a:xfrm>
            <a:off x="1143000" y="1417320"/>
            <a:ext cx="91" cy="1417320"/>
          </a:xfrm>
          <a:prstGeom prst="line">
            <a:avLst/>
          </a:prstGeom>
          <a:noFill/>
          <a:ln w="6350">
            <a:solidFill>
              <a:srgbClr val="D6CBE8"/>
            </a:solidFill>
            <a:prstDash val="solid"/>
          </a:ln>
        </p:spPr>
      </p:sp>
      <p:sp>
        <p:nvSpPr>
          <p:cNvPr id="12" name="Shape 10"/>
          <p:cNvSpPr/>
          <p:nvPr/>
        </p:nvSpPr>
        <p:spPr>
          <a:xfrm>
            <a:off x="1897380" y="1417320"/>
            <a:ext cx="91" cy="1417320"/>
          </a:xfrm>
          <a:prstGeom prst="line">
            <a:avLst/>
          </a:prstGeom>
          <a:noFill/>
          <a:ln w="6350">
            <a:solidFill>
              <a:srgbClr val="D6CBE8"/>
            </a:solidFill>
            <a:prstDash val="solid"/>
          </a:ln>
        </p:spPr>
      </p:sp>
      <p:sp>
        <p:nvSpPr>
          <p:cNvPr id="13" name="Shape 11"/>
          <p:cNvSpPr/>
          <p:nvPr/>
        </p:nvSpPr>
        <p:spPr>
          <a:xfrm>
            <a:off x="2651760" y="1417320"/>
            <a:ext cx="91" cy="1417320"/>
          </a:xfrm>
          <a:prstGeom prst="line">
            <a:avLst/>
          </a:prstGeom>
          <a:noFill/>
          <a:ln w="6350">
            <a:solidFill>
              <a:srgbClr val="D6CBE8"/>
            </a:solidFill>
            <a:prstDash val="solid"/>
          </a:ln>
        </p:spPr>
      </p:sp>
      <p:sp>
        <p:nvSpPr>
          <p:cNvPr id="14" name="Shape 12"/>
          <p:cNvSpPr/>
          <p:nvPr/>
        </p:nvSpPr>
        <p:spPr>
          <a:xfrm>
            <a:off x="3406140" y="1417320"/>
            <a:ext cx="91" cy="1417320"/>
          </a:xfrm>
          <a:prstGeom prst="line">
            <a:avLst/>
          </a:prstGeom>
          <a:noFill/>
          <a:ln w="6350">
            <a:solidFill>
              <a:srgbClr val="D6CBE8"/>
            </a:solidFill>
            <a:prstDash val="solid"/>
          </a:ln>
        </p:spPr>
      </p:sp>
      <p:sp>
        <p:nvSpPr>
          <p:cNvPr id="15" name="Shape 13"/>
          <p:cNvSpPr/>
          <p:nvPr/>
        </p:nvSpPr>
        <p:spPr>
          <a:xfrm>
            <a:off x="4160520" y="1417320"/>
            <a:ext cx="91" cy="1417320"/>
          </a:xfrm>
          <a:prstGeom prst="line">
            <a:avLst/>
          </a:prstGeom>
          <a:noFill/>
          <a:ln w="6350">
            <a:solidFill>
              <a:srgbClr val="D6CBE8"/>
            </a:solidFill>
            <a:prstDash val="solid"/>
          </a:ln>
        </p:spPr>
      </p:sp>
      <p:sp>
        <p:nvSpPr>
          <p:cNvPr id="16" name="Shape 14"/>
          <p:cNvSpPr/>
          <p:nvPr/>
        </p:nvSpPr>
        <p:spPr>
          <a:xfrm>
            <a:off x="4914900" y="1417320"/>
            <a:ext cx="91" cy="1417320"/>
          </a:xfrm>
          <a:prstGeom prst="line">
            <a:avLst/>
          </a:prstGeom>
          <a:noFill/>
          <a:ln w="6350">
            <a:solidFill>
              <a:srgbClr val="D6CBE8"/>
            </a:solidFill>
            <a:prstDash val="solid"/>
          </a:ln>
        </p:spPr>
      </p:sp>
      <p:sp>
        <p:nvSpPr>
          <p:cNvPr id="17" name="Shape 15"/>
          <p:cNvSpPr/>
          <p:nvPr/>
        </p:nvSpPr>
        <p:spPr>
          <a:xfrm>
            <a:off x="5669280" y="1417320"/>
            <a:ext cx="91" cy="1417320"/>
          </a:xfrm>
          <a:prstGeom prst="line">
            <a:avLst/>
          </a:prstGeom>
          <a:noFill/>
          <a:ln w="6350">
            <a:solidFill>
              <a:srgbClr val="D6CBE8"/>
            </a:solidFill>
            <a:prstDash val="solid"/>
          </a:ln>
        </p:spPr>
      </p:sp>
      <p:sp>
        <p:nvSpPr>
          <p:cNvPr id="18" name="Shape 16"/>
          <p:cNvSpPr/>
          <p:nvPr/>
        </p:nvSpPr>
        <p:spPr>
          <a:xfrm>
            <a:off x="1143000" y="2834640"/>
            <a:ext cx="4526280" cy="91"/>
          </a:xfrm>
          <a:prstGeom prst="line">
            <a:avLst/>
          </a:prstGeom>
          <a:noFill/>
          <a:ln w="6350">
            <a:solidFill>
              <a:srgbClr val="D6CBE8"/>
            </a:solidFill>
            <a:prstDash val="solid"/>
          </a:ln>
        </p:spPr>
      </p:sp>
      <p:sp>
        <p:nvSpPr>
          <p:cNvPr id="19" name="Shape 17"/>
          <p:cNvSpPr/>
          <p:nvPr/>
        </p:nvSpPr>
        <p:spPr>
          <a:xfrm>
            <a:off x="1143000" y="2125980"/>
            <a:ext cx="4526280" cy="91"/>
          </a:xfrm>
          <a:prstGeom prst="line">
            <a:avLst/>
          </a:prstGeom>
          <a:noFill/>
          <a:ln w="6350">
            <a:solidFill>
              <a:srgbClr val="D6CBE8"/>
            </a:solidFill>
            <a:prstDash val="solid"/>
          </a:ln>
        </p:spPr>
      </p:sp>
      <p:sp>
        <p:nvSpPr>
          <p:cNvPr id="20" name="Shape 18"/>
          <p:cNvSpPr/>
          <p:nvPr/>
        </p:nvSpPr>
        <p:spPr>
          <a:xfrm>
            <a:off x="1143000" y="1417320"/>
            <a:ext cx="4526280" cy="91"/>
          </a:xfrm>
          <a:prstGeom prst="line">
            <a:avLst/>
          </a:prstGeom>
          <a:noFill/>
          <a:ln w="6350">
            <a:solidFill>
              <a:srgbClr val="D6CBE8"/>
            </a:solidFill>
            <a:prstDash val="solid"/>
          </a:ln>
        </p:spPr>
      </p:sp>
      <p:sp>
        <p:nvSpPr>
          <p:cNvPr id="21" name="Shape 19"/>
          <p:cNvSpPr/>
          <p:nvPr/>
        </p:nvSpPr>
        <p:spPr>
          <a:xfrm>
            <a:off x="1143000" y="2834640"/>
            <a:ext cx="4526280" cy="91"/>
          </a:xfrm>
          <a:prstGeom prst="line">
            <a:avLst/>
          </a:prstGeom>
          <a:noFill/>
          <a:ln w="19050">
            <a:solidFill>
              <a:srgbClr val="2A1F3D"/>
            </a:solidFill>
            <a:prstDash val="solid"/>
          </a:ln>
        </p:spPr>
      </p:sp>
      <p:sp>
        <p:nvSpPr>
          <p:cNvPr id="22" name="Shape 20"/>
          <p:cNvSpPr/>
          <p:nvPr/>
        </p:nvSpPr>
        <p:spPr>
          <a:xfrm flipV="1">
            <a:off x="1143000" y="1417320"/>
            <a:ext cx="91" cy="1417320"/>
          </a:xfrm>
          <a:prstGeom prst="line">
            <a:avLst/>
          </a:prstGeom>
          <a:noFill/>
          <a:ln w="19050">
            <a:solidFill>
              <a:srgbClr val="2A1F3D"/>
            </a:solidFill>
            <a:prstDash val="solid"/>
          </a:ln>
        </p:spPr>
      </p:sp>
      <p:sp>
        <p:nvSpPr>
          <p:cNvPr id="23" name="Shape 21"/>
          <p:cNvSpPr/>
          <p:nvPr/>
        </p:nvSpPr>
        <p:spPr>
          <a:xfrm>
            <a:off x="1143000" y="2834640"/>
            <a:ext cx="91" cy="54864"/>
          </a:xfrm>
          <a:prstGeom prst="line">
            <a:avLst/>
          </a:prstGeom>
          <a:noFill/>
          <a:ln w="12700">
            <a:solidFill>
              <a:srgbClr val="2A1F3D"/>
            </a:solidFill>
            <a:prstDash val="solid"/>
          </a:ln>
        </p:spPr>
      </p:sp>
      <p:sp>
        <p:nvSpPr>
          <p:cNvPr id="24" name="Text 22"/>
          <p:cNvSpPr/>
          <p:nvPr/>
        </p:nvSpPr>
        <p:spPr>
          <a:xfrm>
            <a:off x="868680" y="2889504"/>
            <a:ext cx="548640" cy="182880"/>
          </a:xfrm>
          <a:prstGeom prst="rect">
            <a:avLst/>
          </a:prstGeom>
          <a:noFill/>
          <a:ln/>
        </p:spPr>
        <p:txBody>
          <a:bodyPr wrap="square" lIns="0" tIns="0" rIns="0" bIns="0" rtlCol="0" anchor="ctr"/>
          <a:lstStyle/>
          <a:p>
            <a:pPr algn="ctr" indent="0" marL="0">
              <a:buNone/>
            </a:pPr>
            <a:endParaRPr lang="en-US" sz="1000" dirty="0"/>
          </a:p>
        </p:txBody>
      </p:sp>
      <p:sp>
        <p:nvSpPr>
          <p:cNvPr id="25" name="Shape 23"/>
          <p:cNvSpPr/>
          <p:nvPr/>
        </p:nvSpPr>
        <p:spPr>
          <a:xfrm>
            <a:off x="1897380" y="2834640"/>
            <a:ext cx="91" cy="54864"/>
          </a:xfrm>
          <a:prstGeom prst="line">
            <a:avLst/>
          </a:prstGeom>
          <a:noFill/>
          <a:ln w="12700">
            <a:solidFill>
              <a:srgbClr val="2A1F3D"/>
            </a:solidFill>
            <a:prstDash val="solid"/>
          </a:ln>
        </p:spPr>
      </p:sp>
      <p:sp>
        <p:nvSpPr>
          <p:cNvPr id="26" name="Text 24"/>
          <p:cNvSpPr/>
          <p:nvPr/>
        </p:nvSpPr>
        <p:spPr>
          <a:xfrm>
            <a:off x="1623060" y="2889504"/>
            <a:ext cx="548640" cy="182880"/>
          </a:xfrm>
          <a:prstGeom prst="rect">
            <a:avLst/>
          </a:prstGeom>
          <a:noFill/>
          <a:ln/>
        </p:spPr>
        <p:txBody>
          <a:bodyPr wrap="square" lIns="0" tIns="0" rIns="0" bIns="0" rtlCol="0" anchor="ctr"/>
          <a:lstStyle/>
          <a:p>
            <a:pPr algn="ctr" indent="0" marL="0">
              <a:buNone/>
            </a:pPr>
            <a:endParaRPr lang="en-US" sz="1000" dirty="0"/>
          </a:p>
        </p:txBody>
      </p:sp>
      <p:sp>
        <p:nvSpPr>
          <p:cNvPr id="27" name="Shape 25"/>
          <p:cNvSpPr/>
          <p:nvPr/>
        </p:nvSpPr>
        <p:spPr>
          <a:xfrm>
            <a:off x="2651760" y="2834640"/>
            <a:ext cx="91" cy="54864"/>
          </a:xfrm>
          <a:prstGeom prst="line">
            <a:avLst/>
          </a:prstGeom>
          <a:noFill/>
          <a:ln w="12700">
            <a:solidFill>
              <a:srgbClr val="2A1F3D"/>
            </a:solidFill>
            <a:prstDash val="solid"/>
          </a:ln>
        </p:spPr>
      </p:sp>
      <p:sp>
        <p:nvSpPr>
          <p:cNvPr id="28" name="Text 26"/>
          <p:cNvSpPr/>
          <p:nvPr/>
        </p:nvSpPr>
        <p:spPr>
          <a:xfrm>
            <a:off x="2377440" y="2889504"/>
            <a:ext cx="548640" cy="182880"/>
          </a:xfrm>
          <a:prstGeom prst="rect">
            <a:avLst/>
          </a:prstGeom>
          <a:noFill/>
          <a:ln/>
        </p:spPr>
        <p:txBody>
          <a:bodyPr wrap="square" lIns="0" tIns="0" rIns="0" bIns="0" rtlCol="0" anchor="ctr"/>
          <a:lstStyle/>
          <a:p>
            <a:pPr algn="ctr" indent="0" marL="0">
              <a:buNone/>
            </a:pPr>
            <a:endParaRPr lang="en-US" sz="1000" dirty="0"/>
          </a:p>
        </p:txBody>
      </p:sp>
      <p:sp>
        <p:nvSpPr>
          <p:cNvPr id="29" name="Shape 27"/>
          <p:cNvSpPr/>
          <p:nvPr/>
        </p:nvSpPr>
        <p:spPr>
          <a:xfrm>
            <a:off x="3406140" y="2834640"/>
            <a:ext cx="91" cy="54864"/>
          </a:xfrm>
          <a:prstGeom prst="line">
            <a:avLst/>
          </a:prstGeom>
          <a:noFill/>
          <a:ln w="12700">
            <a:solidFill>
              <a:srgbClr val="2A1F3D"/>
            </a:solidFill>
            <a:prstDash val="solid"/>
          </a:ln>
        </p:spPr>
      </p:sp>
      <p:sp>
        <p:nvSpPr>
          <p:cNvPr id="30" name="Text 28"/>
          <p:cNvSpPr/>
          <p:nvPr/>
        </p:nvSpPr>
        <p:spPr>
          <a:xfrm>
            <a:off x="3131820" y="2889504"/>
            <a:ext cx="548640" cy="182880"/>
          </a:xfrm>
          <a:prstGeom prst="rect">
            <a:avLst/>
          </a:prstGeom>
          <a:noFill/>
          <a:ln/>
        </p:spPr>
        <p:txBody>
          <a:bodyPr wrap="square" lIns="0" tIns="0" rIns="0" bIns="0" rtlCol="0" anchor="ctr"/>
          <a:lstStyle/>
          <a:p>
            <a:pPr algn="ctr" indent="0" marL="0">
              <a:buNone/>
            </a:pPr>
            <a:endParaRPr lang="en-US" sz="1000" dirty="0"/>
          </a:p>
        </p:txBody>
      </p:sp>
      <p:sp>
        <p:nvSpPr>
          <p:cNvPr id="31" name="Shape 29"/>
          <p:cNvSpPr/>
          <p:nvPr/>
        </p:nvSpPr>
        <p:spPr>
          <a:xfrm>
            <a:off x="4160520" y="2834640"/>
            <a:ext cx="91" cy="54864"/>
          </a:xfrm>
          <a:prstGeom prst="line">
            <a:avLst/>
          </a:prstGeom>
          <a:noFill/>
          <a:ln w="12700">
            <a:solidFill>
              <a:srgbClr val="2A1F3D"/>
            </a:solidFill>
            <a:prstDash val="solid"/>
          </a:ln>
        </p:spPr>
      </p:sp>
      <p:sp>
        <p:nvSpPr>
          <p:cNvPr id="32" name="Text 30"/>
          <p:cNvSpPr/>
          <p:nvPr/>
        </p:nvSpPr>
        <p:spPr>
          <a:xfrm>
            <a:off x="3886200" y="2889504"/>
            <a:ext cx="548640" cy="182880"/>
          </a:xfrm>
          <a:prstGeom prst="rect">
            <a:avLst/>
          </a:prstGeom>
          <a:noFill/>
          <a:ln/>
        </p:spPr>
        <p:txBody>
          <a:bodyPr wrap="square" lIns="0" tIns="0" rIns="0" bIns="0" rtlCol="0" anchor="ctr"/>
          <a:lstStyle/>
          <a:p>
            <a:pPr algn="ctr" indent="0" marL="0">
              <a:buNone/>
            </a:pPr>
            <a:endParaRPr lang="en-US" sz="1000" dirty="0"/>
          </a:p>
        </p:txBody>
      </p:sp>
      <p:sp>
        <p:nvSpPr>
          <p:cNvPr id="33" name="Shape 31"/>
          <p:cNvSpPr/>
          <p:nvPr/>
        </p:nvSpPr>
        <p:spPr>
          <a:xfrm>
            <a:off x="4914900" y="2834640"/>
            <a:ext cx="91" cy="54864"/>
          </a:xfrm>
          <a:prstGeom prst="line">
            <a:avLst/>
          </a:prstGeom>
          <a:noFill/>
          <a:ln w="12700">
            <a:solidFill>
              <a:srgbClr val="2A1F3D"/>
            </a:solidFill>
            <a:prstDash val="solid"/>
          </a:ln>
        </p:spPr>
      </p:sp>
      <p:sp>
        <p:nvSpPr>
          <p:cNvPr id="34" name="Text 32"/>
          <p:cNvSpPr/>
          <p:nvPr/>
        </p:nvSpPr>
        <p:spPr>
          <a:xfrm>
            <a:off x="4640580" y="2889504"/>
            <a:ext cx="548640" cy="182880"/>
          </a:xfrm>
          <a:prstGeom prst="rect">
            <a:avLst/>
          </a:prstGeom>
          <a:noFill/>
          <a:ln/>
        </p:spPr>
        <p:txBody>
          <a:bodyPr wrap="square" lIns="0" tIns="0" rIns="0" bIns="0" rtlCol="0" anchor="ctr"/>
          <a:lstStyle/>
          <a:p>
            <a:pPr algn="ctr" indent="0" marL="0">
              <a:buNone/>
            </a:pPr>
            <a:endParaRPr lang="en-US" sz="1000" dirty="0"/>
          </a:p>
        </p:txBody>
      </p:sp>
      <p:sp>
        <p:nvSpPr>
          <p:cNvPr id="35" name="Shape 33"/>
          <p:cNvSpPr/>
          <p:nvPr/>
        </p:nvSpPr>
        <p:spPr>
          <a:xfrm>
            <a:off x="5669280" y="2834640"/>
            <a:ext cx="91" cy="54864"/>
          </a:xfrm>
          <a:prstGeom prst="line">
            <a:avLst/>
          </a:prstGeom>
          <a:noFill/>
          <a:ln w="12700">
            <a:solidFill>
              <a:srgbClr val="2A1F3D"/>
            </a:solidFill>
            <a:prstDash val="solid"/>
          </a:ln>
        </p:spPr>
      </p:sp>
      <p:sp>
        <p:nvSpPr>
          <p:cNvPr id="36" name="Text 34"/>
          <p:cNvSpPr/>
          <p:nvPr/>
        </p:nvSpPr>
        <p:spPr>
          <a:xfrm>
            <a:off x="5394960" y="2889504"/>
            <a:ext cx="548640" cy="182880"/>
          </a:xfrm>
          <a:prstGeom prst="rect">
            <a:avLst/>
          </a:prstGeom>
          <a:noFill/>
          <a:ln/>
        </p:spPr>
        <p:txBody>
          <a:bodyPr wrap="square" lIns="0" tIns="0" rIns="0" bIns="0" rtlCol="0" anchor="ctr"/>
          <a:lstStyle/>
          <a:p>
            <a:pPr algn="ctr" indent="0" marL="0">
              <a:buNone/>
            </a:pPr>
            <a:endParaRPr lang="en-US" sz="1000" dirty="0"/>
          </a:p>
        </p:txBody>
      </p:sp>
      <p:sp>
        <p:nvSpPr>
          <p:cNvPr id="37" name="Shape 35"/>
          <p:cNvSpPr/>
          <p:nvPr/>
        </p:nvSpPr>
        <p:spPr>
          <a:xfrm>
            <a:off x="1088136" y="2834640"/>
            <a:ext cx="54864" cy="91"/>
          </a:xfrm>
          <a:prstGeom prst="line">
            <a:avLst/>
          </a:prstGeom>
          <a:noFill/>
          <a:ln w="12700">
            <a:solidFill>
              <a:srgbClr val="2A1F3D"/>
            </a:solidFill>
            <a:prstDash val="solid"/>
          </a:ln>
        </p:spPr>
      </p:sp>
      <p:sp>
        <p:nvSpPr>
          <p:cNvPr id="38" name="Text 36"/>
          <p:cNvSpPr/>
          <p:nvPr/>
        </p:nvSpPr>
        <p:spPr>
          <a:xfrm>
            <a:off x="704088" y="2743200"/>
            <a:ext cx="365760" cy="182880"/>
          </a:xfrm>
          <a:prstGeom prst="rect">
            <a:avLst/>
          </a:prstGeom>
          <a:noFill/>
          <a:ln/>
        </p:spPr>
        <p:txBody>
          <a:bodyPr wrap="square" lIns="0" tIns="0" rIns="0" bIns="0" rtlCol="0" anchor="ctr"/>
          <a:lstStyle/>
          <a:p>
            <a:pPr algn="r" indent="0" marL="0">
              <a:buNone/>
            </a:pPr>
            <a:endParaRPr lang="en-US" sz="1000" dirty="0"/>
          </a:p>
        </p:txBody>
      </p:sp>
      <p:sp>
        <p:nvSpPr>
          <p:cNvPr id="39" name="Shape 37"/>
          <p:cNvSpPr/>
          <p:nvPr/>
        </p:nvSpPr>
        <p:spPr>
          <a:xfrm>
            <a:off x="1088136" y="2125980"/>
            <a:ext cx="54864" cy="91"/>
          </a:xfrm>
          <a:prstGeom prst="line">
            <a:avLst/>
          </a:prstGeom>
          <a:noFill/>
          <a:ln w="12700">
            <a:solidFill>
              <a:srgbClr val="2A1F3D"/>
            </a:solidFill>
            <a:prstDash val="solid"/>
          </a:ln>
        </p:spPr>
      </p:sp>
      <p:sp>
        <p:nvSpPr>
          <p:cNvPr id="40" name="Text 38"/>
          <p:cNvSpPr/>
          <p:nvPr/>
        </p:nvSpPr>
        <p:spPr>
          <a:xfrm>
            <a:off x="704088" y="2034540"/>
            <a:ext cx="365760" cy="182880"/>
          </a:xfrm>
          <a:prstGeom prst="rect">
            <a:avLst/>
          </a:prstGeom>
          <a:noFill/>
          <a:ln/>
        </p:spPr>
        <p:txBody>
          <a:bodyPr wrap="square" lIns="0" tIns="0" rIns="0" bIns="0" rtlCol="0" anchor="ctr"/>
          <a:lstStyle/>
          <a:p>
            <a:pPr algn="r" indent="0" marL="0">
              <a:buNone/>
            </a:pPr>
            <a:endParaRPr lang="en-US" sz="1000" dirty="0"/>
          </a:p>
        </p:txBody>
      </p:sp>
      <p:sp>
        <p:nvSpPr>
          <p:cNvPr id="41" name="Shape 39"/>
          <p:cNvSpPr/>
          <p:nvPr/>
        </p:nvSpPr>
        <p:spPr>
          <a:xfrm>
            <a:off x="1088136" y="1417320"/>
            <a:ext cx="54864" cy="91"/>
          </a:xfrm>
          <a:prstGeom prst="line">
            <a:avLst/>
          </a:prstGeom>
          <a:noFill/>
          <a:ln w="12700">
            <a:solidFill>
              <a:srgbClr val="2A1F3D"/>
            </a:solidFill>
            <a:prstDash val="solid"/>
          </a:ln>
        </p:spPr>
      </p:sp>
      <p:sp>
        <p:nvSpPr>
          <p:cNvPr id="42" name="Text 40"/>
          <p:cNvSpPr/>
          <p:nvPr/>
        </p:nvSpPr>
        <p:spPr>
          <a:xfrm>
            <a:off x="704088" y="1325880"/>
            <a:ext cx="365760" cy="182880"/>
          </a:xfrm>
          <a:prstGeom prst="rect">
            <a:avLst/>
          </a:prstGeom>
          <a:noFill/>
          <a:ln/>
        </p:spPr>
        <p:txBody>
          <a:bodyPr wrap="square" lIns="0" tIns="0" rIns="0" bIns="0" rtlCol="0" anchor="ctr"/>
          <a:lstStyle/>
          <a:p>
            <a:pPr algn="r" indent="0" marL="0">
              <a:buNone/>
            </a:pPr>
            <a:endParaRPr lang="en-US" sz="1000" dirty="0"/>
          </a:p>
        </p:txBody>
      </p:sp>
      <p:sp>
        <p:nvSpPr>
          <p:cNvPr id="43" name="Text 41"/>
          <p:cNvSpPr/>
          <p:nvPr/>
        </p:nvSpPr>
        <p:spPr>
          <a:xfrm rot="16200000">
            <a:off x="-132588" y="1997964"/>
            <a:ext cx="14173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Rate</a:t>
            </a:r>
            <a:endParaRPr lang="en-US" sz="1050" dirty="0"/>
          </a:p>
        </p:txBody>
      </p:sp>
      <p:sp>
        <p:nvSpPr>
          <p:cNvPr id="44" name="Shape 42"/>
          <p:cNvSpPr/>
          <p:nvPr/>
        </p:nvSpPr>
        <p:spPr>
          <a:xfrm>
            <a:off x="1143000" y="1417320"/>
            <a:ext cx="113157" cy="108403"/>
          </a:xfrm>
          <a:prstGeom prst="line">
            <a:avLst/>
          </a:prstGeom>
          <a:noFill/>
          <a:ln w="25400">
            <a:solidFill>
              <a:srgbClr val="C8414C"/>
            </a:solidFill>
            <a:prstDash val="solid"/>
          </a:ln>
        </p:spPr>
      </p:sp>
      <p:sp>
        <p:nvSpPr>
          <p:cNvPr id="45" name="Shape 43"/>
          <p:cNvSpPr/>
          <p:nvPr/>
        </p:nvSpPr>
        <p:spPr>
          <a:xfrm>
            <a:off x="1256157" y="1525723"/>
            <a:ext cx="113157" cy="94585"/>
          </a:xfrm>
          <a:prstGeom prst="line">
            <a:avLst/>
          </a:prstGeom>
          <a:noFill/>
          <a:ln w="25400">
            <a:solidFill>
              <a:srgbClr val="C8414C"/>
            </a:solidFill>
            <a:prstDash val="solid"/>
          </a:ln>
        </p:spPr>
      </p:sp>
      <p:sp>
        <p:nvSpPr>
          <p:cNvPr id="46" name="Shape 44"/>
          <p:cNvSpPr/>
          <p:nvPr/>
        </p:nvSpPr>
        <p:spPr>
          <a:xfrm>
            <a:off x="1369314" y="1620308"/>
            <a:ext cx="113157" cy="82528"/>
          </a:xfrm>
          <a:prstGeom prst="line">
            <a:avLst/>
          </a:prstGeom>
          <a:noFill/>
          <a:ln w="25400">
            <a:solidFill>
              <a:srgbClr val="C8414C"/>
            </a:solidFill>
            <a:prstDash val="solid"/>
          </a:ln>
        </p:spPr>
      </p:sp>
      <p:sp>
        <p:nvSpPr>
          <p:cNvPr id="47" name="Shape 45"/>
          <p:cNvSpPr/>
          <p:nvPr/>
        </p:nvSpPr>
        <p:spPr>
          <a:xfrm>
            <a:off x="1482471" y="1702836"/>
            <a:ext cx="113157" cy="72007"/>
          </a:xfrm>
          <a:prstGeom prst="line">
            <a:avLst/>
          </a:prstGeom>
          <a:noFill/>
          <a:ln w="25400">
            <a:solidFill>
              <a:srgbClr val="C8414C"/>
            </a:solidFill>
            <a:prstDash val="solid"/>
          </a:ln>
        </p:spPr>
      </p:sp>
      <p:sp>
        <p:nvSpPr>
          <p:cNvPr id="48" name="Shape 46"/>
          <p:cNvSpPr/>
          <p:nvPr/>
        </p:nvSpPr>
        <p:spPr>
          <a:xfrm>
            <a:off x="1595628" y="1774843"/>
            <a:ext cx="113157" cy="62828"/>
          </a:xfrm>
          <a:prstGeom prst="line">
            <a:avLst/>
          </a:prstGeom>
          <a:noFill/>
          <a:ln w="25400">
            <a:solidFill>
              <a:srgbClr val="C8414C"/>
            </a:solidFill>
            <a:prstDash val="solid"/>
          </a:ln>
        </p:spPr>
      </p:sp>
      <p:sp>
        <p:nvSpPr>
          <p:cNvPr id="49" name="Shape 47"/>
          <p:cNvSpPr/>
          <p:nvPr/>
        </p:nvSpPr>
        <p:spPr>
          <a:xfrm>
            <a:off x="1708785" y="1837672"/>
            <a:ext cx="113157" cy="54819"/>
          </a:xfrm>
          <a:prstGeom prst="line">
            <a:avLst/>
          </a:prstGeom>
          <a:noFill/>
          <a:ln w="25400">
            <a:solidFill>
              <a:srgbClr val="C8414C"/>
            </a:solidFill>
            <a:prstDash val="solid"/>
          </a:ln>
        </p:spPr>
      </p:sp>
      <p:sp>
        <p:nvSpPr>
          <p:cNvPr id="50" name="Shape 48"/>
          <p:cNvSpPr/>
          <p:nvPr/>
        </p:nvSpPr>
        <p:spPr>
          <a:xfrm>
            <a:off x="1821942" y="1892491"/>
            <a:ext cx="113157" cy="47831"/>
          </a:xfrm>
          <a:prstGeom prst="line">
            <a:avLst/>
          </a:prstGeom>
          <a:noFill/>
          <a:ln w="25400">
            <a:solidFill>
              <a:srgbClr val="C8414C"/>
            </a:solidFill>
            <a:prstDash val="solid"/>
          </a:ln>
        </p:spPr>
      </p:sp>
      <p:sp>
        <p:nvSpPr>
          <p:cNvPr id="51" name="Shape 49"/>
          <p:cNvSpPr/>
          <p:nvPr/>
        </p:nvSpPr>
        <p:spPr>
          <a:xfrm>
            <a:off x="1935099" y="1940322"/>
            <a:ext cx="113157" cy="41734"/>
          </a:xfrm>
          <a:prstGeom prst="line">
            <a:avLst/>
          </a:prstGeom>
          <a:noFill/>
          <a:ln w="25400">
            <a:solidFill>
              <a:srgbClr val="C8414C"/>
            </a:solidFill>
            <a:prstDash val="solid"/>
          </a:ln>
        </p:spPr>
      </p:sp>
      <p:sp>
        <p:nvSpPr>
          <p:cNvPr id="52" name="Shape 50"/>
          <p:cNvSpPr/>
          <p:nvPr/>
        </p:nvSpPr>
        <p:spPr>
          <a:xfrm>
            <a:off x="2048256" y="1982056"/>
            <a:ext cx="113157" cy="36414"/>
          </a:xfrm>
          <a:prstGeom prst="line">
            <a:avLst/>
          </a:prstGeom>
          <a:noFill/>
          <a:ln w="25400">
            <a:solidFill>
              <a:srgbClr val="C8414C"/>
            </a:solidFill>
            <a:prstDash val="solid"/>
          </a:ln>
        </p:spPr>
      </p:sp>
      <p:sp>
        <p:nvSpPr>
          <p:cNvPr id="53" name="Shape 51"/>
          <p:cNvSpPr/>
          <p:nvPr/>
        </p:nvSpPr>
        <p:spPr>
          <a:xfrm>
            <a:off x="2161413" y="2018470"/>
            <a:ext cx="113157" cy="31772"/>
          </a:xfrm>
          <a:prstGeom prst="line">
            <a:avLst/>
          </a:prstGeom>
          <a:noFill/>
          <a:ln w="25400">
            <a:solidFill>
              <a:srgbClr val="C8414C"/>
            </a:solidFill>
            <a:prstDash val="solid"/>
          </a:ln>
        </p:spPr>
      </p:sp>
      <p:sp>
        <p:nvSpPr>
          <p:cNvPr id="54" name="Shape 52"/>
          <p:cNvSpPr/>
          <p:nvPr/>
        </p:nvSpPr>
        <p:spPr>
          <a:xfrm>
            <a:off x="2274570" y="2050242"/>
            <a:ext cx="113157" cy="27722"/>
          </a:xfrm>
          <a:prstGeom prst="line">
            <a:avLst/>
          </a:prstGeom>
          <a:noFill/>
          <a:ln w="25400">
            <a:solidFill>
              <a:srgbClr val="C8414C"/>
            </a:solidFill>
            <a:prstDash val="solid"/>
          </a:ln>
        </p:spPr>
      </p:sp>
      <p:sp>
        <p:nvSpPr>
          <p:cNvPr id="55" name="Shape 53"/>
          <p:cNvSpPr/>
          <p:nvPr/>
        </p:nvSpPr>
        <p:spPr>
          <a:xfrm>
            <a:off x="2387727" y="2077964"/>
            <a:ext cx="113157" cy="24188"/>
          </a:xfrm>
          <a:prstGeom prst="line">
            <a:avLst/>
          </a:prstGeom>
          <a:noFill/>
          <a:ln w="25400">
            <a:solidFill>
              <a:srgbClr val="C8414C"/>
            </a:solidFill>
            <a:prstDash val="solid"/>
          </a:ln>
        </p:spPr>
      </p:sp>
      <p:sp>
        <p:nvSpPr>
          <p:cNvPr id="56" name="Shape 54"/>
          <p:cNvSpPr/>
          <p:nvPr/>
        </p:nvSpPr>
        <p:spPr>
          <a:xfrm>
            <a:off x="2500884" y="2102152"/>
            <a:ext cx="113157" cy="21105"/>
          </a:xfrm>
          <a:prstGeom prst="line">
            <a:avLst/>
          </a:prstGeom>
          <a:noFill/>
          <a:ln w="25400">
            <a:solidFill>
              <a:srgbClr val="C8414C"/>
            </a:solidFill>
            <a:prstDash val="solid"/>
          </a:ln>
        </p:spPr>
      </p:sp>
      <p:sp>
        <p:nvSpPr>
          <p:cNvPr id="57" name="Shape 55"/>
          <p:cNvSpPr/>
          <p:nvPr/>
        </p:nvSpPr>
        <p:spPr>
          <a:xfrm>
            <a:off x="2614041" y="2123257"/>
            <a:ext cx="113157" cy="18414"/>
          </a:xfrm>
          <a:prstGeom prst="line">
            <a:avLst/>
          </a:prstGeom>
          <a:noFill/>
          <a:ln w="25400">
            <a:solidFill>
              <a:srgbClr val="C8414C"/>
            </a:solidFill>
            <a:prstDash val="solid"/>
          </a:ln>
        </p:spPr>
      </p:sp>
      <p:sp>
        <p:nvSpPr>
          <p:cNvPr id="58" name="Shape 56"/>
          <p:cNvSpPr/>
          <p:nvPr/>
        </p:nvSpPr>
        <p:spPr>
          <a:xfrm>
            <a:off x="2727198" y="2141671"/>
            <a:ext cx="113157" cy="16067"/>
          </a:xfrm>
          <a:prstGeom prst="line">
            <a:avLst/>
          </a:prstGeom>
          <a:noFill/>
          <a:ln w="25400">
            <a:solidFill>
              <a:srgbClr val="C8414C"/>
            </a:solidFill>
            <a:prstDash val="solid"/>
          </a:ln>
        </p:spPr>
      </p:sp>
      <p:sp>
        <p:nvSpPr>
          <p:cNvPr id="59" name="Shape 57"/>
          <p:cNvSpPr/>
          <p:nvPr/>
        </p:nvSpPr>
        <p:spPr>
          <a:xfrm>
            <a:off x="2840355" y="2157738"/>
            <a:ext cx="113157" cy="14019"/>
          </a:xfrm>
          <a:prstGeom prst="line">
            <a:avLst/>
          </a:prstGeom>
          <a:noFill/>
          <a:ln w="25400">
            <a:solidFill>
              <a:srgbClr val="C8414C"/>
            </a:solidFill>
            <a:prstDash val="solid"/>
          </a:ln>
        </p:spPr>
      </p:sp>
      <p:sp>
        <p:nvSpPr>
          <p:cNvPr id="60" name="Shape 58"/>
          <p:cNvSpPr/>
          <p:nvPr/>
        </p:nvSpPr>
        <p:spPr>
          <a:xfrm>
            <a:off x="2953512" y="2171757"/>
            <a:ext cx="113157" cy="12232"/>
          </a:xfrm>
          <a:prstGeom prst="line">
            <a:avLst/>
          </a:prstGeom>
          <a:noFill/>
          <a:ln w="25400">
            <a:solidFill>
              <a:srgbClr val="C8414C"/>
            </a:solidFill>
            <a:prstDash val="solid"/>
          </a:ln>
        </p:spPr>
      </p:sp>
      <p:sp>
        <p:nvSpPr>
          <p:cNvPr id="61" name="Shape 59"/>
          <p:cNvSpPr/>
          <p:nvPr/>
        </p:nvSpPr>
        <p:spPr>
          <a:xfrm>
            <a:off x="3066669" y="2183989"/>
            <a:ext cx="113157" cy="10673"/>
          </a:xfrm>
          <a:prstGeom prst="line">
            <a:avLst/>
          </a:prstGeom>
          <a:noFill/>
          <a:ln w="25400">
            <a:solidFill>
              <a:srgbClr val="C8414C"/>
            </a:solidFill>
            <a:prstDash val="solid"/>
          </a:ln>
        </p:spPr>
      </p:sp>
      <p:sp>
        <p:nvSpPr>
          <p:cNvPr id="62" name="Shape 60"/>
          <p:cNvSpPr/>
          <p:nvPr/>
        </p:nvSpPr>
        <p:spPr>
          <a:xfrm>
            <a:off x="3179826" y="2194661"/>
            <a:ext cx="113157" cy="9312"/>
          </a:xfrm>
          <a:prstGeom prst="line">
            <a:avLst/>
          </a:prstGeom>
          <a:noFill/>
          <a:ln w="25400">
            <a:solidFill>
              <a:srgbClr val="C8414C"/>
            </a:solidFill>
            <a:prstDash val="solid"/>
          </a:ln>
        </p:spPr>
      </p:sp>
      <p:sp>
        <p:nvSpPr>
          <p:cNvPr id="63" name="Shape 61"/>
          <p:cNvSpPr/>
          <p:nvPr/>
        </p:nvSpPr>
        <p:spPr>
          <a:xfrm>
            <a:off x="3292983" y="2203974"/>
            <a:ext cx="113157" cy="8125"/>
          </a:xfrm>
          <a:prstGeom prst="line">
            <a:avLst/>
          </a:prstGeom>
          <a:noFill/>
          <a:ln w="25400">
            <a:solidFill>
              <a:srgbClr val="C8414C"/>
            </a:solidFill>
            <a:prstDash val="solid"/>
          </a:ln>
        </p:spPr>
      </p:sp>
      <p:sp>
        <p:nvSpPr>
          <p:cNvPr id="64" name="Shape 62"/>
          <p:cNvSpPr/>
          <p:nvPr/>
        </p:nvSpPr>
        <p:spPr>
          <a:xfrm>
            <a:off x="3406140" y="2212099"/>
            <a:ext cx="113157" cy="7089"/>
          </a:xfrm>
          <a:prstGeom prst="line">
            <a:avLst/>
          </a:prstGeom>
          <a:noFill/>
          <a:ln w="25400">
            <a:solidFill>
              <a:srgbClr val="C8414C"/>
            </a:solidFill>
            <a:prstDash val="solid"/>
          </a:ln>
        </p:spPr>
      </p:sp>
      <p:sp>
        <p:nvSpPr>
          <p:cNvPr id="65" name="Shape 63"/>
          <p:cNvSpPr/>
          <p:nvPr/>
        </p:nvSpPr>
        <p:spPr>
          <a:xfrm>
            <a:off x="3519297" y="2219188"/>
            <a:ext cx="113157" cy="6186"/>
          </a:xfrm>
          <a:prstGeom prst="line">
            <a:avLst/>
          </a:prstGeom>
          <a:noFill/>
          <a:ln w="25400">
            <a:solidFill>
              <a:srgbClr val="C8414C"/>
            </a:solidFill>
            <a:prstDash val="solid"/>
          </a:ln>
        </p:spPr>
      </p:sp>
      <p:sp>
        <p:nvSpPr>
          <p:cNvPr id="66" name="Shape 64"/>
          <p:cNvSpPr/>
          <p:nvPr/>
        </p:nvSpPr>
        <p:spPr>
          <a:xfrm>
            <a:off x="3632454" y="2225373"/>
            <a:ext cx="113157" cy="5397"/>
          </a:xfrm>
          <a:prstGeom prst="line">
            <a:avLst/>
          </a:prstGeom>
          <a:noFill/>
          <a:ln w="25400">
            <a:solidFill>
              <a:srgbClr val="C8414C"/>
            </a:solidFill>
            <a:prstDash val="solid"/>
          </a:ln>
        </p:spPr>
      </p:sp>
      <p:sp>
        <p:nvSpPr>
          <p:cNvPr id="67" name="Shape 65"/>
          <p:cNvSpPr/>
          <p:nvPr/>
        </p:nvSpPr>
        <p:spPr>
          <a:xfrm>
            <a:off x="3745611" y="2230771"/>
            <a:ext cx="113157" cy="4709"/>
          </a:xfrm>
          <a:prstGeom prst="line">
            <a:avLst/>
          </a:prstGeom>
          <a:noFill/>
          <a:ln w="25400">
            <a:solidFill>
              <a:srgbClr val="C8414C"/>
            </a:solidFill>
            <a:prstDash val="solid"/>
          </a:ln>
        </p:spPr>
      </p:sp>
      <p:sp>
        <p:nvSpPr>
          <p:cNvPr id="68" name="Shape 66"/>
          <p:cNvSpPr/>
          <p:nvPr/>
        </p:nvSpPr>
        <p:spPr>
          <a:xfrm>
            <a:off x="3858768" y="2235480"/>
            <a:ext cx="113157" cy="4109"/>
          </a:xfrm>
          <a:prstGeom prst="line">
            <a:avLst/>
          </a:prstGeom>
          <a:noFill/>
          <a:ln w="25400">
            <a:solidFill>
              <a:srgbClr val="C8414C"/>
            </a:solidFill>
            <a:prstDash val="solid"/>
          </a:ln>
        </p:spPr>
      </p:sp>
      <p:sp>
        <p:nvSpPr>
          <p:cNvPr id="69" name="Shape 67"/>
          <p:cNvSpPr/>
          <p:nvPr/>
        </p:nvSpPr>
        <p:spPr>
          <a:xfrm>
            <a:off x="3971925" y="2239588"/>
            <a:ext cx="113157" cy="3585"/>
          </a:xfrm>
          <a:prstGeom prst="line">
            <a:avLst/>
          </a:prstGeom>
          <a:noFill/>
          <a:ln w="25400">
            <a:solidFill>
              <a:srgbClr val="C8414C"/>
            </a:solidFill>
            <a:prstDash val="solid"/>
          </a:ln>
        </p:spPr>
      </p:sp>
      <p:sp>
        <p:nvSpPr>
          <p:cNvPr id="70" name="Shape 68"/>
          <p:cNvSpPr/>
          <p:nvPr/>
        </p:nvSpPr>
        <p:spPr>
          <a:xfrm>
            <a:off x="4085082" y="2243174"/>
            <a:ext cx="113157" cy="3128"/>
          </a:xfrm>
          <a:prstGeom prst="line">
            <a:avLst/>
          </a:prstGeom>
          <a:noFill/>
          <a:ln w="25400">
            <a:solidFill>
              <a:srgbClr val="C8414C"/>
            </a:solidFill>
            <a:prstDash val="solid"/>
          </a:ln>
        </p:spPr>
      </p:sp>
      <p:sp>
        <p:nvSpPr>
          <p:cNvPr id="71" name="Shape 69"/>
          <p:cNvSpPr/>
          <p:nvPr/>
        </p:nvSpPr>
        <p:spPr>
          <a:xfrm>
            <a:off x="4198239" y="2246302"/>
            <a:ext cx="113157" cy="2729"/>
          </a:xfrm>
          <a:prstGeom prst="line">
            <a:avLst/>
          </a:prstGeom>
          <a:noFill/>
          <a:ln w="25400">
            <a:solidFill>
              <a:srgbClr val="C8414C"/>
            </a:solidFill>
            <a:prstDash val="solid"/>
          </a:ln>
        </p:spPr>
      </p:sp>
      <p:sp>
        <p:nvSpPr>
          <p:cNvPr id="72" name="Shape 70"/>
          <p:cNvSpPr/>
          <p:nvPr/>
        </p:nvSpPr>
        <p:spPr>
          <a:xfrm>
            <a:off x="4311396" y="2249031"/>
            <a:ext cx="113157" cy="2381"/>
          </a:xfrm>
          <a:prstGeom prst="line">
            <a:avLst/>
          </a:prstGeom>
          <a:noFill/>
          <a:ln w="25400">
            <a:solidFill>
              <a:srgbClr val="C8414C"/>
            </a:solidFill>
            <a:prstDash val="solid"/>
          </a:ln>
        </p:spPr>
      </p:sp>
      <p:sp>
        <p:nvSpPr>
          <p:cNvPr id="73" name="Shape 71"/>
          <p:cNvSpPr/>
          <p:nvPr/>
        </p:nvSpPr>
        <p:spPr>
          <a:xfrm>
            <a:off x="4424553" y="2251412"/>
            <a:ext cx="113157" cy="2078"/>
          </a:xfrm>
          <a:prstGeom prst="line">
            <a:avLst/>
          </a:prstGeom>
          <a:noFill/>
          <a:ln w="25400">
            <a:solidFill>
              <a:srgbClr val="C8414C"/>
            </a:solidFill>
            <a:prstDash val="solid"/>
          </a:ln>
        </p:spPr>
      </p:sp>
      <p:sp>
        <p:nvSpPr>
          <p:cNvPr id="74" name="Shape 72"/>
          <p:cNvSpPr/>
          <p:nvPr/>
        </p:nvSpPr>
        <p:spPr>
          <a:xfrm>
            <a:off x="4537710" y="2253490"/>
            <a:ext cx="113157" cy="1813"/>
          </a:xfrm>
          <a:prstGeom prst="line">
            <a:avLst/>
          </a:prstGeom>
          <a:noFill/>
          <a:ln w="25400">
            <a:solidFill>
              <a:srgbClr val="C8414C"/>
            </a:solidFill>
            <a:prstDash val="solid"/>
          </a:ln>
        </p:spPr>
      </p:sp>
      <p:sp>
        <p:nvSpPr>
          <p:cNvPr id="75" name="Shape 73"/>
          <p:cNvSpPr/>
          <p:nvPr/>
        </p:nvSpPr>
        <p:spPr>
          <a:xfrm>
            <a:off x="4650867" y="2255303"/>
            <a:ext cx="113157" cy="1582"/>
          </a:xfrm>
          <a:prstGeom prst="line">
            <a:avLst/>
          </a:prstGeom>
          <a:noFill/>
          <a:ln w="25400">
            <a:solidFill>
              <a:srgbClr val="C8414C"/>
            </a:solidFill>
            <a:prstDash val="solid"/>
          </a:ln>
        </p:spPr>
      </p:sp>
      <p:sp>
        <p:nvSpPr>
          <p:cNvPr id="76" name="Shape 74"/>
          <p:cNvSpPr/>
          <p:nvPr/>
        </p:nvSpPr>
        <p:spPr>
          <a:xfrm>
            <a:off x="4764024" y="2256885"/>
            <a:ext cx="113157" cy="1380"/>
          </a:xfrm>
          <a:prstGeom prst="line">
            <a:avLst/>
          </a:prstGeom>
          <a:noFill/>
          <a:ln w="25400">
            <a:solidFill>
              <a:srgbClr val="C8414C"/>
            </a:solidFill>
            <a:prstDash val="solid"/>
          </a:ln>
        </p:spPr>
      </p:sp>
      <p:sp>
        <p:nvSpPr>
          <p:cNvPr id="77" name="Shape 75"/>
          <p:cNvSpPr/>
          <p:nvPr/>
        </p:nvSpPr>
        <p:spPr>
          <a:xfrm>
            <a:off x="4877181" y="2258265"/>
            <a:ext cx="113157" cy="1204"/>
          </a:xfrm>
          <a:prstGeom prst="line">
            <a:avLst/>
          </a:prstGeom>
          <a:noFill/>
          <a:ln w="25400">
            <a:solidFill>
              <a:srgbClr val="C8414C"/>
            </a:solidFill>
            <a:prstDash val="solid"/>
          </a:ln>
        </p:spPr>
      </p:sp>
      <p:sp>
        <p:nvSpPr>
          <p:cNvPr id="78" name="Shape 76"/>
          <p:cNvSpPr/>
          <p:nvPr/>
        </p:nvSpPr>
        <p:spPr>
          <a:xfrm>
            <a:off x="4990338" y="2259469"/>
            <a:ext cx="113157" cy="1051"/>
          </a:xfrm>
          <a:prstGeom prst="line">
            <a:avLst/>
          </a:prstGeom>
          <a:noFill/>
          <a:ln w="25400">
            <a:solidFill>
              <a:srgbClr val="C8414C"/>
            </a:solidFill>
            <a:prstDash val="solid"/>
          </a:ln>
        </p:spPr>
      </p:sp>
      <p:sp>
        <p:nvSpPr>
          <p:cNvPr id="79" name="Shape 77"/>
          <p:cNvSpPr/>
          <p:nvPr/>
        </p:nvSpPr>
        <p:spPr>
          <a:xfrm>
            <a:off x="5103495" y="2260520"/>
            <a:ext cx="113157" cy="917"/>
          </a:xfrm>
          <a:prstGeom prst="line">
            <a:avLst/>
          </a:prstGeom>
          <a:noFill/>
          <a:ln w="25400">
            <a:solidFill>
              <a:srgbClr val="C8414C"/>
            </a:solidFill>
            <a:prstDash val="solid"/>
          </a:ln>
        </p:spPr>
      </p:sp>
      <p:sp>
        <p:nvSpPr>
          <p:cNvPr id="80" name="Shape 78"/>
          <p:cNvSpPr/>
          <p:nvPr/>
        </p:nvSpPr>
        <p:spPr>
          <a:xfrm>
            <a:off x="5216652" y="2261437"/>
            <a:ext cx="113157" cy="800"/>
          </a:xfrm>
          <a:prstGeom prst="line">
            <a:avLst/>
          </a:prstGeom>
          <a:noFill/>
          <a:ln w="25400">
            <a:solidFill>
              <a:srgbClr val="C8414C"/>
            </a:solidFill>
            <a:prstDash val="solid"/>
          </a:ln>
        </p:spPr>
      </p:sp>
      <p:sp>
        <p:nvSpPr>
          <p:cNvPr id="81" name="Shape 79"/>
          <p:cNvSpPr/>
          <p:nvPr/>
        </p:nvSpPr>
        <p:spPr>
          <a:xfrm>
            <a:off x="5329809" y="2262237"/>
            <a:ext cx="113157" cy="698"/>
          </a:xfrm>
          <a:prstGeom prst="line">
            <a:avLst/>
          </a:prstGeom>
          <a:noFill/>
          <a:ln w="25400">
            <a:solidFill>
              <a:srgbClr val="C8414C"/>
            </a:solidFill>
            <a:prstDash val="solid"/>
          </a:ln>
        </p:spPr>
      </p:sp>
      <p:sp>
        <p:nvSpPr>
          <p:cNvPr id="82" name="Shape 80"/>
          <p:cNvSpPr/>
          <p:nvPr/>
        </p:nvSpPr>
        <p:spPr>
          <a:xfrm>
            <a:off x="5442966" y="2262935"/>
            <a:ext cx="113157" cy="609"/>
          </a:xfrm>
          <a:prstGeom prst="line">
            <a:avLst/>
          </a:prstGeom>
          <a:noFill/>
          <a:ln w="25400">
            <a:solidFill>
              <a:srgbClr val="C8414C"/>
            </a:solidFill>
            <a:prstDash val="solid"/>
          </a:ln>
        </p:spPr>
      </p:sp>
      <p:sp>
        <p:nvSpPr>
          <p:cNvPr id="83" name="Shape 81"/>
          <p:cNvSpPr/>
          <p:nvPr/>
        </p:nvSpPr>
        <p:spPr>
          <a:xfrm>
            <a:off x="5556123" y="2263544"/>
            <a:ext cx="113157" cy="531"/>
          </a:xfrm>
          <a:prstGeom prst="line">
            <a:avLst/>
          </a:prstGeom>
          <a:noFill/>
          <a:ln w="25400">
            <a:solidFill>
              <a:srgbClr val="C8414C"/>
            </a:solidFill>
            <a:prstDash val="solid"/>
          </a:ln>
        </p:spPr>
      </p:sp>
      <p:sp>
        <p:nvSpPr>
          <p:cNvPr id="84" name="Shape 82"/>
          <p:cNvSpPr/>
          <p:nvPr/>
        </p:nvSpPr>
        <p:spPr>
          <a:xfrm flipV="1">
            <a:off x="1143000" y="2762371"/>
            <a:ext cx="113157" cy="72269"/>
          </a:xfrm>
          <a:prstGeom prst="line">
            <a:avLst/>
          </a:prstGeom>
          <a:noFill/>
          <a:ln w="25400">
            <a:solidFill>
              <a:srgbClr val="6A3FA0"/>
            </a:solidFill>
            <a:prstDash val="solid"/>
          </a:ln>
        </p:spPr>
      </p:sp>
      <p:sp>
        <p:nvSpPr>
          <p:cNvPr id="85" name="Shape 83"/>
          <p:cNvSpPr/>
          <p:nvPr/>
        </p:nvSpPr>
        <p:spPr>
          <a:xfrm flipV="1">
            <a:off x="1256157" y="2699315"/>
            <a:ext cx="113157" cy="63057"/>
          </a:xfrm>
          <a:prstGeom prst="line">
            <a:avLst/>
          </a:prstGeom>
          <a:noFill/>
          <a:ln w="25400">
            <a:solidFill>
              <a:srgbClr val="6A3FA0"/>
            </a:solidFill>
            <a:prstDash val="solid"/>
          </a:ln>
        </p:spPr>
      </p:sp>
      <p:sp>
        <p:nvSpPr>
          <p:cNvPr id="86" name="Shape 84"/>
          <p:cNvSpPr/>
          <p:nvPr/>
        </p:nvSpPr>
        <p:spPr>
          <a:xfrm flipV="1">
            <a:off x="1369314" y="2644296"/>
            <a:ext cx="113157" cy="55018"/>
          </a:xfrm>
          <a:prstGeom prst="line">
            <a:avLst/>
          </a:prstGeom>
          <a:noFill/>
          <a:ln w="25400">
            <a:solidFill>
              <a:srgbClr val="6A3FA0"/>
            </a:solidFill>
            <a:prstDash val="solid"/>
          </a:ln>
        </p:spPr>
      </p:sp>
      <p:sp>
        <p:nvSpPr>
          <p:cNvPr id="87" name="Shape 85"/>
          <p:cNvSpPr/>
          <p:nvPr/>
        </p:nvSpPr>
        <p:spPr>
          <a:xfrm flipV="1">
            <a:off x="1482471" y="2596291"/>
            <a:ext cx="113157" cy="48005"/>
          </a:xfrm>
          <a:prstGeom prst="line">
            <a:avLst/>
          </a:prstGeom>
          <a:noFill/>
          <a:ln w="25400">
            <a:solidFill>
              <a:srgbClr val="6A3FA0"/>
            </a:solidFill>
            <a:prstDash val="solid"/>
          </a:ln>
        </p:spPr>
      </p:sp>
      <p:sp>
        <p:nvSpPr>
          <p:cNvPr id="88" name="Shape 86"/>
          <p:cNvSpPr/>
          <p:nvPr/>
        </p:nvSpPr>
        <p:spPr>
          <a:xfrm flipV="1">
            <a:off x="1595628" y="2554406"/>
            <a:ext cx="113157" cy="41886"/>
          </a:xfrm>
          <a:prstGeom prst="line">
            <a:avLst/>
          </a:prstGeom>
          <a:noFill/>
          <a:ln w="25400">
            <a:solidFill>
              <a:srgbClr val="6A3FA0"/>
            </a:solidFill>
            <a:prstDash val="solid"/>
          </a:ln>
        </p:spPr>
      </p:sp>
      <p:sp>
        <p:nvSpPr>
          <p:cNvPr id="89" name="Shape 87"/>
          <p:cNvSpPr/>
          <p:nvPr/>
        </p:nvSpPr>
        <p:spPr>
          <a:xfrm flipV="1">
            <a:off x="1708785" y="2517859"/>
            <a:ext cx="113157" cy="36546"/>
          </a:xfrm>
          <a:prstGeom prst="line">
            <a:avLst/>
          </a:prstGeom>
          <a:noFill/>
          <a:ln w="25400">
            <a:solidFill>
              <a:srgbClr val="6A3FA0"/>
            </a:solidFill>
            <a:prstDash val="solid"/>
          </a:ln>
        </p:spPr>
      </p:sp>
      <p:sp>
        <p:nvSpPr>
          <p:cNvPr id="90" name="Shape 88"/>
          <p:cNvSpPr/>
          <p:nvPr/>
        </p:nvSpPr>
        <p:spPr>
          <a:xfrm flipV="1">
            <a:off x="1821942" y="2485972"/>
            <a:ext cx="113157" cy="31887"/>
          </a:xfrm>
          <a:prstGeom prst="line">
            <a:avLst/>
          </a:prstGeom>
          <a:noFill/>
          <a:ln w="25400">
            <a:solidFill>
              <a:srgbClr val="6A3FA0"/>
            </a:solidFill>
            <a:prstDash val="solid"/>
          </a:ln>
        </p:spPr>
      </p:sp>
      <p:sp>
        <p:nvSpPr>
          <p:cNvPr id="91" name="Shape 89"/>
          <p:cNvSpPr/>
          <p:nvPr/>
        </p:nvSpPr>
        <p:spPr>
          <a:xfrm flipV="1">
            <a:off x="1935099" y="2458149"/>
            <a:ext cx="113157" cy="27823"/>
          </a:xfrm>
          <a:prstGeom prst="line">
            <a:avLst/>
          </a:prstGeom>
          <a:noFill/>
          <a:ln w="25400">
            <a:solidFill>
              <a:srgbClr val="6A3FA0"/>
            </a:solidFill>
            <a:prstDash val="solid"/>
          </a:ln>
        </p:spPr>
      </p:sp>
      <p:sp>
        <p:nvSpPr>
          <p:cNvPr id="92" name="Shape 90"/>
          <p:cNvSpPr/>
          <p:nvPr/>
        </p:nvSpPr>
        <p:spPr>
          <a:xfrm flipV="1">
            <a:off x="2048256" y="2433873"/>
            <a:ext cx="113157" cy="24276"/>
          </a:xfrm>
          <a:prstGeom prst="line">
            <a:avLst/>
          </a:prstGeom>
          <a:noFill/>
          <a:ln w="25400">
            <a:solidFill>
              <a:srgbClr val="6A3FA0"/>
            </a:solidFill>
            <a:prstDash val="solid"/>
          </a:ln>
        </p:spPr>
      </p:sp>
      <p:sp>
        <p:nvSpPr>
          <p:cNvPr id="93" name="Shape 91"/>
          <p:cNvSpPr/>
          <p:nvPr/>
        </p:nvSpPr>
        <p:spPr>
          <a:xfrm flipV="1">
            <a:off x="2161413" y="2412692"/>
            <a:ext cx="113157" cy="21181"/>
          </a:xfrm>
          <a:prstGeom prst="line">
            <a:avLst/>
          </a:prstGeom>
          <a:noFill/>
          <a:ln w="25400">
            <a:solidFill>
              <a:srgbClr val="6A3FA0"/>
            </a:solidFill>
            <a:prstDash val="solid"/>
          </a:ln>
        </p:spPr>
      </p:sp>
      <p:sp>
        <p:nvSpPr>
          <p:cNvPr id="94" name="Shape 92"/>
          <p:cNvSpPr/>
          <p:nvPr/>
        </p:nvSpPr>
        <p:spPr>
          <a:xfrm flipV="1">
            <a:off x="2274570" y="2394211"/>
            <a:ext cx="113157" cy="18481"/>
          </a:xfrm>
          <a:prstGeom prst="line">
            <a:avLst/>
          </a:prstGeom>
          <a:noFill/>
          <a:ln w="25400">
            <a:solidFill>
              <a:srgbClr val="6A3FA0"/>
            </a:solidFill>
            <a:prstDash val="solid"/>
          </a:ln>
        </p:spPr>
      </p:sp>
      <p:sp>
        <p:nvSpPr>
          <p:cNvPr id="95" name="Shape 93"/>
          <p:cNvSpPr/>
          <p:nvPr/>
        </p:nvSpPr>
        <p:spPr>
          <a:xfrm flipV="1">
            <a:off x="2387727" y="2378085"/>
            <a:ext cx="113157" cy="16125"/>
          </a:xfrm>
          <a:prstGeom prst="line">
            <a:avLst/>
          </a:prstGeom>
          <a:noFill/>
          <a:ln w="25400">
            <a:solidFill>
              <a:srgbClr val="6A3FA0"/>
            </a:solidFill>
            <a:prstDash val="solid"/>
          </a:ln>
        </p:spPr>
      </p:sp>
      <p:sp>
        <p:nvSpPr>
          <p:cNvPr id="96" name="Shape 94"/>
          <p:cNvSpPr/>
          <p:nvPr/>
        </p:nvSpPr>
        <p:spPr>
          <a:xfrm flipV="1">
            <a:off x="2500884" y="2364016"/>
            <a:ext cx="113157" cy="14070"/>
          </a:xfrm>
          <a:prstGeom prst="line">
            <a:avLst/>
          </a:prstGeom>
          <a:noFill/>
          <a:ln w="25400">
            <a:solidFill>
              <a:srgbClr val="6A3FA0"/>
            </a:solidFill>
            <a:prstDash val="solid"/>
          </a:ln>
        </p:spPr>
      </p:sp>
      <p:sp>
        <p:nvSpPr>
          <p:cNvPr id="97" name="Shape 95"/>
          <p:cNvSpPr/>
          <p:nvPr/>
        </p:nvSpPr>
        <p:spPr>
          <a:xfrm flipV="1">
            <a:off x="2614041" y="2351739"/>
            <a:ext cx="113157" cy="12276"/>
          </a:xfrm>
          <a:prstGeom prst="line">
            <a:avLst/>
          </a:prstGeom>
          <a:noFill/>
          <a:ln w="25400">
            <a:solidFill>
              <a:srgbClr val="6A3FA0"/>
            </a:solidFill>
            <a:prstDash val="solid"/>
          </a:ln>
        </p:spPr>
      </p:sp>
      <p:sp>
        <p:nvSpPr>
          <p:cNvPr id="98" name="Shape 96"/>
          <p:cNvSpPr/>
          <p:nvPr/>
        </p:nvSpPr>
        <p:spPr>
          <a:xfrm flipV="1">
            <a:off x="2727198" y="2341028"/>
            <a:ext cx="113157" cy="10711"/>
          </a:xfrm>
          <a:prstGeom prst="line">
            <a:avLst/>
          </a:prstGeom>
          <a:noFill/>
          <a:ln w="25400">
            <a:solidFill>
              <a:srgbClr val="6A3FA0"/>
            </a:solidFill>
            <a:prstDash val="solid"/>
          </a:ln>
        </p:spPr>
      </p:sp>
      <p:sp>
        <p:nvSpPr>
          <p:cNvPr id="99" name="Shape 97"/>
          <p:cNvSpPr/>
          <p:nvPr/>
        </p:nvSpPr>
        <p:spPr>
          <a:xfrm flipV="1">
            <a:off x="2840355" y="2331682"/>
            <a:ext cx="113157" cy="9346"/>
          </a:xfrm>
          <a:prstGeom prst="line">
            <a:avLst/>
          </a:prstGeom>
          <a:noFill/>
          <a:ln w="25400">
            <a:solidFill>
              <a:srgbClr val="6A3FA0"/>
            </a:solidFill>
            <a:prstDash val="solid"/>
          </a:ln>
        </p:spPr>
      </p:sp>
      <p:sp>
        <p:nvSpPr>
          <p:cNvPr id="100" name="Shape 98"/>
          <p:cNvSpPr/>
          <p:nvPr/>
        </p:nvSpPr>
        <p:spPr>
          <a:xfrm flipV="1">
            <a:off x="2953512" y="2323527"/>
            <a:ext cx="113157" cy="8155"/>
          </a:xfrm>
          <a:prstGeom prst="line">
            <a:avLst/>
          </a:prstGeom>
          <a:noFill/>
          <a:ln w="25400">
            <a:solidFill>
              <a:srgbClr val="6A3FA0"/>
            </a:solidFill>
            <a:prstDash val="solid"/>
          </a:ln>
        </p:spPr>
      </p:sp>
      <p:sp>
        <p:nvSpPr>
          <p:cNvPr id="101" name="Shape 99"/>
          <p:cNvSpPr/>
          <p:nvPr/>
        </p:nvSpPr>
        <p:spPr>
          <a:xfrm flipV="1">
            <a:off x="3066669" y="2316412"/>
            <a:ext cx="113157" cy="7115"/>
          </a:xfrm>
          <a:prstGeom prst="line">
            <a:avLst/>
          </a:prstGeom>
          <a:noFill/>
          <a:ln w="25400">
            <a:solidFill>
              <a:srgbClr val="6A3FA0"/>
            </a:solidFill>
            <a:prstDash val="solid"/>
          </a:ln>
        </p:spPr>
      </p:sp>
      <p:sp>
        <p:nvSpPr>
          <p:cNvPr id="102" name="Shape 100"/>
          <p:cNvSpPr/>
          <p:nvPr/>
        </p:nvSpPr>
        <p:spPr>
          <a:xfrm flipV="1">
            <a:off x="3179826" y="2310204"/>
            <a:ext cx="113157" cy="6208"/>
          </a:xfrm>
          <a:prstGeom prst="line">
            <a:avLst/>
          </a:prstGeom>
          <a:noFill/>
          <a:ln w="25400">
            <a:solidFill>
              <a:srgbClr val="6A3FA0"/>
            </a:solidFill>
            <a:prstDash val="solid"/>
          </a:ln>
        </p:spPr>
      </p:sp>
      <p:sp>
        <p:nvSpPr>
          <p:cNvPr id="103" name="Shape 101"/>
          <p:cNvSpPr/>
          <p:nvPr/>
        </p:nvSpPr>
        <p:spPr>
          <a:xfrm flipV="1">
            <a:off x="3292983" y="2304788"/>
            <a:ext cx="113157" cy="5417"/>
          </a:xfrm>
          <a:prstGeom prst="line">
            <a:avLst/>
          </a:prstGeom>
          <a:noFill/>
          <a:ln w="25400">
            <a:solidFill>
              <a:srgbClr val="6A3FA0"/>
            </a:solidFill>
            <a:prstDash val="solid"/>
          </a:ln>
        </p:spPr>
      </p:sp>
      <p:sp>
        <p:nvSpPr>
          <p:cNvPr id="104" name="Shape 102"/>
          <p:cNvSpPr/>
          <p:nvPr/>
        </p:nvSpPr>
        <p:spPr>
          <a:xfrm flipV="1">
            <a:off x="3406140" y="2300061"/>
            <a:ext cx="113157" cy="4726"/>
          </a:xfrm>
          <a:prstGeom prst="line">
            <a:avLst/>
          </a:prstGeom>
          <a:noFill/>
          <a:ln w="25400">
            <a:solidFill>
              <a:srgbClr val="6A3FA0"/>
            </a:solidFill>
            <a:prstDash val="solid"/>
          </a:ln>
        </p:spPr>
      </p:sp>
      <p:sp>
        <p:nvSpPr>
          <p:cNvPr id="105" name="Shape 103"/>
          <p:cNvSpPr/>
          <p:nvPr/>
        </p:nvSpPr>
        <p:spPr>
          <a:xfrm flipV="1">
            <a:off x="3519297" y="2295938"/>
            <a:ext cx="113157" cy="4124"/>
          </a:xfrm>
          <a:prstGeom prst="line">
            <a:avLst/>
          </a:prstGeom>
          <a:noFill/>
          <a:ln w="25400">
            <a:solidFill>
              <a:srgbClr val="6A3FA0"/>
            </a:solidFill>
            <a:prstDash val="solid"/>
          </a:ln>
        </p:spPr>
      </p:sp>
      <p:sp>
        <p:nvSpPr>
          <p:cNvPr id="106" name="Shape 104"/>
          <p:cNvSpPr/>
          <p:nvPr/>
        </p:nvSpPr>
        <p:spPr>
          <a:xfrm flipV="1">
            <a:off x="3632454" y="2292340"/>
            <a:ext cx="113157" cy="3598"/>
          </a:xfrm>
          <a:prstGeom prst="line">
            <a:avLst/>
          </a:prstGeom>
          <a:noFill/>
          <a:ln w="25400">
            <a:solidFill>
              <a:srgbClr val="6A3FA0"/>
            </a:solidFill>
            <a:prstDash val="solid"/>
          </a:ln>
        </p:spPr>
      </p:sp>
      <p:sp>
        <p:nvSpPr>
          <p:cNvPr id="107" name="Shape 105"/>
          <p:cNvSpPr/>
          <p:nvPr/>
        </p:nvSpPr>
        <p:spPr>
          <a:xfrm flipV="1">
            <a:off x="3745611" y="2289200"/>
            <a:ext cx="113157" cy="3139"/>
          </a:xfrm>
          <a:prstGeom prst="line">
            <a:avLst/>
          </a:prstGeom>
          <a:noFill/>
          <a:ln w="25400">
            <a:solidFill>
              <a:srgbClr val="6A3FA0"/>
            </a:solidFill>
            <a:prstDash val="solid"/>
          </a:ln>
        </p:spPr>
      </p:sp>
      <p:sp>
        <p:nvSpPr>
          <p:cNvPr id="108" name="Shape 106"/>
          <p:cNvSpPr/>
          <p:nvPr/>
        </p:nvSpPr>
        <p:spPr>
          <a:xfrm flipV="1">
            <a:off x="3858768" y="2286461"/>
            <a:ext cx="113157" cy="2739"/>
          </a:xfrm>
          <a:prstGeom prst="line">
            <a:avLst/>
          </a:prstGeom>
          <a:noFill/>
          <a:ln w="25400">
            <a:solidFill>
              <a:srgbClr val="6A3FA0"/>
            </a:solidFill>
            <a:prstDash val="solid"/>
          </a:ln>
        </p:spPr>
      </p:sp>
      <p:sp>
        <p:nvSpPr>
          <p:cNvPr id="109" name="Shape 107"/>
          <p:cNvSpPr/>
          <p:nvPr/>
        </p:nvSpPr>
        <p:spPr>
          <a:xfrm flipV="1">
            <a:off x="3971925" y="2284071"/>
            <a:ext cx="113157" cy="2390"/>
          </a:xfrm>
          <a:prstGeom prst="line">
            <a:avLst/>
          </a:prstGeom>
          <a:noFill/>
          <a:ln w="25400">
            <a:solidFill>
              <a:srgbClr val="6A3FA0"/>
            </a:solidFill>
            <a:prstDash val="solid"/>
          </a:ln>
        </p:spPr>
      </p:sp>
      <p:sp>
        <p:nvSpPr>
          <p:cNvPr id="110" name="Shape 108"/>
          <p:cNvSpPr/>
          <p:nvPr/>
        </p:nvSpPr>
        <p:spPr>
          <a:xfrm flipV="1">
            <a:off x="4085082" y="2281986"/>
            <a:ext cx="113157" cy="2085"/>
          </a:xfrm>
          <a:prstGeom prst="line">
            <a:avLst/>
          </a:prstGeom>
          <a:noFill/>
          <a:ln w="25400">
            <a:solidFill>
              <a:srgbClr val="6A3FA0"/>
            </a:solidFill>
            <a:prstDash val="solid"/>
          </a:ln>
        </p:spPr>
      </p:sp>
      <p:sp>
        <p:nvSpPr>
          <p:cNvPr id="111" name="Shape 109"/>
          <p:cNvSpPr/>
          <p:nvPr/>
        </p:nvSpPr>
        <p:spPr>
          <a:xfrm flipV="1">
            <a:off x="4198239" y="2280166"/>
            <a:ext cx="113157" cy="1820"/>
          </a:xfrm>
          <a:prstGeom prst="line">
            <a:avLst/>
          </a:prstGeom>
          <a:noFill/>
          <a:ln w="25400">
            <a:solidFill>
              <a:srgbClr val="6A3FA0"/>
            </a:solidFill>
            <a:prstDash val="solid"/>
          </a:ln>
        </p:spPr>
      </p:sp>
      <p:sp>
        <p:nvSpPr>
          <p:cNvPr id="112" name="Shape 110"/>
          <p:cNvSpPr/>
          <p:nvPr/>
        </p:nvSpPr>
        <p:spPr>
          <a:xfrm flipV="1">
            <a:off x="4311396" y="2278579"/>
            <a:ext cx="113157" cy="1588"/>
          </a:xfrm>
          <a:prstGeom prst="line">
            <a:avLst/>
          </a:prstGeom>
          <a:noFill/>
          <a:ln w="25400">
            <a:solidFill>
              <a:srgbClr val="6A3FA0"/>
            </a:solidFill>
            <a:prstDash val="solid"/>
          </a:ln>
        </p:spPr>
      </p:sp>
      <p:sp>
        <p:nvSpPr>
          <p:cNvPr id="113" name="Shape 111"/>
          <p:cNvSpPr/>
          <p:nvPr/>
        </p:nvSpPr>
        <p:spPr>
          <a:xfrm flipV="1">
            <a:off x="4424553" y="2277193"/>
            <a:ext cx="113157" cy="1385"/>
          </a:xfrm>
          <a:prstGeom prst="line">
            <a:avLst/>
          </a:prstGeom>
          <a:noFill/>
          <a:ln w="25400">
            <a:solidFill>
              <a:srgbClr val="6A3FA0"/>
            </a:solidFill>
            <a:prstDash val="solid"/>
          </a:ln>
        </p:spPr>
      </p:sp>
      <p:sp>
        <p:nvSpPr>
          <p:cNvPr id="114" name="Shape 112"/>
          <p:cNvSpPr/>
          <p:nvPr/>
        </p:nvSpPr>
        <p:spPr>
          <a:xfrm flipV="1">
            <a:off x="4537710" y="2275985"/>
            <a:ext cx="113157" cy="1209"/>
          </a:xfrm>
          <a:prstGeom prst="line">
            <a:avLst/>
          </a:prstGeom>
          <a:noFill/>
          <a:ln w="25400">
            <a:solidFill>
              <a:srgbClr val="6A3FA0"/>
            </a:solidFill>
            <a:prstDash val="solid"/>
          </a:ln>
        </p:spPr>
      </p:sp>
      <p:sp>
        <p:nvSpPr>
          <p:cNvPr id="115" name="Shape 113"/>
          <p:cNvSpPr/>
          <p:nvPr/>
        </p:nvSpPr>
        <p:spPr>
          <a:xfrm flipV="1">
            <a:off x="4650867" y="2274930"/>
            <a:ext cx="113157" cy="1055"/>
          </a:xfrm>
          <a:prstGeom prst="line">
            <a:avLst/>
          </a:prstGeom>
          <a:noFill/>
          <a:ln w="25400">
            <a:solidFill>
              <a:srgbClr val="6A3FA0"/>
            </a:solidFill>
            <a:prstDash val="solid"/>
          </a:ln>
        </p:spPr>
      </p:sp>
      <p:sp>
        <p:nvSpPr>
          <p:cNvPr id="116" name="Shape 114"/>
          <p:cNvSpPr/>
          <p:nvPr/>
        </p:nvSpPr>
        <p:spPr>
          <a:xfrm flipV="1">
            <a:off x="4764024" y="2274010"/>
            <a:ext cx="113157" cy="920"/>
          </a:xfrm>
          <a:prstGeom prst="line">
            <a:avLst/>
          </a:prstGeom>
          <a:noFill/>
          <a:ln w="25400">
            <a:solidFill>
              <a:srgbClr val="6A3FA0"/>
            </a:solidFill>
            <a:prstDash val="solid"/>
          </a:ln>
        </p:spPr>
      </p:sp>
      <p:sp>
        <p:nvSpPr>
          <p:cNvPr id="117" name="Shape 115"/>
          <p:cNvSpPr/>
          <p:nvPr/>
        </p:nvSpPr>
        <p:spPr>
          <a:xfrm flipV="1">
            <a:off x="4877181" y="2273207"/>
            <a:ext cx="113157" cy="803"/>
          </a:xfrm>
          <a:prstGeom prst="line">
            <a:avLst/>
          </a:prstGeom>
          <a:noFill/>
          <a:ln w="25400">
            <a:solidFill>
              <a:srgbClr val="6A3FA0"/>
            </a:solidFill>
            <a:prstDash val="solid"/>
          </a:ln>
        </p:spPr>
      </p:sp>
      <p:sp>
        <p:nvSpPr>
          <p:cNvPr id="118" name="Shape 116"/>
          <p:cNvSpPr/>
          <p:nvPr/>
        </p:nvSpPr>
        <p:spPr>
          <a:xfrm flipV="1">
            <a:off x="4990338" y="2272507"/>
            <a:ext cx="113157" cy="700"/>
          </a:xfrm>
          <a:prstGeom prst="line">
            <a:avLst/>
          </a:prstGeom>
          <a:noFill/>
          <a:ln w="25400">
            <a:solidFill>
              <a:srgbClr val="6A3FA0"/>
            </a:solidFill>
            <a:prstDash val="solid"/>
          </a:ln>
        </p:spPr>
      </p:sp>
      <p:sp>
        <p:nvSpPr>
          <p:cNvPr id="119" name="Shape 117"/>
          <p:cNvSpPr/>
          <p:nvPr/>
        </p:nvSpPr>
        <p:spPr>
          <a:xfrm flipV="1">
            <a:off x="5103495" y="2271895"/>
            <a:ext cx="113157" cy="611"/>
          </a:xfrm>
          <a:prstGeom prst="line">
            <a:avLst/>
          </a:prstGeom>
          <a:noFill/>
          <a:ln w="25400">
            <a:solidFill>
              <a:srgbClr val="6A3FA0"/>
            </a:solidFill>
            <a:prstDash val="solid"/>
          </a:ln>
        </p:spPr>
      </p:sp>
      <p:sp>
        <p:nvSpPr>
          <p:cNvPr id="120" name="Shape 118"/>
          <p:cNvSpPr/>
          <p:nvPr/>
        </p:nvSpPr>
        <p:spPr>
          <a:xfrm flipV="1">
            <a:off x="5216652" y="2271362"/>
            <a:ext cx="113157" cy="533"/>
          </a:xfrm>
          <a:prstGeom prst="line">
            <a:avLst/>
          </a:prstGeom>
          <a:noFill/>
          <a:ln w="25400">
            <a:solidFill>
              <a:srgbClr val="6A3FA0"/>
            </a:solidFill>
            <a:prstDash val="solid"/>
          </a:ln>
        </p:spPr>
      </p:sp>
      <p:sp>
        <p:nvSpPr>
          <p:cNvPr id="121" name="Shape 119"/>
          <p:cNvSpPr/>
          <p:nvPr/>
        </p:nvSpPr>
        <p:spPr>
          <a:xfrm flipV="1">
            <a:off x="5329809" y="2270897"/>
            <a:ext cx="113157" cy="465"/>
          </a:xfrm>
          <a:prstGeom prst="line">
            <a:avLst/>
          </a:prstGeom>
          <a:noFill/>
          <a:ln w="25400">
            <a:solidFill>
              <a:srgbClr val="6A3FA0"/>
            </a:solidFill>
            <a:prstDash val="solid"/>
          </a:ln>
        </p:spPr>
      </p:sp>
      <p:sp>
        <p:nvSpPr>
          <p:cNvPr id="122" name="Shape 120"/>
          <p:cNvSpPr/>
          <p:nvPr/>
        </p:nvSpPr>
        <p:spPr>
          <a:xfrm flipV="1">
            <a:off x="5442966" y="2270491"/>
            <a:ext cx="113157" cy="406"/>
          </a:xfrm>
          <a:prstGeom prst="line">
            <a:avLst/>
          </a:prstGeom>
          <a:noFill/>
          <a:ln w="25400">
            <a:solidFill>
              <a:srgbClr val="6A3FA0"/>
            </a:solidFill>
            <a:prstDash val="solid"/>
          </a:ln>
        </p:spPr>
      </p:sp>
      <p:sp>
        <p:nvSpPr>
          <p:cNvPr id="123" name="Shape 121"/>
          <p:cNvSpPr/>
          <p:nvPr/>
        </p:nvSpPr>
        <p:spPr>
          <a:xfrm flipV="1">
            <a:off x="5556123" y="2270137"/>
            <a:ext cx="113157" cy="354"/>
          </a:xfrm>
          <a:prstGeom prst="line">
            <a:avLst/>
          </a:prstGeom>
          <a:noFill/>
          <a:ln w="25400">
            <a:solidFill>
              <a:srgbClr val="6A3FA0"/>
            </a:solidFill>
            <a:prstDash val="solid"/>
          </a:ln>
        </p:spPr>
      </p:sp>
      <p:sp>
        <p:nvSpPr>
          <p:cNvPr id="124" name="Text 122"/>
          <p:cNvSpPr/>
          <p:nvPr/>
        </p:nvSpPr>
        <p:spPr>
          <a:xfrm>
            <a:off x="1746504" y="1559052"/>
            <a:ext cx="2011680" cy="201168"/>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forward rate falls</a:t>
            </a:r>
            <a:endParaRPr lang="en-US" sz="1000" dirty="0"/>
          </a:p>
        </p:txBody>
      </p:sp>
      <p:sp>
        <p:nvSpPr>
          <p:cNvPr id="125" name="Text 123"/>
          <p:cNvSpPr/>
          <p:nvPr/>
        </p:nvSpPr>
        <p:spPr>
          <a:xfrm>
            <a:off x="1633347" y="2664562"/>
            <a:ext cx="2194560" cy="201168"/>
          </a:xfrm>
          <a:prstGeom prst="rect">
            <a:avLst/>
          </a:prstGeom>
          <a:noFill/>
          <a:ln/>
        </p:spPr>
        <p:txBody>
          <a:bodyPr wrap="square" lIns="0" tIns="0" rIns="0" bIns="0" rtlCol="0" anchor="ctr"/>
          <a:lstStyle/>
          <a:p>
            <a:pPr algn="l" indent="0" marL="0">
              <a:buNone/>
            </a:pPr>
            <a:r>
              <a:rPr lang="en-US" sz="1000" b="1" dirty="0">
                <a:solidFill>
                  <a:srgbClr val="6A3FA0"/>
                </a:solidFill>
                <a:latin typeface="Calibri" pitchFamily="34" charset="0"/>
                <a:ea typeface="Calibri" pitchFamily="34" charset="-122"/>
                <a:cs typeface="Calibri" pitchFamily="34" charset="-120"/>
              </a:rPr>
              <a:t>reverse rate rises</a:t>
            </a:r>
            <a:endParaRPr lang="en-US" sz="1000" dirty="0"/>
          </a:p>
        </p:txBody>
      </p:sp>
      <p:sp>
        <p:nvSpPr>
          <p:cNvPr id="126" name="Text 124"/>
          <p:cNvSpPr/>
          <p:nvPr/>
        </p:nvSpPr>
        <p:spPr>
          <a:xfrm>
            <a:off x="4235958" y="1955902"/>
            <a:ext cx="1828800" cy="201168"/>
          </a:xfrm>
          <a:prstGeom prst="rect">
            <a:avLst/>
          </a:prstGeom>
          <a:noFill/>
          <a:ln/>
        </p:spPr>
        <p:txBody>
          <a:bodyPr wrap="square" lIns="0" tIns="0" rIns="0" bIns="0" rtlCol="0" anchor="ctr"/>
          <a:lstStyle/>
          <a:p>
            <a:pPr algn="l" indent="0" marL="0">
              <a:buNone/>
            </a:pPr>
            <a:r>
              <a:rPr lang="en-US" sz="1000" b="1" dirty="0">
                <a:solidFill>
                  <a:srgbClr val="2E8B57"/>
                </a:solidFill>
                <a:latin typeface="Calibri" pitchFamily="34" charset="0"/>
                <a:ea typeface="Calibri" pitchFamily="34" charset="-122"/>
                <a:cs typeface="Calibri" pitchFamily="34" charset="-120"/>
              </a:rPr>
              <a:t>rates </a:t>
            </a:r>
            <a:r>
              <a:rPr lang="en-US" sz="1000" b="1" dirty="0">
                <a:solidFill>
                  <a:srgbClr val="2E8B57"/>
                </a:solidFill>
                <a:latin typeface="Calibri" pitchFamily="34" charset="0"/>
                <a:ea typeface="Calibri" pitchFamily="34" charset="-122"/>
                <a:cs typeface="Calibri" pitchFamily="34" charset="-120"/>
              </a:rPr>
              <a:t>equal</a:t>
            </a:r>
            <a:endParaRPr lang="en-US" sz="1000" dirty="0"/>
          </a:p>
        </p:txBody>
      </p:sp>
      <p:sp>
        <p:nvSpPr>
          <p:cNvPr id="127" name="Text 125"/>
          <p:cNvSpPr/>
          <p:nvPr/>
        </p:nvSpPr>
        <p:spPr>
          <a:xfrm>
            <a:off x="1143000" y="2871216"/>
            <a:ext cx="4526280" cy="18288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Time</a:t>
            </a:r>
            <a:endParaRPr lang="en-US" sz="1000" dirty="0"/>
          </a:p>
        </p:txBody>
      </p:sp>
      <p:sp>
        <p:nvSpPr>
          <p:cNvPr id="128" name="Shape 126"/>
          <p:cNvSpPr/>
          <p:nvPr/>
        </p:nvSpPr>
        <p:spPr>
          <a:xfrm>
            <a:off x="1143000" y="3429000"/>
            <a:ext cx="4526280" cy="1417320"/>
          </a:xfrm>
          <a:prstGeom prst="rect">
            <a:avLst/>
          </a:prstGeom>
          <a:solidFill>
            <a:srgbClr val="FFFFFF"/>
          </a:solidFill>
          <a:ln/>
        </p:spPr>
      </p:sp>
      <p:sp>
        <p:nvSpPr>
          <p:cNvPr id="129" name="Shape 127"/>
          <p:cNvSpPr/>
          <p:nvPr/>
        </p:nvSpPr>
        <p:spPr>
          <a:xfrm>
            <a:off x="1143000" y="3429000"/>
            <a:ext cx="91" cy="1417320"/>
          </a:xfrm>
          <a:prstGeom prst="line">
            <a:avLst/>
          </a:prstGeom>
          <a:noFill/>
          <a:ln w="6350">
            <a:solidFill>
              <a:srgbClr val="D6CBE8"/>
            </a:solidFill>
            <a:prstDash val="solid"/>
          </a:ln>
        </p:spPr>
      </p:sp>
      <p:sp>
        <p:nvSpPr>
          <p:cNvPr id="130" name="Shape 128"/>
          <p:cNvSpPr/>
          <p:nvPr/>
        </p:nvSpPr>
        <p:spPr>
          <a:xfrm>
            <a:off x="1897380" y="3429000"/>
            <a:ext cx="91" cy="1417320"/>
          </a:xfrm>
          <a:prstGeom prst="line">
            <a:avLst/>
          </a:prstGeom>
          <a:noFill/>
          <a:ln w="6350">
            <a:solidFill>
              <a:srgbClr val="D6CBE8"/>
            </a:solidFill>
            <a:prstDash val="solid"/>
          </a:ln>
        </p:spPr>
      </p:sp>
      <p:sp>
        <p:nvSpPr>
          <p:cNvPr id="131" name="Shape 129"/>
          <p:cNvSpPr/>
          <p:nvPr/>
        </p:nvSpPr>
        <p:spPr>
          <a:xfrm>
            <a:off x="2651760" y="3429000"/>
            <a:ext cx="91" cy="1417320"/>
          </a:xfrm>
          <a:prstGeom prst="line">
            <a:avLst/>
          </a:prstGeom>
          <a:noFill/>
          <a:ln w="6350">
            <a:solidFill>
              <a:srgbClr val="D6CBE8"/>
            </a:solidFill>
            <a:prstDash val="solid"/>
          </a:ln>
        </p:spPr>
      </p:sp>
      <p:sp>
        <p:nvSpPr>
          <p:cNvPr id="132" name="Shape 130"/>
          <p:cNvSpPr/>
          <p:nvPr/>
        </p:nvSpPr>
        <p:spPr>
          <a:xfrm>
            <a:off x="3406140" y="3429000"/>
            <a:ext cx="91" cy="1417320"/>
          </a:xfrm>
          <a:prstGeom prst="line">
            <a:avLst/>
          </a:prstGeom>
          <a:noFill/>
          <a:ln w="6350">
            <a:solidFill>
              <a:srgbClr val="D6CBE8"/>
            </a:solidFill>
            <a:prstDash val="solid"/>
          </a:ln>
        </p:spPr>
      </p:sp>
      <p:sp>
        <p:nvSpPr>
          <p:cNvPr id="133" name="Shape 131"/>
          <p:cNvSpPr/>
          <p:nvPr/>
        </p:nvSpPr>
        <p:spPr>
          <a:xfrm>
            <a:off x="4160520" y="3429000"/>
            <a:ext cx="91" cy="1417320"/>
          </a:xfrm>
          <a:prstGeom prst="line">
            <a:avLst/>
          </a:prstGeom>
          <a:noFill/>
          <a:ln w="6350">
            <a:solidFill>
              <a:srgbClr val="D6CBE8"/>
            </a:solidFill>
            <a:prstDash val="solid"/>
          </a:ln>
        </p:spPr>
      </p:sp>
      <p:sp>
        <p:nvSpPr>
          <p:cNvPr id="134" name="Shape 132"/>
          <p:cNvSpPr/>
          <p:nvPr/>
        </p:nvSpPr>
        <p:spPr>
          <a:xfrm>
            <a:off x="4914900" y="3429000"/>
            <a:ext cx="91" cy="1417320"/>
          </a:xfrm>
          <a:prstGeom prst="line">
            <a:avLst/>
          </a:prstGeom>
          <a:noFill/>
          <a:ln w="6350">
            <a:solidFill>
              <a:srgbClr val="D6CBE8"/>
            </a:solidFill>
            <a:prstDash val="solid"/>
          </a:ln>
        </p:spPr>
      </p:sp>
      <p:sp>
        <p:nvSpPr>
          <p:cNvPr id="135" name="Shape 133"/>
          <p:cNvSpPr/>
          <p:nvPr/>
        </p:nvSpPr>
        <p:spPr>
          <a:xfrm>
            <a:off x="5669280" y="3429000"/>
            <a:ext cx="91" cy="1417320"/>
          </a:xfrm>
          <a:prstGeom prst="line">
            <a:avLst/>
          </a:prstGeom>
          <a:noFill/>
          <a:ln w="6350">
            <a:solidFill>
              <a:srgbClr val="D6CBE8"/>
            </a:solidFill>
            <a:prstDash val="solid"/>
          </a:ln>
        </p:spPr>
      </p:sp>
      <p:sp>
        <p:nvSpPr>
          <p:cNvPr id="136" name="Shape 134"/>
          <p:cNvSpPr/>
          <p:nvPr/>
        </p:nvSpPr>
        <p:spPr>
          <a:xfrm>
            <a:off x="1143000" y="4846320"/>
            <a:ext cx="4526280" cy="91"/>
          </a:xfrm>
          <a:prstGeom prst="line">
            <a:avLst/>
          </a:prstGeom>
          <a:noFill/>
          <a:ln w="6350">
            <a:solidFill>
              <a:srgbClr val="D6CBE8"/>
            </a:solidFill>
            <a:prstDash val="solid"/>
          </a:ln>
        </p:spPr>
      </p:sp>
      <p:sp>
        <p:nvSpPr>
          <p:cNvPr id="137" name="Shape 135"/>
          <p:cNvSpPr/>
          <p:nvPr/>
        </p:nvSpPr>
        <p:spPr>
          <a:xfrm>
            <a:off x="1143000" y="4137660"/>
            <a:ext cx="4526280" cy="91"/>
          </a:xfrm>
          <a:prstGeom prst="line">
            <a:avLst/>
          </a:prstGeom>
          <a:noFill/>
          <a:ln w="6350">
            <a:solidFill>
              <a:srgbClr val="D6CBE8"/>
            </a:solidFill>
            <a:prstDash val="solid"/>
          </a:ln>
        </p:spPr>
      </p:sp>
      <p:sp>
        <p:nvSpPr>
          <p:cNvPr id="138" name="Shape 136"/>
          <p:cNvSpPr/>
          <p:nvPr/>
        </p:nvSpPr>
        <p:spPr>
          <a:xfrm>
            <a:off x="1143000" y="3429000"/>
            <a:ext cx="4526280" cy="91"/>
          </a:xfrm>
          <a:prstGeom prst="line">
            <a:avLst/>
          </a:prstGeom>
          <a:noFill/>
          <a:ln w="6350">
            <a:solidFill>
              <a:srgbClr val="D6CBE8"/>
            </a:solidFill>
            <a:prstDash val="solid"/>
          </a:ln>
        </p:spPr>
      </p:sp>
      <p:sp>
        <p:nvSpPr>
          <p:cNvPr id="139" name="Shape 137"/>
          <p:cNvSpPr/>
          <p:nvPr/>
        </p:nvSpPr>
        <p:spPr>
          <a:xfrm>
            <a:off x="1143000" y="4846320"/>
            <a:ext cx="4526280" cy="91"/>
          </a:xfrm>
          <a:prstGeom prst="line">
            <a:avLst/>
          </a:prstGeom>
          <a:noFill/>
          <a:ln w="19050">
            <a:solidFill>
              <a:srgbClr val="2A1F3D"/>
            </a:solidFill>
            <a:prstDash val="solid"/>
          </a:ln>
        </p:spPr>
      </p:sp>
      <p:sp>
        <p:nvSpPr>
          <p:cNvPr id="140" name="Shape 138"/>
          <p:cNvSpPr/>
          <p:nvPr/>
        </p:nvSpPr>
        <p:spPr>
          <a:xfrm flipV="1">
            <a:off x="1143000" y="3429000"/>
            <a:ext cx="91" cy="1417320"/>
          </a:xfrm>
          <a:prstGeom prst="line">
            <a:avLst/>
          </a:prstGeom>
          <a:noFill/>
          <a:ln w="19050">
            <a:solidFill>
              <a:srgbClr val="2A1F3D"/>
            </a:solidFill>
            <a:prstDash val="solid"/>
          </a:ln>
        </p:spPr>
      </p:sp>
      <p:sp>
        <p:nvSpPr>
          <p:cNvPr id="141" name="Shape 139"/>
          <p:cNvSpPr/>
          <p:nvPr/>
        </p:nvSpPr>
        <p:spPr>
          <a:xfrm>
            <a:off x="1143000" y="4846320"/>
            <a:ext cx="91" cy="54864"/>
          </a:xfrm>
          <a:prstGeom prst="line">
            <a:avLst/>
          </a:prstGeom>
          <a:noFill/>
          <a:ln w="12700">
            <a:solidFill>
              <a:srgbClr val="2A1F3D"/>
            </a:solidFill>
            <a:prstDash val="solid"/>
          </a:ln>
        </p:spPr>
      </p:sp>
      <p:sp>
        <p:nvSpPr>
          <p:cNvPr id="142" name="Text 140"/>
          <p:cNvSpPr/>
          <p:nvPr/>
        </p:nvSpPr>
        <p:spPr>
          <a:xfrm>
            <a:off x="868680" y="49011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43" name="Shape 141"/>
          <p:cNvSpPr/>
          <p:nvPr/>
        </p:nvSpPr>
        <p:spPr>
          <a:xfrm>
            <a:off x="1897380" y="4846320"/>
            <a:ext cx="91" cy="54864"/>
          </a:xfrm>
          <a:prstGeom prst="line">
            <a:avLst/>
          </a:prstGeom>
          <a:noFill/>
          <a:ln w="12700">
            <a:solidFill>
              <a:srgbClr val="2A1F3D"/>
            </a:solidFill>
            <a:prstDash val="solid"/>
          </a:ln>
        </p:spPr>
      </p:sp>
      <p:sp>
        <p:nvSpPr>
          <p:cNvPr id="144" name="Text 142"/>
          <p:cNvSpPr/>
          <p:nvPr/>
        </p:nvSpPr>
        <p:spPr>
          <a:xfrm>
            <a:off x="1623060" y="49011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145" name="Shape 143"/>
          <p:cNvSpPr/>
          <p:nvPr/>
        </p:nvSpPr>
        <p:spPr>
          <a:xfrm>
            <a:off x="2651760" y="4846320"/>
            <a:ext cx="91" cy="54864"/>
          </a:xfrm>
          <a:prstGeom prst="line">
            <a:avLst/>
          </a:prstGeom>
          <a:noFill/>
          <a:ln w="12700">
            <a:solidFill>
              <a:srgbClr val="2A1F3D"/>
            </a:solidFill>
            <a:prstDash val="solid"/>
          </a:ln>
        </p:spPr>
      </p:sp>
      <p:sp>
        <p:nvSpPr>
          <p:cNvPr id="146" name="Text 144"/>
          <p:cNvSpPr/>
          <p:nvPr/>
        </p:nvSpPr>
        <p:spPr>
          <a:xfrm>
            <a:off x="2377440" y="49011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147" name="Shape 145"/>
          <p:cNvSpPr/>
          <p:nvPr/>
        </p:nvSpPr>
        <p:spPr>
          <a:xfrm>
            <a:off x="3406140" y="4846320"/>
            <a:ext cx="91" cy="54864"/>
          </a:xfrm>
          <a:prstGeom prst="line">
            <a:avLst/>
          </a:prstGeom>
          <a:noFill/>
          <a:ln w="12700">
            <a:solidFill>
              <a:srgbClr val="2A1F3D"/>
            </a:solidFill>
            <a:prstDash val="solid"/>
          </a:ln>
        </p:spPr>
      </p:sp>
      <p:sp>
        <p:nvSpPr>
          <p:cNvPr id="148" name="Text 146"/>
          <p:cNvSpPr/>
          <p:nvPr/>
        </p:nvSpPr>
        <p:spPr>
          <a:xfrm>
            <a:off x="3131820" y="49011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149" name="Shape 147"/>
          <p:cNvSpPr/>
          <p:nvPr/>
        </p:nvSpPr>
        <p:spPr>
          <a:xfrm>
            <a:off x="4160520" y="4846320"/>
            <a:ext cx="91" cy="54864"/>
          </a:xfrm>
          <a:prstGeom prst="line">
            <a:avLst/>
          </a:prstGeom>
          <a:noFill/>
          <a:ln w="12700">
            <a:solidFill>
              <a:srgbClr val="2A1F3D"/>
            </a:solidFill>
            <a:prstDash val="solid"/>
          </a:ln>
        </p:spPr>
      </p:sp>
      <p:sp>
        <p:nvSpPr>
          <p:cNvPr id="150" name="Text 148"/>
          <p:cNvSpPr/>
          <p:nvPr/>
        </p:nvSpPr>
        <p:spPr>
          <a:xfrm>
            <a:off x="3886200" y="49011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151" name="Shape 149"/>
          <p:cNvSpPr/>
          <p:nvPr/>
        </p:nvSpPr>
        <p:spPr>
          <a:xfrm>
            <a:off x="4914900" y="4846320"/>
            <a:ext cx="91" cy="54864"/>
          </a:xfrm>
          <a:prstGeom prst="line">
            <a:avLst/>
          </a:prstGeom>
          <a:noFill/>
          <a:ln w="12700">
            <a:solidFill>
              <a:srgbClr val="2A1F3D"/>
            </a:solidFill>
            <a:prstDash val="solid"/>
          </a:ln>
        </p:spPr>
      </p:sp>
      <p:sp>
        <p:nvSpPr>
          <p:cNvPr id="152" name="Text 150"/>
          <p:cNvSpPr/>
          <p:nvPr/>
        </p:nvSpPr>
        <p:spPr>
          <a:xfrm>
            <a:off x="4640580" y="49011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153" name="Shape 151"/>
          <p:cNvSpPr/>
          <p:nvPr/>
        </p:nvSpPr>
        <p:spPr>
          <a:xfrm>
            <a:off x="5669280" y="4846320"/>
            <a:ext cx="91" cy="54864"/>
          </a:xfrm>
          <a:prstGeom prst="line">
            <a:avLst/>
          </a:prstGeom>
          <a:noFill/>
          <a:ln w="12700">
            <a:solidFill>
              <a:srgbClr val="2A1F3D"/>
            </a:solidFill>
            <a:prstDash val="solid"/>
          </a:ln>
        </p:spPr>
      </p:sp>
      <p:sp>
        <p:nvSpPr>
          <p:cNvPr id="154" name="Text 152"/>
          <p:cNvSpPr/>
          <p:nvPr/>
        </p:nvSpPr>
        <p:spPr>
          <a:xfrm>
            <a:off x="5394960" y="49011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155" name="Shape 153"/>
          <p:cNvSpPr/>
          <p:nvPr/>
        </p:nvSpPr>
        <p:spPr>
          <a:xfrm>
            <a:off x="1088136" y="4846320"/>
            <a:ext cx="54864" cy="91"/>
          </a:xfrm>
          <a:prstGeom prst="line">
            <a:avLst/>
          </a:prstGeom>
          <a:noFill/>
          <a:ln w="12700">
            <a:solidFill>
              <a:srgbClr val="2A1F3D"/>
            </a:solidFill>
            <a:prstDash val="solid"/>
          </a:ln>
        </p:spPr>
      </p:sp>
      <p:sp>
        <p:nvSpPr>
          <p:cNvPr id="156" name="Text 154"/>
          <p:cNvSpPr/>
          <p:nvPr/>
        </p:nvSpPr>
        <p:spPr>
          <a:xfrm>
            <a:off x="704088" y="4754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0.0</a:t>
            </a:r>
            <a:endParaRPr lang="en-US" sz="1000" dirty="0"/>
          </a:p>
        </p:txBody>
      </p:sp>
      <p:sp>
        <p:nvSpPr>
          <p:cNvPr id="157" name="Shape 155"/>
          <p:cNvSpPr/>
          <p:nvPr/>
        </p:nvSpPr>
        <p:spPr>
          <a:xfrm>
            <a:off x="1088136" y="4137660"/>
            <a:ext cx="54864" cy="91"/>
          </a:xfrm>
          <a:prstGeom prst="line">
            <a:avLst/>
          </a:prstGeom>
          <a:noFill/>
          <a:ln w="12700">
            <a:solidFill>
              <a:srgbClr val="2A1F3D"/>
            </a:solidFill>
            <a:prstDash val="solid"/>
          </a:ln>
        </p:spPr>
      </p:sp>
      <p:sp>
        <p:nvSpPr>
          <p:cNvPr id="158" name="Text 156"/>
          <p:cNvSpPr/>
          <p:nvPr/>
        </p:nvSpPr>
        <p:spPr>
          <a:xfrm>
            <a:off x="704088" y="40462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0.5</a:t>
            </a:r>
            <a:endParaRPr lang="en-US" sz="1000" dirty="0"/>
          </a:p>
        </p:txBody>
      </p:sp>
      <p:sp>
        <p:nvSpPr>
          <p:cNvPr id="159" name="Shape 157"/>
          <p:cNvSpPr/>
          <p:nvPr/>
        </p:nvSpPr>
        <p:spPr>
          <a:xfrm>
            <a:off x="1088136" y="3429000"/>
            <a:ext cx="54864" cy="91"/>
          </a:xfrm>
          <a:prstGeom prst="line">
            <a:avLst/>
          </a:prstGeom>
          <a:noFill/>
          <a:ln w="12700">
            <a:solidFill>
              <a:srgbClr val="2A1F3D"/>
            </a:solidFill>
            <a:prstDash val="solid"/>
          </a:ln>
        </p:spPr>
      </p:sp>
      <p:sp>
        <p:nvSpPr>
          <p:cNvPr id="160" name="Text 158"/>
          <p:cNvSpPr/>
          <p:nvPr/>
        </p:nvSpPr>
        <p:spPr>
          <a:xfrm>
            <a:off x="704088" y="33375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161" name="Text 159"/>
          <p:cNvSpPr/>
          <p:nvPr/>
        </p:nvSpPr>
        <p:spPr>
          <a:xfrm>
            <a:off x="1143000" y="5093208"/>
            <a:ext cx="45262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min</a:t>
            </a:r>
            <a:endParaRPr lang="en-US" sz="1050" dirty="0"/>
          </a:p>
        </p:txBody>
      </p:sp>
      <p:sp>
        <p:nvSpPr>
          <p:cNvPr id="162" name="Text 160"/>
          <p:cNvSpPr/>
          <p:nvPr/>
        </p:nvSpPr>
        <p:spPr>
          <a:xfrm rot="16200000">
            <a:off x="-132588" y="4009644"/>
            <a:ext cx="14173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Amount / mol</a:t>
            </a:r>
            <a:endParaRPr lang="en-US" sz="1050" dirty="0"/>
          </a:p>
        </p:txBody>
      </p:sp>
      <p:sp>
        <p:nvSpPr>
          <p:cNvPr id="163" name="Shape 161"/>
          <p:cNvSpPr/>
          <p:nvPr/>
        </p:nvSpPr>
        <p:spPr>
          <a:xfrm flipV="1">
            <a:off x="1143000" y="4804825"/>
            <a:ext cx="58199" cy="41495"/>
          </a:xfrm>
          <a:prstGeom prst="line">
            <a:avLst/>
          </a:prstGeom>
          <a:noFill/>
          <a:ln w="25400">
            <a:solidFill>
              <a:srgbClr val="2F4F9E"/>
            </a:solidFill>
            <a:prstDash val="solid"/>
          </a:ln>
        </p:spPr>
      </p:sp>
      <p:sp>
        <p:nvSpPr>
          <p:cNvPr id="164" name="Shape 162"/>
          <p:cNvSpPr/>
          <p:nvPr/>
        </p:nvSpPr>
        <p:spPr>
          <a:xfrm flipV="1">
            <a:off x="1201199" y="4747329"/>
            <a:ext cx="77353" cy="57496"/>
          </a:xfrm>
          <a:prstGeom prst="line">
            <a:avLst/>
          </a:prstGeom>
          <a:noFill/>
          <a:ln w="25400">
            <a:solidFill>
              <a:srgbClr val="2F4F9E"/>
            </a:solidFill>
            <a:prstDash val="solid"/>
          </a:ln>
        </p:spPr>
      </p:sp>
      <p:sp>
        <p:nvSpPr>
          <p:cNvPr id="165" name="Shape 163"/>
          <p:cNvSpPr/>
          <p:nvPr/>
        </p:nvSpPr>
        <p:spPr>
          <a:xfrm flipV="1">
            <a:off x="1278553" y="4678650"/>
            <a:ext cx="92087" cy="68679"/>
          </a:xfrm>
          <a:prstGeom prst="line">
            <a:avLst/>
          </a:prstGeom>
          <a:noFill/>
          <a:ln w="25400">
            <a:solidFill>
              <a:srgbClr val="2F4F9E"/>
            </a:solidFill>
            <a:prstDash val="solid"/>
          </a:ln>
        </p:spPr>
      </p:sp>
      <p:sp>
        <p:nvSpPr>
          <p:cNvPr id="166" name="Shape 164"/>
          <p:cNvSpPr/>
          <p:nvPr/>
        </p:nvSpPr>
        <p:spPr>
          <a:xfrm flipV="1">
            <a:off x="1370640" y="4603604"/>
            <a:ext cx="102401" cy="75046"/>
          </a:xfrm>
          <a:prstGeom prst="line">
            <a:avLst/>
          </a:prstGeom>
          <a:noFill/>
          <a:ln w="25400">
            <a:solidFill>
              <a:srgbClr val="2F4F9E"/>
            </a:solidFill>
            <a:prstDash val="solid"/>
          </a:ln>
        </p:spPr>
      </p:sp>
      <p:sp>
        <p:nvSpPr>
          <p:cNvPr id="167" name="Shape 165"/>
          <p:cNvSpPr/>
          <p:nvPr/>
        </p:nvSpPr>
        <p:spPr>
          <a:xfrm flipV="1">
            <a:off x="1473041" y="4527008"/>
            <a:ext cx="108295" cy="76596"/>
          </a:xfrm>
          <a:prstGeom prst="line">
            <a:avLst/>
          </a:prstGeom>
          <a:noFill/>
          <a:ln w="25400">
            <a:solidFill>
              <a:srgbClr val="2F4F9E"/>
            </a:solidFill>
            <a:prstDash val="solid"/>
          </a:ln>
        </p:spPr>
      </p:sp>
      <p:sp>
        <p:nvSpPr>
          <p:cNvPr id="168" name="Shape 166"/>
          <p:cNvSpPr/>
          <p:nvPr/>
        </p:nvSpPr>
        <p:spPr>
          <a:xfrm flipV="1">
            <a:off x="1581336" y="4453678"/>
            <a:ext cx="109768" cy="73330"/>
          </a:xfrm>
          <a:prstGeom prst="line">
            <a:avLst/>
          </a:prstGeom>
          <a:noFill/>
          <a:ln w="25400">
            <a:solidFill>
              <a:srgbClr val="2F4F9E"/>
            </a:solidFill>
            <a:prstDash val="solid"/>
          </a:ln>
        </p:spPr>
      </p:sp>
      <p:sp>
        <p:nvSpPr>
          <p:cNvPr id="169" name="Shape 167"/>
          <p:cNvSpPr/>
          <p:nvPr/>
        </p:nvSpPr>
        <p:spPr>
          <a:xfrm flipV="1">
            <a:off x="1691104" y="4388432"/>
            <a:ext cx="106821" cy="65247"/>
          </a:xfrm>
          <a:prstGeom prst="line">
            <a:avLst/>
          </a:prstGeom>
          <a:noFill/>
          <a:ln w="25400">
            <a:solidFill>
              <a:srgbClr val="2F4F9E"/>
            </a:solidFill>
            <a:prstDash val="solid"/>
          </a:ln>
        </p:spPr>
      </p:sp>
      <p:sp>
        <p:nvSpPr>
          <p:cNvPr id="170" name="Shape 168"/>
          <p:cNvSpPr/>
          <p:nvPr/>
        </p:nvSpPr>
        <p:spPr>
          <a:xfrm flipV="1">
            <a:off x="1797926" y="4336085"/>
            <a:ext cx="99454" cy="52347"/>
          </a:xfrm>
          <a:prstGeom prst="line">
            <a:avLst/>
          </a:prstGeom>
          <a:noFill/>
          <a:ln w="25400">
            <a:solidFill>
              <a:srgbClr val="2F4F9E"/>
            </a:solidFill>
            <a:prstDash val="solid"/>
          </a:ln>
        </p:spPr>
      </p:sp>
      <p:sp>
        <p:nvSpPr>
          <p:cNvPr id="171" name="Shape 169"/>
          <p:cNvSpPr/>
          <p:nvPr/>
        </p:nvSpPr>
        <p:spPr>
          <a:xfrm flipV="1">
            <a:off x="1897380" y="4295683"/>
            <a:ext cx="94297" cy="40402"/>
          </a:xfrm>
          <a:prstGeom prst="line">
            <a:avLst/>
          </a:prstGeom>
          <a:noFill/>
          <a:ln w="25400">
            <a:solidFill>
              <a:srgbClr val="2F4F9E"/>
            </a:solidFill>
            <a:prstDash val="solid"/>
          </a:ln>
        </p:spPr>
      </p:sp>
      <p:sp>
        <p:nvSpPr>
          <p:cNvPr id="172" name="Shape 170"/>
          <p:cNvSpPr/>
          <p:nvPr/>
        </p:nvSpPr>
        <p:spPr>
          <a:xfrm flipV="1">
            <a:off x="1991678" y="4262229"/>
            <a:ext cx="94297" cy="33454"/>
          </a:xfrm>
          <a:prstGeom prst="line">
            <a:avLst/>
          </a:prstGeom>
          <a:noFill/>
          <a:ln w="25400">
            <a:solidFill>
              <a:srgbClr val="2F4F9E"/>
            </a:solidFill>
            <a:prstDash val="solid"/>
          </a:ln>
        </p:spPr>
      </p:sp>
      <p:sp>
        <p:nvSpPr>
          <p:cNvPr id="173" name="Shape 171"/>
          <p:cNvSpPr/>
          <p:nvPr/>
        </p:nvSpPr>
        <p:spPr>
          <a:xfrm flipV="1">
            <a:off x="2085975" y="4234478"/>
            <a:ext cx="94297" cy="27751"/>
          </a:xfrm>
          <a:prstGeom prst="line">
            <a:avLst/>
          </a:prstGeom>
          <a:noFill/>
          <a:ln w="25400">
            <a:solidFill>
              <a:srgbClr val="2F4F9E"/>
            </a:solidFill>
            <a:prstDash val="solid"/>
          </a:ln>
        </p:spPr>
      </p:sp>
      <p:sp>
        <p:nvSpPr>
          <p:cNvPr id="174" name="Shape 172"/>
          <p:cNvSpPr/>
          <p:nvPr/>
        </p:nvSpPr>
        <p:spPr>
          <a:xfrm flipV="1">
            <a:off x="2180273" y="4211183"/>
            <a:ext cx="94297" cy="23294"/>
          </a:xfrm>
          <a:prstGeom prst="line">
            <a:avLst/>
          </a:prstGeom>
          <a:noFill/>
          <a:ln w="25400">
            <a:solidFill>
              <a:srgbClr val="2F4F9E"/>
            </a:solidFill>
            <a:prstDash val="solid"/>
          </a:ln>
        </p:spPr>
      </p:sp>
      <p:sp>
        <p:nvSpPr>
          <p:cNvPr id="175" name="Shape 173"/>
          <p:cNvSpPr/>
          <p:nvPr/>
        </p:nvSpPr>
        <p:spPr>
          <a:xfrm flipV="1">
            <a:off x="2274570" y="4191100"/>
            <a:ext cx="94298" cy="20083"/>
          </a:xfrm>
          <a:prstGeom prst="line">
            <a:avLst/>
          </a:prstGeom>
          <a:noFill/>
          <a:ln w="25400">
            <a:solidFill>
              <a:srgbClr val="2F4F9E"/>
            </a:solidFill>
            <a:prstDash val="solid"/>
          </a:ln>
        </p:spPr>
      </p:sp>
      <p:sp>
        <p:nvSpPr>
          <p:cNvPr id="176" name="Shape 174"/>
          <p:cNvSpPr/>
          <p:nvPr/>
        </p:nvSpPr>
        <p:spPr>
          <a:xfrm flipV="1">
            <a:off x="2368868" y="4172982"/>
            <a:ext cx="94297" cy="18118"/>
          </a:xfrm>
          <a:prstGeom prst="line">
            <a:avLst/>
          </a:prstGeom>
          <a:noFill/>
          <a:ln w="25400">
            <a:solidFill>
              <a:srgbClr val="2F4F9E"/>
            </a:solidFill>
            <a:prstDash val="solid"/>
          </a:ln>
        </p:spPr>
      </p:sp>
      <p:sp>
        <p:nvSpPr>
          <p:cNvPr id="177" name="Shape 175"/>
          <p:cNvSpPr/>
          <p:nvPr/>
        </p:nvSpPr>
        <p:spPr>
          <a:xfrm flipV="1">
            <a:off x="2463165" y="4155584"/>
            <a:ext cx="94297" cy="17398"/>
          </a:xfrm>
          <a:prstGeom prst="line">
            <a:avLst/>
          </a:prstGeom>
          <a:noFill/>
          <a:ln w="25400">
            <a:solidFill>
              <a:srgbClr val="2F4F9E"/>
            </a:solidFill>
            <a:prstDash val="solid"/>
          </a:ln>
        </p:spPr>
      </p:sp>
      <p:sp>
        <p:nvSpPr>
          <p:cNvPr id="178" name="Shape 176"/>
          <p:cNvSpPr/>
          <p:nvPr/>
        </p:nvSpPr>
        <p:spPr>
          <a:xfrm flipV="1">
            <a:off x="2557463" y="4137660"/>
            <a:ext cx="94297" cy="17924"/>
          </a:xfrm>
          <a:prstGeom prst="line">
            <a:avLst/>
          </a:prstGeom>
          <a:noFill/>
          <a:ln w="25400">
            <a:solidFill>
              <a:srgbClr val="2F4F9E"/>
            </a:solidFill>
            <a:prstDash val="solid"/>
          </a:ln>
        </p:spPr>
      </p:sp>
      <p:sp>
        <p:nvSpPr>
          <p:cNvPr id="179" name="Shape 177"/>
          <p:cNvSpPr/>
          <p:nvPr/>
        </p:nvSpPr>
        <p:spPr>
          <a:xfrm flipV="1">
            <a:off x="2651760" y="4120123"/>
            <a:ext cx="94297" cy="17537"/>
          </a:xfrm>
          <a:prstGeom prst="line">
            <a:avLst/>
          </a:prstGeom>
          <a:noFill/>
          <a:ln w="25400">
            <a:solidFill>
              <a:srgbClr val="2F4F9E"/>
            </a:solidFill>
            <a:prstDash val="solid"/>
          </a:ln>
        </p:spPr>
      </p:sp>
      <p:sp>
        <p:nvSpPr>
          <p:cNvPr id="180" name="Shape 178"/>
          <p:cNvSpPr/>
          <p:nvPr/>
        </p:nvSpPr>
        <p:spPr>
          <a:xfrm flipV="1">
            <a:off x="2746058" y="4104552"/>
            <a:ext cx="94298" cy="15571"/>
          </a:xfrm>
          <a:prstGeom prst="line">
            <a:avLst/>
          </a:prstGeom>
          <a:noFill/>
          <a:ln w="25400">
            <a:solidFill>
              <a:srgbClr val="2F4F9E"/>
            </a:solidFill>
            <a:prstDash val="solid"/>
          </a:ln>
        </p:spPr>
      </p:sp>
      <p:sp>
        <p:nvSpPr>
          <p:cNvPr id="181" name="Shape 179"/>
          <p:cNvSpPr/>
          <p:nvPr/>
        </p:nvSpPr>
        <p:spPr>
          <a:xfrm flipV="1">
            <a:off x="2840355" y="4090697"/>
            <a:ext cx="94297" cy="13855"/>
          </a:xfrm>
          <a:prstGeom prst="line">
            <a:avLst/>
          </a:prstGeom>
          <a:noFill/>
          <a:ln w="25400">
            <a:solidFill>
              <a:srgbClr val="2F4F9E"/>
            </a:solidFill>
            <a:prstDash val="solid"/>
          </a:ln>
        </p:spPr>
      </p:sp>
      <p:sp>
        <p:nvSpPr>
          <p:cNvPr id="182" name="Shape 180"/>
          <p:cNvSpPr/>
          <p:nvPr/>
        </p:nvSpPr>
        <p:spPr>
          <a:xfrm flipV="1">
            <a:off x="2934653" y="4078310"/>
            <a:ext cx="94297" cy="12388"/>
          </a:xfrm>
          <a:prstGeom prst="line">
            <a:avLst/>
          </a:prstGeom>
          <a:noFill/>
          <a:ln w="25400">
            <a:solidFill>
              <a:srgbClr val="2F4F9E"/>
            </a:solidFill>
            <a:prstDash val="solid"/>
          </a:ln>
        </p:spPr>
      </p:sp>
      <p:sp>
        <p:nvSpPr>
          <p:cNvPr id="183" name="Shape 181"/>
          <p:cNvSpPr/>
          <p:nvPr/>
        </p:nvSpPr>
        <p:spPr>
          <a:xfrm flipV="1">
            <a:off x="3028950" y="4067140"/>
            <a:ext cx="94297" cy="11170"/>
          </a:xfrm>
          <a:prstGeom prst="line">
            <a:avLst/>
          </a:prstGeom>
          <a:noFill/>
          <a:ln w="25400">
            <a:solidFill>
              <a:srgbClr val="2F4F9E"/>
            </a:solidFill>
            <a:prstDash val="solid"/>
          </a:ln>
        </p:spPr>
      </p:sp>
      <p:sp>
        <p:nvSpPr>
          <p:cNvPr id="184" name="Shape 182"/>
          <p:cNvSpPr/>
          <p:nvPr/>
        </p:nvSpPr>
        <p:spPr>
          <a:xfrm flipV="1">
            <a:off x="3123248" y="4056939"/>
            <a:ext cx="94297" cy="10201"/>
          </a:xfrm>
          <a:prstGeom prst="line">
            <a:avLst/>
          </a:prstGeom>
          <a:noFill/>
          <a:ln w="25400">
            <a:solidFill>
              <a:srgbClr val="2F4F9E"/>
            </a:solidFill>
            <a:prstDash val="solid"/>
          </a:ln>
        </p:spPr>
      </p:sp>
      <p:sp>
        <p:nvSpPr>
          <p:cNvPr id="185" name="Shape 183"/>
          <p:cNvSpPr/>
          <p:nvPr/>
        </p:nvSpPr>
        <p:spPr>
          <a:xfrm flipV="1">
            <a:off x="3217545" y="4047458"/>
            <a:ext cx="94298" cy="9481"/>
          </a:xfrm>
          <a:prstGeom prst="line">
            <a:avLst/>
          </a:prstGeom>
          <a:noFill/>
          <a:ln w="25400">
            <a:solidFill>
              <a:srgbClr val="2F4F9E"/>
            </a:solidFill>
            <a:prstDash val="solid"/>
          </a:ln>
        </p:spPr>
      </p:sp>
      <p:sp>
        <p:nvSpPr>
          <p:cNvPr id="186" name="Shape 184"/>
          <p:cNvSpPr/>
          <p:nvPr/>
        </p:nvSpPr>
        <p:spPr>
          <a:xfrm flipV="1">
            <a:off x="3311843" y="4038448"/>
            <a:ext cx="94297" cy="9011"/>
          </a:xfrm>
          <a:prstGeom prst="line">
            <a:avLst/>
          </a:prstGeom>
          <a:noFill/>
          <a:ln w="25400">
            <a:solidFill>
              <a:srgbClr val="2F4F9E"/>
            </a:solidFill>
            <a:prstDash val="solid"/>
          </a:ln>
        </p:spPr>
      </p:sp>
      <p:sp>
        <p:nvSpPr>
          <p:cNvPr id="187" name="Shape 185"/>
          <p:cNvSpPr/>
          <p:nvPr/>
        </p:nvSpPr>
        <p:spPr>
          <a:xfrm flipV="1">
            <a:off x="3406140" y="4030129"/>
            <a:ext cx="94298" cy="8318"/>
          </a:xfrm>
          <a:prstGeom prst="line">
            <a:avLst/>
          </a:prstGeom>
          <a:noFill/>
          <a:ln w="25400">
            <a:solidFill>
              <a:srgbClr val="2F4F9E"/>
            </a:solidFill>
            <a:prstDash val="solid"/>
          </a:ln>
        </p:spPr>
      </p:sp>
      <p:sp>
        <p:nvSpPr>
          <p:cNvPr id="188" name="Shape 186"/>
          <p:cNvSpPr/>
          <p:nvPr/>
        </p:nvSpPr>
        <p:spPr>
          <a:xfrm flipV="1">
            <a:off x="3500438" y="4022835"/>
            <a:ext cx="94297" cy="7294"/>
          </a:xfrm>
          <a:prstGeom prst="line">
            <a:avLst/>
          </a:prstGeom>
          <a:noFill/>
          <a:ln w="25400">
            <a:solidFill>
              <a:srgbClr val="2F4F9E"/>
            </a:solidFill>
            <a:prstDash val="solid"/>
          </a:ln>
        </p:spPr>
      </p:sp>
      <p:sp>
        <p:nvSpPr>
          <p:cNvPr id="189" name="Shape 187"/>
          <p:cNvSpPr/>
          <p:nvPr/>
        </p:nvSpPr>
        <p:spPr>
          <a:xfrm flipV="1">
            <a:off x="3594735" y="4016482"/>
            <a:ext cx="94298" cy="6353"/>
          </a:xfrm>
          <a:prstGeom prst="line">
            <a:avLst/>
          </a:prstGeom>
          <a:noFill/>
          <a:ln w="25400">
            <a:solidFill>
              <a:srgbClr val="2F4F9E"/>
            </a:solidFill>
            <a:prstDash val="solid"/>
          </a:ln>
        </p:spPr>
      </p:sp>
      <p:sp>
        <p:nvSpPr>
          <p:cNvPr id="190" name="Shape 188"/>
          <p:cNvSpPr/>
          <p:nvPr/>
        </p:nvSpPr>
        <p:spPr>
          <a:xfrm flipV="1">
            <a:off x="3689033" y="4010987"/>
            <a:ext cx="94297" cy="5495"/>
          </a:xfrm>
          <a:prstGeom prst="line">
            <a:avLst/>
          </a:prstGeom>
          <a:noFill/>
          <a:ln w="25400">
            <a:solidFill>
              <a:srgbClr val="2F4F9E"/>
            </a:solidFill>
            <a:prstDash val="solid"/>
          </a:ln>
        </p:spPr>
      </p:sp>
      <p:sp>
        <p:nvSpPr>
          <p:cNvPr id="191" name="Shape 189"/>
          <p:cNvSpPr/>
          <p:nvPr/>
        </p:nvSpPr>
        <p:spPr>
          <a:xfrm flipV="1">
            <a:off x="3783330" y="4006267"/>
            <a:ext cx="94297" cy="4720"/>
          </a:xfrm>
          <a:prstGeom prst="line">
            <a:avLst/>
          </a:prstGeom>
          <a:noFill/>
          <a:ln w="25400">
            <a:solidFill>
              <a:srgbClr val="2F4F9E"/>
            </a:solidFill>
            <a:prstDash val="solid"/>
          </a:ln>
        </p:spPr>
      </p:sp>
      <p:sp>
        <p:nvSpPr>
          <p:cNvPr id="192" name="Shape 190"/>
          <p:cNvSpPr/>
          <p:nvPr/>
        </p:nvSpPr>
        <p:spPr>
          <a:xfrm flipV="1">
            <a:off x="3877627" y="4002240"/>
            <a:ext cx="94298" cy="4028"/>
          </a:xfrm>
          <a:prstGeom prst="line">
            <a:avLst/>
          </a:prstGeom>
          <a:noFill/>
          <a:ln w="25400">
            <a:solidFill>
              <a:srgbClr val="2F4F9E"/>
            </a:solidFill>
            <a:prstDash val="solid"/>
          </a:ln>
        </p:spPr>
      </p:sp>
      <p:sp>
        <p:nvSpPr>
          <p:cNvPr id="193" name="Shape 191"/>
          <p:cNvSpPr/>
          <p:nvPr/>
        </p:nvSpPr>
        <p:spPr>
          <a:xfrm flipV="1">
            <a:off x="3971925" y="3998821"/>
            <a:ext cx="94298" cy="3419"/>
          </a:xfrm>
          <a:prstGeom prst="line">
            <a:avLst/>
          </a:prstGeom>
          <a:noFill/>
          <a:ln w="25400">
            <a:solidFill>
              <a:srgbClr val="2F4F9E"/>
            </a:solidFill>
            <a:prstDash val="solid"/>
          </a:ln>
        </p:spPr>
      </p:sp>
      <p:sp>
        <p:nvSpPr>
          <p:cNvPr id="194" name="Shape 192"/>
          <p:cNvSpPr/>
          <p:nvPr/>
        </p:nvSpPr>
        <p:spPr>
          <a:xfrm flipV="1">
            <a:off x="4066223" y="3995928"/>
            <a:ext cx="94297" cy="2893"/>
          </a:xfrm>
          <a:prstGeom prst="line">
            <a:avLst/>
          </a:prstGeom>
          <a:noFill/>
          <a:ln w="25400">
            <a:solidFill>
              <a:srgbClr val="2F4F9E"/>
            </a:solidFill>
            <a:prstDash val="solid"/>
          </a:ln>
        </p:spPr>
      </p:sp>
      <p:sp>
        <p:nvSpPr>
          <p:cNvPr id="195" name="Shape 193"/>
          <p:cNvSpPr/>
          <p:nvPr/>
        </p:nvSpPr>
        <p:spPr>
          <a:xfrm flipV="1">
            <a:off x="4160520" y="3993893"/>
            <a:ext cx="94298" cy="2035"/>
          </a:xfrm>
          <a:prstGeom prst="line">
            <a:avLst/>
          </a:prstGeom>
          <a:noFill/>
          <a:ln w="25400">
            <a:solidFill>
              <a:srgbClr val="2F4F9E"/>
            </a:solidFill>
            <a:prstDash val="solid"/>
          </a:ln>
        </p:spPr>
      </p:sp>
      <p:sp>
        <p:nvSpPr>
          <p:cNvPr id="196" name="Shape 194"/>
          <p:cNvSpPr/>
          <p:nvPr/>
        </p:nvSpPr>
        <p:spPr>
          <a:xfrm flipV="1">
            <a:off x="4254818" y="3992938"/>
            <a:ext cx="94297" cy="955"/>
          </a:xfrm>
          <a:prstGeom prst="line">
            <a:avLst/>
          </a:prstGeom>
          <a:noFill/>
          <a:ln w="25400">
            <a:solidFill>
              <a:srgbClr val="2F4F9E"/>
            </a:solidFill>
            <a:prstDash val="solid"/>
          </a:ln>
        </p:spPr>
      </p:sp>
      <p:sp>
        <p:nvSpPr>
          <p:cNvPr id="197" name="Shape 195"/>
          <p:cNvSpPr/>
          <p:nvPr/>
        </p:nvSpPr>
        <p:spPr>
          <a:xfrm flipV="1">
            <a:off x="4349115" y="3992814"/>
            <a:ext cx="94298" cy="125"/>
          </a:xfrm>
          <a:prstGeom prst="line">
            <a:avLst/>
          </a:prstGeom>
          <a:noFill/>
          <a:ln w="25400">
            <a:solidFill>
              <a:srgbClr val="2F4F9E"/>
            </a:solidFill>
            <a:prstDash val="solid"/>
          </a:ln>
        </p:spPr>
      </p:sp>
      <p:sp>
        <p:nvSpPr>
          <p:cNvPr id="198" name="Shape 196"/>
          <p:cNvSpPr/>
          <p:nvPr/>
        </p:nvSpPr>
        <p:spPr>
          <a:xfrm>
            <a:off x="4443413" y="3992814"/>
            <a:ext cx="94298" cy="457"/>
          </a:xfrm>
          <a:prstGeom prst="line">
            <a:avLst/>
          </a:prstGeom>
          <a:noFill/>
          <a:ln w="25400">
            <a:solidFill>
              <a:srgbClr val="2F4F9E"/>
            </a:solidFill>
            <a:prstDash val="solid"/>
          </a:ln>
        </p:spPr>
      </p:sp>
      <p:sp>
        <p:nvSpPr>
          <p:cNvPr id="199" name="Shape 197"/>
          <p:cNvSpPr/>
          <p:nvPr/>
        </p:nvSpPr>
        <p:spPr>
          <a:xfrm>
            <a:off x="4537710" y="3993271"/>
            <a:ext cx="94298" cy="789"/>
          </a:xfrm>
          <a:prstGeom prst="line">
            <a:avLst/>
          </a:prstGeom>
          <a:noFill/>
          <a:ln w="25400">
            <a:solidFill>
              <a:srgbClr val="2F4F9E"/>
            </a:solidFill>
            <a:prstDash val="solid"/>
          </a:ln>
        </p:spPr>
      </p:sp>
      <p:sp>
        <p:nvSpPr>
          <p:cNvPr id="200" name="Shape 198"/>
          <p:cNvSpPr/>
          <p:nvPr/>
        </p:nvSpPr>
        <p:spPr>
          <a:xfrm>
            <a:off x="4632008" y="3994059"/>
            <a:ext cx="94297" cy="872"/>
          </a:xfrm>
          <a:prstGeom prst="line">
            <a:avLst/>
          </a:prstGeom>
          <a:noFill/>
          <a:ln w="25400">
            <a:solidFill>
              <a:srgbClr val="2F4F9E"/>
            </a:solidFill>
            <a:prstDash val="solid"/>
          </a:ln>
        </p:spPr>
      </p:sp>
      <p:sp>
        <p:nvSpPr>
          <p:cNvPr id="201" name="Shape 199"/>
          <p:cNvSpPr/>
          <p:nvPr/>
        </p:nvSpPr>
        <p:spPr>
          <a:xfrm>
            <a:off x="4726305" y="3994931"/>
            <a:ext cx="94298" cy="706"/>
          </a:xfrm>
          <a:prstGeom prst="line">
            <a:avLst/>
          </a:prstGeom>
          <a:noFill/>
          <a:ln w="25400">
            <a:solidFill>
              <a:srgbClr val="2F4F9E"/>
            </a:solidFill>
            <a:prstDash val="solid"/>
          </a:ln>
        </p:spPr>
      </p:sp>
      <p:sp>
        <p:nvSpPr>
          <p:cNvPr id="202" name="Shape 200"/>
          <p:cNvSpPr/>
          <p:nvPr/>
        </p:nvSpPr>
        <p:spPr>
          <a:xfrm>
            <a:off x="4820603" y="3995637"/>
            <a:ext cx="94297" cy="291"/>
          </a:xfrm>
          <a:prstGeom prst="line">
            <a:avLst/>
          </a:prstGeom>
          <a:noFill/>
          <a:ln w="25400">
            <a:solidFill>
              <a:srgbClr val="2F4F9E"/>
            </a:solidFill>
            <a:prstDash val="solid"/>
          </a:ln>
        </p:spPr>
      </p:sp>
      <p:sp>
        <p:nvSpPr>
          <p:cNvPr id="203" name="Shape 201"/>
          <p:cNvSpPr/>
          <p:nvPr/>
        </p:nvSpPr>
        <p:spPr>
          <a:xfrm>
            <a:off x="4914900" y="3995928"/>
            <a:ext cx="99454" cy="91"/>
          </a:xfrm>
          <a:prstGeom prst="line">
            <a:avLst/>
          </a:prstGeom>
          <a:noFill/>
          <a:ln w="25400">
            <a:solidFill>
              <a:srgbClr val="2F4F9E"/>
            </a:solidFill>
            <a:prstDash val="solid"/>
          </a:ln>
        </p:spPr>
      </p:sp>
      <p:sp>
        <p:nvSpPr>
          <p:cNvPr id="204" name="Shape 202"/>
          <p:cNvSpPr/>
          <p:nvPr/>
        </p:nvSpPr>
        <p:spPr>
          <a:xfrm>
            <a:off x="5014354" y="3995928"/>
            <a:ext cx="106821" cy="91"/>
          </a:xfrm>
          <a:prstGeom prst="line">
            <a:avLst/>
          </a:prstGeom>
          <a:noFill/>
          <a:ln w="25400">
            <a:solidFill>
              <a:srgbClr val="2F4F9E"/>
            </a:solidFill>
            <a:prstDash val="solid"/>
          </a:ln>
        </p:spPr>
      </p:sp>
      <p:sp>
        <p:nvSpPr>
          <p:cNvPr id="205" name="Shape 203"/>
          <p:cNvSpPr/>
          <p:nvPr/>
        </p:nvSpPr>
        <p:spPr>
          <a:xfrm>
            <a:off x="5121176" y="3995928"/>
            <a:ext cx="109768" cy="91"/>
          </a:xfrm>
          <a:prstGeom prst="line">
            <a:avLst/>
          </a:prstGeom>
          <a:noFill/>
          <a:ln w="25400">
            <a:solidFill>
              <a:srgbClr val="2F4F9E"/>
            </a:solidFill>
            <a:prstDash val="solid"/>
          </a:ln>
        </p:spPr>
      </p:sp>
      <p:sp>
        <p:nvSpPr>
          <p:cNvPr id="206" name="Shape 204"/>
          <p:cNvSpPr/>
          <p:nvPr/>
        </p:nvSpPr>
        <p:spPr>
          <a:xfrm>
            <a:off x="5230944" y="3995928"/>
            <a:ext cx="108295" cy="91"/>
          </a:xfrm>
          <a:prstGeom prst="line">
            <a:avLst/>
          </a:prstGeom>
          <a:noFill/>
          <a:ln w="25400">
            <a:solidFill>
              <a:srgbClr val="2F4F9E"/>
            </a:solidFill>
            <a:prstDash val="solid"/>
          </a:ln>
        </p:spPr>
      </p:sp>
      <p:sp>
        <p:nvSpPr>
          <p:cNvPr id="207" name="Shape 205"/>
          <p:cNvSpPr/>
          <p:nvPr/>
        </p:nvSpPr>
        <p:spPr>
          <a:xfrm>
            <a:off x="5339239" y="3995928"/>
            <a:ext cx="102401" cy="91"/>
          </a:xfrm>
          <a:prstGeom prst="line">
            <a:avLst/>
          </a:prstGeom>
          <a:noFill/>
          <a:ln w="25400">
            <a:solidFill>
              <a:srgbClr val="2F4F9E"/>
            </a:solidFill>
            <a:prstDash val="solid"/>
          </a:ln>
        </p:spPr>
      </p:sp>
      <p:sp>
        <p:nvSpPr>
          <p:cNvPr id="208" name="Shape 206"/>
          <p:cNvSpPr/>
          <p:nvPr/>
        </p:nvSpPr>
        <p:spPr>
          <a:xfrm>
            <a:off x="5441640" y="3995928"/>
            <a:ext cx="92087" cy="91"/>
          </a:xfrm>
          <a:prstGeom prst="line">
            <a:avLst/>
          </a:prstGeom>
          <a:noFill/>
          <a:ln w="25400">
            <a:solidFill>
              <a:srgbClr val="2F4F9E"/>
            </a:solidFill>
            <a:prstDash val="solid"/>
          </a:ln>
        </p:spPr>
      </p:sp>
      <p:sp>
        <p:nvSpPr>
          <p:cNvPr id="209" name="Shape 207"/>
          <p:cNvSpPr/>
          <p:nvPr/>
        </p:nvSpPr>
        <p:spPr>
          <a:xfrm>
            <a:off x="5533727" y="3995928"/>
            <a:ext cx="77353" cy="91"/>
          </a:xfrm>
          <a:prstGeom prst="line">
            <a:avLst/>
          </a:prstGeom>
          <a:noFill/>
          <a:ln w="25400">
            <a:solidFill>
              <a:srgbClr val="2F4F9E"/>
            </a:solidFill>
            <a:prstDash val="solid"/>
          </a:ln>
        </p:spPr>
      </p:sp>
      <p:sp>
        <p:nvSpPr>
          <p:cNvPr id="210" name="Shape 208"/>
          <p:cNvSpPr/>
          <p:nvPr/>
        </p:nvSpPr>
        <p:spPr>
          <a:xfrm>
            <a:off x="5611081" y="3995928"/>
            <a:ext cx="58199" cy="91"/>
          </a:xfrm>
          <a:prstGeom prst="line">
            <a:avLst/>
          </a:prstGeom>
          <a:noFill/>
          <a:ln w="25400">
            <a:solidFill>
              <a:srgbClr val="2F4F9E"/>
            </a:solidFill>
            <a:prstDash val="solid"/>
          </a:ln>
        </p:spPr>
      </p:sp>
      <p:sp>
        <p:nvSpPr>
          <p:cNvPr id="211" name="Shape 209"/>
          <p:cNvSpPr/>
          <p:nvPr/>
        </p:nvSpPr>
        <p:spPr>
          <a:xfrm>
            <a:off x="1143000" y="3429000"/>
            <a:ext cx="58199" cy="20748"/>
          </a:xfrm>
          <a:prstGeom prst="line">
            <a:avLst/>
          </a:prstGeom>
          <a:noFill/>
          <a:ln w="25400">
            <a:solidFill>
              <a:srgbClr val="B8730A"/>
            </a:solidFill>
            <a:prstDash val="solid"/>
          </a:ln>
        </p:spPr>
      </p:sp>
      <p:sp>
        <p:nvSpPr>
          <p:cNvPr id="212" name="Shape 210"/>
          <p:cNvSpPr/>
          <p:nvPr/>
        </p:nvSpPr>
        <p:spPr>
          <a:xfrm>
            <a:off x="1201199" y="3449748"/>
            <a:ext cx="77353" cy="28748"/>
          </a:xfrm>
          <a:prstGeom prst="line">
            <a:avLst/>
          </a:prstGeom>
          <a:noFill/>
          <a:ln w="25400">
            <a:solidFill>
              <a:srgbClr val="B8730A"/>
            </a:solidFill>
            <a:prstDash val="solid"/>
          </a:ln>
        </p:spPr>
      </p:sp>
      <p:sp>
        <p:nvSpPr>
          <p:cNvPr id="213" name="Shape 211"/>
          <p:cNvSpPr/>
          <p:nvPr/>
        </p:nvSpPr>
        <p:spPr>
          <a:xfrm>
            <a:off x="1278553" y="3478495"/>
            <a:ext cx="92087" cy="34340"/>
          </a:xfrm>
          <a:prstGeom prst="line">
            <a:avLst/>
          </a:prstGeom>
          <a:noFill/>
          <a:ln w="25400">
            <a:solidFill>
              <a:srgbClr val="B8730A"/>
            </a:solidFill>
            <a:prstDash val="solid"/>
          </a:ln>
        </p:spPr>
      </p:sp>
      <p:sp>
        <p:nvSpPr>
          <p:cNvPr id="214" name="Shape 212"/>
          <p:cNvSpPr/>
          <p:nvPr/>
        </p:nvSpPr>
        <p:spPr>
          <a:xfrm>
            <a:off x="1370640" y="3512835"/>
            <a:ext cx="102401" cy="37523"/>
          </a:xfrm>
          <a:prstGeom prst="line">
            <a:avLst/>
          </a:prstGeom>
          <a:noFill/>
          <a:ln w="25400">
            <a:solidFill>
              <a:srgbClr val="B8730A"/>
            </a:solidFill>
            <a:prstDash val="solid"/>
          </a:ln>
        </p:spPr>
      </p:sp>
      <p:sp>
        <p:nvSpPr>
          <p:cNvPr id="215" name="Shape 213"/>
          <p:cNvSpPr/>
          <p:nvPr/>
        </p:nvSpPr>
        <p:spPr>
          <a:xfrm>
            <a:off x="1473041" y="3550358"/>
            <a:ext cx="108295" cy="38298"/>
          </a:xfrm>
          <a:prstGeom prst="line">
            <a:avLst/>
          </a:prstGeom>
          <a:noFill/>
          <a:ln w="25400">
            <a:solidFill>
              <a:srgbClr val="B8730A"/>
            </a:solidFill>
            <a:prstDash val="solid"/>
          </a:ln>
        </p:spPr>
      </p:sp>
      <p:sp>
        <p:nvSpPr>
          <p:cNvPr id="216" name="Shape 214"/>
          <p:cNvSpPr/>
          <p:nvPr/>
        </p:nvSpPr>
        <p:spPr>
          <a:xfrm>
            <a:off x="1581336" y="3588656"/>
            <a:ext cx="109768" cy="36665"/>
          </a:xfrm>
          <a:prstGeom prst="line">
            <a:avLst/>
          </a:prstGeom>
          <a:noFill/>
          <a:ln w="25400">
            <a:solidFill>
              <a:srgbClr val="B8730A"/>
            </a:solidFill>
            <a:prstDash val="solid"/>
          </a:ln>
        </p:spPr>
      </p:sp>
      <p:sp>
        <p:nvSpPr>
          <p:cNvPr id="217" name="Shape 215"/>
          <p:cNvSpPr/>
          <p:nvPr/>
        </p:nvSpPr>
        <p:spPr>
          <a:xfrm>
            <a:off x="1691104" y="3625321"/>
            <a:ext cx="106821" cy="32623"/>
          </a:xfrm>
          <a:prstGeom prst="line">
            <a:avLst/>
          </a:prstGeom>
          <a:noFill/>
          <a:ln w="25400">
            <a:solidFill>
              <a:srgbClr val="B8730A"/>
            </a:solidFill>
            <a:prstDash val="solid"/>
          </a:ln>
        </p:spPr>
      </p:sp>
      <p:sp>
        <p:nvSpPr>
          <p:cNvPr id="218" name="Shape 216"/>
          <p:cNvSpPr/>
          <p:nvPr/>
        </p:nvSpPr>
        <p:spPr>
          <a:xfrm>
            <a:off x="1797926" y="3657944"/>
            <a:ext cx="99454" cy="26173"/>
          </a:xfrm>
          <a:prstGeom prst="line">
            <a:avLst/>
          </a:prstGeom>
          <a:noFill/>
          <a:ln w="25400">
            <a:solidFill>
              <a:srgbClr val="B8730A"/>
            </a:solidFill>
            <a:prstDash val="solid"/>
          </a:ln>
        </p:spPr>
      </p:sp>
      <p:sp>
        <p:nvSpPr>
          <p:cNvPr id="219" name="Shape 217"/>
          <p:cNvSpPr/>
          <p:nvPr/>
        </p:nvSpPr>
        <p:spPr>
          <a:xfrm>
            <a:off x="1897380" y="3684118"/>
            <a:ext cx="94297" cy="20201"/>
          </a:xfrm>
          <a:prstGeom prst="line">
            <a:avLst/>
          </a:prstGeom>
          <a:noFill/>
          <a:ln w="25400">
            <a:solidFill>
              <a:srgbClr val="B8730A"/>
            </a:solidFill>
            <a:prstDash val="solid"/>
          </a:ln>
        </p:spPr>
      </p:sp>
      <p:sp>
        <p:nvSpPr>
          <p:cNvPr id="220" name="Shape 218"/>
          <p:cNvSpPr/>
          <p:nvPr/>
        </p:nvSpPr>
        <p:spPr>
          <a:xfrm>
            <a:off x="1991678" y="3704319"/>
            <a:ext cx="94297" cy="16727"/>
          </a:xfrm>
          <a:prstGeom prst="line">
            <a:avLst/>
          </a:prstGeom>
          <a:noFill/>
          <a:ln w="25400">
            <a:solidFill>
              <a:srgbClr val="B8730A"/>
            </a:solidFill>
            <a:prstDash val="solid"/>
          </a:ln>
        </p:spPr>
      </p:sp>
      <p:sp>
        <p:nvSpPr>
          <p:cNvPr id="221" name="Shape 219"/>
          <p:cNvSpPr/>
          <p:nvPr/>
        </p:nvSpPr>
        <p:spPr>
          <a:xfrm>
            <a:off x="2085975" y="3721045"/>
            <a:ext cx="94297" cy="13876"/>
          </a:xfrm>
          <a:prstGeom prst="line">
            <a:avLst/>
          </a:prstGeom>
          <a:noFill/>
          <a:ln w="25400">
            <a:solidFill>
              <a:srgbClr val="B8730A"/>
            </a:solidFill>
            <a:prstDash val="solid"/>
          </a:ln>
        </p:spPr>
      </p:sp>
      <p:sp>
        <p:nvSpPr>
          <p:cNvPr id="222" name="Shape 220"/>
          <p:cNvSpPr/>
          <p:nvPr/>
        </p:nvSpPr>
        <p:spPr>
          <a:xfrm>
            <a:off x="2180273" y="3734921"/>
            <a:ext cx="94297" cy="11647"/>
          </a:xfrm>
          <a:prstGeom prst="line">
            <a:avLst/>
          </a:prstGeom>
          <a:noFill/>
          <a:ln w="25400">
            <a:solidFill>
              <a:srgbClr val="B8730A"/>
            </a:solidFill>
            <a:prstDash val="solid"/>
          </a:ln>
        </p:spPr>
      </p:sp>
      <p:sp>
        <p:nvSpPr>
          <p:cNvPr id="223" name="Shape 221"/>
          <p:cNvSpPr/>
          <p:nvPr/>
        </p:nvSpPr>
        <p:spPr>
          <a:xfrm>
            <a:off x="2274570" y="3746568"/>
            <a:ext cx="94298" cy="10042"/>
          </a:xfrm>
          <a:prstGeom prst="line">
            <a:avLst/>
          </a:prstGeom>
          <a:noFill/>
          <a:ln w="25400">
            <a:solidFill>
              <a:srgbClr val="B8730A"/>
            </a:solidFill>
            <a:prstDash val="solid"/>
          </a:ln>
        </p:spPr>
      </p:sp>
      <p:sp>
        <p:nvSpPr>
          <p:cNvPr id="224" name="Shape 222"/>
          <p:cNvSpPr/>
          <p:nvPr/>
        </p:nvSpPr>
        <p:spPr>
          <a:xfrm>
            <a:off x="2368868" y="3756610"/>
            <a:ext cx="94297" cy="9059"/>
          </a:xfrm>
          <a:prstGeom prst="line">
            <a:avLst/>
          </a:prstGeom>
          <a:noFill/>
          <a:ln w="25400">
            <a:solidFill>
              <a:srgbClr val="B8730A"/>
            </a:solidFill>
            <a:prstDash val="solid"/>
          </a:ln>
        </p:spPr>
      </p:sp>
      <p:sp>
        <p:nvSpPr>
          <p:cNvPr id="225" name="Shape 223"/>
          <p:cNvSpPr/>
          <p:nvPr/>
        </p:nvSpPr>
        <p:spPr>
          <a:xfrm>
            <a:off x="2463165" y="3765669"/>
            <a:ext cx="94297" cy="8699"/>
          </a:xfrm>
          <a:prstGeom prst="line">
            <a:avLst/>
          </a:prstGeom>
          <a:noFill/>
          <a:ln w="25400">
            <a:solidFill>
              <a:srgbClr val="B8730A"/>
            </a:solidFill>
            <a:prstDash val="solid"/>
          </a:ln>
        </p:spPr>
      </p:sp>
      <p:sp>
        <p:nvSpPr>
          <p:cNvPr id="226" name="Shape 224"/>
          <p:cNvSpPr/>
          <p:nvPr/>
        </p:nvSpPr>
        <p:spPr>
          <a:xfrm>
            <a:off x="2557463" y="3774368"/>
            <a:ext cx="94297" cy="8962"/>
          </a:xfrm>
          <a:prstGeom prst="line">
            <a:avLst/>
          </a:prstGeom>
          <a:noFill/>
          <a:ln w="25400">
            <a:solidFill>
              <a:srgbClr val="B8730A"/>
            </a:solidFill>
            <a:prstDash val="solid"/>
          </a:ln>
        </p:spPr>
      </p:sp>
      <p:sp>
        <p:nvSpPr>
          <p:cNvPr id="227" name="Shape 225"/>
          <p:cNvSpPr/>
          <p:nvPr/>
        </p:nvSpPr>
        <p:spPr>
          <a:xfrm>
            <a:off x="2651760" y="3783330"/>
            <a:ext cx="94297" cy="8768"/>
          </a:xfrm>
          <a:prstGeom prst="line">
            <a:avLst/>
          </a:prstGeom>
          <a:noFill/>
          <a:ln w="25400">
            <a:solidFill>
              <a:srgbClr val="B8730A"/>
            </a:solidFill>
            <a:prstDash val="solid"/>
          </a:ln>
        </p:spPr>
      </p:sp>
      <p:sp>
        <p:nvSpPr>
          <p:cNvPr id="228" name="Shape 226"/>
          <p:cNvSpPr/>
          <p:nvPr/>
        </p:nvSpPr>
        <p:spPr>
          <a:xfrm>
            <a:off x="2746058" y="3792098"/>
            <a:ext cx="94298" cy="7786"/>
          </a:xfrm>
          <a:prstGeom prst="line">
            <a:avLst/>
          </a:prstGeom>
          <a:noFill/>
          <a:ln w="25400">
            <a:solidFill>
              <a:srgbClr val="B8730A"/>
            </a:solidFill>
            <a:prstDash val="solid"/>
          </a:ln>
        </p:spPr>
      </p:sp>
      <p:sp>
        <p:nvSpPr>
          <p:cNvPr id="229" name="Shape 227"/>
          <p:cNvSpPr/>
          <p:nvPr/>
        </p:nvSpPr>
        <p:spPr>
          <a:xfrm>
            <a:off x="2840355" y="3799884"/>
            <a:ext cx="94297" cy="6927"/>
          </a:xfrm>
          <a:prstGeom prst="line">
            <a:avLst/>
          </a:prstGeom>
          <a:noFill/>
          <a:ln w="25400">
            <a:solidFill>
              <a:srgbClr val="B8730A"/>
            </a:solidFill>
            <a:prstDash val="solid"/>
          </a:ln>
        </p:spPr>
      </p:sp>
      <p:sp>
        <p:nvSpPr>
          <p:cNvPr id="230" name="Shape 228"/>
          <p:cNvSpPr/>
          <p:nvPr/>
        </p:nvSpPr>
        <p:spPr>
          <a:xfrm>
            <a:off x="2934653" y="3806811"/>
            <a:ext cx="94297" cy="6194"/>
          </a:xfrm>
          <a:prstGeom prst="line">
            <a:avLst/>
          </a:prstGeom>
          <a:noFill/>
          <a:ln w="25400">
            <a:solidFill>
              <a:srgbClr val="B8730A"/>
            </a:solidFill>
            <a:prstDash val="solid"/>
          </a:ln>
        </p:spPr>
      </p:sp>
      <p:sp>
        <p:nvSpPr>
          <p:cNvPr id="231" name="Shape 229"/>
          <p:cNvSpPr/>
          <p:nvPr/>
        </p:nvSpPr>
        <p:spPr>
          <a:xfrm>
            <a:off x="3028950" y="3813005"/>
            <a:ext cx="94297" cy="5585"/>
          </a:xfrm>
          <a:prstGeom prst="line">
            <a:avLst/>
          </a:prstGeom>
          <a:noFill/>
          <a:ln w="25400">
            <a:solidFill>
              <a:srgbClr val="B8730A"/>
            </a:solidFill>
            <a:prstDash val="solid"/>
          </a:ln>
        </p:spPr>
      </p:sp>
      <p:sp>
        <p:nvSpPr>
          <p:cNvPr id="232" name="Shape 230"/>
          <p:cNvSpPr/>
          <p:nvPr/>
        </p:nvSpPr>
        <p:spPr>
          <a:xfrm>
            <a:off x="3123248" y="3818590"/>
            <a:ext cx="94297" cy="5100"/>
          </a:xfrm>
          <a:prstGeom prst="line">
            <a:avLst/>
          </a:prstGeom>
          <a:noFill/>
          <a:ln w="25400">
            <a:solidFill>
              <a:srgbClr val="B8730A"/>
            </a:solidFill>
            <a:prstDash val="solid"/>
          </a:ln>
        </p:spPr>
      </p:sp>
      <p:sp>
        <p:nvSpPr>
          <p:cNvPr id="233" name="Shape 231"/>
          <p:cNvSpPr/>
          <p:nvPr/>
        </p:nvSpPr>
        <p:spPr>
          <a:xfrm>
            <a:off x="3217545" y="3823690"/>
            <a:ext cx="94298" cy="4741"/>
          </a:xfrm>
          <a:prstGeom prst="line">
            <a:avLst/>
          </a:prstGeom>
          <a:noFill/>
          <a:ln w="25400">
            <a:solidFill>
              <a:srgbClr val="B8730A"/>
            </a:solidFill>
            <a:prstDash val="solid"/>
          </a:ln>
        </p:spPr>
      </p:sp>
      <p:sp>
        <p:nvSpPr>
          <p:cNvPr id="234" name="Shape 232"/>
          <p:cNvSpPr/>
          <p:nvPr/>
        </p:nvSpPr>
        <p:spPr>
          <a:xfrm>
            <a:off x="3311843" y="3828431"/>
            <a:ext cx="94297" cy="4505"/>
          </a:xfrm>
          <a:prstGeom prst="line">
            <a:avLst/>
          </a:prstGeom>
          <a:noFill/>
          <a:ln w="25400">
            <a:solidFill>
              <a:srgbClr val="B8730A"/>
            </a:solidFill>
            <a:prstDash val="solid"/>
          </a:ln>
        </p:spPr>
      </p:sp>
      <p:sp>
        <p:nvSpPr>
          <p:cNvPr id="235" name="Shape 233"/>
          <p:cNvSpPr/>
          <p:nvPr/>
        </p:nvSpPr>
        <p:spPr>
          <a:xfrm>
            <a:off x="3406140" y="3832936"/>
            <a:ext cx="94298" cy="4159"/>
          </a:xfrm>
          <a:prstGeom prst="line">
            <a:avLst/>
          </a:prstGeom>
          <a:noFill/>
          <a:ln w="25400">
            <a:solidFill>
              <a:srgbClr val="B8730A"/>
            </a:solidFill>
            <a:prstDash val="solid"/>
          </a:ln>
        </p:spPr>
      </p:sp>
      <p:sp>
        <p:nvSpPr>
          <p:cNvPr id="236" name="Shape 234"/>
          <p:cNvSpPr/>
          <p:nvPr/>
        </p:nvSpPr>
        <p:spPr>
          <a:xfrm>
            <a:off x="3500438" y="3837095"/>
            <a:ext cx="94297" cy="3647"/>
          </a:xfrm>
          <a:prstGeom prst="line">
            <a:avLst/>
          </a:prstGeom>
          <a:noFill/>
          <a:ln w="25400">
            <a:solidFill>
              <a:srgbClr val="B8730A"/>
            </a:solidFill>
            <a:prstDash val="solid"/>
          </a:ln>
        </p:spPr>
      </p:sp>
      <p:sp>
        <p:nvSpPr>
          <p:cNvPr id="237" name="Shape 235"/>
          <p:cNvSpPr/>
          <p:nvPr/>
        </p:nvSpPr>
        <p:spPr>
          <a:xfrm>
            <a:off x="3594735" y="3840743"/>
            <a:ext cx="94298" cy="3177"/>
          </a:xfrm>
          <a:prstGeom prst="line">
            <a:avLst/>
          </a:prstGeom>
          <a:noFill/>
          <a:ln w="25400">
            <a:solidFill>
              <a:srgbClr val="B8730A"/>
            </a:solidFill>
            <a:prstDash val="solid"/>
          </a:ln>
        </p:spPr>
      </p:sp>
      <p:sp>
        <p:nvSpPr>
          <p:cNvPr id="238" name="Shape 236"/>
          <p:cNvSpPr/>
          <p:nvPr/>
        </p:nvSpPr>
        <p:spPr>
          <a:xfrm>
            <a:off x="3689033" y="3843919"/>
            <a:ext cx="94297" cy="2747"/>
          </a:xfrm>
          <a:prstGeom prst="line">
            <a:avLst/>
          </a:prstGeom>
          <a:noFill/>
          <a:ln w="25400">
            <a:solidFill>
              <a:srgbClr val="B8730A"/>
            </a:solidFill>
            <a:prstDash val="solid"/>
          </a:ln>
        </p:spPr>
      </p:sp>
      <p:sp>
        <p:nvSpPr>
          <p:cNvPr id="239" name="Shape 237"/>
          <p:cNvSpPr/>
          <p:nvPr/>
        </p:nvSpPr>
        <p:spPr>
          <a:xfrm>
            <a:off x="3783330" y="3846666"/>
            <a:ext cx="94297" cy="2360"/>
          </a:xfrm>
          <a:prstGeom prst="line">
            <a:avLst/>
          </a:prstGeom>
          <a:noFill/>
          <a:ln w="25400">
            <a:solidFill>
              <a:srgbClr val="B8730A"/>
            </a:solidFill>
            <a:prstDash val="solid"/>
          </a:ln>
        </p:spPr>
      </p:sp>
      <p:sp>
        <p:nvSpPr>
          <p:cNvPr id="240" name="Shape 238"/>
          <p:cNvSpPr/>
          <p:nvPr/>
        </p:nvSpPr>
        <p:spPr>
          <a:xfrm>
            <a:off x="3877627" y="3849026"/>
            <a:ext cx="94298" cy="2014"/>
          </a:xfrm>
          <a:prstGeom prst="line">
            <a:avLst/>
          </a:prstGeom>
          <a:noFill/>
          <a:ln w="25400">
            <a:solidFill>
              <a:srgbClr val="B8730A"/>
            </a:solidFill>
            <a:prstDash val="solid"/>
          </a:ln>
        </p:spPr>
      </p:sp>
      <p:sp>
        <p:nvSpPr>
          <p:cNvPr id="241" name="Shape 239"/>
          <p:cNvSpPr/>
          <p:nvPr/>
        </p:nvSpPr>
        <p:spPr>
          <a:xfrm>
            <a:off x="3971925" y="3851040"/>
            <a:ext cx="94298" cy="1709"/>
          </a:xfrm>
          <a:prstGeom prst="line">
            <a:avLst/>
          </a:prstGeom>
          <a:noFill/>
          <a:ln w="25400">
            <a:solidFill>
              <a:srgbClr val="B8730A"/>
            </a:solidFill>
            <a:prstDash val="solid"/>
          </a:ln>
        </p:spPr>
      </p:sp>
      <p:sp>
        <p:nvSpPr>
          <p:cNvPr id="242" name="Shape 240"/>
          <p:cNvSpPr/>
          <p:nvPr/>
        </p:nvSpPr>
        <p:spPr>
          <a:xfrm>
            <a:off x="4066223" y="3852750"/>
            <a:ext cx="94297" cy="1446"/>
          </a:xfrm>
          <a:prstGeom prst="line">
            <a:avLst/>
          </a:prstGeom>
          <a:noFill/>
          <a:ln w="25400">
            <a:solidFill>
              <a:srgbClr val="B8730A"/>
            </a:solidFill>
            <a:prstDash val="solid"/>
          </a:ln>
        </p:spPr>
      </p:sp>
      <p:sp>
        <p:nvSpPr>
          <p:cNvPr id="243" name="Shape 241"/>
          <p:cNvSpPr/>
          <p:nvPr/>
        </p:nvSpPr>
        <p:spPr>
          <a:xfrm>
            <a:off x="4160520" y="3854196"/>
            <a:ext cx="94298" cy="1017"/>
          </a:xfrm>
          <a:prstGeom prst="line">
            <a:avLst/>
          </a:prstGeom>
          <a:noFill/>
          <a:ln w="25400">
            <a:solidFill>
              <a:srgbClr val="B8730A"/>
            </a:solidFill>
            <a:prstDash val="solid"/>
          </a:ln>
        </p:spPr>
      </p:sp>
      <p:sp>
        <p:nvSpPr>
          <p:cNvPr id="244" name="Shape 242"/>
          <p:cNvSpPr/>
          <p:nvPr/>
        </p:nvSpPr>
        <p:spPr>
          <a:xfrm>
            <a:off x="4254818" y="3855213"/>
            <a:ext cx="94297" cy="478"/>
          </a:xfrm>
          <a:prstGeom prst="line">
            <a:avLst/>
          </a:prstGeom>
          <a:noFill/>
          <a:ln w="25400">
            <a:solidFill>
              <a:srgbClr val="B8730A"/>
            </a:solidFill>
            <a:prstDash val="solid"/>
          </a:ln>
        </p:spPr>
      </p:sp>
      <p:sp>
        <p:nvSpPr>
          <p:cNvPr id="245" name="Shape 243"/>
          <p:cNvSpPr/>
          <p:nvPr/>
        </p:nvSpPr>
        <p:spPr>
          <a:xfrm>
            <a:off x="4349115" y="3855691"/>
            <a:ext cx="94298" cy="62"/>
          </a:xfrm>
          <a:prstGeom prst="line">
            <a:avLst/>
          </a:prstGeom>
          <a:noFill/>
          <a:ln w="25400">
            <a:solidFill>
              <a:srgbClr val="B8730A"/>
            </a:solidFill>
            <a:prstDash val="solid"/>
          </a:ln>
        </p:spPr>
      </p:sp>
      <p:sp>
        <p:nvSpPr>
          <p:cNvPr id="246" name="Shape 244"/>
          <p:cNvSpPr/>
          <p:nvPr/>
        </p:nvSpPr>
        <p:spPr>
          <a:xfrm flipV="1">
            <a:off x="4443413" y="3855525"/>
            <a:ext cx="94298" cy="228"/>
          </a:xfrm>
          <a:prstGeom prst="line">
            <a:avLst/>
          </a:prstGeom>
          <a:noFill/>
          <a:ln w="25400">
            <a:solidFill>
              <a:srgbClr val="B8730A"/>
            </a:solidFill>
            <a:prstDash val="solid"/>
          </a:ln>
        </p:spPr>
      </p:sp>
      <p:sp>
        <p:nvSpPr>
          <p:cNvPr id="247" name="Shape 245"/>
          <p:cNvSpPr/>
          <p:nvPr/>
        </p:nvSpPr>
        <p:spPr>
          <a:xfrm flipV="1">
            <a:off x="4537710" y="3855130"/>
            <a:ext cx="94298" cy="394"/>
          </a:xfrm>
          <a:prstGeom prst="line">
            <a:avLst/>
          </a:prstGeom>
          <a:noFill/>
          <a:ln w="25400">
            <a:solidFill>
              <a:srgbClr val="B8730A"/>
            </a:solidFill>
            <a:prstDash val="solid"/>
          </a:ln>
        </p:spPr>
      </p:sp>
      <p:sp>
        <p:nvSpPr>
          <p:cNvPr id="248" name="Shape 246"/>
          <p:cNvSpPr/>
          <p:nvPr/>
        </p:nvSpPr>
        <p:spPr>
          <a:xfrm flipV="1">
            <a:off x="4632008" y="3854694"/>
            <a:ext cx="94297" cy="436"/>
          </a:xfrm>
          <a:prstGeom prst="line">
            <a:avLst/>
          </a:prstGeom>
          <a:noFill/>
          <a:ln w="25400">
            <a:solidFill>
              <a:srgbClr val="B8730A"/>
            </a:solidFill>
            <a:prstDash val="solid"/>
          </a:ln>
        </p:spPr>
      </p:sp>
      <p:sp>
        <p:nvSpPr>
          <p:cNvPr id="249" name="Shape 247"/>
          <p:cNvSpPr/>
          <p:nvPr/>
        </p:nvSpPr>
        <p:spPr>
          <a:xfrm flipV="1">
            <a:off x="4726305" y="3854341"/>
            <a:ext cx="94298" cy="353"/>
          </a:xfrm>
          <a:prstGeom prst="line">
            <a:avLst/>
          </a:prstGeom>
          <a:noFill/>
          <a:ln w="25400">
            <a:solidFill>
              <a:srgbClr val="B8730A"/>
            </a:solidFill>
            <a:prstDash val="solid"/>
          </a:ln>
        </p:spPr>
      </p:sp>
      <p:sp>
        <p:nvSpPr>
          <p:cNvPr id="250" name="Shape 248"/>
          <p:cNvSpPr/>
          <p:nvPr/>
        </p:nvSpPr>
        <p:spPr>
          <a:xfrm flipV="1">
            <a:off x="4820603" y="3854196"/>
            <a:ext cx="94297" cy="145"/>
          </a:xfrm>
          <a:prstGeom prst="line">
            <a:avLst/>
          </a:prstGeom>
          <a:noFill/>
          <a:ln w="25400">
            <a:solidFill>
              <a:srgbClr val="B8730A"/>
            </a:solidFill>
            <a:prstDash val="solid"/>
          </a:ln>
        </p:spPr>
      </p:sp>
      <p:sp>
        <p:nvSpPr>
          <p:cNvPr id="251" name="Shape 249"/>
          <p:cNvSpPr/>
          <p:nvPr/>
        </p:nvSpPr>
        <p:spPr>
          <a:xfrm>
            <a:off x="4914900" y="3854196"/>
            <a:ext cx="99454" cy="91"/>
          </a:xfrm>
          <a:prstGeom prst="line">
            <a:avLst/>
          </a:prstGeom>
          <a:noFill/>
          <a:ln w="25400">
            <a:solidFill>
              <a:srgbClr val="B8730A"/>
            </a:solidFill>
            <a:prstDash val="solid"/>
          </a:ln>
        </p:spPr>
      </p:sp>
      <p:sp>
        <p:nvSpPr>
          <p:cNvPr id="252" name="Shape 250"/>
          <p:cNvSpPr/>
          <p:nvPr/>
        </p:nvSpPr>
        <p:spPr>
          <a:xfrm>
            <a:off x="5014354" y="3854196"/>
            <a:ext cx="106821" cy="91"/>
          </a:xfrm>
          <a:prstGeom prst="line">
            <a:avLst/>
          </a:prstGeom>
          <a:noFill/>
          <a:ln w="25400">
            <a:solidFill>
              <a:srgbClr val="B8730A"/>
            </a:solidFill>
            <a:prstDash val="solid"/>
          </a:ln>
        </p:spPr>
      </p:sp>
      <p:sp>
        <p:nvSpPr>
          <p:cNvPr id="253" name="Shape 251"/>
          <p:cNvSpPr/>
          <p:nvPr/>
        </p:nvSpPr>
        <p:spPr>
          <a:xfrm>
            <a:off x="5121176" y="3854196"/>
            <a:ext cx="109768" cy="91"/>
          </a:xfrm>
          <a:prstGeom prst="line">
            <a:avLst/>
          </a:prstGeom>
          <a:noFill/>
          <a:ln w="25400">
            <a:solidFill>
              <a:srgbClr val="B8730A"/>
            </a:solidFill>
            <a:prstDash val="solid"/>
          </a:ln>
        </p:spPr>
      </p:sp>
      <p:sp>
        <p:nvSpPr>
          <p:cNvPr id="254" name="Shape 252"/>
          <p:cNvSpPr/>
          <p:nvPr/>
        </p:nvSpPr>
        <p:spPr>
          <a:xfrm>
            <a:off x="5230944" y="3854196"/>
            <a:ext cx="108295" cy="91"/>
          </a:xfrm>
          <a:prstGeom prst="line">
            <a:avLst/>
          </a:prstGeom>
          <a:noFill/>
          <a:ln w="25400">
            <a:solidFill>
              <a:srgbClr val="B8730A"/>
            </a:solidFill>
            <a:prstDash val="solid"/>
          </a:ln>
        </p:spPr>
      </p:sp>
      <p:sp>
        <p:nvSpPr>
          <p:cNvPr id="255" name="Shape 253"/>
          <p:cNvSpPr/>
          <p:nvPr/>
        </p:nvSpPr>
        <p:spPr>
          <a:xfrm>
            <a:off x="5339239" y="3854196"/>
            <a:ext cx="102401" cy="91"/>
          </a:xfrm>
          <a:prstGeom prst="line">
            <a:avLst/>
          </a:prstGeom>
          <a:noFill/>
          <a:ln w="25400">
            <a:solidFill>
              <a:srgbClr val="B8730A"/>
            </a:solidFill>
            <a:prstDash val="solid"/>
          </a:ln>
        </p:spPr>
      </p:sp>
      <p:sp>
        <p:nvSpPr>
          <p:cNvPr id="256" name="Shape 254"/>
          <p:cNvSpPr/>
          <p:nvPr/>
        </p:nvSpPr>
        <p:spPr>
          <a:xfrm>
            <a:off x="5441640" y="3854196"/>
            <a:ext cx="92087" cy="91"/>
          </a:xfrm>
          <a:prstGeom prst="line">
            <a:avLst/>
          </a:prstGeom>
          <a:noFill/>
          <a:ln w="25400">
            <a:solidFill>
              <a:srgbClr val="B8730A"/>
            </a:solidFill>
            <a:prstDash val="solid"/>
          </a:ln>
        </p:spPr>
      </p:sp>
      <p:sp>
        <p:nvSpPr>
          <p:cNvPr id="257" name="Shape 255"/>
          <p:cNvSpPr/>
          <p:nvPr/>
        </p:nvSpPr>
        <p:spPr>
          <a:xfrm>
            <a:off x="5533727" y="3854196"/>
            <a:ext cx="77353" cy="91"/>
          </a:xfrm>
          <a:prstGeom prst="line">
            <a:avLst/>
          </a:prstGeom>
          <a:noFill/>
          <a:ln w="25400">
            <a:solidFill>
              <a:srgbClr val="B8730A"/>
            </a:solidFill>
            <a:prstDash val="solid"/>
          </a:ln>
        </p:spPr>
      </p:sp>
      <p:sp>
        <p:nvSpPr>
          <p:cNvPr id="258" name="Shape 256"/>
          <p:cNvSpPr/>
          <p:nvPr/>
        </p:nvSpPr>
        <p:spPr>
          <a:xfrm>
            <a:off x="5611081" y="3854196"/>
            <a:ext cx="58199" cy="91"/>
          </a:xfrm>
          <a:prstGeom prst="line">
            <a:avLst/>
          </a:prstGeom>
          <a:noFill/>
          <a:ln w="25400">
            <a:solidFill>
              <a:srgbClr val="B8730A"/>
            </a:solidFill>
            <a:prstDash val="solid"/>
          </a:ln>
        </p:spPr>
      </p:sp>
      <p:sp>
        <p:nvSpPr>
          <p:cNvPr id="259" name="Text 257"/>
          <p:cNvSpPr/>
          <p:nvPr/>
        </p:nvSpPr>
        <p:spPr>
          <a:xfrm>
            <a:off x="4537710" y="3578962"/>
            <a:ext cx="914400" cy="201168"/>
          </a:xfrm>
          <a:prstGeom prst="rect">
            <a:avLst/>
          </a:prstGeom>
          <a:noFill/>
          <a:ln/>
        </p:spPr>
        <p:txBody>
          <a:bodyPr wrap="square" lIns="0" tIns="0" rIns="0" bIns="0" rtlCol="0" anchor="ctr"/>
          <a:lstStyle/>
          <a:p>
            <a:pPr algn="ctr" indent="0" marL="0">
              <a:buNone/>
            </a:pPr>
            <a:r>
              <a:rPr lang="en-US" sz="1000" b="1" dirty="0">
                <a:solidFill>
                  <a:srgbClr val="B8730A"/>
                </a:solidFill>
                <a:latin typeface="Calibri" pitchFamily="34" charset="0"/>
                <a:ea typeface="Calibri" pitchFamily="34" charset="-122"/>
                <a:cs typeface="Calibri" pitchFamily="34" charset="-120"/>
              </a:rPr>
              <a:t>N₂</a:t>
            </a:r>
            <a:endParaRPr lang="en-US" sz="1000" dirty="0"/>
          </a:p>
        </p:txBody>
      </p:sp>
      <p:sp>
        <p:nvSpPr>
          <p:cNvPr id="260" name="Text 258"/>
          <p:cNvSpPr/>
          <p:nvPr/>
        </p:nvSpPr>
        <p:spPr>
          <a:xfrm>
            <a:off x="4537710" y="4023360"/>
            <a:ext cx="914400" cy="201168"/>
          </a:xfrm>
          <a:prstGeom prst="rect">
            <a:avLst/>
          </a:prstGeom>
          <a:noFill/>
          <a:ln/>
        </p:spPr>
        <p:txBody>
          <a:bodyPr wrap="square" lIns="0" tIns="0" rIns="0" bIns="0" rtlCol="0" anchor="ctr"/>
          <a:lstStyle/>
          <a:p>
            <a:pPr algn="ctr" indent="0" marL="0">
              <a:buNone/>
            </a:pPr>
            <a:r>
              <a:rPr lang="en-US" sz="1000" b="1" dirty="0">
                <a:solidFill>
                  <a:srgbClr val="2F4F9E"/>
                </a:solidFill>
                <a:latin typeface="Calibri" pitchFamily="34" charset="0"/>
                <a:ea typeface="Calibri" pitchFamily="34" charset="-122"/>
                <a:cs typeface="Calibri" pitchFamily="34" charset="-120"/>
              </a:rPr>
              <a:t>NH₃</a:t>
            </a:r>
            <a:endParaRPr lang="en-US" sz="1000" dirty="0"/>
          </a:p>
        </p:txBody>
      </p:sp>
      <p:sp>
        <p:nvSpPr>
          <p:cNvPr id="261" name="Shape 259"/>
          <p:cNvSpPr/>
          <p:nvPr/>
        </p:nvSpPr>
        <p:spPr>
          <a:xfrm>
            <a:off x="4160520" y="3429000"/>
            <a:ext cx="91" cy="1417320"/>
          </a:xfrm>
          <a:prstGeom prst="line">
            <a:avLst/>
          </a:prstGeom>
          <a:noFill/>
          <a:ln w="15875">
            <a:solidFill>
              <a:srgbClr val="2E8B57"/>
            </a:solidFill>
            <a:prstDash val="dash"/>
          </a:ln>
        </p:spPr>
      </p:sp>
      <p:sp>
        <p:nvSpPr>
          <p:cNvPr id="262" name="Shape 260"/>
          <p:cNvSpPr/>
          <p:nvPr/>
        </p:nvSpPr>
        <p:spPr>
          <a:xfrm>
            <a:off x="4160520" y="1417320"/>
            <a:ext cx="91" cy="1417320"/>
          </a:xfrm>
          <a:prstGeom prst="line">
            <a:avLst/>
          </a:prstGeom>
          <a:noFill/>
          <a:ln w="15875">
            <a:solidFill>
              <a:srgbClr val="2E8B57"/>
            </a:solidFill>
            <a:prstDash val="dash"/>
          </a:ln>
        </p:spPr>
      </p:sp>
      <p:sp>
        <p:nvSpPr>
          <p:cNvPr id="263" name="Text 261"/>
          <p:cNvSpPr/>
          <p:nvPr/>
        </p:nvSpPr>
        <p:spPr>
          <a:xfrm>
            <a:off x="4206240" y="4421124"/>
            <a:ext cx="1554480" cy="201168"/>
          </a:xfrm>
          <a:prstGeom prst="rect">
            <a:avLst/>
          </a:prstGeom>
          <a:noFill/>
          <a:ln/>
        </p:spPr>
        <p:txBody>
          <a:bodyPr wrap="square" lIns="0" tIns="0" rIns="0" bIns="0" rtlCol="0" anchor="ctr"/>
          <a:lstStyle/>
          <a:p>
            <a:pPr algn="l" indent="0" marL="0">
              <a:buNone/>
            </a:pPr>
            <a:r>
              <a:rPr lang="en-US" sz="1000" b="1" dirty="0">
                <a:solidFill>
                  <a:srgbClr val="2E8B57"/>
                </a:solidFill>
                <a:latin typeface="Calibri" pitchFamily="34" charset="0"/>
                <a:ea typeface="Calibri" pitchFamily="34" charset="-122"/>
                <a:cs typeface="Calibri" pitchFamily="34" charset="-120"/>
              </a:rPr>
              <a:t>amounts constant</a:t>
            </a:r>
            <a:endParaRPr lang="en-US" sz="1000" dirty="0"/>
          </a:p>
        </p:txBody>
      </p:sp>
      <p:sp>
        <p:nvSpPr>
          <p:cNvPr id="264" name="Shape 262"/>
          <p:cNvSpPr/>
          <p:nvPr/>
        </p:nvSpPr>
        <p:spPr>
          <a:xfrm>
            <a:off x="6217920" y="1188720"/>
            <a:ext cx="5559552" cy="2606040"/>
          </a:xfrm>
          <a:prstGeom prst="roundRect">
            <a:avLst>
              <a:gd name="adj" fmla="val 2105"/>
            </a:avLst>
          </a:prstGeom>
          <a:solidFill>
            <a:srgbClr val="F8F5FC"/>
          </a:solidFill>
          <a:ln w="9525">
            <a:solidFill>
              <a:srgbClr val="DDD3EC"/>
            </a:solidFill>
            <a:prstDash val="solid"/>
          </a:ln>
        </p:spPr>
      </p:sp>
      <p:sp>
        <p:nvSpPr>
          <p:cNvPr id="265" name="Text 263"/>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Equilibrium is dynamic</a:t>
            </a:r>
            <a:endParaRPr lang="en-US" sz="1300" dirty="0"/>
          </a:p>
        </p:txBody>
      </p:sp>
      <p:sp>
        <p:nvSpPr>
          <p:cNvPr id="266" name="Text 264"/>
          <p:cNvSpPr/>
          <p:nvPr/>
        </p:nvSpPr>
        <p:spPr>
          <a:xfrm>
            <a:off x="6382512" y="1609344"/>
            <a:ext cx="5230368" cy="211226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At the start only the </a:t>
            </a:r>
            <a:r>
              <a:rPr lang="en-US" sz="1050" b="1" dirty="0">
                <a:solidFill>
                  <a:srgbClr val="262B3A"/>
                </a:solidFill>
                <a:latin typeface="Calibri" pitchFamily="34" charset="0"/>
                <a:ea typeface="Calibri" pitchFamily="34" charset="-122"/>
                <a:cs typeface="Calibri" pitchFamily="34" charset="-120"/>
              </a:rPr>
              <a:t>forward</a:t>
            </a:r>
            <a:r>
              <a:rPr lang="en-US" sz="1050" dirty="0">
                <a:solidFill>
                  <a:srgbClr val="262B3A"/>
                </a:solidFill>
                <a:latin typeface="Calibri" pitchFamily="34" charset="0"/>
                <a:ea typeface="Calibri" pitchFamily="34" charset="-122"/>
                <a:cs typeface="Calibri" pitchFamily="34" charset="-120"/>
              </a:rPr>
              <a:t> reaction happens. As products build up, the </a:t>
            </a:r>
            <a:r>
              <a:rPr lang="en-US" sz="1050" b="1" dirty="0">
                <a:solidFill>
                  <a:srgbClr val="262B3A"/>
                </a:solidFill>
                <a:latin typeface="Calibri" pitchFamily="34" charset="0"/>
                <a:ea typeface="Calibri" pitchFamily="34" charset="-122"/>
                <a:cs typeface="Calibri" pitchFamily="34" charset="-120"/>
              </a:rPr>
              <a:t>reverse</a:t>
            </a:r>
            <a:r>
              <a:rPr lang="en-US" sz="1050" dirty="0">
                <a:solidFill>
                  <a:srgbClr val="262B3A"/>
                </a:solidFill>
                <a:latin typeface="Calibri" pitchFamily="34" charset="0"/>
                <a:ea typeface="Calibri" pitchFamily="34" charset="-122"/>
                <a:cs typeface="Calibri" pitchFamily="34" charset="-120"/>
              </a:rPr>
              <a:t> reaction speeds up.</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Dynamic equilibrium</a:t>
            </a:r>
            <a:r>
              <a:rPr lang="en-US" sz="1050" dirty="0">
                <a:solidFill>
                  <a:srgbClr val="262B3A"/>
                </a:solidFill>
                <a:latin typeface="Calibri" pitchFamily="34" charset="0"/>
                <a:ea typeface="Calibri" pitchFamily="34" charset="-122"/>
                <a:cs typeface="Calibri" pitchFamily="34" charset="-120"/>
              </a:rPr>
              <a:t>: the forward and reverse reactions happen at the </a:t>
            </a:r>
            <a:r>
              <a:rPr lang="en-US" sz="1050" b="1" dirty="0">
                <a:solidFill>
                  <a:srgbClr val="262B3A"/>
                </a:solidFill>
                <a:latin typeface="Calibri" pitchFamily="34" charset="0"/>
                <a:ea typeface="Calibri" pitchFamily="34" charset="-122"/>
                <a:cs typeface="Calibri" pitchFamily="34" charset="-120"/>
              </a:rPr>
              <a:t>same rate</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Both reactions keep going</a:t>
            </a:r>
            <a:r>
              <a:rPr lang="en-US" sz="1050" dirty="0">
                <a:solidFill>
                  <a:srgbClr val="262B3A"/>
                </a:solidFill>
                <a:latin typeface="Calibri" pitchFamily="34" charset="0"/>
                <a:ea typeface="Calibri" pitchFamily="34" charset="-122"/>
                <a:cs typeface="Calibri" pitchFamily="34" charset="-120"/>
              </a:rPr>
              <a:t> (dynamic), but the </a:t>
            </a:r>
            <a:r>
              <a:rPr lang="en-US" sz="1050" b="1" dirty="0">
                <a:solidFill>
                  <a:srgbClr val="262B3A"/>
                </a:solidFill>
                <a:latin typeface="Calibri" pitchFamily="34" charset="0"/>
                <a:ea typeface="Calibri" pitchFamily="34" charset="-122"/>
                <a:cs typeface="Calibri" pitchFamily="34" charset="-120"/>
              </a:rPr>
              <a:t>amounts</a:t>
            </a:r>
            <a:r>
              <a:rPr lang="en-US" sz="1050" dirty="0">
                <a:solidFill>
                  <a:srgbClr val="262B3A"/>
                </a:solidFill>
                <a:latin typeface="Calibri" pitchFamily="34" charset="0"/>
                <a:ea typeface="Calibri" pitchFamily="34" charset="-122"/>
                <a:cs typeface="Calibri" pitchFamily="34" charset="-120"/>
              </a:rPr>
              <a:t> of reactants and products stay </a:t>
            </a:r>
            <a:r>
              <a:rPr lang="en-US" sz="1050" b="1" dirty="0">
                <a:solidFill>
                  <a:srgbClr val="262B3A"/>
                </a:solidFill>
                <a:latin typeface="Calibri" pitchFamily="34" charset="0"/>
                <a:ea typeface="Calibri" pitchFamily="34" charset="-122"/>
                <a:cs typeface="Calibri" pitchFamily="34" charset="-120"/>
              </a:rPr>
              <a:t>constant</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It only happens in a </a:t>
            </a:r>
            <a:r>
              <a:rPr lang="en-US" sz="1050" b="1" dirty="0">
                <a:solidFill>
                  <a:srgbClr val="262B3A"/>
                </a:solidFill>
                <a:latin typeface="Calibri" pitchFamily="34" charset="0"/>
                <a:ea typeface="Calibri" pitchFamily="34" charset="-122"/>
                <a:cs typeface="Calibri" pitchFamily="34" charset="-120"/>
              </a:rPr>
              <a:t>closed system</a:t>
            </a:r>
            <a:r>
              <a:rPr lang="en-US" sz="1050" dirty="0">
                <a:solidFill>
                  <a:srgbClr val="262B3A"/>
                </a:solidFill>
                <a:latin typeface="Calibri" pitchFamily="34" charset="0"/>
                <a:ea typeface="Calibri" pitchFamily="34" charset="-122"/>
                <a:cs typeface="Calibri" pitchFamily="34" charset="-120"/>
              </a:rPr>
              <a:t>. The amounts are constant, but usually </a:t>
            </a:r>
            <a:r>
              <a:rPr lang="en-US" sz="1050" b="1" dirty="0">
                <a:solidFill>
                  <a:srgbClr val="262B3A"/>
                </a:solidFill>
                <a:latin typeface="Calibri" pitchFamily="34" charset="0"/>
                <a:ea typeface="Calibri" pitchFamily="34" charset="-122"/>
                <a:cs typeface="Calibri" pitchFamily="34" charset="-120"/>
              </a:rPr>
              <a:t>not equal</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267" name="Shape 265"/>
          <p:cNvSpPr/>
          <p:nvPr/>
        </p:nvSpPr>
        <p:spPr>
          <a:xfrm>
            <a:off x="6217920" y="3931920"/>
            <a:ext cx="5559552" cy="1783080"/>
          </a:xfrm>
          <a:prstGeom prst="roundRect">
            <a:avLst>
              <a:gd name="adj" fmla="val 3077"/>
            </a:avLst>
          </a:prstGeom>
          <a:solidFill>
            <a:srgbClr val="FFF4E0"/>
          </a:solidFill>
          <a:ln w="9525">
            <a:solidFill>
              <a:srgbClr val="F1D9A8"/>
            </a:solidFill>
            <a:prstDash val="solid"/>
          </a:ln>
        </p:spPr>
      </p:sp>
      <p:sp>
        <p:nvSpPr>
          <p:cNvPr id="268" name="Text 266"/>
          <p:cNvSpPr/>
          <p:nvPr/>
        </p:nvSpPr>
        <p:spPr>
          <a:xfrm>
            <a:off x="6382512" y="400507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reading the graph</a:t>
            </a:r>
            <a:endParaRPr lang="en-US" sz="1300" dirty="0"/>
          </a:p>
        </p:txBody>
      </p:sp>
      <p:sp>
        <p:nvSpPr>
          <p:cNvPr id="269" name="Text 267"/>
          <p:cNvSpPr/>
          <p:nvPr/>
        </p:nvSpPr>
        <p:spPr>
          <a:xfrm>
            <a:off x="6382512" y="4315968"/>
            <a:ext cx="5230368"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When is equilibrium reached? Use the lower graph.</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Look for   </a:t>
            </a:r>
            <a:r>
              <a:rPr lang="en-US" sz="1050" dirty="0">
                <a:solidFill>
                  <a:srgbClr val="262B3A"/>
                </a:solidFill>
                <a:latin typeface="Calibri" pitchFamily="34" charset="0"/>
                <a:ea typeface="Calibri" pitchFamily="34" charset="-122"/>
                <a:cs typeface="Calibri" pitchFamily="34" charset="-120"/>
              </a:rPr>
              <a:t>the time when the amounts stop changing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at about </a:t>
            </a:r>
            <a:r>
              <a:rPr lang="en-US" sz="1050" b="1" dirty="0">
                <a:solidFill>
                  <a:srgbClr val="C8414C"/>
                </a:solidFill>
                <a:latin typeface="Calibri" pitchFamily="34" charset="0"/>
                <a:ea typeface="Calibri" pitchFamily="34" charset="-122"/>
                <a:cs typeface="Calibri" pitchFamily="34" charset="-120"/>
              </a:rPr>
              <a:t>8 min</a:t>
            </a:r>
            <a:r>
              <a:rPr lang="en-US" sz="1050" b="1" dirty="0">
                <a:solidFill>
                  <a:srgbClr val="C8414C"/>
                </a:solidFill>
                <a:latin typeface="Calibri" pitchFamily="34" charset="0"/>
                <a:ea typeface="Calibri" pitchFamily="34" charset="-122"/>
                <a:cs typeface="Calibri" pitchFamily="34" charset="-120"/>
              </a:rPr>
              <a:t>: NH₃ stays at 0.60 mol and N₂ at 0.70 mol</a:t>
            </a:r>
            <a:endParaRPr lang="en-US" sz="1050" dirty="0"/>
          </a:p>
        </p:txBody>
      </p:sp>
      <p:sp>
        <p:nvSpPr>
          <p:cNvPr id="270" name="Shape 268"/>
          <p:cNvSpPr/>
          <p:nvPr/>
        </p:nvSpPr>
        <p:spPr>
          <a:xfrm>
            <a:off x="411480" y="5833872"/>
            <a:ext cx="11368735" cy="530352"/>
          </a:xfrm>
          <a:prstGeom prst="rect">
            <a:avLst/>
          </a:prstGeom>
          <a:solidFill>
            <a:srgbClr val="FFF4E0"/>
          </a:solidFill>
          <a:ln w="6350">
            <a:solidFill>
              <a:srgbClr val="F1D9A8"/>
            </a:solidFill>
            <a:prstDash val="solid"/>
          </a:ln>
        </p:spPr>
      </p:sp>
      <p:sp>
        <p:nvSpPr>
          <p:cNvPr id="271" name="Shape 269"/>
          <p:cNvSpPr/>
          <p:nvPr/>
        </p:nvSpPr>
        <p:spPr>
          <a:xfrm>
            <a:off x="411480" y="5833872"/>
            <a:ext cx="82296" cy="530352"/>
          </a:xfrm>
          <a:prstGeom prst="rect">
            <a:avLst/>
          </a:prstGeom>
          <a:solidFill>
            <a:srgbClr val="E39A2F"/>
          </a:solidFill>
          <a:ln w="12700">
            <a:solidFill>
              <a:srgbClr val="E39A2F"/>
            </a:solidFill>
            <a:prstDash val="solid"/>
          </a:ln>
        </p:spPr>
      </p:sp>
      <p:sp>
        <p:nvSpPr>
          <p:cNvPr id="272" name="Text 27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student says "at equilibrium the reaction has </a:t>
            </a:r>
            <a:r>
              <a:rPr lang="en-US" sz="1150" b="1" dirty="0">
                <a:solidFill>
                  <a:srgbClr val="262B3A"/>
                </a:solidFill>
                <a:latin typeface="Calibri" pitchFamily="34" charset="0"/>
                <a:ea typeface="Calibri" pitchFamily="34" charset="-122"/>
                <a:cs typeface="Calibri" pitchFamily="34" charset="-120"/>
              </a:rPr>
              <a:t>stopped</a:t>
            </a:r>
            <a:r>
              <a:rPr lang="en-US" sz="1150" dirty="0">
                <a:solidFill>
                  <a:srgbClr val="262B3A"/>
                </a:solidFill>
                <a:latin typeface="Calibri" pitchFamily="34" charset="0"/>
                <a:ea typeface="Calibri" pitchFamily="34" charset="-122"/>
                <a:cs typeface="Calibri" pitchFamily="34" charset="-120"/>
              </a:rPr>
              <a:t>, and there are </a:t>
            </a:r>
            <a:r>
              <a:rPr lang="en-US" sz="1150" b="1" dirty="0">
                <a:solidFill>
                  <a:srgbClr val="262B3A"/>
                </a:solidFill>
                <a:latin typeface="Calibri" pitchFamily="34" charset="0"/>
                <a:ea typeface="Calibri" pitchFamily="34" charset="-122"/>
                <a:cs typeface="Calibri" pitchFamily="34" charset="-120"/>
              </a:rPr>
              <a:t>equal amounts</a:t>
            </a:r>
            <a:r>
              <a:rPr lang="en-US" sz="1150" dirty="0">
                <a:solidFill>
                  <a:srgbClr val="262B3A"/>
                </a:solidFill>
                <a:latin typeface="Calibri" pitchFamily="34" charset="0"/>
                <a:ea typeface="Calibri" pitchFamily="34" charset="-122"/>
                <a:cs typeface="Calibri" pitchFamily="34" charset="-120"/>
              </a:rPr>
              <a:t> of reactants and products". Correct </a:t>
            </a:r>
            <a:r>
              <a:rPr lang="en-US" sz="1150" b="1" dirty="0">
                <a:solidFill>
                  <a:srgbClr val="262B3A"/>
                </a:solidFill>
                <a:latin typeface="Calibri" pitchFamily="34" charset="0"/>
                <a:ea typeface="Calibri" pitchFamily="34" charset="-122"/>
                <a:cs typeface="Calibri" pitchFamily="34" charset="-120"/>
              </a:rPr>
              <a:t>both</a:t>
            </a:r>
            <a:r>
              <a:rPr lang="en-US" sz="1150" dirty="0">
                <a:solidFill>
                  <a:srgbClr val="262B3A"/>
                </a:solidFill>
                <a:latin typeface="Calibri" pitchFamily="34" charset="0"/>
                <a:ea typeface="Calibri" pitchFamily="34" charset="-122"/>
                <a:cs typeface="Calibri" pitchFamily="34" charset="-120"/>
              </a:rPr>
              <a:t> mistakes.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C6.3.1, C6.3.2 • closed systems and dynamic equilibrium</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reversible reaction in a </a:t>
            </a:r>
            <a:r>
              <a:rPr lang="en-US" sz="1250" b="1" dirty="0">
                <a:solidFill>
                  <a:srgbClr val="262B3A"/>
                </a:solidFill>
                <a:latin typeface="Calibri" pitchFamily="34" charset="0"/>
                <a:ea typeface="Calibri" pitchFamily="34" charset="-122"/>
                <a:cs typeface="Calibri" pitchFamily="34" charset="-120"/>
              </a:rPr>
              <a:t>closed system</a:t>
            </a:r>
            <a:r>
              <a:rPr lang="en-US" sz="1250" dirty="0">
                <a:solidFill>
                  <a:srgbClr val="262B3A"/>
                </a:solidFill>
                <a:latin typeface="Calibri" pitchFamily="34" charset="0"/>
                <a:ea typeface="Calibri" pitchFamily="34" charset="-122"/>
                <a:cs typeface="Calibri" pitchFamily="34" charset="-120"/>
              </a:rPr>
              <a:t> does not reach </a:t>
            </a:r>
            <a:r>
              <a:rPr lang="en-US" sz="1250" b="1" dirty="0">
                <a:solidFill>
                  <a:srgbClr val="262B3A"/>
                </a:solidFill>
                <a:latin typeface="Calibri" pitchFamily="34" charset="0"/>
                <a:ea typeface="Calibri" pitchFamily="34" charset="-122"/>
                <a:cs typeface="Calibri" pitchFamily="34" charset="-120"/>
              </a:rPr>
              <a:t>100% yield</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meant by </a:t>
            </a:r>
            <a:r>
              <a:rPr lang="en-US" sz="1250" b="1" dirty="0">
                <a:solidFill>
                  <a:srgbClr val="262B3A"/>
                </a:solidFill>
                <a:latin typeface="Calibri" pitchFamily="34" charset="0"/>
                <a:ea typeface="Calibri" pitchFamily="34" charset="-122"/>
                <a:cs typeface="Calibri" pitchFamily="34" charset="-120"/>
              </a:rPr>
              <a:t>dynamic equilibrium</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N₂ + 3H₂ ⇌ 2NH₃. </a:t>
            </a:r>
            <a:r>
              <a:rPr lang="en-US" sz="1250" b="1" dirty="0">
                <a:solidFill>
                  <a:srgbClr val="262B3A"/>
                </a:solidFill>
                <a:latin typeface="Calibri" pitchFamily="34" charset="0"/>
                <a:ea typeface="Calibri" pitchFamily="34" charset="-122"/>
                <a:cs typeface="Calibri" pitchFamily="34" charset="-120"/>
              </a:rPr>
              <a:t>2.0 mol</a:t>
            </a:r>
            <a:r>
              <a:rPr lang="en-US" sz="1250" dirty="0">
                <a:solidFill>
                  <a:srgbClr val="262B3A"/>
                </a:solidFill>
                <a:latin typeface="Calibri" pitchFamily="34" charset="0"/>
                <a:ea typeface="Calibri" pitchFamily="34" charset="-122"/>
                <a:cs typeface="Calibri" pitchFamily="34" charset="-120"/>
              </a:rPr>
              <a:t> of N₂ reacts with excess H₂ in a sealed vessel. What is the </a:t>
            </a:r>
            <a:r>
              <a:rPr lang="en-US" sz="1250" b="1" dirty="0">
                <a:solidFill>
                  <a:srgbClr val="262B3A"/>
                </a:solidFill>
                <a:latin typeface="Calibri" pitchFamily="34" charset="0"/>
                <a:ea typeface="Calibri" pitchFamily="34" charset="-122"/>
                <a:cs typeface="Calibri" pitchFamily="34" charset="-120"/>
              </a:rPr>
              <a:t>maximum</a:t>
            </a:r>
            <a:r>
              <a:rPr lang="en-US" sz="1250" dirty="0">
                <a:solidFill>
                  <a:srgbClr val="262B3A"/>
                </a:solidFill>
                <a:latin typeface="Calibri" pitchFamily="34" charset="0"/>
                <a:ea typeface="Calibri" pitchFamily="34" charset="-122"/>
                <a:cs typeface="Calibri" pitchFamily="34" charset="-120"/>
              </a:rPr>
              <a:t> amount of NH₃? Explain why less than this is made.</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Calcium carbonate is heated in an </a:t>
            </a:r>
            <a:r>
              <a:rPr lang="en-US" sz="1250" b="1" dirty="0">
                <a:solidFill>
                  <a:srgbClr val="262B3A"/>
                </a:solidFill>
                <a:latin typeface="Calibri" pitchFamily="34" charset="0"/>
                <a:ea typeface="Calibri" pitchFamily="34" charset="-122"/>
                <a:cs typeface="Calibri" pitchFamily="34" charset="-120"/>
              </a:rPr>
              <a:t>open</a:t>
            </a:r>
            <a:r>
              <a:rPr lang="en-US" sz="1250" dirty="0">
                <a:solidFill>
                  <a:srgbClr val="262B3A"/>
                </a:solidFill>
                <a:latin typeface="Calibri" pitchFamily="34" charset="0"/>
                <a:ea typeface="Calibri" pitchFamily="34" charset="-122"/>
                <a:cs typeface="Calibri" pitchFamily="34" charset="-120"/>
              </a:rPr>
              <a:t> tube: CaCO₃ → CaO + CO₂. All of it decomposes. Explain why this reaction </a:t>
            </a:r>
            <a:r>
              <a:rPr lang="en-US" sz="1250" b="1" dirty="0">
                <a:solidFill>
                  <a:srgbClr val="262B3A"/>
                </a:solidFill>
                <a:latin typeface="Calibri" pitchFamily="34" charset="0"/>
                <a:ea typeface="Calibri" pitchFamily="34" charset="-122"/>
                <a:cs typeface="Calibri" pitchFamily="34" charset="-120"/>
              </a:rPr>
              <a:t>can</a:t>
            </a:r>
            <a:r>
              <a:rPr lang="en-US" sz="1250" dirty="0">
                <a:solidFill>
                  <a:srgbClr val="262B3A"/>
                </a:solidFill>
                <a:latin typeface="Calibri" pitchFamily="34" charset="0"/>
                <a:ea typeface="Calibri" pitchFamily="34" charset="-122"/>
                <a:cs typeface="Calibri" pitchFamily="34" charset="-120"/>
              </a:rPr>
              <a:t> go to completion.</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Changing concentration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C6.3.3 • predict the effect of changing concentration on the position of equilibrium</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C6.3.3  |  12</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test tubes of the same equilibrium mixture; colours as seen</a:t>
            </a:r>
            <a:endParaRPr lang="en-US" sz="1000" dirty="0"/>
          </a:p>
        </p:txBody>
      </p:sp>
      <p:sp>
        <p:nvSpPr>
          <p:cNvPr id="12" name="Shape 10"/>
          <p:cNvSpPr/>
          <p:nvPr/>
        </p:nvSpPr>
        <p:spPr>
          <a:xfrm>
            <a:off x="640080" y="1325880"/>
            <a:ext cx="5120640" cy="365760"/>
          </a:xfrm>
          <a:prstGeom prst="roundRect">
            <a:avLst>
              <a:gd name="adj" fmla="val 12500"/>
            </a:avLst>
          </a:prstGeom>
          <a:solidFill>
            <a:srgbClr val="FFFFFF"/>
          </a:solidFill>
          <a:ln w="12700">
            <a:solidFill>
              <a:srgbClr val="DDD3EC"/>
            </a:solidFill>
            <a:prstDash val="solid"/>
          </a:ln>
        </p:spPr>
      </p:sp>
      <p:sp>
        <p:nvSpPr>
          <p:cNvPr id="13" name="Text 11"/>
          <p:cNvSpPr/>
          <p:nvPr/>
        </p:nvSpPr>
        <p:spPr>
          <a:xfrm>
            <a:off x="713232" y="1325880"/>
            <a:ext cx="4974336" cy="365760"/>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Fe³⁺(aq) + SCN⁻(aq) ⇌ FeSCN²⁺(aq)</a:t>
            </a:r>
            <a:endParaRPr lang="en-US" sz="1200" dirty="0"/>
          </a:p>
        </p:txBody>
      </p:sp>
      <p:sp>
        <p:nvSpPr>
          <p:cNvPr id="14" name="Text 12"/>
          <p:cNvSpPr/>
          <p:nvPr/>
        </p:nvSpPr>
        <p:spPr>
          <a:xfrm>
            <a:off x="640080" y="1719072"/>
            <a:ext cx="51206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Fe³⁺ pale yellow  •  SCN⁻ colourless  •  FeSCN²⁺ blood red</a:t>
            </a:r>
            <a:endParaRPr lang="en-US" sz="1000" dirty="0"/>
          </a:p>
        </p:txBody>
      </p:sp>
      <p:sp>
        <p:nvSpPr>
          <p:cNvPr id="15" name="Text 13"/>
          <p:cNvSpPr/>
          <p:nvPr/>
        </p:nvSpPr>
        <p:spPr>
          <a:xfrm>
            <a:off x="457200" y="2011680"/>
            <a:ext cx="1554480" cy="38404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add more Fe³⁺</a:t>
            </a:r>
            <a:endParaRPr lang="en-US" sz="1000" dirty="0"/>
          </a:p>
        </p:txBody>
      </p:sp>
      <p:sp>
        <p:nvSpPr>
          <p:cNvPr id="16" name="Shape 14"/>
          <p:cNvSpPr/>
          <p:nvPr/>
        </p:nvSpPr>
        <p:spPr>
          <a:xfrm>
            <a:off x="1024128" y="3017520"/>
            <a:ext cx="420624" cy="1051560"/>
          </a:xfrm>
          <a:prstGeom prst="rect">
            <a:avLst/>
          </a:prstGeom>
          <a:solidFill>
            <a:srgbClr val="A61E1E"/>
          </a:solidFill>
          <a:ln/>
        </p:spPr>
      </p:sp>
      <p:sp>
        <p:nvSpPr>
          <p:cNvPr id="17" name="Shape 15"/>
          <p:cNvSpPr/>
          <p:nvPr/>
        </p:nvSpPr>
        <p:spPr>
          <a:xfrm>
            <a:off x="1024128" y="3858768"/>
            <a:ext cx="420624" cy="420624"/>
          </a:xfrm>
          <a:prstGeom prst="ellipse">
            <a:avLst/>
          </a:prstGeom>
          <a:solidFill>
            <a:srgbClr val="A61E1E"/>
          </a:solidFill>
          <a:ln w="6350">
            <a:solidFill>
              <a:srgbClr val="A61E1E"/>
            </a:solidFill>
            <a:prstDash val="solid"/>
          </a:ln>
        </p:spPr>
      </p:sp>
      <p:sp>
        <p:nvSpPr>
          <p:cNvPr id="18" name="Shape 16"/>
          <p:cNvSpPr/>
          <p:nvPr/>
        </p:nvSpPr>
        <p:spPr>
          <a:xfrm>
            <a:off x="1005840" y="2468880"/>
            <a:ext cx="91" cy="1600200"/>
          </a:xfrm>
          <a:prstGeom prst="line">
            <a:avLst/>
          </a:prstGeom>
          <a:noFill/>
          <a:ln w="15875">
            <a:solidFill>
              <a:srgbClr val="2A1F3D"/>
            </a:solidFill>
            <a:prstDash val="solid"/>
          </a:ln>
        </p:spPr>
      </p:sp>
      <p:sp>
        <p:nvSpPr>
          <p:cNvPr id="19" name="Shape 17"/>
          <p:cNvSpPr/>
          <p:nvPr/>
        </p:nvSpPr>
        <p:spPr>
          <a:xfrm>
            <a:off x="1463040" y="2468880"/>
            <a:ext cx="91" cy="1600200"/>
          </a:xfrm>
          <a:prstGeom prst="line">
            <a:avLst/>
          </a:prstGeom>
          <a:noFill/>
          <a:ln w="15875">
            <a:solidFill>
              <a:srgbClr val="2A1F3D"/>
            </a:solidFill>
            <a:prstDash val="solid"/>
          </a:ln>
        </p:spPr>
      </p:sp>
      <p:sp>
        <p:nvSpPr>
          <p:cNvPr id="20" name="Shape 18"/>
          <p:cNvSpPr/>
          <p:nvPr/>
        </p:nvSpPr>
        <p:spPr>
          <a:xfrm>
            <a:off x="1005840" y="3840480"/>
            <a:ext cx="457200" cy="457200"/>
          </a:xfrm>
          <a:prstGeom prst="arc">
            <a:avLst>
              <a:gd name="adj1" fmla="val 0"/>
              <a:gd name="adj2" fmla="val 10800000"/>
            </a:avLst>
          </a:prstGeom>
          <a:ln w="15875">
            <a:solidFill>
              <a:srgbClr val="2A1F3D"/>
            </a:solidFill>
            <a:prstDash val="solid"/>
          </a:ln>
        </p:spPr>
      </p:sp>
      <p:sp>
        <p:nvSpPr>
          <p:cNvPr id="21" name="Text 19"/>
          <p:cNvSpPr/>
          <p:nvPr/>
        </p:nvSpPr>
        <p:spPr>
          <a:xfrm>
            <a:off x="457200" y="4389120"/>
            <a:ext cx="1554480" cy="219456"/>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deeper red</a:t>
            </a:r>
            <a:endParaRPr lang="en-US" sz="1000" dirty="0"/>
          </a:p>
        </p:txBody>
      </p:sp>
      <p:sp>
        <p:nvSpPr>
          <p:cNvPr id="22" name="Text 20"/>
          <p:cNvSpPr/>
          <p:nvPr/>
        </p:nvSpPr>
        <p:spPr>
          <a:xfrm>
            <a:off x="457200" y="4617720"/>
            <a:ext cx="1554480" cy="237744"/>
          </a:xfrm>
          <a:prstGeom prst="rect">
            <a:avLst/>
          </a:prstGeom>
          <a:noFill/>
          <a:ln/>
        </p:spPr>
        <p:txBody>
          <a:bodyPr wrap="square" lIns="0" tIns="0" rIns="0" bIns="0" rtlCol="0" anchor="ctr"/>
          <a:lstStyle/>
          <a:p>
            <a:pPr algn="ctr" indent="0" marL="0">
              <a:buNone/>
            </a:pPr>
            <a:r>
              <a:rPr lang="en-US" sz="1050" dirty="0">
                <a:solidFill>
                  <a:srgbClr val="2A1F3D"/>
                </a:solidFill>
                <a:latin typeface="Calibri" pitchFamily="34" charset="0"/>
                <a:ea typeface="Calibri" pitchFamily="34" charset="-122"/>
                <a:cs typeface="Calibri" pitchFamily="34" charset="-120"/>
              </a:rPr>
              <a:t>shifts </a:t>
            </a:r>
            <a:r>
              <a:rPr lang="en-US" sz="1050" b="1" dirty="0">
                <a:solidFill>
                  <a:srgbClr val="2A1F3D"/>
                </a:solidFill>
                <a:latin typeface="Calibri" pitchFamily="34" charset="0"/>
                <a:ea typeface="Calibri" pitchFamily="34" charset="-122"/>
                <a:cs typeface="Calibri" pitchFamily="34" charset="-120"/>
              </a:rPr>
              <a:t>right</a:t>
            </a:r>
            <a:endParaRPr lang="en-US" sz="1050" dirty="0"/>
          </a:p>
        </p:txBody>
      </p:sp>
      <p:sp>
        <p:nvSpPr>
          <p:cNvPr id="23" name="Text 21"/>
          <p:cNvSpPr/>
          <p:nvPr/>
        </p:nvSpPr>
        <p:spPr>
          <a:xfrm>
            <a:off x="2103120" y="2011680"/>
            <a:ext cx="1554480" cy="38404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equilibrium mixture</a:t>
            </a:r>
            <a:endParaRPr lang="en-US" sz="1000" dirty="0"/>
          </a:p>
        </p:txBody>
      </p:sp>
      <p:sp>
        <p:nvSpPr>
          <p:cNvPr id="24" name="Shape 22"/>
          <p:cNvSpPr/>
          <p:nvPr/>
        </p:nvSpPr>
        <p:spPr>
          <a:xfrm>
            <a:off x="2670048" y="3017520"/>
            <a:ext cx="420624" cy="1051560"/>
          </a:xfrm>
          <a:prstGeom prst="rect">
            <a:avLst/>
          </a:prstGeom>
          <a:solidFill>
            <a:srgbClr val="D9694F"/>
          </a:solidFill>
          <a:ln/>
        </p:spPr>
      </p:sp>
      <p:sp>
        <p:nvSpPr>
          <p:cNvPr id="25" name="Shape 23"/>
          <p:cNvSpPr/>
          <p:nvPr/>
        </p:nvSpPr>
        <p:spPr>
          <a:xfrm>
            <a:off x="2670048" y="3858768"/>
            <a:ext cx="420624" cy="420624"/>
          </a:xfrm>
          <a:prstGeom prst="ellipse">
            <a:avLst/>
          </a:prstGeom>
          <a:solidFill>
            <a:srgbClr val="D9694F"/>
          </a:solidFill>
          <a:ln w="6350">
            <a:solidFill>
              <a:srgbClr val="D9694F"/>
            </a:solidFill>
            <a:prstDash val="solid"/>
          </a:ln>
        </p:spPr>
      </p:sp>
      <p:sp>
        <p:nvSpPr>
          <p:cNvPr id="26" name="Shape 24"/>
          <p:cNvSpPr/>
          <p:nvPr/>
        </p:nvSpPr>
        <p:spPr>
          <a:xfrm>
            <a:off x="2651760" y="2468880"/>
            <a:ext cx="91" cy="1600200"/>
          </a:xfrm>
          <a:prstGeom prst="line">
            <a:avLst/>
          </a:prstGeom>
          <a:noFill/>
          <a:ln w="15875">
            <a:solidFill>
              <a:srgbClr val="2A1F3D"/>
            </a:solidFill>
            <a:prstDash val="solid"/>
          </a:ln>
        </p:spPr>
      </p:sp>
      <p:sp>
        <p:nvSpPr>
          <p:cNvPr id="27" name="Shape 25"/>
          <p:cNvSpPr/>
          <p:nvPr/>
        </p:nvSpPr>
        <p:spPr>
          <a:xfrm>
            <a:off x="3108960" y="2468880"/>
            <a:ext cx="91" cy="1600200"/>
          </a:xfrm>
          <a:prstGeom prst="line">
            <a:avLst/>
          </a:prstGeom>
          <a:noFill/>
          <a:ln w="15875">
            <a:solidFill>
              <a:srgbClr val="2A1F3D"/>
            </a:solidFill>
            <a:prstDash val="solid"/>
          </a:ln>
        </p:spPr>
      </p:sp>
      <p:sp>
        <p:nvSpPr>
          <p:cNvPr id="28" name="Shape 26"/>
          <p:cNvSpPr/>
          <p:nvPr/>
        </p:nvSpPr>
        <p:spPr>
          <a:xfrm>
            <a:off x="2651760" y="3840480"/>
            <a:ext cx="457200" cy="457200"/>
          </a:xfrm>
          <a:prstGeom prst="arc">
            <a:avLst>
              <a:gd name="adj1" fmla="val 0"/>
              <a:gd name="adj2" fmla="val 10800000"/>
            </a:avLst>
          </a:prstGeom>
          <a:ln w="15875">
            <a:solidFill>
              <a:srgbClr val="2A1F3D"/>
            </a:solidFill>
            <a:prstDash val="solid"/>
          </a:ln>
        </p:spPr>
      </p:sp>
      <p:sp>
        <p:nvSpPr>
          <p:cNvPr id="29" name="Text 27"/>
          <p:cNvSpPr/>
          <p:nvPr/>
        </p:nvSpPr>
        <p:spPr>
          <a:xfrm>
            <a:off x="2103120" y="4389120"/>
            <a:ext cx="1554480" cy="219456"/>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orange-red</a:t>
            </a:r>
            <a:endParaRPr lang="en-US" sz="1000" dirty="0"/>
          </a:p>
        </p:txBody>
      </p:sp>
      <p:sp>
        <p:nvSpPr>
          <p:cNvPr id="30" name="Text 28"/>
          <p:cNvSpPr/>
          <p:nvPr/>
        </p:nvSpPr>
        <p:spPr>
          <a:xfrm>
            <a:off x="2103120" y="4617720"/>
            <a:ext cx="1554480" cy="237744"/>
          </a:xfrm>
          <a:prstGeom prst="rect">
            <a:avLst/>
          </a:prstGeom>
          <a:noFill/>
          <a:ln/>
        </p:spPr>
        <p:txBody>
          <a:bodyPr wrap="square" lIns="0" tIns="0" rIns="0" bIns="0" rtlCol="0" anchor="ctr"/>
          <a:lstStyle/>
          <a:p>
            <a:pPr algn="ctr" indent="0" marL="0">
              <a:buNone/>
            </a:pPr>
            <a:r>
              <a:rPr lang="en-US" sz="1050" dirty="0">
                <a:solidFill>
                  <a:srgbClr val="6B7385"/>
                </a:solidFill>
                <a:latin typeface="Calibri" pitchFamily="34" charset="0"/>
                <a:ea typeface="Calibri" pitchFamily="34" charset="-122"/>
                <a:cs typeface="Calibri" pitchFamily="34" charset="-120"/>
              </a:rPr>
              <a:t>start</a:t>
            </a:r>
            <a:endParaRPr lang="en-US" sz="1050" dirty="0"/>
          </a:p>
        </p:txBody>
      </p:sp>
      <p:sp>
        <p:nvSpPr>
          <p:cNvPr id="31" name="Text 29"/>
          <p:cNvSpPr/>
          <p:nvPr/>
        </p:nvSpPr>
        <p:spPr>
          <a:xfrm>
            <a:off x="3749040" y="2011680"/>
            <a:ext cx="1554480" cy="38404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remove Fe³⁺</a:t>
            </a:r>
            <a:endParaRPr lang="en-US" sz="1000" dirty="0"/>
          </a:p>
        </p:txBody>
      </p:sp>
      <p:sp>
        <p:nvSpPr>
          <p:cNvPr id="32" name="Shape 30"/>
          <p:cNvSpPr/>
          <p:nvPr/>
        </p:nvSpPr>
        <p:spPr>
          <a:xfrm>
            <a:off x="4315968" y="3017520"/>
            <a:ext cx="420624" cy="1051560"/>
          </a:xfrm>
          <a:prstGeom prst="rect">
            <a:avLst/>
          </a:prstGeom>
          <a:solidFill>
            <a:srgbClr val="EDB27A"/>
          </a:solidFill>
          <a:ln/>
        </p:spPr>
      </p:sp>
      <p:sp>
        <p:nvSpPr>
          <p:cNvPr id="33" name="Shape 31"/>
          <p:cNvSpPr/>
          <p:nvPr/>
        </p:nvSpPr>
        <p:spPr>
          <a:xfrm>
            <a:off x="4315968" y="3858768"/>
            <a:ext cx="420624" cy="420624"/>
          </a:xfrm>
          <a:prstGeom prst="ellipse">
            <a:avLst/>
          </a:prstGeom>
          <a:solidFill>
            <a:srgbClr val="EDB27A"/>
          </a:solidFill>
          <a:ln w="6350">
            <a:solidFill>
              <a:srgbClr val="EDB27A"/>
            </a:solidFill>
            <a:prstDash val="solid"/>
          </a:ln>
        </p:spPr>
      </p:sp>
      <p:sp>
        <p:nvSpPr>
          <p:cNvPr id="34" name="Shape 32"/>
          <p:cNvSpPr/>
          <p:nvPr/>
        </p:nvSpPr>
        <p:spPr>
          <a:xfrm>
            <a:off x="4297680" y="2468880"/>
            <a:ext cx="91" cy="1600200"/>
          </a:xfrm>
          <a:prstGeom prst="line">
            <a:avLst/>
          </a:prstGeom>
          <a:noFill/>
          <a:ln w="15875">
            <a:solidFill>
              <a:srgbClr val="2A1F3D"/>
            </a:solidFill>
            <a:prstDash val="solid"/>
          </a:ln>
        </p:spPr>
      </p:sp>
      <p:sp>
        <p:nvSpPr>
          <p:cNvPr id="35" name="Shape 33"/>
          <p:cNvSpPr/>
          <p:nvPr/>
        </p:nvSpPr>
        <p:spPr>
          <a:xfrm>
            <a:off x="4754880" y="2468880"/>
            <a:ext cx="91" cy="1600200"/>
          </a:xfrm>
          <a:prstGeom prst="line">
            <a:avLst/>
          </a:prstGeom>
          <a:noFill/>
          <a:ln w="15875">
            <a:solidFill>
              <a:srgbClr val="2A1F3D"/>
            </a:solidFill>
            <a:prstDash val="solid"/>
          </a:ln>
        </p:spPr>
      </p:sp>
      <p:sp>
        <p:nvSpPr>
          <p:cNvPr id="36" name="Shape 34"/>
          <p:cNvSpPr/>
          <p:nvPr/>
        </p:nvSpPr>
        <p:spPr>
          <a:xfrm>
            <a:off x="4297680" y="3840480"/>
            <a:ext cx="457200" cy="457200"/>
          </a:xfrm>
          <a:prstGeom prst="arc">
            <a:avLst>
              <a:gd name="adj1" fmla="val 0"/>
              <a:gd name="adj2" fmla="val 10800000"/>
            </a:avLst>
          </a:prstGeom>
          <a:ln w="15875">
            <a:solidFill>
              <a:srgbClr val="2A1F3D"/>
            </a:solidFill>
            <a:prstDash val="solid"/>
          </a:ln>
        </p:spPr>
      </p:sp>
      <p:sp>
        <p:nvSpPr>
          <p:cNvPr id="37" name="Text 35"/>
          <p:cNvSpPr/>
          <p:nvPr/>
        </p:nvSpPr>
        <p:spPr>
          <a:xfrm>
            <a:off x="3749040" y="4389120"/>
            <a:ext cx="1554480" cy="219456"/>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paler</a:t>
            </a:r>
            <a:endParaRPr lang="en-US" sz="1000" dirty="0"/>
          </a:p>
        </p:txBody>
      </p:sp>
      <p:sp>
        <p:nvSpPr>
          <p:cNvPr id="38" name="Text 36"/>
          <p:cNvSpPr/>
          <p:nvPr/>
        </p:nvSpPr>
        <p:spPr>
          <a:xfrm>
            <a:off x="3749040" y="4617720"/>
            <a:ext cx="1554480" cy="237744"/>
          </a:xfrm>
          <a:prstGeom prst="rect">
            <a:avLst/>
          </a:prstGeom>
          <a:noFill/>
          <a:ln/>
        </p:spPr>
        <p:txBody>
          <a:bodyPr wrap="square" lIns="0" tIns="0" rIns="0" bIns="0" rtlCol="0" anchor="ctr"/>
          <a:lstStyle/>
          <a:p>
            <a:pPr algn="ctr" indent="0" marL="0">
              <a:buNone/>
            </a:pPr>
            <a:r>
              <a:rPr lang="en-US" sz="1050" dirty="0">
                <a:solidFill>
                  <a:srgbClr val="2A1F3D"/>
                </a:solidFill>
                <a:latin typeface="Calibri" pitchFamily="34" charset="0"/>
                <a:ea typeface="Calibri" pitchFamily="34" charset="-122"/>
                <a:cs typeface="Calibri" pitchFamily="34" charset="-120"/>
              </a:rPr>
              <a:t>shifts </a:t>
            </a:r>
            <a:r>
              <a:rPr lang="en-US" sz="1050" b="1" dirty="0">
                <a:solidFill>
                  <a:srgbClr val="2A1F3D"/>
                </a:solidFill>
                <a:latin typeface="Calibri" pitchFamily="34" charset="0"/>
                <a:ea typeface="Calibri" pitchFamily="34" charset="-122"/>
                <a:cs typeface="Calibri" pitchFamily="34" charset="-120"/>
              </a:rPr>
              <a:t>left</a:t>
            </a:r>
            <a:endParaRPr lang="en-US" sz="1050" dirty="0"/>
          </a:p>
        </p:txBody>
      </p:sp>
      <p:sp>
        <p:nvSpPr>
          <p:cNvPr id="39" name="Shape 37"/>
          <p:cNvSpPr/>
          <p:nvPr/>
        </p:nvSpPr>
        <p:spPr>
          <a:xfrm flipH="1">
            <a:off x="1737360" y="3383280"/>
            <a:ext cx="640080" cy="91"/>
          </a:xfrm>
          <a:prstGeom prst="line">
            <a:avLst/>
          </a:prstGeom>
          <a:noFill/>
          <a:ln w="25400">
            <a:solidFill>
              <a:srgbClr val="C8414C"/>
            </a:solidFill>
            <a:prstDash val="solid"/>
            <a:tailEnd type="triangle"/>
          </a:ln>
        </p:spPr>
      </p:sp>
      <p:sp>
        <p:nvSpPr>
          <p:cNvPr id="40" name="Shape 38"/>
          <p:cNvSpPr/>
          <p:nvPr/>
        </p:nvSpPr>
        <p:spPr>
          <a:xfrm>
            <a:off x="3383280" y="3383280"/>
            <a:ext cx="640080" cy="91"/>
          </a:xfrm>
          <a:prstGeom prst="line">
            <a:avLst/>
          </a:prstGeom>
          <a:noFill/>
          <a:ln w="25400">
            <a:solidFill>
              <a:srgbClr val="C8414C"/>
            </a:solidFill>
            <a:prstDash val="solid"/>
            <a:tailEnd type="triangle"/>
          </a:ln>
        </p:spPr>
      </p:sp>
      <p:sp>
        <p:nvSpPr>
          <p:cNvPr id="41" name="Text 39"/>
          <p:cNvSpPr/>
          <p:nvPr/>
        </p:nvSpPr>
        <p:spPr>
          <a:xfrm>
            <a:off x="640080" y="4956048"/>
            <a:ext cx="5120640" cy="365760"/>
          </a:xfrm>
          <a:prstGeom prst="rect">
            <a:avLst/>
          </a:prstGeom>
          <a:noFill/>
          <a:ln/>
        </p:spPr>
        <p:txBody>
          <a:bodyPr wrap="square" lIns="0" tIns="0" rIns="0" bIns="0" rtlCol="0" anchor="ctr"/>
          <a:lstStyle/>
          <a:p>
            <a:pPr algn="ctr" indent="0" marL="0">
              <a:buNone/>
            </a:pPr>
            <a:r>
              <a:rPr lang="en-US" sz="1050" dirty="0">
                <a:solidFill>
                  <a:srgbClr val="2A1F3D"/>
                </a:solidFill>
                <a:latin typeface="Calibri" pitchFamily="34" charset="0"/>
                <a:ea typeface="Calibri" pitchFamily="34" charset="-122"/>
                <a:cs typeface="Calibri" pitchFamily="34" charset="-120"/>
              </a:rPr>
              <a:t>The equilibrium shifts to </a:t>
            </a:r>
            <a:r>
              <a:rPr lang="en-US" sz="1050" b="1" dirty="0">
                <a:solidFill>
                  <a:srgbClr val="2A1F3D"/>
                </a:solidFill>
                <a:latin typeface="Calibri" pitchFamily="34" charset="0"/>
                <a:ea typeface="Calibri" pitchFamily="34" charset="-122"/>
                <a:cs typeface="Calibri" pitchFamily="34" charset="-120"/>
              </a:rPr>
              <a:t>use up</a:t>
            </a:r>
            <a:r>
              <a:rPr lang="en-US" sz="1050" dirty="0">
                <a:solidFill>
                  <a:srgbClr val="2A1F3D"/>
                </a:solidFill>
                <a:latin typeface="Calibri" pitchFamily="34" charset="0"/>
                <a:ea typeface="Calibri" pitchFamily="34" charset="-122"/>
                <a:cs typeface="Calibri" pitchFamily="34" charset="-120"/>
              </a:rPr>
              <a:t> what is added, or </a:t>
            </a:r>
            <a:r>
              <a:rPr lang="en-US" sz="1050" b="1" dirty="0">
                <a:solidFill>
                  <a:srgbClr val="2A1F3D"/>
                </a:solidFill>
                <a:latin typeface="Calibri" pitchFamily="34" charset="0"/>
                <a:ea typeface="Calibri" pitchFamily="34" charset="-122"/>
                <a:cs typeface="Calibri" pitchFamily="34" charset="-120"/>
              </a:rPr>
              <a:t>replace</a:t>
            </a:r>
            <a:r>
              <a:rPr lang="en-US" sz="1050" dirty="0">
                <a:solidFill>
                  <a:srgbClr val="2A1F3D"/>
                </a:solidFill>
                <a:latin typeface="Calibri" pitchFamily="34" charset="0"/>
                <a:ea typeface="Calibri" pitchFamily="34" charset="-122"/>
                <a:cs typeface="Calibri" pitchFamily="34" charset="-120"/>
              </a:rPr>
              <a:t> what is removed</a:t>
            </a:r>
            <a:endParaRPr lang="en-US" sz="1050" dirty="0"/>
          </a:p>
        </p:txBody>
      </p:sp>
      <p:sp>
        <p:nvSpPr>
          <p:cNvPr id="42" name="Shape 40"/>
          <p:cNvSpPr/>
          <p:nvPr/>
        </p:nvSpPr>
        <p:spPr>
          <a:xfrm>
            <a:off x="6217920" y="1188720"/>
            <a:ext cx="5562295" cy="3154680"/>
          </a:xfrm>
          <a:prstGeom prst="roundRect">
            <a:avLst>
              <a:gd name="adj" fmla="val 1739"/>
            </a:avLst>
          </a:prstGeom>
          <a:solidFill>
            <a:srgbClr val="F8F5FC"/>
          </a:solidFill>
          <a:ln w="9525">
            <a:solidFill>
              <a:srgbClr val="DDD3EC"/>
            </a:solidFill>
            <a:prstDash val="solid"/>
          </a:ln>
        </p:spPr>
      </p:sp>
      <p:sp>
        <p:nvSpPr>
          <p:cNvPr id="43" name="Text 4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Le Chatelier’s principle</a:t>
            </a:r>
            <a:endParaRPr lang="en-US" sz="1300" dirty="0"/>
          </a:p>
        </p:txBody>
      </p:sp>
      <p:sp>
        <p:nvSpPr>
          <p:cNvPr id="44" name="Text 42"/>
          <p:cNvSpPr/>
          <p:nvPr/>
        </p:nvSpPr>
        <p:spPr>
          <a:xfrm>
            <a:off x="6382512" y="1609344"/>
            <a:ext cx="5233111" cy="266090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position of equilibrium</a:t>
            </a:r>
            <a:r>
              <a:rPr lang="en-US" sz="1100" dirty="0">
                <a:solidFill>
                  <a:srgbClr val="262B3A"/>
                </a:solidFill>
                <a:latin typeface="Calibri" pitchFamily="34" charset="0"/>
                <a:ea typeface="Calibri" pitchFamily="34" charset="-122"/>
                <a:cs typeface="Calibri" pitchFamily="34" charset="-120"/>
              </a:rPr>
              <a:t> tells you how much of the mixture is products compared with reactants.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If a condition is changed, the position of equilibrium </a:t>
            </a:r>
            <a:r>
              <a:rPr lang="en-US" sz="1100" b="1" dirty="0">
                <a:solidFill>
                  <a:srgbClr val="262B3A"/>
                </a:solidFill>
                <a:latin typeface="Calibri" pitchFamily="34" charset="0"/>
                <a:ea typeface="Calibri" pitchFamily="34" charset="-122"/>
                <a:cs typeface="Calibri" pitchFamily="34" charset="-120"/>
              </a:rPr>
              <a:t>shifts to oppose the change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Add more of a reactant</a:t>
            </a:r>
            <a:r>
              <a:rPr lang="en-US" sz="1100" dirty="0">
                <a:solidFill>
                  <a:srgbClr val="262B3A"/>
                </a:solidFill>
                <a:latin typeface="Calibri" pitchFamily="34" charset="0"/>
                <a:ea typeface="Calibri" pitchFamily="34" charset="-122"/>
                <a:cs typeface="Calibri" pitchFamily="34" charset="-120"/>
              </a:rPr>
              <a:t>: the equilibrium shifts </a:t>
            </a:r>
            <a:r>
              <a:rPr lang="en-US" sz="1100" b="1" dirty="0">
                <a:solidFill>
                  <a:srgbClr val="262B3A"/>
                </a:solidFill>
                <a:latin typeface="Calibri" pitchFamily="34" charset="0"/>
                <a:ea typeface="Calibri" pitchFamily="34" charset="-122"/>
                <a:cs typeface="Calibri" pitchFamily="34" charset="-120"/>
              </a:rPr>
              <a:t>right</a:t>
            </a:r>
            <a:r>
              <a:rPr lang="en-US" sz="1100" dirty="0">
                <a:solidFill>
                  <a:srgbClr val="262B3A"/>
                </a:solidFill>
                <a:latin typeface="Calibri" pitchFamily="34" charset="0"/>
                <a:ea typeface="Calibri" pitchFamily="34" charset="-122"/>
                <a:cs typeface="Calibri" pitchFamily="34" charset="-120"/>
              </a:rPr>
              <a:t>, making </a:t>
            </a:r>
            <a:r>
              <a:rPr lang="en-US" sz="1100" b="1" dirty="0">
                <a:solidFill>
                  <a:srgbClr val="262B3A"/>
                </a:solidFill>
                <a:latin typeface="Calibri" pitchFamily="34" charset="0"/>
                <a:ea typeface="Calibri" pitchFamily="34" charset="-122"/>
                <a:cs typeface="Calibri" pitchFamily="34" charset="-120"/>
              </a:rPr>
              <a:t>more product</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Remove a product</a:t>
            </a:r>
            <a:r>
              <a:rPr lang="en-US" sz="1100" dirty="0">
                <a:solidFill>
                  <a:srgbClr val="262B3A"/>
                </a:solidFill>
                <a:latin typeface="Calibri" pitchFamily="34" charset="0"/>
                <a:ea typeface="Calibri" pitchFamily="34" charset="-122"/>
                <a:cs typeface="Calibri" pitchFamily="34" charset="-120"/>
              </a:rPr>
              <a:t> as it forms: the equilibrium shifts </a:t>
            </a:r>
            <a:r>
              <a:rPr lang="en-US" sz="1100" b="1" dirty="0">
                <a:solidFill>
                  <a:srgbClr val="262B3A"/>
                </a:solidFill>
                <a:latin typeface="Calibri" pitchFamily="34" charset="0"/>
                <a:ea typeface="Calibri" pitchFamily="34" charset="-122"/>
                <a:cs typeface="Calibri" pitchFamily="34" charset="-120"/>
              </a:rPr>
              <a:t>right</a:t>
            </a:r>
            <a:r>
              <a:rPr lang="en-US" sz="1100" dirty="0">
                <a:solidFill>
                  <a:srgbClr val="262B3A"/>
                </a:solidFill>
                <a:latin typeface="Calibri" pitchFamily="34" charset="0"/>
                <a:ea typeface="Calibri" pitchFamily="34" charset="-122"/>
                <a:cs typeface="Calibri" pitchFamily="34" charset="-120"/>
              </a:rPr>
              <a:t>, making more product.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Add more product, or remove a reactant: it shifts </a:t>
            </a:r>
            <a:r>
              <a:rPr lang="en-US" sz="1100" b="1" dirty="0">
                <a:solidFill>
                  <a:srgbClr val="262B3A"/>
                </a:solidFill>
                <a:latin typeface="Calibri" pitchFamily="34" charset="0"/>
                <a:ea typeface="Calibri" pitchFamily="34" charset="-122"/>
                <a:cs typeface="Calibri" pitchFamily="34" charset="-120"/>
              </a:rPr>
              <a:t>left</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45" name="Shape 43"/>
          <p:cNvSpPr/>
          <p:nvPr/>
        </p:nvSpPr>
        <p:spPr>
          <a:xfrm>
            <a:off x="6217920" y="4480560"/>
            <a:ext cx="5562295" cy="1234440"/>
          </a:xfrm>
          <a:prstGeom prst="roundRect">
            <a:avLst>
              <a:gd name="adj" fmla="val 4444"/>
            </a:avLst>
          </a:prstGeom>
          <a:solidFill>
            <a:srgbClr val="FFF4E0"/>
          </a:solidFill>
          <a:ln w="9525">
            <a:solidFill>
              <a:srgbClr val="F1D9A8"/>
            </a:solidFill>
            <a:prstDash val="solid"/>
          </a:ln>
        </p:spPr>
      </p:sp>
      <p:sp>
        <p:nvSpPr>
          <p:cNvPr id="46" name="Text 44"/>
          <p:cNvSpPr/>
          <p:nvPr/>
        </p:nvSpPr>
        <p:spPr>
          <a:xfrm>
            <a:off x="6382512" y="45537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removing a product</a:t>
            </a:r>
            <a:endParaRPr lang="en-US" sz="1300" dirty="0"/>
          </a:p>
        </p:txBody>
      </p:sp>
      <p:sp>
        <p:nvSpPr>
          <p:cNvPr id="47" name="Text 45"/>
          <p:cNvSpPr/>
          <p:nvPr/>
        </p:nvSpPr>
        <p:spPr>
          <a:xfrm>
            <a:off x="6382512" y="4864608"/>
            <a:ext cx="5233111" cy="7772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N₂ + 3H₂ ⇌ 2NH₃. Ammonia is cooled and removed as a liquid.</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Change   </a:t>
            </a:r>
            <a:r>
              <a:rPr lang="en-US" sz="1050" dirty="0">
                <a:solidFill>
                  <a:srgbClr val="262B3A"/>
                </a:solidFill>
                <a:latin typeface="Calibri" pitchFamily="34" charset="0"/>
                <a:ea typeface="Calibri" pitchFamily="34" charset="-122"/>
                <a:cs typeface="Calibri" pitchFamily="34" charset="-120"/>
              </a:rPr>
              <a:t>less NH₃ in the mixture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equilibrium shifts </a:t>
            </a:r>
            <a:r>
              <a:rPr lang="en-US" sz="1050" b="1" dirty="0">
                <a:solidFill>
                  <a:srgbClr val="C8414C"/>
                </a:solidFill>
                <a:latin typeface="Calibri" pitchFamily="34" charset="0"/>
                <a:ea typeface="Calibri" pitchFamily="34" charset="-122"/>
                <a:cs typeface="Calibri" pitchFamily="34" charset="-120"/>
              </a:rPr>
              <a:t>right</a:t>
            </a:r>
            <a:r>
              <a:rPr lang="en-US" sz="1050" b="1" dirty="0">
                <a:solidFill>
                  <a:srgbClr val="C8414C"/>
                </a:solidFill>
                <a:latin typeface="Calibri" pitchFamily="34" charset="0"/>
                <a:ea typeface="Calibri" pitchFamily="34" charset="-122"/>
                <a:cs typeface="Calibri" pitchFamily="34" charset="-120"/>
              </a:rPr>
              <a:t> to replace it: </a:t>
            </a:r>
            <a:r>
              <a:rPr lang="en-US" sz="1050" b="1" dirty="0">
                <a:solidFill>
                  <a:srgbClr val="C8414C"/>
                </a:solidFill>
                <a:latin typeface="Calibri" pitchFamily="34" charset="0"/>
                <a:ea typeface="Calibri" pitchFamily="34" charset="-122"/>
                <a:cs typeface="Calibri" pitchFamily="34" charset="-120"/>
              </a:rPr>
              <a:t>more NH₃</a:t>
            </a:r>
            <a:r>
              <a:rPr lang="en-US" sz="1050" b="1" dirty="0">
                <a:solidFill>
                  <a:srgbClr val="C8414C"/>
                </a:solidFill>
                <a:latin typeface="Calibri" pitchFamily="34" charset="0"/>
                <a:ea typeface="Calibri" pitchFamily="34" charset="-122"/>
                <a:cs typeface="Calibri" pitchFamily="34" charset="-120"/>
              </a:rPr>
              <a:t> is made</a:t>
            </a:r>
            <a:endParaRPr lang="en-US" sz="1050" dirty="0"/>
          </a:p>
        </p:txBody>
      </p:sp>
      <p:sp>
        <p:nvSpPr>
          <p:cNvPr id="48" name="Shape 46"/>
          <p:cNvSpPr/>
          <p:nvPr/>
        </p:nvSpPr>
        <p:spPr>
          <a:xfrm>
            <a:off x="411480" y="5833872"/>
            <a:ext cx="11368735" cy="530352"/>
          </a:xfrm>
          <a:prstGeom prst="rect">
            <a:avLst/>
          </a:prstGeom>
          <a:solidFill>
            <a:srgbClr val="FFF4E0"/>
          </a:solidFill>
          <a:ln w="6350">
            <a:solidFill>
              <a:srgbClr val="F1D9A8"/>
            </a:solidFill>
            <a:prstDash val="solid"/>
          </a:ln>
        </p:spPr>
      </p:sp>
      <p:sp>
        <p:nvSpPr>
          <p:cNvPr id="49" name="Shape 47"/>
          <p:cNvSpPr/>
          <p:nvPr/>
        </p:nvSpPr>
        <p:spPr>
          <a:xfrm>
            <a:off x="411480" y="5833872"/>
            <a:ext cx="82296" cy="530352"/>
          </a:xfrm>
          <a:prstGeom prst="rect">
            <a:avLst/>
          </a:prstGeom>
          <a:solidFill>
            <a:srgbClr val="E39A2F"/>
          </a:solidFill>
          <a:ln w="12700">
            <a:solidFill>
              <a:srgbClr val="E39A2F"/>
            </a:solidFill>
            <a:prstDash val="solid"/>
          </a:ln>
        </p:spPr>
      </p:sp>
      <p:sp>
        <p:nvSpPr>
          <p:cNvPr id="50" name="Text 4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2SO₂(g) + O₂(g) ⇌ 2SO₃(g). Predict the effect on the amount of </a:t>
            </a:r>
            <a:r>
              <a:rPr lang="en-US" sz="1150" b="1" dirty="0">
                <a:solidFill>
                  <a:srgbClr val="262B3A"/>
                </a:solidFill>
                <a:latin typeface="Calibri" pitchFamily="34" charset="0"/>
                <a:ea typeface="Calibri" pitchFamily="34" charset="-122"/>
                <a:cs typeface="Calibri" pitchFamily="34" charset="-120"/>
              </a:rPr>
              <a:t>SO₃</a:t>
            </a:r>
            <a:r>
              <a:rPr lang="en-US" sz="1150" dirty="0">
                <a:solidFill>
                  <a:srgbClr val="262B3A"/>
                </a:solidFill>
                <a:latin typeface="Calibri" pitchFamily="34" charset="0"/>
                <a:ea typeface="Calibri" pitchFamily="34" charset="-122"/>
                <a:cs typeface="Calibri" pitchFamily="34" charset="-120"/>
              </a:rPr>
              <a:t> of (a) adding </a:t>
            </a:r>
            <a:r>
              <a:rPr lang="en-US" sz="1150" b="1" dirty="0">
                <a:solidFill>
                  <a:srgbClr val="262B3A"/>
                </a:solidFill>
                <a:latin typeface="Calibri" pitchFamily="34" charset="0"/>
                <a:ea typeface="Calibri" pitchFamily="34" charset="-122"/>
                <a:cs typeface="Calibri" pitchFamily="34" charset="-120"/>
              </a:rPr>
              <a:t>more oxygen</a:t>
            </a:r>
            <a:r>
              <a:rPr lang="en-US" sz="1150" dirty="0">
                <a:solidFill>
                  <a:srgbClr val="262B3A"/>
                </a:solidFill>
                <a:latin typeface="Calibri" pitchFamily="34" charset="0"/>
                <a:ea typeface="Calibri" pitchFamily="34" charset="-122"/>
                <a:cs typeface="Calibri" pitchFamily="34" charset="-120"/>
              </a:rPr>
              <a:t>, (b) </a:t>
            </a:r>
            <a:r>
              <a:rPr lang="en-US" sz="1150" b="1" dirty="0">
                <a:solidFill>
                  <a:srgbClr val="262B3A"/>
                </a:solidFill>
                <a:latin typeface="Calibri" pitchFamily="34" charset="0"/>
                <a:ea typeface="Calibri" pitchFamily="34" charset="-122"/>
                <a:cs typeface="Calibri" pitchFamily="34" charset="-120"/>
              </a:rPr>
              <a:t>removing SO₃</a:t>
            </a:r>
            <a:r>
              <a:rPr lang="en-US" sz="1150" dirty="0">
                <a:solidFill>
                  <a:srgbClr val="262B3A"/>
                </a:solidFill>
                <a:latin typeface="Calibri" pitchFamily="34" charset="0"/>
                <a:ea typeface="Calibri" pitchFamily="34" charset="-122"/>
                <a:cs typeface="Calibri" pitchFamily="34" charset="-120"/>
              </a:rPr>
              <a:t> as it forms.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Changing temperature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C6.3.3 • predict the effect of changing temperature on the position of equilibrium</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C6.3.3  |  13</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three sealed tubes of the same NO₂ / N₂O₄ mixture; teacher demonstration</a:t>
            </a:r>
            <a:endParaRPr lang="en-US" sz="1000" dirty="0"/>
          </a:p>
        </p:txBody>
      </p:sp>
      <p:sp>
        <p:nvSpPr>
          <p:cNvPr id="12" name="Shape 10"/>
          <p:cNvSpPr/>
          <p:nvPr/>
        </p:nvSpPr>
        <p:spPr>
          <a:xfrm>
            <a:off x="640080" y="1325880"/>
            <a:ext cx="5120640" cy="365760"/>
          </a:xfrm>
          <a:prstGeom prst="roundRect">
            <a:avLst>
              <a:gd name="adj" fmla="val 12500"/>
            </a:avLst>
          </a:prstGeom>
          <a:solidFill>
            <a:srgbClr val="FFFFFF"/>
          </a:solidFill>
          <a:ln w="12700">
            <a:solidFill>
              <a:srgbClr val="DDD3EC"/>
            </a:solidFill>
            <a:prstDash val="solid"/>
          </a:ln>
        </p:spPr>
      </p:sp>
      <p:sp>
        <p:nvSpPr>
          <p:cNvPr id="13" name="Text 11"/>
          <p:cNvSpPr/>
          <p:nvPr/>
        </p:nvSpPr>
        <p:spPr>
          <a:xfrm>
            <a:off x="713232" y="1325880"/>
            <a:ext cx="4974336" cy="365760"/>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2NO₂(g) ⇌ N₂O₄(g)   forward: exothermic</a:t>
            </a:r>
            <a:endParaRPr lang="en-US" sz="1200" dirty="0"/>
          </a:p>
        </p:txBody>
      </p:sp>
      <p:sp>
        <p:nvSpPr>
          <p:cNvPr id="14" name="Text 12"/>
          <p:cNvSpPr/>
          <p:nvPr/>
        </p:nvSpPr>
        <p:spPr>
          <a:xfrm>
            <a:off x="640080" y="1719072"/>
            <a:ext cx="51206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NO₂ brown  •  N₂O₄ colourless</a:t>
            </a:r>
            <a:endParaRPr lang="en-US" sz="1000" dirty="0"/>
          </a:p>
        </p:txBody>
      </p:sp>
      <p:sp>
        <p:nvSpPr>
          <p:cNvPr id="15" name="Text 13"/>
          <p:cNvSpPr/>
          <p:nvPr/>
        </p:nvSpPr>
        <p:spPr>
          <a:xfrm>
            <a:off x="457200" y="2011680"/>
            <a:ext cx="1554480" cy="237744"/>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ice, 0 °C</a:t>
            </a:r>
            <a:endParaRPr lang="en-US" sz="1000" dirty="0"/>
          </a:p>
        </p:txBody>
      </p:sp>
      <p:sp>
        <p:nvSpPr>
          <p:cNvPr id="16" name="Shape 14"/>
          <p:cNvSpPr/>
          <p:nvPr/>
        </p:nvSpPr>
        <p:spPr>
          <a:xfrm>
            <a:off x="612648" y="3049524"/>
            <a:ext cx="1243584" cy="1229868"/>
          </a:xfrm>
          <a:prstGeom prst="rect">
            <a:avLst/>
          </a:prstGeom>
          <a:solidFill>
            <a:srgbClr val="D7EAF7"/>
          </a:solidFill>
          <a:ln/>
        </p:spPr>
      </p:sp>
      <p:sp>
        <p:nvSpPr>
          <p:cNvPr id="17" name="Shape 15"/>
          <p:cNvSpPr/>
          <p:nvPr/>
        </p:nvSpPr>
        <p:spPr>
          <a:xfrm>
            <a:off x="594360" y="2514600"/>
            <a:ext cx="91" cy="1783080"/>
          </a:xfrm>
          <a:prstGeom prst="line">
            <a:avLst/>
          </a:prstGeom>
          <a:noFill/>
          <a:ln w="19050">
            <a:solidFill>
              <a:srgbClr val="2A1F3D"/>
            </a:solidFill>
            <a:prstDash val="solid"/>
          </a:ln>
        </p:spPr>
      </p:sp>
      <p:sp>
        <p:nvSpPr>
          <p:cNvPr id="18" name="Shape 16"/>
          <p:cNvSpPr/>
          <p:nvPr/>
        </p:nvSpPr>
        <p:spPr>
          <a:xfrm>
            <a:off x="1874520" y="2514600"/>
            <a:ext cx="91" cy="1783080"/>
          </a:xfrm>
          <a:prstGeom prst="line">
            <a:avLst/>
          </a:prstGeom>
          <a:noFill/>
          <a:ln w="19050">
            <a:solidFill>
              <a:srgbClr val="2A1F3D"/>
            </a:solidFill>
            <a:prstDash val="solid"/>
          </a:ln>
        </p:spPr>
      </p:sp>
      <p:sp>
        <p:nvSpPr>
          <p:cNvPr id="19" name="Shape 17"/>
          <p:cNvSpPr/>
          <p:nvPr/>
        </p:nvSpPr>
        <p:spPr>
          <a:xfrm>
            <a:off x="594360" y="4297680"/>
            <a:ext cx="1280160" cy="91"/>
          </a:xfrm>
          <a:prstGeom prst="line">
            <a:avLst/>
          </a:prstGeom>
          <a:noFill/>
          <a:ln w="19050">
            <a:solidFill>
              <a:srgbClr val="2A1F3D"/>
            </a:solidFill>
            <a:prstDash val="solid"/>
          </a:ln>
        </p:spPr>
      </p:sp>
      <p:sp>
        <p:nvSpPr>
          <p:cNvPr id="20" name="Shape 18"/>
          <p:cNvSpPr/>
          <p:nvPr/>
        </p:nvSpPr>
        <p:spPr>
          <a:xfrm>
            <a:off x="1033272" y="2331720"/>
            <a:ext cx="402336" cy="1783080"/>
          </a:xfrm>
          <a:prstGeom prst="roundRect">
            <a:avLst>
              <a:gd name="adj" fmla="val 50000"/>
            </a:avLst>
          </a:prstGeom>
          <a:solidFill>
            <a:srgbClr val="8B4513">
              <a:alpha val="18000"/>
            </a:srgbClr>
          </a:solidFill>
          <a:ln/>
        </p:spPr>
      </p:sp>
      <p:sp>
        <p:nvSpPr>
          <p:cNvPr id="21" name="Shape 19"/>
          <p:cNvSpPr/>
          <p:nvPr/>
        </p:nvSpPr>
        <p:spPr>
          <a:xfrm>
            <a:off x="1033272" y="2331720"/>
            <a:ext cx="402336" cy="1783080"/>
          </a:xfrm>
          <a:prstGeom prst="roundRect">
            <a:avLst>
              <a:gd name="adj" fmla="val 50000"/>
            </a:avLst>
          </a:prstGeom>
          <a:ln w="15875">
            <a:solidFill>
              <a:srgbClr val="2A1F3D"/>
            </a:solidFill>
            <a:prstDash val="solid"/>
          </a:ln>
        </p:spPr>
      </p:sp>
      <p:sp>
        <p:nvSpPr>
          <p:cNvPr id="22" name="Text 20"/>
          <p:cNvSpPr/>
          <p:nvPr/>
        </p:nvSpPr>
        <p:spPr>
          <a:xfrm>
            <a:off x="457200" y="4434840"/>
            <a:ext cx="1554480" cy="237744"/>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paler: more N₂O₄</a:t>
            </a:r>
            <a:endParaRPr lang="en-US" sz="1000" dirty="0"/>
          </a:p>
        </p:txBody>
      </p:sp>
      <p:sp>
        <p:nvSpPr>
          <p:cNvPr id="23" name="Text 21"/>
          <p:cNvSpPr/>
          <p:nvPr/>
        </p:nvSpPr>
        <p:spPr>
          <a:xfrm>
            <a:off x="2103120" y="2011680"/>
            <a:ext cx="1554480" cy="237744"/>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room, 20 °C</a:t>
            </a:r>
            <a:endParaRPr lang="en-US" sz="1000" dirty="0"/>
          </a:p>
        </p:txBody>
      </p:sp>
      <p:sp>
        <p:nvSpPr>
          <p:cNvPr id="24" name="Shape 22"/>
          <p:cNvSpPr/>
          <p:nvPr/>
        </p:nvSpPr>
        <p:spPr>
          <a:xfrm>
            <a:off x="2679192" y="2331720"/>
            <a:ext cx="402336" cy="1783080"/>
          </a:xfrm>
          <a:prstGeom prst="roundRect">
            <a:avLst>
              <a:gd name="adj" fmla="val 50000"/>
            </a:avLst>
          </a:prstGeom>
          <a:solidFill>
            <a:srgbClr val="8B4513">
              <a:alpha val="45000"/>
            </a:srgbClr>
          </a:solidFill>
          <a:ln/>
        </p:spPr>
      </p:sp>
      <p:sp>
        <p:nvSpPr>
          <p:cNvPr id="25" name="Shape 23"/>
          <p:cNvSpPr/>
          <p:nvPr/>
        </p:nvSpPr>
        <p:spPr>
          <a:xfrm>
            <a:off x="2679192" y="2331720"/>
            <a:ext cx="402336" cy="1783080"/>
          </a:xfrm>
          <a:prstGeom prst="roundRect">
            <a:avLst>
              <a:gd name="adj" fmla="val 50000"/>
            </a:avLst>
          </a:prstGeom>
          <a:ln w="15875">
            <a:solidFill>
              <a:srgbClr val="2A1F3D"/>
            </a:solidFill>
            <a:prstDash val="solid"/>
          </a:ln>
        </p:spPr>
      </p:sp>
      <p:sp>
        <p:nvSpPr>
          <p:cNvPr id="26" name="Text 24"/>
          <p:cNvSpPr/>
          <p:nvPr/>
        </p:nvSpPr>
        <p:spPr>
          <a:xfrm>
            <a:off x="2103120" y="4434840"/>
            <a:ext cx="1554480" cy="237744"/>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brown</a:t>
            </a:r>
            <a:endParaRPr lang="en-US" sz="1000" dirty="0"/>
          </a:p>
        </p:txBody>
      </p:sp>
      <p:sp>
        <p:nvSpPr>
          <p:cNvPr id="27" name="Text 25"/>
          <p:cNvSpPr/>
          <p:nvPr/>
        </p:nvSpPr>
        <p:spPr>
          <a:xfrm>
            <a:off x="3749040" y="2011680"/>
            <a:ext cx="1554480" cy="237744"/>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hot water, 80 °C</a:t>
            </a:r>
            <a:endParaRPr lang="en-US" sz="1000" dirty="0"/>
          </a:p>
        </p:txBody>
      </p:sp>
      <p:sp>
        <p:nvSpPr>
          <p:cNvPr id="28" name="Shape 26"/>
          <p:cNvSpPr/>
          <p:nvPr/>
        </p:nvSpPr>
        <p:spPr>
          <a:xfrm>
            <a:off x="3904488" y="3049524"/>
            <a:ext cx="1243584" cy="1229868"/>
          </a:xfrm>
          <a:prstGeom prst="rect">
            <a:avLst/>
          </a:prstGeom>
          <a:solidFill>
            <a:srgbClr val="F8D7C8"/>
          </a:solidFill>
          <a:ln/>
        </p:spPr>
      </p:sp>
      <p:sp>
        <p:nvSpPr>
          <p:cNvPr id="29" name="Shape 27"/>
          <p:cNvSpPr/>
          <p:nvPr/>
        </p:nvSpPr>
        <p:spPr>
          <a:xfrm>
            <a:off x="3886200" y="2514600"/>
            <a:ext cx="91" cy="1783080"/>
          </a:xfrm>
          <a:prstGeom prst="line">
            <a:avLst/>
          </a:prstGeom>
          <a:noFill/>
          <a:ln w="19050">
            <a:solidFill>
              <a:srgbClr val="2A1F3D"/>
            </a:solidFill>
            <a:prstDash val="solid"/>
          </a:ln>
        </p:spPr>
      </p:sp>
      <p:sp>
        <p:nvSpPr>
          <p:cNvPr id="30" name="Shape 28"/>
          <p:cNvSpPr/>
          <p:nvPr/>
        </p:nvSpPr>
        <p:spPr>
          <a:xfrm>
            <a:off x="5166360" y="2514600"/>
            <a:ext cx="91" cy="1783080"/>
          </a:xfrm>
          <a:prstGeom prst="line">
            <a:avLst/>
          </a:prstGeom>
          <a:noFill/>
          <a:ln w="19050">
            <a:solidFill>
              <a:srgbClr val="2A1F3D"/>
            </a:solidFill>
            <a:prstDash val="solid"/>
          </a:ln>
        </p:spPr>
      </p:sp>
      <p:sp>
        <p:nvSpPr>
          <p:cNvPr id="31" name="Shape 29"/>
          <p:cNvSpPr/>
          <p:nvPr/>
        </p:nvSpPr>
        <p:spPr>
          <a:xfrm>
            <a:off x="3886200" y="4297680"/>
            <a:ext cx="1280160" cy="91"/>
          </a:xfrm>
          <a:prstGeom prst="line">
            <a:avLst/>
          </a:prstGeom>
          <a:noFill/>
          <a:ln w="19050">
            <a:solidFill>
              <a:srgbClr val="2A1F3D"/>
            </a:solidFill>
            <a:prstDash val="solid"/>
          </a:ln>
        </p:spPr>
      </p:sp>
      <p:sp>
        <p:nvSpPr>
          <p:cNvPr id="32" name="Shape 30"/>
          <p:cNvSpPr/>
          <p:nvPr/>
        </p:nvSpPr>
        <p:spPr>
          <a:xfrm>
            <a:off x="4325112" y="2331720"/>
            <a:ext cx="402336" cy="1783080"/>
          </a:xfrm>
          <a:prstGeom prst="roundRect">
            <a:avLst>
              <a:gd name="adj" fmla="val 50000"/>
            </a:avLst>
          </a:prstGeom>
          <a:solidFill>
            <a:srgbClr val="8B4513">
              <a:alpha val="80000"/>
            </a:srgbClr>
          </a:solidFill>
          <a:ln/>
        </p:spPr>
      </p:sp>
      <p:sp>
        <p:nvSpPr>
          <p:cNvPr id="33" name="Shape 31"/>
          <p:cNvSpPr/>
          <p:nvPr/>
        </p:nvSpPr>
        <p:spPr>
          <a:xfrm>
            <a:off x="4325112" y="2331720"/>
            <a:ext cx="402336" cy="1783080"/>
          </a:xfrm>
          <a:prstGeom prst="roundRect">
            <a:avLst>
              <a:gd name="adj" fmla="val 50000"/>
            </a:avLst>
          </a:prstGeom>
          <a:ln w="15875">
            <a:solidFill>
              <a:srgbClr val="2A1F3D"/>
            </a:solidFill>
            <a:prstDash val="solid"/>
          </a:ln>
        </p:spPr>
      </p:sp>
      <p:sp>
        <p:nvSpPr>
          <p:cNvPr id="34" name="Text 32"/>
          <p:cNvSpPr/>
          <p:nvPr/>
        </p:nvSpPr>
        <p:spPr>
          <a:xfrm>
            <a:off x="3749040" y="4434840"/>
            <a:ext cx="1554480" cy="237744"/>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darker: more NO₂</a:t>
            </a:r>
            <a:endParaRPr lang="en-US" sz="1000" dirty="0"/>
          </a:p>
        </p:txBody>
      </p:sp>
      <p:sp>
        <p:nvSpPr>
          <p:cNvPr id="35" name="Shape 33"/>
          <p:cNvSpPr/>
          <p:nvPr/>
        </p:nvSpPr>
        <p:spPr>
          <a:xfrm>
            <a:off x="685800" y="4800600"/>
            <a:ext cx="5029200" cy="502920"/>
          </a:xfrm>
          <a:prstGeom prst="roundRect">
            <a:avLst>
              <a:gd name="adj" fmla="val 10909"/>
            </a:avLst>
          </a:prstGeom>
          <a:solidFill>
            <a:srgbClr val="FBE3E4"/>
          </a:solidFill>
          <a:ln w="12700">
            <a:solidFill>
              <a:srgbClr val="C8414C"/>
            </a:solidFill>
            <a:prstDash val="solid"/>
          </a:ln>
        </p:spPr>
      </p:sp>
      <p:sp>
        <p:nvSpPr>
          <p:cNvPr id="36" name="Text 34"/>
          <p:cNvSpPr/>
          <p:nvPr/>
        </p:nvSpPr>
        <p:spPr>
          <a:xfrm>
            <a:off x="740664" y="4800600"/>
            <a:ext cx="4919472" cy="502920"/>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Heating favours the </a:t>
            </a:r>
            <a:r>
              <a:rPr lang="en-US" sz="1100" b="1" dirty="0">
                <a:solidFill>
                  <a:srgbClr val="262B3A"/>
                </a:solidFill>
                <a:latin typeface="Calibri" pitchFamily="34" charset="0"/>
                <a:ea typeface="Calibri" pitchFamily="34" charset="-122"/>
                <a:cs typeface="Calibri" pitchFamily="34" charset="-120"/>
              </a:rPr>
              <a:t>endothermic</a:t>
            </a:r>
            <a:r>
              <a:rPr lang="en-US" sz="1100" dirty="0">
                <a:solidFill>
                  <a:srgbClr val="262B3A"/>
                </a:solidFill>
                <a:latin typeface="Calibri" pitchFamily="34" charset="0"/>
                <a:ea typeface="Calibri" pitchFamily="34" charset="-122"/>
                <a:cs typeface="Calibri" pitchFamily="34" charset="-120"/>
              </a:rPr>
              <a:t> direction (here, </a:t>
            </a:r>
            <a:r>
              <a:rPr lang="en-US" sz="1100" b="1" dirty="0">
                <a:solidFill>
                  <a:srgbClr val="262B3A"/>
                </a:solidFill>
                <a:latin typeface="Calibri" pitchFamily="34" charset="0"/>
                <a:ea typeface="Calibri" pitchFamily="34" charset="-122"/>
                <a:cs typeface="Calibri" pitchFamily="34" charset="-120"/>
              </a:rPr>
              <a:t>left</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37" name="Shape 35"/>
          <p:cNvSpPr/>
          <p:nvPr/>
        </p:nvSpPr>
        <p:spPr>
          <a:xfrm>
            <a:off x="6217920" y="1188720"/>
            <a:ext cx="5562295" cy="3063240"/>
          </a:xfrm>
          <a:prstGeom prst="roundRect">
            <a:avLst>
              <a:gd name="adj" fmla="val 1791"/>
            </a:avLst>
          </a:prstGeom>
          <a:solidFill>
            <a:srgbClr val="F8F5FC"/>
          </a:solidFill>
          <a:ln w="9525">
            <a:solidFill>
              <a:srgbClr val="DDD3EC"/>
            </a:solidFill>
            <a:prstDash val="solid"/>
          </a:ln>
        </p:spPr>
      </p:sp>
      <p:sp>
        <p:nvSpPr>
          <p:cNvPr id="38" name="Text 3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Temperature and the energy change</a:t>
            </a:r>
            <a:endParaRPr lang="en-US" sz="1300" dirty="0"/>
          </a:p>
        </p:txBody>
      </p:sp>
      <p:sp>
        <p:nvSpPr>
          <p:cNvPr id="39" name="Text 37"/>
          <p:cNvSpPr/>
          <p:nvPr/>
        </p:nvSpPr>
        <p:spPr>
          <a:xfrm>
            <a:off x="6382512" y="1609344"/>
            <a:ext cx="5233111" cy="256946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First decide whether the </a:t>
            </a:r>
            <a:r>
              <a:rPr lang="en-US" sz="1100" b="1" dirty="0">
                <a:solidFill>
                  <a:srgbClr val="262B3A"/>
                </a:solidFill>
                <a:latin typeface="Calibri" pitchFamily="34" charset="0"/>
                <a:ea typeface="Calibri" pitchFamily="34" charset="-122"/>
                <a:cs typeface="Calibri" pitchFamily="34" charset="-120"/>
              </a:rPr>
              <a:t>forward</a:t>
            </a:r>
            <a:r>
              <a:rPr lang="en-US" sz="1100" dirty="0">
                <a:solidFill>
                  <a:srgbClr val="262B3A"/>
                </a:solidFill>
                <a:latin typeface="Calibri" pitchFamily="34" charset="0"/>
                <a:ea typeface="Calibri" pitchFamily="34" charset="-122"/>
                <a:cs typeface="Calibri" pitchFamily="34" charset="-120"/>
              </a:rPr>
              <a:t> reaction is </a:t>
            </a:r>
            <a:r>
              <a:rPr lang="en-US" sz="1100" b="1" dirty="0">
                <a:solidFill>
                  <a:srgbClr val="262B3A"/>
                </a:solidFill>
                <a:latin typeface="Calibri" pitchFamily="34" charset="0"/>
                <a:ea typeface="Calibri" pitchFamily="34" charset="-122"/>
                <a:cs typeface="Calibri" pitchFamily="34" charset="-120"/>
              </a:rPr>
              <a:t>exothermic</a:t>
            </a:r>
            <a:r>
              <a:rPr lang="en-US" sz="1100" dirty="0">
                <a:solidFill>
                  <a:srgbClr val="262B3A"/>
                </a:solidFill>
                <a:latin typeface="Calibri" pitchFamily="34" charset="0"/>
                <a:ea typeface="Calibri" pitchFamily="34" charset="-122"/>
                <a:cs typeface="Calibri" pitchFamily="34" charset="-120"/>
              </a:rPr>
              <a:t> or </a:t>
            </a:r>
            <a:r>
              <a:rPr lang="en-US" sz="1100" b="1" dirty="0">
                <a:solidFill>
                  <a:srgbClr val="262B3A"/>
                </a:solidFill>
                <a:latin typeface="Calibri" pitchFamily="34" charset="0"/>
                <a:ea typeface="Calibri" pitchFamily="34" charset="-122"/>
                <a:cs typeface="Calibri" pitchFamily="34" charset="-120"/>
              </a:rPr>
              <a:t>endothermic</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Increase</a:t>
            </a:r>
            <a:r>
              <a:rPr lang="en-US" sz="1100" dirty="0">
                <a:solidFill>
                  <a:srgbClr val="262B3A"/>
                </a:solidFill>
                <a:latin typeface="Calibri" pitchFamily="34" charset="0"/>
                <a:ea typeface="Calibri" pitchFamily="34" charset="-122"/>
                <a:cs typeface="Calibri" pitchFamily="34" charset="-120"/>
              </a:rPr>
              <a:t> the temperature: the equilibrium shifts in the </a:t>
            </a:r>
            <a:r>
              <a:rPr lang="en-US" sz="1100" b="1" dirty="0">
                <a:solidFill>
                  <a:srgbClr val="262B3A"/>
                </a:solidFill>
                <a:latin typeface="Calibri" pitchFamily="34" charset="0"/>
                <a:ea typeface="Calibri" pitchFamily="34" charset="-122"/>
                <a:cs typeface="Calibri" pitchFamily="34" charset="-120"/>
              </a:rPr>
              <a:t>endothermic</a:t>
            </a:r>
            <a:r>
              <a:rPr lang="en-US" sz="1100" dirty="0">
                <a:solidFill>
                  <a:srgbClr val="262B3A"/>
                </a:solidFill>
                <a:latin typeface="Calibri" pitchFamily="34" charset="0"/>
                <a:ea typeface="Calibri" pitchFamily="34" charset="-122"/>
                <a:cs typeface="Calibri" pitchFamily="34" charset="-120"/>
              </a:rPr>
              <a:t> direction (it takes in the extra energy).</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Decrease</a:t>
            </a:r>
            <a:r>
              <a:rPr lang="en-US" sz="1100" dirty="0">
                <a:solidFill>
                  <a:srgbClr val="262B3A"/>
                </a:solidFill>
                <a:latin typeface="Calibri" pitchFamily="34" charset="0"/>
                <a:ea typeface="Calibri" pitchFamily="34" charset="-122"/>
                <a:cs typeface="Calibri" pitchFamily="34" charset="-120"/>
              </a:rPr>
              <a:t> the temperature: the equilibrium shifts in the </a:t>
            </a:r>
            <a:r>
              <a:rPr lang="en-US" sz="1100" b="1" dirty="0">
                <a:solidFill>
                  <a:srgbClr val="262B3A"/>
                </a:solidFill>
                <a:latin typeface="Calibri" pitchFamily="34" charset="0"/>
                <a:ea typeface="Calibri" pitchFamily="34" charset="-122"/>
                <a:cs typeface="Calibri" pitchFamily="34" charset="-120"/>
              </a:rPr>
              <a:t>exothermic</a:t>
            </a:r>
            <a:r>
              <a:rPr lang="en-US" sz="1100" dirty="0">
                <a:solidFill>
                  <a:srgbClr val="262B3A"/>
                </a:solidFill>
                <a:latin typeface="Calibri" pitchFamily="34" charset="0"/>
                <a:ea typeface="Calibri" pitchFamily="34" charset="-122"/>
                <a:cs typeface="Calibri" pitchFamily="34" charset="-120"/>
              </a:rPr>
              <a:t> direction.</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If the forward reaction is exothermic, a </a:t>
            </a:r>
            <a:r>
              <a:rPr lang="en-US" sz="1100" b="1" dirty="0">
                <a:solidFill>
                  <a:srgbClr val="262B3A"/>
                </a:solidFill>
                <a:latin typeface="Calibri" pitchFamily="34" charset="0"/>
                <a:ea typeface="Calibri" pitchFamily="34" charset="-122"/>
                <a:cs typeface="Calibri" pitchFamily="34" charset="-120"/>
              </a:rPr>
              <a:t>lower</a:t>
            </a:r>
            <a:r>
              <a:rPr lang="en-US" sz="1100" dirty="0">
                <a:solidFill>
                  <a:srgbClr val="262B3A"/>
                </a:solidFill>
                <a:latin typeface="Calibri" pitchFamily="34" charset="0"/>
                <a:ea typeface="Calibri" pitchFamily="34" charset="-122"/>
                <a:cs typeface="Calibri" pitchFamily="34" charset="-120"/>
              </a:rPr>
              <a:t> temperature gives </a:t>
            </a:r>
            <a:r>
              <a:rPr lang="en-US" sz="1100" b="1" dirty="0">
                <a:solidFill>
                  <a:srgbClr val="262B3A"/>
                </a:solidFill>
                <a:latin typeface="Calibri" pitchFamily="34" charset="0"/>
                <a:ea typeface="Calibri" pitchFamily="34" charset="-122"/>
                <a:cs typeface="Calibri" pitchFamily="34" charset="-120"/>
              </a:rPr>
              <a:t>more product</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40" name="Shape 38"/>
          <p:cNvSpPr/>
          <p:nvPr/>
        </p:nvSpPr>
        <p:spPr>
          <a:xfrm>
            <a:off x="6217920" y="4389120"/>
            <a:ext cx="5562295" cy="1325880"/>
          </a:xfrm>
          <a:prstGeom prst="roundRect">
            <a:avLst>
              <a:gd name="adj" fmla="val 4138"/>
            </a:avLst>
          </a:prstGeom>
          <a:solidFill>
            <a:srgbClr val="FFF4E0"/>
          </a:solidFill>
          <a:ln w="9525">
            <a:solidFill>
              <a:srgbClr val="F1D9A8"/>
            </a:solidFill>
            <a:prstDash val="solid"/>
          </a:ln>
        </p:spPr>
      </p:sp>
      <p:sp>
        <p:nvSpPr>
          <p:cNvPr id="41" name="Text 39"/>
          <p:cNvSpPr/>
          <p:nvPr/>
        </p:nvSpPr>
        <p:spPr>
          <a:xfrm>
            <a:off x="6382512" y="446227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the Haber process</a:t>
            </a:r>
            <a:endParaRPr lang="en-US" sz="1300" dirty="0"/>
          </a:p>
        </p:txBody>
      </p:sp>
      <p:sp>
        <p:nvSpPr>
          <p:cNvPr id="42" name="Text 40"/>
          <p:cNvSpPr/>
          <p:nvPr/>
        </p:nvSpPr>
        <p:spPr>
          <a:xfrm>
            <a:off x="6382512" y="4773168"/>
            <a:ext cx="5233111" cy="8686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N₂ + 3H₂ ⇌ 2NH₃. The forward reaction is exothermic.</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Lower T   </a:t>
            </a:r>
            <a:r>
              <a:rPr lang="en-US" sz="1050" dirty="0">
                <a:solidFill>
                  <a:srgbClr val="262B3A"/>
                </a:solidFill>
                <a:latin typeface="Calibri" pitchFamily="34" charset="0"/>
                <a:ea typeface="Calibri" pitchFamily="34" charset="-122"/>
                <a:cs typeface="Calibri" pitchFamily="34" charset="-120"/>
              </a:rPr>
              <a:t>favours the exothermic (forward) direction</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a </a:t>
            </a:r>
            <a:r>
              <a:rPr lang="en-US" sz="1050" b="1" dirty="0">
                <a:solidFill>
                  <a:srgbClr val="C8414C"/>
                </a:solidFill>
                <a:latin typeface="Calibri" pitchFamily="34" charset="0"/>
                <a:ea typeface="Calibri" pitchFamily="34" charset="-122"/>
                <a:cs typeface="Calibri" pitchFamily="34" charset="-120"/>
              </a:rPr>
              <a:t>lower temperature</a:t>
            </a:r>
            <a:r>
              <a:rPr lang="en-US" sz="1050" b="1" dirty="0">
                <a:solidFill>
                  <a:srgbClr val="C8414C"/>
                </a:solidFill>
                <a:latin typeface="Calibri" pitchFamily="34" charset="0"/>
                <a:ea typeface="Calibri" pitchFamily="34" charset="-122"/>
                <a:cs typeface="Calibri" pitchFamily="34" charset="-120"/>
              </a:rPr>
              <a:t> gives a </a:t>
            </a:r>
            <a:r>
              <a:rPr lang="en-US" sz="1050" b="1" dirty="0">
                <a:solidFill>
                  <a:srgbClr val="C8414C"/>
                </a:solidFill>
                <a:latin typeface="Calibri" pitchFamily="34" charset="0"/>
                <a:ea typeface="Calibri" pitchFamily="34" charset="-122"/>
                <a:cs typeface="Calibri" pitchFamily="34" charset="-120"/>
              </a:rPr>
              <a:t>higher yield</a:t>
            </a:r>
            <a:r>
              <a:rPr lang="en-US" sz="1050" b="1" dirty="0">
                <a:solidFill>
                  <a:srgbClr val="C8414C"/>
                </a:solidFill>
                <a:latin typeface="Calibri" pitchFamily="34" charset="0"/>
                <a:ea typeface="Calibri" pitchFamily="34" charset="-122"/>
                <a:cs typeface="Calibri" pitchFamily="34" charset="-120"/>
              </a:rPr>
              <a:t> of NH₃</a:t>
            </a:r>
            <a:endParaRPr lang="en-US" sz="1050" dirty="0"/>
          </a:p>
        </p:txBody>
      </p:sp>
      <p:sp>
        <p:nvSpPr>
          <p:cNvPr id="43" name="Shape 41"/>
          <p:cNvSpPr/>
          <p:nvPr/>
        </p:nvSpPr>
        <p:spPr>
          <a:xfrm>
            <a:off x="411480" y="5833872"/>
            <a:ext cx="11368735" cy="530352"/>
          </a:xfrm>
          <a:prstGeom prst="rect">
            <a:avLst/>
          </a:prstGeom>
          <a:solidFill>
            <a:srgbClr val="FFF4E0"/>
          </a:solidFill>
          <a:ln w="6350">
            <a:solidFill>
              <a:srgbClr val="F1D9A8"/>
            </a:solidFill>
            <a:prstDash val="solid"/>
          </a:ln>
        </p:spPr>
      </p:sp>
      <p:sp>
        <p:nvSpPr>
          <p:cNvPr id="44" name="Shape 42"/>
          <p:cNvSpPr/>
          <p:nvPr/>
        </p:nvSpPr>
        <p:spPr>
          <a:xfrm>
            <a:off x="411480" y="5833872"/>
            <a:ext cx="82296" cy="530352"/>
          </a:xfrm>
          <a:prstGeom prst="rect">
            <a:avLst/>
          </a:prstGeom>
          <a:solidFill>
            <a:srgbClr val="E39A2F"/>
          </a:solidFill>
          <a:ln w="12700">
            <a:solidFill>
              <a:srgbClr val="E39A2F"/>
            </a:solidFill>
            <a:prstDash val="solid"/>
          </a:ln>
        </p:spPr>
      </p:sp>
      <p:sp>
        <p:nvSpPr>
          <p:cNvPr id="45" name="Text 4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CH₄(g) + H₂O(g) ⇌ CO(g) + 3H₂(g). The forward reaction is </a:t>
            </a:r>
            <a:r>
              <a:rPr lang="en-US" sz="1150" b="1" dirty="0">
                <a:solidFill>
                  <a:srgbClr val="262B3A"/>
                </a:solidFill>
                <a:latin typeface="Calibri" pitchFamily="34" charset="0"/>
                <a:ea typeface="Calibri" pitchFamily="34" charset="-122"/>
                <a:cs typeface="Calibri" pitchFamily="34" charset="-120"/>
              </a:rPr>
              <a:t>endothermic</a:t>
            </a:r>
            <a:r>
              <a:rPr lang="en-US" sz="1150" dirty="0">
                <a:solidFill>
                  <a:srgbClr val="262B3A"/>
                </a:solidFill>
                <a:latin typeface="Calibri" pitchFamily="34" charset="0"/>
                <a:ea typeface="Calibri" pitchFamily="34" charset="-122"/>
                <a:cs typeface="Calibri" pitchFamily="34" charset="-120"/>
              </a:rPr>
              <a:t>. What happens to the amount of </a:t>
            </a:r>
            <a:r>
              <a:rPr lang="en-US" sz="1150" b="1" dirty="0">
                <a:solidFill>
                  <a:srgbClr val="262B3A"/>
                </a:solidFill>
                <a:latin typeface="Calibri" pitchFamily="34" charset="0"/>
                <a:ea typeface="Calibri" pitchFamily="34" charset="-122"/>
                <a:cs typeface="Calibri" pitchFamily="34" charset="-120"/>
              </a:rPr>
              <a:t>hydrogen</a:t>
            </a:r>
            <a:r>
              <a:rPr lang="en-US" sz="1150" dirty="0">
                <a:solidFill>
                  <a:srgbClr val="262B3A"/>
                </a:solidFill>
                <a:latin typeface="Calibri" pitchFamily="34" charset="0"/>
                <a:ea typeface="Calibri" pitchFamily="34" charset="-122"/>
                <a:cs typeface="Calibri" pitchFamily="34" charset="-120"/>
              </a:rPr>
              <a:t> if the temperature is </a:t>
            </a:r>
            <a:r>
              <a:rPr lang="en-US" sz="1150" b="1" dirty="0">
                <a:solidFill>
                  <a:srgbClr val="262B3A"/>
                </a:solidFill>
                <a:latin typeface="Calibri" pitchFamily="34" charset="0"/>
                <a:ea typeface="Calibri" pitchFamily="34" charset="-122"/>
                <a:cs typeface="Calibri" pitchFamily="34" charset="-120"/>
              </a:rPr>
              <a:t>raised</a:t>
            </a:r>
            <a:r>
              <a:rPr lang="en-US" sz="1150" dirty="0">
                <a:solidFill>
                  <a:srgbClr val="262B3A"/>
                </a:solidFill>
                <a:latin typeface="Calibri" pitchFamily="34" charset="0"/>
                <a:ea typeface="Calibri" pitchFamily="34" charset="-122"/>
                <a:cs typeface="Calibri" pitchFamily="34" charset="-120"/>
              </a:rPr>
              <a:t>? Explain.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C6.3.3 • concentration and temperature</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14</a:t>
            </a:r>
            <a:endParaRPr lang="en-US" sz="1000" dirty="0"/>
          </a:p>
        </p:txBody>
      </p:sp>
      <p:sp>
        <p:nvSpPr>
          <p:cNvPr id="10" name="Shape 8"/>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11" name="Shape 9"/>
          <p:cNvSpPr/>
          <p:nvPr/>
        </p:nvSpPr>
        <p:spPr>
          <a:xfrm>
            <a:off x="411480" y="1207008"/>
            <a:ext cx="2103120" cy="292608"/>
          </a:xfrm>
          <a:prstGeom prst="rect">
            <a:avLst/>
          </a:prstGeom>
          <a:solidFill>
            <a:srgbClr val="F5A742"/>
          </a:solidFill>
          <a:ln w="12700">
            <a:solidFill>
              <a:srgbClr val="F5A742"/>
            </a:solidFill>
            <a:prstDash val="solid"/>
          </a:ln>
        </p:spPr>
      </p:sp>
      <p:sp>
        <p:nvSpPr>
          <p:cNvPr id="12" name="Text 10"/>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3" name="Shape 11"/>
          <p:cNvSpPr/>
          <p:nvPr/>
        </p:nvSpPr>
        <p:spPr>
          <a:xfrm>
            <a:off x="2606040" y="1216152"/>
            <a:ext cx="411480" cy="274320"/>
          </a:xfrm>
          <a:prstGeom prst="roundRect">
            <a:avLst>
              <a:gd name="adj" fmla="val 50000"/>
            </a:avLst>
          </a:prstGeom>
          <a:solidFill>
            <a:srgbClr val="C8414C"/>
          </a:solidFill>
          <a:ln w="12700">
            <a:solidFill>
              <a:srgbClr val="C8414C"/>
            </a:solidFill>
            <a:prstDash val="solid"/>
          </a:ln>
        </p:spPr>
      </p:sp>
      <p:sp>
        <p:nvSpPr>
          <p:cNvPr id="14" name="Text 12"/>
          <p:cNvSpPr/>
          <p:nvPr/>
        </p:nvSpPr>
        <p:spPr>
          <a:xfrm>
            <a:off x="2606040" y="1216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5" name="Text 13"/>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what happens to the </a:t>
            </a:r>
            <a:r>
              <a:rPr lang="en-US" sz="1250" b="1" dirty="0">
                <a:solidFill>
                  <a:srgbClr val="262B3A"/>
                </a:solidFill>
                <a:latin typeface="Calibri" pitchFamily="34" charset="0"/>
                <a:ea typeface="Calibri" pitchFamily="34" charset="-122"/>
                <a:cs typeface="Calibri" pitchFamily="34" charset="-120"/>
              </a:rPr>
              <a:t>position of equilibrium</a:t>
            </a:r>
            <a:r>
              <a:rPr lang="en-US" sz="1250" dirty="0">
                <a:solidFill>
                  <a:srgbClr val="262B3A"/>
                </a:solidFill>
                <a:latin typeface="Calibri" pitchFamily="34" charset="0"/>
                <a:ea typeface="Calibri" pitchFamily="34" charset="-122"/>
                <a:cs typeface="Calibri" pitchFamily="34" charset="-120"/>
              </a:rPr>
              <a:t> when a condition is changed.</a:t>
            </a:r>
            <a:endParaRPr lang="en-US" sz="1250" dirty="0"/>
          </a:p>
        </p:txBody>
      </p:sp>
      <p:sp>
        <p:nvSpPr>
          <p:cNvPr id="16" name="Text 14"/>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7" name="Shape 15"/>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8" name="Shape 16"/>
          <p:cNvSpPr/>
          <p:nvPr/>
        </p:nvSpPr>
        <p:spPr>
          <a:xfrm>
            <a:off x="411480" y="2512314"/>
            <a:ext cx="2103120" cy="292608"/>
          </a:xfrm>
          <a:prstGeom prst="rect">
            <a:avLst/>
          </a:prstGeom>
          <a:solidFill>
            <a:srgbClr val="F5A742"/>
          </a:solidFill>
          <a:ln w="12700">
            <a:solidFill>
              <a:srgbClr val="F5A742"/>
            </a:solidFill>
            <a:prstDash val="solid"/>
          </a:ln>
        </p:spPr>
      </p:sp>
      <p:sp>
        <p:nvSpPr>
          <p:cNvPr id="19" name="Text 17"/>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0" name="Shape 18"/>
          <p:cNvSpPr/>
          <p:nvPr/>
        </p:nvSpPr>
        <p:spPr>
          <a:xfrm>
            <a:off x="2606040" y="2521458"/>
            <a:ext cx="411480" cy="274320"/>
          </a:xfrm>
          <a:prstGeom prst="roundRect">
            <a:avLst>
              <a:gd name="adj" fmla="val 50000"/>
            </a:avLst>
          </a:prstGeom>
          <a:solidFill>
            <a:srgbClr val="C8414C"/>
          </a:solidFill>
          <a:ln w="12700">
            <a:solidFill>
              <a:srgbClr val="C8414C"/>
            </a:solidFill>
            <a:prstDash val="solid"/>
          </a:ln>
        </p:spPr>
      </p:sp>
      <p:sp>
        <p:nvSpPr>
          <p:cNvPr id="21" name="Text 19"/>
          <p:cNvSpPr/>
          <p:nvPr/>
        </p:nvSpPr>
        <p:spPr>
          <a:xfrm>
            <a:off x="2606040" y="252145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2" name="Text 20"/>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C₂H₄(g) + H₂O(g) ⇌ C₂H₅OH(g). Predict and explain the effect on the amount of </a:t>
            </a:r>
            <a:r>
              <a:rPr lang="en-US" sz="1250" b="1" dirty="0">
                <a:solidFill>
                  <a:srgbClr val="262B3A"/>
                </a:solidFill>
                <a:latin typeface="Calibri" pitchFamily="34" charset="0"/>
                <a:ea typeface="Calibri" pitchFamily="34" charset="-122"/>
                <a:cs typeface="Calibri" pitchFamily="34" charset="-120"/>
              </a:rPr>
              <a:t>ethanol</a:t>
            </a:r>
            <a:r>
              <a:rPr lang="en-US" sz="1250" dirty="0">
                <a:solidFill>
                  <a:srgbClr val="262B3A"/>
                </a:solidFill>
                <a:latin typeface="Calibri" pitchFamily="34" charset="0"/>
                <a:ea typeface="Calibri" pitchFamily="34" charset="-122"/>
                <a:cs typeface="Calibri" pitchFamily="34" charset="-120"/>
              </a:rPr>
              <a:t> of adding </a:t>
            </a:r>
            <a:r>
              <a:rPr lang="en-US" sz="1250" b="1" dirty="0">
                <a:solidFill>
                  <a:srgbClr val="262B3A"/>
                </a:solidFill>
                <a:latin typeface="Calibri" pitchFamily="34" charset="0"/>
                <a:ea typeface="Calibri" pitchFamily="34" charset="-122"/>
                <a:cs typeface="Calibri" pitchFamily="34" charset="-120"/>
              </a:rPr>
              <a:t>more steam</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3" name="Text 21"/>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25" name="Shape 23"/>
          <p:cNvSpPr/>
          <p:nvPr/>
        </p:nvSpPr>
        <p:spPr>
          <a:xfrm>
            <a:off x="411480" y="3817620"/>
            <a:ext cx="2103120" cy="292608"/>
          </a:xfrm>
          <a:prstGeom prst="rect">
            <a:avLst/>
          </a:prstGeom>
          <a:solidFill>
            <a:srgbClr val="F5A742"/>
          </a:solidFill>
          <a:ln w="12700">
            <a:solidFill>
              <a:srgbClr val="F5A742"/>
            </a:solidFill>
            <a:prstDash val="solid"/>
          </a:ln>
        </p:spPr>
      </p:sp>
      <p:sp>
        <p:nvSpPr>
          <p:cNvPr id="26" name="Text 24"/>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7" name="Shape 25"/>
          <p:cNvSpPr/>
          <p:nvPr/>
        </p:nvSpPr>
        <p:spPr>
          <a:xfrm>
            <a:off x="2606040" y="3826764"/>
            <a:ext cx="411480" cy="274320"/>
          </a:xfrm>
          <a:prstGeom prst="roundRect">
            <a:avLst>
              <a:gd name="adj" fmla="val 50000"/>
            </a:avLst>
          </a:prstGeom>
          <a:solidFill>
            <a:srgbClr val="C8414C"/>
          </a:solidFill>
          <a:ln w="12700">
            <a:solidFill>
              <a:srgbClr val="C8414C"/>
            </a:solidFill>
            <a:prstDash val="solid"/>
          </a:ln>
        </p:spPr>
      </p:sp>
      <p:sp>
        <p:nvSpPr>
          <p:cNvPr id="28" name="Text 26"/>
          <p:cNvSpPr/>
          <p:nvPr/>
        </p:nvSpPr>
        <p:spPr>
          <a:xfrm>
            <a:off x="2606040" y="382676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9" name="Text 27"/>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2NO₂(g) ⇌ N₂O₄(g). A sealed tube goes </a:t>
            </a:r>
            <a:r>
              <a:rPr lang="en-US" sz="1250" b="1" dirty="0">
                <a:solidFill>
                  <a:srgbClr val="262B3A"/>
                </a:solidFill>
                <a:latin typeface="Calibri" pitchFamily="34" charset="0"/>
                <a:ea typeface="Calibri" pitchFamily="34" charset="-122"/>
                <a:cs typeface="Calibri" pitchFamily="34" charset="-120"/>
              </a:rPr>
              <a:t>darker brown</a:t>
            </a:r>
            <a:r>
              <a:rPr lang="en-US" sz="1250" dirty="0">
                <a:solidFill>
                  <a:srgbClr val="262B3A"/>
                </a:solidFill>
                <a:latin typeface="Calibri" pitchFamily="34" charset="0"/>
                <a:ea typeface="Calibri" pitchFamily="34" charset="-122"/>
                <a:cs typeface="Calibri" pitchFamily="34" charset="-120"/>
              </a:rPr>
              <a:t> in hot water. Use this to decide whether the </a:t>
            </a:r>
            <a:r>
              <a:rPr lang="en-US" sz="1250" b="1" dirty="0">
                <a:solidFill>
                  <a:srgbClr val="262B3A"/>
                </a:solidFill>
                <a:latin typeface="Calibri" pitchFamily="34" charset="0"/>
                <a:ea typeface="Calibri" pitchFamily="34" charset="-122"/>
                <a:cs typeface="Calibri" pitchFamily="34" charset="-120"/>
              </a:rPr>
              <a:t>forward</a:t>
            </a:r>
            <a:r>
              <a:rPr lang="en-US" sz="1250" dirty="0">
                <a:solidFill>
                  <a:srgbClr val="262B3A"/>
                </a:solidFill>
                <a:latin typeface="Calibri" pitchFamily="34" charset="0"/>
                <a:ea typeface="Calibri" pitchFamily="34" charset="-122"/>
                <a:cs typeface="Calibri" pitchFamily="34" charset="-120"/>
              </a:rPr>
              <a:t> reaction is exothermic or endothermic.</a:t>
            </a:r>
            <a:endParaRPr lang="en-US" sz="1250" dirty="0"/>
          </a:p>
        </p:txBody>
      </p:sp>
      <p:sp>
        <p:nvSpPr>
          <p:cNvPr id="30" name="Text 28"/>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Shape 29"/>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32" name="Shape 30"/>
          <p:cNvSpPr/>
          <p:nvPr/>
        </p:nvSpPr>
        <p:spPr>
          <a:xfrm>
            <a:off x="411480" y="5122926"/>
            <a:ext cx="2103120" cy="292608"/>
          </a:xfrm>
          <a:prstGeom prst="rect">
            <a:avLst/>
          </a:prstGeom>
          <a:solidFill>
            <a:srgbClr val="F5A742"/>
          </a:solidFill>
          <a:ln w="12700">
            <a:solidFill>
              <a:srgbClr val="F5A742"/>
            </a:solidFill>
            <a:prstDash val="solid"/>
          </a:ln>
        </p:spPr>
      </p:sp>
      <p:sp>
        <p:nvSpPr>
          <p:cNvPr id="33" name="Text 31"/>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34" name="Shape 32"/>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35" name="Text 33"/>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6" name="Text 3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CO(g) + 2H₂(g) ⇌ CH₃OH(g). The forward reaction is </a:t>
            </a:r>
            <a:r>
              <a:rPr lang="en-US" sz="1250" b="1" dirty="0">
                <a:solidFill>
                  <a:srgbClr val="262B3A"/>
                </a:solidFill>
                <a:latin typeface="Calibri" pitchFamily="34" charset="0"/>
                <a:ea typeface="Calibri" pitchFamily="34" charset="-122"/>
                <a:cs typeface="Calibri" pitchFamily="34" charset="-120"/>
              </a:rPr>
              <a:t>exothermic</a:t>
            </a:r>
            <a:r>
              <a:rPr lang="en-US" sz="1250" dirty="0">
                <a:solidFill>
                  <a:srgbClr val="262B3A"/>
                </a:solidFill>
                <a:latin typeface="Calibri" pitchFamily="34" charset="0"/>
                <a:ea typeface="Calibri" pitchFamily="34" charset="-122"/>
                <a:cs typeface="Calibri" pitchFamily="34" charset="-120"/>
              </a:rPr>
              <a:t>. Suggest a temperature change that gives </a:t>
            </a:r>
            <a:r>
              <a:rPr lang="en-US" sz="1250" b="1" dirty="0">
                <a:solidFill>
                  <a:srgbClr val="262B3A"/>
                </a:solidFill>
                <a:latin typeface="Calibri" pitchFamily="34" charset="0"/>
                <a:ea typeface="Calibri" pitchFamily="34" charset="-122"/>
                <a:cs typeface="Calibri" pitchFamily="34" charset="-120"/>
              </a:rPr>
              <a:t>more methanol</a:t>
            </a:r>
            <a:r>
              <a:rPr lang="en-US" sz="1250" dirty="0">
                <a:solidFill>
                  <a:srgbClr val="262B3A"/>
                </a:solidFill>
                <a:latin typeface="Calibri" pitchFamily="34" charset="0"/>
                <a:ea typeface="Calibri" pitchFamily="34" charset="-122"/>
                <a:cs typeface="Calibri" pitchFamily="34" charset="-120"/>
              </a:rPr>
              <a:t> and explain why.</a:t>
            </a:r>
            <a:endParaRPr lang="en-US" sz="1250" dirty="0"/>
          </a:p>
        </p:txBody>
      </p:sp>
      <p:sp>
        <p:nvSpPr>
          <p:cNvPr id="37" name="Text 3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Changing pressure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C6.3.3 • predict the effect of changing pressure on the position of equilibrium of gases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C6.3.3  |  15</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gas syringe of NO₂ / N₂O₄ before and after it is compressed; molecules counted</a:t>
            </a:r>
            <a:endParaRPr lang="en-US" sz="1000" dirty="0"/>
          </a:p>
        </p:txBody>
      </p:sp>
      <p:sp>
        <p:nvSpPr>
          <p:cNvPr id="12" name="Shape 10"/>
          <p:cNvSpPr/>
          <p:nvPr/>
        </p:nvSpPr>
        <p:spPr>
          <a:xfrm>
            <a:off x="640080" y="1325880"/>
            <a:ext cx="5120640" cy="365760"/>
          </a:xfrm>
          <a:prstGeom prst="roundRect">
            <a:avLst>
              <a:gd name="adj" fmla="val 12500"/>
            </a:avLst>
          </a:prstGeom>
          <a:solidFill>
            <a:srgbClr val="FFFFFF"/>
          </a:solidFill>
          <a:ln w="12700">
            <a:solidFill>
              <a:srgbClr val="DDD3EC"/>
            </a:solidFill>
            <a:prstDash val="solid"/>
          </a:ln>
        </p:spPr>
      </p:sp>
      <p:sp>
        <p:nvSpPr>
          <p:cNvPr id="13" name="Text 11"/>
          <p:cNvSpPr/>
          <p:nvPr/>
        </p:nvSpPr>
        <p:spPr>
          <a:xfrm>
            <a:off x="713232" y="1325880"/>
            <a:ext cx="4974336" cy="365760"/>
          </a:xfrm>
          <a:prstGeom prst="rect">
            <a:avLst/>
          </a:prstGeom>
          <a:noFill/>
          <a:ln/>
        </p:spPr>
        <p:txBody>
          <a:bodyPr wrap="square" lIns="0" tIns="0" rIns="0" bIns="0" rtlCol="0" anchor="ctr"/>
          <a:lstStyle/>
          <a:p>
            <a:pPr algn="ctr" indent="0" marL="0">
              <a:buNone/>
            </a:pPr>
            <a:r>
              <a:rPr lang="en-US" sz="1150" b="1" dirty="0">
                <a:solidFill>
                  <a:srgbClr val="2A1F3D"/>
                </a:solidFill>
                <a:latin typeface="Calibri" pitchFamily="34" charset="0"/>
                <a:ea typeface="Calibri" pitchFamily="34" charset="-122"/>
                <a:cs typeface="Calibri" pitchFamily="34" charset="-120"/>
              </a:rPr>
              <a:t>2NO₂(g) ⇌ N₂O₄(g)      2 molecules ⇌ 1 molecule</a:t>
            </a:r>
            <a:endParaRPr lang="en-US" sz="1150" dirty="0"/>
          </a:p>
        </p:txBody>
      </p:sp>
      <p:sp>
        <p:nvSpPr>
          <p:cNvPr id="14" name="Text 12"/>
          <p:cNvSpPr/>
          <p:nvPr/>
        </p:nvSpPr>
        <p:spPr>
          <a:xfrm>
            <a:off x="640080" y="1874520"/>
            <a:ext cx="5120640" cy="237744"/>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Before</a:t>
            </a:r>
            <a:r>
              <a:rPr lang="en-US" sz="1050" dirty="0">
                <a:solidFill>
                  <a:srgbClr val="262B3A"/>
                </a:solidFill>
                <a:latin typeface="Calibri" pitchFamily="34" charset="0"/>
                <a:ea typeface="Calibri" pitchFamily="34" charset="-122"/>
                <a:cs typeface="Calibri" pitchFamily="34" charset="-120"/>
              </a:rPr>
              <a:t>: 6 NO₂ + 2 N₂O₄ = </a:t>
            </a:r>
            <a:r>
              <a:rPr lang="en-US" sz="1050" b="1" dirty="0">
                <a:solidFill>
                  <a:srgbClr val="262B3A"/>
                </a:solidFill>
                <a:latin typeface="Calibri" pitchFamily="34" charset="0"/>
                <a:ea typeface="Calibri" pitchFamily="34" charset="-122"/>
                <a:cs typeface="Calibri" pitchFamily="34" charset="-120"/>
              </a:rPr>
              <a:t>8</a:t>
            </a:r>
            <a:r>
              <a:rPr lang="en-US" sz="1050" dirty="0">
                <a:solidFill>
                  <a:srgbClr val="262B3A"/>
                </a:solidFill>
                <a:latin typeface="Calibri" pitchFamily="34" charset="0"/>
                <a:ea typeface="Calibri" pitchFamily="34" charset="-122"/>
                <a:cs typeface="Calibri" pitchFamily="34" charset="-120"/>
              </a:rPr>
              <a:t> molecules</a:t>
            </a:r>
            <a:endParaRPr lang="en-US" sz="1050" dirty="0"/>
          </a:p>
        </p:txBody>
      </p:sp>
      <p:sp>
        <p:nvSpPr>
          <p:cNvPr id="15" name="Shape 13"/>
          <p:cNvSpPr/>
          <p:nvPr/>
        </p:nvSpPr>
        <p:spPr>
          <a:xfrm>
            <a:off x="868680" y="2148840"/>
            <a:ext cx="2377440" cy="868680"/>
          </a:xfrm>
          <a:prstGeom prst="rect">
            <a:avLst/>
          </a:prstGeom>
          <a:solidFill>
            <a:srgbClr val="FFFFFF"/>
          </a:solidFill>
          <a:ln w="15875">
            <a:solidFill>
              <a:srgbClr val="2A1F3D"/>
            </a:solidFill>
            <a:prstDash val="solid"/>
          </a:ln>
        </p:spPr>
      </p:sp>
      <p:sp>
        <p:nvSpPr>
          <p:cNvPr id="16" name="Shape 14"/>
          <p:cNvSpPr/>
          <p:nvPr/>
        </p:nvSpPr>
        <p:spPr>
          <a:xfrm>
            <a:off x="704088" y="2452878"/>
            <a:ext cx="164592" cy="260604"/>
          </a:xfrm>
          <a:prstGeom prst="rect">
            <a:avLst/>
          </a:prstGeom>
          <a:solidFill>
            <a:srgbClr val="D8DEE6"/>
          </a:solidFill>
          <a:ln w="12700">
            <a:solidFill>
              <a:srgbClr val="2A1F3D"/>
            </a:solidFill>
            <a:prstDash val="solid"/>
          </a:ln>
        </p:spPr>
      </p:sp>
      <p:sp>
        <p:nvSpPr>
          <p:cNvPr id="17" name="Shape 15"/>
          <p:cNvSpPr/>
          <p:nvPr/>
        </p:nvSpPr>
        <p:spPr>
          <a:xfrm>
            <a:off x="3108960" y="2176272"/>
            <a:ext cx="73152" cy="813816"/>
          </a:xfrm>
          <a:prstGeom prst="rect">
            <a:avLst/>
          </a:prstGeom>
          <a:solidFill>
            <a:srgbClr val="9AA3B0"/>
          </a:solidFill>
          <a:ln w="9525">
            <a:solidFill>
              <a:srgbClr val="4A5568"/>
            </a:solidFill>
            <a:prstDash val="solid"/>
          </a:ln>
        </p:spPr>
      </p:sp>
      <p:sp>
        <p:nvSpPr>
          <p:cNvPr id="18" name="Shape 16"/>
          <p:cNvSpPr/>
          <p:nvPr/>
        </p:nvSpPr>
        <p:spPr>
          <a:xfrm>
            <a:off x="3182112" y="2546604"/>
            <a:ext cx="2304288" cy="73152"/>
          </a:xfrm>
          <a:prstGeom prst="rect">
            <a:avLst/>
          </a:prstGeom>
          <a:solidFill>
            <a:srgbClr val="B8BEC8"/>
          </a:solidFill>
          <a:ln w="9525">
            <a:solidFill>
              <a:srgbClr val="4A5568"/>
            </a:solidFill>
            <a:prstDash val="solid"/>
          </a:ln>
        </p:spPr>
      </p:sp>
      <p:sp>
        <p:nvSpPr>
          <p:cNvPr id="19" name="Shape 17"/>
          <p:cNvSpPr/>
          <p:nvPr/>
        </p:nvSpPr>
        <p:spPr>
          <a:xfrm>
            <a:off x="5486400" y="2103120"/>
            <a:ext cx="73152" cy="960120"/>
          </a:xfrm>
          <a:prstGeom prst="rect">
            <a:avLst/>
          </a:prstGeom>
          <a:solidFill>
            <a:srgbClr val="9AA3B0"/>
          </a:solidFill>
          <a:ln w="9525">
            <a:solidFill>
              <a:srgbClr val="4A5568"/>
            </a:solidFill>
            <a:prstDash val="solid"/>
          </a:ln>
        </p:spPr>
      </p:sp>
      <p:sp>
        <p:nvSpPr>
          <p:cNvPr id="20" name="Shape 18"/>
          <p:cNvSpPr/>
          <p:nvPr/>
        </p:nvSpPr>
        <p:spPr>
          <a:xfrm>
            <a:off x="1016813" y="2355494"/>
            <a:ext cx="109728" cy="109728"/>
          </a:xfrm>
          <a:prstGeom prst="ellipse">
            <a:avLst/>
          </a:prstGeom>
          <a:solidFill>
            <a:srgbClr val="E06666"/>
          </a:solidFill>
          <a:ln w="12700">
            <a:solidFill>
              <a:srgbClr val="9E2A2A"/>
            </a:solidFill>
            <a:prstDash val="solid"/>
          </a:ln>
        </p:spPr>
      </p:sp>
      <p:sp>
        <p:nvSpPr>
          <p:cNvPr id="21" name="Shape 19"/>
          <p:cNvSpPr/>
          <p:nvPr/>
        </p:nvSpPr>
        <p:spPr>
          <a:xfrm>
            <a:off x="1159459" y="2355494"/>
            <a:ext cx="109728" cy="109728"/>
          </a:xfrm>
          <a:prstGeom prst="ellipse">
            <a:avLst/>
          </a:prstGeom>
          <a:solidFill>
            <a:srgbClr val="E06666"/>
          </a:solidFill>
          <a:ln w="12700">
            <a:solidFill>
              <a:srgbClr val="9E2A2A"/>
            </a:solidFill>
            <a:prstDash val="solid"/>
          </a:ln>
        </p:spPr>
      </p:sp>
      <p:sp>
        <p:nvSpPr>
          <p:cNvPr id="22" name="Shape 20"/>
          <p:cNvSpPr/>
          <p:nvPr/>
        </p:nvSpPr>
        <p:spPr>
          <a:xfrm>
            <a:off x="1088136" y="2322576"/>
            <a:ext cx="109728" cy="109728"/>
          </a:xfrm>
          <a:prstGeom prst="ellipse">
            <a:avLst/>
          </a:prstGeom>
          <a:solidFill>
            <a:srgbClr val="6D8FE0"/>
          </a:solidFill>
          <a:ln w="12700">
            <a:solidFill>
              <a:srgbClr val="2F4F9E"/>
            </a:solidFill>
            <a:prstDash val="solid"/>
          </a:ln>
        </p:spPr>
      </p:sp>
      <p:sp>
        <p:nvSpPr>
          <p:cNvPr id="23" name="Shape 21"/>
          <p:cNvSpPr/>
          <p:nvPr/>
        </p:nvSpPr>
        <p:spPr>
          <a:xfrm>
            <a:off x="1474013" y="2675534"/>
            <a:ext cx="109728" cy="109728"/>
          </a:xfrm>
          <a:prstGeom prst="ellipse">
            <a:avLst/>
          </a:prstGeom>
          <a:solidFill>
            <a:srgbClr val="E06666"/>
          </a:solidFill>
          <a:ln w="12700">
            <a:solidFill>
              <a:srgbClr val="9E2A2A"/>
            </a:solidFill>
            <a:prstDash val="solid"/>
          </a:ln>
        </p:spPr>
      </p:sp>
      <p:sp>
        <p:nvSpPr>
          <p:cNvPr id="24" name="Shape 22"/>
          <p:cNvSpPr/>
          <p:nvPr/>
        </p:nvSpPr>
        <p:spPr>
          <a:xfrm>
            <a:off x="1616659" y="2675534"/>
            <a:ext cx="109728" cy="109728"/>
          </a:xfrm>
          <a:prstGeom prst="ellipse">
            <a:avLst/>
          </a:prstGeom>
          <a:solidFill>
            <a:srgbClr val="E06666"/>
          </a:solidFill>
          <a:ln w="12700">
            <a:solidFill>
              <a:srgbClr val="9E2A2A"/>
            </a:solidFill>
            <a:prstDash val="solid"/>
          </a:ln>
        </p:spPr>
      </p:sp>
      <p:sp>
        <p:nvSpPr>
          <p:cNvPr id="25" name="Shape 23"/>
          <p:cNvSpPr/>
          <p:nvPr/>
        </p:nvSpPr>
        <p:spPr>
          <a:xfrm>
            <a:off x="1545336" y="2642616"/>
            <a:ext cx="109728" cy="109728"/>
          </a:xfrm>
          <a:prstGeom prst="ellipse">
            <a:avLst/>
          </a:prstGeom>
          <a:solidFill>
            <a:srgbClr val="6D8FE0"/>
          </a:solidFill>
          <a:ln w="12700">
            <a:solidFill>
              <a:srgbClr val="2F4F9E"/>
            </a:solidFill>
            <a:prstDash val="solid"/>
          </a:ln>
        </p:spPr>
      </p:sp>
      <p:sp>
        <p:nvSpPr>
          <p:cNvPr id="26" name="Shape 24"/>
          <p:cNvSpPr/>
          <p:nvPr/>
        </p:nvSpPr>
        <p:spPr>
          <a:xfrm>
            <a:off x="1885493" y="2309774"/>
            <a:ext cx="109728" cy="109728"/>
          </a:xfrm>
          <a:prstGeom prst="ellipse">
            <a:avLst/>
          </a:prstGeom>
          <a:solidFill>
            <a:srgbClr val="E06666"/>
          </a:solidFill>
          <a:ln w="12700">
            <a:solidFill>
              <a:srgbClr val="9E2A2A"/>
            </a:solidFill>
            <a:prstDash val="solid"/>
          </a:ln>
        </p:spPr>
      </p:sp>
      <p:sp>
        <p:nvSpPr>
          <p:cNvPr id="27" name="Shape 25"/>
          <p:cNvSpPr/>
          <p:nvPr/>
        </p:nvSpPr>
        <p:spPr>
          <a:xfrm>
            <a:off x="2028139" y="2309774"/>
            <a:ext cx="109728" cy="109728"/>
          </a:xfrm>
          <a:prstGeom prst="ellipse">
            <a:avLst/>
          </a:prstGeom>
          <a:solidFill>
            <a:srgbClr val="E06666"/>
          </a:solidFill>
          <a:ln w="12700">
            <a:solidFill>
              <a:srgbClr val="9E2A2A"/>
            </a:solidFill>
            <a:prstDash val="solid"/>
          </a:ln>
        </p:spPr>
      </p:sp>
      <p:sp>
        <p:nvSpPr>
          <p:cNvPr id="28" name="Shape 26"/>
          <p:cNvSpPr/>
          <p:nvPr/>
        </p:nvSpPr>
        <p:spPr>
          <a:xfrm>
            <a:off x="1956816" y="2276856"/>
            <a:ext cx="109728" cy="109728"/>
          </a:xfrm>
          <a:prstGeom prst="ellipse">
            <a:avLst/>
          </a:prstGeom>
          <a:solidFill>
            <a:srgbClr val="6D8FE0"/>
          </a:solidFill>
          <a:ln w="12700">
            <a:solidFill>
              <a:srgbClr val="2F4F9E"/>
            </a:solidFill>
            <a:prstDash val="solid"/>
          </a:ln>
        </p:spPr>
      </p:sp>
      <p:sp>
        <p:nvSpPr>
          <p:cNvPr id="29" name="Shape 27"/>
          <p:cNvSpPr/>
          <p:nvPr/>
        </p:nvSpPr>
        <p:spPr>
          <a:xfrm>
            <a:off x="2388413" y="2721254"/>
            <a:ext cx="109728" cy="109728"/>
          </a:xfrm>
          <a:prstGeom prst="ellipse">
            <a:avLst/>
          </a:prstGeom>
          <a:solidFill>
            <a:srgbClr val="E06666"/>
          </a:solidFill>
          <a:ln w="12700">
            <a:solidFill>
              <a:srgbClr val="9E2A2A"/>
            </a:solidFill>
            <a:prstDash val="solid"/>
          </a:ln>
        </p:spPr>
      </p:sp>
      <p:sp>
        <p:nvSpPr>
          <p:cNvPr id="30" name="Shape 28"/>
          <p:cNvSpPr/>
          <p:nvPr/>
        </p:nvSpPr>
        <p:spPr>
          <a:xfrm>
            <a:off x="2531059" y="2721254"/>
            <a:ext cx="109728" cy="109728"/>
          </a:xfrm>
          <a:prstGeom prst="ellipse">
            <a:avLst/>
          </a:prstGeom>
          <a:solidFill>
            <a:srgbClr val="E06666"/>
          </a:solidFill>
          <a:ln w="12700">
            <a:solidFill>
              <a:srgbClr val="9E2A2A"/>
            </a:solidFill>
            <a:prstDash val="solid"/>
          </a:ln>
        </p:spPr>
      </p:sp>
      <p:sp>
        <p:nvSpPr>
          <p:cNvPr id="31" name="Shape 29"/>
          <p:cNvSpPr/>
          <p:nvPr/>
        </p:nvSpPr>
        <p:spPr>
          <a:xfrm>
            <a:off x="2459736" y="2688336"/>
            <a:ext cx="109728" cy="109728"/>
          </a:xfrm>
          <a:prstGeom prst="ellipse">
            <a:avLst/>
          </a:prstGeom>
          <a:solidFill>
            <a:srgbClr val="6D8FE0"/>
          </a:solidFill>
          <a:ln w="12700">
            <a:solidFill>
              <a:srgbClr val="2F4F9E"/>
            </a:solidFill>
            <a:prstDash val="solid"/>
          </a:ln>
        </p:spPr>
      </p:sp>
      <p:sp>
        <p:nvSpPr>
          <p:cNvPr id="32" name="Shape 30"/>
          <p:cNvSpPr/>
          <p:nvPr/>
        </p:nvSpPr>
        <p:spPr>
          <a:xfrm>
            <a:off x="2754173" y="2355494"/>
            <a:ext cx="109728" cy="109728"/>
          </a:xfrm>
          <a:prstGeom prst="ellipse">
            <a:avLst/>
          </a:prstGeom>
          <a:solidFill>
            <a:srgbClr val="E06666"/>
          </a:solidFill>
          <a:ln w="12700">
            <a:solidFill>
              <a:srgbClr val="9E2A2A"/>
            </a:solidFill>
            <a:prstDash val="solid"/>
          </a:ln>
        </p:spPr>
      </p:sp>
      <p:sp>
        <p:nvSpPr>
          <p:cNvPr id="33" name="Shape 31"/>
          <p:cNvSpPr/>
          <p:nvPr/>
        </p:nvSpPr>
        <p:spPr>
          <a:xfrm>
            <a:off x="2896819" y="2355494"/>
            <a:ext cx="109728" cy="109728"/>
          </a:xfrm>
          <a:prstGeom prst="ellipse">
            <a:avLst/>
          </a:prstGeom>
          <a:solidFill>
            <a:srgbClr val="E06666"/>
          </a:solidFill>
          <a:ln w="12700">
            <a:solidFill>
              <a:srgbClr val="9E2A2A"/>
            </a:solidFill>
            <a:prstDash val="solid"/>
          </a:ln>
        </p:spPr>
      </p:sp>
      <p:sp>
        <p:nvSpPr>
          <p:cNvPr id="34" name="Shape 32"/>
          <p:cNvSpPr/>
          <p:nvPr/>
        </p:nvSpPr>
        <p:spPr>
          <a:xfrm>
            <a:off x="2825496" y="2322576"/>
            <a:ext cx="109728" cy="109728"/>
          </a:xfrm>
          <a:prstGeom prst="ellipse">
            <a:avLst/>
          </a:prstGeom>
          <a:solidFill>
            <a:srgbClr val="6D8FE0"/>
          </a:solidFill>
          <a:ln w="12700">
            <a:solidFill>
              <a:srgbClr val="2F4F9E"/>
            </a:solidFill>
            <a:prstDash val="solid"/>
          </a:ln>
        </p:spPr>
      </p:sp>
      <p:sp>
        <p:nvSpPr>
          <p:cNvPr id="35" name="Shape 33"/>
          <p:cNvSpPr/>
          <p:nvPr/>
        </p:nvSpPr>
        <p:spPr>
          <a:xfrm>
            <a:off x="1062533" y="2766974"/>
            <a:ext cx="109728" cy="109728"/>
          </a:xfrm>
          <a:prstGeom prst="ellipse">
            <a:avLst/>
          </a:prstGeom>
          <a:solidFill>
            <a:srgbClr val="E06666"/>
          </a:solidFill>
          <a:ln w="12700">
            <a:solidFill>
              <a:srgbClr val="9E2A2A"/>
            </a:solidFill>
            <a:prstDash val="solid"/>
          </a:ln>
        </p:spPr>
      </p:sp>
      <p:sp>
        <p:nvSpPr>
          <p:cNvPr id="36" name="Shape 34"/>
          <p:cNvSpPr/>
          <p:nvPr/>
        </p:nvSpPr>
        <p:spPr>
          <a:xfrm>
            <a:off x="1205179" y="2766974"/>
            <a:ext cx="109728" cy="109728"/>
          </a:xfrm>
          <a:prstGeom prst="ellipse">
            <a:avLst/>
          </a:prstGeom>
          <a:solidFill>
            <a:srgbClr val="E06666"/>
          </a:solidFill>
          <a:ln w="12700">
            <a:solidFill>
              <a:srgbClr val="9E2A2A"/>
            </a:solidFill>
            <a:prstDash val="solid"/>
          </a:ln>
        </p:spPr>
      </p:sp>
      <p:sp>
        <p:nvSpPr>
          <p:cNvPr id="37" name="Shape 35"/>
          <p:cNvSpPr/>
          <p:nvPr/>
        </p:nvSpPr>
        <p:spPr>
          <a:xfrm>
            <a:off x="1133856" y="2734056"/>
            <a:ext cx="109728" cy="109728"/>
          </a:xfrm>
          <a:prstGeom prst="ellipse">
            <a:avLst/>
          </a:prstGeom>
          <a:solidFill>
            <a:srgbClr val="6D8FE0"/>
          </a:solidFill>
          <a:ln w="12700">
            <a:solidFill>
              <a:srgbClr val="2F4F9E"/>
            </a:solidFill>
            <a:prstDash val="solid"/>
          </a:ln>
        </p:spPr>
      </p:sp>
      <p:sp>
        <p:nvSpPr>
          <p:cNvPr id="38" name="Shape 36"/>
          <p:cNvSpPr/>
          <p:nvPr/>
        </p:nvSpPr>
        <p:spPr>
          <a:xfrm>
            <a:off x="1930298" y="2721254"/>
            <a:ext cx="109728" cy="109728"/>
          </a:xfrm>
          <a:prstGeom prst="ellipse">
            <a:avLst/>
          </a:prstGeom>
          <a:solidFill>
            <a:srgbClr val="E06666"/>
          </a:solidFill>
          <a:ln w="12700">
            <a:solidFill>
              <a:srgbClr val="9E2A2A"/>
            </a:solidFill>
            <a:prstDash val="solid"/>
          </a:ln>
        </p:spPr>
      </p:sp>
      <p:sp>
        <p:nvSpPr>
          <p:cNvPr id="39" name="Shape 37"/>
          <p:cNvSpPr/>
          <p:nvPr/>
        </p:nvSpPr>
        <p:spPr>
          <a:xfrm>
            <a:off x="2072945" y="2721254"/>
            <a:ext cx="109728" cy="109728"/>
          </a:xfrm>
          <a:prstGeom prst="ellipse">
            <a:avLst/>
          </a:prstGeom>
          <a:solidFill>
            <a:srgbClr val="E06666"/>
          </a:solidFill>
          <a:ln w="12700">
            <a:solidFill>
              <a:srgbClr val="9E2A2A"/>
            </a:solidFill>
            <a:prstDash val="solid"/>
          </a:ln>
        </p:spPr>
      </p:sp>
      <p:sp>
        <p:nvSpPr>
          <p:cNvPr id="40" name="Shape 38"/>
          <p:cNvSpPr/>
          <p:nvPr/>
        </p:nvSpPr>
        <p:spPr>
          <a:xfrm>
            <a:off x="2001622" y="2688336"/>
            <a:ext cx="109728" cy="109728"/>
          </a:xfrm>
          <a:prstGeom prst="ellipse">
            <a:avLst/>
          </a:prstGeom>
          <a:solidFill>
            <a:srgbClr val="6D8FE0"/>
          </a:solidFill>
          <a:ln w="12700">
            <a:solidFill>
              <a:srgbClr val="2F4F9E"/>
            </a:solidFill>
            <a:prstDash val="solid"/>
          </a:ln>
        </p:spPr>
      </p:sp>
      <p:sp>
        <p:nvSpPr>
          <p:cNvPr id="41" name="Shape 39"/>
          <p:cNvSpPr/>
          <p:nvPr/>
        </p:nvSpPr>
        <p:spPr>
          <a:xfrm>
            <a:off x="2031797" y="2721254"/>
            <a:ext cx="109728" cy="109728"/>
          </a:xfrm>
          <a:prstGeom prst="ellipse">
            <a:avLst/>
          </a:prstGeom>
          <a:solidFill>
            <a:srgbClr val="E06666"/>
          </a:solidFill>
          <a:ln w="12700">
            <a:solidFill>
              <a:srgbClr val="9E2A2A"/>
            </a:solidFill>
            <a:prstDash val="solid"/>
          </a:ln>
        </p:spPr>
      </p:sp>
      <p:sp>
        <p:nvSpPr>
          <p:cNvPr id="42" name="Shape 40"/>
          <p:cNvSpPr/>
          <p:nvPr/>
        </p:nvSpPr>
        <p:spPr>
          <a:xfrm>
            <a:off x="2174443" y="2721254"/>
            <a:ext cx="109728" cy="109728"/>
          </a:xfrm>
          <a:prstGeom prst="ellipse">
            <a:avLst/>
          </a:prstGeom>
          <a:solidFill>
            <a:srgbClr val="E06666"/>
          </a:solidFill>
          <a:ln w="12700">
            <a:solidFill>
              <a:srgbClr val="9E2A2A"/>
            </a:solidFill>
            <a:prstDash val="solid"/>
          </a:ln>
        </p:spPr>
      </p:sp>
      <p:sp>
        <p:nvSpPr>
          <p:cNvPr id="43" name="Shape 41"/>
          <p:cNvSpPr/>
          <p:nvPr/>
        </p:nvSpPr>
        <p:spPr>
          <a:xfrm>
            <a:off x="2103120" y="2688336"/>
            <a:ext cx="109728" cy="109728"/>
          </a:xfrm>
          <a:prstGeom prst="ellipse">
            <a:avLst/>
          </a:prstGeom>
          <a:solidFill>
            <a:srgbClr val="6D8FE0"/>
          </a:solidFill>
          <a:ln w="12700">
            <a:solidFill>
              <a:srgbClr val="2F4F9E"/>
            </a:solidFill>
            <a:prstDash val="solid"/>
          </a:ln>
        </p:spPr>
      </p:sp>
      <p:sp>
        <p:nvSpPr>
          <p:cNvPr id="44" name="Shape 42"/>
          <p:cNvSpPr/>
          <p:nvPr/>
        </p:nvSpPr>
        <p:spPr>
          <a:xfrm>
            <a:off x="2341778" y="2337206"/>
            <a:ext cx="109728" cy="109728"/>
          </a:xfrm>
          <a:prstGeom prst="ellipse">
            <a:avLst/>
          </a:prstGeom>
          <a:solidFill>
            <a:srgbClr val="E06666"/>
          </a:solidFill>
          <a:ln w="12700">
            <a:solidFill>
              <a:srgbClr val="9E2A2A"/>
            </a:solidFill>
            <a:prstDash val="solid"/>
          </a:ln>
        </p:spPr>
      </p:sp>
      <p:sp>
        <p:nvSpPr>
          <p:cNvPr id="45" name="Shape 43"/>
          <p:cNvSpPr/>
          <p:nvPr/>
        </p:nvSpPr>
        <p:spPr>
          <a:xfrm>
            <a:off x="2484425" y="2337206"/>
            <a:ext cx="109728" cy="109728"/>
          </a:xfrm>
          <a:prstGeom prst="ellipse">
            <a:avLst/>
          </a:prstGeom>
          <a:solidFill>
            <a:srgbClr val="E06666"/>
          </a:solidFill>
          <a:ln w="12700">
            <a:solidFill>
              <a:srgbClr val="9E2A2A"/>
            </a:solidFill>
            <a:prstDash val="solid"/>
          </a:ln>
        </p:spPr>
      </p:sp>
      <p:sp>
        <p:nvSpPr>
          <p:cNvPr id="46" name="Shape 44"/>
          <p:cNvSpPr/>
          <p:nvPr/>
        </p:nvSpPr>
        <p:spPr>
          <a:xfrm>
            <a:off x="2413102" y="2304288"/>
            <a:ext cx="109728" cy="109728"/>
          </a:xfrm>
          <a:prstGeom prst="ellipse">
            <a:avLst/>
          </a:prstGeom>
          <a:solidFill>
            <a:srgbClr val="6D8FE0"/>
          </a:solidFill>
          <a:ln w="12700">
            <a:solidFill>
              <a:srgbClr val="2F4F9E"/>
            </a:solidFill>
            <a:prstDash val="solid"/>
          </a:ln>
        </p:spPr>
      </p:sp>
      <p:sp>
        <p:nvSpPr>
          <p:cNvPr id="47" name="Shape 45"/>
          <p:cNvSpPr/>
          <p:nvPr/>
        </p:nvSpPr>
        <p:spPr>
          <a:xfrm>
            <a:off x="2443277" y="2337206"/>
            <a:ext cx="109728" cy="109728"/>
          </a:xfrm>
          <a:prstGeom prst="ellipse">
            <a:avLst/>
          </a:prstGeom>
          <a:solidFill>
            <a:srgbClr val="E06666"/>
          </a:solidFill>
          <a:ln w="12700">
            <a:solidFill>
              <a:srgbClr val="9E2A2A"/>
            </a:solidFill>
            <a:prstDash val="solid"/>
          </a:ln>
        </p:spPr>
      </p:sp>
      <p:sp>
        <p:nvSpPr>
          <p:cNvPr id="48" name="Shape 46"/>
          <p:cNvSpPr/>
          <p:nvPr/>
        </p:nvSpPr>
        <p:spPr>
          <a:xfrm>
            <a:off x="2585923" y="2337206"/>
            <a:ext cx="109728" cy="109728"/>
          </a:xfrm>
          <a:prstGeom prst="ellipse">
            <a:avLst/>
          </a:prstGeom>
          <a:solidFill>
            <a:srgbClr val="E06666"/>
          </a:solidFill>
          <a:ln w="12700">
            <a:solidFill>
              <a:srgbClr val="9E2A2A"/>
            </a:solidFill>
            <a:prstDash val="solid"/>
          </a:ln>
        </p:spPr>
      </p:sp>
      <p:sp>
        <p:nvSpPr>
          <p:cNvPr id="49" name="Shape 47"/>
          <p:cNvSpPr/>
          <p:nvPr/>
        </p:nvSpPr>
        <p:spPr>
          <a:xfrm>
            <a:off x="2514600" y="2304288"/>
            <a:ext cx="109728" cy="109728"/>
          </a:xfrm>
          <a:prstGeom prst="ellipse">
            <a:avLst/>
          </a:prstGeom>
          <a:solidFill>
            <a:srgbClr val="6D8FE0"/>
          </a:solidFill>
          <a:ln w="12700">
            <a:solidFill>
              <a:srgbClr val="2F4F9E"/>
            </a:solidFill>
            <a:prstDash val="solid"/>
          </a:ln>
        </p:spPr>
      </p:sp>
      <p:sp>
        <p:nvSpPr>
          <p:cNvPr id="50" name="Text 48"/>
          <p:cNvSpPr/>
          <p:nvPr/>
        </p:nvSpPr>
        <p:spPr>
          <a:xfrm>
            <a:off x="640080" y="3246120"/>
            <a:ext cx="5120640" cy="237744"/>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After pushing in</a:t>
            </a:r>
            <a:r>
              <a:rPr lang="en-US" sz="1050" dirty="0">
                <a:solidFill>
                  <a:srgbClr val="262B3A"/>
                </a:solidFill>
                <a:latin typeface="Calibri" pitchFamily="34" charset="0"/>
                <a:ea typeface="Calibri" pitchFamily="34" charset="-122"/>
                <a:cs typeface="Calibri" pitchFamily="34" charset="-120"/>
              </a:rPr>
              <a:t>: 2 NO₂ + 4 N₂O₄ = </a:t>
            </a:r>
            <a:r>
              <a:rPr lang="en-US" sz="1050" b="1" dirty="0">
                <a:solidFill>
                  <a:srgbClr val="262B3A"/>
                </a:solidFill>
                <a:latin typeface="Calibri" pitchFamily="34" charset="0"/>
                <a:ea typeface="Calibri" pitchFamily="34" charset="-122"/>
                <a:cs typeface="Calibri" pitchFamily="34" charset="-120"/>
              </a:rPr>
              <a:t>6</a:t>
            </a:r>
            <a:r>
              <a:rPr lang="en-US" sz="1050" dirty="0">
                <a:solidFill>
                  <a:srgbClr val="262B3A"/>
                </a:solidFill>
                <a:latin typeface="Calibri" pitchFamily="34" charset="0"/>
                <a:ea typeface="Calibri" pitchFamily="34" charset="-122"/>
                <a:cs typeface="Calibri" pitchFamily="34" charset="-120"/>
              </a:rPr>
              <a:t> molecules</a:t>
            </a:r>
            <a:endParaRPr lang="en-US" sz="1050" dirty="0"/>
          </a:p>
        </p:txBody>
      </p:sp>
      <p:sp>
        <p:nvSpPr>
          <p:cNvPr id="51" name="Shape 49"/>
          <p:cNvSpPr/>
          <p:nvPr/>
        </p:nvSpPr>
        <p:spPr>
          <a:xfrm>
            <a:off x="868680" y="3520440"/>
            <a:ext cx="2377440" cy="868680"/>
          </a:xfrm>
          <a:prstGeom prst="rect">
            <a:avLst/>
          </a:prstGeom>
          <a:solidFill>
            <a:srgbClr val="FFFFFF"/>
          </a:solidFill>
          <a:ln w="15875">
            <a:solidFill>
              <a:srgbClr val="2A1F3D"/>
            </a:solidFill>
            <a:prstDash val="solid"/>
          </a:ln>
        </p:spPr>
      </p:sp>
      <p:sp>
        <p:nvSpPr>
          <p:cNvPr id="52" name="Shape 50"/>
          <p:cNvSpPr/>
          <p:nvPr/>
        </p:nvSpPr>
        <p:spPr>
          <a:xfrm>
            <a:off x="704088" y="3824478"/>
            <a:ext cx="164592" cy="260604"/>
          </a:xfrm>
          <a:prstGeom prst="rect">
            <a:avLst/>
          </a:prstGeom>
          <a:solidFill>
            <a:srgbClr val="D8DEE6"/>
          </a:solidFill>
          <a:ln w="12700">
            <a:solidFill>
              <a:srgbClr val="2A1F3D"/>
            </a:solidFill>
            <a:prstDash val="solid"/>
          </a:ln>
        </p:spPr>
      </p:sp>
      <p:sp>
        <p:nvSpPr>
          <p:cNvPr id="53" name="Shape 51"/>
          <p:cNvSpPr/>
          <p:nvPr/>
        </p:nvSpPr>
        <p:spPr>
          <a:xfrm>
            <a:off x="2240280" y="3547872"/>
            <a:ext cx="73152" cy="813816"/>
          </a:xfrm>
          <a:prstGeom prst="rect">
            <a:avLst/>
          </a:prstGeom>
          <a:solidFill>
            <a:srgbClr val="9AA3B0"/>
          </a:solidFill>
          <a:ln w="9525">
            <a:solidFill>
              <a:srgbClr val="4A5568"/>
            </a:solidFill>
            <a:prstDash val="solid"/>
          </a:ln>
        </p:spPr>
      </p:sp>
      <p:sp>
        <p:nvSpPr>
          <p:cNvPr id="54" name="Shape 52"/>
          <p:cNvSpPr/>
          <p:nvPr/>
        </p:nvSpPr>
        <p:spPr>
          <a:xfrm>
            <a:off x="2313432" y="3918204"/>
            <a:ext cx="2304288" cy="73152"/>
          </a:xfrm>
          <a:prstGeom prst="rect">
            <a:avLst/>
          </a:prstGeom>
          <a:solidFill>
            <a:srgbClr val="B8BEC8"/>
          </a:solidFill>
          <a:ln w="9525">
            <a:solidFill>
              <a:srgbClr val="4A5568"/>
            </a:solidFill>
            <a:prstDash val="solid"/>
          </a:ln>
        </p:spPr>
      </p:sp>
      <p:sp>
        <p:nvSpPr>
          <p:cNvPr id="55" name="Shape 53"/>
          <p:cNvSpPr/>
          <p:nvPr/>
        </p:nvSpPr>
        <p:spPr>
          <a:xfrm>
            <a:off x="4617720" y="3474720"/>
            <a:ext cx="73152" cy="960120"/>
          </a:xfrm>
          <a:prstGeom prst="rect">
            <a:avLst/>
          </a:prstGeom>
          <a:solidFill>
            <a:srgbClr val="9AA3B0"/>
          </a:solidFill>
          <a:ln w="9525">
            <a:solidFill>
              <a:srgbClr val="4A5568"/>
            </a:solidFill>
            <a:prstDash val="solid"/>
          </a:ln>
        </p:spPr>
      </p:sp>
      <p:sp>
        <p:nvSpPr>
          <p:cNvPr id="56" name="Shape 54"/>
          <p:cNvSpPr/>
          <p:nvPr/>
        </p:nvSpPr>
        <p:spPr>
          <a:xfrm>
            <a:off x="1062533" y="3727094"/>
            <a:ext cx="109728" cy="109728"/>
          </a:xfrm>
          <a:prstGeom prst="ellipse">
            <a:avLst/>
          </a:prstGeom>
          <a:solidFill>
            <a:srgbClr val="E06666"/>
          </a:solidFill>
          <a:ln w="12700">
            <a:solidFill>
              <a:srgbClr val="9E2A2A"/>
            </a:solidFill>
            <a:prstDash val="solid"/>
          </a:ln>
        </p:spPr>
      </p:sp>
      <p:sp>
        <p:nvSpPr>
          <p:cNvPr id="57" name="Shape 55"/>
          <p:cNvSpPr/>
          <p:nvPr/>
        </p:nvSpPr>
        <p:spPr>
          <a:xfrm>
            <a:off x="1205179" y="3727094"/>
            <a:ext cx="109728" cy="109728"/>
          </a:xfrm>
          <a:prstGeom prst="ellipse">
            <a:avLst/>
          </a:prstGeom>
          <a:solidFill>
            <a:srgbClr val="E06666"/>
          </a:solidFill>
          <a:ln w="12700">
            <a:solidFill>
              <a:srgbClr val="9E2A2A"/>
            </a:solidFill>
            <a:prstDash val="solid"/>
          </a:ln>
        </p:spPr>
      </p:sp>
      <p:sp>
        <p:nvSpPr>
          <p:cNvPr id="58" name="Shape 56"/>
          <p:cNvSpPr/>
          <p:nvPr/>
        </p:nvSpPr>
        <p:spPr>
          <a:xfrm>
            <a:off x="1133856" y="3694176"/>
            <a:ext cx="109728" cy="109728"/>
          </a:xfrm>
          <a:prstGeom prst="ellipse">
            <a:avLst/>
          </a:prstGeom>
          <a:solidFill>
            <a:srgbClr val="6D8FE0"/>
          </a:solidFill>
          <a:ln w="12700">
            <a:solidFill>
              <a:srgbClr val="2F4F9E"/>
            </a:solidFill>
            <a:prstDash val="solid"/>
          </a:ln>
        </p:spPr>
      </p:sp>
      <p:sp>
        <p:nvSpPr>
          <p:cNvPr id="59" name="Shape 57"/>
          <p:cNvSpPr/>
          <p:nvPr/>
        </p:nvSpPr>
        <p:spPr>
          <a:xfrm>
            <a:off x="1839773" y="4092854"/>
            <a:ext cx="109728" cy="109728"/>
          </a:xfrm>
          <a:prstGeom prst="ellipse">
            <a:avLst/>
          </a:prstGeom>
          <a:solidFill>
            <a:srgbClr val="E06666"/>
          </a:solidFill>
          <a:ln w="12700">
            <a:solidFill>
              <a:srgbClr val="9E2A2A"/>
            </a:solidFill>
            <a:prstDash val="solid"/>
          </a:ln>
        </p:spPr>
      </p:sp>
      <p:sp>
        <p:nvSpPr>
          <p:cNvPr id="60" name="Shape 58"/>
          <p:cNvSpPr/>
          <p:nvPr/>
        </p:nvSpPr>
        <p:spPr>
          <a:xfrm>
            <a:off x="1982419" y="4092854"/>
            <a:ext cx="109728" cy="109728"/>
          </a:xfrm>
          <a:prstGeom prst="ellipse">
            <a:avLst/>
          </a:prstGeom>
          <a:solidFill>
            <a:srgbClr val="E06666"/>
          </a:solidFill>
          <a:ln w="12700">
            <a:solidFill>
              <a:srgbClr val="9E2A2A"/>
            </a:solidFill>
            <a:prstDash val="solid"/>
          </a:ln>
        </p:spPr>
      </p:sp>
      <p:sp>
        <p:nvSpPr>
          <p:cNvPr id="61" name="Shape 59"/>
          <p:cNvSpPr/>
          <p:nvPr/>
        </p:nvSpPr>
        <p:spPr>
          <a:xfrm>
            <a:off x="1911096" y="4059936"/>
            <a:ext cx="109728" cy="109728"/>
          </a:xfrm>
          <a:prstGeom prst="ellipse">
            <a:avLst/>
          </a:prstGeom>
          <a:solidFill>
            <a:srgbClr val="6D8FE0"/>
          </a:solidFill>
          <a:ln w="12700">
            <a:solidFill>
              <a:srgbClr val="2F4F9E"/>
            </a:solidFill>
            <a:prstDash val="solid"/>
          </a:ln>
        </p:spPr>
      </p:sp>
      <p:sp>
        <p:nvSpPr>
          <p:cNvPr id="62" name="Shape 60"/>
          <p:cNvSpPr/>
          <p:nvPr/>
        </p:nvSpPr>
        <p:spPr>
          <a:xfrm>
            <a:off x="1399946" y="3727094"/>
            <a:ext cx="109728" cy="109728"/>
          </a:xfrm>
          <a:prstGeom prst="ellipse">
            <a:avLst/>
          </a:prstGeom>
          <a:solidFill>
            <a:srgbClr val="E06666"/>
          </a:solidFill>
          <a:ln w="12700">
            <a:solidFill>
              <a:srgbClr val="9E2A2A"/>
            </a:solidFill>
            <a:prstDash val="solid"/>
          </a:ln>
        </p:spPr>
      </p:sp>
      <p:sp>
        <p:nvSpPr>
          <p:cNvPr id="63" name="Shape 61"/>
          <p:cNvSpPr/>
          <p:nvPr/>
        </p:nvSpPr>
        <p:spPr>
          <a:xfrm>
            <a:off x="1542593" y="3727094"/>
            <a:ext cx="109728" cy="109728"/>
          </a:xfrm>
          <a:prstGeom prst="ellipse">
            <a:avLst/>
          </a:prstGeom>
          <a:solidFill>
            <a:srgbClr val="E06666"/>
          </a:solidFill>
          <a:ln w="12700">
            <a:solidFill>
              <a:srgbClr val="9E2A2A"/>
            </a:solidFill>
            <a:prstDash val="solid"/>
          </a:ln>
        </p:spPr>
      </p:sp>
      <p:sp>
        <p:nvSpPr>
          <p:cNvPr id="64" name="Shape 62"/>
          <p:cNvSpPr/>
          <p:nvPr/>
        </p:nvSpPr>
        <p:spPr>
          <a:xfrm>
            <a:off x="1471270" y="3694176"/>
            <a:ext cx="109728" cy="109728"/>
          </a:xfrm>
          <a:prstGeom prst="ellipse">
            <a:avLst/>
          </a:prstGeom>
          <a:solidFill>
            <a:srgbClr val="6D8FE0"/>
          </a:solidFill>
          <a:ln w="12700">
            <a:solidFill>
              <a:srgbClr val="2F4F9E"/>
            </a:solidFill>
            <a:prstDash val="solid"/>
          </a:ln>
        </p:spPr>
      </p:sp>
      <p:sp>
        <p:nvSpPr>
          <p:cNvPr id="65" name="Shape 63"/>
          <p:cNvSpPr/>
          <p:nvPr/>
        </p:nvSpPr>
        <p:spPr>
          <a:xfrm>
            <a:off x="1501445" y="3727094"/>
            <a:ext cx="109728" cy="109728"/>
          </a:xfrm>
          <a:prstGeom prst="ellipse">
            <a:avLst/>
          </a:prstGeom>
          <a:solidFill>
            <a:srgbClr val="E06666"/>
          </a:solidFill>
          <a:ln w="12700">
            <a:solidFill>
              <a:srgbClr val="9E2A2A"/>
            </a:solidFill>
            <a:prstDash val="solid"/>
          </a:ln>
        </p:spPr>
      </p:sp>
      <p:sp>
        <p:nvSpPr>
          <p:cNvPr id="66" name="Shape 64"/>
          <p:cNvSpPr/>
          <p:nvPr/>
        </p:nvSpPr>
        <p:spPr>
          <a:xfrm>
            <a:off x="1644091" y="3727094"/>
            <a:ext cx="109728" cy="109728"/>
          </a:xfrm>
          <a:prstGeom prst="ellipse">
            <a:avLst/>
          </a:prstGeom>
          <a:solidFill>
            <a:srgbClr val="E06666"/>
          </a:solidFill>
          <a:ln w="12700">
            <a:solidFill>
              <a:srgbClr val="9E2A2A"/>
            </a:solidFill>
            <a:prstDash val="solid"/>
          </a:ln>
        </p:spPr>
      </p:sp>
      <p:sp>
        <p:nvSpPr>
          <p:cNvPr id="67" name="Shape 65"/>
          <p:cNvSpPr/>
          <p:nvPr/>
        </p:nvSpPr>
        <p:spPr>
          <a:xfrm>
            <a:off x="1572768" y="3694176"/>
            <a:ext cx="109728" cy="109728"/>
          </a:xfrm>
          <a:prstGeom prst="ellipse">
            <a:avLst/>
          </a:prstGeom>
          <a:solidFill>
            <a:srgbClr val="6D8FE0"/>
          </a:solidFill>
          <a:ln w="12700">
            <a:solidFill>
              <a:srgbClr val="2F4F9E"/>
            </a:solidFill>
            <a:prstDash val="solid"/>
          </a:ln>
        </p:spPr>
      </p:sp>
      <p:sp>
        <p:nvSpPr>
          <p:cNvPr id="68" name="Shape 66"/>
          <p:cNvSpPr/>
          <p:nvPr/>
        </p:nvSpPr>
        <p:spPr>
          <a:xfrm>
            <a:off x="1793138" y="3727094"/>
            <a:ext cx="109728" cy="109728"/>
          </a:xfrm>
          <a:prstGeom prst="ellipse">
            <a:avLst/>
          </a:prstGeom>
          <a:solidFill>
            <a:srgbClr val="E06666"/>
          </a:solidFill>
          <a:ln w="12700">
            <a:solidFill>
              <a:srgbClr val="9E2A2A"/>
            </a:solidFill>
            <a:prstDash val="solid"/>
          </a:ln>
        </p:spPr>
      </p:sp>
      <p:sp>
        <p:nvSpPr>
          <p:cNvPr id="69" name="Shape 67"/>
          <p:cNvSpPr/>
          <p:nvPr/>
        </p:nvSpPr>
        <p:spPr>
          <a:xfrm>
            <a:off x="1935785" y="3727094"/>
            <a:ext cx="109728" cy="109728"/>
          </a:xfrm>
          <a:prstGeom prst="ellipse">
            <a:avLst/>
          </a:prstGeom>
          <a:solidFill>
            <a:srgbClr val="E06666"/>
          </a:solidFill>
          <a:ln w="12700">
            <a:solidFill>
              <a:srgbClr val="9E2A2A"/>
            </a:solidFill>
            <a:prstDash val="solid"/>
          </a:ln>
        </p:spPr>
      </p:sp>
      <p:sp>
        <p:nvSpPr>
          <p:cNvPr id="70" name="Shape 68"/>
          <p:cNvSpPr/>
          <p:nvPr/>
        </p:nvSpPr>
        <p:spPr>
          <a:xfrm>
            <a:off x="1864462" y="3694176"/>
            <a:ext cx="109728" cy="109728"/>
          </a:xfrm>
          <a:prstGeom prst="ellipse">
            <a:avLst/>
          </a:prstGeom>
          <a:solidFill>
            <a:srgbClr val="6D8FE0"/>
          </a:solidFill>
          <a:ln w="12700">
            <a:solidFill>
              <a:srgbClr val="2F4F9E"/>
            </a:solidFill>
            <a:prstDash val="solid"/>
          </a:ln>
        </p:spPr>
      </p:sp>
      <p:sp>
        <p:nvSpPr>
          <p:cNvPr id="71" name="Shape 69"/>
          <p:cNvSpPr/>
          <p:nvPr/>
        </p:nvSpPr>
        <p:spPr>
          <a:xfrm>
            <a:off x="1894637" y="3727094"/>
            <a:ext cx="109728" cy="109728"/>
          </a:xfrm>
          <a:prstGeom prst="ellipse">
            <a:avLst/>
          </a:prstGeom>
          <a:solidFill>
            <a:srgbClr val="E06666"/>
          </a:solidFill>
          <a:ln w="12700">
            <a:solidFill>
              <a:srgbClr val="9E2A2A"/>
            </a:solidFill>
            <a:prstDash val="solid"/>
          </a:ln>
        </p:spPr>
      </p:sp>
      <p:sp>
        <p:nvSpPr>
          <p:cNvPr id="72" name="Shape 70"/>
          <p:cNvSpPr/>
          <p:nvPr/>
        </p:nvSpPr>
        <p:spPr>
          <a:xfrm>
            <a:off x="2037283" y="3727094"/>
            <a:ext cx="109728" cy="109728"/>
          </a:xfrm>
          <a:prstGeom prst="ellipse">
            <a:avLst/>
          </a:prstGeom>
          <a:solidFill>
            <a:srgbClr val="E06666"/>
          </a:solidFill>
          <a:ln w="12700">
            <a:solidFill>
              <a:srgbClr val="9E2A2A"/>
            </a:solidFill>
            <a:prstDash val="solid"/>
          </a:ln>
        </p:spPr>
      </p:sp>
      <p:sp>
        <p:nvSpPr>
          <p:cNvPr id="73" name="Shape 71"/>
          <p:cNvSpPr/>
          <p:nvPr/>
        </p:nvSpPr>
        <p:spPr>
          <a:xfrm>
            <a:off x="1965960" y="3694176"/>
            <a:ext cx="109728" cy="109728"/>
          </a:xfrm>
          <a:prstGeom prst="ellipse">
            <a:avLst/>
          </a:prstGeom>
          <a:solidFill>
            <a:srgbClr val="6D8FE0"/>
          </a:solidFill>
          <a:ln w="12700">
            <a:solidFill>
              <a:srgbClr val="2F4F9E"/>
            </a:solidFill>
            <a:prstDash val="solid"/>
          </a:ln>
        </p:spPr>
      </p:sp>
      <p:sp>
        <p:nvSpPr>
          <p:cNvPr id="74" name="Shape 72"/>
          <p:cNvSpPr/>
          <p:nvPr/>
        </p:nvSpPr>
        <p:spPr>
          <a:xfrm>
            <a:off x="1015898" y="4092854"/>
            <a:ext cx="109728" cy="109728"/>
          </a:xfrm>
          <a:prstGeom prst="ellipse">
            <a:avLst/>
          </a:prstGeom>
          <a:solidFill>
            <a:srgbClr val="E06666"/>
          </a:solidFill>
          <a:ln w="12700">
            <a:solidFill>
              <a:srgbClr val="9E2A2A"/>
            </a:solidFill>
            <a:prstDash val="solid"/>
          </a:ln>
        </p:spPr>
      </p:sp>
      <p:sp>
        <p:nvSpPr>
          <p:cNvPr id="75" name="Shape 73"/>
          <p:cNvSpPr/>
          <p:nvPr/>
        </p:nvSpPr>
        <p:spPr>
          <a:xfrm>
            <a:off x="1158545" y="4092854"/>
            <a:ext cx="109728" cy="109728"/>
          </a:xfrm>
          <a:prstGeom prst="ellipse">
            <a:avLst/>
          </a:prstGeom>
          <a:solidFill>
            <a:srgbClr val="E06666"/>
          </a:solidFill>
          <a:ln w="12700">
            <a:solidFill>
              <a:srgbClr val="9E2A2A"/>
            </a:solidFill>
            <a:prstDash val="solid"/>
          </a:ln>
        </p:spPr>
      </p:sp>
      <p:sp>
        <p:nvSpPr>
          <p:cNvPr id="76" name="Shape 74"/>
          <p:cNvSpPr/>
          <p:nvPr/>
        </p:nvSpPr>
        <p:spPr>
          <a:xfrm>
            <a:off x="1087222" y="4059936"/>
            <a:ext cx="109728" cy="109728"/>
          </a:xfrm>
          <a:prstGeom prst="ellipse">
            <a:avLst/>
          </a:prstGeom>
          <a:solidFill>
            <a:srgbClr val="6D8FE0"/>
          </a:solidFill>
          <a:ln w="12700">
            <a:solidFill>
              <a:srgbClr val="2F4F9E"/>
            </a:solidFill>
            <a:prstDash val="solid"/>
          </a:ln>
        </p:spPr>
      </p:sp>
      <p:sp>
        <p:nvSpPr>
          <p:cNvPr id="77" name="Shape 75"/>
          <p:cNvSpPr/>
          <p:nvPr/>
        </p:nvSpPr>
        <p:spPr>
          <a:xfrm>
            <a:off x="1117397" y="4092854"/>
            <a:ext cx="109728" cy="109728"/>
          </a:xfrm>
          <a:prstGeom prst="ellipse">
            <a:avLst/>
          </a:prstGeom>
          <a:solidFill>
            <a:srgbClr val="E06666"/>
          </a:solidFill>
          <a:ln w="12700">
            <a:solidFill>
              <a:srgbClr val="9E2A2A"/>
            </a:solidFill>
            <a:prstDash val="solid"/>
          </a:ln>
        </p:spPr>
      </p:sp>
      <p:sp>
        <p:nvSpPr>
          <p:cNvPr id="78" name="Shape 76"/>
          <p:cNvSpPr/>
          <p:nvPr/>
        </p:nvSpPr>
        <p:spPr>
          <a:xfrm>
            <a:off x="1260043" y="4092854"/>
            <a:ext cx="109728" cy="109728"/>
          </a:xfrm>
          <a:prstGeom prst="ellipse">
            <a:avLst/>
          </a:prstGeom>
          <a:solidFill>
            <a:srgbClr val="E06666"/>
          </a:solidFill>
          <a:ln w="12700">
            <a:solidFill>
              <a:srgbClr val="9E2A2A"/>
            </a:solidFill>
            <a:prstDash val="solid"/>
          </a:ln>
        </p:spPr>
      </p:sp>
      <p:sp>
        <p:nvSpPr>
          <p:cNvPr id="79" name="Shape 77"/>
          <p:cNvSpPr/>
          <p:nvPr/>
        </p:nvSpPr>
        <p:spPr>
          <a:xfrm>
            <a:off x="1188720" y="4059936"/>
            <a:ext cx="109728" cy="109728"/>
          </a:xfrm>
          <a:prstGeom prst="ellipse">
            <a:avLst/>
          </a:prstGeom>
          <a:solidFill>
            <a:srgbClr val="6D8FE0"/>
          </a:solidFill>
          <a:ln w="12700">
            <a:solidFill>
              <a:srgbClr val="2F4F9E"/>
            </a:solidFill>
            <a:prstDash val="solid"/>
          </a:ln>
        </p:spPr>
      </p:sp>
      <p:sp>
        <p:nvSpPr>
          <p:cNvPr id="80" name="Shape 78"/>
          <p:cNvSpPr/>
          <p:nvPr/>
        </p:nvSpPr>
        <p:spPr>
          <a:xfrm>
            <a:off x="1399946" y="4092854"/>
            <a:ext cx="109728" cy="109728"/>
          </a:xfrm>
          <a:prstGeom prst="ellipse">
            <a:avLst/>
          </a:prstGeom>
          <a:solidFill>
            <a:srgbClr val="E06666"/>
          </a:solidFill>
          <a:ln w="12700">
            <a:solidFill>
              <a:srgbClr val="9E2A2A"/>
            </a:solidFill>
            <a:prstDash val="solid"/>
          </a:ln>
        </p:spPr>
      </p:sp>
      <p:sp>
        <p:nvSpPr>
          <p:cNvPr id="81" name="Shape 79"/>
          <p:cNvSpPr/>
          <p:nvPr/>
        </p:nvSpPr>
        <p:spPr>
          <a:xfrm>
            <a:off x="1542593" y="4092854"/>
            <a:ext cx="109728" cy="109728"/>
          </a:xfrm>
          <a:prstGeom prst="ellipse">
            <a:avLst/>
          </a:prstGeom>
          <a:solidFill>
            <a:srgbClr val="E06666"/>
          </a:solidFill>
          <a:ln w="12700">
            <a:solidFill>
              <a:srgbClr val="9E2A2A"/>
            </a:solidFill>
            <a:prstDash val="solid"/>
          </a:ln>
        </p:spPr>
      </p:sp>
      <p:sp>
        <p:nvSpPr>
          <p:cNvPr id="82" name="Shape 80"/>
          <p:cNvSpPr/>
          <p:nvPr/>
        </p:nvSpPr>
        <p:spPr>
          <a:xfrm>
            <a:off x="1471270" y="4059936"/>
            <a:ext cx="109728" cy="109728"/>
          </a:xfrm>
          <a:prstGeom prst="ellipse">
            <a:avLst/>
          </a:prstGeom>
          <a:solidFill>
            <a:srgbClr val="6D8FE0"/>
          </a:solidFill>
          <a:ln w="12700">
            <a:solidFill>
              <a:srgbClr val="2F4F9E"/>
            </a:solidFill>
            <a:prstDash val="solid"/>
          </a:ln>
        </p:spPr>
      </p:sp>
      <p:sp>
        <p:nvSpPr>
          <p:cNvPr id="83" name="Shape 81"/>
          <p:cNvSpPr/>
          <p:nvPr/>
        </p:nvSpPr>
        <p:spPr>
          <a:xfrm>
            <a:off x="1501445" y="4092854"/>
            <a:ext cx="109728" cy="109728"/>
          </a:xfrm>
          <a:prstGeom prst="ellipse">
            <a:avLst/>
          </a:prstGeom>
          <a:solidFill>
            <a:srgbClr val="E06666"/>
          </a:solidFill>
          <a:ln w="12700">
            <a:solidFill>
              <a:srgbClr val="9E2A2A"/>
            </a:solidFill>
            <a:prstDash val="solid"/>
          </a:ln>
        </p:spPr>
      </p:sp>
      <p:sp>
        <p:nvSpPr>
          <p:cNvPr id="84" name="Shape 82"/>
          <p:cNvSpPr/>
          <p:nvPr/>
        </p:nvSpPr>
        <p:spPr>
          <a:xfrm>
            <a:off x="1644091" y="4092854"/>
            <a:ext cx="109728" cy="109728"/>
          </a:xfrm>
          <a:prstGeom prst="ellipse">
            <a:avLst/>
          </a:prstGeom>
          <a:solidFill>
            <a:srgbClr val="E06666"/>
          </a:solidFill>
          <a:ln w="12700">
            <a:solidFill>
              <a:srgbClr val="9E2A2A"/>
            </a:solidFill>
            <a:prstDash val="solid"/>
          </a:ln>
        </p:spPr>
      </p:sp>
      <p:sp>
        <p:nvSpPr>
          <p:cNvPr id="85" name="Shape 83"/>
          <p:cNvSpPr/>
          <p:nvPr/>
        </p:nvSpPr>
        <p:spPr>
          <a:xfrm>
            <a:off x="1572768" y="4059936"/>
            <a:ext cx="109728" cy="109728"/>
          </a:xfrm>
          <a:prstGeom prst="ellipse">
            <a:avLst/>
          </a:prstGeom>
          <a:solidFill>
            <a:srgbClr val="6D8FE0"/>
          </a:solidFill>
          <a:ln w="12700">
            <a:solidFill>
              <a:srgbClr val="2F4F9E"/>
            </a:solidFill>
            <a:prstDash val="solid"/>
          </a:ln>
        </p:spPr>
      </p:sp>
      <p:sp>
        <p:nvSpPr>
          <p:cNvPr id="86" name="Shape 84"/>
          <p:cNvSpPr/>
          <p:nvPr/>
        </p:nvSpPr>
        <p:spPr>
          <a:xfrm flipH="1">
            <a:off x="4800600" y="3319272"/>
            <a:ext cx="960120" cy="91"/>
          </a:xfrm>
          <a:prstGeom prst="line">
            <a:avLst/>
          </a:prstGeom>
          <a:noFill/>
          <a:ln w="25400">
            <a:solidFill>
              <a:srgbClr val="C8414C"/>
            </a:solidFill>
            <a:prstDash val="solid"/>
            <a:tailEnd type="triangle"/>
          </a:ln>
        </p:spPr>
      </p:sp>
      <p:sp>
        <p:nvSpPr>
          <p:cNvPr id="87" name="Text 85"/>
          <p:cNvSpPr/>
          <p:nvPr/>
        </p:nvSpPr>
        <p:spPr>
          <a:xfrm>
            <a:off x="3657600" y="3200400"/>
            <a:ext cx="1051560" cy="237744"/>
          </a:xfrm>
          <a:prstGeom prst="rect">
            <a:avLst/>
          </a:prstGeom>
          <a:noFill/>
          <a:ln/>
        </p:spPr>
        <p:txBody>
          <a:bodyPr wrap="square" lIns="0" tIns="0" rIns="0" bIns="0" rtlCol="0" anchor="ctr"/>
          <a:lstStyle/>
          <a:p>
            <a:pPr algn="r" indent="0" marL="0">
              <a:buNone/>
            </a:pPr>
            <a:r>
              <a:rPr lang="en-US" sz="1000" b="1" dirty="0">
                <a:solidFill>
                  <a:srgbClr val="C8414C"/>
                </a:solidFill>
                <a:latin typeface="Calibri" pitchFamily="34" charset="0"/>
                <a:ea typeface="Calibri" pitchFamily="34" charset="-122"/>
                <a:cs typeface="Calibri" pitchFamily="34" charset="-120"/>
              </a:rPr>
              <a:t>push plunger</a:t>
            </a:r>
            <a:endParaRPr lang="en-US" sz="1000" dirty="0"/>
          </a:p>
        </p:txBody>
      </p:sp>
      <p:sp>
        <p:nvSpPr>
          <p:cNvPr id="88" name="Shape 86"/>
          <p:cNvSpPr/>
          <p:nvPr/>
        </p:nvSpPr>
        <p:spPr>
          <a:xfrm>
            <a:off x="685800" y="4663440"/>
            <a:ext cx="5029200" cy="566928"/>
          </a:xfrm>
          <a:prstGeom prst="roundRect">
            <a:avLst>
              <a:gd name="adj" fmla="val 9677"/>
            </a:avLst>
          </a:prstGeom>
          <a:solidFill>
            <a:srgbClr val="FBE3E4"/>
          </a:solidFill>
          <a:ln w="12700">
            <a:solidFill>
              <a:srgbClr val="C8414C"/>
            </a:solidFill>
            <a:prstDash val="solid"/>
          </a:ln>
        </p:spPr>
      </p:sp>
      <p:sp>
        <p:nvSpPr>
          <p:cNvPr id="89" name="Text 87"/>
          <p:cNvSpPr/>
          <p:nvPr/>
        </p:nvSpPr>
        <p:spPr>
          <a:xfrm>
            <a:off x="740664" y="4663440"/>
            <a:ext cx="4919472" cy="566928"/>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Higher pressure: the mixture shifts to the side with </a:t>
            </a:r>
            <a:r>
              <a:rPr lang="en-US" sz="1050" b="1" dirty="0">
                <a:solidFill>
                  <a:srgbClr val="262B3A"/>
                </a:solidFill>
                <a:latin typeface="Calibri" pitchFamily="34" charset="0"/>
                <a:ea typeface="Calibri" pitchFamily="34" charset="-122"/>
                <a:cs typeface="Calibri" pitchFamily="34" charset="-120"/>
              </a:rPr>
              <a:t>fewer gas molecules</a:t>
            </a:r>
            <a:r>
              <a:rPr lang="en-US" sz="1050" dirty="0">
                <a:solidFill>
                  <a:srgbClr val="262B3A"/>
                </a:solidFill>
                <a:latin typeface="Calibri" pitchFamily="34" charset="0"/>
                <a:ea typeface="Calibri" pitchFamily="34" charset="-122"/>
                <a:cs typeface="Calibri" pitchFamily="34" charset="-120"/>
              </a:rPr>
              <a:t> (here, </a:t>
            </a:r>
            <a:r>
              <a:rPr lang="en-US" sz="1050" b="1" dirty="0">
                <a:solidFill>
                  <a:srgbClr val="262B3A"/>
                </a:solidFill>
                <a:latin typeface="Calibri" pitchFamily="34" charset="0"/>
                <a:ea typeface="Calibri" pitchFamily="34" charset="-122"/>
                <a:cs typeface="Calibri" pitchFamily="34" charset="-120"/>
              </a:rPr>
              <a:t>right</a:t>
            </a:r>
            <a:r>
              <a:rPr lang="en-US" sz="1050" dirty="0">
                <a:solidFill>
                  <a:srgbClr val="262B3A"/>
                </a:solidFill>
                <a:latin typeface="Calibri" pitchFamily="34" charset="0"/>
                <a:ea typeface="Calibri" pitchFamily="34" charset="-122"/>
                <a:cs typeface="Calibri" pitchFamily="34" charset="-120"/>
              </a:rPr>
              <a:t>: paler)</a:t>
            </a:r>
            <a:endParaRPr lang="en-US" sz="1050" dirty="0"/>
          </a:p>
        </p:txBody>
      </p:sp>
      <p:sp>
        <p:nvSpPr>
          <p:cNvPr id="90" name="Shape 88"/>
          <p:cNvSpPr/>
          <p:nvPr/>
        </p:nvSpPr>
        <p:spPr>
          <a:xfrm>
            <a:off x="6217920" y="1188720"/>
            <a:ext cx="5559552" cy="2606040"/>
          </a:xfrm>
          <a:prstGeom prst="roundRect">
            <a:avLst>
              <a:gd name="adj" fmla="val 2105"/>
            </a:avLst>
          </a:prstGeom>
          <a:solidFill>
            <a:srgbClr val="F8F5FC"/>
          </a:solidFill>
          <a:ln w="9525">
            <a:solidFill>
              <a:srgbClr val="DDD3EC"/>
            </a:solidFill>
            <a:prstDash val="solid"/>
          </a:ln>
        </p:spPr>
      </p:sp>
      <p:sp>
        <p:nvSpPr>
          <p:cNvPr id="91" name="Text 89"/>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Count the gas molecules</a:t>
            </a:r>
            <a:endParaRPr lang="en-US" sz="1300" dirty="0"/>
          </a:p>
        </p:txBody>
      </p:sp>
      <p:sp>
        <p:nvSpPr>
          <p:cNvPr id="92" name="Text 90"/>
          <p:cNvSpPr/>
          <p:nvPr/>
        </p:nvSpPr>
        <p:spPr>
          <a:xfrm>
            <a:off x="6382512" y="1609344"/>
            <a:ext cx="5230368" cy="211226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Pressure only matters for reactions with </a:t>
            </a:r>
            <a:r>
              <a:rPr lang="en-US" sz="1050" b="1" dirty="0">
                <a:solidFill>
                  <a:srgbClr val="262B3A"/>
                </a:solidFill>
                <a:latin typeface="Calibri" pitchFamily="34" charset="0"/>
                <a:ea typeface="Calibri" pitchFamily="34" charset="-122"/>
                <a:cs typeface="Calibri" pitchFamily="34" charset="-120"/>
              </a:rPr>
              <a:t>gases</a:t>
            </a:r>
            <a:r>
              <a:rPr lang="en-US" sz="1050" dirty="0">
                <a:solidFill>
                  <a:srgbClr val="262B3A"/>
                </a:solidFill>
                <a:latin typeface="Calibri" pitchFamily="34" charset="0"/>
                <a:ea typeface="Calibri" pitchFamily="34" charset="-122"/>
                <a:cs typeface="Calibri" pitchFamily="34" charset="-120"/>
              </a:rPr>
              <a:t>. Count the </a:t>
            </a:r>
            <a:r>
              <a:rPr lang="en-US" sz="1050" b="1" dirty="0">
                <a:solidFill>
                  <a:srgbClr val="262B3A"/>
                </a:solidFill>
                <a:latin typeface="Calibri" pitchFamily="34" charset="0"/>
                <a:ea typeface="Calibri" pitchFamily="34" charset="-122"/>
                <a:cs typeface="Calibri" pitchFamily="34" charset="-120"/>
              </a:rPr>
              <a:t>gas molecules</a:t>
            </a:r>
            <a:r>
              <a:rPr lang="en-US" sz="1050" dirty="0">
                <a:solidFill>
                  <a:srgbClr val="262B3A"/>
                </a:solidFill>
                <a:latin typeface="Calibri" pitchFamily="34" charset="0"/>
                <a:ea typeface="Calibri" pitchFamily="34" charset="-122"/>
                <a:cs typeface="Calibri" pitchFamily="34" charset="-120"/>
              </a:rPr>
              <a:t> on each side using the balancing numbers.</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Increase</a:t>
            </a:r>
            <a:r>
              <a:rPr lang="en-US" sz="1050" dirty="0">
                <a:solidFill>
                  <a:srgbClr val="262B3A"/>
                </a:solidFill>
                <a:latin typeface="Calibri" pitchFamily="34" charset="0"/>
                <a:ea typeface="Calibri" pitchFamily="34" charset="-122"/>
                <a:cs typeface="Calibri" pitchFamily="34" charset="-120"/>
              </a:rPr>
              <a:t> the pressure: shifts to the side with </a:t>
            </a:r>
            <a:r>
              <a:rPr lang="en-US" sz="1050" b="1" dirty="0">
                <a:solidFill>
                  <a:srgbClr val="262B3A"/>
                </a:solidFill>
                <a:latin typeface="Calibri" pitchFamily="34" charset="0"/>
                <a:ea typeface="Calibri" pitchFamily="34" charset="-122"/>
                <a:cs typeface="Calibri" pitchFamily="34" charset="-120"/>
              </a:rPr>
              <a:t>fewer</a:t>
            </a:r>
            <a:r>
              <a:rPr lang="en-US" sz="1050" dirty="0">
                <a:solidFill>
                  <a:srgbClr val="262B3A"/>
                </a:solidFill>
                <a:latin typeface="Calibri" pitchFamily="34" charset="0"/>
                <a:ea typeface="Calibri" pitchFamily="34" charset="-122"/>
                <a:cs typeface="Calibri" pitchFamily="34" charset="-120"/>
              </a:rPr>
              <a:t> gas molecules. </a:t>
            </a:r>
            <a:r>
              <a:rPr lang="en-US" sz="1050" b="1" dirty="0">
                <a:solidFill>
                  <a:srgbClr val="262B3A"/>
                </a:solidFill>
                <a:latin typeface="Calibri" pitchFamily="34" charset="0"/>
                <a:ea typeface="Calibri" pitchFamily="34" charset="-122"/>
                <a:cs typeface="Calibri" pitchFamily="34" charset="-120"/>
              </a:rPr>
              <a:t>Decrease</a:t>
            </a:r>
            <a:r>
              <a:rPr lang="en-US" sz="1050" dirty="0">
                <a:solidFill>
                  <a:srgbClr val="262B3A"/>
                </a:solidFill>
                <a:latin typeface="Calibri" pitchFamily="34" charset="0"/>
                <a:ea typeface="Calibri" pitchFamily="34" charset="-122"/>
                <a:cs typeface="Calibri" pitchFamily="34" charset="-120"/>
              </a:rPr>
              <a:t> it: shifts to the side with </a:t>
            </a:r>
            <a:r>
              <a:rPr lang="en-US" sz="1050" b="1" dirty="0">
                <a:solidFill>
                  <a:srgbClr val="262B3A"/>
                </a:solidFill>
                <a:latin typeface="Calibri" pitchFamily="34" charset="0"/>
                <a:ea typeface="Calibri" pitchFamily="34" charset="-122"/>
                <a:cs typeface="Calibri" pitchFamily="34" charset="-120"/>
              </a:rPr>
              <a:t>more</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Same number on each side (e.g. H₂ + I₂ ⇌ 2HI): pressure has </a:t>
            </a:r>
            <a:r>
              <a:rPr lang="en-US" sz="1050" b="1" dirty="0">
                <a:solidFill>
                  <a:srgbClr val="262B3A"/>
                </a:solidFill>
                <a:latin typeface="Calibri" pitchFamily="34" charset="0"/>
                <a:ea typeface="Calibri" pitchFamily="34" charset="-122"/>
                <a:cs typeface="Calibri" pitchFamily="34" charset="-120"/>
              </a:rPr>
              <a:t>no effect</a:t>
            </a:r>
            <a:r>
              <a:rPr lang="en-US" sz="1050" dirty="0">
                <a:solidFill>
                  <a:srgbClr val="262B3A"/>
                </a:solidFill>
                <a:latin typeface="Calibri" pitchFamily="34" charset="0"/>
                <a:ea typeface="Calibri" pitchFamily="34" charset="-122"/>
                <a:cs typeface="Calibri" pitchFamily="34" charset="-120"/>
              </a:rPr>
              <a:t> on the position.</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 </a:t>
            </a:r>
            <a:r>
              <a:rPr lang="en-US" sz="1050" b="1" dirty="0">
                <a:solidFill>
                  <a:srgbClr val="262B3A"/>
                </a:solidFill>
                <a:latin typeface="Calibri" pitchFamily="34" charset="0"/>
                <a:ea typeface="Calibri" pitchFamily="34" charset="-122"/>
                <a:cs typeface="Calibri" pitchFamily="34" charset="-120"/>
              </a:rPr>
              <a:t>catalyst</a:t>
            </a:r>
            <a:r>
              <a:rPr lang="en-US" sz="1050" dirty="0">
                <a:solidFill>
                  <a:srgbClr val="262B3A"/>
                </a:solidFill>
                <a:latin typeface="Calibri" pitchFamily="34" charset="0"/>
                <a:ea typeface="Calibri" pitchFamily="34" charset="-122"/>
                <a:cs typeface="Calibri" pitchFamily="34" charset="-120"/>
              </a:rPr>
              <a:t> does </a:t>
            </a:r>
            <a:r>
              <a:rPr lang="en-US" sz="1050" b="1" dirty="0">
                <a:solidFill>
                  <a:srgbClr val="262B3A"/>
                </a:solidFill>
                <a:latin typeface="Calibri" pitchFamily="34" charset="0"/>
                <a:ea typeface="Calibri" pitchFamily="34" charset="-122"/>
                <a:cs typeface="Calibri" pitchFamily="34" charset="-120"/>
              </a:rPr>
              <a:t>not</a:t>
            </a:r>
            <a:r>
              <a:rPr lang="en-US" sz="1050" dirty="0">
                <a:solidFill>
                  <a:srgbClr val="262B3A"/>
                </a:solidFill>
                <a:latin typeface="Calibri" pitchFamily="34" charset="0"/>
                <a:ea typeface="Calibri" pitchFamily="34" charset="-122"/>
                <a:cs typeface="Calibri" pitchFamily="34" charset="-120"/>
              </a:rPr>
              <a:t> change the position or the yield: it only makes equilibrium happen </a:t>
            </a:r>
            <a:r>
              <a:rPr lang="en-US" sz="1050" b="1" dirty="0">
                <a:solidFill>
                  <a:srgbClr val="262B3A"/>
                </a:solidFill>
                <a:latin typeface="Calibri" pitchFamily="34" charset="0"/>
                <a:ea typeface="Calibri" pitchFamily="34" charset="-122"/>
                <a:cs typeface="Calibri" pitchFamily="34" charset="-120"/>
              </a:rPr>
              <a:t>sooner</a:t>
            </a:r>
            <a:r>
              <a:rPr lang="en-US" sz="1050" dirty="0">
                <a:solidFill>
                  <a:srgbClr val="262B3A"/>
                </a:solidFill>
                <a:latin typeface="Calibri" pitchFamily="34" charset="0"/>
                <a:ea typeface="Calibri" pitchFamily="34" charset="-122"/>
                <a:cs typeface="Calibri" pitchFamily="34" charset="-120"/>
              </a:rPr>
              <a:t> (C6.2).</a:t>
            </a:r>
            <a:endParaRPr lang="en-US" sz="1050" dirty="0"/>
          </a:p>
        </p:txBody>
      </p:sp>
      <p:sp>
        <p:nvSpPr>
          <p:cNvPr id="93" name="Shape 91"/>
          <p:cNvSpPr/>
          <p:nvPr/>
        </p:nvSpPr>
        <p:spPr>
          <a:xfrm>
            <a:off x="6217920" y="3931920"/>
            <a:ext cx="5559552" cy="1783080"/>
          </a:xfrm>
          <a:prstGeom prst="roundRect">
            <a:avLst>
              <a:gd name="adj" fmla="val 3077"/>
            </a:avLst>
          </a:prstGeom>
          <a:solidFill>
            <a:srgbClr val="FFF4E0"/>
          </a:solidFill>
          <a:ln w="9525">
            <a:solidFill>
              <a:srgbClr val="F1D9A8"/>
            </a:solidFill>
            <a:prstDash val="solid"/>
          </a:ln>
        </p:spPr>
      </p:sp>
      <p:sp>
        <p:nvSpPr>
          <p:cNvPr id="94" name="Text 92"/>
          <p:cNvSpPr/>
          <p:nvPr/>
        </p:nvSpPr>
        <p:spPr>
          <a:xfrm>
            <a:off x="6382512" y="400507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ammonia</a:t>
            </a:r>
            <a:endParaRPr lang="en-US" sz="1300" dirty="0"/>
          </a:p>
        </p:txBody>
      </p:sp>
      <p:sp>
        <p:nvSpPr>
          <p:cNvPr id="95" name="Text 93"/>
          <p:cNvSpPr/>
          <p:nvPr/>
        </p:nvSpPr>
        <p:spPr>
          <a:xfrm>
            <a:off x="6382512" y="4315968"/>
            <a:ext cx="5230368"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N₂(g) + 3H₂(g) ⇌ 2NH₃(g). Effect of high pressure?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Count   </a:t>
            </a:r>
            <a:r>
              <a:rPr lang="en-US" sz="1050" dirty="0">
                <a:solidFill>
                  <a:srgbClr val="262B3A"/>
                </a:solidFill>
                <a:latin typeface="Calibri" pitchFamily="34" charset="0"/>
                <a:ea typeface="Calibri" pitchFamily="34" charset="-122"/>
                <a:cs typeface="Calibri" pitchFamily="34" charset="-120"/>
              </a:rPr>
              <a:t>left 1 + 3 = </a:t>
            </a:r>
            <a:r>
              <a:rPr lang="en-US" sz="1050" b="1" dirty="0">
                <a:solidFill>
                  <a:srgbClr val="262B3A"/>
                </a:solidFill>
                <a:latin typeface="Calibri" pitchFamily="34" charset="0"/>
                <a:ea typeface="Calibri" pitchFamily="34" charset="-122"/>
                <a:cs typeface="Calibri" pitchFamily="34" charset="-120"/>
              </a:rPr>
              <a:t>4</a:t>
            </a:r>
            <a:r>
              <a:rPr lang="en-US" sz="1050" dirty="0">
                <a:solidFill>
                  <a:srgbClr val="262B3A"/>
                </a:solidFill>
                <a:latin typeface="Calibri" pitchFamily="34" charset="0"/>
                <a:ea typeface="Calibri" pitchFamily="34" charset="-122"/>
                <a:cs typeface="Calibri" pitchFamily="34" charset="-120"/>
              </a:rPr>
              <a:t> molecules; right </a:t>
            </a:r>
            <a:r>
              <a:rPr lang="en-US" sz="1050" b="1" dirty="0">
                <a:solidFill>
                  <a:srgbClr val="262B3A"/>
                </a:solidFill>
                <a:latin typeface="Calibri" pitchFamily="34" charset="0"/>
                <a:ea typeface="Calibri" pitchFamily="34" charset="-122"/>
                <a:cs typeface="Calibri" pitchFamily="34" charset="-120"/>
              </a:rPr>
              <a:t>2</a:t>
            </a:r>
            <a:r>
              <a:rPr lang="en-US" sz="1050" dirty="0">
                <a:solidFill>
                  <a:srgbClr val="262B3A"/>
                </a:solidFill>
                <a:latin typeface="Calibri" pitchFamily="34" charset="0"/>
                <a:ea typeface="Calibri" pitchFamily="34" charset="-122"/>
                <a:cs typeface="Calibri" pitchFamily="34" charset="-120"/>
              </a:rPr>
              <a:t> molecules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high pressure shifts </a:t>
            </a:r>
            <a:r>
              <a:rPr lang="en-US" sz="1050" b="1" dirty="0">
                <a:solidFill>
                  <a:srgbClr val="C8414C"/>
                </a:solidFill>
                <a:latin typeface="Calibri" pitchFamily="34" charset="0"/>
                <a:ea typeface="Calibri" pitchFamily="34" charset="-122"/>
                <a:cs typeface="Calibri" pitchFamily="34" charset="-120"/>
              </a:rPr>
              <a:t>right</a:t>
            </a:r>
            <a:r>
              <a:rPr lang="en-US" sz="1050" b="1" dirty="0">
                <a:solidFill>
                  <a:srgbClr val="C8414C"/>
                </a:solidFill>
                <a:latin typeface="Calibri" pitchFamily="34" charset="0"/>
                <a:ea typeface="Calibri" pitchFamily="34" charset="-122"/>
                <a:cs typeface="Calibri" pitchFamily="34" charset="-120"/>
              </a:rPr>
              <a:t> (fewer molecules): </a:t>
            </a:r>
            <a:r>
              <a:rPr lang="en-US" sz="1050" b="1" dirty="0">
                <a:solidFill>
                  <a:srgbClr val="C8414C"/>
                </a:solidFill>
                <a:latin typeface="Calibri" pitchFamily="34" charset="0"/>
                <a:ea typeface="Calibri" pitchFamily="34" charset="-122"/>
                <a:cs typeface="Calibri" pitchFamily="34" charset="-120"/>
              </a:rPr>
              <a:t>more NH₃</a:t>
            </a:r>
            <a:endParaRPr lang="en-US" sz="1050" dirty="0"/>
          </a:p>
        </p:txBody>
      </p:sp>
      <p:sp>
        <p:nvSpPr>
          <p:cNvPr id="96" name="Shape 94"/>
          <p:cNvSpPr/>
          <p:nvPr/>
        </p:nvSpPr>
        <p:spPr>
          <a:xfrm>
            <a:off x="411480" y="5833872"/>
            <a:ext cx="11368735" cy="530352"/>
          </a:xfrm>
          <a:prstGeom prst="rect">
            <a:avLst/>
          </a:prstGeom>
          <a:solidFill>
            <a:srgbClr val="FFF4E0"/>
          </a:solidFill>
          <a:ln w="6350">
            <a:solidFill>
              <a:srgbClr val="F1D9A8"/>
            </a:solidFill>
            <a:prstDash val="solid"/>
          </a:ln>
        </p:spPr>
      </p:sp>
      <p:sp>
        <p:nvSpPr>
          <p:cNvPr id="97" name="Shape 95"/>
          <p:cNvSpPr/>
          <p:nvPr/>
        </p:nvSpPr>
        <p:spPr>
          <a:xfrm>
            <a:off x="411480" y="5833872"/>
            <a:ext cx="82296" cy="530352"/>
          </a:xfrm>
          <a:prstGeom prst="rect">
            <a:avLst/>
          </a:prstGeom>
          <a:solidFill>
            <a:srgbClr val="E39A2F"/>
          </a:solidFill>
          <a:ln w="12700">
            <a:solidFill>
              <a:srgbClr val="E39A2F"/>
            </a:solidFill>
            <a:prstDash val="solid"/>
          </a:ln>
        </p:spPr>
      </p:sp>
      <p:sp>
        <p:nvSpPr>
          <p:cNvPr id="98" name="Text 9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Predict the effect of </a:t>
            </a:r>
            <a:r>
              <a:rPr lang="en-US" sz="1150" b="1" dirty="0">
                <a:solidFill>
                  <a:srgbClr val="262B3A"/>
                </a:solidFill>
                <a:latin typeface="Calibri" pitchFamily="34" charset="0"/>
                <a:ea typeface="Calibri" pitchFamily="34" charset="-122"/>
                <a:cs typeface="Calibri" pitchFamily="34" charset="-120"/>
              </a:rPr>
              <a:t>increasing the pressure</a:t>
            </a:r>
            <a:r>
              <a:rPr lang="en-US" sz="1150" dirty="0">
                <a:solidFill>
                  <a:srgbClr val="262B3A"/>
                </a:solidFill>
                <a:latin typeface="Calibri" pitchFamily="34" charset="0"/>
                <a:ea typeface="Calibri" pitchFamily="34" charset="-122"/>
                <a:cs typeface="Calibri" pitchFamily="34" charset="-120"/>
              </a:rPr>
              <a:t> on the yield of product: (a) H₂(g) + I₂(g) ⇌ 2HI(g); (b) C₂H₄(g) + H₂O(g) ⇌ C₂H₅OH(g).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Choosing conditions for most product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C6.3.3 • suggest conditions to produce as much of a product as possible</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C6.3.3  |  16</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illustrative values, rounded from published curves</a:t>
            </a:r>
            <a:endParaRPr lang="en-US" sz="1000" dirty="0"/>
          </a:p>
        </p:txBody>
      </p:sp>
      <p:sp>
        <p:nvSpPr>
          <p:cNvPr id="12" name="Shape 10"/>
          <p:cNvSpPr/>
          <p:nvPr/>
        </p:nvSpPr>
        <p:spPr>
          <a:xfrm>
            <a:off x="1188720" y="1417320"/>
            <a:ext cx="4526280" cy="3108960"/>
          </a:xfrm>
          <a:prstGeom prst="rect">
            <a:avLst/>
          </a:prstGeom>
          <a:solidFill>
            <a:srgbClr val="FFFFFF"/>
          </a:solidFill>
          <a:ln/>
        </p:spPr>
      </p:sp>
      <p:sp>
        <p:nvSpPr>
          <p:cNvPr id="13" name="Shape 11"/>
          <p:cNvSpPr/>
          <p:nvPr/>
        </p:nvSpPr>
        <p:spPr>
          <a:xfrm>
            <a:off x="1188720" y="1417320"/>
            <a:ext cx="91" cy="3108960"/>
          </a:xfrm>
          <a:prstGeom prst="line">
            <a:avLst/>
          </a:prstGeom>
          <a:noFill/>
          <a:ln w="6350">
            <a:solidFill>
              <a:srgbClr val="D6CBE8"/>
            </a:solidFill>
            <a:prstDash val="solid"/>
          </a:ln>
        </p:spPr>
      </p:sp>
      <p:sp>
        <p:nvSpPr>
          <p:cNvPr id="14" name="Shape 12"/>
          <p:cNvSpPr/>
          <p:nvPr/>
        </p:nvSpPr>
        <p:spPr>
          <a:xfrm>
            <a:off x="1754505" y="1417320"/>
            <a:ext cx="91" cy="3108960"/>
          </a:xfrm>
          <a:prstGeom prst="line">
            <a:avLst/>
          </a:prstGeom>
          <a:noFill/>
          <a:ln w="6350">
            <a:solidFill>
              <a:srgbClr val="EEE9F6"/>
            </a:solidFill>
            <a:prstDash val="solid"/>
          </a:ln>
        </p:spPr>
      </p:sp>
      <p:sp>
        <p:nvSpPr>
          <p:cNvPr id="15" name="Shape 13"/>
          <p:cNvSpPr/>
          <p:nvPr/>
        </p:nvSpPr>
        <p:spPr>
          <a:xfrm>
            <a:off x="2320290" y="1417320"/>
            <a:ext cx="91" cy="3108960"/>
          </a:xfrm>
          <a:prstGeom prst="line">
            <a:avLst/>
          </a:prstGeom>
          <a:noFill/>
          <a:ln w="6350">
            <a:solidFill>
              <a:srgbClr val="D6CBE8"/>
            </a:solidFill>
            <a:prstDash val="solid"/>
          </a:ln>
        </p:spPr>
      </p:sp>
      <p:sp>
        <p:nvSpPr>
          <p:cNvPr id="16" name="Shape 14"/>
          <p:cNvSpPr/>
          <p:nvPr/>
        </p:nvSpPr>
        <p:spPr>
          <a:xfrm>
            <a:off x="2886075" y="1417320"/>
            <a:ext cx="91" cy="3108960"/>
          </a:xfrm>
          <a:prstGeom prst="line">
            <a:avLst/>
          </a:prstGeom>
          <a:noFill/>
          <a:ln w="6350">
            <a:solidFill>
              <a:srgbClr val="EEE9F6"/>
            </a:solidFill>
            <a:prstDash val="solid"/>
          </a:ln>
        </p:spPr>
      </p:sp>
      <p:sp>
        <p:nvSpPr>
          <p:cNvPr id="17" name="Shape 15"/>
          <p:cNvSpPr/>
          <p:nvPr/>
        </p:nvSpPr>
        <p:spPr>
          <a:xfrm>
            <a:off x="3451860" y="1417320"/>
            <a:ext cx="91" cy="3108960"/>
          </a:xfrm>
          <a:prstGeom prst="line">
            <a:avLst/>
          </a:prstGeom>
          <a:noFill/>
          <a:ln w="6350">
            <a:solidFill>
              <a:srgbClr val="D6CBE8"/>
            </a:solidFill>
            <a:prstDash val="solid"/>
          </a:ln>
        </p:spPr>
      </p:sp>
      <p:sp>
        <p:nvSpPr>
          <p:cNvPr id="18" name="Shape 16"/>
          <p:cNvSpPr/>
          <p:nvPr/>
        </p:nvSpPr>
        <p:spPr>
          <a:xfrm>
            <a:off x="4017645" y="1417320"/>
            <a:ext cx="91" cy="3108960"/>
          </a:xfrm>
          <a:prstGeom prst="line">
            <a:avLst/>
          </a:prstGeom>
          <a:noFill/>
          <a:ln w="6350">
            <a:solidFill>
              <a:srgbClr val="EEE9F6"/>
            </a:solidFill>
            <a:prstDash val="solid"/>
          </a:ln>
        </p:spPr>
      </p:sp>
      <p:sp>
        <p:nvSpPr>
          <p:cNvPr id="19" name="Shape 17"/>
          <p:cNvSpPr/>
          <p:nvPr/>
        </p:nvSpPr>
        <p:spPr>
          <a:xfrm>
            <a:off x="4583430" y="1417320"/>
            <a:ext cx="91" cy="3108960"/>
          </a:xfrm>
          <a:prstGeom prst="line">
            <a:avLst/>
          </a:prstGeom>
          <a:noFill/>
          <a:ln w="6350">
            <a:solidFill>
              <a:srgbClr val="D6CBE8"/>
            </a:solidFill>
            <a:prstDash val="solid"/>
          </a:ln>
        </p:spPr>
      </p:sp>
      <p:sp>
        <p:nvSpPr>
          <p:cNvPr id="20" name="Shape 18"/>
          <p:cNvSpPr/>
          <p:nvPr/>
        </p:nvSpPr>
        <p:spPr>
          <a:xfrm>
            <a:off x="5149215" y="1417320"/>
            <a:ext cx="91" cy="3108960"/>
          </a:xfrm>
          <a:prstGeom prst="line">
            <a:avLst/>
          </a:prstGeom>
          <a:noFill/>
          <a:ln w="6350">
            <a:solidFill>
              <a:srgbClr val="EEE9F6"/>
            </a:solidFill>
            <a:prstDash val="solid"/>
          </a:ln>
        </p:spPr>
      </p:sp>
      <p:sp>
        <p:nvSpPr>
          <p:cNvPr id="21" name="Shape 19"/>
          <p:cNvSpPr/>
          <p:nvPr/>
        </p:nvSpPr>
        <p:spPr>
          <a:xfrm>
            <a:off x="5715000" y="1417320"/>
            <a:ext cx="91" cy="3108960"/>
          </a:xfrm>
          <a:prstGeom prst="line">
            <a:avLst/>
          </a:prstGeom>
          <a:noFill/>
          <a:ln w="6350">
            <a:solidFill>
              <a:srgbClr val="D6CBE8"/>
            </a:solidFill>
            <a:prstDash val="solid"/>
          </a:ln>
        </p:spPr>
      </p:sp>
      <p:sp>
        <p:nvSpPr>
          <p:cNvPr id="22" name="Shape 20"/>
          <p:cNvSpPr/>
          <p:nvPr/>
        </p:nvSpPr>
        <p:spPr>
          <a:xfrm>
            <a:off x="1188720" y="4526280"/>
            <a:ext cx="4526280" cy="91"/>
          </a:xfrm>
          <a:prstGeom prst="line">
            <a:avLst/>
          </a:prstGeom>
          <a:noFill/>
          <a:ln w="6350">
            <a:solidFill>
              <a:srgbClr val="D6CBE8"/>
            </a:solidFill>
            <a:prstDash val="solid"/>
          </a:ln>
        </p:spPr>
      </p:sp>
      <p:sp>
        <p:nvSpPr>
          <p:cNvPr id="23" name="Shape 21"/>
          <p:cNvSpPr/>
          <p:nvPr/>
        </p:nvSpPr>
        <p:spPr>
          <a:xfrm>
            <a:off x="1188720" y="4304211"/>
            <a:ext cx="4526280" cy="91"/>
          </a:xfrm>
          <a:prstGeom prst="line">
            <a:avLst/>
          </a:prstGeom>
          <a:noFill/>
          <a:ln w="6350">
            <a:solidFill>
              <a:srgbClr val="EEE9F6"/>
            </a:solidFill>
            <a:prstDash val="solid"/>
          </a:ln>
        </p:spPr>
      </p:sp>
      <p:sp>
        <p:nvSpPr>
          <p:cNvPr id="24" name="Shape 22"/>
          <p:cNvSpPr/>
          <p:nvPr/>
        </p:nvSpPr>
        <p:spPr>
          <a:xfrm>
            <a:off x="1188720" y="4082143"/>
            <a:ext cx="4526280" cy="91"/>
          </a:xfrm>
          <a:prstGeom prst="line">
            <a:avLst/>
          </a:prstGeom>
          <a:noFill/>
          <a:ln w="6350">
            <a:solidFill>
              <a:srgbClr val="D6CBE8"/>
            </a:solidFill>
            <a:prstDash val="solid"/>
          </a:ln>
        </p:spPr>
      </p:sp>
      <p:sp>
        <p:nvSpPr>
          <p:cNvPr id="25" name="Shape 23"/>
          <p:cNvSpPr/>
          <p:nvPr/>
        </p:nvSpPr>
        <p:spPr>
          <a:xfrm>
            <a:off x="1188720" y="3860074"/>
            <a:ext cx="4526280" cy="91"/>
          </a:xfrm>
          <a:prstGeom prst="line">
            <a:avLst/>
          </a:prstGeom>
          <a:noFill/>
          <a:ln w="6350">
            <a:solidFill>
              <a:srgbClr val="EEE9F6"/>
            </a:solidFill>
            <a:prstDash val="solid"/>
          </a:ln>
        </p:spPr>
      </p:sp>
      <p:sp>
        <p:nvSpPr>
          <p:cNvPr id="26" name="Shape 24"/>
          <p:cNvSpPr/>
          <p:nvPr/>
        </p:nvSpPr>
        <p:spPr>
          <a:xfrm>
            <a:off x="1188720" y="3638006"/>
            <a:ext cx="4526280" cy="91"/>
          </a:xfrm>
          <a:prstGeom prst="line">
            <a:avLst/>
          </a:prstGeom>
          <a:noFill/>
          <a:ln w="6350">
            <a:solidFill>
              <a:srgbClr val="D6CBE8"/>
            </a:solidFill>
            <a:prstDash val="solid"/>
          </a:ln>
        </p:spPr>
      </p:sp>
      <p:sp>
        <p:nvSpPr>
          <p:cNvPr id="27" name="Shape 25"/>
          <p:cNvSpPr/>
          <p:nvPr/>
        </p:nvSpPr>
        <p:spPr>
          <a:xfrm>
            <a:off x="1188720" y="3415937"/>
            <a:ext cx="4526280" cy="91"/>
          </a:xfrm>
          <a:prstGeom prst="line">
            <a:avLst/>
          </a:prstGeom>
          <a:noFill/>
          <a:ln w="6350">
            <a:solidFill>
              <a:srgbClr val="EEE9F6"/>
            </a:solidFill>
            <a:prstDash val="solid"/>
          </a:ln>
        </p:spPr>
      </p:sp>
      <p:sp>
        <p:nvSpPr>
          <p:cNvPr id="28" name="Shape 26"/>
          <p:cNvSpPr/>
          <p:nvPr/>
        </p:nvSpPr>
        <p:spPr>
          <a:xfrm>
            <a:off x="1188720" y="3193869"/>
            <a:ext cx="4526280" cy="91"/>
          </a:xfrm>
          <a:prstGeom prst="line">
            <a:avLst/>
          </a:prstGeom>
          <a:noFill/>
          <a:ln w="6350">
            <a:solidFill>
              <a:srgbClr val="D6CBE8"/>
            </a:solidFill>
            <a:prstDash val="solid"/>
          </a:ln>
        </p:spPr>
      </p:sp>
      <p:sp>
        <p:nvSpPr>
          <p:cNvPr id="29" name="Shape 27"/>
          <p:cNvSpPr/>
          <p:nvPr/>
        </p:nvSpPr>
        <p:spPr>
          <a:xfrm>
            <a:off x="1188720" y="2971800"/>
            <a:ext cx="4526280" cy="91"/>
          </a:xfrm>
          <a:prstGeom prst="line">
            <a:avLst/>
          </a:prstGeom>
          <a:noFill/>
          <a:ln w="6350">
            <a:solidFill>
              <a:srgbClr val="EEE9F6"/>
            </a:solidFill>
            <a:prstDash val="solid"/>
          </a:ln>
        </p:spPr>
      </p:sp>
      <p:sp>
        <p:nvSpPr>
          <p:cNvPr id="30" name="Shape 28"/>
          <p:cNvSpPr/>
          <p:nvPr/>
        </p:nvSpPr>
        <p:spPr>
          <a:xfrm>
            <a:off x="1188720" y="2749731"/>
            <a:ext cx="4526280" cy="91"/>
          </a:xfrm>
          <a:prstGeom prst="line">
            <a:avLst/>
          </a:prstGeom>
          <a:noFill/>
          <a:ln w="6350">
            <a:solidFill>
              <a:srgbClr val="D6CBE8"/>
            </a:solidFill>
            <a:prstDash val="solid"/>
          </a:ln>
        </p:spPr>
      </p:sp>
      <p:sp>
        <p:nvSpPr>
          <p:cNvPr id="31" name="Shape 29"/>
          <p:cNvSpPr/>
          <p:nvPr/>
        </p:nvSpPr>
        <p:spPr>
          <a:xfrm>
            <a:off x="1188720" y="2527663"/>
            <a:ext cx="4526280" cy="91"/>
          </a:xfrm>
          <a:prstGeom prst="line">
            <a:avLst/>
          </a:prstGeom>
          <a:noFill/>
          <a:ln w="6350">
            <a:solidFill>
              <a:srgbClr val="EEE9F6"/>
            </a:solidFill>
            <a:prstDash val="solid"/>
          </a:ln>
        </p:spPr>
      </p:sp>
      <p:sp>
        <p:nvSpPr>
          <p:cNvPr id="32" name="Shape 30"/>
          <p:cNvSpPr/>
          <p:nvPr/>
        </p:nvSpPr>
        <p:spPr>
          <a:xfrm>
            <a:off x="1188720" y="2305594"/>
            <a:ext cx="4526280" cy="91"/>
          </a:xfrm>
          <a:prstGeom prst="line">
            <a:avLst/>
          </a:prstGeom>
          <a:noFill/>
          <a:ln w="6350">
            <a:solidFill>
              <a:srgbClr val="D6CBE8"/>
            </a:solidFill>
            <a:prstDash val="solid"/>
          </a:ln>
        </p:spPr>
      </p:sp>
      <p:sp>
        <p:nvSpPr>
          <p:cNvPr id="33" name="Shape 31"/>
          <p:cNvSpPr/>
          <p:nvPr/>
        </p:nvSpPr>
        <p:spPr>
          <a:xfrm>
            <a:off x="1188720" y="2083526"/>
            <a:ext cx="4526280" cy="91"/>
          </a:xfrm>
          <a:prstGeom prst="line">
            <a:avLst/>
          </a:prstGeom>
          <a:noFill/>
          <a:ln w="6350">
            <a:solidFill>
              <a:srgbClr val="EEE9F6"/>
            </a:solidFill>
            <a:prstDash val="solid"/>
          </a:ln>
        </p:spPr>
      </p:sp>
      <p:sp>
        <p:nvSpPr>
          <p:cNvPr id="34" name="Shape 32"/>
          <p:cNvSpPr/>
          <p:nvPr/>
        </p:nvSpPr>
        <p:spPr>
          <a:xfrm>
            <a:off x="1188720" y="1861457"/>
            <a:ext cx="4526280" cy="91"/>
          </a:xfrm>
          <a:prstGeom prst="line">
            <a:avLst/>
          </a:prstGeom>
          <a:noFill/>
          <a:ln w="6350">
            <a:solidFill>
              <a:srgbClr val="D6CBE8"/>
            </a:solidFill>
            <a:prstDash val="solid"/>
          </a:ln>
        </p:spPr>
      </p:sp>
      <p:sp>
        <p:nvSpPr>
          <p:cNvPr id="35" name="Shape 33"/>
          <p:cNvSpPr/>
          <p:nvPr/>
        </p:nvSpPr>
        <p:spPr>
          <a:xfrm>
            <a:off x="1188720" y="1639389"/>
            <a:ext cx="4526280" cy="91"/>
          </a:xfrm>
          <a:prstGeom prst="line">
            <a:avLst/>
          </a:prstGeom>
          <a:noFill/>
          <a:ln w="6350">
            <a:solidFill>
              <a:srgbClr val="EEE9F6"/>
            </a:solidFill>
            <a:prstDash val="solid"/>
          </a:ln>
        </p:spPr>
      </p:sp>
      <p:sp>
        <p:nvSpPr>
          <p:cNvPr id="36" name="Shape 34"/>
          <p:cNvSpPr/>
          <p:nvPr/>
        </p:nvSpPr>
        <p:spPr>
          <a:xfrm>
            <a:off x="1188720" y="1417320"/>
            <a:ext cx="4526280" cy="91"/>
          </a:xfrm>
          <a:prstGeom prst="line">
            <a:avLst/>
          </a:prstGeom>
          <a:noFill/>
          <a:ln w="6350">
            <a:solidFill>
              <a:srgbClr val="D6CBE8"/>
            </a:solidFill>
            <a:prstDash val="solid"/>
          </a:ln>
        </p:spPr>
      </p:sp>
      <p:sp>
        <p:nvSpPr>
          <p:cNvPr id="37" name="Shape 35"/>
          <p:cNvSpPr/>
          <p:nvPr/>
        </p:nvSpPr>
        <p:spPr>
          <a:xfrm>
            <a:off x="1188720" y="4526280"/>
            <a:ext cx="4526280" cy="91"/>
          </a:xfrm>
          <a:prstGeom prst="line">
            <a:avLst/>
          </a:prstGeom>
          <a:noFill/>
          <a:ln w="19050">
            <a:solidFill>
              <a:srgbClr val="2A1F3D"/>
            </a:solidFill>
            <a:prstDash val="solid"/>
          </a:ln>
        </p:spPr>
      </p:sp>
      <p:sp>
        <p:nvSpPr>
          <p:cNvPr id="38" name="Shape 36"/>
          <p:cNvSpPr/>
          <p:nvPr/>
        </p:nvSpPr>
        <p:spPr>
          <a:xfrm flipV="1">
            <a:off x="1188720" y="1417320"/>
            <a:ext cx="91" cy="3108960"/>
          </a:xfrm>
          <a:prstGeom prst="line">
            <a:avLst/>
          </a:prstGeom>
          <a:noFill/>
          <a:ln w="19050">
            <a:solidFill>
              <a:srgbClr val="2A1F3D"/>
            </a:solidFill>
            <a:prstDash val="solid"/>
          </a:ln>
        </p:spPr>
      </p:sp>
      <p:sp>
        <p:nvSpPr>
          <p:cNvPr id="39" name="Shape 37"/>
          <p:cNvSpPr/>
          <p:nvPr/>
        </p:nvSpPr>
        <p:spPr>
          <a:xfrm>
            <a:off x="1188720" y="4526280"/>
            <a:ext cx="91" cy="54864"/>
          </a:xfrm>
          <a:prstGeom prst="line">
            <a:avLst/>
          </a:prstGeom>
          <a:noFill/>
          <a:ln w="12700">
            <a:solidFill>
              <a:srgbClr val="2A1F3D"/>
            </a:solidFill>
            <a:prstDash val="solid"/>
          </a:ln>
        </p:spPr>
      </p:sp>
      <p:sp>
        <p:nvSpPr>
          <p:cNvPr id="40" name="Text 38"/>
          <p:cNvSpPr/>
          <p:nvPr/>
        </p:nvSpPr>
        <p:spPr>
          <a:xfrm>
            <a:off x="91440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1" name="Shape 39"/>
          <p:cNvSpPr/>
          <p:nvPr/>
        </p:nvSpPr>
        <p:spPr>
          <a:xfrm>
            <a:off x="2320290" y="4526280"/>
            <a:ext cx="91" cy="54864"/>
          </a:xfrm>
          <a:prstGeom prst="line">
            <a:avLst/>
          </a:prstGeom>
          <a:noFill/>
          <a:ln w="12700">
            <a:solidFill>
              <a:srgbClr val="2A1F3D"/>
            </a:solidFill>
            <a:prstDash val="solid"/>
          </a:ln>
        </p:spPr>
      </p:sp>
      <p:sp>
        <p:nvSpPr>
          <p:cNvPr id="42" name="Text 40"/>
          <p:cNvSpPr/>
          <p:nvPr/>
        </p:nvSpPr>
        <p:spPr>
          <a:xfrm>
            <a:off x="204597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43" name="Shape 41"/>
          <p:cNvSpPr/>
          <p:nvPr/>
        </p:nvSpPr>
        <p:spPr>
          <a:xfrm>
            <a:off x="3451860" y="4526280"/>
            <a:ext cx="91" cy="54864"/>
          </a:xfrm>
          <a:prstGeom prst="line">
            <a:avLst/>
          </a:prstGeom>
          <a:noFill/>
          <a:ln w="12700">
            <a:solidFill>
              <a:srgbClr val="2A1F3D"/>
            </a:solidFill>
            <a:prstDash val="solid"/>
          </a:ln>
        </p:spPr>
      </p:sp>
      <p:sp>
        <p:nvSpPr>
          <p:cNvPr id="44" name="Text 42"/>
          <p:cNvSpPr/>
          <p:nvPr/>
        </p:nvSpPr>
        <p:spPr>
          <a:xfrm>
            <a:off x="317754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45" name="Shape 43"/>
          <p:cNvSpPr/>
          <p:nvPr/>
        </p:nvSpPr>
        <p:spPr>
          <a:xfrm>
            <a:off x="4583430" y="4526280"/>
            <a:ext cx="91" cy="54864"/>
          </a:xfrm>
          <a:prstGeom prst="line">
            <a:avLst/>
          </a:prstGeom>
          <a:noFill/>
          <a:ln w="12700">
            <a:solidFill>
              <a:srgbClr val="2A1F3D"/>
            </a:solidFill>
            <a:prstDash val="solid"/>
          </a:ln>
        </p:spPr>
      </p:sp>
      <p:sp>
        <p:nvSpPr>
          <p:cNvPr id="46" name="Text 44"/>
          <p:cNvSpPr/>
          <p:nvPr/>
        </p:nvSpPr>
        <p:spPr>
          <a:xfrm>
            <a:off x="430911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300</a:t>
            </a:r>
            <a:endParaRPr lang="en-US" sz="1000" dirty="0"/>
          </a:p>
        </p:txBody>
      </p:sp>
      <p:sp>
        <p:nvSpPr>
          <p:cNvPr id="47" name="Shape 45"/>
          <p:cNvSpPr/>
          <p:nvPr/>
        </p:nvSpPr>
        <p:spPr>
          <a:xfrm>
            <a:off x="5715000" y="4526280"/>
            <a:ext cx="91" cy="54864"/>
          </a:xfrm>
          <a:prstGeom prst="line">
            <a:avLst/>
          </a:prstGeom>
          <a:noFill/>
          <a:ln w="12700">
            <a:solidFill>
              <a:srgbClr val="2A1F3D"/>
            </a:solidFill>
            <a:prstDash val="solid"/>
          </a:ln>
        </p:spPr>
      </p:sp>
      <p:sp>
        <p:nvSpPr>
          <p:cNvPr id="48" name="Text 46"/>
          <p:cNvSpPr/>
          <p:nvPr/>
        </p:nvSpPr>
        <p:spPr>
          <a:xfrm>
            <a:off x="544068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400</a:t>
            </a:r>
            <a:endParaRPr lang="en-US" sz="1000" dirty="0"/>
          </a:p>
        </p:txBody>
      </p:sp>
      <p:sp>
        <p:nvSpPr>
          <p:cNvPr id="49" name="Shape 47"/>
          <p:cNvSpPr/>
          <p:nvPr/>
        </p:nvSpPr>
        <p:spPr>
          <a:xfrm>
            <a:off x="1133856" y="4526280"/>
            <a:ext cx="54864" cy="91"/>
          </a:xfrm>
          <a:prstGeom prst="line">
            <a:avLst/>
          </a:prstGeom>
          <a:noFill/>
          <a:ln w="12700">
            <a:solidFill>
              <a:srgbClr val="2A1F3D"/>
            </a:solidFill>
            <a:prstDash val="solid"/>
          </a:ln>
        </p:spPr>
      </p:sp>
      <p:sp>
        <p:nvSpPr>
          <p:cNvPr id="50" name="Text 48"/>
          <p:cNvSpPr/>
          <p:nvPr/>
        </p:nvSpPr>
        <p:spPr>
          <a:xfrm>
            <a:off x="749808" y="44348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1" name="Shape 49"/>
          <p:cNvSpPr/>
          <p:nvPr/>
        </p:nvSpPr>
        <p:spPr>
          <a:xfrm>
            <a:off x="1133856" y="4082143"/>
            <a:ext cx="54864" cy="91"/>
          </a:xfrm>
          <a:prstGeom prst="line">
            <a:avLst/>
          </a:prstGeom>
          <a:noFill/>
          <a:ln w="12700">
            <a:solidFill>
              <a:srgbClr val="2A1F3D"/>
            </a:solidFill>
            <a:prstDash val="solid"/>
          </a:ln>
        </p:spPr>
      </p:sp>
      <p:sp>
        <p:nvSpPr>
          <p:cNvPr id="52" name="Text 50"/>
          <p:cNvSpPr/>
          <p:nvPr/>
        </p:nvSpPr>
        <p:spPr>
          <a:xfrm>
            <a:off x="749808" y="399070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3" name="Shape 51"/>
          <p:cNvSpPr/>
          <p:nvPr/>
        </p:nvSpPr>
        <p:spPr>
          <a:xfrm>
            <a:off x="1133856" y="3638006"/>
            <a:ext cx="54864" cy="91"/>
          </a:xfrm>
          <a:prstGeom prst="line">
            <a:avLst/>
          </a:prstGeom>
          <a:noFill/>
          <a:ln w="12700">
            <a:solidFill>
              <a:srgbClr val="2A1F3D"/>
            </a:solidFill>
            <a:prstDash val="solid"/>
          </a:ln>
        </p:spPr>
      </p:sp>
      <p:sp>
        <p:nvSpPr>
          <p:cNvPr id="54" name="Text 52"/>
          <p:cNvSpPr/>
          <p:nvPr/>
        </p:nvSpPr>
        <p:spPr>
          <a:xfrm>
            <a:off x="749808" y="354656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55" name="Shape 53"/>
          <p:cNvSpPr/>
          <p:nvPr/>
        </p:nvSpPr>
        <p:spPr>
          <a:xfrm>
            <a:off x="1133856" y="3193869"/>
            <a:ext cx="54864" cy="91"/>
          </a:xfrm>
          <a:prstGeom prst="line">
            <a:avLst/>
          </a:prstGeom>
          <a:noFill/>
          <a:ln w="12700">
            <a:solidFill>
              <a:srgbClr val="2A1F3D"/>
            </a:solidFill>
            <a:prstDash val="solid"/>
          </a:ln>
        </p:spPr>
      </p:sp>
      <p:sp>
        <p:nvSpPr>
          <p:cNvPr id="56" name="Text 54"/>
          <p:cNvSpPr/>
          <p:nvPr/>
        </p:nvSpPr>
        <p:spPr>
          <a:xfrm>
            <a:off x="749808" y="310242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57" name="Shape 55"/>
          <p:cNvSpPr/>
          <p:nvPr/>
        </p:nvSpPr>
        <p:spPr>
          <a:xfrm>
            <a:off x="1133856" y="2749731"/>
            <a:ext cx="54864" cy="91"/>
          </a:xfrm>
          <a:prstGeom prst="line">
            <a:avLst/>
          </a:prstGeom>
          <a:noFill/>
          <a:ln w="12700">
            <a:solidFill>
              <a:srgbClr val="2A1F3D"/>
            </a:solidFill>
            <a:prstDash val="solid"/>
          </a:ln>
        </p:spPr>
      </p:sp>
      <p:sp>
        <p:nvSpPr>
          <p:cNvPr id="58" name="Text 56"/>
          <p:cNvSpPr/>
          <p:nvPr/>
        </p:nvSpPr>
        <p:spPr>
          <a:xfrm>
            <a:off x="749808" y="265829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59" name="Shape 57"/>
          <p:cNvSpPr/>
          <p:nvPr/>
        </p:nvSpPr>
        <p:spPr>
          <a:xfrm>
            <a:off x="1133856" y="2305594"/>
            <a:ext cx="54864" cy="91"/>
          </a:xfrm>
          <a:prstGeom prst="line">
            <a:avLst/>
          </a:prstGeom>
          <a:noFill/>
          <a:ln w="12700">
            <a:solidFill>
              <a:srgbClr val="2A1F3D"/>
            </a:solidFill>
            <a:prstDash val="solid"/>
          </a:ln>
        </p:spPr>
      </p:sp>
      <p:sp>
        <p:nvSpPr>
          <p:cNvPr id="60" name="Text 58"/>
          <p:cNvSpPr/>
          <p:nvPr/>
        </p:nvSpPr>
        <p:spPr>
          <a:xfrm>
            <a:off x="749808" y="221415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61" name="Shape 59"/>
          <p:cNvSpPr/>
          <p:nvPr/>
        </p:nvSpPr>
        <p:spPr>
          <a:xfrm>
            <a:off x="1133856" y="1861457"/>
            <a:ext cx="54864" cy="91"/>
          </a:xfrm>
          <a:prstGeom prst="line">
            <a:avLst/>
          </a:prstGeom>
          <a:noFill/>
          <a:ln w="12700">
            <a:solidFill>
              <a:srgbClr val="2A1F3D"/>
            </a:solidFill>
            <a:prstDash val="solid"/>
          </a:ln>
        </p:spPr>
      </p:sp>
      <p:sp>
        <p:nvSpPr>
          <p:cNvPr id="62" name="Text 60"/>
          <p:cNvSpPr/>
          <p:nvPr/>
        </p:nvSpPr>
        <p:spPr>
          <a:xfrm>
            <a:off x="749808" y="177001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63" name="Shape 61"/>
          <p:cNvSpPr/>
          <p:nvPr/>
        </p:nvSpPr>
        <p:spPr>
          <a:xfrm>
            <a:off x="1133856" y="1417320"/>
            <a:ext cx="54864" cy="91"/>
          </a:xfrm>
          <a:prstGeom prst="line">
            <a:avLst/>
          </a:prstGeom>
          <a:noFill/>
          <a:ln w="12700">
            <a:solidFill>
              <a:srgbClr val="2A1F3D"/>
            </a:solidFill>
            <a:prstDash val="solid"/>
          </a:ln>
        </p:spPr>
      </p:sp>
      <p:sp>
        <p:nvSpPr>
          <p:cNvPr id="64" name="Text 62"/>
          <p:cNvSpPr/>
          <p:nvPr/>
        </p:nvSpPr>
        <p:spPr>
          <a:xfrm>
            <a:off x="74980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70</a:t>
            </a:r>
            <a:endParaRPr lang="en-US" sz="1000" dirty="0"/>
          </a:p>
        </p:txBody>
      </p:sp>
      <p:sp>
        <p:nvSpPr>
          <p:cNvPr id="65" name="Text 63"/>
          <p:cNvSpPr/>
          <p:nvPr/>
        </p:nvSpPr>
        <p:spPr>
          <a:xfrm>
            <a:off x="1188720" y="4773168"/>
            <a:ext cx="45262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Pressure / atmospheres</a:t>
            </a:r>
            <a:endParaRPr lang="en-US" sz="1050" dirty="0"/>
          </a:p>
        </p:txBody>
      </p:sp>
      <p:sp>
        <p:nvSpPr>
          <p:cNvPr id="66" name="Text 64"/>
          <p:cNvSpPr/>
          <p:nvPr/>
        </p:nvSpPr>
        <p:spPr>
          <a:xfrm rot="16200000">
            <a:off x="-932688" y="2843784"/>
            <a:ext cx="31089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NH₃ at equilibrium / %</a:t>
            </a:r>
            <a:endParaRPr lang="en-US" sz="1050" dirty="0"/>
          </a:p>
        </p:txBody>
      </p:sp>
      <p:sp>
        <p:nvSpPr>
          <p:cNvPr id="67" name="Shape 65"/>
          <p:cNvSpPr/>
          <p:nvPr/>
        </p:nvSpPr>
        <p:spPr>
          <a:xfrm flipV="1">
            <a:off x="1754505" y="3375123"/>
            <a:ext cx="39782" cy="40814"/>
          </a:xfrm>
          <a:prstGeom prst="line">
            <a:avLst/>
          </a:prstGeom>
          <a:noFill/>
          <a:ln w="25400">
            <a:solidFill>
              <a:srgbClr val="2F4F9E"/>
            </a:solidFill>
            <a:prstDash val="solid"/>
          </a:ln>
        </p:spPr>
      </p:sp>
      <p:sp>
        <p:nvSpPr>
          <p:cNvPr id="68" name="Shape 66"/>
          <p:cNvSpPr/>
          <p:nvPr/>
        </p:nvSpPr>
        <p:spPr>
          <a:xfrm flipV="1">
            <a:off x="1794287" y="3321211"/>
            <a:ext cx="48622" cy="53912"/>
          </a:xfrm>
          <a:prstGeom prst="line">
            <a:avLst/>
          </a:prstGeom>
          <a:noFill/>
          <a:ln w="25400">
            <a:solidFill>
              <a:srgbClr val="2F4F9E"/>
            </a:solidFill>
            <a:prstDash val="solid"/>
          </a:ln>
        </p:spPr>
      </p:sp>
      <p:sp>
        <p:nvSpPr>
          <p:cNvPr id="69" name="Shape 67"/>
          <p:cNvSpPr/>
          <p:nvPr/>
        </p:nvSpPr>
        <p:spPr>
          <a:xfrm flipV="1">
            <a:off x="1842909" y="3257063"/>
            <a:ext cx="57463" cy="64148"/>
          </a:xfrm>
          <a:prstGeom prst="line">
            <a:avLst/>
          </a:prstGeom>
          <a:noFill/>
          <a:ln w="25400">
            <a:solidFill>
              <a:srgbClr val="2F4F9E"/>
            </a:solidFill>
            <a:prstDash val="solid"/>
          </a:ln>
        </p:spPr>
      </p:sp>
      <p:sp>
        <p:nvSpPr>
          <p:cNvPr id="70" name="Shape 68"/>
          <p:cNvSpPr/>
          <p:nvPr/>
        </p:nvSpPr>
        <p:spPr>
          <a:xfrm flipV="1">
            <a:off x="1900371" y="3185541"/>
            <a:ext cx="66303" cy="71522"/>
          </a:xfrm>
          <a:prstGeom prst="line">
            <a:avLst/>
          </a:prstGeom>
          <a:noFill/>
          <a:ln w="25400">
            <a:solidFill>
              <a:srgbClr val="2F4F9E"/>
            </a:solidFill>
            <a:prstDash val="solid"/>
          </a:ln>
        </p:spPr>
      </p:sp>
      <p:sp>
        <p:nvSpPr>
          <p:cNvPr id="71" name="Shape 69"/>
          <p:cNvSpPr/>
          <p:nvPr/>
        </p:nvSpPr>
        <p:spPr>
          <a:xfrm flipV="1">
            <a:off x="1966674" y="3109509"/>
            <a:ext cx="75143" cy="76032"/>
          </a:xfrm>
          <a:prstGeom prst="line">
            <a:avLst/>
          </a:prstGeom>
          <a:noFill/>
          <a:ln w="25400">
            <a:solidFill>
              <a:srgbClr val="2F4F9E"/>
            </a:solidFill>
            <a:prstDash val="solid"/>
          </a:ln>
        </p:spPr>
      </p:sp>
      <p:sp>
        <p:nvSpPr>
          <p:cNvPr id="72" name="Shape 70"/>
          <p:cNvSpPr/>
          <p:nvPr/>
        </p:nvSpPr>
        <p:spPr>
          <a:xfrm flipV="1">
            <a:off x="2041818" y="3031828"/>
            <a:ext cx="83984" cy="77681"/>
          </a:xfrm>
          <a:prstGeom prst="line">
            <a:avLst/>
          </a:prstGeom>
          <a:noFill/>
          <a:ln w="25400">
            <a:solidFill>
              <a:srgbClr val="2F4F9E"/>
            </a:solidFill>
            <a:prstDash val="solid"/>
          </a:ln>
        </p:spPr>
      </p:sp>
      <p:sp>
        <p:nvSpPr>
          <p:cNvPr id="73" name="Shape 71"/>
          <p:cNvSpPr/>
          <p:nvPr/>
        </p:nvSpPr>
        <p:spPr>
          <a:xfrm flipV="1">
            <a:off x="2125801" y="2955362"/>
            <a:ext cx="92824" cy="76466"/>
          </a:xfrm>
          <a:prstGeom prst="line">
            <a:avLst/>
          </a:prstGeom>
          <a:noFill/>
          <a:ln w="25400">
            <a:solidFill>
              <a:srgbClr val="2F4F9E"/>
            </a:solidFill>
            <a:prstDash val="solid"/>
          </a:ln>
        </p:spPr>
      </p:sp>
      <p:sp>
        <p:nvSpPr>
          <p:cNvPr id="74" name="Shape 72"/>
          <p:cNvSpPr/>
          <p:nvPr/>
        </p:nvSpPr>
        <p:spPr>
          <a:xfrm flipV="1">
            <a:off x="2218626" y="2882973"/>
            <a:ext cx="101664" cy="72389"/>
          </a:xfrm>
          <a:prstGeom prst="line">
            <a:avLst/>
          </a:prstGeom>
          <a:noFill/>
          <a:ln w="25400">
            <a:solidFill>
              <a:srgbClr val="2F4F9E"/>
            </a:solidFill>
            <a:prstDash val="solid"/>
          </a:ln>
        </p:spPr>
      </p:sp>
      <p:sp>
        <p:nvSpPr>
          <p:cNvPr id="75" name="Shape 73"/>
          <p:cNvSpPr/>
          <p:nvPr/>
        </p:nvSpPr>
        <p:spPr>
          <a:xfrm flipV="1">
            <a:off x="2320290" y="2811408"/>
            <a:ext cx="114373" cy="71565"/>
          </a:xfrm>
          <a:prstGeom prst="line">
            <a:avLst/>
          </a:prstGeom>
          <a:noFill/>
          <a:ln w="25400">
            <a:solidFill>
              <a:srgbClr val="2F4F9E"/>
            </a:solidFill>
            <a:prstDash val="solid"/>
          </a:ln>
        </p:spPr>
      </p:sp>
      <p:sp>
        <p:nvSpPr>
          <p:cNvPr id="76" name="Shape 74"/>
          <p:cNvSpPr/>
          <p:nvPr/>
        </p:nvSpPr>
        <p:spPr>
          <a:xfrm flipV="1">
            <a:off x="2434663" y="2736546"/>
            <a:ext cx="128738" cy="74861"/>
          </a:xfrm>
          <a:prstGeom prst="line">
            <a:avLst/>
          </a:prstGeom>
          <a:noFill/>
          <a:ln w="25400">
            <a:solidFill>
              <a:srgbClr val="2F4F9E"/>
            </a:solidFill>
            <a:prstDash val="solid"/>
          </a:ln>
        </p:spPr>
      </p:sp>
      <p:sp>
        <p:nvSpPr>
          <p:cNvPr id="77" name="Shape 75"/>
          <p:cNvSpPr/>
          <p:nvPr/>
        </p:nvSpPr>
        <p:spPr>
          <a:xfrm flipV="1">
            <a:off x="2563401" y="2659950"/>
            <a:ext cx="139789" cy="76596"/>
          </a:xfrm>
          <a:prstGeom prst="line">
            <a:avLst/>
          </a:prstGeom>
          <a:noFill/>
          <a:ln w="25400">
            <a:solidFill>
              <a:srgbClr val="2F4F9E"/>
            </a:solidFill>
            <a:prstDash val="solid"/>
          </a:ln>
        </p:spPr>
      </p:sp>
      <p:sp>
        <p:nvSpPr>
          <p:cNvPr id="78" name="Shape 76"/>
          <p:cNvSpPr/>
          <p:nvPr/>
        </p:nvSpPr>
        <p:spPr>
          <a:xfrm flipV="1">
            <a:off x="2703189" y="2583180"/>
            <a:ext cx="147524" cy="76770"/>
          </a:xfrm>
          <a:prstGeom prst="line">
            <a:avLst/>
          </a:prstGeom>
          <a:noFill/>
          <a:ln w="25400">
            <a:solidFill>
              <a:srgbClr val="2F4F9E"/>
            </a:solidFill>
            <a:prstDash val="solid"/>
          </a:ln>
        </p:spPr>
      </p:sp>
      <p:sp>
        <p:nvSpPr>
          <p:cNvPr id="79" name="Shape 77"/>
          <p:cNvSpPr/>
          <p:nvPr/>
        </p:nvSpPr>
        <p:spPr>
          <a:xfrm flipV="1">
            <a:off x="2850713" y="2507798"/>
            <a:ext cx="151944" cy="75382"/>
          </a:xfrm>
          <a:prstGeom prst="line">
            <a:avLst/>
          </a:prstGeom>
          <a:noFill/>
          <a:ln w="25400">
            <a:solidFill>
              <a:srgbClr val="2F4F9E"/>
            </a:solidFill>
            <a:prstDash val="solid"/>
          </a:ln>
        </p:spPr>
      </p:sp>
      <p:sp>
        <p:nvSpPr>
          <p:cNvPr id="80" name="Shape 78"/>
          <p:cNvSpPr/>
          <p:nvPr/>
        </p:nvSpPr>
        <p:spPr>
          <a:xfrm flipV="1">
            <a:off x="3002658" y="2435366"/>
            <a:ext cx="153049" cy="72433"/>
          </a:xfrm>
          <a:prstGeom prst="line">
            <a:avLst/>
          </a:prstGeom>
          <a:noFill/>
          <a:ln w="25400">
            <a:solidFill>
              <a:srgbClr val="2F4F9E"/>
            </a:solidFill>
            <a:prstDash val="solid"/>
          </a:ln>
        </p:spPr>
      </p:sp>
      <p:sp>
        <p:nvSpPr>
          <p:cNvPr id="81" name="Shape 79"/>
          <p:cNvSpPr/>
          <p:nvPr/>
        </p:nvSpPr>
        <p:spPr>
          <a:xfrm flipV="1">
            <a:off x="3155707" y="2367444"/>
            <a:ext cx="150839" cy="67922"/>
          </a:xfrm>
          <a:prstGeom prst="line">
            <a:avLst/>
          </a:prstGeom>
          <a:noFill/>
          <a:ln w="25400">
            <a:solidFill>
              <a:srgbClr val="2F4F9E"/>
            </a:solidFill>
            <a:prstDash val="solid"/>
          </a:ln>
        </p:spPr>
      </p:sp>
      <p:sp>
        <p:nvSpPr>
          <p:cNvPr id="82" name="Shape 80"/>
          <p:cNvSpPr/>
          <p:nvPr/>
        </p:nvSpPr>
        <p:spPr>
          <a:xfrm flipV="1">
            <a:off x="3306546" y="2305594"/>
            <a:ext cx="145314" cy="61850"/>
          </a:xfrm>
          <a:prstGeom prst="line">
            <a:avLst/>
          </a:prstGeom>
          <a:noFill/>
          <a:ln w="25400">
            <a:solidFill>
              <a:srgbClr val="2F4F9E"/>
            </a:solidFill>
            <a:prstDash val="solid"/>
          </a:ln>
        </p:spPr>
      </p:sp>
      <p:sp>
        <p:nvSpPr>
          <p:cNvPr id="83" name="Shape 81"/>
          <p:cNvSpPr/>
          <p:nvPr/>
        </p:nvSpPr>
        <p:spPr>
          <a:xfrm flipV="1">
            <a:off x="3451860" y="2249947"/>
            <a:ext cx="141446" cy="55647"/>
          </a:xfrm>
          <a:prstGeom prst="line">
            <a:avLst/>
          </a:prstGeom>
          <a:noFill/>
          <a:ln w="25400">
            <a:solidFill>
              <a:srgbClr val="2F4F9E"/>
            </a:solidFill>
            <a:prstDash val="solid"/>
          </a:ln>
        </p:spPr>
      </p:sp>
      <p:sp>
        <p:nvSpPr>
          <p:cNvPr id="84" name="Shape 82"/>
          <p:cNvSpPr/>
          <p:nvPr/>
        </p:nvSpPr>
        <p:spPr>
          <a:xfrm flipV="1">
            <a:off x="3593306" y="2199071"/>
            <a:ext cx="141446" cy="50876"/>
          </a:xfrm>
          <a:prstGeom prst="line">
            <a:avLst/>
          </a:prstGeom>
          <a:noFill/>
          <a:ln w="25400">
            <a:solidFill>
              <a:srgbClr val="2F4F9E"/>
            </a:solidFill>
            <a:prstDash val="solid"/>
          </a:ln>
        </p:spPr>
      </p:sp>
      <p:sp>
        <p:nvSpPr>
          <p:cNvPr id="85" name="Shape 83"/>
          <p:cNvSpPr/>
          <p:nvPr/>
        </p:nvSpPr>
        <p:spPr>
          <a:xfrm flipV="1">
            <a:off x="3734753" y="2152185"/>
            <a:ext cx="141446" cy="46886"/>
          </a:xfrm>
          <a:prstGeom prst="line">
            <a:avLst/>
          </a:prstGeom>
          <a:noFill/>
          <a:ln w="25400">
            <a:solidFill>
              <a:srgbClr val="2F4F9E"/>
            </a:solidFill>
            <a:prstDash val="solid"/>
          </a:ln>
        </p:spPr>
      </p:sp>
      <p:sp>
        <p:nvSpPr>
          <p:cNvPr id="86" name="Shape 84"/>
          <p:cNvSpPr/>
          <p:nvPr/>
        </p:nvSpPr>
        <p:spPr>
          <a:xfrm flipV="1">
            <a:off x="3876199" y="2108508"/>
            <a:ext cx="141446" cy="43676"/>
          </a:xfrm>
          <a:prstGeom prst="line">
            <a:avLst/>
          </a:prstGeom>
          <a:noFill/>
          <a:ln w="25400">
            <a:solidFill>
              <a:srgbClr val="2F4F9E"/>
            </a:solidFill>
            <a:prstDash val="solid"/>
          </a:ln>
        </p:spPr>
      </p:sp>
      <p:sp>
        <p:nvSpPr>
          <p:cNvPr id="87" name="Shape 85"/>
          <p:cNvSpPr/>
          <p:nvPr/>
        </p:nvSpPr>
        <p:spPr>
          <a:xfrm flipV="1">
            <a:off x="4017645" y="2067261"/>
            <a:ext cx="141446" cy="41248"/>
          </a:xfrm>
          <a:prstGeom prst="line">
            <a:avLst/>
          </a:prstGeom>
          <a:noFill/>
          <a:ln w="25400">
            <a:solidFill>
              <a:srgbClr val="2F4F9E"/>
            </a:solidFill>
            <a:prstDash val="solid"/>
          </a:ln>
        </p:spPr>
      </p:sp>
      <p:sp>
        <p:nvSpPr>
          <p:cNvPr id="88" name="Shape 86"/>
          <p:cNvSpPr/>
          <p:nvPr/>
        </p:nvSpPr>
        <p:spPr>
          <a:xfrm flipV="1">
            <a:off x="4159091" y="2027662"/>
            <a:ext cx="141446" cy="39599"/>
          </a:xfrm>
          <a:prstGeom prst="line">
            <a:avLst/>
          </a:prstGeom>
          <a:noFill/>
          <a:ln w="25400">
            <a:solidFill>
              <a:srgbClr val="2F4F9E"/>
            </a:solidFill>
            <a:prstDash val="solid"/>
          </a:ln>
        </p:spPr>
      </p:sp>
      <p:sp>
        <p:nvSpPr>
          <p:cNvPr id="89" name="Shape 87"/>
          <p:cNvSpPr/>
          <p:nvPr/>
        </p:nvSpPr>
        <p:spPr>
          <a:xfrm flipV="1">
            <a:off x="4300538" y="1988930"/>
            <a:ext cx="141446" cy="38732"/>
          </a:xfrm>
          <a:prstGeom prst="line">
            <a:avLst/>
          </a:prstGeom>
          <a:noFill/>
          <a:ln w="25400">
            <a:solidFill>
              <a:srgbClr val="2F4F9E"/>
            </a:solidFill>
            <a:prstDash val="solid"/>
          </a:ln>
        </p:spPr>
      </p:sp>
      <p:sp>
        <p:nvSpPr>
          <p:cNvPr id="90" name="Shape 88"/>
          <p:cNvSpPr/>
          <p:nvPr/>
        </p:nvSpPr>
        <p:spPr>
          <a:xfrm flipV="1">
            <a:off x="4441984" y="1950285"/>
            <a:ext cx="141446" cy="38645"/>
          </a:xfrm>
          <a:prstGeom prst="line">
            <a:avLst/>
          </a:prstGeom>
          <a:noFill/>
          <a:ln w="25400">
            <a:solidFill>
              <a:srgbClr val="2F4F9E"/>
            </a:solidFill>
            <a:prstDash val="solid"/>
          </a:ln>
        </p:spPr>
      </p:sp>
      <p:sp>
        <p:nvSpPr>
          <p:cNvPr id="91" name="Shape 89"/>
          <p:cNvSpPr/>
          <p:nvPr/>
        </p:nvSpPr>
        <p:spPr>
          <a:xfrm flipV="1">
            <a:off x="4583430" y="1910902"/>
            <a:ext cx="149182" cy="39382"/>
          </a:xfrm>
          <a:prstGeom prst="line">
            <a:avLst/>
          </a:prstGeom>
          <a:noFill/>
          <a:ln w="25400">
            <a:solidFill>
              <a:srgbClr val="2F4F9E"/>
            </a:solidFill>
            <a:prstDash val="solid"/>
          </a:ln>
        </p:spPr>
      </p:sp>
      <p:sp>
        <p:nvSpPr>
          <p:cNvPr id="92" name="Shape 90"/>
          <p:cNvSpPr/>
          <p:nvPr/>
        </p:nvSpPr>
        <p:spPr>
          <a:xfrm flipV="1">
            <a:off x="4732612" y="1871173"/>
            <a:ext cx="160232" cy="39729"/>
          </a:xfrm>
          <a:prstGeom prst="line">
            <a:avLst/>
          </a:prstGeom>
          <a:noFill/>
          <a:ln w="25400">
            <a:solidFill>
              <a:srgbClr val="2F4F9E"/>
            </a:solidFill>
            <a:prstDash val="solid"/>
          </a:ln>
        </p:spPr>
      </p:sp>
      <p:sp>
        <p:nvSpPr>
          <p:cNvPr id="93" name="Shape 91"/>
          <p:cNvSpPr/>
          <p:nvPr/>
        </p:nvSpPr>
        <p:spPr>
          <a:xfrm flipV="1">
            <a:off x="4892844" y="1832137"/>
            <a:ext cx="164652" cy="39035"/>
          </a:xfrm>
          <a:prstGeom prst="line">
            <a:avLst/>
          </a:prstGeom>
          <a:noFill/>
          <a:ln w="25400">
            <a:solidFill>
              <a:srgbClr val="2F4F9E"/>
            </a:solidFill>
            <a:prstDash val="solid"/>
          </a:ln>
        </p:spPr>
      </p:sp>
      <p:sp>
        <p:nvSpPr>
          <p:cNvPr id="94" name="Shape 92"/>
          <p:cNvSpPr/>
          <p:nvPr/>
        </p:nvSpPr>
        <p:spPr>
          <a:xfrm flipV="1">
            <a:off x="5057496" y="1794837"/>
            <a:ext cx="162442" cy="37301"/>
          </a:xfrm>
          <a:prstGeom prst="line">
            <a:avLst/>
          </a:prstGeom>
          <a:noFill/>
          <a:ln w="25400">
            <a:solidFill>
              <a:srgbClr val="2F4F9E"/>
            </a:solidFill>
            <a:prstDash val="solid"/>
          </a:ln>
        </p:spPr>
      </p:sp>
      <p:sp>
        <p:nvSpPr>
          <p:cNvPr id="95" name="Shape 93"/>
          <p:cNvSpPr/>
          <p:nvPr/>
        </p:nvSpPr>
        <p:spPr>
          <a:xfrm flipV="1">
            <a:off x="5219938" y="1760312"/>
            <a:ext cx="153602" cy="34525"/>
          </a:xfrm>
          <a:prstGeom prst="line">
            <a:avLst/>
          </a:prstGeom>
          <a:noFill/>
          <a:ln w="25400">
            <a:solidFill>
              <a:srgbClr val="2F4F9E"/>
            </a:solidFill>
            <a:prstDash val="solid"/>
          </a:ln>
        </p:spPr>
      </p:sp>
      <p:sp>
        <p:nvSpPr>
          <p:cNvPr id="96" name="Shape 94"/>
          <p:cNvSpPr/>
          <p:nvPr/>
        </p:nvSpPr>
        <p:spPr>
          <a:xfrm flipV="1">
            <a:off x="5373540" y="1729604"/>
            <a:ext cx="138131" cy="30708"/>
          </a:xfrm>
          <a:prstGeom prst="line">
            <a:avLst/>
          </a:prstGeom>
          <a:noFill/>
          <a:ln w="25400">
            <a:solidFill>
              <a:srgbClr val="2F4F9E"/>
            </a:solidFill>
            <a:prstDash val="solid"/>
          </a:ln>
        </p:spPr>
      </p:sp>
      <p:sp>
        <p:nvSpPr>
          <p:cNvPr id="97" name="Shape 95"/>
          <p:cNvSpPr/>
          <p:nvPr/>
        </p:nvSpPr>
        <p:spPr>
          <a:xfrm flipV="1">
            <a:off x="5511671" y="1703754"/>
            <a:ext cx="116030" cy="25850"/>
          </a:xfrm>
          <a:prstGeom prst="line">
            <a:avLst/>
          </a:prstGeom>
          <a:noFill/>
          <a:ln w="25400">
            <a:solidFill>
              <a:srgbClr val="2F4F9E"/>
            </a:solidFill>
            <a:prstDash val="solid"/>
          </a:ln>
        </p:spPr>
      </p:sp>
      <p:sp>
        <p:nvSpPr>
          <p:cNvPr id="98" name="Shape 96"/>
          <p:cNvSpPr/>
          <p:nvPr/>
        </p:nvSpPr>
        <p:spPr>
          <a:xfrm flipV="1">
            <a:off x="5627701" y="1683802"/>
            <a:ext cx="87299" cy="19951"/>
          </a:xfrm>
          <a:prstGeom prst="line">
            <a:avLst/>
          </a:prstGeom>
          <a:noFill/>
          <a:ln w="25400">
            <a:solidFill>
              <a:srgbClr val="2F4F9E"/>
            </a:solidFill>
            <a:prstDash val="solid"/>
          </a:ln>
        </p:spPr>
      </p:sp>
      <p:sp>
        <p:nvSpPr>
          <p:cNvPr id="99" name="Shape 97"/>
          <p:cNvSpPr/>
          <p:nvPr/>
        </p:nvSpPr>
        <p:spPr>
          <a:xfrm>
            <a:off x="1708785" y="3370217"/>
            <a:ext cx="91440" cy="91440"/>
          </a:xfrm>
          <a:prstGeom prst="line">
            <a:avLst/>
          </a:prstGeom>
          <a:noFill/>
          <a:ln w="15875">
            <a:solidFill>
              <a:srgbClr val="2F4F9E"/>
            </a:solidFill>
            <a:prstDash val="solid"/>
          </a:ln>
        </p:spPr>
      </p:sp>
      <p:sp>
        <p:nvSpPr>
          <p:cNvPr id="100" name="Shape 98"/>
          <p:cNvSpPr/>
          <p:nvPr/>
        </p:nvSpPr>
        <p:spPr>
          <a:xfrm flipV="1">
            <a:off x="1708785" y="3370217"/>
            <a:ext cx="91440" cy="91440"/>
          </a:xfrm>
          <a:prstGeom prst="line">
            <a:avLst/>
          </a:prstGeom>
          <a:noFill/>
          <a:ln w="15875">
            <a:solidFill>
              <a:srgbClr val="2F4F9E"/>
            </a:solidFill>
            <a:prstDash val="solid"/>
          </a:ln>
        </p:spPr>
      </p:sp>
      <p:sp>
        <p:nvSpPr>
          <p:cNvPr id="101" name="Shape 99"/>
          <p:cNvSpPr/>
          <p:nvPr/>
        </p:nvSpPr>
        <p:spPr>
          <a:xfrm>
            <a:off x="2274570" y="2837253"/>
            <a:ext cx="91440" cy="91440"/>
          </a:xfrm>
          <a:prstGeom prst="line">
            <a:avLst/>
          </a:prstGeom>
          <a:noFill/>
          <a:ln w="15875">
            <a:solidFill>
              <a:srgbClr val="2F4F9E"/>
            </a:solidFill>
            <a:prstDash val="solid"/>
          </a:ln>
        </p:spPr>
      </p:sp>
      <p:sp>
        <p:nvSpPr>
          <p:cNvPr id="102" name="Shape 100"/>
          <p:cNvSpPr/>
          <p:nvPr/>
        </p:nvSpPr>
        <p:spPr>
          <a:xfrm flipV="1">
            <a:off x="2274570" y="2837253"/>
            <a:ext cx="91440" cy="91440"/>
          </a:xfrm>
          <a:prstGeom prst="line">
            <a:avLst/>
          </a:prstGeom>
          <a:noFill/>
          <a:ln w="15875">
            <a:solidFill>
              <a:srgbClr val="2F4F9E"/>
            </a:solidFill>
            <a:prstDash val="solid"/>
          </a:ln>
        </p:spPr>
      </p:sp>
      <p:sp>
        <p:nvSpPr>
          <p:cNvPr id="103" name="Shape 101"/>
          <p:cNvSpPr/>
          <p:nvPr/>
        </p:nvSpPr>
        <p:spPr>
          <a:xfrm>
            <a:off x="3406140" y="2259874"/>
            <a:ext cx="91440" cy="91440"/>
          </a:xfrm>
          <a:prstGeom prst="line">
            <a:avLst/>
          </a:prstGeom>
          <a:noFill/>
          <a:ln w="15875">
            <a:solidFill>
              <a:srgbClr val="2F4F9E"/>
            </a:solidFill>
            <a:prstDash val="solid"/>
          </a:ln>
        </p:spPr>
      </p:sp>
      <p:sp>
        <p:nvSpPr>
          <p:cNvPr id="104" name="Shape 102"/>
          <p:cNvSpPr/>
          <p:nvPr/>
        </p:nvSpPr>
        <p:spPr>
          <a:xfrm flipV="1">
            <a:off x="3406140" y="2259874"/>
            <a:ext cx="91440" cy="91440"/>
          </a:xfrm>
          <a:prstGeom prst="line">
            <a:avLst/>
          </a:prstGeom>
          <a:noFill/>
          <a:ln w="15875">
            <a:solidFill>
              <a:srgbClr val="2F4F9E"/>
            </a:solidFill>
            <a:prstDash val="solid"/>
          </a:ln>
        </p:spPr>
      </p:sp>
      <p:sp>
        <p:nvSpPr>
          <p:cNvPr id="105" name="Shape 103"/>
          <p:cNvSpPr/>
          <p:nvPr/>
        </p:nvSpPr>
        <p:spPr>
          <a:xfrm>
            <a:off x="4537710" y="1904565"/>
            <a:ext cx="91440" cy="91440"/>
          </a:xfrm>
          <a:prstGeom prst="line">
            <a:avLst/>
          </a:prstGeom>
          <a:noFill/>
          <a:ln w="15875">
            <a:solidFill>
              <a:srgbClr val="2F4F9E"/>
            </a:solidFill>
            <a:prstDash val="solid"/>
          </a:ln>
        </p:spPr>
      </p:sp>
      <p:sp>
        <p:nvSpPr>
          <p:cNvPr id="106" name="Shape 104"/>
          <p:cNvSpPr/>
          <p:nvPr/>
        </p:nvSpPr>
        <p:spPr>
          <a:xfrm flipV="1">
            <a:off x="4537710" y="1904565"/>
            <a:ext cx="91440" cy="91440"/>
          </a:xfrm>
          <a:prstGeom prst="line">
            <a:avLst/>
          </a:prstGeom>
          <a:noFill/>
          <a:ln w="15875">
            <a:solidFill>
              <a:srgbClr val="2F4F9E"/>
            </a:solidFill>
            <a:prstDash val="solid"/>
          </a:ln>
        </p:spPr>
      </p:sp>
      <p:sp>
        <p:nvSpPr>
          <p:cNvPr id="107" name="Shape 105"/>
          <p:cNvSpPr/>
          <p:nvPr/>
        </p:nvSpPr>
        <p:spPr>
          <a:xfrm>
            <a:off x="5669280" y="1638082"/>
            <a:ext cx="91440" cy="91440"/>
          </a:xfrm>
          <a:prstGeom prst="line">
            <a:avLst/>
          </a:prstGeom>
          <a:noFill/>
          <a:ln w="15875">
            <a:solidFill>
              <a:srgbClr val="2F4F9E"/>
            </a:solidFill>
            <a:prstDash val="solid"/>
          </a:ln>
        </p:spPr>
      </p:sp>
      <p:sp>
        <p:nvSpPr>
          <p:cNvPr id="108" name="Shape 106"/>
          <p:cNvSpPr/>
          <p:nvPr/>
        </p:nvSpPr>
        <p:spPr>
          <a:xfrm flipV="1">
            <a:off x="5669280" y="1638082"/>
            <a:ext cx="91440" cy="91440"/>
          </a:xfrm>
          <a:prstGeom prst="line">
            <a:avLst/>
          </a:prstGeom>
          <a:noFill/>
          <a:ln w="15875">
            <a:solidFill>
              <a:srgbClr val="2F4F9E"/>
            </a:solidFill>
            <a:prstDash val="solid"/>
          </a:ln>
        </p:spPr>
      </p:sp>
      <p:sp>
        <p:nvSpPr>
          <p:cNvPr id="109" name="Text 107"/>
          <p:cNvSpPr/>
          <p:nvPr/>
        </p:nvSpPr>
        <p:spPr>
          <a:xfrm>
            <a:off x="4754880" y="1409482"/>
            <a:ext cx="914400" cy="201168"/>
          </a:xfrm>
          <a:prstGeom prst="rect">
            <a:avLst/>
          </a:prstGeom>
          <a:noFill/>
          <a:ln/>
        </p:spPr>
        <p:txBody>
          <a:bodyPr wrap="square" lIns="0" tIns="0" rIns="0" bIns="0" rtlCol="0" anchor="ctr"/>
          <a:lstStyle/>
          <a:p>
            <a:pPr algn="r" indent="0" marL="0">
              <a:buNone/>
            </a:pPr>
            <a:r>
              <a:rPr lang="en-US" sz="1000" b="1" dirty="0">
                <a:solidFill>
                  <a:srgbClr val="2F4F9E"/>
                </a:solidFill>
                <a:latin typeface="Calibri" pitchFamily="34" charset="0"/>
                <a:ea typeface="Calibri" pitchFamily="34" charset="-122"/>
                <a:cs typeface="Calibri" pitchFamily="34" charset="-120"/>
              </a:rPr>
              <a:t>350 °C</a:t>
            </a:r>
            <a:endParaRPr lang="en-US" sz="1000" dirty="0"/>
          </a:p>
        </p:txBody>
      </p:sp>
      <p:sp>
        <p:nvSpPr>
          <p:cNvPr id="110" name="Shape 108"/>
          <p:cNvSpPr/>
          <p:nvPr/>
        </p:nvSpPr>
        <p:spPr>
          <a:xfrm flipV="1">
            <a:off x="1754505" y="4104089"/>
            <a:ext cx="39782" cy="22467"/>
          </a:xfrm>
          <a:prstGeom prst="line">
            <a:avLst/>
          </a:prstGeom>
          <a:noFill/>
          <a:ln w="25400">
            <a:solidFill>
              <a:srgbClr val="B8730A"/>
            </a:solidFill>
            <a:prstDash val="solid"/>
          </a:ln>
        </p:spPr>
      </p:sp>
      <p:sp>
        <p:nvSpPr>
          <p:cNvPr id="111" name="Shape 109"/>
          <p:cNvSpPr/>
          <p:nvPr/>
        </p:nvSpPr>
        <p:spPr>
          <a:xfrm flipV="1">
            <a:off x="1794287" y="4075897"/>
            <a:ext cx="48622" cy="28192"/>
          </a:xfrm>
          <a:prstGeom prst="line">
            <a:avLst/>
          </a:prstGeom>
          <a:noFill/>
          <a:ln w="25400">
            <a:solidFill>
              <a:srgbClr val="B8730A"/>
            </a:solidFill>
            <a:prstDash val="solid"/>
          </a:ln>
        </p:spPr>
      </p:sp>
      <p:sp>
        <p:nvSpPr>
          <p:cNvPr id="112" name="Shape 110"/>
          <p:cNvSpPr/>
          <p:nvPr/>
        </p:nvSpPr>
        <p:spPr>
          <a:xfrm flipV="1">
            <a:off x="1842909" y="4042500"/>
            <a:ext cx="57463" cy="33397"/>
          </a:xfrm>
          <a:prstGeom prst="line">
            <a:avLst/>
          </a:prstGeom>
          <a:noFill/>
          <a:ln w="25400">
            <a:solidFill>
              <a:srgbClr val="B8730A"/>
            </a:solidFill>
            <a:prstDash val="solid"/>
          </a:ln>
        </p:spPr>
      </p:sp>
      <p:sp>
        <p:nvSpPr>
          <p:cNvPr id="113" name="Shape 111"/>
          <p:cNvSpPr/>
          <p:nvPr/>
        </p:nvSpPr>
        <p:spPr>
          <a:xfrm flipV="1">
            <a:off x="1900371" y="4004419"/>
            <a:ext cx="66303" cy="38081"/>
          </a:xfrm>
          <a:prstGeom prst="line">
            <a:avLst/>
          </a:prstGeom>
          <a:noFill/>
          <a:ln w="25400">
            <a:solidFill>
              <a:srgbClr val="B8730A"/>
            </a:solidFill>
            <a:prstDash val="solid"/>
          </a:ln>
        </p:spPr>
      </p:sp>
      <p:sp>
        <p:nvSpPr>
          <p:cNvPr id="114" name="Shape 112"/>
          <p:cNvSpPr/>
          <p:nvPr/>
        </p:nvSpPr>
        <p:spPr>
          <a:xfrm flipV="1">
            <a:off x="1966674" y="3962174"/>
            <a:ext cx="75143" cy="42245"/>
          </a:xfrm>
          <a:prstGeom prst="line">
            <a:avLst/>
          </a:prstGeom>
          <a:noFill/>
          <a:ln w="25400">
            <a:solidFill>
              <a:srgbClr val="B8730A"/>
            </a:solidFill>
            <a:prstDash val="solid"/>
          </a:ln>
        </p:spPr>
      </p:sp>
      <p:sp>
        <p:nvSpPr>
          <p:cNvPr id="115" name="Shape 113"/>
          <p:cNvSpPr/>
          <p:nvPr/>
        </p:nvSpPr>
        <p:spPr>
          <a:xfrm flipV="1">
            <a:off x="2041818" y="3916285"/>
            <a:ext cx="83984" cy="45888"/>
          </a:xfrm>
          <a:prstGeom prst="line">
            <a:avLst/>
          </a:prstGeom>
          <a:noFill/>
          <a:ln w="25400">
            <a:solidFill>
              <a:srgbClr val="B8730A"/>
            </a:solidFill>
            <a:prstDash val="solid"/>
          </a:ln>
        </p:spPr>
      </p:sp>
      <p:sp>
        <p:nvSpPr>
          <p:cNvPr id="116" name="Shape 114"/>
          <p:cNvSpPr/>
          <p:nvPr/>
        </p:nvSpPr>
        <p:spPr>
          <a:xfrm flipV="1">
            <a:off x="2125801" y="3867274"/>
            <a:ext cx="92824" cy="49011"/>
          </a:xfrm>
          <a:prstGeom prst="line">
            <a:avLst/>
          </a:prstGeom>
          <a:noFill/>
          <a:ln w="25400">
            <a:solidFill>
              <a:srgbClr val="B8730A"/>
            </a:solidFill>
            <a:prstDash val="solid"/>
          </a:ln>
        </p:spPr>
      </p:sp>
      <p:sp>
        <p:nvSpPr>
          <p:cNvPr id="117" name="Shape 115"/>
          <p:cNvSpPr/>
          <p:nvPr/>
        </p:nvSpPr>
        <p:spPr>
          <a:xfrm flipV="1">
            <a:off x="2218626" y="3815661"/>
            <a:ext cx="101664" cy="51614"/>
          </a:xfrm>
          <a:prstGeom prst="line">
            <a:avLst/>
          </a:prstGeom>
          <a:noFill/>
          <a:ln w="25400">
            <a:solidFill>
              <a:srgbClr val="B8730A"/>
            </a:solidFill>
            <a:prstDash val="solid"/>
          </a:ln>
        </p:spPr>
      </p:sp>
      <p:sp>
        <p:nvSpPr>
          <p:cNvPr id="118" name="Shape 116"/>
          <p:cNvSpPr/>
          <p:nvPr/>
        </p:nvSpPr>
        <p:spPr>
          <a:xfrm flipV="1">
            <a:off x="2320290" y="3758452"/>
            <a:ext cx="114373" cy="57209"/>
          </a:xfrm>
          <a:prstGeom prst="line">
            <a:avLst/>
          </a:prstGeom>
          <a:noFill/>
          <a:ln w="25400">
            <a:solidFill>
              <a:srgbClr val="B8730A"/>
            </a:solidFill>
            <a:prstDash val="solid"/>
          </a:ln>
        </p:spPr>
      </p:sp>
      <p:sp>
        <p:nvSpPr>
          <p:cNvPr id="119" name="Shape 117"/>
          <p:cNvSpPr/>
          <p:nvPr/>
        </p:nvSpPr>
        <p:spPr>
          <a:xfrm flipV="1">
            <a:off x="2434663" y="3693870"/>
            <a:ext cx="128738" cy="64582"/>
          </a:xfrm>
          <a:prstGeom prst="line">
            <a:avLst/>
          </a:prstGeom>
          <a:noFill/>
          <a:ln w="25400">
            <a:solidFill>
              <a:srgbClr val="B8730A"/>
            </a:solidFill>
            <a:prstDash val="solid"/>
          </a:ln>
        </p:spPr>
      </p:sp>
      <p:sp>
        <p:nvSpPr>
          <p:cNvPr id="120" name="Shape 118"/>
          <p:cNvSpPr/>
          <p:nvPr/>
        </p:nvSpPr>
        <p:spPr>
          <a:xfrm flipV="1">
            <a:off x="2563401" y="3624257"/>
            <a:ext cx="139789" cy="69613"/>
          </a:xfrm>
          <a:prstGeom prst="line">
            <a:avLst/>
          </a:prstGeom>
          <a:noFill/>
          <a:ln w="25400">
            <a:solidFill>
              <a:srgbClr val="B8730A"/>
            </a:solidFill>
            <a:prstDash val="solid"/>
          </a:ln>
        </p:spPr>
      </p:sp>
      <p:sp>
        <p:nvSpPr>
          <p:cNvPr id="121" name="Shape 119"/>
          <p:cNvSpPr/>
          <p:nvPr/>
        </p:nvSpPr>
        <p:spPr>
          <a:xfrm flipV="1">
            <a:off x="2703189" y="3551954"/>
            <a:ext cx="147524" cy="72302"/>
          </a:xfrm>
          <a:prstGeom prst="line">
            <a:avLst/>
          </a:prstGeom>
          <a:noFill/>
          <a:ln w="25400">
            <a:solidFill>
              <a:srgbClr val="B8730A"/>
            </a:solidFill>
            <a:prstDash val="solid"/>
          </a:ln>
        </p:spPr>
      </p:sp>
      <p:sp>
        <p:nvSpPr>
          <p:cNvPr id="122" name="Shape 120"/>
          <p:cNvSpPr/>
          <p:nvPr/>
        </p:nvSpPr>
        <p:spPr>
          <a:xfrm flipV="1">
            <a:off x="2850713" y="3479305"/>
            <a:ext cx="151944" cy="72649"/>
          </a:xfrm>
          <a:prstGeom prst="line">
            <a:avLst/>
          </a:prstGeom>
          <a:noFill/>
          <a:ln w="25400">
            <a:solidFill>
              <a:srgbClr val="B8730A"/>
            </a:solidFill>
            <a:prstDash val="solid"/>
          </a:ln>
        </p:spPr>
      </p:sp>
      <p:sp>
        <p:nvSpPr>
          <p:cNvPr id="123" name="Shape 121"/>
          <p:cNvSpPr/>
          <p:nvPr/>
        </p:nvSpPr>
        <p:spPr>
          <a:xfrm flipV="1">
            <a:off x="3002658" y="3408651"/>
            <a:ext cx="153049" cy="70654"/>
          </a:xfrm>
          <a:prstGeom prst="line">
            <a:avLst/>
          </a:prstGeom>
          <a:noFill/>
          <a:ln w="25400">
            <a:solidFill>
              <a:srgbClr val="B8730A"/>
            </a:solidFill>
            <a:prstDash val="solid"/>
          </a:ln>
        </p:spPr>
      </p:sp>
      <p:sp>
        <p:nvSpPr>
          <p:cNvPr id="124" name="Shape 122"/>
          <p:cNvSpPr/>
          <p:nvPr/>
        </p:nvSpPr>
        <p:spPr>
          <a:xfrm flipV="1">
            <a:off x="3155707" y="3342334"/>
            <a:ext cx="150839" cy="66317"/>
          </a:xfrm>
          <a:prstGeom prst="line">
            <a:avLst/>
          </a:prstGeom>
          <a:noFill/>
          <a:ln w="25400">
            <a:solidFill>
              <a:srgbClr val="B8730A"/>
            </a:solidFill>
            <a:prstDash val="solid"/>
          </a:ln>
        </p:spPr>
      </p:sp>
      <p:sp>
        <p:nvSpPr>
          <p:cNvPr id="125" name="Shape 123"/>
          <p:cNvSpPr/>
          <p:nvPr/>
        </p:nvSpPr>
        <p:spPr>
          <a:xfrm flipV="1">
            <a:off x="3306546" y="3282696"/>
            <a:ext cx="145314" cy="59638"/>
          </a:xfrm>
          <a:prstGeom prst="line">
            <a:avLst/>
          </a:prstGeom>
          <a:noFill/>
          <a:ln w="25400">
            <a:solidFill>
              <a:srgbClr val="B8730A"/>
            </a:solidFill>
            <a:prstDash val="solid"/>
          </a:ln>
        </p:spPr>
      </p:sp>
      <p:sp>
        <p:nvSpPr>
          <p:cNvPr id="126" name="Shape 124"/>
          <p:cNvSpPr/>
          <p:nvPr/>
        </p:nvSpPr>
        <p:spPr>
          <a:xfrm flipV="1">
            <a:off x="3451860" y="3229174"/>
            <a:ext cx="141446" cy="53522"/>
          </a:xfrm>
          <a:prstGeom prst="line">
            <a:avLst/>
          </a:prstGeom>
          <a:noFill/>
          <a:ln w="25400">
            <a:solidFill>
              <a:srgbClr val="B8730A"/>
            </a:solidFill>
            <a:prstDash val="solid"/>
          </a:ln>
        </p:spPr>
      </p:sp>
      <p:sp>
        <p:nvSpPr>
          <p:cNvPr id="127" name="Shape 125"/>
          <p:cNvSpPr/>
          <p:nvPr/>
        </p:nvSpPr>
        <p:spPr>
          <a:xfrm flipV="1">
            <a:off x="3593306" y="3179295"/>
            <a:ext cx="141446" cy="49879"/>
          </a:xfrm>
          <a:prstGeom prst="line">
            <a:avLst/>
          </a:prstGeom>
          <a:noFill/>
          <a:ln w="25400">
            <a:solidFill>
              <a:srgbClr val="B8730A"/>
            </a:solidFill>
            <a:prstDash val="solid"/>
          </a:ln>
        </p:spPr>
      </p:sp>
      <p:sp>
        <p:nvSpPr>
          <p:cNvPr id="128" name="Shape 126"/>
          <p:cNvSpPr/>
          <p:nvPr/>
        </p:nvSpPr>
        <p:spPr>
          <a:xfrm flipV="1">
            <a:off x="3734753" y="3132539"/>
            <a:ext cx="141446" cy="46756"/>
          </a:xfrm>
          <a:prstGeom prst="line">
            <a:avLst/>
          </a:prstGeom>
          <a:noFill/>
          <a:ln w="25400">
            <a:solidFill>
              <a:srgbClr val="B8730A"/>
            </a:solidFill>
            <a:prstDash val="solid"/>
          </a:ln>
        </p:spPr>
      </p:sp>
      <p:sp>
        <p:nvSpPr>
          <p:cNvPr id="129" name="Shape 127"/>
          <p:cNvSpPr/>
          <p:nvPr/>
        </p:nvSpPr>
        <p:spPr>
          <a:xfrm flipV="1">
            <a:off x="3876199" y="3088386"/>
            <a:ext cx="141446" cy="44153"/>
          </a:xfrm>
          <a:prstGeom prst="line">
            <a:avLst/>
          </a:prstGeom>
          <a:noFill/>
          <a:ln w="25400">
            <a:solidFill>
              <a:srgbClr val="B8730A"/>
            </a:solidFill>
            <a:prstDash val="solid"/>
          </a:ln>
        </p:spPr>
      </p:sp>
      <p:sp>
        <p:nvSpPr>
          <p:cNvPr id="130" name="Shape 128"/>
          <p:cNvSpPr/>
          <p:nvPr/>
        </p:nvSpPr>
        <p:spPr>
          <a:xfrm flipV="1">
            <a:off x="4017645" y="3046314"/>
            <a:ext cx="141446" cy="42072"/>
          </a:xfrm>
          <a:prstGeom prst="line">
            <a:avLst/>
          </a:prstGeom>
          <a:noFill/>
          <a:ln w="25400">
            <a:solidFill>
              <a:srgbClr val="B8730A"/>
            </a:solidFill>
            <a:prstDash val="solid"/>
          </a:ln>
        </p:spPr>
      </p:sp>
      <p:sp>
        <p:nvSpPr>
          <p:cNvPr id="131" name="Shape 129"/>
          <p:cNvSpPr/>
          <p:nvPr/>
        </p:nvSpPr>
        <p:spPr>
          <a:xfrm flipV="1">
            <a:off x="4159091" y="3005804"/>
            <a:ext cx="141446" cy="40510"/>
          </a:xfrm>
          <a:prstGeom prst="line">
            <a:avLst/>
          </a:prstGeom>
          <a:noFill/>
          <a:ln w="25400">
            <a:solidFill>
              <a:srgbClr val="B8730A"/>
            </a:solidFill>
            <a:prstDash val="solid"/>
          </a:ln>
        </p:spPr>
      </p:sp>
      <p:sp>
        <p:nvSpPr>
          <p:cNvPr id="132" name="Shape 130"/>
          <p:cNvSpPr/>
          <p:nvPr/>
        </p:nvSpPr>
        <p:spPr>
          <a:xfrm flipV="1">
            <a:off x="4300538" y="2966335"/>
            <a:ext cx="141446" cy="39469"/>
          </a:xfrm>
          <a:prstGeom prst="line">
            <a:avLst/>
          </a:prstGeom>
          <a:noFill/>
          <a:ln w="25400">
            <a:solidFill>
              <a:srgbClr val="B8730A"/>
            </a:solidFill>
            <a:prstDash val="solid"/>
          </a:ln>
        </p:spPr>
      </p:sp>
      <p:sp>
        <p:nvSpPr>
          <p:cNvPr id="133" name="Shape 131"/>
          <p:cNvSpPr/>
          <p:nvPr/>
        </p:nvSpPr>
        <p:spPr>
          <a:xfrm flipV="1">
            <a:off x="4441984" y="2927386"/>
            <a:ext cx="141446" cy="38949"/>
          </a:xfrm>
          <a:prstGeom prst="line">
            <a:avLst/>
          </a:prstGeom>
          <a:noFill/>
          <a:ln w="25400">
            <a:solidFill>
              <a:srgbClr val="B8730A"/>
            </a:solidFill>
            <a:prstDash val="solid"/>
          </a:ln>
        </p:spPr>
      </p:sp>
      <p:sp>
        <p:nvSpPr>
          <p:cNvPr id="134" name="Shape 132"/>
          <p:cNvSpPr/>
          <p:nvPr/>
        </p:nvSpPr>
        <p:spPr>
          <a:xfrm flipV="1">
            <a:off x="4583430" y="2888004"/>
            <a:ext cx="149182" cy="39382"/>
          </a:xfrm>
          <a:prstGeom prst="line">
            <a:avLst/>
          </a:prstGeom>
          <a:noFill/>
          <a:ln w="25400">
            <a:solidFill>
              <a:srgbClr val="B8730A"/>
            </a:solidFill>
            <a:prstDash val="solid"/>
          </a:ln>
        </p:spPr>
      </p:sp>
      <p:sp>
        <p:nvSpPr>
          <p:cNvPr id="135" name="Shape 133"/>
          <p:cNvSpPr/>
          <p:nvPr/>
        </p:nvSpPr>
        <p:spPr>
          <a:xfrm flipV="1">
            <a:off x="4732612" y="2848274"/>
            <a:ext cx="160232" cy="39729"/>
          </a:xfrm>
          <a:prstGeom prst="line">
            <a:avLst/>
          </a:prstGeom>
          <a:noFill/>
          <a:ln w="25400">
            <a:solidFill>
              <a:srgbClr val="B8730A"/>
            </a:solidFill>
            <a:prstDash val="solid"/>
          </a:ln>
        </p:spPr>
      </p:sp>
      <p:sp>
        <p:nvSpPr>
          <p:cNvPr id="136" name="Shape 134"/>
          <p:cNvSpPr/>
          <p:nvPr/>
        </p:nvSpPr>
        <p:spPr>
          <a:xfrm flipV="1">
            <a:off x="4892844" y="2809239"/>
            <a:ext cx="164652" cy="39035"/>
          </a:xfrm>
          <a:prstGeom prst="line">
            <a:avLst/>
          </a:prstGeom>
          <a:noFill/>
          <a:ln w="25400">
            <a:solidFill>
              <a:srgbClr val="B8730A"/>
            </a:solidFill>
            <a:prstDash val="solid"/>
          </a:ln>
        </p:spPr>
      </p:sp>
      <p:sp>
        <p:nvSpPr>
          <p:cNvPr id="137" name="Shape 135"/>
          <p:cNvSpPr/>
          <p:nvPr/>
        </p:nvSpPr>
        <p:spPr>
          <a:xfrm flipV="1">
            <a:off x="5057496" y="2771938"/>
            <a:ext cx="162442" cy="37301"/>
          </a:xfrm>
          <a:prstGeom prst="line">
            <a:avLst/>
          </a:prstGeom>
          <a:noFill/>
          <a:ln w="25400">
            <a:solidFill>
              <a:srgbClr val="B8730A"/>
            </a:solidFill>
            <a:prstDash val="solid"/>
          </a:ln>
        </p:spPr>
      </p:sp>
      <p:sp>
        <p:nvSpPr>
          <p:cNvPr id="138" name="Shape 136"/>
          <p:cNvSpPr/>
          <p:nvPr/>
        </p:nvSpPr>
        <p:spPr>
          <a:xfrm flipV="1">
            <a:off x="5219938" y="2737414"/>
            <a:ext cx="153602" cy="34525"/>
          </a:xfrm>
          <a:prstGeom prst="line">
            <a:avLst/>
          </a:prstGeom>
          <a:noFill/>
          <a:ln w="25400">
            <a:solidFill>
              <a:srgbClr val="B8730A"/>
            </a:solidFill>
            <a:prstDash val="solid"/>
          </a:ln>
        </p:spPr>
      </p:sp>
      <p:sp>
        <p:nvSpPr>
          <p:cNvPr id="139" name="Shape 137"/>
          <p:cNvSpPr/>
          <p:nvPr/>
        </p:nvSpPr>
        <p:spPr>
          <a:xfrm flipV="1">
            <a:off x="5373540" y="2706706"/>
            <a:ext cx="138131" cy="30708"/>
          </a:xfrm>
          <a:prstGeom prst="line">
            <a:avLst/>
          </a:prstGeom>
          <a:noFill/>
          <a:ln w="25400">
            <a:solidFill>
              <a:srgbClr val="B8730A"/>
            </a:solidFill>
            <a:prstDash val="solid"/>
          </a:ln>
        </p:spPr>
      </p:sp>
      <p:sp>
        <p:nvSpPr>
          <p:cNvPr id="140" name="Shape 138"/>
          <p:cNvSpPr/>
          <p:nvPr/>
        </p:nvSpPr>
        <p:spPr>
          <a:xfrm flipV="1">
            <a:off x="5511671" y="2680855"/>
            <a:ext cx="116030" cy="25850"/>
          </a:xfrm>
          <a:prstGeom prst="line">
            <a:avLst/>
          </a:prstGeom>
          <a:noFill/>
          <a:ln w="25400">
            <a:solidFill>
              <a:srgbClr val="B8730A"/>
            </a:solidFill>
            <a:prstDash val="solid"/>
          </a:ln>
        </p:spPr>
      </p:sp>
      <p:sp>
        <p:nvSpPr>
          <p:cNvPr id="141" name="Shape 139"/>
          <p:cNvSpPr/>
          <p:nvPr/>
        </p:nvSpPr>
        <p:spPr>
          <a:xfrm flipV="1">
            <a:off x="5627701" y="2660904"/>
            <a:ext cx="87299" cy="19951"/>
          </a:xfrm>
          <a:prstGeom prst="line">
            <a:avLst/>
          </a:prstGeom>
          <a:noFill/>
          <a:ln w="25400">
            <a:solidFill>
              <a:srgbClr val="B8730A"/>
            </a:solidFill>
            <a:prstDash val="solid"/>
          </a:ln>
        </p:spPr>
      </p:sp>
      <p:sp>
        <p:nvSpPr>
          <p:cNvPr id="142" name="Shape 140"/>
          <p:cNvSpPr/>
          <p:nvPr/>
        </p:nvSpPr>
        <p:spPr>
          <a:xfrm>
            <a:off x="1708785" y="4080837"/>
            <a:ext cx="91440" cy="91440"/>
          </a:xfrm>
          <a:prstGeom prst="line">
            <a:avLst/>
          </a:prstGeom>
          <a:noFill/>
          <a:ln w="15875">
            <a:solidFill>
              <a:srgbClr val="B8730A"/>
            </a:solidFill>
            <a:prstDash val="solid"/>
          </a:ln>
        </p:spPr>
      </p:sp>
      <p:sp>
        <p:nvSpPr>
          <p:cNvPr id="143" name="Shape 141"/>
          <p:cNvSpPr/>
          <p:nvPr/>
        </p:nvSpPr>
        <p:spPr>
          <a:xfrm flipV="1">
            <a:off x="1708785" y="4080837"/>
            <a:ext cx="91440" cy="91440"/>
          </a:xfrm>
          <a:prstGeom prst="line">
            <a:avLst/>
          </a:prstGeom>
          <a:noFill/>
          <a:ln w="15875">
            <a:solidFill>
              <a:srgbClr val="B8730A"/>
            </a:solidFill>
            <a:prstDash val="solid"/>
          </a:ln>
        </p:spPr>
      </p:sp>
      <p:sp>
        <p:nvSpPr>
          <p:cNvPr id="144" name="Shape 142"/>
          <p:cNvSpPr/>
          <p:nvPr/>
        </p:nvSpPr>
        <p:spPr>
          <a:xfrm>
            <a:off x="2274570" y="3769941"/>
            <a:ext cx="91440" cy="91440"/>
          </a:xfrm>
          <a:prstGeom prst="line">
            <a:avLst/>
          </a:prstGeom>
          <a:noFill/>
          <a:ln w="15875">
            <a:solidFill>
              <a:srgbClr val="B8730A"/>
            </a:solidFill>
            <a:prstDash val="solid"/>
          </a:ln>
        </p:spPr>
      </p:sp>
      <p:sp>
        <p:nvSpPr>
          <p:cNvPr id="145" name="Shape 143"/>
          <p:cNvSpPr/>
          <p:nvPr/>
        </p:nvSpPr>
        <p:spPr>
          <a:xfrm flipV="1">
            <a:off x="2274570" y="3769941"/>
            <a:ext cx="91440" cy="91440"/>
          </a:xfrm>
          <a:prstGeom prst="line">
            <a:avLst/>
          </a:prstGeom>
          <a:noFill/>
          <a:ln w="15875">
            <a:solidFill>
              <a:srgbClr val="B8730A"/>
            </a:solidFill>
            <a:prstDash val="solid"/>
          </a:ln>
        </p:spPr>
      </p:sp>
      <p:sp>
        <p:nvSpPr>
          <p:cNvPr id="146" name="Shape 144"/>
          <p:cNvSpPr/>
          <p:nvPr/>
        </p:nvSpPr>
        <p:spPr>
          <a:xfrm>
            <a:off x="3406140" y="3236976"/>
            <a:ext cx="91440" cy="91440"/>
          </a:xfrm>
          <a:prstGeom prst="line">
            <a:avLst/>
          </a:prstGeom>
          <a:noFill/>
          <a:ln w="15875">
            <a:solidFill>
              <a:srgbClr val="B8730A"/>
            </a:solidFill>
            <a:prstDash val="solid"/>
          </a:ln>
        </p:spPr>
      </p:sp>
      <p:sp>
        <p:nvSpPr>
          <p:cNvPr id="147" name="Shape 145"/>
          <p:cNvSpPr/>
          <p:nvPr/>
        </p:nvSpPr>
        <p:spPr>
          <a:xfrm flipV="1">
            <a:off x="3406140" y="3236976"/>
            <a:ext cx="91440" cy="91440"/>
          </a:xfrm>
          <a:prstGeom prst="line">
            <a:avLst/>
          </a:prstGeom>
          <a:noFill/>
          <a:ln w="15875">
            <a:solidFill>
              <a:srgbClr val="B8730A"/>
            </a:solidFill>
            <a:prstDash val="solid"/>
          </a:ln>
        </p:spPr>
      </p:sp>
      <p:sp>
        <p:nvSpPr>
          <p:cNvPr id="148" name="Shape 146"/>
          <p:cNvSpPr/>
          <p:nvPr/>
        </p:nvSpPr>
        <p:spPr>
          <a:xfrm>
            <a:off x="4537710" y="2881666"/>
            <a:ext cx="91440" cy="91440"/>
          </a:xfrm>
          <a:prstGeom prst="line">
            <a:avLst/>
          </a:prstGeom>
          <a:noFill/>
          <a:ln w="15875">
            <a:solidFill>
              <a:srgbClr val="B8730A"/>
            </a:solidFill>
            <a:prstDash val="solid"/>
          </a:ln>
        </p:spPr>
      </p:sp>
      <p:sp>
        <p:nvSpPr>
          <p:cNvPr id="149" name="Shape 147"/>
          <p:cNvSpPr/>
          <p:nvPr/>
        </p:nvSpPr>
        <p:spPr>
          <a:xfrm flipV="1">
            <a:off x="4537710" y="2881666"/>
            <a:ext cx="91440" cy="91440"/>
          </a:xfrm>
          <a:prstGeom prst="line">
            <a:avLst/>
          </a:prstGeom>
          <a:noFill/>
          <a:ln w="15875">
            <a:solidFill>
              <a:srgbClr val="B8730A"/>
            </a:solidFill>
            <a:prstDash val="solid"/>
          </a:ln>
        </p:spPr>
      </p:sp>
      <p:sp>
        <p:nvSpPr>
          <p:cNvPr id="150" name="Shape 148"/>
          <p:cNvSpPr/>
          <p:nvPr/>
        </p:nvSpPr>
        <p:spPr>
          <a:xfrm>
            <a:off x="5669280" y="2615184"/>
            <a:ext cx="91440" cy="91440"/>
          </a:xfrm>
          <a:prstGeom prst="line">
            <a:avLst/>
          </a:prstGeom>
          <a:noFill/>
          <a:ln w="15875">
            <a:solidFill>
              <a:srgbClr val="B8730A"/>
            </a:solidFill>
            <a:prstDash val="solid"/>
          </a:ln>
        </p:spPr>
      </p:sp>
      <p:sp>
        <p:nvSpPr>
          <p:cNvPr id="151" name="Shape 149"/>
          <p:cNvSpPr/>
          <p:nvPr/>
        </p:nvSpPr>
        <p:spPr>
          <a:xfrm flipV="1">
            <a:off x="5669280" y="2615184"/>
            <a:ext cx="91440" cy="91440"/>
          </a:xfrm>
          <a:prstGeom prst="line">
            <a:avLst/>
          </a:prstGeom>
          <a:noFill/>
          <a:ln w="15875">
            <a:solidFill>
              <a:srgbClr val="B8730A"/>
            </a:solidFill>
            <a:prstDash val="solid"/>
          </a:ln>
        </p:spPr>
      </p:sp>
      <p:sp>
        <p:nvSpPr>
          <p:cNvPr id="152" name="Text 150"/>
          <p:cNvSpPr/>
          <p:nvPr/>
        </p:nvSpPr>
        <p:spPr>
          <a:xfrm>
            <a:off x="4754880" y="2386584"/>
            <a:ext cx="914400" cy="201168"/>
          </a:xfrm>
          <a:prstGeom prst="rect">
            <a:avLst/>
          </a:prstGeom>
          <a:noFill/>
          <a:ln/>
        </p:spPr>
        <p:txBody>
          <a:bodyPr wrap="square" lIns="0" tIns="0" rIns="0" bIns="0" rtlCol="0" anchor="ctr"/>
          <a:lstStyle/>
          <a:p>
            <a:pPr algn="r" indent="0" marL="0">
              <a:buNone/>
            </a:pPr>
            <a:r>
              <a:rPr lang="en-US" sz="1000" b="1" dirty="0">
                <a:solidFill>
                  <a:srgbClr val="B8730A"/>
                </a:solidFill>
                <a:latin typeface="Calibri" pitchFamily="34" charset="0"/>
                <a:ea typeface="Calibri" pitchFamily="34" charset="-122"/>
                <a:cs typeface="Calibri" pitchFamily="34" charset="-120"/>
              </a:rPr>
              <a:t>450 °C</a:t>
            </a:r>
            <a:endParaRPr lang="en-US" sz="1000" dirty="0"/>
          </a:p>
        </p:txBody>
      </p:sp>
      <p:sp>
        <p:nvSpPr>
          <p:cNvPr id="153" name="Shape 151"/>
          <p:cNvSpPr/>
          <p:nvPr/>
        </p:nvSpPr>
        <p:spPr>
          <a:xfrm flipV="1">
            <a:off x="1754505" y="4339257"/>
            <a:ext cx="39782" cy="9369"/>
          </a:xfrm>
          <a:prstGeom prst="line">
            <a:avLst/>
          </a:prstGeom>
          <a:noFill/>
          <a:ln w="25400">
            <a:solidFill>
              <a:srgbClr val="C8414C"/>
            </a:solidFill>
            <a:prstDash val="solid"/>
          </a:ln>
        </p:spPr>
      </p:sp>
      <p:sp>
        <p:nvSpPr>
          <p:cNvPr id="154" name="Shape 152"/>
          <p:cNvSpPr/>
          <p:nvPr/>
        </p:nvSpPr>
        <p:spPr>
          <a:xfrm flipV="1">
            <a:off x="1794287" y="4327806"/>
            <a:ext cx="48622" cy="11450"/>
          </a:xfrm>
          <a:prstGeom prst="line">
            <a:avLst/>
          </a:prstGeom>
          <a:noFill/>
          <a:ln w="25400">
            <a:solidFill>
              <a:srgbClr val="C8414C"/>
            </a:solidFill>
            <a:prstDash val="solid"/>
          </a:ln>
        </p:spPr>
      </p:sp>
      <p:sp>
        <p:nvSpPr>
          <p:cNvPr id="155" name="Shape 153"/>
          <p:cNvSpPr/>
          <p:nvPr/>
        </p:nvSpPr>
        <p:spPr>
          <a:xfrm flipV="1">
            <a:off x="1842909" y="4314274"/>
            <a:ext cx="57463" cy="13532"/>
          </a:xfrm>
          <a:prstGeom prst="line">
            <a:avLst/>
          </a:prstGeom>
          <a:noFill/>
          <a:ln w="25400">
            <a:solidFill>
              <a:srgbClr val="C8414C"/>
            </a:solidFill>
            <a:prstDash val="solid"/>
          </a:ln>
        </p:spPr>
      </p:sp>
      <p:sp>
        <p:nvSpPr>
          <p:cNvPr id="156" name="Shape 154"/>
          <p:cNvSpPr/>
          <p:nvPr/>
        </p:nvSpPr>
        <p:spPr>
          <a:xfrm flipV="1">
            <a:off x="1900371" y="4298660"/>
            <a:ext cx="66303" cy="15614"/>
          </a:xfrm>
          <a:prstGeom prst="line">
            <a:avLst/>
          </a:prstGeom>
          <a:noFill/>
          <a:ln w="25400">
            <a:solidFill>
              <a:srgbClr val="C8414C"/>
            </a:solidFill>
            <a:prstDash val="solid"/>
          </a:ln>
        </p:spPr>
      </p:sp>
      <p:sp>
        <p:nvSpPr>
          <p:cNvPr id="157" name="Shape 155"/>
          <p:cNvSpPr/>
          <p:nvPr/>
        </p:nvSpPr>
        <p:spPr>
          <a:xfrm flipV="1">
            <a:off x="1966674" y="4280964"/>
            <a:ext cx="75143" cy="17696"/>
          </a:xfrm>
          <a:prstGeom prst="line">
            <a:avLst/>
          </a:prstGeom>
          <a:noFill/>
          <a:ln w="25400">
            <a:solidFill>
              <a:srgbClr val="C8414C"/>
            </a:solidFill>
            <a:prstDash val="solid"/>
          </a:ln>
        </p:spPr>
      </p:sp>
      <p:sp>
        <p:nvSpPr>
          <p:cNvPr id="158" name="Shape 156"/>
          <p:cNvSpPr/>
          <p:nvPr/>
        </p:nvSpPr>
        <p:spPr>
          <a:xfrm flipV="1">
            <a:off x="2041818" y="4261186"/>
            <a:ext cx="83984" cy="19778"/>
          </a:xfrm>
          <a:prstGeom prst="line">
            <a:avLst/>
          </a:prstGeom>
          <a:noFill/>
          <a:ln w="25400">
            <a:solidFill>
              <a:srgbClr val="C8414C"/>
            </a:solidFill>
            <a:prstDash val="solid"/>
          </a:ln>
        </p:spPr>
      </p:sp>
      <p:sp>
        <p:nvSpPr>
          <p:cNvPr id="159" name="Shape 157"/>
          <p:cNvSpPr/>
          <p:nvPr/>
        </p:nvSpPr>
        <p:spPr>
          <a:xfrm flipV="1">
            <a:off x="2125801" y="4239326"/>
            <a:ext cx="92824" cy="21860"/>
          </a:xfrm>
          <a:prstGeom prst="line">
            <a:avLst/>
          </a:prstGeom>
          <a:noFill/>
          <a:ln w="25400">
            <a:solidFill>
              <a:srgbClr val="C8414C"/>
            </a:solidFill>
            <a:prstDash val="solid"/>
          </a:ln>
        </p:spPr>
      </p:sp>
      <p:sp>
        <p:nvSpPr>
          <p:cNvPr id="160" name="Shape 158"/>
          <p:cNvSpPr/>
          <p:nvPr/>
        </p:nvSpPr>
        <p:spPr>
          <a:xfrm flipV="1">
            <a:off x="2218626" y="4215384"/>
            <a:ext cx="101664" cy="23942"/>
          </a:xfrm>
          <a:prstGeom prst="line">
            <a:avLst/>
          </a:prstGeom>
          <a:noFill/>
          <a:ln w="25400">
            <a:solidFill>
              <a:srgbClr val="C8414C"/>
            </a:solidFill>
            <a:prstDash val="solid"/>
          </a:ln>
        </p:spPr>
      </p:sp>
      <p:sp>
        <p:nvSpPr>
          <p:cNvPr id="161" name="Shape 159"/>
          <p:cNvSpPr/>
          <p:nvPr/>
        </p:nvSpPr>
        <p:spPr>
          <a:xfrm flipV="1">
            <a:off x="2320290" y="4188146"/>
            <a:ext cx="114373" cy="27238"/>
          </a:xfrm>
          <a:prstGeom prst="line">
            <a:avLst/>
          </a:prstGeom>
          <a:noFill/>
          <a:ln w="25400">
            <a:solidFill>
              <a:srgbClr val="C8414C"/>
            </a:solidFill>
            <a:prstDash val="solid"/>
          </a:ln>
        </p:spPr>
      </p:sp>
      <p:sp>
        <p:nvSpPr>
          <p:cNvPr id="162" name="Shape 160"/>
          <p:cNvSpPr/>
          <p:nvPr/>
        </p:nvSpPr>
        <p:spPr>
          <a:xfrm flipV="1">
            <a:off x="2434663" y="4157091"/>
            <a:ext cx="128738" cy="31055"/>
          </a:xfrm>
          <a:prstGeom prst="line">
            <a:avLst/>
          </a:prstGeom>
          <a:noFill/>
          <a:ln w="25400">
            <a:solidFill>
              <a:srgbClr val="C8414C"/>
            </a:solidFill>
            <a:prstDash val="solid"/>
          </a:ln>
        </p:spPr>
      </p:sp>
      <p:sp>
        <p:nvSpPr>
          <p:cNvPr id="163" name="Shape 161"/>
          <p:cNvSpPr/>
          <p:nvPr/>
        </p:nvSpPr>
        <p:spPr>
          <a:xfrm flipV="1">
            <a:off x="2563401" y="4123260"/>
            <a:ext cx="139789" cy="33831"/>
          </a:xfrm>
          <a:prstGeom prst="line">
            <a:avLst/>
          </a:prstGeom>
          <a:noFill/>
          <a:ln w="25400">
            <a:solidFill>
              <a:srgbClr val="C8414C"/>
            </a:solidFill>
            <a:prstDash val="solid"/>
          </a:ln>
        </p:spPr>
      </p:sp>
      <p:sp>
        <p:nvSpPr>
          <p:cNvPr id="164" name="Shape 162"/>
          <p:cNvSpPr/>
          <p:nvPr/>
        </p:nvSpPr>
        <p:spPr>
          <a:xfrm flipV="1">
            <a:off x="2703189" y="4087695"/>
            <a:ext cx="147524" cy="35566"/>
          </a:xfrm>
          <a:prstGeom prst="line">
            <a:avLst/>
          </a:prstGeom>
          <a:noFill/>
          <a:ln w="25400">
            <a:solidFill>
              <a:srgbClr val="C8414C"/>
            </a:solidFill>
            <a:prstDash val="solid"/>
          </a:ln>
        </p:spPr>
      </p:sp>
      <p:sp>
        <p:nvSpPr>
          <p:cNvPr id="165" name="Shape 163"/>
          <p:cNvSpPr/>
          <p:nvPr/>
        </p:nvSpPr>
        <p:spPr>
          <a:xfrm flipV="1">
            <a:off x="2850713" y="4051435"/>
            <a:ext cx="151944" cy="36260"/>
          </a:xfrm>
          <a:prstGeom prst="line">
            <a:avLst/>
          </a:prstGeom>
          <a:noFill/>
          <a:ln w="25400">
            <a:solidFill>
              <a:srgbClr val="C8414C"/>
            </a:solidFill>
            <a:prstDash val="solid"/>
          </a:ln>
        </p:spPr>
      </p:sp>
      <p:sp>
        <p:nvSpPr>
          <p:cNvPr id="166" name="Shape 164"/>
          <p:cNvSpPr/>
          <p:nvPr/>
        </p:nvSpPr>
        <p:spPr>
          <a:xfrm flipV="1">
            <a:off x="3002658" y="4015522"/>
            <a:ext cx="153049" cy="35913"/>
          </a:xfrm>
          <a:prstGeom prst="line">
            <a:avLst/>
          </a:prstGeom>
          <a:noFill/>
          <a:ln w="25400">
            <a:solidFill>
              <a:srgbClr val="C8414C"/>
            </a:solidFill>
            <a:prstDash val="solid"/>
          </a:ln>
        </p:spPr>
      </p:sp>
      <p:sp>
        <p:nvSpPr>
          <p:cNvPr id="167" name="Shape 165"/>
          <p:cNvSpPr/>
          <p:nvPr/>
        </p:nvSpPr>
        <p:spPr>
          <a:xfrm flipV="1">
            <a:off x="3155707" y="3980998"/>
            <a:ext cx="150839" cy="34525"/>
          </a:xfrm>
          <a:prstGeom prst="line">
            <a:avLst/>
          </a:prstGeom>
          <a:noFill/>
          <a:ln w="25400">
            <a:solidFill>
              <a:srgbClr val="C8414C"/>
            </a:solidFill>
            <a:prstDash val="solid"/>
          </a:ln>
        </p:spPr>
      </p:sp>
      <p:sp>
        <p:nvSpPr>
          <p:cNvPr id="168" name="Shape 166"/>
          <p:cNvSpPr/>
          <p:nvPr/>
        </p:nvSpPr>
        <p:spPr>
          <a:xfrm flipV="1">
            <a:off x="3306546" y="3948902"/>
            <a:ext cx="145314" cy="32096"/>
          </a:xfrm>
          <a:prstGeom prst="line">
            <a:avLst/>
          </a:prstGeom>
          <a:noFill/>
          <a:ln w="25400">
            <a:solidFill>
              <a:srgbClr val="C8414C"/>
            </a:solidFill>
            <a:prstDash val="solid"/>
          </a:ln>
        </p:spPr>
      </p:sp>
      <p:sp>
        <p:nvSpPr>
          <p:cNvPr id="169" name="Shape 167"/>
          <p:cNvSpPr/>
          <p:nvPr/>
        </p:nvSpPr>
        <p:spPr>
          <a:xfrm flipV="1">
            <a:off x="3451860" y="3918714"/>
            <a:ext cx="141446" cy="30187"/>
          </a:xfrm>
          <a:prstGeom prst="line">
            <a:avLst/>
          </a:prstGeom>
          <a:noFill/>
          <a:ln w="25400">
            <a:solidFill>
              <a:srgbClr val="C8414C"/>
            </a:solidFill>
            <a:prstDash val="solid"/>
          </a:ln>
        </p:spPr>
      </p:sp>
      <p:sp>
        <p:nvSpPr>
          <p:cNvPr id="170" name="Shape 168"/>
          <p:cNvSpPr/>
          <p:nvPr/>
        </p:nvSpPr>
        <p:spPr>
          <a:xfrm flipV="1">
            <a:off x="3593306" y="3889221"/>
            <a:ext cx="141446" cy="29493"/>
          </a:xfrm>
          <a:prstGeom prst="line">
            <a:avLst/>
          </a:prstGeom>
          <a:noFill/>
          <a:ln w="25400">
            <a:solidFill>
              <a:srgbClr val="C8414C"/>
            </a:solidFill>
            <a:prstDash val="solid"/>
          </a:ln>
        </p:spPr>
      </p:sp>
      <p:sp>
        <p:nvSpPr>
          <p:cNvPr id="171" name="Shape 169"/>
          <p:cNvSpPr/>
          <p:nvPr/>
        </p:nvSpPr>
        <p:spPr>
          <a:xfrm flipV="1">
            <a:off x="3734753" y="3860421"/>
            <a:ext cx="141446" cy="28800"/>
          </a:xfrm>
          <a:prstGeom prst="line">
            <a:avLst/>
          </a:prstGeom>
          <a:noFill/>
          <a:ln w="25400">
            <a:solidFill>
              <a:srgbClr val="C8414C"/>
            </a:solidFill>
            <a:prstDash val="solid"/>
          </a:ln>
        </p:spPr>
      </p:sp>
      <p:sp>
        <p:nvSpPr>
          <p:cNvPr id="172" name="Shape 170"/>
          <p:cNvSpPr/>
          <p:nvPr/>
        </p:nvSpPr>
        <p:spPr>
          <a:xfrm flipV="1">
            <a:off x="3876199" y="3832316"/>
            <a:ext cx="141446" cy="28106"/>
          </a:xfrm>
          <a:prstGeom prst="line">
            <a:avLst/>
          </a:prstGeom>
          <a:noFill/>
          <a:ln w="25400">
            <a:solidFill>
              <a:srgbClr val="C8414C"/>
            </a:solidFill>
            <a:prstDash val="solid"/>
          </a:ln>
        </p:spPr>
      </p:sp>
      <p:sp>
        <p:nvSpPr>
          <p:cNvPr id="173" name="Shape 171"/>
          <p:cNvSpPr/>
          <p:nvPr/>
        </p:nvSpPr>
        <p:spPr>
          <a:xfrm flipV="1">
            <a:off x="4017645" y="3804904"/>
            <a:ext cx="141446" cy="27412"/>
          </a:xfrm>
          <a:prstGeom prst="line">
            <a:avLst/>
          </a:prstGeom>
          <a:noFill/>
          <a:ln w="25400">
            <a:solidFill>
              <a:srgbClr val="C8414C"/>
            </a:solidFill>
            <a:prstDash val="solid"/>
          </a:ln>
        </p:spPr>
      </p:sp>
      <p:sp>
        <p:nvSpPr>
          <p:cNvPr id="174" name="Shape 172"/>
          <p:cNvSpPr/>
          <p:nvPr/>
        </p:nvSpPr>
        <p:spPr>
          <a:xfrm flipV="1">
            <a:off x="4159091" y="3778187"/>
            <a:ext cx="141446" cy="26718"/>
          </a:xfrm>
          <a:prstGeom prst="line">
            <a:avLst/>
          </a:prstGeom>
          <a:noFill/>
          <a:ln w="25400">
            <a:solidFill>
              <a:srgbClr val="C8414C"/>
            </a:solidFill>
            <a:prstDash val="solid"/>
          </a:ln>
        </p:spPr>
      </p:sp>
      <p:sp>
        <p:nvSpPr>
          <p:cNvPr id="175" name="Shape 173"/>
          <p:cNvSpPr/>
          <p:nvPr/>
        </p:nvSpPr>
        <p:spPr>
          <a:xfrm flipV="1">
            <a:off x="4300538" y="3752163"/>
            <a:ext cx="141446" cy="26024"/>
          </a:xfrm>
          <a:prstGeom prst="line">
            <a:avLst/>
          </a:prstGeom>
          <a:noFill/>
          <a:ln w="25400">
            <a:solidFill>
              <a:srgbClr val="C8414C"/>
            </a:solidFill>
            <a:prstDash val="solid"/>
          </a:ln>
        </p:spPr>
      </p:sp>
      <p:sp>
        <p:nvSpPr>
          <p:cNvPr id="176" name="Shape 174"/>
          <p:cNvSpPr/>
          <p:nvPr/>
        </p:nvSpPr>
        <p:spPr>
          <a:xfrm flipV="1">
            <a:off x="4441984" y="3726833"/>
            <a:ext cx="141446" cy="25330"/>
          </a:xfrm>
          <a:prstGeom prst="line">
            <a:avLst/>
          </a:prstGeom>
          <a:noFill/>
          <a:ln w="25400">
            <a:solidFill>
              <a:srgbClr val="C8414C"/>
            </a:solidFill>
            <a:prstDash val="solid"/>
          </a:ln>
        </p:spPr>
      </p:sp>
      <p:sp>
        <p:nvSpPr>
          <p:cNvPr id="177" name="Shape 175"/>
          <p:cNvSpPr/>
          <p:nvPr/>
        </p:nvSpPr>
        <p:spPr>
          <a:xfrm flipV="1">
            <a:off x="4583430" y="3701287"/>
            <a:ext cx="149182" cy="25547"/>
          </a:xfrm>
          <a:prstGeom prst="line">
            <a:avLst/>
          </a:prstGeom>
          <a:noFill/>
          <a:ln w="25400">
            <a:solidFill>
              <a:srgbClr val="C8414C"/>
            </a:solidFill>
            <a:prstDash val="solid"/>
          </a:ln>
        </p:spPr>
      </p:sp>
      <p:sp>
        <p:nvSpPr>
          <p:cNvPr id="178" name="Shape 176"/>
          <p:cNvSpPr/>
          <p:nvPr/>
        </p:nvSpPr>
        <p:spPr>
          <a:xfrm flipV="1">
            <a:off x="4732612" y="3675133"/>
            <a:ext cx="160232" cy="26154"/>
          </a:xfrm>
          <a:prstGeom prst="line">
            <a:avLst/>
          </a:prstGeom>
          <a:noFill/>
          <a:ln w="25400">
            <a:solidFill>
              <a:srgbClr val="C8414C"/>
            </a:solidFill>
            <a:prstDash val="solid"/>
          </a:ln>
        </p:spPr>
      </p:sp>
      <p:sp>
        <p:nvSpPr>
          <p:cNvPr id="179" name="Shape 177"/>
          <p:cNvSpPr/>
          <p:nvPr/>
        </p:nvSpPr>
        <p:spPr>
          <a:xfrm flipV="1">
            <a:off x="4892844" y="3649153"/>
            <a:ext cx="164652" cy="25980"/>
          </a:xfrm>
          <a:prstGeom prst="line">
            <a:avLst/>
          </a:prstGeom>
          <a:noFill/>
          <a:ln w="25400">
            <a:solidFill>
              <a:srgbClr val="C8414C"/>
            </a:solidFill>
            <a:prstDash val="solid"/>
          </a:ln>
        </p:spPr>
      </p:sp>
      <p:sp>
        <p:nvSpPr>
          <p:cNvPr id="180" name="Shape 178"/>
          <p:cNvSpPr/>
          <p:nvPr/>
        </p:nvSpPr>
        <p:spPr>
          <a:xfrm flipV="1">
            <a:off x="5057496" y="3624126"/>
            <a:ext cx="162442" cy="25026"/>
          </a:xfrm>
          <a:prstGeom prst="line">
            <a:avLst/>
          </a:prstGeom>
          <a:noFill/>
          <a:ln w="25400">
            <a:solidFill>
              <a:srgbClr val="C8414C"/>
            </a:solidFill>
            <a:prstDash val="solid"/>
          </a:ln>
        </p:spPr>
      </p:sp>
      <p:sp>
        <p:nvSpPr>
          <p:cNvPr id="181" name="Shape 179"/>
          <p:cNvSpPr/>
          <p:nvPr/>
        </p:nvSpPr>
        <p:spPr>
          <a:xfrm flipV="1">
            <a:off x="5219938" y="3600835"/>
            <a:ext cx="153602" cy="23291"/>
          </a:xfrm>
          <a:prstGeom prst="line">
            <a:avLst/>
          </a:prstGeom>
          <a:noFill/>
          <a:ln w="25400">
            <a:solidFill>
              <a:srgbClr val="C8414C"/>
            </a:solidFill>
            <a:prstDash val="solid"/>
          </a:ln>
        </p:spPr>
      </p:sp>
      <p:sp>
        <p:nvSpPr>
          <p:cNvPr id="182" name="Shape 180"/>
          <p:cNvSpPr/>
          <p:nvPr/>
        </p:nvSpPr>
        <p:spPr>
          <a:xfrm flipV="1">
            <a:off x="5373540" y="3580060"/>
            <a:ext cx="138131" cy="20776"/>
          </a:xfrm>
          <a:prstGeom prst="line">
            <a:avLst/>
          </a:prstGeom>
          <a:noFill/>
          <a:ln w="25400">
            <a:solidFill>
              <a:srgbClr val="C8414C"/>
            </a:solidFill>
            <a:prstDash val="solid"/>
          </a:ln>
        </p:spPr>
      </p:sp>
      <p:sp>
        <p:nvSpPr>
          <p:cNvPr id="183" name="Shape 181"/>
          <p:cNvSpPr/>
          <p:nvPr/>
        </p:nvSpPr>
        <p:spPr>
          <a:xfrm flipV="1">
            <a:off x="5511671" y="3562580"/>
            <a:ext cx="116030" cy="17479"/>
          </a:xfrm>
          <a:prstGeom prst="line">
            <a:avLst/>
          </a:prstGeom>
          <a:noFill/>
          <a:ln w="25400">
            <a:solidFill>
              <a:srgbClr val="C8414C"/>
            </a:solidFill>
            <a:prstDash val="solid"/>
          </a:ln>
        </p:spPr>
      </p:sp>
      <p:sp>
        <p:nvSpPr>
          <p:cNvPr id="184" name="Shape 182"/>
          <p:cNvSpPr/>
          <p:nvPr/>
        </p:nvSpPr>
        <p:spPr>
          <a:xfrm flipV="1">
            <a:off x="5627701" y="3549178"/>
            <a:ext cx="87299" cy="13402"/>
          </a:xfrm>
          <a:prstGeom prst="line">
            <a:avLst/>
          </a:prstGeom>
          <a:noFill/>
          <a:ln w="25400">
            <a:solidFill>
              <a:srgbClr val="C8414C"/>
            </a:solidFill>
            <a:prstDash val="solid"/>
          </a:ln>
        </p:spPr>
      </p:sp>
      <p:sp>
        <p:nvSpPr>
          <p:cNvPr id="185" name="Shape 183"/>
          <p:cNvSpPr/>
          <p:nvPr/>
        </p:nvSpPr>
        <p:spPr>
          <a:xfrm>
            <a:off x="1708785" y="4302905"/>
            <a:ext cx="91440" cy="91440"/>
          </a:xfrm>
          <a:prstGeom prst="line">
            <a:avLst/>
          </a:prstGeom>
          <a:noFill/>
          <a:ln w="15875">
            <a:solidFill>
              <a:srgbClr val="C8414C"/>
            </a:solidFill>
            <a:prstDash val="solid"/>
          </a:ln>
        </p:spPr>
      </p:sp>
      <p:sp>
        <p:nvSpPr>
          <p:cNvPr id="186" name="Shape 184"/>
          <p:cNvSpPr/>
          <p:nvPr/>
        </p:nvSpPr>
        <p:spPr>
          <a:xfrm flipV="1">
            <a:off x="1708785" y="4302905"/>
            <a:ext cx="91440" cy="91440"/>
          </a:xfrm>
          <a:prstGeom prst="line">
            <a:avLst/>
          </a:prstGeom>
          <a:noFill/>
          <a:ln w="15875">
            <a:solidFill>
              <a:srgbClr val="C8414C"/>
            </a:solidFill>
            <a:prstDash val="solid"/>
          </a:ln>
        </p:spPr>
      </p:sp>
      <p:sp>
        <p:nvSpPr>
          <p:cNvPr id="187" name="Shape 185"/>
          <p:cNvSpPr/>
          <p:nvPr/>
        </p:nvSpPr>
        <p:spPr>
          <a:xfrm>
            <a:off x="2274570" y="4169664"/>
            <a:ext cx="91440" cy="91440"/>
          </a:xfrm>
          <a:prstGeom prst="line">
            <a:avLst/>
          </a:prstGeom>
          <a:noFill/>
          <a:ln w="15875">
            <a:solidFill>
              <a:srgbClr val="C8414C"/>
            </a:solidFill>
            <a:prstDash val="solid"/>
          </a:ln>
        </p:spPr>
      </p:sp>
      <p:sp>
        <p:nvSpPr>
          <p:cNvPr id="188" name="Shape 186"/>
          <p:cNvSpPr/>
          <p:nvPr/>
        </p:nvSpPr>
        <p:spPr>
          <a:xfrm flipV="1">
            <a:off x="2274570" y="4169664"/>
            <a:ext cx="91440" cy="91440"/>
          </a:xfrm>
          <a:prstGeom prst="line">
            <a:avLst/>
          </a:prstGeom>
          <a:noFill/>
          <a:ln w="15875">
            <a:solidFill>
              <a:srgbClr val="C8414C"/>
            </a:solidFill>
            <a:prstDash val="solid"/>
          </a:ln>
        </p:spPr>
      </p:sp>
      <p:sp>
        <p:nvSpPr>
          <p:cNvPr id="189" name="Shape 187"/>
          <p:cNvSpPr/>
          <p:nvPr/>
        </p:nvSpPr>
        <p:spPr>
          <a:xfrm>
            <a:off x="3406140" y="3903182"/>
            <a:ext cx="91440" cy="91440"/>
          </a:xfrm>
          <a:prstGeom prst="line">
            <a:avLst/>
          </a:prstGeom>
          <a:noFill/>
          <a:ln w="15875">
            <a:solidFill>
              <a:srgbClr val="C8414C"/>
            </a:solidFill>
            <a:prstDash val="solid"/>
          </a:ln>
        </p:spPr>
      </p:sp>
      <p:sp>
        <p:nvSpPr>
          <p:cNvPr id="190" name="Shape 188"/>
          <p:cNvSpPr/>
          <p:nvPr/>
        </p:nvSpPr>
        <p:spPr>
          <a:xfrm flipV="1">
            <a:off x="3406140" y="3903182"/>
            <a:ext cx="91440" cy="91440"/>
          </a:xfrm>
          <a:prstGeom prst="line">
            <a:avLst/>
          </a:prstGeom>
          <a:noFill/>
          <a:ln w="15875">
            <a:solidFill>
              <a:srgbClr val="C8414C"/>
            </a:solidFill>
            <a:prstDash val="solid"/>
          </a:ln>
        </p:spPr>
      </p:sp>
      <p:sp>
        <p:nvSpPr>
          <p:cNvPr id="191" name="Shape 189"/>
          <p:cNvSpPr/>
          <p:nvPr/>
        </p:nvSpPr>
        <p:spPr>
          <a:xfrm>
            <a:off x="4537710" y="3681113"/>
            <a:ext cx="91440" cy="91440"/>
          </a:xfrm>
          <a:prstGeom prst="line">
            <a:avLst/>
          </a:prstGeom>
          <a:noFill/>
          <a:ln w="15875">
            <a:solidFill>
              <a:srgbClr val="C8414C"/>
            </a:solidFill>
            <a:prstDash val="solid"/>
          </a:ln>
        </p:spPr>
      </p:sp>
      <p:sp>
        <p:nvSpPr>
          <p:cNvPr id="192" name="Shape 190"/>
          <p:cNvSpPr/>
          <p:nvPr/>
        </p:nvSpPr>
        <p:spPr>
          <a:xfrm flipV="1">
            <a:off x="4537710" y="3681113"/>
            <a:ext cx="91440" cy="91440"/>
          </a:xfrm>
          <a:prstGeom prst="line">
            <a:avLst/>
          </a:prstGeom>
          <a:noFill/>
          <a:ln w="15875">
            <a:solidFill>
              <a:srgbClr val="C8414C"/>
            </a:solidFill>
            <a:prstDash val="solid"/>
          </a:ln>
        </p:spPr>
      </p:sp>
      <p:sp>
        <p:nvSpPr>
          <p:cNvPr id="193" name="Shape 191"/>
          <p:cNvSpPr/>
          <p:nvPr/>
        </p:nvSpPr>
        <p:spPr>
          <a:xfrm>
            <a:off x="5669280" y="3503458"/>
            <a:ext cx="91440" cy="91440"/>
          </a:xfrm>
          <a:prstGeom prst="line">
            <a:avLst/>
          </a:prstGeom>
          <a:noFill/>
          <a:ln w="15875">
            <a:solidFill>
              <a:srgbClr val="C8414C"/>
            </a:solidFill>
            <a:prstDash val="solid"/>
          </a:ln>
        </p:spPr>
      </p:sp>
      <p:sp>
        <p:nvSpPr>
          <p:cNvPr id="194" name="Shape 192"/>
          <p:cNvSpPr/>
          <p:nvPr/>
        </p:nvSpPr>
        <p:spPr>
          <a:xfrm flipV="1">
            <a:off x="5669280" y="3503458"/>
            <a:ext cx="91440" cy="91440"/>
          </a:xfrm>
          <a:prstGeom prst="line">
            <a:avLst/>
          </a:prstGeom>
          <a:noFill/>
          <a:ln w="15875">
            <a:solidFill>
              <a:srgbClr val="C8414C"/>
            </a:solidFill>
            <a:prstDash val="solid"/>
          </a:ln>
        </p:spPr>
      </p:sp>
      <p:sp>
        <p:nvSpPr>
          <p:cNvPr id="195" name="Text 193"/>
          <p:cNvSpPr/>
          <p:nvPr/>
        </p:nvSpPr>
        <p:spPr>
          <a:xfrm>
            <a:off x="4754880" y="3274858"/>
            <a:ext cx="914400" cy="201168"/>
          </a:xfrm>
          <a:prstGeom prst="rect">
            <a:avLst/>
          </a:prstGeom>
          <a:noFill/>
          <a:ln/>
        </p:spPr>
        <p:txBody>
          <a:bodyPr wrap="square" lIns="0" tIns="0" rIns="0" bIns="0" rtlCol="0" anchor="ctr"/>
          <a:lstStyle/>
          <a:p>
            <a:pPr algn="r" indent="0" marL="0">
              <a:buNone/>
            </a:pPr>
            <a:r>
              <a:rPr lang="en-US" sz="1000" b="1" dirty="0">
                <a:solidFill>
                  <a:srgbClr val="C8414C"/>
                </a:solidFill>
                <a:latin typeface="Calibri" pitchFamily="34" charset="0"/>
                <a:ea typeface="Calibri" pitchFamily="34" charset="-122"/>
                <a:cs typeface="Calibri" pitchFamily="34" charset="-120"/>
              </a:rPr>
              <a:t>550 °C</a:t>
            </a:r>
            <a:endParaRPr lang="en-US" sz="1000" dirty="0"/>
          </a:p>
        </p:txBody>
      </p:sp>
      <p:sp>
        <p:nvSpPr>
          <p:cNvPr id="196" name="Shape 194"/>
          <p:cNvSpPr/>
          <p:nvPr/>
        </p:nvSpPr>
        <p:spPr>
          <a:xfrm flipV="1">
            <a:off x="3451860" y="2305594"/>
            <a:ext cx="91" cy="2220686"/>
          </a:xfrm>
          <a:prstGeom prst="line">
            <a:avLst/>
          </a:prstGeom>
          <a:noFill/>
          <a:ln w="12700">
            <a:solidFill>
              <a:srgbClr val="6B7385"/>
            </a:solidFill>
            <a:prstDash val="dash"/>
          </a:ln>
        </p:spPr>
      </p:sp>
      <p:sp>
        <p:nvSpPr>
          <p:cNvPr id="197" name="Text 195"/>
          <p:cNvSpPr/>
          <p:nvPr/>
        </p:nvSpPr>
        <p:spPr>
          <a:xfrm>
            <a:off x="640080" y="4956048"/>
            <a:ext cx="512064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Most NH₃: </a:t>
            </a:r>
            <a:r>
              <a:rPr lang="en-US" sz="1100" b="1" dirty="0">
                <a:solidFill>
                  <a:srgbClr val="2A1F3D"/>
                </a:solidFill>
                <a:latin typeface="Calibri" pitchFamily="34" charset="0"/>
                <a:ea typeface="Calibri" pitchFamily="34" charset="-122"/>
                <a:cs typeface="Calibri" pitchFamily="34" charset="-120"/>
              </a:rPr>
              <a:t>high pressure</a:t>
            </a:r>
            <a:r>
              <a:rPr lang="en-US" sz="1100" b="1" dirty="0">
                <a:solidFill>
                  <a:srgbClr val="2A1F3D"/>
                </a:solidFill>
                <a:latin typeface="Calibri" pitchFamily="34" charset="0"/>
                <a:ea typeface="Calibri" pitchFamily="34" charset="-122"/>
                <a:cs typeface="Calibri" pitchFamily="34" charset="-120"/>
              </a:rPr>
              <a:t> and </a:t>
            </a:r>
            <a:r>
              <a:rPr lang="en-US" sz="1100" b="1" dirty="0">
                <a:solidFill>
                  <a:srgbClr val="2A1F3D"/>
                </a:solidFill>
                <a:latin typeface="Calibri" pitchFamily="34" charset="0"/>
                <a:ea typeface="Calibri" pitchFamily="34" charset="-122"/>
                <a:cs typeface="Calibri" pitchFamily="34" charset="-120"/>
              </a:rPr>
              <a:t>low temperature</a:t>
            </a:r>
            <a:endParaRPr lang="en-US" sz="1100" dirty="0"/>
          </a:p>
        </p:txBody>
      </p:sp>
      <p:sp>
        <p:nvSpPr>
          <p:cNvPr id="198" name="Shape 196"/>
          <p:cNvSpPr/>
          <p:nvPr/>
        </p:nvSpPr>
        <p:spPr>
          <a:xfrm>
            <a:off x="6217920" y="1188720"/>
            <a:ext cx="5559552" cy="2606040"/>
          </a:xfrm>
          <a:prstGeom prst="roundRect">
            <a:avLst>
              <a:gd name="adj" fmla="val 2105"/>
            </a:avLst>
          </a:prstGeom>
          <a:solidFill>
            <a:srgbClr val="F8F5FC"/>
          </a:solidFill>
          <a:ln w="9525">
            <a:solidFill>
              <a:srgbClr val="DDD3EC"/>
            </a:solidFill>
            <a:prstDash val="solid"/>
          </a:ln>
        </p:spPr>
      </p:sp>
      <p:sp>
        <p:nvSpPr>
          <p:cNvPr id="199" name="Text 197"/>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Putting the rules together</a:t>
            </a:r>
            <a:endParaRPr lang="en-US" sz="1300" dirty="0"/>
          </a:p>
        </p:txBody>
      </p:sp>
      <p:sp>
        <p:nvSpPr>
          <p:cNvPr id="200" name="Text 198"/>
          <p:cNvSpPr/>
          <p:nvPr/>
        </p:nvSpPr>
        <p:spPr>
          <a:xfrm>
            <a:off x="6382512" y="1609344"/>
            <a:ext cx="5230368" cy="211226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Use the balanced equation: count </a:t>
            </a:r>
            <a:r>
              <a:rPr lang="en-US" sz="1050" b="1" dirty="0">
                <a:solidFill>
                  <a:srgbClr val="262B3A"/>
                </a:solidFill>
                <a:latin typeface="Calibri" pitchFamily="34" charset="0"/>
                <a:ea typeface="Calibri" pitchFamily="34" charset="-122"/>
                <a:cs typeface="Calibri" pitchFamily="34" charset="-120"/>
              </a:rPr>
              <a:t>gas molecules</a:t>
            </a:r>
            <a:r>
              <a:rPr lang="en-US" sz="1050" dirty="0">
                <a:solidFill>
                  <a:srgbClr val="262B3A"/>
                </a:solidFill>
                <a:latin typeface="Calibri" pitchFamily="34" charset="0"/>
                <a:ea typeface="Calibri" pitchFamily="34" charset="-122"/>
                <a:cs typeface="Calibri" pitchFamily="34" charset="-120"/>
              </a:rPr>
              <a:t> and check whether the forward reaction is </a:t>
            </a:r>
            <a:r>
              <a:rPr lang="en-US" sz="1050" b="1" dirty="0">
                <a:solidFill>
                  <a:srgbClr val="262B3A"/>
                </a:solidFill>
                <a:latin typeface="Calibri" pitchFamily="34" charset="0"/>
                <a:ea typeface="Calibri" pitchFamily="34" charset="-122"/>
                <a:cs typeface="Calibri" pitchFamily="34" charset="-120"/>
              </a:rPr>
              <a:t>exo-</a:t>
            </a:r>
            <a:r>
              <a:rPr lang="en-US" sz="1050" dirty="0">
                <a:solidFill>
                  <a:srgbClr val="262B3A"/>
                </a:solidFill>
                <a:latin typeface="Calibri" pitchFamily="34" charset="0"/>
                <a:ea typeface="Calibri" pitchFamily="34" charset="-122"/>
                <a:cs typeface="Calibri" pitchFamily="34" charset="-120"/>
              </a:rPr>
              <a:t> or </a:t>
            </a:r>
            <a:r>
              <a:rPr lang="en-US" sz="1050" b="1" dirty="0">
                <a:solidFill>
                  <a:srgbClr val="262B3A"/>
                </a:solidFill>
                <a:latin typeface="Calibri" pitchFamily="34" charset="0"/>
                <a:ea typeface="Calibri" pitchFamily="34" charset="-122"/>
                <a:cs typeface="Calibri" pitchFamily="34" charset="-120"/>
              </a:rPr>
              <a:t>endothermic</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For N₂ + 3H₂ ⇌ 2NH₃ (exothermic, 4 → 2 molecules): </a:t>
            </a:r>
            <a:r>
              <a:rPr lang="en-US" sz="1050" b="1" dirty="0">
                <a:solidFill>
                  <a:srgbClr val="262B3A"/>
                </a:solidFill>
                <a:latin typeface="Calibri" pitchFamily="34" charset="0"/>
                <a:ea typeface="Calibri" pitchFamily="34" charset="-122"/>
                <a:cs typeface="Calibri" pitchFamily="34" charset="-120"/>
              </a:rPr>
              <a:t>high pressure</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262B3A"/>
                </a:solidFill>
                <a:latin typeface="Calibri" pitchFamily="34" charset="0"/>
                <a:ea typeface="Calibri" pitchFamily="34" charset="-122"/>
                <a:cs typeface="Calibri" pitchFamily="34" charset="-120"/>
              </a:rPr>
              <a:t>low temperature</a:t>
            </a:r>
            <a:r>
              <a:rPr lang="en-US" sz="1050" dirty="0">
                <a:solidFill>
                  <a:srgbClr val="262B3A"/>
                </a:solidFill>
                <a:latin typeface="Calibri" pitchFamily="34" charset="0"/>
                <a:ea typeface="Calibri" pitchFamily="34" charset="-122"/>
                <a:cs typeface="Calibri" pitchFamily="34" charset="-120"/>
              </a:rPr>
              <a:t>, and </a:t>
            </a:r>
            <a:r>
              <a:rPr lang="en-US" sz="1050" b="1" dirty="0">
                <a:solidFill>
                  <a:srgbClr val="262B3A"/>
                </a:solidFill>
                <a:latin typeface="Calibri" pitchFamily="34" charset="0"/>
                <a:ea typeface="Calibri" pitchFamily="34" charset="-122"/>
                <a:cs typeface="Calibri" pitchFamily="34" charset="-120"/>
              </a:rPr>
              <a:t>remove NH₃</a:t>
            </a:r>
            <a:r>
              <a:rPr lang="en-US" sz="1050" dirty="0">
                <a:solidFill>
                  <a:srgbClr val="262B3A"/>
                </a:solidFill>
                <a:latin typeface="Calibri" pitchFamily="34" charset="0"/>
                <a:ea typeface="Calibri" pitchFamily="34" charset="-122"/>
                <a:cs typeface="Calibri" pitchFamily="34" charset="-120"/>
              </a:rPr>
              <a:t> as it forms.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graph agrees: yield </a:t>
            </a:r>
            <a:r>
              <a:rPr lang="en-US" sz="1050" b="1" dirty="0">
                <a:solidFill>
                  <a:srgbClr val="262B3A"/>
                </a:solidFill>
                <a:latin typeface="Calibri" pitchFamily="34" charset="0"/>
                <a:ea typeface="Calibri" pitchFamily="34" charset="-122"/>
                <a:cs typeface="Calibri" pitchFamily="34" charset="-120"/>
              </a:rPr>
              <a:t>rises</a:t>
            </a:r>
            <a:r>
              <a:rPr lang="en-US" sz="1050" dirty="0">
                <a:solidFill>
                  <a:srgbClr val="262B3A"/>
                </a:solidFill>
                <a:latin typeface="Calibri" pitchFamily="34" charset="0"/>
                <a:ea typeface="Calibri" pitchFamily="34" charset="-122"/>
                <a:cs typeface="Calibri" pitchFamily="34" charset="-120"/>
              </a:rPr>
              <a:t> with pressure and </a:t>
            </a:r>
            <a:r>
              <a:rPr lang="en-US" sz="1050" b="1" dirty="0">
                <a:solidFill>
                  <a:srgbClr val="262B3A"/>
                </a:solidFill>
                <a:latin typeface="Calibri" pitchFamily="34" charset="0"/>
                <a:ea typeface="Calibri" pitchFamily="34" charset="-122"/>
                <a:cs typeface="Calibri" pitchFamily="34" charset="-120"/>
              </a:rPr>
              <a:t>falls</a:t>
            </a:r>
            <a:r>
              <a:rPr lang="en-US" sz="1050" dirty="0">
                <a:solidFill>
                  <a:srgbClr val="262B3A"/>
                </a:solidFill>
                <a:latin typeface="Calibri" pitchFamily="34" charset="0"/>
                <a:ea typeface="Calibri" pitchFamily="34" charset="-122"/>
                <a:cs typeface="Calibri" pitchFamily="34" charset="-120"/>
              </a:rPr>
              <a:t> with temperature.</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GRADE 7–9 STRETCH</a:t>
            </a:r>
            <a:r>
              <a:rPr lang="en-US" sz="1050" dirty="0">
                <a:solidFill>
                  <a:srgbClr val="262B3A"/>
                </a:solidFill>
                <a:latin typeface="Calibri" pitchFamily="34" charset="0"/>
                <a:ea typeface="Calibri" pitchFamily="34" charset="-122"/>
                <a:cs typeface="Calibri" pitchFamily="34" charset="-120"/>
              </a:rPr>
              <a:t>: a low temperature is </a:t>
            </a:r>
            <a:r>
              <a:rPr lang="en-US" sz="1050" b="1" dirty="0">
                <a:solidFill>
                  <a:srgbClr val="262B3A"/>
                </a:solidFill>
                <a:latin typeface="Calibri" pitchFamily="34" charset="0"/>
                <a:ea typeface="Calibri" pitchFamily="34" charset="-122"/>
                <a:cs typeface="Calibri" pitchFamily="34" charset="-120"/>
              </a:rPr>
              <a:t>slow</a:t>
            </a:r>
            <a:r>
              <a:rPr lang="en-US" sz="1050" dirty="0">
                <a:solidFill>
                  <a:srgbClr val="262B3A"/>
                </a:solidFill>
                <a:latin typeface="Calibri" pitchFamily="34" charset="0"/>
                <a:ea typeface="Calibri" pitchFamily="34" charset="-122"/>
                <a:cs typeface="Calibri" pitchFamily="34" charset="-120"/>
              </a:rPr>
              <a:t>, and very high pressure is costly and dangerous, so industry uses a </a:t>
            </a:r>
            <a:r>
              <a:rPr lang="en-US" sz="1050" b="1" dirty="0">
                <a:solidFill>
                  <a:srgbClr val="262B3A"/>
                </a:solidFill>
                <a:latin typeface="Calibri" pitchFamily="34" charset="0"/>
                <a:ea typeface="Calibri" pitchFamily="34" charset="-122"/>
                <a:cs typeface="Calibri" pitchFamily="34" charset="-120"/>
              </a:rPr>
              <a:t>compromise</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201" name="Shape 199"/>
          <p:cNvSpPr/>
          <p:nvPr/>
        </p:nvSpPr>
        <p:spPr>
          <a:xfrm>
            <a:off x="6217920" y="3931920"/>
            <a:ext cx="5559552" cy="1783080"/>
          </a:xfrm>
          <a:prstGeom prst="roundRect">
            <a:avLst>
              <a:gd name="adj" fmla="val 3077"/>
            </a:avLst>
          </a:prstGeom>
          <a:solidFill>
            <a:srgbClr val="FFF4E0"/>
          </a:solidFill>
          <a:ln w="9525">
            <a:solidFill>
              <a:srgbClr val="F1D9A8"/>
            </a:solidFill>
            <a:prstDash val="solid"/>
          </a:ln>
        </p:spPr>
      </p:sp>
      <p:sp>
        <p:nvSpPr>
          <p:cNvPr id="202" name="Text 200"/>
          <p:cNvSpPr/>
          <p:nvPr/>
        </p:nvSpPr>
        <p:spPr>
          <a:xfrm>
            <a:off x="6382512" y="400507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reading the graph</a:t>
            </a:r>
            <a:endParaRPr lang="en-US" sz="1300" dirty="0"/>
          </a:p>
        </p:txBody>
      </p:sp>
      <p:sp>
        <p:nvSpPr>
          <p:cNvPr id="203" name="Text 201"/>
          <p:cNvSpPr/>
          <p:nvPr/>
        </p:nvSpPr>
        <p:spPr>
          <a:xfrm>
            <a:off x="6382512" y="4315968"/>
            <a:ext cx="5230368"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Percentage of NH₃ at 200 atm at 350 °C and at 450 °C?</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Read up   </a:t>
            </a:r>
            <a:r>
              <a:rPr lang="en-US" sz="1050" dirty="0">
                <a:solidFill>
                  <a:srgbClr val="262B3A"/>
                </a:solidFill>
                <a:latin typeface="Calibri" pitchFamily="34" charset="0"/>
                <a:ea typeface="Calibri" pitchFamily="34" charset="-122"/>
                <a:cs typeface="Calibri" pitchFamily="34" charset="-120"/>
              </a:rPr>
              <a:t>from 200 atm to each curve, then across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350 °C: </a:t>
            </a:r>
            <a:r>
              <a:rPr lang="en-US" sz="1050" b="1" dirty="0">
                <a:solidFill>
                  <a:srgbClr val="C8414C"/>
                </a:solidFill>
                <a:latin typeface="Calibri" pitchFamily="34" charset="0"/>
                <a:ea typeface="Calibri" pitchFamily="34" charset="-122"/>
                <a:cs typeface="Calibri" pitchFamily="34" charset="-120"/>
              </a:rPr>
              <a:t>50%</a:t>
            </a:r>
            <a:r>
              <a:rPr lang="en-US" sz="1050" b="1" dirty="0">
                <a:solidFill>
                  <a:srgbClr val="C8414C"/>
                </a:solidFill>
                <a:latin typeface="Calibri" pitchFamily="34" charset="0"/>
                <a:ea typeface="Calibri" pitchFamily="34" charset="-122"/>
                <a:cs typeface="Calibri" pitchFamily="34" charset="-120"/>
              </a:rPr>
              <a:t>; 450 °C: </a:t>
            </a:r>
            <a:r>
              <a:rPr lang="en-US" sz="1050" b="1" dirty="0">
                <a:solidFill>
                  <a:srgbClr val="C8414C"/>
                </a:solidFill>
                <a:latin typeface="Calibri" pitchFamily="34" charset="0"/>
                <a:ea typeface="Calibri" pitchFamily="34" charset="-122"/>
                <a:cs typeface="Calibri" pitchFamily="34" charset="-120"/>
              </a:rPr>
              <a:t>28%</a:t>
            </a:r>
            <a:r>
              <a:rPr lang="en-US" sz="1050" b="1" dirty="0">
                <a:solidFill>
                  <a:srgbClr val="C8414C"/>
                </a:solidFill>
                <a:latin typeface="Calibri" pitchFamily="34" charset="0"/>
                <a:ea typeface="Calibri" pitchFamily="34" charset="-122"/>
                <a:cs typeface="Calibri" pitchFamily="34" charset="-120"/>
              </a:rPr>
              <a:t>: lower temperature, more NH₃</a:t>
            </a:r>
            <a:endParaRPr lang="en-US" sz="1050" dirty="0"/>
          </a:p>
        </p:txBody>
      </p:sp>
      <p:sp>
        <p:nvSpPr>
          <p:cNvPr id="204" name="Shape 202"/>
          <p:cNvSpPr/>
          <p:nvPr/>
        </p:nvSpPr>
        <p:spPr>
          <a:xfrm>
            <a:off x="411480" y="5833872"/>
            <a:ext cx="11368735" cy="530352"/>
          </a:xfrm>
          <a:prstGeom prst="rect">
            <a:avLst/>
          </a:prstGeom>
          <a:solidFill>
            <a:srgbClr val="FFF4E0"/>
          </a:solidFill>
          <a:ln w="6350">
            <a:solidFill>
              <a:srgbClr val="F1D9A8"/>
            </a:solidFill>
            <a:prstDash val="solid"/>
          </a:ln>
        </p:spPr>
      </p:sp>
      <p:sp>
        <p:nvSpPr>
          <p:cNvPr id="205" name="Shape 203"/>
          <p:cNvSpPr/>
          <p:nvPr/>
        </p:nvSpPr>
        <p:spPr>
          <a:xfrm>
            <a:off x="411480" y="5833872"/>
            <a:ext cx="82296" cy="530352"/>
          </a:xfrm>
          <a:prstGeom prst="rect">
            <a:avLst/>
          </a:prstGeom>
          <a:solidFill>
            <a:srgbClr val="E39A2F"/>
          </a:solidFill>
          <a:ln w="12700">
            <a:solidFill>
              <a:srgbClr val="E39A2F"/>
            </a:solidFill>
            <a:prstDash val="solid"/>
          </a:ln>
        </p:spPr>
      </p:sp>
      <p:sp>
        <p:nvSpPr>
          <p:cNvPr id="206" name="Text 20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conditions </a:t>
            </a:r>
            <a:r>
              <a:rPr lang="en-US" sz="1150" b="1" dirty="0">
                <a:solidFill>
                  <a:srgbClr val="262B3A"/>
                </a:solidFill>
                <a:latin typeface="Calibri" pitchFamily="34" charset="0"/>
                <a:ea typeface="Calibri" pitchFamily="34" charset="-122"/>
                <a:cs typeface="Calibri" pitchFamily="34" charset="-120"/>
              </a:rPr>
              <a:t>on the graph</a:t>
            </a:r>
            <a:r>
              <a:rPr lang="en-US" sz="1150" dirty="0">
                <a:solidFill>
                  <a:srgbClr val="262B3A"/>
                </a:solidFill>
                <a:latin typeface="Calibri" pitchFamily="34" charset="0"/>
                <a:ea typeface="Calibri" pitchFamily="34" charset="-122"/>
                <a:cs typeface="Calibri" pitchFamily="34" charset="-120"/>
              </a:rPr>
              <a:t> give the </a:t>
            </a:r>
            <a:r>
              <a:rPr lang="en-US" sz="1150" b="1" dirty="0">
                <a:solidFill>
                  <a:srgbClr val="262B3A"/>
                </a:solidFill>
                <a:latin typeface="Calibri" pitchFamily="34" charset="0"/>
                <a:ea typeface="Calibri" pitchFamily="34" charset="-122"/>
                <a:cs typeface="Calibri" pitchFamily="34" charset="-120"/>
              </a:rPr>
              <a:t>highest</a:t>
            </a:r>
            <a:r>
              <a:rPr lang="en-US" sz="1150" dirty="0">
                <a:solidFill>
                  <a:srgbClr val="262B3A"/>
                </a:solidFill>
                <a:latin typeface="Calibri" pitchFamily="34" charset="0"/>
                <a:ea typeface="Calibri" pitchFamily="34" charset="-122"/>
                <a:cs typeface="Calibri" pitchFamily="34" charset="-120"/>
              </a:rPr>
              <a:t> percentage of NH₃? Read the value at </a:t>
            </a:r>
            <a:r>
              <a:rPr lang="en-US" sz="1150" b="1" dirty="0">
                <a:solidFill>
                  <a:srgbClr val="262B3A"/>
                </a:solidFill>
                <a:latin typeface="Calibri" pitchFamily="34" charset="0"/>
                <a:ea typeface="Calibri" pitchFamily="34" charset="-122"/>
                <a:cs typeface="Calibri" pitchFamily="34" charset="-120"/>
              </a:rPr>
              <a:t>550 °C and 400 atm</a:t>
            </a:r>
            <a:r>
              <a:rPr lang="en-US" sz="1150" dirty="0">
                <a:solidFill>
                  <a:srgbClr val="262B3A"/>
                </a:solidFill>
                <a:latin typeface="Calibri" pitchFamily="34" charset="0"/>
                <a:ea typeface="Calibri" pitchFamily="34" charset="-122"/>
                <a:cs typeface="Calibri" pitchFamily="34" charset="-120"/>
              </a:rPr>
              <a:t>. Explain the effect of </a:t>
            </a:r>
            <a:r>
              <a:rPr lang="en-US" sz="1150" b="1" dirty="0">
                <a:solidFill>
                  <a:srgbClr val="262B3A"/>
                </a:solidFill>
                <a:latin typeface="Calibri" pitchFamily="34" charset="0"/>
                <a:ea typeface="Calibri" pitchFamily="34" charset="-122"/>
                <a:cs typeface="Calibri" pitchFamily="34" charset="-120"/>
              </a:rPr>
              <a:t>pressure</a:t>
            </a:r>
            <a:r>
              <a:rPr lang="en-US" sz="1150" dirty="0">
                <a:solidFill>
                  <a:srgbClr val="262B3A"/>
                </a:solidFill>
                <a:latin typeface="Calibri" pitchFamily="34" charset="0"/>
                <a:ea typeface="Calibri" pitchFamily="34" charset="-122"/>
                <a:cs typeface="Calibri" pitchFamily="34" charset="-120"/>
              </a:rPr>
              <a:t> using molecules.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C6.3.3 • pressure and choosing conditions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17</a:t>
            </a:r>
            <a:endParaRPr lang="en-US" sz="1000" dirty="0"/>
          </a:p>
        </p:txBody>
      </p:sp>
      <p:sp>
        <p:nvSpPr>
          <p:cNvPr id="10" name="Shape 8"/>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11" name="Shape 9"/>
          <p:cNvSpPr/>
          <p:nvPr/>
        </p:nvSpPr>
        <p:spPr>
          <a:xfrm>
            <a:off x="411480" y="1207008"/>
            <a:ext cx="2103120" cy="292608"/>
          </a:xfrm>
          <a:prstGeom prst="rect">
            <a:avLst/>
          </a:prstGeom>
          <a:solidFill>
            <a:srgbClr val="F5A742"/>
          </a:solidFill>
          <a:ln w="12700">
            <a:solidFill>
              <a:srgbClr val="F5A742"/>
            </a:solidFill>
            <a:prstDash val="solid"/>
          </a:ln>
        </p:spPr>
      </p:sp>
      <p:sp>
        <p:nvSpPr>
          <p:cNvPr id="12" name="Text 10"/>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3" name="Shape 11"/>
          <p:cNvSpPr/>
          <p:nvPr/>
        </p:nvSpPr>
        <p:spPr>
          <a:xfrm>
            <a:off x="2606040" y="1216152"/>
            <a:ext cx="411480" cy="274320"/>
          </a:xfrm>
          <a:prstGeom prst="roundRect">
            <a:avLst>
              <a:gd name="adj" fmla="val 50000"/>
            </a:avLst>
          </a:prstGeom>
          <a:solidFill>
            <a:srgbClr val="C8414C"/>
          </a:solidFill>
          <a:ln w="12700">
            <a:solidFill>
              <a:srgbClr val="C8414C"/>
            </a:solidFill>
            <a:prstDash val="solid"/>
          </a:ln>
        </p:spPr>
      </p:sp>
      <p:sp>
        <p:nvSpPr>
          <p:cNvPr id="14" name="Text 12"/>
          <p:cNvSpPr/>
          <p:nvPr/>
        </p:nvSpPr>
        <p:spPr>
          <a:xfrm>
            <a:off x="2606040" y="1216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5" name="Text 13"/>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2SO₂(g) + O₂(g) ⇌ 2SO₃(g). Explain the effect of </a:t>
            </a:r>
            <a:r>
              <a:rPr lang="en-US" sz="1250" b="1" dirty="0">
                <a:solidFill>
                  <a:srgbClr val="262B3A"/>
                </a:solidFill>
                <a:latin typeface="Calibri" pitchFamily="34" charset="0"/>
                <a:ea typeface="Calibri" pitchFamily="34" charset="-122"/>
                <a:cs typeface="Calibri" pitchFamily="34" charset="-120"/>
              </a:rPr>
              <a:t>increasing the pressure</a:t>
            </a:r>
            <a:r>
              <a:rPr lang="en-US" sz="1250" dirty="0">
                <a:solidFill>
                  <a:srgbClr val="262B3A"/>
                </a:solidFill>
                <a:latin typeface="Calibri" pitchFamily="34" charset="0"/>
                <a:ea typeface="Calibri" pitchFamily="34" charset="-122"/>
                <a:cs typeface="Calibri" pitchFamily="34" charset="-120"/>
              </a:rPr>
              <a:t> on the amount of SO₃.</a:t>
            </a:r>
            <a:endParaRPr lang="en-US" sz="1250" dirty="0"/>
          </a:p>
        </p:txBody>
      </p:sp>
      <p:sp>
        <p:nvSpPr>
          <p:cNvPr id="16" name="Text 14"/>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7" name="Shape 15"/>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8" name="Shape 16"/>
          <p:cNvSpPr/>
          <p:nvPr/>
        </p:nvSpPr>
        <p:spPr>
          <a:xfrm>
            <a:off x="411480" y="2512314"/>
            <a:ext cx="2103120" cy="292608"/>
          </a:xfrm>
          <a:prstGeom prst="rect">
            <a:avLst/>
          </a:prstGeom>
          <a:solidFill>
            <a:srgbClr val="F5A742"/>
          </a:solidFill>
          <a:ln w="12700">
            <a:solidFill>
              <a:srgbClr val="F5A742"/>
            </a:solidFill>
            <a:prstDash val="solid"/>
          </a:ln>
        </p:spPr>
      </p:sp>
      <p:sp>
        <p:nvSpPr>
          <p:cNvPr id="19" name="Text 17"/>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0" name="Shape 18"/>
          <p:cNvSpPr/>
          <p:nvPr/>
        </p:nvSpPr>
        <p:spPr>
          <a:xfrm>
            <a:off x="2606040" y="2521458"/>
            <a:ext cx="411480" cy="274320"/>
          </a:xfrm>
          <a:prstGeom prst="roundRect">
            <a:avLst>
              <a:gd name="adj" fmla="val 50000"/>
            </a:avLst>
          </a:prstGeom>
          <a:solidFill>
            <a:srgbClr val="C8414C"/>
          </a:solidFill>
          <a:ln w="12700">
            <a:solidFill>
              <a:srgbClr val="C8414C"/>
            </a:solidFill>
            <a:prstDash val="solid"/>
          </a:ln>
        </p:spPr>
      </p:sp>
      <p:sp>
        <p:nvSpPr>
          <p:cNvPr id="21" name="Text 19"/>
          <p:cNvSpPr/>
          <p:nvPr/>
        </p:nvSpPr>
        <p:spPr>
          <a:xfrm>
            <a:off x="2606040" y="252145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2" name="Text 20"/>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H₂(g) + I₂(g) ⇌ 2HI(g). Explain why changing the </a:t>
            </a:r>
            <a:r>
              <a:rPr lang="en-US" sz="1250" b="1" dirty="0">
                <a:solidFill>
                  <a:srgbClr val="262B3A"/>
                </a:solidFill>
                <a:latin typeface="Calibri" pitchFamily="34" charset="0"/>
                <a:ea typeface="Calibri" pitchFamily="34" charset="-122"/>
                <a:cs typeface="Calibri" pitchFamily="34" charset="-120"/>
              </a:rPr>
              <a:t>pressure</a:t>
            </a:r>
            <a:r>
              <a:rPr lang="en-US" sz="1250" dirty="0">
                <a:solidFill>
                  <a:srgbClr val="262B3A"/>
                </a:solidFill>
                <a:latin typeface="Calibri" pitchFamily="34" charset="0"/>
                <a:ea typeface="Calibri" pitchFamily="34" charset="-122"/>
                <a:cs typeface="Calibri" pitchFamily="34" charset="-120"/>
              </a:rPr>
              <a:t> has </a:t>
            </a:r>
            <a:r>
              <a:rPr lang="en-US" sz="1250" b="1" dirty="0">
                <a:solidFill>
                  <a:srgbClr val="262B3A"/>
                </a:solidFill>
                <a:latin typeface="Calibri" pitchFamily="34" charset="0"/>
                <a:ea typeface="Calibri" pitchFamily="34" charset="-122"/>
                <a:cs typeface="Calibri" pitchFamily="34" charset="-120"/>
              </a:rPr>
              <a:t>no effect</a:t>
            </a:r>
            <a:r>
              <a:rPr lang="en-US" sz="1250" dirty="0">
                <a:solidFill>
                  <a:srgbClr val="262B3A"/>
                </a:solidFill>
                <a:latin typeface="Calibri" pitchFamily="34" charset="0"/>
                <a:ea typeface="Calibri" pitchFamily="34" charset="-122"/>
                <a:cs typeface="Calibri" pitchFamily="34" charset="-120"/>
              </a:rPr>
              <a:t> on the yield of HI.</a:t>
            </a:r>
            <a:endParaRPr lang="en-US" sz="1250" dirty="0"/>
          </a:p>
        </p:txBody>
      </p:sp>
      <p:sp>
        <p:nvSpPr>
          <p:cNvPr id="23" name="Text 21"/>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25" name="Shape 23"/>
          <p:cNvSpPr/>
          <p:nvPr/>
        </p:nvSpPr>
        <p:spPr>
          <a:xfrm>
            <a:off x="411480" y="3817620"/>
            <a:ext cx="2103120" cy="292608"/>
          </a:xfrm>
          <a:prstGeom prst="rect">
            <a:avLst/>
          </a:prstGeom>
          <a:solidFill>
            <a:srgbClr val="F5A742"/>
          </a:solidFill>
          <a:ln w="12700">
            <a:solidFill>
              <a:srgbClr val="F5A742"/>
            </a:solidFill>
            <a:prstDash val="solid"/>
          </a:ln>
        </p:spPr>
      </p:sp>
      <p:sp>
        <p:nvSpPr>
          <p:cNvPr id="26" name="Text 24"/>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7" name="Shape 25"/>
          <p:cNvSpPr/>
          <p:nvPr/>
        </p:nvSpPr>
        <p:spPr>
          <a:xfrm>
            <a:off x="2606040" y="3826764"/>
            <a:ext cx="411480" cy="274320"/>
          </a:xfrm>
          <a:prstGeom prst="roundRect">
            <a:avLst>
              <a:gd name="adj" fmla="val 50000"/>
            </a:avLst>
          </a:prstGeom>
          <a:solidFill>
            <a:srgbClr val="C8414C"/>
          </a:solidFill>
          <a:ln w="12700">
            <a:solidFill>
              <a:srgbClr val="C8414C"/>
            </a:solidFill>
            <a:prstDash val="solid"/>
          </a:ln>
        </p:spPr>
      </p:sp>
      <p:sp>
        <p:nvSpPr>
          <p:cNvPr id="28" name="Text 26"/>
          <p:cNvSpPr/>
          <p:nvPr/>
        </p:nvSpPr>
        <p:spPr>
          <a:xfrm>
            <a:off x="2606040" y="382676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9" name="Text 27"/>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catalyst</a:t>
            </a:r>
            <a:r>
              <a:rPr lang="en-US" sz="1250" dirty="0">
                <a:solidFill>
                  <a:srgbClr val="262B3A"/>
                </a:solidFill>
                <a:latin typeface="Calibri" pitchFamily="34" charset="0"/>
                <a:ea typeface="Calibri" pitchFamily="34" charset="-122"/>
                <a:cs typeface="Calibri" pitchFamily="34" charset="-120"/>
              </a:rPr>
              <a:t> is added to a reaction at equilibrium. State its effect on the </a:t>
            </a:r>
            <a:r>
              <a:rPr lang="en-US" sz="1250" b="1" dirty="0">
                <a:solidFill>
                  <a:srgbClr val="262B3A"/>
                </a:solidFill>
                <a:latin typeface="Calibri" pitchFamily="34" charset="0"/>
                <a:ea typeface="Calibri" pitchFamily="34" charset="-122"/>
                <a:cs typeface="Calibri" pitchFamily="34" charset="-120"/>
              </a:rPr>
              <a:t>yield</a:t>
            </a:r>
            <a:r>
              <a:rPr lang="en-US" sz="1250" dirty="0">
                <a:solidFill>
                  <a:srgbClr val="262B3A"/>
                </a:solidFill>
                <a:latin typeface="Calibri" pitchFamily="34" charset="0"/>
                <a:ea typeface="Calibri" pitchFamily="34" charset="-122"/>
                <a:cs typeface="Calibri" pitchFamily="34" charset="-120"/>
              </a:rPr>
              <a:t> and on the </a:t>
            </a:r>
            <a:r>
              <a:rPr lang="en-US" sz="1250" b="1" dirty="0">
                <a:solidFill>
                  <a:srgbClr val="262B3A"/>
                </a:solidFill>
                <a:latin typeface="Calibri" pitchFamily="34" charset="0"/>
                <a:ea typeface="Calibri" pitchFamily="34" charset="-122"/>
                <a:cs typeface="Calibri" pitchFamily="34" charset="-120"/>
              </a:rPr>
              <a:t>time</a:t>
            </a:r>
            <a:r>
              <a:rPr lang="en-US" sz="1250" dirty="0">
                <a:solidFill>
                  <a:srgbClr val="262B3A"/>
                </a:solidFill>
                <a:latin typeface="Calibri" pitchFamily="34" charset="0"/>
                <a:ea typeface="Calibri" pitchFamily="34" charset="-122"/>
                <a:cs typeface="Calibri" pitchFamily="34" charset="-120"/>
              </a:rPr>
              <a:t> taken to reach equilibrium.</a:t>
            </a:r>
            <a:endParaRPr lang="en-US" sz="1250" dirty="0"/>
          </a:p>
        </p:txBody>
      </p:sp>
      <p:sp>
        <p:nvSpPr>
          <p:cNvPr id="30" name="Text 28"/>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Shape 29"/>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32" name="Shape 30"/>
          <p:cNvSpPr/>
          <p:nvPr/>
        </p:nvSpPr>
        <p:spPr>
          <a:xfrm>
            <a:off x="411480" y="5122926"/>
            <a:ext cx="2103120" cy="292608"/>
          </a:xfrm>
          <a:prstGeom prst="rect">
            <a:avLst/>
          </a:prstGeom>
          <a:solidFill>
            <a:srgbClr val="F5A742"/>
          </a:solidFill>
          <a:ln w="12700">
            <a:solidFill>
              <a:srgbClr val="F5A742"/>
            </a:solidFill>
            <a:prstDash val="solid"/>
          </a:ln>
        </p:spPr>
      </p:sp>
      <p:sp>
        <p:nvSpPr>
          <p:cNvPr id="33" name="Text 31"/>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34" name="Shape 32"/>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35" name="Text 33"/>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6" name="Text 3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the ammonia graph: by how much does the percentage of NH₃ at </a:t>
            </a:r>
            <a:r>
              <a:rPr lang="en-US" sz="1250" b="1" dirty="0">
                <a:solidFill>
                  <a:srgbClr val="262B3A"/>
                </a:solidFill>
                <a:latin typeface="Calibri" pitchFamily="34" charset="0"/>
                <a:ea typeface="Calibri" pitchFamily="34" charset="-122"/>
                <a:cs typeface="Calibri" pitchFamily="34" charset="-120"/>
              </a:rPr>
              <a:t>450 °C</a:t>
            </a:r>
            <a:r>
              <a:rPr lang="en-US" sz="1250" dirty="0">
                <a:solidFill>
                  <a:srgbClr val="262B3A"/>
                </a:solidFill>
                <a:latin typeface="Calibri" pitchFamily="34" charset="0"/>
                <a:ea typeface="Calibri" pitchFamily="34" charset="-122"/>
                <a:cs typeface="Calibri" pitchFamily="34" charset="-120"/>
              </a:rPr>
              <a:t> rise from </a:t>
            </a:r>
            <a:r>
              <a:rPr lang="en-US" sz="1250" b="1" dirty="0">
                <a:solidFill>
                  <a:srgbClr val="262B3A"/>
                </a:solidFill>
                <a:latin typeface="Calibri" pitchFamily="34" charset="0"/>
                <a:ea typeface="Calibri" pitchFamily="34" charset="-122"/>
                <a:cs typeface="Calibri" pitchFamily="34" charset="-120"/>
              </a:rPr>
              <a:t>100 atm</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300 atm</a:t>
            </a:r>
            <a:r>
              <a:rPr lang="en-US" sz="1250" dirty="0">
                <a:solidFill>
                  <a:srgbClr val="262B3A"/>
                </a:solidFill>
                <a:latin typeface="Calibri" pitchFamily="34" charset="0"/>
                <a:ea typeface="Calibri" pitchFamily="34" charset="-122"/>
                <a:cs typeface="Calibri" pitchFamily="34" charset="-120"/>
              </a:rPr>
              <a:t>? Explain the trend.</a:t>
            </a:r>
            <a:endParaRPr lang="en-US" sz="1250" dirty="0"/>
          </a:p>
        </p:txBody>
      </p:sp>
      <p:sp>
        <p:nvSpPr>
          <p:cNvPr id="37" name="Text 3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C6.3 What factors affect the yield of chemical reactions? • learn these definitions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18</a:t>
            </a:r>
            <a:endParaRPr lang="en-US" sz="1000" dirty="0"/>
          </a:p>
        </p:txBody>
      </p:sp>
      <p:sp>
        <p:nvSpPr>
          <p:cNvPr id="8" name="Shape 6"/>
          <p:cNvSpPr/>
          <p:nvPr/>
        </p:nvSpPr>
        <p:spPr>
          <a:xfrm>
            <a:off x="411480" y="1188720"/>
            <a:ext cx="2739314" cy="1143000"/>
          </a:xfrm>
          <a:prstGeom prst="rect">
            <a:avLst/>
          </a:prstGeom>
          <a:solidFill>
            <a:srgbClr val="F8F5FC"/>
          </a:solidFill>
          <a:ln w="9525">
            <a:solidFill>
              <a:srgbClr val="DDD3EC"/>
            </a:solidFill>
            <a:prstDash val="solid"/>
          </a:ln>
        </p:spPr>
      </p:sp>
      <p:sp>
        <p:nvSpPr>
          <p:cNvPr id="9" name="Shape 7"/>
          <p:cNvSpPr/>
          <p:nvPr/>
        </p:nvSpPr>
        <p:spPr>
          <a:xfrm>
            <a:off x="411480" y="1188720"/>
            <a:ext cx="73152" cy="1143000"/>
          </a:xfrm>
          <a:prstGeom prst="rect">
            <a:avLst/>
          </a:prstGeom>
          <a:solidFill>
            <a:srgbClr val="6A3FA0"/>
          </a:solidFill>
          <a:ln w="12700">
            <a:solidFill>
              <a:srgbClr val="6A3FA0"/>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Reversible reaction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reaction that can go forwards and backwards, depending on the conditions.</a:t>
            </a:r>
            <a:endParaRPr lang="en-US" sz="1200" dirty="0"/>
          </a:p>
        </p:txBody>
      </p:sp>
      <p:sp>
        <p:nvSpPr>
          <p:cNvPr id="11" name="Shape 9"/>
          <p:cNvSpPr/>
          <p:nvPr/>
        </p:nvSpPr>
        <p:spPr>
          <a:xfrm>
            <a:off x="3287954" y="1188720"/>
            <a:ext cx="2739314" cy="1143000"/>
          </a:xfrm>
          <a:prstGeom prst="rect">
            <a:avLst/>
          </a:prstGeom>
          <a:solidFill>
            <a:srgbClr val="F8F5FC"/>
          </a:solidFill>
          <a:ln w="9525">
            <a:solidFill>
              <a:srgbClr val="DDD3EC"/>
            </a:solidFill>
            <a:prstDash val="solid"/>
          </a:ln>
        </p:spPr>
      </p:sp>
      <p:sp>
        <p:nvSpPr>
          <p:cNvPr id="12" name="Shape 10"/>
          <p:cNvSpPr/>
          <p:nvPr/>
        </p:nvSpPr>
        <p:spPr>
          <a:xfrm>
            <a:off x="3287954" y="1188720"/>
            <a:ext cx="73152" cy="1143000"/>
          </a:xfrm>
          <a:prstGeom prst="rect">
            <a:avLst/>
          </a:prstGeom>
          <a:solidFill>
            <a:srgbClr val="6A3FA0"/>
          </a:solidFill>
          <a:ln w="12700">
            <a:solidFill>
              <a:srgbClr val="6A3FA0"/>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symbol for a reversible reaction.</a:t>
            </a:r>
            <a:endParaRPr lang="en-US" sz="1200" dirty="0"/>
          </a:p>
        </p:txBody>
      </p:sp>
      <p:sp>
        <p:nvSpPr>
          <p:cNvPr id="14" name="Shape 12"/>
          <p:cNvSpPr/>
          <p:nvPr/>
        </p:nvSpPr>
        <p:spPr>
          <a:xfrm>
            <a:off x="6164428" y="1188720"/>
            <a:ext cx="2739314" cy="1143000"/>
          </a:xfrm>
          <a:prstGeom prst="rect">
            <a:avLst/>
          </a:prstGeom>
          <a:solidFill>
            <a:srgbClr val="F8F5FC"/>
          </a:solidFill>
          <a:ln w="9525">
            <a:solidFill>
              <a:srgbClr val="DDD3EC"/>
            </a:solidFill>
            <a:prstDash val="solid"/>
          </a:ln>
        </p:spPr>
      </p:sp>
      <p:sp>
        <p:nvSpPr>
          <p:cNvPr id="15" name="Shape 13"/>
          <p:cNvSpPr/>
          <p:nvPr/>
        </p:nvSpPr>
        <p:spPr>
          <a:xfrm>
            <a:off x="6164428" y="1188720"/>
            <a:ext cx="73152" cy="1143000"/>
          </a:xfrm>
          <a:prstGeom prst="rect">
            <a:avLst/>
          </a:prstGeom>
          <a:solidFill>
            <a:srgbClr val="6A3FA0"/>
          </a:solidFill>
          <a:ln w="12700">
            <a:solidFill>
              <a:srgbClr val="6A3FA0"/>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Forward reaction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Reactants → products (left to right in the equation).</a:t>
            </a:r>
            <a:endParaRPr lang="en-US" sz="1200" dirty="0"/>
          </a:p>
        </p:txBody>
      </p:sp>
      <p:sp>
        <p:nvSpPr>
          <p:cNvPr id="17" name="Shape 15"/>
          <p:cNvSpPr/>
          <p:nvPr/>
        </p:nvSpPr>
        <p:spPr>
          <a:xfrm>
            <a:off x="9040901" y="1188720"/>
            <a:ext cx="2739314" cy="1143000"/>
          </a:xfrm>
          <a:prstGeom prst="rect">
            <a:avLst/>
          </a:prstGeom>
          <a:solidFill>
            <a:srgbClr val="F8F5FC"/>
          </a:solidFill>
          <a:ln w="9525">
            <a:solidFill>
              <a:srgbClr val="DDD3EC"/>
            </a:solidFill>
            <a:prstDash val="solid"/>
          </a:ln>
        </p:spPr>
      </p:sp>
      <p:sp>
        <p:nvSpPr>
          <p:cNvPr id="18" name="Shape 16"/>
          <p:cNvSpPr/>
          <p:nvPr/>
        </p:nvSpPr>
        <p:spPr>
          <a:xfrm>
            <a:off x="9040901" y="1188720"/>
            <a:ext cx="73152" cy="1143000"/>
          </a:xfrm>
          <a:prstGeom prst="rect">
            <a:avLst/>
          </a:prstGeom>
          <a:solidFill>
            <a:srgbClr val="6A3FA0"/>
          </a:solidFill>
          <a:ln w="12700">
            <a:solidFill>
              <a:srgbClr val="6A3FA0"/>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Reverse reaction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Products → reactants (right to left in the equation).</a:t>
            </a:r>
            <a:endParaRPr lang="en-US" sz="1200" dirty="0"/>
          </a:p>
        </p:txBody>
      </p:sp>
      <p:sp>
        <p:nvSpPr>
          <p:cNvPr id="20" name="Shape 18"/>
          <p:cNvSpPr/>
          <p:nvPr/>
        </p:nvSpPr>
        <p:spPr>
          <a:xfrm>
            <a:off x="411480" y="2441448"/>
            <a:ext cx="2739314" cy="1143000"/>
          </a:xfrm>
          <a:prstGeom prst="rect">
            <a:avLst/>
          </a:prstGeom>
          <a:solidFill>
            <a:srgbClr val="F8F5FC"/>
          </a:solidFill>
          <a:ln w="9525">
            <a:solidFill>
              <a:srgbClr val="DDD3EC"/>
            </a:solidFill>
            <a:prstDash val="solid"/>
          </a:ln>
        </p:spPr>
      </p:sp>
      <p:sp>
        <p:nvSpPr>
          <p:cNvPr id="21" name="Shape 19"/>
          <p:cNvSpPr/>
          <p:nvPr/>
        </p:nvSpPr>
        <p:spPr>
          <a:xfrm>
            <a:off x="411480" y="2441448"/>
            <a:ext cx="73152" cy="1143000"/>
          </a:xfrm>
          <a:prstGeom prst="rect">
            <a:avLst/>
          </a:prstGeom>
          <a:solidFill>
            <a:srgbClr val="6A3FA0"/>
          </a:solidFill>
          <a:ln w="12700">
            <a:solidFill>
              <a:srgbClr val="6A3FA0"/>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Closed system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Nothing can get in or out, e.g. a sealed container.</a:t>
            </a:r>
            <a:endParaRPr lang="en-US" sz="1200" dirty="0"/>
          </a:p>
        </p:txBody>
      </p:sp>
      <p:sp>
        <p:nvSpPr>
          <p:cNvPr id="23" name="Shape 21"/>
          <p:cNvSpPr/>
          <p:nvPr/>
        </p:nvSpPr>
        <p:spPr>
          <a:xfrm>
            <a:off x="3287954" y="2441448"/>
            <a:ext cx="2739314" cy="1143000"/>
          </a:xfrm>
          <a:prstGeom prst="rect">
            <a:avLst/>
          </a:prstGeom>
          <a:solidFill>
            <a:srgbClr val="F8F5FC"/>
          </a:solidFill>
          <a:ln w="9525">
            <a:solidFill>
              <a:srgbClr val="DDD3EC"/>
            </a:solidFill>
            <a:prstDash val="solid"/>
          </a:ln>
        </p:spPr>
      </p:sp>
      <p:sp>
        <p:nvSpPr>
          <p:cNvPr id="24" name="Shape 22"/>
          <p:cNvSpPr/>
          <p:nvPr/>
        </p:nvSpPr>
        <p:spPr>
          <a:xfrm>
            <a:off x="3287954" y="2441448"/>
            <a:ext cx="73152" cy="1143000"/>
          </a:xfrm>
          <a:prstGeom prst="rect">
            <a:avLst/>
          </a:prstGeom>
          <a:solidFill>
            <a:srgbClr val="6A3FA0"/>
          </a:solidFill>
          <a:ln w="12700">
            <a:solidFill>
              <a:srgbClr val="6A3FA0"/>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Yield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amount of product made in a reaction.</a:t>
            </a:r>
            <a:endParaRPr lang="en-US" sz="1200" dirty="0"/>
          </a:p>
        </p:txBody>
      </p:sp>
      <p:sp>
        <p:nvSpPr>
          <p:cNvPr id="26" name="Shape 24"/>
          <p:cNvSpPr/>
          <p:nvPr/>
        </p:nvSpPr>
        <p:spPr>
          <a:xfrm>
            <a:off x="6164428" y="2441448"/>
            <a:ext cx="2739314" cy="1143000"/>
          </a:xfrm>
          <a:prstGeom prst="rect">
            <a:avLst/>
          </a:prstGeom>
          <a:solidFill>
            <a:srgbClr val="F8F5FC"/>
          </a:solidFill>
          <a:ln w="9525">
            <a:solidFill>
              <a:srgbClr val="DDD3EC"/>
            </a:solidFill>
            <a:prstDash val="solid"/>
          </a:ln>
        </p:spPr>
      </p:sp>
      <p:sp>
        <p:nvSpPr>
          <p:cNvPr id="27" name="Shape 25"/>
          <p:cNvSpPr/>
          <p:nvPr/>
        </p:nvSpPr>
        <p:spPr>
          <a:xfrm>
            <a:off x="6164428" y="2441448"/>
            <a:ext cx="73152" cy="1143000"/>
          </a:xfrm>
          <a:prstGeom prst="rect">
            <a:avLst/>
          </a:prstGeom>
          <a:solidFill>
            <a:srgbClr val="6A3FA0"/>
          </a:solidFill>
          <a:ln w="12700">
            <a:solidFill>
              <a:srgbClr val="6A3FA0"/>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Dynamic equilibrium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Forward and reverse reactions happen at the same rate; amounts stay constant.</a:t>
            </a:r>
            <a:endParaRPr lang="en-US" sz="1200" dirty="0"/>
          </a:p>
        </p:txBody>
      </p:sp>
      <p:sp>
        <p:nvSpPr>
          <p:cNvPr id="29" name="Shape 27"/>
          <p:cNvSpPr/>
          <p:nvPr/>
        </p:nvSpPr>
        <p:spPr>
          <a:xfrm>
            <a:off x="9040901" y="2441448"/>
            <a:ext cx="2739314" cy="1143000"/>
          </a:xfrm>
          <a:prstGeom prst="rect">
            <a:avLst/>
          </a:prstGeom>
          <a:solidFill>
            <a:srgbClr val="F8F5FC"/>
          </a:solidFill>
          <a:ln w="9525">
            <a:solidFill>
              <a:srgbClr val="DDD3EC"/>
            </a:solidFill>
            <a:prstDash val="solid"/>
          </a:ln>
        </p:spPr>
      </p:sp>
      <p:sp>
        <p:nvSpPr>
          <p:cNvPr id="30" name="Shape 28"/>
          <p:cNvSpPr/>
          <p:nvPr/>
        </p:nvSpPr>
        <p:spPr>
          <a:xfrm>
            <a:off x="9040901" y="2441448"/>
            <a:ext cx="73152" cy="1143000"/>
          </a:xfrm>
          <a:prstGeom prst="rect">
            <a:avLst/>
          </a:prstGeom>
          <a:solidFill>
            <a:srgbClr val="6A3FA0"/>
          </a:solidFill>
          <a:ln w="12700">
            <a:solidFill>
              <a:srgbClr val="6A3FA0"/>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Hydrated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Containing water in the crystals, e.g. blue copper(II) sulfate.</a:t>
            </a:r>
            <a:endParaRPr lang="en-US" sz="1200" dirty="0"/>
          </a:p>
        </p:txBody>
      </p:sp>
      <p:sp>
        <p:nvSpPr>
          <p:cNvPr id="32" name="Shape 30"/>
          <p:cNvSpPr/>
          <p:nvPr/>
        </p:nvSpPr>
        <p:spPr>
          <a:xfrm>
            <a:off x="411480" y="3694176"/>
            <a:ext cx="2739314" cy="1143000"/>
          </a:xfrm>
          <a:prstGeom prst="rect">
            <a:avLst/>
          </a:prstGeom>
          <a:solidFill>
            <a:srgbClr val="F8F5FC"/>
          </a:solidFill>
          <a:ln w="9525">
            <a:solidFill>
              <a:srgbClr val="DDD3EC"/>
            </a:solidFill>
            <a:prstDash val="solid"/>
          </a:ln>
        </p:spPr>
      </p:sp>
      <p:sp>
        <p:nvSpPr>
          <p:cNvPr id="33" name="Shape 31"/>
          <p:cNvSpPr/>
          <p:nvPr/>
        </p:nvSpPr>
        <p:spPr>
          <a:xfrm>
            <a:off x="411480" y="3694176"/>
            <a:ext cx="73152" cy="1143000"/>
          </a:xfrm>
          <a:prstGeom prst="rect">
            <a:avLst/>
          </a:prstGeom>
          <a:solidFill>
            <a:srgbClr val="6A3FA0"/>
          </a:solidFill>
          <a:ln w="12700">
            <a:solidFill>
              <a:srgbClr val="6A3FA0"/>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Anhydrous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Without water, e.g. white copper(II) sulfate.</a:t>
            </a:r>
            <a:endParaRPr lang="en-US" sz="1200" dirty="0"/>
          </a:p>
        </p:txBody>
      </p:sp>
      <p:sp>
        <p:nvSpPr>
          <p:cNvPr id="35" name="Shape 33"/>
          <p:cNvSpPr/>
          <p:nvPr/>
        </p:nvSpPr>
        <p:spPr>
          <a:xfrm>
            <a:off x="3287954" y="3694176"/>
            <a:ext cx="2739314" cy="1143000"/>
          </a:xfrm>
          <a:prstGeom prst="rect">
            <a:avLst/>
          </a:prstGeom>
          <a:solidFill>
            <a:srgbClr val="F8F5FC"/>
          </a:solidFill>
          <a:ln w="9525">
            <a:solidFill>
              <a:srgbClr val="DDD3EC"/>
            </a:solidFill>
            <a:prstDash val="solid"/>
          </a:ln>
        </p:spPr>
      </p:sp>
      <p:sp>
        <p:nvSpPr>
          <p:cNvPr id="36" name="Shape 34"/>
          <p:cNvSpPr/>
          <p:nvPr/>
        </p:nvSpPr>
        <p:spPr>
          <a:xfrm>
            <a:off x="3287954" y="3694176"/>
            <a:ext cx="73152" cy="1143000"/>
          </a:xfrm>
          <a:prstGeom prst="rect">
            <a:avLst/>
          </a:prstGeom>
          <a:solidFill>
            <a:srgbClr val="6A3FA0"/>
          </a:solidFill>
          <a:ln w="12700">
            <a:solidFill>
              <a:srgbClr val="6A3FA0"/>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Exothermic</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Transfers energy to the surroundings: the temperature rises.</a:t>
            </a:r>
            <a:endParaRPr lang="en-US" sz="1200" dirty="0"/>
          </a:p>
        </p:txBody>
      </p:sp>
      <p:sp>
        <p:nvSpPr>
          <p:cNvPr id="38" name="Shape 36"/>
          <p:cNvSpPr/>
          <p:nvPr/>
        </p:nvSpPr>
        <p:spPr>
          <a:xfrm>
            <a:off x="6164428" y="3694176"/>
            <a:ext cx="2739314" cy="1143000"/>
          </a:xfrm>
          <a:prstGeom prst="rect">
            <a:avLst/>
          </a:prstGeom>
          <a:solidFill>
            <a:srgbClr val="F8F5FC"/>
          </a:solidFill>
          <a:ln w="9525">
            <a:solidFill>
              <a:srgbClr val="DDD3EC"/>
            </a:solidFill>
            <a:prstDash val="solid"/>
          </a:ln>
        </p:spPr>
      </p:sp>
      <p:sp>
        <p:nvSpPr>
          <p:cNvPr id="39" name="Shape 37"/>
          <p:cNvSpPr/>
          <p:nvPr/>
        </p:nvSpPr>
        <p:spPr>
          <a:xfrm>
            <a:off x="6164428" y="3694176"/>
            <a:ext cx="73152" cy="1143000"/>
          </a:xfrm>
          <a:prstGeom prst="rect">
            <a:avLst/>
          </a:prstGeom>
          <a:solidFill>
            <a:srgbClr val="6A3FA0"/>
          </a:solidFill>
          <a:ln w="12700">
            <a:solidFill>
              <a:srgbClr val="6A3FA0"/>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Endothermic</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Takes in energy from the surroundings: the temperature falls.</a:t>
            </a:r>
            <a:endParaRPr lang="en-US" sz="1200" dirty="0"/>
          </a:p>
        </p:txBody>
      </p:sp>
      <p:sp>
        <p:nvSpPr>
          <p:cNvPr id="41" name="Shape 39"/>
          <p:cNvSpPr/>
          <p:nvPr/>
        </p:nvSpPr>
        <p:spPr>
          <a:xfrm>
            <a:off x="9040901" y="3694176"/>
            <a:ext cx="2739314" cy="1143000"/>
          </a:xfrm>
          <a:prstGeom prst="rect">
            <a:avLst/>
          </a:prstGeom>
          <a:solidFill>
            <a:srgbClr val="F8F5FC"/>
          </a:solidFill>
          <a:ln w="9525">
            <a:solidFill>
              <a:srgbClr val="DDD3EC"/>
            </a:solidFill>
            <a:prstDash val="solid"/>
          </a:ln>
        </p:spPr>
      </p:sp>
      <p:sp>
        <p:nvSpPr>
          <p:cNvPr id="42" name="Shape 40"/>
          <p:cNvSpPr/>
          <p:nvPr/>
        </p:nvSpPr>
        <p:spPr>
          <a:xfrm>
            <a:off x="9040901" y="3694176"/>
            <a:ext cx="73152" cy="1143000"/>
          </a:xfrm>
          <a:prstGeom prst="rect">
            <a:avLst/>
          </a:prstGeom>
          <a:solidFill>
            <a:srgbClr val="6A3FA0"/>
          </a:solidFill>
          <a:ln w="12700">
            <a:solidFill>
              <a:srgbClr val="6A3FA0"/>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Constant mass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Heating and weighing again until the mass stops changing.</a:t>
            </a:r>
            <a:endParaRPr lang="en-US" sz="1200" dirty="0"/>
          </a:p>
        </p:txBody>
      </p:sp>
      <p:sp>
        <p:nvSpPr>
          <p:cNvPr id="44" name="Shape 42"/>
          <p:cNvSpPr/>
          <p:nvPr/>
        </p:nvSpPr>
        <p:spPr>
          <a:xfrm>
            <a:off x="411480" y="4946904"/>
            <a:ext cx="2739314" cy="1143000"/>
          </a:xfrm>
          <a:prstGeom prst="rect">
            <a:avLst/>
          </a:prstGeom>
          <a:solidFill>
            <a:srgbClr val="F8F5FC"/>
          </a:solidFill>
          <a:ln w="9525">
            <a:solidFill>
              <a:srgbClr val="DDD3EC"/>
            </a:solidFill>
            <a:prstDash val="solid"/>
          </a:ln>
        </p:spPr>
      </p:sp>
      <p:sp>
        <p:nvSpPr>
          <p:cNvPr id="45" name="Shape 43"/>
          <p:cNvSpPr/>
          <p:nvPr/>
        </p:nvSpPr>
        <p:spPr>
          <a:xfrm>
            <a:off x="411480" y="4946904"/>
            <a:ext cx="73152" cy="1143000"/>
          </a:xfrm>
          <a:prstGeom prst="rect">
            <a:avLst/>
          </a:prstGeom>
          <a:solidFill>
            <a:srgbClr val="6A3FA0"/>
          </a:solidFill>
          <a:ln w="12700">
            <a:solidFill>
              <a:srgbClr val="6A3FA0"/>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Position of equilibrium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How much of the equilibrium mixture is products compared with reactants.</a:t>
            </a:r>
            <a:endParaRPr lang="en-US" sz="1200" dirty="0"/>
          </a:p>
        </p:txBody>
      </p:sp>
      <p:sp>
        <p:nvSpPr>
          <p:cNvPr id="47" name="Shape 45"/>
          <p:cNvSpPr/>
          <p:nvPr/>
        </p:nvSpPr>
        <p:spPr>
          <a:xfrm>
            <a:off x="3287954" y="4946904"/>
            <a:ext cx="2739314" cy="1143000"/>
          </a:xfrm>
          <a:prstGeom prst="rect">
            <a:avLst/>
          </a:prstGeom>
          <a:solidFill>
            <a:srgbClr val="F8F5FC"/>
          </a:solidFill>
          <a:ln w="9525">
            <a:solidFill>
              <a:srgbClr val="DDD3EC"/>
            </a:solidFill>
            <a:prstDash val="solid"/>
          </a:ln>
        </p:spPr>
      </p:sp>
      <p:sp>
        <p:nvSpPr>
          <p:cNvPr id="48" name="Shape 46"/>
          <p:cNvSpPr/>
          <p:nvPr/>
        </p:nvSpPr>
        <p:spPr>
          <a:xfrm>
            <a:off x="3287954" y="4946904"/>
            <a:ext cx="73152" cy="1143000"/>
          </a:xfrm>
          <a:prstGeom prst="rect">
            <a:avLst/>
          </a:prstGeom>
          <a:solidFill>
            <a:srgbClr val="6A3FA0"/>
          </a:solidFill>
          <a:ln w="12700">
            <a:solidFill>
              <a:srgbClr val="6A3FA0"/>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Le Chatelier’s principle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If conditions change, the equilibrium shifts to oppose the change.</a:t>
            </a:r>
            <a:endParaRPr lang="en-US" sz="1200" dirty="0"/>
          </a:p>
        </p:txBody>
      </p:sp>
      <p:sp>
        <p:nvSpPr>
          <p:cNvPr id="50" name="Shape 48"/>
          <p:cNvSpPr/>
          <p:nvPr/>
        </p:nvSpPr>
        <p:spPr>
          <a:xfrm>
            <a:off x="6164428" y="4946904"/>
            <a:ext cx="2739314" cy="1143000"/>
          </a:xfrm>
          <a:prstGeom prst="rect">
            <a:avLst/>
          </a:prstGeom>
          <a:solidFill>
            <a:srgbClr val="F8F5FC"/>
          </a:solidFill>
          <a:ln w="9525">
            <a:solidFill>
              <a:srgbClr val="DDD3EC"/>
            </a:solidFill>
            <a:prstDash val="solid"/>
          </a:ln>
        </p:spPr>
      </p:sp>
      <p:sp>
        <p:nvSpPr>
          <p:cNvPr id="51" name="Shape 49"/>
          <p:cNvSpPr/>
          <p:nvPr/>
        </p:nvSpPr>
        <p:spPr>
          <a:xfrm>
            <a:off x="6164428" y="4946904"/>
            <a:ext cx="73152" cy="1143000"/>
          </a:xfrm>
          <a:prstGeom prst="rect">
            <a:avLst/>
          </a:prstGeom>
          <a:solidFill>
            <a:srgbClr val="6A3FA0"/>
          </a:solidFill>
          <a:ln w="12700">
            <a:solidFill>
              <a:srgbClr val="6A3FA0"/>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Gas molecules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Higher pressure favours the side with fewer gas molecules.</a:t>
            </a:r>
            <a:endParaRPr lang="en-US" sz="1200" dirty="0"/>
          </a:p>
        </p:txBody>
      </p:sp>
      <p:sp>
        <p:nvSpPr>
          <p:cNvPr id="53" name="Shape 51"/>
          <p:cNvSpPr/>
          <p:nvPr/>
        </p:nvSpPr>
        <p:spPr>
          <a:xfrm>
            <a:off x="9040901" y="4946904"/>
            <a:ext cx="2739314" cy="1143000"/>
          </a:xfrm>
          <a:prstGeom prst="rect">
            <a:avLst/>
          </a:prstGeom>
          <a:solidFill>
            <a:srgbClr val="F8F5FC"/>
          </a:solidFill>
          <a:ln w="9525">
            <a:solidFill>
              <a:srgbClr val="DDD3EC"/>
            </a:solidFill>
            <a:prstDash val="solid"/>
          </a:ln>
        </p:spPr>
      </p:sp>
      <p:sp>
        <p:nvSpPr>
          <p:cNvPr id="54" name="Shape 52"/>
          <p:cNvSpPr/>
          <p:nvPr/>
        </p:nvSpPr>
        <p:spPr>
          <a:xfrm>
            <a:off x="9040901" y="4946904"/>
            <a:ext cx="73152" cy="1143000"/>
          </a:xfrm>
          <a:prstGeom prst="rect">
            <a:avLst/>
          </a:prstGeom>
          <a:solidFill>
            <a:srgbClr val="6A3FA0"/>
          </a:solidFill>
          <a:ln w="12700">
            <a:solidFill>
              <a:srgbClr val="6A3FA0"/>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Catalyst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Speeds up both reactions equally: equilibrium is reached sooner, yield unchanged.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C6.3.1–C6.3.3 • answer every part • 13 marks • (d) and (e) are HT • data illustrative</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19</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Sulfur trioxide is made from sulfur dioxide and oxygen in a </a:t>
            </a:r>
            <a:r>
              <a:rPr lang="en-US" sz="1200" b="1" i="1" dirty="0">
                <a:solidFill>
                  <a:srgbClr val="262B3A"/>
                </a:solidFill>
                <a:latin typeface="Calibri" pitchFamily="34" charset="0"/>
                <a:ea typeface="Calibri" pitchFamily="34" charset="-122"/>
                <a:cs typeface="Calibri" pitchFamily="34" charset="-120"/>
              </a:rPr>
              <a:t>closed</a:t>
            </a:r>
            <a:r>
              <a:rPr lang="en-US" sz="1200" i="1" dirty="0">
                <a:solidFill>
                  <a:srgbClr val="262B3A"/>
                </a:solidFill>
                <a:latin typeface="Calibri" pitchFamily="34" charset="0"/>
                <a:ea typeface="Calibri" pitchFamily="34" charset="-122"/>
                <a:cs typeface="Calibri" pitchFamily="34" charset="-120"/>
              </a:rPr>
              <a:t> reactor: </a:t>
            </a:r>
            <a:r>
              <a:rPr lang="en-US" sz="1200" b="1" i="1" dirty="0">
                <a:solidFill>
                  <a:srgbClr val="262B3A"/>
                </a:solidFill>
                <a:latin typeface="Calibri" pitchFamily="34" charset="0"/>
                <a:ea typeface="Calibri" pitchFamily="34" charset="-122"/>
                <a:cs typeface="Calibri" pitchFamily="34" charset="-120"/>
              </a:rPr>
              <a:t>2SO₂(g) + O₂(g) ⇌ 2SO₃(g)</a:t>
            </a:r>
            <a:r>
              <a:rPr lang="en-US" sz="1200" i="1" dirty="0">
                <a:solidFill>
                  <a:srgbClr val="262B3A"/>
                </a:solidFill>
                <a:latin typeface="Calibri" pitchFamily="34" charset="0"/>
                <a:ea typeface="Calibri" pitchFamily="34" charset="-122"/>
                <a:cs typeface="Calibri" pitchFamily="34" charset="-120"/>
              </a:rPr>
              <a:t>. The forward reaction is </a:t>
            </a:r>
            <a:r>
              <a:rPr lang="en-US" sz="1200" b="1" i="1" dirty="0">
                <a:solidFill>
                  <a:srgbClr val="262B3A"/>
                </a:solidFill>
                <a:latin typeface="Calibri" pitchFamily="34" charset="0"/>
                <a:ea typeface="Calibri" pitchFamily="34" charset="-122"/>
                <a:cs typeface="Calibri" pitchFamily="34" charset="-120"/>
              </a:rPr>
              <a:t>exothermic</a:t>
            </a:r>
            <a:r>
              <a:rPr lang="en-US" sz="1200" i="1" dirty="0">
                <a:solidFill>
                  <a:srgbClr val="262B3A"/>
                </a:solidFill>
                <a:latin typeface="Calibri" pitchFamily="34" charset="0"/>
                <a:ea typeface="Calibri" pitchFamily="34" charset="-122"/>
                <a:cs typeface="Calibri" pitchFamily="34" charset="-120"/>
              </a:rPr>
              <a:t>. At 1 atm, the percentage of SO₃ at equilibrium is </a:t>
            </a:r>
            <a:r>
              <a:rPr lang="en-US" sz="1200" b="1" i="1" dirty="0">
                <a:solidFill>
                  <a:srgbClr val="262B3A"/>
                </a:solidFill>
                <a:latin typeface="Calibri" pitchFamily="34" charset="0"/>
                <a:ea typeface="Calibri" pitchFamily="34" charset="-122"/>
                <a:cs typeface="Calibri" pitchFamily="34" charset="-120"/>
              </a:rPr>
              <a:t>98%</a:t>
            </a:r>
            <a:r>
              <a:rPr lang="en-US" sz="1200" i="1" dirty="0">
                <a:solidFill>
                  <a:srgbClr val="262B3A"/>
                </a:solidFill>
                <a:latin typeface="Calibri" pitchFamily="34" charset="0"/>
                <a:ea typeface="Calibri" pitchFamily="34" charset="-122"/>
                <a:cs typeface="Calibri" pitchFamily="34" charset="-120"/>
              </a:rPr>
              <a:t> at 400 °C and </a:t>
            </a:r>
            <a:r>
              <a:rPr lang="en-US" sz="1200" b="1" i="1" dirty="0">
                <a:solidFill>
                  <a:srgbClr val="262B3A"/>
                </a:solidFill>
                <a:latin typeface="Calibri" pitchFamily="34" charset="0"/>
                <a:ea typeface="Calibri" pitchFamily="34" charset="-122"/>
                <a:cs typeface="Calibri" pitchFamily="34" charset="-120"/>
              </a:rPr>
              <a:t>76%</a:t>
            </a:r>
            <a:r>
              <a:rPr lang="en-US" sz="1200" i="1" dirty="0">
                <a:solidFill>
                  <a:srgbClr val="262B3A"/>
                </a:solidFill>
                <a:latin typeface="Calibri" pitchFamily="34" charset="0"/>
                <a:ea typeface="Calibri" pitchFamily="34" charset="-122"/>
                <a:cs typeface="Calibri" pitchFamily="34" charset="-120"/>
              </a:rPr>
              <a:t> at 600 °C.</a:t>
            </a:r>
            <a:endParaRPr lang="en-US" sz="1200" dirty="0"/>
          </a:p>
        </p:txBody>
      </p:sp>
      <p:sp>
        <p:nvSpPr>
          <p:cNvPr id="9" name="Shape 7"/>
          <p:cNvSpPr/>
          <p:nvPr/>
        </p:nvSpPr>
        <p:spPr>
          <a:xfrm>
            <a:off x="411480" y="1719072"/>
            <a:ext cx="5570068" cy="1138187"/>
          </a:xfrm>
          <a:prstGeom prst="roundRect">
            <a:avLst>
              <a:gd name="adj" fmla="val 4017"/>
            </a:avLst>
          </a:prstGeom>
          <a:solidFill>
            <a:srgbClr val="F8F5FC"/>
          </a:solidFill>
          <a:ln w="9525">
            <a:solidFill>
              <a:srgbClr val="DDD3EC"/>
            </a:solidFill>
            <a:prstDash val="solid"/>
          </a:ln>
        </p:spPr>
      </p:sp>
      <p:sp>
        <p:nvSpPr>
          <p:cNvPr id="10" name="Text 8"/>
          <p:cNvSpPr/>
          <p:nvPr/>
        </p:nvSpPr>
        <p:spPr>
          <a:xfrm>
            <a:off x="548640" y="1792224"/>
            <a:ext cx="5295748" cy="772427"/>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What does the symbol </a:t>
            </a:r>
            <a:r>
              <a:rPr lang="en-US" sz="1200" b="1" dirty="0">
                <a:solidFill>
                  <a:srgbClr val="262B3A"/>
                </a:solidFill>
                <a:latin typeface="Calibri" pitchFamily="34" charset="0"/>
                <a:ea typeface="Calibri" pitchFamily="34" charset="-122"/>
                <a:cs typeface="Calibri" pitchFamily="34" charset="-120"/>
              </a:rPr>
              <a:t>⇌</a:t>
            </a:r>
            <a:r>
              <a:rPr lang="en-US" sz="1200" dirty="0">
                <a:solidFill>
                  <a:srgbClr val="262B3A"/>
                </a:solidFill>
                <a:latin typeface="Calibri" pitchFamily="34" charset="0"/>
                <a:ea typeface="Calibri" pitchFamily="34" charset="-122"/>
                <a:cs typeface="Calibri" pitchFamily="34" charset="-120"/>
              </a:rPr>
              <a:t> tell you about this reaction?</a:t>
            </a:r>
            <a:endParaRPr lang="en-US" sz="1200" dirty="0"/>
          </a:p>
        </p:txBody>
      </p:sp>
      <p:sp>
        <p:nvSpPr>
          <p:cNvPr id="11" name="Text 9"/>
          <p:cNvSpPr/>
          <p:nvPr/>
        </p:nvSpPr>
        <p:spPr>
          <a:xfrm>
            <a:off x="4518508" y="254636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966987"/>
            <a:ext cx="5570068" cy="1517583"/>
          </a:xfrm>
          <a:prstGeom prst="roundRect">
            <a:avLst>
              <a:gd name="adj" fmla="val 3013"/>
            </a:avLst>
          </a:prstGeom>
          <a:solidFill>
            <a:srgbClr val="FFFFFF"/>
          </a:solidFill>
          <a:ln w="9525">
            <a:solidFill>
              <a:srgbClr val="DDD3EC"/>
            </a:solidFill>
            <a:prstDash val="solid"/>
          </a:ln>
        </p:spPr>
      </p:sp>
      <p:sp>
        <p:nvSpPr>
          <p:cNvPr id="13" name="Text 11"/>
          <p:cNvSpPr/>
          <p:nvPr/>
        </p:nvSpPr>
        <p:spPr>
          <a:xfrm>
            <a:off x="548640" y="3040139"/>
            <a:ext cx="5295748" cy="1151823"/>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Explain why the yield of SO₃ is </a:t>
            </a:r>
            <a:r>
              <a:rPr lang="en-US" sz="1200" b="1" dirty="0">
                <a:solidFill>
                  <a:srgbClr val="262B3A"/>
                </a:solidFill>
                <a:latin typeface="Calibri" pitchFamily="34" charset="0"/>
                <a:ea typeface="Calibri" pitchFamily="34" charset="-122"/>
                <a:cs typeface="Calibri" pitchFamily="34" charset="-120"/>
              </a:rPr>
              <a:t>less than 100%</a:t>
            </a:r>
            <a:r>
              <a:rPr lang="en-US" sz="1200" dirty="0">
                <a:solidFill>
                  <a:srgbClr val="262B3A"/>
                </a:solidFill>
                <a:latin typeface="Calibri" pitchFamily="34" charset="0"/>
                <a:ea typeface="Calibri" pitchFamily="34" charset="-122"/>
                <a:cs typeface="Calibri" pitchFamily="34" charset="-120"/>
              </a:rPr>
              <a:t> in the closed reactor.</a:t>
            </a:r>
            <a:endParaRPr lang="en-US" sz="1200" dirty="0"/>
          </a:p>
        </p:txBody>
      </p:sp>
      <p:sp>
        <p:nvSpPr>
          <p:cNvPr id="14" name="Text 12"/>
          <p:cNvSpPr/>
          <p:nvPr/>
        </p:nvSpPr>
        <p:spPr>
          <a:xfrm>
            <a:off x="4518508" y="4173675"/>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594299"/>
            <a:ext cx="5570068" cy="1669341"/>
          </a:xfrm>
          <a:prstGeom prst="roundRect">
            <a:avLst>
              <a:gd name="adj" fmla="val 2739"/>
            </a:avLst>
          </a:prstGeom>
          <a:solidFill>
            <a:srgbClr val="F8F5FC"/>
          </a:solidFill>
          <a:ln w="9525">
            <a:solidFill>
              <a:srgbClr val="DDD3EC"/>
            </a:solidFill>
            <a:prstDash val="solid"/>
          </a:ln>
        </p:spPr>
      </p:sp>
      <p:sp>
        <p:nvSpPr>
          <p:cNvPr id="16" name="Text 14"/>
          <p:cNvSpPr/>
          <p:nvPr/>
        </p:nvSpPr>
        <p:spPr>
          <a:xfrm>
            <a:off x="548640" y="4667451"/>
            <a:ext cx="5295748" cy="1303581"/>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The mixture reaches </a:t>
            </a:r>
            <a:r>
              <a:rPr lang="en-US" sz="1200" b="1" dirty="0">
                <a:solidFill>
                  <a:srgbClr val="262B3A"/>
                </a:solidFill>
                <a:latin typeface="Calibri" pitchFamily="34" charset="0"/>
                <a:ea typeface="Calibri" pitchFamily="34" charset="-122"/>
                <a:cs typeface="Calibri" pitchFamily="34" charset="-120"/>
              </a:rPr>
              <a:t>dynamic equilibrium</a:t>
            </a:r>
            <a:r>
              <a:rPr lang="en-US" sz="1200" dirty="0">
                <a:solidFill>
                  <a:srgbClr val="262B3A"/>
                </a:solidFill>
                <a:latin typeface="Calibri" pitchFamily="34" charset="0"/>
                <a:ea typeface="Calibri" pitchFamily="34" charset="-122"/>
                <a:cs typeface="Calibri" pitchFamily="34" charset="-120"/>
              </a:rPr>
              <a:t>. Describe what is happening to the </a:t>
            </a:r>
            <a:r>
              <a:rPr lang="en-US" sz="1200" b="1" dirty="0">
                <a:solidFill>
                  <a:srgbClr val="262B3A"/>
                </a:solidFill>
                <a:latin typeface="Calibri" pitchFamily="34" charset="0"/>
                <a:ea typeface="Calibri" pitchFamily="34" charset="-122"/>
                <a:cs typeface="Calibri" pitchFamily="34" charset="-120"/>
              </a:rPr>
              <a:t>forward</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reverse</a:t>
            </a:r>
            <a:r>
              <a:rPr lang="en-US" sz="1200" dirty="0">
                <a:solidFill>
                  <a:srgbClr val="262B3A"/>
                </a:solidFill>
                <a:latin typeface="Calibri" pitchFamily="34" charset="0"/>
                <a:ea typeface="Calibri" pitchFamily="34" charset="-122"/>
                <a:cs typeface="Calibri" pitchFamily="34" charset="-120"/>
              </a:rPr>
              <a:t> reactions, and to the </a:t>
            </a:r>
            <a:r>
              <a:rPr lang="en-US" sz="1200" b="1" dirty="0">
                <a:solidFill>
                  <a:srgbClr val="262B3A"/>
                </a:solidFill>
                <a:latin typeface="Calibri" pitchFamily="34" charset="0"/>
                <a:ea typeface="Calibri" pitchFamily="34" charset="-122"/>
                <a:cs typeface="Calibri" pitchFamily="34" charset="-120"/>
              </a:rPr>
              <a:t>amount</a:t>
            </a:r>
            <a:r>
              <a:rPr lang="en-US" sz="1200" dirty="0">
                <a:solidFill>
                  <a:srgbClr val="262B3A"/>
                </a:solidFill>
                <a:latin typeface="Calibri" pitchFamily="34" charset="0"/>
                <a:ea typeface="Calibri" pitchFamily="34" charset="-122"/>
                <a:cs typeface="Calibri" pitchFamily="34" charset="-120"/>
              </a:rPr>
              <a:t> of SO₃.</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526510"/>
          </a:xfrm>
          <a:prstGeom prst="roundRect">
            <a:avLst>
              <a:gd name="adj" fmla="val 2995"/>
            </a:avLst>
          </a:prstGeom>
          <a:solidFill>
            <a:srgbClr val="F8F5FC"/>
          </a:solidFill>
          <a:ln w="9525">
            <a:solidFill>
              <a:srgbClr val="DDD3EC"/>
            </a:solidFill>
            <a:prstDash val="solid"/>
          </a:ln>
        </p:spPr>
      </p:sp>
      <p:sp>
        <p:nvSpPr>
          <p:cNvPr id="19" name="Text 17"/>
          <p:cNvSpPr/>
          <p:nvPr/>
        </p:nvSpPr>
        <p:spPr>
          <a:xfrm>
            <a:off x="6347308" y="1792224"/>
            <a:ext cx="4792828" cy="1160750"/>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Predict and explain the effect of </a:t>
            </a:r>
            <a:r>
              <a:rPr lang="en-US" sz="1200" b="1" dirty="0">
                <a:solidFill>
                  <a:srgbClr val="262B3A"/>
                </a:solidFill>
                <a:latin typeface="Calibri" pitchFamily="34" charset="0"/>
                <a:ea typeface="Calibri" pitchFamily="34" charset="-122"/>
                <a:cs typeface="Calibri" pitchFamily="34" charset="-120"/>
              </a:rPr>
              <a:t>increasing the pressure</a:t>
            </a:r>
            <a:r>
              <a:rPr lang="en-US" sz="1200" dirty="0">
                <a:solidFill>
                  <a:srgbClr val="262B3A"/>
                </a:solidFill>
                <a:latin typeface="Calibri" pitchFamily="34" charset="0"/>
                <a:ea typeface="Calibri" pitchFamily="34" charset="-122"/>
                <a:cs typeface="Calibri" pitchFamily="34" charset="-120"/>
              </a:rPr>
              <a:t> on the amount of SO₃ at equilibrium.</a:t>
            </a:r>
            <a:endParaRPr lang="en-US" sz="1200" dirty="0"/>
          </a:p>
        </p:txBody>
      </p:sp>
      <p:sp>
        <p:nvSpPr>
          <p:cNvPr id="20" name="Shape 18"/>
          <p:cNvSpPr/>
          <p:nvPr/>
        </p:nvSpPr>
        <p:spPr>
          <a:xfrm>
            <a:off x="11231575" y="1792224"/>
            <a:ext cx="411480" cy="274320"/>
          </a:xfrm>
          <a:prstGeom prst="roundRect">
            <a:avLst>
              <a:gd name="adj" fmla="val 50000"/>
            </a:avLst>
          </a:prstGeom>
          <a:solidFill>
            <a:srgbClr val="C8414C"/>
          </a:solidFill>
          <a:ln w="12700">
            <a:solidFill>
              <a:srgbClr val="C8414C"/>
            </a:solidFill>
            <a:prstDash val="solid"/>
          </a:ln>
        </p:spPr>
      </p:sp>
      <p:sp>
        <p:nvSpPr>
          <p:cNvPr id="21" name="Text 19"/>
          <p:cNvSpPr/>
          <p:nvPr/>
        </p:nvSpPr>
        <p:spPr>
          <a:xfrm>
            <a:off x="11231575" y="179222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2" name="Text 20"/>
          <p:cNvSpPr/>
          <p:nvPr/>
        </p:nvSpPr>
        <p:spPr>
          <a:xfrm>
            <a:off x="10317175" y="2934686"/>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3" name="Shape 21"/>
          <p:cNvSpPr/>
          <p:nvPr/>
        </p:nvSpPr>
        <p:spPr>
          <a:xfrm>
            <a:off x="6210148" y="3355310"/>
            <a:ext cx="5570068" cy="1526510"/>
          </a:xfrm>
          <a:prstGeom prst="roundRect">
            <a:avLst>
              <a:gd name="adj" fmla="val 2995"/>
            </a:avLst>
          </a:prstGeom>
          <a:solidFill>
            <a:srgbClr val="FFFFFF"/>
          </a:solidFill>
          <a:ln w="9525">
            <a:solidFill>
              <a:srgbClr val="DDD3EC"/>
            </a:solidFill>
            <a:prstDash val="solid"/>
          </a:ln>
        </p:spPr>
      </p:sp>
      <p:sp>
        <p:nvSpPr>
          <p:cNvPr id="24" name="Text 22"/>
          <p:cNvSpPr/>
          <p:nvPr/>
        </p:nvSpPr>
        <p:spPr>
          <a:xfrm>
            <a:off x="6347308" y="3428462"/>
            <a:ext cx="4792828" cy="1160750"/>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Use the data to describe the effect of </a:t>
            </a:r>
            <a:r>
              <a:rPr lang="en-US" sz="1200" b="1" dirty="0">
                <a:solidFill>
                  <a:srgbClr val="262B3A"/>
                </a:solidFill>
                <a:latin typeface="Calibri" pitchFamily="34" charset="0"/>
                <a:ea typeface="Calibri" pitchFamily="34" charset="-122"/>
                <a:cs typeface="Calibri" pitchFamily="34" charset="-120"/>
              </a:rPr>
              <a:t>temperature</a:t>
            </a:r>
            <a:r>
              <a:rPr lang="en-US" sz="1200" dirty="0">
                <a:solidFill>
                  <a:srgbClr val="262B3A"/>
                </a:solidFill>
                <a:latin typeface="Calibri" pitchFamily="34" charset="0"/>
                <a:ea typeface="Calibri" pitchFamily="34" charset="-122"/>
                <a:cs typeface="Calibri" pitchFamily="34" charset="-120"/>
              </a:rPr>
              <a:t> on the yield, and explain it in terms of the </a:t>
            </a:r>
            <a:r>
              <a:rPr lang="en-US" sz="1200" b="1" dirty="0">
                <a:solidFill>
                  <a:srgbClr val="262B3A"/>
                </a:solidFill>
                <a:latin typeface="Calibri" pitchFamily="34" charset="0"/>
                <a:ea typeface="Calibri" pitchFamily="34" charset="-122"/>
                <a:cs typeface="Calibri" pitchFamily="34" charset="-120"/>
              </a:rPr>
              <a:t>energy change</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5" name="Shape 23"/>
          <p:cNvSpPr/>
          <p:nvPr/>
        </p:nvSpPr>
        <p:spPr>
          <a:xfrm>
            <a:off x="11231575" y="3428462"/>
            <a:ext cx="411480" cy="274320"/>
          </a:xfrm>
          <a:prstGeom prst="roundRect">
            <a:avLst>
              <a:gd name="adj" fmla="val 50000"/>
            </a:avLst>
          </a:prstGeom>
          <a:solidFill>
            <a:srgbClr val="C8414C"/>
          </a:solidFill>
          <a:ln w="12700">
            <a:solidFill>
              <a:srgbClr val="C8414C"/>
            </a:solidFill>
            <a:prstDash val="solid"/>
          </a:ln>
        </p:spPr>
      </p:sp>
      <p:sp>
        <p:nvSpPr>
          <p:cNvPr id="26" name="Text 24"/>
          <p:cNvSpPr/>
          <p:nvPr/>
        </p:nvSpPr>
        <p:spPr>
          <a:xfrm>
            <a:off x="11231575" y="342846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7" name="Text 25"/>
          <p:cNvSpPr/>
          <p:nvPr/>
        </p:nvSpPr>
        <p:spPr>
          <a:xfrm>
            <a:off x="10317175" y="457092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8" name="Shape 26"/>
          <p:cNvSpPr/>
          <p:nvPr/>
        </p:nvSpPr>
        <p:spPr>
          <a:xfrm>
            <a:off x="6210148" y="4991548"/>
            <a:ext cx="5570068" cy="1272092"/>
          </a:xfrm>
          <a:prstGeom prst="roundRect">
            <a:avLst>
              <a:gd name="adj" fmla="val 3594"/>
            </a:avLst>
          </a:prstGeom>
          <a:solidFill>
            <a:srgbClr val="F8F5FC"/>
          </a:solidFill>
          <a:ln w="9525">
            <a:solidFill>
              <a:srgbClr val="DDD3EC"/>
            </a:solidFill>
            <a:prstDash val="solid"/>
          </a:ln>
        </p:spPr>
      </p:sp>
      <p:sp>
        <p:nvSpPr>
          <p:cNvPr id="29" name="Text 27"/>
          <p:cNvSpPr/>
          <p:nvPr/>
        </p:nvSpPr>
        <p:spPr>
          <a:xfrm>
            <a:off x="6347308" y="5064700"/>
            <a:ext cx="5295748" cy="906332"/>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A catalyst of vanadium(V) oxide is used. State its effect on the </a:t>
            </a:r>
            <a:r>
              <a:rPr lang="en-US" sz="1200" b="1" dirty="0">
                <a:solidFill>
                  <a:srgbClr val="262B3A"/>
                </a:solidFill>
                <a:latin typeface="Calibri" pitchFamily="34" charset="0"/>
                <a:ea typeface="Calibri" pitchFamily="34" charset="-122"/>
                <a:cs typeface="Calibri" pitchFamily="34" charset="-120"/>
              </a:rPr>
              <a:t>yield</a:t>
            </a:r>
            <a:r>
              <a:rPr lang="en-US" sz="1200" dirty="0">
                <a:solidFill>
                  <a:srgbClr val="262B3A"/>
                </a:solidFill>
                <a:latin typeface="Calibri" pitchFamily="34" charset="0"/>
                <a:ea typeface="Calibri" pitchFamily="34" charset="-122"/>
                <a:cs typeface="Calibri" pitchFamily="34" charset="-120"/>
              </a:rPr>
              <a:t> of SO₃ and on the </a:t>
            </a:r>
            <a:r>
              <a:rPr lang="en-US" sz="1200" b="1" dirty="0">
                <a:solidFill>
                  <a:srgbClr val="262B3A"/>
                </a:solidFill>
                <a:latin typeface="Calibri" pitchFamily="34" charset="0"/>
                <a:ea typeface="Calibri" pitchFamily="34" charset="-122"/>
                <a:cs typeface="Calibri" pitchFamily="34" charset="-120"/>
              </a:rPr>
              <a:t>time</a:t>
            </a:r>
            <a:r>
              <a:rPr lang="en-US" sz="1200" dirty="0">
                <a:solidFill>
                  <a:srgbClr val="262B3A"/>
                </a:solidFill>
                <a:latin typeface="Calibri" pitchFamily="34" charset="0"/>
                <a:ea typeface="Calibri" pitchFamily="34" charset="-122"/>
                <a:cs typeface="Calibri" pitchFamily="34" charset="-120"/>
              </a:rPr>
              <a:t> to reach equilibrium.</a:t>
            </a:r>
            <a:endParaRPr lang="en-US" sz="1200" dirty="0"/>
          </a:p>
        </p:txBody>
      </p:sp>
      <p:sp>
        <p:nvSpPr>
          <p:cNvPr id="30" name="Text 28"/>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Text 29"/>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5A3590"/>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5B3A8C"/>
          </a:solidFill>
          <a:ln w="12700">
            <a:solidFill>
              <a:srgbClr val="5B3A8C"/>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5A3590"/>
          </a:solidFill>
          <a:ln w="12700">
            <a:solidFill>
              <a:srgbClr val="5A3590"/>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DE6F8"/>
                </a:solidFill>
                <a:latin typeface="Calibri" pitchFamily="34" charset="0"/>
                <a:ea typeface="Calibri" pitchFamily="34" charset="-122"/>
                <a:cs typeface="Calibri" pitchFamily="34" charset="-120"/>
              </a:rPr>
              <a:t>C6.3 Equilibrium and yield • 17 marks • about 30 minutes</a:t>
            </a:r>
            <a:endParaRPr lang="en-US" sz="1800" dirty="0"/>
          </a:p>
        </p:txBody>
      </p:sp>
      <p:sp>
        <p:nvSpPr>
          <p:cNvPr id="9" name="Text 7"/>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DDD0F2"/>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DDD0F2"/>
                </a:solidFill>
                <a:latin typeface="Calibri" pitchFamily="34" charset="0"/>
                <a:ea typeface="Calibri" pitchFamily="34" charset="-122"/>
                <a:cs typeface="Calibri" pitchFamily="34" charset="-120"/>
              </a:rPr>
              <a:t>Homework  |  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C6.3 What factors affect the yield of chemical reactions?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21</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Q7 is a 6-mark extended answer. Q4 and Q5 are Higher tier.</a:t>
            </a:r>
            <a:endParaRPr lang="en-US" sz="1150" dirty="0"/>
          </a:p>
        </p:txBody>
      </p:sp>
      <p:sp>
        <p:nvSpPr>
          <p:cNvPr id="9" name="Shape 7"/>
          <p:cNvSpPr/>
          <p:nvPr/>
        </p:nvSpPr>
        <p:spPr>
          <a:xfrm>
            <a:off x="411480" y="1517904"/>
            <a:ext cx="5570068" cy="907455"/>
          </a:xfrm>
          <a:prstGeom prst="roundRect">
            <a:avLst>
              <a:gd name="adj" fmla="val 5038"/>
            </a:avLst>
          </a:prstGeom>
          <a:solidFill>
            <a:srgbClr val="F8F5FC"/>
          </a:solidFill>
          <a:ln w="9525">
            <a:solidFill>
              <a:srgbClr val="DDD3EC"/>
            </a:solidFill>
            <a:prstDash val="solid"/>
          </a:ln>
        </p:spPr>
      </p:sp>
      <p:sp>
        <p:nvSpPr>
          <p:cNvPr id="10" name="Text 8"/>
          <p:cNvSpPr/>
          <p:nvPr/>
        </p:nvSpPr>
        <p:spPr>
          <a:xfrm>
            <a:off x="548640" y="1591056"/>
            <a:ext cx="5295748" cy="559983"/>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What is a </a:t>
            </a:r>
            <a:r>
              <a:rPr lang="en-US" sz="1150" b="1" dirty="0">
                <a:solidFill>
                  <a:srgbClr val="262B3A"/>
                </a:solidFill>
                <a:latin typeface="Calibri" pitchFamily="34" charset="0"/>
                <a:ea typeface="Calibri" pitchFamily="34" charset="-122"/>
                <a:cs typeface="Calibri" pitchFamily="34" charset="-120"/>
              </a:rPr>
              <a:t>reversible reaction</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1" name="Text 9"/>
          <p:cNvSpPr/>
          <p:nvPr/>
        </p:nvSpPr>
        <p:spPr>
          <a:xfrm>
            <a:off x="4518508" y="2132751"/>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535087"/>
            <a:ext cx="5570068" cy="1134319"/>
          </a:xfrm>
          <a:prstGeom prst="roundRect">
            <a:avLst>
              <a:gd name="adj" fmla="val 4031"/>
            </a:avLst>
          </a:prstGeom>
          <a:solidFill>
            <a:srgbClr val="F8F5FC"/>
          </a:solidFill>
          <a:ln w="9525">
            <a:solidFill>
              <a:srgbClr val="DDD3EC"/>
            </a:solidFill>
            <a:prstDash val="solid"/>
          </a:ln>
        </p:spPr>
      </p:sp>
      <p:sp>
        <p:nvSpPr>
          <p:cNvPr id="13" name="Text 11"/>
          <p:cNvSpPr/>
          <p:nvPr/>
        </p:nvSpPr>
        <p:spPr>
          <a:xfrm>
            <a:off x="548640" y="2608239"/>
            <a:ext cx="5295748" cy="786847"/>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Explain why a reversible reaction in a </a:t>
            </a:r>
            <a:r>
              <a:rPr lang="en-US" sz="1150" b="1" dirty="0">
                <a:solidFill>
                  <a:srgbClr val="262B3A"/>
                </a:solidFill>
                <a:latin typeface="Calibri" pitchFamily="34" charset="0"/>
                <a:ea typeface="Calibri" pitchFamily="34" charset="-122"/>
                <a:cs typeface="Calibri" pitchFamily="34" charset="-120"/>
              </a:rPr>
              <a:t>closed system</a:t>
            </a:r>
            <a:r>
              <a:rPr lang="en-US" sz="1150" dirty="0">
                <a:solidFill>
                  <a:srgbClr val="262B3A"/>
                </a:solidFill>
                <a:latin typeface="Calibri" pitchFamily="34" charset="0"/>
                <a:ea typeface="Calibri" pitchFamily="34" charset="-122"/>
                <a:cs typeface="Calibri" pitchFamily="34" charset="-120"/>
              </a:rPr>
              <a:t> cannot reach </a:t>
            </a:r>
            <a:r>
              <a:rPr lang="en-US" sz="1150" b="1" dirty="0">
                <a:solidFill>
                  <a:srgbClr val="262B3A"/>
                </a:solidFill>
                <a:latin typeface="Calibri" pitchFamily="34" charset="0"/>
                <a:ea typeface="Calibri" pitchFamily="34" charset="-122"/>
                <a:cs typeface="Calibri" pitchFamily="34" charset="-120"/>
              </a:rPr>
              <a:t>100% yield</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4" name="Text 12"/>
          <p:cNvSpPr/>
          <p:nvPr/>
        </p:nvSpPr>
        <p:spPr>
          <a:xfrm>
            <a:off x="4518508" y="3376798"/>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779134"/>
            <a:ext cx="5570068" cy="1134319"/>
          </a:xfrm>
          <a:prstGeom prst="roundRect">
            <a:avLst>
              <a:gd name="adj" fmla="val 4031"/>
            </a:avLst>
          </a:prstGeom>
          <a:solidFill>
            <a:srgbClr val="F8F5FC"/>
          </a:solidFill>
          <a:ln w="9525">
            <a:solidFill>
              <a:srgbClr val="DDD3EC"/>
            </a:solidFill>
            <a:prstDash val="solid"/>
          </a:ln>
        </p:spPr>
      </p:sp>
      <p:sp>
        <p:nvSpPr>
          <p:cNvPr id="16" name="Text 14"/>
          <p:cNvSpPr/>
          <p:nvPr/>
        </p:nvSpPr>
        <p:spPr>
          <a:xfrm>
            <a:off x="548640" y="3852286"/>
            <a:ext cx="5295748" cy="786847"/>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Describe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features of a mixture at </a:t>
            </a:r>
            <a:r>
              <a:rPr lang="en-US" sz="1150" b="1" dirty="0">
                <a:solidFill>
                  <a:srgbClr val="262B3A"/>
                </a:solidFill>
                <a:latin typeface="Calibri" pitchFamily="34" charset="0"/>
                <a:ea typeface="Calibri" pitchFamily="34" charset="-122"/>
                <a:cs typeface="Calibri" pitchFamily="34" charset="-120"/>
              </a:rPr>
              <a:t>dynamic equilibrium</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7" name="Text 15"/>
          <p:cNvSpPr/>
          <p:nvPr/>
        </p:nvSpPr>
        <p:spPr>
          <a:xfrm>
            <a:off x="4518508" y="4620845"/>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023181"/>
            <a:ext cx="5570068" cy="1304467"/>
          </a:xfrm>
          <a:prstGeom prst="roundRect">
            <a:avLst>
              <a:gd name="adj" fmla="val 3505"/>
            </a:avLst>
          </a:prstGeom>
          <a:solidFill>
            <a:srgbClr val="F8F5FC"/>
          </a:solidFill>
          <a:ln w="9525">
            <a:solidFill>
              <a:srgbClr val="DDD3EC"/>
            </a:solidFill>
            <a:prstDash val="solid"/>
          </a:ln>
        </p:spPr>
      </p:sp>
      <p:sp>
        <p:nvSpPr>
          <p:cNvPr id="19" name="Text 17"/>
          <p:cNvSpPr/>
          <p:nvPr/>
        </p:nvSpPr>
        <p:spPr>
          <a:xfrm>
            <a:off x="548640" y="5096333"/>
            <a:ext cx="4792828" cy="956995"/>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CO(g) + 2H₂(g) ⇌ CH₃OH(g). Predict the effect of </a:t>
            </a:r>
            <a:r>
              <a:rPr lang="en-US" sz="1150" b="1" dirty="0">
                <a:solidFill>
                  <a:srgbClr val="262B3A"/>
                </a:solidFill>
                <a:latin typeface="Calibri" pitchFamily="34" charset="0"/>
                <a:ea typeface="Calibri" pitchFamily="34" charset="-122"/>
                <a:cs typeface="Calibri" pitchFamily="34" charset="-120"/>
              </a:rPr>
              <a:t>increasing the pressure</a:t>
            </a:r>
            <a:r>
              <a:rPr lang="en-US" sz="1150" dirty="0">
                <a:solidFill>
                  <a:srgbClr val="262B3A"/>
                </a:solidFill>
                <a:latin typeface="Calibri" pitchFamily="34" charset="0"/>
                <a:ea typeface="Calibri" pitchFamily="34" charset="-122"/>
                <a:cs typeface="Calibri" pitchFamily="34" charset="-120"/>
              </a:rPr>
              <a:t> on the yield of methanol. Explain your answer.</a:t>
            </a:r>
            <a:endParaRPr lang="en-US" sz="1150" dirty="0"/>
          </a:p>
        </p:txBody>
      </p:sp>
      <p:sp>
        <p:nvSpPr>
          <p:cNvPr id="20" name="Shape 18"/>
          <p:cNvSpPr/>
          <p:nvPr/>
        </p:nvSpPr>
        <p:spPr>
          <a:xfrm>
            <a:off x="5432908" y="5096333"/>
            <a:ext cx="411480" cy="274320"/>
          </a:xfrm>
          <a:prstGeom prst="roundRect">
            <a:avLst>
              <a:gd name="adj" fmla="val 50000"/>
            </a:avLst>
          </a:prstGeom>
          <a:solidFill>
            <a:srgbClr val="C8414C"/>
          </a:solidFill>
          <a:ln w="12700">
            <a:solidFill>
              <a:srgbClr val="C8414C"/>
            </a:solidFill>
            <a:prstDash val="solid"/>
          </a:ln>
        </p:spPr>
      </p:sp>
      <p:sp>
        <p:nvSpPr>
          <p:cNvPr id="21" name="Text 19"/>
          <p:cNvSpPr/>
          <p:nvPr/>
        </p:nvSpPr>
        <p:spPr>
          <a:xfrm>
            <a:off x="5432908" y="5096333"/>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2" name="Text 20"/>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6210148" y="1517904"/>
            <a:ext cx="5570068" cy="1111333"/>
          </a:xfrm>
          <a:prstGeom prst="roundRect">
            <a:avLst>
              <a:gd name="adj" fmla="val 4114"/>
            </a:avLst>
          </a:prstGeom>
          <a:solidFill>
            <a:srgbClr val="F8F5FC"/>
          </a:solidFill>
          <a:ln w="9525">
            <a:solidFill>
              <a:srgbClr val="DDD3EC"/>
            </a:solidFill>
            <a:prstDash val="solid"/>
          </a:ln>
        </p:spPr>
      </p:sp>
      <p:sp>
        <p:nvSpPr>
          <p:cNvPr id="24" name="Text 22"/>
          <p:cNvSpPr/>
          <p:nvPr/>
        </p:nvSpPr>
        <p:spPr>
          <a:xfrm>
            <a:off x="6347308" y="1591056"/>
            <a:ext cx="4792828" cy="763861"/>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CH₄(g) + H₂O(g) ⇌ CO(g) + 3H₂(g). The forward reaction is </a:t>
            </a:r>
            <a:r>
              <a:rPr lang="en-US" sz="1150" b="1" dirty="0">
                <a:solidFill>
                  <a:srgbClr val="262B3A"/>
                </a:solidFill>
                <a:latin typeface="Calibri" pitchFamily="34" charset="0"/>
                <a:ea typeface="Calibri" pitchFamily="34" charset="-122"/>
                <a:cs typeface="Calibri" pitchFamily="34" charset="-120"/>
              </a:rPr>
              <a:t>endothermic</a:t>
            </a:r>
            <a:r>
              <a:rPr lang="en-US" sz="1150" dirty="0">
                <a:solidFill>
                  <a:srgbClr val="262B3A"/>
                </a:solidFill>
                <a:latin typeface="Calibri" pitchFamily="34" charset="0"/>
                <a:ea typeface="Calibri" pitchFamily="34" charset="-122"/>
                <a:cs typeface="Calibri" pitchFamily="34" charset="-120"/>
              </a:rPr>
              <a:t>. Suggest a </a:t>
            </a:r>
            <a:r>
              <a:rPr lang="en-US" sz="1150" b="1" dirty="0">
                <a:solidFill>
                  <a:srgbClr val="262B3A"/>
                </a:solidFill>
                <a:latin typeface="Calibri" pitchFamily="34" charset="0"/>
                <a:ea typeface="Calibri" pitchFamily="34" charset="-122"/>
                <a:cs typeface="Calibri" pitchFamily="34" charset="-120"/>
              </a:rPr>
              <a:t>temperature</a:t>
            </a:r>
            <a:r>
              <a:rPr lang="en-US" sz="1150" dirty="0">
                <a:solidFill>
                  <a:srgbClr val="262B3A"/>
                </a:solidFill>
                <a:latin typeface="Calibri" pitchFamily="34" charset="0"/>
                <a:ea typeface="Calibri" pitchFamily="34" charset="-122"/>
                <a:cs typeface="Calibri" pitchFamily="34" charset="-120"/>
              </a:rPr>
              <a:t> and a </a:t>
            </a:r>
            <a:r>
              <a:rPr lang="en-US" sz="1150" b="1" dirty="0">
                <a:solidFill>
                  <a:srgbClr val="262B3A"/>
                </a:solidFill>
                <a:latin typeface="Calibri" pitchFamily="34" charset="0"/>
                <a:ea typeface="Calibri" pitchFamily="34" charset="-122"/>
                <a:cs typeface="Calibri" pitchFamily="34" charset="-120"/>
              </a:rPr>
              <a:t>pressure</a:t>
            </a:r>
            <a:r>
              <a:rPr lang="en-US" sz="1150" dirty="0">
                <a:solidFill>
                  <a:srgbClr val="262B3A"/>
                </a:solidFill>
                <a:latin typeface="Calibri" pitchFamily="34" charset="0"/>
                <a:ea typeface="Calibri" pitchFamily="34" charset="-122"/>
                <a:cs typeface="Calibri" pitchFamily="34" charset="-120"/>
              </a:rPr>
              <a:t> that give as much </a:t>
            </a:r>
            <a:r>
              <a:rPr lang="en-US" sz="1150" b="1" dirty="0">
                <a:solidFill>
                  <a:srgbClr val="262B3A"/>
                </a:solidFill>
                <a:latin typeface="Calibri" pitchFamily="34" charset="0"/>
                <a:ea typeface="Calibri" pitchFamily="34" charset="-122"/>
                <a:cs typeface="Calibri" pitchFamily="34" charset="-120"/>
              </a:rPr>
              <a:t>hydrogen</a:t>
            </a:r>
            <a:r>
              <a:rPr lang="en-US" sz="1150" dirty="0">
                <a:solidFill>
                  <a:srgbClr val="262B3A"/>
                </a:solidFill>
                <a:latin typeface="Calibri" pitchFamily="34" charset="0"/>
                <a:ea typeface="Calibri" pitchFamily="34" charset="-122"/>
                <a:cs typeface="Calibri" pitchFamily="34" charset="-120"/>
              </a:rPr>
              <a:t> as possible.</a:t>
            </a:r>
            <a:endParaRPr lang="en-US" sz="1150" dirty="0"/>
          </a:p>
        </p:txBody>
      </p:sp>
      <p:sp>
        <p:nvSpPr>
          <p:cNvPr id="25" name="Shape 23"/>
          <p:cNvSpPr/>
          <p:nvPr/>
        </p:nvSpPr>
        <p:spPr>
          <a:xfrm>
            <a:off x="11231575" y="1591056"/>
            <a:ext cx="411480" cy="274320"/>
          </a:xfrm>
          <a:prstGeom prst="roundRect">
            <a:avLst>
              <a:gd name="adj" fmla="val 50000"/>
            </a:avLst>
          </a:prstGeom>
          <a:solidFill>
            <a:srgbClr val="C8414C"/>
          </a:solidFill>
          <a:ln w="12700">
            <a:solidFill>
              <a:srgbClr val="C8414C"/>
            </a:solidFill>
            <a:prstDash val="solid"/>
          </a:ln>
        </p:spPr>
      </p:sp>
      <p:sp>
        <p:nvSpPr>
          <p:cNvPr id="26" name="Text 24"/>
          <p:cNvSpPr/>
          <p:nvPr/>
        </p:nvSpPr>
        <p:spPr>
          <a:xfrm>
            <a:off x="11231575" y="159105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7" name="Text 25"/>
          <p:cNvSpPr/>
          <p:nvPr/>
        </p:nvSpPr>
        <p:spPr>
          <a:xfrm>
            <a:off x="10317175" y="2336629"/>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8" name="Shape 26"/>
          <p:cNvSpPr/>
          <p:nvPr/>
        </p:nvSpPr>
        <p:spPr>
          <a:xfrm>
            <a:off x="6210148" y="2738965"/>
            <a:ext cx="5570068" cy="966376"/>
          </a:xfrm>
          <a:prstGeom prst="roundRect">
            <a:avLst>
              <a:gd name="adj" fmla="val 4731"/>
            </a:avLst>
          </a:prstGeom>
          <a:solidFill>
            <a:srgbClr val="F8F5FC"/>
          </a:solidFill>
          <a:ln w="9525">
            <a:solidFill>
              <a:srgbClr val="DDD3EC"/>
            </a:solidFill>
            <a:prstDash val="solid"/>
          </a:ln>
        </p:spPr>
      </p:sp>
      <p:sp>
        <p:nvSpPr>
          <p:cNvPr id="29" name="Text 27"/>
          <p:cNvSpPr/>
          <p:nvPr/>
        </p:nvSpPr>
        <p:spPr>
          <a:xfrm>
            <a:off x="6347308" y="2812117"/>
            <a:ext cx="5295748" cy="618904"/>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A student says that adding a </a:t>
            </a:r>
            <a:r>
              <a:rPr lang="en-US" sz="1150" b="1" dirty="0">
                <a:solidFill>
                  <a:srgbClr val="262B3A"/>
                </a:solidFill>
                <a:latin typeface="Calibri" pitchFamily="34" charset="0"/>
                <a:ea typeface="Calibri" pitchFamily="34" charset="-122"/>
                <a:cs typeface="Calibri" pitchFamily="34" charset="-120"/>
              </a:rPr>
              <a:t>catalyst</a:t>
            </a:r>
            <a:r>
              <a:rPr lang="en-US" sz="1150" dirty="0">
                <a:solidFill>
                  <a:srgbClr val="262B3A"/>
                </a:solidFill>
                <a:latin typeface="Calibri" pitchFamily="34" charset="0"/>
                <a:ea typeface="Calibri" pitchFamily="34" charset="-122"/>
                <a:cs typeface="Calibri" pitchFamily="34" charset="-120"/>
              </a:rPr>
              <a:t> increases the </a:t>
            </a:r>
            <a:r>
              <a:rPr lang="en-US" sz="1150" b="1" dirty="0">
                <a:solidFill>
                  <a:srgbClr val="262B3A"/>
                </a:solidFill>
                <a:latin typeface="Calibri" pitchFamily="34" charset="0"/>
                <a:ea typeface="Calibri" pitchFamily="34" charset="-122"/>
                <a:cs typeface="Calibri" pitchFamily="34" charset="-120"/>
              </a:rPr>
              <a:t>yield</a:t>
            </a:r>
            <a:r>
              <a:rPr lang="en-US" sz="1150" dirty="0">
                <a:solidFill>
                  <a:srgbClr val="262B3A"/>
                </a:solidFill>
                <a:latin typeface="Calibri" pitchFamily="34" charset="0"/>
                <a:ea typeface="Calibri" pitchFamily="34" charset="-122"/>
                <a:cs typeface="Calibri" pitchFamily="34" charset="-120"/>
              </a:rPr>
              <a:t> of ammonia. Is the student correct? Explain.</a:t>
            </a:r>
            <a:endParaRPr lang="en-US" sz="1150" dirty="0"/>
          </a:p>
        </p:txBody>
      </p:sp>
      <p:sp>
        <p:nvSpPr>
          <p:cNvPr id="30" name="Text 28"/>
          <p:cNvSpPr/>
          <p:nvPr/>
        </p:nvSpPr>
        <p:spPr>
          <a:xfrm>
            <a:off x="10317175" y="3412733"/>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Shape 29"/>
          <p:cNvSpPr/>
          <p:nvPr/>
        </p:nvSpPr>
        <p:spPr>
          <a:xfrm>
            <a:off x="6210148" y="3815069"/>
            <a:ext cx="5570068" cy="2512579"/>
          </a:xfrm>
          <a:prstGeom prst="roundRect">
            <a:avLst>
              <a:gd name="adj" fmla="val 1820"/>
            </a:avLst>
          </a:prstGeom>
          <a:solidFill>
            <a:srgbClr val="FFF4E0"/>
          </a:solidFill>
          <a:ln w="9525">
            <a:solidFill>
              <a:srgbClr val="F1D9A8"/>
            </a:solidFill>
            <a:prstDash val="solid"/>
          </a:ln>
        </p:spPr>
      </p:sp>
      <p:sp>
        <p:nvSpPr>
          <p:cNvPr id="32" name="Text 30"/>
          <p:cNvSpPr/>
          <p:nvPr/>
        </p:nvSpPr>
        <p:spPr>
          <a:xfrm>
            <a:off x="6347308" y="3888221"/>
            <a:ext cx="5295748" cy="2165107"/>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Describe how you could show that the reaction of </a:t>
            </a:r>
            <a:r>
              <a:rPr lang="en-US" sz="1150" b="1" dirty="0">
                <a:solidFill>
                  <a:srgbClr val="262B3A"/>
                </a:solidFill>
                <a:latin typeface="Calibri" pitchFamily="34" charset="0"/>
                <a:ea typeface="Calibri" pitchFamily="34" charset="-122"/>
                <a:cs typeface="Calibri" pitchFamily="34" charset="-120"/>
              </a:rPr>
              <a:t>hydrated copper(II) sulfate</a:t>
            </a:r>
            <a:r>
              <a:rPr lang="en-US" sz="1150" dirty="0">
                <a:solidFill>
                  <a:srgbClr val="262B3A"/>
                </a:solidFill>
                <a:latin typeface="Calibri" pitchFamily="34" charset="0"/>
                <a:ea typeface="Calibri" pitchFamily="34" charset="-122"/>
                <a:cs typeface="Calibri" pitchFamily="34" charset="-120"/>
              </a:rPr>
              <a:t> is </a:t>
            </a:r>
            <a:r>
              <a:rPr lang="en-US" sz="1150" b="1" dirty="0">
                <a:solidFill>
                  <a:srgbClr val="262B3A"/>
                </a:solidFill>
                <a:latin typeface="Calibri" pitchFamily="34" charset="0"/>
                <a:ea typeface="Calibri" pitchFamily="34" charset="-122"/>
                <a:cs typeface="Calibri" pitchFamily="34" charset="-120"/>
              </a:rPr>
              <a:t>reversible</a:t>
            </a:r>
            <a:r>
              <a:rPr lang="en-US" sz="1150" dirty="0">
                <a:solidFill>
                  <a:srgbClr val="262B3A"/>
                </a:solidFill>
                <a:latin typeface="Calibri" pitchFamily="34" charset="0"/>
                <a:ea typeface="Calibri" pitchFamily="34" charset="-122"/>
                <a:cs typeface="Calibri" pitchFamily="34" charset="-120"/>
              </a:rPr>
              <a:t>. Include the observations you would expect and what they show about the </a:t>
            </a:r>
            <a:r>
              <a:rPr lang="en-US" sz="1150" b="1" dirty="0">
                <a:solidFill>
                  <a:srgbClr val="262B3A"/>
                </a:solidFill>
                <a:latin typeface="Calibri" pitchFamily="34" charset="0"/>
                <a:ea typeface="Calibri" pitchFamily="34" charset="-122"/>
                <a:cs typeface="Calibri" pitchFamily="34" charset="-120"/>
              </a:rPr>
              <a:t>energy changes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33" name="Text 31"/>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C6.3 What factors affect the yield of chemical reactions?</dc:title>
  <dc:subject>PptxGenJS Presentation</dc:subject>
  <dc:creator>GCSE Chemistry</dc:creator>
  <cp:lastModifiedBy>GCSE Chemistry</cp:lastModifiedBy>
  <cp:revision>1</cp:revision>
  <dcterms:created xsi:type="dcterms:W3CDTF">2026-10-31T23:31:46Z</dcterms:created>
  <dcterms:modified xsi:type="dcterms:W3CDTF">2026-10-31T23:31:46Z</dcterms:modified>
</cp:coreProperties>
</file>